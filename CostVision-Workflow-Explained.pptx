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CostVision (expected midpoint)</c:v>
                </c:pt>
              </c:strCache>
            </c:strRef>
          </c:tx>
          <c:spPr>
            <a:solidFill>
              <a:srgbClr val="0D7D71"/>
            </a:solidFill>
            <a:effectLst/>
          </c:spPr>
          <c:invertIfNegative val="0"/>
          <c:dLbls>
            <c:numFmt formatCode="#,##0" sourceLinked="0"/>
            <c:txPr>
              <a:bodyPr/>
              <a:lstStyle/>
              <a:p>
                <a:pPr>
                  <a:defRPr b="0" i="0" strike="noStrike" sz="800" u="none">
                    <a:solidFill>
                      <a:srgbClr val="3A4356"/>
                    </a:solidFill>
                    <a:latin typeface="Arial"/>
                  </a:defRPr>
                </a:pPr>
              </a:p>
            </c:txPr>
            <c:showLegendKey val="0"/>
            <c:showVal val="1"/>
            <c:showCatName val="0"/>
            <c:showSerName val="0"/>
            <c:showPercent val="0"/>
            <c:showBubbleSize val="0"/>
            <c:showLeaderLines val="0"/>
          </c:dLbls>
          <c:cat>
            <c:multiLvlStrRef>
              <c:f>Sheet1!$A$2:$A$7</c:f>
              <c:multiLvlStrCache>
                <c:ptCount val="6"/>
                <c:lvl>
                  <c:pt idx="0">
                    <c:v>Cast+mach</c:v>
                  </c:pt>
                  <c:pt idx="1">
                    <c:v>Machining</c:v>
                  </c:pt>
                  <c:pt idx="2">
                    <c:v>Inj. mould</c:v>
                  </c:pt>
                  <c:pt idx="3">
                    <c:v>Forging</c:v>
                  </c:pt>
                  <c:pt idx="4">
                    <c:v>Sheet metal</c:v>
                  </c:pt>
                  <c:pt idx="5">
                    <c:v>Blow mould</c:v>
                  </c:pt>
                </c:lvl>
              </c:multiLvlStrCache>
            </c:multiLvlStrRef>
          </c:cat>
          <c:val>
            <c:numRef>
              <c:f>Sheet1!$B$2:$B$7</c:f>
              <c:numCache>
                <c:formatCode>General</c:formatCode>
                <c:ptCount val="6"/>
                <c:pt idx="0">
                  <c:v>12.5</c:v>
                </c:pt>
                <c:pt idx="1">
                  <c:v>12.5</c:v>
                </c:pt>
                <c:pt idx="2">
                  <c:v>12.5</c:v>
                </c:pt>
                <c:pt idx="3">
                  <c:v>12.5</c:v>
                </c:pt>
                <c:pt idx="4">
                  <c:v>12.5</c:v>
                </c:pt>
                <c:pt idx="5">
                  <c:v>12.5</c:v>
                </c:pt>
              </c:numCache>
            </c:numRef>
          </c:val>
        </c:ser>
        <c:ser>
          <c:idx val="1"/>
          <c:order val="1"/>
          <c:tx>
            <c:strRef>
              <c:f>Sheet1!$C$1</c:f>
              <c:strCache>
                <c:ptCount val="1"/>
                <c:pt idx="0">
                  <c:v>CAPEE by hand (midpoint)</c:v>
                </c:pt>
              </c:strCache>
            </c:strRef>
          </c:tx>
          <c:spPr>
            <a:solidFill>
              <a:srgbClr val="99651A"/>
            </a:solidFill>
            <a:effectLst/>
          </c:spPr>
          <c:invertIfNegative val="0"/>
          <c:dLbls>
            <c:numFmt formatCode="#,##0" sourceLinked="0"/>
            <c:txPr>
              <a:bodyPr/>
              <a:lstStyle/>
              <a:p>
                <a:pPr>
                  <a:defRPr b="0" i="0" strike="noStrike" sz="800" u="none">
                    <a:solidFill>
                      <a:srgbClr val="3A4356"/>
                    </a:solidFill>
                    <a:latin typeface="Arial"/>
                  </a:defRPr>
                </a:pPr>
              </a:p>
            </c:txPr>
            <c:showLegendKey val="0"/>
            <c:showVal val="1"/>
            <c:showCatName val="0"/>
            <c:showSerName val="0"/>
            <c:showPercent val="0"/>
            <c:showBubbleSize val="0"/>
            <c:showLeaderLines val="0"/>
          </c:dLbls>
          <c:cat>
            <c:multiLvlStrRef>
              <c:f>Sheet1!$A$2:$A$7</c:f>
              <c:multiLvlStrCache>
                <c:ptCount val="6"/>
                <c:lvl>
                  <c:pt idx="0">
                    <c:v>Cast+mach</c:v>
                  </c:pt>
                  <c:pt idx="1">
                    <c:v>Machining</c:v>
                  </c:pt>
                  <c:pt idx="2">
                    <c:v>Inj. mould</c:v>
                  </c:pt>
                  <c:pt idx="3">
                    <c:v>Forging</c:v>
                  </c:pt>
                  <c:pt idx="4">
                    <c:v>Sheet metal</c:v>
                  </c:pt>
                  <c:pt idx="5">
                    <c:v>Blow mould</c:v>
                  </c:pt>
                </c:lvl>
              </c:multiLvlStrCache>
            </c:multiLvlStrRef>
          </c:cat>
          <c:val>
            <c:numRef>
              <c:f>Sheet1!$C$2:$C$7</c:f>
              <c:numCache>
                <c:formatCode>General</c:formatCode>
                <c:ptCount val="6"/>
                <c:pt idx="0">
                  <c:v>270</c:v>
                </c:pt>
                <c:pt idx="1">
                  <c:v>210</c:v>
                </c:pt>
                <c:pt idx="2">
                  <c:v>210</c:v>
                </c:pt>
                <c:pt idx="3">
                  <c:v>210</c:v>
                </c:pt>
                <c:pt idx="4">
                  <c:v>150</c:v>
                </c:pt>
                <c:pt idx="5">
                  <c:v>210</c:v>
                </c:pt>
              </c:numCache>
            </c:numRef>
          </c:val>
        </c:ser>
        <c:dLbls>
          <c:numFmt formatCode="#,##0" sourceLinked="0"/>
          <c:txPr>
            <a:bodyPr/>
            <a:lstStyle/>
            <a:p>
              <a:pPr>
                <a:defRPr b="0" i="0" strike="noStrike" sz="800" u="none">
                  <a:solidFill>
                    <a:srgbClr val="3A435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A435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CE3EE"/>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minutes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86F7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6325C"/>
                </a:solidFill>
                <a:latin typeface="Arial"/>
              </a:defRPr>
            </a:pPr>
            <a:r>
              <a:rPr sz="1000" b="0" i="0" u="none" strike="noStrike">
                <a:solidFill>
                  <a:srgbClr val="16325C"/>
                </a:solidFill>
                <a:latin typeface="Arial"/>
              </a:rPr>
              <a:t>19 manufacturing processes</a:t>
            </a:r>
          </a:p>
        </c:rich>
      </c:tx>
      <c:layout/>
      <c:overlay val="0"/>
    </c:title>
    <c:autoTitleDeleted val="0"/>
    <c:plotArea>
      <c:layout/>
      <c:doughnutChart>
        <c:varyColors val="1"/>
        <c:ser>
          <c:idx val="0"/>
          <c:order val="0"/>
          <c:tx>
            <c:strRef>
              <c:f>Sheet1!$B$1</c:f>
              <c:strCache>
                <c:ptCount val="1"/>
                <c:pt idx="0">
                  <c:v>Coverage</c:v>
                </c:pt>
              </c:strCache>
            </c:strRef>
          </c:tx>
          <c:spPr>
            <a:solidFill>
              <a:schemeClr val="accent1"/>
            </a:solidFill>
            <a:ln w="9525" cap="flat">
              <a:solidFill>
                <a:srgbClr val="F9F9F9"/>
              </a:solidFill>
              <a:prstDash val="solid"/>
              <a:round/>
            </a:ln>
            <a:effectLst/>
          </c:spPr>
          <c:dPt>
            <c:idx val="0"/>
            <c:bubble3D val="0"/>
            <c:spPr>
              <a:solidFill>
                <a:srgbClr val="0D7D71"/>
              </a:solidFill>
              <a:effectLst/>
            </c:spPr>
          </c:dPt>
          <c:dPt>
            <c:idx val="1"/>
            <c:bubble3D val="0"/>
            <c:spPr>
              <a:solidFill>
                <a:srgbClr val="99651A"/>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Costed from CAD on rules (13)</c:v>
                </c:pt>
                <c:pt idx="1">
                  <c:v>Form inputs only (6)</c:v>
                </c:pt>
              </c:strCache>
            </c:strRef>
          </c:cat>
          <c:val>
            <c:numRef>
              <c:f>Sheet1!$B$2:$B$3</c:f>
              <c:numCache>
                <c:ptCount val="2"/>
                <c:pt idx="0">
                  <c:v>13</c:v>
                </c:pt>
                <c:pt idx="1">
                  <c:v>6</c:v>
                </c:pt>
              </c:numCache>
            </c:numRef>
          </c:val>
        </c:ser>
        <c:firstSliceAng val="0"/>
        <c:holeSize val="60"/>
      </c:doughnutChart>
      <c:spPr>
        <a:noFill/>
        <a:ln>
          <a:noFill/>
        </a:ln>
        <a:effectLst/>
      </c:spPr>
    </c:plotArea>
    <c:legend>
      <c:legendPos val="b"/>
      <c:overlay val="0"/>
      <c:txPr>
        <a:bodyPr/>
        <a:lstStyle/>
        <a:p>
          <a:pPr>
            <a:defRPr sz="85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housing</c:v>
                </c:pt>
              </c:strCache>
            </c:strRef>
          </c:tx>
          <c:spPr>
            <a:solidFill>
              <a:srgbClr val="0D7D71"/>
            </a:solidFill>
            <a:effectLst/>
          </c:spPr>
          <c:invertIfNegative val="0"/>
          <c:dLbls>
            <c:numFmt formatCode="£0.00" sourceLinked="0"/>
            <c:txPr>
              <a:bodyPr/>
              <a:lstStyle/>
              <a:p>
                <a:pPr>
                  <a:defRPr b="0" i="0" strike="noStrike" sz="850" u="none">
                    <a:solidFill>
                      <a:srgbClr val="3A4356"/>
                    </a:solidFill>
                    <a:latin typeface="Calibri"/>
                  </a:defRPr>
                </a:pPr>
              </a:p>
            </c:txPr>
            <c:showLegendKey val="0"/>
            <c:showVal val="1"/>
            <c:showCatName val="0"/>
            <c:showSerName val="0"/>
            <c:showPercent val="0"/>
            <c:showBubbleSize val="0"/>
            <c:showLeaderLines val="0"/>
          </c:dLbls>
          <c:dPt>
            <c:idx val="0"/>
            <c:invertIfNegative val="0"/>
            <c:bubble3D val="0"/>
            <c:spPr>
              <a:solidFill>
                <a:srgbClr val="0D7D71"/>
              </a:solidFill>
              <a:effectLst/>
            </c:spPr>
          </c:dPt>
          <c:dPt>
            <c:idx val="1"/>
            <c:invertIfNegative val="0"/>
            <c:bubble3D val="0"/>
            <c:spPr>
              <a:solidFill>
                <a:srgbClr val="686F7D"/>
              </a:solidFill>
              <a:effectLst/>
            </c:spPr>
          </c:dPt>
          <c:cat>
            <c:multiLvlStrRef>
              <c:f>Sheet1!$A$2:$A$3</c:f>
              <c:multiLvlStrCache>
                <c:ptCount val="2"/>
                <c:lvl>
                  <c:pt idx="0">
                    <c:v>Everything after it</c:v>
                  </c:pt>
                  <c:pt idx="1">
                    <c:v>The casting shot</c:v>
                  </c:pt>
                </c:lvl>
              </c:multiLvlStrCache>
            </c:multiLvlStrRef>
          </c:cat>
          <c:val>
            <c:numRef>
              <c:f>Sheet1!$B$2:$B$3</c:f>
              <c:numCache>
                <c:formatCode>General</c:formatCode>
                <c:ptCount val="2"/>
                <c:pt idx="0">
                  <c:v>29.89</c:v>
                </c:pt>
                <c:pt idx="1">
                  <c:v>2.68</c:v>
                </c:pt>
              </c:numCache>
            </c:numRef>
          </c:val>
        </c:ser>
        <c:dLbls>
          <c:numFmt formatCode="£0.00" sourceLinked="0"/>
          <c:txPr>
            <a:bodyPr/>
            <a:lstStyle/>
            <a:p>
              <a:pPr>
                <a:defRPr b="0" i="0" strike="noStrike" sz="850" u="none">
                  <a:solidFill>
                    <a:srgbClr val="3A4356"/>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A4356"/>
                </a:solidFill>
                <a:latin typeface="Calibri"/>
              </a:defRPr>
            </a:pPr>
            <a:endParaRPr lang="en-US"/>
          </a:p>
        </c:txPr>
        <c:crossAx val="2094734552"/>
        <c:crosses val="autoZero"/>
        <c:auto val="1"/>
        <c:lblAlgn val="ctr"/>
        <c:noMultiLvlLbl val="1"/>
        <c:tickLblSkip val="1"/>
      </c:catAx>
      <c:valAx>
        <c:axId val="2094734552"/>
        <c:scaling>
          <c:orientation val="minMax"/>
          <c:max val="4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part</c:v>
                </c:pt>
              </c:strCache>
            </c:strRef>
          </c:tx>
          <c:spPr>
            <a:solidFill>
              <a:srgbClr val="0D7D71"/>
            </a:solidFill>
            <a:effectLst/>
          </c:spPr>
          <c:invertIfNegative val="0"/>
          <c:dLbls>
            <c:numFmt formatCode="£0.00" sourceLinked="0"/>
            <c:txPr>
              <a:bodyPr/>
              <a:lstStyle/>
              <a:p>
                <a:pPr>
                  <a:defRPr b="0" i="0" strike="noStrike" sz="900" u="none">
                    <a:solidFill>
                      <a:srgbClr val="3A4356"/>
                    </a:solidFill>
                    <a:latin typeface="Calibri"/>
                  </a:defRPr>
                </a:pPr>
              </a:p>
            </c:txPr>
            <c:showLegendKey val="0"/>
            <c:showVal val="1"/>
            <c:showCatName val="0"/>
            <c:showSerName val="0"/>
            <c:showPercent val="0"/>
            <c:showBubbleSize val="0"/>
            <c:showLeaderLines val="0"/>
          </c:dLbls>
          <c:cat>
            <c:multiLvlStrRef>
              <c:f>Sheet1!$A$2:$A$9</c:f>
              <c:multiLvlStrCache>
                <c:ptCount val="8"/>
                <c:lvl>
                  <c:pt idx="0">
                    <c:v>Margin</c:v>
                  </c:pt>
                  <c:pt idx="1">
                    <c:v>Overhead</c:v>
                  </c:pt>
                  <c:pt idx="2">
                    <c:v>Logistics</c:v>
                  </c:pt>
                  <c:pt idx="3">
                    <c:v>Packaging</c:v>
                  </c:pt>
                  <c:pt idx="4">
                    <c:v>Tooling</c:v>
                  </c:pt>
                  <c:pt idx="5">
                    <c:v>Labour</c:v>
                  </c:pt>
                  <c:pt idx="6">
                    <c:v>Process</c:v>
                  </c:pt>
                  <c:pt idx="7">
                    <c:v>Material</c:v>
                  </c:pt>
                </c:lvl>
              </c:multiLvlStrCache>
            </c:multiLvlStrRef>
          </c:cat>
          <c:val>
            <c:numRef>
              <c:f>Sheet1!$B$2:$B$9</c:f>
              <c:numCache>
                <c:formatCode>General</c:formatCode>
                <c:ptCount val="8"/>
                <c:pt idx="0">
                  <c:v>3.18</c:v>
                </c:pt>
                <c:pt idx="1">
                  <c:v>3.61</c:v>
                </c:pt>
                <c:pt idx="2">
                  <c:v>1.1</c:v>
                </c:pt>
                <c:pt idx="3">
                  <c:v>0.6</c:v>
                </c:pt>
                <c:pt idx="4">
                  <c:v>2.17</c:v>
                </c:pt>
                <c:pt idx="5">
                  <c:v>1.36</c:v>
                </c:pt>
                <c:pt idx="6">
                  <c:v>14.34</c:v>
                </c:pt>
                <c:pt idx="7">
                  <c:v>12.18</c:v>
                </c:pt>
              </c:numCache>
            </c:numRef>
          </c:val>
        </c:ser>
        <c:dLbls>
          <c:numFmt formatCode="£0.00" sourceLinked="0"/>
          <c:txPr>
            <a:bodyPr/>
            <a:lstStyle/>
            <a:p>
              <a:pPr>
                <a:defRPr b="0" i="0" strike="noStrike" sz="900" u="none">
                  <a:solidFill>
                    <a:srgbClr val="3A4356"/>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A4356"/>
                </a:solidFill>
                <a:latin typeface="Calibri"/>
              </a:defRPr>
            </a:pPr>
            <a:endParaRPr lang="en-US"/>
          </a:p>
        </c:txPr>
        <c:crossAx val="2094734552"/>
        <c:crosses val="autoZero"/>
        <c:auto val="1"/>
        <c:lblAlgn val="ctr"/>
        <c:noMultiLvlLbl val="1"/>
        <c:tickLblSkip val="1"/>
      </c:catAx>
      <c:valAx>
        <c:axId val="2094734552"/>
        <c:scaling>
          <c:orientation val="minMax"/>
          <c:max val="1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part</c:v>
                </c:pt>
              </c:strCache>
            </c:strRef>
          </c:tx>
          <c:spPr>
            <a:solidFill>
              <a:srgbClr val="0D7D71"/>
            </a:solidFill>
            <a:effectLst/>
          </c:spPr>
          <c:invertIfNegative val="0"/>
          <c:dLbls>
            <c:numFmt formatCode="£0.00" sourceLinked="0"/>
            <c:txPr>
              <a:bodyPr/>
              <a:lstStyle/>
              <a:p>
                <a:pPr>
                  <a:defRPr b="0" i="0" strike="noStrike" sz="850" u="none">
                    <a:solidFill>
                      <a:srgbClr val="3A4356"/>
                    </a:solidFill>
                    <a:latin typeface="Calibri"/>
                  </a:defRPr>
                </a:pPr>
              </a:p>
            </c:txPr>
            <c:showLegendKey val="0"/>
            <c:showVal val="1"/>
            <c:showCatName val="0"/>
            <c:showSerName val="0"/>
            <c:showPercent val="0"/>
            <c:showBubbleSize val="0"/>
            <c:showLeaderLines val="0"/>
          </c:dLbls>
          <c:cat>
            <c:multiLvlStrRef>
              <c:f>Sheet1!$A$2:$A$9</c:f>
              <c:multiLvlStrCache>
                <c:ptCount val="8"/>
                <c:lvl>
                  <c:pt idx="0">
                    <c:v>Margin</c:v>
                  </c:pt>
                  <c:pt idx="1">
                    <c:v>Overhead</c:v>
                  </c:pt>
                  <c:pt idx="2">
                    <c:v>Logistics</c:v>
                  </c:pt>
                  <c:pt idx="3">
                    <c:v>Packaging</c:v>
                  </c:pt>
                  <c:pt idx="4">
                    <c:v>Tooling</c:v>
                  </c:pt>
                  <c:pt idx="5">
                    <c:v>Labour</c:v>
                  </c:pt>
                  <c:pt idx="6">
                    <c:v>Process</c:v>
                  </c:pt>
                  <c:pt idx="7">
                    <c:v>Material</c:v>
                  </c:pt>
                </c:lvl>
              </c:multiLvlStrCache>
            </c:multiLvlStrRef>
          </c:cat>
          <c:val>
            <c:numRef>
              <c:f>Sheet1!$B$2:$B$9</c:f>
              <c:numCache>
                <c:formatCode>General</c:formatCode>
                <c:ptCount val="8"/>
                <c:pt idx="0">
                  <c:v>2.15</c:v>
                </c:pt>
                <c:pt idx="1">
                  <c:v>2.18</c:v>
                </c:pt>
                <c:pt idx="2">
                  <c:v>2.4</c:v>
                </c:pt>
                <c:pt idx="3">
                  <c:v>1.2</c:v>
                </c:pt>
                <c:pt idx="4">
                  <c:v>11.2</c:v>
                </c:pt>
                <c:pt idx="5">
                  <c:v>0.05</c:v>
                </c:pt>
                <c:pt idx="6">
                  <c:v>2.45</c:v>
                </c:pt>
                <c:pt idx="7">
                  <c:v>4.46</c:v>
                </c:pt>
              </c:numCache>
            </c:numRef>
          </c:val>
        </c:ser>
        <c:dLbls>
          <c:numFmt formatCode="£0.00" sourceLinked="0"/>
          <c:txPr>
            <a:bodyPr/>
            <a:lstStyle/>
            <a:p>
              <a:pPr>
                <a:defRPr b="0" i="0" strike="noStrike" sz="850" u="none">
                  <a:solidFill>
                    <a:srgbClr val="3A4356"/>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3A4356"/>
                </a:solidFill>
                <a:latin typeface="Calibri"/>
              </a:defRPr>
            </a:pPr>
            <a:endParaRPr lang="en-US"/>
          </a:p>
        </c:txPr>
        <c:crossAx val="2094734552"/>
        <c:crosses val="autoZero"/>
        <c:auto val="1"/>
        <c:lblAlgn val="ctr"/>
        <c:noMultiLvlLbl val="1"/>
        <c:tickLblSkip val="1"/>
      </c:catAx>
      <c:valAx>
        <c:axId val="2094734552"/>
        <c:scaling>
          <c:orientation val="minMax"/>
          <c:max val="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coming back. Last time I showed you what CostVision produces. The fair feedback was that the workflow was still a black box. People could not see who does what, or where the AI sits. So today I want to open the box. I will take one worked example, a die-cast aluminium housing, and walk it through the tool step by step: from the CAD file to a number a buyer can take into a supplier meeting. Then I will do the same on a very different part, a moulded bumper, to show the method holds. I will colour-code who owns each step, because that was the confusing bit. Blue is measuring. Purple is the optional AI. Amber is the safety checks. Teal is the cost engine doing the arithmetic. Green is the engineer. One thing to say up front. In the build we ship to JLR, the AI is switched off. JLR has no AI approval yet. The AI code is still in the product, turned off by a setting, so it could be switched on later without a rebuild. Even when it is on, it never sets a price. So the line on the screen is the one to remember. The tool measures, the engineer answers what geometry cannot decide, the engine does the sums, and a person signs it off. Everything else today is detail behind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map, because there is more here than an hour needs, and I would rather you chose than sat through all of it. Section one sets the scene. How the pieces connect, the PCB photo flow, who else sells this kind of tool, and the business case. That section ends with one decision I am asking for. The PCB photo flow uses AI, so it is switched off in the JLR build. I show it so you know what exists, not because you can use it today. Section two is the heart of the pack. One worked example, a die-cast aluminium housing, taken through all twelve stages. I show the calculation in full so you can check it with a calculator. Section three runs the same method on a bumper fascia. It is a very different part, and the money turns out to sit somewhere else. I finish that section with the new gear model. Section four is five minutes on what the tool cannot do. I would rather you heard that from me. The appendix is reference only: the full DFM and DFA rule book and the technical architecture. If we only get ten minutes, take the network picture on slide three, the business case, the one-page summary on slide thirty-two, the two findings on slide forty-two and the limits on slide forty-six. Everything else is the evidence behind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twelve stages, here is the whole thing on one picture. Start in the middle left. The blue box is the geometry kernel. It measures the CAD file: volume, weight, walls, holes and features. Nothing is guessed. Under it, the indigo box is the rules. They turn those measurements into cost inputs: cycle times, tooling, press size, yield. Thirteen commodities can be costed from CAD this way. Where geometry cannot decide something, such as the material family or the process route, the tool does not guess. It asks the engineer, the green box, and it will not cost the part until someone answers. The purple box at the top is the AI. In the JLR build it is switched off. The code is still there, and a setting could turn it on later without a rebuild. When it is on, it hands back words, never money, and every AI route is rate-limited per user. The PCB photo flow needs it, so at JLR that screen is hidden. On the right, the rate library is the only source of money. The engine does fixed eight-bucket arithmetic, and the uncertainty layer turns the number into a range. The dashed arrow is learning from actuals: after three real prices for a commodity, the band is corrected. The green card top left is why you can trust the picture. Same file and same answers give the same price. There are 2,438 automated tests, and six real parts are pinned in a regression baseline. What I cannot claim yet is accuracy against a price JLR actually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PCB photo flow. I want to be clear first: it uses AI, so in the JLR build it is switched off and the screen is hidden. I show it because it exists in the product and could be turned on later. At JLR today, a board is costed through the PCB fabrication and PCBA forms from typed inputs. When AI is on, this is what happens. The engineer uploads photos of the board and types the annual quantity and region. The AI reads the photos in two passes. First it names the board and every part it can see, with a confidence on each line. Then it looks again at the parts it could not confirm. That is its whole job. It prices nothing. Everything after that runs on your own machine and is plain code. The parser tidies the list and rescues long lists that get cut short. The board-spec stabiliser snaps size and layers to stable values, so the same photos give the same board. Then the money. Confirmed parts take their price from an offline catalogue. Parts it could not read get a capped class price and a flag for a person. The bare board is a bought-in price from fabricators’ price tables, so no overhead or margin is added on top. Assembly is costed from placements, inspection and test at country rates. The engineer can edit any line, and a real quote beats the catalogue. The model never prices a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was asked who else does this, so I looked properly rather than answering from memory. The first finding is that three different markets all get called automated PCBA costing. They answer different questions for different people. Camp A is EMS quoting: Luminovo and CalcuQuote. A contract manufacturer gets a BOM from a customer and needs a quick, competitive quote. It is the most automated part of the market. But they already have the BOM. They answer what shall I charge, not what should this cost. Camp B is enterprise should-cost: aPriori, Siemens, FACTON, Tset, Boothroyd Dewhurst. Buyer-side, used by cost engineering and purchasing. aPriori ships a full PCBA costing module, so treat it as a mature, direct competitor. Camp C is reverse costing: Yole SystemPlus and TechInsights. They take a real board apart by hand and sell a report. Underneath all three, everyone rents their component prices from someone like SiliconExpert or Octopart. And the amber strip: JLCPCB will give you an instant price, but it is their selling price. You cannot negotiate with another supplier’s quotation. Where do we sit? Camp B by purpose, reached from the physical board like camp C. One honest caveat for JLR: the photo route needs AI, and AI is switched off in the JLR build. So at JLR today, a board is costed from typed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slide, and I want to be clear how much weight it carries before anyone quotes it. The scale across the top makes automation a definition, not an opinion. L0 is a manual service. L1 is software where a person keys the BOM. L2 is a BOM file in and a cost out. L3 is a photo in and a BOM and cost out. The price column is what I was asked for, and the honest answer is that almost nobody publishes. Luminovo, CalcuQuote, aPriori, Siemens, Tset and Boothroyd all sell on quotation. So the amber box is the finding, not a gap in my research. If someone shows you a typical licence cost for these tools, it is a guess. I have left those cells saying not published, and I would like to keep it that way. Two rows have real figures. Yole sells reports at list price, but the only prices I could verify are from 2017 and 2018, so treat them as order of magnitude. JLCPCB publishes everything, but it is a prototype and consumer selling price. PCB Tracer is the row that changed my view. It reads board photos into a BOM, free or nearly free. It does not cost the board, but photo to BOM is not uncontested. One caveat: vendor sites were read through a search index, not opened directly. Good enough to cite, not to quote word for word.
───────────── SOURCES (accessed 7 August 2026, via search index — direct fetch blocked by network policy) ─────────────
Luminovo — luminovo.com/pricing · luminovo.com/platform/quoting-intelligence · luminovo.com/platform/pcb-pricing · luminovo.com/faq/how-does-luminovo-pricing-work-are-prices-listed-online · luminovo.com/faq/how-much-does-luminovo-cost
CalcuQuote / Elisa IndustrIQ — calcuquote.com/quotecq · calcuquote.com/request-pricing-quote · elisaindustriq.com/calcuquote/pricing · elisaindustriq.com/resources/blog/6-bom-management-and-quoting-software-platforms-for-ems-providers-in-2026
aPriori — apriori.com/wp-content/uploads/2023/03/Manufacturing-Process-Models-for-Electronics.pdf · apriori.com/resources/video/demo-pcb-pcba/ · resources.apriori.com/vidyard-all-players/introducing-aprioris-printed-circuit-board-assembly-costing-module · g2.com/products/apriori-manufacturing-intelligence-platform/pricing · trustradius.com/products/apriori-technologies/pricing
Siemens — siemens.com/en-us/products/teamcenter/solutions/product-cost-management/ · resources.sw.siemens.com/en-US/fact-sheet-reduce-costs-and-carbon-footprint-with-teamcenter-x-product-cost-management/
Tset — tset.com/industries/electronics-and-high-tech-manufacturing · tset.com/blog/how-to-calculate-pcba-and-pcb-costs-in-product-costing-software · tset.com/videos/pcba-pcb
FACTON / costdata — costdata.de/en/blog/best-cost-engineering-software
Boothroyd Dewhurst — dfma.com/software/cost.asp · dfma.com/software/cost-modeling-software-for-manufacturing.html · dfma.com/resources/pcb-cost-estimating.asp
Yole SystemPlus — systemplus.fr/services/reverse-costing/ · yolegroup.com/about-us/reverse-costing/ · reverse-costing.com  (EUR figures: 2017–18 Yole flyers via slideshare.net/Yole_Developpement — STALE, order-of-magnitude only)
TechInsights — techinsights.com/technical-capabilities/overview/scope-of-analysis/teardown-costing · techinsights.com/reverse-engineering-subscriptions · .../component-pricing-landscape-and-analysis-subscriptions · .../automotive-teardown-subscriptions
JLCPCB — jlcpcb.com/help/article/pcb-assembly-price · jlcpcb.com/pcb-assembly · jlcpcb.com/parts/bom-tool/
PCB Tracer — pcbtracer.com · pcbtracer.com/PCB_Tracer.html · github.com/rpelorosso/pcb-tracer · hackaday.com/2026/02/23/x-ray-a-pcb-virtually/
Academic (photo→BOM is a researched problem, not only a product): arxiv.org/pdf/2307.13105 (PCB marking detection for hardware assurance) · arxiv.org/pdf/2202.08452 · arxiv.org/pdf/2301.09268 (PCBDet)
CostVision figures on the following two slides are read from our own source, not from memory: server/routes/pcb.ts (grounding block ~L1408–1432), server/utils/pcb-live-pricing.ts, server/utils/pcb-bom-grounding.ts (groundingCandidates cap = 20), server/utils/pcb-price-catalogue.ts, src/engine/modules/pcba.ts.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axes as the last slide, with us in the indigo column. I have coloured our cell green only where I can defend it, and red where I cannot. The green rows first. We start from a photo rather than a BOM. We return an answer in minutes rather than weeks. We can run air-gapped. And every BOM line carries an evidence tag: legible, partly legible or inferred. I have not seen anyone else print that. But notice the caveat I have added. The photo read needs AI, and AI is off in the JLR build. So at JLR today, the photo route is not available. The board is costed from typed inputs on the PCB forms. The component price row. Live distributor pricing is built and wired in, but it needs an API key and internet, and we do not have one. So in practice every price comes from the offline catalogue. It exists, and it is switched off. Now the red rows, which I would read first. We have never checked a PCBA estimate against a real invoice. More broadly, no estimate of any commodity has yet been compared with a price JLR paid. We measure accuracy as actuals are logged; we do not claim it up front. And maturity. Others have hundreds of customers or teardowns. We have done one board, internally. That is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one on the market, and it is the decision slide for the PCB side. Top left is what is genuinely ours, and I have kept the claim narrow. Photo to BOM exists elsewhere. Costing a PCBA from a BOM exists elsewhere. What I could not find is the two joined in one pass. That join lets a buyer cost a board when nobody will hand over the BOM. It depends on AI, which is off at JLR. Top right, four things we should say before anyone else does. PCBA accuracy is not validated against a single invoice. Live pricing is built and switched off. About twenty pounds of the brake ECU is Bosch captive silicon with no market price, and no data feed fixes that. And the placement rate: the process cost on that board rests on our library’s placements per hour, and if a real line runs two or three times faster the number falls a lot. The three cards are what to do, in order of value for effort. Turn the price feed on where the network allows it. Cost one board where we already know the purchase price, and log it as an actual. And ask one EMS supplier for a real placement rate. Until then the headline stays what it is: a defensible, traceable estimate, not a priced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money comes from. Hours are not money, so I lead with the money and put the hours where they belong. Three streams. A, the negotiation floor. A should-cost turns a quote into a conversation with a number under it. Every line shows how it was worked out, so the challenge survives the meeting. As an example, on a machined bracket the tool lists about five pounds forty a part of ideas to test. Those are ideas, not savings anyone has banked. B, design-stage avoidance. The tool is quick enough to use while the design can still change. On the bumper, tooling turns out to be forty-three percent of the piece cost. You want to know that before the tool is ordered. C, capacity. I have put it third on purpose. We have not timed the tool against the manual method yet. The pilot will do that. Then the calculation, laid out as a chain so you can attack any one term. Twenty million of spend, eight percent identified, twenty percent captured, gives three hundred and twenty thousand a year. Every one of those is a planning assumption, not a tool result. Swap in our real numbers. The line to leave with is the navy strip. At a pilot cost of about twenty-five thousand, break-even is capturing one point six percent of what is identified. I am not asking you to believe twenty percent. I am asking whether one point six is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time, and I want to be careful with it, because we have not timed the tool properly yet. On the left is what a CAD should-cost would involve. Upload the file. The tool measures the part and derives the inputs. The engineer answers the handful of questions geometry cannot settle, such as the material or the process route. Then they review the range and approve it. We expect ten to fifteen minutes for a CAD part, with an engineer at the screen the whole time. That is an expectation, not a measurement. The table compares those expected times with doing the job by hand in CAPEE. One CAPEE row, casting plus machining at four to five hours, is a baseline we confirmed. The other CAPEE rows are working figures from the team, and the slide says so. The main difference is input feeding. In CAPEE every measurement is read off the CAD and typed in. Here the kernel measures the file. The green box shows how you would total the hours: the difference per part, times parts a year, summed by commodity. On an illustrative mix that comes to about sixteen hundred and fifty hours. Treat that as planning arithmetic. The pilot replaces every figure on this slide with timed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internal review with the manager, made presentable. Seven categories, taken in order. One, input feeding. In CAPEE a person reads every measurement off the CAD and types it in. Here the kernel measures the file, and the engineer only answers what geometry cannot decide. Two, machine and tonnage. CAPEE partly automates this. Here the press is sized by physics, and the machining routing and mould cavitation are chosen by cost, with the losing options printed so the choice defends itself. Three, coverage. If a should-cost takes minutes rather than hours, we can cost more parts, earlier. How many more is for the pilot to measure. Four, total hours. The formula is on the slide. Until the pilot times real runs, the answer is a planning estimate. Five, DFM and DFA. I checked this in the code: the findings come from the deterministic engine, fifty-two threshold rules and the geometry advisors. Not from AI. Six, cost-saving ideas. Same answer. The engine’s rules and optimisers produce them, each priced in pounds per part with an owner. Seven, the extras: twenty regions on every run, the confidence band, the negotiation pack, the self-audit, learning from actuals, landed cost with duty, carbon, and a Windows package that runs with no install. The honest one-liner is at the bottom. The arithmetic at the core is the same kind CAPEE does. The difference is that this tool measures, asks and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business case: what is proven, what is covered, and what it costs to run. The four figures across the top. 2,438 automated tests, plus browser tests that cost every commodity, export Excel and PDF, upload an STL and check accessibility on every run. Zero marginal cost per estimate, because with AI off there is no call to pay for; it is arithmetic on your own machine. Twenty regions priced on every run. And every cost line shows how it was worked out. The table is the honest part. The engine matches a hand calculation to under 0.01 percent on a reference machined bracket. Six real production parts, a steering knuckle, two castings, a pressed seat bracket, a machined part and a gear, are pinned in a regression baseline, so a change that moves any of them fails the build. But pinned is not the same as right. No estimate has yet been compared with a price JLR actually paid. So I quote no accuracy percentage. We measure accuracy as actuals are logged, and after three for a commodity the band is corrected by real data. The donut shows coverage: nineteen manufacturing processes, thirteen of them costed straight from CAD on rules, the rest from the form. The card shows the rate library behind it: version 2.1.0, dated sixteenth of June 2026. The amber strip is what we are not claiming. I would rather say it now than have it found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One specific, small, time-boxed decision. Approve a ninety-day pilot on forty parts. One named owner, about a third of an engineer, one laptop or virtual machine, roughly twenty-five thousand pounds one-off. No licence, no per-seat cost, and no per-estimate cost, because with AI off there is nothing to pay for per run. Nothing recurring is committed until day ninety. Scope. Forty live parts across four or five commodities we already buy, chosen with purchasing. A mix of parts already quoted and parts still in design, so we test both value streams. Out of scope: no supplier is told a number came from a tool, and an engineer owns every figure before it leaves the building. Three phases. Set up: install the Windows package, load our own rates through the Rate Converter workbook, re-run the six baseline parts, train two engineers. Run the basket, logging every quote or PO price as an actual. Then measure and decide. The criteria on the right are the part I would most like you to hold me to, and I want them agreed today. If we miss them, stopping is the right answer. The amber box lists the objections I expect, with what is already built for each. The honest one: six real parts are pinned, but none has yet been checked against a price JLR paid. The pilot is how we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orientation done. Now I want to slow right down and take one part through all twelve stages. The only fair way to judge a costing tool is to watch it work on something concrete. This is a die-cast aluminium housing. It is a worked example: the inputs are the kind the kernel measures from a STEP file, and every pound you will see is real engine output from those inputs. I re-ran it against today’s engine and rate library before this session, and the figures still match. Over the next slides you will see what the kernel measures, and what the tool asks the engineer because geometry cannot decide it. Then the four automatic guards, and what happens when an input disagrees with the geometry. Then how the press is chosen by physics, where every cutting minute comes from, and the eight buckets, the country comparison, the confidence band and the sign-off. In the JLR build the AI is switched off, so wherever I mention it, I am describing an optional mode, not what you will see on your laptop. If you take one slide from this section, take the calculation slide. You can check it with a calculator while I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 die-cast aluminium housing, the sort of thing that sits on an engine or a gearbox, and that we buy in tens of thousands a year. Two point eight kilos finished. Walls about three millimetres. Two precision bores that need reaming. Sixteen holes to drill and tap. Two faces machined flat, because something bolts to them. And a projected shadow of sixteen hundred and fifty square centimetres, which will decide the press size. I want to be precise about where these numbers come from. This is a worked example. On a real STEP file, the size, the walls, the holes and the faces are what the kernel measures. The annual volume and the country are typed by the engineer, because no drawing can tell you those. The poured weight is derived from the finished weight and a casting yield. Every cost on the following slides is what the engine produces from these inputs today. We keep a script that re-runs this example and fails loudly if a rate or a module moves, so the deck cannot quietly drift away from the tool. The picture is an illustration of the part, not a photograph or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and the map of where we are going. Two point eight kilos finished, walls about three millimetres, two precision bores, sixteen holes to drill and tap, two faces to machine flat. Sixty thousand a year, and we are looking at making it in China. Underneath are the five phases. Blue, the tool measures the part. Purple, it asks the engineer what geometry cannot decide: the material family, the process route where there is a real choice, the volume and the region. In the JLR build this is always the engineer, because AI is switched off. Amber, four automatic safety checks. Teal, the engine calculates. Green, a person checks the range and signs it off. Look at the box at the bottom, because it answers the question I was asked most last time: how much of this is AI? At most one stage of twelve could ever involve it, and at JLR it is off. Three stages measure, one asks, two check, four calculate and two are review. That is deliberate. We did not build an AI tool and bolt costing onto it. We built a costing engine. The AI, when it is switched on, is a small, bounded helper that can read and classify. It never sets a price. Everything else is engineering you can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engineer uploads the CAD file: STEP, IGES or STL. They also type two things no drawing can tell us: how many a year, and where we plan to make it. Those matter a lot. Volume decides how thinly the tooling is spread. Location decides which labour and machine rates apply. Stage two is measuring. The geometry kernel opens the model and measures it like a very precise digital ruler. On this part, the solid volume is about a thousand and thirty-seven cubic centimetres. It does not give one weight, because weight needs a density. So it gives a weight for each candidate material. On aluminium, that is two point eight kilos. It finds the walls, the bores, the holes and the faces to machine. One limit to know. An STL file is only a mesh of triangles. It has no feature table, so a machined STL arrives with no cycle time. The tool will not cost it until the engineer types one in. Stage three is a small check with a big effect: is the part hollow or solid? Thin walls around an enclosed space mean a casting, so the machines only finish surfaces. If the tool thought it was a solid block, it would price carving the whole shape from metal, and the answer would be roughly double. And the AI? It is not involved. At JLR it is off. The facts exist first, from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was asked what the geometry kernel actually is, so here is a proper answer. A geometry kernel is the maths engine that understands solid shapes. It is the same kind of software that sits under CATIA, SolidWorks and NX. Ours is Open CASCADE, usually called OCCT. We drive it from Python through its bindings, called OCP. The key point is that it reads real geometry, not a picture of it. A STEP file describes a cylinder as a true cylinder with a radius and an axis. A mesh file only has triangles that look round. That is why an STL gets a simpler path, with no feature table. Is it open source? Yes. OCCT is LGPL 2.1 with an exception that allows commercial use. OCP is Apache 2.0. The 3D viewer is three.js, which is MIT. In practice that means no per-seat CAD licence and no vendor who can change the terms. And no third party sees the model, because the kernel runs on the laptop or your own server. In the Windows package it ships inside the folder, with its own embedded Python. How does it measure? It integrates the solid for an exact volume. It walks every cylindrical face to build the hole table. It casts rays inside the solid to find true wall thickness. And it classifies every face, so the flats to be milled are counted. The limit: it is exact about what is in the model and silent about what is not. It cannot read a tolerance, a surface finish or a material callout unless the file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This used to be the AI slide. At JLR it is the engineer’s slide, because the AI is switched off. Here is what happens. The kernel has measured the part and the rules have derived what they can. Some things geometry cannot settle. What material family is it? Where more than one process could make it, which route? How many a year, and where? The tool asks those questions instead of guessing, and it will not cost the part until each one is answered. There is one routing rule worth knowing. A part with thick, sparse walls, over about six millimetres, is only offered casting, forging, cast plus machine or machining. Never sheet metal or moulding. So the question itself is already sensible. For this housing, the engineer answers: aluminium die-casting alloy, high-pressure die cast, then machined, sixty thousand a year, China. On the right is what the AI cannot do, even if it is switched on one day. It cannot set a price, change a measurement, choose the machine or cycle time, touch the rate library, override a safety check, or overrule the engineer. These are enforced in code. If it were on, it could offer a first answer to the questions, with a confidence score, as an editable pre-fill. The engineer’s entry always wins. That is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what if an input is wrong? The tool assumes it might be, and checks. Four checks ran on this part before a single pound was calculated. Check one. To sell us a two point eight kilo casting, the supplier pours four point eight three kilos. The rest runs down the feed channels and is recycled at scrap value. If you cost only the part weight, you understate the metal badly. It is the most common casting cost error, and the tool cannot make it. Check two. On a casting, the bores and holes are already cast in. The cutter takes a thin skim. So the guard caps machining time to a finishing envelope: a tenth of an hour plus nought point nought seven hours per kilo. For this part that ceiling is about eighteen minutes. Check three. A machined face can tempt a quick read towards machined from solid. The guard keeps casting as the main process, with a real die-casting alloy, because alloys have different prices per kilo. Check four is machine sizing, which gets its own slide next. The amber box is the autocorrect. When an input disagrees with the measurements, the measurements win. The tool corrects it, records what changed and why, and shows the engineer. It never carries on silently. Each guard exists because of a specific costing mistake. They are lessons, not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into the engine. Two questions get answered here: which process, and which machine. Hold on to one idea: every answer on this slide is a default, and the engineer can override it. First, the process. The rules test the measured shape against what each process can physically do. Three millimetre walls, a hollow shape, sixty thousand a year: that points firmly at high-pressure die casting. Sand casting cannot hold three millimetre walls at that speed. Machining from solid would cut away about eighty percent of the metal. Gravity die casting struggles to fill walls that thin. The engineer confirmed the route when asked. Second, the press. Molten aluminium under pressure tries to push the die halves apart. So the engine takes the measured shadow area, multiplies by the cavity pressure, adds a safety margin, and picks the smallest press in the library that can clamp it: sixteen hundred tonnes. The smallest press that works is also the cheapest per hour, so sizing it correctly is the cost optimisation. Third, the engineer outranks the tool wherever they have entered something. Pin the process and it stays pinned. Pick a different machine and the tool keeps it, prices its own choice alongside as a negotiation lever, and the self-audit flags a machine that is too big or too small, with the pounds per part. Enter a toolmaker quote and it overrides every tooling estimate. No AI was involved in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was asked to show the calculation rather than assert it. So this is the arithmetic behind the two numbers that matter most on a casting: which press, and how many minutes of cutting. Left side, the press. The projected shadow is sixteen hundred and fifty square centimetres. Aluminium high-pressure die casting runs at about seventy megapascals in the cavity. Multiply them and you get about eleven hundred and seventy-eight tonnes trying to open the die. The engine adds a twenty percent safety factor, so we need about fourteen hundred tonnes. It walks the ladder and takes the smallest press that covers it: sixteen hundred tonnes, at a hundred and thirty-seven pounds fifty-five an hour. One honest detail. That is how the form sizes the press. On the CAD rules path, where no shadow area is passed in yet, the rules size the press from part mass, which can pick a smaller machine. The self-audit flags a machine that is the wrong size, so check the press the trace shows. Right side, the cutting minutes. Each feature gets its own time from a shop formula: the two faces, the two bores, the sixteen blind holes. Add a thirty percent uplift for the reamed bores, and the geometry proposes about twenty-eight minutes. Then the guard. A two point eight kilo casting should not need more than about seventeen point eight minutes of finishing, so the guard caps it. The routing we costed is fifteen point nine minutes, inside both. Three numbers bounding each other. When they agree, the number stands. When they disagree badly, you find out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 people usually want and rarely get. I laid the table out so you can check any row with a calculator. Take the milling row. The five-axis machine costs eighty-five pounds an hour. The cut takes nought point one one of an hour. A machine is never available a hundred percent of the time, so the engine divides by the equipment effectiveness, eighty-five percent. That gives nought point one two nine four of an hour. Eighty-five pounds times that is eleven pounds. Labour is half an operator at twenty-six pounds an hour, allowing for ninety percent labour efficiency: one pound fifty-nine. Twelve fifty-nine for the operation. The casting shot is fifty-five seconds on the sixteen hundred tonne press, with a two percent reject allowance: two pounds sixty-eight. Boring and reaming, nine seventy-three. Drilling and tapping on a cheaper machine, three twenty-four. Leak test, deburr and wash, four pounds. Plus a small amortised setup. In total, thirty-two pounds fifty-seven at UK rates. Now the chart, which for me is the most useful output on this part. The casting shot, the thing everyone pictures, is two pounds sixty-eight, about eight percent of the making cost. Everything after it is ninety-two percent. So if you argue about the aluminium price, you are arguing about the wrong thing. The money is in cycle time. The productive conversation with this supplier is about fixturing, tool paths and seconds per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money comes together. Every part the tool costs is built into the same eight buckets: material, process, labour, tooling, packaging, logistics, overhead and margin. For this housing made in China. Metal, costed at the poured weight and net of the scrap credit: twelve pounds eighteen. Process, the casting shot plus all the machining: fourteen thirty-four. Labour: one thirty-six. The die, spread over the volume: two seventeen. Packaging and transport: one pound seventy between them. Then overhead at twelve percent. It is a percentage of material, process, labour and tooling only, not of packaging and logistics. That gives three sixty-one. Margin at nine percent of the subtotal gives three eighteen. Total, thirty-eight pounds fifty-five. The tool shows the overhead base on screen, in the PDF and in the workbook, so nobody has to guess. Bottom right, the same part priced elsewhere. Each is a recalculation on that country’s own rates. India thirty-seven seventeen, China thirty-eight fifty-five, Mexico forty forty-four, UK fifty-nine sixty. The tool prices twenty regions on every run; I have shown four. Notice the metal barely moves between countries. Aluminium is a world commodity. What changes is labour, machine and overhead rates, and on a machining-heavy part that is the whole gap. Every figure traces back to a driver and a rate. Change an input and you can point at exactly why the answer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left, and they make this usable in a real negotiation. Stage eleven. The tool does not give one number pretending to be exact. It runs the calculation four thousand times, varying the inputs it is least sure of, and by different amounts. Tooling varies most, because tooling estimates are the least certain. Overhead and margin are policy percentages, so they are recalculated, not varied. The result is a range. On this part, ten percent of runs came in below thirty-two thirty-one, ten percent above forty-five thirty-eight, and the middle is our thirty-eight fifty-five. About plus or minus seventeen percent. The width is information: a machining-heavy casting carries more cycle-time risk than a simple pressing. Stage twelve is the one I care most about. Every derived input arrives as an editable pre-fill, highlighted, never silently applied. The engineer can change the material, the process, the machine, the cycle time or the rates, and the cost recalculates. The self-audit sits alongside, flagging things like a wrong machine size, tooling spread over the wrong volume, a material-only costing, or an implausible cycle time. Then the exports: an Excel workbook with six sheets including a traceability sheet, a PDF report, and the negotiation pack. All carry the on-screen total to the penny. And here is what it is for. If a supplier quotes fifty-two pounds, that is above our P90. The buyer can open the operation list and ask about the machining time, line by line. That is a different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I get every time is where the plus or minus comes from. Here is the mechanism, as the code does it. Step one. Every cost line already carries a confidence grade from where it came from. Measured geometry and library rates grade high. Derived values grade medium. Assumptions grade low. Step two. Those grades become spreads: five, twelve and twenty-two percent. Tooling gets one point eight times the spread, because it is the least certain thing we estimate. Packaging and logistics get less, because they are usually contracted. Overhead and margin are never varied; they are percentages, recalculated inside each trial. Step three, four thousand trials. Where the tool knows the source of each input, as on the CAD path, it varies every driver, including flat material prices, and re-runs the real engine. Otherwise it scales each bucket. Step four. Sort the totals and read the tenth, fiftieth and ninetieth percentiles. That is the band on the result card. Three properties. It is seeded, so the same part gives the same band every time, and that is tested. It learns: log real quotes or PO prices, and after three for a commodity the band is corrected by real data. And it is honest by construction: assumptions widen the band, so a part costed on guesses cannot look precise. In one line: the same arithmetic, run four thousand times, with each input as uncertain as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twelve to fifteen of every report, the DFM, DFA, cost optimisation and roadmap, come from one deterministic rule engine. The honest answer to is this AI opinion is no. Step one. The engine runs after the costing and reads the finished result: the eight buckets and the same inputs the estimate used. So it critiques the numbers that were actually costed. Step two. Fifty-two fixed thresholds fire. For example, material utilisation below sixty percent, or equipment effectiveness below seventy, or a bucket far outside its commodity benchmark. Each one carries a saving percentage and a recommendation, written as constants in code. Step three. Ten process advisors add findings from the measured solid: heavy sections that will draw porosity, sharp corners, missing draft, too much machining stock. Step four. Every finding is turned into pounds per part and ranked, biggest first. The engine grades findings internally to put them in order, but no score and no severity is ever shown. Engineers see what to do and what it is worth, not a mark against their design. Two properties to underline. The headline saving is the root-sum-square of the top three, capped at forty percent, so overlapping ideas are not double-counted. And the AI cannot touch any of it. At JLR it is off anyway. One function feeds both the screen and the PDF, so the two cannot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buyer asked exactly the right question. The tool costed a five-machine routing and then recommended consolidating it on a multi-axis machine. Why not pick the right machine in the first place? So now it does. Step one. Before any pound is booked, the routing optimiser prices the options: split across cheap three-axis stations, one five-axis setup, or a turning-led route for round parts. It includes batch setup and the handling every extra fixturing costs. The cheapest capable routing wins. Step two. The losing options are printed next to the chosen machine, so the process line comes with its own defence. Step three. The suggestions read the same arithmetic. They no longer criticise the tool’s own choice. If the lever is already taken, the report says routing verified optimal. Every finding is tagged with who owns the lever. Step four is the honest case. On the stub-axle report that prompted the question, the old advice said consolidate. The optimiser ranked it, and consolidation loses on that part. The new advice was a quick-win re-quote on the cheapest capable machines. Those figures are from that report at the time; they move with rates. Three rules. The AI never picks the machine. An engineer’s choice is respected, with the cheaper option shown beside it. And if there is no verifiable difference, there is no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one question: how does the tool price a die or a mould? Not as a percentage of the part price, and not from a lookup table. It writes the toolmaker’s quotation itself. One toolmaking shop model prices every commodity. Design at fifty-eight pounds an hour, CNC at fifty-two, EDM at fifty-eight, bench fitting at forty-eight, polishing at forty-five, press tryout at eighty-five. Tool steel by the kilogram. Hot-runner drops and core-pull cylinders at catalogue prices. And the shop’s twenty-two percent overhead and profit as its own visible line. The hours come from one law: twelve plus three point four times the area to the power nought point seven two, per cavity, corrected for depth. EDM, polishing and fitting follow as fractions driven by complexity and finish. Then tool life. The steel class follows the programme volume and sets the life, which decides how many tools you need and the tooling per part. The right side is the check we calibrated against: the bumper mould, the one tool we hold a real quotation for. The engine came to about four hundred and twenty-four thousand against a quotation of four hundred and twenty. That is one tool and one quotation. It is not a general accuracy claim, and the line values move with the inputs and rates. The rule that beats everything: a real toolmaker quotation overrides every estimate. That is what the bumper example later in the deck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shop, three more commodities. Each card reads like the quotation a die shop would send. The forging die. Die blocks sized from the impression, in real die steels priced by the kilogram. Sinking hours per impression, scaled by complexity and by how hard the steel is to cut. Then EDM, hardening, polishing and tryout. Die life depends on the metal being forged. Aluminium is gentle on a die; a superalloy wears one out very quickly. The stamping die. A die set, strip-design engineering, and per-station steel and hours split across wire EDM, CNC and bench fitting. Die life falls as the sheet gets harder and thicker, and the law says by how much. The shop model is cross-checked against the kernel’s independent estimate from the solid. The blow mould. The cavity is the container’s whole inner surface, so the hours scale with the litres it holds, not with a shadow area. Life follows the mould material. The last card: for castings, the kernel’s estimate from the solid leads on the CAD path, and the same shop model prices STL and manual entries. Investment casting tooling is priced as the wax-injection mould it really is. One rule survives everything on both slides. A real toolmaker quotation beats every estimate,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been asked, fairly, whether this thing makes numbers up. Let me answer precisely rather than reassuringly. On the left is what each bucket is made of. Material is measured volume times density times a price per kilo. Process is cycle time divided by machine availability, times a machine rate from the library. Labour is the same time times the manning and a wage rate. Tooling is the tool cost spread over annual volume times programme life. Packaging and logistics are typed in. Overhead is a percentage of material, process, labour and tooling. Margin is a percentage of the subtotal. Each applied once. Not one of those lines contains an AI number. At JLR the AI is off, and even when on it never sees the rate library or touches the arithmetic. On the right are checks that run automatically. A stated volume far from the measured one is flagged. Weight must match volume times density. Cycle times outside one point eight seconds to twenty-four hours are rejected. Near-net machining is capped. The self-audit flags a machine of the wrong size, tooling spread over the wrong volume, or a costing with material only. These are code, not prompts. The honest half: we do not claim every input is right. An answer can be mistyped, or a rate can go stale. That is why the checks run and a person signs. Run the same file with the same answers a hundred times, and you get thirty-eight fifty-five a hundred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thing on one page. It is the answer to the question you asked after the last session: who does what? Five players, left to right, in the order they act. The ruler, the geometry kernel, measures the CAD file and gives the same answer every time. The AI is switched off at JLR. If it were ever switched on, it could suggest the alloy and the route, as words, never money. The guards check every input against the measurements and correct it where they disagree. The engine does every calculation: it sizes the machine, builds the cycle times, fills the eight buckets and reprices across twenty countries, with fixed formulas you can trace. And the engineer sets the volume and region, answers what geometry cannot decide, can override any choice, and signs off the number. The line in the middle is the tool in one sentence. The tool measures. The engineer answers. The engine calculates. A person approves. The result on this housing is thirty-eight pounds fifty-five, with a band of roughly thirty-two to forty-five pounds. Every penny traces back to a measurement, an answer or a library rate. That is the workflow. If it would help, I can run it live on a part you choose, so you can watch each stage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worked example. It is here to answer a fair question: is this a tool, or a demo that only works on one part? So we do it all again on something as different as I could find: an injection-moulded bumper fascia. Same kernel, same questions, same rate library, same eight buckets, same person signing it off. What changes is which bucket holds the money, and the answer surprised me. Along the way you will see cooling time calculated from wall thickness, and what half a millimetre of wall is worth. You will see the paint line costed from film thickness, not as a percentage uplift. And the section ends with two findings I would not have predicted before we ran it. As with the housing, the costs are real engine output from the worked-example inputs, re-checked against today’s engine and rates. I finish the section with the new gear model, because it came straight from a request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worked example, and I chose a part that could hardly be more different from the casting: a front bumper fascia. Talc-filled polypropylene, four point two kilos, three millimetre walls, about one point eight metres by half a metre. It has six undercut features that need sliding sections in the tool, for the lamp and sensor openings. And it is painted to a Class-A finish. Sixty thousand a year, made in China: deliberately the same volume and country as the casting, so we compare like with like. Look at the five phases and compare them with the casting. They are identical. Same twelve stages, same owners, same colours. The kernel is the same kernel. The questions to the engineer are the same kind. The rate library is the same library. The engine builds the same eight buckets. That is the point of a second example. We have not built nineteen different tools. We have built one method that covers nineteen manufacturing processes. When someone brings a part we have never costed, nothing new has to be invented. What does change is where the money ends up. On the casting it was machining. On this part it is somewhere else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second part. It is a worked example again: the inputs are the kind the kernel measures, and the costs are engine output. A front bumper fascia. Four point two kilos of talc-filled polypropylene, three millimetre walls, one point eight metres across. The grille opening, the fog-lamp openings and the parking-sensor holes all face back against the direction the mould opens. So the tool needs six sliding sections to release the part, and each slide is real money in the mould. The projected shadow is nine thousand nine hundred square centimetres, six times the casting. That one number drives the biggest process decision on this part: the size of the press. The painted area is one point six square metres, which we need later for the paint line. And note the last two rows: sixty thousand a year, made in China. The same volume and country as the casting, so when we compare the two at the end, we compare like with like rather than two sourcing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one to four. I will go quickly, because you have seen the method. The kernel measures. Volume, which on polypropylene is four point two kilos. Wall thickness, three millimetres: hold on to that, it matters more than you would think. The projected shadow in the direction the mould opens, nine thousand nine hundred square centimetres. And the painted area, one point six square metres. Then a clever measurement. The kernel classifies every face by its angle to the mould-opening direction, and counts the faces that point back against it. Six of them. Each needs a sliding section in the tool, and each slide costs real money. Nobody counted those by eye. Stage four is the engineer answering what geometry cannot decide: the material family, the process, the finish, the volume and the region. Here: talc-filled polypropylene, injection moulded in one shot, painted to Class-A, sixty thousand a year in China. At JLR it is always the engineer, because the AI is off. The box at the bottom is the one I would underline. The shadow area decides the biggest process number on this part. Molten plastic pushing out across that area tries to force the mould open, so it sets the press size, and the press rate sets the moulding cost. A part this size cannot be moulded on a small machine, however cheap that machine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five to seven. Four guards run on this part, and they are different from the casting guards, because a moulded part goes wrong in different ways. Guard one, the runner. A cold-runner tool makes a sprue and runner with every shot, six to nine hundred grams of plastic that is not the part. This tool has a hot runner, so the shot weight is the part weight. The guard makes sure we neither charge for plastic that does not exist nor forget it on a cold-runner tool. Guard two, cooling. This is the number people guess and should not. Cooling time is three point one six times the wall thickness squared. At three millimetres that is twenty-eight point four seconds, more than half the cycle. The wall is squared, so it is the strongest lever in moulding, and it is a design decision. Guard three, the press. Same physics as the casting. Nine thousand nine hundred square centimetres, times twenty-five megapascals, times a fifteen percent safety factor, is about two thousand nine hundred tonnes. The smallest press that covers it is thirty-five hundred tonnes, at three hundred and six pounds an hour. Guard four, the tool cost. A four hundred and twenty thousand pound mould is a toolmaker’s quotation. The tool takes it as an input and applies the Class-A finish uplift. The red box is why the press guard matters. A default two thousand tonne press would cost the moulding about forty-two percent too cheap, and the part could not even be made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Cooling is the biggest single number in a moulding cycle, and the one people used to guess. Here is how the tool calculates it, from first principles. Step one, the law. A plastic wall cooling between two mould faces is textbook heat conduction. The exact solution says cooling time equals wall squared, divided by pi squared times the thermal diffusivity, times the log of a temperature ratio. The wall is squared because heat has to travel out through half the thickness. Step two. Each of twenty resin families carries its typical temperatures. Polypropylene, this bumper, goes in at two hundred and thirty degrees, the mould runs at forty, and the part ejects at eighty-five. Step three is the honest part. The diffusivity is calibrated once, so that at those standard temperatures the formula gives exactly the industry factor we used before: three point one six seconds per millimetre squared. So adopting the physics did not move a single estimate. It changed the source from a constant we assert to a law you can check. Step four. It uses the thickest sections, the ninety-fifth percentile wall, because the part ejects when its thickest section is stiff. And the result is clamped, so a bad temperature input cannot run away with the cost. The payoff is on the right. Chill the mould to twenty degrees and about four and a half seconds come off each shot. Thin the wall by half a millimetre and nearly nine seconds come off, one pound eleven a part at UK rates. Those are the two conversations this slide should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treatment for the bumper: show the calculation, do not assert it. Left side, the press. It is the same slide as the casting with different numbers. Shadow area, nine thousand nine hundred square centimetres. Cavity pressure for a large thin-wall polypropylene part, twenty-five megapascals. That is about two thousand five hundred tonnes trying to open the mould. Add fifteen percent and you need about two thousand nine hundred. Walk the ladder and take the smallest press that covers it: thirty-five hundred tonnes, at three hundred and six pounds twelve an hour. Right side, the cycle. I want to be clear which numbers are calculated and which are entered. Fill, pack and eject are process inputs: four and a half, twelve and nine seconds. They come from the moulder or our process engineer. Cooling is calculated: three point one six times three squared, twenty-eight point four four seconds. The engine then allows for two percent rejects and you get about fifty-five seconds. The box at the bottom is the useful part. Take half a millimetre out of the wall. Cooling drops to about nineteen point eight seconds. The cycle falls by nearly nine seconds. The press cost per part drops eighty-nine pence, and the UK part cost drops one pound eleven. I re-ran that on today’s engine. That is a design conversation, not a purchasing one, and it has to happen before the design is frozen. The tool lets you put a number on it while there is still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eight to ten. On the left, how the fifty-five second cycle is built. Fill, four and a half seconds. Pack and hold, twelve. Cooling, twenty-eight point four. Open and eject, nine. Plus a two percent reject allowance. On the right, the arithmetic you can check. Fifty-five seconds is nought point nought one five three of an hour. Divide by eighty-five percent availability and the press is busy for nought point nought one eight of an hour. Times three hundred and six pounds twelve gives five pounds fifty-one of machine. Half an operator gives seventeen pence of labour. Five pounds sixty-seven in total. If you add the two rounded figures you get sixty-eight; the engine keeps full precision. Stop and look at that. Five pounds sixty-seven is the whole making cost of a car bumper. On the casting, making the part was thirty-two fifty-seven. So where did the money go? Look at the chart. Tooling, eleven pounds twenty, is the biggest bucket by far, bigger than resin, press and labour together. On this part, the tool is the cost. Twenty-six pounds oh eight in China, unpainted and ex-works. Paint is next. And the country row. China twenty-six oh eight, UK thirty-one oh six, only about nineteen percent apart. On the casting it was fifty-five percent. The tool, packaging and logistics do not get cheaper when the factory moves, and resin is a world price. Offshoring saves a lot on a labour-heavy part and little on a tooling-heavy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bumper is not finished when it comes off the press. It gets painted, and paint is not a rounding error. The formula at the top is the standard paint-shop calculation. Wet litres equals the area, times the dry film thickness you need, divided by the paint’s solids content times the booth’s transfer efficiency. Take the basecoat, because that is where the money is. One point six square metres at twenty microns is thirty-two millilitres of dry paint on the part. But basecoat is only twenty-five percent solids, and only sixty percent of what the gun sprays lands on the part. So you buy about two hundred and thirteen millilitres of wet paint. At twenty-six pounds a litre, five pounds fifty-five. Add primer, clearcoat and six percent for rework, and paint material alone is eleven pounds. Then the line time, two operators and the masking fixtures. At China rates the paint line comes to thirteen fourteen. That is before the painter’s own overhead and margin, and the honest note at the bottom says so. Add it to the moulded part and the painted bumper is thirty-nine pounds twenty-two. Paint is about a third of it. Now the box for purchasing. At sixty percent transfer efficiency, four pounds in every ten of basecoat ends up in the booth filters. Move to seventy percent and the basecoat drops to four seventy-five a part. On sixty thousand parts that is about forty-seven thousand pounds a year. A percentage uplift would have hidden that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stop on these two, because they are the return on doing any of this. Finding one. Tooling is eleven pounds twenty of a twenty-six pound part. Forty-three percent, the biggest single bucket, and larger than the resin, the press and the labour added together, which come to six ninety-six. On the casting, tooling was two seventeen, about six percent. Same method, same engine, and the money has moved to a different place. Finding two. China twenty-six oh eight against the UK at thirty-one oh six, a gap of about nineteen percent. On the casting it was fifty-five. The tool, the packaging and the logistics do not get cheaper when the factory moves, and polypropylene is a world price. Only press hours and labour move, and this part has almost no labour. Now, what each finding changes on Monday morning. Finding one says: stop haggling over the piece price and negotiate the tooling deal. Who owns the tool, how many parts it is spread over, and what happens at the end of the programme. Spread over five years instead of one, this part is fifteen fourteen rather than twenty-six oh eight. Finding two says: do not move a tooling-heavy part offshore expecting casting-sized savings. Nineteen percent, set against freight, lead time, quality risk and moving the tool, may not clear the bar. Before we ran this, would anyone have said the tool was forty-three percent of a bumper? I would not have. That is what the method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two stages, and then the payoff. Stage eleven, the range. Nineteen eighty-three to thirty-three sixteen, about plus or minus twenty-six percent. That is wider than the casting, because so much of this answer rides on one tooling number, and tooling is the input the tool trusts least. The band shows you where the risk sits. Stage twelve, and here the engineer has a lever the casting did not offer: how long is the tool spread over? The tool spreads tooling over annual volume times programme life. Over one year, tooling is eleven twenty and the part is twenty-six oh eight. Over three years, three seventy-three and just under seventeen pounds. Over five, two twenty-four and fifteen fourteen. Same part, same supplier, same tool, nearly eleven pounds apart. If a supplier quotes twenty-six pounds on a one-year spread, they are carrying tooling risk, and now you can talk about it properly. Remember this is unpainted. At UK rates the paint line adds about fifteen pounds before the painter’s overhead and margin. The table in the middle is, for me, the most valuable slide in the pack. Making the casting cost thirty-two fifty-seven; moulding the bumper, five sixty-seven. Tooling flips from two seventeen to eleven twenty. The biggest bucket flips from process to tooling. The China to UK gap drops from fifty-five percent to nineteen. And the lever to push changes completely. Nobody could have told you that in advance with numbers you could defend. The method finds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new, and it came straight from you. Cost engineering and the plant asked why gears went through the tool as if they were milled parts. Fair question: that is what was happening, and the machining model cannot see a tooth. So gear cutting now has its own model, and it is one of the thirteen commodities that can be costed from CAD. Look at the three rows. The first two are the same gear, same size, same programme. Only the accuracy we ask for changes. Top row, ISO class nine, as cut: hob it, deburr it, inspect it. Eight pounds twenty-six. Middle row, class six. Now it must be carburised, and because hardening distorts it, it must then be ground. Two extra operations. Thirteen forty-seven. That is the key idea. A tighter gear does not make the same operations cost more. It adds operations. A tool that just multiplies by one point four is wrong, in the direction that loses you money. Bottom row, an internal ring gear. A hob cannot get inside a bore, so the tool uses power skiving. Skiving holds class six as cut, but hardening distorts it, so class seven after heat treat needs grinding too. Seventeen pounds oh two. Geometry decides the route, not preference. The cycle time is gear-train arithmetic, printed so your plant can argue with it. The red bar is me being straight. The structure is right, but all eighty-eight shop numbers are representative, not yours. The tool prints that warning on every gear estimate. Give us your feeds and speeds and it becomes a real should-cost.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list of our own mistakes, and I think it should give you more confidence, not less. After building the gear model, we did not just test that it worked. We attacked it. We fed it nonsense on purpose and looked for answers that were wrong but looked right. That is the dangerous kind of wrong. You can argue with a number that looks silly. You cannot argue with one that looks fine. We found seven faults. Four are on the slide. First, volume did nothing. The same gear cost the same to the penny at a thousand a year and at a million. We had not modelled the one-off costs: the fixture, the programming, the first-article approval, the broach. Now they are in, and a low-volume gear correctly costs more. Second, a gear with zero teeth got a price. It should have been refused. Now impossible definitions are refused, and the tool says which field is wrong. Third, internal ring gears were sent to a grinder that cannot reach inside a bore. Your plant would have spotted that in a second. Fourth, once a gear was being ground, asking for tighter accuracy changed nothing. Now tighter classes buy extra finishing passes, shown in the sum. All seven are fixed and locked down by tests. The whole suite today is 2,438 tests. I would rather show you this than have your plant find it in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you heard the limits from me than found them yourselves in three months. Six of them. One. It cannot cost an assembly from a single CAD file. It rolls up an assembly from parts you have already costed. It cannot open one assembly model and work out the parts, the joins and the assembly labour. A person defines the structure. Two. It cannot read a tolerance or a surface finish unless the CAD file carries it, and most do not. Those come from the drawing or the engineer. And an STL is only a mesh, with no feature table, so a machined STL is blocked until the engineer types a cycle time. Three, and the most important. It cannot prove its accuracy yet. No estimate has been compared with a price JLR actually paid. The six pinned parts prove the answer is stable, not that it is right. We will measure accuracy as actuals are logged. Four. It does not replace a quotation. It is a should-cost: what the part ought to cost on stated assumptions. A negotiating tool and a design-feedback loop, not a price. Five. It cannot keep duty and tariff data fresh by itself. It blocks a rate that is unverified or over ninety days old, but someone has to run the refresh. Six. It cannot cost a process it has never met. Nineteen are modelled. A new one needs a new module and a process engineer. A tool that claims no limits should not be trusted in a supplier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end of the hour. Everything from here is reference material. I do not plan to present it. It is here so that when someone asks how the DFM rules work, what the tool is built from, or whether anything calls out to the internet, the answer is in the pack and not only in my head. There are two groups. First, the complete DFM and DFA rule library: every threshold rule, every geometry advisor and every idea lever, with the exact numbers they fire on. It was transcribed from the engine’s source code, so if the engine changes, these slides must change too. Second, the technical architecture for engineers: what each box is built from, what data passes between them, the licences, and a straight answer on what talks to the outside world. In the JLR build, with AI off, the answer is nothing on the costing path. Jump to whichever gets asked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exists because of a fair question: when the tool lists a dozen cost-reduction ideas, where do they actually come from? The answer is a written rule book, small enough to show in full. Fifty-two threshold rules reading nineteen parameters and signals. Ten geometry advisors reading the measured solid. And a thirty-six lever idea catalogue across eight categories: material, design, process, tooling, logistics, commercial, quality and sustainability. That is the whole analysis. There is no hidden model behind it. The first version of this layer was thinner, about ten levers, mostly on cost structure. We took the challenge that it read like a checklist rather than what a good value engineer would produce, and rebuilt it. The flow is five steps, all arithmetic. Reduce the costing to its parameters. Run the fifty-two checks, while the advisors check the shape. Price each finding in pounds per part and rank it. Combine the top three by root-sum-square, capped at forty percent, so overlapping ideas are not double-counted. Then turn what fired into a ranked, categorised action list. And the AI is nowhere in this. Same part in, same findings out, with the network cable unplugged. At JLR the AI is off anyway. If it were on, it could comment on findings, but not add, remove or re-rank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the analysis is allowed to read, and nothing else goes in. Ten core parameters, and nine extended signals. The ten core ones are the total, the six bucket shares, the operation count, equipment effectiveness and material utilisation. The teal ones are read straight from the costing. The blue ones are entered with the part, and a stated assumption is used when they are left blank. The nine extended signals are what let the rules behave like an experienced cost engineer rather than a checklist. Packaging and logistics shares. Labour efficiency. Which single operation carries the money. Consumables like cores and patterns. The tooling investment and whether it is spread over the stated annual volume. Manning and parts per cycle. Labour time against machine time. And the operation names themselves, because words like rework or inspection in a routing are signals. The card on the right changed after feedback from this room. It used to be a score out of ten. Now it is a ranking. Every finding is priced against this part and ranked biggest first. No score and no severity label is shown to an engineer. A previous exercise that scored designs was read as a report card, and nothing got implemented. Finally, the context gates. If the volume was assumed, or pack rates were estimated, a lever downgrades itself to a confirm-first note. The tool does not instruct on facts nobody gave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third of the rule book — fourteen checks that run on every part, whatever it is made of. The top eight you have seen before: material waste at two severities, machine productivity at two, tooling burden at two, and the two commercial ones — overhead and margin against their benchmarks. The bottom six are new with the 360-degree upgrade, and they close real blind spots. Packaging and logistics get their own thresholds — five and eight percent — because those buckets were previously calculated and then never looked at again. The operation-Pareto rule is the one I would call out: it does not just count operations, it finds the single named operation carrying more than sixty percent of the conversion cost and points at it. Labour efficiency below eighty percent is flagged separately from OEE, because they fail for different reasons. Consumables above a quarter of the material line — cores, patterns, shell — get flagged for rationalisation. And the last one is a pure honesty check: if the tool is amortised over fewer parts than the stated annual volume, the piece price is carrying too much tooling and the finding says confirm the basis, not "we found a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third: twenty-seven checks that switch on for the specific process being costed. A casting is never judged by sheet-metal rules. What changed in the upgrade. Extrusion and rotational moulding now have their own rules: conversion cost and offcut scrap for extrusion, oven cycle and secondary operations for rotomoulding. Painting gains a rule this deck argued for earlier: paint material above forty percent of cost points straight at transfer efficiency. And cast-and-machine parts now run both the machining rules and the casting rules, where before they fell between the two. The machining rules are smarter than a count. The split-routing rule knows the difference between seven operations across five machines and seven operations on one five-axis machine. When the routing is already consolidated, it says so as a verified note instead of recommending what has already been done. Note where the biggest savings sit: wiring harness and composites, where labour passes half the cost or hand lay-up dominates. Where the money is people, the rules say so plainly. One reminder for the whole appendix. The severity column orders the rules inside the engine. It is never shown to an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third of the threshold rules — eleven assembly checks, and this is where the Boothroyd challenge from the review landed. The first seven are structural: setups and transfers when a routing is genuinely split — with the honest twin that fires as a VERIFIED note when the routing is already consolidated, claiming no saving; high manual content; manual pacing; the labour-dominated critical for harnesses and boards; re-fixturing; and fastener variety. The four new ones read the operation list the way a DFA practitioner reads an assembly: every step must justify its existence. Inspection appearing as its own operation, carrying real cost, gets challenged — capable processes verify in-line. Manual finishing — deburr, fettle, rework — as a standing operation is a symptom of an upstream cause being paid for by hand on every part. Two operators on one station is the strongest automation candidate on any routing. And labour minutes running past the machine cycle means someone is working while the machine waits, or waiting while it runs — either way the work belongs offline or in parallel. Add them up across the three slides: forty-one DFM plus eleven DFA — fifty-two written checks, every threshold printed, every one auditable in the source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fifty-two rules you have just seen read the cost structure. This slide is the other half of the DFM story: the ten geometry advisors, which read the measured solid itself — the walls, the draft, the radii, the spans — one advisor module per manufacturing process, seventy-five checks between them. Each row is one advisor. The casting advisor looks for the things a foundry would: heavy isolated sections that solidify last and draw porosity, missing draft, too little machining stock. The forging advisor checks webs, fillets and grain flow. Sheet metal checks bend radii against the material gauge and holes too close to an edge. Injection moulding is the busiest — ten checks covering ribs, bosses, draft, undercuts, flow length and weld lines. Blow moulding and thermoforming watch thinning — blow-up ratios and deep draws. Extrusion checks wall balance across the profile, rubber checks where the flash line lands — on a sealing face that is a leak path — lamination checks tooth and bridge widths on electrical steels, and rotomoulding checks venting and kiss-offs. The important sentence is the footnote. These seventy-five checks run alongside the fifty-two cost-structure rules and feed the same sections of the report. All of it is deterministic, all of it from the measured geometry. At JLR the AI is off; even when on, it could comment on these findings but never write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the part of the engine that answers the challenge directly — the idea-generation catalogue, rebuilt from ten levers to thirty-six, in eight categories. This slide carries the first three: material, design and process. Material: near-net-shape and nesting as before, and four new ones. An alternate-grade study when the metal is the biggest line. Closed-loop regrind of runners on mouldings. A scrap-revenue clause — because thirty percent of the bought material leaving as chips has an index price, and that credit belongs to us, not inside the supplier’s margin. And consumables rationalisation for foundry parts. Design: tolerance and finish relaxation — the cheapest lever in engineering; the Boothroyd part-count test, formalised; lightweighting against the measured geometry the kernel already holds; and the review backstop. Process is where the deepest engine work sits. The consolidation lever is no longer generic advice — the routing optimiser prices consolidation against the split routing and recommends whichever direction the arithmetic supports, as a pounds-per-part delta. The bottleneck lever names the operation that carries the money. Multi-cavity fires only on genuinely single-cavity tools. Lights-out fires only on the profile that can actually run unmanned — machine-paced, real labour content, healthy OEE. And multi-machine manning fires when the machine paces the cycle but every machine still carries a full operator. Note the cap column: those are ceilings, not promises. Each lever computes its actual figure from this part’s own numbers, and the list comes back ranked.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catalogue: tooling, packaging and logistics, commercial, quality and sustainability. This is the 360 degree part. The old layer stopped at the factory gate. This one follows the part to the loading dock and into the contract. Tooling: spread the tool over more volume, soft tooling below twenty-five thousand parts, a tooling-ownership clause, and a tool-life programme on die processes. Packaging and logistics were not looked at before. Now there are returnable packaging, pack density, freight mode, and a near-shore check. If a part is already in a low-cost country and logistics is past nine percent of its cost, the tool asks the opposite of the usual question: would a nearer supplier win on landed cost? Commercial: regional sourcing, open-book overhead, a competitive RFQ with the should-cost as the floor, make versus buy, a raw-material index clause, a learning-curve price-down where a real volume was confirmed, and payment terms. Quality reads the routing and challenges standalone inspection and manual finishing at the source. Sustainability covers recycled resin and process energy. Two honest notes. Every lever is gated on what a person actually told the tool. And the two backstop levers exist so no part leaves with an empty list; they are labelled as backstops.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output for one part: a machined aluminium bracket, the same inputs as our reference part, run through today’s engine and rate library. Not a mock-up. The part costs twenty-four thirty-four at UK rates. The tool lists nine ideas across four categories. The top three combined, by root-sum-square, come to about five pounds thirty-eight a part. Please read that as a list of ideas to test, not savings anyone has achieved. Commercial and sourcing comes first because it holds the biggest single idea: a regional sourcing study worth about four pounds thirty-eight a part. The tool marks it high risk and long term, rather than pretending it is free. Material second: near-net shape or better nesting, and a scrap-credit clause that costs nothing but a conversation. Process third, led by the bottleneck lever that names the operation. CNC milling carries sixty-six percent of the conversion cost here, so that is where cycle-time work pays. Design last on this part: pallet fixturing and relaxing tolerances. Now notice what is missing. No score, no critical, nothing that grades the part or the person who designed it. The same deterministic arithmetic, shown as a work list instead of a verdict. That was the feedback, and I think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slide three with the lid off. It shows what each box is built from and what it hands to the next. Left to right. Upload a CAD file, STEP, IGES or STL, with an optional DXF flat pattern for sheet metal; or fill in a commodity form. The Python kernel measures the solid and hands on the geometry: size, walls, holes, draft. The rules turn that into cost inputs, and the engineer answers what a shape cannot tell you. The cost engine sits in the middle. It works out the eight buckets, with one module per commodity, optimisers that pick the cheapest capable machine, and guardrails that check every number. It hands on the result: the eight buckets plus where every number came from. The key design choice is at the bottom of that box: numbers in, numbers out, no database, no network, no file access. That is why it can be tested so heavily, 2,438 tests today, and why the same code runs in the browser and on the server. Then checks and the confidence band, the findings ranked by money, and storage in a local SQLite file with fourteen tables. Reports are built in the browser. The table answers language, size and licence. Line counts are approximate and measured today. Every library is MIT, Apache or LGPL. The bottom box: in the JLR build, nothing on the costing path calls out. The AI is off. There is no usage tracking. Errors go to your own server’s log, not to a third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deep-dive slide, pitched at someone who thinks in schemas rather than castings. Five typed hand-offs from CAD file to database. Every type name and field is copied from the source. One. The kernel writes a geometry document as JSON: bounding box, volume, surface area, fill ratio, a topology block that tells a sealed tank from an open shell, wall thickness including a ninety-fifth percentile, draft, setup count, a CNC cycle estimate, and weights in three candidate materials. All measured. Two. The rules plus the engineer’s answers produce the input the engine eats: a material with its utilisation, a list of operations with cycle time, equipment effectiveness, manning and labour efficiency, a tooling block, and the per-part costs. Where geometry can decide a field, geometry wins. Where it cannot, the engineer answers, and the tool waits until they do. Three. The engine turns that into the result: eight buckets, per-operation detail, and a traceability array. Every cost line records its value, unit, rate source and confidence. That is what prints under every number in the report. Four. The DFM layer produces the ranked opportunities, in pounds per part, with no score shown. Five. SQLite, fourteen tables in one file. The JSON is stored whole, so a costing round-trips exactly, and rate overrides keep an audit trail. The teal strip is the one idea to leave with: one pure transform, input and rate library in, result out. Same input, same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5C"/>
        </a:solidFill>
      </p:bgPr>
    </p:bg>
    <p:spTree>
      <p:nvGrpSpPr>
        <p:cNvPr id="1" name=""/>
        <p:cNvGrpSpPr/>
        <p:nvPr/>
      </p:nvGrpSpPr>
      <p:grpSpPr>
        <a:xfrm>
          <a:off x="0" y="0"/>
          <a:ext cx="0" cy="0"/>
          <a:chOff x="0" y="0"/>
          <a:chExt cx="0" cy="0"/>
        </a:xfrm>
      </p:grpSpPr>
      <p:sp>
        <p:nvSpPr>
          <p:cNvPr id="2" name="Shape 0"/>
          <p:cNvSpPr/>
          <p:nvPr/>
        </p:nvSpPr>
        <p:spPr>
          <a:xfrm>
            <a:off x="731520" y="1188720"/>
            <a:ext cx="731520" cy="731520"/>
          </a:xfrm>
          <a:prstGeom prst="roundRect">
            <a:avLst>
              <a:gd name="adj" fmla="val 22000"/>
            </a:avLst>
          </a:prstGeom>
          <a:solidFill>
            <a:srgbClr val="4F46E5"/>
          </a:solidFill>
          <a:ln/>
        </p:spPr>
      </p:sp>
      <p:sp>
        <p:nvSpPr>
          <p:cNvPr id="3" name="Text 1"/>
          <p:cNvSpPr/>
          <p:nvPr/>
        </p:nvSpPr>
        <p:spPr>
          <a:xfrm>
            <a:off x="731520" y="1188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CV</a:t>
            </a:r>
            <a:endParaRPr lang="en-US" sz="2400" dirty="0"/>
          </a:p>
        </p:txBody>
      </p:sp>
      <p:sp>
        <p:nvSpPr>
          <p:cNvPr id="4" name="Text 2"/>
          <p:cNvSpPr/>
          <p:nvPr/>
        </p:nvSpPr>
        <p:spPr>
          <a:xfrm>
            <a:off x="1627632" y="1298448"/>
            <a:ext cx="54864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CostVision</a:t>
            </a:r>
            <a:endParaRPr lang="en-US" sz="1900" dirty="0"/>
          </a:p>
        </p:txBody>
      </p:sp>
      <p:sp>
        <p:nvSpPr>
          <p:cNvPr id="5" name="Text 3"/>
          <p:cNvSpPr/>
          <p:nvPr/>
        </p:nvSpPr>
        <p:spPr>
          <a:xfrm>
            <a:off x="1627632" y="1627632"/>
            <a:ext cx="5486400" cy="274320"/>
          </a:xfrm>
          <a:prstGeom prst="rect">
            <a:avLst/>
          </a:prstGeom>
          <a:noFill/>
          <a:ln/>
        </p:spPr>
        <p:txBody>
          <a:bodyPr wrap="square" lIns="0" tIns="0" rIns="0" bIns="0" rtlCol="0" anchor="ctr"/>
          <a:lstStyle/>
          <a:p>
            <a:pPr indent="0" marL="0">
              <a:buNone/>
            </a:pPr>
            <a:r>
              <a:rPr lang="en-US" sz="1150" dirty="0">
                <a:solidFill>
                  <a:srgbClr val="8FA3CC"/>
                </a:solidFill>
                <a:latin typeface="Calibri" pitchFamily="34" charset="0"/>
                <a:ea typeface="Calibri" pitchFamily="34" charset="-122"/>
                <a:cs typeface="Calibri" pitchFamily="34" charset="-120"/>
              </a:rPr>
              <a:t>Should-Cost Intelligence</a:t>
            </a:r>
            <a:endParaRPr lang="en-US" sz="1150" dirty="0"/>
          </a:p>
        </p:txBody>
      </p:sp>
      <p:sp>
        <p:nvSpPr>
          <p:cNvPr id="6" name="Text 4"/>
          <p:cNvSpPr/>
          <p:nvPr/>
        </p:nvSpPr>
        <p:spPr>
          <a:xfrm>
            <a:off x="731520" y="2057400"/>
            <a:ext cx="10698480" cy="7315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How CostVision Actually Works</a:t>
            </a:r>
            <a:endParaRPr lang="en-US" sz="4200" dirty="0"/>
          </a:p>
        </p:txBody>
      </p:sp>
      <p:sp>
        <p:nvSpPr>
          <p:cNvPr id="7" name="Text 5"/>
          <p:cNvSpPr/>
          <p:nvPr/>
        </p:nvSpPr>
        <p:spPr>
          <a:xfrm>
            <a:off x="731520" y="2880360"/>
            <a:ext cx="10698480" cy="4114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Who does what — followed end to end on one real part</a:t>
            </a:r>
            <a:endParaRPr lang="en-US" sz="2000" dirty="0"/>
          </a:p>
        </p:txBody>
      </p:sp>
      <p:sp>
        <p:nvSpPr>
          <p:cNvPr id="8" name="Shape 6"/>
          <p:cNvSpPr/>
          <p:nvPr/>
        </p:nvSpPr>
        <p:spPr>
          <a:xfrm>
            <a:off x="731520" y="3611880"/>
            <a:ext cx="10698480" cy="685800"/>
          </a:xfrm>
          <a:prstGeom prst="roundRect">
            <a:avLst>
              <a:gd name="adj" fmla="val 13333"/>
            </a:avLst>
          </a:prstGeom>
          <a:solidFill>
            <a:srgbClr val="24406E"/>
          </a:solidFill>
          <a:ln/>
        </p:spPr>
      </p:sp>
      <p:sp>
        <p:nvSpPr>
          <p:cNvPr id="9" name="Text 7"/>
          <p:cNvSpPr/>
          <p:nvPr/>
        </p:nvSpPr>
        <p:spPr>
          <a:xfrm>
            <a:off x="1005840" y="3611880"/>
            <a:ext cx="10149840" cy="685800"/>
          </a:xfrm>
          <a:prstGeom prst="rect">
            <a:avLst/>
          </a:prstGeom>
          <a:noFill/>
          <a:ln/>
        </p:spPr>
        <p:txBody>
          <a:bodyPr wrap="square" lIns="0" tIns="0" rIns="0" bIns="0" rtlCol="0" anchor="ctr"/>
          <a:lstStyle/>
          <a:p>
            <a:pPr indent="0" marL="0">
              <a:buNone/>
            </a:pPr>
            <a:r>
              <a:rPr lang="en-US" sz="1500" b="1" dirty="0">
                <a:solidFill>
                  <a:srgbClr val="9FB6DF"/>
                </a:solidFill>
                <a:latin typeface="Calibri" pitchFamily="34" charset="0"/>
                <a:ea typeface="Calibri" pitchFamily="34" charset="-122"/>
                <a:cs typeface="Calibri" pitchFamily="34" charset="-120"/>
              </a:rPr>
              <a:t>The one line to remember:  </a:t>
            </a:r>
            <a:pPr indent="0" marL="0">
              <a:buNone/>
            </a:pPr>
            <a:r>
              <a:rPr lang="en-US" sz="1500" b="1" dirty="0">
                <a:solidFill>
                  <a:srgbClr val="FFFFFF"/>
                </a:solidFill>
                <a:latin typeface="Calibri" pitchFamily="34" charset="0"/>
                <a:ea typeface="Calibri" pitchFamily="34" charset="-122"/>
                <a:cs typeface="Calibri" pitchFamily="34" charset="-120"/>
              </a:rPr>
              <a:t>the tool measures the part, the engineer answers what geometry cannot, the engine does the arithmetic, and a person signs it off. AI is switched off at JLR.</a:t>
            </a:r>
            <a:endParaRPr lang="en-US" sz="1500" dirty="0"/>
          </a:p>
        </p:txBody>
      </p:sp>
      <p:sp>
        <p:nvSpPr>
          <p:cNvPr id="10" name="Text 8"/>
          <p:cNvSpPr/>
          <p:nvPr/>
        </p:nvSpPr>
        <p:spPr>
          <a:xfrm>
            <a:off x="731520" y="4663440"/>
            <a:ext cx="10698480" cy="274320"/>
          </a:xfrm>
          <a:prstGeom prst="rect">
            <a:avLst/>
          </a:prstGeom>
          <a:noFill/>
          <a:ln/>
        </p:spPr>
        <p:txBody>
          <a:bodyPr wrap="square" lIns="0" tIns="0" rIns="0" bIns="0" rtlCol="0" anchor="ctr"/>
          <a:lstStyle/>
          <a:p>
            <a:pPr indent="0" marL="0">
              <a:buNone/>
            </a:pPr>
            <a:r>
              <a:rPr lang="en-US" sz="1300" dirty="0">
                <a:solidFill>
                  <a:srgbClr val="8FA3CC"/>
                </a:solidFill>
                <a:latin typeface="Calibri" pitchFamily="34" charset="0"/>
                <a:ea typeface="Calibri" pitchFamily="34" charset="-122"/>
                <a:cs typeface="Calibri" pitchFamily="34" charset="-120"/>
              </a:rPr>
              <a:t>Worked example: die-cast aluminium housing · 2.8 kg · 60,000 per year · made in China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548640" cy="548640"/>
          </a:xfrm>
          <a:prstGeom prst="roundRect">
            <a:avLst>
              <a:gd name="adj" fmla="val 22000"/>
            </a:avLst>
          </a:prstGeom>
          <a:solidFill>
            <a:srgbClr val="4F46E5"/>
          </a:solidFill>
          <a:ln/>
        </p:spPr>
      </p:sp>
      <p:sp>
        <p:nvSpPr>
          <p:cNvPr id="3" name="Text 1"/>
          <p:cNvSpPr/>
          <p:nvPr/>
        </p:nvSpPr>
        <p:spPr>
          <a:xfrm>
            <a:off x="457200" y="2011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CV</a:t>
            </a:r>
            <a:endParaRPr lang="en-US" sz="1800" dirty="0"/>
          </a:p>
        </p:txBody>
      </p:sp>
      <p:sp>
        <p:nvSpPr>
          <p:cNvPr id="4" name="Text 2"/>
          <p:cNvSpPr/>
          <p:nvPr/>
        </p:nvSpPr>
        <p:spPr>
          <a:xfrm>
            <a:off x="1143000" y="182880"/>
            <a:ext cx="7863840" cy="402336"/>
          </a:xfrm>
          <a:prstGeom prst="rect">
            <a:avLst/>
          </a:prstGeom>
          <a:noFill/>
          <a:ln/>
        </p:spPr>
        <p:txBody>
          <a:bodyPr wrap="square" lIns="0" tIns="0" rIns="0" bIns="0" rtlCol="0" anchor="ctr"/>
          <a:lstStyle/>
          <a:p>
            <a:pPr indent="0" marL="0">
              <a:buNone/>
            </a:pPr>
            <a:r>
              <a:rPr lang="en-US" sz="2400" b="1" dirty="0">
                <a:solidFill>
                  <a:srgbClr val="16325C"/>
                </a:solidFill>
                <a:latin typeface="Cambria" pitchFamily="34" charset="0"/>
                <a:ea typeface="Cambria" pitchFamily="34" charset="-122"/>
                <a:cs typeface="Cambria" pitchFamily="34" charset="-120"/>
              </a:rPr>
              <a:t>What We Are Going to Cover</a:t>
            </a:r>
            <a:endParaRPr lang="en-US" sz="2400" dirty="0"/>
          </a:p>
        </p:txBody>
      </p:sp>
      <p:sp>
        <p:nvSpPr>
          <p:cNvPr id="5" name="Text 3"/>
          <p:cNvSpPr/>
          <p:nvPr/>
        </p:nvSpPr>
        <p:spPr>
          <a:xfrm>
            <a:off x="1143000" y="603504"/>
            <a:ext cx="8229600" cy="256032"/>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Four sections, about an hour — or five slides if that is all the time there is</a:t>
            </a:r>
            <a:endParaRPr lang="en-US" sz="1200" dirty="0"/>
          </a:p>
        </p:txBody>
      </p:sp>
      <p:sp>
        <p:nvSpPr>
          <p:cNvPr id="6" name="Shape 4"/>
          <p:cNvSpPr/>
          <p:nvPr/>
        </p:nvSpPr>
        <p:spPr>
          <a:xfrm>
            <a:off x="457200" y="1115568"/>
            <a:ext cx="11274552" cy="950976"/>
          </a:xfrm>
          <a:prstGeom prst="roundRect">
            <a:avLst>
              <a:gd name="adj" fmla="val 9615"/>
            </a:avLst>
          </a:prstGeom>
          <a:solidFill>
            <a:srgbClr val="FFFFFF"/>
          </a:solidFill>
          <a:ln w="12700">
            <a:solidFill>
              <a:srgbClr val="DCE3EE"/>
            </a:solidFill>
            <a:prstDash val="solid"/>
          </a:ln>
        </p:spPr>
      </p:sp>
      <p:sp>
        <p:nvSpPr>
          <p:cNvPr id="7" name="Shape 5"/>
          <p:cNvSpPr/>
          <p:nvPr/>
        </p:nvSpPr>
        <p:spPr>
          <a:xfrm>
            <a:off x="713232" y="1371600"/>
            <a:ext cx="438912" cy="438912"/>
          </a:xfrm>
          <a:prstGeom prst="ellipse">
            <a:avLst/>
          </a:prstGeom>
          <a:solidFill>
            <a:srgbClr val="1D6FB8"/>
          </a:solidFill>
          <a:ln/>
        </p:spPr>
      </p:sp>
      <p:sp>
        <p:nvSpPr>
          <p:cNvPr id="8" name="Text 6"/>
          <p:cNvSpPr/>
          <p:nvPr/>
        </p:nvSpPr>
        <p:spPr>
          <a:xfrm>
            <a:off x="713232" y="1371600"/>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p:nvPr/>
        </p:nvSpPr>
        <p:spPr>
          <a:xfrm>
            <a:off x="1298448" y="1243584"/>
            <a:ext cx="6766560" cy="292608"/>
          </a:xfrm>
          <a:prstGeom prst="rect">
            <a:avLst/>
          </a:prstGeom>
          <a:noFill/>
          <a:ln/>
        </p:spPr>
        <p:txBody>
          <a:bodyPr wrap="square" lIns="0" tIns="0" rIns="0" bIns="0" rtlCol="0" anchor="ctr"/>
          <a:lstStyle/>
          <a:p>
            <a:pPr indent="0" marL="0">
              <a:buNone/>
            </a:pPr>
            <a:r>
              <a:rPr lang="en-US" sz="1300" b="1" dirty="0">
                <a:solidFill>
                  <a:srgbClr val="1D6FB8"/>
                </a:solidFill>
                <a:latin typeface="Calibri" pitchFamily="34" charset="0"/>
                <a:ea typeface="Calibri" pitchFamily="34" charset="-122"/>
                <a:cs typeface="Calibri" pitchFamily="34" charset="-120"/>
              </a:rPr>
              <a:t>Orientation &amp; the business case</a:t>
            </a:r>
            <a:endParaRPr lang="en-US" sz="1300" dirty="0"/>
          </a:p>
        </p:txBody>
      </p:sp>
      <p:sp>
        <p:nvSpPr>
          <p:cNvPr id="10" name="Text 8"/>
          <p:cNvSpPr/>
          <p:nvPr/>
        </p:nvSpPr>
        <p:spPr>
          <a:xfrm>
            <a:off x="1298448" y="1554480"/>
            <a:ext cx="7863840" cy="420624"/>
          </a:xfrm>
          <a:prstGeom prst="rect">
            <a:avLst/>
          </a:prstGeom>
          <a:noFill/>
          <a:ln/>
        </p:spPr>
        <p:txBody>
          <a:bodyPr wrap="square" lIns="0" tIns="0" rIns="0" bIns="0" rtlCol="0" anchor="t"/>
          <a:lstStyle/>
          <a:p>
            <a:pPr indent="0" marL="0">
              <a:buNone/>
            </a:pPr>
            <a:r>
              <a:rPr lang="en-US" sz="1020" dirty="0">
                <a:solidFill>
                  <a:srgbClr val="3A4356"/>
                </a:solidFill>
                <a:latin typeface="Calibri" pitchFamily="34" charset="0"/>
                <a:ea typeface="Calibri" pitchFamily="34" charset="-122"/>
                <a:cs typeface="Calibri" pitchFamily="34" charset="-120"/>
              </a:rPr>
              <a:t>How it connects, the PCB flow (an AI feature, off at JLR), who else does this, and the business case ending in one decision</a:t>
            </a:r>
            <a:endParaRPr lang="en-US" sz="1020" dirty="0"/>
          </a:p>
        </p:txBody>
      </p:sp>
      <p:sp>
        <p:nvSpPr>
          <p:cNvPr id="11" name="Text 9"/>
          <p:cNvSpPr/>
          <p:nvPr/>
        </p:nvSpPr>
        <p:spPr>
          <a:xfrm>
            <a:off x="9326880" y="1261872"/>
            <a:ext cx="1371600" cy="256032"/>
          </a:xfrm>
          <a:prstGeom prst="rect">
            <a:avLst/>
          </a:prstGeom>
          <a:noFill/>
          <a:ln/>
        </p:spPr>
        <p:txBody>
          <a:bodyPr wrap="square" lIns="0" tIns="0" rIns="0" bIns="0" rtlCol="0" anchor="ctr"/>
          <a:lstStyle/>
          <a:p>
            <a:pPr algn="r" indent="0" marL="0">
              <a:buNone/>
            </a:pPr>
            <a:r>
              <a:rPr lang="en-US" sz="960" dirty="0">
                <a:solidFill>
                  <a:srgbClr val="686F7D"/>
                </a:solidFill>
                <a:latin typeface="Calibri" pitchFamily="34" charset="0"/>
                <a:ea typeface="Calibri" pitchFamily="34" charset="-122"/>
                <a:cs typeface="Calibri" pitchFamily="34" charset="-120"/>
              </a:rPr>
              <a:t>Slides 3–13</a:t>
            </a:r>
            <a:endParaRPr lang="en-US" sz="960" dirty="0"/>
          </a:p>
        </p:txBody>
      </p:sp>
      <p:sp>
        <p:nvSpPr>
          <p:cNvPr id="12" name="Text 10"/>
          <p:cNvSpPr/>
          <p:nvPr/>
        </p:nvSpPr>
        <p:spPr>
          <a:xfrm>
            <a:off x="10835640" y="1261872"/>
            <a:ext cx="777240" cy="256032"/>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24 min</a:t>
            </a:r>
            <a:endParaRPr lang="en-US" sz="1100" dirty="0"/>
          </a:p>
        </p:txBody>
      </p:sp>
      <p:sp>
        <p:nvSpPr>
          <p:cNvPr id="13" name="Shape 11"/>
          <p:cNvSpPr/>
          <p:nvPr/>
        </p:nvSpPr>
        <p:spPr>
          <a:xfrm>
            <a:off x="9326880" y="1591056"/>
            <a:ext cx="2286000" cy="274320"/>
          </a:xfrm>
          <a:prstGeom prst="roundRect">
            <a:avLst>
              <a:gd name="adj" fmla="val 50000"/>
            </a:avLst>
          </a:prstGeom>
          <a:solidFill>
            <a:srgbClr val="EAF6EF"/>
          </a:solidFill>
          <a:ln w="12700">
            <a:solidFill>
              <a:srgbClr val="2A7F50"/>
            </a:solidFill>
            <a:prstDash val="solid"/>
          </a:ln>
        </p:spPr>
      </p:sp>
      <p:sp>
        <p:nvSpPr>
          <p:cNvPr id="14" name="Text 12"/>
          <p:cNvSpPr/>
          <p:nvPr/>
        </p:nvSpPr>
        <p:spPr>
          <a:xfrm>
            <a:off x="9326880" y="1591056"/>
            <a:ext cx="2286000" cy="274320"/>
          </a:xfrm>
          <a:prstGeom prst="rect">
            <a:avLst/>
          </a:prstGeom>
          <a:noFill/>
          <a:ln/>
        </p:spPr>
        <p:txBody>
          <a:bodyPr wrap="square" lIns="0" tIns="0" rIns="0" bIns="0" rtlCol="0" anchor="ctr"/>
          <a:lstStyle/>
          <a:p>
            <a:pPr algn="ctr" indent="0" marL="0">
              <a:buNone/>
            </a:pPr>
            <a:r>
              <a:rPr lang="en-US" sz="840" b="1" dirty="0">
                <a:solidFill>
                  <a:srgbClr val="2A7F50"/>
                </a:solidFill>
                <a:latin typeface="Calibri" pitchFamily="34" charset="0"/>
                <a:ea typeface="Calibri" pitchFamily="34" charset="-122"/>
                <a:cs typeface="Calibri" pitchFamily="34" charset="-120"/>
              </a:rPr>
              <a:t>On the 10-minute path</a:t>
            </a:r>
            <a:endParaRPr lang="en-US" sz="840" dirty="0"/>
          </a:p>
        </p:txBody>
      </p:sp>
      <p:sp>
        <p:nvSpPr>
          <p:cNvPr id="15" name="Shape 13"/>
          <p:cNvSpPr/>
          <p:nvPr/>
        </p:nvSpPr>
        <p:spPr>
          <a:xfrm>
            <a:off x="457200" y="2176272"/>
            <a:ext cx="11274552" cy="950976"/>
          </a:xfrm>
          <a:prstGeom prst="roundRect">
            <a:avLst>
              <a:gd name="adj" fmla="val 9615"/>
            </a:avLst>
          </a:prstGeom>
          <a:solidFill>
            <a:srgbClr val="FFFFFF"/>
          </a:solidFill>
          <a:ln w="12700">
            <a:solidFill>
              <a:srgbClr val="DCE3EE"/>
            </a:solidFill>
            <a:prstDash val="solid"/>
          </a:ln>
        </p:spPr>
      </p:sp>
      <p:sp>
        <p:nvSpPr>
          <p:cNvPr id="16" name="Shape 14"/>
          <p:cNvSpPr/>
          <p:nvPr/>
        </p:nvSpPr>
        <p:spPr>
          <a:xfrm>
            <a:off x="713232" y="2432304"/>
            <a:ext cx="438912" cy="438912"/>
          </a:xfrm>
          <a:prstGeom prst="ellipse">
            <a:avLst/>
          </a:prstGeom>
          <a:solidFill>
            <a:srgbClr val="0D7D71"/>
          </a:solidFill>
          <a:ln/>
        </p:spPr>
      </p:sp>
      <p:sp>
        <p:nvSpPr>
          <p:cNvPr id="17" name="Text 15"/>
          <p:cNvSpPr/>
          <p:nvPr/>
        </p:nvSpPr>
        <p:spPr>
          <a:xfrm>
            <a:off x="713232" y="243230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8" name="Text 16"/>
          <p:cNvSpPr/>
          <p:nvPr/>
        </p:nvSpPr>
        <p:spPr>
          <a:xfrm>
            <a:off x="1298448" y="2304288"/>
            <a:ext cx="6766560" cy="292608"/>
          </a:xfrm>
          <a:prstGeom prst="rect">
            <a:avLst/>
          </a:prstGeom>
          <a:noFill/>
          <a:ln/>
        </p:spPr>
        <p:txBody>
          <a:bodyPr wrap="square" lIns="0" tIns="0" rIns="0" bIns="0" rtlCol="0" anchor="ctr"/>
          <a:lstStyle/>
          <a:p>
            <a:pPr indent="0" marL="0">
              <a:buNone/>
            </a:pPr>
            <a:r>
              <a:rPr lang="en-US" sz="1300" b="1" dirty="0">
                <a:solidFill>
                  <a:srgbClr val="0D7D71"/>
                </a:solidFill>
                <a:latin typeface="Calibri" pitchFamily="34" charset="0"/>
                <a:ea typeface="Calibri" pitchFamily="34" charset="-122"/>
                <a:cs typeface="Calibri" pitchFamily="34" charset="-120"/>
              </a:rPr>
              <a:t>Worked example one — die-cast aluminium housing</a:t>
            </a:r>
            <a:endParaRPr lang="en-US" sz="1300" dirty="0"/>
          </a:p>
        </p:txBody>
      </p:sp>
      <p:sp>
        <p:nvSpPr>
          <p:cNvPr id="19" name="Text 17"/>
          <p:cNvSpPr/>
          <p:nvPr/>
        </p:nvSpPr>
        <p:spPr>
          <a:xfrm>
            <a:off x="1298448" y="2615184"/>
            <a:ext cx="7863840" cy="420624"/>
          </a:xfrm>
          <a:prstGeom prst="rect">
            <a:avLst/>
          </a:prstGeom>
          <a:noFill/>
          <a:ln/>
        </p:spPr>
        <p:txBody>
          <a:bodyPr wrap="square" lIns="0" tIns="0" rIns="0" bIns="0" rtlCol="0" anchor="t"/>
          <a:lstStyle/>
          <a:p>
            <a:pPr indent="0" marL="0">
              <a:buNone/>
            </a:pPr>
            <a:r>
              <a:rPr lang="en-US" sz="1020" dirty="0">
                <a:solidFill>
                  <a:srgbClr val="3A4356"/>
                </a:solidFill>
                <a:latin typeface="Calibri" pitchFamily="34" charset="0"/>
                <a:ea typeface="Calibri" pitchFamily="34" charset="-122"/>
                <a:cs typeface="Calibri" pitchFamily="34" charset="-120"/>
              </a:rPr>
              <a:t>Twelve stages end to end: measure, ask, check, calculate, approve — with the calculation and the confidence band shown in full.</a:t>
            </a:r>
            <a:endParaRPr lang="en-US" sz="1020" dirty="0"/>
          </a:p>
        </p:txBody>
      </p:sp>
      <p:sp>
        <p:nvSpPr>
          <p:cNvPr id="20" name="Text 18"/>
          <p:cNvSpPr/>
          <p:nvPr/>
        </p:nvSpPr>
        <p:spPr>
          <a:xfrm>
            <a:off x="9326880" y="2322576"/>
            <a:ext cx="1371600" cy="256032"/>
          </a:xfrm>
          <a:prstGeom prst="rect">
            <a:avLst/>
          </a:prstGeom>
          <a:noFill/>
          <a:ln/>
        </p:spPr>
        <p:txBody>
          <a:bodyPr wrap="square" lIns="0" tIns="0" rIns="0" bIns="0" rtlCol="0" anchor="ctr"/>
          <a:lstStyle/>
          <a:p>
            <a:pPr algn="r" indent="0" marL="0">
              <a:buNone/>
            </a:pPr>
            <a:r>
              <a:rPr lang="en-US" sz="960" dirty="0">
                <a:solidFill>
                  <a:srgbClr val="686F7D"/>
                </a:solidFill>
                <a:latin typeface="Calibri" pitchFamily="34" charset="0"/>
                <a:ea typeface="Calibri" pitchFamily="34" charset="-122"/>
                <a:cs typeface="Calibri" pitchFamily="34" charset="-120"/>
              </a:rPr>
              <a:t>Slides 14–32</a:t>
            </a:r>
            <a:endParaRPr lang="en-US" sz="960" dirty="0"/>
          </a:p>
        </p:txBody>
      </p:sp>
      <p:sp>
        <p:nvSpPr>
          <p:cNvPr id="21" name="Text 19"/>
          <p:cNvSpPr/>
          <p:nvPr/>
        </p:nvSpPr>
        <p:spPr>
          <a:xfrm>
            <a:off x="10835640" y="2322576"/>
            <a:ext cx="777240" cy="256032"/>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22 min</a:t>
            </a:r>
            <a:endParaRPr lang="en-US" sz="1100" dirty="0"/>
          </a:p>
        </p:txBody>
      </p:sp>
      <p:sp>
        <p:nvSpPr>
          <p:cNvPr id="22" name="Shape 20"/>
          <p:cNvSpPr/>
          <p:nvPr/>
        </p:nvSpPr>
        <p:spPr>
          <a:xfrm>
            <a:off x="457200" y="3236976"/>
            <a:ext cx="11274552" cy="950976"/>
          </a:xfrm>
          <a:prstGeom prst="roundRect">
            <a:avLst>
              <a:gd name="adj" fmla="val 9615"/>
            </a:avLst>
          </a:prstGeom>
          <a:solidFill>
            <a:srgbClr val="FFFFFF"/>
          </a:solidFill>
          <a:ln w="12700">
            <a:solidFill>
              <a:srgbClr val="DCE3EE"/>
            </a:solidFill>
            <a:prstDash val="solid"/>
          </a:ln>
        </p:spPr>
      </p:sp>
      <p:sp>
        <p:nvSpPr>
          <p:cNvPr id="23" name="Shape 21"/>
          <p:cNvSpPr/>
          <p:nvPr/>
        </p:nvSpPr>
        <p:spPr>
          <a:xfrm>
            <a:off x="713232" y="3493008"/>
            <a:ext cx="438912" cy="438912"/>
          </a:xfrm>
          <a:prstGeom prst="ellipse">
            <a:avLst/>
          </a:prstGeom>
          <a:solidFill>
            <a:srgbClr val="6B3FA0"/>
          </a:solidFill>
          <a:ln/>
        </p:spPr>
      </p:sp>
      <p:sp>
        <p:nvSpPr>
          <p:cNvPr id="24" name="Text 22"/>
          <p:cNvSpPr/>
          <p:nvPr/>
        </p:nvSpPr>
        <p:spPr>
          <a:xfrm>
            <a:off x="713232" y="3493008"/>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5" name="Text 23"/>
          <p:cNvSpPr/>
          <p:nvPr/>
        </p:nvSpPr>
        <p:spPr>
          <a:xfrm>
            <a:off x="1298448" y="3364992"/>
            <a:ext cx="6766560" cy="292608"/>
          </a:xfrm>
          <a:prstGeom prst="rect">
            <a:avLst/>
          </a:prstGeom>
          <a:noFill/>
          <a:ln/>
        </p:spPr>
        <p:txBody>
          <a:bodyPr wrap="square" lIns="0" tIns="0" rIns="0" bIns="0" rtlCol="0" anchor="ctr"/>
          <a:lstStyle/>
          <a:p>
            <a:pPr indent="0" marL="0">
              <a:buNone/>
            </a:pPr>
            <a:r>
              <a:rPr lang="en-US" sz="1300" b="1" dirty="0">
                <a:solidFill>
                  <a:srgbClr val="6B3FA0"/>
                </a:solidFill>
                <a:latin typeface="Calibri" pitchFamily="34" charset="0"/>
                <a:ea typeface="Calibri" pitchFamily="34" charset="-122"/>
                <a:cs typeface="Calibri" pitchFamily="34" charset="-120"/>
              </a:rPr>
              <a:t>Worked example two — injection-moulded bumper fascia</a:t>
            </a:r>
            <a:endParaRPr lang="en-US" sz="1300" dirty="0"/>
          </a:p>
        </p:txBody>
      </p:sp>
      <p:sp>
        <p:nvSpPr>
          <p:cNvPr id="26" name="Text 24"/>
          <p:cNvSpPr/>
          <p:nvPr/>
        </p:nvSpPr>
        <p:spPr>
          <a:xfrm>
            <a:off x="1298448" y="3675888"/>
            <a:ext cx="7863840" cy="420624"/>
          </a:xfrm>
          <a:prstGeom prst="rect">
            <a:avLst/>
          </a:prstGeom>
          <a:noFill/>
          <a:ln/>
        </p:spPr>
        <p:txBody>
          <a:bodyPr wrap="square" lIns="0" tIns="0" rIns="0" bIns="0" rtlCol="0" anchor="t"/>
          <a:lstStyle/>
          <a:p>
            <a:pPr indent="0" marL="0">
              <a:buNone/>
            </a:pPr>
            <a:r>
              <a:rPr lang="en-US" sz="1020" dirty="0">
                <a:solidFill>
                  <a:srgbClr val="3A4356"/>
                </a:solidFill>
                <a:latin typeface="Calibri" pitchFamily="34" charset="0"/>
                <a:ea typeface="Calibri" pitchFamily="34" charset="-122"/>
                <a:cs typeface="Calibri" pitchFamily="34" charset="-120"/>
              </a:rPr>
              <a:t>The same method on a very different part, plus paint, two findings — and the new gear model</a:t>
            </a:r>
            <a:endParaRPr lang="en-US" sz="1020" dirty="0"/>
          </a:p>
        </p:txBody>
      </p:sp>
      <p:sp>
        <p:nvSpPr>
          <p:cNvPr id="27" name="Text 25"/>
          <p:cNvSpPr/>
          <p:nvPr/>
        </p:nvSpPr>
        <p:spPr>
          <a:xfrm>
            <a:off x="9326880" y="3383280"/>
            <a:ext cx="1371600" cy="256032"/>
          </a:xfrm>
          <a:prstGeom prst="rect">
            <a:avLst/>
          </a:prstGeom>
          <a:noFill/>
          <a:ln/>
        </p:spPr>
        <p:txBody>
          <a:bodyPr wrap="square" lIns="0" tIns="0" rIns="0" bIns="0" rtlCol="0" anchor="ctr"/>
          <a:lstStyle/>
          <a:p>
            <a:pPr algn="r" indent="0" marL="0">
              <a:buNone/>
            </a:pPr>
            <a:r>
              <a:rPr lang="en-US" sz="960" dirty="0">
                <a:solidFill>
                  <a:srgbClr val="686F7D"/>
                </a:solidFill>
                <a:latin typeface="Calibri" pitchFamily="34" charset="0"/>
                <a:ea typeface="Calibri" pitchFamily="34" charset="-122"/>
                <a:cs typeface="Calibri" pitchFamily="34" charset="-120"/>
              </a:rPr>
              <a:t>Slides 33–45</a:t>
            </a:r>
            <a:endParaRPr lang="en-US" sz="960" dirty="0"/>
          </a:p>
        </p:txBody>
      </p:sp>
      <p:sp>
        <p:nvSpPr>
          <p:cNvPr id="28" name="Text 26"/>
          <p:cNvSpPr/>
          <p:nvPr/>
        </p:nvSpPr>
        <p:spPr>
          <a:xfrm>
            <a:off x="10835640" y="3383280"/>
            <a:ext cx="777240" cy="256032"/>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18 min</a:t>
            </a:r>
            <a:endParaRPr lang="en-US" sz="1100" dirty="0"/>
          </a:p>
        </p:txBody>
      </p:sp>
      <p:sp>
        <p:nvSpPr>
          <p:cNvPr id="29" name="Shape 27"/>
          <p:cNvSpPr/>
          <p:nvPr/>
        </p:nvSpPr>
        <p:spPr>
          <a:xfrm>
            <a:off x="457200" y="4297680"/>
            <a:ext cx="11274552" cy="950976"/>
          </a:xfrm>
          <a:prstGeom prst="roundRect">
            <a:avLst>
              <a:gd name="adj" fmla="val 9615"/>
            </a:avLst>
          </a:prstGeom>
          <a:solidFill>
            <a:srgbClr val="FFFFFF"/>
          </a:solidFill>
          <a:ln w="12700">
            <a:solidFill>
              <a:srgbClr val="DCE3EE"/>
            </a:solidFill>
            <a:prstDash val="solid"/>
          </a:ln>
        </p:spPr>
      </p:sp>
      <p:sp>
        <p:nvSpPr>
          <p:cNvPr id="30" name="Shape 28"/>
          <p:cNvSpPr/>
          <p:nvPr/>
        </p:nvSpPr>
        <p:spPr>
          <a:xfrm>
            <a:off x="713232" y="4553712"/>
            <a:ext cx="438912" cy="438912"/>
          </a:xfrm>
          <a:prstGeom prst="ellipse">
            <a:avLst/>
          </a:prstGeom>
          <a:solidFill>
            <a:srgbClr val="B03A2E"/>
          </a:solidFill>
          <a:ln/>
        </p:spPr>
      </p:sp>
      <p:sp>
        <p:nvSpPr>
          <p:cNvPr id="31" name="Text 29"/>
          <p:cNvSpPr/>
          <p:nvPr/>
        </p:nvSpPr>
        <p:spPr>
          <a:xfrm>
            <a:off x="713232" y="4553712"/>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32" name="Text 30"/>
          <p:cNvSpPr/>
          <p:nvPr/>
        </p:nvSpPr>
        <p:spPr>
          <a:xfrm>
            <a:off x="1298448" y="4425696"/>
            <a:ext cx="6766560" cy="292608"/>
          </a:xfrm>
          <a:prstGeom prst="rect">
            <a:avLst/>
          </a:prstGeom>
          <a:noFill/>
          <a:ln/>
        </p:spPr>
        <p:txBody>
          <a:bodyPr wrap="square" lIns="0" tIns="0" rIns="0" bIns="0"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The honest limits</a:t>
            </a:r>
            <a:endParaRPr lang="en-US" sz="1300" dirty="0"/>
          </a:p>
        </p:txBody>
      </p:sp>
      <p:sp>
        <p:nvSpPr>
          <p:cNvPr id="33" name="Text 31"/>
          <p:cNvSpPr/>
          <p:nvPr/>
        </p:nvSpPr>
        <p:spPr>
          <a:xfrm>
            <a:off x="1298448" y="4736592"/>
            <a:ext cx="7863840" cy="420624"/>
          </a:xfrm>
          <a:prstGeom prst="rect">
            <a:avLst/>
          </a:prstGeom>
          <a:noFill/>
          <a:ln/>
        </p:spPr>
        <p:txBody>
          <a:bodyPr wrap="square" lIns="0" tIns="0" rIns="0" bIns="0" rtlCol="0" anchor="t"/>
          <a:lstStyle/>
          <a:p>
            <a:pPr indent="0" marL="0">
              <a:buNone/>
            </a:pPr>
            <a:r>
              <a:rPr lang="en-US" sz="1020" dirty="0">
                <a:solidFill>
                  <a:srgbClr val="3A4356"/>
                </a:solidFill>
                <a:latin typeface="Calibri" pitchFamily="34" charset="0"/>
                <a:ea typeface="Calibri" pitchFamily="34" charset="-122"/>
                <a:cs typeface="Calibri" pitchFamily="34" charset="-120"/>
              </a:rPr>
              <a:t>Six things this tool cannot do, from us rather than from a sceptic in the room</a:t>
            </a:r>
            <a:endParaRPr lang="en-US" sz="1020" dirty="0"/>
          </a:p>
        </p:txBody>
      </p:sp>
      <p:sp>
        <p:nvSpPr>
          <p:cNvPr id="34" name="Text 32"/>
          <p:cNvSpPr/>
          <p:nvPr/>
        </p:nvSpPr>
        <p:spPr>
          <a:xfrm>
            <a:off x="9326880" y="4443984"/>
            <a:ext cx="1371600" cy="256032"/>
          </a:xfrm>
          <a:prstGeom prst="rect">
            <a:avLst/>
          </a:prstGeom>
          <a:noFill/>
          <a:ln/>
        </p:spPr>
        <p:txBody>
          <a:bodyPr wrap="square" lIns="0" tIns="0" rIns="0" bIns="0" rtlCol="0" anchor="ctr"/>
          <a:lstStyle/>
          <a:p>
            <a:pPr algn="r" indent="0" marL="0">
              <a:buNone/>
            </a:pPr>
            <a:r>
              <a:rPr lang="en-US" sz="960" dirty="0">
                <a:solidFill>
                  <a:srgbClr val="686F7D"/>
                </a:solidFill>
                <a:latin typeface="Calibri" pitchFamily="34" charset="0"/>
                <a:ea typeface="Calibri" pitchFamily="34" charset="-122"/>
                <a:cs typeface="Calibri" pitchFamily="34" charset="-120"/>
              </a:rPr>
              <a:t>Slide 46</a:t>
            </a:r>
            <a:endParaRPr lang="en-US" sz="960" dirty="0"/>
          </a:p>
        </p:txBody>
      </p:sp>
      <p:sp>
        <p:nvSpPr>
          <p:cNvPr id="35" name="Text 33"/>
          <p:cNvSpPr/>
          <p:nvPr/>
        </p:nvSpPr>
        <p:spPr>
          <a:xfrm>
            <a:off x="10835640" y="4443984"/>
            <a:ext cx="777240" cy="256032"/>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5 min</a:t>
            </a:r>
            <a:endParaRPr lang="en-US" sz="1100" dirty="0"/>
          </a:p>
        </p:txBody>
      </p:sp>
      <p:sp>
        <p:nvSpPr>
          <p:cNvPr id="36" name="Shape 34"/>
          <p:cNvSpPr/>
          <p:nvPr/>
        </p:nvSpPr>
        <p:spPr>
          <a:xfrm>
            <a:off x="9326880" y="4773168"/>
            <a:ext cx="2286000" cy="274320"/>
          </a:xfrm>
          <a:prstGeom prst="roundRect">
            <a:avLst>
              <a:gd name="adj" fmla="val 50000"/>
            </a:avLst>
          </a:prstGeom>
          <a:solidFill>
            <a:srgbClr val="EAF6EF"/>
          </a:solidFill>
          <a:ln w="12700">
            <a:solidFill>
              <a:srgbClr val="2A7F50"/>
            </a:solidFill>
            <a:prstDash val="solid"/>
          </a:ln>
        </p:spPr>
      </p:sp>
      <p:sp>
        <p:nvSpPr>
          <p:cNvPr id="37" name="Text 35"/>
          <p:cNvSpPr/>
          <p:nvPr/>
        </p:nvSpPr>
        <p:spPr>
          <a:xfrm>
            <a:off x="9326880" y="4773168"/>
            <a:ext cx="2286000" cy="274320"/>
          </a:xfrm>
          <a:prstGeom prst="rect">
            <a:avLst/>
          </a:prstGeom>
          <a:noFill/>
          <a:ln/>
        </p:spPr>
        <p:txBody>
          <a:bodyPr wrap="square" lIns="0" tIns="0" rIns="0" bIns="0" rtlCol="0" anchor="ctr"/>
          <a:lstStyle/>
          <a:p>
            <a:pPr algn="ctr" indent="0" marL="0">
              <a:buNone/>
            </a:pPr>
            <a:r>
              <a:rPr lang="en-US" sz="840" b="1" dirty="0">
                <a:solidFill>
                  <a:srgbClr val="2A7F50"/>
                </a:solidFill>
                <a:latin typeface="Calibri" pitchFamily="34" charset="0"/>
                <a:ea typeface="Calibri" pitchFamily="34" charset="-122"/>
                <a:cs typeface="Calibri" pitchFamily="34" charset="-120"/>
              </a:rPr>
              <a:t>On the 10-minute path</a:t>
            </a:r>
            <a:endParaRPr lang="en-US" sz="840" dirty="0"/>
          </a:p>
        </p:txBody>
      </p:sp>
      <p:sp>
        <p:nvSpPr>
          <p:cNvPr id="38" name="Shape 36"/>
          <p:cNvSpPr/>
          <p:nvPr/>
        </p:nvSpPr>
        <p:spPr>
          <a:xfrm>
            <a:off x="457200" y="5413248"/>
            <a:ext cx="11274552" cy="822960"/>
          </a:xfrm>
          <a:prstGeom prst="roundRect">
            <a:avLst>
              <a:gd name="adj" fmla="val 11111"/>
            </a:avLst>
          </a:prstGeom>
          <a:solidFill>
            <a:srgbClr val="16325C"/>
          </a:solidFill>
          <a:ln/>
        </p:spPr>
      </p:sp>
      <p:sp>
        <p:nvSpPr>
          <p:cNvPr id="39" name="Text 37"/>
          <p:cNvSpPr/>
          <p:nvPr/>
        </p:nvSpPr>
        <p:spPr>
          <a:xfrm>
            <a:off x="777240" y="5504688"/>
            <a:ext cx="10652760" cy="658368"/>
          </a:xfrm>
          <a:prstGeom prst="rect">
            <a:avLst/>
          </a:prstGeom>
          <a:noFill/>
          <a:ln/>
        </p:spPr>
        <p:txBody>
          <a:bodyPr wrap="square" lIns="0" tIns="0" rIns="0" bIns="0" rtlCol="0" anchor="ctr"/>
          <a:lstStyle/>
          <a:p>
            <a:pPr indent="0" marL="0">
              <a:buNone/>
            </a:pPr>
            <a:r>
              <a:rPr lang="en-US" sz="1150" b="1" dirty="0">
                <a:solidFill>
                  <a:srgbClr val="9FB6E0"/>
                </a:solidFill>
                <a:latin typeface="Calibri" pitchFamily="34" charset="0"/>
                <a:ea typeface="Calibri" pitchFamily="34" charset="-122"/>
                <a:cs typeface="Calibri" pitchFamily="34" charset="-120"/>
              </a:rPr>
              <a:t>Appendix (slides 47–58): </a:t>
            </a:r>
            <a:pPr indent="0" marL="0">
              <a:buNone/>
            </a:pPr>
            <a:r>
              <a:rPr lang="en-US" sz="1150" dirty="0">
                <a:solidFill>
                  <a:srgbClr val="CADCFC"/>
                </a:solidFill>
                <a:latin typeface="Calibri" pitchFamily="34" charset="0"/>
                <a:ea typeface="Calibri" pitchFamily="34" charset="-122"/>
                <a:cs typeface="Calibri" pitchFamily="34" charset="-120"/>
              </a:rPr>
              <a:t>the complete DFM/DFA rule library and the technical architecture — reference material, not part of the hour.
</a:t>
            </a:r>
            <a:pPr indent="0" marL="0">
              <a:buNone/>
            </a:pPr>
            <a:r>
              <a:rPr lang="en-US" sz="1150" b="1" dirty="0">
                <a:solidFill>
                  <a:srgbClr val="9FB6E0"/>
                </a:solidFill>
                <a:latin typeface="Calibri" pitchFamily="34" charset="0"/>
                <a:ea typeface="Calibri" pitchFamily="34" charset="-122"/>
                <a:cs typeface="Calibri" pitchFamily="34" charset="-120"/>
              </a:rPr>
              <a:t>If you only have ten minutes:  </a:t>
            </a:r>
            <a:pPr indent="0" marL="0">
              <a:buNone/>
            </a:pPr>
            <a:r>
              <a:rPr lang="en-US" sz="1150" dirty="0">
                <a:solidFill>
                  <a:srgbClr val="FFFFFF"/>
                </a:solidFill>
                <a:latin typeface="Calibri" pitchFamily="34" charset="0"/>
                <a:ea typeface="Calibri" pitchFamily="34" charset="-122"/>
                <a:cs typeface="Calibri" pitchFamily="34" charset="-120"/>
              </a:rPr>
              <a:t>slide 3 (how it connects) · slides 9–13 (the business case) · slide 32 (the housing on one page) · slide 42 (the two findings) · slide 46 (the limits).</a:t>
            </a:r>
            <a:endParaRPr lang="en-US" sz="1150" dirty="0"/>
          </a:p>
        </p:txBody>
      </p:sp>
      <p:sp>
        <p:nvSpPr>
          <p:cNvPr id="40" name="Text 3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41" name="Text 3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548640" cy="548640"/>
          </a:xfrm>
          <a:prstGeom prst="roundRect">
            <a:avLst>
              <a:gd name="adj" fmla="val 22000"/>
            </a:avLst>
          </a:prstGeom>
          <a:solidFill>
            <a:srgbClr val="4F46E5"/>
          </a:solidFill>
          <a:ln/>
        </p:spPr>
      </p:sp>
      <p:sp>
        <p:nvSpPr>
          <p:cNvPr id="3" name="Text 1"/>
          <p:cNvSpPr/>
          <p:nvPr/>
        </p:nvSpPr>
        <p:spPr>
          <a:xfrm>
            <a:off x="457200" y="2011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CV</a:t>
            </a:r>
            <a:endParaRPr lang="en-US" sz="1800" dirty="0"/>
          </a:p>
        </p:txBody>
      </p:sp>
      <p:sp>
        <p:nvSpPr>
          <p:cNvPr id="4" name="Text 2"/>
          <p:cNvSpPr/>
          <p:nvPr/>
        </p:nvSpPr>
        <p:spPr>
          <a:xfrm>
            <a:off x="1143000" y="182880"/>
            <a:ext cx="7863840" cy="402336"/>
          </a:xfrm>
          <a:prstGeom prst="rect">
            <a:avLst/>
          </a:prstGeom>
          <a:noFill/>
          <a:ln/>
        </p:spPr>
        <p:txBody>
          <a:bodyPr wrap="square" lIns="0" tIns="0" rIns="0" bIns="0" rtlCol="0" anchor="ctr"/>
          <a:lstStyle/>
          <a:p>
            <a:pPr indent="0" marL="0">
              <a:buNone/>
            </a:pPr>
            <a:r>
              <a:rPr lang="en-US" sz="2400" b="1" dirty="0">
                <a:solidFill>
                  <a:srgbClr val="16325C"/>
                </a:solidFill>
                <a:latin typeface="Cambria" pitchFamily="34" charset="0"/>
                <a:ea typeface="Cambria" pitchFamily="34" charset="-122"/>
                <a:cs typeface="Cambria" pitchFamily="34" charset="-120"/>
              </a:rPr>
              <a:t>How It All Connects — One Picture</a:t>
            </a:r>
            <a:endParaRPr lang="en-US" sz="2400" dirty="0"/>
          </a:p>
        </p:txBody>
      </p:sp>
      <p:sp>
        <p:nvSpPr>
          <p:cNvPr id="5" name="Text 3"/>
          <p:cNvSpPr/>
          <p:nvPr/>
        </p:nvSpPr>
        <p:spPr>
          <a:xfrm>
            <a:off x="1143000" y="603504"/>
            <a:ext cx="8138160" cy="256032"/>
          </a:xfrm>
          <a:prstGeom prst="rect">
            <a:avLst/>
          </a:prstGeom>
          <a:noFill/>
          <a:ln/>
        </p:spPr>
        <p:txBody>
          <a:bodyPr wrap="square" lIns="0" tIns="0" rIns="0" bIns="0" rtlCol="0" anchor="ctr"/>
          <a:lstStyle/>
          <a:p>
            <a:pPr indent="0" marL="0">
              <a:buNone/>
            </a:pPr>
            <a:r>
              <a:rPr lang="en-US" sz="1150" i="1" dirty="0">
                <a:solidFill>
                  <a:srgbClr val="686F7D"/>
                </a:solidFill>
                <a:latin typeface="Calibri" pitchFamily="34" charset="0"/>
                <a:ea typeface="Calibri" pitchFamily="34" charset="-122"/>
                <a:cs typeface="Calibri" pitchFamily="34" charset="-120"/>
              </a:rPr>
              <a:t>Everything badged AUTO runs unattended — the rules pick the machine and tonnage, the engine writes the DFM/DFA and saving ideas; the engineer is the only manual step.</a:t>
            </a:r>
            <a:endParaRPr lang="en-US" sz="1150" dirty="0"/>
          </a:p>
        </p:txBody>
      </p:sp>
      <p:sp>
        <p:nvSpPr>
          <p:cNvPr id="6" name="Shape 4"/>
          <p:cNvSpPr/>
          <p:nvPr/>
        </p:nvSpPr>
        <p:spPr>
          <a:xfrm>
            <a:off x="9464040" y="192024"/>
            <a:ext cx="100584" cy="100584"/>
          </a:xfrm>
          <a:prstGeom prst="ellipse">
            <a:avLst/>
          </a:prstGeom>
          <a:solidFill>
            <a:srgbClr val="1D6FB8"/>
          </a:solidFill>
          <a:ln/>
        </p:spPr>
      </p:sp>
      <p:sp>
        <p:nvSpPr>
          <p:cNvPr id="7" name="Text 5"/>
          <p:cNvSpPr/>
          <p:nvPr/>
        </p:nvSpPr>
        <p:spPr>
          <a:xfrm>
            <a:off x="9610344" y="146304"/>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Measure</a:t>
            </a:r>
            <a:endParaRPr lang="en-US" sz="780" dirty="0"/>
          </a:p>
        </p:txBody>
      </p:sp>
      <p:sp>
        <p:nvSpPr>
          <p:cNvPr id="8" name="Shape 6"/>
          <p:cNvSpPr/>
          <p:nvPr/>
        </p:nvSpPr>
        <p:spPr>
          <a:xfrm>
            <a:off x="10698480" y="192024"/>
            <a:ext cx="100584" cy="100584"/>
          </a:xfrm>
          <a:prstGeom prst="ellipse">
            <a:avLst/>
          </a:prstGeom>
          <a:solidFill>
            <a:srgbClr val="4F46E5"/>
          </a:solidFill>
          <a:ln/>
        </p:spPr>
      </p:sp>
      <p:sp>
        <p:nvSpPr>
          <p:cNvPr id="9" name="Text 7"/>
          <p:cNvSpPr/>
          <p:nvPr/>
        </p:nvSpPr>
        <p:spPr>
          <a:xfrm>
            <a:off x="10844784" y="146304"/>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Rules</a:t>
            </a:r>
            <a:endParaRPr lang="en-US" sz="780" dirty="0"/>
          </a:p>
        </p:txBody>
      </p:sp>
      <p:sp>
        <p:nvSpPr>
          <p:cNvPr id="10" name="Shape 8"/>
          <p:cNvSpPr/>
          <p:nvPr/>
        </p:nvSpPr>
        <p:spPr>
          <a:xfrm>
            <a:off x="9464040" y="411480"/>
            <a:ext cx="100584" cy="100584"/>
          </a:xfrm>
          <a:prstGeom prst="ellipse">
            <a:avLst/>
          </a:prstGeom>
          <a:solidFill>
            <a:srgbClr val="6B3FA0"/>
          </a:solidFill>
          <a:ln/>
        </p:spPr>
      </p:sp>
      <p:sp>
        <p:nvSpPr>
          <p:cNvPr id="11" name="Text 9"/>
          <p:cNvSpPr/>
          <p:nvPr/>
        </p:nvSpPr>
        <p:spPr>
          <a:xfrm>
            <a:off x="9610344" y="365760"/>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AI (optional)</a:t>
            </a:r>
            <a:endParaRPr lang="en-US" sz="780" dirty="0"/>
          </a:p>
        </p:txBody>
      </p:sp>
      <p:sp>
        <p:nvSpPr>
          <p:cNvPr id="12" name="Shape 10"/>
          <p:cNvSpPr/>
          <p:nvPr/>
        </p:nvSpPr>
        <p:spPr>
          <a:xfrm>
            <a:off x="10698480" y="411480"/>
            <a:ext cx="100584" cy="100584"/>
          </a:xfrm>
          <a:prstGeom prst="ellipse">
            <a:avLst/>
          </a:prstGeom>
          <a:solidFill>
            <a:srgbClr val="99651A"/>
          </a:solidFill>
          <a:ln/>
        </p:spPr>
      </p:sp>
      <p:sp>
        <p:nvSpPr>
          <p:cNvPr id="13" name="Text 11"/>
          <p:cNvSpPr/>
          <p:nvPr/>
        </p:nvSpPr>
        <p:spPr>
          <a:xfrm>
            <a:off x="10844784" y="365760"/>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Guardrail</a:t>
            </a:r>
            <a:endParaRPr lang="en-US" sz="780" dirty="0"/>
          </a:p>
        </p:txBody>
      </p:sp>
      <p:sp>
        <p:nvSpPr>
          <p:cNvPr id="14" name="Shape 12"/>
          <p:cNvSpPr/>
          <p:nvPr/>
        </p:nvSpPr>
        <p:spPr>
          <a:xfrm>
            <a:off x="9464040" y="630936"/>
            <a:ext cx="100584" cy="100584"/>
          </a:xfrm>
          <a:prstGeom prst="ellipse">
            <a:avLst/>
          </a:prstGeom>
          <a:solidFill>
            <a:srgbClr val="0D7D71"/>
          </a:solidFill>
          <a:ln/>
        </p:spPr>
      </p:sp>
      <p:sp>
        <p:nvSpPr>
          <p:cNvPr id="15" name="Text 13"/>
          <p:cNvSpPr/>
          <p:nvPr/>
        </p:nvSpPr>
        <p:spPr>
          <a:xfrm>
            <a:off x="9610344" y="585216"/>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Engine</a:t>
            </a:r>
            <a:endParaRPr lang="en-US" sz="780" dirty="0"/>
          </a:p>
        </p:txBody>
      </p:sp>
      <p:sp>
        <p:nvSpPr>
          <p:cNvPr id="16" name="Shape 14"/>
          <p:cNvSpPr/>
          <p:nvPr/>
        </p:nvSpPr>
        <p:spPr>
          <a:xfrm>
            <a:off x="10698480" y="630936"/>
            <a:ext cx="100584" cy="100584"/>
          </a:xfrm>
          <a:prstGeom prst="ellipse">
            <a:avLst/>
          </a:prstGeom>
          <a:solidFill>
            <a:srgbClr val="2A7F50"/>
          </a:solidFill>
          <a:ln/>
        </p:spPr>
      </p:sp>
      <p:sp>
        <p:nvSpPr>
          <p:cNvPr id="17" name="Text 15"/>
          <p:cNvSpPr/>
          <p:nvPr/>
        </p:nvSpPr>
        <p:spPr>
          <a:xfrm>
            <a:off x="10844784" y="585216"/>
            <a:ext cx="1143000" cy="201168"/>
          </a:xfrm>
          <a:prstGeom prst="rect">
            <a:avLst/>
          </a:prstGeom>
          <a:noFill/>
          <a:ln/>
        </p:spPr>
        <p:txBody>
          <a:bodyPr wrap="square" lIns="0" tIns="0" rIns="0" bIns="0" rtlCol="0" anchor="ctr"/>
          <a:lstStyle/>
          <a:p>
            <a:pPr indent="0" marL="0">
              <a:buNone/>
            </a:pPr>
            <a:r>
              <a:rPr lang="en-US" sz="780" dirty="0">
                <a:solidFill>
                  <a:srgbClr val="3A4356"/>
                </a:solidFill>
                <a:latin typeface="Calibri" pitchFamily="34" charset="0"/>
                <a:ea typeface="Calibri" pitchFamily="34" charset="-122"/>
                <a:cs typeface="Calibri" pitchFamily="34" charset="-120"/>
              </a:rPr>
              <a:t>Human / output</a:t>
            </a:r>
            <a:endParaRPr lang="en-US" sz="780" dirty="0"/>
          </a:p>
        </p:txBody>
      </p:sp>
      <p:sp>
        <p:nvSpPr>
          <p:cNvPr id="18" name="Shape 16"/>
          <p:cNvSpPr/>
          <p:nvPr/>
        </p:nvSpPr>
        <p:spPr>
          <a:xfrm>
            <a:off x="411480" y="1078992"/>
            <a:ext cx="1828800" cy="758952"/>
          </a:xfrm>
          <a:prstGeom prst="roundRect">
            <a:avLst>
              <a:gd name="adj" fmla="val 9639"/>
            </a:avLst>
          </a:prstGeom>
          <a:solidFill>
            <a:srgbClr val="EAF6EF"/>
          </a:solidFill>
          <a:ln w="12700">
            <a:solidFill>
              <a:srgbClr val="2A7F50"/>
            </a:solidFill>
            <a:prstDash val="solid"/>
          </a:ln>
        </p:spPr>
      </p:sp>
      <p:sp>
        <p:nvSpPr>
          <p:cNvPr id="19" name="Text 17"/>
          <p:cNvSpPr/>
          <p:nvPr/>
        </p:nvSpPr>
        <p:spPr>
          <a:xfrm>
            <a:off x="512064" y="1124712"/>
            <a:ext cx="1691640" cy="137160"/>
          </a:xfrm>
          <a:prstGeom prst="rect">
            <a:avLst/>
          </a:prstGeom>
          <a:noFill/>
          <a:ln/>
        </p:spPr>
        <p:txBody>
          <a:bodyPr wrap="square" lIns="0" tIns="0" rIns="0" bIns="0" rtlCol="0" anchor="ctr"/>
          <a:lstStyle/>
          <a:p>
            <a:pPr indent="0" marL="0">
              <a:buNone/>
            </a:pPr>
            <a:r>
              <a:rPr lang="en-US" sz="750" b="1" spc="40" kern="0" dirty="0">
                <a:solidFill>
                  <a:srgbClr val="2A7F50"/>
                </a:solidFill>
                <a:latin typeface="Calibri" pitchFamily="34" charset="0"/>
                <a:ea typeface="Calibri" pitchFamily="34" charset="-122"/>
                <a:cs typeface="Calibri" pitchFamily="34" charset="-120"/>
              </a:rPr>
              <a:t>WHY TRUST THIS PICTURE</a:t>
            </a:r>
            <a:endParaRPr lang="en-US" sz="750" dirty="0"/>
          </a:p>
        </p:txBody>
      </p:sp>
      <p:sp>
        <p:nvSpPr>
          <p:cNvPr id="20" name="Text 18"/>
          <p:cNvSpPr/>
          <p:nvPr/>
        </p:nvSpPr>
        <p:spPr>
          <a:xfrm>
            <a:off x="512064" y="1271016"/>
            <a:ext cx="1691640" cy="548640"/>
          </a:xfrm>
          <a:prstGeom prst="rect">
            <a:avLst/>
          </a:prstGeom>
          <a:noFill/>
          <a:ln/>
        </p:spPr>
        <p:txBody>
          <a:bodyPr wrap="square" lIns="0" tIns="0" rIns="0" bIns="0" rtlCol="0" anchor="t"/>
          <a:lstStyle/>
          <a:p>
            <a:pPr indent="0" marL="0">
              <a:buNone/>
            </a:pPr>
            <a:r>
              <a:rPr lang="en-US" sz="750" dirty="0">
                <a:solidFill>
                  <a:srgbClr val="3A4356"/>
                </a:solidFill>
                <a:latin typeface="Calibri" pitchFamily="34" charset="0"/>
                <a:ea typeface="Calibri" pitchFamily="34" charset="-122"/>
                <a:cs typeface="Calibri" pitchFamily="34" charset="-120"/>
              </a:rPr>
              <a:t>Same file + answers = same price</a:t>
            </a:r>
            <a:endParaRPr lang="en-US" sz="750" dirty="0"/>
          </a:p>
          <a:p>
            <a:pPr indent="0" marL="0">
              <a:buNone/>
            </a:pPr>
            <a:r>
              <a:rPr lang="en-US" sz="750" dirty="0">
                <a:solidFill>
                  <a:srgbClr val="3A4356"/>
                </a:solidFill>
                <a:latin typeface="Calibri" pitchFamily="34" charset="0"/>
                <a:ea typeface="Calibri" pitchFamily="34" charset="-122"/>
                <a:cs typeface="Calibri" pitchFamily="34" charset="-120"/>
              </a:rPr>
              <a:t>13 of 19 processes from CAD</a:t>
            </a:r>
            <a:endParaRPr lang="en-US" sz="750" dirty="0"/>
          </a:p>
          <a:p>
            <a:pPr indent="0" marL="0">
              <a:buNone/>
            </a:pPr>
            <a:r>
              <a:rPr lang="en-US" sz="750" dirty="0">
                <a:solidFill>
                  <a:srgbClr val="3A4356"/>
                </a:solidFill>
                <a:latin typeface="Calibri" pitchFamily="34" charset="0"/>
                <a:ea typeface="Calibri" pitchFamily="34" charset="-122"/>
                <a:cs typeface="Calibri" pitchFamily="34" charset="-120"/>
              </a:rPr>
              <a:t>2,438 automated tests</a:t>
            </a:r>
            <a:endParaRPr lang="en-US" sz="750" dirty="0"/>
          </a:p>
          <a:p>
            <a:pPr indent="0" marL="0">
              <a:buNone/>
            </a:pPr>
            <a:r>
              <a:rPr lang="en-US" sz="750" dirty="0">
                <a:solidFill>
                  <a:srgbClr val="3A4356"/>
                </a:solidFill>
                <a:latin typeface="Calibri" pitchFamily="34" charset="0"/>
                <a:ea typeface="Calibri" pitchFamily="34" charset="-122"/>
                <a:cs typeface="Calibri" pitchFamily="34" charset="-120"/>
              </a:rPr>
              <a:t>6 real parts pinned in a baseline</a:t>
            </a:r>
            <a:endParaRPr lang="en-US" sz="750" dirty="0"/>
          </a:p>
        </p:txBody>
      </p:sp>
      <p:sp>
        <p:nvSpPr>
          <p:cNvPr id="21" name="Shape 19"/>
          <p:cNvSpPr/>
          <p:nvPr/>
        </p:nvSpPr>
        <p:spPr>
          <a:xfrm>
            <a:off x="2331720" y="932688"/>
            <a:ext cx="4754880" cy="1024128"/>
          </a:xfrm>
          <a:prstGeom prst="roundRect">
            <a:avLst>
              <a:gd name="adj" fmla="val 8036"/>
            </a:avLst>
          </a:prstGeom>
          <a:solidFill>
            <a:srgbClr val="F1EBF8"/>
          </a:solidFill>
          <a:ln w="19050">
            <a:solidFill>
              <a:srgbClr val="6B3FA0"/>
            </a:solidFill>
            <a:prstDash val="dash"/>
          </a:ln>
        </p:spPr>
      </p:sp>
      <p:sp>
        <p:nvSpPr>
          <p:cNvPr id="22" name="Shape 20"/>
          <p:cNvSpPr/>
          <p:nvPr/>
        </p:nvSpPr>
        <p:spPr>
          <a:xfrm>
            <a:off x="2468880" y="1170432"/>
            <a:ext cx="402336" cy="402336"/>
          </a:xfrm>
          <a:prstGeom prst="ellipse">
            <a:avLst/>
          </a:prstGeom>
          <a:solidFill>
            <a:srgbClr val="6B3FA0"/>
          </a:solidFill>
          <a:ln/>
        </p:spPr>
      </p:sp>
      <p:pic>
        <p:nvPicPr>
          <p:cNvPr id="23" name="Image 0" descr="preencoded.png">    </p:cNvPr>
          <p:cNvPicPr>
            <a:picLocks noChangeAspect="1"/>
          </p:cNvPicPr>
          <p:nvPr/>
        </p:nvPicPr>
        <p:blipFill>
          <a:blip r:embed="rId1"/>
          <a:stretch>
            <a:fillRect/>
          </a:stretch>
        </p:blipFill>
        <p:spPr>
          <a:xfrm>
            <a:off x="2569464" y="1271016"/>
            <a:ext cx="201168" cy="201168"/>
          </a:xfrm>
          <a:prstGeom prst="rect">
            <a:avLst/>
          </a:prstGeom>
        </p:spPr>
      </p:pic>
      <p:sp>
        <p:nvSpPr>
          <p:cNvPr id="24" name="Text 21"/>
          <p:cNvSpPr/>
          <p:nvPr/>
        </p:nvSpPr>
        <p:spPr>
          <a:xfrm>
            <a:off x="2999232" y="987552"/>
            <a:ext cx="3977640" cy="182880"/>
          </a:xfrm>
          <a:prstGeom prst="rect">
            <a:avLst/>
          </a:prstGeom>
          <a:noFill/>
          <a:ln/>
        </p:spPr>
        <p:txBody>
          <a:bodyPr wrap="square" lIns="0" tIns="0" rIns="0" bIns="0" rtlCol="0" anchor="ctr"/>
          <a:lstStyle/>
          <a:p>
            <a:pPr indent="0" marL="0">
              <a:buNone/>
            </a:pPr>
            <a:r>
              <a:rPr lang="en-US" sz="800" b="1" spc="40" kern="0" dirty="0">
                <a:solidFill>
                  <a:srgbClr val="6B3FA0"/>
                </a:solidFill>
                <a:latin typeface="Calibri" pitchFamily="34" charset="0"/>
                <a:ea typeface="Calibri" pitchFamily="34" charset="-122"/>
                <a:cs typeface="Calibri" pitchFamily="34" charset="-120"/>
              </a:rPr>
              <a:t>OPTIONAL AI — SWITCHED OFF AT JLR (AIR_GAPPED=1)</a:t>
            </a:r>
            <a:endParaRPr lang="en-US" sz="800" dirty="0"/>
          </a:p>
        </p:txBody>
      </p:sp>
      <p:sp>
        <p:nvSpPr>
          <p:cNvPr id="25" name="Text 22"/>
          <p:cNvSpPr/>
          <p:nvPr/>
        </p:nvSpPr>
        <p:spPr>
          <a:xfrm>
            <a:off x="2999232" y="1161288"/>
            <a:ext cx="3977640" cy="420624"/>
          </a:xfrm>
          <a:prstGeom prst="rect">
            <a:avLst/>
          </a:prstGeom>
          <a:noFill/>
          <a:ln/>
        </p:spPr>
        <p:txBody>
          <a:bodyPr wrap="square" lIns="0" tIns="0" rIns="0" bIns="0" rtlCol="0" anchor="t"/>
          <a:lstStyle/>
          <a:p>
            <a:pPr indent="0" marL="0">
              <a:buNone/>
            </a:pPr>
            <a:r>
              <a:rPr lang="en-US" sz="780" dirty="0">
                <a:solidFill>
                  <a:srgbClr val="3A4356"/>
                </a:solidFill>
                <a:latin typeface="Calibri" pitchFamily="34" charset="0"/>
                <a:ea typeface="Calibri" pitchFamily="34" charset="-122"/>
                <a:cs typeface="Calibri" pitchFamily="34" charset="-120"/>
              </a:rPr>
              <a:t>When on: </a:t>
            </a:r>
            <a:pPr indent="0" marL="0">
              <a:buNone/>
            </a:pPr>
            <a:r>
              <a:rPr lang="en-US" sz="780" b="1" dirty="0">
                <a:solidFill>
                  <a:srgbClr val="16325C"/>
                </a:solidFill>
                <a:latin typeface="Calibri" pitchFamily="34" charset="0"/>
                <a:ea typeface="Calibri" pitchFamily="34" charset="-122"/>
                <a:cs typeface="Calibri" pitchFamily="34" charset="-120"/>
              </a:rPr>
              <a:t>Rules only (default) · Compare · AI-led. </a:t>
            </a:r>
            <a:pPr indent="0" marL="0">
              <a:buNone/>
            </a:pPr>
            <a:r>
              <a:rPr lang="en-US" sz="780" dirty="0">
                <a:solidFill>
                  <a:srgbClr val="3A4356"/>
                </a:solidFill>
                <a:latin typeface="Calibri" pitchFamily="34" charset="0"/>
                <a:ea typeface="Calibri" pitchFamily="34" charset="-122"/>
                <a:cs typeface="Calibri" pitchFamily="34" charset="-120"/>
              </a:rPr>
              <a:t>Words back, never money. Rate-limited per user. </a:t>
            </a:r>
            <a:pPr indent="0" marL="0">
              <a:buNone/>
            </a:pPr>
            <a:r>
              <a:rPr lang="en-US" sz="780" b="1" dirty="0">
                <a:solidFill>
                  <a:srgbClr val="6B3FA0"/>
                </a:solidFill>
                <a:latin typeface="Calibri" pitchFamily="34" charset="0"/>
                <a:ea typeface="Calibri" pitchFamily="34" charset="-122"/>
                <a:cs typeface="Calibri" pitchFamily="34" charset="-120"/>
              </a:rPr>
              <a:t>The PCB PHOTO flow needs it </a:t>
            </a:r>
            <a:pPr indent="0" marL="0">
              <a:buNone/>
            </a:pPr>
            <a:r>
              <a:rPr lang="en-US" sz="780" dirty="0">
                <a:solidFill>
                  <a:srgbClr val="3A4356"/>
                </a:solidFill>
                <a:latin typeface="Calibri" pitchFamily="34" charset="0"/>
                <a:ea typeface="Calibri" pitchFamily="34" charset="-122"/>
                <a:cs typeface="Calibri" pitchFamily="34" charset="-120"/>
              </a:rPr>
              <a:t>— so at JLR that screen is hidden.</a:t>
            </a:r>
            <a:endParaRPr lang="en-US" sz="780" dirty="0"/>
          </a:p>
        </p:txBody>
      </p:sp>
      <p:sp>
        <p:nvSpPr>
          <p:cNvPr id="26" name="Text 23"/>
          <p:cNvSpPr/>
          <p:nvPr/>
        </p:nvSpPr>
        <p:spPr>
          <a:xfrm>
            <a:off x="2999232" y="1618488"/>
            <a:ext cx="3977640" cy="292608"/>
          </a:xfrm>
          <a:prstGeom prst="rect">
            <a:avLst/>
          </a:prstGeom>
          <a:noFill/>
          <a:ln/>
        </p:spPr>
        <p:txBody>
          <a:bodyPr wrap="square" lIns="0" tIns="0" rIns="0" bIns="0" rtlCol="0" anchor="t"/>
          <a:lstStyle/>
          <a:p>
            <a:pPr indent="0" marL="0">
              <a:buNone/>
            </a:pPr>
            <a:r>
              <a:rPr lang="en-US" sz="750" i="1" dirty="0">
                <a:solidFill>
                  <a:srgbClr val="6B3FA0"/>
                </a:solidFill>
                <a:latin typeface="Calibri" pitchFamily="34" charset="0"/>
                <a:ea typeface="Calibri" pitchFamily="34" charset="-122"/>
                <a:cs typeface="Calibri" pitchFamily="34" charset="-120"/>
              </a:rPr>
              <a:t>The code is kept and can be switched on by a setting, no rebuild. With it off, CAD and manual costing work in full.</a:t>
            </a:r>
            <a:endParaRPr lang="en-US" sz="750" dirty="0"/>
          </a:p>
        </p:txBody>
      </p:sp>
      <p:sp>
        <p:nvSpPr>
          <p:cNvPr id="27" name="Shape 24"/>
          <p:cNvSpPr/>
          <p:nvPr/>
        </p:nvSpPr>
        <p:spPr>
          <a:xfrm>
            <a:off x="7315200" y="932688"/>
            <a:ext cx="4416552" cy="905256"/>
          </a:xfrm>
          <a:prstGeom prst="roundRect">
            <a:avLst>
              <a:gd name="adj" fmla="val 9091"/>
            </a:avLst>
          </a:prstGeom>
          <a:solidFill>
            <a:srgbClr val="FFFFFF"/>
          </a:solidFill>
          <a:ln w="12700">
            <a:solidFill>
              <a:srgbClr val="DCE3EE"/>
            </a:solidFill>
            <a:prstDash val="dash"/>
          </a:ln>
        </p:spPr>
      </p:sp>
      <p:sp>
        <p:nvSpPr>
          <p:cNvPr id="28" name="Text 25"/>
          <p:cNvSpPr/>
          <p:nvPr/>
        </p:nvSpPr>
        <p:spPr>
          <a:xfrm>
            <a:off x="7498080" y="1024128"/>
            <a:ext cx="4114800" cy="201168"/>
          </a:xfrm>
          <a:prstGeom prst="rect">
            <a:avLst/>
          </a:prstGeom>
          <a:noFill/>
          <a:ln/>
        </p:spPr>
        <p:txBody>
          <a:bodyPr wrap="square" lIns="0" tIns="0" rIns="0" bIns="0" rtlCol="0" anchor="ctr"/>
          <a:lstStyle/>
          <a:p>
            <a:pPr indent="0" marL="0">
              <a:buNone/>
            </a:pPr>
            <a:r>
              <a:rPr lang="en-US" sz="800" b="1" spc="40" kern="0" dirty="0">
                <a:solidFill>
                  <a:srgbClr val="686F7D"/>
                </a:solidFill>
                <a:latin typeface="Calibri" pitchFamily="34" charset="0"/>
                <a:ea typeface="Calibri" pitchFamily="34" charset="-122"/>
                <a:cs typeface="Calibri" pitchFamily="34" charset="-120"/>
              </a:rPr>
              <a:t>OPTIONAL FEEDS — none of them price a part</a:t>
            </a:r>
            <a:endParaRPr lang="en-US" sz="800" dirty="0"/>
          </a:p>
        </p:txBody>
      </p:sp>
      <p:sp>
        <p:nvSpPr>
          <p:cNvPr id="29" name="Text 26"/>
          <p:cNvSpPr/>
          <p:nvPr/>
        </p:nvSpPr>
        <p:spPr>
          <a:xfrm>
            <a:off x="7498080" y="1261872"/>
            <a:ext cx="4114800" cy="457200"/>
          </a:xfrm>
          <a:prstGeom prst="rect">
            <a:avLst/>
          </a:prstGeom>
          <a:noFill/>
          <a:ln/>
        </p:spPr>
        <p:txBody>
          <a:bodyPr wrap="square" lIns="0" tIns="0" rIns="0" bIns="0" rtlCol="0" anchor="t"/>
          <a:lstStyle/>
          <a:p>
            <a:pPr indent="0" marL="0">
              <a:buNone/>
            </a:pPr>
            <a:r>
              <a:rPr lang="en-US" sz="900" dirty="0">
                <a:solidFill>
                  <a:srgbClr val="3A4356"/>
                </a:solidFill>
                <a:latin typeface="Calibri" pitchFamily="34" charset="0"/>
                <a:ea typeface="Calibri" pitchFamily="34" charset="-122"/>
                <a:cs typeface="Calibri" pitchFamily="34" charset="-120"/>
              </a:rPr>
              <a:t>Live component pricing (PCB, off) · news (needs internet) · price ticker (indicative, simulated, display only)</a:t>
            </a:r>
            <a:endParaRPr lang="en-US" sz="900" dirty="0"/>
          </a:p>
        </p:txBody>
      </p:sp>
      <p:sp>
        <p:nvSpPr>
          <p:cNvPr id="30" name="Shape 27"/>
          <p:cNvSpPr/>
          <p:nvPr/>
        </p:nvSpPr>
        <p:spPr>
          <a:xfrm>
            <a:off x="411480" y="1993392"/>
            <a:ext cx="11338560" cy="4023360"/>
          </a:xfrm>
          <a:prstGeom prst="roundRect">
            <a:avLst>
              <a:gd name="adj" fmla="val 2727"/>
            </a:avLst>
          </a:prstGeom>
          <a:solidFill>
            <a:srgbClr val="FFFFFF"/>
          </a:solidFill>
          <a:ln w="22225">
            <a:solidFill>
              <a:srgbClr val="0D7D71"/>
            </a:solidFill>
            <a:prstDash val="dash"/>
          </a:ln>
        </p:spPr>
      </p:sp>
      <p:sp>
        <p:nvSpPr>
          <p:cNvPr id="31" name="Shape 28"/>
          <p:cNvSpPr/>
          <p:nvPr/>
        </p:nvSpPr>
        <p:spPr>
          <a:xfrm>
            <a:off x="685800" y="1874520"/>
            <a:ext cx="3200400" cy="256032"/>
          </a:xfrm>
          <a:prstGeom prst="roundRect">
            <a:avLst>
              <a:gd name="adj" fmla="val 50000"/>
            </a:avLst>
          </a:prstGeom>
          <a:solidFill>
            <a:srgbClr val="0D7D71"/>
          </a:solidFill>
          <a:ln/>
        </p:spPr>
      </p:sp>
      <p:sp>
        <p:nvSpPr>
          <p:cNvPr id="32" name="Text 29"/>
          <p:cNvSpPr/>
          <p:nvPr/>
        </p:nvSpPr>
        <p:spPr>
          <a:xfrm>
            <a:off x="685800" y="1874520"/>
            <a:ext cx="3200400" cy="256032"/>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INSIDE — RUNS ON YOUR OWN MACHINE</a:t>
            </a:r>
            <a:endParaRPr lang="en-US" sz="850" dirty="0"/>
          </a:p>
        </p:txBody>
      </p:sp>
      <p:sp>
        <p:nvSpPr>
          <p:cNvPr id="33" name="Shape 30"/>
          <p:cNvSpPr/>
          <p:nvPr/>
        </p:nvSpPr>
        <p:spPr>
          <a:xfrm>
            <a:off x="3794760" y="1837944"/>
            <a:ext cx="0" cy="612648"/>
          </a:xfrm>
          <a:prstGeom prst="line">
            <a:avLst/>
          </a:prstGeom>
          <a:noFill/>
          <a:ln w="19050">
            <a:solidFill>
              <a:srgbClr val="6B3FA0"/>
            </a:solidFill>
            <a:prstDash val="dash"/>
            <a:headEnd type="triangle"/>
            <a:tailEnd type="triangle"/>
          </a:ln>
        </p:spPr>
      </p:sp>
      <p:sp>
        <p:nvSpPr>
          <p:cNvPr id="34" name="Text 31"/>
          <p:cNvSpPr/>
          <p:nvPr/>
        </p:nvSpPr>
        <p:spPr>
          <a:xfrm>
            <a:off x="594360" y="2231136"/>
            <a:ext cx="1828800" cy="219456"/>
          </a:xfrm>
          <a:prstGeom prst="rect">
            <a:avLst/>
          </a:prstGeom>
          <a:noFill/>
          <a:ln/>
        </p:spPr>
        <p:txBody>
          <a:bodyPr wrap="square" lIns="0" tIns="0" rIns="0" bIns="0" rtlCol="0" anchor="ctr"/>
          <a:lstStyle/>
          <a:p>
            <a:pPr indent="0" marL="0">
              <a:buNone/>
            </a:pPr>
            <a:r>
              <a:rPr lang="en-US" sz="850" b="1" spc="60" kern="0" dirty="0">
                <a:solidFill>
                  <a:srgbClr val="1D6FB8"/>
                </a:solidFill>
                <a:latin typeface="Calibri" pitchFamily="34" charset="0"/>
                <a:ea typeface="Calibri" pitchFamily="34" charset="-122"/>
                <a:cs typeface="Calibri" pitchFamily="34" charset="-120"/>
              </a:rPr>
              <a:t>WHAT GOES IN</a:t>
            </a:r>
            <a:endParaRPr lang="en-US" sz="850" dirty="0"/>
          </a:p>
        </p:txBody>
      </p:sp>
      <p:sp>
        <p:nvSpPr>
          <p:cNvPr id="35" name="Shape 32"/>
          <p:cNvSpPr/>
          <p:nvPr/>
        </p:nvSpPr>
        <p:spPr>
          <a:xfrm>
            <a:off x="594360" y="2505456"/>
            <a:ext cx="1828800" cy="621792"/>
          </a:xfrm>
          <a:prstGeom prst="roundRect">
            <a:avLst>
              <a:gd name="adj" fmla="val 10294"/>
            </a:avLst>
          </a:prstGeom>
          <a:solidFill>
            <a:srgbClr val="FFFFFF"/>
          </a:solidFill>
          <a:ln w="12700">
            <a:solidFill>
              <a:srgbClr val="DCE3EE"/>
            </a:solidFill>
            <a:prstDash val="solid"/>
          </a:ln>
        </p:spPr>
      </p:sp>
      <p:sp>
        <p:nvSpPr>
          <p:cNvPr id="36" name="Text 33"/>
          <p:cNvSpPr/>
          <p:nvPr/>
        </p:nvSpPr>
        <p:spPr>
          <a:xfrm>
            <a:off x="713232" y="2505456"/>
            <a:ext cx="159105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3D CAD model</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(STEP / IGES / STL)</a:t>
            </a:r>
            <a:endParaRPr lang="en-US" sz="860" dirty="0"/>
          </a:p>
        </p:txBody>
      </p:sp>
      <p:sp>
        <p:nvSpPr>
          <p:cNvPr id="37" name="Shape 34"/>
          <p:cNvSpPr/>
          <p:nvPr/>
        </p:nvSpPr>
        <p:spPr>
          <a:xfrm>
            <a:off x="594360" y="3236976"/>
            <a:ext cx="1828800" cy="621792"/>
          </a:xfrm>
          <a:prstGeom prst="roundRect">
            <a:avLst>
              <a:gd name="adj" fmla="val 10294"/>
            </a:avLst>
          </a:prstGeom>
          <a:solidFill>
            <a:srgbClr val="FFFFFF"/>
          </a:solidFill>
          <a:ln w="12700">
            <a:solidFill>
              <a:srgbClr val="DCE3EE"/>
            </a:solidFill>
            <a:prstDash val="solid"/>
          </a:ln>
        </p:spPr>
      </p:sp>
      <p:sp>
        <p:nvSpPr>
          <p:cNvPr id="38" name="Text 35"/>
          <p:cNvSpPr/>
          <p:nvPr/>
        </p:nvSpPr>
        <p:spPr>
          <a:xfrm>
            <a:off x="713232" y="3236976"/>
            <a:ext cx="159105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Photo of a PCB</a:t>
            </a:r>
            <a:endParaRPr lang="en-US" sz="860" dirty="0"/>
          </a:p>
        </p:txBody>
      </p:sp>
      <p:sp>
        <p:nvSpPr>
          <p:cNvPr id="39" name="Shape 36"/>
          <p:cNvSpPr/>
          <p:nvPr/>
        </p:nvSpPr>
        <p:spPr>
          <a:xfrm>
            <a:off x="594360" y="3968496"/>
            <a:ext cx="1828800" cy="621792"/>
          </a:xfrm>
          <a:prstGeom prst="roundRect">
            <a:avLst>
              <a:gd name="adj" fmla="val 10294"/>
            </a:avLst>
          </a:prstGeom>
          <a:solidFill>
            <a:srgbClr val="FFFFFF"/>
          </a:solidFill>
          <a:ln w="12700">
            <a:solidFill>
              <a:srgbClr val="DCE3EE"/>
            </a:solidFill>
            <a:prstDash val="solid"/>
          </a:ln>
        </p:spPr>
      </p:sp>
      <p:sp>
        <p:nvSpPr>
          <p:cNvPr id="40" name="Text 37"/>
          <p:cNvSpPr/>
          <p:nvPr/>
        </p:nvSpPr>
        <p:spPr>
          <a:xfrm>
            <a:off x="713232" y="3968496"/>
            <a:ext cx="159105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Typed inputs on the</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commodity form</a:t>
            </a:r>
            <a:endParaRPr lang="en-US" sz="860" dirty="0"/>
          </a:p>
        </p:txBody>
      </p:sp>
      <p:sp>
        <p:nvSpPr>
          <p:cNvPr id="41" name="Shape 38"/>
          <p:cNvSpPr/>
          <p:nvPr/>
        </p:nvSpPr>
        <p:spPr>
          <a:xfrm>
            <a:off x="594360" y="4700016"/>
            <a:ext cx="1828800" cy="621792"/>
          </a:xfrm>
          <a:prstGeom prst="roundRect">
            <a:avLst>
              <a:gd name="adj" fmla="val 10294"/>
            </a:avLst>
          </a:prstGeom>
          <a:solidFill>
            <a:srgbClr val="FFFFFF"/>
          </a:solidFill>
          <a:ln w="12700">
            <a:solidFill>
              <a:srgbClr val="DCE3EE"/>
            </a:solidFill>
            <a:prstDash val="solid"/>
          </a:ln>
        </p:spPr>
      </p:sp>
      <p:sp>
        <p:nvSpPr>
          <p:cNvPr id="42" name="Text 39"/>
          <p:cNvSpPr/>
          <p:nvPr/>
        </p:nvSpPr>
        <p:spPr>
          <a:xfrm>
            <a:off x="713232" y="4700016"/>
            <a:ext cx="159105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Volume + region</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(the engineer types)</a:t>
            </a:r>
            <a:endParaRPr lang="en-US" sz="860" dirty="0"/>
          </a:p>
        </p:txBody>
      </p:sp>
      <p:sp>
        <p:nvSpPr>
          <p:cNvPr id="43" name="Shape 40"/>
          <p:cNvSpPr/>
          <p:nvPr/>
        </p:nvSpPr>
        <p:spPr>
          <a:xfrm>
            <a:off x="594360" y="3236976"/>
            <a:ext cx="1828800" cy="621792"/>
          </a:xfrm>
          <a:prstGeom prst="roundRect">
            <a:avLst>
              <a:gd name="adj" fmla="val 10294"/>
            </a:avLst>
          </a:prstGeom>
          <a:solidFill>
            <a:srgbClr val="FFFFFF"/>
          </a:solidFill>
          <a:ln w="19050">
            <a:solidFill>
              <a:srgbClr val="6B3FA0"/>
            </a:solidFill>
            <a:prstDash val="solid"/>
          </a:ln>
        </p:spPr>
      </p:sp>
      <p:sp>
        <p:nvSpPr>
          <p:cNvPr id="44" name="Text 41"/>
          <p:cNvSpPr/>
          <p:nvPr/>
        </p:nvSpPr>
        <p:spPr>
          <a:xfrm>
            <a:off x="713232" y="3255264"/>
            <a:ext cx="1591056" cy="237744"/>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Photo of a PCB</a:t>
            </a:r>
            <a:endParaRPr lang="en-US" sz="860" dirty="0"/>
          </a:p>
        </p:txBody>
      </p:sp>
      <p:sp>
        <p:nvSpPr>
          <p:cNvPr id="45" name="Shape 42"/>
          <p:cNvSpPr/>
          <p:nvPr/>
        </p:nvSpPr>
        <p:spPr>
          <a:xfrm>
            <a:off x="713232" y="3529584"/>
            <a:ext cx="1051560" cy="173736"/>
          </a:xfrm>
          <a:prstGeom prst="roundRect">
            <a:avLst>
              <a:gd name="adj" fmla="val 50000"/>
            </a:avLst>
          </a:prstGeom>
          <a:solidFill>
            <a:srgbClr val="6B3FA0"/>
          </a:solidFill>
          <a:ln/>
        </p:spPr>
      </p:sp>
      <p:sp>
        <p:nvSpPr>
          <p:cNvPr id="46" name="Text 43"/>
          <p:cNvSpPr/>
          <p:nvPr/>
        </p:nvSpPr>
        <p:spPr>
          <a:xfrm>
            <a:off x="713232" y="3529584"/>
            <a:ext cx="1051560" cy="173736"/>
          </a:xfrm>
          <a:prstGeom prst="rect">
            <a:avLst/>
          </a:prstGeom>
          <a:noFill/>
          <a:ln/>
        </p:spPr>
        <p:txBody>
          <a:bodyPr wrap="square" lIns="0" tIns="0" rIns="0" bIns="0" rtlCol="0" anchor="ctr"/>
          <a:lstStyle/>
          <a:p>
            <a:pPr algn="ctr" indent="0" marL="0">
              <a:buNone/>
            </a:pPr>
            <a:r>
              <a:rPr lang="en-US" sz="750" b="1" spc="40" kern="0" dirty="0">
                <a:solidFill>
                  <a:srgbClr val="FFFFFF"/>
                </a:solidFill>
                <a:latin typeface="Calibri" pitchFamily="34" charset="0"/>
                <a:ea typeface="Calibri" pitchFamily="34" charset="-122"/>
                <a:cs typeface="Calibri" pitchFamily="34" charset="-120"/>
              </a:rPr>
              <a:t>AI · OFF AT JLR</a:t>
            </a:r>
            <a:endParaRPr lang="en-US" sz="750" dirty="0"/>
          </a:p>
        </p:txBody>
      </p:sp>
      <p:sp>
        <p:nvSpPr>
          <p:cNvPr id="47" name="Shape 44"/>
          <p:cNvSpPr/>
          <p:nvPr/>
        </p:nvSpPr>
        <p:spPr>
          <a:xfrm>
            <a:off x="502920" y="1810512"/>
            <a:ext cx="0" cy="1737360"/>
          </a:xfrm>
          <a:prstGeom prst="line">
            <a:avLst/>
          </a:prstGeom>
          <a:noFill/>
          <a:ln w="17780">
            <a:solidFill>
              <a:srgbClr val="6B3FA0"/>
            </a:solidFill>
            <a:prstDash val="dash"/>
            <a:headEnd type="triangle"/>
            <a:tailEnd type="triangle"/>
          </a:ln>
        </p:spPr>
      </p:sp>
      <p:sp>
        <p:nvSpPr>
          <p:cNvPr id="48" name="Shape 45"/>
          <p:cNvSpPr/>
          <p:nvPr/>
        </p:nvSpPr>
        <p:spPr>
          <a:xfrm>
            <a:off x="502920" y="1810512"/>
            <a:ext cx="1828800" cy="0"/>
          </a:xfrm>
          <a:prstGeom prst="line">
            <a:avLst/>
          </a:prstGeom>
          <a:noFill/>
          <a:ln w="17780">
            <a:solidFill>
              <a:srgbClr val="6B3FA0"/>
            </a:solidFill>
            <a:prstDash val="dash"/>
            <a:tailEnd type="triangle"/>
          </a:ln>
        </p:spPr>
      </p:sp>
      <p:sp>
        <p:nvSpPr>
          <p:cNvPr id="49" name="Text 46"/>
          <p:cNvSpPr/>
          <p:nvPr/>
        </p:nvSpPr>
        <p:spPr>
          <a:xfrm>
            <a:off x="10104120" y="2231136"/>
            <a:ext cx="1645920" cy="219456"/>
          </a:xfrm>
          <a:prstGeom prst="rect">
            <a:avLst/>
          </a:prstGeom>
          <a:noFill/>
          <a:ln/>
        </p:spPr>
        <p:txBody>
          <a:bodyPr wrap="square" lIns="0" tIns="0" rIns="0" bIns="0" rtlCol="0" anchor="ctr"/>
          <a:lstStyle/>
          <a:p>
            <a:pPr indent="0" marL="0">
              <a:buNone/>
            </a:pPr>
            <a:r>
              <a:rPr lang="en-US" sz="850" b="1" spc="60" kern="0" dirty="0">
                <a:solidFill>
                  <a:srgbClr val="2A7F50"/>
                </a:solidFill>
                <a:latin typeface="Calibri" pitchFamily="34" charset="0"/>
                <a:ea typeface="Calibri" pitchFamily="34" charset="-122"/>
                <a:cs typeface="Calibri" pitchFamily="34" charset="-120"/>
              </a:rPr>
              <a:t>WHAT COMES OUT</a:t>
            </a:r>
            <a:endParaRPr lang="en-US" sz="850" dirty="0"/>
          </a:p>
        </p:txBody>
      </p:sp>
      <p:sp>
        <p:nvSpPr>
          <p:cNvPr id="50" name="Shape 47"/>
          <p:cNvSpPr/>
          <p:nvPr/>
        </p:nvSpPr>
        <p:spPr>
          <a:xfrm>
            <a:off x="10104120" y="2505456"/>
            <a:ext cx="1645920" cy="621792"/>
          </a:xfrm>
          <a:prstGeom prst="roundRect">
            <a:avLst>
              <a:gd name="adj" fmla="val 10294"/>
            </a:avLst>
          </a:prstGeom>
          <a:solidFill>
            <a:srgbClr val="FFFFFF"/>
          </a:solidFill>
          <a:ln w="12700">
            <a:solidFill>
              <a:srgbClr val="DCE3EE"/>
            </a:solidFill>
            <a:prstDash val="solid"/>
          </a:ln>
        </p:spPr>
      </p:sp>
      <p:sp>
        <p:nvSpPr>
          <p:cNvPr id="51" name="Text 48"/>
          <p:cNvSpPr/>
          <p:nvPr/>
        </p:nvSpPr>
        <p:spPr>
          <a:xfrm>
            <a:off x="10222992" y="2505456"/>
            <a:ext cx="140817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8-bucket cost — every</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figure shows its basis</a:t>
            </a:r>
            <a:endParaRPr lang="en-US" sz="860" dirty="0"/>
          </a:p>
        </p:txBody>
      </p:sp>
      <p:sp>
        <p:nvSpPr>
          <p:cNvPr id="52" name="Shape 49"/>
          <p:cNvSpPr/>
          <p:nvPr/>
        </p:nvSpPr>
        <p:spPr>
          <a:xfrm>
            <a:off x="10104120" y="3200400"/>
            <a:ext cx="1645920" cy="621792"/>
          </a:xfrm>
          <a:prstGeom prst="roundRect">
            <a:avLst>
              <a:gd name="adj" fmla="val 10294"/>
            </a:avLst>
          </a:prstGeom>
          <a:solidFill>
            <a:srgbClr val="FFFFFF"/>
          </a:solidFill>
          <a:ln w="12700">
            <a:solidFill>
              <a:srgbClr val="DCE3EE"/>
            </a:solidFill>
            <a:prstDash val="solid"/>
          </a:ln>
        </p:spPr>
      </p:sp>
      <p:sp>
        <p:nvSpPr>
          <p:cNvPr id="53" name="Text 50"/>
          <p:cNvSpPr/>
          <p:nvPr/>
        </p:nvSpPr>
        <p:spPr>
          <a:xfrm>
            <a:off x="10222992" y="3200400"/>
            <a:ext cx="140817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Operation list —</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what takes the time</a:t>
            </a:r>
            <a:endParaRPr lang="en-US" sz="860" dirty="0"/>
          </a:p>
        </p:txBody>
      </p:sp>
      <p:sp>
        <p:nvSpPr>
          <p:cNvPr id="54" name="Shape 51"/>
          <p:cNvSpPr/>
          <p:nvPr/>
        </p:nvSpPr>
        <p:spPr>
          <a:xfrm>
            <a:off x="10104120" y="3895344"/>
            <a:ext cx="1645920" cy="621792"/>
          </a:xfrm>
          <a:prstGeom prst="roundRect">
            <a:avLst>
              <a:gd name="adj" fmla="val 10294"/>
            </a:avLst>
          </a:prstGeom>
          <a:solidFill>
            <a:srgbClr val="FFFFFF"/>
          </a:solidFill>
          <a:ln w="12700">
            <a:solidFill>
              <a:srgbClr val="DCE3EE"/>
            </a:solidFill>
            <a:prstDash val="solid"/>
          </a:ln>
        </p:spPr>
      </p:sp>
      <p:sp>
        <p:nvSpPr>
          <p:cNvPr id="55" name="Text 52"/>
          <p:cNvSpPr/>
          <p:nvPr/>
        </p:nvSpPr>
        <p:spPr>
          <a:xfrm>
            <a:off x="10222992" y="3895344"/>
            <a:ext cx="140817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Confidence band +</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20-country comparison</a:t>
            </a:r>
            <a:endParaRPr lang="en-US" sz="860" dirty="0"/>
          </a:p>
        </p:txBody>
      </p:sp>
      <p:sp>
        <p:nvSpPr>
          <p:cNvPr id="56" name="Shape 53"/>
          <p:cNvSpPr/>
          <p:nvPr/>
        </p:nvSpPr>
        <p:spPr>
          <a:xfrm>
            <a:off x="10104120" y="4590288"/>
            <a:ext cx="1645920" cy="621792"/>
          </a:xfrm>
          <a:prstGeom prst="roundRect">
            <a:avLst>
              <a:gd name="adj" fmla="val 10294"/>
            </a:avLst>
          </a:prstGeom>
          <a:solidFill>
            <a:srgbClr val="FFFFFF"/>
          </a:solidFill>
          <a:ln w="12700">
            <a:solidFill>
              <a:srgbClr val="DCE3EE"/>
            </a:solidFill>
            <a:prstDash val="solid"/>
          </a:ln>
        </p:spPr>
      </p:sp>
      <p:sp>
        <p:nvSpPr>
          <p:cNvPr id="57" name="Text 54"/>
          <p:cNvSpPr/>
          <p:nvPr/>
        </p:nvSpPr>
        <p:spPr>
          <a:xfrm>
            <a:off x="10222992" y="4590288"/>
            <a:ext cx="140817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DFM/DFA + savings</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ranked in £/part</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(engine, not AI)</a:t>
            </a:r>
            <a:endParaRPr lang="en-US" sz="860" dirty="0"/>
          </a:p>
        </p:txBody>
      </p:sp>
      <p:sp>
        <p:nvSpPr>
          <p:cNvPr id="58" name="Shape 55"/>
          <p:cNvSpPr/>
          <p:nvPr/>
        </p:nvSpPr>
        <p:spPr>
          <a:xfrm>
            <a:off x="10104120" y="5285232"/>
            <a:ext cx="1645920" cy="621792"/>
          </a:xfrm>
          <a:prstGeom prst="roundRect">
            <a:avLst>
              <a:gd name="adj" fmla="val 10294"/>
            </a:avLst>
          </a:prstGeom>
          <a:solidFill>
            <a:srgbClr val="FFFFFF"/>
          </a:solidFill>
          <a:ln w="12700">
            <a:solidFill>
              <a:srgbClr val="DCE3EE"/>
            </a:solidFill>
            <a:prstDash val="solid"/>
          </a:ln>
        </p:spPr>
      </p:sp>
      <p:sp>
        <p:nvSpPr>
          <p:cNvPr id="59" name="Text 56"/>
          <p:cNvSpPr/>
          <p:nvPr/>
        </p:nvSpPr>
        <p:spPr>
          <a:xfrm>
            <a:off x="10222992" y="5285232"/>
            <a:ext cx="1408176" cy="621792"/>
          </a:xfrm>
          <a:prstGeom prst="rect">
            <a:avLst/>
          </a:prstGeom>
          <a:noFill/>
          <a:ln/>
        </p:spPr>
        <p:txBody>
          <a:bodyPr wrap="square" lIns="0" tIns="0" rIns="0" bIns="0" rtlCol="0" anchor="ctr"/>
          <a:lstStyle/>
          <a:p>
            <a:pPr indent="0" marL="0">
              <a:buNone/>
            </a:pPr>
            <a:r>
              <a:rPr lang="en-US" sz="860" dirty="0">
                <a:solidFill>
                  <a:srgbClr val="3A4356"/>
                </a:solidFill>
                <a:latin typeface="Calibri" pitchFamily="34" charset="0"/>
                <a:ea typeface="Calibri" pitchFamily="34" charset="-122"/>
                <a:cs typeface="Calibri" pitchFamily="34" charset="-120"/>
              </a:rPr>
              <a:t>PDF · Excel · PowerPoint</a:t>
            </a:r>
            <a:endParaRPr lang="en-US" sz="860" dirty="0"/>
          </a:p>
          <a:p>
            <a:pPr indent="0" marL="0">
              <a:buNone/>
            </a:pPr>
            <a:r>
              <a:rPr lang="en-US" sz="860" dirty="0">
                <a:solidFill>
                  <a:srgbClr val="3A4356"/>
                </a:solidFill>
                <a:latin typeface="Calibri" pitchFamily="34" charset="0"/>
                <a:ea typeface="Calibri" pitchFamily="34" charset="-122"/>
                <a:cs typeface="Calibri" pitchFamily="34" charset="-120"/>
              </a:rPr>
              <a:t>negotiation pack</a:t>
            </a:r>
            <a:endParaRPr lang="en-US" sz="860" dirty="0"/>
          </a:p>
        </p:txBody>
      </p:sp>
      <p:sp>
        <p:nvSpPr>
          <p:cNvPr id="60" name="Shape 57"/>
          <p:cNvSpPr/>
          <p:nvPr/>
        </p:nvSpPr>
        <p:spPr>
          <a:xfrm>
            <a:off x="2606040" y="2450592"/>
            <a:ext cx="1920240" cy="1115568"/>
          </a:xfrm>
          <a:prstGeom prst="roundRect">
            <a:avLst>
              <a:gd name="adj" fmla="val 7377"/>
            </a:avLst>
          </a:prstGeom>
          <a:solidFill>
            <a:srgbClr val="E8F1FA"/>
          </a:solidFill>
          <a:ln w="17780">
            <a:solidFill>
              <a:srgbClr val="1D6FB8"/>
            </a:solidFill>
            <a:prstDash val="solid"/>
          </a:ln>
        </p:spPr>
      </p:sp>
      <p:sp>
        <p:nvSpPr>
          <p:cNvPr id="61" name="Shape 58"/>
          <p:cNvSpPr/>
          <p:nvPr/>
        </p:nvSpPr>
        <p:spPr>
          <a:xfrm>
            <a:off x="2734056" y="2560320"/>
            <a:ext cx="310896" cy="310896"/>
          </a:xfrm>
          <a:prstGeom prst="ellipse">
            <a:avLst/>
          </a:prstGeom>
          <a:solidFill>
            <a:srgbClr val="1D6FB8"/>
          </a:solidFill>
          <a:ln/>
        </p:spPr>
      </p:sp>
      <p:pic>
        <p:nvPicPr>
          <p:cNvPr id="62" name="Image 1" descr="preencoded.png">    </p:cNvPr>
          <p:cNvPicPr>
            <a:picLocks noChangeAspect="1"/>
          </p:cNvPicPr>
          <p:nvPr/>
        </p:nvPicPr>
        <p:blipFill>
          <a:blip r:embed="rId2"/>
          <a:stretch>
            <a:fillRect/>
          </a:stretch>
        </p:blipFill>
        <p:spPr>
          <a:xfrm>
            <a:off x="2807208" y="2633472"/>
            <a:ext cx="164592" cy="164592"/>
          </a:xfrm>
          <a:prstGeom prst="rect">
            <a:avLst/>
          </a:prstGeom>
        </p:spPr>
      </p:pic>
      <p:sp>
        <p:nvSpPr>
          <p:cNvPr id="63" name="Text 59"/>
          <p:cNvSpPr/>
          <p:nvPr/>
        </p:nvSpPr>
        <p:spPr>
          <a:xfrm>
            <a:off x="3118104" y="2551176"/>
            <a:ext cx="1280160" cy="274320"/>
          </a:xfrm>
          <a:prstGeom prst="rect">
            <a:avLst/>
          </a:prstGeom>
          <a:noFill/>
          <a:ln/>
        </p:spPr>
        <p:txBody>
          <a:bodyPr wrap="square" lIns="0" tIns="0" rIns="0" bIns="0" rtlCol="0" anchor="ctr"/>
          <a:lstStyle/>
          <a:p>
            <a:pPr indent="0" marL="0">
              <a:buNone/>
            </a:pPr>
            <a:r>
              <a:rPr lang="en-US" sz="1000" b="1" dirty="0">
                <a:solidFill>
                  <a:srgbClr val="1D6FB8"/>
                </a:solidFill>
                <a:latin typeface="Calibri" pitchFamily="34" charset="0"/>
                <a:ea typeface="Calibri" pitchFamily="34" charset="-122"/>
                <a:cs typeface="Calibri" pitchFamily="34" charset="-120"/>
              </a:rPr>
              <a:t>Geometry kernel</a:t>
            </a:r>
            <a:endParaRPr lang="en-US" sz="1000" dirty="0"/>
          </a:p>
        </p:txBody>
      </p:sp>
      <p:sp>
        <p:nvSpPr>
          <p:cNvPr id="64" name="Text 60"/>
          <p:cNvSpPr/>
          <p:nvPr/>
        </p:nvSpPr>
        <p:spPr>
          <a:xfrm>
            <a:off x="2752344" y="2880360"/>
            <a:ext cx="1627632" cy="56692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OCCT measures the part: volume, walls, holes, faces, topology. Never guessed.</a:t>
            </a:r>
            <a:endParaRPr lang="en-US" sz="820" dirty="0"/>
          </a:p>
        </p:txBody>
      </p:sp>
      <p:sp>
        <p:nvSpPr>
          <p:cNvPr id="65" name="Shape 61"/>
          <p:cNvSpPr/>
          <p:nvPr/>
        </p:nvSpPr>
        <p:spPr>
          <a:xfrm>
            <a:off x="2606040" y="3712464"/>
            <a:ext cx="1920240" cy="1115568"/>
          </a:xfrm>
          <a:prstGeom prst="roundRect">
            <a:avLst>
              <a:gd name="adj" fmla="val 7377"/>
            </a:avLst>
          </a:prstGeom>
          <a:solidFill>
            <a:srgbClr val="EEF2FF"/>
          </a:solidFill>
          <a:ln w="17780">
            <a:solidFill>
              <a:srgbClr val="4F46E5"/>
            </a:solidFill>
            <a:prstDash val="solid"/>
          </a:ln>
        </p:spPr>
      </p:sp>
      <p:sp>
        <p:nvSpPr>
          <p:cNvPr id="66" name="Shape 62"/>
          <p:cNvSpPr/>
          <p:nvPr/>
        </p:nvSpPr>
        <p:spPr>
          <a:xfrm>
            <a:off x="2734056" y="3822192"/>
            <a:ext cx="310896" cy="310896"/>
          </a:xfrm>
          <a:prstGeom prst="ellipse">
            <a:avLst/>
          </a:prstGeom>
          <a:solidFill>
            <a:srgbClr val="4F46E5"/>
          </a:solidFill>
          <a:ln/>
        </p:spPr>
      </p:sp>
      <p:pic>
        <p:nvPicPr>
          <p:cNvPr id="67" name="Image 2" descr="preencoded.png">    </p:cNvPr>
          <p:cNvPicPr>
            <a:picLocks noChangeAspect="1"/>
          </p:cNvPicPr>
          <p:nvPr/>
        </p:nvPicPr>
        <p:blipFill>
          <a:blip r:embed="rId3"/>
          <a:stretch>
            <a:fillRect/>
          </a:stretch>
        </p:blipFill>
        <p:spPr>
          <a:xfrm>
            <a:off x="2807208" y="3895344"/>
            <a:ext cx="164592" cy="164592"/>
          </a:xfrm>
          <a:prstGeom prst="rect">
            <a:avLst/>
          </a:prstGeom>
        </p:spPr>
      </p:pic>
      <p:sp>
        <p:nvSpPr>
          <p:cNvPr id="68" name="Text 63"/>
          <p:cNvSpPr/>
          <p:nvPr/>
        </p:nvSpPr>
        <p:spPr>
          <a:xfrm>
            <a:off x="3118104" y="3813048"/>
            <a:ext cx="1280160" cy="27432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Rules + optimisers</a:t>
            </a:r>
            <a:endParaRPr lang="en-US" sz="1000" dirty="0"/>
          </a:p>
        </p:txBody>
      </p:sp>
      <p:sp>
        <p:nvSpPr>
          <p:cNvPr id="69" name="Text 64"/>
          <p:cNvSpPr/>
          <p:nvPr/>
        </p:nvSpPr>
        <p:spPr>
          <a:xfrm>
            <a:off x="2752344" y="4142232"/>
            <a:ext cx="1627632" cy="56692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Derive every input AND pick the machine: press/die tonnage by physics; routing &amp; cavitation cost-ranked.</a:t>
            </a:r>
            <a:endParaRPr lang="en-US" sz="820" dirty="0"/>
          </a:p>
        </p:txBody>
      </p:sp>
      <p:sp>
        <p:nvSpPr>
          <p:cNvPr id="70" name="Shape 65"/>
          <p:cNvSpPr/>
          <p:nvPr/>
        </p:nvSpPr>
        <p:spPr>
          <a:xfrm>
            <a:off x="2606040" y="4974336"/>
            <a:ext cx="1920240" cy="932688"/>
          </a:xfrm>
          <a:prstGeom prst="roundRect">
            <a:avLst>
              <a:gd name="adj" fmla="val 8824"/>
            </a:avLst>
          </a:prstGeom>
          <a:solidFill>
            <a:srgbClr val="EAF6EF"/>
          </a:solidFill>
          <a:ln w="17780">
            <a:solidFill>
              <a:srgbClr val="2A7F50"/>
            </a:solidFill>
            <a:prstDash val="solid"/>
          </a:ln>
        </p:spPr>
      </p:sp>
      <p:sp>
        <p:nvSpPr>
          <p:cNvPr id="71" name="Shape 66"/>
          <p:cNvSpPr/>
          <p:nvPr/>
        </p:nvSpPr>
        <p:spPr>
          <a:xfrm>
            <a:off x="2734056" y="5084064"/>
            <a:ext cx="310896" cy="310896"/>
          </a:xfrm>
          <a:prstGeom prst="ellipse">
            <a:avLst/>
          </a:prstGeom>
          <a:solidFill>
            <a:srgbClr val="2A7F50"/>
          </a:solidFill>
          <a:ln/>
        </p:spPr>
      </p:sp>
      <p:pic>
        <p:nvPicPr>
          <p:cNvPr id="72" name="Image 3" descr="preencoded.png">    </p:cNvPr>
          <p:cNvPicPr>
            <a:picLocks noChangeAspect="1"/>
          </p:cNvPicPr>
          <p:nvPr/>
        </p:nvPicPr>
        <p:blipFill>
          <a:blip r:embed="rId4"/>
          <a:stretch>
            <a:fillRect/>
          </a:stretch>
        </p:blipFill>
        <p:spPr>
          <a:xfrm>
            <a:off x="2807208" y="5157216"/>
            <a:ext cx="164592" cy="164592"/>
          </a:xfrm>
          <a:prstGeom prst="rect">
            <a:avLst/>
          </a:prstGeom>
        </p:spPr>
      </p:pic>
      <p:sp>
        <p:nvSpPr>
          <p:cNvPr id="73" name="Text 67"/>
          <p:cNvSpPr/>
          <p:nvPr/>
        </p:nvSpPr>
        <p:spPr>
          <a:xfrm>
            <a:off x="3118104" y="5074920"/>
            <a:ext cx="1280160" cy="274320"/>
          </a:xfrm>
          <a:prstGeom prst="rect">
            <a:avLst/>
          </a:prstGeom>
          <a:noFill/>
          <a:ln/>
        </p:spPr>
        <p:txBody>
          <a:bodyPr wrap="square" lIns="0" tIns="0" rIns="0" bIns="0" rtlCol="0" anchor="ctr"/>
          <a:lstStyle/>
          <a:p>
            <a:pPr indent="0" marL="0">
              <a:buNone/>
            </a:pPr>
            <a:r>
              <a:rPr lang="en-US" sz="1000" b="1" dirty="0">
                <a:solidFill>
                  <a:srgbClr val="2A7F50"/>
                </a:solidFill>
                <a:latin typeface="Calibri" pitchFamily="34" charset="0"/>
                <a:ea typeface="Calibri" pitchFamily="34" charset="-122"/>
                <a:cs typeface="Calibri" pitchFamily="34" charset="-120"/>
              </a:rPr>
              <a:t>The engineer</a:t>
            </a:r>
            <a:endParaRPr lang="en-US" sz="1000" dirty="0"/>
          </a:p>
        </p:txBody>
      </p:sp>
      <p:sp>
        <p:nvSpPr>
          <p:cNvPr id="74" name="Text 68"/>
          <p:cNvSpPr/>
          <p:nvPr/>
        </p:nvSpPr>
        <p:spPr>
          <a:xfrm>
            <a:off x="2752344" y="5404104"/>
            <a:ext cx="1627632" cy="38404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Answers only what geometry cannot know: material, duty, volume, region. Hard stop — no silent guess.</a:t>
            </a:r>
            <a:endParaRPr lang="en-US" sz="820" dirty="0"/>
          </a:p>
        </p:txBody>
      </p:sp>
      <p:sp>
        <p:nvSpPr>
          <p:cNvPr id="75" name="Shape 69"/>
          <p:cNvSpPr/>
          <p:nvPr/>
        </p:nvSpPr>
        <p:spPr>
          <a:xfrm>
            <a:off x="4892040" y="2450592"/>
            <a:ext cx="1965960" cy="1115568"/>
          </a:xfrm>
          <a:prstGeom prst="roundRect">
            <a:avLst>
              <a:gd name="adj" fmla="val 7377"/>
            </a:avLst>
          </a:prstGeom>
          <a:solidFill>
            <a:srgbClr val="FCF3E3"/>
          </a:solidFill>
          <a:ln w="17780">
            <a:solidFill>
              <a:srgbClr val="99651A"/>
            </a:solidFill>
            <a:prstDash val="solid"/>
          </a:ln>
        </p:spPr>
      </p:sp>
      <p:sp>
        <p:nvSpPr>
          <p:cNvPr id="76" name="Shape 70"/>
          <p:cNvSpPr/>
          <p:nvPr/>
        </p:nvSpPr>
        <p:spPr>
          <a:xfrm>
            <a:off x="5020056" y="2560320"/>
            <a:ext cx="310896" cy="310896"/>
          </a:xfrm>
          <a:prstGeom prst="ellipse">
            <a:avLst/>
          </a:prstGeom>
          <a:solidFill>
            <a:srgbClr val="99651A"/>
          </a:solidFill>
          <a:ln/>
        </p:spPr>
      </p:sp>
      <p:pic>
        <p:nvPicPr>
          <p:cNvPr id="77" name="Image 4" descr="preencoded.png">    </p:cNvPr>
          <p:cNvPicPr>
            <a:picLocks noChangeAspect="1"/>
          </p:cNvPicPr>
          <p:nvPr/>
        </p:nvPicPr>
        <p:blipFill>
          <a:blip r:embed="rId5"/>
          <a:stretch>
            <a:fillRect/>
          </a:stretch>
        </p:blipFill>
        <p:spPr>
          <a:xfrm>
            <a:off x="5093208" y="2633472"/>
            <a:ext cx="164592" cy="164592"/>
          </a:xfrm>
          <a:prstGeom prst="rect">
            <a:avLst/>
          </a:prstGeom>
        </p:spPr>
      </p:pic>
      <p:sp>
        <p:nvSpPr>
          <p:cNvPr id="78" name="Text 71"/>
          <p:cNvSpPr/>
          <p:nvPr/>
        </p:nvSpPr>
        <p:spPr>
          <a:xfrm>
            <a:off x="5404104" y="2551176"/>
            <a:ext cx="1325880" cy="274320"/>
          </a:xfrm>
          <a:prstGeom prst="rect">
            <a:avLst/>
          </a:prstGeom>
          <a:noFill/>
          <a:ln/>
        </p:spPr>
        <p:txBody>
          <a:bodyPr wrap="square" lIns="0" tIns="0" rIns="0" bIns="0" rtlCol="0" anchor="ctr"/>
          <a:lstStyle/>
          <a:p>
            <a:pPr indent="0" marL="0">
              <a:buNone/>
            </a:pPr>
            <a:r>
              <a:rPr lang="en-US" sz="1000" b="1" dirty="0">
                <a:solidFill>
                  <a:srgbClr val="99651A"/>
                </a:solidFill>
                <a:latin typeface="Calibri" pitchFamily="34" charset="0"/>
                <a:ea typeface="Calibri" pitchFamily="34" charset="-122"/>
                <a:cs typeface="Calibri" pitchFamily="34" charset="-120"/>
              </a:rPr>
              <a:t>Guardrails</a:t>
            </a:r>
            <a:endParaRPr lang="en-US" sz="1000" dirty="0"/>
          </a:p>
        </p:txBody>
      </p:sp>
      <p:sp>
        <p:nvSpPr>
          <p:cNvPr id="79" name="Text 72"/>
          <p:cNvSpPr/>
          <p:nvPr/>
        </p:nvSpPr>
        <p:spPr>
          <a:xfrm>
            <a:off x="5038344" y="2880360"/>
            <a:ext cx="1673352" cy="56692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Sanity checks + physics caps; a self-audit challenges every estimate (machine sizing flagged in £/part). Measurements always win.</a:t>
            </a:r>
            <a:endParaRPr lang="en-US" sz="820" dirty="0"/>
          </a:p>
        </p:txBody>
      </p:sp>
      <p:sp>
        <p:nvSpPr>
          <p:cNvPr id="80" name="Shape 73"/>
          <p:cNvSpPr/>
          <p:nvPr/>
        </p:nvSpPr>
        <p:spPr>
          <a:xfrm>
            <a:off x="7772400" y="2450592"/>
            <a:ext cx="1920240" cy="1115568"/>
          </a:xfrm>
          <a:prstGeom prst="roundRect">
            <a:avLst>
              <a:gd name="adj" fmla="val 7377"/>
            </a:avLst>
          </a:prstGeom>
          <a:solidFill>
            <a:srgbClr val="E6F4F1"/>
          </a:solidFill>
          <a:ln w="17780">
            <a:solidFill>
              <a:srgbClr val="0D7D71"/>
            </a:solidFill>
            <a:prstDash val="solid"/>
          </a:ln>
        </p:spPr>
      </p:sp>
      <p:sp>
        <p:nvSpPr>
          <p:cNvPr id="81" name="Shape 74"/>
          <p:cNvSpPr/>
          <p:nvPr/>
        </p:nvSpPr>
        <p:spPr>
          <a:xfrm>
            <a:off x="7900416" y="2560320"/>
            <a:ext cx="310896" cy="310896"/>
          </a:xfrm>
          <a:prstGeom prst="ellipse">
            <a:avLst/>
          </a:prstGeom>
          <a:solidFill>
            <a:srgbClr val="0D7D71"/>
          </a:solidFill>
          <a:ln/>
        </p:spPr>
      </p:sp>
      <p:pic>
        <p:nvPicPr>
          <p:cNvPr id="82" name="Image 5" descr="preencoded.png">    </p:cNvPr>
          <p:cNvPicPr>
            <a:picLocks noChangeAspect="1"/>
          </p:cNvPicPr>
          <p:nvPr/>
        </p:nvPicPr>
        <p:blipFill>
          <a:blip r:embed="rId6"/>
          <a:stretch>
            <a:fillRect/>
          </a:stretch>
        </p:blipFill>
        <p:spPr>
          <a:xfrm>
            <a:off x="7973568" y="2633472"/>
            <a:ext cx="164592" cy="164592"/>
          </a:xfrm>
          <a:prstGeom prst="rect">
            <a:avLst/>
          </a:prstGeom>
        </p:spPr>
      </p:pic>
      <p:sp>
        <p:nvSpPr>
          <p:cNvPr id="83" name="Text 75"/>
          <p:cNvSpPr/>
          <p:nvPr/>
        </p:nvSpPr>
        <p:spPr>
          <a:xfrm>
            <a:off x="8284464" y="2551176"/>
            <a:ext cx="128016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Rate library</a:t>
            </a:r>
            <a:endParaRPr lang="en-US" sz="1000" dirty="0"/>
          </a:p>
        </p:txBody>
      </p:sp>
      <p:sp>
        <p:nvSpPr>
          <p:cNvPr id="84" name="Text 76"/>
          <p:cNvSpPr/>
          <p:nvPr/>
        </p:nvSpPr>
        <p:spPr>
          <a:xfrm>
            <a:off x="7918704" y="2880360"/>
            <a:ext cx="1627632" cy="56692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Materials, machines, labour, 20 regions. The only source of money in the tool.</a:t>
            </a:r>
            <a:endParaRPr lang="en-US" sz="820" dirty="0"/>
          </a:p>
        </p:txBody>
      </p:sp>
      <p:sp>
        <p:nvSpPr>
          <p:cNvPr id="85" name="Shape 77"/>
          <p:cNvSpPr/>
          <p:nvPr/>
        </p:nvSpPr>
        <p:spPr>
          <a:xfrm>
            <a:off x="7772400" y="3712464"/>
            <a:ext cx="1920240" cy="1115568"/>
          </a:xfrm>
          <a:prstGeom prst="roundRect">
            <a:avLst>
              <a:gd name="adj" fmla="val 7377"/>
            </a:avLst>
          </a:prstGeom>
          <a:solidFill>
            <a:srgbClr val="E6F4F1"/>
          </a:solidFill>
          <a:ln w="17780">
            <a:solidFill>
              <a:srgbClr val="0D7D71"/>
            </a:solidFill>
            <a:prstDash val="solid"/>
          </a:ln>
        </p:spPr>
      </p:sp>
      <p:sp>
        <p:nvSpPr>
          <p:cNvPr id="86" name="Shape 78"/>
          <p:cNvSpPr/>
          <p:nvPr/>
        </p:nvSpPr>
        <p:spPr>
          <a:xfrm>
            <a:off x="7900416" y="3822192"/>
            <a:ext cx="310896" cy="310896"/>
          </a:xfrm>
          <a:prstGeom prst="ellipse">
            <a:avLst/>
          </a:prstGeom>
          <a:solidFill>
            <a:srgbClr val="0D7D71"/>
          </a:solidFill>
          <a:ln/>
        </p:spPr>
      </p:sp>
      <p:pic>
        <p:nvPicPr>
          <p:cNvPr id="87" name="Image 6" descr="preencoded.png">    </p:cNvPr>
          <p:cNvPicPr>
            <a:picLocks noChangeAspect="1"/>
          </p:cNvPicPr>
          <p:nvPr/>
        </p:nvPicPr>
        <p:blipFill>
          <a:blip r:embed="rId7"/>
          <a:stretch>
            <a:fillRect/>
          </a:stretch>
        </p:blipFill>
        <p:spPr>
          <a:xfrm>
            <a:off x="7973568" y="3895344"/>
            <a:ext cx="164592" cy="164592"/>
          </a:xfrm>
          <a:prstGeom prst="rect">
            <a:avLst/>
          </a:prstGeom>
        </p:spPr>
      </p:pic>
      <p:sp>
        <p:nvSpPr>
          <p:cNvPr id="88" name="Text 79"/>
          <p:cNvSpPr/>
          <p:nvPr/>
        </p:nvSpPr>
        <p:spPr>
          <a:xfrm>
            <a:off x="8284464" y="3813048"/>
            <a:ext cx="128016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Local database</a:t>
            </a:r>
            <a:endParaRPr lang="en-US" sz="1000" dirty="0"/>
          </a:p>
        </p:txBody>
      </p:sp>
      <p:sp>
        <p:nvSpPr>
          <p:cNvPr id="89" name="Text 80"/>
          <p:cNvSpPr/>
          <p:nvPr/>
        </p:nvSpPr>
        <p:spPr>
          <a:xfrm>
            <a:off x="7918704" y="4142232"/>
            <a:ext cx="1627632" cy="56692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Parts, quotes, real actuals — the learning loop that calibrates the estimates.</a:t>
            </a:r>
            <a:endParaRPr lang="en-US" sz="820" dirty="0"/>
          </a:p>
        </p:txBody>
      </p:sp>
      <p:sp>
        <p:nvSpPr>
          <p:cNvPr id="90" name="Shape 81"/>
          <p:cNvSpPr/>
          <p:nvPr/>
        </p:nvSpPr>
        <p:spPr>
          <a:xfrm>
            <a:off x="7772400" y="4974336"/>
            <a:ext cx="1920240" cy="932688"/>
          </a:xfrm>
          <a:prstGeom prst="roundRect">
            <a:avLst>
              <a:gd name="adj" fmla="val 8824"/>
            </a:avLst>
          </a:prstGeom>
          <a:solidFill>
            <a:srgbClr val="EAF6EF"/>
          </a:solidFill>
          <a:ln w="17780">
            <a:solidFill>
              <a:srgbClr val="2A7F50"/>
            </a:solidFill>
            <a:prstDash val="solid"/>
          </a:ln>
        </p:spPr>
      </p:sp>
      <p:sp>
        <p:nvSpPr>
          <p:cNvPr id="91" name="Text 82"/>
          <p:cNvSpPr/>
          <p:nvPr/>
        </p:nvSpPr>
        <p:spPr>
          <a:xfrm>
            <a:off x="7918704" y="5074920"/>
            <a:ext cx="1627632" cy="274320"/>
          </a:xfrm>
          <a:prstGeom prst="rect">
            <a:avLst/>
          </a:prstGeom>
          <a:noFill/>
          <a:ln/>
        </p:spPr>
        <p:txBody>
          <a:bodyPr wrap="square" lIns="0" tIns="0" rIns="0" bIns="0" rtlCol="0" anchor="ctr"/>
          <a:lstStyle/>
          <a:p>
            <a:pPr indent="0" marL="0">
              <a:buNone/>
            </a:pPr>
            <a:r>
              <a:rPr lang="en-US" sz="1000" b="1" dirty="0">
                <a:solidFill>
                  <a:srgbClr val="2A7F50"/>
                </a:solidFill>
                <a:latin typeface="Calibri" pitchFamily="34" charset="0"/>
                <a:ea typeface="Calibri" pitchFamily="34" charset="-122"/>
                <a:cs typeface="Calibri" pitchFamily="34" charset="-120"/>
              </a:rPr>
              <a:t>Uncertainty</a:t>
            </a:r>
            <a:endParaRPr lang="en-US" sz="1000" dirty="0"/>
          </a:p>
        </p:txBody>
      </p:sp>
      <p:sp>
        <p:nvSpPr>
          <p:cNvPr id="92" name="Text 83"/>
          <p:cNvSpPr/>
          <p:nvPr/>
        </p:nvSpPr>
        <p:spPr>
          <a:xfrm>
            <a:off x="7918704" y="5404104"/>
            <a:ext cx="1627632" cy="384048"/>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Monte-Carlo band (P10–P90), corrected by real actuals once 3 are logged.</a:t>
            </a:r>
            <a:endParaRPr lang="en-US" sz="820" dirty="0"/>
          </a:p>
        </p:txBody>
      </p:sp>
      <p:sp>
        <p:nvSpPr>
          <p:cNvPr id="93" name="Shape 84"/>
          <p:cNvSpPr/>
          <p:nvPr/>
        </p:nvSpPr>
        <p:spPr>
          <a:xfrm>
            <a:off x="4892040" y="3712464"/>
            <a:ext cx="1965960" cy="1444752"/>
          </a:xfrm>
          <a:prstGeom prst="roundRect">
            <a:avLst>
              <a:gd name="adj" fmla="val 6329"/>
            </a:avLst>
          </a:prstGeom>
          <a:solidFill>
            <a:srgbClr val="0E5A5A"/>
          </a:solidFill>
          <a:ln/>
        </p:spPr>
      </p:sp>
      <p:sp>
        <p:nvSpPr>
          <p:cNvPr id="94" name="Shape 85"/>
          <p:cNvSpPr/>
          <p:nvPr/>
        </p:nvSpPr>
        <p:spPr>
          <a:xfrm>
            <a:off x="5632704" y="3840480"/>
            <a:ext cx="457200" cy="457200"/>
          </a:xfrm>
          <a:prstGeom prst="ellipse">
            <a:avLst/>
          </a:prstGeom>
          <a:solidFill>
            <a:srgbClr val="17A398"/>
          </a:solidFill>
          <a:ln/>
        </p:spPr>
      </p:sp>
      <p:pic>
        <p:nvPicPr>
          <p:cNvPr id="95" name="Image 7" descr="preencoded.png">    </p:cNvPr>
          <p:cNvPicPr>
            <a:picLocks noChangeAspect="1"/>
          </p:cNvPicPr>
          <p:nvPr/>
        </p:nvPicPr>
        <p:blipFill>
          <a:blip r:embed="rId8"/>
          <a:stretch>
            <a:fillRect/>
          </a:stretch>
        </p:blipFill>
        <p:spPr>
          <a:xfrm>
            <a:off x="5751576" y="3959352"/>
            <a:ext cx="219456" cy="219456"/>
          </a:xfrm>
          <a:prstGeom prst="rect">
            <a:avLst/>
          </a:prstGeom>
        </p:spPr>
      </p:pic>
      <p:sp>
        <p:nvSpPr>
          <p:cNvPr id="96" name="Text 86"/>
          <p:cNvSpPr/>
          <p:nvPr/>
        </p:nvSpPr>
        <p:spPr>
          <a:xfrm>
            <a:off x="4983480" y="4352544"/>
            <a:ext cx="1783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 ENGINE</a:t>
            </a:r>
            <a:endParaRPr lang="en-US" sz="1200" dirty="0"/>
          </a:p>
        </p:txBody>
      </p:sp>
      <p:sp>
        <p:nvSpPr>
          <p:cNvPr id="97" name="Text 87"/>
          <p:cNvSpPr/>
          <p:nvPr/>
        </p:nvSpPr>
        <p:spPr>
          <a:xfrm>
            <a:off x="4983480" y="4645152"/>
            <a:ext cx="1783080" cy="402336"/>
          </a:xfrm>
          <a:prstGeom prst="rect">
            <a:avLst/>
          </a:prstGeom>
          <a:noFill/>
          <a:ln/>
        </p:spPr>
        <p:txBody>
          <a:bodyPr wrap="square" lIns="0" tIns="0" rIns="0" bIns="0" rtlCol="0" anchor="t"/>
          <a:lstStyle/>
          <a:p>
            <a:pPr algn="ctr" indent="0" marL="0">
              <a:buNone/>
            </a:pPr>
            <a:r>
              <a:rPr lang="en-US" sz="820" dirty="0">
                <a:solidFill>
                  <a:srgbClr val="9FD9CF"/>
                </a:solidFill>
                <a:latin typeface="Calibri" pitchFamily="34" charset="0"/>
                <a:ea typeface="Calibri" pitchFamily="34" charset="-122"/>
                <a:cs typeface="Calibri" pitchFamily="34" charset="-120"/>
              </a:rPr>
              <a:t>Fixed arithmetic. 8 buckets.</a:t>
            </a:r>
            <a:endParaRPr lang="en-US" sz="820" dirty="0"/>
          </a:p>
          <a:p>
            <a:pPr algn="ctr" indent="0" marL="0">
              <a:buNone/>
            </a:pPr>
            <a:r>
              <a:rPr lang="en-US" sz="820" dirty="0">
                <a:solidFill>
                  <a:srgbClr val="9FD9CF"/>
                </a:solidFill>
                <a:latin typeface="Calibri" pitchFamily="34" charset="0"/>
                <a:ea typeface="Calibri" pitchFamily="34" charset="-122"/>
                <a:cs typeface="Calibri" pitchFamily="34" charset="-120"/>
              </a:rPr>
              <a:t>No AI, no judgement.</a:t>
            </a:r>
            <a:endParaRPr lang="en-US" sz="820" dirty="0"/>
          </a:p>
        </p:txBody>
      </p:sp>
      <p:sp>
        <p:nvSpPr>
          <p:cNvPr id="98" name="Shape 88"/>
          <p:cNvSpPr/>
          <p:nvPr/>
        </p:nvSpPr>
        <p:spPr>
          <a:xfrm>
            <a:off x="3904488" y="2368296"/>
            <a:ext cx="548640" cy="155448"/>
          </a:xfrm>
          <a:prstGeom prst="roundRect">
            <a:avLst>
              <a:gd name="adj" fmla="val 50000"/>
            </a:avLst>
          </a:prstGeom>
          <a:solidFill>
            <a:srgbClr val="1D6FB8"/>
          </a:solidFill>
          <a:ln/>
        </p:spPr>
      </p:sp>
      <p:sp>
        <p:nvSpPr>
          <p:cNvPr id="99" name="Text 89"/>
          <p:cNvSpPr/>
          <p:nvPr/>
        </p:nvSpPr>
        <p:spPr>
          <a:xfrm>
            <a:off x="3904488"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00" name="Shape 90"/>
          <p:cNvSpPr/>
          <p:nvPr/>
        </p:nvSpPr>
        <p:spPr>
          <a:xfrm>
            <a:off x="3904488" y="3630168"/>
            <a:ext cx="548640" cy="155448"/>
          </a:xfrm>
          <a:prstGeom prst="roundRect">
            <a:avLst>
              <a:gd name="adj" fmla="val 50000"/>
            </a:avLst>
          </a:prstGeom>
          <a:solidFill>
            <a:srgbClr val="4F46E5"/>
          </a:solidFill>
          <a:ln/>
        </p:spPr>
      </p:sp>
      <p:sp>
        <p:nvSpPr>
          <p:cNvPr id="101" name="Text 91"/>
          <p:cNvSpPr/>
          <p:nvPr/>
        </p:nvSpPr>
        <p:spPr>
          <a:xfrm>
            <a:off x="3904488" y="3630168"/>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02" name="Shape 92"/>
          <p:cNvSpPr/>
          <p:nvPr/>
        </p:nvSpPr>
        <p:spPr>
          <a:xfrm>
            <a:off x="6236208" y="2368296"/>
            <a:ext cx="548640" cy="155448"/>
          </a:xfrm>
          <a:prstGeom prst="roundRect">
            <a:avLst>
              <a:gd name="adj" fmla="val 50000"/>
            </a:avLst>
          </a:prstGeom>
          <a:solidFill>
            <a:srgbClr val="99651A"/>
          </a:solidFill>
          <a:ln/>
        </p:spPr>
      </p:sp>
      <p:sp>
        <p:nvSpPr>
          <p:cNvPr id="103" name="Text 93"/>
          <p:cNvSpPr/>
          <p:nvPr/>
        </p:nvSpPr>
        <p:spPr>
          <a:xfrm>
            <a:off x="6236208"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04" name="Shape 94"/>
          <p:cNvSpPr/>
          <p:nvPr/>
        </p:nvSpPr>
        <p:spPr>
          <a:xfrm>
            <a:off x="9070848" y="2368296"/>
            <a:ext cx="548640" cy="155448"/>
          </a:xfrm>
          <a:prstGeom prst="roundRect">
            <a:avLst>
              <a:gd name="adj" fmla="val 50000"/>
            </a:avLst>
          </a:prstGeom>
          <a:solidFill>
            <a:srgbClr val="0D7D71"/>
          </a:solidFill>
          <a:ln/>
        </p:spPr>
      </p:sp>
      <p:sp>
        <p:nvSpPr>
          <p:cNvPr id="105" name="Text 95"/>
          <p:cNvSpPr/>
          <p:nvPr/>
        </p:nvSpPr>
        <p:spPr>
          <a:xfrm>
            <a:off x="9070848"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06" name="Shape 96"/>
          <p:cNvSpPr/>
          <p:nvPr/>
        </p:nvSpPr>
        <p:spPr>
          <a:xfrm>
            <a:off x="9070848" y="3630168"/>
            <a:ext cx="548640" cy="155448"/>
          </a:xfrm>
          <a:prstGeom prst="roundRect">
            <a:avLst>
              <a:gd name="adj" fmla="val 50000"/>
            </a:avLst>
          </a:prstGeom>
          <a:solidFill>
            <a:srgbClr val="0D7D71"/>
          </a:solidFill>
          <a:ln/>
        </p:spPr>
      </p:sp>
      <p:sp>
        <p:nvSpPr>
          <p:cNvPr id="107" name="Text 97"/>
          <p:cNvSpPr/>
          <p:nvPr/>
        </p:nvSpPr>
        <p:spPr>
          <a:xfrm>
            <a:off x="9070848" y="3630168"/>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08" name="Shape 98"/>
          <p:cNvSpPr/>
          <p:nvPr/>
        </p:nvSpPr>
        <p:spPr>
          <a:xfrm>
            <a:off x="9070848" y="4892040"/>
            <a:ext cx="548640" cy="155448"/>
          </a:xfrm>
          <a:prstGeom prst="roundRect">
            <a:avLst>
              <a:gd name="adj" fmla="val 50000"/>
            </a:avLst>
          </a:prstGeom>
          <a:solidFill>
            <a:srgbClr val="2A7F50"/>
          </a:solidFill>
          <a:ln/>
        </p:spPr>
      </p:sp>
      <p:sp>
        <p:nvSpPr>
          <p:cNvPr id="109" name="Text 99"/>
          <p:cNvSpPr/>
          <p:nvPr/>
        </p:nvSpPr>
        <p:spPr>
          <a:xfrm>
            <a:off x="9070848" y="4892040"/>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10" name="Shape 100"/>
          <p:cNvSpPr/>
          <p:nvPr/>
        </p:nvSpPr>
        <p:spPr>
          <a:xfrm>
            <a:off x="6236208" y="3630168"/>
            <a:ext cx="548640" cy="155448"/>
          </a:xfrm>
          <a:prstGeom prst="roundRect">
            <a:avLst>
              <a:gd name="adj" fmla="val 50000"/>
            </a:avLst>
          </a:prstGeom>
          <a:solidFill>
            <a:srgbClr val="0D7D71"/>
          </a:solidFill>
          <a:ln/>
        </p:spPr>
      </p:sp>
      <p:sp>
        <p:nvSpPr>
          <p:cNvPr id="111" name="Text 101"/>
          <p:cNvSpPr/>
          <p:nvPr/>
        </p:nvSpPr>
        <p:spPr>
          <a:xfrm>
            <a:off x="6236208" y="3630168"/>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112" name="Shape 102"/>
          <p:cNvSpPr/>
          <p:nvPr/>
        </p:nvSpPr>
        <p:spPr>
          <a:xfrm>
            <a:off x="3904488" y="4892040"/>
            <a:ext cx="548640" cy="155448"/>
          </a:xfrm>
          <a:prstGeom prst="roundRect">
            <a:avLst>
              <a:gd name="adj" fmla="val 50000"/>
            </a:avLst>
          </a:prstGeom>
          <a:solidFill>
            <a:srgbClr val="2A7F50"/>
          </a:solidFill>
          <a:ln/>
        </p:spPr>
      </p:sp>
      <p:sp>
        <p:nvSpPr>
          <p:cNvPr id="113" name="Text 103"/>
          <p:cNvSpPr/>
          <p:nvPr/>
        </p:nvSpPr>
        <p:spPr>
          <a:xfrm>
            <a:off x="3904488" y="4892040"/>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HUMAN</a:t>
            </a:r>
            <a:endParaRPr lang="en-US" sz="750" dirty="0"/>
          </a:p>
        </p:txBody>
      </p:sp>
      <p:sp>
        <p:nvSpPr>
          <p:cNvPr id="114" name="Shape 104"/>
          <p:cNvSpPr/>
          <p:nvPr/>
        </p:nvSpPr>
        <p:spPr>
          <a:xfrm>
            <a:off x="2423160" y="3008376"/>
            <a:ext cx="182880" cy="0"/>
          </a:xfrm>
          <a:prstGeom prst="line">
            <a:avLst/>
          </a:prstGeom>
          <a:noFill/>
          <a:ln w="22225">
            <a:solidFill>
              <a:srgbClr val="1D6FB8"/>
            </a:solidFill>
            <a:prstDash val="solid"/>
            <a:tailEnd type="triangle"/>
          </a:ln>
        </p:spPr>
      </p:sp>
      <p:sp>
        <p:nvSpPr>
          <p:cNvPr id="115" name="Shape 105"/>
          <p:cNvSpPr/>
          <p:nvPr/>
        </p:nvSpPr>
        <p:spPr>
          <a:xfrm>
            <a:off x="2423160" y="5385816"/>
            <a:ext cx="182880" cy="0"/>
          </a:xfrm>
          <a:prstGeom prst="line">
            <a:avLst/>
          </a:prstGeom>
          <a:noFill/>
          <a:ln w="22225">
            <a:solidFill>
              <a:srgbClr val="1D6FB8"/>
            </a:solidFill>
            <a:prstDash val="solid"/>
            <a:tailEnd type="triangle"/>
          </a:ln>
        </p:spPr>
      </p:sp>
      <p:sp>
        <p:nvSpPr>
          <p:cNvPr id="116" name="Shape 106"/>
          <p:cNvSpPr/>
          <p:nvPr/>
        </p:nvSpPr>
        <p:spPr>
          <a:xfrm>
            <a:off x="3566160" y="3566160"/>
            <a:ext cx="0" cy="146304"/>
          </a:xfrm>
          <a:prstGeom prst="line">
            <a:avLst/>
          </a:prstGeom>
          <a:noFill/>
          <a:ln w="22225">
            <a:solidFill>
              <a:srgbClr val="1D6FB8"/>
            </a:solidFill>
            <a:prstDash val="solid"/>
            <a:tailEnd type="triangle"/>
          </a:ln>
        </p:spPr>
      </p:sp>
      <p:sp>
        <p:nvSpPr>
          <p:cNvPr id="117" name="Shape 107"/>
          <p:cNvSpPr/>
          <p:nvPr/>
        </p:nvSpPr>
        <p:spPr>
          <a:xfrm flipV="1">
            <a:off x="3566160" y="4828032"/>
            <a:ext cx="0" cy="146304"/>
          </a:xfrm>
          <a:prstGeom prst="line">
            <a:avLst/>
          </a:prstGeom>
          <a:noFill/>
          <a:ln w="22225">
            <a:solidFill>
              <a:srgbClr val="2A7F50"/>
            </a:solidFill>
            <a:prstDash val="solid"/>
            <a:tailEnd type="triangle"/>
          </a:ln>
        </p:spPr>
      </p:sp>
      <p:sp>
        <p:nvSpPr>
          <p:cNvPr id="118" name="Shape 108"/>
          <p:cNvSpPr/>
          <p:nvPr/>
        </p:nvSpPr>
        <p:spPr>
          <a:xfrm flipH="1">
            <a:off x="4526280" y="3008376"/>
            <a:ext cx="365760" cy="283464"/>
          </a:xfrm>
          <a:prstGeom prst="line">
            <a:avLst/>
          </a:prstGeom>
          <a:noFill/>
          <a:ln w="17780">
            <a:solidFill>
              <a:srgbClr val="99651A"/>
            </a:solidFill>
            <a:prstDash val="solid"/>
            <a:tailEnd type="triangle"/>
          </a:ln>
        </p:spPr>
      </p:sp>
      <p:sp>
        <p:nvSpPr>
          <p:cNvPr id="119" name="Shape 109"/>
          <p:cNvSpPr/>
          <p:nvPr/>
        </p:nvSpPr>
        <p:spPr>
          <a:xfrm>
            <a:off x="4526280" y="4270248"/>
            <a:ext cx="365760" cy="0"/>
          </a:xfrm>
          <a:prstGeom prst="line">
            <a:avLst/>
          </a:prstGeom>
          <a:noFill/>
          <a:ln w="22225">
            <a:solidFill>
              <a:srgbClr val="4F46E5"/>
            </a:solidFill>
            <a:prstDash val="solid"/>
            <a:tailEnd type="triangle"/>
          </a:ln>
        </p:spPr>
      </p:sp>
      <p:sp>
        <p:nvSpPr>
          <p:cNvPr id="120" name="Shape 110"/>
          <p:cNvSpPr/>
          <p:nvPr/>
        </p:nvSpPr>
        <p:spPr>
          <a:xfrm flipH="1">
            <a:off x="7223760" y="3008376"/>
            <a:ext cx="548640" cy="0"/>
          </a:xfrm>
          <a:prstGeom prst="line">
            <a:avLst/>
          </a:prstGeom>
          <a:noFill/>
          <a:ln w="22225">
            <a:solidFill>
              <a:srgbClr val="0D7D71"/>
            </a:solidFill>
            <a:prstDash val="solid"/>
            <a:tailEnd type="triangle"/>
          </a:ln>
        </p:spPr>
      </p:sp>
      <p:sp>
        <p:nvSpPr>
          <p:cNvPr id="121" name="Shape 111"/>
          <p:cNvSpPr/>
          <p:nvPr/>
        </p:nvSpPr>
        <p:spPr>
          <a:xfrm flipH="1">
            <a:off x="6858000" y="3008376"/>
            <a:ext cx="365760" cy="923544"/>
          </a:xfrm>
          <a:prstGeom prst="line">
            <a:avLst/>
          </a:prstGeom>
          <a:noFill/>
          <a:ln w="22225">
            <a:solidFill>
              <a:srgbClr val="0D7D71"/>
            </a:solidFill>
            <a:prstDash val="solid"/>
            <a:tailEnd type="triangle"/>
          </a:ln>
        </p:spPr>
      </p:sp>
      <p:sp>
        <p:nvSpPr>
          <p:cNvPr id="122" name="Shape 112"/>
          <p:cNvSpPr/>
          <p:nvPr/>
        </p:nvSpPr>
        <p:spPr>
          <a:xfrm flipH="1">
            <a:off x="6858000" y="4270248"/>
            <a:ext cx="914400" cy="0"/>
          </a:xfrm>
          <a:prstGeom prst="line">
            <a:avLst/>
          </a:prstGeom>
          <a:noFill/>
          <a:ln w="22225">
            <a:solidFill>
              <a:srgbClr val="0D7D71"/>
            </a:solidFill>
            <a:prstDash val="solid"/>
            <a:tailEnd type="triangle"/>
          </a:ln>
        </p:spPr>
      </p:sp>
      <p:sp>
        <p:nvSpPr>
          <p:cNvPr id="123" name="Shape 113"/>
          <p:cNvSpPr/>
          <p:nvPr/>
        </p:nvSpPr>
        <p:spPr>
          <a:xfrm>
            <a:off x="6858000" y="4846320"/>
            <a:ext cx="914400" cy="502920"/>
          </a:xfrm>
          <a:prstGeom prst="line">
            <a:avLst/>
          </a:prstGeom>
          <a:noFill/>
          <a:ln w="22225">
            <a:solidFill>
              <a:srgbClr val="2A7F50"/>
            </a:solidFill>
            <a:prstDash val="solid"/>
            <a:tailEnd type="triangle"/>
          </a:ln>
        </p:spPr>
      </p:sp>
      <p:sp>
        <p:nvSpPr>
          <p:cNvPr id="124" name="Shape 114"/>
          <p:cNvSpPr/>
          <p:nvPr/>
        </p:nvSpPr>
        <p:spPr>
          <a:xfrm>
            <a:off x="9692640" y="5440680"/>
            <a:ext cx="411480" cy="0"/>
          </a:xfrm>
          <a:prstGeom prst="line">
            <a:avLst/>
          </a:prstGeom>
          <a:noFill/>
          <a:ln w="22225">
            <a:solidFill>
              <a:srgbClr val="2A7F50"/>
            </a:solidFill>
            <a:prstDash val="solid"/>
            <a:tailEnd type="triangle"/>
          </a:ln>
        </p:spPr>
      </p:sp>
      <p:sp>
        <p:nvSpPr>
          <p:cNvPr id="125" name="Shape 115"/>
          <p:cNvSpPr/>
          <p:nvPr/>
        </p:nvSpPr>
        <p:spPr>
          <a:xfrm flipH="1">
            <a:off x="9692640" y="4498848"/>
            <a:ext cx="411480" cy="0"/>
          </a:xfrm>
          <a:prstGeom prst="line">
            <a:avLst/>
          </a:prstGeom>
          <a:noFill/>
          <a:ln w="17780">
            <a:solidFill>
              <a:srgbClr val="2A7F50"/>
            </a:solidFill>
            <a:prstDash val="dash"/>
            <a:tailEnd type="triangle"/>
          </a:ln>
        </p:spPr>
      </p:sp>
      <p:sp>
        <p:nvSpPr>
          <p:cNvPr id="126" name="Text 116"/>
          <p:cNvSpPr/>
          <p:nvPr/>
        </p:nvSpPr>
        <p:spPr>
          <a:xfrm>
            <a:off x="9656064" y="4114800"/>
            <a:ext cx="502920" cy="347472"/>
          </a:xfrm>
          <a:prstGeom prst="rect">
            <a:avLst/>
          </a:prstGeom>
          <a:noFill/>
          <a:ln/>
        </p:spPr>
        <p:txBody>
          <a:bodyPr wrap="square" lIns="0" tIns="0" rIns="0" bIns="0" rtlCol="0" anchor="t"/>
          <a:lstStyle/>
          <a:p>
            <a:pPr algn="ctr" indent="0" marL="0">
              <a:buNone/>
            </a:pPr>
            <a:r>
              <a:rPr lang="en-US" sz="750" i="1" dirty="0">
                <a:solidFill>
                  <a:srgbClr val="2A7F50"/>
                </a:solidFill>
                <a:latin typeface="Calibri" pitchFamily="34" charset="0"/>
                <a:ea typeface="Calibri" pitchFamily="34" charset="-122"/>
                <a:cs typeface="Calibri" pitchFamily="34" charset="-120"/>
              </a:rPr>
              <a:t>actuals</a:t>
            </a:r>
            <a:endParaRPr lang="en-US" sz="750" dirty="0"/>
          </a:p>
          <a:p>
            <a:pPr algn="ctr" indent="0" marL="0">
              <a:buNone/>
            </a:pPr>
            <a:r>
              <a:rPr lang="en-US" sz="750" i="1" dirty="0">
                <a:solidFill>
                  <a:srgbClr val="2A7F50"/>
                </a:solidFill>
                <a:latin typeface="Calibri" pitchFamily="34" charset="0"/>
                <a:ea typeface="Calibri" pitchFamily="34" charset="-122"/>
                <a:cs typeface="Calibri" pitchFamily="34" charset="-120"/>
              </a:rPr>
              <a:t>feed back</a:t>
            </a:r>
            <a:endParaRPr lang="en-US" sz="750" dirty="0"/>
          </a:p>
        </p:txBody>
      </p:sp>
      <p:sp>
        <p:nvSpPr>
          <p:cNvPr id="127" name="Shape 117"/>
          <p:cNvSpPr/>
          <p:nvPr/>
        </p:nvSpPr>
        <p:spPr>
          <a:xfrm>
            <a:off x="9692640" y="3008376"/>
            <a:ext cx="411480" cy="0"/>
          </a:xfrm>
          <a:prstGeom prst="line">
            <a:avLst/>
          </a:prstGeom>
          <a:noFill/>
          <a:ln w="22225">
            <a:solidFill>
              <a:srgbClr val="2A7F50"/>
            </a:solidFill>
            <a:prstDash val="solid"/>
            <a:tailEnd type="triangle"/>
          </a:ln>
        </p:spPr>
      </p:sp>
      <p:sp>
        <p:nvSpPr>
          <p:cNvPr id="128" name="Shape 118"/>
          <p:cNvSpPr/>
          <p:nvPr/>
        </p:nvSpPr>
        <p:spPr>
          <a:xfrm>
            <a:off x="411480" y="6126480"/>
            <a:ext cx="11338560" cy="384048"/>
          </a:xfrm>
          <a:prstGeom prst="roundRect">
            <a:avLst>
              <a:gd name="adj" fmla="val 19048"/>
            </a:avLst>
          </a:prstGeom>
          <a:solidFill>
            <a:srgbClr val="EAF6EF"/>
          </a:solidFill>
          <a:ln w="12700">
            <a:solidFill>
              <a:srgbClr val="2A7F50"/>
            </a:solidFill>
            <a:prstDash val="solid"/>
          </a:ln>
        </p:spPr>
      </p:sp>
      <p:sp>
        <p:nvSpPr>
          <p:cNvPr id="129" name="Text 119"/>
          <p:cNvSpPr/>
          <p:nvPr/>
        </p:nvSpPr>
        <p:spPr>
          <a:xfrm>
            <a:off x="594360" y="6126480"/>
            <a:ext cx="10972800" cy="384048"/>
          </a:xfrm>
          <a:prstGeom prst="rect">
            <a:avLst/>
          </a:prstGeom>
          <a:noFill/>
          <a:ln/>
        </p:spPr>
        <p:txBody>
          <a:bodyPr wrap="square" lIns="0" tIns="0" rIns="0" bIns="0" rtlCol="0" anchor="ctr"/>
          <a:lstStyle/>
          <a:p>
            <a:pPr indent="0" marL="0">
              <a:buNone/>
            </a:pPr>
            <a:r>
              <a:rPr lang="en-US" sz="1050" b="1" dirty="0">
                <a:solidFill>
                  <a:srgbClr val="2A7F50"/>
                </a:solidFill>
                <a:latin typeface="Calibri" pitchFamily="34" charset="0"/>
                <a:ea typeface="Calibri" pitchFamily="34" charset="-122"/>
                <a:cs typeface="Calibri" pitchFamily="34" charset="-120"/>
              </a:rPr>
              <a:t>Read it in one line:  </a:t>
            </a:r>
            <a:pPr indent="0" marL="0">
              <a:buNone/>
            </a:pPr>
            <a:r>
              <a:rPr lang="en-US" sz="1050" dirty="0">
                <a:solidFill>
                  <a:srgbClr val="3A4356"/>
                </a:solidFill>
                <a:latin typeface="Calibri" pitchFamily="34" charset="0"/>
                <a:ea typeface="Calibri" pitchFamily="34" charset="-122"/>
                <a:cs typeface="Calibri" pitchFamily="34" charset="-120"/>
              </a:rPr>
              <a:t>everything badged AUTO is unattended — measure, derive, pick the machine, check, calculate, write the DFM/DFA and saving ideas. The engineer answers and approves. The AI is off at JLR, and even when on it can reach none of the money.</a:t>
            </a:r>
            <a:endParaRPr lang="en-US" sz="1050" dirty="0"/>
          </a:p>
        </p:txBody>
      </p:sp>
      <p:sp>
        <p:nvSpPr>
          <p:cNvPr id="130" name="Text 120"/>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131" name="Text 121"/>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201168"/>
            <a:ext cx="548640" cy="548640"/>
          </a:xfrm>
          <a:prstGeom prst="roundRect">
            <a:avLst>
              <a:gd name="adj" fmla="val 22000"/>
            </a:avLst>
          </a:prstGeom>
          <a:solidFill>
            <a:srgbClr val="4F46E5"/>
          </a:solidFill>
          <a:ln/>
        </p:spPr>
      </p:sp>
      <p:sp>
        <p:nvSpPr>
          <p:cNvPr id="3" name="Text 1"/>
          <p:cNvSpPr/>
          <p:nvPr/>
        </p:nvSpPr>
        <p:spPr>
          <a:xfrm>
            <a:off x="457200" y="2011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CV</a:t>
            </a:r>
            <a:endParaRPr lang="en-US" sz="1800" dirty="0"/>
          </a:p>
        </p:txBody>
      </p:sp>
      <p:sp>
        <p:nvSpPr>
          <p:cNvPr id="4" name="Text 2"/>
          <p:cNvSpPr/>
          <p:nvPr/>
        </p:nvSpPr>
        <p:spPr>
          <a:xfrm>
            <a:off x="1143000" y="182880"/>
            <a:ext cx="8778240" cy="402336"/>
          </a:xfrm>
          <a:prstGeom prst="rect">
            <a:avLst/>
          </a:prstGeom>
          <a:noFill/>
          <a:ln/>
        </p:spPr>
        <p:txBody>
          <a:bodyPr wrap="square" lIns="0" tIns="0" rIns="0" bIns="0" rtlCol="0" anchor="ctr"/>
          <a:lstStyle/>
          <a:p>
            <a:pPr indent="0" marL="0">
              <a:buNone/>
            </a:pPr>
            <a:r>
              <a:rPr lang="en-US" sz="2400" b="1" dirty="0">
                <a:solidFill>
                  <a:srgbClr val="16325C"/>
                </a:solidFill>
                <a:latin typeface="Cambria" pitchFamily="34" charset="0"/>
                <a:ea typeface="Cambria" pitchFamily="34" charset="-122"/>
                <a:cs typeface="Cambria" pitchFamily="34" charset="-120"/>
              </a:rPr>
              <a:t>The PCB Photo → Should-Cost — One Picture</a:t>
            </a:r>
            <a:endParaRPr lang="en-US" sz="2400" dirty="0"/>
          </a:p>
        </p:txBody>
      </p:sp>
      <p:sp>
        <p:nvSpPr>
          <p:cNvPr id="5" name="Text 3"/>
          <p:cNvSpPr/>
          <p:nvPr/>
        </p:nvSpPr>
        <p:spPr>
          <a:xfrm>
            <a:off x="1143000" y="603504"/>
            <a:ext cx="10058400" cy="256032"/>
          </a:xfrm>
          <a:prstGeom prst="rect">
            <a:avLst/>
          </a:prstGeom>
          <a:noFill/>
          <a:ln/>
        </p:spPr>
        <p:txBody>
          <a:bodyPr wrap="square" lIns="0" tIns="0" rIns="0" bIns="0" rtlCol="0" anchor="ctr"/>
          <a:lstStyle/>
          <a:p>
            <a:pPr indent="0" marL="0">
              <a:buNone/>
            </a:pPr>
            <a:r>
              <a:rPr lang="en-US" sz="1100" i="1" dirty="0">
                <a:solidFill>
                  <a:srgbClr val="686F7D"/>
                </a:solidFill>
                <a:latin typeface="Calibri" pitchFamily="34" charset="0"/>
                <a:ea typeface="Calibri" pitchFamily="34" charset="-122"/>
                <a:cs typeface="Calibri" pitchFamily="34" charset="-120"/>
              </a:rPr>
              <a:t>An AI feature, switched off at JLR. When on: the AI reads the board, the catalogue prices it, the engine costs it, the engineer checks it.</a:t>
            </a:r>
            <a:endParaRPr lang="en-US" sz="1100" dirty="0"/>
          </a:p>
        </p:txBody>
      </p:sp>
      <p:sp>
        <p:nvSpPr>
          <p:cNvPr id="6" name="Shape 4"/>
          <p:cNvSpPr/>
          <p:nvPr/>
        </p:nvSpPr>
        <p:spPr>
          <a:xfrm>
            <a:off x="2331720" y="932688"/>
            <a:ext cx="6949440" cy="905256"/>
          </a:xfrm>
          <a:prstGeom prst="roundRect">
            <a:avLst>
              <a:gd name="adj" fmla="val 9091"/>
            </a:avLst>
          </a:prstGeom>
          <a:solidFill>
            <a:srgbClr val="F1EBF8"/>
          </a:solidFill>
          <a:ln w="19050">
            <a:solidFill>
              <a:srgbClr val="6B3FA0"/>
            </a:solidFill>
            <a:prstDash val="solid"/>
          </a:ln>
        </p:spPr>
      </p:sp>
      <p:sp>
        <p:nvSpPr>
          <p:cNvPr id="7" name="Shape 5"/>
          <p:cNvSpPr/>
          <p:nvPr/>
        </p:nvSpPr>
        <p:spPr>
          <a:xfrm>
            <a:off x="2468880" y="1170432"/>
            <a:ext cx="402336" cy="402336"/>
          </a:xfrm>
          <a:prstGeom prst="ellipse">
            <a:avLst/>
          </a:prstGeom>
          <a:solidFill>
            <a:srgbClr val="6B3FA0"/>
          </a:solidFill>
          <a:ln/>
        </p:spPr>
      </p:sp>
      <p:pic>
        <p:nvPicPr>
          <p:cNvPr id="8" name="Image 0" descr="preencoded.png">    </p:cNvPr>
          <p:cNvPicPr>
            <a:picLocks noChangeAspect="1"/>
          </p:cNvPicPr>
          <p:nvPr/>
        </p:nvPicPr>
        <p:blipFill>
          <a:blip r:embed="rId1"/>
          <a:stretch>
            <a:fillRect/>
          </a:stretch>
        </p:blipFill>
        <p:spPr>
          <a:xfrm>
            <a:off x="2569464" y="1271016"/>
            <a:ext cx="201168" cy="201168"/>
          </a:xfrm>
          <a:prstGeom prst="rect">
            <a:avLst/>
          </a:prstGeom>
        </p:spPr>
      </p:pic>
      <p:sp>
        <p:nvSpPr>
          <p:cNvPr id="9" name="Text 6"/>
          <p:cNvSpPr/>
          <p:nvPr/>
        </p:nvSpPr>
        <p:spPr>
          <a:xfrm>
            <a:off x="2999232" y="987552"/>
            <a:ext cx="6217920" cy="182880"/>
          </a:xfrm>
          <a:prstGeom prst="rect">
            <a:avLst/>
          </a:prstGeom>
          <a:noFill/>
          <a:ln/>
        </p:spPr>
        <p:txBody>
          <a:bodyPr wrap="square" lIns="0" tIns="0" rIns="0" bIns="0" rtlCol="0" anchor="ctr"/>
          <a:lstStyle/>
          <a:p>
            <a:pPr indent="0" marL="0">
              <a:buNone/>
            </a:pPr>
            <a:r>
              <a:rPr lang="en-US" sz="800" b="1" spc="40" kern="0" dirty="0">
                <a:solidFill>
                  <a:srgbClr val="6B3FA0"/>
                </a:solidFill>
                <a:latin typeface="Calibri" pitchFamily="34" charset="0"/>
                <a:ea typeface="Calibri" pitchFamily="34" charset="-122"/>
                <a:cs typeface="Calibri" pitchFamily="34" charset="-120"/>
              </a:rPr>
              <a:t>AI VISION — REQUIRED here · OFF AT JLR, so this screen is hidden</a:t>
            </a:r>
            <a:endParaRPr lang="en-US" sz="800" dirty="0"/>
          </a:p>
        </p:txBody>
      </p:sp>
      <p:sp>
        <p:nvSpPr>
          <p:cNvPr id="10" name="Text 7"/>
          <p:cNvSpPr/>
          <p:nvPr/>
        </p:nvSpPr>
        <p:spPr>
          <a:xfrm>
            <a:off x="2999232" y="1179576"/>
            <a:ext cx="6172200" cy="457200"/>
          </a:xfrm>
          <a:prstGeom prst="rect">
            <a:avLst/>
          </a:prstGeom>
          <a:noFill/>
          <a:ln/>
        </p:spPr>
        <p:txBody>
          <a:bodyPr wrap="square" lIns="0" tIns="0" rIns="0" bIns="0" rtlCol="0" anchor="t"/>
          <a:lstStyle/>
          <a:p>
            <a:pPr indent="0" marL="0">
              <a:buNone/>
            </a:pPr>
            <a:r>
              <a:rPr lang="en-US" sz="840" b="1" dirty="0">
                <a:solidFill>
                  <a:srgbClr val="16325C"/>
                </a:solidFill>
                <a:latin typeface="Calibri" pitchFamily="34" charset="0"/>
                <a:ea typeface="Calibri" pitchFamily="34" charset="-122"/>
                <a:cs typeface="Calibri" pitchFamily="34" charset="-120"/>
              </a:rPr>
              <a:t>Pass 1: </a:t>
            </a:r>
            <a:pPr indent="0" marL="0">
              <a:buNone/>
            </a:pPr>
            <a:r>
              <a:rPr lang="en-US" sz="840" dirty="0">
                <a:solidFill>
                  <a:srgbClr val="3A4356"/>
                </a:solidFill>
                <a:latin typeface="Calibri" pitchFamily="34" charset="0"/>
                <a:ea typeface="Calibri" pitchFamily="34" charset="-122"/>
                <a:cs typeface="Calibri" pitchFamily="34" charset="-120"/>
              </a:rPr>
              <a:t>names the board (dims, layers, finish) and EVERY component — reference, package, part number where legible — with a confidence per line. </a:t>
            </a:r>
            <a:pPr indent="0" marL="0">
              <a:buNone/>
            </a:pPr>
            <a:r>
              <a:rPr lang="en-US" sz="840" b="1" dirty="0">
                <a:solidFill>
                  <a:srgbClr val="16325C"/>
                </a:solidFill>
                <a:latin typeface="Calibri" pitchFamily="34" charset="0"/>
                <a:ea typeface="Calibri" pitchFamily="34" charset="-122"/>
                <a:cs typeface="Calibri" pitchFamily="34" charset="-120"/>
              </a:rPr>
              <a:t>Pass 2: </a:t>
            </a:r>
            <a:pPr indent="0" marL="0">
              <a:buNone/>
            </a:pPr>
            <a:r>
              <a:rPr lang="en-US" sz="840" dirty="0">
                <a:solidFill>
                  <a:srgbClr val="3A4356"/>
                </a:solidFill>
                <a:latin typeface="Calibri" pitchFamily="34" charset="0"/>
                <a:ea typeface="Calibri" pitchFamily="34" charset="-122"/>
                <a:cs typeface="Calibri" pitchFamily="34" charset="-120"/>
              </a:rPr>
              <a:t>re-inspects the markings of every unconfirmed part. </a:t>
            </a:r>
            <a:pPr indent="0" marL="0">
              <a:buNone/>
            </a:pPr>
            <a:r>
              <a:rPr lang="en-US" sz="840" b="1" dirty="0">
                <a:solidFill>
                  <a:srgbClr val="6B3FA0"/>
                </a:solidFill>
                <a:latin typeface="Calibri" pitchFamily="34" charset="0"/>
                <a:ea typeface="Calibri" pitchFamily="34" charset="-122"/>
                <a:cs typeface="Calibri" pitchFamily="34" charset="-120"/>
              </a:rPr>
              <a:t>Words only — it prices nothing.</a:t>
            </a:r>
            <a:endParaRPr lang="en-US" sz="840" dirty="0"/>
          </a:p>
        </p:txBody>
      </p:sp>
      <p:sp>
        <p:nvSpPr>
          <p:cNvPr id="11" name="Text 8"/>
          <p:cNvSpPr/>
          <p:nvPr/>
        </p:nvSpPr>
        <p:spPr>
          <a:xfrm>
            <a:off x="2999232" y="1636776"/>
            <a:ext cx="6172200" cy="182880"/>
          </a:xfrm>
          <a:prstGeom prst="rect">
            <a:avLst/>
          </a:prstGeom>
          <a:noFill/>
          <a:ln/>
        </p:spPr>
        <p:txBody>
          <a:bodyPr wrap="square" lIns="0" tIns="0" rIns="0" bIns="0" rtlCol="0" anchor="ctr"/>
          <a:lstStyle/>
          <a:p>
            <a:pPr indent="0" marL="0">
              <a:buNone/>
            </a:pPr>
            <a:r>
              <a:rPr lang="en-US" sz="760" i="1" dirty="0">
                <a:solidFill>
                  <a:srgbClr val="6B3FA0"/>
                </a:solidFill>
                <a:latin typeface="Calibri" pitchFamily="34" charset="0"/>
                <a:ea typeface="Calibri" pitchFamily="34" charset="-122"/>
                <a:cs typeface="Calibri" pitchFamily="34" charset="-120"/>
              </a:rPr>
              <a:t>Rate-limited per user when on · the model never prices a component</a:t>
            </a:r>
            <a:endParaRPr lang="en-US" sz="760" dirty="0"/>
          </a:p>
        </p:txBody>
      </p:sp>
      <p:sp>
        <p:nvSpPr>
          <p:cNvPr id="12" name="Shape 9"/>
          <p:cNvSpPr/>
          <p:nvPr/>
        </p:nvSpPr>
        <p:spPr>
          <a:xfrm>
            <a:off x="411480" y="1993392"/>
            <a:ext cx="11338560" cy="4023360"/>
          </a:xfrm>
          <a:prstGeom prst="roundRect">
            <a:avLst>
              <a:gd name="adj" fmla="val 2727"/>
            </a:avLst>
          </a:prstGeom>
          <a:solidFill>
            <a:srgbClr val="FFFFFF"/>
          </a:solidFill>
          <a:ln w="22225">
            <a:solidFill>
              <a:srgbClr val="0D7D71"/>
            </a:solidFill>
            <a:prstDash val="dash"/>
          </a:ln>
        </p:spPr>
      </p:sp>
      <p:sp>
        <p:nvSpPr>
          <p:cNvPr id="13" name="Shape 10"/>
          <p:cNvSpPr/>
          <p:nvPr/>
        </p:nvSpPr>
        <p:spPr>
          <a:xfrm>
            <a:off x="685800" y="1874520"/>
            <a:ext cx="3200400" cy="256032"/>
          </a:xfrm>
          <a:prstGeom prst="roundRect">
            <a:avLst>
              <a:gd name="adj" fmla="val 50000"/>
            </a:avLst>
          </a:prstGeom>
          <a:solidFill>
            <a:srgbClr val="0D7D71"/>
          </a:solidFill>
          <a:ln/>
        </p:spPr>
      </p:sp>
      <p:sp>
        <p:nvSpPr>
          <p:cNvPr id="14" name="Text 11"/>
          <p:cNvSpPr/>
          <p:nvPr/>
        </p:nvSpPr>
        <p:spPr>
          <a:xfrm>
            <a:off x="685800" y="1874520"/>
            <a:ext cx="3200400" cy="256032"/>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INSIDE — RUNS ON YOUR OWN MACHINE</a:t>
            </a:r>
            <a:endParaRPr lang="en-US" sz="850" dirty="0"/>
          </a:p>
        </p:txBody>
      </p:sp>
      <p:sp>
        <p:nvSpPr>
          <p:cNvPr id="15" name="Shape 12"/>
          <p:cNvSpPr/>
          <p:nvPr/>
        </p:nvSpPr>
        <p:spPr>
          <a:xfrm>
            <a:off x="5806440" y="1837944"/>
            <a:ext cx="0" cy="612648"/>
          </a:xfrm>
          <a:prstGeom prst="line">
            <a:avLst/>
          </a:prstGeom>
          <a:noFill/>
          <a:ln w="19050">
            <a:solidFill>
              <a:srgbClr val="6B3FA0"/>
            </a:solidFill>
            <a:prstDash val="solid"/>
            <a:headEnd type="triangle"/>
            <a:tailEnd type="triangle"/>
          </a:ln>
        </p:spPr>
      </p:sp>
      <p:sp>
        <p:nvSpPr>
          <p:cNvPr id="16" name="Text 13"/>
          <p:cNvSpPr/>
          <p:nvPr/>
        </p:nvSpPr>
        <p:spPr>
          <a:xfrm>
            <a:off x="594360" y="2231136"/>
            <a:ext cx="1828800" cy="219456"/>
          </a:xfrm>
          <a:prstGeom prst="rect">
            <a:avLst/>
          </a:prstGeom>
          <a:noFill/>
          <a:ln/>
        </p:spPr>
        <p:txBody>
          <a:bodyPr wrap="square" lIns="0" tIns="0" rIns="0" bIns="0" rtlCol="0" anchor="ctr"/>
          <a:lstStyle/>
          <a:p>
            <a:pPr indent="0" marL="0">
              <a:buNone/>
            </a:pPr>
            <a:r>
              <a:rPr lang="en-US" sz="850" b="1" spc="60" kern="0" dirty="0">
                <a:solidFill>
                  <a:srgbClr val="1D6FB8"/>
                </a:solidFill>
                <a:latin typeface="Calibri" pitchFamily="34" charset="0"/>
                <a:ea typeface="Calibri" pitchFamily="34" charset="-122"/>
                <a:cs typeface="Calibri" pitchFamily="34" charset="-120"/>
              </a:rPr>
              <a:t>WHAT GOES IN</a:t>
            </a:r>
            <a:endParaRPr lang="en-US" sz="850" dirty="0"/>
          </a:p>
        </p:txBody>
      </p:sp>
      <p:sp>
        <p:nvSpPr>
          <p:cNvPr id="17" name="Shape 14"/>
          <p:cNvSpPr/>
          <p:nvPr/>
        </p:nvSpPr>
        <p:spPr>
          <a:xfrm>
            <a:off x="594360" y="2505456"/>
            <a:ext cx="1828800" cy="621792"/>
          </a:xfrm>
          <a:prstGeom prst="roundRect">
            <a:avLst>
              <a:gd name="adj" fmla="val 10294"/>
            </a:avLst>
          </a:prstGeom>
          <a:solidFill>
            <a:srgbClr val="FFFFFF"/>
          </a:solidFill>
          <a:ln w="12700">
            <a:solidFill>
              <a:srgbClr val="DCE3EE"/>
            </a:solidFill>
            <a:prstDash val="solid"/>
          </a:ln>
        </p:spPr>
      </p:sp>
      <p:sp>
        <p:nvSpPr>
          <p:cNvPr id="18" name="Text 15"/>
          <p:cNvSpPr/>
          <p:nvPr/>
        </p:nvSpPr>
        <p:spPr>
          <a:xfrm>
            <a:off x="713232" y="2505456"/>
            <a:ext cx="159105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Photo(s) of the board</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(top / bottom)</a:t>
            </a:r>
            <a:endParaRPr lang="en-US" sz="840" dirty="0"/>
          </a:p>
        </p:txBody>
      </p:sp>
      <p:sp>
        <p:nvSpPr>
          <p:cNvPr id="19" name="Shape 16"/>
          <p:cNvSpPr/>
          <p:nvPr/>
        </p:nvSpPr>
        <p:spPr>
          <a:xfrm>
            <a:off x="594360" y="3236976"/>
            <a:ext cx="1828800" cy="621792"/>
          </a:xfrm>
          <a:prstGeom prst="roundRect">
            <a:avLst>
              <a:gd name="adj" fmla="val 10294"/>
            </a:avLst>
          </a:prstGeom>
          <a:solidFill>
            <a:srgbClr val="FFFFFF"/>
          </a:solidFill>
          <a:ln w="12700">
            <a:solidFill>
              <a:srgbClr val="DCE3EE"/>
            </a:solidFill>
            <a:prstDash val="solid"/>
          </a:ln>
        </p:spPr>
      </p:sp>
      <p:sp>
        <p:nvSpPr>
          <p:cNvPr id="20" name="Text 17"/>
          <p:cNvSpPr/>
          <p:nvPr/>
        </p:nvSpPr>
        <p:spPr>
          <a:xfrm>
            <a:off x="713232" y="3236976"/>
            <a:ext cx="159105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Annual qty + region</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(the engineer types)</a:t>
            </a:r>
            <a:endParaRPr lang="en-US" sz="840" dirty="0"/>
          </a:p>
        </p:txBody>
      </p:sp>
      <p:sp>
        <p:nvSpPr>
          <p:cNvPr id="21" name="Shape 18"/>
          <p:cNvSpPr/>
          <p:nvPr/>
        </p:nvSpPr>
        <p:spPr>
          <a:xfrm>
            <a:off x="594360" y="3968496"/>
            <a:ext cx="1828800" cy="621792"/>
          </a:xfrm>
          <a:prstGeom prst="roundRect">
            <a:avLst>
              <a:gd name="adj" fmla="val 10294"/>
            </a:avLst>
          </a:prstGeom>
          <a:solidFill>
            <a:srgbClr val="FFFFFF"/>
          </a:solidFill>
          <a:ln w="12700">
            <a:solidFill>
              <a:srgbClr val="DCE3EE"/>
            </a:solidFill>
            <a:prstDash val="solid"/>
          </a:ln>
        </p:spPr>
      </p:sp>
      <p:sp>
        <p:nvSpPr>
          <p:cNvPr id="22" name="Text 19"/>
          <p:cNvSpPr/>
          <p:nvPr/>
        </p:nvSpPr>
        <p:spPr>
          <a:xfrm>
            <a:off x="713232" y="3968496"/>
            <a:ext cx="159105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Known dims / layers</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(optional overrides)</a:t>
            </a:r>
            <a:endParaRPr lang="en-US" sz="840" dirty="0"/>
          </a:p>
        </p:txBody>
      </p:sp>
      <p:sp>
        <p:nvSpPr>
          <p:cNvPr id="23" name="Text 20"/>
          <p:cNvSpPr/>
          <p:nvPr/>
        </p:nvSpPr>
        <p:spPr>
          <a:xfrm>
            <a:off x="10104120" y="2231136"/>
            <a:ext cx="1645920" cy="219456"/>
          </a:xfrm>
          <a:prstGeom prst="rect">
            <a:avLst/>
          </a:prstGeom>
          <a:noFill/>
          <a:ln/>
        </p:spPr>
        <p:txBody>
          <a:bodyPr wrap="square" lIns="0" tIns="0" rIns="0" bIns="0" rtlCol="0" anchor="ctr"/>
          <a:lstStyle/>
          <a:p>
            <a:pPr indent="0" marL="0">
              <a:buNone/>
            </a:pPr>
            <a:r>
              <a:rPr lang="en-US" sz="850" b="1" spc="60" kern="0" dirty="0">
                <a:solidFill>
                  <a:srgbClr val="2A7F50"/>
                </a:solidFill>
                <a:latin typeface="Calibri" pitchFamily="34" charset="0"/>
                <a:ea typeface="Calibri" pitchFamily="34" charset="-122"/>
                <a:cs typeface="Calibri" pitchFamily="34" charset="-120"/>
              </a:rPr>
              <a:t>WHAT COMES OUT</a:t>
            </a:r>
            <a:endParaRPr lang="en-US" sz="850" dirty="0"/>
          </a:p>
        </p:txBody>
      </p:sp>
      <p:sp>
        <p:nvSpPr>
          <p:cNvPr id="24" name="Shape 21"/>
          <p:cNvSpPr/>
          <p:nvPr/>
        </p:nvSpPr>
        <p:spPr>
          <a:xfrm>
            <a:off x="10104120" y="2505456"/>
            <a:ext cx="1645920" cy="621792"/>
          </a:xfrm>
          <a:prstGeom prst="roundRect">
            <a:avLst>
              <a:gd name="adj" fmla="val 10294"/>
            </a:avLst>
          </a:prstGeom>
          <a:solidFill>
            <a:srgbClr val="FFFFFF"/>
          </a:solidFill>
          <a:ln w="12700">
            <a:solidFill>
              <a:srgbClr val="DCE3EE"/>
            </a:solidFill>
            <a:prstDash val="solid"/>
          </a:ln>
        </p:spPr>
      </p:sp>
      <p:sp>
        <p:nvSpPr>
          <p:cNvPr id="25" name="Text 22"/>
          <p:cNvSpPr/>
          <p:nvPr/>
        </p:nvSpPr>
        <p:spPr>
          <a:xfrm>
            <a:off x="10222992" y="2505456"/>
            <a:ext cx="140817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Priced BOM — every line</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confirmed or capped</a:t>
            </a:r>
            <a:endParaRPr lang="en-US" sz="840" dirty="0"/>
          </a:p>
        </p:txBody>
      </p:sp>
      <p:sp>
        <p:nvSpPr>
          <p:cNvPr id="26" name="Shape 23"/>
          <p:cNvSpPr/>
          <p:nvPr/>
        </p:nvSpPr>
        <p:spPr>
          <a:xfrm>
            <a:off x="10104120" y="3200400"/>
            <a:ext cx="1645920" cy="621792"/>
          </a:xfrm>
          <a:prstGeom prst="roundRect">
            <a:avLst>
              <a:gd name="adj" fmla="val 10294"/>
            </a:avLst>
          </a:prstGeom>
          <a:solidFill>
            <a:srgbClr val="FFFFFF"/>
          </a:solidFill>
          <a:ln w="12700">
            <a:solidFill>
              <a:srgbClr val="DCE3EE"/>
            </a:solidFill>
            <a:prstDash val="solid"/>
          </a:ln>
        </p:spPr>
      </p:sp>
      <p:sp>
        <p:nvSpPr>
          <p:cNvPr id="27" name="Text 24"/>
          <p:cNvSpPr/>
          <p:nvPr/>
        </p:nvSpPr>
        <p:spPr>
          <a:xfrm>
            <a:off x="10222992" y="3200400"/>
            <a:ext cx="140817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Fab spec + 8-bucket</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board cost</a:t>
            </a:r>
            <a:endParaRPr lang="en-US" sz="840" dirty="0"/>
          </a:p>
        </p:txBody>
      </p:sp>
      <p:sp>
        <p:nvSpPr>
          <p:cNvPr id="28" name="Shape 25"/>
          <p:cNvSpPr/>
          <p:nvPr/>
        </p:nvSpPr>
        <p:spPr>
          <a:xfrm>
            <a:off x="10104120" y="3895344"/>
            <a:ext cx="1645920" cy="621792"/>
          </a:xfrm>
          <a:prstGeom prst="roundRect">
            <a:avLst>
              <a:gd name="adj" fmla="val 10294"/>
            </a:avLst>
          </a:prstGeom>
          <a:solidFill>
            <a:srgbClr val="FFFFFF"/>
          </a:solidFill>
          <a:ln w="12700">
            <a:solidFill>
              <a:srgbClr val="DCE3EE"/>
            </a:solidFill>
            <a:prstDash val="solid"/>
          </a:ln>
        </p:spPr>
      </p:sp>
      <p:sp>
        <p:nvSpPr>
          <p:cNvPr id="29" name="Text 26"/>
          <p:cNvSpPr/>
          <p:nvPr/>
        </p:nvSpPr>
        <p:spPr>
          <a:xfrm>
            <a:off x="10222992" y="3895344"/>
            <a:ext cx="140817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Confirmed vs needs-</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verification headline</a:t>
            </a:r>
            <a:endParaRPr lang="en-US" sz="840" dirty="0"/>
          </a:p>
        </p:txBody>
      </p:sp>
      <p:sp>
        <p:nvSpPr>
          <p:cNvPr id="30" name="Shape 27"/>
          <p:cNvSpPr/>
          <p:nvPr/>
        </p:nvSpPr>
        <p:spPr>
          <a:xfrm>
            <a:off x="10104120" y="4590288"/>
            <a:ext cx="1645920" cy="621792"/>
          </a:xfrm>
          <a:prstGeom prst="roundRect">
            <a:avLst>
              <a:gd name="adj" fmla="val 10294"/>
            </a:avLst>
          </a:prstGeom>
          <a:solidFill>
            <a:srgbClr val="FFFFFF"/>
          </a:solidFill>
          <a:ln w="12700">
            <a:solidFill>
              <a:srgbClr val="DCE3EE"/>
            </a:solidFill>
            <a:prstDash val="solid"/>
          </a:ln>
        </p:spPr>
      </p:sp>
      <p:sp>
        <p:nvSpPr>
          <p:cNvPr id="31" name="Text 28"/>
          <p:cNvSpPr/>
          <p:nvPr/>
        </p:nvSpPr>
        <p:spPr>
          <a:xfrm>
            <a:off x="10222992" y="4590288"/>
            <a:ext cx="1408176" cy="621792"/>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PDF report + country</a:t>
            </a:r>
            <a:endParaRPr lang="en-US" sz="840" dirty="0"/>
          </a:p>
          <a:p>
            <a:pPr indent="0" marL="0">
              <a:buNone/>
            </a:pPr>
            <a:r>
              <a:rPr lang="en-US" sz="840" dirty="0">
                <a:solidFill>
                  <a:srgbClr val="3A4356"/>
                </a:solidFill>
                <a:latin typeface="Calibri" pitchFamily="34" charset="0"/>
                <a:ea typeface="Calibri" pitchFamily="34" charset="-122"/>
                <a:cs typeface="Calibri" pitchFamily="34" charset="-120"/>
              </a:rPr>
              <a:t>comparison</a:t>
            </a:r>
            <a:endParaRPr lang="en-US" sz="840" dirty="0"/>
          </a:p>
        </p:txBody>
      </p:sp>
      <p:sp>
        <p:nvSpPr>
          <p:cNvPr id="32" name="Shape 29"/>
          <p:cNvSpPr/>
          <p:nvPr/>
        </p:nvSpPr>
        <p:spPr>
          <a:xfrm>
            <a:off x="2606040" y="2450592"/>
            <a:ext cx="2148840" cy="1115568"/>
          </a:xfrm>
          <a:prstGeom prst="roundRect">
            <a:avLst>
              <a:gd name="adj" fmla="val 7377"/>
            </a:avLst>
          </a:prstGeom>
          <a:solidFill>
            <a:srgbClr val="EEF2FF"/>
          </a:solidFill>
          <a:ln w="17780">
            <a:solidFill>
              <a:srgbClr val="4F46E5"/>
            </a:solidFill>
            <a:prstDash val="solid"/>
          </a:ln>
        </p:spPr>
      </p:sp>
      <p:sp>
        <p:nvSpPr>
          <p:cNvPr id="33" name="Shape 30"/>
          <p:cNvSpPr/>
          <p:nvPr/>
        </p:nvSpPr>
        <p:spPr>
          <a:xfrm>
            <a:off x="2734056" y="2560320"/>
            <a:ext cx="310896" cy="310896"/>
          </a:xfrm>
          <a:prstGeom prst="ellipse">
            <a:avLst/>
          </a:prstGeom>
          <a:solidFill>
            <a:srgbClr val="4F46E5"/>
          </a:solidFill>
          <a:ln/>
        </p:spPr>
      </p:sp>
      <p:pic>
        <p:nvPicPr>
          <p:cNvPr id="34" name="Image 1" descr="preencoded.png">    </p:cNvPr>
          <p:cNvPicPr>
            <a:picLocks noChangeAspect="1"/>
          </p:cNvPicPr>
          <p:nvPr/>
        </p:nvPicPr>
        <p:blipFill>
          <a:blip r:embed="rId2"/>
          <a:stretch>
            <a:fillRect/>
          </a:stretch>
        </p:blipFill>
        <p:spPr>
          <a:xfrm>
            <a:off x="2807208" y="2633472"/>
            <a:ext cx="164592" cy="164592"/>
          </a:xfrm>
          <a:prstGeom prst="rect">
            <a:avLst/>
          </a:prstGeom>
        </p:spPr>
      </p:pic>
      <p:sp>
        <p:nvSpPr>
          <p:cNvPr id="35" name="Text 31"/>
          <p:cNvSpPr/>
          <p:nvPr/>
        </p:nvSpPr>
        <p:spPr>
          <a:xfrm>
            <a:off x="3118104" y="2551176"/>
            <a:ext cx="1508760" cy="274320"/>
          </a:xfrm>
          <a:prstGeom prst="rect">
            <a:avLst/>
          </a:prstGeom>
          <a:noFill/>
          <a:ln/>
        </p:spPr>
        <p:txBody>
          <a:bodyPr wrap="square" lIns="0" tIns="0" rIns="0" bIns="0" rtlCol="0" anchor="ctr"/>
          <a:lstStyle/>
          <a:p>
            <a:pPr indent="0" marL="0">
              <a:buNone/>
            </a:pPr>
            <a:r>
              <a:rPr lang="en-US" sz="960" b="1" dirty="0">
                <a:solidFill>
                  <a:srgbClr val="4F46E5"/>
                </a:solidFill>
                <a:latin typeface="Calibri" pitchFamily="34" charset="0"/>
                <a:ea typeface="Calibri" pitchFamily="34" charset="-122"/>
                <a:cs typeface="Calibri" pitchFamily="34" charset="-120"/>
              </a:rPr>
              <a:t>BOM parser + salvage</a:t>
            </a:r>
            <a:endParaRPr lang="en-US" sz="960" dirty="0"/>
          </a:p>
        </p:txBody>
      </p:sp>
      <p:sp>
        <p:nvSpPr>
          <p:cNvPr id="36" name="Text 32"/>
          <p:cNvSpPr/>
          <p:nvPr/>
        </p:nvSpPr>
        <p:spPr>
          <a:xfrm>
            <a:off x="2752344" y="2862072"/>
            <a:ext cx="1856232" cy="585216"/>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Parses the model’s list; SALVAGES truncated replies line by line; automotive keywords force the conservative class.</a:t>
            </a:r>
            <a:endParaRPr lang="en-US" sz="800" dirty="0"/>
          </a:p>
        </p:txBody>
      </p:sp>
      <p:sp>
        <p:nvSpPr>
          <p:cNvPr id="37" name="Shape 33"/>
          <p:cNvSpPr/>
          <p:nvPr/>
        </p:nvSpPr>
        <p:spPr>
          <a:xfrm>
            <a:off x="2606040" y="3712464"/>
            <a:ext cx="2148840" cy="1115568"/>
          </a:xfrm>
          <a:prstGeom prst="roundRect">
            <a:avLst>
              <a:gd name="adj" fmla="val 7377"/>
            </a:avLst>
          </a:prstGeom>
          <a:solidFill>
            <a:srgbClr val="EEF2FF"/>
          </a:solidFill>
          <a:ln w="17780">
            <a:solidFill>
              <a:srgbClr val="4F46E5"/>
            </a:solidFill>
            <a:prstDash val="solid"/>
          </a:ln>
        </p:spPr>
      </p:sp>
      <p:sp>
        <p:nvSpPr>
          <p:cNvPr id="38" name="Shape 34"/>
          <p:cNvSpPr/>
          <p:nvPr/>
        </p:nvSpPr>
        <p:spPr>
          <a:xfrm>
            <a:off x="2734056" y="3822192"/>
            <a:ext cx="310896" cy="310896"/>
          </a:xfrm>
          <a:prstGeom prst="ellipse">
            <a:avLst/>
          </a:prstGeom>
          <a:solidFill>
            <a:srgbClr val="4F46E5"/>
          </a:solidFill>
          <a:ln/>
        </p:spPr>
      </p:sp>
      <p:pic>
        <p:nvPicPr>
          <p:cNvPr id="39" name="Image 2" descr="preencoded.png">    </p:cNvPr>
          <p:cNvPicPr>
            <a:picLocks noChangeAspect="1"/>
          </p:cNvPicPr>
          <p:nvPr/>
        </p:nvPicPr>
        <p:blipFill>
          <a:blip r:embed="rId3"/>
          <a:stretch>
            <a:fillRect/>
          </a:stretch>
        </p:blipFill>
        <p:spPr>
          <a:xfrm>
            <a:off x="2807208" y="3895344"/>
            <a:ext cx="164592" cy="164592"/>
          </a:xfrm>
          <a:prstGeom prst="rect">
            <a:avLst/>
          </a:prstGeom>
        </p:spPr>
      </p:pic>
      <p:sp>
        <p:nvSpPr>
          <p:cNvPr id="40" name="Text 35"/>
          <p:cNvSpPr/>
          <p:nvPr/>
        </p:nvSpPr>
        <p:spPr>
          <a:xfrm>
            <a:off x="3118104" y="3813048"/>
            <a:ext cx="1508760" cy="274320"/>
          </a:xfrm>
          <a:prstGeom prst="rect">
            <a:avLst/>
          </a:prstGeom>
          <a:noFill/>
          <a:ln/>
        </p:spPr>
        <p:txBody>
          <a:bodyPr wrap="square" lIns="0" tIns="0" rIns="0" bIns="0" rtlCol="0" anchor="ctr"/>
          <a:lstStyle/>
          <a:p>
            <a:pPr indent="0" marL="0">
              <a:buNone/>
            </a:pPr>
            <a:r>
              <a:rPr lang="en-US" sz="960" b="1" dirty="0">
                <a:solidFill>
                  <a:srgbClr val="4F46E5"/>
                </a:solidFill>
                <a:latin typeface="Calibri" pitchFamily="34" charset="0"/>
                <a:ea typeface="Calibri" pitchFamily="34" charset="-122"/>
                <a:cs typeface="Calibri" pitchFamily="34" charset="-120"/>
              </a:rPr>
              <a:t>Board-spec stabiliser</a:t>
            </a:r>
            <a:endParaRPr lang="en-US" sz="960" dirty="0"/>
          </a:p>
        </p:txBody>
      </p:sp>
      <p:sp>
        <p:nvSpPr>
          <p:cNvPr id="41" name="Text 36"/>
          <p:cNvSpPr/>
          <p:nvPr/>
        </p:nvSpPr>
        <p:spPr>
          <a:xfrm>
            <a:off x="2752344" y="4123944"/>
            <a:ext cx="1856232" cy="585216"/>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Dims, layers and finish snapped to stable values — re-running the same photos gives the same board.</a:t>
            </a:r>
            <a:endParaRPr lang="en-US" sz="800" dirty="0"/>
          </a:p>
        </p:txBody>
      </p:sp>
      <p:sp>
        <p:nvSpPr>
          <p:cNvPr id="42" name="Shape 37"/>
          <p:cNvSpPr/>
          <p:nvPr/>
        </p:nvSpPr>
        <p:spPr>
          <a:xfrm>
            <a:off x="4983480" y="2450592"/>
            <a:ext cx="2103120" cy="1234440"/>
          </a:xfrm>
          <a:prstGeom prst="roundRect">
            <a:avLst>
              <a:gd name="adj" fmla="val 6667"/>
            </a:avLst>
          </a:prstGeom>
          <a:solidFill>
            <a:srgbClr val="FCF3E3"/>
          </a:solidFill>
          <a:ln w="17780">
            <a:solidFill>
              <a:srgbClr val="99651A"/>
            </a:solidFill>
            <a:prstDash val="solid"/>
          </a:ln>
        </p:spPr>
      </p:sp>
      <p:sp>
        <p:nvSpPr>
          <p:cNvPr id="43" name="Shape 38"/>
          <p:cNvSpPr/>
          <p:nvPr/>
        </p:nvSpPr>
        <p:spPr>
          <a:xfrm>
            <a:off x="5111496" y="2560320"/>
            <a:ext cx="310896" cy="310896"/>
          </a:xfrm>
          <a:prstGeom prst="ellipse">
            <a:avLst/>
          </a:prstGeom>
          <a:solidFill>
            <a:srgbClr val="99651A"/>
          </a:solidFill>
          <a:ln/>
        </p:spPr>
      </p:sp>
      <p:pic>
        <p:nvPicPr>
          <p:cNvPr id="44" name="Image 3" descr="preencoded.png">    </p:cNvPr>
          <p:cNvPicPr>
            <a:picLocks noChangeAspect="1"/>
          </p:cNvPicPr>
          <p:nvPr/>
        </p:nvPicPr>
        <p:blipFill>
          <a:blip r:embed="rId4"/>
          <a:stretch>
            <a:fillRect/>
          </a:stretch>
        </p:blipFill>
        <p:spPr>
          <a:xfrm>
            <a:off x="5184648" y="2633472"/>
            <a:ext cx="164592" cy="164592"/>
          </a:xfrm>
          <a:prstGeom prst="rect">
            <a:avLst/>
          </a:prstGeom>
        </p:spPr>
      </p:pic>
      <p:sp>
        <p:nvSpPr>
          <p:cNvPr id="45" name="Text 39"/>
          <p:cNvSpPr/>
          <p:nvPr/>
        </p:nvSpPr>
        <p:spPr>
          <a:xfrm>
            <a:off x="5495544" y="2551176"/>
            <a:ext cx="1463040" cy="274320"/>
          </a:xfrm>
          <a:prstGeom prst="rect">
            <a:avLst/>
          </a:prstGeom>
          <a:noFill/>
          <a:ln/>
        </p:spPr>
        <p:txBody>
          <a:bodyPr wrap="square" lIns="0" tIns="0" rIns="0" bIns="0" rtlCol="0" anchor="ctr"/>
          <a:lstStyle/>
          <a:p>
            <a:pPr indent="0" marL="0">
              <a:buNone/>
            </a:pPr>
            <a:r>
              <a:rPr lang="en-US" sz="960" b="1" dirty="0">
                <a:solidFill>
                  <a:srgbClr val="99651A"/>
                </a:solidFill>
                <a:latin typeface="Calibri" pitchFamily="34" charset="0"/>
                <a:ea typeface="Calibri" pitchFamily="34" charset="-122"/>
                <a:cs typeface="Calibri" pitchFamily="34" charset="-120"/>
              </a:rPr>
              <a:t>Price grounding</a:t>
            </a:r>
            <a:endParaRPr lang="en-US" sz="960" dirty="0"/>
          </a:p>
        </p:txBody>
      </p:sp>
      <p:sp>
        <p:nvSpPr>
          <p:cNvPr id="46" name="Text 40"/>
          <p:cNvSpPr/>
          <p:nvPr/>
        </p:nvSpPr>
        <p:spPr>
          <a:xfrm>
            <a:off x="5129784" y="2862072"/>
            <a:ext cx="1810512" cy="7040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Confirmed lines SNAP to the offline catalogue; unreadable lines get the class-median CAP; volume scaling from the 10k base. The model never prices.</a:t>
            </a:r>
            <a:endParaRPr lang="en-US" sz="800" dirty="0"/>
          </a:p>
        </p:txBody>
      </p:sp>
      <p:sp>
        <p:nvSpPr>
          <p:cNvPr id="47" name="Shape 41"/>
          <p:cNvSpPr/>
          <p:nvPr/>
        </p:nvSpPr>
        <p:spPr>
          <a:xfrm>
            <a:off x="4983480" y="4846320"/>
            <a:ext cx="2103120" cy="1060704"/>
          </a:xfrm>
          <a:prstGeom prst="roundRect">
            <a:avLst>
              <a:gd name="adj" fmla="val 7759"/>
            </a:avLst>
          </a:prstGeom>
          <a:solidFill>
            <a:srgbClr val="EAF6EF"/>
          </a:solidFill>
          <a:ln w="17780">
            <a:solidFill>
              <a:srgbClr val="2A7F50"/>
            </a:solidFill>
            <a:prstDash val="solid"/>
          </a:ln>
        </p:spPr>
      </p:sp>
      <p:sp>
        <p:nvSpPr>
          <p:cNvPr id="48" name="Shape 42"/>
          <p:cNvSpPr/>
          <p:nvPr/>
        </p:nvSpPr>
        <p:spPr>
          <a:xfrm>
            <a:off x="5111496" y="4956048"/>
            <a:ext cx="310896" cy="310896"/>
          </a:xfrm>
          <a:prstGeom prst="ellipse">
            <a:avLst/>
          </a:prstGeom>
          <a:solidFill>
            <a:srgbClr val="2A7F50"/>
          </a:solidFill>
          <a:ln/>
        </p:spPr>
      </p:sp>
      <p:pic>
        <p:nvPicPr>
          <p:cNvPr id="49" name="Image 4" descr="preencoded.png">    </p:cNvPr>
          <p:cNvPicPr>
            <a:picLocks noChangeAspect="1"/>
          </p:cNvPicPr>
          <p:nvPr/>
        </p:nvPicPr>
        <p:blipFill>
          <a:blip r:embed="rId5"/>
          <a:stretch>
            <a:fillRect/>
          </a:stretch>
        </p:blipFill>
        <p:spPr>
          <a:xfrm>
            <a:off x="5184648" y="5029200"/>
            <a:ext cx="164592" cy="164592"/>
          </a:xfrm>
          <a:prstGeom prst="rect">
            <a:avLst/>
          </a:prstGeom>
        </p:spPr>
      </p:pic>
      <p:sp>
        <p:nvSpPr>
          <p:cNvPr id="50" name="Text 43"/>
          <p:cNvSpPr/>
          <p:nvPr/>
        </p:nvSpPr>
        <p:spPr>
          <a:xfrm>
            <a:off x="5495544" y="4946904"/>
            <a:ext cx="1463040" cy="274320"/>
          </a:xfrm>
          <a:prstGeom prst="rect">
            <a:avLst/>
          </a:prstGeom>
          <a:noFill/>
          <a:ln/>
        </p:spPr>
        <p:txBody>
          <a:bodyPr wrap="square" lIns="0" tIns="0" rIns="0" bIns="0" rtlCol="0" anchor="ctr"/>
          <a:lstStyle/>
          <a:p>
            <a:pPr indent="0" marL="0">
              <a:buNone/>
            </a:pPr>
            <a:r>
              <a:rPr lang="en-US" sz="960" b="1" dirty="0">
                <a:solidFill>
                  <a:srgbClr val="2A7F50"/>
                </a:solidFill>
                <a:latin typeface="Calibri" pitchFamily="34" charset="0"/>
                <a:ea typeface="Calibri" pitchFamily="34" charset="-122"/>
                <a:cs typeface="Calibri" pitchFamily="34" charset="-120"/>
              </a:rPr>
              <a:t>The engineer</a:t>
            </a:r>
            <a:endParaRPr lang="en-US" sz="960" dirty="0"/>
          </a:p>
        </p:txBody>
      </p:sp>
      <p:sp>
        <p:nvSpPr>
          <p:cNvPr id="51" name="Text 44"/>
          <p:cNvSpPr/>
          <p:nvPr/>
        </p:nvSpPr>
        <p:spPr>
          <a:xfrm>
            <a:off x="5129784" y="5257800"/>
            <a:ext cx="1810512" cy="530352"/>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Reviews every flagged line, edits any BOM line — a real quote overrides the catalogue.</a:t>
            </a:r>
            <a:endParaRPr lang="en-US" sz="800" dirty="0"/>
          </a:p>
        </p:txBody>
      </p:sp>
      <p:sp>
        <p:nvSpPr>
          <p:cNvPr id="52" name="Shape 45"/>
          <p:cNvSpPr/>
          <p:nvPr/>
        </p:nvSpPr>
        <p:spPr>
          <a:xfrm>
            <a:off x="7498080" y="2450592"/>
            <a:ext cx="2286000" cy="1700784"/>
          </a:xfrm>
          <a:prstGeom prst="roundRect">
            <a:avLst>
              <a:gd name="adj" fmla="val 5376"/>
            </a:avLst>
          </a:prstGeom>
          <a:solidFill>
            <a:srgbClr val="0E5A5A"/>
          </a:solidFill>
          <a:ln/>
        </p:spPr>
      </p:sp>
      <p:sp>
        <p:nvSpPr>
          <p:cNvPr id="53" name="Shape 46"/>
          <p:cNvSpPr/>
          <p:nvPr/>
        </p:nvSpPr>
        <p:spPr>
          <a:xfrm>
            <a:off x="8412480" y="2596896"/>
            <a:ext cx="457200" cy="457200"/>
          </a:xfrm>
          <a:prstGeom prst="ellipse">
            <a:avLst/>
          </a:prstGeom>
          <a:solidFill>
            <a:srgbClr val="17A398"/>
          </a:solidFill>
          <a:ln/>
        </p:spPr>
      </p:sp>
      <p:pic>
        <p:nvPicPr>
          <p:cNvPr id="54" name="Image 5" descr="preencoded.png">    </p:cNvPr>
          <p:cNvPicPr>
            <a:picLocks noChangeAspect="1"/>
          </p:cNvPicPr>
          <p:nvPr/>
        </p:nvPicPr>
        <p:blipFill>
          <a:blip r:embed="rId6"/>
          <a:stretch>
            <a:fillRect/>
          </a:stretch>
        </p:blipFill>
        <p:spPr>
          <a:xfrm>
            <a:off x="8531352" y="2715768"/>
            <a:ext cx="219456" cy="219456"/>
          </a:xfrm>
          <a:prstGeom prst="rect">
            <a:avLst/>
          </a:prstGeom>
        </p:spPr>
      </p:pic>
      <p:sp>
        <p:nvSpPr>
          <p:cNvPr id="55" name="Text 47"/>
          <p:cNvSpPr/>
          <p:nvPr/>
        </p:nvSpPr>
        <p:spPr>
          <a:xfrm>
            <a:off x="7589520" y="3127248"/>
            <a:ext cx="21031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COST ENGINE</a:t>
            </a:r>
            <a:endParaRPr lang="en-US" sz="1150" dirty="0"/>
          </a:p>
        </p:txBody>
      </p:sp>
      <p:sp>
        <p:nvSpPr>
          <p:cNvPr id="56" name="Text 48"/>
          <p:cNvSpPr/>
          <p:nvPr/>
        </p:nvSpPr>
        <p:spPr>
          <a:xfrm>
            <a:off x="7589520" y="3419856"/>
            <a:ext cx="2103120" cy="658368"/>
          </a:xfrm>
          <a:prstGeom prst="rect">
            <a:avLst/>
          </a:prstGeom>
          <a:noFill/>
          <a:ln/>
        </p:spPr>
        <p:txBody>
          <a:bodyPr wrap="square" lIns="0" tIns="0" rIns="0" bIns="0" rtlCol="0" anchor="t"/>
          <a:lstStyle/>
          <a:p>
            <a:pPr algn="ctr" indent="0" marL="0">
              <a:buNone/>
            </a:pPr>
            <a:r>
              <a:rPr lang="en-US" sz="760" dirty="0">
                <a:solidFill>
                  <a:srgbClr val="9FD9CF"/>
                </a:solidFill>
                <a:latin typeface="Calibri" pitchFamily="34" charset="0"/>
                <a:ea typeface="Calibri" pitchFamily="34" charset="-122"/>
                <a:cs typeface="Calibri" pitchFamily="34" charset="-120"/>
              </a:rPr>
              <a:t>PCB fab: a bought-in price from fabricators’ price tables — no overhead or margin added.</a:t>
            </a:r>
            <a:endParaRPr lang="en-US" sz="760" dirty="0"/>
          </a:p>
          <a:p>
            <a:pPr algn="ctr" indent="0" marL="0">
              <a:buNone/>
            </a:pPr>
            <a:r>
              <a:rPr lang="en-US" sz="760" dirty="0">
                <a:solidFill>
                  <a:srgbClr val="9FD9CF"/>
                </a:solidFill>
                <a:latin typeface="Calibri" pitchFamily="34" charset="0"/>
                <a:ea typeface="Calibri" pitchFamily="34" charset="-122"/>
                <a:cs typeface="Calibri" pitchFamily="34" charset="-120"/>
              </a:rPr>
              <a:t>Assembly: placements, AOI, test — at country rates.</a:t>
            </a:r>
            <a:endParaRPr lang="en-US" sz="760" dirty="0"/>
          </a:p>
        </p:txBody>
      </p:sp>
      <p:sp>
        <p:nvSpPr>
          <p:cNvPr id="57" name="Shape 49"/>
          <p:cNvSpPr/>
          <p:nvPr/>
        </p:nvSpPr>
        <p:spPr>
          <a:xfrm>
            <a:off x="7498080" y="4352544"/>
            <a:ext cx="2286000" cy="841248"/>
          </a:xfrm>
          <a:prstGeom prst="roundRect">
            <a:avLst>
              <a:gd name="adj" fmla="val 9783"/>
            </a:avLst>
          </a:prstGeom>
          <a:solidFill>
            <a:srgbClr val="E6F4F1"/>
          </a:solidFill>
          <a:ln w="17780">
            <a:solidFill>
              <a:srgbClr val="0D7D71"/>
            </a:solidFill>
            <a:prstDash val="solid"/>
          </a:ln>
        </p:spPr>
      </p:sp>
      <p:sp>
        <p:nvSpPr>
          <p:cNvPr id="58" name="Text 50"/>
          <p:cNvSpPr/>
          <p:nvPr/>
        </p:nvSpPr>
        <p:spPr>
          <a:xfrm>
            <a:off x="7644384" y="4453128"/>
            <a:ext cx="1993392" cy="27432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Country rates</a:t>
            </a:r>
            <a:endParaRPr lang="en-US" sz="960" dirty="0"/>
          </a:p>
        </p:txBody>
      </p:sp>
      <p:sp>
        <p:nvSpPr>
          <p:cNvPr id="59" name="Text 51"/>
          <p:cNvSpPr/>
          <p:nvPr/>
        </p:nvSpPr>
        <p:spPr>
          <a:xfrm>
            <a:off x="7644384" y="4764024"/>
            <a:ext cx="1993392" cy="310896"/>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Per-country labour £/hr and electricity £/kWh from published figures — not scaled guesses.</a:t>
            </a:r>
            <a:endParaRPr lang="en-US" sz="800" dirty="0"/>
          </a:p>
        </p:txBody>
      </p:sp>
      <p:sp>
        <p:nvSpPr>
          <p:cNvPr id="60" name="Shape 52"/>
          <p:cNvSpPr/>
          <p:nvPr/>
        </p:nvSpPr>
        <p:spPr>
          <a:xfrm>
            <a:off x="2606040" y="4956048"/>
            <a:ext cx="2148840" cy="950976"/>
          </a:xfrm>
          <a:prstGeom prst="roundRect">
            <a:avLst>
              <a:gd name="adj" fmla="val 8654"/>
            </a:avLst>
          </a:prstGeom>
          <a:solidFill>
            <a:srgbClr val="FBEAE8"/>
          </a:solidFill>
          <a:ln w="15875">
            <a:solidFill>
              <a:srgbClr val="B03A2E"/>
            </a:solidFill>
            <a:prstDash val="solid"/>
          </a:ln>
        </p:spPr>
      </p:sp>
      <p:sp>
        <p:nvSpPr>
          <p:cNvPr id="61" name="Text 53"/>
          <p:cNvSpPr/>
          <p:nvPr/>
        </p:nvSpPr>
        <p:spPr>
          <a:xfrm>
            <a:off x="2743200" y="5010912"/>
            <a:ext cx="1874520" cy="164592"/>
          </a:xfrm>
          <a:prstGeom prst="rect">
            <a:avLst/>
          </a:prstGeom>
          <a:noFill/>
          <a:ln/>
        </p:spPr>
        <p:txBody>
          <a:bodyPr wrap="square" lIns="0" tIns="0" rIns="0" bIns="0" rtlCol="0" anchor="ctr"/>
          <a:lstStyle/>
          <a:p>
            <a:pPr indent="0" marL="0">
              <a:buNone/>
            </a:pPr>
            <a:r>
              <a:rPr lang="en-US" sz="750" b="1" spc="40" kern="0" dirty="0">
                <a:solidFill>
                  <a:srgbClr val="B03A2E"/>
                </a:solidFill>
                <a:latin typeface="Calibri" pitchFamily="34" charset="0"/>
                <a:ea typeface="Calibri" pitchFamily="34" charset="-122"/>
                <a:cs typeface="Calibri" pitchFamily="34" charset="-120"/>
              </a:rPr>
              <a:t>AT JLR — AI IS OFF</a:t>
            </a:r>
            <a:endParaRPr lang="en-US" sz="750" dirty="0"/>
          </a:p>
        </p:txBody>
      </p:sp>
      <p:sp>
        <p:nvSpPr>
          <p:cNvPr id="62" name="Text 54"/>
          <p:cNvSpPr/>
          <p:nvPr/>
        </p:nvSpPr>
        <p:spPr>
          <a:xfrm>
            <a:off x="2743200" y="5175504"/>
            <a:ext cx="1874520" cy="676656"/>
          </a:xfrm>
          <a:prstGeom prst="rect">
            <a:avLst/>
          </a:prstGeom>
          <a:noFill/>
          <a:ln/>
        </p:spPr>
        <p:txBody>
          <a:bodyPr wrap="square" lIns="0" tIns="0" rIns="0" bIns="0" rtlCol="0" anchor="t"/>
          <a:lstStyle/>
          <a:p>
            <a:pPr indent="0" marL="0">
              <a:buNone/>
            </a:pPr>
            <a:r>
              <a:rPr lang="en-US" sz="750" dirty="0">
                <a:solidFill>
                  <a:srgbClr val="3A4356"/>
                </a:solidFill>
                <a:latin typeface="Calibri" pitchFamily="34" charset="0"/>
                <a:ea typeface="Calibri" pitchFamily="34" charset="-122"/>
                <a:cs typeface="Calibri" pitchFamily="34" charset="-120"/>
              </a:rPr>
              <a:t>AIR_GAPPED=1 hides this flow. The PCB fab and PCBA forms still cost a board from typed inputs.</a:t>
            </a:r>
            <a:endParaRPr lang="en-US" sz="750" dirty="0"/>
          </a:p>
          <a:p>
            <a:pPr indent="0" marL="0">
              <a:buNone/>
            </a:pPr>
            <a:r>
              <a:rPr lang="en-US" sz="750" dirty="0">
                <a:solidFill>
                  <a:srgbClr val="3A4356"/>
                </a:solidFill>
                <a:latin typeface="Calibri" pitchFamily="34" charset="0"/>
                <a:ea typeface="Calibri" pitchFamily="34" charset="-122"/>
                <a:cs typeface="Calibri" pitchFamily="34" charset="-120"/>
              </a:rPr>
              <a:t>Live distributor pricing exists but is off; the offline catalogue is the source.</a:t>
            </a:r>
            <a:endParaRPr lang="en-US" sz="750" dirty="0"/>
          </a:p>
        </p:txBody>
      </p:sp>
      <p:sp>
        <p:nvSpPr>
          <p:cNvPr id="63" name="Shape 55"/>
          <p:cNvSpPr/>
          <p:nvPr/>
        </p:nvSpPr>
        <p:spPr>
          <a:xfrm>
            <a:off x="2423160" y="3008376"/>
            <a:ext cx="182880" cy="0"/>
          </a:xfrm>
          <a:prstGeom prst="line">
            <a:avLst/>
          </a:prstGeom>
          <a:noFill/>
          <a:ln w="22225">
            <a:solidFill>
              <a:srgbClr val="1D6FB8"/>
            </a:solidFill>
            <a:prstDash val="solid"/>
            <a:tailEnd type="triangle"/>
          </a:ln>
        </p:spPr>
      </p:sp>
      <p:sp>
        <p:nvSpPr>
          <p:cNvPr id="64" name="Shape 56"/>
          <p:cNvSpPr/>
          <p:nvPr/>
        </p:nvSpPr>
        <p:spPr>
          <a:xfrm>
            <a:off x="3611880" y="3566160"/>
            <a:ext cx="0" cy="146304"/>
          </a:xfrm>
          <a:prstGeom prst="line">
            <a:avLst/>
          </a:prstGeom>
          <a:noFill/>
          <a:ln w="22225">
            <a:solidFill>
              <a:srgbClr val="4F46E5"/>
            </a:solidFill>
            <a:prstDash val="solid"/>
            <a:tailEnd type="triangle"/>
          </a:ln>
        </p:spPr>
      </p:sp>
      <p:sp>
        <p:nvSpPr>
          <p:cNvPr id="65" name="Shape 57"/>
          <p:cNvSpPr/>
          <p:nvPr/>
        </p:nvSpPr>
        <p:spPr>
          <a:xfrm>
            <a:off x="4754880" y="3008376"/>
            <a:ext cx="228600" cy="0"/>
          </a:xfrm>
          <a:prstGeom prst="line">
            <a:avLst/>
          </a:prstGeom>
          <a:noFill/>
          <a:ln w="22225">
            <a:solidFill>
              <a:srgbClr val="4F46E5"/>
            </a:solidFill>
            <a:prstDash val="solid"/>
            <a:tailEnd type="triangle"/>
          </a:ln>
        </p:spPr>
      </p:sp>
      <p:sp>
        <p:nvSpPr>
          <p:cNvPr id="66" name="Shape 58"/>
          <p:cNvSpPr/>
          <p:nvPr/>
        </p:nvSpPr>
        <p:spPr>
          <a:xfrm flipV="1">
            <a:off x="4754880" y="3520440"/>
            <a:ext cx="228600" cy="749808"/>
          </a:xfrm>
          <a:prstGeom prst="line">
            <a:avLst/>
          </a:prstGeom>
          <a:noFill/>
          <a:ln w="17780">
            <a:solidFill>
              <a:srgbClr val="4F46E5"/>
            </a:solidFill>
            <a:prstDash val="solid"/>
            <a:tailEnd type="triangle"/>
          </a:ln>
        </p:spPr>
      </p:sp>
      <p:sp>
        <p:nvSpPr>
          <p:cNvPr id="67" name="Shape 59"/>
          <p:cNvSpPr/>
          <p:nvPr/>
        </p:nvSpPr>
        <p:spPr>
          <a:xfrm>
            <a:off x="7086600" y="3063240"/>
            <a:ext cx="411480" cy="0"/>
          </a:xfrm>
          <a:prstGeom prst="line">
            <a:avLst/>
          </a:prstGeom>
          <a:noFill/>
          <a:ln w="22225">
            <a:solidFill>
              <a:srgbClr val="99651A"/>
            </a:solidFill>
            <a:prstDash val="solid"/>
            <a:tailEnd type="triangle"/>
          </a:ln>
        </p:spPr>
      </p:sp>
      <p:sp>
        <p:nvSpPr>
          <p:cNvPr id="68" name="Shape 60"/>
          <p:cNvSpPr/>
          <p:nvPr/>
        </p:nvSpPr>
        <p:spPr>
          <a:xfrm flipH="1">
            <a:off x="7086600" y="4773168"/>
            <a:ext cx="411480" cy="347472"/>
          </a:xfrm>
          <a:prstGeom prst="line">
            <a:avLst/>
          </a:prstGeom>
          <a:noFill/>
          <a:ln w="17780">
            <a:solidFill>
              <a:srgbClr val="0D7D71"/>
            </a:solidFill>
            <a:prstDash val="solid"/>
            <a:tailEnd type="triangle"/>
          </a:ln>
        </p:spPr>
      </p:sp>
      <p:sp>
        <p:nvSpPr>
          <p:cNvPr id="69" name="Shape 61"/>
          <p:cNvSpPr/>
          <p:nvPr/>
        </p:nvSpPr>
        <p:spPr>
          <a:xfrm flipV="1">
            <a:off x="6035040" y="3685032"/>
            <a:ext cx="0" cy="1161288"/>
          </a:xfrm>
          <a:prstGeom prst="line">
            <a:avLst/>
          </a:prstGeom>
          <a:noFill/>
          <a:ln w="17780">
            <a:solidFill>
              <a:srgbClr val="2A7F50"/>
            </a:solidFill>
            <a:prstDash val="solid"/>
            <a:tailEnd type="triangle"/>
          </a:ln>
        </p:spPr>
      </p:sp>
      <p:sp>
        <p:nvSpPr>
          <p:cNvPr id="70" name="Shape 62"/>
          <p:cNvSpPr/>
          <p:nvPr/>
        </p:nvSpPr>
        <p:spPr>
          <a:xfrm>
            <a:off x="9784080" y="3246120"/>
            <a:ext cx="320040" cy="0"/>
          </a:xfrm>
          <a:prstGeom prst="line">
            <a:avLst/>
          </a:prstGeom>
          <a:noFill/>
          <a:ln w="22225">
            <a:solidFill>
              <a:srgbClr val="2A7F50"/>
            </a:solidFill>
            <a:prstDash val="solid"/>
            <a:tailEnd type="triangle"/>
          </a:ln>
        </p:spPr>
      </p:sp>
      <p:sp>
        <p:nvSpPr>
          <p:cNvPr id="71" name="Shape 63"/>
          <p:cNvSpPr/>
          <p:nvPr/>
        </p:nvSpPr>
        <p:spPr>
          <a:xfrm>
            <a:off x="9784080" y="4754880"/>
            <a:ext cx="320040" cy="685800"/>
          </a:xfrm>
          <a:prstGeom prst="line">
            <a:avLst/>
          </a:prstGeom>
          <a:noFill/>
          <a:ln w="17780">
            <a:solidFill>
              <a:srgbClr val="2A7F50"/>
            </a:solidFill>
            <a:prstDash val="solid"/>
            <a:tailEnd type="triangle"/>
          </a:ln>
        </p:spPr>
      </p:sp>
      <p:sp>
        <p:nvSpPr>
          <p:cNvPr id="72" name="Shape 64"/>
          <p:cNvSpPr/>
          <p:nvPr/>
        </p:nvSpPr>
        <p:spPr>
          <a:xfrm>
            <a:off x="4197096" y="2368296"/>
            <a:ext cx="548640" cy="155448"/>
          </a:xfrm>
          <a:prstGeom prst="roundRect">
            <a:avLst>
              <a:gd name="adj" fmla="val 50000"/>
            </a:avLst>
          </a:prstGeom>
          <a:solidFill>
            <a:srgbClr val="4F46E5"/>
          </a:solidFill>
          <a:ln/>
        </p:spPr>
      </p:sp>
      <p:sp>
        <p:nvSpPr>
          <p:cNvPr id="73" name="Text 65"/>
          <p:cNvSpPr/>
          <p:nvPr/>
        </p:nvSpPr>
        <p:spPr>
          <a:xfrm>
            <a:off x="4197096"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74" name="Shape 66"/>
          <p:cNvSpPr/>
          <p:nvPr/>
        </p:nvSpPr>
        <p:spPr>
          <a:xfrm>
            <a:off x="4197096" y="3630168"/>
            <a:ext cx="548640" cy="155448"/>
          </a:xfrm>
          <a:prstGeom prst="roundRect">
            <a:avLst>
              <a:gd name="adj" fmla="val 50000"/>
            </a:avLst>
          </a:prstGeom>
          <a:solidFill>
            <a:srgbClr val="4F46E5"/>
          </a:solidFill>
          <a:ln/>
        </p:spPr>
      </p:sp>
      <p:sp>
        <p:nvSpPr>
          <p:cNvPr id="75" name="Text 67"/>
          <p:cNvSpPr/>
          <p:nvPr/>
        </p:nvSpPr>
        <p:spPr>
          <a:xfrm>
            <a:off x="4197096" y="3630168"/>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76" name="Shape 68"/>
          <p:cNvSpPr/>
          <p:nvPr/>
        </p:nvSpPr>
        <p:spPr>
          <a:xfrm>
            <a:off x="6528816" y="2368296"/>
            <a:ext cx="548640" cy="155448"/>
          </a:xfrm>
          <a:prstGeom prst="roundRect">
            <a:avLst>
              <a:gd name="adj" fmla="val 50000"/>
            </a:avLst>
          </a:prstGeom>
          <a:solidFill>
            <a:srgbClr val="99651A"/>
          </a:solidFill>
          <a:ln/>
        </p:spPr>
      </p:sp>
      <p:sp>
        <p:nvSpPr>
          <p:cNvPr id="77" name="Text 69"/>
          <p:cNvSpPr/>
          <p:nvPr/>
        </p:nvSpPr>
        <p:spPr>
          <a:xfrm>
            <a:off x="6528816"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78" name="Shape 70"/>
          <p:cNvSpPr/>
          <p:nvPr/>
        </p:nvSpPr>
        <p:spPr>
          <a:xfrm>
            <a:off x="9226296" y="2368296"/>
            <a:ext cx="548640" cy="155448"/>
          </a:xfrm>
          <a:prstGeom prst="roundRect">
            <a:avLst>
              <a:gd name="adj" fmla="val 50000"/>
            </a:avLst>
          </a:prstGeom>
          <a:solidFill>
            <a:srgbClr val="0D7D71"/>
          </a:solidFill>
          <a:ln/>
        </p:spPr>
      </p:sp>
      <p:sp>
        <p:nvSpPr>
          <p:cNvPr id="79" name="Text 71"/>
          <p:cNvSpPr/>
          <p:nvPr/>
        </p:nvSpPr>
        <p:spPr>
          <a:xfrm>
            <a:off x="9226296" y="2368296"/>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80" name="Shape 72"/>
          <p:cNvSpPr/>
          <p:nvPr/>
        </p:nvSpPr>
        <p:spPr>
          <a:xfrm>
            <a:off x="9226296" y="4270248"/>
            <a:ext cx="548640" cy="155448"/>
          </a:xfrm>
          <a:prstGeom prst="roundRect">
            <a:avLst>
              <a:gd name="adj" fmla="val 50000"/>
            </a:avLst>
          </a:prstGeom>
          <a:solidFill>
            <a:srgbClr val="0D7D71"/>
          </a:solidFill>
          <a:ln/>
        </p:spPr>
      </p:sp>
      <p:sp>
        <p:nvSpPr>
          <p:cNvPr id="81" name="Text 73"/>
          <p:cNvSpPr/>
          <p:nvPr/>
        </p:nvSpPr>
        <p:spPr>
          <a:xfrm>
            <a:off x="9226296" y="4270248"/>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AUTO</a:t>
            </a:r>
            <a:endParaRPr lang="en-US" sz="750" dirty="0"/>
          </a:p>
        </p:txBody>
      </p:sp>
      <p:sp>
        <p:nvSpPr>
          <p:cNvPr id="82" name="Shape 74"/>
          <p:cNvSpPr/>
          <p:nvPr/>
        </p:nvSpPr>
        <p:spPr>
          <a:xfrm>
            <a:off x="6528816" y="4764024"/>
            <a:ext cx="548640" cy="155448"/>
          </a:xfrm>
          <a:prstGeom prst="roundRect">
            <a:avLst>
              <a:gd name="adj" fmla="val 50000"/>
            </a:avLst>
          </a:prstGeom>
          <a:solidFill>
            <a:srgbClr val="2A7F50"/>
          </a:solidFill>
          <a:ln/>
        </p:spPr>
      </p:sp>
      <p:sp>
        <p:nvSpPr>
          <p:cNvPr id="83" name="Text 75"/>
          <p:cNvSpPr/>
          <p:nvPr/>
        </p:nvSpPr>
        <p:spPr>
          <a:xfrm>
            <a:off x="6528816" y="4764024"/>
            <a:ext cx="548640" cy="155448"/>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HUMAN</a:t>
            </a:r>
            <a:endParaRPr lang="en-US" sz="750" dirty="0"/>
          </a:p>
        </p:txBody>
      </p:sp>
      <p:sp>
        <p:nvSpPr>
          <p:cNvPr id="84" name="Shape 76"/>
          <p:cNvSpPr/>
          <p:nvPr/>
        </p:nvSpPr>
        <p:spPr>
          <a:xfrm>
            <a:off x="411480" y="6126480"/>
            <a:ext cx="11338560" cy="384048"/>
          </a:xfrm>
          <a:prstGeom prst="roundRect">
            <a:avLst>
              <a:gd name="adj" fmla="val 19048"/>
            </a:avLst>
          </a:prstGeom>
          <a:solidFill>
            <a:srgbClr val="EAF6EF"/>
          </a:solidFill>
          <a:ln w="12700">
            <a:solidFill>
              <a:srgbClr val="2A7F50"/>
            </a:solidFill>
            <a:prstDash val="solid"/>
          </a:ln>
        </p:spPr>
      </p:sp>
      <p:sp>
        <p:nvSpPr>
          <p:cNvPr id="85" name="Text 77"/>
          <p:cNvSpPr/>
          <p:nvPr/>
        </p:nvSpPr>
        <p:spPr>
          <a:xfrm>
            <a:off x="594360" y="6126480"/>
            <a:ext cx="10972800" cy="384048"/>
          </a:xfrm>
          <a:prstGeom prst="rect">
            <a:avLst/>
          </a:prstGeom>
          <a:noFill/>
          <a:ln/>
        </p:spPr>
        <p:txBody>
          <a:bodyPr wrap="square" lIns="0" tIns="0" rIns="0" bIns="0" rtlCol="0" anchor="ctr"/>
          <a:lstStyle/>
          <a:p>
            <a:pPr indent="0" marL="0">
              <a:buNone/>
            </a:pPr>
            <a:r>
              <a:rPr lang="en-US" sz="1000" b="1" dirty="0">
                <a:solidFill>
                  <a:srgbClr val="2A7F50"/>
                </a:solidFill>
                <a:latin typeface="Calibri" pitchFamily="34" charset="0"/>
                <a:ea typeface="Calibri" pitchFamily="34" charset="-122"/>
                <a:cs typeface="Calibri" pitchFamily="34" charset="-120"/>
              </a:rPr>
              <a:t>Read it in one line:  </a:t>
            </a:r>
            <a:pPr indent="0" marL="0">
              <a:buNone/>
            </a:pPr>
            <a:r>
              <a:rPr lang="en-US" sz="1000" dirty="0">
                <a:solidFill>
                  <a:srgbClr val="3A4356"/>
                </a:solidFill>
                <a:latin typeface="Calibri" pitchFamily="34" charset="0"/>
                <a:ea typeface="Calibri" pitchFamily="34" charset="-122"/>
                <a:cs typeface="Calibri" pitchFamily="34" charset="-120"/>
              </a:rPr>
              <a:t>when AI is on, it reads the board and names every part — then the offline catalogue prices it, the fab price and assembly model cost it, and the engineer owns every doubtful line. Off at JLR.</a:t>
            </a:r>
            <a:endParaRPr lang="en-US" sz="1000" dirty="0"/>
          </a:p>
        </p:txBody>
      </p:sp>
      <p:sp>
        <p:nvSpPr>
          <p:cNvPr id="86" name="Text 7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87" name="Text 7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6325C"/>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Who Else Automates PCBA Costing</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Three different markets get the same name — and only one of them is what we built</a:t>
            </a:r>
            <a:endParaRPr lang="en-US" sz="1200" dirty="0"/>
          </a:p>
        </p:txBody>
      </p:sp>
      <p:sp>
        <p:nvSpPr>
          <p:cNvPr id="5" name="Shape 3"/>
          <p:cNvSpPr/>
          <p:nvPr/>
        </p:nvSpPr>
        <p:spPr>
          <a:xfrm>
            <a:off x="457200" y="1170432"/>
            <a:ext cx="3602736" cy="3127248"/>
          </a:xfrm>
          <a:prstGeom prst="roundRect">
            <a:avLst>
              <a:gd name="adj" fmla="val 2632"/>
            </a:avLst>
          </a:prstGeom>
          <a:solidFill>
            <a:srgbClr val="FFFFFF"/>
          </a:solidFill>
          <a:ln w="17780">
            <a:solidFill>
              <a:srgbClr val="1D6FB8"/>
            </a:solidFill>
            <a:prstDash val="solid"/>
          </a:ln>
        </p:spPr>
      </p:sp>
      <p:sp>
        <p:nvSpPr>
          <p:cNvPr id="6" name="Shape 4"/>
          <p:cNvSpPr/>
          <p:nvPr/>
        </p:nvSpPr>
        <p:spPr>
          <a:xfrm>
            <a:off x="457200" y="1170432"/>
            <a:ext cx="3602736" cy="310896"/>
          </a:xfrm>
          <a:prstGeom prst="rect">
            <a:avLst/>
          </a:prstGeom>
          <a:solidFill>
            <a:srgbClr val="1D6FB8"/>
          </a:solidFill>
          <a:ln/>
        </p:spPr>
      </p:sp>
      <p:sp>
        <p:nvSpPr>
          <p:cNvPr id="7" name="Text 5"/>
          <p:cNvSpPr/>
          <p:nvPr/>
        </p:nvSpPr>
        <p:spPr>
          <a:xfrm>
            <a:off x="585216" y="1170432"/>
            <a:ext cx="3346704" cy="310896"/>
          </a:xfrm>
          <a:prstGeom prst="rect">
            <a:avLst/>
          </a:prstGeom>
          <a:noFill/>
          <a:ln/>
        </p:spPr>
        <p:txBody>
          <a:bodyPr wrap="square" lIns="0" tIns="0" rIns="0" bIns="0" rtlCol="0" anchor="ctr"/>
          <a:lstStyle/>
          <a:p>
            <a:pPr indent="0" marL="0">
              <a:buNone/>
            </a:pPr>
            <a:r>
              <a:rPr lang="en-US" sz="920" b="1" spc="50" kern="0" dirty="0">
                <a:solidFill>
                  <a:srgbClr val="FFFFFF"/>
                </a:solidFill>
                <a:latin typeface="Calibri" pitchFamily="34" charset="0"/>
                <a:ea typeface="Calibri" pitchFamily="34" charset="-122"/>
                <a:cs typeface="Calibri" pitchFamily="34" charset="-120"/>
              </a:rPr>
              <a:t>A · EMS QUOTING</a:t>
            </a:r>
            <a:endParaRPr lang="en-US" sz="920" dirty="0"/>
          </a:p>
        </p:txBody>
      </p:sp>
      <p:sp>
        <p:nvSpPr>
          <p:cNvPr id="8" name="Text 6"/>
          <p:cNvSpPr/>
          <p:nvPr/>
        </p:nvSpPr>
        <p:spPr>
          <a:xfrm>
            <a:off x="585216" y="1554480"/>
            <a:ext cx="3346704" cy="237744"/>
          </a:xfrm>
          <a:prstGeom prst="rect">
            <a:avLst/>
          </a:prstGeom>
          <a:noFill/>
          <a:ln/>
        </p:spPr>
        <p:txBody>
          <a:bodyPr wrap="square" lIns="0" tIns="0" rIns="0" bIns="0" rtlCol="0" anchor="ctr"/>
          <a:lstStyle/>
          <a:p>
            <a:pPr indent="0" marL="0">
              <a:buNone/>
            </a:pPr>
            <a:r>
              <a:rPr lang="en-US" sz="900" b="1" i="1" dirty="0">
                <a:solidFill>
                  <a:srgbClr val="1D6FB8"/>
                </a:solidFill>
                <a:latin typeface="Calibri" pitchFamily="34" charset="0"/>
                <a:ea typeface="Calibri" pitchFamily="34" charset="-122"/>
                <a:cs typeface="Calibri" pitchFamily="34" charset="-120"/>
              </a:rPr>
              <a:t>Supplier-side. Cost-to-quote.</a:t>
            </a:r>
            <a:endParaRPr lang="en-US" sz="900" dirty="0"/>
          </a:p>
        </p:txBody>
      </p:sp>
      <p:sp>
        <p:nvSpPr>
          <p:cNvPr id="9" name="Text 7"/>
          <p:cNvSpPr/>
          <p:nvPr/>
        </p:nvSpPr>
        <p:spPr>
          <a:xfrm>
            <a:off x="585216" y="1828800"/>
            <a:ext cx="3346704" cy="475488"/>
          </a:xfrm>
          <a:prstGeom prst="rect">
            <a:avLst/>
          </a:prstGeom>
          <a:noFill/>
          <a:ln/>
        </p:spPr>
        <p:txBody>
          <a:bodyPr wrap="square" lIns="0" tIns="0" rIns="0" bIns="0" rtlCol="0" anchor="t"/>
          <a:lstStyle/>
          <a:p>
            <a:pPr indent="0" marL="0">
              <a:buNone/>
            </a:pPr>
            <a:r>
              <a:rPr lang="en-US" sz="940" b="1" dirty="0">
                <a:solidFill>
                  <a:srgbClr val="16325C"/>
                </a:solidFill>
                <a:latin typeface="Calibri" pitchFamily="34" charset="0"/>
                <a:ea typeface="Calibri" pitchFamily="34" charset="-122"/>
                <a:cs typeface="Calibri" pitchFamily="34" charset="-120"/>
              </a:rPr>
              <a:t>Luminovo · CalcuQuote</a:t>
            </a:r>
            <a:endParaRPr lang="en-US" sz="940" dirty="0"/>
          </a:p>
        </p:txBody>
      </p:sp>
      <p:sp>
        <p:nvSpPr>
          <p:cNvPr id="10" name="Text 8"/>
          <p:cNvSpPr/>
          <p:nvPr/>
        </p:nvSpPr>
        <p:spPr>
          <a:xfrm>
            <a:off x="585216" y="2359152"/>
            <a:ext cx="3346704" cy="11338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You already HAVE the BOM — the customer sent it. The job is a fast, competitive quote back.</a:t>
            </a:r>
            <a:endParaRPr lang="en-US" sz="860" dirty="0"/>
          </a:p>
        </p:txBody>
      </p:sp>
      <p:sp>
        <p:nvSpPr>
          <p:cNvPr id="11" name="Shape 9"/>
          <p:cNvSpPr/>
          <p:nvPr/>
        </p:nvSpPr>
        <p:spPr>
          <a:xfrm>
            <a:off x="585216" y="3602736"/>
            <a:ext cx="3346704" cy="566928"/>
          </a:xfrm>
          <a:prstGeom prst="roundRect">
            <a:avLst>
              <a:gd name="adj" fmla="val 11290"/>
            </a:avLst>
          </a:prstGeom>
          <a:solidFill>
            <a:srgbClr val="E8F1FA"/>
          </a:solidFill>
          <a:ln w="9525">
            <a:solidFill>
              <a:srgbClr val="1D6FB8"/>
            </a:solidFill>
            <a:prstDash val="solid"/>
          </a:ln>
        </p:spPr>
      </p:sp>
      <p:sp>
        <p:nvSpPr>
          <p:cNvPr id="12" name="Text 10"/>
          <p:cNvSpPr/>
          <p:nvPr/>
        </p:nvSpPr>
        <p:spPr>
          <a:xfrm>
            <a:off x="640080" y="3602736"/>
            <a:ext cx="3236976" cy="566928"/>
          </a:xfrm>
          <a:prstGeom prst="rect">
            <a:avLst/>
          </a:prstGeom>
          <a:noFill/>
          <a:ln/>
        </p:spPr>
        <p:txBody>
          <a:bodyPr wrap="square" lIns="0" tIns="0" rIns="0" bIns="0" rtlCol="0" anchor="ctr"/>
          <a:lstStyle/>
          <a:p>
            <a:pPr algn="ctr" indent="0" marL="0">
              <a:buNone/>
            </a:pPr>
            <a:r>
              <a:rPr lang="en-US" sz="840" b="1" dirty="0">
                <a:solidFill>
                  <a:srgbClr val="1D6FB8"/>
                </a:solidFill>
                <a:latin typeface="Consolas" pitchFamily="34" charset="0"/>
                <a:ea typeface="Consolas" pitchFamily="34" charset="-122"/>
                <a:cs typeface="Consolas" pitchFamily="34" charset="-120"/>
              </a:rPr>
              <a:t>BOM file in  →  price out</a:t>
            </a:r>
            <a:endParaRPr lang="en-US" sz="840" dirty="0"/>
          </a:p>
        </p:txBody>
      </p:sp>
      <p:sp>
        <p:nvSpPr>
          <p:cNvPr id="13" name="Shape 11"/>
          <p:cNvSpPr/>
          <p:nvPr/>
        </p:nvSpPr>
        <p:spPr>
          <a:xfrm>
            <a:off x="4288536" y="1170432"/>
            <a:ext cx="3602736" cy="3127248"/>
          </a:xfrm>
          <a:prstGeom prst="roundRect">
            <a:avLst>
              <a:gd name="adj" fmla="val 2632"/>
            </a:avLst>
          </a:prstGeom>
          <a:solidFill>
            <a:srgbClr val="FFFFFF"/>
          </a:solidFill>
          <a:ln w="17780">
            <a:solidFill>
              <a:srgbClr val="0D7D71"/>
            </a:solidFill>
            <a:prstDash val="solid"/>
          </a:ln>
        </p:spPr>
      </p:sp>
      <p:sp>
        <p:nvSpPr>
          <p:cNvPr id="14" name="Shape 12"/>
          <p:cNvSpPr/>
          <p:nvPr/>
        </p:nvSpPr>
        <p:spPr>
          <a:xfrm>
            <a:off x="4288536" y="1170432"/>
            <a:ext cx="3602736" cy="310896"/>
          </a:xfrm>
          <a:prstGeom prst="rect">
            <a:avLst/>
          </a:prstGeom>
          <a:solidFill>
            <a:srgbClr val="0D7D71"/>
          </a:solidFill>
          <a:ln/>
        </p:spPr>
      </p:sp>
      <p:sp>
        <p:nvSpPr>
          <p:cNvPr id="15" name="Text 13"/>
          <p:cNvSpPr/>
          <p:nvPr/>
        </p:nvSpPr>
        <p:spPr>
          <a:xfrm>
            <a:off x="4416552" y="1170432"/>
            <a:ext cx="3346704" cy="310896"/>
          </a:xfrm>
          <a:prstGeom prst="rect">
            <a:avLst/>
          </a:prstGeom>
          <a:noFill/>
          <a:ln/>
        </p:spPr>
        <p:txBody>
          <a:bodyPr wrap="square" lIns="0" tIns="0" rIns="0" bIns="0" rtlCol="0" anchor="ctr"/>
          <a:lstStyle/>
          <a:p>
            <a:pPr indent="0" marL="0">
              <a:buNone/>
            </a:pPr>
            <a:r>
              <a:rPr lang="en-US" sz="920" b="1" spc="50" kern="0" dirty="0">
                <a:solidFill>
                  <a:srgbClr val="FFFFFF"/>
                </a:solidFill>
                <a:latin typeface="Calibri" pitchFamily="34" charset="0"/>
                <a:ea typeface="Calibri" pitchFamily="34" charset="-122"/>
                <a:cs typeface="Calibri" pitchFamily="34" charset="-120"/>
              </a:rPr>
              <a:t>B · ENTERPRISE SHOULD-COST</a:t>
            </a:r>
            <a:endParaRPr lang="en-US" sz="920" dirty="0"/>
          </a:p>
        </p:txBody>
      </p:sp>
      <p:sp>
        <p:nvSpPr>
          <p:cNvPr id="16" name="Text 14"/>
          <p:cNvSpPr/>
          <p:nvPr/>
        </p:nvSpPr>
        <p:spPr>
          <a:xfrm>
            <a:off x="4416552" y="1554480"/>
            <a:ext cx="3346704" cy="237744"/>
          </a:xfrm>
          <a:prstGeom prst="rect">
            <a:avLst/>
          </a:prstGeom>
          <a:noFill/>
          <a:ln/>
        </p:spPr>
        <p:txBody>
          <a:bodyPr wrap="square" lIns="0" tIns="0" rIns="0" bIns="0" rtlCol="0" anchor="ctr"/>
          <a:lstStyle/>
          <a:p>
            <a:pPr indent="0" marL="0">
              <a:buNone/>
            </a:pPr>
            <a:r>
              <a:rPr lang="en-US" sz="900" b="1" i="1" dirty="0">
                <a:solidFill>
                  <a:srgbClr val="0D7D71"/>
                </a:solidFill>
                <a:latin typeface="Calibri" pitchFamily="34" charset="0"/>
                <a:ea typeface="Calibri" pitchFamily="34" charset="-122"/>
                <a:cs typeface="Calibri" pitchFamily="34" charset="-120"/>
              </a:rPr>
              <a:t>Buyer-side. What SHOULD it cost.</a:t>
            </a:r>
            <a:endParaRPr lang="en-US" sz="900" dirty="0"/>
          </a:p>
        </p:txBody>
      </p:sp>
      <p:sp>
        <p:nvSpPr>
          <p:cNvPr id="17" name="Text 15"/>
          <p:cNvSpPr/>
          <p:nvPr/>
        </p:nvSpPr>
        <p:spPr>
          <a:xfrm>
            <a:off x="4416552" y="1828800"/>
            <a:ext cx="3346704" cy="475488"/>
          </a:xfrm>
          <a:prstGeom prst="rect">
            <a:avLst/>
          </a:prstGeom>
          <a:noFill/>
          <a:ln/>
        </p:spPr>
        <p:txBody>
          <a:bodyPr wrap="square" lIns="0" tIns="0" rIns="0" bIns="0" rtlCol="0" anchor="t"/>
          <a:lstStyle/>
          <a:p>
            <a:pPr indent="0" marL="0">
              <a:buNone/>
            </a:pPr>
            <a:r>
              <a:rPr lang="en-US" sz="940" b="1" dirty="0">
                <a:solidFill>
                  <a:srgbClr val="16325C"/>
                </a:solidFill>
                <a:latin typeface="Calibri" pitchFamily="34" charset="0"/>
                <a:ea typeface="Calibri" pitchFamily="34" charset="-122"/>
                <a:cs typeface="Calibri" pitchFamily="34" charset="-120"/>
              </a:rPr>
              <a:t>aPriori · Siemens · FACTON · Tset · Boothroyd Dewhurst</a:t>
            </a:r>
            <a:endParaRPr lang="en-US" sz="940" dirty="0"/>
          </a:p>
        </p:txBody>
      </p:sp>
      <p:sp>
        <p:nvSpPr>
          <p:cNvPr id="18" name="Text 16"/>
          <p:cNvSpPr/>
          <p:nvPr/>
        </p:nvSpPr>
        <p:spPr>
          <a:xfrm>
            <a:off x="4416552" y="2359152"/>
            <a:ext cx="3346704" cy="11338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OEM cost engineering and purchasing. aPriori ships a full PCBA module — this is a mature, direct competitor.</a:t>
            </a:r>
            <a:endParaRPr lang="en-US" sz="860" dirty="0"/>
          </a:p>
        </p:txBody>
      </p:sp>
      <p:sp>
        <p:nvSpPr>
          <p:cNvPr id="19" name="Shape 17"/>
          <p:cNvSpPr/>
          <p:nvPr/>
        </p:nvSpPr>
        <p:spPr>
          <a:xfrm>
            <a:off x="4416552" y="3602736"/>
            <a:ext cx="3346704" cy="566928"/>
          </a:xfrm>
          <a:prstGeom prst="roundRect">
            <a:avLst>
              <a:gd name="adj" fmla="val 11290"/>
            </a:avLst>
          </a:prstGeom>
          <a:solidFill>
            <a:srgbClr val="E6F4F1"/>
          </a:solidFill>
          <a:ln w="9525">
            <a:solidFill>
              <a:srgbClr val="0D7D71"/>
            </a:solidFill>
            <a:prstDash val="solid"/>
          </a:ln>
        </p:spPr>
      </p:sp>
      <p:sp>
        <p:nvSpPr>
          <p:cNvPr id="20" name="Text 18"/>
          <p:cNvSpPr/>
          <p:nvPr/>
        </p:nvSpPr>
        <p:spPr>
          <a:xfrm>
            <a:off x="4471416" y="3602736"/>
            <a:ext cx="3236976" cy="566928"/>
          </a:xfrm>
          <a:prstGeom prst="rect">
            <a:avLst/>
          </a:prstGeom>
          <a:noFill/>
          <a:ln/>
        </p:spPr>
        <p:txBody>
          <a:bodyPr wrap="square" lIns="0" tIns="0" rIns="0" bIns="0" rtlCol="0" anchor="ctr"/>
          <a:lstStyle/>
          <a:p>
            <a:pPr algn="ctr" indent="0" marL="0">
              <a:buNone/>
            </a:pPr>
            <a:r>
              <a:rPr lang="en-US" sz="840" b="1" dirty="0">
                <a:solidFill>
                  <a:srgbClr val="0D7D71"/>
                </a:solidFill>
                <a:latin typeface="Consolas" pitchFamily="34" charset="0"/>
                <a:ea typeface="Consolas" pitchFamily="34" charset="-122"/>
                <a:cs typeface="Consolas" pitchFamily="34" charset="-120"/>
              </a:rPr>
              <a:t>BOM + board spec in  →  should-cost out</a:t>
            </a:r>
            <a:endParaRPr lang="en-US" sz="840" dirty="0"/>
          </a:p>
        </p:txBody>
      </p:sp>
      <p:sp>
        <p:nvSpPr>
          <p:cNvPr id="21" name="Shape 19"/>
          <p:cNvSpPr/>
          <p:nvPr/>
        </p:nvSpPr>
        <p:spPr>
          <a:xfrm>
            <a:off x="8119872" y="1170432"/>
            <a:ext cx="3602736" cy="3127248"/>
          </a:xfrm>
          <a:prstGeom prst="roundRect">
            <a:avLst>
              <a:gd name="adj" fmla="val 2632"/>
            </a:avLst>
          </a:prstGeom>
          <a:solidFill>
            <a:srgbClr val="FFFFFF"/>
          </a:solidFill>
          <a:ln w="17780">
            <a:solidFill>
              <a:srgbClr val="6B3FA0"/>
            </a:solidFill>
            <a:prstDash val="solid"/>
          </a:ln>
        </p:spPr>
      </p:sp>
      <p:sp>
        <p:nvSpPr>
          <p:cNvPr id="22" name="Shape 20"/>
          <p:cNvSpPr/>
          <p:nvPr/>
        </p:nvSpPr>
        <p:spPr>
          <a:xfrm>
            <a:off x="8119872" y="1170432"/>
            <a:ext cx="3602736" cy="310896"/>
          </a:xfrm>
          <a:prstGeom prst="rect">
            <a:avLst/>
          </a:prstGeom>
          <a:solidFill>
            <a:srgbClr val="6B3FA0"/>
          </a:solidFill>
          <a:ln/>
        </p:spPr>
      </p:sp>
      <p:sp>
        <p:nvSpPr>
          <p:cNvPr id="23" name="Text 21"/>
          <p:cNvSpPr/>
          <p:nvPr/>
        </p:nvSpPr>
        <p:spPr>
          <a:xfrm>
            <a:off x="8247888" y="1170432"/>
            <a:ext cx="3346704" cy="310896"/>
          </a:xfrm>
          <a:prstGeom prst="rect">
            <a:avLst/>
          </a:prstGeom>
          <a:noFill/>
          <a:ln/>
        </p:spPr>
        <p:txBody>
          <a:bodyPr wrap="square" lIns="0" tIns="0" rIns="0" bIns="0" rtlCol="0" anchor="ctr"/>
          <a:lstStyle/>
          <a:p>
            <a:pPr indent="0" marL="0">
              <a:buNone/>
            </a:pPr>
            <a:r>
              <a:rPr lang="en-US" sz="920" b="1" spc="50" kern="0" dirty="0">
                <a:solidFill>
                  <a:srgbClr val="FFFFFF"/>
                </a:solidFill>
                <a:latin typeface="Calibri" pitchFamily="34" charset="0"/>
                <a:ea typeface="Calibri" pitchFamily="34" charset="-122"/>
                <a:cs typeface="Calibri" pitchFamily="34" charset="-120"/>
              </a:rPr>
              <a:t>C · REVERSE COSTING</a:t>
            </a:r>
            <a:endParaRPr lang="en-US" sz="920" dirty="0"/>
          </a:p>
        </p:txBody>
      </p:sp>
      <p:sp>
        <p:nvSpPr>
          <p:cNvPr id="24" name="Text 22"/>
          <p:cNvSpPr/>
          <p:nvPr/>
        </p:nvSpPr>
        <p:spPr>
          <a:xfrm>
            <a:off x="8247888" y="1554480"/>
            <a:ext cx="3346704" cy="237744"/>
          </a:xfrm>
          <a:prstGeom prst="rect">
            <a:avLst/>
          </a:prstGeom>
          <a:noFill/>
          <a:ln/>
        </p:spPr>
        <p:txBody>
          <a:bodyPr wrap="square" lIns="0" tIns="0" rIns="0" bIns="0" rtlCol="0" anchor="ctr"/>
          <a:lstStyle/>
          <a:p>
            <a:pPr indent="0" marL="0">
              <a:buNone/>
            </a:pPr>
            <a:r>
              <a:rPr lang="en-US" sz="900" b="1" i="1" dirty="0">
                <a:solidFill>
                  <a:srgbClr val="6B3FA0"/>
                </a:solidFill>
                <a:latin typeface="Calibri" pitchFamily="34" charset="0"/>
                <a:ea typeface="Calibri" pitchFamily="34" charset="-122"/>
                <a:cs typeface="Calibri" pitchFamily="34" charset="-120"/>
              </a:rPr>
              <a:t>Physical board in. A service, not software.</a:t>
            </a:r>
            <a:endParaRPr lang="en-US" sz="900" dirty="0"/>
          </a:p>
        </p:txBody>
      </p:sp>
      <p:sp>
        <p:nvSpPr>
          <p:cNvPr id="25" name="Text 23"/>
          <p:cNvSpPr/>
          <p:nvPr/>
        </p:nvSpPr>
        <p:spPr>
          <a:xfrm>
            <a:off x="8247888" y="1828800"/>
            <a:ext cx="3346704" cy="475488"/>
          </a:xfrm>
          <a:prstGeom prst="rect">
            <a:avLst/>
          </a:prstGeom>
          <a:noFill/>
          <a:ln/>
        </p:spPr>
        <p:txBody>
          <a:bodyPr wrap="square" lIns="0" tIns="0" rIns="0" bIns="0" rtlCol="0" anchor="t"/>
          <a:lstStyle/>
          <a:p>
            <a:pPr indent="0" marL="0">
              <a:buNone/>
            </a:pPr>
            <a:r>
              <a:rPr lang="en-US" sz="940" b="1" dirty="0">
                <a:solidFill>
                  <a:srgbClr val="16325C"/>
                </a:solidFill>
                <a:latin typeface="Calibri" pitchFamily="34" charset="0"/>
                <a:ea typeface="Calibri" pitchFamily="34" charset="-122"/>
                <a:cs typeface="Calibri" pitchFamily="34" charset="-120"/>
              </a:rPr>
              <a:t>Yole SystemPlus · TechInsights</a:t>
            </a:r>
            <a:endParaRPr lang="en-US" sz="940" dirty="0"/>
          </a:p>
        </p:txBody>
      </p:sp>
      <p:sp>
        <p:nvSpPr>
          <p:cNvPr id="26" name="Text 24"/>
          <p:cNvSpPr/>
          <p:nvPr/>
        </p:nvSpPr>
        <p:spPr>
          <a:xfrm>
            <a:off x="8247888" y="2359152"/>
            <a:ext cx="3346704" cy="11338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Engineers decap, X-ray and cross-section a real board. Closest to what we do — done by hand, at consultancy price and pace.</a:t>
            </a:r>
            <a:endParaRPr lang="en-US" sz="860" dirty="0"/>
          </a:p>
        </p:txBody>
      </p:sp>
      <p:sp>
        <p:nvSpPr>
          <p:cNvPr id="27" name="Shape 25"/>
          <p:cNvSpPr/>
          <p:nvPr/>
        </p:nvSpPr>
        <p:spPr>
          <a:xfrm>
            <a:off x="8247888" y="3602736"/>
            <a:ext cx="3346704" cy="566928"/>
          </a:xfrm>
          <a:prstGeom prst="roundRect">
            <a:avLst>
              <a:gd name="adj" fmla="val 11290"/>
            </a:avLst>
          </a:prstGeom>
          <a:solidFill>
            <a:srgbClr val="F1EBF8"/>
          </a:solidFill>
          <a:ln w="9525">
            <a:solidFill>
              <a:srgbClr val="6B3FA0"/>
            </a:solidFill>
            <a:prstDash val="solid"/>
          </a:ln>
        </p:spPr>
      </p:sp>
      <p:sp>
        <p:nvSpPr>
          <p:cNvPr id="28" name="Text 26"/>
          <p:cNvSpPr/>
          <p:nvPr/>
        </p:nvSpPr>
        <p:spPr>
          <a:xfrm>
            <a:off x="8302752" y="3602736"/>
            <a:ext cx="3236976" cy="566928"/>
          </a:xfrm>
          <a:prstGeom prst="rect">
            <a:avLst/>
          </a:prstGeom>
          <a:noFill/>
          <a:ln/>
        </p:spPr>
        <p:txBody>
          <a:bodyPr wrap="square" lIns="0" tIns="0" rIns="0" bIns="0" rtlCol="0" anchor="ctr"/>
          <a:lstStyle/>
          <a:p>
            <a:pPr algn="ctr" indent="0" marL="0">
              <a:buNone/>
            </a:pPr>
            <a:r>
              <a:rPr lang="en-US" sz="840" b="1" dirty="0">
                <a:solidFill>
                  <a:srgbClr val="6B3FA0"/>
                </a:solidFill>
                <a:latin typeface="Consolas" pitchFamily="34" charset="0"/>
                <a:ea typeface="Consolas" pitchFamily="34" charset="-122"/>
                <a:cs typeface="Consolas" pitchFamily="34" charset="-120"/>
              </a:rPr>
              <a:t>The board itself  →  BOM + cost</a:t>
            </a:r>
            <a:endParaRPr lang="en-US" sz="840" dirty="0"/>
          </a:p>
        </p:txBody>
      </p:sp>
      <p:sp>
        <p:nvSpPr>
          <p:cNvPr id="29" name="Shape 27"/>
          <p:cNvSpPr/>
          <p:nvPr/>
        </p:nvSpPr>
        <p:spPr>
          <a:xfrm>
            <a:off x="457200" y="4443984"/>
            <a:ext cx="11274552" cy="603504"/>
          </a:xfrm>
          <a:prstGeom prst="roundRect">
            <a:avLst>
              <a:gd name="adj" fmla="val 12121"/>
            </a:avLst>
          </a:prstGeom>
          <a:solidFill>
            <a:srgbClr val="EEF1F6"/>
          </a:solidFill>
          <a:ln w="12700">
            <a:solidFill>
              <a:srgbClr val="686F7D"/>
            </a:solidFill>
            <a:prstDash val="solid"/>
          </a:ln>
        </p:spPr>
      </p:sp>
      <p:sp>
        <p:nvSpPr>
          <p:cNvPr id="30" name="Text 28"/>
          <p:cNvSpPr/>
          <p:nvPr/>
        </p:nvSpPr>
        <p:spPr>
          <a:xfrm>
            <a:off x="621792" y="4443984"/>
            <a:ext cx="10972800" cy="603504"/>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Underneath all three — the component price layer they rent:  </a:t>
            </a:r>
            <a:pPr indent="0" marL="0">
              <a:buNone/>
            </a:pPr>
            <a:r>
              <a:rPr lang="en-US" sz="940" dirty="0">
                <a:solidFill>
                  <a:srgbClr val="3A4356"/>
                </a:solidFill>
                <a:latin typeface="Calibri" pitchFamily="34" charset="0"/>
                <a:ea typeface="Calibri" pitchFamily="34" charset="-122"/>
                <a:cs typeface="Calibri" pitchFamily="34" charset="-120"/>
              </a:rPr>
              <a:t>SiliconExpert · Z2Data · Octopart / Nexar (Altium) · Supplyframe (Siemens).  Nobody in this market builds their own component price book — they subscribe to one.</a:t>
            </a:r>
            <a:endParaRPr lang="en-US" sz="940" dirty="0"/>
          </a:p>
        </p:txBody>
      </p:sp>
      <p:sp>
        <p:nvSpPr>
          <p:cNvPr id="31" name="Shape 29"/>
          <p:cNvSpPr/>
          <p:nvPr/>
        </p:nvSpPr>
        <p:spPr>
          <a:xfrm>
            <a:off x="457200" y="5157216"/>
            <a:ext cx="11274552" cy="548640"/>
          </a:xfrm>
          <a:prstGeom prst="roundRect">
            <a:avLst>
              <a:gd name="adj" fmla="val 13333"/>
            </a:avLst>
          </a:prstGeom>
          <a:solidFill>
            <a:srgbClr val="FCF3E3"/>
          </a:solidFill>
          <a:ln w="12700">
            <a:solidFill>
              <a:srgbClr val="99651A"/>
            </a:solidFill>
            <a:prstDash val="solid"/>
          </a:ln>
        </p:spPr>
      </p:sp>
      <p:sp>
        <p:nvSpPr>
          <p:cNvPr id="32" name="Text 30"/>
          <p:cNvSpPr/>
          <p:nvPr/>
        </p:nvSpPr>
        <p:spPr>
          <a:xfrm>
            <a:off x="621792" y="5157216"/>
            <a:ext cx="10972800" cy="548640"/>
          </a:xfrm>
          <a:prstGeom prst="rect">
            <a:avLst/>
          </a:prstGeom>
          <a:noFill/>
          <a:ln/>
        </p:spPr>
        <p:txBody>
          <a:bodyPr wrap="square" lIns="0" tIns="0" rIns="0" bIns="0" rtlCol="0" anchor="ctr"/>
          <a:lstStyle/>
          <a:p>
            <a:pPr indent="0" marL="0">
              <a:buNone/>
            </a:pPr>
            <a:r>
              <a:rPr lang="en-US" sz="940" b="1" dirty="0">
                <a:solidFill>
                  <a:srgbClr val="99651A"/>
                </a:solidFill>
                <a:latin typeface="Calibri" pitchFamily="34" charset="0"/>
                <a:ea typeface="Calibri" pitchFamily="34" charset="-122"/>
                <a:cs typeface="Calibri" pitchFamily="34" charset="-120"/>
              </a:rPr>
              <a:t>Not the same thing:  </a:t>
            </a:r>
            <a:pPr indent="0" marL="0">
              <a:buNone/>
            </a:pPr>
            <a:r>
              <a:rPr lang="en-US" sz="940" dirty="0">
                <a:solidFill>
                  <a:srgbClr val="3A4356"/>
                </a:solidFill>
                <a:latin typeface="Calibri" pitchFamily="34" charset="0"/>
                <a:ea typeface="Calibri" pitchFamily="34" charset="-122"/>
                <a:cs typeface="Calibri" pitchFamily="34" charset="-120"/>
              </a:rPr>
              <a:t>JLCPCB / PCBWay / Eurocircuits instant quoting is fully automated and fully public — but it returns THEIR price, which is a quotation, not a should-cost. Useful as a floor reference; useless as a negotiation position.</a:t>
            </a:r>
            <a:endParaRPr lang="en-US" sz="940" dirty="0"/>
          </a:p>
        </p:txBody>
      </p:sp>
      <p:sp>
        <p:nvSpPr>
          <p:cNvPr id="33" name="Shape 31"/>
          <p:cNvSpPr/>
          <p:nvPr/>
        </p:nvSpPr>
        <p:spPr>
          <a:xfrm>
            <a:off x="457200" y="5815584"/>
            <a:ext cx="11274552" cy="548640"/>
          </a:xfrm>
          <a:prstGeom prst="roundRect">
            <a:avLst>
              <a:gd name="adj" fmla="val 13333"/>
            </a:avLst>
          </a:prstGeom>
          <a:solidFill>
            <a:srgbClr val="E8F1FA"/>
          </a:solidFill>
          <a:ln w="12700">
            <a:solidFill>
              <a:srgbClr val="1D6FB8"/>
            </a:solidFill>
            <a:prstDash val="solid"/>
          </a:ln>
        </p:spPr>
      </p:sp>
      <p:sp>
        <p:nvSpPr>
          <p:cNvPr id="34" name="Text 32"/>
          <p:cNvSpPr/>
          <p:nvPr/>
        </p:nvSpPr>
        <p:spPr>
          <a:xfrm>
            <a:off x="621792" y="5815584"/>
            <a:ext cx="10972800" cy="548640"/>
          </a:xfrm>
          <a:prstGeom prst="rect">
            <a:avLst/>
          </a:prstGeom>
          <a:noFill/>
          <a:ln/>
        </p:spPr>
        <p:txBody>
          <a:bodyPr wrap="square" lIns="0" tIns="0" rIns="0" bIns="0" rtlCol="0" anchor="ctr"/>
          <a:lstStyle/>
          <a:p>
            <a:pPr indent="0" marL="0">
              <a:buNone/>
            </a:pPr>
            <a:r>
              <a:rPr lang="en-US" sz="980" b="1" dirty="0">
                <a:solidFill>
                  <a:srgbClr val="1D6FB8"/>
                </a:solidFill>
                <a:latin typeface="Calibri" pitchFamily="34" charset="0"/>
                <a:ea typeface="Calibri" pitchFamily="34" charset="-122"/>
                <a:cs typeface="Calibri" pitchFamily="34" charset="-120"/>
              </a:rPr>
              <a:t>Where we sit:  </a:t>
            </a:r>
            <a:pPr indent="0" marL="0">
              <a:buNone/>
            </a:pPr>
            <a:r>
              <a:rPr lang="en-US" sz="980" dirty="0">
                <a:solidFill>
                  <a:srgbClr val="3A4356"/>
                </a:solidFill>
                <a:latin typeface="Calibri" pitchFamily="34" charset="0"/>
                <a:ea typeface="Calibri" pitchFamily="34" charset="-122"/>
                <a:cs typeface="Calibri" pitchFamily="34" charset="-120"/>
              </a:rPr>
              <a:t>camp B by purpose — a buyer-side should-cost — reached by camp C’s route, from the physical board, automatically. The photo route needs AI, so it is off at JLR.</a:t>
            </a:r>
            <a:endParaRPr lang="en-US" sz="980" dirty="0"/>
          </a:p>
        </p:txBody>
      </p:sp>
      <p:sp>
        <p:nvSpPr>
          <p:cNvPr id="35" name="Text 3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who else automates PCBA costing · market landscape, sourced August 2026</a:t>
            </a:r>
            <a:endParaRPr lang="en-US" sz="850" dirty="0"/>
          </a:p>
        </p:txBody>
      </p:sp>
      <p:sp>
        <p:nvSpPr>
          <p:cNvPr id="36" name="Text 3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6325C"/>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Who Does What — Automation, Delivery Model and Price</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Every row from a named public source. Where a vendor does not publish a price, the cell says so — nothing here is estimated</a:t>
            </a:r>
            <a:endParaRPr lang="en-US" sz="1200" dirty="0"/>
          </a:p>
        </p:txBody>
      </p:sp>
      <p:sp>
        <p:nvSpPr>
          <p:cNvPr id="5" name="Shape 3"/>
          <p:cNvSpPr/>
          <p:nvPr/>
        </p:nvSpPr>
        <p:spPr>
          <a:xfrm>
            <a:off x="457200" y="1078992"/>
            <a:ext cx="11274552" cy="402336"/>
          </a:xfrm>
          <a:prstGeom prst="roundRect">
            <a:avLst>
              <a:gd name="adj" fmla="val 15909"/>
            </a:avLst>
          </a:prstGeom>
          <a:solidFill>
            <a:srgbClr val="EEF1F6"/>
          </a:solidFill>
          <a:ln w="11430">
            <a:solidFill>
              <a:srgbClr val="686F7D"/>
            </a:solidFill>
            <a:prstDash val="solid"/>
          </a:ln>
        </p:spPr>
      </p:sp>
      <p:sp>
        <p:nvSpPr>
          <p:cNvPr id="6" name="Text 4"/>
          <p:cNvSpPr/>
          <p:nvPr/>
        </p:nvSpPr>
        <p:spPr>
          <a:xfrm>
            <a:off x="621792" y="1078992"/>
            <a:ext cx="10972800" cy="402336"/>
          </a:xfrm>
          <a:prstGeom prst="rect">
            <a:avLst/>
          </a:prstGeom>
          <a:noFill/>
          <a:ln/>
        </p:spPr>
        <p:txBody>
          <a:bodyPr wrap="square" lIns="0" tIns="0" rIns="0" bIns="0" rtlCol="0" anchor="ctr"/>
          <a:lstStyle/>
          <a:p>
            <a:pPr indent="0" marL="0">
              <a:buNone/>
            </a:pPr>
            <a:r>
              <a:rPr lang="en-US" sz="900" b="1" dirty="0">
                <a:solidFill>
                  <a:srgbClr val="16325C"/>
                </a:solidFill>
                <a:latin typeface="Calibri" pitchFamily="34" charset="0"/>
                <a:ea typeface="Calibri" pitchFamily="34" charset="-122"/>
                <a:cs typeface="Calibri" pitchFamily="34" charset="-120"/>
              </a:rPr>
              <a:t>Automation scale:   </a:t>
            </a:r>
            <a:pPr indent="0" marL="0">
              <a:buNone/>
            </a:pPr>
            <a:r>
              <a:rPr lang="en-US" sz="900" b="1" dirty="0">
                <a:solidFill>
                  <a:srgbClr val="6B3FA0"/>
                </a:solidFill>
                <a:latin typeface="Calibri" pitchFamily="34" charset="0"/>
                <a:ea typeface="Calibri" pitchFamily="34" charset="-122"/>
                <a:cs typeface="Calibri" pitchFamily="34" charset="-120"/>
              </a:rPr>
              <a:t>L0 </a:t>
            </a:r>
            <a:pPr indent="0" marL="0">
              <a:buNone/>
            </a:pPr>
            <a:r>
              <a:rPr lang="en-US" sz="900" dirty="0">
                <a:solidFill>
                  <a:srgbClr val="3A4356"/>
                </a:solidFill>
                <a:latin typeface="Calibri" pitchFamily="34" charset="0"/>
                <a:ea typeface="Calibri" pitchFamily="34" charset="-122"/>
                <a:cs typeface="Calibri" pitchFamily="34" charset="-120"/>
              </a:rPr>
              <a:t>manual service (people take the board apart)   </a:t>
            </a:r>
            <a:pPr indent="0" marL="0">
              <a:buNone/>
            </a:pPr>
            <a:r>
              <a:rPr lang="en-US" sz="900" b="1" dirty="0">
                <a:solidFill>
                  <a:srgbClr val="99651A"/>
                </a:solidFill>
                <a:latin typeface="Calibri" pitchFamily="34" charset="0"/>
                <a:ea typeface="Calibri" pitchFamily="34" charset="-122"/>
                <a:cs typeface="Calibri" pitchFamily="34" charset="-120"/>
              </a:rPr>
              <a:t>L1 </a:t>
            </a:r>
            <a:pPr indent="0" marL="0">
              <a:buNone/>
            </a:pPr>
            <a:r>
              <a:rPr lang="en-US" sz="900" dirty="0">
                <a:solidFill>
                  <a:srgbClr val="3A4356"/>
                </a:solidFill>
                <a:latin typeface="Calibri" pitchFamily="34" charset="0"/>
                <a:ea typeface="Calibri" pitchFamily="34" charset="-122"/>
                <a:cs typeface="Calibri" pitchFamily="34" charset="-120"/>
              </a:rPr>
              <a:t>software, human keys the BOM   </a:t>
            </a:r>
            <a:pPr indent="0" marL="0">
              <a:buNone/>
            </a:pPr>
            <a:r>
              <a:rPr lang="en-US" sz="900" b="1" dirty="0">
                <a:solidFill>
                  <a:srgbClr val="1D6FB8"/>
                </a:solidFill>
                <a:latin typeface="Calibri" pitchFamily="34" charset="0"/>
                <a:ea typeface="Calibri" pitchFamily="34" charset="-122"/>
                <a:cs typeface="Calibri" pitchFamily="34" charset="-120"/>
              </a:rPr>
              <a:t>L2 </a:t>
            </a:r>
            <a:pPr indent="0" marL="0">
              <a:buNone/>
            </a:pPr>
            <a:r>
              <a:rPr lang="en-US" sz="900" dirty="0">
                <a:solidFill>
                  <a:srgbClr val="3A4356"/>
                </a:solidFill>
                <a:latin typeface="Calibri" pitchFamily="34" charset="0"/>
                <a:ea typeface="Calibri" pitchFamily="34" charset="-122"/>
                <a:cs typeface="Calibri" pitchFamily="34" charset="-120"/>
              </a:rPr>
              <a:t>BOM file in → cost out   </a:t>
            </a:r>
            <a:pPr indent="0" marL="0">
              <a:buNone/>
            </a:pPr>
            <a:r>
              <a:rPr lang="en-US" sz="900" b="1" dirty="0">
                <a:solidFill>
                  <a:srgbClr val="2A7F50"/>
                </a:solidFill>
                <a:latin typeface="Calibri" pitchFamily="34" charset="0"/>
                <a:ea typeface="Calibri" pitchFamily="34" charset="-122"/>
                <a:cs typeface="Calibri" pitchFamily="34" charset="-120"/>
              </a:rPr>
              <a:t>L3 </a:t>
            </a:r>
            <a:pPr indent="0" marL="0">
              <a:buNone/>
            </a:pPr>
            <a:r>
              <a:rPr lang="en-US" sz="900" dirty="0">
                <a:solidFill>
                  <a:srgbClr val="3A4356"/>
                </a:solidFill>
                <a:latin typeface="Calibri" pitchFamily="34" charset="0"/>
                <a:ea typeface="Calibri" pitchFamily="34" charset="-122"/>
                <a:cs typeface="Calibri" pitchFamily="34" charset="-120"/>
              </a:rPr>
              <a:t>photo / unstructured in → BOM + cost out</a:t>
            </a:r>
            <a:endParaRPr lang="en-US" sz="900" dirty="0"/>
          </a:p>
        </p:txBody>
      </p:sp>
      <p:sp>
        <p:nvSpPr>
          <p:cNvPr id="7" name="Text 5"/>
          <p:cNvSpPr/>
          <p:nvPr/>
        </p:nvSpPr>
        <p:spPr>
          <a:xfrm>
            <a:off x="457200" y="1554480"/>
            <a:ext cx="1828800" cy="274320"/>
          </a:xfrm>
          <a:prstGeom prst="rect">
            <a:avLst/>
          </a:prstGeom>
          <a:solidFill>
            <a:srgbClr val="16325C"/>
          </a:solidFill>
          <a:ln/>
        </p:spPr>
        <p:txBody>
          <a:bodyPr wrap="square" lIns="635" tIns="635" rIns="635" bIns="635"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Who</a:t>
            </a:r>
            <a:endParaRPr lang="en-US" sz="900" dirty="0"/>
          </a:p>
        </p:txBody>
      </p:sp>
      <p:sp>
        <p:nvSpPr>
          <p:cNvPr id="8" name="Text 6"/>
          <p:cNvSpPr/>
          <p:nvPr/>
        </p:nvSpPr>
        <p:spPr>
          <a:xfrm>
            <a:off x="2286000" y="1554480"/>
            <a:ext cx="914400" cy="274320"/>
          </a:xfrm>
          <a:prstGeom prst="rect">
            <a:avLst/>
          </a:prstGeom>
          <a:solidFill>
            <a:srgbClr val="16325C"/>
          </a:solidFill>
          <a:ln/>
        </p:spPr>
        <p:txBody>
          <a:bodyPr wrap="square" lIns="635" tIns="635" rIns="635" bIns="635"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9" name="Text 7"/>
          <p:cNvSpPr/>
          <p:nvPr/>
        </p:nvSpPr>
        <p:spPr>
          <a:xfrm>
            <a:off x="3200400" y="1554480"/>
            <a:ext cx="1874520" cy="274320"/>
          </a:xfrm>
          <a:prstGeom prst="rect">
            <a:avLst/>
          </a:prstGeom>
          <a:solidFill>
            <a:srgbClr val="16325C"/>
          </a:solidFill>
          <a:ln/>
        </p:spPr>
        <p:txBody>
          <a:bodyPr wrap="square" lIns="635" tIns="635" rIns="635" bIns="635"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goes in</a:t>
            </a:r>
            <a:endParaRPr lang="en-US" sz="900" dirty="0"/>
          </a:p>
        </p:txBody>
      </p:sp>
      <p:sp>
        <p:nvSpPr>
          <p:cNvPr id="10" name="Text 8"/>
          <p:cNvSpPr/>
          <p:nvPr/>
        </p:nvSpPr>
        <p:spPr>
          <a:xfrm>
            <a:off x="5074920" y="1554480"/>
            <a:ext cx="475488" cy="274320"/>
          </a:xfrm>
          <a:prstGeom prst="rect">
            <a:avLst/>
          </a:prstGeom>
          <a:solidFill>
            <a:srgbClr val="16325C"/>
          </a:solidFill>
          <a:ln/>
        </p:spPr>
        <p:txBody>
          <a:bodyPr wrap="square" lIns="635" tIns="635" rIns="635" bIns="635"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a:t>
            </a:r>
            <a:endParaRPr lang="en-US" sz="900" dirty="0"/>
          </a:p>
        </p:txBody>
      </p:sp>
      <p:sp>
        <p:nvSpPr>
          <p:cNvPr id="11" name="Text 9"/>
          <p:cNvSpPr/>
          <p:nvPr/>
        </p:nvSpPr>
        <p:spPr>
          <a:xfrm>
            <a:off x="5550408" y="1554480"/>
            <a:ext cx="3291840" cy="274320"/>
          </a:xfrm>
          <a:prstGeom prst="rect">
            <a:avLst/>
          </a:prstGeom>
          <a:solidFill>
            <a:srgbClr val="16325C"/>
          </a:solidFill>
          <a:ln/>
        </p:spPr>
        <p:txBody>
          <a:bodyPr wrap="square" lIns="635" tIns="635" rIns="635" bIns="635"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Price (published only)</a:t>
            </a:r>
            <a:endParaRPr lang="en-US" sz="900" dirty="0"/>
          </a:p>
        </p:txBody>
      </p:sp>
      <p:sp>
        <p:nvSpPr>
          <p:cNvPr id="12" name="Text 10"/>
          <p:cNvSpPr/>
          <p:nvPr/>
        </p:nvSpPr>
        <p:spPr>
          <a:xfrm>
            <a:off x="8842248" y="1554480"/>
            <a:ext cx="2889504" cy="274320"/>
          </a:xfrm>
          <a:prstGeom prst="rect">
            <a:avLst/>
          </a:prstGeom>
          <a:solidFill>
            <a:srgbClr val="16325C"/>
          </a:solidFill>
          <a:ln/>
        </p:spPr>
        <p:txBody>
          <a:bodyPr wrap="square" lIns="635" tIns="635" rIns="635" bIns="635"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p>
        </p:txBody>
      </p:sp>
      <p:sp>
        <p:nvSpPr>
          <p:cNvPr id="13" name="Text 11"/>
          <p:cNvSpPr/>
          <p:nvPr/>
        </p:nvSpPr>
        <p:spPr>
          <a:xfrm>
            <a:off x="457200" y="1883664"/>
            <a:ext cx="1828800" cy="413309"/>
          </a:xfrm>
          <a:prstGeom prst="rect">
            <a:avLst/>
          </a:prstGeom>
          <a:solidFill>
            <a:srgbClr val="FFFFFF"/>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Luminovo</a:t>
            </a:r>
            <a:endParaRPr lang="en-US" sz="810" dirty="0"/>
          </a:p>
        </p:txBody>
      </p:sp>
      <p:sp>
        <p:nvSpPr>
          <p:cNvPr id="14" name="Text 12"/>
          <p:cNvSpPr/>
          <p:nvPr/>
        </p:nvSpPr>
        <p:spPr>
          <a:xfrm>
            <a:off x="2286000" y="1883664"/>
            <a:ext cx="91440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SaaS</a:t>
            </a:r>
            <a:endParaRPr lang="en-US" sz="750" dirty="0"/>
          </a:p>
        </p:txBody>
      </p:sp>
      <p:sp>
        <p:nvSpPr>
          <p:cNvPr id="15" name="Text 13"/>
          <p:cNvSpPr/>
          <p:nvPr/>
        </p:nvSpPr>
        <p:spPr>
          <a:xfrm>
            <a:off x="3200400" y="1883664"/>
            <a:ext cx="187452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BOM file + PCB spec</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(LLM BOM importer, auto MPN match)</a:t>
            </a:r>
            <a:endParaRPr lang="en-US" sz="750" dirty="0"/>
          </a:p>
        </p:txBody>
      </p:sp>
      <p:sp>
        <p:nvSpPr>
          <p:cNvPr id="16" name="Text 14"/>
          <p:cNvSpPr/>
          <p:nvPr/>
        </p:nvSpPr>
        <p:spPr>
          <a:xfrm>
            <a:off x="5074920" y="1883664"/>
            <a:ext cx="475488" cy="413309"/>
          </a:xfrm>
          <a:prstGeom prst="rect">
            <a:avLst/>
          </a:prstGeom>
          <a:solidFill>
            <a:srgbClr val="FFFFFF"/>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L2</a:t>
            </a:r>
            <a:endParaRPr lang="en-US" sz="900" dirty="0"/>
          </a:p>
        </p:txBody>
      </p:sp>
      <p:sp>
        <p:nvSpPr>
          <p:cNvPr id="17" name="Text 15"/>
          <p:cNvSpPr/>
          <p:nvPr/>
        </p:nvSpPr>
        <p:spPr>
          <a:xfrm>
            <a:off x="5550408" y="1883664"/>
            <a:ext cx="329184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Pricing page names 4 tiers (Starter / Advanced / Professional / Enterprise), scaled by spend or assemblies per year — no figures.</a:t>
            </a:r>
            <a:endParaRPr lang="en-US" sz="750" dirty="0"/>
          </a:p>
        </p:txBody>
      </p:sp>
      <p:sp>
        <p:nvSpPr>
          <p:cNvPr id="18" name="Text 16"/>
          <p:cNvSpPr/>
          <p:nvPr/>
        </p:nvSpPr>
        <p:spPr>
          <a:xfrm>
            <a:off x="8842248" y="1883664"/>
            <a:ext cx="2889504" cy="413309"/>
          </a:xfrm>
          <a:prstGeom prst="rect">
            <a:avLst/>
          </a:prstGeom>
          <a:solidFill>
            <a:srgbClr val="FFFFFF"/>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luminovo.com/pricing · /platform/quoting-intelligence · own FAQ "Are prices listed online?"</a:t>
            </a:r>
            <a:endParaRPr lang="en-US" sz="750" dirty="0"/>
          </a:p>
        </p:txBody>
      </p:sp>
      <p:sp>
        <p:nvSpPr>
          <p:cNvPr id="19" name="Text 17"/>
          <p:cNvSpPr/>
          <p:nvPr/>
        </p:nvSpPr>
        <p:spPr>
          <a:xfrm>
            <a:off x="457200" y="2296973"/>
            <a:ext cx="1828800" cy="413309"/>
          </a:xfrm>
          <a:prstGeom prst="rect">
            <a:avLst/>
          </a:prstGeom>
          <a:solidFill>
            <a:srgbClr val="F0F4F9"/>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CalcuQuote (Elisa IndustrIQ)</a:t>
            </a:r>
            <a:endParaRPr lang="en-US" sz="810" dirty="0"/>
          </a:p>
        </p:txBody>
      </p:sp>
      <p:sp>
        <p:nvSpPr>
          <p:cNvPr id="20" name="Text 18"/>
          <p:cNvSpPr/>
          <p:nvPr/>
        </p:nvSpPr>
        <p:spPr>
          <a:xfrm>
            <a:off x="2286000" y="2296973"/>
            <a:ext cx="91440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SaaS</a:t>
            </a:r>
            <a:endParaRPr lang="en-US" sz="750" dirty="0"/>
          </a:p>
        </p:txBody>
      </p:sp>
      <p:sp>
        <p:nvSpPr>
          <p:cNvPr id="21" name="Text 19"/>
          <p:cNvSpPr/>
          <p:nvPr/>
        </p:nvSpPr>
        <p:spPr>
          <a:xfrm>
            <a:off x="3200400" y="2296973"/>
            <a:ext cx="187452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BOM file + sourcing rules</a:t>
            </a:r>
            <a:endParaRPr lang="en-US" sz="750" dirty="0"/>
          </a:p>
        </p:txBody>
      </p:sp>
      <p:sp>
        <p:nvSpPr>
          <p:cNvPr id="22" name="Text 20"/>
          <p:cNvSpPr/>
          <p:nvPr/>
        </p:nvSpPr>
        <p:spPr>
          <a:xfrm>
            <a:off x="5074920" y="2296973"/>
            <a:ext cx="475488" cy="413309"/>
          </a:xfrm>
          <a:prstGeom prst="rect">
            <a:avLst/>
          </a:prstGeom>
          <a:solidFill>
            <a:srgbClr val="F0F4F9"/>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L2</a:t>
            </a:r>
            <a:endParaRPr lang="en-US" sz="900" dirty="0"/>
          </a:p>
        </p:txBody>
      </p:sp>
      <p:sp>
        <p:nvSpPr>
          <p:cNvPr id="23" name="Text 21"/>
          <p:cNvSpPr/>
          <p:nvPr/>
        </p:nvSpPr>
        <p:spPr>
          <a:xfrm>
            <a:off x="5550408" y="2296973"/>
            <a:ext cx="329184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Monthly, 3 tiers, unlimited users, scaled by annual quoting volume. "Request Pricing" pages.</a:t>
            </a:r>
            <a:endParaRPr lang="en-US" sz="750" dirty="0"/>
          </a:p>
        </p:txBody>
      </p:sp>
      <p:sp>
        <p:nvSpPr>
          <p:cNvPr id="24" name="Text 22"/>
          <p:cNvSpPr/>
          <p:nvPr/>
        </p:nvSpPr>
        <p:spPr>
          <a:xfrm>
            <a:off x="8842248" y="2296973"/>
            <a:ext cx="2889504" cy="413309"/>
          </a:xfrm>
          <a:prstGeom prst="rect">
            <a:avLst/>
          </a:prstGeom>
          <a:solidFill>
            <a:srgbClr val="F0F4F9"/>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calcuquote.com/quotecq · /request-pricing-quote · elisaindustriq.com/calcuquote/pricing</a:t>
            </a:r>
            <a:endParaRPr lang="en-US" sz="750" dirty="0"/>
          </a:p>
        </p:txBody>
      </p:sp>
      <p:sp>
        <p:nvSpPr>
          <p:cNvPr id="25" name="Text 23"/>
          <p:cNvSpPr/>
          <p:nvPr/>
        </p:nvSpPr>
        <p:spPr>
          <a:xfrm>
            <a:off x="457200" y="2710282"/>
            <a:ext cx="1828800" cy="413309"/>
          </a:xfrm>
          <a:prstGeom prst="rect">
            <a:avLst/>
          </a:prstGeom>
          <a:solidFill>
            <a:srgbClr val="FFFFFF"/>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aPriori</a:t>
            </a:r>
            <a:endParaRPr lang="en-US" sz="810" dirty="0"/>
          </a:p>
        </p:txBody>
      </p:sp>
      <p:sp>
        <p:nvSpPr>
          <p:cNvPr id="26" name="Text 24"/>
          <p:cNvSpPr/>
          <p:nvPr/>
        </p:nvSpPr>
        <p:spPr>
          <a:xfrm>
            <a:off x="2286000" y="2710282"/>
            <a:ext cx="91440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on-prem or SaaS</a:t>
            </a:r>
            <a:endParaRPr lang="en-US" sz="750" dirty="0"/>
          </a:p>
        </p:txBody>
      </p:sp>
      <p:sp>
        <p:nvSpPr>
          <p:cNvPr id="27" name="Text 25"/>
          <p:cNvSpPr/>
          <p:nvPr/>
        </p:nvSpPr>
        <p:spPr>
          <a:xfrm>
            <a:off x="3200400" y="2710282"/>
            <a:ext cx="187452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BOM + board spec (CAD for mechanical)</a:t>
            </a:r>
            <a:endParaRPr lang="en-US" sz="750" dirty="0"/>
          </a:p>
        </p:txBody>
      </p:sp>
      <p:sp>
        <p:nvSpPr>
          <p:cNvPr id="28" name="Text 26"/>
          <p:cNvSpPr/>
          <p:nvPr/>
        </p:nvSpPr>
        <p:spPr>
          <a:xfrm>
            <a:off x="5074920" y="2710282"/>
            <a:ext cx="475488" cy="413309"/>
          </a:xfrm>
          <a:prstGeom prst="rect">
            <a:avLst/>
          </a:prstGeom>
          <a:solidFill>
            <a:srgbClr val="FFFFFF"/>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L1–L2</a:t>
            </a:r>
            <a:endParaRPr lang="en-US" sz="900" dirty="0"/>
          </a:p>
        </p:txBody>
      </p:sp>
      <p:sp>
        <p:nvSpPr>
          <p:cNvPr id="29" name="Text 27"/>
          <p:cNvSpPr/>
          <p:nvPr/>
        </p:nvSpPr>
        <p:spPr>
          <a:xfrm>
            <a:off x="5550408" y="2710282"/>
            <a:ext cx="329184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Named-user annual subscription; Foundation module sized by deployment, cost models priced separately.</a:t>
            </a:r>
            <a:endParaRPr lang="en-US" sz="750" dirty="0"/>
          </a:p>
        </p:txBody>
      </p:sp>
      <p:sp>
        <p:nvSpPr>
          <p:cNvPr id="30" name="Text 28"/>
          <p:cNvSpPr/>
          <p:nvPr/>
        </p:nvSpPr>
        <p:spPr>
          <a:xfrm>
            <a:off x="8842248" y="2710282"/>
            <a:ext cx="2889504" cy="413309"/>
          </a:xfrm>
          <a:prstGeom prst="rect">
            <a:avLst/>
          </a:prstGeom>
          <a:solidFill>
            <a:srgbClr val="FFFFFF"/>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apriori.com PCBA module + Electronics process-model PDF · G2 / TrustRadius pricing pages</a:t>
            </a:r>
            <a:endParaRPr lang="en-US" sz="750" dirty="0"/>
          </a:p>
        </p:txBody>
      </p:sp>
      <p:sp>
        <p:nvSpPr>
          <p:cNvPr id="31" name="Text 29"/>
          <p:cNvSpPr/>
          <p:nvPr/>
        </p:nvSpPr>
        <p:spPr>
          <a:xfrm>
            <a:off x="457200" y="3123590"/>
            <a:ext cx="1828800" cy="413309"/>
          </a:xfrm>
          <a:prstGeom prst="rect">
            <a:avLst/>
          </a:prstGeom>
          <a:solidFill>
            <a:srgbClr val="F0F4F9"/>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Siemens Teamcenter X PCM</a:t>
            </a:r>
            <a:endParaRPr lang="en-US" sz="810" dirty="0"/>
          </a:p>
        </p:txBody>
      </p:sp>
      <p:sp>
        <p:nvSpPr>
          <p:cNvPr id="32" name="Text 30"/>
          <p:cNvSpPr/>
          <p:nvPr/>
        </p:nvSpPr>
        <p:spPr>
          <a:xfrm>
            <a:off x="2286000" y="3123590"/>
            <a:ext cx="91440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hybrid cloud</a:t>
            </a:r>
            <a:endParaRPr lang="en-US" sz="750" dirty="0"/>
          </a:p>
        </p:txBody>
      </p:sp>
      <p:sp>
        <p:nvSpPr>
          <p:cNvPr id="33" name="Text 31"/>
          <p:cNvSpPr/>
          <p:nvPr/>
        </p:nvSpPr>
        <p:spPr>
          <a:xfrm>
            <a:off x="3200400" y="3123590"/>
            <a:ext cx="187452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BOM + board spec</a:t>
            </a:r>
            <a:endParaRPr lang="en-US" sz="750" dirty="0"/>
          </a:p>
        </p:txBody>
      </p:sp>
      <p:sp>
        <p:nvSpPr>
          <p:cNvPr id="34" name="Text 32"/>
          <p:cNvSpPr/>
          <p:nvPr/>
        </p:nvSpPr>
        <p:spPr>
          <a:xfrm>
            <a:off x="5074920" y="3123590"/>
            <a:ext cx="475488" cy="413309"/>
          </a:xfrm>
          <a:prstGeom prst="rect">
            <a:avLst/>
          </a:prstGeom>
          <a:solidFill>
            <a:srgbClr val="F0F4F9"/>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L1–L2</a:t>
            </a:r>
            <a:endParaRPr lang="en-US" sz="900" dirty="0"/>
          </a:p>
        </p:txBody>
      </p:sp>
      <p:sp>
        <p:nvSpPr>
          <p:cNvPr id="35" name="Text 33"/>
          <p:cNvSpPr/>
          <p:nvPr/>
        </p:nvSpPr>
        <p:spPr>
          <a:xfrm>
            <a:off x="5550408" y="3123590"/>
            <a:ext cx="329184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Named end-user licences plus modules; custom quotation.</a:t>
            </a:r>
            <a:endParaRPr lang="en-US" sz="750" dirty="0"/>
          </a:p>
        </p:txBody>
      </p:sp>
      <p:sp>
        <p:nvSpPr>
          <p:cNvPr id="36" name="Text 34"/>
          <p:cNvSpPr/>
          <p:nvPr/>
        </p:nvSpPr>
        <p:spPr>
          <a:xfrm>
            <a:off x="8842248" y="3123590"/>
            <a:ext cx="2889504" cy="413309"/>
          </a:xfrm>
          <a:prstGeom prst="rect">
            <a:avLst/>
          </a:prstGeom>
          <a:solidFill>
            <a:srgbClr val="F0F4F9"/>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siemens.com/.../teamcenter/solutions/product-cost-management</a:t>
            </a:r>
            <a:endParaRPr lang="en-US" sz="750" dirty="0"/>
          </a:p>
        </p:txBody>
      </p:sp>
      <p:sp>
        <p:nvSpPr>
          <p:cNvPr id="37" name="Text 35"/>
          <p:cNvSpPr/>
          <p:nvPr/>
        </p:nvSpPr>
        <p:spPr>
          <a:xfrm>
            <a:off x="457200" y="3536899"/>
            <a:ext cx="1828800" cy="413309"/>
          </a:xfrm>
          <a:prstGeom prst="rect">
            <a:avLst/>
          </a:prstGeom>
          <a:solidFill>
            <a:srgbClr val="FFFFFF"/>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Tset</a:t>
            </a:r>
            <a:endParaRPr lang="en-US" sz="810" dirty="0"/>
          </a:p>
        </p:txBody>
      </p:sp>
      <p:sp>
        <p:nvSpPr>
          <p:cNvPr id="38" name="Text 36"/>
          <p:cNvSpPr/>
          <p:nvPr/>
        </p:nvSpPr>
        <p:spPr>
          <a:xfrm>
            <a:off x="2286000" y="3536899"/>
            <a:ext cx="91440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cloud</a:t>
            </a:r>
            <a:endParaRPr lang="en-US" sz="750" dirty="0"/>
          </a:p>
        </p:txBody>
      </p:sp>
      <p:sp>
        <p:nvSpPr>
          <p:cNvPr id="39" name="Text 37"/>
          <p:cNvSpPr/>
          <p:nvPr/>
        </p:nvSpPr>
        <p:spPr>
          <a:xfrm>
            <a:off x="3200400" y="3536899"/>
            <a:ext cx="187452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Board layout, part count, process parameters</a:t>
            </a:r>
            <a:endParaRPr lang="en-US" sz="750" dirty="0"/>
          </a:p>
        </p:txBody>
      </p:sp>
      <p:sp>
        <p:nvSpPr>
          <p:cNvPr id="40" name="Text 38"/>
          <p:cNvSpPr/>
          <p:nvPr/>
        </p:nvSpPr>
        <p:spPr>
          <a:xfrm>
            <a:off x="5074920" y="3536899"/>
            <a:ext cx="475488" cy="413309"/>
          </a:xfrm>
          <a:prstGeom prst="rect">
            <a:avLst/>
          </a:prstGeom>
          <a:solidFill>
            <a:srgbClr val="FFFFFF"/>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L1–L2</a:t>
            </a:r>
            <a:endParaRPr lang="en-US" sz="900" dirty="0"/>
          </a:p>
        </p:txBody>
      </p:sp>
      <p:sp>
        <p:nvSpPr>
          <p:cNvPr id="41" name="Text 39"/>
          <p:cNvSpPr/>
          <p:nvPr/>
        </p:nvSpPr>
        <p:spPr>
          <a:xfrm>
            <a:off x="5550408" y="3536899"/>
            <a:ext cx="329184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a:t>
            </a:r>
            <a:endParaRPr lang="en-US" sz="750" dirty="0"/>
          </a:p>
        </p:txBody>
      </p:sp>
      <p:sp>
        <p:nvSpPr>
          <p:cNvPr id="42" name="Text 40"/>
          <p:cNvSpPr/>
          <p:nvPr/>
        </p:nvSpPr>
        <p:spPr>
          <a:xfrm>
            <a:off x="8842248" y="3536899"/>
            <a:ext cx="2889504" cy="413309"/>
          </a:xfrm>
          <a:prstGeom prst="rect">
            <a:avLst/>
          </a:prstGeom>
          <a:solidFill>
            <a:srgbClr val="FFFFFF"/>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tset.com/industries/electronics-and-high-tech-manufacturing · /videos/pcba-pcb</a:t>
            </a:r>
            <a:endParaRPr lang="en-US" sz="750" dirty="0"/>
          </a:p>
        </p:txBody>
      </p:sp>
      <p:sp>
        <p:nvSpPr>
          <p:cNvPr id="43" name="Text 41"/>
          <p:cNvSpPr/>
          <p:nvPr/>
        </p:nvSpPr>
        <p:spPr>
          <a:xfrm>
            <a:off x="457200" y="3950208"/>
            <a:ext cx="1828800" cy="413309"/>
          </a:xfrm>
          <a:prstGeom prst="rect">
            <a:avLst/>
          </a:prstGeom>
          <a:solidFill>
            <a:srgbClr val="F0F4F9"/>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Boothroyd Dewhurst DFMA</a:t>
            </a:r>
            <a:endParaRPr lang="en-US" sz="810" dirty="0"/>
          </a:p>
        </p:txBody>
      </p:sp>
      <p:sp>
        <p:nvSpPr>
          <p:cNvPr id="44" name="Text 42"/>
          <p:cNvSpPr/>
          <p:nvPr/>
        </p:nvSpPr>
        <p:spPr>
          <a:xfrm>
            <a:off x="2286000" y="3950208"/>
            <a:ext cx="91440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licence</a:t>
            </a:r>
            <a:endParaRPr lang="en-US" sz="750" dirty="0"/>
          </a:p>
        </p:txBody>
      </p:sp>
      <p:sp>
        <p:nvSpPr>
          <p:cNvPr id="45" name="Text 43"/>
          <p:cNvSpPr/>
          <p:nvPr/>
        </p:nvSpPr>
        <p:spPr>
          <a:xfrm>
            <a:off x="3200400" y="3950208"/>
            <a:ext cx="187452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Part / assembly definition keyed in</a:t>
            </a:r>
            <a:endParaRPr lang="en-US" sz="750" dirty="0"/>
          </a:p>
        </p:txBody>
      </p:sp>
      <p:sp>
        <p:nvSpPr>
          <p:cNvPr id="46" name="Text 44"/>
          <p:cNvSpPr/>
          <p:nvPr/>
        </p:nvSpPr>
        <p:spPr>
          <a:xfrm>
            <a:off x="5074920" y="3950208"/>
            <a:ext cx="475488" cy="413309"/>
          </a:xfrm>
          <a:prstGeom prst="rect">
            <a:avLst/>
          </a:prstGeom>
          <a:solidFill>
            <a:srgbClr val="F0F4F9"/>
          </a:solidFill>
          <a:ln/>
        </p:spPr>
        <p:txBody>
          <a:bodyPr wrap="square" lIns="635" tIns="635" rIns="635" bIns="635" rtlCol="0" anchor="ctr"/>
          <a:lstStyle/>
          <a:p>
            <a:pPr algn="ctr" indent="0" marL="0">
              <a:buNone/>
            </a:pPr>
            <a:r>
              <a:rPr lang="en-US" sz="900" b="1" dirty="0">
                <a:solidFill>
                  <a:srgbClr val="99651A"/>
                </a:solidFill>
                <a:latin typeface="Calibri" pitchFamily="34" charset="0"/>
                <a:ea typeface="Calibri" pitchFamily="34" charset="-122"/>
                <a:cs typeface="Calibri" pitchFamily="34" charset="-120"/>
              </a:rPr>
              <a:t>L1</a:t>
            </a:r>
            <a:endParaRPr lang="en-US" sz="900" dirty="0"/>
          </a:p>
        </p:txBody>
      </p:sp>
      <p:sp>
        <p:nvSpPr>
          <p:cNvPr id="47" name="Text 45"/>
          <p:cNvSpPr/>
          <p:nvPr/>
        </p:nvSpPr>
        <p:spPr>
          <a:xfrm>
            <a:off x="5550408" y="3950208"/>
            <a:ext cx="329184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Contact sales.</a:t>
            </a:r>
            <a:endParaRPr lang="en-US" sz="750" dirty="0"/>
          </a:p>
        </p:txBody>
      </p:sp>
      <p:sp>
        <p:nvSpPr>
          <p:cNvPr id="48" name="Text 46"/>
          <p:cNvSpPr/>
          <p:nvPr/>
        </p:nvSpPr>
        <p:spPr>
          <a:xfrm>
            <a:off x="8842248" y="3950208"/>
            <a:ext cx="2889504" cy="413309"/>
          </a:xfrm>
          <a:prstGeom prst="rect">
            <a:avLst/>
          </a:prstGeom>
          <a:solidFill>
            <a:srgbClr val="F0F4F9"/>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dfma.com/software/cost.asp · /resources/pcb-cost-estimating.asp</a:t>
            </a:r>
            <a:endParaRPr lang="en-US" sz="750" dirty="0"/>
          </a:p>
        </p:txBody>
      </p:sp>
      <p:sp>
        <p:nvSpPr>
          <p:cNvPr id="49" name="Text 47"/>
          <p:cNvSpPr/>
          <p:nvPr/>
        </p:nvSpPr>
        <p:spPr>
          <a:xfrm>
            <a:off x="457200" y="4363517"/>
            <a:ext cx="1828800" cy="413309"/>
          </a:xfrm>
          <a:prstGeom prst="rect">
            <a:avLst/>
          </a:prstGeom>
          <a:solidFill>
            <a:srgbClr val="FFFFFF"/>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Yole SystemPlus</a:t>
            </a:r>
            <a:endParaRPr lang="en-US" sz="810" dirty="0"/>
          </a:p>
        </p:txBody>
      </p:sp>
      <p:sp>
        <p:nvSpPr>
          <p:cNvPr id="50" name="Text 48"/>
          <p:cNvSpPr/>
          <p:nvPr/>
        </p:nvSpPr>
        <p:spPr>
          <a:xfrm>
            <a:off x="2286000" y="4363517"/>
            <a:ext cx="914400" cy="413309"/>
          </a:xfrm>
          <a:prstGeom prst="rect">
            <a:avLst/>
          </a:prstGeom>
          <a:solidFill>
            <a:srgbClr val="FFFFFF"/>
          </a:solidFill>
          <a:ln/>
        </p:spPr>
        <p:txBody>
          <a:bodyPr wrap="square" lIns="635" tIns="635" rIns="635" bIns="635" rtlCol="0" anchor="ctr"/>
          <a:lstStyle/>
          <a:p>
            <a:pPr algn="l" indent="0" marL="0">
              <a:buNone/>
            </a:pPr>
            <a:r>
              <a:rPr lang="en-US" sz="750" b="1" dirty="0">
                <a:solidFill>
                  <a:srgbClr val="6B3FA0"/>
                </a:solidFill>
                <a:latin typeface="Calibri" pitchFamily="34" charset="0"/>
                <a:ea typeface="Calibri" pitchFamily="34" charset="-122"/>
                <a:cs typeface="Calibri" pitchFamily="34" charset="-120"/>
              </a:rPr>
              <a:t>SERVICE</a:t>
            </a:r>
            <a:endParaRPr lang="en-US" sz="750" dirty="0"/>
          </a:p>
          <a:p>
            <a:pPr algn="l" indent="0" marL="0">
              <a:buNone/>
            </a:pPr>
            <a:r>
              <a:rPr lang="en-US" sz="750" b="1" dirty="0">
                <a:solidFill>
                  <a:srgbClr val="6B3FA0"/>
                </a:solidFill>
                <a:latin typeface="Calibri" pitchFamily="34" charset="0"/>
                <a:ea typeface="Calibri" pitchFamily="34" charset="-122"/>
                <a:cs typeface="Calibri" pitchFamily="34" charset="-120"/>
              </a:rPr>
              <a:t>per report</a:t>
            </a:r>
            <a:endParaRPr lang="en-US" sz="750" dirty="0"/>
          </a:p>
        </p:txBody>
      </p:sp>
      <p:sp>
        <p:nvSpPr>
          <p:cNvPr id="51" name="Text 49"/>
          <p:cNvSpPr/>
          <p:nvPr/>
        </p:nvSpPr>
        <p:spPr>
          <a:xfrm>
            <a:off x="3200400" y="4363517"/>
            <a:ext cx="187452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The physical board</a:t>
            </a:r>
            <a:endParaRPr lang="en-US" sz="750" dirty="0"/>
          </a:p>
        </p:txBody>
      </p:sp>
      <p:sp>
        <p:nvSpPr>
          <p:cNvPr id="52" name="Text 50"/>
          <p:cNvSpPr/>
          <p:nvPr/>
        </p:nvSpPr>
        <p:spPr>
          <a:xfrm>
            <a:off x="5074920" y="4363517"/>
            <a:ext cx="475488" cy="413309"/>
          </a:xfrm>
          <a:prstGeom prst="rect">
            <a:avLst/>
          </a:prstGeom>
          <a:solidFill>
            <a:srgbClr val="FFFFFF"/>
          </a:solidFill>
          <a:ln/>
        </p:spPr>
        <p:txBody>
          <a:bodyPr wrap="square" lIns="635" tIns="635" rIns="635" bIns="635" rtlCol="0" anchor="ctr"/>
          <a:lstStyle/>
          <a:p>
            <a:pPr algn="ctr" indent="0" marL="0">
              <a:buNone/>
            </a:pPr>
            <a:r>
              <a:rPr lang="en-US" sz="900" b="1" dirty="0">
                <a:solidFill>
                  <a:srgbClr val="6B3FA0"/>
                </a:solidFill>
                <a:latin typeface="Calibri" pitchFamily="34" charset="0"/>
                <a:ea typeface="Calibri" pitchFamily="34" charset="-122"/>
                <a:cs typeface="Calibri" pitchFamily="34" charset="-120"/>
              </a:rPr>
              <a:t>L0</a:t>
            </a:r>
            <a:endParaRPr lang="en-US" sz="900" dirty="0"/>
          </a:p>
        </p:txBody>
      </p:sp>
      <p:sp>
        <p:nvSpPr>
          <p:cNvPr id="53" name="Text 51"/>
          <p:cNvSpPr/>
          <p:nvPr/>
        </p:nvSpPr>
        <p:spPr>
          <a:xfrm>
            <a:off x="5550408" y="4363517"/>
            <a:ext cx="329184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PER-REPORT LIST PRICE — the only figures I could verify are 2017–18 flyers (EUR 2,490 / 3,490 / 4,990). Order of magnitude only.</a:t>
            </a:r>
            <a:endParaRPr lang="en-US" sz="750" dirty="0"/>
          </a:p>
        </p:txBody>
      </p:sp>
      <p:sp>
        <p:nvSpPr>
          <p:cNvPr id="54" name="Text 52"/>
          <p:cNvSpPr/>
          <p:nvPr/>
        </p:nvSpPr>
        <p:spPr>
          <a:xfrm>
            <a:off x="8842248" y="4363517"/>
            <a:ext cx="2889504" cy="413309"/>
          </a:xfrm>
          <a:prstGeom prst="rect">
            <a:avLst/>
          </a:prstGeom>
          <a:solidFill>
            <a:srgbClr val="FFFFFF"/>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systemplus.fr/services/reverse-costing · reverse-costing.com · yolegroup.com</a:t>
            </a:r>
            <a:endParaRPr lang="en-US" sz="750" dirty="0"/>
          </a:p>
        </p:txBody>
      </p:sp>
      <p:sp>
        <p:nvSpPr>
          <p:cNvPr id="55" name="Text 53"/>
          <p:cNvSpPr/>
          <p:nvPr/>
        </p:nvSpPr>
        <p:spPr>
          <a:xfrm>
            <a:off x="457200" y="4776826"/>
            <a:ext cx="1828800" cy="413309"/>
          </a:xfrm>
          <a:prstGeom prst="rect">
            <a:avLst/>
          </a:prstGeom>
          <a:solidFill>
            <a:srgbClr val="F0F4F9"/>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TechInsights</a:t>
            </a:r>
            <a:endParaRPr lang="en-US" sz="810" dirty="0"/>
          </a:p>
        </p:txBody>
      </p:sp>
      <p:sp>
        <p:nvSpPr>
          <p:cNvPr id="56" name="Text 54"/>
          <p:cNvSpPr/>
          <p:nvPr/>
        </p:nvSpPr>
        <p:spPr>
          <a:xfrm>
            <a:off x="2286000" y="4776826"/>
            <a:ext cx="914400" cy="413309"/>
          </a:xfrm>
          <a:prstGeom prst="rect">
            <a:avLst/>
          </a:prstGeom>
          <a:solidFill>
            <a:srgbClr val="F0F4F9"/>
          </a:solidFill>
          <a:ln/>
        </p:spPr>
        <p:txBody>
          <a:bodyPr wrap="square" lIns="635" tIns="635" rIns="635" bIns="635" rtlCol="0" anchor="ctr"/>
          <a:lstStyle/>
          <a:p>
            <a:pPr algn="l" indent="0" marL="0">
              <a:buNone/>
            </a:pPr>
            <a:r>
              <a:rPr lang="en-US" sz="750" b="1" dirty="0">
                <a:solidFill>
                  <a:srgbClr val="6B3FA0"/>
                </a:solidFill>
                <a:latin typeface="Calibri" pitchFamily="34" charset="0"/>
                <a:ea typeface="Calibri" pitchFamily="34" charset="-122"/>
                <a:cs typeface="Calibri" pitchFamily="34" charset="-120"/>
              </a:rPr>
              <a:t>SERVICE</a:t>
            </a:r>
            <a:endParaRPr lang="en-US" sz="750" dirty="0"/>
          </a:p>
          <a:p>
            <a:pPr algn="l" indent="0" marL="0">
              <a:buNone/>
            </a:pPr>
            <a:r>
              <a:rPr lang="en-US" sz="750" b="1" dirty="0">
                <a:solidFill>
                  <a:srgbClr val="6B3FA0"/>
                </a:solidFill>
                <a:latin typeface="Calibri" pitchFamily="34" charset="0"/>
                <a:ea typeface="Calibri" pitchFamily="34" charset="-122"/>
                <a:cs typeface="Calibri" pitchFamily="34" charset="-120"/>
              </a:rPr>
              <a:t>+ subscription</a:t>
            </a:r>
            <a:endParaRPr lang="en-US" sz="750" dirty="0"/>
          </a:p>
        </p:txBody>
      </p:sp>
      <p:sp>
        <p:nvSpPr>
          <p:cNvPr id="57" name="Text 55"/>
          <p:cNvSpPr/>
          <p:nvPr/>
        </p:nvSpPr>
        <p:spPr>
          <a:xfrm>
            <a:off x="3200400" y="4776826"/>
            <a:ext cx="187452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The physical board</a:t>
            </a:r>
            <a:endParaRPr lang="en-US" sz="750" dirty="0"/>
          </a:p>
        </p:txBody>
      </p:sp>
      <p:sp>
        <p:nvSpPr>
          <p:cNvPr id="58" name="Text 56"/>
          <p:cNvSpPr/>
          <p:nvPr/>
        </p:nvSpPr>
        <p:spPr>
          <a:xfrm>
            <a:off x="5074920" y="4776826"/>
            <a:ext cx="475488" cy="413309"/>
          </a:xfrm>
          <a:prstGeom prst="rect">
            <a:avLst/>
          </a:prstGeom>
          <a:solidFill>
            <a:srgbClr val="F0F4F9"/>
          </a:solidFill>
          <a:ln/>
        </p:spPr>
        <p:txBody>
          <a:bodyPr wrap="square" lIns="635" tIns="635" rIns="635" bIns="635" rtlCol="0" anchor="ctr"/>
          <a:lstStyle/>
          <a:p>
            <a:pPr algn="ctr" indent="0" marL="0">
              <a:buNone/>
            </a:pPr>
            <a:r>
              <a:rPr lang="en-US" sz="900" b="1" dirty="0">
                <a:solidFill>
                  <a:srgbClr val="6B3FA0"/>
                </a:solidFill>
                <a:latin typeface="Calibri" pitchFamily="34" charset="0"/>
                <a:ea typeface="Calibri" pitchFamily="34" charset="-122"/>
                <a:cs typeface="Calibri" pitchFamily="34" charset="-120"/>
              </a:rPr>
              <a:t>L0</a:t>
            </a:r>
            <a:endParaRPr lang="en-US" sz="900" dirty="0"/>
          </a:p>
        </p:txBody>
      </p:sp>
      <p:sp>
        <p:nvSpPr>
          <p:cNvPr id="59" name="Text 57"/>
          <p:cNvSpPr/>
          <p:nvPr/>
        </p:nvSpPr>
        <p:spPr>
          <a:xfrm>
            <a:off x="5550408" y="4776826"/>
            <a:ext cx="329184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NOT PUBLISHED. Channel subscriptions incl. a Component Price Landscape feed.</a:t>
            </a:r>
            <a:endParaRPr lang="en-US" sz="750" dirty="0"/>
          </a:p>
        </p:txBody>
      </p:sp>
      <p:sp>
        <p:nvSpPr>
          <p:cNvPr id="60" name="Text 58"/>
          <p:cNvSpPr/>
          <p:nvPr/>
        </p:nvSpPr>
        <p:spPr>
          <a:xfrm>
            <a:off x="8842248" y="4776826"/>
            <a:ext cx="2889504" cy="413309"/>
          </a:xfrm>
          <a:prstGeom prst="rect">
            <a:avLst/>
          </a:prstGeom>
          <a:solidFill>
            <a:srgbClr val="F0F4F9"/>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techinsights.com/.../teardown-costing · /reverse-engineering-subscriptions</a:t>
            </a:r>
            <a:endParaRPr lang="en-US" sz="750" dirty="0"/>
          </a:p>
        </p:txBody>
      </p:sp>
      <p:sp>
        <p:nvSpPr>
          <p:cNvPr id="61" name="Text 59"/>
          <p:cNvSpPr/>
          <p:nvPr/>
        </p:nvSpPr>
        <p:spPr>
          <a:xfrm>
            <a:off x="457200" y="5190134"/>
            <a:ext cx="1828800" cy="413309"/>
          </a:xfrm>
          <a:prstGeom prst="rect">
            <a:avLst/>
          </a:prstGeom>
          <a:solidFill>
            <a:srgbClr val="FFFFFF"/>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JLCPCB (instant quote)</a:t>
            </a:r>
            <a:endParaRPr lang="en-US" sz="810" dirty="0"/>
          </a:p>
        </p:txBody>
      </p:sp>
      <p:sp>
        <p:nvSpPr>
          <p:cNvPr id="62" name="Text 60"/>
          <p:cNvSpPr/>
          <p:nvPr/>
        </p:nvSpPr>
        <p:spPr>
          <a:xfrm>
            <a:off x="2286000" y="5190134"/>
            <a:ext cx="91440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Supplier</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self-serve</a:t>
            </a:r>
            <a:endParaRPr lang="en-US" sz="750" dirty="0"/>
          </a:p>
        </p:txBody>
      </p:sp>
      <p:sp>
        <p:nvSpPr>
          <p:cNvPr id="63" name="Text 61"/>
          <p:cNvSpPr/>
          <p:nvPr/>
        </p:nvSpPr>
        <p:spPr>
          <a:xfrm>
            <a:off x="3200400" y="5190134"/>
            <a:ext cx="187452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BOM + Gerber upload</a:t>
            </a:r>
            <a:endParaRPr lang="en-US" sz="750" dirty="0"/>
          </a:p>
        </p:txBody>
      </p:sp>
      <p:sp>
        <p:nvSpPr>
          <p:cNvPr id="64" name="Text 62"/>
          <p:cNvSpPr/>
          <p:nvPr/>
        </p:nvSpPr>
        <p:spPr>
          <a:xfrm>
            <a:off x="5074920" y="5190134"/>
            <a:ext cx="475488" cy="413309"/>
          </a:xfrm>
          <a:prstGeom prst="rect">
            <a:avLst/>
          </a:prstGeom>
          <a:solidFill>
            <a:srgbClr val="FFFFFF"/>
          </a:solidFill>
          <a:ln/>
        </p:spPr>
        <p:txBody>
          <a:bodyPr wrap="square" lIns="635" tIns="635" rIns="635" bIns="635" rtlCol="0" anchor="ctr"/>
          <a:lstStyle/>
          <a:p>
            <a:pPr algn="ctr" indent="0" marL="0">
              <a:buNone/>
            </a:pPr>
            <a:r>
              <a:rPr lang="en-US" sz="900" b="1" dirty="0">
                <a:solidFill>
                  <a:srgbClr val="1D6FB8"/>
                </a:solidFill>
                <a:latin typeface="Calibri" pitchFamily="34" charset="0"/>
                <a:ea typeface="Calibri" pitchFamily="34" charset="-122"/>
                <a:cs typeface="Calibri" pitchFamily="34" charset="-120"/>
              </a:rPr>
              <a:t>L2</a:t>
            </a:r>
            <a:endParaRPr lang="en-US" sz="900" dirty="0"/>
          </a:p>
        </p:txBody>
      </p:sp>
      <p:sp>
        <p:nvSpPr>
          <p:cNvPr id="65" name="Text 63"/>
          <p:cNvSpPr/>
          <p:nvPr/>
        </p:nvSpPr>
        <p:spPr>
          <a:xfrm>
            <a:off x="5550408" y="5190134"/>
            <a:ext cx="3291840" cy="413309"/>
          </a:xfrm>
          <a:prstGeom prst="rect">
            <a:avLst/>
          </a:prstGeom>
          <a:solidFill>
            <a:srgbClr val="FFFFFF"/>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FULLY PUBLISHED: SMT USD 0.0017/joint; setup USD 25 one side / 50 two; hand solder USD 3.50 + 0.0173/joint. Their SELLING price, prototype scope.</a:t>
            </a:r>
            <a:endParaRPr lang="en-US" sz="750" dirty="0"/>
          </a:p>
        </p:txBody>
      </p:sp>
      <p:sp>
        <p:nvSpPr>
          <p:cNvPr id="66" name="Text 64"/>
          <p:cNvSpPr/>
          <p:nvPr/>
        </p:nvSpPr>
        <p:spPr>
          <a:xfrm>
            <a:off x="8842248" y="5190134"/>
            <a:ext cx="2889504" cy="413309"/>
          </a:xfrm>
          <a:prstGeom prst="rect">
            <a:avLst/>
          </a:prstGeom>
          <a:solidFill>
            <a:srgbClr val="FFFFFF"/>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jlcpcb.com/help/article/pcb-assembly-price · jlcpcb.com/parts/bom-tool</a:t>
            </a:r>
            <a:endParaRPr lang="en-US" sz="750" dirty="0"/>
          </a:p>
        </p:txBody>
      </p:sp>
      <p:sp>
        <p:nvSpPr>
          <p:cNvPr id="67" name="Text 65"/>
          <p:cNvSpPr/>
          <p:nvPr/>
        </p:nvSpPr>
        <p:spPr>
          <a:xfrm>
            <a:off x="457200" y="5603443"/>
            <a:ext cx="1828800" cy="413309"/>
          </a:xfrm>
          <a:prstGeom prst="rect">
            <a:avLst/>
          </a:prstGeom>
          <a:solidFill>
            <a:srgbClr val="F0F4F9"/>
          </a:solidFill>
          <a:ln/>
        </p:spPr>
        <p:txBody>
          <a:bodyPr wrap="square" lIns="635" tIns="635" rIns="635" bIns="635" rtlCol="0" anchor="ctr"/>
          <a:lstStyle/>
          <a:p>
            <a:pPr algn="l" indent="0" marL="0">
              <a:buNone/>
            </a:pPr>
            <a:r>
              <a:rPr lang="en-US" sz="810" b="1" dirty="0">
                <a:solidFill>
                  <a:srgbClr val="16325C"/>
                </a:solidFill>
                <a:latin typeface="Calibri" pitchFamily="34" charset="0"/>
                <a:ea typeface="Calibri" pitchFamily="34" charset="-122"/>
                <a:cs typeface="Calibri" pitchFamily="34" charset="-120"/>
              </a:rPr>
              <a:t>PCB Tracer</a:t>
            </a:r>
            <a:endParaRPr lang="en-US" sz="810" dirty="0"/>
          </a:p>
        </p:txBody>
      </p:sp>
      <p:sp>
        <p:nvSpPr>
          <p:cNvPr id="68" name="Text 66"/>
          <p:cNvSpPr/>
          <p:nvPr/>
        </p:nvSpPr>
        <p:spPr>
          <a:xfrm>
            <a:off x="2286000" y="5603443"/>
            <a:ext cx="91440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Software</a:t>
            </a:r>
            <a:endParaRPr lang="en-US" sz="750" dirty="0"/>
          </a:p>
          <a:p>
            <a:pPr algn="l" indent="0" marL="0">
              <a:buNone/>
            </a:pPr>
            <a:r>
              <a:rPr lang="en-US" sz="750" dirty="0">
                <a:solidFill>
                  <a:srgbClr val="3A4356"/>
                </a:solidFill>
                <a:latin typeface="Calibri" pitchFamily="34" charset="0"/>
                <a:ea typeface="Calibri" pitchFamily="34" charset="-122"/>
                <a:cs typeface="Calibri" pitchFamily="34" charset="-120"/>
              </a:rPr>
              <a:t>browser</a:t>
            </a:r>
            <a:endParaRPr lang="en-US" sz="750" dirty="0"/>
          </a:p>
        </p:txBody>
      </p:sp>
      <p:sp>
        <p:nvSpPr>
          <p:cNvPr id="69" name="Text 67"/>
          <p:cNvSpPr/>
          <p:nvPr/>
        </p:nvSpPr>
        <p:spPr>
          <a:xfrm>
            <a:off x="3200400" y="5603443"/>
            <a:ext cx="187452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Photos of the board (top + bottom)</a:t>
            </a:r>
            <a:endParaRPr lang="en-US" sz="750" dirty="0"/>
          </a:p>
        </p:txBody>
      </p:sp>
      <p:sp>
        <p:nvSpPr>
          <p:cNvPr id="70" name="Text 68"/>
          <p:cNvSpPr/>
          <p:nvPr/>
        </p:nvSpPr>
        <p:spPr>
          <a:xfrm>
            <a:off x="5074920" y="5603443"/>
            <a:ext cx="475488" cy="413309"/>
          </a:xfrm>
          <a:prstGeom prst="rect">
            <a:avLst/>
          </a:prstGeom>
          <a:solidFill>
            <a:srgbClr val="F0F4F9"/>
          </a:solidFill>
          <a:ln/>
        </p:spPr>
        <p:txBody>
          <a:bodyPr wrap="square" lIns="635" tIns="635" rIns="635" bIns="635" rtlCol="0" anchor="ctr"/>
          <a:lstStyle/>
          <a:p>
            <a:pPr algn="ctr" indent="0" marL="0">
              <a:buNone/>
            </a:pPr>
            <a:r>
              <a:rPr lang="en-US" sz="900" b="1" dirty="0">
                <a:solidFill>
                  <a:srgbClr val="2A7F50"/>
                </a:solidFill>
                <a:latin typeface="Calibri" pitchFamily="34" charset="0"/>
                <a:ea typeface="Calibri" pitchFamily="34" charset="-122"/>
                <a:cs typeface="Calibri" pitchFamily="34" charset="-120"/>
              </a:rPr>
              <a:t>L3</a:t>
            </a:r>
            <a:endParaRPr lang="en-US" sz="900" dirty="0"/>
          </a:p>
        </p:txBody>
      </p:sp>
      <p:sp>
        <p:nvSpPr>
          <p:cNvPr id="71" name="Text 69"/>
          <p:cNvSpPr/>
          <p:nvPr/>
        </p:nvSpPr>
        <p:spPr>
          <a:xfrm>
            <a:off x="5550408" y="5603443"/>
            <a:ext cx="3291840" cy="413309"/>
          </a:xfrm>
          <a:prstGeom prst="rect">
            <a:avLst/>
          </a:prstGeom>
          <a:solidFill>
            <a:srgbClr val="F0F4F9"/>
          </a:solidFill>
          <a:ln/>
        </p:spPr>
        <p:txBody>
          <a:bodyPr wrap="square" lIns="635" tIns="635" rIns="635" bIns="635"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PUBLISHED: built-in features free; AI features ≈ USD 0.50 per schematic. Extracts BOM and netlist — does NOT cost the board.</a:t>
            </a:r>
            <a:endParaRPr lang="en-US" sz="750" dirty="0"/>
          </a:p>
        </p:txBody>
      </p:sp>
      <p:sp>
        <p:nvSpPr>
          <p:cNvPr id="72" name="Text 70"/>
          <p:cNvSpPr/>
          <p:nvPr/>
        </p:nvSpPr>
        <p:spPr>
          <a:xfrm>
            <a:off x="8842248" y="5603443"/>
            <a:ext cx="2889504" cy="413309"/>
          </a:xfrm>
          <a:prstGeom prst="rect">
            <a:avLst/>
          </a:prstGeom>
          <a:solidFill>
            <a:srgbClr val="F0F4F9"/>
          </a:solidFill>
          <a:ln/>
        </p:spPr>
        <p:txBody>
          <a:bodyPr wrap="square" lIns="635" tIns="635" rIns="635" bIns="635" rtlCol="0" anchor="ctr"/>
          <a:lstStyle/>
          <a:p>
            <a:pPr algn="l" indent="0" marL="0">
              <a:buNone/>
            </a:pPr>
            <a:r>
              <a:rPr lang="en-US" sz="750" i="1" dirty="0">
                <a:solidFill>
                  <a:srgbClr val="686F7D"/>
                </a:solidFill>
                <a:latin typeface="Calibri" pitchFamily="34" charset="0"/>
                <a:ea typeface="Calibri" pitchFamily="34" charset="-122"/>
                <a:cs typeface="Calibri" pitchFamily="34" charset="-120"/>
              </a:rPr>
              <a:t>pcbtracer.com · github.com/rpelorosso/pcb-tracer</a:t>
            </a:r>
            <a:endParaRPr lang="en-US" sz="750" dirty="0"/>
          </a:p>
        </p:txBody>
      </p:sp>
      <p:sp>
        <p:nvSpPr>
          <p:cNvPr id="73" name="Shape 71"/>
          <p:cNvSpPr/>
          <p:nvPr/>
        </p:nvSpPr>
        <p:spPr>
          <a:xfrm>
            <a:off x="457200" y="6053328"/>
            <a:ext cx="11274552" cy="457200"/>
          </a:xfrm>
          <a:prstGeom prst="roundRect">
            <a:avLst>
              <a:gd name="adj" fmla="val 16000"/>
            </a:avLst>
          </a:prstGeom>
          <a:solidFill>
            <a:srgbClr val="FCF3E3"/>
          </a:solidFill>
          <a:ln w="12700">
            <a:solidFill>
              <a:srgbClr val="99651A"/>
            </a:solidFill>
            <a:prstDash val="solid"/>
          </a:ln>
        </p:spPr>
      </p:sp>
      <p:sp>
        <p:nvSpPr>
          <p:cNvPr id="74" name="Text 72"/>
          <p:cNvSpPr/>
          <p:nvPr/>
        </p:nvSpPr>
        <p:spPr>
          <a:xfrm>
            <a:off x="621792" y="6053328"/>
            <a:ext cx="10972800" cy="457200"/>
          </a:xfrm>
          <a:prstGeom prst="rect">
            <a:avLst/>
          </a:prstGeom>
          <a:noFill/>
          <a:ln/>
        </p:spPr>
        <p:txBody>
          <a:bodyPr wrap="square" lIns="0" tIns="0" rIns="0" bIns="0" rtlCol="0" anchor="ctr"/>
          <a:lstStyle/>
          <a:p>
            <a:pPr indent="0" marL="0">
              <a:buNone/>
            </a:pPr>
            <a:r>
              <a:rPr lang="en-US" sz="940" b="1" dirty="0">
                <a:solidFill>
                  <a:srgbClr val="99651A"/>
                </a:solidFill>
                <a:latin typeface="Calibri" pitchFamily="34" charset="0"/>
                <a:ea typeface="Calibri" pitchFamily="34" charset="-122"/>
                <a:cs typeface="Calibri" pitchFamily="34" charset="-120"/>
              </a:rPr>
              <a:t>The pricing finding:  </a:t>
            </a:r>
            <a:pPr indent="0" marL="0">
              <a:buNone/>
            </a:pPr>
            <a:r>
              <a:rPr lang="en-US" sz="940" dirty="0">
                <a:solidFill>
                  <a:srgbClr val="3A4356"/>
                </a:solidFill>
                <a:latin typeface="Calibri" pitchFamily="34" charset="0"/>
                <a:ea typeface="Calibri" pitchFamily="34" charset="-122"/>
                <a:cs typeface="Calibri" pitchFamily="34" charset="-120"/>
              </a:rPr>
              <a:t>every should-cost and quoting platform in this market sells on quotation — not one publishes a figure. Only the per-report services and the instant-quote suppliers put a number in public. Any "typical licence cost" you are offered for these tools is somebody’s guess.</a:t>
            </a:r>
            <a:endParaRPr lang="en-US" sz="940" dirty="0"/>
          </a:p>
        </p:txBody>
      </p:sp>
      <p:sp>
        <p:nvSpPr>
          <p:cNvPr id="75" name="Text 7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who else automates PCBA costing · market landscape, sourced August 2026</a:t>
            </a:r>
            <a:endParaRPr lang="en-US" sz="850" dirty="0"/>
          </a:p>
        </p:txBody>
      </p:sp>
      <p:sp>
        <p:nvSpPr>
          <p:cNvPr id="76" name="Text 7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6325C"/>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CostVision Measured on the Same Axes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Green only where we genuinely lead. Red where we do not — including one thing we cannot yet claim at all</a:t>
            </a:r>
            <a:endParaRPr lang="en-US" sz="1200" dirty="0"/>
          </a:p>
        </p:txBody>
      </p:sp>
      <p:sp>
        <p:nvSpPr>
          <p:cNvPr id="5" name="Text 3"/>
          <p:cNvSpPr/>
          <p:nvPr/>
        </p:nvSpPr>
        <p:spPr>
          <a:xfrm>
            <a:off x="457200" y="1115568"/>
            <a:ext cx="2212848" cy="310896"/>
          </a:xfrm>
          <a:prstGeom prst="rect">
            <a:avLst/>
          </a:prstGeom>
          <a:solidFill>
            <a:srgbClr val="16325C"/>
          </a:solidFill>
          <a:ln/>
        </p:spPr>
        <p:txBody>
          <a:bodyPr wrap="square" lIns="635" tIns="635" rIns="635" bIns="635" rtlCol="0" anchor="ctr"/>
          <a:lstStyle/>
          <a:p>
            <a:pPr algn="l" indent="0" marL="0">
              <a:buNone/>
            </a:pPr>
            <a:endParaRPr lang="en-US" sz="880" dirty="0"/>
          </a:p>
        </p:txBody>
      </p:sp>
      <p:sp>
        <p:nvSpPr>
          <p:cNvPr id="6" name="Text 4"/>
          <p:cNvSpPr/>
          <p:nvPr/>
        </p:nvSpPr>
        <p:spPr>
          <a:xfrm>
            <a:off x="2670048" y="1115568"/>
            <a:ext cx="2395728" cy="310896"/>
          </a:xfrm>
          <a:prstGeom prst="rect">
            <a:avLst/>
          </a:prstGeom>
          <a:solidFill>
            <a:srgbClr val="16325C"/>
          </a:solidFill>
          <a:ln/>
        </p:spPr>
        <p:txBody>
          <a:bodyPr wrap="square" lIns="635" tIns="635" rIns="635" bIns="635"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Camp A · EMS quoting</a:t>
            </a:r>
            <a:endParaRPr lang="en-US" sz="880" dirty="0"/>
          </a:p>
        </p:txBody>
      </p:sp>
      <p:sp>
        <p:nvSpPr>
          <p:cNvPr id="7" name="Text 5"/>
          <p:cNvSpPr/>
          <p:nvPr/>
        </p:nvSpPr>
        <p:spPr>
          <a:xfrm>
            <a:off x="5065776" y="1115568"/>
            <a:ext cx="2395728" cy="310896"/>
          </a:xfrm>
          <a:prstGeom prst="rect">
            <a:avLst/>
          </a:prstGeom>
          <a:solidFill>
            <a:srgbClr val="16325C"/>
          </a:solidFill>
          <a:ln/>
        </p:spPr>
        <p:txBody>
          <a:bodyPr wrap="square" lIns="635" tIns="635" rIns="635" bIns="635"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Camp B · Enterprise should-cost</a:t>
            </a:r>
            <a:endParaRPr lang="en-US" sz="880" dirty="0"/>
          </a:p>
        </p:txBody>
      </p:sp>
      <p:sp>
        <p:nvSpPr>
          <p:cNvPr id="8" name="Text 6"/>
          <p:cNvSpPr/>
          <p:nvPr/>
        </p:nvSpPr>
        <p:spPr>
          <a:xfrm>
            <a:off x="7461504" y="1115568"/>
            <a:ext cx="2395728" cy="310896"/>
          </a:xfrm>
          <a:prstGeom prst="rect">
            <a:avLst/>
          </a:prstGeom>
          <a:solidFill>
            <a:srgbClr val="16325C"/>
          </a:solidFill>
          <a:ln/>
        </p:spPr>
        <p:txBody>
          <a:bodyPr wrap="square" lIns="635" tIns="635" rIns="635" bIns="635"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Camp C · Reverse costing</a:t>
            </a:r>
            <a:endParaRPr lang="en-US" sz="880" dirty="0"/>
          </a:p>
        </p:txBody>
      </p:sp>
      <p:sp>
        <p:nvSpPr>
          <p:cNvPr id="9" name="Text 7"/>
          <p:cNvSpPr/>
          <p:nvPr/>
        </p:nvSpPr>
        <p:spPr>
          <a:xfrm>
            <a:off x="9857232" y="1115568"/>
            <a:ext cx="1874520" cy="310896"/>
          </a:xfrm>
          <a:prstGeom prst="rect">
            <a:avLst/>
          </a:prstGeom>
          <a:solidFill>
            <a:srgbClr val="4F46E5"/>
          </a:solidFill>
          <a:ln/>
        </p:spPr>
        <p:txBody>
          <a:bodyPr wrap="square" lIns="635" tIns="635" rIns="635" bIns="635"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CostVision</a:t>
            </a:r>
            <a:endParaRPr lang="en-US" sz="880" dirty="0"/>
          </a:p>
        </p:txBody>
      </p:sp>
      <p:sp>
        <p:nvSpPr>
          <p:cNvPr id="10" name="Text 8"/>
          <p:cNvSpPr/>
          <p:nvPr/>
        </p:nvSpPr>
        <p:spPr>
          <a:xfrm>
            <a:off x="457200" y="1481328"/>
            <a:ext cx="2212848" cy="484632"/>
          </a:xfrm>
          <a:prstGeom prst="rect">
            <a:avLst/>
          </a:prstGeom>
          <a:solidFill>
            <a:srgbClr val="FFFFFF"/>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Starts from</a:t>
            </a:r>
            <a:endParaRPr lang="en-US" sz="820" dirty="0"/>
          </a:p>
        </p:txBody>
      </p:sp>
      <p:sp>
        <p:nvSpPr>
          <p:cNvPr id="11" name="Text 9"/>
          <p:cNvSpPr/>
          <p:nvPr/>
        </p:nvSpPr>
        <p:spPr>
          <a:xfrm>
            <a:off x="2670048" y="1481328"/>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A BOM file</a:t>
            </a:r>
            <a:endParaRPr lang="en-US" sz="750" dirty="0"/>
          </a:p>
        </p:txBody>
      </p:sp>
      <p:sp>
        <p:nvSpPr>
          <p:cNvPr id="12" name="Text 10"/>
          <p:cNvSpPr/>
          <p:nvPr/>
        </p:nvSpPr>
        <p:spPr>
          <a:xfrm>
            <a:off x="5065776" y="1481328"/>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A BOM + board spec</a:t>
            </a:r>
            <a:endParaRPr lang="en-US" sz="750" dirty="0"/>
          </a:p>
        </p:txBody>
      </p:sp>
      <p:sp>
        <p:nvSpPr>
          <p:cNvPr id="13" name="Text 11"/>
          <p:cNvSpPr/>
          <p:nvPr/>
        </p:nvSpPr>
        <p:spPr>
          <a:xfrm>
            <a:off x="7461504" y="1481328"/>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The physical board</a:t>
            </a:r>
            <a:endParaRPr lang="en-US" sz="750" dirty="0"/>
          </a:p>
        </p:txBody>
      </p:sp>
      <p:sp>
        <p:nvSpPr>
          <p:cNvPr id="14" name="Text 12"/>
          <p:cNvSpPr/>
          <p:nvPr/>
        </p:nvSpPr>
        <p:spPr>
          <a:xfrm>
            <a:off x="9857232" y="1481328"/>
            <a:ext cx="1874520" cy="484632"/>
          </a:xfrm>
          <a:prstGeom prst="rect">
            <a:avLst/>
          </a:prstGeom>
          <a:solidFill>
            <a:srgbClr val="EAF6EF"/>
          </a:solidFill>
          <a:ln/>
        </p:spPr>
        <p:txBody>
          <a:bodyPr wrap="square" lIns="635" tIns="635" rIns="635" bIns="635"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A photograph</a:t>
            </a:r>
            <a:endParaRPr lang="en-US" sz="750" dirty="0"/>
          </a:p>
          <a:p>
            <a:pPr algn="ctr" indent="0" marL="0">
              <a:buNone/>
            </a:pPr>
            <a:r>
              <a:rPr lang="en-US" sz="750" b="1" dirty="0">
                <a:solidFill>
                  <a:srgbClr val="2A7F50"/>
                </a:solidFill>
                <a:latin typeface="Calibri" pitchFamily="34" charset="0"/>
                <a:ea typeface="Calibri" pitchFamily="34" charset="-122"/>
                <a:cs typeface="Calibri" pitchFamily="34" charset="-120"/>
              </a:rPr>
              <a:t>(AI — off at JLR)</a:t>
            </a:r>
            <a:endParaRPr lang="en-US" sz="750" dirty="0"/>
          </a:p>
        </p:txBody>
      </p:sp>
      <p:sp>
        <p:nvSpPr>
          <p:cNvPr id="15" name="Text 13"/>
          <p:cNvSpPr/>
          <p:nvPr/>
        </p:nvSpPr>
        <p:spPr>
          <a:xfrm>
            <a:off x="457200" y="1965960"/>
            <a:ext cx="2212848" cy="484632"/>
          </a:xfrm>
          <a:prstGeom prst="rect">
            <a:avLst/>
          </a:prstGeom>
          <a:solidFill>
            <a:srgbClr val="F0F4F9"/>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Automation</a:t>
            </a:r>
            <a:endParaRPr lang="en-US" sz="820" dirty="0"/>
          </a:p>
        </p:txBody>
      </p:sp>
      <p:sp>
        <p:nvSpPr>
          <p:cNvPr id="16" name="Text 14"/>
          <p:cNvSpPr/>
          <p:nvPr/>
        </p:nvSpPr>
        <p:spPr>
          <a:xfrm>
            <a:off x="2670048" y="1965960"/>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L2</a:t>
            </a:r>
            <a:endParaRPr lang="en-US" sz="750" dirty="0"/>
          </a:p>
        </p:txBody>
      </p:sp>
      <p:sp>
        <p:nvSpPr>
          <p:cNvPr id="17" name="Text 15"/>
          <p:cNvSpPr/>
          <p:nvPr/>
        </p:nvSpPr>
        <p:spPr>
          <a:xfrm>
            <a:off x="5065776" y="1965960"/>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L1–L2</a:t>
            </a:r>
            <a:endParaRPr lang="en-US" sz="750" dirty="0"/>
          </a:p>
        </p:txBody>
      </p:sp>
      <p:sp>
        <p:nvSpPr>
          <p:cNvPr id="18" name="Text 16"/>
          <p:cNvSpPr/>
          <p:nvPr/>
        </p:nvSpPr>
        <p:spPr>
          <a:xfrm>
            <a:off x="7461504" y="1965960"/>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L0 — people</a:t>
            </a:r>
            <a:endParaRPr lang="en-US" sz="750" dirty="0"/>
          </a:p>
        </p:txBody>
      </p:sp>
      <p:sp>
        <p:nvSpPr>
          <p:cNvPr id="19" name="Text 17"/>
          <p:cNvSpPr/>
          <p:nvPr/>
        </p:nvSpPr>
        <p:spPr>
          <a:xfrm>
            <a:off x="9857232" y="1965960"/>
            <a:ext cx="1874520" cy="484632"/>
          </a:xfrm>
          <a:prstGeom prst="rect">
            <a:avLst/>
          </a:prstGeom>
          <a:solidFill>
            <a:srgbClr val="EAF6EF"/>
          </a:solidFill>
          <a:ln/>
        </p:spPr>
        <p:txBody>
          <a:bodyPr wrap="square" lIns="635" tIns="635" rIns="635" bIns="635"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L3</a:t>
            </a:r>
            <a:endParaRPr lang="en-US" sz="750" dirty="0"/>
          </a:p>
        </p:txBody>
      </p:sp>
      <p:sp>
        <p:nvSpPr>
          <p:cNvPr id="20" name="Text 18"/>
          <p:cNvSpPr/>
          <p:nvPr/>
        </p:nvSpPr>
        <p:spPr>
          <a:xfrm>
            <a:off x="457200" y="2450592"/>
            <a:ext cx="2212848" cy="484632"/>
          </a:xfrm>
          <a:prstGeom prst="rect">
            <a:avLst/>
          </a:prstGeom>
          <a:solidFill>
            <a:srgbClr val="FFFFFF"/>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Turnaround</a:t>
            </a:r>
            <a:endParaRPr lang="en-US" sz="820" dirty="0"/>
          </a:p>
        </p:txBody>
      </p:sp>
      <p:sp>
        <p:nvSpPr>
          <p:cNvPr id="21" name="Text 19"/>
          <p:cNvSpPr/>
          <p:nvPr/>
        </p:nvSpPr>
        <p:spPr>
          <a:xfrm>
            <a:off x="2670048" y="2450592"/>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Minutes</a:t>
            </a:r>
            <a:endParaRPr lang="en-US" sz="750" dirty="0"/>
          </a:p>
        </p:txBody>
      </p:sp>
      <p:sp>
        <p:nvSpPr>
          <p:cNvPr id="22" name="Text 20"/>
          <p:cNvSpPr/>
          <p:nvPr/>
        </p:nvSpPr>
        <p:spPr>
          <a:xfrm>
            <a:off x="5065776" y="2450592"/>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Hours (after data entry)</a:t>
            </a:r>
            <a:endParaRPr lang="en-US" sz="750" dirty="0"/>
          </a:p>
        </p:txBody>
      </p:sp>
      <p:sp>
        <p:nvSpPr>
          <p:cNvPr id="23" name="Text 21"/>
          <p:cNvSpPr/>
          <p:nvPr/>
        </p:nvSpPr>
        <p:spPr>
          <a:xfrm>
            <a:off x="7461504" y="2450592"/>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Weeks</a:t>
            </a:r>
            <a:endParaRPr lang="en-US" sz="750" dirty="0"/>
          </a:p>
        </p:txBody>
      </p:sp>
      <p:sp>
        <p:nvSpPr>
          <p:cNvPr id="24" name="Text 22"/>
          <p:cNvSpPr/>
          <p:nvPr/>
        </p:nvSpPr>
        <p:spPr>
          <a:xfrm>
            <a:off x="9857232" y="2450592"/>
            <a:ext cx="1874520" cy="484632"/>
          </a:xfrm>
          <a:prstGeom prst="rect">
            <a:avLst/>
          </a:prstGeom>
          <a:solidFill>
            <a:srgbClr val="EAF6EF"/>
          </a:solidFill>
          <a:ln/>
        </p:spPr>
        <p:txBody>
          <a:bodyPr wrap="square" lIns="635" tIns="635" rIns="635" bIns="635"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Minutes</a:t>
            </a:r>
            <a:endParaRPr lang="en-US" sz="750" dirty="0"/>
          </a:p>
        </p:txBody>
      </p:sp>
      <p:sp>
        <p:nvSpPr>
          <p:cNvPr id="25" name="Text 23"/>
          <p:cNvSpPr/>
          <p:nvPr/>
        </p:nvSpPr>
        <p:spPr>
          <a:xfrm>
            <a:off x="457200" y="2935224"/>
            <a:ext cx="2212848" cy="484632"/>
          </a:xfrm>
          <a:prstGeom prst="rect">
            <a:avLst/>
          </a:prstGeom>
          <a:solidFill>
            <a:srgbClr val="F0F4F9"/>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Cost engine</a:t>
            </a:r>
            <a:endParaRPr lang="en-US" sz="820" dirty="0"/>
          </a:p>
        </p:txBody>
      </p:sp>
      <p:sp>
        <p:nvSpPr>
          <p:cNvPr id="26" name="Text 24"/>
          <p:cNvSpPr/>
          <p:nvPr/>
        </p:nvSpPr>
        <p:spPr>
          <a:xfrm>
            <a:off x="2670048" y="2935224"/>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Supplier price build-up</a:t>
            </a:r>
            <a:endParaRPr lang="en-US" sz="750" dirty="0"/>
          </a:p>
        </p:txBody>
      </p:sp>
      <p:sp>
        <p:nvSpPr>
          <p:cNvPr id="27" name="Text 25"/>
          <p:cNvSpPr/>
          <p:nvPr/>
        </p:nvSpPr>
        <p:spPr>
          <a:xfrm>
            <a:off x="5065776" y="2935224"/>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Deterministic should-cost</a:t>
            </a:r>
            <a:endParaRPr lang="en-US" sz="750" dirty="0"/>
          </a:p>
        </p:txBody>
      </p:sp>
      <p:sp>
        <p:nvSpPr>
          <p:cNvPr id="28" name="Text 26"/>
          <p:cNvSpPr/>
          <p:nvPr/>
        </p:nvSpPr>
        <p:spPr>
          <a:xfrm>
            <a:off x="7461504" y="2935224"/>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Bottom-up from teardown</a:t>
            </a:r>
            <a:endParaRPr lang="en-US" sz="750" dirty="0"/>
          </a:p>
        </p:txBody>
      </p:sp>
      <p:sp>
        <p:nvSpPr>
          <p:cNvPr id="29" name="Text 27"/>
          <p:cNvSpPr/>
          <p:nvPr/>
        </p:nvSpPr>
        <p:spPr>
          <a:xfrm>
            <a:off x="9857232" y="2935224"/>
            <a:ext cx="1874520" cy="484632"/>
          </a:xfrm>
          <a:prstGeom prst="rect">
            <a:avLst/>
          </a:prstGeom>
          <a:solidFill>
            <a:srgbClr val="EEF1F6"/>
          </a:solidFill>
          <a:ln/>
        </p:spPr>
        <p:txBody>
          <a:bodyPr wrap="square" lIns="635" tIns="635" rIns="635" bIns="635" rtlCol="0" anchor="ctr"/>
          <a:lstStyle/>
          <a:p>
            <a:pPr algn="ctr" indent="0" marL="0">
              <a:buNone/>
            </a:pPr>
            <a:r>
              <a:rPr lang="en-US" sz="750" b="1" dirty="0">
                <a:solidFill>
                  <a:srgbClr val="3A4356"/>
                </a:solidFill>
                <a:latin typeface="Calibri" pitchFamily="34" charset="0"/>
                <a:ea typeface="Calibri" pitchFamily="34" charset="-122"/>
                <a:cs typeface="Calibri" pitchFamily="34" charset="-120"/>
              </a:rPr>
              <a:t>Deterministic, 8-bucket,</a:t>
            </a:r>
            <a:endParaRPr lang="en-US" sz="750" dirty="0"/>
          </a:p>
          <a:p>
            <a:pPr algn="ctr" indent="0" marL="0">
              <a:buNone/>
            </a:pPr>
            <a:r>
              <a:rPr lang="en-US" sz="750" b="1" dirty="0">
                <a:solidFill>
                  <a:srgbClr val="3A4356"/>
                </a:solidFill>
                <a:latin typeface="Calibri" pitchFamily="34" charset="0"/>
                <a:ea typeface="Calibri" pitchFamily="34" charset="-122"/>
                <a:cs typeface="Calibri" pitchFamily="34" charset="-120"/>
              </a:rPr>
              <a:t>2,438 automated tests</a:t>
            </a:r>
            <a:endParaRPr lang="en-US" sz="750" dirty="0"/>
          </a:p>
        </p:txBody>
      </p:sp>
      <p:sp>
        <p:nvSpPr>
          <p:cNvPr id="30" name="Text 28"/>
          <p:cNvSpPr/>
          <p:nvPr/>
        </p:nvSpPr>
        <p:spPr>
          <a:xfrm>
            <a:off x="457200" y="3419856"/>
            <a:ext cx="2212848" cy="484632"/>
          </a:xfrm>
          <a:prstGeom prst="rect">
            <a:avLst/>
          </a:prstGeom>
          <a:solidFill>
            <a:srgbClr val="FFFFFF"/>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Component prices</a:t>
            </a:r>
            <a:endParaRPr lang="en-US" sz="820" dirty="0"/>
          </a:p>
        </p:txBody>
      </p:sp>
      <p:sp>
        <p:nvSpPr>
          <p:cNvPr id="31" name="Text 29"/>
          <p:cNvSpPr/>
          <p:nvPr/>
        </p:nvSpPr>
        <p:spPr>
          <a:xfrm>
            <a:off x="2670048" y="3419856"/>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Live distributor APIs</a:t>
            </a:r>
            <a:endParaRPr lang="en-US" sz="750" dirty="0"/>
          </a:p>
        </p:txBody>
      </p:sp>
      <p:sp>
        <p:nvSpPr>
          <p:cNvPr id="32" name="Text 30"/>
          <p:cNvSpPr/>
          <p:nvPr/>
        </p:nvSpPr>
        <p:spPr>
          <a:xfrm>
            <a:off x="5065776" y="3419856"/>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Licensed price libraries</a:t>
            </a:r>
            <a:endParaRPr lang="en-US" sz="750" dirty="0"/>
          </a:p>
        </p:txBody>
      </p:sp>
      <p:sp>
        <p:nvSpPr>
          <p:cNvPr id="33" name="Text 31"/>
          <p:cNvSpPr/>
          <p:nvPr/>
        </p:nvSpPr>
        <p:spPr>
          <a:xfrm>
            <a:off x="7461504" y="3419856"/>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Own price database</a:t>
            </a:r>
            <a:endParaRPr lang="en-US" sz="750" dirty="0"/>
          </a:p>
        </p:txBody>
      </p:sp>
      <p:sp>
        <p:nvSpPr>
          <p:cNvPr id="34" name="Text 32"/>
          <p:cNvSpPr/>
          <p:nvPr/>
        </p:nvSpPr>
        <p:spPr>
          <a:xfrm>
            <a:off x="9857232" y="3419856"/>
            <a:ext cx="1874520" cy="484632"/>
          </a:xfrm>
          <a:prstGeom prst="rect">
            <a:avLst/>
          </a:prstGeom>
          <a:solidFill>
            <a:srgbClr val="F9E8E5"/>
          </a:solidFill>
          <a:ln/>
        </p:spPr>
        <p:txBody>
          <a:bodyPr wrap="square" lIns="635" tIns="635" rIns="635" bIns="635" rtlCol="0" anchor="ctr"/>
          <a:lstStyle/>
          <a:p>
            <a:pPr algn="ctr" indent="0" marL="0">
              <a:buNone/>
            </a:pPr>
            <a:r>
              <a:rPr lang="en-US" sz="750" b="1" dirty="0">
                <a:solidFill>
                  <a:srgbClr val="B03A2E"/>
                </a:solidFill>
                <a:latin typeface="Calibri" pitchFamily="34" charset="0"/>
                <a:ea typeface="Calibri" pitchFamily="34" charset="-122"/>
                <a:cs typeface="Calibri" pitchFamily="34" charset="-120"/>
              </a:rPr>
              <a:t>Live API built + wired</a:t>
            </a:r>
            <a:endParaRPr lang="en-US" sz="750" dirty="0"/>
          </a:p>
          <a:p>
            <a:pPr algn="ctr" indent="0" marL="0">
              <a:buNone/>
            </a:pPr>
            <a:r>
              <a:rPr lang="en-US" sz="750" b="1" dirty="0">
                <a:solidFill>
                  <a:srgbClr val="B03A2E"/>
                </a:solidFill>
                <a:latin typeface="Calibri" pitchFamily="34" charset="0"/>
                <a:ea typeface="Calibri" pitchFamily="34" charset="-122"/>
                <a:cs typeface="Calibri" pitchFamily="34" charset="-120"/>
              </a:rPr>
              <a:t>— but UNCONFIGURED,</a:t>
            </a:r>
            <a:endParaRPr lang="en-US" sz="750" dirty="0"/>
          </a:p>
          <a:p>
            <a:pPr algn="ctr" indent="0" marL="0">
              <a:buNone/>
            </a:pPr>
            <a:r>
              <a:rPr lang="en-US" sz="750" b="1" dirty="0">
                <a:solidFill>
                  <a:srgbClr val="B03A2E"/>
                </a:solidFill>
                <a:latin typeface="Calibri" pitchFamily="34" charset="0"/>
                <a:ea typeface="Calibri" pitchFamily="34" charset="-122"/>
                <a:cs typeface="Calibri" pitchFamily="34" charset="-120"/>
              </a:rPr>
              <a:t>so offline catalogue in practice</a:t>
            </a:r>
            <a:endParaRPr lang="en-US" sz="750" dirty="0"/>
          </a:p>
        </p:txBody>
      </p:sp>
      <p:sp>
        <p:nvSpPr>
          <p:cNvPr id="35" name="Text 33"/>
          <p:cNvSpPr/>
          <p:nvPr/>
        </p:nvSpPr>
        <p:spPr>
          <a:xfrm>
            <a:off x="457200" y="3904488"/>
            <a:ext cx="2212848" cy="484632"/>
          </a:xfrm>
          <a:prstGeom prst="rect">
            <a:avLst/>
          </a:prstGeom>
          <a:solidFill>
            <a:srgbClr val="F0F4F9"/>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Runs air-gapped</a:t>
            </a:r>
            <a:endParaRPr lang="en-US" sz="820" dirty="0"/>
          </a:p>
        </p:txBody>
      </p:sp>
      <p:sp>
        <p:nvSpPr>
          <p:cNvPr id="36" name="Text 34"/>
          <p:cNvSpPr/>
          <p:nvPr/>
        </p:nvSpPr>
        <p:spPr>
          <a:xfrm>
            <a:off x="2670048" y="3904488"/>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No — cloud SaaS</a:t>
            </a:r>
            <a:endParaRPr lang="en-US" sz="750" dirty="0"/>
          </a:p>
        </p:txBody>
      </p:sp>
      <p:sp>
        <p:nvSpPr>
          <p:cNvPr id="37" name="Text 35"/>
          <p:cNvSpPr/>
          <p:nvPr/>
        </p:nvSpPr>
        <p:spPr>
          <a:xfrm>
            <a:off x="5065776" y="3904488"/>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On-prem possible</a:t>
            </a:r>
            <a:endParaRPr lang="en-US" sz="750" dirty="0"/>
          </a:p>
        </p:txBody>
      </p:sp>
      <p:sp>
        <p:nvSpPr>
          <p:cNvPr id="38" name="Text 36"/>
          <p:cNvSpPr/>
          <p:nvPr/>
        </p:nvSpPr>
        <p:spPr>
          <a:xfrm>
            <a:off x="7461504" y="3904488"/>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n/a — a service</a:t>
            </a:r>
            <a:endParaRPr lang="en-US" sz="750" dirty="0"/>
          </a:p>
        </p:txBody>
      </p:sp>
      <p:sp>
        <p:nvSpPr>
          <p:cNvPr id="39" name="Text 37"/>
          <p:cNvSpPr/>
          <p:nvPr/>
        </p:nvSpPr>
        <p:spPr>
          <a:xfrm>
            <a:off x="9857232" y="3904488"/>
            <a:ext cx="1874520" cy="484632"/>
          </a:xfrm>
          <a:prstGeom prst="rect">
            <a:avLst/>
          </a:prstGeom>
          <a:solidFill>
            <a:srgbClr val="EAF6EF"/>
          </a:solidFill>
          <a:ln/>
        </p:spPr>
        <p:txBody>
          <a:bodyPr wrap="square" lIns="635" tIns="635" rIns="635" bIns="635"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Yes, AIR_GAPPED=1 —</a:t>
            </a:r>
            <a:endParaRPr lang="en-US" sz="750" dirty="0"/>
          </a:p>
          <a:p>
            <a:pPr algn="ctr" indent="0" marL="0">
              <a:buNone/>
            </a:pPr>
            <a:r>
              <a:rPr lang="en-US" sz="750" b="1" dirty="0">
                <a:solidFill>
                  <a:srgbClr val="2A7F50"/>
                </a:solidFill>
                <a:latin typeface="Calibri" pitchFamily="34" charset="0"/>
                <a:ea typeface="Calibri" pitchFamily="34" charset="-122"/>
                <a:cs typeface="Calibri" pitchFamily="34" charset="-120"/>
              </a:rPr>
              <a:t>but the photo read</a:t>
            </a:r>
            <a:endParaRPr lang="en-US" sz="750" dirty="0"/>
          </a:p>
          <a:p>
            <a:pPr algn="ctr" indent="0" marL="0">
              <a:buNone/>
            </a:pPr>
            <a:r>
              <a:rPr lang="en-US" sz="750" b="1" dirty="0">
                <a:solidFill>
                  <a:srgbClr val="2A7F50"/>
                </a:solidFill>
                <a:latin typeface="Calibri" pitchFamily="34" charset="0"/>
                <a:ea typeface="Calibri" pitchFamily="34" charset="-122"/>
                <a:cs typeface="Calibri" pitchFamily="34" charset="-120"/>
              </a:rPr>
              <a:t>needs AI</a:t>
            </a:r>
            <a:endParaRPr lang="en-US" sz="750" dirty="0"/>
          </a:p>
        </p:txBody>
      </p:sp>
      <p:sp>
        <p:nvSpPr>
          <p:cNvPr id="40" name="Text 38"/>
          <p:cNvSpPr/>
          <p:nvPr/>
        </p:nvSpPr>
        <p:spPr>
          <a:xfrm>
            <a:off x="457200" y="4389120"/>
            <a:ext cx="2212848" cy="484632"/>
          </a:xfrm>
          <a:prstGeom prst="rect">
            <a:avLst/>
          </a:prstGeom>
          <a:solidFill>
            <a:srgbClr val="FFFFFF"/>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Per-line evidence</a:t>
            </a:r>
            <a:endParaRPr lang="en-US" sz="820" dirty="0"/>
          </a:p>
        </p:txBody>
      </p:sp>
      <p:sp>
        <p:nvSpPr>
          <p:cNvPr id="41" name="Text 39"/>
          <p:cNvSpPr/>
          <p:nvPr/>
        </p:nvSpPr>
        <p:spPr>
          <a:xfrm>
            <a:off x="2670048" y="4389120"/>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Distributor quote ref</a:t>
            </a:r>
            <a:endParaRPr lang="en-US" sz="750" dirty="0"/>
          </a:p>
        </p:txBody>
      </p:sp>
      <p:sp>
        <p:nvSpPr>
          <p:cNvPr id="42" name="Text 40"/>
          <p:cNvSpPr/>
          <p:nvPr/>
        </p:nvSpPr>
        <p:spPr>
          <a:xfrm>
            <a:off x="5065776" y="4389120"/>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Model + library ref</a:t>
            </a:r>
            <a:endParaRPr lang="en-US" sz="750" dirty="0"/>
          </a:p>
        </p:txBody>
      </p:sp>
      <p:sp>
        <p:nvSpPr>
          <p:cNvPr id="43" name="Text 41"/>
          <p:cNvSpPr/>
          <p:nvPr/>
        </p:nvSpPr>
        <p:spPr>
          <a:xfrm>
            <a:off x="7461504" y="4389120"/>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Physical inspection</a:t>
            </a:r>
            <a:endParaRPr lang="en-US" sz="750" dirty="0"/>
          </a:p>
        </p:txBody>
      </p:sp>
      <p:sp>
        <p:nvSpPr>
          <p:cNvPr id="44" name="Text 42"/>
          <p:cNvSpPr/>
          <p:nvPr/>
        </p:nvSpPr>
        <p:spPr>
          <a:xfrm>
            <a:off x="9857232" y="4389120"/>
            <a:ext cx="1874520" cy="484632"/>
          </a:xfrm>
          <a:prstGeom prst="rect">
            <a:avLst/>
          </a:prstGeom>
          <a:solidFill>
            <a:srgbClr val="EAF6EF"/>
          </a:solidFill>
          <a:ln/>
        </p:spPr>
        <p:txBody>
          <a:bodyPr wrap="square" lIns="635" tIns="635" rIns="635" bIns="635"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Evidence tag per line</a:t>
            </a:r>
            <a:endParaRPr lang="en-US" sz="750" dirty="0"/>
          </a:p>
          <a:p>
            <a:pPr algn="ctr" indent="0" marL="0">
              <a:buNone/>
            </a:pPr>
            <a:r>
              <a:rPr lang="en-US" sz="750" b="1" dirty="0">
                <a:solidFill>
                  <a:srgbClr val="2A7F50"/>
                </a:solidFill>
                <a:latin typeface="Calibri" pitchFamily="34" charset="0"/>
                <a:ea typeface="Calibri" pitchFamily="34" charset="-122"/>
                <a:cs typeface="Calibri" pitchFamily="34" charset="-120"/>
              </a:rPr>
              <a:t>(legible / partial / inferred)</a:t>
            </a:r>
            <a:endParaRPr lang="en-US" sz="750" dirty="0"/>
          </a:p>
        </p:txBody>
      </p:sp>
      <p:sp>
        <p:nvSpPr>
          <p:cNvPr id="45" name="Text 43"/>
          <p:cNvSpPr/>
          <p:nvPr/>
        </p:nvSpPr>
        <p:spPr>
          <a:xfrm>
            <a:off x="457200" y="4873752"/>
            <a:ext cx="2212848" cy="484632"/>
          </a:xfrm>
          <a:prstGeom prst="rect">
            <a:avLst/>
          </a:prstGeom>
          <a:solidFill>
            <a:srgbClr val="F0F4F9"/>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PCBA accuracy</a:t>
            </a:r>
            <a:endParaRPr lang="en-US" sz="820" dirty="0"/>
          </a:p>
          <a:p>
            <a:pPr algn="l" indent="0" marL="0">
              <a:buNone/>
            </a:pPr>
            <a:r>
              <a:rPr lang="en-US" sz="820" b="1" dirty="0">
                <a:solidFill>
                  <a:srgbClr val="16325C"/>
                </a:solidFill>
                <a:latin typeface="Calibri" pitchFamily="34" charset="0"/>
                <a:ea typeface="Calibri" pitchFamily="34" charset="-122"/>
                <a:cs typeface="Calibri" pitchFamily="34" charset="-120"/>
              </a:rPr>
              <a:t>vs actuals</a:t>
            </a:r>
            <a:endParaRPr lang="en-US" sz="820" dirty="0"/>
          </a:p>
        </p:txBody>
      </p:sp>
      <p:sp>
        <p:nvSpPr>
          <p:cNvPr id="46" name="Text 44"/>
          <p:cNvSpPr/>
          <p:nvPr/>
        </p:nvSpPr>
        <p:spPr>
          <a:xfrm>
            <a:off x="2670048" y="4873752"/>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Won/lost quote feedback</a:t>
            </a:r>
            <a:endParaRPr lang="en-US" sz="750" dirty="0"/>
          </a:p>
        </p:txBody>
      </p:sp>
      <p:sp>
        <p:nvSpPr>
          <p:cNvPr id="47" name="Text 45"/>
          <p:cNvSpPr/>
          <p:nvPr/>
        </p:nvSpPr>
        <p:spPr>
          <a:xfrm>
            <a:off x="5065776" y="4873752"/>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Vendor-claimed ROI cases</a:t>
            </a:r>
            <a:endParaRPr lang="en-US" sz="750" dirty="0"/>
          </a:p>
        </p:txBody>
      </p:sp>
      <p:sp>
        <p:nvSpPr>
          <p:cNvPr id="48" name="Text 46"/>
          <p:cNvSpPr/>
          <p:nvPr/>
        </p:nvSpPr>
        <p:spPr>
          <a:xfrm>
            <a:off x="7461504" y="4873752"/>
            <a:ext cx="2395728" cy="484632"/>
          </a:xfrm>
          <a:prstGeom prst="rect">
            <a:avLst/>
          </a:prstGeom>
          <a:solidFill>
            <a:srgbClr val="F0F4F9"/>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The reference standard</a:t>
            </a:r>
            <a:endParaRPr lang="en-US" sz="750" dirty="0"/>
          </a:p>
        </p:txBody>
      </p:sp>
      <p:sp>
        <p:nvSpPr>
          <p:cNvPr id="49" name="Text 47"/>
          <p:cNvSpPr/>
          <p:nvPr/>
        </p:nvSpPr>
        <p:spPr>
          <a:xfrm>
            <a:off x="9857232" y="4873752"/>
            <a:ext cx="1874520" cy="484632"/>
          </a:xfrm>
          <a:prstGeom prst="rect">
            <a:avLst/>
          </a:prstGeom>
          <a:solidFill>
            <a:srgbClr val="F9E8E5"/>
          </a:solidFill>
          <a:ln/>
        </p:spPr>
        <p:txBody>
          <a:bodyPr wrap="square" lIns="635" tIns="635" rIns="635" bIns="635" rtlCol="0" anchor="ctr"/>
          <a:lstStyle/>
          <a:p>
            <a:pPr algn="ctr" indent="0" marL="0">
              <a:buNone/>
            </a:pPr>
            <a:r>
              <a:rPr lang="en-US" sz="750" b="1" dirty="0">
                <a:solidFill>
                  <a:srgbClr val="B03A2E"/>
                </a:solidFill>
                <a:latin typeface="Calibri" pitchFamily="34" charset="0"/>
                <a:ea typeface="Calibri" pitchFamily="34" charset="-122"/>
                <a:cs typeface="Calibri" pitchFamily="34" charset="-120"/>
              </a:rPr>
              <a:t>NOT VALIDATED — no PCBA</a:t>
            </a:r>
            <a:endParaRPr lang="en-US" sz="750" dirty="0"/>
          </a:p>
          <a:p>
            <a:pPr algn="ctr" indent="0" marL="0">
              <a:buNone/>
            </a:pPr>
            <a:r>
              <a:rPr lang="en-US" sz="750" b="1" dirty="0">
                <a:solidFill>
                  <a:srgbClr val="B03A2E"/>
                </a:solidFill>
                <a:latin typeface="Calibri" pitchFamily="34" charset="0"/>
                <a:ea typeface="Calibri" pitchFamily="34" charset="-122"/>
                <a:cs typeface="Calibri" pitchFamily="34" charset="-120"/>
              </a:rPr>
              <a:t>actuals recorded yet</a:t>
            </a:r>
            <a:endParaRPr lang="en-US" sz="750" dirty="0"/>
          </a:p>
        </p:txBody>
      </p:sp>
      <p:sp>
        <p:nvSpPr>
          <p:cNvPr id="50" name="Text 48"/>
          <p:cNvSpPr/>
          <p:nvPr/>
        </p:nvSpPr>
        <p:spPr>
          <a:xfrm>
            <a:off x="457200" y="5358384"/>
            <a:ext cx="2212848" cy="484632"/>
          </a:xfrm>
          <a:prstGeom prst="rect">
            <a:avLst/>
          </a:prstGeom>
          <a:solidFill>
            <a:srgbClr val="FFFFFF"/>
          </a:solidFill>
          <a:ln/>
        </p:spPr>
        <p:txBody>
          <a:bodyPr wrap="square" lIns="635" tIns="635" rIns="635" bIns="635" rtlCol="0" anchor="ctr"/>
          <a:lstStyle/>
          <a:p>
            <a:pPr algn="l" indent="0" marL="0">
              <a:buNone/>
            </a:pPr>
            <a:r>
              <a:rPr lang="en-US" sz="820" b="1" dirty="0">
                <a:solidFill>
                  <a:srgbClr val="16325C"/>
                </a:solidFill>
                <a:latin typeface="Calibri" pitchFamily="34" charset="0"/>
                <a:ea typeface="Calibri" pitchFamily="34" charset="-122"/>
                <a:cs typeface="Calibri" pitchFamily="34" charset="-120"/>
              </a:rPr>
              <a:t>Maturity</a:t>
            </a:r>
            <a:endParaRPr lang="en-US" sz="820" dirty="0"/>
          </a:p>
        </p:txBody>
      </p:sp>
      <p:sp>
        <p:nvSpPr>
          <p:cNvPr id="51" name="Text 49"/>
          <p:cNvSpPr/>
          <p:nvPr/>
        </p:nvSpPr>
        <p:spPr>
          <a:xfrm>
            <a:off x="2670048" y="5358384"/>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300+ EMS customers claimed</a:t>
            </a:r>
            <a:endParaRPr lang="en-US" sz="750" dirty="0"/>
          </a:p>
        </p:txBody>
      </p:sp>
      <p:sp>
        <p:nvSpPr>
          <p:cNvPr id="52" name="Text 50"/>
          <p:cNvSpPr/>
          <p:nvPr/>
        </p:nvSpPr>
        <p:spPr>
          <a:xfrm>
            <a:off x="5065776" y="5358384"/>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Decades, thousands of seats</a:t>
            </a:r>
            <a:endParaRPr lang="en-US" sz="750" dirty="0"/>
          </a:p>
        </p:txBody>
      </p:sp>
      <p:sp>
        <p:nvSpPr>
          <p:cNvPr id="53" name="Text 51"/>
          <p:cNvSpPr/>
          <p:nvPr/>
        </p:nvSpPr>
        <p:spPr>
          <a:xfrm>
            <a:off x="7461504" y="5358384"/>
            <a:ext cx="2395728" cy="484632"/>
          </a:xfrm>
          <a:prstGeom prst="rect">
            <a:avLst/>
          </a:prstGeom>
          <a:solidFill>
            <a:srgbClr val="FFFFFF"/>
          </a:solidFill>
          <a:ln/>
        </p:spPr>
        <p:txBody>
          <a:bodyPr wrap="square" lIns="635" tIns="635" rIns="635" bIns="635" rtlCol="0" anchor="ctr"/>
          <a:lstStyle/>
          <a:p>
            <a:pPr algn="ctr" indent="0" marL="0">
              <a:buNone/>
            </a:pPr>
            <a:r>
              <a:rPr lang="en-US" sz="750" dirty="0">
                <a:solidFill>
                  <a:srgbClr val="3A4356"/>
                </a:solidFill>
                <a:latin typeface="Calibri" pitchFamily="34" charset="0"/>
                <a:ea typeface="Calibri" pitchFamily="34" charset="-122"/>
                <a:cs typeface="Calibri" pitchFamily="34" charset="-120"/>
              </a:rPr>
              <a:t>250+ automotive teardowns</a:t>
            </a:r>
            <a:endParaRPr lang="en-US" sz="750" dirty="0"/>
          </a:p>
        </p:txBody>
      </p:sp>
      <p:sp>
        <p:nvSpPr>
          <p:cNvPr id="54" name="Text 52"/>
          <p:cNvSpPr/>
          <p:nvPr/>
        </p:nvSpPr>
        <p:spPr>
          <a:xfrm>
            <a:off x="9857232" y="5358384"/>
            <a:ext cx="1874520" cy="484632"/>
          </a:xfrm>
          <a:prstGeom prst="rect">
            <a:avLst/>
          </a:prstGeom>
          <a:solidFill>
            <a:srgbClr val="F9E8E5"/>
          </a:solidFill>
          <a:ln/>
        </p:spPr>
        <p:txBody>
          <a:bodyPr wrap="square" lIns="635" tIns="635" rIns="635" bIns="635" rtlCol="0" anchor="ctr"/>
          <a:lstStyle/>
          <a:p>
            <a:pPr algn="ctr" indent="0" marL="0">
              <a:buNone/>
            </a:pPr>
            <a:r>
              <a:rPr lang="en-US" sz="750" b="1" dirty="0">
                <a:solidFill>
                  <a:srgbClr val="B03A2E"/>
                </a:solidFill>
                <a:latin typeface="Calibri" pitchFamily="34" charset="0"/>
                <a:ea typeface="Calibri" pitchFamily="34" charset="-122"/>
                <a:cs typeface="Calibri" pitchFamily="34" charset="-120"/>
              </a:rPr>
              <a:t>One board, internally</a:t>
            </a:r>
            <a:endParaRPr lang="en-US" sz="750" dirty="0"/>
          </a:p>
        </p:txBody>
      </p:sp>
      <p:sp>
        <p:nvSpPr>
          <p:cNvPr id="55" name="Shape 53"/>
          <p:cNvSpPr/>
          <p:nvPr/>
        </p:nvSpPr>
        <p:spPr>
          <a:xfrm>
            <a:off x="457200" y="5888736"/>
            <a:ext cx="11274552" cy="603504"/>
          </a:xfrm>
          <a:prstGeom prst="roundRect">
            <a:avLst>
              <a:gd name="adj" fmla="val 12121"/>
            </a:avLst>
          </a:prstGeom>
          <a:solidFill>
            <a:srgbClr val="F9E8E5"/>
          </a:solidFill>
          <a:ln w="15240">
            <a:solidFill>
              <a:srgbClr val="B03A2E"/>
            </a:solidFill>
            <a:prstDash val="solid"/>
          </a:ln>
        </p:spPr>
      </p:sp>
      <p:sp>
        <p:nvSpPr>
          <p:cNvPr id="56" name="Text 54"/>
          <p:cNvSpPr/>
          <p:nvPr/>
        </p:nvSpPr>
        <p:spPr>
          <a:xfrm>
            <a:off x="621792" y="5888736"/>
            <a:ext cx="10972800" cy="603504"/>
          </a:xfrm>
          <a:prstGeom prst="rect">
            <a:avLst/>
          </a:prstGeom>
          <a:noFill/>
          <a:ln/>
        </p:spPr>
        <p:txBody>
          <a:bodyPr wrap="square" lIns="0" tIns="0" rIns="0" bIns="0" rtlCol="0" anchor="ctr"/>
          <a:lstStyle/>
          <a:p>
            <a:pPr indent="0" marL="0">
              <a:buNone/>
            </a:pPr>
            <a:r>
              <a:rPr lang="en-US" sz="940" b="1" dirty="0">
                <a:solidFill>
                  <a:srgbClr val="B03A2E"/>
                </a:solidFill>
                <a:latin typeface="Calibri" pitchFamily="34" charset="0"/>
                <a:ea typeface="Calibri" pitchFamily="34" charset="-122"/>
                <a:cs typeface="Calibri" pitchFamily="34" charset="-120"/>
              </a:rPr>
              <a:t>Read the two red rows first.  </a:t>
            </a:r>
            <a:pPr indent="0" marL="0">
              <a:buNone/>
            </a:pPr>
            <a:r>
              <a:rPr lang="en-US" sz="940" dirty="0">
                <a:solidFill>
                  <a:srgbClr val="3A4356"/>
                </a:solidFill>
                <a:latin typeface="Calibri" pitchFamily="34" charset="0"/>
                <a:ea typeface="Calibri" pitchFamily="34" charset="-122"/>
                <a:cs typeface="Calibri" pitchFamily="34" charset="-120"/>
              </a:rPr>
              <a:t>We have never checked a PCBA estimate against a real invoice — and no estimate of any kind has yet been compared with a price JLR paid. The brake-ECU study rested on a fitted price curve with 18% of the BOM inferred and roughly £20 of Bosch captive silicon that has no market price. Both are fixable. Neither is fixed.</a:t>
            </a:r>
            <a:endParaRPr lang="en-US" sz="940" dirty="0"/>
          </a:p>
        </p:txBody>
      </p:sp>
      <p:sp>
        <p:nvSpPr>
          <p:cNvPr id="57" name="Text 55"/>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who else automates PCBA costing · market landscape, sourced August 2026</a:t>
            </a:r>
            <a:endParaRPr lang="en-US" sz="850" dirty="0"/>
          </a:p>
        </p:txBody>
      </p:sp>
      <p:sp>
        <p:nvSpPr>
          <p:cNvPr id="58" name="Text 56"/>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Gap — and the One Thing That Closes It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What we can defend today, what we cannot, and the smallest change that moves us from “defensible estimate” to “priced”</a:t>
            </a:r>
            <a:endParaRPr lang="en-US" sz="1200" dirty="0"/>
          </a:p>
        </p:txBody>
      </p:sp>
      <p:sp>
        <p:nvSpPr>
          <p:cNvPr id="5" name="Shape 3"/>
          <p:cNvSpPr/>
          <p:nvPr/>
        </p:nvSpPr>
        <p:spPr>
          <a:xfrm>
            <a:off x="457200" y="1133856"/>
            <a:ext cx="5532120" cy="2084832"/>
          </a:xfrm>
          <a:prstGeom prst="roundRect">
            <a:avLst>
              <a:gd name="adj" fmla="val 3947"/>
            </a:avLst>
          </a:prstGeom>
          <a:solidFill>
            <a:srgbClr val="FFFFFF"/>
          </a:solidFill>
          <a:ln w="17780">
            <a:solidFill>
              <a:srgbClr val="2A7F50"/>
            </a:solidFill>
            <a:prstDash val="solid"/>
          </a:ln>
        </p:spPr>
      </p:sp>
      <p:sp>
        <p:nvSpPr>
          <p:cNvPr id="6" name="Shape 4"/>
          <p:cNvSpPr/>
          <p:nvPr/>
        </p:nvSpPr>
        <p:spPr>
          <a:xfrm>
            <a:off x="457200" y="1133856"/>
            <a:ext cx="5532120" cy="310896"/>
          </a:xfrm>
          <a:prstGeom prst="rect">
            <a:avLst/>
          </a:prstGeom>
          <a:solidFill>
            <a:srgbClr val="2A7F50"/>
          </a:solidFill>
          <a:ln/>
        </p:spPr>
      </p:sp>
      <p:sp>
        <p:nvSpPr>
          <p:cNvPr id="7" name="Text 5"/>
          <p:cNvSpPr/>
          <p:nvPr/>
        </p:nvSpPr>
        <p:spPr>
          <a:xfrm>
            <a:off x="585216" y="1133856"/>
            <a:ext cx="5276088" cy="310896"/>
          </a:xfrm>
          <a:prstGeom prst="rect">
            <a:avLst/>
          </a:prstGeom>
          <a:noFill/>
          <a:ln/>
        </p:spPr>
        <p:txBody>
          <a:bodyPr wrap="square" lIns="0" tIns="0" rIns="0" bIns="0" rtlCol="0" anchor="ctr"/>
          <a:lstStyle/>
          <a:p>
            <a:pPr indent="0" marL="0">
              <a:buNone/>
            </a:pPr>
            <a:r>
              <a:rPr lang="en-US" sz="920" b="1" spc="50" kern="0" dirty="0">
                <a:solidFill>
                  <a:srgbClr val="FFFFFF"/>
                </a:solidFill>
                <a:latin typeface="Calibri" pitchFamily="34" charset="0"/>
                <a:ea typeface="Calibri" pitchFamily="34" charset="-122"/>
                <a:cs typeface="Calibri" pitchFamily="34" charset="-120"/>
              </a:rPr>
              <a:t>WHAT IS ACTUALLY OURS</a:t>
            </a:r>
            <a:endParaRPr lang="en-US" sz="920" dirty="0"/>
          </a:p>
        </p:txBody>
      </p:sp>
      <p:sp>
        <p:nvSpPr>
          <p:cNvPr id="8" name="Text 6"/>
          <p:cNvSpPr/>
          <p:nvPr/>
        </p:nvSpPr>
        <p:spPr>
          <a:xfrm>
            <a:off x="621792" y="1517904"/>
            <a:ext cx="5202936" cy="1627632"/>
          </a:xfrm>
          <a:prstGeom prst="rect">
            <a:avLst/>
          </a:prstGeom>
          <a:noFill/>
          <a:ln/>
        </p:spPr>
        <p:txBody>
          <a:bodyPr wrap="square" lIns="0" tIns="0" rIns="0" bIns="0" rtlCol="0" anchor="t"/>
          <a:lstStyle/>
          <a:p>
            <a:pPr indent="0" marL="0">
              <a:buNone/>
            </a:pPr>
            <a:r>
              <a:rPr lang="en-US" sz="900" b="1" dirty="0">
                <a:solidFill>
                  <a:srgbClr val="16325C"/>
                </a:solidFill>
                <a:latin typeface="Calibri" pitchFamily="34" charset="0"/>
                <a:ea typeface="Calibri" pitchFamily="34" charset="-122"/>
                <a:cs typeface="Calibri" pitchFamily="34" charset="-120"/>
              </a:rPr>
              <a:t>Photograph → BOM → deterministic should-cost, in one pass (AI mode).
</a:t>
            </a:r>
            <a:pPr indent="0" marL="0">
              <a:buNone/>
            </a:pPr>
            <a:r>
              <a:rPr lang="en-US" sz="900" dirty="0">
                <a:solidFill>
                  <a:srgbClr val="3A4356"/>
                </a:solidFill>
                <a:latin typeface="Calibri" pitchFamily="34" charset="0"/>
                <a:ea typeface="Calibri" pitchFamily="34" charset="-122"/>
                <a:cs typeface="Calibri" pitchFamily="34" charset="-120"/>
              </a:rPr>
              <a:t>Each half exists elsewhere. PCB Tracer reads a board photo into a BOM for free. aPriori costs a PCBA properly from a BOM. </a:t>
            </a:r>
            <a:pPr indent="0" marL="0">
              <a:buNone/>
            </a:pPr>
            <a:r>
              <a:rPr lang="en-US" sz="900" b="1" dirty="0">
                <a:solidFill>
                  <a:srgbClr val="2A7F50"/>
                </a:solidFill>
                <a:latin typeface="Calibri" pitchFamily="34" charset="0"/>
                <a:ea typeface="Calibri" pitchFamily="34" charset="-122"/>
                <a:cs typeface="Calibri" pitchFamily="34" charset="-120"/>
              </a:rPr>
              <a:t>Nobody joins them</a:t>
            </a:r>
            <a:pPr indent="0" marL="0">
              <a:buNone/>
            </a:pPr>
            <a:r>
              <a:rPr lang="en-US" sz="900" dirty="0">
                <a:solidFill>
                  <a:srgbClr val="3A4356"/>
                </a:solidFill>
                <a:latin typeface="Calibri" pitchFamily="34" charset="0"/>
                <a:ea typeface="Calibri" pitchFamily="34" charset="-122"/>
                <a:cs typeface="Calibri" pitchFamily="34" charset="-120"/>
              </a:rPr>
              <a:t> — and the join is what lets a buyer cost a competitor’s board, or their own board when the supplier will not open the BOM.
</a:t>
            </a:r>
            <a:pPr indent="0" marL="0">
              <a:buNone/>
            </a:pPr>
            <a:r>
              <a:rPr lang="en-US" sz="900" dirty="0">
                <a:solidFill>
                  <a:srgbClr val="3A4356"/>
                </a:solidFill>
                <a:latin typeface="Calibri" pitchFamily="34" charset="0"/>
                <a:ea typeface="Calibri" pitchFamily="34" charset="-122"/>
                <a:cs typeface="Calibri" pitchFamily="34" charset="-120"/>
              </a:rPr>
              <a:t>Plus: air-gapped operation, per-line evidence tags, and the same eight-bucket engine as every other commodity — so a PCBA sits in the same portfolio as a casting.</a:t>
            </a:r>
            <a:endParaRPr lang="en-US" sz="900" dirty="0"/>
          </a:p>
        </p:txBody>
      </p:sp>
      <p:sp>
        <p:nvSpPr>
          <p:cNvPr id="9" name="Shape 7"/>
          <p:cNvSpPr/>
          <p:nvPr/>
        </p:nvSpPr>
        <p:spPr>
          <a:xfrm>
            <a:off x="6199632" y="1133856"/>
            <a:ext cx="5532120" cy="2084832"/>
          </a:xfrm>
          <a:prstGeom prst="roundRect">
            <a:avLst>
              <a:gd name="adj" fmla="val 3947"/>
            </a:avLst>
          </a:prstGeom>
          <a:solidFill>
            <a:srgbClr val="FFFFFF"/>
          </a:solidFill>
          <a:ln w="17780">
            <a:solidFill>
              <a:srgbClr val="B03A2E"/>
            </a:solidFill>
            <a:prstDash val="solid"/>
          </a:ln>
        </p:spPr>
      </p:sp>
      <p:sp>
        <p:nvSpPr>
          <p:cNvPr id="10" name="Shape 8"/>
          <p:cNvSpPr/>
          <p:nvPr/>
        </p:nvSpPr>
        <p:spPr>
          <a:xfrm>
            <a:off x="6199632" y="1133856"/>
            <a:ext cx="5532120" cy="310896"/>
          </a:xfrm>
          <a:prstGeom prst="rect">
            <a:avLst/>
          </a:prstGeom>
          <a:solidFill>
            <a:srgbClr val="B03A2E"/>
          </a:solidFill>
          <a:ln/>
        </p:spPr>
      </p:sp>
      <p:sp>
        <p:nvSpPr>
          <p:cNvPr id="11" name="Text 9"/>
          <p:cNvSpPr/>
          <p:nvPr/>
        </p:nvSpPr>
        <p:spPr>
          <a:xfrm>
            <a:off x="6327648" y="1133856"/>
            <a:ext cx="5276088" cy="310896"/>
          </a:xfrm>
          <a:prstGeom prst="rect">
            <a:avLst/>
          </a:prstGeom>
          <a:noFill/>
          <a:ln/>
        </p:spPr>
        <p:txBody>
          <a:bodyPr wrap="square" lIns="0" tIns="0" rIns="0" bIns="0" rtlCol="0" anchor="ctr"/>
          <a:lstStyle/>
          <a:p>
            <a:pPr indent="0" marL="0">
              <a:buNone/>
            </a:pPr>
            <a:r>
              <a:rPr lang="en-US" sz="920" b="1" spc="50" kern="0" dirty="0">
                <a:solidFill>
                  <a:srgbClr val="FFFFFF"/>
                </a:solidFill>
                <a:latin typeface="Calibri" pitchFamily="34" charset="0"/>
                <a:ea typeface="Calibri" pitchFamily="34" charset="-122"/>
                <a:cs typeface="Calibri" pitchFamily="34" charset="-120"/>
              </a:rPr>
              <a:t>WHAT IS NOT — SAY IT FIRST</a:t>
            </a:r>
            <a:endParaRPr lang="en-US" sz="920" dirty="0"/>
          </a:p>
        </p:txBody>
      </p:sp>
      <p:sp>
        <p:nvSpPr>
          <p:cNvPr id="12" name="Text 10"/>
          <p:cNvSpPr/>
          <p:nvPr/>
        </p:nvSpPr>
        <p:spPr>
          <a:xfrm>
            <a:off x="6364224" y="1517904"/>
            <a:ext cx="5202936" cy="1627632"/>
          </a:xfrm>
          <a:prstGeom prst="rect">
            <a:avLst/>
          </a:prstGeom>
          <a:noFill/>
          <a:ln/>
        </p:spPr>
        <p:txBody>
          <a:bodyPr wrap="square" lIns="0" tIns="0" rIns="0" bIns="0" rtlCol="0" anchor="t"/>
          <a:lstStyle/>
          <a:p>
            <a:pPr indent="0" marL="0">
              <a:buNone/>
            </a:pPr>
            <a:r>
              <a:rPr lang="en-US" sz="900" b="1" dirty="0">
                <a:solidFill>
                  <a:srgbClr val="B03A2E"/>
                </a:solidFill>
                <a:latin typeface="Calibri" pitchFamily="34" charset="0"/>
                <a:ea typeface="Calibri" pitchFamily="34" charset="-122"/>
                <a:cs typeface="Calibri" pitchFamily="34" charset="-120"/>
              </a:rPr>
              <a:t>1 · No validated PCBA accuracy. </a:t>
            </a:r>
            <a:pPr indent="0" marL="0">
              <a:buNone/>
            </a:pPr>
            <a:r>
              <a:rPr lang="en-US" sz="900" dirty="0">
                <a:solidFill>
                  <a:srgbClr val="3A4356"/>
                </a:solidFill>
                <a:latin typeface="Calibri" pitchFamily="34" charset="0"/>
                <a:ea typeface="Calibri" pitchFamily="34" charset="-122"/>
                <a:cs typeface="Calibri" pitchFamily="34" charset="-120"/>
              </a:rPr>
              <a:t>Zero boards checked against an invoice.
</a:t>
            </a:r>
            <a:pPr indent="0" marL="0">
              <a:buNone/>
            </a:pPr>
            <a:r>
              <a:rPr lang="en-US" sz="900" b="1" dirty="0">
                <a:solidFill>
                  <a:srgbClr val="B03A2E"/>
                </a:solidFill>
                <a:latin typeface="Calibri" pitchFamily="34" charset="0"/>
                <a:ea typeface="Calibri" pitchFamily="34" charset="-122"/>
                <a:cs typeface="Calibri" pitchFamily="34" charset="-120"/>
              </a:rPr>
              <a:t>2 · Live pricing is off. </a:t>
            </a:r>
            <a:pPr indent="0" marL="0">
              <a:buNone/>
            </a:pPr>
            <a:r>
              <a:rPr lang="en-US" sz="900" dirty="0">
                <a:solidFill>
                  <a:srgbClr val="3A4356"/>
                </a:solidFill>
                <a:latin typeface="Calibri" pitchFamily="34" charset="0"/>
                <a:ea typeface="Calibri" pitchFamily="34" charset="-122"/>
                <a:cs typeface="Calibri" pitchFamily="34" charset="-120"/>
              </a:rPr>
              <a:t>Built and wired; no API key, so the offline catalogue prices every line.
</a:t>
            </a:r>
            <a:pPr indent="0" marL="0">
              <a:buNone/>
            </a:pPr>
            <a:r>
              <a:rPr lang="en-US" sz="900" b="1" dirty="0">
                <a:solidFill>
                  <a:srgbClr val="B03A2E"/>
                </a:solidFill>
                <a:latin typeface="Calibri" pitchFamily="34" charset="0"/>
                <a:ea typeface="Calibri" pitchFamily="34" charset="-122"/>
                <a:cs typeface="Calibri" pitchFamily="34" charset="-120"/>
              </a:rPr>
              <a:t>3 · Captive silicon is unpriceable. </a:t>
            </a:r>
            <a:pPr indent="0" marL="0">
              <a:buNone/>
            </a:pPr>
            <a:r>
              <a:rPr lang="en-US" sz="900" dirty="0">
                <a:solidFill>
                  <a:srgbClr val="3A4356"/>
                </a:solidFill>
                <a:latin typeface="Calibri" pitchFamily="34" charset="0"/>
                <a:ea typeface="Calibri" pitchFamily="34" charset="-122"/>
                <a:cs typeface="Calibri" pitchFamily="34" charset="-120"/>
              </a:rPr>
              <a:t>On the brake ECU, ~£20 of Bosch in-house parts have no market price — no feed fixes that.
</a:t>
            </a:r>
            <a:pPr indent="0" marL="0">
              <a:buNone/>
            </a:pPr>
            <a:r>
              <a:rPr lang="en-US" sz="900" b="1" dirty="0">
                <a:solidFill>
                  <a:srgbClr val="B03A2E"/>
                </a:solidFill>
                <a:latin typeface="Calibri" pitchFamily="34" charset="0"/>
                <a:ea typeface="Calibri" pitchFamily="34" charset="-122"/>
                <a:cs typeface="Calibri" pitchFamily="34" charset="-120"/>
              </a:rPr>
              <a:t>4 · Placement rate unvalidated. </a:t>
            </a:r>
            <a:pPr indent="0" marL="0">
              <a:buNone/>
            </a:pPr>
            <a:r>
              <a:rPr lang="en-US" sz="900" dirty="0">
                <a:solidFill>
                  <a:srgbClr val="3A4356"/>
                </a:solidFill>
                <a:latin typeface="Calibri" pitchFamily="34" charset="0"/>
                <a:ea typeface="Calibri" pitchFamily="34" charset="-122"/>
                <a:cs typeface="Calibri" pitchFamily="34" charset="-120"/>
              </a:rPr>
              <a:t>The library CPH drives £14.21 of process cost; at 2–3× it becomes £4.74–£7.10. Worth more than the whole 200k→350k volume step.</a:t>
            </a:r>
            <a:endParaRPr lang="en-US" sz="900" dirty="0"/>
          </a:p>
        </p:txBody>
      </p:sp>
      <p:sp>
        <p:nvSpPr>
          <p:cNvPr id="13" name="Shape 11"/>
          <p:cNvSpPr/>
          <p:nvPr/>
        </p:nvSpPr>
        <p:spPr>
          <a:xfrm>
            <a:off x="457200" y="3364992"/>
            <a:ext cx="3602736" cy="2048256"/>
          </a:xfrm>
          <a:prstGeom prst="roundRect">
            <a:avLst>
              <a:gd name="adj" fmla="val 4018"/>
            </a:avLst>
          </a:prstGeom>
          <a:solidFill>
            <a:srgbClr val="FFFFFF"/>
          </a:solidFill>
          <a:ln w="15875">
            <a:solidFill>
              <a:srgbClr val="1D6FB8"/>
            </a:solidFill>
            <a:prstDash val="solid"/>
          </a:ln>
        </p:spPr>
      </p:sp>
      <p:sp>
        <p:nvSpPr>
          <p:cNvPr id="14" name="Shape 12"/>
          <p:cNvSpPr/>
          <p:nvPr/>
        </p:nvSpPr>
        <p:spPr>
          <a:xfrm>
            <a:off x="457200" y="3364992"/>
            <a:ext cx="54864" cy="2048256"/>
          </a:xfrm>
          <a:prstGeom prst="rect">
            <a:avLst/>
          </a:prstGeom>
          <a:solidFill>
            <a:srgbClr val="1D6FB8"/>
          </a:solidFill>
          <a:ln/>
        </p:spPr>
      </p:sp>
      <p:sp>
        <p:nvSpPr>
          <p:cNvPr id="15" name="Text 13"/>
          <p:cNvSpPr/>
          <p:nvPr/>
        </p:nvSpPr>
        <p:spPr>
          <a:xfrm>
            <a:off x="621792" y="3438144"/>
            <a:ext cx="3310128" cy="237744"/>
          </a:xfrm>
          <a:prstGeom prst="rect">
            <a:avLst/>
          </a:prstGeom>
          <a:noFill/>
          <a:ln/>
        </p:spPr>
        <p:txBody>
          <a:bodyPr wrap="square" lIns="0" tIns="0" rIns="0" bIns="0" rtlCol="0" anchor="ctr"/>
          <a:lstStyle/>
          <a:p>
            <a:pPr indent="0" marL="0">
              <a:buNone/>
            </a:pPr>
            <a:r>
              <a:rPr lang="en-US" sz="840" b="1" spc="40" kern="0" dirty="0">
                <a:solidFill>
                  <a:srgbClr val="1D6FB8"/>
                </a:solidFill>
                <a:latin typeface="Calibri" pitchFamily="34" charset="0"/>
                <a:ea typeface="Calibri" pitchFamily="34" charset="-122"/>
                <a:cs typeface="Calibri" pitchFamily="34" charset="-120"/>
              </a:rPr>
              <a:t>1 · TURN THE PRICE FEED ON</a:t>
            </a:r>
            <a:endParaRPr lang="en-US" sz="840" dirty="0"/>
          </a:p>
        </p:txBody>
      </p:sp>
      <p:sp>
        <p:nvSpPr>
          <p:cNvPr id="16" name="Text 14"/>
          <p:cNvSpPr/>
          <p:nvPr/>
        </p:nvSpPr>
        <p:spPr>
          <a:xfrm>
            <a:off x="621792" y="3712464"/>
            <a:ext cx="3310128" cy="1042416"/>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A Nexar (Octopart) or RS API key. The integration already exists in server/utils/pcb-live-pricing.ts and already grounds the BOM before totals — it is key-gated and unset.</a:t>
            </a:r>
            <a:endParaRPr lang="en-US" sz="820" dirty="0"/>
          </a:p>
        </p:txBody>
      </p:sp>
      <p:sp>
        <p:nvSpPr>
          <p:cNvPr id="17" name="Shape 15"/>
          <p:cNvSpPr/>
          <p:nvPr/>
        </p:nvSpPr>
        <p:spPr>
          <a:xfrm>
            <a:off x="621792" y="4791456"/>
            <a:ext cx="3310128" cy="548640"/>
          </a:xfrm>
          <a:prstGeom prst="roundRect">
            <a:avLst>
              <a:gd name="adj" fmla="val 10000"/>
            </a:avLst>
          </a:prstGeom>
          <a:solidFill>
            <a:srgbClr val="E8F1FA"/>
          </a:solidFill>
          <a:ln/>
        </p:spPr>
      </p:sp>
      <p:sp>
        <p:nvSpPr>
          <p:cNvPr id="18" name="Text 16"/>
          <p:cNvSpPr/>
          <p:nvPr/>
        </p:nvSpPr>
        <p:spPr>
          <a:xfrm>
            <a:off x="713232" y="4791456"/>
            <a:ext cx="3127248" cy="548640"/>
          </a:xfrm>
          <a:prstGeom prst="rect">
            <a:avLst/>
          </a:prstGeom>
          <a:noFill/>
          <a:ln/>
        </p:spPr>
        <p:txBody>
          <a:bodyPr wrap="square" lIns="0" tIns="0" rIns="0" bIns="0" rtlCol="0" anchor="ctr"/>
          <a:lstStyle/>
          <a:p>
            <a:pPr indent="0" marL="0">
              <a:buNone/>
            </a:pPr>
            <a:r>
              <a:rPr lang="en-US" sz="750" i="1" dirty="0">
                <a:solidFill>
                  <a:srgbClr val="1D6FB8"/>
                </a:solidFill>
                <a:latin typeface="Calibri" pitchFamily="34" charset="0"/>
                <a:ea typeface="Calibri" pitchFamily="34" charset="-122"/>
                <a:cs typeface="Calibri" pitchFamily="34" charset="-120"/>
              </a:rPr>
              <a:t>Also lift the 20-part grounding cap: the ECU BOM has 20 lines, so it is already at the limit.</a:t>
            </a:r>
            <a:endParaRPr lang="en-US" sz="750" dirty="0"/>
          </a:p>
        </p:txBody>
      </p:sp>
      <p:sp>
        <p:nvSpPr>
          <p:cNvPr id="19" name="Shape 17"/>
          <p:cNvSpPr/>
          <p:nvPr/>
        </p:nvSpPr>
        <p:spPr>
          <a:xfrm>
            <a:off x="4288536" y="3364992"/>
            <a:ext cx="3602736" cy="2048256"/>
          </a:xfrm>
          <a:prstGeom prst="roundRect">
            <a:avLst>
              <a:gd name="adj" fmla="val 4018"/>
            </a:avLst>
          </a:prstGeom>
          <a:solidFill>
            <a:srgbClr val="FFFFFF"/>
          </a:solidFill>
          <a:ln w="15875">
            <a:solidFill>
              <a:srgbClr val="2A7F50"/>
            </a:solidFill>
            <a:prstDash val="solid"/>
          </a:ln>
        </p:spPr>
      </p:sp>
      <p:sp>
        <p:nvSpPr>
          <p:cNvPr id="20" name="Shape 18"/>
          <p:cNvSpPr/>
          <p:nvPr/>
        </p:nvSpPr>
        <p:spPr>
          <a:xfrm>
            <a:off x="4288536" y="3364992"/>
            <a:ext cx="54864" cy="2048256"/>
          </a:xfrm>
          <a:prstGeom prst="rect">
            <a:avLst/>
          </a:prstGeom>
          <a:solidFill>
            <a:srgbClr val="2A7F50"/>
          </a:solidFill>
          <a:ln/>
        </p:spPr>
      </p:sp>
      <p:sp>
        <p:nvSpPr>
          <p:cNvPr id="21" name="Text 19"/>
          <p:cNvSpPr/>
          <p:nvPr/>
        </p:nvSpPr>
        <p:spPr>
          <a:xfrm>
            <a:off x="4453128" y="3438144"/>
            <a:ext cx="3310128" cy="237744"/>
          </a:xfrm>
          <a:prstGeom prst="rect">
            <a:avLst/>
          </a:prstGeom>
          <a:noFill/>
          <a:ln/>
        </p:spPr>
        <p:txBody>
          <a:bodyPr wrap="square" lIns="0" tIns="0" rIns="0" bIns="0" rtlCol="0" anchor="ctr"/>
          <a:lstStyle/>
          <a:p>
            <a:pPr indent="0" marL="0">
              <a:buNone/>
            </a:pPr>
            <a:r>
              <a:rPr lang="en-US" sz="840" b="1" spc="40" kern="0" dirty="0">
                <a:solidFill>
                  <a:srgbClr val="2A7F50"/>
                </a:solidFill>
                <a:latin typeface="Calibri" pitchFamily="34" charset="0"/>
                <a:ea typeface="Calibri" pitchFamily="34" charset="-122"/>
                <a:cs typeface="Calibri" pitchFamily="34" charset="-120"/>
              </a:rPr>
              <a:t>2 · VALIDATE ON A KNOWN BOARD</a:t>
            </a:r>
            <a:endParaRPr lang="en-US" sz="840" dirty="0"/>
          </a:p>
        </p:txBody>
      </p:sp>
      <p:sp>
        <p:nvSpPr>
          <p:cNvPr id="22" name="Text 20"/>
          <p:cNvSpPr/>
          <p:nvPr/>
        </p:nvSpPr>
        <p:spPr>
          <a:xfrm>
            <a:off x="4453128" y="3712464"/>
            <a:ext cx="3310128" cy="1042416"/>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Cost one board we already hold a purchase-order price for, and record the actual. That converts the red "not validated" row into a number.</a:t>
            </a:r>
            <a:endParaRPr lang="en-US" sz="820" dirty="0"/>
          </a:p>
        </p:txBody>
      </p:sp>
      <p:sp>
        <p:nvSpPr>
          <p:cNvPr id="23" name="Shape 21"/>
          <p:cNvSpPr/>
          <p:nvPr/>
        </p:nvSpPr>
        <p:spPr>
          <a:xfrm>
            <a:off x="4453128" y="4791456"/>
            <a:ext cx="3310128" cy="548640"/>
          </a:xfrm>
          <a:prstGeom prst="roundRect">
            <a:avLst>
              <a:gd name="adj" fmla="val 10000"/>
            </a:avLst>
          </a:prstGeom>
          <a:solidFill>
            <a:srgbClr val="EAF6EF"/>
          </a:solidFill>
          <a:ln/>
        </p:spPr>
      </p:sp>
      <p:sp>
        <p:nvSpPr>
          <p:cNvPr id="24" name="Text 22"/>
          <p:cNvSpPr/>
          <p:nvPr/>
        </p:nvSpPr>
        <p:spPr>
          <a:xfrm>
            <a:off x="4544568" y="4791456"/>
            <a:ext cx="3127248" cy="548640"/>
          </a:xfrm>
          <a:prstGeom prst="rect">
            <a:avLst/>
          </a:prstGeom>
          <a:noFill/>
          <a:ln/>
        </p:spPr>
        <p:txBody>
          <a:bodyPr wrap="square" lIns="0" tIns="0" rIns="0" bIns="0" rtlCol="0" anchor="ctr"/>
          <a:lstStyle/>
          <a:p>
            <a:pPr indent="0" marL="0">
              <a:buNone/>
            </a:pPr>
            <a:r>
              <a:rPr lang="en-US" sz="750" i="1" dirty="0">
                <a:solidFill>
                  <a:srgbClr val="2A7F50"/>
                </a:solidFill>
                <a:latin typeface="Calibri" pitchFamily="34" charset="0"/>
                <a:ea typeface="Calibri" pitchFamily="34" charset="-122"/>
                <a:cs typeface="Calibri" pitchFamily="34" charset="-120"/>
              </a:rPr>
              <a:t>The calibration and drift machinery to learn from it is already built — it has never been fed a PCBA.</a:t>
            </a:r>
            <a:endParaRPr lang="en-US" sz="750" dirty="0"/>
          </a:p>
        </p:txBody>
      </p:sp>
      <p:sp>
        <p:nvSpPr>
          <p:cNvPr id="25" name="Shape 23"/>
          <p:cNvSpPr/>
          <p:nvPr/>
        </p:nvSpPr>
        <p:spPr>
          <a:xfrm>
            <a:off x="8119872" y="3364992"/>
            <a:ext cx="3602736" cy="2048256"/>
          </a:xfrm>
          <a:prstGeom prst="roundRect">
            <a:avLst>
              <a:gd name="adj" fmla="val 4018"/>
            </a:avLst>
          </a:prstGeom>
          <a:solidFill>
            <a:srgbClr val="FFFFFF"/>
          </a:solidFill>
          <a:ln w="15875">
            <a:solidFill>
              <a:srgbClr val="99651A"/>
            </a:solidFill>
            <a:prstDash val="solid"/>
          </a:ln>
        </p:spPr>
      </p:sp>
      <p:sp>
        <p:nvSpPr>
          <p:cNvPr id="26" name="Shape 24"/>
          <p:cNvSpPr/>
          <p:nvPr/>
        </p:nvSpPr>
        <p:spPr>
          <a:xfrm>
            <a:off x="8119872" y="3364992"/>
            <a:ext cx="54864" cy="2048256"/>
          </a:xfrm>
          <a:prstGeom prst="rect">
            <a:avLst/>
          </a:prstGeom>
          <a:solidFill>
            <a:srgbClr val="99651A"/>
          </a:solidFill>
          <a:ln/>
        </p:spPr>
      </p:sp>
      <p:sp>
        <p:nvSpPr>
          <p:cNvPr id="27" name="Text 25"/>
          <p:cNvSpPr/>
          <p:nvPr/>
        </p:nvSpPr>
        <p:spPr>
          <a:xfrm>
            <a:off x="8284464" y="3438144"/>
            <a:ext cx="3310128" cy="237744"/>
          </a:xfrm>
          <a:prstGeom prst="rect">
            <a:avLst/>
          </a:prstGeom>
          <a:noFill/>
          <a:ln/>
        </p:spPr>
        <p:txBody>
          <a:bodyPr wrap="square" lIns="0" tIns="0" rIns="0" bIns="0" rtlCol="0" anchor="ctr"/>
          <a:lstStyle/>
          <a:p>
            <a:pPr indent="0" marL="0">
              <a:buNone/>
            </a:pPr>
            <a:r>
              <a:rPr lang="en-US" sz="840" b="1" spc="40" kern="0" dirty="0">
                <a:solidFill>
                  <a:srgbClr val="99651A"/>
                </a:solidFill>
                <a:latin typeface="Calibri" pitchFamily="34" charset="0"/>
                <a:ea typeface="Calibri" pitchFamily="34" charset="-122"/>
                <a:cs typeface="Calibri" pitchFamily="34" charset="-120"/>
              </a:rPr>
              <a:t>3 · CHALLENGE THE PLACEMENT RATE</a:t>
            </a:r>
            <a:endParaRPr lang="en-US" sz="840" dirty="0"/>
          </a:p>
        </p:txBody>
      </p:sp>
      <p:sp>
        <p:nvSpPr>
          <p:cNvPr id="28" name="Text 26"/>
          <p:cNvSpPr/>
          <p:nvPr/>
        </p:nvSpPr>
        <p:spPr>
          <a:xfrm>
            <a:off x="8284464" y="3712464"/>
            <a:ext cx="3310128" cy="1042416"/>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Ask one EMS supplier for a real CPH on a comparable board and reconcile it against CPH_BY_TYPE.</a:t>
            </a:r>
            <a:endParaRPr lang="en-US" sz="820" dirty="0"/>
          </a:p>
        </p:txBody>
      </p:sp>
      <p:sp>
        <p:nvSpPr>
          <p:cNvPr id="29" name="Shape 27"/>
          <p:cNvSpPr/>
          <p:nvPr/>
        </p:nvSpPr>
        <p:spPr>
          <a:xfrm>
            <a:off x="8284464" y="4791456"/>
            <a:ext cx="3310128" cy="548640"/>
          </a:xfrm>
          <a:prstGeom prst="roundRect">
            <a:avLst>
              <a:gd name="adj" fmla="val 10000"/>
            </a:avLst>
          </a:prstGeom>
          <a:solidFill>
            <a:srgbClr val="FCF3E3"/>
          </a:solidFill>
          <a:ln/>
        </p:spPr>
      </p:sp>
      <p:sp>
        <p:nvSpPr>
          <p:cNvPr id="30" name="Text 28"/>
          <p:cNvSpPr/>
          <p:nvPr/>
        </p:nvSpPr>
        <p:spPr>
          <a:xfrm>
            <a:off x="8375904" y="4791456"/>
            <a:ext cx="3127248" cy="548640"/>
          </a:xfrm>
          <a:prstGeom prst="rect">
            <a:avLst/>
          </a:prstGeom>
          <a:noFill/>
          <a:ln/>
        </p:spPr>
        <p:txBody>
          <a:bodyPr wrap="square" lIns="0" tIns="0" rIns="0" bIns="0" rtlCol="0" anchor="ctr"/>
          <a:lstStyle/>
          <a:p>
            <a:pPr indent="0" marL="0">
              <a:buNone/>
            </a:pPr>
            <a:r>
              <a:rPr lang="en-US" sz="750" i="1" dirty="0">
                <a:solidFill>
                  <a:srgbClr val="99651A"/>
                </a:solidFill>
                <a:latin typeface="Calibri" pitchFamily="34" charset="0"/>
                <a:ea typeface="Calibri" pitchFamily="34" charset="-122"/>
                <a:cs typeface="Calibri" pitchFamily="34" charset="-120"/>
              </a:rPr>
              <a:t>One conversation. Larger effect on the answer than any volume or region change we have modelled.</a:t>
            </a:r>
            <a:endParaRPr lang="en-US" sz="750" dirty="0"/>
          </a:p>
        </p:txBody>
      </p:sp>
      <p:sp>
        <p:nvSpPr>
          <p:cNvPr id="31" name="Shape 29"/>
          <p:cNvSpPr/>
          <p:nvPr/>
        </p:nvSpPr>
        <p:spPr>
          <a:xfrm>
            <a:off x="457200" y="5541264"/>
            <a:ext cx="11274552" cy="822960"/>
          </a:xfrm>
          <a:prstGeom prst="roundRect">
            <a:avLst>
              <a:gd name="adj" fmla="val 8889"/>
            </a:avLst>
          </a:prstGeom>
          <a:solidFill>
            <a:srgbClr val="EAF6EF"/>
          </a:solidFill>
          <a:ln w="15240">
            <a:solidFill>
              <a:srgbClr val="2A7F50"/>
            </a:solidFill>
            <a:prstDash val="solid"/>
          </a:ln>
        </p:spPr>
      </p:sp>
      <p:sp>
        <p:nvSpPr>
          <p:cNvPr id="32" name="Text 30"/>
          <p:cNvSpPr/>
          <p:nvPr/>
        </p:nvSpPr>
        <p:spPr>
          <a:xfrm>
            <a:off x="621792" y="5541264"/>
            <a:ext cx="10972800" cy="822960"/>
          </a:xfrm>
          <a:prstGeom prst="rect">
            <a:avLst/>
          </a:prstGeom>
          <a:noFill/>
          <a:ln/>
        </p:spPr>
        <p:txBody>
          <a:bodyPr wrap="square" lIns="0" tIns="0" rIns="0" bIns="0" rtlCol="0" anchor="ctr"/>
          <a:lstStyle/>
          <a:p>
            <a:pPr indent="0" marL="0">
              <a:buNone/>
            </a:pPr>
            <a:r>
              <a:rPr lang="en-US" sz="1000" b="1" dirty="0">
                <a:solidFill>
                  <a:srgbClr val="2A7F50"/>
                </a:solidFill>
                <a:latin typeface="Calibri" pitchFamily="34" charset="0"/>
                <a:ea typeface="Calibri" pitchFamily="34" charset="-122"/>
                <a:cs typeface="Calibri" pitchFamily="34" charset="-120"/>
              </a:rPr>
              <a:t>The ask:  </a:t>
            </a:r>
            <a:pPr indent="0" marL="0">
              <a:buNone/>
            </a:pPr>
            <a:r>
              <a:rPr lang="en-US" sz="1000" dirty="0">
                <a:solidFill>
                  <a:srgbClr val="3A4356"/>
                </a:solidFill>
                <a:latin typeface="Calibri" pitchFamily="34" charset="0"/>
                <a:ea typeface="Calibri" pitchFamily="34" charset="-122"/>
                <a:cs typeface="Calibri" pitchFamily="34" charset="-120"/>
              </a:rPr>
              <a:t>one distributor API key and one board with a known purchase price. The integration and the learning-from-actuals machinery are already built. The key needs internet, so it does not apply to the air-gapped JLR build. Until then the honest headline stays: </a:t>
            </a:r>
            <a:pPr indent="0" marL="0">
              <a:buNone/>
            </a:pPr>
            <a:r>
              <a:rPr lang="en-US" sz="1000" b="1" dirty="0">
                <a:solidFill>
                  <a:srgbClr val="16325C"/>
                </a:solidFill>
                <a:latin typeface="Calibri" pitchFamily="34" charset="0"/>
                <a:ea typeface="Calibri" pitchFamily="34" charset="-122"/>
                <a:cs typeface="Calibri" pitchFamily="34" charset="-120"/>
              </a:rPr>
              <a:t>a defensible, fully traceable estimate — not a priced quotation.</a:t>
            </a:r>
            <a:endParaRPr lang="en-US" sz="1000" dirty="0"/>
          </a:p>
        </p:txBody>
      </p:sp>
      <p:sp>
        <p:nvSpPr>
          <p:cNvPr id="33" name="Text 3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who else automates PCBA costing · market landscape, sourced August 2026</a:t>
            </a:r>
            <a:endParaRPr lang="en-US" sz="850" dirty="0"/>
          </a:p>
        </p:txBody>
      </p:sp>
      <p:sp>
        <p:nvSpPr>
          <p:cNvPr id="34" name="Text 3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Business Case I — Where the Money Comes From</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Three value streams, one transparent calculation — every assumption is on the slide and open to challenge</a:t>
            </a:r>
            <a:endParaRPr lang="en-US" sz="1200" dirty="0"/>
          </a:p>
        </p:txBody>
      </p:sp>
      <p:sp>
        <p:nvSpPr>
          <p:cNvPr id="5" name="Shape 3"/>
          <p:cNvSpPr/>
          <p:nvPr/>
        </p:nvSpPr>
        <p:spPr>
          <a:xfrm>
            <a:off x="457200" y="1042416"/>
            <a:ext cx="3602736" cy="1737360"/>
          </a:xfrm>
          <a:prstGeom prst="roundRect">
            <a:avLst>
              <a:gd name="adj" fmla="val 5263"/>
            </a:avLst>
          </a:prstGeom>
          <a:solidFill>
            <a:srgbClr val="FFFFFF"/>
          </a:solidFill>
          <a:ln w="19050">
            <a:solidFill>
              <a:srgbClr val="2A7F50"/>
            </a:solidFill>
            <a:prstDash val="solid"/>
          </a:ln>
        </p:spPr>
      </p:sp>
      <p:sp>
        <p:nvSpPr>
          <p:cNvPr id="6" name="Shape 4"/>
          <p:cNvSpPr/>
          <p:nvPr/>
        </p:nvSpPr>
        <p:spPr>
          <a:xfrm>
            <a:off x="603504" y="1152144"/>
            <a:ext cx="310896" cy="310896"/>
          </a:xfrm>
          <a:prstGeom prst="ellipse">
            <a:avLst/>
          </a:prstGeom>
          <a:solidFill>
            <a:srgbClr val="2A7F50"/>
          </a:solidFill>
          <a:ln/>
        </p:spPr>
      </p:sp>
      <p:pic>
        <p:nvPicPr>
          <p:cNvPr id="7" name="Image 0" descr="preencoded.png">    </p:cNvPr>
          <p:cNvPicPr>
            <a:picLocks noChangeAspect="1"/>
          </p:cNvPicPr>
          <p:nvPr/>
        </p:nvPicPr>
        <p:blipFill>
          <a:blip r:embed="rId1"/>
          <a:stretch>
            <a:fillRect/>
          </a:stretch>
        </p:blipFill>
        <p:spPr>
          <a:xfrm>
            <a:off x="676656" y="1225296"/>
            <a:ext cx="164592" cy="164592"/>
          </a:xfrm>
          <a:prstGeom prst="rect">
            <a:avLst/>
          </a:prstGeom>
        </p:spPr>
      </p:pic>
      <p:sp>
        <p:nvSpPr>
          <p:cNvPr id="8" name="Text 5"/>
          <p:cNvSpPr/>
          <p:nvPr/>
        </p:nvSpPr>
        <p:spPr>
          <a:xfrm>
            <a:off x="987552" y="1133856"/>
            <a:ext cx="2926080" cy="274320"/>
          </a:xfrm>
          <a:prstGeom prst="rect">
            <a:avLst/>
          </a:prstGeom>
          <a:noFill/>
          <a:ln/>
        </p:spPr>
        <p:txBody>
          <a:bodyPr wrap="square" lIns="0" tIns="0" rIns="0" bIns="0" rtlCol="0" anchor="ctr"/>
          <a:lstStyle/>
          <a:p>
            <a:pPr indent="0" marL="0">
              <a:buNone/>
            </a:pPr>
            <a:r>
              <a:rPr lang="en-US" sz="1100" b="1" dirty="0">
                <a:solidFill>
                  <a:srgbClr val="2A7F50"/>
                </a:solidFill>
                <a:latin typeface="Calibri" pitchFamily="34" charset="0"/>
                <a:ea typeface="Calibri" pitchFamily="34" charset="-122"/>
                <a:cs typeface="Calibri" pitchFamily="34" charset="-120"/>
              </a:rPr>
              <a:t>A · Negotiation floor</a:t>
            </a:r>
            <a:endParaRPr lang="en-US" sz="1100" dirty="0"/>
          </a:p>
        </p:txBody>
      </p:sp>
      <p:sp>
        <p:nvSpPr>
          <p:cNvPr id="9" name="Text 6"/>
          <p:cNvSpPr/>
          <p:nvPr/>
        </p:nvSpPr>
        <p:spPr>
          <a:xfrm>
            <a:off x="603504" y="1499616"/>
            <a:ext cx="3310128" cy="731520"/>
          </a:xfrm>
          <a:prstGeom prst="rect">
            <a:avLst/>
          </a:prstGeom>
          <a:noFill/>
          <a:ln/>
        </p:spPr>
        <p:txBody>
          <a:bodyPr wrap="square" lIns="0" tIns="0" rIns="0" bIns="0" rtlCol="0" anchor="t"/>
          <a:lstStyle/>
          <a:p>
            <a:pPr indent="0" marL="0">
              <a:buNone/>
            </a:pPr>
            <a:r>
              <a:rPr lang="en-US" sz="830" dirty="0">
                <a:solidFill>
                  <a:srgbClr val="3A4356"/>
                </a:solidFill>
                <a:latin typeface="Calibri" pitchFamily="34" charset="0"/>
                <a:ea typeface="Calibri" pitchFamily="34" charset="-122"/>
                <a:cs typeface="Calibri" pitchFamily="34" charset="-120"/>
              </a:rPr>
              <a:t>A defensible should-cost turns a quote into a conversation with a floor price under it. Supplier margin and overhead are priced as separate lines, and every line prints its own derivation — so the challenge survives the meeting.</a:t>
            </a:r>
            <a:endParaRPr lang="en-US" sz="830" dirty="0"/>
          </a:p>
        </p:txBody>
      </p:sp>
      <p:sp>
        <p:nvSpPr>
          <p:cNvPr id="10" name="Shape 7"/>
          <p:cNvSpPr/>
          <p:nvPr/>
        </p:nvSpPr>
        <p:spPr>
          <a:xfrm>
            <a:off x="603504" y="2267712"/>
            <a:ext cx="3310128" cy="420624"/>
          </a:xfrm>
          <a:prstGeom prst="roundRect">
            <a:avLst>
              <a:gd name="adj" fmla="val 10870"/>
            </a:avLst>
          </a:prstGeom>
          <a:solidFill>
            <a:srgbClr val="F0F4F9"/>
          </a:solidFill>
          <a:ln/>
        </p:spPr>
      </p:sp>
      <p:sp>
        <p:nvSpPr>
          <p:cNvPr id="11" name="Text 8"/>
          <p:cNvSpPr/>
          <p:nvPr/>
        </p:nvSpPr>
        <p:spPr>
          <a:xfrm>
            <a:off x="694944" y="2267712"/>
            <a:ext cx="3127248" cy="420624"/>
          </a:xfrm>
          <a:prstGeom prst="rect">
            <a:avLst/>
          </a:prstGeom>
          <a:noFill/>
          <a:ln/>
        </p:spPr>
        <p:txBody>
          <a:bodyPr wrap="square" lIns="0" tIns="0" rIns="0" bIns="0" rtlCol="0" anchor="ctr"/>
          <a:lstStyle/>
          <a:p>
            <a:pPr indent="0" marL="0">
              <a:buNone/>
            </a:pPr>
            <a:r>
              <a:rPr lang="en-US" sz="750" i="1" dirty="0">
                <a:solidFill>
                  <a:srgbClr val="16325C"/>
                </a:solidFill>
                <a:latin typeface="Calibri" pitchFamily="34" charset="0"/>
                <a:ea typeface="Calibri" pitchFamily="34" charset="-122"/>
                <a:cs typeface="Calibri" pitchFamily="34" charset="-120"/>
              </a:rPr>
              <a:t>Example: on a machined bracket the tool lists £5.38/part of ideas to test; the biggest is a £4.38 sourcing study. Ideas, not savings achieved.</a:t>
            </a:r>
            <a:endParaRPr lang="en-US" sz="750" dirty="0"/>
          </a:p>
        </p:txBody>
      </p:sp>
      <p:sp>
        <p:nvSpPr>
          <p:cNvPr id="12" name="Shape 9"/>
          <p:cNvSpPr/>
          <p:nvPr/>
        </p:nvSpPr>
        <p:spPr>
          <a:xfrm>
            <a:off x="4288536" y="1042416"/>
            <a:ext cx="3602736" cy="1737360"/>
          </a:xfrm>
          <a:prstGeom prst="roundRect">
            <a:avLst>
              <a:gd name="adj" fmla="val 5263"/>
            </a:avLst>
          </a:prstGeom>
          <a:solidFill>
            <a:srgbClr val="FFFFFF"/>
          </a:solidFill>
          <a:ln w="19050">
            <a:solidFill>
              <a:srgbClr val="0D7D71"/>
            </a:solidFill>
            <a:prstDash val="solid"/>
          </a:ln>
        </p:spPr>
      </p:sp>
      <p:sp>
        <p:nvSpPr>
          <p:cNvPr id="13" name="Shape 10"/>
          <p:cNvSpPr/>
          <p:nvPr/>
        </p:nvSpPr>
        <p:spPr>
          <a:xfrm>
            <a:off x="4434840" y="1152144"/>
            <a:ext cx="310896" cy="310896"/>
          </a:xfrm>
          <a:prstGeom prst="ellipse">
            <a:avLst/>
          </a:prstGeom>
          <a:solidFill>
            <a:srgbClr val="0D7D71"/>
          </a:solidFill>
          <a:ln/>
        </p:spPr>
      </p:sp>
      <p:pic>
        <p:nvPicPr>
          <p:cNvPr id="14" name="Image 1" descr="preencoded.png">    </p:cNvPr>
          <p:cNvPicPr>
            <a:picLocks noChangeAspect="1"/>
          </p:cNvPicPr>
          <p:nvPr/>
        </p:nvPicPr>
        <p:blipFill>
          <a:blip r:embed="rId2"/>
          <a:stretch>
            <a:fillRect/>
          </a:stretch>
        </p:blipFill>
        <p:spPr>
          <a:xfrm>
            <a:off x="4507992" y="1225296"/>
            <a:ext cx="164592" cy="164592"/>
          </a:xfrm>
          <a:prstGeom prst="rect">
            <a:avLst/>
          </a:prstGeom>
        </p:spPr>
      </p:pic>
      <p:sp>
        <p:nvSpPr>
          <p:cNvPr id="15" name="Text 11"/>
          <p:cNvSpPr/>
          <p:nvPr/>
        </p:nvSpPr>
        <p:spPr>
          <a:xfrm>
            <a:off x="4818888" y="1133856"/>
            <a:ext cx="2926080" cy="274320"/>
          </a:xfrm>
          <a:prstGeom prst="rect">
            <a:avLst/>
          </a:prstGeom>
          <a:noFill/>
          <a:ln/>
        </p:spPr>
        <p:txBody>
          <a:bodyPr wrap="square" lIns="0" tIns="0" rIns="0" bIns="0" rtlCol="0" anchor="ctr"/>
          <a:lstStyle/>
          <a:p>
            <a:pPr indent="0" marL="0">
              <a:buNone/>
            </a:pPr>
            <a:r>
              <a:rPr lang="en-US" sz="1100" b="1" dirty="0">
                <a:solidFill>
                  <a:srgbClr val="0D7D71"/>
                </a:solidFill>
                <a:latin typeface="Calibri" pitchFamily="34" charset="0"/>
                <a:ea typeface="Calibri" pitchFamily="34" charset="-122"/>
                <a:cs typeface="Calibri" pitchFamily="34" charset="-120"/>
              </a:rPr>
              <a:t>B · Design-stage avoidance</a:t>
            </a:r>
            <a:endParaRPr lang="en-US" sz="1100" dirty="0"/>
          </a:p>
        </p:txBody>
      </p:sp>
      <p:sp>
        <p:nvSpPr>
          <p:cNvPr id="16" name="Text 12"/>
          <p:cNvSpPr/>
          <p:nvPr/>
        </p:nvSpPr>
        <p:spPr>
          <a:xfrm>
            <a:off x="4434840" y="1499616"/>
            <a:ext cx="3310128" cy="731520"/>
          </a:xfrm>
          <a:prstGeom prst="rect">
            <a:avLst/>
          </a:prstGeom>
          <a:noFill/>
          <a:ln/>
        </p:spPr>
        <p:txBody>
          <a:bodyPr wrap="square" lIns="0" tIns="0" rIns="0" bIns="0" rtlCol="0" anchor="t"/>
          <a:lstStyle/>
          <a:p>
            <a:pPr indent="0" marL="0">
              <a:buNone/>
            </a:pPr>
            <a:r>
              <a:rPr lang="en-US" sz="830" dirty="0">
                <a:solidFill>
                  <a:srgbClr val="3A4356"/>
                </a:solidFill>
                <a:latin typeface="Calibri" pitchFamily="34" charset="0"/>
                <a:ea typeface="Calibri" pitchFamily="34" charset="-122"/>
                <a:cs typeface="Calibri" pitchFamily="34" charset="-120"/>
              </a:rPr>
              <a:t>Cost known while the design can still move. Quick enough to run at concept stage rather than after the quote lands, while wall thickness, cavitation and routing are all still open.</a:t>
            </a:r>
            <a:endParaRPr lang="en-US" sz="830" dirty="0"/>
          </a:p>
        </p:txBody>
      </p:sp>
      <p:sp>
        <p:nvSpPr>
          <p:cNvPr id="17" name="Shape 13"/>
          <p:cNvSpPr/>
          <p:nvPr/>
        </p:nvSpPr>
        <p:spPr>
          <a:xfrm>
            <a:off x="4434840" y="2267712"/>
            <a:ext cx="3310128" cy="420624"/>
          </a:xfrm>
          <a:prstGeom prst="roundRect">
            <a:avLst>
              <a:gd name="adj" fmla="val 10870"/>
            </a:avLst>
          </a:prstGeom>
          <a:solidFill>
            <a:srgbClr val="F0F4F9"/>
          </a:solidFill>
          <a:ln/>
        </p:spPr>
      </p:sp>
      <p:sp>
        <p:nvSpPr>
          <p:cNvPr id="18" name="Text 14"/>
          <p:cNvSpPr/>
          <p:nvPr/>
        </p:nvSpPr>
        <p:spPr>
          <a:xfrm>
            <a:off x="4526280" y="2267712"/>
            <a:ext cx="3127248" cy="420624"/>
          </a:xfrm>
          <a:prstGeom prst="rect">
            <a:avLst/>
          </a:prstGeom>
          <a:noFill/>
          <a:ln/>
        </p:spPr>
        <p:txBody>
          <a:bodyPr wrap="square" lIns="0" tIns="0" rIns="0" bIns="0" rtlCol="0" anchor="ctr"/>
          <a:lstStyle/>
          <a:p>
            <a:pPr indent="0" marL="0">
              <a:buNone/>
            </a:pPr>
            <a:r>
              <a:rPr lang="en-US" sz="750" i="1" dirty="0">
                <a:solidFill>
                  <a:srgbClr val="16325C"/>
                </a:solidFill>
                <a:latin typeface="Calibri" pitchFamily="34" charset="0"/>
                <a:ea typeface="Calibri" pitchFamily="34" charset="-122"/>
                <a:cs typeface="Calibri" pitchFamily="34" charset="-120"/>
              </a:rPr>
              <a:t>Worked example: on the bumper, tooling is 43% of piece cost — more than resin, press and labour combined.</a:t>
            </a:r>
            <a:endParaRPr lang="en-US" sz="750" dirty="0"/>
          </a:p>
        </p:txBody>
      </p:sp>
      <p:sp>
        <p:nvSpPr>
          <p:cNvPr id="19" name="Shape 15"/>
          <p:cNvSpPr/>
          <p:nvPr/>
        </p:nvSpPr>
        <p:spPr>
          <a:xfrm>
            <a:off x="8119872" y="1042416"/>
            <a:ext cx="3602736" cy="1737360"/>
          </a:xfrm>
          <a:prstGeom prst="roundRect">
            <a:avLst>
              <a:gd name="adj" fmla="val 5263"/>
            </a:avLst>
          </a:prstGeom>
          <a:solidFill>
            <a:srgbClr val="FFFFFF"/>
          </a:solidFill>
          <a:ln w="19050">
            <a:solidFill>
              <a:srgbClr val="1D6FB8"/>
            </a:solidFill>
            <a:prstDash val="solid"/>
          </a:ln>
        </p:spPr>
      </p:sp>
      <p:sp>
        <p:nvSpPr>
          <p:cNvPr id="20" name="Shape 16"/>
          <p:cNvSpPr/>
          <p:nvPr/>
        </p:nvSpPr>
        <p:spPr>
          <a:xfrm>
            <a:off x="8266176" y="1152144"/>
            <a:ext cx="310896" cy="310896"/>
          </a:xfrm>
          <a:prstGeom prst="ellipse">
            <a:avLst/>
          </a:prstGeom>
          <a:solidFill>
            <a:srgbClr val="1D6FB8"/>
          </a:solidFill>
          <a:ln/>
        </p:spPr>
      </p:sp>
      <p:pic>
        <p:nvPicPr>
          <p:cNvPr id="21" name="Image 2" descr="preencoded.png">    </p:cNvPr>
          <p:cNvPicPr>
            <a:picLocks noChangeAspect="1"/>
          </p:cNvPicPr>
          <p:nvPr/>
        </p:nvPicPr>
        <p:blipFill>
          <a:blip r:embed="rId3"/>
          <a:stretch>
            <a:fillRect/>
          </a:stretch>
        </p:blipFill>
        <p:spPr>
          <a:xfrm>
            <a:off x="8339328" y="1225296"/>
            <a:ext cx="164592" cy="164592"/>
          </a:xfrm>
          <a:prstGeom prst="rect">
            <a:avLst/>
          </a:prstGeom>
        </p:spPr>
      </p:pic>
      <p:sp>
        <p:nvSpPr>
          <p:cNvPr id="22" name="Text 17"/>
          <p:cNvSpPr/>
          <p:nvPr/>
        </p:nvSpPr>
        <p:spPr>
          <a:xfrm>
            <a:off x="8650224" y="1133856"/>
            <a:ext cx="2926080" cy="274320"/>
          </a:xfrm>
          <a:prstGeom prst="rect">
            <a:avLst/>
          </a:prstGeom>
          <a:noFill/>
          <a:ln/>
        </p:spPr>
        <p:txBody>
          <a:bodyPr wrap="square" lIns="0" tIns="0" rIns="0" bIns="0" rtlCol="0" anchor="ctr"/>
          <a:lstStyle/>
          <a:p>
            <a:pPr indent="0" marL="0">
              <a:buNone/>
            </a:pPr>
            <a:r>
              <a:rPr lang="en-US" sz="1100" b="1" dirty="0">
                <a:solidFill>
                  <a:srgbClr val="1D6FB8"/>
                </a:solidFill>
                <a:latin typeface="Calibri" pitchFamily="34" charset="0"/>
                <a:ea typeface="Calibri" pitchFamily="34" charset="-122"/>
                <a:cs typeface="Calibri" pitchFamily="34" charset="-120"/>
              </a:rPr>
              <a:t>C · Engineering capacity</a:t>
            </a:r>
            <a:endParaRPr lang="en-US" sz="1100" dirty="0"/>
          </a:p>
        </p:txBody>
      </p:sp>
      <p:sp>
        <p:nvSpPr>
          <p:cNvPr id="23" name="Text 18"/>
          <p:cNvSpPr/>
          <p:nvPr/>
        </p:nvSpPr>
        <p:spPr>
          <a:xfrm>
            <a:off x="8266176" y="1499616"/>
            <a:ext cx="3310128" cy="731520"/>
          </a:xfrm>
          <a:prstGeom prst="rect">
            <a:avLst/>
          </a:prstGeom>
          <a:noFill/>
          <a:ln/>
        </p:spPr>
        <p:txBody>
          <a:bodyPr wrap="square" lIns="0" tIns="0" rIns="0" bIns="0" rtlCol="0" anchor="t"/>
          <a:lstStyle/>
          <a:p>
            <a:pPr indent="0" marL="0">
              <a:buNone/>
            </a:pPr>
            <a:r>
              <a:rPr lang="en-US" sz="830" dirty="0">
                <a:solidFill>
                  <a:srgbClr val="3A4356"/>
                </a:solidFill>
                <a:latin typeface="Calibri" pitchFamily="34" charset="0"/>
                <a:ea typeface="Calibri" pitchFamily="34" charset="-122"/>
                <a:cs typeface="Calibri" pitchFamily="34" charset="-120"/>
              </a:rPr>
              <a:t>The hours are the enabler, not the prize. You cannot hold 40 floor-price negotiations a year if each should-cost costs half a day to prepare — capacity is what makes stream A reachable at all.</a:t>
            </a:r>
            <a:endParaRPr lang="en-US" sz="830" dirty="0"/>
          </a:p>
        </p:txBody>
      </p:sp>
      <p:sp>
        <p:nvSpPr>
          <p:cNvPr id="24" name="Shape 19"/>
          <p:cNvSpPr/>
          <p:nvPr/>
        </p:nvSpPr>
        <p:spPr>
          <a:xfrm>
            <a:off x="8266176" y="2267712"/>
            <a:ext cx="3310128" cy="420624"/>
          </a:xfrm>
          <a:prstGeom prst="roundRect">
            <a:avLst>
              <a:gd name="adj" fmla="val 10870"/>
            </a:avLst>
          </a:prstGeom>
          <a:solidFill>
            <a:srgbClr val="F0F4F9"/>
          </a:solidFill>
          <a:ln/>
        </p:spPr>
      </p:sp>
      <p:sp>
        <p:nvSpPr>
          <p:cNvPr id="25" name="Text 20"/>
          <p:cNvSpPr/>
          <p:nvPr/>
        </p:nvSpPr>
        <p:spPr>
          <a:xfrm>
            <a:off x="8357616" y="2267712"/>
            <a:ext cx="3127248" cy="420624"/>
          </a:xfrm>
          <a:prstGeom prst="rect">
            <a:avLst/>
          </a:prstGeom>
          <a:noFill/>
          <a:ln/>
        </p:spPr>
        <p:txBody>
          <a:bodyPr wrap="square" lIns="0" tIns="0" rIns="0" bIns="0" rtlCol="0" anchor="ctr"/>
          <a:lstStyle/>
          <a:p>
            <a:pPr indent="0" marL="0">
              <a:buNone/>
            </a:pPr>
            <a:r>
              <a:rPr lang="en-US" sz="750" i="1" dirty="0">
                <a:solidFill>
                  <a:srgbClr val="16325C"/>
                </a:solidFill>
                <a:latin typeface="Calibri" pitchFamily="34" charset="0"/>
                <a:ea typeface="Calibri" pitchFamily="34" charset="-122"/>
                <a:cs typeface="Calibri" pitchFamily="34" charset="-120"/>
              </a:rPr>
              <a:t>Not yet measured. The pilot times real runs; until then the hours are a planning estimate.</a:t>
            </a:r>
            <a:endParaRPr lang="en-US" sz="750" dirty="0"/>
          </a:p>
        </p:txBody>
      </p:sp>
      <p:sp>
        <p:nvSpPr>
          <p:cNvPr id="26" name="Text 21"/>
          <p:cNvSpPr/>
          <p:nvPr/>
        </p:nvSpPr>
        <p:spPr>
          <a:xfrm>
            <a:off x="457200" y="2871216"/>
            <a:ext cx="7315200" cy="201168"/>
          </a:xfrm>
          <a:prstGeom prst="rect">
            <a:avLst/>
          </a:prstGeom>
          <a:noFill/>
          <a:ln/>
        </p:spPr>
        <p:txBody>
          <a:bodyPr wrap="square" lIns="0" tIns="0" rIns="0" bIns="0" rtlCol="0" anchor="ctr"/>
          <a:lstStyle/>
          <a:p>
            <a:pPr indent="0" marL="0">
              <a:buNone/>
            </a:pPr>
            <a:r>
              <a:rPr lang="en-US" sz="850" b="1" spc="60" kern="0" dirty="0">
                <a:solidFill>
                  <a:srgbClr val="16325C"/>
                </a:solidFill>
                <a:latin typeface="Calibri" pitchFamily="34" charset="0"/>
                <a:ea typeface="Calibri" pitchFamily="34" charset="-122"/>
                <a:cs typeface="Calibri" pitchFamily="34" charset="-120"/>
              </a:rPr>
              <a:t>THE CALCULATION — ATTACK ANY OF THE THREE TERMS</a:t>
            </a:r>
            <a:endParaRPr lang="en-US" sz="850" dirty="0"/>
          </a:p>
        </p:txBody>
      </p:sp>
      <p:sp>
        <p:nvSpPr>
          <p:cNvPr id="27" name="Shape 22"/>
          <p:cNvSpPr/>
          <p:nvPr/>
        </p:nvSpPr>
        <p:spPr>
          <a:xfrm>
            <a:off x="457200" y="3108960"/>
            <a:ext cx="2542032" cy="1170432"/>
          </a:xfrm>
          <a:prstGeom prst="roundRect">
            <a:avLst>
              <a:gd name="adj" fmla="val 7031"/>
            </a:avLst>
          </a:prstGeom>
          <a:solidFill>
            <a:srgbClr val="FFFFFF"/>
          </a:solidFill>
          <a:ln w="12700">
            <a:solidFill>
              <a:srgbClr val="DCE3EE"/>
            </a:solidFill>
            <a:prstDash val="solid"/>
          </a:ln>
        </p:spPr>
      </p:sp>
      <p:sp>
        <p:nvSpPr>
          <p:cNvPr id="28" name="Text 23"/>
          <p:cNvSpPr/>
          <p:nvPr/>
        </p:nvSpPr>
        <p:spPr>
          <a:xfrm>
            <a:off x="585216" y="3182112"/>
            <a:ext cx="2286000" cy="219456"/>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Addressed spend</a:t>
            </a:r>
            <a:endParaRPr lang="en-US" sz="860" dirty="0"/>
          </a:p>
        </p:txBody>
      </p:sp>
      <p:sp>
        <p:nvSpPr>
          <p:cNvPr id="29" name="Text 24"/>
          <p:cNvSpPr/>
          <p:nvPr/>
        </p:nvSpPr>
        <p:spPr>
          <a:xfrm>
            <a:off x="585216" y="3401568"/>
            <a:ext cx="2286000" cy="384048"/>
          </a:xfrm>
          <a:prstGeom prst="rect">
            <a:avLst/>
          </a:prstGeom>
          <a:noFill/>
          <a:ln/>
        </p:spPr>
        <p:txBody>
          <a:bodyPr wrap="square" lIns="0" tIns="0" rIns="0" bIns="0" rtlCol="0" anchor="ctr"/>
          <a:lstStyle/>
          <a:p>
            <a:pPr indent="0" marL="0">
              <a:buNone/>
            </a:pPr>
            <a:r>
              <a:rPr lang="en-US" sz="2100" b="1" dirty="0">
                <a:solidFill>
                  <a:srgbClr val="16325C"/>
                </a:solidFill>
                <a:latin typeface="Cambria" pitchFamily="34" charset="0"/>
                <a:ea typeface="Cambria" pitchFamily="34" charset="-122"/>
                <a:cs typeface="Cambria" pitchFamily="34" charset="-120"/>
              </a:rPr>
              <a:t>£20 m</a:t>
            </a:r>
            <a:endParaRPr lang="en-US" sz="2100" dirty="0"/>
          </a:p>
        </p:txBody>
      </p:sp>
      <p:sp>
        <p:nvSpPr>
          <p:cNvPr id="30" name="Text 25"/>
          <p:cNvSpPr/>
          <p:nvPr/>
        </p:nvSpPr>
        <p:spPr>
          <a:xfrm>
            <a:off x="585216" y="3785616"/>
            <a:ext cx="2286000" cy="457200"/>
          </a:xfrm>
          <a:prstGeom prst="rect">
            <a:avLst/>
          </a:prstGeom>
          <a:noFill/>
          <a:ln/>
        </p:spPr>
        <p:txBody>
          <a:bodyPr wrap="square" lIns="0" tIns="0" rIns="0" bIns="0" rtlCol="0" anchor="t"/>
          <a:lstStyle/>
          <a:p>
            <a:pPr indent="0" marL="0">
              <a:buNone/>
            </a:pPr>
            <a:r>
              <a:rPr lang="en-US" sz="750" dirty="0">
                <a:solidFill>
                  <a:srgbClr val="686F7D"/>
                </a:solidFill>
                <a:latin typeface="Calibri" pitchFamily="34" charset="0"/>
                <a:ea typeface="Calibri" pitchFamily="34" charset="-122"/>
                <a:cs typeface="Calibri" pitchFamily="34" charset="-120"/>
              </a:rPr>
              <a:t>annual purchased value of the</a:t>
            </a:r>
            <a:endParaRPr lang="en-US" sz="750" dirty="0"/>
          </a:p>
          <a:p>
            <a:pPr indent="0" marL="0">
              <a:buNone/>
            </a:pPr>
            <a:r>
              <a:rPr lang="en-US" sz="750" dirty="0">
                <a:solidFill>
                  <a:srgbClr val="686F7D"/>
                </a:solidFill>
                <a:latin typeface="Calibri" pitchFamily="34" charset="0"/>
                <a:ea typeface="Calibri" pitchFamily="34" charset="-122"/>
                <a:cs typeface="Calibri" pitchFamily="34" charset="-120"/>
              </a:rPr>
              <a:t>parts we put through it</a:t>
            </a:r>
            <a:endParaRPr lang="en-US" sz="750" dirty="0"/>
          </a:p>
        </p:txBody>
      </p:sp>
      <p:sp>
        <p:nvSpPr>
          <p:cNvPr id="31" name="Text 26"/>
          <p:cNvSpPr/>
          <p:nvPr/>
        </p:nvSpPr>
        <p:spPr>
          <a:xfrm>
            <a:off x="3017520" y="3511296"/>
            <a:ext cx="283464" cy="365760"/>
          </a:xfrm>
          <a:prstGeom prst="rect">
            <a:avLst/>
          </a:prstGeom>
          <a:noFill/>
          <a:ln/>
        </p:spPr>
        <p:txBody>
          <a:bodyPr wrap="square" lIns="0" tIns="0" rIns="0" bIns="0" rtlCol="0" anchor="ctr"/>
          <a:lstStyle/>
          <a:p>
            <a:pPr algn="ctr" indent="0" marL="0">
              <a:buNone/>
            </a:pPr>
            <a:r>
              <a:rPr lang="en-US" sz="1500" b="1" dirty="0">
                <a:solidFill>
                  <a:srgbClr val="686F7D"/>
                </a:solidFill>
                <a:latin typeface="Cambria" pitchFamily="34" charset="0"/>
                <a:ea typeface="Cambria" pitchFamily="34" charset="-122"/>
                <a:cs typeface="Cambria" pitchFamily="34" charset="-120"/>
              </a:rPr>
              <a:t>×</a:t>
            </a:r>
            <a:endParaRPr lang="en-US" sz="1500" dirty="0"/>
          </a:p>
        </p:txBody>
      </p:sp>
      <p:sp>
        <p:nvSpPr>
          <p:cNvPr id="32" name="Shape 27"/>
          <p:cNvSpPr/>
          <p:nvPr/>
        </p:nvSpPr>
        <p:spPr>
          <a:xfrm>
            <a:off x="3319272" y="3108960"/>
            <a:ext cx="2542032" cy="1170432"/>
          </a:xfrm>
          <a:prstGeom prst="roundRect">
            <a:avLst>
              <a:gd name="adj" fmla="val 7031"/>
            </a:avLst>
          </a:prstGeom>
          <a:solidFill>
            <a:srgbClr val="FFFFFF"/>
          </a:solidFill>
          <a:ln w="12700">
            <a:solidFill>
              <a:srgbClr val="DCE3EE"/>
            </a:solidFill>
            <a:prstDash val="solid"/>
          </a:ln>
        </p:spPr>
      </p:sp>
      <p:sp>
        <p:nvSpPr>
          <p:cNvPr id="33" name="Text 28"/>
          <p:cNvSpPr/>
          <p:nvPr/>
        </p:nvSpPr>
        <p:spPr>
          <a:xfrm>
            <a:off x="3447288" y="3182112"/>
            <a:ext cx="2286000" cy="219456"/>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 Identified</a:t>
            </a:r>
            <a:endParaRPr lang="en-US" sz="860" dirty="0"/>
          </a:p>
        </p:txBody>
      </p:sp>
      <p:sp>
        <p:nvSpPr>
          <p:cNvPr id="34" name="Text 29"/>
          <p:cNvSpPr/>
          <p:nvPr/>
        </p:nvSpPr>
        <p:spPr>
          <a:xfrm>
            <a:off x="3447288" y="3401568"/>
            <a:ext cx="2286000" cy="384048"/>
          </a:xfrm>
          <a:prstGeom prst="rect">
            <a:avLst/>
          </a:prstGeom>
          <a:noFill/>
          <a:ln/>
        </p:spPr>
        <p:txBody>
          <a:bodyPr wrap="square" lIns="0" tIns="0" rIns="0" bIns="0" rtlCol="0" anchor="ctr"/>
          <a:lstStyle/>
          <a:p>
            <a:pPr indent="0" marL="0">
              <a:buNone/>
            </a:pPr>
            <a:r>
              <a:rPr lang="en-US" sz="2100" b="1" dirty="0">
                <a:solidFill>
                  <a:srgbClr val="16325C"/>
                </a:solidFill>
                <a:latin typeface="Cambria" pitchFamily="34" charset="0"/>
                <a:ea typeface="Cambria" pitchFamily="34" charset="-122"/>
                <a:cs typeface="Cambria" pitchFamily="34" charset="-120"/>
              </a:rPr>
              <a:t>8%</a:t>
            </a:r>
            <a:endParaRPr lang="en-US" sz="2100" dirty="0"/>
          </a:p>
        </p:txBody>
      </p:sp>
      <p:sp>
        <p:nvSpPr>
          <p:cNvPr id="35" name="Text 30"/>
          <p:cNvSpPr/>
          <p:nvPr/>
        </p:nvSpPr>
        <p:spPr>
          <a:xfrm>
            <a:off x="3447288" y="3785616"/>
            <a:ext cx="2286000" cy="457200"/>
          </a:xfrm>
          <a:prstGeom prst="rect">
            <a:avLst/>
          </a:prstGeom>
          <a:noFill/>
          <a:ln/>
        </p:spPr>
        <p:txBody>
          <a:bodyPr wrap="square" lIns="0" tIns="0" rIns="0" bIns="0" rtlCol="0" anchor="t"/>
          <a:lstStyle/>
          <a:p>
            <a:pPr indent="0" marL="0">
              <a:buNone/>
            </a:pPr>
            <a:r>
              <a:rPr lang="en-US" sz="750" dirty="0">
                <a:solidFill>
                  <a:srgbClr val="686F7D"/>
                </a:solidFill>
                <a:latin typeface="Calibri" pitchFamily="34" charset="0"/>
                <a:ea typeface="Calibri" pitchFamily="34" charset="-122"/>
                <a:cs typeface="Calibri" pitchFamily="34" charset="-120"/>
              </a:rPr>
              <a:t>planning assumption —</a:t>
            </a:r>
            <a:endParaRPr lang="en-US" sz="750" dirty="0"/>
          </a:p>
          <a:p>
            <a:pPr indent="0" marL="0">
              <a:buNone/>
            </a:pPr>
            <a:r>
              <a:rPr lang="en-US" sz="750" dirty="0">
                <a:solidFill>
                  <a:srgbClr val="686F7D"/>
                </a:solidFill>
                <a:latin typeface="Calibri" pitchFamily="34" charset="0"/>
                <a:ea typeface="Calibri" pitchFamily="34" charset="-122"/>
                <a:cs typeface="Calibri" pitchFamily="34" charset="-120"/>
              </a:rPr>
              <a:t>the pilot measures</a:t>
            </a:r>
            <a:endParaRPr lang="en-US" sz="750" dirty="0"/>
          </a:p>
          <a:p>
            <a:pPr indent="0" marL="0">
              <a:buNone/>
            </a:pPr>
            <a:r>
              <a:rPr lang="en-US" sz="750" dirty="0">
                <a:solidFill>
                  <a:srgbClr val="686F7D"/>
                </a:solidFill>
                <a:latin typeface="Calibri" pitchFamily="34" charset="0"/>
                <a:ea typeface="Calibri" pitchFamily="34" charset="-122"/>
                <a:cs typeface="Calibri" pitchFamily="34" charset="-120"/>
              </a:rPr>
              <a:t>the real figure</a:t>
            </a:r>
            <a:endParaRPr lang="en-US" sz="750" dirty="0"/>
          </a:p>
        </p:txBody>
      </p:sp>
      <p:sp>
        <p:nvSpPr>
          <p:cNvPr id="36" name="Text 31"/>
          <p:cNvSpPr/>
          <p:nvPr/>
        </p:nvSpPr>
        <p:spPr>
          <a:xfrm>
            <a:off x="5879592" y="3511296"/>
            <a:ext cx="283464" cy="365760"/>
          </a:xfrm>
          <a:prstGeom prst="rect">
            <a:avLst/>
          </a:prstGeom>
          <a:noFill/>
          <a:ln/>
        </p:spPr>
        <p:txBody>
          <a:bodyPr wrap="square" lIns="0" tIns="0" rIns="0" bIns="0" rtlCol="0" anchor="ctr"/>
          <a:lstStyle/>
          <a:p>
            <a:pPr algn="ctr" indent="0" marL="0">
              <a:buNone/>
            </a:pPr>
            <a:r>
              <a:rPr lang="en-US" sz="1500" b="1" dirty="0">
                <a:solidFill>
                  <a:srgbClr val="686F7D"/>
                </a:solidFill>
                <a:latin typeface="Cambria" pitchFamily="34" charset="0"/>
                <a:ea typeface="Cambria" pitchFamily="34" charset="-122"/>
                <a:cs typeface="Cambria" pitchFamily="34" charset="-120"/>
              </a:rPr>
              <a:t>×</a:t>
            </a:r>
            <a:endParaRPr lang="en-US" sz="1500" dirty="0"/>
          </a:p>
        </p:txBody>
      </p:sp>
      <p:sp>
        <p:nvSpPr>
          <p:cNvPr id="37" name="Shape 32"/>
          <p:cNvSpPr/>
          <p:nvPr/>
        </p:nvSpPr>
        <p:spPr>
          <a:xfrm>
            <a:off x="6181344" y="3108960"/>
            <a:ext cx="2542032" cy="1170432"/>
          </a:xfrm>
          <a:prstGeom prst="roundRect">
            <a:avLst>
              <a:gd name="adj" fmla="val 7031"/>
            </a:avLst>
          </a:prstGeom>
          <a:solidFill>
            <a:srgbClr val="FFFFFF"/>
          </a:solidFill>
          <a:ln w="12700">
            <a:solidFill>
              <a:srgbClr val="DCE3EE"/>
            </a:solidFill>
            <a:prstDash val="solid"/>
          </a:ln>
        </p:spPr>
      </p:sp>
      <p:sp>
        <p:nvSpPr>
          <p:cNvPr id="38" name="Text 33"/>
          <p:cNvSpPr/>
          <p:nvPr/>
        </p:nvSpPr>
        <p:spPr>
          <a:xfrm>
            <a:off x="6309360" y="3182112"/>
            <a:ext cx="2286000" cy="219456"/>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 Captured</a:t>
            </a:r>
            <a:endParaRPr lang="en-US" sz="860" dirty="0"/>
          </a:p>
        </p:txBody>
      </p:sp>
      <p:sp>
        <p:nvSpPr>
          <p:cNvPr id="39" name="Text 34"/>
          <p:cNvSpPr/>
          <p:nvPr/>
        </p:nvSpPr>
        <p:spPr>
          <a:xfrm>
            <a:off x="6309360" y="3401568"/>
            <a:ext cx="2286000" cy="384048"/>
          </a:xfrm>
          <a:prstGeom prst="rect">
            <a:avLst/>
          </a:prstGeom>
          <a:noFill/>
          <a:ln/>
        </p:spPr>
        <p:txBody>
          <a:bodyPr wrap="square" lIns="0" tIns="0" rIns="0" bIns="0" rtlCol="0" anchor="ctr"/>
          <a:lstStyle/>
          <a:p>
            <a:pPr indent="0" marL="0">
              <a:buNone/>
            </a:pPr>
            <a:r>
              <a:rPr lang="en-US" sz="2100" b="1" dirty="0">
                <a:solidFill>
                  <a:srgbClr val="16325C"/>
                </a:solidFill>
                <a:latin typeface="Cambria" pitchFamily="34" charset="0"/>
                <a:ea typeface="Cambria" pitchFamily="34" charset="-122"/>
                <a:cs typeface="Cambria" pitchFamily="34" charset="-120"/>
              </a:rPr>
              <a:t>20%</a:t>
            </a:r>
            <a:endParaRPr lang="en-US" sz="2100" dirty="0"/>
          </a:p>
        </p:txBody>
      </p:sp>
      <p:sp>
        <p:nvSpPr>
          <p:cNvPr id="40" name="Text 35"/>
          <p:cNvSpPr/>
          <p:nvPr/>
        </p:nvSpPr>
        <p:spPr>
          <a:xfrm>
            <a:off x="6309360" y="3785616"/>
            <a:ext cx="2286000" cy="457200"/>
          </a:xfrm>
          <a:prstGeom prst="rect">
            <a:avLst/>
          </a:prstGeom>
          <a:noFill/>
          <a:ln/>
        </p:spPr>
        <p:txBody>
          <a:bodyPr wrap="square" lIns="0" tIns="0" rIns="0" bIns="0" rtlCol="0" anchor="t"/>
          <a:lstStyle/>
          <a:p>
            <a:pPr indent="0" marL="0">
              <a:buNone/>
            </a:pPr>
            <a:r>
              <a:rPr lang="en-US" sz="750" dirty="0">
                <a:solidFill>
                  <a:srgbClr val="99651A"/>
                </a:solidFill>
                <a:latin typeface="Calibri" pitchFamily="34" charset="0"/>
                <a:ea typeface="Calibri" pitchFamily="34" charset="-122"/>
                <a:cs typeface="Calibri" pitchFamily="34" charset="-120"/>
              </a:rPr>
              <a:t>the share we actually</a:t>
            </a:r>
            <a:endParaRPr lang="en-US" sz="750" dirty="0"/>
          </a:p>
          <a:p>
            <a:pPr indent="0" marL="0">
              <a:buNone/>
            </a:pPr>
            <a:r>
              <a:rPr lang="en-US" sz="750" dirty="0">
                <a:solidFill>
                  <a:srgbClr val="99651A"/>
                </a:solidFill>
                <a:latin typeface="Calibri" pitchFamily="34" charset="0"/>
                <a:ea typeface="Calibri" pitchFamily="34" charset="-122"/>
                <a:cs typeface="Calibri" pitchFamily="34" charset="-120"/>
              </a:rPr>
              <a:t>implement — the honest</a:t>
            </a:r>
            <a:endParaRPr lang="en-US" sz="750" dirty="0"/>
          </a:p>
          <a:p>
            <a:pPr indent="0" marL="0">
              <a:buNone/>
            </a:pPr>
            <a:r>
              <a:rPr lang="en-US" sz="750" dirty="0">
                <a:solidFill>
                  <a:srgbClr val="99651A"/>
                </a:solidFill>
                <a:latin typeface="Calibri" pitchFamily="34" charset="0"/>
                <a:ea typeface="Calibri" pitchFamily="34" charset="-122"/>
                <a:cs typeface="Calibri" pitchFamily="34" charset="-120"/>
              </a:rPr>
              <a:t>unknown</a:t>
            </a:r>
            <a:endParaRPr lang="en-US" sz="750" dirty="0"/>
          </a:p>
        </p:txBody>
      </p:sp>
      <p:sp>
        <p:nvSpPr>
          <p:cNvPr id="41" name="Text 36"/>
          <p:cNvSpPr/>
          <p:nvPr/>
        </p:nvSpPr>
        <p:spPr>
          <a:xfrm>
            <a:off x="8741664" y="3511296"/>
            <a:ext cx="283464" cy="365760"/>
          </a:xfrm>
          <a:prstGeom prst="rect">
            <a:avLst/>
          </a:prstGeom>
          <a:noFill/>
          <a:ln/>
        </p:spPr>
        <p:txBody>
          <a:bodyPr wrap="square" lIns="0" tIns="0" rIns="0" bIns="0" rtlCol="0" anchor="ctr"/>
          <a:lstStyle/>
          <a:p>
            <a:pPr algn="ctr" indent="0" marL="0">
              <a:buNone/>
            </a:pPr>
            <a:r>
              <a:rPr lang="en-US" sz="1500" b="1" dirty="0">
                <a:solidFill>
                  <a:srgbClr val="686F7D"/>
                </a:solidFill>
                <a:latin typeface="Cambria" pitchFamily="34" charset="0"/>
                <a:ea typeface="Cambria" pitchFamily="34" charset="-122"/>
                <a:cs typeface="Cambria" pitchFamily="34" charset="-120"/>
              </a:rPr>
              <a:t>=</a:t>
            </a:r>
            <a:endParaRPr lang="en-US" sz="1500" dirty="0"/>
          </a:p>
        </p:txBody>
      </p:sp>
      <p:sp>
        <p:nvSpPr>
          <p:cNvPr id="42" name="Shape 37"/>
          <p:cNvSpPr/>
          <p:nvPr/>
        </p:nvSpPr>
        <p:spPr>
          <a:xfrm>
            <a:off x="9043416" y="3108960"/>
            <a:ext cx="2542032" cy="1170432"/>
          </a:xfrm>
          <a:prstGeom prst="roundRect">
            <a:avLst>
              <a:gd name="adj" fmla="val 7031"/>
            </a:avLst>
          </a:prstGeom>
          <a:solidFill>
            <a:srgbClr val="EAF6EF"/>
          </a:solidFill>
          <a:ln w="19050">
            <a:solidFill>
              <a:srgbClr val="2A7F50"/>
            </a:solidFill>
            <a:prstDash val="solid"/>
          </a:ln>
        </p:spPr>
      </p:sp>
      <p:sp>
        <p:nvSpPr>
          <p:cNvPr id="43" name="Text 38"/>
          <p:cNvSpPr/>
          <p:nvPr/>
        </p:nvSpPr>
        <p:spPr>
          <a:xfrm>
            <a:off x="9171432" y="3182112"/>
            <a:ext cx="2286000" cy="219456"/>
          </a:xfrm>
          <a:prstGeom prst="rect">
            <a:avLst/>
          </a:prstGeom>
          <a:noFill/>
          <a:ln/>
        </p:spPr>
        <p:txBody>
          <a:bodyPr wrap="square" lIns="0" tIns="0" rIns="0" bIns="0" rtlCol="0" anchor="ctr"/>
          <a:lstStyle/>
          <a:p>
            <a:pPr indent="0" marL="0">
              <a:buNone/>
            </a:pPr>
            <a:r>
              <a:rPr lang="en-US" sz="860" b="1" dirty="0">
                <a:solidFill>
                  <a:srgbClr val="2A7F50"/>
                </a:solidFill>
                <a:latin typeface="Calibri" pitchFamily="34" charset="0"/>
                <a:ea typeface="Calibri" pitchFamily="34" charset="-122"/>
                <a:cs typeface="Calibri" pitchFamily="34" charset="-120"/>
              </a:rPr>
              <a:t>= Saving</a:t>
            </a:r>
            <a:endParaRPr lang="en-US" sz="860" dirty="0"/>
          </a:p>
        </p:txBody>
      </p:sp>
      <p:sp>
        <p:nvSpPr>
          <p:cNvPr id="44" name="Text 39"/>
          <p:cNvSpPr/>
          <p:nvPr/>
        </p:nvSpPr>
        <p:spPr>
          <a:xfrm>
            <a:off x="9171432" y="3401568"/>
            <a:ext cx="2286000" cy="384048"/>
          </a:xfrm>
          <a:prstGeom prst="rect">
            <a:avLst/>
          </a:prstGeom>
          <a:noFill/>
          <a:ln/>
        </p:spPr>
        <p:txBody>
          <a:bodyPr wrap="square" lIns="0" tIns="0" rIns="0" bIns="0" rtlCol="0" anchor="ctr"/>
          <a:lstStyle/>
          <a:p>
            <a:pPr indent="0" marL="0">
              <a:buNone/>
            </a:pPr>
            <a:r>
              <a:rPr lang="en-US" sz="2100" b="1" dirty="0">
                <a:solidFill>
                  <a:srgbClr val="2A7F50"/>
                </a:solidFill>
                <a:latin typeface="Cambria" pitchFamily="34" charset="0"/>
                <a:ea typeface="Cambria" pitchFamily="34" charset="-122"/>
                <a:cs typeface="Cambria" pitchFamily="34" charset="-120"/>
              </a:rPr>
              <a:t>£320k/yr</a:t>
            </a:r>
            <a:endParaRPr lang="en-US" sz="2100" dirty="0"/>
          </a:p>
        </p:txBody>
      </p:sp>
      <p:sp>
        <p:nvSpPr>
          <p:cNvPr id="45" name="Text 40"/>
          <p:cNvSpPr/>
          <p:nvPr/>
        </p:nvSpPr>
        <p:spPr>
          <a:xfrm>
            <a:off x="9171432" y="3785616"/>
            <a:ext cx="2286000" cy="457200"/>
          </a:xfrm>
          <a:prstGeom prst="rect">
            <a:avLst/>
          </a:prstGeom>
          <a:noFill/>
          <a:ln/>
        </p:spPr>
        <p:txBody>
          <a:bodyPr wrap="square" lIns="0" tIns="0" rIns="0" bIns="0" rtlCol="0" anchor="t"/>
          <a:lstStyle/>
          <a:p>
            <a:pPr indent="0" marL="0">
              <a:buNone/>
            </a:pPr>
            <a:r>
              <a:rPr lang="en-US" sz="750" dirty="0">
                <a:solidFill>
                  <a:srgbClr val="2A7F50"/>
                </a:solidFill>
                <a:latin typeface="Calibri" pitchFamily="34" charset="0"/>
                <a:ea typeface="Calibri" pitchFamily="34" charset="-122"/>
                <a:cs typeface="Calibri" pitchFamily="34" charset="-120"/>
              </a:rPr>
              <a:t>recurring, against a one-off</a:t>
            </a:r>
            <a:endParaRPr lang="en-US" sz="750" dirty="0"/>
          </a:p>
          <a:p>
            <a:pPr indent="0" marL="0">
              <a:buNone/>
            </a:pPr>
            <a:r>
              <a:rPr lang="en-US" sz="750" dirty="0">
                <a:solidFill>
                  <a:srgbClr val="2A7F50"/>
                </a:solidFill>
                <a:latin typeface="Calibri" pitchFamily="34" charset="0"/>
                <a:ea typeface="Calibri" pitchFamily="34" charset="-122"/>
                <a:cs typeface="Calibri" pitchFamily="34" charset="-120"/>
              </a:rPr>
              <a:t>pilot cost of ≈ £25k</a:t>
            </a:r>
            <a:endParaRPr lang="en-US" sz="750" dirty="0"/>
          </a:p>
        </p:txBody>
      </p:sp>
      <p:sp>
        <p:nvSpPr>
          <p:cNvPr id="46" name="Shape 41"/>
          <p:cNvSpPr/>
          <p:nvPr/>
        </p:nvSpPr>
        <p:spPr>
          <a:xfrm>
            <a:off x="457200" y="4370832"/>
            <a:ext cx="6903720" cy="1097280"/>
          </a:xfrm>
          <a:prstGeom prst="roundRect">
            <a:avLst>
              <a:gd name="adj" fmla="val 7500"/>
            </a:avLst>
          </a:prstGeom>
          <a:solidFill>
            <a:srgbClr val="FFFFFF"/>
          </a:solidFill>
          <a:ln w="12700">
            <a:solidFill>
              <a:srgbClr val="DCE3EE"/>
            </a:solidFill>
            <a:prstDash val="solid"/>
          </a:ln>
        </p:spPr>
      </p:sp>
      <p:sp>
        <p:nvSpPr>
          <p:cNvPr id="47" name="Text 42"/>
          <p:cNvSpPr/>
          <p:nvPr/>
        </p:nvSpPr>
        <p:spPr>
          <a:xfrm>
            <a:off x="621792" y="4434840"/>
            <a:ext cx="6583680" cy="182880"/>
          </a:xfrm>
          <a:prstGeom prst="rect">
            <a:avLst/>
          </a:prstGeom>
          <a:noFill/>
          <a:ln/>
        </p:spPr>
        <p:txBody>
          <a:bodyPr wrap="square" lIns="0" tIns="0" rIns="0" bIns="0" rtlCol="0" anchor="ctr"/>
          <a:lstStyle/>
          <a:p>
            <a:pPr indent="0" marL="0">
              <a:buNone/>
            </a:pPr>
            <a:r>
              <a:rPr lang="en-US" sz="800" b="1" spc="40" kern="0" dirty="0">
                <a:solidFill>
                  <a:srgbClr val="686F7D"/>
                </a:solidFill>
                <a:latin typeface="Calibri" pitchFamily="34" charset="0"/>
                <a:ea typeface="Calibri" pitchFamily="34" charset="-122"/>
                <a:cs typeface="Calibri" pitchFamily="34" charset="-120"/>
              </a:rPr>
              <a:t>WHAT WE ASSUMED — SWAP ANY OF THESE FOR OUR REAL NUMBERS</a:t>
            </a:r>
            <a:endParaRPr lang="en-US" sz="800" dirty="0"/>
          </a:p>
        </p:txBody>
      </p:sp>
      <p:sp>
        <p:nvSpPr>
          <p:cNvPr id="48" name="Text 43"/>
          <p:cNvSpPr/>
          <p:nvPr/>
        </p:nvSpPr>
        <p:spPr>
          <a:xfrm>
            <a:off x="621792" y="4636008"/>
            <a:ext cx="6583680" cy="786384"/>
          </a:xfrm>
          <a:prstGeom prst="rect">
            <a:avLst/>
          </a:prstGeom>
          <a:noFill/>
          <a:ln/>
        </p:spPr>
        <p:txBody>
          <a:bodyPr wrap="square" lIns="0" tIns="0" rIns="0" bIns="0" rtlCol="0" anchor="t"/>
          <a:lstStyle/>
          <a:p>
            <a:pPr indent="0" marL="0">
              <a:buNone/>
            </a:pPr>
            <a:r>
              <a:rPr lang="en-US" sz="840" dirty="0">
                <a:solidFill>
                  <a:srgbClr val="3A4356"/>
                </a:solidFill>
                <a:latin typeface="Calibri" pitchFamily="34" charset="0"/>
                <a:ea typeface="Calibri" pitchFamily="34" charset="-122"/>
                <a:cs typeface="Calibri" pitchFamily="34" charset="-120"/>
              </a:rPr>
              <a:t>40 parts in the pilot basket · £500k average annual purchased value each · 8% identified · 20% captured.
</a:t>
            </a:r>
            <a:pPr indent="0" marL="0">
              <a:buNone/>
            </a:pPr>
            <a:r>
              <a:rPr lang="en-US" sz="840" b="1" dirty="0">
                <a:solidFill>
                  <a:srgbClr val="16325C"/>
                </a:solidFill>
                <a:latin typeface="Calibri" pitchFamily="34" charset="0"/>
                <a:ea typeface="Calibri" pitchFamily="34" charset="-122"/>
                <a:cs typeface="Calibri" pitchFamily="34" charset="-120"/>
              </a:rPr>
              <a:t>All four are planning assumptions, not tool results. </a:t>
            </a:r>
            <a:pPr indent="0" marL="0">
              <a:buNone/>
            </a:pPr>
            <a:r>
              <a:rPr lang="en-US" sz="840" dirty="0">
                <a:solidFill>
                  <a:srgbClr val="3A4356"/>
                </a:solidFill>
                <a:latin typeface="Calibri" pitchFamily="34" charset="0"/>
                <a:ea typeface="Calibri" pitchFamily="34" charset="-122"/>
                <a:cs typeface="Calibri" pitchFamily="34" charset="-120"/>
              </a:rPr>
              <a:t>A 20% capture assumes four of every five ideas are never acted on. Nothing here needs the tool to be right about one part — only roughly right across a basket.</a:t>
            </a:r>
            <a:endParaRPr lang="en-US" sz="840" dirty="0"/>
          </a:p>
        </p:txBody>
      </p:sp>
      <p:sp>
        <p:nvSpPr>
          <p:cNvPr id="49" name="Shape 44"/>
          <p:cNvSpPr/>
          <p:nvPr/>
        </p:nvSpPr>
        <p:spPr>
          <a:xfrm>
            <a:off x="7571232" y="4370832"/>
            <a:ext cx="4160520" cy="1097280"/>
          </a:xfrm>
          <a:prstGeom prst="roundRect">
            <a:avLst>
              <a:gd name="adj" fmla="val 7500"/>
            </a:avLst>
          </a:prstGeom>
          <a:solidFill>
            <a:srgbClr val="FBEAE8"/>
          </a:solidFill>
          <a:ln w="12700">
            <a:solidFill>
              <a:srgbClr val="B03A2E"/>
            </a:solidFill>
            <a:prstDash val="solid"/>
          </a:ln>
        </p:spPr>
      </p:sp>
      <p:sp>
        <p:nvSpPr>
          <p:cNvPr id="50" name="Text 45"/>
          <p:cNvSpPr/>
          <p:nvPr/>
        </p:nvSpPr>
        <p:spPr>
          <a:xfrm>
            <a:off x="7735824" y="4434840"/>
            <a:ext cx="3840480" cy="182880"/>
          </a:xfrm>
          <a:prstGeom prst="rect">
            <a:avLst/>
          </a:prstGeom>
          <a:noFill/>
          <a:ln/>
        </p:spPr>
        <p:txBody>
          <a:bodyPr wrap="square" lIns="0" tIns="0" rIns="0" bIns="0" rtlCol="0" anchor="ctr"/>
          <a:lstStyle/>
          <a:p>
            <a:pPr indent="0" marL="0">
              <a:buNone/>
            </a:pPr>
            <a:r>
              <a:rPr lang="en-US" sz="800" b="1" spc="40" kern="0" dirty="0">
                <a:solidFill>
                  <a:srgbClr val="B03A2E"/>
                </a:solidFill>
                <a:latin typeface="Calibri" pitchFamily="34" charset="0"/>
                <a:ea typeface="Calibri" pitchFamily="34" charset="-122"/>
                <a:cs typeface="Calibri" pitchFamily="34" charset="-120"/>
              </a:rPr>
              <a:t>IF WE DO NOTHING</a:t>
            </a:r>
            <a:endParaRPr lang="en-US" sz="800" dirty="0"/>
          </a:p>
        </p:txBody>
      </p:sp>
      <p:sp>
        <p:nvSpPr>
          <p:cNvPr id="51" name="Text 46"/>
          <p:cNvSpPr/>
          <p:nvPr/>
        </p:nvSpPr>
        <p:spPr>
          <a:xfrm>
            <a:off x="7735824" y="4636008"/>
            <a:ext cx="3840480" cy="786384"/>
          </a:xfrm>
          <a:prstGeom prst="rect">
            <a:avLst/>
          </a:prstGeom>
          <a:noFill/>
          <a:ln/>
        </p:spPr>
        <p:txBody>
          <a:bodyPr wrap="square" lIns="0" tIns="0" rIns="0" bIns="0" rtlCol="0" anchor="t"/>
          <a:lstStyle/>
          <a:p>
            <a:pPr indent="0" marL="0">
              <a:buNone/>
            </a:pPr>
            <a:r>
              <a:rPr lang="en-US" sz="810" dirty="0">
                <a:solidFill>
                  <a:srgbClr val="3A4356"/>
                </a:solidFill>
                <a:latin typeface="Calibri" pitchFamily="34" charset="0"/>
                <a:ea typeface="Calibri" pitchFamily="34" charset="-122"/>
                <a:cs typeface="Calibri" pitchFamily="34" charset="-120"/>
              </a:rPr>
              <a:t>Quotes keep being accepted without a floor price · cost keeps being discovered after the design is locked, when the cheap levers have closed · findings like 43%-tooling keep arriving too late to act on · a should-cost stays half a day of an engineer, so only the biggest parts ever get one.</a:t>
            </a:r>
            <a:endParaRPr lang="en-US" sz="810" dirty="0"/>
          </a:p>
        </p:txBody>
      </p:sp>
      <p:sp>
        <p:nvSpPr>
          <p:cNvPr id="52" name="Shape 47"/>
          <p:cNvSpPr/>
          <p:nvPr/>
        </p:nvSpPr>
        <p:spPr>
          <a:xfrm>
            <a:off x="457200" y="5577840"/>
            <a:ext cx="11274552" cy="786384"/>
          </a:xfrm>
          <a:prstGeom prst="roundRect">
            <a:avLst>
              <a:gd name="adj" fmla="val 11628"/>
            </a:avLst>
          </a:prstGeom>
          <a:solidFill>
            <a:srgbClr val="16325C"/>
          </a:solidFill>
          <a:ln/>
        </p:spPr>
      </p:sp>
      <p:sp>
        <p:nvSpPr>
          <p:cNvPr id="53" name="Text 48"/>
          <p:cNvSpPr/>
          <p:nvPr/>
        </p:nvSpPr>
        <p:spPr>
          <a:xfrm>
            <a:off x="777240" y="5632704"/>
            <a:ext cx="10652760" cy="676656"/>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Break-even: </a:t>
            </a:r>
            <a:pPr indent="0" marL="0">
              <a:buNone/>
            </a:pPr>
            <a:r>
              <a:rPr lang="en-US" sz="1200" dirty="0">
                <a:solidFill>
                  <a:srgbClr val="FFFFFF"/>
                </a:solidFill>
                <a:latin typeface="Calibri" pitchFamily="34" charset="0"/>
                <a:ea typeface="Calibri" pitchFamily="34" charset="-122"/>
                <a:cs typeface="Calibri" pitchFamily="34" charset="-120"/>
              </a:rPr>
              <a:t>the pilot pays for itself if we capture </a:t>
            </a:r>
            <a:pPr indent="0" marL="0">
              <a:buNone/>
            </a:pPr>
            <a:r>
              <a:rPr lang="en-US" sz="1500" b="1" dirty="0">
                <a:solidFill>
                  <a:srgbClr val="6EE7B7"/>
                </a:solidFill>
                <a:latin typeface="Calibri" pitchFamily="34" charset="0"/>
                <a:ea typeface="Calibri" pitchFamily="34" charset="-122"/>
                <a:cs typeface="Calibri" pitchFamily="34" charset="-120"/>
              </a:rPr>
              <a:t>1.6% </a:t>
            </a:r>
            <a:pPr indent="0" marL="0">
              <a:buNone/>
            </a:pPr>
            <a:r>
              <a:rPr lang="en-US" sz="1200" dirty="0">
                <a:solidFill>
                  <a:srgbClr val="FFFFFF"/>
                </a:solidFill>
                <a:latin typeface="Calibri" pitchFamily="34" charset="0"/>
                <a:ea typeface="Calibri" pitchFamily="34" charset="-122"/>
                <a:cs typeface="Calibri" pitchFamily="34" charset="-120"/>
              </a:rPr>
              <a:t>of what it identifies — one pound in sixty. Every point of capture above that is ≈£16k a year.   </a:t>
            </a:r>
            <a:pPr indent="0" marL="0">
              <a:buNone/>
            </a:pPr>
            <a:r>
              <a:rPr lang="en-US" sz="1200" b="1" dirty="0">
                <a:solidFill>
                  <a:srgbClr val="FFFFFF"/>
                </a:solidFill>
                <a:latin typeface="Calibri" pitchFamily="34" charset="0"/>
                <a:ea typeface="Calibri" pitchFamily="34" charset="-122"/>
                <a:cs typeface="Calibri" pitchFamily="34" charset="-120"/>
              </a:rPr>
              <a:t>We are not asking you to believe 20%. We are asking whether 1.6% is plausible.</a:t>
            </a:r>
            <a:endParaRPr lang="en-US" sz="1200" dirty="0"/>
          </a:p>
        </p:txBody>
      </p:sp>
      <p:sp>
        <p:nvSpPr>
          <p:cNvPr id="54" name="Text 49"/>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55" name="Text 50"/>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Business Case II — Where the Time Goes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Expected time per should-cost, by commodity, against the CAPEE-by-hand baseline — planning figures until the pilot times them</a:t>
            </a:r>
            <a:endParaRPr lang="en-US" sz="1200" dirty="0"/>
          </a:p>
        </p:txBody>
      </p:sp>
      <p:sp>
        <p:nvSpPr>
          <p:cNvPr id="5" name="Text 3"/>
          <p:cNvSpPr/>
          <p:nvPr/>
        </p:nvSpPr>
        <p:spPr>
          <a:xfrm>
            <a:off x="457200" y="1060704"/>
            <a:ext cx="5394960" cy="201168"/>
          </a:xfrm>
          <a:prstGeom prst="rect">
            <a:avLst/>
          </a:prstGeom>
          <a:noFill/>
          <a:ln/>
        </p:spPr>
        <p:txBody>
          <a:bodyPr wrap="square" lIns="0" tIns="0" rIns="0" bIns="0" rtlCol="0" anchor="ctr"/>
          <a:lstStyle/>
          <a:p>
            <a:pPr indent="0" marL="0">
              <a:buNone/>
            </a:pPr>
            <a:r>
              <a:rPr lang="en-US" sz="850" b="1" spc="60" kern="0" dirty="0">
                <a:solidFill>
                  <a:srgbClr val="0D7D71"/>
                </a:solidFill>
                <a:latin typeface="Calibri" pitchFamily="34" charset="0"/>
                <a:ea typeface="Calibri" pitchFamily="34" charset="-122"/>
                <a:cs typeface="Calibri" pitchFamily="34" charset="-120"/>
              </a:rPr>
              <a:t>WHAT THE COSTVISION MINUTES WOULD CONTAIN</a:t>
            </a:r>
            <a:endParaRPr lang="en-US" sz="850" dirty="0"/>
          </a:p>
        </p:txBody>
      </p:sp>
      <p:sp>
        <p:nvSpPr>
          <p:cNvPr id="6" name="Shape 4"/>
          <p:cNvSpPr/>
          <p:nvPr/>
        </p:nvSpPr>
        <p:spPr>
          <a:xfrm>
            <a:off x="457200" y="1298448"/>
            <a:ext cx="1280160" cy="1060704"/>
          </a:xfrm>
          <a:prstGeom prst="roundRect">
            <a:avLst>
              <a:gd name="adj" fmla="val 6897"/>
            </a:avLst>
          </a:prstGeom>
          <a:solidFill>
            <a:srgbClr val="FFFFFF"/>
          </a:solidFill>
          <a:ln w="12700">
            <a:solidFill>
              <a:srgbClr val="DCE3EE"/>
            </a:solidFill>
            <a:prstDash val="solid"/>
          </a:ln>
        </p:spPr>
      </p:sp>
      <p:sp>
        <p:nvSpPr>
          <p:cNvPr id="7" name="Shape 5"/>
          <p:cNvSpPr/>
          <p:nvPr/>
        </p:nvSpPr>
        <p:spPr>
          <a:xfrm>
            <a:off x="923544" y="1389888"/>
            <a:ext cx="347472" cy="347472"/>
          </a:xfrm>
          <a:prstGeom prst="ellipse">
            <a:avLst/>
          </a:prstGeom>
          <a:solidFill>
            <a:srgbClr val="0D7D71"/>
          </a:solidFill>
          <a:ln/>
        </p:spPr>
      </p:sp>
      <p:pic>
        <p:nvPicPr>
          <p:cNvPr id="8" name="Image 0" descr="preencoded.png">    </p:cNvPr>
          <p:cNvPicPr>
            <a:picLocks noChangeAspect="1"/>
          </p:cNvPicPr>
          <p:nvPr/>
        </p:nvPicPr>
        <p:blipFill>
          <a:blip r:embed="rId1"/>
          <a:stretch>
            <a:fillRect/>
          </a:stretch>
        </p:blipFill>
        <p:spPr>
          <a:xfrm>
            <a:off x="1014984" y="1481328"/>
            <a:ext cx="164592" cy="164592"/>
          </a:xfrm>
          <a:prstGeom prst="rect">
            <a:avLst/>
          </a:prstGeom>
        </p:spPr>
      </p:pic>
      <p:sp>
        <p:nvSpPr>
          <p:cNvPr id="9" name="Text 6"/>
          <p:cNvSpPr/>
          <p:nvPr/>
        </p:nvSpPr>
        <p:spPr>
          <a:xfrm>
            <a:off x="502920" y="1773936"/>
            <a:ext cx="1188720" cy="219456"/>
          </a:xfrm>
          <a:prstGeom prst="rect">
            <a:avLst/>
          </a:prstGeom>
          <a:noFill/>
          <a:ln/>
        </p:spPr>
        <p:txBody>
          <a:bodyPr wrap="square" lIns="0" tIns="0" rIns="0" bIns="0" rtlCol="0" anchor="ctr"/>
          <a:lstStyle/>
          <a:p>
            <a:pPr algn="ctr" indent="0" marL="0">
              <a:buNone/>
            </a:pPr>
            <a:r>
              <a:rPr lang="en-US" sz="830" b="1" dirty="0">
                <a:solidFill>
                  <a:srgbClr val="16325C"/>
                </a:solidFill>
                <a:latin typeface="Calibri" pitchFamily="34" charset="0"/>
                <a:ea typeface="Calibri" pitchFamily="34" charset="-122"/>
                <a:cs typeface="Calibri" pitchFamily="34" charset="-120"/>
              </a:rPr>
              <a:t>Upload CAD</a:t>
            </a:r>
            <a:endParaRPr lang="en-US" sz="830" dirty="0"/>
          </a:p>
        </p:txBody>
      </p:sp>
      <p:sp>
        <p:nvSpPr>
          <p:cNvPr id="10" name="Text 7"/>
          <p:cNvSpPr/>
          <p:nvPr/>
        </p:nvSpPr>
        <p:spPr>
          <a:xfrm>
            <a:off x="502920" y="1975104"/>
            <a:ext cx="1188720" cy="365760"/>
          </a:xfrm>
          <a:prstGeom prst="rect">
            <a:avLst/>
          </a:prstGeom>
          <a:noFill/>
          <a:ln/>
        </p:spPr>
        <p:txBody>
          <a:bodyPr wrap="square" lIns="0" tIns="0" rIns="0" bIns="0" rtlCol="0" anchor="t"/>
          <a:lstStyle/>
          <a:p>
            <a:pPr algn="ctr" indent="0" marL="0">
              <a:buNone/>
            </a:pPr>
            <a:r>
              <a:rPr lang="en-US" sz="760" dirty="0">
                <a:solidFill>
                  <a:srgbClr val="686F7D"/>
                </a:solidFill>
                <a:latin typeface="Calibri" pitchFamily="34" charset="0"/>
                <a:ea typeface="Calibri" pitchFamily="34" charset="-122"/>
                <a:cs typeface="Calibri" pitchFamily="34" charset="-120"/>
              </a:rPr>
              <a:t>~1 min</a:t>
            </a:r>
            <a:endParaRPr lang="en-US" sz="760" dirty="0"/>
          </a:p>
        </p:txBody>
      </p:sp>
      <p:pic>
        <p:nvPicPr>
          <p:cNvPr id="11" name="Image 1" descr="preencoded.png">    </p:cNvPr>
          <p:cNvPicPr>
            <a:picLocks noChangeAspect="1"/>
          </p:cNvPicPr>
          <p:nvPr/>
        </p:nvPicPr>
        <p:blipFill>
          <a:blip r:embed="rId2"/>
          <a:stretch>
            <a:fillRect/>
          </a:stretch>
        </p:blipFill>
        <p:spPr>
          <a:xfrm>
            <a:off x="1746504" y="1755648"/>
            <a:ext cx="109728" cy="109728"/>
          </a:xfrm>
          <a:prstGeom prst="rect">
            <a:avLst/>
          </a:prstGeom>
        </p:spPr>
      </p:pic>
      <p:sp>
        <p:nvSpPr>
          <p:cNvPr id="12" name="Shape 8"/>
          <p:cNvSpPr/>
          <p:nvPr/>
        </p:nvSpPr>
        <p:spPr>
          <a:xfrm>
            <a:off x="1847088" y="1298448"/>
            <a:ext cx="1280160" cy="1060704"/>
          </a:xfrm>
          <a:prstGeom prst="roundRect">
            <a:avLst>
              <a:gd name="adj" fmla="val 6897"/>
            </a:avLst>
          </a:prstGeom>
          <a:solidFill>
            <a:srgbClr val="FFFFFF"/>
          </a:solidFill>
          <a:ln w="12700">
            <a:solidFill>
              <a:srgbClr val="DCE3EE"/>
            </a:solidFill>
            <a:prstDash val="solid"/>
          </a:ln>
        </p:spPr>
      </p:sp>
      <p:sp>
        <p:nvSpPr>
          <p:cNvPr id="13" name="Shape 9"/>
          <p:cNvSpPr/>
          <p:nvPr/>
        </p:nvSpPr>
        <p:spPr>
          <a:xfrm>
            <a:off x="2313432" y="1389888"/>
            <a:ext cx="347472" cy="347472"/>
          </a:xfrm>
          <a:prstGeom prst="ellipse">
            <a:avLst/>
          </a:prstGeom>
          <a:solidFill>
            <a:srgbClr val="0D7D71"/>
          </a:solidFill>
          <a:ln/>
        </p:spPr>
      </p:sp>
      <p:pic>
        <p:nvPicPr>
          <p:cNvPr id="14" name="Image 2" descr="preencoded.png">    </p:cNvPr>
          <p:cNvPicPr>
            <a:picLocks noChangeAspect="1"/>
          </p:cNvPicPr>
          <p:nvPr/>
        </p:nvPicPr>
        <p:blipFill>
          <a:blip r:embed="rId3"/>
          <a:stretch>
            <a:fillRect/>
          </a:stretch>
        </p:blipFill>
        <p:spPr>
          <a:xfrm>
            <a:off x="2404872" y="1481328"/>
            <a:ext cx="164592" cy="164592"/>
          </a:xfrm>
          <a:prstGeom prst="rect">
            <a:avLst/>
          </a:prstGeom>
        </p:spPr>
      </p:pic>
      <p:sp>
        <p:nvSpPr>
          <p:cNvPr id="15" name="Text 10"/>
          <p:cNvSpPr/>
          <p:nvPr/>
        </p:nvSpPr>
        <p:spPr>
          <a:xfrm>
            <a:off x="1892808" y="1773936"/>
            <a:ext cx="1188720" cy="219456"/>
          </a:xfrm>
          <a:prstGeom prst="rect">
            <a:avLst/>
          </a:prstGeom>
          <a:noFill/>
          <a:ln/>
        </p:spPr>
        <p:txBody>
          <a:bodyPr wrap="square" lIns="0" tIns="0" rIns="0" bIns="0" rtlCol="0" anchor="ctr"/>
          <a:lstStyle/>
          <a:p>
            <a:pPr algn="ctr" indent="0" marL="0">
              <a:buNone/>
            </a:pPr>
            <a:r>
              <a:rPr lang="en-US" sz="830" b="1" dirty="0">
                <a:solidFill>
                  <a:srgbClr val="16325C"/>
                </a:solidFill>
                <a:latin typeface="Calibri" pitchFamily="34" charset="0"/>
                <a:ea typeface="Calibri" pitchFamily="34" charset="-122"/>
                <a:cs typeface="Calibri" pitchFamily="34" charset="-120"/>
              </a:rPr>
              <a:t>Measure + derive</a:t>
            </a:r>
            <a:endParaRPr lang="en-US" sz="830" dirty="0"/>
          </a:p>
        </p:txBody>
      </p:sp>
      <p:sp>
        <p:nvSpPr>
          <p:cNvPr id="16" name="Text 11"/>
          <p:cNvSpPr/>
          <p:nvPr/>
        </p:nvSpPr>
        <p:spPr>
          <a:xfrm>
            <a:off x="1892808" y="1975104"/>
            <a:ext cx="1188720" cy="365760"/>
          </a:xfrm>
          <a:prstGeom prst="rect">
            <a:avLst/>
          </a:prstGeom>
          <a:noFill/>
          <a:ln/>
        </p:spPr>
        <p:txBody>
          <a:bodyPr wrap="square" lIns="0" tIns="0" rIns="0" bIns="0" rtlCol="0" anchor="t"/>
          <a:lstStyle/>
          <a:p>
            <a:pPr algn="ctr" indent="0" marL="0">
              <a:buNone/>
            </a:pPr>
            <a:r>
              <a:rPr lang="en-US" sz="760" dirty="0">
                <a:solidFill>
                  <a:srgbClr val="686F7D"/>
                </a:solidFill>
                <a:latin typeface="Calibri" pitchFamily="34" charset="0"/>
                <a:ea typeface="Calibri" pitchFamily="34" charset="-122"/>
                <a:cs typeface="Calibri" pitchFamily="34" charset="-120"/>
              </a:rPr>
              <a:t>1–2 min</a:t>
            </a:r>
            <a:endParaRPr lang="en-US" sz="760" dirty="0"/>
          </a:p>
          <a:p>
            <a:pPr algn="ctr" indent="0" marL="0">
              <a:buNone/>
            </a:pPr>
            <a:r>
              <a:rPr lang="en-US" sz="760" dirty="0">
                <a:solidFill>
                  <a:srgbClr val="686F7D"/>
                </a:solidFill>
                <a:latin typeface="Calibri" pitchFamily="34" charset="0"/>
                <a:ea typeface="Calibri" pitchFamily="34" charset="-122"/>
                <a:cs typeface="Calibri" pitchFamily="34" charset="-120"/>
              </a:rPr>
              <a:t>automatic</a:t>
            </a:r>
            <a:endParaRPr lang="en-US" sz="760" dirty="0"/>
          </a:p>
        </p:txBody>
      </p:sp>
      <p:pic>
        <p:nvPicPr>
          <p:cNvPr id="17" name="Image 3" descr="preencoded.png">    </p:cNvPr>
          <p:cNvPicPr>
            <a:picLocks noChangeAspect="1"/>
          </p:cNvPicPr>
          <p:nvPr/>
        </p:nvPicPr>
        <p:blipFill>
          <a:blip r:embed="rId4"/>
          <a:stretch>
            <a:fillRect/>
          </a:stretch>
        </p:blipFill>
        <p:spPr>
          <a:xfrm>
            <a:off x="3136392" y="1755648"/>
            <a:ext cx="109728" cy="109728"/>
          </a:xfrm>
          <a:prstGeom prst="rect">
            <a:avLst/>
          </a:prstGeom>
        </p:spPr>
      </p:pic>
      <p:sp>
        <p:nvSpPr>
          <p:cNvPr id="18" name="Shape 12"/>
          <p:cNvSpPr/>
          <p:nvPr/>
        </p:nvSpPr>
        <p:spPr>
          <a:xfrm>
            <a:off x="3236976" y="1298448"/>
            <a:ext cx="1280160" cy="1060704"/>
          </a:xfrm>
          <a:prstGeom prst="roundRect">
            <a:avLst>
              <a:gd name="adj" fmla="val 6897"/>
            </a:avLst>
          </a:prstGeom>
          <a:solidFill>
            <a:srgbClr val="FFFFFF"/>
          </a:solidFill>
          <a:ln w="12700">
            <a:solidFill>
              <a:srgbClr val="DCE3EE"/>
            </a:solidFill>
            <a:prstDash val="solid"/>
          </a:ln>
        </p:spPr>
      </p:sp>
      <p:sp>
        <p:nvSpPr>
          <p:cNvPr id="19" name="Shape 13"/>
          <p:cNvSpPr/>
          <p:nvPr/>
        </p:nvSpPr>
        <p:spPr>
          <a:xfrm>
            <a:off x="3703320" y="1389888"/>
            <a:ext cx="347472" cy="347472"/>
          </a:xfrm>
          <a:prstGeom prst="ellipse">
            <a:avLst/>
          </a:prstGeom>
          <a:solidFill>
            <a:srgbClr val="0D7D71"/>
          </a:solidFill>
          <a:ln/>
        </p:spPr>
      </p:sp>
      <p:pic>
        <p:nvPicPr>
          <p:cNvPr id="20" name="Image 4" descr="preencoded.png">    </p:cNvPr>
          <p:cNvPicPr>
            <a:picLocks noChangeAspect="1"/>
          </p:cNvPicPr>
          <p:nvPr/>
        </p:nvPicPr>
        <p:blipFill>
          <a:blip r:embed="rId5"/>
          <a:stretch>
            <a:fillRect/>
          </a:stretch>
        </p:blipFill>
        <p:spPr>
          <a:xfrm>
            <a:off x="3794760" y="1481328"/>
            <a:ext cx="164592" cy="164592"/>
          </a:xfrm>
          <a:prstGeom prst="rect">
            <a:avLst/>
          </a:prstGeom>
        </p:spPr>
      </p:pic>
      <p:sp>
        <p:nvSpPr>
          <p:cNvPr id="21" name="Text 14"/>
          <p:cNvSpPr/>
          <p:nvPr/>
        </p:nvSpPr>
        <p:spPr>
          <a:xfrm>
            <a:off x="3282696" y="1773936"/>
            <a:ext cx="1188720" cy="219456"/>
          </a:xfrm>
          <a:prstGeom prst="rect">
            <a:avLst/>
          </a:prstGeom>
          <a:noFill/>
          <a:ln/>
        </p:spPr>
        <p:txBody>
          <a:bodyPr wrap="square" lIns="0" tIns="0" rIns="0" bIns="0" rtlCol="0" anchor="ctr"/>
          <a:lstStyle/>
          <a:p>
            <a:pPr algn="ctr" indent="0" marL="0">
              <a:buNone/>
            </a:pPr>
            <a:r>
              <a:rPr lang="en-US" sz="830" b="1" dirty="0">
                <a:solidFill>
                  <a:srgbClr val="16325C"/>
                </a:solidFill>
                <a:latin typeface="Calibri" pitchFamily="34" charset="0"/>
                <a:ea typeface="Calibri" pitchFamily="34" charset="-122"/>
                <a:cs typeface="Calibri" pitchFamily="34" charset="-120"/>
              </a:rPr>
              <a:t>Answer questions</a:t>
            </a:r>
            <a:endParaRPr lang="en-US" sz="830" dirty="0"/>
          </a:p>
        </p:txBody>
      </p:sp>
      <p:sp>
        <p:nvSpPr>
          <p:cNvPr id="22" name="Text 15"/>
          <p:cNvSpPr/>
          <p:nvPr/>
        </p:nvSpPr>
        <p:spPr>
          <a:xfrm>
            <a:off x="3282696" y="1975104"/>
            <a:ext cx="1188720" cy="365760"/>
          </a:xfrm>
          <a:prstGeom prst="rect">
            <a:avLst/>
          </a:prstGeom>
          <a:noFill/>
          <a:ln/>
        </p:spPr>
        <p:txBody>
          <a:bodyPr wrap="square" lIns="0" tIns="0" rIns="0" bIns="0" rtlCol="0" anchor="t"/>
          <a:lstStyle/>
          <a:p>
            <a:pPr algn="ctr" indent="0" marL="0">
              <a:buNone/>
            </a:pPr>
            <a:r>
              <a:rPr lang="en-US" sz="760" dirty="0">
                <a:solidFill>
                  <a:srgbClr val="686F7D"/>
                </a:solidFill>
                <a:latin typeface="Calibri" pitchFamily="34" charset="0"/>
                <a:ea typeface="Calibri" pitchFamily="34" charset="-122"/>
                <a:cs typeface="Calibri" pitchFamily="34" charset="-120"/>
              </a:rPr>
              <a:t>2–5 min</a:t>
            </a:r>
            <a:endParaRPr lang="en-US" sz="760" dirty="0"/>
          </a:p>
          <a:p>
            <a:pPr algn="ctr" indent="0" marL="0">
              <a:buNone/>
            </a:pPr>
            <a:r>
              <a:rPr lang="en-US" sz="760" dirty="0">
                <a:solidFill>
                  <a:srgbClr val="686F7D"/>
                </a:solidFill>
                <a:latin typeface="Calibri" pitchFamily="34" charset="0"/>
                <a:ea typeface="Calibri" pitchFamily="34" charset="-122"/>
                <a:cs typeface="Calibri" pitchFamily="34" charset="-120"/>
              </a:rPr>
              <a:t>material · route</a:t>
            </a:r>
            <a:endParaRPr lang="en-US" sz="760" dirty="0"/>
          </a:p>
        </p:txBody>
      </p:sp>
      <p:pic>
        <p:nvPicPr>
          <p:cNvPr id="23" name="Image 5" descr="preencoded.png">    </p:cNvPr>
          <p:cNvPicPr>
            <a:picLocks noChangeAspect="1"/>
          </p:cNvPicPr>
          <p:nvPr/>
        </p:nvPicPr>
        <p:blipFill>
          <a:blip r:embed="rId6"/>
          <a:stretch>
            <a:fillRect/>
          </a:stretch>
        </p:blipFill>
        <p:spPr>
          <a:xfrm>
            <a:off x="4526280" y="1755648"/>
            <a:ext cx="109728" cy="109728"/>
          </a:xfrm>
          <a:prstGeom prst="rect">
            <a:avLst/>
          </a:prstGeom>
        </p:spPr>
      </p:pic>
      <p:sp>
        <p:nvSpPr>
          <p:cNvPr id="24" name="Shape 16"/>
          <p:cNvSpPr/>
          <p:nvPr/>
        </p:nvSpPr>
        <p:spPr>
          <a:xfrm>
            <a:off x="4626864" y="1298448"/>
            <a:ext cx="1280160" cy="1060704"/>
          </a:xfrm>
          <a:prstGeom prst="roundRect">
            <a:avLst>
              <a:gd name="adj" fmla="val 6897"/>
            </a:avLst>
          </a:prstGeom>
          <a:solidFill>
            <a:srgbClr val="FFFFFF"/>
          </a:solidFill>
          <a:ln w="12700">
            <a:solidFill>
              <a:srgbClr val="DCE3EE"/>
            </a:solidFill>
            <a:prstDash val="solid"/>
          </a:ln>
        </p:spPr>
      </p:sp>
      <p:sp>
        <p:nvSpPr>
          <p:cNvPr id="25" name="Shape 17"/>
          <p:cNvSpPr/>
          <p:nvPr/>
        </p:nvSpPr>
        <p:spPr>
          <a:xfrm>
            <a:off x="5093208" y="1389888"/>
            <a:ext cx="347472" cy="347472"/>
          </a:xfrm>
          <a:prstGeom prst="ellipse">
            <a:avLst/>
          </a:prstGeom>
          <a:solidFill>
            <a:srgbClr val="0D7D71"/>
          </a:solidFill>
          <a:ln/>
        </p:spPr>
      </p:sp>
      <p:pic>
        <p:nvPicPr>
          <p:cNvPr id="26" name="Image 6" descr="preencoded.png">    </p:cNvPr>
          <p:cNvPicPr>
            <a:picLocks noChangeAspect="1"/>
          </p:cNvPicPr>
          <p:nvPr/>
        </p:nvPicPr>
        <p:blipFill>
          <a:blip r:embed="rId7"/>
          <a:stretch>
            <a:fillRect/>
          </a:stretch>
        </p:blipFill>
        <p:spPr>
          <a:xfrm>
            <a:off x="5184648" y="1481328"/>
            <a:ext cx="164592" cy="164592"/>
          </a:xfrm>
          <a:prstGeom prst="rect">
            <a:avLst/>
          </a:prstGeom>
        </p:spPr>
      </p:pic>
      <p:sp>
        <p:nvSpPr>
          <p:cNvPr id="27" name="Text 18"/>
          <p:cNvSpPr/>
          <p:nvPr/>
        </p:nvSpPr>
        <p:spPr>
          <a:xfrm>
            <a:off x="4672584" y="1773936"/>
            <a:ext cx="1188720" cy="219456"/>
          </a:xfrm>
          <a:prstGeom prst="rect">
            <a:avLst/>
          </a:prstGeom>
          <a:noFill/>
          <a:ln/>
        </p:spPr>
        <p:txBody>
          <a:bodyPr wrap="square" lIns="0" tIns="0" rIns="0" bIns="0" rtlCol="0" anchor="ctr"/>
          <a:lstStyle/>
          <a:p>
            <a:pPr algn="ctr" indent="0" marL="0">
              <a:buNone/>
            </a:pPr>
            <a:r>
              <a:rPr lang="en-US" sz="830" b="1" dirty="0">
                <a:solidFill>
                  <a:srgbClr val="16325C"/>
                </a:solidFill>
                <a:latin typeface="Calibri" pitchFamily="34" charset="0"/>
                <a:ea typeface="Calibri" pitchFamily="34" charset="-122"/>
                <a:cs typeface="Calibri" pitchFamily="34" charset="-120"/>
              </a:rPr>
              <a:t>Review + approve</a:t>
            </a:r>
            <a:endParaRPr lang="en-US" sz="830" dirty="0"/>
          </a:p>
        </p:txBody>
      </p:sp>
      <p:sp>
        <p:nvSpPr>
          <p:cNvPr id="28" name="Text 19"/>
          <p:cNvSpPr/>
          <p:nvPr/>
        </p:nvSpPr>
        <p:spPr>
          <a:xfrm>
            <a:off x="4672584" y="1975104"/>
            <a:ext cx="1188720" cy="365760"/>
          </a:xfrm>
          <a:prstGeom prst="rect">
            <a:avLst/>
          </a:prstGeom>
          <a:noFill/>
          <a:ln/>
        </p:spPr>
        <p:txBody>
          <a:bodyPr wrap="square" lIns="0" tIns="0" rIns="0" bIns="0" rtlCol="0" anchor="t"/>
          <a:lstStyle/>
          <a:p>
            <a:pPr algn="ctr" indent="0" marL="0">
              <a:buNone/>
            </a:pPr>
            <a:r>
              <a:rPr lang="en-US" sz="760" dirty="0">
                <a:solidFill>
                  <a:srgbClr val="686F7D"/>
                </a:solidFill>
                <a:latin typeface="Calibri" pitchFamily="34" charset="0"/>
                <a:ea typeface="Calibri" pitchFamily="34" charset="-122"/>
                <a:cs typeface="Calibri" pitchFamily="34" charset="-120"/>
              </a:rPr>
              <a:t>5–8 min</a:t>
            </a:r>
            <a:endParaRPr lang="en-US" sz="760" dirty="0"/>
          </a:p>
        </p:txBody>
      </p:sp>
      <p:sp>
        <p:nvSpPr>
          <p:cNvPr id="29" name="Text 20"/>
          <p:cNvSpPr/>
          <p:nvPr/>
        </p:nvSpPr>
        <p:spPr>
          <a:xfrm>
            <a:off x="457200" y="2414016"/>
            <a:ext cx="5394960" cy="384048"/>
          </a:xfrm>
          <a:prstGeom prst="rect">
            <a:avLst/>
          </a:prstGeom>
          <a:noFill/>
          <a:ln/>
        </p:spPr>
        <p:txBody>
          <a:bodyPr wrap="square" lIns="0" tIns="0" rIns="0" bIns="0" rtlCol="0" anchor="t"/>
          <a:lstStyle/>
          <a:p>
            <a:pPr indent="0" marL="0">
              <a:buNone/>
            </a:pPr>
            <a:r>
              <a:rPr lang="en-US" sz="1200" b="1" dirty="0">
                <a:solidFill>
                  <a:srgbClr val="0D7D71"/>
                </a:solidFill>
                <a:latin typeface="Calibri" pitchFamily="34" charset="0"/>
                <a:ea typeface="Calibri" pitchFamily="34" charset="-122"/>
                <a:cs typeface="Calibri" pitchFamily="34" charset="-120"/>
              </a:rPr>
              <a:t>Expected: 10–15 minutes </a:t>
            </a:r>
            <a:pPr indent="0" marL="0">
              <a:buNone/>
            </a:pPr>
            <a:r>
              <a:rPr lang="en-US" sz="950" dirty="0">
                <a:solidFill>
                  <a:srgbClr val="3A4356"/>
                </a:solidFill>
                <a:latin typeface="Calibri" pitchFamily="34" charset="0"/>
                <a:ea typeface="Calibri" pitchFamily="34" charset="-122"/>
                <a:cs typeface="Calibri" pitchFamily="34" charset="-120"/>
              </a:rPr>
              <a:t>for a CAD part, engineer at the screen. Not yet timed.</a:t>
            </a:r>
            <a:pPr indent="0" marL="0">
              <a:buNone/>
            </a:pPr>
            <a:r>
              <a:rPr lang="en-US" sz="820" b="1" dirty="0">
                <a:solidFill>
                  <a:srgbClr val="16325C"/>
                </a:solidFill>
                <a:latin typeface="Calibri" pitchFamily="34" charset="0"/>
                <a:ea typeface="Calibri" pitchFamily="34" charset="-122"/>
                <a:cs typeface="Calibri" pitchFamily="34" charset="-120"/>
              </a:rPr>
              <a:t> CAPEE keys these inputs by hand; here the tool measures them.</a:t>
            </a:r>
            <a:endParaRPr lang="en-US" sz="1200" dirty="0"/>
          </a:p>
        </p:txBody>
      </p:sp>
      <p:sp>
        <p:nvSpPr>
          <p:cNvPr id="30" name="Text 21"/>
          <p:cNvSpPr/>
          <p:nvPr/>
        </p:nvSpPr>
        <p:spPr>
          <a:xfrm>
            <a:off x="457200" y="2852928"/>
            <a:ext cx="5394960" cy="201168"/>
          </a:xfrm>
          <a:prstGeom prst="rect">
            <a:avLst/>
          </a:prstGeom>
          <a:noFill/>
          <a:ln/>
        </p:spPr>
        <p:txBody>
          <a:bodyPr wrap="square" lIns="0" tIns="0" rIns="0" bIns="0" rtlCol="0" anchor="ctr"/>
          <a:lstStyle/>
          <a:p>
            <a:pPr indent="0" marL="0">
              <a:buNone/>
            </a:pPr>
            <a:r>
              <a:rPr lang="en-US" sz="850" b="1" spc="60" kern="0" dirty="0">
                <a:solidFill>
                  <a:srgbClr val="16325C"/>
                </a:solidFill>
                <a:latin typeface="Calibri" pitchFamily="34" charset="0"/>
                <a:ea typeface="Calibri" pitchFamily="34" charset="-122"/>
                <a:cs typeface="Calibri" pitchFamily="34" charset="-120"/>
              </a:rPr>
              <a:t>TIME PER SHOULD-COST, BY COMMODITY</a:t>
            </a:r>
            <a:endParaRPr lang="en-US" sz="850" dirty="0"/>
          </a:p>
        </p:txBody>
      </p:sp>
      <p:sp>
        <p:nvSpPr>
          <p:cNvPr id="31" name="Text 22"/>
          <p:cNvSpPr/>
          <p:nvPr/>
        </p:nvSpPr>
        <p:spPr>
          <a:xfrm>
            <a:off x="457200" y="3054096"/>
            <a:ext cx="2286000" cy="219456"/>
          </a:xfrm>
          <a:prstGeom prst="rect">
            <a:avLst/>
          </a:prstGeom>
          <a:solidFill>
            <a:srgbClr val="16325C"/>
          </a:solidFill>
          <a:ln/>
        </p:spPr>
        <p:txBody>
          <a:bodyPr wrap="square" lIns="508" tIns="508" rIns="508" bIns="508" rtlCol="0" anchor="ctr"/>
          <a:lstStyle/>
          <a:p>
            <a:pPr algn="l" indent="0" marL="0">
              <a:buNone/>
            </a:pPr>
            <a:r>
              <a:rPr lang="en-US" sz="830" b="1" dirty="0">
                <a:solidFill>
                  <a:srgbClr val="FFFFFF"/>
                </a:solidFill>
                <a:latin typeface="Calibri" pitchFamily="34" charset="0"/>
                <a:ea typeface="Calibri" pitchFamily="34" charset="-122"/>
                <a:cs typeface="Calibri" pitchFamily="34" charset="-120"/>
              </a:rPr>
              <a:t>Commodity</a:t>
            </a:r>
            <a:endParaRPr lang="en-US" sz="830" dirty="0"/>
          </a:p>
        </p:txBody>
      </p:sp>
      <p:sp>
        <p:nvSpPr>
          <p:cNvPr id="32" name="Text 23"/>
          <p:cNvSpPr/>
          <p:nvPr/>
        </p:nvSpPr>
        <p:spPr>
          <a:xfrm>
            <a:off x="2743200" y="3054096"/>
            <a:ext cx="914400" cy="219456"/>
          </a:xfrm>
          <a:prstGeom prst="rect">
            <a:avLst/>
          </a:prstGeom>
          <a:solidFill>
            <a:srgbClr val="16325C"/>
          </a:solidFill>
          <a:ln/>
        </p:spPr>
        <p:txBody>
          <a:bodyPr wrap="square" lIns="508" tIns="508" rIns="508" bIns="508" rtlCol="0" anchor="ctr"/>
          <a:lstStyle/>
          <a:p>
            <a:pPr algn="ctr" indent="0" marL="0">
              <a:buNone/>
            </a:pPr>
            <a:r>
              <a:rPr lang="en-US" sz="830" b="1" dirty="0">
                <a:solidFill>
                  <a:srgbClr val="FFFFFF"/>
                </a:solidFill>
                <a:latin typeface="Calibri" pitchFamily="34" charset="0"/>
                <a:ea typeface="Calibri" pitchFamily="34" charset="-122"/>
                <a:cs typeface="Calibri" pitchFamily="34" charset="-120"/>
              </a:rPr>
              <a:t>CostVision*</a:t>
            </a:r>
            <a:endParaRPr lang="en-US" sz="830" dirty="0"/>
          </a:p>
        </p:txBody>
      </p:sp>
      <p:sp>
        <p:nvSpPr>
          <p:cNvPr id="33" name="Text 24"/>
          <p:cNvSpPr/>
          <p:nvPr/>
        </p:nvSpPr>
        <p:spPr>
          <a:xfrm>
            <a:off x="3657600" y="3054096"/>
            <a:ext cx="1097280" cy="219456"/>
          </a:xfrm>
          <a:prstGeom prst="rect">
            <a:avLst/>
          </a:prstGeom>
          <a:solidFill>
            <a:srgbClr val="16325C"/>
          </a:solidFill>
          <a:ln/>
        </p:spPr>
        <p:txBody>
          <a:bodyPr wrap="square" lIns="508" tIns="508" rIns="508" bIns="508" rtlCol="0" anchor="ctr"/>
          <a:lstStyle/>
          <a:p>
            <a:pPr algn="ctr" indent="0" marL="0">
              <a:buNone/>
            </a:pPr>
            <a:r>
              <a:rPr lang="en-US" sz="830" b="1" dirty="0">
                <a:solidFill>
                  <a:srgbClr val="FFFFFF"/>
                </a:solidFill>
                <a:latin typeface="Calibri" pitchFamily="34" charset="0"/>
                <a:ea typeface="Calibri" pitchFamily="34" charset="-122"/>
                <a:cs typeface="Calibri" pitchFamily="34" charset="-120"/>
              </a:rPr>
              <a:t>CAPEE by hand</a:t>
            </a:r>
            <a:endParaRPr lang="en-US" sz="830" dirty="0"/>
          </a:p>
        </p:txBody>
      </p:sp>
      <p:sp>
        <p:nvSpPr>
          <p:cNvPr id="34" name="Text 25"/>
          <p:cNvSpPr/>
          <p:nvPr/>
        </p:nvSpPr>
        <p:spPr>
          <a:xfrm>
            <a:off x="4754880" y="3054096"/>
            <a:ext cx="1234440" cy="219456"/>
          </a:xfrm>
          <a:prstGeom prst="rect">
            <a:avLst/>
          </a:prstGeom>
          <a:solidFill>
            <a:srgbClr val="16325C"/>
          </a:solidFill>
          <a:ln/>
        </p:spPr>
        <p:txBody>
          <a:bodyPr wrap="square" lIns="508" tIns="508" rIns="508" bIns="508" rtlCol="0" anchor="ctr"/>
          <a:lstStyle/>
          <a:p>
            <a:pPr algn="ctr" indent="0" marL="0">
              <a:buNone/>
            </a:pPr>
            <a:r>
              <a:rPr lang="en-US" sz="830" b="1" dirty="0">
                <a:solidFill>
                  <a:srgbClr val="FFFFFF"/>
                </a:solidFill>
                <a:latin typeface="Calibri" pitchFamily="34" charset="0"/>
                <a:ea typeface="Calibri" pitchFamily="34" charset="-122"/>
                <a:cs typeface="Calibri" pitchFamily="34" charset="-120"/>
              </a:rPr>
              <a:t>Baseline</a:t>
            </a:r>
            <a:endParaRPr lang="en-US" sz="830" dirty="0"/>
          </a:p>
        </p:txBody>
      </p:sp>
      <p:sp>
        <p:nvSpPr>
          <p:cNvPr id="35" name="Text 26"/>
          <p:cNvSpPr/>
          <p:nvPr/>
        </p:nvSpPr>
        <p:spPr>
          <a:xfrm>
            <a:off x="457200" y="3273552"/>
            <a:ext cx="2286000" cy="306324"/>
          </a:xfrm>
          <a:prstGeom prst="rect">
            <a:avLst/>
          </a:prstGeom>
          <a:solidFill>
            <a:srgbClr val="FFFFFF"/>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Casting + machining (CAD)</a:t>
            </a:r>
            <a:endParaRPr lang="en-US" sz="840" dirty="0"/>
          </a:p>
        </p:txBody>
      </p:sp>
      <p:sp>
        <p:nvSpPr>
          <p:cNvPr id="36" name="Text 27"/>
          <p:cNvSpPr/>
          <p:nvPr/>
        </p:nvSpPr>
        <p:spPr>
          <a:xfrm>
            <a:off x="2743200" y="3273552"/>
            <a:ext cx="914400" cy="306324"/>
          </a:xfrm>
          <a:prstGeom prst="rect">
            <a:avLst/>
          </a:prstGeom>
          <a:solidFill>
            <a:srgbClr val="FFFFFF"/>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37" name="Text 28"/>
          <p:cNvSpPr/>
          <p:nvPr/>
        </p:nvSpPr>
        <p:spPr>
          <a:xfrm>
            <a:off x="3657600" y="3273552"/>
            <a:ext cx="109728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4–5 h</a:t>
            </a:r>
            <a:endParaRPr lang="en-US" sz="840" dirty="0"/>
          </a:p>
        </p:txBody>
      </p:sp>
      <p:sp>
        <p:nvSpPr>
          <p:cNvPr id="38" name="Text 29"/>
          <p:cNvSpPr/>
          <p:nvPr/>
        </p:nvSpPr>
        <p:spPr>
          <a:xfrm>
            <a:off x="4754880" y="3273552"/>
            <a:ext cx="123444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2A7F50"/>
                </a:solidFill>
                <a:latin typeface="Calibri" pitchFamily="34" charset="0"/>
                <a:ea typeface="Calibri" pitchFamily="34" charset="-122"/>
                <a:cs typeface="Calibri" pitchFamily="34" charset="-120"/>
              </a:rPr>
              <a:t>confirmed baseline</a:t>
            </a:r>
            <a:endParaRPr lang="en-US" sz="840" dirty="0"/>
          </a:p>
        </p:txBody>
      </p:sp>
      <p:sp>
        <p:nvSpPr>
          <p:cNvPr id="39" name="Text 30"/>
          <p:cNvSpPr/>
          <p:nvPr/>
        </p:nvSpPr>
        <p:spPr>
          <a:xfrm>
            <a:off x="457200" y="3579876"/>
            <a:ext cx="2286000" cy="306324"/>
          </a:xfrm>
          <a:prstGeom prst="rect">
            <a:avLst/>
          </a:prstGeom>
          <a:solidFill>
            <a:srgbClr val="F0F4F9"/>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Machining from billet (CAD)</a:t>
            </a:r>
            <a:endParaRPr lang="en-US" sz="840" dirty="0"/>
          </a:p>
        </p:txBody>
      </p:sp>
      <p:sp>
        <p:nvSpPr>
          <p:cNvPr id="40" name="Text 31"/>
          <p:cNvSpPr/>
          <p:nvPr/>
        </p:nvSpPr>
        <p:spPr>
          <a:xfrm>
            <a:off x="2743200" y="3579876"/>
            <a:ext cx="914400" cy="306324"/>
          </a:xfrm>
          <a:prstGeom prst="rect">
            <a:avLst/>
          </a:prstGeom>
          <a:solidFill>
            <a:srgbClr val="F0F4F9"/>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41" name="Text 32"/>
          <p:cNvSpPr/>
          <p:nvPr/>
        </p:nvSpPr>
        <p:spPr>
          <a:xfrm>
            <a:off x="3657600" y="3579876"/>
            <a:ext cx="109728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3–4 h</a:t>
            </a:r>
            <a:endParaRPr lang="en-US" sz="840" dirty="0"/>
          </a:p>
        </p:txBody>
      </p:sp>
      <p:sp>
        <p:nvSpPr>
          <p:cNvPr id="42" name="Text 33"/>
          <p:cNvSpPr/>
          <p:nvPr/>
        </p:nvSpPr>
        <p:spPr>
          <a:xfrm>
            <a:off x="4754880" y="3579876"/>
            <a:ext cx="123444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43" name="Text 34"/>
          <p:cNvSpPr/>
          <p:nvPr/>
        </p:nvSpPr>
        <p:spPr>
          <a:xfrm>
            <a:off x="457200" y="3886200"/>
            <a:ext cx="2286000" cy="306324"/>
          </a:xfrm>
          <a:prstGeom prst="rect">
            <a:avLst/>
          </a:prstGeom>
          <a:solidFill>
            <a:srgbClr val="FFFFFF"/>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Injection moulding (CAD)</a:t>
            </a:r>
            <a:endParaRPr lang="en-US" sz="840" dirty="0"/>
          </a:p>
        </p:txBody>
      </p:sp>
      <p:sp>
        <p:nvSpPr>
          <p:cNvPr id="44" name="Text 35"/>
          <p:cNvSpPr/>
          <p:nvPr/>
        </p:nvSpPr>
        <p:spPr>
          <a:xfrm>
            <a:off x="2743200" y="3886200"/>
            <a:ext cx="914400" cy="306324"/>
          </a:xfrm>
          <a:prstGeom prst="rect">
            <a:avLst/>
          </a:prstGeom>
          <a:solidFill>
            <a:srgbClr val="FFFFFF"/>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45" name="Text 36"/>
          <p:cNvSpPr/>
          <p:nvPr/>
        </p:nvSpPr>
        <p:spPr>
          <a:xfrm>
            <a:off x="3657600" y="3886200"/>
            <a:ext cx="109728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3–4 h</a:t>
            </a:r>
            <a:endParaRPr lang="en-US" sz="840" dirty="0"/>
          </a:p>
        </p:txBody>
      </p:sp>
      <p:sp>
        <p:nvSpPr>
          <p:cNvPr id="46" name="Text 37"/>
          <p:cNvSpPr/>
          <p:nvPr/>
        </p:nvSpPr>
        <p:spPr>
          <a:xfrm>
            <a:off x="4754880" y="3886200"/>
            <a:ext cx="123444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47" name="Text 38"/>
          <p:cNvSpPr/>
          <p:nvPr/>
        </p:nvSpPr>
        <p:spPr>
          <a:xfrm>
            <a:off x="457200" y="4192524"/>
            <a:ext cx="2286000" cy="306324"/>
          </a:xfrm>
          <a:prstGeom prst="rect">
            <a:avLst/>
          </a:prstGeom>
          <a:solidFill>
            <a:srgbClr val="F0F4F9"/>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Forging + machining (CAD)</a:t>
            </a:r>
            <a:endParaRPr lang="en-US" sz="840" dirty="0"/>
          </a:p>
        </p:txBody>
      </p:sp>
      <p:sp>
        <p:nvSpPr>
          <p:cNvPr id="48" name="Text 39"/>
          <p:cNvSpPr/>
          <p:nvPr/>
        </p:nvSpPr>
        <p:spPr>
          <a:xfrm>
            <a:off x="2743200" y="4192524"/>
            <a:ext cx="914400" cy="306324"/>
          </a:xfrm>
          <a:prstGeom prst="rect">
            <a:avLst/>
          </a:prstGeom>
          <a:solidFill>
            <a:srgbClr val="F0F4F9"/>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49" name="Text 40"/>
          <p:cNvSpPr/>
          <p:nvPr/>
        </p:nvSpPr>
        <p:spPr>
          <a:xfrm>
            <a:off x="3657600" y="4192524"/>
            <a:ext cx="109728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3–4 h</a:t>
            </a:r>
            <a:endParaRPr lang="en-US" sz="840" dirty="0"/>
          </a:p>
        </p:txBody>
      </p:sp>
      <p:sp>
        <p:nvSpPr>
          <p:cNvPr id="50" name="Text 41"/>
          <p:cNvSpPr/>
          <p:nvPr/>
        </p:nvSpPr>
        <p:spPr>
          <a:xfrm>
            <a:off x="4754880" y="4192524"/>
            <a:ext cx="123444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51" name="Text 42"/>
          <p:cNvSpPr/>
          <p:nvPr/>
        </p:nvSpPr>
        <p:spPr>
          <a:xfrm>
            <a:off x="457200" y="4498848"/>
            <a:ext cx="2286000" cy="306324"/>
          </a:xfrm>
          <a:prstGeom prst="rect">
            <a:avLst/>
          </a:prstGeom>
          <a:solidFill>
            <a:srgbClr val="FFFFFF"/>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Sheet-metal pressing (CAD)</a:t>
            </a:r>
            <a:endParaRPr lang="en-US" sz="840" dirty="0"/>
          </a:p>
        </p:txBody>
      </p:sp>
      <p:sp>
        <p:nvSpPr>
          <p:cNvPr id="52" name="Text 43"/>
          <p:cNvSpPr/>
          <p:nvPr/>
        </p:nvSpPr>
        <p:spPr>
          <a:xfrm>
            <a:off x="2743200" y="4498848"/>
            <a:ext cx="914400" cy="306324"/>
          </a:xfrm>
          <a:prstGeom prst="rect">
            <a:avLst/>
          </a:prstGeom>
          <a:solidFill>
            <a:srgbClr val="FFFFFF"/>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53" name="Text 44"/>
          <p:cNvSpPr/>
          <p:nvPr/>
        </p:nvSpPr>
        <p:spPr>
          <a:xfrm>
            <a:off x="3657600" y="4498848"/>
            <a:ext cx="109728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2–3 h</a:t>
            </a:r>
            <a:endParaRPr lang="en-US" sz="840" dirty="0"/>
          </a:p>
        </p:txBody>
      </p:sp>
      <p:sp>
        <p:nvSpPr>
          <p:cNvPr id="54" name="Text 45"/>
          <p:cNvSpPr/>
          <p:nvPr/>
        </p:nvSpPr>
        <p:spPr>
          <a:xfrm>
            <a:off x="4754880" y="4498848"/>
            <a:ext cx="123444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55" name="Text 46"/>
          <p:cNvSpPr/>
          <p:nvPr/>
        </p:nvSpPr>
        <p:spPr>
          <a:xfrm>
            <a:off x="457200" y="4805172"/>
            <a:ext cx="2286000" cy="306324"/>
          </a:xfrm>
          <a:prstGeom prst="rect">
            <a:avLst/>
          </a:prstGeom>
          <a:solidFill>
            <a:srgbClr val="F0F4F9"/>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Blow-moulded tank (CAD)</a:t>
            </a:r>
            <a:endParaRPr lang="en-US" sz="840" dirty="0"/>
          </a:p>
        </p:txBody>
      </p:sp>
      <p:sp>
        <p:nvSpPr>
          <p:cNvPr id="56" name="Text 47"/>
          <p:cNvSpPr/>
          <p:nvPr/>
        </p:nvSpPr>
        <p:spPr>
          <a:xfrm>
            <a:off x="2743200" y="4805172"/>
            <a:ext cx="914400" cy="306324"/>
          </a:xfrm>
          <a:prstGeom prst="rect">
            <a:avLst/>
          </a:prstGeom>
          <a:solidFill>
            <a:srgbClr val="F0F4F9"/>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10–15 min</a:t>
            </a:r>
            <a:endParaRPr lang="en-US" sz="840" dirty="0"/>
          </a:p>
        </p:txBody>
      </p:sp>
      <p:sp>
        <p:nvSpPr>
          <p:cNvPr id="57" name="Text 48"/>
          <p:cNvSpPr/>
          <p:nvPr/>
        </p:nvSpPr>
        <p:spPr>
          <a:xfrm>
            <a:off x="3657600" y="4805172"/>
            <a:ext cx="109728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3–4 h</a:t>
            </a:r>
            <a:endParaRPr lang="en-US" sz="840" dirty="0"/>
          </a:p>
        </p:txBody>
      </p:sp>
      <p:sp>
        <p:nvSpPr>
          <p:cNvPr id="58" name="Text 49"/>
          <p:cNvSpPr/>
          <p:nvPr/>
        </p:nvSpPr>
        <p:spPr>
          <a:xfrm>
            <a:off x="4754880" y="4805172"/>
            <a:ext cx="1234440" cy="306324"/>
          </a:xfrm>
          <a:prstGeom prst="rect">
            <a:avLst/>
          </a:prstGeom>
          <a:solidFill>
            <a:srgbClr val="F0F4F9"/>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59" name="Text 50"/>
          <p:cNvSpPr/>
          <p:nvPr/>
        </p:nvSpPr>
        <p:spPr>
          <a:xfrm>
            <a:off x="457200" y="5111496"/>
            <a:ext cx="2286000" cy="306324"/>
          </a:xfrm>
          <a:prstGeom prst="rect">
            <a:avLst/>
          </a:prstGeom>
          <a:solidFill>
            <a:srgbClr val="FFFFFF"/>
          </a:solidFill>
          <a:ln/>
        </p:spPr>
        <p:txBody>
          <a:bodyPr wrap="square" lIns="508" tIns="508" rIns="508" bIns="508" rtlCol="0" anchor="ctr"/>
          <a:lstStyle/>
          <a:p>
            <a:pPr algn="l" indent="0" marL="0">
              <a:buNone/>
            </a:pPr>
            <a:r>
              <a:rPr lang="en-US" sz="840" dirty="0">
                <a:solidFill>
                  <a:srgbClr val="3A4356"/>
                </a:solidFill>
                <a:latin typeface="Calibri" pitchFamily="34" charset="0"/>
                <a:ea typeface="Calibri" pitchFamily="34" charset="-122"/>
                <a:cs typeface="Calibri" pitchFamily="34" charset="-120"/>
              </a:rPr>
              <a:t>Manual form (any of 19)</a:t>
            </a:r>
            <a:endParaRPr lang="en-US" sz="840" dirty="0"/>
          </a:p>
        </p:txBody>
      </p:sp>
      <p:sp>
        <p:nvSpPr>
          <p:cNvPr id="60" name="Text 51"/>
          <p:cNvSpPr/>
          <p:nvPr/>
        </p:nvSpPr>
        <p:spPr>
          <a:xfrm>
            <a:off x="2743200" y="5111496"/>
            <a:ext cx="914400" cy="306324"/>
          </a:xfrm>
          <a:prstGeom prst="rect">
            <a:avLst/>
          </a:prstGeom>
          <a:solidFill>
            <a:srgbClr val="FFFFFF"/>
          </a:solidFill>
          <a:ln/>
        </p:spPr>
        <p:txBody>
          <a:bodyPr wrap="square" lIns="508" tIns="508" rIns="508" bIns="508" rtlCol="0" anchor="ctr"/>
          <a:lstStyle/>
          <a:p>
            <a:pPr algn="ctr" indent="0" marL="0">
              <a:buNone/>
            </a:pPr>
            <a:r>
              <a:rPr lang="en-US" sz="840" b="1" dirty="0">
                <a:solidFill>
                  <a:srgbClr val="0D7D71"/>
                </a:solidFill>
                <a:latin typeface="Calibri" pitchFamily="34" charset="0"/>
                <a:ea typeface="Calibri" pitchFamily="34" charset="-122"/>
                <a:cs typeface="Calibri" pitchFamily="34" charset="-120"/>
              </a:rPr>
              <a:t>15–30 min</a:t>
            </a:r>
            <a:endParaRPr lang="en-US" sz="840" dirty="0"/>
          </a:p>
        </p:txBody>
      </p:sp>
      <p:sp>
        <p:nvSpPr>
          <p:cNvPr id="61" name="Text 52"/>
          <p:cNvSpPr/>
          <p:nvPr/>
        </p:nvSpPr>
        <p:spPr>
          <a:xfrm>
            <a:off x="3657600" y="5111496"/>
            <a:ext cx="109728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2–4 h</a:t>
            </a:r>
            <a:endParaRPr lang="en-US" sz="840" dirty="0"/>
          </a:p>
        </p:txBody>
      </p:sp>
      <p:sp>
        <p:nvSpPr>
          <p:cNvPr id="62" name="Text 53"/>
          <p:cNvSpPr/>
          <p:nvPr/>
        </p:nvSpPr>
        <p:spPr>
          <a:xfrm>
            <a:off x="4754880" y="5111496"/>
            <a:ext cx="1234440" cy="306324"/>
          </a:xfrm>
          <a:prstGeom prst="rect">
            <a:avLst/>
          </a:prstGeom>
          <a:solidFill>
            <a:srgbClr val="FFFFFF"/>
          </a:solidFill>
          <a:ln/>
        </p:spPr>
        <p:txBody>
          <a:bodyPr wrap="square" lIns="508" tIns="508" rIns="508" bIns="508" rtlCol="0" anchor="ctr"/>
          <a:lstStyle/>
          <a:p>
            <a:pPr algn="ctr" indent="0" marL="0">
              <a:buNone/>
            </a:pPr>
            <a:r>
              <a:rPr lang="en-US" sz="840" dirty="0">
                <a:solidFill>
                  <a:srgbClr val="3A4356"/>
                </a:solidFill>
                <a:latin typeface="Calibri" pitchFamily="34" charset="0"/>
                <a:ea typeface="Calibri" pitchFamily="34" charset="-122"/>
                <a:cs typeface="Calibri" pitchFamily="34" charset="-120"/>
              </a:rPr>
              <a:t>team-reported</a:t>
            </a:r>
            <a:endParaRPr lang="en-US" sz="840" dirty="0"/>
          </a:p>
        </p:txBody>
      </p:sp>
      <p:sp>
        <p:nvSpPr>
          <p:cNvPr id="63" name="Text 54"/>
          <p:cNvSpPr/>
          <p:nvPr/>
        </p:nvSpPr>
        <p:spPr>
          <a:xfrm>
            <a:off x="6263640" y="1060704"/>
            <a:ext cx="5486400" cy="201168"/>
          </a:xfrm>
          <a:prstGeom prst="rect">
            <a:avLst/>
          </a:prstGeom>
          <a:noFill/>
          <a:ln/>
        </p:spPr>
        <p:txBody>
          <a:bodyPr wrap="square" lIns="0" tIns="0" rIns="0" bIns="0" rtlCol="0" anchor="ctr"/>
          <a:lstStyle/>
          <a:p>
            <a:pPr indent="0" marL="0">
              <a:buNone/>
            </a:pPr>
            <a:r>
              <a:rPr lang="en-US" sz="850" b="1" spc="60" kern="0" dirty="0">
                <a:solidFill>
                  <a:srgbClr val="16325C"/>
                </a:solidFill>
                <a:latin typeface="Calibri" pitchFamily="34" charset="0"/>
                <a:ea typeface="Calibri" pitchFamily="34" charset="-122"/>
                <a:cs typeface="Calibri" pitchFamily="34" charset="-120"/>
              </a:rPr>
              <a:t>THE SAME TABLE AS A PICTURE — PLANNING MINUTES</a:t>
            </a:r>
            <a:endParaRPr lang="en-US" sz="850" dirty="0"/>
          </a:p>
        </p:txBody>
      </p:sp>
      <p:graphicFrame>
        <p:nvGraphicFramePr>
          <p:cNvPr id="64" name="Chart 0" descr=""/>
          <p:cNvGraphicFramePr/>
          <p:nvPr/>
        </p:nvGraphicFramePr>
        <p:xfrm>
          <a:off x="6263640" y="1298448"/>
          <a:ext cx="5486400" cy="4206240"/>
        </p:xfrm>
        <a:graphic xmlns:a="http://schemas.openxmlformats.org/drawingml/2006/main">
          <a:graphicData uri="http://schemas.openxmlformats.org/drawingml/2006/chart">
            <c:chart xmlns:c="http://schemas.openxmlformats.org/drawingml/2006/chart" r:id="rId8"/>
          </a:graphicData>
        </a:graphic>
      </p:graphicFrame>
      <p:sp>
        <p:nvSpPr>
          <p:cNvPr id="65" name="Text 55"/>
          <p:cNvSpPr/>
          <p:nvPr/>
        </p:nvSpPr>
        <p:spPr>
          <a:xfrm>
            <a:off x="6263640" y="5577840"/>
            <a:ext cx="5486400" cy="457200"/>
          </a:xfrm>
          <a:prstGeom prst="rect">
            <a:avLst/>
          </a:prstGeom>
          <a:noFill/>
          <a:ln/>
        </p:spPr>
        <p:txBody>
          <a:bodyPr wrap="square" lIns="0" tIns="0" rIns="0" bIns="0" rtlCol="0" anchor="t"/>
          <a:lstStyle/>
          <a:p>
            <a:pPr indent="0" marL="0">
              <a:buNone/>
            </a:pPr>
            <a:r>
              <a:rPr lang="en-US" sz="860" i="1" dirty="0">
                <a:solidFill>
                  <a:srgbClr val="686F7D"/>
                </a:solidFill>
                <a:latin typeface="Calibri" pitchFamily="34" charset="0"/>
                <a:ea typeface="Calibri" pitchFamily="34" charset="-122"/>
                <a:cs typeface="Calibri" pitchFamily="34" charset="-120"/>
              </a:rPr>
              <a:t>* Expected, not yet measured. CAPEE rows marked "team-reported" are working figures. The pilot replaces both with timed runs — confirm before circulating.</a:t>
            </a:r>
            <a:endParaRPr lang="en-US" sz="860" dirty="0"/>
          </a:p>
        </p:txBody>
      </p:sp>
      <p:sp>
        <p:nvSpPr>
          <p:cNvPr id="66" name="Shape 56"/>
          <p:cNvSpPr/>
          <p:nvPr/>
        </p:nvSpPr>
        <p:spPr>
          <a:xfrm>
            <a:off x="457200" y="5779008"/>
            <a:ext cx="5394960" cy="658368"/>
          </a:xfrm>
          <a:prstGeom prst="roundRect">
            <a:avLst>
              <a:gd name="adj" fmla="val 11111"/>
            </a:avLst>
          </a:prstGeom>
          <a:solidFill>
            <a:srgbClr val="EAF6EF"/>
          </a:solidFill>
          <a:ln w="12700">
            <a:solidFill>
              <a:srgbClr val="2A7F50"/>
            </a:solidFill>
            <a:prstDash val="solid"/>
          </a:ln>
        </p:spPr>
      </p:sp>
      <p:sp>
        <p:nvSpPr>
          <p:cNvPr id="67" name="Text 57"/>
          <p:cNvSpPr/>
          <p:nvPr/>
        </p:nvSpPr>
        <p:spPr>
          <a:xfrm>
            <a:off x="621792" y="5833872"/>
            <a:ext cx="5120640" cy="566928"/>
          </a:xfrm>
          <a:prstGeom prst="rect">
            <a:avLst/>
          </a:prstGeom>
          <a:noFill/>
          <a:ln/>
        </p:spPr>
        <p:txBody>
          <a:bodyPr wrap="square" lIns="0" tIns="0" rIns="0" bIns="0" rtlCol="0" anchor="t"/>
          <a:lstStyle/>
          <a:p>
            <a:pPr indent="0" marL="0">
              <a:buNone/>
            </a:pPr>
            <a:r>
              <a:rPr lang="en-US" sz="860" b="1" dirty="0">
                <a:solidFill>
                  <a:srgbClr val="2A7F50"/>
                </a:solidFill>
                <a:latin typeface="Calibri" pitchFamily="34" charset="0"/>
                <a:ea typeface="Calibri" pitchFamily="34" charset="-122"/>
                <a:cs typeface="Calibri" pitchFamily="34" charset="-120"/>
              </a:rPr>
              <a:t>Man-hours saved = Σ (CAPEE hrs − CostVision hrs) × annual parts. </a:t>
            </a:r>
            <a:pPr indent="0" marL="0">
              <a:buNone/>
            </a:pPr>
            <a:r>
              <a:rPr lang="en-US" sz="830" dirty="0">
                <a:solidFill>
                  <a:srgbClr val="3A4356"/>
                </a:solidFill>
                <a:latin typeface="Calibri" pitchFamily="34" charset="0"/>
                <a:ea typeface="Calibri" pitchFamily="34" charset="-122"/>
                <a:cs typeface="Calibri" pitchFamily="34" charset="-120"/>
              </a:rPr>
              <a:t>Illustrative 500-part/yr mix over these planning midpoints: </a:t>
            </a:r>
            <a:pPr indent="0" marL="0">
              <a:buNone/>
            </a:pPr>
            <a:r>
              <a:rPr lang="en-US" sz="900" b="1" dirty="0">
                <a:solidFill>
                  <a:srgbClr val="16325C"/>
                </a:solidFill>
                <a:latin typeface="Calibri" pitchFamily="34" charset="0"/>
                <a:ea typeface="Calibri" pitchFamily="34" charset="-122"/>
                <a:cs typeface="Calibri" pitchFamily="34" charset="-120"/>
              </a:rPr>
              <a:t>≈ 1,650 h/yr</a:t>
            </a:r>
            <a:pPr indent="0" marL="0">
              <a:buNone/>
            </a:pPr>
            <a:r>
              <a:rPr lang="en-US" sz="830" dirty="0">
                <a:solidFill>
                  <a:srgbClr val="3A4356"/>
                </a:solidFill>
                <a:latin typeface="Calibri" pitchFamily="34" charset="0"/>
                <a:ea typeface="Calibri" pitchFamily="34" charset="-122"/>
                <a:cs typeface="Calibri" pitchFamily="34" charset="-120"/>
              </a:rPr>
              <a:t> — an estimate, not a result. Replace with our real volumes and the pilot’s timed runs.</a:t>
            </a:r>
            <a:endParaRPr lang="en-US" sz="860" dirty="0"/>
          </a:p>
        </p:txBody>
      </p:sp>
      <p:sp>
        <p:nvSpPr>
          <p:cNvPr id="68" name="Text 5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69" name="Text 5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Business Case III — CostVision vs CAPEE, by Category</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seven saving categories from our internal review — what CAPEE does today, and what changes</a:t>
            </a:r>
            <a:endParaRPr lang="en-US" sz="1200" dirty="0"/>
          </a:p>
        </p:txBody>
      </p:sp>
      <p:sp>
        <p:nvSpPr>
          <p:cNvPr id="5" name="Text 3"/>
          <p:cNvSpPr/>
          <p:nvPr/>
        </p:nvSpPr>
        <p:spPr>
          <a:xfrm>
            <a:off x="457200" y="1170432"/>
            <a:ext cx="2148840" cy="274320"/>
          </a:xfrm>
          <a:prstGeom prst="rect">
            <a:avLst/>
          </a:prstGeom>
          <a:solidFill>
            <a:srgbClr val="16325C"/>
          </a:solidFill>
          <a:ln/>
        </p:spPr>
        <p:txBody>
          <a:bodyPr wrap="square" lIns="762" tIns="762" rIns="762" bIns="762"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Saving category</a:t>
            </a:r>
            <a:endParaRPr lang="en-US" sz="950" dirty="0"/>
          </a:p>
        </p:txBody>
      </p:sp>
      <p:sp>
        <p:nvSpPr>
          <p:cNvPr id="6" name="Text 4"/>
          <p:cNvSpPr/>
          <p:nvPr/>
        </p:nvSpPr>
        <p:spPr>
          <a:xfrm>
            <a:off x="2606040" y="1170432"/>
            <a:ext cx="2331720" cy="274320"/>
          </a:xfrm>
          <a:prstGeom prst="rect">
            <a:avLst/>
          </a:prstGeom>
          <a:solidFill>
            <a:srgbClr val="16325C"/>
          </a:solidFill>
          <a:ln/>
        </p:spPr>
        <p:txBody>
          <a:bodyPr wrap="square" lIns="762" tIns="762" rIns="762" bIns="762"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CAPEE today</a:t>
            </a:r>
            <a:endParaRPr lang="en-US" sz="950" dirty="0"/>
          </a:p>
        </p:txBody>
      </p:sp>
      <p:sp>
        <p:nvSpPr>
          <p:cNvPr id="7" name="Text 5"/>
          <p:cNvSpPr/>
          <p:nvPr/>
        </p:nvSpPr>
        <p:spPr>
          <a:xfrm>
            <a:off x="4937760" y="1170432"/>
            <a:ext cx="5074920" cy="274320"/>
          </a:xfrm>
          <a:prstGeom prst="rect">
            <a:avLst/>
          </a:prstGeom>
          <a:solidFill>
            <a:srgbClr val="16325C"/>
          </a:solidFill>
          <a:ln/>
        </p:spPr>
        <p:txBody>
          <a:bodyPr wrap="square" lIns="762" tIns="762" rIns="762" bIns="762"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CostVision</a:t>
            </a:r>
            <a:endParaRPr lang="en-US" sz="950" dirty="0"/>
          </a:p>
        </p:txBody>
      </p:sp>
      <p:sp>
        <p:nvSpPr>
          <p:cNvPr id="8" name="Text 6"/>
          <p:cNvSpPr/>
          <p:nvPr/>
        </p:nvSpPr>
        <p:spPr>
          <a:xfrm>
            <a:off x="10012680" y="1170432"/>
            <a:ext cx="1691640" cy="274320"/>
          </a:xfrm>
          <a:prstGeom prst="rect">
            <a:avLst/>
          </a:prstGeom>
          <a:solidFill>
            <a:srgbClr val="16325C"/>
          </a:solidFill>
          <a:ln/>
        </p:spPr>
        <p:txBody>
          <a:bodyPr wrap="square" lIns="762" tIns="762" rIns="762" bIns="762"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Shown at</a:t>
            </a:r>
            <a:endParaRPr lang="en-US" sz="950" dirty="0"/>
          </a:p>
        </p:txBody>
      </p:sp>
      <p:sp>
        <p:nvSpPr>
          <p:cNvPr id="9" name="Text 7"/>
          <p:cNvSpPr/>
          <p:nvPr/>
        </p:nvSpPr>
        <p:spPr>
          <a:xfrm>
            <a:off x="457200" y="1444752"/>
            <a:ext cx="2148840" cy="608076"/>
          </a:xfrm>
          <a:prstGeom prst="rect">
            <a:avLst/>
          </a:prstGeom>
          <a:solidFill>
            <a:srgbClr val="FFFFFF"/>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1 · Input data feeding</a:t>
            </a:r>
            <a:endParaRPr lang="en-US" sz="870" dirty="0"/>
          </a:p>
        </p:txBody>
      </p:sp>
      <p:sp>
        <p:nvSpPr>
          <p:cNvPr id="10" name="Text 8"/>
          <p:cNvSpPr/>
          <p:nvPr/>
        </p:nvSpPr>
        <p:spPr>
          <a:xfrm>
            <a:off x="2606040" y="1444752"/>
            <a:ext cx="23317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Every measurement and cycle input read off the CAD and keyed by hand</a:t>
            </a:r>
            <a:endParaRPr lang="en-US" sz="810" dirty="0"/>
          </a:p>
        </p:txBody>
      </p:sp>
      <p:sp>
        <p:nvSpPr>
          <p:cNvPr id="11" name="Text 9"/>
          <p:cNvSpPr/>
          <p:nvPr/>
        </p:nvSpPr>
        <p:spPr>
          <a:xfrm>
            <a:off x="4937760" y="1444752"/>
            <a:ext cx="50749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The geometry kernel measures the CAD file and feeds the inputs; the engineer answers only what geometry cannot decide</a:t>
            </a:r>
            <a:endParaRPr lang="en-US" sz="810" dirty="0"/>
          </a:p>
        </p:txBody>
      </p:sp>
      <p:sp>
        <p:nvSpPr>
          <p:cNvPr id="12" name="Text 10"/>
          <p:cNvSpPr/>
          <p:nvPr/>
        </p:nvSpPr>
        <p:spPr>
          <a:xfrm>
            <a:off x="10012680" y="1444752"/>
            <a:ext cx="1691640" cy="608076"/>
          </a:xfrm>
          <a:prstGeom prst="rect">
            <a:avLst/>
          </a:prstGeom>
          <a:solidFill>
            <a:srgbClr val="FFFFFF"/>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Measure + kernel slides</a:t>
            </a:r>
            <a:endParaRPr lang="en-US" sz="810" dirty="0"/>
          </a:p>
        </p:txBody>
      </p:sp>
      <p:sp>
        <p:nvSpPr>
          <p:cNvPr id="13" name="Text 11"/>
          <p:cNvSpPr/>
          <p:nvPr/>
        </p:nvSpPr>
        <p:spPr>
          <a:xfrm>
            <a:off x="457200" y="2052828"/>
            <a:ext cx="2148840" cy="608076"/>
          </a:xfrm>
          <a:prstGeom prst="rect">
            <a:avLst/>
          </a:prstGeom>
          <a:solidFill>
            <a:srgbClr val="F0F4F9"/>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2 · Machine, tonnage &amp; process selection</a:t>
            </a:r>
            <a:endParaRPr lang="en-US" sz="870" dirty="0"/>
          </a:p>
        </p:txBody>
      </p:sp>
      <p:sp>
        <p:nvSpPr>
          <p:cNvPr id="14" name="Text 12"/>
          <p:cNvSpPr/>
          <p:nvPr/>
        </p:nvSpPr>
        <p:spPr>
          <a:xfrm>
            <a:off x="2606040" y="2052828"/>
            <a:ext cx="23317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Partially automated</a:t>
            </a:r>
            <a:endParaRPr lang="en-US" sz="810" dirty="0"/>
          </a:p>
        </p:txBody>
      </p:sp>
      <p:sp>
        <p:nvSpPr>
          <p:cNvPr id="15" name="Text 13"/>
          <p:cNvSpPr/>
          <p:nvPr/>
        </p:nvSpPr>
        <p:spPr>
          <a:xfrm>
            <a:off x="4937760" y="2052828"/>
            <a:ext cx="50749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Automatic AND cost-ranked: presses sized by clamp/force physics; machining routing and mould cavitation chosen by price, with the losing alternatives printed in the trace</a:t>
            </a:r>
            <a:endParaRPr lang="en-US" sz="810" dirty="0"/>
          </a:p>
        </p:txBody>
      </p:sp>
      <p:sp>
        <p:nvSpPr>
          <p:cNvPr id="16" name="Text 14"/>
          <p:cNvSpPr/>
          <p:nvPr/>
        </p:nvSpPr>
        <p:spPr>
          <a:xfrm>
            <a:off x="10012680" y="2052828"/>
            <a:ext cx="1691640" cy="608076"/>
          </a:xfrm>
          <a:prstGeom prst="rect">
            <a:avLst/>
          </a:prstGeom>
          <a:solidFill>
            <a:srgbClr val="F0F4F9"/>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Process-selection + routing slides</a:t>
            </a:r>
            <a:endParaRPr lang="en-US" sz="810" dirty="0"/>
          </a:p>
        </p:txBody>
      </p:sp>
      <p:sp>
        <p:nvSpPr>
          <p:cNvPr id="17" name="Text 15"/>
          <p:cNvSpPr/>
          <p:nvPr/>
        </p:nvSpPr>
        <p:spPr>
          <a:xfrm>
            <a:off x="457200" y="2660904"/>
            <a:ext cx="2148840" cy="608076"/>
          </a:xfrm>
          <a:prstGeom prst="rect">
            <a:avLst/>
          </a:prstGeom>
          <a:solidFill>
            <a:srgbClr val="FFFFFF"/>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3 · Coverage &amp; early programme support</a:t>
            </a:r>
            <a:endParaRPr lang="en-US" sz="870" dirty="0"/>
          </a:p>
        </p:txBody>
      </p:sp>
      <p:sp>
        <p:nvSpPr>
          <p:cNvPr id="18" name="Text 16"/>
          <p:cNvSpPr/>
          <p:nvPr/>
        </p:nvSpPr>
        <p:spPr>
          <a:xfrm>
            <a:off x="2606040" y="2660904"/>
            <a:ext cx="23317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Few parts, usually after the quote lands</a:t>
            </a:r>
            <a:endParaRPr lang="en-US" sz="810" dirty="0"/>
          </a:p>
        </p:txBody>
      </p:sp>
      <p:sp>
        <p:nvSpPr>
          <p:cNvPr id="19" name="Text 17"/>
          <p:cNvSpPr/>
          <p:nvPr/>
        </p:nvSpPr>
        <p:spPr>
          <a:xfrm>
            <a:off x="4937760" y="2660904"/>
            <a:ext cx="50749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More parts costed per engineer (the pilot measures how many) — directional cost early, while wall thickness and process can still change</a:t>
            </a:r>
            <a:endParaRPr lang="en-US" sz="810" dirty="0"/>
          </a:p>
        </p:txBody>
      </p:sp>
      <p:sp>
        <p:nvSpPr>
          <p:cNvPr id="20" name="Text 18"/>
          <p:cNvSpPr/>
          <p:nvPr/>
        </p:nvSpPr>
        <p:spPr>
          <a:xfrm>
            <a:off x="10012680" y="2660904"/>
            <a:ext cx="1691640" cy="608076"/>
          </a:xfrm>
          <a:prstGeom prst="rect">
            <a:avLst/>
          </a:prstGeom>
          <a:solidFill>
            <a:srgbClr val="FFFFFF"/>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Business Case II</a:t>
            </a:r>
            <a:endParaRPr lang="en-US" sz="810" dirty="0"/>
          </a:p>
        </p:txBody>
      </p:sp>
      <p:sp>
        <p:nvSpPr>
          <p:cNvPr id="21" name="Text 19"/>
          <p:cNvSpPr/>
          <p:nvPr/>
        </p:nvSpPr>
        <p:spPr>
          <a:xfrm>
            <a:off x="457200" y="3268980"/>
            <a:ext cx="2148840" cy="608076"/>
          </a:xfrm>
          <a:prstGeom prst="rect">
            <a:avLst/>
          </a:prstGeom>
          <a:solidFill>
            <a:srgbClr val="F0F4F9"/>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4 · Total man-hours saved</a:t>
            </a:r>
            <a:endParaRPr lang="en-US" sz="870" dirty="0"/>
          </a:p>
        </p:txBody>
      </p:sp>
      <p:sp>
        <p:nvSpPr>
          <p:cNvPr id="22" name="Text 20"/>
          <p:cNvSpPr/>
          <p:nvPr/>
        </p:nvSpPr>
        <p:spPr>
          <a:xfrm>
            <a:off x="2606040" y="3268980"/>
            <a:ext cx="23317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a:t>
            </a:r>
            <a:endParaRPr lang="en-US" sz="810" dirty="0"/>
          </a:p>
        </p:txBody>
      </p:sp>
      <p:sp>
        <p:nvSpPr>
          <p:cNvPr id="23" name="Text 21"/>
          <p:cNvSpPr/>
          <p:nvPr/>
        </p:nvSpPr>
        <p:spPr>
          <a:xfrm>
            <a:off x="4937760" y="3268980"/>
            <a:ext cx="50749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Σ (CAPEE hrs − CostVision hrs) × annual parts, per commodity — a planning estimate until the pilot times real runs</a:t>
            </a:r>
            <a:endParaRPr lang="en-US" sz="810" dirty="0"/>
          </a:p>
        </p:txBody>
      </p:sp>
      <p:sp>
        <p:nvSpPr>
          <p:cNvPr id="24" name="Text 22"/>
          <p:cNvSpPr/>
          <p:nvPr/>
        </p:nvSpPr>
        <p:spPr>
          <a:xfrm>
            <a:off x="10012680" y="3268980"/>
            <a:ext cx="1691640" cy="608076"/>
          </a:xfrm>
          <a:prstGeom prst="rect">
            <a:avLst/>
          </a:prstGeom>
          <a:solidFill>
            <a:srgbClr val="F0F4F9"/>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Business Case II strip</a:t>
            </a:r>
            <a:endParaRPr lang="en-US" sz="810" dirty="0"/>
          </a:p>
        </p:txBody>
      </p:sp>
      <p:sp>
        <p:nvSpPr>
          <p:cNvPr id="25" name="Text 23"/>
          <p:cNvSpPr/>
          <p:nvPr/>
        </p:nvSpPr>
        <p:spPr>
          <a:xfrm>
            <a:off x="457200" y="3877056"/>
            <a:ext cx="2148840" cy="608076"/>
          </a:xfrm>
          <a:prstGeom prst="rect">
            <a:avLst/>
          </a:prstGeom>
          <a:solidFill>
            <a:srgbClr val="FFFFFF"/>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5 · DFM / DFA insights</a:t>
            </a:r>
            <a:endParaRPr lang="en-US" sz="870" dirty="0"/>
          </a:p>
        </p:txBody>
      </p:sp>
      <p:sp>
        <p:nvSpPr>
          <p:cNvPr id="26" name="Text 24"/>
          <p:cNvSpPr/>
          <p:nvPr/>
        </p:nvSpPr>
        <p:spPr>
          <a:xfrm>
            <a:off x="2606040" y="3877056"/>
            <a:ext cx="23317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Not available</a:t>
            </a:r>
            <a:endParaRPr lang="en-US" sz="810" dirty="0"/>
          </a:p>
        </p:txBody>
      </p:sp>
      <p:sp>
        <p:nvSpPr>
          <p:cNvPr id="27" name="Text 25"/>
          <p:cNvSpPr/>
          <p:nvPr/>
        </p:nvSpPr>
        <p:spPr>
          <a:xfrm>
            <a:off x="4937760" y="3877056"/>
            <a:ext cx="50749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Generated by the deterministic COST ENGINE — 52 threshold rules + 10 geometry advisors, scores by fixed arithmetic. Not by AI: the AI cannot write a score, severity or saving</a:t>
            </a:r>
            <a:endParaRPr lang="en-US" sz="810" dirty="0"/>
          </a:p>
        </p:txBody>
      </p:sp>
      <p:sp>
        <p:nvSpPr>
          <p:cNvPr id="28" name="Text 26"/>
          <p:cNvSpPr/>
          <p:nvPr/>
        </p:nvSpPr>
        <p:spPr>
          <a:xfrm>
            <a:off x="10012680" y="3877056"/>
            <a:ext cx="1691640" cy="608076"/>
          </a:xfrm>
          <a:prstGeom prst="rect">
            <a:avLst/>
          </a:prstGeom>
          <a:solidFill>
            <a:srgbClr val="FFFFFF"/>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DFM/DFA slide</a:t>
            </a:r>
            <a:endParaRPr lang="en-US" sz="810" dirty="0"/>
          </a:p>
        </p:txBody>
      </p:sp>
      <p:sp>
        <p:nvSpPr>
          <p:cNvPr id="29" name="Text 27"/>
          <p:cNvSpPr/>
          <p:nvPr/>
        </p:nvSpPr>
        <p:spPr>
          <a:xfrm>
            <a:off x="457200" y="4485132"/>
            <a:ext cx="2148840" cy="608076"/>
          </a:xfrm>
          <a:prstGeom prst="rect">
            <a:avLst/>
          </a:prstGeom>
          <a:solidFill>
            <a:srgbClr val="F0F4F9"/>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6 · Cost-saving ideas</a:t>
            </a:r>
            <a:endParaRPr lang="en-US" sz="870" dirty="0"/>
          </a:p>
        </p:txBody>
      </p:sp>
      <p:sp>
        <p:nvSpPr>
          <p:cNvPr id="30" name="Text 28"/>
          <p:cNvSpPr/>
          <p:nvPr/>
        </p:nvSpPr>
        <p:spPr>
          <a:xfrm>
            <a:off x="2606040" y="4485132"/>
            <a:ext cx="23317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Engineer’s own analysis</a:t>
            </a:r>
            <a:endParaRPr lang="en-US" sz="810" dirty="0"/>
          </a:p>
        </p:txBody>
      </p:sp>
      <p:sp>
        <p:nvSpPr>
          <p:cNvPr id="31" name="Text 29"/>
          <p:cNvSpPr/>
          <p:nvPr/>
        </p:nvSpPr>
        <p:spPr>
          <a:xfrm>
            <a:off x="4937760" y="4485132"/>
            <a:ext cx="5074920" cy="608076"/>
          </a:xfrm>
          <a:prstGeom prst="rect">
            <a:avLst/>
          </a:prstGeom>
          <a:solidFill>
            <a:srgbClr val="F0F4F9"/>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Generated by the cost engine’s rule layer and the optimisers — each idea priced in £/part with its lever owner (design / supplier / sourcing); the AI adds display-only commentary at most</a:t>
            </a:r>
            <a:endParaRPr lang="en-US" sz="810" dirty="0"/>
          </a:p>
        </p:txBody>
      </p:sp>
      <p:sp>
        <p:nvSpPr>
          <p:cNvPr id="32" name="Text 30"/>
          <p:cNvSpPr/>
          <p:nvPr/>
        </p:nvSpPr>
        <p:spPr>
          <a:xfrm>
            <a:off x="10012680" y="4485132"/>
            <a:ext cx="1691640" cy="608076"/>
          </a:xfrm>
          <a:prstGeom prst="rect">
            <a:avLst/>
          </a:prstGeom>
          <a:solidFill>
            <a:srgbClr val="F0F4F9"/>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DFM + routing slides</a:t>
            </a:r>
            <a:endParaRPr lang="en-US" sz="810" dirty="0"/>
          </a:p>
        </p:txBody>
      </p:sp>
      <p:sp>
        <p:nvSpPr>
          <p:cNvPr id="33" name="Text 31"/>
          <p:cNvSpPr/>
          <p:nvPr/>
        </p:nvSpPr>
        <p:spPr>
          <a:xfrm>
            <a:off x="457200" y="5093208"/>
            <a:ext cx="2148840" cy="608076"/>
          </a:xfrm>
          <a:prstGeom prst="rect">
            <a:avLst/>
          </a:prstGeom>
          <a:solidFill>
            <a:srgbClr val="FFFFFF"/>
          </a:solidFill>
          <a:ln/>
        </p:spPr>
        <p:txBody>
          <a:bodyPr wrap="square" lIns="762" tIns="762" rIns="762" bIns="762" rtlCol="0" anchor="ctr"/>
          <a:lstStyle/>
          <a:p>
            <a:pPr algn="l" indent="0" marL="0">
              <a:buNone/>
            </a:pPr>
            <a:r>
              <a:rPr lang="en-US" sz="870" b="1" dirty="0">
                <a:solidFill>
                  <a:srgbClr val="16325C"/>
                </a:solidFill>
                <a:latin typeface="Calibri" pitchFamily="34" charset="0"/>
                <a:ea typeface="Calibri" pitchFamily="34" charset="-122"/>
                <a:cs typeface="Calibri" pitchFamily="34" charset="-120"/>
              </a:rPr>
              <a:t>7 · Beyond a conventional tool</a:t>
            </a:r>
            <a:endParaRPr lang="en-US" sz="870" dirty="0"/>
          </a:p>
        </p:txBody>
      </p:sp>
      <p:sp>
        <p:nvSpPr>
          <p:cNvPr id="34" name="Text 32"/>
          <p:cNvSpPr/>
          <p:nvPr/>
        </p:nvSpPr>
        <p:spPr>
          <a:xfrm>
            <a:off x="2606040" y="5093208"/>
            <a:ext cx="23317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a:t>
            </a:r>
            <a:endParaRPr lang="en-US" sz="810" dirty="0"/>
          </a:p>
        </p:txBody>
      </p:sp>
      <p:sp>
        <p:nvSpPr>
          <p:cNvPr id="35" name="Text 33"/>
          <p:cNvSpPr/>
          <p:nvPr/>
        </p:nvSpPr>
        <p:spPr>
          <a:xfrm>
            <a:off x="4937760" y="5093208"/>
            <a:ext cx="5074920" cy="608076"/>
          </a:xfrm>
          <a:prstGeom prst="rect">
            <a:avLst/>
          </a:prstGeom>
          <a:solidFill>
            <a:srgbClr val="FFFFFF"/>
          </a:solidFill>
          <a:ln/>
        </p:spPr>
        <p:txBody>
          <a:bodyPr wrap="square" lIns="762" tIns="762" rIns="762" bIns="762" rtlCol="0" anchor="ctr"/>
          <a:lstStyle/>
          <a:p>
            <a:pPr algn="l" indent="0" marL="0">
              <a:buNone/>
            </a:pPr>
            <a:r>
              <a:rPr lang="en-US" sz="810" dirty="0">
                <a:solidFill>
                  <a:srgbClr val="3A4356"/>
                </a:solidFill>
                <a:latin typeface="Calibri" pitchFamily="34" charset="0"/>
                <a:ea typeface="Calibri" pitchFamily="34" charset="-122"/>
                <a:cs typeface="Calibri" pitchFamily="34" charset="-120"/>
              </a:rPr>
              <a:t>20-region pricing on every run · confidence band · negotiation pack · every cost line carries its printed derivation · self-audit · learns from actuals · landed cost incl. duty/CBAM · carbon · Windows package, no install</a:t>
            </a:r>
            <a:endParaRPr lang="en-US" sz="810" dirty="0"/>
          </a:p>
        </p:txBody>
      </p:sp>
      <p:sp>
        <p:nvSpPr>
          <p:cNvPr id="36" name="Text 34"/>
          <p:cNvSpPr/>
          <p:nvPr/>
        </p:nvSpPr>
        <p:spPr>
          <a:xfrm>
            <a:off x="10012680" y="5093208"/>
            <a:ext cx="1691640" cy="608076"/>
          </a:xfrm>
          <a:prstGeom prst="rect">
            <a:avLst/>
          </a:prstGeom>
          <a:solidFill>
            <a:srgbClr val="FFFFFF"/>
          </a:solidFill>
          <a:ln/>
        </p:spPr>
        <p:txBody>
          <a:bodyPr wrap="square" lIns="762" tIns="762" rIns="762" bIns="762" rtlCol="0" anchor="ctr"/>
          <a:lstStyle/>
          <a:p>
            <a:pPr algn="l" indent="0" marL="0">
              <a:buNone/>
            </a:pPr>
            <a:r>
              <a:rPr lang="en-US" sz="810" i="1" dirty="0">
                <a:solidFill>
                  <a:srgbClr val="686F7D"/>
                </a:solidFill>
                <a:latin typeface="Calibri" pitchFamily="34" charset="0"/>
                <a:ea typeface="Calibri" pitchFamily="34" charset="-122"/>
                <a:cs typeface="Calibri" pitchFamily="34" charset="-120"/>
              </a:rPr>
              <a:t>Throughout the deck</a:t>
            </a:r>
            <a:endParaRPr lang="en-US" sz="810" dirty="0"/>
          </a:p>
        </p:txBody>
      </p:sp>
      <p:sp>
        <p:nvSpPr>
          <p:cNvPr id="37" name="Shape 35"/>
          <p:cNvSpPr/>
          <p:nvPr/>
        </p:nvSpPr>
        <p:spPr>
          <a:xfrm>
            <a:off x="457200" y="5806440"/>
            <a:ext cx="11274552" cy="548640"/>
          </a:xfrm>
          <a:prstGeom prst="roundRect">
            <a:avLst>
              <a:gd name="adj" fmla="val 13333"/>
            </a:avLst>
          </a:prstGeom>
          <a:solidFill>
            <a:srgbClr val="EAF6EF"/>
          </a:solidFill>
          <a:ln w="12700">
            <a:solidFill>
              <a:srgbClr val="2A7F50"/>
            </a:solidFill>
            <a:prstDash val="solid"/>
          </a:ln>
        </p:spPr>
      </p:sp>
      <p:sp>
        <p:nvSpPr>
          <p:cNvPr id="38" name="Text 36"/>
          <p:cNvSpPr/>
          <p:nvPr/>
        </p:nvSpPr>
        <p:spPr>
          <a:xfrm>
            <a:off x="621792" y="5806440"/>
            <a:ext cx="10972800" cy="548640"/>
          </a:xfrm>
          <a:prstGeom prst="rect">
            <a:avLst/>
          </a:prstGeom>
          <a:noFill/>
          <a:ln/>
        </p:spPr>
        <p:txBody>
          <a:bodyPr wrap="square" lIns="0" tIns="0" rIns="0" bIns="0" rtlCol="0" anchor="ctr"/>
          <a:lstStyle/>
          <a:p>
            <a:pPr indent="0" marL="0">
              <a:buNone/>
            </a:pPr>
            <a:r>
              <a:rPr lang="en-US" sz="980" b="1" dirty="0">
                <a:solidFill>
                  <a:srgbClr val="2A7F50"/>
                </a:solidFill>
                <a:latin typeface="Calibri" pitchFamily="34" charset="0"/>
                <a:ea typeface="Calibri" pitchFamily="34" charset="-122"/>
                <a:cs typeface="Calibri" pitchFamily="34" charset="-120"/>
              </a:rPr>
              <a:t>The honest one-liner:  </a:t>
            </a:r>
            <a:pPr indent="0" marL="0">
              <a:buNone/>
            </a:pPr>
            <a:r>
              <a:rPr lang="en-US" sz="980" dirty="0">
                <a:solidFill>
                  <a:srgbClr val="3A4356"/>
                </a:solidFill>
                <a:latin typeface="Calibri" pitchFamily="34" charset="0"/>
                <a:ea typeface="Calibri" pitchFamily="34" charset="-122"/>
                <a:cs typeface="Calibri" pitchFamily="34" charset="-120"/>
              </a:rPr>
              <a:t>CAPEE is a costing calculator that a person feeds; CostVision measures, asks and explains, with the same deterministic arithmetic at its core. At JLR the AI is off; when on, it may classify and comment, and never touches a number.</a:t>
            </a:r>
            <a:endParaRPr lang="en-US" sz="980" dirty="0"/>
          </a:p>
        </p:txBody>
      </p:sp>
      <p:sp>
        <p:nvSpPr>
          <p:cNvPr id="39" name="Text 37"/>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40" name="Text 38"/>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Business Case IV — Evidence, Coverage, Cost to Run</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What is proven, what is covered, what it costs to run — and what is not proven yet</a:t>
            </a:r>
            <a:endParaRPr lang="en-US" sz="1200" dirty="0"/>
          </a:p>
        </p:txBody>
      </p:sp>
      <p:sp>
        <p:nvSpPr>
          <p:cNvPr id="5" name="Shape 3"/>
          <p:cNvSpPr/>
          <p:nvPr/>
        </p:nvSpPr>
        <p:spPr>
          <a:xfrm>
            <a:off x="457200" y="1078992"/>
            <a:ext cx="2706624" cy="1024128"/>
          </a:xfrm>
          <a:prstGeom prst="roundRect">
            <a:avLst>
              <a:gd name="adj" fmla="val 8036"/>
            </a:avLst>
          </a:prstGeom>
          <a:solidFill>
            <a:srgbClr val="FFFFFF"/>
          </a:solidFill>
          <a:ln w="12700">
            <a:solidFill>
              <a:srgbClr val="DCE3EE"/>
            </a:solidFill>
            <a:prstDash val="solid"/>
          </a:ln>
        </p:spPr>
      </p:sp>
      <p:sp>
        <p:nvSpPr>
          <p:cNvPr id="6" name="Text 4"/>
          <p:cNvSpPr/>
          <p:nvPr/>
        </p:nvSpPr>
        <p:spPr>
          <a:xfrm>
            <a:off x="594360" y="1152144"/>
            <a:ext cx="2423160" cy="475488"/>
          </a:xfrm>
          <a:prstGeom prst="rect">
            <a:avLst/>
          </a:prstGeom>
          <a:noFill/>
          <a:ln/>
        </p:spPr>
        <p:txBody>
          <a:bodyPr wrap="square" lIns="0" tIns="0" rIns="0" bIns="0" rtlCol="0" anchor="ctr"/>
          <a:lstStyle/>
          <a:p>
            <a:pPr indent="0" marL="0">
              <a:buNone/>
            </a:pPr>
            <a:r>
              <a:rPr lang="en-US" sz="3000" b="1" dirty="0">
                <a:solidFill>
                  <a:srgbClr val="0D7D71"/>
                </a:solidFill>
                <a:latin typeface="Cambria" pitchFamily="34" charset="0"/>
                <a:ea typeface="Cambria" pitchFamily="34" charset="-122"/>
                <a:cs typeface="Cambria" pitchFamily="34" charset="-120"/>
              </a:rPr>
              <a:t>2,438</a:t>
            </a:r>
            <a:endParaRPr lang="en-US" sz="3000" dirty="0"/>
          </a:p>
        </p:txBody>
      </p:sp>
      <p:sp>
        <p:nvSpPr>
          <p:cNvPr id="7" name="Text 5"/>
          <p:cNvSpPr/>
          <p:nvPr/>
        </p:nvSpPr>
        <p:spPr>
          <a:xfrm>
            <a:off x="594360" y="1645920"/>
            <a:ext cx="2423160" cy="402336"/>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automated tests, plus</a:t>
            </a:r>
            <a:endParaRPr lang="en-US" sz="860" dirty="0"/>
          </a:p>
          <a:p>
            <a:pPr indent="0" marL="0">
              <a:buNone/>
            </a:pPr>
            <a:r>
              <a:rPr lang="en-US" sz="860" dirty="0">
                <a:solidFill>
                  <a:srgbClr val="686F7D"/>
                </a:solidFill>
                <a:latin typeface="Calibri" pitchFamily="34" charset="0"/>
                <a:ea typeface="Calibri" pitchFamily="34" charset="-122"/>
                <a:cs typeface="Calibri" pitchFamily="34" charset="-120"/>
              </a:rPr>
              <a:t>browser tests on every run</a:t>
            </a:r>
            <a:endParaRPr lang="en-US" sz="860" dirty="0"/>
          </a:p>
        </p:txBody>
      </p:sp>
      <p:sp>
        <p:nvSpPr>
          <p:cNvPr id="8" name="Shape 6"/>
          <p:cNvSpPr/>
          <p:nvPr/>
        </p:nvSpPr>
        <p:spPr>
          <a:xfrm>
            <a:off x="3346704" y="1078992"/>
            <a:ext cx="2706624" cy="1024128"/>
          </a:xfrm>
          <a:prstGeom prst="roundRect">
            <a:avLst>
              <a:gd name="adj" fmla="val 8036"/>
            </a:avLst>
          </a:prstGeom>
          <a:solidFill>
            <a:srgbClr val="FFFFFF"/>
          </a:solidFill>
          <a:ln w="12700">
            <a:solidFill>
              <a:srgbClr val="DCE3EE"/>
            </a:solidFill>
            <a:prstDash val="solid"/>
          </a:ln>
        </p:spPr>
      </p:sp>
      <p:sp>
        <p:nvSpPr>
          <p:cNvPr id="9" name="Text 7"/>
          <p:cNvSpPr/>
          <p:nvPr/>
        </p:nvSpPr>
        <p:spPr>
          <a:xfrm>
            <a:off x="3483864" y="1152144"/>
            <a:ext cx="2423160" cy="475488"/>
          </a:xfrm>
          <a:prstGeom prst="rect">
            <a:avLst/>
          </a:prstGeom>
          <a:noFill/>
          <a:ln/>
        </p:spPr>
        <p:txBody>
          <a:bodyPr wrap="square" lIns="0" tIns="0" rIns="0" bIns="0" rtlCol="0" anchor="ctr"/>
          <a:lstStyle/>
          <a:p>
            <a:pPr indent="0" marL="0">
              <a:buNone/>
            </a:pPr>
            <a:r>
              <a:rPr lang="en-US" sz="3000" b="1" dirty="0">
                <a:solidFill>
                  <a:srgbClr val="2A7F50"/>
                </a:solidFill>
                <a:latin typeface="Cambria" pitchFamily="34" charset="0"/>
                <a:ea typeface="Cambria" pitchFamily="34" charset="-122"/>
                <a:cs typeface="Cambria" pitchFamily="34" charset="-120"/>
              </a:rPr>
              <a:t>£0</a:t>
            </a:r>
            <a:endParaRPr lang="en-US" sz="3000" dirty="0"/>
          </a:p>
        </p:txBody>
      </p:sp>
      <p:sp>
        <p:nvSpPr>
          <p:cNvPr id="10" name="Text 8"/>
          <p:cNvSpPr/>
          <p:nvPr/>
        </p:nvSpPr>
        <p:spPr>
          <a:xfrm>
            <a:off x="3483864" y="1645920"/>
            <a:ext cx="2423160" cy="402336"/>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marginal cost per estimate</a:t>
            </a:r>
            <a:endParaRPr lang="en-US" sz="860" dirty="0"/>
          </a:p>
          <a:p>
            <a:pPr indent="0" marL="0">
              <a:buNone/>
            </a:pPr>
            <a:r>
              <a:rPr lang="en-US" sz="860" dirty="0">
                <a:solidFill>
                  <a:srgbClr val="686F7D"/>
                </a:solidFill>
                <a:latin typeface="Calibri" pitchFamily="34" charset="0"/>
                <a:ea typeface="Calibri" pitchFamily="34" charset="-122"/>
                <a:cs typeface="Calibri" pitchFamily="34" charset="-120"/>
              </a:rPr>
              <a:t>— AI off, no call to pay for</a:t>
            </a:r>
            <a:endParaRPr lang="en-US" sz="860" dirty="0"/>
          </a:p>
        </p:txBody>
      </p:sp>
      <p:sp>
        <p:nvSpPr>
          <p:cNvPr id="11" name="Shape 9"/>
          <p:cNvSpPr/>
          <p:nvPr/>
        </p:nvSpPr>
        <p:spPr>
          <a:xfrm>
            <a:off x="6236208" y="1078992"/>
            <a:ext cx="2706624" cy="1024128"/>
          </a:xfrm>
          <a:prstGeom prst="roundRect">
            <a:avLst>
              <a:gd name="adj" fmla="val 8036"/>
            </a:avLst>
          </a:prstGeom>
          <a:solidFill>
            <a:srgbClr val="FFFFFF"/>
          </a:solidFill>
          <a:ln w="12700">
            <a:solidFill>
              <a:srgbClr val="DCE3EE"/>
            </a:solidFill>
            <a:prstDash val="solid"/>
          </a:ln>
        </p:spPr>
      </p:sp>
      <p:sp>
        <p:nvSpPr>
          <p:cNvPr id="12" name="Text 10"/>
          <p:cNvSpPr/>
          <p:nvPr/>
        </p:nvSpPr>
        <p:spPr>
          <a:xfrm>
            <a:off x="6373368" y="1152144"/>
            <a:ext cx="2423160" cy="475488"/>
          </a:xfrm>
          <a:prstGeom prst="rect">
            <a:avLst/>
          </a:prstGeom>
          <a:noFill/>
          <a:ln/>
        </p:spPr>
        <p:txBody>
          <a:bodyPr wrap="square" lIns="0" tIns="0" rIns="0" bIns="0" rtlCol="0" anchor="ctr"/>
          <a:lstStyle/>
          <a:p>
            <a:pPr indent="0" marL="0">
              <a:buNone/>
            </a:pPr>
            <a:r>
              <a:rPr lang="en-US" sz="3000" b="1" dirty="0">
                <a:solidFill>
                  <a:srgbClr val="1D6FB8"/>
                </a:solidFill>
                <a:latin typeface="Cambria" pitchFamily="34" charset="0"/>
                <a:ea typeface="Cambria" pitchFamily="34" charset="-122"/>
                <a:cs typeface="Cambria" pitchFamily="34" charset="-120"/>
              </a:rPr>
              <a:t>20</a:t>
            </a:r>
            <a:endParaRPr lang="en-US" sz="3000" dirty="0"/>
          </a:p>
        </p:txBody>
      </p:sp>
      <p:sp>
        <p:nvSpPr>
          <p:cNvPr id="13" name="Text 11"/>
          <p:cNvSpPr/>
          <p:nvPr/>
        </p:nvSpPr>
        <p:spPr>
          <a:xfrm>
            <a:off x="6373368" y="1645920"/>
            <a:ext cx="2423160" cy="402336"/>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manufacturing regions</a:t>
            </a:r>
            <a:endParaRPr lang="en-US" sz="860" dirty="0"/>
          </a:p>
          <a:p>
            <a:pPr indent="0" marL="0">
              <a:buNone/>
            </a:pPr>
            <a:r>
              <a:rPr lang="en-US" sz="860" dirty="0">
                <a:solidFill>
                  <a:srgbClr val="686F7D"/>
                </a:solidFill>
                <a:latin typeface="Calibri" pitchFamily="34" charset="0"/>
                <a:ea typeface="Calibri" pitchFamily="34" charset="-122"/>
                <a:cs typeface="Calibri" pitchFamily="34" charset="-120"/>
              </a:rPr>
              <a:t>priced on every run</a:t>
            </a:r>
            <a:endParaRPr lang="en-US" sz="860" dirty="0"/>
          </a:p>
        </p:txBody>
      </p:sp>
      <p:sp>
        <p:nvSpPr>
          <p:cNvPr id="14" name="Shape 12"/>
          <p:cNvSpPr/>
          <p:nvPr/>
        </p:nvSpPr>
        <p:spPr>
          <a:xfrm>
            <a:off x="9125712" y="1078992"/>
            <a:ext cx="2706624" cy="1024128"/>
          </a:xfrm>
          <a:prstGeom prst="roundRect">
            <a:avLst>
              <a:gd name="adj" fmla="val 8036"/>
            </a:avLst>
          </a:prstGeom>
          <a:solidFill>
            <a:srgbClr val="FFFFFF"/>
          </a:solidFill>
          <a:ln w="12700">
            <a:solidFill>
              <a:srgbClr val="DCE3EE"/>
            </a:solidFill>
            <a:prstDash val="solid"/>
          </a:ln>
        </p:spPr>
      </p:sp>
      <p:sp>
        <p:nvSpPr>
          <p:cNvPr id="15" name="Text 13"/>
          <p:cNvSpPr/>
          <p:nvPr/>
        </p:nvSpPr>
        <p:spPr>
          <a:xfrm>
            <a:off x="9262872" y="1152144"/>
            <a:ext cx="2423160" cy="475488"/>
          </a:xfrm>
          <a:prstGeom prst="rect">
            <a:avLst/>
          </a:prstGeom>
          <a:noFill/>
          <a:ln/>
        </p:spPr>
        <p:txBody>
          <a:bodyPr wrap="square" lIns="0" tIns="0" rIns="0" bIns="0" rtlCol="0" anchor="ctr"/>
          <a:lstStyle/>
          <a:p>
            <a:pPr indent="0" marL="0">
              <a:buNone/>
            </a:pPr>
            <a:r>
              <a:rPr lang="en-US" sz="3000" b="1" dirty="0">
                <a:solidFill>
                  <a:srgbClr val="16325C"/>
                </a:solidFill>
                <a:latin typeface="Cambria" pitchFamily="34" charset="0"/>
                <a:ea typeface="Cambria" pitchFamily="34" charset="-122"/>
                <a:cs typeface="Cambria" pitchFamily="34" charset="-120"/>
              </a:rPr>
              <a:t>Every</a:t>
            </a:r>
            <a:endParaRPr lang="en-US" sz="3000" dirty="0"/>
          </a:p>
        </p:txBody>
      </p:sp>
      <p:sp>
        <p:nvSpPr>
          <p:cNvPr id="16" name="Text 14"/>
          <p:cNvSpPr/>
          <p:nvPr/>
        </p:nvSpPr>
        <p:spPr>
          <a:xfrm>
            <a:off x="9262872" y="1645920"/>
            <a:ext cx="2423160" cy="402336"/>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cost line carries its</a:t>
            </a:r>
            <a:endParaRPr lang="en-US" sz="860" dirty="0"/>
          </a:p>
          <a:p>
            <a:pPr indent="0" marL="0">
              <a:buNone/>
            </a:pPr>
            <a:r>
              <a:rPr lang="en-US" sz="860" dirty="0">
                <a:solidFill>
                  <a:srgbClr val="686F7D"/>
                </a:solidFill>
                <a:latin typeface="Calibri" pitchFamily="34" charset="0"/>
                <a:ea typeface="Calibri" pitchFamily="34" charset="-122"/>
                <a:cs typeface="Calibri" pitchFamily="34" charset="-120"/>
              </a:rPr>
              <a:t>own printed derivation</a:t>
            </a:r>
            <a:endParaRPr lang="en-US" sz="860" dirty="0"/>
          </a:p>
        </p:txBody>
      </p:sp>
      <p:sp>
        <p:nvSpPr>
          <p:cNvPr id="17" name="Text 15"/>
          <p:cNvSpPr/>
          <p:nvPr/>
        </p:nvSpPr>
        <p:spPr>
          <a:xfrm>
            <a:off x="457200" y="2340864"/>
            <a:ext cx="6949440" cy="201168"/>
          </a:xfrm>
          <a:prstGeom prst="rect">
            <a:avLst/>
          </a:prstGeom>
          <a:noFill/>
          <a:ln/>
        </p:spPr>
        <p:txBody>
          <a:bodyPr wrap="square" lIns="0" tIns="0" rIns="0" bIns="0" rtlCol="0" anchor="ctr"/>
          <a:lstStyle/>
          <a:p>
            <a:pPr indent="0" marL="0">
              <a:buNone/>
            </a:pPr>
            <a:r>
              <a:rPr lang="en-US" sz="850" b="1" spc="50" kern="0" dirty="0">
                <a:solidFill>
                  <a:srgbClr val="16325C"/>
                </a:solidFill>
                <a:latin typeface="Calibri" pitchFamily="34" charset="0"/>
                <a:ea typeface="Calibri" pitchFamily="34" charset="-122"/>
                <a:cs typeface="Calibri" pitchFamily="34" charset="-120"/>
              </a:rPr>
              <a:t>WHAT IS PROVEN — AND WHAT IS NOT</a:t>
            </a:r>
            <a:endParaRPr lang="en-US" sz="850" dirty="0"/>
          </a:p>
        </p:txBody>
      </p:sp>
      <p:sp>
        <p:nvSpPr>
          <p:cNvPr id="18" name="Text 16"/>
          <p:cNvSpPr/>
          <p:nvPr/>
        </p:nvSpPr>
        <p:spPr>
          <a:xfrm>
            <a:off x="457200" y="2578608"/>
            <a:ext cx="2240280" cy="219456"/>
          </a:xfrm>
          <a:prstGeom prst="rect">
            <a:avLst/>
          </a:prstGeom>
          <a:solidFill>
            <a:srgbClr val="16325C"/>
          </a:solidFill>
          <a:ln/>
        </p:spPr>
        <p:txBody>
          <a:bodyPr wrap="square" lIns="508" tIns="508" rIns="508" bIns="508" rtlCol="0" anchor="ctr"/>
          <a:lstStyle/>
          <a:p>
            <a:pPr algn="l" indent="0" marL="0">
              <a:buNone/>
            </a:pPr>
            <a:r>
              <a:rPr lang="en-US" sz="820" b="1" dirty="0">
                <a:solidFill>
                  <a:srgbClr val="FFFFFF"/>
                </a:solidFill>
                <a:latin typeface="Calibri" pitchFamily="34" charset="0"/>
                <a:ea typeface="Calibri" pitchFamily="34" charset="-122"/>
                <a:cs typeface="Calibri" pitchFamily="34" charset="-120"/>
              </a:rPr>
              <a:t>Check</a:t>
            </a:r>
            <a:endParaRPr lang="en-US" sz="820" dirty="0"/>
          </a:p>
        </p:txBody>
      </p:sp>
      <p:sp>
        <p:nvSpPr>
          <p:cNvPr id="19" name="Text 17"/>
          <p:cNvSpPr/>
          <p:nvPr/>
        </p:nvSpPr>
        <p:spPr>
          <a:xfrm>
            <a:off x="2697480" y="2578608"/>
            <a:ext cx="2971800" cy="219456"/>
          </a:xfrm>
          <a:prstGeom prst="rect">
            <a:avLst/>
          </a:prstGeom>
          <a:solidFill>
            <a:srgbClr val="16325C"/>
          </a:solidFill>
          <a:ln/>
        </p:spPr>
        <p:txBody>
          <a:bodyPr wrap="square" lIns="508" tIns="508" rIns="508" bIns="508" rtlCol="0" anchor="ctr"/>
          <a:lstStyle/>
          <a:p>
            <a:pPr algn="l" indent="0" marL="0">
              <a:buNone/>
            </a:pPr>
            <a:r>
              <a:rPr lang="en-US" sz="820" b="1" dirty="0">
                <a:solidFill>
                  <a:srgbClr val="FFFFFF"/>
                </a:solidFill>
                <a:latin typeface="Calibri" pitchFamily="34" charset="0"/>
                <a:ea typeface="Calibri" pitchFamily="34" charset="-122"/>
                <a:cs typeface="Calibri" pitchFamily="34" charset="-120"/>
              </a:rPr>
              <a:t>Status today</a:t>
            </a:r>
            <a:endParaRPr lang="en-US" sz="820" dirty="0"/>
          </a:p>
        </p:txBody>
      </p:sp>
      <p:sp>
        <p:nvSpPr>
          <p:cNvPr id="20" name="Text 18"/>
          <p:cNvSpPr/>
          <p:nvPr/>
        </p:nvSpPr>
        <p:spPr>
          <a:xfrm>
            <a:off x="457200" y="2798064"/>
            <a:ext cx="2240280" cy="288036"/>
          </a:xfrm>
          <a:prstGeom prst="rect">
            <a:avLst/>
          </a:prstGeom>
          <a:solidFill>
            <a:srgbClr val="FFFFFF"/>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Arithmetic vs a hand calculation</a:t>
            </a:r>
            <a:endParaRPr lang="en-US" sz="830" dirty="0"/>
          </a:p>
        </p:txBody>
      </p:sp>
      <p:sp>
        <p:nvSpPr>
          <p:cNvPr id="21" name="Text 19"/>
          <p:cNvSpPr/>
          <p:nvPr/>
        </p:nvSpPr>
        <p:spPr>
          <a:xfrm>
            <a:off x="2697480" y="2798064"/>
            <a:ext cx="2971800" cy="288036"/>
          </a:xfrm>
          <a:prstGeom prst="rect">
            <a:avLst/>
          </a:prstGeom>
          <a:solidFill>
            <a:srgbClr val="FFFFFF"/>
          </a:solidFill>
          <a:ln/>
        </p:spPr>
        <p:txBody>
          <a:bodyPr wrap="square" lIns="508" tIns="508" rIns="508" bIns="508" rtlCol="0" anchor="ctr"/>
          <a:lstStyle/>
          <a:p>
            <a:pPr algn="l" indent="0" marL="0">
              <a:buNone/>
            </a:pPr>
            <a:r>
              <a:rPr lang="en-US" sz="830" b="1" dirty="0">
                <a:solidFill>
                  <a:srgbClr val="2A7F50"/>
                </a:solidFill>
                <a:latin typeface="Calibri" pitchFamily="34" charset="0"/>
                <a:ea typeface="Calibri" pitchFamily="34" charset="-122"/>
                <a:cs typeface="Calibri" pitchFamily="34" charset="-120"/>
              </a:rPr>
              <a:t>Matches to under 0.01%</a:t>
            </a:r>
            <a:endParaRPr lang="en-US" sz="830" dirty="0"/>
          </a:p>
        </p:txBody>
      </p:sp>
      <p:sp>
        <p:nvSpPr>
          <p:cNvPr id="22" name="Text 20"/>
          <p:cNvSpPr/>
          <p:nvPr/>
        </p:nvSpPr>
        <p:spPr>
          <a:xfrm>
            <a:off x="457200" y="3086100"/>
            <a:ext cx="2240280" cy="288036"/>
          </a:xfrm>
          <a:prstGeom prst="rect">
            <a:avLst/>
          </a:prstGeom>
          <a:solidFill>
            <a:srgbClr val="F0F4F9"/>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6 real production parts</a:t>
            </a:r>
            <a:endParaRPr lang="en-US" sz="830" dirty="0"/>
          </a:p>
        </p:txBody>
      </p:sp>
      <p:sp>
        <p:nvSpPr>
          <p:cNvPr id="23" name="Text 21"/>
          <p:cNvSpPr/>
          <p:nvPr/>
        </p:nvSpPr>
        <p:spPr>
          <a:xfrm>
            <a:off x="2697480" y="3086100"/>
            <a:ext cx="2971800" cy="288036"/>
          </a:xfrm>
          <a:prstGeom prst="rect">
            <a:avLst/>
          </a:prstGeom>
          <a:solidFill>
            <a:srgbClr val="F0F4F9"/>
          </a:solidFill>
          <a:ln/>
        </p:spPr>
        <p:txBody>
          <a:bodyPr wrap="square" lIns="508" tIns="508" rIns="508" bIns="508" rtlCol="0" anchor="ctr"/>
          <a:lstStyle/>
          <a:p>
            <a:pPr algn="l" indent="0" marL="0">
              <a:buNone/>
            </a:pPr>
            <a:r>
              <a:rPr lang="en-US" sz="830" b="1" dirty="0">
                <a:solidFill>
                  <a:srgbClr val="2A7F50"/>
                </a:solidFill>
                <a:latin typeface="Calibri" pitchFamily="34" charset="0"/>
                <a:ea typeface="Calibri" pitchFamily="34" charset="-122"/>
                <a:cs typeface="Calibri" pitchFamily="34" charset="-120"/>
              </a:rPr>
              <a:t>Pinned; a change fails the build</a:t>
            </a:r>
            <a:endParaRPr lang="en-US" sz="830" dirty="0"/>
          </a:p>
        </p:txBody>
      </p:sp>
      <p:sp>
        <p:nvSpPr>
          <p:cNvPr id="24" name="Text 22"/>
          <p:cNvSpPr/>
          <p:nvPr/>
        </p:nvSpPr>
        <p:spPr>
          <a:xfrm>
            <a:off x="457200" y="3374136"/>
            <a:ext cx="2240280" cy="288036"/>
          </a:xfrm>
          <a:prstGeom prst="rect">
            <a:avLst/>
          </a:prstGeom>
          <a:solidFill>
            <a:srgbClr val="FFFFFF"/>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Automated tests</a:t>
            </a:r>
            <a:endParaRPr lang="en-US" sz="830" dirty="0"/>
          </a:p>
        </p:txBody>
      </p:sp>
      <p:sp>
        <p:nvSpPr>
          <p:cNvPr id="25" name="Text 23"/>
          <p:cNvSpPr/>
          <p:nvPr/>
        </p:nvSpPr>
        <p:spPr>
          <a:xfrm>
            <a:off x="2697480" y="3374136"/>
            <a:ext cx="2971800" cy="288036"/>
          </a:xfrm>
          <a:prstGeom prst="rect">
            <a:avLst/>
          </a:prstGeom>
          <a:solidFill>
            <a:srgbClr val="FFFFFF"/>
          </a:solidFill>
          <a:ln/>
        </p:spPr>
        <p:txBody>
          <a:bodyPr wrap="square" lIns="508" tIns="508" rIns="508" bIns="508" rtlCol="0" anchor="ctr"/>
          <a:lstStyle/>
          <a:p>
            <a:pPr algn="l" indent="0" marL="0">
              <a:buNone/>
            </a:pPr>
            <a:r>
              <a:rPr lang="en-US" sz="830" b="1" dirty="0">
                <a:solidFill>
                  <a:srgbClr val="2A7F50"/>
                </a:solidFill>
                <a:latin typeface="Calibri" pitchFamily="34" charset="0"/>
                <a:ea typeface="Calibri" pitchFamily="34" charset="-122"/>
                <a:cs typeface="Calibri" pitchFamily="34" charset="-120"/>
              </a:rPr>
              <a:t>2,438 + browser tests every run</a:t>
            </a:r>
            <a:endParaRPr lang="en-US" sz="830" dirty="0"/>
          </a:p>
        </p:txBody>
      </p:sp>
      <p:sp>
        <p:nvSpPr>
          <p:cNvPr id="26" name="Text 24"/>
          <p:cNvSpPr/>
          <p:nvPr/>
        </p:nvSpPr>
        <p:spPr>
          <a:xfrm>
            <a:off x="457200" y="3662172"/>
            <a:ext cx="2240280" cy="288036"/>
          </a:xfrm>
          <a:prstGeom prst="rect">
            <a:avLst/>
          </a:prstGeom>
          <a:solidFill>
            <a:srgbClr val="F0F4F9"/>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Same file, same answers</a:t>
            </a:r>
            <a:endParaRPr lang="en-US" sz="830" dirty="0"/>
          </a:p>
        </p:txBody>
      </p:sp>
      <p:sp>
        <p:nvSpPr>
          <p:cNvPr id="27" name="Text 25"/>
          <p:cNvSpPr/>
          <p:nvPr/>
        </p:nvSpPr>
        <p:spPr>
          <a:xfrm>
            <a:off x="2697480" y="3662172"/>
            <a:ext cx="2971800" cy="288036"/>
          </a:xfrm>
          <a:prstGeom prst="rect">
            <a:avLst/>
          </a:prstGeom>
          <a:solidFill>
            <a:srgbClr val="F0F4F9"/>
          </a:solidFill>
          <a:ln/>
        </p:spPr>
        <p:txBody>
          <a:bodyPr wrap="square" lIns="508" tIns="508" rIns="508" bIns="508" rtlCol="0" anchor="ctr"/>
          <a:lstStyle/>
          <a:p>
            <a:pPr algn="l" indent="0" marL="0">
              <a:buNone/>
            </a:pPr>
            <a:r>
              <a:rPr lang="en-US" sz="830" b="1" dirty="0">
                <a:solidFill>
                  <a:srgbClr val="2A7F50"/>
                </a:solidFill>
                <a:latin typeface="Calibri" pitchFamily="34" charset="0"/>
                <a:ea typeface="Calibri" pitchFamily="34" charset="-122"/>
                <a:cs typeface="Calibri" pitchFamily="34" charset="-120"/>
              </a:rPr>
              <a:t>Same price, every time</a:t>
            </a:r>
            <a:endParaRPr lang="en-US" sz="830" dirty="0"/>
          </a:p>
        </p:txBody>
      </p:sp>
      <p:sp>
        <p:nvSpPr>
          <p:cNvPr id="28" name="Text 26"/>
          <p:cNvSpPr/>
          <p:nvPr/>
        </p:nvSpPr>
        <p:spPr>
          <a:xfrm>
            <a:off x="457200" y="3950208"/>
            <a:ext cx="2240280" cy="288036"/>
          </a:xfrm>
          <a:prstGeom prst="rect">
            <a:avLst/>
          </a:prstGeom>
          <a:solidFill>
            <a:srgbClr val="FFFFFF"/>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Estimate vs a price JLR paid</a:t>
            </a:r>
            <a:endParaRPr lang="en-US" sz="830" dirty="0"/>
          </a:p>
        </p:txBody>
      </p:sp>
      <p:sp>
        <p:nvSpPr>
          <p:cNvPr id="29" name="Text 27"/>
          <p:cNvSpPr/>
          <p:nvPr/>
        </p:nvSpPr>
        <p:spPr>
          <a:xfrm>
            <a:off x="2697480" y="3950208"/>
            <a:ext cx="2971800" cy="288036"/>
          </a:xfrm>
          <a:prstGeom prst="rect">
            <a:avLst/>
          </a:prstGeom>
          <a:solidFill>
            <a:srgbClr val="FFFFFF"/>
          </a:solidFill>
          <a:ln/>
        </p:spPr>
        <p:txBody>
          <a:bodyPr wrap="square" lIns="508" tIns="508" rIns="508" bIns="508" rtlCol="0" anchor="ctr"/>
          <a:lstStyle/>
          <a:p>
            <a:pPr algn="l" indent="0" marL="0">
              <a:buNone/>
            </a:pPr>
            <a:r>
              <a:rPr lang="en-US" sz="830" b="1" dirty="0">
                <a:solidFill>
                  <a:srgbClr val="99651A"/>
                </a:solidFill>
                <a:latin typeface="Calibri" pitchFamily="34" charset="0"/>
                <a:ea typeface="Calibri" pitchFamily="34" charset="-122"/>
                <a:cs typeface="Calibri" pitchFamily="34" charset="-120"/>
              </a:rPr>
              <a:t>Not yet compared</a:t>
            </a:r>
            <a:endParaRPr lang="en-US" sz="830" dirty="0"/>
          </a:p>
        </p:txBody>
      </p:sp>
      <p:sp>
        <p:nvSpPr>
          <p:cNvPr id="30" name="Text 28"/>
          <p:cNvSpPr/>
          <p:nvPr/>
        </p:nvSpPr>
        <p:spPr>
          <a:xfrm>
            <a:off x="457200" y="4238244"/>
            <a:ext cx="2240280" cy="288036"/>
          </a:xfrm>
          <a:prstGeom prst="rect">
            <a:avLst/>
          </a:prstGeom>
          <a:solidFill>
            <a:srgbClr val="F0F4F9"/>
          </a:solidFill>
          <a:ln/>
        </p:spPr>
        <p:txBody>
          <a:bodyPr wrap="square" lIns="508" tIns="508" rIns="508" bIns="508" rtlCol="0" anchor="ctr"/>
          <a:lstStyle/>
          <a:p>
            <a:pPr algn="l" indent="0" marL="0">
              <a:buNone/>
            </a:pPr>
            <a:r>
              <a:rPr lang="en-US" sz="830" dirty="0">
                <a:solidFill>
                  <a:srgbClr val="3A4356"/>
                </a:solidFill>
                <a:latin typeface="Calibri" pitchFamily="34" charset="0"/>
                <a:ea typeface="Calibri" pitchFamily="34" charset="-122"/>
                <a:cs typeface="Calibri" pitchFamily="34" charset="-120"/>
              </a:rPr>
              <a:t>An accuracy percentage</a:t>
            </a:r>
            <a:endParaRPr lang="en-US" sz="830" dirty="0"/>
          </a:p>
        </p:txBody>
      </p:sp>
      <p:sp>
        <p:nvSpPr>
          <p:cNvPr id="31" name="Text 29"/>
          <p:cNvSpPr/>
          <p:nvPr/>
        </p:nvSpPr>
        <p:spPr>
          <a:xfrm>
            <a:off x="2697480" y="4238244"/>
            <a:ext cx="2971800" cy="288036"/>
          </a:xfrm>
          <a:prstGeom prst="rect">
            <a:avLst/>
          </a:prstGeom>
          <a:solidFill>
            <a:srgbClr val="F0F4F9"/>
          </a:solidFill>
          <a:ln/>
        </p:spPr>
        <p:txBody>
          <a:bodyPr wrap="square" lIns="508" tIns="508" rIns="508" bIns="508" rtlCol="0" anchor="ctr"/>
          <a:lstStyle/>
          <a:p>
            <a:pPr algn="l" indent="0" marL="0">
              <a:buNone/>
            </a:pPr>
            <a:r>
              <a:rPr lang="en-US" sz="830" b="1" dirty="0">
                <a:solidFill>
                  <a:srgbClr val="99651A"/>
                </a:solidFill>
                <a:latin typeface="Calibri" pitchFamily="34" charset="0"/>
                <a:ea typeface="Calibri" pitchFamily="34" charset="-122"/>
                <a:cs typeface="Calibri" pitchFamily="34" charset="-120"/>
              </a:rPr>
              <a:t>Not claimed — measured as actuals are logged</a:t>
            </a:r>
            <a:endParaRPr lang="en-US" sz="830" dirty="0"/>
          </a:p>
        </p:txBody>
      </p:sp>
      <p:sp>
        <p:nvSpPr>
          <p:cNvPr id="32" name="Text 30"/>
          <p:cNvSpPr/>
          <p:nvPr/>
        </p:nvSpPr>
        <p:spPr>
          <a:xfrm>
            <a:off x="457200" y="4590288"/>
            <a:ext cx="5394960" cy="731520"/>
          </a:xfrm>
          <a:prstGeom prst="rect">
            <a:avLst/>
          </a:prstGeom>
          <a:noFill/>
          <a:ln/>
        </p:spPr>
        <p:txBody>
          <a:bodyPr wrap="square" lIns="0" tIns="0" rIns="0" bIns="0" rtlCol="0" anchor="t"/>
          <a:lstStyle/>
          <a:p>
            <a:pPr indent="0" marL="0">
              <a:buNone/>
            </a:pPr>
            <a:r>
              <a:rPr lang="en-US" sz="900" b="1" dirty="0">
                <a:solidFill>
                  <a:srgbClr val="16325C"/>
                </a:solidFill>
                <a:latin typeface="Calibri" pitchFamily="34" charset="0"/>
                <a:ea typeface="Calibri" pitchFamily="34" charset="-122"/>
                <a:cs typeface="Calibri" pitchFamily="34" charset="-120"/>
              </a:rPr>
              <a:t>Pinned means the answer cannot move without us noticing — not that it is proven right. </a:t>
            </a:r>
            <a:pPr indent="0" marL="0">
              <a:buNone/>
            </a:pPr>
            <a:r>
              <a:rPr lang="en-US" sz="900" dirty="0">
                <a:solidFill>
                  <a:srgbClr val="3A4356"/>
                </a:solidFill>
                <a:latin typeface="Calibri" pitchFamily="34" charset="0"/>
                <a:ea typeface="Calibri" pitchFamily="34" charset="-122"/>
                <a:cs typeface="Calibri" pitchFamily="34" charset="-120"/>
              </a:rPr>
              <a:t>Accuracy is measured as real quotes and PO prices are logged; after 3 for a commodity the band is corrected by real data.</a:t>
            </a:r>
            <a:endParaRPr lang="en-US" sz="900" dirty="0"/>
          </a:p>
        </p:txBody>
      </p:sp>
      <p:graphicFrame>
        <p:nvGraphicFramePr>
          <p:cNvPr id="33" name="Chart 0" descr=""/>
          <p:cNvGraphicFramePr/>
          <p:nvPr/>
        </p:nvGraphicFramePr>
        <p:xfrm>
          <a:off x="6035040" y="2432304"/>
          <a:ext cx="2834640" cy="2286000"/>
        </p:xfrm>
        <a:graphic xmlns:a="http://schemas.openxmlformats.org/drawingml/2006/main">
          <a:graphicData uri="http://schemas.openxmlformats.org/drawingml/2006/chart">
            <c:chart xmlns:c="http://schemas.openxmlformats.org/drawingml/2006/chart" r:id="rId1"/>
          </a:graphicData>
        </a:graphic>
      </p:graphicFrame>
      <p:sp>
        <p:nvSpPr>
          <p:cNvPr id="34" name="Shape 31"/>
          <p:cNvSpPr/>
          <p:nvPr/>
        </p:nvSpPr>
        <p:spPr>
          <a:xfrm>
            <a:off x="9098280" y="2487168"/>
            <a:ext cx="2633472" cy="2176272"/>
          </a:xfrm>
          <a:prstGeom prst="roundRect">
            <a:avLst>
              <a:gd name="adj" fmla="val 3782"/>
            </a:avLst>
          </a:prstGeom>
          <a:solidFill>
            <a:srgbClr val="FFFFFF"/>
          </a:solidFill>
          <a:ln w="12700">
            <a:solidFill>
              <a:srgbClr val="DCE3EE"/>
            </a:solidFill>
            <a:prstDash val="solid"/>
          </a:ln>
        </p:spPr>
      </p:sp>
      <p:sp>
        <p:nvSpPr>
          <p:cNvPr id="35" name="Text 32"/>
          <p:cNvSpPr/>
          <p:nvPr/>
        </p:nvSpPr>
        <p:spPr>
          <a:xfrm>
            <a:off x="9235440" y="2560320"/>
            <a:ext cx="2377440" cy="201168"/>
          </a:xfrm>
          <a:prstGeom prst="rect">
            <a:avLst/>
          </a:prstGeom>
          <a:noFill/>
          <a:ln/>
        </p:spPr>
        <p:txBody>
          <a:bodyPr wrap="square" lIns="0" tIns="0" rIns="0" bIns="0" rtlCol="0" anchor="ctr"/>
          <a:lstStyle/>
          <a:p>
            <a:pPr indent="0" marL="0">
              <a:buNone/>
            </a:pPr>
            <a:r>
              <a:rPr lang="en-US" sz="850" b="1" spc="30" kern="0" dirty="0">
                <a:solidFill>
                  <a:srgbClr val="16325C"/>
                </a:solidFill>
                <a:latin typeface="Calibri" pitchFamily="34" charset="0"/>
                <a:ea typeface="Calibri" pitchFamily="34" charset="-122"/>
                <a:cs typeface="Calibri" pitchFamily="34" charset="-120"/>
              </a:rPr>
              <a:t>RATE LIBRARY 2.1.0 · 16 JUNE 2026</a:t>
            </a:r>
            <a:endParaRPr lang="en-US" sz="850" dirty="0"/>
          </a:p>
        </p:txBody>
      </p:sp>
      <p:sp>
        <p:nvSpPr>
          <p:cNvPr id="36" name="Text 33"/>
          <p:cNvSpPr/>
          <p:nvPr/>
        </p:nvSpPr>
        <p:spPr>
          <a:xfrm>
            <a:off x="9235440" y="2834640"/>
            <a:ext cx="822960" cy="384048"/>
          </a:xfrm>
          <a:prstGeom prst="rect">
            <a:avLst/>
          </a:prstGeom>
          <a:noFill/>
          <a:ln/>
        </p:spPr>
        <p:txBody>
          <a:bodyPr wrap="square" lIns="0" tIns="0" rIns="0" bIns="0" rtlCol="0" anchor="ctr"/>
          <a:lstStyle/>
          <a:p>
            <a:pPr indent="0" marL="0">
              <a:buNone/>
            </a:pPr>
            <a:r>
              <a:rPr lang="en-US" sz="1800" b="1" dirty="0">
                <a:solidFill>
                  <a:srgbClr val="0D7D71"/>
                </a:solidFill>
                <a:latin typeface="Cambria" pitchFamily="34" charset="0"/>
                <a:ea typeface="Cambria" pitchFamily="34" charset="-122"/>
                <a:cs typeface="Cambria" pitchFamily="34" charset="-120"/>
              </a:rPr>
              <a:t>328</a:t>
            </a:r>
            <a:endParaRPr lang="en-US" sz="1800" dirty="0"/>
          </a:p>
        </p:txBody>
      </p:sp>
      <p:sp>
        <p:nvSpPr>
          <p:cNvPr id="37" name="Text 34"/>
          <p:cNvSpPr/>
          <p:nvPr/>
        </p:nvSpPr>
        <p:spPr>
          <a:xfrm>
            <a:off x="10104120" y="2834640"/>
            <a:ext cx="1554480" cy="384048"/>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materials</a:t>
            </a:r>
            <a:endParaRPr lang="en-US" sz="1000" dirty="0"/>
          </a:p>
        </p:txBody>
      </p:sp>
      <p:sp>
        <p:nvSpPr>
          <p:cNvPr id="38" name="Text 35"/>
          <p:cNvSpPr/>
          <p:nvPr/>
        </p:nvSpPr>
        <p:spPr>
          <a:xfrm>
            <a:off x="9235440" y="3264408"/>
            <a:ext cx="822960" cy="384048"/>
          </a:xfrm>
          <a:prstGeom prst="rect">
            <a:avLst/>
          </a:prstGeom>
          <a:noFill/>
          <a:ln/>
        </p:spPr>
        <p:txBody>
          <a:bodyPr wrap="square" lIns="0" tIns="0" rIns="0" bIns="0" rtlCol="0" anchor="ctr"/>
          <a:lstStyle/>
          <a:p>
            <a:pPr indent="0" marL="0">
              <a:buNone/>
            </a:pPr>
            <a:r>
              <a:rPr lang="en-US" sz="1800" b="1" dirty="0">
                <a:solidFill>
                  <a:srgbClr val="0D7D71"/>
                </a:solidFill>
                <a:latin typeface="Cambria" pitchFamily="34" charset="0"/>
                <a:ea typeface="Cambria" pitchFamily="34" charset="-122"/>
                <a:cs typeface="Cambria" pitchFamily="34" charset="-120"/>
              </a:rPr>
              <a:t>178</a:t>
            </a:r>
            <a:endParaRPr lang="en-US" sz="1800" dirty="0"/>
          </a:p>
        </p:txBody>
      </p:sp>
      <p:sp>
        <p:nvSpPr>
          <p:cNvPr id="39" name="Text 36"/>
          <p:cNvSpPr/>
          <p:nvPr/>
        </p:nvSpPr>
        <p:spPr>
          <a:xfrm>
            <a:off x="10104120" y="3264408"/>
            <a:ext cx="1554480" cy="384048"/>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machines</a:t>
            </a:r>
            <a:endParaRPr lang="en-US" sz="1000" dirty="0"/>
          </a:p>
        </p:txBody>
      </p:sp>
      <p:sp>
        <p:nvSpPr>
          <p:cNvPr id="40" name="Text 37"/>
          <p:cNvSpPr/>
          <p:nvPr/>
        </p:nvSpPr>
        <p:spPr>
          <a:xfrm>
            <a:off x="9235440" y="3694176"/>
            <a:ext cx="822960" cy="384048"/>
          </a:xfrm>
          <a:prstGeom prst="rect">
            <a:avLst/>
          </a:prstGeom>
          <a:noFill/>
          <a:ln/>
        </p:spPr>
        <p:txBody>
          <a:bodyPr wrap="square" lIns="0" tIns="0" rIns="0" bIns="0" rtlCol="0" anchor="ctr"/>
          <a:lstStyle/>
          <a:p>
            <a:pPr indent="0" marL="0">
              <a:buNone/>
            </a:pPr>
            <a:r>
              <a:rPr lang="en-US" sz="1800" b="1" dirty="0">
                <a:solidFill>
                  <a:srgbClr val="0D7D71"/>
                </a:solidFill>
                <a:latin typeface="Cambria" pitchFamily="34" charset="0"/>
                <a:ea typeface="Cambria" pitchFamily="34" charset="-122"/>
                <a:cs typeface="Cambria" pitchFamily="34" charset="-120"/>
              </a:rPr>
              <a:t>42</a:t>
            </a:r>
            <a:endParaRPr lang="en-US" sz="1800" dirty="0"/>
          </a:p>
        </p:txBody>
      </p:sp>
      <p:sp>
        <p:nvSpPr>
          <p:cNvPr id="41" name="Text 38"/>
          <p:cNvSpPr/>
          <p:nvPr/>
        </p:nvSpPr>
        <p:spPr>
          <a:xfrm>
            <a:off x="10104120" y="3694176"/>
            <a:ext cx="1554480" cy="384048"/>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labour grades</a:t>
            </a:r>
            <a:endParaRPr lang="en-US" sz="1000" dirty="0"/>
          </a:p>
        </p:txBody>
      </p:sp>
      <p:sp>
        <p:nvSpPr>
          <p:cNvPr id="42" name="Text 39"/>
          <p:cNvSpPr/>
          <p:nvPr/>
        </p:nvSpPr>
        <p:spPr>
          <a:xfrm>
            <a:off x="9235440" y="4123944"/>
            <a:ext cx="822960" cy="384048"/>
          </a:xfrm>
          <a:prstGeom prst="rect">
            <a:avLst/>
          </a:prstGeom>
          <a:noFill/>
          <a:ln/>
        </p:spPr>
        <p:txBody>
          <a:bodyPr wrap="square" lIns="0" tIns="0" rIns="0" bIns="0" rtlCol="0" anchor="ctr"/>
          <a:lstStyle/>
          <a:p>
            <a:pPr indent="0" marL="0">
              <a:buNone/>
            </a:pPr>
            <a:r>
              <a:rPr lang="en-US" sz="1800" b="1" dirty="0">
                <a:solidFill>
                  <a:srgbClr val="0D7D71"/>
                </a:solidFill>
                <a:latin typeface="Cambria" pitchFamily="34" charset="0"/>
                <a:ea typeface="Cambria" pitchFamily="34" charset="-122"/>
                <a:cs typeface="Cambria" pitchFamily="34" charset="-120"/>
              </a:rPr>
              <a:t>20</a:t>
            </a:r>
            <a:endParaRPr lang="en-US" sz="1800" dirty="0"/>
          </a:p>
        </p:txBody>
      </p:sp>
      <p:sp>
        <p:nvSpPr>
          <p:cNvPr id="43" name="Text 40"/>
          <p:cNvSpPr/>
          <p:nvPr/>
        </p:nvSpPr>
        <p:spPr>
          <a:xfrm>
            <a:off x="10104120" y="4123944"/>
            <a:ext cx="1554480" cy="384048"/>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regions</a:t>
            </a:r>
            <a:endParaRPr lang="en-US" sz="1000" dirty="0"/>
          </a:p>
        </p:txBody>
      </p:sp>
      <p:sp>
        <p:nvSpPr>
          <p:cNvPr id="44" name="Shape 41"/>
          <p:cNvSpPr/>
          <p:nvPr/>
        </p:nvSpPr>
        <p:spPr>
          <a:xfrm>
            <a:off x="457200" y="5440680"/>
            <a:ext cx="11274552" cy="932688"/>
          </a:xfrm>
          <a:prstGeom prst="roundRect">
            <a:avLst>
              <a:gd name="adj" fmla="val 8824"/>
            </a:avLst>
          </a:prstGeom>
          <a:solidFill>
            <a:srgbClr val="FCF3E3"/>
          </a:solidFill>
          <a:ln w="12700">
            <a:solidFill>
              <a:srgbClr val="99651A"/>
            </a:solidFill>
            <a:prstDash val="solid"/>
          </a:ln>
        </p:spPr>
      </p:sp>
      <p:pic>
        <p:nvPicPr>
          <p:cNvPr id="45" name="Image 0" descr="preencoded.png">    </p:cNvPr>
          <p:cNvPicPr>
            <a:picLocks noChangeAspect="1"/>
          </p:cNvPicPr>
          <p:nvPr/>
        </p:nvPicPr>
        <p:blipFill>
          <a:blip r:embed="rId2"/>
          <a:stretch>
            <a:fillRect/>
          </a:stretch>
        </p:blipFill>
        <p:spPr>
          <a:xfrm>
            <a:off x="621792" y="5596128"/>
            <a:ext cx="237744" cy="237744"/>
          </a:xfrm>
          <a:prstGeom prst="rect">
            <a:avLst/>
          </a:prstGeom>
        </p:spPr>
      </p:pic>
      <p:sp>
        <p:nvSpPr>
          <p:cNvPr id="46" name="Text 42"/>
          <p:cNvSpPr/>
          <p:nvPr/>
        </p:nvSpPr>
        <p:spPr>
          <a:xfrm>
            <a:off x="960120" y="5504688"/>
            <a:ext cx="10607040" cy="82296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What we are NOT claiming — </a:t>
            </a:r>
            <a:pPr indent="0" marL="0">
              <a:buNone/>
            </a:pPr>
            <a:r>
              <a:rPr lang="en-US" sz="900" dirty="0">
                <a:solidFill>
                  <a:srgbClr val="3A4356"/>
                </a:solidFill>
                <a:latin typeface="Calibri" pitchFamily="34" charset="0"/>
                <a:ea typeface="Calibri" pitchFamily="34" charset="-122"/>
                <a:cs typeface="Calibri" pitchFamily="34" charset="-120"/>
              </a:rPr>
              <a:t>the tool does not read drawings or tolerances; it asks the engineer rather than guessing; and no estimate has yet been compared with a price JLR paid, so we quote no accuracy figure. Every number above can be reproduced from the tool and the code today.</a:t>
            </a:r>
            <a:endParaRPr lang="en-US" sz="900" dirty="0"/>
          </a:p>
        </p:txBody>
      </p:sp>
      <p:sp>
        <p:nvSpPr>
          <p:cNvPr id="47" name="Text 4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48" name="Text 4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Business Case V — The Ask: a 90-Day Pilot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One decision, a fixed scope, criteria agreed before we start, and a go/no-go date</a:t>
            </a:r>
            <a:endParaRPr lang="en-US" sz="1200" dirty="0"/>
          </a:p>
        </p:txBody>
      </p:sp>
      <p:sp>
        <p:nvSpPr>
          <p:cNvPr id="5" name="Shape 3"/>
          <p:cNvSpPr/>
          <p:nvPr/>
        </p:nvSpPr>
        <p:spPr>
          <a:xfrm>
            <a:off x="457200" y="1042416"/>
            <a:ext cx="5120640" cy="1371600"/>
          </a:xfrm>
          <a:prstGeom prst="roundRect">
            <a:avLst>
              <a:gd name="adj" fmla="val 6667"/>
            </a:avLst>
          </a:prstGeom>
          <a:solidFill>
            <a:srgbClr val="EAF6EF"/>
          </a:solidFill>
          <a:ln w="25400">
            <a:solidFill>
              <a:srgbClr val="2A7F50"/>
            </a:solidFill>
            <a:prstDash val="solid"/>
          </a:ln>
        </p:spPr>
      </p:sp>
      <p:sp>
        <p:nvSpPr>
          <p:cNvPr id="6" name="Text 4"/>
          <p:cNvSpPr/>
          <p:nvPr/>
        </p:nvSpPr>
        <p:spPr>
          <a:xfrm>
            <a:off x="658368" y="1115568"/>
            <a:ext cx="4754880" cy="201168"/>
          </a:xfrm>
          <a:prstGeom prst="rect">
            <a:avLst/>
          </a:prstGeom>
          <a:noFill/>
          <a:ln/>
        </p:spPr>
        <p:txBody>
          <a:bodyPr wrap="square" lIns="0" tIns="0" rIns="0" bIns="0" rtlCol="0" anchor="ctr"/>
          <a:lstStyle/>
          <a:p>
            <a:pPr indent="0" marL="0">
              <a:buNone/>
            </a:pPr>
            <a:r>
              <a:rPr lang="en-US" sz="850" b="1" spc="60" kern="0" dirty="0">
                <a:solidFill>
                  <a:srgbClr val="2A7F50"/>
                </a:solidFill>
                <a:latin typeface="Calibri" pitchFamily="34" charset="0"/>
                <a:ea typeface="Calibri" pitchFamily="34" charset="-122"/>
                <a:cs typeface="Calibri" pitchFamily="34" charset="-120"/>
              </a:rPr>
              <a:t>WHAT WE ARE ASKING FOR</a:t>
            </a:r>
            <a:endParaRPr lang="en-US" sz="850" dirty="0"/>
          </a:p>
        </p:txBody>
      </p:sp>
      <p:sp>
        <p:nvSpPr>
          <p:cNvPr id="7" name="Text 5"/>
          <p:cNvSpPr/>
          <p:nvPr/>
        </p:nvSpPr>
        <p:spPr>
          <a:xfrm>
            <a:off x="658368" y="1353312"/>
            <a:ext cx="4754880" cy="987552"/>
          </a:xfrm>
          <a:prstGeom prst="rect">
            <a:avLst/>
          </a:prstGeom>
          <a:noFill/>
          <a:ln/>
        </p:spPr>
        <p:txBody>
          <a:bodyPr wrap="square" lIns="0" tIns="0" rIns="0" bIns="0" rtlCol="0" anchor="t"/>
          <a:lstStyle/>
          <a:p>
            <a:pPr indent="0" marL="0">
              <a:buNone/>
            </a:pPr>
            <a:r>
              <a:rPr lang="en-US" sz="1500" b="1" dirty="0">
                <a:solidFill>
                  <a:srgbClr val="16325C"/>
                </a:solidFill>
                <a:latin typeface="Calibri" pitchFamily="34" charset="0"/>
                <a:ea typeface="Calibri" pitchFamily="34" charset="-122"/>
                <a:cs typeface="Calibri" pitchFamily="34" charset="-120"/>
              </a:rPr>
              <a:t>Approve a 90-day pilot on 40 parts.
</a:t>
            </a:r>
            <a:pPr indent="0" marL="0">
              <a:buNone/>
            </a:pPr>
            <a:r>
              <a:rPr lang="en-US" sz="950" dirty="0">
                <a:solidFill>
                  <a:srgbClr val="3A4356"/>
                </a:solidFill>
                <a:latin typeface="Calibri" pitchFamily="34" charset="0"/>
                <a:ea typeface="Calibri" pitchFamily="34" charset="-122"/>
                <a:cs typeface="Calibri" pitchFamily="34" charset="-120"/>
              </a:rPr>
              <a:t>One named owner · 0.3 FTE · one laptop or VM · ≈£25k one-off · no licence, no per-seat and no per-estimate cost. Nothing recurring is committed until the day-90 review.</a:t>
            </a:r>
            <a:endParaRPr lang="en-US" sz="1500" dirty="0"/>
          </a:p>
        </p:txBody>
      </p:sp>
      <p:sp>
        <p:nvSpPr>
          <p:cNvPr id="8" name="Shape 6"/>
          <p:cNvSpPr/>
          <p:nvPr/>
        </p:nvSpPr>
        <p:spPr>
          <a:xfrm>
            <a:off x="457200" y="2523744"/>
            <a:ext cx="5120640" cy="1298448"/>
          </a:xfrm>
          <a:prstGeom prst="roundRect">
            <a:avLst>
              <a:gd name="adj" fmla="val 6338"/>
            </a:avLst>
          </a:prstGeom>
          <a:solidFill>
            <a:srgbClr val="FFFFFF"/>
          </a:solidFill>
          <a:ln w="12700">
            <a:solidFill>
              <a:srgbClr val="DCE3EE"/>
            </a:solidFill>
            <a:prstDash val="solid"/>
          </a:ln>
        </p:spPr>
      </p:sp>
      <p:sp>
        <p:nvSpPr>
          <p:cNvPr id="9" name="Text 7"/>
          <p:cNvSpPr/>
          <p:nvPr/>
        </p:nvSpPr>
        <p:spPr>
          <a:xfrm>
            <a:off x="658368" y="2596896"/>
            <a:ext cx="4754880" cy="182880"/>
          </a:xfrm>
          <a:prstGeom prst="rect">
            <a:avLst/>
          </a:prstGeom>
          <a:noFill/>
          <a:ln/>
        </p:spPr>
        <p:txBody>
          <a:bodyPr wrap="square" lIns="0" tIns="0" rIns="0" bIns="0" rtlCol="0" anchor="ctr"/>
          <a:lstStyle/>
          <a:p>
            <a:pPr indent="0" marL="0">
              <a:buNone/>
            </a:pPr>
            <a:r>
              <a:rPr lang="en-US" sz="800" b="1" spc="40" kern="0" dirty="0">
                <a:solidFill>
                  <a:srgbClr val="686F7D"/>
                </a:solidFill>
                <a:latin typeface="Calibri" pitchFamily="34" charset="0"/>
                <a:ea typeface="Calibri" pitchFamily="34" charset="-122"/>
                <a:cs typeface="Calibri" pitchFamily="34" charset="-120"/>
              </a:rPr>
              <a:t>PILOT SCOPE — AGREED UP FRONT</a:t>
            </a:r>
            <a:endParaRPr lang="en-US" sz="800" dirty="0"/>
          </a:p>
        </p:txBody>
      </p:sp>
      <p:sp>
        <p:nvSpPr>
          <p:cNvPr id="10" name="Text 8"/>
          <p:cNvSpPr/>
          <p:nvPr/>
        </p:nvSpPr>
        <p:spPr>
          <a:xfrm>
            <a:off x="658368" y="2798064"/>
            <a:ext cx="384048" cy="438912"/>
          </a:xfrm>
          <a:prstGeom prst="rect">
            <a:avLst/>
          </a:prstGeom>
          <a:noFill/>
          <a:ln/>
        </p:spPr>
        <p:txBody>
          <a:bodyPr wrap="square" lIns="0" tIns="0" rIns="0" bIns="0" rtlCol="0" anchor="t"/>
          <a:lstStyle/>
          <a:p>
            <a:pPr indent="0" marL="0">
              <a:buNone/>
            </a:pPr>
            <a:r>
              <a:rPr lang="en-US" sz="840" b="1" dirty="0">
                <a:solidFill>
                  <a:srgbClr val="2A7F50"/>
                </a:solidFill>
                <a:latin typeface="Calibri" pitchFamily="34" charset="0"/>
                <a:ea typeface="Calibri" pitchFamily="34" charset="-122"/>
                <a:cs typeface="Calibri" pitchFamily="34" charset="-120"/>
              </a:rPr>
              <a:t>In</a:t>
            </a:r>
            <a:endParaRPr lang="en-US" sz="840" dirty="0"/>
          </a:p>
        </p:txBody>
      </p:sp>
      <p:sp>
        <p:nvSpPr>
          <p:cNvPr id="11" name="Text 9"/>
          <p:cNvSpPr/>
          <p:nvPr/>
        </p:nvSpPr>
        <p:spPr>
          <a:xfrm>
            <a:off x="1060704" y="2798064"/>
            <a:ext cx="4352544" cy="43891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40 live parts across 4–5 commodities we already buy, chosen with purchasing — a mix of quoted parts and parts still in design.</a:t>
            </a:r>
            <a:endParaRPr lang="en-US" sz="820" dirty="0"/>
          </a:p>
        </p:txBody>
      </p:sp>
      <p:sp>
        <p:nvSpPr>
          <p:cNvPr id="12" name="Text 10"/>
          <p:cNvSpPr/>
          <p:nvPr/>
        </p:nvSpPr>
        <p:spPr>
          <a:xfrm>
            <a:off x="658368" y="3273552"/>
            <a:ext cx="384048" cy="438912"/>
          </a:xfrm>
          <a:prstGeom prst="rect">
            <a:avLst/>
          </a:prstGeom>
          <a:noFill/>
          <a:ln/>
        </p:spPr>
        <p:txBody>
          <a:bodyPr wrap="square" lIns="0" tIns="0" rIns="0" bIns="0" rtlCol="0" anchor="t"/>
          <a:lstStyle/>
          <a:p>
            <a:pPr indent="0" marL="0">
              <a:buNone/>
            </a:pPr>
            <a:r>
              <a:rPr lang="en-US" sz="840" b="1" dirty="0">
                <a:solidFill>
                  <a:srgbClr val="B03A2E"/>
                </a:solidFill>
                <a:latin typeface="Calibri" pitchFamily="34" charset="0"/>
                <a:ea typeface="Calibri" pitchFamily="34" charset="-122"/>
                <a:cs typeface="Calibri" pitchFamily="34" charset="-120"/>
              </a:rPr>
              <a:t>Out</a:t>
            </a:r>
            <a:endParaRPr lang="en-US" sz="840" dirty="0"/>
          </a:p>
        </p:txBody>
      </p:sp>
      <p:sp>
        <p:nvSpPr>
          <p:cNvPr id="13" name="Text 11"/>
          <p:cNvSpPr/>
          <p:nvPr/>
        </p:nvSpPr>
        <p:spPr>
          <a:xfrm>
            <a:off x="1060704" y="3273552"/>
            <a:ext cx="4352544" cy="43891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No supplier is told a price comes from a tool. Every number is reviewed and owned by an engineer before it leaves the building.</a:t>
            </a:r>
            <a:endParaRPr lang="en-US" sz="820" dirty="0"/>
          </a:p>
        </p:txBody>
      </p:sp>
      <p:sp>
        <p:nvSpPr>
          <p:cNvPr id="14" name="Text 12"/>
          <p:cNvSpPr/>
          <p:nvPr/>
        </p:nvSpPr>
        <p:spPr>
          <a:xfrm>
            <a:off x="457200" y="3950208"/>
            <a:ext cx="5120640" cy="182880"/>
          </a:xfrm>
          <a:prstGeom prst="rect">
            <a:avLst/>
          </a:prstGeom>
          <a:noFill/>
          <a:ln/>
        </p:spPr>
        <p:txBody>
          <a:bodyPr wrap="square" lIns="0" tIns="0" rIns="0" bIns="0" rtlCol="0" anchor="ctr"/>
          <a:lstStyle/>
          <a:p>
            <a:pPr indent="0" marL="0">
              <a:buNone/>
            </a:pPr>
            <a:r>
              <a:rPr lang="en-US" sz="800" b="1" spc="40" kern="0" dirty="0">
                <a:solidFill>
                  <a:srgbClr val="16325C"/>
                </a:solidFill>
                <a:latin typeface="Calibri" pitchFamily="34" charset="0"/>
                <a:ea typeface="Calibri" pitchFamily="34" charset="-122"/>
                <a:cs typeface="Calibri" pitchFamily="34" charset="-120"/>
              </a:rPr>
              <a:t>90 DAYS, THREE PHASES</a:t>
            </a:r>
            <a:endParaRPr lang="en-US" sz="800" dirty="0"/>
          </a:p>
        </p:txBody>
      </p:sp>
      <p:sp>
        <p:nvSpPr>
          <p:cNvPr id="15" name="Shape 13"/>
          <p:cNvSpPr/>
          <p:nvPr/>
        </p:nvSpPr>
        <p:spPr>
          <a:xfrm>
            <a:off x="457200" y="4151376"/>
            <a:ext cx="914400" cy="420624"/>
          </a:xfrm>
          <a:prstGeom prst="roundRect">
            <a:avLst>
              <a:gd name="adj" fmla="val 10870"/>
            </a:avLst>
          </a:prstGeom>
          <a:solidFill>
            <a:srgbClr val="0D7D71"/>
          </a:solidFill>
          <a:ln/>
        </p:spPr>
      </p:sp>
      <p:sp>
        <p:nvSpPr>
          <p:cNvPr id="16" name="Text 14"/>
          <p:cNvSpPr/>
          <p:nvPr/>
        </p:nvSpPr>
        <p:spPr>
          <a:xfrm>
            <a:off x="457200" y="4151376"/>
            <a:ext cx="914400" cy="420624"/>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Days 1–30</a:t>
            </a:r>
            <a:endParaRPr lang="en-US" sz="780" dirty="0"/>
          </a:p>
        </p:txBody>
      </p:sp>
      <p:sp>
        <p:nvSpPr>
          <p:cNvPr id="17" name="Text 15"/>
          <p:cNvSpPr/>
          <p:nvPr/>
        </p:nvSpPr>
        <p:spPr>
          <a:xfrm>
            <a:off x="1463040" y="4169664"/>
            <a:ext cx="1371600" cy="182880"/>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Set up + calibrate</a:t>
            </a:r>
            <a:endParaRPr lang="en-US" sz="840" dirty="0"/>
          </a:p>
        </p:txBody>
      </p:sp>
      <p:sp>
        <p:nvSpPr>
          <p:cNvPr id="18" name="Text 16"/>
          <p:cNvSpPr/>
          <p:nvPr/>
        </p:nvSpPr>
        <p:spPr>
          <a:xfrm>
            <a:off x="1463040" y="4334256"/>
            <a:ext cx="4114800" cy="256032"/>
          </a:xfrm>
          <a:prstGeom prst="rect">
            <a:avLst/>
          </a:prstGeom>
          <a:noFill/>
          <a:ln/>
        </p:spPr>
        <p:txBody>
          <a:bodyPr wrap="square" lIns="0" tIns="0" rIns="0" bIns="0" rtlCol="0" anchor="t"/>
          <a:lstStyle/>
          <a:p>
            <a:pPr indent="0" marL="0">
              <a:buNone/>
            </a:pPr>
            <a:r>
              <a:rPr lang="en-US" sz="760" dirty="0">
                <a:solidFill>
                  <a:srgbClr val="3A4356"/>
                </a:solidFill>
                <a:latin typeface="Calibri" pitchFamily="34" charset="0"/>
                <a:ea typeface="Calibri" pitchFamily="34" charset="-122"/>
                <a:cs typeface="Calibri" pitchFamily="34" charset="-120"/>
              </a:rPr>
              <a:t>Package installed, our rates loaded (Rate Converter), the 6 baseline parts re-run, two engineers trained.</a:t>
            </a:r>
            <a:endParaRPr lang="en-US" sz="760" dirty="0"/>
          </a:p>
        </p:txBody>
      </p:sp>
      <p:sp>
        <p:nvSpPr>
          <p:cNvPr id="19" name="Shape 17"/>
          <p:cNvSpPr/>
          <p:nvPr/>
        </p:nvSpPr>
        <p:spPr>
          <a:xfrm>
            <a:off x="457200" y="4608576"/>
            <a:ext cx="914400" cy="420624"/>
          </a:xfrm>
          <a:prstGeom prst="roundRect">
            <a:avLst>
              <a:gd name="adj" fmla="val 10870"/>
            </a:avLst>
          </a:prstGeom>
          <a:solidFill>
            <a:srgbClr val="1D6FB8"/>
          </a:solidFill>
          <a:ln/>
        </p:spPr>
      </p:sp>
      <p:sp>
        <p:nvSpPr>
          <p:cNvPr id="20" name="Text 18"/>
          <p:cNvSpPr/>
          <p:nvPr/>
        </p:nvSpPr>
        <p:spPr>
          <a:xfrm>
            <a:off x="457200" y="4608576"/>
            <a:ext cx="914400" cy="420624"/>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Days 31–60</a:t>
            </a:r>
            <a:endParaRPr lang="en-US" sz="780" dirty="0"/>
          </a:p>
        </p:txBody>
      </p:sp>
      <p:sp>
        <p:nvSpPr>
          <p:cNvPr id="21" name="Text 19"/>
          <p:cNvSpPr/>
          <p:nvPr/>
        </p:nvSpPr>
        <p:spPr>
          <a:xfrm>
            <a:off x="1463040" y="4626864"/>
            <a:ext cx="1371600" cy="182880"/>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Run the basket</a:t>
            </a:r>
            <a:endParaRPr lang="en-US" sz="840" dirty="0"/>
          </a:p>
        </p:txBody>
      </p:sp>
      <p:sp>
        <p:nvSpPr>
          <p:cNvPr id="22" name="Text 20"/>
          <p:cNvSpPr/>
          <p:nvPr/>
        </p:nvSpPr>
        <p:spPr>
          <a:xfrm>
            <a:off x="1463040" y="4791456"/>
            <a:ext cx="4114800" cy="256032"/>
          </a:xfrm>
          <a:prstGeom prst="rect">
            <a:avLst/>
          </a:prstGeom>
          <a:noFill/>
          <a:ln/>
        </p:spPr>
        <p:txBody>
          <a:bodyPr wrap="square" lIns="0" tIns="0" rIns="0" bIns="0" rtlCol="0" anchor="t"/>
          <a:lstStyle/>
          <a:p>
            <a:pPr indent="0" marL="0">
              <a:buNone/>
            </a:pPr>
            <a:r>
              <a:rPr lang="en-US" sz="760" dirty="0">
                <a:solidFill>
                  <a:srgbClr val="3A4356"/>
                </a:solidFill>
                <a:latin typeface="Calibri" pitchFamily="34" charset="0"/>
                <a:ea typeface="Calibri" pitchFamily="34" charset="-122"/>
                <a:cs typeface="Calibri" pitchFamily="34" charset="-120"/>
              </a:rPr>
              <a:t>The 40 parts costed. Every estimate logged against the quote or the actual PO. Top levers taken to suppliers.</a:t>
            </a:r>
            <a:endParaRPr lang="en-US" sz="760" dirty="0"/>
          </a:p>
        </p:txBody>
      </p:sp>
      <p:sp>
        <p:nvSpPr>
          <p:cNvPr id="23" name="Shape 21"/>
          <p:cNvSpPr/>
          <p:nvPr/>
        </p:nvSpPr>
        <p:spPr>
          <a:xfrm>
            <a:off x="457200" y="5065776"/>
            <a:ext cx="914400" cy="420624"/>
          </a:xfrm>
          <a:prstGeom prst="roundRect">
            <a:avLst>
              <a:gd name="adj" fmla="val 10870"/>
            </a:avLst>
          </a:prstGeom>
          <a:solidFill>
            <a:srgbClr val="2A7F50"/>
          </a:solidFill>
          <a:ln/>
        </p:spPr>
      </p:sp>
      <p:sp>
        <p:nvSpPr>
          <p:cNvPr id="24" name="Text 22"/>
          <p:cNvSpPr/>
          <p:nvPr/>
        </p:nvSpPr>
        <p:spPr>
          <a:xfrm>
            <a:off x="457200" y="5065776"/>
            <a:ext cx="914400" cy="420624"/>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Days 61–90</a:t>
            </a:r>
            <a:endParaRPr lang="en-US" sz="780" dirty="0"/>
          </a:p>
        </p:txBody>
      </p:sp>
      <p:sp>
        <p:nvSpPr>
          <p:cNvPr id="25" name="Text 23"/>
          <p:cNvSpPr/>
          <p:nvPr/>
        </p:nvSpPr>
        <p:spPr>
          <a:xfrm>
            <a:off x="1463040" y="5084064"/>
            <a:ext cx="1371600" cy="182880"/>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Measure + decide</a:t>
            </a:r>
            <a:endParaRPr lang="en-US" sz="840" dirty="0"/>
          </a:p>
        </p:txBody>
      </p:sp>
      <p:sp>
        <p:nvSpPr>
          <p:cNvPr id="26" name="Text 24"/>
          <p:cNvSpPr/>
          <p:nvPr/>
        </p:nvSpPr>
        <p:spPr>
          <a:xfrm>
            <a:off x="1463040" y="5248656"/>
            <a:ext cx="4114800" cy="256032"/>
          </a:xfrm>
          <a:prstGeom prst="rect">
            <a:avLst/>
          </a:prstGeom>
          <a:noFill/>
          <a:ln/>
        </p:spPr>
        <p:txBody>
          <a:bodyPr wrap="square" lIns="0" tIns="0" rIns="0" bIns="0" rtlCol="0" anchor="t"/>
          <a:lstStyle/>
          <a:p>
            <a:pPr indent="0" marL="0">
              <a:buNone/>
            </a:pPr>
            <a:r>
              <a:rPr lang="en-US" sz="760" dirty="0">
                <a:solidFill>
                  <a:srgbClr val="3A4356"/>
                </a:solidFill>
                <a:latin typeface="Calibri" pitchFamily="34" charset="0"/>
                <a:ea typeface="Calibri" pitchFamily="34" charset="-122"/>
                <a:cs typeface="Calibri" pitchFamily="34" charset="-120"/>
              </a:rPr>
              <a:t>Scored against the four criteria opposite. Captured saving written up. Go / no-go presented here.</a:t>
            </a:r>
            <a:endParaRPr lang="en-US" sz="760" dirty="0"/>
          </a:p>
        </p:txBody>
      </p:sp>
      <p:sp>
        <p:nvSpPr>
          <p:cNvPr id="27" name="Shape 25"/>
          <p:cNvSpPr/>
          <p:nvPr/>
        </p:nvSpPr>
        <p:spPr>
          <a:xfrm>
            <a:off x="5760720" y="1042416"/>
            <a:ext cx="5971032" cy="2286000"/>
          </a:xfrm>
          <a:prstGeom prst="roundRect">
            <a:avLst>
              <a:gd name="adj" fmla="val 4000"/>
            </a:avLst>
          </a:prstGeom>
          <a:solidFill>
            <a:srgbClr val="FFFFFF"/>
          </a:solidFill>
          <a:ln w="19050">
            <a:solidFill>
              <a:srgbClr val="16325C"/>
            </a:solidFill>
            <a:prstDash val="solid"/>
          </a:ln>
        </p:spPr>
      </p:sp>
      <p:sp>
        <p:nvSpPr>
          <p:cNvPr id="28" name="Text 26"/>
          <p:cNvSpPr/>
          <p:nvPr/>
        </p:nvSpPr>
        <p:spPr>
          <a:xfrm>
            <a:off x="5943600" y="1115568"/>
            <a:ext cx="5577840" cy="201168"/>
          </a:xfrm>
          <a:prstGeom prst="rect">
            <a:avLst/>
          </a:prstGeom>
          <a:noFill/>
          <a:ln/>
        </p:spPr>
        <p:txBody>
          <a:bodyPr wrap="square" lIns="0" tIns="0" rIns="0" bIns="0" rtlCol="0" anchor="ctr"/>
          <a:lstStyle/>
          <a:p>
            <a:pPr indent="0" marL="0">
              <a:buNone/>
            </a:pPr>
            <a:r>
              <a:rPr lang="en-US" sz="850" b="1" spc="50" kern="0" dirty="0">
                <a:solidFill>
                  <a:srgbClr val="16325C"/>
                </a:solidFill>
                <a:latin typeface="Calibri" pitchFamily="34" charset="0"/>
                <a:ea typeface="Calibri" pitchFamily="34" charset="-122"/>
                <a:cs typeface="Calibri" pitchFamily="34" charset="-120"/>
              </a:rPr>
              <a:t>SUCCESS CRITERIA — SET NOW, SCORED AT DAY 90</a:t>
            </a:r>
            <a:endParaRPr lang="en-US" sz="850" dirty="0"/>
          </a:p>
        </p:txBody>
      </p:sp>
      <p:sp>
        <p:nvSpPr>
          <p:cNvPr id="29" name="Text 27"/>
          <p:cNvSpPr/>
          <p:nvPr/>
        </p:nvSpPr>
        <p:spPr>
          <a:xfrm>
            <a:off x="5943600" y="1316736"/>
            <a:ext cx="5577840" cy="237744"/>
          </a:xfrm>
          <a:prstGeom prst="rect">
            <a:avLst/>
          </a:prstGeom>
          <a:noFill/>
          <a:ln/>
        </p:spPr>
        <p:txBody>
          <a:bodyPr wrap="square" lIns="0" tIns="0" rIns="0" bIns="0" rtlCol="0" anchor="ctr"/>
          <a:lstStyle/>
          <a:p>
            <a:pPr indent="0" marL="0">
              <a:buNone/>
            </a:pPr>
            <a:r>
              <a:rPr lang="en-US" sz="760" i="1" dirty="0">
                <a:solidFill>
                  <a:srgbClr val="686F7D"/>
                </a:solidFill>
                <a:latin typeface="Calibri" pitchFamily="34" charset="0"/>
                <a:ea typeface="Calibri" pitchFamily="34" charset="-122"/>
                <a:cs typeface="Calibri" pitchFamily="34" charset="-120"/>
              </a:rPr>
              <a:t>Agreeing these before we start is the point: at day 90 the decision is arithmetic, not opinion — and a miss is a legitimate stop.</a:t>
            </a:r>
            <a:endParaRPr lang="en-US" sz="760" dirty="0"/>
          </a:p>
        </p:txBody>
      </p:sp>
      <p:sp>
        <p:nvSpPr>
          <p:cNvPr id="30" name="Shape 28"/>
          <p:cNvSpPr/>
          <p:nvPr/>
        </p:nvSpPr>
        <p:spPr>
          <a:xfrm>
            <a:off x="5943600" y="1609344"/>
            <a:ext cx="868680" cy="365760"/>
          </a:xfrm>
          <a:prstGeom prst="roundRect">
            <a:avLst>
              <a:gd name="adj" fmla="val 12500"/>
            </a:avLst>
          </a:prstGeom>
          <a:solidFill>
            <a:srgbClr val="E8EDF6"/>
          </a:solidFill>
          <a:ln/>
        </p:spPr>
      </p:sp>
      <p:sp>
        <p:nvSpPr>
          <p:cNvPr id="31" name="Text 29"/>
          <p:cNvSpPr/>
          <p:nvPr/>
        </p:nvSpPr>
        <p:spPr>
          <a:xfrm>
            <a:off x="5943600" y="1609344"/>
            <a:ext cx="868680" cy="365760"/>
          </a:xfrm>
          <a:prstGeom prst="rect">
            <a:avLst/>
          </a:prstGeom>
          <a:noFill/>
          <a:ln/>
        </p:spPr>
        <p:txBody>
          <a:bodyPr wrap="square" lIns="0" tIns="0" rIns="0" bIns="0" rtlCol="0" anchor="ctr"/>
          <a:lstStyle/>
          <a:p>
            <a:pPr algn="ctr" indent="0" marL="0">
              <a:buNone/>
            </a:pPr>
            <a:r>
              <a:rPr lang="en-US" sz="800" b="1" dirty="0">
                <a:solidFill>
                  <a:srgbClr val="16325C"/>
                </a:solidFill>
                <a:latin typeface="Calibri" pitchFamily="34" charset="0"/>
                <a:ea typeface="Calibri" pitchFamily="34" charset="-122"/>
                <a:cs typeface="Calibri" pitchFamily="34" charset="-120"/>
              </a:rPr>
              <a:t>Accuracy</a:t>
            </a:r>
            <a:endParaRPr lang="en-US" sz="800" dirty="0"/>
          </a:p>
        </p:txBody>
      </p:sp>
      <p:sp>
        <p:nvSpPr>
          <p:cNvPr id="32" name="Text 30"/>
          <p:cNvSpPr/>
          <p:nvPr/>
        </p:nvSpPr>
        <p:spPr>
          <a:xfrm>
            <a:off x="6903720" y="1609344"/>
            <a:ext cx="4663440" cy="365760"/>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 70% of pilot parts within ±20% of an independent manual should-cost or the actual PO price</a:t>
            </a:r>
            <a:endParaRPr lang="en-US" sz="800" dirty="0"/>
          </a:p>
        </p:txBody>
      </p:sp>
      <p:sp>
        <p:nvSpPr>
          <p:cNvPr id="33" name="Shape 31"/>
          <p:cNvSpPr/>
          <p:nvPr/>
        </p:nvSpPr>
        <p:spPr>
          <a:xfrm>
            <a:off x="5943600" y="2020824"/>
            <a:ext cx="868680" cy="365760"/>
          </a:xfrm>
          <a:prstGeom prst="roundRect">
            <a:avLst>
              <a:gd name="adj" fmla="val 12500"/>
            </a:avLst>
          </a:prstGeom>
          <a:solidFill>
            <a:srgbClr val="E8EDF6"/>
          </a:solidFill>
          <a:ln/>
        </p:spPr>
      </p:sp>
      <p:sp>
        <p:nvSpPr>
          <p:cNvPr id="34" name="Text 32"/>
          <p:cNvSpPr/>
          <p:nvPr/>
        </p:nvSpPr>
        <p:spPr>
          <a:xfrm>
            <a:off x="5943600" y="2020824"/>
            <a:ext cx="868680" cy="365760"/>
          </a:xfrm>
          <a:prstGeom prst="rect">
            <a:avLst/>
          </a:prstGeom>
          <a:noFill/>
          <a:ln/>
        </p:spPr>
        <p:txBody>
          <a:bodyPr wrap="square" lIns="0" tIns="0" rIns="0" bIns="0" rtlCol="0" anchor="ctr"/>
          <a:lstStyle/>
          <a:p>
            <a:pPr algn="ctr" indent="0" marL="0">
              <a:buNone/>
            </a:pPr>
            <a:r>
              <a:rPr lang="en-US" sz="800" b="1" dirty="0">
                <a:solidFill>
                  <a:srgbClr val="16325C"/>
                </a:solidFill>
                <a:latin typeface="Calibri" pitchFamily="34" charset="0"/>
                <a:ea typeface="Calibri" pitchFamily="34" charset="-122"/>
                <a:cs typeface="Calibri" pitchFamily="34" charset="-120"/>
              </a:rPr>
              <a:t>Speed</a:t>
            </a:r>
            <a:endParaRPr lang="en-US" sz="800" dirty="0"/>
          </a:p>
        </p:txBody>
      </p:sp>
      <p:sp>
        <p:nvSpPr>
          <p:cNvPr id="35" name="Text 33"/>
          <p:cNvSpPr/>
          <p:nvPr/>
        </p:nvSpPr>
        <p:spPr>
          <a:xfrm>
            <a:off x="6903720" y="2020824"/>
            <a:ext cx="4663440" cy="365760"/>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Median ≤ 20 min per CAD part, engineer-attended — timed during the pilot, not estimated</a:t>
            </a:r>
            <a:endParaRPr lang="en-US" sz="800" dirty="0"/>
          </a:p>
        </p:txBody>
      </p:sp>
      <p:sp>
        <p:nvSpPr>
          <p:cNvPr id="36" name="Shape 34"/>
          <p:cNvSpPr/>
          <p:nvPr/>
        </p:nvSpPr>
        <p:spPr>
          <a:xfrm>
            <a:off x="5943600" y="2432304"/>
            <a:ext cx="868680" cy="365760"/>
          </a:xfrm>
          <a:prstGeom prst="roundRect">
            <a:avLst>
              <a:gd name="adj" fmla="val 12500"/>
            </a:avLst>
          </a:prstGeom>
          <a:solidFill>
            <a:srgbClr val="E8EDF6"/>
          </a:solidFill>
          <a:ln/>
        </p:spPr>
      </p:sp>
      <p:sp>
        <p:nvSpPr>
          <p:cNvPr id="37" name="Text 35"/>
          <p:cNvSpPr/>
          <p:nvPr/>
        </p:nvSpPr>
        <p:spPr>
          <a:xfrm>
            <a:off x="5943600" y="2432304"/>
            <a:ext cx="868680" cy="365760"/>
          </a:xfrm>
          <a:prstGeom prst="rect">
            <a:avLst/>
          </a:prstGeom>
          <a:noFill/>
          <a:ln/>
        </p:spPr>
        <p:txBody>
          <a:bodyPr wrap="square" lIns="0" tIns="0" rIns="0" bIns="0" rtlCol="0" anchor="ctr"/>
          <a:lstStyle/>
          <a:p>
            <a:pPr algn="ctr" indent="0" marL="0">
              <a:buNone/>
            </a:pPr>
            <a:r>
              <a:rPr lang="en-US" sz="800" b="1" dirty="0">
                <a:solidFill>
                  <a:srgbClr val="16325C"/>
                </a:solidFill>
                <a:latin typeface="Calibri" pitchFamily="34" charset="0"/>
                <a:ea typeface="Calibri" pitchFamily="34" charset="-122"/>
                <a:cs typeface="Calibri" pitchFamily="34" charset="-120"/>
              </a:rPr>
              <a:t>Value</a:t>
            </a:r>
            <a:endParaRPr lang="en-US" sz="800" dirty="0"/>
          </a:p>
        </p:txBody>
      </p:sp>
      <p:sp>
        <p:nvSpPr>
          <p:cNvPr id="38" name="Text 36"/>
          <p:cNvSpPr/>
          <p:nvPr/>
        </p:nvSpPr>
        <p:spPr>
          <a:xfrm>
            <a:off x="6903720" y="2432304"/>
            <a:ext cx="4663440" cy="365760"/>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 £800k of annualised opportunity identified across the basket — half what Business Case I assumes — and ≥ 3 levers taken to a supplier with the outcome recorded either way</a:t>
            </a:r>
            <a:endParaRPr lang="en-US" sz="800" dirty="0"/>
          </a:p>
        </p:txBody>
      </p:sp>
      <p:sp>
        <p:nvSpPr>
          <p:cNvPr id="39" name="Shape 37"/>
          <p:cNvSpPr/>
          <p:nvPr/>
        </p:nvSpPr>
        <p:spPr>
          <a:xfrm>
            <a:off x="5943600" y="2843784"/>
            <a:ext cx="868680" cy="365760"/>
          </a:xfrm>
          <a:prstGeom prst="roundRect">
            <a:avLst>
              <a:gd name="adj" fmla="val 12500"/>
            </a:avLst>
          </a:prstGeom>
          <a:solidFill>
            <a:srgbClr val="E8EDF6"/>
          </a:solidFill>
          <a:ln/>
        </p:spPr>
      </p:sp>
      <p:sp>
        <p:nvSpPr>
          <p:cNvPr id="40" name="Text 38"/>
          <p:cNvSpPr/>
          <p:nvPr/>
        </p:nvSpPr>
        <p:spPr>
          <a:xfrm>
            <a:off x="5943600" y="2843784"/>
            <a:ext cx="868680" cy="365760"/>
          </a:xfrm>
          <a:prstGeom prst="rect">
            <a:avLst/>
          </a:prstGeom>
          <a:noFill/>
          <a:ln/>
        </p:spPr>
        <p:txBody>
          <a:bodyPr wrap="square" lIns="0" tIns="0" rIns="0" bIns="0" rtlCol="0" anchor="ctr"/>
          <a:lstStyle/>
          <a:p>
            <a:pPr algn="ctr" indent="0" marL="0">
              <a:buNone/>
            </a:pPr>
            <a:r>
              <a:rPr lang="en-US" sz="800" b="1" dirty="0">
                <a:solidFill>
                  <a:srgbClr val="16325C"/>
                </a:solidFill>
                <a:latin typeface="Calibri" pitchFamily="34" charset="0"/>
                <a:ea typeface="Calibri" pitchFamily="34" charset="-122"/>
                <a:cs typeface="Calibri" pitchFamily="34" charset="-120"/>
              </a:rPr>
              <a:t>Adoption</a:t>
            </a:r>
            <a:endParaRPr lang="en-US" sz="800" dirty="0"/>
          </a:p>
        </p:txBody>
      </p:sp>
      <p:sp>
        <p:nvSpPr>
          <p:cNvPr id="41" name="Text 39"/>
          <p:cNvSpPr/>
          <p:nvPr/>
        </p:nvSpPr>
        <p:spPr>
          <a:xfrm>
            <a:off x="6903720" y="2843784"/>
            <a:ext cx="4663440" cy="365760"/>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2+ engineers running it unaided after one day of training, without the person who built it in the room</a:t>
            </a:r>
            <a:endParaRPr lang="en-US" sz="800" dirty="0"/>
          </a:p>
        </p:txBody>
      </p:sp>
      <p:sp>
        <p:nvSpPr>
          <p:cNvPr id="42" name="Shape 40"/>
          <p:cNvSpPr/>
          <p:nvPr/>
        </p:nvSpPr>
        <p:spPr>
          <a:xfrm>
            <a:off x="5760720" y="3438144"/>
            <a:ext cx="5971032" cy="2029968"/>
          </a:xfrm>
          <a:prstGeom prst="roundRect">
            <a:avLst>
              <a:gd name="adj" fmla="val 4054"/>
            </a:avLst>
          </a:prstGeom>
          <a:solidFill>
            <a:srgbClr val="FCF3E3"/>
          </a:solidFill>
          <a:ln w="12700">
            <a:solidFill>
              <a:srgbClr val="99651A"/>
            </a:solidFill>
            <a:prstDash val="solid"/>
          </a:ln>
        </p:spPr>
      </p:sp>
      <p:pic>
        <p:nvPicPr>
          <p:cNvPr id="43" name="Image 0" descr="preencoded.png">    </p:cNvPr>
          <p:cNvPicPr>
            <a:picLocks noChangeAspect="1"/>
          </p:cNvPicPr>
          <p:nvPr/>
        </p:nvPicPr>
        <p:blipFill>
          <a:blip r:embed="rId1"/>
          <a:stretch>
            <a:fillRect/>
          </a:stretch>
        </p:blipFill>
        <p:spPr>
          <a:xfrm>
            <a:off x="5943600" y="3520440"/>
            <a:ext cx="182880" cy="182880"/>
          </a:xfrm>
          <a:prstGeom prst="rect">
            <a:avLst/>
          </a:prstGeom>
        </p:spPr>
      </p:pic>
      <p:sp>
        <p:nvSpPr>
          <p:cNvPr id="44" name="Text 41"/>
          <p:cNvSpPr/>
          <p:nvPr/>
        </p:nvSpPr>
        <p:spPr>
          <a:xfrm>
            <a:off x="6199632" y="3511296"/>
            <a:ext cx="5394960" cy="201168"/>
          </a:xfrm>
          <a:prstGeom prst="rect">
            <a:avLst/>
          </a:prstGeom>
          <a:noFill/>
          <a:ln/>
        </p:spPr>
        <p:txBody>
          <a:bodyPr wrap="square" lIns="0" tIns="0" rIns="0" bIns="0" rtlCol="0" anchor="ctr"/>
          <a:lstStyle/>
          <a:p>
            <a:pPr indent="0" marL="0">
              <a:buNone/>
            </a:pPr>
            <a:r>
              <a:rPr lang="en-US" sz="820" b="1" spc="40" kern="0" dirty="0">
                <a:solidFill>
                  <a:srgbClr val="99651A"/>
                </a:solidFill>
                <a:latin typeface="Calibri" pitchFamily="34" charset="0"/>
                <a:ea typeface="Calibri" pitchFamily="34" charset="-122"/>
                <a:cs typeface="Calibri" pitchFamily="34" charset="-120"/>
              </a:rPr>
              <a:t>THE FOUR OBJECTIONS — AND WHAT IS ALREADY BUILT FOR THEM</a:t>
            </a:r>
            <a:endParaRPr lang="en-US" sz="820" dirty="0"/>
          </a:p>
        </p:txBody>
      </p:sp>
      <p:sp>
        <p:nvSpPr>
          <p:cNvPr id="45" name="Text 42"/>
          <p:cNvSpPr/>
          <p:nvPr/>
        </p:nvSpPr>
        <p:spPr>
          <a:xfrm>
            <a:off x="5943600" y="3749040"/>
            <a:ext cx="2331720" cy="402336"/>
          </a:xfrm>
          <a:prstGeom prst="rect">
            <a:avLst/>
          </a:prstGeom>
          <a:noFill/>
          <a:ln/>
        </p:spPr>
        <p:txBody>
          <a:bodyPr wrap="square" lIns="0" tIns="0" rIns="0" bIns="0" rtlCol="0" anchor="ctr"/>
          <a:lstStyle/>
          <a:p>
            <a:pPr indent="0" marL="0">
              <a:buNone/>
            </a:pPr>
            <a:r>
              <a:rPr lang="en-US" sz="760" b="1" i="1" dirty="0">
                <a:solidFill>
                  <a:srgbClr val="16325C"/>
                </a:solidFill>
                <a:latin typeface="Calibri" pitchFamily="34" charset="0"/>
                <a:ea typeface="Calibri" pitchFamily="34" charset="-122"/>
                <a:cs typeface="Calibri" pitchFamily="34" charset="-120"/>
              </a:rPr>
              <a:t>“It will be wrong on parts it has not seen.”</a:t>
            </a:r>
            <a:endParaRPr lang="en-US" sz="760" dirty="0"/>
          </a:p>
        </p:txBody>
      </p:sp>
      <p:sp>
        <p:nvSpPr>
          <p:cNvPr id="46" name="Text 43"/>
          <p:cNvSpPr/>
          <p:nvPr/>
        </p:nvSpPr>
        <p:spPr>
          <a:xfrm>
            <a:off x="8366760" y="3749040"/>
            <a:ext cx="3200400" cy="402336"/>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Every actual is logged; after 3 per commodity the band is corrected. 6 real parts pinned so far — none yet checked against a JLR price.</a:t>
            </a:r>
            <a:endParaRPr lang="en-US" sz="750" dirty="0"/>
          </a:p>
        </p:txBody>
      </p:sp>
      <p:sp>
        <p:nvSpPr>
          <p:cNvPr id="47" name="Text 44"/>
          <p:cNvSpPr/>
          <p:nvPr/>
        </p:nvSpPr>
        <p:spPr>
          <a:xfrm>
            <a:off x="5943600" y="4169664"/>
            <a:ext cx="2331720" cy="402336"/>
          </a:xfrm>
          <a:prstGeom prst="rect">
            <a:avLst/>
          </a:prstGeom>
          <a:noFill/>
          <a:ln/>
        </p:spPr>
        <p:txBody>
          <a:bodyPr wrap="square" lIns="0" tIns="0" rIns="0" bIns="0" rtlCol="0" anchor="ctr"/>
          <a:lstStyle/>
          <a:p>
            <a:pPr indent="0" marL="0">
              <a:buNone/>
            </a:pPr>
            <a:r>
              <a:rPr lang="en-US" sz="760" b="1" i="1" dirty="0">
                <a:solidFill>
                  <a:srgbClr val="16325C"/>
                </a:solidFill>
                <a:latin typeface="Calibri" pitchFamily="34" charset="0"/>
                <a:ea typeface="Calibri" pitchFamily="34" charset="-122"/>
                <a:cs typeface="Calibri" pitchFamily="34" charset="-120"/>
              </a:rPr>
              <a:t>“The AI is inventing numbers.”</a:t>
            </a:r>
            <a:endParaRPr lang="en-US" sz="760" dirty="0"/>
          </a:p>
        </p:txBody>
      </p:sp>
      <p:sp>
        <p:nvSpPr>
          <p:cNvPr id="48" name="Text 45"/>
          <p:cNvSpPr/>
          <p:nvPr/>
        </p:nvSpPr>
        <p:spPr>
          <a:xfrm>
            <a:off x="8366760" y="4169664"/>
            <a:ext cx="3200400" cy="402336"/>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AI is switched off at JLR, and even when on it never sets a price. Every cost line prints its own derivation.</a:t>
            </a:r>
            <a:endParaRPr lang="en-US" sz="750" dirty="0"/>
          </a:p>
        </p:txBody>
      </p:sp>
      <p:sp>
        <p:nvSpPr>
          <p:cNvPr id="49" name="Text 46"/>
          <p:cNvSpPr/>
          <p:nvPr/>
        </p:nvSpPr>
        <p:spPr>
          <a:xfrm>
            <a:off x="5943600" y="4590288"/>
            <a:ext cx="2331720" cy="402336"/>
          </a:xfrm>
          <a:prstGeom prst="rect">
            <a:avLst/>
          </a:prstGeom>
          <a:noFill/>
          <a:ln/>
        </p:spPr>
        <p:txBody>
          <a:bodyPr wrap="square" lIns="0" tIns="0" rIns="0" bIns="0" rtlCol="0" anchor="ctr"/>
          <a:lstStyle/>
          <a:p>
            <a:pPr indent="0" marL="0">
              <a:buNone/>
            </a:pPr>
            <a:r>
              <a:rPr lang="en-US" sz="760" b="1" i="1" dirty="0">
                <a:solidFill>
                  <a:srgbClr val="16325C"/>
                </a:solidFill>
                <a:latin typeface="Calibri" pitchFamily="34" charset="0"/>
                <a:ea typeface="Calibri" pitchFamily="34" charset="-122"/>
                <a:cs typeface="Calibri" pitchFamily="34" charset="-120"/>
              </a:rPr>
              <a:t>“Rates go stale and nobody notices.”</a:t>
            </a:r>
            <a:endParaRPr lang="en-US" sz="760" dirty="0"/>
          </a:p>
        </p:txBody>
      </p:sp>
      <p:sp>
        <p:nvSpPr>
          <p:cNvPr id="50" name="Text 47"/>
          <p:cNvSpPr/>
          <p:nvPr/>
        </p:nvSpPr>
        <p:spPr>
          <a:xfrm>
            <a:off x="8366760" y="4590288"/>
            <a:ext cx="3200400" cy="402336"/>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The engine blocks a duty rate that is unverified or over 90 days old rather than quietly using it. The refresh gets a named owner in the pilot.</a:t>
            </a:r>
            <a:endParaRPr lang="en-US" sz="750" dirty="0"/>
          </a:p>
        </p:txBody>
      </p:sp>
      <p:sp>
        <p:nvSpPr>
          <p:cNvPr id="51" name="Text 48"/>
          <p:cNvSpPr/>
          <p:nvPr/>
        </p:nvSpPr>
        <p:spPr>
          <a:xfrm>
            <a:off x="5943600" y="5010912"/>
            <a:ext cx="2331720" cy="402336"/>
          </a:xfrm>
          <a:prstGeom prst="rect">
            <a:avLst/>
          </a:prstGeom>
          <a:noFill/>
          <a:ln/>
        </p:spPr>
        <p:txBody>
          <a:bodyPr wrap="square" lIns="0" tIns="0" rIns="0" bIns="0" rtlCol="0" anchor="ctr"/>
          <a:lstStyle/>
          <a:p>
            <a:pPr indent="0" marL="0">
              <a:buNone/>
            </a:pPr>
            <a:r>
              <a:rPr lang="en-US" sz="760" b="1" i="1" dirty="0">
                <a:solidFill>
                  <a:srgbClr val="16325C"/>
                </a:solidFill>
                <a:latin typeface="Calibri" pitchFamily="34" charset="0"/>
                <a:ea typeface="Calibri" pitchFamily="34" charset="-122"/>
                <a:cs typeface="Calibri" pitchFamily="34" charset="-120"/>
              </a:rPr>
              <a:t>“Engineering will read it as criticism.”</a:t>
            </a:r>
            <a:endParaRPr lang="en-US" sz="760" dirty="0"/>
          </a:p>
        </p:txBody>
      </p:sp>
      <p:sp>
        <p:nvSpPr>
          <p:cNvPr id="52" name="Text 49"/>
          <p:cNvSpPr/>
          <p:nvPr/>
        </p:nvSpPr>
        <p:spPr>
          <a:xfrm>
            <a:off x="8366760" y="5010912"/>
            <a:ext cx="3200400" cy="402336"/>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Already changed: the output is savings ranked by category, with no score and no severity anywhere an engineer sees.</a:t>
            </a:r>
            <a:endParaRPr lang="en-US" sz="750" dirty="0"/>
          </a:p>
        </p:txBody>
      </p:sp>
      <p:sp>
        <p:nvSpPr>
          <p:cNvPr id="53" name="Shape 50"/>
          <p:cNvSpPr/>
          <p:nvPr/>
        </p:nvSpPr>
        <p:spPr>
          <a:xfrm>
            <a:off x="457200" y="5577840"/>
            <a:ext cx="11274552" cy="786384"/>
          </a:xfrm>
          <a:prstGeom prst="roundRect">
            <a:avLst>
              <a:gd name="adj" fmla="val 11628"/>
            </a:avLst>
          </a:prstGeom>
          <a:solidFill>
            <a:srgbClr val="16325C"/>
          </a:solidFill>
          <a:ln/>
        </p:spPr>
      </p:sp>
      <p:sp>
        <p:nvSpPr>
          <p:cNvPr id="54" name="Text 51"/>
          <p:cNvSpPr/>
          <p:nvPr/>
        </p:nvSpPr>
        <p:spPr>
          <a:xfrm>
            <a:off x="777240" y="5614416"/>
            <a:ext cx="10652760" cy="713232"/>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The decision on the table:  </a:t>
            </a:r>
            <a:pPr indent="0" marL="0">
              <a:buNone/>
            </a:pPr>
            <a:r>
              <a:rPr lang="en-US" sz="1150" dirty="0">
                <a:solidFill>
                  <a:srgbClr val="FFFFFF"/>
                </a:solidFill>
                <a:latin typeface="Calibri" pitchFamily="34" charset="0"/>
                <a:ea typeface="Calibri" pitchFamily="34" charset="-122"/>
                <a:cs typeface="Calibri" pitchFamily="34" charset="-120"/>
              </a:rPr>
              <a:t>≈£25k and 90 days to find out whether a tool that is already built, with six real parts pinned, holds up on forty of ours. If it misses the criteria we stop and nothing recurring has been committed. If it meets them, the £25k is covered at a 1.6% capture rate.</a:t>
            </a:r>
            <a:endParaRPr lang="en-US" sz="1200" dirty="0"/>
          </a:p>
        </p:txBody>
      </p:sp>
      <p:sp>
        <p:nvSpPr>
          <p:cNvPr id="55" name="Text 52"/>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56" name="Text 53"/>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25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Shape 1"/>
          <p:cNvSpPr/>
          <p:nvPr/>
        </p:nvSpPr>
        <p:spPr>
          <a:xfrm>
            <a:off x="731520" y="548640"/>
            <a:ext cx="502920" cy="502920"/>
          </a:xfrm>
          <a:prstGeom prst="roundRect">
            <a:avLst>
              <a:gd name="adj" fmla="val 22000"/>
            </a:avLst>
          </a:prstGeom>
          <a:solidFill>
            <a:srgbClr val="4F46E5"/>
          </a:solidFill>
          <a:ln/>
        </p:spPr>
      </p:sp>
      <p:sp>
        <p:nvSpPr>
          <p:cNvPr id="4" name="Text 2"/>
          <p:cNvSpPr/>
          <p:nvPr/>
        </p:nvSpPr>
        <p:spPr>
          <a:xfrm>
            <a:off x="731520" y="54864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CV</a:t>
            </a:r>
            <a:endParaRPr lang="en-US" sz="1650" dirty="0"/>
          </a:p>
        </p:txBody>
      </p:sp>
      <p:sp>
        <p:nvSpPr>
          <p:cNvPr id="5" name="Text 3"/>
          <p:cNvSpPr/>
          <p:nvPr/>
        </p:nvSpPr>
        <p:spPr>
          <a:xfrm>
            <a:off x="731520" y="1828800"/>
            <a:ext cx="7315200" cy="292608"/>
          </a:xfrm>
          <a:prstGeom prst="rect">
            <a:avLst/>
          </a:prstGeom>
          <a:noFill/>
          <a:ln/>
        </p:spPr>
        <p:txBody>
          <a:bodyPr wrap="square" lIns="0" tIns="0" rIns="0" bIns="0" rtlCol="0" anchor="ctr"/>
          <a:lstStyle/>
          <a:p>
            <a:pPr indent="0" marL="0">
              <a:buNone/>
            </a:pPr>
            <a:r>
              <a:rPr lang="en-US" sz="1300" b="1" spc="160" kern="0" dirty="0">
                <a:solidFill>
                  <a:srgbClr val="0D7D71"/>
                </a:solidFill>
                <a:latin typeface="Calibri" pitchFamily="34" charset="0"/>
                <a:ea typeface="Calibri" pitchFamily="34" charset="-122"/>
                <a:cs typeface="Calibri" pitchFamily="34" charset="-120"/>
              </a:rPr>
              <a:t>SECTION TWO</a:t>
            </a:r>
            <a:endParaRPr lang="en-US" sz="1300" dirty="0"/>
          </a:p>
        </p:txBody>
      </p:sp>
      <p:sp>
        <p:nvSpPr>
          <p:cNvPr id="6" name="Text 4"/>
          <p:cNvSpPr/>
          <p:nvPr/>
        </p:nvSpPr>
        <p:spPr>
          <a:xfrm>
            <a:off x="731520" y="2212848"/>
            <a:ext cx="8778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Die-Cast Aluminium Housing</a:t>
            </a:r>
            <a:endParaRPr lang="en-US" sz="3400" dirty="0"/>
          </a:p>
        </p:txBody>
      </p:sp>
      <p:sp>
        <p:nvSpPr>
          <p:cNvPr id="7" name="Text 5"/>
          <p:cNvSpPr/>
          <p:nvPr/>
        </p:nvSpPr>
        <p:spPr>
          <a:xfrm>
            <a:off x="731520" y="2980944"/>
            <a:ext cx="8778240" cy="310896"/>
          </a:xfrm>
          <a:prstGeom prst="rect">
            <a:avLst/>
          </a:prstGeom>
          <a:noFill/>
          <a:ln/>
        </p:spPr>
        <p:txBody>
          <a:bodyPr wrap="square" lIns="0" tIns="0" rIns="0" bIns="0" rtlCol="0" anchor="ctr"/>
          <a:lstStyle/>
          <a:p>
            <a:pPr indent="0" marL="0">
              <a:buNone/>
            </a:pPr>
            <a:r>
              <a:rPr lang="en-US" sz="1500" dirty="0">
                <a:solidFill>
                  <a:srgbClr val="8FA3CC"/>
                </a:solidFill>
                <a:latin typeface="Calibri" pitchFamily="34" charset="0"/>
                <a:ea typeface="Calibri" pitchFamily="34" charset="-122"/>
                <a:cs typeface="Calibri" pitchFamily="34" charset="-120"/>
              </a:rPr>
              <a:t>One worked example, followed through all twelve stages</a:t>
            </a:r>
            <a:endParaRPr lang="en-US" sz="1500" dirty="0"/>
          </a:p>
        </p:txBody>
      </p:sp>
      <p:sp>
        <p:nvSpPr>
          <p:cNvPr id="8" name="Shape 6"/>
          <p:cNvSpPr/>
          <p:nvPr/>
        </p:nvSpPr>
        <p:spPr>
          <a:xfrm>
            <a:off x="786384" y="3730752"/>
            <a:ext cx="100584" cy="100584"/>
          </a:xfrm>
          <a:prstGeom prst="ellipse">
            <a:avLst/>
          </a:prstGeom>
          <a:solidFill>
            <a:srgbClr val="0D7D71"/>
          </a:solidFill>
          <a:ln/>
        </p:spPr>
      </p:sp>
      <p:sp>
        <p:nvSpPr>
          <p:cNvPr id="9" name="Text 7"/>
          <p:cNvSpPr/>
          <p:nvPr/>
        </p:nvSpPr>
        <p:spPr>
          <a:xfrm>
            <a:off x="1078992" y="3639312"/>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What the geometry kernel measures, and what it asks the engineer</a:t>
            </a:r>
            <a:endParaRPr lang="en-US" sz="1200" dirty="0"/>
          </a:p>
        </p:txBody>
      </p:sp>
      <p:sp>
        <p:nvSpPr>
          <p:cNvPr id="10" name="Shape 8"/>
          <p:cNvSpPr/>
          <p:nvPr/>
        </p:nvSpPr>
        <p:spPr>
          <a:xfrm>
            <a:off x="786384" y="4059936"/>
            <a:ext cx="100584" cy="100584"/>
          </a:xfrm>
          <a:prstGeom prst="ellipse">
            <a:avLst/>
          </a:prstGeom>
          <a:solidFill>
            <a:srgbClr val="0D7D71"/>
          </a:solidFill>
          <a:ln/>
        </p:spPr>
      </p:sp>
      <p:sp>
        <p:nvSpPr>
          <p:cNvPr id="11" name="Text 9"/>
          <p:cNvSpPr/>
          <p:nvPr/>
        </p:nvSpPr>
        <p:spPr>
          <a:xfrm>
            <a:off x="1078992" y="3968496"/>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Four automatic guards, and the autocorrect when an input disagrees with geometry</a:t>
            </a:r>
            <a:endParaRPr lang="en-US" sz="1200" dirty="0"/>
          </a:p>
        </p:txBody>
      </p:sp>
      <p:sp>
        <p:nvSpPr>
          <p:cNvPr id="12" name="Shape 10"/>
          <p:cNvSpPr/>
          <p:nvPr/>
        </p:nvSpPr>
        <p:spPr>
          <a:xfrm>
            <a:off x="786384" y="4389120"/>
            <a:ext cx="100584" cy="100584"/>
          </a:xfrm>
          <a:prstGeom prst="ellipse">
            <a:avLst/>
          </a:prstGeom>
          <a:solidFill>
            <a:srgbClr val="0D7D71"/>
          </a:solidFill>
          <a:ln/>
        </p:spPr>
      </p:sp>
      <p:sp>
        <p:nvSpPr>
          <p:cNvPr id="13" name="Text 11"/>
          <p:cNvSpPr/>
          <p:nvPr/>
        </p:nvSpPr>
        <p:spPr>
          <a:xfrm>
            <a:off x="1078992" y="4297680"/>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press chosen by physics; every cutting minute derived from a feature</a:t>
            </a:r>
            <a:endParaRPr lang="en-US" sz="1200" dirty="0"/>
          </a:p>
        </p:txBody>
      </p:sp>
      <p:sp>
        <p:nvSpPr>
          <p:cNvPr id="14" name="Shape 12"/>
          <p:cNvSpPr/>
          <p:nvPr/>
        </p:nvSpPr>
        <p:spPr>
          <a:xfrm>
            <a:off x="786384" y="4718304"/>
            <a:ext cx="100584" cy="100584"/>
          </a:xfrm>
          <a:prstGeom prst="ellipse">
            <a:avLst/>
          </a:prstGeom>
          <a:solidFill>
            <a:srgbClr val="0D7D71"/>
          </a:solidFill>
          <a:ln/>
        </p:spPr>
      </p:sp>
      <p:sp>
        <p:nvSpPr>
          <p:cNvPr id="15" name="Text 13"/>
          <p:cNvSpPr/>
          <p:nvPr/>
        </p:nvSpPr>
        <p:spPr>
          <a:xfrm>
            <a:off x="1078992" y="4626864"/>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Eight buckets, twenty countries, an honest range — and a person signing it off</a:t>
            </a:r>
            <a:endParaRPr lang="en-US" sz="1200" dirty="0"/>
          </a:p>
        </p:txBody>
      </p:sp>
      <p:sp>
        <p:nvSpPr>
          <p:cNvPr id="16" name="Shape 14"/>
          <p:cNvSpPr/>
          <p:nvPr/>
        </p:nvSpPr>
        <p:spPr>
          <a:xfrm>
            <a:off x="9692640" y="2212848"/>
            <a:ext cx="2039112" cy="914400"/>
          </a:xfrm>
          <a:prstGeom prst="roundRect">
            <a:avLst>
              <a:gd name="adj" fmla="val 10000"/>
            </a:avLst>
          </a:prstGeom>
          <a:solidFill>
            <a:srgbClr val="24406E"/>
          </a:solidFill>
          <a:ln/>
        </p:spPr>
      </p:sp>
      <p:sp>
        <p:nvSpPr>
          <p:cNvPr id="17" name="Text 15"/>
          <p:cNvSpPr/>
          <p:nvPr/>
        </p:nvSpPr>
        <p:spPr>
          <a:xfrm>
            <a:off x="9692640" y="2304288"/>
            <a:ext cx="2039112"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22</a:t>
            </a:r>
            <a:endParaRPr lang="en-US" sz="2600" dirty="0"/>
          </a:p>
        </p:txBody>
      </p:sp>
      <p:sp>
        <p:nvSpPr>
          <p:cNvPr id="18" name="Text 16"/>
          <p:cNvSpPr/>
          <p:nvPr/>
        </p:nvSpPr>
        <p:spPr>
          <a:xfrm>
            <a:off x="9692640" y="2743200"/>
            <a:ext cx="2039112" cy="274320"/>
          </a:xfrm>
          <a:prstGeom prst="rect">
            <a:avLst/>
          </a:prstGeom>
          <a:noFill/>
          <a:ln/>
        </p:spPr>
        <p:txBody>
          <a:bodyPr wrap="square" lIns="0" tIns="0" rIns="0" bIns="0" rtlCol="0" anchor="ctr"/>
          <a:lstStyle/>
          <a:p>
            <a:pPr algn="ctr" indent="0" marL="0">
              <a:buNone/>
            </a:pPr>
            <a:r>
              <a:rPr lang="en-US" sz="1100" dirty="0">
                <a:solidFill>
                  <a:srgbClr val="8FA3CC"/>
                </a:solidFill>
                <a:latin typeface="Calibri" pitchFamily="34" charset="0"/>
                <a:ea typeface="Calibri" pitchFamily="34" charset="-122"/>
                <a:cs typeface="Calibri" pitchFamily="34" charset="-120"/>
              </a:rPr>
              <a:t>minutes</a:t>
            </a:r>
            <a:endParaRPr lang="en-US" sz="1100" dirty="0"/>
          </a:p>
        </p:txBody>
      </p:sp>
      <p:sp>
        <p:nvSpPr>
          <p:cNvPr id="19" name="Text 17"/>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20" name="Text 18"/>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D6FB8"/>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Part We Are Costing</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One worked-example component, followed from CAD file to defensible price</a:t>
            </a:r>
            <a:endParaRPr lang="en-US" sz="1200" dirty="0"/>
          </a:p>
        </p:txBody>
      </p:sp>
      <p:pic>
        <p:nvPicPr>
          <p:cNvPr id="5" name="Image 0" descr="assets/workflow-deck/part-housing.png">    </p:cNvPr>
          <p:cNvPicPr>
            <a:picLocks noChangeAspect="1"/>
          </p:cNvPicPr>
          <p:nvPr/>
        </p:nvPicPr>
        <p:blipFill>
          <a:blip r:embed="rId1"/>
          <a:stretch>
            <a:fillRect/>
          </a:stretch>
        </p:blipFill>
        <p:spPr>
          <a:xfrm>
            <a:off x="411480" y="1133856"/>
            <a:ext cx="7223760" cy="4041648"/>
          </a:xfrm>
          <a:prstGeom prst="rect">
            <a:avLst/>
          </a:prstGeom>
        </p:spPr>
      </p:pic>
      <p:sp>
        <p:nvSpPr>
          <p:cNvPr id="6" name="Shape 3"/>
          <p:cNvSpPr/>
          <p:nvPr/>
        </p:nvSpPr>
        <p:spPr>
          <a:xfrm>
            <a:off x="7818120" y="1133856"/>
            <a:ext cx="3913632" cy="4041648"/>
          </a:xfrm>
          <a:prstGeom prst="roundRect">
            <a:avLst>
              <a:gd name="adj" fmla="val 2336"/>
            </a:avLst>
          </a:prstGeom>
          <a:solidFill>
            <a:srgbClr val="FFFFFF"/>
          </a:solidFill>
          <a:ln w="12700">
            <a:solidFill>
              <a:srgbClr val="DCE3EE"/>
            </a:solidFill>
            <a:prstDash val="solid"/>
          </a:ln>
        </p:spPr>
      </p:sp>
      <p:sp>
        <p:nvSpPr>
          <p:cNvPr id="7" name="Text 4"/>
          <p:cNvSpPr/>
          <p:nvPr/>
        </p:nvSpPr>
        <p:spPr>
          <a:xfrm>
            <a:off x="8046720" y="1243584"/>
            <a:ext cx="3474720" cy="457200"/>
          </a:xfrm>
          <a:prstGeom prst="rect">
            <a:avLst/>
          </a:prstGeom>
          <a:noFill/>
          <a:ln/>
        </p:spPr>
        <p:txBody>
          <a:bodyPr wrap="square" lIns="0" tIns="0" rIns="0" bIns="0" rtlCol="0" anchor="ctr"/>
          <a:lstStyle/>
          <a:p>
            <a:pPr indent="0" marL="0">
              <a:buNone/>
            </a:pPr>
            <a:r>
              <a:rPr lang="en-US" sz="1300" b="1" dirty="0">
                <a:solidFill>
                  <a:srgbClr val="1D6FB8"/>
                </a:solidFill>
                <a:latin typeface="Calibri" pitchFamily="34" charset="0"/>
                <a:ea typeface="Calibri" pitchFamily="34" charset="-122"/>
                <a:cs typeface="Calibri" pitchFamily="34" charset="-120"/>
              </a:rPr>
              <a:t>Die-cast aluminium housing</a:t>
            </a:r>
            <a:endParaRPr lang="en-US" sz="1300" dirty="0"/>
          </a:p>
        </p:txBody>
      </p:sp>
      <p:sp>
        <p:nvSpPr>
          <p:cNvPr id="8" name="Text 5"/>
          <p:cNvSpPr/>
          <p:nvPr/>
        </p:nvSpPr>
        <p:spPr>
          <a:xfrm>
            <a:off x="8046720" y="1755648"/>
            <a:ext cx="3474720" cy="201168"/>
          </a:xfrm>
          <a:prstGeom prst="rect">
            <a:avLst/>
          </a:prstGeom>
          <a:noFill/>
          <a:ln/>
        </p:spPr>
        <p:txBody>
          <a:bodyPr wrap="square" lIns="0" tIns="0" rIns="0" bIns="0" rtlCol="0" anchor="ctr"/>
          <a:lstStyle/>
          <a:p>
            <a:pPr indent="0" marL="0">
              <a:buNone/>
            </a:pPr>
            <a:r>
              <a:rPr lang="en-US" sz="860" b="1" spc="60" kern="0" dirty="0">
                <a:solidFill>
                  <a:srgbClr val="686F7D"/>
                </a:solidFill>
                <a:latin typeface="Calibri" pitchFamily="34" charset="0"/>
                <a:ea typeface="Calibri" pitchFamily="34" charset="-122"/>
                <a:cs typeface="Calibri" pitchFamily="34" charset="-120"/>
              </a:rPr>
              <a:t>THE WORKED-EXAMPLE INPUTS</a:t>
            </a:r>
            <a:endParaRPr lang="en-US" sz="860" dirty="0"/>
          </a:p>
        </p:txBody>
      </p:sp>
      <p:sp>
        <p:nvSpPr>
          <p:cNvPr id="9" name="Shape 6"/>
          <p:cNvSpPr/>
          <p:nvPr/>
        </p:nvSpPr>
        <p:spPr>
          <a:xfrm>
            <a:off x="7955280" y="1993392"/>
            <a:ext cx="3639312" cy="256032"/>
          </a:xfrm>
          <a:prstGeom prst="rect">
            <a:avLst/>
          </a:prstGeom>
          <a:solidFill>
            <a:srgbClr val="F4F7FB"/>
          </a:solidFill>
          <a:ln/>
        </p:spPr>
      </p:sp>
      <p:sp>
        <p:nvSpPr>
          <p:cNvPr id="10" name="Text 7"/>
          <p:cNvSpPr/>
          <p:nvPr/>
        </p:nvSpPr>
        <p:spPr>
          <a:xfrm>
            <a:off x="8046720" y="201168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Finished weight</a:t>
            </a:r>
            <a:endParaRPr lang="en-US" sz="960" dirty="0"/>
          </a:p>
        </p:txBody>
      </p:sp>
      <p:sp>
        <p:nvSpPr>
          <p:cNvPr id="11" name="Text 8"/>
          <p:cNvSpPr/>
          <p:nvPr/>
        </p:nvSpPr>
        <p:spPr>
          <a:xfrm>
            <a:off x="10195560" y="201168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2.8 kg</a:t>
            </a:r>
            <a:endParaRPr lang="en-US" sz="1000" dirty="0"/>
          </a:p>
        </p:txBody>
      </p:sp>
      <p:sp>
        <p:nvSpPr>
          <p:cNvPr id="12" name="Text 9"/>
          <p:cNvSpPr/>
          <p:nvPr/>
        </p:nvSpPr>
        <p:spPr>
          <a:xfrm>
            <a:off x="8046720" y="228600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Poured weight</a:t>
            </a:r>
            <a:endParaRPr lang="en-US" sz="960" dirty="0"/>
          </a:p>
        </p:txBody>
      </p:sp>
      <p:sp>
        <p:nvSpPr>
          <p:cNvPr id="13" name="Text 10"/>
          <p:cNvSpPr/>
          <p:nvPr/>
        </p:nvSpPr>
        <p:spPr>
          <a:xfrm>
            <a:off x="10195560" y="228600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4.83 kg</a:t>
            </a:r>
            <a:endParaRPr lang="en-US" sz="1000" dirty="0"/>
          </a:p>
        </p:txBody>
      </p:sp>
      <p:sp>
        <p:nvSpPr>
          <p:cNvPr id="14" name="Shape 11"/>
          <p:cNvSpPr/>
          <p:nvPr/>
        </p:nvSpPr>
        <p:spPr>
          <a:xfrm>
            <a:off x="7955280" y="2542032"/>
            <a:ext cx="3639312" cy="256032"/>
          </a:xfrm>
          <a:prstGeom prst="rect">
            <a:avLst/>
          </a:prstGeom>
          <a:solidFill>
            <a:srgbClr val="F4F7FB"/>
          </a:solidFill>
          <a:ln/>
        </p:spPr>
      </p:sp>
      <p:sp>
        <p:nvSpPr>
          <p:cNvPr id="15" name="Text 12"/>
          <p:cNvSpPr/>
          <p:nvPr/>
        </p:nvSpPr>
        <p:spPr>
          <a:xfrm>
            <a:off x="8046720" y="256032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Wall thickness</a:t>
            </a:r>
            <a:endParaRPr lang="en-US" sz="960" dirty="0"/>
          </a:p>
        </p:txBody>
      </p:sp>
      <p:sp>
        <p:nvSpPr>
          <p:cNvPr id="16" name="Text 13"/>
          <p:cNvSpPr/>
          <p:nvPr/>
        </p:nvSpPr>
        <p:spPr>
          <a:xfrm>
            <a:off x="10195560" y="256032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 3.0 mm</a:t>
            </a:r>
            <a:endParaRPr lang="en-US" sz="1000" dirty="0"/>
          </a:p>
        </p:txBody>
      </p:sp>
      <p:sp>
        <p:nvSpPr>
          <p:cNvPr id="17" name="Text 14"/>
          <p:cNvSpPr/>
          <p:nvPr/>
        </p:nvSpPr>
        <p:spPr>
          <a:xfrm>
            <a:off x="8046720" y="283464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Projected shadow</a:t>
            </a:r>
            <a:endParaRPr lang="en-US" sz="960" dirty="0"/>
          </a:p>
        </p:txBody>
      </p:sp>
      <p:sp>
        <p:nvSpPr>
          <p:cNvPr id="18" name="Text 15"/>
          <p:cNvSpPr/>
          <p:nvPr/>
        </p:nvSpPr>
        <p:spPr>
          <a:xfrm>
            <a:off x="10195560" y="283464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1,650 cm²</a:t>
            </a:r>
            <a:endParaRPr lang="en-US" sz="1000" dirty="0"/>
          </a:p>
        </p:txBody>
      </p:sp>
      <p:sp>
        <p:nvSpPr>
          <p:cNvPr id="19" name="Shape 16"/>
          <p:cNvSpPr/>
          <p:nvPr/>
        </p:nvSpPr>
        <p:spPr>
          <a:xfrm>
            <a:off x="7955280" y="3090672"/>
            <a:ext cx="3639312" cy="256032"/>
          </a:xfrm>
          <a:prstGeom prst="rect">
            <a:avLst/>
          </a:prstGeom>
          <a:solidFill>
            <a:srgbClr val="F4F7FB"/>
          </a:solidFill>
          <a:ln/>
        </p:spPr>
      </p:sp>
      <p:sp>
        <p:nvSpPr>
          <p:cNvPr id="20" name="Text 17"/>
          <p:cNvSpPr/>
          <p:nvPr/>
        </p:nvSpPr>
        <p:spPr>
          <a:xfrm>
            <a:off x="8046720" y="310896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Precision bores</a:t>
            </a:r>
            <a:endParaRPr lang="en-US" sz="960" dirty="0"/>
          </a:p>
        </p:txBody>
      </p:sp>
      <p:sp>
        <p:nvSpPr>
          <p:cNvPr id="21" name="Text 18"/>
          <p:cNvSpPr/>
          <p:nvPr/>
        </p:nvSpPr>
        <p:spPr>
          <a:xfrm>
            <a:off x="10195560" y="310896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2 × Ø40</a:t>
            </a:r>
            <a:endParaRPr lang="en-US" sz="1000" dirty="0"/>
          </a:p>
        </p:txBody>
      </p:sp>
      <p:sp>
        <p:nvSpPr>
          <p:cNvPr id="22" name="Text 19"/>
          <p:cNvSpPr/>
          <p:nvPr/>
        </p:nvSpPr>
        <p:spPr>
          <a:xfrm>
            <a:off x="8046720" y="338328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Tapped holes</a:t>
            </a:r>
            <a:endParaRPr lang="en-US" sz="960" dirty="0"/>
          </a:p>
        </p:txBody>
      </p:sp>
      <p:sp>
        <p:nvSpPr>
          <p:cNvPr id="23" name="Text 20"/>
          <p:cNvSpPr/>
          <p:nvPr/>
        </p:nvSpPr>
        <p:spPr>
          <a:xfrm>
            <a:off x="10195560" y="338328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16 × M8</a:t>
            </a:r>
            <a:endParaRPr lang="en-US" sz="1000" dirty="0"/>
          </a:p>
        </p:txBody>
      </p:sp>
      <p:sp>
        <p:nvSpPr>
          <p:cNvPr id="24" name="Shape 21"/>
          <p:cNvSpPr/>
          <p:nvPr/>
        </p:nvSpPr>
        <p:spPr>
          <a:xfrm>
            <a:off x="7955280" y="3639312"/>
            <a:ext cx="3639312" cy="256032"/>
          </a:xfrm>
          <a:prstGeom prst="rect">
            <a:avLst/>
          </a:prstGeom>
          <a:solidFill>
            <a:srgbClr val="F4F7FB"/>
          </a:solidFill>
          <a:ln/>
        </p:spPr>
      </p:sp>
      <p:sp>
        <p:nvSpPr>
          <p:cNvPr id="25" name="Text 22"/>
          <p:cNvSpPr/>
          <p:nvPr/>
        </p:nvSpPr>
        <p:spPr>
          <a:xfrm>
            <a:off x="8046720" y="365760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Machined faces</a:t>
            </a:r>
            <a:endParaRPr lang="en-US" sz="960" dirty="0"/>
          </a:p>
        </p:txBody>
      </p:sp>
      <p:sp>
        <p:nvSpPr>
          <p:cNvPr id="26" name="Text 23"/>
          <p:cNvSpPr/>
          <p:nvPr/>
        </p:nvSpPr>
        <p:spPr>
          <a:xfrm>
            <a:off x="10195560" y="365760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2</a:t>
            </a:r>
            <a:endParaRPr lang="en-US" sz="1000" dirty="0"/>
          </a:p>
        </p:txBody>
      </p:sp>
      <p:sp>
        <p:nvSpPr>
          <p:cNvPr id="27" name="Text 24"/>
          <p:cNvSpPr/>
          <p:nvPr/>
        </p:nvSpPr>
        <p:spPr>
          <a:xfrm>
            <a:off x="8046720" y="393192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Annual volume</a:t>
            </a:r>
            <a:endParaRPr lang="en-US" sz="960" dirty="0"/>
          </a:p>
        </p:txBody>
      </p:sp>
      <p:sp>
        <p:nvSpPr>
          <p:cNvPr id="28" name="Text 25"/>
          <p:cNvSpPr/>
          <p:nvPr/>
        </p:nvSpPr>
        <p:spPr>
          <a:xfrm>
            <a:off x="10195560" y="393192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60,000</a:t>
            </a:r>
            <a:endParaRPr lang="en-US" sz="1000" dirty="0"/>
          </a:p>
        </p:txBody>
      </p:sp>
      <p:sp>
        <p:nvSpPr>
          <p:cNvPr id="29" name="Shape 26"/>
          <p:cNvSpPr/>
          <p:nvPr/>
        </p:nvSpPr>
        <p:spPr>
          <a:xfrm>
            <a:off x="7955280" y="4187952"/>
            <a:ext cx="3639312" cy="256032"/>
          </a:xfrm>
          <a:prstGeom prst="rect">
            <a:avLst/>
          </a:prstGeom>
          <a:solidFill>
            <a:srgbClr val="F4F7FB"/>
          </a:solidFill>
          <a:ln/>
        </p:spPr>
      </p:sp>
      <p:sp>
        <p:nvSpPr>
          <p:cNvPr id="30" name="Text 27"/>
          <p:cNvSpPr/>
          <p:nvPr/>
        </p:nvSpPr>
        <p:spPr>
          <a:xfrm>
            <a:off x="8046720" y="420624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Made in</a:t>
            </a:r>
            <a:endParaRPr lang="en-US" sz="960" dirty="0"/>
          </a:p>
        </p:txBody>
      </p:sp>
      <p:sp>
        <p:nvSpPr>
          <p:cNvPr id="31" name="Text 28"/>
          <p:cNvSpPr/>
          <p:nvPr/>
        </p:nvSpPr>
        <p:spPr>
          <a:xfrm>
            <a:off x="10195560" y="420624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China</a:t>
            </a:r>
            <a:endParaRPr lang="en-US" sz="1000" dirty="0"/>
          </a:p>
        </p:txBody>
      </p:sp>
      <p:sp>
        <p:nvSpPr>
          <p:cNvPr id="32" name="Text 29"/>
          <p:cNvSpPr/>
          <p:nvPr/>
        </p:nvSpPr>
        <p:spPr>
          <a:xfrm>
            <a:off x="8046720" y="4663440"/>
            <a:ext cx="3474720" cy="502920"/>
          </a:xfrm>
          <a:prstGeom prst="rect">
            <a:avLst/>
          </a:prstGeom>
          <a:noFill/>
          <a:ln/>
        </p:spPr>
        <p:txBody>
          <a:bodyPr wrap="square" lIns="0" tIns="0" rIns="0" bIns="0" rtlCol="0" anchor="t"/>
          <a:lstStyle/>
          <a:p>
            <a:pPr indent="0" marL="0">
              <a:buNone/>
            </a:pPr>
            <a:r>
              <a:rPr lang="en-US" sz="950" i="1" dirty="0">
                <a:solidFill>
                  <a:srgbClr val="3A4356"/>
                </a:solidFill>
                <a:latin typeface="Calibri" pitchFamily="34" charset="0"/>
                <a:ea typeface="Calibri" pitchFamily="34" charset="-122"/>
                <a:cs typeface="Calibri" pitchFamily="34" charset="-120"/>
              </a:rPr>
              <a:t>Size, walls and features are what the kernel measures on a STEP file. Volume and region are typed.</a:t>
            </a:r>
            <a:endParaRPr lang="en-US" sz="950" dirty="0"/>
          </a:p>
        </p:txBody>
      </p:sp>
      <p:sp>
        <p:nvSpPr>
          <p:cNvPr id="33" name="Text 30"/>
          <p:cNvSpPr/>
          <p:nvPr/>
        </p:nvSpPr>
        <p:spPr>
          <a:xfrm>
            <a:off x="457200" y="5266944"/>
            <a:ext cx="7132320" cy="219456"/>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Illustration of the worked-example part. The costs that follow are engine output from these inputs.</a:t>
            </a:r>
            <a:endParaRPr lang="en-US" sz="840" dirty="0"/>
          </a:p>
        </p:txBody>
      </p:sp>
      <p:sp>
        <p:nvSpPr>
          <p:cNvPr id="34" name="Text 3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5" name="Text 3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Part, and the Journey It Takes</a:t>
            </a:r>
            <a:endParaRPr lang="en-US" sz="2500" dirty="0"/>
          </a:p>
        </p:txBody>
      </p:sp>
      <p:sp>
        <p:nvSpPr>
          <p:cNvPr id="3" name="Text 1"/>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One housing, twelve stages, five owners</a:t>
            </a:r>
            <a:endParaRPr lang="en-US" sz="1200" dirty="0"/>
          </a:p>
        </p:txBody>
      </p:sp>
      <p:sp>
        <p:nvSpPr>
          <p:cNvPr id="4" name="Shape 2"/>
          <p:cNvSpPr/>
          <p:nvPr/>
        </p:nvSpPr>
        <p:spPr>
          <a:xfrm>
            <a:off x="457200" y="1170432"/>
            <a:ext cx="11274552" cy="1051560"/>
          </a:xfrm>
          <a:prstGeom prst="roundRect">
            <a:avLst>
              <a:gd name="adj" fmla="val 8696"/>
            </a:avLst>
          </a:prstGeom>
          <a:solidFill>
            <a:srgbClr val="FFFFFF"/>
          </a:solidFill>
          <a:ln w="12700">
            <a:solidFill>
              <a:srgbClr val="DCE3EE"/>
            </a:solidFill>
            <a:prstDash val="solid"/>
          </a:ln>
        </p:spPr>
      </p:sp>
      <p:sp>
        <p:nvSpPr>
          <p:cNvPr id="5" name="Shape 3"/>
          <p:cNvSpPr/>
          <p:nvPr/>
        </p:nvSpPr>
        <p:spPr>
          <a:xfrm>
            <a:off x="658368" y="1371600"/>
            <a:ext cx="640080" cy="640080"/>
          </a:xfrm>
          <a:prstGeom prst="ellipse">
            <a:avLst/>
          </a:prstGeom>
          <a:solidFill>
            <a:srgbClr val="16325C"/>
          </a:solidFill>
          <a:ln/>
        </p:spPr>
      </p:sp>
      <p:pic>
        <p:nvPicPr>
          <p:cNvPr id="6" name="Image 0" descr="preencoded.png">    </p:cNvPr>
          <p:cNvPicPr>
            <a:picLocks noChangeAspect="1"/>
          </p:cNvPicPr>
          <p:nvPr/>
        </p:nvPicPr>
        <p:blipFill>
          <a:blip r:embed="rId1"/>
          <a:stretch>
            <a:fillRect/>
          </a:stretch>
        </p:blipFill>
        <p:spPr>
          <a:xfrm>
            <a:off x="822960" y="1536192"/>
            <a:ext cx="310896" cy="310896"/>
          </a:xfrm>
          <a:prstGeom prst="rect">
            <a:avLst/>
          </a:prstGeom>
        </p:spPr>
      </p:pic>
      <p:sp>
        <p:nvSpPr>
          <p:cNvPr id="7" name="Text 4"/>
          <p:cNvSpPr/>
          <p:nvPr/>
        </p:nvSpPr>
        <p:spPr>
          <a:xfrm>
            <a:off x="1463040" y="1298448"/>
            <a:ext cx="10058400" cy="310896"/>
          </a:xfrm>
          <a:prstGeom prst="rect">
            <a:avLst/>
          </a:prstGeom>
          <a:noFill/>
          <a:ln/>
        </p:spPr>
        <p:txBody>
          <a:bodyPr wrap="square" lIns="0" tIns="0" rIns="0" bIns="0" rtlCol="0" anchor="ctr"/>
          <a:lstStyle/>
          <a:p>
            <a:pPr indent="0" marL="0">
              <a:buNone/>
            </a:pPr>
            <a:r>
              <a:rPr lang="en-US" sz="1600" b="1" dirty="0">
                <a:solidFill>
                  <a:srgbClr val="16325C"/>
                </a:solidFill>
                <a:latin typeface="Calibri" pitchFamily="34" charset="0"/>
                <a:ea typeface="Calibri" pitchFamily="34" charset="-122"/>
                <a:cs typeface="Calibri" pitchFamily="34" charset="-120"/>
              </a:rPr>
              <a:t>Die-cast aluminium housing — cast in a steel mould, then machine-finished</a:t>
            </a:r>
            <a:endParaRPr lang="en-US" sz="1600" dirty="0"/>
          </a:p>
        </p:txBody>
      </p:sp>
      <p:sp>
        <p:nvSpPr>
          <p:cNvPr id="8" name="Shape 5"/>
          <p:cNvSpPr/>
          <p:nvPr/>
        </p:nvSpPr>
        <p:spPr>
          <a:xfrm>
            <a:off x="1463040" y="1691640"/>
            <a:ext cx="1371600" cy="292608"/>
          </a:xfrm>
          <a:prstGeom prst="roundRect">
            <a:avLst>
              <a:gd name="adj" fmla="val 50000"/>
            </a:avLst>
          </a:prstGeom>
          <a:solidFill>
            <a:srgbClr val="E8F1FA"/>
          </a:solidFill>
          <a:ln w="9525">
            <a:solidFill>
              <a:srgbClr val="DCE3EE"/>
            </a:solidFill>
            <a:prstDash val="solid"/>
          </a:ln>
        </p:spPr>
      </p:sp>
      <p:sp>
        <p:nvSpPr>
          <p:cNvPr id="9" name="Text 6"/>
          <p:cNvSpPr/>
          <p:nvPr/>
        </p:nvSpPr>
        <p:spPr>
          <a:xfrm>
            <a:off x="1463040"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2.8 kg finished</a:t>
            </a:r>
            <a:endParaRPr lang="en-US" sz="850" dirty="0"/>
          </a:p>
        </p:txBody>
      </p:sp>
      <p:sp>
        <p:nvSpPr>
          <p:cNvPr id="10" name="Shape 7"/>
          <p:cNvSpPr/>
          <p:nvPr/>
        </p:nvSpPr>
        <p:spPr>
          <a:xfrm>
            <a:off x="2907792" y="1691640"/>
            <a:ext cx="1371600" cy="292608"/>
          </a:xfrm>
          <a:prstGeom prst="roundRect">
            <a:avLst>
              <a:gd name="adj" fmla="val 50000"/>
            </a:avLst>
          </a:prstGeom>
          <a:solidFill>
            <a:srgbClr val="E8F1FA"/>
          </a:solidFill>
          <a:ln w="9525">
            <a:solidFill>
              <a:srgbClr val="DCE3EE"/>
            </a:solidFill>
            <a:prstDash val="solid"/>
          </a:ln>
        </p:spPr>
      </p:sp>
      <p:sp>
        <p:nvSpPr>
          <p:cNvPr id="11" name="Text 8"/>
          <p:cNvSpPr/>
          <p:nvPr/>
        </p:nvSpPr>
        <p:spPr>
          <a:xfrm>
            <a:off x="2907792"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~3 mm walls</a:t>
            </a:r>
            <a:endParaRPr lang="en-US" sz="850" dirty="0"/>
          </a:p>
        </p:txBody>
      </p:sp>
      <p:sp>
        <p:nvSpPr>
          <p:cNvPr id="12" name="Shape 9"/>
          <p:cNvSpPr/>
          <p:nvPr/>
        </p:nvSpPr>
        <p:spPr>
          <a:xfrm>
            <a:off x="4352544" y="1691640"/>
            <a:ext cx="1371600" cy="292608"/>
          </a:xfrm>
          <a:prstGeom prst="roundRect">
            <a:avLst>
              <a:gd name="adj" fmla="val 50000"/>
            </a:avLst>
          </a:prstGeom>
          <a:solidFill>
            <a:srgbClr val="E8F1FA"/>
          </a:solidFill>
          <a:ln w="9525">
            <a:solidFill>
              <a:srgbClr val="DCE3EE"/>
            </a:solidFill>
            <a:prstDash val="solid"/>
          </a:ln>
        </p:spPr>
      </p:sp>
      <p:sp>
        <p:nvSpPr>
          <p:cNvPr id="13" name="Text 10"/>
          <p:cNvSpPr/>
          <p:nvPr/>
        </p:nvSpPr>
        <p:spPr>
          <a:xfrm>
            <a:off x="4352544"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2 precision bores</a:t>
            </a:r>
            <a:endParaRPr lang="en-US" sz="850" dirty="0"/>
          </a:p>
        </p:txBody>
      </p:sp>
      <p:sp>
        <p:nvSpPr>
          <p:cNvPr id="14" name="Shape 11"/>
          <p:cNvSpPr/>
          <p:nvPr/>
        </p:nvSpPr>
        <p:spPr>
          <a:xfrm>
            <a:off x="5797296" y="1691640"/>
            <a:ext cx="1371600" cy="292608"/>
          </a:xfrm>
          <a:prstGeom prst="roundRect">
            <a:avLst>
              <a:gd name="adj" fmla="val 50000"/>
            </a:avLst>
          </a:prstGeom>
          <a:solidFill>
            <a:srgbClr val="E8F1FA"/>
          </a:solidFill>
          <a:ln w="9525">
            <a:solidFill>
              <a:srgbClr val="DCE3EE"/>
            </a:solidFill>
            <a:prstDash val="solid"/>
          </a:ln>
        </p:spPr>
      </p:sp>
      <p:sp>
        <p:nvSpPr>
          <p:cNvPr id="15" name="Text 12"/>
          <p:cNvSpPr/>
          <p:nvPr/>
        </p:nvSpPr>
        <p:spPr>
          <a:xfrm>
            <a:off x="5797296"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16 holes to thread</a:t>
            </a:r>
            <a:endParaRPr lang="en-US" sz="850" dirty="0"/>
          </a:p>
        </p:txBody>
      </p:sp>
      <p:sp>
        <p:nvSpPr>
          <p:cNvPr id="16" name="Shape 13"/>
          <p:cNvSpPr/>
          <p:nvPr/>
        </p:nvSpPr>
        <p:spPr>
          <a:xfrm>
            <a:off x="7242048" y="1691640"/>
            <a:ext cx="1371600" cy="292608"/>
          </a:xfrm>
          <a:prstGeom prst="roundRect">
            <a:avLst>
              <a:gd name="adj" fmla="val 50000"/>
            </a:avLst>
          </a:prstGeom>
          <a:solidFill>
            <a:srgbClr val="E8F1FA"/>
          </a:solidFill>
          <a:ln w="9525">
            <a:solidFill>
              <a:srgbClr val="DCE3EE"/>
            </a:solidFill>
            <a:prstDash val="solid"/>
          </a:ln>
        </p:spPr>
      </p:sp>
      <p:sp>
        <p:nvSpPr>
          <p:cNvPr id="17" name="Text 14"/>
          <p:cNvSpPr/>
          <p:nvPr/>
        </p:nvSpPr>
        <p:spPr>
          <a:xfrm>
            <a:off x="7242048"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2 machined faces</a:t>
            </a:r>
            <a:endParaRPr lang="en-US" sz="850" dirty="0"/>
          </a:p>
        </p:txBody>
      </p:sp>
      <p:sp>
        <p:nvSpPr>
          <p:cNvPr id="18" name="Shape 15"/>
          <p:cNvSpPr/>
          <p:nvPr/>
        </p:nvSpPr>
        <p:spPr>
          <a:xfrm>
            <a:off x="8686800" y="1691640"/>
            <a:ext cx="1371600" cy="292608"/>
          </a:xfrm>
          <a:prstGeom prst="roundRect">
            <a:avLst>
              <a:gd name="adj" fmla="val 50000"/>
            </a:avLst>
          </a:prstGeom>
          <a:solidFill>
            <a:srgbClr val="E8F1FA"/>
          </a:solidFill>
          <a:ln w="9525">
            <a:solidFill>
              <a:srgbClr val="DCE3EE"/>
            </a:solidFill>
            <a:prstDash val="solid"/>
          </a:ln>
        </p:spPr>
      </p:sp>
      <p:sp>
        <p:nvSpPr>
          <p:cNvPr id="19" name="Text 16"/>
          <p:cNvSpPr/>
          <p:nvPr/>
        </p:nvSpPr>
        <p:spPr>
          <a:xfrm>
            <a:off x="8686800"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60,000 a year</a:t>
            </a:r>
            <a:endParaRPr lang="en-US" sz="850" dirty="0"/>
          </a:p>
        </p:txBody>
      </p:sp>
      <p:sp>
        <p:nvSpPr>
          <p:cNvPr id="20" name="Shape 17"/>
          <p:cNvSpPr/>
          <p:nvPr/>
        </p:nvSpPr>
        <p:spPr>
          <a:xfrm>
            <a:off x="10131552" y="1691640"/>
            <a:ext cx="1371600" cy="292608"/>
          </a:xfrm>
          <a:prstGeom prst="roundRect">
            <a:avLst>
              <a:gd name="adj" fmla="val 50000"/>
            </a:avLst>
          </a:prstGeom>
          <a:solidFill>
            <a:srgbClr val="E8F1FA"/>
          </a:solidFill>
          <a:ln w="9525">
            <a:solidFill>
              <a:srgbClr val="DCE3EE"/>
            </a:solidFill>
            <a:prstDash val="solid"/>
          </a:ln>
        </p:spPr>
      </p:sp>
      <p:sp>
        <p:nvSpPr>
          <p:cNvPr id="21" name="Text 18"/>
          <p:cNvSpPr/>
          <p:nvPr/>
        </p:nvSpPr>
        <p:spPr>
          <a:xfrm>
            <a:off x="10131552" y="1691640"/>
            <a:ext cx="1371600" cy="292608"/>
          </a:xfrm>
          <a:prstGeom prst="rect">
            <a:avLst/>
          </a:prstGeom>
          <a:noFill/>
          <a:ln/>
        </p:spPr>
        <p:txBody>
          <a:bodyPr wrap="square" lIns="0" tIns="0" rIns="0" bIns="0" rtlCol="0" anchor="ctr"/>
          <a:lstStyle/>
          <a:p>
            <a:pPr algn="ctr" indent="0" marL="0">
              <a:buNone/>
            </a:pPr>
            <a:r>
              <a:rPr lang="en-US" sz="850" b="1" dirty="0">
                <a:solidFill>
                  <a:srgbClr val="16325C"/>
                </a:solidFill>
                <a:latin typeface="Calibri" pitchFamily="34" charset="0"/>
                <a:ea typeface="Calibri" pitchFamily="34" charset="-122"/>
                <a:cs typeface="Calibri" pitchFamily="34" charset="-120"/>
              </a:rPr>
              <a:t>Made in China</a:t>
            </a:r>
            <a:endParaRPr lang="en-US" sz="850" dirty="0"/>
          </a:p>
        </p:txBody>
      </p:sp>
      <p:sp>
        <p:nvSpPr>
          <p:cNvPr id="22" name="Shape 19"/>
          <p:cNvSpPr/>
          <p:nvPr/>
        </p:nvSpPr>
        <p:spPr>
          <a:xfrm>
            <a:off x="457200" y="2395728"/>
            <a:ext cx="2157984" cy="2377440"/>
          </a:xfrm>
          <a:prstGeom prst="roundRect">
            <a:avLst>
              <a:gd name="adj" fmla="val 3814"/>
            </a:avLst>
          </a:prstGeom>
          <a:solidFill>
            <a:srgbClr val="E8F1FA"/>
          </a:solidFill>
          <a:ln w="15875">
            <a:solidFill>
              <a:srgbClr val="1D6FB8"/>
            </a:solidFill>
            <a:prstDash val="solid"/>
          </a:ln>
        </p:spPr>
      </p:sp>
      <p:sp>
        <p:nvSpPr>
          <p:cNvPr id="23" name="Shape 20"/>
          <p:cNvSpPr/>
          <p:nvPr/>
        </p:nvSpPr>
        <p:spPr>
          <a:xfrm>
            <a:off x="457200" y="2395728"/>
            <a:ext cx="2157984" cy="384048"/>
          </a:xfrm>
          <a:prstGeom prst="rect">
            <a:avLst/>
          </a:prstGeom>
          <a:solidFill>
            <a:srgbClr val="1D6FB8"/>
          </a:solidFill>
          <a:ln/>
        </p:spPr>
      </p:sp>
      <p:sp>
        <p:nvSpPr>
          <p:cNvPr id="24" name="Text 21"/>
          <p:cNvSpPr/>
          <p:nvPr/>
        </p:nvSpPr>
        <p:spPr>
          <a:xfrm>
            <a:off x="457200" y="2395728"/>
            <a:ext cx="2157984" cy="384048"/>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Calibri" pitchFamily="34" charset="0"/>
                <a:ea typeface="Calibri" pitchFamily="34" charset="-122"/>
                <a:cs typeface="Calibri" pitchFamily="34" charset="-120"/>
              </a:rPr>
              <a:t>MEASURE</a:t>
            </a:r>
            <a:endParaRPr lang="en-US" sz="1050" dirty="0"/>
          </a:p>
        </p:txBody>
      </p:sp>
      <p:sp>
        <p:nvSpPr>
          <p:cNvPr id="25" name="Text 22"/>
          <p:cNvSpPr/>
          <p:nvPr/>
        </p:nvSpPr>
        <p:spPr>
          <a:xfrm>
            <a:off x="457200" y="2834640"/>
            <a:ext cx="2157984" cy="201168"/>
          </a:xfrm>
          <a:prstGeom prst="rect">
            <a:avLst/>
          </a:prstGeom>
          <a:noFill/>
          <a:ln/>
        </p:spPr>
        <p:txBody>
          <a:bodyPr wrap="square" lIns="0" tIns="0" rIns="0" bIns="0" rtlCol="0" anchor="ctr"/>
          <a:lstStyle/>
          <a:p>
            <a:pPr algn="ctr" indent="0" marL="0">
              <a:buNone/>
            </a:pPr>
            <a:r>
              <a:rPr lang="en-US" sz="850" i="1" dirty="0">
                <a:solidFill>
                  <a:srgbClr val="1D6FB8"/>
                </a:solidFill>
                <a:latin typeface="Calibri" pitchFamily="34" charset="0"/>
                <a:ea typeface="Calibri" pitchFamily="34" charset="-122"/>
                <a:cs typeface="Calibri" pitchFamily="34" charset="-120"/>
              </a:rPr>
              <a:t>owner: Ruler</a:t>
            </a:r>
            <a:endParaRPr lang="en-US" sz="850" dirty="0"/>
          </a:p>
        </p:txBody>
      </p:sp>
      <p:sp>
        <p:nvSpPr>
          <p:cNvPr id="26" name="Text 23"/>
          <p:cNvSpPr/>
          <p:nvPr/>
        </p:nvSpPr>
        <p:spPr>
          <a:xfrm>
            <a:off x="585216" y="3108960"/>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1 · Upload the file</a:t>
            </a:r>
            <a:endParaRPr lang="en-US" sz="930" dirty="0"/>
          </a:p>
        </p:txBody>
      </p:sp>
      <p:sp>
        <p:nvSpPr>
          <p:cNvPr id="27" name="Text 24"/>
          <p:cNvSpPr/>
          <p:nvPr/>
        </p:nvSpPr>
        <p:spPr>
          <a:xfrm>
            <a:off x="585216" y="3438144"/>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2 · Measure the geometry</a:t>
            </a:r>
            <a:endParaRPr lang="en-US" sz="930" dirty="0"/>
          </a:p>
        </p:txBody>
      </p:sp>
      <p:sp>
        <p:nvSpPr>
          <p:cNvPr id="28" name="Text 25"/>
          <p:cNvSpPr/>
          <p:nvPr/>
        </p:nvSpPr>
        <p:spPr>
          <a:xfrm>
            <a:off x="585216" y="3767328"/>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3 · Sense-check the shape</a:t>
            </a:r>
            <a:endParaRPr lang="en-US" sz="930" dirty="0"/>
          </a:p>
        </p:txBody>
      </p:sp>
      <p:sp>
        <p:nvSpPr>
          <p:cNvPr id="29" name="Text 26"/>
          <p:cNvSpPr/>
          <p:nvPr/>
        </p:nvSpPr>
        <p:spPr>
          <a:xfrm>
            <a:off x="585216" y="4389120"/>
            <a:ext cx="1901952" cy="292608"/>
          </a:xfrm>
          <a:prstGeom prst="rect">
            <a:avLst/>
          </a:prstGeom>
          <a:noFill/>
          <a:ln/>
        </p:spPr>
        <p:txBody>
          <a:bodyPr wrap="square" lIns="0" tIns="0" rIns="0" bIns="0" rtlCol="0" anchor="ctr"/>
          <a:lstStyle/>
          <a:p>
            <a:pPr algn="ctr" indent="0" marL="0">
              <a:buNone/>
            </a:pPr>
            <a:r>
              <a:rPr lang="en-US" sz="900" b="1" i="1" dirty="0">
                <a:solidFill>
                  <a:srgbClr val="1D6FB8"/>
                </a:solidFill>
                <a:latin typeface="Calibri" pitchFamily="34" charset="0"/>
                <a:ea typeface="Calibri" pitchFamily="34" charset="-122"/>
                <a:cs typeface="Calibri" pitchFamily="34" charset="-120"/>
              </a:rPr>
              <a:t>Facts, not opinions</a:t>
            </a:r>
            <a:endParaRPr lang="en-US" sz="900" dirty="0"/>
          </a:p>
        </p:txBody>
      </p:sp>
      <p:sp>
        <p:nvSpPr>
          <p:cNvPr id="30" name="Shape 27"/>
          <p:cNvSpPr/>
          <p:nvPr/>
        </p:nvSpPr>
        <p:spPr>
          <a:xfrm>
            <a:off x="2715768" y="2395728"/>
            <a:ext cx="2157984" cy="2377440"/>
          </a:xfrm>
          <a:prstGeom prst="roundRect">
            <a:avLst>
              <a:gd name="adj" fmla="val 3814"/>
            </a:avLst>
          </a:prstGeom>
          <a:solidFill>
            <a:srgbClr val="F1EBF8"/>
          </a:solidFill>
          <a:ln w="15875">
            <a:solidFill>
              <a:srgbClr val="6B3FA0"/>
            </a:solidFill>
            <a:prstDash val="solid"/>
          </a:ln>
        </p:spPr>
      </p:sp>
      <p:sp>
        <p:nvSpPr>
          <p:cNvPr id="31" name="Shape 28"/>
          <p:cNvSpPr/>
          <p:nvPr/>
        </p:nvSpPr>
        <p:spPr>
          <a:xfrm>
            <a:off x="2715768" y="2395728"/>
            <a:ext cx="2157984" cy="384048"/>
          </a:xfrm>
          <a:prstGeom prst="rect">
            <a:avLst/>
          </a:prstGeom>
          <a:solidFill>
            <a:srgbClr val="6B3FA0"/>
          </a:solidFill>
          <a:ln/>
        </p:spPr>
      </p:sp>
      <p:sp>
        <p:nvSpPr>
          <p:cNvPr id="32" name="Text 29"/>
          <p:cNvSpPr/>
          <p:nvPr/>
        </p:nvSpPr>
        <p:spPr>
          <a:xfrm>
            <a:off x="2715768" y="2395728"/>
            <a:ext cx="2157984" cy="384048"/>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Calibri" pitchFamily="34" charset="0"/>
                <a:ea typeface="Calibri" pitchFamily="34" charset="-122"/>
                <a:cs typeface="Calibri" pitchFamily="34" charset="-120"/>
              </a:rPr>
              <a:t>ASK</a:t>
            </a:r>
            <a:endParaRPr lang="en-US" sz="1050" dirty="0"/>
          </a:p>
        </p:txBody>
      </p:sp>
      <p:sp>
        <p:nvSpPr>
          <p:cNvPr id="33" name="Text 30"/>
          <p:cNvSpPr/>
          <p:nvPr/>
        </p:nvSpPr>
        <p:spPr>
          <a:xfrm>
            <a:off x="2715768" y="2834640"/>
            <a:ext cx="2157984" cy="201168"/>
          </a:xfrm>
          <a:prstGeom prst="rect">
            <a:avLst/>
          </a:prstGeom>
          <a:noFill/>
          <a:ln/>
        </p:spPr>
        <p:txBody>
          <a:bodyPr wrap="square" lIns="0" tIns="0" rIns="0" bIns="0" rtlCol="0" anchor="ctr"/>
          <a:lstStyle/>
          <a:p>
            <a:pPr algn="ctr" indent="0" marL="0">
              <a:buNone/>
            </a:pPr>
            <a:r>
              <a:rPr lang="en-US" sz="850" i="1" dirty="0">
                <a:solidFill>
                  <a:srgbClr val="6B3FA0"/>
                </a:solidFill>
                <a:latin typeface="Calibri" pitchFamily="34" charset="0"/>
                <a:ea typeface="Calibri" pitchFamily="34" charset="-122"/>
                <a:cs typeface="Calibri" pitchFamily="34" charset="-120"/>
              </a:rPr>
              <a:t>owner: Engineer · AI off at JLR</a:t>
            </a:r>
            <a:endParaRPr lang="en-US" sz="850" dirty="0"/>
          </a:p>
        </p:txBody>
      </p:sp>
      <p:sp>
        <p:nvSpPr>
          <p:cNvPr id="34" name="Text 31"/>
          <p:cNvSpPr/>
          <p:nvPr/>
        </p:nvSpPr>
        <p:spPr>
          <a:xfrm>
            <a:off x="2843784" y="3108960"/>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4 · The tool asks what</a:t>
            </a:r>
            <a:endParaRPr lang="en-US" sz="930" dirty="0"/>
          </a:p>
        </p:txBody>
      </p:sp>
      <p:sp>
        <p:nvSpPr>
          <p:cNvPr id="35" name="Text 32"/>
          <p:cNvSpPr/>
          <p:nvPr/>
        </p:nvSpPr>
        <p:spPr>
          <a:xfrm>
            <a:off x="2843784" y="3438144"/>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   geometry cannot decide</a:t>
            </a:r>
            <a:endParaRPr lang="en-US" sz="930" dirty="0"/>
          </a:p>
        </p:txBody>
      </p:sp>
      <p:sp>
        <p:nvSpPr>
          <p:cNvPr id="36" name="Text 33"/>
          <p:cNvSpPr/>
          <p:nvPr/>
        </p:nvSpPr>
        <p:spPr>
          <a:xfrm>
            <a:off x="2843784" y="3767328"/>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   material · route · volume</a:t>
            </a:r>
            <a:endParaRPr lang="en-US" sz="930" dirty="0"/>
          </a:p>
        </p:txBody>
      </p:sp>
      <p:sp>
        <p:nvSpPr>
          <p:cNvPr id="37" name="Text 34"/>
          <p:cNvSpPr/>
          <p:nvPr/>
        </p:nvSpPr>
        <p:spPr>
          <a:xfrm>
            <a:off x="2843784" y="4389120"/>
            <a:ext cx="1901952" cy="292608"/>
          </a:xfrm>
          <a:prstGeom prst="rect">
            <a:avLst/>
          </a:prstGeom>
          <a:noFill/>
          <a:ln/>
        </p:spPr>
        <p:txBody>
          <a:bodyPr wrap="square" lIns="0" tIns="0" rIns="0" bIns="0" rtlCol="0" anchor="ctr"/>
          <a:lstStyle/>
          <a:p>
            <a:pPr algn="ctr" indent="0" marL="0">
              <a:buNone/>
            </a:pPr>
            <a:r>
              <a:rPr lang="en-US" sz="900" b="1" i="1" dirty="0">
                <a:solidFill>
                  <a:srgbClr val="6B3FA0"/>
                </a:solidFill>
                <a:latin typeface="Calibri" pitchFamily="34" charset="0"/>
                <a:ea typeface="Calibri" pitchFamily="34" charset="-122"/>
                <a:cs typeface="Calibri" pitchFamily="34" charset="-120"/>
              </a:rPr>
              <a:t>Asked, never guessed</a:t>
            </a:r>
            <a:endParaRPr lang="en-US" sz="900" dirty="0"/>
          </a:p>
        </p:txBody>
      </p:sp>
      <p:sp>
        <p:nvSpPr>
          <p:cNvPr id="38" name="Shape 35"/>
          <p:cNvSpPr/>
          <p:nvPr/>
        </p:nvSpPr>
        <p:spPr>
          <a:xfrm>
            <a:off x="4974336" y="2395728"/>
            <a:ext cx="2157984" cy="2377440"/>
          </a:xfrm>
          <a:prstGeom prst="roundRect">
            <a:avLst>
              <a:gd name="adj" fmla="val 3814"/>
            </a:avLst>
          </a:prstGeom>
          <a:solidFill>
            <a:srgbClr val="FCF3E3"/>
          </a:solidFill>
          <a:ln w="15875">
            <a:solidFill>
              <a:srgbClr val="99651A"/>
            </a:solidFill>
            <a:prstDash val="solid"/>
          </a:ln>
        </p:spPr>
      </p:sp>
      <p:sp>
        <p:nvSpPr>
          <p:cNvPr id="39" name="Shape 36"/>
          <p:cNvSpPr/>
          <p:nvPr/>
        </p:nvSpPr>
        <p:spPr>
          <a:xfrm>
            <a:off x="4974336" y="2395728"/>
            <a:ext cx="2157984" cy="384048"/>
          </a:xfrm>
          <a:prstGeom prst="rect">
            <a:avLst/>
          </a:prstGeom>
          <a:solidFill>
            <a:srgbClr val="99651A"/>
          </a:solidFill>
          <a:ln/>
        </p:spPr>
      </p:sp>
      <p:sp>
        <p:nvSpPr>
          <p:cNvPr id="40" name="Text 37"/>
          <p:cNvSpPr/>
          <p:nvPr/>
        </p:nvSpPr>
        <p:spPr>
          <a:xfrm>
            <a:off x="4974336" y="2395728"/>
            <a:ext cx="2157984" cy="384048"/>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Calibri" pitchFamily="34" charset="0"/>
                <a:ea typeface="Calibri" pitchFamily="34" charset="-122"/>
                <a:cs typeface="Calibri" pitchFamily="34" charset="-120"/>
              </a:rPr>
              <a:t>SAFETY CHECKS</a:t>
            </a:r>
            <a:endParaRPr lang="en-US" sz="1050" dirty="0"/>
          </a:p>
        </p:txBody>
      </p:sp>
      <p:sp>
        <p:nvSpPr>
          <p:cNvPr id="41" name="Text 38"/>
          <p:cNvSpPr/>
          <p:nvPr/>
        </p:nvSpPr>
        <p:spPr>
          <a:xfrm>
            <a:off x="4974336" y="2834640"/>
            <a:ext cx="2157984" cy="201168"/>
          </a:xfrm>
          <a:prstGeom prst="rect">
            <a:avLst/>
          </a:prstGeom>
          <a:noFill/>
          <a:ln/>
        </p:spPr>
        <p:txBody>
          <a:bodyPr wrap="square" lIns="0" tIns="0" rIns="0" bIns="0" rtlCol="0" anchor="ctr"/>
          <a:lstStyle/>
          <a:p>
            <a:pPr algn="ctr" indent="0" marL="0">
              <a:buNone/>
            </a:pPr>
            <a:r>
              <a:rPr lang="en-US" sz="850" i="1" dirty="0">
                <a:solidFill>
                  <a:srgbClr val="99651A"/>
                </a:solidFill>
                <a:latin typeface="Calibri" pitchFamily="34" charset="0"/>
                <a:ea typeface="Calibri" pitchFamily="34" charset="-122"/>
                <a:cs typeface="Calibri" pitchFamily="34" charset="-120"/>
              </a:rPr>
              <a:t>owner: Engine</a:t>
            </a:r>
            <a:endParaRPr lang="en-US" sz="850" dirty="0"/>
          </a:p>
        </p:txBody>
      </p:sp>
      <p:sp>
        <p:nvSpPr>
          <p:cNvPr id="42" name="Text 39"/>
          <p:cNvSpPr/>
          <p:nvPr/>
        </p:nvSpPr>
        <p:spPr>
          <a:xfrm>
            <a:off x="5102352" y="3108960"/>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5 · Four automatic guards</a:t>
            </a:r>
            <a:endParaRPr lang="en-US" sz="930" dirty="0"/>
          </a:p>
        </p:txBody>
      </p:sp>
      <p:sp>
        <p:nvSpPr>
          <p:cNvPr id="43" name="Text 40"/>
          <p:cNvSpPr/>
          <p:nvPr/>
        </p:nvSpPr>
        <p:spPr>
          <a:xfrm>
            <a:off x="5102352" y="3438144"/>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6 · Autocorrect wrong calls</a:t>
            </a:r>
            <a:endParaRPr lang="en-US" sz="930" dirty="0"/>
          </a:p>
        </p:txBody>
      </p:sp>
      <p:sp>
        <p:nvSpPr>
          <p:cNvPr id="44" name="Text 41"/>
          <p:cNvSpPr/>
          <p:nvPr/>
        </p:nvSpPr>
        <p:spPr>
          <a:xfrm>
            <a:off x="5102352" y="3767328"/>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   before any money is counted</a:t>
            </a:r>
            <a:endParaRPr lang="en-US" sz="930" dirty="0"/>
          </a:p>
        </p:txBody>
      </p:sp>
      <p:sp>
        <p:nvSpPr>
          <p:cNvPr id="45" name="Text 42"/>
          <p:cNvSpPr/>
          <p:nvPr/>
        </p:nvSpPr>
        <p:spPr>
          <a:xfrm>
            <a:off x="5102352" y="4389120"/>
            <a:ext cx="1901952" cy="292608"/>
          </a:xfrm>
          <a:prstGeom prst="rect">
            <a:avLst/>
          </a:prstGeom>
          <a:noFill/>
          <a:ln/>
        </p:spPr>
        <p:txBody>
          <a:bodyPr wrap="square" lIns="0" tIns="0" rIns="0" bIns="0" rtlCol="0" anchor="ctr"/>
          <a:lstStyle/>
          <a:p>
            <a:pPr algn="ctr" indent="0" marL="0">
              <a:buNone/>
            </a:pPr>
            <a:r>
              <a:rPr lang="en-US" sz="900" b="1" i="1" dirty="0">
                <a:solidFill>
                  <a:srgbClr val="99651A"/>
                </a:solidFill>
                <a:latin typeface="Calibri" pitchFamily="34" charset="0"/>
                <a:ea typeface="Calibri" pitchFamily="34" charset="-122"/>
                <a:cs typeface="Calibri" pitchFamily="34" charset="-120"/>
              </a:rPr>
              <a:t>Measurements always win</a:t>
            </a:r>
            <a:endParaRPr lang="en-US" sz="900" dirty="0"/>
          </a:p>
        </p:txBody>
      </p:sp>
      <p:sp>
        <p:nvSpPr>
          <p:cNvPr id="46" name="Shape 43"/>
          <p:cNvSpPr/>
          <p:nvPr/>
        </p:nvSpPr>
        <p:spPr>
          <a:xfrm>
            <a:off x="7232904" y="2395728"/>
            <a:ext cx="2157984" cy="2377440"/>
          </a:xfrm>
          <a:prstGeom prst="roundRect">
            <a:avLst>
              <a:gd name="adj" fmla="val 3814"/>
            </a:avLst>
          </a:prstGeom>
          <a:solidFill>
            <a:srgbClr val="E6F4F1"/>
          </a:solidFill>
          <a:ln w="15875">
            <a:solidFill>
              <a:srgbClr val="0D7D71"/>
            </a:solidFill>
            <a:prstDash val="solid"/>
          </a:ln>
        </p:spPr>
      </p:sp>
      <p:sp>
        <p:nvSpPr>
          <p:cNvPr id="47" name="Shape 44"/>
          <p:cNvSpPr/>
          <p:nvPr/>
        </p:nvSpPr>
        <p:spPr>
          <a:xfrm>
            <a:off x="7232904" y="2395728"/>
            <a:ext cx="2157984" cy="384048"/>
          </a:xfrm>
          <a:prstGeom prst="rect">
            <a:avLst/>
          </a:prstGeom>
          <a:solidFill>
            <a:srgbClr val="0D7D71"/>
          </a:solidFill>
          <a:ln/>
        </p:spPr>
      </p:sp>
      <p:sp>
        <p:nvSpPr>
          <p:cNvPr id="48" name="Text 45"/>
          <p:cNvSpPr/>
          <p:nvPr/>
        </p:nvSpPr>
        <p:spPr>
          <a:xfrm>
            <a:off x="7232904" y="2395728"/>
            <a:ext cx="2157984" cy="384048"/>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Calibri" pitchFamily="34" charset="0"/>
                <a:ea typeface="Calibri" pitchFamily="34" charset="-122"/>
                <a:cs typeface="Calibri" pitchFamily="34" charset="-120"/>
              </a:rPr>
              <a:t>CALCULATE</a:t>
            </a:r>
            <a:endParaRPr lang="en-US" sz="1050" dirty="0"/>
          </a:p>
        </p:txBody>
      </p:sp>
      <p:sp>
        <p:nvSpPr>
          <p:cNvPr id="49" name="Text 46"/>
          <p:cNvSpPr/>
          <p:nvPr/>
        </p:nvSpPr>
        <p:spPr>
          <a:xfrm>
            <a:off x="7232904" y="2834640"/>
            <a:ext cx="2157984" cy="201168"/>
          </a:xfrm>
          <a:prstGeom prst="rect">
            <a:avLst/>
          </a:prstGeom>
          <a:noFill/>
          <a:ln/>
        </p:spPr>
        <p:txBody>
          <a:bodyPr wrap="square" lIns="0" tIns="0" rIns="0" bIns="0" rtlCol="0" anchor="ctr"/>
          <a:lstStyle/>
          <a:p>
            <a:pPr algn="ctr" indent="0" marL="0">
              <a:buNone/>
            </a:pPr>
            <a:r>
              <a:rPr lang="en-US" sz="850" i="1" dirty="0">
                <a:solidFill>
                  <a:srgbClr val="0D7D71"/>
                </a:solidFill>
                <a:latin typeface="Calibri" pitchFamily="34" charset="0"/>
                <a:ea typeface="Calibri" pitchFamily="34" charset="-122"/>
                <a:cs typeface="Calibri" pitchFamily="34" charset="-120"/>
              </a:rPr>
              <a:t>owner: Engine</a:t>
            </a:r>
            <a:endParaRPr lang="en-US" sz="850" dirty="0"/>
          </a:p>
        </p:txBody>
      </p:sp>
      <p:sp>
        <p:nvSpPr>
          <p:cNvPr id="50" name="Text 47"/>
          <p:cNvSpPr/>
          <p:nvPr/>
        </p:nvSpPr>
        <p:spPr>
          <a:xfrm>
            <a:off x="7360920" y="3108960"/>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7 · Pick machines &amp; cycles</a:t>
            </a:r>
            <a:endParaRPr lang="en-US" sz="930" dirty="0"/>
          </a:p>
        </p:txBody>
      </p:sp>
      <p:sp>
        <p:nvSpPr>
          <p:cNvPr id="51" name="Text 48"/>
          <p:cNvSpPr/>
          <p:nvPr/>
        </p:nvSpPr>
        <p:spPr>
          <a:xfrm>
            <a:off x="7360920" y="3438144"/>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8 · Cost every operation</a:t>
            </a:r>
            <a:endParaRPr lang="en-US" sz="930" dirty="0"/>
          </a:p>
        </p:txBody>
      </p:sp>
      <p:sp>
        <p:nvSpPr>
          <p:cNvPr id="52" name="Text 49"/>
          <p:cNvSpPr/>
          <p:nvPr/>
        </p:nvSpPr>
        <p:spPr>
          <a:xfrm>
            <a:off x="7360920" y="3767328"/>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9-10 · Build &amp; regionalise</a:t>
            </a:r>
            <a:endParaRPr lang="en-US" sz="930" dirty="0"/>
          </a:p>
        </p:txBody>
      </p:sp>
      <p:sp>
        <p:nvSpPr>
          <p:cNvPr id="53" name="Text 50"/>
          <p:cNvSpPr/>
          <p:nvPr/>
        </p:nvSpPr>
        <p:spPr>
          <a:xfrm>
            <a:off x="7360920" y="4389120"/>
            <a:ext cx="1901952" cy="292608"/>
          </a:xfrm>
          <a:prstGeom prst="rect">
            <a:avLst/>
          </a:prstGeom>
          <a:noFill/>
          <a:ln/>
        </p:spPr>
        <p:txBody>
          <a:bodyPr wrap="square" lIns="0" tIns="0" rIns="0" bIns="0" rtlCol="0" anchor="ctr"/>
          <a:lstStyle/>
          <a:p>
            <a:pPr algn="ctr" indent="0" marL="0">
              <a:buNone/>
            </a:pPr>
            <a:r>
              <a:rPr lang="en-US" sz="900" b="1" i="1" dirty="0">
                <a:solidFill>
                  <a:srgbClr val="0D7D71"/>
                </a:solidFill>
                <a:latin typeface="Calibri" pitchFamily="34" charset="0"/>
                <a:ea typeface="Calibri" pitchFamily="34" charset="-122"/>
                <a:cs typeface="Calibri" pitchFamily="34" charset="-120"/>
              </a:rPr>
              <a:t>Fixed formulas</a:t>
            </a:r>
            <a:endParaRPr lang="en-US" sz="900" dirty="0"/>
          </a:p>
        </p:txBody>
      </p:sp>
      <p:sp>
        <p:nvSpPr>
          <p:cNvPr id="54" name="Shape 51"/>
          <p:cNvSpPr/>
          <p:nvPr/>
        </p:nvSpPr>
        <p:spPr>
          <a:xfrm>
            <a:off x="9491472" y="2395728"/>
            <a:ext cx="2157984" cy="2377440"/>
          </a:xfrm>
          <a:prstGeom prst="roundRect">
            <a:avLst>
              <a:gd name="adj" fmla="val 3814"/>
            </a:avLst>
          </a:prstGeom>
          <a:solidFill>
            <a:srgbClr val="EAF6EF"/>
          </a:solidFill>
          <a:ln w="15875">
            <a:solidFill>
              <a:srgbClr val="2A7F50"/>
            </a:solidFill>
            <a:prstDash val="solid"/>
          </a:ln>
        </p:spPr>
      </p:sp>
      <p:sp>
        <p:nvSpPr>
          <p:cNvPr id="55" name="Shape 52"/>
          <p:cNvSpPr/>
          <p:nvPr/>
        </p:nvSpPr>
        <p:spPr>
          <a:xfrm>
            <a:off x="9491472" y="2395728"/>
            <a:ext cx="2157984" cy="384048"/>
          </a:xfrm>
          <a:prstGeom prst="rect">
            <a:avLst/>
          </a:prstGeom>
          <a:solidFill>
            <a:srgbClr val="2A7F50"/>
          </a:solidFill>
          <a:ln/>
        </p:spPr>
      </p:sp>
      <p:sp>
        <p:nvSpPr>
          <p:cNvPr id="56" name="Text 53"/>
          <p:cNvSpPr/>
          <p:nvPr/>
        </p:nvSpPr>
        <p:spPr>
          <a:xfrm>
            <a:off x="9491472" y="2395728"/>
            <a:ext cx="2157984" cy="384048"/>
          </a:xfrm>
          <a:prstGeom prst="rect">
            <a:avLst/>
          </a:prstGeom>
          <a:noFill/>
          <a:ln/>
        </p:spPr>
        <p:txBody>
          <a:bodyPr wrap="square" lIns="0" tIns="0" rIns="0" bIns="0" rtlCol="0" anchor="ctr"/>
          <a:lstStyle/>
          <a:p>
            <a:pPr algn="ctr" indent="0" marL="0">
              <a:buNone/>
            </a:pPr>
            <a:r>
              <a:rPr lang="en-US" sz="1050" b="1" spc="80" kern="0" dirty="0">
                <a:solidFill>
                  <a:srgbClr val="FFFFFF"/>
                </a:solidFill>
                <a:latin typeface="Calibri" pitchFamily="34" charset="0"/>
                <a:ea typeface="Calibri" pitchFamily="34" charset="-122"/>
                <a:cs typeface="Calibri" pitchFamily="34" charset="-120"/>
              </a:rPr>
              <a:t>CHECK &amp; USE</a:t>
            </a:r>
            <a:endParaRPr lang="en-US" sz="1050" dirty="0"/>
          </a:p>
        </p:txBody>
      </p:sp>
      <p:sp>
        <p:nvSpPr>
          <p:cNvPr id="57" name="Text 54"/>
          <p:cNvSpPr/>
          <p:nvPr/>
        </p:nvSpPr>
        <p:spPr>
          <a:xfrm>
            <a:off x="9491472" y="2834640"/>
            <a:ext cx="2157984" cy="201168"/>
          </a:xfrm>
          <a:prstGeom prst="rect">
            <a:avLst/>
          </a:prstGeom>
          <a:noFill/>
          <a:ln/>
        </p:spPr>
        <p:txBody>
          <a:bodyPr wrap="square" lIns="0" tIns="0" rIns="0" bIns="0" rtlCol="0" anchor="ctr"/>
          <a:lstStyle/>
          <a:p>
            <a:pPr algn="ctr" indent="0" marL="0">
              <a:buNone/>
            </a:pPr>
            <a:r>
              <a:rPr lang="en-US" sz="850" i="1" dirty="0">
                <a:solidFill>
                  <a:srgbClr val="2A7F50"/>
                </a:solidFill>
                <a:latin typeface="Calibri" pitchFamily="34" charset="0"/>
                <a:ea typeface="Calibri" pitchFamily="34" charset="-122"/>
                <a:cs typeface="Calibri" pitchFamily="34" charset="-120"/>
              </a:rPr>
              <a:t>owner: Engineer</a:t>
            </a:r>
            <a:endParaRPr lang="en-US" sz="850" dirty="0"/>
          </a:p>
        </p:txBody>
      </p:sp>
      <p:sp>
        <p:nvSpPr>
          <p:cNvPr id="58" name="Text 55"/>
          <p:cNvSpPr/>
          <p:nvPr/>
        </p:nvSpPr>
        <p:spPr>
          <a:xfrm>
            <a:off x="9619488" y="3108960"/>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11 · Confidence band</a:t>
            </a:r>
            <a:endParaRPr lang="en-US" sz="930" dirty="0"/>
          </a:p>
        </p:txBody>
      </p:sp>
      <p:sp>
        <p:nvSpPr>
          <p:cNvPr id="59" name="Text 56"/>
          <p:cNvSpPr/>
          <p:nvPr/>
        </p:nvSpPr>
        <p:spPr>
          <a:xfrm>
            <a:off x="9619488" y="3438144"/>
            <a:ext cx="1901952" cy="31089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12 · Report &amp; approval</a:t>
            </a:r>
            <a:endParaRPr lang="en-US" sz="930" dirty="0"/>
          </a:p>
        </p:txBody>
      </p:sp>
      <p:sp>
        <p:nvSpPr>
          <p:cNvPr id="60" name="Text 57"/>
          <p:cNvSpPr/>
          <p:nvPr/>
        </p:nvSpPr>
        <p:spPr>
          <a:xfrm>
            <a:off x="9619488" y="4389120"/>
            <a:ext cx="1901952" cy="292608"/>
          </a:xfrm>
          <a:prstGeom prst="rect">
            <a:avLst/>
          </a:prstGeom>
          <a:noFill/>
          <a:ln/>
        </p:spPr>
        <p:txBody>
          <a:bodyPr wrap="square" lIns="0" tIns="0" rIns="0" bIns="0" rtlCol="0" anchor="ctr"/>
          <a:lstStyle/>
          <a:p>
            <a:pPr algn="ctr" indent="0" marL="0">
              <a:buNone/>
            </a:pPr>
            <a:r>
              <a:rPr lang="en-US" sz="900" b="1" i="1" dirty="0">
                <a:solidFill>
                  <a:srgbClr val="2A7F50"/>
                </a:solidFill>
                <a:latin typeface="Calibri" pitchFamily="34" charset="0"/>
                <a:ea typeface="Calibri" pitchFamily="34" charset="-122"/>
                <a:cs typeface="Calibri" pitchFamily="34" charset="-120"/>
              </a:rPr>
              <a:t>A person signs it off</a:t>
            </a:r>
            <a:endParaRPr lang="en-US" sz="900" dirty="0"/>
          </a:p>
        </p:txBody>
      </p:sp>
      <p:sp>
        <p:nvSpPr>
          <p:cNvPr id="61" name="Shape 58"/>
          <p:cNvSpPr/>
          <p:nvPr/>
        </p:nvSpPr>
        <p:spPr>
          <a:xfrm>
            <a:off x="457200" y="4983480"/>
            <a:ext cx="11274552" cy="1051560"/>
          </a:xfrm>
          <a:prstGeom prst="roundRect">
            <a:avLst>
              <a:gd name="adj" fmla="val 8696"/>
            </a:avLst>
          </a:prstGeom>
          <a:solidFill>
            <a:srgbClr val="FFFFFF"/>
          </a:solidFill>
          <a:ln w="12700">
            <a:solidFill>
              <a:srgbClr val="DCE3EE"/>
            </a:solidFill>
            <a:prstDash val="solid"/>
          </a:ln>
        </p:spPr>
      </p:sp>
      <p:sp>
        <p:nvSpPr>
          <p:cNvPr id="62" name="Text 59"/>
          <p:cNvSpPr/>
          <p:nvPr/>
        </p:nvSpPr>
        <p:spPr>
          <a:xfrm>
            <a:off x="731520" y="5102352"/>
            <a:ext cx="4572000" cy="256032"/>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Notice the proportions</a:t>
            </a:r>
            <a:endParaRPr lang="en-US" sz="1200" dirty="0"/>
          </a:p>
        </p:txBody>
      </p:sp>
      <p:sp>
        <p:nvSpPr>
          <p:cNvPr id="63" name="Text 60"/>
          <p:cNvSpPr/>
          <p:nvPr/>
        </p:nvSpPr>
        <p:spPr>
          <a:xfrm>
            <a:off x="731520" y="5358384"/>
            <a:ext cx="10744200" cy="640080"/>
          </a:xfrm>
          <a:prstGeom prst="rect">
            <a:avLst/>
          </a:prstGeom>
          <a:noFill/>
          <a:ln/>
        </p:spPr>
        <p:txBody>
          <a:bodyPr wrap="square" lIns="0" tIns="0" rIns="0" bIns="0" rtlCol="0" anchor="ctr"/>
          <a:lstStyle/>
          <a:p>
            <a:pPr indent="0" marL="0">
              <a:buNone/>
            </a:pPr>
            <a:r>
              <a:rPr lang="en-US" sz="1200" b="1" dirty="0">
                <a:solidFill>
                  <a:srgbClr val="6B3FA0"/>
                </a:solidFill>
                <a:latin typeface="Calibri" pitchFamily="34" charset="0"/>
                <a:ea typeface="Calibri" pitchFamily="34" charset="-122"/>
                <a:cs typeface="Calibri" pitchFamily="34" charset="-120"/>
              </a:rPr>
              <a:t>Only one of the twelve stages could ever involve AI — and at JLR it is off. </a:t>
            </a:r>
            <a:pPr indent="0" marL="0">
              <a:buNone/>
            </a:pPr>
            <a:r>
              <a:rPr lang="en-US" sz="1200" dirty="0">
                <a:solidFill>
                  <a:srgbClr val="3A4356"/>
                </a:solidFill>
                <a:latin typeface="Calibri" pitchFamily="34" charset="0"/>
                <a:ea typeface="Calibri" pitchFamily="34" charset="-122"/>
                <a:cs typeface="Calibri" pitchFamily="34" charset="-120"/>
              </a:rPr>
              <a:t>Three stages measure, one asks the engineer, two are automatic checks, four are arithmetic, two are review and sign-off. Even when AI is on, it is the smallest part of the tool.</a:t>
            </a:r>
            <a:endParaRPr lang="en-US" sz="1200" dirty="0"/>
          </a:p>
        </p:txBody>
      </p:sp>
      <p:sp>
        <p:nvSpPr>
          <p:cNvPr id="64" name="Text 6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65" name="Text 6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D6FB8"/>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1–3 · Measuring the Part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A digital ruler, not a guess — and not artificial intelligence</a:t>
            </a:r>
            <a:endParaRPr lang="en-US" sz="1200" dirty="0"/>
          </a:p>
        </p:txBody>
      </p:sp>
      <p:sp>
        <p:nvSpPr>
          <p:cNvPr id="5" name="Shape 3"/>
          <p:cNvSpPr/>
          <p:nvPr/>
        </p:nvSpPr>
        <p:spPr>
          <a:xfrm>
            <a:off x="9418320" y="676656"/>
            <a:ext cx="2286000" cy="310896"/>
          </a:xfrm>
          <a:prstGeom prst="roundRect">
            <a:avLst>
              <a:gd name="adj" fmla="val 50000"/>
            </a:avLst>
          </a:prstGeom>
          <a:solidFill>
            <a:srgbClr val="E8F1FA"/>
          </a:solidFill>
          <a:ln w="12700">
            <a:solidFill>
              <a:srgbClr val="1D6FB8"/>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1D6FB8"/>
                </a:solidFill>
                <a:latin typeface="Calibri" pitchFamily="34" charset="0"/>
                <a:ea typeface="Calibri" pitchFamily="34" charset="-122"/>
                <a:cs typeface="Calibri" pitchFamily="34" charset="-120"/>
              </a:rPr>
              <a:t>OWNER: THE RULER</a:t>
            </a:r>
            <a:endParaRPr lang="en-US" sz="950" dirty="0"/>
          </a:p>
        </p:txBody>
      </p:sp>
      <p:sp>
        <p:nvSpPr>
          <p:cNvPr id="7" name="Shape 5"/>
          <p:cNvSpPr/>
          <p:nvPr/>
        </p:nvSpPr>
        <p:spPr>
          <a:xfrm>
            <a:off x="457200" y="1207008"/>
            <a:ext cx="3200400" cy="2286000"/>
          </a:xfrm>
          <a:prstGeom prst="roundRect">
            <a:avLst>
              <a:gd name="adj" fmla="val 4000"/>
            </a:avLst>
          </a:prstGeom>
          <a:solidFill>
            <a:srgbClr val="FFFFFF"/>
          </a:solidFill>
          <a:ln w="12700">
            <a:solidFill>
              <a:srgbClr val="DCE3EE"/>
            </a:solidFill>
            <a:prstDash val="solid"/>
          </a:ln>
        </p:spPr>
      </p:sp>
      <p:sp>
        <p:nvSpPr>
          <p:cNvPr id="8" name="Shape 6"/>
          <p:cNvSpPr/>
          <p:nvPr/>
        </p:nvSpPr>
        <p:spPr>
          <a:xfrm>
            <a:off x="685800" y="1389888"/>
            <a:ext cx="457200" cy="457200"/>
          </a:xfrm>
          <a:prstGeom prst="ellipse">
            <a:avLst/>
          </a:prstGeom>
          <a:solidFill>
            <a:srgbClr val="1D6FB8"/>
          </a:solidFill>
          <a:ln/>
        </p:spPr>
      </p:sp>
      <p:pic>
        <p:nvPicPr>
          <p:cNvPr id="9" name="Image 0" descr="preencoded.png">    </p:cNvPr>
          <p:cNvPicPr>
            <a:picLocks noChangeAspect="1"/>
          </p:cNvPicPr>
          <p:nvPr/>
        </p:nvPicPr>
        <p:blipFill>
          <a:blip r:embed="rId1"/>
          <a:stretch>
            <a:fillRect/>
          </a:stretch>
        </p:blipFill>
        <p:spPr>
          <a:xfrm>
            <a:off x="795528" y="1499616"/>
            <a:ext cx="237744" cy="237744"/>
          </a:xfrm>
          <a:prstGeom prst="rect">
            <a:avLst/>
          </a:prstGeom>
        </p:spPr>
      </p:pic>
      <p:sp>
        <p:nvSpPr>
          <p:cNvPr id="10" name="Text 7"/>
          <p:cNvSpPr/>
          <p:nvPr/>
        </p:nvSpPr>
        <p:spPr>
          <a:xfrm>
            <a:off x="1280160" y="1417320"/>
            <a:ext cx="2194560" cy="274320"/>
          </a:xfrm>
          <a:prstGeom prst="rect">
            <a:avLst/>
          </a:prstGeom>
          <a:noFill/>
          <a:ln/>
        </p:spPr>
        <p:txBody>
          <a:bodyPr wrap="square" lIns="0" tIns="0" rIns="0" bIns="0" rtlCol="0" anchor="ctr"/>
          <a:lstStyle/>
          <a:p>
            <a:pPr indent="0" marL="0">
              <a:buNone/>
            </a:pPr>
            <a:r>
              <a:rPr lang="en-US" sz="1250" b="1" dirty="0">
                <a:solidFill>
                  <a:srgbClr val="1D6FB8"/>
                </a:solidFill>
                <a:latin typeface="Calibri" pitchFamily="34" charset="0"/>
                <a:ea typeface="Calibri" pitchFamily="34" charset="-122"/>
                <a:cs typeface="Calibri" pitchFamily="34" charset="-120"/>
              </a:rPr>
              <a:t>1 · The engineer uploads</a:t>
            </a:r>
            <a:endParaRPr lang="en-US" sz="1250" dirty="0"/>
          </a:p>
        </p:txBody>
      </p:sp>
      <p:sp>
        <p:nvSpPr>
          <p:cNvPr id="11" name="Text 8"/>
          <p:cNvSpPr/>
          <p:nvPr/>
        </p:nvSpPr>
        <p:spPr>
          <a:xfrm>
            <a:off x="685800" y="1920240"/>
            <a:ext cx="2743200" cy="502920"/>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The 3D CAD file — plus the two facts a drawing can never contain:</a:t>
            </a:r>
            <a:endParaRPr lang="en-US" sz="1050" dirty="0"/>
          </a:p>
        </p:txBody>
      </p:sp>
      <p:sp>
        <p:nvSpPr>
          <p:cNvPr id="12" name="Text 9"/>
          <p:cNvSpPr/>
          <p:nvPr/>
        </p:nvSpPr>
        <p:spPr>
          <a:xfrm>
            <a:off x="777240" y="2450592"/>
            <a:ext cx="2743200" cy="548640"/>
          </a:xfrm>
          <a:prstGeom prst="rect">
            <a:avLst/>
          </a:prstGeom>
          <a:noFill/>
          <a:ln/>
        </p:spPr>
        <p:txBody>
          <a:bodyPr wrap="square" lIns="0" tIns="0" rIns="0" bIns="0" rtlCol="0" anchor="t"/>
          <a:lstStyle/>
          <a:p>
            <a:pPr indent="0" marL="0">
              <a:buNone/>
            </a:pPr>
            <a:r>
              <a:rPr lang="en-US" sz="1100" b="1" dirty="0">
                <a:solidFill>
                  <a:srgbClr val="16325C"/>
                </a:solidFill>
                <a:latin typeface="Calibri" pitchFamily="34" charset="0"/>
                <a:ea typeface="Calibri" pitchFamily="34" charset="-122"/>
                <a:cs typeface="Calibri" pitchFamily="34" charset="-120"/>
              </a:rPr>
              <a:t>• How many per year — 60,000</a:t>
            </a:r>
            <a:endParaRPr lang="en-US" sz="1100" dirty="0"/>
          </a:p>
          <a:p>
            <a:pPr indent="0" marL="0">
              <a:buNone/>
            </a:pPr>
            <a:r>
              <a:rPr lang="en-US" sz="1100" b="1" dirty="0">
                <a:solidFill>
                  <a:srgbClr val="16325C"/>
                </a:solidFill>
                <a:latin typeface="Calibri" pitchFamily="34" charset="0"/>
                <a:ea typeface="Calibri" pitchFamily="34" charset="-122"/>
                <a:cs typeface="Calibri" pitchFamily="34" charset="-120"/>
              </a:rPr>
              <a:t>• Where we plan to make it — China</a:t>
            </a:r>
            <a:endParaRPr lang="en-US" sz="1100" dirty="0"/>
          </a:p>
        </p:txBody>
      </p:sp>
      <p:sp>
        <p:nvSpPr>
          <p:cNvPr id="13" name="Text 10"/>
          <p:cNvSpPr/>
          <p:nvPr/>
        </p:nvSpPr>
        <p:spPr>
          <a:xfrm>
            <a:off x="685800" y="3035808"/>
            <a:ext cx="2743200" cy="365760"/>
          </a:xfrm>
          <a:prstGeom prst="rect">
            <a:avLst/>
          </a:prstGeom>
          <a:noFill/>
          <a:ln/>
        </p:spPr>
        <p:txBody>
          <a:bodyPr wrap="square" lIns="0" tIns="0" rIns="0" bIns="0" rtlCol="0" anchor="t"/>
          <a:lstStyle/>
          <a:p>
            <a:pPr indent="0" marL="0">
              <a:buNone/>
            </a:pPr>
            <a:r>
              <a:rPr lang="en-US" sz="950" i="1" dirty="0">
                <a:solidFill>
                  <a:srgbClr val="686F7D"/>
                </a:solidFill>
                <a:latin typeface="Calibri" pitchFamily="34" charset="0"/>
                <a:ea typeface="Calibri" pitchFamily="34" charset="-122"/>
                <a:cs typeface="Calibri" pitchFamily="34" charset="-120"/>
              </a:rPr>
              <a:t>These drive tooling spread and labour rates.</a:t>
            </a:r>
            <a:endParaRPr lang="en-US" sz="950" dirty="0"/>
          </a:p>
        </p:txBody>
      </p:sp>
      <p:sp>
        <p:nvSpPr>
          <p:cNvPr id="14" name="Shape 11"/>
          <p:cNvSpPr/>
          <p:nvPr/>
        </p:nvSpPr>
        <p:spPr>
          <a:xfrm>
            <a:off x="3840480" y="1207008"/>
            <a:ext cx="4572000" cy="2286000"/>
          </a:xfrm>
          <a:prstGeom prst="roundRect">
            <a:avLst>
              <a:gd name="adj" fmla="val 4000"/>
            </a:avLst>
          </a:prstGeom>
          <a:solidFill>
            <a:srgbClr val="FFFFFF"/>
          </a:solidFill>
          <a:ln w="12700">
            <a:solidFill>
              <a:srgbClr val="DCE3EE"/>
            </a:solidFill>
            <a:prstDash val="solid"/>
          </a:ln>
        </p:spPr>
      </p:sp>
      <p:sp>
        <p:nvSpPr>
          <p:cNvPr id="15" name="Shape 12"/>
          <p:cNvSpPr/>
          <p:nvPr/>
        </p:nvSpPr>
        <p:spPr>
          <a:xfrm>
            <a:off x="4069080" y="1389888"/>
            <a:ext cx="457200" cy="457200"/>
          </a:xfrm>
          <a:prstGeom prst="ellipse">
            <a:avLst/>
          </a:prstGeom>
          <a:solidFill>
            <a:srgbClr val="1D6FB8"/>
          </a:solidFill>
          <a:ln/>
        </p:spPr>
      </p:sp>
      <p:pic>
        <p:nvPicPr>
          <p:cNvPr id="16" name="Image 1" descr="preencoded.png">    </p:cNvPr>
          <p:cNvPicPr>
            <a:picLocks noChangeAspect="1"/>
          </p:cNvPicPr>
          <p:nvPr/>
        </p:nvPicPr>
        <p:blipFill>
          <a:blip r:embed="rId2"/>
          <a:stretch>
            <a:fillRect/>
          </a:stretch>
        </p:blipFill>
        <p:spPr>
          <a:xfrm>
            <a:off x="4178808" y="1499616"/>
            <a:ext cx="237744" cy="237744"/>
          </a:xfrm>
          <a:prstGeom prst="rect">
            <a:avLst/>
          </a:prstGeom>
        </p:spPr>
      </p:pic>
      <p:sp>
        <p:nvSpPr>
          <p:cNvPr id="17" name="Text 13"/>
          <p:cNvSpPr/>
          <p:nvPr/>
        </p:nvSpPr>
        <p:spPr>
          <a:xfrm>
            <a:off x="4663440" y="1417320"/>
            <a:ext cx="3474720" cy="274320"/>
          </a:xfrm>
          <a:prstGeom prst="rect">
            <a:avLst/>
          </a:prstGeom>
          <a:noFill/>
          <a:ln/>
        </p:spPr>
        <p:txBody>
          <a:bodyPr wrap="square" lIns="0" tIns="0" rIns="0" bIns="0" rtlCol="0" anchor="ctr"/>
          <a:lstStyle/>
          <a:p>
            <a:pPr indent="0" marL="0">
              <a:buNone/>
            </a:pPr>
            <a:r>
              <a:rPr lang="en-US" sz="1250" b="1" dirty="0">
                <a:solidFill>
                  <a:srgbClr val="1D6FB8"/>
                </a:solidFill>
                <a:latin typeface="Calibri" pitchFamily="34" charset="0"/>
                <a:ea typeface="Calibri" pitchFamily="34" charset="-122"/>
                <a:cs typeface="Calibri" pitchFamily="34" charset="-120"/>
              </a:rPr>
              <a:t>2 · The kernel measures it</a:t>
            </a:r>
            <a:endParaRPr lang="en-US" sz="1250" dirty="0"/>
          </a:p>
        </p:txBody>
      </p:sp>
      <p:sp>
        <p:nvSpPr>
          <p:cNvPr id="18" name="Text 14"/>
          <p:cNvSpPr/>
          <p:nvPr/>
        </p:nvSpPr>
        <p:spPr>
          <a:xfrm>
            <a:off x="4069080" y="1883664"/>
            <a:ext cx="2926080" cy="274320"/>
          </a:xfrm>
          <a:prstGeom prst="rect">
            <a:avLst/>
          </a:prstGeom>
          <a:noFill/>
          <a:ln/>
        </p:spPr>
        <p:txBody>
          <a:bodyPr wrap="square" lIns="0" tIns="0" rIns="0" bIns="0" rtlCol="0" anchor="ctr"/>
          <a:lstStyle/>
          <a:p>
            <a:pPr indent="0" marL="0">
              <a:buNone/>
            </a:pPr>
            <a:r>
              <a:rPr lang="en-US" sz="1100" dirty="0">
                <a:solidFill>
                  <a:srgbClr val="3A4356"/>
                </a:solidFill>
                <a:latin typeface="Calibri" pitchFamily="34" charset="0"/>
                <a:ea typeface="Calibri" pitchFamily="34" charset="-122"/>
                <a:cs typeface="Calibri" pitchFamily="34" charset="-120"/>
              </a:rPr>
              <a:t>Solid volume (exact)</a:t>
            </a:r>
            <a:endParaRPr lang="en-US" sz="1100" dirty="0"/>
          </a:p>
        </p:txBody>
      </p:sp>
      <p:sp>
        <p:nvSpPr>
          <p:cNvPr id="19" name="Text 15"/>
          <p:cNvSpPr/>
          <p:nvPr/>
        </p:nvSpPr>
        <p:spPr>
          <a:xfrm>
            <a:off x="6949440" y="1883664"/>
            <a:ext cx="1280160" cy="274320"/>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1,037 cm³</a:t>
            </a:r>
            <a:endParaRPr lang="en-US" sz="1150" dirty="0"/>
          </a:p>
        </p:txBody>
      </p:sp>
      <p:sp>
        <p:nvSpPr>
          <p:cNvPr id="20" name="Text 16"/>
          <p:cNvSpPr/>
          <p:nvPr/>
        </p:nvSpPr>
        <p:spPr>
          <a:xfrm>
            <a:off x="4069080" y="2185416"/>
            <a:ext cx="2926080" cy="274320"/>
          </a:xfrm>
          <a:prstGeom prst="rect">
            <a:avLst/>
          </a:prstGeom>
          <a:noFill/>
          <a:ln/>
        </p:spPr>
        <p:txBody>
          <a:bodyPr wrap="square" lIns="0" tIns="0" rIns="0" bIns="0" rtlCol="0" anchor="ctr"/>
          <a:lstStyle/>
          <a:p>
            <a:pPr indent="0" marL="0">
              <a:buNone/>
            </a:pPr>
            <a:r>
              <a:rPr lang="en-US" sz="1100" dirty="0">
                <a:solidFill>
                  <a:srgbClr val="3A4356"/>
                </a:solidFill>
                <a:latin typeface="Calibri" pitchFamily="34" charset="0"/>
                <a:ea typeface="Calibri" pitchFamily="34" charset="-122"/>
                <a:cs typeface="Calibri" pitchFamily="34" charset="-120"/>
              </a:rPr>
              <a:t>Weight if aluminium</a:t>
            </a:r>
            <a:endParaRPr lang="en-US" sz="1100" dirty="0"/>
          </a:p>
        </p:txBody>
      </p:sp>
      <p:sp>
        <p:nvSpPr>
          <p:cNvPr id="21" name="Text 17"/>
          <p:cNvSpPr/>
          <p:nvPr/>
        </p:nvSpPr>
        <p:spPr>
          <a:xfrm>
            <a:off x="6949440" y="2185416"/>
            <a:ext cx="1280160" cy="274320"/>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2.80 kg</a:t>
            </a:r>
            <a:endParaRPr lang="en-US" sz="1150" dirty="0"/>
          </a:p>
        </p:txBody>
      </p:sp>
      <p:sp>
        <p:nvSpPr>
          <p:cNvPr id="22" name="Text 18"/>
          <p:cNvSpPr/>
          <p:nvPr/>
        </p:nvSpPr>
        <p:spPr>
          <a:xfrm>
            <a:off x="4069080" y="2487168"/>
            <a:ext cx="2926080" cy="274320"/>
          </a:xfrm>
          <a:prstGeom prst="rect">
            <a:avLst/>
          </a:prstGeom>
          <a:noFill/>
          <a:ln/>
        </p:spPr>
        <p:txBody>
          <a:bodyPr wrap="square" lIns="0" tIns="0" rIns="0" bIns="0" rtlCol="0" anchor="ctr"/>
          <a:lstStyle/>
          <a:p>
            <a:pPr indent="0" marL="0">
              <a:buNone/>
            </a:pPr>
            <a:r>
              <a:rPr lang="en-US" sz="1100" dirty="0">
                <a:solidFill>
                  <a:srgbClr val="3A4356"/>
                </a:solidFill>
                <a:latin typeface="Calibri" pitchFamily="34" charset="0"/>
                <a:ea typeface="Calibri" pitchFamily="34" charset="-122"/>
                <a:cs typeface="Calibri" pitchFamily="34" charset="-120"/>
              </a:rPr>
              <a:t>Wall thickness</a:t>
            </a:r>
            <a:endParaRPr lang="en-US" sz="1100" dirty="0"/>
          </a:p>
        </p:txBody>
      </p:sp>
      <p:sp>
        <p:nvSpPr>
          <p:cNvPr id="23" name="Text 19"/>
          <p:cNvSpPr/>
          <p:nvPr/>
        </p:nvSpPr>
        <p:spPr>
          <a:xfrm>
            <a:off x="6949440" y="2487168"/>
            <a:ext cx="1280160" cy="274320"/>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 3 mm</a:t>
            </a:r>
            <a:endParaRPr lang="en-US" sz="1150" dirty="0"/>
          </a:p>
        </p:txBody>
      </p:sp>
      <p:sp>
        <p:nvSpPr>
          <p:cNvPr id="24" name="Text 20"/>
          <p:cNvSpPr/>
          <p:nvPr/>
        </p:nvSpPr>
        <p:spPr>
          <a:xfrm>
            <a:off x="4069080" y="2788920"/>
            <a:ext cx="2926080" cy="274320"/>
          </a:xfrm>
          <a:prstGeom prst="rect">
            <a:avLst/>
          </a:prstGeom>
          <a:noFill/>
          <a:ln/>
        </p:spPr>
        <p:txBody>
          <a:bodyPr wrap="square" lIns="0" tIns="0" rIns="0" bIns="0" rtlCol="0" anchor="ctr"/>
          <a:lstStyle/>
          <a:p>
            <a:pPr indent="0" marL="0">
              <a:buNone/>
            </a:pPr>
            <a:r>
              <a:rPr lang="en-US" sz="1100" dirty="0">
                <a:solidFill>
                  <a:srgbClr val="3A4356"/>
                </a:solidFill>
                <a:latin typeface="Calibri" pitchFamily="34" charset="0"/>
                <a:ea typeface="Calibri" pitchFamily="34" charset="-122"/>
                <a:cs typeface="Calibri" pitchFamily="34" charset="-120"/>
              </a:rPr>
              <a:t>Precision bores / holes</a:t>
            </a:r>
            <a:endParaRPr lang="en-US" sz="1100" dirty="0"/>
          </a:p>
        </p:txBody>
      </p:sp>
      <p:sp>
        <p:nvSpPr>
          <p:cNvPr id="25" name="Text 21"/>
          <p:cNvSpPr/>
          <p:nvPr/>
        </p:nvSpPr>
        <p:spPr>
          <a:xfrm>
            <a:off x="6949440" y="2788920"/>
            <a:ext cx="1280160" cy="274320"/>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2 / 16</a:t>
            </a:r>
            <a:endParaRPr lang="en-US" sz="1150" dirty="0"/>
          </a:p>
        </p:txBody>
      </p:sp>
      <p:sp>
        <p:nvSpPr>
          <p:cNvPr id="26" name="Text 22"/>
          <p:cNvSpPr/>
          <p:nvPr/>
        </p:nvSpPr>
        <p:spPr>
          <a:xfrm>
            <a:off x="4069080" y="3090672"/>
            <a:ext cx="2926080" cy="274320"/>
          </a:xfrm>
          <a:prstGeom prst="rect">
            <a:avLst/>
          </a:prstGeom>
          <a:noFill/>
          <a:ln/>
        </p:spPr>
        <p:txBody>
          <a:bodyPr wrap="square" lIns="0" tIns="0" rIns="0" bIns="0" rtlCol="0" anchor="ctr"/>
          <a:lstStyle/>
          <a:p>
            <a:pPr indent="0" marL="0">
              <a:buNone/>
            </a:pPr>
            <a:r>
              <a:rPr lang="en-US" sz="1100" dirty="0">
                <a:solidFill>
                  <a:srgbClr val="3A4356"/>
                </a:solidFill>
                <a:latin typeface="Calibri" pitchFamily="34" charset="0"/>
                <a:ea typeface="Calibri" pitchFamily="34" charset="-122"/>
                <a:cs typeface="Calibri" pitchFamily="34" charset="-120"/>
              </a:rPr>
              <a:t>Faces to machine flat</a:t>
            </a:r>
            <a:endParaRPr lang="en-US" sz="1100" dirty="0"/>
          </a:p>
        </p:txBody>
      </p:sp>
      <p:sp>
        <p:nvSpPr>
          <p:cNvPr id="27" name="Text 23"/>
          <p:cNvSpPr/>
          <p:nvPr/>
        </p:nvSpPr>
        <p:spPr>
          <a:xfrm>
            <a:off x="6949440" y="3090672"/>
            <a:ext cx="1280160" cy="274320"/>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2</a:t>
            </a:r>
            <a:endParaRPr lang="en-US" sz="1150" dirty="0"/>
          </a:p>
        </p:txBody>
      </p:sp>
      <p:sp>
        <p:nvSpPr>
          <p:cNvPr id="28" name="Shape 24"/>
          <p:cNvSpPr/>
          <p:nvPr/>
        </p:nvSpPr>
        <p:spPr>
          <a:xfrm>
            <a:off x="8595360" y="1207008"/>
            <a:ext cx="3136392" cy="2286000"/>
          </a:xfrm>
          <a:prstGeom prst="roundRect">
            <a:avLst>
              <a:gd name="adj" fmla="val 4000"/>
            </a:avLst>
          </a:prstGeom>
          <a:solidFill>
            <a:srgbClr val="E8F1FA"/>
          </a:solidFill>
          <a:ln w="15875">
            <a:solidFill>
              <a:srgbClr val="1D6FB8"/>
            </a:solidFill>
            <a:prstDash val="solid"/>
          </a:ln>
        </p:spPr>
      </p:sp>
      <p:sp>
        <p:nvSpPr>
          <p:cNvPr id="29" name="Text 25"/>
          <p:cNvSpPr/>
          <p:nvPr/>
        </p:nvSpPr>
        <p:spPr>
          <a:xfrm>
            <a:off x="8823960" y="1371600"/>
            <a:ext cx="2743200" cy="237744"/>
          </a:xfrm>
          <a:prstGeom prst="rect">
            <a:avLst/>
          </a:prstGeom>
          <a:noFill/>
          <a:ln/>
        </p:spPr>
        <p:txBody>
          <a:bodyPr wrap="square" lIns="0" tIns="0" rIns="0" bIns="0" rtlCol="0" anchor="ctr"/>
          <a:lstStyle/>
          <a:p>
            <a:pPr indent="0" marL="0">
              <a:buNone/>
            </a:pPr>
            <a:r>
              <a:rPr lang="en-US" sz="1050" b="1" spc="100" kern="0" dirty="0">
                <a:solidFill>
                  <a:srgbClr val="1D6FB8"/>
                </a:solidFill>
                <a:latin typeface="Calibri" pitchFamily="34" charset="0"/>
                <a:ea typeface="Calibri" pitchFamily="34" charset="-122"/>
                <a:cs typeface="Calibri" pitchFamily="34" charset="-120"/>
              </a:rPr>
              <a:t>WHY THIS MATTERS</a:t>
            </a:r>
            <a:endParaRPr lang="en-US" sz="1050" dirty="0"/>
          </a:p>
        </p:txBody>
      </p:sp>
      <p:sp>
        <p:nvSpPr>
          <p:cNvPr id="30" name="Text 26"/>
          <p:cNvSpPr/>
          <p:nvPr/>
        </p:nvSpPr>
        <p:spPr>
          <a:xfrm>
            <a:off x="8823960" y="1691640"/>
            <a:ext cx="2743200" cy="1737360"/>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On a STEP file nobody types these numbers, and nobody estimates them.</a:t>
            </a:r>
            <a:endParaRPr lang="en-US" sz="1050" dirty="0"/>
          </a:p>
          <a:p>
            <a:pPr indent="0" marL="0">
              <a:buNone/>
            </a:pPr>
            <a:endParaRPr lang="en-US" sz="1050" dirty="0"/>
          </a:p>
          <a:p>
            <a:pPr indent="0" marL="0">
              <a:buNone/>
            </a:pPr>
            <a:r>
              <a:rPr lang="en-US" sz="1050" dirty="0">
                <a:solidFill>
                  <a:srgbClr val="3A4356"/>
                </a:solidFill>
                <a:latin typeface="Calibri" pitchFamily="34" charset="0"/>
                <a:ea typeface="Calibri" pitchFamily="34" charset="-122"/>
                <a:cs typeface="Calibri" pitchFamily="34" charset="-120"/>
              </a:rPr>
              <a:t>The kernel measures VOLUME. It cannot know the weight until the material is named — so it gives a weight for each candidate density and waits.</a:t>
            </a:r>
            <a:endParaRPr lang="en-US" sz="1050" dirty="0"/>
          </a:p>
        </p:txBody>
      </p:sp>
      <p:sp>
        <p:nvSpPr>
          <p:cNvPr id="31" name="Shape 27"/>
          <p:cNvSpPr/>
          <p:nvPr/>
        </p:nvSpPr>
        <p:spPr>
          <a:xfrm>
            <a:off x="457200" y="3703320"/>
            <a:ext cx="11274552" cy="1371600"/>
          </a:xfrm>
          <a:prstGeom prst="roundRect">
            <a:avLst>
              <a:gd name="adj" fmla="val 6667"/>
            </a:avLst>
          </a:prstGeom>
          <a:solidFill>
            <a:srgbClr val="FFFFFF"/>
          </a:solidFill>
          <a:ln w="12700">
            <a:solidFill>
              <a:srgbClr val="DCE3EE"/>
            </a:solidFill>
            <a:prstDash val="solid"/>
          </a:ln>
        </p:spPr>
      </p:sp>
      <p:sp>
        <p:nvSpPr>
          <p:cNvPr id="32" name="Shape 28"/>
          <p:cNvSpPr/>
          <p:nvPr/>
        </p:nvSpPr>
        <p:spPr>
          <a:xfrm>
            <a:off x="685800" y="3913632"/>
            <a:ext cx="457200" cy="457200"/>
          </a:xfrm>
          <a:prstGeom prst="ellipse">
            <a:avLst/>
          </a:prstGeom>
          <a:solidFill>
            <a:srgbClr val="1D6FB8"/>
          </a:solidFill>
          <a:ln/>
        </p:spPr>
      </p:sp>
      <p:pic>
        <p:nvPicPr>
          <p:cNvPr id="33" name="Image 2" descr="preencoded.png">    </p:cNvPr>
          <p:cNvPicPr>
            <a:picLocks noChangeAspect="1"/>
          </p:cNvPicPr>
          <p:nvPr/>
        </p:nvPicPr>
        <p:blipFill>
          <a:blip r:embed="rId3"/>
          <a:stretch>
            <a:fillRect/>
          </a:stretch>
        </p:blipFill>
        <p:spPr>
          <a:xfrm>
            <a:off x="795528" y="4023360"/>
            <a:ext cx="237744" cy="237744"/>
          </a:xfrm>
          <a:prstGeom prst="rect">
            <a:avLst/>
          </a:prstGeom>
        </p:spPr>
      </p:pic>
      <p:sp>
        <p:nvSpPr>
          <p:cNvPr id="34" name="Text 29"/>
          <p:cNvSpPr/>
          <p:nvPr/>
        </p:nvSpPr>
        <p:spPr>
          <a:xfrm>
            <a:off x="1280160" y="3931920"/>
            <a:ext cx="10058400" cy="274320"/>
          </a:xfrm>
          <a:prstGeom prst="rect">
            <a:avLst/>
          </a:prstGeom>
          <a:noFill/>
          <a:ln/>
        </p:spPr>
        <p:txBody>
          <a:bodyPr wrap="square" lIns="0" tIns="0" rIns="0" bIns="0" rtlCol="0" anchor="ctr"/>
          <a:lstStyle/>
          <a:p>
            <a:pPr indent="0" marL="0">
              <a:buNone/>
            </a:pPr>
            <a:r>
              <a:rPr lang="en-US" sz="1250" b="1" dirty="0">
                <a:solidFill>
                  <a:srgbClr val="1D6FB8"/>
                </a:solidFill>
                <a:latin typeface="Calibri" pitchFamily="34" charset="0"/>
                <a:ea typeface="Calibri" pitchFamily="34" charset="-122"/>
                <a:cs typeface="Calibri" pitchFamily="34" charset="-120"/>
              </a:rPr>
              <a:t>3 · The shape sense-check — a small step that protects the whole price</a:t>
            </a:r>
            <a:endParaRPr lang="en-US" sz="1250" dirty="0"/>
          </a:p>
        </p:txBody>
      </p:sp>
      <p:sp>
        <p:nvSpPr>
          <p:cNvPr id="35" name="Text 30"/>
          <p:cNvSpPr/>
          <p:nvPr/>
        </p:nvSpPr>
        <p:spPr>
          <a:xfrm>
            <a:off x="1280160" y="4261104"/>
            <a:ext cx="10241280" cy="731520"/>
          </a:xfrm>
          <a:prstGeom prst="rect">
            <a:avLst/>
          </a:prstGeom>
          <a:noFill/>
          <a:ln/>
        </p:spPr>
        <p:txBody>
          <a:bodyPr wrap="square" lIns="0" tIns="0" rIns="0" bIns="0" rtlCol="0" anchor="t"/>
          <a:lstStyle/>
          <a:p>
            <a:pPr indent="0" marL="0">
              <a:buNone/>
            </a:pPr>
            <a:r>
              <a:rPr lang="en-US" sz="1150" b="1" dirty="0">
                <a:solidFill>
                  <a:srgbClr val="16325C"/>
                </a:solidFill>
                <a:latin typeface="Calibri" pitchFamily="34" charset="0"/>
                <a:ea typeface="Calibri" pitchFamily="34" charset="-122"/>
                <a:cs typeface="Calibri" pitchFamily="34" charset="-120"/>
              </a:rPr>
              <a:t>The tool asks one question: is this hollow, or solid?  </a:t>
            </a:r>
            <a:pPr indent="0" marL="0">
              <a:buNone/>
            </a:pPr>
            <a:r>
              <a:rPr lang="en-US" sz="1150" dirty="0">
                <a:solidFill>
                  <a:srgbClr val="3A4356"/>
                </a:solidFill>
                <a:latin typeface="Calibri" pitchFamily="34" charset="0"/>
                <a:ea typeface="Calibri" pitchFamily="34" charset="-122"/>
                <a:cs typeface="Calibri" pitchFamily="34" charset="-120"/>
              </a:rPr>
              <a:t>Three-millimetre walls around an enclosed space mean a HOLLOW CASTING — so the cutting machines only tidy up surfaces. If the tool wrongly thought it was a solid block, it would price carving the whole shape out of metal, and the answer would be roughly double. One check, enormous consequence.</a:t>
            </a:r>
            <a:endParaRPr lang="en-US" sz="1150" dirty="0"/>
          </a:p>
        </p:txBody>
      </p:sp>
      <p:sp>
        <p:nvSpPr>
          <p:cNvPr id="36" name="Shape 31"/>
          <p:cNvSpPr/>
          <p:nvPr/>
        </p:nvSpPr>
        <p:spPr>
          <a:xfrm>
            <a:off x="457200" y="5230368"/>
            <a:ext cx="11274552" cy="822960"/>
          </a:xfrm>
          <a:prstGeom prst="roundRect">
            <a:avLst>
              <a:gd name="adj" fmla="val 11111"/>
            </a:avLst>
          </a:prstGeom>
          <a:solidFill>
            <a:srgbClr val="F1EBF8"/>
          </a:solidFill>
          <a:ln w="12700">
            <a:solidFill>
              <a:srgbClr val="6B3FA0"/>
            </a:solidFill>
            <a:prstDash val="solid"/>
          </a:ln>
        </p:spPr>
      </p:sp>
      <p:sp>
        <p:nvSpPr>
          <p:cNvPr id="37" name="Text 32"/>
          <p:cNvSpPr/>
          <p:nvPr/>
        </p:nvSpPr>
        <p:spPr>
          <a:xfrm>
            <a:off x="731520" y="5330952"/>
            <a:ext cx="10744200" cy="640080"/>
          </a:xfrm>
          <a:prstGeom prst="rect">
            <a:avLst/>
          </a:prstGeom>
          <a:noFill/>
          <a:ln/>
        </p:spPr>
        <p:txBody>
          <a:bodyPr wrap="square" lIns="0" tIns="0" rIns="0" bIns="0" rtlCol="0" anchor="ctr"/>
          <a:lstStyle/>
          <a:p>
            <a:pPr indent="0" marL="0">
              <a:buNone/>
            </a:pPr>
            <a:r>
              <a:rPr lang="en-US" sz="1200" b="1" dirty="0">
                <a:solidFill>
                  <a:srgbClr val="6B3FA0"/>
                </a:solidFill>
                <a:latin typeface="Calibri" pitchFamily="34" charset="0"/>
                <a:ea typeface="Calibri" pitchFamily="34" charset="-122"/>
                <a:cs typeface="Calibri" pitchFamily="34" charset="-120"/>
              </a:rPr>
              <a:t>Where is the AI?  Nowhere. </a:t>
            </a:r>
            <a:pPr indent="0" marL="0">
              <a:buNone/>
            </a:pPr>
            <a:r>
              <a:rPr lang="en-US" sz="1200" dirty="0">
                <a:solidFill>
                  <a:srgbClr val="3A4356"/>
                </a:solidFill>
                <a:latin typeface="Calibri" pitchFamily="34" charset="0"/>
                <a:ea typeface="Calibri" pitchFamily="34" charset="-122"/>
                <a:cs typeface="Calibri" pitchFamily="34" charset="-120"/>
              </a:rPr>
              <a:t>At JLR it is switched off. Even when it is on, the measurements come first, so anything it says can be checked against an independent set of facts.</a:t>
            </a:r>
            <a:endParaRPr lang="en-US" sz="1200" dirty="0"/>
          </a:p>
        </p:txBody>
      </p:sp>
      <p:sp>
        <p:nvSpPr>
          <p:cNvPr id="38" name="Text 3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9" name="Text 3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D6FB8"/>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What Is the "Geometry Kernel"?</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measuring instrument — and the honest answer on what it is built from</a:t>
            </a:r>
            <a:endParaRPr lang="en-US" sz="1200" dirty="0"/>
          </a:p>
        </p:txBody>
      </p:sp>
      <p:sp>
        <p:nvSpPr>
          <p:cNvPr id="5" name="Shape 3"/>
          <p:cNvSpPr/>
          <p:nvPr/>
        </p:nvSpPr>
        <p:spPr>
          <a:xfrm>
            <a:off x="9418320" y="676656"/>
            <a:ext cx="2286000" cy="310896"/>
          </a:xfrm>
          <a:prstGeom prst="roundRect">
            <a:avLst>
              <a:gd name="adj" fmla="val 50000"/>
            </a:avLst>
          </a:prstGeom>
          <a:solidFill>
            <a:srgbClr val="E8F1FA"/>
          </a:solidFill>
          <a:ln w="12700">
            <a:solidFill>
              <a:srgbClr val="1D6FB8"/>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1D6FB8"/>
                </a:solidFill>
                <a:latin typeface="Calibri" pitchFamily="34" charset="0"/>
                <a:ea typeface="Calibri" pitchFamily="34" charset="-122"/>
                <a:cs typeface="Calibri" pitchFamily="34" charset="-120"/>
              </a:rPr>
              <a:t>OWNER: THE RULER</a:t>
            </a:r>
            <a:endParaRPr lang="en-US" sz="950" dirty="0"/>
          </a:p>
        </p:txBody>
      </p:sp>
      <p:sp>
        <p:nvSpPr>
          <p:cNvPr id="7" name="Shape 5"/>
          <p:cNvSpPr/>
          <p:nvPr/>
        </p:nvSpPr>
        <p:spPr>
          <a:xfrm>
            <a:off x="457200" y="1188720"/>
            <a:ext cx="5577840" cy="2377440"/>
          </a:xfrm>
          <a:prstGeom prst="roundRect">
            <a:avLst>
              <a:gd name="adj" fmla="val 3846"/>
            </a:avLst>
          </a:prstGeom>
          <a:solidFill>
            <a:srgbClr val="FFFFFF"/>
          </a:solidFill>
          <a:ln w="12700">
            <a:solidFill>
              <a:srgbClr val="DCE3EE"/>
            </a:solidFill>
            <a:prstDash val="solid"/>
          </a:ln>
        </p:spPr>
      </p:sp>
      <p:sp>
        <p:nvSpPr>
          <p:cNvPr id="8" name="Text 6"/>
          <p:cNvSpPr/>
          <p:nvPr/>
        </p:nvSpPr>
        <p:spPr>
          <a:xfrm>
            <a:off x="685800" y="1316736"/>
            <a:ext cx="5029200" cy="237744"/>
          </a:xfrm>
          <a:prstGeom prst="rect">
            <a:avLst/>
          </a:prstGeom>
          <a:noFill/>
          <a:ln/>
        </p:spPr>
        <p:txBody>
          <a:bodyPr wrap="square" lIns="0" tIns="0" rIns="0" bIns="0" rtlCol="0" anchor="ctr"/>
          <a:lstStyle/>
          <a:p>
            <a:pPr indent="0" marL="0">
              <a:buNone/>
            </a:pPr>
            <a:r>
              <a:rPr lang="en-US" sz="1050" b="1" spc="100" kern="0" dirty="0">
                <a:solidFill>
                  <a:srgbClr val="1D6FB8"/>
                </a:solidFill>
                <a:latin typeface="Calibri" pitchFamily="34" charset="0"/>
                <a:ea typeface="Calibri" pitchFamily="34" charset="-122"/>
                <a:cs typeface="Calibri" pitchFamily="34" charset="-120"/>
              </a:rPr>
              <a:t>WHAT IT IS</a:t>
            </a:r>
            <a:endParaRPr lang="en-US" sz="1050" dirty="0"/>
          </a:p>
        </p:txBody>
      </p:sp>
      <p:sp>
        <p:nvSpPr>
          <p:cNvPr id="9" name="Text 7"/>
          <p:cNvSpPr/>
          <p:nvPr/>
        </p:nvSpPr>
        <p:spPr>
          <a:xfrm>
            <a:off x="685800" y="1609344"/>
            <a:ext cx="5120640" cy="914400"/>
          </a:xfrm>
          <a:prstGeom prst="rect">
            <a:avLst/>
          </a:prstGeom>
          <a:noFill/>
          <a:ln/>
        </p:spPr>
        <p:txBody>
          <a:bodyPr wrap="square" lIns="0" tIns="0" rIns="0" bIns="0" rtlCol="0" anchor="t"/>
          <a:lstStyle/>
          <a:p>
            <a:pPr indent="0" marL="0">
              <a:buNone/>
            </a:pPr>
            <a:r>
              <a:rPr lang="en-US" sz="1100" b="1" dirty="0">
                <a:solidFill>
                  <a:srgbClr val="16325C"/>
                </a:solidFill>
                <a:latin typeface="Calibri" pitchFamily="34" charset="0"/>
                <a:ea typeface="Calibri" pitchFamily="34" charset="-122"/>
                <a:cs typeface="Calibri" pitchFamily="34" charset="-120"/>
              </a:rPr>
              <a:t>The same class of engine that sits underneath CATIA, SolidWorks and NX. </a:t>
            </a:r>
            <a:pPr indent="0" marL="0">
              <a:buNone/>
            </a:pPr>
            <a:r>
              <a:rPr lang="en-US" sz="1100" dirty="0">
                <a:solidFill>
                  <a:srgbClr val="3A4356"/>
                </a:solidFill>
                <a:latin typeface="Calibri" pitchFamily="34" charset="0"/>
                <a:ea typeface="Calibri" pitchFamily="34" charset="-122"/>
                <a:cs typeface="Calibri" pitchFamily="34" charset="-120"/>
              </a:rPr>
              <a:t>It reads the real CAD geometry — the mathematical surfaces, not a picture of them — so a cylinder is genuinely a cylinder with a radius and an axis, not a mesh of triangles that looks round.</a:t>
            </a:r>
            <a:endParaRPr lang="en-US" sz="1100" dirty="0"/>
          </a:p>
        </p:txBody>
      </p:sp>
      <p:sp>
        <p:nvSpPr>
          <p:cNvPr id="10" name="Text 8"/>
          <p:cNvSpPr/>
          <p:nvPr/>
        </p:nvSpPr>
        <p:spPr>
          <a:xfrm>
            <a:off x="685800" y="2578608"/>
            <a:ext cx="5120640" cy="310896"/>
          </a:xfrm>
          <a:prstGeom prst="rect">
            <a:avLst/>
          </a:prstGeom>
          <a:noFill/>
          <a:ln/>
        </p:spPr>
        <p:txBody>
          <a:bodyPr wrap="square" lIns="0" tIns="0" rIns="0" bIns="0" rtlCol="0" anchor="t"/>
          <a:lstStyle/>
          <a:p>
            <a:pPr indent="0" marL="0">
              <a:buNone/>
            </a:pPr>
            <a:r>
              <a:rPr lang="en-US" sz="1100" b="1" dirty="0">
                <a:solidFill>
                  <a:srgbClr val="1D6FB8"/>
                </a:solidFill>
                <a:latin typeface="Calibri" pitchFamily="34" charset="0"/>
                <a:ea typeface="Calibri" pitchFamily="34" charset="-122"/>
                <a:cs typeface="Calibri" pitchFamily="34" charset="-120"/>
              </a:rPr>
              <a:t>CostVision uses Open CASCADE (OCCT), driven from Python through the OCP bindings.</a:t>
            </a:r>
            <a:endParaRPr lang="en-US" sz="1100" dirty="0"/>
          </a:p>
        </p:txBody>
      </p:sp>
      <p:sp>
        <p:nvSpPr>
          <p:cNvPr id="11" name="Text 9"/>
          <p:cNvSpPr/>
          <p:nvPr/>
        </p:nvSpPr>
        <p:spPr>
          <a:xfrm>
            <a:off x="685800" y="2926080"/>
            <a:ext cx="5120640" cy="502920"/>
          </a:xfrm>
          <a:prstGeom prst="rect">
            <a:avLst/>
          </a:prstGeom>
          <a:noFill/>
          <a:ln/>
        </p:spPr>
        <p:txBody>
          <a:bodyPr wrap="square" lIns="0" tIns="0" rIns="0" bIns="0" rtlCol="0" anchor="t"/>
          <a:lstStyle/>
          <a:p>
            <a:pPr indent="0" marL="0">
              <a:buNone/>
            </a:pPr>
            <a:r>
              <a:rPr lang="en-US" sz="1000" i="1" dirty="0">
                <a:solidFill>
                  <a:srgbClr val="686F7D"/>
                </a:solidFill>
                <a:latin typeface="Calibri" pitchFamily="34" charset="0"/>
                <a:ea typeface="Calibri" pitchFamily="34" charset="-122"/>
                <a:cs typeface="Calibri" pitchFamily="34" charset="-120"/>
              </a:rPr>
              <a:t>Reads STEP and IGES — the neutral formats every OEM and supplier already exchanges. STL meshes take a separate, simpler path.</a:t>
            </a:r>
            <a:endParaRPr lang="en-US" sz="1000" dirty="0"/>
          </a:p>
        </p:txBody>
      </p:sp>
      <p:sp>
        <p:nvSpPr>
          <p:cNvPr id="12" name="Shape 10"/>
          <p:cNvSpPr/>
          <p:nvPr/>
        </p:nvSpPr>
        <p:spPr>
          <a:xfrm>
            <a:off x="6263640" y="1188720"/>
            <a:ext cx="5468112" cy="2377440"/>
          </a:xfrm>
          <a:prstGeom prst="roundRect">
            <a:avLst>
              <a:gd name="adj" fmla="val 3846"/>
            </a:avLst>
          </a:prstGeom>
          <a:solidFill>
            <a:srgbClr val="E8F1FA"/>
          </a:solidFill>
          <a:ln w="15875">
            <a:solidFill>
              <a:srgbClr val="1D6FB8"/>
            </a:solidFill>
            <a:prstDash val="solid"/>
          </a:ln>
        </p:spPr>
      </p:sp>
      <p:sp>
        <p:nvSpPr>
          <p:cNvPr id="13" name="Text 11"/>
          <p:cNvSpPr/>
          <p:nvPr/>
        </p:nvSpPr>
        <p:spPr>
          <a:xfrm>
            <a:off x="6492240" y="1316736"/>
            <a:ext cx="5029200" cy="237744"/>
          </a:xfrm>
          <a:prstGeom prst="rect">
            <a:avLst/>
          </a:prstGeom>
          <a:noFill/>
          <a:ln/>
        </p:spPr>
        <p:txBody>
          <a:bodyPr wrap="square" lIns="0" tIns="0" rIns="0" bIns="0" rtlCol="0" anchor="ctr"/>
          <a:lstStyle/>
          <a:p>
            <a:pPr indent="0" marL="0">
              <a:buNone/>
            </a:pPr>
            <a:r>
              <a:rPr lang="en-US" sz="1050" b="1" spc="60" kern="0" dirty="0">
                <a:solidFill>
                  <a:srgbClr val="1D6FB8"/>
                </a:solidFill>
                <a:latin typeface="Calibri" pitchFamily="34" charset="0"/>
                <a:ea typeface="Calibri" pitchFamily="34" charset="-122"/>
                <a:cs typeface="Calibri" pitchFamily="34" charset="-120"/>
              </a:rPr>
              <a:t>IS IT OPEN SOURCE?  YES — AND THAT MATTERS</a:t>
            </a:r>
            <a:endParaRPr lang="en-US" sz="1050" dirty="0"/>
          </a:p>
        </p:txBody>
      </p:sp>
      <p:sp>
        <p:nvSpPr>
          <p:cNvPr id="14" name="Text 12"/>
          <p:cNvSpPr/>
          <p:nvPr/>
        </p:nvSpPr>
        <p:spPr>
          <a:xfrm>
            <a:off x="6492240" y="1682496"/>
            <a:ext cx="2286000" cy="274320"/>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Open CASCADE (OCCT)</a:t>
            </a:r>
            <a:endParaRPr lang="en-US" sz="1050" dirty="0"/>
          </a:p>
        </p:txBody>
      </p:sp>
      <p:sp>
        <p:nvSpPr>
          <p:cNvPr id="15" name="Text 13"/>
          <p:cNvSpPr/>
          <p:nvPr/>
        </p:nvSpPr>
        <p:spPr>
          <a:xfrm>
            <a:off x="8778240" y="1682496"/>
            <a:ext cx="1691640" cy="274320"/>
          </a:xfrm>
          <a:prstGeom prst="rect">
            <a:avLst/>
          </a:prstGeom>
          <a:noFill/>
          <a:ln/>
        </p:spPr>
        <p:txBody>
          <a:bodyPr wrap="square" lIns="0" tIns="0" rIns="0" bIns="0" rtlCol="0" anchor="ctr"/>
          <a:lstStyle/>
          <a:p>
            <a:pPr indent="0" marL="0">
              <a:buNone/>
            </a:pPr>
            <a:r>
              <a:rPr lang="en-US" sz="1000" b="1" dirty="0">
                <a:solidFill>
                  <a:srgbClr val="1D6FB8"/>
                </a:solidFill>
                <a:latin typeface="Calibri" pitchFamily="34" charset="0"/>
                <a:ea typeface="Calibri" pitchFamily="34" charset="-122"/>
                <a:cs typeface="Calibri" pitchFamily="34" charset="-120"/>
              </a:rPr>
              <a:t>LGPL v2.1 + exception</a:t>
            </a:r>
            <a:endParaRPr lang="en-US" sz="1000" dirty="0"/>
          </a:p>
        </p:txBody>
      </p:sp>
      <p:sp>
        <p:nvSpPr>
          <p:cNvPr id="16" name="Text 14"/>
          <p:cNvSpPr/>
          <p:nvPr/>
        </p:nvSpPr>
        <p:spPr>
          <a:xfrm>
            <a:off x="10469880" y="1682496"/>
            <a:ext cx="1188720" cy="274320"/>
          </a:xfrm>
          <a:prstGeom prst="rect">
            <a:avLst/>
          </a:prstGeom>
          <a:noFill/>
          <a:ln/>
        </p:spPr>
        <p:txBody>
          <a:bodyPr wrap="square" lIns="0" tIns="0" rIns="0" bIns="0" rtlCol="0" anchor="ctr"/>
          <a:lstStyle/>
          <a:p>
            <a:pPr indent="0" marL="0">
              <a:buNone/>
            </a:pPr>
            <a:r>
              <a:rPr lang="en-US" sz="900" i="1" dirty="0">
                <a:solidFill>
                  <a:srgbClr val="686F7D"/>
                </a:solidFill>
                <a:latin typeface="Calibri" pitchFamily="34" charset="0"/>
                <a:ea typeface="Calibri" pitchFamily="34" charset="-122"/>
                <a:cs typeface="Calibri" pitchFamily="34" charset="-120"/>
              </a:rPr>
              <a:t>the kernel itself</a:t>
            </a:r>
            <a:endParaRPr lang="en-US" sz="900" dirty="0"/>
          </a:p>
        </p:txBody>
      </p:sp>
      <p:sp>
        <p:nvSpPr>
          <p:cNvPr id="17" name="Text 15"/>
          <p:cNvSpPr/>
          <p:nvPr/>
        </p:nvSpPr>
        <p:spPr>
          <a:xfrm>
            <a:off x="6492240" y="2066544"/>
            <a:ext cx="2286000" cy="274320"/>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OCP (cadquery-ocp)</a:t>
            </a:r>
            <a:endParaRPr lang="en-US" sz="1050" dirty="0"/>
          </a:p>
        </p:txBody>
      </p:sp>
      <p:sp>
        <p:nvSpPr>
          <p:cNvPr id="18" name="Text 16"/>
          <p:cNvSpPr/>
          <p:nvPr/>
        </p:nvSpPr>
        <p:spPr>
          <a:xfrm>
            <a:off x="8778240" y="2066544"/>
            <a:ext cx="1691640" cy="274320"/>
          </a:xfrm>
          <a:prstGeom prst="rect">
            <a:avLst/>
          </a:prstGeom>
          <a:noFill/>
          <a:ln/>
        </p:spPr>
        <p:txBody>
          <a:bodyPr wrap="square" lIns="0" tIns="0" rIns="0" bIns="0" rtlCol="0" anchor="ctr"/>
          <a:lstStyle/>
          <a:p>
            <a:pPr indent="0" marL="0">
              <a:buNone/>
            </a:pPr>
            <a:r>
              <a:rPr lang="en-US" sz="1000" b="1" dirty="0">
                <a:solidFill>
                  <a:srgbClr val="1D6FB8"/>
                </a:solidFill>
                <a:latin typeface="Calibri" pitchFamily="34" charset="0"/>
                <a:ea typeface="Calibri" pitchFamily="34" charset="-122"/>
                <a:cs typeface="Calibri" pitchFamily="34" charset="-120"/>
              </a:rPr>
              <a:t>Apache 2.0</a:t>
            </a:r>
            <a:endParaRPr lang="en-US" sz="1000" dirty="0"/>
          </a:p>
        </p:txBody>
      </p:sp>
      <p:sp>
        <p:nvSpPr>
          <p:cNvPr id="19" name="Text 17"/>
          <p:cNvSpPr/>
          <p:nvPr/>
        </p:nvSpPr>
        <p:spPr>
          <a:xfrm>
            <a:off x="10469880" y="2066544"/>
            <a:ext cx="1188720" cy="274320"/>
          </a:xfrm>
          <a:prstGeom prst="rect">
            <a:avLst/>
          </a:prstGeom>
          <a:noFill/>
          <a:ln/>
        </p:spPr>
        <p:txBody>
          <a:bodyPr wrap="square" lIns="0" tIns="0" rIns="0" bIns="0" rtlCol="0" anchor="ctr"/>
          <a:lstStyle/>
          <a:p>
            <a:pPr indent="0" marL="0">
              <a:buNone/>
            </a:pPr>
            <a:r>
              <a:rPr lang="en-US" sz="900" i="1" dirty="0">
                <a:solidFill>
                  <a:srgbClr val="686F7D"/>
                </a:solidFill>
                <a:latin typeface="Calibri" pitchFamily="34" charset="0"/>
                <a:ea typeface="Calibri" pitchFamily="34" charset="-122"/>
                <a:cs typeface="Calibri" pitchFamily="34" charset="-120"/>
              </a:rPr>
              <a:t>the Python driver</a:t>
            </a:r>
            <a:endParaRPr lang="en-US" sz="900" dirty="0"/>
          </a:p>
        </p:txBody>
      </p:sp>
      <p:sp>
        <p:nvSpPr>
          <p:cNvPr id="20" name="Text 18"/>
          <p:cNvSpPr/>
          <p:nvPr/>
        </p:nvSpPr>
        <p:spPr>
          <a:xfrm>
            <a:off x="6492240" y="2450592"/>
            <a:ext cx="2286000" cy="274320"/>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three.js</a:t>
            </a:r>
            <a:endParaRPr lang="en-US" sz="1050" dirty="0"/>
          </a:p>
        </p:txBody>
      </p:sp>
      <p:sp>
        <p:nvSpPr>
          <p:cNvPr id="21" name="Text 19"/>
          <p:cNvSpPr/>
          <p:nvPr/>
        </p:nvSpPr>
        <p:spPr>
          <a:xfrm>
            <a:off x="8778240" y="2450592"/>
            <a:ext cx="1691640" cy="274320"/>
          </a:xfrm>
          <a:prstGeom prst="rect">
            <a:avLst/>
          </a:prstGeom>
          <a:noFill/>
          <a:ln/>
        </p:spPr>
        <p:txBody>
          <a:bodyPr wrap="square" lIns="0" tIns="0" rIns="0" bIns="0" rtlCol="0" anchor="ctr"/>
          <a:lstStyle/>
          <a:p>
            <a:pPr indent="0" marL="0">
              <a:buNone/>
            </a:pPr>
            <a:r>
              <a:rPr lang="en-US" sz="1000" b="1" dirty="0">
                <a:solidFill>
                  <a:srgbClr val="1D6FB8"/>
                </a:solidFill>
                <a:latin typeface="Calibri" pitchFamily="34" charset="0"/>
                <a:ea typeface="Calibri" pitchFamily="34" charset="-122"/>
                <a:cs typeface="Calibri" pitchFamily="34" charset="-120"/>
              </a:rPr>
              <a:t>MIT</a:t>
            </a:r>
            <a:endParaRPr lang="en-US" sz="1000" dirty="0"/>
          </a:p>
        </p:txBody>
      </p:sp>
      <p:sp>
        <p:nvSpPr>
          <p:cNvPr id="22" name="Text 20"/>
          <p:cNvSpPr/>
          <p:nvPr/>
        </p:nvSpPr>
        <p:spPr>
          <a:xfrm>
            <a:off x="10469880" y="2450592"/>
            <a:ext cx="1188720" cy="274320"/>
          </a:xfrm>
          <a:prstGeom prst="rect">
            <a:avLst/>
          </a:prstGeom>
          <a:noFill/>
          <a:ln/>
        </p:spPr>
        <p:txBody>
          <a:bodyPr wrap="square" lIns="0" tIns="0" rIns="0" bIns="0" rtlCol="0" anchor="ctr"/>
          <a:lstStyle/>
          <a:p>
            <a:pPr indent="0" marL="0">
              <a:buNone/>
            </a:pPr>
            <a:r>
              <a:rPr lang="en-US" sz="900" i="1" dirty="0">
                <a:solidFill>
                  <a:srgbClr val="686F7D"/>
                </a:solidFill>
                <a:latin typeface="Calibri" pitchFamily="34" charset="0"/>
                <a:ea typeface="Calibri" pitchFamily="34" charset="-122"/>
                <a:cs typeface="Calibri" pitchFamily="34" charset="-120"/>
              </a:rPr>
              <a:t>the on-screen 3D viewer</a:t>
            </a:r>
            <a:endParaRPr lang="en-US" sz="900" dirty="0"/>
          </a:p>
        </p:txBody>
      </p:sp>
      <p:sp>
        <p:nvSpPr>
          <p:cNvPr id="23" name="Text 21"/>
          <p:cNvSpPr/>
          <p:nvPr/>
        </p:nvSpPr>
        <p:spPr>
          <a:xfrm>
            <a:off x="6492240" y="2880360"/>
            <a:ext cx="5029200" cy="594360"/>
          </a:xfrm>
          <a:prstGeom prst="rect">
            <a:avLst/>
          </a:prstGeom>
          <a:noFill/>
          <a:ln/>
        </p:spPr>
        <p:txBody>
          <a:bodyPr wrap="square" lIns="0" tIns="0" rIns="0" bIns="0" rtlCol="0" anchor="t"/>
          <a:lstStyle/>
          <a:p>
            <a:pPr indent="0" marL="0">
              <a:buNone/>
            </a:pPr>
            <a:r>
              <a:rPr lang="en-US" sz="1050" b="1" dirty="0">
                <a:solidFill>
                  <a:srgbClr val="16325C"/>
                </a:solidFill>
                <a:latin typeface="Calibri" pitchFamily="34" charset="0"/>
                <a:ea typeface="Calibri" pitchFamily="34" charset="-122"/>
                <a:cs typeface="Calibri" pitchFamily="34" charset="-120"/>
              </a:rPr>
              <a:t>No per-seat CAD licence, no vendor lock-in, and no third party ever sees the model. </a:t>
            </a:r>
            <a:pPr indent="0" marL="0">
              <a:buNone/>
            </a:pPr>
            <a:r>
              <a:rPr lang="en-US" sz="1050" dirty="0">
                <a:solidFill>
                  <a:srgbClr val="3A4356"/>
                </a:solidFill>
                <a:latin typeface="Calibri" pitchFamily="34" charset="0"/>
                <a:ea typeface="Calibri" pitchFamily="34" charset="-122"/>
                <a:cs typeface="Calibri" pitchFamily="34" charset="-120"/>
              </a:rPr>
              <a:t>The kernel runs as a local process on the laptop or your own server — the CAD file is measured where it sits.</a:t>
            </a:r>
            <a:endParaRPr lang="en-US" sz="1050" dirty="0"/>
          </a:p>
        </p:txBody>
      </p:sp>
      <p:sp>
        <p:nvSpPr>
          <p:cNvPr id="24" name="Shape 22"/>
          <p:cNvSpPr/>
          <p:nvPr/>
        </p:nvSpPr>
        <p:spPr>
          <a:xfrm>
            <a:off x="457200" y="3767328"/>
            <a:ext cx="11274552" cy="1481328"/>
          </a:xfrm>
          <a:prstGeom prst="roundRect">
            <a:avLst>
              <a:gd name="adj" fmla="val 6173"/>
            </a:avLst>
          </a:prstGeom>
          <a:solidFill>
            <a:srgbClr val="FFFFFF"/>
          </a:solidFill>
          <a:ln w="12700">
            <a:solidFill>
              <a:srgbClr val="DCE3EE"/>
            </a:solidFill>
            <a:prstDash val="solid"/>
          </a:ln>
        </p:spPr>
      </p:sp>
      <p:sp>
        <p:nvSpPr>
          <p:cNvPr id="25" name="Text 23"/>
          <p:cNvSpPr/>
          <p:nvPr/>
        </p:nvSpPr>
        <p:spPr>
          <a:xfrm>
            <a:off x="731520" y="3877056"/>
            <a:ext cx="10058400" cy="256032"/>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HOW IT ACTUALLY MEASURES — four things, no estimation anywhere</a:t>
            </a:r>
            <a:endParaRPr lang="en-US" sz="1200" dirty="0"/>
          </a:p>
        </p:txBody>
      </p:sp>
      <p:sp>
        <p:nvSpPr>
          <p:cNvPr id="26" name="Text 24"/>
          <p:cNvSpPr/>
          <p:nvPr/>
        </p:nvSpPr>
        <p:spPr>
          <a:xfrm>
            <a:off x="731520" y="4206240"/>
            <a:ext cx="2606040" cy="237744"/>
          </a:xfrm>
          <a:prstGeom prst="rect">
            <a:avLst/>
          </a:prstGeom>
          <a:noFill/>
          <a:ln/>
        </p:spPr>
        <p:txBody>
          <a:bodyPr wrap="square" lIns="0" tIns="0" rIns="0" bIns="0" rtlCol="0" anchor="ctr"/>
          <a:lstStyle/>
          <a:p>
            <a:pPr indent="0" marL="0">
              <a:buNone/>
            </a:pPr>
            <a:r>
              <a:rPr lang="en-US" sz="1050" b="1" dirty="0">
                <a:solidFill>
                  <a:srgbClr val="1D6FB8"/>
                </a:solidFill>
                <a:latin typeface="Calibri" pitchFamily="34" charset="0"/>
                <a:ea typeface="Calibri" pitchFamily="34" charset="-122"/>
                <a:cs typeface="Calibri" pitchFamily="34" charset="-120"/>
              </a:rPr>
              <a:t>Volume &amp; mass</a:t>
            </a:r>
            <a:endParaRPr lang="en-US" sz="1050" dirty="0"/>
          </a:p>
        </p:txBody>
      </p:sp>
      <p:sp>
        <p:nvSpPr>
          <p:cNvPr id="27" name="Text 25"/>
          <p:cNvSpPr/>
          <p:nvPr/>
        </p:nvSpPr>
        <p:spPr>
          <a:xfrm>
            <a:off x="731520" y="4443984"/>
            <a:ext cx="2606040" cy="731520"/>
          </a:xfrm>
          <a:prstGeom prst="rect">
            <a:avLst/>
          </a:prstGeom>
          <a:noFill/>
          <a:ln/>
        </p:spPr>
        <p:txBody>
          <a:bodyPr wrap="square" lIns="0" tIns="0" rIns="0" bIns="0" rtlCol="0" anchor="t"/>
          <a:lstStyle/>
          <a:p>
            <a:pPr indent="0" marL="0">
              <a:buNone/>
            </a:pPr>
            <a:r>
              <a:rPr lang="en-US" sz="900" dirty="0">
                <a:solidFill>
                  <a:srgbClr val="3A4356"/>
                </a:solidFill>
                <a:latin typeface="Calibri" pitchFamily="34" charset="0"/>
                <a:ea typeface="Calibri" pitchFamily="34" charset="-122"/>
                <a:cs typeface="Calibri" pitchFamily="34" charset="-120"/>
              </a:rPr>
              <a:t>Integrates the solid exactly, then publishes a weight for every candidate density — aluminium, steel, plastic, iron, copper, titanium.</a:t>
            </a:r>
            <a:endParaRPr lang="en-US" sz="900" dirty="0"/>
          </a:p>
        </p:txBody>
      </p:sp>
      <p:sp>
        <p:nvSpPr>
          <p:cNvPr id="28" name="Text 26"/>
          <p:cNvSpPr/>
          <p:nvPr/>
        </p:nvSpPr>
        <p:spPr>
          <a:xfrm>
            <a:off x="3520440" y="4206240"/>
            <a:ext cx="2606040" cy="237744"/>
          </a:xfrm>
          <a:prstGeom prst="rect">
            <a:avLst/>
          </a:prstGeom>
          <a:noFill/>
          <a:ln/>
        </p:spPr>
        <p:txBody>
          <a:bodyPr wrap="square" lIns="0" tIns="0" rIns="0" bIns="0" rtlCol="0" anchor="ctr"/>
          <a:lstStyle/>
          <a:p>
            <a:pPr indent="0" marL="0">
              <a:buNone/>
            </a:pPr>
            <a:r>
              <a:rPr lang="en-US" sz="1050" b="1" dirty="0">
                <a:solidFill>
                  <a:srgbClr val="1D6FB8"/>
                </a:solidFill>
                <a:latin typeface="Calibri" pitchFamily="34" charset="0"/>
                <a:ea typeface="Calibri" pitchFamily="34" charset="-122"/>
                <a:cs typeface="Calibri" pitchFamily="34" charset="-120"/>
              </a:rPr>
              <a:t>Holes &amp; bosses</a:t>
            </a:r>
            <a:endParaRPr lang="en-US" sz="1050" dirty="0"/>
          </a:p>
        </p:txBody>
      </p:sp>
      <p:sp>
        <p:nvSpPr>
          <p:cNvPr id="29" name="Text 27"/>
          <p:cNvSpPr/>
          <p:nvPr/>
        </p:nvSpPr>
        <p:spPr>
          <a:xfrm>
            <a:off x="3520440" y="4443984"/>
            <a:ext cx="2606040" cy="731520"/>
          </a:xfrm>
          <a:prstGeom prst="rect">
            <a:avLst/>
          </a:prstGeom>
          <a:noFill/>
          <a:ln/>
        </p:spPr>
        <p:txBody>
          <a:bodyPr wrap="square" lIns="0" tIns="0" rIns="0" bIns="0" rtlCol="0" anchor="t"/>
          <a:lstStyle/>
          <a:p>
            <a:pPr indent="0" marL="0">
              <a:buNone/>
            </a:pPr>
            <a:r>
              <a:rPr lang="en-US" sz="900" dirty="0">
                <a:solidFill>
                  <a:srgbClr val="3A4356"/>
                </a:solidFill>
                <a:latin typeface="Calibri" pitchFamily="34" charset="0"/>
                <a:ea typeface="Calibri" pitchFamily="34" charset="-122"/>
                <a:cs typeface="Calibri" pitchFamily="34" charset="-120"/>
              </a:rPr>
              <a:t>Walks every cylindrical face: diameter from the exact radius, depth from the surface parameter span, through-vs-blind by comparing depth to the bounding box.</a:t>
            </a:r>
            <a:endParaRPr lang="en-US" sz="900" dirty="0"/>
          </a:p>
        </p:txBody>
      </p:sp>
      <p:sp>
        <p:nvSpPr>
          <p:cNvPr id="30" name="Text 28"/>
          <p:cNvSpPr/>
          <p:nvPr/>
        </p:nvSpPr>
        <p:spPr>
          <a:xfrm>
            <a:off x="6309360" y="4206240"/>
            <a:ext cx="2606040" cy="237744"/>
          </a:xfrm>
          <a:prstGeom prst="rect">
            <a:avLst/>
          </a:prstGeom>
          <a:noFill/>
          <a:ln/>
        </p:spPr>
        <p:txBody>
          <a:bodyPr wrap="square" lIns="0" tIns="0" rIns="0" bIns="0" rtlCol="0" anchor="ctr"/>
          <a:lstStyle/>
          <a:p>
            <a:pPr indent="0" marL="0">
              <a:buNone/>
            </a:pPr>
            <a:r>
              <a:rPr lang="en-US" sz="1050" b="1" dirty="0">
                <a:solidFill>
                  <a:srgbClr val="1D6FB8"/>
                </a:solidFill>
                <a:latin typeface="Calibri" pitchFamily="34" charset="0"/>
                <a:ea typeface="Calibri" pitchFamily="34" charset="-122"/>
                <a:cs typeface="Calibri" pitchFamily="34" charset="-120"/>
              </a:rPr>
              <a:t>Wall thickness</a:t>
            </a:r>
            <a:endParaRPr lang="en-US" sz="1050" dirty="0"/>
          </a:p>
        </p:txBody>
      </p:sp>
      <p:sp>
        <p:nvSpPr>
          <p:cNvPr id="31" name="Text 29"/>
          <p:cNvSpPr/>
          <p:nvPr/>
        </p:nvSpPr>
        <p:spPr>
          <a:xfrm>
            <a:off x="6309360" y="4443984"/>
            <a:ext cx="2606040" cy="731520"/>
          </a:xfrm>
          <a:prstGeom prst="rect">
            <a:avLst/>
          </a:prstGeom>
          <a:noFill/>
          <a:ln/>
        </p:spPr>
        <p:txBody>
          <a:bodyPr wrap="square" lIns="0" tIns="0" rIns="0" bIns="0" rtlCol="0" anchor="t"/>
          <a:lstStyle/>
          <a:p>
            <a:pPr indent="0" marL="0">
              <a:buNone/>
            </a:pPr>
            <a:r>
              <a:rPr lang="en-US" sz="900" dirty="0">
                <a:solidFill>
                  <a:srgbClr val="3A4356"/>
                </a:solidFill>
                <a:latin typeface="Calibri" pitchFamily="34" charset="0"/>
                <a:ea typeface="Calibri" pitchFamily="34" charset="-122"/>
                <a:cs typeface="Calibri" pitchFamily="34" charset="-120"/>
              </a:rPr>
              <a:t>Ray-casts inside the solid to find how thick each wall really is — this is what tells casting from machining.</a:t>
            </a:r>
            <a:endParaRPr lang="en-US" sz="900" dirty="0"/>
          </a:p>
        </p:txBody>
      </p:sp>
      <p:sp>
        <p:nvSpPr>
          <p:cNvPr id="32" name="Text 30"/>
          <p:cNvSpPr/>
          <p:nvPr/>
        </p:nvSpPr>
        <p:spPr>
          <a:xfrm>
            <a:off x="9098280" y="4206240"/>
            <a:ext cx="2606040" cy="237744"/>
          </a:xfrm>
          <a:prstGeom prst="rect">
            <a:avLst/>
          </a:prstGeom>
          <a:noFill/>
          <a:ln/>
        </p:spPr>
        <p:txBody>
          <a:bodyPr wrap="square" lIns="0" tIns="0" rIns="0" bIns="0" rtlCol="0" anchor="ctr"/>
          <a:lstStyle/>
          <a:p>
            <a:pPr indent="0" marL="0">
              <a:buNone/>
            </a:pPr>
            <a:r>
              <a:rPr lang="en-US" sz="1050" b="1" dirty="0">
                <a:solidFill>
                  <a:srgbClr val="1D6FB8"/>
                </a:solidFill>
                <a:latin typeface="Calibri" pitchFamily="34" charset="0"/>
                <a:ea typeface="Calibri" pitchFamily="34" charset="-122"/>
                <a:cs typeface="Calibri" pitchFamily="34" charset="-120"/>
              </a:rPr>
              <a:t>Faces &amp; pockets</a:t>
            </a:r>
            <a:endParaRPr lang="en-US" sz="1050" dirty="0"/>
          </a:p>
        </p:txBody>
      </p:sp>
      <p:sp>
        <p:nvSpPr>
          <p:cNvPr id="33" name="Text 31"/>
          <p:cNvSpPr/>
          <p:nvPr/>
        </p:nvSpPr>
        <p:spPr>
          <a:xfrm>
            <a:off x="9098280" y="4443984"/>
            <a:ext cx="2606040" cy="731520"/>
          </a:xfrm>
          <a:prstGeom prst="rect">
            <a:avLst/>
          </a:prstGeom>
          <a:noFill/>
          <a:ln/>
        </p:spPr>
        <p:txBody>
          <a:bodyPr wrap="square" lIns="0" tIns="0" rIns="0" bIns="0" rtlCol="0" anchor="t"/>
          <a:lstStyle/>
          <a:p>
            <a:pPr indent="0" marL="0">
              <a:buNone/>
            </a:pPr>
            <a:r>
              <a:rPr lang="en-US" sz="900" dirty="0">
                <a:solidFill>
                  <a:srgbClr val="3A4356"/>
                </a:solidFill>
                <a:latin typeface="Calibri" pitchFamily="34" charset="0"/>
                <a:ea typeface="Calibri" pitchFamily="34" charset="-122"/>
                <a:cs typeface="Calibri" pitchFamily="34" charset="-120"/>
              </a:rPr>
              <a:t>Classifies every face by surface type, so flats to be milled are counted, not guessed.</a:t>
            </a:r>
            <a:endParaRPr lang="en-US" sz="900" dirty="0"/>
          </a:p>
        </p:txBody>
      </p:sp>
      <p:sp>
        <p:nvSpPr>
          <p:cNvPr id="34" name="Shape 32"/>
          <p:cNvSpPr/>
          <p:nvPr/>
        </p:nvSpPr>
        <p:spPr>
          <a:xfrm>
            <a:off x="457200" y="5413248"/>
            <a:ext cx="11274552" cy="868680"/>
          </a:xfrm>
          <a:prstGeom prst="roundRect">
            <a:avLst>
              <a:gd name="adj" fmla="val 10526"/>
            </a:avLst>
          </a:prstGeom>
          <a:solidFill>
            <a:srgbClr val="E8F1FA"/>
          </a:solidFill>
          <a:ln w="12700">
            <a:solidFill>
              <a:srgbClr val="1D6FB8"/>
            </a:solidFill>
            <a:prstDash val="solid"/>
          </a:ln>
        </p:spPr>
      </p:sp>
      <p:sp>
        <p:nvSpPr>
          <p:cNvPr id="35" name="Text 33"/>
          <p:cNvSpPr/>
          <p:nvPr/>
        </p:nvSpPr>
        <p:spPr>
          <a:xfrm>
            <a:off x="731520" y="5522976"/>
            <a:ext cx="10744200" cy="68580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The honest limitation: </a:t>
            </a:r>
            <a:pPr indent="0" marL="0">
              <a:buNone/>
            </a:pPr>
            <a:r>
              <a:rPr lang="en-US" sz="1150" dirty="0">
                <a:solidFill>
                  <a:srgbClr val="3A4356"/>
                </a:solidFill>
                <a:latin typeface="Calibri" pitchFamily="34" charset="0"/>
                <a:ea typeface="Calibri" pitchFamily="34" charset="-122"/>
                <a:cs typeface="Calibri" pitchFamily="34" charset="-120"/>
              </a:rPr>
              <a:t>the kernel is exact about what IS in the model, and silent about what is not. It cannot read a tolerance, a surface finish or a material callout unless the CAD file carries it — those still come from the drawing or from our engineer. It measures; it does not interpret.</a:t>
            </a:r>
            <a:endParaRPr lang="en-US" sz="1150" dirty="0"/>
          </a:p>
        </p:txBody>
      </p:sp>
      <p:sp>
        <p:nvSpPr>
          <p:cNvPr id="36" name="Text 3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7" name="Text 3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 4 · The Tool Asks, the Engineer Answers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Where geometry cannot decide, the tool asks rather than guesses — AI is switched off at JLR</a:t>
            </a:r>
            <a:endParaRPr lang="en-US" sz="1200" dirty="0"/>
          </a:p>
        </p:txBody>
      </p:sp>
      <p:sp>
        <p:nvSpPr>
          <p:cNvPr id="5" name="Shape 3"/>
          <p:cNvSpPr/>
          <p:nvPr/>
        </p:nvSpPr>
        <p:spPr>
          <a:xfrm>
            <a:off x="9418320" y="676656"/>
            <a:ext cx="2286000" cy="310896"/>
          </a:xfrm>
          <a:prstGeom prst="roundRect">
            <a:avLst>
              <a:gd name="adj" fmla="val 50000"/>
            </a:avLst>
          </a:prstGeom>
          <a:solidFill>
            <a:srgbClr val="F1EBF8"/>
          </a:solidFill>
          <a:ln w="12700">
            <a:solidFill>
              <a:srgbClr val="6B3FA0"/>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6B3FA0"/>
                </a:solidFill>
                <a:latin typeface="Calibri" pitchFamily="34" charset="0"/>
                <a:ea typeface="Calibri" pitchFamily="34" charset="-122"/>
                <a:cs typeface="Calibri" pitchFamily="34" charset="-120"/>
              </a:rPr>
              <a:t>OWNER: THE ENGINEER</a:t>
            </a:r>
            <a:endParaRPr lang="en-US" sz="950" dirty="0"/>
          </a:p>
        </p:txBody>
      </p:sp>
      <p:sp>
        <p:nvSpPr>
          <p:cNvPr id="7" name="Shape 5"/>
          <p:cNvSpPr/>
          <p:nvPr/>
        </p:nvSpPr>
        <p:spPr>
          <a:xfrm>
            <a:off x="457200" y="1188720"/>
            <a:ext cx="5486400" cy="2514600"/>
          </a:xfrm>
          <a:prstGeom prst="roundRect">
            <a:avLst>
              <a:gd name="adj" fmla="val 3636"/>
            </a:avLst>
          </a:prstGeom>
          <a:solidFill>
            <a:srgbClr val="F1EBF8"/>
          </a:solidFill>
          <a:ln w="15875">
            <a:solidFill>
              <a:srgbClr val="6B3FA0"/>
            </a:solidFill>
            <a:prstDash val="solid"/>
          </a:ln>
        </p:spPr>
      </p:sp>
      <p:sp>
        <p:nvSpPr>
          <p:cNvPr id="8" name="Text 6"/>
          <p:cNvSpPr/>
          <p:nvPr/>
        </p:nvSpPr>
        <p:spPr>
          <a:xfrm>
            <a:off x="685800" y="1325880"/>
            <a:ext cx="4572000" cy="237744"/>
          </a:xfrm>
          <a:prstGeom prst="rect">
            <a:avLst/>
          </a:prstGeom>
          <a:noFill/>
          <a:ln/>
        </p:spPr>
        <p:txBody>
          <a:bodyPr wrap="square" lIns="0" tIns="0" rIns="0" bIns="0" rtlCol="0" anchor="ctr"/>
          <a:lstStyle/>
          <a:p>
            <a:pPr indent="0" marL="0">
              <a:buNone/>
            </a:pPr>
            <a:r>
              <a:rPr lang="en-US" sz="1050" b="1" spc="100" kern="0" dirty="0">
                <a:solidFill>
                  <a:srgbClr val="6B3FA0"/>
                </a:solidFill>
                <a:latin typeface="Calibri" pitchFamily="34" charset="0"/>
                <a:ea typeface="Calibri" pitchFamily="34" charset="-122"/>
                <a:cs typeface="Calibri" pitchFamily="34" charset="-120"/>
              </a:rPr>
              <a:t>WHAT THE ENGINEER IS ASKED</a:t>
            </a:r>
            <a:endParaRPr lang="en-US" sz="1050" dirty="0"/>
          </a:p>
        </p:txBody>
      </p:sp>
      <p:sp>
        <p:nvSpPr>
          <p:cNvPr id="9" name="Text 7"/>
          <p:cNvSpPr/>
          <p:nvPr/>
        </p:nvSpPr>
        <p:spPr>
          <a:xfrm>
            <a:off x="685800" y="1609344"/>
            <a:ext cx="5029200" cy="640080"/>
          </a:xfrm>
          <a:prstGeom prst="rect">
            <a:avLst/>
          </a:prstGeom>
          <a:noFill/>
          <a:ln/>
        </p:spPr>
        <p:txBody>
          <a:bodyPr wrap="square" lIns="0" tIns="0" rIns="0" bIns="0" rtlCol="0" anchor="t"/>
          <a:lstStyle/>
          <a:p>
            <a:pPr indent="0" marL="0">
              <a:buNone/>
            </a:pPr>
            <a:r>
              <a:rPr lang="en-US" sz="1100" dirty="0">
                <a:solidFill>
                  <a:srgbClr val="3A4356"/>
                </a:solidFill>
                <a:latin typeface="Calibri" pitchFamily="34" charset="0"/>
                <a:ea typeface="Calibri" pitchFamily="34" charset="-122"/>
                <a:cs typeface="Calibri" pitchFamily="34" charset="-120"/>
              </a:rPr>
              <a:t>Only what the geometry cannot settle. The tool will not cost the part until each question is answered — no silent guess. Typical questions on a part like this, with the engineer’s answers:</a:t>
            </a:r>
            <a:endParaRPr lang="en-US" sz="1100" dirty="0"/>
          </a:p>
        </p:txBody>
      </p:sp>
      <p:sp>
        <p:nvSpPr>
          <p:cNvPr id="10" name="Text 8"/>
          <p:cNvSpPr/>
          <p:nvPr/>
        </p:nvSpPr>
        <p:spPr>
          <a:xfrm>
            <a:off x="685800" y="2267712"/>
            <a:ext cx="4572000" cy="237744"/>
          </a:xfrm>
          <a:prstGeom prst="rect">
            <a:avLst/>
          </a:prstGeom>
          <a:noFill/>
          <a:ln/>
        </p:spPr>
        <p:txBody>
          <a:bodyPr wrap="square" lIns="0" tIns="0" rIns="0" bIns="0" rtlCol="0" anchor="ctr"/>
          <a:lstStyle/>
          <a:p>
            <a:pPr indent="0" marL="0">
              <a:buNone/>
            </a:pPr>
            <a:r>
              <a:rPr lang="en-US" sz="1050" b="1" spc="100" kern="0" dirty="0">
                <a:solidFill>
                  <a:srgbClr val="6B3FA0"/>
                </a:solidFill>
                <a:latin typeface="Calibri" pitchFamily="34" charset="0"/>
                <a:ea typeface="Calibri" pitchFamily="34" charset="-122"/>
                <a:cs typeface="Calibri" pitchFamily="34" charset="-120"/>
              </a:rPr>
              <a:t>THE ANSWERS</a:t>
            </a:r>
            <a:endParaRPr lang="en-US" sz="1050" dirty="0"/>
          </a:p>
        </p:txBody>
      </p:sp>
      <p:sp>
        <p:nvSpPr>
          <p:cNvPr id="11" name="Text 9"/>
          <p:cNvSpPr/>
          <p:nvPr/>
        </p:nvSpPr>
        <p:spPr>
          <a:xfrm>
            <a:off x="777240" y="2560320"/>
            <a:ext cx="1645920" cy="256032"/>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Material family</a:t>
            </a:r>
            <a:endParaRPr lang="en-US" sz="1000" dirty="0"/>
          </a:p>
        </p:txBody>
      </p:sp>
      <p:sp>
        <p:nvSpPr>
          <p:cNvPr id="12" name="Text 10"/>
          <p:cNvSpPr/>
          <p:nvPr/>
        </p:nvSpPr>
        <p:spPr>
          <a:xfrm>
            <a:off x="2468880" y="2560320"/>
            <a:ext cx="3291840" cy="25603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Aluminium die-casting alloy</a:t>
            </a:r>
            <a:endParaRPr lang="en-US" sz="1050" dirty="0"/>
          </a:p>
        </p:txBody>
      </p:sp>
      <p:sp>
        <p:nvSpPr>
          <p:cNvPr id="13" name="Text 11"/>
          <p:cNvSpPr/>
          <p:nvPr/>
        </p:nvSpPr>
        <p:spPr>
          <a:xfrm>
            <a:off x="777240" y="2834640"/>
            <a:ext cx="1645920" cy="256032"/>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Process route</a:t>
            </a:r>
            <a:endParaRPr lang="en-US" sz="1000" dirty="0"/>
          </a:p>
        </p:txBody>
      </p:sp>
      <p:sp>
        <p:nvSpPr>
          <p:cNvPr id="14" name="Text 12"/>
          <p:cNvSpPr/>
          <p:nvPr/>
        </p:nvSpPr>
        <p:spPr>
          <a:xfrm>
            <a:off x="2468880" y="2834640"/>
            <a:ext cx="3291840" cy="25603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High-pressure die cast</a:t>
            </a:r>
            <a:endParaRPr lang="en-US" sz="1050" dirty="0"/>
          </a:p>
        </p:txBody>
      </p:sp>
      <p:sp>
        <p:nvSpPr>
          <p:cNvPr id="15" name="Text 13"/>
          <p:cNvSpPr/>
          <p:nvPr/>
        </p:nvSpPr>
        <p:spPr>
          <a:xfrm>
            <a:off x="777240" y="3108960"/>
            <a:ext cx="1645920" cy="256032"/>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Then what</a:t>
            </a:r>
            <a:endParaRPr lang="en-US" sz="1000" dirty="0"/>
          </a:p>
        </p:txBody>
      </p:sp>
      <p:sp>
        <p:nvSpPr>
          <p:cNvPr id="16" name="Text 14"/>
          <p:cNvSpPr/>
          <p:nvPr/>
        </p:nvSpPr>
        <p:spPr>
          <a:xfrm>
            <a:off x="2468880" y="3108960"/>
            <a:ext cx="3291840" cy="25603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Machine-finished on a cutting machine</a:t>
            </a:r>
            <a:endParaRPr lang="en-US" sz="1050" dirty="0"/>
          </a:p>
        </p:txBody>
      </p:sp>
      <p:sp>
        <p:nvSpPr>
          <p:cNvPr id="17" name="Text 15"/>
          <p:cNvSpPr/>
          <p:nvPr/>
        </p:nvSpPr>
        <p:spPr>
          <a:xfrm>
            <a:off x="777240" y="3383280"/>
            <a:ext cx="1645920" cy="256032"/>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Volume · region</a:t>
            </a:r>
            <a:endParaRPr lang="en-US" sz="1000" dirty="0"/>
          </a:p>
        </p:txBody>
      </p:sp>
      <p:sp>
        <p:nvSpPr>
          <p:cNvPr id="18" name="Text 16"/>
          <p:cNvSpPr/>
          <p:nvPr/>
        </p:nvSpPr>
        <p:spPr>
          <a:xfrm>
            <a:off x="2468880" y="3383280"/>
            <a:ext cx="3291840" cy="25603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60,000 a year · China</a:t>
            </a:r>
            <a:endParaRPr lang="en-US" sz="1050" dirty="0"/>
          </a:p>
        </p:txBody>
      </p:sp>
      <p:sp>
        <p:nvSpPr>
          <p:cNvPr id="19" name="Shape 17"/>
          <p:cNvSpPr/>
          <p:nvPr/>
        </p:nvSpPr>
        <p:spPr>
          <a:xfrm>
            <a:off x="6172200" y="1188720"/>
            <a:ext cx="5559552" cy="2670048"/>
          </a:xfrm>
          <a:prstGeom prst="roundRect">
            <a:avLst>
              <a:gd name="adj" fmla="val 3425"/>
            </a:avLst>
          </a:prstGeom>
          <a:solidFill>
            <a:srgbClr val="FFFFFF"/>
          </a:solidFill>
          <a:ln w="19050">
            <a:solidFill>
              <a:srgbClr val="B03A2E"/>
            </a:solidFill>
            <a:prstDash val="solid"/>
          </a:ln>
        </p:spPr>
      </p:sp>
      <p:sp>
        <p:nvSpPr>
          <p:cNvPr id="20" name="Text 18"/>
          <p:cNvSpPr/>
          <p:nvPr/>
        </p:nvSpPr>
        <p:spPr>
          <a:xfrm>
            <a:off x="6400800" y="1325880"/>
            <a:ext cx="4572000" cy="237744"/>
          </a:xfrm>
          <a:prstGeom prst="rect">
            <a:avLst/>
          </a:prstGeom>
          <a:noFill/>
          <a:ln/>
        </p:spPr>
        <p:txBody>
          <a:bodyPr wrap="square" lIns="0" tIns="0" rIns="0" bIns="0" rtlCol="0" anchor="ctr"/>
          <a:lstStyle/>
          <a:p>
            <a:pPr indent="0" marL="0">
              <a:buNone/>
            </a:pPr>
            <a:r>
              <a:rPr lang="en-US" sz="1050" b="1" spc="100" kern="0" dirty="0">
                <a:solidFill>
                  <a:srgbClr val="B03A2E"/>
                </a:solidFill>
                <a:latin typeface="Calibri" pitchFamily="34" charset="0"/>
                <a:ea typeface="Calibri" pitchFamily="34" charset="-122"/>
                <a:cs typeface="Calibri" pitchFamily="34" charset="-120"/>
              </a:rPr>
              <a:t>IF AI IS EVER SWITCHED ON, IT CANNOT</a:t>
            </a:r>
            <a:endParaRPr lang="en-US" sz="1050" dirty="0"/>
          </a:p>
        </p:txBody>
      </p:sp>
      <p:pic>
        <p:nvPicPr>
          <p:cNvPr id="21" name="Image 0" descr="preencoded.png">    </p:cNvPr>
          <p:cNvPicPr>
            <a:picLocks noChangeAspect="1"/>
          </p:cNvPicPr>
          <p:nvPr/>
        </p:nvPicPr>
        <p:blipFill>
          <a:blip r:embed="rId1"/>
          <a:stretch>
            <a:fillRect/>
          </a:stretch>
        </p:blipFill>
        <p:spPr>
          <a:xfrm>
            <a:off x="6400800" y="1691640"/>
            <a:ext cx="155448" cy="155448"/>
          </a:xfrm>
          <a:prstGeom prst="rect">
            <a:avLst/>
          </a:prstGeom>
        </p:spPr>
      </p:pic>
      <p:sp>
        <p:nvSpPr>
          <p:cNvPr id="22" name="Text 19"/>
          <p:cNvSpPr/>
          <p:nvPr/>
        </p:nvSpPr>
        <p:spPr>
          <a:xfrm>
            <a:off x="6675120" y="162763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Set a price, or any part of a price</a:t>
            </a:r>
            <a:endParaRPr lang="en-US" sz="1150" dirty="0"/>
          </a:p>
        </p:txBody>
      </p:sp>
      <p:pic>
        <p:nvPicPr>
          <p:cNvPr id="23" name="Image 1" descr="preencoded.png">    </p:cNvPr>
          <p:cNvPicPr>
            <a:picLocks noChangeAspect="1"/>
          </p:cNvPicPr>
          <p:nvPr/>
        </p:nvPicPr>
        <p:blipFill>
          <a:blip r:embed="rId2"/>
          <a:stretch>
            <a:fillRect/>
          </a:stretch>
        </p:blipFill>
        <p:spPr>
          <a:xfrm>
            <a:off x="6400800" y="2057400"/>
            <a:ext cx="155448" cy="155448"/>
          </a:xfrm>
          <a:prstGeom prst="rect">
            <a:avLst/>
          </a:prstGeom>
        </p:spPr>
      </p:pic>
      <p:sp>
        <p:nvSpPr>
          <p:cNvPr id="24" name="Text 20"/>
          <p:cNvSpPr/>
          <p:nvPr/>
        </p:nvSpPr>
        <p:spPr>
          <a:xfrm>
            <a:off x="6675120" y="199339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Change a measured dimension or weight</a:t>
            </a:r>
            <a:endParaRPr lang="en-US" sz="1150" dirty="0"/>
          </a:p>
        </p:txBody>
      </p:sp>
      <p:pic>
        <p:nvPicPr>
          <p:cNvPr id="25" name="Image 2" descr="preencoded.png">    </p:cNvPr>
          <p:cNvPicPr>
            <a:picLocks noChangeAspect="1"/>
          </p:cNvPicPr>
          <p:nvPr/>
        </p:nvPicPr>
        <p:blipFill>
          <a:blip r:embed="rId3"/>
          <a:stretch>
            <a:fillRect/>
          </a:stretch>
        </p:blipFill>
        <p:spPr>
          <a:xfrm>
            <a:off x="6400800" y="2423160"/>
            <a:ext cx="155448" cy="155448"/>
          </a:xfrm>
          <a:prstGeom prst="rect">
            <a:avLst/>
          </a:prstGeom>
        </p:spPr>
      </p:pic>
      <p:sp>
        <p:nvSpPr>
          <p:cNvPr id="26" name="Text 21"/>
          <p:cNvSpPr/>
          <p:nvPr/>
        </p:nvSpPr>
        <p:spPr>
          <a:xfrm>
            <a:off x="6675120" y="235915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Choose the machine or the cycle time</a:t>
            </a:r>
            <a:endParaRPr lang="en-US" sz="1150" dirty="0"/>
          </a:p>
        </p:txBody>
      </p:sp>
      <p:pic>
        <p:nvPicPr>
          <p:cNvPr id="27" name="Image 3" descr="preencoded.png">    </p:cNvPr>
          <p:cNvPicPr>
            <a:picLocks noChangeAspect="1"/>
          </p:cNvPicPr>
          <p:nvPr/>
        </p:nvPicPr>
        <p:blipFill>
          <a:blip r:embed="rId4"/>
          <a:stretch>
            <a:fillRect/>
          </a:stretch>
        </p:blipFill>
        <p:spPr>
          <a:xfrm>
            <a:off x="6400800" y="2788920"/>
            <a:ext cx="155448" cy="155448"/>
          </a:xfrm>
          <a:prstGeom prst="rect">
            <a:avLst/>
          </a:prstGeom>
        </p:spPr>
      </p:pic>
      <p:sp>
        <p:nvSpPr>
          <p:cNvPr id="28" name="Text 22"/>
          <p:cNvSpPr/>
          <p:nvPr/>
        </p:nvSpPr>
        <p:spPr>
          <a:xfrm>
            <a:off x="6675120" y="272491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Touch the rate library</a:t>
            </a:r>
            <a:endParaRPr lang="en-US" sz="1150" dirty="0"/>
          </a:p>
        </p:txBody>
      </p:sp>
      <p:pic>
        <p:nvPicPr>
          <p:cNvPr id="29" name="Image 4" descr="preencoded.png">    </p:cNvPr>
          <p:cNvPicPr>
            <a:picLocks noChangeAspect="1"/>
          </p:cNvPicPr>
          <p:nvPr/>
        </p:nvPicPr>
        <p:blipFill>
          <a:blip r:embed="rId5"/>
          <a:stretch>
            <a:fillRect/>
          </a:stretch>
        </p:blipFill>
        <p:spPr>
          <a:xfrm>
            <a:off x="6400800" y="3154680"/>
            <a:ext cx="155448" cy="155448"/>
          </a:xfrm>
          <a:prstGeom prst="rect">
            <a:avLst/>
          </a:prstGeom>
        </p:spPr>
      </p:pic>
      <p:sp>
        <p:nvSpPr>
          <p:cNvPr id="30" name="Text 23"/>
          <p:cNvSpPr/>
          <p:nvPr/>
        </p:nvSpPr>
        <p:spPr>
          <a:xfrm>
            <a:off x="6675120" y="309067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Override a safety check</a:t>
            </a:r>
            <a:endParaRPr lang="en-US" sz="1150" dirty="0"/>
          </a:p>
        </p:txBody>
      </p:sp>
      <p:pic>
        <p:nvPicPr>
          <p:cNvPr id="31" name="Image 5" descr="preencoded.png">    </p:cNvPr>
          <p:cNvPicPr>
            <a:picLocks noChangeAspect="1"/>
          </p:cNvPicPr>
          <p:nvPr/>
        </p:nvPicPr>
        <p:blipFill>
          <a:blip r:embed="rId6"/>
          <a:stretch>
            <a:fillRect/>
          </a:stretch>
        </p:blipFill>
        <p:spPr>
          <a:xfrm>
            <a:off x="6400800" y="3520440"/>
            <a:ext cx="155448" cy="155448"/>
          </a:xfrm>
          <a:prstGeom prst="rect">
            <a:avLst/>
          </a:prstGeom>
        </p:spPr>
      </p:pic>
      <p:sp>
        <p:nvSpPr>
          <p:cNvPr id="32" name="Text 24"/>
          <p:cNvSpPr/>
          <p:nvPr/>
        </p:nvSpPr>
        <p:spPr>
          <a:xfrm>
            <a:off x="6675120" y="3456432"/>
            <a:ext cx="4846320" cy="320040"/>
          </a:xfrm>
          <a:prstGeom prst="rect">
            <a:avLst/>
          </a:prstGeom>
          <a:noFill/>
          <a:ln/>
        </p:spPr>
        <p:txBody>
          <a:bodyPr wrap="square" lIns="0" tIns="0" rIns="0" bIns="0" rtlCol="0" anchor="ctr"/>
          <a:lstStyle/>
          <a:p>
            <a:pPr indent="0" marL="0">
              <a:buNone/>
            </a:pPr>
            <a:r>
              <a:rPr lang="en-US" sz="1150" dirty="0">
                <a:solidFill>
                  <a:srgbClr val="3A4356"/>
                </a:solidFill>
                <a:latin typeface="Calibri" pitchFamily="34" charset="0"/>
                <a:ea typeface="Calibri" pitchFamily="34" charset="-122"/>
                <a:cs typeface="Calibri" pitchFamily="34" charset="-120"/>
              </a:rPr>
              <a:t>Overrule anything the engineer entered</a:t>
            </a:r>
            <a:endParaRPr lang="en-US" sz="1150" dirty="0"/>
          </a:p>
        </p:txBody>
      </p:sp>
      <p:sp>
        <p:nvSpPr>
          <p:cNvPr id="33" name="Shape 25"/>
          <p:cNvSpPr/>
          <p:nvPr/>
        </p:nvSpPr>
        <p:spPr>
          <a:xfrm>
            <a:off x="457200" y="3913632"/>
            <a:ext cx="11274552" cy="1143000"/>
          </a:xfrm>
          <a:prstGeom prst="roundRect">
            <a:avLst>
              <a:gd name="adj" fmla="val 8000"/>
            </a:avLst>
          </a:prstGeom>
          <a:solidFill>
            <a:srgbClr val="FFFFFF"/>
          </a:solidFill>
          <a:ln w="12700">
            <a:solidFill>
              <a:srgbClr val="DCE3EE"/>
            </a:solidFill>
            <a:prstDash val="solid"/>
          </a:ln>
        </p:spPr>
      </p:sp>
      <p:sp>
        <p:nvSpPr>
          <p:cNvPr id="34" name="Text 26"/>
          <p:cNvSpPr/>
          <p:nvPr/>
        </p:nvSpPr>
        <p:spPr>
          <a:xfrm>
            <a:off x="731520" y="4041648"/>
            <a:ext cx="10058400" cy="274320"/>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If AI is switched on later, it reads — it never prices</a:t>
            </a:r>
            <a:endParaRPr lang="en-US" sz="1250" dirty="0"/>
          </a:p>
        </p:txBody>
      </p:sp>
      <p:sp>
        <p:nvSpPr>
          <p:cNvPr id="35" name="Text 27"/>
          <p:cNvSpPr/>
          <p:nvPr/>
        </p:nvSpPr>
        <p:spPr>
          <a:xfrm>
            <a:off x="731520" y="4343400"/>
            <a:ext cx="10744200" cy="658368"/>
          </a:xfrm>
          <a:prstGeom prst="rect">
            <a:avLst/>
          </a:prstGeom>
          <a:noFill/>
          <a:ln/>
        </p:spPr>
        <p:txBody>
          <a:bodyPr wrap="square" lIns="0" tIns="0" rIns="0" bIns="0" rtlCol="0" anchor="t"/>
          <a:lstStyle/>
          <a:p>
            <a:pPr indent="0" marL="0">
              <a:buNone/>
            </a:pPr>
            <a:r>
              <a:rPr lang="en-US" sz="1150" dirty="0">
                <a:solidFill>
                  <a:srgbClr val="3A4356"/>
                </a:solidFill>
                <a:latin typeface="Calibri" pitchFamily="34" charset="0"/>
                <a:ea typeface="Calibri" pitchFamily="34" charset="-122"/>
                <a:cs typeface="Calibri" pitchFamily="34" charset="-120"/>
              </a:rPr>
              <a:t>It could offer a first answer to these questions, with a confidence score. Below 50% a flag stays on the result until a person clears it. Every AI route is rate-limited per user. </a:t>
            </a:r>
            <a:pPr indent="0" marL="0">
              <a:buNone/>
            </a:pPr>
            <a:r>
              <a:rPr lang="en-US" sz="1150" b="1" dirty="0">
                <a:solidFill>
                  <a:srgbClr val="16325C"/>
                </a:solidFill>
                <a:latin typeface="Calibri" pitchFamily="34" charset="0"/>
                <a:ea typeface="Calibri" pitchFamily="34" charset="-122"/>
                <a:cs typeface="Calibri" pitchFamily="34" charset="-120"/>
              </a:rPr>
              <a:t>Its answers arrive as editable pre-fills, and an engineer’s entry always wins.</a:t>
            </a:r>
            <a:endParaRPr lang="en-US" sz="1150" dirty="0"/>
          </a:p>
        </p:txBody>
      </p:sp>
      <p:sp>
        <p:nvSpPr>
          <p:cNvPr id="36" name="Shape 28"/>
          <p:cNvSpPr/>
          <p:nvPr/>
        </p:nvSpPr>
        <p:spPr>
          <a:xfrm>
            <a:off x="457200" y="5212080"/>
            <a:ext cx="11274552" cy="822960"/>
          </a:xfrm>
          <a:prstGeom prst="roundRect">
            <a:avLst>
              <a:gd name="adj" fmla="val 11111"/>
            </a:avLst>
          </a:prstGeom>
          <a:solidFill>
            <a:srgbClr val="EAF6EF"/>
          </a:solidFill>
          <a:ln w="12700">
            <a:solidFill>
              <a:srgbClr val="2A7F50"/>
            </a:solidFill>
            <a:prstDash val="solid"/>
          </a:ln>
        </p:spPr>
      </p:sp>
      <p:sp>
        <p:nvSpPr>
          <p:cNvPr id="37" name="Text 29"/>
          <p:cNvSpPr/>
          <p:nvPr/>
        </p:nvSpPr>
        <p:spPr>
          <a:xfrm>
            <a:off x="731520" y="5330952"/>
            <a:ext cx="10744200" cy="640080"/>
          </a:xfrm>
          <a:prstGeom prst="rect">
            <a:avLst/>
          </a:prstGeom>
          <a:noFill/>
          <a:ln/>
        </p:spPr>
        <p:txBody>
          <a:bodyPr wrap="square" lIns="0" tIns="0" rIns="0" bIns="0" rtlCol="0" anchor="ctr"/>
          <a:lstStyle/>
          <a:p>
            <a:pPr indent="0" marL="0">
              <a:buNone/>
            </a:pPr>
            <a:r>
              <a:rPr lang="en-US" sz="1200" b="1" dirty="0">
                <a:solidFill>
                  <a:srgbClr val="2A7F50"/>
                </a:solidFill>
                <a:latin typeface="Calibri" pitchFamily="34" charset="0"/>
                <a:ea typeface="Calibri" pitchFamily="34" charset="-122"/>
                <a:cs typeface="Calibri" pitchFamily="34" charset="-120"/>
              </a:rPr>
              <a:t>In plain terms: </a:t>
            </a:r>
            <a:pPr indent="0" marL="0">
              <a:buNone/>
            </a:pPr>
            <a:r>
              <a:rPr lang="en-US" sz="1200" dirty="0">
                <a:solidFill>
                  <a:srgbClr val="3A4356"/>
                </a:solidFill>
                <a:latin typeface="Calibri" pitchFamily="34" charset="0"/>
                <a:ea typeface="Calibri" pitchFamily="34" charset="-122"/>
                <a:cs typeface="Calibri" pitchFamily="34" charset="-120"/>
              </a:rPr>
              <a:t>at JLR this stage is the engineer answering a few questions. It takes a minute, and it means nothing is guessed. If AI is ever switched on, it would only offer a first answer for the engineer to accept or change.</a:t>
            </a:r>
            <a:endParaRPr lang="en-US" sz="1200" dirty="0"/>
          </a:p>
        </p:txBody>
      </p:sp>
      <p:sp>
        <p:nvSpPr>
          <p:cNvPr id="38" name="Text 30"/>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9" name="Text 31"/>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99651A"/>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5–6 · The Safety Checks — and Autocorrect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Four checks ran on this part before a single pound was calculated</a:t>
            </a:r>
            <a:endParaRPr lang="en-US" sz="1200" dirty="0"/>
          </a:p>
        </p:txBody>
      </p:sp>
      <p:sp>
        <p:nvSpPr>
          <p:cNvPr id="5" name="Shape 3"/>
          <p:cNvSpPr/>
          <p:nvPr/>
        </p:nvSpPr>
        <p:spPr>
          <a:xfrm>
            <a:off x="9418320" y="676656"/>
            <a:ext cx="2286000" cy="310896"/>
          </a:xfrm>
          <a:prstGeom prst="roundRect">
            <a:avLst>
              <a:gd name="adj" fmla="val 50000"/>
            </a:avLst>
          </a:prstGeom>
          <a:solidFill>
            <a:srgbClr val="FCF3E3"/>
          </a:solidFill>
          <a:ln w="12700">
            <a:solidFill>
              <a:srgbClr val="99651A"/>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99651A"/>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5486400" cy="1417320"/>
          </a:xfrm>
          <a:prstGeom prst="roundRect">
            <a:avLst>
              <a:gd name="adj" fmla="val 5806"/>
            </a:avLst>
          </a:prstGeom>
          <a:solidFill>
            <a:srgbClr val="FFFFFF"/>
          </a:solidFill>
          <a:ln w="12700">
            <a:solidFill>
              <a:srgbClr val="DCE3EE"/>
            </a:solidFill>
            <a:prstDash val="solid"/>
          </a:ln>
        </p:spPr>
      </p:sp>
      <p:sp>
        <p:nvSpPr>
          <p:cNvPr id="8" name="Text 6"/>
          <p:cNvSpPr/>
          <p:nvPr/>
        </p:nvSpPr>
        <p:spPr>
          <a:xfrm>
            <a:off x="658368" y="1271016"/>
            <a:ext cx="5120640" cy="256032"/>
          </a:xfrm>
          <a:prstGeom prst="rect">
            <a:avLst/>
          </a:prstGeom>
          <a:noFill/>
          <a:ln/>
        </p:spPr>
        <p:txBody>
          <a:bodyPr wrap="square" lIns="0" tIns="0" rIns="0" bIns="0" rtlCol="0" anchor="ctr"/>
          <a:lstStyle/>
          <a:p>
            <a:pPr indent="0" marL="0">
              <a:buNone/>
            </a:pPr>
            <a:r>
              <a:rPr lang="en-US" sz="1200" b="1" dirty="0">
                <a:solidFill>
                  <a:srgbClr val="99651A"/>
                </a:solidFill>
                <a:latin typeface="Calibri" pitchFamily="34" charset="0"/>
                <a:ea typeface="Calibri" pitchFamily="34" charset="-122"/>
                <a:cs typeface="Calibri" pitchFamily="34" charset="-120"/>
              </a:rPr>
              <a:t>1 · Buy the metal you actually pour</a:t>
            </a:r>
            <a:endParaRPr lang="en-US" sz="1200" dirty="0"/>
          </a:p>
        </p:txBody>
      </p:sp>
      <p:sp>
        <p:nvSpPr>
          <p:cNvPr id="9" name="Text 7"/>
          <p:cNvSpPr/>
          <p:nvPr/>
        </p:nvSpPr>
        <p:spPr>
          <a:xfrm>
            <a:off x="658368" y="1554480"/>
            <a:ext cx="5120640" cy="219456"/>
          </a:xfrm>
          <a:prstGeom prst="rect">
            <a:avLst/>
          </a:prstGeom>
          <a:noFill/>
          <a:ln/>
        </p:spPr>
        <p:txBody>
          <a:bodyPr wrap="square" lIns="0" tIns="0" rIns="0" bIns="0" rtlCol="0" anchor="ctr"/>
          <a:lstStyle/>
          <a:p>
            <a:pPr indent="0" marL="0">
              <a:buNone/>
            </a:pPr>
            <a:r>
              <a:rPr lang="en-US" sz="980" b="1" dirty="0">
                <a:solidFill>
                  <a:srgbClr val="B03A2E"/>
                </a:solidFill>
                <a:latin typeface="Calibri" pitchFamily="34" charset="0"/>
                <a:ea typeface="Calibri" pitchFamily="34" charset="-122"/>
                <a:cs typeface="Calibri" pitchFamily="34" charset="-120"/>
              </a:rPr>
              <a:t>×  </a:t>
            </a:r>
            <a:pPr indent="0" marL="0">
              <a:buNone/>
            </a:pPr>
            <a:r>
              <a:rPr lang="en-US" sz="980" i="1" dirty="0">
                <a:solidFill>
                  <a:srgbClr val="686F7D"/>
                </a:solidFill>
                <a:latin typeface="Calibri" pitchFamily="34" charset="0"/>
                <a:ea typeface="Calibri" pitchFamily="34" charset="-122"/>
                <a:cs typeface="Calibri" pitchFamily="34" charset="-120"/>
              </a:rPr>
              <a:t>Naive view: buy 2.8 kg — the part weight.</a:t>
            </a:r>
            <a:endParaRPr lang="en-US" sz="980" dirty="0"/>
          </a:p>
        </p:txBody>
      </p:sp>
      <p:sp>
        <p:nvSpPr>
          <p:cNvPr id="10" name="Text 8"/>
          <p:cNvSpPr/>
          <p:nvPr/>
        </p:nvSpPr>
        <p:spPr>
          <a:xfrm>
            <a:off x="658368" y="1783080"/>
            <a:ext cx="5102352" cy="566928"/>
          </a:xfrm>
          <a:prstGeom prst="rect">
            <a:avLst/>
          </a:prstGeom>
          <a:noFill/>
          <a:ln/>
        </p:spPr>
        <p:txBody>
          <a:bodyPr wrap="square" lIns="0" tIns="0" rIns="0" bIns="0" rtlCol="0" anchor="t"/>
          <a:lstStyle/>
          <a:p>
            <a:pPr indent="0" marL="0">
              <a:buNone/>
            </a:pPr>
            <a:r>
              <a:rPr lang="en-US" sz="980" b="1" dirty="0">
                <a:solidFill>
                  <a:srgbClr val="2A7F50"/>
                </a:solidFill>
                <a:latin typeface="Calibri" pitchFamily="34" charset="0"/>
                <a:ea typeface="Calibri" pitchFamily="34" charset="-122"/>
                <a:cs typeface="Calibri" pitchFamily="34" charset="-120"/>
              </a:rPr>
              <a:t>→  </a:t>
            </a:r>
            <a:pPr indent="0" marL="0">
              <a:buNone/>
            </a:pPr>
            <a:r>
              <a:rPr lang="en-US" sz="980" dirty="0">
                <a:solidFill>
                  <a:srgbClr val="3A4356"/>
                </a:solidFill>
                <a:latin typeface="Calibri" pitchFamily="34" charset="0"/>
                <a:ea typeface="Calibri" pitchFamily="34" charset="-122"/>
                <a:cs typeface="Calibri" pitchFamily="34" charset="-120"/>
              </a:rPr>
              <a:t>Corrected to 4.83 kg. To sell a 2.8 kg casting the supplier pours 4.83 kg; the rest runs down the feed channels and is recycled at scrap value.</a:t>
            </a:r>
            <a:endParaRPr lang="en-US" sz="980" dirty="0"/>
          </a:p>
        </p:txBody>
      </p:sp>
      <p:sp>
        <p:nvSpPr>
          <p:cNvPr id="11" name="Text 9"/>
          <p:cNvSpPr/>
          <p:nvPr/>
        </p:nvSpPr>
        <p:spPr>
          <a:xfrm>
            <a:off x="658368" y="2313432"/>
            <a:ext cx="5120640" cy="237744"/>
          </a:xfrm>
          <a:prstGeom prst="rect">
            <a:avLst/>
          </a:prstGeom>
          <a:noFill/>
          <a:ln/>
        </p:spPr>
        <p:txBody>
          <a:bodyPr wrap="square" lIns="0" tIns="0" rIns="0" bIns="0" rtlCol="0" anchor="ctr"/>
          <a:lstStyle/>
          <a:p>
            <a:pPr indent="0" marL="0">
              <a:buNone/>
            </a:pPr>
            <a:r>
              <a:rPr lang="en-US" sz="900" b="1" i="1" dirty="0">
                <a:solidFill>
                  <a:srgbClr val="99651A"/>
                </a:solidFill>
                <a:latin typeface="Calibri" pitchFamily="34" charset="0"/>
                <a:ea typeface="Calibri" pitchFamily="34" charset="-122"/>
                <a:cs typeface="Calibri" pitchFamily="34" charset="-120"/>
              </a:rPr>
              <a:t>The single most common casting cost error.</a:t>
            </a:r>
            <a:endParaRPr lang="en-US" sz="900" dirty="0"/>
          </a:p>
        </p:txBody>
      </p:sp>
      <p:sp>
        <p:nvSpPr>
          <p:cNvPr id="12" name="Shape 10"/>
          <p:cNvSpPr/>
          <p:nvPr/>
        </p:nvSpPr>
        <p:spPr>
          <a:xfrm>
            <a:off x="6245352" y="1188720"/>
            <a:ext cx="5486400" cy="1417320"/>
          </a:xfrm>
          <a:prstGeom prst="roundRect">
            <a:avLst>
              <a:gd name="adj" fmla="val 5806"/>
            </a:avLst>
          </a:prstGeom>
          <a:solidFill>
            <a:srgbClr val="FFFFFF"/>
          </a:solidFill>
          <a:ln w="12700">
            <a:solidFill>
              <a:srgbClr val="DCE3EE"/>
            </a:solidFill>
            <a:prstDash val="solid"/>
          </a:ln>
        </p:spPr>
      </p:sp>
      <p:sp>
        <p:nvSpPr>
          <p:cNvPr id="13" name="Text 11"/>
          <p:cNvSpPr/>
          <p:nvPr/>
        </p:nvSpPr>
        <p:spPr>
          <a:xfrm>
            <a:off x="6446520" y="1271016"/>
            <a:ext cx="5120640" cy="256032"/>
          </a:xfrm>
          <a:prstGeom prst="rect">
            <a:avLst/>
          </a:prstGeom>
          <a:noFill/>
          <a:ln/>
        </p:spPr>
        <p:txBody>
          <a:bodyPr wrap="square" lIns="0" tIns="0" rIns="0" bIns="0" rtlCol="0" anchor="ctr"/>
          <a:lstStyle/>
          <a:p>
            <a:pPr indent="0" marL="0">
              <a:buNone/>
            </a:pPr>
            <a:r>
              <a:rPr lang="en-US" sz="1200" b="1" dirty="0">
                <a:solidFill>
                  <a:srgbClr val="99651A"/>
                </a:solidFill>
                <a:latin typeface="Calibri" pitchFamily="34" charset="0"/>
                <a:ea typeface="Calibri" pitchFamily="34" charset="-122"/>
                <a:cs typeface="Calibri" pitchFamily="34" charset="-120"/>
              </a:rPr>
              <a:t>2 · Machining is finishing, not carving</a:t>
            </a:r>
            <a:endParaRPr lang="en-US" sz="1200" dirty="0"/>
          </a:p>
        </p:txBody>
      </p:sp>
      <p:sp>
        <p:nvSpPr>
          <p:cNvPr id="14" name="Text 12"/>
          <p:cNvSpPr/>
          <p:nvPr/>
        </p:nvSpPr>
        <p:spPr>
          <a:xfrm>
            <a:off x="6446520" y="1554480"/>
            <a:ext cx="5120640" cy="219456"/>
          </a:xfrm>
          <a:prstGeom prst="rect">
            <a:avLst/>
          </a:prstGeom>
          <a:noFill/>
          <a:ln/>
        </p:spPr>
        <p:txBody>
          <a:bodyPr wrap="square" lIns="0" tIns="0" rIns="0" bIns="0" rtlCol="0" anchor="ctr"/>
          <a:lstStyle/>
          <a:p>
            <a:pPr indent="0" marL="0">
              <a:buNone/>
            </a:pPr>
            <a:r>
              <a:rPr lang="en-US" sz="980" b="1" dirty="0">
                <a:solidFill>
                  <a:srgbClr val="B03A2E"/>
                </a:solidFill>
                <a:latin typeface="Calibri" pitchFamily="34" charset="0"/>
                <a:ea typeface="Calibri" pitchFamily="34" charset="-122"/>
                <a:cs typeface="Calibri" pitchFamily="34" charset="-120"/>
              </a:rPr>
              <a:t>×  </a:t>
            </a:r>
            <a:pPr indent="0" marL="0">
              <a:buNone/>
            </a:pPr>
            <a:r>
              <a:rPr lang="en-US" sz="980" i="1" dirty="0">
                <a:solidFill>
                  <a:srgbClr val="686F7D"/>
                </a:solidFill>
                <a:latin typeface="Calibri" pitchFamily="34" charset="0"/>
                <a:ea typeface="Calibri" pitchFamily="34" charset="-122"/>
                <a:cs typeface="Calibri" pitchFamily="34" charset="-120"/>
              </a:rPr>
              <a:t>Naive view: machine the shape out of metal.</a:t>
            </a:r>
            <a:endParaRPr lang="en-US" sz="980" dirty="0"/>
          </a:p>
        </p:txBody>
      </p:sp>
      <p:sp>
        <p:nvSpPr>
          <p:cNvPr id="15" name="Text 13"/>
          <p:cNvSpPr/>
          <p:nvPr/>
        </p:nvSpPr>
        <p:spPr>
          <a:xfrm>
            <a:off x="6446520" y="1783080"/>
            <a:ext cx="5102352" cy="566928"/>
          </a:xfrm>
          <a:prstGeom prst="rect">
            <a:avLst/>
          </a:prstGeom>
          <a:noFill/>
          <a:ln/>
        </p:spPr>
        <p:txBody>
          <a:bodyPr wrap="square" lIns="0" tIns="0" rIns="0" bIns="0" rtlCol="0" anchor="t"/>
          <a:lstStyle/>
          <a:p>
            <a:pPr indent="0" marL="0">
              <a:buNone/>
            </a:pPr>
            <a:r>
              <a:rPr lang="en-US" sz="980" b="1" dirty="0">
                <a:solidFill>
                  <a:srgbClr val="2A7F50"/>
                </a:solidFill>
                <a:latin typeface="Calibri" pitchFamily="34" charset="0"/>
                <a:ea typeface="Calibri" pitchFamily="34" charset="-122"/>
                <a:cs typeface="Calibri" pitchFamily="34" charset="-120"/>
              </a:rPr>
              <a:t>→  </a:t>
            </a:r>
            <a:pPr indent="0" marL="0">
              <a:buNone/>
            </a:pPr>
            <a:r>
              <a:rPr lang="en-US" sz="980" dirty="0">
                <a:solidFill>
                  <a:srgbClr val="3A4356"/>
                </a:solidFill>
                <a:latin typeface="Calibri" pitchFamily="34" charset="0"/>
                <a:ea typeface="Calibri" pitchFamily="34" charset="-122"/>
                <a:cs typeface="Calibri" pitchFamily="34" charset="-120"/>
              </a:rPr>
              <a:t>Capped to a finish envelope: 0.10 hr setup + 0.07 hr/kg. For 2.8 kg that is a 0.30 hr ceiling; this part's 0.27 hr of cutting sits just inside it.</a:t>
            </a:r>
            <a:endParaRPr lang="en-US" sz="980" dirty="0"/>
          </a:p>
        </p:txBody>
      </p:sp>
      <p:sp>
        <p:nvSpPr>
          <p:cNvPr id="16" name="Text 14"/>
          <p:cNvSpPr/>
          <p:nvPr/>
        </p:nvSpPr>
        <p:spPr>
          <a:xfrm>
            <a:off x="6446520" y="2313432"/>
            <a:ext cx="5120640" cy="237744"/>
          </a:xfrm>
          <a:prstGeom prst="rect">
            <a:avLst/>
          </a:prstGeom>
          <a:noFill/>
          <a:ln/>
        </p:spPr>
        <p:txBody>
          <a:bodyPr wrap="square" lIns="0" tIns="0" rIns="0" bIns="0" rtlCol="0" anchor="ctr"/>
          <a:lstStyle/>
          <a:p>
            <a:pPr indent="0" marL="0">
              <a:buNone/>
            </a:pPr>
            <a:r>
              <a:rPr lang="en-US" sz="900" b="1" i="1" dirty="0">
                <a:solidFill>
                  <a:srgbClr val="99651A"/>
                </a:solidFill>
                <a:latin typeface="Calibri" pitchFamily="34" charset="0"/>
                <a:ea typeface="Calibri" pitchFamily="34" charset="-122"/>
                <a:cs typeface="Calibri" pitchFamily="34" charset="-120"/>
              </a:rPr>
              <a:t>Prevents roughly doubling the cost.</a:t>
            </a:r>
            <a:endParaRPr lang="en-US" sz="900" dirty="0"/>
          </a:p>
        </p:txBody>
      </p:sp>
      <p:sp>
        <p:nvSpPr>
          <p:cNvPr id="17" name="Shape 15"/>
          <p:cNvSpPr/>
          <p:nvPr/>
        </p:nvSpPr>
        <p:spPr>
          <a:xfrm>
            <a:off x="457200" y="2761488"/>
            <a:ext cx="5486400" cy="1417320"/>
          </a:xfrm>
          <a:prstGeom prst="roundRect">
            <a:avLst>
              <a:gd name="adj" fmla="val 5806"/>
            </a:avLst>
          </a:prstGeom>
          <a:solidFill>
            <a:srgbClr val="FFFFFF"/>
          </a:solidFill>
          <a:ln w="12700">
            <a:solidFill>
              <a:srgbClr val="DCE3EE"/>
            </a:solidFill>
            <a:prstDash val="solid"/>
          </a:ln>
        </p:spPr>
      </p:sp>
      <p:sp>
        <p:nvSpPr>
          <p:cNvPr id="18" name="Text 16"/>
          <p:cNvSpPr/>
          <p:nvPr/>
        </p:nvSpPr>
        <p:spPr>
          <a:xfrm>
            <a:off x="658368" y="2843784"/>
            <a:ext cx="5120640" cy="256032"/>
          </a:xfrm>
          <a:prstGeom prst="rect">
            <a:avLst/>
          </a:prstGeom>
          <a:noFill/>
          <a:ln/>
        </p:spPr>
        <p:txBody>
          <a:bodyPr wrap="square" lIns="0" tIns="0" rIns="0" bIns="0" rtlCol="0" anchor="ctr"/>
          <a:lstStyle/>
          <a:p>
            <a:pPr indent="0" marL="0">
              <a:buNone/>
            </a:pPr>
            <a:r>
              <a:rPr lang="en-US" sz="1200" b="1" dirty="0">
                <a:solidFill>
                  <a:srgbClr val="99651A"/>
                </a:solidFill>
                <a:latin typeface="Calibri" pitchFamily="34" charset="0"/>
                <a:ea typeface="Calibri" pitchFamily="34" charset="-122"/>
                <a:cs typeface="Calibri" pitchFamily="34" charset="-120"/>
              </a:rPr>
              <a:t>3 · Use a real die-casting alloy</a:t>
            </a:r>
            <a:endParaRPr lang="en-US" sz="1200" dirty="0"/>
          </a:p>
        </p:txBody>
      </p:sp>
      <p:sp>
        <p:nvSpPr>
          <p:cNvPr id="19" name="Text 17"/>
          <p:cNvSpPr/>
          <p:nvPr/>
        </p:nvSpPr>
        <p:spPr>
          <a:xfrm>
            <a:off x="658368" y="3127248"/>
            <a:ext cx="5120640" cy="219456"/>
          </a:xfrm>
          <a:prstGeom prst="rect">
            <a:avLst/>
          </a:prstGeom>
          <a:noFill/>
          <a:ln/>
        </p:spPr>
        <p:txBody>
          <a:bodyPr wrap="square" lIns="0" tIns="0" rIns="0" bIns="0" rtlCol="0" anchor="ctr"/>
          <a:lstStyle/>
          <a:p>
            <a:pPr indent="0" marL="0">
              <a:buNone/>
            </a:pPr>
            <a:r>
              <a:rPr lang="en-US" sz="980" b="1" dirty="0">
                <a:solidFill>
                  <a:srgbClr val="B03A2E"/>
                </a:solidFill>
                <a:latin typeface="Calibri" pitchFamily="34" charset="0"/>
                <a:ea typeface="Calibri" pitchFamily="34" charset="-122"/>
                <a:cs typeface="Calibri" pitchFamily="34" charset="-120"/>
              </a:rPr>
              <a:t>×  </a:t>
            </a:r>
            <a:pPr indent="0" marL="0">
              <a:buNone/>
            </a:pPr>
            <a:r>
              <a:rPr lang="en-US" sz="980" i="1" dirty="0">
                <a:solidFill>
                  <a:srgbClr val="686F7D"/>
                </a:solidFill>
                <a:latin typeface="Calibri" pitchFamily="34" charset="0"/>
                <a:ea typeface="Calibri" pitchFamily="34" charset="-122"/>
                <a:cs typeface="Calibri" pitchFamily="34" charset="-120"/>
              </a:rPr>
              <a:t>Naive view: a generic or wrought aluminium grade.</a:t>
            </a:r>
            <a:endParaRPr lang="en-US" sz="980" dirty="0"/>
          </a:p>
        </p:txBody>
      </p:sp>
      <p:sp>
        <p:nvSpPr>
          <p:cNvPr id="20" name="Text 18"/>
          <p:cNvSpPr/>
          <p:nvPr/>
        </p:nvSpPr>
        <p:spPr>
          <a:xfrm>
            <a:off x="658368" y="3355848"/>
            <a:ext cx="5102352" cy="566928"/>
          </a:xfrm>
          <a:prstGeom prst="rect">
            <a:avLst/>
          </a:prstGeom>
          <a:noFill/>
          <a:ln/>
        </p:spPr>
        <p:txBody>
          <a:bodyPr wrap="square" lIns="0" tIns="0" rIns="0" bIns="0" rtlCol="0" anchor="t"/>
          <a:lstStyle/>
          <a:p>
            <a:pPr indent="0" marL="0">
              <a:buNone/>
            </a:pPr>
            <a:r>
              <a:rPr lang="en-US" sz="980" b="1" dirty="0">
                <a:solidFill>
                  <a:srgbClr val="2A7F50"/>
                </a:solidFill>
                <a:latin typeface="Calibri" pitchFamily="34" charset="0"/>
                <a:ea typeface="Calibri" pitchFamily="34" charset="-122"/>
                <a:cs typeface="Calibri" pitchFamily="34" charset="-120"/>
              </a:rPr>
              <a:t>→  </a:t>
            </a:r>
            <a:pPr indent="0" marL="0">
              <a:buNone/>
            </a:pPr>
            <a:r>
              <a:rPr lang="en-US" sz="980" dirty="0">
                <a:solidFill>
                  <a:srgbClr val="3A4356"/>
                </a:solidFill>
                <a:latin typeface="Calibri" pitchFamily="34" charset="0"/>
                <a:ea typeface="Calibri" pitchFamily="34" charset="-122"/>
                <a:cs typeface="Calibri" pitchFamily="34" charset="-120"/>
              </a:rPr>
              <a:t>Redirected to a genuine die-casting alloy. A machined face can tempt a quick read toward "machined from solid billet" — the guard keeps casting as the primary process.</a:t>
            </a:r>
            <a:endParaRPr lang="en-US" sz="980" dirty="0"/>
          </a:p>
        </p:txBody>
      </p:sp>
      <p:sp>
        <p:nvSpPr>
          <p:cNvPr id="21" name="Text 19"/>
          <p:cNvSpPr/>
          <p:nvPr/>
        </p:nvSpPr>
        <p:spPr>
          <a:xfrm>
            <a:off x="658368" y="3886200"/>
            <a:ext cx="5120640" cy="237744"/>
          </a:xfrm>
          <a:prstGeom prst="rect">
            <a:avLst/>
          </a:prstGeom>
          <a:noFill/>
          <a:ln/>
        </p:spPr>
        <p:txBody>
          <a:bodyPr wrap="square" lIns="0" tIns="0" rIns="0" bIns="0" rtlCol="0" anchor="ctr"/>
          <a:lstStyle/>
          <a:p>
            <a:pPr indent="0" marL="0">
              <a:buNone/>
            </a:pPr>
            <a:r>
              <a:rPr lang="en-US" sz="900" b="1" i="1" dirty="0">
                <a:solidFill>
                  <a:srgbClr val="99651A"/>
                </a:solidFill>
                <a:latin typeface="Calibri" pitchFamily="34" charset="0"/>
                <a:ea typeface="Calibri" pitchFamily="34" charset="-122"/>
                <a:cs typeface="Calibri" pitchFamily="34" charset="-120"/>
              </a:rPr>
              <a:t>Wrong alloy = wrong price per kilo.</a:t>
            </a:r>
            <a:endParaRPr lang="en-US" sz="900" dirty="0"/>
          </a:p>
        </p:txBody>
      </p:sp>
      <p:sp>
        <p:nvSpPr>
          <p:cNvPr id="22" name="Shape 20"/>
          <p:cNvSpPr/>
          <p:nvPr/>
        </p:nvSpPr>
        <p:spPr>
          <a:xfrm>
            <a:off x="6245352" y="2761488"/>
            <a:ext cx="5486400" cy="1417320"/>
          </a:xfrm>
          <a:prstGeom prst="roundRect">
            <a:avLst>
              <a:gd name="adj" fmla="val 5806"/>
            </a:avLst>
          </a:prstGeom>
          <a:solidFill>
            <a:srgbClr val="FFFFFF"/>
          </a:solidFill>
          <a:ln w="12700">
            <a:solidFill>
              <a:srgbClr val="DCE3EE"/>
            </a:solidFill>
            <a:prstDash val="solid"/>
          </a:ln>
        </p:spPr>
      </p:sp>
      <p:sp>
        <p:nvSpPr>
          <p:cNvPr id="23" name="Text 21"/>
          <p:cNvSpPr/>
          <p:nvPr/>
        </p:nvSpPr>
        <p:spPr>
          <a:xfrm>
            <a:off x="6446520" y="2843784"/>
            <a:ext cx="5120640" cy="256032"/>
          </a:xfrm>
          <a:prstGeom prst="rect">
            <a:avLst/>
          </a:prstGeom>
          <a:noFill/>
          <a:ln/>
        </p:spPr>
        <p:txBody>
          <a:bodyPr wrap="square" lIns="0" tIns="0" rIns="0" bIns="0" rtlCol="0" anchor="ctr"/>
          <a:lstStyle/>
          <a:p>
            <a:pPr indent="0" marL="0">
              <a:buNone/>
            </a:pPr>
            <a:r>
              <a:rPr lang="en-US" sz="1200" b="1" dirty="0">
                <a:solidFill>
                  <a:srgbClr val="99651A"/>
                </a:solidFill>
                <a:latin typeface="Calibri" pitchFamily="34" charset="0"/>
                <a:ea typeface="Calibri" pitchFamily="34" charset="-122"/>
                <a:cs typeface="Calibri" pitchFamily="34" charset="-120"/>
              </a:rPr>
              <a:t>4 · Size the machine to the part</a:t>
            </a:r>
            <a:endParaRPr lang="en-US" sz="1200" dirty="0"/>
          </a:p>
        </p:txBody>
      </p:sp>
      <p:sp>
        <p:nvSpPr>
          <p:cNvPr id="24" name="Text 22"/>
          <p:cNvSpPr/>
          <p:nvPr/>
        </p:nvSpPr>
        <p:spPr>
          <a:xfrm>
            <a:off x="6446520" y="3127248"/>
            <a:ext cx="5120640" cy="219456"/>
          </a:xfrm>
          <a:prstGeom prst="rect">
            <a:avLst/>
          </a:prstGeom>
          <a:noFill/>
          <a:ln/>
        </p:spPr>
        <p:txBody>
          <a:bodyPr wrap="square" lIns="0" tIns="0" rIns="0" bIns="0" rtlCol="0" anchor="ctr"/>
          <a:lstStyle/>
          <a:p>
            <a:pPr indent="0" marL="0">
              <a:buNone/>
            </a:pPr>
            <a:r>
              <a:rPr lang="en-US" sz="980" b="1" dirty="0">
                <a:solidFill>
                  <a:srgbClr val="B03A2E"/>
                </a:solidFill>
                <a:latin typeface="Calibri" pitchFamily="34" charset="0"/>
                <a:ea typeface="Calibri" pitchFamily="34" charset="-122"/>
                <a:cs typeface="Calibri" pitchFamily="34" charset="-120"/>
              </a:rPr>
              <a:t>×  </a:t>
            </a:r>
            <a:pPr indent="0" marL="0">
              <a:buNone/>
            </a:pPr>
            <a:r>
              <a:rPr lang="en-US" sz="980" i="1" dirty="0">
                <a:solidFill>
                  <a:srgbClr val="686F7D"/>
                </a:solidFill>
                <a:latin typeface="Calibri" pitchFamily="34" charset="0"/>
                <a:ea typeface="Calibri" pitchFamily="34" charset="-122"/>
                <a:cs typeface="Calibri" pitchFamily="34" charset="-120"/>
              </a:rPr>
              <a:t>Naive view: use a default press.</a:t>
            </a:r>
            <a:endParaRPr lang="en-US" sz="980" dirty="0"/>
          </a:p>
        </p:txBody>
      </p:sp>
      <p:sp>
        <p:nvSpPr>
          <p:cNvPr id="25" name="Text 23"/>
          <p:cNvSpPr/>
          <p:nvPr/>
        </p:nvSpPr>
        <p:spPr>
          <a:xfrm>
            <a:off x="6446520" y="3355848"/>
            <a:ext cx="5102352" cy="566928"/>
          </a:xfrm>
          <a:prstGeom prst="rect">
            <a:avLst/>
          </a:prstGeom>
          <a:noFill/>
          <a:ln/>
        </p:spPr>
        <p:txBody>
          <a:bodyPr wrap="square" lIns="0" tIns="0" rIns="0" bIns="0" rtlCol="0" anchor="t"/>
          <a:lstStyle/>
          <a:p>
            <a:pPr indent="0" marL="0">
              <a:buNone/>
            </a:pPr>
            <a:r>
              <a:rPr lang="en-US" sz="980" b="1" dirty="0">
                <a:solidFill>
                  <a:srgbClr val="2A7F50"/>
                </a:solidFill>
                <a:latin typeface="Calibri" pitchFamily="34" charset="0"/>
                <a:ea typeface="Calibri" pitchFamily="34" charset="-122"/>
                <a:cs typeface="Calibri" pitchFamily="34" charset="-120"/>
              </a:rPr>
              <a:t>→  </a:t>
            </a:r>
            <a:pPr indent="0" marL="0">
              <a:buNone/>
            </a:pPr>
            <a:r>
              <a:rPr lang="en-US" sz="980" dirty="0">
                <a:solidFill>
                  <a:srgbClr val="3A4356"/>
                </a:solidFill>
                <a:latin typeface="Calibri" pitchFamily="34" charset="0"/>
                <a:ea typeface="Calibri" pitchFamily="34" charset="-122"/>
                <a:cs typeface="Calibri" pitchFamily="34" charset="-120"/>
              </a:rPr>
              <a:t>Sized to 1,600 t off the ladder 160 / 500 / 800 / 1,600 / 6,100 / 9,000 t — the smallest press that clamps the part, at £137.55/hr.</a:t>
            </a:r>
            <a:endParaRPr lang="en-US" sz="980" dirty="0"/>
          </a:p>
        </p:txBody>
      </p:sp>
      <p:sp>
        <p:nvSpPr>
          <p:cNvPr id="26" name="Text 24"/>
          <p:cNvSpPr/>
          <p:nvPr/>
        </p:nvSpPr>
        <p:spPr>
          <a:xfrm>
            <a:off x="6446520" y="3886200"/>
            <a:ext cx="5120640" cy="237744"/>
          </a:xfrm>
          <a:prstGeom prst="rect">
            <a:avLst/>
          </a:prstGeom>
          <a:noFill/>
          <a:ln/>
        </p:spPr>
        <p:txBody>
          <a:bodyPr wrap="square" lIns="0" tIns="0" rIns="0" bIns="0" rtlCol="0" anchor="ctr"/>
          <a:lstStyle/>
          <a:p>
            <a:pPr indent="0" marL="0">
              <a:buNone/>
            </a:pPr>
            <a:r>
              <a:rPr lang="en-US" sz="900" b="1" i="1" dirty="0">
                <a:solidFill>
                  <a:srgbClr val="99651A"/>
                </a:solidFill>
                <a:latin typeface="Calibri" pitchFamily="34" charset="0"/>
                <a:ea typeface="Calibri" pitchFamily="34" charset="-122"/>
                <a:cs typeface="Calibri" pitchFamily="34" charset="-120"/>
              </a:rPr>
              <a:t>Explained in full on the next slide.</a:t>
            </a:r>
            <a:endParaRPr lang="en-US" sz="900" dirty="0"/>
          </a:p>
        </p:txBody>
      </p:sp>
      <p:sp>
        <p:nvSpPr>
          <p:cNvPr id="27" name="Shape 25"/>
          <p:cNvSpPr/>
          <p:nvPr/>
        </p:nvSpPr>
        <p:spPr>
          <a:xfrm>
            <a:off x="457200" y="4407408"/>
            <a:ext cx="11274552" cy="960120"/>
          </a:xfrm>
          <a:prstGeom prst="roundRect">
            <a:avLst>
              <a:gd name="adj" fmla="val 9524"/>
            </a:avLst>
          </a:prstGeom>
          <a:solidFill>
            <a:srgbClr val="FCF3E3"/>
          </a:solidFill>
          <a:ln w="15875">
            <a:solidFill>
              <a:srgbClr val="99651A"/>
            </a:solidFill>
            <a:prstDash val="solid"/>
          </a:ln>
        </p:spPr>
      </p:sp>
      <p:pic>
        <p:nvPicPr>
          <p:cNvPr id="28" name="Image 0" descr="preencoded.png">    </p:cNvPr>
          <p:cNvPicPr>
            <a:picLocks noChangeAspect="1"/>
          </p:cNvPicPr>
          <p:nvPr/>
        </p:nvPicPr>
        <p:blipFill>
          <a:blip r:embed="rId1"/>
          <a:stretch>
            <a:fillRect/>
          </a:stretch>
        </p:blipFill>
        <p:spPr>
          <a:xfrm>
            <a:off x="713232" y="4654296"/>
            <a:ext cx="274320" cy="274320"/>
          </a:xfrm>
          <a:prstGeom prst="rect">
            <a:avLst/>
          </a:prstGeom>
        </p:spPr>
      </p:pic>
      <p:sp>
        <p:nvSpPr>
          <p:cNvPr id="29" name="Text 26"/>
          <p:cNvSpPr/>
          <p:nvPr/>
        </p:nvSpPr>
        <p:spPr>
          <a:xfrm>
            <a:off x="1097280" y="4526280"/>
            <a:ext cx="10424160" cy="777240"/>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This is the autocorrect. </a:t>
            </a:r>
            <a:pPr indent="0" marL="0">
              <a:buNone/>
            </a:pPr>
            <a:r>
              <a:rPr lang="en-US" sz="1200" dirty="0">
                <a:solidFill>
                  <a:srgbClr val="3A4356"/>
                </a:solidFill>
                <a:latin typeface="Calibri" pitchFamily="34" charset="0"/>
                <a:ea typeface="Calibri" pitchFamily="34" charset="-122"/>
                <a:cs typeface="Calibri" pitchFamily="34" charset="-120"/>
              </a:rPr>
              <a:t>When an input and the measurements disagree, </a:t>
            </a:r>
            <a:pPr indent="0" marL="0">
              <a:buNone/>
            </a:pPr>
            <a:r>
              <a:rPr lang="en-US" sz="1200" b="1" dirty="0">
                <a:solidFill>
                  <a:srgbClr val="16325C"/>
                </a:solidFill>
                <a:latin typeface="Calibri" pitchFamily="34" charset="0"/>
                <a:ea typeface="Calibri" pitchFamily="34" charset="-122"/>
                <a:cs typeface="Calibri" pitchFamily="34" charset="-120"/>
              </a:rPr>
              <a:t>the measurements win — automatically, every time. </a:t>
            </a:r>
            <a:pPr indent="0" marL="0">
              <a:buNone/>
            </a:pPr>
            <a:r>
              <a:rPr lang="en-US" sz="1200" dirty="0">
                <a:solidFill>
                  <a:srgbClr val="3A4356"/>
                </a:solidFill>
                <a:latin typeface="Calibri" pitchFamily="34" charset="0"/>
                <a:ea typeface="Calibri" pitchFamily="34" charset="-122"/>
                <a:cs typeface="Calibri" pitchFamily="34" charset="-120"/>
              </a:rPr>
              <a:t>The tool corrects the input, records what it changed and why, and shows the engineer. It never proceeds silently.</a:t>
            </a:r>
            <a:endParaRPr lang="en-US" sz="1200" dirty="0"/>
          </a:p>
        </p:txBody>
      </p:sp>
      <p:sp>
        <p:nvSpPr>
          <p:cNvPr id="30" name="Shape 27"/>
          <p:cNvSpPr/>
          <p:nvPr/>
        </p:nvSpPr>
        <p:spPr>
          <a:xfrm>
            <a:off x="457200" y="5504688"/>
            <a:ext cx="11274552" cy="777240"/>
          </a:xfrm>
          <a:prstGeom prst="roundRect">
            <a:avLst>
              <a:gd name="adj" fmla="val 11765"/>
            </a:avLst>
          </a:prstGeom>
          <a:solidFill>
            <a:srgbClr val="FFFFFF"/>
          </a:solidFill>
          <a:ln w="12700">
            <a:solidFill>
              <a:srgbClr val="DCE3EE"/>
            </a:solidFill>
            <a:prstDash val="solid"/>
          </a:ln>
        </p:spPr>
      </p:sp>
      <p:sp>
        <p:nvSpPr>
          <p:cNvPr id="31" name="Text 28"/>
          <p:cNvSpPr/>
          <p:nvPr/>
        </p:nvSpPr>
        <p:spPr>
          <a:xfrm>
            <a:off x="731520" y="5614416"/>
            <a:ext cx="10744200" cy="59436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Why four checks and not one?  </a:t>
            </a:r>
            <a:pPr indent="0" marL="0">
              <a:buNone/>
            </a:pPr>
            <a:r>
              <a:rPr lang="en-US" sz="1150" dirty="0">
                <a:solidFill>
                  <a:srgbClr val="3A4356"/>
                </a:solidFill>
                <a:latin typeface="Calibri" pitchFamily="34" charset="0"/>
                <a:ea typeface="Calibri" pitchFamily="34" charset="-122"/>
                <a:cs typeface="Calibri" pitchFamily="34" charset="-120"/>
              </a:rPr>
              <a:t>Because a cast-and-machined part has four distinct ways of going wrong. Each guard is written for one specific, known failure — they are not a generic "sanity check", they are four separate lessons from real costing mistakes.</a:t>
            </a:r>
            <a:endParaRPr lang="en-US" sz="1150" dirty="0"/>
          </a:p>
        </p:txBody>
      </p:sp>
      <p:sp>
        <p:nvSpPr>
          <p:cNvPr id="32" name="Text 29"/>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3" name="Text 30"/>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 7 · Choosing the Process and the Machine</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Why die casting, why a 1,600-tonne press — and what happens if the engineer disagrees</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5486400" cy="2286000"/>
          </a:xfrm>
          <a:prstGeom prst="roundRect">
            <a:avLst>
              <a:gd name="adj" fmla="val 4000"/>
            </a:avLst>
          </a:prstGeom>
          <a:solidFill>
            <a:srgbClr val="FFFFFF"/>
          </a:solidFill>
          <a:ln w="12700">
            <a:solidFill>
              <a:srgbClr val="DCE3EE"/>
            </a:solidFill>
            <a:prstDash val="solid"/>
          </a:ln>
        </p:spPr>
      </p:sp>
      <p:sp>
        <p:nvSpPr>
          <p:cNvPr id="8" name="Text 6"/>
          <p:cNvSpPr/>
          <p:nvPr/>
        </p:nvSpPr>
        <p:spPr>
          <a:xfrm>
            <a:off x="685800" y="1316736"/>
            <a:ext cx="5029200" cy="274320"/>
          </a:xfrm>
          <a:prstGeom prst="rect">
            <a:avLst/>
          </a:prstGeom>
          <a:noFill/>
          <a:ln/>
        </p:spPr>
        <p:txBody>
          <a:bodyPr wrap="square" lIns="0" tIns="0" rIns="0" bIns="0" rtlCol="0" anchor="ctr"/>
          <a:lstStyle/>
          <a:p>
            <a:pPr indent="0" marL="0">
              <a:buNone/>
            </a:pPr>
            <a:r>
              <a:rPr lang="en-US" sz="1300" b="1" dirty="0">
                <a:solidFill>
                  <a:srgbClr val="0D7D71"/>
                </a:solidFill>
                <a:latin typeface="Calibri" pitchFamily="34" charset="0"/>
                <a:ea typeface="Calibri" pitchFamily="34" charset="-122"/>
                <a:cs typeface="Calibri" pitchFamily="34" charset="-120"/>
              </a:rPr>
              <a:t>A · Why this process, not another</a:t>
            </a:r>
            <a:endParaRPr lang="en-US" sz="1300" dirty="0"/>
          </a:p>
        </p:txBody>
      </p:sp>
      <p:sp>
        <p:nvSpPr>
          <p:cNvPr id="9" name="Text 7"/>
          <p:cNvSpPr/>
          <p:nvPr/>
        </p:nvSpPr>
        <p:spPr>
          <a:xfrm>
            <a:off x="685800" y="1609344"/>
            <a:ext cx="5029200" cy="292608"/>
          </a:xfrm>
          <a:prstGeom prst="rect">
            <a:avLst/>
          </a:prstGeom>
          <a:noFill/>
          <a:ln/>
        </p:spPr>
        <p:txBody>
          <a:bodyPr wrap="square" lIns="0" tIns="0" rIns="0" bIns="0" rtlCol="0" anchor="ctr"/>
          <a:lstStyle/>
          <a:p>
            <a:pPr indent="0" marL="0">
              <a:buNone/>
            </a:pPr>
            <a:r>
              <a:rPr lang="en-US" sz="1050" dirty="0">
                <a:solidFill>
                  <a:srgbClr val="686F7D"/>
                </a:solidFill>
                <a:latin typeface="Calibri" pitchFamily="34" charset="0"/>
                <a:ea typeface="Calibri" pitchFamily="34" charset="-122"/>
                <a:cs typeface="Calibri" pitchFamily="34" charset="-120"/>
              </a:rPr>
              <a:t>The engine tests the measured shape against what each process can physically do:</a:t>
            </a:r>
            <a:endParaRPr lang="en-US" sz="1050" dirty="0"/>
          </a:p>
        </p:txBody>
      </p:sp>
      <p:sp>
        <p:nvSpPr>
          <p:cNvPr id="10" name="Shape 8"/>
          <p:cNvSpPr/>
          <p:nvPr/>
        </p:nvSpPr>
        <p:spPr>
          <a:xfrm>
            <a:off x="685800" y="1975104"/>
            <a:ext cx="658368" cy="274320"/>
          </a:xfrm>
          <a:prstGeom prst="roundRect">
            <a:avLst>
              <a:gd name="adj" fmla="val 50000"/>
            </a:avLst>
          </a:prstGeom>
          <a:solidFill>
            <a:srgbClr val="EAF6EF"/>
          </a:solidFill>
          <a:ln w="9525">
            <a:solidFill>
              <a:srgbClr val="2A7F50"/>
            </a:solidFill>
            <a:prstDash val="solid"/>
          </a:ln>
        </p:spPr>
      </p:sp>
      <p:sp>
        <p:nvSpPr>
          <p:cNvPr id="11" name="Text 9"/>
          <p:cNvSpPr/>
          <p:nvPr/>
        </p:nvSpPr>
        <p:spPr>
          <a:xfrm>
            <a:off x="685800" y="1975104"/>
            <a:ext cx="658368" cy="274320"/>
          </a:xfrm>
          <a:prstGeom prst="rect">
            <a:avLst/>
          </a:prstGeom>
          <a:noFill/>
          <a:ln/>
        </p:spPr>
        <p:txBody>
          <a:bodyPr wrap="square" lIns="0" tIns="0" rIns="0" bIns="0" rtlCol="0" anchor="ctr"/>
          <a:lstStyle/>
          <a:p>
            <a:pPr algn="ctr" indent="0" marL="0">
              <a:buNone/>
            </a:pPr>
            <a:r>
              <a:rPr lang="en-US" sz="750" b="1" dirty="0">
                <a:solidFill>
                  <a:srgbClr val="2A7F50"/>
                </a:solidFill>
                <a:latin typeface="Calibri" pitchFamily="34" charset="0"/>
                <a:ea typeface="Calibri" pitchFamily="34" charset="-122"/>
                <a:cs typeface="Calibri" pitchFamily="34" charset="-120"/>
              </a:rPr>
              <a:t>CHOSEN</a:t>
            </a:r>
            <a:endParaRPr lang="en-US" sz="750" dirty="0"/>
          </a:p>
        </p:txBody>
      </p:sp>
      <p:sp>
        <p:nvSpPr>
          <p:cNvPr id="12" name="Text 10"/>
          <p:cNvSpPr/>
          <p:nvPr/>
        </p:nvSpPr>
        <p:spPr>
          <a:xfrm>
            <a:off x="1444752" y="1975104"/>
            <a:ext cx="2103120" cy="27432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High-pressure die casting</a:t>
            </a:r>
            <a:endParaRPr lang="en-US" sz="1000" dirty="0"/>
          </a:p>
        </p:txBody>
      </p:sp>
      <p:sp>
        <p:nvSpPr>
          <p:cNvPr id="13" name="Text 11"/>
          <p:cNvSpPr/>
          <p:nvPr/>
        </p:nvSpPr>
        <p:spPr>
          <a:xfrm>
            <a:off x="3566160" y="1975104"/>
            <a:ext cx="2286000" cy="274320"/>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thin walls + hollow + 60k/yr</a:t>
            </a:r>
            <a:endParaRPr lang="en-US" sz="880" dirty="0"/>
          </a:p>
        </p:txBody>
      </p:sp>
      <p:sp>
        <p:nvSpPr>
          <p:cNvPr id="14" name="Shape 12"/>
          <p:cNvSpPr/>
          <p:nvPr/>
        </p:nvSpPr>
        <p:spPr>
          <a:xfrm>
            <a:off x="685800" y="2340864"/>
            <a:ext cx="658368" cy="274320"/>
          </a:xfrm>
          <a:prstGeom prst="roundRect">
            <a:avLst>
              <a:gd name="adj" fmla="val 50000"/>
            </a:avLst>
          </a:prstGeom>
          <a:solidFill>
            <a:srgbClr val="F4F7FB"/>
          </a:solidFill>
          <a:ln w="9525">
            <a:solidFill>
              <a:srgbClr val="DCE3EE"/>
            </a:solidFill>
            <a:prstDash val="solid"/>
          </a:ln>
        </p:spPr>
      </p:sp>
      <p:sp>
        <p:nvSpPr>
          <p:cNvPr id="15" name="Text 13"/>
          <p:cNvSpPr/>
          <p:nvPr/>
        </p:nvSpPr>
        <p:spPr>
          <a:xfrm>
            <a:off x="685800" y="2340864"/>
            <a:ext cx="658368" cy="274320"/>
          </a:xfrm>
          <a:prstGeom prst="rect">
            <a:avLst/>
          </a:prstGeom>
          <a:noFill/>
          <a:ln/>
        </p:spPr>
        <p:txBody>
          <a:bodyPr wrap="square" lIns="0" tIns="0" rIns="0" bIns="0" rtlCol="0" anchor="ctr"/>
          <a:lstStyle/>
          <a:p>
            <a:pPr algn="ctr" indent="0" marL="0">
              <a:buNone/>
            </a:pPr>
            <a:r>
              <a:rPr lang="en-US" sz="750" b="1" dirty="0">
                <a:solidFill>
                  <a:srgbClr val="686F7D"/>
                </a:solidFill>
                <a:latin typeface="Calibri" pitchFamily="34" charset="0"/>
                <a:ea typeface="Calibri" pitchFamily="34" charset="-122"/>
                <a:cs typeface="Calibri" pitchFamily="34" charset="-120"/>
              </a:rPr>
              <a:t>rejected</a:t>
            </a:r>
            <a:endParaRPr lang="en-US" sz="750" dirty="0"/>
          </a:p>
        </p:txBody>
      </p:sp>
      <p:sp>
        <p:nvSpPr>
          <p:cNvPr id="16" name="Text 14"/>
          <p:cNvSpPr/>
          <p:nvPr/>
        </p:nvSpPr>
        <p:spPr>
          <a:xfrm>
            <a:off x="1444752" y="2340864"/>
            <a:ext cx="2103120" cy="274320"/>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Sand casting</a:t>
            </a:r>
            <a:endParaRPr lang="en-US" sz="1000" dirty="0"/>
          </a:p>
        </p:txBody>
      </p:sp>
      <p:sp>
        <p:nvSpPr>
          <p:cNvPr id="17" name="Text 15"/>
          <p:cNvSpPr/>
          <p:nvPr/>
        </p:nvSpPr>
        <p:spPr>
          <a:xfrm>
            <a:off x="3566160" y="2340864"/>
            <a:ext cx="2286000" cy="274320"/>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slow and rough for 3 mm walls at this volume</a:t>
            </a:r>
            <a:endParaRPr lang="en-US" sz="880" dirty="0"/>
          </a:p>
        </p:txBody>
      </p:sp>
      <p:sp>
        <p:nvSpPr>
          <p:cNvPr id="18" name="Shape 16"/>
          <p:cNvSpPr/>
          <p:nvPr/>
        </p:nvSpPr>
        <p:spPr>
          <a:xfrm>
            <a:off x="685800" y="2706624"/>
            <a:ext cx="658368" cy="274320"/>
          </a:xfrm>
          <a:prstGeom prst="roundRect">
            <a:avLst>
              <a:gd name="adj" fmla="val 50000"/>
            </a:avLst>
          </a:prstGeom>
          <a:solidFill>
            <a:srgbClr val="F4F7FB"/>
          </a:solidFill>
          <a:ln w="9525">
            <a:solidFill>
              <a:srgbClr val="DCE3EE"/>
            </a:solidFill>
            <a:prstDash val="solid"/>
          </a:ln>
        </p:spPr>
      </p:sp>
      <p:sp>
        <p:nvSpPr>
          <p:cNvPr id="19" name="Text 17"/>
          <p:cNvSpPr/>
          <p:nvPr/>
        </p:nvSpPr>
        <p:spPr>
          <a:xfrm>
            <a:off x="685800" y="2706624"/>
            <a:ext cx="658368" cy="274320"/>
          </a:xfrm>
          <a:prstGeom prst="rect">
            <a:avLst/>
          </a:prstGeom>
          <a:noFill/>
          <a:ln/>
        </p:spPr>
        <p:txBody>
          <a:bodyPr wrap="square" lIns="0" tIns="0" rIns="0" bIns="0" rtlCol="0" anchor="ctr"/>
          <a:lstStyle/>
          <a:p>
            <a:pPr algn="ctr" indent="0" marL="0">
              <a:buNone/>
            </a:pPr>
            <a:r>
              <a:rPr lang="en-US" sz="750" b="1" dirty="0">
                <a:solidFill>
                  <a:srgbClr val="686F7D"/>
                </a:solidFill>
                <a:latin typeface="Calibri" pitchFamily="34" charset="0"/>
                <a:ea typeface="Calibri" pitchFamily="34" charset="-122"/>
                <a:cs typeface="Calibri" pitchFamily="34" charset="-120"/>
              </a:rPr>
              <a:t>rejected</a:t>
            </a:r>
            <a:endParaRPr lang="en-US" sz="750" dirty="0"/>
          </a:p>
        </p:txBody>
      </p:sp>
      <p:sp>
        <p:nvSpPr>
          <p:cNvPr id="20" name="Text 18"/>
          <p:cNvSpPr/>
          <p:nvPr/>
        </p:nvSpPr>
        <p:spPr>
          <a:xfrm>
            <a:off x="1444752" y="2706624"/>
            <a:ext cx="2103120" cy="274320"/>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Machined from solid billet</a:t>
            </a:r>
            <a:endParaRPr lang="en-US" sz="1000" dirty="0"/>
          </a:p>
        </p:txBody>
      </p:sp>
      <p:sp>
        <p:nvSpPr>
          <p:cNvPr id="21" name="Text 19"/>
          <p:cNvSpPr/>
          <p:nvPr/>
        </p:nvSpPr>
        <p:spPr>
          <a:xfrm>
            <a:off x="3566160" y="2706624"/>
            <a:ext cx="2286000" cy="274320"/>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would cut away ~80% of the metal — absurd cost</a:t>
            </a:r>
            <a:endParaRPr lang="en-US" sz="880" dirty="0"/>
          </a:p>
        </p:txBody>
      </p:sp>
      <p:sp>
        <p:nvSpPr>
          <p:cNvPr id="22" name="Shape 20"/>
          <p:cNvSpPr/>
          <p:nvPr/>
        </p:nvSpPr>
        <p:spPr>
          <a:xfrm>
            <a:off x="685800" y="3072384"/>
            <a:ext cx="658368" cy="274320"/>
          </a:xfrm>
          <a:prstGeom prst="roundRect">
            <a:avLst>
              <a:gd name="adj" fmla="val 50000"/>
            </a:avLst>
          </a:prstGeom>
          <a:solidFill>
            <a:srgbClr val="F4F7FB"/>
          </a:solidFill>
          <a:ln w="9525">
            <a:solidFill>
              <a:srgbClr val="DCE3EE"/>
            </a:solidFill>
            <a:prstDash val="solid"/>
          </a:ln>
        </p:spPr>
      </p:sp>
      <p:sp>
        <p:nvSpPr>
          <p:cNvPr id="23" name="Text 21"/>
          <p:cNvSpPr/>
          <p:nvPr/>
        </p:nvSpPr>
        <p:spPr>
          <a:xfrm>
            <a:off x="685800" y="3072384"/>
            <a:ext cx="658368" cy="274320"/>
          </a:xfrm>
          <a:prstGeom prst="rect">
            <a:avLst/>
          </a:prstGeom>
          <a:noFill/>
          <a:ln/>
        </p:spPr>
        <p:txBody>
          <a:bodyPr wrap="square" lIns="0" tIns="0" rIns="0" bIns="0" rtlCol="0" anchor="ctr"/>
          <a:lstStyle/>
          <a:p>
            <a:pPr algn="ctr" indent="0" marL="0">
              <a:buNone/>
            </a:pPr>
            <a:r>
              <a:rPr lang="en-US" sz="750" b="1" dirty="0">
                <a:solidFill>
                  <a:srgbClr val="686F7D"/>
                </a:solidFill>
                <a:latin typeface="Calibri" pitchFamily="34" charset="0"/>
                <a:ea typeface="Calibri" pitchFamily="34" charset="-122"/>
                <a:cs typeface="Calibri" pitchFamily="34" charset="-120"/>
              </a:rPr>
              <a:t>rejected</a:t>
            </a:r>
            <a:endParaRPr lang="en-US" sz="750" dirty="0"/>
          </a:p>
        </p:txBody>
      </p:sp>
      <p:sp>
        <p:nvSpPr>
          <p:cNvPr id="24" name="Text 22"/>
          <p:cNvSpPr/>
          <p:nvPr/>
        </p:nvSpPr>
        <p:spPr>
          <a:xfrm>
            <a:off x="1444752" y="3072384"/>
            <a:ext cx="2103120" cy="274320"/>
          </a:xfrm>
          <a:prstGeom prst="rect">
            <a:avLst/>
          </a:prstGeom>
          <a:noFill/>
          <a:ln/>
        </p:spPr>
        <p:txBody>
          <a:bodyPr wrap="square" lIns="0" tIns="0" rIns="0" bIns="0" rtlCol="0" anchor="ctr"/>
          <a:lstStyle/>
          <a:p>
            <a:pPr indent="0" marL="0">
              <a:buNone/>
            </a:pPr>
            <a:r>
              <a:rPr lang="en-US" sz="1000" dirty="0">
                <a:solidFill>
                  <a:srgbClr val="686F7D"/>
                </a:solidFill>
                <a:latin typeface="Calibri" pitchFamily="34" charset="0"/>
                <a:ea typeface="Calibri" pitchFamily="34" charset="-122"/>
                <a:cs typeface="Calibri" pitchFamily="34" charset="-120"/>
              </a:rPr>
              <a:t>Gravity die casting</a:t>
            </a:r>
            <a:endParaRPr lang="en-US" sz="1000" dirty="0"/>
          </a:p>
        </p:txBody>
      </p:sp>
      <p:sp>
        <p:nvSpPr>
          <p:cNvPr id="25" name="Text 23"/>
          <p:cNvSpPr/>
          <p:nvPr/>
        </p:nvSpPr>
        <p:spPr>
          <a:xfrm>
            <a:off x="3566160" y="3072384"/>
            <a:ext cx="2286000" cy="274320"/>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cannot reliably fill 3 mm walls</a:t>
            </a:r>
            <a:endParaRPr lang="en-US" sz="880" dirty="0"/>
          </a:p>
        </p:txBody>
      </p:sp>
      <p:sp>
        <p:nvSpPr>
          <p:cNvPr id="26" name="Shape 24"/>
          <p:cNvSpPr/>
          <p:nvPr/>
        </p:nvSpPr>
        <p:spPr>
          <a:xfrm>
            <a:off x="6172200" y="1188720"/>
            <a:ext cx="5559552" cy="2286000"/>
          </a:xfrm>
          <a:prstGeom prst="roundRect">
            <a:avLst>
              <a:gd name="adj" fmla="val 4000"/>
            </a:avLst>
          </a:prstGeom>
          <a:solidFill>
            <a:srgbClr val="E6F4F1"/>
          </a:solidFill>
          <a:ln w="15875">
            <a:solidFill>
              <a:srgbClr val="0D7D71"/>
            </a:solidFill>
            <a:prstDash val="solid"/>
          </a:ln>
        </p:spPr>
      </p:sp>
      <p:sp>
        <p:nvSpPr>
          <p:cNvPr id="27" name="Text 25"/>
          <p:cNvSpPr/>
          <p:nvPr/>
        </p:nvSpPr>
        <p:spPr>
          <a:xfrm>
            <a:off x="6400800" y="1316736"/>
            <a:ext cx="5029200" cy="274320"/>
          </a:xfrm>
          <a:prstGeom prst="rect">
            <a:avLst/>
          </a:prstGeom>
          <a:noFill/>
          <a:ln/>
        </p:spPr>
        <p:txBody>
          <a:bodyPr wrap="square" lIns="0" tIns="0" rIns="0" bIns="0" rtlCol="0" anchor="ctr"/>
          <a:lstStyle/>
          <a:p>
            <a:pPr indent="0" marL="0">
              <a:buNone/>
            </a:pPr>
            <a:r>
              <a:rPr lang="en-US" sz="1300" b="1" dirty="0">
                <a:solidFill>
                  <a:srgbClr val="0D7D71"/>
                </a:solidFill>
                <a:latin typeface="Calibri" pitchFamily="34" charset="0"/>
                <a:ea typeface="Calibri" pitchFamily="34" charset="-122"/>
                <a:cs typeface="Calibri" pitchFamily="34" charset="-120"/>
              </a:rPr>
              <a:t>B · Why a 1,600-tonne press</a:t>
            </a:r>
            <a:endParaRPr lang="en-US" sz="1300" dirty="0"/>
          </a:p>
        </p:txBody>
      </p:sp>
      <p:sp>
        <p:nvSpPr>
          <p:cNvPr id="28" name="Text 26"/>
          <p:cNvSpPr/>
          <p:nvPr/>
        </p:nvSpPr>
        <p:spPr>
          <a:xfrm>
            <a:off x="6400800" y="1609344"/>
            <a:ext cx="5120640" cy="457200"/>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Molten metal is injected under pressure and tries to force the mould open. The press must clamp it shut.</a:t>
            </a:r>
            <a:endParaRPr lang="en-US" sz="1050" dirty="0"/>
          </a:p>
        </p:txBody>
      </p:sp>
      <p:sp>
        <p:nvSpPr>
          <p:cNvPr id="29" name="Text 27"/>
          <p:cNvSpPr/>
          <p:nvPr/>
        </p:nvSpPr>
        <p:spPr>
          <a:xfrm>
            <a:off x="6446520" y="2121408"/>
            <a:ext cx="3749040" cy="274320"/>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Measured shadow area of the part</a:t>
            </a:r>
            <a:endParaRPr lang="en-US" sz="1000" dirty="0"/>
          </a:p>
        </p:txBody>
      </p:sp>
      <p:sp>
        <p:nvSpPr>
          <p:cNvPr id="30" name="Text 28"/>
          <p:cNvSpPr/>
          <p:nvPr/>
        </p:nvSpPr>
        <p:spPr>
          <a:xfrm>
            <a:off x="10241280" y="2121408"/>
            <a:ext cx="1325880" cy="274320"/>
          </a:xfrm>
          <a:prstGeom prst="rect">
            <a:avLst/>
          </a:prstGeom>
          <a:noFill/>
          <a:ln/>
        </p:spPr>
        <p:txBody>
          <a:bodyPr wrap="square" lIns="0" tIns="0" rIns="0" bIns="0" rtlCol="0" anchor="ctr"/>
          <a:lstStyle/>
          <a:p>
            <a:pPr algn="r" indent="0" marL="0">
              <a:buNone/>
            </a:pPr>
            <a:r>
              <a:rPr lang="en-US" sz="950" b="1" dirty="0">
                <a:solidFill>
                  <a:srgbClr val="686F7D"/>
                </a:solidFill>
                <a:latin typeface="Calibri" pitchFamily="34" charset="0"/>
                <a:ea typeface="Calibri" pitchFamily="34" charset="-122"/>
                <a:cs typeface="Calibri" pitchFamily="34" charset="-120"/>
              </a:rPr>
              <a:t>from the CAD</a:t>
            </a:r>
            <a:endParaRPr lang="en-US" sz="950" dirty="0"/>
          </a:p>
        </p:txBody>
      </p:sp>
      <p:sp>
        <p:nvSpPr>
          <p:cNvPr id="31" name="Text 29"/>
          <p:cNvSpPr/>
          <p:nvPr/>
        </p:nvSpPr>
        <p:spPr>
          <a:xfrm>
            <a:off x="6446520" y="2423160"/>
            <a:ext cx="3749040" cy="274320"/>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  pressure inside the mould</a:t>
            </a:r>
            <a:endParaRPr lang="en-US" sz="1000" dirty="0"/>
          </a:p>
        </p:txBody>
      </p:sp>
      <p:sp>
        <p:nvSpPr>
          <p:cNvPr id="32" name="Text 30"/>
          <p:cNvSpPr/>
          <p:nvPr/>
        </p:nvSpPr>
        <p:spPr>
          <a:xfrm>
            <a:off x="10241280" y="2423160"/>
            <a:ext cx="1325880" cy="274320"/>
          </a:xfrm>
          <a:prstGeom prst="rect">
            <a:avLst/>
          </a:prstGeom>
          <a:noFill/>
          <a:ln/>
        </p:spPr>
        <p:txBody>
          <a:bodyPr wrap="square" lIns="0" tIns="0" rIns="0" bIns="0" rtlCol="0" anchor="ctr"/>
          <a:lstStyle/>
          <a:p>
            <a:pPr algn="r" indent="0" marL="0">
              <a:buNone/>
            </a:pPr>
            <a:r>
              <a:rPr lang="en-US" sz="950" b="1" dirty="0">
                <a:solidFill>
                  <a:srgbClr val="686F7D"/>
                </a:solidFill>
                <a:latin typeface="Calibri" pitchFamily="34" charset="0"/>
                <a:ea typeface="Calibri" pitchFamily="34" charset="-122"/>
                <a:cs typeface="Calibri" pitchFamily="34" charset="-120"/>
              </a:rPr>
              <a:t>physics constant</a:t>
            </a:r>
            <a:endParaRPr lang="en-US" sz="950" dirty="0"/>
          </a:p>
        </p:txBody>
      </p:sp>
      <p:sp>
        <p:nvSpPr>
          <p:cNvPr id="33" name="Text 31"/>
          <p:cNvSpPr/>
          <p:nvPr/>
        </p:nvSpPr>
        <p:spPr>
          <a:xfrm>
            <a:off x="6446520" y="2724912"/>
            <a:ext cx="3749040" cy="274320"/>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  force trying to open the mould</a:t>
            </a:r>
            <a:endParaRPr lang="en-US" sz="1000" dirty="0"/>
          </a:p>
        </p:txBody>
      </p:sp>
      <p:sp>
        <p:nvSpPr>
          <p:cNvPr id="34" name="Text 32"/>
          <p:cNvSpPr/>
          <p:nvPr/>
        </p:nvSpPr>
        <p:spPr>
          <a:xfrm>
            <a:off x="10241280" y="2724912"/>
            <a:ext cx="1325880" cy="274320"/>
          </a:xfrm>
          <a:prstGeom prst="rect">
            <a:avLst/>
          </a:prstGeom>
          <a:noFill/>
          <a:ln/>
        </p:spPr>
        <p:txBody>
          <a:bodyPr wrap="square" lIns="0" tIns="0" rIns="0" bIns="0" rtlCol="0" anchor="ctr"/>
          <a:lstStyle/>
          <a:p>
            <a:pPr algn="r" indent="0" marL="0">
              <a:buNone/>
            </a:pPr>
            <a:r>
              <a:rPr lang="en-US" sz="950" b="1" dirty="0">
                <a:solidFill>
                  <a:srgbClr val="686F7D"/>
                </a:solidFill>
                <a:latin typeface="Calibri" pitchFamily="34" charset="0"/>
                <a:ea typeface="Calibri" pitchFamily="34" charset="-122"/>
                <a:cs typeface="Calibri" pitchFamily="34" charset="-120"/>
              </a:rPr>
              <a:t>calculated</a:t>
            </a:r>
            <a:endParaRPr lang="en-US" sz="950" dirty="0"/>
          </a:p>
        </p:txBody>
      </p:sp>
      <p:sp>
        <p:nvSpPr>
          <p:cNvPr id="35" name="Text 33"/>
          <p:cNvSpPr/>
          <p:nvPr/>
        </p:nvSpPr>
        <p:spPr>
          <a:xfrm>
            <a:off x="6446520" y="3026664"/>
            <a:ext cx="3749040" cy="274320"/>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  safety margin → pick the smallest press that clamps it</a:t>
            </a:r>
            <a:endParaRPr lang="en-US" sz="1000" dirty="0"/>
          </a:p>
        </p:txBody>
      </p:sp>
      <p:sp>
        <p:nvSpPr>
          <p:cNvPr id="36" name="Text 34"/>
          <p:cNvSpPr/>
          <p:nvPr/>
        </p:nvSpPr>
        <p:spPr>
          <a:xfrm>
            <a:off x="10241280" y="3026664"/>
            <a:ext cx="1325880" cy="274320"/>
          </a:xfrm>
          <a:prstGeom prst="rect">
            <a:avLst/>
          </a:prstGeom>
          <a:noFill/>
          <a:ln/>
        </p:spPr>
        <p:txBody>
          <a:bodyPr wrap="square" lIns="0" tIns="0" rIns="0" bIns="0" rtlCol="0" anchor="ctr"/>
          <a:lstStyle/>
          <a:p>
            <a:pPr algn="r" indent="0" marL="0">
              <a:buNone/>
            </a:pPr>
            <a:r>
              <a:rPr lang="en-US" sz="950" b="1" dirty="0">
                <a:solidFill>
                  <a:srgbClr val="16325C"/>
                </a:solidFill>
                <a:latin typeface="Calibri" pitchFamily="34" charset="0"/>
                <a:ea typeface="Calibri" pitchFamily="34" charset="-122"/>
                <a:cs typeface="Calibri" pitchFamily="34" charset="-120"/>
              </a:rPr>
              <a:t>1,600 t</a:t>
            </a:r>
            <a:endParaRPr lang="en-US" sz="950" dirty="0"/>
          </a:p>
        </p:txBody>
      </p:sp>
      <p:sp>
        <p:nvSpPr>
          <p:cNvPr id="37" name="Shape 35"/>
          <p:cNvSpPr/>
          <p:nvPr/>
        </p:nvSpPr>
        <p:spPr>
          <a:xfrm>
            <a:off x="457200" y="3675888"/>
            <a:ext cx="11274552" cy="1234440"/>
          </a:xfrm>
          <a:prstGeom prst="roundRect">
            <a:avLst>
              <a:gd name="adj" fmla="val 7407"/>
            </a:avLst>
          </a:prstGeom>
          <a:solidFill>
            <a:srgbClr val="FFFFFF"/>
          </a:solidFill>
          <a:ln w="12700">
            <a:solidFill>
              <a:srgbClr val="DCE3EE"/>
            </a:solidFill>
            <a:prstDash val="solid"/>
          </a:ln>
        </p:spPr>
      </p:sp>
      <p:sp>
        <p:nvSpPr>
          <p:cNvPr id="38" name="Text 36"/>
          <p:cNvSpPr/>
          <p:nvPr/>
        </p:nvSpPr>
        <p:spPr>
          <a:xfrm>
            <a:off x="731520" y="3794760"/>
            <a:ext cx="10058400" cy="274320"/>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Why the machine choice is a money decision, not a technicality</a:t>
            </a:r>
            <a:endParaRPr lang="en-US" sz="1250" dirty="0"/>
          </a:p>
        </p:txBody>
      </p:sp>
      <p:sp>
        <p:nvSpPr>
          <p:cNvPr id="39" name="Text 37"/>
          <p:cNvSpPr/>
          <p:nvPr/>
        </p:nvSpPr>
        <p:spPr>
          <a:xfrm>
            <a:off x="731520" y="4096512"/>
            <a:ext cx="10744200" cy="749808"/>
          </a:xfrm>
          <a:prstGeom prst="rect">
            <a:avLst/>
          </a:prstGeom>
          <a:noFill/>
          <a:ln/>
        </p:spPr>
        <p:txBody>
          <a:bodyPr wrap="square" lIns="0" tIns="0" rIns="0" bIns="0" rtlCol="0" anchor="t"/>
          <a:lstStyle/>
          <a:p>
            <a:pPr indent="0" marL="0">
              <a:buNone/>
            </a:pPr>
            <a:r>
              <a:rPr lang="en-US" sz="1150" dirty="0">
                <a:solidFill>
                  <a:srgbClr val="3A4356"/>
                </a:solidFill>
                <a:latin typeface="Calibri" pitchFamily="34" charset="0"/>
                <a:ea typeface="Calibri" pitchFamily="34" charset="-122"/>
                <a:cs typeface="Calibri" pitchFamily="34" charset="-120"/>
              </a:rPr>
              <a:t>Every machine in the library carries its own hourly rate — a bigger press costs more per hour to own and run. </a:t>
            </a:r>
            <a:pPr indent="0" marL="0">
              <a:buNone/>
            </a:pPr>
            <a:r>
              <a:rPr lang="en-US" sz="1150" b="1" dirty="0">
                <a:solidFill>
                  <a:srgbClr val="16325C"/>
                </a:solidFill>
                <a:latin typeface="Calibri" pitchFamily="34" charset="0"/>
                <a:ea typeface="Calibri" pitchFamily="34" charset="-122"/>
                <a:cs typeface="Calibri" pitchFamily="34" charset="-120"/>
              </a:rPr>
              <a:t>Pick a press that is too big and you overstate the cost; too small and the part physically cannot be made. </a:t>
            </a:r>
            <a:pPr indent="0" marL="0">
              <a:buNone/>
            </a:pPr>
            <a:r>
              <a:rPr lang="en-US" sz="1150" dirty="0">
                <a:solidFill>
                  <a:srgbClr val="3A4356"/>
                </a:solidFill>
                <a:latin typeface="Calibri" pitchFamily="34" charset="0"/>
                <a:ea typeface="Calibri" pitchFamily="34" charset="-122"/>
                <a:cs typeface="Calibri" pitchFamily="34" charset="-120"/>
              </a:rPr>
              <a:t>So the engine sizes the machine rather than accepting a default. Enter a process or machine yourself and it is respected: the engine prices its own choice alongside as a lever, and the self-audit flags a wrong-sized machine with the £/part difference.</a:t>
            </a:r>
            <a:endParaRPr lang="en-US" sz="1150" dirty="0"/>
          </a:p>
        </p:txBody>
      </p:sp>
      <p:sp>
        <p:nvSpPr>
          <p:cNvPr id="40" name="Shape 38"/>
          <p:cNvSpPr/>
          <p:nvPr/>
        </p:nvSpPr>
        <p:spPr>
          <a:xfrm>
            <a:off x="457200" y="5102352"/>
            <a:ext cx="11274552" cy="960120"/>
          </a:xfrm>
          <a:prstGeom prst="roundRect">
            <a:avLst>
              <a:gd name="adj" fmla="val 9524"/>
            </a:avLst>
          </a:prstGeom>
          <a:solidFill>
            <a:srgbClr val="F1EBF8"/>
          </a:solidFill>
          <a:ln w="12700">
            <a:solidFill>
              <a:srgbClr val="6B3FA0"/>
            </a:solidFill>
            <a:prstDash val="solid"/>
          </a:ln>
        </p:spPr>
      </p:sp>
      <p:sp>
        <p:nvSpPr>
          <p:cNvPr id="41" name="Text 39"/>
          <p:cNvSpPr/>
          <p:nvPr/>
        </p:nvSpPr>
        <p:spPr>
          <a:xfrm>
            <a:off x="731520" y="5212080"/>
            <a:ext cx="10744200" cy="777240"/>
          </a:xfrm>
          <a:prstGeom prst="rect">
            <a:avLst/>
          </a:prstGeom>
          <a:noFill/>
          <a:ln/>
        </p:spPr>
        <p:txBody>
          <a:bodyPr wrap="square" lIns="0" tIns="0" rIns="0" bIns="0" rtlCol="0" anchor="ctr"/>
          <a:lstStyle/>
          <a:p>
            <a:pPr indent="0" marL="0">
              <a:buNone/>
            </a:pPr>
            <a:r>
              <a:rPr lang="en-US" sz="1100" b="1" dirty="0">
                <a:solidFill>
                  <a:srgbClr val="6B3FA0"/>
                </a:solidFill>
                <a:latin typeface="Calibri" pitchFamily="34" charset="0"/>
                <a:ea typeface="Calibri" pitchFamily="34" charset="-122"/>
                <a:cs typeface="Calibri" pitchFamily="34" charset="-120"/>
              </a:rPr>
              <a:t>Who decided all this?  </a:t>
            </a:r>
            <a:pPr indent="0" marL="0">
              <a:buNone/>
            </a:pPr>
            <a:r>
              <a:rPr lang="en-US" sz="1100" b="1" dirty="0">
                <a:solidFill>
                  <a:srgbClr val="0D7D71"/>
                </a:solidFill>
                <a:latin typeface="Calibri" pitchFamily="34" charset="0"/>
                <a:ea typeface="Calibri" pitchFamily="34" charset="-122"/>
                <a:cs typeface="Calibri" pitchFamily="34" charset="-120"/>
              </a:rPr>
              <a:t>The rules engine, with no AI call: </a:t>
            </a:r>
            <a:pPr indent="0" marL="0">
              <a:buNone/>
            </a:pPr>
            <a:r>
              <a:rPr lang="en-US" sz="1100" dirty="0">
                <a:solidFill>
                  <a:srgbClr val="3A4356"/>
                </a:solidFill>
                <a:latin typeface="Calibri" pitchFamily="34" charset="0"/>
                <a:ea typeface="Calibri" pitchFamily="34" charset="-122"/>
                <a:cs typeface="Calibri" pitchFamily="34" charset="-120"/>
              </a:rPr>
              <a:t>it tested the shape against each process’s physics, rejected the alternatives, and sized the press by calculation. </a:t>
            </a:r>
            <a:pPr indent="0" marL="0">
              <a:buNone/>
            </a:pPr>
            <a:r>
              <a:rPr lang="en-US" sz="1100" b="1" dirty="0">
                <a:solidFill>
                  <a:srgbClr val="6B3FA0"/>
                </a:solidFill>
                <a:latin typeface="Calibri" pitchFamily="34" charset="0"/>
                <a:ea typeface="Calibri" pitchFamily="34" charset="-122"/>
                <a:cs typeface="Calibri" pitchFamily="34" charset="-120"/>
              </a:rPr>
              <a:t>The engineer confirmed the route. </a:t>
            </a:r>
            <a:pPr indent="0" marL="0">
              <a:buNone/>
            </a:pPr>
            <a:r>
              <a:rPr lang="en-US" sz="1100" b="1" dirty="0">
                <a:solidFill>
                  <a:srgbClr val="16325C"/>
                </a:solidFill>
                <a:latin typeface="Calibri" pitchFamily="34" charset="0"/>
                <a:ea typeface="Calibri" pitchFamily="34" charset="-122"/>
                <a:cs typeface="Calibri" pitchFamily="34" charset="-120"/>
              </a:rPr>
              <a:t>A pinned engineer choice always wins. </a:t>
            </a:r>
            <a:pPr indent="0" marL="0">
              <a:buNone/>
            </a:pPr>
            <a:r>
              <a:rPr lang="en-US" sz="1100" dirty="0">
                <a:solidFill>
                  <a:srgbClr val="3A4356"/>
                </a:solidFill>
                <a:latin typeface="Calibri" pitchFamily="34" charset="0"/>
                <a:ea typeface="Calibri" pitchFamily="34" charset="-122"/>
                <a:cs typeface="Calibri" pitchFamily="34" charset="-120"/>
              </a:rPr>
              <a:t>And if anyone had said "sand casting", the 3 mm walls would have argued back with the physics.</a:t>
            </a:r>
            <a:endParaRPr lang="en-US" sz="1100" dirty="0"/>
          </a:p>
        </p:txBody>
      </p:sp>
      <p:sp>
        <p:nvSpPr>
          <p:cNvPr id="42" name="Text 40"/>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43" name="Text 41"/>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7–8 in Detail · Show Me the Calculation</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housing — how the press is chosen and where the cutting minutes come from</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5532120" cy="3246120"/>
          </a:xfrm>
          <a:prstGeom prst="roundRect">
            <a:avLst>
              <a:gd name="adj" fmla="val 2817"/>
            </a:avLst>
          </a:prstGeom>
          <a:solidFill>
            <a:srgbClr val="E6F4F1"/>
          </a:solidFill>
          <a:ln w="15875">
            <a:solidFill>
              <a:srgbClr val="0D7D71"/>
            </a:solidFill>
            <a:prstDash val="solid"/>
          </a:ln>
        </p:spPr>
      </p:sp>
      <p:sp>
        <p:nvSpPr>
          <p:cNvPr id="8" name="Text 6"/>
          <p:cNvSpPr/>
          <p:nvPr/>
        </p:nvSpPr>
        <p:spPr>
          <a:xfrm>
            <a:off x="685800" y="1298448"/>
            <a:ext cx="5074920" cy="237744"/>
          </a:xfrm>
          <a:prstGeom prst="rect">
            <a:avLst/>
          </a:prstGeom>
          <a:noFill/>
          <a:ln/>
        </p:spPr>
        <p:txBody>
          <a:bodyPr wrap="square" lIns="0" tIns="0" rIns="0" bIns="0" rtlCol="0" anchor="ctr"/>
          <a:lstStyle/>
          <a:p>
            <a:pPr indent="0" marL="0">
              <a:buNone/>
            </a:pPr>
            <a:r>
              <a:rPr lang="en-US" sz="1050" b="1" spc="50" kern="0" dirty="0">
                <a:solidFill>
                  <a:srgbClr val="0D7D71"/>
                </a:solidFill>
                <a:latin typeface="Calibri" pitchFamily="34" charset="0"/>
                <a:ea typeface="Calibri" pitchFamily="34" charset="-122"/>
                <a:cs typeface="Calibri" pitchFamily="34" charset="-120"/>
              </a:rPr>
              <a:t>A · WHICH PRESS — clamp force from the measured shadow</a:t>
            </a:r>
            <a:endParaRPr lang="en-US" sz="1050" dirty="0"/>
          </a:p>
        </p:txBody>
      </p:sp>
      <p:sp>
        <p:nvSpPr>
          <p:cNvPr id="9" name="Text 7"/>
          <p:cNvSpPr/>
          <p:nvPr/>
        </p:nvSpPr>
        <p:spPr>
          <a:xfrm>
            <a:off x="685800" y="159105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Projected shadow, measured off the CAD</a:t>
            </a:r>
            <a:endParaRPr lang="en-US" sz="1020" dirty="0"/>
          </a:p>
        </p:txBody>
      </p:sp>
      <p:sp>
        <p:nvSpPr>
          <p:cNvPr id="10" name="Text 8"/>
          <p:cNvSpPr/>
          <p:nvPr/>
        </p:nvSpPr>
        <p:spPr>
          <a:xfrm>
            <a:off x="4297680" y="159105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1,650 cm²</a:t>
            </a:r>
            <a:endParaRPr lang="en-US" sz="1020" dirty="0"/>
          </a:p>
        </p:txBody>
      </p:sp>
      <p:sp>
        <p:nvSpPr>
          <p:cNvPr id="11" name="Text 9"/>
          <p:cNvSpPr/>
          <p:nvPr/>
        </p:nvSpPr>
        <p:spPr>
          <a:xfrm>
            <a:off x="685800" y="186537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 cavity pressure for aluminium HPDC</a:t>
            </a:r>
            <a:endParaRPr lang="en-US" sz="1020" dirty="0"/>
          </a:p>
        </p:txBody>
      </p:sp>
      <p:sp>
        <p:nvSpPr>
          <p:cNvPr id="12" name="Text 10"/>
          <p:cNvSpPr/>
          <p:nvPr/>
        </p:nvSpPr>
        <p:spPr>
          <a:xfrm>
            <a:off x="4297680" y="186537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70 MPa</a:t>
            </a:r>
            <a:endParaRPr lang="en-US" sz="1020" dirty="0"/>
          </a:p>
        </p:txBody>
      </p:sp>
      <p:sp>
        <p:nvSpPr>
          <p:cNvPr id="13" name="Text 11"/>
          <p:cNvSpPr/>
          <p:nvPr/>
        </p:nvSpPr>
        <p:spPr>
          <a:xfrm>
            <a:off x="685800" y="213969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 force trying to blow the die open</a:t>
            </a:r>
            <a:endParaRPr lang="en-US" sz="1020" dirty="0"/>
          </a:p>
        </p:txBody>
      </p:sp>
      <p:sp>
        <p:nvSpPr>
          <p:cNvPr id="14" name="Text 12"/>
          <p:cNvSpPr/>
          <p:nvPr/>
        </p:nvSpPr>
        <p:spPr>
          <a:xfrm>
            <a:off x="4297680" y="213969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1,178 t</a:t>
            </a:r>
            <a:endParaRPr lang="en-US" sz="1020" dirty="0"/>
          </a:p>
        </p:txBody>
      </p:sp>
      <p:sp>
        <p:nvSpPr>
          <p:cNvPr id="15" name="Text 13"/>
          <p:cNvSpPr/>
          <p:nvPr/>
        </p:nvSpPr>
        <p:spPr>
          <a:xfrm>
            <a:off x="685800" y="2414016"/>
            <a:ext cx="3703320" cy="274320"/>
          </a:xfrm>
          <a:prstGeom prst="rect">
            <a:avLst/>
          </a:prstGeom>
          <a:noFill/>
          <a:ln/>
        </p:spPr>
        <p:txBody>
          <a:bodyPr wrap="square" lIns="0" tIns="0" rIns="0" bIns="0" rtlCol="0" anchor="ctr"/>
          <a:lstStyle/>
          <a:p>
            <a:pPr indent="0" marL="0">
              <a:buNone/>
            </a:pPr>
            <a:r>
              <a:rPr lang="en-US" sz="1020" b="1" dirty="0">
                <a:solidFill>
                  <a:srgbClr val="16325C"/>
                </a:solidFill>
                <a:latin typeface="Calibri" pitchFamily="34" charset="0"/>
                <a:ea typeface="Calibri" pitchFamily="34" charset="-122"/>
                <a:cs typeface="Calibri" pitchFamily="34" charset="-120"/>
              </a:rPr>
              <a:t>× 1.2 safety factor (engine constant)</a:t>
            </a:r>
            <a:endParaRPr lang="en-US" sz="1020" dirty="0"/>
          </a:p>
        </p:txBody>
      </p:sp>
      <p:sp>
        <p:nvSpPr>
          <p:cNvPr id="16" name="Text 14"/>
          <p:cNvSpPr/>
          <p:nvPr/>
        </p:nvSpPr>
        <p:spPr>
          <a:xfrm>
            <a:off x="4297680" y="2414016"/>
            <a:ext cx="1463040" cy="274320"/>
          </a:xfrm>
          <a:prstGeom prst="rect">
            <a:avLst/>
          </a:prstGeom>
          <a:noFill/>
          <a:ln/>
        </p:spPr>
        <p:txBody>
          <a:bodyPr wrap="square" lIns="0" tIns="0" rIns="0" bIns="0" rtlCol="0" anchor="ctr"/>
          <a:lstStyle/>
          <a:p>
            <a:pPr algn="r" indent="0" marL="0">
              <a:buNone/>
            </a:pPr>
            <a:r>
              <a:rPr lang="en-US" sz="1020" b="1" dirty="0">
                <a:solidFill>
                  <a:srgbClr val="0D7D71"/>
                </a:solidFill>
                <a:latin typeface="Calibri" pitchFamily="34" charset="0"/>
                <a:ea typeface="Calibri" pitchFamily="34" charset="-122"/>
                <a:cs typeface="Calibri" pitchFamily="34" charset="-120"/>
              </a:rPr>
              <a:t>1,413 t</a:t>
            </a:r>
            <a:endParaRPr lang="en-US" sz="1020" dirty="0"/>
          </a:p>
        </p:txBody>
      </p:sp>
      <p:sp>
        <p:nvSpPr>
          <p:cNvPr id="17" name="Text 15"/>
          <p:cNvSpPr/>
          <p:nvPr/>
        </p:nvSpPr>
        <p:spPr>
          <a:xfrm>
            <a:off x="685800" y="2779776"/>
            <a:ext cx="5074920" cy="219456"/>
          </a:xfrm>
          <a:prstGeom prst="rect">
            <a:avLst/>
          </a:prstGeom>
          <a:noFill/>
          <a:ln/>
        </p:spPr>
        <p:txBody>
          <a:bodyPr wrap="square" lIns="0" tIns="0" rIns="0" bIns="0" rtlCol="0" anchor="ctr"/>
          <a:lstStyle/>
          <a:p>
            <a:pPr indent="0" marL="0">
              <a:buNone/>
            </a:pPr>
            <a:r>
              <a:rPr lang="en-US" sz="900" b="1" i="1" dirty="0">
                <a:solidFill>
                  <a:srgbClr val="686F7D"/>
                </a:solidFill>
                <a:latin typeface="Calibri" pitchFamily="34" charset="0"/>
                <a:ea typeface="Calibri" pitchFamily="34" charset="-122"/>
                <a:cs typeface="Calibri" pitchFamily="34" charset="-120"/>
              </a:rPr>
              <a:t>Then the ladder — smallest machine that covers it</a:t>
            </a:r>
            <a:endParaRPr lang="en-US" sz="900" dirty="0"/>
          </a:p>
        </p:txBody>
      </p:sp>
      <p:sp>
        <p:nvSpPr>
          <p:cNvPr id="18" name="Text 16"/>
          <p:cNvSpPr/>
          <p:nvPr/>
        </p:nvSpPr>
        <p:spPr>
          <a:xfrm>
            <a:off x="804672" y="3017520"/>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160 t</a:t>
            </a:r>
            <a:endParaRPr lang="en-US" sz="1000" dirty="0"/>
          </a:p>
        </p:txBody>
      </p:sp>
      <p:sp>
        <p:nvSpPr>
          <p:cNvPr id="19" name="Text 17"/>
          <p:cNvSpPr/>
          <p:nvPr/>
        </p:nvSpPr>
        <p:spPr>
          <a:xfrm>
            <a:off x="1920240" y="3017520"/>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£18.66/hr</a:t>
            </a:r>
            <a:endParaRPr lang="en-US" sz="1000" dirty="0"/>
          </a:p>
        </p:txBody>
      </p:sp>
      <p:sp>
        <p:nvSpPr>
          <p:cNvPr id="20" name="Text 18"/>
          <p:cNvSpPr/>
          <p:nvPr/>
        </p:nvSpPr>
        <p:spPr>
          <a:xfrm>
            <a:off x="3337560" y="3017520"/>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1" name="Text 19"/>
          <p:cNvSpPr/>
          <p:nvPr/>
        </p:nvSpPr>
        <p:spPr>
          <a:xfrm>
            <a:off x="804672" y="3300984"/>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500 t</a:t>
            </a:r>
            <a:endParaRPr lang="en-US" sz="1000" dirty="0"/>
          </a:p>
        </p:txBody>
      </p:sp>
      <p:sp>
        <p:nvSpPr>
          <p:cNvPr id="22" name="Text 20"/>
          <p:cNvSpPr/>
          <p:nvPr/>
        </p:nvSpPr>
        <p:spPr>
          <a:xfrm>
            <a:off x="1920240" y="3300984"/>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£52.47/hr</a:t>
            </a:r>
            <a:endParaRPr lang="en-US" sz="1000" dirty="0"/>
          </a:p>
        </p:txBody>
      </p:sp>
      <p:sp>
        <p:nvSpPr>
          <p:cNvPr id="23" name="Text 21"/>
          <p:cNvSpPr/>
          <p:nvPr/>
        </p:nvSpPr>
        <p:spPr>
          <a:xfrm>
            <a:off x="3337560" y="3300984"/>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4" name="Text 22"/>
          <p:cNvSpPr/>
          <p:nvPr/>
        </p:nvSpPr>
        <p:spPr>
          <a:xfrm>
            <a:off x="804672" y="3584448"/>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800 t</a:t>
            </a:r>
            <a:endParaRPr lang="en-US" sz="1000" dirty="0"/>
          </a:p>
        </p:txBody>
      </p:sp>
      <p:sp>
        <p:nvSpPr>
          <p:cNvPr id="25" name="Text 23"/>
          <p:cNvSpPr/>
          <p:nvPr/>
        </p:nvSpPr>
        <p:spPr>
          <a:xfrm>
            <a:off x="1920240" y="3584448"/>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£79.12/hr</a:t>
            </a:r>
            <a:endParaRPr lang="en-US" sz="1000" dirty="0"/>
          </a:p>
        </p:txBody>
      </p:sp>
      <p:sp>
        <p:nvSpPr>
          <p:cNvPr id="26" name="Text 24"/>
          <p:cNvSpPr/>
          <p:nvPr/>
        </p:nvSpPr>
        <p:spPr>
          <a:xfrm>
            <a:off x="3337560" y="3584448"/>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7" name="Shape 25"/>
          <p:cNvSpPr/>
          <p:nvPr/>
        </p:nvSpPr>
        <p:spPr>
          <a:xfrm>
            <a:off x="640080" y="3840480"/>
            <a:ext cx="5148072" cy="301752"/>
          </a:xfrm>
          <a:prstGeom prst="roundRect">
            <a:avLst>
              <a:gd name="adj" fmla="val 18182"/>
            </a:avLst>
          </a:prstGeom>
          <a:solidFill>
            <a:srgbClr val="FFFFFF"/>
          </a:solidFill>
          <a:ln w="15875">
            <a:solidFill>
              <a:srgbClr val="0D7D71"/>
            </a:solidFill>
            <a:prstDash val="solid"/>
          </a:ln>
        </p:spPr>
      </p:sp>
      <p:sp>
        <p:nvSpPr>
          <p:cNvPr id="28" name="Text 26"/>
          <p:cNvSpPr/>
          <p:nvPr/>
        </p:nvSpPr>
        <p:spPr>
          <a:xfrm>
            <a:off x="804672" y="3867912"/>
            <a:ext cx="1097280" cy="256032"/>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1,600 t</a:t>
            </a:r>
            <a:endParaRPr lang="en-US" sz="1000" dirty="0"/>
          </a:p>
        </p:txBody>
      </p:sp>
      <p:sp>
        <p:nvSpPr>
          <p:cNvPr id="29" name="Text 27"/>
          <p:cNvSpPr/>
          <p:nvPr/>
        </p:nvSpPr>
        <p:spPr>
          <a:xfrm>
            <a:off x="1920240" y="3867912"/>
            <a:ext cx="1280160" cy="256032"/>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£137.55/hr</a:t>
            </a:r>
            <a:endParaRPr lang="en-US" sz="1000" dirty="0"/>
          </a:p>
        </p:txBody>
      </p:sp>
      <p:sp>
        <p:nvSpPr>
          <p:cNvPr id="30" name="Text 28"/>
          <p:cNvSpPr/>
          <p:nvPr/>
        </p:nvSpPr>
        <p:spPr>
          <a:xfrm>
            <a:off x="3337560" y="3867912"/>
            <a:ext cx="2423160" cy="256032"/>
          </a:xfrm>
          <a:prstGeom prst="rect">
            <a:avLst/>
          </a:prstGeom>
          <a:noFill/>
          <a:ln/>
        </p:spPr>
        <p:txBody>
          <a:bodyPr wrap="square" lIns="0" tIns="0" rIns="0" bIns="0" rtlCol="0" anchor="ctr"/>
          <a:lstStyle/>
          <a:p>
            <a:pPr indent="0" marL="0">
              <a:buNone/>
            </a:pPr>
            <a:r>
              <a:rPr lang="en-US" sz="880" b="1" dirty="0">
                <a:solidFill>
                  <a:srgbClr val="0D7D71"/>
                </a:solidFill>
                <a:latin typeface="Calibri" pitchFamily="34" charset="0"/>
                <a:ea typeface="Calibri" pitchFamily="34" charset="-122"/>
                <a:cs typeface="Calibri" pitchFamily="34" charset="-120"/>
              </a:rPr>
              <a:t>CHOSEN</a:t>
            </a:r>
            <a:endParaRPr lang="en-US" sz="880" dirty="0"/>
          </a:p>
        </p:txBody>
      </p:sp>
      <p:sp>
        <p:nvSpPr>
          <p:cNvPr id="31" name="Text 29"/>
          <p:cNvSpPr/>
          <p:nvPr/>
        </p:nvSpPr>
        <p:spPr>
          <a:xfrm>
            <a:off x="685800" y="4151376"/>
            <a:ext cx="5074920" cy="237744"/>
          </a:xfrm>
          <a:prstGeom prst="rect">
            <a:avLst/>
          </a:prstGeom>
          <a:noFill/>
          <a:ln/>
        </p:spPr>
        <p:txBody>
          <a:bodyPr wrap="square" lIns="0" tIns="0" rIns="0" bIns="0" rtlCol="0" anchor="ctr"/>
          <a:lstStyle/>
          <a:p>
            <a:pPr indent="0" marL="0">
              <a:buNone/>
            </a:pPr>
            <a:r>
              <a:rPr lang="en-US" sz="860" i="1" dirty="0">
                <a:solidFill>
                  <a:srgbClr val="686F7D"/>
                </a:solidFill>
                <a:latin typeface="Calibri" pitchFamily="34" charset="0"/>
                <a:ea typeface="Calibri" pitchFamily="34" charset="-122"/>
                <a:cs typeface="Calibri" pitchFamily="34" charset="-120"/>
              </a:rPr>
              <a:t>The CAD rules path sizes by mass instead; the self-audit flags a wrong size.</a:t>
            </a:r>
            <a:endParaRPr lang="en-US" sz="860" dirty="0"/>
          </a:p>
        </p:txBody>
      </p:sp>
      <p:sp>
        <p:nvSpPr>
          <p:cNvPr id="32" name="Shape 30"/>
          <p:cNvSpPr/>
          <p:nvPr/>
        </p:nvSpPr>
        <p:spPr>
          <a:xfrm>
            <a:off x="6199632" y="1188720"/>
            <a:ext cx="5532120" cy="3246120"/>
          </a:xfrm>
          <a:prstGeom prst="roundRect">
            <a:avLst>
              <a:gd name="adj" fmla="val 2817"/>
            </a:avLst>
          </a:prstGeom>
          <a:solidFill>
            <a:srgbClr val="FFFFFF"/>
          </a:solidFill>
          <a:ln w="12700">
            <a:solidFill>
              <a:srgbClr val="DCE3EE"/>
            </a:solidFill>
            <a:prstDash val="solid"/>
          </a:ln>
        </p:spPr>
      </p:sp>
      <p:sp>
        <p:nvSpPr>
          <p:cNvPr id="33" name="Text 31"/>
          <p:cNvSpPr/>
          <p:nvPr/>
        </p:nvSpPr>
        <p:spPr>
          <a:xfrm>
            <a:off x="6428232" y="1298448"/>
            <a:ext cx="5029200" cy="237744"/>
          </a:xfrm>
          <a:prstGeom prst="rect">
            <a:avLst/>
          </a:prstGeom>
          <a:noFill/>
          <a:ln/>
        </p:spPr>
        <p:txBody>
          <a:bodyPr wrap="square" lIns="0" tIns="0" rIns="0" bIns="0" rtlCol="0" anchor="ctr"/>
          <a:lstStyle/>
          <a:p>
            <a:pPr indent="0" marL="0">
              <a:buNone/>
            </a:pPr>
            <a:r>
              <a:rPr lang="en-US" sz="1050" b="1" spc="50" kern="0" dirty="0">
                <a:solidFill>
                  <a:srgbClr val="16325C"/>
                </a:solidFill>
                <a:latin typeface="Calibri" pitchFamily="34" charset="0"/>
                <a:ea typeface="Calibri" pitchFamily="34" charset="-122"/>
                <a:cs typeface="Calibri" pitchFamily="34" charset="-120"/>
              </a:rPr>
              <a:t>B · WHERE THE CUTTING MINUTES COME FROM</a:t>
            </a:r>
            <a:endParaRPr lang="en-US" sz="1050" dirty="0"/>
          </a:p>
        </p:txBody>
      </p:sp>
      <p:sp>
        <p:nvSpPr>
          <p:cNvPr id="34" name="Text 32"/>
          <p:cNvSpPr/>
          <p:nvPr/>
        </p:nvSpPr>
        <p:spPr>
          <a:xfrm>
            <a:off x="6428232" y="1572768"/>
            <a:ext cx="5074920" cy="274320"/>
          </a:xfrm>
          <a:prstGeom prst="rect">
            <a:avLst/>
          </a:prstGeom>
          <a:noFill/>
          <a:ln/>
        </p:spPr>
        <p:txBody>
          <a:bodyPr wrap="square" lIns="0" tIns="0" rIns="0" bIns="0" rtlCol="0" anchor="t"/>
          <a:lstStyle/>
          <a:p>
            <a:pPr indent="0" marL="0">
              <a:buNone/>
            </a:pPr>
            <a:r>
              <a:rPr lang="en-US" sz="960" dirty="0">
                <a:solidFill>
                  <a:srgbClr val="3A4356"/>
                </a:solidFill>
                <a:latin typeface="Calibri" pitchFamily="34" charset="0"/>
                <a:ea typeface="Calibri" pitchFamily="34" charset="-122"/>
                <a:cs typeface="Calibri" pitchFamily="34" charset="-120"/>
              </a:rPr>
              <a:t>Every feature the kernel measured gets its own time, from a published shop formula:</a:t>
            </a:r>
            <a:endParaRPr lang="en-US" sz="960" dirty="0"/>
          </a:p>
        </p:txBody>
      </p:sp>
      <p:sp>
        <p:nvSpPr>
          <p:cNvPr id="35" name="Text 33"/>
          <p:cNvSpPr/>
          <p:nvPr/>
        </p:nvSpPr>
        <p:spPr>
          <a:xfrm>
            <a:off x="6428232" y="1883664"/>
            <a:ext cx="1828800" cy="201168"/>
          </a:xfrm>
          <a:prstGeom prst="rect">
            <a:avLst/>
          </a:prstGeom>
          <a:noFill/>
          <a:ln/>
        </p:spPr>
        <p:txBody>
          <a:bodyPr wrap="square" lIns="0" tIns="0" rIns="0" bIns="0" rtlCol="0" anchor="ctr"/>
          <a:lstStyle/>
          <a:p>
            <a:pPr algn="l" indent="0" marL="0">
              <a:buNone/>
            </a:pPr>
            <a:r>
              <a:rPr lang="en-US" sz="840" b="1" dirty="0">
                <a:solidFill>
                  <a:srgbClr val="686F7D"/>
                </a:solidFill>
                <a:latin typeface="Calibri" pitchFamily="34" charset="0"/>
                <a:ea typeface="Calibri" pitchFamily="34" charset="-122"/>
                <a:cs typeface="Calibri" pitchFamily="34" charset="-120"/>
              </a:rPr>
              <a:t>Feature (measured)</a:t>
            </a:r>
            <a:endParaRPr lang="en-US" sz="840" dirty="0"/>
          </a:p>
        </p:txBody>
      </p:sp>
      <p:sp>
        <p:nvSpPr>
          <p:cNvPr id="36" name="Text 34"/>
          <p:cNvSpPr/>
          <p:nvPr/>
        </p:nvSpPr>
        <p:spPr>
          <a:xfrm>
            <a:off x="8275320" y="1883664"/>
            <a:ext cx="1783080" cy="201168"/>
          </a:xfrm>
          <a:prstGeom prst="rect">
            <a:avLst/>
          </a:prstGeom>
          <a:noFill/>
          <a:ln/>
        </p:spPr>
        <p:txBody>
          <a:bodyPr wrap="square" lIns="0" tIns="0" rIns="0" bIns="0" rtlCol="0" anchor="ctr"/>
          <a:lstStyle/>
          <a:p>
            <a:pPr algn="l" indent="0" marL="0">
              <a:buNone/>
            </a:pPr>
            <a:r>
              <a:rPr lang="en-US" sz="840" b="1" dirty="0">
                <a:solidFill>
                  <a:srgbClr val="686F7D"/>
                </a:solidFill>
                <a:latin typeface="Calibri" pitchFamily="34" charset="0"/>
                <a:ea typeface="Calibri" pitchFamily="34" charset="-122"/>
                <a:cs typeface="Calibri" pitchFamily="34" charset="-120"/>
              </a:rPr>
              <a:t>Formula</a:t>
            </a:r>
            <a:endParaRPr lang="en-US" sz="840" dirty="0"/>
          </a:p>
        </p:txBody>
      </p:sp>
      <p:sp>
        <p:nvSpPr>
          <p:cNvPr id="37" name="Text 35"/>
          <p:cNvSpPr/>
          <p:nvPr/>
        </p:nvSpPr>
        <p:spPr>
          <a:xfrm>
            <a:off x="10104120" y="1883664"/>
            <a:ext cx="777240" cy="201168"/>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Each</a:t>
            </a:r>
            <a:endParaRPr lang="en-US" sz="840" dirty="0"/>
          </a:p>
        </p:txBody>
      </p:sp>
      <p:sp>
        <p:nvSpPr>
          <p:cNvPr id="38" name="Text 36"/>
          <p:cNvSpPr/>
          <p:nvPr/>
        </p:nvSpPr>
        <p:spPr>
          <a:xfrm>
            <a:off x="10927080" y="1883664"/>
            <a:ext cx="640080" cy="201168"/>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Total</a:t>
            </a:r>
            <a:endParaRPr lang="en-US" sz="840" dirty="0"/>
          </a:p>
        </p:txBody>
      </p:sp>
      <p:sp>
        <p:nvSpPr>
          <p:cNvPr id="39" name="Shape 37"/>
          <p:cNvSpPr/>
          <p:nvPr/>
        </p:nvSpPr>
        <p:spPr>
          <a:xfrm>
            <a:off x="6355080" y="2084832"/>
            <a:ext cx="5230368" cy="292608"/>
          </a:xfrm>
          <a:prstGeom prst="rect">
            <a:avLst/>
          </a:prstGeom>
          <a:solidFill>
            <a:srgbClr val="F4F7FB"/>
          </a:solidFill>
          <a:ln/>
        </p:spPr>
      </p:sp>
      <p:sp>
        <p:nvSpPr>
          <p:cNvPr id="40" name="Text 38"/>
          <p:cNvSpPr/>
          <p:nvPr/>
        </p:nvSpPr>
        <p:spPr>
          <a:xfrm>
            <a:off x="6428232" y="2103120"/>
            <a:ext cx="1828800" cy="274320"/>
          </a:xfrm>
          <a:prstGeom prst="rect">
            <a:avLst/>
          </a:prstGeom>
          <a:noFill/>
          <a:ln/>
        </p:spPr>
        <p:txBody>
          <a:bodyPr wrap="square" lIns="0" tIns="0" rIns="0" bIns="0" rtlCol="0" anchor="ctr"/>
          <a:lstStyle/>
          <a:p>
            <a:pPr algn="l" indent="0" marL="0">
              <a:buNone/>
            </a:pPr>
            <a:r>
              <a:rPr lang="en-US" sz="880" dirty="0">
                <a:solidFill>
                  <a:srgbClr val="3A4356"/>
                </a:solidFill>
                <a:latin typeface="Calibri" pitchFamily="34" charset="0"/>
                <a:ea typeface="Calibri" pitchFamily="34" charset="-122"/>
                <a:cs typeface="Calibri" pitchFamily="34" charset="-120"/>
              </a:rPr>
              <a:t>2 faces, 180×120 mm</a:t>
            </a:r>
            <a:endParaRPr lang="en-US" sz="880" dirty="0"/>
          </a:p>
        </p:txBody>
      </p:sp>
      <p:sp>
        <p:nvSpPr>
          <p:cNvPr id="41" name="Text 39"/>
          <p:cNvSpPr/>
          <p:nvPr/>
        </p:nvSpPr>
        <p:spPr>
          <a:xfrm>
            <a:off x="8275320" y="2103120"/>
            <a:ext cx="1783080" cy="274320"/>
          </a:xfrm>
          <a:prstGeom prst="rect">
            <a:avLst/>
          </a:prstGeom>
          <a:noFill/>
          <a:ln/>
        </p:spPr>
        <p:txBody>
          <a:bodyPr wrap="square" lIns="0" tIns="0" rIns="0" bIns="0" rtlCol="0" anchor="ctr"/>
          <a:lstStyle/>
          <a:p>
            <a:pPr algn="l" indent="0" marL="0">
              <a:buNone/>
            </a:pPr>
            <a:r>
              <a:rPr lang="en-US" sz="880" dirty="0">
                <a:solidFill>
                  <a:srgbClr val="686F7D"/>
                </a:solidFill>
                <a:latin typeface="Calibri" pitchFamily="34" charset="0"/>
                <a:ea typeface="Calibri" pitchFamily="34" charset="-122"/>
                <a:cs typeface="Calibri" pitchFamily="34" charset="-120"/>
              </a:rPr>
              <a:t>0.20 + area/8000</a:t>
            </a:r>
            <a:endParaRPr lang="en-US" sz="880" dirty="0"/>
          </a:p>
        </p:txBody>
      </p:sp>
      <p:sp>
        <p:nvSpPr>
          <p:cNvPr id="42" name="Text 40"/>
          <p:cNvSpPr/>
          <p:nvPr/>
        </p:nvSpPr>
        <p:spPr>
          <a:xfrm>
            <a:off x="10104120" y="2103120"/>
            <a:ext cx="777240" cy="274320"/>
          </a:xfrm>
          <a:prstGeom prst="rect">
            <a:avLst/>
          </a:prstGeom>
          <a:noFill/>
          <a:ln/>
        </p:spPr>
        <p:txBody>
          <a:bodyPr wrap="square" lIns="0" tIns="0" rIns="0" bIns="0" rtlCol="0" anchor="ctr"/>
          <a:lstStyle/>
          <a:p>
            <a:pPr algn="r" indent="0" marL="0">
              <a:buNone/>
            </a:pPr>
            <a:r>
              <a:rPr lang="en-US" sz="880" dirty="0">
                <a:solidFill>
                  <a:srgbClr val="3A4356"/>
                </a:solidFill>
                <a:latin typeface="Calibri" pitchFamily="34" charset="0"/>
                <a:ea typeface="Calibri" pitchFamily="34" charset="-122"/>
                <a:cs typeface="Calibri" pitchFamily="34" charset="-120"/>
              </a:rPr>
              <a:t>3.77 min</a:t>
            </a:r>
            <a:endParaRPr lang="en-US" sz="880" dirty="0"/>
          </a:p>
        </p:txBody>
      </p:sp>
      <p:sp>
        <p:nvSpPr>
          <p:cNvPr id="43" name="Text 41"/>
          <p:cNvSpPr/>
          <p:nvPr/>
        </p:nvSpPr>
        <p:spPr>
          <a:xfrm>
            <a:off x="10927080" y="2103120"/>
            <a:ext cx="640080" cy="274320"/>
          </a:xfrm>
          <a:prstGeom prst="rect">
            <a:avLst/>
          </a:prstGeom>
          <a:noFill/>
          <a:ln/>
        </p:spPr>
        <p:txBody>
          <a:bodyPr wrap="square" lIns="0" tIns="0" rIns="0" bIns="0" rtlCol="0" anchor="ctr"/>
          <a:lstStyle/>
          <a:p>
            <a:pPr algn="r" indent="0" marL="0">
              <a:buNone/>
            </a:pPr>
            <a:r>
              <a:rPr lang="en-US" sz="880" b="1" dirty="0">
                <a:solidFill>
                  <a:srgbClr val="3A4356"/>
                </a:solidFill>
                <a:latin typeface="Calibri" pitchFamily="34" charset="0"/>
                <a:ea typeface="Calibri" pitchFamily="34" charset="-122"/>
                <a:cs typeface="Calibri" pitchFamily="34" charset="-120"/>
              </a:rPr>
              <a:t>7.54</a:t>
            </a:r>
            <a:endParaRPr lang="en-US" sz="880" dirty="0"/>
          </a:p>
        </p:txBody>
      </p:sp>
      <p:sp>
        <p:nvSpPr>
          <p:cNvPr id="44" name="Text 42"/>
          <p:cNvSpPr/>
          <p:nvPr/>
        </p:nvSpPr>
        <p:spPr>
          <a:xfrm>
            <a:off x="6428232" y="2414016"/>
            <a:ext cx="1828800" cy="274320"/>
          </a:xfrm>
          <a:prstGeom prst="rect">
            <a:avLst/>
          </a:prstGeom>
          <a:noFill/>
          <a:ln/>
        </p:spPr>
        <p:txBody>
          <a:bodyPr wrap="square" lIns="0" tIns="0" rIns="0" bIns="0" rtlCol="0" anchor="ctr"/>
          <a:lstStyle/>
          <a:p>
            <a:pPr algn="l" indent="0" marL="0">
              <a:buNone/>
            </a:pPr>
            <a:r>
              <a:rPr lang="en-US" sz="880" dirty="0">
                <a:solidFill>
                  <a:srgbClr val="3A4356"/>
                </a:solidFill>
                <a:latin typeface="Calibri" pitchFamily="34" charset="0"/>
                <a:ea typeface="Calibri" pitchFamily="34" charset="-122"/>
                <a:cs typeface="Calibri" pitchFamily="34" charset="-120"/>
              </a:rPr>
              <a:t>2 bores, Ø40 × 45 mm</a:t>
            </a:r>
            <a:endParaRPr lang="en-US" sz="880" dirty="0"/>
          </a:p>
        </p:txBody>
      </p:sp>
      <p:sp>
        <p:nvSpPr>
          <p:cNvPr id="45" name="Text 43"/>
          <p:cNvSpPr/>
          <p:nvPr/>
        </p:nvSpPr>
        <p:spPr>
          <a:xfrm>
            <a:off x="8275320" y="2414016"/>
            <a:ext cx="1783080" cy="274320"/>
          </a:xfrm>
          <a:prstGeom prst="rect">
            <a:avLst/>
          </a:prstGeom>
          <a:noFill/>
          <a:ln/>
        </p:spPr>
        <p:txBody>
          <a:bodyPr wrap="square" lIns="0" tIns="0" rIns="0" bIns="0" rtlCol="0" anchor="ctr"/>
          <a:lstStyle/>
          <a:p>
            <a:pPr algn="l" indent="0" marL="0">
              <a:buNone/>
            </a:pPr>
            <a:r>
              <a:rPr lang="en-US" sz="880" dirty="0">
                <a:solidFill>
                  <a:srgbClr val="686F7D"/>
                </a:solidFill>
                <a:latin typeface="Calibri" pitchFamily="34" charset="0"/>
                <a:ea typeface="Calibri" pitchFamily="34" charset="-122"/>
                <a:cs typeface="Calibri" pitchFamily="34" charset="-120"/>
              </a:rPr>
              <a:t>0.50 + 45×0.050</a:t>
            </a:r>
            <a:endParaRPr lang="en-US" sz="880" dirty="0"/>
          </a:p>
        </p:txBody>
      </p:sp>
      <p:sp>
        <p:nvSpPr>
          <p:cNvPr id="46" name="Text 44"/>
          <p:cNvSpPr/>
          <p:nvPr/>
        </p:nvSpPr>
        <p:spPr>
          <a:xfrm>
            <a:off x="10104120" y="2414016"/>
            <a:ext cx="777240" cy="274320"/>
          </a:xfrm>
          <a:prstGeom prst="rect">
            <a:avLst/>
          </a:prstGeom>
          <a:noFill/>
          <a:ln/>
        </p:spPr>
        <p:txBody>
          <a:bodyPr wrap="square" lIns="0" tIns="0" rIns="0" bIns="0" rtlCol="0" anchor="ctr"/>
          <a:lstStyle/>
          <a:p>
            <a:pPr algn="r" indent="0" marL="0">
              <a:buNone/>
            </a:pPr>
            <a:r>
              <a:rPr lang="en-US" sz="880" dirty="0">
                <a:solidFill>
                  <a:srgbClr val="3A4356"/>
                </a:solidFill>
                <a:latin typeface="Calibri" pitchFamily="34" charset="0"/>
                <a:ea typeface="Calibri" pitchFamily="34" charset="-122"/>
                <a:cs typeface="Calibri" pitchFamily="34" charset="-120"/>
              </a:rPr>
              <a:t>3.58 min</a:t>
            </a:r>
            <a:endParaRPr lang="en-US" sz="880" dirty="0"/>
          </a:p>
        </p:txBody>
      </p:sp>
      <p:sp>
        <p:nvSpPr>
          <p:cNvPr id="47" name="Text 45"/>
          <p:cNvSpPr/>
          <p:nvPr/>
        </p:nvSpPr>
        <p:spPr>
          <a:xfrm>
            <a:off x="10927080" y="2414016"/>
            <a:ext cx="640080" cy="274320"/>
          </a:xfrm>
          <a:prstGeom prst="rect">
            <a:avLst/>
          </a:prstGeom>
          <a:noFill/>
          <a:ln/>
        </p:spPr>
        <p:txBody>
          <a:bodyPr wrap="square" lIns="0" tIns="0" rIns="0" bIns="0" rtlCol="0" anchor="ctr"/>
          <a:lstStyle/>
          <a:p>
            <a:pPr algn="r" indent="0" marL="0">
              <a:buNone/>
            </a:pPr>
            <a:r>
              <a:rPr lang="en-US" sz="880" b="1" dirty="0">
                <a:solidFill>
                  <a:srgbClr val="3A4356"/>
                </a:solidFill>
                <a:latin typeface="Calibri" pitchFamily="34" charset="0"/>
                <a:ea typeface="Calibri" pitchFamily="34" charset="-122"/>
                <a:cs typeface="Calibri" pitchFamily="34" charset="-120"/>
              </a:rPr>
              <a:t>7.15</a:t>
            </a:r>
            <a:endParaRPr lang="en-US" sz="880" dirty="0"/>
          </a:p>
        </p:txBody>
      </p:sp>
      <p:sp>
        <p:nvSpPr>
          <p:cNvPr id="48" name="Shape 46"/>
          <p:cNvSpPr/>
          <p:nvPr/>
        </p:nvSpPr>
        <p:spPr>
          <a:xfrm>
            <a:off x="6355080" y="2706624"/>
            <a:ext cx="5230368" cy="292608"/>
          </a:xfrm>
          <a:prstGeom prst="rect">
            <a:avLst/>
          </a:prstGeom>
          <a:solidFill>
            <a:srgbClr val="F4F7FB"/>
          </a:solidFill>
          <a:ln/>
        </p:spPr>
      </p:sp>
      <p:sp>
        <p:nvSpPr>
          <p:cNvPr id="49" name="Text 47"/>
          <p:cNvSpPr/>
          <p:nvPr/>
        </p:nvSpPr>
        <p:spPr>
          <a:xfrm>
            <a:off x="6428232" y="2724912"/>
            <a:ext cx="1828800" cy="274320"/>
          </a:xfrm>
          <a:prstGeom prst="rect">
            <a:avLst/>
          </a:prstGeom>
          <a:noFill/>
          <a:ln/>
        </p:spPr>
        <p:txBody>
          <a:bodyPr wrap="square" lIns="0" tIns="0" rIns="0" bIns="0" rtlCol="0" anchor="ctr"/>
          <a:lstStyle/>
          <a:p>
            <a:pPr algn="l" indent="0" marL="0">
              <a:buNone/>
            </a:pPr>
            <a:r>
              <a:rPr lang="en-US" sz="880" dirty="0">
                <a:solidFill>
                  <a:srgbClr val="3A4356"/>
                </a:solidFill>
                <a:latin typeface="Calibri" pitchFamily="34" charset="0"/>
                <a:ea typeface="Calibri" pitchFamily="34" charset="-122"/>
                <a:cs typeface="Calibri" pitchFamily="34" charset="-120"/>
              </a:rPr>
              <a:t>16 holes, Ø8 × 20 blind</a:t>
            </a:r>
            <a:endParaRPr lang="en-US" sz="880" dirty="0"/>
          </a:p>
        </p:txBody>
      </p:sp>
      <p:sp>
        <p:nvSpPr>
          <p:cNvPr id="50" name="Text 48"/>
          <p:cNvSpPr/>
          <p:nvPr/>
        </p:nvSpPr>
        <p:spPr>
          <a:xfrm>
            <a:off x="8275320" y="2724912"/>
            <a:ext cx="1783080" cy="274320"/>
          </a:xfrm>
          <a:prstGeom prst="rect">
            <a:avLst/>
          </a:prstGeom>
          <a:noFill/>
          <a:ln/>
        </p:spPr>
        <p:txBody>
          <a:bodyPr wrap="square" lIns="0" tIns="0" rIns="0" bIns="0" rtlCol="0" anchor="ctr"/>
          <a:lstStyle/>
          <a:p>
            <a:pPr algn="l" indent="0" marL="0">
              <a:buNone/>
            </a:pPr>
            <a:r>
              <a:rPr lang="en-US" sz="880" dirty="0">
                <a:solidFill>
                  <a:srgbClr val="686F7D"/>
                </a:solidFill>
                <a:latin typeface="Calibri" pitchFamily="34" charset="0"/>
                <a:ea typeface="Calibri" pitchFamily="34" charset="-122"/>
                <a:cs typeface="Calibri" pitchFamily="34" charset="-120"/>
              </a:rPr>
              <a:t>0.15 + 20×0.020 +0.10</a:t>
            </a:r>
            <a:endParaRPr lang="en-US" sz="880" dirty="0"/>
          </a:p>
        </p:txBody>
      </p:sp>
      <p:sp>
        <p:nvSpPr>
          <p:cNvPr id="51" name="Text 49"/>
          <p:cNvSpPr/>
          <p:nvPr/>
        </p:nvSpPr>
        <p:spPr>
          <a:xfrm>
            <a:off x="10104120" y="2724912"/>
            <a:ext cx="777240" cy="274320"/>
          </a:xfrm>
          <a:prstGeom prst="rect">
            <a:avLst/>
          </a:prstGeom>
          <a:noFill/>
          <a:ln/>
        </p:spPr>
        <p:txBody>
          <a:bodyPr wrap="square" lIns="0" tIns="0" rIns="0" bIns="0" rtlCol="0" anchor="ctr"/>
          <a:lstStyle/>
          <a:p>
            <a:pPr algn="r" indent="0" marL="0">
              <a:buNone/>
            </a:pPr>
            <a:r>
              <a:rPr lang="en-US" sz="880" dirty="0">
                <a:solidFill>
                  <a:srgbClr val="3A4356"/>
                </a:solidFill>
                <a:latin typeface="Calibri" pitchFamily="34" charset="0"/>
                <a:ea typeface="Calibri" pitchFamily="34" charset="-122"/>
                <a:cs typeface="Calibri" pitchFamily="34" charset="-120"/>
              </a:rPr>
              <a:t>0.85 min</a:t>
            </a:r>
            <a:endParaRPr lang="en-US" sz="880" dirty="0"/>
          </a:p>
        </p:txBody>
      </p:sp>
      <p:sp>
        <p:nvSpPr>
          <p:cNvPr id="52" name="Text 50"/>
          <p:cNvSpPr/>
          <p:nvPr/>
        </p:nvSpPr>
        <p:spPr>
          <a:xfrm>
            <a:off x="10927080" y="2724912"/>
            <a:ext cx="640080" cy="274320"/>
          </a:xfrm>
          <a:prstGeom prst="rect">
            <a:avLst/>
          </a:prstGeom>
          <a:noFill/>
          <a:ln/>
        </p:spPr>
        <p:txBody>
          <a:bodyPr wrap="square" lIns="0" tIns="0" rIns="0" bIns="0" rtlCol="0" anchor="ctr"/>
          <a:lstStyle/>
          <a:p>
            <a:pPr algn="r" indent="0" marL="0">
              <a:buNone/>
            </a:pPr>
            <a:r>
              <a:rPr lang="en-US" sz="880" b="1" dirty="0">
                <a:solidFill>
                  <a:srgbClr val="3A4356"/>
                </a:solidFill>
                <a:latin typeface="Calibri" pitchFamily="34" charset="0"/>
                <a:ea typeface="Calibri" pitchFamily="34" charset="-122"/>
                <a:cs typeface="Calibri" pitchFamily="34" charset="-120"/>
              </a:rPr>
              <a:t>13.52</a:t>
            </a:r>
            <a:endParaRPr lang="en-US" sz="880" dirty="0"/>
          </a:p>
        </p:txBody>
      </p:sp>
      <p:sp>
        <p:nvSpPr>
          <p:cNvPr id="53" name="Shape 51"/>
          <p:cNvSpPr/>
          <p:nvPr/>
        </p:nvSpPr>
        <p:spPr>
          <a:xfrm>
            <a:off x="6428232" y="3072384"/>
            <a:ext cx="5120640" cy="0"/>
          </a:xfrm>
          <a:prstGeom prst="line">
            <a:avLst/>
          </a:prstGeom>
          <a:noFill/>
          <a:ln w="12700">
            <a:solidFill>
              <a:srgbClr val="DCE3EE"/>
            </a:solidFill>
            <a:prstDash val="solid"/>
          </a:ln>
        </p:spPr>
      </p:sp>
      <p:sp>
        <p:nvSpPr>
          <p:cNvPr id="54" name="Text 52"/>
          <p:cNvSpPr/>
          <p:nvPr/>
        </p:nvSpPr>
        <p:spPr>
          <a:xfrm>
            <a:off x="6428232" y="3145536"/>
            <a:ext cx="3749040" cy="256032"/>
          </a:xfrm>
          <a:prstGeom prst="rect">
            <a:avLst/>
          </a:prstGeom>
          <a:noFill/>
          <a:ln/>
        </p:spPr>
        <p:txBody>
          <a:bodyPr wrap="square" lIns="0" tIns="0" rIns="0" bIns="0" rtlCol="0" anchor="ctr"/>
          <a:lstStyle/>
          <a:p>
            <a:pPr indent="0" marL="0">
              <a:buNone/>
            </a:pPr>
            <a:r>
              <a:rPr lang="en-US" sz="920" dirty="0">
                <a:solidFill>
                  <a:srgbClr val="3A4356"/>
                </a:solidFill>
                <a:latin typeface="Calibri" pitchFamily="34" charset="0"/>
                <a:ea typeface="Calibri" pitchFamily="34" charset="-122"/>
                <a:cs typeface="Calibri" pitchFamily="34" charset="-120"/>
              </a:rPr>
              <a:t>Bottom-up from the geometry  (×1.3 for reamed tolerance)</a:t>
            </a:r>
            <a:endParaRPr lang="en-US" sz="920" dirty="0"/>
          </a:p>
        </p:txBody>
      </p:sp>
      <p:sp>
        <p:nvSpPr>
          <p:cNvPr id="55" name="Text 53"/>
          <p:cNvSpPr/>
          <p:nvPr/>
        </p:nvSpPr>
        <p:spPr>
          <a:xfrm>
            <a:off x="10241280" y="3145536"/>
            <a:ext cx="1325880" cy="256032"/>
          </a:xfrm>
          <a:prstGeom prst="rect">
            <a:avLst/>
          </a:prstGeom>
          <a:noFill/>
          <a:ln/>
        </p:spPr>
        <p:txBody>
          <a:bodyPr wrap="square" lIns="0" tIns="0" rIns="0" bIns="0" rtlCol="0" anchor="ctr"/>
          <a:lstStyle/>
          <a:p>
            <a:pPr algn="r" indent="0" marL="0">
              <a:buNone/>
            </a:pPr>
            <a:r>
              <a:rPr lang="en-US" sz="960" b="1" dirty="0">
                <a:solidFill>
                  <a:srgbClr val="3A4356"/>
                </a:solidFill>
                <a:latin typeface="Calibri" pitchFamily="34" charset="0"/>
                <a:ea typeface="Calibri" pitchFamily="34" charset="-122"/>
                <a:cs typeface="Calibri" pitchFamily="34" charset="-120"/>
              </a:rPr>
              <a:t>28.21 min</a:t>
            </a:r>
            <a:endParaRPr lang="en-US" sz="960" dirty="0"/>
          </a:p>
        </p:txBody>
      </p:sp>
      <p:sp>
        <p:nvSpPr>
          <p:cNvPr id="56" name="Text 54"/>
          <p:cNvSpPr/>
          <p:nvPr/>
        </p:nvSpPr>
        <p:spPr>
          <a:xfrm>
            <a:off x="6428232" y="3429000"/>
            <a:ext cx="3749040" cy="256032"/>
          </a:xfrm>
          <a:prstGeom prst="rect">
            <a:avLst/>
          </a:prstGeom>
          <a:noFill/>
          <a:ln/>
        </p:spPr>
        <p:txBody>
          <a:bodyPr wrap="square" lIns="0" tIns="0" rIns="0" bIns="0" rtlCol="0" anchor="ctr"/>
          <a:lstStyle/>
          <a:p>
            <a:pPr indent="0" marL="0">
              <a:buNone/>
            </a:pPr>
            <a:r>
              <a:rPr lang="en-US" sz="920" dirty="0">
                <a:solidFill>
                  <a:srgbClr val="3A4356"/>
                </a:solidFill>
                <a:latin typeface="Calibri" pitchFamily="34" charset="0"/>
                <a:ea typeface="Calibri" pitchFamily="34" charset="-122"/>
                <a:cs typeface="Calibri" pitchFamily="34" charset="-120"/>
              </a:rPr>
              <a:t>Near-net ceiling: 0.10 hr + 0.07 × 2.8 kg</a:t>
            </a:r>
            <a:endParaRPr lang="en-US" sz="920" dirty="0"/>
          </a:p>
        </p:txBody>
      </p:sp>
      <p:sp>
        <p:nvSpPr>
          <p:cNvPr id="57" name="Text 55"/>
          <p:cNvSpPr/>
          <p:nvPr/>
        </p:nvSpPr>
        <p:spPr>
          <a:xfrm>
            <a:off x="10241280" y="3429000"/>
            <a:ext cx="1325880" cy="256032"/>
          </a:xfrm>
          <a:prstGeom prst="rect">
            <a:avLst/>
          </a:prstGeom>
          <a:noFill/>
          <a:ln/>
        </p:spPr>
        <p:txBody>
          <a:bodyPr wrap="square" lIns="0" tIns="0" rIns="0" bIns="0" rtlCol="0" anchor="ctr"/>
          <a:lstStyle/>
          <a:p>
            <a:pPr algn="r" indent="0" marL="0">
              <a:buNone/>
            </a:pPr>
            <a:r>
              <a:rPr lang="en-US" sz="960" b="1" dirty="0">
                <a:solidFill>
                  <a:srgbClr val="99651A"/>
                </a:solidFill>
                <a:latin typeface="Calibri" pitchFamily="34" charset="0"/>
                <a:ea typeface="Calibri" pitchFamily="34" charset="-122"/>
                <a:cs typeface="Calibri" pitchFamily="34" charset="-120"/>
              </a:rPr>
              <a:t>17.76 min</a:t>
            </a:r>
            <a:endParaRPr lang="en-US" sz="960" dirty="0"/>
          </a:p>
        </p:txBody>
      </p:sp>
      <p:sp>
        <p:nvSpPr>
          <p:cNvPr id="58" name="Text 56"/>
          <p:cNvSpPr/>
          <p:nvPr/>
        </p:nvSpPr>
        <p:spPr>
          <a:xfrm>
            <a:off x="6428232" y="3712464"/>
            <a:ext cx="3749040" cy="256032"/>
          </a:xfrm>
          <a:prstGeom prst="rect">
            <a:avLst/>
          </a:prstGeom>
          <a:noFill/>
          <a:ln/>
        </p:spPr>
        <p:txBody>
          <a:bodyPr wrap="square" lIns="0" tIns="0" rIns="0" bIns="0" rtlCol="0" anchor="ctr"/>
          <a:lstStyle/>
          <a:p>
            <a:pPr indent="0" marL="0">
              <a:buNone/>
            </a:pPr>
            <a:r>
              <a:rPr lang="en-US" sz="920" dirty="0">
                <a:solidFill>
                  <a:srgbClr val="3A4356"/>
                </a:solidFill>
                <a:latin typeface="Calibri" pitchFamily="34" charset="0"/>
                <a:ea typeface="Calibri" pitchFamily="34" charset="-122"/>
                <a:cs typeface="Calibri" pitchFamily="34" charset="-120"/>
              </a:rPr>
              <a:t>→ the guard CAPS the bottom-up estimate</a:t>
            </a:r>
            <a:endParaRPr lang="en-US" sz="920" dirty="0"/>
          </a:p>
        </p:txBody>
      </p:sp>
      <p:sp>
        <p:nvSpPr>
          <p:cNvPr id="59" name="Text 57"/>
          <p:cNvSpPr/>
          <p:nvPr/>
        </p:nvSpPr>
        <p:spPr>
          <a:xfrm>
            <a:off x="10241280" y="3712464"/>
            <a:ext cx="1325880" cy="256032"/>
          </a:xfrm>
          <a:prstGeom prst="rect">
            <a:avLst/>
          </a:prstGeom>
          <a:noFill/>
          <a:ln/>
        </p:spPr>
        <p:txBody>
          <a:bodyPr wrap="square" lIns="0" tIns="0" rIns="0" bIns="0" rtlCol="0" anchor="ctr"/>
          <a:lstStyle/>
          <a:p>
            <a:pPr algn="r" indent="0" marL="0">
              <a:buNone/>
            </a:pPr>
            <a:r>
              <a:rPr lang="en-US" sz="960" b="1" dirty="0">
                <a:solidFill>
                  <a:srgbClr val="99651A"/>
                </a:solidFill>
                <a:latin typeface="Calibri" pitchFamily="34" charset="0"/>
                <a:ea typeface="Calibri" pitchFamily="34" charset="-122"/>
                <a:cs typeface="Calibri" pitchFamily="34" charset="-120"/>
              </a:rPr>
              <a:t>capped</a:t>
            </a:r>
            <a:endParaRPr lang="en-US" sz="960" dirty="0"/>
          </a:p>
        </p:txBody>
      </p:sp>
      <p:sp>
        <p:nvSpPr>
          <p:cNvPr id="60" name="Text 58"/>
          <p:cNvSpPr/>
          <p:nvPr/>
        </p:nvSpPr>
        <p:spPr>
          <a:xfrm>
            <a:off x="6428232" y="3995928"/>
            <a:ext cx="3749040" cy="256032"/>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Costed from the supplier routing — inside both</a:t>
            </a:r>
            <a:endParaRPr lang="en-US" sz="920" dirty="0"/>
          </a:p>
        </p:txBody>
      </p:sp>
      <p:sp>
        <p:nvSpPr>
          <p:cNvPr id="61" name="Text 59"/>
          <p:cNvSpPr/>
          <p:nvPr/>
        </p:nvSpPr>
        <p:spPr>
          <a:xfrm>
            <a:off x="10241280" y="3995928"/>
            <a:ext cx="1325880" cy="256032"/>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15.90 min</a:t>
            </a:r>
            <a:endParaRPr lang="en-US" sz="960" dirty="0"/>
          </a:p>
        </p:txBody>
      </p:sp>
      <p:sp>
        <p:nvSpPr>
          <p:cNvPr id="62" name="Shape 60"/>
          <p:cNvSpPr/>
          <p:nvPr/>
        </p:nvSpPr>
        <p:spPr>
          <a:xfrm>
            <a:off x="457200" y="4617720"/>
            <a:ext cx="11274552" cy="1371600"/>
          </a:xfrm>
          <a:prstGeom prst="roundRect">
            <a:avLst>
              <a:gd name="adj" fmla="val 6667"/>
            </a:avLst>
          </a:prstGeom>
          <a:solidFill>
            <a:srgbClr val="FCF3E3"/>
          </a:solidFill>
          <a:ln w="15875">
            <a:solidFill>
              <a:srgbClr val="99651A"/>
            </a:solidFill>
            <a:prstDash val="solid"/>
          </a:ln>
        </p:spPr>
      </p:sp>
      <p:sp>
        <p:nvSpPr>
          <p:cNvPr id="63" name="Text 61"/>
          <p:cNvSpPr/>
          <p:nvPr/>
        </p:nvSpPr>
        <p:spPr>
          <a:xfrm>
            <a:off x="731520" y="4727448"/>
            <a:ext cx="10515600" cy="256032"/>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Three independent numbers, and they bound each other</a:t>
            </a:r>
            <a:endParaRPr lang="en-US" sz="1250" dirty="0"/>
          </a:p>
        </p:txBody>
      </p:sp>
      <p:sp>
        <p:nvSpPr>
          <p:cNvPr id="64" name="Text 62"/>
          <p:cNvSpPr/>
          <p:nvPr/>
        </p:nvSpPr>
        <p:spPr>
          <a:xfrm>
            <a:off x="731520" y="5020056"/>
            <a:ext cx="10744200" cy="841248"/>
          </a:xfrm>
          <a:prstGeom prst="rect">
            <a:avLst/>
          </a:prstGeom>
          <a:noFill/>
          <a:ln/>
        </p:spPr>
        <p:txBody>
          <a:bodyPr wrap="square" lIns="0" tIns="0" rIns="0" bIns="0" rtlCol="0" anchor="t"/>
          <a:lstStyle/>
          <a:p>
            <a:pPr indent="0" marL="0">
              <a:buNone/>
            </a:pPr>
            <a:r>
              <a:rPr lang="en-US" sz="1150" dirty="0">
                <a:solidFill>
                  <a:srgbClr val="3A4356"/>
                </a:solidFill>
                <a:latin typeface="Calibri" pitchFamily="34" charset="0"/>
                <a:ea typeface="Calibri" pitchFamily="34" charset="-122"/>
                <a:cs typeface="Calibri" pitchFamily="34" charset="-120"/>
              </a:rPr>
              <a:t>The geometry proposes 28 minutes. The near-net guard says a 2.8 kg casting physically cannot need more than 17.8 minutes of finishing, so it caps the proposal. The supplier routing we costed says 15.9 minutes — inside both. </a:t>
            </a:r>
            <a:pPr indent="0" marL="0">
              <a:buNone/>
            </a:pPr>
            <a:r>
              <a:rPr lang="en-US" sz="1150" b="1" dirty="0">
                <a:solidFill>
                  <a:srgbClr val="16325C"/>
                </a:solidFill>
                <a:latin typeface="Calibri" pitchFamily="34" charset="0"/>
                <a:ea typeface="Calibri" pitchFamily="34" charset="-122"/>
                <a:cs typeface="Calibri" pitchFamily="34" charset="-120"/>
              </a:rPr>
              <a:t>When those three disagree badly, that is the signal: either the part is not really near-net, or the routing is wrong, or the quote is padded. Here they agree, so the number stands.</a:t>
            </a:r>
            <a:endParaRPr lang="en-US" sz="1150" dirty="0"/>
          </a:p>
        </p:txBody>
      </p:sp>
      <p:sp>
        <p:nvSpPr>
          <p:cNvPr id="65" name="Text 6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66" name="Text 6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 8 · Cycle Times — Every Operation, Timed and Priced</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Machine rate x charged time. Check any row on this slide with a calculator.</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70432"/>
            <a:ext cx="7955280" cy="3200400"/>
          </a:xfrm>
          <a:prstGeom prst="roundRect">
            <a:avLst>
              <a:gd name="adj" fmla="val 2857"/>
            </a:avLst>
          </a:prstGeom>
          <a:solidFill>
            <a:srgbClr val="FFFFFF"/>
          </a:solidFill>
          <a:ln w="12700">
            <a:solidFill>
              <a:srgbClr val="DCE3EE"/>
            </a:solidFill>
            <a:prstDash val="solid"/>
          </a:ln>
        </p:spPr>
      </p:sp>
      <p:sp>
        <p:nvSpPr>
          <p:cNvPr id="8" name="Text 6"/>
          <p:cNvSpPr/>
          <p:nvPr/>
        </p:nvSpPr>
        <p:spPr>
          <a:xfrm>
            <a:off x="685800" y="1261872"/>
            <a:ext cx="7315200" cy="256032"/>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MAKING ONE HOUSING AT UK RATES — engine output, line by line</a:t>
            </a:r>
            <a:endParaRPr lang="en-US" sz="1150" dirty="0"/>
          </a:p>
        </p:txBody>
      </p:sp>
      <p:sp>
        <p:nvSpPr>
          <p:cNvPr id="9" name="Text 7"/>
          <p:cNvSpPr/>
          <p:nvPr/>
        </p:nvSpPr>
        <p:spPr>
          <a:xfrm>
            <a:off x="685800" y="1554480"/>
            <a:ext cx="1874520" cy="201168"/>
          </a:xfrm>
          <a:prstGeom prst="rect">
            <a:avLst/>
          </a:prstGeom>
          <a:noFill/>
          <a:ln/>
        </p:spPr>
        <p:txBody>
          <a:bodyPr wrap="square" lIns="0" tIns="0" rIns="0" bIns="0" rtlCol="0" anchor="ctr"/>
          <a:lstStyle/>
          <a:p>
            <a:pPr algn="l" indent="0" marL="0">
              <a:buNone/>
            </a:pPr>
            <a:r>
              <a:rPr lang="en-US" sz="850" b="1" dirty="0">
                <a:solidFill>
                  <a:srgbClr val="686F7D"/>
                </a:solidFill>
                <a:latin typeface="Calibri" pitchFamily="34" charset="0"/>
                <a:ea typeface="Calibri" pitchFamily="34" charset="-122"/>
                <a:cs typeface="Calibri" pitchFamily="34" charset="-120"/>
              </a:rPr>
              <a:t>Operation</a:t>
            </a:r>
            <a:endParaRPr lang="en-US" sz="850" dirty="0"/>
          </a:p>
        </p:txBody>
      </p:sp>
      <p:sp>
        <p:nvSpPr>
          <p:cNvPr id="10" name="Text 8"/>
          <p:cNvSpPr/>
          <p:nvPr/>
        </p:nvSpPr>
        <p:spPr>
          <a:xfrm>
            <a:off x="2606040" y="1554480"/>
            <a:ext cx="1325880" cy="201168"/>
          </a:xfrm>
          <a:prstGeom prst="rect">
            <a:avLst/>
          </a:prstGeom>
          <a:noFill/>
          <a:ln/>
        </p:spPr>
        <p:txBody>
          <a:bodyPr wrap="square" lIns="0" tIns="0" rIns="0" bIns="0" rtlCol="0" anchor="ctr"/>
          <a:lstStyle/>
          <a:p>
            <a:pPr algn="l" indent="0" marL="0">
              <a:buNone/>
            </a:pPr>
            <a:r>
              <a:rPr lang="en-US" sz="850" b="1" dirty="0">
                <a:solidFill>
                  <a:srgbClr val="686F7D"/>
                </a:solidFill>
                <a:latin typeface="Calibri" pitchFamily="34" charset="0"/>
                <a:ea typeface="Calibri" pitchFamily="34" charset="-122"/>
                <a:cs typeface="Calibri" pitchFamily="34" charset="-120"/>
              </a:rPr>
              <a:t>Machine</a:t>
            </a:r>
            <a:endParaRPr lang="en-US" sz="850" dirty="0"/>
          </a:p>
        </p:txBody>
      </p:sp>
      <p:sp>
        <p:nvSpPr>
          <p:cNvPr id="11" name="Text 9"/>
          <p:cNvSpPr/>
          <p:nvPr/>
        </p:nvSpPr>
        <p:spPr>
          <a:xfrm>
            <a:off x="3977640" y="1554480"/>
            <a:ext cx="685800"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£/hr</a:t>
            </a:r>
            <a:endParaRPr lang="en-US" sz="850" dirty="0"/>
          </a:p>
        </p:txBody>
      </p:sp>
      <p:sp>
        <p:nvSpPr>
          <p:cNvPr id="12" name="Text 10"/>
          <p:cNvSpPr/>
          <p:nvPr/>
        </p:nvSpPr>
        <p:spPr>
          <a:xfrm>
            <a:off x="4709160" y="1554480"/>
            <a:ext cx="731520"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Cycle</a:t>
            </a:r>
            <a:endParaRPr lang="en-US" sz="850" dirty="0"/>
          </a:p>
        </p:txBody>
      </p:sp>
      <p:sp>
        <p:nvSpPr>
          <p:cNvPr id="13" name="Text 11"/>
          <p:cNvSpPr/>
          <p:nvPr/>
        </p:nvSpPr>
        <p:spPr>
          <a:xfrm>
            <a:off x="5486400" y="1554480"/>
            <a:ext cx="731520"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 OEE</a:t>
            </a:r>
            <a:endParaRPr lang="en-US" sz="850" dirty="0"/>
          </a:p>
        </p:txBody>
      </p:sp>
      <p:sp>
        <p:nvSpPr>
          <p:cNvPr id="14" name="Text 12"/>
          <p:cNvSpPr/>
          <p:nvPr/>
        </p:nvSpPr>
        <p:spPr>
          <a:xfrm>
            <a:off x="6263640" y="1554480"/>
            <a:ext cx="749808"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Machine</a:t>
            </a:r>
            <a:endParaRPr lang="en-US" sz="850" dirty="0"/>
          </a:p>
        </p:txBody>
      </p:sp>
      <p:sp>
        <p:nvSpPr>
          <p:cNvPr id="15" name="Text 13"/>
          <p:cNvSpPr/>
          <p:nvPr/>
        </p:nvSpPr>
        <p:spPr>
          <a:xfrm>
            <a:off x="7059168" y="1554480"/>
            <a:ext cx="530352"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Labour</a:t>
            </a:r>
            <a:endParaRPr lang="en-US" sz="850" dirty="0"/>
          </a:p>
        </p:txBody>
      </p:sp>
      <p:sp>
        <p:nvSpPr>
          <p:cNvPr id="16" name="Text 14"/>
          <p:cNvSpPr/>
          <p:nvPr/>
        </p:nvSpPr>
        <p:spPr>
          <a:xfrm>
            <a:off x="7635240" y="1554480"/>
            <a:ext cx="658368"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Cost</a:t>
            </a:r>
            <a:endParaRPr lang="en-US" sz="850" dirty="0"/>
          </a:p>
        </p:txBody>
      </p:sp>
      <p:sp>
        <p:nvSpPr>
          <p:cNvPr id="17" name="Shape 15"/>
          <p:cNvSpPr/>
          <p:nvPr/>
        </p:nvSpPr>
        <p:spPr>
          <a:xfrm>
            <a:off x="621792" y="1773936"/>
            <a:ext cx="7644384" cy="292608"/>
          </a:xfrm>
          <a:prstGeom prst="rect">
            <a:avLst/>
          </a:prstGeom>
          <a:solidFill>
            <a:srgbClr val="F4F7FB"/>
          </a:solidFill>
          <a:ln/>
        </p:spPr>
      </p:sp>
      <p:sp>
        <p:nvSpPr>
          <p:cNvPr id="18" name="Text 16"/>
          <p:cNvSpPr/>
          <p:nvPr/>
        </p:nvSpPr>
        <p:spPr>
          <a:xfrm>
            <a:off x="685800" y="1792224"/>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Casting shot (55 s)</a:t>
            </a:r>
            <a:endParaRPr lang="en-US" sz="920" dirty="0"/>
          </a:p>
        </p:txBody>
      </p:sp>
      <p:sp>
        <p:nvSpPr>
          <p:cNvPr id="19" name="Text 17"/>
          <p:cNvSpPr/>
          <p:nvPr/>
        </p:nvSpPr>
        <p:spPr>
          <a:xfrm>
            <a:off x="2606040" y="1792224"/>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HPDC 1,600 t</a:t>
            </a:r>
            <a:endParaRPr lang="en-US" sz="920" dirty="0"/>
          </a:p>
        </p:txBody>
      </p:sp>
      <p:sp>
        <p:nvSpPr>
          <p:cNvPr id="20" name="Text 18"/>
          <p:cNvSpPr/>
          <p:nvPr/>
        </p:nvSpPr>
        <p:spPr>
          <a:xfrm>
            <a:off x="3977640" y="1792224"/>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137.55</a:t>
            </a:r>
            <a:endParaRPr lang="en-US" sz="920" dirty="0"/>
          </a:p>
        </p:txBody>
      </p:sp>
      <p:sp>
        <p:nvSpPr>
          <p:cNvPr id="21" name="Text 19"/>
          <p:cNvSpPr/>
          <p:nvPr/>
        </p:nvSpPr>
        <p:spPr>
          <a:xfrm>
            <a:off x="4709160" y="1792224"/>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0.0156</a:t>
            </a:r>
            <a:endParaRPr lang="en-US" sz="920" dirty="0"/>
          </a:p>
        </p:txBody>
      </p:sp>
      <p:sp>
        <p:nvSpPr>
          <p:cNvPr id="22" name="Text 20"/>
          <p:cNvSpPr/>
          <p:nvPr/>
        </p:nvSpPr>
        <p:spPr>
          <a:xfrm>
            <a:off x="5486400" y="1792224"/>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0.0183</a:t>
            </a:r>
            <a:endParaRPr lang="en-US" sz="920" dirty="0"/>
          </a:p>
        </p:txBody>
      </p:sp>
      <p:sp>
        <p:nvSpPr>
          <p:cNvPr id="23" name="Text 21"/>
          <p:cNvSpPr/>
          <p:nvPr/>
        </p:nvSpPr>
        <p:spPr>
          <a:xfrm>
            <a:off x="6263640" y="1792224"/>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2.52</a:t>
            </a:r>
            <a:endParaRPr lang="en-US" sz="920" dirty="0"/>
          </a:p>
        </p:txBody>
      </p:sp>
      <p:sp>
        <p:nvSpPr>
          <p:cNvPr id="24" name="Text 22"/>
          <p:cNvSpPr/>
          <p:nvPr/>
        </p:nvSpPr>
        <p:spPr>
          <a:xfrm>
            <a:off x="7059168" y="1792224"/>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0.16</a:t>
            </a:r>
            <a:endParaRPr lang="en-US" sz="920" dirty="0"/>
          </a:p>
        </p:txBody>
      </p:sp>
      <p:sp>
        <p:nvSpPr>
          <p:cNvPr id="25" name="Text 23"/>
          <p:cNvSpPr/>
          <p:nvPr/>
        </p:nvSpPr>
        <p:spPr>
          <a:xfrm>
            <a:off x="7635240" y="1792224"/>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£2.68</a:t>
            </a:r>
            <a:endParaRPr lang="en-US" sz="920" dirty="0"/>
          </a:p>
        </p:txBody>
      </p:sp>
      <p:sp>
        <p:nvSpPr>
          <p:cNvPr id="26" name="Text 24"/>
          <p:cNvSpPr/>
          <p:nvPr/>
        </p:nvSpPr>
        <p:spPr>
          <a:xfrm>
            <a:off x="685800" y="2098548"/>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Setup, amortised</a:t>
            </a:r>
            <a:endParaRPr lang="en-US" sz="920" dirty="0"/>
          </a:p>
        </p:txBody>
      </p:sp>
      <p:sp>
        <p:nvSpPr>
          <p:cNvPr id="27" name="Text 25"/>
          <p:cNvSpPr/>
          <p:nvPr/>
        </p:nvSpPr>
        <p:spPr>
          <a:xfrm>
            <a:off x="2606040" y="2098548"/>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5-axis CNC</a:t>
            </a:r>
            <a:endParaRPr lang="en-US" sz="920" dirty="0"/>
          </a:p>
        </p:txBody>
      </p:sp>
      <p:sp>
        <p:nvSpPr>
          <p:cNvPr id="28" name="Text 26"/>
          <p:cNvSpPr/>
          <p:nvPr/>
        </p:nvSpPr>
        <p:spPr>
          <a:xfrm>
            <a:off x="3977640" y="2098548"/>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85.00</a:t>
            </a:r>
            <a:endParaRPr lang="en-US" sz="920" dirty="0"/>
          </a:p>
        </p:txBody>
      </p:sp>
      <p:sp>
        <p:nvSpPr>
          <p:cNvPr id="29" name="Text 27"/>
          <p:cNvSpPr/>
          <p:nvPr/>
        </p:nvSpPr>
        <p:spPr>
          <a:xfrm>
            <a:off x="4709160" y="2098548"/>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0.0030</a:t>
            </a:r>
            <a:endParaRPr lang="en-US" sz="920" dirty="0"/>
          </a:p>
        </p:txBody>
      </p:sp>
      <p:sp>
        <p:nvSpPr>
          <p:cNvPr id="30" name="Text 28"/>
          <p:cNvSpPr/>
          <p:nvPr/>
        </p:nvSpPr>
        <p:spPr>
          <a:xfrm>
            <a:off x="5486400" y="2098548"/>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0.0030</a:t>
            </a:r>
            <a:endParaRPr lang="en-US" sz="920" dirty="0"/>
          </a:p>
        </p:txBody>
      </p:sp>
      <p:sp>
        <p:nvSpPr>
          <p:cNvPr id="31" name="Text 29"/>
          <p:cNvSpPr/>
          <p:nvPr/>
        </p:nvSpPr>
        <p:spPr>
          <a:xfrm>
            <a:off x="6263640" y="2098548"/>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0.26</a:t>
            </a:r>
            <a:endParaRPr lang="en-US" sz="920" dirty="0"/>
          </a:p>
        </p:txBody>
      </p:sp>
      <p:sp>
        <p:nvSpPr>
          <p:cNvPr id="32" name="Text 30"/>
          <p:cNvSpPr/>
          <p:nvPr/>
        </p:nvSpPr>
        <p:spPr>
          <a:xfrm>
            <a:off x="7059168" y="2098548"/>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0.08</a:t>
            </a:r>
            <a:endParaRPr lang="en-US" sz="920" dirty="0"/>
          </a:p>
        </p:txBody>
      </p:sp>
      <p:sp>
        <p:nvSpPr>
          <p:cNvPr id="33" name="Text 31"/>
          <p:cNvSpPr/>
          <p:nvPr/>
        </p:nvSpPr>
        <p:spPr>
          <a:xfrm>
            <a:off x="7635240" y="2098548"/>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£0.33</a:t>
            </a:r>
            <a:endParaRPr lang="en-US" sz="920" dirty="0"/>
          </a:p>
        </p:txBody>
      </p:sp>
      <p:sp>
        <p:nvSpPr>
          <p:cNvPr id="34" name="Shape 32"/>
          <p:cNvSpPr/>
          <p:nvPr/>
        </p:nvSpPr>
        <p:spPr>
          <a:xfrm>
            <a:off x="621792" y="2386584"/>
            <a:ext cx="7644384" cy="292608"/>
          </a:xfrm>
          <a:prstGeom prst="rect">
            <a:avLst/>
          </a:prstGeom>
          <a:solidFill>
            <a:srgbClr val="F4F7FB"/>
          </a:solidFill>
          <a:ln/>
        </p:spPr>
      </p:sp>
      <p:sp>
        <p:nvSpPr>
          <p:cNvPr id="35" name="Text 33"/>
          <p:cNvSpPr/>
          <p:nvPr/>
        </p:nvSpPr>
        <p:spPr>
          <a:xfrm>
            <a:off x="685800" y="2404872"/>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Mill 2 faces flat</a:t>
            </a:r>
            <a:endParaRPr lang="en-US" sz="920" dirty="0"/>
          </a:p>
        </p:txBody>
      </p:sp>
      <p:sp>
        <p:nvSpPr>
          <p:cNvPr id="36" name="Text 34"/>
          <p:cNvSpPr/>
          <p:nvPr/>
        </p:nvSpPr>
        <p:spPr>
          <a:xfrm>
            <a:off x="2606040" y="2404872"/>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5-axis CNC</a:t>
            </a:r>
            <a:endParaRPr lang="en-US" sz="920" dirty="0"/>
          </a:p>
        </p:txBody>
      </p:sp>
      <p:sp>
        <p:nvSpPr>
          <p:cNvPr id="37" name="Text 35"/>
          <p:cNvSpPr/>
          <p:nvPr/>
        </p:nvSpPr>
        <p:spPr>
          <a:xfrm>
            <a:off x="3977640" y="2404872"/>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85.00</a:t>
            </a:r>
            <a:endParaRPr lang="en-US" sz="920" dirty="0"/>
          </a:p>
        </p:txBody>
      </p:sp>
      <p:sp>
        <p:nvSpPr>
          <p:cNvPr id="38" name="Text 36"/>
          <p:cNvSpPr/>
          <p:nvPr/>
        </p:nvSpPr>
        <p:spPr>
          <a:xfrm>
            <a:off x="4709160" y="2404872"/>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0.1100</a:t>
            </a:r>
            <a:endParaRPr lang="en-US" sz="920" dirty="0"/>
          </a:p>
        </p:txBody>
      </p:sp>
      <p:sp>
        <p:nvSpPr>
          <p:cNvPr id="39" name="Text 37"/>
          <p:cNvSpPr/>
          <p:nvPr/>
        </p:nvSpPr>
        <p:spPr>
          <a:xfrm>
            <a:off x="5486400" y="2404872"/>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0.1294</a:t>
            </a:r>
            <a:endParaRPr lang="en-US" sz="920" dirty="0"/>
          </a:p>
        </p:txBody>
      </p:sp>
      <p:sp>
        <p:nvSpPr>
          <p:cNvPr id="40" name="Text 38"/>
          <p:cNvSpPr/>
          <p:nvPr/>
        </p:nvSpPr>
        <p:spPr>
          <a:xfrm>
            <a:off x="6263640" y="2404872"/>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11.00</a:t>
            </a:r>
            <a:endParaRPr lang="en-US" sz="920" dirty="0"/>
          </a:p>
        </p:txBody>
      </p:sp>
      <p:sp>
        <p:nvSpPr>
          <p:cNvPr id="41" name="Text 39"/>
          <p:cNvSpPr/>
          <p:nvPr/>
        </p:nvSpPr>
        <p:spPr>
          <a:xfrm>
            <a:off x="7059168" y="2404872"/>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1.59</a:t>
            </a:r>
            <a:endParaRPr lang="en-US" sz="920" dirty="0"/>
          </a:p>
        </p:txBody>
      </p:sp>
      <p:sp>
        <p:nvSpPr>
          <p:cNvPr id="42" name="Text 40"/>
          <p:cNvSpPr/>
          <p:nvPr/>
        </p:nvSpPr>
        <p:spPr>
          <a:xfrm>
            <a:off x="7635240" y="2404872"/>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£12.59</a:t>
            </a:r>
            <a:endParaRPr lang="en-US" sz="920" dirty="0"/>
          </a:p>
        </p:txBody>
      </p:sp>
      <p:sp>
        <p:nvSpPr>
          <p:cNvPr id="43" name="Text 41"/>
          <p:cNvSpPr/>
          <p:nvPr/>
        </p:nvSpPr>
        <p:spPr>
          <a:xfrm>
            <a:off x="685800" y="2711196"/>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Bore + ream 2 bores</a:t>
            </a:r>
            <a:endParaRPr lang="en-US" sz="920" dirty="0"/>
          </a:p>
        </p:txBody>
      </p:sp>
      <p:sp>
        <p:nvSpPr>
          <p:cNvPr id="44" name="Text 42"/>
          <p:cNvSpPr/>
          <p:nvPr/>
        </p:nvSpPr>
        <p:spPr>
          <a:xfrm>
            <a:off x="2606040" y="2711196"/>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5-axis CNC</a:t>
            </a:r>
            <a:endParaRPr lang="en-US" sz="920" dirty="0"/>
          </a:p>
        </p:txBody>
      </p:sp>
      <p:sp>
        <p:nvSpPr>
          <p:cNvPr id="45" name="Text 43"/>
          <p:cNvSpPr/>
          <p:nvPr/>
        </p:nvSpPr>
        <p:spPr>
          <a:xfrm>
            <a:off x="3977640" y="2711196"/>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85.00</a:t>
            </a:r>
            <a:endParaRPr lang="en-US" sz="920" dirty="0"/>
          </a:p>
        </p:txBody>
      </p:sp>
      <p:sp>
        <p:nvSpPr>
          <p:cNvPr id="46" name="Text 44"/>
          <p:cNvSpPr/>
          <p:nvPr/>
        </p:nvSpPr>
        <p:spPr>
          <a:xfrm>
            <a:off x="4709160" y="2711196"/>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0.0850</a:t>
            </a:r>
            <a:endParaRPr lang="en-US" sz="920" dirty="0"/>
          </a:p>
        </p:txBody>
      </p:sp>
      <p:sp>
        <p:nvSpPr>
          <p:cNvPr id="47" name="Text 45"/>
          <p:cNvSpPr/>
          <p:nvPr/>
        </p:nvSpPr>
        <p:spPr>
          <a:xfrm>
            <a:off x="5486400" y="2711196"/>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0.1000</a:t>
            </a:r>
            <a:endParaRPr lang="en-US" sz="920" dirty="0"/>
          </a:p>
        </p:txBody>
      </p:sp>
      <p:sp>
        <p:nvSpPr>
          <p:cNvPr id="48" name="Text 46"/>
          <p:cNvSpPr/>
          <p:nvPr/>
        </p:nvSpPr>
        <p:spPr>
          <a:xfrm>
            <a:off x="6263640" y="2711196"/>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8.50</a:t>
            </a:r>
            <a:endParaRPr lang="en-US" sz="920" dirty="0"/>
          </a:p>
        </p:txBody>
      </p:sp>
      <p:sp>
        <p:nvSpPr>
          <p:cNvPr id="49" name="Text 47"/>
          <p:cNvSpPr/>
          <p:nvPr/>
        </p:nvSpPr>
        <p:spPr>
          <a:xfrm>
            <a:off x="7059168" y="2711196"/>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1.23</a:t>
            </a:r>
            <a:endParaRPr lang="en-US" sz="920" dirty="0"/>
          </a:p>
        </p:txBody>
      </p:sp>
      <p:sp>
        <p:nvSpPr>
          <p:cNvPr id="50" name="Text 48"/>
          <p:cNvSpPr/>
          <p:nvPr/>
        </p:nvSpPr>
        <p:spPr>
          <a:xfrm>
            <a:off x="7635240" y="2711196"/>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£9.73</a:t>
            </a:r>
            <a:endParaRPr lang="en-US" sz="920" dirty="0"/>
          </a:p>
        </p:txBody>
      </p:sp>
      <p:sp>
        <p:nvSpPr>
          <p:cNvPr id="51" name="Shape 49"/>
          <p:cNvSpPr/>
          <p:nvPr/>
        </p:nvSpPr>
        <p:spPr>
          <a:xfrm>
            <a:off x="621792" y="2999232"/>
            <a:ext cx="7644384" cy="292608"/>
          </a:xfrm>
          <a:prstGeom prst="rect">
            <a:avLst/>
          </a:prstGeom>
          <a:solidFill>
            <a:srgbClr val="F4F7FB"/>
          </a:solidFill>
          <a:ln/>
        </p:spPr>
      </p:sp>
      <p:sp>
        <p:nvSpPr>
          <p:cNvPr id="52" name="Text 50"/>
          <p:cNvSpPr/>
          <p:nvPr/>
        </p:nvSpPr>
        <p:spPr>
          <a:xfrm>
            <a:off x="685800" y="3017520"/>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Drill + tap 16 holes</a:t>
            </a:r>
            <a:endParaRPr lang="en-US" sz="920" dirty="0"/>
          </a:p>
        </p:txBody>
      </p:sp>
      <p:sp>
        <p:nvSpPr>
          <p:cNvPr id="53" name="Text 51"/>
          <p:cNvSpPr/>
          <p:nvPr/>
        </p:nvSpPr>
        <p:spPr>
          <a:xfrm>
            <a:off x="2606040" y="3017520"/>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CNC drill/tap</a:t>
            </a:r>
            <a:endParaRPr lang="en-US" sz="920" dirty="0"/>
          </a:p>
        </p:txBody>
      </p:sp>
      <p:sp>
        <p:nvSpPr>
          <p:cNvPr id="54" name="Text 52"/>
          <p:cNvSpPr/>
          <p:nvPr/>
        </p:nvSpPr>
        <p:spPr>
          <a:xfrm>
            <a:off x="3977640" y="3017520"/>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30.00</a:t>
            </a:r>
            <a:endParaRPr lang="en-US" sz="920" dirty="0"/>
          </a:p>
        </p:txBody>
      </p:sp>
      <p:sp>
        <p:nvSpPr>
          <p:cNvPr id="55" name="Text 53"/>
          <p:cNvSpPr/>
          <p:nvPr/>
        </p:nvSpPr>
        <p:spPr>
          <a:xfrm>
            <a:off x="4709160" y="3017520"/>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0.0700</a:t>
            </a:r>
            <a:endParaRPr lang="en-US" sz="920" dirty="0"/>
          </a:p>
        </p:txBody>
      </p:sp>
      <p:sp>
        <p:nvSpPr>
          <p:cNvPr id="56" name="Text 54"/>
          <p:cNvSpPr/>
          <p:nvPr/>
        </p:nvSpPr>
        <p:spPr>
          <a:xfrm>
            <a:off x="5486400" y="3017520"/>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0.0824</a:t>
            </a:r>
            <a:endParaRPr lang="en-US" sz="920" dirty="0"/>
          </a:p>
        </p:txBody>
      </p:sp>
      <p:sp>
        <p:nvSpPr>
          <p:cNvPr id="57" name="Text 55"/>
          <p:cNvSpPr/>
          <p:nvPr/>
        </p:nvSpPr>
        <p:spPr>
          <a:xfrm>
            <a:off x="6263640" y="3017520"/>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2.47</a:t>
            </a:r>
            <a:endParaRPr lang="en-US" sz="920" dirty="0"/>
          </a:p>
        </p:txBody>
      </p:sp>
      <p:sp>
        <p:nvSpPr>
          <p:cNvPr id="58" name="Text 56"/>
          <p:cNvSpPr/>
          <p:nvPr/>
        </p:nvSpPr>
        <p:spPr>
          <a:xfrm>
            <a:off x="7059168" y="3017520"/>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0.77</a:t>
            </a:r>
            <a:endParaRPr lang="en-US" sz="920" dirty="0"/>
          </a:p>
        </p:txBody>
      </p:sp>
      <p:sp>
        <p:nvSpPr>
          <p:cNvPr id="59" name="Text 57"/>
          <p:cNvSpPr/>
          <p:nvPr/>
        </p:nvSpPr>
        <p:spPr>
          <a:xfrm>
            <a:off x="7635240" y="3017520"/>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£3.24</a:t>
            </a:r>
            <a:endParaRPr lang="en-US" sz="920" dirty="0"/>
          </a:p>
        </p:txBody>
      </p:sp>
      <p:sp>
        <p:nvSpPr>
          <p:cNvPr id="60" name="Text 58"/>
          <p:cNvSpPr/>
          <p:nvPr/>
        </p:nvSpPr>
        <p:spPr>
          <a:xfrm>
            <a:off x="685800" y="3323844"/>
            <a:ext cx="1874520" cy="256032"/>
          </a:xfrm>
          <a:prstGeom prst="rect">
            <a:avLst/>
          </a:prstGeom>
          <a:noFill/>
          <a:ln/>
        </p:spPr>
        <p:txBody>
          <a:bodyPr wrap="square" lIns="0" tIns="0" rIns="0" bIns="0" rtlCol="0" anchor="ctr"/>
          <a:lstStyle/>
          <a:p>
            <a:pPr algn="l" indent="0" marL="0">
              <a:buNone/>
            </a:pPr>
            <a:r>
              <a:rPr lang="en-US" sz="920" b="1" dirty="0">
                <a:solidFill>
                  <a:srgbClr val="3A4356"/>
                </a:solidFill>
                <a:latin typeface="Calibri" pitchFamily="34" charset="0"/>
                <a:ea typeface="Calibri" pitchFamily="34" charset="-122"/>
                <a:cs typeface="Calibri" pitchFamily="34" charset="-120"/>
              </a:rPr>
              <a:t>Leak test, deburr, wash</a:t>
            </a:r>
            <a:endParaRPr lang="en-US" sz="920" dirty="0"/>
          </a:p>
        </p:txBody>
      </p:sp>
      <p:sp>
        <p:nvSpPr>
          <p:cNvPr id="61" name="Text 59"/>
          <p:cNvSpPr/>
          <p:nvPr/>
        </p:nvSpPr>
        <p:spPr>
          <a:xfrm>
            <a:off x="2606040" y="3323844"/>
            <a:ext cx="13258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Finish cell</a:t>
            </a:r>
            <a:endParaRPr lang="en-US" sz="920" dirty="0"/>
          </a:p>
        </p:txBody>
      </p:sp>
      <p:sp>
        <p:nvSpPr>
          <p:cNvPr id="62" name="Text 60"/>
          <p:cNvSpPr/>
          <p:nvPr/>
        </p:nvSpPr>
        <p:spPr>
          <a:xfrm>
            <a:off x="3977640" y="3323844"/>
            <a:ext cx="68580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55.00</a:t>
            </a:r>
            <a:endParaRPr lang="en-US" sz="920" dirty="0"/>
          </a:p>
        </p:txBody>
      </p:sp>
      <p:sp>
        <p:nvSpPr>
          <p:cNvPr id="63" name="Text 61"/>
          <p:cNvSpPr/>
          <p:nvPr/>
        </p:nvSpPr>
        <p:spPr>
          <a:xfrm>
            <a:off x="4709160" y="3323844"/>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0.0500</a:t>
            </a:r>
            <a:endParaRPr lang="en-US" sz="920" dirty="0"/>
          </a:p>
        </p:txBody>
      </p:sp>
      <p:sp>
        <p:nvSpPr>
          <p:cNvPr id="64" name="Text 62"/>
          <p:cNvSpPr/>
          <p:nvPr/>
        </p:nvSpPr>
        <p:spPr>
          <a:xfrm>
            <a:off x="5486400" y="3323844"/>
            <a:ext cx="73152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0.0588</a:t>
            </a:r>
            <a:endParaRPr lang="en-US" sz="920" dirty="0"/>
          </a:p>
        </p:txBody>
      </p:sp>
      <p:sp>
        <p:nvSpPr>
          <p:cNvPr id="65" name="Text 63"/>
          <p:cNvSpPr/>
          <p:nvPr/>
        </p:nvSpPr>
        <p:spPr>
          <a:xfrm>
            <a:off x="6263640" y="3323844"/>
            <a:ext cx="749808"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3.24</a:t>
            </a:r>
            <a:endParaRPr lang="en-US" sz="920" dirty="0"/>
          </a:p>
        </p:txBody>
      </p:sp>
      <p:sp>
        <p:nvSpPr>
          <p:cNvPr id="66" name="Text 64"/>
          <p:cNvSpPr/>
          <p:nvPr/>
        </p:nvSpPr>
        <p:spPr>
          <a:xfrm>
            <a:off x="7059168" y="3323844"/>
            <a:ext cx="530352"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0.76</a:t>
            </a:r>
            <a:endParaRPr lang="en-US" sz="920" dirty="0"/>
          </a:p>
        </p:txBody>
      </p:sp>
      <p:sp>
        <p:nvSpPr>
          <p:cNvPr id="67" name="Text 65"/>
          <p:cNvSpPr/>
          <p:nvPr/>
        </p:nvSpPr>
        <p:spPr>
          <a:xfrm>
            <a:off x="7635240" y="3323844"/>
            <a:ext cx="658368"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£4.00</a:t>
            </a:r>
            <a:endParaRPr lang="en-US" sz="920" dirty="0"/>
          </a:p>
        </p:txBody>
      </p:sp>
      <p:sp>
        <p:nvSpPr>
          <p:cNvPr id="68" name="Shape 66"/>
          <p:cNvSpPr/>
          <p:nvPr/>
        </p:nvSpPr>
        <p:spPr>
          <a:xfrm>
            <a:off x="685800" y="3657600"/>
            <a:ext cx="7589520" cy="0"/>
          </a:xfrm>
          <a:prstGeom prst="line">
            <a:avLst/>
          </a:prstGeom>
          <a:noFill/>
          <a:ln w="12700">
            <a:solidFill>
              <a:srgbClr val="DCE3EE"/>
            </a:solidFill>
            <a:prstDash val="solid"/>
          </a:ln>
        </p:spPr>
      </p:sp>
      <p:sp>
        <p:nvSpPr>
          <p:cNvPr id="69" name="Text 67"/>
          <p:cNvSpPr/>
          <p:nvPr/>
        </p:nvSpPr>
        <p:spPr>
          <a:xfrm>
            <a:off x="685800" y="3721608"/>
            <a:ext cx="3657600" cy="25603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Machine + labour, one housing</a:t>
            </a:r>
            <a:endParaRPr lang="en-US" sz="1050" dirty="0"/>
          </a:p>
        </p:txBody>
      </p:sp>
      <p:sp>
        <p:nvSpPr>
          <p:cNvPr id="70" name="Text 68"/>
          <p:cNvSpPr/>
          <p:nvPr/>
        </p:nvSpPr>
        <p:spPr>
          <a:xfrm>
            <a:off x="5486400" y="3721608"/>
            <a:ext cx="731520" cy="256032"/>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0.3919</a:t>
            </a:r>
            <a:endParaRPr lang="en-US" sz="1050" dirty="0"/>
          </a:p>
        </p:txBody>
      </p:sp>
      <p:sp>
        <p:nvSpPr>
          <p:cNvPr id="71" name="Text 69"/>
          <p:cNvSpPr/>
          <p:nvPr/>
        </p:nvSpPr>
        <p:spPr>
          <a:xfrm>
            <a:off x="6263640" y="3721608"/>
            <a:ext cx="749808" cy="256032"/>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27.99</a:t>
            </a:r>
            <a:endParaRPr lang="en-US" sz="1050" dirty="0"/>
          </a:p>
        </p:txBody>
      </p:sp>
      <p:sp>
        <p:nvSpPr>
          <p:cNvPr id="72" name="Text 70"/>
          <p:cNvSpPr/>
          <p:nvPr/>
        </p:nvSpPr>
        <p:spPr>
          <a:xfrm>
            <a:off x="7059168" y="3721608"/>
            <a:ext cx="530352" cy="256032"/>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4.59</a:t>
            </a:r>
            <a:endParaRPr lang="en-US" sz="1050" dirty="0"/>
          </a:p>
        </p:txBody>
      </p:sp>
      <p:sp>
        <p:nvSpPr>
          <p:cNvPr id="73" name="Text 71"/>
          <p:cNvSpPr/>
          <p:nvPr/>
        </p:nvSpPr>
        <p:spPr>
          <a:xfrm>
            <a:off x="7635240" y="3721608"/>
            <a:ext cx="658368" cy="256032"/>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£32.57</a:t>
            </a:r>
            <a:endParaRPr lang="en-US" sz="1050" dirty="0"/>
          </a:p>
        </p:txBody>
      </p:sp>
      <p:sp>
        <p:nvSpPr>
          <p:cNvPr id="74" name="Text 72"/>
          <p:cNvSpPr/>
          <p:nvPr/>
        </p:nvSpPr>
        <p:spPr>
          <a:xfrm>
            <a:off x="685800" y="4023360"/>
            <a:ext cx="7589520" cy="274320"/>
          </a:xfrm>
          <a:prstGeom prst="rect">
            <a:avLst/>
          </a:prstGeom>
          <a:noFill/>
          <a:ln/>
        </p:spPr>
        <p:txBody>
          <a:bodyPr wrap="square" lIns="0" tIns="0" rIns="0" bIns="0" rtlCol="0" anchor="ctr"/>
          <a:lstStyle/>
          <a:p>
            <a:pPr indent="0" marL="0">
              <a:buNone/>
            </a:pPr>
            <a:r>
              <a:rPr lang="en-US" sz="920" i="1" dirty="0">
                <a:solidFill>
                  <a:srgbClr val="686F7D"/>
                </a:solidFill>
                <a:latin typeface="Calibri" pitchFamily="34" charset="0"/>
                <a:ea typeface="Calibri" pitchFamily="34" charset="-122"/>
                <a:cs typeface="Calibri" pitchFamily="34" charset="-120"/>
              </a:rPr>
              <a:t>Machine £ = £/hr x charged time.  Labour £ = cycle ÷ 0.9 labour efficiency x 0.5 operators x grade rate.</a:t>
            </a:r>
            <a:endParaRPr lang="en-US" sz="920" dirty="0"/>
          </a:p>
        </p:txBody>
      </p:sp>
      <p:sp>
        <p:nvSpPr>
          <p:cNvPr id="75" name="Shape 73"/>
          <p:cNvSpPr/>
          <p:nvPr/>
        </p:nvSpPr>
        <p:spPr>
          <a:xfrm>
            <a:off x="8641080" y="1170432"/>
            <a:ext cx="3090672" cy="3200400"/>
          </a:xfrm>
          <a:prstGeom prst="roundRect">
            <a:avLst>
              <a:gd name="adj" fmla="val 2959"/>
            </a:avLst>
          </a:prstGeom>
          <a:solidFill>
            <a:srgbClr val="E6F4F1"/>
          </a:solidFill>
          <a:ln w="15875">
            <a:solidFill>
              <a:srgbClr val="0D7D71"/>
            </a:solidFill>
            <a:prstDash val="solid"/>
          </a:ln>
        </p:spPr>
      </p:sp>
      <p:sp>
        <p:nvSpPr>
          <p:cNvPr id="76" name="Text 74"/>
          <p:cNvSpPr/>
          <p:nvPr/>
        </p:nvSpPr>
        <p:spPr>
          <a:xfrm>
            <a:off x="8851392" y="1280160"/>
            <a:ext cx="2743200" cy="237744"/>
          </a:xfrm>
          <a:prstGeom prst="rect">
            <a:avLst/>
          </a:prstGeom>
          <a:noFill/>
          <a:ln/>
        </p:spPr>
        <p:txBody>
          <a:bodyPr wrap="square" lIns="0" tIns="0" rIns="0" bIns="0" rtlCol="0" anchor="ctr"/>
          <a:lstStyle/>
          <a:p>
            <a:pPr indent="0" marL="0">
              <a:buNone/>
            </a:pPr>
            <a:r>
              <a:rPr lang="en-US" sz="1000" b="1" spc="80" kern="0" dirty="0">
                <a:solidFill>
                  <a:srgbClr val="0D7D71"/>
                </a:solidFill>
                <a:latin typeface="Calibri" pitchFamily="34" charset="0"/>
                <a:ea typeface="Calibri" pitchFamily="34" charset="-122"/>
                <a:cs typeface="Calibri" pitchFamily="34" charset="-120"/>
              </a:rPr>
              <a:t>HOW A CYCLE TIME IS BUILT</a:t>
            </a:r>
            <a:endParaRPr lang="en-US" sz="1000" dirty="0"/>
          </a:p>
        </p:txBody>
      </p:sp>
      <p:sp>
        <p:nvSpPr>
          <p:cNvPr id="77" name="Text 75"/>
          <p:cNvSpPr/>
          <p:nvPr/>
        </p:nvSpPr>
        <p:spPr>
          <a:xfrm>
            <a:off x="8851392" y="1609344"/>
            <a:ext cx="274320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Casting</a:t>
            </a:r>
            <a:endParaRPr lang="en-US" sz="1050" dirty="0"/>
          </a:p>
        </p:txBody>
      </p:sp>
      <p:sp>
        <p:nvSpPr>
          <p:cNvPr id="78" name="Text 76"/>
          <p:cNvSpPr/>
          <p:nvPr/>
        </p:nvSpPr>
        <p:spPr>
          <a:xfrm>
            <a:off x="8851392" y="1828800"/>
            <a:ext cx="2743200" cy="67665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fill + hold under pressure + cool until solid + open and eject = 55 seconds</a:t>
            </a:r>
            <a:endParaRPr lang="en-US" sz="930" dirty="0"/>
          </a:p>
        </p:txBody>
      </p:sp>
      <p:sp>
        <p:nvSpPr>
          <p:cNvPr id="79" name="Text 77"/>
          <p:cNvSpPr/>
          <p:nvPr/>
        </p:nvSpPr>
        <p:spPr>
          <a:xfrm>
            <a:off x="8851392" y="2505456"/>
            <a:ext cx="274320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Machining</a:t>
            </a:r>
            <a:endParaRPr lang="en-US" sz="1050" dirty="0"/>
          </a:p>
        </p:txBody>
      </p:sp>
      <p:sp>
        <p:nvSpPr>
          <p:cNvPr id="80" name="Text 78"/>
          <p:cNvSpPr/>
          <p:nvPr/>
        </p:nvSpPr>
        <p:spPr>
          <a:xfrm>
            <a:off x="8851392" y="2724912"/>
            <a:ext cx="2743200" cy="67665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metal to remove / how fast the cutter removes it, + tool changes, + moving between features, + load and unload</a:t>
            </a:r>
            <a:endParaRPr lang="en-US" sz="930" dirty="0"/>
          </a:p>
        </p:txBody>
      </p:sp>
      <p:sp>
        <p:nvSpPr>
          <p:cNvPr id="81" name="Text 79"/>
          <p:cNvSpPr/>
          <p:nvPr/>
        </p:nvSpPr>
        <p:spPr>
          <a:xfrm>
            <a:off x="8851392" y="3401568"/>
            <a:ext cx="274320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 OEE column</a:t>
            </a:r>
            <a:endParaRPr lang="en-US" sz="1050" dirty="0"/>
          </a:p>
        </p:txBody>
      </p:sp>
      <p:sp>
        <p:nvSpPr>
          <p:cNvPr id="82" name="Text 80"/>
          <p:cNvSpPr/>
          <p:nvPr/>
        </p:nvSpPr>
        <p:spPr>
          <a:xfrm>
            <a:off x="8851392" y="3621024"/>
            <a:ext cx="2743200" cy="676656"/>
          </a:xfrm>
          <a:prstGeom prst="rect">
            <a:avLst/>
          </a:prstGeom>
          <a:noFill/>
          <a:ln/>
        </p:spPr>
        <p:txBody>
          <a:bodyPr wrap="square" lIns="0" tIns="0" rIns="0" bIns="0" rtlCol="0" anchor="t"/>
          <a:lstStyle/>
          <a:p>
            <a:pPr indent="0" marL="0">
              <a:buNone/>
            </a:pPr>
            <a:r>
              <a:rPr lang="en-US" sz="930" dirty="0">
                <a:solidFill>
                  <a:srgbClr val="3A4356"/>
                </a:solidFill>
                <a:latin typeface="Calibri" pitchFamily="34" charset="0"/>
                <a:ea typeface="Calibri" pitchFamily="34" charset="-122"/>
                <a:cs typeface="Calibri" pitchFamily="34" charset="-120"/>
              </a:rPr>
              <a:t>a machine is never 100% available. At 85% OEE, 0.110 hr of cutting occupies 0.1294 hr of machine. We cost the real world.</a:t>
            </a:r>
            <a:endParaRPr lang="en-US" sz="930" dirty="0"/>
          </a:p>
        </p:txBody>
      </p:sp>
      <p:sp>
        <p:nvSpPr>
          <p:cNvPr id="83" name="Shape 81"/>
          <p:cNvSpPr/>
          <p:nvPr/>
        </p:nvSpPr>
        <p:spPr>
          <a:xfrm>
            <a:off x="457200" y="4572000"/>
            <a:ext cx="11274552" cy="1691640"/>
          </a:xfrm>
          <a:prstGeom prst="roundRect">
            <a:avLst>
              <a:gd name="adj" fmla="val 5405"/>
            </a:avLst>
          </a:prstGeom>
          <a:solidFill>
            <a:srgbClr val="FFFFFF"/>
          </a:solidFill>
          <a:ln w="19050">
            <a:solidFill>
              <a:srgbClr val="2A7F50"/>
            </a:solidFill>
            <a:prstDash val="solid"/>
          </a:ln>
        </p:spPr>
      </p:sp>
      <p:sp>
        <p:nvSpPr>
          <p:cNvPr id="84" name="Text 82"/>
          <p:cNvSpPr/>
          <p:nvPr/>
        </p:nvSpPr>
        <p:spPr>
          <a:xfrm>
            <a:off x="731520" y="4681728"/>
            <a:ext cx="7315200" cy="274320"/>
          </a:xfrm>
          <a:prstGeom prst="rect">
            <a:avLst/>
          </a:prstGeom>
          <a:noFill/>
          <a:ln/>
        </p:spPr>
        <p:txBody>
          <a:bodyPr wrap="square" lIns="0" tIns="0" rIns="0" bIns="0" rtlCol="0" anchor="ctr"/>
          <a:lstStyle/>
          <a:p>
            <a:pPr indent="0" marL="0">
              <a:buNone/>
            </a:pPr>
            <a:r>
              <a:rPr lang="en-US" sz="1250" b="1" dirty="0">
                <a:solidFill>
                  <a:srgbClr val="2A7F50"/>
                </a:solidFill>
                <a:latin typeface="Calibri" pitchFamily="34" charset="0"/>
                <a:ea typeface="Calibri" pitchFamily="34" charset="-122"/>
                <a:cs typeface="Calibri" pitchFamily="34" charset="-120"/>
              </a:rPr>
              <a:t>THE SURPRISE — and why this changes a negotiation</a:t>
            </a:r>
            <a:endParaRPr lang="en-US" sz="1250" dirty="0"/>
          </a:p>
        </p:txBody>
      </p:sp>
      <p:graphicFrame>
        <p:nvGraphicFramePr>
          <p:cNvPr id="85" name="Chart 0" descr=""/>
          <p:cNvGraphicFramePr/>
          <p:nvPr/>
        </p:nvGraphicFramePr>
        <p:xfrm>
          <a:off x="594360" y="4956048"/>
          <a:ext cx="5943600" cy="1188720"/>
        </p:xfrm>
        <a:graphic xmlns:a="http://schemas.openxmlformats.org/drawingml/2006/main">
          <a:graphicData uri="http://schemas.openxmlformats.org/drawingml/2006/chart">
            <c:chart xmlns:c="http://schemas.openxmlformats.org/drawingml/2006/chart" r:id="rId1"/>
          </a:graphicData>
        </a:graphic>
      </p:graphicFrame>
      <p:sp>
        <p:nvSpPr>
          <p:cNvPr id="86" name="Text 83"/>
          <p:cNvSpPr/>
          <p:nvPr/>
        </p:nvSpPr>
        <p:spPr>
          <a:xfrm>
            <a:off x="6766560" y="4974336"/>
            <a:ext cx="4754880" cy="1170432"/>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The famous casting shot is £2.68 — 8% of the making cost. Cutting metal is £25.89 (79%); add test, deburr and wash and everything after the shot is £29.89, or 92%.
</a:t>
            </a:r>
            <a:pPr indent="0" marL="0">
              <a:buNone/>
            </a:pPr>
            <a:r>
              <a:rPr lang="en-US" sz="1050" b="1" dirty="0">
                <a:solidFill>
                  <a:srgbClr val="16325C"/>
                </a:solidFill>
                <a:latin typeface="Calibri" pitchFamily="34" charset="0"/>
                <a:ea typeface="Calibri" pitchFamily="34" charset="-122"/>
                <a:cs typeface="Calibri" pitchFamily="34" charset="-120"/>
              </a:rPr>
              <a:t>So arguing about the aluminium price is arguing about the wrong thing. </a:t>
            </a:r>
            <a:pPr indent="0" marL="0">
              <a:buNone/>
            </a:pPr>
            <a:r>
              <a:rPr lang="en-US" sz="1050" dirty="0">
                <a:solidFill>
                  <a:srgbClr val="3A4356"/>
                </a:solidFill>
                <a:latin typeface="Calibri" pitchFamily="34" charset="0"/>
                <a:ea typeface="Calibri" pitchFamily="34" charset="-122"/>
                <a:cs typeface="Calibri" pitchFamily="34" charset="-120"/>
              </a:rPr>
              <a:t>The money is in cycle time — which makes fixturing and tool paths the productive conversation.</a:t>
            </a:r>
            <a:endParaRPr lang="en-US" sz="1050" dirty="0"/>
          </a:p>
        </p:txBody>
      </p:sp>
      <p:sp>
        <p:nvSpPr>
          <p:cNvPr id="87" name="Text 8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88" name="Text 8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9–10 · Building the Cost, Country by Country</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Eight buckets, always the same eight — then recalculated on each country’s rates</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70432"/>
            <a:ext cx="6400800" cy="3291840"/>
          </a:xfrm>
          <a:prstGeom prst="roundRect">
            <a:avLst>
              <a:gd name="adj" fmla="val 2778"/>
            </a:avLst>
          </a:prstGeom>
          <a:solidFill>
            <a:srgbClr val="FFFFFF"/>
          </a:solidFill>
          <a:ln w="12700">
            <a:solidFill>
              <a:srgbClr val="DCE3EE"/>
            </a:solidFill>
            <a:prstDash val="solid"/>
          </a:ln>
        </p:spPr>
      </p:sp>
      <p:sp>
        <p:nvSpPr>
          <p:cNvPr id="8" name="Text 6"/>
          <p:cNvSpPr/>
          <p:nvPr/>
        </p:nvSpPr>
        <p:spPr>
          <a:xfrm>
            <a:off x="685800" y="1280160"/>
            <a:ext cx="5852160" cy="256032"/>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THE EIGHT BUCKETS — this housing, made in China</a:t>
            </a:r>
            <a:endParaRPr lang="en-US" sz="1150" dirty="0"/>
          </a:p>
        </p:txBody>
      </p:sp>
      <p:sp>
        <p:nvSpPr>
          <p:cNvPr id="9" name="Text 7"/>
          <p:cNvSpPr/>
          <p:nvPr/>
        </p:nvSpPr>
        <p:spPr>
          <a:xfrm>
            <a:off x="685800" y="4114800"/>
            <a:ext cx="5943600" cy="274320"/>
          </a:xfrm>
          <a:prstGeom prst="rect">
            <a:avLst/>
          </a:prstGeom>
          <a:noFill/>
          <a:ln/>
        </p:spPr>
        <p:txBody>
          <a:bodyPr wrap="square" lIns="0" tIns="0" rIns="0" bIns="0" rtlCol="0" anchor="ctr"/>
          <a:lstStyle/>
          <a:p>
            <a:pPr indent="0" marL="0">
              <a:buNone/>
            </a:pPr>
            <a:r>
              <a:rPr lang="en-US" sz="860" i="1" dirty="0">
                <a:solidFill>
                  <a:srgbClr val="686F7D"/>
                </a:solidFill>
                <a:latin typeface="Calibri" pitchFamily="34" charset="0"/>
                <a:ea typeface="Calibri" pitchFamily="34" charset="-122"/>
                <a:cs typeface="Calibri" pitchFamily="34" charset="-120"/>
              </a:rPr>
              <a:t>Material = at poured weight · Process = casting shot + all machining · Tooling = the die, per part</a:t>
            </a:r>
            <a:endParaRPr lang="en-US" sz="860" dirty="0"/>
          </a:p>
        </p:txBody>
      </p:sp>
      <p:graphicFrame>
        <p:nvGraphicFramePr>
          <p:cNvPr id="10" name="Chart 0" descr=""/>
          <p:cNvGraphicFramePr/>
          <p:nvPr/>
        </p:nvGraphicFramePr>
        <p:xfrm>
          <a:off x="566928" y="1517904"/>
          <a:ext cx="6172200" cy="257860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086600" y="1170432"/>
            <a:ext cx="4645152" cy="1600200"/>
          </a:xfrm>
          <a:prstGeom prst="roundRect">
            <a:avLst>
              <a:gd name="adj" fmla="val 5714"/>
            </a:avLst>
          </a:prstGeom>
          <a:solidFill>
            <a:srgbClr val="0E5A5A"/>
          </a:solidFill>
          <a:ln/>
        </p:spPr>
      </p:sp>
      <p:sp>
        <p:nvSpPr>
          <p:cNvPr id="12" name="Text 9"/>
          <p:cNvSpPr/>
          <p:nvPr/>
        </p:nvSpPr>
        <p:spPr>
          <a:xfrm>
            <a:off x="7315200" y="1298448"/>
            <a:ext cx="4206240" cy="237744"/>
          </a:xfrm>
          <a:prstGeom prst="rect">
            <a:avLst/>
          </a:prstGeom>
          <a:noFill/>
          <a:ln/>
        </p:spPr>
        <p:txBody>
          <a:bodyPr wrap="square" lIns="0" tIns="0" rIns="0" bIns="0" rtlCol="0" anchor="ctr"/>
          <a:lstStyle/>
          <a:p>
            <a:pPr indent="0" marL="0">
              <a:buNone/>
            </a:pPr>
            <a:r>
              <a:rPr lang="en-US" sz="1000" b="1" spc="100" kern="0" dirty="0">
                <a:solidFill>
                  <a:srgbClr val="9FD9CF"/>
                </a:solidFill>
                <a:latin typeface="Calibri" pitchFamily="34" charset="0"/>
                <a:ea typeface="Calibri" pitchFamily="34" charset="-122"/>
                <a:cs typeface="Calibri" pitchFamily="34" charset="-120"/>
              </a:rPr>
              <a:t>SHOULD-COST — MADE IN CHINA</a:t>
            </a:r>
            <a:endParaRPr lang="en-US" sz="1000" dirty="0"/>
          </a:p>
        </p:txBody>
      </p:sp>
      <p:sp>
        <p:nvSpPr>
          <p:cNvPr id="13" name="Text 10"/>
          <p:cNvSpPr/>
          <p:nvPr/>
        </p:nvSpPr>
        <p:spPr>
          <a:xfrm>
            <a:off x="7315200" y="1554480"/>
            <a:ext cx="4206240" cy="6858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£38.55</a:t>
            </a:r>
            <a:endParaRPr lang="en-US" sz="4400" dirty="0"/>
          </a:p>
        </p:txBody>
      </p:sp>
      <p:sp>
        <p:nvSpPr>
          <p:cNvPr id="14" name="Text 11"/>
          <p:cNvSpPr/>
          <p:nvPr/>
        </p:nvSpPr>
        <p:spPr>
          <a:xfrm>
            <a:off x="7315200" y="2286000"/>
            <a:ext cx="4206240" cy="256032"/>
          </a:xfrm>
          <a:prstGeom prst="rect">
            <a:avLst/>
          </a:prstGeom>
          <a:noFill/>
          <a:ln/>
        </p:spPr>
        <p:txBody>
          <a:bodyPr wrap="square" lIns="0" tIns="0" rIns="0" bIns="0" rtlCol="0" anchor="ctr"/>
          <a:lstStyle/>
          <a:p>
            <a:pPr indent="0" marL="0">
              <a:buNone/>
            </a:pPr>
            <a:r>
              <a:rPr lang="en-US" sz="1100" dirty="0">
                <a:solidFill>
                  <a:srgbClr val="CDEDE7"/>
                </a:solidFill>
                <a:latin typeface="Calibri" pitchFamily="34" charset="0"/>
                <a:ea typeface="Calibri" pitchFamily="34" charset="-122"/>
                <a:cs typeface="Calibri" pitchFamily="34" charset="-120"/>
              </a:rPr>
              <a:t>per part, at 60,000 a year</a:t>
            </a:r>
            <a:endParaRPr lang="en-US" sz="1100" dirty="0"/>
          </a:p>
        </p:txBody>
      </p:sp>
      <p:sp>
        <p:nvSpPr>
          <p:cNvPr id="15" name="Shape 12"/>
          <p:cNvSpPr/>
          <p:nvPr/>
        </p:nvSpPr>
        <p:spPr>
          <a:xfrm>
            <a:off x="7086600" y="2926080"/>
            <a:ext cx="4645152" cy="1536192"/>
          </a:xfrm>
          <a:prstGeom prst="roundRect">
            <a:avLst>
              <a:gd name="adj" fmla="val 5952"/>
            </a:avLst>
          </a:prstGeom>
          <a:solidFill>
            <a:srgbClr val="FFFFFF"/>
          </a:solidFill>
          <a:ln w="12700">
            <a:solidFill>
              <a:srgbClr val="DCE3EE"/>
            </a:solidFill>
            <a:prstDash val="solid"/>
          </a:ln>
        </p:spPr>
      </p:sp>
      <p:sp>
        <p:nvSpPr>
          <p:cNvPr id="16" name="Text 13"/>
          <p:cNvSpPr/>
          <p:nvPr/>
        </p:nvSpPr>
        <p:spPr>
          <a:xfrm>
            <a:off x="7315200" y="3035808"/>
            <a:ext cx="4206240" cy="237744"/>
          </a:xfrm>
          <a:prstGeom prst="rect">
            <a:avLst/>
          </a:prstGeom>
          <a:noFill/>
          <a:ln/>
        </p:spPr>
        <p:txBody>
          <a:bodyPr wrap="square" lIns="0" tIns="0" rIns="0" bIns="0" rtlCol="0" anchor="ctr"/>
          <a:lstStyle/>
          <a:p>
            <a:pPr indent="0" marL="0">
              <a:buNone/>
            </a:pPr>
            <a:r>
              <a:rPr lang="en-US" sz="1000" b="1" spc="80" kern="0" dirty="0">
                <a:solidFill>
                  <a:srgbClr val="16325C"/>
                </a:solidFill>
                <a:latin typeface="Calibri" pitchFamily="34" charset="0"/>
                <a:ea typeface="Calibri" pitchFamily="34" charset="-122"/>
                <a:cs typeface="Calibri" pitchFamily="34" charset="-120"/>
              </a:rPr>
              <a:t>THE SAME PART, PRICED ELSEWHERE</a:t>
            </a:r>
            <a:endParaRPr lang="en-US" sz="1000" dirty="0"/>
          </a:p>
        </p:txBody>
      </p:sp>
      <p:sp>
        <p:nvSpPr>
          <p:cNvPr id="17" name="Text 14"/>
          <p:cNvSpPr/>
          <p:nvPr/>
        </p:nvSpPr>
        <p:spPr>
          <a:xfrm>
            <a:off x="7360920" y="3273552"/>
            <a:ext cx="2194560" cy="246888"/>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India</a:t>
            </a:r>
            <a:endParaRPr lang="en-US" sz="1050" dirty="0"/>
          </a:p>
        </p:txBody>
      </p:sp>
      <p:sp>
        <p:nvSpPr>
          <p:cNvPr id="18" name="Text 15"/>
          <p:cNvSpPr/>
          <p:nvPr/>
        </p:nvSpPr>
        <p:spPr>
          <a:xfrm>
            <a:off x="9326880" y="3273552"/>
            <a:ext cx="2103120" cy="246888"/>
          </a:xfrm>
          <a:prstGeom prst="rect">
            <a:avLst/>
          </a:prstGeom>
          <a:noFill/>
          <a:ln/>
        </p:spPr>
        <p:txBody>
          <a:bodyPr wrap="square" lIns="0" tIns="0" rIns="0" bIns="0" rtlCol="0" anchor="ctr"/>
          <a:lstStyle/>
          <a:p>
            <a:pPr algn="r" indent="0" marL="0">
              <a:buNone/>
            </a:pPr>
            <a:r>
              <a:rPr lang="en-US" sz="1150" b="1" dirty="0">
                <a:solidFill>
                  <a:srgbClr val="3A4356"/>
                </a:solidFill>
                <a:latin typeface="Calibri" pitchFamily="34" charset="0"/>
                <a:ea typeface="Calibri" pitchFamily="34" charset="-122"/>
                <a:cs typeface="Calibri" pitchFamily="34" charset="-120"/>
              </a:rPr>
              <a:t>£37.17</a:t>
            </a:r>
            <a:endParaRPr lang="en-US" sz="1150" dirty="0"/>
          </a:p>
        </p:txBody>
      </p:sp>
      <p:sp>
        <p:nvSpPr>
          <p:cNvPr id="19" name="Text 16"/>
          <p:cNvSpPr/>
          <p:nvPr/>
        </p:nvSpPr>
        <p:spPr>
          <a:xfrm>
            <a:off x="7360920" y="3511296"/>
            <a:ext cx="2194560" cy="246888"/>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China</a:t>
            </a:r>
            <a:endParaRPr lang="en-US" sz="1050" dirty="0"/>
          </a:p>
        </p:txBody>
      </p:sp>
      <p:sp>
        <p:nvSpPr>
          <p:cNvPr id="20" name="Text 17"/>
          <p:cNvSpPr/>
          <p:nvPr/>
        </p:nvSpPr>
        <p:spPr>
          <a:xfrm>
            <a:off x="9326880" y="3511296"/>
            <a:ext cx="2103120" cy="246888"/>
          </a:xfrm>
          <a:prstGeom prst="rect">
            <a:avLst/>
          </a:prstGeom>
          <a:noFill/>
          <a:ln/>
        </p:spPr>
        <p:txBody>
          <a:bodyPr wrap="square" lIns="0" tIns="0" rIns="0" bIns="0" rtlCol="0" anchor="ctr"/>
          <a:lstStyle/>
          <a:p>
            <a:pPr algn="r" indent="0" marL="0">
              <a:buNone/>
            </a:pPr>
            <a:r>
              <a:rPr lang="en-US" sz="1150" b="1" dirty="0">
                <a:solidFill>
                  <a:srgbClr val="0D7D71"/>
                </a:solidFill>
                <a:latin typeface="Calibri" pitchFamily="34" charset="0"/>
                <a:ea typeface="Calibri" pitchFamily="34" charset="-122"/>
                <a:cs typeface="Calibri" pitchFamily="34" charset="-120"/>
              </a:rPr>
              <a:t>£38.55</a:t>
            </a:r>
            <a:endParaRPr lang="en-US" sz="1150" dirty="0"/>
          </a:p>
        </p:txBody>
      </p:sp>
      <p:sp>
        <p:nvSpPr>
          <p:cNvPr id="21" name="Text 18"/>
          <p:cNvSpPr/>
          <p:nvPr/>
        </p:nvSpPr>
        <p:spPr>
          <a:xfrm>
            <a:off x="7360920" y="3749040"/>
            <a:ext cx="2194560" cy="246888"/>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Mexico</a:t>
            </a:r>
            <a:endParaRPr lang="en-US" sz="1050" dirty="0"/>
          </a:p>
        </p:txBody>
      </p:sp>
      <p:sp>
        <p:nvSpPr>
          <p:cNvPr id="22" name="Text 19"/>
          <p:cNvSpPr/>
          <p:nvPr/>
        </p:nvSpPr>
        <p:spPr>
          <a:xfrm>
            <a:off x="9326880" y="3749040"/>
            <a:ext cx="2103120" cy="246888"/>
          </a:xfrm>
          <a:prstGeom prst="rect">
            <a:avLst/>
          </a:prstGeom>
          <a:noFill/>
          <a:ln/>
        </p:spPr>
        <p:txBody>
          <a:bodyPr wrap="square" lIns="0" tIns="0" rIns="0" bIns="0" rtlCol="0" anchor="ctr"/>
          <a:lstStyle/>
          <a:p>
            <a:pPr algn="r" indent="0" marL="0">
              <a:buNone/>
            </a:pPr>
            <a:r>
              <a:rPr lang="en-US" sz="1150" b="1" dirty="0">
                <a:solidFill>
                  <a:srgbClr val="3A4356"/>
                </a:solidFill>
                <a:latin typeface="Calibri" pitchFamily="34" charset="0"/>
                <a:ea typeface="Calibri" pitchFamily="34" charset="-122"/>
                <a:cs typeface="Calibri" pitchFamily="34" charset="-120"/>
              </a:rPr>
              <a:t>£40.44</a:t>
            </a:r>
            <a:endParaRPr lang="en-US" sz="1150" dirty="0"/>
          </a:p>
        </p:txBody>
      </p:sp>
      <p:sp>
        <p:nvSpPr>
          <p:cNvPr id="23" name="Text 20"/>
          <p:cNvSpPr/>
          <p:nvPr/>
        </p:nvSpPr>
        <p:spPr>
          <a:xfrm>
            <a:off x="7360920" y="3986784"/>
            <a:ext cx="2194560" cy="246888"/>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United Kingdom</a:t>
            </a:r>
            <a:endParaRPr lang="en-US" sz="1050" dirty="0"/>
          </a:p>
        </p:txBody>
      </p:sp>
      <p:sp>
        <p:nvSpPr>
          <p:cNvPr id="24" name="Text 21"/>
          <p:cNvSpPr/>
          <p:nvPr/>
        </p:nvSpPr>
        <p:spPr>
          <a:xfrm>
            <a:off x="9326880" y="3986784"/>
            <a:ext cx="2103120" cy="246888"/>
          </a:xfrm>
          <a:prstGeom prst="rect">
            <a:avLst/>
          </a:prstGeom>
          <a:noFill/>
          <a:ln/>
        </p:spPr>
        <p:txBody>
          <a:bodyPr wrap="square" lIns="0" tIns="0" rIns="0" bIns="0" rtlCol="0" anchor="ctr"/>
          <a:lstStyle/>
          <a:p>
            <a:pPr algn="r" indent="0" marL="0">
              <a:buNone/>
            </a:pPr>
            <a:r>
              <a:rPr lang="en-US" sz="1150" b="1" dirty="0">
                <a:solidFill>
                  <a:srgbClr val="16325C"/>
                </a:solidFill>
                <a:latin typeface="Calibri" pitchFamily="34" charset="0"/>
                <a:ea typeface="Calibri" pitchFamily="34" charset="-122"/>
                <a:cs typeface="Calibri" pitchFamily="34" charset="-120"/>
              </a:rPr>
              <a:t>£59.60</a:t>
            </a:r>
            <a:endParaRPr lang="en-US" sz="1150" dirty="0"/>
          </a:p>
        </p:txBody>
      </p:sp>
      <p:sp>
        <p:nvSpPr>
          <p:cNvPr id="25" name="Text 22"/>
          <p:cNvSpPr/>
          <p:nvPr/>
        </p:nvSpPr>
        <p:spPr>
          <a:xfrm>
            <a:off x="7315200" y="4206240"/>
            <a:ext cx="4251960" cy="274320"/>
          </a:xfrm>
          <a:prstGeom prst="rect">
            <a:avLst/>
          </a:prstGeom>
          <a:noFill/>
          <a:ln/>
        </p:spPr>
        <p:txBody>
          <a:bodyPr wrap="square" lIns="0" tIns="0" rIns="0" bIns="0" rtlCol="0" anchor="ctr"/>
          <a:lstStyle/>
          <a:p>
            <a:pPr indent="0" marL="0">
              <a:buNone/>
            </a:pPr>
            <a:r>
              <a:rPr lang="en-US" sz="820" i="1" dirty="0">
                <a:solidFill>
                  <a:srgbClr val="686F7D"/>
                </a:solidFill>
                <a:latin typeface="Calibri" pitchFamily="34" charset="0"/>
                <a:ea typeface="Calibri" pitchFamily="34" charset="-122"/>
                <a:cs typeface="Calibri" pitchFamily="34" charset="-120"/>
              </a:rPr>
              <a:t>Metal barely moves: £12.18 CN vs £12.56 UK. Rates do.</a:t>
            </a:r>
            <a:endParaRPr lang="en-US" sz="820" dirty="0"/>
          </a:p>
        </p:txBody>
      </p:sp>
      <p:sp>
        <p:nvSpPr>
          <p:cNvPr id="26" name="Shape 23"/>
          <p:cNvSpPr/>
          <p:nvPr/>
        </p:nvSpPr>
        <p:spPr>
          <a:xfrm>
            <a:off x="457200" y="4645152"/>
            <a:ext cx="11274552" cy="1627632"/>
          </a:xfrm>
          <a:prstGeom prst="roundRect">
            <a:avLst>
              <a:gd name="adj" fmla="val 5618"/>
            </a:avLst>
          </a:prstGeom>
          <a:solidFill>
            <a:srgbClr val="FFFFFF"/>
          </a:solidFill>
          <a:ln w="12700">
            <a:solidFill>
              <a:srgbClr val="DCE3EE"/>
            </a:solidFill>
            <a:prstDash val="solid"/>
          </a:ln>
        </p:spPr>
      </p:sp>
      <p:sp>
        <p:nvSpPr>
          <p:cNvPr id="27" name="Text 24"/>
          <p:cNvSpPr/>
          <p:nvPr/>
        </p:nvSpPr>
        <p:spPr>
          <a:xfrm>
            <a:off x="731520" y="4754880"/>
            <a:ext cx="10058400" cy="274320"/>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Two rules the engine applies to every single part, without exception</a:t>
            </a:r>
            <a:endParaRPr lang="en-US" sz="1250" dirty="0"/>
          </a:p>
        </p:txBody>
      </p:sp>
      <p:sp>
        <p:nvSpPr>
          <p:cNvPr id="28" name="Text 25"/>
          <p:cNvSpPr/>
          <p:nvPr/>
        </p:nvSpPr>
        <p:spPr>
          <a:xfrm>
            <a:off x="731520" y="5047488"/>
            <a:ext cx="10744200" cy="1143000"/>
          </a:xfrm>
          <a:prstGeom prst="rect">
            <a:avLst/>
          </a:prstGeom>
          <a:noFill/>
          <a:ln/>
        </p:spPr>
        <p:txBody>
          <a:bodyPr wrap="square" lIns="0" tIns="0" rIns="0" bIns="0" rtlCol="0" anchor="t"/>
          <a:lstStyle/>
          <a:p>
            <a:pPr indent="0" marL="0">
              <a:buNone/>
            </a:pPr>
            <a:r>
              <a:rPr lang="en-US" sz="1150" b="1" dirty="0">
                <a:solidFill>
                  <a:srgbClr val="0D7D71"/>
                </a:solidFill>
                <a:latin typeface="Calibri" pitchFamily="34" charset="0"/>
                <a:ea typeface="Calibri" pitchFamily="34" charset="-122"/>
                <a:cs typeface="Calibri" pitchFamily="34" charset="-120"/>
              </a:rPr>
              <a:t>1.  Always the same eight buckets. </a:t>
            </a:r>
            <a:pPr indent="0" marL="0">
              <a:buNone/>
            </a:pPr>
            <a:r>
              <a:rPr lang="en-US" sz="1150" dirty="0">
                <a:solidFill>
                  <a:srgbClr val="3A4356"/>
                </a:solidFill>
                <a:latin typeface="Calibri" pitchFamily="34" charset="0"/>
                <a:ea typeface="Calibri" pitchFamily="34" charset="-122"/>
                <a:cs typeface="Calibri" pitchFamily="34" charset="-120"/>
              </a:rPr>
              <a:t>A stamped bracket, a moulded housing and this casting are all built the same way, so any two parts compare honestly. Overhead is a % of material + process + labour + tooling. Margin is a % of the subtotal. Each once.
</a:t>
            </a:r>
            <a:pPr indent="0" marL="0">
              <a:buNone/>
            </a:pPr>
            <a:r>
              <a:rPr lang="en-US" sz="1150" b="1" dirty="0">
                <a:solidFill>
                  <a:srgbClr val="0D7D71"/>
                </a:solidFill>
                <a:latin typeface="Calibri" pitchFamily="34" charset="0"/>
                <a:ea typeface="Calibri" pitchFamily="34" charset="-122"/>
                <a:cs typeface="Calibri" pitchFamily="34" charset="-120"/>
              </a:rPr>
              <a:t>2.  Every figure traces back to a driver. </a:t>
            </a:r>
            <a:pPr indent="0" marL="0">
              <a:buNone/>
            </a:pPr>
            <a:r>
              <a:rPr lang="en-US" sz="1150" dirty="0">
                <a:solidFill>
                  <a:srgbClr val="3A4356"/>
                </a:solidFill>
                <a:latin typeface="Calibri" pitchFamily="34" charset="0"/>
                <a:ea typeface="Calibri" pitchFamily="34" charset="-122"/>
                <a:cs typeface="Calibri" pitchFamily="34" charset="-120"/>
              </a:rPr>
              <a:t>Material = measured weight x a published metal price. Process = calculated time x a machine rate. Change any input and you can point at exactly why the answer moved — there is no black box in the money.</a:t>
            </a:r>
            <a:endParaRPr lang="en-US" sz="1150" dirty="0"/>
          </a:p>
        </p:txBody>
      </p:sp>
      <p:sp>
        <p:nvSpPr>
          <p:cNvPr id="29" name="Text 26"/>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0" name="Text 27"/>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11–12 · Honesty, Then a Human Decides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tool tells you how confident it is — and never signs its own work</a:t>
            </a:r>
            <a:endParaRPr lang="en-US" sz="1200" dirty="0"/>
          </a:p>
        </p:txBody>
      </p:sp>
      <p:sp>
        <p:nvSpPr>
          <p:cNvPr id="5" name="Shape 3"/>
          <p:cNvSpPr/>
          <p:nvPr/>
        </p:nvSpPr>
        <p:spPr>
          <a:xfrm>
            <a:off x="9418320" y="676656"/>
            <a:ext cx="2286000" cy="310896"/>
          </a:xfrm>
          <a:prstGeom prst="roundRect">
            <a:avLst>
              <a:gd name="adj" fmla="val 50000"/>
            </a:avLst>
          </a:prstGeom>
          <a:solidFill>
            <a:srgbClr val="EAF6EF"/>
          </a:solidFill>
          <a:ln w="12700">
            <a:solidFill>
              <a:srgbClr val="2A7F50"/>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2A7F50"/>
                </a:solidFill>
                <a:latin typeface="Calibri" pitchFamily="34" charset="0"/>
                <a:ea typeface="Calibri" pitchFamily="34" charset="-122"/>
                <a:cs typeface="Calibri" pitchFamily="34" charset="-120"/>
              </a:rPr>
              <a:t>OWNER: THE ENGINEER</a:t>
            </a:r>
            <a:endParaRPr lang="en-US" sz="950" dirty="0"/>
          </a:p>
        </p:txBody>
      </p:sp>
      <p:sp>
        <p:nvSpPr>
          <p:cNvPr id="7" name="Shape 5"/>
          <p:cNvSpPr/>
          <p:nvPr/>
        </p:nvSpPr>
        <p:spPr>
          <a:xfrm>
            <a:off x="457200" y="1188720"/>
            <a:ext cx="5486400" cy="2148840"/>
          </a:xfrm>
          <a:prstGeom prst="roundRect">
            <a:avLst>
              <a:gd name="adj" fmla="val 4255"/>
            </a:avLst>
          </a:prstGeom>
          <a:solidFill>
            <a:srgbClr val="FFFFFF"/>
          </a:solidFill>
          <a:ln w="12700">
            <a:solidFill>
              <a:srgbClr val="DCE3EE"/>
            </a:solidFill>
            <a:prstDash val="solid"/>
          </a:ln>
        </p:spPr>
      </p:sp>
      <p:sp>
        <p:nvSpPr>
          <p:cNvPr id="8" name="Text 6"/>
          <p:cNvSpPr/>
          <p:nvPr/>
        </p:nvSpPr>
        <p:spPr>
          <a:xfrm>
            <a:off x="685800" y="1316736"/>
            <a:ext cx="5029200" cy="274320"/>
          </a:xfrm>
          <a:prstGeom prst="rect">
            <a:avLst/>
          </a:prstGeom>
          <a:noFill/>
          <a:ln/>
        </p:spPr>
        <p:txBody>
          <a:bodyPr wrap="square" lIns="0" tIns="0" rIns="0" bIns="0" rtlCol="0" anchor="ctr"/>
          <a:lstStyle/>
          <a:p>
            <a:pPr indent="0" marL="0">
              <a:buNone/>
            </a:pPr>
            <a:r>
              <a:rPr lang="en-US" sz="1300" b="1" dirty="0">
                <a:solidFill>
                  <a:srgbClr val="2A7F50"/>
                </a:solidFill>
                <a:latin typeface="Calibri" pitchFamily="34" charset="0"/>
                <a:ea typeface="Calibri" pitchFamily="34" charset="-122"/>
                <a:cs typeface="Calibri" pitchFamily="34" charset="-120"/>
              </a:rPr>
              <a:t>11 · A range, not false precision</a:t>
            </a:r>
            <a:endParaRPr lang="en-US" sz="1300" dirty="0"/>
          </a:p>
        </p:txBody>
      </p:sp>
      <p:sp>
        <p:nvSpPr>
          <p:cNvPr id="9" name="Text 7"/>
          <p:cNvSpPr/>
          <p:nvPr/>
        </p:nvSpPr>
        <p:spPr>
          <a:xfrm>
            <a:off x="685800" y="1627632"/>
            <a:ext cx="5029200" cy="502920"/>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4,000 simulated runs, varying the inputs the tool is least sure about. Tooling is varied most; overhead and margin are policy, so they follow.</a:t>
            </a:r>
            <a:endParaRPr lang="en-US" sz="1050" dirty="0"/>
          </a:p>
        </p:txBody>
      </p:sp>
      <p:sp>
        <p:nvSpPr>
          <p:cNvPr id="10" name="Shape 8"/>
          <p:cNvSpPr/>
          <p:nvPr/>
        </p:nvSpPr>
        <p:spPr>
          <a:xfrm>
            <a:off x="685800" y="2249424"/>
            <a:ext cx="5029200" cy="310896"/>
          </a:xfrm>
          <a:prstGeom prst="roundRect">
            <a:avLst>
              <a:gd name="adj" fmla="val 50000"/>
            </a:avLst>
          </a:prstGeom>
          <a:solidFill>
            <a:srgbClr val="DCE3EE"/>
          </a:solidFill>
          <a:ln/>
        </p:spPr>
      </p:sp>
      <p:sp>
        <p:nvSpPr>
          <p:cNvPr id="11" name="Shape 9"/>
          <p:cNvSpPr/>
          <p:nvPr/>
        </p:nvSpPr>
        <p:spPr>
          <a:xfrm>
            <a:off x="1671066" y="2249424"/>
            <a:ext cx="2987802" cy="310896"/>
          </a:xfrm>
          <a:prstGeom prst="roundRect">
            <a:avLst>
              <a:gd name="adj" fmla="val 50000"/>
            </a:avLst>
          </a:prstGeom>
          <a:solidFill>
            <a:srgbClr val="0D7D71"/>
          </a:solidFill>
          <a:ln/>
        </p:spPr>
      </p:sp>
      <p:sp>
        <p:nvSpPr>
          <p:cNvPr id="12" name="Shape 10"/>
          <p:cNvSpPr/>
          <p:nvPr/>
        </p:nvSpPr>
        <p:spPr>
          <a:xfrm>
            <a:off x="3071927" y="2176272"/>
            <a:ext cx="51206" cy="457200"/>
          </a:xfrm>
          <a:prstGeom prst="rect">
            <a:avLst/>
          </a:prstGeom>
          <a:solidFill>
            <a:srgbClr val="16325C"/>
          </a:solidFill>
          <a:ln/>
        </p:spPr>
      </p:sp>
      <p:sp>
        <p:nvSpPr>
          <p:cNvPr id="13" name="Text 11"/>
          <p:cNvSpPr/>
          <p:nvPr/>
        </p:nvSpPr>
        <p:spPr>
          <a:xfrm>
            <a:off x="1168146" y="2651760"/>
            <a:ext cx="1005840" cy="219456"/>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P10  £32.31</a:t>
            </a:r>
            <a:endParaRPr lang="en-US" sz="900" dirty="0"/>
          </a:p>
        </p:txBody>
      </p:sp>
      <p:sp>
        <p:nvSpPr>
          <p:cNvPr id="14" name="Text 12"/>
          <p:cNvSpPr/>
          <p:nvPr/>
        </p:nvSpPr>
        <p:spPr>
          <a:xfrm>
            <a:off x="2548890" y="2651760"/>
            <a:ext cx="1097280" cy="219456"/>
          </a:xfrm>
          <a:prstGeom prst="rect">
            <a:avLst/>
          </a:prstGeom>
          <a:noFill/>
          <a:ln/>
        </p:spPr>
        <p:txBody>
          <a:bodyPr wrap="square" lIns="0" tIns="0" rIns="0" bIns="0" rtlCol="0" anchor="ctr"/>
          <a:lstStyle/>
          <a:p>
            <a:pPr algn="ctr" indent="0" marL="0">
              <a:buNone/>
            </a:pPr>
            <a:r>
              <a:rPr lang="en-US" sz="1050" b="1" dirty="0">
                <a:solidFill>
                  <a:srgbClr val="16325C"/>
                </a:solidFill>
                <a:latin typeface="Calibri" pitchFamily="34" charset="0"/>
                <a:ea typeface="Calibri" pitchFamily="34" charset="-122"/>
                <a:cs typeface="Calibri" pitchFamily="34" charset="-120"/>
              </a:rPr>
              <a:t>£38.55</a:t>
            </a:r>
            <a:endParaRPr lang="en-US" sz="1050" dirty="0"/>
          </a:p>
        </p:txBody>
      </p:sp>
      <p:sp>
        <p:nvSpPr>
          <p:cNvPr id="15" name="Text 13"/>
          <p:cNvSpPr/>
          <p:nvPr/>
        </p:nvSpPr>
        <p:spPr>
          <a:xfrm>
            <a:off x="4155948" y="2651760"/>
            <a:ext cx="1005840" cy="219456"/>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P90  £45.38</a:t>
            </a:r>
            <a:endParaRPr lang="en-US" sz="900" dirty="0"/>
          </a:p>
        </p:txBody>
      </p:sp>
      <p:sp>
        <p:nvSpPr>
          <p:cNvPr id="16" name="Text 14"/>
          <p:cNvSpPr/>
          <p:nvPr/>
        </p:nvSpPr>
        <p:spPr>
          <a:xfrm>
            <a:off x="685800" y="2926080"/>
            <a:ext cx="5029200" cy="384048"/>
          </a:xfrm>
          <a:prstGeom prst="rect">
            <a:avLst/>
          </a:prstGeom>
          <a:noFill/>
          <a:ln/>
        </p:spPr>
        <p:txBody>
          <a:bodyPr wrap="square" lIns="0" tIns="0" rIns="0" bIns="0" rtlCol="0" anchor="t"/>
          <a:lstStyle/>
          <a:p>
            <a:pPr indent="0" marL="0">
              <a:buNone/>
            </a:pPr>
            <a:r>
              <a:rPr lang="en-US" sz="960" i="1" dirty="0">
                <a:solidFill>
                  <a:srgbClr val="686F7D"/>
                </a:solidFill>
                <a:latin typeface="Calibri" pitchFamily="34" charset="0"/>
                <a:ea typeface="Calibri" pitchFamily="34" charset="-122"/>
                <a:cs typeface="Calibri" pitchFamily="34" charset="-120"/>
              </a:rPr>
              <a:t>±17% on this part. The band widens when the tool is less certain — a machining-heavy casting carries more cycle-time risk than a simple pressing.</a:t>
            </a:r>
            <a:endParaRPr lang="en-US" sz="960" dirty="0"/>
          </a:p>
        </p:txBody>
      </p:sp>
      <p:sp>
        <p:nvSpPr>
          <p:cNvPr id="17" name="Shape 15"/>
          <p:cNvSpPr/>
          <p:nvPr/>
        </p:nvSpPr>
        <p:spPr>
          <a:xfrm>
            <a:off x="6172200" y="1188720"/>
            <a:ext cx="5559552" cy="2148840"/>
          </a:xfrm>
          <a:prstGeom prst="roundRect">
            <a:avLst>
              <a:gd name="adj" fmla="val 4255"/>
            </a:avLst>
          </a:prstGeom>
          <a:solidFill>
            <a:srgbClr val="EAF6EF"/>
          </a:solidFill>
          <a:ln w="15875">
            <a:solidFill>
              <a:srgbClr val="2A7F50"/>
            </a:solidFill>
            <a:prstDash val="solid"/>
          </a:ln>
        </p:spPr>
      </p:sp>
      <p:sp>
        <p:nvSpPr>
          <p:cNvPr id="18" name="Text 16"/>
          <p:cNvSpPr/>
          <p:nvPr/>
        </p:nvSpPr>
        <p:spPr>
          <a:xfrm>
            <a:off x="6400800" y="1316736"/>
            <a:ext cx="5029200" cy="274320"/>
          </a:xfrm>
          <a:prstGeom prst="rect">
            <a:avLst/>
          </a:prstGeom>
          <a:noFill/>
          <a:ln/>
        </p:spPr>
        <p:txBody>
          <a:bodyPr wrap="square" lIns="0" tIns="0" rIns="0" bIns="0" rtlCol="0" anchor="ctr"/>
          <a:lstStyle/>
          <a:p>
            <a:pPr indent="0" marL="0">
              <a:buNone/>
            </a:pPr>
            <a:r>
              <a:rPr lang="en-US" sz="1300" b="1" dirty="0">
                <a:solidFill>
                  <a:srgbClr val="2A7F50"/>
                </a:solidFill>
                <a:latin typeface="Calibri" pitchFamily="34" charset="0"/>
                <a:ea typeface="Calibri" pitchFamily="34" charset="-122"/>
                <a:cs typeface="Calibri" pitchFamily="34" charset="-120"/>
              </a:rPr>
              <a:t>12 · What the engineer actually gets</a:t>
            </a:r>
            <a:endParaRPr lang="en-US" sz="1300" dirty="0"/>
          </a:p>
        </p:txBody>
      </p:sp>
      <p:pic>
        <p:nvPicPr>
          <p:cNvPr id="19" name="Image 0" descr="preencoded.png">    </p:cNvPr>
          <p:cNvPicPr>
            <a:picLocks noChangeAspect="1"/>
          </p:cNvPicPr>
          <p:nvPr/>
        </p:nvPicPr>
        <p:blipFill>
          <a:blip r:embed="rId1"/>
          <a:stretch>
            <a:fillRect/>
          </a:stretch>
        </p:blipFill>
        <p:spPr>
          <a:xfrm>
            <a:off x="6446520" y="1700784"/>
            <a:ext cx="146304" cy="146304"/>
          </a:xfrm>
          <a:prstGeom prst="rect">
            <a:avLst/>
          </a:prstGeom>
        </p:spPr>
      </p:pic>
      <p:sp>
        <p:nvSpPr>
          <p:cNvPr id="20" name="Text 17"/>
          <p:cNvSpPr/>
          <p:nvPr/>
        </p:nvSpPr>
        <p:spPr>
          <a:xfrm>
            <a:off x="6693408" y="1636776"/>
            <a:ext cx="4846320" cy="274320"/>
          </a:xfrm>
          <a:prstGeom prst="rect">
            <a:avLst/>
          </a:prstGeom>
          <a:noFill/>
          <a:ln/>
        </p:spPr>
        <p:txBody>
          <a:bodyPr wrap="square" lIns="0" tIns="0" rIns="0" bIns="0" rtlCol="0" anchor="ctr"/>
          <a:lstStyle/>
          <a:p>
            <a:pPr indent="0" marL="0">
              <a:buNone/>
            </a:pPr>
            <a:r>
              <a:rPr lang="en-US" sz="1080" dirty="0">
                <a:solidFill>
                  <a:srgbClr val="3A4356"/>
                </a:solidFill>
                <a:latin typeface="Calibri" pitchFamily="34" charset="0"/>
                <a:ea typeface="Calibri" pitchFamily="34" charset="-122"/>
                <a:cs typeface="Calibri" pitchFamily="34" charset="-120"/>
              </a:rPr>
              <a:t>The 8-bucket breakdown, with every figure traceable</a:t>
            </a:r>
            <a:endParaRPr lang="en-US" sz="1080" dirty="0"/>
          </a:p>
        </p:txBody>
      </p:sp>
      <p:pic>
        <p:nvPicPr>
          <p:cNvPr id="21" name="Image 1" descr="preencoded.png">    </p:cNvPr>
          <p:cNvPicPr>
            <a:picLocks noChangeAspect="1"/>
          </p:cNvPicPr>
          <p:nvPr/>
        </p:nvPicPr>
        <p:blipFill>
          <a:blip r:embed="rId2"/>
          <a:stretch>
            <a:fillRect/>
          </a:stretch>
        </p:blipFill>
        <p:spPr>
          <a:xfrm>
            <a:off x="6446520" y="2011680"/>
            <a:ext cx="146304" cy="146304"/>
          </a:xfrm>
          <a:prstGeom prst="rect">
            <a:avLst/>
          </a:prstGeom>
        </p:spPr>
      </p:pic>
      <p:sp>
        <p:nvSpPr>
          <p:cNvPr id="22" name="Text 18"/>
          <p:cNvSpPr/>
          <p:nvPr/>
        </p:nvSpPr>
        <p:spPr>
          <a:xfrm>
            <a:off x="6693408" y="1947672"/>
            <a:ext cx="4846320" cy="274320"/>
          </a:xfrm>
          <a:prstGeom prst="rect">
            <a:avLst/>
          </a:prstGeom>
          <a:noFill/>
          <a:ln/>
        </p:spPr>
        <p:txBody>
          <a:bodyPr wrap="square" lIns="0" tIns="0" rIns="0" bIns="0" rtlCol="0" anchor="ctr"/>
          <a:lstStyle/>
          <a:p>
            <a:pPr indent="0" marL="0">
              <a:buNone/>
            </a:pPr>
            <a:r>
              <a:rPr lang="en-US" sz="1080" dirty="0">
                <a:solidFill>
                  <a:srgbClr val="3A4356"/>
                </a:solidFill>
                <a:latin typeface="Calibri" pitchFamily="34" charset="0"/>
                <a:ea typeface="Calibri" pitchFamily="34" charset="-122"/>
                <a:cs typeface="Calibri" pitchFamily="34" charset="-120"/>
              </a:rPr>
              <a:t>The operation list — what takes the time and why</a:t>
            </a:r>
            <a:endParaRPr lang="en-US" sz="1080" dirty="0"/>
          </a:p>
        </p:txBody>
      </p:sp>
      <p:pic>
        <p:nvPicPr>
          <p:cNvPr id="23" name="Image 2" descr="preencoded.png">    </p:cNvPr>
          <p:cNvPicPr>
            <a:picLocks noChangeAspect="1"/>
          </p:cNvPicPr>
          <p:nvPr/>
        </p:nvPicPr>
        <p:blipFill>
          <a:blip r:embed="rId3"/>
          <a:stretch>
            <a:fillRect/>
          </a:stretch>
        </p:blipFill>
        <p:spPr>
          <a:xfrm>
            <a:off x="6446520" y="2322576"/>
            <a:ext cx="146304" cy="146304"/>
          </a:xfrm>
          <a:prstGeom prst="rect">
            <a:avLst/>
          </a:prstGeom>
        </p:spPr>
      </p:pic>
      <p:sp>
        <p:nvSpPr>
          <p:cNvPr id="24" name="Text 19"/>
          <p:cNvSpPr/>
          <p:nvPr/>
        </p:nvSpPr>
        <p:spPr>
          <a:xfrm>
            <a:off x="6693408" y="2258568"/>
            <a:ext cx="4846320" cy="274320"/>
          </a:xfrm>
          <a:prstGeom prst="rect">
            <a:avLst/>
          </a:prstGeom>
          <a:noFill/>
          <a:ln/>
        </p:spPr>
        <p:txBody>
          <a:bodyPr wrap="square" lIns="0" tIns="0" rIns="0" bIns="0" rtlCol="0" anchor="ctr"/>
          <a:lstStyle/>
          <a:p>
            <a:pPr indent="0" marL="0">
              <a:buNone/>
            </a:pPr>
            <a:r>
              <a:rPr lang="en-US" sz="1080" dirty="0">
                <a:solidFill>
                  <a:srgbClr val="3A4356"/>
                </a:solidFill>
                <a:latin typeface="Calibri" pitchFamily="34" charset="0"/>
                <a:ea typeface="Calibri" pitchFamily="34" charset="-122"/>
                <a:cs typeface="Calibri" pitchFamily="34" charset="-120"/>
              </a:rPr>
              <a:t>Every question asked, and the answer given</a:t>
            </a:r>
            <a:endParaRPr lang="en-US" sz="1080" dirty="0"/>
          </a:p>
        </p:txBody>
      </p:sp>
      <p:pic>
        <p:nvPicPr>
          <p:cNvPr id="25" name="Image 3" descr="preencoded.png">    </p:cNvPr>
          <p:cNvPicPr>
            <a:picLocks noChangeAspect="1"/>
          </p:cNvPicPr>
          <p:nvPr/>
        </p:nvPicPr>
        <p:blipFill>
          <a:blip r:embed="rId4"/>
          <a:stretch>
            <a:fillRect/>
          </a:stretch>
        </p:blipFill>
        <p:spPr>
          <a:xfrm>
            <a:off x="6446520" y="2633472"/>
            <a:ext cx="146304" cy="146304"/>
          </a:xfrm>
          <a:prstGeom prst="rect">
            <a:avLst/>
          </a:prstGeom>
        </p:spPr>
      </p:pic>
      <p:sp>
        <p:nvSpPr>
          <p:cNvPr id="26" name="Text 20"/>
          <p:cNvSpPr/>
          <p:nvPr/>
        </p:nvSpPr>
        <p:spPr>
          <a:xfrm>
            <a:off x="6693408" y="2569464"/>
            <a:ext cx="4846320" cy="274320"/>
          </a:xfrm>
          <a:prstGeom prst="rect">
            <a:avLst/>
          </a:prstGeom>
          <a:noFill/>
          <a:ln/>
        </p:spPr>
        <p:txBody>
          <a:bodyPr wrap="square" lIns="0" tIns="0" rIns="0" bIns="0" rtlCol="0" anchor="ctr"/>
          <a:lstStyle/>
          <a:p>
            <a:pPr indent="0" marL="0">
              <a:buNone/>
            </a:pPr>
            <a:r>
              <a:rPr lang="en-US" sz="1080" dirty="0">
                <a:solidFill>
                  <a:srgbClr val="3A4356"/>
                </a:solidFill>
                <a:latin typeface="Calibri" pitchFamily="34" charset="0"/>
                <a:ea typeface="Calibri" pitchFamily="34" charset="-122"/>
                <a:cs typeface="Calibri" pitchFamily="34" charset="-120"/>
              </a:rPr>
              <a:t>Every autocorrection and self-audit flag, with why</a:t>
            </a:r>
            <a:endParaRPr lang="en-US" sz="1080" dirty="0"/>
          </a:p>
        </p:txBody>
      </p:sp>
      <p:pic>
        <p:nvPicPr>
          <p:cNvPr id="27" name="Image 4" descr="preencoded.png">    </p:cNvPr>
          <p:cNvPicPr>
            <a:picLocks noChangeAspect="1"/>
          </p:cNvPicPr>
          <p:nvPr/>
        </p:nvPicPr>
        <p:blipFill>
          <a:blip r:embed="rId5"/>
          <a:stretch>
            <a:fillRect/>
          </a:stretch>
        </p:blipFill>
        <p:spPr>
          <a:xfrm>
            <a:off x="6446520" y="2944368"/>
            <a:ext cx="146304" cy="146304"/>
          </a:xfrm>
          <a:prstGeom prst="rect">
            <a:avLst/>
          </a:prstGeom>
        </p:spPr>
      </p:pic>
      <p:sp>
        <p:nvSpPr>
          <p:cNvPr id="28" name="Text 21"/>
          <p:cNvSpPr/>
          <p:nvPr/>
        </p:nvSpPr>
        <p:spPr>
          <a:xfrm>
            <a:off x="6693408" y="2880360"/>
            <a:ext cx="4846320" cy="274320"/>
          </a:xfrm>
          <a:prstGeom prst="rect">
            <a:avLst/>
          </a:prstGeom>
          <a:noFill/>
          <a:ln/>
        </p:spPr>
        <p:txBody>
          <a:bodyPr wrap="square" lIns="0" tIns="0" rIns="0" bIns="0" rtlCol="0" anchor="ctr"/>
          <a:lstStyle/>
          <a:p>
            <a:pPr indent="0" marL="0">
              <a:buNone/>
            </a:pPr>
            <a:r>
              <a:rPr lang="en-US" sz="1080" dirty="0">
                <a:solidFill>
                  <a:srgbClr val="3A4356"/>
                </a:solidFill>
                <a:latin typeface="Calibri" pitchFamily="34" charset="0"/>
                <a:ea typeface="Calibri" pitchFamily="34" charset="-122"/>
                <a:cs typeface="Calibri" pitchFamily="34" charset="-120"/>
              </a:rPr>
              <a:t>20-country table · Excel and PDF exports</a:t>
            </a:r>
            <a:endParaRPr lang="en-US" sz="1080" dirty="0"/>
          </a:p>
        </p:txBody>
      </p:sp>
      <p:sp>
        <p:nvSpPr>
          <p:cNvPr id="29" name="Shape 22"/>
          <p:cNvSpPr/>
          <p:nvPr/>
        </p:nvSpPr>
        <p:spPr>
          <a:xfrm>
            <a:off x="457200" y="3547872"/>
            <a:ext cx="11274552" cy="1280160"/>
          </a:xfrm>
          <a:prstGeom prst="roundRect">
            <a:avLst>
              <a:gd name="adj" fmla="val 7143"/>
            </a:avLst>
          </a:prstGeom>
          <a:solidFill>
            <a:srgbClr val="FFFFFF"/>
          </a:solidFill>
          <a:ln w="19050">
            <a:solidFill>
              <a:srgbClr val="2A7F50"/>
            </a:solidFill>
            <a:prstDash val="solid"/>
          </a:ln>
        </p:spPr>
      </p:sp>
      <p:sp>
        <p:nvSpPr>
          <p:cNvPr id="30" name="Shape 23"/>
          <p:cNvSpPr/>
          <p:nvPr/>
        </p:nvSpPr>
        <p:spPr>
          <a:xfrm>
            <a:off x="713232" y="3858768"/>
            <a:ext cx="548640" cy="548640"/>
          </a:xfrm>
          <a:prstGeom prst="ellipse">
            <a:avLst/>
          </a:prstGeom>
          <a:solidFill>
            <a:srgbClr val="2A7F50"/>
          </a:solidFill>
          <a:ln/>
        </p:spPr>
      </p:sp>
      <p:pic>
        <p:nvPicPr>
          <p:cNvPr id="31" name="Image 5" descr="preencoded.png">    </p:cNvPr>
          <p:cNvPicPr>
            <a:picLocks noChangeAspect="1"/>
          </p:cNvPicPr>
          <p:nvPr/>
        </p:nvPicPr>
        <p:blipFill>
          <a:blip r:embed="rId6"/>
          <a:stretch>
            <a:fillRect/>
          </a:stretch>
        </p:blipFill>
        <p:spPr>
          <a:xfrm>
            <a:off x="859536" y="4005072"/>
            <a:ext cx="256032" cy="256032"/>
          </a:xfrm>
          <a:prstGeom prst="rect">
            <a:avLst/>
          </a:prstGeom>
        </p:spPr>
      </p:pic>
      <p:sp>
        <p:nvSpPr>
          <p:cNvPr id="32" name="Text 24"/>
          <p:cNvSpPr/>
          <p:nvPr/>
        </p:nvSpPr>
        <p:spPr>
          <a:xfrm>
            <a:off x="1463040" y="3657600"/>
            <a:ext cx="10058400" cy="274320"/>
          </a:xfrm>
          <a:prstGeom prst="rect">
            <a:avLst/>
          </a:prstGeom>
          <a:noFill/>
          <a:ln/>
        </p:spPr>
        <p:txBody>
          <a:bodyPr wrap="square" lIns="0" tIns="0" rIns="0" bIns="0" rtlCol="0" anchor="ctr"/>
          <a:lstStyle/>
          <a:p>
            <a:pPr indent="0" marL="0">
              <a:buNone/>
            </a:pPr>
            <a:r>
              <a:rPr lang="en-US" sz="1300" b="1" dirty="0">
                <a:solidFill>
                  <a:srgbClr val="2A7F50"/>
                </a:solidFill>
                <a:latin typeface="Calibri" pitchFamily="34" charset="0"/>
                <a:ea typeface="Calibri" pitchFamily="34" charset="-122"/>
                <a:cs typeface="Calibri" pitchFamily="34" charset="-120"/>
              </a:rPr>
              <a:t>Nothing leaves the tool unapproved</a:t>
            </a:r>
            <a:endParaRPr lang="en-US" sz="1300" dirty="0"/>
          </a:p>
        </p:txBody>
      </p:sp>
      <p:sp>
        <p:nvSpPr>
          <p:cNvPr id="33" name="Text 25"/>
          <p:cNvSpPr/>
          <p:nvPr/>
        </p:nvSpPr>
        <p:spPr>
          <a:xfrm>
            <a:off x="1463040" y="3968496"/>
            <a:ext cx="10058400" cy="777240"/>
          </a:xfrm>
          <a:prstGeom prst="rect">
            <a:avLst/>
          </a:prstGeom>
          <a:noFill/>
          <a:ln/>
        </p:spPr>
        <p:txBody>
          <a:bodyPr wrap="square" lIns="0" tIns="0" rIns="0" bIns="0" rtlCol="0" anchor="t"/>
          <a:lstStyle/>
          <a:p>
            <a:pPr indent="0" marL="0">
              <a:buNone/>
            </a:pPr>
            <a:r>
              <a:rPr lang="en-US" sz="1150" dirty="0">
                <a:solidFill>
                  <a:srgbClr val="3A4356"/>
                </a:solidFill>
                <a:latin typeface="Calibri" pitchFamily="34" charset="0"/>
                <a:ea typeface="Calibri" pitchFamily="34" charset="-122"/>
                <a:cs typeface="Calibri" pitchFamily="34" charset="-120"/>
              </a:rPr>
              <a:t>Every derived input arrives as an editable pre-fill — highlighted, never silently applied. </a:t>
            </a:r>
            <a:pPr indent="0" marL="0">
              <a:buNone/>
            </a:pPr>
            <a:r>
              <a:rPr lang="en-US" sz="1150" b="1" dirty="0">
                <a:solidFill>
                  <a:srgbClr val="16325C"/>
                </a:solidFill>
                <a:latin typeface="Calibri" pitchFamily="34" charset="0"/>
                <a:ea typeface="Calibri" pitchFamily="34" charset="-122"/>
                <a:cs typeface="Calibri" pitchFamily="34" charset="-120"/>
              </a:rPr>
              <a:t>Our engineer can change the material, the process, the machine, the cycle time or the rates, and the whole cost recalculates instantly. </a:t>
            </a:r>
            <a:pPr indent="0" marL="0">
              <a:buNone/>
            </a:pPr>
            <a:r>
              <a:rPr lang="en-US" sz="1150" dirty="0">
                <a:solidFill>
                  <a:srgbClr val="3A4356"/>
                </a:solidFill>
                <a:latin typeface="Calibri" pitchFamily="34" charset="0"/>
                <a:ea typeface="Calibri" pitchFamily="34" charset="-122"/>
                <a:cs typeface="Calibri" pitchFamily="34" charset="-120"/>
              </a:rPr>
              <a:t>The tool proposes. The engineer disposes. That is the last line of defence, and it is a person.</a:t>
            </a:r>
            <a:endParaRPr lang="en-US" sz="1150" dirty="0"/>
          </a:p>
        </p:txBody>
      </p:sp>
      <p:sp>
        <p:nvSpPr>
          <p:cNvPr id="34" name="Shape 26"/>
          <p:cNvSpPr/>
          <p:nvPr/>
        </p:nvSpPr>
        <p:spPr>
          <a:xfrm>
            <a:off x="457200" y="5010912"/>
            <a:ext cx="11274552" cy="1261872"/>
          </a:xfrm>
          <a:prstGeom prst="roundRect">
            <a:avLst>
              <a:gd name="adj" fmla="val 7246"/>
            </a:avLst>
          </a:prstGeom>
          <a:solidFill>
            <a:srgbClr val="16325C"/>
          </a:solidFill>
          <a:ln/>
        </p:spPr>
      </p:sp>
      <p:sp>
        <p:nvSpPr>
          <p:cNvPr id="35" name="Text 27"/>
          <p:cNvSpPr/>
          <p:nvPr/>
        </p:nvSpPr>
        <p:spPr>
          <a:xfrm>
            <a:off x="777240" y="5120640"/>
            <a:ext cx="10652760" cy="1051560"/>
          </a:xfrm>
          <a:prstGeom prst="rect">
            <a:avLst/>
          </a:prstGeom>
          <a:noFill/>
          <a:ln/>
        </p:spPr>
        <p:txBody>
          <a:bodyPr wrap="square" lIns="0" tIns="0" rIns="0" bIns="0" rtlCol="0" anchor="ctr"/>
          <a:lstStyle/>
          <a:p>
            <a:pPr indent="0" marL="0">
              <a:buNone/>
            </a:pPr>
            <a:r>
              <a:rPr lang="en-US" sz="1300" b="1" dirty="0">
                <a:solidFill>
                  <a:srgbClr val="9FB6E0"/>
                </a:solidFill>
                <a:latin typeface="Calibri" pitchFamily="34" charset="0"/>
                <a:ea typeface="Calibri" pitchFamily="34" charset="-122"/>
                <a:cs typeface="Calibri" pitchFamily="34" charset="-120"/>
              </a:rPr>
              <a:t>And if a supplier quotes £52 for this part?  </a:t>
            </a:r>
            <a:pPr indent="0" marL="0">
              <a:buNone/>
            </a:pPr>
            <a:r>
              <a:rPr lang="en-US" sz="1300" dirty="0">
                <a:solidFill>
                  <a:srgbClr val="FFFFFF"/>
                </a:solidFill>
                <a:latin typeface="Calibri" pitchFamily="34" charset="0"/>
                <a:ea typeface="Calibri" pitchFamily="34" charset="-122"/>
                <a:cs typeface="Calibri" pitchFamily="34" charset="-120"/>
              </a:rPr>
              <a:t>That is above the P90. Our buyer no longer has to feel it is high — they can see it, line by line, and ask the right question:  </a:t>
            </a:r>
            <a:pPr indent="0" marL="0">
              <a:buNone/>
            </a:pPr>
            <a:r>
              <a:rPr lang="en-US" sz="1300" b="1" i="1" dirty="0">
                <a:solidFill>
                  <a:srgbClr val="FFFFFF"/>
                </a:solidFill>
                <a:latin typeface="Calibri" pitchFamily="34" charset="0"/>
                <a:ea typeface="Calibri" pitchFamily="34" charset="-122"/>
                <a:cs typeface="Calibri" pitchFamily="34" charset="-120"/>
              </a:rPr>
              <a:t>"your machining time looks about 30% above what this geometry needs — walk me through your fixturing."</a:t>
            </a:r>
            <a:endParaRPr lang="en-US" sz="1300" dirty="0"/>
          </a:p>
        </p:txBody>
      </p:sp>
      <p:sp>
        <p:nvSpPr>
          <p:cNvPr id="36" name="Text 2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7" name="Text 2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Inside the Confidence Band — How the Monte-Carlo Works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What the P10–P90 range actually is, and why the same part always gets the same band</a:t>
            </a:r>
            <a:endParaRPr lang="en-US" sz="1200" dirty="0"/>
          </a:p>
        </p:txBody>
      </p:sp>
      <p:sp>
        <p:nvSpPr>
          <p:cNvPr id="5" name="Shape 3"/>
          <p:cNvSpPr/>
          <p:nvPr/>
        </p:nvSpPr>
        <p:spPr>
          <a:xfrm>
            <a:off x="457200" y="1078992"/>
            <a:ext cx="6492240" cy="1060704"/>
          </a:xfrm>
          <a:prstGeom prst="roundRect">
            <a:avLst>
              <a:gd name="adj" fmla="val 7759"/>
            </a:avLst>
          </a:prstGeom>
          <a:solidFill>
            <a:srgbClr val="FFFFFF"/>
          </a:solidFill>
          <a:ln w="12700">
            <a:solidFill>
              <a:srgbClr val="DCE3EE"/>
            </a:solidFill>
            <a:prstDash val="solid"/>
          </a:ln>
        </p:spPr>
      </p:sp>
      <p:sp>
        <p:nvSpPr>
          <p:cNvPr id="6" name="Shape 4"/>
          <p:cNvSpPr/>
          <p:nvPr/>
        </p:nvSpPr>
        <p:spPr>
          <a:xfrm>
            <a:off x="603504" y="1207008"/>
            <a:ext cx="365760" cy="365760"/>
          </a:xfrm>
          <a:prstGeom prst="ellipse">
            <a:avLst/>
          </a:prstGeom>
          <a:solidFill>
            <a:srgbClr val="2A7F50"/>
          </a:solidFill>
          <a:ln/>
        </p:spPr>
      </p:sp>
      <p:sp>
        <p:nvSpPr>
          <p:cNvPr id="7" name="Text 5"/>
          <p:cNvSpPr/>
          <p:nvPr/>
        </p:nvSpPr>
        <p:spPr>
          <a:xfrm>
            <a:off x="603504" y="1207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097280" y="1170432"/>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Every line carries a confidence grade</a:t>
            </a:r>
            <a:endParaRPr lang="en-US" sz="1050" dirty="0"/>
          </a:p>
        </p:txBody>
      </p:sp>
      <p:sp>
        <p:nvSpPr>
          <p:cNvPr id="9" name="Text 7"/>
          <p:cNvSpPr/>
          <p:nvPr/>
        </p:nvSpPr>
        <p:spPr>
          <a:xfrm>
            <a:off x="1097280" y="1426464"/>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Each cost line remembers where it came from: measured geometry and library rates grade High, derived values Medium, assumptions Low. This provenance already exists for the trace — the band re-uses it.</a:t>
            </a:r>
            <a:endParaRPr lang="en-US" sz="860" dirty="0"/>
          </a:p>
        </p:txBody>
      </p:sp>
      <p:sp>
        <p:nvSpPr>
          <p:cNvPr id="10" name="Shape 8"/>
          <p:cNvSpPr/>
          <p:nvPr/>
        </p:nvSpPr>
        <p:spPr>
          <a:xfrm>
            <a:off x="457200" y="2249424"/>
            <a:ext cx="6492240" cy="1060704"/>
          </a:xfrm>
          <a:prstGeom prst="roundRect">
            <a:avLst>
              <a:gd name="adj" fmla="val 7759"/>
            </a:avLst>
          </a:prstGeom>
          <a:solidFill>
            <a:srgbClr val="FFFFFF"/>
          </a:solidFill>
          <a:ln w="12700">
            <a:solidFill>
              <a:srgbClr val="DCE3EE"/>
            </a:solidFill>
            <a:prstDash val="solid"/>
          </a:ln>
        </p:spPr>
      </p:sp>
      <p:sp>
        <p:nvSpPr>
          <p:cNvPr id="11" name="Shape 9"/>
          <p:cNvSpPr/>
          <p:nvPr/>
        </p:nvSpPr>
        <p:spPr>
          <a:xfrm>
            <a:off x="603504" y="2377440"/>
            <a:ext cx="365760" cy="365760"/>
          </a:xfrm>
          <a:prstGeom prst="ellipse">
            <a:avLst/>
          </a:prstGeom>
          <a:solidFill>
            <a:srgbClr val="2A7F50"/>
          </a:solidFill>
          <a:ln/>
        </p:spPr>
      </p:sp>
      <p:sp>
        <p:nvSpPr>
          <p:cNvPr id="12" name="Text 10"/>
          <p:cNvSpPr/>
          <p:nvPr/>
        </p:nvSpPr>
        <p:spPr>
          <a:xfrm>
            <a:off x="603504" y="2377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097280" y="2340864"/>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Grade becomes a spread</a:t>
            </a:r>
            <a:endParaRPr lang="en-US" sz="1050" dirty="0"/>
          </a:p>
        </p:txBody>
      </p:sp>
      <p:sp>
        <p:nvSpPr>
          <p:cNvPr id="14" name="Text 12"/>
          <p:cNvSpPr/>
          <p:nvPr/>
        </p:nvSpPr>
        <p:spPr>
          <a:xfrm>
            <a:off x="1097280" y="2596896"/>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High = ±5%, Medium = ±12%, Low = ±22% (one sigma). Per-bucket reality applied on top: tooling estimates are the least certain (×1.8); packaging and logistics are contracted and stable (×0.6); overhead and margin are policy percentages — never perturbed, always recomputed.</a:t>
            </a:r>
            <a:endParaRPr lang="en-US" sz="860" dirty="0"/>
          </a:p>
        </p:txBody>
      </p:sp>
      <p:sp>
        <p:nvSpPr>
          <p:cNvPr id="15" name="Shape 13"/>
          <p:cNvSpPr/>
          <p:nvPr/>
        </p:nvSpPr>
        <p:spPr>
          <a:xfrm>
            <a:off x="457200" y="3419856"/>
            <a:ext cx="6492240" cy="1060704"/>
          </a:xfrm>
          <a:prstGeom prst="roundRect">
            <a:avLst>
              <a:gd name="adj" fmla="val 7759"/>
            </a:avLst>
          </a:prstGeom>
          <a:solidFill>
            <a:srgbClr val="FFFFFF"/>
          </a:solidFill>
          <a:ln w="12700">
            <a:solidFill>
              <a:srgbClr val="DCE3EE"/>
            </a:solidFill>
            <a:prstDash val="solid"/>
          </a:ln>
        </p:spPr>
      </p:sp>
      <p:sp>
        <p:nvSpPr>
          <p:cNvPr id="16" name="Shape 14"/>
          <p:cNvSpPr/>
          <p:nvPr/>
        </p:nvSpPr>
        <p:spPr>
          <a:xfrm>
            <a:off x="603504" y="3547872"/>
            <a:ext cx="365760" cy="365760"/>
          </a:xfrm>
          <a:prstGeom prst="ellipse">
            <a:avLst/>
          </a:prstGeom>
          <a:solidFill>
            <a:srgbClr val="2A7F50"/>
          </a:solidFill>
          <a:ln/>
        </p:spPr>
      </p:sp>
      <p:sp>
        <p:nvSpPr>
          <p:cNvPr id="17" name="Text 15"/>
          <p:cNvSpPr/>
          <p:nvPr/>
        </p:nvSpPr>
        <p:spPr>
          <a:xfrm>
            <a:off x="603504" y="3547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097280" y="3511296"/>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4,000 trials</a:t>
            </a:r>
            <a:endParaRPr lang="en-US" sz="1050" dirty="0"/>
          </a:p>
        </p:txBody>
      </p:sp>
      <p:sp>
        <p:nvSpPr>
          <p:cNvPr id="19" name="Text 17"/>
          <p:cNvSpPr/>
          <p:nvPr/>
        </p:nvSpPr>
        <p:spPr>
          <a:xfrm>
            <a:off x="1097280" y="3767328"/>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Where the tool knows each input’s source, a trial varies every driver — weight, cycle times, rates, even flat material prices — and re-runs the real engine. Otherwise it scales each base bucket by a lognormal factor (always positive, mean 1). Overhead and margin are recomposed exactly as the engine does. 4,000 totals.</a:t>
            </a:r>
            <a:endParaRPr lang="en-US" sz="860" dirty="0"/>
          </a:p>
        </p:txBody>
      </p:sp>
      <p:sp>
        <p:nvSpPr>
          <p:cNvPr id="20" name="Shape 18"/>
          <p:cNvSpPr/>
          <p:nvPr/>
        </p:nvSpPr>
        <p:spPr>
          <a:xfrm>
            <a:off x="457200" y="4590288"/>
            <a:ext cx="6492240" cy="1060704"/>
          </a:xfrm>
          <a:prstGeom prst="roundRect">
            <a:avLst>
              <a:gd name="adj" fmla="val 7759"/>
            </a:avLst>
          </a:prstGeom>
          <a:solidFill>
            <a:srgbClr val="FFFFFF"/>
          </a:solidFill>
          <a:ln w="12700">
            <a:solidFill>
              <a:srgbClr val="DCE3EE"/>
            </a:solidFill>
            <a:prstDash val="solid"/>
          </a:ln>
        </p:spPr>
      </p:sp>
      <p:sp>
        <p:nvSpPr>
          <p:cNvPr id="21" name="Shape 19"/>
          <p:cNvSpPr/>
          <p:nvPr/>
        </p:nvSpPr>
        <p:spPr>
          <a:xfrm>
            <a:off x="603504" y="4718304"/>
            <a:ext cx="365760" cy="365760"/>
          </a:xfrm>
          <a:prstGeom prst="ellipse">
            <a:avLst/>
          </a:prstGeom>
          <a:solidFill>
            <a:srgbClr val="2A7F50"/>
          </a:solidFill>
          <a:ln/>
        </p:spPr>
      </p:sp>
      <p:sp>
        <p:nvSpPr>
          <p:cNvPr id="22" name="Text 20"/>
          <p:cNvSpPr/>
          <p:nvPr/>
        </p:nvSpPr>
        <p:spPr>
          <a:xfrm>
            <a:off x="603504" y="47183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097280" y="4681728"/>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Read the distribution</a:t>
            </a:r>
            <a:endParaRPr lang="en-US" sz="1050" dirty="0"/>
          </a:p>
        </p:txBody>
      </p:sp>
      <p:sp>
        <p:nvSpPr>
          <p:cNvPr id="24" name="Text 22"/>
          <p:cNvSpPr/>
          <p:nvPr/>
        </p:nvSpPr>
        <p:spPr>
          <a:xfrm>
            <a:off x="1097280" y="4937760"/>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Sort the 4,000 totals: the 10th percentile is the optimistic case, the median is the estimate, the 90th is the conservative case. The half-width becomes the ± figure on the result card, and the band is labelled tight, moderate or wide.</a:t>
            </a:r>
            <a:endParaRPr lang="en-US" sz="860" dirty="0"/>
          </a:p>
        </p:txBody>
      </p:sp>
      <p:sp>
        <p:nvSpPr>
          <p:cNvPr id="25" name="Text 23"/>
          <p:cNvSpPr/>
          <p:nvPr/>
        </p:nvSpPr>
        <p:spPr>
          <a:xfrm>
            <a:off x="7269480" y="1060704"/>
            <a:ext cx="4480560" cy="201168"/>
          </a:xfrm>
          <a:prstGeom prst="rect">
            <a:avLst/>
          </a:prstGeom>
          <a:noFill/>
          <a:ln/>
        </p:spPr>
        <p:txBody>
          <a:bodyPr wrap="square" lIns="0" tIns="0" rIns="0" bIns="0" rtlCol="0" anchor="ctr"/>
          <a:lstStyle/>
          <a:p>
            <a:pPr indent="0" marL="0">
              <a:buNone/>
            </a:pPr>
            <a:r>
              <a:rPr lang="en-US" sz="850" b="1" spc="60" kern="0" dirty="0">
                <a:solidFill>
                  <a:srgbClr val="2A7F50"/>
                </a:solidFill>
                <a:latin typeface="Calibri" pitchFamily="34" charset="0"/>
                <a:ea typeface="Calibri" pitchFamily="34" charset="-122"/>
                <a:cs typeface="Calibri" pitchFamily="34" charset="-120"/>
              </a:rPr>
              <a:t>WHAT THE BUYER SEES</a:t>
            </a:r>
            <a:endParaRPr lang="en-US" sz="850" dirty="0"/>
          </a:p>
        </p:txBody>
      </p:sp>
      <p:sp>
        <p:nvSpPr>
          <p:cNvPr id="26" name="Shape 24"/>
          <p:cNvSpPr/>
          <p:nvPr/>
        </p:nvSpPr>
        <p:spPr>
          <a:xfrm>
            <a:off x="7269480" y="1298448"/>
            <a:ext cx="4462272" cy="1737360"/>
          </a:xfrm>
          <a:prstGeom prst="roundRect">
            <a:avLst>
              <a:gd name="adj" fmla="val 4737"/>
            </a:avLst>
          </a:prstGeom>
          <a:solidFill>
            <a:srgbClr val="FFFFFF"/>
          </a:solidFill>
          <a:ln w="12700">
            <a:solidFill>
              <a:srgbClr val="DCE3EE"/>
            </a:solidFill>
            <a:prstDash val="solid"/>
          </a:ln>
        </p:spPr>
      </p:sp>
      <p:sp>
        <p:nvSpPr>
          <p:cNvPr id="27" name="Shape 25"/>
          <p:cNvSpPr/>
          <p:nvPr/>
        </p:nvSpPr>
        <p:spPr>
          <a:xfrm>
            <a:off x="7635240" y="2308860"/>
            <a:ext cx="274320" cy="86868"/>
          </a:xfrm>
          <a:prstGeom prst="rect">
            <a:avLst/>
          </a:prstGeom>
          <a:solidFill>
            <a:srgbClr val="DCE3EE"/>
          </a:solidFill>
          <a:ln/>
        </p:spPr>
      </p:sp>
      <p:sp>
        <p:nvSpPr>
          <p:cNvPr id="28" name="Shape 26"/>
          <p:cNvSpPr/>
          <p:nvPr/>
        </p:nvSpPr>
        <p:spPr>
          <a:xfrm>
            <a:off x="7982712" y="2204618"/>
            <a:ext cx="274320" cy="191110"/>
          </a:xfrm>
          <a:prstGeom prst="rect">
            <a:avLst/>
          </a:prstGeom>
          <a:solidFill>
            <a:srgbClr val="9FD9CF"/>
          </a:solidFill>
          <a:ln/>
        </p:spPr>
      </p:sp>
      <p:sp>
        <p:nvSpPr>
          <p:cNvPr id="29" name="Shape 27"/>
          <p:cNvSpPr/>
          <p:nvPr/>
        </p:nvSpPr>
        <p:spPr>
          <a:xfrm>
            <a:off x="8330184" y="2013509"/>
            <a:ext cx="274320" cy="382219"/>
          </a:xfrm>
          <a:prstGeom prst="rect">
            <a:avLst/>
          </a:prstGeom>
          <a:solidFill>
            <a:srgbClr val="9FD9CF"/>
          </a:solidFill>
          <a:ln/>
        </p:spPr>
      </p:sp>
      <p:sp>
        <p:nvSpPr>
          <p:cNvPr id="30" name="Shape 28"/>
          <p:cNvSpPr/>
          <p:nvPr/>
        </p:nvSpPr>
        <p:spPr>
          <a:xfrm>
            <a:off x="8677656" y="1770278"/>
            <a:ext cx="274320" cy="625450"/>
          </a:xfrm>
          <a:prstGeom prst="rect">
            <a:avLst/>
          </a:prstGeom>
          <a:solidFill>
            <a:srgbClr val="9FD9CF"/>
          </a:solidFill>
          <a:ln/>
        </p:spPr>
      </p:sp>
      <p:sp>
        <p:nvSpPr>
          <p:cNvPr id="31" name="Shape 29"/>
          <p:cNvSpPr/>
          <p:nvPr/>
        </p:nvSpPr>
        <p:spPr>
          <a:xfrm>
            <a:off x="9025128" y="1570482"/>
            <a:ext cx="274320" cy="825246"/>
          </a:xfrm>
          <a:prstGeom prst="rect">
            <a:avLst/>
          </a:prstGeom>
          <a:solidFill>
            <a:srgbClr val="9FD9CF"/>
          </a:solidFill>
          <a:ln/>
        </p:spPr>
      </p:sp>
      <p:sp>
        <p:nvSpPr>
          <p:cNvPr id="32" name="Shape 30"/>
          <p:cNvSpPr/>
          <p:nvPr/>
        </p:nvSpPr>
        <p:spPr>
          <a:xfrm>
            <a:off x="9372600" y="1527048"/>
            <a:ext cx="274320" cy="868680"/>
          </a:xfrm>
          <a:prstGeom prst="rect">
            <a:avLst/>
          </a:prstGeom>
          <a:solidFill>
            <a:srgbClr val="9FD9CF"/>
          </a:solidFill>
          <a:ln/>
        </p:spPr>
      </p:sp>
      <p:sp>
        <p:nvSpPr>
          <p:cNvPr id="33" name="Shape 31"/>
          <p:cNvSpPr/>
          <p:nvPr/>
        </p:nvSpPr>
        <p:spPr>
          <a:xfrm>
            <a:off x="9720072" y="1631290"/>
            <a:ext cx="274320" cy="764438"/>
          </a:xfrm>
          <a:prstGeom prst="rect">
            <a:avLst/>
          </a:prstGeom>
          <a:solidFill>
            <a:srgbClr val="9FD9CF"/>
          </a:solidFill>
          <a:ln/>
        </p:spPr>
      </p:sp>
      <p:sp>
        <p:nvSpPr>
          <p:cNvPr id="34" name="Shape 32"/>
          <p:cNvSpPr/>
          <p:nvPr/>
        </p:nvSpPr>
        <p:spPr>
          <a:xfrm>
            <a:off x="10067544" y="1857146"/>
            <a:ext cx="274320" cy="538582"/>
          </a:xfrm>
          <a:prstGeom prst="rect">
            <a:avLst/>
          </a:prstGeom>
          <a:solidFill>
            <a:srgbClr val="9FD9CF"/>
          </a:solidFill>
          <a:ln/>
        </p:spPr>
      </p:sp>
      <p:sp>
        <p:nvSpPr>
          <p:cNvPr id="35" name="Shape 33"/>
          <p:cNvSpPr/>
          <p:nvPr/>
        </p:nvSpPr>
        <p:spPr>
          <a:xfrm>
            <a:off x="10415016" y="2065630"/>
            <a:ext cx="274320" cy="330098"/>
          </a:xfrm>
          <a:prstGeom prst="rect">
            <a:avLst/>
          </a:prstGeom>
          <a:solidFill>
            <a:srgbClr val="9FD9CF"/>
          </a:solidFill>
          <a:ln/>
        </p:spPr>
      </p:sp>
      <p:sp>
        <p:nvSpPr>
          <p:cNvPr id="36" name="Shape 34"/>
          <p:cNvSpPr/>
          <p:nvPr/>
        </p:nvSpPr>
        <p:spPr>
          <a:xfrm>
            <a:off x="10762488" y="2239366"/>
            <a:ext cx="274320" cy="156362"/>
          </a:xfrm>
          <a:prstGeom prst="rect">
            <a:avLst/>
          </a:prstGeom>
          <a:solidFill>
            <a:srgbClr val="9FD9CF"/>
          </a:solidFill>
          <a:ln/>
        </p:spPr>
      </p:sp>
      <p:sp>
        <p:nvSpPr>
          <p:cNvPr id="37" name="Shape 35"/>
          <p:cNvSpPr/>
          <p:nvPr/>
        </p:nvSpPr>
        <p:spPr>
          <a:xfrm>
            <a:off x="11109960" y="2326234"/>
            <a:ext cx="274320" cy="69494"/>
          </a:xfrm>
          <a:prstGeom prst="rect">
            <a:avLst/>
          </a:prstGeom>
          <a:solidFill>
            <a:srgbClr val="DCE3EE"/>
          </a:solidFill>
          <a:ln/>
        </p:spPr>
      </p:sp>
      <p:sp>
        <p:nvSpPr>
          <p:cNvPr id="38" name="Shape 36"/>
          <p:cNvSpPr/>
          <p:nvPr/>
        </p:nvSpPr>
        <p:spPr>
          <a:xfrm>
            <a:off x="7982712" y="2487168"/>
            <a:ext cx="2779776" cy="0"/>
          </a:xfrm>
          <a:prstGeom prst="line">
            <a:avLst/>
          </a:prstGeom>
          <a:noFill/>
          <a:ln w="25400">
            <a:solidFill>
              <a:srgbClr val="0D7D71"/>
            </a:solidFill>
            <a:prstDash val="solid"/>
          </a:ln>
        </p:spPr>
      </p:sp>
      <p:sp>
        <p:nvSpPr>
          <p:cNvPr id="39" name="Text 37"/>
          <p:cNvSpPr/>
          <p:nvPr/>
        </p:nvSpPr>
        <p:spPr>
          <a:xfrm>
            <a:off x="7818120" y="2542032"/>
            <a:ext cx="457200" cy="182880"/>
          </a:xfrm>
          <a:prstGeom prst="rect">
            <a:avLst/>
          </a:prstGeom>
          <a:noFill/>
          <a:ln/>
        </p:spPr>
        <p:txBody>
          <a:bodyPr wrap="square" lIns="0" tIns="0" rIns="0" bIns="0" rtlCol="0" anchor="ctr"/>
          <a:lstStyle/>
          <a:p>
            <a:pPr indent="0" marL="0">
              <a:buNone/>
            </a:pPr>
            <a:r>
              <a:rPr lang="en-US" sz="800" b="1" dirty="0">
                <a:solidFill>
                  <a:srgbClr val="0D7D71"/>
                </a:solidFill>
                <a:latin typeface="Calibri" pitchFamily="34" charset="0"/>
                <a:ea typeface="Calibri" pitchFamily="34" charset="-122"/>
                <a:cs typeface="Calibri" pitchFamily="34" charset="-120"/>
              </a:rPr>
              <a:t>P10</a:t>
            </a:r>
            <a:endParaRPr lang="en-US" sz="800" dirty="0"/>
          </a:p>
        </p:txBody>
      </p:sp>
      <p:sp>
        <p:nvSpPr>
          <p:cNvPr id="40" name="Text 38"/>
          <p:cNvSpPr/>
          <p:nvPr/>
        </p:nvSpPr>
        <p:spPr>
          <a:xfrm>
            <a:off x="8823960" y="2542032"/>
            <a:ext cx="1371600" cy="182880"/>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P50 — the estimate</a:t>
            </a:r>
            <a:endParaRPr lang="en-US" sz="800" dirty="0"/>
          </a:p>
        </p:txBody>
      </p:sp>
      <p:sp>
        <p:nvSpPr>
          <p:cNvPr id="41" name="Text 39"/>
          <p:cNvSpPr/>
          <p:nvPr/>
        </p:nvSpPr>
        <p:spPr>
          <a:xfrm>
            <a:off x="10561320" y="2542032"/>
            <a:ext cx="457200" cy="182880"/>
          </a:xfrm>
          <a:prstGeom prst="rect">
            <a:avLst/>
          </a:prstGeom>
          <a:noFill/>
          <a:ln/>
        </p:spPr>
        <p:txBody>
          <a:bodyPr wrap="square" lIns="0" tIns="0" rIns="0" bIns="0" rtlCol="0" anchor="ctr"/>
          <a:lstStyle/>
          <a:p>
            <a:pPr indent="0" marL="0">
              <a:buNone/>
            </a:pPr>
            <a:r>
              <a:rPr lang="en-US" sz="800" b="1" dirty="0">
                <a:solidFill>
                  <a:srgbClr val="0D7D71"/>
                </a:solidFill>
                <a:latin typeface="Calibri" pitchFamily="34" charset="0"/>
                <a:ea typeface="Calibri" pitchFamily="34" charset="-122"/>
                <a:cs typeface="Calibri" pitchFamily="34" charset="-120"/>
              </a:rPr>
              <a:t>P90</a:t>
            </a:r>
            <a:endParaRPr lang="en-US" sz="800" dirty="0"/>
          </a:p>
        </p:txBody>
      </p:sp>
      <p:sp>
        <p:nvSpPr>
          <p:cNvPr id="42" name="Text 40"/>
          <p:cNvSpPr/>
          <p:nvPr/>
        </p:nvSpPr>
        <p:spPr>
          <a:xfrm>
            <a:off x="7452360" y="2761488"/>
            <a:ext cx="4114800" cy="219456"/>
          </a:xfrm>
          <a:prstGeom prst="rect">
            <a:avLst/>
          </a:prstGeom>
          <a:noFill/>
          <a:ln/>
        </p:spPr>
        <p:txBody>
          <a:bodyPr wrap="square" lIns="0" tIns="0" rIns="0" bIns="0" rtlCol="0" anchor="ctr"/>
          <a:lstStyle/>
          <a:p>
            <a:pPr indent="0" marL="0">
              <a:buNone/>
            </a:pPr>
            <a:r>
              <a:rPr lang="en-US" sz="780" i="1" dirty="0">
                <a:solidFill>
                  <a:srgbClr val="686F7D"/>
                </a:solidFill>
                <a:latin typeface="Calibri" pitchFamily="34" charset="0"/>
                <a:ea typeface="Calibri" pitchFamily="34" charset="-122"/>
                <a:cs typeface="Calibri" pitchFamily="34" charset="-120"/>
              </a:rPr>
              <a:t>4,000 simulated totals for one part (illustrative shape) — the quoted band is the middle 80%</a:t>
            </a:r>
            <a:endParaRPr lang="en-US" sz="780" dirty="0"/>
          </a:p>
        </p:txBody>
      </p:sp>
      <p:sp>
        <p:nvSpPr>
          <p:cNvPr id="43" name="Shape 41"/>
          <p:cNvSpPr/>
          <p:nvPr/>
        </p:nvSpPr>
        <p:spPr>
          <a:xfrm>
            <a:off x="7269480" y="3163824"/>
            <a:ext cx="4462272" cy="822960"/>
          </a:xfrm>
          <a:prstGeom prst="roundRect">
            <a:avLst>
              <a:gd name="adj" fmla="val 10000"/>
            </a:avLst>
          </a:prstGeom>
          <a:solidFill>
            <a:srgbClr val="FFFFFF"/>
          </a:solidFill>
          <a:ln w="12700">
            <a:solidFill>
              <a:srgbClr val="DCE3EE"/>
            </a:solidFill>
            <a:prstDash val="solid"/>
          </a:ln>
        </p:spPr>
      </p:sp>
      <p:sp>
        <p:nvSpPr>
          <p:cNvPr id="44" name="Shape 42"/>
          <p:cNvSpPr/>
          <p:nvPr/>
        </p:nvSpPr>
        <p:spPr>
          <a:xfrm>
            <a:off x="7397496" y="3264408"/>
            <a:ext cx="310896" cy="310896"/>
          </a:xfrm>
          <a:prstGeom prst="ellipse">
            <a:avLst/>
          </a:prstGeom>
          <a:solidFill>
            <a:srgbClr val="0D7D71"/>
          </a:solidFill>
          <a:ln/>
        </p:spPr>
      </p:sp>
      <p:pic>
        <p:nvPicPr>
          <p:cNvPr id="45" name="Image 0" descr="preencoded.png">    </p:cNvPr>
          <p:cNvPicPr>
            <a:picLocks noChangeAspect="1"/>
          </p:cNvPicPr>
          <p:nvPr/>
        </p:nvPicPr>
        <p:blipFill>
          <a:blip r:embed="rId1"/>
          <a:stretch>
            <a:fillRect/>
          </a:stretch>
        </p:blipFill>
        <p:spPr>
          <a:xfrm>
            <a:off x="7470648" y="3337560"/>
            <a:ext cx="164592" cy="164592"/>
          </a:xfrm>
          <a:prstGeom prst="rect">
            <a:avLst/>
          </a:prstGeom>
        </p:spPr>
      </p:pic>
      <p:sp>
        <p:nvSpPr>
          <p:cNvPr id="46" name="Text 43"/>
          <p:cNvSpPr/>
          <p:nvPr/>
        </p:nvSpPr>
        <p:spPr>
          <a:xfrm>
            <a:off x="7790688" y="3246120"/>
            <a:ext cx="3840480" cy="201168"/>
          </a:xfrm>
          <a:prstGeom prst="rect">
            <a:avLst/>
          </a:prstGeom>
          <a:noFill/>
          <a:ln/>
        </p:spPr>
        <p:txBody>
          <a:bodyPr wrap="square" lIns="0" tIns="0" rIns="0" bIns="0" rtlCol="0" anchor="ctr"/>
          <a:lstStyle/>
          <a:p>
            <a:pPr indent="0" marL="0">
              <a:buNone/>
            </a:pPr>
            <a:r>
              <a:rPr lang="en-US" sz="950" b="1" dirty="0">
                <a:solidFill>
                  <a:srgbClr val="0D7D71"/>
                </a:solidFill>
                <a:latin typeface="Calibri" pitchFamily="34" charset="0"/>
                <a:ea typeface="Calibri" pitchFamily="34" charset="-122"/>
                <a:cs typeface="Calibri" pitchFamily="34" charset="-120"/>
              </a:rPr>
              <a:t>Reproducible, on purpose</a:t>
            </a:r>
            <a:endParaRPr lang="en-US" sz="950" dirty="0"/>
          </a:p>
        </p:txBody>
      </p:sp>
      <p:sp>
        <p:nvSpPr>
          <p:cNvPr id="47" name="Text 44"/>
          <p:cNvSpPr/>
          <p:nvPr/>
        </p:nvSpPr>
        <p:spPr>
          <a:xfrm>
            <a:off x="7790688" y="3465576"/>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The random draws are seeded: the same part, volume and region gives the same band every single time, and the band is unit-tested. No "run it again and hope".</a:t>
            </a:r>
            <a:endParaRPr lang="en-US" sz="800" dirty="0"/>
          </a:p>
        </p:txBody>
      </p:sp>
      <p:sp>
        <p:nvSpPr>
          <p:cNvPr id="48" name="Shape 45"/>
          <p:cNvSpPr/>
          <p:nvPr/>
        </p:nvSpPr>
        <p:spPr>
          <a:xfrm>
            <a:off x="7269480" y="4069080"/>
            <a:ext cx="4462272" cy="822960"/>
          </a:xfrm>
          <a:prstGeom prst="roundRect">
            <a:avLst>
              <a:gd name="adj" fmla="val 10000"/>
            </a:avLst>
          </a:prstGeom>
          <a:solidFill>
            <a:srgbClr val="FFFFFF"/>
          </a:solidFill>
          <a:ln w="12700">
            <a:solidFill>
              <a:srgbClr val="DCE3EE"/>
            </a:solidFill>
            <a:prstDash val="solid"/>
          </a:ln>
        </p:spPr>
      </p:sp>
      <p:sp>
        <p:nvSpPr>
          <p:cNvPr id="49" name="Shape 46"/>
          <p:cNvSpPr/>
          <p:nvPr/>
        </p:nvSpPr>
        <p:spPr>
          <a:xfrm>
            <a:off x="7397496" y="4169664"/>
            <a:ext cx="310896" cy="310896"/>
          </a:xfrm>
          <a:prstGeom prst="ellipse">
            <a:avLst/>
          </a:prstGeom>
          <a:solidFill>
            <a:srgbClr val="2A7F50"/>
          </a:solidFill>
          <a:ln/>
        </p:spPr>
      </p:sp>
      <p:pic>
        <p:nvPicPr>
          <p:cNvPr id="50" name="Image 1" descr="preencoded.png">    </p:cNvPr>
          <p:cNvPicPr>
            <a:picLocks noChangeAspect="1"/>
          </p:cNvPicPr>
          <p:nvPr/>
        </p:nvPicPr>
        <p:blipFill>
          <a:blip r:embed="rId2"/>
          <a:stretch>
            <a:fillRect/>
          </a:stretch>
        </p:blipFill>
        <p:spPr>
          <a:xfrm>
            <a:off x="7470648" y="4242816"/>
            <a:ext cx="164592" cy="164592"/>
          </a:xfrm>
          <a:prstGeom prst="rect">
            <a:avLst/>
          </a:prstGeom>
        </p:spPr>
      </p:pic>
      <p:sp>
        <p:nvSpPr>
          <p:cNvPr id="51" name="Text 47"/>
          <p:cNvSpPr/>
          <p:nvPr/>
        </p:nvSpPr>
        <p:spPr>
          <a:xfrm>
            <a:off x="7790688" y="4151376"/>
            <a:ext cx="3840480" cy="201168"/>
          </a:xfrm>
          <a:prstGeom prst="rect">
            <a:avLst/>
          </a:prstGeom>
          <a:noFill/>
          <a:ln/>
        </p:spPr>
        <p:txBody>
          <a:bodyPr wrap="square" lIns="0" tIns="0" rIns="0" bIns="0" rtlCol="0" anchor="ctr"/>
          <a:lstStyle/>
          <a:p>
            <a:pPr indent="0" marL="0">
              <a:buNone/>
            </a:pPr>
            <a:r>
              <a:rPr lang="en-US" sz="950" b="1" dirty="0">
                <a:solidFill>
                  <a:srgbClr val="2A7F50"/>
                </a:solidFill>
                <a:latin typeface="Calibri" pitchFamily="34" charset="0"/>
                <a:ea typeface="Calibri" pitchFamily="34" charset="-122"/>
                <a:cs typeface="Calibri" pitchFamily="34" charset="-120"/>
              </a:rPr>
              <a:t>Corrected by real actuals</a:t>
            </a:r>
            <a:endParaRPr lang="en-US" sz="950" dirty="0"/>
          </a:p>
        </p:txBody>
      </p:sp>
      <p:sp>
        <p:nvSpPr>
          <p:cNvPr id="52" name="Text 48"/>
          <p:cNvSpPr/>
          <p:nvPr/>
        </p:nvSpPr>
        <p:spPr>
          <a:xfrm>
            <a:off x="7790688" y="4370832"/>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Log a real quote or PO price ("Log Actual £"). After 3 actuals for a commodity, the band is corrected by real data. Until then the Monte-Carlo band stands, and says so.</a:t>
            </a:r>
            <a:endParaRPr lang="en-US" sz="800" dirty="0"/>
          </a:p>
        </p:txBody>
      </p:sp>
      <p:sp>
        <p:nvSpPr>
          <p:cNvPr id="53" name="Shape 49"/>
          <p:cNvSpPr/>
          <p:nvPr/>
        </p:nvSpPr>
        <p:spPr>
          <a:xfrm>
            <a:off x="7269480" y="4974336"/>
            <a:ext cx="4462272" cy="822960"/>
          </a:xfrm>
          <a:prstGeom prst="roundRect">
            <a:avLst>
              <a:gd name="adj" fmla="val 10000"/>
            </a:avLst>
          </a:prstGeom>
          <a:solidFill>
            <a:srgbClr val="FFFFFF"/>
          </a:solidFill>
          <a:ln w="12700">
            <a:solidFill>
              <a:srgbClr val="DCE3EE"/>
            </a:solidFill>
            <a:prstDash val="solid"/>
          </a:ln>
        </p:spPr>
      </p:sp>
      <p:sp>
        <p:nvSpPr>
          <p:cNvPr id="54" name="Shape 50"/>
          <p:cNvSpPr/>
          <p:nvPr/>
        </p:nvSpPr>
        <p:spPr>
          <a:xfrm>
            <a:off x="7397496" y="5074920"/>
            <a:ext cx="310896" cy="310896"/>
          </a:xfrm>
          <a:prstGeom prst="ellipse">
            <a:avLst/>
          </a:prstGeom>
          <a:solidFill>
            <a:srgbClr val="99651A"/>
          </a:solidFill>
          <a:ln/>
        </p:spPr>
      </p:sp>
      <p:pic>
        <p:nvPicPr>
          <p:cNvPr id="55" name="Image 2" descr="preencoded.png">    </p:cNvPr>
          <p:cNvPicPr>
            <a:picLocks noChangeAspect="1"/>
          </p:cNvPicPr>
          <p:nvPr/>
        </p:nvPicPr>
        <p:blipFill>
          <a:blip r:embed="rId3"/>
          <a:stretch>
            <a:fillRect/>
          </a:stretch>
        </p:blipFill>
        <p:spPr>
          <a:xfrm>
            <a:off x="7470648" y="5148072"/>
            <a:ext cx="164592" cy="164592"/>
          </a:xfrm>
          <a:prstGeom prst="rect">
            <a:avLst/>
          </a:prstGeom>
        </p:spPr>
      </p:pic>
      <p:sp>
        <p:nvSpPr>
          <p:cNvPr id="56" name="Text 51"/>
          <p:cNvSpPr/>
          <p:nvPr/>
        </p:nvSpPr>
        <p:spPr>
          <a:xfrm>
            <a:off x="7790688" y="5056632"/>
            <a:ext cx="3840480" cy="201168"/>
          </a:xfrm>
          <a:prstGeom prst="rect">
            <a:avLst/>
          </a:prstGeom>
          <a:noFill/>
          <a:ln/>
        </p:spPr>
        <p:txBody>
          <a:bodyPr wrap="square" lIns="0" tIns="0" rIns="0" bIns="0" rtlCol="0" anchor="ctr"/>
          <a:lstStyle/>
          <a:p>
            <a:pPr indent="0" marL="0">
              <a:buNone/>
            </a:pPr>
            <a:r>
              <a:rPr lang="en-US" sz="950" b="1" dirty="0">
                <a:solidFill>
                  <a:srgbClr val="99651A"/>
                </a:solidFill>
                <a:latin typeface="Calibri" pitchFamily="34" charset="0"/>
                <a:ea typeface="Calibri" pitchFamily="34" charset="-122"/>
                <a:cs typeface="Calibri" pitchFamily="34" charset="-120"/>
              </a:rPr>
              <a:t>Honest by construction</a:t>
            </a:r>
            <a:endParaRPr lang="en-US" sz="950" dirty="0"/>
          </a:p>
        </p:txBody>
      </p:sp>
      <p:sp>
        <p:nvSpPr>
          <p:cNvPr id="57" name="Text 52"/>
          <p:cNvSpPr/>
          <p:nvPr/>
        </p:nvSpPr>
        <p:spPr>
          <a:xfrm>
            <a:off x="7790688" y="5276088"/>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Assumptions widen the band automatically — a part costed from an unanswered question cannot show a tight range. The band is the tool admitting exactly how much it does not know.</a:t>
            </a:r>
            <a:endParaRPr lang="en-US" sz="800" dirty="0"/>
          </a:p>
        </p:txBody>
      </p:sp>
      <p:sp>
        <p:nvSpPr>
          <p:cNvPr id="58" name="Shape 53"/>
          <p:cNvSpPr/>
          <p:nvPr/>
        </p:nvSpPr>
        <p:spPr>
          <a:xfrm>
            <a:off x="457200" y="5870448"/>
            <a:ext cx="11274552" cy="502920"/>
          </a:xfrm>
          <a:prstGeom prst="roundRect">
            <a:avLst>
              <a:gd name="adj" fmla="val 14545"/>
            </a:avLst>
          </a:prstGeom>
          <a:solidFill>
            <a:srgbClr val="EAF6EF"/>
          </a:solidFill>
          <a:ln w="12700">
            <a:solidFill>
              <a:srgbClr val="2A7F50"/>
            </a:solidFill>
            <a:prstDash val="solid"/>
          </a:ln>
        </p:spPr>
      </p:sp>
      <p:sp>
        <p:nvSpPr>
          <p:cNvPr id="59" name="Text 54"/>
          <p:cNvSpPr/>
          <p:nvPr/>
        </p:nvSpPr>
        <p:spPr>
          <a:xfrm>
            <a:off x="621792" y="5870448"/>
            <a:ext cx="10972800" cy="502920"/>
          </a:xfrm>
          <a:prstGeom prst="rect">
            <a:avLst/>
          </a:prstGeom>
          <a:noFill/>
          <a:ln/>
        </p:spPr>
        <p:txBody>
          <a:bodyPr wrap="square" lIns="0" tIns="0" rIns="0" bIns="0" rtlCol="0" anchor="ctr"/>
          <a:lstStyle/>
          <a:p>
            <a:pPr indent="0" marL="0">
              <a:buNone/>
            </a:pPr>
            <a:r>
              <a:rPr lang="en-US" sz="1000" b="1" dirty="0">
                <a:solidFill>
                  <a:srgbClr val="2A7F50"/>
                </a:solidFill>
                <a:latin typeface="Calibri" pitchFamily="34" charset="0"/>
                <a:ea typeface="Calibri" pitchFamily="34" charset="-122"/>
                <a:cs typeface="Calibri" pitchFamily="34" charset="-120"/>
              </a:rPr>
              <a:t>Why it matters:  </a:t>
            </a:r>
            <a:pPr indent="0" marL="0">
              <a:buNone/>
            </a:pPr>
            <a:r>
              <a:rPr lang="en-US" sz="1000" dirty="0">
                <a:solidFill>
                  <a:srgbClr val="3A4356"/>
                </a:solidFill>
                <a:latin typeface="Calibri" pitchFamily="34" charset="0"/>
                <a:ea typeface="Calibri" pitchFamily="34" charset="-122"/>
                <a:cs typeface="Calibri" pitchFamily="34" charset="-120"/>
              </a:rPr>
              <a:t>a single number pretends to a precision the inputs never had. The band is the same arithmetic run 4,000 times with each input as uncertain as its provenance says it is — so “£38.55 ± 17%” is a statement of evidence, not of confidence.</a:t>
            </a:r>
            <a:endParaRPr lang="en-US" sz="1000" dirty="0"/>
          </a:p>
        </p:txBody>
      </p:sp>
      <p:sp>
        <p:nvSpPr>
          <p:cNvPr id="60" name="Text 55"/>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61" name="Text 56"/>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DFM / DFA Report — Rules, Not Opinions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How §12–§15 of the report are made, end to end — and who is allowed to write them</a:t>
            </a:r>
            <a:endParaRPr lang="en-US" sz="1200" dirty="0"/>
          </a:p>
        </p:txBody>
      </p:sp>
      <p:sp>
        <p:nvSpPr>
          <p:cNvPr id="5" name="Shape 3"/>
          <p:cNvSpPr/>
          <p:nvPr/>
        </p:nvSpPr>
        <p:spPr>
          <a:xfrm>
            <a:off x="457200" y="1078992"/>
            <a:ext cx="6492240" cy="1060704"/>
          </a:xfrm>
          <a:prstGeom prst="roundRect">
            <a:avLst>
              <a:gd name="adj" fmla="val 7759"/>
            </a:avLst>
          </a:prstGeom>
          <a:solidFill>
            <a:srgbClr val="FFFFFF"/>
          </a:solidFill>
          <a:ln w="12700">
            <a:solidFill>
              <a:srgbClr val="DCE3EE"/>
            </a:solidFill>
            <a:prstDash val="solid"/>
          </a:ln>
        </p:spPr>
      </p:sp>
      <p:sp>
        <p:nvSpPr>
          <p:cNvPr id="6" name="Shape 4"/>
          <p:cNvSpPr/>
          <p:nvPr/>
        </p:nvSpPr>
        <p:spPr>
          <a:xfrm>
            <a:off x="603504" y="1207008"/>
            <a:ext cx="365760" cy="365760"/>
          </a:xfrm>
          <a:prstGeom prst="ellipse">
            <a:avLst/>
          </a:prstGeom>
          <a:solidFill>
            <a:srgbClr val="0D7D71"/>
          </a:solidFill>
          <a:ln/>
        </p:spPr>
      </p:sp>
      <p:sp>
        <p:nvSpPr>
          <p:cNvPr id="7" name="Text 5"/>
          <p:cNvSpPr/>
          <p:nvPr/>
        </p:nvSpPr>
        <p:spPr>
          <a:xfrm>
            <a:off x="603504" y="1207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097280" y="1170432"/>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costing finishes first</a:t>
            </a:r>
            <a:endParaRPr lang="en-US" sz="1050" dirty="0"/>
          </a:p>
        </p:txBody>
      </p:sp>
      <p:sp>
        <p:nvSpPr>
          <p:cNvPr id="9" name="Text 7"/>
          <p:cNvSpPr/>
          <p:nvPr/>
        </p:nvSpPr>
        <p:spPr>
          <a:xfrm>
            <a:off x="1097280" y="1426464"/>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The DFM/DFA engine reads the FINISHED result: the 8-bucket breakdown plus the same measured inputs the estimate used — material utilisation, OEE, operation list, tooling amortisation. It critiques the exact numbers that were costed, not a separate copy.</a:t>
            </a:r>
            <a:endParaRPr lang="en-US" sz="860" dirty="0"/>
          </a:p>
        </p:txBody>
      </p:sp>
      <p:sp>
        <p:nvSpPr>
          <p:cNvPr id="10" name="Shape 8"/>
          <p:cNvSpPr/>
          <p:nvPr/>
        </p:nvSpPr>
        <p:spPr>
          <a:xfrm>
            <a:off x="457200" y="2249424"/>
            <a:ext cx="6492240" cy="1060704"/>
          </a:xfrm>
          <a:prstGeom prst="roundRect">
            <a:avLst>
              <a:gd name="adj" fmla="val 7759"/>
            </a:avLst>
          </a:prstGeom>
          <a:solidFill>
            <a:srgbClr val="FFFFFF"/>
          </a:solidFill>
          <a:ln w="12700">
            <a:solidFill>
              <a:srgbClr val="DCE3EE"/>
            </a:solidFill>
            <a:prstDash val="solid"/>
          </a:ln>
        </p:spPr>
      </p:sp>
      <p:sp>
        <p:nvSpPr>
          <p:cNvPr id="11" name="Shape 9"/>
          <p:cNvSpPr/>
          <p:nvPr/>
        </p:nvSpPr>
        <p:spPr>
          <a:xfrm>
            <a:off x="603504" y="2377440"/>
            <a:ext cx="365760" cy="365760"/>
          </a:xfrm>
          <a:prstGeom prst="ellipse">
            <a:avLst/>
          </a:prstGeom>
          <a:solidFill>
            <a:srgbClr val="0D7D71"/>
          </a:solidFill>
          <a:ln/>
        </p:spPr>
      </p:sp>
      <p:sp>
        <p:nvSpPr>
          <p:cNvPr id="12" name="Text 10"/>
          <p:cNvSpPr/>
          <p:nvPr/>
        </p:nvSpPr>
        <p:spPr>
          <a:xfrm>
            <a:off x="603504" y="2377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097280" y="2340864"/>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52 threshold rules fire</a:t>
            </a:r>
            <a:endParaRPr lang="en-US" sz="1050" dirty="0"/>
          </a:p>
        </p:txBody>
      </p:sp>
      <p:sp>
        <p:nvSpPr>
          <p:cNvPr id="14" name="Text 12"/>
          <p:cNvSpPr/>
          <p:nvPr/>
        </p:nvSpPr>
        <p:spPr>
          <a:xfrm>
            <a:off x="1097280" y="2596896"/>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Fixed engineering thresholds, each with severity, saving % and a recommendation: material utilisation below 60% is critical and below 72% major; OEE below 70% critical, below 80% major; each cost bucket compared to its commodity benchmark band; operation and setup counts checked.</a:t>
            </a:r>
            <a:endParaRPr lang="en-US" sz="860" dirty="0"/>
          </a:p>
        </p:txBody>
      </p:sp>
      <p:sp>
        <p:nvSpPr>
          <p:cNvPr id="15" name="Shape 13"/>
          <p:cNvSpPr/>
          <p:nvPr/>
        </p:nvSpPr>
        <p:spPr>
          <a:xfrm>
            <a:off x="457200" y="3419856"/>
            <a:ext cx="6492240" cy="1060704"/>
          </a:xfrm>
          <a:prstGeom prst="roundRect">
            <a:avLst>
              <a:gd name="adj" fmla="val 7759"/>
            </a:avLst>
          </a:prstGeom>
          <a:solidFill>
            <a:srgbClr val="FFFFFF"/>
          </a:solidFill>
          <a:ln w="12700">
            <a:solidFill>
              <a:srgbClr val="DCE3EE"/>
            </a:solidFill>
            <a:prstDash val="solid"/>
          </a:ln>
        </p:spPr>
      </p:sp>
      <p:sp>
        <p:nvSpPr>
          <p:cNvPr id="16" name="Shape 14"/>
          <p:cNvSpPr/>
          <p:nvPr/>
        </p:nvSpPr>
        <p:spPr>
          <a:xfrm>
            <a:off x="603504" y="3547872"/>
            <a:ext cx="365760" cy="365760"/>
          </a:xfrm>
          <a:prstGeom prst="ellipse">
            <a:avLst/>
          </a:prstGeom>
          <a:solidFill>
            <a:srgbClr val="0D7D71"/>
          </a:solidFill>
          <a:ln/>
        </p:spPr>
      </p:sp>
      <p:sp>
        <p:nvSpPr>
          <p:cNvPr id="17" name="Text 15"/>
          <p:cNvSpPr/>
          <p:nvPr/>
        </p:nvSpPr>
        <p:spPr>
          <a:xfrm>
            <a:off x="603504" y="3547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097280" y="3511296"/>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10 process advisors add geometry findings</a:t>
            </a:r>
            <a:endParaRPr lang="en-US" sz="1050" dirty="0"/>
          </a:p>
        </p:txBody>
      </p:sp>
      <p:sp>
        <p:nvSpPr>
          <p:cNvPr id="19" name="Text 17"/>
          <p:cNvSpPr/>
          <p:nvPr/>
        </p:nvSpPr>
        <p:spPr>
          <a:xfrm>
            <a:off x="1097280" y="3767328"/>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Per-process DFM read from the measured solid (casting, forging, sheet metal, moulding families…): heavy sections that solidify last → shrink porosity at the hot spot; sharp re-entrant corners → hot-tear initiation; missing draft; wall-ratio breaches; excess machining stock → near-net opportunity.</a:t>
            </a:r>
            <a:endParaRPr lang="en-US" sz="860" dirty="0"/>
          </a:p>
        </p:txBody>
      </p:sp>
      <p:sp>
        <p:nvSpPr>
          <p:cNvPr id="20" name="Shape 18"/>
          <p:cNvSpPr/>
          <p:nvPr/>
        </p:nvSpPr>
        <p:spPr>
          <a:xfrm>
            <a:off x="457200" y="4590288"/>
            <a:ext cx="6492240" cy="1060704"/>
          </a:xfrm>
          <a:prstGeom prst="roundRect">
            <a:avLst>
              <a:gd name="adj" fmla="val 7759"/>
            </a:avLst>
          </a:prstGeom>
          <a:solidFill>
            <a:srgbClr val="FFFFFF"/>
          </a:solidFill>
          <a:ln w="12700">
            <a:solidFill>
              <a:srgbClr val="DCE3EE"/>
            </a:solidFill>
            <a:prstDash val="solid"/>
          </a:ln>
        </p:spPr>
      </p:sp>
      <p:sp>
        <p:nvSpPr>
          <p:cNvPr id="21" name="Shape 19"/>
          <p:cNvSpPr/>
          <p:nvPr/>
        </p:nvSpPr>
        <p:spPr>
          <a:xfrm>
            <a:off x="603504" y="4718304"/>
            <a:ext cx="365760" cy="365760"/>
          </a:xfrm>
          <a:prstGeom prst="ellipse">
            <a:avLst/>
          </a:prstGeom>
          <a:solidFill>
            <a:srgbClr val="0D7D71"/>
          </a:solidFill>
          <a:ln/>
        </p:spPr>
      </p:sp>
      <p:sp>
        <p:nvSpPr>
          <p:cNvPr id="22" name="Text 20"/>
          <p:cNvSpPr/>
          <p:nvPr/>
        </p:nvSpPr>
        <p:spPr>
          <a:xfrm>
            <a:off x="603504" y="47183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097280" y="4681728"/>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Ranked by money, not marked out of ten</a:t>
            </a:r>
            <a:endParaRPr lang="en-US" sz="1050" dirty="0"/>
          </a:p>
        </p:txBody>
      </p:sp>
      <p:sp>
        <p:nvSpPr>
          <p:cNvPr id="24" name="Text 22"/>
          <p:cNvSpPr/>
          <p:nvPr/>
        </p:nvSpPr>
        <p:spPr>
          <a:xfrm>
            <a:off x="1097280" y="4937760"/>
            <a:ext cx="5715000" cy="676656"/>
          </a:xfrm>
          <a:prstGeom prst="rect">
            <a:avLst/>
          </a:prstGeom>
          <a:noFill/>
          <a:ln/>
        </p:spPr>
        <p:txBody>
          <a:bodyPr wrap="square" lIns="0" tIns="0" rIns="0" bIns="0" rtlCol="0" anchor="t"/>
          <a:lstStyle/>
          <a:p>
            <a:pPr indent="0" marL="0">
              <a:buNone/>
            </a:pPr>
            <a:r>
              <a:rPr lang="en-US" sz="860" dirty="0">
                <a:solidFill>
                  <a:srgbClr val="3A4356"/>
                </a:solidFill>
                <a:latin typeface="Calibri" pitchFamily="34" charset="0"/>
                <a:ea typeface="Calibri" pitchFamily="34" charset="-122"/>
                <a:cs typeface="Calibri" pitchFamily="34" charset="-120"/>
              </a:rPr>
              <a:t>Every finding is converted to £/part against this costing and ranked biggest first, grouped by category. The engine still grades findings internally to order them, but no score and no severity is ever published — the report shows what to do and what it is worth, never a mark against the design.</a:t>
            </a:r>
            <a:endParaRPr lang="en-US" sz="860" dirty="0"/>
          </a:p>
        </p:txBody>
      </p:sp>
      <p:sp>
        <p:nvSpPr>
          <p:cNvPr id="25" name="Text 23"/>
          <p:cNvSpPr/>
          <p:nvPr/>
        </p:nvSpPr>
        <p:spPr>
          <a:xfrm>
            <a:off x="7269480" y="1060704"/>
            <a:ext cx="4480560" cy="201168"/>
          </a:xfrm>
          <a:prstGeom prst="rect">
            <a:avLst/>
          </a:prstGeom>
          <a:noFill/>
          <a:ln/>
        </p:spPr>
        <p:txBody>
          <a:bodyPr wrap="square" lIns="0" tIns="0" rIns="0" bIns="0" rtlCol="0" anchor="ctr"/>
          <a:lstStyle/>
          <a:p>
            <a:pPr indent="0" marL="0">
              <a:buNone/>
            </a:pPr>
            <a:r>
              <a:rPr lang="en-US" sz="850" b="1" spc="60" kern="0" dirty="0">
                <a:solidFill>
                  <a:srgbClr val="0D7D71"/>
                </a:solidFill>
                <a:latin typeface="Calibri" pitchFamily="34" charset="0"/>
                <a:ea typeface="Calibri" pitchFamily="34" charset="-122"/>
                <a:cs typeface="Calibri" pitchFamily="34" charset="-120"/>
              </a:rPr>
              <a:t>WHERE IT COMES FROM</a:t>
            </a:r>
            <a:endParaRPr lang="en-US" sz="850" dirty="0"/>
          </a:p>
        </p:txBody>
      </p:sp>
      <p:sp>
        <p:nvSpPr>
          <p:cNvPr id="26" name="Shape 24"/>
          <p:cNvSpPr/>
          <p:nvPr/>
        </p:nvSpPr>
        <p:spPr>
          <a:xfrm>
            <a:off x="7269480" y="1298448"/>
            <a:ext cx="4462272" cy="1737360"/>
          </a:xfrm>
          <a:prstGeom prst="roundRect">
            <a:avLst>
              <a:gd name="adj" fmla="val 4737"/>
            </a:avLst>
          </a:prstGeom>
          <a:solidFill>
            <a:srgbClr val="FFFFFF"/>
          </a:solidFill>
          <a:ln w="12700">
            <a:solidFill>
              <a:srgbClr val="DCE3EE"/>
            </a:solidFill>
            <a:prstDash val="solid"/>
          </a:ln>
        </p:spPr>
      </p:sp>
      <p:sp>
        <p:nvSpPr>
          <p:cNvPr id="27" name="Text 25"/>
          <p:cNvSpPr/>
          <p:nvPr/>
        </p:nvSpPr>
        <p:spPr>
          <a:xfrm>
            <a:off x="7452360" y="1426464"/>
            <a:ext cx="4114800" cy="219456"/>
          </a:xfrm>
          <a:prstGeom prst="rect">
            <a:avLst/>
          </a:prstGeom>
          <a:noFill/>
          <a:ln/>
        </p:spPr>
        <p:txBody>
          <a:bodyPr wrap="square" lIns="0" tIns="0" rIns="0" bIns="0" rtlCol="0" anchor="ctr"/>
          <a:lstStyle/>
          <a:p>
            <a:pPr indent="0" marL="0">
              <a:buNone/>
            </a:pPr>
            <a:r>
              <a:rPr lang="en-US" sz="1050" b="1" dirty="0">
                <a:solidFill>
                  <a:srgbClr val="16325C"/>
                </a:solidFill>
                <a:latin typeface="Courier New" pitchFamily="34" charset="0"/>
                <a:ea typeface="Courier New" pitchFamily="34" charset="-122"/>
                <a:cs typeface="Courier New" pitchFamily="34" charset="-120"/>
              </a:rPr>
              <a:t>src/engine/dfm-dfa.ts</a:t>
            </a:r>
            <a:endParaRPr lang="en-US" sz="1050" dirty="0"/>
          </a:p>
        </p:txBody>
      </p:sp>
      <p:sp>
        <p:nvSpPr>
          <p:cNvPr id="28" name="Text 26"/>
          <p:cNvSpPr/>
          <p:nvPr/>
        </p:nvSpPr>
        <p:spPr>
          <a:xfrm>
            <a:off x="7452360" y="1682496"/>
            <a:ext cx="4114800" cy="402336"/>
          </a:xfrm>
          <a:prstGeom prst="rect">
            <a:avLst/>
          </a:prstGeom>
          <a:noFill/>
          <a:ln/>
        </p:spPr>
        <p:txBody>
          <a:bodyPr wrap="square" lIns="0" tIns="0" rIns="0" bIns="0" rtlCol="0" anchor="t"/>
          <a:lstStyle/>
          <a:p>
            <a:pPr indent="0" marL="0">
              <a:buNone/>
            </a:pPr>
            <a:r>
              <a:rPr lang="en-US" sz="840" i="1" dirty="0">
                <a:solidFill>
                  <a:srgbClr val="3A4356"/>
                </a:solidFill>
                <a:latin typeface="Calibri" pitchFamily="34" charset="0"/>
                <a:ea typeface="Calibri" pitchFamily="34" charset="-122"/>
                <a:cs typeface="Calibri" pitchFamily="34" charset="-120"/>
              </a:rPr>
              <a:t>“Rule-based DFM/DFA and Cost Optimisation engine. Deterministic — no AI API required.” — the file’s own header, and the test suite holds it to that.</a:t>
            </a:r>
            <a:endParaRPr lang="en-US" sz="840" dirty="0"/>
          </a:p>
        </p:txBody>
      </p:sp>
      <p:sp>
        <p:nvSpPr>
          <p:cNvPr id="29" name="Text 27"/>
          <p:cNvSpPr/>
          <p:nvPr/>
        </p:nvSpPr>
        <p:spPr>
          <a:xfrm>
            <a:off x="7452360" y="2121408"/>
            <a:ext cx="4114800" cy="201168"/>
          </a:xfrm>
          <a:prstGeom prst="rect">
            <a:avLst/>
          </a:prstGeom>
          <a:noFill/>
          <a:ln/>
        </p:spPr>
        <p:txBody>
          <a:bodyPr wrap="square" lIns="0" tIns="0" rIns="0" bIns="0" rtlCol="0" anchor="ctr"/>
          <a:lstStyle/>
          <a:p>
            <a:pPr indent="0" marL="0">
              <a:buNone/>
            </a:pPr>
            <a:r>
              <a:rPr lang="en-US" sz="950" b="1" dirty="0">
                <a:solidFill>
                  <a:srgbClr val="16325C"/>
                </a:solidFill>
                <a:latin typeface="Courier New" pitchFamily="34" charset="0"/>
                <a:ea typeface="Courier New" pitchFamily="34" charset="-122"/>
                <a:cs typeface="Courier New" pitchFamily="34" charset="-120"/>
              </a:rPr>
              <a:t>+ modules/*-advisor.ts</a:t>
            </a:r>
            <a:endParaRPr lang="en-US" sz="950" dirty="0"/>
          </a:p>
        </p:txBody>
      </p:sp>
      <p:sp>
        <p:nvSpPr>
          <p:cNvPr id="30" name="Text 28"/>
          <p:cNvSpPr/>
          <p:nvPr/>
        </p:nvSpPr>
        <p:spPr>
          <a:xfrm>
            <a:off x="7452360" y="2340864"/>
            <a:ext cx="4160520" cy="621792"/>
          </a:xfrm>
          <a:prstGeom prst="rect">
            <a:avLst/>
          </a:prstGeom>
          <a:noFill/>
          <a:ln/>
        </p:spPr>
        <p:txBody>
          <a:bodyPr wrap="square" lIns="0" tIns="0" rIns="0" bIns="0" rtlCol="0" anchor="t"/>
          <a:lstStyle/>
          <a:p>
            <a:pPr indent="0" marL="0">
              <a:buNone/>
            </a:pPr>
            <a:r>
              <a:rPr lang="en-US" sz="840" dirty="0">
                <a:solidFill>
                  <a:srgbClr val="3A4356"/>
                </a:solidFill>
                <a:latin typeface="Calibri" pitchFamily="34" charset="0"/>
                <a:ea typeface="Calibri" pitchFamily="34" charset="-122"/>
                <a:cs typeface="Calibri" pitchFamily="34" charset="-120"/>
              </a:rPr>
              <a:t>Ten per-process advisor modules supply the geometry-driven findings. One function feeds §12–§15 of the PDF AND the on-screen panel — the same object rendered twice, so screen and report can never disagree.</a:t>
            </a:r>
            <a:endParaRPr lang="en-US" sz="840" dirty="0"/>
          </a:p>
        </p:txBody>
      </p:sp>
      <p:sp>
        <p:nvSpPr>
          <p:cNvPr id="31" name="Shape 29"/>
          <p:cNvSpPr/>
          <p:nvPr/>
        </p:nvSpPr>
        <p:spPr>
          <a:xfrm>
            <a:off x="7269480" y="3163824"/>
            <a:ext cx="4462272" cy="822960"/>
          </a:xfrm>
          <a:prstGeom prst="roundRect">
            <a:avLst>
              <a:gd name="adj" fmla="val 10000"/>
            </a:avLst>
          </a:prstGeom>
          <a:solidFill>
            <a:srgbClr val="FFFFFF"/>
          </a:solidFill>
          <a:ln w="12700">
            <a:solidFill>
              <a:srgbClr val="DCE3EE"/>
            </a:solidFill>
            <a:prstDash val="solid"/>
          </a:ln>
        </p:spPr>
      </p:sp>
      <p:sp>
        <p:nvSpPr>
          <p:cNvPr id="32" name="Shape 30"/>
          <p:cNvSpPr/>
          <p:nvPr/>
        </p:nvSpPr>
        <p:spPr>
          <a:xfrm>
            <a:off x="7397496" y="3264408"/>
            <a:ext cx="310896" cy="310896"/>
          </a:xfrm>
          <a:prstGeom prst="ellipse">
            <a:avLst/>
          </a:prstGeom>
          <a:solidFill>
            <a:srgbClr val="0D7D71"/>
          </a:solidFill>
          <a:ln/>
        </p:spPr>
      </p:sp>
      <p:pic>
        <p:nvPicPr>
          <p:cNvPr id="33" name="Image 0" descr="preencoded.png">    </p:cNvPr>
          <p:cNvPicPr>
            <a:picLocks noChangeAspect="1"/>
          </p:cNvPicPr>
          <p:nvPr/>
        </p:nvPicPr>
        <p:blipFill>
          <a:blip r:embed="rId1"/>
          <a:stretch>
            <a:fillRect/>
          </a:stretch>
        </p:blipFill>
        <p:spPr>
          <a:xfrm>
            <a:off x="7470648" y="3337560"/>
            <a:ext cx="164592" cy="164592"/>
          </a:xfrm>
          <a:prstGeom prst="rect">
            <a:avLst/>
          </a:prstGeom>
        </p:spPr>
      </p:pic>
      <p:sp>
        <p:nvSpPr>
          <p:cNvPr id="34" name="Text 31"/>
          <p:cNvSpPr/>
          <p:nvPr/>
        </p:nvSpPr>
        <p:spPr>
          <a:xfrm>
            <a:off x="7790688" y="3246120"/>
            <a:ext cx="3840480" cy="201168"/>
          </a:xfrm>
          <a:prstGeom prst="rect">
            <a:avLst/>
          </a:prstGeom>
          <a:noFill/>
          <a:ln/>
        </p:spPr>
        <p:txBody>
          <a:bodyPr wrap="square" lIns="0" tIns="0" rIns="0" bIns="0" rtlCol="0" anchor="ctr"/>
          <a:lstStyle/>
          <a:p>
            <a:pPr indent="0" marL="0">
              <a:buNone/>
            </a:pPr>
            <a:r>
              <a:rPr lang="en-US" sz="950" b="1" dirty="0">
                <a:solidFill>
                  <a:srgbClr val="0D7D71"/>
                </a:solidFill>
                <a:latin typeface="Calibri" pitchFamily="34" charset="0"/>
                <a:ea typeface="Calibri" pitchFamily="34" charset="-122"/>
                <a:cs typeface="Calibri" pitchFamily="34" charset="-120"/>
              </a:rPr>
              <a:t>Same part, same report</a:t>
            </a:r>
            <a:endParaRPr lang="en-US" sz="950" dirty="0"/>
          </a:p>
        </p:txBody>
      </p:sp>
      <p:sp>
        <p:nvSpPr>
          <p:cNvPr id="35" name="Text 32"/>
          <p:cNvSpPr/>
          <p:nvPr/>
        </p:nvSpPr>
        <p:spPr>
          <a:xfrm>
            <a:off x="7790688" y="3465576"/>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Deterministic and unit-tested: identical inputs produce an identical report, every run. Every threshold is a named constant in code a reviewer can read — not a prompt.</a:t>
            </a:r>
            <a:endParaRPr lang="en-US" sz="800" dirty="0"/>
          </a:p>
        </p:txBody>
      </p:sp>
      <p:sp>
        <p:nvSpPr>
          <p:cNvPr id="36" name="Shape 33"/>
          <p:cNvSpPr/>
          <p:nvPr/>
        </p:nvSpPr>
        <p:spPr>
          <a:xfrm>
            <a:off x="7269480" y="4069080"/>
            <a:ext cx="4462272" cy="822960"/>
          </a:xfrm>
          <a:prstGeom prst="roundRect">
            <a:avLst>
              <a:gd name="adj" fmla="val 10000"/>
            </a:avLst>
          </a:prstGeom>
          <a:solidFill>
            <a:srgbClr val="FFFFFF"/>
          </a:solidFill>
          <a:ln w="12700">
            <a:solidFill>
              <a:srgbClr val="DCE3EE"/>
            </a:solidFill>
            <a:prstDash val="solid"/>
          </a:ln>
        </p:spPr>
      </p:sp>
      <p:sp>
        <p:nvSpPr>
          <p:cNvPr id="37" name="Shape 34"/>
          <p:cNvSpPr/>
          <p:nvPr/>
        </p:nvSpPr>
        <p:spPr>
          <a:xfrm>
            <a:off x="7397496" y="4169664"/>
            <a:ext cx="310896" cy="310896"/>
          </a:xfrm>
          <a:prstGeom prst="ellipse">
            <a:avLst/>
          </a:prstGeom>
          <a:solidFill>
            <a:srgbClr val="2A7F50"/>
          </a:solidFill>
          <a:ln/>
        </p:spPr>
      </p:sp>
      <p:pic>
        <p:nvPicPr>
          <p:cNvPr id="38" name="Image 1" descr="preencoded.png">    </p:cNvPr>
          <p:cNvPicPr>
            <a:picLocks noChangeAspect="1"/>
          </p:cNvPicPr>
          <p:nvPr/>
        </p:nvPicPr>
        <p:blipFill>
          <a:blip r:embed="rId2"/>
          <a:stretch>
            <a:fillRect/>
          </a:stretch>
        </p:blipFill>
        <p:spPr>
          <a:xfrm>
            <a:off x="7470648" y="4242816"/>
            <a:ext cx="164592" cy="164592"/>
          </a:xfrm>
          <a:prstGeom prst="rect">
            <a:avLst/>
          </a:prstGeom>
        </p:spPr>
      </p:pic>
      <p:sp>
        <p:nvSpPr>
          <p:cNvPr id="39" name="Text 35"/>
          <p:cNvSpPr/>
          <p:nvPr/>
        </p:nvSpPr>
        <p:spPr>
          <a:xfrm>
            <a:off x="7790688" y="4151376"/>
            <a:ext cx="3840480" cy="201168"/>
          </a:xfrm>
          <a:prstGeom prst="rect">
            <a:avLst/>
          </a:prstGeom>
          <a:noFill/>
          <a:ln/>
        </p:spPr>
        <p:txBody>
          <a:bodyPr wrap="square" lIns="0" tIns="0" rIns="0" bIns="0" rtlCol="0" anchor="ctr"/>
          <a:lstStyle/>
          <a:p>
            <a:pPr indent="0" marL="0">
              <a:buNone/>
            </a:pPr>
            <a:r>
              <a:rPr lang="en-US" sz="950" b="1" dirty="0">
                <a:solidFill>
                  <a:srgbClr val="2A7F50"/>
                </a:solidFill>
                <a:latin typeface="Calibri" pitchFamily="34" charset="0"/>
                <a:ea typeface="Calibri" pitchFamily="34" charset="-122"/>
                <a:cs typeface="Calibri" pitchFamily="34" charset="-120"/>
              </a:rPr>
              <a:t>Honest saving maths</a:t>
            </a:r>
            <a:endParaRPr lang="en-US" sz="950" dirty="0"/>
          </a:p>
        </p:txBody>
      </p:sp>
      <p:sp>
        <p:nvSpPr>
          <p:cNvPr id="40" name="Text 36"/>
          <p:cNvSpPr/>
          <p:nvPr/>
        </p:nvSpPr>
        <p:spPr>
          <a:xfrm>
            <a:off x="7790688" y="4370832"/>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The headline saving is NOT the sum of every issue — it is the root-sum-square of the top three, capped at 40%. Stacked opportunities are never allowed to promise an impossible discount.</a:t>
            </a:r>
            <a:endParaRPr lang="en-US" sz="800" dirty="0"/>
          </a:p>
        </p:txBody>
      </p:sp>
      <p:sp>
        <p:nvSpPr>
          <p:cNvPr id="41" name="Shape 37"/>
          <p:cNvSpPr/>
          <p:nvPr/>
        </p:nvSpPr>
        <p:spPr>
          <a:xfrm>
            <a:off x="7269480" y="4974336"/>
            <a:ext cx="4462272" cy="822960"/>
          </a:xfrm>
          <a:prstGeom prst="roundRect">
            <a:avLst>
              <a:gd name="adj" fmla="val 10000"/>
            </a:avLst>
          </a:prstGeom>
          <a:solidFill>
            <a:srgbClr val="FFFFFF"/>
          </a:solidFill>
          <a:ln w="12700">
            <a:solidFill>
              <a:srgbClr val="DCE3EE"/>
            </a:solidFill>
            <a:prstDash val="solid"/>
          </a:ln>
        </p:spPr>
      </p:sp>
      <p:sp>
        <p:nvSpPr>
          <p:cNvPr id="42" name="Shape 38"/>
          <p:cNvSpPr/>
          <p:nvPr/>
        </p:nvSpPr>
        <p:spPr>
          <a:xfrm>
            <a:off x="7397496" y="5074920"/>
            <a:ext cx="310896" cy="310896"/>
          </a:xfrm>
          <a:prstGeom prst="ellipse">
            <a:avLst/>
          </a:prstGeom>
          <a:solidFill>
            <a:srgbClr val="99651A"/>
          </a:solidFill>
          <a:ln/>
        </p:spPr>
      </p:sp>
      <p:pic>
        <p:nvPicPr>
          <p:cNvPr id="43" name="Image 2" descr="preencoded.png">    </p:cNvPr>
          <p:cNvPicPr>
            <a:picLocks noChangeAspect="1"/>
          </p:cNvPicPr>
          <p:nvPr/>
        </p:nvPicPr>
        <p:blipFill>
          <a:blip r:embed="rId3"/>
          <a:stretch>
            <a:fillRect/>
          </a:stretch>
        </p:blipFill>
        <p:spPr>
          <a:xfrm>
            <a:off x="7470648" y="5148072"/>
            <a:ext cx="164592" cy="164592"/>
          </a:xfrm>
          <a:prstGeom prst="rect">
            <a:avLst/>
          </a:prstGeom>
        </p:spPr>
      </p:pic>
      <p:sp>
        <p:nvSpPr>
          <p:cNvPr id="44" name="Text 39"/>
          <p:cNvSpPr/>
          <p:nvPr/>
        </p:nvSpPr>
        <p:spPr>
          <a:xfrm>
            <a:off x="7790688" y="5056632"/>
            <a:ext cx="3840480" cy="201168"/>
          </a:xfrm>
          <a:prstGeom prst="rect">
            <a:avLst/>
          </a:prstGeom>
          <a:noFill/>
          <a:ln/>
        </p:spPr>
        <p:txBody>
          <a:bodyPr wrap="square" lIns="0" tIns="0" rIns="0" bIns="0" rtlCol="0" anchor="ctr"/>
          <a:lstStyle/>
          <a:p>
            <a:pPr indent="0" marL="0">
              <a:buNone/>
            </a:pPr>
            <a:r>
              <a:rPr lang="en-US" sz="950" b="1" dirty="0">
                <a:solidFill>
                  <a:srgbClr val="99651A"/>
                </a:solidFill>
                <a:latin typeface="Calibri" pitchFamily="34" charset="0"/>
                <a:ea typeface="Calibri" pitchFamily="34" charset="-122"/>
                <a:cs typeface="Calibri" pitchFamily="34" charset="-120"/>
              </a:rPr>
              <a:t>The AI cannot touch it</a:t>
            </a:r>
            <a:endParaRPr lang="en-US" sz="950" dirty="0"/>
          </a:p>
        </p:txBody>
      </p:sp>
      <p:sp>
        <p:nvSpPr>
          <p:cNvPr id="45" name="Text 40"/>
          <p:cNvSpPr/>
          <p:nvPr/>
        </p:nvSpPr>
        <p:spPr>
          <a:xfrm>
            <a:off x="7790688" y="5276088"/>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AI is off at JLR. If switched on, it may add display-only commentary to the CAD panel. It writes no score, severity, saving or recommendation in this report.</a:t>
            </a:r>
            <a:endParaRPr lang="en-US" sz="800" dirty="0"/>
          </a:p>
        </p:txBody>
      </p:sp>
      <p:sp>
        <p:nvSpPr>
          <p:cNvPr id="46" name="Shape 41"/>
          <p:cNvSpPr/>
          <p:nvPr/>
        </p:nvSpPr>
        <p:spPr>
          <a:xfrm>
            <a:off x="457200" y="5870448"/>
            <a:ext cx="11274552" cy="502920"/>
          </a:xfrm>
          <a:prstGeom prst="roundRect">
            <a:avLst>
              <a:gd name="adj" fmla="val 14545"/>
            </a:avLst>
          </a:prstGeom>
          <a:solidFill>
            <a:srgbClr val="E7F4F2"/>
          </a:solidFill>
          <a:ln w="12700">
            <a:solidFill>
              <a:srgbClr val="0D7D71"/>
            </a:solidFill>
            <a:prstDash val="solid"/>
          </a:ln>
        </p:spPr>
      </p:sp>
      <p:sp>
        <p:nvSpPr>
          <p:cNvPr id="47" name="Text 42"/>
          <p:cNvSpPr/>
          <p:nvPr/>
        </p:nvSpPr>
        <p:spPr>
          <a:xfrm>
            <a:off x="621792" y="5870448"/>
            <a:ext cx="10972800" cy="5029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Read it in one line:  </a:t>
            </a:r>
            <a:pPr indent="0" marL="0">
              <a:buNone/>
            </a:pPr>
            <a:r>
              <a:rPr lang="en-US" sz="1000" dirty="0">
                <a:solidFill>
                  <a:srgbClr val="3A4356"/>
                </a:solidFill>
                <a:latin typeface="Calibri" pitchFamily="34" charset="0"/>
                <a:ea typeface="Calibri" pitchFamily="34" charset="-122"/>
                <a:cs typeface="Calibri" pitchFamily="34" charset="-120"/>
              </a:rPr>
              <a:t>the same measured geometry and the same costed numbers are pushed through fixed engineering thresholds — the DFM/DFA report is arithmetic you can audit, not opinion you have to trust. The appendix prints every rule, parameter, advisor and lever in full.</a:t>
            </a:r>
            <a:endParaRPr lang="en-US" sz="1000" dirty="0"/>
          </a:p>
        </p:txBody>
      </p:sp>
      <p:sp>
        <p:nvSpPr>
          <p:cNvPr id="48" name="Text 4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49" name="Text 4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4F46E5"/>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Machine Is a Cost Decision — Not a Default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routing optimiser picks the cheapest capable machine, and every suggestion follows the same arithmetic</a:t>
            </a:r>
            <a:endParaRPr lang="en-US" sz="1200" dirty="0"/>
          </a:p>
        </p:txBody>
      </p:sp>
      <p:sp>
        <p:nvSpPr>
          <p:cNvPr id="5" name="Shape 3"/>
          <p:cNvSpPr/>
          <p:nvPr/>
        </p:nvSpPr>
        <p:spPr>
          <a:xfrm>
            <a:off x="457200" y="1078992"/>
            <a:ext cx="6492240" cy="1060704"/>
          </a:xfrm>
          <a:prstGeom prst="roundRect">
            <a:avLst>
              <a:gd name="adj" fmla="val 7759"/>
            </a:avLst>
          </a:prstGeom>
          <a:solidFill>
            <a:srgbClr val="FFFFFF"/>
          </a:solidFill>
          <a:ln w="12700">
            <a:solidFill>
              <a:srgbClr val="DCE3EE"/>
            </a:solidFill>
            <a:prstDash val="solid"/>
          </a:ln>
        </p:spPr>
      </p:sp>
      <p:sp>
        <p:nvSpPr>
          <p:cNvPr id="6" name="Shape 4"/>
          <p:cNvSpPr/>
          <p:nvPr/>
        </p:nvSpPr>
        <p:spPr>
          <a:xfrm>
            <a:off x="603504" y="1207008"/>
            <a:ext cx="365760" cy="365760"/>
          </a:xfrm>
          <a:prstGeom prst="ellipse">
            <a:avLst/>
          </a:prstGeom>
          <a:solidFill>
            <a:srgbClr val="4F46E5"/>
          </a:solidFill>
          <a:ln/>
        </p:spPr>
      </p:sp>
      <p:sp>
        <p:nvSpPr>
          <p:cNvPr id="7" name="Text 5"/>
          <p:cNvSpPr/>
          <p:nvPr/>
        </p:nvSpPr>
        <p:spPr>
          <a:xfrm>
            <a:off x="603504" y="1207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097280" y="1170432"/>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Rank the routings in pounds</a:t>
            </a:r>
            <a:endParaRPr lang="en-US" sz="1050" dirty="0"/>
          </a:p>
        </p:txBody>
      </p:sp>
      <p:sp>
        <p:nvSpPr>
          <p:cNvPr id="9" name="Text 7"/>
          <p:cNvSpPr/>
          <p:nvPr/>
        </p:nvSpPr>
        <p:spPr>
          <a:xfrm>
            <a:off x="1097280" y="1408176"/>
            <a:ext cx="5715000" cy="71323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Before a single pound is booked, the feasible routings are priced under the same conventions the cost charges: split across cheap 3-axis stations (one fixturing per approach direction plus the drill press) vs a single-setup 5-axis consolidation vs turning-led — batch setup amortisation AND per-part handling at every fixturing included.</a:t>
            </a:r>
            <a:endParaRPr lang="en-US" sz="820" dirty="0"/>
          </a:p>
        </p:txBody>
      </p:sp>
      <p:sp>
        <p:nvSpPr>
          <p:cNvPr id="10" name="Shape 8"/>
          <p:cNvSpPr/>
          <p:nvPr/>
        </p:nvSpPr>
        <p:spPr>
          <a:xfrm>
            <a:off x="457200" y="2249424"/>
            <a:ext cx="6492240" cy="1060704"/>
          </a:xfrm>
          <a:prstGeom prst="roundRect">
            <a:avLst>
              <a:gd name="adj" fmla="val 7759"/>
            </a:avLst>
          </a:prstGeom>
          <a:solidFill>
            <a:srgbClr val="FFFFFF"/>
          </a:solidFill>
          <a:ln w="12700">
            <a:solidFill>
              <a:srgbClr val="DCE3EE"/>
            </a:solidFill>
            <a:prstDash val="solid"/>
          </a:ln>
        </p:spPr>
      </p:sp>
      <p:sp>
        <p:nvSpPr>
          <p:cNvPr id="11" name="Shape 9"/>
          <p:cNvSpPr/>
          <p:nvPr/>
        </p:nvSpPr>
        <p:spPr>
          <a:xfrm>
            <a:off x="603504" y="2377440"/>
            <a:ext cx="365760" cy="365760"/>
          </a:xfrm>
          <a:prstGeom prst="ellipse">
            <a:avLst/>
          </a:prstGeom>
          <a:solidFill>
            <a:srgbClr val="4F46E5"/>
          </a:solidFill>
          <a:ln/>
        </p:spPr>
      </p:sp>
      <p:sp>
        <p:nvSpPr>
          <p:cNvPr id="12" name="Text 10"/>
          <p:cNvSpPr/>
          <p:nvPr/>
        </p:nvSpPr>
        <p:spPr>
          <a:xfrm>
            <a:off x="603504" y="2377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097280" y="2340864"/>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losers print in the trace</a:t>
            </a:r>
            <a:endParaRPr lang="en-US" sz="1050" dirty="0"/>
          </a:p>
        </p:txBody>
      </p:sp>
      <p:sp>
        <p:nvSpPr>
          <p:cNvPr id="14" name="Text 12"/>
          <p:cNvSpPr/>
          <p:nvPr/>
        </p:nvSpPr>
        <p:spPr>
          <a:xfrm>
            <a:off x="1097280" y="2578608"/>
            <a:ext cx="5715000" cy="71323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The chosen machine carries the full comparison as its basis: "split-3axis £12.91 vs consolidated-5axis £21.11 → split-3axis, £8.20/part cheaper". A buyer can defend the process line with the table, and the AI cannot pick a machine on any path — the rules overwrite it everywhere.</a:t>
            </a:r>
            <a:endParaRPr lang="en-US" sz="820" dirty="0"/>
          </a:p>
        </p:txBody>
      </p:sp>
      <p:sp>
        <p:nvSpPr>
          <p:cNvPr id="15" name="Shape 13"/>
          <p:cNvSpPr/>
          <p:nvPr/>
        </p:nvSpPr>
        <p:spPr>
          <a:xfrm>
            <a:off x="457200" y="3419856"/>
            <a:ext cx="6492240" cy="1060704"/>
          </a:xfrm>
          <a:prstGeom prst="roundRect">
            <a:avLst>
              <a:gd name="adj" fmla="val 7759"/>
            </a:avLst>
          </a:prstGeom>
          <a:solidFill>
            <a:srgbClr val="FFFFFF"/>
          </a:solidFill>
          <a:ln w="12700">
            <a:solidFill>
              <a:srgbClr val="DCE3EE"/>
            </a:solidFill>
            <a:prstDash val="solid"/>
          </a:ln>
        </p:spPr>
      </p:sp>
      <p:sp>
        <p:nvSpPr>
          <p:cNvPr id="16" name="Shape 14"/>
          <p:cNvSpPr/>
          <p:nvPr/>
        </p:nvSpPr>
        <p:spPr>
          <a:xfrm>
            <a:off x="603504" y="3547872"/>
            <a:ext cx="365760" cy="365760"/>
          </a:xfrm>
          <a:prstGeom prst="ellipse">
            <a:avLst/>
          </a:prstGeom>
          <a:solidFill>
            <a:srgbClr val="4F46E5"/>
          </a:solidFill>
          <a:ln/>
        </p:spPr>
      </p:sp>
      <p:sp>
        <p:nvSpPr>
          <p:cNvPr id="17" name="Text 15"/>
          <p:cNvSpPr/>
          <p:nvPr/>
        </p:nvSpPr>
        <p:spPr>
          <a:xfrm>
            <a:off x="603504" y="3547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097280" y="3511296"/>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Suggestions read the same arithmetic</a:t>
            </a:r>
            <a:endParaRPr lang="en-US" sz="1050" dirty="0"/>
          </a:p>
        </p:txBody>
      </p:sp>
      <p:sp>
        <p:nvSpPr>
          <p:cNvPr id="19" name="Text 17"/>
          <p:cNvSpPr/>
          <p:nvPr/>
        </p:nvSpPr>
        <p:spPr>
          <a:xfrm>
            <a:off x="1097280" y="3749040"/>
            <a:ext cx="5715000" cy="71323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The report used to advise "consolidate with multi-axis machining" against routings the tool itself had chosen. Now the advice is station-aware: it fires only on a genuinely split routing, flips to "routing verified optimal — quote it as evidence" when the lever is already taken, and every finding carries a lever tag: design · supplier · sourcing · assumption · verified.</a:t>
            </a:r>
            <a:endParaRPr lang="en-US" sz="820" dirty="0"/>
          </a:p>
        </p:txBody>
      </p:sp>
      <p:sp>
        <p:nvSpPr>
          <p:cNvPr id="20" name="Shape 18"/>
          <p:cNvSpPr/>
          <p:nvPr/>
        </p:nvSpPr>
        <p:spPr>
          <a:xfrm>
            <a:off x="457200" y="4590288"/>
            <a:ext cx="6492240" cy="1060704"/>
          </a:xfrm>
          <a:prstGeom prst="roundRect">
            <a:avLst>
              <a:gd name="adj" fmla="val 7759"/>
            </a:avLst>
          </a:prstGeom>
          <a:solidFill>
            <a:srgbClr val="FFFFFF"/>
          </a:solidFill>
          <a:ln w="12700">
            <a:solidFill>
              <a:srgbClr val="DCE3EE"/>
            </a:solidFill>
            <a:prstDash val="solid"/>
          </a:ln>
        </p:spPr>
      </p:sp>
      <p:sp>
        <p:nvSpPr>
          <p:cNvPr id="21" name="Shape 19"/>
          <p:cNvSpPr/>
          <p:nvPr/>
        </p:nvSpPr>
        <p:spPr>
          <a:xfrm>
            <a:off x="603504" y="4718304"/>
            <a:ext cx="365760" cy="365760"/>
          </a:xfrm>
          <a:prstGeom prst="ellipse">
            <a:avLst/>
          </a:prstGeom>
          <a:solidFill>
            <a:srgbClr val="4F46E5"/>
          </a:solidFill>
          <a:ln/>
        </p:spPr>
      </p:sp>
      <p:sp>
        <p:nvSpPr>
          <p:cNvPr id="22" name="Text 20"/>
          <p:cNvSpPr/>
          <p:nvPr/>
        </p:nvSpPr>
        <p:spPr>
          <a:xfrm>
            <a:off x="603504" y="47183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097280" y="4681728"/>
            <a:ext cx="5760720" cy="237744"/>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Re-quote suggestion — a real case</a:t>
            </a:r>
            <a:endParaRPr lang="en-US" sz="1050" dirty="0"/>
          </a:p>
        </p:txBody>
      </p:sp>
      <p:sp>
        <p:nvSpPr>
          <p:cNvPr id="24" name="Text 22"/>
          <p:cNvSpPr/>
          <p:nvPr/>
        </p:nvSpPr>
        <p:spPr>
          <a:xfrm>
            <a:off x="1097280" y="4919472"/>
            <a:ext cx="5715000" cy="713232"/>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On the stub-axle routing, the old §14 claimed "multi-axis consolidation, 11% saving". The optimiser ranked it: consolidation LOSES on that part. The new action: "Re-quote machining on the cost-optimal routing — £28.58 as costed vs £21.63 optimal, £6.95/part" (figures from that report at the time) — a Quick Win negotiation, not a capex project.</a:t>
            </a:r>
            <a:endParaRPr lang="en-US" sz="820" dirty="0"/>
          </a:p>
        </p:txBody>
      </p:sp>
      <p:sp>
        <p:nvSpPr>
          <p:cNvPr id="25" name="Text 23"/>
          <p:cNvSpPr/>
          <p:nvPr/>
        </p:nvSpPr>
        <p:spPr>
          <a:xfrm>
            <a:off x="7269480" y="1060704"/>
            <a:ext cx="4480560" cy="201168"/>
          </a:xfrm>
          <a:prstGeom prst="rect">
            <a:avLst/>
          </a:prstGeom>
          <a:noFill/>
          <a:ln/>
        </p:spPr>
        <p:txBody>
          <a:bodyPr wrap="square" lIns="0" tIns="0" rIns="0" bIns="0" rtlCol="0" anchor="ctr"/>
          <a:lstStyle/>
          <a:p>
            <a:pPr indent="0" marL="0">
              <a:buNone/>
            </a:pPr>
            <a:r>
              <a:rPr lang="en-US" sz="850" b="1" spc="60" kern="0" dirty="0">
                <a:solidFill>
                  <a:srgbClr val="4F46E5"/>
                </a:solidFill>
                <a:latin typeface="Calibri" pitchFamily="34" charset="0"/>
                <a:ea typeface="Calibri" pitchFamily="34" charset="-122"/>
                <a:cs typeface="Calibri" pitchFamily="34" charset="-120"/>
              </a:rPr>
              <a:t>BEFORE vs AFTER — THE STUB-AXLE REPORT</a:t>
            </a:r>
            <a:endParaRPr lang="en-US" sz="850" dirty="0"/>
          </a:p>
        </p:txBody>
      </p:sp>
      <p:sp>
        <p:nvSpPr>
          <p:cNvPr id="26" name="Shape 24"/>
          <p:cNvSpPr/>
          <p:nvPr/>
        </p:nvSpPr>
        <p:spPr>
          <a:xfrm>
            <a:off x="7269480" y="1298448"/>
            <a:ext cx="4462272" cy="841248"/>
          </a:xfrm>
          <a:prstGeom prst="roundRect">
            <a:avLst>
              <a:gd name="adj" fmla="val 9783"/>
            </a:avLst>
          </a:prstGeom>
          <a:solidFill>
            <a:srgbClr val="FDF2F2"/>
          </a:solidFill>
          <a:ln w="12700">
            <a:solidFill>
              <a:srgbClr val="B03A2E"/>
            </a:solidFill>
            <a:prstDash val="solid"/>
          </a:ln>
        </p:spPr>
      </p:sp>
      <p:sp>
        <p:nvSpPr>
          <p:cNvPr id="27" name="Text 25"/>
          <p:cNvSpPr/>
          <p:nvPr/>
        </p:nvSpPr>
        <p:spPr>
          <a:xfrm>
            <a:off x="7434072" y="1389888"/>
            <a:ext cx="4114800" cy="182880"/>
          </a:xfrm>
          <a:prstGeom prst="rect">
            <a:avLst/>
          </a:prstGeom>
          <a:noFill/>
          <a:ln/>
        </p:spPr>
        <p:txBody>
          <a:bodyPr wrap="square" lIns="0" tIns="0" rIns="0" bIns="0" rtlCol="0" anchor="ctr"/>
          <a:lstStyle/>
          <a:p>
            <a:pPr indent="0" marL="0">
              <a:buNone/>
            </a:pPr>
            <a:r>
              <a:rPr lang="en-US" sz="850" b="1" dirty="0">
                <a:solidFill>
                  <a:srgbClr val="B03A2E"/>
                </a:solidFill>
                <a:latin typeface="Calibri" pitchFamily="34" charset="0"/>
                <a:ea typeface="Calibri" pitchFamily="34" charset="-122"/>
                <a:cs typeface="Calibri" pitchFamily="34" charset="-120"/>
              </a:rPr>
              <a:t>BEFORE — generic claim</a:t>
            </a:r>
            <a:endParaRPr lang="en-US" sz="850" dirty="0"/>
          </a:p>
        </p:txBody>
      </p:sp>
      <p:sp>
        <p:nvSpPr>
          <p:cNvPr id="28" name="Text 26"/>
          <p:cNvSpPr/>
          <p:nvPr/>
        </p:nvSpPr>
        <p:spPr>
          <a:xfrm>
            <a:off x="7434072" y="1591056"/>
            <a:ext cx="4160520" cy="51206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"Multi-Axis Machining to Consolidate Operations — 11% saving · Long Term." Fired on operation count alone; on this part the arithmetic says consolidation loses money.</a:t>
            </a:r>
            <a:endParaRPr lang="en-US" sz="820" dirty="0"/>
          </a:p>
        </p:txBody>
      </p:sp>
      <p:sp>
        <p:nvSpPr>
          <p:cNvPr id="29" name="Shape 27"/>
          <p:cNvSpPr/>
          <p:nvPr/>
        </p:nvSpPr>
        <p:spPr>
          <a:xfrm>
            <a:off x="7269480" y="2231136"/>
            <a:ext cx="4462272" cy="841248"/>
          </a:xfrm>
          <a:prstGeom prst="roundRect">
            <a:avLst>
              <a:gd name="adj" fmla="val 9783"/>
            </a:avLst>
          </a:prstGeom>
          <a:solidFill>
            <a:srgbClr val="EAF6EF"/>
          </a:solidFill>
          <a:ln w="12700">
            <a:solidFill>
              <a:srgbClr val="2A7F50"/>
            </a:solidFill>
            <a:prstDash val="solid"/>
          </a:ln>
        </p:spPr>
      </p:sp>
      <p:sp>
        <p:nvSpPr>
          <p:cNvPr id="30" name="Text 28"/>
          <p:cNvSpPr/>
          <p:nvPr/>
        </p:nvSpPr>
        <p:spPr>
          <a:xfrm>
            <a:off x="7434072" y="2322576"/>
            <a:ext cx="4114800" cy="182880"/>
          </a:xfrm>
          <a:prstGeom prst="rect">
            <a:avLst/>
          </a:prstGeom>
          <a:noFill/>
          <a:ln/>
        </p:spPr>
        <p:txBody>
          <a:bodyPr wrap="square" lIns="0" tIns="0" rIns="0" bIns="0" rtlCol="0" anchor="ctr"/>
          <a:lstStyle/>
          <a:p>
            <a:pPr indent="0" marL="0">
              <a:buNone/>
            </a:pPr>
            <a:r>
              <a:rPr lang="en-US" sz="850" b="1" dirty="0">
                <a:solidFill>
                  <a:srgbClr val="2A7F50"/>
                </a:solidFill>
                <a:latin typeface="Calibri" pitchFamily="34" charset="0"/>
                <a:ea typeface="Calibri" pitchFamily="34" charset="-122"/>
                <a:cs typeface="Calibri" pitchFamily="34" charset="-120"/>
              </a:rPr>
              <a:t>AFTER — the optimiser’s delta</a:t>
            </a:r>
            <a:endParaRPr lang="en-US" sz="850" dirty="0"/>
          </a:p>
        </p:txBody>
      </p:sp>
      <p:sp>
        <p:nvSpPr>
          <p:cNvPr id="31" name="Text 29"/>
          <p:cNvSpPr/>
          <p:nvPr/>
        </p:nvSpPr>
        <p:spPr>
          <a:xfrm>
            <a:off x="7434072" y="2523744"/>
            <a:ext cx="4160520" cy="51206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"Re-quote machining on the cost-optimal routing: £6.95/part · Quick Win. 5-axis consolidation was ranked and does NOT win on this part."</a:t>
            </a:r>
            <a:endParaRPr lang="en-US" sz="820" dirty="0"/>
          </a:p>
        </p:txBody>
      </p:sp>
      <p:sp>
        <p:nvSpPr>
          <p:cNvPr id="32" name="Shape 30"/>
          <p:cNvSpPr/>
          <p:nvPr/>
        </p:nvSpPr>
        <p:spPr>
          <a:xfrm>
            <a:off x="7269480" y="3200400"/>
            <a:ext cx="4462272" cy="804672"/>
          </a:xfrm>
          <a:prstGeom prst="roundRect">
            <a:avLst>
              <a:gd name="adj" fmla="val 10227"/>
            </a:avLst>
          </a:prstGeom>
          <a:solidFill>
            <a:srgbClr val="FFFFFF"/>
          </a:solidFill>
          <a:ln w="12700">
            <a:solidFill>
              <a:srgbClr val="DCE3EE"/>
            </a:solidFill>
            <a:prstDash val="solid"/>
          </a:ln>
        </p:spPr>
      </p:sp>
      <p:sp>
        <p:nvSpPr>
          <p:cNvPr id="33" name="Shape 31"/>
          <p:cNvSpPr/>
          <p:nvPr/>
        </p:nvSpPr>
        <p:spPr>
          <a:xfrm>
            <a:off x="7397496" y="3300984"/>
            <a:ext cx="310896" cy="310896"/>
          </a:xfrm>
          <a:prstGeom prst="ellipse">
            <a:avLst/>
          </a:prstGeom>
          <a:solidFill>
            <a:srgbClr val="4F46E5"/>
          </a:solidFill>
          <a:ln/>
        </p:spPr>
      </p:sp>
      <p:pic>
        <p:nvPicPr>
          <p:cNvPr id="34" name="Image 0" descr="preencoded.png">    </p:cNvPr>
          <p:cNvPicPr>
            <a:picLocks noChangeAspect="1"/>
          </p:cNvPicPr>
          <p:nvPr/>
        </p:nvPicPr>
        <p:blipFill>
          <a:blip r:embed="rId1"/>
          <a:stretch>
            <a:fillRect/>
          </a:stretch>
        </p:blipFill>
        <p:spPr>
          <a:xfrm>
            <a:off x="7470648" y="3374136"/>
            <a:ext cx="164592" cy="164592"/>
          </a:xfrm>
          <a:prstGeom prst="rect">
            <a:avLst/>
          </a:prstGeom>
        </p:spPr>
      </p:pic>
      <p:sp>
        <p:nvSpPr>
          <p:cNvPr id="35" name="Text 32"/>
          <p:cNvSpPr/>
          <p:nvPr/>
        </p:nvSpPr>
        <p:spPr>
          <a:xfrm>
            <a:off x="7790688" y="3282696"/>
            <a:ext cx="3840480" cy="201168"/>
          </a:xfrm>
          <a:prstGeom prst="rect">
            <a:avLst/>
          </a:prstGeom>
          <a:noFill/>
          <a:ln/>
        </p:spPr>
        <p:txBody>
          <a:bodyPr wrap="square" lIns="0" tIns="0" rIns="0" bIns="0"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AI never picks the machine</a:t>
            </a:r>
            <a:endParaRPr lang="en-US" sz="950" dirty="0"/>
          </a:p>
        </p:txBody>
      </p:sp>
      <p:sp>
        <p:nvSpPr>
          <p:cNvPr id="36" name="Text 33"/>
          <p:cNvSpPr/>
          <p:nvPr/>
        </p:nvSpPr>
        <p:spPr>
          <a:xfrm>
            <a:off x="7790688" y="3493008"/>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The model may name machines; the rules overwrite them with the cost-ranked choice on every path. What it said is kept for the comparison panel.</a:t>
            </a:r>
            <a:endParaRPr lang="en-US" sz="800" dirty="0"/>
          </a:p>
        </p:txBody>
      </p:sp>
      <p:sp>
        <p:nvSpPr>
          <p:cNvPr id="37" name="Shape 34"/>
          <p:cNvSpPr/>
          <p:nvPr/>
        </p:nvSpPr>
        <p:spPr>
          <a:xfrm>
            <a:off x="7269480" y="4087368"/>
            <a:ext cx="4462272" cy="804672"/>
          </a:xfrm>
          <a:prstGeom prst="roundRect">
            <a:avLst>
              <a:gd name="adj" fmla="val 10227"/>
            </a:avLst>
          </a:prstGeom>
          <a:solidFill>
            <a:srgbClr val="FFFFFF"/>
          </a:solidFill>
          <a:ln w="12700">
            <a:solidFill>
              <a:srgbClr val="DCE3EE"/>
            </a:solidFill>
            <a:prstDash val="solid"/>
          </a:ln>
        </p:spPr>
      </p:sp>
      <p:sp>
        <p:nvSpPr>
          <p:cNvPr id="38" name="Shape 35"/>
          <p:cNvSpPr/>
          <p:nvPr/>
        </p:nvSpPr>
        <p:spPr>
          <a:xfrm>
            <a:off x="7397496" y="4187952"/>
            <a:ext cx="310896" cy="310896"/>
          </a:xfrm>
          <a:prstGeom prst="ellipse">
            <a:avLst/>
          </a:prstGeom>
          <a:solidFill>
            <a:srgbClr val="0D7D71"/>
          </a:solidFill>
          <a:ln/>
        </p:spPr>
      </p:sp>
      <p:pic>
        <p:nvPicPr>
          <p:cNvPr id="39" name="Image 1" descr="preencoded.png">    </p:cNvPr>
          <p:cNvPicPr>
            <a:picLocks noChangeAspect="1"/>
          </p:cNvPicPr>
          <p:nvPr/>
        </p:nvPicPr>
        <p:blipFill>
          <a:blip r:embed="rId2"/>
          <a:stretch>
            <a:fillRect/>
          </a:stretch>
        </p:blipFill>
        <p:spPr>
          <a:xfrm>
            <a:off x="7470648" y="4261104"/>
            <a:ext cx="164592" cy="164592"/>
          </a:xfrm>
          <a:prstGeom prst="rect">
            <a:avLst/>
          </a:prstGeom>
        </p:spPr>
      </p:pic>
      <p:sp>
        <p:nvSpPr>
          <p:cNvPr id="40" name="Text 36"/>
          <p:cNvSpPr/>
          <p:nvPr/>
        </p:nvSpPr>
        <p:spPr>
          <a:xfrm>
            <a:off x="7790688" y="4169664"/>
            <a:ext cx="3840480" cy="201168"/>
          </a:xfrm>
          <a:prstGeom prst="rect">
            <a:avLst/>
          </a:prstGeom>
          <a:noFill/>
          <a:ln/>
        </p:spPr>
        <p:txBody>
          <a:bodyPr wrap="square" lIns="0" tIns="0" rIns="0" bIns="0" rtlCol="0" anchor="ctr"/>
          <a:lstStyle/>
          <a:p>
            <a:pPr indent="0" marL="0">
              <a:buNone/>
            </a:pPr>
            <a:r>
              <a:rPr lang="en-US" sz="950" b="1" dirty="0">
                <a:solidFill>
                  <a:srgbClr val="0D7D71"/>
                </a:solidFill>
                <a:latin typeface="Calibri" pitchFamily="34" charset="0"/>
                <a:ea typeface="Calibri" pitchFamily="34" charset="-122"/>
                <a:cs typeface="Calibri" pitchFamily="34" charset="-120"/>
              </a:rPr>
              <a:t>Engineer choice is respected</a:t>
            </a:r>
            <a:endParaRPr lang="en-US" sz="950" dirty="0"/>
          </a:p>
        </p:txBody>
      </p:sp>
      <p:sp>
        <p:nvSpPr>
          <p:cNvPr id="41" name="Text 37"/>
          <p:cNvSpPr/>
          <p:nvPr/>
        </p:nvSpPr>
        <p:spPr>
          <a:xfrm>
            <a:off x="7790688" y="4379976"/>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A machine an engineer picked by hand is never overridden — the cheaper capable routing is surfaced as a supplier lever with its £/part delta instead.</a:t>
            </a:r>
            <a:endParaRPr lang="en-US" sz="800" dirty="0"/>
          </a:p>
        </p:txBody>
      </p:sp>
      <p:sp>
        <p:nvSpPr>
          <p:cNvPr id="42" name="Shape 38"/>
          <p:cNvSpPr/>
          <p:nvPr/>
        </p:nvSpPr>
        <p:spPr>
          <a:xfrm>
            <a:off x="7269480" y="4974336"/>
            <a:ext cx="4462272" cy="804672"/>
          </a:xfrm>
          <a:prstGeom prst="roundRect">
            <a:avLst>
              <a:gd name="adj" fmla="val 10227"/>
            </a:avLst>
          </a:prstGeom>
          <a:solidFill>
            <a:srgbClr val="FFFFFF"/>
          </a:solidFill>
          <a:ln w="12700">
            <a:solidFill>
              <a:srgbClr val="DCE3EE"/>
            </a:solidFill>
            <a:prstDash val="solid"/>
          </a:ln>
        </p:spPr>
      </p:sp>
      <p:sp>
        <p:nvSpPr>
          <p:cNvPr id="43" name="Shape 39"/>
          <p:cNvSpPr/>
          <p:nvPr/>
        </p:nvSpPr>
        <p:spPr>
          <a:xfrm>
            <a:off x="7397496" y="5074920"/>
            <a:ext cx="310896" cy="310896"/>
          </a:xfrm>
          <a:prstGeom prst="ellipse">
            <a:avLst/>
          </a:prstGeom>
          <a:solidFill>
            <a:srgbClr val="2A7F50"/>
          </a:solidFill>
          <a:ln/>
        </p:spPr>
      </p:sp>
      <p:pic>
        <p:nvPicPr>
          <p:cNvPr id="44" name="Image 2" descr="preencoded.png">    </p:cNvPr>
          <p:cNvPicPr>
            <a:picLocks noChangeAspect="1"/>
          </p:cNvPicPr>
          <p:nvPr/>
        </p:nvPicPr>
        <p:blipFill>
          <a:blip r:embed="rId3"/>
          <a:stretch>
            <a:fillRect/>
          </a:stretch>
        </p:blipFill>
        <p:spPr>
          <a:xfrm>
            <a:off x="7470648" y="5148072"/>
            <a:ext cx="164592" cy="164592"/>
          </a:xfrm>
          <a:prstGeom prst="rect">
            <a:avLst/>
          </a:prstGeom>
        </p:spPr>
      </p:pic>
      <p:sp>
        <p:nvSpPr>
          <p:cNvPr id="45" name="Text 40"/>
          <p:cNvSpPr/>
          <p:nvPr/>
        </p:nvSpPr>
        <p:spPr>
          <a:xfrm>
            <a:off x="7790688" y="5056632"/>
            <a:ext cx="3840480" cy="201168"/>
          </a:xfrm>
          <a:prstGeom prst="rect">
            <a:avLst/>
          </a:prstGeom>
          <a:noFill/>
          <a:ln/>
        </p:spPr>
        <p:txBody>
          <a:bodyPr wrap="square" lIns="0" tIns="0" rIns="0" bIns="0" rtlCol="0" anchor="ctr"/>
          <a:lstStyle/>
          <a:p>
            <a:pPr indent="0" marL="0">
              <a:buNone/>
            </a:pPr>
            <a:r>
              <a:rPr lang="en-US" sz="950" b="1" dirty="0">
                <a:solidFill>
                  <a:srgbClr val="2A7F50"/>
                </a:solidFill>
                <a:latin typeface="Calibri" pitchFamily="34" charset="0"/>
                <a:ea typeface="Calibri" pitchFamily="34" charset="-122"/>
                <a:cs typeface="Calibri" pitchFamily="34" charset="-120"/>
              </a:rPr>
              <a:t>No verifiable delta, no claim</a:t>
            </a:r>
            <a:endParaRPr lang="en-US" sz="950" dirty="0"/>
          </a:p>
        </p:txBody>
      </p:sp>
      <p:sp>
        <p:nvSpPr>
          <p:cNvPr id="46" name="Text 41"/>
          <p:cNvSpPr/>
          <p:nvPr/>
        </p:nvSpPr>
        <p:spPr>
          <a:xfrm>
            <a:off x="7790688" y="5266944"/>
            <a:ext cx="3858768" cy="475488"/>
          </a:xfrm>
          <a:prstGeom prst="rect">
            <a:avLst/>
          </a:prstGeom>
          <a:noFill/>
          <a:ln/>
        </p:spPr>
        <p:txBody>
          <a:bodyPr wrap="square" lIns="0" tIns="0" rIns="0" bIns="0" rtlCol="0" anchor="t"/>
          <a:lstStyle/>
          <a:p>
            <a:pPr indent="0" marL="0">
              <a:buNone/>
            </a:pPr>
            <a:r>
              <a:rPr lang="en-US" sz="800" dirty="0">
                <a:solidFill>
                  <a:srgbClr val="3A4356"/>
                </a:solidFill>
                <a:latin typeface="Calibri" pitchFamily="34" charset="0"/>
                <a:ea typeface="Calibri" pitchFamily="34" charset="-122"/>
                <a:cs typeface="Calibri" pitchFamily="34" charset="-120"/>
              </a:rPr>
              <a:t>Below 2% of the machining spend, pennies, or an unknown machine: the suggestion stays silent. Every claimed saving is arithmetic the reader can check.</a:t>
            </a:r>
            <a:endParaRPr lang="en-US" sz="800" dirty="0"/>
          </a:p>
        </p:txBody>
      </p:sp>
      <p:sp>
        <p:nvSpPr>
          <p:cNvPr id="47" name="Shape 42"/>
          <p:cNvSpPr/>
          <p:nvPr/>
        </p:nvSpPr>
        <p:spPr>
          <a:xfrm>
            <a:off x="457200" y="5870448"/>
            <a:ext cx="11274552" cy="502920"/>
          </a:xfrm>
          <a:prstGeom prst="roundRect">
            <a:avLst>
              <a:gd name="adj" fmla="val 14545"/>
            </a:avLst>
          </a:prstGeom>
          <a:solidFill>
            <a:srgbClr val="EEF2FF"/>
          </a:solidFill>
          <a:ln w="12700">
            <a:solidFill>
              <a:srgbClr val="4F46E5"/>
            </a:solidFill>
            <a:prstDash val="solid"/>
          </a:ln>
        </p:spPr>
      </p:sp>
      <p:sp>
        <p:nvSpPr>
          <p:cNvPr id="48" name="Text 43"/>
          <p:cNvSpPr/>
          <p:nvPr/>
        </p:nvSpPr>
        <p:spPr>
          <a:xfrm>
            <a:off x="621792" y="5870448"/>
            <a:ext cx="10972800" cy="50292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Read it in one line:  </a:t>
            </a:r>
            <a:pPr indent="0" marL="0">
              <a:buNone/>
            </a:pPr>
            <a:r>
              <a:rPr lang="en-US" sz="1000" dirty="0">
                <a:solidFill>
                  <a:srgbClr val="3A4356"/>
                </a:solidFill>
                <a:latin typeface="Calibri" pitchFamily="34" charset="0"/>
                <a:ea typeface="Calibri" pitchFamily="34" charset="-122"/>
                <a:cs typeface="Calibri" pitchFamily="34" charset="-120"/>
              </a:rPr>
              <a:t>the should-cost models the most efficient plausible supplier — so the tool takes the optimal machine itself, and its suggestions are reserved for levers only you can pull, each one priced by the same arithmetic that built the estimate.</a:t>
            </a:r>
            <a:endParaRPr lang="en-US" sz="1000" dirty="0"/>
          </a:p>
        </p:txBody>
      </p:sp>
      <p:sp>
        <p:nvSpPr>
          <p:cNvPr id="49" name="Text 4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50" name="Text 4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How Tooling Is Priced I — The Toolmaking Shop Model</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Every tool built up the way a toolmaker quotes it: hours × rate, steel by the kilogram, bought-outs each</a:t>
            </a:r>
            <a:endParaRPr lang="en-US" sz="1200" dirty="0"/>
          </a:p>
        </p:txBody>
      </p:sp>
      <p:sp>
        <p:nvSpPr>
          <p:cNvPr id="5" name="Shape 3"/>
          <p:cNvSpPr/>
          <p:nvPr/>
        </p:nvSpPr>
        <p:spPr>
          <a:xfrm>
            <a:off x="457200" y="1078992"/>
            <a:ext cx="6035040" cy="877824"/>
          </a:xfrm>
          <a:prstGeom prst="roundRect">
            <a:avLst>
              <a:gd name="adj" fmla="val 9375"/>
            </a:avLst>
          </a:prstGeom>
          <a:solidFill>
            <a:srgbClr val="FFFFFF"/>
          </a:solidFill>
          <a:ln w="12700">
            <a:solidFill>
              <a:srgbClr val="DCE3EE"/>
            </a:solidFill>
            <a:prstDash val="solid"/>
          </a:ln>
        </p:spPr>
      </p:sp>
      <p:sp>
        <p:nvSpPr>
          <p:cNvPr id="6" name="Shape 4"/>
          <p:cNvSpPr/>
          <p:nvPr/>
        </p:nvSpPr>
        <p:spPr>
          <a:xfrm>
            <a:off x="585216" y="1170432"/>
            <a:ext cx="329184" cy="329184"/>
          </a:xfrm>
          <a:prstGeom prst="ellipse">
            <a:avLst/>
          </a:prstGeom>
          <a:solidFill>
            <a:srgbClr val="0D7D71"/>
          </a:solidFill>
          <a:ln/>
        </p:spPr>
      </p:sp>
      <p:sp>
        <p:nvSpPr>
          <p:cNvPr id="7" name="Text 5"/>
          <p:cNvSpPr/>
          <p:nvPr/>
        </p:nvSpPr>
        <p:spPr>
          <a:xfrm>
            <a:off x="585216" y="11704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024128" y="1143000"/>
            <a:ext cx="5394960" cy="201168"/>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Geometry sets the size drivers</a:t>
            </a:r>
            <a:endParaRPr lang="en-US" sz="1000" dirty="0"/>
          </a:p>
        </p:txBody>
      </p:sp>
      <p:sp>
        <p:nvSpPr>
          <p:cNvPr id="9" name="Text 7"/>
          <p:cNvSpPr/>
          <p:nvPr/>
        </p:nvSpPr>
        <p:spPr>
          <a:xfrm>
            <a:off x="1024128" y="1353312"/>
            <a:ext cx="5440680" cy="585216"/>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The kernel measures what tools scale with: projected area per cavity/impression, depth, part volume, faces, holes, undercuts. Nothing is typed in.</a:t>
            </a:r>
            <a:endParaRPr lang="en-US" sz="770" dirty="0"/>
          </a:p>
        </p:txBody>
      </p:sp>
      <p:sp>
        <p:nvSpPr>
          <p:cNvPr id="10" name="Shape 8"/>
          <p:cNvSpPr/>
          <p:nvPr/>
        </p:nvSpPr>
        <p:spPr>
          <a:xfrm>
            <a:off x="457200" y="2048256"/>
            <a:ext cx="6035040" cy="877824"/>
          </a:xfrm>
          <a:prstGeom prst="roundRect">
            <a:avLst>
              <a:gd name="adj" fmla="val 9375"/>
            </a:avLst>
          </a:prstGeom>
          <a:solidFill>
            <a:srgbClr val="FFFFFF"/>
          </a:solidFill>
          <a:ln w="12700">
            <a:solidFill>
              <a:srgbClr val="DCE3EE"/>
            </a:solidFill>
            <a:prstDash val="solid"/>
          </a:ln>
        </p:spPr>
      </p:sp>
      <p:sp>
        <p:nvSpPr>
          <p:cNvPr id="11" name="Shape 9"/>
          <p:cNvSpPr/>
          <p:nvPr/>
        </p:nvSpPr>
        <p:spPr>
          <a:xfrm>
            <a:off x="585216" y="2139696"/>
            <a:ext cx="329184" cy="329184"/>
          </a:xfrm>
          <a:prstGeom prst="ellipse">
            <a:avLst/>
          </a:prstGeom>
          <a:solidFill>
            <a:srgbClr val="0D7D71"/>
          </a:solidFill>
          <a:ln/>
        </p:spPr>
      </p:sp>
      <p:sp>
        <p:nvSpPr>
          <p:cNvPr id="12" name="Text 10"/>
          <p:cNvSpPr/>
          <p:nvPr/>
        </p:nvSpPr>
        <p:spPr>
          <a:xfrm>
            <a:off x="585216" y="21396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024128" y="2112264"/>
            <a:ext cx="5394960" cy="201168"/>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One shop prices every commodity</a:t>
            </a:r>
            <a:endParaRPr lang="en-US" sz="1000" dirty="0"/>
          </a:p>
        </p:txBody>
      </p:sp>
      <p:sp>
        <p:nvSpPr>
          <p:cNvPr id="14" name="Text 12"/>
          <p:cNvSpPr/>
          <p:nvPr/>
        </p:nvSpPr>
        <p:spPr>
          <a:xfrm>
            <a:off x="1024128" y="2322576"/>
            <a:ext cx="5440680" cy="585216"/>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UK toolroom rates: design £58 · CNC £52 · EDM £58 · fitting £48 · polishing £45 · tryout £85 /hr. Tool steels by the kilogram: P20 £6.8 → H13 £9.5 → PM £14; 7075 Al £7.5. Bought-outs each: hot runner £3,800/drop, core-pull cylinder £1,450. The shop’s 22% overhead + profit is its own stated line.</a:t>
            </a:r>
            <a:endParaRPr lang="en-US" sz="770" dirty="0"/>
          </a:p>
        </p:txBody>
      </p:sp>
      <p:sp>
        <p:nvSpPr>
          <p:cNvPr id="15" name="Shape 13"/>
          <p:cNvSpPr/>
          <p:nvPr/>
        </p:nvSpPr>
        <p:spPr>
          <a:xfrm>
            <a:off x="457200" y="3017520"/>
            <a:ext cx="6035040" cy="877824"/>
          </a:xfrm>
          <a:prstGeom prst="roundRect">
            <a:avLst>
              <a:gd name="adj" fmla="val 9375"/>
            </a:avLst>
          </a:prstGeom>
          <a:solidFill>
            <a:srgbClr val="FFFFFF"/>
          </a:solidFill>
          <a:ln w="12700">
            <a:solidFill>
              <a:srgbClr val="DCE3EE"/>
            </a:solidFill>
            <a:prstDash val="solid"/>
          </a:ln>
        </p:spPr>
      </p:sp>
      <p:sp>
        <p:nvSpPr>
          <p:cNvPr id="16" name="Shape 14"/>
          <p:cNvSpPr/>
          <p:nvPr/>
        </p:nvSpPr>
        <p:spPr>
          <a:xfrm>
            <a:off x="585216" y="3108960"/>
            <a:ext cx="329184" cy="329184"/>
          </a:xfrm>
          <a:prstGeom prst="ellipse">
            <a:avLst/>
          </a:prstGeom>
          <a:solidFill>
            <a:srgbClr val="0D7D71"/>
          </a:solidFill>
          <a:ln/>
        </p:spPr>
      </p:sp>
      <p:sp>
        <p:nvSpPr>
          <p:cNvPr id="17" name="Text 15"/>
          <p:cNvSpPr/>
          <p:nvPr/>
        </p:nvSpPr>
        <p:spPr>
          <a:xfrm>
            <a:off x="585216" y="3108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024128" y="3081528"/>
            <a:ext cx="5394960" cy="201168"/>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The cavity law drives the hours and the steel</a:t>
            </a:r>
            <a:endParaRPr lang="en-US" sz="1000" dirty="0"/>
          </a:p>
        </p:txBody>
      </p:sp>
      <p:sp>
        <p:nvSpPr>
          <p:cNvPr id="19" name="Text 17"/>
          <p:cNvSpPr/>
          <p:nvPr/>
        </p:nvSpPr>
        <p:spPr>
          <a:xfrm>
            <a:off x="1024128" y="3291840"/>
            <a:ext cx="5440680" cy="585216"/>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CNC hours = 12 + 3.4 × area^0.72 per cavity set, depth-corrected (deep draws carry more wall than their shadow shows). Steel mass = area × (depth + 10 cm) × 2 halves × 1.25 × 7.85 g/cm³. EDM, polishing, bench fitting follow as complexity- and finish-driven fractions (5–30% · 8–30% · 25%); design = 30 h + 20% of the programme. Steel class is a real material AND a cutting speed: prototype = 7075 Al ×0.55 h → high-volume = H13 ×1.2 + wear coating.</a:t>
            </a:r>
            <a:endParaRPr lang="en-US" sz="770" dirty="0"/>
          </a:p>
        </p:txBody>
      </p:sp>
      <p:sp>
        <p:nvSpPr>
          <p:cNvPr id="20" name="Shape 18"/>
          <p:cNvSpPr/>
          <p:nvPr/>
        </p:nvSpPr>
        <p:spPr>
          <a:xfrm>
            <a:off x="457200" y="3986784"/>
            <a:ext cx="6035040" cy="877824"/>
          </a:xfrm>
          <a:prstGeom prst="roundRect">
            <a:avLst>
              <a:gd name="adj" fmla="val 9375"/>
            </a:avLst>
          </a:prstGeom>
          <a:solidFill>
            <a:srgbClr val="FFFFFF"/>
          </a:solidFill>
          <a:ln w="12700">
            <a:solidFill>
              <a:srgbClr val="DCE3EE"/>
            </a:solidFill>
            <a:prstDash val="solid"/>
          </a:ln>
        </p:spPr>
      </p:sp>
      <p:sp>
        <p:nvSpPr>
          <p:cNvPr id="21" name="Shape 19"/>
          <p:cNvSpPr/>
          <p:nvPr/>
        </p:nvSpPr>
        <p:spPr>
          <a:xfrm>
            <a:off x="585216" y="4078224"/>
            <a:ext cx="329184" cy="329184"/>
          </a:xfrm>
          <a:prstGeom prst="ellipse">
            <a:avLst/>
          </a:prstGeom>
          <a:solidFill>
            <a:srgbClr val="0D7D71"/>
          </a:solidFill>
          <a:ln/>
        </p:spPr>
      </p:sp>
      <p:sp>
        <p:nvSpPr>
          <p:cNvPr id="22" name="Text 20"/>
          <p:cNvSpPr/>
          <p:nvPr/>
        </p:nvSpPr>
        <p:spPr>
          <a:xfrm>
            <a:off x="585216" y="40782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024128" y="4050792"/>
            <a:ext cx="5394960" cy="201168"/>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Life → number of tools → £/part</a:t>
            </a:r>
            <a:endParaRPr lang="en-US" sz="1000" dirty="0"/>
          </a:p>
        </p:txBody>
      </p:sp>
      <p:sp>
        <p:nvSpPr>
          <p:cNvPr id="24" name="Text 22"/>
          <p:cNvSpPr/>
          <p:nvPr/>
        </p:nvSpPr>
        <p:spPr>
          <a:xfrm>
            <a:off x="1024128" y="4261104"/>
            <a:ext cx="5440680" cy="585216"/>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Steel class follows the programme shots and sets the life; tools consumed = ceil(shots ÷ life); tooling £/part = tool cost × tools ÷ annual volume, with tolerance (×1.0–2.0) and finish (up to ×1.6 Class-A) uplifts.</a:t>
            </a:r>
            <a:endParaRPr lang="en-US" sz="770" dirty="0"/>
          </a:p>
        </p:txBody>
      </p:sp>
      <p:sp>
        <p:nvSpPr>
          <p:cNvPr id="25" name="Shape 23"/>
          <p:cNvSpPr/>
          <p:nvPr/>
        </p:nvSpPr>
        <p:spPr>
          <a:xfrm>
            <a:off x="457200" y="4956048"/>
            <a:ext cx="6035040" cy="877824"/>
          </a:xfrm>
          <a:prstGeom prst="roundRect">
            <a:avLst>
              <a:gd name="adj" fmla="val 9375"/>
            </a:avLst>
          </a:prstGeom>
          <a:solidFill>
            <a:srgbClr val="FFFFFF"/>
          </a:solidFill>
          <a:ln w="12700">
            <a:solidFill>
              <a:srgbClr val="DCE3EE"/>
            </a:solidFill>
            <a:prstDash val="solid"/>
          </a:ln>
        </p:spPr>
      </p:sp>
      <p:sp>
        <p:nvSpPr>
          <p:cNvPr id="26" name="Shape 24"/>
          <p:cNvSpPr/>
          <p:nvPr/>
        </p:nvSpPr>
        <p:spPr>
          <a:xfrm>
            <a:off x="585216" y="5047488"/>
            <a:ext cx="329184" cy="329184"/>
          </a:xfrm>
          <a:prstGeom prst="ellipse">
            <a:avLst/>
          </a:prstGeom>
          <a:solidFill>
            <a:srgbClr val="0D7D71"/>
          </a:solidFill>
          <a:ln/>
        </p:spPr>
      </p:sp>
      <p:sp>
        <p:nvSpPr>
          <p:cNvPr id="27" name="Text 25"/>
          <p:cNvSpPr/>
          <p:nvPr/>
        </p:nvSpPr>
        <p:spPr>
          <a:xfrm>
            <a:off x="585216" y="5047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1024128" y="5020056"/>
            <a:ext cx="5394960" cy="201168"/>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Two estimates, then the quote wins</a:t>
            </a:r>
            <a:endParaRPr lang="en-US" sz="1000" dirty="0"/>
          </a:p>
        </p:txBody>
      </p:sp>
      <p:sp>
        <p:nvSpPr>
          <p:cNvPr id="29" name="Text 27"/>
          <p:cNvSpPr/>
          <p:nvPr/>
        </p:nvSpPr>
        <p:spPr>
          <a:xfrm>
            <a:off x="1024128" y="5230368"/>
            <a:ext cx="5440680" cy="585216"/>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The geometry kernel prices the tool independently from the B-rep; the shop model and the kernel are geometric-mean blended, sanity-clamped, so no single estimator can run away alone. A toolmaker QUOTATION overrides every estimate. Slides = £1,450 cylinder + (28 h + footprint-scaled) bench work each; hot runner = £3,800/drop + £5,500 controller; tryout = (2 + cavities/2) trials × 8 h on the press.</a:t>
            </a:r>
            <a:endParaRPr lang="en-US" sz="770" dirty="0"/>
          </a:p>
        </p:txBody>
      </p:sp>
      <p:sp>
        <p:nvSpPr>
          <p:cNvPr id="30" name="Text 28"/>
          <p:cNvSpPr/>
          <p:nvPr/>
        </p:nvSpPr>
        <p:spPr>
          <a:xfrm>
            <a:off x="6720840" y="1060704"/>
            <a:ext cx="5029200" cy="201168"/>
          </a:xfrm>
          <a:prstGeom prst="rect">
            <a:avLst/>
          </a:prstGeom>
          <a:noFill/>
          <a:ln/>
        </p:spPr>
        <p:txBody>
          <a:bodyPr wrap="square" lIns="0" tIns="0" rIns="0" bIns="0" rtlCol="0" anchor="ctr"/>
          <a:lstStyle/>
          <a:p>
            <a:pPr indent="0" marL="0">
              <a:buNone/>
            </a:pPr>
            <a:r>
              <a:rPr lang="en-US" sz="850" b="1" spc="60" kern="0" dirty="0">
                <a:solidFill>
                  <a:srgbClr val="0D7D71"/>
                </a:solidFill>
                <a:latin typeface="Calibri" pitchFamily="34" charset="0"/>
                <a:ea typeface="Calibri" pitchFamily="34" charset="-122"/>
                <a:cs typeface="Calibri" pitchFamily="34" charset="-120"/>
              </a:rPr>
              <a:t>THE CHECK — THE BUMPER MOULD, AS FIRST CALIBRATED</a:t>
            </a:r>
            <a:endParaRPr lang="en-US" sz="850" dirty="0"/>
          </a:p>
        </p:txBody>
      </p:sp>
      <p:sp>
        <p:nvSpPr>
          <p:cNvPr id="31" name="Shape 29"/>
          <p:cNvSpPr/>
          <p:nvPr/>
        </p:nvSpPr>
        <p:spPr>
          <a:xfrm>
            <a:off x="6720840" y="1298448"/>
            <a:ext cx="5010912" cy="4443984"/>
          </a:xfrm>
          <a:prstGeom prst="roundRect">
            <a:avLst>
              <a:gd name="adj" fmla="val 1852"/>
            </a:avLst>
          </a:prstGeom>
          <a:solidFill>
            <a:srgbClr val="FFFFFF"/>
          </a:solidFill>
          <a:ln w="15875">
            <a:solidFill>
              <a:srgbClr val="0D7D71"/>
            </a:solidFill>
            <a:prstDash val="solid"/>
          </a:ln>
        </p:spPr>
      </p:sp>
      <p:sp>
        <p:nvSpPr>
          <p:cNvPr id="32" name="Text 30"/>
          <p:cNvSpPr/>
          <p:nvPr/>
        </p:nvSpPr>
        <p:spPr>
          <a:xfrm>
            <a:off x="6903720" y="1426464"/>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Tool design &amp; CAM</a:t>
            </a:r>
            <a:endParaRPr lang="en-US" sz="820" dirty="0"/>
          </a:p>
        </p:txBody>
      </p:sp>
      <p:sp>
        <p:nvSpPr>
          <p:cNvPr id="33" name="Text 31"/>
          <p:cNvSpPr/>
          <p:nvPr/>
        </p:nvSpPr>
        <p:spPr>
          <a:xfrm>
            <a:off x="9418320" y="1426464"/>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568 h × £58</a:t>
            </a:r>
            <a:endParaRPr lang="en-US" sz="750" dirty="0"/>
          </a:p>
        </p:txBody>
      </p:sp>
      <p:sp>
        <p:nvSpPr>
          <p:cNvPr id="34" name="Text 32"/>
          <p:cNvSpPr/>
          <p:nvPr/>
        </p:nvSpPr>
        <p:spPr>
          <a:xfrm>
            <a:off x="10607040" y="1426464"/>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£32,956</a:t>
            </a:r>
            <a:endParaRPr lang="en-US" sz="780" dirty="0"/>
          </a:p>
        </p:txBody>
      </p:sp>
      <p:sp>
        <p:nvSpPr>
          <p:cNvPr id="35" name="Text 33"/>
          <p:cNvSpPr/>
          <p:nvPr/>
        </p:nvSpPr>
        <p:spPr>
          <a:xfrm>
            <a:off x="6903720" y="1732788"/>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Mould base, guides &amp; ejection</a:t>
            </a:r>
            <a:endParaRPr lang="en-US" sz="820" dirty="0"/>
          </a:p>
        </p:txBody>
      </p:sp>
      <p:sp>
        <p:nvSpPr>
          <p:cNvPr id="36" name="Text 34"/>
          <p:cNvSpPr/>
          <p:nvPr/>
        </p:nvSpPr>
        <p:spPr>
          <a:xfrm>
            <a:off x="9418320" y="1732788"/>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footprint-scaled</a:t>
            </a:r>
            <a:endParaRPr lang="en-US" sz="750" dirty="0"/>
          </a:p>
        </p:txBody>
      </p:sp>
      <p:sp>
        <p:nvSpPr>
          <p:cNvPr id="37" name="Text 35"/>
          <p:cNvSpPr/>
          <p:nvPr/>
        </p:nvSpPr>
        <p:spPr>
          <a:xfrm>
            <a:off x="10607040" y="1732788"/>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£23,019</a:t>
            </a:r>
            <a:endParaRPr lang="en-US" sz="780" dirty="0"/>
          </a:p>
        </p:txBody>
      </p:sp>
      <p:sp>
        <p:nvSpPr>
          <p:cNvPr id="38" name="Text 36"/>
          <p:cNvSpPr/>
          <p:nvPr/>
        </p:nvSpPr>
        <p:spPr>
          <a:xfrm>
            <a:off x="6903720" y="2039112"/>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Cavity + core steel (P20-hard)</a:t>
            </a:r>
            <a:endParaRPr lang="en-US" sz="820" dirty="0"/>
          </a:p>
        </p:txBody>
      </p:sp>
      <p:sp>
        <p:nvSpPr>
          <p:cNvPr id="39" name="Text 37"/>
          <p:cNvSpPr/>
          <p:nvPr/>
        </p:nvSpPr>
        <p:spPr>
          <a:xfrm>
            <a:off x="9418320" y="2039112"/>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8,469 kg × £8.2</a:t>
            </a:r>
            <a:endParaRPr lang="en-US" sz="750" dirty="0"/>
          </a:p>
        </p:txBody>
      </p:sp>
      <p:sp>
        <p:nvSpPr>
          <p:cNvPr id="40" name="Text 38"/>
          <p:cNvSpPr/>
          <p:nvPr/>
        </p:nvSpPr>
        <p:spPr>
          <a:xfrm>
            <a:off x="10607040" y="2039112"/>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£69,443</a:t>
            </a:r>
            <a:endParaRPr lang="en-US" sz="780" dirty="0"/>
          </a:p>
        </p:txBody>
      </p:sp>
      <p:sp>
        <p:nvSpPr>
          <p:cNvPr id="41" name="Text 39"/>
          <p:cNvSpPr/>
          <p:nvPr/>
        </p:nvSpPr>
        <p:spPr>
          <a:xfrm>
            <a:off x="6903720" y="2345436"/>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CNC cavity/core machining</a:t>
            </a:r>
            <a:endParaRPr lang="en-US" sz="820" dirty="0"/>
          </a:p>
        </p:txBody>
      </p:sp>
      <p:sp>
        <p:nvSpPr>
          <p:cNvPr id="42" name="Text 40"/>
          <p:cNvSpPr/>
          <p:nvPr/>
        </p:nvSpPr>
        <p:spPr>
          <a:xfrm>
            <a:off x="9418320" y="2345436"/>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2,691 h × £52</a:t>
            </a:r>
            <a:endParaRPr lang="en-US" sz="750" dirty="0"/>
          </a:p>
        </p:txBody>
      </p:sp>
      <p:sp>
        <p:nvSpPr>
          <p:cNvPr id="43" name="Text 41"/>
          <p:cNvSpPr/>
          <p:nvPr/>
        </p:nvSpPr>
        <p:spPr>
          <a:xfrm>
            <a:off x="10607040" y="2345436"/>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£139,936</a:t>
            </a:r>
            <a:endParaRPr lang="en-US" sz="780" dirty="0"/>
          </a:p>
        </p:txBody>
      </p:sp>
      <p:sp>
        <p:nvSpPr>
          <p:cNvPr id="44" name="Text 42"/>
          <p:cNvSpPr/>
          <p:nvPr/>
        </p:nvSpPr>
        <p:spPr>
          <a:xfrm>
            <a:off x="6903720" y="2651760"/>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EDM (ribs, slots, corners)</a:t>
            </a:r>
            <a:endParaRPr lang="en-US" sz="820" dirty="0"/>
          </a:p>
        </p:txBody>
      </p:sp>
      <p:sp>
        <p:nvSpPr>
          <p:cNvPr id="45" name="Text 43"/>
          <p:cNvSpPr/>
          <p:nvPr/>
        </p:nvSpPr>
        <p:spPr>
          <a:xfrm>
            <a:off x="9418320" y="2651760"/>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336 h × £58</a:t>
            </a:r>
            <a:endParaRPr lang="en-US" sz="750" dirty="0"/>
          </a:p>
        </p:txBody>
      </p:sp>
      <p:sp>
        <p:nvSpPr>
          <p:cNvPr id="46" name="Text 44"/>
          <p:cNvSpPr/>
          <p:nvPr/>
        </p:nvSpPr>
        <p:spPr>
          <a:xfrm>
            <a:off x="10607040" y="2651760"/>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£19,510</a:t>
            </a:r>
            <a:endParaRPr lang="en-US" sz="780" dirty="0"/>
          </a:p>
        </p:txBody>
      </p:sp>
      <p:sp>
        <p:nvSpPr>
          <p:cNvPr id="47" name="Text 45"/>
          <p:cNvSpPr/>
          <p:nvPr/>
        </p:nvSpPr>
        <p:spPr>
          <a:xfrm>
            <a:off x="6903720" y="2958084"/>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Polishing</a:t>
            </a:r>
            <a:endParaRPr lang="en-US" sz="820" dirty="0"/>
          </a:p>
        </p:txBody>
      </p:sp>
      <p:sp>
        <p:nvSpPr>
          <p:cNvPr id="48" name="Text 46"/>
          <p:cNvSpPr/>
          <p:nvPr/>
        </p:nvSpPr>
        <p:spPr>
          <a:xfrm>
            <a:off x="9418320" y="2958084"/>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269 h × £45</a:t>
            </a:r>
            <a:endParaRPr lang="en-US" sz="750" dirty="0"/>
          </a:p>
        </p:txBody>
      </p:sp>
      <p:sp>
        <p:nvSpPr>
          <p:cNvPr id="49" name="Text 47"/>
          <p:cNvSpPr/>
          <p:nvPr/>
        </p:nvSpPr>
        <p:spPr>
          <a:xfrm>
            <a:off x="10607040" y="2958084"/>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£12,110</a:t>
            </a:r>
            <a:endParaRPr lang="en-US" sz="780" dirty="0"/>
          </a:p>
        </p:txBody>
      </p:sp>
      <p:sp>
        <p:nvSpPr>
          <p:cNvPr id="50" name="Text 48"/>
          <p:cNvSpPr/>
          <p:nvPr/>
        </p:nvSpPr>
        <p:spPr>
          <a:xfrm>
            <a:off x="6903720" y="3264408"/>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Bench fitting &amp; spotting</a:t>
            </a:r>
            <a:endParaRPr lang="en-US" sz="820" dirty="0"/>
          </a:p>
        </p:txBody>
      </p:sp>
      <p:sp>
        <p:nvSpPr>
          <p:cNvPr id="51" name="Text 49"/>
          <p:cNvSpPr/>
          <p:nvPr/>
        </p:nvSpPr>
        <p:spPr>
          <a:xfrm>
            <a:off x="9418320" y="3264408"/>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673 h × £48</a:t>
            </a:r>
            <a:endParaRPr lang="en-US" sz="750" dirty="0"/>
          </a:p>
        </p:txBody>
      </p:sp>
      <p:sp>
        <p:nvSpPr>
          <p:cNvPr id="52" name="Text 50"/>
          <p:cNvSpPr/>
          <p:nvPr/>
        </p:nvSpPr>
        <p:spPr>
          <a:xfrm>
            <a:off x="10607040" y="3264408"/>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£32,293</a:t>
            </a:r>
            <a:endParaRPr lang="en-US" sz="780" dirty="0"/>
          </a:p>
        </p:txBody>
      </p:sp>
      <p:sp>
        <p:nvSpPr>
          <p:cNvPr id="53" name="Text 51"/>
          <p:cNvSpPr/>
          <p:nvPr/>
        </p:nvSpPr>
        <p:spPr>
          <a:xfrm>
            <a:off x="6903720" y="3570732"/>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Mould tryout — 5 trials</a:t>
            </a:r>
            <a:endParaRPr lang="en-US" sz="820" dirty="0"/>
          </a:p>
        </p:txBody>
      </p:sp>
      <p:sp>
        <p:nvSpPr>
          <p:cNvPr id="54" name="Text 52"/>
          <p:cNvSpPr/>
          <p:nvPr/>
        </p:nvSpPr>
        <p:spPr>
          <a:xfrm>
            <a:off x="9418320" y="3570732"/>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40 h × £85</a:t>
            </a:r>
            <a:endParaRPr lang="en-US" sz="750" dirty="0"/>
          </a:p>
        </p:txBody>
      </p:sp>
      <p:sp>
        <p:nvSpPr>
          <p:cNvPr id="55" name="Text 53"/>
          <p:cNvSpPr/>
          <p:nvPr/>
        </p:nvSpPr>
        <p:spPr>
          <a:xfrm>
            <a:off x="10607040" y="3570732"/>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£3,400</a:t>
            </a:r>
            <a:endParaRPr lang="en-US" sz="780" dirty="0"/>
          </a:p>
        </p:txBody>
      </p:sp>
      <p:sp>
        <p:nvSpPr>
          <p:cNvPr id="56" name="Text 54"/>
          <p:cNvSpPr/>
          <p:nvPr/>
        </p:nvSpPr>
        <p:spPr>
          <a:xfrm>
            <a:off x="6903720" y="3877056"/>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Core-pull cylinders × 3 + fitting</a:t>
            </a:r>
            <a:endParaRPr lang="en-US" sz="820" dirty="0"/>
          </a:p>
        </p:txBody>
      </p:sp>
      <p:sp>
        <p:nvSpPr>
          <p:cNvPr id="57" name="Text 55"/>
          <p:cNvSpPr/>
          <p:nvPr/>
        </p:nvSpPr>
        <p:spPr>
          <a:xfrm>
            <a:off x="9418320" y="3877056"/>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bought-out + bench</a:t>
            </a:r>
            <a:endParaRPr lang="en-US" sz="750" dirty="0"/>
          </a:p>
        </p:txBody>
      </p:sp>
      <p:sp>
        <p:nvSpPr>
          <p:cNvPr id="58" name="Text 56"/>
          <p:cNvSpPr/>
          <p:nvPr/>
        </p:nvSpPr>
        <p:spPr>
          <a:xfrm>
            <a:off x="10607040" y="3877056"/>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£14,862</a:t>
            </a:r>
            <a:endParaRPr lang="en-US" sz="780" dirty="0"/>
          </a:p>
        </p:txBody>
      </p:sp>
      <p:sp>
        <p:nvSpPr>
          <p:cNvPr id="59" name="Text 57"/>
          <p:cNvSpPr/>
          <p:nvPr/>
        </p:nvSpPr>
        <p:spPr>
          <a:xfrm>
            <a:off x="6903720" y="4183380"/>
            <a:ext cx="2651760" cy="274320"/>
          </a:xfrm>
          <a:prstGeom prst="rect">
            <a:avLst/>
          </a:prstGeom>
          <a:noFill/>
          <a:ln/>
        </p:spPr>
        <p:txBody>
          <a:bodyPr wrap="square" lIns="0" tIns="0" rIns="0" bIns="0" rtlCol="0" anchor="ctr"/>
          <a:lstStyle/>
          <a:p>
            <a:pPr indent="0" marL="0">
              <a:buNone/>
            </a:pPr>
            <a:r>
              <a:rPr lang="en-US" sz="820" dirty="0">
                <a:solidFill>
                  <a:srgbClr val="16325C"/>
                </a:solidFill>
                <a:latin typeface="Calibri" pitchFamily="34" charset="0"/>
                <a:ea typeface="Calibri" pitchFamily="34" charset="-122"/>
                <a:cs typeface="Calibri" pitchFamily="34" charset="-120"/>
              </a:rPr>
              <a:t>Toolmaker overhead + profit</a:t>
            </a:r>
            <a:endParaRPr lang="en-US" sz="820" dirty="0"/>
          </a:p>
        </p:txBody>
      </p:sp>
      <p:sp>
        <p:nvSpPr>
          <p:cNvPr id="60" name="Text 58"/>
          <p:cNvSpPr/>
          <p:nvPr/>
        </p:nvSpPr>
        <p:spPr>
          <a:xfrm>
            <a:off x="9418320" y="4183380"/>
            <a:ext cx="1234440" cy="274320"/>
          </a:xfrm>
          <a:prstGeom prst="rect">
            <a:avLst/>
          </a:prstGeom>
          <a:noFill/>
          <a:ln/>
        </p:spPr>
        <p:txBody>
          <a:bodyPr wrap="square" lIns="0" tIns="0" rIns="0" bIns="0" rtlCol="0" anchor="ctr"/>
          <a:lstStyle/>
          <a:p>
            <a:pPr indent="0" marL="0">
              <a:buNone/>
            </a:pPr>
            <a:r>
              <a:rPr lang="en-US" sz="750" dirty="0">
                <a:solidFill>
                  <a:srgbClr val="686F7D"/>
                </a:solidFill>
                <a:latin typeface="Courier New" pitchFamily="34" charset="0"/>
                <a:ea typeface="Courier New" pitchFamily="34" charset="-122"/>
                <a:cs typeface="Courier New" pitchFamily="34" charset="-120"/>
              </a:rPr>
              <a:t>22%</a:t>
            </a:r>
            <a:endParaRPr lang="en-US" sz="750" dirty="0"/>
          </a:p>
        </p:txBody>
      </p:sp>
      <p:sp>
        <p:nvSpPr>
          <p:cNvPr id="61" name="Text 59"/>
          <p:cNvSpPr/>
          <p:nvPr/>
        </p:nvSpPr>
        <p:spPr>
          <a:xfrm>
            <a:off x="10607040" y="4183380"/>
            <a:ext cx="960120" cy="274320"/>
          </a:xfrm>
          <a:prstGeom prst="rect">
            <a:avLst/>
          </a:prstGeom>
          <a:noFill/>
          <a:ln/>
        </p:spPr>
        <p:txBody>
          <a:bodyPr wrap="square" lIns="0" tIns="0" rIns="0" bIns="0" rtlCol="0" anchor="ctr"/>
          <a:lstStyle/>
          <a:p>
            <a:pPr algn="r" indent="0" marL="0">
              <a:buNone/>
            </a:pPr>
            <a:r>
              <a:rPr lang="en-US" sz="780" dirty="0">
                <a:solidFill>
                  <a:srgbClr val="3A4356"/>
                </a:solidFill>
                <a:latin typeface="Courier New" pitchFamily="34" charset="0"/>
                <a:ea typeface="Courier New" pitchFamily="34" charset="-122"/>
                <a:cs typeface="Courier New" pitchFamily="34" charset="-120"/>
              </a:rPr>
              <a:t>£76,456</a:t>
            </a:r>
            <a:endParaRPr lang="en-US" sz="780" dirty="0"/>
          </a:p>
        </p:txBody>
      </p:sp>
      <p:sp>
        <p:nvSpPr>
          <p:cNvPr id="62" name="Shape 60"/>
          <p:cNvSpPr/>
          <p:nvPr/>
        </p:nvSpPr>
        <p:spPr>
          <a:xfrm>
            <a:off x="6903720" y="4535424"/>
            <a:ext cx="4663440" cy="0"/>
          </a:xfrm>
          <a:prstGeom prst="line">
            <a:avLst/>
          </a:prstGeom>
          <a:noFill/>
          <a:ln w="12700">
            <a:solidFill>
              <a:srgbClr val="0D7D71"/>
            </a:solidFill>
            <a:prstDash val="solid"/>
          </a:ln>
        </p:spPr>
      </p:sp>
      <p:sp>
        <p:nvSpPr>
          <p:cNvPr id="63" name="Text 61"/>
          <p:cNvSpPr/>
          <p:nvPr/>
        </p:nvSpPr>
        <p:spPr>
          <a:xfrm>
            <a:off x="6903720" y="4626864"/>
            <a:ext cx="4663440" cy="1005840"/>
          </a:xfrm>
          <a:prstGeom prst="rect">
            <a:avLst/>
          </a:prstGeom>
          <a:noFill/>
          <a:ln/>
        </p:spPr>
        <p:txBody>
          <a:bodyPr wrap="square" lIns="0" tIns="0" rIns="0" bIns="0" rtlCol="0" anchor="t"/>
          <a:lstStyle/>
          <a:p>
            <a:pPr indent="0" marL="0">
              <a:buNone/>
            </a:pPr>
            <a:r>
              <a:rPr lang="en-US" sz="1050" b="1" dirty="0">
                <a:solidFill>
                  <a:srgbClr val="0D7D71"/>
                </a:solidFill>
                <a:latin typeface="Calibri" pitchFamily="34" charset="0"/>
                <a:ea typeface="Calibri" pitchFamily="34" charset="-122"/>
                <a:cs typeface="Calibri" pitchFamily="34" charset="-120"/>
              </a:rPr>
              <a:t>Engine total ≈£424k</a:t>
            </a:r>
            <a:pPr indent="0" marL="0">
              <a:buNone/>
            </a:pPr>
            <a:r>
              <a:rPr lang="en-US" sz="900" dirty="0">
                <a:solidFill>
                  <a:srgbClr val="3A4356"/>
                </a:solidFill>
                <a:latin typeface="Calibri" pitchFamily="34" charset="0"/>
                <a:ea typeface="Calibri" pitchFamily="34" charset="-122"/>
                <a:cs typeface="Calibri" pitchFamily="34" charset="-120"/>
              </a:rPr>
              <a:t>  vs a real toolmaker quotation of </a:t>
            </a:r>
            <a:pPr indent="0" marL="0">
              <a:buNone/>
            </a:pPr>
            <a:r>
              <a:rPr lang="en-US" sz="1050" b="1" dirty="0">
                <a:solidFill>
                  <a:srgbClr val="16325C"/>
                </a:solidFill>
                <a:latin typeface="Calibri" pitchFamily="34" charset="0"/>
                <a:ea typeface="Calibri" pitchFamily="34" charset="-122"/>
                <a:cs typeface="Calibri" pitchFamily="34" charset="-120"/>
              </a:rPr>
              <a:t>£420k</a:t>
            </a:r>
            <a:pPr indent="0" marL="0">
              <a:buNone/>
            </a:pPr>
            <a:r>
              <a:rPr lang="en-US" sz="840" dirty="0">
                <a:solidFill>
                  <a:srgbClr val="3A4356"/>
                </a:solidFill>
                <a:latin typeface="Calibri" pitchFamily="34" charset="0"/>
                <a:ea typeface="Calibri" pitchFamily="34" charset="-122"/>
                <a:cs typeface="Calibri" pitchFamily="34" charset="-120"/>
              </a:rPr>
              <a:t>. One tool, one quotation — not a general accuracy claim. Line values move with inputs and rates; every line is one a toolmaker can argue with.</a:t>
            </a:r>
            <a:endParaRPr lang="en-US" sz="1050" dirty="0"/>
          </a:p>
        </p:txBody>
      </p:sp>
      <p:sp>
        <p:nvSpPr>
          <p:cNvPr id="64" name="Shape 62"/>
          <p:cNvSpPr/>
          <p:nvPr/>
        </p:nvSpPr>
        <p:spPr>
          <a:xfrm>
            <a:off x="457200" y="5870448"/>
            <a:ext cx="11274552" cy="502920"/>
          </a:xfrm>
          <a:prstGeom prst="roundRect">
            <a:avLst>
              <a:gd name="adj" fmla="val 14545"/>
            </a:avLst>
          </a:prstGeom>
          <a:solidFill>
            <a:srgbClr val="E7F4F2"/>
          </a:solidFill>
          <a:ln w="12700">
            <a:solidFill>
              <a:srgbClr val="0D7D71"/>
            </a:solidFill>
            <a:prstDash val="solid"/>
          </a:ln>
        </p:spPr>
      </p:sp>
      <p:sp>
        <p:nvSpPr>
          <p:cNvPr id="65" name="Text 63"/>
          <p:cNvSpPr/>
          <p:nvPr/>
        </p:nvSpPr>
        <p:spPr>
          <a:xfrm>
            <a:off x="621792" y="5870448"/>
            <a:ext cx="10972800" cy="502920"/>
          </a:xfrm>
          <a:prstGeom prst="rect">
            <a:avLst/>
          </a:prstGeom>
          <a:noFill/>
          <a:ln/>
        </p:spPr>
        <p:txBody>
          <a:bodyPr wrap="square" lIns="0" tIns="0" rIns="0" bIns="0" rtlCol="0" anchor="ctr"/>
          <a:lstStyle/>
          <a:p>
            <a:pPr indent="0" marL="0">
              <a:buNone/>
            </a:pPr>
            <a:r>
              <a:rPr lang="en-US" sz="980" b="1" dirty="0">
                <a:solidFill>
                  <a:srgbClr val="0D7D71"/>
                </a:solidFill>
                <a:latin typeface="Calibri" pitchFamily="34" charset="0"/>
                <a:ea typeface="Calibri" pitchFamily="34" charset="-122"/>
                <a:cs typeface="Calibri" pitchFamily="34" charset="-120"/>
              </a:rPr>
              <a:t>Read it in one line:  </a:t>
            </a:r>
            <a:pPr indent="0" marL="0">
              <a:buNone/>
            </a:pPr>
            <a:r>
              <a:rPr lang="en-US" sz="980" dirty="0">
                <a:solidFill>
                  <a:srgbClr val="3A4356"/>
                </a:solidFill>
                <a:latin typeface="Calibri" pitchFamily="34" charset="0"/>
                <a:ea typeface="Calibri" pitchFamily="34" charset="-122"/>
                <a:cs typeface="Calibri" pitchFamily="34" charset="-120"/>
              </a:rPr>
              <a:t>tooling is a toolmaker’s quotation the engine writes itself — hours × rate, steel by the kilogram, bought-outs each, overhead stated — checked against one real quotation, and a real quotation still beats it every time.</a:t>
            </a:r>
            <a:endParaRPr lang="en-US" sz="980" dirty="0"/>
          </a:p>
        </p:txBody>
      </p:sp>
      <p:sp>
        <p:nvSpPr>
          <p:cNvPr id="66" name="Text 6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67" name="Text 6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How Tooling Is Priced II — Forging, Stamping, Blow Moulding</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same shop, commodity by commodity — every formula stated, every constant in unit-tested source</a:t>
            </a:r>
            <a:endParaRPr lang="en-US" sz="1200" dirty="0"/>
          </a:p>
        </p:txBody>
      </p:sp>
      <p:sp>
        <p:nvSpPr>
          <p:cNvPr id="5" name="Shape 3"/>
          <p:cNvSpPr/>
          <p:nvPr/>
        </p:nvSpPr>
        <p:spPr>
          <a:xfrm>
            <a:off x="457200" y="1097280"/>
            <a:ext cx="5532120" cy="2212848"/>
          </a:xfrm>
          <a:prstGeom prst="roundRect">
            <a:avLst>
              <a:gd name="adj" fmla="val 3719"/>
            </a:avLst>
          </a:prstGeom>
          <a:solidFill>
            <a:srgbClr val="FFFFFF"/>
          </a:solidFill>
          <a:ln w="15875">
            <a:solidFill>
              <a:srgbClr val="0D7D71"/>
            </a:solidFill>
            <a:prstDash val="solid"/>
          </a:ln>
        </p:spPr>
      </p:sp>
      <p:sp>
        <p:nvSpPr>
          <p:cNvPr id="6" name="Text 4"/>
          <p:cNvSpPr/>
          <p:nvPr/>
        </p:nvSpPr>
        <p:spPr>
          <a:xfrm>
            <a:off x="640080" y="1188720"/>
            <a:ext cx="5166360" cy="201168"/>
          </a:xfrm>
          <a:prstGeom prst="rect">
            <a:avLst/>
          </a:prstGeom>
          <a:noFill/>
          <a:ln/>
        </p:spPr>
        <p:txBody>
          <a:bodyPr wrap="square" lIns="0" tIns="0" rIns="0" bIns="0" rtlCol="0" anchor="ctr"/>
          <a:lstStyle/>
          <a:p>
            <a:pPr indent="0" marL="0">
              <a:buNone/>
            </a:pPr>
            <a:r>
              <a:rPr lang="en-US" sz="840" b="1" dirty="0">
                <a:solidFill>
                  <a:srgbClr val="16325C"/>
                </a:solidFill>
                <a:latin typeface="Courier New" pitchFamily="34" charset="0"/>
                <a:ea typeface="Courier New" pitchFamily="34" charset="-122"/>
                <a:cs typeface="Courier New" pitchFamily="34" charset="-120"/>
              </a:rPr>
              <a:t>FORGING DIE  ·  shop build-up</a:t>
            </a:r>
            <a:endParaRPr lang="en-US" sz="840" dirty="0"/>
          </a:p>
        </p:txBody>
      </p:sp>
      <p:sp>
        <p:nvSpPr>
          <p:cNvPr id="7" name="Text 5"/>
          <p:cNvSpPr/>
          <p:nvPr/>
        </p:nvSpPr>
        <p:spPr>
          <a:xfrm>
            <a:off x="640080" y="1426464"/>
            <a:ext cx="5166360" cy="804672"/>
          </a:xfrm>
          <a:prstGeom prst="rect">
            <a:avLst/>
          </a:prstGeom>
          <a:noFill/>
          <a:ln/>
        </p:spPr>
        <p:txBody>
          <a:bodyPr wrap="square" lIns="0" tIns="0" rIns="0" bIns="0" rtlCol="0" anchor="t"/>
          <a:lstStyle/>
          <a:p>
            <a:pPr indent="0" marL="0">
              <a:buNone/>
            </a:pPr>
            <a:r>
              <a:rPr lang="en-US" sz="750" dirty="0">
                <a:solidFill>
                  <a:srgbClr val="3A4356"/>
                </a:solidFill>
                <a:latin typeface="Courier New" pitchFamily="34" charset="0"/>
                <a:ea typeface="Courier New" pitchFamily="34" charset="-122"/>
                <a:cs typeface="Courier New" pitchFamily="34" charset="-120"/>
              </a:rPr>
              <a:t>die blocks: face 4× silhouette × 2 halves, steel by kg</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  (hammer 1.2714 £5.8 · H13 £9.5 · PM £14)</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sinking: (40 + 0.9×area^0.85) h/impression × complexity × steel</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 block prep + EDM 25% + harden £2,500+£2.2/kg + polish + tryout</a:t>
            </a:r>
            <a:endParaRPr lang="en-US" sz="750" dirty="0"/>
          </a:p>
        </p:txBody>
      </p:sp>
      <p:sp>
        <p:nvSpPr>
          <p:cNvPr id="8" name="Text 6"/>
          <p:cNvSpPr/>
          <p:nvPr/>
        </p:nvSpPr>
        <p:spPr>
          <a:xfrm>
            <a:off x="640080" y="2267712"/>
            <a:ext cx="5166360" cy="987552"/>
          </a:xfrm>
          <a:prstGeom prst="rect">
            <a:avLst/>
          </a:prstGeom>
          <a:noFill/>
          <a:ln/>
        </p:spPr>
        <p:txBody>
          <a:bodyPr wrap="square" lIns="0" tIns="0" rIns="0" bIns="0" rtlCol="0" anchor="t"/>
          <a:lstStyle/>
          <a:p>
            <a:pPr indent="0" marL="0">
              <a:buNone/>
            </a:pPr>
            <a:r>
              <a:rPr lang="en-US" sz="780" dirty="0">
                <a:solidFill>
                  <a:srgbClr val="3A4356"/>
                </a:solidFill>
                <a:latin typeface="Calibri" pitchFamily="34" charset="0"/>
                <a:ea typeface="Calibri" pitchFamily="34" charset="-122"/>
                <a:cs typeface="Calibri" pitchFamily="34" charset="-120"/>
              </a:rPr>
              <a:t>Die life is ALLOY-KEYED: base hits by alloy (aluminium 80,000 · carbon steel 40,000 · alloy steel 30,000 · stainless 18,000 · titanium 8,000 · superalloy 3,500) × complexity (0.6–1.3) × size penalty (100/area)^0.2 — the forged metal, not the die, decides how long the die lives.</a:t>
            </a:r>
            <a:endParaRPr lang="en-US" sz="780" dirty="0"/>
          </a:p>
        </p:txBody>
      </p:sp>
      <p:sp>
        <p:nvSpPr>
          <p:cNvPr id="9" name="Shape 7"/>
          <p:cNvSpPr/>
          <p:nvPr/>
        </p:nvSpPr>
        <p:spPr>
          <a:xfrm>
            <a:off x="6199632" y="1097280"/>
            <a:ext cx="5532120" cy="2212848"/>
          </a:xfrm>
          <a:prstGeom prst="roundRect">
            <a:avLst>
              <a:gd name="adj" fmla="val 3719"/>
            </a:avLst>
          </a:prstGeom>
          <a:solidFill>
            <a:srgbClr val="FFFFFF"/>
          </a:solidFill>
          <a:ln w="15875">
            <a:solidFill>
              <a:srgbClr val="0D7D71"/>
            </a:solidFill>
            <a:prstDash val="solid"/>
          </a:ln>
        </p:spPr>
      </p:sp>
      <p:sp>
        <p:nvSpPr>
          <p:cNvPr id="10" name="Text 8"/>
          <p:cNvSpPr/>
          <p:nvPr/>
        </p:nvSpPr>
        <p:spPr>
          <a:xfrm>
            <a:off x="6382512" y="1188720"/>
            <a:ext cx="5166360" cy="201168"/>
          </a:xfrm>
          <a:prstGeom prst="rect">
            <a:avLst/>
          </a:prstGeom>
          <a:noFill/>
          <a:ln/>
        </p:spPr>
        <p:txBody>
          <a:bodyPr wrap="square" lIns="0" tIns="0" rIns="0" bIns="0" rtlCol="0" anchor="ctr"/>
          <a:lstStyle/>
          <a:p>
            <a:pPr indent="0" marL="0">
              <a:buNone/>
            </a:pPr>
            <a:r>
              <a:rPr lang="en-US" sz="840" b="1" dirty="0">
                <a:solidFill>
                  <a:srgbClr val="16325C"/>
                </a:solidFill>
                <a:latin typeface="Courier New" pitchFamily="34" charset="0"/>
                <a:ea typeface="Courier New" pitchFamily="34" charset="-122"/>
                <a:cs typeface="Courier New" pitchFamily="34" charset="-120"/>
              </a:rPr>
              <a:t>STAMPING DIE  ·  shop build-up</a:t>
            </a:r>
            <a:endParaRPr lang="en-US" sz="840" dirty="0"/>
          </a:p>
        </p:txBody>
      </p:sp>
      <p:sp>
        <p:nvSpPr>
          <p:cNvPr id="11" name="Text 9"/>
          <p:cNvSpPr/>
          <p:nvPr/>
        </p:nvSpPr>
        <p:spPr>
          <a:xfrm>
            <a:off x="6382512" y="1426464"/>
            <a:ext cx="5166360" cy="804672"/>
          </a:xfrm>
          <a:prstGeom prst="rect">
            <a:avLst/>
          </a:prstGeom>
          <a:noFill/>
          <a:ln/>
        </p:spPr>
        <p:txBody>
          <a:bodyPr wrap="square" lIns="0" tIns="0" rIns="0" bIns="0" rtlCol="0" anchor="t"/>
          <a:lstStyle/>
          <a:p>
            <a:pPr indent="0" marL="0">
              <a:buNone/>
            </a:pPr>
            <a:r>
              <a:rPr lang="en-US" sz="750" dirty="0">
                <a:solidFill>
                  <a:srgbClr val="3A4356"/>
                </a:solidFill>
                <a:latin typeface="Courier New" pitchFamily="34" charset="0"/>
                <a:ea typeface="Courier New" pitchFamily="34" charset="-122"/>
                <a:cs typeface="Courier New" pitchFamily="34" charset="-120"/>
              </a:rPr>
              <a:t>die set £2,900 + £3.20/cm² + strip-design NRE by die type</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per station: H13 sections by kg + (70 + 0.11×blank cm²) h</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  × hardness × type — split wire-EDM 35% / CNC 45% / fitting 20%</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 die-set machining + 4 tryout strip runs</a:t>
            </a:r>
            <a:endParaRPr lang="en-US" sz="750" dirty="0"/>
          </a:p>
        </p:txBody>
      </p:sp>
      <p:sp>
        <p:nvSpPr>
          <p:cNvPr id="12" name="Text 10"/>
          <p:cNvSpPr/>
          <p:nvPr/>
        </p:nvSpPr>
        <p:spPr>
          <a:xfrm>
            <a:off x="6382512" y="2267712"/>
            <a:ext cx="5166360" cy="987552"/>
          </a:xfrm>
          <a:prstGeom prst="rect">
            <a:avLst/>
          </a:prstGeom>
          <a:noFill/>
          <a:ln/>
        </p:spPr>
        <p:txBody>
          <a:bodyPr wrap="square" lIns="0" tIns="0" rIns="0" bIns="0" rtlCol="0" anchor="t"/>
          <a:lstStyle/>
          <a:p>
            <a:pPr indent="0" marL="0">
              <a:buNone/>
            </a:pPr>
            <a:r>
              <a:rPr lang="en-US" sz="780" dirty="0">
                <a:solidFill>
                  <a:srgbClr val="3A4356"/>
                </a:solidFill>
                <a:latin typeface="Calibri" pitchFamily="34" charset="0"/>
                <a:ea typeface="Calibri" pitchFamily="34" charset="-122"/>
                <a:cs typeface="Calibri" pitchFamily="34" charset="-120"/>
              </a:rPr>
              <a:t>Die life = 1M strokes × (300 ÷ shear MPa)^1.3 × thickness factor (× 0.6 fine-blanking), clamped 50k–3M — harder, thicker steel wears the tool faster and the law says by how much. The shop model is cross-checked against the kernel’s independent B-rep estimate.</a:t>
            </a:r>
            <a:endParaRPr lang="en-US" sz="780" dirty="0"/>
          </a:p>
        </p:txBody>
      </p:sp>
      <p:sp>
        <p:nvSpPr>
          <p:cNvPr id="13" name="Shape 11"/>
          <p:cNvSpPr/>
          <p:nvPr/>
        </p:nvSpPr>
        <p:spPr>
          <a:xfrm>
            <a:off x="457200" y="3438144"/>
            <a:ext cx="5532120" cy="2212848"/>
          </a:xfrm>
          <a:prstGeom prst="roundRect">
            <a:avLst>
              <a:gd name="adj" fmla="val 3719"/>
            </a:avLst>
          </a:prstGeom>
          <a:solidFill>
            <a:srgbClr val="FFFFFF"/>
          </a:solidFill>
          <a:ln w="15875">
            <a:solidFill>
              <a:srgbClr val="0D7D71"/>
            </a:solidFill>
            <a:prstDash val="solid"/>
          </a:ln>
        </p:spPr>
      </p:sp>
      <p:sp>
        <p:nvSpPr>
          <p:cNvPr id="14" name="Text 12"/>
          <p:cNvSpPr/>
          <p:nvPr/>
        </p:nvSpPr>
        <p:spPr>
          <a:xfrm>
            <a:off x="640080" y="3529584"/>
            <a:ext cx="5166360" cy="201168"/>
          </a:xfrm>
          <a:prstGeom prst="rect">
            <a:avLst/>
          </a:prstGeom>
          <a:noFill/>
          <a:ln/>
        </p:spPr>
        <p:txBody>
          <a:bodyPr wrap="square" lIns="0" tIns="0" rIns="0" bIns="0" rtlCol="0" anchor="ctr"/>
          <a:lstStyle/>
          <a:p>
            <a:pPr indent="0" marL="0">
              <a:buNone/>
            </a:pPr>
            <a:r>
              <a:rPr lang="en-US" sz="840" b="1" dirty="0">
                <a:solidFill>
                  <a:srgbClr val="16325C"/>
                </a:solidFill>
                <a:latin typeface="Courier New" pitchFamily="34" charset="0"/>
                <a:ea typeface="Courier New" pitchFamily="34" charset="-122"/>
                <a:cs typeface="Courier New" pitchFamily="34" charset="-120"/>
              </a:rPr>
              <a:t>BLOW MOULD  ·  shop build-up</a:t>
            </a:r>
            <a:endParaRPr lang="en-US" sz="840" dirty="0"/>
          </a:p>
        </p:txBody>
      </p:sp>
      <p:sp>
        <p:nvSpPr>
          <p:cNvPr id="15" name="Text 13"/>
          <p:cNvSpPr/>
          <p:nvPr/>
        </p:nvSpPr>
        <p:spPr>
          <a:xfrm>
            <a:off x="640080" y="3767328"/>
            <a:ext cx="5166360" cy="804672"/>
          </a:xfrm>
          <a:prstGeom prst="rect">
            <a:avLst/>
          </a:prstGeom>
          <a:noFill/>
          <a:ln/>
        </p:spPr>
        <p:txBody>
          <a:bodyPr wrap="square" lIns="0" tIns="0" rIns="0" bIns="0" rtlCol="0" anchor="t"/>
          <a:lstStyle/>
          <a:p>
            <a:pPr indent="0" marL="0">
              <a:buNone/>
            </a:pPr>
            <a:r>
              <a:rPr lang="en-US" sz="750" dirty="0">
                <a:solidFill>
                  <a:srgbClr val="3A4356"/>
                </a:solidFill>
                <a:latin typeface="Courier New" pitchFamily="34" charset="0"/>
                <a:ea typeface="Courier New" pitchFamily="34" charset="-122"/>
                <a:cs typeface="Courier New" pitchFamily="34" charset="-120"/>
              </a:rPr>
              <a:t>cavity halves: 14 × litres^0.75 kg (Al 7075 or P20/H13)</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CNC: (30 + 9.5 × litres) h × material · cooling drilling 8–20%</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 frame + pinch-off inserts + IBM/SBM core-rod tooling + tryout</a:t>
            </a:r>
            <a:endParaRPr lang="en-US" sz="750" dirty="0"/>
          </a:p>
        </p:txBody>
      </p:sp>
      <p:sp>
        <p:nvSpPr>
          <p:cNvPr id="16" name="Text 14"/>
          <p:cNvSpPr/>
          <p:nvPr/>
        </p:nvSpPr>
        <p:spPr>
          <a:xfrm>
            <a:off x="640080" y="4608576"/>
            <a:ext cx="5166360" cy="987552"/>
          </a:xfrm>
          <a:prstGeom prst="rect">
            <a:avLst/>
          </a:prstGeom>
          <a:noFill/>
          <a:ln/>
        </p:spPr>
        <p:txBody>
          <a:bodyPr wrap="square" lIns="0" tIns="0" rIns="0" bIns="0" rtlCol="0" anchor="t"/>
          <a:lstStyle/>
          <a:p>
            <a:pPr indent="0" marL="0">
              <a:buNone/>
            </a:pPr>
            <a:r>
              <a:rPr lang="en-US" sz="780" dirty="0">
                <a:solidFill>
                  <a:srgbClr val="3A4356"/>
                </a:solidFill>
                <a:latin typeface="Calibri" pitchFamily="34" charset="0"/>
                <a:ea typeface="Calibri" pitchFamily="34" charset="-122"/>
                <a:cs typeface="Calibri" pitchFamily="34" charset="-120"/>
              </a:rPr>
              <a:t>A container’s cavity is its whole inner surface, so hours scale with the litres it holds — not with a projected shadow. Life follows the mould material: aluminium 500,000 · P20 1M · H13 2M shots.</a:t>
            </a:r>
            <a:endParaRPr lang="en-US" sz="780" dirty="0"/>
          </a:p>
        </p:txBody>
      </p:sp>
      <p:sp>
        <p:nvSpPr>
          <p:cNvPr id="17" name="Shape 15"/>
          <p:cNvSpPr/>
          <p:nvPr/>
        </p:nvSpPr>
        <p:spPr>
          <a:xfrm>
            <a:off x="6199632" y="3438144"/>
            <a:ext cx="5532120" cy="2212848"/>
          </a:xfrm>
          <a:prstGeom prst="roundRect">
            <a:avLst>
              <a:gd name="adj" fmla="val 3719"/>
            </a:avLst>
          </a:prstGeom>
          <a:solidFill>
            <a:srgbClr val="FFFFFF"/>
          </a:solidFill>
          <a:ln w="15875">
            <a:solidFill>
              <a:srgbClr val="0D7D71"/>
            </a:solidFill>
            <a:prstDash val="solid"/>
          </a:ln>
        </p:spPr>
      </p:sp>
      <p:sp>
        <p:nvSpPr>
          <p:cNvPr id="18" name="Text 16"/>
          <p:cNvSpPr/>
          <p:nvPr/>
        </p:nvSpPr>
        <p:spPr>
          <a:xfrm>
            <a:off x="6382512" y="3529584"/>
            <a:ext cx="5166360" cy="201168"/>
          </a:xfrm>
          <a:prstGeom prst="rect">
            <a:avLst/>
          </a:prstGeom>
          <a:noFill/>
          <a:ln/>
        </p:spPr>
        <p:txBody>
          <a:bodyPr wrap="square" lIns="0" tIns="0" rIns="0" bIns="0" rtlCol="0" anchor="ctr"/>
          <a:lstStyle/>
          <a:p>
            <a:pPr indent="0" marL="0">
              <a:buNone/>
            </a:pPr>
            <a:r>
              <a:rPr lang="en-US" sz="840" b="1" dirty="0">
                <a:solidFill>
                  <a:srgbClr val="16325C"/>
                </a:solidFill>
                <a:latin typeface="Courier New" pitchFamily="34" charset="0"/>
                <a:ea typeface="Courier New" pitchFamily="34" charset="-122"/>
                <a:cs typeface="Courier New" pitchFamily="34" charset="-120"/>
              </a:rPr>
              <a:t>CASTING · MACHINING · INVESTMENT</a:t>
            </a:r>
            <a:endParaRPr lang="en-US" sz="840" dirty="0"/>
          </a:p>
        </p:txBody>
      </p:sp>
      <p:sp>
        <p:nvSpPr>
          <p:cNvPr id="19" name="Text 17"/>
          <p:cNvSpPr/>
          <p:nvPr/>
        </p:nvSpPr>
        <p:spPr>
          <a:xfrm>
            <a:off x="6382512" y="3767328"/>
            <a:ext cx="5166360" cy="804672"/>
          </a:xfrm>
          <a:prstGeom prst="rect">
            <a:avLst/>
          </a:prstGeom>
          <a:noFill/>
          <a:ln/>
        </p:spPr>
        <p:txBody>
          <a:bodyPr wrap="square" lIns="0" tIns="0" rIns="0" bIns="0" rtlCol="0" anchor="t"/>
          <a:lstStyle/>
          <a:p>
            <a:pPr indent="0" marL="0">
              <a:buNone/>
            </a:pPr>
            <a:r>
              <a:rPr lang="en-US" sz="750" dirty="0">
                <a:solidFill>
                  <a:srgbClr val="3A4356"/>
                </a:solidFill>
                <a:latin typeface="Courier New" pitchFamily="34" charset="0"/>
                <a:ea typeface="Courier New" pitchFamily="34" charset="-122"/>
                <a:cs typeface="Courier New" pitchFamily="34" charset="-120"/>
              </a:rPr>
              <a:t>HPDC/gravity/sand: the kernel B-rep parametric is PRIMARY on the</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CAD path; the same shop model prices STL and manual paths</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(H13 die + shot sleeve + cooling drilling + stress-relief HT).</a:t>
            </a:r>
            <a:endParaRPr lang="en-US" sz="750" dirty="0"/>
          </a:p>
          <a:p>
            <a:pPr indent="0" marL="0">
              <a:buNone/>
            </a:pPr>
            <a:r>
              <a:rPr lang="en-US" sz="750" dirty="0">
                <a:solidFill>
                  <a:srgbClr val="3A4356"/>
                </a:solidFill>
                <a:latin typeface="Courier New" pitchFamily="34" charset="0"/>
                <a:ea typeface="Courier New" pitchFamily="34" charset="-122"/>
                <a:cs typeface="Courier New" pitchFamily="34" charset="-120"/>
              </a:rPr>
              <a:t>Machining: fixtures + £15,000 CNC-programming NRE, amortised.</a:t>
            </a:r>
            <a:endParaRPr lang="en-US" sz="750" dirty="0"/>
          </a:p>
        </p:txBody>
      </p:sp>
      <p:sp>
        <p:nvSpPr>
          <p:cNvPr id="20" name="Text 18"/>
          <p:cNvSpPr/>
          <p:nvPr/>
        </p:nvSpPr>
        <p:spPr>
          <a:xfrm>
            <a:off x="6382512" y="4608576"/>
            <a:ext cx="5166360" cy="987552"/>
          </a:xfrm>
          <a:prstGeom prst="rect">
            <a:avLst/>
          </a:prstGeom>
          <a:noFill/>
          <a:ln/>
        </p:spPr>
        <p:txBody>
          <a:bodyPr wrap="square" lIns="0" tIns="0" rIns="0" bIns="0" rtlCol="0" anchor="t"/>
          <a:lstStyle/>
          <a:p>
            <a:pPr indent="0" marL="0">
              <a:buNone/>
            </a:pPr>
            <a:r>
              <a:rPr lang="en-US" sz="780" dirty="0">
                <a:solidFill>
                  <a:srgbClr val="3A4356"/>
                </a:solidFill>
                <a:latin typeface="Calibri" pitchFamily="34" charset="0"/>
                <a:ea typeface="Calibri" pitchFamily="34" charset="-122"/>
                <a:cs typeface="Calibri" pitchFamily="34" charset="-120"/>
              </a:rPr>
              <a:t>INVESTMENT tooling is priced as what it physically is: a wax-injection tool is an aluminium/P20 mould run at low pressure — the mould shop model × 0.8, plus £1,200 per soluble-core box. And the one rule above everything on both slides: a toolmaker quotation overrides every estimate, always.</a:t>
            </a:r>
            <a:endParaRPr lang="en-US" sz="780" dirty="0"/>
          </a:p>
        </p:txBody>
      </p:sp>
      <p:sp>
        <p:nvSpPr>
          <p:cNvPr id="21" name="Shape 19"/>
          <p:cNvSpPr/>
          <p:nvPr/>
        </p:nvSpPr>
        <p:spPr>
          <a:xfrm>
            <a:off x="457200" y="5870448"/>
            <a:ext cx="11274552" cy="502920"/>
          </a:xfrm>
          <a:prstGeom prst="roundRect">
            <a:avLst>
              <a:gd name="adj" fmla="val 14545"/>
            </a:avLst>
          </a:prstGeom>
          <a:solidFill>
            <a:srgbClr val="E7F4F2"/>
          </a:solidFill>
          <a:ln w="12700">
            <a:solidFill>
              <a:srgbClr val="0D7D71"/>
            </a:solidFill>
            <a:prstDash val="solid"/>
          </a:ln>
        </p:spPr>
      </p:sp>
      <p:sp>
        <p:nvSpPr>
          <p:cNvPr id="22" name="Text 20"/>
          <p:cNvSpPr/>
          <p:nvPr/>
        </p:nvSpPr>
        <p:spPr>
          <a:xfrm>
            <a:off x="621792" y="5870448"/>
            <a:ext cx="10972800" cy="502920"/>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Why you can trust these numbers:  </a:t>
            </a:r>
            <a:pPr indent="0" marL="0">
              <a:buNone/>
            </a:pPr>
            <a:r>
              <a:rPr lang="en-US" sz="940" dirty="0">
                <a:solidFill>
                  <a:srgbClr val="3A4356"/>
                </a:solidFill>
                <a:latin typeface="Calibri" pitchFamily="34" charset="0"/>
                <a:ea typeface="Calibri" pitchFamily="34" charset="-122"/>
                <a:cs typeface="Calibri" pitchFamily="34" charset="-120"/>
              </a:rPr>
              <a:t>every tool is priced the way a toolmaker quotes it — hours × toolroom rates, steel by the kilogram, bought-outs each, the shop’s 22% overhead as its own line — in unit-tested source, checked against a real quotation and cross-checked by the kernel’s independent B-rep estimates. A tooling model, not a percentage on the part price.</a:t>
            </a:r>
            <a:endParaRPr lang="en-US" sz="940" dirty="0"/>
          </a:p>
        </p:txBody>
      </p:sp>
      <p:sp>
        <p:nvSpPr>
          <p:cNvPr id="23" name="Text 2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24" name="Text 2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99651A"/>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Where Every Number Comes From</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hallucination question, answered precisely</a:t>
            </a:r>
            <a:endParaRPr lang="en-US" sz="1200" dirty="0"/>
          </a:p>
        </p:txBody>
      </p:sp>
      <p:sp>
        <p:nvSpPr>
          <p:cNvPr id="5" name="Shape 3"/>
          <p:cNvSpPr/>
          <p:nvPr/>
        </p:nvSpPr>
        <p:spPr>
          <a:xfrm>
            <a:off x="9418320" y="676656"/>
            <a:ext cx="2286000" cy="310896"/>
          </a:xfrm>
          <a:prstGeom prst="roundRect">
            <a:avLst>
              <a:gd name="adj" fmla="val 50000"/>
            </a:avLst>
          </a:prstGeom>
          <a:solidFill>
            <a:srgbClr val="FCF3E3"/>
          </a:solidFill>
          <a:ln w="12700">
            <a:solidFill>
              <a:srgbClr val="99651A"/>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99651A"/>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5577840" cy="2651760"/>
          </a:xfrm>
          <a:prstGeom prst="roundRect">
            <a:avLst>
              <a:gd name="adj" fmla="val 3448"/>
            </a:avLst>
          </a:prstGeom>
          <a:solidFill>
            <a:srgbClr val="FFFFFF"/>
          </a:solidFill>
          <a:ln w="12700">
            <a:solidFill>
              <a:srgbClr val="DCE3EE"/>
            </a:solidFill>
            <a:prstDash val="solid"/>
          </a:ln>
        </p:spPr>
      </p:sp>
      <p:sp>
        <p:nvSpPr>
          <p:cNvPr id="8" name="Text 6"/>
          <p:cNvSpPr/>
          <p:nvPr/>
        </p:nvSpPr>
        <p:spPr>
          <a:xfrm>
            <a:off x="685800" y="1298448"/>
            <a:ext cx="5120640" cy="237744"/>
          </a:xfrm>
          <a:prstGeom prst="rect">
            <a:avLst/>
          </a:prstGeom>
          <a:noFill/>
          <a:ln/>
        </p:spPr>
        <p:txBody>
          <a:bodyPr wrap="square" lIns="0" tIns="0" rIns="0" bIns="0" rtlCol="0" anchor="ctr"/>
          <a:lstStyle/>
          <a:p>
            <a:pPr indent="0" marL="0">
              <a:buNone/>
            </a:pPr>
            <a:r>
              <a:rPr lang="en-US" sz="1050" b="1" spc="60" kern="0" dirty="0">
                <a:solidFill>
                  <a:srgbClr val="16325C"/>
                </a:solidFill>
                <a:latin typeface="Calibri" pitchFamily="34" charset="0"/>
                <a:ea typeface="Calibri" pitchFamily="34" charset="-122"/>
                <a:cs typeface="Calibri" pitchFamily="34" charset="-120"/>
              </a:rPr>
              <a:t>EVERY BUCKET, AND WHAT IT IS MADE OF</a:t>
            </a:r>
            <a:endParaRPr lang="en-US" sz="1050" dirty="0"/>
          </a:p>
        </p:txBody>
      </p:sp>
      <p:sp>
        <p:nvSpPr>
          <p:cNvPr id="9" name="Text 7"/>
          <p:cNvSpPr/>
          <p:nvPr/>
        </p:nvSpPr>
        <p:spPr>
          <a:xfrm>
            <a:off x="713232" y="1609344"/>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Material</a:t>
            </a:r>
            <a:endParaRPr lang="en-US" sz="1000" dirty="0"/>
          </a:p>
        </p:txBody>
      </p:sp>
      <p:sp>
        <p:nvSpPr>
          <p:cNvPr id="10" name="Text 8"/>
          <p:cNvSpPr/>
          <p:nvPr/>
        </p:nvSpPr>
        <p:spPr>
          <a:xfrm>
            <a:off x="2542032" y="1609344"/>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measured volume x density x published £/kg</a:t>
            </a:r>
            <a:endParaRPr lang="en-US" sz="960" dirty="0"/>
          </a:p>
        </p:txBody>
      </p:sp>
      <p:sp>
        <p:nvSpPr>
          <p:cNvPr id="11" name="Text 9"/>
          <p:cNvSpPr/>
          <p:nvPr/>
        </p:nvSpPr>
        <p:spPr>
          <a:xfrm>
            <a:off x="713232" y="1901952"/>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Process</a:t>
            </a:r>
            <a:endParaRPr lang="en-US" sz="1000" dirty="0"/>
          </a:p>
        </p:txBody>
      </p:sp>
      <p:sp>
        <p:nvSpPr>
          <p:cNvPr id="12" name="Text 10"/>
          <p:cNvSpPr/>
          <p:nvPr/>
        </p:nvSpPr>
        <p:spPr>
          <a:xfrm>
            <a:off x="2542032" y="1901952"/>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cycle time / OEE x machine £/hr</a:t>
            </a:r>
            <a:endParaRPr lang="en-US" sz="960" dirty="0"/>
          </a:p>
        </p:txBody>
      </p:sp>
      <p:sp>
        <p:nvSpPr>
          <p:cNvPr id="13" name="Text 11"/>
          <p:cNvSpPr/>
          <p:nvPr/>
        </p:nvSpPr>
        <p:spPr>
          <a:xfrm>
            <a:off x="713232" y="2194560"/>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Labour</a:t>
            </a:r>
            <a:endParaRPr lang="en-US" sz="1000" dirty="0"/>
          </a:p>
        </p:txBody>
      </p:sp>
      <p:sp>
        <p:nvSpPr>
          <p:cNvPr id="14" name="Text 12"/>
          <p:cNvSpPr/>
          <p:nvPr/>
        </p:nvSpPr>
        <p:spPr>
          <a:xfrm>
            <a:off x="2542032" y="2194560"/>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same time x manning x wage-grade £/hr</a:t>
            </a:r>
            <a:endParaRPr lang="en-US" sz="960" dirty="0"/>
          </a:p>
        </p:txBody>
      </p:sp>
      <p:sp>
        <p:nvSpPr>
          <p:cNvPr id="15" name="Text 13"/>
          <p:cNvSpPr/>
          <p:nvPr/>
        </p:nvSpPr>
        <p:spPr>
          <a:xfrm>
            <a:off x="713232" y="2487168"/>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Tooling</a:t>
            </a:r>
            <a:endParaRPr lang="en-US" sz="1000" dirty="0"/>
          </a:p>
        </p:txBody>
      </p:sp>
      <p:sp>
        <p:nvSpPr>
          <p:cNvPr id="16" name="Text 14"/>
          <p:cNvSpPr/>
          <p:nvPr/>
        </p:nvSpPr>
        <p:spPr>
          <a:xfrm>
            <a:off x="2542032" y="2487168"/>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die cost ÷ (annual volume × programme life)</a:t>
            </a:r>
            <a:endParaRPr lang="en-US" sz="960" dirty="0"/>
          </a:p>
        </p:txBody>
      </p:sp>
      <p:sp>
        <p:nvSpPr>
          <p:cNvPr id="17" name="Text 15"/>
          <p:cNvSpPr/>
          <p:nvPr/>
        </p:nvSpPr>
        <p:spPr>
          <a:xfrm>
            <a:off x="713232" y="2779776"/>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Packaging, Logistics</a:t>
            </a:r>
            <a:endParaRPr lang="en-US" sz="1000" dirty="0"/>
          </a:p>
        </p:txBody>
      </p:sp>
      <p:sp>
        <p:nvSpPr>
          <p:cNvPr id="18" name="Text 16"/>
          <p:cNvSpPr/>
          <p:nvPr/>
        </p:nvSpPr>
        <p:spPr>
          <a:xfrm>
            <a:off x="2542032" y="2779776"/>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entered directly by the engineer</a:t>
            </a:r>
            <a:endParaRPr lang="en-US" sz="960" dirty="0"/>
          </a:p>
        </p:txBody>
      </p:sp>
      <p:sp>
        <p:nvSpPr>
          <p:cNvPr id="19" name="Text 17"/>
          <p:cNvSpPr/>
          <p:nvPr/>
        </p:nvSpPr>
        <p:spPr>
          <a:xfrm>
            <a:off x="713232" y="3072384"/>
            <a:ext cx="1783080" cy="274320"/>
          </a:xfrm>
          <a:prstGeom prst="rect">
            <a:avLst/>
          </a:prstGeom>
          <a:noFill/>
          <a:ln/>
        </p:spPr>
        <p:txBody>
          <a:bodyPr wrap="square" lIns="0" tIns="0" rIns="0" bIns="0" rtlCol="0" anchor="ctr"/>
          <a:lstStyle/>
          <a:p>
            <a:pPr indent="0" marL="0">
              <a:buNone/>
            </a:pPr>
            <a:r>
              <a:rPr lang="en-US" sz="1000" b="1" dirty="0">
                <a:solidFill>
                  <a:srgbClr val="0D7D71"/>
                </a:solidFill>
                <a:latin typeface="Calibri" pitchFamily="34" charset="0"/>
                <a:ea typeface="Calibri" pitchFamily="34" charset="-122"/>
                <a:cs typeface="Calibri" pitchFamily="34" charset="-120"/>
              </a:rPr>
              <a:t>Overhead, Margin</a:t>
            </a:r>
            <a:endParaRPr lang="en-US" sz="1000" dirty="0"/>
          </a:p>
        </p:txBody>
      </p:sp>
      <p:sp>
        <p:nvSpPr>
          <p:cNvPr id="20" name="Text 18"/>
          <p:cNvSpPr/>
          <p:nvPr/>
        </p:nvSpPr>
        <p:spPr>
          <a:xfrm>
            <a:off x="2542032" y="3072384"/>
            <a:ext cx="33832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of material+process+labour+tooling; % of subtotal</a:t>
            </a:r>
            <a:endParaRPr lang="en-US" sz="960" dirty="0"/>
          </a:p>
        </p:txBody>
      </p:sp>
      <p:sp>
        <p:nvSpPr>
          <p:cNvPr id="21" name="Text 19"/>
          <p:cNvSpPr/>
          <p:nvPr/>
        </p:nvSpPr>
        <p:spPr>
          <a:xfrm>
            <a:off x="713232" y="3438144"/>
            <a:ext cx="5120640" cy="292608"/>
          </a:xfrm>
          <a:prstGeom prst="rect">
            <a:avLst/>
          </a:prstGeom>
          <a:noFill/>
          <a:ln/>
        </p:spPr>
        <p:txBody>
          <a:bodyPr wrap="square" lIns="0" tIns="0" rIns="0" bIns="0" rtlCol="0" anchor="ctr"/>
          <a:lstStyle/>
          <a:p>
            <a:pPr indent="0" marL="0">
              <a:buNone/>
            </a:pPr>
            <a:r>
              <a:rPr lang="en-US" sz="1050" b="1" i="1" dirty="0">
                <a:solidFill>
                  <a:srgbClr val="16325C"/>
                </a:solidFill>
                <a:latin typeface="Calibri" pitchFamily="34" charset="0"/>
                <a:ea typeface="Calibri" pitchFamily="34" charset="-122"/>
                <a:cs typeface="Calibri" pitchFamily="34" charset="-120"/>
              </a:rPr>
              <a:t>Not one of those six lines contains an AI-generated number.</a:t>
            </a:r>
            <a:endParaRPr lang="en-US" sz="1050" dirty="0"/>
          </a:p>
        </p:txBody>
      </p:sp>
      <p:sp>
        <p:nvSpPr>
          <p:cNvPr id="22" name="Shape 20"/>
          <p:cNvSpPr/>
          <p:nvPr/>
        </p:nvSpPr>
        <p:spPr>
          <a:xfrm>
            <a:off x="6263640" y="1188720"/>
            <a:ext cx="5468112" cy="2651760"/>
          </a:xfrm>
          <a:prstGeom prst="roundRect">
            <a:avLst>
              <a:gd name="adj" fmla="val 3448"/>
            </a:avLst>
          </a:prstGeom>
          <a:solidFill>
            <a:srgbClr val="FCF3E3"/>
          </a:solidFill>
          <a:ln w="15875">
            <a:solidFill>
              <a:srgbClr val="99651A"/>
            </a:solidFill>
            <a:prstDash val="solid"/>
          </a:ln>
        </p:spPr>
      </p:sp>
      <p:sp>
        <p:nvSpPr>
          <p:cNvPr id="23" name="Text 21"/>
          <p:cNvSpPr/>
          <p:nvPr/>
        </p:nvSpPr>
        <p:spPr>
          <a:xfrm>
            <a:off x="6492240" y="1298448"/>
            <a:ext cx="5029200" cy="237744"/>
          </a:xfrm>
          <a:prstGeom prst="rect">
            <a:avLst/>
          </a:prstGeom>
          <a:noFill/>
          <a:ln/>
        </p:spPr>
        <p:txBody>
          <a:bodyPr wrap="square" lIns="0" tIns="0" rIns="0" bIns="0" rtlCol="0" anchor="ctr"/>
          <a:lstStyle/>
          <a:p>
            <a:pPr indent="0" marL="0">
              <a:buNone/>
            </a:pPr>
            <a:r>
              <a:rPr lang="en-US" sz="1050" b="1" spc="60" kern="0" dirty="0">
                <a:solidFill>
                  <a:srgbClr val="99651A"/>
                </a:solidFill>
                <a:latin typeface="Calibri" pitchFamily="34" charset="0"/>
                <a:ea typeface="Calibri" pitchFamily="34" charset="-122"/>
                <a:cs typeface="Calibri" pitchFamily="34" charset="-120"/>
              </a:rPr>
              <a:t>THE CHECKS THAT RUN AUTOMATICALLY</a:t>
            </a:r>
            <a:endParaRPr lang="en-US" sz="1050" dirty="0"/>
          </a:p>
        </p:txBody>
      </p:sp>
      <p:sp>
        <p:nvSpPr>
          <p:cNvPr id="24" name="Text 22"/>
          <p:cNvSpPr/>
          <p:nvPr/>
        </p:nvSpPr>
        <p:spPr>
          <a:xfrm>
            <a:off x="6510528" y="1609344"/>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A stated volume vs the measured one — &gt;25% apart warns</a:t>
            </a:r>
            <a:endParaRPr lang="en-US" sz="960" dirty="0"/>
          </a:p>
        </p:txBody>
      </p:sp>
      <p:sp>
        <p:nvSpPr>
          <p:cNvPr id="25" name="Text 23"/>
          <p:cNvSpPr/>
          <p:nvPr/>
        </p:nvSpPr>
        <p:spPr>
          <a:xfrm>
            <a:off x="6510528" y="1901952"/>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Weight must equal volume x density to within 20%</a:t>
            </a:r>
            <a:endParaRPr lang="en-US" sz="960" dirty="0"/>
          </a:p>
        </p:txBody>
      </p:sp>
      <p:sp>
        <p:nvSpPr>
          <p:cNvPr id="26" name="Text 24"/>
          <p:cNvSpPr/>
          <p:nvPr/>
        </p:nvSpPr>
        <p:spPr>
          <a:xfrm>
            <a:off x="6510528" y="2194560"/>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Self-audit: tooling over the wrong volume, material-only costing</a:t>
            </a:r>
            <a:endParaRPr lang="en-US" sz="960" dirty="0"/>
          </a:p>
        </p:txBody>
      </p:sp>
      <p:sp>
        <p:nvSpPr>
          <p:cNvPr id="27" name="Text 25"/>
          <p:cNvSpPr/>
          <p:nvPr/>
        </p:nvSpPr>
        <p:spPr>
          <a:xfrm>
            <a:off x="6510528" y="2487168"/>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Any cycle time outside 1.8 seconds to 24 hours is rejected</a:t>
            </a:r>
            <a:endParaRPr lang="en-US" sz="960" dirty="0"/>
          </a:p>
        </p:txBody>
      </p:sp>
      <p:sp>
        <p:nvSpPr>
          <p:cNvPr id="28" name="Text 26"/>
          <p:cNvSpPr/>
          <p:nvPr/>
        </p:nvSpPr>
        <p:spPr>
          <a:xfrm>
            <a:off x="6510528" y="2779776"/>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Near-net machining capped to 0.10 hr + 0.07 hr/kg</a:t>
            </a:r>
            <a:endParaRPr lang="en-US" sz="960" dirty="0"/>
          </a:p>
        </p:txBody>
      </p:sp>
      <p:sp>
        <p:nvSpPr>
          <p:cNvPr id="29" name="Text 27"/>
          <p:cNvSpPr/>
          <p:nvPr/>
        </p:nvSpPr>
        <p:spPr>
          <a:xfrm>
            <a:off x="6510528" y="3072384"/>
            <a:ext cx="502920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Machine must be big enough for the part, or it is flagged</a:t>
            </a:r>
            <a:endParaRPr lang="en-US" sz="960" dirty="0"/>
          </a:p>
        </p:txBody>
      </p:sp>
      <p:sp>
        <p:nvSpPr>
          <p:cNvPr id="30" name="Text 28"/>
          <p:cNvSpPr/>
          <p:nvPr/>
        </p:nvSpPr>
        <p:spPr>
          <a:xfrm>
            <a:off x="6510528" y="3438144"/>
            <a:ext cx="5029200" cy="292608"/>
          </a:xfrm>
          <a:prstGeom prst="rect">
            <a:avLst/>
          </a:prstGeom>
          <a:noFill/>
          <a:ln/>
        </p:spPr>
        <p:txBody>
          <a:bodyPr wrap="square" lIns="0" tIns="0" rIns="0" bIns="0" rtlCol="0" anchor="ctr"/>
          <a:lstStyle/>
          <a:p>
            <a:pPr indent="0" marL="0">
              <a:buNone/>
            </a:pPr>
            <a:r>
              <a:rPr lang="en-US" sz="1050" b="1" i="1" dirty="0">
                <a:solidFill>
                  <a:srgbClr val="16325C"/>
                </a:solidFill>
                <a:latin typeface="Calibri" pitchFamily="34" charset="0"/>
                <a:ea typeface="Calibri" pitchFamily="34" charset="-122"/>
                <a:cs typeface="Calibri" pitchFamily="34" charset="-120"/>
              </a:rPr>
              <a:t>Each one is code, not a prompt.</a:t>
            </a:r>
            <a:endParaRPr lang="en-US" sz="1050" dirty="0"/>
          </a:p>
        </p:txBody>
      </p:sp>
      <p:sp>
        <p:nvSpPr>
          <p:cNvPr id="31" name="Shape 29"/>
          <p:cNvSpPr/>
          <p:nvPr/>
        </p:nvSpPr>
        <p:spPr>
          <a:xfrm>
            <a:off x="457200" y="3977640"/>
            <a:ext cx="11274552" cy="1143000"/>
          </a:xfrm>
          <a:prstGeom prst="roundRect">
            <a:avLst>
              <a:gd name="adj" fmla="val 8000"/>
            </a:avLst>
          </a:prstGeom>
          <a:solidFill>
            <a:srgbClr val="FFFFFF"/>
          </a:solidFill>
          <a:ln w="19050">
            <a:solidFill>
              <a:srgbClr val="2A7F50"/>
            </a:solidFill>
            <a:prstDash val="solid"/>
          </a:ln>
        </p:spPr>
      </p:sp>
      <p:sp>
        <p:nvSpPr>
          <p:cNvPr id="32" name="Text 30"/>
          <p:cNvSpPr/>
          <p:nvPr/>
        </p:nvSpPr>
        <p:spPr>
          <a:xfrm>
            <a:off x="731520" y="4087368"/>
            <a:ext cx="10058400" cy="274320"/>
          </a:xfrm>
          <a:prstGeom prst="rect">
            <a:avLst/>
          </a:prstGeom>
          <a:noFill/>
          <a:ln/>
        </p:spPr>
        <p:txBody>
          <a:bodyPr wrap="square" lIns="0" tIns="0" rIns="0" bIns="0" rtlCol="0" anchor="ctr"/>
          <a:lstStyle/>
          <a:p>
            <a:pPr indent="0" marL="0">
              <a:buNone/>
            </a:pPr>
            <a:r>
              <a:rPr lang="en-US" sz="1250" b="1" dirty="0">
                <a:solidFill>
                  <a:srgbClr val="2A7F50"/>
                </a:solidFill>
                <a:latin typeface="Calibri" pitchFamily="34" charset="0"/>
                <a:ea typeface="Calibri" pitchFamily="34" charset="-122"/>
                <a:cs typeface="Calibri" pitchFamily="34" charset="-120"/>
              </a:rPr>
              <a:t>The claim we make — and the claim we do not</a:t>
            </a:r>
            <a:endParaRPr lang="en-US" sz="1250" dirty="0"/>
          </a:p>
        </p:txBody>
      </p:sp>
      <p:sp>
        <p:nvSpPr>
          <p:cNvPr id="33" name="Text 31"/>
          <p:cNvSpPr/>
          <p:nvPr/>
        </p:nvSpPr>
        <p:spPr>
          <a:xfrm>
            <a:off x="731520" y="4379976"/>
            <a:ext cx="10744200" cy="676656"/>
          </a:xfrm>
          <a:prstGeom prst="rect">
            <a:avLst/>
          </a:prstGeom>
          <a:noFill/>
          <a:ln/>
        </p:spPr>
        <p:txBody>
          <a:bodyPr wrap="square" lIns="0" tIns="0" rIns="0" bIns="0" rtlCol="0" anchor="t"/>
          <a:lstStyle/>
          <a:p>
            <a:pPr indent="0" marL="0">
              <a:buNone/>
            </a:pPr>
            <a:r>
              <a:rPr lang="en-US" sz="1150" b="1" dirty="0">
                <a:solidFill>
                  <a:srgbClr val="16325C"/>
                </a:solidFill>
                <a:latin typeface="Calibri" pitchFamily="34" charset="0"/>
                <a:ea typeface="Calibri" pitchFamily="34" charset="-122"/>
                <a:cs typeface="Calibri" pitchFamily="34" charset="-120"/>
              </a:rPr>
              <a:t>We do say: no AI number ever becomes money — and at JLR the AI is off. </a:t>
            </a:r>
            <a:pPr indent="0" marL="0">
              <a:buNone/>
            </a:pPr>
            <a:r>
              <a:rPr lang="en-US" sz="1150" dirty="0">
                <a:solidFill>
                  <a:srgbClr val="3A4356"/>
                </a:solidFill>
                <a:latin typeface="Calibri" pitchFamily="34" charset="0"/>
                <a:ea typeface="Calibri" pitchFamily="34" charset="-122"/>
                <a:cs typeface="Calibri" pitchFamily="34" charset="-120"/>
              </a:rPr>
              <a:t>Every figure comes from a measurement, a rule, an engineer’s answer or a library rate.  </a:t>
            </a:r>
            <a:pPr indent="0" marL="0">
              <a:buNone/>
            </a:pPr>
            <a:r>
              <a:rPr lang="en-US" sz="1150" b="1" dirty="0">
                <a:solidFill>
                  <a:srgbClr val="B03A2E"/>
                </a:solidFill>
                <a:latin typeface="Calibri" pitchFamily="34" charset="0"/>
                <a:ea typeface="Calibri" pitchFamily="34" charset="-122"/>
                <a:cs typeface="Calibri" pitchFamily="34" charset="-120"/>
              </a:rPr>
              <a:t>We do not say every input is right. </a:t>
            </a:r>
            <a:pPr indent="0" marL="0">
              <a:buNone/>
            </a:pPr>
            <a:r>
              <a:rPr lang="en-US" sz="1150" dirty="0">
                <a:solidFill>
                  <a:srgbClr val="3A4356"/>
                </a:solidFill>
                <a:latin typeface="Calibri" pitchFamily="34" charset="0"/>
                <a:ea typeface="Calibri" pitchFamily="34" charset="-122"/>
                <a:cs typeface="Calibri" pitchFamily="34" charset="-120"/>
              </a:rPr>
              <a:t>An answer can be mistyped or a rate can be out of date. That is why the checks above run automatically, and why a person signs the result.</a:t>
            </a:r>
            <a:endParaRPr lang="en-US" sz="1150" dirty="0"/>
          </a:p>
        </p:txBody>
      </p:sp>
      <p:sp>
        <p:nvSpPr>
          <p:cNvPr id="34" name="Shape 32"/>
          <p:cNvSpPr/>
          <p:nvPr/>
        </p:nvSpPr>
        <p:spPr>
          <a:xfrm>
            <a:off x="457200" y="5257800"/>
            <a:ext cx="11274552" cy="960120"/>
          </a:xfrm>
          <a:prstGeom prst="roundRect">
            <a:avLst>
              <a:gd name="adj" fmla="val 9524"/>
            </a:avLst>
          </a:prstGeom>
          <a:solidFill>
            <a:srgbClr val="E6F4F1"/>
          </a:solidFill>
          <a:ln w="12700">
            <a:solidFill>
              <a:srgbClr val="0D7D71"/>
            </a:solidFill>
            <a:prstDash val="solid"/>
          </a:ln>
        </p:spPr>
      </p:sp>
      <p:sp>
        <p:nvSpPr>
          <p:cNvPr id="35" name="Text 33"/>
          <p:cNvSpPr/>
          <p:nvPr/>
        </p:nvSpPr>
        <p:spPr>
          <a:xfrm>
            <a:off x="731520" y="5367528"/>
            <a:ext cx="10744200" cy="777240"/>
          </a:xfrm>
          <a:prstGeom prst="rect">
            <a:avLst/>
          </a:prstGeom>
          <a:noFill/>
          <a:ln/>
        </p:spPr>
        <p:txBody>
          <a:bodyPr wrap="square" lIns="0" tIns="0" rIns="0" bIns="0" rtlCol="0" anchor="ctr"/>
          <a:lstStyle/>
          <a:p>
            <a:pPr indent="0" marL="0">
              <a:buNone/>
            </a:pPr>
            <a:r>
              <a:rPr lang="en-US" sz="1200" b="1" dirty="0">
                <a:solidFill>
                  <a:srgbClr val="0D7D71"/>
                </a:solidFill>
                <a:latin typeface="Calibri" pitchFamily="34" charset="0"/>
                <a:ea typeface="Calibri" pitchFamily="34" charset="-122"/>
                <a:cs typeface="Calibri" pitchFamily="34" charset="-120"/>
              </a:rPr>
              <a:t>Reproducibility test: </a:t>
            </a:r>
            <a:pPr indent="0" marL="0">
              <a:buNone/>
            </a:pPr>
            <a:r>
              <a:rPr lang="en-US" sz="1200" dirty="0">
                <a:solidFill>
                  <a:srgbClr val="3A4356"/>
                </a:solidFill>
                <a:latin typeface="Calibri" pitchFamily="34" charset="0"/>
                <a:ea typeface="Calibri" pitchFamily="34" charset="-122"/>
                <a:cs typeface="Calibri" pitchFamily="34" charset="-120"/>
              </a:rPr>
              <a:t>run the same file with the same inputs a hundred times and you get £38.55 a hundred times. The arithmetic is fixed code, so the answer cannot drift between runs, between engineers, or between one supplier meeting and the next.</a:t>
            </a:r>
            <a:endParaRPr lang="en-US" sz="1200" dirty="0"/>
          </a:p>
        </p:txBody>
      </p:sp>
      <p:sp>
        <p:nvSpPr>
          <p:cNvPr id="36" name="Text 3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37" name="Text 3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Whole Thing on One Page</a:t>
            </a:r>
            <a:endParaRPr lang="en-US" sz="2500" dirty="0"/>
          </a:p>
        </p:txBody>
      </p:sp>
      <p:sp>
        <p:nvSpPr>
          <p:cNvPr id="3" name="Text 1"/>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Who does what — the answer to the question you asked me</a:t>
            </a:r>
            <a:endParaRPr lang="en-US" sz="1200" dirty="0"/>
          </a:p>
        </p:txBody>
      </p:sp>
      <p:sp>
        <p:nvSpPr>
          <p:cNvPr id="4" name="Shape 2"/>
          <p:cNvSpPr/>
          <p:nvPr/>
        </p:nvSpPr>
        <p:spPr>
          <a:xfrm>
            <a:off x="457200" y="1207008"/>
            <a:ext cx="2157984" cy="3246120"/>
          </a:xfrm>
          <a:prstGeom prst="roundRect">
            <a:avLst>
              <a:gd name="adj" fmla="val 3814"/>
            </a:avLst>
          </a:prstGeom>
          <a:solidFill>
            <a:srgbClr val="E8F1FA"/>
          </a:solidFill>
          <a:ln w="15875">
            <a:solidFill>
              <a:srgbClr val="1D6FB8"/>
            </a:solidFill>
            <a:prstDash val="solid"/>
          </a:ln>
        </p:spPr>
      </p:sp>
      <p:sp>
        <p:nvSpPr>
          <p:cNvPr id="5" name="Shape 3"/>
          <p:cNvSpPr/>
          <p:nvPr/>
        </p:nvSpPr>
        <p:spPr>
          <a:xfrm>
            <a:off x="457200" y="1207008"/>
            <a:ext cx="2157984" cy="402336"/>
          </a:xfrm>
          <a:prstGeom prst="rect">
            <a:avLst/>
          </a:prstGeom>
          <a:solidFill>
            <a:srgbClr val="1D6FB8"/>
          </a:solidFill>
          <a:ln/>
        </p:spPr>
      </p:sp>
      <p:sp>
        <p:nvSpPr>
          <p:cNvPr id="6" name="Text 4"/>
          <p:cNvSpPr/>
          <p:nvPr/>
        </p:nvSpPr>
        <p:spPr>
          <a:xfrm>
            <a:off x="457200" y="1207008"/>
            <a:ext cx="2157984" cy="402336"/>
          </a:xfrm>
          <a:prstGeom prst="rect">
            <a:avLst/>
          </a:prstGeom>
          <a:noFill/>
          <a:ln/>
        </p:spPr>
        <p:txBody>
          <a:bodyPr wrap="square" lIns="0" tIns="0" rIns="0" bIns="0" rtlCol="0" anchor="ctr"/>
          <a:lstStyle/>
          <a:p>
            <a:pPr algn="ctr" indent="0" marL="0">
              <a:buNone/>
            </a:pPr>
            <a:r>
              <a:rPr lang="en-US" sz="1100" b="1" spc="80" kern="0" dirty="0">
                <a:solidFill>
                  <a:srgbClr val="FFFFFF"/>
                </a:solidFill>
                <a:latin typeface="Calibri" pitchFamily="34" charset="0"/>
                <a:ea typeface="Calibri" pitchFamily="34" charset="-122"/>
                <a:cs typeface="Calibri" pitchFamily="34" charset="-120"/>
              </a:rPr>
              <a:t>THE RULER</a:t>
            </a:r>
            <a:endParaRPr lang="en-US" sz="1100" dirty="0"/>
          </a:p>
        </p:txBody>
      </p:sp>
      <p:sp>
        <p:nvSpPr>
          <p:cNvPr id="7" name="Text 5"/>
          <p:cNvSpPr/>
          <p:nvPr/>
        </p:nvSpPr>
        <p:spPr>
          <a:xfrm>
            <a:off x="548640" y="1682496"/>
            <a:ext cx="1975104" cy="256032"/>
          </a:xfrm>
          <a:prstGeom prst="rect">
            <a:avLst/>
          </a:prstGeom>
          <a:noFill/>
          <a:ln/>
        </p:spPr>
        <p:txBody>
          <a:bodyPr wrap="square" lIns="0" tIns="0" rIns="0" bIns="0" rtlCol="0" anchor="ctr"/>
          <a:lstStyle/>
          <a:p>
            <a:pPr algn="ctr" indent="0" marL="0">
              <a:buNone/>
            </a:pPr>
            <a:r>
              <a:rPr lang="en-US" sz="1000" b="1" i="1" dirty="0">
                <a:solidFill>
                  <a:srgbClr val="1D6FB8"/>
                </a:solidFill>
                <a:latin typeface="Calibri" pitchFamily="34" charset="0"/>
                <a:ea typeface="Calibri" pitchFamily="34" charset="-122"/>
                <a:cs typeface="Calibri" pitchFamily="34" charset="-120"/>
              </a:rPr>
              <a:t>Measures the CAD file</a:t>
            </a:r>
            <a:endParaRPr lang="en-US" sz="1000" dirty="0"/>
          </a:p>
        </p:txBody>
      </p:sp>
      <p:sp>
        <p:nvSpPr>
          <p:cNvPr id="8" name="Text 6"/>
          <p:cNvSpPr/>
          <p:nvPr/>
        </p:nvSpPr>
        <p:spPr>
          <a:xfrm>
            <a:off x="585216" y="2011680"/>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Volume, weight, walls</a:t>
            </a:r>
            <a:endParaRPr lang="en-US" sz="950" dirty="0"/>
          </a:p>
        </p:txBody>
      </p:sp>
      <p:sp>
        <p:nvSpPr>
          <p:cNvPr id="9" name="Text 7"/>
          <p:cNvSpPr/>
          <p:nvPr/>
        </p:nvSpPr>
        <p:spPr>
          <a:xfrm>
            <a:off x="585216" y="2414016"/>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Bores, holes, faces</a:t>
            </a:r>
            <a:endParaRPr lang="en-US" sz="950" dirty="0"/>
          </a:p>
        </p:txBody>
      </p:sp>
      <p:sp>
        <p:nvSpPr>
          <p:cNvPr id="10" name="Text 8"/>
          <p:cNvSpPr/>
          <p:nvPr/>
        </p:nvSpPr>
        <p:spPr>
          <a:xfrm>
            <a:off x="585216" y="2816352"/>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Hollow-vs-solid check</a:t>
            </a:r>
            <a:endParaRPr lang="en-US" sz="950" dirty="0"/>
          </a:p>
        </p:txBody>
      </p:sp>
      <p:sp>
        <p:nvSpPr>
          <p:cNvPr id="11" name="Shape 9"/>
          <p:cNvSpPr/>
          <p:nvPr/>
        </p:nvSpPr>
        <p:spPr>
          <a:xfrm>
            <a:off x="566928" y="3950208"/>
            <a:ext cx="1938528" cy="402336"/>
          </a:xfrm>
          <a:prstGeom prst="roundRect">
            <a:avLst>
              <a:gd name="adj" fmla="val 18182"/>
            </a:avLst>
          </a:prstGeom>
          <a:solidFill>
            <a:srgbClr val="FFFFFF"/>
          </a:solidFill>
          <a:ln w="9525">
            <a:solidFill>
              <a:srgbClr val="1D6FB8"/>
            </a:solidFill>
            <a:prstDash val="solid"/>
          </a:ln>
        </p:spPr>
      </p:sp>
      <p:sp>
        <p:nvSpPr>
          <p:cNvPr id="12" name="Text 10"/>
          <p:cNvSpPr/>
          <p:nvPr/>
        </p:nvSpPr>
        <p:spPr>
          <a:xfrm>
            <a:off x="585216" y="3950208"/>
            <a:ext cx="1901952" cy="402336"/>
          </a:xfrm>
          <a:prstGeom prst="rect">
            <a:avLst/>
          </a:prstGeom>
          <a:noFill/>
          <a:ln/>
        </p:spPr>
        <p:txBody>
          <a:bodyPr wrap="square" lIns="0" tIns="0" rIns="0" bIns="0" rtlCol="0" anchor="ctr"/>
          <a:lstStyle/>
          <a:p>
            <a:pPr algn="ctr" indent="0" marL="0">
              <a:buNone/>
            </a:pPr>
            <a:r>
              <a:rPr lang="en-US" sz="880" b="1" dirty="0">
                <a:solidFill>
                  <a:srgbClr val="1D6FB8"/>
                </a:solidFill>
                <a:latin typeface="Calibri" pitchFamily="34" charset="0"/>
                <a:ea typeface="Calibri" pitchFamily="34" charset="-122"/>
                <a:cs typeface="Calibri" pitchFamily="34" charset="-120"/>
              </a:rPr>
              <a:t>Same answer every time</a:t>
            </a:r>
            <a:endParaRPr lang="en-US" sz="880" dirty="0"/>
          </a:p>
        </p:txBody>
      </p:sp>
      <p:sp>
        <p:nvSpPr>
          <p:cNvPr id="13" name="Shape 11"/>
          <p:cNvSpPr/>
          <p:nvPr/>
        </p:nvSpPr>
        <p:spPr>
          <a:xfrm>
            <a:off x="2715768" y="1207008"/>
            <a:ext cx="2157984" cy="3246120"/>
          </a:xfrm>
          <a:prstGeom prst="roundRect">
            <a:avLst>
              <a:gd name="adj" fmla="val 3814"/>
            </a:avLst>
          </a:prstGeom>
          <a:solidFill>
            <a:srgbClr val="F1EBF8"/>
          </a:solidFill>
          <a:ln w="15875">
            <a:solidFill>
              <a:srgbClr val="6B3FA0"/>
            </a:solidFill>
            <a:prstDash val="solid"/>
          </a:ln>
        </p:spPr>
      </p:sp>
      <p:sp>
        <p:nvSpPr>
          <p:cNvPr id="14" name="Shape 12"/>
          <p:cNvSpPr/>
          <p:nvPr/>
        </p:nvSpPr>
        <p:spPr>
          <a:xfrm>
            <a:off x="2715768" y="1207008"/>
            <a:ext cx="2157984" cy="402336"/>
          </a:xfrm>
          <a:prstGeom prst="rect">
            <a:avLst/>
          </a:prstGeom>
          <a:solidFill>
            <a:srgbClr val="6B3FA0"/>
          </a:solidFill>
          <a:ln/>
        </p:spPr>
      </p:sp>
      <p:sp>
        <p:nvSpPr>
          <p:cNvPr id="15" name="Text 13"/>
          <p:cNvSpPr/>
          <p:nvPr/>
        </p:nvSpPr>
        <p:spPr>
          <a:xfrm>
            <a:off x="2715768" y="1207008"/>
            <a:ext cx="2157984" cy="402336"/>
          </a:xfrm>
          <a:prstGeom prst="rect">
            <a:avLst/>
          </a:prstGeom>
          <a:noFill/>
          <a:ln/>
        </p:spPr>
        <p:txBody>
          <a:bodyPr wrap="square" lIns="0" tIns="0" rIns="0" bIns="0" rtlCol="0" anchor="ctr"/>
          <a:lstStyle/>
          <a:p>
            <a:pPr algn="ctr" indent="0" marL="0">
              <a:buNone/>
            </a:pPr>
            <a:r>
              <a:rPr lang="en-US" sz="1100" b="1" spc="80" kern="0" dirty="0">
                <a:solidFill>
                  <a:srgbClr val="FFFFFF"/>
                </a:solidFill>
                <a:latin typeface="Calibri" pitchFamily="34" charset="0"/>
                <a:ea typeface="Calibri" pitchFamily="34" charset="-122"/>
                <a:cs typeface="Calibri" pitchFamily="34" charset="-120"/>
              </a:rPr>
              <a:t>THE AI</a:t>
            </a:r>
            <a:endParaRPr lang="en-US" sz="1100" dirty="0"/>
          </a:p>
        </p:txBody>
      </p:sp>
      <p:sp>
        <p:nvSpPr>
          <p:cNvPr id="16" name="Text 14"/>
          <p:cNvSpPr/>
          <p:nvPr/>
        </p:nvSpPr>
        <p:spPr>
          <a:xfrm>
            <a:off x="2807208" y="1682496"/>
            <a:ext cx="1975104" cy="256032"/>
          </a:xfrm>
          <a:prstGeom prst="rect">
            <a:avLst/>
          </a:prstGeom>
          <a:noFill/>
          <a:ln/>
        </p:spPr>
        <p:txBody>
          <a:bodyPr wrap="square" lIns="0" tIns="0" rIns="0" bIns="0" rtlCol="0" anchor="ctr"/>
          <a:lstStyle/>
          <a:p>
            <a:pPr algn="ctr" indent="0" marL="0">
              <a:buNone/>
            </a:pPr>
            <a:r>
              <a:rPr lang="en-US" sz="1000" b="1" i="1" dirty="0">
                <a:solidFill>
                  <a:srgbClr val="6B3FA0"/>
                </a:solidFill>
                <a:latin typeface="Calibri" pitchFamily="34" charset="0"/>
                <a:ea typeface="Calibri" pitchFamily="34" charset="-122"/>
                <a:cs typeface="Calibri" pitchFamily="34" charset="-120"/>
              </a:rPr>
              <a:t>Off at JLR · optional</a:t>
            </a:r>
            <a:endParaRPr lang="en-US" sz="1000" dirty="0"/>
          </a:p>
        </p:txBody>
      </p:sp>
      <p:sp>
        <p:nvSpPr>
          <p:cNvPr id="17" name="Text 15"/>
          <p:cNvSpPr/>
          <p:nvPr/>
        </p:nvSpPr>
        <p:spPr>
          <a:xfrm>
            <a:off x="2843784" y="2011680"/>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Could suggest the alloy</a:t>
            </a:r>
            <a:endParaRPr lang="en-US" sz="950" dirty="0"/>
          </a:p>
        </p:txBody>
      </p:sp>
      <p:sp>
        <p:nvSpPr>
          <p:cNvPr id="18" name="Text 16"/>
          <p:cNvSpPr/>
          <p:nvPr/>
        </p:nvSpPr>
        <p:spPr>
          <a:xfrm>
            <a:off x="2843784" y="2414016"/>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Could suggest the route</a:t>
            </a:r>
            <a:endParaRPr lang="en-US" sz="950" dirty="0"/>
          </a:p>
        </p:txBody>
      </p:sp>
      <p:sp>
        <p:nvSpPr>
          <p:cNvPr id="19" name="Text 17"/>
          <p:cNvSpPr/>
          <p:nvPr/>
        </p:nvSpPr>
        <p:spPr>
          <a:xfrm>
            <a:off x="2843784" y="2816352"/>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Never sets a price</a:t>
            </a:r>
            <a:endParaRPr lang="en-US" sz="950" dirty="0"/>
          </a:p>
        </p:txBody>
      </p:sp>
      <p:sp>
        <p:nvSpPr>
          <p:cNvPr id="20" name="Shape 18"/>
          <p:cNvSpPr/>
          <p:nvPr/>
        </p:nvSpPr>
        <p:spPr>
          <a:xfrm>
            <a:off x="2825496" y="3950208"/>
            <a:ext cx="1938528" cy="402336"/>
          </a:xfrm>
          <a:prstGeom prst="roundRect">
            <a:avLst>
              <a:gd name="adj" fmla="val 18182"/>
            </a:avLst>
          </a:prstGeom>
          <a:solidFill>
            <a:srgbClr val="FFFFFF"/>
          </a:solidFill>
          <a:ln w="9525">
            <a:solidFill>
              <a:srgbClr val="6B3FA0"/>
            </a:solidFill>
            <a:prstDash val="solid"/>
          </a:ln>
        </p:spPr>
      </p:sp>
      <p:sp>
        <p:nvSpPr>
          <p:cNvPr id="21" name="Text 19"/>
          <p:cNvSpPr/>
          <p:nvPr/>
        </p:nvSpPr>
        <p:spPr>
          <a:xfrm>
            <a:off x="2843784" y="3950208"/>
            <a:ext cx="1901952" cy="402336"/>
          </a:xfrm>
          <a:prstGeom prst="rect">
            <a:avLst/>
          </a:prstGeom>
          <a:noFill/>
          <a:ln/>
        </p:spPr>
        <p:txBody>
          <a:bodyPr wrap="square" lIns="0" tIns="0" rIns="0" bIns="0" rtlCol="0" anchor="ctr"/>
          <a:lstStyle/>
          <a:p>
            <a:pPr algn="ctr" indent="0" marL="0">
              <a:buNone/>
            </a:pPr>
            <a:r>
              <a:rPr lang="en-US" sz="880" b="1" dirty="0">
                <a:solidFill>
                  <a:srgbClr val="6B3FA0"/>
                </a:solidFill>
                <a:latin typeface="Calibri" pitchFamily="34" charset="0"/>
                <a:ea typeface="Calibri" pitchFamily="34" charset="-122"/>
                <a:cs typeface="Calibri" pitchFamily="34" charset="-120"/>
              </a:rPr>
              <a:t>Words only. Never money.</a:t>
            </a:r>
            <a:endParaRPr lang="en-US" sz="880" dirty="0"/>
          </a:p>
        </p:txBody>
      </p:sp>
      <p:sp>
        <p:nvSpPr>
          <p:cNvPr id="22" name="Shape 20"/>
          <p:cNvSpPr/>
          <p:nvPr/>
        </p:nvSpPr>
        <p:spPr>
          <a:xfrm>
            <a:off x="4974336" y="1207008"/>
            <a:ext cx="2157984" cy="3246120"/>
          </a:xfrm>
          <a:prstGeom prst="roundRect">
            <a:avLst>
              <a:gd name="adj" fmla="val 3814"/>
            </a:avLst>
          </a:prstGeom>
          <a:solidFill>
            <a:srgbClr val="FCF3E3"/>
          </a:solidFill>
          <a:ln w="15875">
            <a:solidFill>
              <a:srgbClr val="99651A"/>
            </a:solidFill>
            <a:prstDash val="solid"/>
          </a:ln>
        </p:spPr>
      </p:sp>
      <p:sp>
        <p:nvSpPr>
          <p:cNvPr id="23" name="Shape 21"/>
          <p:cNvSpPr/>
          <p:nvPr/>
        </p:nvSpPr>
        <p:spPr>
          <a:xfrm>
            <a:off x="4974336" y="1207008"/>
            <a:ext cx="2157984" cy="402336"/>
          </a:xfrm>
          <a:prstGeom prst="rect">
            <a:avLst/>
          </a:prstGeom>
          <a:solidFill>
            <a:srgbClr val="99651A"/>
          </a:solidFill>
          <a:ln/>
        </p:spPr>
      </p:sp>
      <p:sp>
        <p:nvSpPr>
          <p:cNvPr id="24" name="Text 22"/>
          <p:cNvSpPr/>
          <p:nvPr/>
        </p:nvSpPr>
        <p:spPr>
          <a:xfrm>
            <a:off x="4974336" y="1207008"/>
            <a:ext cx="2157984" cy="402336"/>
          </a:xfrm>
          <a:prstGeom prst="rect">
            <a:avLst/>
          </a:prstGeom>
          <a:noFill/>
          <a:ln/>
        </p:spPr>
        <p:txBody>
          <a:bodyPr wrap="square" lIns="0" tIns="0" rIns="0" bIns="0" rtlCol="0" anchor="ctr"/>
          <a:lstStyle/>
          <a:p>
            <a:pPr algn="ctr" indent="0" marL="0">
              <a:buNone/>
            </a:pPr>
            <a:r>
              <a:rPr lang="en-US" sz="1100" b="1" spc="80" kern="0" dirty="0">
                <a:solidFill>
                  <a:srgbClr val="FFFFFF"/>
                </a:solidFill>
                <a:latin typeface="Calibri" pitchFamily="34" charset="0"/>
                <a:ea typeface="Calibri" pitchFamily="34" charset="-122"/>
                <a:cs typeface="Calibri" pitchFamily="34" charset="-120"/>
              </a:rPr>
              <a:t>THE GUARDS</a:t>
            </a:r>
            <a:endParaRPr lang="en-US" sz="1100" dirty="0"/>
          </a:p>
        </p:txBody>
      </p:sp>
      <p:sp>
        <p:nvSpPr>
          <p:cNvPr id="25" name="Text 23"/>
          <p:cNvSpPr/>
          <p:nvPr/>
        </p:nvSpPr>
        <p:spPr>
          <a:xfrm>
            <a:off x="5065776" y="1682496"/>
            <a:ext cx="1975104" cy="256032"/>
          </a:xfrm>
          <a:prstGeom prst="rect">
            <a:avLst/>
          </a:prstGeom>
          <a:noFill/>
          <a:ln/>
        </p:spPr>
        <p:txBody>
          <a:bodyPr wrap="square" lIns="0" tIns="0" rIns="0" bIns="0" rtlCol="0" anchor="ctr"/>
          <a:lstStyle/>
          <a:p>
            <a:pPr algn="ctr" indent="0" marL="0">
              <a:buNone/>
            </a:pPr>
            <a:r>
              <a:rPr lang="en-US" sz="1000" b="1" i="1" dirty="0">
                <a:solidFill>
                  <a:srgbClr val="99651A"/>
                </a:solidFill>
                <a:latin typeface="Calibri" pitchFamily="34" charset="0"/>
                <a:ea typeface="Calibri" pitchFamily="34" charset="-122"/>
                <a:cs typeface="Calibri" pitchFamily="34" charset="-120"/>
              </a:rPr>
              <a:t>Check and autocorrect</a:t>
            </a:r>
            <a:endParaRPr lang="en-US" sz="1000" dirty="0"/>
          </a:p>
        </p:txBody>
      </p:sp>
      <p:sp>
        <p:nvSpPr>
          <p:cNvPr id="26" name="Text 24"/>
          <p:cNvSpPr/>
          <p:nvPr/>
        </p:nvSpPr>
        <p:spPr>
          <a:xfrm>
            <a:off x="5102352" y="2011680"/>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Pour weight, not part weight</a:t>
            </a:r>
            <a:endParaRPr lang="en-US" sz="950" dirty="0"/>
          </a:p>
        </p:txBody>
      </p:sp>
      <p:sp>
        <p:nvSpPr>
          <p:cNvPr id="27" name="Text 25"/>
          <p:cNvSpPr/>
          <p:nvPr/>
        </p:nvSpPr>
        <p:spPr>
          <a:xfrm>
            <a:off x="5102352" y="2414016"/>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Machining = finishing</a:t>
            </a:r>
            <a:endParaRPr lang="en-US" sz="950" dirty="0"/>
          </a:p>
        </p:txBody>
      </p:sp>
      <p:sp>
        <p:nvSpPr>
          <p:cNvPr id="28" name="Text 26"/>
          <p:cNvSpPr/>
          <p:nvPr/>
        </p:nvSpPr>
        <p:spPr>
          <a:xfrm>
            <a:off x="5102352" y="2816352"/>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Right alloy, right press</a:t>
            </a:r>
            <a:endParaRPr lang="en-US" sz="950" dirty="0"/>
          </a:p>
        </p:txBody>
      </p:sp>
      <p:sp>
        <p:nvSpPr>
          <p:cNvPr id="29" name="Shape 27"/>
          <p:cNvSpPr/>
          <p:nvPr/>
        </p:nvSpPr>
        <p:spPr>
          <a:xfrm>
            <a:off x="5084064" y="3950208"/>
            <a:ext cx="1938528" cy="402336"/>
          </a:xfrm>
          <a:prstGeom prst="roundRect">
            <a:avLst>
              <a:gd name="adj" fmla="val 18182"/>
            </a:avLst>
          </a:prstGeom>
          <a:solidFill>
            <a:srgbClr val="FFFFFF"/>
          </a:solidFill>
          <a:ln w="9525">
            <a:solidFill>
              <a:srgbClr val="99651A"/>
            </a:solidFill>
            <a:prstDash val="solid"/>
          </a:ln>
        </p:spPr>
      </p:sp>
      <p:sp>
        <p:nvSpPr>
          <p:cNvPr id="30" name="Text 28"/>
          <p:cNvSpPr/>
          <p:nvPr/>
        </p:nvSpPr>
        <p:spPr>
          <a:xfrm>
            <a:off x="5102352" y="3950208"/>
            <a:ext cx="1901952" cy="402336"/>
          </a:xfrm>
          <a:prstGeom prst="rect">
            <a:avLst/>
          </a:prstGeom>
          <a:noFill/>
          <a:ln/>
        </p:spPr>
        <p:txBody>
          <a:bodyPr wrap="square" lIns="0" tIns="0" rIns="0" bIns="0" rtlCol="0" anchor="ctr"/>
          <a:lstStyle/>
          <a:p>
            <a:pPr algn="ctr" indent="0" marL="0">
              <a:buNone/>
            </a:pPr>
            <a:r>
              <a:rPr lang="en-US" sz="880" b="1" dirty="0">
                <a:solidFill>
                  <a:srgbClr val="99651A"/>
                </a:solidFill>
                <a:latin typeface="Calibri" pitchFamily="34" charset="0"/>
                <a:ea typeface="Calibri" pitchFamily="34" charset="-122"/>
                <a:cs typeface="Calibri" pitchFamily="34" charset="-120"/>
              </a:rPr>
              <a:t>Measurements always win</a:t>
            </a:r>
            <a:endParaRPr lang="en-US" sz="880" dirty="0"/>
          </a:p>
        </p:txBody>
      </p:sp>
      <p:sp>
        <p:nvSpPr>
          <p:cNvPr id="31" name="Shape 29"/>
          <p:cNvSpPr/>
          <p:nvPr/>
        </p:nvSpPr>
        <p:spPr>
          <a:xfrm>
            <a:off x="7232904" y="1207008"/>
            <a:ext cx="2157984" cy="3246120"/>
          </a:xfrm>
          <a:prstGeom prst="roundRect">
            <a:avLst>
              <a:gd name="adj" fmla="val 3814"/>
            </a:avLst>
          </a:prstGeom>
          <a:solidFill>
            <a:srgbClr val="E6F4F1"/>
          </a:solidFill>
          <a:ln w="15875">
            <a:solidFill>
              <a:srgbClr val="0D7D71"/>
            </a:solidFill>
            <a:prstDash val="solid"/>
          </a:ln>
        </p:spPr>
      </p:sp>
      <p:sp>
        <p:nvSpPr>
          <p:cNvPr id="32" name="Shape 30"/>
          <p:cNvSpPr/>
          <p:nvPr/>
        </p:nvSpPr>
        <p:spPr>
          <a:xfrm>
            <a:off x="7232904" y="1207008"/>
            <a:ext cx="2157984" cy="402336"/>
          </a:xfrm>
          <a:prstGeom prst="rect">
            <a:avLst/>
          </a:prstGeom>
          <a:solidFill>
            <a:srgbClr val="0D7D71"/>
          </a:solidFill>
          <a:ln/>
        </p:spPr>
      </p:sp>
      <p:sp>
        <p:nvSpPr>
          <p:cNvPr id="33" name="Text 31"/>
          <p:cNvSpPr/>
          <p:nvPr/>
        </p:nvSpPr>
        <p:spPr>
          <a:xfrm>
            <a:off x="7232904" y="1207008"/>
            <a:ext cx="2157984" cy="402336"/>
          </a:xfrm>
          <a:prstGeom prst="rect">
            <a:avLst/>
          </a:prstGeom>
          <a:noFill/>
          <a:ln/>
        </p:spPr>
        <p:txBody>
          <a:bodyPr wrap="square" lIns="0" tIns="0" rIns="0" bIns="0" rtlCol="0" anchor="ctr"/>
          <a:lstStyle/>
          <a:p>
            <a:pPr algn="ctr" indent="0" marL="0">
              <a:buNone/>
            </a:pPr>
            <a:r>
              <a:rPr lang="en-US" sz="1100" b="1" spc="80" kern="0" dirty="0">
                <a:solidFill>
                  <a:srgbClr val="FFFFFF"/>
                </a:solidFill>
                <a:latin typeface="Calibri" pitchFamily="34" charset="0"/>
                <a:ea typeface="Calibri" pitchFamily="34" charset="-122"/>
                <a:cs typeface="Calibri" pitchFamily="34" charset="-120"/>
              </a:rPr>
              <a:t>THE ENGINE</a:t>
            </a:r>
            <a:endParaRPr lang="en-US" sz="1100" dirty="0"/>
          </a:p>
        </p:txBody>
      </p:sp>
      <p:sp>
        <p:nvSpPr>
          <p:cNvPr id="34" name="Text 32"/>
          <p:cNvSpPr/>
          <p:nvPr/>
        </p:nvSpPr>
        <p:spPr>
          <a:xfrm>
            <a:off x="7324344" y="1682496"/>
            <a:ext cx="1975104" cy="256032"/>
          </a:xfrm>
          <a:prstGeom prst="rect">
            <a:avLst/>
          </a:prstGeom>
          <a:noFill/>
          <a:ln/>
        </p:spPr>
        <p:txBody>
          <a:bodyPr wrap="square" lIns="0" tIns="0" rIns="0" bIns="0" rtlCol="0" anchor="ctr"/>
          <a:lstStyle/>
          <a:p>
            <a:pPr algn="ctr" indent="0" marL="0">
              <a:buNone/>
            </a:pPr>
            <a:r>
              <a:rPr lang="en-US" sz="1000" b="1" i="1" dirty="0">
                <a:solidFill>
                  <a:srgbClr val="0D7D71"/>
                </a:solidFill>
                <a:latin typeface="Calibri" pitchFamily="34" charset="0"/>
                <a:ea typeface="Calibri" pitchFamily="34" charset="-122"/>
                <a:cs typeface="Calibri" pitchFamily="34" charset="-120"/>
              </a:rPr>
              <a:t>Does every calculation</a:t>
            </a:r>
            <a:endParaRPr lang="en-US" sz="1000" dirty="0"/>
          </a:p>
        </p:txBody>
      </p:sp>
      <p:sp>
        <p:nvSpPr>
          <p:cNvPr id="35" name="Text 33"/>
          <p:cNvSpPr/>
          <p:nvPr/>
        </p:nvSpPr>
        <p:spPr>
          <a:xfrm>
            <a:off x="7360920" y="2011680"/>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Sizes the machine</a:t>
            </a:r>
            <a:endParaRPr lang="en-US" sz="950" dirty="0"/>
          </a:p>
        </p:txBody>
      </p:sp>
      <p:sp>
        <p:nvSpPr>
          <p:cNvPr id="36" name="Text 34"/>
          <p:cNvSpPr/>
          <p:nvPr/>
        </p:nvSpPr>
        <p:spPr>
          <a:xfrm>
            <a:off x="7360920" y="2414016"/>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Builds each cycle time</a:t>
            </a:r>
            <a:endParaRPr lang="en-US" sz="950" dirty="0"/>
          </a:p>
        </p:txBody>
      </p:sp>
      <p:sp>
        <p:nvSpPr>
          <p:cNvPr id="37" name="Text 35"/>
          <p:cNvSpPr/>
          <p:nvPr/>
        </p:nvSpPr>
        <p:spPr>
          <a:xfrm>
            <a:off x="7360920" y="2816352"/>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8 buckets, 20 countries</a:t>
            </a:r>
            <a:endParaRPr lang="en-US" sz="950" dirty="0"/>
          </a:p>
        </p:txBody>
      </p:sp>
      <p:sp>
        <p:nvSpPr>
          <p:cNvPr id="38" name="Shape 36"/>
          <p:cNvSpPr/>
          <p:nvPr/>
        </p:nvSpPr>
        <p:spPr>
          <a:xfrm>
            <a:off x="7342632" y="3950208"/>
            <a:ext cx="1938528" cy="402336"/>
          </a:xfrm>
          <a:prstGeom prst="roundRect">
            <a:avLst>
              <a:gd name="adj" fmla="val 18182"/>
            </a:avLst>
          </a:prstGeom>
          <a:solidFill>
            <a:srgbClr val="FFFFFF"/>
          </a:solidFill>
          <a:ln w="9525">
            <a:solidFill>
              <a:srgbClr val="0D7D71"/>
            </a:solidFill>
            <a:prstDash val="solid"/>
          </a:ln>
        </p:spPr>
      </p:sp>
      <p:sp>
        <p:nvSpPr>
          <p:cNvPr id="39" name="Text 37"/>
          <p:cNvSpPr/>
          <p:nvPr/>
        </p:nvSpPr>
        <p:spPr>
          <a:xfrm>
            <a:off x="7360920" y="3950208"/>
            <a:ext cx="1901952" cy="402336"/>
          </a:xfrm>
          <a:prstGeom prst="rect">
            <a:avLst/>
          </a:prstGeom>
          <a:noFill/>
          <a:ln/>
        </p:spPr>
        <p:txBody>
          <a:bodyPr wrap="square" lIns="0" tIns="0" rIns="0" bIns="0" rtlCol="0" anchor="ctr"/>
          <a:lstStyle/>
          <a:p>
            <a:pPr algn="ctr" indent="0" marL="0">
              <a:buNone/>
            </a:pPr>
            <a:r>
              <a:rPr lang="en-US" sz="880" b="1" dirty="0">
                <a:solidFill>
                  <a:srgbClr val="0D7D71"/>
                </a:solidFill>
                <a:latin typeface="Calibri" pitchFamily="34" charset="0"/>
                <a:ea typeface="Calibri" pitchFamily="34" charset="-122"/>
                <a:cs typeface="Calibri" pitchFamily="34" charset="-120"/>
              </a:rPr>
              <a:t>Fixed formulas, traceable</a:t>
            </a:r>
            <a:endParaRPr lang="en-US" sz="880" dirty="0"/>
          </a:p>
        </p:txBody>
      </p:sp>
      <p:sp>
        <p:nvSpPr>
          <p:cNvPr id="40" name="Shape 38"/>
          <p:cNvSpPr/>
          <p:nvPr/>
        </p:nvSpPr>
        <p:spPr>
          <a:xfrm>
            <a:off x="9491472" y="1207008"/>
            <a:ext cx="2157984" cy="3246120"/>
          </a:xfrm>
          <a:prstGeom prst="roundRect">
            <a:avLst>
              <a:gd name="adj" fmla="val 3814"/>
            </a:avLst>
          </a:prstGeom>
          <a:solidFill>
            <a:srgbClr val="EAF6EF"/>
          </a:solidFill>
          <a:ln w="15875">
            <a:solidFill>
              <a:srgbClr val="2A7F50"/>
            </a:solidFill>
            <a:prstDash val="solid"/>
          </a:ln>
        </p:spPr>
      </p:sp>
      <p:sp>
        <p:nvSpPr>
          <p:cNvPr id="41" name="Shape 39"/>
          <p:cNvSpPr/>
          <p:nvPr/>
        </p:nvSpPr>
        <p:spPr>
          <a:xfrm>
            <a:off x="9491472" y="1207008"/>
            <a:ext cx="2157984" cy="402336"/>
          </a:xfrm>
          <a:prstGeom prst="rect">
            <a:avLst/>
          </a:prstGeom>
          <a:solidFill>
            <a:srgbClr val="2A7F50"/>
          </a:solidFill>
          <a:ln/>
        </p:spPr>
      </p:sp>
      <p:sp>
        <p:nvSpPr>
          <p:cNvPr id="42" name="Text 40"/>
          <p:cNvSpPr/>
          <p:nvPr/>
        </p:nvSpPr>
        <p:spPr>
          <a:xfrm>
            <a:off x="9491472" y="1207008"/>
            <a:ext cx="2157984" cy="402336"/>
          </a:xfrm>
          <a:prstGeom prst="rect">
            <a:avLst/>
          </a:prstGeom>
          <a:noFill/>
          <a:ln/>
        </p:spPr>
        <p:txBody>
          <a:bodyPr wrap="square" lIns="0" tIns="0" rIns="0" bIns="0" rtlCol="0" anchor="ctr"/>
          <a:lstStyle/>
          <a:p>
            <a:pPr algn="ctr" indent="0" marL="0">
              <a:buNone/>
            </a:pPr>
            <a:r>
              <a:rPr lang="en-US" sz="1100" b="1" spc="80" kern="0" dirty="0">
                <a:solidFill>
                  <a:srgbClr val="FFFFFF"/>
                </a:solidFill>
                <a:latin typeface="Calibri" pitchFamily="34" charset="0"/>
                <a:ea typeface="Calibri" pitchFamily="34" charset="-122"/>
                <a:cs typeface="Calibri" pitchFamily="34" charset="-120"/>
              </a:rPr>
              <a:t>THE ENGINEER</a:t>
            </a:r>
            <a:endParaRPr lang="en-US" sz="1100" dirty="0"/>
          </a:p>
        </p:txBody>
      </p:sp>
      <p:sp>
        <p:nvSpPr>
          <p:cNvPr id="43" name="Text 41"/>
          <p:cNvSpPr/>
          <p:nvPr/>
        </p:nvSpPr>
        <p:spPr>
          <a:xfrm>
            <a:off x="9582912" y="1682496"/>
            <a:ext cx="1975104" cy="256032"/>
          </a:xfrm>
          <a:prstGeom prst="rect">
            <a:avLst/>
          </a:prstGeom>
          <a:noFill/>
          <a:ln/>
        </p:spPr>
        <p:txBody>
          <a:bodyPr wrap="square" lIns="0" tIns="0" rIns="0" bIns="0" rtlCol="0" anchor="ctr"/>
          <a:lstStyle/>
          <a:p>
            <a:pPr algn="ctr" indent="0" marL="0">
              <a:buNone/>
            </a:pPr>
            <a:r>
              <a:rPr lang="en-US" sz="1000" b="1" i="1" dirty="0">
                <a:solidFill>
                  <a:srgbClr val="2A7F50"/>
                </a:solidFill>
                <a:latin typeface="Calibri" pitchFamily="34" charset="0"/>
                <a:ea typeface="Calibri" pitchFamily="34" charset="-122"/>
                <a:cs typeface="Calibri" pitchFamily="34" charset="-120"/>
              </a:rPr>
              <a:t>Answers and approves</a:t>
            </a:r>
            <a:endParaRPr lang="en-US" sz="1000" dirty="0"/>
          </a:p>
        </p:txBody>
      </p:sp>
      <p:sp>
        <p:nvSpPr>
          <p:cNvPr id="44" name="Text 42"/>
          <p:cNvSpPr/>
          <p:nvPr/>
        </p:nvSpPr>
        <p:spPr>
          <a:xfrm>
            <a:off x="9619488" y="2011680"/>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Sets volume and region</a:t>
            </a:r>
            <a:endParaRPr lang="en-US" sz="950" dirty="0"/>
          </a:p>
        </p:txBody>
      </p:sp>
      <p:sp>
        <p:nvSpPr>
          <p:cNvPr id="45" name="Text 43"/>
          <p:cNvSpPr/>
          <p:nvPr/>
        </p:nvSpPr>
        <p:spPr>
          <a:xfrm>
            <a:off x="9619488" y="2414016"/>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Answers what geometry can’t — their entry always wins</a:t>
            </a:r>
            <a:endParaRPr lang="en-US" sz="950" dirty="0"/>
          </a:p>
        </p:txBody>
      </p:sp>
      <p:sp>
        <p:nvSpPr>
          <p:cNvPr id="46" name="Text 44"/>
          <p:cNvSpPr/>
          <p:nvPr/>
        </p:nvSpPr>
        <p:spPr>
          <a:xfrm>
            <a:off x="9619488" y="2816352"/>
            <a:ext cx="1901952" cy="384048"/>
          </a:xfrm>
          <a:prstGeom prst="rect">
            <a:avLst/>
          </a:prstGeom>
          <a:noFill/>
          <a:ln/>
        </p:spPr>
        <p:txBody>
          <a:bodyPr wrap="square" lIns="0" tIns="0" rIns="0" bIns="0" rtlCol="0" anchor="t"/>
          <a:lstStyle/>
          <a:p>
            <a:pPr indent="0" marL="0">
              <a:buNone/>
            </a:pPr>
            <a:r>
              <a:rPr lang="en-US" sz="950" dirty="0">
                <a:solidFill>
                  <a:srgbClr val="3A4356"/>
                </a:solidFill>
                <a:latin typeface="Calibri" pitchFamily="34" charset="0"/>
                <a:ea typeface="Calibri" pitchFamily="34" charset="-122"/>
                <a:cs typeface="Calibri" pitchFamily="34" charset="-120"/>
              </a:rPr>
              <a:t>• Signs off the number</a:t>
            </a:r>
            <a:endParaRPr lang="en-US" sz="950" dirty="0"/>
          </a:p>
        </p:txBody>
      </p:sp>
      <p:sp>
        <p:nvSpPr>
          <p:cNvPr id="47" name="Shape 45"/>
          <p:cNvSpPr/>
          <p:nvPr/>
        </p:nvSpPr>
        <p:spPr>
          <a:xfrm>
            <a:off x="9601200" y="3950208"/>
            <a:ext cx="1938528" cy="402336"/>
          </a:xfrm>
          <a:prstGeom prst="roundRect">
            <a:avLst>
              <a:gd name="adj" fmla="val 18182"/>
            </a:avLst>
          </a:prstGeom>
          <a:solidFill>
            <a:srgbClr val="FFFFFF"/>
          </a:solidFill>
          <a:ln w="9525">
            <a:solidFill>
              <a:srgbClr val="2A7F50"/>
            </a:solidFill>
            <a:prstDash val="solid"/>
          </a:ln>
        </p:spPr>
      </p:sp>
      <p:sp>
        <p:nvSpPr>
          <p:cNvPr id="48" name="Text 46"/>
          <p:cNvSpPr/>
          <p:nvPr/>
        </p:nvSpPr>
        <p:spPr>
          <a:xfrm>
            <a:off x="9619488" y="3950208"/>
            <a:ext cx="1901952" cy="402336"/>
          </a:xfrm>
          <a:prstGeom prst="rect">
            <a:avLst/>
          </a:prstGeom>
          <a:noFill/>
          <a:ln/>
        </p:spPr>
        <p:txBody>
          <a:bodyPr wrap="square" lIns="0" tIns="0" rIns="0" bIns="0" rtlCol="0" anchor="ctr"/>
          <a:lstStyle/>
          <a:p>
            <a:pPr algn="ctr" indent="0" marL="0">
              <a:buNone/>
            </a:pPr>
            <a:r>
              <a:rPr lang="en-US" sz="880" b="1" dirty="0">
                <a:solidFill>
                  <a:srgbClr val="2A7F50"/>
                </a:solidFill>
                <a:latin typeface="Calibri" pitchFamily="34" charset="0"/>
                <a:ea typeface="Calibri" pitchFamily="34" charset="-122"/>
                <a:cs typeface="Calibri" pitchFamily="34" charset="-120"/>
              </a:rPr>
              <a:t>The final decision</a:t>
            </a:r>
            <a:endParaRPr lang="en-US" sz="880" dirty="0"/>
          </a:p>
        </p:txBody>
      </p:sp>
      <p:sp>
        <p:nvSpPr>
          <p:cNvPr id="49" name="Shape 47"/>
          <p:cNvSpPr/>
          <p:nvPr/>
        </p:nvSpPr>
        <p:spPr>
          <a:xfrm>
            <a:off x="457200" y="4663440"/>
            <a:ext cx="11274552" cy="777240"/>
          </a:xfrm>
          <a:prstGeom prst="roundRect">
            <a:avLst>
              <a:gd name="adj" fmla="val 11765"/>
            </a:avLst>
          </a:prstGeom>
          <a:solidFill>
            <a:srgbClr val="16325C"/>
          </a:solidFill>
          <a:ln/>
        </p:spPr>
      </p:sp>
      <p:sp>
        <p:nvSpPr>
          <p:cNvPr id="50" name="Text 48"/>
          <p:cNvSpPr/>
          <p:nvPr/>
        </p:nvSpPr>
        <p:spPr>
          <a:xfrm>
            <a:off x="457200" y="4663440"/>
            <a:ext cx="11274552"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The tool measures.  The engineer answers.  The engine calculates.  A person approves.</a:t>
            </a:r>
            <a:endParaRPr lang="en-US" sz="1700" dirty="0"/>
          </a:p>
        </p:txBody>
      </p:sp>
      <p:sp>
        <p:nvSpPr>
          <p:cNvPr id="51" name="Shape 49"/>
          <p:cNvSpPr/>
          <p:nvPr/>
        </p:nvSpPr>
        <p:spPr>
          <a:xfrm>
            <a:off x="457200" y="5577840"/>
            <a:ext cx="11274552" cy="713232"/>
          </a:xfrm>
          <a:prstGeom prst="roundRect">
            <a:avLst>
              <a:gd name="adj" fmla="val 12821"/>
            </a:avLst>
          </a:prstGeom>
          <a:solidFill>
            <a:srgbClr val="FFFFFF"/>
          </a:solidFill>
          <a:ln w="12700">
            <a:solidFill>
              <a:srgbClr val="DCE3EE"/>
            </a:solidFill>
            <a:prstDash val="solid"/>
          </a:ln>
        </p:spPr>
      </p:sp>
      <p:sp>
        <p:nvSpPr>
          <p:cNvPr id="52" name="Text 50"/>
          <p:cNvSpPr/>
          <p:nvPr/>
        </p:nvSpPr>
        <p:spPr>
          <a:xfrm>
            <a:off x="731520" y="5669280"/>
            <a:ext cx="10744200" cy="548640"/>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Result on this part:  </a:t>
            </a:r>
            <a:pPr indent="0" marL="0">
              <a:buNone/>
            </a:pPr>
            <a:r>
              <a:rPr lang="en-US" sz="1250" dirty="0">
                <a:solidFill>
                  <a:srgbClr val="3A4356"/>
                </a:solidFill>
                <a:latin typeface="Calibri" pitchFamily="34" charset="0"/>
                <a:ea typeface="Calibri" pitchFamily="34" charset="-122"/>
                <a:cs typeface="Calibri" pitchFamily="34" charset="-120"/>
              </a:rPr>
              <a:t>a defensible £38.55, with a £32–£45 confidence band — and every penny of it traceable to a measurement, an answer or a library rate.</a:t>
            </a:r>
            <a:endParaRPr lang="en-US" sz="1250" dirty="0"/>
          </a:p>
        </p:txBody>
      </p:sp>
      <p:sp>
        <p:nvSpPr>
          <p:cNvPr id="53" name="Text 5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die-cast aluminium housing worked example</a:t>
            </a:r>
            <a:endParaRPr lang="en-US" sz="850" dirty="0"/>
          </a:p>
        </p:txBody>
      </p:sp>
      <p:sp>
        <p:nvSpPr>
          <p:cNvPr id="54" name="Text 5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325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Shape 1"/>
          <p:cNvSpPr/>
          <p:nvPr/>
        </p:nvSpPr>
        <p:spPr>
          <a:xfrm>
            <a:off x="731520" y="548640"/>
            <a:ext cx="502920" cy="502920"/>
          </a:xfrm>
          <a:prstGeom prst="roundRect">
            <a:avLst>
              <a:gd name="adj" fmla="val 22000"/>
            </a:avLst>
          </a:prstGeom>
          <a:solidFill>
            <a:srgbClr val="4F46E5"/>
          </a:solidFill>
          <a:ln/>
        </p:spPr>
      </p:sp>
      <p:sp>
        <p:nvSpPr>
          <p:cNvPr id="4" name="Text 2"/>
          <p:cNvSpPr/>
          <p:nvPr/>
        </p:nvSpPr>
        <p:spPr>
          <a:xfrm>
            <a:off x="731520" y="54864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CV</a:t>
            </a:r>
            <a:endParaRPr lang="en-US" sz="1650" dirty="0"/>
          </a:p>
        </p:txBody>
      </p:sp>
      <p:sp>
        <p:nvSpPr>
          <p:cNvPr id="5" name="Text 3"/>
          <p:cNvSpPr/>
          <p:nvPr/>
        </p:nvSpPr>
        <p:spPr>
          <a:xfrm>
            <a:off x="731520" y="1828800"/>
            <a:ext cx="7315200" cy="292608"/>
          </a:xfrm>
          <a:prstGeom prst="rect">
            <a:avLst/>
          </a:prstGeom>
          <a:noFill/>
          <a:ln/>
        </p:spPr>
        <p:txBody>
          <a:bodyPr wrap="square" lIns="0" tIns="0" rIns="0" bIns="0" rtlCol="0" anchor="ctr"/>
          <a:lstStyle/>
          <a:p>
            <a:pPr indent="0" marL="0">
              <a:buNone/>
            </a:pPr>
            <a:r>
              <a:rPr lang="en-US" sz="1300" b="1" spc="160" kern="0" dirty="0">
                <a:solidFill>
                  <a:srgbClr val="6B3FA0"/>
                </a:solidFill>
                <a:latin typeface="Calibri" pitchFamily="34" charset="0"/>
                <a:ea typeface="Calibri" pitchFamily="34" charset="-122"/>
                <a:cs typeface="Calibri" pitchFamily="34" charset="-120"/>
              </a:rPr>
              <a:t>SECTION THREE</a:t>
            </a:r>
            <a:endParaRPr lang="en-US" sz="1300" dirty="0"/>
          </a:p>
        </p:txBody>
      </p:sp>
      <p:sp>
        <p:nvSpPr>
          <p:cNvPr id="6" name="Text 4"/>
          <p:cNvSpPr/>
          <p:nvPr/>
        </p:nvSpPr>
        <p:spPr>
          <a:xfrm>
            <a:off x="731520" y="2212848"/>
            <a:ext cx="8778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Moulded Bumper Fascia</a:t>
            </a:r>
            <a:endParaRPr lang="en-US" sz="3400" dirty="0"/>
          </a:p>
        </p:txBody>
      </p:sp>
      <p:sp>
        <p:nvSpPr>
          <p:cNvPr id="7" name="Text 5"/>
          <p:cNvSpPr/>
          <p:nvPr/>
        </p:nvSpPr>
        <p:spPr>
          <a:xfrm>
            <a:off x="731520" y="2980944"/>
            <a:ext cx="8778240" cy="310896"/>
          </a:xfrm>
          <a:prstGeom prst="rect">
            <a:avLst/>
          </a:prstGeom>
          <a:noFill/>
          <a:ln/>
        </p:spPr>
        <p:txBody>
          <a:bodyPr wrap="square" lIns="0" tIns="0" rIns="0" bIns="0" rtlCol="0" anchor="ctr"/>
          <a:lstStyle/>
          <a:p>
            <a:pPr indent="0" marL="0">
              <a:buNone/>
            </a:pPr>
            <a:r>
              <a:rPr lang="en-US" sz="1500" dirty="0">
                <a:solidFill>
                  <a:srgbClr val="8FA3CC"/>
                </a:solidFill>
                <a:latin typeface="Calibri" pitchFamily="34" charset="0"/>
                <a:ea typeface="Calibri" pitchFamily="34" charset="-122"/>
                <a:cs typeface="Calibri" pitchFamily="34" charset="-120"/>
              </a:rPr>
              <a:t>The same method, a part that could hardly be more different</a:t>
            </a:r>
            <a:endParaRPr lang="en-US" sz="1500" dirty="0"/>
          </a:p>
        </p:txBody>
      </p:sp>
      <p:sp>
        <p:nvSpPr>
          <p:cNvPr id="8" name="Shape 6"/>
          <p:cNvSpPr/>
          <p:nvPr/>
        </p:nvSpPr>
        <p:spPr>
          <a:xfrm>
            <a:off x="786384" y="3730752"/>
            <a:ext cx="100584" cy="100584"/>
          </a:xfrm>
          <a:prstGeom prst="ellipse">
            <a:avLst/>
          </a:prstGeom>
          <a:solidFill>
            <a:srgbClr val="6B3FA0"/>
          </a:solidFill>
          <a:ln/>
        </p:spPr>
      </p:sp>
      <p:sp>
        <p:nvSpPr>
          <p:cNvPr id="9" name="Text 7"/>
          <p:cNvSpPr/>
          <p:nvPr/>
        </p:nvSpPr>
        <p:spPr>
          <a:xfrm>
            <a:off x="1078992" y="3639312"/>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Same kernel, same questions, same rate library, same eight buckets</a:t>
            </a:r>
            <a:endParaRPr lang="en-US" sz="1200" dirty="0"/>
          </a:p>
        </p:txBody>
      </p:sp>
      <p:sp>
        <p:nvSpPr>
          <p:cNvPr id="10" name="Shape 8"/>
          <p:cNvSpPr/>
          <p:nvPr/>
        </p:nvSpPr>
        <p:spPr>
          <a:xfrm>
            <a:off x="786384" y="4059936"/>
            <a:ext cx="100584" cy="100584"/>
          </a:xfrm>
          <a:prstGeom prst="ellipse">
            <a:avLst/>
          </a:prstGeom>
          <a:solidFill>
            <a:srgbClr val="6B3FA0"/>
          </a:solidFill>
          <a:ln/>
        </p:spPr>
      </p:sp>
      <p:sp>
        <p:nvSpPr>
          <p:cNvPr id="11" name="Text 9"/>
          <p:cNvSpPr/>
          <p:nvPr/>
        </p:nvSpPr>
        <p:spPr>
          <a:xfrm>
            <a:off x="1078992" y="3968496"/>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Cooling calculated from wall thickness — and what half a millimetre is worth</a:t>
            </a:r>
            <a:endParaRPr lang="en-US" sz="1200" dirty="0"/>
          </a:p>
        </p:txBody>
      </p:sp>
      <p:sp>
        <p:nvSpPr>
          <p:cNvPr id="12" name="Shape 10"/>
          <p:cNvSpPr/>
          <p:nvPr/>
        </p:nvSpPr>
        <p:spPr>
          <a:xfrm>
            <a:off x="786384" y="4389120"/>
            <a:ext cx="100584" cy="100584"/>
          </a:xfrm>
          <a:prstGeom prst="ellipse">
            <a:avLst/>
          </a:prstGeom>
          <a:solidFill>
            <a:srgbClr val="6B3FA0"/>
          </a:solidFill>
          <a:ln/>
        </p:spPr>
      </p:sp>
      <p:sp>
        <p:nvSpPr>
          <p:cNvPr id="13" name="Text 11"/>
          <p:cNvSpPr/>
          <p:nvPr/>
        </p:nvSpPr>
        <p:spPr>
          <a:xfrm>
            <a:off x="1078992" y="4297680"/>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paint line, costed from film thickness rather than a percentage uplift</a:t>
            </a:r>
            <a:endParaRPr lang="en-US" sz="1200" dirty="0"/>
          </a:p>
        </p:txBody>
      </p:sp>
      <p:sp>
        <p:nvSpPr>
          <p:cNvPr id="14" name="Shape 12"/>
          <p:cNvSpPr/>
          <p:nvPr/>
        </p:nvSpPr>
        <p:spPr>
          <a:xfrm>
            <a:off x="786384" y="4718304"/>
            <a:ext cx="100584" cy="100584"/>
          </a:xfrm>
          <a:prstGeom prst="ellipse">
            <a:avLst/>
          </a:prstGeom>
          <a:solidFill>
            <a:srgbClr val="6B3FA0"/>
          </a:solidFill>
          <a:ln/>
        </p:spPr>
      </p:sp>
      <p:sp>
        <p:nvSpPr>
          <p:cNvPr id="15" name="Text 13"/>
          <p:cNvSpPr/>
          <p:nvPr/>
        </p:nvSpPr>
        <p:spPr>
          <a:xfrm>
            <a:off x="1078992" y="4626864"/>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Two findings that nobody in the room would have predicted</a:t>
            </a:r>
            <a:endParaRPr lang="en-US" sz="1200" dirty="0"/>
          </a:p>
        </p:txBody>
      </p:sp>
      <p:sp>
        <p:nvSpPr>
          <p:cNvPr id="16" name="Shape 14"/>
          <p:cNvSpPr/>
          <p:nvPr/>
        </p:nvSpPr>
        <p:spPr>
          <a:xfrm>
            <a:off x="9692640" y="2212848"/>
            <a:ext cx="2039112" cy="914400"/>
          </a:xfrm>
          <a:prstGeom prst="roundRect">
            <a:avLst>
              <a:gd name="adj" fmla="val 10000"/>
            </a:avLst>
          </a:prstGeom>
          <a:solidFill>
            <a:srgbClr val="24406E"/>
          </a:solidFill>
          <a:ln/>
        </p:spPr>
      </p:sp>
      <p:sp>
        <p:nvSpPr>
          <p:cNvPr id="17" name="Text 15"/>
          <p:cNvSpPr/>
          <p:nvPr/>
        </p:nvSpPr>
        <p:spPr>
          <a:xfrm>
            <a:off x="9692640" y="2304288"/>
            <a:ext cx="2039112"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18</a:t>
            </a:r>
            <a:endParaRPr lang="en-US" sz="2600" dirty="0"/>
          </a:p>
        </p:txBody>
      </p:sp>
      <p:sp>
        <p:nvSpPr>
          <p:cNvPr id="18" name="Text 16"/>
          <p:cNvSpPr/>
          <p:nvPr/>
        </p:nvSpPr>
        <p:spPr>
          <a:xfrm>
            <a:off x="9692640" y="2743200"/>
            <a:ext cx="2039112" cy="274320"/>
          </a:xfrm>
          <a:prstGeom prst="rect">
            <a:avLst/>
          </a:prstGeom>
          <a:noFill/>
          <a:ln/>
        </p:spPr>
        <p:txBody>
          <a:bodyPr wrap="square" lIns="0" tIns="0" rIns="0" bIns="0" rtlCol="0" anchor="ctr"/>
          <a:lstStyle/>
          <a:p>
            <a:pPr algn="ctr" indent="0" marL="0">
              <a:buNone/>
            </a:pPr>
            <a:r>
              <a:rPr lang="en-US" sz="1100" dirty="0">
                <a:solidFill>
                  <a:srgbClr val="8FA3CC"/>
                </a:solidFill>
                <a:latin typeface="Calibri" pitchFamily="34" charset="0"/>
                <a:ea typeface="Calibri" pitchFamily="34" charset="-122"/>
                <a:cs typeface="Calibri" pitchFamily="34" charset="-120"/>
              </a:rPr>
              <a:t>minutes</a:t>
            </a:r>
            <a:endParaRPr lang="en-US" sz="1100" dirty="0"/>
          </a:p>
        </p:txBody>
      </p:sp>
      <p:sp>
        <p:nvSpPr>
          <p:cNvPr id="19" name="Text 17"/>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20" name="Text 18"/>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Part Two · The Same Method on a Moulded Part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Front bumper fascia — injection moulded, followed end to end</a:t>
            </a:r>
            <a:endParaRPr lang="en-US" sz="1200" dirty="0"/>
          </a:p>
        </p:txBody>
      </p:sp>
      <p:sp>
        <p:nvSpPr>
          <p:cNvPr id="5" name="Shape 3"/>
          <p:cNvSpPr/>
          <p:nvPr/>
        </p:nvSpPr>
        <p:spPr>
          <a:xfrm>
            <a:off x="457200" y="1170432"/>
            <a:ext cx="11274552" cy="1115568"/>
          </a:xfrm>
          <a:prstGeom prst="roundRect">
            <a:avLst>
              <a:gd name="adj" fmla="val 8197"/>
            </a:avLst>
          </a:prstGeom>
          <a:solidFill>
            <a:srgbClr val="FFFFFF"/>
          </a:solidFill>
          <a:ln w="12700">
            <a:solidFill>
              <a:srgbClr val="DCE3EE"/>
            </a:solidFill>
            <a:prstDash val="solid"/>
          </a:ln>
        </p:spPr>
      </p:sp>
      <p:sp>
        <p:nvSpPr>
          <p:cNvPr id="6" name="Shape 4"/>
          <p:cNvSpPr/>
          <p:nvPr/>
        </p:nvSpPr>
        <p:spPr>
          <a:xfrm>
            <a:off x="685800" y="1371600"/>
            <a:ext cx="658368" cy="658368"/>
          </a:xfrm>
          <a:prstGeom prst="ellipse">
            <a:avLst/>
          </a:prstGeom>
          <a:solidFill>
            <a:srgbClr val="16325C"/>
          </a:solidFill>
          <a:ln/>
        </p:spPr>
      </p:sp>
      <p:pic>
        <p:nvPicPr>
          <p:cNvPr id="7" name="Image 0" descr="preencoded.png">    </p:cNvPr>
          <p:cNvPicPr>
            <a:picLocks noChangeAspect="1"/>
          </p:cNvPicPr>
          <p:nvPr/>
        </p:nvPicPr>
        <p:blipFill>
          <a:blip r:embed="rId1"/>
          <a:stretch>
            <a:fillRect/>
          </a:stretch>
        </p:blipFill>
        <p:spPr>
          <a:xfrm>
            <a:off x="868680" y="1554480"/>
            <a:ext cx="292608" cy="292608"/>
          </a:xfrm>
          <a:prstGeom prst="rect">
            <a:avLst/>
          </a:prstGeom>
        </p:spPr>
      </p:pic>
      <p:sp>
        <p:nvSpPr>
          <p:cNvPr id="8" name="Text 5"/>
          <p:cNvSpPr/>
          <p:nvPr/>
        </p:nvSpPr>
        <p:spPr>
          <a:xfrm>
            <a:off x="1536192" y="1298448"/>
            <a:ext cx="10058400" cy="310896"/>
          </a:xfrm>
          <a:prstGeom prst="rect">
            <a:avLst/>
          </a:prstGeom>
          <a:noFill/>
          <a:ln/>
        </p:spPr>
        <p:txBody>
          <a:bodyPr wrap="square" lIns="0" tIns="0" rIns="0" bIns="0" rtlCol="0" anchor="ctr"/>
          <a:lstStyle/>
          <a:p>
            <a:pPr indent="0" marL="0">
              <a:buNone/>
            </a:pPr>
            <a:r>
              <a:rPr lang="en-US" sz="1500" b="1" dirty="0">
                <a:solidFill>
                  <a:srgbClr val="16325C"/>
                </a:solidFill>
                <a:latin typeface="Calibri" pitchFamily="34" charset="0"/>
                <a:ea typeface="Calibri" pitchFamily="34" charset="-122"/>
                <a:cs typeface="Calibri" pitchFamily="34" charset="-120"/>
              </a:rPr>
              <a:t>Front bumper fascia — talc-filled polypropylene, moulded in one shot, then painted</a:t>
            </a:r>
            <a:endParaRPr lang="en-US" sz="1500" dirty="0"/>
          </a:p>
        </p:txBody>
      </p:sp>
      <p:sp>
        <p:nvSpPr>
          <p:cNvPr id="9" name="Shape 6"/>
          <p:cNvSpPr/>
          <p:nvPr/>
        </p:nvSpPr>
        <p:spPr>
          <a:xfrm>
            <a:off x="1536192" y="1700784"/>
            <a:ext cx="1353312" cy="329184"/>
          </a:xfrm>
          <a:prstGeom prst="roundRect">
            <a:avLst>
              <a:gd name="adj" fmla="val 47222"/>
            </a:avLst>
          </a:prstGeom>
          <a:solidFill>
            <a:srgbClr val="F1EBF8"/>
          </a:solidFill>
          <a:ln/>
        </p:spPr>
      </p:sp>
      <p:sp>
        <p:nvSpPr>
          <p:cNvPr id="10" name="Text 7"/>
          <p:cNvSpPr/>
          <p:nvPr/>
        </p:nvSpPr>
        <p:spPr>
          <a:xfrm>
            <a:off x="1536192"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4.2 kg</a:t>
            </a:r>
            <a:endParaRPr lang="en-US" sz="900" dirty="0"/>
          </a:p>
        </p:txBody>
      </p:sp>
      <p:sp>
        <p:nvSpPr>
          <p:cNvPr id="11" name="Shape 8"/>
          <p:cNvSpPr/>
          <p:nvPr/>
        </p:nvSpPr>
        <p:spPr>
          <a:xfrm>
            <a:off x="2980944" y="1700784"/>
            <a:ext cx="1353312" cy="329184"/>
          </a:xfrm>
          <a:prstGeom prst="roundRect">
            <a:avLst>
              <a:gd name="adj" fmla="val 47222"/>
            </a:avLst>
          </a:prstGeom>
          <a:solidFill>
            <a:srgbClr val="F1EBF8"/>
          </a:solidFill>
          <a:ln/>
        </p:spPr>
      </p:sp>
      <p:sp>
        <p:nvSpPr>
          <p:cNvPr id="12" name="Text 9"/>
          <p:cNvSpPr/>
          <p:nvPr/>
        </p:nvSpPr>
        <p:spPr>
          <a:xfrm>
            <a:off x="2980944"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3.0 mm walls</a:t>
            </a:r>
            <a:endParaRPr lang="en-US" sz="900" dirty="0"/>
          </a:p>
        </p:txBody>
      </p:sp>
      <p:sp>
        <p:nvSpPr>
          <p:cNvPr id="13" name="Shape 10"/>
          <p:cNvSpPr/>
          <p:nvPr/>
        </p:nvSpPr>
        <p:spPr>
          <a:xfrm>
            <a:off x="4425696" y="1700784"/>
            <a:ext cx="1353312" cy="329184"/>
          </a:xfrm>
          <a:prstGeom prst="roundRect">
            <a:avLst>
              <a:gd name="adj" fmla="val 47222"/>
            </a:avLst>
          </a:prstGeom>
          <a:solidFill>
            <a:srgbClr val="F1EBF8"/>
          </a:solidFill>
          <a:ln/>
        </p:spPr>
      </p:sp>
      <p:sp>
        <p:nvSpPr>
          <p:cNvPr id="14" name="Text 11"/>
          <p:cNvSpPr/>
          <p:nvPr/>
        </p:nvSpPr>
        <p:spPr>
          <a:xfrm>
            <a:off x="4425696"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1,800 × 550 mm</a:t>
            </a:r>
            <a:endParaRPr lang="en-US" sz="900" dirty="0"/>
          </a:p>
        </p:txBody>
      </p:sp>
      <p:sp>
        <p:nvSpPr>
          <p:cNvPr id="15" name="Shape 12"/>
          <p:cNvSpPr/>
          <p:nvPr/>
        </p:nvSpPr>
        <p:spPr>
          <a:xfrm>
            <a:off x="5870448" y="1700784"/>
            <a:ext cx="1353312" cy="329184"/>
          </a:xfrm>
          <a:prstGeom prst="roundRect">
            <a:avLst>
              <a:gd name="adj" fmla="val 47222"/>
            </a:avLst>
          </a:prstGeom>
          <a:solidFill>
            <a:srgbClr val="F1EBF8"/>
          </a:solidFill>
          <a:ln/>
        </p:spPr>
      </p:sp>
      <p:sp>
        <p:nvSpPr>
          <p:cNvPr id="16" name="Text 13"/>
          <p:cNvSpPr/>
          <p:nvPr/>
        </p:nvSpPr>
        <p:spPr>
          <a:xfrm>
            <a:off x="5870448"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6 undercut slides</a:t>
            </a:r>
            <a:endParaRPr lang="en-US" sz="900" dirty="0"/>
          </a:p>
        </p:txBody>
      </p:sp>
      <p:sp>
        <p:nvSpPr>
          <p:cNvPr id="17" name="Shape 14"/>
          <p:cNvSpPr/>
          <p:nvPr/>
        </p:nvSpPr>
        <p:spPr>
          <a:xfrm>
            <a:off x="7315200" y="1700784"/>
            <a:ext cx="1353312" cy="329184"/>
          </a:xfrm>
          <a:prstGeom prst="roundRect">
            <a:avLst>
              <a:gd name="adj" fmla="val 47222"/>
            </a:avLst>
          </a:prstGeom>
          <a:solidFill>
            <a:srgbClr val="F1EBF8"/>
          </a:solidFill>
          <a:ln/>
        </p:spPr>
      </p:sp>
      <p:sp>
        <p:nvSpPr>
          <p:cNvPr id="18" name="Text 15"/>
          <p:cNvSpPr/>
          <p:nvPr/>
        </p:nvSpPr>
        <p:spPr>
          <a:xfrm>
            <a:off x="7315200"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Class-A painted</a:t>
            </a:r>
            <a:endParaRPr lang="en-US" sz="900" dirty="0"/>
          </a:p>
        </p:txBody>
      </p:sp>
      <p:sp>
        <p:nvSpPr>
          <p:cNvPr id="19" name="Shape 16"/>
          <p:cNvSpPr/>
          <p:nvPr/>
        </p:nvSpPr>
        <p:spPr>
          <a:xfrm>
            <a:off x="8759952" y="1700784"/>
            <a:ext cx="1353312" cy="329184"/>
          </a:xfrm>
          <a:prstGeom prst="roundRect">
            <a:avLst>
              <a:gd name="adj" fmla="val 47222"/>
            </a:avLst>
          </a:prstGeom>
          <a:solidFill>
            <a:srgbClr val="F1EBF8"/>
          </a:solidFill>
          <a:ln/>
        </p:spPr>
      </p:sp>
      <p:sp>
        <p:nvSpPr>
          <p:cNvPr id="20" name="Text 17"/>
          <p:cNvSpPr/>
          <p:nvPr/>
        </p:nvSpPr>
        <p:spPr>
          <a:xfrm>
            <a:off x="8759952"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60,000 a year</a:t>
            </a:r>
            <a:endParaRPr lang="en-US" sz="900" dirty="0"/>
          </a:p>
        </p:txBody>
      </p:sp>
      <p:sp>
        <p:nvSpPr>
          <p:cNvPr id="21" name="Shape 18"/>
          <p:cNvSpPr/>
          <p:nvPr/>
        </p:nvSpPr>
        <p:spPr>
          <a:xfrm>
            <a:off x="10204704" y="1700784"/>
            <a:ext cx="1353312" cy="329184"/>
          </a:xfrm>
          <a:prstGeom prst="roundRect">
            <a:avLst>
              <a:gd name="adj" fmla="val 47222"/>
            </a:avLst>
          </a:prstGeom>
          <a:solidFill>
            <a:srgbClr val="F1EBF8"/>
          </a:solidFill>
          <a:ln/>
        </p:spPr>
      </p:sp>
      <p:sp>
        <p:nvSpPr>
          <p:cNvPr id="22" name="Text 19"/>
          <p:cNvSpPr/>
          <p:nvPr/>
        </p:nvSpPr>
        <p:spPr>
          <a:xfrm>
            <a:off x="10204704" y="1700784"/>
            <a:ext cx="1353312" cy="329184"/>
          </a:xfrm>
          <a:prstGeom prst="rect">
            <a:avLst/>
          </a:prstGeom>
          <a:noFill/>
          <a:ln/>
        </p:spPr>
        <p:txBody>
          <a:bodyPr wrap="square" lIns="0" tIns="0" rIns="0" bIns="0" rtlCol="0" anchor="ctr"/>
          <a:lstStyle/>
          <a:p>
            <a:pPr algn="ctr" indent="0" marL="0">
              <a:buNone/>
            </a:pPr>
            <a:r>
              <a:rPr lang="en-US" sz="900" b="1" dirty="0">
                <a:solidFill>
                  <a:srgbClr val="16325C"/>
                </a:solidFill>
                <a:latin typeface="Calibri" pitchFamily="34" charset="0"/>
                <a:ea typeface="Calibri" pitchFamily="34" charset="-122"/>
                <a:cs typeface="Calibri" pitchFamily="34" charset="-120"/>
              </a:rPr>
              <a:t>Made in China</a:t>
            </a:r>
            <a:endParaRPr lang="en-US" sz="900" dirty="0"/>
          </a:p>
        </p:txBody>
      </p:sp>
      <p:sp>
        <p:nvSpPr>
          <p:cNvPr id="23" name="Shape 20"/>
          <p:cNvSpPr/>
          <p:nvPr/>
        </p:nvSpPr>
        <p:spPr>
          <a:xfrm>
            <a:off x="457200" y="2487168"/>
            <a:ext cx="2130552" cy="2084832"/>
          </a:xfrm>
          <a:prstGeom prst="roundRect">
            <a:avLst>
              <a:gd name="adj" fmla="val 3947"/>
            </a:avLst>
          </a:prstGeom>
          <a:solidFill>
            <a:srgbClr val="E8F1FA"/>
          </a:solidFill>
          <a:ln w="15875">
            <a:solidFill>
              <a:srgbClr val="1D6FB8"/>
            </a:solidFill>
            <a:prstDash val="solid"/>
          </a:ln>
        </p:spPr>
      </p:sp>
      <p:sp>
        <p:nvSpPr>
          <p:cNvPr id="24" name="Shape 21"/>
          <p:cNvSpPr/>
          <p:nvPr/>
        </p:nvSpPr>
        <p:spPr>
          <a:xfrm>
            <a:off x="457200" y="2487168"/>
            <a:ext cx="2130552" cy="365760"/>
          </a:xfrm>
          <a:prstGeom prst="rect">
            <a:avLst/>
          </a:prstGeom>
          <a:solidFill>
            <a:srgbClr val="1D6FB8"/>
          </a:solidFill>
          <a:ln/>
        </p:spPr>
      </p:sp>
      <p:sp>
        <p:nvSpPr>
          <p:cNvPr id="25" name="Text 22"/>
          <p:cNvSpPr/>
          <p:nvPr/>
        </p:nvSpPr>
        <p:spPr>
          <a:xfrm>
            <a:off x="457200" y="2487168"/>
            <a:ext cx="2130552" cy="365760"/>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MEASURE</a:t>
            </a:r>
            <a:endParaRPr lang="en-US" sz="1000" dirty="0"/>
          </a:p>
        </p:txBody>
      </p:sp>
      <p:sp>
        <p:nvSpPr>
          <p:cNvPr id="26" name="Text 23"/>
          <p:cNvSpPr/>
          <p:nvPr/>
        </p:nvSpPr>
        <p:spPr>
          <a:xfrm>
            <a:off x="457200" y="2898648"/>
            <a:ext cx="2130552" cy="201168"/>
          </a:xfrm>
          <a:prstGeom prst="rect">
            <a:avLst/>
          </a:prstGeom>
          <a:noFill/>
          <a:ln/>
        </p:spPr>
        <p:txBody>
          <a:bodyPr wrap="square" lIns="0" tIns="0" rIns="0" bIns="0" rtlCol="0" anchor="ctr"/>
          <a:lstStyle/>
          <a:p>
            <a:pPr algn="ctr" indent="0" marL="0">
              <a:buNone/>
            </a:pPr>
            <a:r>
              <a:rPr lang="en-US" sz="850" i="1" dirty="0">
                <a:solidFill>
                  <a:srgbClr val="1D6FB8"/>
                </a:solidFill>
                <a:latin typeface="Calibri" pitchFamily="34" charset="0"/>
                <a:ea typeface="Calibri" pitchFamily="34" charset="-122"/>
                <a:cs typeface="Calibri" pitchFamily="34" charset="-120"/>
              </a:rPr>
              <a:t>owner: Ruler</a:t>
            </a:r>
            <a:endParaRPr lang="en-US" sz="850" dirty="0"/>
          </a:p>
        </p:txBody>
      </p:sp>
      <p:sp>
        <p:nvSpPr>
          <p:cNvPr id="27" name="Text 24"/>
          <p:cNvSpPr/>
          <p:nvPr/>
        </p:nvSpPr>
        <p:spPr>
          <a:xfrm>
            <a:off x="585216" y="3163824"/>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1 · Upload the file</a:t>
            </a:r>
            <a:endParaRPr lang="en-US" sz="920" dirty="0"/>
          </a:p>
        </p:txBody>
      </p:sp>
      <p:sp>
        <p:nvSpPr>
          <p:cNvPr id="28" name="Text 25"/>
          <p:cNvSpPr/>
          <p:nvPr/>
        </p:nvSpPr>
        <p:spPr>
          <a:xfrm>
            <a:off x="585216" y="3474720"/>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2 · Measure the geometry</a:t>
            </a:r>
            <a:endParaRPr lang="en-US" sz="920" dirty="0"/>
          </a:p>
        </p:txBody>
      </p:sp>
      <p:sp>
        <p:nvSpPr>
          <p:cNvPr id="29" name="Text 26"/>
          <p:cNvSpPr/>
          <p:nvPr/>
        </p:nvSpPr>
        <p:spPr>
          <a:xfrm>
            <a:off x="585216" y="3785616"/>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3 · Draft &amp; undercut check</a:t>
            </a:r>
            <a:endParaRPr lang="en-US" sz="920" dirty="0"/>
          </a:p>
        </p:txBody>
      </p:sp>
      <p:sp>
        <p:nvSpPr>
          <p:cNvPr id="30" name="Text 27"/>
          <p:cNvSpPr/>
          <p:nvPr/>
        </p:nvSpPr>
        <p:spPr>
          <a:xfrm>
            <a:off x="566928" y="4206240"/>
            <a:ext cx="1911096" cy="274320"/>
          </a:xfrm>
          <a:prstGeom prst="rect">
            <a:avLst/>
          </a:prstGeom>
          <a:noFill/>
          <a:ln/>
        </p:spPr>
        <p:txBody>
          <a:bodyPr wrap="square" lIns="0" tIns="0" rIns="0" bIns="0" rtlCol="0" anchor="ctr"/>
          <a:lstStyle/>
          <a:p>
            <a:pPr algn="ctr" indent="0" marL="0">
              <a:buNone/>
            </a:pPr>
            <a:r>
              <a:rPr lang="en-US" sz="860" b="1" i="1" dirty="0">
                <a:solidFill>
                  <a:srgbClr val="1D6FB8"/>
                </a:solidFill>
                <a:latin typeface="Calibri" pitchFamily="34" charset="0"/>
                <a:ea typeface="Calibri" pitchFamily="34" charset="-122"/>
                <a:cs typeface="Calibri" pitchFamily="34" charset="-120"/>
              </a:rPr>
              <a:t>Same kernel, same facts</a:t>
            </a:r>
            <a:endParaRPr lang="en-US" sz="860" dirty="0"/>
          </a:p>
        </p:txBody>
      </p:sp>
      <p:sp>
        <p:nvSpPr>
          <p:cNvPr id="31" name="Shape 28"/>
          <p:cNvSpPr/>
          <p:nvPr/>
        </p:nvSpPr>
        <p:spPr>
          <a:xfrm>
            <a:off x="2734056" y="2487168"/>
            <a:ext cx="2130552" cy="2084832"/>
          </a:xfrm>
          <a:prstGeom prst="roundRect">
            <a:avLst>
              <a:gd name="adj" fmla="val 3947"/>
            </a:avLst>
          </a:prstGeom>
          <a:solidFill>
            <a:srgbClr val="F1EBF8"/>
          </a:solidFill>
          <a:ln w="15875">
            <a:solidFill>
              <a:srgbClr val="6B3FA0"/>
            </a:solidFill>
            <a:prstDash val="solid"/>
          </a:ln>
        </p:spPr>
      </p:sp>
      <p:sp>
        <p:nvSpPr>
          <p:cNvPr id="32" name="Shape 29"/>
          <p:cNvSpPr/>
          <p:nvPr/>
        </p:nvSpPr>
        <p:spPr>
          <a:xfrm>
            <a:off x="2734056" y="2487168"/>
            <a:ext cx="2130552" cy="365760"/>
          </a:xfrm>
          <a:prstGeom prst="rect">
            <a:avLst/>
          </a:prstGeom>
          <a:solidFill>
            <a:srgbClr val="6B3FA0"/>
          </a:solidFill>
          <a:ln/>
        </p:spPr>
      </p:sp>
      <p:sp>
        <p:nvSpPr>
          <p:cNvPr id="33" name="Text 30"/>
          <p:cNvSpPr/>
          <p:nvPr/>
        </p:nvSpPr>
        <p:spPr>
          <a:xfrm>
            <a:off x="2734056" y="2487168"/>
            <a:ext cx="2130552" cy="365760"/>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ASK</a:t>
            </a:r>
            <a:endParaRPr lang="en-US" sz="1000" dirty="0"/>
          </a:p>
        </p:txBody>
      </p:sp>
      <p:sp>
        <p:nvSpPr>
          <p:cNvPr id="34" name="Text 31"/>
          <p:cNvSpPr/>
          <p:nvPr/>
        </p:nvSpPr>
        <p:spPr>
          <a:xfrm>
            <a:off x="2734056" y="2898648"/>
            <a:ext cx="2130552" cy="201168"/>
          </a:xfrm>
          <a:prstGeom prst="rect">
            <a:avLst/>
          </a:prstGeom>
          <a:noFill/>
          <a:ln/>
        </p:spPr>
        <p:txBody>
          <a:bodyPr wrap="square" lIns="0" tIns="0" rIns="0" bIns="0" rtlCol="0" anchor="ctr"/>
          <a:lstStyle/>
          <a:p>
            <a:pPr algn="ctr" indent="0" marL="0">
              <a:buNone/>
            </a:pPr>
            <a:r>
              <a:rPr lang="en-US" sz="850" i="1" dirty="0">
                <a:solidFill>
                  <a:srgbClr val="6B3FA0"/>
                </a:solidFill>
                <a:latin typeface="Calibri" pitchFamily="34" charset="0"/>
                <a:ea typeface="Calibri" pitchFamily="34" charset="-122"/>
                <a:cs typeface="Calibri" pitchFamily="34" charset="-120"/>
              </a:rPr>
              <a:t>owner: Engineer · AI off at JLR</a:t>
            </a:r>
            <a:endParaRPr lang="en-US" sz="850" dirty="0"/>
          </a:p>
        </p:txBody>
      </p:sp>
      <p:sp>
        <p:nvSpPr>
          <p:cNvPr id="35" name="Text 32"/>
          <p:cNvSpPr/>
          <p:nvPr/>
        </p:nvSpPr>
        <p:spPr>
          <a:xfrm>
            <a:off x="2862072" y="3163824"/>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4 · The tool asks what</a:t>
            </a:r>
            <a:endParaRPr lang="en-US" sz="920" dirty="0"/>
          </a:p>
        </p:txBody>
      </p:sp>
      <p:sp>
        <p:nvSpPr>
          <p:cNvPr id="36" name="Text 33"/>
          <p:cNvSpPr/>
          <p:nvPr/>
        </p:nvSpPr>
        <p:spPr>
          <a:xfrm>
            <a:off x="2862072" y="3474720"/>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geometry cannot decide</a:t>
            </a:r>
            <a:endParaRPr lang="en-US" sz="920" dirty="0"/>
          </a:p>
        </p:txBody>
      </p:sp>
      <p:sp>
        <p:nvSpPr>
          <p:cNvPr id="37" name="Text 34"/>
          <p:cNvSpPr/>
          <p:nvPr/>
        </p:nvSpPr>
        <p:spPr>
          <a:xfrm>
            <a:off x="2862072" y="3785616"/>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resin · route · finish</a:t>
            </a:r>
            <a:endParaRPr lang="en-US" sz="920" dirty="0"/>
          </a:p>
        </p:txBody>
      </p:sp>
      <p:sp>
        <p:nvSpPr>
          <p:cNvPr id="38" name="Text 35"/>
          <p:cNvSpPr/>
          <p:nvPr/>
        </p:nvSpPr>
        <p:spPr>
          <a:xfrm>
            <a:off x="2843784" y="4206240"/>
            <a:ext cx="1911096" cy="274320"/>
          </a:xfrm>
          <a:prstGeom prst="rect">
            <a:avLst/>
          </a:prstGeom>
          <a:noFill/>
          <a:ln/>
        </p:spPr>
        <p:txBody>
          <a:bodyPr wrap="square" lIns="0" tIns="0" rIns="0" bIns="0" rtlCol="0" anchor="ctr"/>
          <a:lstStyle/>
          <a:p>
            <a:pPr algn="ctr" indent="0" marL="0">
              <a:buNone/>
            </a:pPr>
            <a:r>
              <a:rPr lang="en-US" sz="860" b="1" i="1" dirty="0">
                <a:solidFill>
                  <a:srgbClr val="6B3FA0"/>
                </a:solidFill>
                <a:latin typeface="Calibri" pitchFamily="34" charset="0"/>
                <a:ea typeface="Calibri" pitchFamily="34" charset="-122"/>
                <a:cs typeface="Calibri" pitchFamily="34" charset="-120"/>
              </a:rPr>
              <a:t>Asked, never guessed</a:t>
            </a:r>
            <a:endParaRPr lang="en-US" sz="860" dirty="0"/>
          </a:p>
        </p:txBody>
      </p:sp>
      <p:sp>
        <p:nvSpPr>
          <p:cNvPr id="39" name="Shape 36"/>
          <p:cNvSpPr/>
          <p:nvPr/>
        </p:nvSpPr>
        <p:spPr>
          <a:xfrm>
            <a:off x="5010912" y="2487168"/>
            <a:ext cx="2130552" cy="2084832"/>
          </a:xfrm>
          <a:prstGeom prst="roundRect">
            <a:avLst>
              <a:gd name="adj" fmla="val 3947"/>
            </a:avLst>
          </a:prstGeom>
          <a:solidFill>
            <a:srgbClr val="FCF3E3"/>
          </a:solidFill>
          <a:ln w="15875">
            <a:solidFill>
              <a:srgbClr val="99651A"/>
            </a:solidFill>
            <a:prstDash val="solid"/>
          </a:ln>
        </p:spPr>
      </p:sp>
      <p:sp>
        <p:nvSpPr>
          <p:cNvPr id="40" name="Shape 37"/>
          <p:cNvSpPr/>
          <p:nvPr/>
        </p:nvSpPr>
        <p:spPr>
          <a:xfrm>
            <a:off x="5010912" y="2487168"/>
            <a:ext cx="2130552" cy="365760"/>
          </a:xfrm>
          <a:prstGeom prst="rect">
            <a:avLst/>
          </a:prstGeom>
          <a:solidFill>
            <a:srgbClr val="99651A"/>
          </a:solidFill>
          <a:ln/>
        </p:spPr>
      </p:sp>
      <p:sp>
        <p:nvSpPr>
          <p:cNvPr id="41" name="Text 38"/>
          <p:cNvSpPr/>
          <p:nvPr/>
        </p:nvSpPr>
        <p:spPr>
          <a:xfrm>
            <a:off x="5010912" y="2487168"/>
            <a:ext cx="2130552" cy="365760"/>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SAFETY CHECKS</a:t>
            </a:r>
            <a:endParaRPr lang="en-US" sz="1000" dirty="0"/>
          </a:p>
        </p:txBody>
      </p:sp>
      <p:sp>
        <p:nvSpPr>
          <p:cNvPr id="42" name="Text 39"/>
          <p:cNvSpPr/>
          <p:nvPr/>
        </p:nvSpPr>
        <p:spPr>
          <a:xfrm>
            <a:off x="5010912" y="2898648"/>
            <a:ext cx="2130552" cy="201168"/>
          </a:xfrm>
          <a:prstGeom prst="rect">
            <a:avLst/>
          </a:prstGeom>
          <a:noFill/>
          <a:ln/>
        </p:spPr>
        <p:txBody>
          <a:bodyPr wrap="square" lIns="0" tIns="0" rIns="0" bIns="0" rtlCol="0" anchor="ctr"/>
          <a:lstStyle/>
          <a:p>
            <a:pPr algn="ctr" indent="0" marL="0">
              <a:buNone/>
            </a:pPr>
            <a:r>
              <a:rPr lang="en-US" sz="850" i="1" dirty="0">
                <a:solidFill>
                  <a:srgbClr val="99651A"/>
                </a:solidFill>
                <a:latin typeface="Calibri" pitchFamily="34" charset="0"/>
                <a:ea typeface="Calibri" pitchFamily="34" charset="-122"/>
                <a:cs typeface="Calibri" pitchFamily="34" charset="-120"/>
              </a:rPr>
              <a:t>owner: Engine</a:t>
            </a:r>
            <a:endParaRPr lang="en-US" sz="850" dirty="0"/>
          </a:p>
        </p:txBody>
      </p:sp>
      <p:sp>
        <p:nvSpPr>
          <p:cNvPr id="43" name="Text 40"/>
          <p:cNvSpPr/>
          <p:nvPr/>
        </p:nvSpPr>
        <p:spPr>
          <a:xfrm>
            <a:off x="5138928" y="3163824"/>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5 · Four automatic guards</a:t>
            </a:r>
            <a:endParaRPr lang="en-US" sz="920" dirty="0"/>
          </a:p>
        </p:txBody>
      </p:sp>
      <p:sp>
        <p:nvSpPr>
          <p:cNvPr id="44" name="Text 41"/>
          <p:cNvSpPr/>
          <p:nvPr/>
        </p:nvSpPr>
        <p:spPr>
          <a:xfrm>
            <a:off x="5138928" y="3474720"/>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6 · Autocorrect wrong calls</a:t>
            </a:r>
            <a:endParaRPr lang="en-US" sz="920" dirty="0"/>
          </a:p>
        </p:txBody>
      </p:sp>
      <p:sp>
        <p:nvSpPr>
          <p:cNvPr id="45" name="Text 42"/>
          <p:cNvSpPr/>
          <p:nvPr/>
        </p:nvSpPr>
        <p:spPr>
          <a:xfrm>
            <a:off x="5138928" y="3785616"/>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before any money is counted</a:t>
            </a:r>
            <a:endParaRPr lang="en-US" sz="920" dirty="0"/>
          </a:p>
        </p:txBody>
      </p:sp>
      <p:sp>
        <p:nvSpPr>
          <p:cNvPr id="46" name="Text 43"/>
          <p:cNvSpPr/>
          <p:nvPr/>
        </p:nvSpPr>
        <p:spPr>
          <a:xfrm>
            <a:off x="5120640" y="4206240"/>
            <a:ext cx="1911096" cy="274320"/>
          </a:xfrm>
          <a:prstGeom prst="rect">
            <a:avLst/>
          </a:prstGeom>
          <a:noFill/>
          <a:ln/>
        </p:spPr>
        <p:txBody>
          <a:bodyPr wrap="square" lIns="0" tIns="0" rIns="0" bIns="0" rtlCol="0" anchor="ctr"/>
          <a:lstStyle/>
          <a:p>
            <a:pPr algn="ctr" indent="0" marL="0">
              <a:buNone/>
            </a:pPr>
            <a:r>
              <a:rPr lang="en-US" sz="860" b="1" i="1" dirty="0">
                <a:solidFill>
                  <a:srgbClr val="99651A"/>
                </a:solidFill>
                <a:latin typeface="Calibri" pitchFamily="34" charset="0"/>
                <a:ea typeface="Calibri" pitchFamily="34" charset="-122"/>
                <a:cs typeface="Calibri" pitchFamily="34" charset="-120"/>
              </a:rPr>
              <a:t>Measurements always win</a:t>
            </a:r>
            <a:endParaRPr lang="en-US" sz="860" dirty="0"/>
          </a:p>
        </p:txBody>
      </p:sp>
      <p:sp>
        <p:nvSpPr>
          <p:cNvPr id="47" name="Shape 44"/>
          <p:cNvSpPr/>
          <p:nvPr/>
        </p:nvSpPr>
        <p:spPr>
          <a:xfrm>
            <a:off x="7287768" y="2487168"/>
            <a:ext cx="2130552" cy="2084832"/>
          </a:xfrm>
          <a:prstGeom prst="roundRect">
            <a:avLst>
              <a:gd name="adj" fmla="val 3947"/>
            </a:avLst>
          </a:prstGeom>
          <a:solidFill>
            <a:srgbClr val="E6F4F1"/>
          </a:solidFill>
          <a:ln w="15875">
            <a:solidFill>
              <a:srgbClr val="0D7D71"/>
            </a:solidFill>
            <a:prstDash val="solid"/>
          </a:ln>
        </p:spPr>
      </p:sp>
      <p:sp>
        <p:nvSpPr>
          <p:cNvPr id="48" name="Shape 45"/>
          <p:cNvSpPr/>
          <p:nvPr/>
        </p:nvSpPr>
        <p:spPr>
          <a:xfrm>
            <a:off x="7287768" y="2487168"/>
            <a:ext cx="2130552" cy="365760"/>
          </a:xfrm>
          <a:prstGeom prst="rect">
            <a:avLst/>
          </a:prstGeom>
          <a:solidFill>
            <a:srgbClr val="0D7D71"/>
          </a:solidFill>
          <a:ln/>
        </p:spPr>
      </p:sp>
      <p:sp>
        <p:nvSpPr>
          <p:cNvPr id="49" name="Text 46"/>
          <p:cNvSpPr/>
          <p:nvPr/>
        </p:nvSpPr>
        <p:spPr>
          <a:xfrm>
            <a:off x="7287768" y="2487168"/>
            <a:ext cx="2130552" cy="365760"/>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CALCULATE</a:t>
            </a:r>
            <a:endParaRPr lang="en-US" sz="1000" dirty="0"/>
          </a:p>
        </p:txBody>
      </p:sp>
      <p:sp>
        <p:nvSpPr>
          <p:cNvPr id="50" name="Text 47"/>
          <p:cNvSpPr/>
          <p:nvPr/>
        </p:nvSpPr>
        <p:spPr>
          <a:xfrm>
            <a:off x="7287768" y="2898648"/>
            <a:ext cx="2130552" cy="201168"/>
          </a:xfrm>
          <a:prstGeom prst="rect">
            <a:avLst/>
          </a:prstGeom>
          <a:noFill/>
          <a:ln/>
        </p:spPr>
        <p:txBody>
          <a:bodyPr wrap="square" lIns="0" tIns="0" rIns="0" bIns="0" rtlCol="0" anchor="ctr"/>
          <a:lstStyle/>
          <a:p>
            <a:pPr algn="ctr" indent="0" marL="0">
              <a:buNone/>
            </a:pPr>
            <a:r>
              <a:rPr lang="en-US" sz="850" i="1" dirty="0">
                <a:solidFill>
                  <a:srgbClr val="0D7D71"/>
                </a:solidFill>
                <a:latin typeface="Calibri" pitchFamily="34" charset="0"/>
                <a:ea typeface="Calibri" pitchFamily="34" charset="-122"/>
                <a:cs typeface="Calibri" pitchFamily="34" charset="-120"/>
              </a:rPr>
              <a:t>owner: Engine</a:t>
            </a:r>
            <a:endParaRPr lang="en-US" sz="850" dirty="0"/>
          </a:p>
        </p:txBody>
      </p:sp>
      <p:sp>
        <p:nvSpPr>
          <p:cNvPr id="51" name="Text 48"/>
          <p:cNvSpPr/>
          <p:nvPr/>
        </p:nvSpPr>
        <p:spPr>
          <a:xfrm>
            <a:off x="7415784" y="3163824"/>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7 · Pick press &amp; cycle</a:t>
            </a:r>
            <a:endParaRPr lang="en-US" sz="920" dirty="0"/>
          </a:p>
        </p:txBody>
      </p:sp>
      <p:sp>
        <p:nvSpPr>
          <p:cNvPr id="52" name="Text 49"/>
          <p:cNvSpPr/>
          <p:nvPr/>
        </p:nvSpPr>
        <p:spPr>
          <a:xfrm>
            <a:off x="7415784" y="3474720"/>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8 · Cost every second</a:t>
            </a:r>
            <a:endParaRPr lang="en-US" sz="920" dirty="0"/>
          </a:p>
        </p:txBody>
      </p:sp>
      <p:sp>
        <p:nvSpPr>
          <p:cNvPr id="53" name="Text 50"/>
          <p:cNvSpPr/>
          <p:nvPr/>
        </p:nvSpPr>
        <p:spPr>
          <a:xfrm>
            <a:off x="7415784" y="3785616"/>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9-10 · Build &amp; regionalise</a:t>
            </a:r>
            <a:endParaRPr lang="en-US" sz="920" dirty="0"/>
          </a:p>
        </p:txBody>
      </p:sp>
      <p:sp>
        <p:nvSpPr>
          <p:cNvPr id="54" name="Text 51"/>
          <p:cNvSpPr/>
          <p:nvPr/>
        </p:nvSpPr>
        <p:spPr>
          <a:xfrm>
            <a:off x="7397496" y="4206240"/>
            <a:ext cx="1911096" cy="274320"/>
          </a:xfrm>
          <a:prstGeom prst="rect">
            <a:avLst/>
          </a:prstGeom>
          <a:noFill/>
          <a:ln/>
        </p:spPr>
        <p:txBody>
          <a:bodyPr wrap="square" lIns="0" tIns="0" rIns="0" bIns="0" rtlCol="0" anchor="ctr"/>
          <a:lstStyle/>
          <a:p>
            <a:pPr algn="ctr" indent="0" marL="0">
              <a:buNone/>
            </a:pPr>
            <a:r>
              <a:rPr lang="en-US" sz="860" b="1" i="1" dirty="0">
                <a:solidFill>
                  <a:srgbClr val="0D7D71"/>
                </a:solidFill>
                <a:latin typeface="Calibri" pitchFamily="34" charset="0"/>
                <a:ea typeface="Calibri" pitchFamily="34" charset="-122"/>
                <a:cs typeface="Calibri" pitchFamily="34" charset="-120"/>
              </a:rPr>
              <a:t>The same eight buckets</a:t>
            </a:r>
            <a:endParaRPr lang="en-US" sz="860" dirty="0"/>
          </a:p>
        </p:txBody>
      </p:sp>
      <p:sp>
        <p:nvSpPr>
          <p:cNvPr id="55" name="Shape 52"/>
          <p:cNvSpPr/>
          <p:nvPr/>
        </p:nvSpPr>
        <p:spPr>
          <a:xfrm>
            <a:off x="9564624" y="2487168"/>
            <a:ext cx="2130552" cy="2084832"/>
          </a:xfrm>
          <a:prstGeom prst="roundRect">
            <a:avLst>
              <a:gd name="adj" fmla="val 3947"/>
            </a:avLst>
          </a:prstGeom>
          <a:solidFill>
            <a:srgbClr val="EAF6EF"/>
          </a:solidFill>
          <a:ln w="15875">
            <a:solidFill>
              <a:srgbClr val="2A7F50"/>
            </a:solidFill>
            <a:prstDash val="solid"/>
          </a:ln>
        </p:spPr>
      </p:sp>
      <p:sp>
        <p:nvSpPr>
          <p:cNvPr id="56" name="Shape 53"/>
          <p:cNvSpPr/>
          <p:nvPr/>
        </p:nvSpPr>
        <p:spPr>
          <a:xfrm>
            <a:off x="9564624" y="2487168"/>
            <a:ext cx="2130552" cy="365760"/>
          </a:xfrm>
          <a:prstGeom prst="rect">
            <a:avLst/>
          </a:prstGeom>
          <a:solidFill>
            <a:srgbClr val="2A7F50"/>
          </a:solidFill>
          <a:ln/>
        </p:spPr>
      </p:sp>
      <p:sp>
        <p:nvSpPr>
          <p:cNvPr id="57" name="Text 54"/>
          <p:cNvSpPr/>
          <p:nvPr/>
        </p:nvSpPr>
        <p:spPr>
          <a:xfrm>
            <a:off x="9564624" y="2487168"/>
            <a:ext cx="2130552" cy="365760"/>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CHECK &amp; USE</a:t>
            </a:r>
            <a:endParaRPr lang="en-US" sz="1000" dirty="0"/>
          </a:p>
        </p:txBody>
      </p:sp>
      <p:sp>
        <p:nvSpPr>
          <p:cNvPr id="58" name="Text 55"/>
          <p:cNvSpPr/>
          <p:nvPr/>
        </p:nvSpPr>
        <p:spPr>
          <a:xfrm>
            <a:off x="9564624" y="2898648"/>
            <a:ext cx="2130552" cy="201168"/>
          </a:xfrm>
          <a:prstGeom prst="rect">
            <a:avLst/>
          </a:prstGeom>
          <a:noFill/>
          <a:ln/>
        </p:spPr>
        <p:txBody>
          <a:bodyPr wrap="square" lIns="0" tIns="0" rIns="0" bIns="0" rtlCol="0" anchor="ctr"/>
          <a:lstStyle/>
          <a:p>
            <a:pPr algn="ctr" indent="0" marL="0">
              <a:buNone/>
            </a:pPr>
            <a:r>
              <a:rPr lang="en-US" sz="850" i="1" dirty="0">
                <a:solidFill>
                  <a:srgbClr val="2A7F50"/>
                </a:solidFill>
                <a:latin typeface="Calibri" pitchFamily="34" charset="0"/>
                <a:ea typeface="Calibri" pitchFamily="34" charset="-122"/>
                <a:cs typeface="Calibri" pitchFamily="34" charset="-120"/>
              </a:rPr>
              <a:t>owner: Engineer</a:t>
            </a:r>
            <a:endParaRPr lang="en-US" sz="850" dirty="0"/>
          </a:p>
        </p:txBody>
      </p:sp>
      <p:sp>
        <p:nvSpPr>
          <p:cNvPr id="59" name="Text 56"/>
          <p:cNvSpPr/>
          <p:nvPr/>
        </p:nvSpPr>
        <p:spPr>
          <a:xfrm>
            <a:off x="9692640" y="3163824"/>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11 · Confidence band</a:t>
            </a:r>
            <a:endParaRPr lang="en-US" sz="920" dirty="0"/>
          </a:p>
        </p:txBody>
      </p:sp>
      <p:sp>
        <p:nvSpPr>
          <p:cNvPr id="60" name="Text 57"/>
          <p:cNvSpPr/>
          <p:nvPr/>
        </p:nvSpPr>
        <p:spPr>
          <a:xfrm>
            <a:off x="9692640" y="3474720"/>
            <a:ext cx="1874520" cy="292608"/>
          </a:xfrm>
          <a:prstGeom prst="rect">
            <a:avLst/>
          </a:prstGeom>
          <a:noFill/>
          <a:ln/>
        </p:spPr>
        <p:txBody>
          <a:bodyPr wrap="square" lIns="0" tIns="0" rIns="0" bIns="0" rtlCol="0" anchor="t"/>
          <a:lstStyle/>
          <a:p>
            <a:pPr indent="0" marL="0">
              <a:buNone/>
            </a:pPr>
            <a:r>
              <a:rPr lang="en-US" sz="920" dirty="0">
                <a:solidFill>
                  <a:srgbClr val="3A4356"/>
                </a:solidFill>
                <a:latin typeface="Calibri" pitchFamily="34" charset="0"/>
                <a:ea typeface="Calibri" pitchFamily="34" charset="-122"/>
                <a:cs typeface="Calibri" pitchFamily="34" charset="-120"/>
              </a:rPr>
              <a:t>12 · Report &amp; approval</a:t>
            </a:r>
            <a:endParaRPr lang="en-US" sz="920" dirty="0"/>
          </a:p>
        </p:txBody>
      </p:sp>
      <p:sp>
        <p:nvSpPr>
          <p:cNvPr id="61" name="Text 58"/>
          <p:cNvSpPr/>
          <p:nvPr/>
        </p:nvSpPr>
        <p:spPr>
          <a:xfrm>
            <a:off x="9674352" y="4206240"/>
            <a:ext cx="1911096" cy="274320"/>
          </a:xfrm>
          <a:prstGeom prst="rect">
            <a:avLst/>
          </a:prstGeom>
          <a:noFill/>
          <a:ln/>
        </p:spPr>
        <p:txBody>
          <a:bodyPr wrap="square" lIns="0" tIns="0" rIns="0" bIns="0" rtlCol="0" anchor="ctr"/>
          <a:lstStyle/>
          <a:p>
            <a:pPr algn="ctr" indent="0" marL="0">
              <a:buNone/>
            </a:pPr>
            <a:r>
              <a:rPr lang="en-US" sz="860" b="1" i="1" dirty="0">
                <a:solidFill>
                  <a:srgbClr val="2A7F50"/>
                </a:solidFill>
                <a:latin typeface="Calibri" pitchFamily="34" charset="0"/>
                <a:ea typeface="Calibri" pitchFamily="34" charset="-122"/>
                <a:cs typeface="Calibri" pitchFamily="34" charset="-120"/>
              </a:rPr>
              <a:t>A person signs it off</a:t>
            </a:r>
            <a:endParaRPr lang="en-US" sz="860" dirty="0"/>
          </a:p>
        </p:txBody>
      </p:sp>
      <p:sp>
        <p:nvSpPr>
          <p:cNvPr id="62" name="Shape 59"/>
          <p:cNvSpPr/>
          <p:nvPr/>
        </p:nvSpPr>
        <p:spPr>
          <a:xfrm>
            <a:off x="457200" y="4773168"/>
            <a:ext cx="11274552" cy="1024128"/>
          </a:xfrm>
          <a:prstGeom prst="roundRect">
            <a:avLst>
              <a:gd name="adj" fmla="val 8929"/>
            </a:avLst>
          </a:prstGeom>
          <a:solidFill>
            <a:srgbClr val="FFFFFF"/>
          </a:solidFill>
          <a:ln w="19050">
            <a:solidFill>
              <a:srgbClr val="6B3FA0"/>
            </a:solidFill>
            <a:prstDash val="solid"/>
          </a:ln>
        </p:spPr>
      </p:sp>
      <p:sp>
        <p:nvSpPr>
          <p:cNvPr id="63" name="Text 60"/>
          <p:cNvSpPr/>
          <p:nvPr/>
        </p:nvSpPr>
        <p:spPr>
          <a:xfrm>
            <a:off x="731520" y="4882896"/>
            <a:ext cx="10058400" cy="274320"/>
          </a:xfrm>
          <a:prstGeom prst="rect">
            <a:avLst/>
          </a:prstGeom>
          <a:noFill/>
          <a:ln/>
        </p:spPr>
        <p:txBody>
          <a:bodyPr wrap="square" lIns="0" tIns="0" rIns="0" bIns="0" rtlCol="0" anchor="ctr"/>
          <a:lstStyle/>
          <a:p>
            <a:pPr indent="0" marL="0">
              <a:buNone/>
            </a:pPr>
            <a:r>
              <a:rPr lang="en-US" sz="1250" b="1" dirty="0">
                <a:solidFill>
                  <a:srgbClr val="6B3FA0"/>
                </a:solidFill>
                <a:latin typeface="Calibri" pitchFamily="34" charset="0"/>
                <a:ea typeface="Calibri" pitchFamily="34" charset="-122"/>
                <a:cs typeface="Calibri" pitchFamily="34" charset="-120"/>
              </a:rPr>
              <a:t>Nothing about the method changes</a:t>
            </a:r>
            <a:endParaRPr lang="en-US" sz="1250" dirty="0"/>
          </a:p>
        </p:txBody>
      </p:sp>
      <p:sp>
        <p:nvSpPr>
          <p:cNvPr id="64" name="Text 61"/>
          <p:cNvSpPr/>
          <p:nvPr/>
        </p:nvSpPr>
        <p:spPr>
          <a:xfrm>
            <a:off x="731520" y="5157216"/>
            <a:ext cx="10744200" cy="566928"/>
          </a:xfrm>
          <a:prstGeom prst="rect">
            <a:avLst/>
          </a:prstGeom>
          <a:noFill/>
          <a:ln/>
        </p:spPr>
        <p:txBody>
          <a:bodyPr wrap="square" lIns="0" tIns="0" rIns="0" bIns="0" rtlCol="0" anchor="t"/>
          <a:lstStyle/>
          <a:p>
            <a:pPr indent="0" marL="0">
              <a:buNone/>
            </a:pPr>
            <a:r>
              <a:rPr lang="en-US" sz="1150" dirty="0">
                <a:solidFill>
                  <a:srgbClr val="3A4356"/>
                </a:solidFill>
                <a:latin typeface="Calibri" pitchFamily="34" charset="0"/>
                <a:ea typeface="Calibri" pitchFamily="34" charset="-122"/>
                <a:cs typeface="Calibri" pitchFamily="34" charset="-120"/>
              </a:rPr>
              <a:t>Same twelve stages. Same geometry kernel. Same rate library. Same eight buckets. Same person signing it off. </a:t>
            </a:r>
            <a:pPr indent="0" marL="0">
              <a:buNone/>
            </a:pPr>
            <a:r>
              <a:rPr lang="en-US" sz="1150" b="1" dirty="0">
                <a:solidFill>
                  <a:srgbClr val="16325C"/>
                </a:solidFill>
                <a:latin typeface="Calibri" pitchFamily="34" charset="0"/>
                <a:ea typeface="Calibri" pitchFamily="34" charset="-122"/>
                <a:cs typeface="Calibri" pitchFamily="34" charset="-120"/>
              </a:rPr>
              <a:t>What changes is which bucket turns out to hold the money — and on this part the answer is somewhere completely different from the casting.</a:t>
            </a:r>
            <a:endParaRPr lang="en-US" sz="1150" dirty="0"/>
          </a:p>
        </p:txBody>
      </p:sp>
      <p:sp>
        <p:nvSpPr>
          <p:cNvPr id="65" name="Text 62"/>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66" name="Text 63"/>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Second Part We Are Costing</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Same method, a part that could hardly be more different</a:t>
            </a:r>
            <a:endParaRPr lang="en-US" sz="1200" dirty="0"/>
          </a:p>
        </p:txBody>
      </p:sp>
      <p:pic>
        <p:nvPicPr>
          <p:cNvPr id="5" name="Image 0" descr="assets/workflow-deck/part-bumper.png">    </p:cNvPr>
          <p:cNvPicPr>
            <a:picLocks noChangeAspect="1"/>
          </p:cNvPicPr>
          <p:nvPr/>
        </p:nvPicPr>
        <p:blipFill>
          <a:blip r:embed="rId1"/>
          <a:stretch>
            <a:fillRect/>
          </a:stretch>
        </p:blipFill>
        <p:spPr>
          <a:xfrm>
            <a:off x="411480" y="1133856"/>
            <a:ext cx="7223760" cy="4041648"/>
          </a:xfrm>
          <a:prstGeom prst="rect">
            <a:avLst/>
          </a:prstGeom>
        </p:spPr>
      </p:pic>
      <p:sp>
        <p:nvSpPr>
          <p:cNvPr id="6" name="Shape 3"/>
          <p:cNvSpPr/>
          <p:nvPr/>
        </p:nvSpPr>
        <p:spPr>
          <a:xfrm>
            <a:off x="7818120" y="1133856"/>
            <a:ext cx="3913632" cy="4041648"/>
          </a:xfrm>
          <a:prstGeom prst="roundRect">
            <a:avLst>
              <a:gd name="adj" fmla="val 2336"/>
            </a:avLst>
          </a:prstGeom>
          <a:solidFill>
            <a:srgbClr val="FFFFFF"/>
          </a:solidFill>
          <a:ln w="12700">
            <a:solidFill>
              <a:srgbClr val="DCE3EE"/>
            </a:solidFill>
            <a:prstDash val="solid"/>
          </a:ln>
        </p:spPr>
      </p:sp>
      <p:sp>
        <p:nvSpPr>
          <p:cNvPr id="7" name="Text 4"/>
          <p:cNvSpPr/>
          <p:nvPr/>
        </p:nvSpPr>
        <p:spPr>
          <a:xfrm>
            <a:off x="8046720" y="1243584"/>
            <a:ext cx="3474720" cy="457200"/>
          </a:xfrm>
          <a:prstGeom prst="rect">
            <a:avLst/>
          </a:prstGeom>
          <a:noFill/>
          <a:ln/>
        </p:spPr>
        <p:txBody>
          <a:bodyPr wrap="square" lIns="0" tIns="0" rIns="0" bIns="0" rtlCol="0" anchor="ctr"/>
          <a:lstStyle/>
          <a:p>
            <a:pPr indent="0" marL="0">
              <a:buNone/>
            </a:pPr>
            <a:r>
              <a:rPr lang="en-US" sz="1300" b="1" dirty="0">
                <a:solidFill>
                  <a:srgbClr val="6B3FA0"/>
                </a:solidFill>
                <a:latin typeface="Calibri" pitchFamily="34" charset="0"/>
                <a:ea typeface="Calibri" pitchFamily="34" charset="-122"/>
                <a:cs typeface="Calibri" pitchFamily="34" charset="-120"/>
              </a:rPr>
              <a:t>Front bumper fascia</a:t>
            </a:r>
            <a:endParaRPr lang="en-US" sz="1300" dirty="0"/>
          </a:p>
        </p:txBody>
      </p:sp>
      <p:sp>
        <p:nvSpPr>
          <p:cNvPr id="8" name="Text 5"/>
          <p:cNvSpPr/>
          <p:nvPr/>
        </p:nvSpPr>
        <p:spPr>
          <a:xfrm>
            <a:off x="8046720" y="1755648"/>
            <a:ext cx="3474720" cy="201168"/>
          </a:xfrm>
          <a:prstGeom prst="rect">
            <a:avLst/>
          </a:prstGeom>
          <a:noFill/>
          <a:ln/>
        </p:spPr>
        <p:txBody>
          <a:bodyPr wrap="square" lIns="0" tIns="0" rIns="0" bIns="0" rtlCol="0" anchor="ctr"/>
          <a:lstStyle/>
          <a:p>
            <a:pPr indent="0" marL="0">
              <a:buNone/>
            </a:pPr>
            <a:r>
              <a:rPr lang="en-US" sz="860" b="1" spc="60" kern="0" dirty="0">
                <a:solidFill>
                  <a:srgbClr val="686F7D"/>
                </a:solidFill>
                <a:latin typeface="Calibri" pitchFamily="34" charset="0"/>
                <a:ea typeface="Calibri" pitchFamily="34" charset="-122"/>
                <a:cs typeface="Calibri" pitchFamily="34" charset="-120"/>
              </a:rPr>
              <a:t>THE WORKED-EXAMPLE INPUTS</a:t>
            </a:r>
            <a:endParaRPr lang="en-US" sz="860" dirty="0"/>
          </a:p>
        </p:txBody>
      </p:sp>
      <p:sp>
        <p:nvSpPr>
          <p:cNvPr id="9" name="Shape 6"/>
          <p:cNvSpPr/>
          <p:nvPr/>
        </p:nvSpPr>
        <p:spPr>
          <a:xfrm>
            <a:off x="7955280" y="1993392"/>
            <a:ext cx="3639312" cy="256032"/>
          </a:xfrm>
          <a:prstGeom prst="rect">
            <a:avLst/>
          </a:prstGeom>
          <a:solidFill>
            <a:srgbClr val="F4F7FB"/>
          </a:solidFill>
          <a:ln/>
        </p:spPr>
      </p:sp>
      <p:sp>
        <p:nvSpPr>
          <p:cNvPr id="10" name="Text 7"/>
          <p:cNvSpPr/>
          <p:nvPr/>
        </p:nvSpPr>
        <p:spPr>
          <a:xfrm>
            <a:off x="8046720" y="201168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Part weight</a:t>
            </a:r>
            <a:endParaRPr lang="en-US" sz="960" dirty="0"/>
          </a:p>
        </p:txBody>
      </p:sp>
      <p:sp>
        <p:nvSpPr>
          <p:cNvPr id="11" name="Text 8"/>
          <p:cNvSpPr/>
          <p:nvPr/>
        </p:nvSpPr>
        <p:spPr>
          <a:xfrm>
            <a:off x="10195560" y="201168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4.2 kg</a:t>
            </a:r>
            <a:endParaRPr lang="en-US" sz="1000" dirty="0"/>
          </a:p>
        </p:txBody>
      </p:sp>
      <p:sp>
        <p:nvSpPr>
          <p:cNvPr id="12" name="Text 9"/>
          <p:cNvSpPr/>
          <p:nvPr/>
        </p:nvSpPr>
        <p:spPr>
          <a:xfrm>
            <a:off x="8046720" y="228600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Wall thickness</a:t>
            </a:r>
            <a:endParaRPr lang="en-US" sz="960" dirty="0"/>
          </a:p>
        </p:txBody>
      </p:sp>
      <p:sp>
        <p:nvSpPr>
          <p:cNvPr id="13" name="Text 10"/>
          <p:cNvSpPr/>
          <p:nvPr/>
        </p:nvSpPr>
        <p:spPr>
          <a:xfrm>
            <a:off x="10195560" y="228600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3.0 mm</a:t>
            </a:r>
            <a:endParaRPr lang="en-US" sz="1000" dirty="0"/>
          </a:p>
        </p:txBody>
      </p:sp>
      <p:sp>
        <p:nvSpPr>
          <p:cNvPr id="14" name="Shape 11"/>
          <p:cNvSpPr/>
          <p:nvPr/>
        </p:nvSpPr>
        <p:spPr>
          <a:xfrm>
            <a:off x="7955280" y="2542032"/>
            <a:ext cx="3639312" cy="256032"/>
          </a:xfrm>
          <a:prstGeom prst="rect">
            <a:avLst/>
          </a:prstGeom>
          <a:solidFill>
            <a:srgbClr val="F4F7FB"/>
          </a:solidFill>
          <a:ln/>
        </p:spPr>
      </p:sp>
      <p:sp>
        <p:nvSpPr>
          <p:cNvPr id="15" name="Text 12"/>
          <p:cNvSpPr/>
          <p:nvPr/>
        </p:nvSpPr>
        <p:spPr>
          <a:xfrm>
            <a:off x="8046720" y="256032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Projected shadow</a:t>
            </a:r>
            <a:endParaRPr lang="en-US" sz="960" dirty="0"/>
          </a:p>
        </p:txBody>
      </p:sp>
      <p:sp>
        <p:nvSpPr>
          <p:cNvPr id="16" name="Text 13"/>
          <p:cNvSpPr/>
          <p:nvPr/>
        </p:nvSpPr>
        <p:spPr>
          <a:xfrm>
            <a:off x="10195560" y="256032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9,900 cm²</a:t>
            </a:r>
            <a:endParaRPr lang="en-US" sz="1000" dirty="0"/>
          </a:p>
        </p:txBody>
      </p:sp>
      <p:sp>
        <p:nvSpPr>
          <p:cNvPr id="17" name="Text 14"/>
          <p:cNvSpPr/>
          <p:nvPr/>
        </p:nvSpPr>
        <p:spPr>
          <a:xfrm>
            <a:off x="8046720" y="283464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Overall width</a:t>
            </a:r>
            <a:endParaRPr lang="en-US" sz="960" dirty="0"/>
          </a:p>
        </p:txBody>
      </p:sp>
      <p:sp>
        <p:nvSpPr>
          <p:cNvPr id="18" name="Text 15"/>
          <p:cNvSpPr/>
          <p:nvPr/>
        </p:nvSpPr>
        <p:spPr>
          <a:xfrm>
            <a:off x="10195560" y="283464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1,800 mm</a:t>
            </a:r>
            <a:endParaRPr lang="en-US" sz="1000" dirty="0"/>
          </a:p>
        </p:txBody>
      </p:sp>
      <p:sp>
        <p:nvSpPr>
          <p:cNvPr id="19" name="Shape 16"/>
          <p:cNvSpPr/>
          <p:nvPr/>
        </p:nvSpPr>
        <p:spPr>
          <a:xfrm>
            <a:off x="7955280" y="3090672"/>
            <a:ext cx="3639312" cy="256032"/>
          </a:xfrm>
          <a:prstGeom prst="rect">
            <a:avLst/>
          </a:prstGeom>
          <a:solidFill>
            <a:srgbClr val="F4F7FB"/>
          </a:solidFill>
          <a:ln/>
        </p:spPr>
      </p:sp>
      <p:sp>
        <p:nvSpPr>
          <p:cNvPr id="20" name="Text 17"/>
          <p:cNvSpPr/>
          <p:nvPr/>
        </p:nvSpPr>
        <p:spPr>
          <a:xfrm>
            <a:off x="8046720" y="310896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Undercut features</a:t>
            </a:r>
            <a:endParaRPr lang="en-US" sz="960" dirty="0"/>
          </a:p>
        </p:txBody>
      </p:sp>
      <p:sp>
        <p:nvSpPr>
          <p:cNvPr id="21" name="Text 18"/>
          <p:cNvSpPr/>
          <p:nvPr/>
        </p:nvSpPr>
        <p:spPr>
          <a:xfrm>
            <a:off x="10195560" y="310896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6 slides</a:t>
            </a:r>
            <a:endParaRPr lang="en-US" sz="1000" dirty="0"/>
          </a:p>
        </p:txBody>
      </p:sp>
      <p:sp>
        <p:nvSpPr>
          <p:cNvPr id="22" name="Text 19"/>
          <p:cNvSpPr/>
          <p:nvPr/>
        </p:nvSpPr>
        <p:spPr>
          <a:xfrm>
            <a:off x="8046720" y="338328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Painted area</a:t>
            </a:r>
            <a:endParaRPr lang="en-US" sz="960" dirty="0"/>
          </a:p>
        </p:txBody>
      </p:sp>
      <p:sp>
        <p:nvSpPr>
          <p:cNvPr id="23" name="Text 20"/>
          <p:cNvSpPr/>
          <p:nvPr/>
        </p:nvSpPr>
        <p:spPr>
          <a:xfrm>
            <a:off x="10195560" y="338328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1.6 m²</a:t>
            </a:r>
            <a:endParaRPr lang="en-US" sz="1000" dirty="0"/>
          </a:p>
        </p:txBody>
      </p:sp>
      <p:sp>
        <p:nvSpPr>
          <p:cNvPr id="24" name="Shape 21"/>
          <p:cNvSpPr/>
          <p:nvPr/>
        </p:nvSpPr>
        <p:spPr>
          <a:xfrm>
            <a:off x="7955280" y="3639312"/>
            <a:ext cx="3639312" cy="256032"/>
          </a:xfrm>
          <a:prstGeom prst="rect">
            <a:avLst/>
          </a:prstGeom>
          <a:solidFill>
            <a:srgbClr val="F4F7FB"/>
          </a:solidFill>
          <a:ln/>
        </p:spPr>
      </p:sp>
      <p:sp>
        <p:nvSpPr>
          <p:cNvPr id="25" name="Text 22"/>
          <p:cNvSpPr/>
          <p:nvPr/>
        </p:nvSpPr>
        <p:spPr>
          <a:xfrm>
            <a:off x="8046720" y="365760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Resin</a:t>
            </a:r>
            <a:endParaRPr lang="en-US" sz="960" dirty="0"/>
          </a:p>
        </p:txBody>
      </p:sp>
      <p:sp>
        <p:nvSpPr>
          <p:cNvPr id="26" name="Text 23"/>
          <p:cNvSpPr/>
          <p:nvPr/>
        </p:nvSpPr>
        <p:spPr>
          <a:xfrm>
            <a:off x="10195560" y="365760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PP-T20</a:t>
            </a:r>
            <a:endParaRPr lang="en-US" sz="1000" dirty="0"/>
          </a:p>
        </p:txBody>
      </p:sp>
      <p:sp>
        <p:nvSpPr>
          <p:cNvPr id="27" name="Text 24"/>
          <p:cNvSpPr/>
          <p:nvPr/>
        </p:nvSpPr>
        <p:spPr>
          <a:xfrm>
            <a:off x="8046720" y="393192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Annual volume</a:t>
            </a:r>
            <a:endParaRPr lang="en-US" sz="960" dirty="0"/>
          </a:p>
        </p:txBody>
      </p:sp>
      <p:sp>
        <p:nvSpPr>
          <p:cNvPr id="28" name="Text 25"/>
          <p:cNvSpPr/>
          <p:nvPr/>
        </p:nvSpPr>
        <p:spPr>
          <a:xfrm>
            <a:off x="10195560" y="393192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60,000</a:t>
            </a:r>
            <a:endParaRPr lang="en-US" sz="1000" dirty="0"/>
          </a:p>
        </p:txBody>
      </p:sp>
      <p:sp>
        <p:nvSpPr>
          <p:cNvPr id="29" name="Shape 26"/>
          <p:cNvSpPr/>
          <p:nvPr/>
        </p:nvSpPr>
        <p:spPr>
          <a:xfrm>
            <a:off x="7955280" y="4187952"/>
            <a:ext cx="3639312" cy="256032"/>
          </a:xfrm>
          <a:prstGeom prst="rect">
            <a:avLst/>
          </a:prstGeom>
          <a:solidFill>
            <a:srgbClr val="F4F7FB"/>
          </a:solidFill>
          <a:ln/>
        </p:spPr>
      </p:sp>
      <p:sp>
        <p:nvSpPr>
          <p:cNvPr id="30" name="Text 27"/>
          <p:cNvSpPr/>
          <p:nvPr/>
        </p:nvSpPr>
        <p:spPr>
          <a:xfrm>
            <a:off x="8046720" y="4206240"/>
            <a:ext cx="2148840" cy="292608"/>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Made in</a:t>
            </a:r>
            <a:endParaRPr lang="en-US" sz="960" dirty="0"/>
          </a:p>
        </p:txBody>
      </p:sp>
      <p:sp>
        <p:nvSpPr>
          <p:cNvPr id="31" name="Text 28"/>
          <p:cNvSpPr/>
          <p:nvPr/>
        </p:nvSpPr>
        <p:spPr>
          <a:xfrm>
            <a:off x="10195560" y="4206240"/>
            <a:ext cx="1325880" cy="292608"/>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China</a:t>
            </a:r>
            <a:endParaRPr lang="en-US" sz="1000" dirty="0"/>
          </a:p>
        </p:txBody>
      </p:sp>
      <p:sp>
        <p:nvSpPr>
          <p:cNvPr id="32" name="Text 29"/>
          <p:cNvSpPr/>
          <p:nvPr/>
        </p:nvSpPr>
        <p:spPr>
          <a:xfrm>
            <a:off x="8046720" y="4663440"/>
            <a:ext cx="3474720" cy="502920"/>
          </a:xfrm>
          <a:prstGeom prst="rect">
            <a:avLst/>
          </a:prstGeom>
          <a:noFill/>
          <a:ln/>
        </p:spPr>
        <p:txBody>
          <a:bodyPr wrap="square" lIns="0" tIns="0" rIns="0" bIns="0" rtlCol="0" anchor="t"/>
          <a:lstStyle/>
          <a:p>
            <a:pPr indent="0" marL="0">
              <a:buNone/>
            </a:pPr>
            <a:r>
              <a:rPr lang="en-US" sz="950" i="1" dirty="0">
                <a:solidFill>
                  <a:srgbClr val="3A4356"/>
                </a:solidFill>
                <a:latin typeface="Calibri" pitchFamily="34" charset="0"/>
                <a:ea typeface="Calibri" pitchFamily="34" charset="-122"/>
                <a:cs typeface="Calibri" pitchFamily="34" charset="-120"/>
              </a:rPr>
              <a:t>Same volume and country as the casting, so the two compare like for like.</a:t>
            </a:r>
            <a:endParaRPr lang="en-US" sz="950" dirty="0"/>
          </a:p>
        </p:txBody>
      </p:sp>
      <p:sp>
        <p:nvSpPr>
          <p:cNvPr id="33" name="Text 30"/>
          <p:cNvSpPr/>
          <p:nvPr/>
        </p:nvSpPr>
        <p:spPr>
          <a:xfrm>
            <a:off x="457200" y="5266944"/>
            <a:ext cx="7132320" cy="219456"/>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Illustration of the worked-example part. The costs that follow are engine output from these inputs.</a:t>
            </a:r>
            <a:endParaRPr lang="en-US" sz="840" dirty="0"/>
          </a:p>
        </p:txBody>
      </p:sp>
      <p:sp>
        <p:nvSpPr>
          <p:cNvPr id="34" name="Text 3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35" name="Text 3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D6FB8"/>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1–4 · Measured First, Then Asked</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Same kernel, same order — the facts exist before anyone answers a question</a:t>
            </a:r>
            <a:endParaRPr lang="en-US" sz="1200" dirty="0"/>
          </a:p>
        </p:txBody>
      </p:sp>
      <p:sp>
        <p:nvSpPr>
          <p:cNvPr id="5" name="Shape 3"/>
          <p:cNvSpPr/>
          <p:nvPr/>
        </p:nvSpPr>
        <p:spPr>
          <a:xfrm>
            <a:off x="457200" y="1188720"/>
            <a:ext cx="4937760" cy="2651760"/>
          </a:xfrm>
          <a:prstGeom prst="roundRect">
            <a:avLst>
              <a:gd name="adj" fmla="val 3448"/>
            </a:avLst>
          </a:prstGeom>
          <a:solidFill>
            <a:srgbClr val="FFFFFF"/>
          </a:solidFill>
          <a:ln w="12700">
            <a:solidFill>
              <a:srgbClr val="DCE3EE"/>
            </a:solidFill>
            <a:prstDash val="solid"/>
          </a:ln>
        </p:spPr>
      </p:sp>
      <p:sp>
        <p:nvSpPr>
          <p:cNvPr id="6" name="Shape 4"/>
          <p:cNvSpPr/>
          <p:nvPr/>
        </p:nvSpPr>
        <p:spPr>
          <a:xfrm>
            <a:off x="685800" y="1371600"/>
            <a:ext cx="420624" cy="420624"/>
          </a:xfrm>
          <a:prstGeom prst="ellipse">
            <a:avLst/>
          </a:prstGeom>
          <a:solidFill>
            <a:srgbClr val="1D6FB8"/>
          </a:solidFill>
          <a:ln/>
        </p:spPr>
      </p:sp>
      <p:pic>
        <p:nvPicPr>
          <p:cNvPr id="7" name="Image 0" descr="preencoded.png">    </p:cNvPr>
          <p:cNvPicPr>
            <a:picLocks noChangeAspect="1"/>
          </p:cNvPicPr>
          <p:nvPr/>
        </p:nvPicPr>
        <p:blipFill>
          <a:blip r:embed="rId1"/>
          <a:stretch>
            <a:fillRect/>
          </a:stretch>
        </p:blipFill>
        <p:spPr>
          <a:xfrm>
            <a:off x="786384" y="1472184"/>
            <a:ext cx="219456" cy="219456"/>
          </a:xfrm>
          <a:prstGeom prst="rect">
            <a:avLst/>
          </a:prstGeom>
        </p:spPr>
      </p:pic>
      <p:sp>
        <p:nvSpPr>
          <p:cNvPr id="8" name="Text 5"/>
          <p:cNvSpPr/>
          <p:nvPr/>
        </p:nvSpPr>
        <p:spPr>
          <a:xfrm>
            <a:off x="1234440" y="1371600"/>
            <a:ext cx="3931920" cy="420624"/>
          </a:xfrm>
          <a:prstGeom prst="rect">
            <a:avLst/>
          </a:prstGeom>
          <a:noFill/>
          <a:ln/>
        </p:spPr>
        <p:txBody>
          <a:bodyPr wrap="square" lIns="0" tIns="0" rIns="0" bIns="0" rtlCol="0" anchor="ctr"/>
          <a:lstStyle/>
          <a:p>
            <a:pPr indent="0" marL="0">
              <a:buNone/>
            </a:pPr>
            <a:r>
              <a:rPr lang="en-US" sz="1250" b="1" dirty="0">
                <a:solidFill>
                  <a:srgbClr val="1D6FB8"/>
                </a:solidFill>
                <a:latin typeface="Calibri" pitchFamily="34" charset="0"/>
                <a:ea typeface="Calibri" pitchFamily="34" charset="-122"/>
                <a:cs typeface="Calibri" pitchFamily="34" charset="-120"/>
              </a:rPr>
              <a:t>What the kernel measures</a:t>
            </a:r>
            <a:endParaRPr lang="en-US" sz="1250" dirty="0"/>
          </a:p>
        </p:txBody>
      </p:sp>
      <p:sp>
        <p:nvSpPr>
          <p:cNvPr id="9" name="Text 6"/>
          <p:cNvSpPr/>
          <p:nvPr/>
        </p:nvSpPr>
        <p:spPr>
          <a:xfrm>
            <a:off x="713232" y="1956816"/>
            <a:ext cx="3291840" cy="310896"/>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Solid volume → weight in PP</a:t>
            </a:r>
            <a:endParaRPr lang="en-US" sz="1000" dirty="0"/>
          </a:p>
        </p:txBody>
      </p:sp>
      <p:sp>
        <p:nvSpPr>
          <p:cNvPr id="10" name="Text 7"/>
          <p:cNvSpPr/>
          <p:nvPr/>
        </p:nvSpPr>
        <p:spPr>
          <a:xfrm>
            <a:off x="3977640" y="1956816"/>
            <a:ext cx="1188720" cy="310896"/>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4.20 kg</a:t>
            </a:r>
            <a:endParaRPr lang="en-US" sz="1100" dirty="0"/>
          </a:p>
        </p:txBody>
      </p:sp>
      <p:sp>
        <p:nvSpPr>
          <p:cNvPr id="11" name="Text 8"/>
          <p:cNvSpPr/>
          <p:nvPr/>
        </p:nvSpPr>
        <p:spPr>
          <a:xfrm>
            <a:off x="713232" y="2304288"/>
            <a:ext cx="3291840" cy="310896"/>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Wall thickness (drives cooling)</a:t>
            </a:r>
            <a:endParaRPr lang="en-US" sz="1000" dirty="0"/>
          </a:p>
        </p:txBody>
      </p:sp>
      <p:sp>
        <p:nvSpPr>
          <p:cNvPr id="12" name="Text 9"/>
          <p:cNvSpPr/>
          <p:nvPr/>
        </p:nvSpPr>
        <p:spPr>
          <a:xfrm>
            <a:off x="3977640" y="2304288"/>
            <a:ext cx="1188720" cy="310896"/>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3.0 mm</a:t>
            </a:r>
            <a:endParaRPr lang="en-US" sz="1100" dirty="0"/>
          </a:p>
        </p:txBody>
      </p:sp>
      <p:sp>
        <p:nvSpPr>
          <p:cNvPr id="13" name="Text 10"/>
          <p:cNvSpPr/>
          <p:nvPr/>
        </p:nvSpPr>
        <p:spPr>
          <a:xfrm>
            <a:off x="713232" y="2651760"/>
            <a:ext cx="3291840" cy="310896"/>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Projected shadow in the draw direction</a:t>
            </a:r>
            <a:endParaRPr lang="en-US" sz="1000" dirty="0"/>
          </a:p>
        </p:txBody>
      </p:sp>
      <p:sp>
        <p:nvSpPr>
          <p:cNvPr id="14" name="Text 11"/>
          <p:cNvSpPr/>
          <p:nvPr/>
        </p:nvSpPr>
        <p:spPr>
          <a:xfrm>
            <a:off x="3977640" y="2651760"/>
            <a:ext cx="1188720" cy="310896"/>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9,900 cm²</a:t>
            </a:r>
            <a:endParaRPr lang="en-US" sz="1100" dirty="0"/>
          </a:p>
        </p:txBody>
      </p:sp>
      <p:sp>
        <p:nvSpPr>
          <p:cNvPr id="15" name="Text 12"/>
          <p:cNvSpPr/>
          <p:nvPr/>
        </p:nvSpPr>
        <p:spPr>
          <a:xfrm>
            <a:off x="713232" y="2999232"/>
            <a:ext cx="3291840" cy="310896"/>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Faces facing against the draw</a:t>
            </a:r>
            <a:endParaRPr lang="en-US" sz="1000" dirty="0"/>
          </a:p>
        </p:txBody>
      </p:sp>
      <p:sp>
        <p:nvSpPr>
          <p:cNvPr id="16" name="Text 13"/>
          <p:cNvSpPr/>
          <p:nvPr/>
        </p:nvSpPr>
        <p:spPr>
          <a:xfrm>
            <a:off x="3977640" y="2999232"/>
            <a:ext cx="1188720" cy="310896"/>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6 undercuts</a:t>
            </a:r>
            <a:endParaRPr lang="en-US" sz="1100" dirty="0"/>
          </a:p>
        </p:txBody>
      </p:sp>
      <p:sp>
        <p:nvSpPr>
          <p:cNvPr id="17" name="Text 14"/>
          <p:cNvSpPr/>
          <p:nvPr/>
        </p:nvSpPr>
        <p:spPr>
          <a:xfrm>
            <a:off x="713232" y="3346704"/>
            <a:ext cx="3291840" cy="310896"/>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Painted surface area</a:t>
            </a:r>
            <a:endParaRPr lang="en-US" sz="1000" dirty="0"/>
          </a:p>
        </p:txBody>
      </p:sp>
      <p:sp>
        <p:nvSpPr>
          <p:cNvPr id="18" name="Text 15"/>
          <p:cNvSpPr/>
          <p:nvPr/>
        </p:nvSpPr>
        <p:spPr>
          <a:xfrm>
            <a:off x="3977640" y="3346704"/>
            <a:ext cx="1188720" cy="310896"/>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1.6 m²</a:t>
            </a:r>
            <a:endParaRPr lang="en-US" sz="1100" dirty="0"/>
          </a:p>
        </p:txBody>
      </p:sp>
      <p:sp>
        <p:nvSpPr>
          <p:cNvPr id="19" name="Shape 16"/>
          <p:cNvSpPr/>
          <p:nvPr/>
        </p:nvSpPr>
        <p:spPr>
          <a:xfrm>
            <a:off x="5623560" y="1188720"/>
            <a:ext cx="3063240" cy="2651760"/>
          </a:xfrm>
          <a:prstGeom prst="roundRect">
            <a:avLst>
              <a:gd name="adj" fmla="val 3448"/>
            </a:avLst>
          </a:prstGeom>
          <a:solidFill>
            <a:srgbClr val="F1EBF8"/>
          </a:solidFill>
          <a:ln w="15875">
            <a:solidFill>
              <a:srgbClr val="6B3FA0"/>
            </a:solidFill>
            <a:prstDash val="solid"/>
          </a:ln>
        </p:spPr>
      </p:sp>
      <p:sp>
        <p:nvSpPr>
          <p:cNvPr id="20" name="Text 17"/>
          <p:cNvSpPr/>
          <p:nvPr/>
        </p:nvSpPr>
        <p:spPr>
          <a:xfrm>
            <a:off x="5852160" y="1316736"/>
            <a:ext cx="3108960" cy="237744"/>
          </a:xfrm>
          <a:prstGeom prst="rect">
            <a:avLst/>
          </a:prstGeom>
          <a:noFill/>
          <a:ln/>
        </p:spPr>
        <p:txBody>
          <a:bodyPr wrap="square" lIns="0" tIns="0" rIns="0" bIns="0" rtlCol="0" anchor="ctr"/>
          <a:lstStyle/>
          <a:p>
            <a:pPr indent="0" marL="0">
              <a:buNone/>
            </a:pPr>
            <a:r>
              <a:rPr lang="en-US" sz="1000" b="1" spc="80" kern="0" dirty="0">
                <a:solidFill>
                  <a:srgbClr val="6B3FA0"/>
                </a:solidFill>
                <a:latin typeface="Calibri" pitchFamily="34" charset="0"/>
                <a:ea typeface="Calibri" pitchFamily="34" charset="-122"/>
                <a:cs typeface="Calibri" pitchFamily="34" charset="-120"/>
              </a:rPr>
              <a:t>WHAT THE ENGINEER IS ASKED</a:t>
            </a:r>
            <a:endParaRPr lang="en-US" sz="1000" dirty="0"/>
          </a:p>
        </p:txBody>
      </p:sp>
      <p:sp>
        <p:nvSpPr>
          <p:cNvPr id="21" name="Text 18"/>
          <p:cNvSpPr/>
          <p:nvPr/>
        </p:nvSpPr>
        <p:spPr>
          <a:xfrm>
            <a:off x="5852160" y="1627632"/>
            <a:ext cx="2651760" cy="201168"/>
          </a:xfrm>
          <a:prstGeom prst="rect">
            <a:avLst/>
          </a:prstGeom>
          <a:noFill/>
          <a:ln/>
        </p:spPr>
        <p:txBody>
          <a:bodyPr wrap="square" lIns="0" tIns="0" rIns="0" bIns="0" rtlCol="0" anchor="ctr"/>
          <a:lstStyle/>
          <a:p>
            <a:pPr indent="0" marL="0">
              <a:buNone/>
            </a:pPr>
            <a:r>
              <a:rPr lang="en-US" sz="900" dirty="0">
                <a:solidFill>
                  <a:srgbClr val="686F7D"/>
                </a:solidFill>
                <a:latin typeface="Calibri" pitchFamily="34" charset="0"/>
                <a:ea typeface="Calibri" pitchFamily="34" charset="-122"/>
                <a:cs typeface="Calibri" pitchFamily="34" charset="-120"/>
              </a:rPr>
              <a:t>Material family</a:t>
            </a:r>
            <a:endParaRPr lang="en-US" sz="900" dirty="0"/>
          </a:p>
        </p:txBody>
      </p:sp>
      <p:sp>
        <p:nvSpPr>
          <p:cNvPr id="22" name="Text 19"/>
          <p:cNvSpPr/>
          <p:nvPr/>
        </p:nvSpPr>
        <p:spPr>
          <a:xfrm>
            <a:off x="5852160" y="1819656"/>
            <a:ext cx="2651760" cy="274320"/>
          </a:xfrm>
          <a:prstGeom prst="rect">
            <a:avLst/>
          </a:prstGeom>
          <a:noFill/>
          <a:ln/>
        </p:spPr>
        <p:txBody>
          <a:bodyPr wrap="square" lIns="0" tIns="0" rIns="0" bIns="0" rtlCol="0" anchor="t"/>
          <a:lstStyle/>
          <a:p>
            <a:pPr indent="0" marL="0">
              <a:buNone/>
            </a:pPr>
            <a:r>
              <a:rPr lang="en-US" sz="1050" b="1" dirty="0">
                <a:solidFill>
                  <a:srgbClr val="16325C"/>
                </a:solidFill>
                <a:latin typeface="Calibri" pitchFamily="34" charset="0"/>
                <a:ea typeface="Calibri" pitchFamily="34" charset="-122"/>
                <a:cs typeface="Calibri" pitchFamily="34" charset="-120"/>
              </a:rPr>
              <a:t>Talc-filled polypropylene</a:t>
            </a:r>
            <a:endParaRPr lang="en-US" sz="1050" dirty="0"/>
          </a:p>
        </p:txBody>
      </p:sp>
      <p:sp>
        <p:nvSpPr>
          <p:cNvPr id="23" name="Text 20"/>
          <p:cNvSpPr/>
          <p:nvPr/>
        </p:nvSpPr>
        <p:spPr>
          <a:xfrm>
            <a:off x="5852160" y="2103120"/>
            <a:ext cx="2651760" cy="201168"/>
          </a:xfrm>
          <a:prstGeom prst="rect">
            <a:avLst/>
          </a:prstGeom>
          <a:noFill/>
          <a:ln/>
        </p:spPr>
        <p:txBody>
          <a:bodyPr wrap="square" lIns="0" tIns="0" rIns="0" bIns="0" rtlCol="0" anchor="ctr"/>
          <a:lstStyle/>
          <a:p>
            <a:pPr indent="0" marL="0">
              <a:buNone/>
            </a:pPr>
            <a:r>
              <a:rPr lang="en-US" sz="900" dirty="0">
                <a:solidFill>
                  <a:srgbClr val="686F7D"/>
                </a:solidFill>
                <a:latin typeface="Calibri" pitchFamily="34" charset="0"/>
                <a:ea typeface="Calibri" pitchFamily="34" charset="-122"/>
                <a:cs typeface="Calibri" pitchFamily="34" charset="-120"/>
              </a:rPr>
              <a:t>How it is made</a:t>
            </a:r>
            <a:endParaRPr lang="en-US" sz="900" dirty="0"/>
          </a:p>
        </p:txBody>
      </p:sp>
      <p:sp>
        <p:nvSpPr>
          <p:cNvPr id="24" name="Text 21"/>
          <p:cNvSpPr/>
          <p:nvPr/>
        </p:nvSpPr>
        <p:spPr>
          <a:xfrm>
            <a:off x="5852160" y="2295144"/>
            <a:ext cx="2651760" cy="274320"/>
          </a:xfrm>
          <a:prstGeom prst="rect">
            <a:avLst/>
          </a:prstGeom>
          <a:noFill/>
          <a:ln/>
        </p:spPr>
        <p:txBody>
          <a:bodyPr wrap="square" lIns="0" tIns="0" rIns="0" bIns="0" rtlCol="0" anchor="t"/>
          <a:lstStyle/>
          <a:p>
            <a:pPr indent="0" marL="0">
              <a:buNone/>
            </a:pPr>
            <a:r>
              <a:rPr lang="en-US" sz="1050" b="1" dirty="0">
                <a:solidFill>
                  <a:srgbClr val="16325C"/>
                </a:solidFill>
                <a:latin typeface="Calibri" pitchFamily="34" charset="0"/>
                <a:ea typeface="Calibri" pitchFamily="34" charset="-122"/>
                <a:cs typeface="Calibri" pitchFamily="34" charset="-120"/>
              </a:rPr>
              <a:t>Injection moulded, one shot</a:t>
            </a:r>
            <a:endParaRPr lang="en-US" sz="1050" dirty="0"/>
          </a:p>
        </p:txBody>
      </p:sp>
      <p:sp>
        <p:nvSpPr>
          <p:cNvPr id="25" name="Text 22"/>
          <p:cNvSpPr/>
          <p:nvPr/>
        </p:nvSpPr>
        <p:spPr>
          <a:xfrm>
            <a:off x="5852160" y="2578608"/>
            <a:ext cx="2651760" cy="201168"/>
          </a:xfrm>
          <a:prstGeom prst="rect">
            <a:avLst/>
          </a:prstGeom>
          <a:noFill/>
          <a:ln/>
        </p:spPr>
        <p:txBody>
          <a:bodyPr wrap="square" lIns="0" tIns="0" rIns="0" bIns="0" rtlCol="0" anchor="ctr"/>
          <a:lstStyle/>
          <a:p>
            <a:pPr indent="0" marL="0">
              <a:buNone/>
            </a:pPr>
            <a:r>
              <a:rPr lang="en-US" sz="900" dirty="0">
                <a:solidFill>
                  <a:srgbClr val="686F7D"/>
                </a:solidFill>
                <a:latin typeface="Calibri" pitchFamily="34" charset="0"/>
                <a:ea typeface="Calibri" pitchFamily="34" charset="-122"/>
                <a:cs typeface="Calibri" pitchFamily="34" charset="-120"/>
              </a:rPr>
              <a:t>Then what</a:t>
            </a:r>
            <a:endParaRPr lang="en-US" sz="900" dirty="0"/>
          </a:p>
        </p:txBody>
      </p:sp>
      <p:sp>
        <p:nvSpPr>
          <p:cNvPr id="26" name="Text 23"/>
          <p:cNvSpPr/>
          <p:nvPr/>
        </p:nvSpPr>
        <p:spPr>
          <a:xfrm>
            <a:off x="5852160" y="2770632"/>
            <a:ext cx="2651760" cy="274320"/>
          </a:xfrm>
          <a:prstGeom prst="rect">
            <a:avLst/>
          </a:prstGeom>
          <a:noFill/>
          <a:ln/>
        </p:spPr>
        <p:txBody>
          <a:bodyPr wrap="square" lIns="0" tIns="0" rIns="0" bIns="0" rtlCol="0" anchor="t"/>
          <a:lstStyle/>
          <a:p>
            <a:pPr indent="0" marL="0">
              <a:buNone/>
            </a:pPr>
            <a:r>
              <a:rPr lang="en-US" sz="1050" b="1" dirty="0">
                <a:solidFill>
                  <a:srgbClr val="16325C"/>
                </a:solidFill>
                <a:latin typeface="Calibri" pitchFamily="34" charset="0"/>
                <a:ea typeface="Calibri" pitchFamily="34" charset="-122"/>
                <a:cs typeface="Calibri" pitchFamily="34" charset="-120"/>
              </a:rPr>
              <a:t>Painted, Class-A finish</a:t>
            </a:r>
            <a:endParaRPr lang="en-US" sz="1050" dirty="0"/>
          </a:p>
        </p:txBody>
      </p:sp>
      <p:sp>
        <p:nvSpPr>
          <p:cNvPr id="27" name="Text 24"/>
          <p:cNvSpPr/>
          <p:nvPr/>
        </p:nvSpPr>
        <p:spPr>
          <a:xfrm>
            <a:off x="5852160" y="3054096"/>
            <a:ext cx="2651760" cy="201168"/>
          </a:xfrm>
          <a:prstGeom prst="rect">
            <a:avLst/>
          </a:prstGeom>
          <a:noFill/>
          <a:ln/>
        </p:spPr>
        <p:txBody>
          <a:bodyPr wrap="square" lIns="0" tIns="0" rIns="0" bIns="0" rtlCol="0" anchor="ctr"/>
          <a:lstStyle/>
          <a:p>
            <a:pPr indent="0" marL="0">
              <a:buNone/>
            </a:pPr>
            <a:r>
              <a:rPr lang="en-US" sz="900" dirty="0">
                <a:solidFill>
                  <a:srgbClr val="686F7D"/>
                </a:solidFill>
                <a:latin typeface="Calibri" pitchFamily="34" charset="0"/>
                <a:ea typeface="Calibri" pitchFamily="34" charset="-122"/>
                <a:cs typeface="Calibri" pitchFamily="34" charset="-120"/>
              </a:rPr>
              <a:t>Volume · region</a:t>
            </a:r>
            <a:endParaRPr lang="en-US" sz="900" dirty="0"/>
          </a:p>
        </p:txBody>
      </p:sp>
      <p:sp>
        <p:nvSpPr>
          <p:cNvPr id="28" name="Text 25"/>
          <p:cNvSpPr/>
          <p:nvPr/>
        </p:nvSpPr>
        <p:spPr>
          <a:xfrm>
            <a:off x="5852160" y="3246120"/>
            <a:ext cx="2651760" cy="274320"/>
          </a:xfrm>
          <a:prstGeom prst="rect">
            <a:avLst/>
          </a:prstGeom>
          <a:noFill/>
          <a:ln/>
        </p:spPr>
        <p:txBody>
          <a:bodyPr wrap="square" lIns="0" tIns="0" rIns="0" bIns="0" rtlCol="0" anchor="t"/>
          <a:lstStyle/>
          <a:p>
            <a:pPr indent="0" marL="0">
              <a:buNone/>
            </a:pPr>
            <a:r>
              <a:rPr lang="en-US" sz="1050" b="1" dirty="0">
                <a:solidFill>
                  <a:srgbClr val="16325C"/>
                </a:solidFill>
                <a:latin typeface="Calibri" pitchFamily="34" charset="0"/>
                <a:ea typeface="Calibri" pitchFamily="34" charset="-122"/>
                <a:cs typeface="Calibri" pitchFamily="34" charset="-120"/>
              </a:rPr>
              <a:t>60,000 a year · China</a:t>
            </a:r>
            <a:endParaRPr lang="en-US" sz="1050" dirty="0"/>
          </a:p>
        </p:txBody>
      </p:sp>
      <p:sp>
        <p:nvSpPr>
          <p:cNvPr id="29" name="Text 26"/>
          <p:cNvSpPr/>
          <p:nvPr/>
        </p:nvSpPr>
        <p:spPr>
          <a:xfrm>
            <a:off x="5852160" y="3547872"/>
            <a:ext cx="2651760" cy="237744"/>
          </a:xfrm>
          <a:prstGeom prst="rect">
            <a:avLst/>
          </a:prstGeom>
          <a:noFill/>
          <a:ln/>
        </p:spPr>
        <p:txBody>
          <a:bodyPr wrap="square" lIns="0" tIns="0" rIns="0" bIns="0" rtlCol="0" anchor="ctr"/>
          <a:lstStyle/>
          <a:p>
            <a:pPr indent="0" marL="0">
              <a:buNone/>
            </a:pPr>
            <a:r>
              <a:rPr lang="en-US" sz="950" b="1" i="1" dirty="0">
                <a:solidFill>
                  <a:srgbClr val="6B3FA0"/>
                </a:solidFill>
                <a:latin typeface="Calibri" pitchFamily="34" charset="0"/>
                <a:ea typeface="Calibri" pitchFamily="34" charset="-122"/>
                <a:cs typeface="Calibri" pitchFamily="34" charset="-120"/>
              </a:rPr>
              <a:t>Answered, not guessed.</a:t>
            </a:r>
            <a:endParaRPr lang="en-US" sz="950" dirty="0"/>
          </a:p>
        </p:txBody>
      </p:sp>
      <p:sp>
        <p:nvSpPr>
          <p:cNvPr id="30" name="Shape 27"/>
          <p:cNvSpPr/>
          <p:nvPr/>
        </p:nvSpPr>
        <p:spPr>
          <a:xfrm>
            <a:off x="8915400" y="1188720"/>
            <a:ext cx="2816352" cy="2651760"/>
          </a:xfrm>
          <a:prstGeom prst="roundRect">
            <a:avLst>
              <a:gd name="adj" fmla="val 3448"/>
            </a:avLst>
          </a:prstGeom>
          <a:solidFill>
            <a:srgbClr val="E8F1FA"/>
          </a:solidFill>
          <a:ln w="15875">
            <a:solidFill>
              <a:srgbClr val="1D6FB8"/>
            </a:solidFill>
            <a:prstDash val="solid"/>
          </a:ln>
        </p:spPr>
      </p:sp>
      <p:sp>
        <p:nvSpPr>
          <p:cNvPr id="31" name="Text 28"/>
          <p:cNvSpPr/>
          <p:nvPr/>
        </p:nvSpPr>
        <p:spPr>
          <a:xfrm>
            <a:off x="9144000" y="1316736"/>
            <a:ext cx="2377440" cy="237744"/>
          </a:xfrm>
          <a:prstGeom prst="rect">
            <a:avLst/>
          </a:prstGeom>
          <a:noFill/>
          <a:ln/>
        </p:spPr>
        <p:txBody>
          <a:bodyPr wrap="square" lIns="0" tIns="0" rIns="0" bIns="0" rtlCol="0" anchor="ctr"/>
          <a:lstStyle/>
          <a:p>
            <a:pPr indent="0" marL="0">
              <a:buNone/>
            </a:pPr>
            <a:r>
              <a:rPr lang="en-US" sz="1000" b="1" spc="80" kern="0" dirty="0">
                <a:solidFill>
                  <a:srgbClr val="1D6FB8"/>
                </a:solidFill>
                <a:latin typeface="Calibri" pitchFamily="34" charset="0"/>
                <a:ea typeface="Calibri" pitchFamily="34" charset="-122"/>
                <a:cs typeface="Calibri" pitchFamily="34" charset="-120"/>
              </a:rPr>
              <a:t>THE UNDERCUT COUNT</a:t>
            </a:r>
            <a:endParaRPr lang="en-US" sz="1000" dirty="0"/>
          </a:p>
        </p:txBody>
      </p:sp>
      <p:sp>
        <p:nvSpPr>
          <p:cNvPr id="32" name="Text 29"/>
          <p:cNvSpPr/>
          <p:nvPr/>
        </p:nvSpPr>
        <p:spPr>
          <a:xfrm>
            <a:off x="9144000" y="1645920"/>
            <a:ext cx="2377440" cy="1463040"/>
          </a:xfrm>
          <a:prstGeom prst="rect">
            <a:avLst/>
          </a:prstGeom>
          <a:noFill/>
          <a:ln/>
        </p:spPr>
        <p:txBody>
          <a:bodyPr wrap="square" lIns="0" tIns="0" rIns="0" bIns="0" rtlCol="0" anchor="t"/>
          <a:lstStyle/>
          <a:p>
            <a:pPr indent="0" marL="0">
              <a:buNone/>
            </a:pPr>
            <a:r>
              <a:rPr lang="en-US" sz="1000" dirty="0">
                <a:solidFill>
                  <a:srgbClr val="3A4356"/>
                </a:solidFill>
                <a:latin typeface="Calibri" pitchFamily="34" charset="0"/>
                <a:ea typeface="Calibri" pitchFamily="34" charset="-122"/>
                <a:cs typeface="Calibri" pitchFamily="34" charset="-120"/>
              </a:rPr>
              <a:t>The kernel classifies every face by its angle to the mould-opening direction. </a:t>
            </a:r>
            <a:pPr indent="0" marL="0">
              <a:buNone/>
            </a:pPr>
            <a:r>
              <a:rPr lang="en-US" sz="1000" b="1" dirty="0">
                <a:solidFill>
                  <a:srgbClr val="16325C"/>
                </a:solidFill>
                <a:latin typeface="Calibri" pitchFamily="34" charset="0"/>
                <a:ea typeface="Calibri" pitchFamily="34" charset="-122"/>
                <a:cs typeface="Calibri" pitchFamily="34" charset="-120"/>
              </a:rPr>
              <a:t>Six faces point back against the draw. </a:t>
            </a:r>
            <a:pPr indent="0" marL="0">
              <a:buNone/>
            </a:pPr>
            <a:r>
              <a:rPr lang="en-US" sz="1000" dirty="0">
                <a:solidFill>
                  <a:srgbClr val="3A4356"/>
                </a:solidFill>
                <a:latin typeface="Calibri" pitchFamily="34" charset="0"/>
                <a:ea typeface="Calibri" pitchFamily="34" charset="-122"/>
                <a:cs typeface="Calibri" pitchFamily="34" charset="-120"/>
              </a:rPr>
              <a:t>Each one needs a sliding section in the tool — and each slide is real money in the mould.</a:t>
            </a:r>
            <a:endParaRPr lang="en-US" sz="1000" dirty="0"/>
          </a:p>
        </p:txBody>
      </p:sp>
      <p:sp>
        <p:nvSpPr>
          <p:cNvPr id="33" name="Text 30"/>
          <p:cNvSpPr/>
          <p:nvPr/>
        </p:nvSpPr>
        <p:spPr>
          <a:xfrm>
            <a:off x="9144000" y="3200400"/>
            <a:ext cx="2377440" cy="457200"/>
          </a:xfrm>
          <a:prstGeom prst="rect">
            <a:avLst/>
          </a:prstGeom>
          <a:noFill/>
          <a:ln/>
        </p:spPr>
        <p:txBody>
          <a:bodyPr wrap="square" lIns="0" tIns="0" rIns="0" bIns="0" rtlCol="0" anchor="t"/>
          <a:lstStyle/>
          <a:p>
            <a:pPr indent="0" marL="0">
              <a:buNone/>
            </a:pPr>
            <a:r>
              <a:rPr lang="en-US" sz="950" b="1" i="1" dirty="0">
                <a:solidFill>
                  <a:srgbClr val="1D6FB8"/>
                </a:solidFill>
                <a:latin typeface="Calibri" pitchFamily="34" charset="0"/>
                <a:ea typeface="Calibri" pitchFamily="34" charset="-122"/>
                <a:cs typeface="Calibri" pitchFamily="34" charset="-120"/>
              </a:rPr>
              <a:t>Nobody counted these by eye.</a:t>
            </a:r>
            <a:endParaRPr lang="en-US" sz="950" dirty="0"/>
          </a:p>
        </p:txBody>
      </p:sp>
      <p:sp>
        <p:nvSpPr>
          <p:cNvPr id="34" name="Shape 31"/>
          <p:cNvSpPr/>
          <p:nvPr/>
        </p:nvSpPr>
        <p:spPr>
          <a:xfrm>
            <a:off x="457200" y="4041648"/>
            <a:ext cx="11274552" cy="1051560"/>
          </a:xfrm>
          <a:prstGeom prst="roundRect">
            <a:avLst>
              <a:gd name="adj" fmla="val 8696"/>
            </a:avLst>
          </a:prstGeom>
          <a:solidFill>
            <a:srgbClr val="FFFFFF"/>
          </a:solidFill>
          <a:ln w="12700">
            <a:solidFill>
              <a:srgbClr val="DCE3EE"/>
            </a:solidFill>
            <a:prstDash val="solid"/>
          </a:ln>
        </p:spPr>
      </p:sp>
      <p:sp>
        <p:nvSpPr>
          <p:cNvPr id="35" name="Text 32"/>
          <p:cNvSpPr/>
          <p:nvPr/>
        </p:nvSpPr>
        <p:spPr>
          <a:xfrm>
            <a:off x="731520" y="4151376"/>
            <a:ext cx="10058400" cy="274320"/>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The one measurement that decides the biggest number on this part</a:t>
            </a:r>
            <a:endParaRPr lang="en-US" sz="1250" dirty="0"/>
          </a:p>
        </p:txBody>
      </p:sp>
      <p:sp>
        <p:nvSpPr>
          <p:cNvPr id="36" name="Text 33"/>
          <p:cNvSpPr/>
          <p:nvPr/>
        </p:nvSpPr>
        <p:spPr>
          <a:xfrm>
            <a:off x="731520" y="4443984"/>
            <a:ext cx="10744200" cy="548640"/>
          </a:xfrm>
          <a:prstGeom prst="rect">
            <a:avLst/>
          </a:prstGeom>
          <a:noFill/>
          <a:ln/>
        </p:spPr>
        <p:txBody>
          <a:bodyPr wrap="square" lIns="0" tIns="0" rIns="0" bIns="0" rtlCol="0" anchor="t"/>
          <a:lstStyle/>
          <a:p>
            <a:pPr indent="0" marL="0">
              <a:buNone/>
            </a:pPr>
            <a:r>
              <a:rPr lang="en-US" sz="1150" b="1" dirty="0">
                <a:solidFill>
                  <a:srgbClr val="16325C"/>
                </a:solidFill>
                <a:latin typeface="Calibri" pitchFamily="34" charset="0"/>
                <a:ea typeface="Calibri" pitchFamily="34" charset="-122"/>
                <a:cs typeface="Calibri" pitchFamily="34" charset="-120"/>
              </a:rPr>
              <a:t>The projected shadow — 9,900 cm². </a:t>
            </a:r>
            <a:pPr indent="0" marL="0">
              <a:buNone/>
            </a:pPr>
            <a:r>
              <a:rPr lang="en-US" sz="1150" dirty="0">
                <a:solidFill>
                  <a:srgbClr val="3A4356"/>
                </a:solidFill>
                <a:latin typeface="Calibri" pitchFamily="34" charset="0"/>
                <a:ea typeface="Calibri" pitchFamily="34" charset="-122"/>
                <a:cs typeface="Calibri" pitchFamily="34" charset="-120"/>
              </a:rPr>
              <a:t>Molten plastic pushing outwards over that area is what tries to force the mould open, so it sets the press size, and the press rate sets the moulding cost. A part this size cannot be moulded on a small machine, however cheap that machine is.</a:t>
            </a:r>
            <a:endParaRPr lang="en-US" sz="1150" dirty="0"/>
          </a:p>
        </p:txBody>
      </p:sp>
      <p:sp>
        <p:nvSpPr>
          <p:cNvPr id="37" name="Shape 34"/>
          <p:cNvSpPr/>
          <p:nvPr/>
        </p:nvSpPr>
        <p:spPr>
          <a:xfrm>
            <a:off x="457200" y="5257800"/>
            <a:ext cx="11274552" cy="777240"/>
          </a:xfrm>
          <a:prstGeom prst="roundRect">
            <a:avLst>
              <a:gd name="adj" fmla="val 11765"/>
            </a:avLst>
          </a:prstGeom>
          <a:solidFill>
            <a:srgbClr val="F1EBF8"/>
          </a:solidFill>
          <a:ln w="12700">
            <a:solidFill>
              <a:srgbClr val="6B3FA0"/>
            </a:solidFill>
            <a:prstDash val="solid"/>
          </a:ln>
        </p:spPr>
      </p:sp>
      <p:sp>
        <p:nvSpPr>
          <p:cNvPr id="38" name="Text 35"/>
          <p:cNvSpPr/>
          <p:nvPr/>
        </p:nvSpPr>
        <p:spPr>
          <a:xfrm>
            <a:off x="731520" y="5358384"/>
            <a:ext cx="10744200" cy="603504"/>
          </a:xfrm>
          <a:prstGeom prst="rect">
            <a:avLst/>
          </a:prstGeom>
          <a:noFill/>
          <a:ln/>
        </p:spPr>
        <p:txBody>
          <a:bodyPr wrap="square" lIns="0" tIns="0" rIns="0" bIns="0" rtlCol="0" anchor="ctr"/>
          <a:lstStyle/>
          <a:p>
            <a:pPr indent="0" marL="0">
              <a:buNone/>
            </a:pPr>
            <a:r>
              <a:rPr lang="en-US" sz="1150" b="1" dirty="0">
                <a:solidFill>
                  <a:srgbClr val="6B3FA0"/>
                </a:solidFill>
                <a:latin typeface="Calibri" pitchFamily="34" charset="0"/>
                <a:ea typeface="Calibri" pitchFamily="34" charset="-122"/>
                <a:cs typeface="Calibri" pitchFamily="34" charset="-120"/>
              </a:rPr>
              <a:t>Identical to the casting: </a:t>
            </a:r>
            <a:pPr indent="0" marL="0">
              <a:buNone/>
            </a:pPr>
            <a:r>
              <a:rPr lang="en-US" sz="1150" dirty="0">
                <a:solidFill>
                  <a:srgbClr val="3A4356"/>
                </a:solidFill>
                <a:latin typeface="Calibri" pitchFamily="34" charset="0"/>
                <a:ea typeface="Calibri" pitchFamily="34" charset="-122"/>
                <a:cs typeface="Calibri" pitchFamily="34" charset="-120"/>
              </a:rPr>
              <a:t>stages 1 to 3 measure first; stage 4 is the engineer answering what geometry cannot decide. AI is off at JLR — and even when on, it never sees a price, a rate or a machine.</a:t>
            </a:r>
            <a:endParaRPr lang="en-US" sz="1150" dirty="0"/>
          </a:p>
        </p:txBody>
      </p:sp>
      <p:sp>
        <p:nvSpPr>
          <p:cNvPr id="39" name="Text 36"/>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40" name="Text 37"/>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99651A"/>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5–7 · The Guards, and Which Press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Four moulding-specific checks, then the press sized by physics</a:t>
            </a:r>
            <a:endParaRPr lang="en-US" sz="1200" dirty="0"/>
          </a:p>
        </p:txBody>
      </p:sp>
      <p:sp>
        <p:nvSpPr>
          <p:cNvPr id="5" name="Shape 3"/>
          <p:cNvSpPr/>
          <p:nvPr/>
        </p:nvSpPr>
        <p:spPr>
          <a:xfrm>
            <a:off x="457200" y="1188720"/>
            <a:ext cx="5486400" cy="1170432"/>
          </a:xfrm>
          <a:prstGeom prst="roundRect">
            <a:avLst>
              <a:gd name="adj" fmla="val 7031"/>
            </a:avLst>
          </a:prstGeom>
          <a:solidFill>
            <a:srgbClr val="FFFFFF"/>
          </a:solidFill>
          <a:ln w="12700">
            <a:solidFill>
              <a:srgbClr val="DCE3EE"/>
            </a:solidFill>
            <a:prstDash val="solid"/>
          </a:ln>
        </p:spPr>
      </p:sp>
      <p:sp>
        <p:nvSpPr>
          <p:cNvPr id="6" name="Text 4"/>
          <p:cNvSpPr/>
          <p:nvPr/>
        </p:nvSpPr>
        <p:spPr>
          <a:xfrm>
            <a:off x="658368" y="1280160"/>
            <a:ext cx="5120640" cy="256032"/>
          </a:xfrm>
          <a:prstGeom prst="rect">
            <a:avLst/>
          </a:prstGeom>
          <a:noFill/>
          <a:ln/>
        </p:spPr>
        <p:txBody>
          <a:bodyPr wrap="square" lIns="0" tIns="0" rIns="0" bIns="0" rtlCol="0" anchor="ctr"/>
          <a:lstStyle/>
          <a:p>
            <a:pPr indent="0" marL="0">
              <a:buNone/>
            </a:pPr>
            <a:r>
              <a:rPr lang="en-US" sz="1150" b="1" dirty="0">
                <a:solidFill>
                  <a:srgbClr val="99651A"/>
                </a:solidFill>
                <a:latin typeface="Calibri" pitchFamily="34" charset="0"/>
                <a:ea typeface="Calibri" pitchFamily="34" charset="-122"/>
                <a:cs typeface="Calibri" pitchFamily="34" charset="-120"/>
              </a:rPr>
              <a:t>1 · Hot runner means no wasted resin</a:t>
            </a:r>
            <a:endParaRPr lang="en-US" sz="1150" dirty="0"/>
          </a:p>
        </p:txBody>
      </p:sp>
      <p:sp>
        <p:nvSpPr>
          <p:cNvPr id="7" name="Text 5"/>
          <p:cNvSpPr/>
          <p:nvPr/>
        </p:nvSpPr>
        <p:spPr>
          <a:xfrm>
            <a:off x="658368" y="1572768"/>
            <a:ext cx="5084064" cy="713232"/>
          </a:xfrm>
          <a:prstGeom prst="rect">
            <a:avLst/>
          </a:prstGeom>
          <a:noFill/>
          <a:ln/>
        </p:spPr>
        <p:txBody>
          <a:bodyPr wrap="square" lIns="0" tIns="0" rIns="0" bIns="0" rtlCol="0" anchor="t"/>
          <a:lstStyle/>
          <a:p>
            <a:pPr indent="0" marL="0">
              <a:buNone/>
            </a:pPr>
            <a:r>
              <a:rPr lang="en-US" sz="960" dirty="0">
                <a:solidFill>
                  <a:srgbClr val="3A4356"/>
                </a:solidFill>
                <a:latin typeface="Calibri" pitchFamily="34" charset="0"/>
                <a:ea typeface="Calibri" pitchFamily="34" charset="-122"/>
                <a:cs typeface="Calibri" pitchFamily="34" charset="-120"/>
              </a:rPr>
              <a:t>A cold runner would add 0.6–0.9 kg of scrap plastic per shot. This tool has a hot runner, so the shot weight IS the part weight — the guard makes sure we do not charge for plastic nobody buys.</a:t>
            </a:r>
            <a:endParaRPr lang="en-US" sz="960" dirty="0"/>
          </a:p>
        </p:txBody>
      </p:sp>
      <p:sp>
        <p:nvSpPr>
          <p:cNvPr id="8" name="Shape 6"/>
          <p:cNvSpPr/>
          <p:nvPr/>
        </p:nvSpPr>
        <p:spPr>
          <a:xfrm>
            <a:off x="6245352" y="1188720"/>
            <a:ext cx="5486400" cy="1170432"/>
          </a:xfrm>
          <a:prstGeom prst="roundRect">
            <a:avLst>
              <a:gd name="adj" fmla="val 7031"/>
            </a:avLst>
          </a:prstGeom>
          <a:solidFill>
            <a:srgbClr val="FFFFFF"/>
          </a:solidFill>
          <a:ln w="12700">
            <a:solidFill>
              <a:srgbClr val="DCE3EE"/>
            </a:solidFill>
            <a:prstDash val="solid"/>
          </a:ln>
        </p:spPr>
      </p:sp>
      <p:sp>
        <p:nvSpPr>
          <p:cNvPr id="9" name="Text 7"/>
          <p:cNvSpPr/>
          <p:nvPr/>
        </p:nvSpPr>
        <p:spPr>
          <a:xfrm>
            <a:off x="6446520" y="1280160"/>
            <a:ext cx="5120640" cy="256032"/>
          </a:xfrm>
          <a:prstGeom prst="rect">
            <a:avLst/>
          </a:prstGeom>
          <a:noFill/>
          <a:ln/>
        </p:spPr>
        <p:txBody>
          <a:bodyPr wrap="square" lIns="0" tIns="0" rIns="0" bIns="0" rtlCol="0" anchor="ctr"/>
          <a:lstStyle/>
          <a:p>
            <a:pPr indent="0" marL="0">
              <a:buNone/>
            </a:pPr>
            <a:r>
              <a:rPr lang="en-US" sz="1150" b="1" dirty="0">
                <a:solidFill>
                  <a:srgbClr val="99651A"/>
                </a:solidFill>
                <a:latin typeface="Calibri" pitchFamily="34" charset="0"/>
                <a:ea typeface="Calibri" pitchFamily="34" charset="-122"/>
                <a:cs typeface="Calibri" pitchFamily="34" charset="-120"/>
              </a:rPr>
              <a:t>2 · Cooling is calculated, not guessed</a:t>
            </a:r>
            <a:endParaRPr lang="en-US" sz="1150" dirty="0"/>
          </a:p>
        </p:txBody>
      </p:sp>
      <p:sp>
        <p:nvSpPr>
          <p:cNvPr id="10" name="Text 8"/>
          <p:cNvSpPr/>
          <p:nvPr/>
        </p:nvSpPr>
        <p:spPr>
          <a:xfrm>
            <a:off x="6446520" y="1572768"/>
            <a:ext cx="5084064" cy="713232"/>
          </a:xfrm>
          <a:prstGeom prst="rect">
            <a:avLst/>
          </a:prstGeom>
          <a:noFill/>
          <a:ln/>
        </p:spPr>
        <p:txBody>
          <a:bodyPr wrap="square" lIns="0" tIns="0" rIns="0" bIns="0" rtlCol="0" anchor="t"/>
          <a:lstStyle/>
          <a:p>
            <a:pPr indent="0" marL="0">
              <a:buNone/>
            </a:pPr>
            <a:r>
              <a:rPr lang="en-US" sz="960" dirty="0">
                <a:solidFill>
                  <a:srgbClr val="3A4356"/>
                </a:solidFill>
                <a:latin typeface="Calibri" pitchFamily="34" charset="0"/>
                <a:ea typeface="Calibri" pitchFamily="34" charset="-122"/>
                <a:cs typeface="Calibri" pitchFamily="34" charset="-120"/>
              </a:rPr>
              <a:t>Cool time from Fourier’s transient-conduction law — each resin’s real melt/mould/eject temperatures, diffusivity calibrated to industry data (next slide shows every symbol). For PP: 3.16 s/mm² × (3.0 mm)² = 28.4 s — over half the whole cycle, and the wall enters SQUARED.</a:t>
            </a:r>
            <a:endParaRPr lang="en-US" sz="960" dirty="0"/>
          </a:p>
        </p:txBody>
      </p:sp>
      <p:sp>
        <p:nvSpPr>
          <p:cNvPr id="11" name="Shape 9"/>
          <p:cNvSpPr/>
          <p:nvPr/>
        </p:nvSpPr>
        <p:spPr>
          <a:xfrm>
            <a:off x="457200" y="2487168"/>
            <a:ext cx="5486400" cy="1170432"/>
          </a:xfrm>
          <a:prstGeom prst="roundRect">
            <a:avLst>
              <a:gd name="adj" fmla="val 7031"/>
            </a:avLst>
          </a:prstGeom>
          <a:solidFill>
            <a:srgbClr val="FFFFFF"/>
          </a:solidFill>
          <a:ln w="12700">
            <a:solidFill>
              <a:srgbClr val="DCE3EE"/>
            </a:solidFill>
            <a:prstDash val="solid"/>
          </a:ln>
        </p:spPr>
      </p:sp>
      <p:sp>
        <p:nvSpPr>
          <p:cNvPr id="12" name="Text 10"/>
          <p:cNvSpPr/>
          <p:nvPr/>
        </p:nvSpPr>
        <p:spPr>
          <a:xfrm>
            <a:off x="658368" y="2578608"/>
            <a:ext cx="5120640" cy="256032"/>
          </a:xfrm>
          <a:prstGeom prst="rect">
            <a:avLst/>
          </a:prstGeom>
          <a:noFill/>
          <a:ln/>
        </p:spPr>
        <p:txBody>
          <a:bodyPr wrap="square" lIns="0" tIns="0" rIns="0" bIns="0" rtlCol="0" anchor="ctr"/>
          <a:lstStyle/>
          <a:p>
            <a:pPr indent="0" marL="0">
              <a:buNone/>
            </a:pPr>
            <a:r>
              <a:rPr lang="en-US" sz="1150" b="1" dirty="0">
                <a:solidFill>
                  <a:srgbClr val="99651A"/>
                </a:solidFill>
                <a:latin typeface="Calibri" pitchFamily="34" charset="0"/>
                <a:ea typeface="Calibri" pitchFamily="34" charset="-122"/>
                <a:cs typeface="Calibri" pitchFamily="34" charset="-120"/>
              </a:rPr>
              <a:t>3 · Press sized to the projected area</a:t>
            </a:r>
            <a:endParaRPr lang="en-US" sz="1150" dirty="0"/>
          </a:p>
        </p:txBody>
      </p:sp>
      <p:sp>
        <p:nvSpPr>
          <p:cNvPr id="13" name="Text 11"/>
          <p:cNvSpPr/>
          <p:nvPr/>
        </p:nvSpPr>
        <p:spPr>
          <a:xfrm>
            <a:off x="658368" y="2871216"/>
            <a:ext cx="5084064" cy="713232"/>
          </a:xfrm>
          <a:prstGeom prst="rect">
            <a:avLst/>
          </a:prstGeom>
          <a:noFill/>
          <a:ln/>
        </p:spPr>
        <p:txBody>
          <a:bodyPr wrap="square" lIns="0" tIns="0" rIns="0" bIns="0" rtlCol="0" anchor="t"/>
          <a:lstStyle/>
          <a:p>
            <a:pPr indent="0" marL="0">
              <a:buNone/>
            </a:pPr>
            <a:r>
              <a:rPr lang="en-US" sz="960" dirty="0">
                <a:solidFill>
                  <a:srgbClr val="3A4356"/>
                </a:solidFill>
                <a:latin typeface="Calibri" pitchFamily="34" charset="0"/>
                <a:ea typeface="Calibri" pitchFamily="34" charset="-122"/>
                <a:cs typeface="Calibri" pitchFamily="34" charset="-120"/>
              </a:rPr>
              <a:t>Not a default machine. 9,900 cm² × 25 MPa × 1.15 safety = 2,902 tonnes of clamp force needed.</a:t>
            </a:r>
            <a:endParaRPr lang="en-US" sz="960" dirty="0"/>
          </a:p>
        </p:txBody>
      </p:sp>
      <p:sp>
        <p:nvSpPr>
          <p:cNvPr id="14" name="Shape 12"/>
          <p:cNvSpPr/>
          <p:nvPr/>
        </p:nvSpPr>
        <p:spPr>
          <a:xfrm>
            <a:off x="6245352" y="2487168"/>
            <a:ext cx="5486400" cy="1170432"/>
          </a:xfrm>
          <a:prstGeom prst="roundRect">
            <a:avLst>
              <a:gd name="adj" fmla="val 7031"/>
            </a:avLst>
          </a:prstGeom>
          <a:solidFill>
            <a:srgbClr val="FFFFFF"/>
          </a:solidFill>
          <a:ln w="12700">
            <a:solidFill>
              <a:srgbClr val="DCE3EE"/>
            </a:solidFill>
            <a:prstDash val="solid"/>
          </a:ln>
        </p:spPr>
      </p:sp>
      <p:sp>
        <p:nvSpPr>
          <p:cNvPr id="15" name="Text 13"/>
          <p:cNvSpPr/>
          <p:nvPr/>
        </p:nvSpPr>
        <p:spPr>
          <a:xfrm>
            <a:off x="6446520" y="2578608"/>
            <a:ext cx="5120640" cy="256032"/>
          </a:xfrm>
          <a:prstGeom prst="rect">
            <a:avLst/>
          </a:prstGeom>
          <a:noFill/>
          <a:ln/>
        </p:spPr>
        <p:txBody>
          <a:bodyPr wrap="square" lIns="0" tIns="0" rIns="0" bIns="0" rtlCol="0" anchor="ctr"/>
          <a:lstStyle/>
          <a:p>
            <a:pPr indent="0" marL="0">
              <a:buNone/>
            </a:pPr>
            <a:r>
              <a:rPr lang="en-US" sz="1150" b="1" dirty="0">
                <a:solidFill>
                  <a:srgbClr val="99651A"/>
                </a:solidFill>
                <a:latin typeface="Calibri" pitchFamily="34" charset="0"/>
                <a:ea typeface="Calibri" pitchFamily="34" charset="-122"/>
                <a:cs typeface="Calibri" pitchFamily="34" charset="-120"/>
              </a:rPr>
              <a:t>4 · Tool cost is entered, never invented</a:t>
            </a:r>
            <a:endParaRPr lang="en-US" sz="1150" dirty="0"/>
          </a:p>
        </p:txBody>
      </p:sp>
      <p:sp>
        <p:nvSpPr>
          <p:cNvPr id="16" name="Text 14"/>
          <p:cNvSpPr/>
          <p:nvPr/>
        </p:nvSpPr>
        <p:spPr>
          <a:xfrm>
            <a:off x="6446520" y="2871216"/>
            <a:ext cx="5084064" cy="713232"/>
          </a:xfrm>
          <a:prstGeom prst="rect">
            <a:avLst/>
          </a:prstGeom>
          <a:noFill/>
          <a:ln/>
        </p:spPr>
        <p:txBody>
          <a:bodyPr wrap="square" lIns="0" tIns="0" rIns="0" bIns="0" rtlCol="0" anchor="t"/>
          <a:lstStyle/>
          <a:p>
            <a:pPr indent="0" marL="0">
              <a:buNone/>
            </a:pPr>
            <a:r>
              <a:rPr lang="en-US" sz="960" dirty="0">
                <a:solidFill>
                  <a:srgbClr val="3A4356"/>
                </a:solidFill>
                <a:latin typeface="Calibri" pitchFamily="34" charset="0"/>
                <a:ea typeface="Calibri" pitchFamily="34" charset="-122"/>
                <a:cs typeface="Calibri" pitchFamily="34" charset="-120"/>
              </a:rPr>
              <a:t>A £420k mould is a quotation, not an estimate. The tool takes it as an input, applies the Class-A finish uplift, and shows the arithmetic.</a:t>
            </a:r>
            <a:endParaRPr lang="en-US" sz="960" dirty="0"/>
          </a:p>
        </p:txBody>
      </p:sp>
      <p:sp>
        <p:nvSpPr>
          <p:cNvPr id="17" name="Shape 15"/>
          <p:cNvSpPr/>
          <p:nvPr/>
        </p:nvSpPr>
        <p:spPr>
          <a:xfrm>
            <a:off x="457200" y="3840480"/>
            <a:ext cx="6858000" cy="2148840"/>
          </a:xfrm>
          <a:prstGeom prst="roundRect">
            <a:avLst>
              <a:gd name="adj" fmla="val 4255"/>
            </a:avLst>
          </a:prstGeom>
          <a:solidFill>
            <a:srgbClr val="E6F4F1"/>
          </a:solidFill>
          <a:ln w="15875">
            <a:solidFill>
              <a:srgbClr val="0D7D71"/>
            </a:solidFill>
            <a:prstDash val="solid"/>
          </a:ln>
        </p:spPr>
      </p:sp>
      <p:sp>
        <p:nvSpPr>
          <p:cNvPr id="18" name="Text 16"/>
          <p:cNvSpPr/>
          <p:nvPr/>
        </p:nvSpPr>
        <p:spPr>
          <a:xfrm>
            <a:off x="685800" y="3950208"/>
            <a:ext cx="6400800" cy="256032"/>
          </a:xfrm>
          <a:prstGeom prst="rect">
            <a:avLst/>
          </a:prstGeom>
          <a:noFill/>
          <a:ln/>
        </p:spPr>
        <p:txBody>
          <a:bodyPr wrap="square" lIns="0" tIns="0" rIns="0" bIns="0" rtlCol="0" anchor="ctr"/>
          <a:lstStyle/>
          <a:p>
            <a:pPr indent="0" marL="0">
              <a:buNone/>
            </a:pPr>
            <a:r>
              <a:rPr lang="en-US" sz="1050" b="1" spc="40" kern="0" dirty="0">
                <a:solidFill>
                  <a:srgbClr val="0D7D71"/>
                </a:solidFill>
                <a:latin typeface="Calibri" pitchFamily="34" charset="0"/>
                <a:ea typeface="Calibri" pitchFamily="34" charset="-122"/>
                <a:cs typeface="Calibri" pitchFamily="34" charset="-120"/>
              </a:rPr>
              <a:t>THE PRESS LADDER — the engine takes the smallest press that clamps the part</a:t>
            </a:r>
            <a:endParaRPr lang="en-US" sz="1050" dirty="0"/>
          </a:p>
        </p:txBody>
      </p:sp>
      <p:sp>
        <p:nvSpPr>
          <p:cNvPr id="19" name="Text 17"/>
          <p:cNvSpPr/>
          <p:nvPr/>
        </p:nvSpPr>
        <p:spPr>
          <a:xfrm>
            <a:off x="822960" y="4315968"/>
            <a:ext cx="1188720" cy="292608"/>
          </a:xfrm>
          <a:prstGeom prst="rect">
            <a:avLst/>
          </a:prstGeom>
          <a:noFill/>
          <a:ln/>
        </p:spPr>
        <p:txBody>
          <a:bodyPr wrap="square" lIns="0" tIns="0" rIns="0" bIns="0" rtlCol="0" anchor="ctr"/>
          <a:lstStyle/>
          <a:p>
            <a:pPr indent="0" marL="0">
              <a:buNone/>
            </a:pPr>
            <a:r>
              <a:rPr lang="en-US" sz="1100" b="1" dirty="0">
                <a:solidFill>
                  <a:srgbClr val="3A4356"/>
                </a:solidFill>
                <a:latin typeface="Calibri" pitchFamily="34" charset="0"/>
                <a:ea typeface="Calibri" pitchFamily="34" charset="-122"/>
                <a:cs typeface="Calibri" pitchFamily="34" charset="-120"/>
              </a:rPr>
              <a:t>800 t</a:t>
            </a:r>
            <a:endParaRPr lang="en-US" sz="1100" dirty="0"/>
          </a:p>
        </p:txBody>
      </p:sp>
      <p:sp>
        <p:nvSpPr>
          <p:cNvPr id="20" name="Text 18"/>
          <p:cNvSpPr/>
          <p:nvPr/>
        </p:nvSpPr>
        <p:spPr>
          <a:xfrm>
            <a:off x="2103120" y="4315968"/>
            <a:ext cx="1463040" cy="292608"/>
          </a:xfrm>
          <a:prstGeom prst="rect">
            <a:avLst/>
          </a:prstGeom>
          <a:noFill/>
          <a:ln/>
        </p:spPr>
        <p:txBody>
          <a:bodyPr wrap="square" lIns="0" tIns="0" rIns="0" bIns="0" rtlCol="0" anchor="ctr"/>
          <a:lstStyle/>
          <a:p>
            <a:pPr algn="r" indent="0" marL="0">
              <a:buNone/>
            </a:pPr>
            <a:r>
              <a:rPr lang="en-US" sz="1100" dirty="0">
                <a:solidFill>
                  <a:srgbClr val="3A4356"/>
                </a:solidFill>
                <a:latin typeface="Calibri" pitchFamily="34" charset="0"/>
                <a:ea typeface="Calibri" pitchFamily="34" charset="-122"/>
                <a:cs typeface="Calibri" pitchFamily="34" charset="-120"/>
              </a:rPr>
              <a:t>£78.13/hr</a:t>
            </a:r>
            <a:endParaRPr lang="en-US" sz="1100" dirty="0"/>
          </a:p>
        </p:txBody>
      </p:sp>
      <p:sp>
        <p:nvSpPr>
          <p:cNvPr id="21" name="Text 19"/>
          <p:cNvSpPr/>
          <p:nvPr/>
        </p:nvSpPr>
        <p:spPr>
          <a:xfrm>
            <a:off x="3840480" y="4315968"/>
            <a:ext cx="1463040" cy="292608"/>
          </a:xfrm>
          <a:prstGeom prst="rect">
            <a:avLst/>
          </a:prstGeom>
          <a:noFill/>
          <a:ln/>
        </p:spPr>
        <p:txBody>
          <a:bodyPr wrap="square" lIns="0" tIns="0" rIns="0" bIns="0" rtlCol="0" anchor="ctr"/>
          <a:lstStyle/>
          <a:p>
            <a:pPr indent="0" marL="0">
              <a:buNone/>
            </a:pPr>
            <a:r>
              <a:rPr lang="en-US" sz="950" i="1" dirty="0">
                <a:solidFill>
                  <a:srgbClr val="686F7D"/>
                </a:solidFill>
                <a:latin typeface="Calibri" pitchFamily="34" charset="0"/>
                <a:ea typeface="Calibri" pitchFamily="34" charset="-122"/>
                <a:cs typeface="Calibri" pitchFamily="34" charset="-120"/>
              </a:rPr>
              <a:t>too small</a:t>
            </a:r>
            <a:endParaRPr lang="en-US" sz="950" dirty="0"/>
          </a:p>
        </p:txBody>
      </p:sp>
      <p:sp>
        <p:nvSpPr>
          <p:cNvPr id="22" name="Text 20"/>
          <p:cNvSpPr/>
          <p:nvPr/>
        </p:nvSpPr>
        <p:spPr>
          <a:xfrm>
            <a:off x="822960" y="4700016"/>
            <a:ext cx="1188720" cy="292608"/>
          </a:xfrm>
          <a:prstGeom prst="rect">
            <a:avLst/>
          </a:prstGeom>
          <a:noFill/>
          <a:ln/>
        </p:spPr>
        <p:txBody>
          <a:bodyPr wrap="square" lIns="0" tIns="0" rIns="0" bIns="0" rtlCol="0" anchor="ctr"/>
          <a:lstStyle/>
          <a:p>
            <a:pPr indent="0" marL="0">
              <a:buNone/>
            </a:pPr>
            <a:r>
              <a:rPr lang="en-US" sz="1100" b="1" dirty="0">
                <a:solidFill>
                  <a:srgbClr val="3A4356"/>
                </a:solidFill>
                <a:latin typeface="Calibri" pitchFamily="34" charset="0"/>
                <a:ea typeface="Calibri" pitchFamily="34" charset="-122"/>
                <a:cs typeface="Calibri" pitchFamily="34" charset="-120"/>
              </a:rPr>
              <a:t>1,200 t</a:t>
            </a:r>
            <a:endParaRPr lang="en-US" sz="1100" dirty="0"/>
          </a:p>
        </p:txBody>
      </p:sp>
      <p:sp>
        <p:nvSpPr>
          <p:cNvPr id="23" name="Text 21"/>
          <p:cNvSpPr/>
          <p:nvPr/>
        </p:nvSpPr>
        <p:spPr>
          <a:xfrm>
            <a:off x="2103120" y="4700016"/>
            <a:ext cx="1463040" cy="292608"/>
          </a:xfrm>
          <a:prstGeom prst="rect">
            <a:avLst/>
          </a:prstGeom>
          <a:noFill/>
          <a:ln/>
        </p:spPr>
        <p:txBody>
          <a:bodyPr wrap="square" lIns="0" tIns="0" rIns="0" bIns="0" rtlCol="0" anchor="ctr"/>
          <a:lstStyle/>
          <a:p>
            <a:pPr algn="r" indent="0" marL="0">
              <a:buNone/>
            </a:pPr>
            <a:r>
              <a:rPr lang="en-US" sz="1100" dirty="0">
                <a:solidFill>
                  <a:srgbClr val="3A4356"/>
                </a:solidFill>
                <a:latin typeface="Calibri" pitchFamily="34" charset="0"/>
                <a:ea typeface="Calibri" pitchFamily="34" charset="-122"/>
                <a:cs typeface="Calibri" pitchFamily="34" charset="-120"/>
              </a:rPr>
              <a:t>£111.70/hr</a:t>
            </a:r>
            <a:endParaRPr lang="en-US" sz="1100" dirty="0"/>
          </a:p>
        </p:txBody>
      </p:sp>
      <p:sp>
        <p:nvSpPr>
          <p:cNvPr id="24" name="Text 22"/>
          <p:cNvSpPr/>
          <p:nvPr/>
        </p:nvSpPr>
        <p:spPr>
          <a:xfrm>
            <a:off x="3840480" y="4700016"/>
            <a:ext cx="1463040" cy="292608"/>
          </a:xfrm>
          <a:prstGeom prst="rect">
            <a:avLst/>
          </a:prstGeom>
          <a:noFill/>
          <a:ln/>
        </p:spPr>
        <p:txBody>
          <a:bodyPr wrap="square" lIns="0" tIns="0" rIns="0" bIns="0" rtlCol="0" anchor="ctr"/>
          <a:lstStyle/>
          <a:p>
            <a:pPr indent="0" marL="0">
              <a:buNone/>
            </a:pPr>
            <a:r>
              <a:rPr lang="en-US" sz="950" i="1" dirty="0">
                <a:solidFill>
                  <a:srgbClr val="686F7D"/>
                </a:solidFill>
                <a:latin typeface="Calibri" pitchFamily="34" charset="0"/>
                <a:ea typeface="Calibri" pitchFamily="34" charset="-122"/>
                <a:cs typeface="Calibri" pitchFamily="34" charset="-120"/>
              </a:rPr>
              <a:t>too small</a:t>
            </a:r>
            <a:endParaRPr lang="en-US" sz="950" dirty="0"/>
          </a:p>
        </p:txBody>
      </p:sp>
      <p:sp>
        <p:nvSpPr>
          <p:cNvPr id="25" name="Text 23"/>
          <p:cNvSpPr/>
          <p:nvPr/>
        </p:nvSpPr>
        <p:spPr>
          <a:xfrm>
            <a:off x="822960" y="5084064"/>
            <a:ext cx="1188720" cy="292608"/>
          </a:xfrm>
          <a:prstGeom prst="rect">
            <a:avLst/>
          </a:prstGeom>
          <a:noFill/>
          <a:ln/>
        </p:spPr>
        <p:txBody>
          <a:bodyPr wrap="square" lIns="0" tIns="0" rIns="0" bIns="0" rtlCol="0" anchor="ctr"/>
          <a:lstStyle/>
          <a:p>
            <a:pPr indent="0" marL="0">
              <a:buNone/>
            </a:pPr>
            <a:r>
              <a:rPr lang="en-US" sz="1100" b="1" dirty="0">
                <a:solidFill>
                  <a:srgbClr val="3A4356"/>
                </a:solidFill>
                <a:latin typeface="Calibri" pitchFamily="34" charset="0"/>
                <a:ea typeface="Calibri" pitchFamily="34" charset="-122"/>
                <a:cs typeface="Calibri" pitchFamily="34" charset="-120"/>
              </a:rPr>
              <a:t>2,000 t</a:t>
            </a:r>
            <a:endParaRPr lang="en-US" sz="1100" dirty="0"/>
          </a:p>
        </p:txBody>
      </p:sp>
      <p:sp>
        <p:nvSpPr>
          <p:cNvPr id="26" name="Text 24"/>
          <p:cNvSpPr/>
          <p:nvPr/>
        </p:nvSpPr>
        <p:spPr>
          <a:xfrm>
            <a:off x="2103120" y="5084064"/>
            <a:ext cx="1463040" cy="292608"/>
          </a:xfrm>
          <a:prstGeom prst="rect">
            <a:avLst/>
          </a:prstGeom>
          <a:noFill/>
          <a:ln/>
        </p:spPr>
        <p:txBody>
          <a:bodyPr wrap="square" lIns="0" tIns="0" rIns="0" bIns="0" rtlCol="0" anchor="ctr"/>
          <a:lstStyle/>
          <a:p>
            <a:pPr algn="r" indent="0" marL="0">
              <a:buNone/>
            </a:pPr>
            <a:r>
              <a:rPr lang="en-US" sz="1100" dirty="0">
                <a:solidFill>
                  <a:srgbClr val="3A4356"/>
                </a:solidFill>
                <a:latin typeface="Calibri" pitchFamily="34" charset="0"/>
                <a:ea typeface="Calibri" pitchFamily="34" charset="-122"/>
                <a:cs typeface="Calibri" pitchFamily="34" charset="-120"/>
              </a:rPr>
              <a:t>£178.54/hr</a:t>
            </a:r>
            <a:endParaRPr lang="en-US" sz="1100" dirty="0"/>
          </a:p>
        </p:txBody>
      </p:sp>
      <p:sp>
        <p:nvSpPr>
          <p:cNvPr id="27" name="Text 25"/>
          <p:cNvSpPr/>
          <p:nvPr/>
        </p:nvSpPr>
        <p:spPr>
          <a:xfrm>
            <a:off x="3840480" y="5084064"/>
            <a:ext cx="1463040" cy="292608"/>
          </a:xfrm>
          <a:prstGeom prst="rect">
            <a:avLst/>
          </a:prstGeom>
          <a:noFill/>
          <a:ln/>
        </p:spPr>
        <p:txBody>
          <a:bodyPr wrap="square" lIns="0" tIns="0" rIns="0" bIns="0" rtlCol="0" anchor="ctr"/>
          <a:lstStyle/>
          <a:p>
            <a:pPr indent="0" marL="0">
              <a:buNone/>
            </a:pPr>
            <a:r>
              <a:rPr lang="en-US" sz="950" i="1" dirty="0">
                <a:solidFill>
                  <a:srgbClr val="686F7D"/>
                </a:solidFill>
                <a:latin typeface="Calibri" pitchFamily="34" charset="0"/>
                <a:ea typeface="Calibri" pitchFamily="34" charset="-122"/>
                <a:cs typeface="Calibri" pitchFamily="34" charset="-120"/>
              </a:rPr>
              <a:t>too small</a:t>
            </a:r>
            <a:endParaRPr lang="en-US" sz="950" dirty="0"/>
          </a:p>
        </p:txBody>
      </p:sp>
      <p:sp>
        <p:nvSpPr>
          <p:cNvPr id="28" name="Shape 26"/>
          <p:cNvSpPr/>
          <p:nvPr/>
        </p:nvSpPr>
        <p:spPr>
          <a:xfrm>
            <a:off x="640080" y="5431536"/>
            <a:ext cx="6492240" cy="365760"/>
          </a:xfrm>
          <a:prstGeom prst="roundRect">
            <a:avLst>
              <a:gd name="adj" fmla="val 15000"/>
            </a:avLst>
          </a:prstGeom>
          <a:solidFill>
            <a:srgbClr val="FFFFFF"/>
          </a:solidFill>
          <a:ln w="15875">
            <a:solidFill>
              <a:srgbClr val="0D7D71"/>
            </a:solidFill>
            <a:prstDash val="solid"/>
          </a:ln>
        </p:spPr>
      </p:sp>
      <p:sp>
        <p:nvSpPr>
          <p:cNvPr id="29" name="Text 27"/>
          <p:cNvSpPr/>
          <p:nvPr/>
        </p:nvSpPr>
        <p:spPr>
          <a:xfrm>
            <a:off x="822960" y="5468112"/>
            <a:ext cx="1188720" cy="292608"/>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3,500 t</a:t>
            </a:r>
            <a:endParaRPr lang="en-US" sz="1100" dirty="0"/>
          </a:p>
        </p:txBody>
      </p:sp>
      <p:sp>
        <p:nvSpPr>
          <p:cNvPr id="30" name="Text 28"/>
          <p:cNvSpPr/>
          <p:nvPr/>
        </p:nvSpPr>
        <p:spPr>
          <a:xfrm>
            <a:off x="2103120" y="5468112"/>
            <a:ext cx="1463040" cy="292608"/>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£306.12/hr</a:t>
            </a:r>
            <a:endParaRPr lang="en-US" sz="1100" dirty="0"/>
          </a:p>
        </p:txBody>
      </p:sp>
      <p:sp>
        <p:nvSpPr>
          <p:cNvPr id="31" name="Text 29"/>
          <p:cNvSpPr/>
          <p:nvPr/>
        </p:nvSpPr>
        <p:spPr>
          <a:xfrm>
            <a:off x="3840480" y="5468112"/>
            <a:ext cx="1463040" cy="292608"/>
          </a:xfrm>
          <a:prstGeom prst="rect">
            <a:avLst/>
          </a:prstGeom>
          <a:noFill/>
          <a:ln/>
        </p:spPr>
        <p:txBody>
          <a:bodyPr wrap="square" lIns="0" tIns="0" rIns="0" bIns="0" rtlCol="0" anchor="ctr"/>
          <a:lstStyle/>
          <a:p>
            <a:pPr indent="0" marL="0">
              <a:buNone/>
            </a:pPr>
            <a:r>
              <a:rPr lang="en-US" sz="950" b="1" dirty="0">
                <a:solidFill>
                  <a:srgbClr val="0D7D71"/>
                </a:solidFill>
                <a:latin typeface="Calibri" pitchFamily="34" charset="0"/>
                <a:ea typeface="Calibri" pitchFamily="34" charset="-122"/>
                <a:cs typeface="Calibri" pitchFamily="34" charset="-120"/>
              </a:rPr>
              <a:t>CHOSEN</a:t>
            </a:r>
            <a:endParaRPr lang="en-US" sz="950" dirty="0"/>
          </a:p>
        </p:txBody>
      </p:sp>
      <p:sp>
        <p:nvSpPr>
          <p:cNvPr id="32" name="Text 30"/>
          <p:cNvSpPr/>
          <p:nvPr/>
        </p:nvSpPr>
        <p:spPr>
          <a:xfrm>
            <a:off x="5212080" y="5468112"/>
            <a:ext cx="1828800" cy="292608"/>
          </a:xfrm>
          <a:prstGeom prst="rect">
            <a:avLst/>
          </a:prstGeom>
          <a:noFill/>
          <a:ln/>
        </p:spPr>
        <p:txBody>
          <a:bodyPr wrap="square" lIns="0" tIns="0" rIns="0" bIns="0" rtlCol="0" anchor="ctr"/>
          <a:lstStyle/>
          <a:p>
            <a:pPr indent="0" marL="0">
              <a:buNone/>
            </a:pPr>
            <a:r>
              <a:rPr lang="en-US" sz="840" i="1" dirty="0">
                <a:solidFill>
                  <a:srgbClr val="0D7D71"/>
                </a:solidFill>
                <a:latin typeface="Calibri" pitchFamily="34" charset="0"/>
                <a:ea typeface="Calibri" pitchFamily="34" charset="-122"/>
                <a:cs typeface="Calibri" pitchFamily="34" charset="-120"/>
              </a:rPr>
              <a:t>2,902 t needed → smallest press that covers it</a:t>
            </a:r>
            <a:endParaRPr lang="en-US" sz="840" dirty="0"/>
          </a:p>
        </p:txBody>
      </p:sp>
      <p:sp>
        <p:nvSpPr>
          <p:cNvPr id="33" name="Shape 31"/>
          <p:cNvSpPr/>
          <p:nvPr/>
        </p:nvSpPr>
        <p:spPr>
          <a:xfrm>
            <a:off x="7543800" y="3840480"/>
            <a:ext cx="4187952" cy="2148840"/>
          </a:xfrm>
          <a:prstGeom prst="roundRect">
            <a:avLst>
              <a:gd name="adj" fmla="val 4255"/>
            </a:avLst>
          </a:prstGeom>
          <a:solidFill>
            <a:srgbClr val="FFFFFF"/>
          </a:solidFill>
          <a:ln w="19050">
            <a:solidFill>
              <a:srgbClr val="B03A2E"/>
            </a:solidFill>
            <a:prstDash val="solid"/>
          </a:ln>
        </p:spPr>
      </p:sp>
      <p:sp>
        <p:nvSpPr>
          <p:cNvPr id="34" name="Text 32"/>
          <p:cNvSpPr/>
          <p:nvPr/>
        </p:nvSpPr>
        <p:spPr>
          <a:xfrm>
            <a:off x="7772400" y="3950208"/>
            <a:ext cx="3749040" cy="256032"/>
          </a:xfrm>
          <a:prstGeom prst="rect">
            <a:avLst/>
          </a:prstGeom>
          <a:noFill/>
          <a:ln/>
        </p:spPr>
        <p:txBody>
          <a:bodyPr wrap="square" lIns="0" tIns="0" rIns="0" bIns="0" rtlCol="0" anchor="ctr"/>
          <a:lstStyle/>
          <a:p>
            <a:pPr indent="0" marL="0">
              <a:buNone/>
            </a:pPr>
            <a:r>
              <a:rPr lang="en-US" sz="1000" b="1" spc="40" kern="0" dirty="0">
                <a:solidFill>
                  <a:srgbClr val="B03A2E"/>
                </a:solidFill>
                <a:latin typeface="Calibri" pitchFamily="34" charset="0"/>
                <a:ea typeface="Calibri" pitchFamily="34" charset="-122"/>
                <a:cs typeface="Calibri" pitchFamily="34" charset="-120"/>
              </a:rPr>
              <a:t>WHY THIS ONE CHECK IS WORTH THE TOOL</a:t>
            </a:r>
            <a:endParaRPr lang="en-US" sz="1000" dirty="0"/>
          </a:p>
        </p:txBody>
      </p:sp>
      <p:sp>
        <p:nvSpPr>
          <p:cNvPr id="35" name="Text 33"/>
          <p:cNvSpPr/>
          <p:nvPr/>
        </p:nvSpPr>
        <p:spPr>
          <a:xfrm>
            <a:off x="7772400" y="4279392"/>
            <a:ext cx="3749040" cy="1554480"/>
          </a:xfrm>
          <a:prstGeom prst="rect">
            <a:avLst/>
          </a:prstGeom>
          <a:noFill/>
          <a:ln/>
        </p:spPr>
        <p:txBody>
          <a:bodyPr wrap="square" lIns="0" tIns="0" rIns="0" bIns="0" rtlCol="0" anchor="t"/>
          <a:lstStyle/>
          <a:p>
            <a:pPr indent="0" marL="0">
              <a:buNone/>
            </a:pPr>
            <a:r>
              <a:rPr lang="en-US" sz="1050" dirty="0">
                <a:solidFill>
                  <a:srgbClr val="3A4356"/>
                </a:solidFill>
                <a:latin typeface="Calibri" pitchFamily="34" charset="0"/>
                <a:ea typeface="Calibri" pitchFamily="34" charset="-122"/>
                <a:cs typeface="Calibri" pitchFamily="34" charset="-120"/>
              </a:rPr>
              <a:t>Accept a 2,000 t default and you cost the moulding at £178.54/hr instead of £306.12 — </a:t>
            </a:r>
            <a:pPr indent="0" marL="0">
              <a:buNone/>
            </a:pPr>
            <a:r>
              <a:rPr lang="en-US" sz="1050" b="1" dirty="0">
                <a:solidFill>
                  <a:srgbClr val="B03A2E"/>
                </a:solidFill>
                <a:latin typeface="Calibri" pitchFamily="34" charset="0"/>
                <a:ea typeface="Calibri" pitchFamily="34" charset="-122"/>
                <a:cs typeface="Calibri" pitchFamily="34" charset="-120"/>
              </a:rPr>
              <a:t>42% too cheap.
</a:t>
            </a:r>
            <a:pPr indent="0" marL="0">
              <a:buNone/>
            </a:pPr>
            <a:r>
              <a:rPr lang="en-US" sz="1050" dirty="0">
                <a:solidFill>
                  <a:srgbClr val="3A4356"/>
                </a:solidFill>
                <a:latin typeface="Calibri" pitchFamily="34" charset="0"/>
                <a:ea typeface="Calibri" pitchFamily="34" charset="-122"/>
                <a:cs typeface="Calibri" pitchFamily="34" charset="-120"/>
              </a:rPr>
              <a:t>And the part would never mould: the press could not hold the tool shut, so you would be negotiating hard against a price that is physically impossible to deliver.</a:t>
            </a:r>
            <a:endParaRPr lang="en-US" sz="1050" dirty="0"/>
          </a:p>
        </p:txBody>
      </p:sp>
      <p:sp>
        <p:nvSpPr>
          <p:cNvPr id="36" name="Text 3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37" name="Text 3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Cooling Time from First Principles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Fourier slab solution, calibrated to industry data — every input printable, nothing guessed</a:t>
            </a:r>
            <a:endParaRPr lang="en-US" sz="1200" dirty="0"/>
          </a:p>
        </p:txBody>
      </p:sp>
      <p:sp>
        <p:nvSpPr>
          <p:cNvPr id="5" name="Shape 3"/>
          <p:cNvSpPr/>
          <p:nvPr/>
        </p:nvSpPr>
        <p:spPr>
          <a:xfrm>
            <a:off x="457200" y="1078992"/>
            <a:ext cx="6492240" cy="1060704"/>
          </a:xfrm>
          <a:prstGeom prst="roundRect">
            <a:avLst>
              <a:gd name="adj" fmla="val 7759"/>
            </a:avLst>
          </a:prstGeom>
          <a:solidFill>
            <a:srgbClr val="FFFFFF"/>
          </a:solidFill>
          <a:ln w="12700">
            <a:solidFill>
              <a:srgbClr val="DCE3EE"/>
            </a:solidFill>
            <a:prstDash val="solid"/>
          </a:ln>
        </p:spPr>
      </p:sp>
      <p:sp>
        <p:nvSpPr>
          <p:cNvPr id="6" name="Shape 4"/>
          <p:cNvSpPr/>
          <p:nvPr/>
        </p:nvSpPr>
        <p:spPr>
          <a:xfrm>
            <a:off x="603504" y="1207008"/>
            <a:ext cx="365760" cy="365760"/>
          </a:xfrm>
          <a:prstGeom prst="ellipse">
            <a:avLst/>
          </a:prstGeom>
          <a:solidFill>
            <a:srgbClr val="6B3FA0"/>
          </a:solidFill>
          <a:ln/>
        </p:spPr>
      </p:sp>
      <p:sp>
        <p:nvSpPr>
          <p:cNvPr id="7" name="Text 5"/>
          <p:cNvSpPr/>
          <p:nvPr/>
        </p:nvSpPr>
        <p:spPr>
          <a:xfrm>
            <a:off x="603504" y="1207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097280" y="1152144"/>
            <a:ext cx="576072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physical law, not a fitted curve</a:t>
            </a:r>
            <a:endParaRPr lang="en-US" sz="1050" dirty="0"/>
          </a:p>
        </p:txBody>
      </p:sp>
      <p:sp>
        <p:nvSpPr>
          <p:cNvPr id="9" name="Text 7"/>
          <p:cNvSpPr/>
          <p:nvPr/>
        </p:nvSpPr>
        <p:spPr>
          <a:xfrm>
            <a:off x="1097280" y="1380744"/>
            <a:ext cx="5715000" cy="749808"/>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Cooling a moulded wall between two mould faces is textbook transient conduction, and its exact solution is:  t_cool = wall² ÷ (π²·α) × ln[ (4/π) × (T_melt − T_mould) ÷ (T_eject − T_mould) ].  The wall enters SQUARED because heat must diffuse out through half the thickness — that is why wall is the most powerful lever in moulding.</a:t>
            </a:r>
            <a:endParaRPr lang="en-US" sz="790" dirty="0"/>
          </a:p>
        </p:txBody>
      </p:sp>
      <p:sp>
        <p:nvSpPr>
          <p:cNvPr id="10" name="Shape 8"/>
          <p:cNvSpPr/>
          <p:nvPr/>
        </p:nvSpPr>
        <p:spPr>
          <a:xfrm>
            <a:off x="457200" y="2249424"/>
            <a:ext cx="6492240" cy="1060704"/>
          </a:xfrm>
          <a:prstGeom prst="roundRect">
            <a:avLst>
              <a:gd name="adj" fmla="val 7759"/>
            </a:avLst>
          </a:prstGeom>
          <a:solidFill>
            <a:srgbClr val="FFFFFF"/>
          </a:solidFill>
          <a:ln w="12700">
            <a:solidFill>
              <a:srgbClr val="DCE3EE"/>
            </a:solidFill>
            <a:prstDash val="solid"/>
          </a:ln>
        </p:spPr>
      </p:sp>
      <p:sp>
        <p:nvSpPr>
          <p:cNvPr id="11" name="Shape 9"/>
          <p:cNvSpPr/>
          <p:nvPr/>
        </p:nvSpPr>
        <p:spPr>
          <a:xfrm>
            <a:off x="603504" y="2377440"/>
            <a:ext cx="365760" cy="365760"/>
          </a:xfrm>
          <a:prstGeom prst="ellipse">
            <a:avLst/>
          </a:prstGeom>
          <a:solidFill>
            <a:srgbClr val="6B3FA0"/>
          </a:solidFill>
          <a:ln/>
        </p:spPr>
      </p:sp>
      <p:sp>
        <p:nvSpPr>
          <p:cNvPr id="12" name="Text 10"/>
          <p:cNvSpPr/>
          <p:nvPr/>
        </p:nvSpPr>
        <p:spPr>
          <a:xfrm>
            <a:off x="603504" y="2377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097280" y="2322576"/>
            <a:ext cx="576072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Every resin carries its real temperatures</a:t>
            </a:r>
            <a:endParaRPr lang="en-US" sz="1050" dirty="0"/>
          </a:p>
        </p:txBody>
      </p:sp>
      <p:sp>
        <p:nvSpPr>
          <p:cNvPr id="14" name="Text 12"/>
          <p:cNvSpPr/>
          <p:nvPr/>
        </p:nvSpPr>
        <p:spPr>
          <a:xfrm>
            <a:off x="1097280" y="2551176"/>
            <a:ext cx="5715000" cy="749808"/>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20 resin families each carry typical melt / mould / eject temperatures. PP (the bumper): melt 230 °C, mould 40 °C, eject 85 °C → log term ln(1.273 × 190/45) = 1.682. ABS runs 240/60/95; PA6 280/80/125; PC 300/90/130. Change the resin and the physics changes with it.</a:t>
            </a:r>
            <a:endParaRPr lang="en-US" sz="790" dirty="0"/>
          </a:p>
        </p:txBody>
      </p:sp>
      <p:sp>
        <p:nvSpPr>
          <p:cNvPr id="15" name="Shape 13"/>
          <p:cNvSpPr/>
          <p:nvPr/>
        </p:nvSpPr>
        <p:spPr>
          <a:xfrm>
            <a:off x="457200" y="3419856"/>
            <a:ext cx="6492240" cy="1060704"/>
          </a:xfrm>
          <a:prstGeom prst="roundRect">
            <a:avLst>
              <a:gd name="adj" fmla="val 7759"/>
            </a:avLst>
          </a:prstGeom>
          <a:solidFill>
            <a:srgbClr val="FFFFFF"/>
          </a:solidFill>
          <a:ln w="12700">
            <a:solidFill>
              <a:srgbClr val="DCE3EE"/>
            </a:solidFill>
            <a:prstDash val="solid"/>
          </a:ln>
        </p:spPr>
      </p:sp>
      <p:sp>
        <p:nvSpPr>
          <p:cNvPr id="16" name="Shape 14"/>
          <p:cNvSpPr/>
          <p:nvPr/>
        </p:nvSpPr>
        <p:spPr>
          <a:xfrm>
            <a:off x="603504" y="3547872"/>
            <a:ext cx="365760" cy="365760"/>
          </a:xfrm>
          <a:prstGeom prst="ellipse">
            <a:avLst/>
          </a:prstGeom>
          <a:solidFill>
            <a:srgbClr val="6B3FA0"/>
          </a:solidFill>
          <a:ln/>
        </p:spPr>
      </p:sp>
      <p:sp>
        <p:nvSpPr>
          <p:cNvPr id="17" name="Text 15"/>
          <p:cNvSpPr/>
          <p:nvPr/>
        </p:nvSpPr>
        <p:spPr>
          <a:xfrm>
            <a:off x="603504" y="3547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097280" y="3493008"/>
            <a:ext cx="576072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Calibrated ONCE against industry cycle data</a:t>
            </a:r>
            <a:endParaRPr lang="en-US" sz="1050" dirty="0"/>
          </a:p>
        </p:txBody>
      </p:sp>
      <p:sp>
        <p:nvSpPr>
          <p:cNvPr id="19" name="Text 17"/>
          <p:cNvSpPr/>
          <p:nvPr/>
        </p:nvSpPr>
        <p:spPr>
          <a:xfrm>
            <a:off x="1097280" y="3721608"/>
            <a:ext cx="5715000" cy="749808"/>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The effective diffusivity α_eff is derived from the curated industry factor at those reference temperatures — for PP: α_eff = 1.682 ÷ (π² × 3.16) = 0.054 mm²/s. α_eff deliberately absorbs what the ideal slab ignores: latent heat of crystallisation and mould-interface resistance. At reference temperatures the formula reproduces the curated factor EXACTLY — adopting the physics changed provenance, not price.</a:t>
            </a:r>
            <a:endParaRPr lang="en-US" sz="790" dirty="0"/>
          </a:p>
        </p:txBody>
      </p:sp>
      <p:sp>
        <p:nvSpPr>
          <p:cNvPr id="20" name="Shape 18"/>
          <p:cNvSpPr/>
          <p:nvPr/>
        </p:nvSpPr>
        <p:spPr>
          <a:xfrm>
            <a:off x="457200" y="4590288"/>
            <a:ext cx="6492240" cy="1060704"/>
          </a:xfrm>
          <a:prstGeom prst="roundRect">
            <a:avLst>
              <a:gd name="adj" fmla="val 7759"/>
            </a:avLst>
          </a:prstGeom>
          <a:solidFill>
            <a:srgbClr val="FFFFFF"/>
          </a:solidFill>
          <a:ln w="12700">
            <a:solidFill>
              <a:srgbClr val="DCE3EE"/>
            </a:solidFill>
            <a:prstDash val="solid"/>
          </a:ln>
        </p:spPr>
      </p:sp>
      <p:sp>
        <p:nvSpPr>
          <p:cNvPr id="21" name="Shape 19"/>
          <p:cNvSpPr/>
          <p:nvPr/>
        </p:nvSpPr>
        <p:spPr>
          <a:xfrm>
            <a:off x="603504" y="4718304"/>
            <a:ext cx="365760" cy="365760"/>
          </a:xfrm>
          <a:prstGeom prst="ellipse">
            <a:avLst/>
          </a:prstGeom>
          <a:solidFill>
            <a:srgbClr val="6B3FA0"/>
          </a:solidFill>
          <a:ln/>
        </p:spPr>
      </p:sp>
      <p:sp>
        <p:nvSpPr>
          <p:cNvPr id="22" name="Text 20"/>
          <p:cNvSpPr/>
          <p:nvPr/>
        </p:nvSpPr>
        <p:spPr>
          <a:xfrm>
            <a:off x="603504" y="47183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097280" y="4663440"/>
            <a:ext cx="5760720" cy="21945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The governing wall, and a sanity clamp</a:t>
            </a:r>
            <a:endParaRPr lang="en-US" sz="1050" dirty="0"/>
          </a:p>
        </p:txBody>
      </p:sp>
      <p:sp>
        <p:nvSpPr>
          <p:cNvPr id="24" name="Text 22"/>
          <p:cNvSpPr/>
          <p:nvPr/>
        </p:nvSpPr>
        <p:spPr>
          <a:xfrm>
            <a:off x="1097280" y="4892040"/>
            <a:ext cx="5715000" cy="749808"/>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Cooling is evaluated at the 95th-percentile measured wall (capped at 2× the mean): the part ejects when its THICKEST section is stiff, so the mean systematically under-times ribs and bosses. And the computed factor is clamped to [0.5×, 2×] of the curated value — physics may move the cycle; a pathological temperature pair may not run away with the cost.</a:t>
            </a:r>
            <a:endParaRPr lang="en-US" sz="790" dirty="0"/>
          </a:p>
        </p:txBody>
      </p:sp>
      <p:sp>
        <p:nvSpPr>
          <p:cNvPr id="25" name="Text 23"/>
          <p:cNvSpPr/>
          <p:nvPr/>
        </p:nvSpPr>
        <p:spPr>
          <a:xfrm>
            <a:off x="7269480" y="1060704"/>
            <a:ext cx="4480560" cy="201168"/>
          </a:xfrm>
          <a:prstGeom prst="rect">
            <a:avLst/>
          </a:prstGeom>
          <a:noFill/>
          <a:ln/>
        </p:spPr>
        <p:txBody>
          <a:bodyPr wrap="square" lIns="0" tIns="0" rIns="0" bIns="0" rtlCol="0" anchor="ctr"/>
          <a:lstStyle/>
          <a:p>
            <a:pPr indent="0" marL="0">
              <a:buNone/>
            </a:pPr>
            <a:r>
              <a:rPr lang="en-US" sz="850" b="1" spc="60" kern="0" dirty="0">
                <a:solidFill>
                  <a:srgbClr val="6B3FA0"/>
                </a:solidFill>
                <a:latin typeface="Calibri" pitchFamily="34" charset="0"/>
                <a:ea typeface="Calibri" pitchFamily="34" charset="-122"/>
                <a:cs typeface="Calibri" pitchFamily="34" charset="-120"/>
              </a:rPr>
              <a:t>THE BUMPER, WORKED THROUGH</a:t>
            </a:r>
            <a:endParaRPr lang="en-US" sz="850" dirty="0"/>
          </a:p>
        </p:txBody>
      </p:sp>
      <p:sp>
        <p:nvSpPr>
          <p:cNvPr id="26" name="Shape 24"/>
          <p:cNvSpPr/>
          <p:nvPr/>
        </p:nvSpPr>
        <p:spPr>
          <a:xfrm>
            <a:off x="7269480" y="1298448"/>
            <a:ext cx="4462272" cy="1810512"/>
          </a:xfrm>
          <a:prstGeom prst="roundRect">
            <a:avLst>
              <a:gd name="adj" fmla="val 4545"/>
            </a:avLst>
          </a:prstGeom>
          <a:solidFill>
            <a:srgbClr val="FFFFFF"/>
          </a:solidFill>
          <a:ln w="12700">
            <a:solidFill>
              <a:srgbClr val="DCE3EE"/>
            </a:solidFill>
            <a:prstDash val="solid"/>
          </a:ln>
        </p:spPr>
      </p:sp>
      <p:sp>
        <p:nvSpPr>
          <p:cNvPr id="27" name="Text 25"/>
          <p:cNvSpPr/>
          <p:nvPr/>
        </p:nvSpPr>
        <p:spPr>
          <a:xfrm>
            <a:off x="7452360" y="1426464"/>
            <a:ext cx="1600200" cy="274320"/>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Resin / temps</a:t>
            </a:r>
            <a:endParaRPr lang="en-US" sz="860" dirty="0"/>
          </a:p>
        </p:txBody>
      </p:sp>
      <p:sp>
        <p:nvSpPr>
          <p:cNvPr id="28" name="Text 26"/>
          <p:cNvSpPr/>
          <p:nvPr/>
        </p:nvSpPr>
        <p:spPr>
          <a:xfrm>
            <a:off x="9098280" y="1426464"/>
            <a:ext cx="2560320" cy="274320"/>
          </a:xfrm>
          <a:prstGeom prst="rect">
            <a:avLst/>
          </a:prstGeom>
          <a:noFill/>
          <a:ln/>
        </p:spPr>
        <p:txBody>
          <a:bodyPr wrap="square" lIns="0" tIns="0" rIns="0" bIns="0" rtlCol="0" anchor="ctr"/>
          <a:lstStyle/>
          <a:p>
            <a:pPr indent="0" marL="0">
              <a:buNone/>
            </a:pPr>
            <a:r>
              <a:rPr lang="en-US" sz="800" dirty="0">
                <a:solidFill>
                  <a:srgbClr val="3A4356"/>
                </a:solidFill>
                <a:latin typeface="Courier New" pitchFamily="34" charset="0"/>
                <a:ea typeface="Courier New" pitchFamily="34" charset="-122"/>
                <a:cs typeface="Courier New" pitchFamily="34" charset="-120"/>
              </a:rPr>
              <a:t>PP · melt 230 °C · mould 40 °C · eject 85 °C</a:t>
            </a:r>
            <a:endParaRPr lang="en-US" sz="800" dirty="0"/>
          </a:p>
        </p:txBody>
      </p:sp>
      <p:sp>
        <p:nvSpPr>
          <p:cNvPr id="29" name="Text 27"/>
          <p:cNvSpPr/>
          <p:nvPr/>
        </p:nvSpPr>
        <p:spPr>
          <a:xfrm>
            <a:off x="7452360" y="1746504"/>
            <a:ext cx="1600200" cy="274320"/>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Log term</a:t>
            </a:r>
            <a:endParaRPr lang="en-US" sz="860" dirty="0"/>
          </a:p>
        </p:txBody>
      </p:sp>
      <p:sp>
        <p:nvSpPr>
          <p:cNvPr id="30" name="Text 28"/>
          <p:cNvSpPr/>
          <p:nvPr/>
        </p:nvSpPr>
        <p:spPr>
          <a:xfrm>
            <a:off x="9098280" y="1746504"/>
            <a:ext cx="2560320" cy="274320"/>
          </a:xfrm>
          <a:prstGeom prst="rect">
            <a:avLst/>
          </a:prstGeom>
          <a:noFill/>
          <a:ln/>
        </p:spPr>
        <p:txBody>
          <a:bodyPr wrap="square" lIns="0" tIns="0" rIns="0" bIns="0" rtlCol="0" anchor="ctr"/>
          <a:lstStyle/>
          <a:p>
            <a:pPr indent="0" marL="0">
              <a:buNone/>
            </a:pPr>
            <a:r>
              <a:rPr lang="en-US" sz="800" dirty="0">
                <a:solidFill>
                  <a:srgbClr val="3A4356"/>
                </a:solidFill>
                <a:latin typeface="Courier New" pitchFamily="34" charset="0"/>
                <a:ea typeface="Courier New" pitchFamily="34" charset="-122"/>
                <a:cs typeface="Courier New" pitchFamily="34" charset="-120"/>
              </a:rPr>
              <a:t>ln(1.273 × 190 ÷ 45) = 1.682</a:t>
            </a:r>
            <a:endParaRPr lang="en-US" sz="800" dirty="0"/>
          </a:p>
        </p:txBody>
      </p:sp>
      <p:sp>
        <p:nvSpPr>
          <p:cNvPr id="31" name="Text 29"/>
          <p:cNvSpPr/>
          <p:nvPr/>
        </p:nvSpPr>
        <p:spPr>
          <a:xfrm>
            <a:off x="7452360" y="2066544"/>
            <a:ext cx="1600200" cy="274320"/>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α_eff (calibrated)</a:t>
            </a:r>
            <a:endParaRPr lang="en-US" sz="860" dirty="0"/>
          </a:p>
        </p:txBody>
      </p:sp>
      <p:sp>
        <p:nvSpPr>
          <p:cNvPr id="32" name="Text 30"/>
          <p:cNvSpPr/>
          <p:nvPr/>
        </p:nvSpPr>
        <p:spPr>
          <a:xfrm>
            <a:off x="9098280" y="2066544"/>
            <a:ext cx="2560320" cy="274320"/>
          </a:xfrm>
          <a:prstGeom prst="rect">
            <a:avLst/>
          </a:prstGeom>
          <a:noFill/>
          <a:ln/>
        </p:spPr>
        <p:txBody>
          <a:bodyPr wrap="square" lIns="0" tIns="0" rIns="0" bIns="0" rtlCol="0" anchor="ctr"/>
          <a:lstStyle/>
          <a:p>
            <a:pPr indent="0" marL="0">
              <a:buNone/>
            </a:pPr>
            <a:r>
              <a:rPr lang="en-US" sz="800" dirty="0">
                <a:solidFill>
                  <a:srgbClr val="3A4356"/>
                </a:solidFill>
                <a:latin typeface="Courier New" pitchFamily="34" charset="0"/>
                <a:ea typeface="Courier New" pitchFamily="34" charset="-122"/>
                <a:cs typeface="Courier New" pitchFamily="34" charset="-120"/>
              </a:rPr>
              <a:t>1.682 ÷ (π² × 3.16) = 0.054 mm²/s</a:t>
            </a:r>
            <a:endParaRPr lang="en-US" sz="800" dirty="0"/>
          </a:p>
        </p:txBody>
      </p:sp>
      <p:sp>
        <p:nvSpPr>
          <p:cNvPr id="33" name="Text 31"/>
          <p:cNvSpPr/>
          <p:nvPr/>
        </p:nvSpPr>
        <p:spPr>
          <a:xfrm>
            <a:off x="7452360" y="2386584"/>
            <a:ext cx="1600200" cy="274320"/>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Factor</a:t>
            </a:r>
            <a:endParaRPr lang="en-US" sz="860" dirty="0"/>
          </a:p>
        </p:txBody>
      </p:sp>
      <p:sp>
        <p:nvSpPr>
          <p:cNvPr id="34" name="Text 32"/>
          <p:cNvSpPr/>
          <p:nvPr/>
        </p:nvSpPr>
        <p:spPr>
          <a:xfrm>
            <a:off x="9098280" y="2386584"/>
            <a:ext cx="2560320" cy="274320"/>
          </a:xfrm>
          <a:prstGeom prst="rect">
            <a:avLst/>
          </a:prstGeom>
          <a:noFill/>
          <a:ln/>
        </p:spPr>
        <p:txBody>
          <a:bodyPr wrap="square" lIns="0" tIns="0" rIns="0" bIns="0" rtlCol="0" anchor="ctr"/>
          <a:lstStyle/>
          <a:p>
            <a:pPr indent="0" marL="0">
              <a:buNone/>
            </a:pPr>
            <a:r>
              <a:rPr lang="en-US" sz="800" dirty="0">
                <a:solidFill>
                  <a:srgbClr val="3A4356"/>
                </a:solidFill>
                <a:latin typeface="Courier New" pitchFamily="34" charset="0"/>
                <a:ea typeface="Courier New" pitchFamily="34" charset="-122"/>
                <a:cs typeface="Courier New" pitchFamily="34" charset="-120"/>
              </a:rPr>
              <a:t>1.682 ÷ (π² × 0.054) = 3.16 s/mm²</a:t>
            </a:r>
            <a:endParaRPr lang="en-US" sz="800" dirty="0"/>
          </a:p>
        </p:txBody>
      </p:sp>
      <p:sp>
        <p:nvSpPr>
          <p:cNvPr id="35" name="Text 33"/>
          <p:cNvSpPr/>
          <p:nvPr/>
        </p:nvSpPr>
        <p:spPr>
          <a:xfrm>
            <a:off x="7452360" y="2706624"/>
            <a:ext cx="1600200" cy="274320"/>
          </a:xfrm>
          <a:prstGeom prst="rect">
            <a:avLst/>
          </a:prstGeom>
          <a:noFill/>
          <a:ln/>
        </p:spPr>
        <p:txBody>
          <a:bodyPr wrap="square" lIns="0" tIns="0" rIns="0" bIns="0" rtlCol="0" anchor="ctr"/>
          <a:lstStyle/>
          <a:p>
            <a:pPr indent="0" marL="0">
              <a:buNone/>
            </a:pPr>
            <a:r>
              <a:rPr lang="en-US" sz="860" b="1" dirty="0">
                <a:solidFill>
                  <a:srgbClr val="16325C"/>
                </a:solidFill>
                <a:latin typeface="Calibri" pitchFamily="34" charset="0"/>
                <a:ea typeface="Calibri" pitchFamily="34" charset="-122"/>
                <a:cs typeface="Calibri" pitchFamily="34" charset="-120"/>
              </a:rPr>
              <a:t>Cooling</a:t>
            </a:r>
            <a:endParaRPr lang="en-US" sz="860" dirty="0"/>
          </a:p>
        </p:txBody>
      </p:sp>
      <p:sp>
        <p:nvSpPr>
          <p:cNvPr id="36" name="Text 34"/>
          <p:cNvSpPr/>
          <p:nvPr/>
        </p:nvSpPr>
        <p:spPr>
          <a:xfrm>
            <a:off x="9098280" y="2706624"/>
            <a:ext cx="2560320" cy="274320"/>
          </a:xfrm>
          <a:prstGeom prst="rect">
            <a:avLst/>
          </a:prstGeom>
          <a:noFill/>
          <a:ln/>
        </p:spPr>
        <p:txBody>
          <a:bodyPr wrap="square" lIns="0" tIns="0" rIns="0" bIns="0" rtlCol="0" anchor="ctr"/>
          <a:lstStyle/>
          <a:p>
            <a:pPr indent="0" marL="0">
              <a:buNone/>
            </a:pPr>
            <a:r>
              <a:rPr lang="en-US" sz="800" dirty="0">
                <a:solidFill>
                  <a:srgbClr val="3A4356"/>
                </a:solidFill>
                <a:latin typeface="Courier New" pitchFamily="34" charset="0"/>
                <a:ea typeface="Courier New" pitchFamily="34" charset="-122"/>
                <a:cs typeface="Courier New" pitchFamily="34" charset="-120"/>
              </a:rPr>
              <a:t>3.16 × (3.0 mm)² = 28.4 s — over half the 55 s cycle</a:t>
            </a:r>
            <a:endParaRPr lang="en-US" sz="800" dirty="0"/>
          </a:p>
        </p:txBody>
      </p:sp>
      <p:sp>
        <p:nvSpPr>
          <p:cNvPr id="37" name="Shape 35"/>
          <p:cNvSpPr/>
          <p:nvPr/>
        </p:nvSpPr>
        <p:spPr>
          <a:xfrm>
            <a:off x="7269480" y="3218688"/>
            <a:ext cx="4462272" cy="804672"/>
          </a:xfrm>
          <a:prstGeom prst="roundRect">
            <a:avLst>
              <a:gd name="adj" fmla="val 10227"/>
            </a:avLst>
          </a:prstGeom>
          <a:solidFill>
            <a:srgbClr val="FFFFFF"/>
          </a:solidFill>
          <a:ln w="12700">
            <a:solidFill>
              <a:srgbClr val="DCE3EE"/>
            </a:solidFill>
            <a:prstDash val="solid"/>
          </a:ln>
        </p:spPr>
      </p:sp>
      <p:sp>
        <p:nvSpPr>
          <p:cNvPr id="38" name="Shape 36"/>
          <p:cNvSpPr/>
          <p:nvPr/>
        </p:nvSpPr>
        <p:spPr>
          <a:xfrm>
            <a:off x="7397496" y="3319272"/>
            <a:ext cx="310896" cy="310896"/>
          </a:xfrm>
          <a:prstGeom prst="ellipse">
            <a:avLst/>
          </a:prstGeom>
          <a:solidFill>
            <a:srgbClr val="2A7F50"/>
          </a:solidFill>
          <a:ln/>
        </p:spPr>
      </p:sp>
      <p:pic>
        <p:nvPicPr>
          <p:cNvPr id="39" name="Image 0" descr="preencoded.png">    </p:cNvPr>
          <p:cNvPicPr>
            <a:picLocks noChangeAspect="1"/>
          </p:cNvPicPr>
          <p:nvPr/>
        </p:nvPicPr>
        <p:blipFill>
          <a:blip r:embed="rId1"/>
          <a:stretch>
            <a:fillRect/>
          </a:stretch>
        </p:blipFill>
        <p:spPr>
          <a:xfrm>
            <a:off x="7470648" y="3392424"/>
            <a:ext cx="164592" cy="164592"/>
          </a:xfrm>
          <a:prstGeom prst="rect">
            <a:avLst/>
          </a:prstGeom>
        </p:spPr>
      </p:pic>
      <p:sp>
        <p:nvSpPr>
          <p:cNvPr id="40" name="Text 37"/>
          <p:cNvSpPr/>
          <p:nvPr/>
        </p:nvSpPr>
        <p:spPr>
          <a:xfrm>
            <a:off x="7790688" y="3291840"/>
            <a:ext cx="3886200" cy="201168"/>
          </a:xfrm>
          <a:prstGeom prst="rect">
            <a:avLst/>
          </a:prstGeom>
          <a:noFill/>
          <a:ln/>
        </p:spPr>
        <p:txBody>
          <a:bodyPr wrap="square" lIns="0" tIns="0" rIns="0" bIns="0" rtlCol="0" anchor="ctr"/>
          <a:lstStyle/>
          <a:p>
            <a:pPr indent="0" marL="0">
              <a:buNone/>
            </a:pPr>
            <a:r>
              <a:rPr lang="en-US" sz="950" b="1" dirty="0">
                <a:solidFill>
                  <a:srgbClr val="2A7F50"/>
                </a:solidFill>
                <a:latin typeface="Calibri" pitchFamily="34" charset="0"/>
                <a:ea typeface="Calibri" pitchFamily="34" charset="-122"/>
                <a:cs typeface="Calibri" pitchFamily="34" charset="-120"/>
              </a:rPr>
              <a:t>Same price, honest provenance</a:t>
            </a:r>
            <a:endParaRPr lang="en-US" sz="950" dirty="0"/>
          </a:p>
        </p:txBody>
      </p:sp>
      <p:sp>
        <p:nvSpPr>
          <p:cNvPr id="41" name="Text 38"/>
          <p:cNvSpPr/>
          <p:nvPr/>
        </p:nvSpPr>
        <p:spPr>
          <a:xfrm>
            <a:off x="7790688" y="3502152"/>
            <a:ext cx="3858768" cy="502920"/>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At reference temperatures the closed form reproduces the curated industry factor exactly, so adopting the physics moved NO estimate. What changed: the trace now shows α_eff, all three temperatures and the log term instead of one bare constant.</a:t>
            </a:r>
            <a:endParaRPr lang="en-US" sz="770" dirty="0"/>
          </a:p>
        </p:txBody>
      </p:sp>
      <p:sp>
        <p:nvSpPr>
          <p:cNvPr id="42" name="Shape 39"/>
          <p:cNvSpPr/>
          <p:nvPr/>
        </p:nvSpPr>
        <p:spPr>
          <a:xfrm>
            <a:off x="7269480" y="4105656"/>
            <a:ext cx="4462272" cy="804672"/>
          </a:xfrm>
          <a:prstGeom prst="roundRect">
            <a:avLst>
              <a:gd name="adj" fmla="val 10227"/>
            </a:avLst>
          </a:prstGeom>
          <a:solidFill>
            <a:srgbClr val="FFFFFF"/>
          </a:solidFill>
          <a:ln w="12700">
            <a:solidFill>
              <a:srgbClr val="DCE3EE"/>
            </a:solidFill>
            <a:prstDash val="solid"/>
          </a:ln>
        </p:spPr>
      </p:sp>
      <p:sp>
        <p:nvSpPr>
          <p:cNvPr id="43" name="Shape 40"/>
          <p:cNvSpPr/>
          <p:nvPr/>
        </p:nvSpPr>
        <p:spPr>
          <a:xfrm>
            <a:off x="7397496" y="4206240"/>
            <a:ext cx="310896" cy="310896"/>
          </a:xfrm>
          <a:prstGeom prst="ellipse">
            <a:avLst/>
          </a:prstGeom>
          <a:solidFill>
            <a:srgbClr val="6B3FA0"/>
          </a:solidFill>
          <a:ln/>
        </p:spPr>
      </p:sp>
      <p:pic>
        <p:nvPicPr>
          <p:cNvPr id="44" name="Image 1" descr="preencoded.png">    </p:cNvPr>
          <p:cNvPicPr>
            <a:picLocks noChangeAspect="1"/>
          </p:cNvPicPr>
          <p:nvPr/>
        </p:nvPicPr>
        <p:blipFill>
          <a:blip r:embed="rId2"/>
          <a:stretch>
            <a:fillRect/>
          </a:stretch>
        </p:blipFill>
        <p:spPr>
          <a:xfrm>
            <a:off x="7470648" y="4279392"/>
            <a:ext cx="164592" cy="164592"/>
          </a:xfrm>
          <a:prstGeom prst="rect">
            <a:avLst/>
          </a:prstGeom>
        </p:spPr>
      </p:pic>
      <p:sp>
        <p:nvSpPr>
          <p:cNvPr id="45" name="Text 41"/>
          <p:cNvSpPr/>
          <p:nvPr/>
        </p:nvSpPr>
        <p:spPr>
          <a:xfrm>
            <a:off x="7790688" y="4178808"/>
            <a:ext cx="3886200" cy="201168"/>
          </a:xfrm>
          <a:prstGeom prst="rect">
            <a:avLst/>
          </a:prstGeom>
          <a:noFill/>
          <a:ln/>
        </p:spPr>
        <p:txBody>
          <a:bodyPr wrap="square" lIns="0" tIns="0" rIns="0" bIns="0" rtlCol="0" anchor="ctr"/>
          <a:lstStyle/>
          <a:p>
            <a:pPr indent="0" marL="0">
              <a:buNone/>
            </a:pPr>
            <a:r>
              <a:rPr lang="en-US" sz="950" b="1" dirty="0">
                <a:solidFill>
                  <a:srgbClr val="6B3FA0"/>
                </a:solidFill>
                <a:latin typeface="Calibri" pitchFamily="34" charset="0"/>
                <a:ea typeface="Calibri" pitchFamily="34" charset="-122"/>
                <a:cs typeface="Calibri" pitchFamily="34" charset="-120"/>
              </a:rPr>
              <a:t>A lever a constant could never price</a:t>
            </a:r>
            <a:endParaRPr lang="en-US" sz="950" dirty="0"/>
          </a:p>
        </p:txBody>
      </p:sp>
      <p:sp>
        <p:nvSpPr>
          <p:cNvPr id="46" name="Text 42"/>
          <p:cNvSpPr/>
          <p:nvPr/>
        </p:nvSpPr>
        <p:spPr>
          <a:xfrm>
            <a:off x="7790688" y="4389120"/>
            <a:ext cx="3858768" cy="502920"/>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Run the mould at 20 °C instead of 40 °C and the factor follows the law: ln(1.273 × 210/65) = 1.414 → 2.66 s/mm² → cooling 23.9 s, 4.5 s off every shot. A curated constant cannot answer that question; the formula prices it.</a:t>
            </a:r>
            <a:endParaRPr lang="en-US" sz="770" dirty="0"/>
          </a:p>
        </p:txBody>
      </p:sp>
      <p:sp>
        <p:nvSpPr>
          <p:cNvPr id="47" name="Shape 43"/>
          <p:cNvSpPr/>
          <p:nvPr/>
        </p:nvSpPr>
        <p:spPr>
          <a:xfrm>
            <a:off x="7269480" y="4992624"/>
            <a:ext cx="4462272" cy="804672"/>
          </a:xfrm>
          <a:prstGeom prst="roundRect">
            <a:avLst>
              <a:gd name="adj" fmla="val 10227"/>
            </a:avLst>
          </a:prstGeom>
          <a:solidFill>
            <a:srgbClr val="FFFFFF"/>
          </a:solidFill>
          <a:ln w="12700">
            <a:solidFill>
              <a:srgbClr val="DCE3EE"/>
            </a:solidFill>
            <a:prstDash val="solid"/>
          </a:ln>
        </p:spPr>
      </p:sp>
      <p:sp>
        <p:nvSpPr>
          <p:cNvPr id="48" name="Shape 44"/>
          <p:cNvSpPr/>
          <p:nvPr/>
        </p:nvSpPr>
        <p:spPr>
          <a:xfrm>
            <a:off x="7397496" y="5093208"/>
            <a:ext cx="310896" cy="310896"/>
          </a:xfrm>
          <a:prstGeom prst="ellipse">
            <a:avLst/>
          </a:prstGeom>
          <a:solidFill>
            <a:srgbClr val="0D7D71"/>
          </a:solidFill>
          <a:ln/>
        </p:spPr>
      </p:sp>
      <p:pic>
        <p:nvPicPr>
          <p:cNvPr id="49" name="Image 2" descr="preencoded.png">    </p:cNvPr>
          <p:cNvPicPr>
            <a:picLocks noChangeAspect="1"/>
          </p:cNvPicPr>
          <p:nvPr/>
        </p:nvPicPr>
        <p:blipFill>
          <a:blip r:embed="rId3"/>
          <a:stretch>
            <a:fillRect/>
          </a:stretch>
        </p:blipFill>
        <p:spPr>
          <a:xfrm>
            <a:off x="7470648" y="5166360"/>
            <a:ext cx="164592" cy="164592"/>
          </a:xfrm>
          <a:prstGeom prst="rect">
            <a:avLst/>
          </a:prstGeom>
        </p:spPr>
      </p:pic>
      <p:sp>
        <p:nvSpPr>
          <p:cNvPr id="50" name="Text 45"/>
          <p:cNvSpPr/>
          <p:nvPr/>
        </p:nvSpPr>
        <p:spPr>
          <a:xfrm>
            <a:off x="7790688" y="5065776"/>
            <a:ext cx="3886200" cy="201168"/>
          </a:xfrm>
          <a:prstGeom prst="rect">
            <a:avLst/>
          </a:prstGeom>
          <a:noFill/>
          <a:ln/>
        </p:spPr>
        <p:txBody>
          <a:bodyPr wrap="square" lIns="0" tIns="0" rIns="0" bIns="0" rtlCol="0" anchor="ctr"/>
          <a:lstStyle/>
          <a:p>
            <a:pPr indent="0" marL="0">
              <a:buNone/>
            </a:pPr>
            <a:r>
              <a:rPr lang="en-US" sz="950" b="1" dirty="0">
                <a:solidFill>
                  <a:srgbClr val="0D7D71"/>
                </a:solidFill>
                <a:latin typeface="Calibri" pitchFamily="34" charset="0"/>
                <a:ea typeface="Calibri" pitchFamily="34" charset="-122"/>
                <a:cs typeface="Calibri" pitchFamily="34" charset="-120"/>
              </a:rPr>
              <a:t>The design lever, quantified</a:t>
            </a:r>
            <a:endParaRPr lang="en-US" sz="950" dirty="0"/>
          </a:p>
        </p:txBody>
      </p:sp>
      <p:sp>
        <p:nvSpPr>
          <p:cNvPr id="51" name="Text 46"/>
          <p:cNvSpPr/>
          <p:nvPr/>
        </p:nvSpPr>
        <p:spPr>
          <a:xfrm>
            <a:off x="7790688" y="5276088"/>
            <a:ext cx="3858768" cy="502920"/>
          </a:xfrm>
          <a:prstGeom prst="rect">
            <a:avLst/>
          </a:prstGeom>
          <a:noFill/>
          <a:ln/>
        </p:spPr>
        <p:txBody>
          <a:bodyPr wrap="square" lIns="0" tIns="0" rIns="0" bIns="0" rtlCol="0" anchor="t"/>
          <a:lstStyle/>
          <a:p>
            <a:pPr indent="0" marL="0">
              <a:buNone/>
            </a:pPr>
            <a:r>
              <a:rPr lang="en-US" sz="770" dirty="0">
                <a:solidFill>
                  <a:srgbClr val="3A4356"/>
                </a:solidFill>
                <a:latin typeface="Calibri" pitchFamily="34" charset="0"/>
                <a:ea typeface="Calibri" pitchFamily="34" charset="-122"/>
                <a:cs typeface="Calibri" pitchFamily="34" charset="-120"/>
              </a:rPr>
              <a:t>Wall enters squared: 3.0 mm → 2.5 mm takes cooling from 28.4 s to 19.8 s — nearly 9 s off every shot, £1.11 off the UK part. A design decision, priced before anyone tools anything.</a:t>
            </a:r>
            <a:endParaRPr lang="en-US" sz="770" dirty="0"/>
          </a:p>
        </p:txBody>
      </p:sp>
      <p:sp>
        <p:nvSpPr>
          <p:cNvPr id="52" name="Shape 47"/>
          <p:cNvSpPr/>
          <p:nvPr/>
        </p:nvSpPr>
        <p:spPr>
          <a:xfrm>
            <a:off x="457200" y="5870448"/>
            <a:ext cx="11274552" cy="502920"/>
          </a:xfrm>
          <a:prstGeom prst="roundRect">
            <a:avLst>
              <a:gd name="adj" fmla="val 14545"/>
            </a:avLst>
          </a:prstGeom>
          <a:solidFill>
            <a:srgbClr val="F3EFFA"/>
          </a:solidFill>
          <a:ln w="12700">
            <a:solidFill>
              <a:srgbClr val="6B3FA0"/>
            </a:solidFill>
            <a:prstDash val="solid"/>
          </a:ln>
        </p:spPr>
      </p:sp>
      <p:sp>
        <p:nvSpPr>
          <p:cNvPr id="53" name="Text 48"/>
          <p:cNvSpPr/>
          <p:nvPr/>
        </p:nvSpPr>
        <p:spPr>
          <a:xfrm>
            <a:off x="621792" y="5870448"/>
            <a:ext cx="10972800" cy="502920"/>
          </a:xfrm>
          <a:prstGeom prst="rect">
            <a:avLst/>
          </a:prstGeom>
          <a:noFill/>
          <a:ln/>
        </p:spPr>
        <p:txBody>
          <a:bodyPr wrap="square" lIns="0" tIns="0" rIns="0" bIns="0" rtlCol="0" anchor="ctr"/>
          <a:lstStyle/>
          <a:p>
            <a:pPr indent="0" marL="0">
              <a:buNone/>
            </a:pPr>
            <a:r>
              <a:rPr lang="en-US" sz="960" b="1" dirty="0">
                <a:solidFill>
                  <a:srgbClr val="6B3FA0"/>
                </a:solidFill>
                <a:latin typeface="Calibri" pitchFamily="34" charset="0"/>
                <a:ea typeface="Calibri" pitchFamily="34" charset="-122"/>
                <a:cs typeface="Calibri" pitchFamily="34" charset="-120"/>
              </a:rPr>
              <a:t>Read it in one line:  </a:t>
            </a:r>
            <a:pPr indent="0" marL="0">
              <a:buNone/>
            </a:pPr>
            <a:r>
              <a:rPr lang="en-US" sz="960" dirty="0">
                <a:solidFill>
                  <a:srgbClr val="3A4356"/>
                </a:solidFill>
                <a:latin typeface="Calibri" pitchFamily="34" charset="0"/>
                <a:ea typeface="Calibri" pitchFamily="34" charset="-122"/>
                <a:cs typeface="Calibri" pitchFamily="34" charset="-120"/>
              </a:rPr>
              <a:t>cooling is Fourier’s conduction law with each resin’s real temperatures and a diffusivity calibrated once against industry cycle data — the same number as before at standard conditions, but now every input is on the record and every temperature or wall change is priced by physics.</a:t>
            </a:r>
            <a:endParaRPr lang="en-US" sz="960" dirty="0"/>
          </a:p>
        </p:txBody>
      </p:sp>
      <p:sp>
        <p:nvSpPr>
          <p:cNvPr id="54" name="Text 49"/>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55" name="Text 50"/>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5–7 in Detail · Show Me the Calculation</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bumper — how the press is chosen and how every second of the cycle is derived</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5532120" cy="3246120"/>
          </a:xfrm>
          <a:prstGeom prst="roundRect">
            <a:avLst>
              <a:gd name="adj" fmla="val 2817"/>
            </a:avLst>
          </a:prstGeom>
          <a:solidFill>
            <a:srgbClr val="E6F4F1"/>
          </a:solidFill>
          <a:ln w="15875">
            <a:solidFill>
              <a:srgbClr val="0D7D71"/>
            </a:solidFill>
            <a:prstDash val="solid"/>
          </a:ln>
        </p:spPr>
      </p:sp>
      <p:sp>
        <p:nvSpPr>
          <p:cNvPr id="8" name="Text 6"/>
          <p:cNvSpPr/>
          <p:nvPr/>
        </p:nvSpPr>
        <p:spPr>
          <a:xfrm>
            <a:off x="685800" y="1298448"/>
            <a:ext cx="5074920" cy="237744"/>
          </a:xfrm>
          <a:prstGeom prst="rect">
            <a:avLst/>
          </a:prstGeom>
          <a:noFill/>
          <a:ln/>
        </p:spPr>
        <p:txBody>
          <a:bodyPr wrap="square" lIns="0" tIns="0" rIns="0" bIns="0" rtlCol="0" anchor="ctr"/>
          <a:lstStyle/>
          <a:p>
            <a:pPr indent="0" marL="0">
              <a:buNone/>
            </a:pPr>
            <a:r>
              <a:rPr lang="en-US" sz="1050" b="1" spc="50" kern="0" dirty="0">
                <a:solidFill>
                  <a:srgbClr val="0D7D71"/>
                </a:solidFill>
                <a:latin typeface="Calibri" pitchFamily="34" charset="0"/>
                <a:ea typeface="Calibri" pitchFamily="34" charset="-122"/>
                <a:cs typeface="Calibri" pitchFamily="34" charset="-120"/>
              </a:rPr>
              <a:t>A · WHICH PRESS — clamp force from the measured shadow</a:t>
            </a:r>
            <a:endParaRPr lang="en-US" sz="1050" dirty="0"/>
          </a:p>
        </p:txBody>
      </p:sp>
      <p:sp>
        <p:nvSpPr>
          <p:cNvPr id="9" name="Text 7"/>
          <p:cNvSpPr/>
          <p:nvPr/>
        </p:nvSpPr>
        <p:spPr>
          <a:xfrm>
            <a:off x="685800" y="159105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Projected shadow, measured off the CAD</a:t>
            </a:r>
            <a:endParaRPr lang="en-US" sz="1020" dirty="0"/>
          </a:p>
        </p:txBody>
      </p:sp>
      <p:sp>
        <p:nvSpPr>
          <p:cNvPr id="10" name="Text 8"/>
          <p:cNvSpPr/>
          <p:nvPr/>
        </p:nvSpPr>
        <p:spPr>
          <a:xfrm>
            <a:off x="4297680" y="159105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9,900 cm²</a:t>
            </a:r>
            <a:endParaRPr lang="en-US" sz="1020" dirty="0"/>
          </a:p>
        </p:txBody>
      </p:sp>
      <p:sp>
        <p:nvSpPr>
          <p:cNvPr id="11" name="Text 9"/>
          <p:cNvSpPr/>
          <p:nvPr/>
        </p:nvSpPr>
        <p:spPr>
          <a:xfrm>
            <a:off x="685800" y="186537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 cavity pressure, thin-wall PP</a:t>
            </a:r>
            <a:endParaRPr lang="en-US" sz="1020" dirty="0"/>
          </a:p>
        </p:txBody>
      </p:sp>
      <p:sp>
        <p:nvSpPr>
          <p:cNvPr id="12" name="Text 10"/>
          <p:cNvSpPr/>
          <p:nvPr/>
        </p:nvSpPr>
        <p:spPr>
          <a:xfrm>
            <a:off x="4297680" y="186537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25 MPa</a:t>
            </a:r>
            <a:endParaRPr lang="en-US" sz="1020" dirty="0"/>
          </a:p>
        </p:txBody>
      </p:sp>
      <p:sp>
        <p:nvSpPr>
          <p:cNvPr id="13" name="Text 11"/>
          <p:cNvSpPr/>
          <p:nvPr/>
        </p:nvSpPr>
        <p:spPr>
          <a:xfrm>
            <a:off x="685800" y="2139696"/>
            <a:ext cx="3703320" cy="274320"/>
          </a:xfrm>
          <a:prstGeom prst="rect">
            <a:avLst/>
          </a:prstGeom>
          <a:noFill/>
          <a:ln/>
        </p:spPr>
        <p:txBody>
          <a:bodyPr wrap="square" lIns="0" tIns="0" rIns="0" bIns="0" rtlCol="0" anchor="ctr"/>
          <a:lstStyle/>
          <a:p>
            <a:pPr indent="0" marL="0">
              <a:buNone/>
            </a:pPr>
            <a:r>
              <a:rPr lang="en-US" sz="1020" dirty="0">
                <a:solidFill>
                  <a:srgbClr val="3A4356"/>
                </a:solidFill>
                <a:latin typeface="Calibri" pitchFamily="34" charset="0"/>
                <a:ea typeface="Calibri" pitchFamily="34" charset="-122"/>
                <a:cs typeface="Calibri" pitchFamily="34" charset="-120"/>
              </a:rPr>
              <a:t>= force trying to blow the mould open</a:t>
            </a:r>
            <a:endParaRPr lang="en-US" sz="1020" dirty="0"/>
          </a:p>
        </p:txBody>
      </p:sp>
      <p:sp>
        <p:nvSpPr>
          <p:cNvPr id="14" name="Text 12"/>
          <p:cNvSpPr/>
          <p:nvPr/>
        </p:nvSpPr>
        <p:spPr>
          <a:xfrm>
            <a:off x="4297680" y="2139696"/>
            <a:ext cx="1463040" cy="274320"/>
          </a:xfrm>
          <a:prstGeom prst="rect">
            <a:avLst/>
          </a:prstGeom>
          <a:noFill/>
          <a:ln/>
        </p:spPr>
        <p:txBody>
          <a:bodyPr wrap="square" lIns="0" tIns="0" rIns="0" bIns="0" rtlCol="0" anchor="ctr"/>
          <a:lstStyle/>
          <a:p>
            <a:pPr algn="r" indent="0" marL="0">
              <a:buNone/>
            </a:pPr>
            <a:r>
              <a:rPr lang="en-US" sz="1020" b="1" dirty="0">
                <a:solidFill>
                  <a:srgbClr val="16325C"/>
                </a:solidFill>
                <a:latin typeface="Calibri" pitchFamily="34" charset="0"/>
                <a:ea typeface="Calibri" pitchFamily="34" charset="-122"/>
                <a:cs typeface="Calibri" pitchFamily="34" charset="-120"/>
              </a:rPr>
              <a:t>2,524 t</a:t>
            </a:r>
            <a:endParaRPr lang="en-US" sz="1020" dirty="0"/>
          </a:p>
        </p:txBody>
      </p:sp>
      <p:sp>
        <p:nvSpPr>
          <p:cNvPr id="15" name="Text 13"/>
          <p:cNvSpPr/>
          <p:nvPr/>
        </p:nvSpPr>
        <p:spPr>
          <a:xfrm>
            <a:off x="685800" y="2414016"/>
            <a:ext cx="3703320" cy="274320"/>
          </a:xfrm>
          <a:prstGeom prst="rect">
            <a:avLst/>
          </a:prstGeom>
          <a:noFill/>
          <a:ln/>
        </p:spPr>
        <p:txBody>
          <a:bodyPr wrap="square" lIns="0" tIns="0" rIns="0" bIns="0" rtlCol="0" anchor="ctr"/>
          <a:lstStyle/>
          <a:p>
            <a:pPr indent="0" marL="0">
              <a:buNone/>
            </a:pPr>
            <a:r>
              <a:rPr lang="en-US" sz="1020" b="1" dirty="0">
                <a:solidFill>
                  <a:srgbClr val="16325C"/>
                </a:solidFill>
                <a:latin typeface="Calibri" pitchFamily="34" charset="0"/>
                <a:ea typeface="Calibri" pitchFamily="34" charset="-122"/>
                <a:cs typeface="Calibri" pitchFamily="34" charset="-120"/>
              </a:rPr>
              <a:t>× 1.15 safety factor (engine constant)</a:t>
            </a:r>
            <a:endParaRPr lang="en-US" sz="1020" dirty="0"/>
          </a:p>
        </p:txBody>
      </p:sp>
      <p:sp>
        <p:nvSpPr>
          <p:cNvPr id="16" name="Text 14"/>
          <p:cNvSpPr/>
          <p:nvPr/>
        </p:nvSpPr>
        <p:spPr>
          <a:xfrm>
            <a:off x="4297680" y="2414016"/>
            <a:ext cx="1463040" cy="274320"/>
          </a:xfrm>
          <a:prstGeom prst="rect">
            <a:avLst/>
          </a:prstGeom>
          <a:noFill/>
          <a:ln/>
        </p:spPr>
        <p:txBody>
          <a:bodyPr wrap="square" lIns="0" tIns="0" rIns="0" bIns="0" rtlCol="0" anchor="ctr"/>
          <a:lstStyle/>
          <a:p>
            <a:pPr algn="r" indent="0" marL="0">
              <a:buNone/>
            </a:pPr>
            <a:r>
              <a:rPr lang="en-US" sz="1020" b="1" dirty="0">
                <a:solidFill>
                  <a:srgbClr val="0D7D71"/>
                </a:solidFill>
                <a:latin typeface="Calibri" pitchFamily="34" charset="0"/>
                <a:ea typeface="Calibri" pitchFamily="34" charset="-122"/>
                <a:cs typeface="Calibri" pitchFamily="34" charset="-120"/>
              </a:rPr>
              <a:t>2,902 t</a:t>
            </a:r>
            <a:endParaRPr lang="en-US" sz="1020" dirty="0"/>
          </a:p>
        </p:txBody>
      </p:sp>
      <p:sp>
        <p:nvSpPr>
          <p:cNvPr id="17" name="Text 15"/>
          <p:cNvSpPr/>
          <p:nvPr/>
        </p:nvSpPr>
        <p:spPr>
          <a:xfrm>
            <a:off x="685800" y="2779776"/>
            <a:ext cx="5074920" cy="219456"/>
          </a:xfrm>
          <a:prstGeom prst="rect">
            <a:avLst/>
          </a:prstGeom>
          <a:noFill/>
          <a:ln/>
        </p:spPr>
        <p:txBody>
          <a:bodyPr wrap="square" lIns="0" tIns="0" rIns="0" bIns="0" rtlCol="0" anchor="ctr"/>
          <a:lstStyle/>
          <a:p>
            <a:pPr indent="0" marL="0">
              <a:buNone/>
            </a:pPr>
            <a:r>
              <a:rPr lang="en-US" sz="900" b="1" i="1" dirty="0">
                <a:solidFill>
                  <a:srgbClr val="686F7D"/>
                </a:solidFill>
                <a:latin typeface="Calibri" pitchFamily="34" charset="0"/>
                <a:ea typeface="Calibri" pitchFamily="34" charset="-122"/>
                <a:cs typeface="Calibri" pitchFamily="34" charset="-120"/>
              </a:rPr>
              <a:t>Then the ladder — smallest machine that covers it</a:t>
            </a:r>
            <a:endParaRPr lang="en-US" sz="900" dirty="0"/>
          </a:p>
        </p:txBody>
      </p:sp>
      <p:sp>
        <p:nvSpPr>
          <p:cNvPr id="18" name="Text 16"/>
          <p:cNvSpPr/>
          <p:nvPr/>
        </p:nvSpPr>
        <p:spPr>
          <a:xfrm>
            <a:off x="804672" y="3017520"/>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800 t</a:t>
            </a:r>
            <a:endParaRPr lang="en-US" sz="1000" dirty="0"/>
          </a:p>
        </p:txBody>
      </p:sp>
      <p:sp>
        <p:nvSpPr>
          <p:cNvPr id="19" name="Text 17"/>
          <p:cNvSpPr/>
          <p:nvPr/>
        </p:nvSpPr>
        <p:spPr>
          <a:xfrm>
            <a:off x="1920240" y="3017520"/>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£78.13/hr</a:t>
            </a:r>
            <a:endParaRPr lang="en-US" sz="1000" dirty="0"/>
          </a:p>
        </p:txBody>
      </p:sp>
      <p:sp>
        <p:nvSpPr>
          <p:cNvPr id="20" name="Text 18"/>
          <p:cNvSpPr/>
          <p:nvPr/>
        </p:nvSpPr>
        <p:spPr>
          <a:xfrm>
            <a:off x="3337560" y="3017520"/>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1" name="Text 19"/>
          <p:cNvSpPr/>
          <p:nvPr/>
        </p:nvSpPr>
        <p:spPr>
          <a:xfrm>
            <a:off x="804672" y="3300984"/>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1,200 t</a:t>
            </a:r>
            <a:endParaRPr lang="en-US" sz="1000" dirty="0"/>
          </a:p>
        </p:txBody>
      </p:sp>
      <p:sp>
        <p:nvSpPr>
          <p:cNvPr id="22" name="Text 20"/>
          <p:cNvSpPr/>
          <p:nvPr/>
        </p:nvSpPr>
        <p:spPr>
          <a:xfrm>
            <a:off x="1920240" y="3300984"/>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£111.70/hr</a:t>
            </a:r>
            <a:endParaRPr lang="en-US" sz="1000" dirty="0"/>
          </a:p>
        </p:txBody>
      </p:sp>
      <p:sp>
        <p:nvSpPr>
          <p:cNvPr id="23" name="Text 21"/>
          <p:cNvSpPr/>
          <p:nvPr/>
        </p:nvSpPr>
        <p:spPr>
          <a:xfrm>
            <a:off x="3337560" y="3300984"/>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4" name="Text 22"/>
          <p:cNvSpPr/>
          <p:nvPr/>
        </p:nvSpPr>
        <p:spPr>
          <a:xfrm>
            <a:off x="804672" y="3584448"/>
            <a:ext cx="1097280" cy="256032"/>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2,000 t</a:t>
            </a:r>
            <a:endParaRPr lang="en-US" sz="1000" dirty="0"/>
          </a:p>
        </p:txBody>
      </p:sp>
      <p:sp>
        <p:nvSpPr>
          <p:cNvPr id="25" name="Text 23"/>
          <p:cNvSpPr/>
          <p:nvPr/>
        </p:nvSpPr>
        <p:spPr>
          <a:xfrm>
            <a:off x="1920240" y="3584448"/>
            <a:ext cx="1280160" cy="256032"/>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£178.54/hr</a:t>
            </a:r>
            <a:endParaRPr lang="en-US" sz="1000" dirty="0"/>
          </a:p>
        </p:txBody>
      </p:sp>
      <p:sp>
        <p:nvSpPr>
          <p:cNvPr id="26" name="Text 24"/>
          <p:cNvSpPr/>
          <p:nvPr/>
        </p:nvSpPr>
        <p:spPr>
          <a:xfrm>
            <a:off x="3337560" y="3584448"/>
            <a:ext cx="2423160" cy="256032"/>
          </a:xfrm>
          <a:prstGeom prst="rect">
            <a:avLst/>
          </a:prstGeom>
          <a:noFill/>
          <a:ln/>
        </p:spPr>
        <p:txBody>
          <a:bodyPr wrap="square" lIns="0" tIns="0" rIns="0" bIns="0" rtlCol="0" anchor="ctr"/>
          <a:lstStyle/>
          <a:p>
            <a:pPr indent="0" marL="0">
              <a:buNone/>
            </a:pPr>
            <a:r>
              <a:rPr lang="en-US" sz="880" i="1" dirty="0">
                <a:solidFill>
                  <a:srgbClr val="686F7D"/>
                </a:solidFill>
                <a:latin typeface="Calibri" pitchFamily="34" charset="0"/>
                <a:ea typeface="Calibri" pitchFamily="34" charset="-122"/>
                <a:cs typeface="Calibri" pitchFamily="34" charset="-120"/>
              </a:rPr>
              <a:t>too small</a:t>
            </a:r>
            <a:endParaRPr lang="en-US" sz="880" dirty="0"/>
          </a:p>
        </p:txBody>
      </p:sp>
      <p:sp>
        <p:nvSpPr>
          <p:cNvPr id="27" name="Shape 25"/>
          <p:cNvSpPr/>
          <p:nvPr/>
        </p:nvSpPr>
        <p:spPr>
          <a:xfrm>
            <a:off x="640080" y="3840480"/>
            <a:ext cx="5148072" cy="301752"/>
          </a:xfrm>
          <a:prstGeom prst="roundRect">
            <a:avLst>
              <a:gd name="adj" fmla="val 18182"/>
            </a:avLst>
          </a:prstGeom>
          <a:solidFill>
            <a:srgbClr val="FFFFFF"/>
          </a:solidFill>
          <a:ln w="15875">
            <a:solidFill>
              <a:srgbClr val="0D7D71"/>
            </a:solidFill>
            <a:prstDash val="solid"/>
          </a:ln>
        </p:spPr>
      </p:sp>
      <p:sp>
        <p:nvSpPr>
          <p:cNvPr id="28" name="Text 26"/>
          <p:cNvSpPr/>
          <p:nvPr/>
        </p:nvSpPr>
        <p:spPr>
          <a:xfrm>
            <a:off x="804672" y="3867912"/>
            <a:ext cx="1097280" cy="256032"/>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3,500 t</a:t>
            </a:r>
            <a:endParaRPr lang="en-US" sz="1000" dirty="0"/>
          </a:p>
        </p:txBody>
      </p:sp>
      <p:sp>
        <p:nvSpPr>
          <p:cNvPr id="29" name="Text 27"/>
          <p:cNvSpPr/>
          <p:nvPr/>
        </p:nvSpPr>
        <p:spPr>
          <a:xfrm>
            <a:off x="1920240" y="3867912"/>
            <a:ext cx="1280160" cy="256032"/>
          </a:xfrm>
          <a:prstGeom prst="rect">
            <a:avLst/>
          </a:prstGeom>
          <a:noFill/>
          <a:ln/>
        </p:spPr>
        <p:txBody>
          <a:bodyPr wrap="square" lIns="0" tIns="0" rIns="0" bIns="0" rtlCol="0" anchor="ctr"/>
          <a:lstStyle/>
          <a:p>
            <a:pPr algn="r" indent="0" marL="0">
              <a:buNone/>
            </a:pPr>
            <a:r>
              <a:rPr lang="en-US" sz="1000" b="1" dirty="0">
                <a:solidFill>
                  <a:srgbClr val="16325C"/>
                </a:solidFill>
                <a:latin typeface="Calibri" pitchFamily="34" charset="0"/>
                <a:ea typeface="Calibri" pitchFamily="34" charset="-122"/>
                <a:cs typeface="Calibri" pitchFamily="34" charset="-120"/>
              </a:rPr>
              <a:t>£306.12/hr</a:t>
            </a:r>
            <a:endParaRPr lang="en-US" sz="1000" dirty="0"/>
          </a:p>
        </p:txBody>
      </p:sp>
      <p:sp>
        <p:nvSpPr>
          <p:cNvPr id="30" name="Text 28"/>
          <p:cNvSpPr/>
          <p:nvPr/>
        </p:nvSpPr>
        <p:spPr>
          <a:xfrm>
            <a:off x="3337560" y="3867912"/>
            <a:ext cx="2423160" cy="256032"/>
          </a:xfrm>
          <a:prstGeom prst="rect">
            <a:avLst/>
          </a:prstGeom>
          <a:noFill/>
          <a:ln/>
        </p:spPr>
        <p:txBody>
          <a:bodyPr wrap="square" lIns="0" tIns="0" rIns="0" bIns="0" rtlCol="0" anchor="ctr"/>
          <a:lstStyle/>
          <a:p>
            <a:pPr indent="0" marL="0">
              <a:buNone/>
            </a:pPr>
            <a:r>
              <a:rPr lang="en-US" sz="880" b="1" dirty="0">
                <a:solidFill>
                  <a:srgbClr val="0D7D71"/>
                </a:solidFill>
                <a:latin typeface="Calibri" pitchFamily="34" charset="0"/>
                <a:ea typeface="Calibri" pitchFamily="34" charset="-122"/>
                <a:cs typeface="Calibri" pitchFamily="34" charset="-120"/>
              </a:rPr>
              <a:t>CHOSEN</a:t>
            </a:r>
            <a:endParaRPr lang="en-US" sz="880" dirty="0"/>
          </a:p>
        </p:txBody>
      </p:sp>
      <p:sp>
        <p:nvSpPr>
          <p:cNvPr id="31" name="Text 29"/>
          <p:cNvSpPr/>
          <p:nvPr/>
        </p:nvSpPr>
        <p:spPr>
          <a:xfrm>
            <a:off x="685800" y="4151376"/>
            <a:ext cx="5074920" cy="237744"/>
          </a:xfrm>
          <a:prstGeom prst="rect">
            <a:avLst/>
          </a:prstGeom>
          <a:noFill/>
          <a:ln/>
        </p:spPr>
        <p:txBody>
          <a:bodyPr wrap="square" lIns="0" tIns="0" rIns="0" bIns="0" rtlCol="0" anchor="ctr"/>
          <a:lstStyle/>
          <a:p>
            <a:pPr indent="0" marL="0">
              <a:buNone/>
            </a:pPr>
            <a:r>
              <a:rPr lang="en-US" sz="860" i="1" dirty="0">
                <a:solidFill>
                  <a:srgbClr val="686F7D"/>
                </a:solidFill>
                <a:latin typeface="Calibri" pitchFamily="34" charset="0"/>
                <a:ea typeface="Calibri" pitchFamily="34" charset="-122"/>
                <a:cs typeface="Calibri" pitchFamily="34" charset="-120"/>
              </a:rPr>
              <a:t>Same physics as the die-casting slide — different commodity, identical rule and code path.</a:t>
            </a:r>
            <a:endParaRPr lang="en-US" sz="860" dirty="0"/>
          </a:p>
        </p:txBody>
      </p:sp>
      <p:sp>
        <p:nvSpPr>
          <p:cNvPr id="32" name="Shape 30"/>
          <p:cNvSpPr/>
          <p:nvPr/>
        </p:nvSpPr>
        <p:spPr>
          <a:xfrm>
            <a:off x="6199632" y="1188720"/>
            <a:ext cx="5532120" cy="3246120"/>
          </a:xfrm>
          <a:prstGeom prst="roundRect">
            <a:avLst>
              <a:gd name="adj" fmla="val 2817"/>
            </a:avLst>
          </a:prstGeom>
          <a:solidFill>
            <a:srgbClr val="FFFFFF"/>
          </a:solidFill>
          <a:ln w="12700">
            <a:solidFill>
              <a:srgbClr val="DCE3EE"/>
            </a:solidFill>
            <a:prstDash val="solid"/>
          </a:ln>
        </p:spPr>
      </p:sp>
      <p:sp>
        <p:nvSpPr>
          <p:cNvPr id="33" name="Text 31"/>
          <p:cNvSpPr/>
          <p:nvPr/>
        </p:nvSpPr>
        <p:spPr>
          <a:xfrm>
            <a:off x="6428232" y="1298448"/>
            <a:ext cx="5029200" cy="237744"/>
          </a:xfrm>
          <a:prstGeom prst="rect">
            <a:avLst/>
          </a:prstGeom>
          <a:noFill/>
          <a:ln/>
        </p:spPr>
        <p:txBody>
          <a:bodyPr wrap="square" lIns="0" tIns="0" rIns="0" bIns="0" rtlCol="0" anchor="ctr"/>
          <a:lstStyle/>
          <a:p>
            <a:pPr indent="0" marL="0">
              <a:buNone/>
            </a:pPr>
            <a:r>
              <a:rPr lang="en-US" sz="1050" b="1" spc="50" kern="0" dirty="0">
                <a:solidFill>
                  <a:srgbClr val="16325C"/>
                </a:solidFill>
                <a:latin typeface="Calibri" pitchFamily="34" charset="0"/>
                <a:ea typeface="Calibri" pitchFamily="34" charset="-122"/>
                <a:cs typeface="Calibri" pitchFamily="34" charset="-120"/>
              </a:rPr>
              <a:t>B · WHERE THE 55 SECONDS COME FROM</a:t>
            </a:r>
            <a:endParaRPr lang="en-US" sz="1050" dirty="0"/>
          </a:p>
        </p:txBody>
      </p:sp>
      <p:sp>
        <p:nvSpPr>
          <p:cNvPr id="34" name="Text 32"/>
          <p:cNvSpPr/>
          <p:nvPr/>
        </p:nvSpPr>
        <p:spPr>
          <a:xfrm>
            <a:off x="6428232" y="1627632"/>
            <a:ext cx="29260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Fill the cavity</a:t>
            </a:r>
            <a:endParaRPr lang="en-US" sz="960" dirty="0"/>
          </a:p>
        </p:txBody>
      </p:sp>
      <p:sp>
        <p:nvSpPr>
          <p:cNvPr id="35" name="Text 33"/>
          <p:cNvSpPr/>
          <p:nvPr/>
        </p:nvSpPr>
        <p:spPr>
          <a:xfrm>
            <a:off x="9372600" y="1627632"/>
            <a:ext cx="1234440" cy="274320"/>
          </a:xfrm>
          <a:prstGeom prst="rect">
            <a:avLst/>
          </a:prstGeom>
          <a:noFill/>
          <a:ln/>
        </p:spPr>
        <p:txBody>
          <a:bodyPr wrap="square" lIns="0" tIns="0" rIns="0" bIns="0" rtlCol="0" anchor="ctr"/>
          <a:lstStyle/>
          <a:p>
            <a:pPr algn="r" indent="0" marL="0">
              <a:buNone/>
            </a:pPr>
            <a:r>
              <a:rPr lang="en-US" sz="800" i="1" dirty="0">
                <a:solidFill>
                  <a:srgbClr val="686F7D"/>
                </a:solidFill>
                <a:latin typeface="Calibri" pitchFamily="34" charset="0"/>
                <a:ea typeface="Calibri" pitchFamily="34" charset="-122"/>
                <a:cs typeface="Calibri" pitchFamily="34" charset="-120"/>
              </a:rPr>
              <a:t>process input</a:t>
            </a:r>
            <a:endParaRPr lang="en-US" sz="800" dirty="0"/>
          </a:p>
        </p:txBody>
      </p:sp>
      <p:sp>
        <p:nvSpPr>
          <p:cNvPr id="36" name="Text 34"/>
          <p:cNvSpPr/>
          <p:nvPr/>
        </p:nvSpPr>
        <p:spPr>
          <a:xfrm>
            <a:off x="10652760" y="1627632"/>
            <a:ext cx="914400" cy="274320"/>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4.50 s</a:t>
            </a:r>
            <a:endParaRPr lang="en-US" sz="980" dirty="0"/>
          </a:p>
        </p:txBody>
      </p:sp>
      <p:sp>
        <p:nvSpPr>
          <p:cNvPr id="37" name="Text 35"/>
          <p:cNvSpPr/>
          <p:nvPr/>
        </p:nvSpPr>
        <p:spPr>
          <a:xfrm>
            <a:off x="6428232" y="1920240"/>
            <a:ext cx="29260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Pack and hold under pressure</a:t>
            </a:r>
            <a:endParaRPr lang="en-US" sz="960" dirty="0"/>
          </a:p>
        </p:txBody>
      </p:sp>
      <p:sp>
        <p:nvSpPr>
          <p:cNvPr id="38" name="Text 36"/>
          <p:cNvSpPr/>
          <p:nvPr/>
        </p:nvSpPr>
        <p:spPr>
          <a:xfrm>
            <a:off x="9372600" y="1920240"/>
            <a:ext cx="1234440" cy="274320"/>
          </a:xfrm>
          <a:prstGeom prst="rect">
            <a:avLst/>
          </a:prstGeom>
          <a:noFill/>
          <a:ln/>
        </p:spPr>
        <p:txBody>
          <a:bodyPr wrap="square" lIns="0" tIns="0" rIns="0" bIns="0" rtlCol="0" anchor="ctr"/>
          <a:lstStyle/>
          <a:p>
            <a:pPr algn="r" indent="0" marL="0">
              <a:buNone/>
            </a:pPr>
            <a:r>
              <a:rPr lang="en-US" sz="800" i="1" dirty="0">
                <a:solidFill>
                  <a:srgbClr val="686F7D"/>
                </a:solidFill>
                <a:latin typeface="Calibri" pitchFamily="34" charset="0"/>
                <a:ea typeface="Calibri" pitchFamily="34" charset="-122"/>
                <a:cs typeface="Calibri" pitchFamily="34" charset="-120"/>
              </a:rPr>
              <a:t>process input</a:t>
            </a:r>
            <a:endParaRPr lang="en-US" sz="800" dirty="0"/>
          </a:p>
        </p:txBody>
      </p:sp>
      <p:sp>
        <p:nvSpPr>
          <p:cNvPr id="39" name="Text 37"/>
          <p:cNvSpPr/>
          <p:nvPr/>
        </p:nvSpPr>
        <p:spPr>
          <a:xfrm>
            <a:off x="10652760" y="1920240"/>
            <a:ext cx="914400" cy="274320"/>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12.00 s</a:t>
            </a:r>
            <a:endParaRPr lang="en-US" sz="980" dirty="0"/>
          </a:p>
        </p:txBody>
      </p:sp>
      <p:sp>
        <p:nvSpPr>
          <p:cNvPr id="40" name="Shape 38"/>
          <p:cNvSpPr/>
          <p:nvPr/>
        </p:nvSpPr>
        <p:spPr>
          <a:xfrm>
            <a:off x="6355080" y="2185416"/>
            <a:ext cx="5230368" cy="301752"/>
          </a:xfrm>
          <a:prstGeom prst="roundRect">
            <a:avLst>
              <a:gd name="adj" fmla="val 15152"/>
            </a:avLst>
          </a:prstGeom>
          <a:solidFill>
            <a:srgbClr val="E6F4F1"/>
          </a:solidFill>
          <a:ln/>
        </p:spPr>
      </p:sp>
      <p:sp>
        <p:nvSpPr>
          <p:cNvPr id="41" name="Text 39"/>
          <p:cNvSpPr/>
          <p:nvPr/>
        </p:nvSpPr>
        <p:spPr>
          <a:xfrm>
            <a:off x="6428232" y="2212848"/>
            <a:ext cx="2926080" cy="27432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Cool  =  3.16 × wall²  =  3.16 × 3.0²</a:t>
            </a:r>
            <a:endParaRPr lang="en-US" sz="960" dirty="0"/>
          </a:p>
        </p:txBody>
      </p:sp>
      <p:sp>
        <p:nvSpPr>
          <p:cNvPr id="42" name="Text 40"/>
          <p:cNvSpPr/>
          <p:nvPr/>
        </p:nvSpPr>
        <p:spPr>
          <a:xfrm>
            <a:off x="9372600" y="2212848"/>
            <a:ext cx="1234440" cy="274320"/>
          </a:xfrm>
          <a:prstGeom prst="rect">
            <a:avLst/>
          </a:prstGeom>
          <a:noFill/>
          <a:ln/>
        </p:spPr>
        <p:txBody>
          <a:bodyPr wrap="square" lIns="0" tIns="0" rIns="0" bIns="0" rtlCol="0" anchor="ctr"/>
          <a:lstStyle/>
          <a:p>
            <a:pPr algn="r" indent="0" marL="0">
              <a:buNone/>
            </a:pPr>
            <a:r>
              <a:rPr lang="en-US" sz="800" i="1" dirty="0">
                <a:solidFill>
                  <a:srgbClr val="0D7D71"/>
                </a:solidFill>
                <a:latin typeface="Calibri" pitchFamily="34" charset="0"/>
                <a:ea typeface="Calibri" pitchFamily="34" charset="-122"/>
                <a:cs typeface="Calibri" pitchFamily="34" charset="-120"/>
              </a:rPr>
              <a:t>CALCULATED</a:t>
            </a:r>
            <a:endParaRPr lang="en-US" sz="800" dirty="0"/>
          </a:p>
        </p:txBody>
      </p:sp>
      <p:sp>
        <p:nvSpPr>
          <p:cNvPr id="43" name="Text 41"/>
          <p:cNvSpPr/>
          <p:nvPr/>
        </p:nvSpPr>
        <p:spPr>
          <a:xfrm>
            <a:off x="10652760" y="2212848"/>
            <a:ext cx="914400" cy="274320"/>
          </a:xfrm>
          <a:prstGeom prst="rect">
            <a:avLst/>
          </a:prstGeom>
          <a:noFill/>
          <a:ln/>
        </p:spPr>
        <p:txBody>
          <a:bodyPr wrap="square" lIns="0" tIns="0" rIns="0" bIns="0" rtlCol="0" anchor="ctr"/>
          <a:lstStyle/>
          <a:p>
            <a:pPr algn="r" indent="0" marL="0">
              <a:buNone/>
            </a:pPr>
            <a:r>
              <a:rPr lang="en-US" sz="980" b="1" dirty="0">
                <a:solidFill>
                  <a:srgbClr val="0D7D71"/>
                </a:solidFill>
                <a:latin typeface="Calibri" pitchFamily="34" charset="0"/>
                <a:ea typeface="Calibri" pitchFamily="34" charset="-122"/>
                <a:cs typeface="Calibri" pitchFamily="34" charset="-120"/>
              </a:rPr>
              <a:t>28.44 s</a:t>
            </a:r>
            <a:endParaRPr lang="en-US" sz="980" dirty="0"/>
          </a:p>
        </p:txBody>
      </p:sp>
      <p:sp>
        <p:nvSpPr>
          <p:cNvPr id="44" name="Text 42"/>
          <p:cNvSpPr/>
          <p:nvPr/>
        </p:nvSpPr>
        <p:spPr>
          <a:xfrm>
            <a:off x="6428232" y="2505456"/>
            <a:ext cx="29260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Open, eject, close</a:t>
            </a:r>
            <a:endParaRPr lang="en-US" sz="960" dirty="0"/>
          </a:p>
        </p:txBody>
      </p:sp>
      <p:sp>
        <p:nvSpPr>
          <p:cNvPr id="45" name="Text 43"/>
          <p:cNvSpPr/>
          <p:nvPr/>
        </p:nvSpPr>
        <p:spPr>
          <a:xfrm>
            <a:off x="9372600" y="2505456"/>
            <a:ext cx="1234440" cy="274320"/>
          </a:xfrm>
          <a:prstGeom prst="rect">
            <a:avLst/>
          </a:prstGeom>
          <a:noFill/>
          <a:ln/>
        </p:spPr>
        <p:txBody>
          <a:bodyPr wrap="square" lIns="0" tIns="0" rIns="0" bIns="0" rtlCol="0" anchor="ctr"/>
          <a:lstStyle/>
          <a:p>
            <a:pPr algn="r" indent="0" marL="0">
              <a:buNone/>
            </a:pPr>
            <a:r>
              <a:rPr lang="en-US" sz="800" i="1" dirty="0">
                <a:solidFill>
                  <a:srgbClr val="686F7D"/>
                </a:solidFill>
                <a:latin typeface="Calibri" pitchFamily="34" charset="0"/>
                <a:ea typeface="Calibri" pitchFamily="34" charset="-122"/>
                <a:cs typeface="Calibri" pitchFamily="34" charset="-120"/>
              </a:rPr>
              <a:t>process input</a:t>
            </a:r>
            <a:endParaRPr lang="en-US" sz="800" dirty="0"/>
          </a:p>
        </p:txBody>
      </p:sp>
      <p:sp>
        <p:nvSpPr>
          <p:cNvPr id="46" name="Text 44"/>
          <p:cNvSpPr/>
          <p:nvPr/>
        </p:nvSpPr>
        <p:spPr>
          <a:xfrm>
            <a:off x="10652760" y="2505456"/>
            <a:ext cx="914400" cy="274320"/>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9.00 s</a:t>
            </a:r>
            <a:endParaRPr lang="en-US" sz="980" dirty="0"/>
          </a:p>
        </p:txBody>
      </p:sp>
      <p:sp>
        <p:nvSpPr>
          <p:cNvPr id="47" name="Text 45"/>
          <p:cNvSpPr/>
          <p:nvPr/>
        </p:nvSpPr>
        <p:spPr>
          <a:xfrm>
            <a:off x="6428232" y="2798064"/>
            <a:ext cx="2926080" cy="274320"/>
          </a:xfrm>
          <a:prstGeom prst="rect">
            <a:avLst/>
          </a:prstGeom>
          <a:noFill/>
          <a:ln/>
        </p:spPr>
        <p:txBody>
          <a:bodyPr wrap="square" lIns="0" tIns="0" rIns="0" bIns="0" rtlCol="0" anchor="ctr"/>
          <a:lstStyle/>
          <a:p>
            <a:pPr indent="0" marL="0">
              <a:buNone/>
            </a:pPr>
            <a:r>
              <a:rPr lang="en-US" sz="960" b="1" dirty="0">
                <a:solidFill>
                  <a:srgbClr val="3A4356"/>
                </a:solidFill>
                <a:latin typeface="Calibri" pitchFamily="34" charset="0"/>
                <a:ea typeface="Calibri" pitchFamily="34" charset="-122"/>
                <a:cs typeface="Calibri" pitchFamily="34" charset="-120"/>
              </a:rPr>
              <a:t>Sub-total</a:t>
            </a:r>
            <a:endParaRPr lang="en-US" sz="960" dirty="0"/>
          </a:p>
        </p:txBody>
      </p:sp>
      <p:sp>
        <p:nvSpPr>
          <p:cNvPr id="48" name="Text 46"/>
          <p:cNvSpPr/>
          <p:nvPr/>
        </p:nvSpPr>
        <p:spPr>
          <a:xfrm>
            <a:off x="9372600" y="2798064"/>
            <a:ext cx="1234440" cy="274320"/>
          </a:xfrm>
          <a:prstGeom prst="rect">
            <a:avLst/>
          </a:prstGeom>
          <a:noFill/>
          <a:ln/>
        </p:spPr>
        <p:txBody>
          <a:bodyPr wrap="square" lIns="0" tIns="0" rIns="0" bIns="0" rtlCol="0" anchor="ctr"/>
          <a:lstStyle/>
          <a:p>
            <a:pPr algn="r" indent="0" marL="0">
              <a:buNone/>
            </a:pPr>
            <a:endParaRPr lang="en-US" sz="800" dirty="0"/>
          </a:p>
        </p:txBody>
      </p:sp>
      <p:sp>
        <p:nvSpPr>
          <p:cNvPr id="49" name="Text 47"/>
          <p:cNvSpPr/>
          <p:nvPr/>
        </p:nvSpPr>
        <p:spPr>
          <a:xfrm>
            <a:off x="10652760" y="2798064"/>
            <a:ext cx="914400" cy="274320"/>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53.94 s</a:t>
            </a:r>
            <a:endParaRPr lang="en-US" sz="980" dirty="0"/>
          </a:p>
        </p:txBody>
      </p:sp>
      <p:sp>
        <p:nvSpPr>
          <p:cNvPr id="50" name="Text 48"/>
          <p:cNvSpPr/>
          <p:nvPr/>
        </p:nvSpPr>
        <p:spPr>
          <a:xfrm>
            <a:off x="6428232" y="3090672"/>
            <a:ext cx="2926080" cy="274320"/>
          </a:xfrm>
          <a:prstGeom prst="rect">
            <a:avLst/>
          </a:prstGeom>
          <a:noFill/>
          <a:ln/>
        </p:spPr>
        <p:txBody>
          <a:bodyPr wrap="square" lIns="0" tIns="0" rIns="0" bIns="0" rtlCol="0" anchor="ctr"/>
          <a:lstStyle/>
          <a:p>
            <a:pPr indent="0" marL="0">
              <a:buNone/>
            </a:pPr>
            <a:r>
              <a:rPr lang="en-US" sz="960" dirty="0">
                <a:solidFill>
                  <a:srgbClr val="3A4356"/>
                </a:solidFill>
                <a:latin typeface="Calibri" pitchFamily="34" charset="0"/>
                <a:ea typeface="Calibri" pitchFamily="34" charset="-122"/>
                <a:cs typeface="Calibri" pitchFamily="34" charset="-120"/>
              </a:rPr>
              <a:t>÷ 0.98 (2% reject allowance)</a:t>
            </a:r>
            <a:endParaRPr lang="en-US" sz="960" dirty="0"/>
          </a:p>
        </p:txBody>
      </p:sp>
      <p:sp>
        <p:nvSpPr>
          <p:cNvPr id="51" name="Text 49"/>
          <p:cNvSpPr/>
          <p:nvPr/>
        </p:nvSpPr>
        <p:spPr>
          <a:xfrm>
            <a:off x="9372600" y="3090672"/>
            <a:ext cx="1234440" cy="274320"/>
          </a:xfrm>
          <a:prstGeom prst="rect">
            <a:avLst/>
          </a:prstGeom>
          <a:noFill/>
          <a:ln/>
        </p:spPr>
        <p:txBody>
          <a:bodyPr wrap="square" lIns="0" tIns="0" rIns="0" bIns="0" rtlCol="0" anchor="ctr"/>
          <a:lstStyle/>
          <a:p>
            <a:pPr algn="r" indent="0" marL="0">
              <a:buNone/>
            </a:pPr>
            <a:r>
              <a:rPr lang="en-US" sz="800" i="1" dirty="0">
                <a:solidFill>
                  <a:srgbClr val="686F7D"/>
                </a:solidFill>
                <a:latin typeface="Calibri" pitchFamily="34" charset="0"/>
                <a:ea typeface="Calibri" pitchFamily="34" charset="-122"/>
                <a:cs typeface="Calibri" pitchFamily="34" charset="-120"/>
              </a:rPr>
              <a:t>engine rule</a:t>
            </a:r>
            <a:endParaRPr lang="en-US" sz="800" dirty="0"/>
          </a:p>
        </p:txBody>
      </p:sp>
      <p:sp>
        <p:nvSpPr>
          <p:cNvPr id="52" name="Text 50"/>
          <p:cNvSpPr/>
          <p:nvPr/>
        </p:nvSpPr>
        <p:spPr>
          <a:xfrm>
            <a:off x="10652760" y="3090672"/>
            <a:ext cx="914400" cy="274320"/>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55.04 s</a:t>
            </a:r>
            <a:endParaRPr lang="en-US" sz="980" dirty="0"/>
          </a:p>
        </p:txBody>
      </p:sp>
      <p:sp>
        <p:nvSpPr>
          <p:cNvPr id="53" name="Shape 51"/>
          <p:cNvSpPr/>
          <p:nvPr/>
        </p:nvSpPr>
        <p:spPr>
          <a:xfrm>
            <a:off x="6428232" y="3438144"/>
            <a:ext cx="5120640" cy="0"/>
          </a:xfrm>
          <a:prstGeom prst="line">
            <a:avLst/>
          </a:prstGeom>
          <a:noFill/>
          <a:ln w="12700">
            <a:solidFill>
              <a:srgbClr val="DCE3EE"/>
            </a:solidFill>
            <a:prstDash val="solid"/>
          </a:ln>
        </p:spPr>
      </p:sp>
      <p:sp>
        <p:nvSpPr>
          <p:cNvPr id="54" name="Text 52"/>
          <p:cNvSpPr/>
          <p:nvPr/>
        </p:nvSpPr>
        <p:spPr>
          <a:xfrm>
            <a:off x="6428232" y="3529584"/>
            <a:ext cx="5074920" cy="777240"/>
          </a:xfrm>
          <a:prstGeom prst="rect">
            <a:avLst/>
          </a:prstGeom>
          <a:noFill/>
          <a:ln/>
        </p:spPr>
        <p:txBody>
          <a:bodyPr wrap="square" lIns="0" tIns="0" rIns="0" bIns="0" rtlCol="0" anchor="t"/>
          <a:lstStyle/>
          <a:p>
            <a:pPr indent="0" marL="0">
              <a:buNone/>
            </a:pPr>
            <a:r>
              <a:rPr lang="en-US" sz="980" b="1" dirty="0">
                <a:solidFill>
                  <a:srgbClr val="16325C"/>
                </a:solidFill>
                <a:latin typeface="Calibri" pitchFamily="34" charset="0"/>
                <a:ea typeface="Calibri" pitchFamily="34" charset="-122"/>
                <a:cs typeface="Calibri" pitchFamily="34" charset="-120"/>
              </a:rPr>
              <a:t>Cooling is over half the cycle, and it is the one term the engine calculates rather than accepts. </a:t>
            </a:r>
            <a:pPr indent="0" marL="0">
              <a:buNone/>
            </a:pPr>
            <a:r>
              <a:rPr lang="en-US" sz="980" dirty="0">
                <a:solidFill>
                  <a:srgbClr val="3A4356"/>
                </a:solidFill>
                <a:latin typeface="Calibri" pitchFamily="34" charset="0"/>
                <a:ea typeface="Calibri" pitchFamily="34" charset="-122"/>
                <a:cs typeface="Calibri" pitchFamily="34" charset="-120"/>
              </a:rPr>
              <a:t>Wall thickness enters squared, which is why it is the most powerful lever on any moulded part.</a:t>
            </a:r>
            <a:endParaRPr lang="en-US" sz="980" dirty="0"/>
          </a:p>
        </p:txBody>
      </p:sp>
      <p:sp>
        <p:nvSpPr>
          <p:cNvPr id="55" name="Shape 53"/>
          <p:cNvSpPr/>
          <p:nvPr/>
        </p:nvSpPr>
        <p:spPr>
          <a:xfrm>
            <a:off x="457200" y="4590288"/>
            <a:ext cx="11274552" cy="1481328"/>
          </a:xfrm>
          <a:prstGeom prst="roundRect">
            <a:avLst>
              <a:gd name="adj" fmla="val 6173"/>
            </a:avLst>
          </a:prstGeom>
          <a:solidFill>
            <a:srgbClr val="EAF6EF"/>
          </a:solidFill>
          <a:ln w="15875">
            <a:solidFill>
              <a:srgbClr val="2A7F50"/>
            </a:solidFill>
            <a:prstDash val="solid"/>
          </a:ln>
        </p:spPr>
      </p:sp>
      <p:sp>
        <p:nvSpPr>
          <p:cNvPr id="56" name="Text 54"/>
          <p:cNvSpPr/>
          <p:nvPr/>
        </p:nvSpPr>
        <p:spPr>
          <a:xfrm>
            <a:off x="731520" y="4681728"/>
            <a:ext cx="7315200" cy="256032"/>
          </a:xfrm>
          <a:prstGeom prst="rect">
            <a:avLst/>
          </a:prstGeom>
          <a:noFill/>
          <a:ln/>
        </p:spPr>
        <p:txBody>
          <a:bodyPr wrap="square" lIns="0" tIns="0" rIns="0" bIns="0" rtlCol="0" anchor="ctr"/>
          <a:lstStyle/>
          <a:p>
            <a:pPr indent="0" marL="0">
              <a:buNone/>
            </a:pPr>
            <a:r>
              <a:rPr lang="en-US" sz="1250" b="1" dirty="0">
                <a:solidFill>
                  <a:srgbClr val="2A7F50"/>
                </a:solidFill>
                <a:latin typeface="Calibri" pitchFamily="34" charset="0"/>
                <a:ea typeface="Calibri" pitchFamily="34" charset="-122"/>
                <a:cs typeface="Calibri" pitchFamily="34" charset="-120"/>
              </a:rPr>
              <a:t>What that squared term is worth — take 0.5 mm out of the wall</a:t>
            </a:r>
            <a:endParaRPr lang="en-US" sz="1250" dirty="0"/>
          </a:p>
        </p:txBody>
      </p:sp>
      <p:sp>
        <p:nvSpPr>
          <p:cNvPr id="57" name="Text 55"/>
          <p:cNvSpPr/>
          <p:nvPr/>
        </p:nvSpPr>
        <p:spPr>
          <a:xfrm>
            <a:off x="777240" y="4974336"/>
            <a:ext cx="2468880" cy="210312"/>
          </a:xfrm>
          <a:prstGeom prst="rect">
            <a:avLst/>
          </a:prstGeom>
          <a:noFill/>
          <a:ln/>
        </p:spPr>
        <p:txBody>
          <a:bodyPr wrap="square" lIns="0" tIns="0" rIns="0" bIns="0" rtlCol="0" anchor="ctr"/>
          <a:lstStyle/>
          <a:p>
            <a:pPr algn="l" indent="0" marL="0">
              <a:buNone/>
            </a:pPr>
            <a:endParaRPr lang="en-US" sz="840" dirty="0"/>
          </a:p>
        </p:txBody>
      </p:sp>
      <p:sp>
        <p:nvSpPr>
          <p:cNvPr id="58" name="Text 56"/>
          <p:cNvSpPr/>
          <p:nvPr/>
        </p:nvSpPr>
        <p:spPr>
          <a:xfrm>
            <a:off x="3291840" y="4974336"/>
            <a:ext cx="1600200" cy="210312"/>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3.0 mm wall</a:t>
            </a:r>
            <a:endParaRPr lang="en-US" sz="840" dirty="0"/>
          </a:p>
        </p:txBody>
      </p:sp>
      <p:sp>
        <p:nvSpPr>
          <p:cNvPr id="59" name="Text 57"/>
          <p:cNvSpPr/>
          <p:nvPr/>
        </p:nvSpPr>
        <p:spPr>
          <a:xfrm>
            <a:off x="4937760" y="4974336"/>
            <a:ext cx="1600200" cy="210312"/>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2.5 mm wall</a:t>
            </a:r>
            <a:endParaRPr lang="en-US" sz="840" dirty="0"/>
          </a:p>
        </p:txBody>
      </p:sp>
      <p:sp>
        <p:nvSpPr>
          <p:cNvPr id="60" name="Text 58"/>
          <p:cNvSpPr/>
          <p:nvPr/>
        </p:nvSpPr>
        <p:spPr>
          <a:xfrm>
            <a:off x="6583680" y="4974336"/>
            <a:ext cx="1600200" cy="210312"/>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Change</a:t>
            </a:r>
            <a:endParaRPr lang="en-US" sz="840" dirty="0"/>
          </a:p>
        </p:txBody>
      </p:sp>
      <p:sp>
        <p:nvSpPr>
          <p:cNvPr id="61" name="Text 59"/>
          <p:cNvSpPr/>
          <p:nvPr/>
        </p:nvSpPr>
        <p:spPr>
          <a:xfrm>
            <a:off x="777240" y="5184648"/>
            <a:ext cx="2468880" cy="210312"/>
          </a:xfrm>
          <a:prstGeom prst="rect">
            <a:avLst/>
          </a:prstGeom>
          <a:noFill/>
          <a:ln/>
        </p:spPr>
        <p:txBody>
          <a:bodyPr wrap="square" lIns="0" tIns="0" rIns="0" bIns="0" rtlCol="0" anchor="ctr"/>
          <a:lstStyle/>
          <a:p>
            <a:pPr algn="l" indent="0" marL="0">
              <a:buNone/>
            </a:pPr>
            <a:r>
              <a:rPr lang="en-US" sz="960" dirty="0">
                <a:solidFill>
                  <a:srgbClr val="16325C"/>
                </a:solidFill>
                <a:latin typeface="Calibri" pitchFamily="34" charset="0"/>
                <a:ea typeface="Calibri" pitchFamily="34" charset="-122"/>
                <a:cs typeface="Calibri" pitchFamily="34" charset="-120"/>
              </a:rPr>
              <a:t>Cool time</a:t>
            </a:r>
            <a:endParaRPr lang="en-US" sz="960" dirty="0"/>
          </a:p>
        </p:txBody>
      </p:sp>
      <p:sp>
        <p:nvSpPr>
          <p:cNvPr id="62" name="Text 60"/>
          <p:cNvSpPr/>
          <p:nvPr/>
        </p:nvSpPr>
        <p:spPr>
          <a:xfrm>
            <a:off x="3291840" y="5184648"/>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28.44 s</a:t>
            </a:r>
            <a:endParaRPr lang="en-US" sz="960" dirty="0"/>
          </a:p>
        </p:txBody>
      </p:sp>
      <p:sp>
        <p:nvSpPr>
          <p:cNvPr id="63" name="Text 61"/>
          <p:cNvSpPr/>
          <p:nvPr/>
        </p:nvSpPr>
        <p:spPr>
          <a:xfrm>
            <a:off x="4937760" y="5184648"/>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19.75 s</a:t>
            </a:r>
            <a:endParaRPr lang="en-US" sz="960" dirty="0"/>
          </a:p>
        </p:txBody>
      </p:sp>
      <p:sp>
        <p:nvSpPr>
          <p:cNvPr id="64" name="Text 62"/>
          <p:cNvSpPr/>
          <p:nvPr/>
        </p:nvSpPr>
        <p:spPr>
          <a:xfrm>
            <a:off x="6583680" y="5184648"/>
            <a:ext cx="1600200" cy="210312"/>
          </a:xfrm>
          <a:prstGeom prst="rect">
            <a:avLst/>
          </a:prstGeom>
          <a:noFill/>
          <a:ln/>
        </p:spPr>
        <p:txBody>
          <a:bodyPr wrap="square" lIns="0" tIns="0" rIns="0" bIns="0" rtlCol="0" anchor="ctr"/>
          <a:lstStyle/>
          <a:p>
            <a:pPr algn="r" indent="0" marL="0">
              <a:buNone/>
            </a:pPr>
            <a:r>
              <a:rPr lang="en-US" sz="960" b="1" dirty="0">
                <a:solidFill>
                  <a:srgbClr val="2A7F50"/>
                </a:solidFill>
                <a:latin typeface="Calibri" pitchFamily="34" charset="0"/>
                <a:ea typeface="Calibri" pitchFamily="34" charset="-122"/>
                <a:cs typeface="Calibri" pitchFamily="34" charset="-120"/>
              </a:rPr>
              <a:t>−8.69 s</a:t>
            </a:r>
            <a:endParaRPr lang="en-US" sz="960" dirty="0"/>
          </a:p>
        </p:txBody>
      </p:sp>
      <p:sp>
        <p:nvSpPr>
          <p:cNvPr id="65" name="Text 63"/>
          <p:cNvSpPr/>
          <p:nvPr/>
        </p:nvSpPr>
        <p:spPr>
          <a:xfrm>
            <a:off x="777240" y="5394960"/>
            <a:ext cx="2468880" cy="210312"/>
          </a:xfrm>
          <a:prstGeom prst="rect">
            <a:avLst/>
          </a:prstGeom>
          <a:noFill/>
          <a:ln/>
        </p:spPr>
        <p:txBody>
          <a:bodyPr wrap="square" lIns="0" tIns="0" rIns="0" bIns="0" rtlCol="0" anchor="ctr"/>
          <a:lstStyle/>
          <a:p>
            <a:pPr algn="l" indent="0" marL="0">
              <a:buNone/>
            </a:pPr>
            <a:r>
              <a:rPr lang="en-US" sz="960" dirty="0">
                <a:solidFill>
                  <a:srgbClr val="16325C"/>
                </a:solidFill>
                <a:latin typeface="Calibri" pitchFamily="34" charset="0"/>
                <a:ea typeface="Calibri" pitchFamily="34" charset="-122"/>
                <a:cs typeface="Calibri" pitchFamily="34" charset="-120"/>
              </a:rPr>
              <a:t>Total cycle</a:t>
            </a:r>
            <a:endParaRPr lang="en-US" sz="960" dirty="0"/>
          </a:p>
        </p:txBody>
      </p:sp>
      <p:sp>
        <p:nvSpPr>
          <p:cNvPr id="66" name="Text 64"/>
          <p:cNvSpPr/>
          <p:nvPr/>
        </p:nvSpPr>
        <p:spPr>
          <a:xfrm>
            <a:off x="3291840" y="5394960"/>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55.04 s</a:t>
            </a:r>
            <a:endParaRPr lang="en-US" sz="960" dirty="0"/>
          </a:p>
        </p:txBody>
      </p:sp>
      <p:sp>
        <p:nvSpPr>
          <p:cNvPr id="67" name="Text 65"/>
          <p:cNvSpPr/>
          <p:nvPr/>
        </p:nvSpPr>
        <p:spPr>
          <a:xfrm>
            <a:off x="4937760" y="5394960"/>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46.17 s</a:t>
            </a:r>
            <a:endParaRPr lang="en-US" sz="960" dirty="0"/>
          </a:p>
        </p:txBody>
      </p:sp>
      <p:sp>
        <p:nvSpPr>
          <p:cNvPr id="68" name="Text 66"/>
          <p:cNvSpPr/>
          <p:nvPr/>
        </p:nvSpPr>
        <p:spPr>
          <a:xfrm>
            <a:off x="6583680" y="5394960"/>
            <a:ext cx="1600200" cy="210312"/>
          </a:xfrm>
          <a:prstGeom prst="rect">
            <a:avLst/>
          </a:prstGeom>
          <a:noFill/>
          <a:ln/>
        </p:spPr>
        <p:txBody>
          <a:bodyPr wrap="square" lIns="0" tIns="0" rIns="0" bIns="0" rtlCol="0" anchor="ctr"/>
          <a:lstStyle/>
          <a:p>
            <a:pPr algn="r" indent="0" marL="0">
              <a:buNone/>
            </a:pPr>
            <a:r>
              <a:rPr lang="en-US" sz="960" b="1" dirty="0">
                <a:solidFill>
                  <a:srgbClr val="2A7F50"/>
                </a:solidFill>
                <a:latin typeface="Calibri" pitchFamily="34" charset="0"/>
                <a:ea typeface="Calibri" pitchFamily="34" charset="-122"/>
                <a:cs typeface="Calibri" pitchFamily="34" charset="-120"/>
              </a:rPr>
              <a:t>−8.87 s</a:t>
            </a:r>
            <a:endParaRPr lang="en-US" sz="960" dirty="0"/>
          </a:p>
        </p:txBody>
      </p:sp>
      <p:sp>
        <p:nvSpPr>
          <p:cNvPr id="69" name="Text 67"/>
          <p:cNvSpPr/>
          <p:nvPr/>
        </p:nvSpPr>
        <p:spPr>
          <a:xfrm>
            <a:off x="777240" y="5605272"/>
            <a:ext cx="2468880" cy="210312"/>
          </a:xfrm>
          <a:prstGeom prst="rect">
            <a:avLst/>
          </a:prstGeom>
          <a:noFill/>
          <a:ln/>
        </p:spPr>
        <p:txBody>
          <a:bodyPr wrap="square" lIns="0" tIns="0" rIns="0" bIns="0" rtlCol="0" anchor="ctr"/>
          <a:lstStyle/>
          <a:p>
            <a:pPr algn="l" indent="0" marL="0">
              <a:buNone/>
            </a:pPr>
            <a:r>
              <a:rPr lang="en-US" sz="960" dirty="0">
                <a:solidFill>
                  <a:srgbClr val="16325C"/>
                </a:solidFill>
                <a:latin typeface="Calibri" pitchFamily="34" charset="0"/>
                <a:ea typeface="Calibri" pitchFamily="34" charset="-122"/>
                <a:cs typeface="Calibri" pitchFamily="34" charset="-120"/>
              </a:rPr>
              <a:t>Press cost per part</a:t>
            </a:r>
            <a:endParaRPr lang="en-US" sz="960" dirty="0"/>
          </a:p>
        </p:txBody>
      </p:sp>
      <p:sp>
        <p:nvSpPr>
          <p:cNvPr id="70" name="Text 68"/>
          <p:cNvSpPr/>
          <p:nvPr/>
        </p:nvSpPr>
        <p:spPr>
          <a:xfrm>
            <a:off x="3291840" y="5605272"/>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£5.51</a:t>
            </a:r>
            <a:endParaRPr lang="en-US" sz="960" dirty="0"/>
          </a:p>
        </p:txBody>
      </p:sp>
      <p:sp>
        <p:nvSpPr>
          <p:cNvPr id="71" name="Text 69"/>
          <p:cNvSpPr/>
          <p:nvPr/>
        </p:nvSpPr>
        <p:spPr>
          <a:xfrm>
            <a:off x="4937760" y="5605272"/>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£4.62</a:t>
            </a:r>
            <a:endParaRPr lang="en-US" sz="960" dirty="0"/>
          </a:p>
        </p:txBody>
      </p:sp>
      <p:sp>
        <p:nvSpPr>
          <p:cNvPr id="72" name="Text 70"/>
          <p:cNvSpPr/>
          <p:nvPr/>
        </p:nvSpPr>
        <p:spPr>
          <a:xfrm>
            <a:off x="6583680" y="5605272"/>
            <a:ext cx="1600200" cy="210312"/>
          </a:xfrm>
          <a:prstGeom prst="rect">
            <a:avLst/>
          </a:prstGeom>
          <a:noFill/>
          <a:ln/>
        </p:spPr>
        <p:txBody>
          <a:bodyPr wrap="square" lIns="0" tIns="0" rIns="0" bIns="0" rtlCol="0" anchor="ctr"/>
          <a:lstStyle/>
          <a:p>
            <a:pPr algn="r" indent="0" marL="0">
              <a:buNone/>
            </a:pPr>
            <a:r>
              <a:rPr lang="en-US" sz="960" b="1" dirty="0">
                <a:solidFill>
                  <a:srgbClr val="2A7F50"/>
                </a:solidFill>
                <a:latin typeface="Calibri" pitchFamily="34" charset="0"/>
                <a:ea typeface="Calibri" pitchFamily="34" charset="-122"/>
                <a:cs typeface="Calibri" pitchFamily="34" charset="-120"/>
              </a:rPr>
              <a:t>−£0.89</a:t>
            </a:r>
            <a:endParaRPr lang="en-US" sz="960" dirty="0"/>
          </a:p>
        </p:txBody>
      </p:sp>
      <p:sp>
        <p:nvSpPr>
          <p:cNvPr id="73" name="Text 71"/>
          <p:cNvSpPr/>
          <p:nvPr/>
        </p:nvSpPr>
        <p:spPr>
          <a:xfrm>
            <a:off x="777240" y="5815584"/>
            <a:ext cx="2468880" cy="210312"/>
          </a:xfrm>
          <a:prstGeom prst="rect">
            <a:avLst/>
          </a:prstGeom>
          <a:noFill/>
          <a:ln/>
        </p:spPr>
        <p:txBody>
          <a:bodyPr wrap="square" lIns="0" tIns="0" rIns="0" bIns="0" rtlCol="0" anchor="ctr"/>
          <a:lstStyle/>
          <a:p>
            <a:pPr algn="l" indent="0" marL="0">
              <a:buNone/>
            </a:pPr>
            <a:r>
              <a:rPr lang="en-US" sz="960" dirty="0">
                <a:solidFill>
                  <a:srgbClr val="16325C"/>
                </a:solidFill>
                <a:latin typeface="Calibri" pitchFamily="34" charset="0"/>
                <a:ea typeface="Calibri" pitchFamily="34" charset="-122"/>
                <a:cs typeface="Calibri" pitchFamily="34" charset="-120"/>
              </a:rPr>
              <a:t>Part cost, UK</a:t>
            </a:r>
            <a:endParaRPr lang="en-US" sz="960" dirty="0"/>
          </a:p>
        </p:txBody>
      </p:sp>
      <p:sp>
        <p:nvSpPr>
          <p:cNvPr id="74" name="Text 72"/>
          <p:cNvSpPr/>
          <p:nvPr/>
        </p:nvSpPr>
        <p:spPr>
          <a:xfrm>
            <a:off x="3291840" y="5815584"/>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£31.06</a:t>
            </a:r>
            <a:endParaRPr lang="en-US" sz="960" dirty="0"/>
          </a:p>
        </p:txBody>
      </p:sp>
      <p:sp>
        <p:nvSpPr>
          <p:cNvPr id="75" name="Text 73"/>
          <p:cNvSpPr/>
          <p:nvPr/>
        </p:nvSpPr>
        <p:spPr>
          <a:xfrm>
            <a:off x="4937760" y="5815584"/>
            <a:ext cx="1600200" cy="210312"/>
          </a:xfrm>
          <a:prstGeom prst="rect">
            <a:avLst/>
          </a:prstGeom>
          <a:noFill/>
          <a:ln/>
        </p:spPr>
        <p:txBody>
          <a:bodyPr wrap="square" lIns="0" tIns="0" rIns="0" bIns="0" rtlCol="0" anchor="ctr"/>
          <a:lstStyle/>
          <a:p>
            <a:pPr algn="r" indent="0" marL="0">
              <a:buNone/>
            </a:pPr>
            <a:r>
              <a:rPr lang="en-US" sz="960" dirty="0">
                <a:solidFill>
                  <a:srgbClr val="3A4356"/>
                </a:solidFill>
                <a:latin typeface="Calibri" pitchFamily="34" charset="0"/>
                <a:ea typeface="Calibri" pitchFamily="34" charset="-122"/>
                <a:cs typeface="Calibri" pitchFamily="34" charset="-120"/>
              </a:rPr>
              <a:t>£29.95</a:t>
            </a:r>
            <a:endParaRPr lang="en-US" sz="960" dirty="0"/>
          </a:p>
        </p:txBody>
      </p:sp>
      <p:sp>
        <p:nvSpPr>
          <p:cNvPr id="76" name="Text 74"/>
          <p:cNvSpPr/>
          <p:nvPr/>
        </p:nvSpPr>
        <p:spPr>
          <a:xfrm>
            <a:off x="6583680" y="5815584"/>
            <a:ext cx="1600200" cy="210312"/>
          </a:xfrm>
          <a:prstGeom prst="rect">
            <a:avLst/>
          </a:prstGeom>
          <a:noFill/>
          <a:ln/>
        </p:spPr>
        <p:txBody>
          <a:bodyPr wrap="square" lIns="0" tIns="0" rIns="0" bIns="0" rtlCol="0" anchor="ctr"/>
          <a:lstStyle/>
          <a:p>
            <a:pPr algn="r" indent="0" marL="0">
              <a:buNone/>
            </a:pPr>
            <a:r>
              <a:rPr lang="en-US" sz="960" b="1" dirty="0">
                <a:solidFill>
                  <a:srgbClr val="2A7F50"/>
                </a:solidFill>
                <a:latin typeface="Calibri" pitchFamily="34" charset="0"/>
                <a:ea typeface="Calibri" pitchFamily="34" charset="-122"/>
                <a:cs typeface="Calibri" pitchFamily="34" charset="-120"/>
              </a:rPr>
              <a:t>−£1.11</a:t>
            </a:r>
            <a:endParaRPr lang="en-US" sz="960" dirty="0"/>
          </a:p>
        </p:txBody>
      </p:sp>
      <p:sp>
        <p:nvSpPr>
          <p:cNvPr id="77" name="Text 75"/>
          <p:cNvSpPr/>
          <p:nvPr/>
        </p:nvSpPr>
        <p:spPr>
          <a:xfrm>
            <a:off x="8412480" y="4974336"/>
            <a:ext cx="3200400" cy="1005840"/>
          </a:xfrm>
          <a:prstGeom prst="rect">
            <a:avLst/>
          </a:prstGeom>
          <a:noFill/>
          <a:ln/>
        </p:spPr>
        <p:txBody>
          <a:bodyPr wrap="square" lIns="0" tIns="0" rIns="0" bIns="0" rtlCol="0" anchor="t"/>
          <a:lstStyle/>
          <a:p>
            <a:pPr indent="0" marL="0">
              <a:buNone/>
            </a:pPr>
            <a:r>
              <a:rPr lang="en-US" sz="980" b="1" dirty="0">
                <a:solidFill>
                  <a:srgbClr val="16325C"/>
                </a:solidFill>
                <a:latin typeface="Calibri" pitchFamily="34" charset="0"/>
                <a:ea typeface="Calibri" pitchFamily="34" charset="-122"/>
                <a:cs typeface="Calibri" pitchFamily="34" charset="-120"/>
              </a:rPr>
              <a:t>That is a design conversation, not a purchasing one. </a:t>
            </a:r>
            <a:pPr indent="0" marL="0">
              <a:buNone/>
            </a:pPr>
            <a:r>
              <a:rPr lang="en-US" sz="980" dirty="0">
                <a:solidFill>
                  <a:srgbClr val="3A4356"/>
                </a:solidFill>
                <a:latin typeface="Calibri" pitchFamily="34" charset="0"/>
                <a:ea typeface="Calibri" pitchFamily="34" charset="-122"/>
                <a:cs typeface="Calibri" pitchFamily="34" charset="-120"/>
              </a:rPr>
              <a:t>Half a millimetre of wall is worth more on this part than any price you could argue out of the moulder — and the tool is what lets you put a number on it before the design is frozen.</a:t>
            </a:r>
            <a:endParaRPr lang="en-US" sz="980" dirty="0"/>
          </a:p>
        </p:txBody>
      </p:sp>
      <p:sp>
        <p:nvSpPr>
          <p:cNvPr id="78" name="Text 76"/>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79" name="Text 77"/>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39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8–10 · 55 Seconds, Then the Eight Buckets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Every second priced at the press rate, then repriced by country</a:t>
            </a:r>
            <a:endParaRPr lang="en-US" sz="1200" dirty="0"/>
          </a:p>
        </p:txBody>
      </p:sp>
      <p:sp>
        <p:nvSpPr>
          <p:cNvPr id="5" name="Shape 3"/>
          <p:cNvSpPr/>
          <p:nvPr/>
        </p:nvSpPr>
        <p:spPr>
          <a:xfrm>
            <a:off x="457200" y="1188720"/>
            <a:ext cx="5029200" cy="2423160"/>
          </a:xfrm>
          <a:prstGeom prst="roundRect">
            <a:avLst>
              <a:gd name="adj" fmla="val 3774"/>
            </a:avLst>
          </a:prstGeom>
          <a:solidFill>
            <a:srgbClr val="FFFFFF"/>
          </a:solidFill>
          <a:ln w="12700">
            <a:solidFill>
              <a:srgbClr val="DCE3EE"/>
            </a:solidFill>
            <a:prstDash val="solid"/>
          </a:ln>
        </p:spPr>
      </p:sp>
      <p:sp>
        <p:nvSpPr>
          <p:cNvPr id="6" name="Text 4"/>
          <p:cNvSpPr/>
          <p:nvPr/>
        </p:nvSpPr>
        <p:spPr>
          <a:xfrm>
            <a:off x="685800" y="1298448"/>
            <a:ext cx="4572000" cy="237744"/>
          </a:xfrm>
          <a:prstGeom prst="rect">
            <a:avLst/>
          </a:prstGeom>
          <a:noFill/>
          <a:ln/>
        </p:spPr>
        <p:txBody>
          <a:bodyPr wrap="square" lIns="0" tIns="0" rIns="0" bIns="0" rtlCol="0" anchor="ctr"/>
          <a:lstStyle/>
          <a:p>
            <a:pPr indent="0" marL="0">
              <a:buNone/>
            </a:pPr>
            <a:r>
              <a:rPr lang="en-US" sz="1050" b="1" spc="50" kern="0" dirty="0">
                <a:solidFill>
                  <a:srgbClr val="16325C"/>
                </a:solidFill>
                <a:latin typeface="Calibri" pitchFamily="34" charset="0"/>
                <a:ea typeface="Calibri" pitchFamily="34" charset="-122"/>
                <a:cs typeface="Calibri" pitchFamily="34" charset="-120"/>
              </a:rPr>
              <a:t>HOW THE 55-SECOND CYCLE IS BUILT</a:t>
            </a:r>
            <a:endParaRPr lang="en-US" sz="1050" dirty="0"/>
          </a:p>
        </p:txBody>
      </p:sp>
      <p:sp>
        <p:nvSpPr>
          <p:cNvPr id="7" name="Text 5"/>
          <p:cNvSpPr/>
          <p:nvPr/>
        </p:nvSpPr>
        <p:spPr>
          <a:xfrm>
            <a:off x="713232" y="1627632"/>
            <a:ext cx="3291840" cy="274320"/>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Fill the cavity</a:t>
            </a:r>
            <a:endParaRPr lang="en-US" sz="1050" dirty="0"/>
          </a:p>
        </p:txBody>
      </p:sp>
      <p:sp>
        <p:nvSpPr>
          <p:cNvPr id="8" name="Text 6"/>
          <p:cNvSpPr/>
          <p:nvPr/>
        </p:nvSpPr>
        <p:spPr>
          <a:xfrm>
            <a:off x="4023360" y="1627632"/>
            <a:ext cx="1280160" cy="274320"/>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4.5 s</a:t>
            </a:r>
            <a:endParaRPr lang="en-US" sz="1050" dirty="0"/>
          </a:p>
        </p:txBody>
      </p:sp>
      <p:sp>
        <p:nvSpPr>
          <p:cNvPr id="9" name="Text 7"/>
          <p:cNvSpPr/>
          <p:nvPr/>
        </p:nvSpPr>
        <p:spPr>
          <a:xfrm>
            <a:off x="713232" y="1929384"/>
            <a:ext cx="3291840" cy="274320"/>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Pack and hold</a:t>
            </a:r>
            <a:endParaRPr lang="en-US" sz="1050" dirty="0"/>
          </a:p>
        </p:txBody>
      </p:sp>
      <p:sp>
        <p:nvSpPr>
          <p:cNvPr id="10" name="Text 8"/>
          <p:cNvSpPr/>
          <p:nvPr/>
        </p:nvSpPr>
        <p:spPr>
          <a:xfrm>
            <a:off x="4023360" y="1929384"/>
            <a:ext cx="1280160" cy="274320"/>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12.0 s</a:t>
            </a:r>
            <a:endParaRPr lang="en-US" sz="1050" dirty="0"/>
          </a:p>
        </p:txBody>
      </p:sp>
      <p:sp>
        <p:nvSpPr>
          <p:cNvPr id="11" name="Text 9"/>
          <p:cNvSpPr/>
          <p:nvPr/>
        </p:nvSpPr>
        <p:spPr>
          <a:xfrm>
            <a:off x="713232" y="2231136"/>
            <a:ext cx="3291840" cy="274320"/>
          </a:xfrm>
          <a:prstGeom prst="rect">
            <a:avLst/>
          </a:prstGeom>
          <a:noFill/>
          <a:ln/>
        </p:spPr>
        <p:txBody>
          <a:bodyPr wrap="square" lIns="0" tIns="0" rIns="0" bIns="0" rtlCol="0" anchor="ctr"/>
          <a:lstStyle/>
          <a:p>
            <a:pPr indent="0" marL="0">
              <a:buNone/>
            </a:pPr>
            <a:r>
              <a:rPr lang="en-US" sz="1050" b="1" dirty="0">
                <a:solidFill>
                  <a:srgbClr val="0D7D71"/>
                </a:solidFill>
                <a:latin typeface="Calibri" pitchFamily="34" charset="0"/>
                <a:ea typeface="Calibri" pitchFamily="34" charset="-122"/>
                <a:cs typeface="Calibri" pitchFamily="34" charset="-120"/>
              </a:rPr>
              <a:t>Cool  =  3.16 × 3.0²</a:t>
            </a:r>
            <a:endParaRPr lang="en-US" sz="1050" dirty="0"/>
          </a:p>
        </p:txBody>
      </p:sp>
      <p:sp>
        <p:nvSpPr>
          <p:cNvPr id="12" name="Text 10"/>
          <p:cNvSpPr/>
          <p:nvPr/>
        </p:nvSpPr>
        <p:spPr>
          <a:xfrm>
            <a:off x="4023360" y="2231136"/>
            <a:ext cx="1280160" cy="274320"/>
          </a:xfrm>
          <a:prstGeom prst="rect">
            <a:avLst/>
          </a:prstGeom>
          <a:noFill/>
          <a:ln/>
        </p:spPr>
        <p:txBody>
          <a:bodyPr wrap="square" lIns="0" tIns="0" rIns="0" bIns="0" rtlCol="0" anchor="ctr"/>
          <a:lstStyle/>
          <a:p>
            <a:pPr algn="r" indent="0" marL="0">
              <a:buNone/>
            </a:pPr>
            <a:r>
              <a:rPr lang="en-US" sz="1050" b="1" dirty="0">
                <a:solidFill>
                  <a:srgbClr val="0D7D71"/>
                </a:solidFill>
                <a:latin typeface="Calibri" pitchFamily="34" charset="0"/>
                <a:ea typeface="Calibri" pitchFamily="34" charset="-122"/>
                <a:cs typeface="Calibri" pitchFamily="34" charset="-120"/>
              </a:rPr>
              <a:t>28.4 s</a:t>
            </a:r>
            <a:endParaRPr lang="en-US" sz="1050" dirty="0"/>
          </a:p>
        </p:txBody>
      </p:sp>
      <p:sp>
        <p:nvSpPr>
          <p:cNvPr id="13" name="Text 11"/>
          <p:cNvSpPr/>
          <p:nvPr/>
        </p:nvSpPr>
        <p:spPr>
          <a:xfrm>
            <a:off x="713232" y="2532888"/>
            <a:ext cx="3291840" cy="274320"/>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Open and eject</a:t>
            </a:r>
            <a:endParaRPr lang="en-US" sz="1050" dirty="0"/>
          </a:p>
        </p:txBody>
      </p:sp>
      <p:sp>
        <p:nvSpPr>
          <p:cNvPr id="14" name="Text 12"/>
          <p:cNvSpPr/>
          <p:nvPr/>
        </p:nvSpPr>
        <p:spPr>
          <a:xfrm>
            <a:off x="4023360" y="2532888"/>
            <a:ext cx="1280160" cy="274320"/>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9.0 s</a:t>
            </a:r>
            <a:endParaRPr lang="en-US" sz="1050" dirty="0"/>
          </a:p>
        </p:txBody>
      </p:sp>
      <p:sp>
        <p:nvSpPr>
          <p:cNvPr id="15" name="Text 13"/>
          <p:cNvSpPr/>
          <p:nvPr/>
        </p:nvSpPr>
        <p:spPr>
          <a:xfrm>
            <a:off x="713232" y="2834640"/>
            <a:ext cx="3291840" cy="274320"/>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+ 2% reject allowance</a:t>
            </a:r>
            <a:endParaRPr lang="en-US" sz="1050" dirty="0"/>
          </a:p>
        </p:txBody>
      </p:sp>
      <p:sp>
        <p:nvSpPr>
          <p:cNvPr id="16" name="Text 14"/>
          <p:cNvSpPr/>
          <p:nvPr/>
        </p:nvSpPr>
        <p:spPr>
          <a:xfrm>
            <a:off x="4023360" y="2834640"/>
            <a:ext cx="1280160" cy="274320"/>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1.1 s</a:t>
            </a:r>
            <a:endParaRPr lang="en-US" sz="1050" dirty="0"/>
          </a:p>
        </p:txBody>
      </p:sp>
      <p:sp>
        <p:nvSpPr>
          <p:cNvPr id="17" name="Shape 15"/>
          <p:cNvSpPr/>
          <p:nvPr/>
        </p:nvSpPr>
        <p:spPr>
          <a:xfrm>
            <a:off x="713232" y="3163824"/>
            <a:ext cx="4590288" cy="0"/>
          </a:xfrm>
          <a:prstGeom prst="line">
            <a:avLst/>
          </a:prstGeom>
          <a:noFill/>
          <a:ln w="12700">
            <a:solidFill>
              <a:srgbClr val="DCE3EE"/>
            </a:solidFill>
            <a:prstDash val="solid"/>
          </a:ln>
        </p:spPr>
      </p:sp>
      <p:sp>
        <p:nvSpPr>
          <p:cNvPr id="18" name="Text 16"/>
          <p:cNvSpPr/>
          <p:nvPr/>
        </p:nvSpPr>
        <p:spPr>
          <a:xfrm>
            <a:off x="713232" y="3218688"/>
            <a:ext cx="3291840" cy="274320"/>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Total cycle</a:t>
            </a:r>
            <a:endParaRPr lang="en-US" sz="1100" dirty="0"/>
          </a:p>
        </p:txBody>
      </p:sp>
      <p:sp>
        <p:nvSpPr>
          <p:cNvPr id="19" name="Text 17"/>
          <p:cNvSpPr/>
          <p:nvPr/>
        </p:nvSpPr>
        <p:spPr>
          <a:xfrm>
            <a:off x="4023360" y="3218688"/>
            <a:ext cx="1280160" cy="274320"/>
          </a:xfrm>
          <a:prstGeom prst="rect">
            <a:avLst/>
          </a:prstGeom>
          <a:noFill/>
          <a:ln/>
        </p:spPr>
        <p:txBody>
          <a:bodyPr wrap="square" lIns="0" tIns="0" rIns="0" bIns="0" rtlCol="0" anchor="ctr"/>
          <a:lstStyle/>
          <a:p>
            <a:pPr algn="r" indent="0" marL="0">
              <a:buNone/>
            </a:pPr>
            <a:r>
              <a:rPr lang="en-US" sz="1100" b="1" dirty="0">
                <a:solidFill>
                  <a:srgbClr val="16325C"/>
                </a:solidFill>
                <a:latin typeface="Calibri" pitchFamily="34" charset="0"/>
                <a:ea typeface="Calibri" pitchFamily="34" charset="-122"/>
                <a:cs typeface="Calibri" pitchFamily="34" charset="-120"/>
              </a:rPr>
              <a:t>55.0 s</a:t>
            </a:r>
            <a:endParaRPr lang="en-US" sz="1100" dirty="0"/>
          </a:p>
        </p:txBody>
      </p:sp>
      <p:sp>
        <p:nvSpPr>
          <p:cNvPr id="20" name="Shape 18"/>
          <p:cNvSpPr/>
          <p:nvPr/>
        </p:nvSpPr>
        <p:spPr>
          <a:xfrm>
            <a:off x="5715000" y="1188720"/>
            <a:ext cx="6016752" cy="2423160"/>
          </a:xfrm>
          <a:prstGeom prst="roundRect">
            <a:avLst>
              <a:gd name="adj" fmla="val 3774"/>
            </a:avLst>
          </a:prstGeom>
          <a:solidFill>
            <a:srgbClr val="E6F4F1"/>
          </a:solidFill>
          <a:ln w="15875">
            <a:solidFill>
              <a:srgbClr val="0D7D71"/>
            </a:solidFill>
            <a:prstDash val="solid"/>
          </a:ln>
        </p:spPr>
      </p:sp>
      <p:sp>
        <p:nvSpPr>
          <p:cNvPr id="21" name="Text 19"/>
          <p:cNvSpPr/>
          <p:nvPr/>
        </p:nvSpPr>
        <p:spPr>
          <a:xfrm>
            <a:off x="5943600" y="1298448"/>
            <a:ext cx="5486400" cy="237744"/>
          </a:xfrm>
          <a:prstGeom prst="rect">
            <a:avLst/>
          </a:prstGeom>
          <a:noFill/>
          <a:ln/>
        </p:spPr>
        <p:txBody>
          <a:bodyPr wrap="square" lIns="0" tIns="0" rIns="0" bIns="0" rtlCol="0" anchor="ctr"/>
          <a:lstStyle/>
          <a:p>
            <a:pPr indent="0" marL="0">
              <a:buNone/>
            </a:pPr>
            <a:r>
              <a:rPr lang="en-US" sz="1050" b="1" spc="50" kern="0" dirty="0">
                <a:solidFill>
                  <a:srgbClr val="0D7D71"/>
                </a:solidFill>
                <a:latin typeface="Calibri" pitchFamily="34" charset="0"/>
                <a:ea typeface="Calibri" pitchFamily="34" charset="-122"/>
                <a:cs typeface="Calibri" pitchFamily="34" charset="-120"/>
              </a:rPr>
              <a:t>AND WHAT THOSE 55 SECONDS COST</a:t>
            </a:r>
            <a:endParaRPr lang="en-US" sz="1050" dirty="0"/>
          </a:p>
        </p:txBody>
      </p:sp>
      <p:sp>
        <p:nvSpPr>
          <p:cNvPr id="22" name="Text 20"/>
          <p:cNvSpPr/>
          <p:nvPr/>
        </p:nvSpPr>
        <p:spPr>
          <a:xfrm>
            <a:off x="5943600" y="1645920"/>
            <a:ext cx="3200400" cy="310896"/>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55.0 s ÷ 3600</a:t>
            </a:r>
            <a:endParaRPr lang="en-US" sz="1050" dirty="0"/>
          </a:p>
        </p:txBody>
      </p:sp>
      <p:sp>
        <p:nvSpPr>
          <p:cNvPr id="23" name="Text 21"/>
          <p:cNvSpPr/>
          <p:nvPr/>
        </p:nvSpPr>
        <p:spPr>
          <a:xfrm>
            <a:off x="9189720" y="1645920"/>
            <a:ext cx="2331720" cy="31089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  0.0153 hr of cycle</a:t>
            </a:r>
            <a:endParaRPr lang="en-US" sz="1050" dirty="0"/>
          </a:p>
        </p:txBody>
      </p:sp>
      <p:sp>
        <p:nvSpPr>
          <p:cNvPr id="24" name="Text 22"/>
          <p:cNvSpPr/>
          <p:nvPr/>
        </p:nvSpPr>
        <p:spPr>
          <a:xfrm>
            <a:off x="5943600" y="1993392"/>
            <a:ext cx="3200400" cy="310896"/>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 0.85 machine availability</a:t>
            </a:r>
            <a:endParaRPr lang="en-US" sz="1050" dirty="0"/>
          </a:p>
        </p:txBody>
      </p:sp>
      <p:sp>
        <p:nvSpPr>
          <p:cNvPr id="25" name="Text 23"/>
          <p:cNvSpPr/>
          <p:nvPr/>
        </p:nvSpPr>
        <p:spPr>
          <a:xfrm>
            <a:off x="9189720" y="1993392"/>
            <a:ext cx="2331720" cy="31089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  0.0180 hr charged</a:t>
            </a:r>
            <a:endParaRPr lang="en-US" sz="1050" dirty="0"/>
          </a:p>
        </p:txBody>
      </p:sp>
      <p:sp>
        <p:nvSpPr>
          <p:cNvPr id="26" name="Text 24"/>
          <p:cNvSpPr/>
          <p:nvPr/>
        </p:nvSpPr>
        <p:spPr>
          <a:xfrm>
            <a:off x="5943600" y="2340864"/>
            <a:ext cx="3200400" cy="310896"/>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 £306.12/hr press rate</a:t>
            </a:r>
            <a:endParaRPr lang="en-US" sz="1050" dirty="0"/>
          </a:p>
        </p:txBody>
      </p:sp>
      <p:sp>
        <p:nvSpPr>
          <p:cNvPr id="27" name="Text 25"/>
          <p:cNvSpPr/>
          <p:nvPr/>
        </p:nvSpPr>
        <p:spPr>
          <a:xfrm>
            <a:off x="9189720" y="2340864"/>
            <a:ext cx="2331720" cy="31089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  £5.51 machine</a:t>
            </a:r>
            <a:endParaRPr lang="en-US" sz="1050" dirty="0"/>
          </a:p>
        </p:txBody>
      </p:sp>
      <p:sp>
        <p:nvSpPr>
          <p:cNvPr id="28" name="Text 26"/>
          <p:cNvSpPr/>
          <p:nvPr/>
        </p:nvSpPr>
        <p:spPr>
          <a:xfrm>
            <a:off x="5943600" y="2688336"/>
            <a:ext cx="3200400" cy="310896"/>
          </a:xfrm>
          <a:prstGeom prst="rect">
            <a:avLst/>
          </a:prstGeom>
          <a:noFill/>
          <a:ln/>
        </p:spPr>
        <p:txBody>
          <a:bodyPr wrap="square" lIns="0" tIns="0" rIns="0" bIns="0" rtlCol="0" anchor="ctr"/>
          <a:lstStyle/>
          <a:p>
            <a:pPr indent="0" marL="0">
              <a:buNone/>
            </a:pPr>
            <a:r>
              <a:rPr lang="en-US" sz="1050" dirty="0">
                <a:solidFill>
                  <a:srgbClr val="3A4356"/>
                </a:solidFill>
                <a:latin typeface="Calibri" pitchFamily="34" charset="0"/>
                <a:ea typeface="Calibri" pitchFamily="34" charset="-122"/>
                <a:cs typeface="Calibri" pitchFamily="34" charset="-120"/>
              </a:rPr>
              <a:t>+ half an operator at £19.80/hr</a:t>
            </a:r>
            <a:endParaRPr lang="en-US" sz="1050" dirty="0"/>
          </a:p>
        </p:txBody>
      </p:sp>
      <p:sp>
        <p:nvSpPr>
          <p:cNvPr id="29" name="Text 27"/>
          <p:cNvSpPr/>
          <p:nvPr/>
        </p:nvSpPr>
        <p:spPr>
          <a:xfrm>
            <a:off x="9189720" y="2688336"/>
            <a:ext cx="2331720" cy="310896"/>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  £0.17 labour</a:t>
            </a:r>
            <a:endParaRPr lang="en-US" sz="1050" dirty="0"/>
          </a:p>
        </p:txBody>
      </p:sp>
      <p:sp>
        <p:nvSpPr>
          <p:cNvPr id="30" name="Shape 28"/>
          <p:cNvSpPr/>
          <p:nvPr/>
        </p:nvSpPr>
        <p:spPr>
          <a:xfrm>
            <a:off x="5943600" y="3017520"/>
            <a:ext cx="5577840" cy="365760"/>
          </a:xfrm>
          <a:prstGeom prst="roundRect">
            <a:avLst>
              <a:gd name="adj" fmla="val 20000"/>
            </a:avLst>
          </a:prstGeom>
          <a:solidFill>
            <a:srgbClr val="FFFFFF"/>
          </a:solidFill>
          <a:ln w="15875">
            <a:solidFill>
              <a:srgbClr val="0D7D71"/>
            </a:solidFill>
            <a:prstDash val="solid"/>
          </a:ln>
        </p:spPr>
      </p:sp>
      <p:sp>
        <p:nvSpPr>
          <p:cNvPr id="31" name="Text 29"/>
          <p:cNvSpPr/>
          <p:nvPr/>
        </p:nvSpPr>
        <p:spPr>
          <a:xfrm>
            <a:off x="5943600" y="3017520"/>
            <a:ext cx="5577840" cy="365760"/>
          </a:xfrm>
          <a:prstGeom prst="rect">
            <a:avLst/>
          </a:prstGeom>
          <a:noFill/>
          <a:ln/>
        </p:spPr>
        <p:txBody>
          <a:bodyPr wrap="square" lIns="0" tIns="0" rIns="0" bIns="0" rtlCol="0" anchor="ctr"/>
          <a:lstStyle/>
          <a:p>
            <a:pPr algn="ctr" indent="0" marL="0">
              <a:buNone/>
            </a:pPr>
            <a:r>
              <a:rPr lang="en-US" sz="1100" b="1" dirty="0">
                <a:solidFill>
                  <a:srgbClr val="16325C"/>
                </a:solidFill>
                <a:latin typeface="Calibri" pitchFamily="34" charset="0"/>
                <a:ea typeface="Calibri" pitchFamily="34" charset="-122"/>
                <a:cs typeface="Calibri" pitchFamily="34" charset="-120"/>
              </a:rPr>
              <a:t>Moulding one bumper:  £5.67  —  and that is the whole making cost</a:t>
            </a:r>
            <a:endParaRPr lang="en-US" sz="1100" dirty="0"/>
          </a:p>
        </p:txBody>
      </p:sp>
      <p:sp>
        <p:nvSpPr>
          <p:cNvPr id="32" name="Text 30"/>
          <p:cNvSpPr/>
          <p:nvPr/>
        </p:nvSpPr>
        <p:spPr>
          <a:xfrm>
            <a:off x="5943600" y="3410712"/>
            <a:ext cx="5577840" cy="182880"/>
          </a:xfrm>
          <a:prstGeom prst="rect">
            <a:avLst/>
          </a:prstGeom>
          <a:noFill/>
          <a:ln/>
        </p:spPr>
        <p:txBody>
          <a:bodyPr wrap="square" lIns="0" tIns="0" rIns="0" bIns="0" rtlCol="0" anchor="ctr"/>
          <a:lstStyle/>
          <a:p>
            <a:pPr algn="ctr" indent="0" marL="0">
              <a:buNone/>
            </a:pPr>
            <a:r>
              <a:rPr lang="en-US" sz="800" i="1" dirty="0">
                <a:solidFill>
                  <a:srgbClr val="686F7D"/>
                </a:solidFill>
                <a:latin typeface="Calibri" pitchFamily="34" charset="0"/>
                <a:ea typeface="Calibri" pitchFamily="34" charset="-122"/>
                <a:cs typeface="Calibri" pitchFamily="34" charset="-120"/>
              </a:rPr>
              <a:t>£5.5063 + £0.1682 = £5.6745 — the two lines above are rounded to the penny.</a:t>
            </a:r>
            <a:endParaRPr lang="en-US" sz="800" dirty="0"/>
          </a:p>
        </p:txBody>
      </p:sp>
      <p:sp>
        <p:nvSpPr>
          <p:cNvPr id="33" name="Shape 31"/>
          <p:cNvSpPr/>
          <p:nvPr/>
        </p:nvSpPr>
        <p:spPr>
          <a:xfrm>
            <a:off x="457200" y="3794760"/>
            <a:ext cx="6858000" cy="2194560"/>
          </a:xfrm>
          <a:prstGeom prst="roundRect">
            <a:avLst>
              <a:gd name="adj" fmla="val 4167"/>
            </a:avLst>
          </a:prstGeom>
          <a:solidFill>
            <a:srgbClr val="FFFFFF"/>
          </a:solidFill>
          <a:ln w="12700">
            <a:solidFill>
              <a:srgbClr val="DCE3EE"/>
            </a:solidFill>
            <a:prstDash val="solid"/>
          </a:ln>
        </p:spPr>
      </p:sp>
      <p:sp>
        <p:nvSpPr>
          <p:cNvPr id="34" name="Text 32"/>
          <p:cNvSpPr/>
          <p:nvPr/>
        </p:nvSpPr>
        <p:spPr>
          <a:xfrm>
            <a:off x="685800" y="3895344"/>
            <a:ext cx="6309360" cy="237744"/>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THE EIGHT BUCKETS — bumper fascia, made in China</a:t>
            </a:r>
            <a:endParaRPr lang="en-US" sz="1100" dirty="0"/>
          </a:p>
        </p:txBody>
      </p:sp>
      <p:graphicFrame>
        <p:nvGraphicFramePr>
          <p:cNvPr id="35" name="Chart 0" descr=""/>
          <p:cNvGraphicFramePr/>
          <p:nvPr/>
        </p:nvGraphicFramePr>
        <p:xfrm>
          <a:off x="566928" y="4114800"/>
          <a:ext cx="6675120" cy="1783080"/>
        </p:xfrm>
        <a:graphic xmlns:a="http://schemas.openxmlformats.org/drawingml/2006/main">
          <a:graphicData uri="http://schemas.openxmlformats.org/drawingml/2006/chart">
            <c:chart xmlns:c="http://schemas.openxmlformats.org/drawingml/2006/chart" r:id="rId1"/>
          </a:graphicData>
        </a:graphic>
      </p:graphicFrame>
      <p:sp>
        <p:nvSpPr>
          <p:cNvPr id="36" name="Shape 33"/>
          <p:cNvSpPr/>
          <p:nvPr/>
        </p:nvSpPr>
        <p:spPr>
          <a:xfrm>
            <a:off x="7543800" y="3794760"/>
            <a:ext cx="4187952" cy="1024128"/>
          </a:xfrm>
          <a:prstGeom prst="roundRect">
            <a:avLst>
              <a:gd name="adj" fmla="val 8929"/>
            </a:avLst>
          </a:prstGeom>
          <a:solidFill>
            <a:srgbClr val="0E5A5A"/>
          </a:solidFill>
          <a:ln/>
        </p:spPr>
      </p:sp>
      <p:sp>
        <p:nvSpPr>
          <p:cNvPr id="37" name="Text 34"/>
          <p:cNvSpPr/>
          <p:nvPr/>
        </p:nvSpPr>
        <p:spPr>
          <a:xfrm>
            <a:off x="7772400" y="3886200"/>
            <a:ext cx="3749040" cy="219456"/>
          </a:xfrm>
          <a:prstGeom prst="rect">
            <a:avLst/>
          </a:prstGeom>
          <a:noFill/>
          <a:ln/>
        </p:spPr>
        <p:txBody>
          <a:bodyPr wrap="square" lIns="0" tIns="0" rIns="0" bIns="0" rtlCol="0" anchor="ctr"/>
          <a:lstStyle/>
          <a:p>
            <a:pPr indent="0" marL="0">
              <a:buNone/>
            </a:pPr>
            <a:r>
              <a:rPr lang="en-US" sz="900" b="1" spc="80" kern="0" dirty="0">
                <a:solidFill>
                  <a:srgbClr val="9FD9CF"/>
                </a:solidFill>
                <a:latin typeface="Calibri" pitchFamily="34" charset="0"/>
                <a:ea typeface="Calibri" pitchFamily="34" charset="-122"/>
                <a:cs typeface="Calibri" pitchFamily="34" charset="-120"/>
              </a:rPr>
              <a:t>SHOULD-COST — MADE IN CHINA</a:t>
            </a:r>
            <a:endParaRPr lang="en-US" sz="900" dirty="0"/>
          </a:p>
        </p:txBody>
      </p:sp>
      <p:sp>
        <p:nvSpPr>
          <p:cNvPr id="38" name="Text 35"/>
          <p:cNvSpPr/>
          <p:nvPr/>
        </p:nvSpPr>
        <p:spPr>
          <a:xfrm>
            <a:off x="7772400" y="4078224"/>
            <a:ext cx="2103120" cy="5486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£26.08</a:t>
            </a:r>
            <a:endParaRPr lang="en-US" sz="3300" dirty="0"/>
          </a:p>
        </p:txBody>
      </p:sp>
      <p:sp>
        <p:nvSpPr>
          <p:cNvPr id="39" name="Text 36"/>
          <p:cNvSpPr/>
          <p:nvPr/>
        </p:nvSpPr>
        <p:spPr>
          <a:xfrm>
            <a:off x="9921240" y="4114800"/>
            <a:ext cx="1691640" cy="502920"/>
          </a:xfrm>
          <a:prstGeom prst="rect">
            <a:avLst/>
          </a:prstGeom>
          <a:noFill/>
          <a:ln/>
        </p:spPr>
        <p:txBody>
          <a:bodyPr wrap="square" lIns="0" tIns="0" rIns="0" bIns="0" rtlCol="0" anchor="ctr"/>
          <a:lstStyle/>
          <a:p>
            <a:pPr indent="0" marL="0">
              <a:buNone/>
            </a:pPr>
            <a:r>
              <a:rPr lang="en-US" sz="900" dirty="0">
                <a:solidFill>
                  <a:srgbClr val="CDEDE7"/>
                </a:solidFill>
                <a:latin typeface="Calibri" pitchFamily="34" charset="0"/>
                <a:ea typeface="Calibri" pitchFamily="34" charset="-122"/>
                <a:cs typeface="Calibri" pitchFamily="34" charset="-120"/>
              </a:rPr>
              <a:t>unpainted, ex-works,</a:t>
            </a:r>
            <a:endParaRPr lang="en-US" sz="900" dirty="0"/>
          </a:p>
          <a:p>
            <a:pPr indent="0" marL="0">
              <a:buNone/>
            </a:pPr>
            <a:r>
              <a:rPr lang="en-US" sz="900" dirty="0">
                <a:solidFill>
                  <a:srgbClr val="CDEDE7"/>
                </a:solidFill>
                <a:latin typeface="Calibri" pitchFamily="34" charset="0"/>
                <a:ea typeface="Calibri" pitchFamily="34" charset="-122"/>
                <a:cs typeface="Calibri" pitchFamily="34" charset="-120"/>
              </a:rPr>
              <a:t>at 60,000 a year</a:t>
            </a:r>
            <a:endParaRPr lang="en-US" sz="900" dirty="0"/>
          </a:p>
        </p:txBody>
      </p:sp>
      <p:sp>
        <p:nvSpPr>
          <p:cNvPr id="40" name="Shape 37"/>
          <p:cNvSpPr/>
          <p:nvPr/>
        </p:nvSpPr>
        <p:spPr>
          <a:xfrm>
            <a:off x="7543800" y="4956048"/>
            <a:ext cx="4187952" cy="1033272"/>
          </a:xfrm>
          <a:prstGeom prst="roundRect">
            <a:avLst>
              <a:gd name="adj" fmla="val 8850"/>
            </a:avLst>
          </a:prstGeom>
          <a:solidFill>
            <a:srgbClr val="FFFFFF"/>
          </a:solidFill>
          <a:ln w="12700">
            <a:solidFill>
              <a:srgbClr val="DCE3EE"/>
            </a:solidFill>
            <a:prstDash val="solid"/>
          </a:ln>
        </p:spPr>
      </p:sp>
      <p:sp>
        <p:nvSpPr>
          <p:cNvPr id="41" name="Text 38"/>
          <p:cNvSpPr/>
          <p:nvPr/>
        </p:nvSpPr>
        <p:spPr>
          <a:xfrm>
            <a:off x="7726680" y="5029200"/>
            <a:ext cx="3840480" cy="219456"/>
          </a:xfrm>
          <a:prstGeom prst="rect">
            <a:avLst/>
          </a:prstGeom>
          <a:noFill/>
          <a:ln/>
        </p:spPr>
        <p:txBody>
          <a:bodyPr wrap="square" lIns="0" tIns="0" rIns="0" bIns="0" rtlCol="0" anchor="ctr"/>
          <a:lstStyle/>
          <a:p>
            <a:pPr indent="0" marL="0">
              <a:buNone/>
            </a:pPr>
            <a:r>
              <a:rPr lang="en-US" sz="900" b="1" spc="60" kern="0" dirty="0">
                <a:solidFill>
                  <a:srgbClr val="16325C"/>
                </a:solidFill>
                <a:latin typeface="Calibri" pitchFamily="34" charset="0"/>
                <a:ea typeface="Calibri" pitchFamily="34" charset="-122"/>
                <a:cs typeface="Calibri" pitchFamily="34" charset="-120"/>
              </a:rPr>
              <a:t>THE SAME PART, PRICED ELSEWHERE</a:t>
            </a:r>
            <a:endParaRPr lang="en-US" sz="900" dirty="0"/>
          </a:p>
        </p:txBody>
      </p:sp>
      <p:sp>
        <p:nvSpPr>
          <p:cNvPr id="42" name="Text 39"/>
          <p:cNvSpPr/>
          <p:nvPr/>
        </p:nvSpPr>
        <p:spPr>
          <a:xfrm>
            <a:off x="7726680" y="5266944"/>
            <a:ext cx="914400" cy="201168"/>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China</a:t>
            </a:r>
            <a:endParaRPr lang="en-US" sz="900" dirty="0"/>
          </a:p>
        </p:txBody>
      </p:sp>
      <p:sp>
        <p:nvSpPr>
          <p:cNvPr id="43" name="Text 40"/>
          <p:cNvSpPr/>
          <p:nvPr/>
        </p:nvSpPr>
        <p:spPr>
          <a:xfrm>
            <a:off x="7726680" y="5449824"/>
            <a:ext cx="914400" cy="237744"/>
          </a:xfrm>
          <a:prstGeom prst="rect">
            <a:avLst/>
          </a:prstGeom>
          <a:noFill/>
          <a:ln/>
        </p:spPr>
        <p:txBody>
          <a:bodyPr wrap="square" lIns="0" tIns="0" rIns="0" bIns="0" rtlCol="0" anchor="ctr"/>
          <a:lstStyle/>
          <a:p>
            <a:pPr algn="ctr" indent="0" marL="0">
              <a:buNone/>
            </a:pPr>
            <a:r>
              <a:rPr lang="en-US" sz="1100" b="1" dirty="0">
                <a:solidFill>
                  <a:srgbClr val="0D7D71"/>
                </a:solidFill>
                <a:latin typeface="Calibri" pitchFamily="34" charset="0"/>
                <a:ea typeface="Calibri" pitchFamily="34" charset="-122"/>
                <a:cs typeface="Calibri" pitchFamily="34" charset="-120"/>
              </a:rPr>
              <a:t>£26.08</a:t>
            </a:r>
            <a:endParaRPr lang="en-US" sz="1100" dirty="0"/>
          </a:p>
        </p:txBody>
      </p:sp>
      <p:sp>
        <p:nvSpPr>
          <p:cNvPr id="44" name="Text 41"/>
          <p:cNvSpPr/>
          <p:nvPr/>
        </p:nvSpPr>
        <p:spPr>
          <a:xfrm>
            <a:off x="8695944" y="5266944"/>
            <a:ext cx="914400" cy="201168"/>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India</a:t>
            </a:r>
            <a:endParaRPr lang="en-US" sz="900" dirty="0"/>
          </a:p>
        </p:txBody>
      </p:sp>
      <p:sp>
        <p:nvSpPr>
          <p:cNvPr id="45" name="Text 42"/>
          <p:cNvSpPr/>
          <p:nvPr/>
        </p:nvSpPr>
        <p:spPr>
          <a:xfrm>
            <a:off x="8695944" y="5449824"/>
            <a:ext cx="914400" cy="237744"/>
          </a:xfrm>
          <a:prstGeom prst="rect">
            <a:avLst/>
          </a:prstGeom>
          <a:noFill/>
          <a:ln/>
        </p:spPr>
        <p:txBody>
          <a:bodyPr wrap="square" lIns="0" tIns="0" rIns="0" bIns="0" rtlCol="0" anchor="ctr"/>
          <a:lstStyle/>
          <a:p>
            <a:pPr algn="ctr" indent="0" marL="0">
              <a:buNone/>
            </a:pPr>
            <a:r>
              <a:rPr lang="en-US" sz="1100" b="1" dirty="0">
                <a:solidFill>
                  <a:srgbClr val="16325C"/>
                </a:solidFill>
                <a:latin typeface="Calibri" pitchFamily="34" charset="0"/>
                <a:ea typeface="Calibri" pitchFamily="34" charset="-122"/>
                <a:cs typeface="Calibri" pitchFamily="34" charset="-120"/>
              </a:rPr>
              <a:t>£26.13</a:t>
            </a:r>
            <a:endParaRPr lang="en-US" sz="1100" dirty="0"/>
          </a:p>
        </p:txBody>
      </p:sp>
      <p:sp>
        <p:nvSpPr>
          <p:cNvPr id="46" name="Text 43"/>
          <p:cNvSpPr/>
          <p:nvPr/>
        </p:nvSpPr>
        <p:spPr>
          <a:xfrm>
            <a:off x="9665208" y="5266944"/>
            <a:ext cx="914400" cy="201168"/>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Mexico</a:t>
            </a:r>
            <a:endParaRPr lang="en-US" sz="900" dirty="0"/>
          </a:p>
        </p:txBody>
      </p:sp>
      <p:sp>
        <p:nvSpPr>
          <p:cNvPr id="47" name="Text 44"/>
          <p:cNvSpPr/>
          <p:nvPr/>
        </p:nvSpPr>
        <p:spPr>
          <a:xfrm>
            <a:off x="9665208" y="5449824"/>
            <a:ext cx="914400" cy="237744"/>
          </a:xfrm>
          <a:prstGeom prst="rect">
            <a:avLst/>
          </a:prstGeom>
          <a:noFill/>
          <a:ln/>
        </p:spPr>
        <p:txBody>
          <a:bodyPr wrap="square" lIns="0" tIns="0" rIns="0" bIns="0" rtlCol="0" anchor="ctr"/>
          <a:lstStyle/>
          <a:p>
            <a:pPr algn="ctr" indent="0" marL="0">
              <a:buNone/>
            </a:pPr>
            <a:r>
              <a:rPr lang="en-US" sz="1100" b="1" dirty="0">
                <a:solidFill>
                  <a:srgbClr val="16325C"/>
                </a:solidFill>
                <a:latin typeface="Calibri" pitchFamily="34" charset="0"/>
                <a:ea typeface="Calibri" pitchFamily="34" charset="-122"/>
                <a:cs typeface="Calibri" pitchFamily="34" charset="-120"/>
              </a:rPr>
              <a:t>£27.04</a:t>
            </a:r>
            <a:endParaRPr lang="en-US" sz="1100" dirty="0"/>
          </a:p>
        </p:txBody>
      </p:sp>
      <p:sp>
        <p:nvSpPr>
          <p:cNvPr id="48" name="Text 45"/>
          <p:cNvSpPr/>
          <p:nvPr/>
        </p:nvSpPr>
        <p:spPr>
          <a:xfrm>
            <a:off x="10634472" y="5266944"/>
            <a:ext cx="914400" cy="201168"/>
          </a:xfrm>
          <a:prstGeom prst="rect">
            <a:avLst/>
          </a:prstGeom>
          <a:noFill/>
          <a:ln/>
        </p:spPr>
        <p:txBody>
          <a:bodyPr wrap="square" lIns="0" tIns="0" rIns="0" bIns="0" rtlCol="0" anchor="ctr"/>
          <a:lstStyle/>
          <a:p>
            <a:pPr algn="ctr" indent="0" marL="0">
              <a:buNone/>
            </a:pPr>
            <a:r>
              <a:rPr lang="en-US" sz="900" dirty="0">
                <a:solidFill>
                  <a:srgbClr val="686F7D"/>
                </a:solidFill>
                <a:latin typeface="Calibri" pitchFamily="34" charset="0"/>
                <a:ea typeface="Calibri" pitchFamily="34" charset="-122"/>
                <a:cs typeface="Calibri" pitchFamily="34" charset="-120"/>
              </a:rPr>
              <a:t>UK</a:t>
            </a:r>
            <a:endParaRPr lang="en-US" sz="900" dirty="0"/>
          </a:p>
        </p:txBody>
      </p:sp>
      <p:sp>
        <p:nvSpPr>
          <p:cNvPr id="49" name="Text 46"/>
          <p:cNvSpPr/>
          <p:nvPr/>
        </p:nvSpPr>
        <p:spPr>
          <a:xfrm>
            <a:off x="10634472" y="5449824"/>
            <a:ext cx="914400" cy="237744"/>
          </a:xfrm>
          <a:prstGeom prst="rect">
            <a:avLst/>
          </a:prstGeom>
          <a:noFill/>
          <a:ln/>
        </p:spPr>
        <p:txBody>
          <a:bodyPr wrap="square" lIns="0" tIns="0" rIns="0" bIns="0" rtlCol="0" anchor="ctr"/>
          <a:lstStyle/>
          <a:p>
            <a:pPr algn="ctr" indent="0" marL="0">
              <a:buNone/>
            </a:pPr>
            <a:r>
              <a:rPr lang="en-US" sz="1100" b="1" dirty="0">
                <a:solidFill>
                  <a:srgbClr val="16325C"/>
                </a:solidFill>
                <a:latin typeface="Calibri" pitchFamily="34" charset="0"/>
                <a:ea typeface="Calibri" pitchFamily="34" charset="-122"/>
                <a:cs typeface="Calibri" pitchFamily="34" charset="-120"/>
              </a:rPr>
              <a:t>£31.06</a:t>
            </a:r>
            <a:endParaRPr lang="en-US" sz="1100" dirty="0"/>
          </a:p>
        </p:txBody>
      </p:sp>
      <p:sp>
        <p:nvSpPr>
          <p:cNvPr id="50" name="Text 47"/>
          <p:cNvSpPr/>
          <p:nvPr/>
        </p:nvSpPr>
        <p:spPr>
          <a:xfrm>
            <a:off x="7726680" y="5705856"/>
            <a:ext cx="3840480" cy="219456"/>
          </a:xfrm>
          <a:prstGeom prst="rect">
            <a:avLst/>
          </a:prstGeom>
          <a:noFill/>
          <a:ln/>
        </p:spPr>
        <p:txBody>
          <a:bodyPr wrap="square" lIns="0" tIns="0" rIns="0" bIns="0" rtlCol="0" anchor="ctr"/>
          <a:lstStyle/>
          <a:p>
            <a:pPr algn="ctr" indent="0" marL="0">
              <a:buNone/>
            </a:pPr>
            <a:r>
              <a:rPr lang="en-US" sz="840" i="1" dirty="0">
                <a:solidFill>
                  <a:srgbClr val="686F7D"/>
                </a:solidFill>
                <a:latin typeface="Calibri" pitchFamily="34" charset="0"/>
                <a:ea typeface="Calibri" pitchFamily="34" charset="-122"/>
                <a:cs typeface="Calibri" pitchFamily="34" charset="-120"/>
              </a:rPr>
              <a:t>Only 19% between China and the UK — on the casting it was 55%.</a:t>
            </a:r>
            <a:endParaRPr lang="en-US" sz="840" dirty="0"/>
          </a:p>
        </p:txBody>
      </p:sp>
      <p:sp>
        <p:nvSpPr>
          <p:cNvPr id="51" name="Text 4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52" name="Text 4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And Then It Is Painted · The Second Half of a Bumper</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A separate line, a separate supplier — and the tool costs it separately</a:t>
            </a:r>
            <a:endParaRPr lang="en-US" sz="1200" dirty="0"/>
          </a:p>
        </p:txBody>
      </p:sp>
      <p:sp>
        <p:nvSpPr>
          <p:cNvPr id="5" name="Shape 3"/>
          <p:cNvSpPr/>
          <p:nvPr/>
        </p:nvSpPr>
        <p:spPr>
          <a:xfrm>
            <a:off x="9418320" y="676656"/>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18320" y="676656"/>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6949440" cy="3035808"/>
          </a:xfrm>
          <a:prstGeom prst="roundRect">
            <a:avLst>
              <a:gd name="adj" fmla="val 3012"/>
            </a:avLst>
          </a:prstGeom>
          <a:solidFill>
            <a:srgbClr val="FFFFFF"/>
          </a:solidFill>
          <a:ln w="12700">
            <a:solidFill>
              <a:srgbClr val="DCE3EE"/>
            </a:solidFill>
            <a:prstDash val="solid"/>
          </a:ln>
        </p:spPr>
      </p:sp>
      <p:sp>
        <p:nvSpPr>
          <p:cNvPr id="8" name="Text 6"/>
          <p:cNvSpPr/>
          <p:nvPr/>
        </p:nvSpPr>
        <p:spPr>
          <a:xfrm>
            <a:off x="685800" y="1280160"/>
            <a:ext cx="6492240" cy="237744"/>
          </a:xfrm>
          <a:prstGeom prst="rect">
            <a:avLst/>
          </a:prstGeom>
          <a:noFill/>
          <a:ln/>
        </p:spPr>
        <p:txBody>
          <a:bodyPr wrap="square" lIns="0" tIns="0" rIns="0" bIns="0" rtlCol="0" anchor="ctr"/>
          <a:lstStyle/>
          <a:p>
            <a:pPr indent="0" marL="0">
              <a:buNone/>
            </a:pPr>
            <a:r>
              <a:rPr lang="en-US" sz="1050" b="1" spc="40" kern="0" dirty="0">
                <a:solidFill>
                  <a:srgbClr val="16325C"/>
                </a:solidFill>
                <a:latin typeface="Calibri" pitchFamily="34" charset="0"/>
                <a:ea typeface="Calibri" pitchFamily="34" charset="-122"/>
                <a:cs typeface="Calibri" pitchFamily="34" charset="-120"/>
              </a:rPr>
              <a:t>HOW PAINT IS COSTED — from film thickness, not from a rule of thumb</a:t>
            </a:r>
            <a:endParaRPr lang="en-US" sz="1050" dirty="0"/>
          </a:p>
        </p:txBody>
      </p:sp>
      <p:sp>
        <p:nvSpPr>
          <p:cNvPr id="9" name="Text 7"/>
          <p:cNvSpPr/>
          <p:nvPr/>
        </p:nvSpPr>
        <p:spPr>
          <a:xfrm>
            <a:off x="685800" y="1554480"/>
            <a:ext cx="6492240" cy="237744"/>
          </a:xfrm>
          <a:prstGeom prst="rect">
            <a:avLst/>
          </a:prstGeom>
          <a:noFill/>
          <a:ln/>
        </p:spPr>
        <p:txBody>
          <a:bodyPr wrap="square" lIns="0" tIns="0" rIns="0" bIns="0" rtlCol="0" anchor="ctr"/>
          <a:lstStyle/>
          <a:p>
            <a:pPr indent="0" marL="0">
              <a:buNone/>
            </a:pPr>
            <a:r>
              <a:rPr lang="en-US" sz="1050" b="1" i="1" dirty="0">
                <a:solidFill>
                  <a:srgbClr val="0D7D71"/>
                </a:solidFill>
                <a:latin typeface="Calibri" pitchFamily="34" charset="0"/>
                <a:ea typeface="Calibri" pitchFamily="34" charset="-122"/>
                <a:cs typeface="Calibri" pitchFamily="34" charset="-120"/>
              </a:rPr>
              <a:t>wet litres  =  area × dry film thickness  ÷  (solids % × transfer efficiency)</a:t>
            </a:r>
            <a:endParaRPr lang="en-US" sz="1050" dirty="0"/>
          </a:p>
        </p:txBody>
      </p:sp>
      <p:sp>
        <p:nvSpPr>
          <p:cNvPr id="10" name="Text 8"/>
          <p:cNvSpPr/>
          <p:nvPr/>
        </p:nvSpPr>
        <p:spPr>
          <a:xfrm>
            <a:off x="713232" y="1865376"/>
            <a:ext cx="1005840" cy="201168"/>
          </a:xfrm>
          <a:prstGeom prst="rect">
            <a:avLst/>
          </a:prstGeom>
          <a:noFill/>
          <a:ln/>
        </p:spPr>
        <p:txBody>
          <a:bodyPr wrap="square" lIns="0" tIns="0" rIns="0" bIns="0" rtlCol="0" anchor="ctr"/>
          <a:lstStyle/>
          <a:p>
            <a:pPr algn="l" indent="0" marL="0">
              <a:buNone/>
            </a:pPr>
            <a:r>
              <a:rPr lang="en-US" sz="840" b="1" dirty="0">
                <a:solidFill>
                  <a:srgbClr val="686F7D"/>
                </a:solidFill>
                <a:latin typeface="Calibri" pitchFamily="34" charset="0"/>
                <a:ea typeface="Calibri" pitchFamily="34" charset="-122"/>
                <a:cs typeface="Calibri" pitchFamily="34" charset="-120"/>
              </a:rPr>
              <a:t>Coat</a:t>
            </a:r>
            <a:endParaRPr lang="en-US" sz="840" dirty="0"/>
          </a:p>
        </p:txBody>
      </p:sp>
      <p:sp>
        <p:nvSpPr>
          <p:cNvPr id="11" name="Text 9"/>
          <p:cNvSpPr/>
          <p:nvPr/>
        </p:nvSpPr>
        <p:spPr>
          <a:xfrm>
            <a:off x="1783080" y="1865376"/>
            <a:ext cx="685800" cy="201168"/>
          </a:xfrm>
          <a:prstGeom prst="rect">
            <a:avLst/>
          </a:prstGeom>
          <a:noFill/>
          <a:ln/>
        </p:spPr>
        <p:txBody>
          <a:bodyPr wrap="square" lIns="0" tIns="0" rIns="0" bIns="0" rtlCol="0" anchor="ctr"/>
          <a:lstStyle/>
          <a:p>
            <a:pPr algn="l" indent="0" marL="0">
              <a:buNone/>
            </a:pPr>
            <a:r>
              <a:rPr lang="en-US" sz="840" b="1" dirty="0">
                <a:solidFill>
                  <a:srgbClr val="686F7D"/>
                </a:solidFill>
                <a:latin typeface="Calibri" pitchFamily="34" charset="0"/>
                <a:ea typeface="Calibri" pitchFamily="34" charset="-122"/>
                <a:cs typeface="Calibri" pitchFamily="34" charset="-120"/>
              </a:rPr>
              <a:t>Film</a:t>
            </a:r>
            <a:endParaRPr lang="en-US" sz="840" dirty="0"/>
          </a:p>
        </p:txBody>
      </p:sp>
      <p:sp>
        <p:nvSpPr>
          <p:cNvPr id="12" name="Text 10"/>
          <p:cNvSpPr/>
          <p:nvPr/>
        </p:nvSpPr>
        <p:spPr>
          <a:xfrm>
            <a:off x="2514600" y="1865376"/>
            <a:ext cx="1783080" cy="201168"/>
          </a:xfrm>
          <a:prstGeom prst="rect">
            <a:avLst/>
          </a:prstGeom>
          <a:noFill/>
          <a:ln/>
        </p:spPr>
        <p:txBody>
          <a:bodyPr wrap="square" lIns="0" tIns="0" rIns="0" bIns="0" rtlCol="0" anchor="ctr"/>
          <a:lstStyle/>
          <a:p>
            <a:pPr algn="l" indent="0" marL="0">
              <a:buNone/>
            </a:pPr>
            <a:r>
              <a:rPr lang="en-US" sz="840" b="1" dirty="0">
                <a:solidFill>
                  <a:srgbClr val="686F7D"/>
                </a:solidFill>
                <a:latin typeface="Calibri" pitchFamily="34" charset="0"/>
                <a:ea typeface="Calibri" pitchFamily="34" charset="-122"/>
                <a:cs typeface="Calibri" pitchFamily="34" charset="-120"/>
              </a:rPr>
              <a:t>Solids × transfer</a:t>
            </a:r>
            <a:endParaRPr lang="en-US" sz="840" dirty="0"/>
          </a:p>
        </p:txBody>
      </p:sp>
      <p:sp>
        <p:nvSpPr>
          <p:cNvPr id="13" name="Text 11"/>
          <p:cNvSpPr/>
          <p:nvPr/>
        </p:nvSpPr>
        <p:spPr>
          <a:xfrm>
            <a:off x="4343400" y="1865376"/>
            <a:ext cx="822960" cy="201168"/>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Wet L</a:t>
            </a:r>
            <a:endParaRPr lang="en-US" sz="840" dirty="0"/>
          </a:p>
        </p:txBody>
      </p:sp>
      <p:sp>
        <p:nvSpPr>
          <p:cNvPr id="14" name="Text 12"/>
          <p:cNvSpPr/>
          <p:nvPr/>
        </p:nvSpPr>
        <p:spPr>
          <a:xfrm>
            <a:off x="5257800" y="1865376"/>
            <a:ext cx="822960" cy="201168"/>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£/L</a:t>
            </a:r>
            <a:endParaRPr lang="en-US" sz="840" dirty="0"/>
          </a:p>
        </p:txBody>
      </p:sp>
      <p:sp>
        <p:nvSpPr>
          <p:cNvPr id="15" name="Text 13"/>
          <p:cNvSpPr/>
          <p:nvPr/>
        </p:nvSpPr>
        <p:spPr>
          <a:xfrm>
            <a:off x="6126480" y="1865376"/>
            <a:ext cx="960120" cy="201168"/>
          </a:xfrm>
          <a:prstGeom prst="rect">
            <a:avLst/>
          </a:prstGeom>
          <a:noFill/>
          <a:ln/>
        </p:spPr>
        <p:txBody>
          <a:bodyPr wrap="square" lIns="0" tIns="0" rIns="0" bIns="0" rtlCol="0" anchor="ctr"/>
          <a:lstStyle/>
          <a:p>
            <a:pPr algn="r" indent="0" marL="0">
              <a:buNone/>
            </a:pPr>
            <a:r>
              <a:rPr lang="en-US" sz="840" b="1" dirty="0">
                <a:solidFill>
                  <a:srgbClr val="686F7D"/>
                </a:solidFill>
                <a:latin typeface="Calibri" pitchFamily="34" charset="0"/>
                <a:ea typeface="Calibri" pitchFamily="34" charset="-122"/>
                <a:cs typeface="Calibri" pitchFamily="34" charset="-120"/>
              </a:rPr>
              <a:t>Cost</a:t>
            </a:r>
            <a:endParaRPr lang="en-US" sz="840" dirty="0"/>
          </a:p>
        </p:txBody>
      </p:sp>
      <p:sp>
        <p:nvSpPr>
          <p:cNvPr id="16" name="Shape 14"/>
          <p:cNvSpPr/>
          <p:nvPr/>
        </p:nvSpPr>
        <p:spPr>
          <a:xfrm>
            <a:off x="621792" y="2066544"/>
            <a:ext cx="6620256" cy="274320"/>
          </a:xfrm>
          <a:prstGeom prst="rect">
            <a:avLst/>
          </a:prstGeom>
          <a:solidFill>
            <a:srgbClr val="F4F7FB"/>
          </a:solidFill>
          <a:ln/>
        </p:spPr>
      </p:sp>
      <p:sp>
        <p:nvSpPr>
          <p:cNvPr id="17" name="Text 15"/>
          <p:cNvSpPr/>
          <p:nvPr/>
        </p:nvSpPr>
        <p:spPr>
          <a:xfrm>
            <a:off x="713232" y="2084832"/>
            <a:ext cx="100584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Primer</a:t>
            </a:r>
            <a:endParaRPr lang="en-US" sz="920" dirty="0"/>
          </a:p>
        </p:txBody>
      </p:sp>
      <p:sp>
        <p:nvSpPr>
          <p:cNvPr id="18" name="Text 16"/>
          <p:cNvSpPr/>
          <p:nvPr/>
        </p:nvSpPr>
        <p:spPr>
          <a:xfrm>
            <a:off x="1783080" y="2084832"/>
            <a:ext cx="68580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25 µm</a:t>
            </a:r>
            <a:endParaRPr lang="en-US" sz="920" dirty="0"/>
          </a:p>
        </p:txBody>
      </p:sp>
      <p:sp>
        <p:nvSpPr>
          <p:cNvPr id="19" name="Text 17"/>
          <p:cNvSpPr/>
          <p:nvPr/>
        </p:nvSpPr>
        <p:spPr>
          <a:xfrm>
            <a:off x="2514600" y="2084832"/>
            <a:ext cx="17830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0.45 × 0.65 = 0.293</a:t>
            </a:r>
            <a:endParaRPr lang="en-US" sz="920" dirty="0"/>
          </a:p>
        </p:txBody>
      </p:sp>
      <p:sp>
        <p:nvSpPr>
          <p:cNvPr id="20" name="Text 18"/>
          <p:cNvSpPr/>
          <p:nvPr/>
        </p:nvSpPr>
        <p:spPr>
          <a:xfrm>
            <a:off x="4343400" y="2084832"/>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0.137</a:t>
            </a:r>
            <a:endParaRPr lang="en-US" sz="920" dirty="0"/>
          </a:p>
        </p:txBody>
      </p:sp>
      <p:sp>
        <p:nvSpPr>
          <p:cNvPr id="21" name="Text 19"/>
          <p:cNvSpPr/>
          <p:nvPr/>
        </p:nvSpPr>
        <p:spPr>
          <a:xfrm>
            <a:off x="5257800" y="2084832"/>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£9.50</a:t>
            </a:r>
            <a:endParaRPr lang="en-US" sz="920" dirty="0"/>
          </a:p>
        </p:txBody>
      </p:sp>
      <p:sp>
        <p:nvSpPr>
          <p:cNvPr id="22" name="Text 20"/>
          <p:cNvSpPr/>
          <p:nvPr/>
        </p:nvSpPr>
        <p:spPr>
          <a:xfrm>
            <a:off x="6126480" y="2084832"/>
            <a:ext cx="960120"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£1.30</a:t>
            </a:r>
            <a:endParaRPr lang="en-US" sz="920" dirty="0"/>
          </a:p>
        </p:txBody>
      </p:sp>
      <p:sp>
        <p:nvSpPr>
          <p:cNvPr id="23" name="Text 21"/>
          <p:cNvSpPr/>
          <p:nvPr/>
        </p:nvSpPr>
        <p:spPr>
          <a:xfrm>
            <a:off x="713232" y="2377440"/>
            <a:ext cx="100584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Basecoat</a:t>
            </a:r>
            <a:endParaRPr lang="en-US" sz="920" dirty="0"/>
          </a:p>
        </p:txBody>
      </p:sp>
      <p:sp>
        <p:nvSpPr>
          <p:cNvPr id="24" name="Text 22"/>
          <p:cNvSpPr/>
          <p:nvPr/>
        </p:nvSpPr>
        <p:spPr>
          <a:xfrm>
            <a:off x="1783080" y="2377440"/>
            <a:ext cx="68580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20 µm</a:t>
            </a:r>
            <a:endParaRPr lang="en-US" sz="920" dirty="0"/>
          </a:p>
        </p:txBody>
      </p:sp>
      <p:sp>
        <p:nvSpPr>
          <p:cNvPr id="25" name="Text 23"/>
          <p:cNvSpPr/>
          <p:nvPr/>
        </p:nvSpPr>
        <p:spPr>
          <a:xfrm>
            <a:off x="2514600" y="2377440"/>
            <a:ext cx="17830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0.25 × 0.60 = 0.150</a:t>
            </a:r>
            <a:endParaRPr lang="en-US" sz="920" dirty="0"/>
          </a:p>
        </p:txBody>
      </p:sp>
      <p:sp>
        <p:nvSpPr>
          <p:cNvPr id="26" name="Text 24"/>
          <p:cNvSpPr/>
          <p:nvPr/>
        </p:nvSpPr>
        <p:spPr>
          <a:xfrm>
            <a:off x="4343400" y="2377440"/>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0.213</a:t>
            </a:r>
            <a:endParaRPr lang="en-US" sz="920" dirty="0"/>
          </a:p>
        </p:txBody>
      </p:sp>
      <p:sp>
        <p:nvSpPr>
          <p:cNvPr id="27" name="Text 25"/>
          <p:cNvSpPr/>
          <p:nvPr/>
        </p:nvSpPr>
        <p:spPr>
          <a:xfrm>
            <a:off x="5257800" y="2377440"/>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£26.00</a:t>
            </a:r>
            <a:endParaRPr lang="en-US" sz="920" dirty="0"/>
          </a:p>
        </p:txBody>
      </p:sp>
      <p:sp>
        <p:nvSpPr>
          <p:cNvPr id="28" name="Text 26"/>
          <p:cNvSpPr/>
          <p:nvPr/>
        </p:nvSpPr>
        <p:spPr>
          <a:xfrm>
            <a:off x="6126480" y="2377440"/>
            <a:ext cx="960120"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£5.55</a:t>
            </a:r>
            <a:endParaRPr lang="en-US" sz="920" dirty="0"/>
          </a:p>
        </p:txBody>
      </p:sp>
      <p:sp>
        <p:nvSpPr>
          <p:cNvPr id="29" name="Shape 27"/>
          <p:cNvSpPr/>
          <p:nvPr/>
        </p:nvSpPr>
        <p:spPr>
          <a:xfrm>
            <a:off x="621792" y="2651760"/>
            <a:ext cx="6620256" cy="274320"/>
          </a:xfrm>
          <a:prstGeom prst="rect">
            <a:avLst/>
          </a:prstGeom>
          <a:solidFill>
            <a:srgbClr val="F4F7FB"/>
          </a:solidFill>
          <a:ln/>
        </p:spPr>
      </p:sp>
      <p:sp>
        <p:nvSpPr>
          <p:cNvPr id="30" name="Text 28"/>
          <p:cNvSpPr/>
          <p:nvPr/>
        </p:nvSpPr>
        <p:spPr>
          <a:xfrm>
            <a:off x="713232" y="2670048"/>
            <a:ext cx="100584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Clearcoat</a:t>
            </a:r>
            <a:endParaRPr lang="en-US" sz="920" dirty="0"/>
          </a:p>
        </p:txBody>
      </p:sp>
      <p:sp>
        <p:nvSpPr>
          <p:cNvPr id="31" name="Text 29"/>
          <p:cNvSpPr/>
          <p:nvPr/>
        </p:nvSpPr>
        <p:spPr>
          <a:xfrm>
            <a:off x="1783080" y="2670048"/>
            <a:ext cx="68580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40 µm</a:t>
            </a:r>
            <a:endParaRPr lang="en-US" sz="920" dirty="0"/>
          </a:p>
        </p:txBody>
      </p:sp>
      <p:sp>
        <p:nvSpPr>
          <p:cNvPr id="32" name="Text 30"/>
          <p:cNvSpPr/>
          <p:nvPr/>
        </p:nvSpPr>
        <p:spPr>
          <a:xfrm>
            <a:off x="2514600" y="2670048"/>
            <a:ext cx="1783080" cy="256032"/>
          </a:xfrm>
          <a:prstGeom prst="rect">
            <a:avLst/>
          </a:prstGeom>
          <a:noFill/>
          <a:ln/>
        </p:spPr>
        <p:txBody>
          <a:bodyPr wrap="square" lIns="0" tIns="0" rIns="0" bIns="0" rtlCol="0" anchor="ctr"/>
          <a:lstStyle/>
          <a:p>
            <a:pPr algn="l" indent="0" marL="0">
              <a:buNone/>
            </a:pPr>
            <a:r>
              <a:rPr lang="en-US" sz="920" dirty="0">
                <a:solidFill>
                  <a:srgbClr val="3A4356"/>
                </a:solidFill>
                <a:latin typeface="Calibri" pitchFamily="34" charset="0"/>
                <a:ea typeface="Calibri" pitchFamily="34" charset="-122"/>
                <a:cs typeface="Calibri" pitchFamily="34" charset="-120"/>
              </a:rPr>
              <a:t>0.50 × 0.65 = 0.325</a:t>
            </a:r>
            <a:endParaRPr lang="en-US" sz="920" dirty="0"/>
          </a:p>
        </p:txBody>
      </p:sp>
      <p:sp>
        <p:nvSpPr>
          <p:cNvPr id="33" name="Text 31"/>
          <p:cNvSpPr/>
          <p:nvPr/>
        </p:nvSpPr>
        <p:spPr>
          <a:xfrm>
            <a:off x="4343400" y="2670048"/>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0.197</a:t>
            </a:r>
            <a:endParaRPr lang="en-US" sz="920" dirty="0"/>
          </a:p>
        </p:txBody>
      </p:sp>
      <p:sp>
        <p:nvSpPr>
          <p:cNvPr id="34" name="Text 32"/>
          <p:cNvSpPr/>
          <p:nvPr/>
        </p:nvSpPr>
        <p:spPr>
          <a:xfrm>
            <a:off x="5257800" y="2670048"/>
            <a:ext cx="822960" cy="256032"/>
          </a:xfrm>
          <a:prstGeom prst="rect">
            <a:avLst/>
          </a:prstGeom>
          <a:noFill/>
          <a:ln/>
        </p:spPr>
        <p:txBody>
          <a:bodyPr wrap="square" lIns="0" tIns="0" rIns="0" bIns="0" rtlCol="0" anchor="ctr"/>
          <a:lstStyle/>
          <a:p>
            <a:pPr algn="r" indent="0" marL="0">
              <a:buNone/>
            </a:pPr>
            <a:r>
              <a:rPr lang="en-US" sz="920" dirty="0">
                <a:solidFill>
                  <a:srgbClr val="3A4356"/>
                </a:solidFill>
                <a:latin typeface="Calibri" pitchFamily="34" charset="0"/>
                <a:ea typeface="Calibri" pitchFamily="34" charset="-122"/>
                <a:cs typeface="Calibri" pitchFamily="34" charset="-120"/>
              </a:rPr>
              <a:t>£18.00</a:t>
            </a:r>
            <a:endParaRPr lang="en-US" sz="920" dirty="0"/>
          </a:p>
        </p:txBody>
      </p:sp>
      <p:sp>
        <p:nvSpPr>
          <p:cNvPr id="35" name="Text 33"/>
          <p:cNvSpPr/>
          <p:nvPr/>
        </p:nvSpPr>
        <p:spPr>
          <a:xfrm>
            <a:off x="6126480" y="2670048"/>
            <a:ext cx="960120" cy="256032"/>
          </a:xfrm>
          <a:prstGeom prst="rect">
            <a:avLst/>
          </a:prstGeom>
          <a:noFill/>
          <a:ln/>
        </p:spPr>
        <p:txBody>
          <a:bodyPr wrap="square" lIns="0" tIns="0" rIns="0" bIns="0" rtlCol="0" anchor="ctr"/>
          <a:lstStyle/>
          <a:p>
            <a:pPr algn="r" indent="0" marL="0">
              <a:buNone/>
            </a:pPr>
            <a:r>
              <a:rPr lang="en-US" sz="920" b="1" dirty="0">
                <a:solidFill>
                  <a:srgbClr val="16325C"/>
                </a:solidFill>
                <a:latin typeface="Calibri" pitchFamily="34" charset="0"/>
                <a:ea typeface="Calibri" pitchFamily="34" charset="-122"/>
                <a:cs typeface="Calibri" pitchFamily="34" charset="-120"/>
              </a:rPr>
              <a:t>£3.54</a:t>
            </a:r>
            <a:endParaRPr lang="en-US" sz="920" dirty="0"/>
          </a:p>
        </p:txBody>
      </p:sp>
      <p:sp>
        <p:nvSpPr>
          <p:cNvPr id="36" name="Shape 34"/>
          <p:cNvSpPr/>
          <p:nvPr/>
        </p:nvSpPr>
        <p:spPr>
          <a:xfrm>
            <a:off x="713232" y="2999232"/>
            <a:ext cx="6446520" cy="0"/>
          </a:xfrm>
          <a:prstGeom prst="line">
            <a:avLst/>
          </a:prstGeom>
          <a:noFill/>
          <a:ln w="12700">
            <a:solidFill>
              <a:srgbClr val="DCE3EE"/>
            </a:solidFill>
            <a:prstDash val="solid"/>
          </a:ln>
        </p:spPr>
      </p:sp>
      <p:sp>
        <p:nvSpPr>
          <p:cNvPr id="37" name="Text 35"/>
          <p:cNvSpPr/>
          <p:nvPr/>
        </p:nvSpPr>
        <p:spPr>
          <a:xfrm>
            <a:off x="713232" y="3072384"/>
            <a:ext cx="5120640" cy="237744"/>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Paint on 1.6 m² of bumper, + 6% rework</a:t>
            </a:r>
            <a:endParaRPr lang="en-US" sz="940" dirty="0"/>
          </a:p>
        </p:txBody>
      </p:sp>
      <p:sp>
        <p:nvSpPr>
          <p:cNvPr id="38" name="Text 36"/>
          <p:cNvSpPr/>
          <p:nvPr/>
        </p:nvSpPr>
        <p:spPr>
          <a:xfrm>
            <a:off x="5943600" y="3072384"/>
            <a:ext cx="1188720" cy="237744"/>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£11.01</a:t>
            </a:r>
            <a:endParaRPr lang="en-US" sz="980" dirty="0"/>
          </a:p>
        </p:txBody>
      </p:sp>
      <p:sp>
        <p:nvSpPr>
          <p:cNvPr id="39" name="Text 37"/>
          <p:cNvSpPr/>
          <p:nvPr/>
        </p:nvSpPr>
        <p:spPr>
          <a:xfrm>
            <a:off x="713232" y="3328416"/>
            <a:ext cx="5120640" cy="237744"/>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Paint line (UK rate), 55 parts/hr ÷ 0.85 OEE × £102.13/hr</a:t>
            </a:r>
            <a:endParaRPr lang="en-US" sz="940" dirty="0"/>
          </a:p>
        </p:txBody>
      </p:sp>
      <p:sp>
        <p:nvSpPr>
          <p:cNvPr id="40" name="Text 38"/>
          <p:cNvSpPr/>
          <p:nvPr/>
        </p:nvSpPr>
        <p:spPr>
          <a:xfrm>
            <a:off x="5943600" y="3328416"/>
            <a:ext cx="1188720" cy="237744"/>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£2.32</a:t>
            </a:r>
            <a:endParaRPr lang="en-US" sz="980" dirty="0"/>
          </a:p>
        </p:txBody>
      </p:sp>
      <p:sp>
        <p:nvSpPr>
          <p:cNvPr id="41" name="Text 39"/>
          <p:cNvSpPr/>
          <p:nvPr/>
        </p:nvSpPr>
        <p:spPr>
          <a:xfrm>
            <a:off x="713232" y="3584448"/>
            <a:ext cx="5120640" cy="237744"/>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Two operators on the line</a:t>
            </a:r>
            <a:endParaRPr lang="en-US" sz="940" dirty="0"/>
          </a:p>
        </p:txBody>
      </p:sp>
      <p:sp>
        <p:nvSpPr>
          <p:cNvPr id="42" name="Text 40"/>
          <p:cNvSpPr/>
          <p:nvPr/>
        </p:nvSpPr>
        <p:spPr>
          <a:xfrm>
            <a:off x="5943600" y="3584448"/>
            <a:ext cx="1188720" cy="237744"/>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£0.85</a:t>
            </a:r>
            <a:endParaRPr lang="en-US" sz="980" dirty="0"/>
          </a:p>
        </p:txBody>
      </p:sp>
      <p:sp>
        <p:nvSpPr>
          <p:cNvPr id="43" name="Text 41"/>
          <p:cNvSpPr/>
          <p:nvPr/>
        </p:nvSpPr>
        <p:spPr>
          <a:xfrm>
            <a:off x="713232" y="3840480"/>
            <a:ext cx="5120640" cy="237744"/>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Masking fixtures, £45k ÷ 60,000</a:t>
            </a:r>
            <a:endParaRPr lang="en-US" sz="940" dirty="0"/>
          </a:p>
        </p:txBody>
      </p:sp>
      <p:sp>
        <p:nvSpPr>
          <p:cNvPr id="44" name="Text 42"/>
          <p:cNvSpPr/>
          <p:nvPr/>
        </p:nvSpPr>
        <p:spPr>
          <a:xfrm>
            <a:off x="5943600" y="3840480"/>
            <a:ext cx="1188720" cy="237744"/>
          </a:xfrm>
          <a:prstGeom prst="rect">
            <a:avLst/>
          </a:prstGeom>
          <a:noFill/>
          <a:ln/>
        </p:spPr>
        <p:txBody>
          <a:bodyPr wrap="square" lIns="0" tIns="0" rIns="0" bIns="0" rtlCol="0" anchor="ctr"/>
          <a:lstStyle/>
          <a:p>
            <a:pPr algn="r" indent="0" marL="0">
              <a:buNone/>
            </a:pPr>
            <a:r>
              <a:rPr lang="en-US" sz="980" b="1" dirty="0">
                <a:solidFill>
                  <a:srgbClr val="16325C"/>
                </a:solidFill>
                <a:latin typeface="Calibri" pitchFamily="34" charset="0"/>
                <a:ea typeface="Calibri" pitchFamily="34" charset="-122"/>
                <a:cs typeface="Calibri" pitchFamily="34" charset="-120"/>
              </a:rPr>
              <a:t>£0.75</a:t>
            </a:r>
            <a:endParaRPr lang="en-US" sz="980" dirty="0"/>
          </a:p>
        </p:txBody>
      </p:sp>
      <p:sp>
        <p:nvSpPr>
          <p:cNvPr id="45" name="Shape 43"/>
          <p:cNvSpPr/>
          <p:nvPr/>
        </p:nvSpPr>
        <p:spPr>
          <a:xfrm>
            <a:off x="7635240" y="1188720"/>
            <a:ext cx="4096512" cy="3035808"/>
          </a:xfrm>
          <a:prstGeom prst="roundRect">
            <a:avLst>
              <a:gd name="adj" fmla="val 3012"/>
            </a:avLst>
          </a:prstGeom>
          <a:solidFill>
            <a:srgbClr val="0E5A5A"/>
          </a:solidFill>
          <a:ln/>
        </p:spPr>
      </p:sp>
      <p:sp>
        <p:nvSpPr>
          <p:cNvPr id="46" name="Text 44"/>
          <p:cNvSpPr/>
          <p:nvPr/>
        </p:nvSpPr>
        <p:spPr>
          <a:xfrm>
            <a:off x="7863840" y="1298448"/>
            <a:ext cx="3657600" cy="219456"/>
          </a:xfrm>
          <a:prstGeom prst="rect">
            <a:avLst/>
          </a:prstGeom>
          <a:noFill/>
          <a:ln/>
        </p:spPr>
        <p:txBody>
          <a:bodyPr wrap="square" lIns="0" tIns="0" rIns="0" bIns="0" rtlCol="0" anchor="ctr"/>
          <a:lstStyle/>
          <a:p>
            <a:pPr indent="0" marL="0">
              <a:buNone/>
            </a:pPr>
            <a:r>
              <a:rPr lang="en-US" sz="950" b="1" spc="70" kern="0" dirty="0">
                <a:solidFill>
                  <a:srgbClr val="9FD9CF"/>
                </a:solidFill>
                <a:latin typeface="Calibri" pitchFamily="34" charset="0"/>
                <a:ea typeface="Calibri" pitchFamily="34" charset="-122"/>
                <a:cs typeface="Calibri" pitchFamily="34" charset="-120"/>
              </a:rPr>
              <a:t>THE DELIVERED BUMPER</a:t>
            </a:r>
            <a:endParaRPr lang="en-US" sz="950" dirty="0"/>
          </a:p>
        </p:txBody>
      </p:sp>
      <p:sp>
        <p:nvSpPr>
          <p:cNvPr id="47" name="Text 45"/>
          <p:cNvSpPr/>
          <p:nvPr/>
        </p:nvSpPr>
        <p:spPr>
          <a:xfrm>
            <a:off x="7863840" y="1737360"/>
            <a:ext cx="2377440" cy="292608"/>
          </a:xfrm>
          <a:prstGeom prst="rect">
            <a:avLst/>
          </a:prstGeom>
          <a:noFill/>
          <a:ln/>
        </p:spPr>
        <p:txBody>
          <a:bodyPr wrap="square" lIns="0" tIns="0" rIns="0" bIns="0" rtlCol="0" anchor="ctr"/>
          <a:lstStyle/>
          <a:p>
            <a:pPr indent="0" marL="0">
              <a:buNone/>
            </a:pPr>
            <a:r>
              <a:rPr lang="en-US" sz="1000" dirty="0">
                <a:solidFill>
                  <a:srgbClr val="CDEDE7"/>
                </a:solidFill>
                <a:latin typeface="Calibri" pitchFamily="34" charset="0"/>
                <a:ea typeface="Calibri" pitchFamily="34" charset="-122"/>
                <a:cs typeface="Calibri" pitchFamily="34" charset="-120"/>
              </a:rPr>
              <a:t>Moulded, ex-works (China)</a:t>
            </a:r>
            <a:endParaRPr lang="en-US" sz="1000" dirty="0"/>
          </a:p>
        </p:txBody>
      </p:sp>
      <p:sp>
        <p:nvSpPr>
          <p:cNvPr id="48" name="Text 46"/>
          <p:cNvSpPr/>
          <p:nvPr/>
        </p:nvSpPr>
        <p:spPr>
          <a:xfrm>
            <a:off x="10241280" y="1737360"/>
            <a:ext cx="1280160" cy="292608"/>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£26.08</a:t>
            </a:r>
            <a:endParaRPr lang="en-US" sz="1100" dirty="0"/>
          </a:p>
        </p:txBody>
      </p:sp>
      <p:sp>
        <p:nvSpPr>
          <p:cNvPr id="49" name="Text 47"/>
          <p:cNvSpPr/>
          <p:nvPr/>
        </p:nvSpPr>
        <p:spPr>
          <a:xfrm>
            <a:off x="7863840" y="2066544"/>
            <a:ext cx="2377440" cy="292608"/>
          </a:xfrm>
          <a:prstGeom prst="rect">
            <a:avLst/>
          </a:prstGeom>
          <a:noFill/>
          <a:ln/>
        </p:spPr>
        <p:txBody>
          <a:bodyPr wrap="square" lIns="0" tIns="0" rIns="0" bIns="0" rtlCol="0" anchor="ctr"/>
          <a:lstStyle/>
          <a:p>
            <a:pPr indent="0" marL="0">
              <a:buNone/>
            </a:pPr>
            <a:r>
              <a:rPr lang="en-US" sz="1000" dirty="0">
                <a:solidFill>
                  <a:srgbClr val="CDEDE7"/>
                </a:solidFill>
                <a:latin typeface="Calibri" pitchFamily="34" charset="0"/>
                <a:ea typeface="Calibri" pitchFamily="34" charset="-122"/>
                <a:cs typeface="Calibri" pitchFamily="34" charset="-120"/>
              </a:rPr>
              <a:t>+ Paint line (China rates)</a:t>
            </a:r>
            <a:endParaRPr lang="en-US" sz="1000" dirty="0"/>
          </a:p>
        </p:txBody>
      </p:sp>
      <p:sp>
        <p:nvSpPr>
          <p:cNvPr id="50" name="Text 48"/>
          <p:cNvSpPr/>
          <p:nvPr/>
        </p:nvSpPr>
        <p:spPr>
          <a:xfrm>
            <a:off x="10241280" y="2066544"/>
            <a:ext cx="1280160" cy="292608"/>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£13.14</a:t>
            </a:r>
            <a:endParaRPr lang="en-US" sz="1100" dirty="0"/>
          </a:p>
        </p:txBody>
      </p:sp>
      <p:sp>
        <p:nvSpPr>
          <p:cNvPr id="51" name="Shape 49"/>
          <p:cNvSpPr/>
          <p:nvPr/>
        </p:nvSpPr>
        <p:spPr>
          <a:xfrm>
            <a:off x="7863840" y="2468880"/>
            <a:ext cx="3657600" cy="0"/>
          </a:xfrm>
          <a:prstGeom prst="line">
            <a:avLst/>
          </a:prstGeom>
          <a:noFill/>
          <a:ln w="12700">
            <a:solidFill>
              <a:srgbClr val="9FD9CF"/>
            </a:solidFill>
            <a:prstDash val="solid"/>
          </a:ln>
        </p:spPr>
      </p:sp>
      <p:sp>
        <p:nvSpPr>
          <p:cNvPr id="52" name="Text 50"/>
          <p:cNvSpPr/>
          <p:nvPr/>
        </p:nvSpPr>
        <p:spPr>
          <a:xfrm>
            <a:off x="7863840" y="2578608"/>
            <a:ext cx="36576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£39.22</a:t>
            </a:r>
            <a:endParaRPr lang="en-US" sz="3400" dirty="0"/>
          </a:p>
        </p:txBody>
      </p:sp>
      <p:sp>
        <p:nvSpPr>
          <p:cNvPr id="53" name="Text 51"/>
          <p:cNvSpPr/>
          <p:nvPr/>
        </p:nvSpPr>
        <p:spPr>
          <a:xfrm>
            <a:off x="7863840" y="3255264"/>
            <a:ext cx="3657600" cy="237744"/>
          </a:xfrm>
          <a:prstGeom prst="rect">
            <a:avLst/>
          </a:prstGeom>
          <a:noFill/>
          <a:ln/>
        </p:spPr>
        <p:txBody>
          <a:bodyPr wrap="square" lIns="0" tIns="0" rIns="0" bIns="0" rtlCol="0" anchor="ctr"/>
          <a:lstStyle/>
          <a:p>
            <a:pPr algn="ctr" indent="0" marL="0">
              <a:buNone/>
            </a:pPr>
            <a:r>
              <a:rPr lang="en-US" sz="1000" dirty="0">
                <a:solidFill>
                  <a:srgbClr val="CDEDE7"/>
                </a:solidFill>
                <a:latin typeface="Calibri" pitchFamily="34" charset="0"/>
                <a:ea typeface="Calibri" pitchFamily="34" charset="-122"/>
                <a:cs typeface="Calibri" pitchFamily="34" charset="-120"/>
              </a:rPr>
              <a:t>painted, ex-works, per part</a:t>
            </a:r>
            <a:endParaRPr lang="en-US" sz="1000" dirty="0"/>
          </a:p>
        </p:txBody>
      </p:sp>
      <p:sp>
        <p:nvSpPr>
          <p:cNvPr id="54" name="Text 52"/>
          <p:cNvSpPr/>
          <p:nvPr/>
        </p:nvSpPr>
        <p:spPr>
          <a:xfrm>
            <a:off x="7863840" y="3566160"/>
            <a:ext cx="3657600" cy="512064"/>
          </a:xfrm>
          <a:prstGeom prst="rect">
            <a:avLst/>
          </a:prstGeom>
          <a:noFill/>
          <a:ln/>
        </p:spPr>
        <p:txBody>
          <a:bodyPr wrap="square" lIns="0" tIns="0" rIns="0" bIns="0" rtlCol="0" anchor="t"/>
          <a:lstStyle/>
          <a:p>
            <a:pPr algn="ctr" indent="0" marL="0">
              <a:buNone/>
            </a:pPr>
            <a:r>
              <a:rPr lang="en-US" sz="920" i="1" dirty="0">
                <a:solidFill>
                  <a:srgbClr val="9FD9CF"/>
                </a:solidFill>
                <a:latin typeface="Calibri" pitchFamily="34" charset="0"/>
                <a:ea typeface="Calibri" pitchFamily="34" charset="-122"/>
                <a:cs typeface="Calibri" pitchFamily="34" charset="-120"/>
              </a:rPr>
              <a:t>Paint is a third of the delivered cost — and about 40% of that is the basecoat.</a:t>
            </a:r>
            <a:endParaRPr lang="en-US" sz="920" dirty="0"/>
          </a:p>
        </p:txBody>
      </p:sp>
      <p:sp>
        <p:nvSpPr>
          <p:cNvPr id="55" name="Shape 53"/>
          <p:cNvSpPr/>
          <p:nvPr/>
        </p:nvSpPr>
        <p:spPr>
          <a:xfrm>
            <a:off x="457200" y="4334256"/>
            <a:ext cx="11274552" cy="1152144"/>
          </a:xfrm>
          <a:prstGeom prst="roundRect">
            <a:avLst>
              <a:gd name="adj" fmla="val 7937"/>
            </a:avLst>
          </a:prstGeom>
          <a:solidFill>
            <a:srgbClr val="FFFFFF"/>
          </a:solidFill>
          <a:ln w="19050">
            <a:solidFill>
              <a:srgbClr val="2A7F50"/>
            </a:solidFill>
            <a:prstDash val="solid"/>
          </a:ln>
        </p:spPr>
      </p:sp>
      <p:sp>
        <p:nvSpPr>
          <p:cNvPr id="56" name="Text 54"/>
          <p:cNvSpPr/>
          <p:nvPr/>
        </p:nvSpPr>
        <p:spPr>
          <a:xfrm>
            <a:off x="731520" y="4434840"/>
            <a:ext cx="10515600" cy="256032"/>
          </a:xfrm>
          <a:prstGeom prst="rect">
            <a:avLst/>
          </a:prstGeom>
          <a:noFill/>
          <a:ln/>
        </p:spPr>
        <p:txBody>
          <a:bodyPr wrap="square" lIns="0" tIns="0" rIns="0" bIns="0" rtlCol="0" anchor="ctr"/>
          <a:lstStyle/>
          <a:p>
            <a:pPr indent="0" marL="0">
              <a:buNone/>
            </a:pPr>
            <a:r>
              <a:rPr lang="en-US" sz="1250" b="1" dirty="0">
                <a:solidFill>
                  <a:srgbClr val="2A7F50"/>
                </a:solidFill>
                <a:latin typeface="Calibri" pitchFamily="34" charset="0"/>
                <a:ea typeface="Calibri" pitchFamily="34" charset="-122"/>
                <a:cs typeface="Calibri" pitchFamily="34" charset="-120"/>
              </a:rPr>
              <a:t>Why this is worth costing separately rather than as a percentage uplift</a:t>
            </a:r>
            <a:endParaRPr lang="en-US" sz="1250" dirty="0"/>
          </a:p>
        </p:txBody>
      </p:sp>
      <p:sp>
        <p:nvSpPr>
          <p:cNvPr id="57" name="Text 55"/>
          <p:cNvSpPr/>
          <p:nvPr/>
        </p:nvSpPr>
        <p:spPr>
          <a:xfrm>
            <a:off x="731520" y="4718304"/>
            <a:ext cx="10744200" cy="694944"/>
          </a:xfrm>
          <a:prstGeom prst="rect">
            <a:avLst/>
          </a:prstGeom>
          <a:noFill/>
          <a:ln/>
        </p:spPr>
        <p:txBody>
          <a:bodyPr wrap="square" lIns="0" tIns="0" rIns="0" bIns="0" rtlCol="0" anchor="t"/>
          <a:lstStyle/>
          <a:p>
            <a:pPr indent="0" marL="0">
              <a:buNone/>
            </a:pPr>
            <a:r>
              <a:rPr lang="en-US" sz="1150" b="1" dirty="0">
                <a:solidFill>
                  <a:srgbClr val="16325C"/>
                </a:solidFill>
                <a:latin typeface="Calibri" pitchFamily="34" charset="0"/>
                <a:ea typeface="Calibri" pitchFamily="34" charset="-122"/>
                <a:cs typeface="Calibri" pitchFamily="34" charset="-120"/>
              </a:rPr>
              <a:t>Transfer efficiency is the number nobody argues about and everybody should. </a:t>
            </a:r>
            <a:pPr indent="0" marL="0">
              <a:buNone/>
            </a:pPr>
            <a:r>
              <a:rPr lang="en-US" sz="1150" dirty="0">
                <a:solidFill>
                  <a:srgbClr val="3A4356"/>
                </a:solidFill>
                <a:latin typeface="Calibri" pitchFamily="34" charset="0"/>
                <a:ea typeface="Calibri" pitchFamily="34" charset="-122"/>
                <a:cs typeface="Calibri" pitchFamily="34" charset="-120"/>
              </a:rPr>
              <a:t>At 60% transfer, four of every ten pounds of basecoat lands in the booth filters rather than on the car. Move that one line to 70% with better electrostatics and the basecoat drops from £5.55 to £4.75 — on 60,000 parts a year that is about £47,000. A percentage uplift on the moulded cost would have hidden that completely.</a:t>
            </a:r>
            <a:endParaRPr lang="en-US" sz="1150" dirty="0"/>
          </a:p>
        </p:txBody>
      </p:sp>
      <p:sp>
        <p:nvSpPr>
          <p:cNvPr id="58" name="Shape 56"/>
          <p:cNvSpPr/>
          <p:nvPr/>
        </p:nvSpPr>
        <p:spPr>
          <a:xfrm>
            <a:off x="457200" y="5596128"/>
            <a:ext cx="11274552" cy="694944"/>
          </a:xfrm>
          <a:prstGeom prst="roundRect">
            <a:avLst>
              <a:gd name="adj" fmla="val 13158"/>
            </a:avLst>
          </a:prstGeom>
          <a:solidFill>
            <a:srgbClr val="FCF3E3"/>
          </a:solidFill>
          <a:ln w="12700">
            <a:solidFill>
              <a:srgbClr val="99651A"/>
            </a:solidFill>
            <a:prstDash val="solid"/>
          </a:ln>
        </p:spPr>
      </p:sp>
      <p:sp>
        <p:nvSpPr>
          <p:cNvPr id="59" name="Text 57"/>
          <p:cNvSpPr/>
          <p:nvPr/>
        </p:nvSpPr>
        <p:spPr>
          <a:xfrm>
            <a:off x="731520" y="5669280"/>
            <a:ext cx="10744200" cy="548640"/>
          </a:xfrm>
          <a:prstGeom prst="rect">
            <a:avLst/>
          </a:prstGeom>
          <a:noFill/>
          <a:ln/>
        </p:spPr>
        <p:txBody>
          <a:bodyPr wrap="square" lIns="0" tIns="0" rIns="0" bIns="0" rtlCol="0" anchor="ctr"/>
          <a:lstStyle/>
          <a:p>
            <a:pPr indent="0" marL="0">
              <a:buNone/>
            </a:pPr>
            <a:r>
              <a:rPr lang="en-US" sz="1100" b="1" dirty="0">
                <a:solidFill>
                  <a:srgbClr val="99651A"/>
                </a:solidFill>
                <a:latin typeface="Calibri" pitchFamily="34" charset="0"/>
                <a:ea typeface="Calibri" pitchFamily="34" charset="-122"/>
                <a:cs typeface="Calibri" pitchFamily="34" charset="-120"/>
              </a:rPr>
              <a:t>Honest note:  </a:t>
            </a:r>
            <a:pPr indent="0" marL="0">
              <a:buNone/>
            </a:pPr>
            <a:r>
              <a:rPr lang="en-US" sz="1100" dirty="0">
                <a:solidFill>
                  <a:srgbClr val="3A4356"/>
                </a:solidFill>
                <a:latin typeface="Calibri" pitchFamily="34" charset="0"/>
                <a:ea typeface="Calibri" pitchFamily="34" charset="-122"/>
                <a:cs typeface="Calibri" pitchFamily="34" charset="-120"/>
              </a:rPr>
              <a:t>the paint line is a separate costing, not a bucket inside the moulding one — in the real world it is usually a separate supplier. The £13.14 is the line’s cost before the painter’s own overhead and margin; the £39.22 simply adds it to the moulded ex-works cost.</a:t>
            </a:r>
            <a:endParaRPr lang="en-US" sz="1100" dirty="0"/>
          </a:p>
        </p:txBody>
      </p:sp>
      <p:sp>
        <p:nvSpPr>
          <p:cNvPr id="60" name="Text 5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61" name="Text 5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6B3FA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Two Findings From the Moulded Part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Neither of these was predictable in advance — the method surfaced both</a:t>
            </a:r>
            <a:endParaRPr lang="en-US" sz="1200" dirty="0"/>
          </a:p>
        </p:txBody>
      </p:sp>
      <p:sp>
        <p:nvSpPr>
          <p:cNvPr id="5" name="Shape 3"/>
          <p:cNvSpPr/>
          <p:nvPr/>
        </p:nvSpPr>
        <p:spPr>
          <a:xfrm>
            <a:off x="457200" y="1188720"/>
            <a:ext cx="5532120" cy="2395728"/>
          </a:xfrm>
          <a:prstGeom prst="roundRect">
            <a:avLst>
              <a:gd name="adj" fmla="val 3817"/>
            </a:avLst>
          </a:prstGeom>
          <a:solidFill>
            <a:srgbClr val="FFFFFF"/>
          </a:solidFill>
          <a:ln w="22225">
            <a:solidFill>
              <a:srgbClr val="0D7D71"/>
            </a:solidFill>
            <a:prstDash val="solid"/>
          </a:ln>
        </p:spPr>
      </p:sp>
      <p:sp>
        <p:nvSpPr>
          <p:cNvPr id="6" name="Shape 4"/>
          <p:cNvSpPr/>
          <p:nvPr/>
        </p:nvSpPr>
        <p:spPr>
          <a:xfrm>
            <a:off x="685800" y="1371600"/>
            <a:ext cx="457200" cy="457200"/>
          </a:xfrm>
          <a:prstGeom prst="ellipse">
            <a:avLst/>
          </a:prstGeom>
          <a:solidFill>
            <a:srgbClr val="0D7D71"/>
          </a:solidFill>
          <a:ln/>
        </p:spPr>
      </p:sp>
      <p:sp>
        <p:nvSpPr>
          <p:cNvPr id="7" name="Text 5"/>
          <p:cNvSpPr/>
          <p:nvPr/>
        </p:nvSpPr>
        <p:spPr>
          <a:xfrm>
            <a:off x="685800" y="13716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280160" y="1371600"/>
            <a:ext cx="4480560" cy="457200"/>
          </a:xfrm>
          <a:prstGeom prst="rect">
            <a:avLst/>
          </a:prstGeom>
          <a:noFill/>
          <a:ln/>
        </p:spPr>
        <p:txBody>
          <a:bodyPr wrap="square" lIns="0" tIns="0" rIns="0" bIns="0" rtlCol="0" anchor="ctr"/>
          <a:lstStyle/>
          <a:p>
            <a:pPr indent="0" marL="0">
              <a:buNone/>
            </a:pPr>
            <a:r>
              <a:rPr lang="en-US" sz="1500" b="1" dirty="0">
                <a:solidFill>
                  <a:srgbClr val="0D7D71"/>
                </a:solidFill>
                <a:latin typeface="Calibri" pitchFamily="34" charset="0"/>
                <a:ea typeface="Calibri" pitchFamily="34" charset="-122"/>
                <a:cs typeface="Calibri" pitchFamily="34" charset="-120"/>
              </a:rPr>
              <a:t>The tool is the product</a:t>
            </a:r>
            <a:endParaRPr lang="en-US" sz="1500" dirty="0"/>
          </a:p>
        </p:txBody>
      </p:sp>
      <p:sp>
        <p:nvSpPr>
          <p:cNvPr id="9" name="Text 7"/>
          <p:cNvSpPr/>
          <p:nvPr/>
        </p:nvSpPr>
        <p:spPr>
          <a:xfrm>
            <a:off x="713232" y="1938528"/>
            <a:ext cx="5029200" cy="1554480"/>
          </a:xfrm>
          <a:prstGeom prst="rect">
            <a:avLst/>
          </a:prstGeom>
          <a:noFill/>
          <a:ln/>
        </p:spPr>
        <p:txBody>
          <a:bodyPr wrap="square" lIns="0" tIns="0" rIns="0" bIns="0" rtlCol="0" anchor="t"/>
          <a:lstStyle/>
          <a:p>
            <a:pPr indent="0" marL="0">
              <a:buNone/>
            </a:pPr>
            <a:r>
              <a:rPr lang="en-US" sz="1100" b="1" dirty="0">
                <a:solidFill>
                  <a:srgbClr val="16325C"/>
                </a:solidFill>
                <a:latin typeface="Calibri" pitchFamily="34" charset="0"/>
                <a:ea typeface="Calibri" pitchFamily="34" charset="-122"/>
                <a:cs typeface="Calibri" pitchFamily="34" charset="-120"/>
              </a:rPr>
              <a:t>Tooling is £11.20 of the £26.08 part — 43%, the biggest single bucket. </a:t>
            </a:r>
            <a:pPr indent="0" marL="0">
              <a:buNone/>
            </a:pPr>
            <a:r>
              <a:rPr lang="en-US" sz="1100" dirty="0">
                <a:solidFill>
                  <a:srgbClr val="3A4356"/>
                </a:solidFill>
                <a:latin typeface="Calibri" pitchFamily="34" charset="0"/>
                <a:ea typeface="Calibri" pitchFamily="34" charset="-122"/>
                <a:cs typeface="Calibri" pitchFamily="34" charset="-120"/>
              </a:rPr>
              <a:t>It is larger than the resin, the press and the labour </a:t>
            </a:r>
            <a:pPr indent="0" marL="0">
              <a:buNone/>
            </a:pPr>
            <a:r>
              <a:rPr lang="en-US" sz="1100" b="1" dirty="0">
                <a:solidFill>
                  <a:srgbClr val="16325C"/>
                </a:solidFill>
                <a:latin typeface="Calibri" pitchFamily="34" charset="0"/>
                <a:ea typeface="Calibri" pitchFamily="34" charset="-122"/>
                <a:cs typeface="Calibri" pitchFamily="34" charset="-120"/>
              </a:rPr>
              <a:t>added together </a:t>
            </a:r>
            <a:pPr indent="0" marL="0">
              <a:buNone/>
            </a:pPr>
            <a:r>
              <a:rPr lang="en-US" sz="1100" dirty="0">
                <a:solidFill>
                  <a:srgbClr val="3A4356"/>
                </a:solidFill>
                <a:latin typeface="Calibri" pitchFamily="34" charset="0"/>
                <a:ea typeface="Calibri" pitchFamily="34" charset="-122"/>
                <a:cs typeface="Calibri" pitchFamily="34" charset="-120"/>
              </a:rPr>
              <a:t>(£4.46 + £2.45 + £0.05 = £6.96).</a:t>
            </a:r>
            <a:endParaRPr lang="en-US" sz="1100" dirty="0"/>
          </a:p>
          <a:p>
            <a:pPr indent="0" marL="0">
              <a:buNone/>
            </a:pPr>
            <a:endParaRPr lang="en-US" sz="1100" dirty="0"/>
          </a:p>
          <a:p>
            <a:pPr indent="0" marL="0">
              <a:buNone/>
            </a:pPr>
            <a:r>
              <a:rPr lang="en-US" sz="1100" dirty="0">
                <a:solidFill>
                  <a:srgbClr val="3A4356"/>
                </a:solidFill>
                <a:latin typeface="Calibri" pitchFamily="34" charset="0"/>
                <a:ea typeface="Calibri" pitchFamily="34" charset="-122"/>
                <a:cs typeface="Calibri" pitchFamily="34" charset="-120"/>
              </a:rPr>
              <a:t>On the casting, tooling was £2.17 — six percent. Same method, same engine, and the money has moved to a completely different bucket.</a:t>
            </a:r>
            <a:endParaRPr lang="en-US" sz="1100" dirty="0"/>
          </a:p>
        </p:txBody>
      </p:sp>
      <p:sp>
        <p:nvSpPr>
          <p:cNvPr id="10" name="Shape 8"/>
          <p:cNvSpPr/>
          <p:nvPr/>
        </p:nvSpPr>
        <p:spPr>
          <a:xfrm>
            <a:off x="6199632" y="1188720"/>
            <a:ext cx="5532120" cy="2395728"/>
          </a:xfrm>
          <a:prstGeom prst="roundRect">
            <a:avLst>
              <a:gd name="adj" fmla="val 3817"/>
            </a:avLst>
          </a:prstGeom>
          <a:solidFill>
            <a:srgbClr val="FFFFFF"/>
          </a:solidFill>
          <a:ln w="22225">
            <a:solidFill>
              <a:srgbClr val="2A7F50"/>
            </a:solidFill>
            <a:prstDash val="solid"/>
          </a:ln>
        </p:spPr>
      </p:sp>
      <p:sp>
        <p:nvSpPr>
          <p:cNvPr id="11" name="Shape 9"/>
          <p:cNvSpPr/>
          <p:nvPr/>
        </p:nvSpPr>
        <p:spPr>
          <a:xfrm>
            <a:off x="6428232" y="1371600"/>
            <a:ext cx="457200" cy="457200"/>
          </a:xfrm>
          <a:prstGeom prst="ellipse">
            <a:avLst/>
          </a:prstGeom>
          <a:solidFill>
            <a:srgbClr val="2A7F50"/>
          </a:solidFill>
          <a:ln/>
        </p:spPr>
      </p:sp>
      <p:sp>
        <p:nvSpPr>
          <p:cNvPr id="12" name="Text 10"/>
          <p:cNvSpPr/>
          <p:nvPr/>
        </p:nvSpPr>
        <p:spPr>
          <a:xfrm>
            <a:off x="6428232" y="13716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7022592" y="1371600"/>
            <a:ext cx="4480560" cy="457200"/>
          </a:xfrm>
          <a:prstGeom prst="rect">
            <a:avLst/>
          </a:prstGeom>
          <a:noFill/>
          <a:ln/>
        </p:spPr>
        <p:txBody>
          <a:bodyPr wrap="square" lIns="0" tIns="0" rIns="0" bIns="0" rtlCol="0" anchor="ctr"/>
          <a:lstStyle/>
          <a:p>
            <a:pPr indent="0" marL="0">
              <a:buNone/>
            </a:pPr>
            <a:r>
              <a:rPr lang="en-US" sz="1500" b="1" dirty="0">
                <a:solidFill>
                  <a:srgbClr val="2A7F50"/>
                </a:solidFill>
                <a:latin typeface="Calibri" pitchFamily="34" charset="0"/>
                <a:ea typeface="Calibri" pitchFamily="34" charset="-122"/>
                <a:cs typeface="Calibri" pitchFamily="34" charset="-120"/>
              </a:rPr>
              <a:t>Offshoring barely pays here</a:t>
            </a:r>
            <a:endParaRPr lang="en-US" sz="1500" dirty="0"/>
          </a:p>
        </p:txBody>
      </p:sp>
      <p:sp>
        <p:nvSpPr>
          <p:cNvPr id="14" name="Text 12"/>
          <p:cNvSpPr/>
          <p:nvPr/>
        </p:nvSpPr>
        <p:spPr>
          <a:xfrm>
            <a:off x="6455664" y="1938528"/>
            <a:ext cx="5029200" cy="1554480"/>
          </a:xfrm>
          <a:prstGeom prst="rect">
            <a:avLst/>
          </a:prstGeom>
          <a:noFill/>
          <a:ln/>
        </p:spPr>
        <p:txBody>
          <a:bodyPr wrap="square" lIns="0" tIns="0" rIns="0" bIns="0" rtlCol="0" anchor="t"/>
          <a:lstStyle/>
          <a:p>
            <a:pPr indent="0" marL="0">
              <a:buNone/>
            </a:pPr>
            <a:r>
              <a:rPr lang="en-US" sz="1100" b="1" dirty="0">
                <a:solidFill>
                  <a:srgbClr val="16325C"/>
                </a:solidFill>
                <a:latin typeface="Calibri" pitchFamily="34" charset="0"/>
                <a:ea typeface="Calibri" pitchFamily="34" charset="-122"/>
                <a:cs typeface="Calibri" pitchFamily="34" charset="-120"/>
              </a:rPr>
              <a:t>China £26.08 against a UK £31.06 — a 19% gap. On the casting the same comparison was 55%.
</a:t>
            </a:r>
            <a:pPr indent="0" marL="0">
              <a:buNone/>
            </a:pPr>
            <a:r>
              <a:rPr lang="en-US" sz="1100" dirty="0">
                <a:solidFill>
                  <a:srgbClr val="3A4356"/>
                </a:solidFill>
                <a:latin typeface="Calibri" pitchFamily="34" charset="0"/>
                <a:ea typeface="Calibri" pitchFamily="34" charset="-122"/>
                <a:cs typeface="Calibri" pitchFamily="34" charset="-120"/>
              </a:rPr>
              <a:t>The tool, the packaging and the logistics do not get cheaper by moving the factory, and the resin is a world price. Only press hours and labour move — and this part has barely any labour in it.</a:t>
            </a:r>
            <a:endParaRPr lang="en-US" sz="1100" dirty="0"/>
          </a:p>
        </p:txBody>
      </p:sp>
      <p:sp>
        <p:nvSpPr>
          <p:cNvPr id="15" name="Shape 13"/>
          <p:cNvSpPr/>
          <p:nvPr/>
        </p:nvSpPr>
        <p:spPr>
          <a:xfrm>
            <a:off x="457200" y="3767328"/>
            <a:ext cx="11274552" cy="1298448"/>
          </a:xfrm>
          <a:prstGeom prst="roundRect">
            <a:avLst>
              <a:gd name="adj" fmla="val 7042"/>
            </a:avLst>
          </a:prstGeom>
          <a:solidFill>
            <a:srgbClr val="FFFFFF"/>
          </a:solidFill>
          <a:ln w="12700">
            <a:solidFill>
              <a:srgbClr val="DCE3EE"/>
            </a:solidFill>
            <a:prstDash val="solid"/>
          </a:ln>
        </p:spPr>
      </p:sp>
      <p:sp>
        <p:nvSpPr>
          <p:cNvPr id="16" name="Text 14"/>
          <p:cNvSpPr/>
          <p:nvPr/>
        </p:nvSpPr>
        <p:spPr>
          <a:xfrm>
            <a:off x="731520" y="3877056"/>
            <a:ext cx="10515600" cy="256032"/>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What each finding changes on Monday morning</a:t>
            </a:r>
            <a:endParaRPr lang="en-US" sz="1250" dirty="0"/>
          </a:p>
        </p:txBody>
      </p:sp>
      <p:sp>
        <p:nvSpPr>
          <p:cNvPr id="17" name="Text 15"/>
          <p:cNvSpPr/>
          <p:nvPr/>
        </p:nvSpPr>
        <p:spPr>
          <a:xfrm>
            <a:off x="731520" y="4169664"/>
            <a:ext cx="10744200" cy="804672"/>
          </a:xfrm>
          <a:prstGeom prst="rect">
            <a:avLst/>
          </a:prstGeom>
          <a:noFill/>
          <a:ln/>
        </p:spPr>
        <p:txBody>
          <a:bodyPr wrap="square" lIns="0" tIns="0" rIns="0" bIns="0" rtlCol="0" anchor="t"/>
          <a:lstStyle/>
          <a:p>
            <a:pPr indent="0" marL="0">
              <a:buNone/>
            </a:pPr>
            <a:r>
              <a:rPr lang="en-US" sz="1150" b="1" dirty="0">
                <a:solidFill>
                  <a:srgbClr val="0D7D71"/>
                </a:solidFill>
                <a:latin typeface="Calibri" pitchFamily="34" charset="0"/>
                <a:ea typeface="Calibri" pitchFamily="34" charset="-122"/>
                <a:cs typeface="Calibri" pitchFamily="34" charset="-120"/>
              </a:rPr>
              <a:t>Finding 1 → </a:t>
            </a:r>
            <a:pPr indent="0" marL="0">
              <a:buNone/>
            </a:pPr>
            <a:r>
              <a:rPr lang="en-US" sz="1150" dirty="0">
                <a:solidFill>
                  <a:srgbClr val="3A4356"/>
                </a:solidFill>
                <a:latin typeface="Calibri" pitchFamily="34" charset="0"/>
                <a:ea typeface="Calibri" pitchFamily="34" charset="-122"/>
                <a:cs typeface="Calibri" pitchFamily="34" charset="-120"/>
              </a:rPr>
              <a:t>stop negotiating the piece price and negotiate the tooling deal: who owns the tool, over how many parts it is amortised, and what happens at end of programme. Over five years instead of one, this part is £15.14 rather than £26.08.
</a:t>
            </a:r>
            <a:pPr indent="0" marL="0">
              <a:buNone/>
            </a:pPr>
            <a:r>
              <a:rPr lang="en-US" sz="1150" b="1" dirty="0">
                <a:solidFill>
                  <a:srgbClr val="2A7F50"/>
                </a:solidFill>
                <a:latin typeface="Calibri" pitchFamily="34" charset="0"/>
                <a:ea typeface="Calibri" pitchFamily="34" charset="-122"/>
                <a:cs typeface="Calibri" pitchFamily="34" charset="-120"/>
              </a:rPr>
              <a:t>Finding 2 → </a:t>
            </a:r>
            <a:pPr indent="0" marL="0">
              <a:buNone/>
            </a:pPr>
            <a:r>
              <a:rPr lang="en-US" sz="1150" dirty="0">
                <a:solidFill>
                  <a:srgbClr val="3A4356"/>
                </a:solidFill>
                <a:latin typeface="Calibri" pitchFamily="34" charset="0"/>
                <a:ea typeface="Calibri" pitchFamily="34" charset="-122"/>
                <a:cs typeface="Calibri" pitchFamily="34" charset="-120"/>
              </a:rPr>
              <a:t>do not move a tooling-heavy part offshore expecting casting-sized savings. Nineteen percent, against freight, lead time, quality risk and tooling transfer cost, may not clear the bar at all.</a:t>
            </a:r>
            <a:endParaRPr lang="en-US" sz="1150" dirty="0"/>
          </a:p>
        </p:txBody>
      </p:sp>
      <p:sp>
        <p:nvSpPr>
          <p:cNvPr id="18" name="Shape 16"/>
          <p:cNvSpPr/>
          <p:nvPr/>
        </p:nvSpPr>
        <p:spPr>
          <a:xfrm>
            <a:off x="457200" y="5212080"/>
            <a:ext cx="11274552" cy="777240"/>
          </a:xfrm>
          <a:prstGeom prst="roundRect">
            <a:avLst>
              <a:gd name="adj" fmla="val 11765"/>
            </a:avLst>
          </a:prstGeom>
          <a:solidFill>
            <a:srgbClr val="16325C"/>
          </a:solidFill>
          <a:ln/>
        </p:spPr>
      </p:sp>
      <p:sp>
        <p:nvSpPr>
          <p:cNvPr id="19" name="Text 17"/>
          <p:cNvSpPr/>
          <p:nvPr/>
        </p:nvSpPr>
        <p:spPr>
          <a:xfrm>
            <a:off x="777240" y="5285232"/>
            <a:ext cx="10652760" cy="640080"/>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Ask yourself honestly:  </a:t>
            </a:r>
            <a:pPr indent="0" marL="0">
              <a:buNone/>
            </a:pPr>
            <a:r>
              <a:rPr lang="en-US" sz="1200" dirty="0">
                <a:solidFill>
                  <a:srgbClr val="FFFFFF"/>
                </a:solidFill>
                <a:latin typeface="Calibri" pitchFamily="34" charset="0"/>
                <a:ea typeface="Calibri" pitchFamily="34" charset="-122"/>
                <a:cs typeface="Calibri" pitchFamily="34" charset="-120"/>
              </a:rPr>
              <a:t>before this run, would anyone have told you the tool was 43% of a bumper, or that offshoring it saves only 19%? That is what the method is for.</a:t>
            </a:r>
            <a:endParaRPr lang="en-US" sz="1200" dirty="0"/>
          </a:p>
        </p:txBody>
      </p:sp>
      <p:sp>
        <p:nvSpPr>
          <p:cNvPr id="20" name="Text 1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21" name="Text 1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Stages 11–12 · The Band, and What the Two Parts Teach</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Same tool, same method — two completely different answers about where the money is</a:t>
            </a:r>
            <a:endParaRPr lang="en-US" sz="1200" dirty="0"/>
          </a:p>
        </p:txBody>
      </p:sp>
      <p:sp>
        <p:nvSpPr>
          <p:cNvPr id="5" name="Shape 3"/>
          <p:cNvSpPr/>
          <p:nvPr/>
        </p:nvSpPr>
        <p:spPr>
          <a:xfrm>
            <a:off x="457200" y="1188720"/>
            <a:ext cx="5532120" cy="1719072"/>
          </a:xfrm>
          <a:prstGeom prst="roundRect">
            <a:avLst>
              <a:gd name="adj" fmla="val 5319"/>
            </a:avLst>
          </a:prstGeom>
          <a:solidFill>
            <a:srgbClr val="FFFFFF"/>
          </a:solidFill>
          <a:ln w="12700">
            <a:solidFill>
              <a:srgbClr val="DCE3EE"/>
            </a:solidFill>
            <a:prstDash val="solid"/>
          </a:ln>
        </p:spPr>
      </p:sp>
      <p:sp>
        <p:nvSpPr>
          <p:cNvPr id="6" name="Text 4"/>
          <p:cNvSpPr/>
          <p:nvPr/>
        </p:nvSpPr>
        <p:spPr>
          <a:xfrm>
            <a:off x="685800" y="1298448"/>
            <a:ext cx="5029200" cy="256032"/>
          </a:xfrm>
          <a:prstGeom prst="rect">
            <a:avLst/>
          </a:prstGeom>
          <a:noFill/>
          <a:ln/>
        </p:spPr>
        <p:txBody>
          <a:bodyPr wrap="square" lIns="0" tIns="0" rIns="0" bIns="0" rtlCol="0" anchor="ctr"/>
          <a:lstStyle/>
          <a:p>
            <a:pPr indent="0" marL="0">
              <a:buNone/>
            </a:pPr>
            <a:r>
              <a:rPr lang="en-US" sz="1200" b="1" dirty="0">
                <a:solidFill>
                  <a:srgbClr val="2A7F50"/>
                </a:solidFill>
                <a:latin typeface="Calibri" pitchFamily="34" charset="0"/>
                <a:ea typeface="Calibri" pitchFamily="34" charset="-122"/>
                <a:cs typeface="Calibri" pitchFamily="34" charset="-120"/>
              </a:rPr>
              <a:t>11 · The honest range on this part</a:t>
            </a:r>
            <a:endParaRPr lang="en-US" sz="1200" dirty="0"/>
          </a:p>
        </p:txBody>
      </p:sp>
      <p:sp>
        <p:nvSpPr>
          <p:cNvPr id="7" name="Shape 5"/>
          <p:cNvSpPr/>
          <p:nvPr/>
        </p:nvSpPr>
        <p:spPr>
          <a:xfrm>
            <a:off x="713232" y="1700784"/>
            <a:ext cx="5029200" cy="274320"/>
          </a:xfrm>
          <a:prstGeom prst="roundRect">
            <a:avLst>
              <a:gd name="adj" fmla="val 50000"/>
            </a:avLst>
          </a:prstGeom>
          <a:solidFill>
            <a:srgbClr val="DCE3EE"/>
          </a:solidFill>
          <a:ln/>
        </p:spPr>
      </p:sp>
      <p:sp>
        <p:nvSpPr>
          <p:cNvPr id="8" name="Shape 6"/>
          <p:cNvSpPr/>
          <p:nvPr/>
        </p:nvSpPr>
        <p:spPr>
          <a:xfrm>
            <a:off x="1630462" y="1700784"/>
            <a:ext cx="3192345" cy="274320"/>
          </a:xfrm>
          <a:prstGeom prst="roundRect">
            <a:avLst>
              <a:gd name="adj" fmla="val 50000"/>
            </a:avLst>
          </a:prstGeom>
          <a:solidFill>
            <a:srgbClr val="0D7D71"/>
          </a:solidFill>
          <a:ln/>
        </p:spPr>
      </p:sp>
      <p:sp>
        <p:nvSpPr>
          <p:cNvPr id="9" name="Shape 7"/>
          <p:cNvSpPr/>
          <p:nvPr/>
        </p:nvSpPr>
        <p:spPr>
          <a:xfrm>
            <a:off x="3103474" y="1636776"/>
            <a:ext cx="47549" cy="402336"/>
          </a:xfrm>
          <a:prstGeom prst="rect">
            <a:avLst/>
          </a:prstGeom>
          <a:solidFill>
            <a:srgbClr val="16325C"/>
          </a:solidFill>
          <a:ln/>
        </p:spPr>
      </p:sp>
      <p:sp>
        <p:nvSpPr>
          <p:cNvPr id="10" name="Text 8"/>
          <p:cNvSpPr/>
          <p:nvPr/>
        </p:nvSpPr>
        <p:spPr>
          <a:xfrm>
            <a:off x="1081822" y="2048256"/>
            <a:ext cx="1097280" cy="201168"/>
          </a:xfrm>
          <a:prstGeom prst="rect">
            <a:avLst/>
          </a:prstGeom>
          <a:noFill/>
          <a:ln/>
        </p:spPr>
        <p:txBody>
          <a:bodyPr wrap="square" lIns="0" tIns="0" rIns="0" bIns="0" rtlCol="0" anchor="ctr"/>
          <a:lstStyle/>
          <a:p>
            <a:pPr algn="ctr" indent="0" marL="0">
              <a:buNone/>
            </a:pPr>
            <a:r>
              <a:rPr lang="en-US" sz="850" dirty="0">
                <a:solidFill>
                  <a:srgbClr val="686F7D"/>
                </a:solidFill>
                <a:latin typeface="Calibri" pitchFamily="34" charset="0"/>
                <a:ea typeface="Calibri" pitchFamily="34" charset="-122"/>
                <a:cs typeface="Calibri" pitchFamily="34" charset="-120"/>
              </a:rPr>
              <a:t>P10  £19.83</a:t>
            </a:r>
            <a:endParaRPr lang="en-US" sz="850" dirty="0"/>
          </a:p>
        </p:txBody>
      </p:sp>
      <p:sp>
        <p:nvSpPr>
          <p:cNvPr id="11" name="Text 9"/>
          <p:cNvSpPr/>
          <p:nvPr/>
        </p:nvSpPr>
        <p:spPr>
          <a:xfrm>
            <a:off x="2578608" y="2048256"/>
            <a:ext cx="1097280" cy="201168"/>
          </a:xfrm>
          <a:prstGeom prst="rect">
            <a:avLst/>
          </a:prstGeom>
          <a:noFill/>
          <a:ln/>
        </p:spPr>
        <p:txBody>
          <a:bodyPr wrap="square" lIns="0" tIns="0" rIns="0" bIns="0" rtlCol="0" anchor="ctr"/>
          <a:lstStyle/>
          <a:p>
            <a:pPr algn="ctr" indent="0" marL="0">
              <a:buNone/>
            </a:pPr>
            <a:r>
              <a:rPr lang="en-US" sz="1000" b="1" dirty="0">
                <a:solidFill>
                  <a:srgbClr val="16325C"/>
                </a:solidFill>
                <a:latin typeface="Calibri" pitchFamily="34" charset="0"/>
                <a:ea typeface="Calibri" pitchFamily="34" charset="-122"/>
                <a:cs typeface="Calibri" pitchFamily="34" charset="-120"/>
              </a:rPr>
              <a:t>£26.08</a:t>
            </a:r>
            <a:endParaRPr lang="en-US" sz="1000" dirty="0"/>
          </a:p>
        </p:txBody>
      </p:sp>
      <p:sp>
        <p:nvSpPr>
          <p:cNvPr id="12" name="Text 10"/>
          <p:cNvSpPr/>
          <p:nvPr/>
        </p:nvSpPr>
        <p:spPr>
          <a:xfrm>
            <a:off x="4274167" y="2048256"/>
            <a:ext cx="1097280" cy="201168"/>
          </a:xfrm>
          <a:prstGeom prst="rect">
            <a:avLst/>
          </a:prstGeom>
          <a:noFill/>
          <a:ln/>
        </p:spPr>
        <p:txBody>
          <a:bodyPr wrap="square" lIns="0" tIns="0" rIns="0" bIns="0" rtlCol="0" anchor="ctr"/>
          <a:lstStyle/>
          <a:p>
            <a:pPr algn="ctr" indent="0" marL="0">
              <a:buNone/>
            </a:pPr>
            <a:r>
              <a:rPr lang="en-US" sz="850" dirty="0">
                <a:solidFill>
                  <a:srgbClr val="686F7D"/>
                </a:solidFill>
                <a:latin typeface="Calibri" pitchFamily="34" charset="0"/>
                <a:ea typeface="Calibri" pitchFamily="34" charset="-122"/>
                <a:cs typeface="Calibri" pitchFamily="34" charset="-120"/>
              </a:rPr>
              <a:t>P90  £33.16</a:t>
            </a:r>
            <a:endParaRPr lang="en-US" sz="850" dirty="0"/>
          </a:p>
        </p:txBody>
      </p:sp>
      <p:sp>
        <p:nvSpPr>
          <p:cNvPr id="13" name="Text 11"/>
          <p:cNvSpPr/>
          <p:nvPr/>
        </p:nvSpPr>
        <p:spPr>
          <a:xfrm>
            <a:off x="713232" y="2340864"/>
            <a:ext cx="5029200" cy="512064"/>
          </a:xfrm>
          <a:prstGeom prst="rect">
            <a:avLst/>
          </a:prstGeom>
          <a:noFill/>
          <a:ln/>
        </p:spPr>
        <p:txBody>
          <a:bodyPr wrap="square" lIns="0" tIns="0" rIns="0" bIns="0" rtlCol="0" anchor="t"/>
          <a:lstStyle/>
          <a:p>
            <a:pPr indent="0" marL="0">
              <a:buNone/>
            </a:pPr>
            <a:r>
              <a:rPr lang="en-US" sz="940" i="1" dirty="0">
                <a:solidFill>
                  <a:srgbClr val="686F7D"/>
                </a:solidFill>
                <a:latin typeface="Calibri" pitchFamily="34" charset="0"/>
                <a:ea typeface="Calibri" pitchFamily="34" charset="-122"/>
                <a:cs typeface="Calibri" pitchFamily="34" charset="-120"/>
              </a:rPr>
              <a:t>±26% — wider than the casting, because so much of the answer rides on one tooling quotation.</a:t>
            </a:r>
            <a:endParaRPr lang="en-US" sz="940" dirty="0"/>
          </a:p>
        </p:txBody>
      </p:sp>
      <p:sp>
        <p:nvSpPr>
          <p:cNvPr id="14" name="Shape 12"/>
          <p:cNvSpPr/>
          <p:nvPr/>
        </p:nvSpPr>
        <p:spPr>
          <a:xfrm>
            <a:off x="6199632" y="1188720"/>
            <a:ext cx="5532120" cy="1719072"/>
          </a:xfrm>
          <a:prstGeom prst="roundRect">
            <a:avLst>
              <a:gd name="adj" fmla="val 5319"/>
            </a:avLst>
          </a:prstGeom>
          <a:solidFill>
            <a:srgbClr val="EAF6EF"/>
          </a:solidFill>
          <a:ln w="15875">
            <a:solidFill>
              <a:srgbClr val="2A7F50"/>
            </a:solidFill>
            <a:prstDash val="solid"/>
          </a:ln>
        </p:spPr>
      </p:sp>
      <p:sp>
        <p:nvSpPr>
          <p:cNvPr id="15" name="Text 13"/>
          <p:cNvSpPr/>
          <p:nvPr/>
        </p:nvSpPr>
        <p:spPr>
          <a:xfrm>
            <a:off x="6428232" y="1298448"/>
            <a:ext cx="5029200" cy="256032"/>
          </a:xfrm>
          <a:prstGeom prst="rect">
            <a:avLst/>
          </a:prstGeom>
          <a:noFill/>
          <a:ln/>
        </p:spPr>
        <p:txBody>
          <a:bodyPr wrap="square" lIns="0" tIns="0" rIns="0" bIns="0" rtlCol="0" anchor="ctr"/>
          <a:lstStyle/>
          <a:p>
            <a:pPr indent="0" marL="0">
              <a:buNone/>
            </a:pPr>
            <a:r>
              <a:rPr lang="en-US" sz="1200" b="1" dirty="0">
                <a:solidFill>
                  <a:srgbClr val="2A7F50"/>
                </a:solidFill>
                <a:latin typeface="Calibri" pitchFamily="34" charset="0"/>
                <a:ea typeface="Calibri" pitchFamily="34" charset="-122"/>
                <a:cs typeface="Calibri" pitchFamily="34" charset="-120"/>
              </a:rPr>
              <a:t>12 · The lever the engineer actually has</a:t>
            </a:r>
            <a:endParaRPr lang="en-US" sz="1200" dirty="0"/>
          </a:p>
        </p:txBody>
      </p:sp>
      <p:sp>
        <p:nvSpPr>
          <p:cNvPr id="16" name="Text 14"/>
          <p:cNvSpPr/>
          <p:nvPr/>
        </p:nvSpPr>
        <p:spPr>
          <a:xfrm>
            <a:off x="6428232" y="1591056"/>
            <a:ext cx="2286000" cy="201168"/>
          </a:xfrm>
          <a:prstGeom prst="rect">
            <a:avLst/>
          </a:prstGeom>
          <a:noFill/>
          <a:ln/>
        </p:spPr>
        <p:txBody>
          <a:bodyPr wrap="square" lIns="0" tIns="0" rIns="0" bIns="0" rtlCol="0" anchor="ctr"/>
          <a:lstStyle/>
          <a:p>
            <a:pPr indent="0" marL="0">
              <a:buNone/>
            </a:pPr>
            <a:r>
              <a:rPr lang="en-US" sz="850" b="1" dirty="0">
                <a:solidFill>
                  <a:srgbClr val="686F7D"/>
                </a:solidFill>
                <a:latin typeface="Calibri" pitchFamily="34" charset="0"/>
                <a:ea typeface="Calibri" pitchFamily="34" charset="-122"/>
                <a:cs typeface="Calibri" pitchFamily="34" charset="-120"/>
              </a:rPr>
              <a:t>Amortise the tool over</a:t>
            </a:r>
            <a:endParaRPr lang="en-US" sz="850" dirty="0"/>
          </a:p>
        </p:txBody>
      </p:sp>
      <p:sp>
        <p:nvSpPr>
          <p:cNvPr id="17" name="Text 15"/>
          <p:cNvSpPr/>
          <p:nvPr/>
        </p:nvSpPr>
        <p:spPr>
          <a:xfrm>
            <a:off x="8778240" y="1591056"/>
            <a:ext cx="1188720"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Tooling/part</a:t>
            </a:r>
            <a:endParaRPr lang="en-US" sz="850" dirty="0"/>
          </a:p>
        </p:txBody>
      </p:sp>
      <p:sp>
        <p:nvSpPr>
          <p:cNvPr id="18" name="Text 16"/>
          <p:cNvSpPr/>
          <p:nvPr/>
        </p:nvSpPr>
        <p:spPr>
          <a:xfrm>
            <a:off x="10058400" y="1591056"/>
            <a:ext cx="1371600" cy="201168"/>
          </a:xfrm>
          <a:prstGeom prst="rect">
            <a:avLst/>
          </a:prstGeom>
          <a:noFill/>
          <a:ln/>
        </p:spPr>
        <p:txBody>
          <a:bodyPr wrap="square" lIns="0" tIns="0" rIns="0" bIns="0" rtlCol="0" anchor="ctr"/>
          <a:lstStyle/>
          <a:p>
            <a:pPr algn="r" indent="0" marL="0">
              <a:buNone/>
            </a:pPr>
            <a:r>
              <a:rPr lang="en-US" sz="850" b="1" dirty="0">
                <a:solidFill>
                  <a:srgbClr val="686F7D"/>
                </a:solidFill>
                <a:latin typeface="Calibri" pitchFamily="34" charset="0"/>
                <a:ea typeface="Calibri" pitchFamily="34" charset="-122"/>
                <a:cs typeface="Calibri" pitchFamily="34" charset="-120"/>
              </a:rPr>
              <a:t>Part cost</a:t>
            </a:r>
            <a:endParaRPr lang="en-US" sz="850" dirty="0"/>
          </a:p>
        </p:txBody>
      </p:sp>
      <p:sp>
        <p:nvSpPr>
          <p:cNvPr id="19" name="Text 17"/>
          <p:cNvSpPr/>
          <p:nvPr/>
        </p:nvSpPr>
        <p:spPr>
          <a:xfrm>
            <a:off x="6428232" y="1819656"/>
            <a:ext cx="2286000" cy="237744"/>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1 year — 60,000 parts</a:t>
            </a:r>
            <a:endParaRPr lang="en-US" sz="1000" dirty="0"/>
          </a:p>
        </p:txBody>
      </p:sp>
      <p:sp>
        <p:nvSpPr>
          <p:cNvPr id="20" name="Text 18"/>
          <p:cNvSpPr/>
          <p:nvPr/>
        </p:nvSpPr>
        <p:spPr>
          <a:xfrm>
            <a:off x="8778240" y="1819656"/>
            <a:ext cx="1188720" cy="237744"/>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£11.20</a:t>
            </a:r>
            <a:endParaRPr lang="en-US" sz="1000" dirty="0"/>
          </a:p>
        </p:txBody>
      </p:sp>
      <p:sp>
        <p:nvSpPr>
          <p:cNvPr id="21" name="Text 19"/>
          <p:cNvSpPr/>
          <p:nvPr/>
        </p:nvSpPr>
        <p:spPr>
          <a:xfrm>
            <a:off x="10058400" y="1819656"/>
            <a:ext cx="1371600" cy="237744"/>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£26.08</a:t>
            </a:r>
            <a:endParaRPr lang="en-US" sz="1050" dirty="0"/>
          </a:p>
        </p:txBody>
      </p:sp>
      <p:sp>
        <p:nvSpPr>
          <p:cNvPr id="22" name="Text 20"/>
          <p:cNvSpPr/>
          <p:nvPr/>
        </p:nvSpPr>
        <p:spPr>
          <a:xfrm>
            <a:off x="6428232" y="2084832"/>
            <a:ext cx="2286000" cy="237744"/>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3 years — 180,000</a:t>
            </a:r>
            <a:endParaRPr lang="en-US" sz="1000" dirty="0"/>
          </a:p>
        </p:txBody>
      </p:sp>
      <p:sp>
        <p:nvSpPr>
          <p:cNvPr id="23" name="Text 21"/>
          <p:cNvSpPr/>
          <p:nvPr/>
        </p:nvSpPr>
        <p:spPr>
          <a:xfrm>
            <a:off x="8778240" y="2084832"/>
            <a:ext cx="1188720" cy="237744"/>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£3.73</a:t>
            </a:r>
            <a:endParaRPr lang="en-US" sz="1000" dirty="0"/>
          </a:p>
        </p:txBody>
      </p:sp>
      <p:sp>
        <p:nvSpPr>
          <p:cNvPr id="24" name="Text 22"/>
          <p:cNvSpPr/>
          <p:nvPr/>
        </p:nvSpPr>
        <p:spPr>
          <a:xfrm>
            <a:off x="10058400" y="2084832"/>
            <a:ext cx="1371600" cy="237744"/>
          </a:xfrm>
          <a:prstGeom prst="rect">
            <a:avLst/>
          </a:prstGeom>
          <a:noFill/>
          <a:ln/>
        </p:spPr>
        <p:txBody>
          <a:bodyPr wrap="square" lIns="0" tIns="0" rIns="0" bIns="0" rtlCol="0" anchor="ctr"/>
          <a:lstStyle/>
          <a:p>
            <a:pPr algn="r" indent="0" marL="0">
              <a:buNone/>
            </a:pPr>
            <a:r>
              <a:rPr lang="en-US" sz="1050" b="1" dirty="0">
                <a:solidFill>
                  <a:srgbClr val="16325C"/>
                </a:solidFill>
                <a:latin typeface="Calibri" pitchFamily="34" charset="0"/>
                <a:ea typeface="Calibri" pitchFamily="34" charset="-122"/>
                <a:cs typeface="Calibri" pitchFamily="34" charset="-120"/>
              </a:rPr>
              <a:t>£16.97</a:t>
            </a:r>
            <a:endParaRPr lang="en-US" sz="1050" dirty="0"/>
          </a:p>
        </p:txBody>
      </p:sp>
      <p:sp>
        <p:nvSpPr>
          <p:cNvPr id="25" name="Text 23"/>
          <p:cNvSpPr/>
          <p:nvPr/>
        </p:nvSpPr>
        <p:spPr>
          <a:xfrm>
            <a:off x="6428232" y="2350008"/>
            <a:ext cx="2286000" cy="237744"/>
          </a:xfrm>
          <a:prstGeom prst="rect">
            <a:avLst/>
          </a:prstGeom>
          <a:noFill/>
          <a:ln/>
        </p:spPr>
        <p:txBody>
          <a:bodyPr wrap="square" lIns="0" tIns="0" rIns="0" bIns="0" rtlCol="0" anchor="ctr"/>
          <a:lstStyle/>
          <a:p>
            <a:pPr indent="0" marL="0">
              <a:buNone/>
            </a:pPr>
            <a:r>
              <a:rPr lang="en-US" sz="1000" dirty="0">
                <a:solidFill>
                  <a:srgbClr val="3A4356"/>
                </a:solidFill>
                <a:latin typeface="Calibri" pitchFamily="34" charset="0"/>
                <a:ea typeface="Calibri" pitchFamily="34" charset="-122"/>
                <a:cs typeface="Calibri" pitchFamily="34" charset="-120"/>
              </a:rPr>
              <a:t>5 years — 300,000</a:t>
            </a:r>
            <a:endParaRPr lang="en-US" sz="1000" dirty="0"/>
          </a:p>
        </p:txBody>
      </p:sp>
      <p:sp>
        <p:nvSpPr>
          <p:cNvPr id="26" name="Text 24"/>
          <p:cNvSpPr/>
          <p:nvPr/>
        </p:nvSpPr>
        <p:spPr>
          <a:xfrm>
            <a:off x="8778240" y="2350008"/>
            <a:ext cx="1188720" cy="237744"/>
          </a:xfrm>
          <a:prstGeom prst="rect">
            <a:avLst/>
          </a:prstGeom>
          <a:noFill/>
          <a:ln/>
        </p:spPr>
        <p:txBody>
          <a:bodyPr wrap="square" lIns="0" tIns="0" rIns="0" bIns="0" rtlCol="0" anchor="ctr"/>
          <a:lstStyle/>
          <a:p>
            <a:pPr algn="r" indent="0" marL="0">
              <a:buNone/>
            </a:pPr>
            <a:r>
              <a:rPr lang="en-US" sz="1000" dirty="0">
                <a:solidFill>
                  <a:srgbClr val="3A4356"/>
                </a:solidFill>
                <a:latin typeface="Calibri" pitchFamily="34" charset="0"/>
                <a:ea typeface="Calibri" pitchFamily="34" charset="-122"/>
                <a:cs typeface="Calibri" pitchFamily="34" charset="-120"/>
              </a:rPr>
              <a:t>£2.24</a:t>
            </a:r>
            <a:endParaRPr lang="en-US" sz="1000" dirty="0"/>
          </a:p>
        </p:txBody>
      </p:sp>
      <p:sp>
        <p:nvSpPr>
          <p:cNvPr id="27" name="Text 25"/>
          <p:cNvSpPr/>
          <p:nvPr/>
        </p:nvSpPr>
        <p:spPr>
          <a:xfrm>
            <a:off x="10058400" y="2350008"/>
            <a:ext cx="1371600" cy="237744"/>
          </a:xfrm>
          <a:prstGeom prst="rect">
            <a:avLst/>
          </a:prstGeom>
          <a:noFill/>
          <a:ln/>
        </p:spPr>
        <p:txBody>
          <a:bodyPr wrap="square" lIns="0" tIns="0" rIns="0" bIns="0" rtlCol="0" anchor="ctr"/>
          <a:lstStyle/>
          <a:p>
            <a:pPr algn="r" indent="0" marL="0">
              <a:buNone/>
            </a:pPr>
            <a:r>
              <a:rPr lang="en-US" sz="1050" b="1" dirty="0">
                <a:solidFill>
                  <a:srgbClr val="2A7F50"/>
                </a:solidFill>
                <a:latin typeface="Calibri" pitchFamily="34" charset="0"/>
                <a:ea typeface="Calibri" pitchFamily="34" charset="-122"/>
                <a:cs typeface="Calibri" pitchFamily="34" charset="-120"/>
              </a:rPr>
              <a:t>£15.14</a:t>
            </a:r>
            <a:endParaRPr lang="en-US" sz="1050" dirty="0"/>
          </a:p>
        </p:txBody>
      </p:sp>
      <p:sp>
        <p:nvSpPr>
          <p:cNvPr id="28" name="Text 26"/>
          <p:cNvSpPr/>
          <p:nvPr/>
        </p:nvSpPr>
        <p:spPr>
          <a:xfrm>
            <a:off x="6428232" y="2633472"/>
            <a:ext cx="5029200" cy="237744"/>
          </a:xfrm>
          <a:prstGeom prst="rect">
            <a:avLst/>
          </a:prstGeom>
          <a:noFill/>
          <a:ln/>
        </p:spPr>
        <p:txBody>
          <a:bodyPr wrap="square" lIns="0" tIns="0" rIns="0" bIns="0" rtlCol="0" anchor="ctr"/>
          <a:lstStyle/>
          <a:p>
            <a:pPr indent="0" marL="0">
              <a:buNone/>
            </a:pPr>
            <a:r>
              <a:rPr lang="en-US" sz="900" b="1" i="1" dirty="0">
                <a:solidFill>
                  <a:srgbClr val="2A7F50"/>
                </a:solidFill>
                <a:latin typeface="Calibri" pitchFamily="34" charset="0"/>
                <a:ea typeface="Calibri" pitchFamily="34" charset="-122"/>
                <a:cs typeface="Calibri" pitchFamily="34" charset="-120"/>
              </a:rPr>
              <a:t>Same part, same supplier — a commercial decision worth £10.94.</a:t>
            </a:r>
            <a:endParaRPr lang="en-US" sz="900" dirty="0"/>
          </a:p>
        </p:txBody>
      </p:sp>
      <p:sp>
        <p:nvSpPr>
          <p:cNvPr id="29" name="Shape 27"/>
          <p:cNvSpPr/>
          <p:nvPr/>
        </p:nvSpPr>
        <p:spPr>
          <a:xfrm>
            <a:off x="457200" y="3054096"/>
            <a:ext cx="11274552" cy="2212848"/>
          </a:xfrm>
          <a:prstGeom prst="roundRect">
            <a:avLst>
              <a:gd name="adj" fmla="val 4132"/>
            </a:avLst>
          </a:prstGeom>
          <a:solidFill>
            <a:srgbClr val="FFFFFF"/>
          </a:solidFill>
          <a:ln w="19050">
            <a:solidFill>
              <a:srgbClr val="16325C"/>
            </a:solidFill>
            <a:prstDash val="solid"/>
          </a:ln>
        </p:spPr>
      </p:sp>
      <p:sp>
        <p:nvSpPr>
          <p:cNvPr id="30" name="Text 28"/>
          <p:cNvSpPr/>
          <p:nvPr/>
        </p:nvSpPr>
        <p:spPr>
          <a:xfrm>
            <a:off x="731520" y="3154680"/>
            <a:ext cx="10515600" cy="256032"/>
          </a:xfrm>
          <a:prstGeom prst="rect">
            <a:avLst/>
          </a:prstGeom>
          <a:noFill/>
          <a:ln/>
        </p:spPr>
        <p:txBody>
          <a:bodyPr wrap="square" lIns="0" tIns="0" rIns="0" bIns="0" rtlCol="0" anchor="ctr"/>
          <a:lstStyle/>
          <a:p>
            <a:pPr indent="0" marL="0">
              <a:buNone/>
            </a:pPr>
            <a:r>
              <a:rPr lang="en-US" sz="1200" b="1" spc="30" kern="0" dirty="0">
                <a:solidFill>
                  <a:srgbClr val="16325C"/>
                </a:solidFill>
                <a:latin typeface="Calibri" pitchFamily="34" charset="0"/>
                <a:ea typeface="Calibri" pitchFamily="34" charset="-122"/>
                <a:cs typeface="Calibri" pitchFamily="34" charset="-120"/>
              </a:rPr>
              <a:t>TWO PARTS, ONE METHOD — and the money is in a completely different place</a:t>
            </a:r>
            <a:endParaRPr lang="en-US" sz="1200" dirty="0"/>
          </a:p>
        </p:txBody>
      </p:sp>
      <p:sp>
        <p:nvSpPr>
          <p:cNvPr id="31" name="Text 29"/>
          <p:cNvSpPr/>
          <p:nvPr/>
        </p:nvSpPr>
        <p:spPr>
          <a:xfrm>
            <a:off x="731520" y="3456432"/>
            <a:ext cx="2560320" cy="219456"/>
          </a:xfrm>
          <a:prstGeom prst="rect">
            <a:avLst/>
          </a:prstGeom>
          <a:noFill/>
          <a:ln/>
        </p:spPr>
        <p:txBody>
          <a:bodyPr wrap="square" lIns="0" tIns="0" rIns="0" bIns="0" rtlCol="0" anchor="ctr"/>
          <a:lstStyle/>
          <a:p>
            <a:pPr indent="0" marL="0">
              <a:buNone/>
            </a:pPr>
            <a:endParaRPr lang="en-US" sz="900" dirty="0"/>
          </a:p>
        </p:txBody>
      </p:sp>
      <p:sp>
        <p:nvSpPr>
          <p:cNvPr id="32" name="Text 30"/>
          <p:cNvSpPr/>
          <p:nvPr/>
        </p:nvSpPr>
        <p:spPr>
          <a:xfrm>
            <a:off x="3383280" y="3456432"/>
            <a:ext cx="2103120" cy="219456"/>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Die-cast housing</a:t>
            </a:r>
            <a:endParaRPr lang="en-US" sz="900" dirty="0"/>
          </a:p>
        </p:txBody>
      </p:sp>
      <p:sp>
        <p:nvSpPr>
          <p:cNvPr id="33" name="Text 31"/>
          <p:cNvSpPr/>
          <p:nvPr/>
        </p:nvSpPr>
        <p:spPr>
          <a:xfrm>
            <a:off x="5577840" y="3456432"/>
            <a:ext cx="2103120" cy="219456"/>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Bumper fascia</a:t>
            </a:r>
            <a:endParaRPr lang="en-US" sz="900" dirty="0"/>
          </a:p>
        </p:txBody>
      </p:sp>
      <p:sp>
        <p:nvSpPr>
          <p:cNvPr id="34" name="Text 32"/>
          <p:cNvSpPr/>
          <p:nvPr/>
        </p:nvSpPr>
        <p:spPr>
          <a:xfrm>
            <a:off x="7772400" y="3456432"/>
            <a:ext cx="3931920" cy="219456"/>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What it means</a:t>
            </a:r>
            <a:endParaRPr lang="en-US" sz="900" dirty="0"/>
          </a:p>
        </p:txBody>
      </p:sp>
      <p:sp>
        <p:nvSpPr>
          <p:cNvPr id="35" name="Shape 33"/>
          <p:cNvSpPr/>
          <p:nvPr/>
        </p:nvSpPr>
        <p:spPr>
          <a:xfrm>
            <a:off x="658368" y="3685032"/>
            <a:ext cx="10881360" cy="283464"/>
          </a:xfrm>
          <a:prstGeom prst="rect">
            <a:avLst/>
          </a:prstGeom>
          <a:solidFill>
            <a:srgbClr val="F4F7FB"/>
          </a:solidFill>
          <a:ln/>
        </p:spPr>
      </p:sp>
      <p:sp>
        <p:nvSpPr>
          <p:cNvPr id="36" name="Text 34"/>
          <p:cNvSpPr/>
          <p:nvPr/>
        </p:nvSpPr>
        <p:spPr>
          <a:xfrm>
            <a:off x="731520" y="3703320"/>
            <a:ext cx="2560320" cy="265176"/>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Making the part</a:t>
            </a:r>
            <a:endParaRPr lang="en-US" sz="940" dirty="0"/>
          </a:p>
        </p:txBody>
      </p:sp>
      <p:sp>
        <p:nvSpPr>
          <p:cNvPr id="37" name="Text 35"/>
          <p:cNvSpPr/>
          <p:nvPr/>
        </p:nvSpPr>
        <p:spPr>
          <a:xfrm>
            <a:off x="3383280" y="3703320"/>
            <a:ext cx="2103120" cy="265176"/>
          </a:xfrm>
          <a:prstGeom prst="rect">
            <a:avLst/>
          </a:prstGeom>
          <a:noFill/>
          <a:ln/>
        </p:spPr>
        <p:txBody>
          <a:bodyPr wrap="square" lIns="0" tIns="0" rIns="0" bIns="0" rtlCol="0" anchor="ctr"/>
          <a:lstStyle/>
          <a:p>
            <a:pPr indent="0" marL="0">
              <a:buNone/>
            </a:pPr>
            <a:r>
              <a:rPr lang="en-US" sz="940" dirty="0">
                <a:solidFill>
                  <a:srgbClr val="16325C"/>
                </a:solidFill>
                <a:latin typeface="Calibri" pitchFamily="34" charset="0"/>
                <a:ea typeface="Calibri" pitchFamily="34" charset="-122"/>
                <a:cs typeface="Calibri" pitchFamily="34" charset="-120"/>
              </a:rPr>
              <a:t>£32.57</a:t>
            </a:r>
            <a:endParaRPr lang="en-US" sz="940" dirty="0"/>
          </a:p>
        </p:txBody>
      </p:sp>
      <p:sp>
        <p:nvSpPr>
          <p:cNvPr id="38" name="Text 36"/>
          <p:cNvSpPr/>
          <p:nvPr/>
        </p:nvSpPr>
        <p:spPr>
          <a:xfrm>
            <a:off x="5577840" y="3703320"/>
            <a:ext cx="2103120" cy="265176"/>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£5.67</a:t>
            </a:r>
            <a:endParaRPr lang="en-US" sz="940" dirty="0"/>
          </a:p>
        </p:txBody>
      </p:sp>
      <p:sp>
        <p:nvSpPr>
          <p:cNvPr id="39" name="Text 37"/>
          <p:cNvSpPr/>
          <p:nvPr/>
        </p:nvSpPr>
        <p:spPr>
          <a:xfrm>
            <a:off x="7772400" y="3703320"/>
            <a:ext cx="3931920" cy="265176"/>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One shot beats four machining operations</a:t>
            </a:r>
            <a:endParaRPr lang="en-US" sz="940" dirty="0"/>
          </a:p>
        </p:txBody>
      </p:sp>
      <p:sp>
        <p:nvSpPr>
          <p:cNvPr id="40" name="Text 38"/>
          <p:cNvSpPr/>
          <p:nvPr/>
        </p:nvSpPr>
        <p:spPr>
          <a:xfrm>
            <a:off x="731520" y="4005072"/>
            <a:ext cx="2560320" cy="265176"/>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Tooling per part</a:t>
            </a:r>
            <a:endParaRPr lang="en-US" sz="940" dirty="0"/>
          </a:p>
        </p:txBody>
      </p:sp>
      <p:sp>
        <p:nvSpPr>
          <p:cNvPr id="41" name="Text 39"/>
          <p:cNvSpPr/>
          <p:nvPr/>
        </p:nvSpPr>
        <p:spPr>
          <a:xfrm>
            <a:off x="3383280" y="4005072"/>
            <a:ext cx="2103120" cy="265176"/>
          </a:xfrm>
          <a:prstGeom prst="rect">
            <a:avLst/>
          </a:prstGeom>
          <a:noFill/>
          <a:ln/>
        </p:spPr>
        <p:txBody>
          <a:bodyPr wrap="square" lIns="0" tIns="0" rIns="0" bIns="0" rtlCol="0" anchor="ctr"/>
          <a:lstStyle/>
          <a:p>
            <a:pPr indent="0" marL="0">
              <a:buNone/>
            </a:pPr>
            <a:r>
              <a:rPr lang="en-US" sz="940" dirty="0">
                <a:solidFill>
                  <a:srgbClr val="16325C"/>
                </a:solidFill>
                <a:latin typeface="Calibri" pitchFamily="34" charset="0"/>
                <a:ea typeface="Calibri" pitchFamily="34" charset="-122"/>
                <a:cs typeface="Calibri" pitchFamily="34" charset="-120"/>
              </a:rPr>
              <a:t>£2.17</a:t>
            </a:r>
            <a:endParaRPr lang="en-US" sz="940" dirty="0"/>
          </a:p>
        </p:txBody>
      </p:sp>
      <p:sp>
        <p:nvSpPr>
          <p:cNvPr id="42" name="Text 40"/>
          <p:cNvSpPr/>
          <p:nvPr/>
        </p:nvSpPr>
        <p:spPr>
          <a:xfrm>
            <a:off x="5577840" y="4005072"/>
            <a:ext cx="2103120" cy="265176"/>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£11.20</a:t>
            </a:r>
            <a:endParaRPr lang="en-US" sz="940" dirty="0"/>
          </a:p>
        </p:txBody>
      </p:sp>
      <p:sp>
        <p:nvSpPr>
          <p:cNvPr id="43" name="Text 41"/>
          <p:cNvSpPr/>
          <p:nvPr/>
        </p:nvSpPr>
        <p:spPr>
          <a:xfrm>
            <a:off x="7772400" y="4005072"/>
            <a:ext cx="3931920" cy="265176"/>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The mould, not the machine, is the cost</a:t>
            </a:r>
            <a:endParaRPr lang="en-US" sz="940" dirty="0"/>
          </a:p>
        </p:txBody>
      </p:sp>
      <p:sp>
        <p:nvSpPr>
          <p:cNvPr id="44" name="Shape 42"/>
          <p:cNvSpPr/>
          <p:nvPr/>
        </p:nvSpPr>
        <p:spPr>
          <a:xfrm>
            <a:off x="658368" y="4288536"/>
            <a:ext cx="10881360" cy="283464"/>
          </a:xfrm>
          <a:prstGeom prst="rect">
            <a:avLst/>
          </a:prstGeom>
          <a:solidFill>
            <a:srgbClr val="F4F7FB"/>
          </a:solidFill>
          <a:ln/>
        </p:spPr>
      </p:sp>
      <p:sp>
        <p:nvSpPr>
          <p:cNvPr id="45" name="Text 43"/>
          <p:cNvSpPr/>
          <p:nvPr/>
        </p:nvSpPr>
        <p:spPr>
          <a:xfrm>
            <a:off x="731520" y="4306824"/>
            <a:ext cx="2560320" cy="265176"/>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Biggest single bucket</a:t>
            </a:r>
            <a:endParaRPr lang="en-US" sz="940" dirty="0"/>
          </a:p>
        </p:txBody>
      </p:sp>
      <p:sp>
        <p:nvSpPr>
          <p:cNvPr id="46" name="Text 44"/>
          <p:cNvSpPr/>
          <p:nvPr/>
        </p:nvSpPr>
        <p:spPr>
          <a:xfrm>
            <a:off x="3383280" y="4306824"/>
            <a:ext cx="2103120" cy="265176"/>
          </a:xfrm>
          <a:prstGeom prst="rect">
            <a:avLst/>
          </a:prstGeom>
          <a:noFill/>
          <a:ln/>
        </p:spPr>
        <p:txBody>
          <a:bodyPr wrap="square" lIns="0" tIns="0" rIns="0" bIns="0" rtlCol="0" anchor="ctr"/>
          <a:lstStyle/>
          <a:p>
            <a:pPr indent="0" marL="0">
              <a:buNone/>
            </a:pPr>
            <a:r>
              <a:rPr lang="en-US" sz="940" dirty="0">
                <a:solidFill>
                  <a:srgbClr val="16325C"/>
                </a:solidFill>
                <a:latin typeface="Calibri" pitchFamily="34" charset="0"/>
                <a:ea typeface="Calibri" pitchFamily="34" charset="-122"/>
                <a:cs typeface="Calibri" pitchFamily="34" charset="-120"/>
              </a:rPr>
              <a:t>Process 37%</a:t>
            </a:r>
            <a:endParaRPr lang="en-US" sz="940" dirty="0"/>
          </a:p>
        </p:txBody>
      </p:sp>
      <p:sp>
        <p:nvSpPr>
          <p:cNvPr id="47" name="Text 45"/>
          <p:cNvSpPr/>
          <p:nvPr/>
        </p:nvSpPr>
        <p:spPr>
          <a:xfrm>
            <a:off x="5577840" y="4306824"/>
            <a:ext cx="2103120" cy="265176"/>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Tooling 43%</a:t>
            </a:r>
            <a:endParaRPr lang="en-US" sz="940" dirty="0"/>
          </a:p>
        </p:txBody>
      </p:sp>
      <p:sp>
        <p:nvSpPr>
          <p:cNvPr id="48" name="Text 46"/>
          <p:cNvSpPr/>
          <p:nvPr/>
        </p:nvSpPr>
        <p:spPr>
          <a:xfrm>
            <a:off x="7772400" y="4306824"/>
            <a:ext cx="3931920" cy="265176"/>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Different bucket, so a different negotiation</a:t>
            </a:r>
            <a:endParaRPr lang="en-US" sz="940" dirty="0"/>
          </a:p>
        </p:txBody>
      </p:sp>
      <p:sp>
        <p:nvSpPr>
          <p:cNvPr id="49" name="Text 47"/>
          <p:cNvSpPr/>
          <p:nvPr/>
        </p:nvSpPr>
        <p:spPr>
          <a:xfrm>
            <a:off x="731520" y="4608576"/>
            <a:ext cx="2560320" cy="265176"/>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China vs UK gap</a:t>
            </a:r>
            <a:endParaRPr lang="en-US" sz="940" dirty="0"/>
          </a:p>
        </p:txBody>
      </p:sp>
      <p:sp>
        <p:nvSpPr>
          <p:cNvPr id="50" name="Text 48"/>
          <p:cNvSpPr/>
          <p:nvPr/>
        </p:nvSpPr>
        <p:spPr>
          <a:xfrm>
            <a:off x="3383280" y="4608576"/>
            <a:ext cx="2103120" cy="265176"/>
          </a:xfrm>
          <a:prstGeom prst="rect">
            <a:avLst/>
          </a:prstGeom>
          <a:noFill/>
          <a:ln/>
        </p:spPr>
        <p:txBody>
          <a:bodyPr wrap="square" lIns="0" tIns="0" rIns="0" bIns="0" rtlCol="0" anchor="ctr"/>
          <a:lstStyle/>
          <a:p>
            <a:pPr indent="0" marL="0">
              <a:buNone/>
            </a:pPr>
            <a:r>
              <a:rPr lang="en-US" sz="940" dirty="0">
                <a:solidFill>
                  <a:srgbClr val="16325C"/>
                </a:solidFill>
                <a:latin typeface="Calibri" pitchFamily="34" charset="0"/>
                <a:ea typeface="Calibri" pitchFamily="34" charset="-122"/>
                <a:cs typeface="Calibri" pitchFamily="34" charset="-120"/>
              </a:rPr>
              <a:t>55%</a:t>
            </a:r>
            <a:endParaRPr lang="en-US" sz="940" dirty="0"/>
          </a:p>
        </p:txBody>
      </p:sp>
      <p:sp>
        <p:nvSpPr>
          <p:cNvPr id="51" name="Text 49"/>
          <p:cNvSpPr/>
          <p:nvPr/>
        </p:nvSpPr>
        <p:spPr>
          <a:xfrm>
            <a:off x="5577840" y="4608576"/>
            <a:ext cx="2103120" cy="265176"/>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19%</a:t>
            </a:r>
            <a:endParaRPr lang="en-US" sz="940" dirty="0"/>
          </a:p>
        </p:txBody>
      </p:sp>
      <p:sp>
        <p:nvSpPr>
          <p:cNvPr id="52" name="Text 50"/>
          <p:cNvSpPr/>
          <p:nvPr/>
        </p:nvSpPr>
        <p:spPr>
          <a:xfrm>
            <a:off x="7772400" y="4608576"/>
            <a:ext cx="3931920" cy="265176"/>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Offshoring pays far less on a tooling-heavy part</a:t>
            </a:r>
            <a:endParaRPr lang="en-US" sz="940" dirty="0"/>
          </a:p>
        </p:txBody>
      </p:sp>
      <p:sp>
        <p:nvSpPr>
          <p:cNvPr id="53" name="Shape 51"/>
          <p:cNvSpPr/>
          <p:nvPr/>
        </p:nvSpPr>
        <p:spPr>
          <a:xfrm>
            <a:off x="658368" y="4892040"/>
            <a:ext cx="10881360" cy="283464"/>
          </a:xfrm>
          <a:prstGeom prst="rect">
            <a:avLst/>
          </a:prstGeom>
          <a:solidFill>
            <a:srgbClr val="F4F7FB"/>
          </a:solidFill>
          <a:ln/>
        </p:spPr>
      </p:sp>
      <p:sp>
        <p:nvSpPr>
          <p:cNvPr id="54" name="Text 52"/>
          <p:cNvSpPr/>
          <p:nvPr/>
        </p:nvSpPr>
        <p:spPr>
          <a:xfrm>
            <a:off x="731520" y="4910328"/>
            <a:ext cx="2560320" cy="265176"/>
          </a:xfrm>
          <a:prstGeom prst="rect">
            <a:avLst/>
          </a:prstGeom>
          <a:noFill/>
          <a:ln/>
        </p:spPr>
        <p:txBody>
          <a:bodyPr wrap="square" lIns="0" tIns="0" rIns="0" bIns="0" rtlCol="0" anchor="ctr"/>
          <a:lstStyle/>
          <a:p>
            <a:pPr indent="0" marL="0">
              <a:buNone/>
            </a:pPr>
            <a:r>
              <a:rPr lang="en-US" sz="940" b="1" dirty="0">
                <a:solidFill>
                  <a:srgbClr val="16325C"/>
                </a:solidFill>
                <a:latin typeface="Calibri" pitchFamily="34" charset="0"/>
                <a:ea typeface="Calibri" pitchFamily="34" charset="-122"/>
                <a:cs typeface="Calibri" pitchFamily="34" charset="-120"/>
              </a:rPr>
              <a:t>Where to push a supplier</a:t>
            </a:r>
            <a:endParaRPr lang="en-US" sz="940" dirty="0"/>
          </a:p>
        </p:txBody>
      </p:sp>
      <p:sp>
        <p:nvSpPr>
          <p:cNvPr id="55" name="Text 53"/>
          <p:cNvSpPr/>
          <p:nvPr/>
        </p:nvSpPr>
        <p:spPr>
          <a:xfrm>
            <a:off x="3383280" y="4910328"/>
            <a:ext cx="2103120" cy="265176"/>
          </a:xfrm>
          <a:prstGeom prst="rect">
            <a:avLst/>
          </a:prstGeom>
          <a:noFill/>
          <a:ln/>
        </p:spPr>
        <p:txBody>
          <a:bodyPr wrap="square" lIns="0" tIns="0" rIns="0" bIns="0" rtlCol="0" anchor="ctr"/>
          <a:lstStyle/>
          <a:p>
            <a:pPr indent="0" marL="0">
              <a:buNone/>
            </a:pPr>
            <a:r>
              <a:rPr lang="en-US" sz="940" dirty="0">
                <a:solidFill>
                  <a:srgbClr val="16325C"/>
                </a:solidFill>
                <a:latin typeface="Calibri" pitchFamily="34" charset="0"/>
                <a:ea typeface="Calibri" pitchFamily="34" charset="-122"/>
                <a:cs typeface="Calibri" pitchFamily="34" charset="-120"/>
              </a:rPr>
              <a:t>Cycle time, fixturing</a:t>
            </a:r>
            <a:endParaRPr lang="en-US" sz="940" dirty="0"/>
          </a:p>
        </p:txBody>
      </p:sp>
      <p:sp>
        <p:nvSpPr>
          <p:cNvPr id="56" name="Text 54"/>
          <p:cNvSpPr/>
          <p:nvPr/>
        </p:nvSpPr>
        <p:spPr>
          <a:xfrm>
            <a:off x="5577840" y="4910328"/>
            <a:ext cx="2103120" cy="265176"/>
          </a:xfrm>
          <a:prstGeom prst="rect">
            <a:avLst/>
          </a:prstGeom>
          <a:noFill/>
          <a:ln/>
        </p:spPr>
        <p:txBody>
          <a:bodyPr wrap="square" lIns="0" tIns="0" rIns="0" bIns="0" rtlCol="0" anchor="ctr"/>
          <a:lstStyle/>
          <a:p>
            <a:pPr indent="0" marL="0">
              <a:buNone/>
            </a:pPr>
            <a:r>
              <a:rPr lang="en-US" sz="940" b="1" dirty="0">
                <a:solidFill>
                  <a:srgbClr val="0D7D71"/>
                </a:solidFill>
                <a:latin typeface="Calibri" pitchFamily="34" charset="0"/>
                <a:ea typeface="Calibri" pitchFamily="34" charset="-122"/>
                <a:cs typeface="Calibri" pitchFamily="34" charset="-120"/>
              </a:rPr>
              <a:t>Programme volume, wall thickness</a:t>
            </a:r>
            <a:endParaRPr lang="en-US" sz="940" dirty="0"/>
          </a:p>
        </p:txBody>
      </p:sp>
      <p:sp>
        <p:nvSpPr>
          <p:cNvPr id="57" name="Text 55"/>
          <p:cNvSpPr/>
          <p:nvPr/>
        </p:nvSpPr>
        <p:spPr>
          <a:xfrm>
            <a:off x="7772400" y="4910328"/>
            <a:ext cx="3931920" cy="265176"/>
          </a:xfrm>
          <a:prstGeom prst="rect">
            <a:avLst/>
          </a:prstGeom>
          <a:noFill/>
          <a:ln/>
        </p:spPr>
        <p:txBody>
          <a:bodyPr wrap="square" lIns="0" tIns="0" rIns="0" bIns="0" rtlCol="0" anchor="ctr"/>
          <a:lstStyle/>
          <a:p>
            <a:pPr indent="0" marL="0">
              <a:buNone/>
            </a:pPr>
            <a:r>
              <a:rPr lang="en-US" sz="940" dirty="0">
                <a:solidFill>
                  <a:srgbClr val="3A4356"/>
                </a:solidFill>
                <a:latin typeface="Calibri" pitchFamily="34" charset="0"/>
                <a:ea typeface="Calibri" pitchFamily="34" charset="-122"/>
                <a:cs typeface="Calibri" pitchFamily="34" charset="-120"/>
              </a:rPr>
              <a:t>The tool tells you which lever exists</a:t>
            </a:r>
            <a:endParaRPr lang="en-US" sz="940" dirty="0"/>
          </a:p>
        </p:txBody>
      </p:sp>
      <p:sp>
        <p:nvSpPr>
          <p:cNvPr id="58" name="Shape 56"/>
          <p:cNvSpPr/>
          <p:nvPr/>
        </p:nvSpPr>
        <p:spPr>
          <a:xfrm>
            <a:off x="457200" y="5413248"/>
            <a:ext cx="11274552" cy="713232"/>
          </a:xfrm>
          <a:prstGeom prst="roundRect">
            <a:avLst>
              <a:gd name="adj" fmla="val 12821"/>
            </a:avLst>
          </a:prstGeom>
          <a:solidFill>
            <a:srgbClr val="16325C"/>
          </a:solidFill>
          <a:ln/>
        </p:spPr>
      </p:sp>
      <p:sp>
        <p:nvSpPr>
          <p:cNvPr id="59" name="Text 57"/>
          <p:cNvSpPr/>
          <p:nvPr/>
        </p:nvSpPr>
        <p:spPr>
          <a:xfrm>
            <a:off x="777240" y="5486400"/>
            <a:ext cx="10652760" cy="566928"/>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This is the whole argument for the tool:  </a:t>
            </a:r>
            <a:pPr indent="0" marL="0">
              <a:buNone/>
            </a:pPr>
            <a:r>
              <a:rPr lang="en-US" sz="1200" dirty="0">
                <a:solidFill>
                  <a:srgbClr val="FFFFFF"/>
                </a:solidFill>
                <a:latin typeface="Calibri" pitchFamily="34" charset="0"/>
                <a:ea typeface="Calibri" pitchFamily="34" charset="-122"/>
                <a:cs typeface="Calibri" pitchFamily="34" charset="-120"/>
              </a:rPr>
              <a:t>nobody could have told you in advance that the money was in machining on one part and in tooling on the other. The method finds it. Every time, on any part, without anyone having to already know the answer.</a:t>
            </a:r>
            <a:endParaRPr lang="en-US" sz="1200" dirty="0"/>
          </a:p>
        </p:txBody>
      </p:sp>
      <p:sp>
        <p:nvSpPr>
          <p:cNvPr id="60" name="Text 5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61" name="Text 5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43</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New: Gear Cutting Has Its Own Cost Model</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Asked for by cost engineering and the plant — a gear is not a milled part with teeth drawn on</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15568"/>
            <a:ext cx="11274552" cy="566928"/>
          </a:xfrm>
          <a:prstGeom prst="roundRect">
            <a:avLst>
              <a:gd name="adj" fmla="val 12903"/>
            </a:avLst>
          </a:prstGeom>
          <a:solidFill>
            <a:srgbClr val="FCF3E3"/>
          </a:solidFill>
          <a:ln w="15875">
            <a:solidFill>
              <a:srgbClr val="99651A"/>
            </a:solidFill>
            <a:prstDash val="solid"/>
          </a:ln>
        </p:spPr>
      </p:sp>
      <p:sp>
        <p:nvSpPr>
          <p:cNvPr id="8" name="Text 6"/>
          <p:cNvSpPr/>
          <p:nvPr/>
        </p:nvSpPr>
        <p:spPr>
          <a:xfrm>
            <a:off x="658368" y="1115568"/>
            <a:ext cx="10881360" cy="566928"/>
          </a:xfrm>
          <a:prstGeom prst="rect">
            <a:avLst/>
          </a:prstGeom>
          <a:noFill/>
          <a:ln/>
        </p:spPr>
        <p:txBody>
          <a:bodyPr wrap="square" lIns="0" tIns="0" rIns="0" bIns="0" rtlCol="0" anchor="ctr"/>
          <a:lstStyle/>
          <a:p>
            <a:pPr indent="0" marL="0">
              <a:buNone/>
            </a:pPr>
            <a:r>
              <a:rPr lang="en-US" sz="1100" b="1" dirty="0">
                <a:solidFill>
                  <a:srgbClr val="99651A"/>
                </a:solidFill>
                <a:latin typeface="Calibri" pitchFamily="34" charset="0"/>
                <a:ea typeface="Calibri" pitchFamily="34" charset="-122"/>
                <a:cs typeface="Calibri" pitchFamily="34" charset="-120"/>
              </a:rPr>
              <a:t>Before: </a:t>
            </a:r>
            <a:pPr indent="0" marL="0">
              <a:buNone/>
            </a:pPr>
            <a:r>
              <a:rPr lang="en-US" sz="1050" dirty="0">
                <a:solidFill>
                  <a:srgbClr val="3A4356"/>
                </a:solidFill>
                <a:latin typeface="Calibri" pitchFamily="34" charset="0"/>
                <a:ea typeface="Calibri" pitchFamily="34" charset="-122"/>
                <a:cs typeface="Calibri" pitchFamily="34" charset="-120"/>
              </a:rPr>
              <a:t>a transmission gear went through the machining model as a generic milled part. That model cannot see teeth, module or quality grade — and those three things are what a gear actually costs.</a:t>
            </a:r>
            <a:endParaRPr lang="en-US" sz="1100" dirty="0"/>
          </a:p>
        </p:txBody>
      </p:sp>
      <p:sp>
        <p:nvSpPr>
          <p:cNvPr id="9" name="Text 7"/>
          <p:cNvSpPr/>
          <p:nvPr/>
        </p:nvSpPr>
        <p:spPr>
          <a:xfrm>
            <a:off x="457200" y="1847088"/>
            <a:ext cx="11274552" cy="256032"/>
          </a:xfrm>
          <a:prstGeom prst="rect">
            <a:avLst/>
          </a:prstGeom>
          <a:noFill/>
          <a:ln/>
        </p:spPr>
        <p:txBody>
          <a:bodyPr wrap="square" lIns="0" tIns="0" rIns="0" bIns="0" rtlCol="0" anchor="ctr"/>
          <a:lstStyle/>
          <a:p>
            <a:pPr indent="0" marL="0">
              <a:buNone/>
            </a:pPr>
            <a:r>
              <a:rPr lang="en-US" sz="1250" b="1" dirty="0">
                <a:solidFill>
                  <a:srgbClr val="16325C"/>
                </a:solidFill>
                <a:latin typeface="Calibri" pitchFamily="34" charset="0"/>
                <a:ea typeface="Calibri" pitchFamily="34" charset="-122"/>
                <a:cs typeface="Calibri" pitchFamily="34" charset="-120"/>
              </a:rPr>
              <a:t>The idea that makes it work: a tighter quality grade adds OPERATIONS, it is not a multiplier</a:t>
            </a:r>
            <a:endParaRPr lang="en-US" sz="1250" dirty="0"/>
          </a:p>
        </p:txBody>
      </p:sp>
      <p:sp>
        <p:nvSpPr>
          <p:cNvPr id="10" name="Shape 8"/>
          <p:cNvSpPr/>
          <p:nvPr/>
        </p:nvSpPr>
        <p:spPr>
          <a:xfrm>
            <a:off x="457200" y="2212848"/>
            <a:ext cx="11274552" cy="530352"/>
          </a:xfrm>
          <a:prstGeom prst="roundRect">
            <a:avLst>
              <a:gd name="adj" fmla="val 10345"/>
            </a:avLst>
          </a:prstGeom>
          <a:solidFill>
            <a:srgbClr val="FFFFFF"/>
          </a:solidFill>
          <a:ln w="9525">
            <a:solidFill>
              <a:srgbClr val="DCE3EE"/>
            </a:solidFill>
            <a:prstDash val="solid"/>
          </a:ln>
        </p:spPr>
      </p:sp>
      <p:sp>
        <p:nvSpPr>
          <p:cNvPr id="11" name="Shape 9"/>
          <p:cNvSpPr/>
          <p:nvPr/>
        </p:nvSpPr>
        <p:spPr>
          <a:xfrm>
            <a:off x="457200" y="2212848"/>
            <a:ext cx="50292" cy="530352"/>
          </a:xfrm>
          <a:prstGeom prst="rect">
            <a:avLst/>
          </a:prstGeom>
          <a:solidFill>
            <a:srgbClr val="2A7F50"/>
          </a:solidFill>
          <a:ln/>
        </p:spPr>
      </p:sp>
      <p:sp>
        <p:nvSpPr>
          <p:cNvPr id="12" name="Text 10"/>
          <p:cNvSpPr/>
          <p:nvPr/>
        </p:nvSpPr>
        <p:spPr>
          <a:xfrm>
            <a:off x="658368" y="2212848"/>
            <a:ext cx="2834640" cy="53035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ISO class 9 — as cut</a:t>
            </a:r>
            <a:endParaRPr lang="en-US" sz="1050" dirty="0"/>
          </a:p>
        </p:txBody>
      </p:sp>
      <p:sp>
        <p:nvSpPr>
          <p:cNvPr id="13" name="Shape 11"/>
          <p:cNvSpPr/>
          <p:nvPr/>
        </p:nvSpPr>
        <p:spPr>
          <a:xfrm>
            <a:off x="3611880" y="2295144"/>
            <a:ext cx="1078992" cy="365760"/>
          </a:xfrm>
          <a:prstGeom prst="roundRect">
            <a:avLst>
              <a:gd name="adj" fmla="val 12500"/>
            </a:avLst>
          </a:prstGeom>
          <a:solidFill>
            <a:srgbClr val="FFFFFF"/>
          </a:solidFill>
          <a:ln w="9525">
            <a:solidFill>
              <a:srgbClr val="686F7D"/>
            </a:solidFill>
            <a:prstDash val="solid"/>
          </a:ln>
        </p:spPr>
      </p:sp>
      <p:sp>
        <p:nvSpPr>
          <p:cNvPr id="14" name="Text 12"/>
          <p:cNvSpPr/>
          <p:nvPr/>
        </p:nvSpPr>
        <p:spPr>
          <a:xfrm>
            <a:off x="3611880" y="2295144"/>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Hob</a:t>
            </a:r>
            <a:endParaRPr lang="en-US" sz="820" dirty="0"/>
          </a:p>
        </p:txBody>
      </p:sp>
      <p:sp>
        <p:nvSpPr>
          <p:cNvPr id="15" name="Shape 13"/>
          <p:cNvSpPr/>
          <p:nvPr/>
        </p:nvSpPr>
        <p:spPr>
          <a:xfrm>
            <a:off x="4732020" y="2478024"/>
            <a:ext cx="118872" cy="0"/>
          </a:xfrm>
          <a:prstGeom prst="line">
            <a:avLst/>
          </a:prstGeom>
          <a:noFill/>
          <a:ln w="19050">
            <a:solidFill>
              <a:srgbClr val="686F7D"/>
            </a:solidFill>
            <a:prstDash val="solid"/>
            <a:tailEnd type="triangle"/>
          </a:ln>
        </p:spPr>
      </p:sp>
      <p:sp>
        <p:nvSpPr>
          <p:cNvPr id="16" name="Shape 14"/>
          <p:cNvSpPr/>
          <p:nvPr/>
        </p:nvSpPr>
        <p:spPr>
          <a:xfrm>
            <a:off x="4892040" y="2295144"/>
            <a:ext cx="1078992" cy="365760"/>
          </a:xfrm>
          <a:prstGeom prst="roundRect">
            <a:avLst>
              <a:gd name="adj" fmla="val 12500"/>
            </a:avLst>
          </a:prstGeom>
          <a:solidFill>
            <a:srgbClr val="FFFFFF"/>
          </a:solidFill>
          <a:ln w="9525">
            <a:solidFill>
              <a:srgbClr val="686F7D"/>
            </a:solidFill>
            <a:prstDash val="solid"/>
          </a:ln>
        </p:spPr>
      </p:sp>
      <p:sp>
        <p:nvSpPr>
          <p:cNvPr id="17" name="Text 15"/>
          <p:cNvSpPr/>
          <p:nvPr/>
        </p:nvSpPr>
        <p:spPr>
          <a:xfrm>
            <a:off x="4892040" y="2295144"/>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Deburr</a:t>
            </a:r>
            <a:endParaRPr lang="en-US" sz="820" dirty="0"/>
          </a:p>
        </p:txBody>
      </p:sp>
      <p:sp>
        <p:nvSpPr>
          <p:cNvPr id="18" name="Shape 16"/>
          <p:cNvSpPr/>
          <p:nvPr/>
        </p:nvSpPr>
        <p:spPr>
          <a:xfrm>
            <a:off x="6012180" y="2478024"/>
            <a:ext cx="118872" cy="0"/>
          </a:xfrm>
          <a:prstGeom prst="line">
            <a:avLst/>
          </a:prstGeom>
          <a:noFill/>
          <a:ln w="19050">
            <a:solidFill>
              <a:srgbClr val="686F7D"/>
            </a:solidFill>
            <a:prstDash val="solid"/>
            <a:tailEnd type="triangle"/>
          </a:ln>
        </p:spPr>
      </p:sp>
      <p:sp>
        <p:nvSpPr>
          <p:cNvPr id="19" name="Shape 17"/>
          <p:cNvSpPr/>
          <p:nvPr/>
        </p:nvSpPr>
        <p:spPr>
          <a:xfrm>
            <a:off x="6172200" y="2295144"/>
            <a:ext cx="1078992" cy="365760"/>
          </a:xfrm>
          <a:prstGeom prst="roundRect">
            <a:avLst>
              <a:gd name="adj" fmla="val 12500"/>
            </a:avLst>
          </a:prstGeom>
          <a:solidFill>
            <a:srgbClr val="FFFFFF"/>
          </a:solidFill>
          <a:ln w="9525">
            <a:solidFill>
              <a:srgbClr val="686F7D"/>
            </a:solidFill>
            <a:prstDash val="solid"/>
          </a:ln>
        </p:spPr>
      </p:sp>
      <p:sp>
        <p:nvSpPr>
          <p:cNvPr id="20" name="Text 18"/>
          <p:cNvSpPr/>
          <p:nvPr/>
        </p:nvSpPr>
        <p:spPr>
          <a:xfrm>
            <a:off x="6172200" y="2295144"/>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Inspect</a:t>
            </a:r>
            <a:endParaRPr lang="en-US" sz="820" dirty="0"/>
          </a:p>
        </p:txBody>
      </p:sp>
      <p:sp>
        <p:nvSpPr>
          <p:cNvPr id="21" name="Text 19"/>
          <p:cNvSpPr/>
          <p:nvPr/>
        </p:nvSpPr>
        <p:spPr>
          <a:xfrm>
            <a:off x="9966960" y="2212848"/>
            <a:ext cx="914400" cy="530352"/>
          </a:xfrm>
          <a:prstGeom prst="rect">
            <a:avLst/>
          </a:prstGeom>
          <a:noFill/>
          <a:ln/>
        </p:spPr>
        <p:txBody>
          <a:bodyPr wrap="square" lIns="0" tIns="0" rIns="0" bIns="0" rtlCol="0" anchor="ctr"/>
          <a:lstStyle/>
          <a:p>
            <a:pPr algn="r" indent="0" marL="0">
              <a:buNone/>
            </a:pPr>
            <a:r>
              <a:rPr lang="en-US" sz="1500" b="1" dirty="0">
                <a:solidFill>
                  <a:srgbClr val="2A7F50"/>
                </a:solidFill>
                <a:latin typeface="Cambria" pitchFamily="34" charset="0"/>
                <a:ea typeface="Cambria" pitchFamily="34" charset="-122"/>
                <a:cs typeface="Cambria" pitchFamily="34" charset="-120"/>
              </a:rPr>
              <a:t>£8.26</a:t>
            </a:r>
            <a:endParaRPr lang="en-US" sz="1500" dirty="0"/>
          </a:p>
        </p:txBody>
      </p:sp>
      <p:sp>
        <p:nvSpPr>
          <p:cNvPr id="22" name="Text 20"/>
          <p:cNvSpPr/>
          <p:nvPr/>
        </p:nvSpPr>
        <p:spPr>
          <a:xfrm>
            <a:off x="10927080" y="2212848"/>
            <a:ext cx="777240" cy="530352"/>
          </a:xfrm>
          <a:prstGeom prst="rect">
            <a:avLst/>
          </a:prstGeom>
          <a:noFill/>
          <a:ln/>
        </p:spPr>
        <p:txBody>
          <a:bodyPr wrap="square" lIns="0" tIns="0" rIns="0" bIns="0" rtlCol="0" anchor="ctr"/>
          <a:lstStyle/>
          <a:p>
            <a:pPr algn="r" indent="0" marL="0">
              <a:buNone/>
            </a:pPr>
            <a:r>
              <a:rPr lang="en-US" sz="950" dirty="0">
                <a:solidFill>
                  <a:srgbClr val="686F7D"/>
                </a:solidFill>
                <a:latin typeface="Calibri" pitchFamily="34" charset="0"/>
                <a:ea typeface="Calibri" pitchFamily="34" charset="-122"/>
                <a:cs typeface="Calibri" pitchFamily="34" charset="-120"/>
              </a:rPr>
              <a:t>95 s</a:t>
            </a:r>
            <a:endParaRPr lang="en-US" sz="950" dirty="0"/>
          </a:p>
        </p:txBody>
      </p:sp>
      <p:sp>
        <p:nvSpPr>
          <p:cNvPr id="23" name="Shape 21"/>
          <p:cNvSpPr/>
          <p:nvPr/>
        </p:nvSpPr>
        <p:spPr>
          <a:xfrm>
            <a:off x="457200" y="2816352"/>
            <a:ext cx="11274552" cy="530352"/>
          </a:xfrm>
          <a:prstGeom prst="roundRect">
            <a:avLst>
              <a:gd name="adj" fmla="val 10345"/>
            </a:avLst>
          </a:prstGeom>
          <a:solidFill>
            <a:srgbClr val="FFFFFF"/>
          </a:solidFill>
          <a:ln w="9525">
            <a:solidFill>
              <a:srgbClr val="DCE3EE"/>
            </a:solidFill>
            <a:prstDash val="solid"/>
          </a:ln>
        </p:spPr>
      </p:sp>
      <p:sp>
        <p:nvSpPr>
          <p:cNvPr id="24" name="Shape 22"/>
          <p:cNvSpPr/>
          <p:nvPr/>
        </p:nvSpPr>
        <p:spPr>
          <a:xfrm>
            <a:off x="457200" y="2816352"/>
            <a:ext cx="50292" cy="530352"/>
          </a:xfrm>
          <a:prstGeom prst="rect">
            <a:avLst/>
          </a:prstGeom>
          <a:solidFill>
            <a:srgbClr val="99651A"/>
          </a:solidFill>
          <a:ln/>
        </p:spPr>
      </p:sp>
      <p:sp>
        <p:nvSpPr>
          <p:cNvPr id="25" name="Text 23"/>
          <p:cNvSpPr/>
          <p:nvPr/>
        </p:nvSpPr>
        <p:spPr>
          <a:xfrm>
            <a:off x="658368" y="2816352"/>
            <a:ext cx="2834640" cy="53035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ISO class 6 — hardened + ground</a:t>
            </a:r>
            <a:endParaRPr lang="en-US" sz="1050" dirty="0"/>
          </a:p>
        </p:txBody>
      </p:sp>
      <p:sp>
        <p:nvSpPr>
          <p:cNvPr id="26" name="Shape 24"/>
          <p:cNvSpPr/>
          <p:nvPr/>
        </p:nvSpPr>
        <p:spPr>
          <a:xfrm>
            <a:off x="3611880" y="2898648"/>
            <a:ext cx="1078992" cy="365760"/>
          </a:xfrm>
          <a:prstGeom prst="roundRect">
            <a:avLst>
              <a:gd name="adj" fmla="val 12500"/>
            </a:avLst>
          </a:prstGeom>
          <a:solidFill>
            <a:srgbClr val="FFFFFF"/>
          </a:solidFill>
          <a:ln w="9525">
            <a:solidFill>
              <a:srgbClr val="686F7D"/>
            </a:solidFill>
            <a:prstDash val="solid"/>
          </a:ln>
        </p:spPr>
      </p:sp>
      <p:sp>
        <p:nvSpPr>
          <p:cNvPr id="27" name="Text 25"/>
          <p:cNvSpPr/>
          <p:nvPr/>
        </p:nvSpPr>
        <p:spPr>
          <a:xfrm>
            <a:off x="3611880" y="2898648"/>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Hob</a:t>
            </a:r>
            <a:endParaRPr lang="en-US" sz="820" dirty="0"/>
          </a:p>
        </p:txBody>
      </p:sp>
      <p:sp>
        <p:nvSpPr>
          <p:cNvPr id="28" name="Shape 26"/>
          <p:cNvSpPr/>
          <p:nvPr/>
        </p:nvSpPr>
        <p:spPr>
          <a:xfrm>
            <a:off x="4732020" y="3081528"/>
            <a:ext cx="118872" cy="0"/>
          </a:xfrm>
          <a:prstGeom prst="line">
            <a:avLst/>
          </a:prstGeom>
          <a:noFill/>
          <a:ln w="19050">
            <a:solidFill>
              <a:srgbClr val="686F7D"/>
            </a:solidFill>
            <a:prstDash val="solid"/>
            <a:tailEnd type="triangle"/>
          </a:ln>
        </p:spPr>
      </p:sp>
      <p:sp>
        <p:nvSpPr>
          <p:cNvPr id="29" name="Shape 27"/>
          <p:cNvSpPr/>
          <p:nvPr/>
        </p:nvSpPr>
        <p:spPr>
          <a:xfrm>
            <a:off x="4892040" y="2898648"/>
            <a:ext cx="1078992" cy="365760"/>
          </a:xfrm>
          <a:prstGeom prst="roundRect">
            <a:avLst>
              <a:gd name="adj" fmla="val 12500"/>
            </a:avLst>
          </a:prstGeom>
          <a:solidFill>
            <a:srgbClr val="FFFFFF"/>
          </a:solidFill>
          <a:ln w="9525">
            <a:solidFill>
              <a:srgbClr val="686F7D"/>
            </a:solidFill>
            <a:prstDash val="solid"/>
          </a:ln>
        </p:spPr>
      </p:sp>
      <p:sp>
        <p:nvSpPr>
          <p:cNvPr id="30" name="Text 28"/>
          <p:cNvSpPr/>
          <p:nvPr/>
        </p:nvSpPr>
        <p:spPr>
          <a:xfrm>
            <a:off x="4892040" y="2898648"/>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Deburr</a:t>
            </a:r>
            <a:endParaRPr lang="en-US" sz="820" dirty="0"/>
          </a:p>
        </p:txBody>
      </p:sp>
      <p:sp>
        <p:nvSpPr>
          <p:cNvPr id="31" name="Shape 29"/>
          <p:cNvSpPr/>
          <p:nvPr/>
        </p:nvSpPr>
        <p:spPr>
          <a:xfrm>
            <a:off x="6012180" y="3081528"/>
            <a:ext cx="118872" cy="0"/>
          </a:xfrm>
          <a:prstGeom prst="line">
            <a:avLst/>
          </a:prstGeom>
          <a:noFill/>
          <a:ln w="19050">
            <a:solidFill>
              <a:srgbClr val="686F7D"/>
            </a:solidFill>
            <a:prstDash val="solid"/>
            <a:tailEnd type="triangle"/>
          </a:ln>
        </p:spPr>
      </p:sp>
      <p:sp>
        <p:nvSpPr>
          <p:cNvPr id="32" name="Shape 30"/>
          <p:cNvSpPr/>
          <p:nvPr/>
        </p:nvSpPr>
        <p:spPr>
          <a:xfrm>
            <a:off x="6172200" y="2898648"/>
            <a:ext cx="1078992" cy="365760"/>
          </a:xfrm>
          <a:prstGeom prst="roundRect">
            <a:avLst>
              <a:gd name="adj" fmla="val 12500"/>
            </a:avLst>
          </a:prstGeom>
          <a:solidFill>
            <a:srgbClr val="99651A"/>
          </a:solidFill>
          <a:ln w="15875">
            <a:solidFill>
              <a:srgbClr val="99651A"/>
            </a:solidFill>
            <a:prstDash val="solid"/>
          </a:ln>
        </p:spPr>
      </p:sp>
      <p:sp>
        <p:nvSpPr>
          <p:cNvPr id="33" name="Text 31"/>
          <p:cNvSpPr/>
          <p:nvPr/>
        </p:nvSpPr>
        <p:spPr>
          <a:xfrm>
            <a:off x="6172200" y="2898648"/>
            <a:ext cx="1078992" cy="365760"/>
          </a:xfrm>
          <a:prstGeom prst="rect">
            <a:avLst/>
          </a:prstGeom>
          <a:noFill/>
          <a:ln/>
        </p:spPr>
        <p:txBody>
          <a:bodyPr wrap="square" lIns="0" tIns="0" rIns="0" bIns="0" rtlCol="0" anchor="ctr"/>
          <a:lstStyle/>
          <a:p>
            <a:pPr algn="ctr" indent="0" marL="0">
              <a:buNone/>
            </a:pPr>
            <a:r>
              <a:rPr lang="en-US" sz="820" b="1" dirty="0">
                <a:solidFill>
                  <a:srgbClr val="FFFFFF"/>
                </a:solidFill>
                <a:latin typeface="Calibri" pitchFamily="34" charset="0"/>
                <a:ea typeface="Calibri" pitchFamily="34" charset="-122"/>
                <a:cs typeface="Calibri" pitchFamily="34" charset="-120"/>
              </a:rPr>
              <a:t>Carburise</a:t>
            </a:r>
            <a:endParaRPr lang="en-US" sz="820" dirty="0"/>
          </a:p>
        </p:txBody>
      </p:sp>
      <p:sp>
        <p:nvSpPr>
          <p:cNvPr id="34" name="Shape 32"/>
          <p:cNvSpPr/>
          <p:nvPr/>
        </p:nvSpPr>
        <p:spPr>
          <a:xfrm>
            <a:off x="7292340" y="3081528"/>
            <a:ext cx="118872" cy="0"/>
          </a:xfrm>
          <a:prstGeom prst="line">
            <a:avLst/>
          </a:prstGeom>
          <a:noFill/>
          <a:ln w="19050">
            <a:solidFill>
              <a:srgbClr val="686F7D"/>
            </a:solidFill>
            <a:prstDash val="solid"/>
            <a:tailEnd type="triangle"/>
          </a:ln>
        </p:spPr>
      </p:sp>
      <p:sp>
        <p:nvSpPr>
          <p:cNvPr id="35" name="Shape 33"/>
          <p:cNvSpPr/>
          <p:nvPr/>
        </p:nvSpPr>
        <p:spPr>
          <a:xfrm>
            <a:off x="7452360" y="2898648"/>
            <a:ext cx="1078992" cy="365760"/>
          </a:xfrm>
          <a:prstGeom prst="roundRect">
            <a:avLst>
              <a:gd name="adj" fmla="val 12500"/>
            </a:avLst>
          </a:prstGeom>
          <a:solidFill>
            <a:srgbClr val="99651A"/>
          </a:solidFill>
          <a:ln w="15875">
            <a:solidFill>
              <a:srgbClr val="99651A"/>
            </a:solidFill>
            <a:prstDash val="solid"/>
          </a:ln>
        </p:spPr>
      </p:sp>
      <p:sp>
        <p:nvSpPr>
          <p:cNvPr id="36" name="Text 34"/>
          <p:cNvSpPr/>
          <p:nvPr/>
        </p:nvSpPr>
        <p:spPr>
          <a:xfrm>
            <a:off x="7452360" y="2898648"/>
            <a:ext cx="1078992" cy="365760"/>
          </a:xfrm>
          <a:prstGeom prst="rect">
            <a:avLst/>
          </a:prstGeom>
          <a:noFill/>
          <a:ln/>
        </p:spPr>
        <p:txBody>
          <a:bodyPr wrap="square" lIns="0" tIns="0" rIns="0" bIns="0" rtlCol="0" anchor="ctr"/>
          <a:lstStyle/>
          <a:p>
            <a:pPr algn="ctr" indent="0" marL="0">
              <a:buNone/>
            </a:pPr>
            <a:r>
              <a:rPr lang="en-US" sz="820" b="1" dirty="0">
                <a:solidFill>
                  <a:srgbClr val="FFFFFF"/>
                </a:solidFill>
                <a:latin typeface="Calibri" pitchFamily="34" charset="0"/>
                <a:ea typeface="Calibri" pitchFamily="34" charset="-122"/>
                <a:cs typeface="Calibri" pitchFamily="34" charset="-120"/>
              </a:rPr>
              <a:t>Grind</a:t>
            </a:r>
            <a:endParaRPr lang="en-US" sz="820" dirty="0"/>
          </a:p>
        </p:txBody>
      </p:sp>
      <p:sp>
        <p:nvSpPr>
          <p:cNvPr id="37" name="Shape 35"/>
          <p:cNvSpPr/>
          <p:nvPr/>
        </p:nvSpPr>
        <p:spPr>
          <a:xfrm>
            <a:off x="8572500" y="3081528"/>
            <a:ext cx="118872" cy="0"/>
          </a:xfrm>
          <a:prstGeom prst="line">
            <a:avLst/>
          </a:prstGeom>
          <a:noFill/>
          <a:ln w="19050">
            <a:solidFill>
              <a:srgbClr val="686F7D"/>
            </a:solidFill>
            <a:prstDash val="solid"/>
            <a:tailEnd type="triangle"/>
          </a:ln>
        </p:spPr>
      </p:sp>
      <p:sp>
        <p:nvSpPr>
          <p:cNvPr id="38" name="Shape 36"/>
          <p:cNvSpPr/>
          <p:nvPr/>
        </p:nvSpPr>
        <p:spPr>
          <a:xfrm>
            <a:off x="8732520" y="2898648"/>
            <a:ext cx="1078992" cy="365760"/>
          </a:xfrm>
          <a:prstGeom prst="roundRect">
            <a:avLst>
              <a:gd name="adj" fmla="val 12500"/>
            </a:avLst>
          </a:prstGeom>
          <a:solidFill>
            <a:srgbClr val="FFFFFF"/>
          </a:solidFill>
          <a:ln w="9525">
            <a:solidFill>
              <a:srgbClr val="686F7D"/>
            </a:solidFill>
            <a:prstDash val="solid"/>
          </a:ln>
        </p:spPr>
      </p:sp>
      <p:sp>
        <p:nvSpPr>
          <p:cNvPr id="39" name="Text 37"/>
          <p:cNvSpPr/>
          <p:nvPr/>
        </p:nvSpPr>
        <p:spPr>
          <a:xfrm>
            <a:off x="8732520" y="2898648"/>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Inspect</a:t>
            </a:r>
            <a:endParaRPr lang="en-US" sz="820" dirty="0"/>
          </a:p>
        </p:txBody>
      </p:sp>
      <p:sp>
        <p:nvSpPr>
          <p:cNvPr id="40" name="Text 38"/>
          <p:cNvSpPr/>
          <p:nvPr/>
        </p:nvSpPr>
        <p:spPr>
          <a:xfrm>
            <a:off x="9966960" y="2816352"/>
            <a:ext cx="914400" cy="530352"/>
          </a:xfrm>
          <a:prstGeom prst="rect">
            <a:avLst/>
          </a:prstGeom>
          <a:noFill/>
          <a:ln/>
        </p:spPr>
        <p:txBody>
          <a:bodyPr wrap="square" lIns="0" tIns="0" rIns="0" bIns="0" rtlCol="0" anchor="ctr"/>
          <a:lstStyle/>
          <a:p>
            <a:pPr algn="r" indent="0" marL="0">
              <a:buNone/>
            </a:pPr>
            <a:r>
              <a:rPr lang="en-US" sz="1500" b="1" dirty="0">
                <a:solidFill>
                  <a:srgbClr val="99651A"/>
                </a:solidFill>
                <a:latin typeface="Cambria" pitchFamily="34" charset="0"/>
                <a:ea typeface="Cambria" pitchFamily="34" charset="-122"/>
                <a:cs typeface="Cambria" pitchFamily="34" charset="-120"/>
              </a:rPr>
              <a:t>£13.47</a:t>
            </a:r>
            <a:endParaRPr lang="en-US" sz="1500" dirty="0"/>
          </a:p>
        </p:txBody>
      </p:sp>
      <p:sp>
        <p:nvSpPr>
          <p:cNvPr id="41" name="Text 39"/>
          <p:cNvSpPr/>
          <p:nvPr/>
        </p:nvSpPr>
        <p:spPr>
          <a:xfrm>
            <a:off x="10927080" y="2816352"/>
            <a:ext cx="777240" cy="530352"/>
          </a:xfrm>
          <a:prstGeom prst="rect">
            <a:avLst/>
          </a:prstGeom>
          <a:noFill/>
          <a:ln/>
        </p:spPr>
        <p:txBody>
          <a:bodyPr wrap="square" lIns="0" tIns="0" rIns="0" bIns="0" rtlCol="0" anchor="ctr"/>
          <a:lstStyle/>
          <a:p>
            <a:pPr algn="r" indent="0" marL="0">
              <a:buNone/>
            </a:pPr>
            <a:r>
              <a:rPr lang="en-US" sz="950" dirty="0">
                <a:solidFill>
                  <a:srgbClr val="686F7D"/>
                </a:solidFill>
                <a:latin typeface="Calibri" pitchFamily="34" charset="0"/>
                <a:ea typeface="Calibri" pitchFamily="34" charset="-122"/>
                <a:cs typeface="Calibri" pitchFamily="34" charset="-120"/>
              </a:rPr>
              <a:t>141 s</a:t>
            </a:r>
            <a:endParaRPr lang="en-US" sz="950" dirty="0"/>
          </a:p>
        </p:txBody>
      </p:sp>
      <p:sp>
        <p:nvSpPr>
          <p:cNvPr id="42" name="Shape 40"/>
          <p:cNvSpPr/>
          <p:nvPr/>
        </p:nvSpPr>
        <p:spPr>
          <a:xfrm>
            <a:off x="457200" y="3419856"/>
            <a:ext cx="11274552" cy="530352"/>
          </a:xfrm>
          <a:prstGeom prst="roundRect">
            <a:avLst>
              <a:gd name="adj" fmla="val 10345"/>
            </a:avLst>
          </a:prstGeom>
          <a:solidFill>
            <a:srgbClr val="FFFFFF"/>
          </a:solidFill>
          <a:ln w="9525">
            <a:solidFill>
              <a:srgbClr val="DCE3EE"/>
            </a:solidFill>
            <a:prstDash val="solid"/>
          </a:ln>
        </p:spPr>
      </p:sp>
      <p:sp>
        <p:nvSpPr>
          <p:cNvPr id="43" name="Shape 41"/>
          <p:cNvSpPr/>
          <p:nvPr/>
        </p:nvSpPr>
        <p:spPr>
          <a:xfrm>
            <a:off x="457200" y="3419856"/>
            <a:ext cx="50292" cy="530352"/>
          </a:xfrm>
          <a:prstGeom prst="rect">
            <a:avLst/>
          </a:prstGeom>
          <a:solidFill>
            <a:srgbClr val="1D6FB8"/>
          </a:solidFill>
          <a:ln/>
        </p:spPr>
      </p:sp>
      <p:sp>
        <p:nvSpPr>
          <p:cNvPr id="44" name="Text 42"/>
          <p:cNvSpPr/>
          <p:nvPr/>
        </p:nvSpPr>
        <p:spPr>
          <a:xfrm>
            <a:off x="658368" y="3419856"/>
            <a:ext cx="2834640" cy="530352"/>
          </a:xfrm>
          <a:prstGeom prst="rect">
            <a:avLst/>
          </a:prstGeom>
          <a:noFill/>
          <a:ln/>
        </p:spPr>
        <p:txBody>
          <a:bodyPr wrap="square" lIns="0" tIns="0" rIns="0" bIns="0" rtlCol="0" anchor="ctr"/>
          <a:lstStyle/>
          <a:p>
            <a:pPr indent="0" marL="0">
              <a:buNone/>
            </a:pPr>
            <a:r>
              <a:rPr lang="en-US" sz="1050" b="1" dirty="0">
                <a:solidFill>
                  <a:srgbClr val="16325C"/>
                </a:solidFill>
                <a:latin typeface="Calibri" pitchFamily="34" charset="0"/>
                <a:ea typeface="Calibri" pitchFamily="34" charset="-122"/>
                <a:cs typeface="Calibri" pitchFamily="34" charset="-120"/>
              </a:rPr>
              <a:t>Internal ring gear, class 7</a:t>
            </a:r>
            <a:endParaRPr lang="en-US" sz="1050" dirty="0"/>
          </a:p>
        </p:txBody>
      </p:sp>
      <p:sp>
        <p:nvSpPr>
          <p:cNvPr id="45" name="Shape 43"/>
          <p:cNvSpPr/>
          <p:nvPr/>
        </p:nvSpPr>
        <p:spPr>
          <a:xfrm>
            <a:off x="3611880" y="3502152"/>
            <a:ext cx="1078992" cy="365760"/>
          </a:xfrm>
          <a:prstGeom prst="roundRect">
            <a:avLst>
              <a:gd name="adj" fmla="val 12500"/>
            </a:avLst>
          </a:prstGeom>
          <a:solidFill>
            <a:srgbClr val="FFFFFF"/>
          </a:solidFill>
          <a:ln w="9525">
            <a:solidFill>
              <a:srgbClr val="686F7D"/>
            </a:solidFill>
            <a:prstDash val="solid"/>
          </a:ln>
        </p:spPr>
      </p:sp>
      <p:sp>
        <p:nvSpPr>
          <p:cNvPr id="46" name="Text 44"/>
          <p:cNvSpPr/>
          <p:nvPr/>
        </p:nvSpPr>
        <p:spPr>
          <a:xfrm>
            <a:off x="3611880" y="3502152"/>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Power skive</a:t>
            </a:r>
            <a:endParaRPr lang="en-US" sz="820" dirty="0"/>
          </a:p>
        </p:txBody>
      </p:sp>
      <p:sp>
        <p:nvSpPr>
          <p:cNvPr id="47" name="Shape 45"/>
          <p:cNvSpPr/>
          <p:nvPr/>
        </p:nvSpPr>
        <p:spPr>
          <a:xfrm>
            <a:off x="4732020" y="3685032"/>
            <a:ext cx="118872" cy="0"/>
          </a:xfrm>
          <a:prstGeom prst="line">
            <a:avLst/>
          </a:prstGeom>
          <a:noFill/>
          <a:ln w="19050">
            <a:solidFill>
              <a:srgbClr val="686F7D"/>
            </a:solidFill>
            <a:prstDash val="solid"/>
            <a:tailEnd type="triangle"/>
          </a:ln>
        </p:spPr>
      </p:sp>
      <p:sp>
        <p:nvSpPr>
          <p:cNvPr id="48" name="Shape 46"/>
          <p:cNvSpPr/>
          <p:nvPr/>
        </p:nvSpPr>
        <p:spPr>
          <a:xfrm>
            <a:off x="4892040" y="3502152"/>
            <a:ext cx="1078992" cy="365760"/>
          </a:xfrm>
          <a:prstGeom prst="roundRect">
            <a:avLst>
              <a:gd name="adj" fmla="val 12500"/>
            </a:avLst>
          </a:prstGeom>
          <a:solidFill>
            <a:srgbClr val="FFFFFF"/>
          </a:solidFill>
          <a:ln w="9525">
            <a:solidFill>
              <a:srgbClr val="686F7D"/>
            </a:solidFill>
            <a:prstDash val="solid"/>
          </a:ln>
        </p:spPr>
      </p:sp>
      <p:sp>
        <p:nvSpPr>
          <p:cNvPr id="49" name="Text 47"/>
          <p:cNvSpPr/>
          <p:nvPr/>
        </p:nvSpPr>
        <p:spPr>
          <a:xfrm>
            <a:off x="4892040" y="3502152"/>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Deburr</a:t>
            </a:r>
            <a:endParaRPr lang="en-US" sz="820" dirty="0"/>
          </a:p>
        </p:txBody>
      </p:sp>
      <p:sp>
        <p:nvSpPr>
          <p:cNvPr id="50" name="Shape 48"/>
          <p:cNvSpPr/>
          <p:nvPr/>
        </p:nvSpPr>
        <p:spPr>
          <a:xfrm>
            <a:off x="6012180" y="3685032"/>
            <a:ext cx="118872" cy="0"/>
          </a:xfrm>
          <a:prstGeom prst="line">
            <a:avLst/>
          </a:prstGeom>
          <a:noFill/>
          <a:ln w="19050">
            <a:solidFill>
              <a:srgbClr val="686F7D"/>
            </a:solidFill>
            <a:prstDash val="solid"/>
            <a:tailEnd type="triangle"/>
          </a:ln>
        </p:spPr>
      </p:sp>
      <p:sp>
        <p:nvSpPr>
          <p:cNvPr id="51" name="Shape 49"/>
          <p:cNvSpPr/>
          <p:nvPr/>
        </p:nvSpPr>
        <p:spPr>
          <a:xfrm>
            <a:off x="6172200" y="3502152"/>
            <a:ext cx="1078992" cy="365760"/>
          </a:xfrm>
          <a:prstGeom prst="roundRect">
            <a:avLst>
              <a:gd name="adj" fmla="val 12500"/>
            </a:avLst>
          </a:prstGeom>
          <a:solidFill>
            <a:srgbClr val="1D6FB8"/>
          </a:solidFill>
          <a:ln w="15875">
            <a:solidFill>
              <a:srgbClr val="1D6FB8"/>
            </a:solidFill>
            <a:prstDash val="solid"/>
          </a:ln>
        </p:spPr>
      </p:sp>
      <p:sp>
        <p:nvSpPr>
          <p:cNvPr id="52" name="Text 50"/>
          <p:cNvSpPr/>
          <p:nvPr/>
        </p:nvSpPr>
        <p:spPr>
          <a:xfrm>
            <a:off x="6172200" y="3502152"/>
            <a:ext cx="1078992" cy="365760"/>
          </a:xfrm>
          <a:prstGeom prst="rect">
            <a:avLst/>
          </a:prstGeom>
          <a:noFill/>
          <a:ln/>
        </p:spPr>
        <p:txBody>
          <a:bodyPr wrap="square" lIns="0" tIns="0" rIns="0" bIns="0" rtlCol="0" anchor="ctr"/>
          <a:lstStyle/>
          <a:p>
            <a:pPr algn="ctr" indent="0" marL="0">
              <a:buNone/>
            </a:pPr>
            <a:r>
              <a:rPr lang="en-US" sz="820" b="1" dirty="0">
                <a:solidFill>
                  <a:srgbClr val="FFFFFF"/>
                </a:solidFill>
                <a:latin typeface="Calibri" pitchFamily="34" charset="0"/>
                <a:ea typeface="Calibri" pitchFamily="34" charset="-122"/>
                <a:cs typeface="Calibri" pitchFamily="34" charset="-120"/>
              </a:rPr>
              <a:t>Carburise</a:t>
            </a:r>
            <a:endParaRPr lang="en-US" sz="820" dirty="0"/>
          </a:p>
        </p:txBody>
      </p:sp>
      <p:sp>
        <p:nvSpPr>
          <p:cNvPr id="53" name="Shape 51"/>
          <p:cNvSpPr/>
          <p:nvPr/>
        </p:nvSpPr>
        <p:spPr>
          <a:xfrm>
            <a:off x="7292340" y="3685032"/>
            <a:ext cx="118872" cy="0"/>
          </a:xfrm>
          <a:prstGeom prst="line">
            <a:avLst/>
          </a:prstGeom>
          <a:noFill/>
          <a:ln w="19050">
            <a:solidFill>
              <a:srgbClr val="686F7D"/>
            </a:solidFill>
            <a:prstDash val="solid"/>
            <a:tailEnd type="triangle"/>
          </a:ln>
        </p:spPr>
      </p:sp>
      <p:sp>
        <p:nvSpPr>
          <p:cNvPr id="54" name="Shape 52"/>
          <p:cNvSpPr/>
          <p:nvPr/>
        </p:nvSpPr>
        <p:spPr>
          <a:xfrm>
            <a:off x="7452360" y="3502152"/>
            <a:ext cx="1078992" cy="365760"/>
          </a:xfrm>
          <a:prstGeom prst="roundRect">
            <a:avLst>
              <a:gd name="adj" fmla="val 12500"/>
            </a:avLst>
          </a:prstGeom>
          <a:solidFill>
            <a:srgbClr val="1D6FB8"/>
          </a:solidFill>
          <a:ln w="15875">
            <a:solidFill>
              <a:srgbClr val="1D6FB8"/>
            </a:solidFill>
            <a:prstDash val="solid"/>
          </a:ln>
        </p:spPr>
      </p:sp>
      <p:sp>
        <p:nvSpPr>
          <p:cNvPr id="55" name="Text 53"/>
          <p:cNvSpPr/>
          <p:nvPr/>
        </p:nvSpPr>
        <p:spPr>
          <a:xfrm>
            <a:off x="7452360" y="3502152"/>
            <a:ext cx="1078992" cy="365760"/>
          </a:xfrm>
          <a:prstGeom prst="rect">
            <a:avLst/>
          </a:prstGeom>
          <a:noFill/>
          <a:ln/>
        </p:spPr>
        <p:txBody>
          <a:bodyPr wrap="square" lIns="0" tIns="0" rIns="0" bIns="0" rtlCol="0" anchor="ctr"/>
          <a:lstStyle/>
          <a:p>
            <a:pPr algn="ctr" indent="0" marL="0">
              <a:buNone/>
            </a:pPr>
            <a:r>
              <a:rPr lang="en-US" sz="820" b="1" dirty="0">
                <a:solidFill>
                  <a:srgbClr val="FFFFFF"/>
                </a:solidFill>
                <a:latin typeface="Calibri" pitchFamily="34" charset="0"/>
                <a:ea typeface="Calibri" pitchFamily="34" charset="-122"/>
                <a:cs typeface="Calibri" pitchFamily="34" charset="-120"/>
              </a:rPr>
              <a:t>Grind</a:t>
            </a:r>
            <a:endParaRPr lang="en-US" sz="820" dirty="0"/>
          </a:p>
        </p:txBody>
      </p:sp>
      <p:sp>
        <p:nvSpPr>
          <p:cNvPr id="56" name="Shape 54"/>
          <p:cNvSpPr/>
          <p:nvPr/>
        </p:nvSpPr>
        <p:spPr>
          <a:xfrm>
            <a:off x="8572500" y="3685032"/>
            <a:ext cx="118872" cy="0"/>
          </a:xfrm>
          <a:prstGeom prst="line">
            <a:avLst/>
          </a:prstGeom>
          <a:noFill/>
          <a:ln w="19050">
            <a:solidFill>
              <a:srgbClr val="686F7D"/>
            </a:solidFill>
            <a:prstDash val="solid"/>
            <a:tailEnd type="triangle"/>
          </a:ln>
        </p:spPr>
      </p:sp>
      <p:sp>
        <p:nvSpPr>
          <p:cNvPr id="57" name="Shape 55"/>
          <p:cNvSpPr/>
          <p:nvPr/>
        </p:nvSpPr>
        <p:spPr>
          <a:xfrm>
            <a:off x="8732520" y="3502152"/>
            <a:ext cx="1078992" cy="365760"/>
          </a:xfrm>
          <a:prstGeom prst="roundRect">
            <a:avLst>
              <a:gd name="adj" fmla="val 12500"/>
            </a:avLst>
          </a:prstGeom>
          <a:solidFill>
            <a:srgbClr val="FFFFFF"/>
          </a:solidFill>
          <a:ln w="9525">
            <a:solidFill>
              <a:srgbClr val="686F7D"/>
            </a:solidFill>
            <a:prstDash val="solid"/>
          </a:ln>
        </p:spPr>
      </p:sp>
      <p:sp>
        <p:nvSpPr>
          <p:cNvPr id="58" name="Text 56"/>
          <p:cNvSpPr/>
          <p:nvPr/>
        </p:nvSpPr>
        <p:spPr>
          <a:xfrm>
            <a:off x="8732520" y="3502152"/>
            <a:ext cx="1078992" cy="365760"/>
          </a:xfrm>
          <a:prstGeom prst="rect">
            <a:avLst/>
          </a:prstGeom>
          <a:noFill/>
          <a:ln/>
        </p:spPr>
        <p:txBody>
          <a:bodyPr wrap="square" lIns="0" tIns="0" rIns="0" bIns="0" rtlCol="0" anchor="ctr"/>
          <a:lstStyle/>
          <a:p>
            <a:pPr algn="ctr" indent="0" marL="0">
              <a:buNone/>
            </a:pPr>
            <a:r>
              <a:rPr lang="en-US" sz="820" dirty="0">
                <a:solidFill>
                  <a:srgbClr val="3A4356"/>
                </a:solidFill>
                <a:latin typeface="Calibri" pitchFamily="34" charset="0"/>
                <a:ea typeface="Calibri" pitchFamily="34" charset="-122"/>
                <a:cs typeface="Calibri" pitchFamily="34" charset="-120"/>
              </a:rPr>
              <a:t>Inspect</a:t>
            </a:r>
            <a:endParaRPr lang="en-US" sz="820" dirty="0"/>
          </a:p>
        </p:txBody>
      </p:sp>
      <p:sp>
        <p:nvSpPr>
          <p:cNvPr id="59" name="Text 57"/>
          <p:cNvSpPr/>
          <p:nvPr/>
        </p:nvSpPr>
        <p:spPr>
          <a:xfrm>
            <a:off x="9966960" y="3419856"/>
            <a:ext cx="914400" cy="530352"/>
          </a:xfrm>
          <a:prstGeom prst="rect">
            <a:avLst/>
          </a:prstGeom>
          <a:noFill/>
          <a:ln/>
        </p:spPr>
        <p:txBody>
          <a:bodyPr wrap="square" lIns="0" tIns="0" rIns="0" bIns="0" rtlCol="0" anchor="ctr"/>
          <a:lstStyle/>
          <a:p>
            <a:pPr algn="r" indent="0" marL="0">
              <a:buNone/>
            </a:pPr>
            <a:r>
              <a:rPr lang="en-US" sz="1500" b="1" dirty="0">
                <a:solidFill>
                  <a:srgbClr val="1D6FB8"/>
                </a:solidFill>
                <a:latin typeface="Cambria" pitchFamily="34" charset="0"/>
                <a:ea typeface="Cambria" pitchFamily="34" charset="-122"/>
                <a:cs typeface="Cambria" pitchFamily="34" charset="-120"/>
              </a:rPr>
              <a:t>£17.02</a:t>
            </a:r>
            <a:endParaRPr lang="en-US" sz="1500" dirty="0"/>
          </a:p>
        </p:txBody>
      </p:sp>
      <p:sp>
        <p:nvSpPr>
          <p:cNvPr id="60" name="Text 58"/>
          <p:cNvSpPr/>
          <p:nvPr/>
        </p:nvSpPr>
        <p:spPr>
          <a:xfrm>
            <a:off x="10927080" y="3419856"/>
            <a:ext cx="777240" cy="530352"/>
          </a:xfrm>
          <a:prstGeom prst="rect">
            <a:avLst/>
          </a:prstGeom>
          <a:noFill/>
          <a:ln/>
        </p:spPr>
        <p:txBody>
          <a:bodyPr wrap="square" lIns="0" tIns="0" rIns="0" bIns="0" rtlCol="0" anchor="ctr"/>
          <a:lstStyle/>
          <a:p>
            <a:pPr algn="r" indent="0" marL="0">
              <a:buNone/>
            </a:pPr>
            <a:r>
              <a:rPr lang="en-US" sz="950" dirty="0">
                <a:solidFill>
                  <a:srgbClr val="686F7D"/>
                </a:solidFill>
                <a:latin typeface="Calibri" pitchFamily="34" charset="0"/>
                <a:ea typeface="Calibri" pitchFamily="34" charset="-122"/>
                <a:cs typeface="Calibri" pitchFamily="34" charset="-120"/>
              </a:rPr>
              <a:t>172 s</a:t>
            </a:r>
            <a:endParaRPr lang="en-US" sz="950" dirty="0"/>
          </a:p>
        </p:txBody>
      </p:sp>
      <p:sp>
        <p:nvSpPr>
          <p:cNvPr id="61" name="Shape 59"/>
          <p:cNvSpPr/>
          <p:nvPr/>
        </p:nvSpPr>
        <p:spPr>
          <a:xfrm>
            <a:off x="3611880" y="4059936"/>
            <a:ext cx="201168" cy="118872"/>
          </a:xfrm>
          <a:prstGeom prst="roundRect">
            <a:avLst>
              <a:gd name="adj" fmla="val 23077"/>
            </a:avLst>
          </a:prstGeom>
          <a:solidFill>
            <a:srgbClr val="99651A"/>
          </a:solidFill>
          <a:ln/>
        </p:spPr>
      </p:sp>
      <p:sp>
        <p:nvSpPr>
          <p:cNvPr id="62" name="Text 60"/>
          <p:cNvSpPr/>
          <p:nvPr/>
        </p:nvSpPr>
        <p:spPr>
          <a:xfrm>
            <a:off x="3886200" y="4005072"/>
            <a:ext cx="7315200" cy="219456"/>
          </a:xfrm>
          <a:prstGeom prst="rect">
            <a:avLst/>
          </a:prstGeom>
          <a:noFill/>
          <a:ln/>
        </p:spPr>
        <p:txBody>
          <a:bodyPr wrap="square" lIns="0" tIns="0" rIns="0" bIns="0" rtlCol="0" anchor="ctr"/>
          <a:lstStyle/>
          <a:p>
            <a:pPr indent="0" marL="0">
              <a:buNone/>
            </a:pPr>
            <a:r>
              <a:rPr lang="en-US" sz="900" i="1" dirty="0">
                <a:solidFill>
                  <a:srgbClr val="686F7D"/>
                </a:solidFill>
                <a:latin typeface="Calibri" pitchFamily="34" charset="0"/>
                <a:ea typeface="Calibri" pitchFamily="34" charset="-122"/>
                <a:cs typeface="Calibri" pitchFamily="34" charset="-120"/>
              </a:rPr>
              <a:t>= the station the tighter class ADDED — not the same work costing more</a:t>
            </a:r>
            <a:endParaRPr lang="en-US" sz="900" dirty="0"/>
          </a:p>
        </p:txBody>
      </p:sp>
      <p:sp>
        <p:nvSpPr>
          <p:cNvPr id="63" name="Shape 61"/>
          <p:cNvSpPr/>
          <p:nvPr/>
        </p:nvSpPr>
        <p:spPr>
          <a:xfrm>
            <a:off x="457200" y="4315968"/>
            <a:ext cx="5532120" cy="1243584"/>
          </a:xfrm>
          <a:prstGeom prst="roundRect">
            <a:avLst>
              <a:gd name="adj" fmla="val 5882"/>
            </a:avLst>
          </a:prstGeom>
          <a:solidFill>
            <a:srgbClr val="E6F4F1"/>
          </a:solidFill>
          <a:ln w="12700">
            <a:solidFill>
              <a:srgbClr val="0D7D71"/>
            </a:solidFill>
            <a:prstDash val="solid"/>
          </a:ln>
        </p:spPr>
      </p:sp>
      <p:sp>
        <p:nvSpPr>
          <p:cNvPr id="64" name="Text 62"/>
          <p:cNvSpPr/>
          <p:nvPr/>
        </p:nvSpPr>
        <p:spPr>
          <a:xfrm>
            <a:off x="640080" y="4389120"/>
            <a:ext cx="5212080" cy="201168"/>
          </a:xfrm>
          <a:prstGeom prst="rect">
            <a:avLst/>
          </a:prstGeom>
          <a:noFill/>
          <a:ln/>
        </p:spPr>
        <p:txBody>
          <a:bodyPr wrap="square" lIns="0" tIns="0" rIns="0" bIns="0" rtlCol="0" anchor="ctr"/>
          <a:lstStyle/>
          <a:p>
            <a:pPr indent="0" marL="0">
              <a:buNone/>
            </a:pPr>
            <a:r>
              <a:rPr lang="en-US" sz="900" b="1" spc="50" kern="0" dirty="0">
                <a:solidFill>
                  <a:srgbClr val="0D7D71"/>
                </a:solidFill>
                <a:latin typeface="Calibri" pitchFamily="34" charset="0"/>
                <a:ea typeface="Calibri" pitchFamily="34" charset="-122"/>
                <a:cs typeface="Calibri" pitchFamily="34" charset="-120"/>
              </a:rPr>
              <a:t>THE CYCLE TIME IS ARITHMETIC, NOT A GUESS</a:t>
            </a:r>
            <a:endParaRPr lang="en-US" sz="900" dirty="0"/>
          </a:p>
        </p:txBody>
      </p:sp>
      <p:sp>
        <p:nvSpPr>
          <p:cNvPr id="65" name="Text 63"/>
          <p:cNvSpPr/>
          <p:nvPr/>
        </p:nvSpPr>
        <p:spPr>
          <a:xfrm>
            <a:off x="640080" y="4599432"/>
            <a:ext cx="5212080" cy="384048"/>
          </a:xfrm>
          <a:prstGeom prst="rect">
            <a:avLst/>
          </a:prstGeom>
          <a:noFill/>
          <a:ln/>
        </p:spPr>
        <p:txBody>
          <a:bodyPr wrap="square" lIns="0" tIns="0" rIns="0" bIns="0" rtlCol="0" anchor="ctr"/>
          <a:lstStyle/>
          <a:p>
            <a:pPr indent="0" marL="0">
              <a:buNone/>
            </a:pPr>
            <a:r>
              <a:rPr lang="en-US" sz="950" dirty="0">
                <a:solidFill>
                  <a:srgbClr val="3A4356"/>
                </a:solidFill>
                <a:latin typeface="Calibri" pitchFamily="34" charset="0"/>
                <a:ea typeface="Calibri" pitchFamily="34" charset="-122"/>
                <a:cs typeface="Calibri" pitchFamily="34" charset="-120"/>
              </a:rPr>
              <a:t>A hob with Ns starts at n rpm drives a z-tooth gear at n×Ns/z. That is a gear train, not an estimate — so the tool prints the sum:</a:t>
            </a:r>
            <a:endParaRPr lang="en-US" sz="950" dirty="0"/>
          </a:p>
        </p:txBody>
      </p:sp>
      <p:sp>
        <p:nvSpPr>
          <p:cNvPr id="66" name="Text 64"/>
          <p:cNvSpPr/>
          <p:nvPr/>
        </p:nvSpPr>
        <p:spPr>
          <a:xfrm>
            <a:off x="640080" y="4992624"/>
            <a:ext cx="5212080" cy="502920"/>
          </a:xfrm>
          <a:prstGeom prst="rect">
            <a:avLst/>
          </a:prstGeom>
          <a:noFill/>
          <a:ln/>
        </p:spPr>
        <p:txBody>
          <a:bodyPr wrap="square" lIns="0" tIns="0" rIns="0" bIns="0" rtlCol="0" anchor="t"/>
          <a:lstStyle/>
          <a:p>
            <a:pPr indent="0" marL="0">
              <a:buNone/>
            </a:pPr>
            <a:r>
              <a:rPr lang="en-US" sz="860" dirty="0">
                <a:solidFill>
                  <a:srgbClr val="16325C"/>
                </a:solidFill>
                <a:latin typeface="Consolas" pitchFamily="34" charset="0"/>
                <a:ea typeface="Consolas" pitchFamily="34" charset="-122"/>
                <a:cs typeface="Consolas" pitchFamily="34" charset="-120"/>
              </a:rPr>
              <a:t>travel 45.3 mm at 2.2 mm/rev × 1 cut = 32 s cutting + 18 s handling</a:t>
            </a:r>
            <a:endParaRPr lang="en-US" sz="860" dirty="0"/>
          </a:p>
        </p:txBody>
      </p:sp>
      <p:sp>
        <p:nvSpPr>
          <p:cNvPr id="67" name="Shape 65"/>
          <p:cNvSpPr/>
          <p:nvPr/>
        </p:nvSpPr>
        <p:spPr>
          <a:xfrm>
            <a:off x="6199632" y="4315968"/>
            <a:ext cx="5532120" cy="1243584"/>
          </a:xfrm>
          <a:prstGeom prst="roundRect">
            <a:avLst>
              <a:gd name="adj" fmla="val 5882"/>
            </a:avLst>
          </a:prstGeom>
          <a:solidFill>
            <a:srgbClr val="E8F1FA"/>
          </a:solidFill>
          <a:ln w="12700">
            <a:solidFill>
              <a:srgbClr val="1D6FB8"/>
            </a:solidFill>
            <a:prstDash val="solid"/>
          </a:ln>
        </p:spPr>
      </p:sp>
      <p:sp>
        <p:nvSpPr>
          <p:cNvPr id="68" name="Text 66"/>
          <p:cNvSpPr/>
          <p:nvPr/>
        </p:nvSpPr>
        <p:spPr>
          <a:xfrm>
            <a:off x="6382512" y="4389120"/>
            <a:ext cx="5212080" cy="201168"/>
          </a:xfrm>
          <a:prstGeom prst="rect">
            <a:avLst/>
          </a:prstGeom>
          <a:noFill/>
          <a:ln/>
        </p:spPr>
        <p:txBody>
          <a:bodyPr wrap="square" lIns="0" tIns="0" rIns="0" bIns="0" rtlCol="0" anchor="ctr"/>
          <a:lstStyle/>
          <a:p>
            <a:pPr indent="0" marL="0">
              <a:buNone/>
            </a:pPr>
            <a:r>
              <a:rPr lang="en-US" sz="900" b="1" spc="50" kern="0" dirty="0">
                <a:solidFill>
                  <a:srgbClr val="1D6FB8"/>
                </a:solidFill>
                <a:latin typeface="Calibri" pitchFamily="34" charset="0"/>
                <a:ea typeface="Calibri" pitchFamily="34" charset="-122"/>
                <a:cs typeface="Calibri" pitchFamily="34" charset="-120"/>
              </a:rPr>
              <a:t>IT PICKS THE MACHINE, AND REFUSES WHEN IT CANNOT</a:t>
            </a:r>
            <a:endParaRPr lang="en-US" sz="900" dirty="0"/>
          </a:p>
        </p:txBody>
      </p:sp>
      <p:sp>
        <p:nvSpPr>
          <p:cNvPr id="69" name="Shape 67"/>
          <p:cNvSpPr/>
          <p:nvPr/>
        </p:nvSpPr>
        <p:spPr>
          <a:xfrm>
            <a:off x="6419088" y="4709160"/>
            <a:ext cx="82296" cy="82296"/>
          </a:xfrm>
          <a:prstGeom prst="ellipse">
            <a:avLst/>
          </a:prstGeom>
          <a:solidFill>
            <a:srgbClr val="1D6FB8"/>
          </a:solidFill>
          <a:ln/>
        </p:spPr>
      </p:sp>
      <p:sp>
        <p:nvSpPr>
          <p:cNvPr id="70" name="Text 68"/>
          <p:cNvSpPr/>
          <p:nvPr/>
        </p:nvSpPr>
        <p:spPr>
          <a:xfrm>
            <a:off x="6601968" y="4626864"/>
            <a:ext cx="4983480" cy="310896"/>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15 gear machines in the library — hob, shape, skive, grind, broach, hone</a:t>
            </a:r>
            <a:endParaRPr lang="en-US" sz="900" dirty="0"/>
          </a:p>
        </p:txBody>
      </p:sp>
      <p:sp>
        <p:nvSpPr>
          <p:cNvPr id="71" name="Shape 69"/>
          <p:cNvSpPr/>
          <p:nvPr/>
        </p:nvSpPr>
        <p:spPr>
          <a:xfrm>
            <a:off x="6419088" y="5010912"/>
            <a:ext cx="82296" cy="82296"/>
          </a:xfrm>
          <a:prstGeom prst="ellipse">
            <a:avLst/>
          </a:prstGeom>
          <a:solidFill>
            <a:srgbClr val="1D6FB8"/>
          </a:solidFill>
          <a:ln/>
        </p:spPr>
      </p:sp>
      <p:sp>
        <p:nvSpPr>
          <p:cNvPr id="72" name="Text 70"/>
          <p:cNvSpPr/>
          <p:nvPr/>
        </p:nvSpPr>
        <p:spPr>
          <a:xfrm>
            <a:off x="6601968" y="4928616"/>
            <a:ext cx="4983480" cy="310896"/>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Sized on module × diameter × face width, not diameter alone</a:t>
            </a:r>
            <a:endParaRPr lang="en-US" sz="900" dirty="0"/>
          </a:p>
        </p:txBody>
      </p:sp>
      <p:sp>
        <p:nvSpPr>
          <p:cNvPr id="73" name="Shape 71"/>
          <p:cNvSpPr/>
          <p:nvPr/>
        </p:nvSpPr>
        <p:spPr>
          <a:xfrm>
            <a:off x="6419088" y="5312664"/>
            <a:ext cx="82296" cy="82296"/>
          </a:xfrm>
          <a:prstGeom prst="ellipse">
            <a:avLst/>
          </a:prstGeom>
          <a:solidFill>
            <a:srgbClr val="1D6FB8"/>
          </a:solidFill>
          <a:ln/>
        </p:spPr>
      </p:sp>
      <p:sp>
        <p:nvSpPr>
          <p:cNvPr id="74" name="Text 72"/>
          <p:cNvSpPr/>
          <p:nvPr/>
        </p:nvSpPr>
        <p:spPr>
          <a:xfrm>
            <a:off x="6601968" y="5230368"/>
            <a:ext cx="4983480" cy="310896"/>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A gear beyond every machine is BLOCKED, never costed on the biggest one</a:t>
            </a:r>
            <a:endParaRPr lang="en-US" sz="900" dirty="0"/>
          </a:p>
        </p:txBody>
      </p:sp>
      <p:sp>
        <p:nvSpPr>
          <p:cNvPr id="75" name="Shape 73"/>
          <p:cNvSpPr/>
          <p:nvPr/>
        </p:nvSpPr>
        <p:spPr>
          <a:xfrm>
            <a:off x="457200" y="5669280"/>
            <a:ext cx="11274552" cy="457200"/>
          </a:xfrm>
          <a:prstGeom prst="roundRect">
            <a:avLst>
              <a:gd name="adj" fmla="val 14000"/>
            </a:avLst>
          </a:prstGeom>
          <a:solidFill>
            <a:srgbClr val="FDEEEC"/>
          </a:solidFill>
          <a:ln w="12700">
            <a:solidFill>
              <a:srgbClr val="B03A2E"/>
            </a:solidFill>
            <a:prstDash val="solid"/>
          </a:ln>
        </p:spPr>
      </p:sp>
      <p:sp>
        <p:nvSpPr>
          <p:cNvPr id="76" name="Text 74"/>
          <p:cNvSpPr/>
          <p:nvPr/>
        </p:nvSpPr>
        <p:spPr>
          <a:xfrm>
            <a:off x="658368" y="5669280"/>
            <a:ext cx="10881360" cy="457200"/>
          </a:xfrm>
          <a:prstGeom prst="rect">
            <a:avLst/>
          </a:prstGeom>
          <a:noFill/>
          <a:ln/>
        </p:spPr>
        <p:txBody>
          <a:bodyPr wrap="square" lIns="0" tIns="0" rIns="0" bIns="0" rtlCol="0" anchor="ctr"/>
          <a:lstStyle/>
          <a:p>
            <a:pPr indent="0" marL="0">
              <a:buNone/>
            </a:pPr>
            <a:r>
              <a:rPr lang="en-US" sz="1000" b="1" dirty="0">
                <a:solidFill>
                  <a:srgbClr val="B03A2E"/>
                </a:solidFill>
                <a:latin typeface="Calibri" pitchFamily="34" charset="0"/>
                <a:ea typeface="Calibri" pitchFamily="34" charset="-122"/>
                <a:cs typeface="Calibri" pitchFamily="34" charset="-120"/>
              </a:rPr>
              <a:t>Said plainly: </a:t>
            </a:r>
            <a:pPr indent="0" marL="0">
              <a:buNone/>
            </a:pPr>
            <a:r>
              <a:rPr lang="en-US" sz="1000" dirty="0">
                <a:solidFill>
                  <a:srgbClr val="3A4356"/>
                </a:solidFill>
                <a:latin typeface="Calibri" pitchFamily="34" charset="0"/>
                <a:ea typeface="Calibri" pitchFamily="34" charset="-122"/>
                <a:cs typeface="Calibri" pitchFamily="34" charset="-120"/>
              </a:rPr>
              <a:t>all 88 shop numbers — feeds, speeds, tool life, heat-treat rates — are representative, not from your plant. The tool prints that warning on every gear estimate. It shows the right structure; it is not yet a quotable number.</a:t>
            </a:r>
            <a:endParaRPr lang="en-US" sz="1000" dirty="0"/>
          </a:p>
        </p:txBody>
      </p:sp>
      <p:sp>
        <p:nvSpPr>
          <p:cNvPr id="77" name="Text 75"/>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78" name="Text 76"/>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44</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B03A2E"/>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We Then Attacked Our Own Gear Model</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Seven faults found — every one of them returned a confident, sensible-looking number</a:t>
            </a:r>
            <a:endParaRPr lang="en-US" sz="1200" dirty="0"/>
          </a:p>
        </p:txBody>
      </p:sp>
      <p:sp>
        <p:nvSpPr>
          <p:cNvPr id="5" name="Shape 3"/>
          <p:cNvSpPr/>
          <p:nvPr/>
        </p:nvSpPr>
        <p:spPr>
          <a:xfrm>
            <a:off x="9445752" y="256032"/>
            <a:ext cx="2286000" cy="310896"/>
          </a:xfrm>
          <a:prstGeom prst="roundRect">
            <a:avLst>
              <a:gd name="adj" fmla="val 50000"/>
            </a:avLst>
          </a:prstGeom>
          <a:solidFill>
            <a:srgbClr val="FDEEEC"/>
          </a:solidFill>
          <a:ln w="12700">
            <a:solidFill>
              <a:srgbClr val="B03A2E"/>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B03A2E"/>
                </a:solidFill>
                <a:latin typeface="Calibri" pitchFamily="34" charset="0"/>
                <a:ea typeface="Calibri" pitchFamily="34" charset="-122"/>
                <a:cs typeface="Calibri" pitchFamily="34" charset="-120"/>
              </a:rPr>
              <a:t>OWNER: US</a:t>
            </a:r>
            <a:endParaRPr lang="en-US" sz="950" dirty="0"/>
          </a:p>
        </p:txBody>
      </p:sp>
      <p:sp>
        <p:nvSpPr>
          <p:cNvPr id="7" name="Shape 5"/>
          <p:cNvSpPr/>
          <p:nvPr/>
        </p:nvSpPr>
        <p:spPr>
          <a:xfrm>
            <a:off x="457200" y="1188720"/>
            <a:ext cx="11274552" cy="969264"/>
          </a:xfrm>
          <a:prstGeom prst="roundRect">
            <a:avLst>
              <a:gd name="adj" fmla="val 6604"/>
            </a:avLst>
          </a:prstGeom>
          <a:solidFill>
            <a:srgbClr val="FFFFFF"/>
          </a:solidFill>
          <a:ln w="9525">
            <a:solidFill>
              <a:srgbClr val="DCE3EE"/>
            </a:solidFill>
            <a:prstDash val="solid"/>
          </a:ln>
        </p:spPr>
      </p:sp>
      <p:sp>
        <p:nvSpPr>
          <p:cNvPr id="8" name="Shape 6"/>
          <p:cNvSpPr/>
          <p:nvPr/>
        </p:nvSpPr>
        <p:spPr>
          <a:xfrm>
            <a:off x="457200" y="1188720"/>
            <a:ext cx="50292" cy="969264"/>
          </a:xfrm>
          <a:prstGeom prst="rect">
            <a:avLst/>
          </a:prstGeom>
          <a:solidFill>
            <a:srgbClr val="B03A2E"/>
          </a:solidFill>
          <a:ln/>
        </p:spPr>
      </p:sp>
      <p:sp>
        <p:nvSpPr>
          <p:cNvPr id="9" name="Text 7"/>
          <p:cNvSpPr/>
          <p:nvPr/>
        </p:nvSpPr>
        <p:spPr>
          <a:xfrm>
            <a:off x="676656" y="1261872"/>
            <a:ext cx="3200400" cy="274320"/>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Volume did nothing</a:t>
            </a:r>
            <a:endParaRPr lang="en-US" sz="1100" dirty="0"/>
          </a:p>
        </p:txBody>
      </p:sp>
      <p:sp>
        <p:nvSpPr>
          <p:cNvPr id="10" name="Text 8"/>
          <p:cNvSpPr/>
          <p:nvPr/>
        </p:nvSpPr>
        <p:spPr>
          <a:xfrm>
            <a:off x="676656" y="1554480"/>
            <a:ext cx="3200400" cy="530352"/>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The same gear cost £13.05 at 1,000 a year and £13.05 at a million a year. Identical to the penny.</a:t>
            </a:r>
            <a:endParaRPr lang="en-US" sz="860" dirty="0"/>
          </a:p>
        </p:txBody>
      </p:sp>
      <p:sp>
        <p:nvSpPr>
          <p:cNvPr id="11" name="Shape 9"/>
          <p:cNvSpPr/>
          <p:nvPr/>
        </p:nvSpPr>
        <p:spPr>
          <a:xfrm>
            <a:off x="4023360" y="1316736"/>
            <a:ext cx="7571232" cy="713232"/>
          </a:xfrm>
          <a:prstGeom prst="roundRect">
            <a:avLst>
              <a:gd name="adj" fmla="val 7692"/>
            </a:avLst>
          </a:prstGeom>
          <a:solidFill>
            <a:srgbClr val="EAF6EF"/>
          </a:solidFill>
          <a:ln/>
        </p:spPr>
      </p:sp>
      <p:sp>
        <p:nvSpPr>
          <p:cNvPr id="12" name="Text 10"/>
          <p:cNvSpPr/>
          <p:nvPr/>
        </p:nvSpPr>
        <p:spPr>
          <a:xfrm>
            <a:off x="4206240" y="1316736"/>
            <a:ext cx="7223760" cy="713232"/>
          </a:xfrm>
          <a:prstGeom prst="rect">
            <a:avLst/>
          </a:prstGeom>
          <a:noFill/>
          <a:ln/>
        </p:spPr>
        <p:txBody>
          <a:bodyPr wrap="square" lIns="0" tIns="0" rIns="0" bIns="0" rtlCol="0" anchor="ctr"/>
          <a:lstStyle/>
          <a:p>
            <a:pPr indent="0" marL="0">
              <a:buNone/>
            </a:pPr>
            <a:r>
              <a:rPr lang="en-US" sz="980" dirty="0">
                <a:solidFill>
                  <a:srgbClr val="3A4356"/>
                </a:solidFill>
                <a:latin typeface="Calibri" pitchFamily="34" charset="0"/>
                <a:ea typeface="Calibri" pitchFamily="34" charset="-122"/>
                <a:cs typeface="Calibri" pitchFamily="34" charset="-120"/>
              </a:rPr>
              <a:t>Fixture, programming, first-article and broach capital now amortise, so a low-volume gear correctly costs more than a high-volume one.</a:t>
            </a:r>
            <a:endParaRPr lang="en-US" sz="980" dirty="0"/>
          </a:p>
        </p:txBody>
      </p:sp>
      <p:sp>
        <p:nvSpPr>
          <p:cNvPr id="13" name="Shape 11"/>
          <p:cNvSpPr/>
          <p:nvPr/>
        </p:nvSpPr>
        <p:spPr>
          <a:xfrm>
            <a:off x="457200" y="2249424"/>
            <a:ext cx="11274552" cy="969264"/>
          </a:xfrm>
          <a:prstGeom prst="roundRect">
            <a:avLst>
              <a:gd name="adj" fmla="val 6604"/>
            </a:avLst>
          </a:prstGeom>
          <a:solidFill>
            <a:srgbClr val="FFFFFF"/>
          </a:solidFill>
          <a:ln w="9525">
            <a:solidFill>
              <a:srgbClr val="DCE3EE"/>
            </a:solidFill>
            <a:prstDash val="solid"/>
          </a:ln>
        </p:spPr>
      </p:sp>
      <p:sp>
        <p:nvSpPr>
          <p:cNvPr id="14" name="Shape 12"/>
          <p:cNvSpPr/>
          <p:nvPr/>
        </p:nvSpPr>
        <p:spPr>
          <a:xfrm>
            <a:off x="457200" y="2249424"/>
            <a:ext cx="50292" cy="969264"/>
          </a:xfrm>
          <a:prstGeom prst="rect">
            <a:avLst/>
          </a:prstGeom>
          <a:solidFill>
            <a:srgbClr val="B03A2E"/>
          </a:solidFill>
          <a:ln/>
        </p:spPr>
      </p:sp>
      <p:sp>
        <p:nvSpPr>
          <p:cNvPr id="15" name="Text 13"/>
          <p:cNvSpPr/>
          <p:nvPr/>
        </p:nvSpPr>
        <p:spPr>
          <a:xfrm>
            <a:off x="676656" y="2322576"/>
            <a:ext cx="3200400" cy="274320"/>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A gear with zero teeth got a price</a:t>
            </a:r>
            <a:endParaRPr lang="en-US" sz="1100" dirty="0"/>
          </a:p>
        </p:txBody>
      </p:sp>
      <p:sp>
        <p:nvSpPr>
          <p:cNvPr id="16" name="Text 14"/>
          <p:cNvSpPr/>
          <p:nvPr/>
        </p:nvSpPr>
        <p:spPr>
          <a:xfrm>
            <a:off x="676656" y="2615184"/>
            <a:ext cx="3200400" cy="530352"/>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£11.12. So did negative teeth and zero face width. A zero amortisation volume returned "not a number".</a:t>
            </a:r>
            <a:endParaRPr lang="en-US" sz="860" dirty="0"/>
          </a:p>
        </p:txBody>
      </p:sp>
      <p:sp>
        <p:nvSpPr>
          <p:cNvPr id="17" name="Shape 15"/>
          <p:cNvSpPr/>
          <p:nvPr/>
        </p:nvSpPr>
        <p:spPr>
          <a:xfrm>
            <a:off x="4023360" y="2377440"/>
            <a:ext cx="7571232" cy="713232"/>
          </a:xfrm>
          <a:prstGeom prst="roundRect">
            <a:avLst>
              <a:gd name="adj" fmla="val 7692"/>
            </a:avLst>
          </a:prstGeom>
          <a:solidFill>
            <a:srgbClr val="EAF6EF"/>
          </a:solidFill>
          <a:ln/>
        </p:spPr>
      </p:sp>
      <p:sp>
        <p:nvSpPr>
          <p:cNvPr id="18" name="Text 16"/>
          <p:cNvSpPr/>
          <p:nvPr/>
        </p:nvSpPr>
        <p:spPr>
          <a:xfrm>
            <a:off x="4206240" y="2377440"/>
            <a:ext cx="7223760" cy="713232"/>
          </a:xfrm>
          <a:prstGeom prst="rect">
            <a:avLst/>
          </a:prstGeom>
          <a:noFill/>
          <a:ln/>
        </p:spPr>
        <p:txBody>
          <a:bodyPr wrap="square" lIns="0" tIns="0" rIns="0" bIns="0" rtlCol="0" anchor="ctr"/>
          <a:lstStyle/>
          <a:p>
            <a:pPr indent="0" marL="0">
              <a:buNone/>
            </a:pPr>
            <a:r>
              <a:rPr lang="en-US" sz="980" dirty="0">
                <a:solidFill>
                  <a:srgbClr val="3A4356"/>
                </a:solidFill>
                <a:latin typeface="Calibri" pitchFamily="34" charset="0"/>
                <a:ea typeface="Calibri" pitchFamily="34" charset="-122"/>
                <a:cs typeface="Calibri" pitchFamily="34" charset="-120"/>
              </a:rPr>
              <a:t>Impossible definitions are now refused, each naming the field that is wrong.</a:t>
            </a:r>
            <a:endParaRPr lang="en-US" sz="980" dirty="0"/>
          </a:p>
        </p:txBody>
      </p:sp>
      <p:sp>
        <p:nvSpPr>
          <p:cNvPr id="19" name="Shape 17"/>
          <p:cNvSpPr/>
          <p:nvPr/>
        </p:nvSpPr>
        <p:spPr>
          <a:xfrm>
            <a:off x="457200" y="3310128"/>
            <a:ext cx="11274552" cy="969264"/>
          </a:xfrm>
          <a:prstGeom prst="roundRect">
            <a:avLst>
              <a:gd name="adj" fmla="val 6604"/>
            </a:avLst>
          </a:prstGeom>
          <a:solidFill>
            <a:srgbClr val="FFFFFF"/>
          </a:solidFill>
          <a:ln w="9525">
            <a:solidFill>
              <a:srgbClr val="DCE3EE"/>
            </a:solidFill>
            <a:prstDash val="solid"/>
          </a:ln>
        </p:spPr>
      </p:sp>
      <p:sp>
        <p:nvSpPr>
          <p:cNvPr id="20" name="Shape 18"/>
          <p:cNvSpPr/>
          <p:nvPr/>
        </p:nvSpPr>
        <p:spPr>
          <a:xfrm>
            <a:off x="457200" y="3310128"/>
            <a:ext cx="50292" cy="969264"/>
          </a:xfrm>
          <a:prstGeom prst="rect">
            <a:avLst/>
          </a:prstGeom>
          <a:solidFill>
            <a:srgbClr val="B03A2E"/>
          </a:solidFill>
          <a:ln/>
        </p:spPr>
      </p:sp>
      <p:sp>
        <p:nvSpPr>
          <p:cNvPr id="21" name="Text 19"/>
          <p:cNvSpPr/>
          <p:nvPr/>
        </p:nvSpPr>
        <p:spPr>
          <a:xfrm>
            <a:off x="676656" y="3383280"/>
            <a:ext cx="3200400" cy="274320"/>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Internal gear, wrong grinder</a:t>
            </a:r>
            <a:endParaRPr lang="en-US" sz="1100" dirty="0"/>
          </a:p>
        </p:txBody>
      </p:sp>
      <p:sp>
        <p:nvSpPr>
          <p:cNvPr id="22" name="Text 20"/>
          <p:cNvSpPr/>
          <p:nvPr/>
        </p:nvSpPr>
        <p:spPr>
          <a:xfrm>
            <a:off x="676656" y="3675888"/>
            <a:ext cx="3200400" cy="530352"/>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A generating grinder works from outside and cannot enter a bore. Not a smaller machine — the wrong machine.</a:t>
            </a:r>
            <a:endParaRPr lang="en-US" sz="860" dirty="0"/>
          </a:p>
        </p:txBody>
      </p:sp>
      <p:sp>
        <p:nvSpPr>
          <p:cNvPr id="23" name="Shape 21"/>
          <p:cNvSpPr/>
          <p:nvPr/>
        </p:nvSpPr>
        <p:spPr>
          <a:xfrm>
            <a:off x="4023360" y="3438144"/>
            <a:ext cx="7571232" cy="713232"/>
          </a:xfrm>
          <a:prstGeom prst="roundRect">
            <a:avLst>
              <a:gd name="adj" fmla="val 7692"/>
            </a:avLst>
          </a:prstGeom>
          <a:solidFill>
            <a:srgbClr val="EAF6EF"/>
          </a:solidFill>
          <a:ln/>
        </p:spPr>
      </p:sp>
      <p:sp>
        <p:nvSpPr>
          <p:cNvPr id="24" name="Text 22"/>
          <p:cNvSpPr/>
          <p:nvPr/>
        </p:nvSpPr>
        <p:spPr>
          <a:xfrm>
            <a:off x="4206240" y="3438144"/>
            <a:ext cx="7223760" cy="713232"/>
          </a:xfrm>
          <a:prstGeom prst="rect">
            <a:avLst/>
          </a:prstGeom>
          <a:noFill/>
          <a:ln/>
        </p:spPr>
        <p:txBody>
          <a:bodyPr wrap="square" lIns="0" tIns="0" rIns="0" bIns="0" rtlCol="0" anchor="ctr"/>
          <a:lstStyle/>
          <a:p>
            <a:pPr indent="0" marL="0">
              <a:buNone/>
            </a:pPr>
            <a:r>
              <a:rPr lang="en-US" sz="980" dirty="0">
                <a:solidFill>
                  <a:srgbClr val="3A4356"/>
                </a:solidFill>
                <a:latin typeface="Calibri" pitchFamily="34" charset="0"/>
                <a:ea typeface="Calibri" pitchFamily="34" charset="-122"/>
                <a:cs typeface="Calibri" pitchFamily="34" charset="-120"/>
              </a:rPr>
              <a:t>Grinder choice is now internal-aware; honing and shaving are refused on internal gears.</a:t>
            </a:r>
            <a:endParaRPr lang="en-US" sz="980" dirty="0"/>
          </a:p>
        </p:txBody>
      </p:sp>
      <p:sp>
        <p:nvSpPr>
          <p:cNvPr id="25" name="Shape 23"/>
          <p:cNvSpPr/>
          <p:nvPr/>
        </p:nvSpPr>
        <p:spPr>
          <a:xfrm>
            <a:off x="457200" y="4370832"/>
            <a:ext cx="11274552" cy="969264"/>
          </a:xfrm>
          <a:prstGeom prst="roundRect">
            <a:avLst>
              <a:gd name="adj" fmla="val 6604"/>
            </a:avLst>
          </a:prstGeom>
          <a:solidFill>
            <a:srgbClr val="FFFFFF"/>
          </a:solidFill>
          <a:ln w="9525">
            <a:solidFill>
              <a:srgbClr val="DCE3EE"/>
            </a:solidFill>
            <a:prstDash val="solid"/>
          </a:ln>
        </p:spPr>
      </p:sp>
      <p:sp>
        <p:nvSpPr>
          <p:cNvPr id="26" name="Shape 24"/>
          <p:cNvSpPr/>
          <p:nvPr/>
        </p:nvSpPr>
        <p:spPr>
          <a:xfrm>
            <a:off x="457200" y="4370832"/>
            <a:ext cx="50292" cy="969264"/>
          </a:xfrm>
          <a:prstGeom prst="rect">
            <a:avLst/>
          </a:prstGeom>
          <a:solidFill>
            <a:srgbClr val="B03A2E"/>
          </a:solidFill>
          <a:ln/>
        </p:spPr>
      </p:sp>
      <p:sp>
        <p:nvSpPr>
          <p:cNvPr id="27" name="Text 25"/>
          <p:cNvSpPr/>
          <p:nvPr/>
        </p:nvSpPr>
        <p:spPr>
          <a:xfrm>
            <a:off x="676656" y="4443984"/>
            <a:ext cx="3200400" cy="274320"/>
          </a:xfrm>
          <a:prstGeom prst="rect">
            <a:avLst/>
          </a:prstGeom>
          <a:noFill/>
          <a:ln/>
        </p:spPr>
        <p:txBody>
          <a:bodyPr wrap="square" lIns="0" tIns="0" rIns="0" bIns="0" rtlCol="0" anchor="ctr"/>
          <a:lstStyle/>
          <a:p>
            <a:pPr indent="0" marL="0">
              <a:buNone/>
            </a:pPr>
            <a:r>
              <a:rPr lang="en-US" sz="1100" b="1" dirty="0">
                <a:solidFill>
                  <a:srgbClr val="16325C"/>
                </a:solidFill>
                <a:latin typeface="Calibri" pitchFamily="34" charset="0"/>
                <a:ea typeface="Calibri" pitchFamily="34" charset="-122"/>
                <a:cs typeface="Calibri" pitchFamily="34" charset="-120"/>
              </a:rPr>
              <a:t>Grade stopped mattering once ground</a:t>
            </a:r>
            <a:endParaRPr lang="en-US" sz="1100" dirty="0"/>
          </a:p>
        </p:txBody>
      </p:sp>
      <p:sp>
        <p:nvSpPr>
          <p:cNvPr id="28" name="Text 26"/>
          <p:cNvSpPr/>
          <p:nvPr/>
        </p:nvSpPr>
        <p:spPr>
          <a:xfrm>
            <a:off x="676656" y="4736592"/>
            <a:ext cx="3200400" cy="530352"/>
          </a:xfrm>
          <a:prstGeom prst="rect">
            <a:avLst/>
          </a:prstGeom>
          <a:noFill/>
          <a:ln/>
        </p:spPr>
        <p:txBody>
          <a:bodyPr wrap="square" lIns="0" tIns="0" rIns="0" bIns="0" rtlCol="0" anchor="t"/>
          <a:lstStyle/>
          <a:p>
            <a:pPr indent="0" marL="0">
              <a:buNone/>
            </a:pPr>
            <a:r>
              <a:rPr lang="en-US" sz="860" dirty="0">
                <a:solidFill>
                  <a:srgbClr val="686F7D"/>
                </a:solidFill>
                <a:latin typeface="Calibri" pitchFamily="34" charset="0"/>
                <a:ea typeface="Calibri" pitchFamily="34" charset="-122"/>
                <a:cs typeface="Calibri" pitchFamily="34" charset="-120"/>
              </a:rPr>
              <a:t>Class 6, 5 and 4 all ground for exactly 39.3 seconds — contradicting the whole point of the model.</a:t>
            </a:r>
            <a:endParaRPr lang="en-US" sz="860" dirty="0"/>
          </a:p>
        </p:txBody>
      </p:sp>
      <p:sp>
        <p:nvSpPr>
          <p:cNvPr id="29" name="Shape 27"/>
          <p:cNvSpPr/>
          <p:nvPr/>
        </p:nvSpPr>
        <p:spPr>
          <a:xfrm>
            <a:off x="4023360" y="4498848"/>
            <a:ext cx="7571232" cy="713232"/>
          </a:xfrm>
          <a:prstGeom prst="roundRect">
            <a:avLst>
              <a:gd name="adj" fmla="val 7692"/>
            </a:avLst>
          </a:prstGeom>
          <a:solidFill>
            <a:srgbClr val="EAF6EF"/>
          </a:solidFill>
          <a:ln/>
        </p:spPr>
      </p:sp>
      <p:sp>
        <p:nvSpPr>
          <p:cNvPr id="30" name="Text 28"/>
          <p:cNvSpPr/>
          <p:nvPr/>
        </p:nvSpPr>
        <p:spPr>
          <a:xfrm>
            <a:off x="4206240" y="4498848"/>
            <a:ext cx="7223760" cy="713232"/>
          </a:xfrm>
          <a:prstGeom prst="rect">
            <a:avLst/>
          </a:prstGeom>
          <a:noFill/>
          <a:ln/>
        </p:spPr>
        <p:txBody>
          <a:bodyPr wrap="square" lIns="0" tIns="0" rIns="0" bIns="0" rtlCol="0" anchor="ctr"/>
          <a:lstStyle/>
          <a:p>
            <a:pPr indent="0" marL="0">
              <a:buNone/>
            </a:pPr>
            <a:r>
              <a:rPr lang="en-US" sz="980" dirty="0">
                <a:solidFill>
                  <a:srgbClr val="3A4356"/>
                </a:solidFill>
                <a:latin typeface="Calibri" pitchFamily="34" charset="0"/>
                <a:ea typeface="Calibri" pitchFamily="34" charset="-122"/>
                <a:cs typeface="Calibri" pitchFamily="34" charset="-120"/>
              </a:rPr>
              <a:t>Tighter classes now buy spark-out passes, and the tool shows them in the sum.</a:t>
            </a:r>
            <a:endParaRPr lang="en-US" sz="980" dirty="0"/>
          </a:p>
        </p:txBody>
      </p:sp>
      <p:sp>
        <p:nvSpPr>
          <p:cNvPr id="31" name="Shape 29"/>
          <p:cNvSpPr/>
          <p:nvPr/>
        </p:nvSpPr>
        <p:spPr>
          <a:xfrm>
            <a:off x="457200" y="5504688"/>
            <a:ext cx="11274552" cy="457200"/>
          </a:xfrm>
          <a:prstGeom prst="roundRect">
            <a:avLst>
              <a:gd name="adj" fmla="val 14000"/>
            </a:avLst>
          </a:prstGeom>
          <a:solidFill>
            <a:srgbClr val="E6F4F1"/>
          </a:solidFill>
          <a:ln w="12700">
            <a:solidFill>
              <a:srgbClr val="0D7D71"/>
            </a:solidFill>
            <a:prstDash val="solid"/>
          </a:ln>
        </p:spPr>
      </p:sp>
      <p:sp>
        <p:nvSpPr>
          <p:cNvPr id="32" name="Text 30"/>
          <p:cNvSpPr/>
          <p:nvPr/>
        </p:nvSpPr>
        <p:spPr>
          <a:xfrm>
            <a:off x="658368" y="5504688"/>
            <a:ext cx="10881360" cy="457200"/>
          </a:xfrm>
          <a:prstGeom prst="rect">
            <a:avLst/>
          </a:prstGeom>
          <a:noFill/>
          <a:ln/>
        </p:spPr>
        <p:txBody>
          <a:bodyPr wrap="square" lIns="0" tIns="0" rIns="0" bIns="0" rtlCol="0" anchor="ctr"/>
          <a:lstStyle/>
          <a:p>
            <a:pPr indent="0" marL="0">
              <a:buNone/>
            </a:pPr>
            <a:r>
              <a:rPr lang="en-US" sz="1050" b="1" dirty="0">
                <a:solidFill>
                  <a:srgbClr val="0D7D71"/>
                </a:solidFill>
                <a:latin typeface="Calibri" pitchFamily="34" charset="0"/>
                <a:ea typeface="Calibri" pitchFamily="34" charset="-122"/>
                <a:cs typeface="Calibri" pitchFamily="34" charset="-120"/>
              </a:rPr>
              <a:t>All seven are now locked down by automated tests, so they cannot quietly come back. Total suite today: 2,438 tests.</a:t>
            </a:r>
            <a:endParaRPr lang="en-US" sz="1050" dirty="0"/>
          </a:p>
        </p:txBody>
      </p:sp>
      <p:sp>
        <p:nvSpPr>
          <p:cNvPr id="33" name="Text 31"/>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34" name="Text 32"/>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45</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B03A2E"/>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What This Tool Cannot Do</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limits, from us rather than from a sceptic in the room</a:t>
            </a:r>
            <a:endParaRPr lang="en-US" sz="1200" dirty="0"/>
          </a:p>
        </p:txBody>
      </p:sp>
      <p:sp>
        <p:nvSpPr>
          <p:cNvPr id="5" name="Shape 3"/>
          <p:cNvSpPr/>
          <p:nvPr/>
        </p:nvSpPr>
        <p:spPr>
          <a:xfrm>
            <a:off x="457200" y="1133856"/>
            <a:ext cx="5486400" cy="1335024"/>
          </a:xfrm>
          <a:prstGeom prst="roundRect">
            <a:avLst>
              <a:gd name="adj" fmla="val 6164"/>
            </a:avLst>
          </a:prstGeom>
          <a:solidFill>
            <a:srgbClr val="FFFFFF"/>
          </a:solidFill>
          <a:ln w="12700">
            <a:solidFill>
              <a:srgbClr val="DCE3EE"/>
            </a:solidFill>
            <a:prstDash val="solid"/>
          </a:ln>
        </p:spPr>
      </p:sp>
      <p:pic>
        <p:nvPicPr>
          <p:cNvPr id="6" name="Image 0" descr="preencoded.png">    </p:cNvPr>
          <p:cNvPicPr>
            <a:picLocks noChangeAspect="1"/>
          </p:cNvPicPr>
          <p:nvPr/>
        </p:nvPicPr>
        <p:blipFill>
          <a:blip r:embed="rId1"/>
          <a:stretch>
            <a:fillRect/>
          </a:stretch>
        </p:blipFill>
        <p:spPr>
          <a:xfrm>
            <a:off x="658368" y="1280160"/>
            <a:ext cx="155448" cy="155448"/>
          </a:xfrm>
          <a:prstGeom prst="rect">
            <a:avLst/>
          </a:prstGeom>
        </p:spPr>
      </p:pic>
      <p:sp>
        <p:nvSpPr>
          <p:cNvPr id="7" name="Text 4"/>
          <p:cNvSpPr/>
          <p:nvPr/>
        </p:nvSpPr>
        <p:spPr>
          <a:xfrm>
            <a:off x="914400" y="1216152"/>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Cost an assembly from one CAD file</a:t>
            </a:r>
            <a:endParaRPr lang="en-US" sz="1150" dirty="0"/>
          </a:p>
        </p:txBody>
      </p:sp>
      <p:sp>
        <p:nvSpPr>
          <p:cNvPr id="8" name="Text 5"/>
          <p:cNvSpPr/>
          <p:nvPr/>
        </p:nvSpPr>
        <p:spPr>
          <a:xfrm>
            <a:off x="658368" y="1536192"/>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It rolls up an assembly from parts you have already costed. It cannot open one assembly model, work out which parts are in it, how they join, or what the assembly labour is. Multi-part programmes still need a person to define the structure.</a:t>
            </a:r>
            <a:endParaRPr lang="en-US" sz="940" dirty="0"/>
          </a:p>
        </p:txBody>
      </p:sp>
      <p:sp>
        <p:nvSpPr>
          <p:cNvPr id="9" name="Shape 6"/>
          <p:cNvSpPr/>
          <p:nvPr/>
        </p:nvSpPr>
        <p:spPr>
          <a:xfrm>
            <a:off x="6245352" y="1133856"/>
            <a:ext cx="5486400" cy="1335024"/>
          </a:xfrm>
          <a:prstGeom prst="roundRect">
            <a:avLst>
              <a:gd name="adj" fmla="val 6164"/>
            </a:avLst>
          </a:prstGeom>
          <a:solidFill>
            <a:srgbClr val="FFFFFF"/>
          </a:solidFill>
          <a:ln w="12700">
            <a:solidFill>
              <a:srgbClr val="DCE3EE"/>
            </a:solidFill>
            <a:prstDash val="solid"/>
          </a:ln>
        </p:spPr>
      </p:sp>
      <p:pic>
        <p:nvPicPr>
          <p:cNvPr id="10" name="Image 1" descr="preencoded.png">    </p:cNvPr>
          <p:cNvPicPr>
            <a:picLocks noChangeAspect="1"/>
          </p:cNvPicPr>
          <p:nvPr/>
        </p:nvPicPr>
        <p:blipFill>
          <a:blip r:embed="rId2"/>
          <a:stretch>
            <a:fillRect/>
          </a:stretch>
        </p:blipFill>
        <p:spPr>
          <a:xfrm>
            <a:off x="6446520" y="1280160"/>
            <a:ext cx="155448" cy="155448"/>
          </a:xfrm>
          <a:prstGeom prst="rect">
            <a:avLst/>
          </a:prstGeom>
        </p:spPr>
      </p:pic>
      <p:sp>
        <p:nvSpPr>
          <p:cNvPr id="11" name="Text 7"/>
          <p:cNvSpPr/>
          <p:nvPr/>
        </p:nvSpPr>
        <p:spPr>
          <a:xfrm>
            <a:off x="6702552" y="1216152"/>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Read a tolerance or a surface finish</a:t>
            </a:r>
            <a:endParaRPr lang="en-US" sz="1150" dirty="0"/>
          </a:p>
        </p:txBody>
      </p:sp>
      <p:sp>
        <p:nvSpPr>
          <p:cNvPr id="12" name="Text 8"/>
          <p:cNvSpPr/>
          <p:nvPr/>
        </p:nvSpPr>
        <p:spPr>
          <a:xfrm>
            <a:off x="6446520" y="1536192"/>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The kernel measures shape, exactly. It cannot see a ±0.02 callout, a Ra value or a material spec unless the CAD file carries it — most do not. And an STL has no feature table, so a machined STL needs a typed cycle time.</a:t>
            </a:r>
            <a:endParaRPr lang="en-US" sz="940" dirty="0"/>
          </a:p>
        </p:txBody>
      </p:sp>
      <p:sp>
        <p:nvSpPr>
          <p:cNvPr id="13" name="Shape 9"/>
          <p:cNvSpPr/>
          <p:nvPr/>
        </p:nvSpPr>
        <p:spPr>
          <a:xfrm>
            <a:off x="457200" y="2615184"/>
            <a:ext cx="5486400" cy="1335024"/>
          </a:xfrm>
          <a:prstGeom prst="roundRect">
            <a:avLst>
              <a:gd name="adj" fmla="val 6164"/>
            </a:avLst>
          </a:prstGeom>
          <a:solidFill>
            <a:srgbClr val="FFFFFF"/>
          </a:solidFill>
          <a:ln w="12700">
            <a:solidFill>
              <a:srgbClr val="DCE3EE"/>
            </a:solidFill>
            <a:prstDash val="solid"/>
          </a:ln>
        </p:spPr>
      </p:sp>
      <p:pic>
        <p:nvPicPr>
          <p:cNvPr id="14" name="Image 2" descr="preencoded.png">    </p:cNvPr>
          <p:cNvPicPr>
            <a:picLocks noChangeAspect="1"/>
          </p:cNvPicPr>
          <p:nvPr/>
        </p:nvPicPr>
        <p:blipFill>
          <a:blip r:embed="rId3"/>
          <a:stretch>
            <a:fillRect/>
          </a:stretch>
        </p:blipFill>
        <p:spPr>
          <a:xfrm>
            <a:off x="658368" y="2761488"/>
            <a:ext cx="155448" cy="155448"/>
          </a:xfrm>
          <a:prstGeom prst="rect">
            <a:avLst/>
          </a:prstGeom>
        </p:spPr>
      </p:pic>
      <p:sp>
        <p:nvSpPr>
          <p:cNvPr id="15" name="Text 10"/>
          <p:cNvSpPr/>
          <p:nvPr/>
        </p:nvSpPr>
        <p:spPr>
          <a:xfrm>
            <a:off x="914400" y="2697480"/>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Prove its accuracy yet</a:t>
            </a:r>
            <a:endParaRPr lang="en-US" sz="1150" dirty="0"/>
          </a:p>
        </p:txBody>
      </p:sp>
      <p:sp>
        <p:nvSpPr>
          <p:cNvPr id="16" name="Text 11"/>
          <p:cNvSpPr/>
          <p:nvPr/>
        </p:nvSpPr>
        <p:spPr>
          <a:xfrm>
            <a:off x="658368" y="3017520"/>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No estimate has yet been compared with a price JLR paid. Six pinned parts prove the answer is stable, not that it is right. Accuracy is measured as actuals are logged; after 3 for a commodity the band is corrected.</a:t>
            </a:r>
            <a:endParaRPr lang="en-US" sz="940" dirty="0"/>
          </a:p>
        </p:txBody>
      </p:sp>
      <p:sp>
        <p:nvSpPr>
          <p:cNvPr id="17" name="Shape 12"/>
          <p:cNvSpPr/>
          <p:nvPr/>
        </p:nvSpPr>
        <p:spPr>
          <a:xfrm>
            <a:off x="6245352" y="2615184"/>
            <a:ext cx="5486400" cy="1335024"/>
          </a:xfrm>
          <a:prstGeom prst="roundRect">
            <a:avLst>
              <a:gd name="adj" fmla="val 6164"/>
            </a:avLst>
          </a:prstGeom>
          <a:solidFill>
            <a:srgbClr val="FFFFFF"/>
          </a:solidFill>
          <a:ln w="12700">
            <a:solidFill>
              <a:srgbClr val="DCE3EE"/>
            </a:solidFill>
            <a:prstDash val="solid"/>
          </a:ln>
        </p:spPr>
      </p:sp>
      <p:pic>
        <p:nvPicPr>
          <p:cNvPr id="18" name="Image 3" descr="preencoded.png">    </p:cNvPr>
          <p:cNvPicPr>
            <a:picLocks noChangeAspect="1"/>
          </p:cNvPicPr>
          <p:nvPr/>
        </p:nvPicPr>
        <p:blipFill>
          <a:blip r:embed="rId4"/>
          <a:stretch>
            <a:fillRect/>
          </a:stretch>
        </p:blipFill>
        <p:spPr>
          <a:xfrm>
            <a:off x="6446520" y="2761488"/>
            <a:ext cx="155448" cy="155448"/>
          </a:xfrm>
          <a:prstGeom prst="rect">
            <a:avLst/>
          </a:prstGeom>
        </p:spPr>
      </p:pic>
      <p:sp>
        <p:nvSpPr>
          <p:cNvPr id="19" name="Text 13"/>
          <p:cNvSpPr/>
          <p:nvPr/>
        </p:nvSpPr>
        <p:spPr>
          <a:xfrm>
            <a:off x="6702552" y="2697480"/>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Replace a quotation</a:t>
            </a:r>
            <a:endParaRPr lang="en-US" sz="1150" dirty="0"/>
          </a:p>
        </p:txBody>
      </p:sp>
      <p:sp>
        <p:nvSpPr>
          <p:cNvPr id="20" name="Text 14"/>
          <p:cNvSpPr/>
          <p:nvPr/>
        </p:nvSpPr>
        <p:spPr>
          <a:xfrm>
            <a:off x="6446520" y="3017520"/>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This is a should-cost: what the part ought to cost on stated assumptions. It is a negotiating instrument and a design-feedback loop, not a price, and not a substitute for an RFQ.</a:t>
            </a:r>
            <a:endParaRPr lang="en-US" sz="940" dirty="0"/>
          </a:p>
        </p:txBody>
      </p:sp>
      <p:sp>
        <p:nvSpPr>
          <p:cNvPr id="21" name="Shape 15"/>
          <p:cNvSpPr/>
          <p:nvPr/>
        </p:nvSpPr>
        <p:spPr>
          <a:xfrm>
            <a:off x="457200" y="4096512"/>
            <a:ext cx="5486400" cy="1335024"/>
          </a:xfrm>
          <a:prstGeom prst="roundRect">
            <a:avLst>
              <a:gd name="adj" fmla="val 6164"/>
            </a:avLst>
          </a:prstGeom>
          <a:solidFill>
            <a:srgbClr val="FFFFFF"/>
          </a:solidFill>
          <a:ln w="12700">
            <a:solidFill>
              <a:srgbClr val="DCE3EE"/>
            </a:solidFill>
            <a:prstDash val="solid"/>
          </a:ln>
        </p:spPr>
      </p:sp>
      <p:pic>
        <p:nvPicPr>
          <p:cNvPr id="22" name="Image 4" descr="preencoded.png">    </p:cNvPr>
          <p:cNvPicPr>
            <a:picLocks noChangeAspect="1"/>
          </p:cNvPicPr>
          <p:nvPr/>
        </p:nvPicPr>
        <p:blipFill>
          <a:blip r:embed="rId5"/>
          <a:stretch>
            <a:fillRect/>
          </a:stretch>
        </p:blipFill>
        <p:spPr>
          <a:xfrm>
            <a:off x="658368" y="4242816"/>
            <a:ext cx="155448" cy="155448"/>
          </a:xfrm>
          <a:prstGeom prst="rect">
            <a:avLst/>
          </a:prstGeom>
        </p:spPr>
      </p:pic>
      <p:sp>
        <p:nvSpPr>
          <p:cNvPr id="23" name="Text 16"/>
          <p:cNvSpPr/>
          <p:nvPr/>
        </p:nvSpPr>
        <p:spPr>
          <a:xfrm>
            <a:off x="914400" y="4178808"/>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Keep duty and tariff data fresh by itself</a:t>
            </a:r>
            <a:endParaRPr lang="en-US" sz="1150" dirty="0"/>
          </a:p>
        </p:txBody>
      </p:sp>
      <p:sp>
        <p:nvSpPr>
          <p:cNvPr id="24" name="Text 17"/>
          <p:cNvSpPr/>
          <p:nvPr/>
        </p:nvSpPr>
        <p:spPr>
          <a:xfrm>
            <a:off x="658368" y="4498848"/>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Rates decay. The engine blocks any rate that is unverified or older than 90 days rather than quietly using it — but somebody has to run the refresh against the official tariff service.</a:t>
            </a:r>
            <a:endParaRPr lang="en-US" sz="940" dirty="0"/>
          </a:p>
        </p:txBody>
      </p:sp>
      <p:sp>
        <p:nvSpPr>
          <p:cNvPr id="25" name="Shape 18"/>
          <p:cNvSpPr/>
          <p:nvPr/>
        </p:nvSpPr>
        <p:spPr>
          <a:xfrm>
            <a:off x="6245352" y="4096512"/>
            <a:ext cx="5486400" cy="1335024"/>
          </a:xfrm>
          <a:prstGeom prst="roundRect">
            <a:avLst>
              <a:gd name="adj" fmla="val 6164"/>
            </a:avLst>
          </a:prstGeom>
          <a:solidFill>
            <a:srgbClr val="FFFFFF"/>
          </a:solidFill>
          <a:ln w="12700">
            <a:solidFill>
              <a:srgbClr val="DCE3EE"/>
            </a:solidFill>
            <a:prstDash val="solid"/>
          </a:ln>
        </p:spPr>
      </p:sp>
      <p:pic>
        <p:nvPicPr>
          <p:cNvPr id="26" name="Image 5" descr="preencoded.png">    </p:cNvPr>
          <p:cNvPicPr>
            <a:picLocks noChangeAspect="1"/>
          </p:cNvPicPr>
          <p:nvPr/>
        </p:nvPicPr>
        <p:blipFill>
          <a:blip r:embed="rId6"/>
          <a:stretch>
            <a:fillRect/>
          </a:stretch>
        </p:blipFill>
        <p:spPr>
          <a:xfrm>
            <a:off x="6446520" y="4242816"/>
            <a:ext cx="155448" cy="155448"/>
          </a:xfrm>
          <a:prstGeom prst="rect">
            <a:avLst/>
          </a:prstGeom>
        </p:spPr>
      </p:pic>
      <p:sp>
        <p:nvSpPr>
          <p:cNvPr id="27" name="Text 19"/>
          <p:cNvSpPr/>
          <p:nvPr/>
        </p:nvSpPr>
        <p:spPr>
          <a:xfrm>
            <a:off x="6702552" y="4178808"/>
            <a:ext cx="4828032" cy="274320"/>
          </a:xfrm>
          <a:prstGeom prst="rect">
            <a:avLst/>
          </a:prstGeom>
          <a:noFill/>
          <a:ln/>
        </p:spPr>
        <p:txBody>
          <a:bodyPr wrap="square" lIns="0" tIns="0" rIns="0" bIns="0" rtlCol="0" anchor="ctr"/>
          <a:lstStyle/>
          <a:p>
            <a:pPr indent="0" marL="0">
              <a:buNone/>
            </a:pPr>
            <a:r>
              <a:rPr lang="en-US" sz="1150" b="1" dirty="0">
                <a:solidFill>
                  <a:srgbClr val="16325C"/>
                </a:solidFill>
                <a:latin typeface="Calibri" pitchFamily="34" charset="0"/>
                <a:ea typeface="Calibri" pitchFamily="34" charset="-122"/>
                <a:cs typeface="Calibri" pitchFamily="34" charset="-120"/>
              </a:rPr>
              <a:t>Cost a process it has never met</a:t>
            </a:r>
            <a:endParaRPr lang="en-US" sz="1150" dirty="0"/>
          </a:p>
        </p:txBody>
      </p:sp>
      <p:sp>
        <p:nvSpPr>
          <p:cNvPr id="28" name="Text 20"/>
          <p:cNvSpPr/>
          <p:nvPr/>
        </p:nvSpPr>
        <p:spPr>
          <a:xfrm>
            <a:off x="6446520" y="4498848"/>
            <a:ext cx="5084064" cy="859536"/>
          </a:xfrm>
          <a:prstGeom prst="rect">
            <a:avLst/>
          </a:prstGeom>
          <a:noFill/>
          <a:ln/>
        </p:spPr>
        <p:txBody>
          <a:bodyPr wrap="square" lIns="0" tIns="0" rIns="0" bIns="0" rtlCol="0" anchor="t"/>
          <a:lstStyle/>
          <a:p>
            <a:pPr indent="0" marL="0">
              <a:buNone/>
            </a:pPr>
            <a:r>
              <a:rPr lang="en-US" sz="940" dirty="0">
                <a:solidFill>
                  <a:srgbClr val="3A4356"/>
                </a:solidFill>
                <a:latin typeface="Calibri" pitchFamily="34" charset="0"/>
                <a:ea typeface="Calibri" pitchFamily="34" charset="-122"/>
                <a:cs typeface="Calibri" pitchFamily="34" charset="-120"/>
              </a:rPr>
              <a:t>19 manufacturing processes are modelled, plus an assembly roll-up and a software cost model. A genuinely new process needs a new module — days of work, and a process engineer to specify it.</a:t>
            </a:r>
            <a:endParaRPr lang="en-US" sz="940" dirty="0"/>
          </a:p>
        </p:txBody>
      </p:sp>
      <p:sp>
        <p:nvSpPr>
          <p:cNvPr id="29" name="Shape 21"/>
          <p:cNvSpPr/>
          <p:nvPr/>
        </p:nvSpPr>
        <p:spPr>
          <a:xfrm>
            <a:off x="457200" y="5596128"/>
            <a:ext cx="11274552" cy="713232"/>
          </a:xfrm>
          <a:prstGeom prst="roundRect">
            <a:avLst>
              <a:gd name="adj" fmla="val 12821"/>
            </a:avLst>
          </a:prstGeom>
          <a:solidFill>
            <a:srgbClr val="16325C"/>
          </a:solidFill>
          <a:ln/>
        </p:spPr>
      </p:sp>
      <p:sp>
        <p:nvSpPr>
          <p:cNvPr id="30" name="Text 22"/>
          <p:cNvSpPr/>
          <p:nvPr/>
        </p:nvSpPr>
        <p:spPr>
          <a:xfrm>
            <a:off x="777240" y="5669280"/>
            <a:ext cx="10652760" cy="566928"/>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Why show you this:  </a:t>
            </a:r>
            <a:pPr indent="0" marL="0">
              <a:buNone/>
            </a:pPr>
            <a:r>
              <a:rPr lang="en-US" sz="1200" dirty="0">
                <a:solidFill>
                  <a:srgbClr val="FFFFFF"/>
                </a:solidFill>
                <a:latin typeface="Calibri" pitchFamily="34" charset="0"/>
                <a:ea typeface="Calibri" pitchFamily="34" charset="-122"/>
                <a:cs typeface="Calibri" pitchFamily="34" charset="-120"/>
              </a:rPr>
              <a:t>a tool that claims no limits is a tool nobody should trust with a supplier negotiation. Every one of these six is either on the roadmap, or is a job we have deliberately left with a person.</a:t>
            </a:r>
            <a:endParaRPr lang="en-US" sz="1200" dirty="0"/>
          </a:p>
        </p:txBody>
      </p:sp>
      <p:sp>
        <p:nvSpPr>
          <p:cNvPr id="31" name="Text 2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how the tool works, step by step · injection-moulded bumper fascia worked example</a:t>
            </a:r>
            <a:endParaRPr lang="en-US" sz="850" dirty="0"/>
          </a:p>
        </p:txBody>
      </p:sp>
      <p:sp>
        <p:nvSpPr>
          <p:cNvPr id="32" name="Text 2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46</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6325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99651A"/>
          </a:solidFill>
          <a:ln/>
        </p:spPr>
      </p:sp>
      <p:sp>
        <p:nvSpPr>
          <p:cNvPr id="3" name="Shape 1"/>
          <p:cNvSpPr/>
          <p:nvPr/>
        </p:nvSpPr>
        <p:spPr>
          <a:xfrm>
            <a:off x="731520" y="548640"/>
            <a:ext cx="502920" cy="502920"/>
          </a:xfrm>
          <a:prstGeom prst="roundRect">
            <a:avLst>
              <a:gd name="adj" fmla="val 22000"/>
            </a:avLst>
          </a:prstGeom>
          <a:solidFill>
            <a:srgbClr val="4F46E5"/>
          </a:solidFill>
          <a:ln/>
        </p:spPr>
      </p:sp>
      <p:sp>
        <p:nvSpPr>
          <p:cNvPr id="4" name="Text 2"/>
          <p:cNvSpPr/>
          <p:nvPr/>
        </p:nvSpPr>
        <p:spPr>
          <a:xfrm>
            <a:off x="731520" y="54864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CV</a:t>
            </a:r>
            <a:endParaRPr lang="en-US" sz="1650" dirty="0"/>
          </a:p>
        </p:txBody>
      </p:sp>
      <p:sp>
        <p:nvSpPr>
          <p:cNvPr id="5" name="Text 3"/>
          <p:cNvSpPr/>
          <p:nvPr/>
        </p:nvSpPr>
        <p:spPr>
          <a:xfrm>
            <a:off x="731520" y="1828800"/>
            <a:ext cx="7315200" cy="292608"/>
          </a:xfrm>
          <a:prstGeom prst="rect">
            <a:avLst/>
          </a:prstGeom>
          <a:noFill/>
          <a:ln/>
        </p:spPr>
        <p:txBody>
          <a:bodyPr wrap="square" lIns="0" tIns="0" rIns="0" bIns="0" rtlCol="0" anchor="ctr"/>
          <a:lstStyle/>
          <a:p>
            <a:pPr indent="0" marL="0">
              <a:buNone/>
            </a:pPr>
            <a:r>
              <a:rPr lang="en-US" sz="1300" b="1" spc="160" kern="0" dirty="0">
                <a:solidFill>
                  <a:srgbClr val="99651A"/>
                </a:solidFill>
                <a:latin typeface="Calibri" pitchFamily="34" charset="0"/>
                <a:ea typeface="Calibri" pitchFamily="34" charset="-122"/>
                <a:cs typeface="Calibri" pitchFamily="34" charset="-120"/>
              </a:rPr>
              <a:t>APPENDIX</a:t>
            </a:r>
            <a:endParaRPr lang="en-US" sz="1300" dirty="0"/>
          </a:p>
        </p:txBody>
      </p:sp>
      <p:sp>
        <p:nvSpPr>
          <p:cNvPr id="6" name="Text 4"/>
          <p:cNvSpPr/>
          <p:nvPr/>
        </p:nvSpPr>
        <p:spPr>
          <a:xfrm>
            <a:off x="731520" y="2212848"/>
            <a:ext cx="8778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Reference Material</a:t>
            </a:r>
            <a:endParaRPr lang="en-US" sz="3400" dirty="0"/>
          </a:p>
        </p:txBody>
      </p:sp>
      <p:sp>
        <p:nvSpPr>
          <p:cNvPr id="7" name="Text 5"/>
          <p:cNvSpPr/>
          <p:nvPr/>
        </p:nvSpPr>
        <p:spPr>
          <a:xfrm>
            <a:off x="731520" y="2980944"/>
            <a:ext cx="8778240" cy="310896"/>
          </a:xfrm>
          <a:prstGeom prst="rect">
            <a:avLst/>
          </a:prstGeom>
          <a:noFill/>
          <a:ln/>
        </p:spPr>
        <p:txBody>
          <a:bodyPr wrap="square" lIns="0" tIns="0" rIns="0" bIns="0" rtlCol="0" anchor="ctr"/>
          <a:lstStyle/>
          <a:p>
            <a:pPr indent="0" marL="0">
              <a:buNone/>
            </a:pPr>
            <a:r>
              <a:rPr lang="en-US" sz="1500" dirty="0">
                <a:solidFill>
                  <a:srgbClr val="8FA3CC"/>
                </a:solidFill>
                <a:latin typeface="Calibri" pitchFamily="34" charset="0"/>
                <a:ea typeface="Calibri" pitchFamily="34" charset="-122"/>
                <a:cs typeface="Calibri" pitchFamily="34" charset="-120"/>
              </a:rPr>
              <a:t>Everything behind the numbers — kept out of the main hour, here when it is asked for</a:t>
            </a:r>
            <a:endParaRPr lang="en-US" sz="1500" dirty="0"/>
          </a:p>
        </p:txBody>
      </p:sp>
      <p:sp>
        <p:nvSpPr>
          <p:cNvPr id="8" name="Shape 6"/>
          <p:cNvSpPr/>
          <p:nvPr/>
        </p:nvSpPr>
        <p:spPr>
          <a:xfrm>
            <a:off x="786384" y="3730752"/>
            <a:ext cx="100584" cy="100584"/>
          </a:xfrm>
          <a:prstGeom prst="ellipse">
            <a:avLst/>
          </a:prstGeom>
          <a:solidFill>
            <a:srgbClr val="99651A"/>
          </a:solidFill>
          <a:ln/>
        </p:spPr>
      </p:sp>
      <p:sp>
        <p:nvSpPr>
          <p:cNvPr id="9" name="Text 7"/>
          <p:cNvSpPr/>
          <p:nvPr/>
        </p:nvSpPr>
        <p:spPr>
          <a:xfrm>
            <a:off x="1078992" y="3639312"/>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complete DFM/DFA rule library — 52 threshold rules, 10 geometry advisors, 36 idea levers</a:t>
            </a:r>
            <a:endParaRPr lang="en-US" sz="1200" dirty="0"/>
          </a:p>
        </p:txBody>
      </p:sp>
      <p:sp>
        <p:nvSpPr>
          <p:cNvPr id="10" name="Shape 8"/>
          <p:cNvSpPr/>
          <p:nvPr/>
        </p:nvSpPr>
        <p:spPr>
          <a:xfrm>
            <a:off x="786384" y="4059936"/>
            <a:ext cx="100584" cy="100584"/>
          </a:xfrm>
          <a:prstGeom prst="ellipse">
            <a:avLst/>
          </a:prstGeom>
          <a:solidFill>
            <a:srgbClr val="99651A"/>
          </a:solidFill>
          <a:ln/>
        </p:spPr>
      </p:sp>
      <p:sp>
        <p:nvSpPr>
          <p:cNvPr id="11" name="Text 9"/>
          <p:cNvSpPr/>
          <p:nvPr/>
        </p:nvSpPr>
        <p:spPr>
          <a:xfrm>
            <a:off x="1078992" y="3968496"/>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What engineering actually sees: opportunities ranked by money, never a score</a:t>
            </a:r>
            <a:endParaRPr lang="en-US" sz="1200" dirty="0"/>
          </a:p>
        </p:txBody>
      </p:sp>
      <p:sp>
        <p:nvSpPr>
          <p:cNvPr id="12" name="Shape 10"/>
          <p:cNvSpPr/>
          <p:nvPr/>
        </p:nvSpPr>
        <p:spPr>
          <a:xfrm>
            <a:off x="786384" y="4389120"/>
            <a:ext cx="100584" cy="100584"/>
          </a:xfrm>
          <a:prstGeom prst="ellipse">
            <a:avLst/>
          </a:prstGeom>
          <a:solidFill>
            <a:srgbClr val="99651A"/>
          </a:solidFill>
          <a:ln/>
        </p:spPr>
      </p:sp>
      <p:sp>
        <p:nvSpPr>
          <p:cNvPr id="13" name="Text 11"/>
          <p:cNvSpPr/>
          <p:nvPr/>
        </p:nvSpPr>
        <p:spPr>
          <a:xfrm>
            <a:off x="1078992" y="4297680"/>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Technical architecture — languages, code size, licences and what calls out</a:t>
            </a:r>
            <a:endParaRPr lang="en-US" sz="1200" dirty="0"/>
          </a:p>
        </p:txBody>
      </p:sp>
      <p:sp>
        <p:nvSpPr>
          <p:cNvPr id="14" name="Shape 12"/>
          <p:cNvSpPr/>
          <p:nvPr/>
        </p:nvSpPr>
        <p:spPr>
          <a:xfrm>
            <a:off x="786384" y="4718304"/>
            <a:ext cx="100584" cy="100584"/>
          </a:xfrm>
          <a:prstGeom prst="ellipse">
            <a:avLst/>
          </a:prstGeom>
          <a:solidFill>
            <a:srgbClr val="99651A"/>
          </a:solidFill>
          <a:ln/>
        </p:spPr>
      </p:sp>
      <p:sp>
        <p:nvSpPr>
          <p:cNvPr id="15" name="Text 13"/>
          <p:cNvSpPr/>
          <p:nvPr/>
        </p:nvSpPr>
        <p:spPr>
          <a:xfrm>
            <a:off x="1078992" y="4626864"/>
            <a:ext cx="78638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Backup: the data contracts, field by field</a:t>
            </a:r>
            <a:endParaRPr lang="en-US" sz="1200" dirty="0"/>
          </a:p>
        </p:txBody>
      </p:sp>
      <p:sp>
        <p:nvSpPr>
          <p:cNvPr id="16" name="Text 14"/>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appendix — reference material</a:t>
            </a:r>
            <a:endParaRPr lang="en-US" sz="850" dirty="0"/>
          </a:p>
        </p:txBody>
      </p:sp>
      <p:sp>
        <p:nvSpPr>
          <p:cNvPr id="17" name="Text 15"/>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47</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After the Price · DFM, DFA &amp; Idea Generation</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same numbers the engine just calculated, re-read by a written rule book — no AI required</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188720"/>
            <a:ext cx="2697480" cy="1883664"/>
          </a:xfrm>
          <a:prstGeom prst="roundRect">
            <a:avLst>
              <a:gd name="adj" fmla="val 4854"/>
            </a:avLst>
          </a:prstGeom>
          <a:solidFill>
            <a:srgbClr val="FFFFFF"/>
          </a:solidFill>
          <a:ln w="19050">
            <a:solidFill>
              <a:srgbClr val="0D7D71"/>
            </a:solidFill>
            <a:prstDash val="solid"/>
          </a:ln>
        </p:spPr>
      </p:sp>
      <p:sp>
        <p:nvSpPr>
          <p:cNvPr id="8" name="Text 6"/>
          <p:cNvSpPr/>
          <p:nvPr/>
        </p:nvSpPr>
        <p:spPr>
          <a:xfrm>
            <a:off x="603504" y="1280160"/>
            <a:ext cx="914400" cy="548640"/>
          </a:xfrm>
          <a:prstGeom prst="rect">
            <a:avLst/>
          </a:prstGeom>
          <a:noFill/>
          <a:ln/>
        </p:spPr>
        <p:txBody>
          <a:bodyPr wrap="square" lIns="0" tIns="0" rIns="0" bIns="0" rtlCol="0" anchor="ctr"/>
          <a:lstStyle/>
          <a:p>
            <a:pPr indent="0" marL="0">
              <a:buNone/>
            </a:pPr>
            <a:r>
              <a:rPr lang="en-US" sz="3200" b="1" dirty="0">
                <a:solidFill>
                  <a:srgbClr val="0D7D71"/>
                </a:solidFill>
                <a:latin typeface="Cambria" pitchFamily="34" charset="0"/>
                <a:ea typeface="Cambria" pitchFamily="34" charset="-122"/>
                <a:cs typeface="Cambria" pitchFamily="34" charset="-120"/>
              </a:rPr>
              <a:t>52</a:t>
            </a:r>
            <a:endParaRPr lang="en-US" sz="3200" dirty="0"/>
          </a:p>
        </p:txBody>
      </p:sp>
      <p:sp>
        <p:nvSpPr>
          <p:cNvPr id="9" name="Text 7"/>
          <p:cNvSpPr/>
          <p:nvPr/>
        </p:nvSpPr>
        <p:spPr>
          <a:xfrm>
            <a:off x="1499616" y="1335024"/>
            <a:ext cx="1600200" cy="457200"/>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threshold rules</a:t>
            </a:r>
            <a:endParaRPr lang="en-US" sz="1200" dirty="0"/>
          </a:p>
        </p:txBody>
      </p:sp>
      <p:sp>
        <p:nvSpPr>
          <p:cNvPr id="10" name="Text 8"/>
          <p:cNvSpPr/>
          <p:nvPr/>
        </p:nvSpPr>
        <p:spPr>
          <a:xfrm>
            <a:off x="603504" y="1938528"/>
            <a:ext cx="2404872" cy="1060704"/>
          </a:xfrm>
          <a:prstGeom prst="rect">
            <a:avLst/>
          </a:prstGeom>
          <a:noFill/>
          <a:ln/>
        </p:spPr>
        <p:txBody>
          <a:bodyPr wrap="square" lIns="0" tIns="0" rIns="0" bIns="0" rtlCol="0" anchor="t"/>
          <a:lstStyle/>
          <a:p>
            <a:pPr indent="0" marL="0">
              <a:buNone/>
            </a:pPr>
            <a:r>
              <a:rPr lang="en-US" sz="880" dirty="0">
                <a:solidFill>
                  <a:srgbClr val="3A4356"/>
                </a:solidFill>
                <a:latin typeface="Calibri" pitchFamily="34" charset="0"/>
                <a:ea typeface="Calibri" pitchFamily="34" charset="-122"/>
                <a:cs typeface="Calibri" pitchFamily="34" charset="-120"/>
              </a:rPr>
              <a:t>41 manufacturability (DFM) checks — 14 on every part, 27 per commodity — plus 11 assembly (DFA) checks on the cost structure.</a:t>
            </a:r>
            <a:endParaRPr lang="en-US" sz="880" dirty="0"/>
          </a:p>
        </p:txBody>
      </p:sp>
      <p:sp>
        <p:nvSpPr>
          <p:cNvPr id="11" name="Shape 9"/>
          <p:cNvSpPr/>
          <p:nvPr/>
        </p:nvSpPr>
        <p:spPr>
          <a:xfrm>
            <a:off x="3319272" y="1188720"/>
            <a:ext cx="2697480" cy="1883664"/>
          </a:xfrm>
          <a:prstGeom prst="roundRect">
            <a:avLst>
              <a:gd name="adj" fmla="val 4854"/>
            </a:avLst>
          </a:prstGeom>
          <a:solidFill>
            <a:srgbClr val="FFFFFF"/>
          </a:solidFill>
          <a:ln w="19050">
            <a:solidFill>
              <a:srgbClr val="1D6FB8"/>
            </a:solidFill>
            <a:prstDash val="solid"/>
          </a:ln>
        </p:spPr>
      </p:sp>
      <p:sp>
        <p:nvSpPr>
          <p:cNvPr id="12" name="Text 10"/>
          <p:cNvSpPr/>
          <p:nvPr/>
        </p:nvSpPr>
        <p:spPr>
          <a:xfrm>
            <a:off x="3465576" y="1280160"/>
            <a:ext cx="914400" cy="548640"/>
          </a:xfrm>
          <a:prstGeom prst="rect">
            <a:avLst/>
          </a:prstGeom>
          <a:noFill/>
          <a:ln/>
        </p:spPr>
        <p:txBody>
          <a:bodyPr wrap="square" lIns="0" tIns="0" rIns="0" bIns="0" rtlCol="0" anchor="ctr"/>
          <a:lstStyle/>
          <a:p>
            <a:pPr indent="0" marL="0">
              <a:buNone/>
            </a:pPr>
            <a:r>
              <a:rPr lang="en-US" sz="3200" b="1" dirty="0">
                <a:solidFill>
                  <a:srgbClr val="1D6FB8"/>
                </a:solidFill>
                <a:latin typeface="Cambria" pitchFamily="34" charset="0"/>
                <a:ea typeface="Cambria" pitchFamily="34" charset="-122"/>
                <a:cs typeface="Cambria" pitchFamily="34" charset="-120"/>
              </a:rPr>
              <a:t>19</a:t>
            </a:r>
            <a:endParaRPr lang="en-US" sz="3200" dirty="0"/>
          </a:p>
        </p:txBody>
      </p:sp>
      <p:sp>
        <p:nvSpPr>
          <p:cNvPr id="13" name="Text 11"/>
          <p:cNvSpPr/>
          <p:nvPr/>
        </p:nvSpPr>
        <p:spPr>
          <a:xfrm>
            <a:off x="4361688" y="1335024"/>
            <a:ext cx="1600200" cy="457200"/>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parameters</a:t>
            </a:r>
            <a:endParaRPr lang="en-US" sz="1200" dirty="0"/>
          </a:p>
        </p:txBody>
      </p:sp>
      <p:sp>
        <p:nvSpPr>
          <p:cNvPr id="14" name="Text 12"/>
          <p:cNvSpPr/>
          <p:nvPr/>
        </p:nvSpPr>
        <p:spPr>
          <a:xfrm>
            <a:off x="3465576" y="1938528"/>
            <a:ext cx="2404872" cy="1060704"/>
          </a:xfrm>
          <a:prstGeom prst="rect">
            <a:avLst/>
          </a:prstGeom>
          <a:noFill/>
          <a:ln/>
        </p:spPr>
        <p:txBody>
          <a:bodyPr wrap="square" lIns="0" tIns="0" rIns="0" bIns="0" rtlCol="0" anchor="t"/>
          <a:lstStyle/>
          <a:p>
            <a:pPr indent="0" marL="0">
              <a:buNone/>
            </a:pPr>
            <a:r>
              <a:rPr lang="en-US" sz="880" dirty="0">
                <a:solidFill>
                  <a:srgbClr val="3A4356"/>
                </a:solidFill>
                <a:latin typeface="Calibri" pitchFamily="34" charset="0"/>
                <a:ea typeface="Calibri" pitchFamily="34" charset="-122"/>
                <a:cs typeface="Calibri" pitchFamily="34" charset="-120"/>
              </a:rPr>
              <a:t>10 core numbers plus 9 extended signals — all read from the costing itself: buckets, operations, tooling basis, pack rates.</a:t>
            </a:r>
            <a:endParaRPr lang="en-US" sz="880" dirty="0"/>
          </a:p>
        </p:txBody>
      </p:sp>
      <p:sp>
        <p:nvSpPr>
          <p:cNvPr id="15" name="Shape 13"/>
          <p:cNvSpPr/>
          <p:nvPr/>
        </p:nvSpPr>
        <p:spPr>
          <a:xfrm>
            <a:off x="6181344" y="1188720"/>
            <a:ext cx="2697480" cy="1883664"/>
          </a:xfrm>
          <a:prstGeom prst="roundRect">
            <a:avLst>
              <a:gd name="adj" fmla="val 4854"/>
            </a:avLst>
          </a:prstGeom>
          <a:solidFill>
            <a:srgbClr val="FFFFFF"/>
          </a:solidFill>
          <a:ln w="19050">
            <a:solidFill>
              <a:srgbClr val="99651A"/>
            </a:solidFill>
            <a:prstDash val="solid"/>
          </a:ln>
        </p:spPr>
      </p:sp>
      <p:sp>
        <p:nvSpPr>
          <p:cNvPr id="16" name="Text 14"/>
          <p:cNvSpPr/>
          <p:nvPr/>
        </p:nvSpPr>
        <p:spPr>
          <a:xfrm>
            <a:off x="6327648" y="1280160"/>
            <a:ext cx="914400" cy="548640"/>
          </a:xfrm>
          <a:prstGeom prst="rect">
            <a:avLst/>
          </a:prstGeom>
          <a:noFill/>
          <a:ln/>
        </p:spPr>
        <p:txBody>
          <a:bodyPr wrap="square" lIns="0" tIns="0" rIns="0" bIns="0" rtlCol="0" anchor="ctr"/>
          <a:lstStyle/>
          <a:p>
            <a:pPr indent="0" marL="0">
              <a:buNone/>
            </a:pPr>
            <a:r>
              <a:rPr lang="en-US" sz="3200" b="1" dirty="0">
                <a:solidFill>
                  <a:srgbClr val="99651A"/>
                </a:solidFill>
                <a:latin typeface="Cambria" pitchFamily="34" charset="0"/>
                <a:ea typeface="Cambria" pitchFamily="34" charset="-122"/>
                <a:cs typeface="Cambria" pitchFamily="34" charset="-120"/>
              </a:rPr>
              <a:t>10</a:t>
            </a:r>
            <a:endParaRPr lang="en-US" sz="3200" dirty="0"/>
          </a:p>
        </p:txBody>
      </p:sp>
      <p:sp>
        <p:nvSpPr>
          <p:cNvPr id="17" name="Text 15"/>
          <p:cNvSpPr/>
          <p:nvPr/>
        </p:nvSpPr>
        <p:spPr>
          <a:xfrm>
            <a:off x="7223760" y="1335024"/>
            <a:ext cx="1600200" cy="457200"/>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geometry advisors</a:t>
            </a:r>
            <a:endParaRPr lang="en-US" sz="1200" dirty="0"/>
          </a:p>
        </p:txBody>
      </p:sp>
      <p:sp>
        <p:nvSpPr>
          <p:cNvPr id="18" name="Text 16"/>
          <p:cNvSpPr/>
          <p:nvPr/>
        </p:nvSpPr>
        <p:spPr>
          <a:xfrm>
            <a:off x="6327648" y="1938528"/>
            <a:ext cx="2404872" cy="1060704"/>
          </a:xfrm>
          <a:prstGeom prst="rect">
            <a:avLst/>
          </a:prstGeom>
          <a:noFill/>
          <a:ln/>
        </p:spPr>
        <p:txBody>
          <a:bodyPr wrap="square" lIns="0" tIns="0" rIns="0" bIns="0" rtlCol="0" anchor="t"/>
          <a:lstStyle/>
          <a:p>
            <a:pPr indent="0" marL="0">
              <a:buNone/>
            </a:pPr>
            <a:r>
              <a:rPr lang="en-US" sz="880" dirty="0">
                <a:solidFill>
                  <a:srgbClr val="3A4356"/>
                </a:solidFill>
                <a:latin typeface="Calibri" pitchFamily="34" charset="0"/>
                <a:ea typeface="Calibri" pitchFamily="34" charset="-122"/>
                <a:cs typeface="Calibri" pitchFamily="34" charset="-120"/>
              </a:rPr>
              <a:t>Per-process advisor modules — 75 further checks read from the measured solid: walls, draft, radii, undercuts, spans.</a:t>
            </a:r>
            <a:endParaRPr lang="en-US" sz="880" dirty="0"/>
          </a:p>
        </p:txBody>
      </p:sp>
      <p:sp>
        <p:nvSpPr>
          <p:cNvPr id="19" name="Shape 17"/>
          <p:cNvSpPr/>
          <p:nvPr/>
        </p:nvSpPr>
        <p:spPr>
          <a:xfrm>
            <a:off x="9043416" y="1188720"/>
            <a:ext cx="2697480" cy="1883664"/>
          </a:xfrm>
          <a:prstGeom prst="roundRect">
            <a:avLst>
              <a:gd name="adj" fmla="val 4854"/>
            </a:avLst>
          </a:prstGeom>
          <a:solidFill>
            <a:srgbClr val="FFFFFF"/>
          </a:solidFill>
          <a:ln w="19050">
            <a:solidFill>
              <a:srgbClr val="2A7F50"/>
            </a:solidFill>
            <a:prstDash val="solid"/>
          </a:ln>
        </p:spPr>
      </p:sp>
      <p:sp>
        <p:nvSpPr>
          <p:cNvPr id="20" name="Text 18"/>
          <p:cNvSpPr/>
          <p:nvPr/>
        </p:nvSpPr>
        <p:spPr>
          <a:xfrm>
            <a:off x="9189720" y="1280160"/>
            <a:ext cx="914400" cy="548640"/>
          </a:xfrm>
          <a:prstGeom prst="rect">
            <a:avLst/>
          </a:prstGeom>
          <a:noFill/>
          <a:ln/>
        </p:spPr>
        <p:txBody>
          <a:bodyPr wrap="square" lIns="0" tIns="0" rIns="0" bIns="0" rtlCol="0" anchor="ctr"/>
          <a:lstStyle/>
          <a:p>
            <a:pPr indent="0" marL="0">
              <a:buNone/>
            </a:pPr>
            <a:r>
              <a:rPr lang="en-US" sz="3200" b="1" dirty="0">
                <a:solidFill>
                  <a:srgbClr val="2A7F50"/>
                </a:solidFill>
                <a:latin typeface="Cambria" pitchFamily="34" charset="0"/>
                <a:ea typeface="Cambria" pitchFamily="34" charset="-122"/>
                <a:cs typeface="Cambria" pitchFamily="34" charset="-120"/>
              </a:rPr>
              <a:t>36</a:t>
            </a:r>
            <a:endParaRPr lang="en-US" sz="3200" dirty="0"/>
          </a:p>
        </p:txBody>
      </p:sp>
      <p:sp>
        <p:nvSpPr>
          <p:cNvPr id="21" name="Text 19"/>
          <p:cNvSpPr/>
          <p:nvPr/>
        </p:nvSpPr>
        <p:spPr>
          <a:xfrm>
            <a:off x="10085832" y="1335024"/>
            <a:ext cx="1600200" cy="457200"/>
          </a:xfrm>
          <a:prstGeom prst="rect">
            <a:avLst/>
          </a:prstGeom>
          <a:noFill/>
          <a:ln/>
        </p:spPr>
        <p:txBody>
          <a:bodyPr wrap="square" lIns="0" tIns="0" rIns="0" bIns="0" rtlCol="0" anchor="ctr"/>
          <a:lstStyle/>
          <a:p>
            <a:pPr indent="0" marL="0">
              <a:buNone/>
            </a:pPr>
            <a:r>
              <a:rPr lang="en-US" sz="1200" b="1" dirty="0">
                <a:solidFill>
                  <a:srgbClr val="16325C"/>
                </a:solidFill>
                <a:latin typeface="Calibri" pitchFamily="34" charset="0"/>
                <a:ea typeface="Calibri" pitchFamily="34" charset="-122"/>
                <a:cs typeface="Calibri" pitchFamily="34" charset="-120"/>
              </a:rPr>
              <a:t>idea levers</a:t>
            </a:r>
            <a:endParaRPr lang="en-US" sz="1200" dirty="0"/>
          </a:p>
        </p:txBody>
      </p:sp>
      <p:sp>
        <p:nvSpPr>
          <p:cNvPr id="22" name="Text 20"/>
          <p:cNvSpPr/>
          <p:nvPr/>
        </p:nvSpPr>
        <p:spPr>
          <a:xfrm>
            <a:off x="9189720" y="1938528"/>
            <a:ext cx="2404872" cy="1060704"/>
          </a:xfrm>
          <a:prstGeom prst="rect">
            <a:avLst/>
          </a:prstGeom>
          <a:noFill/>
          <a:ln/>
        </p:spPr>
        <p:txBody>
          <a:bodyPr wrap="square" lIns="0" tIns="0" rIns="0" bIns="0" rtlCol="0" anchor="t"/>
          <a:lstStyle/>
          <a:p>
            <a:pPr indent="0" marL="0">
              <a:buNone/>
            </a:pPr>
            <a:r>
              <a:rPr lang="en-US" sz="880" dirty="0">
                <a:solidFill>
                  <a:srgbClr val="3A4356"/>
                </a:solidFill>
                <a:latin typeface="Calibri" pitchFamily="34" charset="0"/>
                <a:ea typeface="Calibri" pitchFamily="34" charset="-122"/>
                <a:cs typeface="Calibri" pitchFamily="34" charset="-120"/>
              </a:rPr>
              <a:t>A 360° catalogue in 8 categories — material, design, process, tooling, logistics, commercial, quality, sustainability.</a:t>
            </a:r>
            <a:endParaRPr lang="en-US" sz="880" dirty="0"/>
          </a:p>
        </p:txBody>
      </p:sp>
      <p:sp>
        <p:nvSpPr>
          <p:cNvPr id="23" name="Shape 21"/>
          <p:cNvSpPr/>
          <p:nvPr/>
        </p:nvSpPr>
        <p:spPr>
          <a:xfrm>
            <a:off x="457200" y="3255264"/>
            <a:ext cx="11274552" cy="1426464"/>
          </a:xfrm>
          <a:prstGeom prst="roundRect">
            <a:avLst>
              <a:gd name="adj" fmla="val 6410"/>
            </a:avLst>
          </a:prstGeom>
          <a:solidFill>
            <a:srgbClr val="E6F4F1"/>
          </a:solidFill>
          <a:ln w="15875">
            <a:solidFill>
              <a:srgbClr val="0D7D71"/>
            </a:solidFill>
            <a:prstDash val="solid"/>
          </a:ln>
        </p:spPr>
      </p:sp>
      <p:sp>
        <p:nvSpPr>
          <p:cNvPr id="24" name="Text 22"/>
          <p:cNvSpPr/>
          <p:nvPr/>
        </p:nvSpPr>
        <p:spPr>
          <a:xfrm>
            <a:off x="731520" y="3346704"/>
            <a:ext cx="10515600" cy="219456"/>
          </a:xfrm>
          <a:prstGeom prst="rect">
            <a:avLst/>
          </a:prstGeom>
          <a:noFill/>
          <a:ln/>
        </p:spPr>
        <p:txBody>
          <a:bodyPr wrap="square" lIns="0" tIns="0" rIns="0" bIns="0" rtlCol="0" anchor="ctr"/>
          <a:lstStyle/>
          <a:p>
            <a:pPr indent="0" marL="0">
              <a:buNone/>
            </a:pPr>
            <a:r>
              <a:rPr lang="en-US" sz="900" b="1" spc="50" kern="0" dirty="0">
                <a:solidFill>
                  <a:srgbClr val="0D7D71"/>
                </a:solidFill>
                <a:latin typeface="Calibri" pitchFamily="34" charset="0"/>
                <a:ea typeface="Calibri" pitchFamily="34" charset="-122"/>
                <a:cs typeface="Calibri" pitchFamily="34" charset="-120"/>
              </a:rPr>
              <a:t>HOW IT WORKS — FIVE STEPS, ALL ARITHMETIC</a:t>
            </a:r>
            <a:endParaRPr lang="en-US" sz="900" dirty="0"/>
          </a:p>
        </p:txBody>
      </p:sp>
      <p:sp>
        <p:nvSpPr>
          <p:cNvPr id="25" name="Text 23"/>
          <p:cNvSpPr/>
          <p:nvPr/>
        </p:nvSpPr>
        <p:spPr>
          <a:xfrm>
            <a:off x="658368" y="3602736"/>
            <a:ext cx="2057400" cy="219456"/>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1 · Read</a:t>
            </a:r>
            <a:endParaRPr lang="en-US" sz="1000" dirty="0"/>
          </a:p>
        </p:txBody>
      </p:sp>
      <p:sp>
        <p:nvSpPr>
          <p:cNvPr id="26" name="Text 24"/>
          <p:cNvSpPr/>
          <p:nvPr/>
        </p:nvSpPr>
        <p:spPr>
          <a:xfrm>
            <a:off x="658368" y="3840480"/>
            <a:ext cx="2057400" cy="78638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The finished costing is reduced to 10 core parameters and 9 extended signals — buckets, operations, tooling basis, pack rates.</a:t>
            </a:r>
            <a:endParaRPr lang="en-US" sz="820" dirty="0"/>
          </a:p>
        </p:txBody>
      </p:sp>
      <p:sp>
        <p:nvSpPr>
          <p:cNvPr id="27" name="Text 25"/>
          <p:cNvSpPr/>
          <p:nvPr/>
        </p:nvSpPr>
        <p:spPr>
          <a:xfrm>
            <a:off x="2852928" y="3602736"/>
            <a:ext cx="2057400" cy="219456"/>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2 · Check</a:t>
            </a:r>
            <a:endParaRPr lang="en-US" sz="1000" dirty="0"/>
          </a:p>
        </p:txBody>
      </p:sp>
      <p:sp>
        <p:nvSpPr>
          <p:cNvPr id="28" name="Text 26"/>
          <p:cNvSpPr/>
          <p:nvPr/>
        </p:nvSpPr>
        <p:spPr>
          <a:xfrm>
            <a:off x="2852928" y="3840480"/>
            <a:ext cx="2057400" cy="78638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All 52 threshold rules run — each a plain test like "tooling above 20% of part cost" — and the geometry advisors read the solid.</a:t>
            </a:r>
            <a:endParaRPr lang="en-US" sz="820" dirty="0"/>
          </a:p>
        </p:txBody>
      </p:sp>
      <p:sp>
        <p:nvSpPr>
          <p:cNvPr id="29" name="Text 27"/>
          <p:cNvSpPr/>
          <p:nvPr/>
        </p:nvSpPr>
        <p:spPr>
          <a:xfrm>
            <a:off x="5047488" y="3602736"/>
            <a:ext cx="2057400" cy="219456"/>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3 · Rank</a:t>
            </a:r>
            <a:endParaRPr lang="en-US" sz="1000" dirty="0"/>
          </a:p>
        </p:txBody>
      </p:sp>
      <p:sp>
        <p:nvSpPr>
          <p:cNvPr id="30" name="Text 28"/>
          <p:cNvSpPr/>
          <p:nvPr/>
        </p:nvSpPr>
        <p:spPr>
          <a:xfrm>
            <a:off x="5047488" y="3840480"/>
            <a:ext cx="2057400" cy="78638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Each finding is priced in £/part against this costing and ranked biggest-first inside its category. No score is published, and no severity label.</a:t>
            </a:r>
            <a:endParaRPr lang="en-US" sz="820" dirty="0"/>
          </a:p>
        </p:txBody>
      </p:sp>
      <p:sp>
        <p:nvSpPr>
          <p:cNvPr id="31" name="Text 29"/>
          <p:cNvSpPr/>
          <p:nvPr/>
        </p:nvSpPr>
        <p:spPr>
          <a:xfrm>
            <a:off x="7242048" y="3602736"/>
            <a:ext cx="2057400" cy="219456"/>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4 · Size</a:t>
            </a:r>
            <a:endParaRPr lang="en-US" sz="1000" dirty="0"/>
          </a:p>
        </p:txBody>
      </p:sp>
      <p:sp>
        <p:nvSpPr>
          <p:cNvPr id="32" name="Text 30"/>
          <p:cNvSpPr/>
          <p:nvPr/>
        </p:nvSpPr>
        <p:spPr>
          <a:xfrm>
            <a:off x="7242048" y="3840480"/>
            <a:ext cx="2057400" cy="78638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The three biggest savings are combined (root-sum-square, capped at 40%) — so overlapping fixes are never double-counted.</a:t>
            </a:r>
            <a:endParaRPr lang="en-US" sz="820" dirty="0"/>
          </a:p>
        </p:txBody>
      </p:sp>
      <p:sp>
        <p:nvSpPr>
          <p:cNvPr id="33" name="Text 31"/>
          <p:cNvSpPr/>
          <p:nvPr/>
        </p:nvSpPr>
        <p:spPr>
          <a:xfrm>
            <a:off x="9436608" y="3602736"/>
            <a:ext cx="2057400" cy="219456"/>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5 · Suggest</a:t>
            </a:r>
            <a:endParaRPr lang="en-US" sz="1000" dirty="0"/>
          </a:p>
        </p:txBody>
      </p:sp>
      <p:sp>
        <p:nvSpPr>
          <p:cNvPr id="34" name="Text 32"/>
          <p:cNvSpPr/>
          <p:nvPr/>
        </p:nvSpPr>
        <p:spPr>
          <a:xfrm>
            <a:off x="9436608" y="3840480"/>
            <a:ext cx="2057400" cy="78638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The 36-lever catalogue produces a ranked action list — categorised, priced from the part’s own numbers, biggest saving first.</a:t>
            </a:r>
            <a:endParaRPr lang="en-US" sz="820" dirty="0"/>
          </a:p>
        </p:txBody>
      </p:sp>
      <p:sp>
        <p:nvSpPr>
          <p:cNvPr id="35" name="Shape 33"/>
          <p:cNvSpPr/>
          <p:nvPr/>
        </p:nvSpPr>
        <p:spPr>
          <a:xfrm>
            <a:off x="457200" y="4828032"/>
            <a:ext cx="11274552" cy="640080"/>
          </a:xfrm>
          <a:prstGeom prst="roundRect">
            <a:avLst>
              <a:gd name="adj" fmla="val 14286"/>
            </a:avLst>
          </a:prstGeom>
          <a:solidFill>
            <a:srgbClr val="F1EBF8"/>
          </a:solidFill>
          <a:ln w="12700">
            <a:solidFill>
              <a:srgbClr val="6B3FA0"/>
            </a:solidFill>
            <a:prstDash val="dash"/>
          </a:ln>
        </p:spPr>
      </p:sp>
      <p:sp>
        <p:nvSpPr>
          <p:cNvPr id="36" name="Text 34"/>
          <p:cNvSpPr/>
          <p:nvPr/>
        </p:nvSpPr>
        <p:spPr>
          <a:xfrm>
            <a:off x="731520" y="4873752"/>
            <a:ext cx="10744200" cy="548640"/>
          </a:xfrm>
          <a:prstGeom prst="rect">
            <a:avLst/>
          </a:prstGeom>
          <a:noFill/>
          <a:ln/>
        </p:spPr>
        <p:txBody>
          <a:bodyPr wrap="square" lIns="0" tIns="0" rIns="0" bIns="0" rtlCol="0" anchor="ctr"/>
          <a:lstStyle/>
          <a:p>
            <a:pPr indent="0" marL="0">
              <a:buNone/>
            </a:pPr>
            <a:r>
              <a:rPr lang="en-US" sz="1050" b="1" dirty="0">
                <a:solidFill>
                  <a:srgbClr val="6B3FA0"/>
                </a:solidFill>
                <a:latin typeface="Calibri" pitchFamily="34" charset="0"/>
                <a:ea typeface="Calibri" pitchFamily="34" charset="-122"/>
                <a:cs typeface="Calibri" pitchFamily="34" charset="-120"/>
              </a:rPr>
              <a:t>Where the AI sits:  </a:t>
            </a:r>
            <a:pPr indent="0" marL="0">
              <a:buNone/>
            </a:pPr>
            <a:r>
              <a:rPr lang="en-US" sz="1050" dirty="0">
                <a:solidFill>
                  <a:srgbClr val="3A4356"/>
                </a:solidFill>
                <a:latin typeface="Calibri" pitchFamily="34" charset="0"/>
                <a:ea typeface="Calibri" pitchFamily="34" charset="-122"/>
                <a:cs typeface="Calibri" pitchFamily="34" charset="-120"/>
              </a:rPr>
              <a:t>nowhere in the rules. Every check and saving on the next seven slides is deterministic engine code. The optional "AI deep analysis" (off at JLR) only writes commentary on findings the rules made — it cannot add, remove or re-rank one.</a:t>
            </a:r>
            <a:endParaRPr lang="en-US" sz="1050" dirty="0"/>
          </a:p>
        </p:txBody>
      </p:sp>
      <p:sp>
        <p:nvSpPr>
          <p:cNvPr id="37" name="Shape 35"/>
          <p:cNvSpPr/>
          <p:nvPr/>
        </p:nvSpPr>
        <p:spPr>
          <a:xfrm>
            <a:off x="457200" y="5614416"/>
            <a:ext cx="11274552" cy="694944"/>
          </a:xfrm>
          <a:prstGeom prst="roundRect">
            <a:avLst>
              <a:gd name="adj" fmla="val 13158"/>
            </a:avLst>
          </a:prstGeom>
          <a:solidFill>
            <a:srgbClr val="16325C"/>
          </a:solidFill>
          <a:ln/>
        </p:spPr>
      </p:sp>
      <p:sp>
        <p:nvSpPr>
          <p:cNvPr id="38" name="Text 36"/>
          <p:cNvSpPr/>
          <p:nvPr/>
        </p:nvSpPr>
        <p:spPr>
          <a:xfrm>
            <a:off x="777240" y="5687568"/>
            <a:ext cx="10652760" cy="548640"/>
          </a:xfrm>
          <a:prstGeom prst="rect">
            <a:avLst/>
          </a:prstGeom>
          <a:noFill/>
          <a:ln/>
        </p:spPr>
        <p:txBody>
          <a:bodyPr wrap="square" lIns="0" tIns="0" rIns="0" bIns="0" rtlCol="0" anchor="ctr"/>
          <a:lstStyle/>
          <a:p>
            <a:pPr indent="0" marL="0">
              <a:buNone/>
            </a:pPr>
            <a:r>
              <a:rPr lang="en-US" sz="1200" b="1" dirty="0">
                <a:solidFill>
                  <a:srgbClr val="9FB6E0"/>
                </a:solidFill>
                <a:latin typeface="Calibri" pitchFamily="34" charset="0"/>
                <a:ea typeface="Calibri" pitchFamily="34" charset="-122"/>
                <a:cs typeface="Calibri" pitchFamily="34" charset="-120"/>
              </a:rPr>
              <a:t>What the next seven slides are:  </a:t>
            </a:r>
            <a:pPr indent="0" marL="0">
              <a:buNone/>
            </a:pPr>
            <a:r>
              <a:rPr lang="en-US" sz="1200" dirty="0">
                <a:solidFill>
                  <a:srgbClr val="FFFFFF"/>
                </a:solidFill>
                <a:latin typeface="Calibri" pitchFamily="34" charset="0"/>
                <a:ea typeface="Calibri" pitchFamily="34" charset="-122"/>
                <a:cs typeface="Calibri" pitchFamily="34" charset="-120"/>
              </a:rPr>
              <a:t>the complete rule book, transcribed from the tool’s source code — the 19 parameters, all 52 rules with exact thresholds, the 10 geometry advisors, and all 36 idea levers.</a:t>
            </a:r>
            <a:endParaRPr lang="en-US" sz="1200" dirty="0"/>
          </a:p>
        </p:txBody>
      </p:sp>
      <p:sp>
        <p:nvSpPr>
          <p:cNvPr id="39" name="Text 37"/>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40" name="Text 38"/>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48</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Parameters — 10 Core + 9 Extended Signals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Everything the threshold rules are allowed to read, and nothing else — all of it from the costing itself</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Text 5"/>
          <p:cNvSpPr/>
          <p:nvPr/>
        </p:nvSpPr>
        <p:spPr>
          <a:xfrm>
            <a:off x="1188720" y="1133856"/>
            <a:ext cx="3200400" cy="201168"/>
          </a:xfrm>
          <a:prstGeom prst="rect">
            <a:avLst/>
          </a:prstGeom>
          <a:noFill/>
          <a:ln/>
        </p:spPr>
        <p:txBody>
          <a:bodyPr wrap="square" lIns="0" tIns="0" rIns="0" bIns="0" rtlCol="0" anchor="ctr"/>
          <a:lstStyle/>
          <a:p>
            <a:pPr indent="0" marL="0">
              <a:buNone/>
            </a:pPr>
            <a:r>
              <a:rPr lang="en-US" sz="850" b="1" spc="50" kern="0" dirty="0">
                <a:solidFill>
                  <a:srgbClr val="686F7D"/>
                </a:solidFill>
                <a:latin typeface="Calibri" pitchFamily="34" charset="0"/>
                <a:ea typeface="Calibri" pitchFamily="34" charset="-122"/>
                <a:cs typeface="Calibri" pitchFamily="34" charset="-120"/>
              </a:rPr>
              <a:t>CORE PARAMETER</a:t>
            </a:r>
            <a:endParaRPr lang="en-US" sz="850" dirty="0"/>
          </a:p>
        </p:txBody>
      </p:sp>
      <p:sp>
        <p:nvSpPr>
          <p:cNvPr id="8" name="Text 6"/>
          <p:cNvSpPr/>
          <p:nvPr/>
        </p:nvSpPr>
        <p:spPr>
          <a:xfrm>
            <a:off x="3566160" y="1133856"/>
            <a:ext cx="3703320" cy="201168"/>
          </a:xfrm>
          <a:prstGeom prst="rect">
            <a:avLst/>
          </a:prstGeom>
          <a:noFill/>
          <a:ln/>
        </p:spPr>
        <p:txBody>
          <a:bodyPr wrap="square" lIns="0" tIns="0" rIns="0" bIns="0" rtlCol="0" anchor="ctr"/>
          <a:lstStyle/>
          <a:p>
            <a:pPr indent="0" marL="0">
              <a:buNone/>
            </a:pPr>
            <a:r>
              <a:rPr lang="en-US" sz="850" b="1" spc="50" kern="0" dirty="0">
                <a:solidFill>
                  <a:srgbClr val="686F7D"/>
                </a:solidFill>
                <a:latin typeface="Calibri" pitchFamily="34" charset="0"/>
                <a:ea typeface="Calibri" pitchFamily="34" charset="-122"/>
                <a:cs typeface="Calibri" pitchFamily="34" charset="-120"/>
              </a:rPr>
              <a:t>IN PLAIN WORDS</a:t>
            </a:r>
            <a:endParaRPr lang="en-US" sz="850" dirty="0"/>
          </a:p>
        </p:txBody>
      </p:sp>
      <p:sp>
        <p:nvSpPr>
          <p:cNvPr id="9" name="Text 7"/>
          <p:cNvSpPr/>
          <p:nvPr/>
        </p:nvSpPr>
        <p:spPr>
          <a:xfrm>
            <a:off x="7360920" y="1133856"/>
            <a:ext cx="1920240" cy="201168"/>
          </a:xfrm>
          <a:prstGeom prst="rect">
            <a:avLst/>
          </a:prstGeom>
          <a:noFill/>
          <a:ln/>
        </p:spPr>
        <p:txBody>
          <a:bodyPr wrap="square" lIns="0" tIns="0" rIns="0" bIns="0" rtlCol="0" anchor="ctr"/>
          <a:lstStyle/>
          <a:p>
            <a:pPr indent="0" marL="0">
              <a:buNone/>
            </a:pPr>
            <a:r>
              <a:rPr lang="en-US" sz="850" b="1" spc="50" kern="0" dirty="0">
                <a:solidFill>
                  <a:srgbClr val="686F7D"/>
                </a:solidFill>
                <a:latin typeface="Calibri" pitchFamily="34" charset="0"/>
                <a:ea typeface="Calibri" pitchFamily="34" charset="-122"/>
                <a:cs typeface="Calibri" pitchFamily="34" charset="-120"/>
              </a:rPr>
              <a:t>BENCHMARK</a:t>
            </a:r>
            <a:endParaRPr lang="en-US" sz="850" dirty="0"/>
          </a:p>
        </p:txBody>
      </p:sp>
      <p:sp>
        <p:nvSpPr>
          <p:cNvPr id="10" name="Shape 8"/>
          <p:cNvSpPr/>
          <p:nvPr/>
        </p:nvSpPr>
        <p:spPr>
          <a:xfrm>
            <a:off x="457200" y="1353312"/>
            <a:ext cx="8915400" cy="365760"/>
          </a:xfrm>
          <a:prstGeom prst="roundRect">
            <a:avLst>
              <a:gd name="adj" fmla="val 17500"/>
            </a:avLst>
          </a:prstGeom>
          <a:solidFill>
            <a:srgbClr val="FFFFFF"/>
          </a:solidFill>
          <a:ln w="12700">
            <a:solidFill>
              <a:srgbClr val="DCE3EE"/>
            </a:solidFill>
            <a:prstDash val="solid"/>
          </a:ln>
        </p:spPr>
      </p:sp>
      <p:sp>
        <p:nvSpPr>
          <p:cNvPr id="11" name="Shape 9"/>
          <p:cNvSpPr/>
          <p:nvPr/>
        </p:nvSpPr>
        <p:spPr>
          <a:xfrm>
            <a:off x="658368" y="1417320"/>
            <a:ext cx="237744" cy="237744"/>
          </a:xfrm>
          <a:prstGeom prst="ellipse">
            <a:avLst/>
          </a:prstGeom>
          <a:solidFill>
            <a:srgbClr val="0D7D71"/>
          </a:solidFill>
          <a:ln/>
        </p:spPr>
      </p:sp>
      <p:sp>
        <p:nvSpPr>
          <p:cNvPr id="12" name="Text 10"/>
          <p:cNvSpPr/>
          <p:nvPr/>
        </p:nvSpPr>
        <p:spPr>
          <a:xfrm>
            <a:off x="658368" y="14173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11"/>
          <p:cNvSpPr/>
          <p:nvPr/>
        </p:nvSpPr>
        <p:spPr>
          <a:xfrm>
            <a:off x="1188720" y="1353312"/>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Total part cost</a:t>
            </a:r>
            <a:endParaRPr lang="en-US" sz="1000" dirty="0"/>
          </a:p>
        </p:txBody>
      </p:sp>
      <p:sp>
        <p:nvSpPr>
          <p:cNvPr id="14" name="Text 12"/>
          <p:cNvSpPr/>
          <p:nvPr/>
        </p:nvSpPr>
        <p:spPr>
          <a:xfrm>
            <a:off x="3566160" y="1353312"/>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engine’s finished ex-works cost — the reference for every percentage below.</a:t>
            </a:r>
            <a:endParaRPr lang="en-US" sz="880" dirty="0"/>
          </a:p>
        </p:txBody>
      </p:sp>
      <p:sp>
        <p:nvSpPr>
          <p:cNvPr id="15" name="Text 13"/>
          <p:cNvSpPr/>
          <p:nvPr/>
        </p:nvSpPr>
        <p:spPr>
          <a:xfrm>
            <a:off x="7360920" y="1353312"/>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a:t>
            </a:r>
            <a:endParaRPr lang="en-US" sz="840" dirty="0"/>
          </a:p>
        </p:txBody>
      </p:sp>
      <p:sp>
        <p:nvSpPr>
          <p:cNvPr id="16" name="Shape 14"/>
          <p:cNvSpPr/>
          <p:nvPr/>
        </p:nvSpPr>
        <p:spPr>
          <a:xfrm>
            <a:off x="457200" y="1751076"/>
            <a:ext cx="8915400" cy="365760"/>
          </a:xfrm>
          <a:prstGeom prst="roundRect">
            <a:avLst>
              <a:gd name="adj" fmla="val 17500"/>
            </a:avLst>
          </a:prstGeom>
          <a:solidFill>
            <a:srgbClr val="FFFFFF"/>
          </a:solidFill>
          <a:ln w="12700">
            <a:solidFill>
              <a:srgbClr val="DCE3EE"/>
            </a:solidFill>
            <a:prstDash val="solid"/>
          </a:ln>
        </p:spPr>
      </p:sp>
      <p:sp>
        <p:nvSpPr>
          <p:cNvPr id="17" name="Shape 15"/>
          <p:cNvSpPr/>
          <p:nvPr/>
        </p:nvSpPr>
        <p:spPr>
          <a:xfrm>
            <a:off x="658368" y="1815084"/>
            <a:ext cx="237744" cy="237744"/>
          </a:xfrm>
          <a:prstGeom prst="ellipse">
            <a:avLst/>
          </a:prstGeom>
          <a:solidFill>
            <a:srgbClr val="0D7D71"/>
          </a:solidFill>
          <a:ln/>
        </p:spPr>
      </p:sp>
      <p:sp>
        <p:nvSpPr>
          <p:cNvPr id="18" name="Text 16"/>
          <p:cNvSpPr/>
          <p:nvPr/>
        </p:nvSpPr>
        <p:spPr>
          <a:xfrm>
            <a:off x="658368" y="18150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1188720" y="1751076"/>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Material share of cost</a:t>
            </a:r>
            <a:endParaRPr lang="en-US" sz="1000" dirty="0"/>
          </a:p>
        </p:txBody>
      </p:sp>
      <p:sp>
        <p:nvSpPr>
          <p:cNvPr id="20" name="Text 18"/>
          <p:cNvSpPr/>
          <p:nvPr/>
        </p:nvSpPr>
        <p:spPr>
          <a:xfrm>
            <a:off x="3566160" y="1751076"/>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What fraction of the part price is spent buying raw material.</a:t>
            </a:r>
            <a:endParaRPr lang="en-US" sz="880" dirty="0"/>
          </a:p>
        </p:txBody>
      </p:sp>
      <p:sp>
        <p:nvSpPr>
          <p:cNvPr id="21" name="Text 19"/>
          <p:cNvSpPr/>
          <p:nvPr/>
        </p:nvSpPr>
        <p:spPr>
          <a:xfrm>
            <a:off x="7360920" y="1751076"/>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floor 35% (castings)</a:t>
            </a:r>
            <a:endParaRPr lang="en-US" sz="840" dirty="0"/>
          </a:p>
        </p:txBody>
      </p:sp>
      <p:sp>
        <p:nvSpPr>
          <p:cNvPr id="22" name="Shape 20"/>
          <p:cNvSpPr/>
          <p:nvPr/>
        </p:nvSpPr>
        <p:spPr>
          <a:xfrm>
            <a:off x="457200" y="2148840"/>
            <a:ext cx="8915400" cy="365760"/>
          </a:xfrm>
          <a:prstGeom prst="roundRect">
            <a:avLst>
              <a:gd name="adj" fmla="val 17500"/>
            </a:avLst>
          </a:prstGeom>
          <a:solidFill>
            <a:srgbClr val="FFFFFF"/>
          </a:solidFill>
          <a:ln w="12700">
            <a:solidFill>
              <a:srgbClr val="DCE3EE"/>
            </a:solidFill>
            <a:prstDash val="solid"/>
          </a:ln>
        </p:spPr>
      </p:sp>
      <p:sp>
        <p:nvSpPr>
          <p:cNvPr id="23" name="Shape 21"/>
          <p:cNvSpPr/>
          <p:nvPr/>
        </p:nvSpPr>
        <p:spPr>
          <a:xfrm>
            <a:off x="658368" y="2212848"/>
            <a:ext cx="237744" cy="237744"/>
          </a:xfrm>
          <a:prstGeom prst="ellipse">
            <a:avLst/>
          </a:prstGeom>
          <a:solidFill>
            <a:srgbClr val="0D7D71"/>
          </a:solidFill>
          <a:ln/>
        </p:spPr>
      </p:sp>
      <p:sp>
        <p:nvSpPr>
          <p:cNvPr id="24" name="Text 22"/>
          <p:cNvSpPr/>
          <p:nvPr/>
        </p:nvSpPr>
        <p:spPr>
          <a:xfrm>
            <a:off x="658368" y="22128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1188720" y="2148840"/>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Process share of cost</a:t>
            </a:r>
            <a:endParaRPr lang="en-US" sz="1000" dirty="0"/>
          </a:p>
        </p:txBody>
      </p:sp>
      <p:sp>
        <p:nvSpPr>
          <p:cNvPr id="26" name="Text 24"/>
          <p:cNvSpPr/>
          <p:nvPr/>
        </p:nvSpPr>
        <p:spPr>
          <a:xfrm>
            <a:off x="3566160" y="2148840"/>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fraction spent on machine time — presses, mills, ovens, lines.</a:t>
            </a:r>
            <a:endParaRPr lang="en-US" sz="880" dirty="0"/>
          </a:p>
        </p:txBody>
      </p:sp>
      <p:sp>
        <p:nvSpPr>
          <p:cNvPr id="27" name="Text 25"/>
          <p:cNvSpPr/>
          <p:nvPr/>
        </p:nvSpPr>
        <p:spPr>
          <a:xfrm>
            <a:off x="7360920" y="2148840"/>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flag at 35–60% by commodity</a:t>
            </a:r>
            <a:endParaRPr lang="en-US" sz="840" dirty="0"/>
          </a:p>
        </p:txBody>
      </p:sp>
      <p:sp>
        <p:nvSpPr>
          <p:cNvPr id="28" name="Shape 26"/>
          <p:cNvSpPr/>
          <p:nvPr/>
        </p:nvSpPr>
        <p:spPr>
          <a:xfrm>
            <a:off x="457200" y="2546604"/>
            <a:ext cx="8915400" cy="365760"/>
          </a:xfrm>
          <a:prstGeom prst="roundRect">
            <a:avLst>
              <a:gd name="adj" fmla="val 17500"/>
            </a:avLst>
          </a:prstGeom>
          <a:solidFill>
            <a:srgbClr val="FFFFFF"/>
          </a:solidFill>
          <a:ln w="12700">
            <a:solidFill>
              <a:srgbClr val="DCE3EE"/>
            </a:solidFill>
            <a:prstDash val="solid"/>
          </a:ln>
        </p:spPr>
      </p:sp>
      <p:sp>
        <p:nvSpPr>
          <p:cNvPr id="29" name="Shape 27"/>
          <p:cNvSpPr/>
          <p:nvPr/>
        </p:nvSpPr>
        <p:spPr>
          <a:xfrm>
            <a:off x="658368" y="2610612"/>
            <a:ext cx="237744" cy="237744"/>
          </a:xfrm>
          <a:prstGeom prst="ellipse">
            <a:avLst/>
          </a:prstGeom>
          <a:solidFill>
            <a:srgbClr val="0D7D71"/>
          </a:solidFill>
          <a:ln/>
        </p:spPr>
      </p:sp>
      <p:sp>
        <p:nvSpPr>
          <p:cNvPr id="30" name="Text 28"/>
          <p:cNvSpPr/>
          <p:nvPr/>
        </p:nvSpPr>
        <p:spPr>
          <a:xfrm>
            <a:off x="658368" y="26106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1" name="Text 29"/>
          <p:cNvSpPr/>
          <p:nvPr/>
        </p:nvSpPr>
        <p:spPr>
          <a:xfrm>
            <a:off x="1188720" y="2546604"/>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Labour share of cost</a:t>
            </a:r>
            <a:endParaRPr lang="en-US" sz="1000" dirty="0"/>
          </a:p>
        </p:txBody>
      </p:sp>
      <p:sp>
        <p:nvSpPr>
          <p:cNvPr id="32" name="Text 30"/>
          <p:cNvSpPr/>
          <p:nvPr/>
        </p:nvSpPr>
        <p:spPr>
          <a:xfrm>
            <a:off x="3566160" y="2546604"/>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fraction spent on people’s time.</a:t>
            </a:r>
            <a:endParaRPr lang="en-US" sz="880" dirty="0"/>
          </a:p>
        </p:txBody>
      </p:sp>
      <p:sp>
        <p:nvSpPr>
          <p:cNvPr id="33" name="Text 31"/>
          <p:cNvSpPr/>
          <p:nvPr/>
        </p:nvSpPr>
        <p:spPr>
          <a:xfrm>
            <a:off x="7360920" y="2546604"/>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flag at 30–50% by commodity</a:t>
            </a:r>
            <a:endParaRPr lang="en-US" sz="840" dirty="0"/>
          </a:p>
        </p:txBody>
      </p:sp>
      <p:sp>
        <p:nvSpPr>
          <p:cNvPr id="34" name="Shape 32"/>
          <p:cNvSpPr/>
          <p:nvPr/>
        </p:nvSpPr>
        <p:spPr>
          <a:xfrm>
            <a:off x="457200" y="2944368"/>
            <a:ext cx="8915400" cy="365760"/>
          </a:xfrm>
          <a:prstGeom prst="roundRect">
            <a:avLst>
              <a:gd name="adj" fmla="val 17500"/>
            </a:avLst>
          </a:prstGeom>
          <a:solidFill>
            <a:srgbClr val="FFFFFF"/>
          </a:solidFill>
          <a:ln w="12700">
            <a:solidFill>
              <a:srgbClr val="DCE3EE"/>
            </a:solidFill>
            <a:prstDash val="solid"/>
          </a:ln>
        </p:spPr>
      </p:sp>
      <p:sp>
        <p:nvSpPr>
          <p:cNvPr id="35" name="Shape 33"/>
          <p:cNvSpPr/>
          <p:nvPr/>
        </p:nvSpPr>
        <p:spPr>
          <a:xfrm>
            <a:off x="658368" y="3008376"/>
            <a:ext cx="237744" cy="237744"/>
          </a:xfrm>
          <a:prstGeom prst="ellipse">
            <a:avLst/>
          </a:prstGeom>
          <a:solidFill>
            <a:srgbClr val="0D7D71"/>
          </a:solidFill>
          <a:ln/>
        </p:spPr>
      </p:sp>
      <p:sp>
        <p:nvSpPr>
          <p:cNvPr id="36" name="Text 34"/>
          <p:cNvSpPr/>
          <p:nvPr/>
        </p:nvSpPr>
        <p:spPr>
          <a:xfrm>
            <a:off x="658368" y="300837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7" name="Text 35"/>
          <p:cNvSpPr/>
          <p:nvPr/>
        </p:nvSpPr>
        <p:spPr>
          <a:xfrm>
            <a:off x="1188720" y="2944368"/>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Tooling share of cost</a:t>
            </a:r>
            <a:endParaRPr lang="en-US" sz="1000" dirty="0"/>
          </a:p>
        </p:txBody>
      </p:sp>
      <p:sp>
        <p:nvSpPr>
          <p:cNvPr id="38" name="Text 36"/>
          <p:cNvSpPr/>
          <p:nvPr/>
        </p:nvSpPr>
        <p:spPr>
          <a:xfrm>
            <a:off x="3566160" y="2944368"/>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die, mould or fixture investment spread over the parts it makes.</a:t>
            </a:r>
            <a:endParaRPr lang="en-US" sz="880" dirty="0"/>
          </a:p>
        </p:txBody>
      </p:sp>
      <p:sp>
        <p:nvSpPr>
          <p:cNvPr id="39" name="Text 37"/>
          <p:cNvSpPr/>
          <p:nvPr/>
        </p:nvSpPr>
        <p:spPr>
          <a:xfrm>
            <a:off x="7360920" y="2944368"/>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benchmark 12%</a:t>
            </a:r>
            <a:endParaRPr lang="en-US" sz="840" dirty="0"/>
          </a:p>
        </p:txBody>
      </p:sp>
      <p:sp>
        <p:nvSpPr>
          <p:cNvPr id="40" name="Shape 38"/>
          <p:cNvSpPr/>
          <p:nvPr/>
        </p:nvSpPr>
        <p:spPr>
          <a:xfrm>
            <a:off x="457200" y="3342132"/>
            <a:ext cx="8915400" cy="365760"/>
          </a:xfrm>
          <a:prstGeom prst="roundRect">
            <a:avLst>
              <a:gd name="adj" fmla="val 17500"/>
            </a:avLst>
          </a:prstGeom>
          <a:solidFill>
            <a:srgbClr val="FFFFFF"/>
          </a:solidFill>
          <a:ln w="12700">
            <a:solidFill>
              <a:srgbClr val="DCE3EE"/>
            </a:solidFill>
            <a:prstDash val="solid"/>
          </a:ln>
        </p:spPr>
      </p:sp>
      <p:sp>
        <p:nvSpPr>
          <p:cNvPr id="41" name="Shape 39"/>
          <p:cNvSpPr/>
          <p:nvPr/>
        </p:nvSpPr>
        <p:spPr>
          <a:xfrm>
            <a:off x="658368" y="3406140"/>
            <a:ext cx="237744" cy="237744"/>
          </a:xfrm>
          <a:prstGeom prst="ellipse">
            <a:avLst/>
          </a:prstGeom>
          <a:solidFill>
            <a:srgbClr val="0D7D71"/>
          </a:solidFill>
          <a:ln/>
        </p:spPr>
      </p:sp>
      <p:sp>
        <p:nvSpPr>
          <p:cNvPr id="42" name="Text 40"/>
          <p:cNvSpPr/>
          <p:nvPr/>
        </p:nvSpPr>
        <p:spPr>
          <a:xfrm>
            <a:off x="658368" y="34061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43" name="Text 41"/>
          <p:cNvSpPr/>
          <p:nvPr/>
        </p:nvSpPr>
        <p:spPr>
          <a:xfrm>
            <a:off x="1188720" y="3342132"/>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Overhead share of cost</a:t>
            </a:r>
            <a:endParaRPr lang="en-US" sz="1000" dirty="0"/>
          </a:p>
        </p:txBody>
      </p:sp>
      <p:sp>
        <p:nvSpPr>
          <p:cNvPr id="44" name="Text 42"/>
          <p:cNvSpPr/>
          <p:nvPr/>
        </p:nvSpPr>
        <p:spPr>
          <a:xfrm>
            <a:off x="3566160" y="3342132"/>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supplier’s factory burden — buildings, energy, management.</a:t>
            </a:r>
            <a:endParaRPr lang="en-US" sz="880" dirty="0"/>
          </a:p>
        </p:txBody>
      </p:sp>
      <p:sp>
        <p:nvSpPr>
          <p:cNvPr id="45" name="Text 43"/>
          <p:cNvSpPr/>
          <p:nvPr/>
        </p:nvSpPr>
        <p:spPr>
          <a:xfrm>
            <a:off x="7360920" y="3342132"/>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benchmark 18%</a:t>
            </a:r>
            <a:endParaRPr lang="en-US" sz="840" dirty="0"/>
          </a:p>
        </p:txBody>
      </p:sp>
      <p:sp>
        <p:nvSpPr>
          <p:cNvPr id="46" name="Shape 44"/>
          <p:cNvSpPr/>
          <p:nvPr/>
        </p:nvSpPr>
        <p:spPr>
          <a:xfrm>
            <a:off x="457200" y="3739896"/>
            <a:ext cx="8915400" cy="365760"/>
          </a:xfrm>
          <a:prstGeom prst="roundRect">
            <a:avLst>
              <a:gd name="adj" fmla="val 17500"/>
            </a:avLst>
          </a:prstGeom>
          <a:solidFill>
            <a:srgbClr val="FFFFFF"/>
          </a:solidFill>
          <a:ln w="12700">
            <a:solidFill>
              <a:srgbClr val="DCE3EE"/>
            </a:solidFill>
            <a:prstDash val="solid"/>
          </a:ln>
        </p:spPr>
      </p:sp>
      <p:sp>
        <p:nvSpPr>
          <p:cNvPr id="47" name="Shape 45"/>
          <p:cNvSpPr/>
          <p:nvPr/>
        </p:nvSpPr>
        <p:spPr>
          <a:xfrm>
            <a:off x="658368" y="3803904"/>
            <a:ext cx="237744" cy="237744"/>
          </a:xfrm>
          <a:prstGeom prst="ellipse">
            <a:avLst/>
          </a:prstGeom>
          <a:solidFill>
            <a:srgbClr val="0D7D71"/>
          </a:solidFill>
          <a:ln/>
        </p:spPr>
      </p:sp>
      <p:sp>
        <p:nvSpPr>
          <p:cNvPr id="48" name="Text 46"/>
          <p:cNvSpPr/>
          <p:nvPr/>
        </p:nvSpPr>
        <p:spPr>
          <a:xfrm>
            <a:off x="658368" y="380390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49" name="Text 47"/>
          <p:cNvSpPr/>
          <p:nvPr/>
        </p:nvSpPr>
        <p:spPr>
          <a:xfrm>
            <a:off x="1188720" y="3739896"/>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Margin share of cost</a:t>
            </a:r>
            <a:endParaRPr lang="en-US" sz="1000" dirty="0"/>
          </a:p>
        </p:txBody>
      </p:sp>
      <p:sp>
        <p:nvSpPr>
          <p:cNvPr id="50" name="Text 48"/>
          <p:cNvSpPr/>
          <p:nvPr/>
        </p:nvSpPr>
        <p:spPr>
          <a:xfrm>
            <a:off x="3566160" y="3739896"/>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The supplier’s profit on the part.</a:t>
            </a:r>
            <a:endParaRPr lang="en-US" sz="880" dirty="0"/>
          </a:p>
        </p:txBody>
      </p:sp>
      <p:sp>
        <p:nvSpPr>
          <p:cNvPr id="51" name="Text 49"/>
          <p:cNvSpPr/>
          <p:nvPr/>
        </p:nvSpPr>
        <p:spPr>
          <a:xfrm>
            <a:off x="7360920" y="3739896"/>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competitive 10–12%</a:t>
            </a:r>
            <a:endParaRPr lang="en-US" sz="840" dirty="0"/>
          </a:p>
        </p:txBody>
      </p:sp>
      <p:sp>
        <p:nvSpPr>
          <p:cNvPr id="52" name="Shape 50"/>
          <p:cNvSpPr/>
          <p:nvPr/>
        </p:nvSpPr>
        <p:spPr>
          <a:xfrm>
            <a:off x="457200" y="4137660"/>
            <a:ext cx="8915400" cy="365760"/>
          </a:xfrm>
          <a:prstGeom prst="roundRect">
            <a:avLst>
              <a:gd name="adj" fmla="val 17500"/>
            </a:avLst>
          </a:prstGeom>
          <a:solidFill>
            <a:srgbClr val="FFFFFF"/>
          </a:solidFill>
          <a:ln w="12700">
            <a:solidFill>
              <a:srgbClr val="DCE3EE"/>
            </a:solidFill>
            <a:prstDash val="solid"/>
          </a:ln>
        </p:spPr>
      </p:sp>
      <p:sp>
        <p:nvSpPr>
          <p:cNvPr id="53" name="Shape 51"/>
          <p:cNvSpPr/>
          <p:nvPr/>
        </p:nvSpPr>
        <p:spPr>
          <a:xfrm>
            <a:off x="658368" y="4201668"/>
            <a:ext cx="237744" cy="237744"/>
          </a:xfrm>
          <a:prstGeom prst="ellipse">
            <a:avLst/>
          </a:prstGeom>
          <a:solidFill>
            <a:srgbClr val="1D6FB8"/>
          </a:solidFill>
          <a:ln/>
        </p:spPr>
      </p:sp>
      <p:sp>
        <p:nvSpPr>
          <p:cNvPr id="54" name="Text 52"/>
          <p:cNvSpPr/>
          <p:nvPr/>
        </p:nvSpPr>
        <p:spPr>
          <a:xfrm>
            <a:off x="658368" y="42016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55" name="Text 53"/>
          <p:cNvSpPr/>
          <p:nvPr/>
        </p:nvSpPr>
        <p:spPr>
          <a:xfrm>
            <a:off x="1188720" y="4137660"/>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Operation count</a:t>
            </a:r>
            <a:endParaRPr lang="en-US" sz="1000" dirty="0"/>
          </a:p>
        </p:txBody>
      </p:sp>
      <p:sp>
        <p:nvSpPr>
          <p:cNvPr id="56" name="Text 54"/>
          <p:cNvSpPr/>
          <p:nvPr/>
        </p:nvSpPr>
        <p:spPr>
          <a:xfrm>
            <a:off x="3566160" y="4137660"/>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How many separate process steps the part goes through.</a:t>
            </a:r>
            <a:endParaRPr lang="en-US" sz="880" dirty="0"/>
          </a:p>
        </p:txBody>
      </p:sp>
      <p:sp>
        <p:nvSpPr>
          <p:cNvPr id="57" name="Text 55"/>
          <p:cNvSpPr/>
          <p:nvPr/>
        </p:nvSpPr>
        <p:spPr>
          <a:xfrm>
            <a:off x="7360920" y="4137660"/>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flag at 4–8 by commodity</a:t>
            </a:r>
            <a:endParaRPr lang="en-US" sz="840" dirty="0"/>
          </a:p>
        </p:txBody>
      </p:sp>
      <p:sp>
        <p:nvSpPr>
          <p:cNvPr id="58" name="Shape 56"/>
          <p:cNvSpPr/>
          <p:nvPr/>
        </p:nvSpPr>
        <p:spPr>
          <a:xfrm>
            <a:off x="457200" y="4535424"/>
            <a:ext cx="8915400" cy="365760"/>
          </a:xfrm>
          <a:prstGeom prst="roundRect">
            <a:avLst>
              <a:gd name="adj" fmla="val 17500"/>
            </a:avLst>
          </a:prstGeom>
          <a:solidFill>
            <a:srgbClr val="FFFFFF"/>
          </a:solidFill>
          <a:ln w="12700">
            <a:solidFill>
              <a:srgbClr val="DCE3EE"/>
            </a:solidFill>
            <a:prstDash val="solid"/>
          </a:ln>
        </p:spPr>
      </p:sp>
      <p:sp>
        <p:nvSpPr>
          <p:cNvPr id="59" name="Shape 57"/>
          <p:cNvSpPr/>
          <p:nvPr/>
        </p:nvSpPr>
        <p:spPr>
          <a:xfrm>
            <a:off x="658368" y="4599432"/>
            <a:ext cx="237744" cy="237744"/>
          </a:xfrm>
          <a:prstGeom prst="ellipse">
            <a:avLst/>
          </a:prstGeom>
          <a:solidFill>
            <a:srgbClr val="1D6FB8"/>
          </a:solidFill>
          <a:ln/>
        </p:spPr>
      </p:sp>
      <p:sp>
        <p:nvSpPr>
          <p:cNvPr id="60" name="Text 58"/>
          <p:cNvSpPr/>
          <p:nvPr/>
        </p:nvSpPr>
        <p:spPr>
          <a:xfrm>
            <a:off x="658368" y="45994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61" name="Text 59"/>
          <p:cNvSpPr/>
          <p:nvPr/>
        </p:nvSpPr>
        <p:spPr>
          <a:xfrm>
            <a:off x="1188720" y="4535424"/>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Average OEE</a:t>
            </a:r>
            <a:endParaRPr lang="en-US" sz="1000" dirty="0"/>
          </a:p>
        </p:txBody>
      </p:sp>
      <p:sp>
        <p:nvSpPr>
          <p:cNvPr id="62" name="Text 60"/>
          <p:cNvSpPr/>
          <p:nvPr/>
        </p:nvSpPr>
        <p:spPr>
          <a:xfrm>
            <a:off x="3566160" y="4535424"/>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How much of planned machine time actually makes good parts.</a:t>
            </a:r>
            <a:endParaRPr lang="en-US" sz="880" dirty="0"/>
          </a:p>
        </p:txBody>
      </p:sp>
      <p:sp>
        <p:nvSpPr>
          <p:cNvPr id="63" name="Text 61"/>
          <p:cNvSpPr/>
          <p:nvPr/>
        </p:nvSpPr>
        <p:spPr>
          <a:xfrm>
            <a:off x="7360920" y="4535424"/>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target 85% (assumed if not entered)</a:t>
            </a:r>
            <a:endParaRPr lang="en-US" sz="840" dirty="0"/>
          </a:p>
        </p:txBody>
      </p:sp>
      <p:sp>
        <p:nvSpPr>
          <p:cNvPr id="64" name="Shape 62"/>
          <p:cNvSpPr/>
          <p:nvPr/>
        </p:nvSpPr>
        <p:spPr>
          <a:xfrm>
            <a:off x="457200" y="4933188"/>
            <a:ext cx="8915400" cy="365760"/>
          </a:xfrm>
          <a:prstGeom prst="roundRect">
            <a:avLst>
              <a:gd name="adj" fmla="val 17500"/>
            </a:avLst>
          </a:prstGeom>
          <a:solidFill>
            <a:srgbClr val="FFFFFF"/>
          </a:solidFill>
          <a:ln w="12700">
            <a:solidFill>
              <a:srgbClr val="DCE3EE"/>
            </a:solidFill>
            <a:prstDash val="solid"/>
          </a:ln>
        </p:spPr>
      </p:sp>
      <p:sp>
        <p:nvSpPr>
          <p:cNvPr id="65" name="Shape 63"/>
          <p:cNvSpPr/>
          <p:nvPr/>
        </p:nvSpPr>
        <p:spPr>
          <a:xfrm>
            <a:off x="658368" y="4997196"/>
            <a:ext cx="237744" cy="237744"/>
          </a:xfrm>
          <a:prstGeom prst="ellipse">
            <a:avLst/>
          </a:prstGeom>
          <a:solidFill>
            <a:srgbClr val="1D6FB8"/>
          </a:solidFill>
          <a:ln/>
        </p:spPr>
      </p:sp>
      <p:sp>
        <p:nvSpPr>
          <p:cNvPr id="66" name="Text 64"/>
          <p:cNvSpPr/>
          <p:nvPr/>
        </p:nvSpPr>
        <p:spPr>
          <a:xfrm>
            <a:off x="658368" y="49971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67" name="Text 65"/>
          <p:cNvSpPr/>
          <p:nvPr/>
        </p:nvSpPr>
        <p:spPr>
          <a:xfrm>
            <a:off x="1188720" y="4933188"/>
            <a:ext cx="2286000" cy="365760"/>
          </a:xfrm>
          <a:prstGeom prst="rect">
            <a:avLst/>
          </a:prstGeom>
          <a:noFill/>
          <a:ln/>
        </p:spPr>
        <p:txBody>
          <a:bodyPr wrap="square" lIns="0" tIns="0" rIns="0" bIns="0" rtlCol="0" anchor="ctr"/>
          <a:lstStyle/>
          <a:p>
            <a:pPr indent="0" marL="0">
              <a:buNone/>
            </a:pPr>
            <a:r>
              <a:rPr lang="en-US" sz="1000" b="1" dirty="0">
                <a:solidFill>
                  <a:srgbClr val="16325C"/>
                </a:solidFill>
                <a:latin typeface="Calibri" pitchFamily="34" charset="0"/>
                <a:ea typeface="Calibri" pitchFamily="34" charset="-122"/>
                <a:cs typeface="Calibri" pitchFamily="34" charset="-120"/>
              </a:rPr>
              <a:t>Material utilisation</a:t>
            </a:r>
            <a:endParaRPr lang="en-US" sz="1000" dirty="0"/>
          </a:p>
        </p:txBody>
      </p:sp>
      <p:sp>
        <p:nvSpPr>
          <p:cNvPr id="68" name="Text 66"/>
          <p:cNvSpPr/>
          <p:nvPr/>
        </p:nvSpPr>
        <p:spPr>
          <a:xfrm>
            <a:off x="3566160" y="4933188"/>
            <a:ext cx="3703320" cy="365760"/>
          </a:xfrm>
          <a:prstGeom prst="rect">
            <a:avLst/>
          </a:prstGeom>
          <a:noFill/>
          <a:ln/>
        </p:spPr>
        <p:txBody>
          <a:bodyPr wrap="square" lIns="0" tIns="0" rIns="0" bIns="0" rtlCol="0" anchor="ctr"/>
          <a:lstStyle/>
          <a:p>
            <a:pPr indent="0" marL="0">
              <a:buNone/>
            </a:pPr>
            <a:r>
              <a:rPr lang="en-US" sz="880" dirty="0">
                <a:solidFill>
                  <a:srgbClr val="3A4356"/>
                </a:solidFill>
                <a:latin typeface="Calibri" pitchFamily="34" charset="0"/>
                <a:ea typeface="Calibri" pitchFamily="34" charset="-122"/>
                <a:cs typeface="Calibri" pitchFamily="34" charset="-120"/>
              </a:rPr>
              <a:t>How much of the bought material ends up in the finished part.</a:t>
            </a:r>
            <a:endParaRPr lang="en-US" sz="880" dirty="0"/>
          </a:p>
        </p:txBody>
      </p:sp>
      <p:sp>
        <p:nvSpPr>
          <p:cNvPr id="69" name="Text 67"/>
          <p:cNvSpPr/>
          <p:nvPr/>
        </p:nvSpPr>
        <p:spPr>
          <a:xfrm>
            <a:off x="7360920" y="4933188"/>
            <a:ext cx="1920240" cy="365760"/>
          </a:xfrm>
          <a:prstGeom prst="rect">
            <a:avLst/>
          </a:prstGeom>
          <a:noFill/>
          <a:ln/>
        </p:spPr>
        <p:txBody>
          <a:bodyPr wrap="square" lIns="0" tIns="0" rIns="0" bIns="0" rtlCol="0" anchor="ctr"/>
          <a:lstStyle/>
          <a:p>
            <a:pPr indent="0" marL="0">
              <a:buNone/>
            </a:pPr>
            <a:r>
              <a:rPr lang="en-US" sz="840" i="1" dirty="0">
                <a:solidFill>
                  <a:srgbClr val="686F7D"/>
                </a:solidFill>
                <a:latin typeface="Calibri" pitchFamily="34" charset="0"/>
                <a:ea typeface="Calibri" pitchFamily="34" charset="-122"/>
                <a:cs typeface="Calibri" pitchFamily="34" charset="-120"/>
              </a:rPr>
              <a:t>benchmark 72% (assumed if not entered)</a:t>
            </a:r>
            <a:endParaRPr lang="en-US" sz="840" dirty="0"/>
          </a:p>
        </p:txBody>
      </p:sp>
      <p:sp>
        <p:nvSpPr>
          <p:cNvPr id="70" name="Text 68"/>
          <p:cNvSpPr/>
          <p:nvPr/>
        </p:nvSpPr>
        <p:spPr>
          <a:xfrm>
            <a:off x="457200" y="5358384"/>
            <a:ext cx="8915400" cy="201168"/>
          </a:xfrm>
          <a:prstGeom prst="rect">
            <a:avLst/>
          </a:prstGeom>
          <a:noFill/>
          <a:ln/>
        </p:spPr>
        <p:txBody>
          <a:bodyPr wrap="square" lIns="0" tIns="0" rIns="0" bIns="0" rtlCol="0" anchor="ctr"/>
          <a:lstStyle/>
          <a:p>
            <a:pPr indent="0" marL="0">
              <a:buNone/>
            </a:pPr>
            <a:r>
              <a:rPr lang="en-US" sz="820" i="1" dirty="0">
                <a:solidFill>
                  <a:srgbClr val="686F7D"/>
                </a:solidFill>
                <a:latin typeface="Calibri" pitchFamily="34" charset="0"/>
                <a:ea typeface="Calibri" pitchFamily="34" charset="-122"/>
                <a:cs typeface="Calibri" pitchFamily="34" charset="-120"/>
              </a:rPr>
              <a:t>Teal — read straight off the finished costing.   Blue — entered with the part (a stated assumption is used when left blank).</a:t>
            </a:r>
            <a:endParaRPr lang="en-US" sz="820" dirty="0"/>
          </a:p>
        </p:txBody>
      </p:sp>
      <p:sp>
        <p:nvSpPr>
          <p:cNvPr id="71" name="Shape 69"/>
          <p:cNvSpPr/>
          <p:nvPr/>
        </p:nvSpPr>
        <p:spPr>
          <a:xfrm>
            <a:off x="457200" y="5614416"/>
            <a:ext cx="8915400" cy="786384"/>
          </a:xfrm>
          <a:prstGeom prst="roundRect">
            <a:avLst>
              <a:gd name="adj" fmla="val 9302"/>
            </a:avLst>
          </a:prstGeom>
          <a:solidFill>
            <a:srgbClr val="EDF3FB"/>
          </a:solidFill>
          <a:ln w="12700">
            <a:solidFill>
              <a:srgbClr val="1D6FB8"/>
            </a:solidFill>
            <a:prstDash val="solid"/>
          </a:ln>
        </p:spPr>
      </p:sp>
      <p:sp>
        <p:nvSpPr>
          <p:cNvPr id="72" name="Text 70"/>
          <p:cNvSpPr/>
          <p:nvPr/>
        </p:nvSpPr>
        <p:spPr>
          <a:xfrm>
            <a:off x="621792" y="5669280"/>
            <a:ext cx="8595360" cy="182880"/>
          </a:xfrm>
          <a:prstGeom prst="rect">
            <a:avLst/>
          </a:prstGeom>
          <a:noFill/>
          <a:ln/>
        </p:spPr>
        <p:txBody>
          <a:bodyPr wrap="square" lIns="0" tIns="0" rIns="0" bIns="0" rtlCol="0" anchor="ctr"/>
          <a:lstStyle/>
          <a:p>
            <a:pPr indent="0" marL="0">
              <a:buNone/>
            </a:pPr>
            <a:r>
              <a:rPr lang="en-US" sz="800" b="1" spc="50" kern="0" dirty="0">
                <a:solidFill>
                  <a:srgbClr val="1D6FB8"/>
                </a:solidFill>
                <a:latin typeface="Calibri" pitchFamily="34" charset="0"/>
                <a:ea typeface="Calibri" pitchFamily="34" charset="-122"/>
                <a:cs typeface="Calibri" pitchFamily="34" charset="-120"/>
              </a:rPr>
              <a:t>+ 9 EXTENDED SIGNALS (added with the 360° upgrade)</a:t>
            </a:r>
            <a:endParaRPr lang="en-US" sz="800" dirty="0"/>
          </a:p>
        </p:txBody>
      </p:sp>
      <p:sp>
        <p:nvSpPr>
          <p:cNvPr id="73" name="Text 71"/>
          <p:cNvSpPr/>
          <p:nvPr/>
        </p:nvSpPr>
        <p:spPr>
          <a:xfrm>
            <a:off x="621792" y="5852160"/>
            <a:ext cx="8595360" cy="512064"/>
          </a:xfrm>
          <a:prstGeom prst="rect">
            <a:avLst/>
          </a:prstGeom>
          <a:noFill/>
          <a:ln/>
        </p:spPr>
        <p:txBody>
          <a:bodyPr wrap="square" lIns="0" tIns="0" rIns="0" bIns="0" rtlCol="0" anchor="t"/>
          <a:lstStyle/>
          <a:p>
            <a:pPr indent="0" marL="0">
              <a:buNone/>
            </a:pPr>
            <a:r>
              <a:rPr lang="en-US" sz="820" dirty="0">
                <a:solidFill>
                  <a:srgbClr val="3A4356"/>
                </a:solidFill>
                <a:latin typeface="Calibri" pitchFamily="34" charset="0"/>
                <a:ea typeface="Calibri" pitchFamily="34" charset="-122"/>
                <a:cs typeface="Calibri" pitchFamily="34" charset="-120"/>
              </a:rPr>
              <a:t>11 packaging share · 12 logistics share · 13 labour efficiency · 14 per-operation cost split (which op carries the money) · 15 consumables cost (cores, patterns, shell) · 16 tooling investment (NRE) and its amortisation basis vs the annual volume · 17 manning and parts-per-cycle · 18 labour-vs-machine cycle time · 19 operation names (welding, inspection, rework, heat-treat signals)</a:t>
            </a:r>
            <a:endParaRPr lang="en-US" sz="820" dirty="0"/>
          </a:p>
        </p:txBody>
      </p:sp>
      <p:sp>
        <p:nvSpPr>
          <p:cNvPr id="74" name="Shape 72"/>
          <p:cNvSpPr/>
          <p:nvPr/>
        </p:nvSpPr>
        <p:spPr>
          <a:xfrm>
            <a:off x="9555480" y="1353312"/>
            <a:ext cx="2176272" cy="5047488"/>
          </a:xfrm>
          <a:prstGeom prst="roundRect">
            <a:avLst>
              <a:gd name="adj" fmla="val 4202"/>
            </a:avLst>
          </a:prstGeom>
          <a:solidFill>
            <a:srgbClr val="FFFFFF"/>
          </a:solidFill>
          <a:ln w="19050">
            <a:solidFill>
              <a:srgbClr val="2A7F50"/>
            </a:solidFill>
            <a:prstDash val="solid"/>
          </a:ln>
        </p:spPr>
      </p:sp>
      <p:sp>
        <p:nvSpPr>
          <p:cNvPr id="75" name="Text 73"/>
          <p:cNvSpPr/>
          <p:nvPr/>
        </p:nvSpPr>
        <p:spPr>
          <a:xfrm>
            <a:off x="9710928" y="1481328"/>
            <a:ext cx="1874520" cy="502920"/>
          </a:xfrm>
          <a:prstGeom prst="rect">
            <a:avLst/>
          </a:prstGeom>
          <a:noFill/>
          <a:ln/>
        </p:spPr>
        <p:txBody>
          <a:bodyPr wrap="square" lIns="0" tIns="0" rIns="0" bIns="0" rtlCol="0" anchor="ctr"/>
          <a:lstStyle/>
          <a:p>
            <a:pPr indent="0" marL="0">
              <a:buNone/>
            </a:pPr>
            <a:r>
              <a:rPr lang="en-US" sz="1000" b="1" spc="40" kern="0" dirty="0">
                <a:solidFill>
                  <a:srgbClr val="2A7F50"/>
                </a:solidFill>
                <a:latin typeface="Calibri" pitchFamily="34" charset="0"/>
                <a:ea typeface="Calibri" pitchFamily="34" charset="-122"/>
                <a:cs typeface="Calibri" pitchFamily="34" charset="-120"/>
              </a:rPr>
              <a:t>HOW THE RANKING</a:t>
            </a:r>
            <a:endParaRPr lang="en-US" sz="1000" dirty="0"/>
          </a:p>
          <a:p>
            <a:pPr indent="0" marL="0">
              <a:buNone/>
            </a:pPr>
            <a:r>
              <a:rPr lang="en-US" sz="1000" b="1" spc="40" kern="0" dirty="0">
                <a:solidFill>
                  <a:srgbClr val="2A7F50"/>
                </a:solidFill>
                <a:latin typeface="Calibri" pitchFamily="34" charset="0"/>
                <a:ea typeface="Calibri" pitchFamily="34" charset="-122"/>
                <a:cs typeface="Calibri" pitchFamily="34" charset="-120"/>
              </a:rPr>
              <a:t>WORKS</a:t>
            </a:r>
            <a:endParaRPr lang="en-US" sz="1000" dirty="0"/>
          </a:p>
        </p:txBody>
      </p:sp>
      <p:sp>
        <p:nvSpPr>
          <p:cNvPr id="76" name="Text 74"/>
          <p:cNvSpPr/>
          <p:nvPr/>
        </p:nvSpPr>
        <p:spPr>
          <a:xfrm>
            <a:off x="9710928" y="2048256"/>
            <a:ext cx="1874520" cy="4261104"/>
          </a:xfrm>
          <a:prstGeom prst="rect">
            <a:avLst/>
          </a:prstGeom>
          <a:noFill/>
          <a:ln/>
        </p:spPr>
        <p:txBody>
          <a:bodyPr wrap="square" lIns="0" tIns="0" rIns="0" bIns="0" rtlCol="0" anchor="t"/>
          <a:lstStyle/>
          <a:p>
            <a:pPr indent="0" marL="0">
              <a:buNone/>
            </a:pPr>
            <a:r>
              <a:rPr lang="en-US" sz="860" b="1" dirty="0">
                <a:solidFill>
                  <a:srgbClr val="16325C"/>
                </a:solidFill>
                <a:latin typeface="Calibri" pitchFamily="34" charset="0"/>
                <a:ea typeface="Calibri" pitchFamily="34" charset="-122"/>
                <a:cs typeface="Calibri" pitchFamily="34" charset="-120"/>
              </a:rPr>
              <a:t>Every finding is priced:
</a:t>
            </a:r>
            <a:pPr indent="0" marL="0">
              <a:buNone/>
            </a:pPr>
            <a:r>
              <a:rPr lang="en-US" sz="860" dirty="0">
                <a:solidFill>
                  <a:srgbClr val="3A4356"/>
                </a:solidFill>
                <a:latin typeface="Calibri" pitchFamily="34" charset="0"/>
                <a:ea typeface="Calibri" pitchFamily="34" charset="-122"/>
                <a:cs typeface="Calibri" pitchFamily="34" charset="-120"/>
              </a:rPr>
              <a:t>saving % × this part’s cost = </a:t>
            </a:r>
            <a:pPr indent="0" marL="0">
              <a:buNone/>
            </a:pPr>
            <a:r>
              <a:rPr lang="en-US" sz="860" b="1" dirty="0">
                <a:solidFill>
                  <a:srgbClr val="2A7F50"/>
                </a:solidFill>
                <a:latin typeface="Calibri" pitchFamily="34" charset="0"/>
                <a:ea typeface="Calibri" pitchFamily="34" charset="-122"/>
                <a:cs typeface="Calibri" pitchFamily="34" charset="-120"/>
              </a:rPr>
              <a:t>£/part.
</a:t>
            </a:r>
            <a:pPr indent="0" marL="0">
              <a:buNone/>
            </a:pPr>
            <a:r>
              <a:rPr lang="en-US" sz="860" dirty="0">
                <a:solidFill>
                  <a:srgbClr val="3A4356"/>
                </a:solidFill>
                <a:latin typeface="Calibri" pitchFamily="34" charset="0"/>
                <a:ea typeface="Calibri" pitchFamily="34" charset="-122"/>
                <a:cs typeface="Calibri" pitchFamily="34" charset="-120"/>
              </a:rPr>
              <a:t>Ranked biggest-first inside its category; categories ordered by their best single action.
</a:t>
            </a:r>
            <a:pPr indent="0" marL="0">
              <a:buNone/>
            </a:pPr>
            <a:r>
              <a:rPr lang="en-US" sz="860" b="1" dirty="0">
                <a:solidFill>
                  <a:srgbClr val="16325C"/>
                </a:solidFill>
                <a:latin typeface="Calibri" pitchFamily="34" charset="0"/>
                <a:ea typeface="Calibri" pitchFamily="34" charset="-122"/>
                <a:cs typeface="Calibri" pitchFamily="34" charset="-120"/>
              </a:rPr>
              <a:t>No score is published </a:t>
            </a:r>
            <a:pPr indent="0" marL="0">
              <a:buNone/>
            </a:pPr>
            <a:r>
              <a:rPr lang="en-US" sz="860" dirty="0">
                <a:solidFill>
                  <a:srgbClr val="3A4356"/>
                </a:solidFill>
                <a:latin typeface="Calibri" pitchFamily="34" charset="0"/>
                <a:ea typeface="Calibri" pitchFamily="34" charset="-122"/>
                <a:cs typeface="Calibri" pitchFamily="34" charset="-120"/>
              </a:rPr>
              <a:t>and no severity label. The engine still grades findings internally to order them — that grading never leaves the engine.
</a:t>
            </a:r>
            <a:pPr indent="0" marL="0">
              <a:buNone/>
            </a:pPr>
            <a:r>
              <a:rPr lang="en-US" sz="860" b="1" dirty="0">
                <a:solidFill>
                  <a:srgbClr val="16325C"/>
                </a:solidFill>
                <a:latin typeface="Calibri" pitchFamily="34" charset="0"/>
                <a:ea typeface="Calibri" pitchFamily="34" charset="-122"/>
                <a:cs typeface="Calibri" pitchFamily="34" charset="-120"/>
              </a:rPr>
              <a:t>Headline: </a:t>
            </a:r>
            <a:pPr indent="0" marL="0">
              <a:buNone/>
            </a:pPr>
            <a:r>
              <a:rPr lang="en-US" sz="860" dirty="0">
                <a:solidFill>
                  <a:srgbClr val="3A4356"/>
                </a:solidFill>
                <a:latin typeface="Calibri" pitchFamily="34" charset="0"/>
                <a:ea typeface="Calibri" pitchFamily="34" charset="-122"/>
                <a:cs typeface="Calibri" pitchFamily="34" charset="-120"/>
              </a:rPr>
              <a:t>the three biggest combined root-sum-square — not added — capped at 40%, so overlapping actions are not double-counted.
</a:t>
            </a:r>
            <a:pPr indent="0" marL="0">
              <a:buNone/>
            </a:pPr>
            <a:r>
              <a:rPr lang="en-US" sz="860" b="1" dirty="0">
                <a:solidFill>
                  <a:srgbClr val="16325C"/>
                </a:solidFill>
                <a:latin typeface="Calibri" pitchFamily="34" charset="0"/>
                <a:ea typeface="Calibri" pitchFamily="34" charset="-122"/>
                <a:cs typeface="Calibri" pitchFamily="34" charset="-120"/>
              </a:rPr>
              <a:t>Context gates: </a:t>
            </a:r>
            <a:pPr indent="0" marL="0">
              <a:buNone/>
            </a:pPr>
            <a:r>
              <a:rPr lang="en-US" sz="860" dirty="0">
                <a:solidFill>
                  <a:srgbClr val="3A4356"/>
                </a:solidFill>
                <a:latin typeface="Calibri" pitchFamily="34" charset="0"/>
                <a:ea typeface="Calibri" pitchFamily="34" charset="-122"/>
                <a:cs typeface="Calibri" pitchFamily="34" charset="-120"/>
              </a:rPr>
              <a:t>assumed volumes, quoted regions and estimated pack rates downgrade a lever to a confirm-first note.</a:t>
            </a:r>
            <a:endParaRPr lang="en-US" sz="860" dirty="0"/>
          </a:p>
        </p:txBody>
      </p:sp>
      <p:sp>
        <p:nvSpPr>
          <p:cNvPr id="77" name="Text 75"/>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78" name="Text 76"/>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49</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Rule Library 1 of 3 — 14 Checks on Every Part</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Universal manufacturability rules, any commodity · thresholds exactly as coded</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Text 5"/>
          <p:cNvSpPr/>
          <p:nvPr/>
        </p:nvSpPr>
        <p:spPr>
          <a:xfrm>
            <a:off x="658368" y="1152144"/>
            <a:ext cx="301752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RULE</a:t>
            </a:r>
            <a:endParaRPr lang="en-US" sz="800" dirty="0"/>
          </a:p>
        </p:txBody>
      </p:sp>
      <p:sp>
        <p:nvSpPr>
          <p:cNvPr id="8" name="Text 6"/>
          <p:cNvSpPr/>
          <p:nvPr/>
        </p:nvSpPr>
        <p:spPr>
          <a:xfrm>
            <a:off x="3749040" y="1152144"/>
            <a:ext cx="512064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FIRES WHEN</a:t>
            </a:r>
            <a:endParaRPr lang="en-US" sz="800" dirty="0"/>
          </a:p>
        </p:txBody>
      </p:sp>
      <p:sp>
        <p:nvSpPr>
          <p:cNvPr id="9" name="Text 7"/>
          <p:cNvSpPr/>
          <p:nvPr/>
        </p:nvSpPr>
        <p:spPr>
          <a:xfrm>
            <a:off x="9006840" y="1152144"/>
            <a:ext cx="182880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SEVERITY</a:t>
            </a:r>
            <a:endParaRPr lang="en-US" sz="800" dirty="0"/>
          </a:p>
        </p:txBody>
      </p:sp>
      <p:sp>
        <p:nvSpPr>
          <p:cNvPr id="10" name="Text 8"/>
          <p:cNvSpPr/>
          <p:nvPr/>
        </p:nvSpPr>
        <p:spPr>
          <a:xfrm>
            <a:off x="10972800" y="1152144"/>
            <a:ext cx="594360" cy="182880"/>
          </a:xfrm>
          <a:prstGeom prst="rect">
            <a:avLst/>
          </a:prstGeom>
          <a:noFill/>
          <a:ln/>
        </p:spPr>
        <p:txBody>
          <a:bodyPr wrap="square" lIns="0" tIns="0" rIns="0" bIns="0" rtlCol="0" anchor="ctr"/>
          <a:lstStyle/>
          <a:p>
            <a:pPr algn="r" indent="0" marL="0">
              <a:buNone/>
            </a:pPr>
            <a:r>
              <a:rPr lang="en-US" sz="800" b="1" spc="50" kern="0" dirty="0">
                <a:solidFill>
                  <a:srgbClr val="686F7D"/>
                </a:solidFill>
                <a:latin typeface="Calibri" pitchFamily="34" charset="0"/>
                <a:ea typeface="Calibri" pitchFamily="34" charset="-122"/>
                <a:cs typeface="Calibri" pitchFamily="34" charset="-120"/>
              </a:rPr>
              <a:t>SAVE</a:t>
            </a:r>
            <a:endParaRPr lang="en-US" sz="800" dirty="0"/>
          </a:p>
        </p:txBody>
      </p:sp>
      <p:sp>
        <p:nvSpPr>
          <p:cNvPr id="11" name="Shape 9"/>
          <p:cNvSpPr/>
          <p:nvPr/>
        </p:nvSpPr>
        <p:spPr>
          <a:xfrm>
            <a:off x="457200" y="1376172"/>
            <a:ext cx="11274552" cy="297180"/>
          </a:xfrm>
          <a:prstGeom prst="rect">
            <a:avLst/>
          </a:prstGeom>
          <a:solidFill>
            <a:srgbClr val="FFFFFF"/>
          </a:solidFill>
          <a:ln/>
        </p:spPr>
      </p:sp>
      <p:sp>
        <p:nvSpPr>
          <p:cNvPr id="12" name="Text 10"/>
          <p:cNvSpPr/>
          <p:nvPr/>
        </p:nvSpPr>
        <p:spPr>
          <a:xfrm>
            <a:off x="658368" y="138988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Low material utilisation</a:t>
            </a:r>
            <a:endParaRPr lang="en-US" sz="920" dirty="0"/>
          </a:p>
        </p:txBody>
      </p:sp>
      <p:sp>
        <p:nvSpPr>
          <p:cNvPr id="13" name="Text 11"/>
          <p:cNvSpPr/>
          <p:nvPr/>
        </p:nvSpPr>
        <p:spPr>
          <a:xfrm>
            <a:off x="3749040" y="138988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Under 60% of the bought material ends up in the part — over 40% is waste</a:t>
            </a:r>
            <a:endParaRPr lang="en-US" sz="900" dirty="0"/>
          </a:p>
        </p:txBody>
      </p:sp>
      <p:sp>
        <p:nvSpPr>
          <p:cNvPr id="14" name="Text 12"/>
          <p:cNvSpPr/>
          <p:nvPr/>
        </p:nvSpPr>
        <p:spPr>
          <a:xfrm>
            <a:off x="9006840" y="1389888"/>
            <a:ext cx="1828800" cy="274320"/>
          </a:xfrm>
          <a:prstGeom prst="rect">
            <a:avLst/>
          </a:prstGeom>
          <a:noFill/>
          <a:ln/>
        </p:spPr>
        <p:txBody>
          <a:bodyPr wrap="square" lIns="0" tIns="0" rIns="0" bIns="0" rtlCol="0" anchor="ctr"/>
          <a:lstStyle/>
          <a:p>
            <a:pPr indent="0" marL="0">
              <a:buNone/>
            </a:pPr>
            <a:r>
              <a:rPr lang="en-US" sz="900" b="1" dirty="0">
                <a:solidFill>
                  <a:srgbClr val="B03A2E"/>
                </a:solidFill>
                <a:latin typeface="Calibri" pitchFamily="34" charset="0"/>
                <a:ea typeface="Calibri" pitchFamily="34" charset="-122"/>
                <a:cs typeface="Calibri" pitchFamily="34" charset="-120"/>
              </a:rPr>
              <a:t>Critical</a:t>
            </a:r>
            <a:endParaRPr lang="en-US" sz="900" dirty="0"/>
          </a:p>
        </p:txBody>
      </p:sp>
      <p:sp>
        <p:nvSpPr>
          <p:cNvPr id="15" name="Text 13"/>
          <p:cNvSpPr/>
          <p:nvPr/>
        </p:nvSpPr>
        <p:spPr>
          <a:xfrm>
            <a:off x="10972800" y="138988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12%</a:t>
            </a:r>
            <a:endParaRPr lang="en-US" sz="920" dirty="0"/>
          </a:p>
        </p:txBody>
      </p:sp>
      <p:sp>
        <p:nvSpPr>
          <p:cNvPr id="16" name="Text 14"/>
          <p:cNvSpPr/>
          <p:nvPr/>
        </p:nvSpPr>
        <p:spPr>
          <a:xfrm>
            <a:off x="658368" y="1696212"/>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Below-benchmark utilisation</a:t>
            </a:r>
            <a:endParaRPr lang="en-US" sz="920" dirty="0"/>
          </a:p>
        </p:txBody>
      </p:sp>
      <p:sp>
        <p:nvSpPr>
          <p:cNvPr id="17" name="Text 15"/>
          <p:cNvSpPr/>
          <p:nvPr/>
        </p:nvSpPr>
        <p:spPr>
          <a:xfrm>
            <a:off x="3749040" y="1696212"/>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Utilisation between 60% and the 72% benchmark — nesting or billet size can improve</a:t>
            </a:r>
            <a:endParaRPr lang="en-US" sz="900" dirty="0"/>
          </a:p>
        </p:txBody>
      </p:sp>
      <p:sp>
        <p:nvSpPr>
          <p:cNvPr id="18" name="Text 16"/>
          <p:cNvSpPr/>
          <p:nvPr/>
        </p:nvSpPr>
        <p:spPr>
          <a:xfrm>
            <a:off x="9006840" y="1696212"/>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19" name="Text 17"/>
          <p:cNvSpPr/>
          <p:nvPr/>
        </p:nvSpPr>
        <p:spPr>
          <a:xfrm>
            <a:off x="10972800" y="1696212"/>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6%</a:t>
            </a:r>
            <a:endParaRPr lang="en-US" sz="920" dirty="0"/>
          </a:p>
        </p:txBody>
      </p:sp>
      <p:sp>
        <p:nvSpPr>
          <p:cNvPr id="20" name="Shape 18"/>
          <p:cNvSpPr/>
          <p:nvPr/>
        </p:nvSpPr>
        <p:spPr>
          <a:xfrm>
            <a:off x="457200" y="1988820"/>
            <a:ext cx="11274552" cy="297180"/>
          </a:xfrm>
          <a:prstGeom prst="rect">
            <a:avLst/>
          </a:prstGeom>
          <a:solidFill>
            <a:srgbClr val="FFFFFF"/>
          </a:solidFill>
          <a:ln/>
        </p:spPr>
      </p:sp>
      <p:sp>
        <p:nvSpPr>
          <p:cNvPr id="21" name="Text 19"/>
          <p:cNvSpPr/>
          <p:nvPr/>
        </p:nvSpPr>
        <p:spPr>
          <a:xfrm>
            <a:off x="658368" y="2002536"/>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Low OEE</a:t>
            </a:r>
            <a:endParaRPr lang="en-US" sz="920" dirty="0"/>
          </a:p>
        </p:txBody>
      </p:sp>
      <p:sp>
        <p:nvSpPr>
          <p:cNvPr id="22" name="Text 20"/>
          <p:cNvSpPr/>
          <p:nvPr/>
        </p:nvSpPr>
        <p:spPr>
          <a:xfrm>
            <a:off x="3749040" y="2002536"/>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Machines productive under 70% of planned time — serious capacity and cost loss</a:t>
            </a:r>
            <a:endParaRPr lang="en-US" sz="900" dirty="0"/>
          </a:p>
        </p:txBody>
      </p:sp>
      <p:sp>
        <p:nvSpPr>
          <p:cNvPr id="23" name="Text 21"/>
          <p:cNvSpPr/>
          <p:nvPr/>
        </p:nvSpPr>
        <p:spPr>
          <a:xfrm>
            <a:off x="9006840" y="2002536"/>
            <a:ext cx="1828800" cy="274320"/>
          </a:xfrm>
          <a:prstGeom prst="rect">
            <a:avLst/>
          </a:prstGeom>
          <a:noFill/>
          <a:ln/>
        </p:spPr>
        <p:txBody>
          <a:bodyPr wrap="square" lIns="0" tIns="0" rIns="0" bIns="0" rtlCol="0" anchor="ctr"/>
          <a:lstStyle/>
          <a:p>
            <a:pPr indent="0" marL="0">
              <a:buNone/>
            </a:pPr>
            <a:r>
              <a:rPr lang="en-US" sz="900" b="1" dirty="0">
                <a:solidFill>
                  <a:srgbClr val="B03A2E"/>
                </a:solidFill>
                <a:latin typeface="Calibri" pitchFamily="34" charset="0"/>
                <a:ea typeface="Calibri" pitchFamily="34" charset="-122"/>
                <a:cs typeface="Calibri" pitchFamily="34" charset="-120"/>
              </a:rPr>
              <a:t>Critical</a:t>
            </a:r>
            <a:endParaRPr lang="en-US" sz="900" dirty="0"/>
          </a:p>
        </p:txBody>
      </p:sp>
      <p:sp>
        <p:nvSpPr>
          <p:cNvPr id="24" name="Text 22"/>
          <p:cNvSpPr/>
          <p:nvPr/>
        </p:nvSpPr>
        <p:spPr>
          <a:xfrm>
            <a:off x="10972800" y="2002536"/>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15%</a:t>
            </a:r>
            <a:endParaRPr lang="en-US" sz="920" dirty="0"/>
          </a:p>
        </p:txBody>
      </p:sp>
      <p:sp>
        <p:nvSpPr>
          <p:cNvPr id="25" name="Text 23"/>
          <p:cNvSpPr/>
          <p:nvPr/>
        </p:nvSpPr>
        <p:spPr>
          <a:xfrm>
            <a:off x="658368" y="2308860"/>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Below-target OEE</a:t>
            </a:r>
            <a:endParaRPr lang="en-US" sz="920" dirty="0"/>
          </a:p>
        </p:txBody>
      </p:sp>
      <p:sp>
        <p:nvSpPr>
          <p:cNvPr id="26" name="Text 24"/>
          <p:cNvSpPr/>
          <p:nvPr/>
        </p:nvSpPr>
        <p:spPr>
          <a:xfrm>
            <a:off x="3749040" y="2308860"/>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OEE between 70% and the 80% target — a solvable improvement gap</a:t>
            </a:r>
            <a:endParaRPr lang="en-US" sz="900" dirty="0"/>
          </a:p>
        </p:txBody>
      </p:sp>
      <p:sp>
        <p:nvSpPr>
          <p:cNvPr id="27" name="Text 25"/>
          <p:cNvSpPr/>
          <p:nvPr/>
        </p:nvSpPr>
        <p:spPr>
          <a:xfrm>
            <a:off x="9006840" y="2308860"/>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28" name="Text 26"/>
          <p:cNvSpPr/>
          <p:nvPr/>
        </p:nvSpPr>
        <p:spPr>
          <a:xfrm>
            <a:off x="10972800" y="2308860"/>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7%</a:t>
            </a:r>
            <a:endParaRPr lang="en-US" sz="920" dirty="0"/>
          </a:p>
        </p:txBody>
      </p:sp>
      <p:sp>
        <p:nvSpPr>
          <p:cNvPr id="29" name="Shape 27"/>
          <p:cNvSpPr/>
          <p:nvPr/>
        </p:nvSpPr>
        <p:spPr>
          <a:xfrm>
            <a:off x="457200" y="2601468"/>
            <a:ext cx="11274552" cy="297180"/>
          </a:xfrm>
          <a:prstGeom prst="rect">
            <a:avLst/>
          </a:prstGeom>
          <a:solidFill>
            <a:srgbClr val="FFFFFF"/>
          </a:solidFill>
          <a:ln/>
        </p:spPr>
      </p:sp>
      <p:sp>
        <p:nvSpPr>
          <p:cNvPr id="30" name="Text 28"/>
          <p:cNvSpPr/>
          <p:nvPr/>
        </p:nvSpPr>
        <p:spPr>
          <a:xfrm>
            <a:off x="658368" y="2615184"/>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High tooling amortisation</a:t>
            </a:r>
            <a:endParaRPr lang="en-US" sz="920" dirty="0"/>
          </a:p>
        </p:txBody>
      </p:sp>
      <p:sp>
        <p:nvSpPr>
          <p:cNvPr id="31" name="Text 29"/>
          <p:cNvSpPr/>
          <p:nvPr/>
        </p:nvSpPr>
        <p:spPr>
          <a:xfrm>
            <a:off x="3749040" y="2615184"/>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Tooling above 20% of part cost, against a 12% benchmark — volume-sensitive</a:t>
            </a:r>
            <a:endParaRPr lang="en-US" sz="900" dirty="0"/>
          </a:p>
        </p:txBody>
      </p:sp>
      <p:sp>
        <p:nvSpPr>
          <p:cNvPr id="32" name="Text 30"/>
          <p:cNvSpPr/>
          <p:nvPr/>
        </p:nvSpPr>
        <p:spPr>
          <a:xfrm>
            <a:off x="9006840" y="2615184"/>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33" name="Text 31"/>
          <p:cNvSpPr/>
          <p:nvPr/>
        </p:nvSpPr>
        <p:spPr>
          <a:xfrm>
            <a:off x="10972800" y="2615184"/>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8%</a:t>
            </a:r>
            <a:endParaRPr lang="en-US" sz="920" dirty="0"/>
          </a:p>
        </p:txBody>
      </p:sp>
      <p:sp>
        <p:nvSpPr>
          <p:cNvPr id="34" name="Text 32"/>
          <p:cNvSpPr/>
          <p:nvPr/>
        </p:nvSpPr>
        <p:spPr>
          <a:xfrm>
            <a:off x="658368" y="292150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Elevated tooling amortisation</a:t>
            </a:r>
            <a:endParaRPr lang="en-US" sz="920" dirty="0"/>
          </a:p>
        </p:txBody>
      </p:sp>
      <p:sp>
        <p:nvSpPr>
          <p:cNvPr id="35" name="Text 33"/>
          <p:cNvSpPr/>
          <p:nvPr/>
        </p:nvSpPr>
        <p:spPr>
          <a:xfrm>
            <a:off x="3749040" y="292150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Tooling between 12% and 20% of part cost</a:t>
            </a:r>
            <a:endParaRPr lang="en-US" sz="900" dirty="0"/>
          </a:p>
        </p:txBody>
      </p:sp>
      <p:sp>
        <p:nvSpPr>
          <p:cNvPr id="36" name="Text 34"/>
          <p:cNvSpPr/>
          <p:nvPr/>
        </p:nvSpPr>
        <p:spPr>
          <a:xfrm>
            <a:off x="9006840" y="2921508"/>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37" name="Text 35"/>
          <p:cNvSpPr/>
          <p:nvPr/>
        </p:nvSpPr>
        <p:spPr>
          <a:xfrm>
            <a:off x="10972800" y="292150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4%</a:t>
            </a:r>
            <a:endParaRPr lang="en-US" sz="920" dirty="0"/>
          </a:p>
        </p:txBody>
      </p:sp>
      <p:sp>
        <p:nvSpPr>
          <p:cNvPr id="38" name="Shape 36"/>
          <p:cNvSpPr/>
          <p:nvPr/>
        </p:nvSpPr>
        <p:spPr>
          <a:xfrm>
            <a:off x="457200" y="3214116"/>
            <a:ext cx="11274552" cy="297180"/>
          </a:xfrm>
          <a:prstGeom prst="rect">
            <a:avLst/>
          </a:prstGeom>
          <a:solidFill>
            <a:srgbClr val="FFFFFF"/>
          </a:solidFill>
          <a:ln/>
        </p:spPr>
      </p:sp>
      <p:sp>
        <p:nvSpPr>
          <p:cNvPr id="39" name="Text 37"/>
          <p:cNvSpPr/>
          <p:nvPr/>
        </p:nvSpPr>
        <p:spPr>
          <a:xfrm>
            <a:off x="658368" y="3227832"/>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Overhead burden</a:t>
            </a:r>
            <a:endParaRPr lang="en-US" sz="920" dirty="0"/>
          </a:p>
        </p:txBody>
      </p:sp>
      <p:sp>
        <p:nvSpPr>
          <p:cNvPr id="40" name="Text 38"/>
          <p:cNvSpPr/>
          <p:nvPr/>
        </p:nvSpPr>
        <p:spPr>
          <a:xfrm>
            <a:off x="3749040" y="3227832"/>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Factory overhead above 18% of part cost — burden rate may be inflated</a:t>
            </a:r>
            <a:endParaRPr lang="en-US" sz="900" dirty="0"/>
          </a:p>
        </p:txBody>
      </p:sp>
      <p:sp>
        <p:nvSpPr>
          <p:cNvPr id="41" name="Text 39"/>
          <p:cNvSpPr/>
          <p:nvPr/>
        </p:nvSpPr>
        <p:spPr>
          <a:xfrm>
            <a:off x="9006840" y="3227832"/>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42" name="Text 40"/>
          <p:cNvSpPr/>
          <p:nvPr/>
        </p:nvSpPr>
        <p:spPr>
          <a:xfrm>
            <a:off x="10972800" y="3227832"/>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6%</a:t>
            </a:r>
            <a:endParaRPr lang="en-US" sz="920" dirty="0"/>
          </a:p>
        </p:txBody>
      </p:sp>
      <p:sp>
        <p:nvSpPr>
          <p:cNvPr id="43" name="Text 41"/>
          <p:cNvSpPr/>
          <p:nvPr/>
        </p:nvSpPr>
        <p:spPr>
          <a:xfrm>
            <a:off x="658368" y="3534156"/>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Supplier margin</a:t>
            </a:r>
            <a:endParaRPr lang="en-US" sz="920" dirty="0"/>
          </a:p>
        </p:txBody>
      </p:sp>
      <p:sp>
        <p:nvSpPr>
          <p:cNvPr id="44" name="Text 42"/>
          <p:cNvSpPr/>
          <p:nvPr/>
        </p:nvSpPr>
        <p:spPr>
          <a:xfrm>
            <a:off x="3749040" y="3534156"/>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Margin above 18%, versus a 10–12% competitive range — a negotiation lever</a:t>
            </a:r>
            <a:endParaRPr lang="en-US" sz="900" dirty="0"/>
          </a:p>
        </p:txBody>
      </p:sp>
      <p:sp>
        <p:nvSpPr>
          <p:cNvPr id="45" name="Text 43"/>
          <p:cNvSpPr/>
          <p:nvPr/>
        </p:nvSpPr>
        <p:spPr>
          <a:xfrm>
            <a:off x="9006840" y="3534156"/>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46" name="Text 44"/>
          <p:cNvSpPr/>
          <p:nvPr/>
        </p:nvSpPr>
        <p:spPr>
          <a:xfrm>
            <a:off x="10972800" y="3534156"/>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5%</a:t>
            </a:r>
            <a:endParaRPr lang="en-US" sz="920" dirty="0"/>
          </a:p>
        </p:txBody>
      </p:sp>
      <p:sp>
        <p:nvSpPr>
          <p:cNvPr id="47" name="Shape 45"/>
          <p:cNvSpPr/>
          <p:nvPr/>
        </p:nvSpPr>
        <p:spPr>
          <a:xfrm>
            <a:off x="457200" y="3826764"/>
            <a:ext cx="11274552" cy="297180"/>
          </a:xfrm>
          <a:prstGeom prst="rect">
            <a:avLst/>
          </a:prstGeom>
          <a:solidFill>
            <a:srgbClr val="FFFFFF"/>
          </a:solidFill>
          <a:ln/>
        </p:spPr>
      </p:sp>
      <p:sp>
        <p:nvSpPr>
          <p:cNvPr id="48" name="Text 46"/>
          <p:cNvSpPr/>
          <p:nvPr/>
        </p:nvSpPr>
        <p:spPr>
          <a:xfrm>
            <a:off x="658368" y="3840480"/>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Packaging cost heavy</a:t>
            </a:r>
            <a:endParaRPr lang="en-US" sz="920" dirty="0"/>
          </a:p>
        </p:txBody>
      </p:sp>
      <p:sp>
        <p:nvSpPr>
          <p:cNvPr id="49" name="Text 47"/>
          <p:cNvSpPr/>
          <p:nvPr/>
        </p:nvSpPr>
        <p:spPr>
          <a:xfrm>
            <a:off x="3749040" y="3840480"/>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Packaging above 5% of part cost — returnable loop / dunnage redesign</a:t>
            </a:r>
            <a:endParaRPr lang="en-US" sz="900" dirty="0"/>
          </a:p>
        </p:txBody>
      </p:sp>
      <p:sp>
        <p:nvSpPr>
          <p:cNvPr id="50" name="Text 48"/>
          <p:cNvSpPr/>
          <p:nvPr/>
        </p:nvSpPr>
        <p:spPr>
          <a:xfrm>
            <a:off x="9006840" y="3840480"/>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51" name="Text 49"/>
          <p:cNvSpPr/>
          <p:nvPr/>
        </p:nvSpPr>
        <p:spPr>
          <a:xfrm>
            <a:off x="10972800" y="3840480"/>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4%</a:t>
            </a:r>
            <a:endParaRPr lang="en-US" sz="920" dirty="0"/>
          </a:p>
        </p:txBody>
      </p:sp>
      <p:sp>
        <p:nvSpPr>
          <p:cNvPr id="52" name="Text 50"/>
          <p:cNvSpPr/>
          <p:nvPr/>
        </p:nvSpPr>
        <p:spPr>
          <a:xfrm>
            <a:off x="658368" y="4146804"/>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Logistics cost heavy</a:t>
            </a:r>
            <a:endParaRPr lang="en-US" sz="920" dirty="0"/>
          </a:p>
        </p:txBody>
      </p:sp>
      <p:sp>
        <p:nvSpPr>
          <p:cNvPr id="53" name="Text 51"/>
          <p:cNvSpPr/>
          <p:nvPr/>
        </p:nvSpPr>
        <p:spPr>
          <a:xfrm>
            <a:off x="3749040" y="4146804"/>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Logistics above 8% of part cost — mode, consolidation and incoterm review</a:t>
            </a:r>
            <a:endParaRPr lang="en-US" sz="900" dirty="0"/>
          </a:p>
        </p:txBody>
      </p:sp>
      <p:sp>
        <p:nvSpPr>
          <p:cNvPr id="54" name="Text 52"/>
          <p:cNvSpPr/>
          <p:nvPr/>
        </p:nvSpPr>
        <p:spPr>
          <a:xfrm>
            <a:off x="9006840" y="4146804"/>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55" name="Text 53"/>
          <p:cNvSpPr/>
          <p:nvPr/>
        </p:nvSpPr>
        <p:spPr>
          <a:xfrm>
            <a:off x="10972800" y="4146804"/>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5%</a:t>
            </a:r>
            <a:endParaRPr lang="en-US" sz="920" dirty="0"/>
          </a:p>
        </p:txBody>
      </p:sp>
      <p:sp>
        <p:nvSpPr>
          <p:cNvPr id="56" name="Shape 54"/>
          <p:cNvSpPr/>
          <p:nvPr/>
        </p:nvSpPr>
        <p:spPr>
          <a:xfrm>
            <a:off x="457200" y="4439412"/>
            <a:ext cx="11274552" cy="297180"/>
          </a:xfrm>
          <a:prstGeom prst="rect">
            <a:avLst/>
          </a:prstGeom>
          <a:solidFill>
            <a:srgbClr val="FFFFFF"/>
          </a:solidFill>
          <a:ln/>
        </p:spPr>
      </p:sp>
      <p:sp>
        <p:nvSpPr>
          <p:cNvPr id="57" name="Text 55"/>
          <p:cNvSpPr/>
          <p:nvPr/>
        </p:nvSpPr>
        <p:spPr>
          <a:xfrm>
            <a:off x="658368" y="445312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One operation dominates</a:t>
            </a:r>
            <a:endParaRPr lang="en-US" sz="920" dirty="0"/>
          </a:p>
        </p:txBody>
      </p:sp>
      <p:sp>
        <p:nvSpPr>
          <p:cNvPr id="58" name="Text 56"/>
          <p:cNvSpPr/>
          <p:nvPr/>
        </p:nvSpPr>
        <p:spPr>
          <a:xfrm>
            <a:off x="3749040" y="445312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A single named operation carries over 60% of the conversion cost</a:t>
            </a:r>
            <a:endParaRPr lang="en-US" sz="900" dirty="0"/>
          </a:p>
        </p:txBody>
      </p:sp>
      <p:sp>
        <p:nvSpPr>
          <p:cNvPr id="59" name="Text 57"/>
          <p:cNvSpPr/>
          <p:nvPr/>
        </p:nvSpPr>
        <p:spPr>
          <a:xfrm>
            <a:off x="9006840" y="4453128"/>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60" name="Text 58"/>
          <p:cNvSpPr/>
          <p:nvPr/>
        </p:nvSpPr>
        <p:spPr>
          <a:xfrm>
            <a:off x="10972800" y="445312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8%</a:t>
            </a:r>
            <a:endParaRPr lang="en-US" sz="920" dirty="0"/>
          </a:p>
        </p:txBody>
      </p:sp>
      <p:sp>
        <p:nvSpPr>
          <p:cNvPr id="61" name="Text 59"/>
          <p:cNvSpPr/>
          <p:nvPr/>
        </p:nvSpPr>
        <p:spPr>
          <a:xfrm>
            <a:off x="658368" y="4759452"/>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Low labour efficiency</a:t>
            </a:r>
            <a:endParaRPr lang="en-US" sz="920" dirty="0"/>
          </a:p>
        </p:txBody>
      </p:sp>
      <p:sp>
        <p:nvSpPr>
          <p:cNvPr id="62" name="Text 60"/>
          <p:cNvSpPr/>
          <p:nvPr/>
        </p:nvSpPr>
        <p:spPr>
          <a:xfrm>
            <a:off x="3749040" y="4759452"/>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Average labour efficiency under 80% — a fifth of paid minutes add no value</a:t>
            </a:r>
            <a:endParaRPr lang="en-US" sz="900" dirty="0"/>
          </a:p>
        </p:txBody>
      </p:sp>
      <p:sp>
        <p:nvSpPr>
          <p:cNvPr id="63" name="Text 61"/>
          <p:cNvSpPr/>
          <p:nvPr/>
        </p:nvSpPr>
        <p:spPr>
          <a:xfrm>
            <a:off x="9006840" y="4759452"/>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64" name="Text 62"/>
          <p:cNvSpPr/>
          <p:nvPr/>
        </p:nvSpPr>
        <p:spPr>
          <a:xfrm>
            <a:off x="10972800" y="4759452"/>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4%</a:t>
            </a:r>
            <a:endParaRPr lang="en-US" sz="920" dirty="0"/>
          </a:p>
        </p:txBody>
      </p:sp>
      <p:sp>
        <p:nvSpPr>
          <p:cNvPr id="65" name="Shape 63"/>
          <p:cNvSpPr/>
          <p:nvPr/>
        </p:nvSpPr>
        <p:spPr>
          <a:xfrm>
            <a:off x="457200" y="5052060"/>
            <a:ext cx="11274552" cy="297180"/>
          </a:xfrm>
          <a:prstGeom prst="rect">
            <a:avLst/>
          </a:prstGeom>
          <a:solidFill>
            <a:srgbClr val="FFFFFF"/>
          </a:solidFill>
          <a:ln/>
        </p:spPr>
      </p:sp>
      <p:sp>
        <p:nvSpPr>
          <p:cNvPr id="66" name="Text 64"/>
          <p:cNvSpPr/>
          <p:nvPr/>
        </p:nvSpPr>
        <p:spPr>
          <a:xfrm>
            <a:off x="658368" y="5065776"/>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Consumables dominate material</a:t>
            </a:r>
            <a:endParaRPr lang="en-US" sz="920" dirty="0"/>
          </a:p>
        </p:txBody>
      </p:sp>
      <p:sp>
        <p:nvSpPr>
          <p:cNvPr id="67" name="Text 65"/>
          <p:cNvSpPr/>
          <p:nvPr/>
        </p:nvSpPr>
        <p:spPr>
          <a:xfrm>
            <a:off x="3749040" y="5065776"/>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Cores/patterns/shell above 25% of the material line</a:t>
            </a:r>
            <a:endParaRPr lang="en-US" sz="900" dirty="0"/>
          </a:p>
        </p:txBody>
      </p:sp>
      <p:sp>
        <p:nvSpPr>
          <p:cNvPr id="68" name="Text 66"/>
          <p:cNvSpPr/>
          <p:nvPr/>
        </p:nvSpPr>
        <p:spPr>
          <a:xfrm>
            <a:off x="9006840" y="5065776"/>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69" name="Text 67"/>
          <p:cNvSpPr/>
          <p:nvPr/>
        </p:nvSpPr>
        <p:spPr>
          <a:xfrm>
            <a:off x="10972800" y="5065776"/>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6%</a:t>
            </a:r>
            <a:endParaRPr lang="en-US" sz="920" dirty="0"/>
          </a:p>
        </p:txBody>
      </p:sp>
      <p:sp>
        <p:nvSpPr>
          <p:cNvPr id="70" name="Text 68"/>
          <p:cNvSpPr/>
          <p:nvPr/>
        </p:nvSpPr>
        <p:spPr>
          <a:xfrm>
            <a:off x="658368" y="5372100"/>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Amortisation below annual volume</a:t>
            </a:r>
            <a:endParaRPr lang="en-US" sz="920" dirty="0"/>
          </a:p>
        </p:txBody>
      </p:sp>
      <p:sp>
        <p:nvSpPr>
          <p:cNvPr id="71" name="Text 69"/>
          <p:cNvSpPr/>
          <p:nvPr/>
        </p:nvSpPr>
        <p:spPr>
          <a:xfrm>
            <a:off x="3749040" y="5372100"/>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Tool amortised over fewer parts than the stated annual volume — confirm the basis</a:t>
            </a:r>
            <a:endParaRPr lang="en-US" sz="900" dirty="0"/>
          </a:p>
        </p:txBody>
      </p:sp>
      <p:sp>
        <p:nvSpPr>
          <p:cNvPr id="72" name="Text 70"/>
          <p:cNvSpPr/>
          <p:nvPr/>
        </p:nvSpPr>
        <p:spPr>
          <a:xfrm>
            <a:off x="9006840" y="5372100"/>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73" name="Text 71"/>
          <p:cNvSpPr/>
          <p:nvPr/>
        </p:nvSpPr>
        <p:spPr>
          <a:xfrm>
            <a:off x="10972800" y="5372100"/>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a:t>
            </a:r>
            <a:endParaRPr lang="en-US" sz="920" dirty="0"/>
          </a:p>
        </p:txBody>
      </p:sp>
      <p:sp>
        <p:nvSpPr>
          <p:cNvPr id="74" name="Text 72"/>
          <p:cNvSpPr/>
          <p:nvPr/>
        </p:nvSpPr>
        <p:spPr>
          <a:xfrm>
            <a:off x="457200" y="5870448"/>
            <a:ext cx="11274552" cy="365760"/>
          </a:xfrm>
          <a:prstGeom prst="rect">
            <a:avLst/>
          </a:prstGeom>
          <a:noFill/>
          <a:ln/>
        </p:spPr>
        <p:txBody>
          <a:bodyPr wrap="square" lIns="0" tIns="0" rIns="0" bIns="0" rtlCol="0" anchor="ctr"/>
          <a:lstStyle/>
          <a:p>
            <a:pPr indent="0" marL="0">
              <a:buNone/>
            </a:pPr>
            <a:r>
              <a:rPr lang="en-US" sz="850" i="1" dirty="0">
                <a:solidFill>
                  <a:srgbClr val="686F7D"/>
                </a:solidFill>
                <a:latin typeface="Calibri" pitchFamily="34" charset="0"/>
                <a:ea typeface="Calibri" pitchFamily="34" charset="-122"/>
                <a:cs typeface="Calibri" pitchFamily="34" charset="-120"/>
              </a:rPr>
              <a:t>Rules 9–14 are new with the 360° upgrade — packaging, logistics, the operation Pareto, labour efficiency, consumables and the amortisation-basis check were previously unread.  ·  SEVERITY IS INTERNAL: it orders the rule list inside the engine and never appears in the app or the report — engineering sees the ranked £/part list on the last slide.</a:t>
            </a:r>
            <a:endParaRPr lang="en-US" sz="850" dirty="0"/>
          </a:p>
        </p:txBody>
      </p:sp>
      <p:sp>
        <p:nvSpPr>
          <p:cNvPr id="75" name="Text 73"/>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76" name="Text 74"/>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50</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Rule Library 2 of 3 — The 27 Commodity Checks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rules that switch on for the process actually being costed · thresholds exactly as coded</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Text 5"/>
          <p:cNvSpPr/>
          <p:nvPr/>
        </p:nvSpPr>
        <p:spPr>
          <a:xfrm>
            <a:off x="658368" y="1097280"/>
            <a:ext cx="150876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COMMODITY</a:t>
            </a:r>
            <a:endParaRPr lang="en-US" sz="800" dirty="0"/>
          </a:p>
        </p:txBody>
      </p:sp>
      <p:sp>
        <p:nvSpPr>
          <p:cNvPr id="8" name="Text 6"/>
          <p:cNvSpPr/>
          <p:nvPr/>
        </p:nvSpPr>
        <p:spPr>
          <a:xfrm>
            <a:off x="2212848" y="1097280"/>
            <a:ext cx="274320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CHECK</a:t>
            </a:r>
            <a:endParaRPr lang="en-US" sz="800" dirty="0"/>
          </a:p>
        </p:txBody>
      </p:sp>
      <p:sp>
        <p:nvSpPr>
          <p:cNvPr id="9" name="Text 7"/>
          <p:cNvSpPr/>
          <p:nvPr/>
        </p:nvSpPr>
        <p:spPr>
          <a:xfrm>
            <a:off x="5029200" y="1097280"/>
            <a:ext cx="493776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FIRES WHEN</a:t>
            </a:r>
            <a:endParaRPr lang="en-US" sz="800" dirty="0"/>
          </a:p>
        </p:txBody>
      </p:sp>
      <p:sp>
        <p:nvSpPr>
          <p:cNvPr id="10" name="Text 8"/>
          <p:cNvSpPr/>
          <p:nvPr/>
        </p:nvSpPr>
        <p:spPr>
          <a:xfrm>
            <a:off x="10058400" y="1097280"/>
            <a:ext cx="118872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SEVERITY</a:t>
            </a:r>
            <a:endParaRPr lang="en-US" sz="800" dirty="0"/>
          </a:p>
        </p:txBody>
      </p:sp>
      <p:sp>
        <p:nvSpPr>
          <p:cNvPr id="11" name="Text 9"/>
          <p:cNvSpPr/>
          <p:nvPr/>
        </p:nvSpPr>
        <p:spPr>
          <a:xfrm>
            <a:off x="11292840" y="1097280"/>
            <a:ext cx="320040" cy="182880"/>
          </a:xfrm>
          <a:prstGeom prst="rect">
            <a:avLst/>
          </a:prstGeom>
          <a:noFill/>
          <a:ln/>
        </p:spPr>
        <p:txBody>
          <a:bodyPr wrap="square" lIns="0" tIns="0" rIns="0" bIns="0" rtlCol="0" anchor="ctr"/>
          <a:lstStyle/>
          <a:p>
            <a:pPr algn="r" indent="0" marL="0">
              <a:buNone/>
            </a:pPr>
            <a:r>
              <a:rPr lang="en-US" sz="800" b="1" spc="40" kern="0" dirty="0">
                <a:solidFill>
                  <a:srgbClr val="686F7D"/>
                </a:solidFill>
                <a:latin typeface="Calibri" pitchFamily="34" charset="0"/>
                <a:ea typeface="Calibri" pitchFamily="34" charset="-122"/>
                <a:cs typeface="Calibri" pitchFamily="34" charset="-120"/>
              </a:rPr>
              <a:t>SAVE</a:t>
            </a:r>
            <a:endParaRPr lang="en-US" sz="800" dirty="0"/>
          </a:p>
        </p:txBody>
      </p:sp>
      <p:sp>
        <p:nvSpPr>
          <p:cNvPr id="12" name="Shape 10"/>
          <p:cNvSpPr/>
          <p:nvPr/>
        </p:nvSpPr>
        <p:spPr>
          <a:xfrm>
            <a:off x="457200" y="1309421"/>
            <a:ext cx="11274552" cy="14630"/>
          </a:xfrm>
          <a:prstGeom prst="rect">
            <a:avLst/>
          </a:prstGeom>
          <a:solidFill>
            <a:srgbClr val="DCE3EE"/>
          </a:solidFill>
          <a:ln/>
        </p:spPr>
      </p:sp>
      <p:sp>
        <p:nvSpPr>
          <p:cNvPr id="13" name="Text 11"/>
          <p:cNvSpPr/>
          <p:nvPr/>
        </p:nvSpPr>
        <p:spPr>
          <a:xfrm>
            <a:off x="658368" y="1316736"/>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Machining ±cast</a:t>
            </a:r>
            <a:endParaRPr lang="en-US" sz="790" dirty="0"/>
          </a:p>
        </p:txBody>
      </p:sp>
      <p:sp>
        <p:nvSpPr>
          <p:cNvPr id="14" name="Text 12"/>
          <p:cNvSpPr/>
          <p:nvPr/>
        </p:nvSpPr>
        <p:spPr>
          <a:xfrm>
            <a:off x="2212848" y="1316736"/>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Split routing across stations</a:t>
            </a:r>
            <a:endParaRPr lang="en-US" sz="790" dirty="0"/>
          </a:p>
        </p:txBody>
      </p:sp>
      <p:sp>
        <p:nvSpPr>
          <p:cNvPr id="15" name="Text 13"/>
          <p:cNvSpPr/>
          <p:nvPr/>
        </p:nvSpPr>
        <p:spPr>
          <a:xfrm>
            <a:off x="5029200" y="1316736"/>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Over 4 real ops on over 2 stations, not consolidated — quote a consolidation</a:t>
            </a:r>
            <a:endParaRPr lang="en-US" sz="770" dirty="0"/>
          </a:p>
        </p:txBody>
      </p:sp>
      <p:sp>
        <p:nvSpPr>
          <p:cNvPr id="16" name="Text 14"/>
          <p:cNvSpPr/>
          <p:nvPr/>
        </p:nvSpPr>
        <p:spPr>
          <a:xfrm>
            <a:off x="10058400" y="1316736"/>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7" name="Text 15"/>
          <p:cNvSpPr/>
          <p:nvPr/>
        </p:nvSpPr>
        <p:spPr>
          <a:xfrm>
            <a:off x="11292840" y="1316736"/>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10%</a:t>
            </a:r>
            <a:endParaRPr lang="en-US" sz="770" dirty="0"/>
          </a:p>
        </p:txBody>
      </p:sp>
      <p:sp>
        <p:nvSpPr>
          <p:cNvPr id="18" name="Shape 16"/>
          <p:cNvSpPr/>
          <p:nvPr/>
        </p:nvSpPr>
        <p:spPr>
          <a:xfrm>
            <a:off x="457200" y="1488643"/>
            <a:ext cx="11274552" cy="168250"/>
          </a:xfrm>
          <a:prstGeom prst="rect">
            <a:avLst/>
          </a:prstGeom>
          <a:solidFill>
            <a:srgbClr val="FFFFFF"/>
          </a:solidFill>
          <a:ln/>
        </p:spPr>
      </p:sp>
      <p:sp>
        <p:nvSpPr>
          <p:cNvPr id="19" name="Text 17"/>
          <p:cNvSpPr/>
          <p:nvPr/>
        </p:nvSpPr>
        <p:spPr>
          <a:xfrm>
            <a:off x="658368" y="1492301"/>
            <a:ext cx="1508760" cy="164592"/>
          </a:xfrm>
          <a:prstGeom prst="rect">
            <a:avLst/>
          </a:prstGeom>
          <a:noFill/>
          <a:ln/>
        </p:spPr>
        <p:txBody>
          <a:bodyPr wrap="square" lIns="0" tIns="0" rIns="0" bIns="0" rtlCol="0" anchor="ctr"/>
          <a:lstStyle/>
          <a:p>
            <a:pPr indent="0" marL="0">
              <a:buNone/>
            </a:pPr>
            <a:endParaRPr lang="en-US" sz="790" dirty="0"/>
          </a:p>
        </p:txBody>
      </p:sp>
      <p:sp>
        <p:nvSpPr>
          <p:cNvPr id="20" name="Text 18"/>
          <p:cNvSpPr/>
          <p:nvPr/>
        </p:nvSpPr>
        <p:spPr>
          <a:xfrm>
            <a:off x="2212848" y="1492301"/>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Process cost dominates</a:t>
            </a:r>
            <a:endParaRPr lang="en-US" sz="790" dirty="0"/>
          </a:p>
        </p:txBody>
      </p:sp>
      <p:sp>
        <p:nvSpPr>
          <p:cNvPr id="21" name="Text 19"/>
          <p:cNvSpPr/>
          <p:nvPr/>
        </p:nvSpPr>
        <p:spPr>
          <a:xfrm>
            <a:off x="5029200" y="1492301"/>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Machining over 40% of part cost — consider a near-net cast or forged blank</a:t>
            </a:r>
            <a:endParaRPr lang="en-US" sz="770" dirty="0"/>
          </a:p>
        </p:txBody>
      </p:sp>
      <p:sp>
        <p:nvSpPr>
          <p:cNvPr id="22" name="Text 20"/>
          <p:cNvSpPr/>
          <p:nvPr/>
        </p:nvSpPr>
        <p:spPr>
          <a:xfrm>
            <a:off x="10058400" y="1492301"/>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23" name="Text 21"/>
          <p:cNvSpPr/>
          <p:nvPr/>
        </p:nvSpPr>
        <p:spPr>
          <a:xfrm>
            <a:off x="11292840" y="1492301"/>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24" name="Shape 22"/>
          <p:cNvSpPr/>
          <p:nvPr/>
        </p:nvSpPr>
        <p:spPr>
          <a:xfrm>
            <a:off x="457200" y="1660550"/>
            <a:ext cx="11274552" cy="14630"/>
          </a:xfrm>
          <a:prstGeom prst="rect">
            <a:avLst/>
          </a:prstGeom>
          <a:solidFill>
            <a:srgbClr val="DCE3EE"/>
          </a:solidFill>
          <a:ln/>
        </p:spPr>
      </p:sp>
      <p:sp>
        <p:nvSpPr>
          <p:cNvPr id="25" name="Text 23"/>
          <p:cNvSpPr/>
          <p:nvPr/>
        </p:nvSpPr>
        <p:spPr>
          <a:xfrm>
            <a:off x="658368" y="1667866"/>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Casting ±machine</a:t>
            </a:r>
            <a:endParaRPr lang="en-US" sz="790" dirty="0"/>
          </a:p>
        </p:txBody>
      </p:sp>
      <p:sp>
        <p:nvSpPr>
          <p:cNvPr id="26" name="Text 24"/>
          <p:cNvSpPr/>
          <p:nvPr/>
        </p:nvSpPr>
        <p:spPr>
          <a:xfrm>
            <a:off x="2212848" y="1667866"/>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Die cost very high</a:t>
            </a:r>
            <a:endParaRPr lang="en-US" sz="790" dirty="0"/>
          </a:p>
        </p:txBody>
      </p:sp>
      <p:sp>
        <p:nvSpPr>
          <p:cNvPr id="27" name="Text 25"/>
          <p:cNvSpPr/>
          <p:nvPr/>
        </p:nvSpPr>
        <p:spPr>
          <a:xfrm>
            <a:off x="5029200" y="1667866"/>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Die over 18% of part cost — volume too low to carry the die investment</a:t>
            </a:r>
            <a:endParaRPr lang="en-US" sz="770" dirty="0"/>
          </a:p>
        </p:txBody>
      </p:sp>
      <p:sp>
        <p:nvSpPr>
          <p:cNvPr id="28" name="Text 26"/>
          <p:cNvSpPr/>
          <p:nvPr/>
        </p:nvSpPr>
        <p:spPr>
          <a:xfrm>
            <a:off x="10058400" y="1667866"/>
            <a:ext cx="1188720" cy="164592"/>
          </a:xfrm>
          <a:prstGeom prst="rect">
            <a:avLst/>
          </a:prstGeom>
          <a:noFill/>
          <a:ln/>
        </p:spPr>
        <p:txBody>
          <a:bodyPr wrap="square" lIns="0" tIns="0" rIns="0" bIns="0" rtlCol="0" anchor="ctr"/>
          <a:lstStyle/>
          <a:p>
            <a:pPr indent="0" marL="0">
              <a:buNone/>
            </a:pPr>
            <a:r>
              <a:rPr lang="en-US" sz="770" b="1" dirty="0">
                <a:solidFill>
                  <a:srgbClr val="B03A2E"/>
                </a:solidFill>
                <a:latin typeface="Calibri" pitchFamily="34" charset="0"/>
                <a:ea typeface="Calibri" pitchFamily="34" charset="-122"/>
                <a:cs typeface="Calibri" pitchFamily="34" charset="-120"/>
              </a:rPr>
              <a:t>Critical</a:t>
            </a:r>
            <a:endParaRPr lang="en-US" sz="770" dirty="0"/>
          </a:p>
        </p:txBody>
      </p:sp>
      <p:sp>
        <p:nvSpPr>
          <p:cNvPr id="29" name="Text 27"/>
          <p:cNvSpPr/>
          <p:nvPr/>
        </p:nvSpPr>
        <p:spPr>
          <a:xfrm>
            <a:off x="11292840" y="1667866"/>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12%</a:t>
            </a:r>
            <a:endParaRPr lang="en-US" sz="770" dirty="0"/>
          </a:p>
        </p:txBody>
      </p:sp>
      <p:sp>
        <p:nvSpPr>
          <p:cNvPr id="30" name="Shape 28"/>
          <p:cNvSpPr/>
          <p:nvPr/>
        </p:nvSpPr>
        <p:spPr>
          <a:xfrm>
            <a:off x="457200" y="1839773"/>
            <a:ext cx="11274552" cy="168250"/>
          </a:xfrm>
          <a:prstGeom prst="rect">
            <a:avLst/>
          </a:prstGeom>
          <a:solidFill>
            <a:srgbClr val="FFFFFF"/>
          </a:solidFill>
          <a:ln/>
        </p:spPr>
      </p:sp>
      <p:sp>
        <p:nvSpPr>
          <p:cNvPr id="31" name="Text 29"/>
          <p:cNvSpPr/>
          <p:nvPr/>
        </p:nvSpPr>
        <p:spPr>
          <a:xfrm>
            <a:off x="658368" y="1843430"/>
            <a:ext cx="1508760" cy="164592"/>
          </a:xfrm>
          <a:prstGeom prst="rect">
            <a:avLst/>
          </a:prstGeom>
          <a:noFill/>
          <a:ln/>
        </p:spPr>
        <p:txBody>
          <a:bodyPr wrap="square" lIns="0" tIns="0" rIns="0" bIns="0" rtlCol="0" anchor="ctr"/>
          <a:lstStyle/>
          <a:p>
            <a:pPr indent="0" marL="0">
              <a:buNone/>
            </a:pPr>
            <a:endParaRPr lang="en-US" sz="790" dirty="0"/>
          </a:p>
        </p:txBody>
      </p:sp>
      <p:sp>
        <p:nvSpPr>
          <p:cNvPr id="32" name="Text 30"/>
          <p:cNvSpPr/>
          <p:nvPr/>
        </p:nvSpPr>
        <p:spPr>
          <a:xfrm>
            <a:off x="2212848" y="1843430"/>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Material content oddly low</a:t>
            </a:r>
            <a:endParaRPr lang="en-US" sz="790" dirty="0"/>
          </a:p>
        </p:txBody>
      </p:sp>
      <p:sp>
        <p:nvSpPr>
          <p:cNvPr id="33" name="Text 31"/>
          <p:cNvSpPr/>
          <p:nvPr/>
        </p:nvSpPr>
        <p:spPr>
          <a:xfrm>
            <a:off x="5029200" y="1843430"/>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Material under 35% of cost — recheck alloy grade and net weight inputs</a:t>
            </a:r>
            <a:endParaRPr lang="en-US" sz="770" dirty="0"/>
          </a:p>
        </p:txBody>
      </p:sp>
      <p:sp>
        <p:nvSpPr>
          <p:cNvPr id="34" name="Text 32"/>
          <p:cNvSpPr/>
          <p:nvPr/>
        </p:nvSpPr>
        <p:spPr>
          <a:xfrm>
            <a:off x="10058400" y="1843430"/>
            <a:ext cx="1188720" cy="164592"/>
          </a:xfrm>
          <a:prstGeom prst="rect">
            <a:avLst/>
          </a:prstGeom>
          <a:noFill/>
          <a:ln/>
        </p:spPr>
        <p:txBody>
          <a:bodyPr wrap="square" lIns="0" tIns="0" rIns="0" bIns="0" rtlCol="0" anchor="ctr"/>
          <a:lstStyle/>
          <a:p>
            <a:pPr indent="0" marL="0">
              <a:buNone/>
            </a:pPr>
            <a:r>
              <a:rPr lang="en-US" sz="770" b="1" dirty="0">
                <a:solidFill>
                  <a:srgbClr val="686F7D"/>
                </a:solidFill>
                <a:latin typeface="Calibri" pitchFamily="34" charset="0"/>
                <a:ea typeface="Calibri" pitchFamily="34" charset="-122"/>
                <a:cs typeface="Calibri" pitchFamily="34" charset="-120"/>
              </a:rPr>
              <a:t>Minor</a:t>
            </a:r>
            <a:endParaRPr lang="en-US" sz="770" dirty="0"/>
          </a:p>
        </p:txBody>
      </p:sp>
      <p:sp>
        <p:nvSpPr>
          <p:cNvPr id="35" name="Text 33"/>
          <p:cNvSpPr/>
          <p:nvPr/>
        </p:nvSpPr>
        <p:spPr>
          <a:xfrm>
            <a:off x="11292840" y="1843430"/>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a:t>
            </a:r>
            <a:endParaRPr lang="en-US" sz="770" dirty="0"/>
          </a:p>
        </p:txBody>
      </p:sp>
      <p:sp>
        <p:nvSpPr>
          <p:cNvPr id="36" name="Shape 34"/>
          <p:cNvSpPr/>
          <p:nvPr/>
        </p:nvSpPr>
        <p:spPr>
          <a:xfrm>
            <a:off x="457200" y="2011680"/>
            <a:ext cx="11274552" cy="14630"/>
          </a:xfrm>
          <a:prstGeom prst="rect">
            <a:avLst/>
          </a:prstGeom>
          <a:solidFill>
            <a:srgbClr val="DCE3EE"/>
          </a:solidFill>
          <a:ln/>
        </p:spPr>
      </p:sp>
      <p:sp>
        <p:nvSpPr>
          <p:cNvPr id="37" name="Text 35"/>
          <p:cNvSpPr/>
          <p:nvPr/>
        </p:nvSpPr>
        <p:spPr>
          <a:xfrm>
            <a:off x="658368" y="2018995"/>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Forging</a:t>
            </a:r>
            <a:endParaRPr lang="en-US" sz="790" dirty="0"/>
          </a:p>
        </p:txBody>
      </p:sp>
      <p:sp>
        <p:nvSpPr>
          <p:cNvPr id="38" name="Text 36"/>
          <p:cNvSpPr/>
          <p:nvPr/>
        </p:nvSpPr>
        <p:spPr>
          <a:xfrm>
            <a:off x="2212848" y="2018995"/>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Low material utilisation</a:t>
            </a:r>
            <a:endParaRPr lang="en-US" sz="790" dirty="0"/>
          </a:p>
        </p:txBody>
      </p:sp>
      <p:sp>
        <p:nvSpPr>
          <p:cNvPr id="39" name="Text 37"/>
          <p:cNvSpPr/>
          <p:nvPr/>
        </p:nvSpPr>
        <p:spPr>
          <a:xfrm>
            <a:off x="5029200" y="2018995"/>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Under 75% — flash and scale loss beyond the forging benchmark</a:t>
            </a:r>
            <a:endParaRPr lang="en-US" sz="770" dirty="0"/>
          </a:p>
        </p:txBody>
      </p:sp>
      <p:sp>
        <p:nvSpPr>
          <p:cNvPr id="40" name="Text 38"/>
          <p:cNvSpPr/>
          <p:nvPr/>
        </p:nvSpPr>
        <p:spPr>
          <a:xfrm>
            <a:off x="10058400" y="2018995"/>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41" name="Text 39"/>
          <p:cNvSpPr/>
          <p:nvPr/>
        </p:nvSpPr>
        <p:spPr>
          <a:xfrm>
            <a:off x="11292840" y="2018995"/>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42" name="Shape 40"/>
          <p:cNvSpPr/>
          <p:nvPr/>
        </p:nvSpPr>
        <p:spPr>
          <a:xfrm>
            <a:off x="457200" y="2190902"/>
            <a:ext cx="11274552" cy="168250"/>
          </a:xfrm>
          <a:prstGeom prst="rect">
            <a:avLst/>
          </a:prstGeom>
          <a:solidFill>
            <a:srgbClr val="FFFFFF"/>
          </a:solidFill>
          <a:ln/>
        </p:spPr>
      </p:sp>
      <p:sp>
        <p:nvSpPr>
          <p:cNvPr id="43" name="Text 41"/>
          <p:cNvSpPr/>
          <p:nvPr/>
        </p:nvSpPr>
        <p:spPr>
          <a:xfrm>
            <a:off x="658368" y="2194560"/>
            <a:ext cx="1508760" cy="164592"/>
          </a:xfrm>
          <a:prstGeom prst="rect">
            <a:avLst/>
          </a:prstGeom>
          <a:noFill/>
          <a:ln/>
        </p:spPr>
        <p:txBody>
          <a:bodyPr wrap="square" lIns="0" tIns="0" rIns="0" bIns="0" rtlCol="0" anchor="ctr"/>
          <a:lstStyle/>
          <a:p>
            <a:pPr indent="0" marL="0">
              <a:buNone/>
            </a:pPr>
            <a:endParaRPr lang="en-US" sz="790" dirty="0"/>
          </a:p>
        </p:txBody>
      </p:sp>
      <p:sp>
        <p:nvSpPr>
          <p:cNvPr id="44" name="Text 42"/>
          <p:cNvSpPr/>
          <p:nvPr/>
        </p:nvSpPr>
        <p:spPr>
          <a:xfrm>
            <a:off x="2212848" y="2194560"/>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Die cost high</a:t>
            </a:r>
            <a:endParaRPr lang="en-US" sz="790" dirty="0"/>
          </a:p>
        </p:txBody>
      </p:sp>
      <p:sp>
        <p:nvSpPr>
          <p:cNvPr id="45" name="Text 43"/>
          <p:cNvSpPr/>
          <p:nvPr/>
        </p:nvSpPr>
        <p:spPr>
          <a:xfrm>
            <a:off x="5029200" y="2194560"/>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Die over 15% of part cost — high tool investment for the volume</a:t>
            </a:r>
            <a:endParaRPr lang="en-US" sz="770" dirty="0"/>
          </a:p>
        </p:txBody>
      </p:sp>
      <p:sp>
        <p:nvSpPr>
          <p:cNvPr id="46" name="Text 44"/>
          <p:cNvSpPr/>
          <p:nvPr/>
        </p:nvSpPr>
        <p:spPr>
          <a:xfrm>
            <a:off x="10058400" y="2194560"/>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47" name="Text 45"/>
          <p:cNvSpPr/>
          <p:nvPr/>
        </p:nvSpPr>
        <p:spPr>
          <a:xfrm>
            <a:off x="11292840" y="2194560"/>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7%</a:t>
            </a:r>
            <a:endParaRPr lang="en-US" sz="770" dirty="0"/>
          </a:p>
        </p:txBody>
      </p:sp>
      <p:sp>
        <p:nvSpPr>
          <p:cNvPr id="48" name="Shape 46"/>
          <p:cNvSpPr/>
          <p:nvPr/>
        </p:nvSpPr>
        <p:spPr>
          <a:xfrm>
            <a:off x="457200" y="2362810"/>
            <a:ext cx="11274552" cy="14630"/>
          </a:xfrm>
          <a:prstGeom prst="rect">
            <a:avLst/>
          </a:prstGeom>
          <a:solidFill>
            <a:srgbClr val="DCE3EE"/>
          </a:solidFill>
          <a:ln/>
        </p:spPr>
      </p:sp>
      <p:sp>
        <p:nvSpPr>
          <p:cNvPr id="49" name="Text 47"/>
          <p:cNvSpPr/>
          <p:nvPr/>
        </p:nvSpPr>
        <p:spPr>
          <a:xfrm>
            <a:off x="658368" y="2370125"/>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Sheet metal</a:t>
            </a:r>
            <a:endParaRPr lang="en-US" sz="790" dirty="0"/>
          </a:p>
        </p:txBody>
      </p:sp>
      <p:sp>
        <p:nvSpPr>
          <p:cNvPr id="50" name="Text 48"/>
          <p:cNvSpPr/>
          <p:nvPr/>
        </p:nvSpPr>
        <p:spPr>
          <a:xfrm>
            <a:off x="2212848" y="2370125"/>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Poor blank nesting</a:t>
            </a:r>
            <a:endParaRPr lang="en-US" sz="790" dirty="0"/>
          </a:p>
        </p:txBody>
      </p:sp>
      <p:sp>
        <p:nvSpPr>
          <p:cNvPr id="51" name="Text 49"/>
          <p:cNvSpPr/>
          <p:nvPr/>
        </p:nvSpPr>
        <p:spPr>
          <a:xfrm>
            <a:off x="5029200" y="2370125"/>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Utilisation under 65% — over a third of the sheet becomes offcut scrap</a:t>
            </a:r>
            <a:endParaRPr lang="en-US" sz="770" dirty="0"/>
          </a:p>
        </p:txBody>
      </p:sp>
      <p:sp>
        <p:nvSpPr>
          <p:cNvPr id="52" name="Text 50"/>
          <p:cNvSpPr/>
          <p:nvPr/>
        </p:nvSpPr>
        <p:spPr>
          <a:xfrm>
            <a:off x="10058400" y="2370125"/>
            <a:ext cx="1188720" cy="164592"/>
          </a:xfrm>
          <a:prstGeom prst="rect">
            <a:avLst/>
          </a:prstGeom>
          <a:noFill/>
          <a:ln/>
        </p:spPr>
        <p:txBody>
          <a:bodyPr wrap="square" lIns="0" tIns="0" rIns="0" bIns="0" rtlCol="0" anchor="ctr"/>
          <a:lstStyle/>
          <a:p>
            <a:pPr indent="0" marL="0">
              <a:buNone/>
            </a:pPr>
            <a:r>
              <a:rPr lang="en-US" sz="770" b="1" dirty="0">
                <a:solidFill>
                  <a:srgbClr val="B03A2E"/>
                </a:solidFill>
                <a:latin typeface="Calibri" pitchFamily="34" charset="0"/>
                <a:ea typeface="Calibri" pitchFamily="34" charset="-122"/>
                <a:cs typeface="Calibri" pitchFamily="34" charset="-120"/>
              </a:rPr>
              <a:t>Critical</a:t>
            </a:r>
            <a:endParaRPr lang="en-US" sz="770" dirty="0"/>
          </a:p>
        </p:txBody>
      </p:sp>
      <p:sp>
        <p:nvSpPr>
          <p:cNvPr id="53" name="Text 51"/>
          <p:cNvSpPr/>
          <p:nvPr/>
        </p:nvSpPr>
        <p:spPr>
          <a:xfrm>
            <a:off x="11292840" y="2370125"/>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15%</a:t>
            </a:r>
            <a:endParaRPr lang="en-US" sz="770" dirty="0"/>
          </a:p>
        </p:txBody>
      </p:sp>
      <p:sp>
        <p:nvSpPr>
          <p:cNvPr id="54" name="Shape 52"/>
          <p:cNvSpPr/>
          <p:nvPr/>
        </p:nvSpPr>
        <p:spPr>
          <a:xfrm>
            <a:off x="457200" y="2542032"/>
            <a:ext cx="11274552" cy="168250"/>
          </a:xfrm>
          <a:prstGeom prst="rect">
            <a:avLst/>
          </a:prstGeom>
          <a:solidFill>
            <a:srgbClr val="FFFFFF"/>
          </a:solidFill>
          <a:ln/>
        </p:spPr>
      </p:sp>
      <p:sp>
        <p:nvSpPr>
          <p:cNvPr id="55" name="Text 53"/>
          <p:cNvSpPr/>
          <p:nvPr/>
        </p:nvSpPr>
        <p:spPr>
          <a:xfrm>
            <a:off x="658368" y="2545690"/>
            <a:ext cx="1508760" cy="164592"/>
          </a:xfrm>
          <a:prstGeom prst="rect">
            <a:avLst/>
          </a:prstGeom>
          <a:noFill/>
          <a:ln/>
        </p:spPr>
        <p:txBody>
          <a:bodyPr wrap="square" lIns="0" tIns="0" rIns="0" bIns="0" rtlCol="0" anchor="ctr"/>
          <a:lstStyle/>
          <a:p>
            <a:pPr indent="0" marL="0">
              <a:buNone/>
            </a:pPr>
            <a:endParaRPr lang="en-US" sz="790" dirty="0"/>
          </a:p>
        </p:txBody>
      </p:sp>
      <p:sp>
        <p:nvSpPr>
          <p:cNvPr id="56" name="Text 54"/>
          <p:cNvSpPr/>
          <p:nvPr/>
        </p:nvSpPr>
        <p:spPr>
          <a:xfrm>
            <a:off x="2212848" y="2545690"/>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Too many forming stages</a:t>
            </a:r>
            <a:endParaRPr lang="en-US" sz="790" dirty="0"/>
          </a:p>
        </p:txBody>
      </p:sp>
      <p:sp>
        <p:nvSpPr>
          <p:cNvPr id="57" name="Text 55"/>
          <p:cNvSpPr/>
          <p:nvPr/>
        </p:nvSpPr>
        <p:spPr>
          <a:xfrm>
            <a:off x="5029200" y="2545690"/>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More than 6 operations — cycle time and die investment climb together</a:t>
            </a:r>
            <a:endParaRPr lang="en-US" sz="770" dirty="0"/>
          </a:p>
        </p:txBody>
      </p:sp>
      <p:sp>
        <p:nvSpPr>
          <p:cNvPr id="58" name="Text 56"/>
          <p:cNvSpPr/>
          <p:nvPr/>
        </p:nvSpPr>
        <p:spPr>
          <a:xfrm>
            <a:off x="10058400" y="2545690"/>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59" name="Text 57"/>
          <p:cNvSpPr/>
          <p:nvPr/>
        </p:nvSpPr>
        <p:spPr>
          <a:xfrm>
            <a:off x="11292840" y="2545690"/>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60" name="Text 58"/>
          <p:cNvSpPr/>
          <p:nvPr/>
        </p:nvSpPr>
        <p:spPr>
          <a:xfrm>
            <a:off x="658368" y="2721254"/>
            <a:ext cx="1508760" cy="164592"/>
          </a:xfrm>
          <a:prstGeom prst="rect">
            <a:avLst/>
          </a:prstGeom>
          <a:noFill/>
          <a:ln/>
        </p:spPr>
        <p:txBody>
          <a:bodyPr wrap="square" lIns="0" tIns="0" rIns="0" bIns="0" rtlCol="0" anchor="ctr"/>
          <a:lstStyle/>
          <a:p>
            <a:pPr indent="0" marL="0">
              <a:buNone/>
            </a:pPr>
            <a:endParaRPr lang="en-US" sz="790" dirty="0"/>
          </a:p>
        </p:txBody>
      </p:sp>
      <p:sp>
        <p:nvSpPr>
          <p:cNvPr id="61" name="Text 59"/>
          <p:cNvSpPr/>
          <p:nvPr/>
        </p:nvSpPr>
        <p:spPr>
          <a:xfrm>
            <a:off x="2212848" y="2721254"/>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Seam-welding distortion risk</a:t>
            </a:r>
            <a:endParaRPr lang="en-US" sz="790" dirty="0"/>
          </a:p>
        </p:txBody>
      </p:sp>
      <p:sp>
        <p:nvSpPr>
          <p:cNvPr id="62" name="Text 60"/>
          <p:cNvSpPr/>
          <p:nvPr/>
        </p:nvSpPr>
        <p:spPr>
          <a:xfrm>
            <a:off x="5029200" y="2721254"/>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Continuous MIG/TIG on thin sheet — heat distortion and straightening cost</a:t>
            </a:r>
            <a:endParaRPr lang="en-US" sz="770" dirty="0"/>
          </a:p>
        </p:txBody>
      </p:sp>
      <p:sp>
        <p:nvSpPr>
          <p:cNvPr id="63" name="Text 61"/>
          <p:cNvSpPr/>
          <p:nvPr/>
        </p:nvSpPr>
        <p:spPr>
          <a:xfrm>
            <a:off x="10058400" y="2721254"/>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64" name="Text 62"/>
          <p:cNvSpPr/>
          <p:nvPr/>
        </p:nvSpPr>
        <p:spPr>
          <a:xfrm>
            <a:off x="11292840" y="2721254"/>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6%</a:t>
            </a:r>
            <a:endParaRPr lang="en-US" sz="770" dirty="0"/>
          </a:p>
        </p:txBody>
      </p:sp>
      <p:sp>
        <p:nvSpPr>
          <p:cNvPr id="65" name="Shape 63"/>
          <p:cNvSpPr/>
          <p:nvPr/>
        </p:nvSpPr>
        <p:spPr>
          <a:xfrm>
            <a:off x="457200" y="2893162"/>
            <a:ext cx="11274552" cy="168250"/>
          </a:xfrm>
          <a:prstGeom prst="rect">
            <a:avLst/>
          </a:prstGeom>
          <a:solidFill>
            <a:srgbClr val="FFFFFF"/>
          </a:solidFill>
          <a:ln/>
        </p:spPr>
      </p:sp>
      <p:sp>
        <p:nvSpPr>
          <p:cNvPr id="66" name="Text 64"/>
          <p:cNvSpPr/>
          <p:nvPr/>
        </p:nvSpPr>
        <p:spPr>
          <a:xfrm>
            <a:off x="658368" y="2896819"/>
            <a:ext cx="1508760" cy="164592"/>
          </a:xfrm>
          <a:prstGeom prst="rect">
            <a:avLst/>
          </a:prstGeom>
          <a:noFill/>
          <a:ln/>
        </p:spPr>
        <p:txBody>
          <a:bodyPr wrap="square" lIns="0" tIns="0" rIns="0" bIns="0" rtlCol="0" anchor="ctr"/>
          <a:lstStyle/>
          <a:p>
            <a:pPr indent="0" marL="0">
              <a:buNone/>
            </a:pPr>
            <a:endParaRPr lang="en-US" sz="790" dirty="0"/>
          </a:p>
        </p:txBody>
      </p:sp>
      <p:sp>
        <p:nvSpPr>
          <p:cNvPr id="67" name="Text 65"/>
          <p:cNvSpPr/>
          <p:nvPr/>
        </p:nvSpPr>
        <p:spPr>
          <a:xfrm>
            <a:off x="2212848" y="2896819"/>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Tooling-dominated cost</a:t>
            </a:r>
            <a:endParaRPr lang="en-US" sz="790" dirty="0"/>
          </a:p>
        </p:txBody>
      </p:sp>
      <p:sp>
        <p:nvSpPr>
          <p:cNvPr id="68" name="Text 66"/>
          <p:cNvSpPr/>
          <p:nvPr/>
        </p:nvSpPr>
        <p:spPr>
          <a:xfrm>
            <a:off x="5029200" y="2896819"/>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Tooling over 40% of piece cost — volume too low for hard tooling</a:t>
            </a:r>
            <a:endParaRPr lang="en-US" sz="770" dirty="0"/>
          </a:p>
        </p:txBody>
      </p:sp>
      <p:sp>
        <p:nvSpPr>
          <p:cNvPr id="69" name="Text 67"/>
          <p:cNvSpPr/>
          <p:nvPr/>
        </p:nvSpPr>
        <p:spPr>
          <a:xfrm>
            <a:off x="10058400" y="2896819"/>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70" name="Text 68"/>
          <p:cNvSpPr/>
          <p:nvPr/>
        </p:nvSpPr>
        <p:spPr>
          <a:xfrm>
            <a:off x="11292840" y="2896819"/>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10%</a:t>
            </a:r>
            <a:endParaRPr lang="en-US" sz="770" dirty="0"/>
          </a:p>
        </p:txBody>
      </p:sp>
      <p:sp>
        <p:nvSpPr>
          <p:cNvPr id="71" name="Shape 69"/>
          <p:cNvSpPr/>
          <p:nvPr/>
        </p:nvSpPr>
        <p:spPr>
          <a:xfrm>
            <a:off x="457200" y="3065069"/>
            <a:ext cx="11274552" cy="14630"/>
          </a:xfrm>
          <a:prstGeom prst="rect">
            <a:avLst/>
          </a:prstGeom>
          <a:solidFill>
            <a:srgbClr val="DCE3EE"/>
          </a:solidFill>
          <a:ln/>
        </p:spPr>
      </p:sp>
      <p:sp>
        <p:nvSpPr>
          <p:cNvPr id="72" name="Text 70"/>
          <p:cNvSpPr/>
          <p:nvPr/>
        </p:nvSpPr>
        <p:spPr>
          <a:xfrm>
            <a:off x="658368" y="3072384"/>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Moulding family</a:t>
            </a:r>
            <a:endParaRPr lang="en-US" sz="790" dirty="0"/>
          </a:p>
        </p:txBody>
      </p:sp>
      <p:sp>
        <p:nvSpPr>
          <p:cNvPr id="73" name="Text 71"/>
          <p:cNvSpPr/>
          <p:nvPr/>
        </p:nvSpPr>
        <p:spPr>
          <a:xfrm>
            <a:off x="2212848" y="3072384"/>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Mould cost very high</a:t>
            </a:r>
            <a:endParaRPr lang="en-US" sz="790" dirty="0"/>
          </a:p>
        </p:txBody>
      </p:sp>
      <p:sp>
        <p:nvSpPr>
          <p:cNvPr id="74" name="Text 72"/>
          <p:cNvSpPr/>
          <p:nvPr/>
        </p:nvSpPr>
        <p:spPr>
          <a:xfrm>
            <a:off x="5029200" y="3072384"/>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Mould over 30% of part cost — volume does not justify the tool</a:t>
            </a:r>
            <a:endParaRPr lang="en-US" sz="770" dirty="0"/>
          </a:p>
        </p:txBody>
      </p:sp>
      <p:sp>
        <p:nvSpPr>
          <p:cNvPr id="75" name="Text 73"/>
          <p:cNvSpPr/>
          <p:nvPr/>
        </p:nvSpPr>
        <p:spPr>
          <a:xfrm>
            <a:off x="10058400" y="3072384"/>
            <a:ext cx="1188720" cy="164592"/>
          </a:xfrm>
          <a:prstGeom prst="rect">
            <a:avLst/>
          </a:prstGeom>
          <a:noFill/>
          <a:ln/>
        </p:spPr>
        <p:txBody>
          <a:bodyPr wrap="square" lIns="0" tIns="0" rIns="0" bIns="0" rtlCol="0" anchor="ctr"/>
          <a:lstStyle/>
          <a:p>
            <a:pPr indent="0" marL="0">
              <a:buNone/>
            </a:pPr>
            <a:r>
              <a:rPr lang="en-US" sz="770" b="1" dirty="0">
                <a:solidFill>
                  <a:srgbClr val="B03A2E"/>
                </a:solidFill>
                <a:latin typeface="Calibri" pitchFamily="34" charset="0"/>
                <a:ea typeface="Calibri" pitchFamily="34" charset="-122"/>
                <a:cs typeface="Calibri" pitchFamily="34" charset="-120"/>
              </a:rPr>
              <a:t>Critical</a:t>
            </a:r>
            <a:endParaRPr lang="en-US" sz="770" dirty="0"/>
          </a:p>
        </p:txBody>
      </p:sp>
      <p:sp>
        <p:nvSpPr>
          <p:cNvPr id="76" name="Text 74"/>
          <p:cNvSpPr/>
          <p:nvPr/>
        </p:nvSpPr>
        <p:spPr>
          <a:xfrm>
            <a:off x="11292840" y="3072384"/>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12%</a:t>
            </a:r>
            <a:endParaRPr lang="en-US" sz="770" dirty="0"/>
          </a:p>
        </p:txBody>
      </p:sp>
      <p:sp>
        <p:nvSpPr>
          <p:cNvPr id="77" name="Shape 75"/>
          <p:cNvSpPr/>
          <p:nvPr/>
        </p:nvSpPr>
        <p:spPr>
          <a:xfrm>
            <a:off x="457200" y="3244291"/>
            <a:ext cx="11274552" cy="168250"/>
          </a:xfrm>
          <a:prstGeom prst="rect">
            <a:avLst/>
          </a:prstGeom>
          <a:solidFill>
            <a:srgbClr val="FFFFFF"/>
          </a:solidFill>
          <a:ln/>
        </p:spPr>
      </p:sp>
      <p:sp>
        <p:nvSpPr>
          <p:cNvPr id="78" name="Text 76"/>
          <p:cNvSpPr/>
          <p:nvPr/>
        </p:nvSpPr>
        <p:spPr>
          <a:xfrm>
            <a:off x="658368" y="3247949"/>
            <a:ext cx="1508760" cy="164592"/>
          </a:xfrm>
          <a:prstGeom prst="rect">
            <a:avLst/>
          </a:prstGeom>
          <a:noFill/>
          <a:ln/>
        </p:spPr>
        <p:txBody>
          <a:bodyPr wrap="square" lIns="0" tIns="0" rIns="0" bIns="0" rtlCol="0" anchor="ctr"/>
          <a:lstStyle/>
          <a:p>
            <a:pPr indent="0" marL="0">
              <a:buNone/>
            </a:pPr>
            <a:endParaRPr lang="en-US" sz="790" dirty="0"/>
          </a:p>
        </p:txBody>
      </p:sp>
      <p:sp>
        <p:nvSpPr>
          <p:cNvPr id="79" name="Text 77"/>
          <p:cNvSpPr/>
          <p:nvPr/>
        </p:nvSpPr>
        <p:spPr>
          <a:xfrm>
            <a:off x="2212848" y="3247949"/>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Runner and sprue waste</a:t>
            </a:r>
            <a:endParaRPr lang="en-US" sz="790" dirty="0"/>
          </a:p>
        </p:txBody>
      </p:sp>
      <p:sp>
        <p:nvSpPr>
          <p:cNvPr id="80" name="Text 78"/>
          <p:cNvSpPr/>
          <p:nvPr/>
        </p:nvSpPr>
        <p:spPr>
          <a:xfrm>
            <a:off x="5029200" y="3247949"/>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Utilisation under 75% — a hot-runner system could remove the waste</a:t>
            </a:r>
            <a:endParaRPr lang="en-US" sz="770" dirty="0"/>
          </a:p>
        </p:txBody>
      </p:sp>
      <p:sp>
        <p:nvSpPr>
          <p:cNvPr id="81" name="Text 79"/>
          <p:cNvSpPr/>
          <p:nvPr/>
        </p:nvSpPr>
        <p:spPr>
          <a:xfrm>
            <a:off x="10058400" y="3247949"/>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82" name="Text 80"/>
          <p:cNvSpPr/>
          <p:nvPr/>
        </p:nvSpPr>
        <p:spPr>
          <a:xfrm>
            <a:off x="11292840" y="3247949"/>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6%</a:t>
            </a:r>
            <a:endParaRPr lang="en-US" sz="770" dirty="0"/>
          </a:p>
        </p:txBody>
      </p:sp>
      <p:sp>
        <p:nvSpPr>
          <p:cNvPr id="83" name="Shape 81"/>
          <p:cNvSpPr/>
          <p:nvPr/>
        </p:nvSpPr>
        <p:spPr>
          <a:xfrm>
            <a:off x="457200" y="3416198"/>
            <a:ext cx="11274552" cy="14630"/>
          </a:xfrm>
          <a:prstGeom prst="rect">
            <a:avLst/>
          </a:prstGeom>
          <a:solidFill>
            <a:srgbClr val="DCE3EE"/>
          </a:solidFill>
          <a:ln/>
        </p:spPr>
      </p:sp>
      <p:sp>
        <p:nvSpPr>
          <p:cNvPr id="84" name="Text 82"/>
          <p:cNvSpPr/>
          <p:nvPr/>
        </p:nvSpPr>
        <p:spPr>
          <a:xfrm>
            <a:off x="658368" y="3423514"/>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Extrusion</a:t>
            </a:r>
            <a:endParaRPr lang="en-US" sz="790" dirty="0"/>
          </a:p>
        </p:txBody>
      </p:sp>
      <p:sp>
        <p:nvSpPr>
          <p:cNvPr id="85" name="Text 83"/>
          <p:cNvSpPr/>
          <p:nvPr/>
        </p:nvSpPr>
        <p:spPr>
          <a:xfrm>
            <a:off x="2212848" y="3423514"/>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Conversion cost high</a:t>
            </a:r>
            <a:endParaRPr lang="en-US" sz="790" dirty="0"/>
          </a:p>
        </p:txBody>
      </p:sp>
      <p:sp>
        <p:nvSpPr>
          <p:cNvPr id="86" name="Text 84"/>
          <p:cNvSpPr/>
          <p:nvPr/>
        </p:nvSpPr>
        <p:spPr>
          <a:xfrm>
            <a:off x="5029200" y="3423514"/>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Process over 40% — die design, puller speed or billet temperature limiting</a:t>
            </a:r>
            <a:endParaRPr lang="en-US" sz="770" dirty="0"/>
          </a:p>
        </p:txBody>
      </p:sp>
      <p:sp>
        <p:nvSpPr>
          <p:cNvPr id="87" name="Text 85"/>
          <p:cNvSpPr/>
          <p:nvPr/>
        </p:nvSpPr>
        <p:spPr>
          <a:xfrm>
            <a:off x="10058400" y="3423514"/>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88" name="Text 86"/>
          <p:cNvSpPr/>
          <p:nvPr/>
        </p:nvSpPr>
        <p:spPr>
          <a:xfrm>
            <a:off x="11292840" y="3423514"/>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89" name="Shape 87"/>
          <p:cNvSpPr/>
          <p:nvPr/>
        </p:nvSpPr>
        <p:spPr>
          <a:xfrm>
            <a:off x="457200" y="3595421"/>
            <a:ext cx="11274552" cy="168250"/>
          </a:xfrm>
          <a:prstGeom prst="rect">
            <a:avLst/>
          </a:prstGeom>
          <a:solidFill>
            <a:srgbClr val="FFFFFF"/>
          </a:solidFill>
          <a:ln/>
        </p:spPr>
      </p:sp>
      <p:sp>
        <p:nvSpPr>
          <p:cNvPr id="90" name="Text 88"/>
          <p:cNvSpPr/>
          <p:nvPr/>
        </p:nvSpPr>
        <p:spPr>
          <a:xfrm>
            <a:off x="658368" y="3599078"/>
            <a:ext cx="1508760" cy="164592"/>
          </a:xfrm>
          <a:prstGeom prst="rect">
            <a:avLst/>
          </a:prstGeom>
          <a:noFill/>
          <a:ln/>
        </p:spPr>
        <p:txBody>
          <a:bodyPr wrap="square" lIns="0" tIns="0" rIns="0" bIns="0" rtlCol="0" anchor="ctr"/>
          <a:lstStyle/>
          <a:p>
            <a:pPr indent="0" marL="0">
              <a:buNone/>
            </a:pPr>
            <a:endParaRPr lang="en-US" sz="790" dirty="0"/>
          </a:p>
        </p:txBody>
      </p:sp>
      <p:sp>
        <p:nvSpPr>
          <p:cNvPr id="91" name="Text 89"/>
          <p:cNvSpPr/>
          <p:nvPr/>
        </p:nvSpPr>
        <p:spPr>
          <a:xfrm>
            <a:off x="2212848" y="3599078"/>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Start-up and offcut scrap</a:t>
            </a:r>
            <a:endParaRPr lang="en-US" sz="790" dirty="0"/>
          </a:p>
        </p:txBody>
      </p:sp>
      <p:sp>
        <p:nvSpPr>
          <p:cNvPr id="92" name="Text 90"/>
          <p:cNvSpPr/>
          <p:nvPr/>
        </p:nvSpPr>
        <p:spPr>
          <a:xfrm>
            <a:off x="5029200" y="3599078"/>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Utilisation under 80% — butt ends and cut-to-length offcuts excessive</a:t>
            </a:r>
            <a:endParaRPr lang="en-US" sz="770" dirty="0"/>
          </a:p>
        </p:txBody>
      </p:sp>
      <p:sp>
        <p:nvSpPr>
          <p:cNvPr id="93" name="Text 91"/>
          <p:cNvSpPr/>
          <p:nvPr/>
        </p:nvSpPr>
        <p:spPr>
          <a:xfrm>
            <a:off x="10058400" y="3599078"/>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94" name="Text 92"/>
          <p:cNvSpPr/>
          <p:nvPr/>
        </p:nvSpPr>
        <p:spPr>
          <a:xfrm>
            <a:off x="11292840" y="3599078"/>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5%</a:t>
            </a:r>
            <a:endParaRPr lang="en-US" sz="770" dirty="0"/>
          </a:p>
        </p:txBody>
      </p:sp>
      <p:sp>
        <p:nvSpPr>
          <p:cNvPr id="95" name="Shape 93"/>
          <p:cNvSpPr/>
          <p:nvPr/>
        </p:nvSpPr>
        <p:spPr>
          <a:xfrm>
            <a:off x="457200" y="3767328"/>
            <a:ext cx="11274552" cy="14630"/>
          </a:xfrm>
          <a:prstGeom prst="rect">
            <a:avLst/>
          </a:prstGeom>
          <a:solidFill>
            <a:srgbClr val="DCE3EE"/>
          </a:solidFill>
          <a:ln/>
        </p:spPr>
      </p:sp>
      <p:sp>
        <p:nvSpPr>
          <p:cNvPr id="96" name="Text 94"/>
          <p:cNvSpPr/>
          <p:nvPr/>
        </p:nvSpPr>
        <p:spPr>
          <a:xfrm>
            <a:off x="658368" y="3774643"/>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Rotomoulding</a:t>
            </a:r>
            <a:endParaRPr lang="en-US" sz="790" dirty="0"/>
          </a:p>
        </p:txBody>
      </p:sp>
      <p:sp>
        <p:nvSpPr>
          <p:cNvPr id="97" name="Text 95"/>
          <p:cNvSpPr/>
          <p:nvPr/>
        </p:nvSpPr>
        <p:spPr>
          <a:xfrm>
            <a:off x="2212848" y="3774643"/>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Oven cycle dominates</a:t>
            </a:r>
            <a:endParaRPr lang="en-US" sz="790" dirty="0"/>
          </a:p>
        </p:txBody>
      </p:sp>
      <p:sp>
        <p:nvSpPr>
          <p:cNvPr id="98" name="Text 96"/>
          <p:cNvSpPr/>
          <p:nvPr/>
        </p:nvSpPr>
        <p:spPr>
          <a:xfrm>
            <a:off x="5029200" y="3774643"/>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Process over 50% — arm loading, cook control and wall thickness are the levers</a:t>
            </a:r>
            <a:endParaRPr lang="en-US" sz="770" dirty="0"/>
          </a:p>
        </p:txBody>
      </p:sp>
      <p:sp>
        <p:nvSpPr>
          <p:cNvPr id="99" name="Text 97"/>
          <p:cNvSpPr/>
          <p:nvPr/>
        </p:nvSpPr>
        <p:spPr>
          <a:xfrm>
            <a:off x="10058400" y="3774643"/>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00" name="Text 98"/>
          <p:cNvSpPr/>
          <p:nvPr/>
        </p:nvSpPr>
        <p:spPr>
          <a:xfrm>
            <a:off x="11292840" y="3774643"/>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101" name="Shape 99"/>
          <p:cNvSpPr/>
          <p:nvPr/>
        </p:nvSpPr>
        <p:spPr>
          <a:xfrm>
            <a:off x="457200" y="3946550"/>
            <a:ext cx="11274552" cy="168250"/>
          </a:xfrm>
          <a:prstGeom prst="rect">
            <a:avLst/>
          </a:prstGeom>
          <a:solidFill>
            <a:srgbClr val="FFFFFF"/>
          </a:solidFill>
          <a:ln/>
        </p:spPr>
      </p:sp>
      <p:sp>
        <p:nvSpPr>
          <p:cNvPr id="102" name="Text 100"/>
          <p:cNvSpPr/>
          <p:nvPr/>
        </p:nvSpPr>
        <p:spPr>
          <a:xfrm>
            <a:off x="658368" y="3950208"/>
            <a:ext cx="1508760" cy="164592"/>
          </a:xfrm>
          <a:prstGeom prst="rect">
            <a:avLst/>
          </a:prstGeom>
          <a:noFill/>
          <a:ln/>
        </p:spPr>
        <p:txBody>
          <a:bodyPr wrap="square" lIns="0" tIns="0" rIns="0" bIns="0" rtlCol="0" anchor="ctr"/>
          <a:lstStyle/>
          <a:p>
            <a:pPr indent="0" marL="0">
              <a:buNone/>
            </a:pPr>
            <a:endParaRPr lang="en-US" sz="790" dirty="0"/>
          </a:p>
        </p:txBody>
      </p:sp>
      <p:sp>
        <p:nvSpPr>
          <p:cNvPr id="103" name="Text 101"/>
          <p:cNvSpPr/>
          <p:nvPr/>
        </p:nvSpPr>
        <p:spPr>
          <a:xfrm>
            <a:off x="2212848" y="3950208"/>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Many secondary operations</a:t>
            </a:r>
            <a:endParaRPr lang="en-US" sz="790" dirty="0"/>
          </a:p>
        </p:txBody>
      </p:sp>
      <p:sp>
        <p:nvSpPr>
          <p:cNvPr id="104" name="Text 102"/>
          <p:cNvSpPr/>
          <p:nvPr/>
        </p:nvSpPr>
        <p:spPr>
          <a:xfrm>
            <a:off x="5029200" y="3950208"/>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Over 4 operations — mould-in features to delete downstream work</a:t>
            </a:r>
            <a:endParaRPr lang="en-US" sz="770" dirty="0"/>
          </a:p>
        </p:txBody>
      </p:sp>
      <p:sp>
        <p:nvSpPr>
          <p:cNvPr id="105" name="Text 103"/>
          <p:cNvSpPr/>
          <p:nvPr/>
        </p:nvSpPr>
        <p:spPr>
          <a:xfrm>
            <a:off x="10058400" y="3950208"/>
            <a:ext cx="1188720" cy="164592"/>
          </a:xfrm>
          <a:prstGeom prst="rect">
            <a:avLst/>
          </a:prstGeom>
          <a:noFill/>
          <a:ln/>
        </p:spPr>
        <p:txBody>
          <a:bodyPr wrap="square" lIns="0" tIns="0" rIns="0" bIns="0" rtlCol="0" anchor="ctr"/>
          <a:lstStyle/>
          <a:p>
            <a:pPr indent="0" marL="0">
              <a:buNone/>
            </a:pPr>
            <a:r>
              <a:rPr lang="en-US" sz="770" b="1" dirty="0">
                <a:solidFill>
                  <a:srgbClr val="686F7D"/>
                </a:solidFill>
                <a:latin typeface="Calibri" pitchFamily="34" charset="0"/>
                <a:ea typeface="Calibri" pitchFamily="34" charset="-122"/>
                <a:cs typeface="Calibri" pitchFamily="34" charset="-120"/>
              </a:rPr>
              <a:t>Minor</a:t>
            </a:r>
            <a:endParaRPr lang="en-US" sz="770" dirty="0"/>
          </a:p>
        </p:txBody>
      </p:sp>
      <p:sp>
        <p:nvSpPr>
          <p:cNvPr id="106" name="Text 104"/>
          <p:cNvSpPr/>
          <p:nvPr/>
        </p:nvSpPr>
        <p:spPr>
          <a:xfrm>
            <a:off x="11292840" y="3950208"/>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4%</a:t>
            </a:r>
            <a:endParaRPr lang="en-US" sz="770" dirty="0"/>
          </a:p>
        </p:txBody>
      </p:sp>
      <p:sp>
        <p:nvSpPr>
          <p:cNvPr id="107" name="Shape 105"/>
          <p:cNvSpPr/>
          <p:nvPr/>
        </p:nvSpPr>
        <p:spPr>
          <a:xfrm>
            <a:off x="457200" y="4118458"/>
            <a:ext cx="11274552" cy="14630"/>
          </a:xfrm>
          <a:prstGeom prst="rect">
            <a:avLst/>
          </a:prstGeom>
          <a:solidFill>
            <a:srgbClr val="DCE3EE"/>
          </a:solidFill>
          <a:ln/>
        </p:spPr>
      </p:sp>
      <p:sp>
        <p:nvSpPr>
          <p:cNvPr id="108" name="Text 106"/>
          <p:cNvSpPr/>
          <p:nvPr/>
        </p:nvSpPr>
        <p:spPr>
          <a:xfrm>
            <a:off x="658368" y="4125773"/>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PCB fabrication</a:t>
            </a:r>
            <a:endParaRPr lang="en-US" sz="790" dirty="0"/>
          </a:p>
        </p:txBody>
      </p:sp>
      <p:sp>
        <p:nvSpPr>
          <p:cNvPr id="109" name="Text 107"/>
          <p:cNvSpPr/>
          <p:nvPr/>
        </p:nvSpPr>
        <p:spPr>
          <a:xfrm>
            <a:off x="2212848" y="4125773"/>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Complexity-driven process cost</a:t>
            </a:r>
            <a:endParaRPr lang="en-US" sz="790" dirty="0"/>
          </a:p>
        </p:txBody>
      </p:sp>
      <p:sp>
        <p:nvSpPr>
          <p:cNvPr id="110" name="Text 108"/>
          <p:cNvSpPr/>
          <p:nvPr/>
        </p:nvSpPr>
        <p:spPr>
          <a:xfrm>
            <a:off x="5029200" y="4125773"/>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Fab process over 60% of cost — layers, fine pitch or tight tolerance driving it</a:t>
            </a:r>
            <a:endParaRPr lang="en-US" sz="770" dirty="0"/>
          </a:p>
        </p:txBody>
      </p:sp>
      <p:sp>
        <p:nvSpPr>
          <p:cNvPr id="111" name="Text 109"/>
          <p:cNvSpPr/>
          <p:nvPr/>
        </p:nvSpPr>
        <p:spPr>
          <a:xfrm>
            <a:off x="10058400" y="4125773"/>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12" name="Text 110"/>
          <p:cNvSpPr/>
          <p:nvPr/>
        </p:nvSpPr>
        <p:spPr>
          <a:xfrm>
            <a:off x="11292840" y="4125773"/>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10%</a:t>
            </a:r>
            <a:endParaRPr lang="en-US" sz="770" dirty="0"/>
          </a:p>
        </p:txBody>
      </p:sp>
      <p:sp>
        <p:nvSpPr>
          <p:cNvPr id="113" name="Shape 111"/>
          <p:cNvSpPr/>
          <p:nvPr/>
        </p:nvSpPr>
        <p:spPr>
          <a:xfrm>
            <a:off x="457200" y="4297680"/>
            <a:ext cx="11274552" cy="168250"/>
          </a:xfrm>
          <a:prstGeom prst="rect">
            <a:avLst/>
          </a:prstGeom>
          <a:solidFill>
            <a:srgbClr val="FFFFFF"/>
          </a:solidFill>
          <a:ln/>
        </p:spPr>
      </p:sp>
      <p:sp>
        <p:nvSpPr>
          <p:cNvPr id="114" name="Text 112"/>
          <p:cNvSpPr/>
          <p:nvPr/>
        </p:nvSpPr>
        <p:spPr>
          <a:xfrm>
            <a:off x="658368" y="4301338"/>
            <a:ext cx="1508760" cy="164592"/>
          </a:xfrm>
          <a:prstGeom prst="rect">
            <a:avLst/>
          </a:prstGeom>
          <a:noFill/>
          <a:ln/>
        </p:spPr>
        <p:txBody>
          <a:bodyPr wrap="square" lIns="0" tIns="0" rIns="0" bIns="0" rtlCol="0" anchor="ctr"/>
          <a:lstStyle/>
          <a:p>
            <a:pPr indent="0" marL="0">
              <a:buNone/>
            </a:pPr>
            <a:endParaRPr lang="en-US" sz="790" dirty="0"/>
          </a:p>
        </p:txBody>
      </p:sp>
      <p:sp>
        <p:nvSpPr>
          <p:cNvPr id="115" name="Text 113"/>
          <p:cNvSpPr/>
          <p:nvPr/>
        </p:nvSpPr>
        <p:spPr>
          <a:xfrm>
            <a:off x="2212848" y="4301338"/>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NRE heavy per board</a:t>
            </a:r>
            <a:endParaRPr lang="en-US" sz="790" dirty="0"/>
          </a:p>
        </p:txBody>
      </p:sp>
      <p:sp>
        <p:nvSpPr>
          <p:cNvPr id="116" name="Text 114"/>
          <p:cNvSpPr/>
          <p:nvPr/>
        </p:nvSpPr>
        <p:spPr>
          <a:xfrm>
            <a:off x="5029200" y="4301338"/>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Set-up over 10% of board cost — panelise or raise the batch</a:t>
            </a:r>
            <a:endParaRPr lang="en-US" sz="770" dirty="0"/>
          </a:p>
        </p:txBody>
      </p:sp>
      <p:sp>
        <p:nvSpPr>
          <p:cNvPr id="117" name="Text 115"/>
          <p:cNvSpPr/>
          <p:nvPr/>
        </p:nvSpPr>
        <p:spPr>
          <a:xfrm>
            <a:off x="10058400" y="4301338"/>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18" name="Text 116"/>
          <p:cNvSpPr/>
          <p:nvPr/>
        </p:nvSpPr>
        <p:spPr>
          <a:xfrm>
            <a:off x="11292840" y="4301338"/>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119" name="Shape 117"/>
          <p:cNvSpPr/>
          <p:nvPr/>
        </p:nvSpPr>
        <p:spPr>
          <a:xfrm>
            <a:off x="457200" y="4469587"/>
            <a:ext cx="11274552" cy="14630"/>
          </a:xfrm>
          <a:prstGeom prst="rect">
            <a:avLst/>
          </a:prstGeom>
          <a:solidFill>
            <a:srgbClr val="DCE3EE"/>
          </a:solidFill>
          <a:ln/>
        </p:spPr>
      </p:sp>
      <p:sp>
        <p:nvSpPr>
          <p:cNvPr id="120" name="Text 118"/>
          <p:cNvSpPr/>
          <p:nvPr/>
        </p:nvSpPr>
        <p:spPr>
          <a:xfrm>
            <a:off x="658368" y="4476902"/>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PCB assembly</a:t>
            </a:r>
            <a:endParaRPr lang="en-US" sz="790" dirty="0"/>
          </a:p>
        </p:txBody>
      </p:sp>
      <p:sp>
        <p:nvSpPr>
          <p:cNvPr id="121" name="Text 119"/>
          <p:cNvSpPr/>
          <p:nvPr/>
        </p:nvSpPr>
        <p:spPr>
          <a:xfrm>
            <a:off x="2212848" y="4476902"/>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High labour content</a:t>
            </a:r>
            <a:endParaRPr lang="en-US" sz="790" dirty="0"/>
          </a:p>
        </p:txBody>
      </p:sp>
      <p:sp>
        <p:nvSpPr>
          <p:cNvPr id="122" name="Text 120"/>
          <p:cNvSpPr/>
          <p:nvPr/>
        </p:nvSpPr>
        <p:spPr>
          <a:xfrm>
            <a:off x="5029200" y="4476902"/>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Labour over 35% — through-hole or manual rework; convert to SMT</a:t>
            </a:r>
            <a:endParaRPr lang="en-US" sz="770" dirty="0"/>
          </a:p>
        </p:txBody>
      </p:sp>
      <p:sp>
        <p:nvSpPr>
          <p:cNvPr id="123" name="Text 121"/>
          <p:cNvSpPr/>
          <p:nvPr/>
        </p:nvSpPr>
        <p:spPr>
          <a:xfrm>
            <a:off x="10058400" y="4476902"/>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24" name="Text 122"/>
          <p:cNvSpPr/>
          <p:nvPr/>
        </p:nvSpPr>
        <p:spPr>
          <a:xfrm>
            <a:off x="11292840" y="4476902"/>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12%</a:t>
            </a:r>
            <a:endParaRPr lang="en-US" sz="770" dirty="0"/>
          </a:p>
        </p:txBody>
      </p:sp>
      <p:sp>
        <p:nvSpPr>
          <p:cNvPr id="125" name="Shape 123"/>
          <p:cNvSpPr/>
          <p:nvPr/>
        </p:nvSpPr>
        <p:spPr>
          <a:xfrm>
            <a:off x="457200" y="4648810"/>
            <a:ext cx="11274552" cy="168250"/>
          </a:xfrm>
          <a:prstGeom prst="rect">
            <a:avLst/>
          </a:prstGeom>
          <a:solidFill>
            <a:srgbClr val="FFFFFF"/>
          </a:solidFill>
          <a:ln/>
        </p:spPr>
      </p:sp>
      <p:sp>
        <p:nvSpPr>
          <p:cNvPr id="126" name="Text 124"/>
          <p:cNvSpPr/>
          <p:nvPr/>
        </p:nvSpPr>
        <p:spPr>
          <a:xfrm>
            <a:off x="658368" y="4652467"/>
            <a:ext cx="1508760" cy="164592"/>
          </a:xfrm>
          <a:prstGeom prst="rect">
            <a:avLst/>
          </a:prstGeom>
          <a:noFill/>
          <a:ln/>
        </p:spPr>
        <p:txBody>
          <a:bodyPr wrap="square" lIns="0" tIns="0" rIns="0" bIns="0" rtlCol="0" anchor="ctr"/>
          <a:lstStyle/>
          <a:p>
            <a:pPr indent="0" marL="0">
              <a:buNone/>
            </a:pPr>
            <a:endParaRPr lang="en-US" sz="790" dirty="0"/>
          </a:p>
        </p:txBody>
      </p:sp>
      <p:sp>
        <p:nvSpPr>
          <p:cNvPr id="127" name="Text 125"/>
          <p:cNvSpPr/>
          <p:nvPr/>
        </p:nvSpPr>
        <p:spPr>
          <a:xfrm>
            <a:off x="2212848" y="4652467"/>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Many assembly stages</a:t>
            </a:r>
            <a:endParaRPr lang="en-US" sz="790" dirty="0"/>
          </a:p>
        </p:txBody>
      </p:sp>
      <p:sp>
        <p:nvSpPr>
          <p:cNvPr id="128" name="Text 126"/>
          <p:cNvSpPr/>
          <p:nvPr/>
        </p:nvSpPr>
        <p:spPr>
          <a:xfrm>
            <a:off x="5029200" y="4652467"/>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More than 6 operations — cycle time and defect risk grow together</a:t>
            </a:r>
            <a:endParaRPr lang="en-US" sz="770" dirty="0"/>
          </a:p>
        </p:txBody>
      </p:sp>
      <p:sp>
        <p:nvSpPr>
          <p:cNvPr id="129" name="Text 127"/>
          <p:cNvSpPr/>
          <p:nvPr/>
        </p:nvSpPr>
        <p:spPr>
          <a:xfrm>
            <a:off x="10058400" y="4652467"/>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30" name="Text 128"/>
          <p:cNvSpPr/>
          <p:nvPr/>
        </p:nvSpPr>
        <p:spPr>
          <a:xfrm>
            <a:off x="11292840" y="4652467"/>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7%</a:t>
            </a:r>
            <a:endParaRPr lang="en-US" sz="770" dirty="0"/>
          </a:p>
        </p:txBody>
      </p:sp>
      <p:sp>
        <p:nvSpPr>
          <p:cNvPr id="131" name="Shape 129"/>
          <p:cNvSpPr/>
          <p:nvPr/>
        </p:nvSpPr>
        <p:spPr>
          <a:xfrm>
            <a:off x="457200" y="4820717"/>
            <a:ext cx="11274552" cy="14630"/>
          </a:xfrm>
          <a:prstGeom prst="rect">
            <a:avLst/>
          </a:prstGeom>
          <a:solidFill>
            <a:srgbClr val="DCE3EE"/>
          </a:solidFill>
          <a:ln/>
        </p:spPr>
      </p:sp>
      <p:sp>
        <p:nvSpPr>
          <p:cNvPr id="132" name="Text 130"/>
          <p:cNvSpPr/>
          <p:nvPr/>
        </p:nvSpPr>
        <p:spPr>
          <a:xfrm>
            <a:off x="658368" y="4828032"/>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Rubber</a:t>
            </a:r>
            <a:endParaRPr lang="en-US" sz="790" dirty="0"/>
          </a:p>
        </p:txBody>
      </p:sp>
      <p:sp>
        <p:nvSpPr>
          <p:cNvPr id="133" name="Text 131"/>
          <p:cNvSpPr/>
          <p:nvPr/>
        </p:nvSpPr>
        <p:spPr>
          <a:xfrm>
            <a:off x="2212848" y="4828032"/>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Cure cycle dominant</a:t>
            </a:r>
            <a:endParaRPr lang="en-US" sz="790" dirty="0"/>
          </a:p>
        </p:txBody>
      </p:sp>
      <p:sp>
        <p:nvSpPr>
          <p:cNvPr id="134" name="Text 132"/>
          <p:cNvSpPr/>
          <p:nvPr/>
        </p:nvSpPr>
        <p:spPr>
          <a:xfrm>
            <a:off x="5029200" y="4828032"/>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Process over 45% of cost — cure recipe and cavity count are the levers</a:t>
            </a:r>
            <a:endParaRPr lang="en-US" sz="770" dirty="0"/>
          </a:p>
        </p:txBody>
      </p:sp>
      <p:sp>
        <p:nvSpPr>
          <p:cNvPr id="135" name="Text 133"/>
          <p:cNvSpPr/>
          <p:nvPr/>
        </p:nvSpPr>
        <p:spPr>
          <a:xfrm>
            <a:off x="10058400" y="4828032"/>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36" name="Text 134"/>
          <p:cNvSpPr/>
          <p:nvPr/>
        </p:nvSpPr>
        <p:spPr>
          <a:xfrm>
            <a:off x="11292840" y="4828032"/>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137" name="Shape 135"/>
          <p:cNvSpPr/>
          <p:nvPr/>
        </p:nvSpPr>
        <p:spPr>
          <a:xfrm>
            <a:off x="457200" y="4996282"/>
            <a:ext cx="11274552" cy="14630"/>
          </a:xfrm>
          <a:prstGeom prst="rect">
            <a:avLst/>
          </a:prstGeom>
          <a:solidFill>
            <a:srgbClr val="DCE3EE"/>
          </a:solidFill>
          <a:ln/>
        </p:spPr>
      </p:sp>
      <p:sp>
        <p:nvSpPr>
          <p:cNvPr id="138" name="Text 136"/>
          <p:cNvSpPr/>
          <p:nvPr/>
        </p:nvSpPr>
        <p:spPr>
          <a:xfrm>
            <a:off x="658368" y="5003597"/>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Composites</a:t>
            </a:r>
            <a:endParaRPr lang="en-US" sz="790" dirty="0"/>
          </a:p>
        </p:txBody>
      </p:sp>
      <p:sp>
        <p:nvSpPr>
          <p:cNvPr id="139" name="Text 137"/>
          <p:cNvSpPr/>
          <p:nvPr/>
        </p:nvSpPr>
        <p:spPr>
          <a:xfrm>
            <a:off x="2212848" y="5003597"/>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Labour-intensive layup</a:t>
            </a:r>
            <a:endParaRPr lang="en-US" sz="790" dirty="0"/>
          </a:p>
        </p:txBody>
      </p:sp>
      <p:sp>
        <p:nvSpPr>
          <p:cNvPr id="140" name="Text 138"/>
          <p:cNvSpPr/>
          <p:nvPr/>
        </p:nvSpPr>
        <p:spPr>
          <a:xfrm>
            <a:off x="5029200" y="5003597"/>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Labour over 40% — manual layup dominates; automated placement pays</a:t>
            </a:r>
            <a:endParaRPr lang="en-US" sz="770" dirty="0"/>
          </a:p>
        </p:txBody>
      </p:sp>
      <p:sp>
        <p:nvSpPr>
          <p:cNvPr id="141" name="Text 139"/>
          <p:cNvSpPr/>
          <p:nvPr/>
        </p:nvSpPr>
        <p:spPr>
          <a:xfrm>
            <a:off x="10058400" y="5003597"/>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42" name="Text 140"/>
          <p:cNvSpPr/>
          <p:nvPr/>
        </p:nvSpPr>
        <p:spPr>
          <a:xfrm>
            <a:off x="11292840" y="5003597"/>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15%</a:t>
            </a:r>
            <a:endParaRPr lang="en-US" sz="770" dirty="0"/>
          </a:p>
        </p:txBody>
      </p:sp>
      <p:sp>
        <p:nvSpPr>
          <p:cNvPr id="143" name="Text 141"/>
          <p:cNvSpPr/>
          <p:nvPr/>
        </p:nvSpPr>
        <p:spPr>
          <a:xfrm>
            <a:off x="658368" y="5179162"/>
            <a:ext cx="1508760" cy="164592"/>
          </a:xfrm>
          <a:prstGeom prst="rect">
            <a:avLst/>
          </a:prstGeom>
          <a:noFill/>
          <a:ln/>
        </p:spPr>
        <p:txBody>
          <a:bodyPr wrap="square" lIns="0" tIns="0" rIns="0" bIns="0" rtlCol="0" anchor="ctr"/>
          <a:lstStyle/>
          <a:p>
            <a:pPr indent="0" marL="0">
              <a:buNone/>
            </a:pPr>
            <a:endParaRPr lang="en-US" sz="790" dirty="0"/>
          </a:p>
        </p:txBody>
      </p:sp>
      <p:sp>
        <p:nvSpPr>
          <p:cNvPr id="144" name="Text 142"/>
          <p:cNvSpPr/>
          <p:nvPr/>
        </p:nvSpPr>
        <p:spPr>
          <a:xfrm>
            <a:off x="2212848" y="5179162"/>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Long cure cycle</a:t>
            </a:r>
            <a:endParaRPr lang="en-US" sz="790" dirty="0"/>
          </a:p>
        </p:txBody>
      </p:sp>
      <p:sp>
        <p:nvSpPr>
          <p:cNvPr id="145" name="Text 143"/>
          <p:cNvSpPr/>
          <p:nvPr/>
        </p:nvSpPr>
        <p:spPr>
          <a:xfrm>
            <a:off x="5029200" y="5179162"/>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Process over 35% — autoclave time; out-of-autoclave routes exist</a:t>
            </a:r>
            <a:endParaRPr lang="en-US" sz="770" dirty="0"/>
          </a:p>
        </p:txBody>
      </p:sp>
      <p:sp>
        <p:nvSpPr>
          <p:cNvPr id="146" name="Text 144"/>
          <p:cNvSpPr/>
          <p:nvPr/>
        </p:nvSpPr>
        <p:spPr>
          <a:xfrm>
            <a:off x="10058400" y="5179162"/>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47" name="Text 145"/>
          <p:cNvSpPr/>
          <p:nvPr/>
        </p:nvSpPr>
        <p:spPr>
          <a:xfrm>
            <a:off x="11292840" y="5179162"/>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10%</a:t>
            </a:r>
            <a:endParaRPr lang="en-US" sz="770" dirty="0"/>
          </a:p>
        </p:txBody>
      </p:sp>
      <p:sp>
        <p:nvSpPr>
          <p:cNvPr id="148" name="Shape 146"/>
          <p:cNvSpPr/>
          <p:nvPr/>
        </p:nvSpPr>
        <p:spPr>
          <a:xfrm>
            <a:off x="457200" y="5347411"/>
            <a:ext cx="11274552" cy="14630"/>
          </a:xfrm>
          <a:prstGeom prst="rect">
            <a:avLst/>
          </a:prstGeom>
          <a:solidFill>
            <a:srgbClr val="DCE3EE"/>
          </a:solidFill>
          <a:ln/>
        </p:spPr>
      </p:sp>
      <p:sp>
        <p:nvSpPr>
          <p:cNvPr id="149" name="Text 147"/>
          <p:cNvSpPr/>
          <p:nvPr/>
        </p:nvSpPr>
        <p:spPr>
          <a:xfrm>
            <a:off x="658368" y="5354726"/>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Wiring harness</a:t>
            </a:r>
            <a:endParaRPr lang="en-US" sz="790" dirty="0"/>
          </a:p>
        </p:txBody>
      </p:sp>
      <p:sp>
        <p:nvSpPr>
          <p:cNvPr id="150" name="Text 148"/>
          <p:cNvSpPr/>
          <p:nvPr/>
        </p:nvSpPr>
        <p:spPr>
          <a:xfrm>
            <a:off x="2212848" y="5354726"/>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Labour beyond half the cost</a:t>
            </a:r>
            <a:endParaRPr lang="en-US" sz="790" dirty="0"/>
          </a:p>
        </p:txBody>
      </p:sp>
      <p:sp>
        <p:nvSpPr>
          <p:cNvPr id="151" name="Text 149"/>
          <p:cNvSpPr/>
          <p:nvPr/>
        </p:nvSpPr>
        <p:spPr>
          <a:xfrm>
            <a:off x="5029200" y="5354726"/>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Labour over 50% — automate cut, strip and crimp as a priority</a:t>
            </a:r>
            <a:endParaRPr lang="en-US" sz="770" dirty="0"/>
          </a:p>
        </p:txBody>
      </p:sp>
      <p:sp>
        <p:nvSpPr>
          <p:cNvPr id="152" name="Text 150"/>
          <p:cNvSpPr/>
          <p:nvPr/>
        </p:nvSpPr>
        <p:spPr>
          <a:xfrm>
            <a:off x="10058400" y="5354726"/>
            <a:ext cx="1188720" cy="164592"/>
          </a:xfrm>
          <a:prstGeom prst="rect">
            <a:avLst/>
          </a:prstGeom>
          <a:noFill/>
          <a:ln/>
        </p:spPr>
        <p:txBody>
          <a:bodyPr wrap="square" lIns="0" tIns="0" rIns="0" bIns="0" rtlCol="0" anchor="ctr"/>
          <a:lstStyle/>
          <a:p>
            <a:pPr indent="0" marL="0">
              <a:buNone/>
            </a:pPr>
            <a:r>
              <a:rPr lang="en-US" sz="770" b="1" dirty="0">
                <a:solidFill>
                  <a:srgbClr val="B03A2E"/>
                </a:solidFill>
                <a:latin typeface="Calibri" pitchFamily="34" charset="0"/>
                <a:ea typeface="Calibri" pitchFamily="34" charset="-122"/>
                <a:cs typeface="Calibri" pitchFamily="34" charset="-120"/>
              </a:rPr>
              <a:t>Critical</a:t>
            </a:r>
            <a:endParaRPr lang="en-US" sz="770" dirty="0"/>
          </a:p>
        </p:txBody>
      </p:sp>
      <p:sp>
        <p:nvSpPr>
          <p:cNvPr id="153" name="Text 151"/>
          <p:cNvSpPr/>
          <p:nvPr/>
        </p:nvSpPr>
        <p:spPr>
          <a:xfrm>
            <a:off x="11292840" y="5354726"/>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20%</a:t>
            </a:r>
            <a:endParaRPr lang="en-US" sz="770" dirty="0"/>
          </a:p>
        </p:txBody>
      </p:sp>
      <p:sp>
        <p:nvSpPr>
          <p:cNvPr id="154" name="Text 152"/>
          <p:cNvSpPr/>
          <p:nvPr/>
        </p:nvSpPr>
        <p:spPr>
          <a:xfrm>
            <a:off x="658368" y="5530291"/>
            <a:ext cx="1508760" cy="164592"/>
          </a:xfrm>
          <a:prstGeom prst="rect">
            <a:avLst/>
          </a:prstGeom>
          <a:noFill/>
          <a:ln/>
        </p:spPr>
        <p:txBody>
          <a:bodyPr wrap="square" lIns="0" tIns="0" rIns="0" bIns="0" rtlCol="0" anchor="ctr"/>
          <a:lstStyle/>
          <a:p>
            <a:pPr indent="0" marL="0">
              <a:buNone/>
            </a:pPr>
            <a:endParaRPr lang="en-US" sz="790" dirty="0"/>
          </a:p>
        </p:txBody>
      </p:sp>
      <p:sp>
        <p:nvSpPr>
          <p:cNvPr id="155" name="Text 153"/>
          <p:cNvSpPr/>
          <p:nvPr/>
        </p:nvSpPr>
        <p:spPr>
          <a:xfrm>
            <a:off x="2212848" y="5530291"/>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High-complexity harness</a:t>
            </a:r>
            <a:endParaRPr lang="en-US" sz="790" dirty="0"/>
          </a:p>
        </p:txBody>
      </p:sp>
      <p:sp>
        <p:nvSpPr>
          <p:cNvPr id="156" name="Text 154"/>
          <p:cNvSpPr/>
          <p:nvPr/>
        </p:nvSpPr>
        <p:spPr>
          <a:xfrm>
            <a:off x="5029200" y="5530291"/>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More than 8 operations — branching drives time and defects</a:t>
            </a:r>
            <a:endParaRPr lang="en-US" sz="770" dirty="0"/>
          </a:p>
        </p:txBody>
      </p:sp>
      <p:sp>
        <p:nvSpPr>
          <p:cNvPr id="157" name="Text 155"/>
          <p:cNvSpPr/>
          <p:nvPr/>
        </p:nvSpPr>
        <p:spPr>
          <a:xfrm>
            <a:off x="10058400" y="5530291"/>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58" name="Text 156"/>
          <p:cNvSpPr/>
          <p:nvPr/>
        </p:nvSpPr>
        <p:spPr>
          <a:xfrm>
            <a:off x="11292840" y="5530291"/>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159" name="Shape 157"/>
          <p:cNvSpPr/>
          <p:nvPr/>
        </p:nvSpPr>
        <p:spPr>
          <a:xfrm>
            <a:off x="457200" y="5698541"/>
            <a:ext cx="11274552" cy="14630"/>
          </a:xfrm>
          <a:prstGeom prst="rect">
            <a:avLst/>
          </a:prstGeom>
          <a:solidFill>
            <a:srgbClr val="DCE3EE"/>
          </a:solidFill>
          <a:ln/>
        </p:spPr>
      </p:sp>
      <p:sp>
        <p:nvSpPr>
          <p:cNvPr id="160" name="Text 158"/>
          <p:cNvSpPr/>
          <p:nvPr/>
        </p:nvSpPr>
        <p:spPr>
          <a:xfrm>
            <a:off x="658368" y="5705856"/>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Painting</a:t>
            </a:r>
            <a:endParaRPr lang="en-US" sz="790" dirty="0"/>
          </a:p>
        </p:txBody>
      </p:sp>
      <p:sp>
        <p:nvSpPr>
          <p:cNvPr id="161" name="Text 159"/>
          <p:cNvSpPr/>
          <p:nvPr/>
        </p:nvSpPr>
        <p:spPr>
          <a:xfrm>
            <a:off x="2212848" y="5705856"/>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Paint material heavy</a:t>
            </a:r>
            <a:endParaRPr lang="en-US" sz="790" dirty="0"/>
          </a:p>
        </p:txBody>
      </p:sp>
      <p:sp>
        <p:nvSpPr>
          <p:cNvPr id="162" name="Text 160"/>
          <p:cNvSpPr/>
          <p:nvPr/>
        </p:nvSpPr>
        <p:spPr>
          <a:xfrm>
            <a:off x="5029200" y="5705856"/>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Material over 40% — transfer efficiency and film-build are the levers</a:t>
            </a:r>
            <a:endParaRPr lang="en-US" sz="770" dirty="0"/>
          </a:p>
        </p:txBody>
      </p:sp>
      <p:sp>
        <p:nvSpPr>
          <p:cNvPr id="163" name="Text 161"/>
          <p:cNvSpPr/>
          <p:nvPr/>
        </p:nvSpPr>
        <p:spPr>
          <a:xfrm>
            <a:off x="10058400" y="5705856"/>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64" name="Text 162"/>
          <p:cNvSpPr/>
          <p:nvPr/>
        </p:nvSpPr>
        <p:spPr>
          <a:xfrm>
            <a:off x="11292840" y="5705856"/>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8%</a:t>
            </a:r>
            <a:endParaRPr lang="en-US" sz="770" dirty="0"/>
          </a:p>
        </p:txBody>
      </p:sp>
      <p:sp>
        <p:nvSpPr>
          <p:cNvPr id="165" name="Shape 163"/>
          <p:cNvSpPr/>
          <p:nvPr/>
        </p:nvSpPr>
        <p:spPr>
          <a:xfrm>
            <a:off x="457200" y="5874106"/>
            <a:ext cx="11274552" cy="14630"/>
          </a:xfrm>
          <a:prstGeom prst="rect">
            <a:avLst/>
          </a:prstGeom>
          <a:solidFill>
            <a:srgbClr val="DCE3EE"/>
          </a:solidFill>
          <a:ln/>
        </p:spPr>
      </p:sp>
      <p:sp>
        <p:nvSpPr>
          <p:cNvPr id="166" name="Text 164"/>
          <p:cNvSpPr/>
          <p:nvPr/>
        </p:nvSpPr>
        <p:spPr>
          <a:xfrm>
            <a:off x="658368" y="5881421"/>
            <a:ext cx="1508760" cy="164592"/>
          </a:xfrm>
          <a:prstGeom prst="rect">
            <a:avLst/>
          </a:prstGeom>
          <a:noFill/>
          <a:ln/>
        </p:spPr>
        <p:txBody>
          <a:bodyPr wrap="square" lIns="0" tIns="0" rIns="0" bIns="0" rtlCol="0" anchor="ctr"/>
          <a:lstStyle/>
          <a:p>
            <a:pPr indent="0" marL="0">
              <a:buNone/>
            </a:pPr>
            <a:r>
              <a:rPr lang="en-US" sz="790" b="1" dirty="0">
                <a:solidFill>
                  <a:srgbClr val="0D7D71"/>
                </a:solidFill>
                <a:latin typeface="Calibri" pitchFamily="34" charset="0"/>
                <a:ea typeface="Calibri" pitchFamily="34" charset="-122"/>
                <a:cs typeface="Calibri" pitchFamily="34" charset="-120"/>
              </a:rPr>
              <a:t>Paint &amp; BIW</a:t>
            </a:r>
            <a:endParaRPr lang="en-US" sz="790" dirty="0"/>
          </a:p>
        </p:txBody>
      </p:sp>
      <p:sp>
        <p:nvSpPr>
          <p:cNvPr id="167" name="Text 165"/>
          <p:cNvSpPr/>
          <p:nvPr/>
        </p:nvSpPr>
        <p:spPr>
          <a:xfrm>
            <a:off x="2212848" y="5881421"/>
            <a:ext cx="2743200" cy="164592"/>
          </a:xfrm>
          <a:prstGeom prst="rect">
            <a:avLst/>
          </a:prstGeom>
          <a:noFill/>
          <a:ln/>
        </p:spPr>
        <p:txBody>
          <a:bodyPr wrap="square" lIns="0" tIns="0" rIns="0" bIns="0" rtlCol="0" anchor="ctr"/>
          <a:lstStyle/>
          <a:p>
            <a:pPr indent="0" marL="0">
              <a:buNone/>
            </a:pPr>
            <a:r>
              <a:rPr lang="en-US" sz="790" b="1" dirty="0">
                <a:solidFill>
                  <a:srgbClr val="16325C"/>
                </a:solidFill>
                <a:latin typeface="Calibri" pitchFamily="34" charset="0"/>
                <a:ea typeface="Calibri" pitchFamily="34" charset="-122"/>
                <a:cs typeface="Calibri" pitchFamily="34" charset="-120"/>
              </a:rPr>
              <a:t>High facility overhead</a:t>
            </a:r>
            <a:endParaRPr lang="en-US" sz="790" dirty="0"/>
          </a:p>
        </p:txBody>
      </p:sp>
      <p:sp>
        <p:nvSpPr>
          <p:cNvPr id="168" name="Text 166"/>
          <p:cNvSpPr/>
          <p:nvPr/>
        </p:nvSpPr>
        <p:spPr>
          <a:xfrm>
            <a:off x="5029200" y="5881421"/>
            <a:ext cx="4937760" cy="164592"/>
          </a:xfrm>
          <a:prstGeom prst="rect">
            <a:avLst/>
          </a:prstGeom>
          <a:noFill/>
          <a:ln/>
        </p:spPr>
        <p:txBody>
          <a:bodyPr wrap="square" lIns="0" tIns="0" rIns="0" bIns="0" rtlCol="0" anchor="ctr"/>
          <a:lstStyle/>
          <a:p>
            <a:pPr indent="0" marL="0">
              <a:buNone/>
            </a:pPr>
            <a:r>
              <a:rPr lang="en-US" sz="770" dirty="0">
                <a:solidFill>
                  <a:srgbClr val="3A4356"/>
                </a:solidFill>
                <a:latin typeface="Calibri" pitchFamily="34" charset="0"/>
                <a:ea typeface="Calibri" pitchFamily="34" charset="-122"/>
                <a:cs typeface="Calibri" pitchFamily="34" charset="-120"/>
              </a:rPr>
              <a:t>Overhead over 20% — paint-shop or BIW burden rate elevated</a:t>
            </a:r>
            <a:endParaRPr lang="en-US" sz="770" dirty="0"/>
          </a:p>
        </p:txBody>
      </p:sp>
      <p:sp>
        <p:nvSpPr>
          <p:cNvPr id="169" name="Text 167"/>
          <p:cNvSpPr/>
          <p:nvPr/>
        </p:nvSpPr>
        <p:spPr>
          <a:xfrm>
            <a:off x="10058400" y="5881421"/>
            <a:ext cx="1188720" cy="164592"/>
          </a:xfrm>
          <a:prstGeom prst="rect">
            <a:avLst/>
          </a:prstGeom>
          <a:noFill/>
          <a:ln/>
        </p:spPr>
        <p:txBody>
          <a:bodyPr wrap="square" lIns="0" tIns="0" rIns="0" bIns="0" rtlCol="0" anchor="ctr"/>
          <a:lstStyle/>
          <a:p>
            <a:pPr indent="0" marL="0">
              <a:buNone/>
            </a:pPr>
            <a:r>
              <a:rPr lang="en-US" sz="770" b="1" dirty="0">
                <a:solidFill>
                  <a:srgbClr val="99651A"/>
                </a:solidFill>
                <a:latin typeface="Calibri" pitchFamily="34" charset="0"/>
                <a:ea typeface="Calibri" pitchFamily="34" charset="-122"/>
                <a:cs typeface="Calibri" pitchFamily="34" charset="-120"/>
              </a:rPr>
              <a:t>Major</a:t>
            </a:r>
            <a:endParaRPr lang="en-US" sz="770" dirty="0"/>
          </a:p>
        </p:txBody>
      </p:sp>
      <p:sp>
        <p:nvSpPr>
          <p:cNvPr id="170" name="Text 168"/>
          <p:cNvSpPr/>
          <p:nvPr/>
        </p:nvSpPr>
        <p:spPr>
          <a:xfrm>
            <a:off x="11292840" y="5881421"/>
            <a:ext cx="320040" cy="164592"/>
          </a:xfrm>
          <a:prstGeom prst="rect">
            <a:avLst/>
          </a:prstGeom>
          <a:noFill/>
          <a:ln/>
        </p:spPr>
        <p:txBody>
          <a:bodyPr wrap="square" lIns="0" tIns="0" rIns="0" bIns="0" rtlCol="0" anchor="ctr"/>
          <a:lstStyle/>
          <a:p>
            <a:pPr algn="r" indent="0" marL="0">
              <a:buNone/>
            </a:pPr>
            <a:r>
              <a:rPr lang="en-US" sz="770" b="1" dirty="0">
                <a:solidFill>
                  <a:srgbClr val="0D7D71"/>
                </a:solidFill>
                <a:latin typeface="Calibri" pitchFamily="34" charset="0"/>
                <a:ea typeface="Calibri" pitchFamily="34" charset="-122"/>
                <a:cs typeface="Calibri" pitchFamily="34" charset="-120"/>
              </a:rPr>
              <a:t>6%</a:t>
            </a:r>
            <a:endParaRPr lang="en-US" sz="770" dirty="0"/>
          </a:p>
        </p:txBody>
      </p:sp>
      <p:sp>
        <p:nvSpPr>
          <p:cNvPr id="171" name="Text 169"/>
          <p:cNvSpPr/>
          <p:nvPr/>
        </p:nvSpPr>
        <p:spPr>
          <a:xfrm>
            <a:off x="457200" y="6108192"/>
            <a:ext cx="11274552" cy="347472"/>
          </a:xfrm>
          <a:prstGeom prst="rect">
            <a:avLst/>
          </a:prstGeom>
          <a:noFill/>
          <a:ln/>
        </p:spPr>
        <p:txBody>
          <a:bodyPr wrap="square" lIns="0" tIns="0" rIns="0" bIns="0" rtlCol="0" anchor="ctr"/>
          <a:lstStyle/>
          <a:p>
            <a:pPr indent="0" marL="0">
              <a:buNone/>
            </a:pPr>
            <a:r>
              <a:rPr lang="en-US" sz="820" i="1" dirty="0">
                <a:solidFill>
                  <a:srgbClr val="686F7D"/>
                </a:solidFill>
                <a:latin typeface="Calibri" pitchFamily="34" charset="0"/>
                <a:ea typeface="Calibri" pitchFamily="34" charset="-122"/>
                <a:cs typeface="Calibri" pitchFamily="34" charset="-120"/>
              </a:rPr>
              <a:t>"Moulding family" covers injection, blow moulding and thermoforming; "±cast/±machine" means the rule also runs for cast-and-machine parts. Extrusion, rotomoulding and the painting material rule are new with the 360° upgrade.</a:t>
            </a:r>
            <a:endParaRPr lang="en-US" sz="820" dirty="0"/>
          </a:p>
        </p:txBody>
      </p:sp>
      <p:sp>
        <p:nvSpPr>
          <p:cNvPr id="172" name="Text 170"/>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173" name="Text 171"/>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51</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Rule Library 3 of 3 — The 11 Assembly Checks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DFA — setups, manual content, pacing, and what the operation list itself reveals</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Text 5"/>
          <p:cNvSpPr/>
          <p:nvPr/>
        </p:nvSpPr>
        <p:spPr>
          <a:xfrm>
            <a:off x="658368" y="1152144"/>
            <a:ext cx="301752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RULE</a:t>
            </a:r>
            <a:endParaRPr lang="en-US" sz="800" dirty="0"/>
          </a:p>
        </p:txBody>
      </p:sp>
      <p:sp>
        <p:nvSpPr>
          <p:cNvPr id="8" name="Text 6"/>
          <p:cNvSpPr/>
          <p:nvPr/>
        </p:nvSpPr>
        <p:spPr>
          <a:xfrm>
            <a:off x="3749040" y="1152144"/>
            <a:ext cx="512064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FIRES WHEN</a:t>
            </a:r>
            <a:endParaRPr lang="en-US" sz="800" dirty="0"/>
          </a:p>
        </p:txBody>
      </p:sp>
      <p:sp>
        <p:nvSpPr>
          <p:cNvPr id="9" name="Text 7"/>
          <p:cNvSpPr/>
          <p:nvPr/>
        </p:nvSpPr>
        <p:spPr>
          <a:xfrm>
            <a:off x="9006840" y="1152144"/>
            <a:ext cx="182880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SEVERITY</a:t>
            </a:r>
            <a:endParaRPr lang="en-US" sz="800" dirty="0"/>
          </a:p>
        </p:txBody>
      </p:sp>
      <p:sp>
        <p:nvSpPr>
          <p:cNvPr id="10" name="Text 8"/>
          <p:cNvSpPr/>
          <p:nvPr/>
        </p:nvSpPr>
        <p:spPr>
          <a:xfrm>
            <a:off x="10972800" y="1152144"/>
            <a:ext cx="594360" cy="182880"/>
          </a:xfrm>
          <a:prstGeom prst="rect">
            <a:avLst/>
          </a:prstGeom>
          <a:noFill/>
          <a:ln/>
        </p:spPr>
        <p:txBody>
          <a:bodyPr wrap="square" lIns="0" tIns="0" rIns="0" bIns="0" rtlCol="0" anchor="ctr"/>
          <a:lstStyle/>
          <a:p>
            <a:pPr algn="r" indent="0" marL="0">
              <a:buNone/>
            </a:pPr>
            <a:r>
              <a:rPr lang="en-US" sz="800" b="1" spc="50" kern="0" dirty="0">
                <a:solidFill>
                  <a:srgbClr val="686F7D"/>
                </a:solidFill>
                <a:latin typeface="Calibri" pitchFamily="34" charset="0"/>
                <a:ea typeface="Calibri" pitchFamily="34" charset="-122"/>
                <a:cs typeface="Calibri" pitchFamily="34" charset="-120"/>
              </a:rPr>
              <a:t>SAVE</a:t>
            </a:r>
            <a:endParaRPr lang="en-US" sz="800" dirty="0"/>
          </a:p>
        </p:txBody>
      </p:sp>
      <p:sp>
        <p:nvSpPr>
          <p:cNvPr id="11" name="Shape 9"/>
          <p:cNvSpPr/>
          <p:nvPr/>
        </p:nvSpPr>
        <p:spPr>
          <a:xfrm>
            <a:off x="457200" y="1376172"/>
            <a:ext cx="11274552" cy="297180"/>
          </a:xfrm>
          <a:prstGeom prst="rect">
            <a:avLst/>
          </a:prstGeom>
          <a:solidFill>
            <a:srgbClr val="FFFFFF"/>
          </a:solidFill>
          <a:ln/>
        </p:spPr>
      </p:sp>
      <p:sp>
        <p:nvSpPr>
          <p:cNvPr id="12" name="Text 10"/>
          <p:cNvSpPr/>
          <p:nvPr/>
        </p:nvSpPr>
        <p:spPr>
          <a:xfrm>
            <a:off x="658368" y="138988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Split routing — setups/transfers</a:t>
            </a:r>
            <a:endParaRPr lang="en-US" sz="920" dirty="0"/>
          </a:p>
        </p:txBody>
      </p:sp>
      <p:sp>
        <p:nvSpPr>
          <p:cNvPr id="13" name="Text 11"/>
          <p:cNvSpPr/>
          <p:nvPr/>
        </p:nvSpPr>
        <p:spPr>
          <a:xfrm>
            <a:off x="3749040" y="138988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Over 4 real operations across over 2 stations — each transfer adds handling and variation</a:t>
            </a:r>
            <a:endParaRPr lang="en-US" sz="900" dirty="0"/>
          </a:p>
        </p:txBody>
      </p:sp>
      <p:sp>
        <p:nvSpPr>
          <p:cNvPr id="14" name="Text 12"/>
          <p:cNvSpPr/>
          <p:nvPr/>
        </p:nvSpPr>
        <p:spPr>
          <a:xfrm>
            <a:off x="9006840" y="1389888"/>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15" name="Text 13"/>
          <p:cNvSpPr/>
          <p:nvPr/>
        </p:nvSpPr>
        <p:spPr>
          <a:xfrm>
            <a:off x="10972800" y="138988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8%</a:t>
            </a:r>
            <a:endParaRPr lang="en-US" sz="920" dirty="0"/>
          </a:p>
        </p:txBody>
      </p:sp>
      <p:sp>
        <p:nvSpPr>
          <p:cNvPr id="16" name="Text 14"/>
          <p:cNvSpPr/>
          <p:nvPr/>
        </p:nvSpPr>
        <p:spPr>
          <a:xfrm>
            <a:off x="658368" y="1696212"/>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Routing already consolidated</a:t>
            </a:r>
            <a:endParaRPr lang="en-US" sz="920" dirty="0"/>
          </a:p>
        </p:txBody>
      </p:sp>
      <p:sp>
        <p:nvSpPr>
          <p:cNvPr id="17" name="Text 15"/>
          <p:cNvSpPr/>
          <p:nvPr/>
        </p:nvSpPr>
        <p:spPr>
          <a:xfrm>
            <a:off x="3749040" y="1696212"/>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Same trigger, but the routing IS consolidated — a verified note, no saving claimed</a:t>
            </a:r>
            <a:endParaRPr lang="en-US" sz="900" dirty="0"/>
          </a:p>
        </p:txBody>
      </p:sp>
      <p:sp>
        <p:nvSpPr>
          <p:cNvPr id="18" name="Text 16"/>
          <p:cNvSpPr/>
          <p:nvPr/>
        </p:nvSpPr>
        <p:spPr>
          <a:xfrm>
            <a:off x="9006840" y="1696212"/>
            <a:ext cx="1828800" cy="274320"/>
          </a:xfrm>
          <a:prstGeom prst="rect">
            <a:avLst/>
          </a:prstGeom>
          <a:noFill/>
          <a:ln/>
        </p:spPr>
        <p:txBody>
          <a:bodyPr wrap="square" lIns="0" tIns="0" rIns="0" bIns="0" rtlCol="0" anchor="ctr"/>
          <a:lstStyle/>
          <a:p>
            <a:pPr indent="0" marL="0">
              <a:buNone/>
            </a:pPr>
            <a:r>
              <a:rPr lang="en-US" sz="900" b="1" dirty="0">
                <a:solidFill>
                  <a:srgbClr val="2A7F50"/>
                </a:solidFill>
                <a:latin typeface="Calibri" pitchFamily="34" charset="0"/>
                <a:ea typeface="Calibri" pitchFamily="34" charset="-122"/>
                <a:cs typeface="Calibri" pitchFamily="34" charset="-120"/>
              </a:rPr>
              <a:t>Verified</a:t>
            </a:r>
            <a:endParaRPr lang="en-US" sz="900" dirty="0"/>
          </a:p>
        </p:txBody>
      </p:sp>
      <p:sp>
        <p:nvSpPr>
          <p:cNvPr id="19" name="Text 17"/>
          <p:cNvSpPr/>
          <p:nvPr/>
        </p:nvSpPr>
        <p:spPr>
          <a:xfrm>
            <a:off x="10972800" y="1696212"/>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a:t>
            </a:r>
            <a:endParaRPr lang="en-US" sz="920" dirty="0"/>
          </a:p>
        </p:txBody>
      </p:sp>
      <p:sp>
        <p:nvSpPr>
          <p:cNvPr id="20" name="Shape 18"/>
          <p:cNvSpPr/>
          <p:nvPr/>
        </p:nvSpPr>
        <p:spPr>
          <a:xfrm>
            <a:off x="457200" y="1988820"/>
            <a:ext cx="11274552" cy="297180"/>
          </a:xfrm>
          <a:prstGeom prst="rect">
            <a:avLst/>
          </a:prstGeom>
          <a:solidFill>
            <a:srgbClr val="FFFFFF"/>
          </a:solidFill>
          <a:ln/>
        </p:spPr>
      </p:sp>
      <p:sp>
        <p:nvSpPr>
          <p:cNvPr id="21" name="Text 19"/>
          <p:cNvSpPr/>
          <p:nvPr/>
        </p:nvSpPr>
        <p:spPr>
          <a:xfrm>
            <a:off x="658368" y="2002536"/>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High manual content</a:t>
            </a:r>
            <a:endParaRPr lang="en-US" sz="920" dirty="0"/>
          </a:p>
        </p:txBody>
      </p:sp>
      <p:sp>
        <p:nvSpPr>
          <p:cNvPr id="22" name="Text 20"/>
          <p:cNvSpPr/>
          <p:nvPr/>
        </p:nvSpPr>
        <p:spPr>
          <a:xfrm>
            <a:off x="3749040" y="2002536"/>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More than 3 operations and labour above 30% of cost — automation study warranted</a:t>
            </a:r>
            <a:endParaRPr lang="en-US" sz="900" dirty="0"/>
          </a:p>
        </p:txBody>
      </p:sp>
      <p:sp>
        <p:nvSpPr>
          <p:cNvPr id="23" name="Text 21"/>
          <p:cNvSpPr/>
          <p:nvPr/>
        </p:nvSpPr>
        <p:spPr>
          <a:xfrm>
            <a:off x="9006840" y="2002536"/>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24" name="Text 22"/>
          <p:cNvSpPr/>
          <p:nvPr/>
        </p:nvSpPr>
        <p:spPr>
          <a:xfrm>
            <a:off x="10972800" y="2002536"/>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12%</a:t>
            </a:r>
            <a:endParaRPr lang="en-US" sz="920" dirty="0"/>
          </a:p>
        </p:txBody>
      </p:sp>
      <p:sp>
        <p:nvSpPr>
          <p:cNvPr id="25" name="Text 23"/>
          <p:cNvSpPr/>
          <p:nvPr/>
        </p:nvSpPr>
        <p:spPr>
          <a:xfrm>
            <a:off x="658368" y="2308860"/>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Manual pacing</a:t>
            </a:r>
            <a:endParaRPr lang="en-US" sz="920" dirty="0"/>
          </a:p>
        </p:txBody>
      </p:sp>
      <p:sp>
        <p:nvSpPr>
          <p:cNvPr id="26" name="Text 24"/>
          <p:cNvSpPr/>
          <p:nvPr/>
        </p:nvSpPr>
        <p:spPr>
          <a:xfrm>
            <a:off x="3749040" y="2308860"/>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OEE under 75% — points to hand-paced work, micro-stops or slow changeovers</a:t>
            </a:r>
            <a:endParaRPr lang="en-US" sz="900" dirty="0"/>
          </a:p>
        </p:txBody>
      </p:sp>
      <p:sp>
        <p:nvSpPr>
          <p:cNvPr id="27" name="Text 25"/>
          <p:cNvSpPr/>
          <p:nvPr/>
        </p:nvSpPr>
        <p:spPr>
          <a:xfrm>
            <a:off x="9006840" y="2308860"/>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28" name="Text 26"/>
          <p:cNvSpPr/>
          <p:nvPr/>
        </p:nvSpPr>
        <p:spPr>
          <a:xfrm>
            <a:off x="10972800" y="2308860"/>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8%</a:t>
            </a:r>
            <a:endParaRPr lang="en-US" sz="920" dirty="0"/>
          </a:p>
        </p:txBody>
      </p:sp>
      <p:sp>
        <p:nvSpPr>
          <p:cNvPr id="29" name="Shape 27"/>
          <p:cNvSpPr/>
          <p:nvPr/>
        </p:nvSpPr>
        <p:spPr>
          <a:xfrm>
            <a:off x="457200" y="2601468"/>
            <a:ext cx="11274552" cy="297180"/>
          </a:xfrm>
          <a:prstGeom prst="rect">
            <a:avLst/>
          </a:prstGeom>
          <a:solidFill>
            <a:srgbClr val="FFFFFF"/>
          </a:solidFill>
          <a:ln/>
        </p:spPr>
      </p:sp>
      <p:sp>
        <p:nvSpPr>
          <p:cNvPr id="30" name="Text 28"/>
          <p:cNvSpPr/>
          <p:nvPr/>
        </p:nvSpPr>
        <p:spPr>
          <a:xfrm>
            <a:off x="658368" y="2615184"/>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Labour-dominated assembly</a:t>
            </a:r>
            <a:endParaRPr lang="en-US" sz="920" dirty="0"/>
          </a:p>
        </p:txBody>
      </p:sp>
      <p:sp>
        <p:nvSpPr>
          <p:cNvPr id="31" name="Text 29"/>
          <p:cNvSpPr/>
          <p:nvPr/>
        </p:nvSpPr>
        <p:spPr>
          <a:xfrm>
            <a:off x="3749040" y="2615184"/>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Harness or PCB assembly with labour above 45% of cost — fixture or automate first</a:t>
            </a:r>
            <a:endParaRPr lang="en-US" sz="900" dirty="0"/>
          </a:p>
        </p:txBody>
      </p:sp>
      <p:sp>
        <p:nvSpPr>
          <p:cNvPr id="32" name="Text 30"/>
          <p:cNvSpPr/>
          <p:nvPr/>
        </p:nvSpPr>
        <p:spPr>
          <a:xfrm>
            <a:off x="9006840" y="2615184"/>
            <a:ext cx="1828800" cy="274320"/>
          </a:xfrm>
          <a:prstGeom prst="rect">
            <a:avLst/>
          </a:prstGeom>
          <a:noFill/>
          <a:ln/>
        </p:spPr>
        <p:txBody>
          <a:bodyPr wrap="square" lIns="0" tIns="0" rIns="0" bIns="0" rtlCol="0" anchor="ctr"/>
          <a:lstStyle/>
          <a:p>
            <a:pPr indent="0" marL="0">
              <a:buNone/>
            </a:pPr>
            <a:r>
              <a:rPr lang="en-US" sz="900" b="1" dirty="0">
                <a:solidFill>
                  <a:srgbClr val="B03A2E"/>
                </a:solidFill>
                <a:latin typeface="Calibri" pitchFamily="34" charset="0"/>
                <a:ea typeface="Calibri" pitchFamily="34" charset="-122"/>
                <a:cs typeface="Calibri" pitchFamily="34" charset="-120"/>
              </a:rPr>
              <a:t>Critical</a:t>
            </a:r>
            <a:endParaRPr lang="en-US" sz="900" dirty="0"/>
          </a:p>
        </p:txBody>
      </p:sp>
      <p:sp>
        <p:nvSpPr>
          <p:cNvPr id="33" name="Text 31"/>
          <p:cNvSpPr/>
          <p:nvPr/>
        </p:nvSpPr>
        <p:spPr>
          <a:xfrm>
            <a:off x="10972800" y="2615184"/>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18%</a:t>
            </a:r>
            <a:endParaRPr lang="en-US" sz="920" dirty="0"/>
          </a:p>
        </p:txBody>
      </p:sp>
      <p:sp>
        <p:nvSpPr>
          <p:cNvPr id="34" name="Text 32"/>
          <p:cNvSpPr/>
          <p:nvPr/>
        </p:nvSpPr>
        <p:spPr>
          <a:xfrm>
            <a:off x="658368" y="292150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Repeated re-fixturing</a:t>
            </a:r>
            <a:endParaRPr lang="en-US" sz="920" dirty="0"/>
          </a:p>
        </p:txBody>
      </p:sp>
      <p:sp>
        <p:nvSpPr>
          <p:cNvPr id="35" name="Text 33"/>
          <p:cNvSpPr/>
          <p:nvPr/>
        </p:nvSpPr>
        <p:spPr>
          <a:xfrm>
            <a:off x="3749040" y="292150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Machined or forged part across more than 2 stations — pallet systems cut handling</a:t>
            </a:r>
            <a:endParaRPr lang="en-US" sz="900" dirty="0"/>
          </a:p>
        </p:txBody>
      </p:sp>
      <p:sp>
        <p:nvSpPr>
          <p:cNvPr id="36" name="Text 34"/>
          <p:cNvSpPr/>
          <p:nvPr/>
        </p:nvSpPr>
        <p:spPr>
          <a:xfrm>
            <a:off x="9006840" y="2921508"/>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37" name="Text 35"/>
          <p:cNvSpPr/>
          <p:nvPr/>
        </p:nvSpPr>
        <p:spPr>
          <a:xfrm>
            <a:off x="10972800" y="292150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5%</a:t>
            </a:r>
            <a:endParaRPr lang="en-US" sz="920" dirty="0"/>
          </a:p>
        </p:txBody>
      </p:sp>
      <p:sp>
        <p:nvSpPr>
          <p:cNvPr id="38" name="Shape 36"/>
          <p:cNvSpPr/>
          <p:nvPr/>
        </p:nvSpPr>
        <p:spPr>
          <a:xfrm>
            <a:off x="457200" y="3214116"/>
            <a:ext cx="11274552" cy="297180"/>
          </a:xfrm>
          <a:prstGeom prst="rect">
            <a:avLst/>
          </a:prstGeom>
          <a:solidFill>
            <a:srgbClr val="FFFFFF"/>
          </a:solidFill>
          <a:ln/>
        </p:spPr>
      </p:sp>
      <p:sp>
        <p:nvSpPr>
          <p:cNvPr id="39" name="Text 37"/>
          <p:cNvSpPr/>
          <p:nvPr/>
        </p:nvSpPr>
        <p:spPr>
          <a:xfrm>
            <a:off x="658368" y="3227832"/>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Fastener standardisation</a:t>
            </a:r>
            <a:endParaRPr lang="en-US" sz="920" dirty="0"/>
          </a:p>
        </p:txBody>
      </p:sp>
      <p:sp>
        <p:nvSpPr>
          <p:cNvPr id="40" name="Text 38"/>
          <p:cNvSpPr/>
          <p:nvPr/>
        </p:nvSpPr>
        <p:spPr>
          <a:xfrm>
            <a:off x="3749040" y="3227832"/>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More than 4 operations with labour above 20% — check fastener variety</a:t>
            </a:r>
            <a:endParaRPr lang="en-US" sz="900" dirty="0"/>
          </a:p>
        </p:txBody>
      </p:sp>
      <p:sp>
        <p:nvSpPr>
          <p:cNvPr id="41" name="Text 39"/>
          <p:cNvSpPr/>
          <p:nvPr/>
        </p:nvSpPr>
        <p:spPr>
          <a:xfrm>
            <a:off x="9006840" y="3227832"/>
            <a:ext cx="1828800" cy="274320"/>
          </a:xfrm>
          <a:prstGeom prst="rect">
            <a:avLst/>
          </a:prstGeom>
          <a:noFill/>
          <a:ln/>
        </p:spPr>
        <p:txBody>
          <a:bodyPr wrap="square" lIns="0" tIns="0" rIns="0" bIns="0" rtlCol="0" anchor="ctr"/>
          <a:lstStyle/>
          <a:p>
            <a:pPr indent="0" marL="0">
              <a:buNone/>
            </a:pPr>
            <a:r>
              <a:rPr lang="en-US" sz="900" b="1" dirty="0">
                <a:solidFill>
                  <a:srgbClr val="2A7F50"/>
                </a:solidFill>
                <a:latin typeface="Calibri" pitchFamily="34" charset="0"/>
                <a:ea typeface="Calibri" pitchFamily="34" charset="-122"/>
                <a:cs typeface="Calibri" pitchFamily="34" charset="-120"/>
              </a:rPr>
              <a:t>Opportunity</a:t>
            </a:r>
            <a:endParaRPr lang="en-US" sz="900" dirty="0"/>
          </a:p>
        </p:txBody>
      </p:sp>
      <p:sp>
        <p:nvSpPr>
          <p:cNvPr id="42" name="Text 40"/>
          <p:cNvSpPr/>
          <p:nvPr/>
        </p:nvSpPr>
        <p:spPr>
          <a:xfrm>
            <a:off x="10972800" y="3227832"/>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4%</a:t>
            </a:r>
            <a:endParaRPr lang="en-US" sz="920" dirty="0"/>
          </a:p>
        </p:txBody>
      </p:sp>
      <p:sp>
        <p:nvSpPr>
          <p:cNvPr id="43" name="Text 41"/>
          <p:cNvSpPr/>
          <p:nvPr/>
        </p:nvSpPr>
        <p:spPr>
          <a:xfrm>
            <a:off x="658368" y="3534156"/>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Inspection as a separate step</a:t>
            </a:r>
            <a:endParaRPr lang="en-US" sz="920" dirty="0"/>
          </a:p>
        </p:txBody>
      </p:sp>
      <p:sp>
        <p:nvSpPr>
          <p:cNvPr id="44" name="Text 42"/>
          <p:cNvSpPr/>
          <p:nvPr/>
        </p:nvSpPr>
        <p:spPr>
          <a:xfrm>
            <a:off x="3749040" y="3534156"/>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Standalone inspection/test ops carrying over 5% of part cost — go in-line</a:t>
            </a:r>
            <a:endParaRPr lang="en-US" sz="900" dirty="0"/>
          </a:p>
        </p:txBody>
      </p:sp>
      <p:sp>
        <p:nvSpPr>
          <p:cNvPr id="45" name="Text 43"/>
          <p:cNvSpPr/>
          <p:nvPr/>
        </p:nvSpPr>
        <p:spPr>
          <a:xfrm>
            <a:off x="9006840" y="3534156"/>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46" name="Text 44"/>
          <p:cNvSpPr/>
          <p:nvPr/>
        </p:nvSpPr>
        <p:spPr>
          <a:xfrm>
            <a:off x="10972800" y="3534156"/>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3%</a:t>
            </a:r>
            <a:endParaRPr lang="en-US" sz="920" dirty="0"/>
          </a:p>
        </p:txBody>
      </p:sp>
      <p:sp>
        <p:nvSpPr>
          <p:cNvPr id="47" name="Shape 45"/>
          <p:cNvSpPr/>
          <p:nvPr/>
        </p:nvSpPr>
        <p:spPr>
          <a:xfrm>
            <a:off x="457200" y="3826764"/>
            <a:ext cx="11274552" cy="297180"/>
          </a:xfrm>
          <a:prstGeom prst="rect">
            <a:avLst/>
          </a:prstGeom>
          <a:solidFill>
            <a:srgbClr val="FFFFFF"/>
          </a:solidFill>
          <a:ln/>
        </p:spPr>
      </p:sp>
      <p:sp>
        <p:nvSpPr>
          <p:cNvPr id="48" name="Text 46"/>
          <p:cNvSpPr/>
          <p:nvPr/>
        </p:nvSpPr>
        <p:spPr>
          <a:xfrm>
            <a:off x="658368" y="3840480"/>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Manual finishing after process</a:t>
            </a:r>
            <a:endParaRPr lang="en-US" sz="920" dirty="0"/>
          </a:p>
        </p:txBody>
      </p:sp>
      <p:sp>
        <p:nvSpPr>
          <p:cNvPr id="49" name="Text 47"/>
          <p:cNvSpPr/>
          <p:nvPr/>
        </p:nvSpPr>
        <p:spPr>
          <a:xfrm>
            <a:off x="3749040" y="3840480"/>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Deburr/fettle/rework appears as its own operation — fix the cause upstream</a:t>
            </a:r>
            <a:endParaRPr lang="en-US" sz="900" dirty="0"/>
          </a:p>
        </p:txBody>
      </p:sp>
      <p:sp>
        <p:nvSpPr>
          <p:cNvPr id="50" name="Text 48"/>
          <p:cNvSpPr/>
          <p:nvPr/>
        </p:nvSpPr>
        <p:spPr>
          <a:xfrm>
            <a:off x="9006840" y="3840480"/>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51" name="Text 49"/>
          <p:cNvSpPr/>
          <p:nvPr/>
        </p:nvSpPr>
        <p:spPr>
          <a:xfrm>
            <a:off x="10972800" y="3840480"/>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3%</a:t>
            </a:r>
            <a:endParaRPr lang="en-US" sz="920" dirty="0"/>
          </a:p>
        </p:txBody>
      </p:sp>
      <p:sp>
        <p:nvSpPr>
          <p:cNvPr id="52" name="Text 50"/>
          <p:cNvSpPr/>
          <p:nvPr/>
        </p:nvSpPr>
        <p:spPr>
          <a:xfrm>
            <a:off x="658368" y="4146804"/>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High manning</a:t>
            </a:r>
            <a:endParaRPr lang="en-US" sz="920" dirty="0"/>
          </a:p>
        </p:txBody>
      </p:sp>
      <p:sp>
        <p:nvSpPr>
          <p:cNvPr id="53" name="Text 51"/>
          <p:cNvSpPr/>
          <p:nvPr/>
        </p:nvSpPr>
        <p:spPr>
          <a:xfrm>
            <a:off x="3749040" y="4146804"/>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Two or more operators on a single operation — the first automation candidate</a:t>
            </a:r>
            <a:endParaRPr lang="en-US" sz="900" dirty="0"/>
          </a:p>
        </p:txBody>
      </p:sp>
      <p:sp>
        <p:nvSpPr>
          <p:cNvPr id="54" name="Text 52"/>
          <p:cNvSpPr/>
          <p:nvPr/>
        </p:nvSpPr>
        <p:spPr>
          <a:xfrm>
            <a:off x="9006840" y="4146804"/>
            <a:ext cx="1828800" cy="274320"/>
          </a:xfrm>
          <a:prstGeom prst="rect">
            <a:avLst/>
          </a:prstGeom>
          <a:noFill/>
          <a:ln/>
        </p:spPr>
        <p:txBody>
          <a:bodyPr wrap="square" lIns="0" tIns="0" rIns="0" bIns="0" rtlCol="0" anchor="ctr"/>
          <a:lstStyle/>
          <a:p>
            <a:pPr indent="0" marL="0">
              <a:buNone/>
            </a:pPr>
            <a:r>
              <a:rPr lang="en-US" sz="900" b="1" dirty="0">
                <a:solidFill>
                  <a:srgbClr val="99651A"/>
                </a:solidFill>
                <a:latin typeface="Calibri" pitchFamily="34" charset="0"/>
                <a:ea typeface="Calibri" pitchFamily="34" charset="-122"/>
                <a:cs typeface="Calibri" pitchFamily="34" charset="-120"/>
              </a:rPr>
              <a:t>Major</a:t>
            </a:r>
            <a:endParaRPr lang="en-US" sz="900" dirty="0"/>
          </a:p>
        </p:txBody>
      </p:sp>
      <p:sp>
        <p:nvSpPr>
          <p:cNvPr id="55" name="Text 53"/>
          <p:cNvSpPr/>
          <p:nvPr/>
        </p:nvSpPr>
        <p:spPr>
          <a:xfrm>
            <a:off x="10972800" y="4146804"/>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6%</a:t>
            </a:r>
            <a:endParaRPr lang="en-US" sz="920" dirty="0"/>
          </a:p>
        </p:txBody>
      </p:sp>
      <p:sp>
        <p:nvSpPr>
          <p:cNvPr id="56" name="Shape 54"/>
          <p:cNvSpPr/>
          <p:nvPr/>
        </p:nvSpPr>
        <p:spPr>
          <a:xfrm>
            <a:off x="457200" y="4439412"/>
            <a:ext cx="11274552" cy="297180"/>
          </a:xfrm>
          <a:prstGeom prst="rect">
            <a:avLst/>
          </a:prstGeom>
          <a:solidFill>
            <a:srgbClr val="FFFFFF"/>
          </a:solidFill>
          <a:ln/>
        </p:spPr>
      </p:sp>
      <p:sp>
        <p:nvSpPr>
          <p:cNvPr id="57" name="Text 55"/>
          <p:cNvSpPr/>
          <p:nvPr/>
        </p:nvSpPr>
        <p:spPr>
          <a:xfrm>
            <a:off x="658368" y="4453128"/>
            <a:ext cx="3017520" cy="274320"/>
          </a:xfrm>
          <a:prstGeom prst="rect">
            <a:avLst/>
          </a:prstGeom>
          <a:noFill/>
          <a:ln/>
        </p:spPr>
        <p:txBody>
          <a:bodyPr wrap="square" lIns="0" tIns="0" rIns="0" bIns="0" rtlCol="0" anchor="ctr"/>
          <a:lstStyle/>
          <a:p>
            <a:pPr indent="0" marL="0">
              <a:buNone/>
            </a:pPr>
            <a:r>
              <a:rPr lang="en-US" sz="920" b="1" dirty="0">
                <a:solidFill>
                  <a:srgbClr val="16325C"/>
                </a:solidFill>
                <a:latin typeface="Calibri" pitchFamily="34" charset="0"/>
                <a:ea typeface="Calibri" pitchFamily="34" charset="-122"/>
                <a:cs typeface="Calibri" pitchFamily="34" charset="-120"/>
              </a:rPr>
              <a:t>Labour beyond the machine cycle</a:t>
            </a:r>
            <a:endParaRPr lang="en-US" sz="920" dirty="0"/>
          </a:p>
        </p:txBody>
      </p:sp>
      <p:sp>
        <p:nvSpPr>
          <p:cNvPr id="58" name="Text 56"/>
          <p:cNvSpPr/>
          <p:nvPr/>
        </p:nvSpPr>
        <p:spPr>
          <a:xfrm>
            <a:off x="3749040" y="4453128"/>
            <a:ext cx="5120640" cy="274320"/>
          </a:xfrm>
          <a:prstGeom prst="rect">
            <a:avLst/>
          </a:prstGeom>
          <a:noFill/>
          <a:ln/>
        </p:spPr>
        <p:txBody>
          <a:bodyPr wrap="square" lIns="0" tIns="0" rIns="0" bIns="0" rtlCol="0" anchor="ctr"/>
          <a:lstStyle/>
          <a:p>
            <a:pPr indent="0" marL="0">
              <a:buNone/>
            </a:pPr>
            <a:r>
              <a:rPr lang="en-US" sz="900" dirty="0">
                <a:solidFill>
                  <a:srgbClr val="3A4356"/>
                </a:solidFill>
                <a:latin typeface="Calibri" pitchFamily="34" charset="0"/>
                <a:ea typeface="Calibri" pitchFamily="34" charset="-122"/>
                <a:cs typeface="Calibri" pitchFamily="34" charset="-120"/>
              </a:rPr>
              <a:t>Charged labour minutes exceed the machine cycle by 20%+ — move work offline</a:t>
            </a:r>
            <a:endParaRPr lang="en-US" sz="900" dirty="0"/>
          </a:p>
        </p:txBody>
      </p:sp>
      <p:sp>
        <p:nvSpPr>
          <p:cNvPr id="59" name="Text 57"/>
          <p:cNvSpPr/>
          <p:nvPr/>
        </p:nvSpPr>
        <p:spPr>
          <a:xfrm>
            <a:off x="9006840" y="4453128"/>
            <a:ext cx="1828800" cy="274320"/>
          </a:xfrm>
          <a:prstGeom prst="rect">
            <a:avLst/>
          </a:prstGeom>
          <a:noFill/>
          <a:ln/>
        </p:spPr>
        <p:txBody>
          <a:bodyPr wrap="square" lIns="0" tIns="0" rIns="0" bIns="0" rtlCol="0" anchor="ctr"/>
          <a:lstStyle/>
          <a:p>
            <a:pPr indent="0" marL="0">
              <a:buNone/>
            </a:pPr>
            <a:r>
              <a:rPr lang="en-US" sz="900" b="1" dirty="0">
                <a:solidFill>
                  <a:srgbClr val="686F7D"/>
                </a:solidFill>
                <a:latin typeface="Calibri" pitchFamily="34" charset="0"/>
                <a:ea typeface="Calibri" pitchFamily="34" charset="-122"/>
                <a:cs typeface="Calibri" pitchFamily="34" charset="-120"/>
              </a:rPr>
              <a:t>Minor</a:t>
            </a:r>
            <a:endParaRPr lang="en-US" sz="900" dirty="0"/>
          </a:p>
        </p:txBody>
      </p:sp>
      <p:sp>
        <p:nvSpPr>
          <p:cNvPr id="60" name="Text 58"/>
          <p:cNvSpPr/>
          <p:nvPr/>
        </p:nvSpPr>
        <p:spPr>
          <a:xfrm>
            <a:off x="10972800" y="4453128"/>
            <a:ext cx="594360" cy="274320"/>
          </a:xfrm>
          <a:prstGeom prst="rect">
            <a:avLst/>
          </a:prstGeom>
          <a:noFill/>
          <a:ln/>
        </p:spPr>
        <p:txBody>
          <a:bodyPr wrap="square" lIns="0" tIns="0" rIns="0" bIns="0" rtlCol="0" anchor="ctr"/>
          <a:lstStyle/>
          <a:p>
            <a:pPr algn="r" indent="0" marL="0">
              <a:buNone/>
            </a:pPr>
            <a:r>
              <a:rPr lang="en-US" sz="920" b="1" dirty="0">
                <a:solidFill>
                  <a:srgbClr val="0D7D71"/>
                </a:solidFill>
                <a:latin typeface="Calibri" pitchFamily="34" charset="0"/>
                <a:ea typeface="Calibri" pitchFamily="34" charset="-122"/>
                <a:cs typeface="Calibri" pitchFamily="34" charset="-120"/>
              </a:rPr>
              <a:t>4%</a:t>
            </a:r>
            <a:endParaRPr lang="en-US" sz="920" dirty="0"/>
          </a:p>
        </p:txBody>
      </p:sp>
      <p:sp>
        <p:nvSpPr>
          <p:cNvPr id="61" name="Text 59"/>
          <p:cNvSpPr/>
          <p:nvPr/>
        </p:nvSpPr>
        <p:spPr>
          <a:xfrm>
            <a:off x="457200" y="5029200"/>
            <a:ext cx="11274552" cy="365760"/>
          </a:xfrm>
          <a:prstGeom prst="rect">
            <a:avLst/>
          </a:prstGeom>
          <a:noFill/>
          <a:ln/>
        </p:spPr>
        <p:txBody>
          <a:bodyPr wrap="square" lIns="0" tIns="0" rIns="0" bIns="0" rtlCol="0" anchor="ctr"/>
          <a:lstStyle/>
          <a:p>
            <a:pPr indent="0" marL="0">
              <a:buNone/>
            </a:pPr>
            <a:r>
              <a:rPr lang="en-US" sz="850" i="1" dirty="0">
                <a:solidFill>
                  <a:srgbClr val="686F7D"/>
                </a:solidFill>
                <a:latin typeface="Calibri" pitchFamily="34" charset="0"/>
                <a:ea typeface="Calibri" pitchFamily="34" charset="-122"/>
                <a:cs typeface="Calibri" pitchFamily="34" charset="-120"/>
              </a:rPr>
              <a:t>Rules 8–11 are new — Boothroyd-style checks read from the operation list itself: inspection and finishing as separate steps, manning levels, and labour running past the machine cycle. With the two previous slides: 52 threshold checks in total (41 DFM + 11 DFA).</a:t>
            </a:r>
            <a:endParaRPr lang="en-US" sz="850" dirty="0"/>
          </a:p>
        </p:txBody>
      </p:sp>
      <p:sp>
        <p:nvSpPr>
          <p:cNvPr id="62" name="Shape 60"/>
          <p:cNvSpPr/>
          <p:nvPr/>
        </p:nvSpPr>
        <p:spPr>
          <a:xfrm>
            <a:off x="457200" y="5504688"/>
            <a:ext cx="11274552" cy="749808"/>
          </a:xfrm>
          <a:prstGeom prst="roundRect">
            <a:avLst>
              <a:gd name="adj" fmla="val 12195"/>
            </a:avLst>
          </a:prstGeom>
          <a:solidFill>
            <a:srgbClr val="16325C"/>
          </a:solidFill>
          <a:ln/>
        </p:spPr>
      </p:sp>
      <p:sp>
        <p:nvSpPr>
          <p:cNvPr id="63" name="Text 61"/>
          <p:cNvSpPr/>
          <p:nvPr/>
        </p:nvSpPr>
        <p:spPr>
          <a:xfrm>
            <a:off x="777240" y="5577840"/>
            <a:ext cx="10652760" cy="603504"/>
          </a:xfrm>
          <a:prstGeom prst="rect">
            <a:avLst/>
          </a:prstGeom>
          <a:noFill/>
          <a:ln/>
        </p:spPr>
        <p:txBody>
          <a:bodyPr wrap="square" lIns="0" tIns="0" rIns="0" bIns="0" rtlCol="0" anchor="ctr"/>
          <a:lstStyle/>
          <a:p>
            <a:pPr indent="0" marL="0">
              <a:buNone/>
            </a:pPr>
            <a:r>
              <a:rPr lang="en-US" sz="1150" b="1" dirty="0">
                <a:solidFill>
                  <a:srgbClr val="9FB6E0"/>
                </a:solidFill>
                <a:latin typeface="Calibri" pitchFamily="34" charset="0"/>
                <a:ea typeface="Calibri" pitchFamily="34" charset="-122"/>
                <a:cs typeface="Calibri" pitchFamily="34" charset="-120"/>
              </a:rPr>
              <a:t>The Boothroyd point:  </a:t>
            </a:r>
            <a:pPr indent="0" marL="0">
              <a:buNone/>
            </a:pPr>
            <a:r>
              <a:rPr lang="en-US" sz="1150" dirty="0">
                <a:solidFill>
                  <a:srgbClr val="FFFFFF"/>
                </a:solidFill>
                <a:latin typeface="Calibri" pitchFamily="34" charset="0"/>
                <a:ea typeface="Calibri" pitchFamily="34" charset="-122"/>
                <a:cs typeface="Calibri" pitchFamily="34" charset="-120"/>
              </a:rPr>
              <a:t>classic DFA asks whether each part and each handling step needs to exist. These checks ask the same question of the operation list the costing actually used. Severity here is internal ordering only — what reaches an engineer is the ranked £/part list, never a grade.</a:t>
            </a:r>
            <a:endParaRPr lang="en-US" sz="1150" dirty="0"/>
          </a:p>
        </p:txBody>
      </p:sp>
      <p:sp>
        <p:nvSpPr>
          <p:cNvPr id="64" name="Text 62"/>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65" name="Text 63"/>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52</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D7D71"/>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The 10 Geometry Advisors — Reading the Solid</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Per-process advisor modules: 75 further DFM checks on the measured shape, feeding the same report</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Text 5"/>
          <p:cNvSpPr/>
          <p:nvPr/>
        </p:nvSpPr>
        <p:spPr>
          <a:xfrm>
            <a:off x="658368" y="1152144"/>
            <a:ext cx="164592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ADVISOR</a:t>
            </a:r>
            <a:endParaRPr lang="en-US" sz="800" dirty="0"/>
          </a:p>
        </p:txBody>
      </p:sp>
      <p:sp>
        <p:nvSpPr>
          <p:cNvPr id="8" name="Text 6"/>
          <p:cNvSpPr/>
          <p:nvPr/>
        </p:nvSpPr>
        <p:spPr>
          <a:xfrm>
            <a:off x="2377440" y="1152144"/>
            <a:ext cx="420624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WHAT IT READS FROM THE MEASURED SOLID</a:t>
            </a:r>
            <a:endParaRPr lang="en-US" sz="800" dirty="0"/>
          </a:p>
        </p:txBody>
      </p:sp>
      <p:sp>
        <p:nvSpPr>
          <p:cNvPr id="9" name="Text 7"/>
          <p:cNvSpPr/>
          <p:nvPr/>
        </p:nvSpPr>
        <p:spPr>
          <a:xfrm>
            <a:off x="6720840" y="1152144"/>
            <a:ext cx="4160520" cy="182880"/>
          </a:xfrm>
          <a:prstGeom prst="rect">
            <a:avLst/>
          </a:prstGeom>
          <a:noFill/>
          <a:ln/>
        </p:spPr>
        <p:txBody>
          <a:bodyPr wrap="square" lIns="0" tIns="0" rIns="0" bIns="0" rtlCol="0" anchor="ctr"/>
          <a:lstStyle/>
          <a:p>
            <a:pPr indent="0" marL="0">
              <a:buNone/>
            </a:pPr>
            <a:r>
              <a:rPr lang="en-US" sz="800" b="1" spc="50" kern="0" dirty="0">
                <a:solidFill>
                  <a:srgbClr val="686F7D"/>
                </a:solidFill>
                <a:latin typeface="Calibri" pitchFamily="34" charset="0"/>
                <a:ea typeface="Calibri" pitchFamily="34" charset="-122"/>
                <a:cs typeface="Calibri" pitchFamily="34" charset="-120"/>
              </a:rPr>
              <a:t>EXAMPLE FINDING</a:t>
            </a:r>
            <a:endParaRPr lang="en-US" sz="800" dirty="0"/>
          </a:p>
        </p:txBody>
      </p:sp>
      <p:sp>
        <p:nvSpPr>
          <p:cNvPr id="10" name="Text 8"/>
          <p:cNvSpPr/>
          <p:nvPr/>
        </p:nvSpPr>
        <p:spPr>
          <a:xfrm>
            <a:off x="10972800" y="1152144"/>
            <a:ext cx="594360" cy="182880"/>
          </a:xfrm>
          <a:prstGeom prst="rect">
            <a:avLst/>
          </a:prstGeom>
          <a:noFill/>
          <a:ln/>
        </p:spPr>
        <p:txBody>
          <a:bodyPr wrap="square" lIns="0" tIns="0" rIns="0" bIns="0" rtlCol="0" anchor="ctr"/>
          <a:lstStyle/>
          <a:p>
            <a:pPr algn="r" indent="0" marL="0">
              <a:buNone/>
            </a:pPr>
            <a:r>
              <a:rPr lang="en-US" sz="800" b="1" spc="40" kern="0" dirty="0">
                <a:solidFill>
                  <a:srgbClr val="686F7D"/>
                </a:solidFill>
                <a:latin typeface="Calibri" pitchFamily="34" charset="0"/>
                <a:ea typeface="Calibri" pitchFamily="34" charset="-122"/>
                <a:cs typeface="Calibri" pitchFamily="34" charset="-120"/>
              </a:rPr>
              <a:t>CHECKS</a:t>
            </a:r>
            <a:endParaRPr lang="en-US" sz="800" dirty="0"/>
          </a:p>
        </p:txBody>
      </p:sp>
      <p:sp>
        <p:nvSpPr>
          <p:cNvPr id="11" name="Shape 9"/>
          <p:cNvSpPr/>
          <p:nvPr/>
        </p:nvSpPr>
        <p:spPr>
          <a:xfrm>
            <a:off x="457200" y="1389888"/>
            <a:ext cx="11274552" cy="411480"/>
          </a:xfrm>
          <a:prstGeom prst="roundRect">
            <a:avLst>
              <a:gd name="adj" fmla="val 15556"/>
            </a:avLst>
          </a:prstGeom>
          <a:solidFill>
            <a:srgbClr val="FFFFFF"/>
          </a:solidFill>
          <a:ln w="12700">
            <a:solidFill>
              <a:srgbClr val="DCE3EE"/>
            </a:solidFill>
            <a:prstDash val="solid"/>
          </a:ln>
        </p:spPr>
      </p:sp>
      <p:sp>
        <p:nvSpPr>
          <p:cNvPr id="12" name="Text 10"/>
          <p:cNvSpPr/>
          <p:nvPr/>
        </p:nvSpPr>
        <p:spPr>
          <a:xfrm>
            <a:off x="658368" y="13898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Casting</a:t>
            </a:r>
            <a:endParaRPr lang="en-US" sz="960" dirty="0"/>
          </a:p>
        </p:txBody>
      </p:sp>
      <p:sp>
        <p:nvSpPr>
          <p:cNvPr id="13" name="Text 11"/>
          <p:cNvSpPr/>
          <p:nvPr/>
        </p:nvSpPr>
        <p:spPr>
          <a:xfrm>
            <a:off x="2377440" y="13898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Wall thickness range, draft angle, section ratio, machining stock, sharp corners, isolated heavy sections</a:t>
            </a:r>
            <a:endParaRPr lang="en-US" sz="840" dirty="0"/>
          </a:p>
        </p:txBody>
      </p:sp>
      <p:sp>
        <p:nvSpPr>
          <p:cNvPr id="14" name="Text 12"/>
          <p:cNvSpPr/>
          <p:nvPr/>
        </p:nvSpPr>
        <p:spPr>
          <a:xfrm>
            <a:off x="6720840" y="13898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Heavy section solidifies last — shrink porosity at the hot spot</a:t>
            </a:r>
            <a:endParaRPr lang="en-US" sz="840" dirty="0"/>
          </a:p>
        </p:txBody>
      </p:sp>
      <p:sp>
        <p:nvSpPr>
          <p:cNvPr id="15" name="Text 13"/>
          <p:cNvSpPr/>
          <p:nvPr/>
        </p:nvSpPr>
        <p:spPr>
          <a:xfrm>
            <a:off x="10972800" y="13898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7</a:t>
            </a:r>
            <a:endParaRPr lang="en-US" sz="960" dirty="0"/>
          </a:p>
        </p:txBody>
      </p:sp>
      <p:sp>
        <p:nvSpPr>
          <p:cNvPr id="16" name="Shape 14"/>
          <p:cNvSpPr/>
          <p:nvPr/>
        </p:nvSpPr>
        <p:spPr>
          <a:xfrm>
            <a:off x="457200" y="1847088"/>
            <a:ext cx="11274552" cy="411480"/>
          </a:xfrm>
          <a:prstGeom prst="roundRect">
            <a:avLst>
              <a:gd name="adj" fmla="val 15556"/>
            </a:avLst>
          </a:prstGeom>
          <a:solidFill>
            <a:srgbClr val="FFFFFF"/>
          </a:solidFill>
          <a:ln w="12700">
            <a:solidFill>
              <a:srgbClr val="DCE3EE"/>
            </a:solidFill>
            <a:prstDash val="solid"/>
          </a:ln>
        </p:spPr>
      </p:sp>
      <p:sp>
        <p:nvSpPr>
          <p:cNvPr id="17" name="Text 15"/>
          <p:cNvSpPr/>
          <p:nvPr/>
        </p:nvSpPr>
        <p:spPr>
          <a:xfrm>
            <a:off x="658368" y="18470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Forging</a:t>
            </a:r>
            <a:endParaRPr lang="en-US" sz="960" dirty="0"/>
          </a:p>
        </p:txBody>
      </p:sp>
      <p:sp>
        <p:nvSpPr>
          <p:cNvPr id="18" name="Text 16"/>
          <p:cNvSpPr/>
          <p:nvPr/>
        </p:nvSpPr>
        <p:spPr>
          <a:xfrm>
            <a:off x="2377440" y="18470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Web thickness, draft, fillet radius, rib height ratio, grain-flow alignment, parting-line position</a:t>
            </a:r>
            <a:endParaRPr lang="en-US" sz="840" dirty="0"/>
          </a:p>
        </p:txBody>
      </p:sp>
      <p:sp>
        <p:nvSpPr>
          <p:cNvPr id="19" name="Text 17"/>
          <p:cNvSpPr/>
          <p:nvPr/>
        </p:nvSpPr>
        <p:spPr>
          <a:xfrm>
            <a:off x="6720840" y="18470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Fillet radius too tight — die wear and forging defect risk</a:t>
            </a:r>
            <a:endParaRPr lang="en-US" sz="840" dirty="0"/>
          </a:p>
        </p:txBody>
      </p:sp>
      <p:sp>
        <p:nvSpPr>
          <p:cNvPr id="20" name="Text 18"/>
          <p:cNvSpPr/>
          <p:nvPr/>
        </p:nvSpPr>
        <p:spPr>
          <a:xfrm>
            <a:off x="10972800" y="18470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7</a:t>
            </a:r>
            <a:endParaRPr lang="en-US" sz="960" dirty="0"/>
          </a:p>
        </p:txBody>
      </p:sp>
      <p:sp>
        <p:nvSpPr>
          <p:cNvPr id="21" name="Shape 19"/>
          <p:cNvSpPr/>
          <p:nvPr/>
        </p:nvSpPr>
        <p:spPr>
          <a:xfrm>
            <a:off x="457200" y="2304288"/>
            <a:ext cx="11274552" cy="411480"/>
          </a:xfrm>
          <a:prstGeom prst="roundRect">
            <a:avLst>
              <a:gd name="adj" fmla="val 15556"/>
            </a:avLst>
          </a:prstGeom>
          <a:solidFill>
            <a:srgbClr val="FFFFFF"/>
          </a:solidFill>
          <a:ln w="12700">
            <a:solidFill>
              <a:srgbClr val="DCE3EE"/>
            </a:solidFill>
            <a:prstDash val="solid"/>
          </a:ln>
        </p:spPr>
      </p:sp>
      <p:sp>
        <p:nvSpPr>
          <p:cNvPr id="22" name="Text 20"/>
          <p:cNvSpPr/>
          <p:nvPr/>
        </p:nvSpPr>
        <p:spPr>
          <a:xfrm>
            <a:off x="658368" y="23042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Sheet metal</a:t>
            </a:r>
            <a:endParaRPr lang="en-US" sz="960" dirty="0"/>
          </a:p>
        </p:txBody>
      </p:sp>
      <p:sp>
        <p:nvSpPr>
          <p:cNvPr id="23" name="Text 21"/>
          <p:cNvSpPr/>
          <p:nvPr/>
        </p:nvSpPr>
        <p:spPr>
          <a:xfrm>
            <a:off x="2377440" y="23042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Gauge, bend radius, hole diameter, hole-to-edge distance, bend count, weld length, nesting</a:t>
            </a:r>
            <a:endParaRPr lang="en-US" sz="840" dirty="0"/>
          </a:p>
        </p:txBody>
      </p:sp>
      <p:sp>
        <p:nvSpPr>
          <p:cNvPr id="24" name="Text 22"/>
          <p:cNvSpPr/>
          <p:nvPr/>
        </p:nvSpPr>
        <p:spPr>
          <a:xfrm>
            <a:off x="6720840" y="23042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Bend radius below the material minimum — cracking on the outer fibre</a:t>
            </a:r>
            <a:endParaRPr lang="en-US" sz="840" dirty="0"/>
          </a:p>
        </p:txBody>
      </p:sp>
      <p:sp>
        <p:nvSpPr>
          <p:cNvPr id="25" name="Text 23"/>
          <p:cNvSpPr/>
          <p:nvPr/>
        </p:nvSpPr>
        <p:spPr>
          <a:xfrm>
            <a:off x="10972800" y="23042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7</a:t>
            </a:r>
            <a:endParaRPr lang="en-US" sz="960" dirty="0"/>
          </a:p>
        </p:txBody>
      </p:sp>
      <p:sp>
        <p:nvSpPr>
          <p:cNvPr id="26" name="Shape 24"/>
          <p:cNvSpPr/>
          <p:nvPr/>
        </p:nvSpPr>
        <p:spPr>
          <a:xfrm>
            <a:off x="457200" y="2761488"/>
            <a:ext cx="11274552" cy="411480"/>
          </a:xfrm>
          <a:prstGeom prst="roundRect">
            <a:avLst>
              <a:gd name="adj" fmla="val 15556"/>
            </a:avLst>
          </a:prstGeom>
          <a:solidFill>
            <a:srgbClr val="FFFFFF"/>
          </a:solidFill>
          <a:ln w="12700">
            <a:solidFill>
              <a:srgbClr val="DCE3EE"/>
            </a:solidFill>
            <a:prstDash val="solid"/>
          </a:ln>
        </p:spPr>
      </p:sp>
      <p:sp>
        <p:nvSpPr>
          <p:cNvPr id="27" name="Text 25"/>
          <p:cNvSpPr/>
          <p:nvPr/>
        </p:nvSpPr>
        <p:spPr>
          <a:xfrm>
            <a:off x="658368" y="27614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Injection moulding</a:t>
            </a:r>
            <a:endParaRPr lang="en-US" sz="960" dirty="0"/>
          </a:p>
        </p:txBody>
      </p:sp>
      <p:sp>
        <p:nvSpPr>
          <p:cNvPr id="28" name="Text 26"/>
          <p:cNvSpPr/>
          <p:nvPr/>
        </p:nvSpPr>
        <p:spPr>
          <a:xfrm>
            <a:off x="2377440" y="27614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Wall range, rib and boss ratios, draft, texture, undercuts, flow length, gates, weld lines, tolerance</a:t>
            </a:r>
            <a:endParaRPr lang="en-US" sz="840" dirty="0"/>
          </a:p>
        </p:txBody>
      </p:sp>
      <p:sp>
        <p:nvSpPr>
          <p:cNvPr id="29" name="Text 27"/>
          <p:cNvSpPr/>
          <p:nvPr/>
        </p:nvSpPr>
        <p:spPr>
          <a:xfrm>
            <a:off x="6720840" y="27614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Rib thicker than the wall allows — sink marks on the show face</a:t>
            </a:r>
            <a:endParaRPr lang="en-US" sz="840" dirty="0"/>
          </a:p>
        </p:txBody>
      </p:sp>
      <p:sp>
        <p:nvSpPr>
          <p:cNvPr id="30" name="Text 28"/>
          <p:cNvSpPr/>
          <p:nvPr/>
        </p:nvSpPr>
        <p:spPr>
          <a:xfrm>
            <a:off x="10972800" y="27614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10</a:t>
            </a:r>
            <a:endParaRPr lang="en-US" sz="960" dirty="0"/>
          </a:p>
        </p:txBody>
      </p:sp>
      <p:sp>
        <p:nvSpPr>
          <p:cNvPr id="31" name="Shape 29"/>
          <p:cNvSpPr/>
          <p:nvPr/>
        </p:nvSpPr>
        <p:spPr>
          <a:xfrm>
            <a:off x="457200" y="3218688"/>
            <a:ext cx="11274552" cy="411480"/>
          </a:xfrm>
          <a:prstGeom prst="roundRect">
            <a:avLst>
              <a:gd name="adj" fmla="val 15556"/>
            </a:avLst>
          </a:prstGeom>
          <a:solidFill>
            <a:srgbClr val="FFFFFF"/>
          </a:solidFill>
          <a:ln w="12700">
            <a:solidFill>
              <a:srgbClr val="DCE3EE"/>
            </a:solidFill>
            <a:prstDash val="solid"/>
          </a:ln>
        </p:spPr>
      </p:sp>
      <p:sp>
        <p:nvSpPr>
          <p:cNvPr id="32" name="Text 30"/>
          <p:cNvSpPr/>
          <p:nvPr/>
        </p:nvSpPr>
        <p:spPr>
          <a:xfrm>
            <a:off x="658368" y="32186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Blow moulding</a:t>
            </a:r>
            <a:endParaRPr lang="en-US" sz="960" dirty="0"/>
          </a:p>
        </p:txBody>
      </p:sp>
      <p:sp>
        <p:nvSpPr>
          <p:cNvPr id="33" name="Text 31"/>
          <p:cNvSpPr/>
          <p:nvPr/>
        </p:nvSpPr>
        <p:spPr>
          <a:xfrm>
            <a:off x="2377440" y="32186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Wall thickness, blow-up ratio, parison length-to-diameter, corner radii, handle weld line</a:t>
            </a:r>
            <a:endParaRPr lang="en-US" sz="840" dirty="0"/>
          </a:p>
        </p:txBody>
      </p:sp>
      <p:sp>
        <p:nvSpPr>
          <p:cNvPr id="34" name="Text 32"/>
          <p:cNvSpPr/>
          <p:nvPr/>
        </p:nvSpPr>
        <p:spPr>
          <a:xfrm>
            <a:off x="6720840" y="32186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Blow-up ratio too high — corners thin beyond the functional wall</a:t>
            </a:r>
            <a:endParaRPr lang="en-US" sz="840" dirty="0"/>
          </a:p>
        </p:txBody>
      </p:sp>
      <p:sp>
        <p:nvSpPr>
          <p:cNvPr id="35" name="Text 33"/>
          <p:cNvSpPr/>
          <p:nvPr/>
        </p:nvSpPr>
        <p:spPr>
          <a:xfrm>
            <a:off x="10972800" y="32186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6</a:t>
            </a:r>
            <a:endParaRPr lang="en-US" sz="960" dirty="0"/>
          </a:p>
        </p:txBody>
      </p:sp>
      <p:sp>
        <p:nvSpPr>
          <p:cNvPr id="36" name="Shape 34"/>
          <p:cNvSpPr/>
          <p:nvPr/>
        </p:nvSpPr>
        <p:spPr>
          <a:xfrm>
            <a:off x="457200" y="3675888"/>
            <a:ext cx="11274552" cy="411480"/>
          </a:xfrm>
          <a:prstGeom prst="roundRect">
            <a:avLst>
              <a:gd name="adj" fmla="val 15556"/>
            </a:avLst>
          </a:prstGeom>
          <a:solidFill>
            <a:srgbClr val="FFFFFF"/>
          </a:solidFill>
          <a:ln w="12700">
            <a:solidFill>
              <a:srgbClr val="DCE3EE"/>
            </a:solidFill>
            <a:prstDash val="solid"/>
          </a:ln>
        </p:spPr>
      </p:sp>
      <p:sp>
        <p:nvSpPr>
          <p:cNvPr id="37" name="Text 35"/>
          <p:cNvSpPr/>
          <p:nvPr/>
        </p:nvSpPr>
        <p:spPr>
          <a:xfrm>
            <a:off x="658368" y="36758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Thermoforming</a:t>
            </a:r>
            <a:endParaRPr lang="en-US" sz="960" dirty="0"/>
          </a:p>
        </p:txBody>
      </p:sp>
      <p:sp>
        <p:nvSpPr>
          <p:cNvPr id="38" name="Text 36"/>
          <p:cNvSpPr/>
          <p:nvPr/>
        </p:nvSpPr>
        <p:spPr>
          <a:xfrm>
            <a:off x="2377440" y="36758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Sheet thickness, draw depth, openings, unsupported spans, radii, draft, undercuts, plug assist</a:t>
            </a:r>
            <a:endParaRPr lang="en-US" sz="840" dirty="0"/>
          </a:p>
        </p:txBody>
      </p:sp>
      <p:sp>
        <p:nvSpPr>
          <p:cNvPr id="39" name="Text 37"/>
          <p:cNvSpPr/>
          <p:nvPr/>
        </p:nvSpPr>
        <p:spPr>
          <a:xfrm>
            <a:off x="6720840" y="36758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Deep draw without plug assist — excessive thinning at the base</a:t>
            </a:r>
            <a:endParaRPr lang="en-US" sz="840" dirty="0"/>
          </a:p>
        </p:txBody>
      </p:sp>
      <p:sp>
        <p:nvSpPr>
          <p:cNvPr id="40" name="Text 38"/>
          <p:cNvSpPr/>
          <p:nvPr/>
        </p:nvSpPr>
        <p:spPr>
          <a:xfrm>
            <a:off x="10972800" y="36758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10</a:t>
            </a:r>
            <a:endParaRPr lang="en-US" sz="960" dirty="0"/>
          </a:p>
        </p:txBody>
      </p:sp>
      <p:sp>
        <p:nvSpPr>
          <p:cNvPr id="41" name="Shape 39"/>
          <p:cNvSpPr/>
          <p:nvPr/>
        </p:nvSpPr>
        <p:spPr>
          <a:xfrm>
            <a:off x="457200" y="4133088"/>
            <a:ext cx="11274552" cy="411480"/>
          </a:xfrm>
          <a:prstGeom prst="roundRect">
            <a:avLst>
              <a:gd name="adj" fmla="val 15556"/>
            </a:avLst>
          </a:prstGeom>
          <a:solidFill>
            <a:srgbClr val="FFFFFF"/>
          </a:solidFill>
          <a:ln w="12700">
            <a:solidFill>
              <a:srgbClr val="DCE3EE"/>
            </a:solidFill>
            <a:prstDash val="solid"/>
          </a:ln>
        </p:spPr>
      </p:sp>
      <p:sp>
        <p:nvSpPr>
          <p:cNvPr id="42" name="Text 40"/>
          <p:cNvSpPr/>
          <p:nvPr/>
        </p:nvSpPr>
        <p:spPr>
          <a:xfrm>
            <a:off x="658368" y="41330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Extrusion</a:t>
            </a:r>
            <a:endParaRPr lang="en-US" sz="960" dirty="0"/>
          </a:p>
        </p:txBody>
      </p:sp>
      <p:sp>
        <p:nvSpPr>
          <p:cNvPr id="43" name="Text 41"/>
          <p:cNvSpPr/>
          <p:nvPr/>
        </p:nvSpPr>
        <p:spPr>
          <a:xfrm>
            <a:off x="2377440" y="41330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Wall range, internal radii, hollow chambers, layers, unsupported projections, tolerance</a:t>
            </a:r>
            <a:endParaRPr lang="en-US" sz="840" dirty="0"/>
          </a:p>
        </p:txBody>
      </p:sp>
      <p:sp>
        <p:nvSpPr>
          <p:cNvPr id="44" name="Text 42"/>
          <p:cNvSpPr/>
          <p:nvPr/>
        </p:nvSpPr>
        <p:spPr>
          <a:xfrm>
            <a:off x="6720840" y="41330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Unbalanced walls across the profile — die flow imbalance and warp</a:t>
            </a:r>
            <a:endParaRPr lang="en-US" sz="840" dirty="0"/>
          </a:p>
        </p:txBody>
      </p:sp>
      <p:sp>
        <p:nvSpPr>
          <p:cNvPr id="45" name="Text 43"/>
          <p:cNvSpPr/>
          <p:nvPr/>
        </p:nvSpPr>
        <p:spPr>
          <a:xfrm>
            <a:off x="10972800" y="41330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8</a:t>
            </a:r>
            <a:endParaRPr lang="en-US" sz="960" dirty="0"/>
          </a:p>
        </p:txBody>
      </p:sp>
      <p:sp>
        <p:nvSpPr>
          <p:cNvPr id="46" name="Shape 44"/>
          <p:cNvSpPr/>
          <p:nvPr/>
        </p:nvSpPr>
        <p:spPr>
          <a:xfrm>
            <a:off x="457200" y="4590288"/>
            <a:ext cx="11274552" cy="411480"/>
          </a:xfrm>
          <a:prstGeom prst="roundRect">
            <a:avLst>
              <a:gd name="adj" fmla="val 15556"/>
            </a:avLst>
          </a:prstGeom>
          <a:solidFill>
            <a:srgbClr val="FFFFFF"/>
          </a:solidFill>
          <a:ln w="12700">
            <a:solidFill>
              <a:srgbClr val="DCE3EE"/>
            </a:solidFill>
            <a:prstDash val="solid"/>
          </a:ln>
        </p:spPr>
      </p:sp>
      <p:sp>
        <p:nvSpPr>
          <p:cNvPr id="47" name="Text 45"/>
          <p:cNvSpPr/>
          <p:nvPr/>
        </p:nvSpPr>
        <p:spPr>
          <a:xfrm>
            <a:off x="658368" y="45902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Rubber moulding</a:t>
            </a:r>
            <a:endParaRPr lang="en-US" sz="960" dirty="0"/>
          </a:p>
        </p:txBody>
      </p:sp>
      <p:sp>
        <p:nvSpPr>
          <p:cNvPr id="48" name="Text 46"/>
          <p:cNvSpPr/>
          <p:nvPr/>
        </p:nvSpPr>
        <p:spPr>
          <a:xfrm>
            <a:off x="2377440" y="45902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Section thickness, draft, flash-line position, undercuts, metal inserts, tolerance</a:t>
            </a:r>
            <a:endParaRPr lang="en-US" sz="840" dirty="0"/>
          </a:p>
        </p:txBody>
      </p:sp>
      <p:sp>
        <p:nvSpPr>
          <p:cNvPr id="49" name="Text 47"/>
          <p:cNvSpPr/>
          <p:nvPr/>
        </p:nvSpPr>
        <p:spPr>
          <a:xfrm>
            <a:off x="6720840" y="45902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Flash line lands on the sealing face — a leak path; move the parting line</a:t>
            </a:r>
            <a:endParaRPr lang="en-US" sz="840" dirty="0"/>
          </a:p>
        </p:txBody>
      </p:sp>
      <p:sp>
        <p:nvSpPr>
          <p:cNvPr id="50" name="Text 48"/>
          <p:cNvSpPr/>
          <p:nvPr/>
        </p:nvSpPr>
        <p:spPr>
          <a:xfrm>
            <a:off x="10972800" y="45902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8</a:t>
            </a:r>
            <a:endParaRPr lang="en-US" sz="960" dirty="0"/>
          </a:p>
        </p:txBody>
      </p:sp>
      <p:sp>
        <p:nvSpPr>
          <p:cNvPr id="51" name="Shape 49"/>
          <p:cNvSpPr/>
          <p:nvPr/>
        </p:nvSpPr>
        <p:spPr>
          <a:xfrm>
            <a:off x="457200" y="5047488"/>
            <a:ext cx="11274552" cy="411480"/>
          </a:xfrm>
          <a:prstGeom prst="roundRect">
            <a:avLst>
              <a:gd name="adj" fmla="val 15556"/>
            </a:avLst>
          </a:prstGeom>
          <a:solidFill>
            <a:srgbClr val="FFFFFF"/>
          </a:solidFill>
          <a:ln w="12700">
            <a:solidFill>
              <a:srgbClr val="DCE3EE"/>
            </a:solidFill>
            <a:prstDash val="solid"/>
          </a:ln>
        </p:spPr>
      </p:sp>
      <p:sp>
        <p:nvSpPr>
          <p:cNvPr id="52" name="Text 50"/>
          <p:cNvSpPr/>
          <p:nvPr/>
        </p:nvSpPr>
        <p:spPr>
          <a:xfrm>
            <a:off x="658368" y="50474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Lamination</a:t>
            </a:r>
            <a:endParaRPr lang="en-US" sz="960" dirty="0"/>
          </a:p>
        </p:txBody>
      </p:sp>
      <p:sp>
        <p:nvSpPr>
          <p:cNvPr id="53" name="Text 51"/>
          <p:cNvSpPr/>
          <p:nvPr/>
        </p:nvSpPr>
        <p:spPr>
          <a:xfrm>
            <a:off x="2377440" y="50474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Tooth width, bridge width, air-gap tolerance, stack method, anneal, thin gauge handling</a:t>
            </a:r>
            <a:endParaRPr lang="en-US" sz="840" dirty="0"/>
          </a:p>
        </p:txBody>
      </p:sp>
      <p:sp>
        <p:nvSpPr>
          <p:cNvPr id="54" name="Text 52"/>
          <p:cNvSpPr/>
          <p:nvPr/>
        </p:nvSpPr>
        <p:spPr>
          <a:xfrm>
            <a:off x="6720840" y="50474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Bridge below minimum for the gauge — stamping distortion risk</a:t>
            </a:r>
            <a:endParaRPr lang="en-US" sz="840" dirty="0"/>
          </a:p>
        </p:txBody>
      </p:sp>
      <p:sp>
        <p:nvSpPr>
          <p:cNvPr id="55" name="Text 53"/>
          <p:cNvSpPr/>
          <p:nvPr/>
        </p:nvSpPr>
        <p:spPr>
          <a:xfrm>
            <a:off x="10972800" y="50474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6</a:t>
            </a:r>
            <a:endParaRPr lang="en-US" sz="960" dirty="0"/>
          </a:p>
        </p:txBody>
      </p:sp>
      <p:sp>
        <p:nvSpPr>
          <p:cNvPr id="56" name="Shape 54"/>
          <p:cNvSpPr/>
          <p:nvPr/>
        </p:nvSpPr>
        <p:spPr>
          <a:xfrm>
            <a:off x="457200" y="5504688"/>
            <a:ext cx="11274552" cy="411480"/>
          </a:xfrm>
          <a:prstGeom prst="roundRect">
            <a:avLst>
              <a:gd name="adj" fmla="val 15556"/>
            </a:avLst>
          </a:prstGeom>
          <a:solidFill>
            <a:srgbClr val="FFFFFF"/>
          </a:solidFill>
          <a:ln w="12700">
            <a:solidFill>
              <a:srgbClr val="DCE3EE"/>
            </a:solidFill>
            <a:prstDash val="solid"/>
          </a:ln>
        </p:spPr>
      </p:sp>
      <p:sp>
        <p:nvSpPr>
          <p:cNvPr id="57" name="Text 55"/>
          <p:cNvSpPr/>
          <p:nvPr/>
        </p:nvSpPr>
        <p:spPr>
          <a:xfrm>
            <a:off x="658368" y="5504688"/>
            <a:ext cx="1645920" cy="411480"/>
          </a:xfrm>
          <a:prstGeom prst="rect">
            <a:avLst/>
          </a:prstGeom>
          <a:noFill/>
          <a:ln/>
        </p:spPr>
        <p:txBody>
          <a:bodyPr wrap="square" lIns="0" tIns="0" rIns="0" bIns="0" rtlCol="0" anchor="ctr"/>
          <a:lstStyle/>
          <a:p>
            <a:pPr indent="0" marL="0">
              <a:buNone/>
            </a:pPr>
            <a:r>
              <a:rPr lang="en-US" sz="960" b="1" dirty="0">
                <a:solidFill>
                  <a:srgbClr val="0D7D71"/>
                </a:solidFill>
                <a:latin typeface="Calibri" pitchFamily="34" charset="0"/>
                <a:ea typeface="Calibri" pitchFamily="34" charset="-122"/>
                <a:cs typeface="Calibri" pitchFamily="34" charset="-120"/>
              </a:rPr>
              <a:t>Rotomoulding</a:t>
            </a:r>
            <a:endParaRPr lang="en-US" sz="960" dirty="0"/>
          </a:p>
        </p:txBody>
      </p:sp>
      <p:sp>
        <p:nvSpPr>
          <p:cNvPr id="58" name="Text 56"/>
          <p:cNvSpPr/>
          <p:nvPr/>
        </p:nvSpPr>
        <p:spPr>
          <a:xfrm>
            <a:off x="2377440" y="5504688"/>
            <a:ext cx="4206240" cy="411480"/>
          </a:xfrm>
          <a:prstGeom prst="rect">
            <a:avLst/>
          </a:prstGeom>
          <a:noFill/>
          <a:ln/>
        </p:spPr>
        <p:txBody>
          <a:bodyPr wrap="square" lIns="0" tIns="0" rIns="0" bIns="0" rtlCol="0" anchor="ctr"/>
          <a:lstStyle/>
          <a:p>
            <a:pPr indent="0" marL="0">
              <a:buNone/>
            </a:pPr>
            <a:r>
              <a:rPr lang="en-US" sz="840" dirty="0">
                <a:solidFill>
                  <a:srgbClr val="3A4356"/>
                </a:solidFill>
                <a:latin typeface="Calibri" pitchFamily="34" charset="0"/>
                <a:ea typeface="Calibri" pitchFamily="34" charset="-122"/>
                <a:cs typeface="Calibri" pitchFamily="34" charset="-120"/>
              </a:rPr>
              <a:t>Wall thickness, internal radii, draft, flat unsupported spans, venting, kiss-off design</a:t>
            </a:r>
            <a:endParaRPr lang="en-US" sz="840" dirty="0"/>
          </a:p>
        </p:txBody>
      </p:sp>
      <p:sp>
        <p:nvSpPr>
          <p:cNvPr id="59" name="Text 57"/>
          <p:cNvSpPr/>
          <p:nvPr/>
        </p:nvSpPr>
        <p:spPr>
          <a:xfrm>
            <a:off x="6720840" y="5504688"/>
            <a:ext cx="4160520" cy="411480"/>
          </a:xfrm>
          <a:prstGeom prst="rect">
            <a:avLst/>
          </a:prstGeom>
          <a:noFill/>
          <a:ln/>
        </p:spPr>
        <p:txBody>
          <a:bodyPr wrap="square" lIns="0" tIns="0" rIns="0" bIns="0" rtlCol="0" anchor="ctr"/>
          <a:lstStyle/>
          <a:p>
            <a:pPr indent="0" marL="0">
              <a:buNone/>
            </a:pPr>
            <a:r>
              <a:rPr lang="en-US" sz="840" i="1" dirty="0">
                <a:solidFill>
                  <a:srgbClr val="16325C"/>
                </a:solidFill>
                <a:latin typeface="Calibri" pitchFamily="34" charset="0"/>
                <a:ea typeface="Calibri" pitchFamily="34" charset="-122"/>
                <a:cs typeface="Calibri" pitchFamily="34" charset="-120"/>
              </a:rPr>
              <a:t>Enclosed volume without a vent — blow-out risk at demould</a:t>
            </a:r>
            <a:endParaRPr lang="en-US" sz="840" dirty="0"/>
          </a:p>
        </p:txBody>
      </p:sp>
      <p:sp>
        <p:nvSpPr>
          <p:cNvPr id="60" name="Text 58"/>
          <p:cNvSpPr/>
          <p:nvPr/>
        </p:nvSpPr>
        <p:spPr>
          <a:xfrm>
            <a:off x="10972800" y="5504688"/>
            <a:ext cx="594360" cy="411480"/>
          </a:xfrm>
          <a:prstGeom prst="rect">
            <a:avLst/>
          </a:prstGeom>
          <a:noFill/>
          <a:ln/>
        </p:spPr>
        <p:txBody>
          <a:bodyPr wrap="square" lIns="0" tIns="0" rIns="0" bIns="0" rtlCol="0" anchor="ctr"/>
          <a:lstStyle/>
          <a:p>
            <a:pPr algn="r" indent="0" marL="0">
              <a:buNone/>
            </a:pPr>
            <a:r>
              <a:rPr lang="en-US" sz="960" b="1" dirty="0">
                <a:solidFill>
                  <a:srgbClr val="0D7D71"/>
                </a:solidFill>
                <a:latin typeface="Calibri" pitchFamily="34" charset="0"/>
                <a:ea typeface="Calibri" pitchFamily="34" charset="-122"/>
                <a:cs typeface="Calibri" pitchFamily="34" charset="-120"/>
              </a:rPr>
              <a:t>6</a:t>
            </a:r>
            <a:endParaRPr lang="en-US" sz="960" dirty="0"/>
          </a:p>
        </p:txBody>
      </p:sp>
      <p:sp>
        <p:nvSpPr>
          <p:cNvPr id="61" name="Text 59"/>
          <p:cNvSpPr/>
          <p:nvPr/>
        </p:nvSpPr>
        <p:spPr>
          <a:xfrm>
            <a:off x="457200" y="6053328"/>
            <a:ext cx="11274552" cy="365760"/>
          </a:xfrm>
          <a:prstGeom prst="rect">
            <a:avLst/>
          </a:prstGeom>
          <a:noFill/>
          <a:ln/>
        </p:spPr>
        <p:txBody>
          <a:bodyPr wrap="square" lIns="0" tIns="0" rIns="0" bIns="0" rtlCol="0" anchor="ctr"/>
          <a:lstStyle/>
          <a:p>
            <a:pPr indent="0" marL="0">
              <a:buNone/>
            </a:pPr>
            <a:r>
              <a:rPr lang="en-US" sz="850" i="1" dirty="0">
                <a:solidFill>
                  <a:srgbClr val="686F7D"/>
                </a:solidFill>
                <a:latin typeface="Calibri" pitchFamily="34" charset="0"/>
                <a:ea typeface="Calibri" pitchFamily="34" charset="-122"/>
                <a:cs typeface="Calibri" pitchFamily="34" charset="-120"/>
              </a:rPr>
              <a:t>75 geometry checks in total. They run alongside the 52 cost-structure rules and feed the same DFM/DFA sections of the report — deterministic, and never written by AI.</a:t>
            </a:r>
            <a:endParaRPr lang="en-US" sz="850" dirty="0"/>
          </a:p>
        </p:txBody>
      </p:sp>
      <p:sp>
        <p:nvSpPr>
          <p:cNvPr id="62" name="Text 60"/>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63" name="Text 61"/>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53</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Idea Generation 1 of 2 — The 360° Catalogue</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36 levers in 8 categories, every one priced from the part’s own numbers · this slide: material, design, process</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097280"/>
            <a:ext cx="11274552" cy="219456"/>
          </a:xfrm>
          <a:prstGeom prst="roundRect">
            <a:avLst>
              <a:gd name="adj" fmla="val 20833"/>
            </a:avLst>
          </a:prstGeom>
          <a:solidFill>
            <a:srgbClr val="E6F4F1"/>
          </a:solidFill>
          <a:ln/>
        </p:spPr>
      </p:sp>
      <p:sp>
        <p:nvSpPr>
          <p:cNvPr id="8" name="Text 6"/>
          <p:cNvSpPr/>
          <p:nvPr/>
        </p:nvSpPr>
        <p:spPr>
          <a:xfrm>
            <a:off x="658368" y="1097280"/>
            <a:ext cx="10881360" cy="219456"/>
          </a:xfrm>
          <a:prstGeom prst="rect">
            <a:avLst/>
          </a:prstGeom>
          <a:noFill/>
          <a:ln/>
        </p:spPr>
        <p:txBody>
          <a:bodyPr wrap="square" lIns="0" tIns="0" rIns="0" bIns="0" rtlCol="0" anchor="ctr"/>
          <a:lstStyle/>
          <a:p>
            <a:pPr indent="0" marL="0">
              <a:buNone/>
            </a:pPr>
            <a:r>
              <a:rPr lang="en-US" sz="820" b="1" spc="50" kern="0" dirty="0">
                <a:solidFill>
                  <a:srgbClr val="0D7D71"/>
                </a:solidFill>
                <a:latin typeface="Calibri" pitchFamily="34" charset="0"/>
                <a:ea typeface="Calibri" pitchFamily="34" charset="-122"/>
                <a:cs typeface="Calibri" pitchFamily="34" charset="-120"/>
              </a:rPr>
              <a:t>MATERIAL · 5 LEVERS</a:t>
            </a:r>
            <a:endParaRPr lang="en-US" sz="820" dirty="0"/>
          </a:p>
        </p:txBody>
      </p:sp>
      <p:sp>
        <p:nvSpPr>
          <p:cNvPr id="9" name="Text 7"/>
          <p:cNvSpPr/>
          <p:nvPr/>
        </p:nvSpPr>
        <p:spPr>
          <a:xfrm>
            <a:off x="658368" y="1353312"/>
            <a:ext cx="310896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LEVER</a:t>
            </a:r>
            <a:endParaRPr lang="en-US" sz="760" dirty="0"/>
          </a:p>
        </p:txBody>
      </p:sp>
      <p:sp>
        <p:nvSpPr>
          <p:cNvPr id="10" name="Text 8"/>
          <p:cNvSpPr/>
          <p:nvPr/>
        </p:nvSpPr>
        <p:spPr>
          <a:xfrm>
            <a:off x="3840480" y="1353312"/>
            <a:ext cx="4663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SUGGESTED WHEN</a:t>
            </a:r>
            <a:endParaRPr lang="en-US" sz="760" dirty="0"/>
          </a:p>
        </p:txBody>
      </p:sp>
      <p:sp>
        <p:nvSpPr>
          <p:cNvPr id="11" name="Text 9"/>
          <p:cNvSpPr/>
          <p:nvPr/>
        </p:nvSpPr>
        <p:spPr>
          <a:xfrm>
            <a:off x="8595360" y="1353312"/>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UP TO</a:t>
            </a:r>
            <a:endParaRPr lang="en-US" sz="760" dirty="0"/>
          </a:p>
        </p:txBody>
      </p:sp>
      <p:sp>
        <p:nvSpPr>
          <p:cNvPr id="12" name="Text 10"/>
          <p:cNvSpPr/>
          <p:nvPr/>
        </p:nvSpPr>
        <p:spPr>
          <a:xfrm>
            <a:off x="9555480" y="1353312"/>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RISK</a:t>
            </a:r>
            <a:endParaRPr lang="en-US" sz="760" dirty="0"/>
          </a:p>
        </p:txBody>
      </p:sp>
      <p:sp>
        <p:nvSpPr>
          <p:cNvPr id="13" name="Text 11"/>
          <p:cNvSpPr/>
          <p:nvPr/>
        </p:nvSpPr>
        <p:spPr>
          <a:xfrm>
            <a:off x="10515600" y="1353312"/>
            <a:ext cx="1234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TIMEFRAME</a:t>
            </a:r>
            <a:endParaRPr lang="en-US" sz="760" dirty="0"/>
          </a:p>
        </p:txBody>
      </p:sp>
      <p:sp>
        <p:nvSpPr>
          <p:cNvPr id="14" name="Shape 12"/>
          <p:cNvSpPr/>
          <p:nvPr/>
        </p:nvSpPr>
        <p:spPr>
          <a:xfrm>
            <a:off x="457200" y="1531620"/>
            <a:ext cx="11274552" cy="224028"/>
          </a:xfrm>
          <a:prstGeom prst="rect">
            <a:avLst/>
          </a:prstGeom>
          <a:solidFill>
            <a:srgbClr val="FFFFFF"/>
          </a:solidFill>
          <a:ln/>
        </p:spPr>
      </p:sp>
      <p:sp>
        <p:nvSpPr>
          <p:cNvPr id="15" name="Text 13"/>
          <p:cNvSpPr/>
          <p:nvPr/>
        </p:nvSpPr>
        <p:spPr>
          <a:xfrm>
            <a:off x="658368" y="1536192"/>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Near-net-shape / better nesting</a:t>
            </a:r>
            <a:endParaRPr lang="en-US" sz="830" dirty="0"/>
          </a:p>
        </p:txBody>
      </p:sp>
      <p:sp>
        <p:nvSpPr>
          <p:cNvPr id="16" name="Text 14"/>
          <p:cNvSpPr/>
          <p:nvPr/>
        </p:nvSpPr>
        <p:spPr>
          <a:xfrm>
            <a:off x="3840480" y="1536192"/>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Material utilisation under 75% — pre-forms or CAD-optimised nesting toward 80–90%</a:t>
            </a:r>
            <a:endParaRPr lang="en-US" sz="810" dirty="0"/>
          </a:p>
        </p:txBody>
      </p:sp>
      <p:sp>
        <p:nvSpPr>
          <p:cNvPr id="17" name="Text 15"/>
          <p:cNvSpPr/>
          <p:nvPr/>
        </p:nvSpPr>
        <p:spPr>
          <a:xfrm>
            <a:off x="8595360" y="1536192"/>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15%</a:t>
            </a:r>
            <a:endParaRPr lang="en-US" sz="860" dirty="0"/>
          </a:p>
        </p:txBody>
      </p:sp>
      <p:sp>
        <p:nvSpPr>
          <p:cNvPr id="18" name="Text 16"/>
          <p:cNvSpPr/>
          <p:nvPr/>
        </p:nvSpPr>
        <p:spPr>
          <a:xfrm>
            <a:off x="9555480" y="1536192"/>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19" name="Text 17"/>
          <p:cNvSpPr/>
          <p:nvPr/>
        </p:nvSpPr>
        <p:spPr>
          <a:xfrm>
            <a:off x="10515600" y="1536192"/>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20" name="Text 18"/>
          <p:cNvSpPr/>
          <p:nvPr/>
        </p:nvSpPr>
        <p:spPr>
          <a:xfrm>
            <a:off x="658368" y="1764792"/>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Alternate material grade study</a:t>
            </a:r>
            <a:endParaRPr lang="en-US" sz="830" dirty="0"/>
          </a:p>
        </p:txBody>
      </p:sp>
      <p:sp>
        <p:nvSpPr>
          <p:cNvPr id="21" name="Text 19"/>
          <p:cNvSpPr/>
          <p:nvPr/>
        </p:nvSpPr>
        <p:spPr>
          <a:xfrm>
            <a:off x="3840480" y="1764792"/>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Metal part with material above 40% of cost — equivalent lower-cost or secondary grade</a:t>
            </a:r>
            <a:endParaRPr lang="en-US" sz="810" dirty="0"/>
          </a:p>
        </p:txBody>
      </p:sp>
      <p:sp>
        <p:nvSpPr>
          <p:cNvPr id="22" name="Text 20"/>
          <p:cNvSpPr/>
          <p:nvPr/>
        </p:nvSpPr>
        <p:spPr>
          <a:xfrm>
            <a:off x="8595360" y="1764792"/>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8%</a:t>
            </a:r>
            <a:endParaRPr lang="en-US" sz="860" dirty="0"/>
          </a:p>
        </p:txBody>
      </p:sp>
      <p:sp>
        <p:nvSpPr>
          <p:cNvPr id="23" name="Text 21"/>
          <p:cNvSpPr/>
          <p:nvPr/>
        </p:nvSpPr>
        <p:spPr>
          <a:xfrm>
            <a:off x="9555480" y="1764792"/>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24" name="Text 22"/>
          <p:cNvSpPr/>
          <p:nvPr/>
        </p:nvSpPr>
        <p:spPr>
          <a:xfrm>
            <a:off x="10515600" y="1764792"/>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25" name="Shape 23"/>
          <p:cNvSpPr/>
          <p:nvPr/>
        </p:nvSpPr>
        <p:spPr>
          <a:xfrm>
            <a:off x="457200" y="1988820"/>
            <a:ext cx="11274552" cy="224028"/>
          </a:xfrm>
          <a:prstGeom prst="rect">
            <a:avLst/>
          </a:prstGeom>
          <a:solidFill>
            <a:srgbClr val="FFFFFF"/>
          </a:solidFill>
          <a:ln/>
        </p:spPr>
      </p:sp>
      <p:sp>
        <p:nvSpPr>
          <p:cNvPr id="26" name="Text 24"/>
          <p:cNvSpPr/>
          <p:nvPr/>
        </p:nvSpPr>
        <p:spPr>
          <a:xfrm>
            <a:off x="658368" y="1993392"/>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Closed-loop regrind of runners</a:t>
            </a:r>
            <a:endParaRPr lang="en-US" sz="830" dirty="0"/>
          </a:p>
        </p:txBody>
      </p:sp>
      <p:sp>
        <p:nvSpPr>
          <p:cNvPr id="27" name="Text 25"/>
          <p:cNvSpPr/>
          <p:nvPr/>
        </p:nvSpPr>
        <p:spPr>
          <a:xfrm>
            <a:off x="3840480" y="1993392"/>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Moulding below 92% utilisation — reprocess runners/trim as a controlled blend</a:t>
            </a:r>
            <a:endParaRPr lang="en-US" sz="810" dirty="0"/>
          </a:p>
        </p:txBody>
      </p:sp>
      <p:sp>
        <p:nvSpPr>
          <p:cNvPr id="28" name="Text 26"/>
          <p:cNvSpPr/>
          <p:nvPr/>
        </p:nvSpPr>
        <p:spPr>
          <a:xfrm>
            <a:off x="8595360" y="1993392"/>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5%</a:t>
            </a:r>
            <a:endParaRPr lang="en-US" sz="860" dirty="0"/>
          </a:p>
        </p:txBody>
      </p:sp>
      <p:sp>
        <p:nvSpPr>
          <p:cNvPr id="29" name="Text 27"/>
          <p:cNvSpPr/>
          <p:nvPr/>
        </p:nvSpPr>
        <p:spPr>
          <a:xfrm>
            <a:off x="9555480" y="1993392"/>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30" name="Text 28"/>
          <p:cNvSpPr/>
          <p:nvPr/>
        </p:nvSpPr>
        <p:spPr>
          <a:xfrm>
            <a:off x="10515600" y="1993392"/>
            <a:ext cx="123444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Quick win</a:t>
            </a:r>
            <a:endParaRPr lang="en-US" sz="810" dirty="0"/>
          </a:p>
        </p:txBody>
      </p:sp>
      <p:sp>
        <p:nvSpPr>
          <p:cNvPr id="31" name="Text 29"/>
          <p:cNvSpPr/>
          <p:nvPr/>
        </p:nvSpPr>
        <p:spPr>
          <a:xfrm>
            <a:off x="658368" y="2221992"/>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Scrap revenue at index prices</a:t>
            </a:r>
            <a:endParaRPr lang="en-US" sz="830" dirty="0"/>
          </a:p>
        </p:txBody>
      </p:sp>
      <p:sp>
        <p:nvSpPr>
          <p:cNvPr id="32" name="Text 30"/>
          <p:cNvSpPr/>
          <p:nvPr/>
        </p:nvSpPr>
        <p:spPr>
          <a:xfrm>
            <a:off x="3840480" y="2221992"/>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Metal cutting below 80% utilisation — claim the scrap credit at LME-linked prices</a:t>
            </a:r>
            <a:endParaRPr lang="en-US" sz="810" dirty="0"/>
          </a:p>
        </p:txBody>
      </p:sp>
      <p:sp>
        <p:nvSpPr>
          <p:cNvPr id="33" name="Text 31"/>
          <p:cNvSpPr/>
          <p:nvPr/>
        </p:nvSpPr>
        <p:spPr>
          <a:xfrm>
            <a:off x="8595360" y="2221992"/>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4%</a:t>
            </a:r>
            <a:endParaRPr lang="en-US" sz="860" dirty="0"/>
          </a:p>
        </p:txBody>
      </p:sp>
      <p:sp>
        <p:nvSpPr>
          <p:cNvPr id="34" name="Text 32"/>
          <p:cNvSpPr/>
          <p:nvPr/>
        </p:nvSpPr>
        <p:spPr>
          <a:xfrm>
            <a:off x="9555480" y="2221992"/>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35" name="Text 33"/>
          <p:cNvSpPr/>
          <p:nvPr/>
        </p:nvSpPr>
        <p:spPr>
          <a:xfrm>
            <a:off x="10515600" y="2221992"/>
            <a:ext cx="123444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Quick win</a:t>
            </a:r>
            <a:endParaRPr lang="en-US" sz="810" dirty="0"/>
          </a:p>
        </p:txBody>
      </p:sp>
      <p:sp>
        <p:nvSpPr>
          <p:cNvPr id="36" name="Shape 34"/>
          <p:cNvSpPr/>
          <p:nvPr/>
        </p:nvSpPr>
        <p:spPr>
          <a:xfrm>
            <a:off x="457200" y="2446020"/>
            <a:ext cx="11274552" cy="224028"/>
          </a:xfrm>
          <a:prstGeom prst="rect">
            <a:avLst/>
          </a:prstGeom>
          <a:solidFill>
            <a:srgbClr val="FFFFFF"/>
          </a:solidFill>
          <a:ln/>
        </p:spPr>
      </p:sp>
      <p:sp>
        <p:nvSpPr>
          <p:cNvPr id="37" name="Text 35"/>
          <p:cNvSpPr/>
          <p:nvPr/>
        </p:nvSpPr>
        <p:spPr>
          <a:xfrm>
            <a:off x="658368" y="2450592"/>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Consumables rationalisation</a:t>
            </a:r>
            <a:endParaRPr lang="en-US" sz="830" dirty="0"/>
          </a:p>
        </p:txBody>
      </p:sp>
      <p:sp>
        <p:nvSpPr>
          <p:cNvPr id="38" name="Text 36"/>
          <p:cNvSpPr/>
          <p:nvPr/>
        </p:nvSpPr>
        <p:spPr>
          <a:xfrm>
            <a:off x="3840480" y="2450592"/>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Cores/patterns/shell above 20% of the material line — count, life and reclaim</a:t>
            </a:r>
            <a:endParaRPr lang="en-US" sz="810" dirty="0"/>
          </a:p>
        </p:txBody>
      </p:sp>
      <p:sp>
        <p:nvSpPr>
          <p:cNvPr id="39" name="Text 37"/>
          <p:cNvSpPr/>
          <p:nvPr/>
        </p:nvSpPr>
        <p:spPr>
          <a:xfrm>
            <a:off x="8595360" y="2450592"/>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6%</a:t>
            </a:r>
            <a:endParaRPr lang="en-US" sz="860" dirty="0"/>
          </a:p>
        </p:txBody>
      </p:sp>
      <p:sp>
        <p:nvSpPr>
          <p:cNvPr id="40" name="Text 38"/>
          <p:cNvSpPr/>
          <p:nvPr/>
        </p:nvSpPr>
        <p:spPr>
          <a:xfrm>
            <a:off x="9555480" y="2450592"/>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41" name="Text 39"/>
          <p:cNvSpPr/>
          <p:nvPr/>
        </p:nvSpPr>
        <p:spPr>
          <a:xfrm>
            <a:off x="10515600" y="2450592"/>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42" name="Shape 40"/>
          <p:cNvSpPr/>
          <p:nvPr/>
        </p:nvSpPr>
        <p:spPr>
          <a:xfrm>
            <a:off x="457200" y="2770632"/>
            <a:ext cx="11274552" cy="219456"/>
          </a:xfrm>
          <a:prstGeom prst="roundRect">
            <a:avLst>
              <a:gd name="adj" fmla="val 20833"/>
            </a:avLst>
          </a:prstGeom>
          <a:solidFill>
            <a:srgbClr val="F1EBF8"/>
          </a:solidFill>
          <a:ln/>
        </p:spPr>
      </p:sp>
      <p:sp>
        <p:nvSpPr>
          <p:cNvPr id="43" name="Text 41"/>
          <p:cNvSpPr/>
          <p:nvPr/>
        </p:nvSpPr>
        <p:spPr>
          <a:xfrm>
            <a:off x="658368" y="2770632"/>
            <a:ext cx="10881360" cy="219456"/>
          </a:xfrm>
          <a:prstGeom prst="rect">
            <a:avLst/>
          </a:prstGeom>
          <a:noFill/>
          <a:ln/>
        </p:spPr>
        <p:txBody>
          <a:bodyPr wrap="square" lIns="0" tIns="0" rIns="0" bIns="0" rtlCol="0" anchor="ctr"/>
          <a:lstStyle/>
          <a:p>
            <a:pPr indent="0" marL="0">
              <a:buNone/>
            </a:pPr>
            <a:r>
              <a:rPr lang="en-US" sz="820" b="1" spc="50" kern="0" dirty="0">
                <a:solidFill>
                  <a:srgbClr val="6B3FA0"/>
                </a:solidFill>
                <a:latin typeface="Calibri" pitchFamily="34" charset="0"/>
                <a:ea typeface="Calibri" pitchFamily="34" charset="-122"/>
                <a:cs typeface="Calibri" pitchFamily="34" charset="-120"/>
              </a:rPr>
              <a:t>DESIGN · 4 LEVERS</a:t>
            </a:r>
            <a:endParaRPr lang="en-US" sz="820" dirty="0"/>
          </a:p>
        </p:txBody>
      </p:sp>
      <p:sp>
        <p:nvSpPr>
          <p:cNvPr id="44" name="Text 42"/>
          <p:cNvSpPr/>
          <p:nvPr/>
        </p:nvSpPr>
        <p:spPr>
          <a:xfrm>
            <a:off x="658368" y="3026664"/>
            <a:ext cx="310896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LEVER</a:t>
            </a:r>
            <a:endParaRPr lang="en-US" sz="760" dirty="0"/>
          </a:p>
        </p:txBody>
      </p:sp>
      <p:sp>
        <p:nvSpPr>
          <p:cNvPr id="45" name="Text 43"/>
          <p:cNvSpPr/>
          <p:nvPr/>
        </p:nvSpPr>
        <p:spPr>
          <a:xfrm>
            <a:off x="3840480" y="3026664"/>
            <a:ext cx="4663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SUGGESTED WHEN</a:t>
            </a:r>
            <a:endParaRPr lang="en-US" sz="760" dirty="0"/>
          </a:p>
        </p:txBody>
      </p:sp>
      <p:sp>
        <p:nvSpPr>
          <p:cNvPr id="46" name="Text 44"/>
          <p:cNvSpPr/>
          <p:nvPr/>
        </p:nvSpPr>
        <p:spPr>
          <a:xfrm>
            <a:off x="8595360" y="3026664"/>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UP TO</a:t>
            </a:r>
            <a:endParaRPr lang="en-US" sz="760" dirty="0"/>
          </a:p>
        </p:txBody>
      </p:sp>
      <p:sp>
        <p:nvSpPr>
          <p:cNvPr id="47" name="Text 45"/>
          <p:cNvSpPr/>
          <p:nvPr/>
        </p:nvSpPr>
        <p:spPr>
          <a:xfrm>
            <a:off x="9555480" y="3026664"/>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RISK</a:t>
            </a:r>
            <a:endParaRPr lang="en-US" sz="760" dirty="0"/>
          </a:p>
        </p:txBody>
      </p:sp>
      <p:sp>
        <p:nvSpPr>
          <p:cNvPr id="48" name="Text 46"/>
          <p:cNvSpPr/>
          <p:nvPr/>
        </p:nvSpPr>
        <p:spPr>
          <a:xfrm>
            <a:off x="10515600" y="3026664"/>
            <a:ext cx="1234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TIMEFRAME</a:t>
            </a:r>
            <a:endParaRPr lang="en-US" sz="760" dirty="0"/>
          </a:p>
        </p:txBody>
      </p:sp>
      <p:sp>
        <p:nvSpPr>
          <p:cNvPr id="49" name="Shape 47"/>
          <p:cNvSpPr/>
          <p:nvPr/>
        </p:nvSpPr>
        <p:spPr>
          <a:xfrm>
            <a:off x="457200" y="3204972"/>
            <a:ext cx="11274552" cy="224028"/>
          </a:xfrm>
          <a:prstGeom prst="rect">
            <a:avLst/>
          </a:prstGeom>
          <a:solidFill>
            <a:srgbClr val="FFFFFF"/>
          </a:solidFill>
          <a:ln/>
        </p:spPr>
      </p:sp>
      <p:sp>
        <p:nvSpPr>
          <p:cNvPr id="50" name="Text 48"/>
          <p:cNvSpPr/>
          <p:nvPr/>
        </p:nvSpPr>
        <p:spPr>
          <a:xfrm>
            <a:off x="658368" y="3209544"/>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Tolerance &amp; finish relaxation</a:t>
            </a:r>
            <a:endParaRPr lang="en-US" sz="830" dirty="0"/>
          </a:p>
        </p:txBody>
      </p:sp>
      <p:sp>
        <p:nvSpPr>
          <p:cNvPr id="51" name="Text 49"/>
          <p:cNvSpPr/>
          <p:nvPr/>
        </p:nvSpPr>
        <p:spPr>
          <a:xfrm>
            <a:off x="3840480" y="3209544"/>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Grinding/honing content, or machining above 35% of cost — challenge the callouts</a:t>
            </a:r>
            <a:endParaRPr lang="en-US" sz="810" dirty="0"/>
          </a:p>
        </p:txBody>
      </p:sp>
      <p:sp>
        <p:nvSpPr>
          <p:cNvPr id="52" name="Text 50"/>
          <p:cNvSpPr/>
          <p:nvPr/>
        </p:nvSpPr>
        <p:spPr>
          <a:xfrm>
            <a:off x="8595360" y="3209544"/>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6%</a:t>
            </a:r>
            <a:endParaRPr lang="en-US" sz="860" dirty="0"/>
          </a:p>
        </p:txBody>
      </p:sp>
      <p:sp>
        <p:nvSpPr>
          <p:cNvPr id="53" name="Text 51"/>
          <p:cNvSpPr/>
          <p:nvPr/>
        </p:nvSpPr>
        <p:spPr>
          <a:xfrm>
            <a:off x="9555480" y="3209544"/>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54" name="Text 52"/>
          <p:cNvSpPr/>
          <p:nvPr/>
        </p:nvSpPr>
        <p:spPr>
          <a:xfrm>
            <a:off x="10515600" y="3209544"/>
            <a:ext cx="123444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Quick win</a:t>
            </a:r>
            <a:endParaRPr lang="en-US" sz="810" dirty="0"/>
          </a:p>
        </p:txBody>
      </p:sp>
      <p:sp>
        <p:nvSpPr>
          <p:cNvPr id="55" name="Text 53"/>
          <p:cNvSpPr/>
          <p:nvPr/>
        </p:nvSpPr>
        <p:spPr>
          <a:xfrm>
            <a:off x="658368" y="3438144"/>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Part-count integration (Boothroyd)</a:t>
            </a:r>
            <a:endParaRPr lang="en-US" sz="830" dirty="0"/>
          </a:p>
        </p:txBody>
      </p:sp>
      <p:sp>
        <p:nvSpPr>
          <p:cNvPr id="56" name="Text 54"/>
          <p:cNvSpPr/>
          <p:nvPr/>
        </p:nvSpPr>
        <p:spPr>
          <a:xfrm>
            <a:off x="3840480" y="3438144"/>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5+ operations on discrete/assembled parts — minimum-part-count test on each</a:t>
            </a:r>
            <a:endParaRPr lang="en-US" sz="810" dirty="0"/>
          </a:p>
        </p:txBody>
      </p:sp>
      <p:sp>
        <p:nvSpPr>
          <p:cNvPr id="57" name="Text 55"/>
          <p:cNvSpPr/>
          <p:nvPr/>
        </p:nvSpPr>
        <p:spPr>
          <a:xfrm>
            <a:off x="8595360" y="3438144"/>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6%</a:t>
            </a:r>
            <a:endParaRPr lang="en-US" sz="860" dirty="0"/>
          </a:p>
        </p:txBody>
      </p:sp>
      <p:sp>
        <p:nvSpPr>
          <p:cNvPr id="58" name="Text 56"/>
          <p:cNvSpPr/>
          <p:nvPr/>
        </p:nvSpPr>
        <p:spPr>
          <a:xfrm>
            <a:off x="9555480" y="3438144"/>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59" name="Text 57"/>
          <p:cNvSpPr/>
          <p:nvPr/>
        </p:nvSpPr>
        <p:spPr>
          <a:xfrm>
            <a:off x="10515600" y="3438144"/>
            <a:ext cx="1234440" cy="219456"/>
          </a:xfrm>
          <a:prstGeom prst="rect">
            <a:avLst/>
          </a:prstGeom>
          <a:noFill/>
          <a:ln/>
        </p:spPr>
        <p:txBody>
          <a:bodyPr wrap="square" lIns="0" tIns="0" rIns="0" bIns="0" rtlCol="0" anchor="ctr"/>
          <a:lstStyle/>
          <a:p>
            <a:pPr indent="0" marL="0">
              <a:buNone/>
            </a:pPr>
            <a:r>
              <a:rPr lang="en-US" sz="810" b="1" dirty="0">
                <a:solidFill>
                  <a:srgbClr val="3A4356"/>
                </a:solidFill>
                <a:latin typeface="Calibri" pitchFamily="34" charset="0"/>
                <a:ea typeface="Calibri" pitchFamily="34" charset="-122"/>
                <a:cs typeface="Calibri" pitchFamily="34" charset="-120"/>
              </a:rPr>
              <a:t>Long term</a:t>
            </a:r>
            <a:endParaRPr lang="en-US" sz="810" dirty="0"/>
          </a:p>
        </p:txBody>
      </p:sp>
      <p:sp>
        <p:nvSpPr>
          <p:cNvPr id="60" name="Shape 58"/>
          <p:cNvSpPr/>
          <p:nvPr/>
        </p:nvSpPr>
        <p:spPr>
          <a:xfrm>
            <a:off x="457200" y="3662172"/>
            <a:ext cx="11274552" cy="224028"/>
          </a:xfrm>
          <a:prstGeom prst="rect">
            <a:avLst/>
          </a:prstGeom>
          <a:solidFill>
            <a:srgbClr val="FFFFFF"/>
          </a:solidFill>
          <a:ln/>
        </p:spPr>
      </p:sp>
      <p:sp>
        <p:nvSpPr>
          <p:cNvPr id="61" name="Text 59"/>
          <p:cNvSpPr/>
          <p:nvPr/>
        </p:nvSpPr>
        <p:spPr>
          <a:xfrm>
            <a:off x="658368" y="3666744"/>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Lightweighting / wall optimisation</a:t>
            </a:r>
            <a:endParaRPr lang="en-US" sz="830" dirty="0"/>
          </a:p>
        </p:txBody>
      </p:sp>
      <p:sp>
        <p:nvSpPr>
          <p:cNvPr id="62" name="Text 60"/>
          <p:cNvSpPr/>
          <p:nvPr/>
        </p:nvSpPr>
        <p:spPr>
          <a:xfrm>
            <a:off x="3840480" y="3666744"/>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Wall-driven process with material above 42% — topology vs the measured geometry</a:t>
            </a:r>
            <a:endParaRPr lang="en-US" sz="810" dirty="0"/>
          </a:p>
        </p:txBody>
      </p:sp>
      <p:sp>
        <p:nvSpPr>
          <p:cNvPr id="63" name="Text 61"/>
          <p:cNvSpPr/>
          <p:nvPr/>
        </p:nvSpPr>
        <p:spPr>
          <a:xfrm>
            <a:off x="8595360" y="3666744"/>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6%</a:t>
            </a:r>
            <a:endParaRPr lang="en-US" sz="860" dirty="0"/>
          </a:p>
        </p:txBody>
      </p:sp>
      <p:sp>
        <p:nvSpPr>
          <p:cNvPr id="64" name="Text 62"/>
          <p:cNvSpPr/>
          <p:nvPr/>
        </p:nvSpPr>
        <p:spPr>
          <a:xfrm>
            <a:off x="9555480" y="3666744"/>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65" name="Text 63"/>
          <p:cNvSpPr/>
          <p:nvPr/>
        </p:nvSpPr>
        <p:spPr>
          <a:xfrm>
            <a:off x="10515600" y="3666744"/>
            <a:ext cx="1234440" cy="219456"/>
          </a:xfrm>
          <a:prstGeom prst="rect">
            <a:avLst/>
          </a:prstGeom>
          <a:noFill/>
          <a:ln/>
        </p:spPr>
        <p:txBody>
          <a:bodyPr wrap="square" lIns="0" tIns="0" rIns="0" bIns="0" rtlCol="0" anchor="ctr"/>
          <a:lstStyle/>
          <a:p>
            <a:pPr indent="0" marL="0">
              <a:buNone/>
            </a:pPr>
            <a:r>
              <a:rPr lang="en-US" sz="810" b="1" dirty="0">
                <a:solidFill>
                  <a:srgbClr val="3A4356"/>
                </a:solidFill>
                <a:latin typeface="Calibri" pitchFamily="34" charset="0"/>
                <a:ea typeface="Calibri" pitchFamily="34" charset="-122"/>
                <a:cs typeface="Calibri" pitchFamily="34" charset="-120"/>
              </a:rPr>
              <a:t>Long term</a:t>
            </a:r>
            <a:endParaRPr lang="en-US" sz="810" dirty="0"/>
          </a:p>
        </p:txBody>
      </p:sp>
      <p:sp>
        <p:nvSpPr>
          <p:cNvPr id="66" name="Text 64"/>
          <p:cNvSpPr/>
          <p:nvPr/>
        </p:nvSpPr>
        <p:spPr>
          <a:xfrm>
            <a:off x="658368" y="3895344"/>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DFM design review (backstop)</a:t>
            </a:r>
            <a:endParaRPr lang="en-US" sz="830" dirty="0"/>
          </a:p>
        </p:txBody>
      </p:sp>
      <p:sp>
        <p:nvSpPr>
          <p:cNvPr id="67" name="Text 65"/>
          <p:cNvSpPr/>
          <p:nvPr/>
        </p:nvSpPr>
        <p:spPr>
          <a:xfrm>
            <a:off x="3840480" y="3895344"/>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Guaranteed whenever fewer than 5 levers have fired</a:t>
            </a:r>
            <a:endParaRPr lang="en-US" sz="810" dirty="0"/>
          </a:p>
        </p:txBody>
      </p:sp>
      <p:sp>
        <p:nvSpPr>
          <p:cNvPr id="68" name="Text 66"/>
          <p:cNvSpPr/>
          <p:nvPr/>
        </p:nvSpPr>
        <p:spPr>
          <a:xfrm>
            <a:off x="8595360" y="3895344"/>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5%</a:t>
            </a:r>
            <a:endParaRPr lang="en-US" sz="860" dirty="0"/>
          </a:p>
        </p:txBody>
      </p:sp>
      <p:sp>
        <p:nvSpPr>
          <p:cNvPr id="69" name="Text 67"/>
          <p:cNvSpPr/>
          <p:nvPr/>
        </p:nvSpPr>
        <p:spPr>
          <a:xfrm>
            <a:off x="9555480" y="3895344"/>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70" name="Text 68"/>
          <p:cNvSpPr/>
          <p:nvPr/>
        </p:nvSpPr>
        <p:spPr>
          <a:xfrm>
            <a:off x="10515600" y="3895344"/>
            <a:ext cx="123444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Quick win</a:t>
            </a:r>
            <a:endParaRPr lang="en-US" sz="810" dirty="0"/>
          </a:p>
        </p:txBody>
      </p:sp>
      <p:sp>
        <p:nvSpPr>
          <p:cNvPr id="71" name="Shape 69"/>
          <p:cNvSpPr/>
          <p:nvPr/>
        </p:nvSpPr>
        <p:spPr>
          <a:xfrm>
            <a:off x="457200" y="4215384"/>
            <a:ext cx="11274552" cy="219456"/>
          </a:xfrm>
          <a:prstGeom prst="roundRect">
            <a:avLst>
              <a:gd name="adj" fmla="val 20833"/>
            </a:avLst>
          </a:prstGeom>
          <a:solidFill>
            <a:srgbClr val="E8F1FA"/>
          </a:solidFill>
          <a:ln/>
        </p:spPr>
      </p:sp>
      <p:sp>
        <p:nvSpPr>
          <p:cNvPr id="72" name="Text 70"/>
          <p:cNvSpPr/>
          <p:nvPr/>
        </p:nvSpPr>
        <p:spPr>
          <a:xfrm>
            <a:off x="658368" y="4215384"/>
            <a:ext cx="10881360" cy="219456"/>
          </a:xfrm>
          <a:prstGeom prst="rect">
            <a:avLst/>
          </a:prstGeom>
          <a:noFill/>
          <a:ln/>
        </p:spPr>
        <p:txBody>
          <a:bodyPr wrap="square" lIns="0" tIns="0" rIns="0" bIns="0" rtlCol="0" anchor="ctr"/>
          <a:lstStyle/>
          <a:p>
            <a:pPr indent="0" marL="0">
              <a:buNone/>
            </a:pPr>
            <a:r>
              <a:rPr lang="en-US" sz="820" b="1" spc="50" kern="0" dirty="0">
                <a:solidFill>
                  <a:srgbClr val="1D6FB8"/>
                </a:solidFill>
                <a:latin typeface="Calibri" pitchFamily="34" charset="0"/>
                <a:ea typeface="Calibri" pitchFamily="34" charset="-122"/>
                <a:cs typeface="Calibri" pitchFamily="34" charset="-120"/>
              </a:rPr>
              <a:t>PROCESS · 7 LEVERS</a:t>
            </a:r>
            <a:endParaRPr lang="en-US" sz="820" dirty="0"/>
          </a:p>
        </p:txBody>
      </p:sp>
      <p:sp>
        <p:nvSpPr>
          <p:cNvPr id="73" name="Text 71"/>
          <p:cNvSpPr/>
          <p:nvPr/>
        </p:nvSpPr>
        <p:spPr>
          <a:xfrm>
            <a:off x="658368" y="4471416"/>
            <a:ext cx="310896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LEVER</a:t>
            </a:r>
            <a:endParaRPr lang="en-US" sz="760" dirty="0"/>
          </a:p>
        </p:txBody>
      </p:sp>
      <p:sp>
        <p:nvSpPr>
          <p:cNvPr id="74" name="Text 72"/>
          <p:cNvSpPr/>
          <p:nvPr/>
        </p:nvSpPr>
        <p:spPr>
          <a:xfrm>
            <a:off x="3840480" y="4471416"/>
            <a:ext cx="4663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SUGGESTED WHEN</a:t>
            </a:r>
            <a:endParaRPr lang="en-US" sz="760" dirty="0"/>
          </a:p>
        </p:txBody>
      </p:sp>
      <p:sp>
        <p:nvSpPr>
          <p:cNvPr id="75" name="Text 73"/>
          <p:cNvSpPr/>
          <p:nvPr/>
        </p:nvSpPr>
        <p:spPr>
          <a:xfrm>
            <a:off x="8595360" y="4471416"/>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UP TO</a:t>
            </a:r>
            <a:endParaRPr lang="en-US" sz="760" dirty="0"/>
          </a:p>
        </p:txBody>
      </p:sp>
      <p:sp>
        <p:nvSpPr>
          <p:cNvPr id="76" name="Text 74"/>
          <p:cNvSpPr/>
          <p:nvPr/>
        </p:nvSpPr>
        <p:spPr>
          <a:xfrm>
            <a:off x="9555480" y="4471416"/>
            <a:ext cx="86868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RISK</a:t>
            </a:r>
            <a:endParaRPr lang="en-US" sz="760" dirty="0"/>
          </a:p>
        </p:txBody>
      </p:sp>
      <p:sp>
        <p:nvSpPr>
          <p:cNvPr id="77" name="Text 75"/>
          <p:cNvSpPr/>
          <p:nvPr/>
        </p:nvSpPr>
        <p:spPr>
          <a:xfrm>
            <a:off x="10515600" y="4471416"/>
            <a:ext cx="1234440" cy="164592"/>
          </a:xfrm>
          <a:prstGeom prst="rect">
            <a:avLst/>
          </a:prstGeom>
          <a:noFill/>
          <a:ln/>
        </p:spPr>
        <p:txBody>
          <a:bodyPr wrap="square" lIns="0" tIns="0" rIns="0" bIns="0" rtlCol="0" anchor="ctr"/>
          <a:lstStyle/>
          <a:p>
            <a:pPr indent="0" marL="0">
              <a:buNone/>
            </a:pPr>
            <a:r>
              <a:rPr lang="en-US" sz="760" b="1" spc="40" kern="0" dirty="0">
                <a:solidFill>
                  <a:srgbClr val="686F7D"/>
                </a:solidFill>
                <a:latin typeface="Calibri" pitchFamily="34" charset="0"/>
                <a:ea typeface="Calibri" pitchFamily="34" charset="-122"/>
                <a:cs typeface="Calibri" pitchFamily="34" charset="-120"/>
              </a:rPr>
              <a:t>TIMEFRAME</a:t>
            </a:r>
            <a:endParaRPr lang="en-US" sz="760" dirty="0"/>
          </a:p>
        </p:txBody>
      </p:sp>
      <p:sp>
        <p:nvSpPr>
          <p:cNvPr id="78" name="Shape 76"/>
          <p:cNvSpPr/>
          <p:nvPr/>
        </p:nvSpPr>
        <p:spPr>
          <a:xfrm>
            <a:off x="457200" y="4649724"/>
            <a:ext cx="11274552" cy="224028"/>
          </a:xfrm>
          <a:prstGeom prst="rect">
            <a:avLst/>
          </a:prstGeom>
          <a:solidFill>
            <a:srgbClr val="FFFFFF"/>
          </a:solidFill>
          <a:ln/>
        </p:spPr>
      </p:sp>
      <p:sp>
        <p:nvSpPr>
          <p:cNvPr id="79" name="Text 77"/>
          <p:cNvSpPr/>
          <p:nvPr/>
        </p:nvSpPr>
        <p:spPr>
          <a:xfrm>
            <a:off x="658368" y="46542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Automate high-labour operations</a:t>
            </a:r>
            <a:endParaRPr lang="en-US" sz="830" dirty="0"/>
          </a:p>
        </p:txBody>
      </p:sp>
      <p:sp>
        <p:nvSpPr>
          <p:cNvPr id="80" name="Text 78"/>
          <p:cNvSpPr/>
          <p:nvPr/>
        </p:nvSpPr>
        <p:spPr>
          <a:xfrm>
            <a:off x="3840480" y="46542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Labour above 30% of part cost — cobots or hard automation on repetitive tasks</a:t>
            </a:r>
            <a:endParaRPr lang="en-US" sz="810" dirty="0"/>
          </a:p>
        </p:txBody>
      </p:sp>
      <p:sp>
        <p:nvSpPr>
          <p:cNvPr id="81" name="Text 79"/>
          <p:cNvSpPr/>
          <p:nvPr/>
        </p:nvSpPr>
        <p:spPr>
          <a:xfrm>
            <a:off x="8595360" y="46542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20%</a:t>
            </a:r>
            <a:endParaRPr lang="en-US" sz="860" dirty="0"/>
          </a:p>
        </p:txBody>
      </p:sp>
      <p:sp>
        <p:nvSpPr>
          <p:cNvPr id="82" name="Text 80"/>
          <p:cNvSpPr/>
          <p:nvPr/>
        </p:nvSpPr>
        <p:spPr>
          <a:xfrm>
            <a:off x="9555480" y="4654296"/>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83" name="Text 81"/>
          <p:cNvSpPr/>
          <p:nvPr/>
        </p:nvSpPr>
        <p:spPr>
          <a:xfrm>
            <a:off x="10515600" y="4654296"/>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84" name="Text 82"/>
          <p:cNvSpPr/>
          <p:nvPr/>
        </p:nvSpPr>
        <p:spPr>
          <a:xfrm>
            <a:off x="658368" y="48828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Multi-axis consolidation OR re-quote</a:t>
            </a:r>
            <a:endParaRPr lang="en-US" sz="830" dirty="0"/>
          </a:p>
        </p:txBody>
      </p:sp>
      <p:sp>
        <p:nvSpPr>
          <p:cNvPr id="85" name="Text 83"/>
          <p:cNvSpPr/>
          <p:nvPr/>
        </p:nvSpPr>
        <p:spPr>
          <a:xfrm>
            <a:off x="3840480" y="48828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Split routing — the optimiser prices both directions and recommends the winner</a:t>
            </a:r>
            <a:endParaRPr lang="en-US" sz="810" dirty="0"/>
          </a:p>
        </p:txBody>
      </p:sp>
      <p:sp>
        <p:nvSpPr>
          <p:cNvPr id="86" name="Text 84"/>
          <p:cNvSpPr/>
          <p:nvPr/>
        </p:nvSpPr>
        <p:spPr>
          <a:xfrm>
            <a:off x="8595360" y="48828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20%</a:t>
            </a:r>
            <a:endParaRPr lang="en-US" sz="860" dirty="0"/>
          </a:p>
        </p:txBody>
      </p:sp>
      <p:sp>
        <p:nvSpPr>
          <p:cNvPr id="87" name="Text 85"/>
          <p:cNvSpPr/>
          <p:nvPr/>
        </p:nvSpPr>
        <p:spPr>
          <a:xfrm>
            <a:off x="9555480" y="4882896"/>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88" name="Text 86"/>
          <p:cNvSpPr/>
          <p:nvPr/>
        </p:nvSpPr>
        <p:spPr>
          <a:xfrm>
            <a:off x="10515600" y="4882896"/>
            <a:ext cx="1234440" cy="219456"/>
          </a:xfrm>
          <a:prstGeom prst="rect">
            <a:avLst/>
          </a:prstGeom>
          <a:noFill/>
          <a:ln/>
        </p:spPr>
        <p:txBody>
          <a:bodyPr wrap="square" lIns="0" tIns="0" rIns="0" bIns="0" rtlCol="0" anchor="ctr"/>
          <a:lstStyle/>
          <a:p>
            <a:pPr indent="0" marL="0">
              <a:buNone/>
            </a:pPr>
            <a:r>
              <a:rPr lang="en-US" sz="810" b="1" dirty="0">
                <a:solidFill>
                  <a:srgbClr val="3A4356"/>
                </a:solidFill>
                <a:latin typeface="Calibri" pitchFamily="34" charset="0"/>
                <a:ea typeface="Calibri" pitchFamily="34" charset="-122"/>
                <a:cs typeface="Calibri" pitchFamily="34" charset="-120"/>
              </a:rPr>
              <a:t>Quick/Long</a:t>
            </a:r>
            <a:endParaRPr lang="en-US" sz="810" dirty="0"/>
          </a:p>
        </p:txBody>
      </p:sp>
      <p:sp>
        <p:nvSpPr>
          <p:cNvPr id="89" name="Shape 87"/>
          <p:cNvSpPr/>
          <p:nvPr/>
        </p:nvSpPr>
        <p:spPr>
          <a:xfrm>
            <a:off x="457200" y="5106924"/>
            <a:ext cx="11274552" cy="224028"/>
          </a:xfrm>
          <a:prstGeom prst="rect">
            <a:avLst/>
          </a:prstGeom>
          <a:solidFill>
            <a:srgbClr val="FFFFFF"/>
          </a:solidFill>
          <a:ln/>
        </p:spPr>
      </p:sp>
      <p:sp>
        <p:nvSpPr>
          <p:cNvPr id="90" name="Text 88"/>
          <p:cNvSpPr/>
          <p:nvPr/>
        </p:nvSpPr>
        <p:spPr>
          <a:xfrm>
            <a:off x="658368" y="51114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Multi-cavity / multi-up tooling</a:t>
            </a:r>
            <a:endParaRPr lang="en-US" sz="830" dirty="0"/>
          </a:p>
        </p:txBody>
      </p:sp>
      <p:sp>
        <p:nvSpPr>
          <p:cNvPr id="91" name="Text 89"/>
          <p:cNvSpPr/>
          <p:nvPr/>
        </p:nvSpPr>
        <p:spPr>
          <a:xfrm>
            <a:off x="3840480" y="51114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Single-cavity moulding or die casting — cavitation halves machine minutes per part</a:t>
            </a:r>
            <a:endParaRPr lang="en-US" sz="810" dirty="0"/>
          </a:p>
        </p:txBody>
      </p:sp>
      <p:sp>
        <p:nvSpPr>
          <p:cNvPr id="92" name="Text 90"/>
          <p:cNvSpPr/>
          <p:nvPr/>
        </p:nvSpPr>
        <p:spPr>
          <a:xfrm>
            <a:off x="8595360" y="51114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12%</a:t>
            </a:r>
            <a:endParaRPr lang="en-US" sz="860" dirty="0"/>
          </a:p>
        </p:txBody>
      </p:sp>
      <p:sp>
        <p:nvSpPr>
          <p:cNvPr id="93" name="Text 91"/>
          <p:cNvSpPr/>
          <p:nvPr/>
        </p:nvSpPr>
        <p:spPr>
          <a:xfrm>
            <a:off x="9555480" y="5111496"/>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94" name="Text 92"/>
          <p:cNvSpPr/>
          <p:nvPr/>
        </p:nvSpPr>
        <p:spPr>
          <a:xfrm>
            <a:off x="10515600" y="5111496"/>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95" name="Text 93"/>
          <p:cNvSpPr/>
          <p:nvPr/>
        </p:nvSpPr>
        <p:spPr>
          <a:xfrm>
            <a:off x="658368" y="53400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OEE improvement programme (TPM)</a:t>
            </a:r>
            <a:endParaRPr lang="en-US" sz="830" dirty="0"/>
          </a:p>
        </p:txBody>
      </p:sp>
      <p:sp>
        <p:nvSpPr>
          <p:cNvPr id="96" name="Text 94"/>
          <p:cNvSpPr/>
          <p:nvPr/>
        </p:nvSpPr>
        <p:spPr>
          <a:xfrm>
            <a:off x="3840480" y="53400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OEE under 82% — maintenance and changeover toward the 85% mark</a:t>
            </a:r>
            <a:endParaRPr lang="en-US" sz="810" dirty="0"/>
          </a:p>
        </p:txBody>
      </p:sp>
      <p:sp>
        <p:nvSpPr>
          <p:cNvPr id="97" name="Text 95"/>
          <p:cNvSpPr/>
          <p:nvPr/>
        </p:nvSpPr>
        <p:spPr>
          <a:xfrm>
            <a:off x="8595360" y="53400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12%</a:t>
            </a:r>
            <a:endParaRPr lang="en-US" sz="860" dirty="0"/>
          </a:p>
        </p:txBody>
      </p:sp>
      <p:sp>
        <p:nvSpPr>
          <p:cNvPr id="98" name="Text 96"/>
          <p:cNvSpPr/>
          <p:nvPr/>
        </p:nvSpPr>
        <p:spPr>
          <a:xfrm>
            <a:off x="9555480" y="5340096"/>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99" name="Text 97"/>
          <p:cNvSpPr/>
          <p:nvPr/>
        </p:nvSpPr>
        <p:spPr>
          <a:xfrm>
            <a:off x="10515600" y="5340096"/>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100" name="Shape 98"/>
          <p:cNvSpPr/>
          <p:nvPr/>
        </p:nvSpPr>
        <p:spPr>
          <a:xfrm>
            <a:off x="457200" y="5564124"/>
            <a:ext cx="11274552" cy="224028"/>
          </a:xfrm>
          <a:prstGeom prst="rect">
            <a:avLst/>
          </a:prstGeom>
          <a:solidFill>
            <a:srgbClr val="FFFFFF"/>
          </a:solidFill>
          <a:ln/>
        </p:spPr>
      </p:sp>
      <p:sp>
        <p:nvSpPr>
          <p:cNvPr id="101" name="Text 99"/>
          <p:cNvSpPr/>
          <p:nvPr/>
        </p:nvSpPr>
        <p:spPr>
          <a:xfrm>
            <a:off x="658368" y="55686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Attack the bottleneck (named op)</a:t>
            </a:r>
            <a:endParaRPr lang="en-US" sz="830" dirty="0"/>
          </a:p>
        </p:txBody>
      </p:sp>
      <p:sp>
        <p:nvSpPr>
          <p:cNvPr id="102" name="Text 100"/>
          <p:cNvSpPr/>
          <p:nvPr/>
        </p:nvSpPr>
        <p:spPr>
          <a:xfrm>
            <a:off x="3840480" y="55686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One operation carries over 50% of conversion cost — it is named in the finding</a:t>
            </a:r>
            <a:endParaRPr lang="en-US" sz="810" dirty="0"/>
          </a:p>
        </p:txBody>
      </p:sp>
      <p:sp>
        <p:nvSpPr>
          <p:cNvPr id="103" name="Text 101"/>
          <p:cNvSpPr/>
          <p:nvPr/>
        </p:nvSpPr>
        <p:spPr>
          <a:xfrm>
            <a:off x="8595360" y="55686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8%</a:t>
            </a:r>
            <a:endParaRPr lang="en-US" sz="860" dirty="0"/>
          </a:p>
        </p:txBody>
      </p:sp>
      <p:sp>
        <p:nvSpPr>
          <p:cNvPr id="104" name="Text 102"/>
          <p:cNvSpPr/>
          <p:nvPr/>
        </p:nvSpPr>
        <p:spPr>
          <a:xfrm>
            <a:off x="9555480" y="5568696"/>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105" name="Text 103"/>
          <p:cNvSpPr/>
          <p:nvPr/>
        </p:nvSpPr>
        <p:spPr>
          <a:xfrm>
            <a:off x="10515600" y="5568696"/>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106" name="Text 104"/>
          <p:cNvSpPr/>
          <p:nvPr/>
        </p:nvSpPr>
        <p:spPr>
          <a:xfrm>
            <a:off x="658368" y="57972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Unmanned / lights-out running</a:t>
            </a:r>
            <a:endParaRPr lang="en-US" sz="830" dirty="0"/>
          </a:p>
        </p:txBody>
      </p:sp>
      <p:sp>
        <p:nvSpPr>
          <p:cNvPr id="107" name="Text 105"/>
          <p:cNvSpPr/>
          <p:nvPr/>
        </p:nvSpPr>
        <p:spPr>
          <a:xfrm>
            <a:off x="3840480" y="57972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Machine-paced machining, labour above 12%, OEE healthy — run a ghost shift</a:t>
            </a:r>
            <a:endParaRPr lang="en-US" sz="810" dirty="0"/>
          </a:p>
        </p:txBody>
      </p:sp>
      <p:sp>
        <p:nvSpPr>
          <p:cNvPr id="108" name="Text 106"/>
          <p:cNvSpPr/>
          <p:nvPr/>
        </p:nvSpPr>
        <p:spPr>
          <a:xfrm>
            <a:off x="8595360" y="57972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6%</a:t>
            </a:r>
            <a:endParaRPr lang="en-US" sz="860" dirty="0"/>
          </a:p>
        </p:txBody>
      </p:sp>
      <p:sp>
        <p:nvSpPr>
          <p:cNvPr id="109" name="Text 107"/>
          <p:cNvSpPr/>
          <p:nvPr/>
        </p:nvSpPr>
        <p:spPr>
          <a:xfrm>
            <a:off x="9555480" y="5797296"/>
            <a:ext cx="86868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a:t>
            </a:r>
            <a:endParaRPr lang="en-US" sz="810" dirty="0"/>
          </a:p>
        </p:txBody>
      </p:sp>
      <p:sp>
        <p:nvSpPr>
          <p:cNvPr id="110" name="Text 108"/>
          <p:cNvSpPr/>
          <p:nvPr/>
        </p:nvSpPr>
        <p:spPr>
          <a:xfrm>
            <a:off x="10515600" y="5797296"/>
            <a:ext cx="1234440" cy="219456"/>
          </a:xfrm>
          <a:prstGeom prst="rect">
            <a:avLst/>
          </a:prstGeom>
          <a:noFill/>
          <a:ln/>
        </p:spPr>
        <p:txBody>
          <a:bodyPr wrap="square" lIns="0" tIns="0" rIns="0" bIns="0" rtlCol="0" anchor="ctr"/>
          <a:lstStyle/>
          <a:p>
            <a:pPr indent="0" marL="0">
              <a:buNone/>
            </a:pPr>
            <a:r>
              <a:rPr lang="en-US" sz="810" b="1" dirty="0">
                <a:solidFill>
                  <a:srgbClr val="99651A"/>
                </a:solidFill>
                <a:latin typeface="Calibri" pitchFamily="34" charset="0"/>
                <a:ea typeface="Calibri" pitchFamily="34" charset="-122"/>
                <a:cs typeface="Calibri" pitchFamily="34" charset="-120"/>
              </a:rPr>
              <a:t>Medium term</a:t>
            </a:r>
            <a:endParaRPr lang="en-US" sz="810" dirty="0"/>
          </a:p>
        </p:txBody>
      </p:sp>
      <p:sp>
        <p:nvSpPr>
          <p:cNvPr id="111" name="Shape 109"/>
          <p:cNvSpPr/>
          <p:nvPr/>
        </p:nvSpPr>
        <p:spPr>
          <a:xfrm>
            <a:off x="457200" y="6021324"/>
            <a:ext cx="11274552" cy="224028"/>
          </a:xfrm>
          <a:prstGeom prst="rect">
            <a:avLst/>
          </a:prstGeom>
          <a:solidFill>
            <a:srgbClr val="FFFFFF"/>
          </a:solidFill>
          <a:ln/>
        </p:spPr>
      </p:sp>
      <p:sp>
        <p:nvSpPr>
          <p:cNvPr id="112" name="Text 110"/>
          <p:cNvSpPr/>
          <p:nvPr/>
        </p:nvSpPr>
        <p:spPr>
          <a:xfrm>
            <a:off x="658368" y="6025896"/>
            <a:ext cx="3108960" cy="219456"/>
          </a:xfrm>
          <a:prstGeom prst="rect">
            <a:avLst/>
          </a:prstGeom>
          <a:noFill/>
          <a:ln/>
        </p:spPr>
        <p:txBody>
          <a:bodyPr wrap="square" lIns="0" tIns="0" rIns="0" bIns="0" rtlCol="0" anchor="ctr"/>
          <a:lstStyle/>
          <a:p>
            <a:pPr indent="0" marL="0">
              <a:buNone/>
            </a:pPr>
            <a:r>
              <a:rPr lang="en-US" sz="830" b="1" dirty="0">
                <a:solidFill>
                  <a:srgbClr val="16325C"/>
                </a:solidFill>
                <a:latin typeface="Calibri" pitchFamily="34" charset="0"/>
                <a:ea typeface="Calibri" pitchFamily="34" charset="-122"/>
                <a:cs typeface="Calibri" pitchFamily="34" charset="-120"/>
              </a:rPr>
              <a:t>Multi-machine manning</a:t>
            </a:r>
            <a:endParaRPr lang="en-US" sz="830" dirty="0"/>
          </a:p>
        </p:txBody>
      </p:sp>
      <p:sp>
        <p:nvSpPr>
          <p:cNvPr id="113" name="Text 111"/>
          <p:cNvSpPr/>
          <p:nvPr/>
        </p:nvSpPr>
        <p:spPr>
          <a:xfrm>
            <a:off x="3840480" y="6025896"/>
            <a:ext cx="4663440" cy="219456"/>
          </a:xfrm>
          <a:prstGeom prst="rect">
            <a:avLst/>
          </a:prstGeom>
          <a:noFill/>
          <a:ln/>
        </p:spPr>
        <p:txBody>
          <a:bodyPr wrap="square" lIns="0" tIns="0" rIns="0" bIns="0" rtlCol="0" anchor="ctr"/>
          <a:lstStyle/>
          <a:p>
            <a:pPr indent="0" marL="0">
              <a:buNone/>
            </a:pPr>
            <a:r>
              <a:rPr lang="en-US" sz="810" dirty="0">
                <a:solidFill>
                  <a:srgbClr val="3A4356"/>
                </a:solidFill>
                <a:latin typeface="Calibri" pitchFamily="34" charset="0"/>
                <a:ea typeface="Calibri" pitchFamily="34" charset="-122"/>
                <a:cs typeface="Calibri" pitchFamily="34" charset="-120"/>
              </a:rPr>
              <a:t>Machine paces the cycle but each machine carries an operator — go 1:2</a:t>
            </a:r>
            <a:endParaRPr lang="en-US" sz="810" dirty="0"/>
          </a:p>
        </p:txBody>
      </p:sp>
      <p:sp>
        <p:nvSpPr>
          <p:cNvPr id="114" name="Text 112"/>
          <p:cNvSpPr/>
          <p:nvPr/>
        </p:nvSpPr>
        <p:spPr>
          <a:xfrm>
            <a:off x="8595360" y="6025896"/>
            <a:ext cx="868680" cy="219456"/>
          </a:xfrm>
          <a:prstGeom prst="rect">
            <a:avLst/>
          </a:prstGeom>
          <a:noFill/>
          <a:ln/>
        </p:spPr>
        <p:txBody>
          <a:bodyPr wrap="square" lIns="0" tIns="0" rIns="0" bIns="0" rtlCol="0" anchor="ctr"/>
          <a:lstStyle/>
          <a:p>
            <a:pPr indent="0" marL="0">
              <a:buNone/>
            </a:pPr>
            <a:r>
              <a:rPr lang="en-US" sz="860" b="1" dirty="0">
                <a:solidFill>
                  <a:srgbClr val="0D7D71"/>
                </a:solidFill>
                <a:latin typeface="Calibri" pitchFamily="34" charset="0"/>
                <a:ea typeface="Calibri" pitchFamily="34" charset="-122"/>
                <a:cs typeface="Calibri" pitchFamily="34" charset="-120"/>
              </a:rPr>
              <a:t>5%</a:t>
            </a:r>
            <a:endParaRPr lang="en-US" sz="860" dirty="0"/>
          </a:p>
        </p:txBody>
      </p:sp>
      <p:sp>
        <p:nvSpPr>
          <p:cNvPr id="115" name="Text 113"/>
          <p:cNvSpPr/>
          <p:nvPr/>
        </p:nvSpPr>
        <p:spPr>
          <a:xfrm>
            <a:off x="9555480" y="6025896"/>
            <a:ext cx="86868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Low</a:t>
            </a:r>
            <a:endParaRPr lang="en-US" sz="810" dirty="0"/>
          </a:p>
        </p:txBody>
      </p:sp>
      <p:sp>
        <p:nvSpPr>
          <p:cNvPr id="116" name="Text 114"/>
          <p:cNvSpPr/>
          <p:nvPr/>
        </p:nvSpPr>
        <p:spPr>
          <a:xfrm>
            <a:off x="10515600" y="6025896"/>
            <a:ext cx="1234440" cy="219456"/>
          </a:xfrm>
          <a:prstGeom prst="rect">
            <a:avLst/>
          </a:prstGeom>
          <a:noFill/>
          <a:ln/>
        </p:spPr>
        <p:txBody>
          <a:bodyPr wrap="square" lIns="0" tIns="0" rIns="0" bIns="0" rtlCol="0" anchor="ctr"/>
          <a:lstStyle/>
          <a:p>
            <a:pPr indent="0" marL="0">
              <a:buNone/>
            </a:pPr>
            <a:r>
              <a:rPr lang="en-US" sz="810" b="1" dirty="0">
                <a:solidFill>
                  <a:srgbClr val="2A7F50"/>
                </a:solidFill>
                <a:latin typeface="Calibri" pitchFamily="34" charset="0"/>
                <a:ea typeface="Calibri" pitchFamily="34" charset="-122"/>
                <a:cs typeface="Calibri" pitchFamily="34" charset="-120"/>
              </a:rPr>
              <a:t>Quick win</a:t>
            </a:r>
            <a:endParaRPr lang="en-US" sz="810" dirty="0"/>
          </a:p>
        </p:txBody>
      </p:sp>
      <p:sp>
        <p:nvSpPr>
          <p:cNvPr id="117" name="Text 115"/>
          <p:cNvSpPr/>
          <p:nvPr/>
        </p:nvSpPr>
        <p:spPr>
          <a:xfrm>
            <a:off x="457200" y="6263640"/>
            <a:ext cx="11274552" cy="219456"/>
          </a:xfrm>
          <a:prstGeom prst="rect">
            <a:avLst/>
          </a:prstGeom>
          <a:noFill/>
          <a:ln/>
        </p:spPr>
        <p:txBody>
          <a:bodyPr wrap="square" lIns="0" tIns="0" rIns="0" bIns="0" rtlCol="0" anchor="ctr"/>
          <a:lstStyle/>
          <a:p>
            <a:pPr indent="0" marL="0">
              <a:buNone/>
            </a:pPr>
            <a:r>
              <a:rPr lang="en-US" sz="820" i="1" dirty="0">
                <a:solidFill>
                  <a:srgbClr val="686F7D"/>
                </a:solidFill>
                <a:latin typeface="Calibri" pitchFamily="34" charset="0"/>
                <a:ea typeface="Calibri" pitchFamily="34" charset="-122"/>
                <a:cs typeface="Calibri" pitchFamily="34" charset="-120"/>
              </a:rPr>
              <a:t>"Up to" is each lever’s cap — the actual figure is computed from the part’s own numbers, and the list is returned ranked, biggest saving first.</a:t>
            </a:r>
            <a:endParaRPr lang="en-US" sz="820" dirty="0"/>
          </a:p>
        </p:txBody>
      </p:sp>
      <p:sp>
        <p:nvSpPr>
          <p:cNvPr id="118" name="Text 116"/>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119" name="Text 117"/>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54</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Idea Generation 2 of 2 — Completing the 360°</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This slide: tooling, packaging &amp; logistics, commercial, quality, sustainability</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024128"/>
            <a:ext cx="11274552" cy="182880"/>
          </a:xfrm>
          <a:prstGeom prst="roundRect">
            <a:avLst>
              <a:gd name="adj" fmla="val 25000"/>
            </a:avLst>
          </a:prstGeom>
          <a:solidFill>
            <a:srgbClr val="FCF3E3"/>
          </a:solidFill>
          <a:ln/>
        </p:spPr>
      </p:sp>
      <p:sp>
        <p:nvSpPr>
          <p:cNvPr id="8" name="Text 6"/>
          <p:cNvSpPr/>
          <p:nvPr/>
        </p:nvSpPr>
        <p:spPr>
          <a:xfrm>
            <a:off x="658368" y="1024128"/>
            <a:ext cx="10881360" cy="182880"/>
          </a:xfrm>
          <a:prstGeom prst="rect">
            <a:avLst/>
          </a:prstGeom>
          <a:noFill/>
          <a:ln/>
        </p:spPr>
        <p:txBody>
          <a:bodyPr wrap="square" lIns="0" tIns="0" rIns="0" bIns="0" rtlCol="0" anchor="ctr"/>
          <a:lstStyle/>
          <a:p>
            <a:pPr indent="0" marL="0">
              <a:buNone/>
            </a:pPr>
            <a:r>
              <a:rPr lang="en-US" sz="780" b="1" spc="50" kern="0" dirty="0">
                <a:solidFill>
                  <a:srgbClr val="99651A"/>
                </a:solidFill>
                <a:latin typeface="Calibri" pitchFamily="34" charset="0"/>
                <a:ea typeface="Calibri" pitchFamily="34" charset="-122"/>
                <a:cs typeface="Calibri" pitchFamily="34" charset="-120"/>
              </a:rPr>
              <a:t>TOOLING · 4 LEVERS</a:t>
            </a:r>
            <a:endParaRPr lang="en-US" sz="780" dirty="0"/>
          </a:p>
        </p:txBody>
      </p:sp>
      <p:sp>
        <p:nvSpPr>
          <p:cNvPr id="9" name="Shape 7"/>
          <p:cNvSpPr/>
          <p:nvPr/>
        </p:nvSpPr>
        <p:spPr>
          <a:xfrm>
            <a:off x="457200" y="1239012"/>
            <a:ext cx="11274552" cy="196596"/>
          </a:xfrm>
          <a:prstGeom prst="rect">
            <a:avLst/>
          </a:prstGeom>
          <a:solidFill>
            <a:srgbClr val="FFFFFF"/>
          </a:solidFill>
          <a:ln/>
        </p:spPr>
      </p:sp>
      <p:sp>
        <p:nvSpPr>
          <p:cNvPr id="10" name="Text 8"/>
          <p:cNvSpPr/>
          <p:nvPr/>
        </p:nvSpPr>
        <p:spPr>
          <a:xfrm>
            <a:off x="658368" y="1243584"/>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Volume increase to dilute NRE</a:t>
            </a:r>
            <a:endParaRPr lang="en-US" sz="800" dirty="0"/>
          </a:p>
        </p:txBody>
      </p:sp>
      <p:sp>
        <p:nvSpPr>
          <p:cNvPr id="11" name="Text 9"/>
          <p:cNvSpPr/>
          <p:nvPr/>
        </p:nvSpPr>
        <p:spPr>
          <a:xfrm>
            <a:off x="3840480" y="1243584"/>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Tooling above 12% of part cost — doubling volume halves tooling per part</a:t>
            </a:r>
            <a:endParaRPr lang="en-US" sz="790" dirty="0"/>
          </a:p>
        </p:txBody>
      </p:sp>
      <p:sp>
        <p:nvSpPr>
          <p:cNvPr id="12" name="Text 10"/>
          <p:cNvSpPr/>
          <p:nvPr/>
        </p:nvSpPr>
        <p:spPr>
          <a:xfrm>
            <a:off x="8595360" y="1243584"/>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10%</a:t>
            </a:r>
            <a:endParaRPr lang="en-US" sz="830" dirty="0"/>
          </a:p>
        </p:txBody>
      </p:sp>
      <p:sp>
        <p:nvSpPr>
          <p:cNvPr id="13" name="Text 11"/>
          <p:cNvSpPr/>
          <p:nvPr/>
        </p:nvSpPr>
        <p:spPr>
          <a:xfrm>
            <a:off x="9555480" y="1243584"/>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14" name="Text 12"/>
          <p:cNvSpPr/>
          <p:nvPr/>
        </p:nvSpPr>
        <p:spPr>
          <a:xfrm>
            <a:off x="10515600" y="1243584"/>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15" name="Text 13"/>
          <p:cNvSpPr/>
          <p:nvPr/>
        </p:nvSpPr>
        <p:spPr>
          <a:xfrm>
            <a:off x="658368" y="1444752"/>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Soft / bridge tooling</a:t>
            </a:r>
            <a:endParaRPr lang="en-US" sz="800" dirty="0"/>
          </a:p>
        </p:txBody>
      </p:sp>
      <p:sp>
        <p:nvSpPr>
          <p:cNvPr id="16" name="Text 14"/>
          <p:cNvSpPr/>
          <p:nvPr/>
        </p:nvSpPr>
        <p:spPr>
          <a:xfrm>
            <a:off x="3840480" y="1444752"/>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Under 25k parts with tooling above 25% — aluminium tools and printed inserts win</a:t>
            </a:r>
            <a:endParaRPr lang="en-US" sz="790" dirty="0"/>
          </a:p>
        </p:txBody>
      </p:sp>
      <p:sp>
        <p:nvSpPr>
          <p:cNvPr id="17" name="Text 15"/>
          <p:cNvSpPr/>
          <p:nvPr/>
        </p:nvSpPr>
        <p:spPr>
          <a:xfrm>
            <a:off x="8595360" y="1444752"/>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8%</a:t>
            </a:r>
            <a:endParaRPr lang="en-US" sz="830" dirty="0"/>
          </a:p>
        </p:txBody>
      </p:sp>
      <p:sp>
        <p:nvSpPr>
          <p:cNvPr id="18" name="Text 16"/>
          <p:cNvSpPr/>
          <p:nvPr/>
        </p:nvSpPr>
        <p:spPr>
          <a:xfrm>
            <a:off x="9555480" y="1444752"/>
            <a:ext cx="86868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a:t>
            </a:r>
            <a:endParaRPr lang="en-US" sz="790" dirty="0"/>
          </a:p>
        </p:txBody>
      </p:sp>
      <p:sp>
        <p:nvSpPr>
          <p:cNvPr id="19" name="Text 17"/>
          <p:cNvSpPr/>
          <p:nvPr/>
        </p:nvSpPr>
        <p:spPr>
          <a:xfrm>
            <a:off x="10515600" y="1444752"/>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20" name="Shape 18"/>
          <p:cNvSpPr/>
          <p:nvPr/>
        </p:nvSpPr>
        <p:spPr>
          <a:xfrm>
            <a:off x="457200" y="1641348"/>
            <a:ext cx="11274552" cy="196596"/>
          </a:xfrm>
          <a:prstGeom prst="rect">
            <a:avLst/>
          </a:prstGeom>
          <a:solidFill>
            <a:srgbClr val="FFFFFF"/>
          </a:solidFill>
          <a:ln/>
        </p:spPr>
      </p:sp>
      <p:sp>
        <p:nvSpPr>
          <p:cNvPr id="21" name="Text 19"/>
          <p:cNvSpPr/>
          <p:nvPr/>
        </p:nvSpPr>
        <p:spPr>
          <a:xfrm>
            <a:off x="658368" y="1645920"/>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Tooling ownership &amp; end-of-life terms</a:t>
            </a:r>
            <a:endParaRPr lang="en-US" sz="800" dirty="0"/>
          </a:p>
        </p:txBody>
      </p:sp>
      <p:sp>
        <p:nvSpPr>
          <p:cNvPr id="22" name="Text 20"/>
          <p:cNvSpPr/>
          <p:nvPr/>
        </p:nvSpPr>
        <p:spPr>
          <a:xfrm>
            <a:off x="3840480" y="1645920"/>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Any part with real NRE — separate tooling PO, customer ownership, maintenance terms</a:t>
            </a:r>
            <a:endParaRPr lang="en-US" sz="790" dirty="0"/>
          </a:p>
        </p:txBody>
      </p:sp>
      <p:sp>
        <p:nvSpPr>
          <p:cNvPr id="23" name="Text 21"/>
          <p:cNvSpPr/>
          <p:nvPr/>
        </p:nvSpPr>
        <p:spPr>
          <a:xfrm>
            <a:off x="8595360" y="1645920"/>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24" name="Text 22"/>
          <p:cNvSpPr/>
          <p:nvPr/>
        </p:nvSpPr>
        <p:spPr>
          <a:xfrm>
            <a:off x="9555480" y="1645920"/>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25" name="Text 23"/>
          <p:cNvSpPr/>
          <p:nvPr/>
        </p:nvSpPr>
        <p:spPr>
          <a:xfrm>
            <a:off x="10515600" y="1645920"/>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26" name="Text 24"/>
          <p:cNvSpPr/>
          <p:nvPr/>
        </p:nvSpPr>
        <p:spPr>
          <a:xfrm>
            <a:off x="658368" y="1847088"/>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Tool-life extension programme</a:t>
            </a:r>
            <a:endParaRPr lang="en-US" sz="800" dirty="0"/>
          </a:p>
        </p:txBody>
      </p:sp>
      <p:sp>
        <p:nvSpPr>
          <p:cNvPr id="27" name="Text 25"/>
          <p:cNvSpPr/>
          <p:nvPr/>
        </p:nvSpPr>
        <p:spPr>
          <a:xfrm>
            <a:off x="3840480" y="1847088"/>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Die processes with tooling above 15% — coatings and maintenance stretch die life</a:t>
            </a:r>
            <a:endParaRPr lang="en-US" sz="790" dirty="0"/>
          </a:p>
        </p:txBody>
      </p:sp>
      <p:sp>
        <p:nvSpPr>
          <p:cNvPr id="28" name="Text 26"/>
          <p:cNvSpPr/>
          <p:nvPr/>
        </p:nvSpPr>
        <p:spPr>
          <a:xfrm>
            <a:off x="8595360" y="1847088"/>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29" name="Text 27"/>
          <p:cNvSpPr/>
          <p:nvPr/>
        </p:nvSpPr>
        <p:spPr>
          <a:xfrm>
            <a:off x="9555480" y="1847088"/>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30" name="Text 28"/>
          <p:cNvSpPr/>
          <p:nvPr/>
        </p:nvSpPr>
        <p:spPr>
          <a:xfrm>
            <a:off x="10515600" y="1847088"/>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31" name="Shape 29"/>
          <p:cNvSpPr/>
          <p:nvPr/>
        </p:nvSpPr>
        <p:spPr>
          <a:xfrm>
            <a:off x="457200" y="2103120"/>
            <a:ext cx="11274552" cy="182880"/>
          </a:xfrm>
          <a:prstGeom prst="roundRect">
            <a:avLst>
              <a:gd name="adj" fmla="val 25000"/>
            </a:avLst>
          </a:prstGeom>
          <a:solidFill>
            <a:srgbClr val="E8F1FA"/>
          </a:solidFill>
          <a:ln/>
        </p:spPr>
      </p:sp>
      <p:sp>
        <p:nvSpPr>
          <p:cNvPr id="32" name="Text 30"/>
          <p:cNvSpPr/>
          <p:nvPr/>
        </p:nvSpPr>
        <p:spPr>
          <a:xfrm>
            <a:off x="658368" y="2103120"/>
            <a:ext cx="10881360" cy="182880"/>
          </a:xfrm>
          <a:prstGeom prst="rect">
            <a:avLst/>
          </a:prstGeom>
          <a:noFill/>
          <a:ln/>
        </p:spPr>
        <p:txBody>
          <a:bodyPr wrap="square" lIns="0" tIns="0" rIns="0" bIns="0" rtlCol="0" anchor="ctr"/>
          <a:lstStyle/>
          <a:p>
            <a:pPr indent="0" marL="0">
              <a:buNone/>
            </a:pPr>
            <a:r>
              <a:rPr lang="en-US" sz="780" b="1" spc="50" kern="0" dirty="0">
                <a:solidFill>
                  <a:srgbClr val="1D6FB8"/>
                </a:solidFill>
                <a:latin typeface="Calibri" pitchFamily="34" charset="0"/>
                <a:ea typeface="Calibri" pitchFamily="34" charset="-122"/>
                <a:cs typeface="Calibri" pitchFamily="34" charset="-120"/>
              </a:rPr>
              <a:t>PACKAGING &amp; LOGISTICS · 4 LEVERS</a:t>
            </a:r>
            <a:endParaRPr lang="en-US" sz="780" dirty="0"/>
          </a:p>
        </p:txBody>
      </p:sp>
      <p:sp>
        <p:nvSpPr>
          <p:cNvPr id="33" name="Shape 31"/>
          <p:cNvSpPr/>
          <p:nvPr/>
        </p:nvSpPr>
        <p:spPr>
          <a:xfrm>
            <a:off x="457200" y="2318004"/>
            <a:ext cx="11274552" cy="196596"/>
          </a:xfrm>
          <a:prstGeom prst="rect">
            <a:avLst/>
          </a:prstGeom>
          <a:solidFill>
            <a:srgbClr val="FFFFFF"/>
          </a:solidFill>
          <a:ln/>
        </p:spPr>
      </p:sp>
      <p:sp>
        <p:nvSpPr>
          <p:cNvPr id="34" name="Text 32"/>
          <p:cNvSpPr/>
          <p:nvPr/>
        </p:nvSpPr>
        <p:spPr>
          <a:xfrm>
            <a:off x="658368" y="2322576"/>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Returnable packaging loop</a:t>
            </a:r>
            <a:endParaRPr lang="en-US" sz="800" dirty="0"/>
          </a:p>
        </p:txBody>
      </p:sp>
      <p:sp>
        <p:nvSpPr>
          <p:cNvPr id="35" name="Text 33"/>
          <p:cNvSpPr/>
          <p:nvPr/>
        </p:nvSpPr>
        <p:spPr>
          <a:xfrm>
            <a:off x="3840480" y="2322576"/>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Packaging above 4% of part cost — totes and dunnage pay back inside a year</a:t>
            </a:r>
            <a:endParaRPr lang="en-US" sz="790" dirty="0"/>
          </a:p>
        </p:txBody>
      </p:sp>
      <p:sp>
        <p:nvSpPr>
          <p:cNvPr id="36" name="Text 34"/>
          <p:cNvSpPr/>
          <p:nvPr/>
        </p:nvSpPr>
        <p:spPr>
          <a:xfrm>
            <a:off x="8595360" y="2322576"/>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37" name="Text 35"/>
          <p:cNvSpPr/>
          <p:nvPr/>
        </p:nvSpPr>
        <p:spPr>
          <a:xfrm>
            <a:off x="9555480" y="2322576"/>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38" name="Text 36"/>
          <p:cNvSpPr/>
          <p:nvPr/>
        </p:nvSpPr>
        <p:spPr>
          <a:xfrm>
            <a:off x="10515600" y="2322576"/>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39" name="Text 37"/>
          <p:cNvSpPr/>
          <p:nvPr/>
        </p:nvSpPr>
        <p:spPr>
          <a:xfrm>
            <a:off x="658368" y="2523744"/>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Pack density / cube utilisation</a:t>
            </a:r>
            <a:endParaRPr lang="en-US" sz="800" dirty="0"/>
          </a:p>
        </p:txBody>
      </p:sp>
      <p:sp>
        <p:nvSpPr>
          <p:cNvPr id="40" name="Text 38"/>
          <p:cNvSpPr/>
          <p:nvPr/>
        </p:nvSpPr>
        <p:spPr>
          <a:xfrm>
            <a:off x="3840480" y="2523744"/>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Packaging plus freight above 8% — nest, stack, redesign the dunnage</a:t>
            </a:r>
            <a:endParaRPr lang="en-US" sz="790" dirty="0"/>
          </a:p>
        </p:txBody>
      </p:sp>
      <p:sp>
        <p:nvSpPr>
          <p:cNvPr id="41" name="Text 39"/>
          <p:cNvSpPr/>
          <p:nvPr/>
        </p:nvSpPr>
        <p:spPr>
          <a:xfrm>
            <a:off x="8595360" y="2523744"/>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42" name="Text 40"/>
          <p:cNvSpPr/>
          <p:nvPr/>
        </p:nvSpPr>
        <p:spPr>
          <a:xfrm>
            <a:off x="9555480" y="2523744"/>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43" name="Text 41"/>
          <p:cNvSpPr/>
          <p:nvPr/>
        </p:nvSpPr>
        <p:spPr>
          <a:xfrm>
            <a:off x="10515600" y="2523744"/>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44" name="Shape 42"/>
          <p:cNvSpPr/>
          <p:nvPr/>
        </p:nvSpPr>
        <p:spPr>
          <a:xfrm>
            <a:off x="457200" y="2720340"/>
            <a:ext cx="11274552" cy="196596"/>
          </a:xfrm>
          <a:prstGeom prst="rect">
            <a:avLst/>
          </a:prstGeom>
          <a:solidFill>
            <a:srgbClr val="FFFFFF"/>
          </a:solidFill>
          <a:ln/>
        </p:spPr>
      </p:sp>
      <p:sp>
        <p:nvSpPr>
          <p:cNvPr id="45" name="Text 43"/>
          <p:cNvSpPr/>
          <p:nvPr/>
        </p:nvSpPr>
        <p:spPr>
          <a:xfrm>
            <a:off x="658368" y="2724912"/>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Freight mode &amp; consolidation</a:t>
            </a:r>
            <a:endParaRPr lang="en-US" sz="800" dirty="0"/>
          </a:p>
        </p:txBody>
      </p:sp>
      <p:sp>
        <p:nvSpPr>
          <p:cNvPr id="46" name="Text 44"/>
          <p:cNvSpPr/>
          <p:nvPr/>
        </p:nvSpPr>
        <p:spPr>
          <a:xfrm>
            <a:off x="3840480" y="2724912"/>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Logistics above 6% — sea vs air, milk runs, full containers, incoterm</a:t>
            </a:r>
            <a:endParaRPr lang="en-US" sz="790" dirty="0"/>
          </a:p>
        </p:txBody>
      </p:sp>
      <p:sp>
        <p:nvSpPr>
          <p:cNvPr id="47" name="Text 45"/>
          <p:cNvSpPr/>
          <p:nvPr/>
        </p:nvSpPr>
        <p:spPr>
          <a:xfrm>
            <a:off x="8595360" y="2724912"/>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5%</a:t>
            </a:r>
            <a:endParaRPr lang="en-US" sz="830" dirty="0"/>
          </a:p>
        </p:txBody>
      </p:sp>
      <p:sp>
        <p:nvSpPr>
          <p:cNvPr id="48" name="Text 46"/>
          <p:cNvSpPr/>
          <p:nvPr/>
        </p:nvSpPr>
        <p:spPr>
          <a:xfrm>
            <a:off x="9555480" y="2724912"/>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49" name="Text 47"/>
          <p:cNvSpPr/>
          <p:nvPr/>
        </p:nvSpPr>
        <p:spPr>
          <a:xfrm>
            <a:off x="10515600" y="2724912"/>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50" name="Text 48"/>
          <p:cNvSpPr/>
          <p:nvPr/>
        </p:nvSpPr>
        <p:spPr>
          <a:xfrm>
            <a:off x="658368" y="2926080"/>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Near-shore landed-cost check</a:t>
            </a:r>
            <a:endParaRPr lang="en-US" sz="800" dirty="0"/>
          </a:p>
        </p:txBody>
      </p:sp>
      <p:sp>
        <p:nvSpPr>
          <p:cNvPr id="51" name="Text 49"/>
          <p:cNvSpPr/>
          <p:nvPr/>
        </p:nvSpPr>
        <p:spPr>
          <a:xfrm>
            <a:off x="3840480" y="2926080"/>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Already in a low-cost region with logistics above 9% — rerun on landed cost</a:t>
            </a:r>
            <a:endParaRPr lang="en-US" sz="790" dirty="0"/>
          </a:p>
        </p:txBody>
      </p:sp>
      <p:sp>
        <p:nvSpPr>
          <p:cNvPr id="52" name="Text 50"/>
          <p:cNvSpPr/>
          <p:nvPr/>
        </p:nvSpPr>
        <p:spPr>
          <a:xfrm>
            <a:off x="8595360" y="2926080"/>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6%</a:t>
            </a:r>
            <a:endParaRPr lang="en-US" sz="830" dirty="0"/>
          </a:p>
        </p:txBody>
      </p:sp>
      <p:sp>
        <p:nvSpPr>
          <p:cNvPr id="53" name="Text 51"/>
          <p:cNvSpPr/>
          <p:nvPr/>
        </p:nvSpPr>
        <p:spPr>
          <a:xfrm>
            <a:off x="9555480" y="2926080"/>
            <a:ext cx="86868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a:t>
            </a:r>
            <a:endParaRPr lang="en-US" sz="790" dirty="0"/>
          </a:p>
        </p:txBody>
      </p:sp>
      <p:sp>
        <p:nvSpPr>
          <p:cNvPr id="54" name="Text 52"/>
          <p:cNvSpPr/>
          <p:nvPr/>
        </p:nvSpPr>
        <p:spPr>
          <a:xfrm>
            <a:off x="10515600" y="2926080"/>
            <a:ext cx="1234440" cy="192024"/>
          </a:xfrm>
          <a:prstGeom prst="rect">
            <a:avLst/>
          </a:prstGeom>
          <a:noFill/>
          <a:ln/>
        </p:spPr>
        <p:txBody>
          <a:bodyPr wrap="square" lIns="0" tIns="0" rIns="0" bIns="0" rtlCol="0" anchor="ctr"/>
          <a:lstStyle/>
          <a:p>
            <a:pPr indent="0" marL="0">
              <a:buNone/>
            </a:pPr>
            <a:r>
              <a:rPr lang="en-US" sz="790" b="1" dirty="0">
                <a:solidFill>
                  <a:srgbClr val="3A4356"/>
                </a:solidFill>
                <a:latin typeface="Calibri" pitchFamily="34" charset="0"/>
                <a:ea typeface="Calibri" pitchFamily="34" charset="-122"/>
                <a:cs typeface="Calibri" pitchFamily="34" charset="-120"/>
              </a:rPr>
              <a:t>Long term</a:t>
            </a:r>
            <a:endParaRPr lang="en-US" sz="790" dirty="0"/>
          </a:p>
        </p:txBody>
      </p:sp>
      <p:sp>
        <p:nvSpPr>
          <p:cNvPr id="55" name="Shape 53"/>
          <p:cNvSpPr/>
          <p:nvPr/>
        </p:nvSpPr>
        <p:spPr>
          <a:xfrm>
            <a:off x="457200" y="3182112"/>
            <a:ext cx="11274552" cy="182880"/>
          </a:xfrm>
          <a:prstGeom prst="roundRect">
            <a:avLst>
              <a:gd name="adj" fmla="val 25000"/>
            </a:avLst>
          </a:prstGeom>
          <a:solidFill>
            <a:srgbClr val="E8EDF6"/>
          </a:solidFill>
          <a:ln/>
        </p:spPr>
      </p:sp>
      <p:sp>
        <p:nvSpPr>
          <p:cNvPr id="56" name="Text 54"/>
          <p:cNvSpPr/>
          <p:nvPr/>
        </p:nvSpPr>
        <p:spPr>
          <a:xfrm>
            <a:off x="658368" y="3182112"/>
            <a:ext cx="10881360" cy="182880"/>
          </a:xfrm>
          <a:prstGeom prst="rect">
            <a:avLst/>
          </a:prstGeom>
          <a:noFill/>
          <a:ln/>
        </p:spPr>
        <p:txBody>
          <a:bodyPr wrap="square" lIns="0" tIns="0" rIns="0" bIns="0" rtlCol="0" anchor="ctr"/>
          <a:lstStyle/>
          <a:p>
            <a:pPr indent="0" marL="0">
              <a:buNone/>
            </a:pPr>
            <a:r>
              <a:rPr lang="en-US" sz="780" b="1" spc="50" kern="0" dirty="0">
                <a:solidFill>
                  <a:srgbClr val="16325C"/>
                </a:solidFill>
                <a:latin typeface="Calibri" pitchFamily="34" charset="0"/>
                <a:ea typeface="Calibri" pitchFamily="34" charset="-122"/>
                <a:cs typeface="Calibri" pitchFamily="34" charset="-120"/>
              </a:rPr>
              <a:t>COMMERCIAL · 8 LEVERS</a:t>
            </a:r>
            <a:endParaRPr lang="en-US" sz="780" dirty="0"/>
          </a:p>
        </p:txBody>
      </p:sp>
      <p:sp>
        <p:nvSpPr>
          <p:cNvPr id="57" name="Shape 55"/>
          <p:cNvSpPr/>
          <p:nvPr/>
        </p:nvSpPr>
        <p:spPr>
          <a:xfrm>
            <a:off x="457200" y="3396996"/>
            <a:ext cx="11274552" cy="196596"/>
          </a:xfrm>
          <a:prstGeom prst="rect">
            <a:avLst/>
          </a:prstGeom>
          <a:solidFill>
            <a:srgbClr val="FFFFFF"/>
          </a:solidFill>
          <a:ln/>
        </p:spPr>
      </p:sp>
      <p:sp>
        <p:nvSpPr>
          <p:cNvPr id="58" name="Text 56"/>
          <p:cNvSpPr/>
          <p:nvPr/>
        </p:nvSpPr>
        <p:spPr>
          <a:xfrm>
            <a:off x="658368" y="3401568"/>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Regional sourcing study (LCC)</a:t>
            </a:r>
            <a:endParaRPr lang="en-US" sz="800" dirty="0"/>
          </a:p>
        </p:txBody>
      </p:sp>
      <p:sp>
        <p:nvSpPr>
          <p:cNvPr id="59" name="Text 57"/>
          <p:cNvSpPr/>
          <p:nvPr/>
        </p:nvSpPr>
        <p:spPr>
          <a:xfrm>
            <a:off x="3840480" y="3401568"/>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Conversion above 30% and not already low-cost — regional arbitrage is real</a:t>
            </a:r>
            <a:endParaRPr lang="en-US" sz="790" dirty="0"/>
          </a:p>
        </p:txBody>
      </p:sp>
      <p:sp>
        <p:nvSpPr>
          <p:cNvPr id="60" name="Text 58"/>
          <p:cNvSpPr/>
          <p:nvPr/>
        </p:nvSpPr>
        <p:spPr>
          <a:xfrm>
            <a:off x="8595360" y="3401568"/>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18%</a:t>
            </a:r>
            <a:endParaRPr lang="en-US" sz="830" dirty="0"/>
          </a:p>
        </p:txBody>
      </p:sp>
      <p:sp>
        <p:nvSpPr>
          <p:cNvPr id="61" name="Text 59"/>
          <p:cNvSpPr/>
          <p:nvPr/>
        </p:nvSpPr>
        <p:spPr>
          <a:xfrm>
            <a:off x="9555480" y="3401568"/>
            <a:ext cx="868680" cy="192024"/>
          </a:xfrm>
          <a:prstGeom prst="rect">
            <a:avLst/>
          </a:prstGeom>
          <a:noFill/>
          <a:ln/>
        </p:spPr>
        <p:txBody>
          <a:bodyPr wrap="square" lIns="0" tIns="0" rIns="0" bIns="0" rtlCol="0" anchor="ctr"/>
          <a:lstStyle/>
          <a:p>
            <a:pPr indent="0" marL="0">
              <a:buNone/>
            </a:pPr>
            <a:r>
              <a:rPr lang="en-US" sz="790" b="1" dirty="0">
                <a:solidFill>
                  <a:srgbClr val="B03A2E"/>
                </a:solidFill>
                <a:latin typeface="Calibri" pitchFamily="34" charset="0"/>
                <a:ea typeface="Calibri" pitchFamily="34" charset="-122"/>
                <a:cs typeface="Calibri" pitchFamily="34" charset="-120"/>
              </a:rPr>
              <a:t>High</a:t>
            </a:r>
            <a:endParaRPr lang="en-US" sz="790" dirty="0"/>
          </a:p>
        </p:txBody>
      </p:sp>
      <p:sp>
        <p:nvSpPr>
          <p:cNvPr id="62" name="Text 60"/>
          <p:cNvSpPr/>
          <p:nvPr/>
        </p:nvSpPr>
        <p:spPr>
          <a:xfrm>
            <a:off x="10515600" y="3401568"/>
            <a:ext cx="1234440" cy="192024"/>
          </a:xfrm>
          <a:prstGeom prst="rect">
            <a:avLst/>
          </a:prstGeom>
          <a:noFill/>
          <a:ln/>
        </p:spPr>
        <p:txBody>
          <a:bodyPr wrap="square" lIns="0" tIns="0" rIns="0" bIns="0" rtlCol="0" anchor="ctr"/>
          <a:lstStyle/>
          <a:p>
            <a:pPr indent="0" marL="0">
              <a:buNone/>
            </a:pPr>
            <a:r>
              <a:rPr lang="en-US" sz="790" b="1" dirty="0">
                <a:solidFill>
                  <a:srgbClr val="3A4356"/>
                </a:solidFill>
                <a:latin typeface="Calibri" pitchFamily="34" charset="0"/>
                <a:ea typeface="Calibri" pitchFamily="34" charset="-122"/>
                <a:cs typeface="Calibri" pitchFamily="34" charset="-120"/>
              </a:rPr>
              <a:t>Long term</a:t>
            </a:r>
            <a:endParaRPr lang="en-US" sz="790" dirty="0"/>
          </a:p>
        </p:txBody>
      </p:sp>
      <p:sp>
        <p:nvSpPr>
          <p:cNvPr id="63" name="Text 61"/>
          <p:cNvSpPr/>
          <p:nvPr/>
        </p:nvSpPr>
        <p:spPr>
          <a:xfrm>
            <a:off x="658368" y="3602736"/>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Overhead negotiation, open-book</a:t>
            </a:r>
            <a:endParaRPr lang="en-US" sz="800" dirty="0"/>
          </a:p>
        </p:txBody>
      </p:sp>
      <p:sp>
        <p:nvSpPr>
          <p:cNvPr id="64" name="Text 62"/>
          <p:cNvSpPr/>
          <p:nvPr/>
        </p:nvSpPr>
        <p:spPr>
          <a:xfrm>
            <a:off x="3840480" y="3602736"/>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Overhead above 15% — benchmark against typical 10–15% tier-1 burden</a:t>
            </a:r>
            <a:endParaRPr lang="en-US" sz="790" dirty="0"/>
          </a:p>
        </p:txBody>
      </p:sp>
      <p:sp>
        <p:nvSpPr>
          <p:cNvPr id="65" name="Text 63"/>
          <p:cNvSpPr/>
          <p:nvPr/>
        </p:nvSpPr>
        <p:spPr>
          <a:xfrm>
            <a:off x="8595360" y="3602736"/>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6%</a:t>
            </a:r>
            <a:endParaRPr lang="en-US" sz="830" dirty="0"/>
          </a:p>
        </p:txBody>
      </p:sp>
      <p:sp>
        <p:nvSpPr>
          <p:cNvPr id="66" name="Text 64"/>
          <p:cNvSpPr/>
          <p:nvPr/>
        </p:nvSpPr>
        <p:spPr>
          <a:xfrm>
            <a:off x="9555480" y="3602736"/>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67" name="Text 65"/>
          <p:cNvSpPr/>
          <p:nvPr/>
        </p:nvSpPr>
        <p:spPr>
          <a:xfrm>
            <a:off x="10515600" y="3602736"/>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68" name="Shape 66"/>
          <p:cNvSpPr/>
          <p:nvPr/>
        </p:nvSpPr>
        <p:spPr>
          <a:xfrm>
            <a:off x="457200" y="3799332"/>
            <a:ext cx="11274552" cy="196596"/>
          </a:xfrm>
          <a:prstGeom prst="rect">
            <a:avLst/>
          </a:prstGeom>
          <a:solidFill>
            <a:srgbClr val="FFFFFF"/>
          </a:solidFill>
          <a:ln/>
        </p:spPr>
      </p:sp>
      <p:sp>
        <p:nvSpPr>
          <p:cNvPr id="69" name="Text 67"/>
          <p:cNvSpPr/>
          <p:nvPr/>
        </p:nvSpPr>
        <p:spPr>
          <a:xfrm>
            <a:off x="658368" y="3803904"/>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Make-vs-buy assessment</a:t>
            </a:r>
            <a:endParaRPr lang="en-US" sz="800" dirty="0"/>
          </a:p>
        </p:txBody>
      </p:sp>
      <p:sp>
        <p:nvSpPr>
          <p:cNvPr id="70" name="Text 68"/>
          <p:cNvSpPr/>
          <p:nvPr/>
        </p:nvSpPr>
        <p:spPr>
          <a:xfrm>
            <a:off x="3840480" y="3803904"/>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Overhead above 18% on heavy conversion — should this part be inside?</a:t>
            </a:r>
            <a:endParaRPr lang="en-US" sz="790" dirty="0"/>
          </a:p>
        </p:txBody>
      </p:sp>
      <p:sp>
        <p:nvSpPr>
          <p:cNvPr id="71" name="Text 69"/>
          <p:cNvSpPr/>
          <p:nvPr/>
        </p:nvSpPr>
        <p:spPr>
          <a:xfrm>
            <a:off x="8595360" y="3803904"/>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6%</a:t>
            </a:r>
            <a:endParaRPr lang="en-US" sz="830" dirty="0"/>
          </a:p>
        </p:txBody>
      </p:sp>
      <p:sp>
        <p:nvSpPr>
          <p:cNvPr id="72" name="Text 70"/>
          <p:cNvSpPr/>
          <p:nvPr/>
        </p:nvSpPr>
        <p:spPr>
          <a:xfrm>
            <a:off x="9555480" y="3803904"/>
            <a:ext cx="868680" cy="192024"/>
          </a:xfrm>
          <a:prstGeom prst="rect">
            <a:avLst/>
          </a:prstGeom>
          <a:noFill/>
          <a:ln/>
        </p:spPr>
        <p:txBody>
          <a:bodyPr wrap="square" lIns="0" tIns="0" rIns="0" bIns="0" rtlCol="0" anchor="ctr"/>
          <a:lstStyle/>
          <a:p>
            <a:pPr indent="0" marL="0">
              <a:buNone/>
            </a:pPr>
            <a:r>
              <a:rPr lang="en-US" sz="790" b="1" dirty="0">
                <a:solidFill>
                  <a:srgbClr val="B03A2E"/>
                </a:solidFill>
                <a:latin typeface="Calibri" pitchFamily="34" charset="0"/>
                <a:ea typeface="Calibri" pitchFamily="34" charset="-122"/>
                <a:cs typeface="Calibri" pitchFamily="34" charset="-120"/>
              </a:rPr>
              <a:t>High</a:t>
            </a:r>
            <a:endParaRPr lang="en-US" sz="790" dirty="0"/>
          </a:p>
        </p:txBody>
      </p:sp>
      <p:sp>
        <p:nvSpPr>
          <p:cNvPr id="73" name="Text 71"/>
          <p:cNvSpPr/>
          <p:nvPr/>
        </p:nvSpPr>
        <p:spPr>
          <a:xfrm>
            <a:off x="10515600" y="3803904"/>
            <a:ext cx="1234440" cy="192024"/>
          </a:xfrm>
          <a:prstGeom prst="rect">
            <a:avLst/>
          </a:prstGeom>
          <a:noFill/>
          <a:ln/>
        </p:spPr>
        <p:txBody>
          <a:bodyPr wrap="square" lIns="0" tIns="0" rIns="0" bIns="0" rtlCol="0" anchor="ctr"/>
          <a:lstStyle/>
          <a:p>
            <a:pPr indent="0" marL="0">
              <a:buNone/>
            </a:pPr>
            <a:r>
              <a:rPr lang="en-US" sz="790" b="1" dirty="0">
                <a:solidFill>
                  <a:srgbClr val="3A4356"/>
                </a:solidFill>
                <a:latin typeface="Calibri" pitchFamily="34" charset="0"/>
                <a:ea typeface="Calibri" pitchFamily="34" charset="-122"/>
                <a:cs typeface="Calibri" pitchFamily="34" charset="-120"/>
              </a:rPr>
              <a:t>Long term</a:t>
            </a:r>
            <a:endParaRPr lang="en-US" sz="790" dirty="0"/>
          </a:p>
        </p:txBody>
      </p:sp>
      <p:sp>
        <p:nvSpPr>
          <p:cNvPr id="74" name="Text 72"/>
          <p:cNvSpPr/>
          <p:nvPr/>
        </p:nvSpPr>
        <p:spPr>
          <a:xfrm>
            <a:off x="658368" y="4005072"/>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Competitive RFQ on margin</a:t>
            </a:r>
            <a:endParaRPr lang="en-US" sz="800" dirty="0"/>
          </a:p>
        </p:txBody>
      </p:sp>
      <p:sp>
        <p:nvSpPr>
          <p:cNvPr id="75" name="Text 73"/>
          <p:cNvSpPr/>
          <p:nvPr/>
        </p:nvSpPr>
        <p:spPr>
          <a:xfrm>
            <a:off x="3840480" y="4005072"/>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Margin above 12% — three-way RFQ with this should-cost as the floor</a:t>
            </a:r>
            <a:endParaRPr lang="en-US" sz="790" dirty="0"/>
          </a:p>
        </p:txBody>
      </p:sp>
      <p:sp>
        <p:nvSpPr>
          <p:cNvPr id="76" name="Text 74"/>
          <p:cNvSpPr/>
          <p:nvPr/>
        </p:nvSpPr>
        <p:spPr>
          <a:xfrm>
            <a:off x="8595360" y="4005072"/>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5%</a:t>
            </a:r>
            <a:endParaRPr lang="en-US" sz="830" dirty="0"/>
          </a:p>
        </p:txBody>
      </p:sp>
      <p:sp>
        <p:nvSpPr>
          <p:cNvPr id="77" name="Text 75"/>
          <p:cNvSpPr/>
          <p:nvPr/>
        </p:nvSpPr>
        <p:spPr>
          <a:xfrm>
            <a:off x="9555480" y="4005072"/>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78" name="Text 76"/>
          <p:cNvSpPr/>
          <p:nvPr/>
        </p:nvSpPr>
        <p:spPr>
          <a:xfrm>
            <a:off x="10515600" y="4005072"/>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79" name="Shape 77"/>
          <p:cNvSpPr/>
          <p:nvPr/>
        </p:nvSpPr>
        <p:spPr>
          <a:xfrm>
            <a:off x="457200" y="4201668"/>
            <a:ext cx="11274552" cy="196596"/>
          </a:xfrm>
          <a:prstGeom prst="rect">
            <a:avLst/>
          </a:prstGeom>
          <a:solidFill>
            <a:srgbClr val="FFFFFF"/>
          </a:solidFill>
          <a:ln/>
        </p:spPr>
      </p:sp>
      <p:sp>
        <p:nvSpPr>
          <p:cNvPr id="80" name="Text 78"/>
          <p:cNvSpPr/>
          <p:nvPr/>
        </p:nvSpPr>
        <p:spPr>
          <a:xfrm>
            <a:off x="658368" y="4206240"/>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Raw-material indexation clause</a:t>
            </a:r>
            <a:endParaRPr lang="en-US" sz="800" dirty="0"/>
          </a:p>
        </p:txBody>
      </p:sp>
      <p:sp>
        <p:nvSpPr>
          <p:cNvPr id="81" name="Text 79"/>
          <p:cNvSpPr/>
          <p:nvPr/>
        </p:nvSpPr>
        <p:spPr>
          <a:xfrm>
            <a:off x="3840480" y="4206240"/>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Material above 40% — remove the supplier’s volatility hedge from the price</a:t>
            </a:r>
            <a:endParaRPr lang="en-US" sz="790" dirty="0"/>
          </a:p>
        </p:txBody>
      </p:sp>
      <p:sp>
        <p:nvSpPr>
          <p:cNvPr id="82" name="Text 80"/>
          <p:cNvSpPr/>
          <p:nvPr/>
        </p:nvSpPr>
        <p:spPr>
          <a:xfrm>
            <a:off x="8595360" y="4206240"/>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3%</a:t>
            </a:r>
            <a:endParaRPr lang="en-US" sz="830" dirty="0"/>
          </a:p>
        </p:txBody>
      </p:sp>
      <p:sp>
        <p:nvSpPr>
          <p:cNvPr id="83" name="Text 81"/>
          <p:cNvSpPr/>
          <p:nvPr/>
        </p:nvSpPr>
        <p:spPr>
          <a:xfrm>
            <a:off x="9555480" y="4206240"/>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84" name="Text 82"/>
          <p:cNvSpPr/>
          <p:nvPr/>
        </p:nvSpPr>
        <p:spPr>
          <a:xfrm>
            <a:off x="10515600" y="4206240"/>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85" name="Text 83"/>
          <p:cNvSpPr/>
          <p:nvPr/>
        </p:nvSpPr>
        <p:spPr>
          <a:xfrm>
            <a:off x="658368" y="4407408"/>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Learning-curve price-down</a:t>
            </a:r>
            <a:endParaRPr lang="en-US" sz="800" dirty="0"/>
          </a:p>
        </p:txBody>
      </p:sp>
      <p:sp>
        <p:nvSpPr>
          <p:cNvPr id="86" name="Text 84"/>
          <p:cNvSpPr/>
          <p:nvPr/>
        </p:nvSpPr>
        <p:spPr>
          <a:xfrm>
            <a:off x="3840480" y="4407408"/>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Labour above 20% with a confirmed volume, none priced in — share the curve</a:t>
            </a:r>
            <a:endParaRPr lang="en-US" sz="790" dirty="0"/>
          </a:p>
        </p:txBody>
      </p:sp>
      <p:sp>
        <p:nvSpPr>
          <p:cNvPr id="87" name="Text 85"/>
          <p:cNvSpPr/>
          <p:nvPr/>
        </p:nvSpPr>
        <p:spPr>
          <a:xfrm>
            <a:off x="8595360" y="4407408"/>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3%</a:t>
            </a:r>
            <a:endParaRPr lang="en-US" sz="830" dirty="0"/>
          </a:p>
        </p:txBody>
      </p:sp>
      <p:sp>
        <p:nvSpPr>
          <p:cNvPr id="88" name="Text 86"/>
          <p:cNvSpPr/>
          <p:nvPr/>
        </p:nvSpPr>
        <p:spPr>
          <a:xfrm>
            <a:off x="9555480" y="4407408"/>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89" name="Text 87"/>
          <p:cNvSpPr/>
          <p:nvPr/>
        </p:nvSpPr>
        <p:spPr>
          <a:xfrm>
            <a:off x="10515600" y="4407408"/>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90" name="Shape 88"/>
          <p:cNvSpPr/>
          <p:nvPr/>
        </p:nvSpPr>
        <p:spPr>
          <a:xfrm>
            <a:off x="457200" y="4604004"/>
            <a:ext cx="11274552" cy="196596"/>
          </a:xfrm>
          <a:prstGeom prst="rect">
            <a:avLst/>
          </a:prstGeom>
          <a:solidFill>
            <a:srgbClr val="FFFFFF"/>
          </a:solidFill>
          <a:ln/>
        </p:spPr>
      </p:sp>
      <p:sp>
        <p:nvSpPr>
          <p:cNvPr id="91" name="Text 89"/>
          <p:cNvSpPr/>
          <p:nvPr/>
        </p:nvSpPr>
        <p:spPr>
          <a:xfrm>
            <a:off x="658368" y="4608576"/>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Payment terms / early settlement</a:t>
            </a:r>
            <a:endParaRPr lang="en-US" sz="800" dirty="0"/>
          </a:p>
        </p:txBody>
      </p:sp>
      <p:sp>
        <p:nvSpPr>
          <p:cNvPr id="92" name="Text 90"/>
          <p:cNvSpPr/>
          <p:nvPr/>
        </p:nvSpPr>
        <p:spPr>
          <a:xfrm>
            <a:off x="3840480" y="4608576"/>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Any priced margin — 1–2% for cash is standard dynamic discounting</a:t>
            </a:r>
            <a:endParaRPr lang="en-US" sz="790" dirty="0"/>
          </a:p>
        </p:txBody>
      </p:sp>
      <p:sp>
        <p:nvSpPr>
          <p:cNvPr id="93" name="Text 91"/>
          <p:cNvSpPr/>
          <p:nvPr/>
        </p:nvSpPr>
        <p:spPr>
          <a:xfrm>
            <a:off x="8595360" y="4608576"/>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2%</a:t>
            </a:r>
            <a:endParaRPr lang="en-US" sz="830" dirty="0"/>
          </a:p>
        </p:txBody>
      </p:sp>
      <p:sp>
        <p:nvSpPr>
          <p:cNvPr id="94" name="Text 92"/>
          <p:cNvSpPr/>
          <p:nvPr/>
        </p:nvSpPr>
        <p:spPr>
          <a:xfrm>
            <a:off x="9555480" y="4608576"/>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95" name="Text 93"/>
          <p:cNvSpPr/>
          <p:nvPr/>
        </p:nvSpPr>
        <p:spPr>
          <a:xfrm>
            <a:off x="10515600" y="4608576"/>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96" name="Text 94"/>
          <p:cNvSpPr/>
          <p:nvPr/>
        </p:nvSpPr>
        <p:spPr>
          <a:xfrm>
            <a:off x="658368" y="4809744"/>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Annual volume re-commitment (backstop)</a:t>
            </a:r>
            <a:endParaRPr lang="en-US" sz="800" dirty="0"/>
          </a:p>
        </p:txBody>
      </p:sp>
      <p:sp>
        <p:nvSpPr>
          <p:cNvPr id="97" name="Text 95"/>
          <p:cNvSpPr/>
          <p:nvPr/>
        </p:nvSpPr>
        <p:spPr>
          <a:xfrm>
            <a:off x="3840480" y="4809744"/>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Guaranteed whenever fewer than 6 levers have fired</a:t>
            </a:r>
            <a:endParaRPr lang="en-US" sz="790" dirty="0"/>
          </a:p>
        </p:txBody>
      </p:sp>
      <p:sp>
        <p:nvSpPr>
          <p:cNvPr id="98" name="Text 96"/>
          <p:cNvSpPr/>
          <p:nvPr/>
        </p:nvSpPr>
        <p:spPr>
          <a:xfrm>
            <a:off x="8595360" y="4809744"/>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3%</a:t>
            </a:r>
            <a:endParaRPr lang="en-US" sz="830" dirty="0"/>
          </a:p>
        </p:txBody>
      </p:sp>
      <p:sp>
        <p:nvSpPr>
          <p:cNvPr id="99" name="Text 97"/>
          <p:cNvSpPr/>
          <p:nvPr/>
        </p:nvSpPr>
        <p:spPr>
          <a:xfrm>
            <a:off x="9555480" y="4809744"/>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100" name="Text 98"/>
          <p:cNvSpPr/>
          <p:nvPr/>
        </p:nvSpPr>
        <p:spPr>
          <a:xfrm>
            <a:off x="10515600" y="4809744"/>
            <a:ext cx="123444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Quick win</a:t>
            </a:r>
            <a:endParaRPr lang="en-US" sz="790" dirty="0"/>
          </a:p>
        </p:txBody>
      </p:sp>
      <p:sp>
        <p:nvSpPr>
          <p:cNvPr id="101" name="Shape 99"/>
          <p:cNvSpPr/>
          <p:nvPr/>
        </p:nvSpPr>
        <p:spPr>
          <a:xfrm>
            <a:off x="457200" y="5065776"/>
            <a:ext cx="11274552" cy="182880"/>
          </a:xfrm>
          <a:prstGeom prst="roundRect">
            <a:avLst>
              <a:gd name="adj" fmla="val 25000"/>
            </a:avLst>
          </a:prstGeom>
          <a:solidFill>
            <a:srgbClr val="FBEAE8"/>
          </a:solidFill>
          <a:ln/>
        </p:spPr>
      </p:sp>
      <p:sp>
        <p:nvSpPr>
          <p:cNvPr id="102" name="Text 100"/>
          <p:cNvSpPr/>
          <p:nvPr/>
        </p:nvSpPr>
        <p:spPr>
          <a:xfrm>
            <a:off x="658368" y="5065776"/>
            <a:ext cx="10881360" cy="182880"/>
          </a:xfrm>
          <a:prstGeom prst="rect">
            <a:avLst/>
          </a:prstGeom>
          <a:noFill/>
          <a:ln/>
        </p:spPr>
        <p:txBody>
          <a:bodyPr wrap="square" lIns="0" tIns="0" rIns="0" bIns="0" rtlCol="0" anchor="ctr"/>
          <a:lstStyle/>
          <a:p>
            <a:pPr indent="0" marL="0">
              <a:buNone/>
            </a:pPr>
            <a:r>
              <a:rPr lang="en-US" sz="780" b="1" spc="50" kern="0" dirty="0">
                <a:solidFill>
                  <a:srgbClr val="B03A2E"/>
                </a:solidFill>
                <a:latin typeface="Calibri" pitchFamily="34" charset="0"/>
                <a:ea typeface="Calibri" pitchFamily="34" charset="-122"/>
                <a:cs typeface="Calibri" pitchFamily="34" charset="-120"/>
              </a:rPr>
              <a:t>QUALITY · 2 LEVERS</a:t>
            </a:r>
            <a:endParaRPr lang="en-US" sz="780" dirty="0"/>
          </a:p>
        </p:txBody>
      </p:sp>
      <p:sp>
        <p:nvSpPr>
          <p:cNvPr id="103" name="Shape 101"/>
          <p:cNvSpPr/>
          <p:nvPr/>
        </p:nvSpPr>
        <p:spPr>
          <a:xfrm>
            <a:off x="457200" y="5280660"/>
            <a:ext cx="11274552" cy="196596"/>
          </a:xfrm>
          <a:prstGeom prst="rect">
            <a:avLst/>
          </a:prstGeom>
          <a:solidFill>
            <a:srgbClr val="FFFFFF"/>
          </a:solidFill>
          <a:ln/>
        </p:spPr>
      </p:sp>
      <p:sp>
        <p:nvSpPr>
          <p:cNvPr id="104" name="Text 102"/>
          <p:cNvSpPr/>
          <p:nvPr/>
        </p:nvSpPr>
        <p:spPr>
          <a:xfrm>
            <a:off x="658368" y="5285232"/>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Right-size inspection &amp; test</a:t>
            </a:r>
            <a:endParaRPr lang="en-US" sz="800" dirty="0"/>
          </a:p>
        </p:txBody>
      </p:sp>
      <p:sp>
        <p:nvSpPr>
          <p:cNvPr id="105" name="Text 103"/>
          <p:cNvSpPr/>
          <p:nvPr/>
        </p:nvSpPr>
        <p:spPr>
          <a:xfrm>
            <a:off x="3840480" y="5285232"/>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Standalone inspection above 5% of cost — SPC skip-lot, in-line gauging</a:t>
            </a:r>
            <a:endParaRPr lang="en-US" sz="790" dirty="0"/>
          </a:p>
        </p:txBody>
      </p:sp>
      <p:sp>
        <p:nvSpPr>
          <p:cNvPr id="106" name="Text 104"/>
          <p:cNvSpPr/>
          <p:nvPr/>
        </p:nvSpPr>
        <p:spPr>
          <a:xfrm>
            <a:off x="8595360" y="5285232"/>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107" name="Text 105"/>
          <p:cNvSpPr/>
          <p:nvPr/>
        </p:nvSpPr>
        <p:spPr>
          <a:xfrm>
            <a:off x="9555480" y="5285232"/>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108" name="Text 106"/>
          <p:cNvSpPr/>
          <p:nvPr/>
        </p:nvSpPr>
        <p:spPr>
          <a:xfrm>
            <a:off x="10515600" y="5285232"/>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109" name="Text 107"/>
          <p:cNvSpPr/>
          <p:nvPr/>
        </p:nvSpPr>
        <p:spPr>
          <a:xfrm>
            <a:off x="658368" y="5486400"/>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Eliminate manual finishing at source</a:t>
            </a:r>
            <a:endParaRPr lang="en-US" sz="800" dirty="0"/>
          </a:p>
        </p:txBody>
      </p:sp>
      <p:sp>
        <p:nvSpPr>
          <p:cNvPr id="110" name="Text 108"/>
          <p:cNvSpPr/>
          <p:nvPr/>
        </p:nvSpPr>
        <p:spPr>
          <a:xfrm>
            <a:off x="3840480" y="5486400"/>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Deburr/fettle/rework operations present — fix the upstream cause</a:t>
            </a:r>
            <a:endParaRPr lang="en-US" sz="790" dirty="0"/>
          </a:p>
        </p:txBody>
      </p:sp>
      <p:sp>
        <p:nvSpPr>
          <p:cNvPr id="111" name="Text 109"/>
          <p:cNvSpPr/>
          <p:nvPr/>
        </p:nvSpPr>
        <p:spPr>
          <a:xfrm>
            <a:off x="8595360" y="5486400"/>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112" name="Text 110"/>
          <p:cNvSpPr/>
          <p:nvPr/>
        </p:nvSpPr>
        <p:spPr>
          <a:xfrm>
            <a:off x="9555480" y="5486400"/>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113" name="Text 111"/>
          <p:cNvSpPr/>
          <p:nvPr/>
        </p:nvSpPr>
        <p:spPr>
          <a:xfrm>
            <a:off x="10515600" y="5486400"/>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114" name="Shape 112"/>
          <p:cNvSpPr/>
          <p:nvPr/>
        </p:nvSpPr>
        <p:spPr>
          <a:xfrm>
            <a:off x="457200" y="5742432"/>
            <a:ext cx="11274552" cy="182880"/>
          </a:xfrm>
          <a:prstGeom prst="roundRect">
            <a:avLst>
              <a:gd name="adj" fmla="val 25000"/>
            </a:avLst>
          </a:prstGeom>
          <a:solidFill>
            <a:srgbClr val="EAF6EF"/>
          </a:solidFill>
          <a:ln/>
        </p:spPr>
      </p:sp>
      <p:sp>
        <p:nvSpPr>
          <p:cNvPr id="115" name="Text 113"/>
          <p:cNvSpPr/>
          <p:nvPr/>
        </p:nvSpPr>
        <p:spPr>
          <a:xfrm>
            <a:off x="658368" y="5742432"/>
            <a:ext cx="10881360" cy="182880"/>
          </a:xfrm>
          <a:prstGeom prst="rect">
            <a:avLst/>
          </a:prstGeom>
          <a:noFill/>
          <a:ln/>
        </p:spPr>
        <p:txBody>
          <a:bodyPr wrap="square" lIns="0" tIns="0" rIns="0" bIns="0" rtlCol="0" anchor="ctr"/>
          <a:lstStyle/>
          <a:p>
            <a:pPr indent="0" marL="0">
              <a:buNone/>
            </a:pPr>
            <a:r>
              <a:rPr lang="en-US" sz="780" b="1" spc="50" kern="0" dirty="0">
                <a:solidFill>
                  <a:srgbClr val="2A7F50"/>
                </a:solidFill>
                <a:latin typeface="Calibri" pitchFamily="34" charset="0"/>
                <a:ea typeface="Calibri" pitchFamily="34" charset="-122"/>
                <a:cs typeface="Calibri" pitchFamily="34" charset="-120"/>
              </a:rPr>
              <a:t>SUSTAINABILITY · 2 LEVERS</a:t>
            </a:r>
            <a:endParaRPr lang="en-US" sz="780" dirty="0"/>
          </a:p>
        </p:txBody>
      </p:sp>
      <p:sp>
        <p:nvSpPr>
          <p:cNvPr id="116" name="Shape 114"/>
          <p:cNvSpPr/>
          <p:nvPr/>
        </p:nvSpPr>
        <p:spPr>
          <a:xfrm>
            <a:off x="457200" y="5957316"/>
            <a:ext cx="11274552" cy="196596"/>
          </a:xfrm>
          <a:prstGeom prst="rect">
            <a:avLst/>
          </a:prstGeom>
          <a:solidFill>
            <a:srgbClr val="FFFFFF"/>
          </a:solidFill>
          <a:ln/>
        </p:spPr>
      </p:sp>
      <p:sp>
        <p:nvSpPr>
          <p:cNvPr id="117" name="Text 115"/>
          <p:cNvSpPr/>
          <p:nvPr/>
        </p:nvSpPr>
        <p:spPr>
          <a:xfrm>
            <a:off x="658368" y="5961888"/>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Recycled-content (PCR) resin blend</a:t>
            </a:r>
            <a:endParaRPr lang="en-US" sz="800" dirty="0"/>
          </a:p>
        </p:txBody>
      </p:sp>
      <p:sp>
        <p:nvSpPr>
          <p:cNvPr id="118" name="Text 116"/>
          <p:cNvSpPr/>
          <p:nvPr/>
        </p:nvSpPr>
        <p:spPr>
          <a:xfrm>
            <a:off x="3840480" y="5961888"/>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Resin above 35% of cost — 10–30% PCR where colour and mechanicals allow</a:t>
            </a:r>
            <a:endParaRPr lang="en-US" sz="790" dirty="0"/>
          </a:p>
        </p:txBody>
      </p:sp>
      <p:sp>
        <p:nvSpPr>
          <p:cNvPr id="119" name="Text 117"/>
          <p:cNvSpPr/>
          <p:nvPr/>
        </p:nvSpPr>
        <p:spPr>
          <a:xfrm>
            <a:off x="8595360" y="5961888"/>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4%</a:t>
            </a:r>
            <a:endParaRPr lang="en-US" sz="830" dirty="0"/>
          </a:p>
        </p:txBody>
      </p:sp>
      <p:sp>
        <p:nvSpPr>
          <p:cNvPr id="120" name="Text 118"/>
          <p:cNvSpPr/>
          <p:nvPr/>
        </p:nvSpPr>
        <p:spPr>
          <a:xfrm>
            <a:off x="9555480" y="5961888"/>
            <a:ext cx="86868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a:t>
            </a:r>
            <a:endParaRPr lang="en-US" sz="790" dirty="0"/>
          </a:p>
        </p:txBody>
      </p:sp>
      <p:sp>
        <p:nvSpPr>
          <p:cNvPr id="121" name="Text 119"/>
          <p:cNvSpPr/>
          <p:nvPr/>
        </p:nvSpPr>
        <p:spPr>
          <a:xfrm>
            <a:off x="10515600" y="5961888"/>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122" name="Text 120"/>
          <p:cNvSpPr/>
          <p:nvPr/>
        </p:nvSpPr>
        <p:spPr>
          <a:xfrm>
            <a:off x="658368" y="6163056"/>
            <a:ext cx="3108960" cy="192024"/>
          </a:xfrm>
          <a:prstGeom prst="rect">
            <a:avLst/>
          </a:prstGeom>
          <a:noFill/>
          <a:ln/>
        </p:spPr>
        <p:txBody>
          <a:bodyPr wrap="square" lIns="0" tIns="0" rIns="0" bIns="0" rtlCol="0" anchor="ctr"/>
          <a:lstStyle/>
          <a:p>
            <a:pPr indent="0" marL="0">
              <a:buNone/>
            </a:pPr>
            <a:r>
              <a:rPr lang="en-US" sz="800" b="1" dirty="0">
                <a:solidFill>
                  <a:srgbClr val="16325C"/>
                </a:solidFill>
                <a:latin typeface="Calibri" pitchFamily="34" charset="0"/>
                <a:ea typeface="Calibri" pitchFamily="34" charset="-122"/>
                <a:cs typeface="Calibri" pitchFamily="34" charset="-120"/>
              </a:rPr>
              <a:t>Energy productivity programme</a:t>
            </a:r>
            <a:endParaRPr lang="en-US" sz="800" dirty="0"/>
          </a:p>
        </p:txBody>
      </p:sp>
      <p:sp>
        <p:nvSpPr>
          <p:cNvPr id="123" name="Text 121"/>
          <p:cNvSpPr/>
          <p:nvPr/>
        </p:nvSpPr>
        <p:spPr>
          <a:xfrm>
            <a:off x="3840480" y="6163056"/>
            <a:ext cx="4663440" cy="192024"/>
          </a:xfrm>
          <a:prstGeom prst="rect">
            <a:avLst/>
          </a:prstGeom>
          <a:noFill/>
          <a:ln/>
        </p:spPr>
        <p:txBody>
          <a:bodyPr wrap="square" lIns="0" tIns="0" rIns="0" bIns="0" rtlCol="0" anchor="ctr"/>
          <a:lstStyle/>
          <a:p>
            <a:pPr indent="0" marL="0">
              <a:buNone/>
            </a:pPr>
            <a:r>
              <a:rPr lang="en-US" sz="790" dirty="0">
                <a:solidFill>
                  <a:srgbClr val="3A4356"/>
                </a:solidFill>
                <a:latin typeface="Calibri" pitchFamily="34" charset="0"/>
                <a:ea typeface="Calibri" pitchFamily="34" charset="-122"/>
                <a:cs typeface="Calibri" pitchFamily="34" charset="-120"/>
              </a:rPr>
              <a:t>Melt, cure, oven or heat-treat content — energy is inside the machine rate</a:t>
            </a:r>
            <a:endParaRPr lang="en-US" sz="790" dirty="0"/>
          </a:p>
        </p:txBody>
      </p:sp>
      <p:sp>
        <p:nvSpPr>
          <p:cNvPr id="124" name="Text 122"/>
          <p:cNvSpPr/>
          <p:nvPr/>
        </p:nvSpPr>
        <p:spPr>
          <a:xfrm>
            <a:off x="8595360" y="6163056"/>
            <a:ext cx="868680" cy="192024"/>
          </a:xfrm>
          <a:prstGeom prst="rect">
            <a:avLst/>
          </a:prstGeom>
          <a:noFill/>
          <a:ln/>
        </p:spPr>
        <p:txBody>
          <a:bodyPr wrap="square" lIns="0" tIns="0" rIns="0" bIns="0" rtlCol="0" anchor="ctr"/>
          <a:lstStyle/>
          <a:p>
            <a:pPr indent="0" marL="0">
              <a:buNone/>
            </a:pPr>
            <a:r>
              <a:rPr lang="en-US" sz="830" b="1" dirty="0">
                <a:solidFill>
                  <a:srgbClr val="0D7D71"/>
                </a:solidFill>
                <a:latin typeface="Calibri" pitchFamily="34" charset="0"/>
                <a:ea typeface="Calibri" pitchFamily="34" charset="-122"/>
                <a:cs typeface="Calibri" pitchFamily="34" charset="-120"/>
              </a:rPr>
              <a:t>3%</a:t>
            </a:r>
            <a:endParaRPr lang="en-US" sz="830" dirty="0"/>
          </a:p>
        </p:txBody>
      </p:sp>
      <p:sp>
        <p:nvSpPr>
          <p:cNvPr id="125" name="Text 123"/>
          <p:cNvSpPr/>
          <p:nvPr/>
        </p:nvSpPr>
        <p:spPr>
          <a:xfrm>
            <a:off x="9555480" y="6163056"/>
            <a:ext cx="868680" cy="192024"/>
          </a:xfrm>
          <a:prstGeom prst="rect">
            <a:avLst/>
          </a:prstGeom>
          <a:noFill/>
          <a:ln/>
        </p:spPr>
        <p:txBody>
          <a:bodyPr wrap="square" lIns="0" tIns="0" rIns="0" bIns="0" rtlCol="0" anchor="ctr"/>
          <a:lstStyle/>
          <a:p>
            <a:pPr indent="0" marL="0">
              <a:buNone/>
            </a:pPr>
            <a:r>
              <a:rPr lang="en-US" sz="790" b="1" dirty="0">
                <a:solidFill>
                  <a:srgbClr val="2A7F50"/>
                </a:solidFill>
                <a:latin typeface="Calibri" pitchFamily="34" charset="0"/>
                <a:ea typeface="Calibri" pitchFamily="34" charset="-122"/>
                <a:cs typeface="Calibri" pitchFamily="34" charset="-120"/>
              </a:rPr>
              <a:t>Low</a:t>
            </a:r>
            <a:endParaRPr lang="en-US" sz="790" dirty="0"/>
          </a:p>
        </p:txBody>
      </p:sp>
      <p:sp>
        <p:nvSpPr>
          <p:cNvPr id="126" name="Text 124"/>
          <p:cNvSpPr/>
          <p:nvPr/>
        </p:nvSpPr>
        <p:spPr>
          <a:xfrm>
            <a:off x="10515600" y="6163056"/>
            <a:ext cx="1234440" cy="192024"/>
          </a:xfrm>
          <a:prstGeom prst="rect">
            <a:avLst/>
          </a:prstGeom>
          <a:noFill/>
          <a:ln/>
        </p:spPr>
        <p:txBody>
          <a:bodyPr wrap="square" lIns="0" tIns="0" rIns="0" bIns="0" rtlCol="0" anchor="ctr"/>
          <a:lstStyle/>
          <a:p>
            <a:pPr indent="0" marL="0">
              <a:buNone/>
            </a:pPr>
            <a:r>
              <a:rPr lang="en-US" sz="790" b="1" dirty="0">
                <a:solidFill>
                  <a:srgbClr val="99651A"/>
                </a:solidFill>
                <a:latin typeface="Calibri" pitchFamily="34" charset="0"/>
                <a:ea typeface="Calibri" pitchFamily="34" charset="-122"/>
                <a:cs typeface="Calibri" pitchFamily="34" charset="-120"/>
              </a:rPr>
              <a:t>Medium term</a:t>
            </a:r>
            <a:endParaRPr lang="en-US" sz="790" dirty="0"/>
          </a:p>
        </p:txBody>
      </p:sp>
      <p:sp>
        <p:nvSpPr>
          <p:cNvPr id="127" name="Text 125"/>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128" name="Text 126"/>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55</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A7F50"/>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What Engineering Actually Sees</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output for one part — ranked by money, grouped by category, nothing graded</a:t>
            </a:r>
            <a:endParaRPr lang="en-US" sz="1200" dirty="0"/>
          </a:p>
        </p:txBody>
      </p:sp>
      <p:sp>
        <p:nvSpPr>
          <p:cNvPr id="5" name="Shape 3"/>
          <p:cNvSpPr/>
          <p:nvPr/>
        </p:nvSpPr>
        <p:spPr>
          <a:xfrm>
            <a:off x="9445752" y="256032"/>
            <a:ext cx="2286000" cy="310896"/>
          </a:xfrm>
          <a:prstGeom prst="roundRect">
            <a:avLst>
              <a:gd name="adj" fmla="val 50000"/>
            </a:avLst>
          </a:prstGeom>
          <a:solidFill>
            <a:srgbClr val="E6F4F1"/>
          </a:solidFill>
          <a:ln w="12700">
            <a:solidFill>
              <a:srgbClr val="0D7D71"/>
            </a:solidFill>
            <a:prstDash val="solid"/>
          </a:ln>
        </p:spPr>
      </p:sp>
      <p:sp>
        <p:nvSpPr>
          <p:cNvPr id="6" name="Text 4"/>
          <p:cNvSpPr/>
          <p:nvPr/>
        </p:nvSpPr>
        <p:spPr>
          <a:xfrm>
            <a:off x="9445752" y="256032"/>
            <a:ext cx="2286000" cy="310896"/>
          </a:xfrm>
          <a:prstGeom prst="rect">
            <a:avLst/>
          </a:prstGeom>
          <a:noFill/>
          <a:ln/>
        </p:spPr>
        <p:txBody>
          <a:bodyPr wrap="square" lIns="0" tIns="0" rIns="0" bIns="0" rtlCol="0" anchor="ctr"/>
          <a:lstStyle/>
          <a:p>
            <a:pPr algn="ctr" indent="0" marL="0">
              <a:buNone/>
            </a:pPr>
            <a:r>
              <a:rPr lang="en-US" sz="950" b="1" dirty="0">
                <a:solidFill>
                  <a:srgbClr val="0D7D71"/>
                </a:solidFill>
                <a:latin typeface="Calibri" pitchFamily="34" charset="0"/>
                <a:ea typeface="Calibri" pitchFamily="34" charset="-122"/>
                <a:cs typeface="Calibri" pitchFamily="34" charset="-120"/>
              </a:rPr>
              <a:t>OWNER: THE ENGINE</a:t>
            </a:r>
            <a:endParaRPr lang="en-US" sz="950" dirty="0"/>
          </a:p>
        </p:txBody>
      </p:sp>
      <p:sp>
        <p:nvSpPr>
          <p:cNvPr id="7" name="Shape 5"/>
          <p:cNvSpPr/>
          <p:nvPr/>
        </p:nvSpPr>
        <p:spPr>
          <a:xfrm>
            <a:off x="457200" y="1078992"/>
            <a:ext cx="11274552" cy="658368"/>
          </a:xfrm>
          <a:prstGeom prst="roundRect">
            <a:avLst>
              <a:gd name="adj" fmla="val 11111"/>
            </a:avLst>
          </a:prstGeom>
          <a:solidFill>
            <a:srgbClr val="EAF6EF"/>
          </a:solidFill>
          <a:ln w="15875">
            <a:solidFill>
              <a:srgbClr val="2A7F50"/>
            </a:solidFill>
            <a:prstDash val="solid"/>
          </a:ln>
        </p:spPr>
      </p:sp>
      <p:sp>
        <p:nvSpPr>
          <p:cNvPr id="8" name="Text 6"/>
          <p:cNvSpPr/>
          <p:nvPr/>
        </p:nvSpPr>
        <p:spPr>
          <a:xfrm>
            <a:off x="713232" y="1078992"/>
            <a:ext cx="10789920" cy="658368"/>
          </a:xfrm>
          <a:prstGeom prst="rect">
            <a:avLst/>
          </a:prstGeom>
          <a:noFill/>
          <a:ln/>
        </p:spPr>
        <p:txBody>
          <a:bodyPr wrap="square" lIns="0" tIns="0" rIns="0" bIns="0" rtlCol="0" anchor="ctr"/>
          <a:lstStyle/>
          <a:p>
            <a:pPr indent="0" marL="0">
              <a:buNone/>
            </a:pPr>
            <a:r>
              <a:rPr lang="en-US" sz="1300" b="1" dirty="0">
                <a:solidFill>
                  <a:srgbClr val="2A7F50"/>
                </a:solidFill>
                <a:latin typeface="Calibri" pitchFamily="34" charset="0"/>
                <a:ea typeface="Calibri" pitchFamily="34" charset="-122"/>
                <a:cs typeface="Calibri" pitchFamily="34" charset="-120"/>
              </a:rPr>
              <a:t>Combined opportunity £5.38/part </a:t>
            </a:r>
            <a:pPr indent="0" marL="0">
              <a:buNone/>
            </a:pPr>
            <a:r>
              <a:rPr lang="en-US" sz="1000" dirty="0">
                <a:solidFill>
                  <a:srgbClr val="3A4356"/>
                </a:solidFill>
                <a:latin typeface="Calibri" pitchFamily="34" charset="0"/>
                <a:ea typeface="Calibri" pitchFamily="34" charset="-122"/>
                <a:cs typeface="Calibri" pitchFamily="34" charset="-120"/>
              </a:rPr>
              <a:t>(top three, root-sum-square)  ·  machined Al bracket, £24.34 at UK rates  ·  9 ideas in 4 categories — to test, not savings achieved</a:t>
            </a:r>
            <a:endParaRPr lang="en-US" sz="1300" dirty="0"/>
          </a:p>
        </p:txBody>
      </p:sp>
      <p:sp>
        <p:nvSpPr>
          <p:cNvPr id="9" name="Text 7"/>
          <p:cNvSpPr/>
          <p:nvPr/>
        </p:nvSpPr>
        <p:spPr>
          <a:xfrm>
            <a:off x="658368" y="1847088"/>
            <a:ext cx="36576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a:t>
            </a:r>
            <a:endParaRPr lang="en-US" sz="750" dirty="0"/>
          </a:p>
        </p:txBody>
      </p:sp>
      <p:sp>
        <p:nvSpPr>
          <p:cNvPr id="10" name="Text 8"/>
          <p:cNvSpPr/>
          <p:nvPr/>
        </p:nvSpPr>
        <p:spPr>
          <a:xfrm>
            <a:off x="1143000" y="1847088"/>
            <a:ext cx="329184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ACTION</a:t>
            </a:r>
            <a:endParaRPr lang="en-US" sz="750" dirty="0"/>
          </a:p>
        </p:txBody>
      </p:sp>
      <p:sp>
        <p:nvSpPr>
          <p:cNvPr id="11" name="Text 9"/>
          <p:cNvSpPr/>
          <p:nvPr/>
        </p:nvSpPr>
        <p:spPr>
          <a:xfrm>
            <a:off x="4480560" y="1847088"/>
            <a:ext cx="475488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WHY IT IS ON THE LIST</a:t>
            </a:r>
            <a:endParaRPr lang="en-US" sz="750" dirty="0"/>
          </a:p>
        </p:txBody>
      </p:sp>
      <p:sp>
        <p:nvSpPr>
          <p:cNvPr id="12" name="Text 10"/>
          <p:cNvSpPr/>
          <p:nvPr/>
        </p:nvSpPr>
        <p:spPr>
          <a:xfrm>
            <a:off x="9281160" y="1847088"/>
            <a:ext cx="91440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SAVE/PART</a:t>
            </a:r>
            <a:endParaRPr lang="en-US" sz="750" dirty="0"/>
          </a:p>
        </p:txBody>
      </p:sp>
      <p:sp>
        <p:nvSpPr>
          <p:cNvPr id="13" name="Text 11"/>
          <p:cNvSpPr/>
          <p:nvPr/>
        </p:nvSpPr>
        <p:spPr>
          <a:xfrm>
            <a:off x="10287000" y="1847088"/>
            <a:ext cx="77724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RISK</a:t>
            </a:r>
            <a:endParaRPr lang="en-US" sz="750" dirty="0"/>
          </a:p>
        </p:txBody>
      </p:sp>
      <p:sp>
        <p:nvSpPr>
          <p:cNvPr id="14" name="Text 12"/>
          <p:cNvSpPr/>
          <p:nvPr/>
        </p:nvSpPr>
        <p:spPr>
          <a:xfrm>
            <a:off x="11109960" y="1847088"/>
            <a:ext cx="1005840" cy="164592"/>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TIMEFRAME</a:t>
            </a:r>
            <a:endParaRPr lang="en-US" sz="750" dirty="0"/>
          </a:p>
        </p:txBody>
      </p:sp>
      <p:sp>
        <p:nvSpPr>
          <p:cNvPr id="15" name="Shape 13"/>
          <p:cNvSpPr/>
          <p:nvPr/>
        </p:nvSpPr>
        <p:spPr>
          <a:xfrm>
            <a:off x="457200" y="2029968"/>
            <a:ext cx="11274552" cy="201168"/>
          </a:xfrm>
          <a:prstGeom prst="roundRect">
            <a:avLst>
              <a:gd name="adj" fmla="val 22727"/>
            </a:avLst>
          </a:prstGeom>
          <a:solidFill>
            <a:srgbClr val="E8EDF6"/>
          </a:solidFill>
          <a:ln/>
        </p:spPr>
      </p:sp>
      <p:sp>
        <p:nvSpPr>
          <p:cNvPr id="16" name="Text 14"/>
          <p:cNvSpPr/>
          <p:nvPr/>
        </p:nvSpPr>
        <p:spPr>
          <a:xfrm>
            <a:off x="658368" y="2029968"/>
            <a:ext cx="7315200" cy="201168"/>
          </a:xfrm>
          <a:prstGeom prst="rect">
            <a:avLst/>
          </a:prstGeom>
          <a:noFill/>
          <a:ln/>
        </p:spPr>
        <p:txBody>
          <a:bodyPr wrap="square" lIns="0" tIns="0" rIns="0" bIns="0" rtlCol="0" anchor="ctr"/>
          <a:lstStyle/>
          <a:p>
            <a:pPr indent="0" marL="0">
              <a:buNone/>
            </a:pPr>
            <a:r>
              <a:rPr lang="en-US" sz="800" b="1" spc="50" kern="0" dirty="0">
                <a:solidFill>
                  <a:srgbClr val="16325C"/>
                </a:solidFill>
                <a:latin typeface="Calibri" pitchFamily="34" charset="0"/>
                <a:ea typeface="Calibri" pitchFamily="34" charset="-122"/>
                <a:cs typeface="Calibri" pitchFamily="34" charset="-120"/>
              </a:rPr>
              <a:t>COMMERCIAL &amp; SOURCING · 1 opportunity</a:t>
            </a:r>
            <a:endParaRPr lang="en-US" sz="800" dirty="0"/>
          </a:p>
        </p:txBody>
      </p:sp>
      <p:sp>
        <p:nvSpPr>
          <p:cNvPr id="17" name="Text 15"/>
          <p:cNvSpPr/>
          <p:nvPr/>
        </p:nvSpPr>
        <p:spPr>
          <a:xfrm>
            <a:off x="9144000" y="2029968"/>
            <a:ext cx="2377440" cy="201168"/>
          </a:xfrm>
          <a:prstGeom prst="rect">
            <a:avLst/>
          </a:prstGeom>
          <a:noFill/>
          <a:ln/>
        </p:spPr>
        <p:txBody>
          <a:bodyPr wrap="square" lIns="0" tIns="0" rIns="0" bIns="0" rtlCol="0" anchor="ctr"/>
          <a:lstStyle/>
          <a:p>
            <a:pPr algn="r" indent="0" marL="0">
              <a:buNone/>
            </a:pPr>
            <a:r>
              <a:rPr lang="en-US" sz="800" b="1" dirty="0">
                <a:solidFill>
                  <a:srgbClr val="16325C"/>
                </a:solidFill>
                <a:latin typeface="Calibri" pitchFamily="34" charset="0"/>
                <a:ea typeface="Calibri" pitchFamily="34" charset="-122"/>
                <a:cs typeface="Calibri" pitchFamily="34" charset="-120"/>
              </a:rPr>
              <a:t>best £4.38/part</a:t>
            </a:r>
            <a:endParaRPr lang="en-US" sz="800" dirty="0"/>
          </a:p>
        </p:txBody>
      </p:sp>
      <p:sp>
        <p:nvSpPr>
          <p:cNvPr id="18" name="Shape 16"/>
          <p:cNvSpPr/>
          <p:nvPr/>
        </p:nvSpPr>
        <p:spPr>
          <a:xfrm>
            <a:off x="457200" y="2263140"/>
            <a:ext cx="11274552" cy="224028"/>
          </a:xfrm>
          <a:prstGeom prst="rect">
            <a:avLst/>
          </a:prstGeom>
          <a:solidFill>
            <a:srgbClr val="FFFFFF"/>
          </a:solidFill>
          <a:ln/>
        </p:spPr>
      </p:sp>
      <p:sp>
        <p:nvSpPr>
          <p:cNvPr id="19" name="Text 17"/>
          <p:cNvSpPr/>
          <p:nvPr/>
        </p:nvSpPr>
        <p:spPr>
          <a:xfrm>
            <a:off x="658368" y="2267712"/>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1</a:t>
            </a:r>
            <a:endParaRPr lang="en-US" sz="840" dirty="0"/>
          </a:p>
        </p:txBody>
      </p:sp>
      <p:sp>
        <p:nvSpPr>
          <p:cNvPr id="20" name="Text 18"/>
          <p:cNvSpPr/>
          <p:nvPr/>
        </p:nvSpPr>
        <p:spPr>
          <a:xfrm>
            <a:off x="1143000" y="2267712"/>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Regional sourcing study (LCC)</a:t>
            </a:r>
            <a:endParaRPr lang="en-US" sz="840" dirty="0"/>
          </a:p>
        </p:txBody>
      </p:sp>
      <p:sp>
        <p:nvSpPr>
          <p:cNvPr id="21" name="Text 19"/>
          <p:cNvSpPr/>
          <p:nvPr/>
        </p:nvSpPr>
        <p:spPr>
          <a:xfrm>
            <a:off x="4480560" y="2267712"/>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Conversion cost at 69.1% of the part — real regional arbitrage</a:t>
            </a:r>
            <a:endParaRPr lang="en-US" sz="800" dirty="0"/>
          </a:p>
        </p:txBody>
      </p:sp>
      <p:sp>
        <p:nvSpPr>
          <p:cNvPr id="22" name="Text 20"/>
          <p:cNvSpPr/>
          <p:nvPr/>
        </p:nvSpPr>
        <p:spPr>
          <a:xfrm>
            <a:off x="9281160" y="2267712"/>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£4.38</a:t>
            </a:r>
            <a:endParaRPr lang="en-US" sz="900" dirty="0"/>
          </a:p>
        </p:txBody>
      </p:sp>
      <p:sp>
        <p:nvSpPr>
          <p:cNvPr id="23" name="Text 21"/>
          <p:cNvSpPr/>
          <p:nvPr/>
        </p:nvSpPr>
        <p:spPr>
          <a:xfrm>
            <a:off x="10287000" y="2267712"/>
            <a:ext cx="777240" cy="219456"/>
          </a:xfrm>
          <a:prstGeom prst="rect">
            <a:avLst/>
          </a:prstGeom>
          <a:noFill/>
          <a:ln/>
        </p:spPr>
        <p:txBody>
          <a:bodyPr wrap="square" lIns="0" tIns="0" rIns="0" bIns="0" rtlCol="0" anchor="ctr"/>
          <a:lstStyle/>
          <a:p>
            <a:pPr indent="0" marL="0">
              <a:buNone/>
            </a:pPr>
            <a:r>
              <a:rPr lang="en-US" sz="800" b="1" dirty="0">
                <a:solidFill>
                  <a:srgbClr val="B03A2E"/>
                </a:solidFill>
                <a:latin typeface="Calibri" pitchFamily="34" charset="0"/>
                <a:ea typeface="Calibri" pitchFamily="34" charset="-122"/>
                <a:cs typeface="Calibri" pitchFamily="34" charset="-120"/>
              </a:rPr>
              <a:t>High</a:t>
            </a:r>
            <a:endParaRPr lang="en-US" sz="800" dirty="0"/>
          </a:p>
        </p:txBody>
      </p:sp>
      <p:sp>
        <p:nvSpPr>
          <p:cNvPr id="24" name="Text 22"/>
          <p:cNvSpPr/>
          <p:nvPr/>
        </p:nvSpPr>
        <p:spPr>
          <a:xfrm>
            <a:off x="11109960" y="2267712"/>
            <a:ext cx="1005840" cy="219456"/>
          </a:xfrm>
          <a:prstGeom prst="rect">
            <a:avLst/>
          </a:prstGeom>
          <a:noFill/>
          <a:ln/>
        </p:spPr>
        <p:txBody>
          <a:bodyPr wrap="square" lIns="0" tIns="0" rIns="0" bIns="0" rtlCol="0" anchor="ctr"/>
          <a:lstStyle/>
          <a:p>
            <a:pPr indent="0" marL="0">
              <a:buNone/>
            </a:pPr>
            <a:r>
              <a:rPr lang="en-US" sz="800" b="1" dirty="0">
                <a:solidFill>
                  <a:srgbClr val="3A4356"/>
                </a:solidFill>
                <a:latin typeface="Calibri" pitchFamily="34" charset="0"/>
                <a:ea typeface="Calibri" pitchFamily="34" charset="-122"/>
                <a:cs typeface="Calibri" pitchFamily="34" charset="-120"/>
              </a:rPr>
              <a:t>Long term</a:t>
            </a:r>
            <a:endParaRPr lang="en-US" sz="800" dirty="0"/>
          </a:p>
        </p:txBody>
      </p:sp>
      <p:sp>
        <p:nvSpPr>
          <p:cNvPr id="25" name="Shape 23"/>
          <p:cNvSpPr/>
          <p:nvPr/>
        </p:nvSpPr>
        <p:spPr>
          <a:xfrm>
            <a:off x="457200" y="2551176"/>
            <a:ext cx="11274552" cy="201168"/>
          </a:xfrm>
          <a:prstGeom prst="roundRect">
            <a:avLst>
              <a:gd name="adj" fmla="val 22727"/>
            </a:avLst>
          </a:prstGeom>
          <a:solidFill>
            <a:srgbClr val="E6F4F1"/>
          </a:solidFill>
          <a:ln/>
        </p:spPr>
      </p:sp>
      <p:sp>
        <p:nvSpPr>
          <p:cNvPr id="26" name="Text 24"/>
          <p:cNvSpPr/>
          <p:nvPr/>
        </p:nvSpPr>
        <p:spPr>
          <a:xfrm>
            <a:off x="658368" y="2551176"/>
            <a:ext cx="7315200" cy="201168"/>
          </a:xfrm>
          <a:prstGeom prst="rect">
            <a:avLst/>
          </a:prstGeom>
          <a:noFill/>
          <a:ln/>
        </p:spPr>
        <p:txBody>
          <a:bodyPr wrap="square" lIns="0" tIns="0" rIns="0" bIns="0" rtlCol="0" anchor="ctr"/>
          <a:lstStyle/>
          <a:p>
            <a:pPr indent="0" marL="0">
              <a:buNone/>
            </a:pPr>
            <a:r>
              <a:rPr lang="en-US" sz="800" b="1" spc="50" kern="0" dirty="0">
                <a:solidFill>
                  <a:srgbClr val="0D7D71"/>
                </a:solidFill>
                <a:latin typeface="Calibri" pitchFamily="34" charset="0"/>
                <a:ea typeface="Calibri" pitchFamily="34" charset="-122"/>
                <a:cs typeface="Calibri" pitchFamily="34" charset="-120"/>
              </a:rPr>
              <a:t>MATERIAL · 2 opportunities</a:t>
            </a:r>
            <a:endParaRPr lang="en-US" sz="800" dirty="0"/>
          </a:p>
        </p:txBody>
      </p:sp>
      <p:sp>
        <p:nvSpPr>
          <p:cNvPr id="27" name="Text 25"/>
          <p:cNvSpPr/>
          <p:nvPr/>
        </p:nvSpPr>
        <p:spPr>
          <a:xfrm>
            <a:off x="9144000" y="2551176"/>
            <a:ext cx="2377440" cy="201168"/>
          </a:xfrm>
          <a:prstGeom prst="rect">
            <a:avLst/>
          </a:prstGeom>
          <a:noFill/>
          <a:ln/>
        </p:spPr>
        <p:txBody>
          <a:bodyPr wrap="square" lIns="0" tIns="0" rIns="0" bIns="0" rtlCol="0" anchor="ctr"/>
          <a:lstStyle/>
          <a:p>
            <a:pPr algn="r" indent="0" marL="0">
              <a:buNone/>
            </a:pPr>
            <a:r>
              <a:rPr lang="en-US" sz="800" b="1" dirty="0">
                <a:solidFill>
                  <a:srgbClr val="0D7D71"/>
                </a:solidFill>
                <a:latin typeface="Calibri" pitchFamily="34" charset="0"/>
                <a:ea typeface="Calibri" pitchFamily="34" charset="-122"/>
                <a:cs typeface="Calibri" pitchFamily="34" charset="-120"/>
              </a:rPr>
              <a:t>best £2.43/part</a:t>
            </a:r>
            <a:endParaRPr lang="en-US" sz="800" dirty="0"/>
          </a:p>
        </p:txBody>
      </p:sp>
      <p:sp>
        <p:nvSpPr>
          <p:cNvPr id="28" name="Shape 26"/>
          <p:cNvSpPr/>
          <p:nvPr/>
        </p:nvSpPr>
        <p:spPr>
          <a:xfrm>
            <a:off x="457200" y="2784348"/>
            <a:ext cx="11274552" cy="224028"/>
          </a:xfrm>
          <a:prstGeom prst="rect">
            <a:avLst/>
          </a:prstGeom>
          <a:solidFill>
            <a:srgbClr val="FFFFFF"/>
          </a:solidFill>
          <a:ln/>
        </p:spPr>
      </p:sp>
      <p:sp>
        <p:nvSpPr>
          <p:cNvPr id="29" name="Text 27"/>
          <p:cNvSpPr/>
          <p:nvPr/>
        </p:nvSpPr>
        <p:spPr>
          <a:xfrm>
            <a:off x="658368" y="2788920"/>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2</a:t>
            </a:r>
            <a:endParaRPr lang="en-US" sz="840" dirty="0"/>
          </a:p>
        </p:txBody>
      </p:sp>
      <p:sp>
        <p:nvSpPr>
          <p:cNvPr id="30" name="Text 28"/>
          <p:cNvSpPr/>
          <p:nvPr/>
        </p:nvSpPr>
        <p:spPr>
          <a:xfrm>
            <a:off x="1143000" y="2788920"/>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Near-net-shape / better nesting</a:t>
            </a:r>
            <a:endParaRPr lang="en-US" sz="840" dirty="0"/>
          </a:p>
        </p:txBody>
      </p:sp>
      <p:sp>
        <p:nvSpPr>
          <p:cNvPr id="31" name="Text 29"/>
          <p:cNvSpPr/>
          <p:nvPr/>
        </p:nvSpPr>
        <p:spPr>
          <a:xfrm>
            <a:off x="4480560" y="2788920"/>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Utilisation 65% against the 80–90% target</a:t>
            </a:r>
            <a:endParaRPr lang="en-US" sz="800" dirty="0"/>
          </a:p>
        </p:txBody>
      </p:sp>
      <p:sp>
        <p:nvSpPr>
          <p:cNvPr id="32" name="Text 30"/>
          <p:cNvSpPr/>
          <p:nvPr/>
        </p:nvSpPr>
        <p:spPr>
          <a:xfrm>
            <a:off x="9281160" y="2788920"/>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£2.43</a:t>
            </a:r>
            <a:endParaRPr lang="en-US" sz="900" dirty="0"/>
          </a:p>
        </p:txBody>
      </p:sp>
      <p:sp>
        <p:nvSpPr>
          <p:cNvPr id="33" name="Text 31"/>
          <p:cNvSpPr/>
          <p:nvPr/>
        </p:nvSpPr>
        <p:spPr>
          <a:xfrm>
            <a:off x="10287000" y="2788920"/>
            <a:ext cx="7772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a:t>
            </a:r>
            <a:endParaRPr lang="en-US" sz="800" dirty="0"/>
          </a:p>
        </p:txBody>
      </p:sp>
      <p:sp>
        <p:nvSpPr>
          <p:cNvPr id="34" name="Text 32"/>
          <p:cNvSpPr/>
          <p:nvPr/>
        </p:nvSpPr>
        <p:spPr>
          <a:xfrm>
            <a:off x="11109960" y="2788920"/>
            <a:ext cx="10058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Medium term</a:t>
            </a:r>
            <a:endParaRPr lang="en-US" sz="800" dirty="0"/>
          </a:p>
        </p:txBody>
      </p:sp>
      <p:sp>
        <p:nvSpPr>
          <p:cNvPr id="35" name="Text 33"/>
          <p:cNvSpPr/>
          <p:nvPr/>
        </p:nvSpPr>
        <p:spPr>
          <a:xfrm>
            <a:off x="658368" y="3017520"/>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3</a:t>
            </a:r>
            <a:endParaRPr lang="en-US" sz="840" dirty="0"/>
          </a:p>
        </p:txBody>
      </p:sp>
      <p:sp>
        <p:nvSpPr>
          <p:cNvPr id="36" name="Text 34"/>
          <p:cNvSpPr/>
          <p:nvPr/>
        </p:nvSpPr>
        <p:spPr>
          <a:xfrm>
            <a:off x="1143000" y="3017520"/>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Scrap revenue at index prices</a:t>
            </a:r>
            <a:endParaRPr lang="en-US" sz="840" dirty="0"/>
          </a:p>
        </p:txBody>
      </p:sp>
      <p:sp>
        <p:nvSpPr>
          <p:cNvPr id="37" name="Text 35"/>
          <p:cNvSpPr/>
          <p:nvPr/>
        </p:nvSpPr>
        <p:spPr>
          <a:xfrm>
            <a:off x="4480560" y="3017520"/>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35% of bought metal leaves as chips — claim the credit</a:t>
            </a:r>
            <a:endParaRPr lang="en-US" sz="800" dirty="0"/>
          </a:p>
        </p:txBody>
      </p:sp>
      <p:sp>
        <p:nvSpPr>
          <p:cNvPr id="38" name="Text 36"/>
          <p:cNvSpPr/>
          <p:nvPr/>
        </p:nvSpPr>
        <p:spPr>
          <a:xfrm>
            <a:off x="9281160" y="3017520"/>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£0.79</a:t>
            </a:r>
            <a:endParaRPr lang="en-US" sz="900" dirty="0"/>
          </a:p>
        </p:txBody>
      </p:sp>
      <p:sp>
        <p:nvSpPr>
          <p:cNvPr id="39" name="Text 37"/>
          <p:cNvSpPr/>
          <p:nvPr/>
        </p:nvSpPr>
        <p:spPr>
          <a:xfrm>
            <a:off x="10287000" y="3017520"/>
            <a:ext cx="7772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Low</a:t>
            </a:r>
            <a:endParaRPr lang="en-US" sz="800" dirty="0"/>
          </a:p>
        </p:txBody>
      </p:sp>
      <p:sp>
        <p:nvSpPr>
          <p:cNvPr id="40" name="Text 38"/>
          <p:cNvSpPr/>
          <p:nvPr/>
        </p:nvSpPr>
        <p:spPr>
          <a:xfrm>
            <a:off x="11109960" y="3017520"/>
            <a:ext cx="10058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Quick win</a:t>
            </a:r>
            <a:endParaRPr lang="en-US" sz="800" dirty="0"/>
          </a:p>
        </p:txBody>
      </p:sp>
      <p:sp>
        <p:nvSpPr>
          <p:cNvPr id="41" name="Shape 39"/>
          <p:cNvSpPr/>
          <p:nvPr/>
        </p:nvSpPr>
        <p:spPr>
          <a:xfrm>
            <a:off x="457200" y="3300984"/>
            <a:ext cx="11274552" cy="201168"/>
          </a:xfrm>
          <a:prstGeom prst="roundRect">
            <a:avLst>
              <a:gd name="adj" fmla="val 22727"/>
            </a:avLst>
          </a:prstGeom>
          <a:solidFill>
            <a:srgbClr val="E8F1FA"/>
          </a:solidFill>
          <a:ln/>
        </p:spPr>
      </p:sp>
      <p:sp>
        <p:nvSpPr>
          <p:cNvPr id="42" name="Text 40"/>
          <p:cNvSpPr/>
          <p:nvPr/>
        </p:nvSpPr>
        <p:spPr>
          <a:xfrm>
            <a:off x="658368" y="3300984"/>
            <a:ext cx="7315200" cy="201168"/>
          </a:xfrm>
          <a:prstGeom prst="rect">
            <a:avLst/>
          </a:prstGeom>
          <a:noFill/>
          <a:ln/>
        </p:spPr>
        <p:txBody>
          <a:bodyPr wrap="square" lIns="0" tIns="0" rIns="0" bIns="0" rtlCol="0" anchor="ctr"/>
          <a:lstStyle/>
          <a:p>
            <a:pPr indent="0" marL="0">
              <a:buNone/>
            </a:pPr>
            <a:r>
              <a:rPr lang="en-US" sz="800" b="1" spc="50" kern="0" dirty="0">
                <a:solidFill>
                  <a:srgbClr val="1D6FB8"/>
                </a:solidFill>
                <a:latin typeface="Calibri" pitchFamily="34" charset="0"/>
                <a:ea typeface="Calibri" pitchFamily="34" charset="-122"/>
                <a:cs typeface="Calibri" pitchFamily="34" charset="-120"/>
              </a:rPr>
              <a:t>PROCESS &amp; AUTOMATION · 4 opportunities</a:t>
            </a:r>
            <a:endParaRPr lang="en-US" sz="800" dirty="0"/>
          </a:p>
        </p:txBody>
      </p:sp>
      <p:sp>
        <p:nvSpPr>
          <p:cNvPr id="43" name="Text 41"/>
          <p:cNvSpPr/>
          <p:nvPr/>
        </p:nvSpPr>
        <p:spPr>
          <a:xfrm>
            <a:off x="9144000" y="3300984"/>
            <a:ext cx="2377440" cy="201168"/>
          </a:xfrm>
          <a:prstGeom prst="rect">
            <a:avLst/>
          </a:prstGeom>
          <a:noFill/>
          <a:ln/>
        </p:spPr>
        <p:txBody>
          <a:bodyPr wrap="square" lIns="0" tIns="0" rIns="0" bIns="0" rtlCol="0" anchor="ctr"/>
          <a:lstStyle/>
          <a:p>
            <a:pPr algn="r" indent="0" marL="0">
              <a:buNone/>
            </a:pPr>
            <a:r>
              <a:rPr lang="en-US" sz="800" b="1" dirty="0">
                <a:solidFill>
                  <a:srgbClr val="1D6FB8"/>
                </a:solidFill>
                <a:latin typeface="Calibri" pitchFamily="34" charset="0"/>
                <a:ea typeface="Calibri" pitchFamily="34" charset="-122"/>
                <a:cs typeface="Calibri" pitchFamily="34" charset="-120"/>
              </a:rPr>
              <a:t>best £1.95/part</a:t>
            </a:r>
            <a:endParaRPr lang="en-US" sz="800" dirty="0"/>
          </a:p>
        </p:txBody>
      </p:sp>
      <p:sp>
        <p:nvSpPr>
          <p:cNvPr id="44" name="Shape 42"/>
          <p:cNvSpPr/>
          <p:nvPr/>
        </p:nvSpPr>
        <p:spPr>
          <a:xfrm>
            <a:off x="457200" y="3534156"/>
            <a:ext cx="11274552" cy="224028"/>
          </a:xfrm>
          <a:prstGeom prst="rect">
            <a:avLst/>
          </a:prstGeom>
          <a:solidFill>
            <a:srgbClr val="FFFFFF"/>
          </a:solidFill>
          <a:ln/>
        </p:spPr>
      </p:sp>
      <p:sp>
        <p:nvSpPr>
          <p:cNvPr id="45" name="Text 43"/>
          <p:cNvSpPr/>
          <p:nvPr/>
        </p:nvSpPr>
        <p:spPr>
          <a:xfrm>
            <a:off x="658368" y="3538728"/>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4</a:t>
            </a:r>
            <a:endParaRPr lang="en-US" sz="840" dirty="0"/>
          </a:p>
        </p:txBody>
      </p:sp>
      <p:sp>
        <p:nvSpPr>
          <p:cNvPr id="46" name="Text 44"/>
          <p:cNvSpPr/>
          <p:nvPr/>
        </p:nvSpPr>
        <p:spPr>
          <a:xfrm>
            <a:off x="1143000" y="3538728"/>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Attack the bottleneck: "CNC Milling"</a:t>
            </a:r>
            <a:endParaRPr lang="en-US" sz="840" dirty="0"/>
          </a:p>
        </p:txBody>
      </p:sp>
      <p:sp>
        <p:nvSpPr>
          <p:cNvPr id="47" name="Text 45"/>
          <p:cNvSpPr/>
          <p:nvPr/>
        </p:nvSpPr>
        <p:spPr>
          <a:xfrm>
            <a:off x="4480560" y="3538728"/>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One operation carries 66% of the conversion cost</a:t>
            </a:r>
            <a:endParaRPr lang="en-US" sz="800" dirty="0"/>
          </a:p>
        </p:txBody>
      </p:sp>
      <p:sp>
        <p:nvSpPr>
          <p:cNvPr id="48" name="Text 46"/>
          <p:cNvSpPr/>
          <p:nvPr/>
        </p:nvSpPr>
        <p:spPr>
          <a:xfrm>
            <a:off x="9281160" y="3538728"/>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£1.95</a:t>
            </a:r>
            <a:endParaRPr lang="en-US" sz="900" dirty="0"/>
          </a:p>
        </p:txBody>
      </p:sp>
      <p:sp>
        <p:nvSpPr>
          <p:cNvPr id="49" name="Text 47"/>
          <p:cNvSpPr/>
          <p:nvPr/>
        </p:nvSpPr>
        <p:spPr>
          <a:xfrm>
            <a:off x="10287000" y="3538728"/>
            <a:ext cx="7772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a:t>
            </a:r>
            <a:endParaRPr lang="en-US" sz="800" dirty="0"/>
          </a:p>
        </p:txBody>
      </p:sp>
      <p:sp>
        <p:nvSpPr>
          <p:cNvPr id="50" name="Text 48"/>
          <p:cNvSpPr/>
          <p:nvPr/>
        </p:nvSpPr>
        <p:spPr>
          <a:xfrm>
            <a:off x="11109960" y="3538728"/>
            <a:ext cx="10058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Medium term</a:t>
            </a:r>
            <a:endParaRPr lang="en-US" sz="800" dirty="0"/>
          </a:p>
        </p:txBody>
      </p:sp>
      <p:sp>
        <p:nvSpPr>
          <p:cNvPr id="51" name="Text 49"/>
          <p:cNvSpPr/>
          <p:nvPr/>
        </p:nvSpPr>
        <p:spPr>
          <a:xfrm>
            <a:off x="658368" y="3767328"/>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5</a:t>
            </a:r>
            <a:endParaRPr lang="en-US" sz="840" dirty="0"/>
          </a:p>
        </p:txBody>
      </p:sp>
      <p:sp>
        <p:nvSpPr>
          <p:cNvPr id="52" name="Text 50"/>
          <p:cNvSpPr/>
          <p:nvPr/>
        </p:nvSpPr>
        <p:spPr>
          <a:xfrm>
            <a:off x="1143000" y="3767328"/>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Near-net-shape pre-form (cast/forge)</a:t>
            </a:r>
            <a:endParaRPr lang="en-US" sz="840" dirty="0"/>
          </a:p>
        </p:txBody>
      </p:sp>
      <p:sp>
        <p:nvSpPr>
          <p:cNvPr id="53" name="Text 51"/>
          <p:cNvSpPr/>
          <p:nvPr/>
        </p:nvSpPr>
        <p:spPr>
          <a:xfrm>
            <a:off x="4480560" y="3767328"/>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Machining is 45.9% of the part cost</a:t>
            </a:r>
            <a:endParaRPr lang="en-US" sz="800" dirty="0"/>
          </a:p>
        </p:txBody>
      </p:sp>
      <p:sp>
        <p:nvSpPr>
          <p:cNvPr id="54" name="Text 52"/>
          <p:cNvSpPr/>
          <p:nvPr/>
        </p:nvSpPr>
        <p:spPr>
          <a:xfrm>
            <a:off x="9281160" y="3767328"/>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£1.95</a:t>
            </a:r>
            <a:endParaRPr lang="en-US" sz="900" dirty="0"/>
          </a:p>
        </p:txBody>
      </p:sp>
      <p:sp>
        <p:nvSpPr>
          <p:cNvPr id="55" name="Text 53"/>
          <p:cNvSpPr/>
          <p:nvPr/>
        </p:nvSpPr>
        <p:spPr>
          <a:xfrm>
            <a:off x="10287000" y="3767328"/>
            <a:ext cx="7772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a:t>
            </a:r>
            <a:endParaRPr lang="en-US" sz="800" dirty="0"/>
          </a:p>
        </p:txBody>
      </p:sp>
      <p:sp>
        <p:nvSpPr>
          <p:cNvPr id="56" name="Text 54"/>
          <p:cNvSpPr/>
          <p:nvPr/>
        </p:nvSpPr>
        <p:spPr>
          <a:xfrm>
            <a:off x="11109960" y="3767328"/>
            <a:ext cx="10058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Medium term</a:t>
            </a:r>
            <a:endParaRPr lang="en-US" sz="800" dirty="0"/>
          </a:p>
        </p:txBody>
      </p:sp>
      <p:sp>
        <p:nvSpPr>
          <p:cNvPr id="57" name="Shape 55"/>
          <p:cNvSpPr/>
          <p:nvPr/>
        </p:nvSpPr>
        <p:spPr>
          <a:xfrm>
            <a:off x="457200" y="3991356"/>
            <a:ext cx="11274552" cy="224028"/>
          </a:xfrm>
          <a:prstGeom prst="rect">
            <a:avLst/>
          </a:prstGeom>
          <a:solidFill>
            <a:srgbClr val="FFFFFF"/>
          </a:solidFill>
          <a:ln/>
        </p:spPr>
      </p:sp>
      <p:sp>
        <p:nvSpPr>
          <p:cNvPr id="58" name="Text 56"/>
          <p:cNvSpPr/>
          <p:nvPr/>
        </p:nvSpPr>
        <p:spPr>
          <a:xfrm>
            <a:off x="658368" y="3995928"/>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6</a:t>
            </a:r>
            <a:endParaRPr lang="en-US" sz="840" dirty="0"/>
          </a:p>
        </p:txBody>
      </p:sp>
      <p:sp>
        <p:nvSpPr>
          <p:cNvPr id="59" name="Text 57"/>
          <p:cNvSpPr/>
          <p:nvPr/>
        </p:nvSpPr>
        <p:spPr>
          <a:xfrm>
            <a:off x="1143000" y="3995928"/>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Unmanned / lights-out running</a:t>
            </a:r>
            <a:endParaRPr lang="en-US" sz="840" dirty="0"/>
          </a:p>
        </p:txBody>
      </p:sp>
      <p:sp>
        <p:nvSpPr>
          <p:cNvPr id="60" name="Text 58"/>
          <p:cNvSpPr/>
          <p:nvPr/>
        </p:nvSpPr>
        <p:spPr>
          <a:xfrm>
            <a:off x="4480560" y="3995928"/>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Machine-paced, labour 23.2%, OEE 85% — the classic profile</a:t>
            </a:r>
            <a:endParaRPr lang="en-US" sz="800" dirty="0"/>
          </a:p>
        </p:txBody>
      </p:sp>
      <p:sp>
        <p:nvSpPr>
          <p:cNvPr id="61" name="Text 59"/>
          <p:cNvSpPr/>
          <p:nvPr/>
        </p:nvSpPr>
        <p:spPr>
          <a:xfrm>
            <a:off x="9281160" y="3995928"/>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£1.46</a:t>
            </a:r>
            <a:endParaRPr lang="en-US" sz="900" dirty="0"/>
          </a:p>
        </p:txBody>
      </p:sp>
      <p:sp>
        <p:nvSpPr>
          <p:cNvPr id="62" name="Text 60"/>
          <p:cNvSpPr/>
          <p:nvPr/>
        </p:nvSpPr>
        <p:spPr>
          <a:xfrm>
            <a:off x="10287000" y="3995928"/>
            <a:ext cx="7772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a:t>
            </a:r>
            <a:endParaRPr lang="en-US" sz="800" dirty="0"/>
          </a:p>
        </p:txBody>
      </p:sp>
      <p:sp>
        <p:nvSpPr>
          <p:cNvPr id="63" name="Text 61"/>
          <p:cNvSpPr/>
          <p:nvPr/>
        </p:nvSpPr>
        <p:spPr>
          <a:xfrm>
            <a:off x="11109960" y="3995928"/>
            <a:ext cx="1005840" cy="219456"/>
          </a:xfrm>
          <a:prstGeom prst="rect">
            <a:avLst/>
          </a:prstGeom>
          <a:noFill/>
          <a:ln/>
        </p:spPr>
        <p:txBody>
          <a:bodyPr wrap="square" lIns="0" tIns="0" rIns="0" bIns="0" rtlCol="0" anchor="ctr"/>
          <a:lstStyle/>
          <a:p>
            <a:pPr indent="0" marL="0">
              <a:buNone/>
            </a:pPr>
            <a:r>
              <a:rPr lang="en-US" sz="800" b="1" dirty="0">
                <a:solidFill>
                  <a:srgbClr val="99651A"/>
                </a:solidFill>
                <a:latin typeface="Calibri" pitchFamily="34" charset="0"/>
                <a:ea typeface="Calibri" pitchFamily="34" charset="-122"/>
                <a:cs typeface="Calibri" pitchFamily="34" charset="-120"/>
              </a:rPr>
              <a:t>Medium term</a:t>
            </a:r>
            <a:endParaRPr lang="en-US" sz="800" dirty="0"/>
          </a:p>
        </p:txBody>
      </p:sp>
      <p:sp>
        <p:nvSpPr>
          <p:cNvPr id="64" name="Text 62"/>
          <p:cNvSpPr/>
          <p:nvPr/>
        </p:nvSpPr>
        <p:spPr>
          <a:xfrm>
            <a:off x="658368" y="4224528"/>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7</a:t>
            </a:r>
            <a:endParaRPr lang="en-US" sz="840" dirty="0"/>
          </a:p>
        </p:txBody>
      </p:sp>
      <p:sp>
        <p:nvSpPr>
          <p:cNvPr id="65" name="Text 63"/>
          <p:cNvSpPr/>
          <p:nvPr/>
        </p:nvSpPr>
        <p:spPr>
          <a:xfrm>
            <a:off x="1143000" y="4224528"/>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Multi-machine manning</a:t>
            </a:r>
            <a:endParaRPr lang="en-US" sz="840" dirty="0"/>
          </a:p>
        </p:txBody>
      </p:sp>
      <p:sp>
        <p:nvSpPr>
          <p:cNvPr id="66" name="Text 64"/>
          <p:cNvSpPr/>
          <p:nvPr/>
        </p:nvSpPr>
        <p:spPr>
          <a:xfrm>
            <a:off x="4480560" y="4224528"/>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One operator per machine while the machine paces the cycle</a:t>
            </a:r>
            <a:endParaRPr lang="en-US" sz="800" dirty="0"/>
          </a:p>
        </p:txBody>
      </p:sp>
      <p:sp>
        <p:nvSpPr>
          <p:cNvPr id="67" name="Text 65"/>
          <p:cNvSpPr/>
          <p:nvPr/>
        </p:nvSpPr>
        <p:spPr>
          <a:xfrm>
            <a:off x="9281160" y="4224528"/>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£1.22</a:t>
            </a:r>
            <a:endParaRPr lang="en-US" sz="900" dirty="0"/>
          </a:p>
        </p:txBody>
      </p:sp>
      <p:sp>
        <p:nvSpPr>
          <p:cNvPr id="68" name="Text 66"/>
          <p:cNvSpPr/>
          <p:nvPr/>
        </p:nvSpPr>
        <p:spPr>
          <a:xfrm>
            <a:off x="10287000" y="4224528"/>
            <a:ext cx="7772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Low</a:t>
            </a:r>
            <a:endParaRPr lang="en-US" sz="800" dirty="0"/>
          </a:p>
        </p:txBody>
      </p:sp>
      <p:sp>
        <p:nvSpPr>
          <p:cNvPr id="69" name="Text 67"/>
          <p:cNvSpPr/>
          <p:nvPr/>
        </p:nvSpPr>
        <p:spPr>
          <a:xfrm>
            <a:off x="11109960" y="4224528"/>
            <a:ext cx="10058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Quick win</a:t>
            </a:r>
            <a:endParaRPr lang="en-US" sz="800" dirty="0"/>
          </a:p>
        </p:txBody>
      </p:sp>
      <p:sp>
        <p:nvSpPr>
          <p:cNvPr id="70" name="Shape 68"/>
          <p:cNvSpPr/>
          <p:nvPr/>
        </p:nvSpPr>
        <p:spPr>
          <a:xfrm>
            <a:off x="457200" y="4507992"/>
            <a:ext cx="11274552" cy="201168"/>
          </a:xfrm>
          <a:prstGeom prst="roundRect">
            <a:avLst>
              <a:gd name="adj" fmla="val 22727"/>
            </a:avLst>
          </a:prstGeom>
          <a:solidFill>
            <a:srgbClr val="F1EBF8"/>
          </a:solidFill>
          <a:ln/>
        </p:spPr>
      </p:sp>
      <p:sp>
        <p:nvSpPr>
          <p:cNvPr id="71" name="Text 69"/>
          <p:cNvSpPr/>
          <p:nvPr/>
        </p:nvSpPr>
        <p:spPr>
          <a:xfrm>
            <a:off x="658368" y="4507992"/>
            <a:ext cx="7315200" cy="201168"/>
          </a:xfrm>
          <a:prstGeom prst="rect">
            <a:avLst/>
          </a:prstGeom>
          <a:noFill/>
          <a:ln/>
        </p:spPr>
        <p:txBody>
          <a:bodyPr wrap="square" lIns="0" tIns="0" rIns="0" bIns="0" rtlCol="0" anchor="ctr"/>
          <a:lstStyle/>
          <a:p>
            <a:pPr indent="0" marL="0">
              <a:buNone/>
            </a:pPr>
            <a:r>
              <a:rPr lang="en-US" sz="800" b="1" spc="50" kern="0" dirty="0">
                <a:solidFill>
                  <a:srgbClr val="6B3FA0"/>
                </a:solidFill>
                <a:latin typeface="Calibri" pitchFamily="34" charset="0"/>
                <a:ea typeface="Calibri" pitchFamily="34" charset="-122"/>
                <a:cs typeface="Calibri" pitchFamily="34" charset="-120"/>
              </a:rPr>
              <a:t>DESIGN &amp; GEOMETRY · 2 opportunities</a:t>
            </a:r>
            <a:endParaRPr lang="en-US" sz="800" dirty="0"/>
          </a:p>
        </p:txBody>
      </p:sp>
      <p:sp>
        <p:nvSpPr>
          <p:cNvPr id="72" name="Text 70"/>
          <p:cNvSpPr/>
          <p:nvPr/>
        </p:nvSpPr>
        <p:spPr>
          <a:xfrm>
            <a:off x="9144000" y="4507992"/>
            <a:ext cx="2377440" cy="201168"/>
          </a:xfrm>
          <a:prstGeom prst="rect">
            <a:avLst/>
          </a:prstGeom>
          <a:noFill/>
          <a:ln/>
        </p:spPr>
        <p:txBody>
          <a:bodyPr wrap="square" lIns="0" tIns="0" rIns="0" bIns="0" rtlCol="0" anchor="ctr"/>
          <a:lstStyle/>
          <a:p>
            <a:pPr algn="r" indent="0" marL="0">
              <a:buNone/>
            </a:pPr>
            <a:r>
              <a:rPr lang="en-US" sz="800" b="1" dirty="0">
                <a:solidFill>
                  <a:srgbClr val="6B3FA0"/>
                </a:solidFill>
                <a:latin typeface="Calibri" pitchFamily="34" charset="0"/>
                <a:ea typeface="Calibri" pitchFamily="34" charset="-122"/>
                <a:cs typeface="Calibri" pitchFamily="34" charset="-120"/>
              </a:rPr>
              <a:t>best £1.22/part</a:t>
            </a:r>
            <a:endParaRPr lang="en-US" sz="800" dirty="0"/>
          </a:p>
        </p:txBody>
      </p:sp>
      <p:sp>
        <p:nvSpPr>
          <p:cNvPr id="73" name="Shape 71"/>
          <p:cNvSpPr/>
          <p:nvPr/>
        </p:nvSpPr>
        <p:spPr>
          <a:xfrm>
            <a:off x="457200" y="4741164"/>
            <a:ext cx="11274552" cy="224028"/>
          </a:xfrm>
          <a:prstGeom prst="rect">
            <a:avLst/>
          </a:prstGeom>
          <a:solidFill>
            <a:srgbClr val="FFFFFF"/>
          </a:solidFill>
          <a:ln/>
        </p:spPr>
      </p:sp>
      <p:sp>
        <p:nvSpPr>
          <p:cNvPr id="74" name="Text 72"/>
          <p:cNvSpPr/>
          <p:nvPr/>
        </p:nvSpPr>
        <p:spPr>
          <a:xfrm>
            <a:off x="658368" y="4745736"/>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8</a:t>
            </a:r>
            <a:endParaRPr lang="en-US" sz="840" dirty="0"/>
          </a:p>
        </p:txBody>
      </p:sp>
      <p:sp>
        <p:nvSpPr>
          <p:cNvPr id="75" name="Text 73"/>
          <p:cNvSpPr/>
          <p:nvPr/>
        </p:nvSpPr>
        <p:spPr>
          <a:xfrm>
            <a:off x="1143000" y="4745736"/>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Pallet / tombstone fixturing</a:t>
            </a:r>
            <a:endParaRPr lang="en-US" sz="840" dirty="0"/>
          </a:p>
        </p:txBody>
      </p:sp>
      <p:sp>
        <p:nvSpPr>
          <p:cNvPr id="76" name="Text 74"/>
          <p:cNvSpPr/>
          <p:nvPr/>
        </p:nvSpPr>
        <p:spPr>
          <a:xfrm>
            <a:off x="4480560" y="4745736"/>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3 operations across 3 stations imply repeated re-fixturing</a:t>
            </a:r>
            <a:endParaRPr lang="en-US" sz="800" dirty="0"/>
          </a:p>
        </p:txBody>
      </p:sp>
      <p:sp>
        <p:nvSpPr>
          <p:cNvPr id="77" name="Text 75"/>
          <p:cNvSpPr/>
          <p:nvPr/>
        </p:nvSpPr>
        <p:spPr>
          <a:xfrm>
            <a:off x="9281160" y="4745736"/>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£1.22</a:t>
            </a:r>
            <a:endParaRPr lang="en-US" sz="900" dirty="0"/>
          </a:p>
        </p:txBody>
      </p:sp>
      <p:sp>
        <p:nvSpPr>
          <p:cNvPr id="78" name="Text 76"/>
          <p:cNvSpPr/>
          <p:nvPr/>
        </p:nvSpPr>
        <p:spPr>
          <a:xfrm>
            <a:off x="10287000" y="4745736"/>
            <a:ext cx="7772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Low</a:t>
            </a:r>
            <a:endParaRPr lang="en-US" sz="800" dirty="0"/>
          </a:p>
        </p:txBody>
      </p:sp>
      <p:sp>
        <p:nvSpPr>
          <p:cNvPr id="79" name="Text 77"/>
          <p:cNvSpPr/>
          <p:nvPr/>
        </p:nvSpPr>
        <p:spPr>
          <a:xfrm>
            <a:off x="11109960" y="4745736"/>
            <a:ext cx="10058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Quick win</a:t>
            </a:r>
            <a:endParaRPr lang="en-US" sz="800" dirty="0"/>
          </a:p>
        </p:txBody>
      </p:sp>
      <p:sp>
        <p:nvSpPr>
          <p:cNvPr id="80" name="Text 78"/>
          <p:cNvSpPr/>
          <p:nvPr/>
        </p:nvSpPr>
        <p:spPr>
          <a:xfrm>
            <a:off x="658368" y="4974336"/>
            <a:ext cx="365760" cy="219456"/>
          </a:xfrm>
          <a:prstGeom prst="rect">
            <a:avLst/>
          </a:prstGeom>
          <a:noFill/>
          <a:ln/>
        </p:spPr>
        <p:txBody>
          <a:bodyPr wrap="square" lIns="0" tIns="0" rIns="0" bIns="0" rtlCol="0" anchor="ctr"/>
          <a:lstStyle/>
          <a:p>
            <a:pPr indent="0" marL="0">
              <a:buNone/>
            </a:pPr>
            <a:r>
              <a:rPr lang="en-US" sz="840" b="1" dirty="0">
                <a:solidFill>
                  <a:srgbClr val="686F7D"/>
                </a:solidFill>
                <a:latin typeface="Calibri" pitchFamily="34" charset="0"/>
                <a:ea typeface="Calibri" pitchFamily="34" charset="-122"/>
                <a:cs typeface="Calibri" pitchFamily="34" charset="-120"/>
              </a:rPr>
              <a:t>9</a:t>
            </a:r>
            <a:endParaRPr lang="en-US" sz="840" dirty="0"/>
          </a:p>
        </p:txBody>
      </p:sp>
      <p:sp>
        <p:nvSpPr>
          <p:cNvPr id="81" name="Text 79"/>
          <p:cNvSpPr/>
          <p:nvPr/>
        </p:nvSpPr>
        <p:spPr>
          <a:xfrm>
            <a:off x="1143000" y="4974336"/>
            <a:ext cx="3291840" cy="219456"/>
          </a:xfrm>
          <a:prstGeom prst="rect">
            <a:avLst/>
          </a:prstGeom>
          <a:noFill/>
          <a:ln/>
        </p:spPr>
        <p:txBody>
          <a:bodyPr wrap="square" lIns="0" tIns="0" rIns="0" bIns="0" rtlCol="0" anchor="ctr"/>
          <a:lstStyle/>
          <a:p>
            <a:pPr indent="0" marL="0">
              <a:buNone/>
            </a:pPr>
            <a:r>
              <a:rPr lang="en-US" sz="840" b="1" dirty="0">
                <a:solidFill>
                  <a:srgbClr val="16325C"/>
                </a:solidFill>
                <a:latin typeface="Calibri" pitchFamily="34" charset="0"/>
                <a:ea typeface="Calibri" pitchFamily="34" charset="-122"/>
                <a:cs typeface="Calibri" pitchFamily="34" charset="-120"/>
              </a:rPr>
              <a:t>Tolerance &amp; surface-finish relaxation</a:t>
            </a:r>
            <a:endParaRPr lang="en-US" sz="840" dirty="0"/>
          </a:p>
        </p:txBody>
      </p:sp>
      <p:sp>
        <p:nvSpPr>
          <p:cNvPr id="82" name="Text 80"/>
          <p:cNvSpPr/>
          <p:nvPr/>
        </p:nvSpPr>
        <p:spPr>
          <a:xfrm>
            <a:off x="4480560" y="4974336"/>
            <a:ext cx="4754880" cy="219456"/>
          </a:xfrm>
          <a:prstGeom prst="rect">
            <a:avLst/>
          </a:prstGeom>
          <a:noFill/>
          <a:ln/>
        </p:spPr>
        <p:txBody>
          <a:bodyPr wrap="square" lIns="0" tIns="0" rIns="0" bIns="0" rtlCol="0" anchor="ctr"/>
          <a:lstStyle/>
          <a:p>
            <a:pPr indent="0" marL="0">
              <a:buNone/>
            </a:pPr>
            <a:r>
              <a:rPr lang="en-US" sz="800" dirty="0">
                <a:solidFill>
                  <a:srgbClr val="3A4356"/>
                </a:solidFill>
                <a:latin typeface="Calibri" pitchFamily="34" charset="0"/>
                <a:ea typeface="Calibri" pitchFamily="34" charset="-122"/>
                <a:cs typeface="Calibri" pitchFamily="34" charset="-120"/>
              </a:rPr>
              <a:t>The tightest callouts set the machine, cycle and inspection</a:t>
            </a:r>
            <a:endParaRPr lang="en-US" sz="800" dirty="0"/>
          </a:p>
        </p:txBody>
      </p:sp>
      <p:sp>
        <p:nvSpPr>
          <p:cNvPr id="83" name="Text 81"/>
          <p:cNvSpPr/>
          <p:nvPr/>
        </p:nvSpPr>
        <p:spPr>
          <a:xfrm>
            <a:off x="9281160" y="4974336"/>
            <a:ext cx="914400" cy="219456"/>
          </a:xfrm>
          <a:prstGeom prst="rect">
            <a:avLst/>
          </a:prstGeom>
          <a:noFill/>
          <a:ln/>
        </p:spPr>
        <p:txBody>
          <a:bodyPr wrap="square" lIns="0" tIns="0" rIns="0" bIns="0" rtlCol="0" anchor="ctr"/>
          <a:lstStyle/>
          <a:p>
            <a:pPr algn="r" indent="0" marL="0">
              <a:buNone/>
            </a:pPr>
            <a:r>
              <a:rPr lang="en-US" sz="900" b="1" dirty="0">
                <a:solidFill>
                  <a:srgbClr val="2A7F50"/>
                </a:solidFill>
                <a:latin typeface="Calibri" pitchFamily="34" charset="0"/>
                <a:ea typeface="Calibri" pitchFamily="34" charset="-122"/>
                <a:cs typeface="Calibri" pitchFamily="34" charset="-120"/>
              </a:rPr>
              <a:t>£0.97</a:t>
            </a:r>
            <a:endParaRPr lang="en-US" sz="900" dirty="0"/>
          </a:p>
        </p:txBody>
      </p:sp>
      <p:sp>
        <p:nvSpPr>
          <p:cNvPr id="84" name="Text 82"/>
          <p:cNvSpPr/>
          <p:nvPr/>
        </p:nvSpPr>
        <p:spPr>
          <a:xfrm>
            <a:off x="10287000" y="4974336"/>
            <a:ext cx="7772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Low</a:t>
            </a:r>
            <a:endParaRPr lang="en-US" sz="800" dirty="0"/>
          </a:p>
        </p:txBody>
      </p:sp>
      <p:sp>
        <p:nvSpPr>
          <p:cNvPr id="85" name="Text 83"/>
          <p:cNvSpPr/>
          <p:nvPr/>
        </p:nvSpPr>
        <p:spPr>
          <a:xfrm>
            <a:off x="11109960" y="4974336"/>
            <a:ext cx="1005840" cy="219456"/>
          </a:xfrm>
          <a:prstGeom prst="rect">
            <a:avLst/>
          </a:prstGeom>
          <a:noFill/>
          <a:ln/>
        </p:spPr>
        <p:txBody>
          <a:bodyPr wrap="square" lIns="0" tIns="0" rIns="0" bIns="0" rtlCol="0" anchor="ctr"/>
          <a:lstStyle/>
          <a:p>
            <a:pPr indent="0" marL="0">
              <a:buNone/>
            </a:pPr>
            <a:r>
              <a:rPr lang="en-US" sz="800" b="1" dirty="0">
                <a:solidFill>
                  <a:srgbClr val="2A7F50"/>
                </a:solidFill>
                <a:latin typeface="Calibri" pitchFamily="34" charset="0"/>
                <a:ea typeface="Calibri" pitchFamily="34" charset="-122"/>
                <a:cs typeface="Calibri" pitchFamily="34" charset="-120"/>
              </a:rPr>
              <a:t>Quick win</a:t>
            </a:r>
            <a:endParaRPr lang="en-US" sz="800" dirty="0"/>
          </a:p>
        </p:txBody>
      </p:sp>
      <p:sp>
        <p:nvSpPr>
          <p:cNvPr id="86" name="Shape 84"/>
          <p:cNvSpPr/>
          <p:nvPr/>
        </p:nvSpPr>
        <p:spPr>
          <a:xfrm>
            <a:off x="457200" y="5614416"/>
            <a:ext cx="11274552" cy="694944"/>
          </a:xfrm>
          <a:prstGeom prst="roundRect">
            <a:avLst>
              <a:gd name="adj" fmla="val 13158"/>
            </a:avLst>
          </a:prstGeom>
          <a:solidFill>
            <a:srgbClr val="16325C"/>
          </a:solidFill>
          <a:ln/>
        </p:spPr>
      </p:sp>
      <p:sp>
        <p:nvSpPr>
          <p:cNvPr id="87" name="Text 85"/>
          <p:cNvSpPr/>
          <p:nvPr/>
        </p:nvSpPr>
        <p:spPr>
          <a:xfrm>
            <a:off x="777240" y="5687568"/>
            <a:ext cx="10652760" cy="548640"/>
          </a:xfrm>
          <a:prstGeom prst="rect">
            <a:avLst/>
          </a:prstGeom>
          <a:noFill/>
          <a:ln/>
        </p:spPr>
        <p:txBody>
          <a:bodyPr wrap="square" lIns="0" tIns="0" rIns="0" bIns="0" rtlCol="0" anchor="ctr"/>
          <a:lstStyle/>
          <a:p>
            <a:pPr indent="0" marL="0">
              <a:buNone/>
            </a:pPr>
            <a:r>
              <a:rPr lang="en-US" sz="1150" b="1" dirty="0">
                <a:solidFill>
                  <a:srgbClr val="9FB6E0"/>
                </a:solidFill>
                <a:latin typeface="Calibri" pitchFamily="34" charset="0"/>
                <a:ea typeface="Calibri" pitchFamily="34" charset="-122"/>
                <a:cs typeface="Calibri" pitchFamily="34" charset="-120"/>
              </a:rPr>
              <a:t>Read the whole slide and notice what is missing:  </a:t>
            </a:r>
            <a:pPr indent="0" marL="0">
              <a:buNone/>
            </a:pPr>
            <a:r>
              <a:rPr lang="en-US" sz="1150" dirty="0">
                <a:solidFill>
                  <a:srgbClr val="FFFFFF"/>
                </a:solidFill>
                <a:latin typeface="Calibri" pitchFamily="34" charset="0"/>
                <a:ea typeface="Calibri" pitchFamily="34" charset="-122"/>
                <a:cs typeface="Calibri" pitchFamily="34" charset="-120"/>
              </a:rPr>
              <a:t>no score, no “critical”, nothing that grades the design. Nine things to do, what each is worth, the risk and how long it takes — deterministic findings, presented as work rather than as a verdict.</a:t>
            </a:r>
            <a:endParaRPr lang="en-US" sz="1150" dirty="0"/>
          </a:p>
        </p:txBody>
      </p:sp>
      <p:sp>
        <p:nvSpPr>
          <p:cNvPr id="88" name="Text 86"/>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DFM, DFA &amp; idea generation — the complete rule library</a:t>
            </a:r>
            <a:endParaRPr lang="en-US" sz="850" dirty="0"/>
          </a:p>
        </p:txBody>
      </p:sp>
      <p:sp>
        <p:nvSpPr>
          <p:cNvPr id="89" name="Text 87"/>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56</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6325C"/>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Technical Architecture — Boxes, Code and Data Flow</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Six steps with the cost engine in the middle. Each box: what it is built from, and what it hands on</a:t>
            </a:r>
            <a:endParaRPr lang="en-US" sz="1200" dirty="0"/>
          </a:p>
        </p:txBody>
      </p:sp>
      <p:sp>
        <p:nvSpPr>
          <p:cNvPr id="5" name="Shape 3"/>
          <p:cNvSpPr/>
          <p:nvPr/>
        </p:nvSpPr>
        <p:spPr>
          <a:xfrm>
            <a:off x="457200" y="969264"/>
            <a:ext cx="1078992" cy="1481328"/>
          </a:xfrm>
          <a:prstGeom prst="roundRect">
            <a:avLst>
              <a:gd name="adj" fmla="val 6780"/>
            </a:avLst>
          </a:prstGeom>
          <a:solidFill>
            <a:srgbClr val="FFFFFF"/>
          </a:solidFill>
          <a:ln w="15875">
            <a:solidFill>
              <a:srgbClr val="1D6FB8"/>
            </a:solidFill>
            <a:prstDash val="solid"/>
          </a:ln>
        </p:spPr>
      </p:sp>
      <p:sp>
        <p:nvSpPr>
          <p:cNvPr id="6" name="Shape 4"/>
          <p:cNvSpPr/>
          <p:nvPr/>
        </p:nvSpPr>
        <p:spPr>
          <a:xfrm>
            <a:off x="868680" y="1033272"/>
            <a:ext cx="256032" cy="256032"/>
          </a:xfrm>
          <a:prstGeom prst="ellipse">
            <a:avLst/>
          </a:prstGeom>
          <a:solidFill>
            <a:srgbClr val="1D6FB8"/>
          </a:solidFill>
          <a:ln/>
        </p:spPr>
      </p:sp>
      <p:sp>
        <p:nvSpPr>
          <p:cNvPr id="7" name="Text 5"/>
          <p:cNvSpPr/>
          <p:nvPr/>
        </p:nvSpPr>
        <p:spPr>
          <a:xfrm>
            <a:off x="868680"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1</a:t>
            </a:r>
            <a:endParaRPr lang="en-US" sz="860" dirty="0"/>
          </a:p>
        </p:txBody>
      </p:sp>
      <p:sp>
        <p:nvSpPr>
          <p:cNvPr id="8" name="Text 6"/>
          <p:cNvSpPr/>
          <p:nvPr/>
        </p:nvSpPr>
        <p:spPr>
          <a:xfrm>
            <a:off x="502920" y="1316736"/>
            <a:ext cx="987552" cy="182880"/>
          </a:xfrm>
          <a:prstGeom prst="rect">
            <a:avLst/>
          </a:prstGeom>
          <a:noFill/>
          <a:ln/>
        </p:spPr>
        <p:txBody>
          <a:bodyPr wrap="square" lIns="0" tIns="0" rIns="0" bIns="0" rtlCol="0" anchor="ctr"/>
          <a:lstStyle/>
          <a:p>
            <a:pPr algn="ctr" indent="0" marL="0">
              <a:buNone/>
            </a:pPr>
            <a:r>
              <a:rPr lang="en-US" sz="880" b="1" dirty="0">
                <a:solidFill>
                  <a:srgbClr val="1D6FB8"/>
                </a:solidFill>
                <a:latin typeface="Calibri" pitchFamily="34" charset="0"/>
                <a:ea typeface="Calibri" pitchFamily="34" charset="-122"/>
                <a:cs typeface="Calibri" pitchFamily="34" charset="-120"/>
              </a:rPr>
              <a:t>Upload</a:t>
            </a:r>
            <a:endParaRPr lang="en-US" sz="880" dirty="0"/>
          </a:p>
        </p:txBody>
      </p:sp>
      <p:sp>
        <p:nvSpPr>
          <p:cNvPr id="9" name="Text 7"/>
          <p:cNvSpPr/>
          <p:nvPr/>
        </p:nvSpPr>
        <p:spPr>
          <a:xfrm>
            <a:off x="512064"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A CAD file, or a typed commodity form</a:t>
            </a:r>
            <a:endParaRPr lang="en-US" sz="750" dirty="0"/>
          </a:p>
        </p:txBody>
      </p:sp>
      <p:sp>
        <p:nvSpPr>
          <p:cNvPr id="10" name="Shape 8"/>
          <p:cNvSpPr/>
          <p:nvPr/>
        </p:nvSpPr>
        <p:spPr>
          <a:xfrm>
            <a:off x="512064" y="1901952"/>
            <a:ext cx="969264" cy="493776"/>
          </a:xfrm>
          <a:prstGeom prst="roundRect">
            <a:avLst>
              <a:gd name="adj" fmla="val 9259"/>
            </a:avLst>
          </a:prstGeom>
          <a:solidFill>
            <a:srgbClr val="F0F4F9"/>
          </a:solidFill>
          <a:ln w="9525">
            <a:solidFill>
              <a:srgbClr val="DCE3EE"/>
            </a:solidFill>
            <a:prstDash val="solid"/>
          </a:ln>
        </p:spPr>
      </p:sp>
      <p:sp>
        <p:nvSpPr>
          <p:cNvPr id="11" name="Text 9"/>
          <p:cNvSpPr/>
          <p:nvPr/>
        </p:nvSpPr>
        <p:spPr>
          <a:xfrm>
            <a:off x="512064"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12" name="Text 10"/>
          <p:cNvSpPr/>
          <p:nvPr/>
        </p:nvSpPr>
        <p:spPr>
          <a:xfrm>
            <a:off x="484632"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the file</a:t>
            </a:r>
            <a:endParaRPr lang="en-US" sz="750" dirty="0"/>
          </a:p>
        </p:txBody>
      </p:sp>
      <p:sp>
        <p:nvSpPr>
          <p:cNvPr id="13" name="Text 11"/>
          <p:cNvSpPr/>
          <p:nvPr/>
        </p:nvSpPr>
        <p:spPr>
          <a:xfrm>
            <a:off x="512064"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STEP · IGES · STL · DXF</a:t>
            </a:r>
            <a:endParaRPr lang="en-US" sz="750" dirty="0"/>
          </a:p>
        </p:txBody>
      </p:sp>
      <p:sp>
        <p:nvSpPr>
          <p:cNvPr id="14" name="Shape 12"/>
          <p:cNvSpPr/>
          <p:nvPr/>
        </p:nvSpPr>
        <p:spPr>
          <a:xfrm>
            <a:off x="1627632" y="969264"/>
            <a:ext cx="1078992" cy="1481328"/>
          </a:xfrm>
          <a:prstGeom prst="roundRect">
            <a:avLst>
              <a:gd name="adj" fmla="val 6780"/>
            </a:avLst>
          </a:prstGeom>
          <a:solidFill>
            <a:srgbClr val="FFFFFF"/>
          </a:solidFill>
          <a:ln w="15875">
            <a:solidFill>
              <a:srgbClr val="99651A"/>
            </a:solidFill>
            <a:prstDash val="solid"/>
          </a:ln>
        </p:spPr>
      </p:sp>
      <p:sp>
        <p:nvSpPr>
          <p:cNvPr id="15" name="Shape 13"/>
          <p:cNvSpPr/>
          <p:nvPr/>
        </p:nvSpPr>
        <p:spPr>
          <a:xfrm>
            <a:off x="2039112" y="1033272"/>
            <a:ext cx="256032" cy="256032"/>
          </a:xfrm>
          <a:prstGeom prst="ellipse">
            <a:avLst/>
          </a:prstGeom>
          <a:solidFill>
            <a:srgbClr val="99651A"/>
          </a:solidFill>
          <a:ln/>
        </p:spPr>
      </p:sp>
      <p:sp>
        <p:nvSpPr>
          <p:cNvPr id="16" name="Text 14"/>
          <p:cNvSpPr/>
          <p:nvPr/>
        </p:nvSpPr>
        <p:spPr>
          <a:xfrm>
            <a:off x="2039112"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2</a:t>
            </a:r>
            <a:endParaRPr lang="en-US" sz="860" dirty="0"/>
          </a:p>
        </p:txBody>
      </p:sp>
      <p:sp>
        <p:nvSpPr>
          <p:cNvPr id="17" name="Text 15"/>
          <p:cNvSpPr/>
          <p:nvPr/>
        </p:nvSpPr>
        <p:spPr>
          <a:xfrm>
            <a:off x="1673352" y="1316736"/>
            <a:ext cx="987552" cy="182880"/>
          </a:xfrm>
          <a:prstGeom prst="rect">
            <a:avLst/>
          </a:prstGeom>
          <a:noFill/>
          <a:ln/>
        </p:spPr>
        <p:txBody>
          <a:bodyPr wrap="square" lIns="0" tIns="0" rIns="0" bIns="0" rtlCol="0" anchor="ctr"/>
          <a:lstStyle/>
          <a:p>
            <a:pPr algn="ctr" indent="0" marL="0">
              <a:buNone/>
            </a:pPr>
            <a:r>
              <a:rPr lang="en-US" sz="880" b="1" dirty="0">
                <a:solidFill>
                  <a:srgbClr val="99651A"/>
                </a:solidFill>
                <a:latin typeface="Calibri" pitchFamily="34" charset="0"/>
                <a:ea typeface="Calibri" pitchFamily="34" charset="-122"/>
                <a:cs typeface="Calibri" pitchFamily="34" charset="-120"/>
              </a:rPr>
              <a:t>Measure</a:t>
            </a:r>
            <a:endParaRPr lang="en-US" sz="880" dirty="0"/>
          </a:p>
        </p:txBody>
      </p:sp>
      <p:sp>
        <p:nvSpPr>
          <p:cNvPr id="18" name="Text 16"/>
          <p:cNvSpPr/>
          <p:nvPr/>
        </p:nvSpPr>
        <p:spPr>
          <a:xfrm>
            <a:off x="1682496"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The Python kernel measures the solid</a:t>
            </a:r>
            <a:endParaRPr lang="en-US" sz="750" dirty="0"/>
          </a:p>
        </p:txBody>
      </p:sp>
      <p:sp>
        <p:nvSpPr>
          <p:cNvPr id="19" name="Shape 17"/>
          <p:cNvSpPr/>
          <p:nvPr/>
        </p:nvSpPr>
        <p:spPr>
          <a:xfrm>
            <a:off x="1682496" y="1901952"/>
            <a:ext cx="969264" cy="493776"/>
          </a:xfrm>
          <a:prstGeom prst="roundRect">
            <a:avLst>
              <a:gd name="adj" fmla="val 9259"/>
            </a:avLst>
          </a:prstGeom>
          <a:solidFill>
            <a:srgbClr val="F0F4F9"/>
          </a:solidFill>
          <a:ln w="9525">
            <a:solidFill>
              <a:srgbClr val="DCE3EE"/>
            </a:solidFill>
            <a:prstDash val="solid"/>
          </a:ln>
        </p:spPr>
      </p:sp>
      <p:sp>
        <p:nvSpPr>
          <p:cNvPr id="20" name="Text 18"/>
          <p:cNvSpPr/>
          <p:nvPr/>
        </p:nvSpPr>
        <p:spPr>
          <a:xfrm>
            <a:off x="1682496"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21" name="Text 19"/>
          <p:cNvSpPr/>
          <p:nvPr/>
        </p:nvSpPr>
        <p:spPr>
          <a:xfrm>
            <a:off x="1655064"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OCCTGeometry</a:t>
            </a:r>
            <a:endParaRPr lang="en-US" sz="750" dirty="0"/>
          </a:p>
        </p:txBody>
      </p:sp>
      <p:sp>
        <p:nvSpPr>
          <p:cNvPr id="22" name="Text 20"/>
          <p:cNvSpPr/>
          <p:nvPr/>
        </p:nvSpPr>
        <p:spPr>
          <a:xfrm>
            <a:off x="1682496"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size, walls, holes, draft</a:t>
            </a:r>
            <a:endParaRPr lang="en-US" sz="750" dirty="0"/>
          </a:p>
        </p:txBody>
      </p:sp>
      <p:sp>
        <p:nvSpPr>
          <p:cNvPr id="23" name="Shape 21"/>
          <p:cNvSpPr/>
          <p:nvPr/>
        </p:nvSpPr>
        <p:spPr>
          <a:xfrm>
            <a:off x="2798064" y="969264"/>
            <a:ext cx="1078992" cy="1481328"/>
          </a:xfrm>
          <a:prstGeom prst="roundRect">
            <a:avLst>
              <a:gd name="adj" fmla="val 6780"/>
            </a:avLst>
          </a:prstGeom>
          <a:solidFill>
            <a:srgbClr val="FFFFFF"/>
          </a:solidFill>
          <a:ln w="15875">
            <a:solidFill>
              <a:srgbClr val="0D7D71"/>
            </a:solidFill>
            <a:prstDash val="solid"/>
          </a:ln>
        </p:spPr>
      </p:sp>
      <p:sp>
        <p:nvSpPr>
          <p:cNvPr id="24" name="Shape 22"/>
          <p:cNvSpPr/>
          <p:nvPr/>
        </p:nvSpPr>
        <p:spPr>
          <a:xfrm>
            <a:off x="3209544" y="1033272"/>
            <a:ext cx="256032" cy="256032"/>
          </a:xfrm>
          <a:prstGeom prst="ellipse">
            <a:avLst/>
          </a:prstGeom>
          <a:solidFill>
            <a:srgbClr val="0D7D71"/>
          </a:solidFill>
          <a:ln/>
        </p:spPr>
      </p:sp>
      <p:sp>
        <p:nvSpPr>
          <p:cNvPr id="25" name="Text 23"/>
          <p:cNvSpPr/>
          <p:nvPr/>
        </p:nvSpPr>
        <p:spPr>
          <a:xfrm>
            <a:off x="3209544"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3</a:t>
            </a:r>
            <a:endParaRPr lang="en-US" sz="860" dirty="0"/>
          </a:p>
        </p:txBody>
      </p:sp>
      <p:sp>
        <p:nvSpPr>
          <p:cNvPr id="26" name="Text 24"/>
          <p:cNvSpPr/>
          <p:nvPr/>
        </p:nvSpPr>
        <p:spPr>
          <a:xfrm>
            <a:off x="2843784" y="1316736"/>
            <a:ext cx="987552" cy="182880"/>
          </a:xfrm>
          <a:prstGeom prst="rect">
            <a:avLst/>
          </a:prstGeom>
          <a:noFill/>
          <a:ln/>
        </p:spPr>
        <p:txBody>
          <a:bodyPr wrap="square" lIns="0" tIns="0" rIns="0" bIns="0" rtlCol="0" anchor="ctr"/>
          <a:lstStyle/>
          <a:p>
            <a:pPr algn="ctr" indent="0" marL="0">
              <a:buNone/>
            </a:pPr>
            <a:r>
              <a:rPr lang="en-US" sz="880" b="1" dirty="0">
                <a:solidFill>
                  <a:srgbClr val="0D7D71"/>
                </a:solidFill>
                <a:latin typeface="Calibri" pitchFamily="34" charset="0"/>
                <a:ea typeface="Calibri" pitchFamily="34" charset="-122"/>
                <a:cs typeface="Calibri" pitchFamily="34" charset="-120"/>
              </a:rPr>
              <a:t>Derive</a:t>
            </a:r>
            <a:endParaRPr lang="en-US" sz="880" dirty="0"/>
          </a:p>
        </p:txBody>
      </p:sp>
      <p:sp>
        <p:nvSpPr>
          <p:cNvPr id="27" name="Text 25"/>
          <p:cNvSpPr/>
          <p:nvPr/>
        </p:nvSpPr>
        <p:spPr>
          <a:xfrm>
            <a:off x="2852928"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Rules turn measurements into cost inputs</a:t>
            </a:r>
            <a:endParaRPr lang="en-US" sz="750" dirty="0"/>
          </a:p>
        </p:txBody>
      </p:sp>
      <p:sp>
        <p:nvSpPr>
          <p:cNvPr id="28" name="Shape 26"/>
          <p:cNvSpPr/>
          <p:nvPr/>
        </p:nvSpPr>
        <p:spPr>
          <a:xfrm>
            <a:off x="2852928" y="1901952"/>
            <a:ext cx="969264" cy="493776"/>
          </a:xfrm>
          <a:prstGeom prst="roundRect">
            <a:avLst>
              <a:gd name="adj" fmla="val 9259"/>
            </a:avLst>
          </a:prstGeom>
          <a:solidFill>
            <a:srgbClr val="F0F4F9"/>
          </a:solidFill>
          <a:ln w="9525">
            <a:solidFill>
              <a:srgbClr val="DCE3EE"/>
            </a:solidFill>
            <a:prstDash val="solid"/>
          </a:ln>
        </p:spPr>
      </p:sp>
      <p:sp>
        <p:nvSpPr>
          <p:cNvPr id="29" name="Text 27"/>
          <p:cNvSpPr/>
          <p:nvPr/>
        </p:nvSpPr>
        <p:spPr>
          <a:xfrm>
            <a:off x="2852928"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30" name="Text 28"/>
          <p:cNvSpPr/>
          <p:nvPr/>
        </p:nvSpPr>
        <p:spPr>
          <a:xfrm>
            <a:off x="2825496"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cost inputs</a:t>
            </a:r>
            <a:endParaRPr lang="en-US" sz="750" dirty="0"/>
          </a:p>
        </p:txBody>
      </p:sp>
      <p:sp>
        <p:nvSpPr>
          <p:cNvPr id="31" name="Text 29"/>
          <p:cNvSpPr/>
          <p:nvPr/>
        </p:nvSpPr>
        <p:spPr>
          <a:xfrm>
            <a:off x="2852928"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material, operations, tooling</a:t>
            </a:r>
            <a:endParaRPr lang="en-US" sz="750" dirty="0"/>
          </a:p>
        </p:txBody>
      </p:sp>
      <p:sp>
        <p:nvSpPr>
          <p:cNvPr id="32" name="Shape 30"/>
          <p:cNvSpPr/>
          <p:nvPr/>
        </p:nvSpPr>
        <p:spPr>
          <a:xfrm>
            <a:off x="3913632" y="1709928"/>
            <a:ext cx="201168" cy="0"/>
          </a:xfrm>
          <a:prstGeom prst="line">
            <a:avLst/>
          </a:prstGeom>
          <a:noFill/>
          <a:ln w="31750">
            <a:solidFill>
              <a:srgbClr val="0D7D71"/>
            </a:solidFill>
            <a:prstDash val="solid"/>
            <a:tailEnd type="triangle"/>
          </a:ln>
        </p:spPr>
      </p:sp>
      <p:sp>
        <p:nvSpPr>
          <p:cNvPr id="33" name="Shape 31"/>
          <p:cNvSpPr/>
          <p:nvPr/>
        </p:nvSpPr>
        <p:spPr>
          <a:xfrm>
            <a:off x="4151376" y="969264"/>
            <a:ext cx="3895344" cy="1481328"/>
          </a:xfrm>
          <a:prstGeom prst="roundRect">
            <a:avLst>
              <a:gd name="adj" fmla="val 6173"/>
            </a:avLst>
          </a:prstGeom>
          <a:solidFill>
            <a:srgbClr val="E6F4F1"/>
          </a:solidFill>
          <a:ln w="25400">
            <a:solidFill>
              <a:srgbClr val="0D7D71"/>
            </a:solidFill>
            <a:prstDash val="solid"/>
          </a:ln>
        </p:spPr>
      </p:sp>
      <p:sp>
        <p:nvSpPr>
          <p:cNvPr id="34" name="Text 32"/>
          <p:cNvSpPr/>
          <p:nvPr/>
        </p:nvSpPr>
        <p:spPr>
          <a:xfrm>
            <a:off x="4279392" y="1014984"/>
            <a:ext cx="3657600" cy="201168"/>
          </a:xfrm>
          <a:prstGeom prst="rect">
            <a:avLst/>
          </a:prstGeom>
          <a:noFill/>
          <a:ln/>
        </p:spPr>
        <p:txBody>
          <a:bodyPr wrap="square" lIns="0" tIns="0" rIns="0" bIns="0" rtlCol="0" anchor="ctr"/>
          <a:lstStyle/>
          <a:p>
            <a:pPr indent="0" marL="0">
              <a:buNone/>
            </a:pPr>
            <a:r>
              <a:rPr lang="en-US" sz="1050" b="1" dirty="0">
                <a:solidFill>
                  <a:srgbClr val="0D7D71"/>
                </a:solidFill>
                <a:latin typeface="Calibri" pitchFamily="34" charset="0"/>
                <a:ea typeface="Calibri" pitchFamily="34" charset="-122"/>
                <a:cs typeface="Calibri" pitchFamily="34" charset="-120"/>
              </a:rPr>
              <a:t>THE COST ENGINE  ·  src/engine/</a:t>
            </a:r>
            <a:endParaRPr lang="en-US" sz="1050" dirty="0"/>
          </a:p>
        </p:txBody>
      </p:sp>
      <p:sp>
        <p:nvSpPr>
          <p:cNvPr id="35" name="Text 33"/>
          <p:cNvSpPr/>
          <p:nvPr/>
        </p:nvSpPr>
        <p:spPr>
          <a:xfrm>
            <a:off x="4279392" y="1207008"/>
            <a:ext cx="3657600" cy="164592"/>
          </a:xfrm>
          <a:prstGeom prst="rect">
            <a:avLst/>
          </a:prstGeom>
          <a:noFill/>
          <a:ln/>
        </p:spPr>
        <p:txBody>
          <a:bodyPr wrap="square" lIns="0" tIns="0" rIns="0" bIns="0" rtlCol="0" anchor="ctr"/>
          <a:lstStyle/>
          <a:p>
            <a:pPr indent="0" marL="0">
              <a:buNone/>
            </a:pPr>
            <a:r>
              <a:rPr lang="en-US" sz="750" i="1" dirty="0">
                <a:solidFill>
                  <a:srgbClr val="16325C"/>
                </a:solidFill>
                <a:latin typeface="Calibri" pitchFamily="34" charset="0"/>
                <a:ea typeface="Calibri" pitchFamily="34" charset="-122"/>
                <a:cs typeface="Calibri" pitchFamily="34" charset="-120"/>
              </a:rPr>
              <a:t>TypeScript · ~30,500 lines · 2,438 tests · runs in browser and server</a:t>
            </a:r>
            <a:endParaRPr lang="en-US" sz="750" dirty="0"/>
          </a:p>
        </p:txBody>
      </p:sp>
      <p:sp>
        <p:nvSpPr>
          <p:cNvPr id="36" name="Shape 34"/>
          <p:cNvSpPr/>
          <p:nvPr/>
        </p:nvSpPr>
        <p:spPr>
          <a:xfrm>
            <a:off x="4279392" y="1444752"/>
            <a:ext cx="64008" cy="64008"/>
          </a:xfrm>
          <a:prstGeom prst="ellipse">
            <a:avLst/>
          </a:prstGeom>
          <a:solidFill>
            <a:srgbClr val="0D7D71"/>
          </a:solidFill>
          <a:ln/>
        </p:spPr>
      </p:sp>
      <p:sp>
        <p:nvSpPr>
          <p:cNvPr id="37" name="Text 35"/>
          <p:cNvSpPr/>
          <p:nvPr/>
        </p:nvSpPr>
        <p:spPr>
          <a:xfrm>
            <a:off x="4389120" y="1399032"/>
            <a:ext cx="173736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core.ts: the 8 cost buckets</a:t>
            </a:r>
            <a:endParaRPr lang="en-US" sz="750" dirty="0"/>
          </a:p>
        </p:txBody>
      </p:sp>
      <p:sp>
        <p:nvSpPr>
          <p:cNvPr id="38" name="Shape 36"/>
          <p:cNvSpPr/>
          <p:nvPr/>
        </p:nvSpPr>
        <p:spPr>
          <a:xfrm>
            <a:off x="6126480" y="1444752"/>
            <a:ext cx="64008" cy="64008"/>
          </a:xfrm>
          <a:prstGeom prst="ellipse">
            <a:avLst/>
          </a:prstGeom>
          <a:solidFill>
            <a:srgbClr val="0D7D71"/>
          </a:solidFill>
          <a:ln/>
        </p:spPr>
      </p:sp>
      <p:sp>
        <p:nvSpPr>
          <p:cNvPr id="39" name="Text 37"/>
          <p:cNvSpPr/>
          <p:nvPr/>
        </p:nvSpPr>
        <p:spPr>
          <a:xfrm>
            <a:off x="6236208" y="1399032"/>
            <a:ext cx="173736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19 commodity modules</a:t>
            </a:r>
            <a:endParaRPr lang="en-US" sz="750" dirty="0"/>
          </a:p>
        </p:txBody>
      </p:sp>
      <p:sp>
        <p:nvSpPr>
          <p:cNvPr id="40" name="Shape 38"/>
          <p:cNvSpPr/>
          <p:nvPr/>
        </p:nvSpPr>
        <p:spPr>
          <a:xfrm>
            <a:off x="4279392" y="1613916"/>
            <a:ext cx="64008" cy="64008"/>
          </a:xfrm>
          <a:prstGeom prst="ellipse">
            <a:avLst/>
          </a:prstGeom>
          <a:solidFill>
            <a:srgbClr val="0D7D71"/>
          </a:solidFill>
          <a:ln/>
        </p:spPr>
      </p:sp>
      <p:sp>
        <p:nvSpPr>
          <p:cNvPr id="41" name="Text 39"/>
          <p:cNvSpPr/>
          <p:nvPr/>
        </p:nvSpPr>
        <p:spPr>
          <a:xfrm>
            <a:off x="4389120" y="1568196"/>
            <a:ext cx="173736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Optimisers pick the machine</a:t>
            </a:r>
            <a:endParaRPr lang="en-US" sz="750" dirty="0"/>
          </a:p>
        </p:txBody>
      </p:sp>
      <p:sp>
        <p:nvSpPr>
          <p:cNvPr id="42" name="Shape 40"/>
          <p:cNvSpPr/>
          <p:nvPr/>
        </p:nvSpPr>
        <p:spPr>
          <a:xfrm>
            <a:off x="6126480" y="1613916"/>
            <a:ext cx="64008" cy="64008"/>
          </a:xfrm>
          <a:prstGeom prst="ellipse">
            <a:avLst/>
          </a:prstGeom>
          <a:solidFill>
            <a:srgbClr val="0D7D71"/>
          </a:solidFill>
          <a:ln/>
        </p:spPr>
      </p:sp>
      <p:sp>
        <p:nvSpPr>
          <p:cNvPr id="43" name="Text 41"/>
          <p:cNvSpPr/>
          <p:nvPr/>
        </p:nvSpPr>
        <p:spPr>
          <a:xfrm>
            <a:off x="6236208" y="1568196"/>
            <a:ext cx="173736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Guardrails check every number</a:t>
            </a:r>
            <a:endParaRPr lang="en-US" sz="750" dirty="0"/>
          </a:p>
        </p:txBody>
      </p:sp>
      <p:sp>
        <p:nvSpPr>
          <p:cNvPr id="44" name="Shape 42"/>
          <p:cNvSpPr/>
          <p:nvPr/>
        </p:nvSpPr>
        <p:spPr>
          <a:xfrm>
            <a:off x="4279392" y="1755648"/>
            <a:ext cx="3639312" cy="274320"/>
          </a:xfrm>
          <a:prstGeom prst="roundRect">
            <a:avLst>
              <a:gd name="adj" fmla="val 16667"/>
            </a:avLst>
          </a:prstGeom>
          <a:solidFill>
            <a:srgbClr val="FFFFFF"/>
          </a:solidFill>
          <a:ln w="9525">
            <a:solidFill>
              <a:srgbClr val="0D7D71"/>
            </a:solidFill>
            <a:prstDash val="solid"/>
          </a:ln>
        </p:spPr>
      </p:sp>
      <p:sp>
        <p:nvSpPr>
          <p:cNvPr id="45" name="Text 43"/>
          <p:cNvSpPr/>
          <p:nvPr/>
        </p:nvSpPr>
        <p:spPr>
          <a:xfrm>
            <a:off x="4352544" y="1755648"/>
            <a:ext cx="3493008" cy="274320"/>
          </a:xfrm>
          <a:prstGeom prst="rect">
            <a:avLst/>
          </a:prstGeom>
          <a:noFill/>
          <a:ln/>
        </p:spPr>
        <p:txBody>
          <a:bodyPr wrap="square" lIns="0" tIns="0" rIns="0" bIns="0" rtlCol="0" anchor="ctr"/>
          <a:lstStyle/>
          <a:p>
            <a:pPr indent="0" marL="0">
              <a:buNone/>
            </a:pPr>
            <a:r>
              <a:rPr lang="en-US" sz="750" b="1" dirty="0">
                <a:solidFill>
                  <a:srgbClr val="686F7D"/>
                </a:solidFill>
                <a:latin typeface="Calibri" pitchFamily="34" charset="0"/>
                <a:ea typeface="Calibri" pitchFamily="34" charset="-122"/>
                <a:cs typeface="Calibri" pitchFamily="34" charset="-120"/>
              </a:rPr>
              <a:t>HANDS ON  </a:t>
            </a:r>
            <a:pPr indent="0" marL="0">
              <a:buNone/>
            </a:pPr>
            <a:r>
              <a:rPr lang="en-US" sz="750" b="1" dirty="0">
                <a:solidFill>
                  <a:srgbClr val="16325C"/>
                </a:solidFill>
                <a:latin typeface="Consolas" pitchFamily="34" charset="0"/>
                <a:ea typeface="Consolas" pitchFamily="34" charset="-122"/>
                <a:cs typeface="Consolas" pitchFamily="34" charset="-120"/>
              </a:rPr>
              <a:t>PartCostResult</a:t>
            </a:r>
            <a:pPr indent="0" marL="0">
              <a:buNone/>
            </a:pPr>
            <a:r>
              <a:rPr lang="en-US" sz="750" dirty="0">
                <a:solidFill>
                  <a:srgbClr val="3A4356"/>
                </a:solidFill>
                <a:latin typeface="Calibri" pitchFamily="34" charset="0"/>
                <a:ea typeface="Calibri" pitchFamily="34" charset="-122"/>
                <a:cs typeface="Calibri" pitchFamily="34" charset="-120"/>
              </a:rPr>
              <a:t>  — 8 buckets + where each number came from</a:t>
            </a:r>
            <a:endParaRPr lang="en-US" sz="750" dirty="0"/>
          </a:p>
        </p:txBody>
      </p:sp>
      <p:sp>
        <p:nvSpPr>
          <p:cNvPr id="46" name="Shape 44"/>
          <p:cNvSpPr/>
          <p:nvPr/>
        </p:nvSpPr>
        <p:spPr>
          <a:xfrm>
            <a:off x="4279392" y="2084832"/>
            <a:ext cx="3639312" cy="274320"/>
          </a:xfrm>
          <a:prstGeom prst="roundRect">
            <a:avLst>
              <a:gd name="adj" fmla="val 16667"/>
            </a:avLst>
          </a:prstGeom>
          <a:solidFill>
            <a:srgbClr val="16325C"/>
          </a:solidFill>
          <a:ln/>
        </p:spPr>
      </p:sp>
      <p:sp>
        <p:nvSpPr>
          <p:cNvPr id="47" name="Text 45"/>
          <p:cNvSpPr/>
          <p:nvPr/>
        </p:nvSpPr>
        <p:spPr>
          <a:xfrm>
            <a:off x="4370832" y="2084832"/>
            <a:ext cx="3456432" cy="274320"/>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Numbers in, numbers out. No database, no network, no file access.</a:t>
            </a:r>
            <a:endParaRPr lang="en-US" sz="750" dirty="0"/>
          </a:p>
        </p:txBody>
      </p:sp>
      <p:sp>
        <p:nvSpPr>
          <p:cNvPr id="48" name="Shape 46"/>
          <p:cNvSpPr/>
          <p:nvPr/>
        </p:nvSpPr>
        <p:spPr>
          <a:xfrm>
            <a:off x="8083296" y="1709928"/>
            <a:ext cx="201168" cy="0"/>
          </a:xfrm>
          <a:prstGeom prst="line">
            <a:avLst/>
          </a:prstGeom>
          <a:noFill/>
          <a:ln w="31750">
            <a:solidFill>
              <a:srgbClr val="0D7D71"/>
            </a:solidFill>
            <a:prstDash val="solid"/>
            <a:tailEnd type="triangle"/>
          </a:ln>
        </p:spPr>
      </p:sp>
      <p:sp>
        <p:nvSpPr>
          <p:cNvPr id="49" name="Shape 47"/>
          <p:cNvSpPr/>
          <p:nvPr/>
        </p:nvSpPr>
        <p:spPr>
          <a:xfrm>
            <a:off x="8302752" y="969264"/>
            <a:ext cx="1078992" cy="1481328"/>
          </a:xfrm>
          <a:prstGeom prst="roundRect">
            <a:avLst>
              <a:gd name="adj" fmla="val 6780"/>
            </a:avLst>
          </a:prstGeom>
          <a:solidFill>
            <a:srgbClr val="FFFFFF"/>
          </a:solidFill>
          <a:ln w="15875">
            <a:solidFill>
              <a:srgbClr val="99651A"/>
            </a:solidFill>
            <a:prstDash val="solid"/>
          </a:ln>
        </p:spPr>
      </p:sp>
      <p:sp>
        <p:nvSpPr>
          <p:cNvPr id="50" name="Shape 48"/>
          <p:cNvSpPr/>
          <p:nvPr/>
        </p:nvSpPr>
        <p:spPr>
          <a:xfrm>
            <a:off x="8714232" y="1033272"/>
            <a:ext cx="256032" cy="256032"/>
          </a:xfrm>
          <a:prstGeom prst="ellipse">
            <a:avLst/>
          </a:prstGeom>
          <a:solidFill>
            <a:srgbClr val="99651A"/>
          </a:solidFill>
          <a:ln/>
        </p:spPr>
      </p:sp>
      <p:sp>
        <p:nvSpPr>
          <p:cNvPr id="51" name="Text 49"/>
          <p:cNvSpPr/>
          <p:nvPr/>
        </p:nvSpPr>
        <p:spPr>
          <a:xfrm>
            <a:off x="8714232"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4</a:t>
            </a:r>
            <a:endParaRPr lang="en-US" sz="860" dirty="0"/>
          </a:p>
        </p:txBody>
      </p:sp>
      <p:sp>
        <p:nvSpPr>
          <p:cNvPr id="52" name="Text 50"/>
          <p:cNvSpPr/>
          <p:nvPr/>
        </p:nvSpPr>
        <p:spPr>
          <a:xfrm>
            <a:off x="8348472" y="1316736"/>
            <a:ext cx="987552" cy="182880"/>
          </a:xfrm>
          <a:prstGeom prst="rect">
            <a:avLst/>
          </a:prstGeom>
          <a:noFill/>
          <a:ln/>
        </p:spPr>
        <p:txBody>
          <a:bodyPr wrap="square" lIns="0" tIns="0" rIns="0" bIns="0" rtlCol="0" anchor="ctr"/>
          <a:lstStyle/>
          <a:p>
            <a:pPr algn="ctr" indent="0" marL="0">
              <a:buNone/>
            </a:pPr>
            <a:r>
              <a:rPr lang="en-US" sz="880" b="1" dirty="0">
                <a:solidFill>
                  <a:srgbClr val="99651A"/>
                </a:solidFill>
                <a:latin typeface="Calibri" pitchFamily="34" charset="0"/>
                <a:ea typeface="Calibri" pitchFamily="34" charset="-122"/>
                <a:cs typeface="Calibri" pitchFamily="34" charset="-120"/>
              </a:rPr>
              <a:t>Check</a:t>
            </a:r>
            <a:endParaRPr lang="en-US" sz="880" dirty="0"/>
          </a:p>
        </p:txBody>
      </p:sp>
      <p:sp>
        <p:nvSpPr>
          <p:cNvPr id="53" name="Text 51"/>
          <p:cNvSpPr/>
          <p:nvPr/>
        </p:nvSpPr>
        <p:spPr>
          <a:xfrm>
            <a:off x="8357616"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Guardrails, self-audit and the confidence band</a:t>
            </a:r>
            <a:endParaRPr lang="en-US" sz="750" dirty="0"/>
          </a:p>
        </p:txBody>
      </p:sp>
      <p:sp>
        <p:nvSpPr>
          <p:cNvPr id="54" name="Shape 52"/>
          <p:cNvSpPr/>
          <p:nvPr/>
        </p:nvSpPr>
        <p:spPr>
          <a:xfrm>
            <a:off x="8357616" y="1901952"/>
            <a:ext cx="969264" cy="493776"/>
          </a:xfrm>
          <a:prstGeom prst="roundRect">
            <a:avLst>
              <a:gd name="adj" fmla="val 9259"/>
            </a:avLst>
          </a:prstGeom>
          <a:solidFill>
            <a:srgbClr val="F0F4F9"/>
          </a:solidFill>
          <a:ln w="9525">
            <a:solidFill>
              <a:srgbClr val="DCE3EE"/>
            </a:solidFill>
            <a:prstDash val="solid"/>
          </a:ln>
        </p:spPr>
      </p:sp>
      <p:sp>
        <p:nvSpPr>
          <p:cNvPr id="55" name="Text 53"/>
          <p:cNvSpPr/>
          <p:nvPr/>
        </p:nvSpPr>
        <p:spPr>
          <a:xfrm>
            <a:off x="8357616"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56" name="Text 54"/>
          <p:cNvSpPr/>
          <p:nvPr/>
        </p:nvSpPr>
        <p:spPr>
          <a:xfrm>
            <a:off x="8330184"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a checked cost</a:t>
            </a:r>
            <a:endParaRPr lang="en-US" sz="750" dirty="0"/>
          </a:p>
        </p:txBody>
      </p:sp>
      <p:sp>
        <p:nvSpPr>
          <p:cNvPr id="57" name="Text 55"/>
          <p:cNvSpPr/>
          <p:nvPr/>
        </p:nvSpPr>
        <p:spPr>
          <a:xfrm>
            <a:off x="8357616"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plus any warnings</a:t>
            </a:r>
            <a:endParaRPr lang="en-US" sz="750" dirty="0"/>
          </a:p>
        </p:txBody>
      </p:sp>
      <p:sp>
        <p:nvSpPr>
          <p:cNvPr id="58" name="Shape 56"/>
          <p:cNvSpPr/>
          <p:nvPr/>
        </p:nvSpPr>
        <p:spPr>
          <a:xfrm>
            <a:off x="9473184" y="969264"/>
            <a:ext cx="1078992" cy="1481328"/>
          </a:xfrm>
          <a:prstGeom prst="roundRect">
            <a:avLst>
              <a:gd name="adj" fmla="val 6780"/>
            </a:avLst>
          </a:prstGeom>
          <a:solidFill>
            <a:srgbClr val="FFFFFF"/>
          </a:solidFill>
          <a:ln w="15875">
            <a:solidFill>
              <a:srgbClr val="2A7F50"/>
            </a:solidFill>
            <a:prstDash val="solid"/>
          </a:ln>
        </p:spPr>
      </p:sp>
      <p:sp>
        <p:nvSpPr>
          <p:cNvPr id="59" name="Shape 57"/>
          <p:cNvSpPr/>
          <p:nvPr/>
        </p:nvSpPr>
        <p:spPr>
          <a:xfrm>
            <a:off x="9884664" y="1033272"/>
            <a:ext cx="256032" cy="256032"/>
          </a:xfrm>
          <a:prstGeom prst="ellipse">
            <a:avLst/>
          </a:prstGeom>
          <a:solidFill>
            <a:srgbClr val="2A7F50"/>
          </a:solidFill>
          <a:ln/>
        </p:spPr>
      </p:sp>
      <p:sp>
        <p:nvSpPr>
          <p:cNvPr id="60" name="Text 58"/>
          <p:cNvSpPr/>
          <p:nvPr/>
        </p:nvSpPr>
        <p:spPr>
          <a:xfrm>
            <a:off x="9884664"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5</a:t>
            </a:r>
            <a:endParaRPr lang="en-US" sz="860" dirty="0"/>
          </a:p>
        </p:txBody>
      </p:sp>
      <p:sp>
        <p:nvSpPr>
          <p:cNvPr id="61" name="Text 59"/>
          <p:cNvSpPr/>
          <p:nvPr/>
        </p:nvSpPr>
        <p:spPr>
          <a:xfrm>
            <a:off x="9518904" y="1316736"/>
            <a:ext cx="987552" cy="182880"/>
          </a:xfrm>
          <a:prstGeom prst="rect">
            <a:avLst/>
          </a:prstGeom>
          <a:noFill/>
          <a:ln/>
        </p:spPr>
        <p:txBody>
          <a:bodyPr wrap="square" lIns="0" tIns="0" rIns="0" bIns="0" rtlCol="0" anchor="ctr"/>
          <a:lstStyle/>
          <a:p>
            <a:pPr algn="ctr" indent="0" marL="0">
              <a:buNone/>
            </a:pPr>
            <a:r>
              <a:rPr lang="en-US" sz="880" b="1" dirty="0">
                <a:solidFill>
                  <a:srgbClr val="2A7F50"/>
                </a:solidFill>
                <a:latin typeface="Calibri" pitchFamily="34" charset="0"/>
                <a:ea typeface="Calibri" pitchFamily="34" charset="-122"/>
                <a:cs typeface="Calibri" pitchFamily="34" charset="-120"/>
              </a:rPr>
              <a:t>Rank</a:t>
            </a:r>
            <a:endParaRPr lang="en-US" sz="880" dirty="0"/>
          </a:p>
        </p:txBody>
      </p:sp>
      <p:sp>
        <p:nvSpPr>
          <p:cNvPr id="62" name="Text 60"/>
          <p:cNvSpPr/>
          <p:nvPr/>
        </p:nvSpPr>
        <p:spPr>
          <a:xfrm>
            <a:off x="9528048"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Findings become savings, ranked by money</a:t>
            </a:r>
            <a:endParaRPr lang="en-US" sz="750" dirty="0"/>
          </a:p>
        </p:txBody>
      </p:sp>
      <p:sp>
        <p:nvSpPr>
          <p:cNvPr id="63" name="Shape 61"/>
          <p:cNvSpPr/>
          <p:nvPr/>
        </p:nvSpPr>
        <p:spPr>
          <a:xfrm>
            <a:off x="9528048" y="1901952"/>
            <a:ext cx="969264" cy="493776"/>
          </a:xfrm>
          <a:prstGeom prst="roundRect">
            <a:avLst>
              <a:gd name="adj" fmla="val 9259"/>
            </a:avLst>
          </a:prstGeom>
          <a:solidFill>
            <a:srgbClr val="F0F4F9"/>
          </a:solidFill>
          <a:ln w="9525">
            <a:solidFill>
              <a:srgbClr val="DCE3EE"/>
            </a:solidFill>
            <a:prstDash val="solid"/>
          </a:ln>
        </p:spPr>
      </p:sp>
      <p:sp>
        <p:nvSpPr>
          <p:cNvPr id="64" name="Text 62"/>
          <p:cNvSpPr/>
          <p:nvPr/>
        </p:nvSpPr>
        <p:spPr>
          <a:xfrm>
            <a:off x="9528048"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65" name="Text 63"/>
          <p:cNvSpPr/>
          <p:nvPr/>
        </p:nvSpPr>
        <p:spPr>
          <a:xfrm>
            <a:off x="9500616"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ranked ideas</a:t>
            </a:r>
            <a:endParaRPr lang="en-US" sz="750" dirty="0"/>
          </a:p>
        </p:txBody>
      </p:sp>
      <p:sp>
        <p:nvSpPr>
          <p:cNvPr id="66" name="Text 64"/>
          <p:cNvSpPr/>
          <p:nvPr/>
        </p:nvSpPr>
        <p:spPr>
          <a:xfrm>
            <a:off x="9528048"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what to do, what it is worth</a:t>
            </a:r>
            <a:endParaRPr lang="en-US" sz="750" dirty="0"/>
          </a:p>
        </p:txBody>
      </p:sp>
      <p:sp>
        <p:nvSpPr>
          <p:cNvPr id="67" name="Shape 65"/>
          <p:cNvSpPr/>
          <p:nvPr/>
        </p:nvSpPr>
        <p:spPr>
          <a:xfrm>
            <a:off x="10643616" y="969264"/>
            <a:ext cx="1078992" cy="1481328"/>
          </a:xfrm>
          <a:prstGeom prst="roundRect">
            <a:avLst>
              <a:gd name="adj" fmla="val 6780"/>
            </a:avLst>
          </a:prstGeom>
          <a:solidFill>
            <a:srgbClr val="FFFFFF"/>
          </a:solidFill>
          <a:ln w="15875">
            <a:solidFill>
              <a:srgbClr val="6B3FA0"/>
            </a:solidFill>
            <a:prstDash val="solid"/>
          </a:ln>
        </p:spPr>
      </p:sp>
      <p:sp>
        <p:nvSpPr>
          <p:cNvPr id="68" name="Shape 66"/>
          <p:cNvSpPr/>
          <p:nvPr/>
        </p:nvSpPr>
        <p:spPr>
          <a:xfrm>
            <a:off x="11055096" y="1033272"/>
            <a:ext cx="256032" cy="256032"/>
          </a:xfrm>
          <a:prstGeom prst="ellipse">
            <a:avLst/>
          </a:prstGeom>
          <a:solidFill>
            <a:srgbClr val="6B3FA0"/>
          </a:solidFill>
          <a:ln/>
        </p:spPr>
      </p:sp>
      <p:sp>
        <p:nvSpPr>
          <p:cNvPr id="69" name="Text 67"/>
          <p:cNvSpPr/>
          <p:nvPr/>
        </p:nvSpPr>
        <p:spPr>
          <a:xfrm>
            <a:off x="11055096" y="1033272"/>
            <a:ext cx="256032" cy="256032"/>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6</a:t>
            </a:r>
            <a:endParaRPr lang="en-US" sz="860" dirty="0"/>
          </a:p>
        </p:txBody>
      </p:sp>
      <p:sp>
        <p:nvSpPr>
          <p:cNvPr id="70" name="Text 68"/>
          <p:cNvSpPr/>
          <p:nvPr/>
        </p:nvSpPr>
        <p:spPr>
          <a:xfrm>
            <a:off x="10689336" y="1316736"/>
            <a:ext cx="987552" cy="182880"/>
          </a:xfrm>
          <a:prstGeom prst="rect">
            <a:avLst/>
          </a:prstGeom>
          <a:noFill/>
          <a:ln/>
        </p:spPr>
        <p:txBody>
          <a:bodyPr wrap="square" lIns="0" tIns="0" rIns="0" bIns="0" rtlCol="0" anchor="ctr"/>
          <a:lstStyle/>
          <a:p>
            <a:pPr algn="ctr" indent="0" marL="0">
              <a:buNone/>
            </a:pPr>
            <a:r>
              <a:rPr lang="en-US" sz="880" b="1" dirty="0">
                <a:solidFill>
                  <a:srgbClr val="6B3FA0"/>
                </a:solidFill>
                <a:latin typeface="Calibri" pitchFamily="34" charset="0"/>
                <a:ea typeface="Calibri" pitchFamily="34" charset="-122"/>
                <a:cs typeface="Calibri" pitchFamily="34" charset="-120"/>
              </a:rPr>
              <a:t>Keep</a:t>
            </a:r>
            <a:endParaRPr lang="en-US" sz="880" dirty="0"/>
          </a:p>
        </p:txBody>
      </p:sp>
      <p:sp>
        <p:nvSpPr>
          <p:cNvPr id="71" name="Text 69"/>
          <p:cNvSpPr/>
          <p:nvPr/>
        </p:nvSpPr>
        <p:spPr>
          <a:xfrm>
            <a:off x="10698480" y="1499616"/>
            <a:ext cx="969264" cy="384048"/>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Saved locally; reports made in the browser</a:t>
            </a:r>
            <a:endParaRPr lang="en-US" sz="750" dirty="0"/>
          </a:p>
        </p:txBody>
      </p:sp>
      <p:sp>
        <p:nvSpPr>
          <p:cNvPr id="72" name="Shape 70"/>
          <p:cNvSpPr/>
          <p:nvPr/>
        </p:nvSpPr>
        <p:spPr>
          <a:xfrm>
            <a:off x="10698480" y="1901952"/>
            <a:ext cx="969264" cy="493776"/>
          </a:xfrm>
          <a:prstGeom prst="roundRect">
            <a:avLst>
              <a:gd name="adj" fmla="val 9259"/>
            </a:avLst>
          </a:prstGeom>
          <a:solidFill>
            <a:srgbClr val="F0F4F9"/>
          </a:solidFill>
          <a:ln w="9525">
            <a:solidFill>
              <a:srgbClr val="DCE3EE"/>
            </a:solidFill>
            <a:prstDash val="solid"/>
          </a:ln>
        </p:spPr>
      </p:sp>
      <p:sp>
        <p:nvSpPr>
          <p:cNvPr id="73" name="Text 71"/>
          <p:cNvSpPr/>
          <p:nvPr/>
        </p:nvSpPr>
        <p:spPr>
          <a:xfrm>
            <a:off x="10698480" y="1920240"/>
            <a:ext cx="969264" cy="109728"/>
          </a:xfrm>
          <a:prstGeom prst="rect">
            <a:avLst/>
          </a:prstGeom>
          <a:noFill/>
          <a:ln/>
        </p:spPr>
        <p:txBody>
          <a:bodyPr wrap="square" lIns="0" tIns="0" rIns="0" bIns="0" rtlCol="0" anchor="ctr"/>
          <a:lstStyle/>
          <a:p>
            <a:pPr algn="ctr" indent="0" marL="0">
              <a:buNone/>
            </a:pPr>
            <a:r>
              <a:rPr lang="en-US" sz="750" b="1" spc="30" kern="0" dirty="0">
                <a:solidFill>
                  <a:srgbClr val="686F7D"/>
                </a:solidFill>
                <a:latin typeface="Calibri" pitchFamily="34" charset="0"/>
                <a:ea typeface="Calibri" pitchFamily="34" charset="-122"/>
                <a:cs typeface="Calibri" pitchFamily="34" charset="-120"/>
              </a:rPr>
              <a:t>HANDS ON</a:t>
            </a:r>
            <a:endParaRPr lang="en-US" sz="750" dirty="0"/>
          </a:p>
        </p:txBody>
      </p:sp>
      <p:sp>
        <p:nvSpPr>
          <p:cNvPr id="74" name="Text 72"/>
          <p:cNvSpPr/>
          <p:nvPr/>
        </p:nvSpPr>
        <p:spPr>
          <a:xfrm>
            <a:off x="10671048" y="2029968"/>
            <a:ext cx="1024128" cy="128016"/>
          </a:xfrm>
          <a:prstGeom prst="rect">
            <a:avLst/>
          </a:prstGeom>
          <a:noFill/>
          <a:ln/>
        </p:spPr>
        <p:txBody>
          <a:bodyPr wrap="square" lIns="0" tIns="0" rIns="0" bIns="0" rtlCol="0" anchor="ctr"/>
          <a:lstStyle/>
          <a:p>
            <a:pPr algn="ctr" indent="0" marL="0">
              <a:buNone/>
            </a:pPr>
            <a:r>
              <a:rPr lang="en-US" sz="750" b="1" dirty="0">
                <a:solidFill>
                  <a:srgbClr val="16325C"/>
                </a:solidFill>
                <a:latin typeface="Calibri" pitchFamily="34" charset="0"/>
                <a:ea typeface="Calibri" pitchFamily="34" charset="-122"/>
                <a:cs typeface="Calibri" pitchFamily="34" charset="-120"/>
              </a:rPr>
              <a:t>SQLite</a:t>
            </a:r>
            <a:endParaRPr lang="en-US" sz="750" dirty="0"/>
          </a:p>
        </p:txBody>
      </p:sp>
      <p:sp>
        <p:nvSpPr>
          <p:cNvPr id="75" name="Text 73"/>
          <p:cNvSpPr/>
          <p:nvPr/>
        </p:nvSpPr>
        <p:spPr>
          <a:xfrm>
            <a:off x="10698480" y="2157984"/>
            <a:ext cx="969264" cy="219456"/>
          </a:xfrm>
          <a:prstGeom prst="rect">
            <a:avLst/>
          </a:prstGeom>
          <a:noFill/>
          <a:ln/>
        </p:spPr>
        <p:txBody>
          <a:bodyPr wrap="square" lIns="0" tIns="0" rIns="0" bIns="0" rtlCol="0" anchor="t"/>
          <a:lstStyle/>
          <a:p>
            <a:pPr algn="ctr" indent="0" marL="0">
              <a:buNone/>
            </a:pPr>
            <a:r>
              <a:rPr lang="en-US" sz="750" dirty="0">
                <a:solidFill>
                  <a:srgbClr val="3A4356"/>
                </a:solidFill>
                <a:latin typeface="Calibri" pitchFamily="34" charset="0"/>
                <a:ea typeface="Calibri" pitchFamily="34" charset="-122"/>
                <a:cs typeface="Calibri" pitchFamily="34" charset="-120"/>
              </a:rPr>
              <a:t>14 tables · PDF · Excel</a:t>
            </a:r>
            <a:endParaRPr lang="en-US" sz="750" dirty="0"/>
          </a:p>
        </p:txBody>
      </p:sp>
      <p:sp>
        <p:nvSpPr>
          <p:cNvPr id="76" name="Shape 74"/>
          <p:cNvSpPr/>
          <p:nvPr/>
        </p:nvSpPr>
        <p:spPr>
          <a:xfrm>
            <a:off x="457200" y="2542032"/>
            <a:ext cx="11274552" cy="603504"/>
          </a:xfrm>
          <a:prstGeom prst="roundRect">
            <a:avLst>
              <a:gd name="adj" fmla="val 10606"/>
            </a:avLst>
          </a:prstGeom>
          <a:solidFill>
            <a:srgbClr val="F0F4F9"/>
          </a:solidFill>
          <a:ln w="12700">
            <a:solidFill>
              <a:srgbClr val="DCE3EE"/>
            </a:solidFill>
            <a:prstDash val="solid"/>
          </a:ln>
        </p:spPr>
      </p:sp>
      <p:sp>
        <p:nvSpPr>
          <p:cNvPr id="77" name="Text 75"/>
          <p:cNvSpPr/>
          <p:nvPr/>
        </p:nvSpPr>
        <p:spPr>
          <a:xfrm>
            <a:off x="621792" y="2578608"/>
            <a:ext cx="2743200" cy="146304"/>
          </a:xfrm>
          <a:prstGeom prst="rect">
            <a:avLst/>
          </a:prstGeom>
          <a:noFill/>
          <a:ln/>
        </p:spPr>
        <p:txBody>
          <a:bodyPr wrap="square" lIns="0" tIns="0" rIns="0" bIns="0" rtlCol="0" anchor="ctr"/>
          <a:lstStyle/>
          <a:p>
            <a:pPr indent="0" marL="0">
              <a:buNone/>
            </a:pPr>
            <a:r>
              <a:rPr lang="en-US" sz="750" b="1" spc="40" kern="0" dirty="0">
                <a:solidFill>
                  <a:srgbClr val="686F7D"/>
                </a:solidFill>
                <a:latin typeface="Calibri" pitchFamily="34" charset="0"/>
                <a:ea typeface="Calibri" pitchFamily="34" charset="-122"/>
                <a:cs typeface="Calibri" pitchFamily="34" charset="-120"/>
              </a:rPr>
              <a:t>WHAT IS INSIDE EACH PARCEL</a:t>
            </a:r>
            <a:endParaRPr lang="en-US" sz="750" dirty="0"/>
          </a:p>
        </p:txBody>
      </p:sp>
      <p:sp>
        <p:nvSpPr>
          <p:cNvPr id="78" name="Text 76"/>
          <p:cNvSpPr/>
          <p:nvPr/>
        </p:nvSpPr>
        <p:spPr>
          <a:xfrm>
            <a:off x="621792" y="2734056"/>
            <a:ext cx="1207008" cy="164592"/>
          </a:xfrm>
          <a:prstGeom prst="rect">
            <a:avLst/>
          </a:prstGeom>
          <a:noFill/>
          <a:ln/>
        </p:spPr>
        <p:txBody>
          <a:bodyPr wrap="square" lIns="0" tIns="0" rIns="0" bIns="0" rtlCol="0" anchor="ctr"/>
          <a:lstStyle/>
          <a:p>
            <a:pPr indent="0" marL="0">
              <a:buNone/>
            </a:pPr>
            <a:r>
              <a:rPr lang="en-US" sz="750" b="1" dirty="0">
                <a:solidFill>
                  <a:srgbClr val="16325C"/>
                </a:solidFill>
                <a:latin typeface="Consolas" pitchFamily="34" charset="0"/>
                <a:ea typeface="Consolas" pitchFamily="34" charset="-122"/>
                <a:cs typeface="Consolas" pitchFamily="34" charset="-120"/>
              </a:rPr>
              <a:t>OCCTGeometry</a:t>
            </a:r>
            <a:endParaRPr lang="en-US" sz="750" dirty="0"/>
          </a:p>
        </p:txBody>
      </p:sp>
      <p:sp>
        <p:nvSpPr>
          <p:cNvPr id="79" name="Text 77"/>
          <p:cNvSpPr/>
          <p:nvPr/>
        </p:nvSpPr>
        <p:spPr>
          <a:xfrm>
            <a:off x="1847088" y="2734056"/>
            <a:ext cx="429768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bounding box · volume · wall thickness · draft angles · setup count · hole and boss table</a:t>
            </a:r>
            <a:endParaRPr lang="en-US" sz="750" dirty="0"/>
          </a:p>
        </p:txBody>
      </p:sp>
      <p:sp>
        <p:nvSpPr>
          <p:cNvPr id="80" name="Text 78"/>
          <p:cNvSpPr/>
          <p:nvPr/>
        </p:nvSpPr>
        <p:spPr>
          <a:xfrm>
            <a:off x="621792" y="2916936"/>
            <a:ext cx="1207008" cy="164592"/>
          </a:xfrm>
          <a:prstGeom prst="rect">
            <a:avLst/>
          </a:prstGeom>
          <a:noFill/>
          <a:ln/>
        </p:spPr>
        <p:txBody>
          <a:bodyPr wrap="square" lIns="0" tIns="0" rIns="0" bIns="0" rtlCol="0" anchor="ctr"/>
          <a:lstStyle/>
          <a:p>
            <a:pPr indent="0" marL="0">
              <a:buNone/>
            </a:pPr>
            <a:r>
              <a:rPr lang="en-US" sz="750" b="1" dirty="0">
                <a:solidFill>
                  <a:srgbClr val="16325C"/>
                </a:solidFill>
                <a:latin typeface="Consolas" pitchFamily="34" charset="0"/>
                <a:ea typeface="Consolas" pitchFamily="34" charset="-122"/>
                <a:cs typeface="Consolas" pitchFamily="34" charset="-120"/>
              </a:rPr>
              <a:t>UniversalStackInput</a:t>
            </a:r>
            <a:endParaRPr lang="en-US" sz="750" dirty="0"/>
          </a:p>
        </p:txBody>
      </p:sp>
      <p:sp>
        <p:nvSpPr>
          <p:cNvPr id="81" name="Text 79"/>
          <p:cNvSpPr/>
          <p:nvPr/>
        </p:nvSpPr>
        <p:spPr>
          <a:xfrm>
            <a:off x="1847088" y="2916936"/>
            <a:ext cx="429768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material and utilisation · per-operation cycle time, OEE, manning · tooling · overhead · margin</a:t>
            </a:r>
            <a:endParaRPr lang="en-US" sz="750" dirty="0"/>
          </a:p>
        </p:txBody>
      </p:sp>
      <p:sp>
        <p:nvSpPr>
          <p:cNvPr id="82" name="Text 80"/>
          <p:cNvSpPr/>
          <p:nvPr/>
        </p:nvSpPr>
        <p:spPr>
          <a:xfrm>
            <a:off x="6245352" y="2734056"/>
            <a:ext cx="1207008" cy="164592"/>
          </a:xfrm>
          <a:prstGeom prst="rect">
            <a:avLst/>
          </a:prstGeom>
          <a:noFill/>
          <a:ln/>
        </p:spPr>
        <p:txBody>
          <a:bodyPr wrap="square" lIns="0" tIns="0" rIns="0" bIns="0" rtlCol="0" anchor="ctr"/>
          <a:lstStyle/>
          <a:p>
            <a:pPr indent="0" marL="0">
              <a:buNone/>
            </a:pPr>
            <a:r>
              <a:rPr lang="en-US" sz="750" b="1" dirty="0">
                <a:solidFill>
                  <a:srgbClr val="16325C"/>
                </a:solidFill>
                <a:latin typeface="Consolas" pitchFamily="34" charset="0"/>
                <a:ea typeface="Consolas" pitchFamily="34" charset="-122"/>
                <a:cs typeface="Consolas" pitchFamily="34" charset="-120"/>
              </a:rPr>
              <a:t>PartCostResult</a:t>
            </a:r>
            <a:endParaRPr lang="en-US" sz="750" dirty="0"/>
          </a:p>
        </p:txBody>
      </p:sp>
      <p:sp>
        <p:nvSpPr>
          <p:cNvPr id="83" name="Text 81"/>
          <p:cNvSpPr/>
          <p:nvPr/>
        </p:nvSpPr>
        <p:spPr>
          <a:xfrm>
            <a:off x="7470648" y="2734056"/>
            <a:ext cx="429768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the 8 buckets · cost per operation · total · a traceability row per figure (value, unit, rate)</a:t>
            </a:r>
            <a:endParaRPr lang="en-US" sz="750" dirty="0"/>
          </a:p>
        </p:txBody>
      </p:sp>
      <p:sp>
        <p:nvSpPr>
          <p:cNvPr id="84" name="Text 82"/>
          <p:cNvSpPr/>
          <p:nvPr/>
        </p:nvSpPr>
        <p:spPr>
          <a:xfrm>
            <a:off x="6245352" y="2916936"/>
            <a:ext cx="1207008" cy="164592"/>
          </a:xfrm>
          <a:prstGeom prst="rect">
            <a:avLst/>
          </a:prstGeom>
          <a:noFill/>
          <a:ln/>
        </p:spPr>
        <p:txBody>
          <a:bodyPr wrap="square" lIns="0" tIns="0" rIns="0" bIns="0" rtlCol="0" anchor="ctr"/>
          <a:lstStyle/>
          <a:p>
            <a:pPr indent="0" marL="0">
              <a:buNone/>
            </a:pPr>
            <a:r>
              <a:rPr lang="en-US" sz="750" b="1" dirty="0">
                <a:solidFill>
                  <a:srgbClr val="16325C"/>
                </a:solidFill>
                <a:latin typeface="Consolas" pitchFamily="34" charset="0"/>
                <a:ea typeface="Consolas" pitchFamily="34" charset="-122"/>
                <a:cs typeface="Consolas" pitchFamily="34" charset="-120"/>
              </a:rPr>
              <a:t>RankedOpportunities</a:t>
            </a:r>
            <a:endParaRPr lang="en-US" sz="750" dirty="0"/>
          </a:p>
        </p:txBody>
      </p:sp>
      <p:sp>
        <p:nvSpPr>
          <p:cNvPr id="85" name="Text 83"/>
          <p:cNvSpPr/>
          <p:nvPr/>
        </p:nvSpPr>
        <p:spPr>
          <a:xfrm>
            <a:off x="7470648" y="2916936"/>
            <a:ext cx="4297680" cy="164592"/>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each idea with its saving in £/part, risk, timeframe and owner — grouped by category, biggest first</a:t>
            </a:r>
            <a:endParaRPr lang="en-US" sz="750" dirty="0"/>
          </a:p>
        </p:txBody>
      </p:sp>
      <p:sp>
        <p:nvSpPr>
          <p:cNvPr id="86" name="Text 84"/>
          <p:cNvSpPr/>
          <p:nvPr/>
        </p:nvSpPr>
        <p:spPr>
          <a:xfrm>
            <a:off x="457200" y="3236976"/>
            <a:ext cx="2331720" cy="219456"/>
          </a:xfrm>
          <a:prstGeom prst="rect">
            <a:avLst/>
          </a:prstGeom>
          <a:solidFill>
            <a:srgbClr val="16325C"/>
          </a:solidFill>
          <a:ln/>
        </p:spPr>
        <p:txBody>
          <a:bodyPr wrap="square" lIns="762" tIns="762" rIns="762" bIns="762"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Component</a:t>
            </a:r>
            <a:endParaRPr lang="en-US" sz="800" dirty="0"/>
          </a:p>
        </p:txBody>
      </p:sp>
      <p:sp>
        <p:nvSpPr>
          <p:cNvPr id="87" name="Text 85"/>
          <p:cNvSpPr/>
          <p:nvPr/>
        </p:nvSpPr>
        <p:spPr>
          <a:xfrm>
            <a:off x="2788920" y="3236976"/>
            <a:ext cx="2697480" cy="219456"/>
          </a:xfrm>
          <a:prstGeom prst="rect">
            <a:avLst/>
          </a:prstGeom>
          <a:solidFill>
            <a:srgbClr val="16325C"/>
          </a:solidFill>
          <a:ln/>
        </p:spPr>
        <p:txBody>
          <a:bodyPr wrap="square" lIns="762" tIns="762" rIns="762" bIns="762"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Built with</a:t>
            </a:r>
            <a:endParaRPr lang="en-US" sz="800" dirty="0"/>
          </a:p>
        </p:txBody>
      </p:sp>
      <p:sp>
        <p:nvSpPr>
          <p:cNvPr id="88" name="Text 86"/>
          <p:cNvSpPr/>
          <p:nvPr/>
        </p:nvSpPr>
        <p:spPr>
          <a:xfrm>
            <a:off x="5577840" y="3236976"/>
            <a:ext cx="731520" cy="219456"/>
          </a:xfrm>
          <a:prstGeom prst="rect">
            <a:avLst/>
          </a:prstGeom>
          <a:solidFill>
            <a:srgbClr val="16325C"/>
          </a:solidFill>
          <a:ln/>
        </p:spPr>
        <p:txBody>
          <a:bodyPr wrap="square" lIns="762" tIns="762" rIns="762" bIns="762"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Lines</a:t>
            </a:r>
            <a:endParaRPr lang="en-US" sz="800" dirty="0"/>
          </a:p>
        </p:txBody>
      </p:sp>
      <p:sp>
        <p:nvSpPr>
          <p:cNvPr id="89" name="Text 87"/>
          <p:cNvSpPr/>
          <p:nvPr/>
        </p:nvSpPr>
        <p:spPr>
          <a:xfrm>
            <a:off x="6601968" y="3236976"/>
            <a:ext cx="2194560" cy="219456"/>
          </a:xfrm>
          <a:prstGeom prst="rect">
            <a:avLst/>
          </a:prstGeom>
          <a:solidFill>
            <a:srgbClr val="16325C"/>
          </a:solidFill>
          <a:ln/>
        </p:spPr>
        <p:txBody>
          <a:bodyPr wrap="square" lIns="762" tIns="762" rIns="762" bIns="762"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Free to use?</a:t>
            </a:r>
            <a:endParaRPr lang="en-US" sz="800" dirty="0"/>
          </a:p>
        </p:txBody>
      </p:sp>
      <p:sp>
        <p:nvSpPr>
          <p:cNvPr id="90" name="Text 88"/>
          <p:cNvSpPr/>
          <p:nvPr/>
        </p:nvSpPr>
        <p:spPr>
          <a:xfrm>
            <a:off x="8887968" y="3236976"/>
            <a:ext cx="2843784" cy="219456"/>
          </a:xfrm>
          <a:prstGeom prst="rect">
            <a:avLst/>
          </a:prstGeom>
          <a:solidFill>
            <a:srgbClr val="16325C"/>
          </a:solidFill>
          <a:ln/>
        </p:spPr>
        <p:txBody>
          <a:bodyPr wrap="square" lIns="762" tIns="762" rIns="762" bIns="762"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Calls out to the internet?</a:t>
            </a:r>
            <a:endParaRPr lang="en-US" sz="800" dirty="0"/>
          </a:p>
        </p:txBody>
      </p:sp>
      <p:sp>
        <p:nvSpPr>
          <p:cNvPr id="91" name="Text 89"/>
          <p:cNvSpPr/>
          <p:nvPr/>
        </p:nvSpPr>
        <p:spPr>
          <a:xfrm>
            <a:off x="457200" y="3456432"/>
            <a:ext cx="2331720"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Geometry kernel</a:t>
            </a:r>
            <a:endParaRPr lang="en-US" sz="750" dirty="0"/>
          </a:p>
        </p:txBody>
      </p:sp>
      <p:sp>
        <p:nvSpPr>
          <p:cNvPr id="92" name="Text 90"/>
          <p:cNvSpPr/>
          <p:nvPr/>
        </p:nvSpPr>
        <p:spPr>
          <a:xfrm>
            <a:off x="2788920" y="3456432"/>
            <a:ext cx="269748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Python 3 + Open CASCADE (via OCP)</a:t>
            </a:r>
            <a:endParaRPr lang="en-US" sz="750" dirty="0"/>
          </a:p>
        </p:txBody>
      </p:sp>
      <p:sp>
        <p:nvSpPr>
          <p:cNvPr id="93" name="Text 91"/>
          <p:cNvSpPr/>
          <p:nvPr/>
        </p:nvSpPr>
        <p:spPr>
          <a:xfrm>
            <a:off x="5577840" y="3456432"/>
            <a:ext cx="731520" cy="179222"/>
          </a:xfrm>
          <a:prstGeom prst="rect">
            <a:avLst/>
          </a:prstGeom>
          <a:solidFill>
            <a:srgbClr val="FFFFFF"/>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~2,500</a:t>
            </a:r>
            <a:endParaRPr lang="en-US" sz="750" dirty="0"/>
          </a:p>
        </p:txBody>
      </p:sp>
      <p:sp>
        <p:nvSpPr>
          <p:cNvPr id="94" name="Text 92"/>
          <p:cNvSpPr/>
          <p:nvPr/>
        </p:nvSpPr>
        <p:spPr>
          <a:xfrm>
            <a:off x="6601968" y="3456432"/>
            <a:ext cx="219456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LGPL-2.1 + exc. / Apache-2.0</a:t>
            </a:r>
            <a:endParaRPr lang="en-US" sz="750" dirty="0"/>
          </a:p>
        </p:txBody>
      </p:sp>
      <p:sp>
        <p:nvSpPr>
          <p:cNvPr id="95" name="Text 93"/>
          <p:cNvSpPr/>
          <p:nvPr/>
        </p:nvSpPr>
        <p:spPr>
          <a:xfrm>
            <a:off x="8887968" y="3456432"/>
            <a:ext cx="2843784"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96" name="Text 94"/>
          <p:cNvSpPr/>
          <p:nvPr/>
        </p:nvSpPr>
        <p:spPr>
          <a:xfrm>
            <a:off x="457200" y="3635654"/>
            <a:ext cx="2331720"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3D viewer</a:t>
            </a:r>
            <a:endParaRPr lang="en-US" sz="750" dirty="0"/>
          </a:p>
        </p:txBody>
      </p:sp>
      <p:sp>
        <p:nvSpPr>
          <p:cNvPr id="97" name="Text 95"/>
          <p:cNvSpPr/>
          <p:nvPr/>
        </p:nvSpPr>
        <p:spPr>
          <a:xfrm>
            <a:off x="2788920" y="3635654"/>
            <a:ext cx="269748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 three.js (WebGL)</a:t>
            </a:r>
            <a:endParaRPr lang="en-US" sz="750" dirty="0"/>
          </a:p>
        </p:txBody>
      </p:sp>
      <p:sp>
        <p:nvSpPr>
          <p:cNvPr id="98" name="Text 96"/>
          <p:cNvSpPr/>
          <p:nvPr/>
        </p:nvSpPr>
        <p:spPr>
          <a:xfrm>
            <a:off x="5577840" y="3635654"/>
            <a:ext cx="731520" cy="179222"/>
          </a:xfrm>
          <a:prstGeom prst="rect">
            <a:avLst/>
          </a:prstGeom>
          <a:solidFill>
            <a:srgbClr val="F0F4F9"/>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~2,200</a:t>
            </a:r>
            <a:endParaRPr lang="en-US" sz="750" dirty="0"/>
          </a:p>
        </p:txBody>
      </p:sp>
      <p:sp>
        <p:nvSpPr>
          <p:cNvPr id="99" name="Text 97"/>
          <p:cNvSpPr/>
          <p:nvPr/>
        </p:nvSpPr>
        <p:spPr>
          <a:xfrm>
            <a:off x="6601968" y="3635654"/>
            <a:ext cx="219456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MIT</a:t>
            </a:r>
            <a:endParaRPr lang="en-US" sz="750" dirty="0"/>
          </a:p>
        </p:txBody>
      </p:sp>
      <p:sp>
        <p:nvSpPr>
          <p:cNvPr id="100" name="Text 98"/>
          <p:cNvSpPr/>
          <p:nvPr/>
        </p:nvSpPr>
        <p:spPr>
          <a:xfrm>
            <a:off x="8887968" y="3635654"/>
            <a:ext cx="2843784"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01" name="Text 99"/>
          <p:cNvSpPr/>
          <p:nvPr/>
        </p:nvSpPr>
        <p:spPr>
          <a:xfrm>
            <a:off x="457200" y="3814877"/>
            <a:ext cx="2331720"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Cost engine (core + 19 modules)</a:t>
            </a:r>
            <a:endParaRPr lang="en-US" sz="750" dirty="0"/>
          </a:p>
        </p:txBody>
      </p:sp>
      <p:sp>
        <p:nvSpPr>
          <p:cNvPr id="102" name="Text 100"/>
          <p:cNvSpPr/>
          <p:nvPr/>
        </p:nvSpPr>
        <p:spPr>
          <a:xfrm>
            <a:off x="2788920" y="3814877"/>
            <a:ext cx="269748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no framework</a:t>
            </a:r>
            <a:endParaRPr lang="en-US" sz="750" dirty="0"/>
          </a:p>
        </p:txBody>
      </p:sp>
      <p:sp>
        <p:nvSpPr>
          <p:cNvPr id="103" name="Text 101"/>
          <p:cNvSpPr/>
          <p:nvPr/>
        </p:nvSpPr>
        <p:spPr>
          <a:xfrm>
            <a:off x="5577840" y="3814877"/>
            <a:ext cx="731520" cy="179222"/>
          </a:xfrm>
          <a:prstGeom prst="rect">
            <a:avLst/>
          </a:prstGeom>
          <a:solidFill>
            <a:srgbClr val="FFFFFF"/>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~30,500</a:t>
            </a:r>
            <a:endParaRPr lang="en-US" sz="750" dirty="0"/>
          </a:p>
        </p:txBody>
      </p:sp>
      <p:sp>
        <p:nvSpPr>
          <p:cNvPr id="104" name="Text 102"/>
          <p:cNvSpPr/>
          <p:nvPr/>
        </p:nvSpPr>
        <p:spPr>
          <a:xfrm>
            <a:off x="6601968" y="3814877"/>
            <a:ext cx="219456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our own code</a:t>
            </a:r>
            <a:endParaRPr lang="en-US" sz="750" dirty="0"/>
          </a:p>
        </p:txBody>
      </p:sp>
      <p:sp>
        <p:nvSpPr>
          <p:cNvPr id="105" name="Text 103"/>
          <p:cNvSpPr/>
          <p:nvPr/>
        </p:nvSpPr>
        <p:spPr>
          <a:xfrm>
            <a:off x="8887968" y="3814877"/>
            <a:ext cx="2843784"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06" name="Text 104"/>
          <p:cNvSpPr/>
          <p:nvPr/>
        </p:nvSpPr>
        <p:spPr>
          <a:xfrm>
            <a:off x="457200" y="3994099"/>
            <a:ext cx="2331720"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Cost-input rules (13 commodities)</a:t>
            </a:r>
            <a:endParaRPr lang="en-US" sz="750" dirty="0"/>
          </a:p>
        </p:txBody>
      </p:sp>
      <p:sp>
        <p:nvSpPr>
          <p:cNvPr id="107" name="Text 105"/>
          <p:cNvSpPr/>
          <p:nvPr/>
        </p:nvSpPr>
        <p:spPr>
          <a:xfrm>
            <a:off x="2788920" y="3994099"/>
            <a:ext cx="269748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inside the engine</a:t>
            </a:r>
            <a:endParaRPr lang="en-US" sz="750" dirty="0"/>
          </a:p>
        </p:txBody>
      </p:sp>
      <p:sp>
        <p:nvSpPr>
          <p:cNvPr id="108" name="Text 106"/>
          <p:cNvSpPr/>
          <p:nvPr/>
        </p:nvSpPr>
        <p:spPr>
          <a:xfrm>
            <a:off x="5577840" y="3994099"/>
            <a:ext cx="731520" cy="179222"/>
          </a:xfrm>
          <a:prstGeom prst="rect">
            <a:avLst/>
          </a:prstGeom>
          <a:solidFill>
            <a:srgbClr val="F0F4F9"/>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~8,900</a:t>
            </a:r>
            <a:endParaRPr lang="en-US" sz="750" dirty="0"/>
          </a:p>
        </p:txBody>
      </p:sp>
      <p:sp>
        <p:nvSpPr>
          <p:cNvPr id="109" name="Text 107"/>
          <p:cNvSpPr/>
          <p:nvPr/>
        </p:nvSpPr>
        <p:spPr>
          <a:xfrm>
            <a:off x="6601968" y="3994099"/>
            <a:ext cx="219456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our own code</a:t>
            </a:r>
            <a:endParaRPr lang="en-US" sz="750" dirty="0"/>
          </a:p>
        </p:txBody>
      </p:sp>
      <p:sp>
        <p:nvSpPr>
          <p:cNvPr id="110" name="Text 108"/>
          <p:cNvSpPr/>
          <p:nvPr/>
        </p:nvSpPr>
        <p:spPr>
          <a:xfrm>
            <a:off x="8887968" y="3994099"/>
            <a:ext cx="2843784"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11" name="Text 109"/>
          <p:cNvSpPr/>
          <p:nvPr/>
        </p:nvSpPr>
        <p:spPr>
          <a:xfrm>
            <a:off x="457200" y="4173322"/>
            <a:ext cx="2331720"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Optimisers + DFM / idea levers</a:t>
            </a:r>
            <a:endParaRPr lang="en-US" sz="750" dirty="0"/>
          </a:p>
        </p:txBody>
      </p:sp>
      <p:sp>
        <p:nvSpPr>
          <p:cNvPr id="112" name="Text 110"/>
          <p:cNvSpPr/>
          <p:nvPr/>
        </p:nvSpPr>
        <p:spPr>
          <a:xfrm>
            <a:off x="2788920" y="4173322"/>
            <a:ext cx="269748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inside the engine</a:t>
            </a:r>
            <a:endParaRPr lang="en-US" sz="750" dirty="0"/>
          </a:p>
        </p:txBody>
      </p:sp>
      <p:sp>
        <p:nvSpPr>
          <p:cNvPr id="113" name="Text 111"/>
          <p:cNvSpPr/>
          <p:nvPr/>
        </p:nvSpPr>
        <p:spPr>
          <a:xfrm>
            <a:off x="5577840" y="4173322"/>
            <a:ext cx="731520" cy="179222"/>
          </a:xfrm>
          <a:prstGeom prst="rect">
            <a:avLst/>
          </a:prstGeom>
          <a:solidFill>
            <a:srgbClr val="FFFFFF"/>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in engine</a:t>
            </a:r>
            <a:endParaRPr lang="en-US" sz="750" dirty="0"/>
          </a:p>
        </p:txBody>
      </p:sp>
      <p:sp>
        <p:nvSpPr>
          <p:cNvPr id="114" name="Text 112"/>
          <p:cNvSpPr/>
          <p:nvPr/>
        </p:nvSpPr>
        <p:spPr>
          <a:xfrm>
            <a:off x="6601968" y="4173322"/>
            <a:ext cx="219456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our own code</a:t>
            </a:r>
            <a:endParaRPr lang="en-US" sz="750" dirty="0"/>
          </a:p>
        </p:txBody>
      </p:sp>
      <p:sp>
        <p:nvSpPr>
          <p:cNvPr id="115" name="Text 113"/>
          <p:cNvSpPr/>
          <p:nvPr/>
        </p:nvSpPr>
        <p:spPr>
          <a:xfrm>
            <a:off x="8887968" y="4173322"/>
            <a:ext cx="2843784"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16" name="Text 114"/>
          <p:cNvSpPr/>
          <p:nvPr/>
        </p:nvSpPr>
        <p:spPr>
          <a:xfrm>
            <a:off x="457200" y="4352544"/>
            <a:ext cx="2331720"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Guardrails + self-audit</a:t>
            </a:r>
            <a:endParaRPr lang="en-US" sz="750" dirty="0"/>
          </a:p>
        </p:txBody>
      </p:sp>
      <p:sp>
        <p:nvSpPr>
          <p:cNvPr id="117" name="Text 115"/>
          <p:cNvSpPr/>
          <p:nvPr/>
        </p:nvSpPr>
        <p:spPr>
          <a:xfrm>
            <a:off x="2788920" y="4352544"/>
            <a:ext cx="269748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(engine + server)</a:t>
            </a:r>
            <a:endParaRPr lang="en-US" sz="750" dirty="0"/>
          </a:p>
        </p:txBody>
      </p:sp>
      <p:sp>
        <p:nvSpPr>
          <p:cNvPr id="118" name="Text 116"/>
          <p:cNvSpPr/>
          <p:nvPr/>
        </p:nvSpPr>
        <p:spPr>
          <a:xfrm>
            <a:off x="5577840" y="4352544"/>
            <a:ext cx="731520" cy="179222"/>
          </a:xfrm>
          <a:prstGeom prst="rect">
            <a:avLst/>
          </a:prstGeom>
          <a:solidFill>
            <a:srgbClr val="F0F4F9"/>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in engine</a:t>
            </a:r>
            <a:endParaRPr lang="en-US" sz="750" dirty="0"/>
          </a:p>
        </p:txBody>
      </p:sp>
      <p:sp>
        <p:nvSpPr>
          <p:cNvPr id="119" name="Text 117"/>
          <p:cNvSpPr/>
          <p:nvPr/>
        </p:nvSpPr>
        <p:spPr>
          <a:xfrm>
            <a:off x="6601968" y="4352544"/>
            <a:ext cx="219456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our own code</a:t>
            </a:r>
            <a:endParaRPr lang="en-US" sz="750" dirty="0"/>
          </a:p>
        </p:txBody>
      </p:sp>
      <p:sp>
        <p:nvSpPr>
          <p:cNvPr id="120" name="Text 118"/>
          <p:cNvSpPr/>
          <p:nvPr/>
        </p:nvSpPr>
        <p:spPr>
          <a:xfrm>
            <a:off x="8887968" y="4352544"/>
            <a:ext cx="2843784"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21" name="Text 119"/>
          <p:cNvSpPr/>
          <p:nvPr/>
        </p:nvSpPr>
        <p:spPr>
          <a:xfrm>
            <a:off x="457200" y="4531766"/>
            <a:ext cx="2331720"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Rate library — 20 regions</a:t>
            </a:r>
            <a:endParaRPr lang="en-US" sz="750" dirty="0"/>
          </a:p>
        </p:txBody>
      </p:sp>
      <p:sp>
        <p:nvSpPr>
          <p:cNvPr id="122" name="Text 120"/>
          <p:cNvSpPr/>
          <p:nvPr/>
        </p:nvSpPr>
        <p:spPr>
          <a:xfrm>
            <a:off x="2788920" y="4531766"/>
            <a:ext cx="269748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data files, in git</a:t>
            </a:r>
            <a:endParaRPr lang="en-US" sz="750" dirty="0"/>
          </a:p>
        </p:txBody>
      </p:sp>
      <p:sp>
        <p:nvSpPr>
          <p:cNvPr id="123" name="Text 121"/>
          <p:cNvSpPr/>
          <p:nvPr/>
        </p:nvSpPr>
        <p:spPr>
          <a:xfrm>
            <a:off x="5577840" y="4531766"/>
            <a:ext cx="731520" cy="179222"/>
          </a:xfrm>
          <a:prstGeom prst="rect">
            <a:avLst/>
          </a:prstGeom>
          <a:solidFill>
            <a:srgbClr val="FFFFFF"/>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in engine</a:t>
            </a:r>
            <a:endParaRPr lang="en-US" sz="750" dirty="0"/>
          </a:p>
        </p:txBody>
      </p:sp>
      <p:sp>
        <p:nvSpPr>
          <p:cNvPr id="124" name="Text 122"/>
          <p:cNvSpPr/>
          <p:nvPr/>
        </p:nvSpPr>
        <p:spPr>
          <a:xfrm>
            <a:off x="6601968" y="4531766"/>
            <a:ext cx="2194560" cy="179222"/>
          </a:xfrm>
          <a:prstGeom prst="rect">
            <a:avLst/>
          </a:prstGeom>
          <a:solidFill>
            <a:srgbClr val="FFFFFF"/>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our own data</a:t>
            </a:r>
            <a:endParaRPr lang="en-US" sz="750" dirty="0"/>
          </a:p>
        </p:txBody>
      </p:sp>
      <p:sp>
        <p:nvSpPr>
          <p:cNvPr id="125" name="Text 123"/>
          <p:cNvSpPr/>
          <p:nvPr/>
        </p:nvSpPr>
        <p:spPr>
          <a:xfrm>
            <a:off x="8887968" y="4531766"/>
            <a:ext cx="2843784" cy="179222"/>
          </a:xfrm>
          <a:prstGeom prst="rect">
            <a:avLst/>
          </a:prstGeom>
          <a:solidFill>
            <a:srgbClr val="FFFFFF"/>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26" name="Text 124"/>
          <p:cNvSpPr/>
          <p:nvPr/>
        </p:nvSpPr>
        <p:spPr>
          <a:xfrm>
            <a:off x="457200" y="4710989"/>
            <a:ext cx="2331720"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Server + database</a:t>
            </a:r>
            <a:endParaRPr lang="en-US" sz="750" dirty="0"/>
          </a:p>
        </p:txBody>
      </p:sp>
      <p:sp>
        <p:nvSpPr>
          <p:cNvPr id="127" name="Text 125"/>
          <p:cNvSpPr/>
          <p:nvPr/>
        </p:nvSpPr>
        <p:spPr>
          <a:xfrm>
            <a:off x="2788920" y="4710989"/>
            <a:ext cx="269748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 Express + SQLite</a:t>
            </a:r>
            <a:endParaRPr lang="en-US" sz="750" dirty="0"/>
          </a:p>
        </p:txBody>
      </p:sp>
      <p:sp>
        <p:nvSpPr>
          <p:cNvPr id="128" name="Text 126"/>
          <p:cNvSpPr/>
          <p:nvPr/>
        </p:nvSpPr>
        <p:spPr>
          <a:xfrm>
            <a:off x="5577840" y="4710989"/>
            <a:ext cx="731520" cy="179222"/>
          </a:xfrm>
          <a:prstGeom prst="rect">
            <a:avLst/>
          </a:prstGeom>
          <a:solidFill>
            <a:srgbClr val="F0F4F9"/>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~17,300</a:t>
            </a:r>
            <a:endParaRPr lang="en-US" sz="750" dirty="0"/>
          </a:p>
        </p:txBody>
      </p:sp>
      <p:sp>
        <p:nvSpPr>
          <p:cNvPr id="129" name="Text 127"/>
          <p:cNvSpPr/>
          <p:nvPr/>
        </p:nvSpPr>
        <p:spPr>
          <a:xfrm>
            <a:off x="6601968" y="4710989"/>
            <a:ext cx="219456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MIT</a:t>
            </a:r>
            <a:endParaRPr lang="en-US" sz="750" dirty="0"/>
          </a:p>
        </p:txBody>
      </p:sp>
      <p:sp>
        <p:nvSpPr>
          <p:cNvPr id="130" name="Text 128"/>
          <p:cNvSpPr/>
          <p:nvPr/>
        </p:nvSpPr>
        <p:spPr>
          <a:xfrm>
            <a:off x="8887968" y="4710989"/>
            <a:ext cx="2843784"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Localhost only</a:t>
            </a:r>
            <a:endParaRPr lang="en-US" sz="750" dirty="0"/>
          </a:p>
        </p:txBody>
      </p:sp>
      <p:sp>
        <p:nvSpPr>
          <p:cNvPr id="131" name="Text 129"/>
          <p:cNvSpPr/>
          <p:nvPr/>
        </p:nvSpPr>
        <p:spPr>
          <a:xfrm>
            <a:off x="457200" y="4890211"/>
            <a:ext cx="2331720" cy="179222"/>
          </a:xfrm>
          <a:prstGeom prst="rect">
            <a:avLst/>
          </a:prstGeom>
          <a:solidFill>
            <a:srgbClr val="F1EBF8"/>
          </a:solidFill>
          <a:ln/>
        </p:spPr>
        <p:txBody>
          <a:bodyPr wrap="square" lIns="762" tIns="762" rIns="762" bIns="762" rtlCol="0" anchor="ctr"/>
          <a:lstStyle/>
          <a:p>
            <a:pPr algn="l" indent="0" marL="0">
              <a:buNone/>
            </a:pPr>
            <a:r>
              <a:rPr lang="en-US" sz="750" b="1" dirty="0">
                <a:solidFill>
                  <a:srgbClr val="6B3FA0"/>
                </a:solidFill>
                <a:latin typeface="Calibri" pitchFamily="34" charset="0"/>
                <a:ea typeface="Calibri" pitchFamily="34" charset="-122"/>
                <a:cs typeface="Calibri" pitchFamily="34" charset="-120"/>
              </a:rPr>
              <a:t>AI — OFF AT JLR (optional)</a:t>
            </a:r>
            <a:endParaRPr lang="en-US" sz="750" dirty="0"/>
          </a:p>
        </p:txBody>
      </p:sp>
      <p:sp>
        <p:nvSpPr>
          <p:cNvPr id="132" name="Text 130"/>
          <p:cNvSpPr/>
          <p:nvPr/>
        </p:nvSpPr>
        <p:spPr>
          <a:xfrm>
            <a:off x="2788920" y="4890211"/>
            <a:ext cx="2697480" cy="179222"/>
          </a:xfrm>
          <a:prstGeom prst="rect">
            <a:avLst/>
          </a:prstGeom>
          <a:solidFill>
            <a:srgbClr val="F1EBF8"/>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 Anthropic SDK</a:t>
            </a:r>
            <a:endParaRPr lang="en-US" sz="750" dirty="0"/>
          </a:p>
        </p:txBody>
      </p:sp>
      <p:sp>
        <p:nvSpPr>
          <p:cNvPr id="133" name="Text 131"/>
          <p:cNvSpPr/>
          <p:nvPr/>
        </p:nvSpPr>
        <p:spPr>
          <a:xfrm>
            <a:off x="5577840" y="4890211"/>
            <a:ext cx="731520" cy="179222"/>
          </a:xfrm>
          <a:prstGeom prst="rect">
            <a:avLst/>
          </a:prstGeom>
          <a:solidFill>
            <a:srgbClr val="F1EBF8"/>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a:t>
            </a:r>
            <a:endParaRPr lang="en-US" sz="750" dirty="0"/>
          </a:p>
        </p:txBody>
      </p:sp>
      <p:sp>
        <p:nvSpPr>
          <p:cNvPr id="134" name="Text 132"/>
          <p:cNvSpPr/>
          <p:nvPr/>
        </p:nvSpPr>
        <p:spPr>
          <a:xfrm>
            <a:off x="6601968" y="4890211"/>
            <a:ext cx="2194560" cy="179222"/>
          </a:xfrm>
          <a:prstGeom prst="rect">
            <a:avLst/>
          </a:prstGeom>
          <a:solidFill>
            <a:srgbClr val="F1EBF8"/>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SDK free · API paid per token</a:t>
            </a:r>
            <a:endParaRPr lang="en-US" sz="750" dirty="0"/>
          </a:p>
        </p:txBody>
      </p:sp>
      <p:sp>
        <p:nvSpPr>
          <p:cNvPr id="135" name="Text 133"/>
          <p:cNvSpPr/>
          <p:nvPr/>
        </p:nvSpPr>
        <p:spPr>
          <a:xfrm>
            <a:off x="8887968" y="4890211"/>
            <a:ext cx="2843784" cy="179222"/>
          </a:xfrm>
          <a:prstGeom prst="rect">
            <a:avLst/>
          </a:prstGeom>
          <a:solidFill>
            <a:srgbClr val="F1EBF8"/>
          </a:solidFill>
          <a:ln/>
        </p:spPr>
        <p:txBody>
          <a:bodyPr wrap="square" lIns="762" tIns="762" rIns="762" bIns="762" rtlCol="0" anchor="ctr"/>
          <a:lstStyle/>
          <a:p>
            <a:pPr algn="l" indent="0" marL="0">
              <a:buNone/>
            </a:pPr>
            <a:r>
              <a:rPr lang="en-US" sz="750" b="1" dirty="0">
                <a:solidFill>
                  <a:srgbClr val="6B3FA0"/>
                </a:solidFill>
                <a:latin typeface="Calibri" pitchFamily="34" charset="0"/>
                <a:ea typeface="Calibri" pitchFamily="34" charset="-122"/>
                <a:cs typeface="Calibri" pitchFamily="34" charset="-120"/>
              </a:rPr>
              <a:t>Only if switched on</a:t>
            </a:r>
            <a:endParaRPr lang="en-US" sz="750" dirty="0"/>
          </a:p>
        </p:txBody>
      </p:sp>
      <p:sp>
        <p:nvSpPr>
          <p:cNvPr id="136" name="Text 134"/>
          <p:cNvSpPr/>
          <p:nvPr/>
        </p:nvSpPr>
        <p:spPr>
          <a:xfrm>
            <a:off x="457200" y="5069434"/>
            <a:ext cx="2331720"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16325C"/>
                </a:solidFill>
                <a:latin typeface="Calibri" pitchFamily="34" charset="0"/>
                <a:ea typeface="Calibri" pitchFamily="34" charset="-122"/>
                <a:cs typeface="Calibri" pitchFamily="34" charset="-120"/>
              </a:rPr>
              <a:t>Automated tests</a:t>
            </a:r>
            <a:endParaRPr lang="en-US" sz="750" dirty="0"/>
          </a:p>
        </p:txBody>
      </p:sp>
      <p:sp>
        <p:nvSpPr>
          <p:cNvPr id="137" name="Text 135"/>
          <p:cNvSpPr/>
          <p:nvPr/>
        </p:nvSpPr>
        <p:spPr>
          <a:xfrm>
            <a:off x="2788920" y="5069434"/>
            <a:ext cx="269748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TypeScript · Vitest</a:t>
            </a:r>
            <a:endParaRPr lang="en-US" sz="750" dirty="0"/>
          </a:p>
        </p:txBody>
      </p:sp>
      <p:sp>
        <p:nvSpPr>
          <p:cNvPr id="138" name="Text 136"/>
          <p:cNvSpPr/>
          <p:nvPr/>
        </p:nvSpPr>
        <p:spPr>
          <a:xfrm>
            <a:off x="5577840" y="5069434"/>
            <a:ext cx="731520" cy="179222"/>
          </a:xfrm>
          <a:prstGeom prst="rect">
            <a:avLst/>
          </a:prstGeom>
          <a:solidFill>
            <a:srgbClr val="F0F4F9"/>
          </a:solidFill>
          <a:ln/>
        </p:spPr>
        <p:txBody>
          <a:bodyPr wrap="square" lIns="762" tIns="762" rIns="762" bIns="762" rtlCol="0" anchor="ctr"/>
          <a:lstStyle/>
          <a:p>
            <a:pPr algn="r" indent="0" marL="0">
              <a:buNone/>
            </a:pPr>
            <a:r>
              <a:rPr lang="en-US" sz="750" i="1" dirty="0">
                <a:solidFill>
                  <a:srgbClr val="3A4356"/>
                </a:solidFill>
                <a:latin typeface="Calibri" pitchFamily="34" charset="0"/>
                <a:ea typeface="Calibri" pitchFamily="34" charset="-122"/>
                <a:cs typeface="Calibri" pitchFamily="34" charset="-120"/>
              </a:rPr>
              <a:t>~28,300</a:t>
            </a:r>
            <a:endParaRPr lang="en-US" sz="750" dirty="0"/>
          </a:p>
        </p:txBody>
      </p:sp>
      <p:sp>
        <p:nvSpPr>
          <p:cNvPr id="139" name="Text 137"/>
          <p:cNvSpPr/>
          <p:nvPr/>
        </p:nvSpPr>
        <p:spPr>
          <a:xfrm>
            <a:off x="6601968" y="5069434"/>
            <a:ext cx="2194560" cy="179222"/>
          </a:xfrm>
          <a:prstGeom prst="rect">
            <a:avLst/>
          </a:prstGeom>
          <a:solidFill>
            <a:srgbClr val="F0F4F9"/>
          </a:solidFill>
          <a:ln/>
        </p:spPr>
        <p:txBody>
          <a:bodyPr wrap="square" lIns="762" tIns="762" rIns="762" bIns="762" rtlCol="0" anchor="ctr"/>
          <a:lstStyle/>
          <a:p>
            <a:pPr algn="l" indent="0" marL="0">
              <a:buNone/>
            </a:pPr>
            <a:r>
              <a:rPr lang="en-US" sz="750" dirty="0">
                <a:solidFill>
                  <a:srgbClr val="3A4356"/>
                </a:solidFill>
                <a:latin typeface="Calibri" pitchFamily="34" charset="0"/>
                <a:ea typeface="Calibri" pitchFamily="34" charset="-122"/>
                <a:cs typeface="Calibri" pitchFamily="34" charset="-120"/>
              </a:rPr>
              <a:t>Yes — MIT</a:t>
            </a:r>
            <a:endParaRPr lang="en-US" sz="750" dirty="0"/>
          </a:p>
        </p:txBody>
      </p:sp>
      <p:sp>
        <p:nvSpPr>
          <p:cNvPr id="140" name="Text 138"/>
          <p:cNvSpPr/>
          <p:nvPr/>
        </p:nvSpPr>
        <p:spPr>
          <a:xfrm>
            <a:off x="8887968" y="5069434"/>
            <a:ext cx="2843784" cy="179222"/>
          </a:xfrm>
          <a:prstGeom prst="rect">
            <a:avLst/>
          </a:prstGeom>
          <a:solidFill>
            <a:srgbClr val="F0F4F9"/>
          </a:solidFill>
          <a:ln/>
        </p:spPr>
        <p:txBody>
          <a:bodyPr wrap="square" lIns="762" tIns="762" rIns="762" bIns="762" rtlCol="0" anchor="ctr"/>
          <a:lstStyle/>
          <a:p>
            <a:pPr algn="l" indent="0" marL="0">
              <a:buNone/>
            </a:pPr>
            <a:r>
              <a:rPr lang="en-US" sz="750" b="1" dirty="0">
                <a:solidFill>
                  <a:srgbClr val="2A7F50"/>
                </a:solidFill>
                <a:latin typeface="Calibri" pitchFamily="34" charset="0"/>
                <a:ea typeface="Calibri" pitchFamily="34" charset="-122"/>
                <a:cs typeface="Calibri" pitchFamily="34" charset="-120"/>
              </a:rPr>
              <a:t>No</a:t>
            </a:r>
            <a:endParaRPr lang="en-US" sz="750" dirty="0"/>
          </a:p>
        </p:txBody>
      </p:sp>
      <p:sp>
        <p:nvSpPr>
          <p:cNvPr id="141" name="Text 139"/>
          <p:cNvSpPr/>
          <p:nvPr/>
        </p:nvSpPr>
        <p:spPr>
          <a:xfrm>
            <a:off x="457200" y="5266944"/>
            <a:ext cx="11274552" cy="164592"/>
          </a:xfrm>
          <a:prstGeom prst="rect">
            <a:avLst/>
          </a:prstGeom>
          <a:noFill/>
          <a:ln/>
        </p:spPr>
        <p:txBody>
          <a:bodyPr wrap="square" lIns="0" tIns="0" rIns="0" bIns="0" rtlCol="0" anchor="ctr"/>
          <a:lstStyle/>
          <a:p>
            <a:pPr indent="0" marL="0">
              <a:buNone/>
            </a:pPr>
            <a:r>
              <a:rPr lang="en-US" sz="750" i="1" dirty="0">
                <a:solidFill>
                  <a:srgbClr val="686F7D"/>
                </a:solidFill>
                <a:latin typeface="Calibri" pitchFamily="34" charset="0"/>
                <a:ea typeface="Calibri" pitchFamily="34" charset="-122"/>
                <a:cs typeface="Calibri" pitchFamily="34" charset="-120"/>
              </a:rPr>
              <a:t>Approximate line counts, measured from the repository on 28 Sep 2026. Licences as published by each project — worth a formal review before distribution outside the company.</a:t>
            </a:r>
            <a:endParaRPr lang="en-US" sz="750" dirty="0"/>
          </a:p>
        </p:txBody>
      </p:sp>
      <p:sp>
        <p:nvSpPr>
          <p:cNvPr id="142" name="Shape 140"/>
          <p:cNvSpPr/>
          <p:nvPr/>
        </p:nvSpPr>
        <p:spPr>
          <a:xfrm>
            <a:off x="457200" y="5486400"/>
            <a:ext cx="11274552" cy="859536"/>
          </a:xfrm>
          <a:prstGeom prst="roundRect">
            <a:avLst>
              <a:gd name="adj" fmla="val 8511"/>
            </a:avLst>
          </a:prstGeom>
          <a:solidFill>
            <a:srgbClr val="FFFFFF"/>
          </a:solidFill>
          <a:ln w="19050">
            <a:solidFill>
              <a:srgbClr val="16325C"/>
            </a:solidFill>
            <a:prstDash val="solid"/>
          </a:ln>
        </p:spPr>
      </p:sp>
      <p:sp>
        <p:nvSpPr>
          <p:cNvPr id="143" name="Text 141"/>
          <p:cNvSpPr/>
          <p:nvPr/>
        </p:nvSpPr>
        <p:spPr>
          <a:xfrm>
            <a:off x="621792" y="5522976"/>
            <a:ext cx="5486400" cy="164592"/>
          </a:xfrm>
          <a:prstGeom prst="rect">
            <a:avLst/>
          </a:prstGeom>
          <a:noFill/>
          <a:ln/>
        </p:spPr>
        <p:txBody>
          <a:bodyPr wrap="square" lIns="0" tIns="0" rIns="0" bIns="0" rtlCol="0" anchor="ctr"/>
          <a:lstStyle/>
          <a:p>
            <a:pPr indent="0" marL="0">
              <a:buNone/>
            </a:pPr>
            <a:r>
              <a:rPr lang="en-US" sz="780" b="1" spc="50" kern="0" dirty="0">
                <a:solidFill>
                  <a:srgbClr val="16325C"/>
                </a:solidFill>
                <a:latin typeface="Calibri" pitchFamily="34" charset="0"/>
                <a:ea typeface="Calibri" pitchFamily="34" charset="-122"/>
                <a:cs typeface="Calibri" pitchFamily="34" charset="-120"/>
              </a:rPr>
              <a:t>DOES IT CALL ANYTHING? — API, KPI AND TELEMETRY, IN FULL</a:t>
            </a:r>
            <a:endParaRPr lang="en-US" sz="780" dirty="0"/>
          </a:p>
        </p:txBody>
      </p:sp>
      <p:sp>
        <p:nvSpPr>
          <p:cNvPr id="144" name="Shape 142"/>
          <p:cNvSpPr/>
          <p:nvPr/>
        </p:nvSpPr>
        <p:spPr>
          <a:xfrm>
            <a:off x="621792" y="5751576"/>
            <a:ext cx="73152" cy="73152"/>
          </a:xfrm>
          <a:prstGeom prst="ellipse">
            <a:avLst/>
          </a:prstGeom>
          <a:solidFill>
            <a:srgbClr val="6B3FA0"/>
          </a:solidFill>
          <a:ln/>
        </p:spPr>
      </p:sp>
      <p:sp>
        <p:nvSpPr>
          <p:cNvPr id="145" name="Text 143"/>
          <p:cNvSpPr/>
          <p:nvPr/>
        </p:nvSpPr>
        <p:spPr>
          <a:xfrm>
            <a:off x="758952" y="5705856"/>
            <a:ext cx="914400" cy="146304"/>
          </a:xfrm>
          <a:prstGeom prst="rect">
            <a:avLst/>
          </a:prstGeom>
          <a:noFill/>
          <a:ln/>
        </p:spPr>
        <p:txBody>
          <a:bodyPr wrap="square" lIns="0" tIns="0" rIns="0" bIns="0" rtlCol="0" anchor="ctr"/>
          <a:lstStyle/>
          <a:p>
            <a:pPr indent="0" marL="0">
              <a:buNone/>
            </a:pPr>
            <a:r>
              <a:rPr lang="en-US" sz="750" b="1" dirty="0">
                <a:solidFill>
                  <a:srgbClr val="6B3FA0"/>
                </a:solidFill>
                <a:latin typeface="Calibri" pitchFamily="34" charset="0"/>
                <a:ea typeface="Calibri" pitchFamily="34" charset="-122"/>
                <a:cs typeface="Calibri" pitchFamily="34" charset="-120"/>
              </a:rPr>
              <a:t>API calls</a:t>
            </a:r>
            <a:endParaRPr lang="en-US" sz="750" dirty="0"/>
          </a:p>
        </p:txBody>
      </p:sp>
      <p:sp>
        <p:nvSpPr>
          <p:cNvPr id="146" name="Text 144"/>
          <p:cNvSpPr/>
          <p:nvPr/>
        </p:nvSpPr>
        <p:spPr>
          <a:xfrm>
            <a:off x="1691640" y="5705856"/>
            <a:ext cx="1371600" cy="146304"/>
          </a:xfrm>
          <a:prstGeom prst="rect">
            <a:avLst/>
          </a:prstGeom>
          <a:noFill/>
          <a:ln/>
        </p:spPr>
        <p:txBody>
          <a:bodyPr wrap="square" lIns="0" tIns="0" rIns="0" bIns="0" rtlCol="0" anchor="ctr"/>
          <a:lstStyle/>
          <a:p>
            <a:pPr indent="0" marL="0">
              <a:buNone/>
            </a:pPr>
            <a:r>
              <a:rPr lang="en-US" sz="750" b="1" dirty="0">
                <a:solidFill>
                  <a:srgbClr val="16325C"/>
                </a:solidFill>
                <a:latin typeface="Calibri" pitchFamily="34" charset="0"/>
                <a:ea typeface="Calibri" pitchFamily="34" charset="-122"/>
                <a:cs typeface="Calibri" pitchFamily="34" charset="-120"/>
              </a:rPr>
              <a:t>None at JLR</a:t>
            </a:r>
            <a:endParaRPr lang="en-US" sz="750" dirty="0"/>
          </a:p>
        </p:txBody>
      </p:sp>
      <p:sp>
        <p:nvSpPr>
          <p:cNvPr id="147" name="Text 145"/>
          <p:cNvSpPr/>
          <p:nvPr/>
        </p:nvSpPr>
        <p:spPr>
          <a:xfrm>
            <a:off x="758952" y="5843016"/>
            <a:ext cx="5212080" cy="137160"/>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The optional AI is off (AIR_GAPPED=1). The costing path never calls out.</a:t>
            </a:r>
            <a:endParaRPr lang="en-US" sz="750" dirty="0"/>
          </a:p>
        </p:txBody>
      </p:sp>
      <p:sp>
        <p:nvSpPr>
          <p:cNvPr id="148" name="Shape 146"/>
          <p:cNvSpPr/>
          <p:nvPr/>
        </p:nvSpPr>
        <p:spPr>
          <a:xfrm>
            <a:off x="621792" y="6044184"/>
            <a:ext cx="73152" cy="73152"/>
          </a:xfrm>
          <a:prstGeom prst="ellipse">
            <a:avLst/>
          </a:prstGeom>
          <a:solidFill>
            <a:srgbClr val="2A7F50"/>
          </a:solidFill>
          <a:ln/>
        </p:spPr>
      </p:sp>
      <p:sp>
        <p:nvSpPr>
          <p:cNvPr id="149" name="Text 147"/>
          <p:cNvSpPr/>
          <p:nvPr/>
        </p:nvSpPr>
        <p:spPr>
          <a:xfrm>
            <a:off x="758952" y="5998464"/>
            <a:ext cx="914400" cy="146304"/>
          </a:xfrm>
          <a:prstGeom prst="rect">
            <a:avLst/>
          </a:prstGeom>
          <a:noFill/>
          <a:ln/>
        </p:spPr>
        <p:txBody>
          <a:bodyPr wrap="square" lIns="0" tIns="0" rIns="0" bIns="0" rtlCol="0" anchor="ctr"/>
          <a:lstStyle/>
          <a:p>
            <a:pPr indent="0" marL="0">
              <a:buNone/>
            </a:pPr>
            <a:r>
              <a:rPr lang="en-US" sz="750" b="1" dirty="0">
                <a:solidFill>
                  <a:srgbClr val="2A7F50"/>
                </a:solidFill>
                <a:latin typeface="Calibri" pitchFamily="34" charset="0"/>
                <a:ea typeface="Calibri" pitchFamily="34" charset="-122"/>
                <a:cs typeface="Calibri" pitchFamily="34" charset="-120"/>
              </a:rPr>
              <a:t>KPI calls</a:t>
            </a:r>
            <a:endParaRPr lang="en-US" sz="750" dirty="0"/>
          </a:p>
        </p:txBody>
      </p:sp>
      <p:sp>
        <p:nvSpPr>
          <p:cNvPr id="150" name="Text 148"/>
          <p:cNvSpPr/>
          <p:nvPr/>
        </p:nvSpPr>
        <p:spPr>
          <a:xfrm>
            <a:off x="1691640" y="5998464"/>
            <a:ext cx="1371600" cy="146304"/>
          </a:xfrm>
          <a:prstGeom prst="rect">
            <a:avLst/>
          </a:prstGeom>
          <a:noFill/>
          <a:ln/>
        </p:spPr>
        <p:txBody>
          <a:bodyPr wrap="square" lIns="0" tIns="0" rIns="0" bIns="0" rtlCol="0" anchor="ctr"/>
          <a:lstStyle/>
          <a:p>
            <a:pPr indent="0" marL="0">
              <a:buNone/>
            </a:pPr>
            <a:r>
              <a:rPr lang="en-US" sz="750" b="1" dirty="0">
                <a:solidFill>
                  <a:srgbClr val="16325C"/>
                </a:solidFill>
                <a:latin typeface="Calibri" pitchFamily="34" charset="0"/>
                <a:ea typeface="Calibri" pitchFamily="34" charset="-122"/>
                <a:cs typeface="Calibri" pitchFamily="34" charset="-120"/>
              </a:rPr>
              <a:t>None. Not one.</a:t>
            </a:r>
            <a:endParaRPr lang="en-US" sz="750" dirty="0"/>
          </a:p>
        </p:txBody>
      </p:sp>
      <p:sp>
        <p:nvSpPr>
          <p:cNvPr id="151" name="Text 149"/>
          <p:cNvSpPr/>
          <p:nvPr/>
        </p:nvSpPr>
        <p:spPr>
          <a:xfrm>
            <a:off x="758952" y="6135624"/>
            <a:ext cx="5212080" cy="137160"/>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No KPIs measured, no usage tracked, no per-seat licence check phoning home. No analytics call of any kind.</a:t>
            </a:r>
            <a:endParaRPr lang="en-US" sz="750" dirty="0"/>
          </a:p>
        </p:txBody>
      </p:sp>
      <p:sp>
        <p:nvSpPr>
          <p:cNvPr id="152" name="Shape 150"/>
          <p:cNvSpPr/>
          <p:nvPr/>
        </p:nvSpPr>
        <p:spPr>
          <a:xfrm>
            <a:off x="6245352" y="5751576"/>
            <a:ext cx="73152" cy="73152"/>
          </a:xfrm>
          <a:prstGeom prst="ellipse">
            <a:avLst/>
          </a:prstGeom>
          <a:solidFill>
            <a:srgbClr val="99651A"/>
          </a:solidFill>
          <a:ln/>
        </p:spPr>
      </p:sp>
      <p:sp>
        <p:nvSpPr>
          <p:cNvPr id="153" name="Text 151"/>
          <p:cNvSpPr/>
          <p:nvPr/>
        </p:nvSpPr>
        <p:spPr>
          <a:xfrm>
            <a:off x="6382512" y="5705856"/>
            <a:ext cx="914400" cy="146304"/>
          </a:xfrm>
          <a:prstGeom prst="rect">
            <a:avLst/>
          </a:prstGeom>
          <a:noFill/>
          <a:ln/>
        </p:spPr>
        <p:txBody>
          <a:bodyPr wrap="square" lIns="0" tIns="0" rIns="0" bIns="0" rtlCol="0" anchor="ctr"/>
          <a:lstStyle/>
          <a:p>
            <a:pPr indent="0" marL="0">
              <a:buNone/>
            </a:pPr>
            <a:r>
              <a:rPr lang="en-US" sz="750" b="1" dirty="0">
                <a:solidFill>
                  <a:srgbClr val="99651A"/>
                </a:solidFill>
                <a:latin typeface="Calibri" pitchFamily="34" charset="0"/>
                <a:ea typeface="Calibri" pitchFamily="34" charset="-122"/>
                <a:cs typeface="Calibri" pitchFamily="34" charset="-120"/>
              </a:rPr>
              <a:t>Error telemetry</a:t>
            </a:r>
            <a:endParaRPr lang="en-US" sz="750" dirty="0"/>
          </a:p>
        </p:txBody>
      </p:sp>
      <p:sp>
        <p:nvSpPr>
          <p:cNvPr id="154" name="Text 152"/>
          <p:cNvSpPr/>
          <p:nvPr/>
        </p:nvSpPr>
        <p:spPr>
          <a:xfrm>
            <a:off x="7315200" y="5705856"/>
            <a:ext cx="1371600" cy="146304"/>
          </a:xfrm>
          <a:prstGeom prst="rect">
            <a:avLst/>
          </a:prstGeom>
          <a:noFill/>
          <a:ln/>
        </p:spPr>
        <p:txBody>
          <a:bodyPr wrap="square" lIns="0" tIns="0" rIns="0" bIns="0" rtlCol="0" anchor="ctr"/>
          <a:lstStyle/>
          <a:p>
            <a:pPr indent="0" marL="0">
              <a:buNone/>
            </a:pPr>
            <a:r>
              <a:rPr lang="en-US" sz="750" b="1" dirty="0">
                <a:solidFill>
                  <a:srgbClr val="16325C"/>
                </a:solidFill>
                <a:latin typeface="Calibri" pitchFamily="34" charset="0"/>
                <a:ea typeface="Calibri" pitchFamily="34" charset="-122"/>
                <a:cs typeface="Calibri" pitchFamily="34" charset="-120"/>
              </a:rPr>
              <a:t>Yes — stays in-house</a:t>
            </a:r>
            <a:endParaRPr lang="en-US" sz="750" dirty="0"/>
          </a:p>
        </p:txBody>
      </p:sp>
      <p:sp>
        <p:nvSpPr>
          <p:cNvPr id="155" name="Text 153"/>
          <p:cNvSpPr/>
          <p:nvPr/>
        </p:nvSpPr>
        <p:spPr>
          <a:xfrm>
            <a:off x="6382512" y="5843016"/>
            <a:ext cx="5212080" cy="137160"/>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Uncaught errors go to YOUR server’s log. No Sentry, no analytics, no third party.</a:t>
            </a:r>
            <a:endParaRPr lang="en-US" sz="750" dirty="0"/>
          </a:p>
        </p:txBody>
      </p:sp>
      <p:sp>
        <p:nvSpPr>
          <p:cNvPr id="156" name="Shape 154"/>
          <p:cNvSpPr/>
          <p:nvPr/>
        </p:nvSpPr>
        <p:spPr>
          <a:xfrm>
            <a:off x="6245352" y="6044184"/>
            <a:ext cx="73152" cy="73152"/>
          </a:xfrm>
          <a:prstGeom prst="ellipse">
            <a:avLst/>
          </a:prstGeom>
          <a:solidFill>
            <a:srgbClr val="686F7D"/>
          </a:solidFill>
          <a:ln/>
        </p:spPr>
      </p:sp>
      <p:sp>
        <p:nvSpPr>
          <p:cNvPr id="157" name="Text 155"/>
          <p:cNvSpPr/>
          <p:nvPr/>
        </p:nvSpPr>
        <p:spPr>
          <a:xfrm>
            <a:off x="6382512" y="5998464"/>
            <a:ext cx="914400" cy="146304"/>
          </a:xfrm>
          <a:prstGeom prst="rect">
            <a:avLst/>
          </a:prstGeom>
          <a:noFill/>
          <a:ln/>
        </p:spPr>
        <p:txBody>
          <a:bodyPr wrap="square" lIns="0" tIns="0" rIns="0" bIns="0" rtlCol="0" anchor="ctr"/>
          <a:lstStyle/>
          <a:p>
            <a:pPr indent="0" marL="0">
              <a:buNone/>
            </a:pPr>
            <a:r>
              <a:rPr lang="en-US" sz="750" b="1" dirty="0">
                <a:solidFill>
                  <a:srgbClr val="686F7D"/>
                </a:solidFill>
                <a:latin typeface="Calibri" pitchFamily="34" charset="0"/>
                <a:ea typeface="Calibri" pitchFamily="34" charset="-122"/>
                <a:cs typeface="Calibri" pitchFamily="34" charset="-120"/>
              </a:rPr>
              <a:t>Optional feeds</a:t>
            </a:r>
            <a:endParaRPr lang="en-US" sz="750" dirty="0"/>
          </a:p>
        </p:txBody>
      </p:sp>
      <p:sp>
        <p:nvSpPr>
          <p:cNvPr id="158" name="Text 156"/>
          <p:cNvSpPr/>
          <p:nvPr/>
        </p:nvSpPr>
        <p:spPr>
          <a:xfrm>
            <a:off x="7315200" y="5998464"/>
            <a:ext cx="1371600" cy="146304"/>
          </a:xfrm>
          <a:prstGeom prst="rect">
            <a:avLst/>
          </a:prstGeom>
          <a:noFill/>
          <a:ln/>
        </p:spPr>
        <p:txBody>
          <a:bodyPr wrap="square" lIns="0" tIns="0" rIns="0" bIns="0" rtlCol="0" anchor="ctr"/>
          <a:lstStyle/>
          <a:p>
            <a:pPr indent="0" marL="0">
              <a:buNone/>
            </a:pPr>
            <a:r>
              <a:rPr lang="en-US" sz="750" b="1" dirty="0">
                <a:solidFill>
                  <a:srgbClr val="16325C"/>
                </a:solidFill>
                <a:latin typeface="Calibri" pitchFamily="34" charset="0"/>
                <a:ea typeface="Calibri" pitchFamily="34" charset="-122"/>
                <a:cs typeface="Calibri" pitchFamily="34" charset="-120"/>
              </a:rPr>
              <a:t>None price a part</a:t>
            </a:r>
            <a:endParaRPr lang="en-US" sz="750" dirty="0"/>
          </a:p>
        </p:txBody>
      </p:sp>
      <p:sp>
        <p:nvSpPr>
          <p:cNvPr id="159" name="Text 157"/>
          <p:cNvSpPr/>
          <p:nvPr/>
        </p:nvSpPr>
        <p:spPr>
          <a:xfrm>
            <a:off x="6382512" y="6135624"/>
            <a:ext cx="5212080" cy="137160"/>
          </a:xfrm>
          <a:prstGeom prst="rect">
            <a:avLst/>
          </a:prstGeom>
          <a:noFill/>
          <a:ln/>
        </p:spPr>
        <p:txBody>
          <a:bodyPr wrap="square" lIns="0" tIns="0" rIns="0" bIns="0" rtlCol="0" anchor="ctr"/>
          <a:lstStyle/>
          <a:p>
            <a:pPr indent="0" marL="0">
              <a:buNone/>
            </a:pPr>
            <a:r>
              <a:rPr lang="en-US" sz="750" dirty="0">
                <a:solidFill>
                  <a:srgbClr val="3A4356"/>
                </a:solidFill>
                <a:latin typeface="Calibri" pitchFamily="34" charset="0"/>
                <a:ea typeface="Calibri" pitchFamily="34" charset="-122"/>
                <a:cs typeface="Calibri" pitchFamily="34" charset="-120"/>
              </a:rPr>
              <a:t>PCB live prices (off) · news (needs internet) · dashboard ticker (indicative, simulated).</a:t>
            </a:r>
            <a:endParaRPr lang="en-US" sz="750" dirty="0"/>
          </a:p>
        </p:txBody>
      </p:sp>
      <p:sp>
        <p:nvSpPr>
          <p:cNvPr id="160" name="Text 15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technical architecture — what each box is made of, and what flows between them</a:t>
            </a:r>
            <a:endParaRPr lang="en-US" sz="850" dirty="0"/>
          </a:p>
        </p:txBody>
      </p:sp>
      <p:sp>
        <p:nvSpPr>
          <p:cNvPr id="161" name="Text 15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57</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6325C"/>
          </a:solidFill>
          <a:ln/>
        </p:spPr>
      </p:sp>
      <p:sp>
        <p:nvSpPr>
          <p:cNvPr id="3" name="Text 1"/>
          <p:cNvSpPr/>
          <p:nvPr/>
        </p:nvSpPr>
        <p:spPr>
          <a:xfrm>
            <a:off x="457200" y="219456"/>
            <a:ext cx="11247120" cy="457200"/>
          </a:xfrm>
          <a:prstGeom prst="rect">
            <a:avLst/>
          </a:prstGeom>
          <a:noFill/>
          <a:ln/>
        </p:spPr>
        <p:txBody>
          <a:bodyPr wrap="square" lIns="0" tIns="0" rIns="0" bIns="0" rtlCol="0" anchor="ctr"/>
          <a:lstStyle/>
          <a:p>
            <a:pPr indent="0" marL="0">
              <a:buNone/>
            </a:pPr>
            <a:r>
              <a:rPr lang="en-US" sz="2500" b="1" dirty="0">
                <a:solidFill>
                  <a:srgbClr val="16325C"/>
                </a:solidFill>
                <a:latin typeface="Cambria" pitchFamily="34" charset="0"/>
                <a:ea typeface="Cambria" pitchFamily="34" charset="-122"/>
                <a:cs typeface="Cambria" pitchFamily="34" charset="-120"/>
              </a:rPr>
              <a:t>Backup — Data Contracts, Field by Field</a:t>
            </a:r>
            <a:endParaRPr lang="en-US" sz="2500" dirty="0"/>
          </a:p>
        </p:txBody>
      </p:sp>
      <p:sp>
        <p:nvSpPr>
          <p:cNvPr id="4" name="Text 2"/>
          <p:cNvSpPr/>
          <p:nvPr/>
        </p:nvSpPr>
        <p:spPr>
          <a:xfrm>
            <a:off x="457200" y="713232"/>
            <a:ext cx="11247120" cy="274320"/>
          </a:xfrm>
          <a:prstGeom prst="rect">
            <a:avLst/>
          </a:prstGeom>
          <a:noFill/>
          <a:ln/>
        </p:spPr>
        <p:txBody>
          <a:bodyPr wrap="square" lIns="0" tIns="0" rIns="0" bIns="0" rtlCol="0" anchor="ctr"/>
          <a:lstStyle/>
          <a:p>
            <a:pPr indent="0" marL="0">
              <a:buNone/>
            </a:pPr>
            <a:r>
              <a:rPr lang="en-US" sz="1200" i="1" dirty="0">
                <a:solidFill>
                  <a:srgbClr val="686F7D"/>
                </a:solidFill>
                <a:latin typeface="Calibri" pitchFamily="34" charset="0"/>
                <a:ea typeface="Calibri" pitchFamily="34" charset="-122"/>
                <a:cs typeface="Calibri" pitchFamily="34" charset="-120"/>
              </a:rPr>
              <a:t>The exact objects behind the four parcels on the previous slide. Type and field names copied from the source</a:t>
            </a:r>
            <a:endParaRPr lang="en-US" sz="1200" dirty="0"/>
          </a:p>
        </p:txBody>
      </p:sp>
      <p:sp>
        <p:nvSpPr>
          <p:cNvPr id="5" name="Shape 3"/>
          <p:cNvSpPr/>
          <p:nvPr/>
        </p:nvSpPr>
        <p:spPr>
          <a:xfrm>
            <a:off x="9710928" y="237744"/>
            <a:ext cx="2020824" cy="274320"/>
          </a:xfrm>
          <a:prstGeom prst="roundRect">
            <a:avLst>
              <a:gd name="adj" fmla="val 50000"/>
            </a:avLst>
          </a:prstGeom>
          <a:solidFill>
            <a:srgbClr val="FCF3E3"/>
          </a:solidFill>
          <a:ln w="12700">
            <a:solidFill>
              <a:srgbClr val="99651A"/>
            </a:solidFill>
            <a:prstDash val="solid"/>
          </a:ln>
        </p:spPr>
      </p:sp>
      <p:sp>
        <p:nvSpPr>
          <p:cNvPr id="6" name="Text 4"/>
          <p:cNvSpPr/>
          <p:nvPr/>
        </p:nvSpPr>
        <p:spPr>
          <a:xfrm>
            <a:off x="9710928" y="237744"/>
            <a:ext cx="2020824" cy="274320"/>
          </a:xfrm>
          <a:prstGeom prst="rect">
            <a:avLst/>
          </a:prstGeom>
          <a:noFill/>
          <a:ln/>
        </p:spPr>
        <p:txBody>
          <a:bodyPr wrap="square" lIns="0" tIns="0" rIns="0" bIns="0" rtlCol="0" anchor="ctr"/>
          <a:lstStyle/>
          <a:p>
            <a:pPr algn="ctr" indent="0" marL="0">
              <a:buNone/>
            </a:pPr>
            <a:r>
              <a:rPr lang="en-US" sz="800" b="1" dirty="0">
                <a:solidFill>
                  <a:srgbClr val="99651A"/>
                </a:solidFill>
                <a:latin typeface="Calibri" pitchFamily="34" charset="0"/>
                <a:ea typeface="Calibri" pitchFamily="34" charset="-122"/>
                <a:cs typeface="Calibri" pitchFamily="34" charset="-120"/>
              </a:rPr>
              <a:t>BACKUP — ONLY IF ASKED</a:t>
            </a:r>
            <a:endParaRPr lang="en-US" sz="800" dirty="0"/>
          </a:p>
        </p:txBody>
      </p:sp>
      <p:sp>
        <p:nvSpPr>
          <p:cNvPr id="7" name="Shape 5"/>
          <p:cNvSpPr/>
          <p:nvPr/>
        </p:nvSpPr>
        <p:spPr>
          <a:xfrm>
            <a:off x="457200" y="1042416"/>
            <a:ext cx="2139696" cy="3127248"/>
          </a:xfrm>
          <a:prstGeom prst="roundRect">
            <a:avLst>
              <a:gd name="adj" fmla="val 3846"/>
            </a:avLst>
          </a:prstGeom>
          <a:solidFill>
            <a:srgbClr val="FFFFFF"/>
          </a:solidFill>
          <a:ln w="17780">
            <a:solidFill>
              <a:srgbClr val="99651A"/>
            </a:solidFill>
            <a:prstDash val="solid"/>
          </a:ln>
        </p:spPr>
      </p:sp>
      <p:sp>
        <p:nvSpPr>
          <p:cNvPr id="8" name="Shape 6"/>
          <p:cNvSpPr/>
          <p:nvPr/>
        </p:nvSpPr>
        <p:spPr>
          <a:xfrm>
            <a:off x="457200" y="1042416"/>
            <a:ext cx="2139696" cy="384048"/>
          </a:xfrm>
          <a:prstGeom prst="roundRect">
            <a:avLst>
              <a:gd name="adj" fmla="val 21429"/>
            </a:avLst>
          </a:prstGeom>
          <a:solidFill>
            <a:srgbClr val="99651A"/>
          </a:solidFill>
          <a:ln/>
        </p:spPr>
      </p:sp>
      <p:sp>
        <p:nvSpPr>
          <p:cNvPr id="9" name="Shape 7"/>
          <p:cNvSpPr/>
          <p:nvPr/>
        </p:nvSpPr>
        <p:spPr>
          <a:xfrm>
            <a:off x="457200" y="1280160"/>
            <a:ext cx="2139696" cy="146304"/>
          </a:xfrm>
          <a:prstGeom prst="rect">
            <a:avLst/>
          </a:prstGeom>
          <a:solidFill>
            <a:srgbClr val="99651A"/>
          </a:solidFill>
          <a:ln/>
        </p:spPr>
      </p:sp>
      <p:sp>
        <p:nvSpPr>
          <p:cNvPr id="10" name="Shape 8"/>
          <p:cNvSpPr/>
          <p:nvPr/>
        </p:nvSpPr>
        <p:spPr>
          <a:xfrm>
            <a:off x="557784" y="1124712"/>
            <a:ext cx="219456" cy="219456"/>
          </a:xfrm>
          <a:prstGeom prst="ellipse">
            <a:avLst/>
          </a:prstGeom>
          <a:solidFill>
            <a:srgbClr val="FFFFFF"/>
          </a:solidFill>
          <a:ln/>
        </p:spPr>
      </p:sp>
      <p:sp>
        <p:nvSpPr>
          <p:cNvPr id="11" name="Text 9"/>
          <p:cNvSpPr/>
          <p:nvPr/>
        </p:nvSpPr>
        <p:spPr>
          <a:xfrm>
            <a:off x="557784" y="1124712"/>
            <a:ext cx="219456" cy="219456"/>
          </a:xfrm>
          <a:prstGeom prst="rect">
            <a:avLst/>
          </a:prstGeom>
          <a:noFill/>
          <a:ln/>
        </p:spPr>
        <p:txBody>
          <a:bodyPr wrap="square" lIns="0" tIns="0" rIns="0" bIns="0" rtlCol="0" anchor="ctr"/>
          <a:lstStyle/>
          <a:p>
            <a:pPr algn="ctr" indent="0" marL="0">
              <a:buNone/>
            </a:pPr>
            <a:r>
              <a:rPr lang="en-US" sz="800" b="1" dirty="0">
                <a:solidFill>
                  <a:srgbClr val="99651A"/>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841248" y="1078992"/>
            <a:ext cx="1664208" cy="182880"/>
          </a:xfrm>
          <a:prstGeom prst="rect">
            <a:avLst/>
          </a:prstGeom>
          <a:noFill/>
          <a:ln/>
        </p:spPr>
        <p:txBody>
          <a:bodyPr wrap="square" lIns="0" tIns="0" rIns="0" bIns="0" rtlCol="0" anchor="ctr"/>
          <a:lstStyle/>
          <a:p>
            <a:pPr indent="0" marL="0">
              <a:buNone/>
            </a:pPr>
            <a:r>
              <a:rPr lang="en-US" sz="840" b="1" dirty="0">
                <a:solidFill>
                  <a:srgbClr val="FFFFFF"/>
                </a:solidFill>
                <a:latin typeface="Consolas" pitchFamily="34" charset="0"/>
                <a:ea typeface="Consolas" pitchFamily="34" charset="-122"/>
                <a:cs typeface="Consolas" pitchFamily="34" charset="-120"/>
              </a:rPr>
              <a:t>OCCTGeometry</a:t>
            </a:r>
            <a:endParaRPr lang="en-US" sz="840" dirty="0"/>
          </a:p>
        </p:txBody>
      </p:sp>
      <p:sp>
        <p:nvSpPr>
          <p:cNvPr id="13" name="Text 11"/>
          <p:cNvSpPr/>
          <p:nvPr/>
        </p:nvSpPr>
        <p:spPr>
          <a:xfrm>
            <a:off x="841248" y="1243584"/>
            <a:ext cx="1664208" cy="146304"/>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Python kernel → JSON on stdout</a:t>
            </a:r>
            <a:endParaRPr lang="en-US" sz="750" dirty="0"/>
          </a:p>
        </p:txBody>
      </p:sp>
      <p:sp>
        <p:nvSpPr>
          <p:cNvPr id="14" name="Text 12"/>
          <p:cNvSpPr/>
          <p:nvPr/>
        </p:nvSpPr>
        <p:spPr>
          <a:xfrm>
            <a:off x="566928" y="1481328"/>
            <a:ext cx="1920240" cy="2468880"/>
          </a:xfrm>
          <a:prstGeom prst="rect">
            <a:avLst/>
          </a:prstGeom>
          <a:noFill/>
          <a:ln/>
        </p:spPr>
        <p:txBody>
          <a:bodyPr wrap="square" lIns="0" tIns="0" rIns="0" bIns="0" rtlCol="0" anchor="t"/>
          <a:lstStyle/>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status: success|error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boundingBox: {xMm,yMm,zMm}</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volume: {mm3, cm3}</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surfaceArea: {mm2, cm2}</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fillRatio: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topology: {solidCount,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shellCount, voidCount,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enclosesSealedVoid,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openShell}</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wallThickness: {minMm,</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maxMm, meanMm, p95Mm,</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method, uniformity}</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draftAnalysis: {undercut-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FaceCount, minPositive-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DraftDeg,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setupAnalysis: {estimated-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SetupCount, principal-</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Directions[]}</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cncCycleTimeEstimate: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weights: {aluminiumKg,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featureTable, bendCount, ...</a:t>
            </a:r>
            <a:endParaRPr lang="en-US" sz="750" dirty="0"/>
          </a:p>
        </p:txBody>
      </p:sp>
      <p:sp>
        <p:nvSpPr>
          <p:cNvPr id="15" name="Text 13"/>
          <p:cNvSpPr/>
          <p:nvPr/>
        </p:nvSpPr>
        <p:spPr>
          <a:xfrm>
            <a:off x="566928" y="3950208"/>
            <a:ext cx="1920240" cy="182880"/>
          </a:xfrm>
          <a:prstGeom prst="rect">
            <a:avLst/>
          </a:prstGeom>
          <a:noFill/>
          <a:ln/>
        </p:spPr>
        <p:txBody>
          <a:bodyPr wrap="square" lIns="0" tIns="0" rIns="0" bIns="0" rtlCol="0" anchor="ctr"/>
          <a:lstStyle/>
          <a:p>
            <a:pPr indent="0" marL="0">
              <a:buNone/>
            </a:pPr>
            <a:r>
              <a:rPr lang="en-US" sz="750" i="1" dirty="0">
                <a:solidFill>
                  <a:srgbClr val="99651A"/>
                </a:solidFill>
                <a:latin typeface="Calibri" pitchFamily="34" charset="0"/>
                <a:ea typeface="Calibri" pitchFamily="34" charset="-122"/>
                <a:cs typeface="Calibri" pitchFamily="34" charset="-120"/>
              </a:rPr>
              <a:t>Measured. Never guessed.</a:t>
            </a:r>
            <a:endParaRPr lang="en-US" sz="750" dirty="0"/>
          </a:p>
        </p:txBody>
      </p:sp>
      <p:sp>
        <p:nvSpPr>
          <p:cNvPr id="16" name="Shape 14"/>
          <p:cNvSpPr/>
          <p:nvPr/>
        </p:nvSpPr>
        <p:spPr>
          <a:xfrm>
            <a:off x="2738628" y="1042416"/>
            <a:ext cx="2139696" cy="3127248"/>
          </a:xfrm>
          <a:prstGeom prst="roundRect">
            <a:avLst>
              <a:gd name="adj" fmla="val 3846"/>
            </a:avLst>
          </a:prstGeom>
          <a:solidFill>
            <a:srgbClr val="FFFFFF"/>
          </a:solidFill>
          <a:ln w="17780">
            <a:solidFill>
              <a:srgbClr val="0D7D71"/>
            </a:solidFill>
            <a:prstDash val="solid"/>
          </a:ln>
        </p:spPr>
      </p:sp>
      <p:sp>
        <p:nvSpPr>
          <p:cNvPr id="17" name="Shape 15"/>
          <p:cNvSpPr/>
          <p:nvPr/>
        </p:nvSpPr>
        <p:spPr>
          <a:xfrm>
            <a:off x="2738628" y="1042416"/>
            <a:ext cx="2139696" cy="384048"/>
          </a:xfrm>
          <a:prstGeom prst="roundRect">
            <a:avLst>
              <a:gd name="adj" fmla="val 21429"/>
            </a:avLst>
          </a:prstGeom>
          <a:solidFill>
            <a:srgbClr val="0D7D71"/>
          </a:solidFill>
          <a:ln/>
        </p:spPr>
      </p:sp>
      <p:sp>
        <p:nvSpPr>
          <p:cNvPr id="18" name="Shape 16"/>
          <p:cNvSpPr/>
          <p:nvPr/>
        </p:nvSpPr>
        <p:spPr>
          <a:xfrm>
            <a:off x="2738628" y="1280160"/>
            <a:ext cx="2139696" cy="146304"/>
          </a:xfrm>
          <a:prstGeom prst="rect">
            <a:avLst/>
          </a:prstGeom>
          <a:solidFill>
            <a:srgbClr val="0D7D71"/>
          </a:solidFill>
          <a:ln/>
        </p:spPr>
      </p:sp>
      <p:sp>
        <p:nvSpPr>
          <p:cNvPr id="19" name="Shape 17"/>
          <p:cNvSpPr/>
          <p:nvPr/>
        </p:nvSpPr>
        <p:spPr>
          <a:xfrm>
            <a:off x="2839212" y="1124712"/>
            <a:ext cx="219456" cy="219456"/>
          </a:xfrm>
          <a:prstGeom prst="ellipse">
            <a:avLst/>
          </a:prstGeom>
          <a:solidFill>
            <a:srgbClr val="FFFFFF"/>
          </a:solidFill>
          <a:ln/>
        </p:spPr>
      </p:sp>
      <p:sp>
        <p:nvSpPr>
          <p:cNvPr id="20" name="Text 18"/>
          <p:cNvSpPr/>
          <p:nvPr/>
        </p:nvSpPr>
        <p:spPr>
          <a:xfrm>
            <a:off x="2839212" y="1124712"/>
            <a:ext cx="219456" cy="219456"/>
          </a:xfrm>
          <a:prstGeom prst="rect">
            <a:avLst/>
          </a:prstGeom>
          <a:noFill/>
          <a:ln/>
        </p:spPr>
        <p:txBody>
          <a:bodyPr wrap="square" lIns="0" tIns="0" rIns="0" bIns="0" rtlCol="0" anchor="ctr"/>
          <a:lstStyle/>
          <a:p>
            <a:pPr algn="ctr" indent="0" marL="0">
              <a:buNone/>
            </a:pPr>
            <a:r>
              <a:rPr lang="en-US" sz="800" b="1" dirty="0">
                <a:solidFill>
                  <a:srgbClr val="0D7D71"/>
                </a:solidFill>
                <a:latin typeface="Calibri" pitchFamily="34" charset="0"/>
                <a:ea typeface="Calibri" pitchFamily="34" charset="-122"/>
                <a:cs typeface="Calibri" pitchFamily="34" charset="-120"/>
              </a:rPr>
              <a:t>2</a:t>
            </a:r>
            <a:endParaRPr lang="en-US" sz="800" dirty="0"/>
          </a:p>
        </p:txBody>
      </p:sp>
      <p:sp>
        <p:nvSpPr>
          <p:cNvPr id="21" name="Text 19"/>
          <p:cNvSpPr/>
          <p:nvPr/>
        </p:nvSpPr>
        <p:spPr>
          <a:xfrm>
            <a:off x="3122676" y="1078992"/>
            <a:ext cx="1664208" cy="182880"/>
          </a:xfrm>
          <a:prstGeom prst="rect">
            <a:avLst/>
          </a:prstGeom>
          <a:noFill/>
          <a:ln/>
        </p:spPr>
        <p:txBody>
          <a:bodyPr wrap="square" lIns="0" tIns="0" rIns="0" bIns="0" rtlCol="0" anchor="ctr"/>
          <a:lstStyle/>
          <a:p>
            <a:pPr indent="0" marL="0">
              <a:buNone/>
            </a:pPr>
            <a:r>
              <a:rPr lang="en-US" sz="840" b="1" dirty="0">
                <a:solidFill>
                  <a:srgbClr val="FFFFFF"/>
                </a:solidFill>
                <a:latin typeface="Consolas" pitchFamily="34" charset="0"/>
                <a:ea typeface="Consolas" pitchFamily="34" charset="-122"/>
                <a:cs typeface="Consolas" pitchFamily="34" charset="-120"/>
              </a:rPr>
              <a:t>UniversalStackInput</a:t>
            </a:r>
            <a:endParaRPr lang="en-US" sz="840" dirty="0"/>
          </a:p>
        </p:txBody>
      </p:sp>
      <p:sp>
        <p:nvSpPr>
          <p:cNvPr id="22" name="Text 20"/>
          <p:cNvSpPr/>
          <p:nvPr/>
        </p:nvSpPr>
        <p:spPr>
          <a:xfrm>
            <a:off x="3122676" y="1243584"/>
            <a:ext cx="1664208" cy="146304"/>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rules + engineer answers</a:t>
            </a:r>
            <a:endParaRPr lang="en-US" sz="750" dirty="0"/>
          </a:p>
        </p:txBody>
      </p:sp>
      <p:sp>
        <p:nvSpPr>
          <p:cNvPr id="23" name="Text 21"/>
          <p:cNvSpPr/>
          <p:nvPr/>
        </p:nvSpPr>
        <p:spPr>
          <a:xfrm>
            <a:off x="2848356" y="1481328"/>
            <a:ext cx="1920240" cy="2468880"/>
          </a:xfrm>
          <a:prstGeom prst="rect">
            <a:avLst/>
          </a:prstGeom>
          <a:noFill/>
          <a:ln/>
        </p:spPr>
        <p:txBody>
          <a:bodyPr wrap="square" lIns="0" tIns="0" rIns="0" bIns="0" rtlCol="0" anchor="t"/>
          <a:lstStyle/>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partName: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rawMaterial: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materialId: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netWeightKg: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materialUtilization: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directCost?: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consumablesCostPerPart?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operations: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operationName: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machineId · labourId: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cycleTimeHr: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partsPerCycle: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oee · manning: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labourTimeHr, labourEff...</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tooling: {totalToolingCost,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amortizationVolume, mode}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packagingPerPart,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logisticsPerPart, overheadPct,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marginPct, annualVolume?</a:t>
            </a:r>
            <a:endParaRPr lang="en-US" sz="750" dirty="0"/>
          </a:p>
        </p:txBody>
      </p:sp>
      <p:sp>
        <p:nvSpPr>
          <p:cNvPr id="24" name="Text 22"/>
          <p:cNvSpPr/>
          <p:nvPr/>
        </p:nvSpPr>
        <p:spPr>
          <a:xfrm>
            <a:off x="2848356" y="3950208"/>
            <a:ext cx="1920240" cy="182880"/>
          </a:xfrm>
          <a:prstGeom prst="rect">
            <a:avLst/>
          </a:prstGeom>
          <a:noFill/>
          <a:ln/>
        </p:spPr>
        <p:txBody>
          <a:bodyPr wrap="square" lIns="0" tIns="0" rIns="0" bIns="0" rtlCol="0" anchor="ctr"/>
          <a:lstStyle/>
          <a:p>
            <a:pPr indent="0" marL="0">
              <a:buNone/>
            </a:pPr>
            <a:r>
              <a:rPr lang="en-US" sz="750" i="1" dirty="0">
                <a:solidFill>
                  <a:srgbClr val="0D7D71"/>
                </a:solidFill>
                <a:latin typeface="Calibri" pitchFamily="34" charset="0"/>
                <a:ea typeface="Calibri" pitchFamily="34" charset="-122"/>
                <a:cs typeface="Calibri" pitchFamily="34" charset="-120"/>
              </a:rPr>
              <a:t>Geometry wins; engineer fills gaps.</a:t>
            </a:r>
            <a:endParaRPr lang="en-US" sz="750" dirty="0"/>
          </a:p>
        </p:txBody>
      </p:sp>
      <p:sp>
        <p:nvSpPr>
          <p:cNvPr id="25" name="Shape 23"/>
          <p:cNvSpPr/>
          <p:nvPr/>
        </p:nvSpPr>
        <p:spPr>
          <a:xfrm>
            <a:off x="5020056" y="1042416"/>
            <a:ext cx="2139696" cy="3127248"/>
          </a:xfrm>
          <a:prstGeom prst="roundRect">
            <a:avLst>
              <a:gd name="adj" fmla="val 3846"/>
            </a:avLst>
          </a:prstGeom>
          <a:solidFill>
            <a:srgbClr val="FFFFFF"/>
          </a:solidFill>
          <a:ln w="17780">
            <a:solidFill>
              <a:srgbClr val="1D6FB8"/>
            </a:solidFill>
            <a:prstDash val="solid"/>
          </a:ln>
        </p:spPr>
      </p:sp>
      <p:sp>
        <p:nvSpPr>
          <p:cNvPr id="26" name="Shape 24"/>
          <p:cNvSpPr/>
          <p:nvPr/>
        </p:nvSpPr>
        <p:spPr>
          <a:xfrm>
            <a:off x="5020056" y="1042416"/>
            <a:ext cx="2139696" cy="384048"/>
          </a:xfrm>
          <a:prstGeom prst="roundRect">
            <a:avLst>
              <a:gd name="adj" fmla="val 21429"/>
            </a:avLst>
          </a:prstGeom>
          <a:solidFill>
            <a:srgbClr val="1D6FB8"/>
          </a:solidFill>
          <a:ln/>
        </p:spPr>
      </p:sp>
      <p:sp>
        <p:nvSpPr>
          <p:cNvPr id="27" name="Shape 25"/>
          <p:cNvSpPr/>
          <p:nvPr/>
        </p:nvSpPr>
        <p:spPr>
          <a:xfrm>
            <a:off x="5020056" y="1280160"/>
            <a:ext cx="2139696" cy="146304"/>
          </a:xfrm>
          <a:prstGeom prst="rect">
            <a:avLst/>
          </a:prstGeom>
          <a:solidFill>
            <a:srgbClr val="1D6FB8"/>
          </a:solidFill>
          <a:ln/>
        </p:spPr>
      </p:sp>
      <p:sp>
        <p:nvSpPr>
          <p:cNvPr id="28" name="Shape 26"/>
          <p:cNvSpPr/>
          <p:nvPr/>
        </p:nvSpPr>
        <p:spPr>
          <a:xfrm>
            <a:off x="5120640" y="1124712"/>
            <a:ext cx="219456" cy="219456"/>
          </a:xfrm>
          <a:prstGeom prst="ellipse">
            <a:avLst/>
          </a:prstGeom>
          <a:solidFill>
            <a:srgbClr val="FFFFFF"/>
          </a:solidFill>
          <a:ln/>
        </p:spPr>
      </p:sp>
      <p:sp>
        <p:nvSpPr>
          <p:cNvPr id="29" name="Text 27"/>
          <p:cNvSpPr/>
          <p:nvPr/>
        </p:nvSpPr>
        <p:spPr>
          <a:xfrm>
            <a:off x="5120640" y="1124712"/>
            <a:ext cx="219456" cy="219456"/>
          </a:xfrm>
          <a:prstGeom prst="rect">
            <a:avLst/>
          </a:prstGeom>
          <a:noFill/>
          <a:ln/>
        </p:spPr>
        <p:txBody>
          <a:bodyPr wrap="square" lIns="0" tIns="0" rIns="0" bIns="0" rtlCol="0" anchor="ctr"/>
          <a:lstStyle/>
          <a:p>
            <a:pPr algn="ctr" indent="0" marL="0">
              <a:buNone/>
            </a:pPr>
            <a:r>
              <a:rPr lang="en-US" sz="800" b="1" dirty="0">
                <a:solidFill>
                  <a:srgbClr val="1D6FB8"/>
                </a:solidFill>
                <a:latin typeface="Calibri" pitchFamily="34" charset="0"/>
                <a:ea typeface="Calibri" pitchFamily="34" charset="-122"/>
                <a:cs typeface="Calibri" pitchFamily="34" charset="-120"/>
              </a:rPr>
              <a:t>3</a:t>
            </a:r>
            <a:endParaRPr lang="en-US" sz="800" dirty="0"/>
          </a:p>
        </p:txBody>
      </p:sp>
      <p:sp>
        <p:nvSpPr>
          <p:cNvPr id="30" name="Text 28"/>
          <p:cNvSpPr/>
          <p:nvPr/>
        </p:nvSpPr>
        <p:spPr>
          <a:xfrm>
            <a:off x="5404104" y="1078992"/>
            <a:ext cx="1664208" cy="182880"/>
          </a:xfrm>
          <a:prstGeom prst="rect">
            <a:avLst/>
          </a:prstGeom>
          <a:noFill/>
          <a:ln/>
        </p:spPr>
        <p:txBody>
          <a:bodyPr wrap="square" lIns="0" tIns="0" rIns="0" bIns="0" rtlCol="0" anchor="ctr"/>
          <a:lstStyle/>
          <a:p>
            <a:pPr indent="0" marL="0">
              <a:buNone/>
            </a:pPr>
            <a:r>
              <a:rPr lang="en-US" sz="840" b="1" dirty="0">
                <a:solidFill>
                  <a:srgbClr val="FFFFFF"/>
                </a:solidFill>
                <a:latin typeface="Consolas" pitchFamily="34" charset="0"/>
                <a:ea typeface="Consolas" pitchFamily="34" charset="-122"/>
                <a:cs typeface="Consolas" pitchFamily="34" charset="-120"/>
              </a:rPr>
              <a:t>PartCostResult</a:t>
            </a:r>
            <a:endParaRPr lang="en-US" sz="840" dirty="0"/>
          </a:p>
        </p:txBody>
      </p:sp>
      <p:sp>
        <p:nvSpPr>
          <p:cNvPr id="31" name="Text 29"/>
          <p:cNvSpPr/>
          <p:nvPr/>
        </p:nvSpPr>
        <p:spPr>
          <a:xfrm>
            <a:off x="5404104" y="1243584"/>
            <a:ext cx="1664208" cy="146304"/>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core.ts :: computeUniversalStack()</a:t>
            </a:r>
            <a:endParaRPr lang="en-US" sz="750" dirty="0"/>
          </a:p>
        </p:txBody>
      </p:sp>
      <p:sp>
        <p:nvSpPr>
          <p:cNvPr id="32" name="Text 30"/>
          <p:cNvSpPr/>
          <p:nvPr/>
        </p:nvSpPr>
        <p:spPr>
          <a:xfrm>
            <a:off x="5129784" y="1481328"/>
            <a:ext cx="1920240" cy="2468880"/>
          </a:xfrm>
          <a:prstGeom prst="rect">
            <a:avLst/>
          </a:prstGeom>
          <a:noFill/>
          <a:ln/>
        </p:spPr>
        <p:txBody>
          <a:bodyPr wrap="square" lIns="0" tIns="0" rIns="0" bIns="0" rtlCol="0" anchor="t"/>
          <a:lstStyle/>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partName: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breakdown: Breakdown8Bucket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rawMaterial · process</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labour · tooling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packaging · logistics</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overhead · margin</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operationDetails: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operationName, machineId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processCost, labourCost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machineRateUsed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labourRateUsed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cycleTimeHr, oee, manning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factoryCost · subtotal · total</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toolingNRE?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traceability: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field, value, unit,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rateSource, rateId,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confidence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warnings?: string[]</a:t>
            </a:r>
            <a:endParaRPr lang="en-US" sz="750" dirty="0"/>
          </a:p>
        </p:txBody>
      </p:sp>
      <p:sp>
        <p:nvSpPr>
          <p:cNvPr id="33" name="Text 31"/>
          <p:cNvSpPr/>
          <p:nvPr/>
        </p:nvSpPr>
        <p:spPr>
          <a:xfrm>
            <a:off x="5129784" y="3950208"/>
            <a:ext cx="1920240" cy="182880"/>
          </a:xfrm>
          <a:prstGeom prst="rect">
            <a:avLst/>
          </a:prstGeom>
          <a:noFill/>
          <a:ln/>
        </p:spPr>
        <p:txBody>
          <a:bodyPr wrap="square" lIns="0" tIns="0" rIns="0" bIns="0" rtlCol="0" anchor="ctr"/>
          <a:lstStyle/>
          <a:p>
            <a:pPr indent="0" marL="0">
              <a:buNone/>
            </a:pPr>
            <a:r>
              <a:rPr lang="en-US" sz="750" i="1" dirty="0">
                <a:solidFill>
                  <a:srgbClr val="1D6FB8"/>
                </a:solidFill>
                <a:latin typeface="Calibri" pitchFamily="34" charset="0"/>
                <a:ea typeface="Calibri" pitchFamily="34" charset="-122"/>
                <a:cs typeface="Calibri" pitchFamily="34" charset="-120"/>
              </a:rPr>
              <a:t>traceability[] = the printed derivation.</a:t>
            </a:r>
            <a:endParaRPr lang="en-US" sz="750" dirty="0"/>
          </a:p>
        </p:txBody>
      </p:sp>
      <p:sp>
        <p:nvSpPr>
          <p:cNvPr id="34" name="Shape 32"/>
          <p:cNvSpPr/>
          <p:nvPr/>
        </p:nvSpPr>
        <p:spPr>
          <a:xfrm>
            <a:off x="7301484" y="1042416"/>
            <a:ext cx="2139696" cy="3127248"/>
          </a:xfrm>
          <a:prstGeom prst="roundRect">
            <a:avLst>
              <a:gd name="adj" fmla="val 3846"/>
            </a:avLst>
          </a:prstGeom>
          <a:solidFill>
            <a:srgbClr val="FFFFFF"/>
          </a:solidFill>
          <a:ln w="17780">
            <a:solidFill>
              <a:srgbClr val="2A7F50"/>
            </a:solidFill>
            <a:prstDash val="solid"/>
          </a:ln>
        </p:spPr>
      </p:sp>
      <p:sp>
        <p:nvSpPr>
          <p:cNvPr id="35" name="Shape 33"/>
          <p:cNvSpPr/>
          <p:nvPr/>
        </p:nvSpPr>
        <p:spPr>
          <a:xfrm>
            <a:off x="7301484" y="1042416"/>
            <a:ext cx="2139696" cy="384048"/>
          </a:xfrm>
          <a:prstGeom prst="roundRect">
            <a:avLst>
              <a:gd name="adj" fmla="val 21429"/>
            </a:avLst>
          </a:prstGeom>
          <a:solidFill>
            <a:srgbClr val="2A7F50"/>
          </a:solidFill>
          <a:ln/>
        </p:spPr>
      </p:sp>
      <p:sp>
        <p:nvSpPr>
          <p:cNvPr id="36" name="Shape 34"/>
          <p:cNvSpPr/>
          <p:nvPr/>
        </p:nvSpPr>
        <p:spPr>
          <a:xfrm>
            <a:off x="7301484" y="1280160"/>
            <a:ext cx="2139696" cy="146304"/>
          </a:xfrm>
          <a:prstGeom prst="rect">
            <a:avLst/>
          </a:prstGeom>
          <a:solidFill>
            <a:srgbClr val="2A7F50"/>
          </a:solidFill>
          <a:ln/>
        </p:spPr>
      </p:sp>
      <p:sp>
        <p:nvSpPr>
          <p:cNvPr id="37" name="Shape 35"/>
          <p:cNvSpPr/>
          <p:nvPr/>
        </p:nvSpPr>
        <p:spPr>
          <a:xfrm>
            <a:off x="7402068" y="1124712"/>
            <a:ext cx="219456" cy="219456"/>
          </a:xfrm>
          <a:prstGeom prst="ellipse">
            <a:avLst/>
          </a:prstGeom>
          <a:solidFill>
            <a:srgbClr val="FFFFFF"/>
          </a:solidFill>
          <a:ln/>
        </p:spPr>
      </p:sp>
      <p:sp>
        <p:nvSpPr>
          <p:cNvPr id="38" name="Text 36"/>
          <p:cNvSpPr/>
          <p:nvPr/>
        </p:nvSpPr>
        <p:spPr>
          <a:xfrm>
            <a:off x="7402068" y="1124712"/>
            <a:ext cx="219456" cy="219456"/>
          </a:xfrm>
          <a:prstGeom prst="rect">
            <a:avLst/>
          </a:prstGeom>
          <a:noFill/>
          <a:ln/>
        </p:spPr>
        <p:txBody>
          <a:bodyPr wrap="square" lIns="0" tIns="0" rIns="0" bIns="0" rtlCol="0" anchor="ctr"/>
          <a:lstStyle/>
          <a:p>
            <a:pPr algn="ctr" indent="0" marL="0">
              <a:buNone/>
            </a:pPr>
            <a:r>
              <a:rPr lang="en-US" sz="800" b="1" dirty="0">
                <a:solidFill>
                  <a:srgbClr val="2A7F50"/>
                </a:solidFill>
                <a:latin typeface="Calibri" pitchFamily="34" charset="0"/>
                <a:ea typeface="Calibri" pitchFamily="34" charset="-122"/>
                <a:cs typeface="Calibri" pitchFamily="34" charset="-120"/>
              </a:rPr>
              <a:t>4</a:t>
            </a:r>
            <a:endParaRPr lang="en-US" sz="800" dirty="0"/>
          </a:p>
        </p:txBody>
      </p:sp>
      <p:sp>
        <p:nvSpPr>
          <p:cNvPr id="39" name="Text 37"/>
          <p:cNvSpPr/>
          <p:nvPr/>
        </p:nvSpPr>
        <p:spPr>
          <a:xfrm>
            <a:off x="7685532" y="1078992"/>
            <a:ext cx="1664208" cy="182880"/>
          </a:xfrm>
          <a:prstGeom prst="rect">
            <a:avLst/>
          </a:prstGeom>
          <a:noFill/>
          <a:ln/>
        </p:spPr>
        <p:txBody>
          <a:bodyPr wrap="square" lIns="0" tIns="0" rIns="0" bIns="0" rtlCol="0" anchor="ctr"/>
          <a:lstStyle/>
          <a:p>
            <a:pPr indent="0" marL="0">
              <a:buNone/>
            </a:pPr>
            <a:r>
              <a:rPr lang="en-US" sz="840" b="1" dirty="0">
                <a:solidFill>
                  <a:srgbClr val="FFFFFF"/>
                </a:solidFill>
                <a:latin typeface="Consolas" pitchFamily="34" charset="0"/>
                <a:ea typeface="Consolas" pitchFamily="34" charset="-122"/>
                <a:cs typeface="Consolas" pitchFamily="34" charset="-120"/>
              </a:rPr>
              <a:t>RankedOpportunities</a:t>
            </a:r>
            <a:endParaRPr lang="en-US" sz="840" dirty="0"/>
          </a:p>
        </p:txBody>
      </p:sp>
      <p:sp>
        <p:nvSpPr>
          <p:cNvPr id="40" name="Text 38"/>
          <p:cNvSpPr/>
          <p:nvPr/>
        </p:nvSpPr>
        <p:spPr>
          <a:xfrm>
            <a:off x="7685532" y="1243584"/>
            <a:ext cx="1664208" cy="146304"/>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dfm-dfa → opportunity-ranking</a:t>
            </a:r>
            <a:endParaRPr lang="en-US" sz="750" dirty="0"/>
          </a:p>
        </p:txBody>
      </p:sp>
      <p:sp>
        <p:nvSpPr>
          <p:cNvPr id="41" name="Text 39"/>
          <p:cNvSpPr/>
          <p:nvPr/>
        </p:nvSpPr>
        <p:spPr>
          <a:xfrm>
            <a:off x="7411212" y="1481328"/>
            <a:ext cx="1920240" cy="2468880"/>
          </a:xfrm>
          <a:prstGeom prst="rect">
            <a:avLst/>
          </a:prstGeom>
          <a:noFill/>
          <a:ln/>
        </p:spPr>
        <p:txBody>
          <a:bodyPr wrap="square" lIns="0" tIns="0" rIns="0" bIns="0" rtlCol="0" anchor="t"/>
          <a:lstStyle/>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groups: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category: LeverCategory</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label: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opportunities: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action: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basis: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detail?: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savingPct: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savingPerPart: number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risk · timeframe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owner?: design|supplier|</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sourcing|assumption</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signal: string</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groupSavingPerPart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topSavingPerPart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all: RankedOpportunity[]</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verificationChecks: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headlineSavingPct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headlineSavingPerPart · partTotal</a:t>
            </a:r>
            <a:endParaRPr lang="en-US" sz="750" dirty="0"/>
          </a:p>
        </p:txBody>
      </p:sp>
      <p:sp>
        <p:nvSpPr>
          <p:cNvPr id="42" name="Text 40"/>
          <p:cNvSpPr/>
          <p:nvPr/>
        </p:nvSpPr>
        <p:spPr>
          <a:xfrm>
            <a:off x="7411212" y="3950208"/>
            <a:ext cx="1920240" cy="182880"/>
          </a:xfrm>
          <a:prstGeom prst="rect">
            <a:avLst/>
          </a:prstGeom>
          <a:noFill/>
          <a:ln/>
        </p:spPr>
        <p:txBody>
          <a:bodyPr wrap="square" lIns="0" tIns="0" rIns="0" bIns="0" rtlCol="0" anchor="ctr"/>
          <a:lstStyle/>
          <a:p>
            <a:pPr indent="0" marL="0">
              <a:buNone/>
            </a:pPr>
            <a:r>
              <a:rPr lang="en-US" sz="750" i="1" dirty="0">
                <a:solidFill>
                  <a:srgbClr val="2A7F50"/>
                </a:solidFill>
                <a:latin typeface="Calibri" pitchFamily="34" charset="0"/>
                <a:ea typeface="Calibri" pitchFamily="34" charset="-122"/>
                <a:cs typeface="Calibri" pitchFamily="34" charset="-120"/>
              </a:rPr>
              <a:t>Ranked by money, never scored.</a:t>
            </a:r>
            <a:endParaRPr lang="en-US" sz="750" dirty="0"/>
          </a:p>
        </p:txBody>
      </p:sp>
      <p:sp>
        <p:nvSpPr>
          <p:cNvPr id="43" name="Shape 41"/>
          <p:cNvSpPr/>
          <p:nvPr/>
        </p:nvSpPr>
        <p:spPr>
          <a:xfrm>
            <a:off x="9582912" y="1042416"/>
            <a:ext cx="2139696" cy="3127248"/>
          </a:xfrm>
          <a:prstGeom prst="roundRect">
            <a:avLst>
              <a:gd name="adj" fmla="val 3846"/>
            </a:avLst>
          </a:prstGeom>
          <a:solidFill>
            <a:srgbClr val="FFFFFF"/>
          </a:solidFill>
          <a:ln w="17780">
            <a:solidFill>
              <a:srgbClr val="6B3FA0"/>
            </a:solidFill>
            <a:prstDash val="solid"/>
          </a:ln>
        </p:spPr>
      </p:sp>
      <p:sp>
        <p:nvSpPr>
          <p:cNvPr id="44" name="Shape 42"/>
          <p:cNvSpPr/>
          <p:nvPr/>
        </p:nvSpPr>
        <p:spPr>
          <a:xfrm>
            <a:off x="9582912" y="1042416"/>
            <a:ext cx="2139696" cy="384048"/>
          </a:xfrm>
          <a:prstGeom prst="roundRect">
            <a:avLst>
              <a:gd name="adj" fmla="val 21429"/>
            </a:avLst>
          </a:prstGeom>
          <a:solidFill>
            <a:srgbClr val="6B3FA0"/>
          </a:solidFill>
          <a:ln/>
        </p:spPr>
      </p:sp>
      <p:sp>
        <p:nvSpPr>
          <p:cNvPr id="45" name="Shape 43"/>
          <p:cNvSpPr/>
          <p:nvPr/>
        </p:nvSpPr>
        <p:spPr>
          <a:xfrm>
            <a:off x="9582912" y="1280160"/>
            <a:ext cx="2139696" cy="146304"/>
          </a:xfrm>
          <a:prstGeom prst="rect">
            <a:avLst/>
          </a:prstGeom>
          <a:solidFill>
            <a:srgbClr val="6B3FA0"/>
          </a:solidFill>
          <a:ln/>
        </p:spPr>
      </p:sp>
      <p:sp>
        <p:nvSpPr>
          <p:cNvPr id="46" name="Shape 44"/>
          <p:cNvSpPr/>
          <p:nvPr/>
        </p:nvSpPr>
        <p:spPr>
          <a:xfrm>
            <a:off x="9683496" y="1124712"/>
            <a:ext cx="219456" cy="219456"/>
          </a:xfrm>
          <a:prstGeom prst="ellipse">
            <a:avLst/>
          </a:prstGeom>
          <a:solidFill>
            <a:srgbClr val="FFFFFF"/>
          </a:solidFill>
          <a:ln/>
        </p:spPr>
      </p:sp>
      <p:sp>
        <p:nvSpPr>
          <p:cNvPr id="47" name="Text 45"/>
          <p:cNvSpPr/>
          <p:nvPr/>
        </p:nvSpPr>
        <p:spPr>
          <a:xfrm>
            <a:off x="9683496" y="1124712"/>
            <a:ext cx="219456" cy="219456"/>
          </a:xfrm>
          <a:prstGeom prst="rect">
            <a:avLst/>
          </a:prstGeom>
          <a:noFill/>
          <a:ln/>
        </p:spPr>
        <p:txBody>
          <a:bodyPr wrap="square" lIns="0" tIns="0" rIns="0" bIns="0" rtlCol="0" anchor="ctr"/>
          <a:lstStyle/>
          <a:p>
            <a:pPr algn="ctr" indent="0" marL="0">
              <a:buNone/>
            </a:pPr>
            <a:r>
              <a:rPr lang="en-US" sz="800" b="1" dirty="0">
                <a:solidFill>
                  <a:srgbClr val="6B3FA0"/>
                </a:solidFill>
                <a:latin typeface="Calibri" pitchFamily="34" charset="0"/>
                <a:ea typeface="Calibri" pitchFamily="34" charset="-122"/>
                <a:cs typeface="Calibri" pitchFamily="34" charset="-120"/>
              </a:rPr>
              <a:t>5</a:t>
            </a:r>
            <a:endParaRPr lang="en-US" sz="800" dirty="0"/>
          </a:p>
        </p:txBody>
      </p:sp>
      <p:sp>
        <p:nvSpPr>
          <p:cNvPr id="48" name="Text 46"/>
          <p:cNvSpPr/>
          <p:nvPr/>
        </p:nvSpPr>
        <p:spPr>
          <a:xfrm>
            <a:off x="9966960" y="1078992"/>
            <a:ext cx="1664208" cy="182880"/>
          </a:xfrm>
          <a:prstGeom prst="rect">
            <a:avLst/>
          </a:prstGeom>
          <a:noFill/>
          <a:ln/>
        </p:spPr>
        <p:txBody>
          <a:bodyPr wrap="square" lIns="0" tIns="0" rIns="0" bIns="0" rtlCol="0" anchor="ctr"/>
          <a:lstStyle/>
          <a:p>
            <a:pPr indent="0" marL="0">
              <a:buNone/>
            </a:pPr>
            <a:r>
              <a:rPr lang="en-US" sz="840" b="1" dirty="0">
                <a:solidFill>
                  <a:srgbClr val="FFFFFF"/>
                </a:solidFill>
                <a:latin typeface="Consolas" pitchFamily="34" charset="0"/>
                <a:ea typeface="Consolas" pitchFamily="34" charset="-122"/>
                <a:cs typeface="Consolas" pitchFamily="34" charset="-120"/>
              </a:rPr>
              <a:t>SQLite  ·  14 tables</a:t>
            </a:r>
            <a:endParaRPr lang="en-US" sz="840" dirty="0"/>
          </a:p>
        </p:txBody>
      </p:sp>
      <p:sp>
        <p:nvSpPr>
          <p:cNvPr id="49" name="Text 47"/>
          <p:cNvSpPr/>
          <p:nvPr/>
        </p:nvSpPr>
        <p:spPr>
          <a:xfrm>
            <a:off x="9966960" y="1243584"/>
            <a:ext cx="1664208" cy="146304"/>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better-sqlite3 — one file, your server</a:t>
            </a:r>
            <a:endParaRPr lang="en-US" sz="750" dirty="0"/>
          </a:p>
        </p:txBody>
      </p:sp>
      <p:sp>
        <p:nvSpPr>
          <p:cNvPr id="50" name="Text 48"/>
          <p:cNvSpPr/>
          <p:nvPr/>
        </p:nvSpPr>
        <p:spPr>
          <a:xfrm>
            <a:off x="9692640" y="1481328"/>
            <a:ext cx="1920240" cy="2468880"/>
          </a:xfrm>
          <a:prstGeom prst="rect">
            <a:avLst/>
          </a:prstGeom>
          <a:noFill/>
          <a:ln/>
        </p:spPr>
        <p:txBody>
          <a:bodyPr wrap="square" lIns="0" tIns="0" rIns="0" bIns="0" rtlCol="0" anchor="t"/>
          <a:lstStyle/>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projects (id, user_id, kind,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name, data, created_at,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updated_at)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scenarios (id, name,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description, data,</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created_by, created_at)</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supplier_quotes (id,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scenario_id, supplier_name,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unit_price, currency,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bom_items (id,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parent_scenario_id,</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child_scenario_id, quantity,</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unit_cost_override)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rate_library (id, data,</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updated_at, updated_by)</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rate_overrides (id, tbl,</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row_id, field, value)</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users · shared_costings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material_price_overrides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price_fetch_log · app_settings</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 otp_tokens · dfm_jobs ·</a:t>
            </a:r>
            <a:endParaRPr lang="en-US" sz="750" dirty="0"/>
          </a:p>
          <a:p>
            <a:pPr indent="0" marL="0">
              <a:lnSpc>
                <a:spcPct val="98000"/>
              </a:lnSpc>
              <a:buNone/>
            </a:pPr>
            <a:r>
              <a:rPr lang="en-US" sz="750" dirty="0">
                <a:solidFill>
                  <a:srgbClr val="3A4356"/>
                </a:solidFill>
                <a:latin typeface="Consolas" pitchFamily="34" charset="0"/>
                <a:ea typeface="Consolas" pitchFamily="34" charset="-122"/>
                <a:cs typeface="Consolas" pitchFamily="34" charset="-120"/>
              </a:rPr>
              <a:t>rate_library_versions</a:t>
            </a:r>
            <a:endParaRPr lang="en-US" sz="750" dirty="0"/>
          </a:p>
        </p:txBody>
      </p:sp>
      <p:sp>
        <p:nvSpPr>
          <p:cNvPr id="51" name="Text 49"/>
          <p:cNvSpPr/>
          <p:nvPr/>
        </p:nvSpPr>
        <p:spPr>
          <a:xfrm>
            <a:off x="9692640" y="3950208"/>
            <a:ext cx="1920240" cy="182880"/>
          </a:xfrm>
          <a:prstGeom prst="rect">
            <a:avLst/>
          </a:prstGeom>
          <a:noFill/>
          <a:ln/>
        </p:spPr>
        <p:txBody>
          <a:bodyPr wrap="square" lIns="0" tIns="0" rIns="0" bIns="0" rtlCol="0" anchor="ctr"/>
          <a:lstStyle/>
          <a:p>
            <a:pPr indent="0" marL="0">
              <a:buNone/>
            </a:pPr>
            <a:r>
              <a:rPr lang="en-US" sz="750" i="1" dirty="0">
                <a:solidFill>
                  <a:srgbClr val="6B3FA0"/>
                </a:solidFill>
                <a:latin typeface="Calibri" pitchFamily="34" charset="0"/>
                <a:ea typeface="Calibri" pitchFamily="34" charset="-122"/>
                <a:cs typeface="Calibri" pitchFamily="34" charset="-120"/>
              </a:rPr>
              <a:t>data columns hold the JSON above.</a:t>
            </a:r>
            <a:endParaRPr lang="en-US" sz="750" dirty="0"/>
          </a:p>
        </p:txBody>
      </p:sp>
      <p:sp>
        <p:nvSpPr>
          <p:cNvPr id="52" name="Shape 50"/>
          <p:cNvSpPr/>
          <p:nvPr/>
        </p:nvSpPr>
        <p:spPr>
          <a:xfrm>
            <a:off x="2607869" y="2596896"/>
            <a:ext cx="119786" cy="0"/>
          </a:xfrm>
          <a:prstGeom prst="line">
            <a:avLst/>
          </a:prstGeom>
          <a:noFill/>
          <a:ln w="25400">
            <a:solidFill>
              <a:srgbClr val="686F7D"/>
            </a:solidFill>
            <a:prstDash val="solid"/>
            <a:tailEnd type="triangle"/>
          </a:ln>
        </p:spPr>
      </p:sp>
      <p:sp>
        <p:nvSpPr>
          <p:cNvPr id="53" name="Shape 51"/>
          <p:cNvSpPr/>
          <p:nvPr/>
        </p:nvSpPr>
        <p:spPr>
          <a:xfrm>
            <a:off x="4889297" y="2596896"/>
            <a:ext cx="119786" cy="0"/>
          </a:xfrm>
          <a:prstGeom prst="line">
            <a:avLst/>
          </a:prstGeom>
          <a:noFill/>
          <a:ln w="25400">
            <a:solidFill>
              <a:srgbClr val="686F7D"/>
            </a:solidFill>
            <a:prstDash val="solid"/>
            <a:tailEnd type="triangle"/>
          </a:ln>
        </p:spPr>
      </p:sp>
      <p:sp>
        <p:nvSpPr>
          <p:cNvPr id="54" name="Shape 52"/>
          <p:cNvSpPr/>
          <p:nvPr/>
        </p:nvSpPr>
        <p:spPr>
          <a:xfrm>
            <a:off x="7170725" y="2596896"/>
            <a:ext cx="119786" cy="0"/>
          </a:xfrm>
          <a:prstGeom prst="line">
            <a:avLst/>
          </a:prstGeom>
          <a:noFill/>
          <a:ln w="25400">
            <a:solidFill>
              <a:srgbClr val="686F7D"/>
            </a:solidFill>
            <a:prstDash val="solid"/>
            <a:tailEnd type="triangle"/>
          </a:ln>
        </p:spPr>
      </p:sp>
      <p:sp>
        <p:nvSpPr>
          <p:cNvPr id="55" name="Shape 53"/>
          <p:cNvSpPr/>
          <p:nvPr/>
        </p:nvSpPr>
        <p:spPr>
          <a:xfrm>
            <a:off x="9452153" y="2596896"/>
            <a:ext cx="119786" cy="0"/>
          </a:xfrm>
          <a:prstGeom prst="line">
            <a:avLst/>
          </a:prstGeom>
          <a:noFill/>
          <a:ln w="25400">
            <a:solidFill>
              <a:srgbClr val="686F7D"/>
            </a:solidFill>
            <a:prstDash val="solid"/>
            <a:tailEnd type="triangle"/>
          </a:ln>
        </p:spPr>
      </p:sp>
      <p:sp>
        <p:nvSpPr>
          <p:cNvPr id="56" name="Shape 54"/>
          <p:cNvSpPr/>
          <p:nvPr/>
        </p:nvSpPr>
        <p:spPr>
          <a:xfrm>
            <a:off x="457200" y="4279392"/>
            <a:ext cx="11274552" cy="566928"/>
          </a:xfrm>
          <a:prstGeom prst="roundRect">
            <a:avLst>
              <a:gd name="adj" fmla="val 12903"/>
            </a:avLst>
          </a:prstGeom>
          <a:solidFill>
            <a:srgbClr val="E6F4F1"/>
          </a:solidFill>
          <a:ln w="15875">
            <a:solidFill>
              <a:srgbClr val="0D7D71"/>
            </a:solidFill>
            <a:prstDash val="solid"/>
          </a:ln>
        </p:spPr>
      </p:sp>
      <p:sp>
        <p:nvSpPr>
          <p:cNvPr id="57" name="Text 55"/>
          <p:cNvSpPr/>
          <p:nvPr/>
        </p:nvSpPr>
        <p:spPr>
          <a:xfrm>
            <a:off x="658368" y="4279392"/>
            <a:ext cx="10881360" cy="566928"/>
          </a:xfrm>
          <a:prstGeom prst="rect">
            <a:avLst/>
          </a:prstGeom>
          <a:noFill/>
          <a:ln/>
        </p:spPr>
        <p:txBody>
          <a:bodyPr wrap="square" lIns="0" tIns="0" rIns="0" bIns="0" rtlCol="0" anchor="ctr"/>
          <a:lstStyle/>
          <a:p>
            <a:pPr indent="0" marL="0">
              <a:buNone/>
            </a:pPr>
            <a:r>
              <a:rPr lang="en-US" sz="1050" b="1" dirty="0">
                <a:solidFill>
                  <a:srgbClr val="0D7D71"/>
                </a:solidFill>
                <a:latin typeface="Calibri" pitchFamily="34" charset="0"/>
                <a:ea typeface="Calibri" pitchFamily="34" charset="-122"/>
                <a:cs typeface="Calibri" pitchFamily="34" charset="-120"/>
              </a:rPr>
              <a:t>Same sentence as the previous slide:  </a:t>
            </a:r>
            <a:pPr indent="0" marL="0">
              <a:buNone/>
            </a:pPr>
            <a:r>
              <a:rPr lang="en-US" sz="1050" b="1" dirty="0">
                <a:solidFill>
                  <a:srgbClr val="16325C"/>
                </a:solidFill>
                <a:latin typeface="Consolas" pitchFamily="34" charset="0"/>
                <a:ea typeface="Consolas" pitchFamily="34" charset="-122"/>
                <a:cs typeface="Consolas" pitchFamily="34" charset="-120"/>
              </a:rPr>
              <a:t>computeUniversalStack(UniversalStackInput, RateLibrary) → PartCostResult</a:t>
            </a:r>
            <a:pPr indent="0" marL="0">
              <a:buNone/>
            </a:pPr>
            <a:r>
              <a:rPr lang="en-US" sz="950" dirty="0">
                <a:solidFill>
                  <a:srgbClr val="3A4356"/>
                </a:solidFill>
                <a:latin typeface="Calibri" pitchFamily="34" charset="0"/>
                <a:ea typeface="Calibri" pitchFamily="34" charset="-122"/>
                <a:cs typeface="Calibri" pitchFamily="34" charset="-120"/>
              </a:rPr>
              <a:t>   — a pure transform between two typed structures. Same input, same output, forever. That is what makes 2,438 tests practical, and why the identical code runs in the browser and on the server.</a:t>
            </a:r>
            <a:endParaRPr lang="en-US" sz="1050" dirty="0"/>
          </a:p>
        </p:txBody>
      </p:sp>
      <p:sp>
        <p:nvSpPr>
          <p:cNvPr id="58" name="Shape 56"/>
          <p:cNvSpPr/>
          <p:nvPr/>
        </p:nvSpPr>
        <p:spPr>
          <a:xfrm>
            <a:off x="457200" y="4974336"/>
            <a:ext cx="3602736" cy="1371600"/>
          </a:xfrm>
          <a:prstGeom prst="roundRect">
            <a:avLst>
              <a:gd name="adj" fmla="val 6000"/>
            </a:avLst>
          </a:prstGeom>
          <a:solidFill>
            <a:srgbClr val="FFFFFF"/>
          </a:solidFill>
          <a:ln w="15875">
            <a:solidFill>
              <a:srgbClr val="0D7D71"/>
            </a:solidFill>
            <a:prstDash val="solid"/>
          </a:ln>
        </p:spPr>
      </p:sp>
      <p:sp>
        <p:nvSpPr>
          <p:cNvPr id="59" name="Shape 57"/>
          <p:cNvSpPr/>
          <p:nvPr/>
        </p:nvSpPr>
        <p:spPr>
          <a:xfrm>
            <a:off x="457200" y="4974336"/>
            <a:ext cx="54864" cy="1371600"/>
          </a:xfrm>
          <a:prstGeom prst="rect">
            <a:avLst/>
          </a:prstGeom>
          <a:solidFill>
            <a:srgbClr val="0D7D71"/>
          </a:solidFill>
          <a:ln/>
        </p:spPr>
      </p:sp>
      <p:sp>
        <p:nvSpPr>
          <p:cNvPr id="60" name="Text 58"/>
          <p:cNvSpPr/>
          <p:nvPr/>
        </p:nvSpPr>
        <p:spPr>
          <a:xfrm>
            <a:off x="621792" y="5047488"/>
            <a:ext cx="3328416" cy="219456"/>
          </a:xfrm>
          <a:prstGeom prst="rect">
            <a:avLst/>
          </a:prstGeom>
          <a:noFill/>
          <a:ln/>
        </p:spPr>
        <p:txBody>
          <a:bodyPr wrap="square" lIns="0" tIns="0" rIns="0" bIns="0" rtlCol="0" anchor="ctr"/>
          <a:lstStyle/>
          <a:p>
            <a:pPr indent="0" marL="0">
              <a:buNone/>
            </a:pPr>
            <a:r>
              <a:rPr lang="en-US" sz="780" b="1" spc="40" kern="0" dirty="0">
                <a:solidFill>
                  <a:srgbClr val="0D7D71"/>
                </a:solidFill>
                <a:latin typeface="Calibri" pitchFamily="34" charset="0"/>
                <a:ea typeface="Calibri" pitchFamily="34" charset="-122"/>
                <a:cs typeface="Calibri" pitchFamily="34" charset="-120"/>
              </a:rPr>
              <a:t>PROVENANCE — EVERY NUMBER KNOWS ITS SOURCE</a:t>
            </a:r>
            <a:endParaRPr lang="en-US" sz="780" dirty="0"/>
          </a:p>
        </p:txBody>
      </p:sp>
      <p:sp>
        <p:nvSpPr>
          <p:cNvPr id="61" name="Text 59"/>
          <p:cNvSpPr/>
          <p:nvPr/>
        </p:nvSpPr>
        <p:spPr>
          <a:xfrm>
            <a:off x="621792" y="5285232"/>
            <a:ext cx="3328416" cy="987552"/>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Each cost line emits a TraceabilityRecord: field, value, unit, rateSource, rateId, confidence. That is what prints under every figure in the report, and what a supplier is shown in the meeting. Nothing is a bare number.</a:t>
            </a:r>
            <a:endParaRPr lang="en-US" sz="790" dirty="0"/>
          </a:p>
        </p:txBody>
      </p:sp>
      <p:sp>
        <p:nvSpPr>
          <p:cNvPr id="62" name="Shape 60"/>
          <p:cNvSpPr/>
          <p:nvPr/>
        </p:nvSpPr>
        <p:spPr>
          <a:xfrm>
            <a:off x="4288536" y="4974336"/>
            <a:ext cx="3602736" cy="1371600"/>
          </a:xfrm>
          <a:prstGeom prst="roundRect">
            <a:avLst>
              <a:gd name="adj" fmla="val 6000"/>
            </a:avLst>
          </a:prstGeom>
          <a:solidFill>
            <a:srgbClr val="FFFFFF"/>
          </a:solidFill>
          <a:ln w="15875">
            <a:solidFill>
              <a:srgbClr val="99651A"/>
            </a:solidFill>
            <a:prstDash val="solid"/>
          </a:ln>
        </p:spPr>
      </p:sp>
      <p:sp>
        <p:nvSpPr>
          <p:cNvPr id="63" name="Shape 61"/>
          <p:cNvSpPr/>
          <p:nvPr/>
        </p:nvSpPr>
        <p:spPr>
          <a:xfrm>
            <a:off x="4288536" y="4974336"/>
            <a:ext cx="54864" cy="1371600"/>
          </a:xfrm>
          <a:prstGeom prst="rect">
            <a:avLst/>
          </a:prstGeom>
          <a:solidFill>
            <a:srgbClr val="99651A"/>
          </a:solidFill>
          <a:ln/>
        </p:spPr>
      </p:sp>
      <p:sp>
        <p:nvSpPr>
          <p:cNvPr id="64" name="Text 62"/>
          <p:cNvSpPr/>
          <p:nvPr/>
        </p:nvSpPr>
        <p:spPr>
          <a:xfrm>
            <a:off x="4453128" y="5047488"/>
            <a:ext cx="3328416" cy="219456"/>
          </a:xfrm>
          <a:prstGeom prst="rect">
            <a:avLst/>
          </a:prstGeom>
          <a:noFill/>
          <a:ln/>
        </p:spPr>
        <p:txBody>
          <a:bodyPr wrap="square" lIns="0" tIns="0" rIns="0" bIns="0" rtlCol="0" anchor="ctr"/>
          <a:lstStyle/>
          <a:p>
            <a:pPr indent="0" marL="0">
              <a:buNone/>
            </a:pPr>
            <a:r>
              <a:rPr lang="en-US" sz="780" b="1" spc="40" kern="0" dirty="0">
                <a:solidFill>
                  <a:srgbClr val="99651A"/>
                </a:solidFill>
                <a:latin typeface="Calibri" pitchFamily="34" charset="0"/>
                <a:ea typeface="Calibri" pitchFamily="34" charset="-122"/>
                <a:cs typeface="Calibri" pitchFamily="34" charset="-120"/>
              </a:rPr>
              <a:t>UNITS — WHERE BUGS ACTUALLY COME FROM</a:t>
            </a:r>
            <a:endParaRPr lang="en-US" sz="780" dirty="0"/>
          </a:p>
        </p:txBody>
      </p:sp>
      <p:sp>
        <p:nvSpPr>
          <p:cNvPr id="65" name="Text 63"/>
          <p:cNvSpPr/>
          <p:nvPr/>
        </p:nvSpPr>
        <p:spPr>
          <a:xfrm>
            <a:off x="4453128" y="5285232"/>
            <a:ext cx="3328416" cy="987552"/>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Fields carry units in their names (cycleTimeHr, netWeightKg, boundingBoxMm, savingPerPart). The recurring bug class in this domain is sec/hr and mm/cm/kg conversions, so the convention is enforced by naming and pinned by tests.</a:t>
            </a:r>
            <a:endParaRPr lang="en-US" sz="790" dirty="0"/>
          </a:p>
        </p:txBody>
      </p:sp>
      <p:sp>
        <p:nvSpPr>
          <p:cNvPr id="66" name="Shape 64"/>
          <p:cNvSpPr/>
          <p:nvPr/>
        </p:nvSpPr>
        <p:spPr>
          <a:xfrm>
            <a:off x="8119872" y="4974336"/>
            <a:ext cx="3602736" cy="1371600"/>
          </a:xfrm>
          <a:prstGeom prst="roundRect">
            <a:avLst>
              <a:gd name="adj" fmla="val 6000"/>
            </a:avLst>
          </a:prstGeom>
          <a:solidFill>
            <a:srgbClr val="FFFFFF"/>
          </a:solidFill>
          <a:ln w="15875">
            <a:solidFill>
              <a:srgbClr val="6B3FA0"/>
            </a:solidFill>
            <a:prstDash val="solid"/>
          </a:ln>
        </p:spPr>
      </p:sp>
      <p:sp>
        <p:nvSpPr>
          <p:cNvPr id="67" name="Shape 65"/>
          <p:cNvSpPr/>
          <p:nvPr/>
        </p:nvSpPr>
        <p:spPr>
          <a:xfrm>
            <a:off x="8119872" y="4974336"/>
            <a:ext cx="54864" cy="1371600"/>
          </a:xfrm>
          <a:prstGeom prst="rect">
            <a:avLst/>
          </a:prstGeom>
          <a:solidFill>
            <a:srgbClr val="6B3FA0"/>
          </a:solidFill>
          <a:ln/>
        </p:spPr>
      </p:sp>
      <p:sp>
        <p:nvSpPr>
          <p:cNvPr id="68" name="Text 66"/>
          <p:cNvSpPr/>
          <p:nvPr/>
        </p:nvSpPr>
        <p:spPr>
          <a:xfrm>
            <a:off x="8284464" y="5047488"/>
            <a:ext cx="3328416" cy="219456"/>
          </a:xfrm>
          <a:prstGeom prst="rect">
            <a:avLst/>
          </a:prstGeom>
          <a:noFill/>
          <a:ln/>
        </p:spPr>
        <p:txBody>
          <a:bodyPr wrap="square" lIns="0" tIns="0" rIns="0" bIns="0" rtlCol="0" anchor="ctr"/>
          <a:lstStyle/>
          <a:p>
            <a:pPr indent="0" marL="0">
              <a:buNone/>
            </a:pPr>
            <a:r>
              <a:rPr lang="en-US" sz="780" b="1" spc="40" kern="0" dirty="0">
                <a:solidFill>
                  <a:srgbClr val="6B3FA0"/>
                </a:solidFill>
                <a:latin typeface="Calibri" pitchFamily="34" charset="0"/>
                <a:ea typeface="Calibri" pitchFamily="34" charset="-122"/>
                <a:cs typeface="Calibri" pitchFamily="34" charset="-120"/>
              </a:rPr>
              <a:t>STORAGE — TYPED IN CODE, JSON AT REST</a:t>
            </a:r>
            <a:endParaRPr lang="en-US" sz="780" dirty="0"/>
          </a:p>
        </p:txBody>
      </p:sp>
      <p:sp>
        <p:nvSpPr>
          <p:cNvPr id="69" name="Text 67"/>
          <p:cNvSpPr/>
          <p:nvPr/>
        </p:nvSpPr>
        <p:spPr>
          <a:xfrm>
            <a:off x="8284464" y="5285232"/>
            <a:ext cx="3328416" cy="987552"/>
          </a:xfrm>
          <a:prstGeom prst="rect">
            <a:avLst/>
          </a:prstGeom>
          <a:noFill/>
          <a:ln/>
        </p:spPr>
        <p:txBody>
          <a:bodyPr wrap="square" lIns="0" tIns="0" rIns="0" bIns="0" rtlCol="0" anchor="t"/>
          <a:lstStyle/>
          <a:p>
            <a:pPr indent="0" marL="0">
              <a:buNone/>
            </a:pPr>
            <a:r>
              <a:rPr lang="en-US" sz="790" dirty="0">
                <a:solidFill>
                  <a:srgbClr val="3A4356"/>
                </a:solidFill>
                <a:latin typeface="Calibri" pitchFamily="34" charset="0"/>
                <a:ea typeface="Calibri" pitchFamily="34" charset="-122"/>
                <a:cs typeface="Calibri" pitchFamily="34" charset="-120"/>
              </a:rPr>
              <a:t>SQLite holds the JSON blobs above in `data` columns rather than a shredded relational model: the engine owns the schema, and a costing round-trips byte-identical. rate_overrides is the audit trail of who changed which rate.</a:t>
            </a:r>
            <a:endParaRPr lang="en-US" sz="790" dirty="0"/>
          </a:p>
        </p:txBody>
      </p:sp>
      <p:sp>
        <p:nvSpPr>
          <p:cNvPr id="70" name="Text 68"/>
          <p:cNvSpPr/>
          <p:nvPr/>
        </p:nvSpPr>
        <p:spPr>
          <a:xfrm>
            <a:off x="457200" y="6556248"/>
            <a:ext cx="9144000" cy="219456"/>
          </a:xfrm>
          <a:prstGeom prst="rect">
            <a:avLst/>
          </a:prstGeom>
          <a:noFill/>
          <a:ln/>
        </p:spPr>
        <p:txBody>
          <a:bodyPr wrap="square" lIns="0" tIns="0" rIns="0" bIns="0" rtlCol="0" anchor="ctr"/>
          <a:lstStyle/>
          <a:p>
            <a:pPr indent="0" marL="0">
              <a:buNone/>
            </a:pPr>
            <a:r>
              <a:rPr lang="en-US" sz="850" dirty="0">
                <a:solidFill>
                  <a:srgbClr val="686F7D"/>
                </a:solidFill>
                <a:latin typeface="Calibri" pitchFamily="34" charset="0"/>
                <a:ea typeface="Calibri" pitchFamily="34" charset="-122"/>
                <a:cs typeface="Calibri" pitchFamily="34" charset="-120"/>
              </a:rPr>
              <a:t>CostVision · technical architecture — what each box is made of, and what flows between them</a:t>
            </a:r>
            <a:endParaRPr lang="en-US" sz="850" dirty="0"/>
          </a:p>
        </p:txBody>
      </p:sp>
      <p:sp>
        <p:nvSpPr>
          <p:cNvPr id="71" name="Text 69"/>
          <p:cNvSpPr/>
          <p:nvPr/>
        </p:nvSpPr>
        <p:spPr>
          <a:xfrm>
            <a:off x="11430000" y="6556248"/>
            <a:ext cx="320040" cy="219456"/>
          </a:xfrm>
          <a:prstGeom prst="rect">
            <a:avLst/>
          </a:prstGeom>
          <a:noFill/>
          <a:ln/>
        </p:spPr>
        <p:txBody>
          <a:bodyPr wrap="square" lIns="0" tIns="0" rIns="0" bIns="0" rtlCol="0" anchor="ctr"/>
          <a:lstStyle/>
          <a:p>
            <a:pPr algn="r" indent="0" marL="0">
              <a:buNone/>
            </a:pPr>
            <a:r>
              <a:rPr lang="en-US" sz="850" dirty="0">
                <a:solidFill>
                  <a:srgbClr val="686F7D"/>
                </a:solidFill>
                <a:latin typeface="Calibri" pitchFamily="34" charset="0"/>
                <a:ea typeface="Calibri" pitchFamily="34" charset="-122"/>
                <a:cs typeface="Calibri" pitchFamily="34" charset="-120"/>
              </a:rPr>
              <a:t>58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2026-09-28T19:37:21Z</dcterms:created>
  <dcterms:modified xsi:type="dcterms:W3CDTF">2026-09-28T19:37:21Z</dcterms:modified>
</cp:coreProperties>
</file>