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-457200"/>
            <a:ext cx="5029200" cy="822960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1645920"/>
            <a:ext cx="2286000" cy="22860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173736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Calibri"/>
              </a:rPr>
              <a:t>🔭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743200" cy="3200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90472"/>
            <a:ext cx="27066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F172A"/>
                </a:solidFill>
                <a:latin typeface="Calibri"/>
              </a:rPr>
              <a:t>AUTOMOTIVE COST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  <a:latin typeface="Calibri"/>
              </a:rPr>
              <a:t>CostLens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2E8F0"/>
                </a:solidFill>
                <a:latin typeface="Calibri"/>
              </a:rPr>
              <a:t>AI-Powered Should-Cost &amp;
Supplier Quote Intelligence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389120"/>
            <a:ext cx="32004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Presented to Senior Management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2011680" cy="82296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C55E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Cost Savings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5486400"/>
            <a:ext cx="2011680" cy="82296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  <a:latin typeface="Calibri"/>
              </a:rPr>
              <a:t>5×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897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Faster 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5486400"/>
            <a:ext cx="2011680" cy="82296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55321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9E0B"/>
                </a:solidFill>
                <a:latin typeface="Calibri"/>
              </a:rPr>
              <a:t>Real-Time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5897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AI Insights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5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85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15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150"/>
                            </p:stCondLst>
                            <p:childTnLst>
                              <p:par>
                                <p:cTn id="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150"/>
                            </p:stCondLst>
                            <p:childTnLst>
                              <p:par>
                                <p:cTn id="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6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8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150"/>
                            </p:stCondLst>
                            <p:childTnLst>
                              <p:par>
                                <p:cTn id="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2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3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400"/>
                            </p:stCondLst>
                            <p:childTnLst>
                              <p:par>
                                <p:cTn id="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6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7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8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400"/>
                            </p:stCondLst>
                            <p:childTnLst>
                              <p:par>
                                <p:cTn id="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1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2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3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400"/>
                            </p:stCondLst>
                            <p:childTnLst>
                              <p:par>
                                <p:cTn id="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6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8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50"/>
                            </p:stCondLst>
                            <p:childTnLst>
                              <p:par>
                                <p:cTn id="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2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3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650"/>
                            </p:stCondLst>
                            <p:childTnLst>
                              <p:par>
                                <p:cTn id="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6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7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8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650"/>
                            </p:stCondLst>
                            <p:childTnLst>
                              <p:par>
                                <p:cTn id="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1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2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3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Challenge — and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Traditional cost engineering is slow, manual, and disconnected from supplier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064240" cy="27432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212080" cy="51206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  <a:latin typeface="Calibri"/>
              </a:rPr>
              <a:t>❌  BEFORE CostLens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Spreadsheet-based should-cost models — error-prone &amp; version chaos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5000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Supplier quotes received with no structured breakdown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Manual variance analysis takes days, not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954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No visibility into where supplier margins are inflated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Negotiation targets set on gut feel, not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7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Audit trail and history impossible to maintain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988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•  AI/ML insights require expensive external consultants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760720" cy="51206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✅  WITH CostLens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920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C55E"/>
                </a:solidFill>
                <a:latin typeface="Calibri"/>
              </a:rPr>
              <a:t>•  Structured 3-level should-cost models with version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3500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8BDF8"/>
                </a:solidFill>
                <a:latin typeface="Calibri"/>
              </a:rPr>
              <a:t>•  Web-based &amp; CSV quote intake with element-by-element breakdown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7977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C55E"/>
                </a:solidFill>
                <a:latin typeface="Calibri"/>
              </a:rPr>
              <a:t>•  Instant automated variance analysis across all cost elements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095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8BDF8"/>
                </a:solidFill>
                <a:latin typeface="Calibri"/>
              </a:rPr>
              <a:t>•  AI (Claude) flags over-priced elements with severity ratings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93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C55E"/>
                </a:solidFill>
                <a:latin typeface="Calibri"/>
              </a:rPr>
              <a:t>•  Data-driven negotiation targets with deadline tracking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69079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8BDF8"/>
                </a:solidFill>
                <a:latin typeface="Calibri"/>
              </a:rPr>
              <a:t>•  Full audit trail — who changed what and when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4988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C55E"/>
                </a:solidFill>
                <a:latin typeface="Calibri"/>
              </a:rPr>
              <a:t>•  AI should-cost generation from part description in 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1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9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5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3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1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2" dur="500" presetID="10" presetClass="entr" presetSubtype="0" fill="hold" grpId="9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4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50"/>
                            </p:stCondLst>
                            <p:childTnLst>
                              <p:par>
                                <p:cTn id="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7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8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9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30"/>
                            </p:stCondLst>
                            <p:childTnLst>
                              <p:par>
                                <p:cTn id="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2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3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4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10"/>
                            </p:stCondLst>
                            <p:childTnLst>
                              <p:par>
                                <p:cTn id="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7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8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9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90"/>
                            </p:stCondLst>
                            <p:childTnLst>
                              <p:par>
                                <p:cTn id="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2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3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4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70"/>
                            </p:stCondLst>
                            <p:childTnLst>
                              <p:par>
                                <p:cTn id="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7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8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9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50"/>
                            </p:stCondLst>
                            <p:childTnLst>
                              <p:par>
                                <p:cTn id="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2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3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4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630"/>
                            </p:stCondLst>
                            <p:childTnLst>
                              <p:par>
                                <p:cTn id="8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7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8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9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710"/>
                            </p:stCondLst>
                            <p:childTnLst>
                              <p:par>
                                <p:cTn id="9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2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3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4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End-to-end cost engineering — from build to negotiation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749039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22806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39903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Should-Cost
Modeller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84248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3-level hierarchical cost build-up (Category → Element → Cost Driver). Publish/Archive versioning with full audit trail. GBP/EUR/USD support.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1" y="1234440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1" y="1234440"/>
            <a:ext cx="3749039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1" y="1399032"/>
            <a:ext cx="475488" cy="47548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1" y="1422806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3" y="139903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Supplier
Quote 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1" y="1984248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Web form or CSV import. Element-level quote breakdown. Multiple quotes per part. Status workflow: Submitted → Negotiating → Accepted.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2" y="1234440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2" y="1234440"/>
            <a:ext cx="3749039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21622" y="1399032"/>
            <a:ext cx="475488" cy="47548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2" y="1422806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⚖️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4" y="139903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Cost
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2" y="1984248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Side-by-side should-cost vs. quote variance. Element-level over/under flags. Cross-model cross-supplier analysis. Snapshot history.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9584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29584"/>
            <a:ext cx="3749039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360" y="3694176"/>
            <a:ext cx="475488" cy="47548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717950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3694176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AI Analysis
(Claude)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279392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Instant AI-powered gap analysis. Severity-rated flags (High/Med/Low). Clarifying questions for suppliers. Recommended negotiation actions.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70831" y="3529584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0831" y="3529584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07991" y="369417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1" y="3717950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4063" y="3694176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Negotiation
Tracker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7991" y="4279392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Track price targets per part/supplier. Deadline alerts. Potential saving calculator. Mark Agreed/Stalled/Closed.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84462" y="3529584"/>
            <a:ext cx="3749039" cy="21488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84462" y="3529584"/>
            <a:ext cx="3749039" cy="64008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421622" y="3694176"/>
            <a:ext cx="475488" cy="475488"/>
          </a:xfrm>
          <a:prstGeom prst="ellipse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2" y="3717950"/>
            <a:ext cx="475488" cy="427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4" y="3694176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Supplier
Scorecard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1622" y="4279392"/>
            <a:ext cx="3520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Multi-dimensional supplier performance scoring. On-time, quality, cost competitiveness. Monthly trend sparklines.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3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0"/>
                            </p:stCondLst>
                            <p:childTnLst>
                              <p:par>
                                <p:cTn id="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6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8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50"/>
                            </p:stCondLst>
                            <p:childTnLst>
                              <p:par>
                                <p:cTn id="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2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3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00"/>
                            </p:stCondLst>
                            <p:childTnLst>
                              <p:par>
                                <p:cTn id="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6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7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8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740"/>
                            </p:stCondLst>
                            <p:childTnLst>
                              <p:par>
                                <p:cTn id="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1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2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3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80"/>
                            </p:stCondLst>
                            <p:childTnLst>
                              <p:par>
                                <p:cTn id="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6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8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20"/>
                            </p:stCondLst>
                            <p:childTnLst>
                              <p:par>
                                <p:cTn id="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2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3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60"/>
                            </p:stCondLst>
                            <p:childTnLst>
                              <p:par>
                                <p:cTn id="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6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7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8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900"/>
                            </p:stCondLst>
                            <p:childTnLst>
                              <p:par>
                                <p:cTn id="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1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2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3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7" dur="500" presetID="10" presetClass="entr" presetSubtype="0" fill="hold" grpId="18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8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9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0"/>
                            </p:stCondLst>
                            <p:childTnLst>
                              <p:par>
                                <p:cTn id="10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2" dur="500" presetID="10" presetClass="entr" presetSubtype="0" fill="hold" grpId="1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3" dur="1" fill="hold"/>
                                              <p:tgtEl>
                                                <p:spTgt spid="2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4" dur="500"/>
                                              <p:tgtEl>
                                                <p:spTgt spid="2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80"/>
                            </p:stCondLst>
                            <p:childTnLst>
                              <p:par>
                                <p:cTn id="1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7" dur="500" presetID="10" presetClass="entr" presetSubtype="0" fill="hold" grpId="2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8" dur="1" fill="hold"/>
                                              <p:tgtEl>
                                                <p:spTgt spid="2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9" dur="500"/>
                                              <p:tgtEl>
                                                <p:spTgt spid="2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0"/>
                            </p:stCondLst>
                            <p:childTnLst>
                              <p:par>
                                <p:cTn id="1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2" dur="500" presetID="10" presetClass="entr" presetSubtype="0" fill="hold" grpId="2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3" dur="1" fill="hold"/>
                                              <p:tgtEl>
                                                <p:spTgt spid="2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4" dur="500"/>
                                              <p:tgtEl>
                                                <p:spTgt spid="2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60"/>
                            </p:stCondLst>
                            <p:childTnLst>
                              <p:par>
                                <p:cTn id="1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7" dur="500" presetID="10" presetClass="entr" presetSubtype="0" fill="hold" grpId="2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8" dur="1" fill="hold"/>
                                              <p:tgtEl>
                                                <p:spTgt spid="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9" dur="500"/>
                                              <p:tgtEl>
                                                <p:spTgt spid="2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00"/>
                            </p:stCondLst>
                            <p:childTnLst>
                              <p:par>
                                <p:cTn id="1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2" dur="500" presetID="10" presetClass="entr" presetSubtype="0" fill="hold" grpId="2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3" dur="1" fill="hold"/>
                                              <p:tgtEl>
                                                <p:spTgt spid="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4" dur="500"/>
                                              <p:tgtEl>
                                                <p:spTgt spid="2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50"/>
                            </p:stCondLst>
                            <p:childTnLst>
                              <p:par>
                                <p:cTn id="12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7" dur="500" presetID="10" presetClass="entr" presetSubtype="0" fill="hold" grpId="2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8" dur="1" fill="hold"/>
                                              <p:tgtEl>
                                                <p:spTgt spid="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9" dur="500"/>
                                              <p:tgtEl>
                                                <p:spTgt spid="3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90"/>
                            </p:stCondLst>
                            <p:childTnLst>
                              <p:par>
                                <p:cTn id="13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2" dur="500" presetID="10" presetClass="entr" presetSubtype="0" fill="hold" grpId="2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3" dur="1" fill="hold"/>
                                              <p:tgtEl>
                                                <p:spTgt spid="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4" dur="500"/>
                                              <p:tgtEl>
                                                <p:spTgt spid="3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30"/>
                            </p:stCondLst>
                            <p:childTnLst>
                              <p:par>
                                <p:cTn id="13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7" dur="500" presetID="10" presetClass="entr" presetSubtype="0" fill="hold" grpId="2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8" dur="1" fill="hold"/>
                                              <p:tgtEl>
                                                <p:spTgt spid="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9" dur="500"/>
                                              <p:tgtEl>
                                                <p:spTgt spid="3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70"/>
                            </p:stCondLst>
                            <p:childTnLst>
                              <p:par>
                                <p:cTn id="14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2" dur="500" presetID="10" presetClass="entr" presetSubtype="0" fill="hold" grpId="2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3" dur="1" fill="hold"/>
                                              <p:tgtEl>
                                                <p:spTgt spid="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4" dur="500"/>
                                              <p:tgtEl>
                                                <p:spTgt spid="3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510"/>
                            </p:stCondLst>
                            <p:childTnLst>
                              <p:par>
                                <p:cTn id="1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7" dur="500" presetID="10" presetClass="entr" presetSubtype="0" fill="hold" grpId="2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8" dur="1" fill="hold"/>
                                              <p:tgtEl>
                                                <p:spTgt spid="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9" dur="500"/>
                                              <p:tgtEl>
                                                <p:spTgt spid="3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550"/>
                            </p:stCondLst>
                            <p:childTnLst>
                              <p:par>
                                <p:cTn id="1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2" dur="500" presetID="10" presetClass="entr" presetSubtype="0" fill="hold" grpId="2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3" dur="1" fill="hold"/>
                                              <p:tgtEl>
                                                <p:spTgt spid="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4" dur="500"/>
                                              <p:tgtEl>
                                                <p:spTgt spid="3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700"/>
                            </p:stCondLst>
                            <p:childTnLst>
                              <p:par>
                                <p:cTn id="1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7" dur="500" presetID="10" presetClass="entr" presetSubtype="0" fill="hold" grpId="3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8" dur="1" fill="hold"/>
                                              <p:tgtEl>
                                                <p:spTgt spid="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9" dur="500"/>
                                              <p:tgtEl>
                                                <p:spTgt spid="3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740"/>
                            </p:stCondLst>
                            <p:childTnLst>
                              <p:par>
                                <p:cTn id="1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2" dur="500" presetID="10" presetClass="entr" presetSubtype="0" fill="hold" grpId="3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3" dur="1" fill="hold"/>
                                              <p:tgtEl>
                                                <p:spTgt spid="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4" dur="500"/>
                                              <p:tgtEl>
                                                <p:spTgt spid="3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780"/>
                            </p:stCondLst>
                            <p:childTnLst>
                              <p:par>
                                <p:cTn id="1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7" dur="500" presetID="10" presetClass="entr" presetSubtype="0" fill="hold" grpId="3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8" dur="1" fill="hold"/>
                                              <p:tgtEl>
                                                <p:spTgt spid="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9" dur="500"/>
                                              <p:tgtEl>
                                                <p:spTgt spid="3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820"/>
                            </p:stCondLst>
                            <p:childTnLst>
                              <p:par>
                                <p:cTn id="1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2" dur="500" presetID="10" presetClass="entr" presetSubtype="0" fill="hold" grpId="3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3" dur="1" fill="hold"/>
                                              <p:tgtEl>
                                                <p:spTgt spid="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4" dur="500"/>
                                              <p:tgtEl>
                                                <p:spTgt spid="3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860"/>
                            </p:stCondLst>
                            <p:childTnLst>
                              <p:par>
                                <p:cTn id="1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7" dur="500" presetID="10" presetClass="entr" presetSubtype="0" fill="hold" grpId="3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8" dur="1" fill="hold"/>
                                              <p:tgtEl>
                                                <p:spTgt spid="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9" dur="500"/>
                                              <p:tgtEl>
                                                <p:spTgt spid="4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900"/>
                            </p:stCondLst>
                            <p:childTnLst>
                              <p:par>
                                <p:cTn id="1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2" dur="500" presetID="10" presetClass="entr" presetSubtype="0" fill="hold" grpId="3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3" dur="1" fill="hold"/>
                                              <p:tgtEl>
                                                <p:spTgt spid="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4" dur="500"/>
                                              <p:tgtEl>
                                                <p:spTgt spid="4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the AI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Powered by Anthropic's Claude — the same AI used by Fortune 500 procurement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234440"/>
            <a:ext cx="2148840" cy="42062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234440"/>
            <a:ext cx="214884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76272" y="1325880"/>
            <a:ext cx="320040" cy="3200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1325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4173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0312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  <a:latin typeface="Calibri"/>
              </a:rPr>
              <a:t>Cost
Comparison
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07208"/>
            <a:ext cx="19293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Buyer builds should-cost model and uploads supplier quote. System calculates element-level variance.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4211" y="3063240"/>
            <a:ext cx="7680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234440"/>
            <a:ext cx="2148840" cy="42062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7480" y="1234440"/>
            <a:ext cx="214884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132588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325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14173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10312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AI Prompt
Engineered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2807208"/>
            <a:ext cx="19293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CostLens compiles part data, variances, and commodity context into a structured prompt for Claude.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2779" y="3063240"/>
            <a:ext cx="7680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1234440"/>
            <a:ext cx="2148840" cy="42062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56048" y="1234440"/>
            <a:ext cx="2148840" cy="64008"/>
          </a:xfrm>
          <a:prstGeom prst="rect">
            <a:avLst/>
          </a:prstGeom>
          <a:solidFill>
            <a:srgbClr val="069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408" y="1325880"/>
            <a:ext cx="320040" cy="320040"/>
          </a:xfrm>
          <a:prstGeom prst="ellipse">
            <a:avLst/>
          </a:prstGeom>
          <a:solidFill>
            <a:srgbClr val="069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1325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14173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☁️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210312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95DD"/>
                </a:solidFill>
                <a:latin typeface="Calibri"/>
              </a:rPr>
              <a:t>Claude API
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2807208"/>
            <a:ext cx="19293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Claude analyses the cost data in real-time via streaming. Response appears word-by-word instantly.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1347" y="3063240"/>
            <a:ext cx="7680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14616" y="1234440"/>
            <a:ext cx="2148840" cy="42062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14616" y="1234440"/>
            <a:ext cx="2148840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51976" y="1325880"/>
            <a:ext cx="320040" cy="3200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1325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4616" y="14173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06056" y="210312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B923C"/>
                </a:solidFill>
                <a:latin typeface="Calibri"/>
              </a:rPr>
              <a:t>Structured
Insight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24344" y="2807208"/>
            <a:ext cx="19293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AI returns: executive summary, flagged elements with severity, supplier questions, recommended actions.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15" y="3063240"/>
            <a:ext cx="7680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3184" y="1234440"/>
            <a:ext cx="2148840" cy="42062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3184" y="1234440"/>
            <a:ext cx="2148840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10544" y="132588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10544" y="13258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3184" y="14173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64624" y="210312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Calibri"/>
              </a:rPr>
              <a:t>Buyer
Takes 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2912" y="2807208"/>
            <a:ext cx="19293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Buyer uses AI flags to drive negotiation targets, raise RFQs, or escalate to management.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577840"/>
            <a:ext cx="11274552" cy="73152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669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Calibri"/>
              </a:rPr>
              <a:t>💡  Real-time streaming: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6692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The AI response streams word-by-word directly into the CostLens interface — no waiting for a full response. If no API key is configured, a built-in intelligent mock provides full functionality for demonstrations.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5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7" dur="500" presetID="10" presetClass="entr" presetSubtype="0" fill="hold" grpId="8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8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9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"/>
                            </p:stCondLst>
                            <p:childTnLst>
                              <p:par>
                                <p:cTn id="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2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4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"/>
                            </p:stCondLst>
                            <p:childTnLst>
                              <p:par>
                                <p:cTn id="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7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8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9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00"/>
                            </p:stCondLst>
                            <p:childTnLst>
                              <p:par>
                                <p:cTn id="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2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3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4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00"/>
                            </p:stCondLst>
                            <p:childTnLst>
                              <p:par>
                                <p:cTn id="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7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8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9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00"/>
                            </p:stCondLst>
                            <p:childTnLst>
                              <p:par>
                                <p:cTn id="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2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3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4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00"/>
                            </p:stCondLst>
                            <p:childTnLst>
                              <p:par>
                                <p:cTn id="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7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8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9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2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3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4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8" dur="500" presetID="10" presetClass="entr" presetSubtype="0" fill="hold" grpId="16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9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0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00"/>
                            </p:stCondLst>
                            <p:childTnLst>
                              <p:par>
                                <p:cTn id="9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3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4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5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0"/>
                            </p:stCondLst>
                            <p:childTnLst>
                              <p:par>
                                <p:cTn id="9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8" dur="500" presetID="10" presetClass="entr" presetSubtype="0" fill="hold" grpId="1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9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0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00"/>
                            </p:stCondLst>
                            <p:childTnLst>
                              <p:par>
                                <p:cTn id="10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3" dur="500" presetID="10" presetClass="entr" presetSubtype="0" fill="hold" grpId="1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4" dur="1" fill="hold"/>
                                              <p:tgtEl>
                                                <p:spTgt spid="2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5" dur="500"/>
                                              <p:tgtEl>
                                                <p:spTgt spid="2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400"/>
                            </p:stCondLst>
                            <p:childTnLst>
                              <p:par>
                                <p:cTn id="10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8" dur="500" presetID="10" presetClass="entr" presetSubtype="0" fill="hold" grpId="2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9" dur="1" fill="hold"/>
                                              <p:tgtEl>
                                                <p:spTgt spid="2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0" dur="500"/>
                                              <p:tgtEl>
                                                <p:spTgt spid="2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3" dur="500" presetID="10" presetClass="entr" presetSubtype="0" fill="hold" grpId="2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4" dur="1" fill="hold"/>
                                              <p:tgtEl>
                                                <p:spTgt spid="2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5" dur="500"/>
                                              <p:tgtEl>
                                                <p:spTgt spid="2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"/>
                            </p:stCondLst>
                            <p:childTnLst>
                              <p:par>
                                <p:cTn id="11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8" dur="500" presetID="10" presetClass="entr" presetSubtype="0" fill="hold" grpId="2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9" dur="1" fill="hold"/>
                                              <p:tgtEl>
                                                <p:spTgt spid="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0" dur="500"/>
                                              <p:tgtEl>
                                                <p:spTgt spid="2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750"/>
                            </p:stCondLst>
                            <p:childTnLst>
                              <p:par>
                                <p:cTn id="12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3" dur="500" presetID="10" presetClass="entr" presetSubtype="0" fill="hold" grpId="2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4" dur="1" fill="hold"/>
                                              <p:tgtEl>
                                                <p:spTgt spid="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5" dur="500"/>
                                              <p:tgtEl>
                                                <p:spTgt spid="2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9" dur="500" presetID="10" presetClass="entr" presetSubtype="0" fill="hold" grpId="24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0" dur="1" fill="hold"/>
                                              <p:tgtEl>
                                                <p:spTgt spid="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1" dur="500"/>
                                              <p:tgtEl>
                                                <p:spTgt spid="3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00"/>
                            </p:stCondLst>
                            <p:childTnLst>
                              <p:par>
                                <p:cTn id="133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4" dur="500" presetID="10" presetClass="entr" presetSubtype="0" fill="hold" grpId="2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5" dur="1" fill="hold"/>
                                              <p:tgtEl>
                                                <p:spTgt spid="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6" dur="500"/>
                                              <p:tgtEl>
                                                <p:spTgt spid="3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00"/>
                            </p:stCondLst>
                            <p:childTnLst>
                              <p:par>
                                <p:cTn id="138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9" dur="500" presetID="10" presetClass="entr" presetSubtype="0" fill="hold" grpId="2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0" dur="1" fill="hold"/>
                                              <p:tgtEl>
                                                <p:spTgt spid="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1" dur="500"/>
                                              <p:tgtEl>
                                                <p:spTgt spid="3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300"/>
                            </p:stCondLst>
                            <p:childTnLst>
                              <p:par>
                                <p:cTn id="143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4" dur="500" presetID="10" presetClass="entr" presetSubtype="0" fill="hold" grpId="2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5" dur="1" fill="hold"/>
                                              <p:tgtEl>
                                                <p:spTgt spid="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6" dur="500"/>
                                              <p:tgtEl>
                                                <p:spTgt spid="3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400"/>
                            </p:stCondLst>
                            <p:childTnLst>
                              <p:par>
                                <p:cTn id="148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9" dur="500" presetID="10" presetClass="entr" presetSubtype="0" fill="hold" grpId="2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0" dur="1" fill="hold"/>
                                              <p:tgtEl>
                                                <p:spTgt spid="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1" dur="500"/>
                                              <p:tgtEl>
                                                <p:spTgt spid="3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500"/>
                            </p:stCondLst>
                            <p:childTnLst>
                              <p:par>
                                <p:cTn id="153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4" dur="500" presetID="10" presetClass="entr" presetSubtype="0" fill="hold" grpId="2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5" dur="1" fill="hold"/>
                                              <p:tgtEl>
                                                <p:spTgt spid="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6" dur="500"/>
                                              <p:tgtEl>
                                                <p:spTgt spid="3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600"/>
                            </p:stCondLst>
                            <p:childTnLst>
                              <p:par>
                                <p:cTn id="158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9" dur="500" presetID="10" presetClass="entr" presetSubtype="0" fill="hold" grpId="3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0" dur="1" fill="hold"/>
                                              <p:tgtEl>
                                                <p:spTgt spid="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1" dur="500"/>
                                              <p:tgtEl>
                                                <p:spTgt spid="3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750"/>
                            </p:stCondLst>
                            <p:childTnLst>
                              <p:par>
                                <p:cTn id="163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4" dur="500" presetID="10" presetClass="entr" presetSubtype="0" fill="hold" grpId="3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5" dur="1" fill="hold"/>
                                              <p:tgtEl>
                                                <p:spTgt spid="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6" dur="500"/>
                                              <p:tgtEl>
                                                <p:spTgt spid="3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0" dur="500" presetID="10" presetClass="entr" presetSubtype="0" fill="hold" grpId="32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1" dur="1" fill="hold"/>
                                              <p:tgtEl>
                                                <p:spTgt spid="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2" dur="500"/>
                                              <p:tgtEl>
                                                <p:spTgt spid="3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100"/>
                            </p:stCondLst>
                            <p:childTnLst>
                              <p:par>
                                <p:cTn id="174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5" dur="500" presetID="10" presetClass="entr" presetSubtype="0" fill="hold" grpId="3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6" dur="1" fill="hold"/>
                                              <p:tgtEl>
                                                <p:spTgt spid="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7" dur="500"/>
                                              <p:tgtEl>
                                                <p:spTgt spid="3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200"/>
                            </p:stCondLst>
                            <p:childTnLst>
                              <p:par>
                                <p:cTn id="179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0" dur="500" presetID="10" presetClass="entr" presetSubtype="0" fill="hold" grpId="3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1" dur="1" fill="hold"/>
                                              <p:tgtEl>
                                                <p:spTgt spid="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2" dur="500"/>
                                              <p:tgtEl>
                                                <p:spTgt spid="4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300"/>
                            </p:stCondLst>
                            <p:childTnLst>
                              <p:par>
                                <p:cTn id="184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5" dur="500" presetID="10" presetClass="entr" presetSubtype="0" fill="hold" grpId="3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6" dur="1" fill="hold"/>
                                              <p:tgtEl>
                                                <p:spTgt spid="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7" dur="500"/>
                                              <p:tgtEl>
                                                <p:spTgt spid="4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400"/>
                            </p:stCondLst>
                            <p:childTnLst>
                              <p:par>
                                <p:cTn id="189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0" dur="500" presetID="10" presetClass="entr" presetSubtype="0" fill="hold" grpId="3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1" dur="1" fill="hold"/>
                                              <p:tgtEl>
                                                <p:spTgt spid="4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2" dur="500"/>
                                              <p:tgtEl>
                                                <p:spTgt spid="4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5" dur="500" presetID="10" presetClass="entr" presetSubtype="0" fill="hold" grpId="3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6" dur="1" fill="hold"/>
                                              <p:tgtEl>
                                                <p:spTgt spid="4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7" dur="500"/>
                                              <p:tgtEl>
                                                <p:spTgt spid="4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600"/>
                            </p:stCondLst>
                            <p:childTnLst>
                              <p:par>
                                <p:cTn id="199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0" dur="500" presetID="10" presetClass="entr" presetSubtype="0" fill="hold" grpId="3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1" dur="1" fill="hold"/>
                                              <p:tgtEl>
                                                <p:spTgt spid="4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2" dur="500"/>
                                              <p:tgtEl>
                                                <p:spTgt spid="4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6" dur="500" presetID="10" presetClass="entr" presetSubtype="0" fill="hold" grpId="39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7" dur="1" fill="hold"/>
                                              <p:tgtEl>
                                                <p:spTgt spid="4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8" dur="500"/>
                                              <p:tgtEl>
                                                <p:spTgt spid="4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250"/>
                            </p:stCondLst>
                            <p:childTnLst>
                              <p:par>
                                <p:cTn id="2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1" dur="500" presetID="10" presetClass="entr" presetSubtype="0" fill="hold" grpId="4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2" dur="1" fill="hold"/>
                                              <p:tgtEl>
                                                <p:spTgt spid="4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13" dur="500"/>
                                              <p:tgtEl>
                                                <p:spTgt spid="4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500"/>
                            </p:stCondLst>
                            <p:childTnLst>
                              <p:par>
                                <p:cTn id="2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6" dur="500" presetID="10" presetClass="entr" presetSubtype="0" fill="hold" grpId="4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7" dur="1" fill="hold"/>
                                              <p:tgtEl>
                                                <p:spTgt spid="4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18" dur="500"/>
                                              <p:tgtEl>
                                                <p:spTgt spid="4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Business Benefits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Measurable impact on productivity, cost reduction, and decision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651760" cy="141732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651760" cy="502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2C55E"/>
                </a:solidFill>
                <a:latin typeface="Calibri"/>
              </a:rPr>
              <a:t>30–40%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Cost Savings
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vs. quoted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6911452400" y="1234440"/>
            <a:ext cx="2651760" cy="141732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11452400" y="1234440"/>
            <a:ext cx="265176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6911452400" y="13258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8BDF8"/>
                </a:solidFill>
                <a:latin typeface="Calibri"/>
              </a:rPr>
              <a:t>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91145240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Faster Quote
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911452400" y="2331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hours → minutes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3822447600" y="1234440"/>
            <a:ext cx="2651760" cy="141732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3822447600" y="1234440"/>
            <a:ext cx="26517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3822447600" y="13258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382244760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Audit Trail
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3822447600" y="2331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full change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733442800" y="1234440"/>
            <a:ext cx="2651760" cy="141732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0733442800" y="1234440"/>
            <a:ext cx="2651760" cy="502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00733442800" y="13258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B923C"/>
                </a:solidFill>
                <a:latin typeface="Calibri"/>
              </a:rPr>
              <a:t>£000s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073344280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Annual Saving
Tracker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0733442800" y="2331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negotiation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34640"/>
            <a:ext cx="5394960" cy="23774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834640"/>
            <a:ext cx="539496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9260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🏎️  Procurement 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3649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Quote analysis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36499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2 days → 30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78561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Should-cost build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78561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1 week → 2 hrs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2062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AI insight generation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2062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instant streaming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62686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Negotiation prep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6268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data-ready in seconds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00377353200" y="2834640"/>
            <a:ext cx="5394960" cy="23774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00377353200" y="2834640"/>
            <a:ext cx="5394960" cy="502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00377490360" y="29260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💰  Cost Reduction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0377490360" y="33649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Identify inflated margins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00380370720" y="336499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22C55E"/>
                </a:solidFill>
                <a:latin typeface="Calibri"/>
              </a:rPr>
              <a:t>element-level 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0377490360" y="378561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AI-flagged over-pricing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0380370720" y="378561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22C55E"/>
                </a:solidFill>
                <a:latin typeface="Calibri"/>
              </a:rPr>
              <a:t>High/Med/Low severity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0377490360" y="42062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Structured negotiation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0380370720" y="42062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22C55E"/>
                </a:solidFill>
                <a:latin typeface="Calibri"/>
              </a:rPr>
              <a:t>target vs. current price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00377490360" y="462686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Annual saving visibility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00380370720" y="46268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22C55E"/>
                </a:solidFill>
                <a:latin typeface="Calibri"/>
              </a:rPr>
              <a:t>full pipeline 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2274269253840"/>
            <a:ext cx="5394960" cy="23774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2274269253840"/>
            <a:ext cx="53949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22742693452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📈  Decision Quality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22742697841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Evidence-based targets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227426978419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59E0B"/>
                </a:solidFill>
                <a:latin typeface="Calibri"/>
              </a:rPr>
              <a:t>not gut feel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227427020481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Cross-model benchmarking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227427020481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59E0B"/>
                </a:solidFill>
                <a:latin typeface="Calibri"/>
              </a:rPr>
              <a:t>compare similar parts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2274270625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Supplier scorecards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0" y="22742706254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59E0B"/>
                </a:solidFill>
                <a:latin typeface="Calibri"/>
              </a:rPr>
              <a:t>multi-factor rating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227427104606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Management dashboards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2742710460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59E0B"/>
                </a:solidFill>
                <a:latin typeface="Calibri"/>
              </a:rPr>
              <a:t>live KPI tiles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00377353200" y="2274269253840"/>
            <a:ext cx="5394960" cy="23774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00377353200" y="2274269253840"/>
            <a:ext cx="5394960" cy="502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00377490360" y="22742693452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923C"/>
                </a:solidFill>
                <a:latin typeface="Calibri"/>
              </a:rPr>
              <a:t>🔒  Compliance &amp; Control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00377490360" y="22742697841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Version audit trail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00380370720" y="227426978419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B923C"/>
                </a:solidFill>
                <a:latin typeface="Calibri"/>
              </a:rPr>
              <a:t>who changed what/when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0377490360" y="227427020481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Status workflow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00380370720" y="227427020481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B923C"/>
                </a:solidFill>
                <a:latin typeface="Calibri"/>
              </a:rPr>
              <a:t>Draft → Published → Archived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00377490360" y="2274270625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Role-based access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00380370720" y="22742706254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B923C"/>
                </a:solidFill>
                <a:latin typeface="Calibri"/>
              </a:rPr>
              <a:t>Admin / Buyer / Supplier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00377490360" y="227427104606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  Data sovereignty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00380370720" y="22742710460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FB923C"/>
                </a:solidFill>
                <a:latin typeface="Calibri"/>
              </a:rPr>
              <a:t>self-hosted on-premises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"/>
                            </p:stCondLst>
                            <p:childTnLst>
                              <p:par>
                                <p:cTn id="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6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8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"/>
                            </p:stCondLst>
                            <p:childTnLst>
                              <p:par>
                                <p:cTn id="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2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3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00"/>
                            </p:stCondLst>
                            <p:childTnLst>
                              <p:par>
                                <p:cTn id="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6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7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8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00"/>
                            </p:stCondLst>
                            <p:childTnLst>
                              <p:par>
                                <p:cTn id="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1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2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3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00"/>
                            </p:stCondLst>
                            <p:childTnLst>
                              <p:par>
                                <p:cTn id="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6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8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900"/>
                            </p:stCondLst>
                            <p:childTnLst>
                              <p:par>
                                <p:cTn id="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2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3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900"/>
                            </p:stCondLst>
                            <p:childTnLst>
                              <p:par>
                                <p:cTn id="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6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7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8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900"/>
                            </p:stCondLst>
                            <p:childTnLst>
                              <p:par>
                                <p:cTn id="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1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2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3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900"/>
                            </p:stCondLst>
                            <p:childTnLst>
                              <p:par>
                                <p:cTn id="9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6" dur="500" presetID="10" presetClass="entr" presetSubtype="0" fill="hold" grpId="1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7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8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00"/>
                            </p:stCondLst>
                            <p:childTnLst>
                              <p:par>
                                <p:cTn id="10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1" dur="500" presetID="10" presetClass="entr" presetSubtype="0" fill="hold" grpId="1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2" dur="1" fill="hold"/>
                                              <p:tgtEl>
                                                <p:spTgt spid="2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3" dur="500"/>
                                              <p:tgtEl>
                                                <p:spTgt spid="2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7" dur="500" presetID="10" presetClass="entr" presetSubtype="0" fill="hold" grpId="2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8" dur="1" fill="hold"/>
                                              <p:tgtEl>
                                                <p:spTgt spid="2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9" dur="500"/>
                                              <p:tgtEl>
                                                <p:spTgt spid="2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40"/>
                            </p:stCondLst>
                            <p:childTnLst>
                              <p:par>
                                <p:cTn id="1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2" dur="500" presetID="10" presetClass="entr" presetSubtype="0" fill="hold" grpId="2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3" dur="1" fill="hold"/>
                                              <p:tgtEl>
                                                <p:spTgt spid="2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4" dur="500"/>
                                              <p:tgtEl>
                                                <p:spTgt spid="2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80"/>
                            </p:stCondLst>
                            <p:childTnLst>
                              <p:par>
                                <p:cTn id="1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7" dur="500" presetID="10" presetClass="entr" presetSubtype="0" fill="hold" grpId="2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8" dur="1" fill="hold"/>
                                              <p:tgtEl>
                                                <p:spTgt spid="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9" dur="500"/>
                                              <p:tgtEl>
                                                <p:spTgt spid="2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0"/>
                            </p:stCondLst>
                            <p:childTnLst>
                              <p:par>
                                <p:cTn id="1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2" dur="500" presetID="10" presetClass="entr" presetSubtype="0" fill="hold" grpId="2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3" dur="1" fill="hold"/>
                                              <p:tgtEl>
                                                <p:spTgt spid="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4" dur="500"/>
                                              <p:tgtEl>
                                                <p:spTgt spid="2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160"/>
                            </p:stCondLst>
                            <p:childTnLst>
                              <p:par>
                                <p:cTn id="12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7" dur="500" presetID="10" presetClass="entr" presetSubtype="0" fill="hold" grpId="2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8" dur="1" fill="hold"/>
                                              <p:tgtEl>
                                                <p:spTgt spid="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9" dur="500"/>
                                              <p:tgtEl>
                                                <p:spTgt spid="3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00"/>
                            </p:stCondLst>
                            <p:childTnLst>
                              <p:par>
                                <p:cTn id="13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2" dur="500" presetID="10" presetClass="entr" presetSubtype="0" fill="hold" grpId="2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3" dur="1" fill="hold"/>
                                              <p:tgtEl>
                                                <p:spTgt spid="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4" dur="500"/>
                                              <p:tgtEl>
                                                <p:spTgt spid="3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240"/>
                            </p:stCondLst>
                            <p:childTnLst>
                              <p:par>
                                <p:cTn id="13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7" dur="500" presetID="10" presetClass="entr" presetSubtype="0" fill="hold" grpId="2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8" dur="1" fill="hold"/>
                                              <p:tgtEl>
                                                <p:spTgt spid="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9" dur="500"/>
                                              <p:tgtEl>
                                                <p:spTgt spid="3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80"/>
                            </p:stCondLst>
                            <p:childTnLst>
                              <p:par>
                                <p:cTn id="14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2" dur="500" presetID="10" presetClass="entr" presetSubtype="0" fill="hold" grpId="2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3" dur="1" fill="hold"/>
                                              <p:tgtEl>
                                                <p:spTgt spid="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4" dur="500"/>
                                              <p:tgtEl>
                                                <p:spTgt spid="3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320"/>
                            </p:stCondLst>
                            <p:childTnLst>
                              <p:par>
                                <p:cTn id="1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7" dur="500" presetID="10" presetClass="entr" presetSubtype="0" fill="hold" grpId="2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8" dur="1" fill="hold"/>
                                              <p:tgtEl>
                                                <p:spTgt spid="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9" dur="500"/>
                                              <p:tgtEl>
                                                <p:spTgt spid="3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360"/>
                            </p:stCondLst>
                            <p:childTnLst>
                              <p:par>
                                <p:cTn id="1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2" dur="500" presetID="10" presetClass="entr" presetSubtype="0" fill="hold" grpId="2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3" dur="1" fill="hold"/>
                                              <p:tgtEl>
                                                <p:spTgt spid="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4" dur="500"/>
                                              <p:tgtEl>
                                                <p:spTgt spid="3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400"/>
                            </p:stCondLst>
                            <p:childTnLst>
                              <p:par>
                                <p:cTn id="1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7" dur="500" presetID="10" presetClass="entr" presetSubtype="0" fill="hold" grpId="3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8" dur="1" fill="hold"/>
                                              <p:tgtEl>
                                                <p:spTgt spid="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9" dur="500"/>
                                              <p:tgtEl>
                                                <p:spTgt spid="3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500"/>
                            </p:stCondLst>
                            <p:childTnLst>
                              <p:par>
                                <p:cTn id="1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2" dur="500" presetID="10" presetClass="entr" presetSubtype="0" fill="hold" grpId="3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3" dur="1" fill="hold"/>
                                              <p:tgtEl>
                                                <p:spTgt spid="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4" dur="500"/>
                                              <p:tgtEl>
                                                <p:spTgt spid="3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540"/>
                            </p:stCondLst>
                            <p:childTnLst>
                              <p:par>
                                <p:cTn id="1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7" dur="500" presetID="10" presetClass="entr" presetSubtype="0" fill="hold" grpId="3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8" dur="1" fill="hold"/>
                                              <p:tgtEl>
                                                <p:spTgt spid="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9" dur="500"/>
                                              <p:tgtEl>
                                                <p:spTgt spid="3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580"/>
                            </p:stCondLst>
                            <p:childTnLst>
                              <p:par>
                                <p:cTn id="1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2" dur="500" presetID="10" presetClass="entr" presetSubtype="0" fill="hold" grpId="3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3" dur="1" fill="hold"/>
                                              <p:tgtEl>
                                                <p:spTgt spid="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4" dur="500"/>
                                              <p:tgtEl>
                                                <p:spTgt spid="3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620"/>
                            </p:stCondLst>
                            <p:childTnLst>
                              <p:par>
                                <p:cTn id="1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7" dur="500" presetID="10" presetClass="entr" presetSubtype="0" fill="hold" grpId="3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8" dur="1" fill="hold"/>
                                              <p:tgtEl>
                                                <p:spTgt spid="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9" dur="500"/>
                                              <p:tgtEl>
                                                <p:spTgt spid="4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660"/>
                            </p:stCondLst>
                            <p:childTnLst>
                              <p:par>
                                <p:cTn id="1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2" dur="500" presetID="10" presetClass="entr" presetSubtype="0" fill="hold" grpId="3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3" dur="1" fill="hold"/>
                                              <p:tgtEl>
                                                <p:spTgt spid="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4" dur="500"/>
                                              <p:tgtEl>
                                                <p:spTgt spid="4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700"/>
                            </p:stCondLst>
                            <p:childTnLst>
                              <p:par>
                                <p:cTn id="18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7" dur="500" presetID="10" presetClass="entr" presetSubtype="0" fill="hold" grpId="3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8" dur="1" fill="hold"/>
                                              <p:tgtEl>
                                                <p:spTgt spid="4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9" dur="500"/>
                                              <p:tgtEl>
                                                <p:spTgt spid="4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740"/>
                            </p:stCondLst>
                            <p:childTnLst>
                              <p:par>
                                <p:cTn id="19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2" dur="500" presetID="10" presetClass="entr" presetSubtype="0" fill="hold" grpId="3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3" dur="1" fill="hold"/>
                                              <p:tgtEl>
                                                <p:spTgt spid="4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4" dur="500"/>
                                              <p:tgtEl>
                                                <p:spTgt spid="4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780"/>
                            </p:stCondLst>
                            <p:childTnLst>
                              <p:par>
                                <p:cTn id="19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7" dur="500" presetID="10" presetClass="entr" presetSubtype="0" fill="hold" grpId="3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8" dur="1" fill="hold"/>
                                              <p:tgtEl>
                                                <p:spTgt spid="4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9" dur="500"/>
                                              <p:tgtEl>
                                                <p:spTgt spid="4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820"/>
                            </p:stCondLst>
                            <p:childTnLst>
                              <p:par>
                                <p:cTn id="20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2" dur="500" presetID="10" presetClass="entr" presetSubtype="0" fill="hold" grpId="3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3" dur="1" fill="hold"/>
                                              <p:tgtEl>
                                                <p:spTgt spid="4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4" dur="500"/>
                                              <p:tgtEl>
                                                <p:spTgt spid="4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860"/>
                            </p:stCondLst>
                            <p:childTnLst>
                              <p:par>
                                <p:cTn id="2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7" dur="500" presetID="10" presetClass="entr" presetSubtype="0" fill="hold" grpId="4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8" dur="1" fill="hold"/>
                                              <p:tgtEl>
                                                <p:spTgt spid="4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9" dur="500"/>
                                              <p:tgtEl>
                                                <p:spTgt spid="4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900"/>
                            </p:stCondLst>
                            <p:childTnLst>
                              <p:par>
                                <p:cTn id="2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2" dur="500" presetID="10" presetClass="entr" presetSubtype="0" fill="hold" grpId="4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3" dur="1" fill="hold"/>
                                              <p:tgtEl>
                                                <p:spTgt spid="4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14" dur="500"/>
                                              <p:tgtEl>
                                                <p:spTgt spid="4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8" dur="500" presetID="10" presetClass="entr" presetSubtype="0" fill="hold" grpId="42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9" dur="1" fill="hold"/>
                                              <p:tgtEl>
                                                <p:spTgt spid="4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20" dur="500"/>
                                              <p:tgtEl>
                                                <p:spTgt spid="4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40"/>
                            </p:stCondLst>
                            <p:childTnLst>
                              <p:par>
                                <p:cTn id="22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23" dur="500" presetID="10" presetClass="entr" presetSubtype="0" fill="hold" grpId="4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4" dur="1" fill="hold"/>
                                              <p:tgtEl>
                                                <p:spTgt spid="4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25" dur="500"/>
                                              <p:tgtEl>
                                                <p:spTgt spid="4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80"/>
                            </p:stCondLst>
                            <p:childTnLst>
                              <p:par>
                                <p:cTn id="22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28" dur="500" presetID="10" presetClass="entr" presetSubtype="0" fill="hold" grpId="4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9" dur="1" fill="hold"/>
                                              <p:tgtEl>
                                                <p:spTgt spid="5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0" dur="500"/>
                                              <p:tgtEl>
                                                <p:spTgt spid="5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120"/>
                            </p:stCondLst>
                            <p:childTnLst>
                              <p:par>
                                <p:cTn id="23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3" dur="500" presetID="10" presetClass="entr" presetSubtype="0" fill="hold" grpId="4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34" dur="1" fill="hold"/>
                                              <p:tgtEl>
                                                <p:spTgt spid="5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5" dur="500"/>
                                              <p:tgtEl>
                                                <p:spTgt spid="5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160"/>
                            </p:stCondLst>
                            <p:childTnLst>
                              <p:par>
                                <p:cTn id="23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8" dur="500" presetID="10" presetClass="entr" presetSubtype="0" fill="hold" grpId="4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39" dur="1" fill="hold"/>
                                              <p:tgtEl>
                                                <p:spTgt spid="5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40" dur="500"/>
                                              <p:tgtEl>
                                                <p:spTgt spid="5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00"/>
                            </p:stCondLst>
                            <p:childTnLst>
                              <p:par>
                                <p:cTn id="24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43" dur="500" presetID="10" presetClass="entr" presetSubtype="0" fill="hold" grpId="4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44" dur="1" fill="hold"/>
                                              <p:tgtEl>
                                                <p:spTgt spid="5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45" dur="500"/>
                                              <p:tgtEl>
                                                <p:spTgt spid="5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6" fill="hold">
                            <p:stCondLst>
                              <p:cond delay="240"/>
                            </p:stCondLst>
                            <p:childTnLst>
                              <p:par>
                                <p:cTn id="24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48" dur="500" presetID="10" presetClass="entr" presetSubtype="0" fill="hold" grpId="4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49" dur="1" fill="hold"/>
                                              <p:tgtEl>
                                                <p:spTgt spid="5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50" dur="500"/>
                                              <p:tgtEl>
                                                <p:spTgt spid="5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1" fill="hold">
                            <p:stCondLst>
                              <p:cond delay="280"/>
                            </p:stCondLst>
                            <p:childTnLst>
                              <p:par>
                                <p:cTn id="25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53" dur="500" presetID="10" presetClass="entr" presetSubtype="0" fill="hold" grpId="4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4" dur="1" fill="hold"/>
                                              <p:tgtEl>
                                                <p:spTgt spid="5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55" dur="500"/>
                                              <p:tgtEl>
                                                <p:spTgt spid="5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320"/>
                            </p:stCondLst>
                            <p:childTnLst>
                              <p:par>
                                <p:cTn id="25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58" dur="500" presetID="10" presetClass="entr" presetSubtype="0" fill="hold" grpId="5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9" dur="1" fill="hold"/>
                                              <p:tgtEl>
                                                <p:spTgt spid="5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60" dur="500"/>
                                              <p:tgtEl>
                                                <p:spTgt spid="5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360"/>
                            </p:stCondLst>
                            <p:childTnLst>
                              <p:par>
                                <p:cTn id="26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3" dur="500" presetID="10" presetClass="entr" presetSubtype="0" fill="hold" grpId="5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64" dur="1" fill="hold"/>
                                              <p:tgtEl>
                                                <p:spTgt spid="5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65" dur="500"/>
                                              <p:tgtEl>
                                                <p:spTgt spid="5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6" fill="hold">
                            <p:stCondLst>
                              <p:cond delay="400"/>
                            </p:stCondLst>
                            <p:childTnLst>
                              <p:par>
                                <p:cTn id="26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8" dur="500" presetID="10" presetClass="entr" presetSubtype="0" fill="hold" grpId="5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69" dur="1" fill="hold"/>
                                              <p:tgtEl>
                                                <p:spTgt spid="5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70" dur="500"/>
                                              <p:tgtEl>
                                                <p:spTgt spid="5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500"/>
                            </p:stCondLst>
                            <p:childTnLst>
                              <p:par>
                                <p:cTn id="27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3" dur="500" presetID="10" presetClass="entr" presetSubtype="0" fill="hold" grpId="5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4" dur="1" fill="hold"/>
                                              <p:tgtEl>
                                                <p:spTgt spid="5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75" dur="500"/>
                                              <p:tgtEl>
                                                <p:spTgt spid="5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540"/>
                            </p:stCondLst>
                            <p:childTnLst>
                              <p:par>
                                <p:cTn id="27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8" dur="500" presetID="10" presetClass="entr" presetSubtype="0" fill="hold" grpId="5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9" dur="1" fill="hold"/>
                                              <p:tgtEl>
                                                <p:spTgt spid="6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0" dur="500"/>
                                              <p:tgtEl>
                                                <p:spTgt spid="6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80"/>
                            </p:stCondLst>
                            <p:childTnLst>
                              <p:par>
                                <p:cTn id="28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83" dur="500" presetID="10" presetClass="entr" presetSubtype="0" fill="hold" grpId="5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84" dur="1" fill="hold"/>
                                              <p:tgtEl>
                                                <p:spTgt spid="6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5" dur="500"/>
                                              <p:tgtEl>
                                                <p:spTgt spid="6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6" fill="hold">
                            <p:stCondLst>
                              <p:cond delay="620"/>
                            </p:stCondLst>
                            <p:childTnLst>
                              <p:par>
                                <p:cTn id="28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88" dur="500" presetID="10" presetClass="entr" presetSubtype="0" fill="hold" grpId="5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89" dur="1" fill="hold"/>
                                              <p:tgtEl>
                                                <p:spTgt spid="6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90" dur="500"/>
                                              <p:tgtEl>
                                                <p:spTgt spid="6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1" fill="hold">
                            <p:stCondLst>
                              <p:cond delay="660"/>
                            </p:stCondLst>
                            <p:childTnLst>
                              <p:par>
                                <p:cTn id="29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3" dur="500" presetID="10" presetClass="entr" presetSubtype="0" fill="hold" grpId="5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4" dur="1" fill="hold"/>
                                              <p:tgtEl>
                                                <p:spTgt spid="6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95" dur="500"/>
                                              <p:tgtEl>
                                                <p:spTgt spid="6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6" fill="hold">
                            <p:stCondLst>
                              <p:cond delay="700"/>
                            </p:stCondLst>
                            <p:childTnLst>
                              <p:par>
                                <p:cTn id="29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8" dur="500" presetID="10" presetClass="entr" presetSubtype="0" fill="hold" grpId="5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9" dur="1" fill="hold"/>
                                              <p:tgtEl>
                                                <p:spTgt spid="6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00" dur="500"/>
                                              <p:tgtEl>
                                                <p:spTgt spid="6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740"/>
                            </p:stCondLst>
                            <p:childTnLst>
                              <p:par>
                                <p:cTn id="30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03" dur="500" presetID="10" presetClass="entr" presetSubtype="0" fill="hold" grpId="5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04" dur="1" fill="hold"/>
                                              <p:tgtEl>
                                                <p:spTgt spid="6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05" dur="500"/>
                                              <p:tgtEl>
                                                <p:spTgt spid="6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6" fill="hold">
                            <p:stCondLst>
                              <p:cond delay="780"/>
                            </p:stCondLst>
                            <p:childTnLst>
                              <p:par>
                                <p:cTn id="30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08" dur="500" presetID="10" presetClass="entr" presetSubtype="0" fill="hold" grpId="6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09" dur="1" fill="hold"/>
                                              <p:tgtEl>
                                                <p:spTgt spid="6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10" dur="500"/>
                                              <p:tgtEl>
                                                <p:spTgt spid="6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820"/>
                            </p:stCondLst>
                            <p:childTnLst>
                              <p:par>
                                <p:cTn id="31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3" dur="500" presetID="10" presetClass="entr" presetSubtype="0" fill="hold" grpId="6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14" dur="1" fill="hold"/>
                                              <p:tgtEl>
                                                <p:spTgt spid="6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15" dur="500"/>
                                              <p:tgtEl>
                                                <p:spTgt spid="6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6" fill="hold">
                            <p:stCondLst>
                              <p:cond delay="860"/>
                            </p:stCondLst>
                            <p:childTnLst>
                              <p:par>
                                <p:cTn id="31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8" dur="500" presetID="10" presetClass="entr" presetSubtype="0" fill="hold" grpId="6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19" dur="1" fill="hold"/>
                                              <p:tgtEl>
                                                <p:spTgt spid="6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20" dur="500"/>
                                              <p:tgtEl>
                                                <p:spTgt spid="6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900"/>
                            </p:stCondLst>
                            <p:childTnLst>
                              <p:par>
                                <p:cTn id="32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23" dur="500" presetID="10" presetClass="entr" presetSubtype="0" fill="hold" grpId="6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4" dur="1" fill="hold"/>
                                              <p:tgtEl>
                                                <p:spTgt spid="6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25" dur="500"/>
                                              <p:tgtEl>
                                                <p:spTgt spid="6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Sample Reports &amp;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Everything your team sees in CostLens — representative data for a brake disc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566160" cy="51206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356616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8BDF8"/>
                </a:solidFill>
                <a:latin typeface="Calibri"/>
              </a:rPr>
              <a:t>📐  Should-Cost Breakup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Part: BRK-2001  Front Brake Disc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6596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RAW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9659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38BDF8"/>
                </a:solidFill>
                <a:latin typeface="Calibri"/>
              </a:rPr>
              <a:t>GBP 4.82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965960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32%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29514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Steel coil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29514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GBP 3.10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29514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21%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24327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Alloy additives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624327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GBP 1.72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624327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alibri"/>
              </a:rPr>
              <a:t>MANUFACTURING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9535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06B6D4"/>
                </a:solidFill>
                <a:latin typeface="Calibri"/>
              </a:rPr>
              <a:t>GBP 5.60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95351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37%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28269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Casting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2826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GBP 2.40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28269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61188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Machining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6118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GBP 1.90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11880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94106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Surface treat.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9410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GBP 1.30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94106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27024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B923C"/>
                </a:solidFill>
                <a:latin typeface="Calibri"/>
              </a:rPr>
              <a:t>OVERHEAD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427024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B923C"/>
                </a:solidFill>
                <a:latin typeface="Calibri"/>
              </a:rPr>
              <a:t>GBP 1.95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7024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59943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59943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59E0B"/>
                </a:solidFill>
                <a:latin typeface="Calibri"/>
              </a:rPr>
              <a:t>GBP 1.20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59943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92861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2C55E"/>
                </a:solidFill>
                <a:latin typeface="Calibri"/>
              </a:rPr>
              <a:t>PROFIT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49286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22C55E"/>
                </a:solidFill>
                <a:latin typeface="Calibri"/>
              </a:rPr>
              <a:t>GBP 1.53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92861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257799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─────────────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257799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─────────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5257799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───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58698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40" y="558698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  <a:latin typeface="Calibri"/>
              </a:rPr>
              <a:t>GBP 15.10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558698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1188720"/>
            <a:ext cx="3566160" cy="51206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06240" y="1188720"/>
            <a:ext cx="3566160" cy="502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1280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923C"/>
                </a:solidFill>
                <a:latin typeface="Calibri"/>
              </a:rPr>
              <a:t>⚖️  Quote vs. Should-Cost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16642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Supplier: Leamington Forge Ltd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19385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Element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5000" y="193852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Should-Cost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1938528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Quote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193852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Var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43400" y="22677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Raw Material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5000" y="2267712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4.82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2267712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5.90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226771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87171"/>
                </a:solidFill>
                <a:latin typeface="Calibri"/>
              </a:rPr>
              <a:t>+1.08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43400" y="25968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Manufacturing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15000" y="2596896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5.60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59689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5.80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78040" y="259689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59E0B"/>
                </a:solidFill>
                <a:latin typeface="Calibri"/>
              </a:rPr>
              <a:t>+0.20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43400" y="29260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  Casting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5000" y="2926080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2.40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92240" y="292608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3.10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292608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87171"/>
                </a:solidFill>
                <a:latin typeface="Calibri"/>
              </a:rPr>
              <a:t>+0.70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3400" y="3255263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  Machining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15000" y="3255263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1.90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92240" y="3255263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1.75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78040" y="3255263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2C55E"/>
                </a:solidFill>
                <a:latin typeface="Calibri"/>
              </a:rPr>
              <a:t>-0.15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43400" y="358444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Overhead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3584448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1.95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0" y="3584448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2.40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78040" y="35844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B923C"/>
                </a:solidFill>
                <a:latin typeface="Calibri"/>
              </a:rPr>
              <a:t>+0.45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43400" y="3913631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Logistics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15000" y="3913631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1.20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92240" y="3913631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1.00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3913631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2C55E"/>
                </a:solidFill>
                <a:latin typeface="Calibri"/>
              </a:rPr>
              <a:t>-0.20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43400" y="424281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Profit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15000" y="4242816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1.53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0" y="424281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2.30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78040" y="424281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87171"/>
                </a:solidFill>
                <a:latin typeface="Calibri"/>
              </a:rPr>
              <a:t>+0.77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43400" y="45720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─────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15000" y="4572000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────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92240" y="457200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────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78040" y="457200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4A3B8"/>
                </a:solidFill>
                <a:latin typeface="Calibri"/>
              </a:rPr>
              <a:t>────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43400" y="4901183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15000" y="4901183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Calibri"/>
              </a:rPr>
              <a:t>15.10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92240" y="4901183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Calibri"/>
              </a:rPr>
              <a:t>18.40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78040" y="4901183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87171"/>
                </a:solidFill>
                <a:latin typeface="Calibri"/>
              </a:rPr>
              <a:t>+3.30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955279" y="1188720"/>
            <a:ext cx="3566160" cy="512064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955279" y="1188720"/>
            <a:ext cx="3566160" cy="502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92439" y="1280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C55E"/>
                </a:solidFill>
                <a:latin typeface="Calibri"/>
              </a:rPr>
              <a:t>🤖  AI Analysis Output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92439" y="17190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E8F0"/>
                </a:solidFill>
                <a:latin typeface="Calibri"/>
              </a:rPr>
              <a:t>Summary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92439" y="1993392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E2E8F0"/>
                </a:solidFill>
                <a:latin typeface="Calibri"/>
              </a:rPr>
              <a:t>"The quote of GBP 18.40 exceeds the should-cost model by 21.9% (GBP 3.30). The most significant overcharges are in Raw Material castings (+29%) and Profit margin (+50% above model). Strong case for negotiation."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92439" y="3108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E8F0"/>
                </a:solidFill>
                <a:latin typeface="Calibri"/>
              </a:rPr>
              <a:t>Flagged Elements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92439" y="3456432"/>
            <a:ext cx="640080" cy="256032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92439" y="345643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  <a:latin typeface="Calibri"/>
              </a:rPr>
              <a:t>🔴 HIGH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78239" y="34564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Casting cost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78239" y="37124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29% above model — request process breakdown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92439" y="3968496"/>
            <a:ext cx="640080" cy="256032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092439" y="396849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87171"/>
                </a:solidFill>
                <a:latin typeface="Calibri"/>
              </a:rPr>
              <a:t>🔴 HIGH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78239" y="396849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Profit margin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78239" y="4224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50% above agreed 10% — challenge with data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092439" y="4480560"/>
            <a:ext cx="640080" cy="256032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92439" y="448056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59E0B"/>
                </a:solidFill>
                <a:latin typeface="Calibri"/>
              </a:rPr>
              <a:t>🟡 MED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78239" y="44805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Overhead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78239" y="47365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23% inflated — request overhead allocation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092439" y="4992624"/>
            <a:ext cx="640080" cy="256032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092439" y="499262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22C55E"/>
                </a:solidFill>
                <a:latin typeface="Calibri"/>
              </a:rPr>
              <a:t>🟢 LOW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39" y="499262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Machining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778239" y="524865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Under-cost — no action needed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2439" y="555955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2E8F0"/>
                </a:solidFill>
                <a:latin typeface="Calibri"/>
              </a:rPr>
              <a:t>Recommended Action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92439" y="5833872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E7B7"/>
                </a:solidFill>
                <a:latin typeface="Calibri"/>
              </a:rPr>
              <a:t>• Request itemised casting cost breakdown
• Challenge profit at agreed 10% rate
• Counter-offer: GBP 15.80 target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9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1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3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50"/>
                            </p:stCondLst>
                            <p:childTnLst>
                              <p:par>
                                <p:cTn id="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70"/>
                            </p:stCondLst>
                            <p:childTnLst>
                              <p:par>
                                <p:cTn id="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6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8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90"/>
                            </p:stCondLst>
                            <p:childTnLst>
                              <p:par>
                                <p:cTn id="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2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3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0"/>
                            </p:stCondLst>
                            <p:childTnLst>
                              <p:par>
                                <p:cTn id="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6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7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8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30"/>
                            </p:stCondLst>
                            <p:childTnLst>
                              <p:par>
                                <p:cTn id="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1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2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3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50"/>
                            </p:stCondLst>
                            <p:childTnLst>
                              <p:par>
                                <p:cTn id="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6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8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70"/>
                            </p:stCondLst>
                            <p:childTnLst>
                              <p:par>
                                <p:cTn id="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2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3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90"/>
                            </p:stCondLst>
                            <p:childTnLst>
                              <p:par>
                                <p:cTn id="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6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7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8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710"/>
                            </p:stCondLst>
                            <p:childTnLst>
                              <p:par>
                                <p:cTn id="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1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2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3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730"/>
                            </p:stCondLst>
                            <p:childTnLst>
                              <p:par>
                                <p:cTn id="9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6" dur="500" presetID="10" presetClass="entr" presetSubtype="0" fill="hold" grpId="1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7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8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750"/>
                            </p:stCondLst>
                            <p:childTnLst>
                              <p:par>
                                <p:cTn id="10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1" dur="500" presetID="10" presetClass="entr" presetSubtype="0" fill="hold" grpId="1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2" dur="1" fill="hold"/>
                                              <p:tgtEl>
                                                <p:spTgt spid="2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3" dur="500"/>
                                              <p:tgtEl>
                                                <p:spTgt spid="2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70"/>
                            </p:stCondLst>
                            <p:childTnLst>
                              <p:par>
                                <p:cTn id="10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6" dur="500" presetID="10" presetClass="entr" presetSubtype="0" fill="hold" grpId="2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7" dur="1" fill="hold"/>
                                              <p:tgtEl>
                                                <p:spTgt spid="2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8" dur="500"/>
                                              <p:tgtEl>
                                                <p:spTgt spid="2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90"/>
                            </p:stCondLst>
                            <p:childTnLst>
                              <p:par>
                                <p:cTn id="1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1" dur="500" presetID="10" presetClass="entr" presetSubtype="0" fill="hold" grpId="2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2" dur="1" fill="hold"/>
                                              <p:tgtEl>
                                                <p:spTgt spid="2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3" dur="500"/>
                                              <p:tgtEl>
                                                <p:spTgt spid="2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810"/>
                            </p:stCondLst>
                            <p:childTnLst>
                              <p:par>
                                <p:cTn id="1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6" dur="500" presetID="10" presetClass="entr" presetSubtype="0" fill="hold" grpId="2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7" dur="1" fill="hold"/>
                                              <p:tgtEl>
                                                <p:spTgt spid="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8" dur="500"/>
                                              <p:tgtEl>
                                                <p:spTgt spid="2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30"/>
                            </p:stCondLst>
                            <p:childTnLst>
                              <p:par>
                                <p:cTn id="1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1" dur="500" presetID="10" presetClass="entr" presetSubtype="0" fill="hold" grpId="2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2" dur="1" fill="hold"/>
                                              <p:tgtEl>
                                                <p:spTgt spid="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3" dur="500"/>
                                              <p:tgtEl>
                                                <p:spTgt spid="2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850"/>
                            </p:stCondLst>
                            <p:childTnLst>
                              <p:par>
                                <p:cTn id="1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6" dur="500" presetID="10" presetClass="entr" presetSubtype="0" fill="hold" grpId="2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7" dur="1" fill="hold"/>
                                              <p:tgtEl>
                                                <p:spTgt spid="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8" dur="500"/>
                                              <p:tgtEl>
                                                <p:spTgt spid="3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870"/>
                            </p:stCondLst>
                            <p:childTnLst>
                              <p:par>
                                <p:cTn id="1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1" dur="500" presetID="10" presetClass="entr" presetSubtype="0" fill="hold" grpId="2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2" dur="1" fill="hold"/>
                                              <p:tgtEl>
                                                <p:spTgt spid="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3" dur="500"/>
                                              <p:tgtEl>
                                                <p:spTgt spid="3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890"/>
                            </p:stCondLst>
                            <p:childTnLst>
                              <p:par>
                                <p:cTn id="1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6" dur="500" presetID="10" presetClass="entr" presetSubtype="0" fill="hold" grpId="2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7" dur="1" fill="hold"/>
                                              <p:tgtEl>
                                                <p:spTgt spid="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8" dur="500"/>
                                              <p:tgtEl>
                                                <p:spTgt spid="3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910"/>
                            </p:stCondLst>
                            <p:childTnLst>
                              <p:par>
                                <p:cTn id="1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1" dur="500" presetID="10" presetClass="entr" presetSubtype="0" fill="hold" grpId="2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2" dur="1" fill="hold"/>
                                              <p:tgtEl>
                                                <p:spTgt spid="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3" dur="500"/>
                                              <p:tgtEl>
                                                <p:spTgt spid="3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930"/>
                            </p:stCondLst>
                            <p:childTnLst>
                              <p:par>
                                <p:cTn id="1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6" dur="500" presetID="10" presetClass="entr" presetSubtype="0" fill="hold" grpId="2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7" dur="1" fill="hold"/>
                                              <p:tgtEl>
                                                <p:spTgt spid="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8" dur="500"/>
                                              <p:tgtEl>
                                                <p:spTgt spid="3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950"/>
                            </p:stCondLst>
                            <p:childTnLst>
                              <p:par>
                                <p:cTn id="1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1" dur="500" presetID="10" presetClass="entr" presetSubtype="0" fill="hold" grpId="2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2" dur="1" fill="hold"/>
                                              <p:tgtEl>
                                                <p:spTgt spid="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3" dur="500"/>
                                              <p:tgtEl>
                                                <p:spTgt spid="3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970"/>
                            </p:stCondLst>
                            <p:childTnLst>
                              <p:par>
                                <p:cTn id="1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6" dur="500" presetID="10" presetClass="entr" presetSubtype="0" fill="hold" grpId="3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7" dur="1" fill="hold"/>
                                              <p:tgtEl>
                                                <p:spTgt spid="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8" dur="500"/>
                                              <p:tgtEl>
                                                <p:spTgt spid="3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990"/>
                            </p:stCondLst>
                            <p:childTnLst>
                              <p:par>
                                <p:cTn id="1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1" dur="500" presetID="10" presetClass="entr" presetSubtype="0" fill="hold" grpId="3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2" dur="1" fill="hold"/>
                                              <p:tgtEl>
                                                <p:spTgt spid="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3" dur="500"/>
                                              <p:tgtEl>
                                                <p:spTgt spid="3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010"/>
                            </p:stCondLst>
                            <p:childTnLst>
                              <p:par>
                                <p:cTn id="1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6" dur="500" presetID="10" presetClass="entr" presetSubtype="0" fill="hold" grpId="3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7" dur="1" fill="hold"/>
                                              <p:tgtEl>
                                                <p:spTgt spid="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8" dur="500"/>
                                              <p:tgtEl>
                                                <p:spTgt spid="3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030"/>
                            </p:stCondLst>
                            <p:childTnLst>
                              <p:par>
                                <p:cTn id="1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1" dur="500" presetID="10" presetClass="entr" presetSubtype="0" fill="hold" grpId="3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2" dur="1" fill="hold"/>
                                              <p:tgtEl>
                                                <p:spTgt spid="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3" dur="500"/>
                                              <p:tgtEl>
                                                <p:spTgt spid="3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050"/>
                            </p:stCondLst>
                            <p:childTnLst>
                              <p:par>
                                <p:cTn id="1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6" dur="500" presetID="10" presetClass="entr" presetSubtype="0" fill="hold" grpId="3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7" dur="1" fill="hold"/>
                                              <p:tgtEl>
                                                <p:spTgt spid="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8" dur="500"/>
                                              <p:tgtEl>
                                                <p:spTgt spid="4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070"/>
                            </p:stCondLst>
                            <p:childTnLst>
                              <p:par>
                                <p:cTn id="1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1" dur="500" presetID="10" presetClass="entr" presetSubtype="0" fill="hold" grpId="3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2" dur="1" fill="hold"/>
                                              <p:tgtEl>
                                                <p:spTgt spid="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3" dur="500"/>
                                              <p:tgtEl>
                                                <p:spTgt spid="4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090"/>
                            </p:stCondLst>
                            <p:childTnLst>
                              <p:par>
                                <p:cTn id="1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6" dur="500" presetID="10" presetClass="entr" presetSubtype="0" fill="hold" grpId="3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7" dur="1" fill="hold"/>
                                              <p:tgtEl>
                                                <p:spTgt spid="4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8" dur="500"/>
                                              <p:tgtEl>
                                                <p:spTgt spid="4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110"/>
                            </p:stCondLst>
                            <p:childTnLst>
                              <p:par>
                                <p:cTn id="1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1" dur="500" presetID="10" presetClass="entr" presetSubtype="0" fill="hold" grpId="3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2" dur="1" fill="hold"/>
                                              <p:tgtEl>
                                                <p:spTgt spid="4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3" dur="500"/>
                                              <p:tgtEl>
                                                <p:spTgt spid="4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130"/>
                            </p:stCondLst>
                            <p:childTnLst>
                              <p:par>
                                <p:cTn id="19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96" dur="500" presetID="10" presetClass="entr" presetSubtype="0" fill="hold" grpId="3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7" dur="1" fill="hold"/>
                                              <p:tgtEl>
                                                <p:spTgt spid="4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8" dur="500"/>
                                              <p:tgtEl>
                                                <p:spTgt spid="4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1150"/>
                            </p:stCondLst>
                            <p:childTnLst>
                              <p:par>
                                <p:cTn id="20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1" dur="500" presetID="10" presetClass="entr" presetSubtype="0" fill="hold" grpId="3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2" dur="1" fill="hold"/>
                                              <p:tgtEl>
                                                <p:spTgt spid="4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3" dur="500"/>
                                              <p:tgtEl>
                                                <p:spTgt spid="4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07" dur="500" presetID="10" presetClass="entr" presetSubtype="0" fill="hold" grpId="4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08" dur="1" fill="hold"/>
                                              <p:tgtEl>
                                                <p:spTgt spid="4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09" dur="500"/>
                                              <p:tgtEl>
                                                <p:spTgt spid="4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100"/>
                            </p:stCondLst>
                            <p:childTnLst>
                              <p:par>
                                <p:cTn id="2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2" dur="500" presetID="10" presetClass="entr" presetSubtype="0" fill="hold" grpId="4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3" dur="1" fill="hold"/>
                                              <p:tgtEl>
                                                <p:spTgt spid="4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14" dur="500"/>
                                              <p:tgtEl>
                                                <p:spTgt spid="4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200"/>
                            </p:stCondLst>
                            <p:childTnLst>
                              <p:par>
                                <p:cTn id="2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7" dur="500" presetID="10" presetClass="entr" presetSubtype="0" fill="hold" grpId="4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8" dur="1" fill="hold"/>
                                              <p:tgtEl>
                                                <p:spTgt spid="4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19" dur="500"/>
                                              <p:tgtEl>
                                                <p:spTgt spid="4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300"/>
                            </p:stCondLst>
                            <p:childTnLst>
                              <p:par>
                                <p:cTn id="2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22" dur="500" presetID="10" presetClass="entr" presetSubtype="0" fill="hold" grpId="4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3" dur="1" fill="hold"/>
                                              <p:tgtEl>
                                                <p:spTgt spid="4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24" dur="500"/>
                                              <p:tgtEl>
                                                <p:spTgt spid="4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450"/>
                            </p:stCondLst>
                            <p:childTnLst>
                              <p:par>
                                <p:cTn id="22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27" dur="500" presetID="10" presetClass="entr" presetSubtype="0" fill="hold" grpId="4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8" dur="1" fill="hold"/>
                                              <p:tgtEl>
                                                <p:spTgt spid="5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29" dur="500"/>
                                              <p:tgtEl>
                                                <p:spTgt spid="5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0" fill="hold">
                            <p:stCondLst>
                              <p:cond delay="465"/>
                            </p:stCondLst>
                            <p:childTnLst>
                              <p:par>
                                <p:cTn id="23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2" dur="500" presetID="10" presetClass="entr" presetSubtype="0" fill="hold" grpId="4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33" dur="1" fill="hold"/>
                                              <p:tgtEl>
                                                <p:spTgt spid="5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4" dur="500"/>
                                              <p:tgtEl>
                                                <p:spTgt spid="5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480"/>
                            </p:stCondLst>
                            <p:childTnLst>
                              <p:par>
                                <p:cTn id="23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7" dur="500" presetID="10" presetClass="entr" presetSubtype="0" fill="hold" grpId="4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38" dur="1" fill="hold"/>
                                              <p:tgtEl>
                                                <p:spTgt spid="5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9" dur="500"/>
                                              <p:tgtEl>
                                                <p:spTgt spid="5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495"/>
                            </p:stCondLst>
                            <p:childTnLst>
                              <p:par>
                                <p:cTn id="24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42" dur="500" presetID="10" presetClass="entr" presetSubtype="0" fill="hold" grpId="4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43" dur="1" fill="hold"/>
                                              <p:tgtEl>
                                                <p:spTgt spid="5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44" dur="500"/>
                                              <p:tgtEl>
                                                <p:spTgt spid="5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510"/>
                            </p:stCondLst>
                            <p:childTnLst>
                              <p:par>
                                <p:cTn id="2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47" dur="500" presetID="10" presetClass="entr" presetSubtype="0" fill="hold" grpId="4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48" dur="1" fill="hold"/>
                                              <p:tgtEl>
                                                <p:spTgt spid="5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49" dur="500"/>
                                              <p:tgtEl>
                                                <p:spTgt spid="5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0" fill="hold">
                            <p:stCondLst>
                              <p:cond delay="525"/>
                            </p:stCondLst>
                            <p:childTnLst>
                              <p:par>
                                <p:cTn id="2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52" dur="500" presetID="10" presetClass="entr" presetSubtype="0" fill="hold" grpId="4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3" dur="1" fill="hold"/>
                                              <p:tgtEl>
                                                <p:spTgt spid="5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54" dur="500"/>
                                              <p:tgtEl>
                                                <p:spTgt spid="5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40"/>
                            </p:stCondLst>
                            <p:childTnLst>
                              <p:par>
                                <p:cTn id="2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57" dur="500" presetID="10" presetClass="entr" presetSubtype="0" fill="hold" grpId="5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8" dur="1" fill="hold"/>
                                              <p:tgtEl>
                                                <p:spTgt spid="5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59" dur="500"/>
                                              <p:tgtEl>
                                                <p:spTgt spid="5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555"/>
                            </p:stCondLst>
                            <p:childTnLst>
                              <p:par>
                                <p:cTn id="2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2" dur="500" presetID="10" presetClass="entr" presetSubtype="0" fill="hold" grpId="5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63" dur="1" fill="hold"/>
                                              <p:tgtEl>
                                                <p:spTgt spid="5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64" dur="500"/>
                                              <p:tgtEl>
                                                <p:spTgt spid="5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570"/>
                            </p:stCondLst>
                            <p:childTnLst>
                              <p:par>
                                <p:cTn id="2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7" dur="500" presetID="10" presetClass="entr" presetSubtype="0" fill="hold" grpId="5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68" dur="1" fill="hold"/>
                                              <p:tgtEl>
                                                <p:spTgt spid="5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69" dur="500"/>
                                              <p:tgtEl>
                                                <p:spTgt spid="5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0" fill="hold">
                            <p:stCondLst>
                              <p:cond delay="585"/>
                            </p:stCondLst>
                            <p:childTnLst>
                              <p:par>
                                <p:cTn id="2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2" dur="500" presetID="10" presetClass="entr" presetSubtype="0" fill="hold" grpId="5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3" dur="1" fill="hold"/>
                                              <p:tgtEl>
                                                <p:spTgt spid="5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74" dur="500"/>
                                              <p:tgtEl>
                                                <p:spTgt spid="5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600"/>
                            </p:stCondLst>
                            <p:childTnLst>
                              <p:par>
                                <p:cTn id="2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7" dur="500" presetID="10" presetClass="entr" presetSubtype="0" fill="hold" grpId="5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8" dur="1" fill="hold"/>
                                              <p:tgtEl>
                                                <p:spTgt spid="6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79" dur="500"/>
                                              <p:tgtEl>
                                                <p:spTgt spid="6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0" fill="hold">
                            <p:stCondLst>
                              <p:cond delay="615"/>
                            </p:stCondLst>
                            <p:childTnLst>
                              <p:par>
                                <p:cTn id="2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82" dur="500" presetID="10" presetClass="entr" presetSubtype="0" fill="hold" grpId="5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83" dur="1" fill="hold"/>
                                              <p:tgtEl>
                                                <p:spTgt spid="6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4" dur="500"/>
                                              <p:tgtEl>
                                                <p:spTgt spid="6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630"/>
                            </p:stCondLst>
                            <p:childTnLst>
                              <p:par>
                                <p:cTn id="28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87" dur="500" presetID="10" presetClass="entr" presetSubtype="0" fill="hold" grpId="5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88" dur="1" fill="hold"/>
                                              <p:tgtEl>
                                                <p:spTgt spid="6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9" dur="500"/>
                                              <p:tgtEl>
                                                <p:spTgt spid="6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0" fill="hold">
                            <p:stCondLst>
                              <p:cond delay="645"/>
                            </p:stCondLst>
                            <p:childTnLst>
                              <p:par>
                                <p:cTn id="29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2" dur="500" presetID="10" presetClass="entr" presetSubtype="0" fill="hold" grpId="5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3" dur="1" fill="hold"/>
                                              <p:tgtEl>
                                                <p:spTgt spid="6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94" dur="500"/>
                                              <p:tgtEl>
                                                <p:spTgt spid="6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660"/>
                            </p:stCondLst>
                            <p:childTnLst>
                              <p:par>
                                <p:cTn id="29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7" dur="500" presetID="10" presetClass="entr" presetSubtype="0" fill="hold" grpId="5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8" dur="1" fill="hold"/>
                                              <p:tgtEl>
                                                <p:spTgt spid="6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99" dur="500"/>
                                              <p:tgtEl>
                                                <p:spTgt spid="6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0" fill="hold">
                            <p:stCondLst>
                              <p:cond delay="675"/>
                            </p:stCondLst>
                            <p:childTnLst>
                              <p:par>
                                <p:cTn id="30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02" dur="500" presetID="10" presetClass="entr" presetSubtype="0" fill="hold" grpId="5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03" dur="1" fill="hold"/>
                                              <p:tgtEl>
                                                <p:spTgt spid="6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04" dur="500"/>
                                              <p:tgtEl>
                                                <p:spTgt spid="6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690"/>
                            </p:stCondLst>
                            <p:childTnLst>
                              <p:par>
                                <p:cTn id="3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07" dur="500" presetID="10" presetClass="entr" presetSubtype="0" fill="hold" grpId="6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08" dur="1" fill="hold"/>
                                              <p:tgtEl>
                                                <p:spTgt spid="6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09" dur="500"/>
                                              <p:tgtEl>
                                                <p:spTgt spid="6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0" fill="hold">
                            <p:stCondLst>
                              <p:cond delay="705"/>
                            </p:stCondLst>
                            <p:childTnLst>
                              <p:par>
                                <p:cTn id="3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2" dur="500" presetID="10" presetClass="entr" presetSubtype="0" fill="hold" grpId="6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13" dur="1" fill="hold"/>
                                              <p:tgtEl>
                                                <p:spTgt spid="6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14" dur="500"/>
                                              <p:tgtEl>
                                                <p:spTgt spid="6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5" fill="hold">
                            <p:stCondLst>
                              <p:cond delay="720"/>
                            </p:stCondLst>
                            <p:childTnLst>
                              <p:par>
                                <p:cTn id="3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7" dur="500" presetID="10" presetClass="entr" presetSubtype="0" fill="hold" grpId="6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18" dur="1" fill="hold"/>
                                              <p:tgtEl>
                                                <p:spTgt spid="6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19" dur="500"/>
                                              <p:tgtEl>
                                                <p:spTgt spid="6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735"/>
                            </p:stCondLst>
                            <p:childTnLst>
                              <p:par>
                                <p:cTn id="3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22" dur="500" presetID="10" presetClass="entr" presetSubtype="0" fill="hold" grpId="6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3" dur="1" fill="hold"/>
                                              <p:tgtEl>
                                                <p:spTgt spid="6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24" dur="500"/>
                                              <p:tgtEl>
                                                <p:spTgt spid="6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5" fill="hold">
                            <p:stCondLst>
                              <p:cond delay="750"/>
                            </p:stCondLst>
                            <p:childTnLst>
                              <p:par>
                                <p:cTn id="32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27" dur="500" presetID="10" presetClass="entr" presetSubtype="0" fill="hold" grpId="6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8" dur="1" fill="hold"/>
                                              <p:tgtEl>
                                                <p:spTgt spid="7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29" dur="500"/>
                                              <p:tgtEl>
                                                <p:spTgt spid="7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0" fill="hold">
                            <p:stCondLst>
                              <p:cond delay="765"/>
                            </p:stCondLst>
                            <p:childTnLst>
                              <p:par>
                                <p:cTn id="33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32" dur="500" presetID="10" presetClass="entr" presetSubtype="0" fill="hold" grpId="6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33" dur="1" fill="hold"/>
                                              <p:tgtEl>
                                                <p:spTgt spid="7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4" dur="500"/>
                                              <p:tgtEl>
                                                <p:spTgt spid="7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5" fill="hold">
                            <p:stCondLst>
                              <p:cond delay="780"/>
                            </p:stCondLst>
                            <p:childTnLst>
                              <p:par>
                                <p:cTn id="33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37" dur="500" presetID="10" presetClass="entr" presetSubtype="0" fill="hold" grpId="6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38" dur="1" fill="hold"/>
                                              <p:tgtEl>
                                                <p:spTgt spid="7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9" dur="500"/>
                                              <p:tgtEl>
                                                <p:spTgt spid="7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795"/>
                            </p:stCondLst>
                            <p:childTnLst>
                              <p:par>
                                <p:cTn id="34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42" dur="500" presetID="10" presetClass="entr" presetSubtype="0" fill="hold" grpId="6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43" dur="1" fill="hold"/>
                                              <p:tgtEl>
                                                <p:spTgt spid="7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44" dur="500"/>
                                              <p:tgtEl>
                                                <p:spTgt spid="7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810"/>
                            </p:stCondLst>
                            <p:childTnLst>
                              <p:par>
                                <p:cTn id="3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47" dur="500" presetID="10" presetClass="entr" presetSubtype="0" fill="hold" grpId="6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48" dur="1" fill="hold"/>
                                              <p:tgtEl>
                                                <p:spTgt spid="7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49" dur="500"/>
                                              <p:tgtEl>
                                                <p:spTgt spid="7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825"/>
                            </p:stCondLst>
                            <p:childTnLst>
                              <p:par>
                                <p:cTn id="3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2" dur="500" presetID="10" presetClass="entr" presetSubtype="0" fill="hold" grpId="6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53" dur="1" fill="hold"/>
                                              <p:tgtEl>
                                                <p:spTgt spid="7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54" dur="500"/>
                                              <p:tgtEl>
                                                <p:spTgt spid="7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5" fill="hold">
                            <p:stCondLst>
                              <p:cond delay="840"/>
                            </p:stCondLst>
                            <p:childTnLst>
                              <p:par>
                                <p:cTn id="3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7" dur="500" presetID="10" presetClass="entr" presetSubtype="0" fill="hold" grpId="7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58" dur="1" fill="hold"/>
                                              <p:tgtEl>
                                                <p:spTgt spid="7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59" dur="500"/>
                                              <p:tgtEl>
                                                <p:spTgt spid="7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0" fill="hold">
                            <p:stCondLst>
                              <p:cond delay="855"/>
                            </p:stCondLst>
                            <p:childTnLst>
                              <p:par>
                                <p:cTn id="3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2" dur="500" presetID="10" presetClass="entr" presetSubtype="0" fill="hold" grpId="7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63" dur="1" fill="hold"/>
                                              <p:tgtEl>
                                                <p:spTgt spid="7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64" dur="500"/>
                                              <p:tgtEl>
                                                <p:spTgt spid="7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5" fill="hold">
                            <p:stCondLst>
                              <p:cond delay="870"/>
                            </p:stCondLst>
                            <p:childTnLst>
                              <p:par>
                                <p:cTn id="3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7" dur="500" presetID="10" presetClass="entr" presetSubtype="0" fill="hold" grpId="7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68" dur="1" fill="hold"/>
                                              <p:tgtEl>
                                                <p:spTgt spid="7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69" dur="500"/>
                                              <p:tgtEl>
                                                <p:spTgt spid="7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0" fill="hold">
                            <p:stCondLst>
                              <p:cond delay="885"/>
                            </p:stCondLst>
                            <p:childTnLst>
                              <p:par>
                                <p:cTn id="3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72" dur="500" presetID="10" presetClass="entr" presetSubtype="0" fill="hold" grpId="7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3" dur="1" fill="hold"/>
                                              <p:tgtEl>
                                                <p:spTgt spid="7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74" dur="500"/>
                                              <p:tgtEl>
                                                <p:spTgt spid="7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5" fill="hold">
                            <p:stCondLst>
                              <p:cond delay="900"/>
                            </p:stCondLst>
                            <p:childTnLst>
                              <p:par>
                                <p:cTn id="3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77" dur="500" presetID="10" presetClass="entr" presetSubtype="0" fill="hold" grpId="7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8" dur="1" fill="hold"/>
                                              <p:tgtEl>
                                                <p:spTgt spid="8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79" dur="500"/>
                                              <p:tgtEl>
                                                <p:spTgt spid="8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0" fill="hold">
                            <p:stCondLst>
                              <p:cond delay="915"/>
                            </p:stCondLst>
                            <p:childTnLst>
                              <p:par>
                                <p:cTn id="38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82" dur="500" presetID="10" presetClass="entr" presetSubtype="0" fill="hold" grpId="7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83" dur="1" fill="hold"/>
                                              <p:tgtEl>
                                                <p:spTgt spid="8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4" dur="500"/>
                                              <p:tgtEl>
                                                <p:spTgt spid="8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930"/>
                            </p:stCondLst>
                            <p:childTnLst>
                              <p:par>
                                <p:cTn id="38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87" dur="500" presetID="10" presetClass="entr" presetSubtype="0" fill="hold" grpId="7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88" dur="1" fill="hold"/>
                                              <p:tgtEl>
                                                <p:spTgt spid="8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9" dur="500"/>
                                              <p:tgtEl>
                                                <p:spTgt spid="8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0" fill="hold">
                            <p:stCondLst>
                              <p:cond delay="945"/>
                            </p:stCondLst>
                            <p:childTnLst>
                              <p:par>
                                <p:cTn id="39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92" dur="500" presetID="10" presetClass="entr" presetSubtype="0" fill="hold" grpId="7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93" dur="1" fill="hold"/>
                                              <p:tgtEl>
                                                <p:spTgt spid="8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94" dur="500"/>
                                              <p:tgtEl>
                                                <p:spTgt spid="8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960"/>
                            </p:stCondLst>
                            <p:childTnLst>
                              <p:par>
                                <p:cTn id="39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97" dur="500" presetID="10" presetClass="entr" presetSubtype="0" fill="hold" grpId="7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98" dur="1" fill="hold"/>
                                              <p:tgtEl>
                                                <p:spTgt spid="8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99" dur="500"/>
                                              <p:tgtEl>
                                                <p:spTgt spid="8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0" fill="hold">
                            <p:stCondLst>
                              <p:cond delay="975"/>
                            </p:stCondLst>
                            <p:childTnLst>
                              <p:par>
                                <p:cTn id="40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02" dur="500" presetID="10" presetClass="entr" presetSubtype="0" fill="hold" grpId="7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03" dur="1" fill="hold"/>
                                              <p:tgtEl>
                                                <p:spTgt spid="8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04" dur="500"/>
                                              <p:tgtEl>
                                                <p:spTgt spid="8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5" fill="hold">
                            <p:stCondLst>
                              <p:cond delay="990"/>
                            </p:stCondLst>
                            <p:childTnLst>
                              <p:par>
                                <p:cTn id="4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07" dur="500" presetID="10" presetClass="entr" presetSubtype="0" fill="hold" grpId="8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08" dur="1" fill="hold"/>
                                              <p:tgtEl>
                                                <p:spTgt spid="8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09" dur="500"/>
                                              <p:tgtEl>
                                                <p:spTgt spid="8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0" fill="hold">
                            <p:stCondLst>
                              <p:cond delay="1005"/>
                            </p:stCondLst>
                            <p:childTnLst>
                              <p:par>
                                <p:cTn id="4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2" dur="500" presetID="10" presetClass="entr" presetSubtype="0" fill="hold" grpId="8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13" dur="1" fill="hold"/>
                                              <p:tgtEl>
                                                <p:spTgt spid="8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14" dur="500"/>
                                              <p:tgtEl>
                                                <p:spTgt spid="8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5" fill="hold">
                            <p:stCondLst>
                              <p:cond delay="1020"/>
                            </p:stCondLst>
                            <p:childTnLst>
                              <p:par>
                                <p:cTn id="4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7" dur="500" presetID="10" presetClass="entr" presetSubtype="0" fill="hold" grpId="8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18" dur="1" fill="hold"/>
                                              <p:tgtEl>
                                                <p:spTgt spid="8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19" dur="500"/>
                                              <p:tgtEl>
                                                <p:spTgt spid="8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0" fill="hold">
                            <p:stCondLst>
                              <p:cond delay="1035"/>
                            </p:stCondLst>
                            <p:childTnLst>
                              <p:par>
                                <p:cTn id="4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22" dur="500" presetID="10" presetClass="entr" presetSubtype="0" fill="hold" grpId="8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3" dur="1" fill="hold"/>
                                              <p:tgtEl>
                                                <p:spTgt spid="8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24" dur="500"/>
                                              <p:tgtEl>
                                                <p:spTgt spid="8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5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26" fill="hold">
                            <p:stCondLst>
                              <p:cond delay="0"/>
                            </p:stCondLst>
                            <p:childTnLst>
                              <p:par>
                                <p:cTn id="42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28" dur="500" presetID="10" presetClass="entr" presetSubtype="0" fill="hold" grpId="84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9" dur="1" fill="hold"/>
                                              <p:tgtEl>
                                                <p:spTgt spid="9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0" dur="500"/>
                                              <p:tgtEl>
                                                <p:spTgt spid="9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1" fill="hold">
                            <p:stCondLst>
                              <p:cond delay="100"/>
                            </p:stCondLst>
                            <p:childTnLst>
                              <p:par>
                                <p:cTn id="43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33" dur="500" presetID="10" presetClass="entr" presetSubtype="0" fill="hold" grpId="8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34" dur="1" fill="hold"/>
                                              <p:tgtEl>
                                                <p:spTgt spid="9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5" dur="500"/>
                                              <p:tgtEl>
                                                <p:spTgt spid="9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6" fill="hold">
                            <p:stCondLst>
                              <p:cond delay="200"/>
                            </p:stCondLst>
                            <p:childTnLst>
                              <p:par>
                                <p:cTn id="43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38" dur="500" presetID="10" presetClass="entr" presetSubtype="0" fill="hold" grpId="8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39" dur="1" fill="hold"/>
                                              <p:tgtEl>
                                                <p:spTgt spid="9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40" dur="500"/>
                                              <p:tgtEl>
                                                <p:spTgt spid="9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1" fill="hold">
                            <p:stCondLst>
                              <p:cond delay="300"/>
                            </p:stCondLst>
                            <p:childTnLst>
                              <p:par>
                                <p:cTn id="44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43" dur="500" presetID="10" presetClass="entr" presetSubtype="0" fill="hold" grpId="8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44" dur="1" fill="hold"/>
                                              <p:tgtEl>
                                                <p:spTgt spid="9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45" dur="500"/>
                                              <p:tgtEl>
                                                <p:spTgt spid="9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6" fill="hold">
                            <p:stCondLst>
                              <p:cond delay="400"/>
                            </p:stCondLst>
                            <p:childTnLst>
                              <p:par>
                                <p:cTn id="44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48" dur="500" presetID="10" presetClass="entr" presetSubtype="0" fill="hold" grpId="8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49" dur="1" fill="hold"/>
                                              <p:tgtEl>
                                                <p:spTgt spid="9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50" dur="500"/>
                                              <p:tgtEl>
                                                <p:spTgt spid="9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1" fill="hold">
                            <p:stCondLst>
                              <p:cond delay="500"/>
                            </p:stCondLst>
                            <p:childTnLst>
                              <p:par>
                                <p:cTn id="45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53" dur="500" presetID="10" presetClass="entr" presetSubtype="0" fill="hold" grpId="8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54" dur="1" fill="hold"/>
                                              <p:tgtEl>
                                                <p:spTgt spid="9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55" dur="500"/>
                                              <p:tgtEl>
                                                <p:spTgt spid="9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650"/>
                            </p:stCondLst>
                            <p:childTnLst>
                              <p:par>
                                <p:cTn id="45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58" dur="500" presetID="10" presetClass="entr" presetSubtype="0" fill="hold" grpId="9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59" dur="1" fill="hold"/>
                                              <p:tgtEl>
                                                <p:spTgt spid="9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60" dur="500"/>
                                              <p:tgtEl>
                                                <p:spTgt spid="9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690"/>
                            </p:stCondLst>
                            <p:childTnLst>
                              <p:par>
                                <p:cTn id="46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3" dur="500" presetID="10" presetClass="entr" presetSubtype="0" fill="hold" grpId="9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64" dur="1" fill="hold"/>
                                              <p:tgtEl>
                                                <p:spTgt spid="9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65" dur="500"/>
                                              <p:tgtEl>
                                                <p:spTgt spid="9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6" fill="hold">
                            <p:stCondLst>
                              <p:cond delay="730"/>
                            </p:stCondLst>
                            <p:childTnLst>
                              <p:par>
                                <p:cTn id="46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8" dur="500" presetID="10" presetClass="entr" presetSubtype="0" fill="hold" grpId="9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69" dur="1" fill="hold"/>
                                              <p:tgtEl>
                                                <p:spTgt spid="9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70" dur="500"/>
                                              <p:tgtEl>
                                                <p:spTgt spid="9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1" fill="hold">
                            <p:stCondLst>
                              <p:cond delay="770"/>
                            </p:stCondLst>
                            <p:childTnLst>
                              <p:par>
                                <p:cTn id="47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73" dur="500" presetID="10" presetClass="entr" presetSubtype="0" fill="hold" grpId="9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4" dur="1" fill="hold"/>
                                              <p:tgtEl>
                                                <p:spTgt spid="9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75" dur="500"/>
                                              <p:tgtEl>
                                                <p:spTgt spid="9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6" fill="hold">
                            <p:stCondLst>
                              <p:cond delay="810"/>
                            </p:stCondLst>
                            <p:childTnLst>
                              <p:par>
                                <p:cTn id="47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78" dur="500" presetID="10" presetClass="entr" presetSubtype="0" fill="hold" grpId="9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9" dur="1" fill="hold"/>
                                              <p:tgtEl>
                                                <p:spTgt spid="10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0" dur="500"/>
                                              <p:tgtEl>
                                                <p:spTgt spid="10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1" fill="hold">
                            <p:stCondLst>
                              <p:cond delay="850"/>
                            </p:stCondLst>
                            <p:childTnLst>
                              <p:par>
                                <p:cTn id="48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83" dur="500" presetID="10" presetClass="entr" presetSubtype="0" fill="hold" grpId="9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84" dur="1" fill="hold"/>
                                              <p:tgtEl>
                                                <p:spTgt spid="10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5" dur="500"/>
                                              <p:tgtEl>
                                                <p:spTgt spid="10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6" fill="hold">
                            <p:stCondLst>
                              <p:cond delay="890"/>
                            </p:stCondLst>
                            <p:childTnLst>
                              <p:par>
                                <p:cTn id="48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88" dur="500" presetID="10" presetClass="entr" presetSubtype="0" fill="hold" grpId="9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89" dur="1" fill="hold"/>
                                              <p:tgtEl>
                                                <p:spTgt spid="10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90" dur="500"/>
                                              <p:tgtEl>
                                                <p:spTgt spid="10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1" fill="hold">
                            <p:stCondLst>
                              <p:cond delay="930"/>
                            </p:stCondLst>
                            <p:childTnLst>
                              <p:par>
                                <p:cTn id="49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93" dur="500" presetID="10" presetClass="entr" presetSubtype="0" fill="hold" grpId="9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94" dur="1" fill="hold"/>
                                              <p:tgtEl>
                                                <p:spTgt spid="10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95" dur="500"/>
                                              <p:tgtEl>
                                                <p:spTgt spid="10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6" fill="hold">
                            <p:stCondLst>
                              <p:cond delay="970"/>
                            </p:stCondLst>
                            <p:childTnLst>
                              <p:par>
                                <p:cTn id="49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98" dur="500" presetID="10" presetClass="entr" presetSubtype="0" fill="hold" grpId="9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99" dur="1" fill="hold"/>
                                              <p:tgtEl>
                                                <p:spTgt spid="10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00" dur="500"/>
                                              <p:tgtEl>
                                                <p:spTgt spid="10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1" fill="hold">
                            <p:stCondLst>
                              <p:cond delay="1010"/>
                            </p:stCondLst>
                            <p:childTnLst>
                              <p:par>
                                <p:cTn id="50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03" dur="500" presetID="10" presetClass="entr" presetSubtype="0" fill="hold" grpId="9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04" dur="1" fill="hold"/>
                                              <p:tgtEl>
                                                <p:spTgt spid="10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05" dur="500"/>
                                              <p:tgtEl>
                                                <p:spTgt spid="10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6" fill="hold">
                            <p:stCondLst>
                              <p:cond delay="1050"/>
                            </p:stCondLst>
                            <p:childTnLst>
                              <p:par>
                                <p:cTn id="50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08" dur="500" presetID="10" presetClass="entr" presetSubtype="0" fill="hold" grpId="10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09" dur="1" fill="hold"/>
                                              <p:tgtEl>
                                                <p:spTgt spid="10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10" dur="500"/>
                                              <p:tgtEl>
                                                <p:spTgt spid="10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1" fill="hold">
                            <p:stCondLst>
                              <p:cond delay="1090"/>
                            </p:stCondLst>
                            <p:childTnLst>
                              <p:par>
                                <p:cTn id="51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3" dur="500" presetID="10" presetClass="entr" presetSubtype="0" fill="hold" grpId="10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14" dur="1" fill="hold"/>
                                              <p:tgtEl>
                                                <p:spTgt spid="10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15" dur="500"/>
                                              <p:tgtEl>
                                                <p:spTgt spid="10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6" fill="hold">
                            <p:stCondLst>
                              <p:cond delay="1130"/>
                            </p:stCondLst>
                            <p:childTnLst>
                              <p:par>
                                <p:cTn id="51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8" dur="500" presetID="10" presetClass="entr" presetSubtype="0" fill="hold" grpId="10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19" dur="1" fill="hold"/>
                                              <p:tgtEl>
                                                <p:spTgt spid="10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20" dur="500"/>
                                              <p:tgtEl>
                                                <p:spTgt spid="10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1" fill="hold">
                            <p:stCondLst>
                              <p:cond delay="1170"/>
                            </p:stCondLst>
                            <p:childTnLst>
                              <p:par>
                                <p:cTn id="52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23" dur="500" presetID="10" presetClass="entr" presetSubtype="0" fill="hold" grpId="10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4" dur="1" fill="hold"/>
                                              <p:tgtEl>
                                                <p:spTgt spid="10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25" dur="500"/>
                                              <p:tgtEl>
                                                <p:spTgt spid="10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6" fill="hold">
                            <p:stCondLst>
                              <p:cond delay="1210"/>
                            </p:stCondLst>
                            <p:childTnLst>
                              <p:par>
                                <p:cTn id="52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28" dur="500" presetID="10" presetClass="entr" presetSubtype="0" fill="hold" grpId="10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9" dur="1" fill="hold"/>
                                              <p:tgtEl>
                                                <p:spTgt spid="1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0" dur="500"/>
                                              <p:tgtEl>
                                                <p:spTgt spid="1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1" fill="hold">
                            <p:stCondLst>
                              <p:cond delay="1250"/>
                            </p:stCondLst>
                            <p:childTnLst>
                              <p:par>
                                <p:cTn id="53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33" dur="500" presetID="10" presetClass="entr" presetSubtype="0" fill="hold" grpId="10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4" dur="1" fill="hold"/>
                                              <p:tgtEl>
                                                <p:spTgt spid="1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5" dur="500"/>
                                              <p:tgtEl>
                                                <p:spTgt spid="1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6" fill="hold">
                            <p:stCondLst>
                              <p:cond delay="1350"/>
                            </p:stCondLst>
                            <p:childTnLst>
                              <p:par>
                                <p:cTn id="53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38" dur="500" presetID="10" presetClass="entr" presetSubtype="0" fill="hold" grpId="10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9" dur="1" fill="hold"/>
                                              <p:tgtEl>
                                                <p:spTgt spid="1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40" dur="500"/>
                                              <p:tgtEl>
                                                <p:spTgt spid="1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1" fill="hold">
                            <p:stCondLst>
                              <p:cond delay="1450"/>
                            </p:stCondLst>
                            <p:childTnLst>
                              <p:par>
                                <p:cTn id="54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43" dur="500" presetID="10" presetClass="entr" presetSubtype="0" fill="hold" grpId="10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44" dur="1" fill="hold"/>
                                              <p:tgtEl>
                                                <p:spTgt spid="1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45" dur="500"/>
                                              <p:tgtEl>
                                                <p:spTgt spid="1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Technology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5303520" cy="539496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530352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960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🛠️  Technology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17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React 18 + TypeScript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202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Calibri"/>
              </a:rPr>
              <a:t>State Mgmt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20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TanStack React Query v5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8B5CF6"/>
                </a:solidFill>
                <a:latin typeface="Calibri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Node.js + Express +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95DD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PostgreSQL (structured, relational)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2C55E"/>
                </a:solidFill>
                <a:latin typeface="Calibri"/>
              </a:rPr>
              <a:t>AI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429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Anthropic Claude API (streaming)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9319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JWT with role-based access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434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B923C"/>
                </a:solidFill>
                <a:latin typeface="Calibri"/>
              </a:rP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4348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Docker Compose (self-hosted / cloud)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9377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EE7B7"/>
                </a:solidFill>
                <a:latin typeface="Calibri"/>
              </a:rPr>
              <a:t>Exports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937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CSV import/export, web 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C55E"/>
                </a:solidFill>
                <a:latin typeface="Calibri"/>
              </a:rPr>
              <a:t>✅  Self-hosted: data never leaves your 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868680"/>
            <a:ext cx="5577840" cy="5394960"/>
          </a:xfrm>
          <a:prstGeom prst="rect">
            <a:avLst/>
          </a:prstGeom>
          <a:solidFill>
            <a:srgbClr val="1E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868680"/>
            <a:ext cx="55778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960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🚀  Recommended Next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4173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Calibri"/>
              </a:rPr>
              <a:t>◆  Immediate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7647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Deploy to shared server for team 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11226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Load historical should-cost models from spreadsheets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4597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Configure Anthropic API key for live AI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9169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C55E"/>
                </a:solidFill>
                <a:latin typeface="Calibri"/>
              </a:rPr>
              <a:t>◆  Short-Term (1-3 months)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2644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Pilot on top 20 highest-spend parts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611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Train procurement team on quote analysis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9593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Establish negotiation target discipline via Tracker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4165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923C"/>
                </a:solidFill>
                <a:latin typeface="Calibri"/>
              </a:rPr>
              <a:t>◆  Medium-Term (3-6 months)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7640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Integrate with ERP for live price &amp; volume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511149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Expand AI model with commodity-specific training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4589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   •  Add weekly AI digest to management email reports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400800"/>
            <a:ext cx="11274552" cy="347472"/>
          </a:xfrm>
          <a:prstGeom prst="rect">
            <a:avLst/>
          </a:prstGeom>
          <a:solidFill>
            <a:srgbClr val="0E7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43737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CostLens is live, fully functional, and ready for your team today.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dur="500" presetID="10" presetClass="entr" presetSubtype="0" fill="hold" grpId="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" dur="1" fill="hold"/>
                                              <p:tgtEl>
                                                <p:spTgt spid="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" dur="500"/>
                                              <p:tgtEl>
                                                <p:spTgt spid="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" dur="500" presetID="10" presetClass="entr" presetSubtype="0" fill="hold" grpId="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" dur="500"/>
                                              <p:tgtEl>
                                                <p:spTgt spid="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" dur="500" presetID="10" presetClass="entr" presetSubtype="0" fill="hold" grpId="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" dur="500"/>
                                              <p:tgtEl>
                                                <p:spTgt spid="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2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dur="500" presetID="10" presetClass="entr" presetSubtype="0" fill="hold" grpId="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2" dur="1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3" dur="500"/>
                                              <p:tgtEl>
                                                <p:spTgt spid="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10"/>
                            </p:stCondLst>
                            <p:childTnLst>
                              <p:par>
                                <p:cTn id="2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6" dur="500" presetID="10" presetClass="entr" presetSubtype="0" fill="hold" grpId="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7" dur="1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28" dur="500"/>
                                              <p:tgtEl>
                                                <p:spTgt spid="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90"/>
                            </p:stCondLst>
                            <p:childTnLst>
                              <p:par>
                                <p:cTn id="3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dur="500" presetID="10" presetClass="entr" presetSubtype="0" fill="hold" grpId="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2" dur="1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3" dur="500"/>
                                              <p:tgtEl>
                                                <p:spTgt spid="1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70"/>
                            </p:stCondLst>
                            <p:childTnLst>
                              <p:par>
                                <p:cTn id="3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6" dur="500" presetID="10" presetClass="entr" presetSubtype="0" fill="hold" grpId="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38" dur="500"/>
                                              <p:tgtEl>
                                                <p:spTgt spid="1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"/>
                            </p:stCondLst>
                            <p:childTnLst>
                              <p:par>
                                <p:cTn id="4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dur="500" presetID="10" presetClass="entr" presetSubtype="0" fill="hold" grpId="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2" dur="1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3" dur="500"/>
                                              <p:tgtEl>
                                                <p:spTgt spid="1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30"/>
                            </p:stCondLst>
                            <p:childTnLst>
                              <p:par>
                                <p:cTn id="4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6" dur="500" presetID="10" presetClass="entr" presetSubtype="0" fill="hold" grpId="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7" dur="1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48" dur="500"/>
                                              <p:tgtEl>
                                                <p:spTgt spid="1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10"/>
                            </p:stCondLst>
                            <p:childTnLst>
                              <p:par>
                                <p:cTn id="5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1" dur="500" presetID="10" presetClass="entr" presetSubtype="0" fill="hold" grpId="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2" dur="1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3" dur="500"/>
                                              <p:tgtEl>
                                                <p:spTgt spid="1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90"/>
                            </p:stCondLst>
                            <p:childTnLst>
                              <p:par>
                                <p:cTn id="5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6" dur="500" presetID="10" presetClass="entr" presetSubtype="0" fill="hold" grpId="1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58" dur="500"/>
                                              <p:tgtEl>
                                                <p:spTgt spid="1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870"/>
                            </p:stCondLst>
                            <p:childTnLst>
                              <p:par>
                                <p:cTn id="6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dur="500" presetID="10" presetClass="entr" presetSubtype="0" fill="hold" grpId="1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2" dur="1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3" dur="500"/>
                                              <p:tgtEl>
                                                <p:spTgt spid="1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950"/>
                            </p:stCondLst>
                            <p:childTnLst>
                              <p:par>
                                <p:cTn id="6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6" dur="500" presetID="10" presetClass="entr" presetSubtype="0" fill="hold" grpId="1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7" dur="1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68" dur="500"/>
                                              <p:tgtEl>
                                                <p:spTgt spid="1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30"/>
                            </p:stCondLst>
                            <p:childTnLst>
                              <p:par>
                                <p:cTn id="7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1" dur="500" presetID="10" presetClass="entr" presetSubtype="0" fill="hold" grpId="1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2" dur="1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3" dur="500"/>
                                              <p:tgtEl>
                                                <p:spTgt spid="1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110"/>
                            </p:stCondLst>
                            <p:childTnLst>
                              <p:par>
                                <p:cTn id="7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6" dur="500" presetID="10" presetClass="entr" presetSubtype="0" fill="hold" grpId="1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78" dur="500"/>
                                              <p:tgtEl>
                                                <p:spTgt spid="1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190"/>
                            </p:stCondLst>
                            <p:childTnLst>
                              <p:par>
                                <p:cTn id="8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dur="500" presetID="10" presetClass="entr" presetSubtype="0" fill="hold" grpId="1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2" dur="1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3" dur="500"/>
                                              <p:tgtEl>
                                                <p:spTgt spid="2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270"/>
                            </p:stCondLst>
                            <p:childTnLst>
                              <p:par>
                                <p:cTn id="8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6" dur="500" presetID="10" presetClass="entr" presetSubtype="0" fill="hold" grpId="1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7" dur="1" fill="hold"/>
                                              <p:tgtEl>
                                                <p:spTgt spid="2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88" dur="500"/>
                                              <p:tgtEl>
                                                <p:spTgt spid="2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350"/>
                            </p:stCondLst>
                            <p:childTnLst>
                              <p:par>
                                <p:cTn id="9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1" dur="500" presetID="10" presetClass="entr" presetSubtype="0" fill="hold" grpId="1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2" dur="1" fill="hold"/>
                                              <p:tgtEl>
                                                <p:spTgt spid="2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3" dur="500"/>
                                              <p:tgtEl>
                                                <p:spTgt spid="2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430"/>
                            </p:stCondLst>
                            <p:childTnLst>
                              <p:par>
                                <p:cTn id="95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6" dur="500" presetID="10" presetClass="entr" presetSubtype="0" fill="hold" grpId="1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7" dur="1" fill="hold"/>
                                              <p:tgtEl>
                                                <p:spTgt spid="2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98" dur="500"/>
                                              <p:tgtEl>
                                                <p:spTgt spid="2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10"/>
                            </p:stCondLst>
                            <p:childTnLst>
                              <p:par>
                                <p:cTn id="100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1" dur="500" presetID="10" presetClass="entr" presetSubtype="0" fill="hold" grpId="1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2" dur="1" fill="hold"/>
                                              <p:tgtEl>
                                                <p:spTgt spid="2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3" dur="500"/>
                                              <p:tgtEl>
                                                <p:spTgt spid="2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7" dur="500" presetID="10" presetClass="entr" presetSubtype="0" fill="hold" grpId="20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8" dur="1" fill="hold"/>
                                              <p:tgtEl>
                                                <p:spTgt spid="2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09" dur="500"/>
                                              <p:tgtEl>
                                                <p:spTgt spid="2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2" dur="500" presetID="10" presetClass="entr" presetSubtype="0" fill="hold" grpId="2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3" dur="1" fill="hold"/>
                                              <p:tgtEl>
                                                <p:spTgt spid="2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4" dur="500"/>
                                              <p:tgtEl>
                                                <p:spTgt spid="2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50"/>
                            </p:stCondLst>
                            <p:childTnLst>
                              <p:par>
                                <p:cTn id="11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7" dur="500" presetID="10" presetClass="entr" presetSubtype="0" fill="hold" grpId="2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8" dur="1" fill="hold"/>
                                              <p:tgtEl>
                                                <p:spTgt spid="2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19" dur="500"/>
                                              <p:tgtEl>
                                                <p:spTgt spid="2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30"/>
                            </p:stCondLst>
                            <p:childTnLst>
                              <p:par>
                                <p:cTn id="12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2" dur="500" presetID="10" presetClass="entr" presetSubtype="0" fill="hold" grpId="2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3" dur="1" fill="hold"/>
                                              <p:tgtEl>
                                                <p:spTgt spid="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4" dur="500"/>
                                              <p:tgtEl>
                                                <p:spTgt spid="2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10"/>
                            </p:stCondLst>
                            <p:childTnLst>
                              <p:par>
                                <p:cTn id="12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7" dur="500" presetID="10" presetClass="entr" presetSubtype="0" fill="hold" grpId="2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8" dur="1" fill="hold"/>
                                              <p:tgtEl>
                                                <p:spTgt spid="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29" dur="500"/>
                                              <p:tgtEl>
                                                <p:spTgt spid="2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90"/>
                            </p:stCondLst>
                            <p:childTnLst>
                              <p:par>
                                <p:cTn id="13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2" dur="500" presetID="10" presetClass="entr" presetSubtype="0" fill="hold" grpId="25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3" dur="1" fill="hold"/>
                                              <p:tgtEl>
                                                <p:spTgt spid="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4" dur="500"/>
                                              <p:tgtEl>
                                                <p:spTgt spid="3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70"/>
                            </p:stCondLst>
                            <p:childTnLst>
                              <p:par>
                                <p:cTn id="13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7" dur="500" presetID="10" presetClass="entr" presetSubtype="0" fill="hold" grpId="2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8" dur="1" fill="hold"/>
                                              <p:tgtEl>
                                                <p:spTgt spid="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39" dur="500"/>
                                              <p:tgtEl>
                                                <p:spTgt spid="3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550"/>
                            </p:stCondLst>
                            <p:childTnLst>
                              <p:par>
                                <p:cTn id="14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2" dur="500" presetID="10" presetClass="entr" presetSubtype="0" fill="hold" grpId="27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3" dur="1" fill="hold"/>
                                              <p:tgtEl>
                                                <p:spTgt spid="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4" dur="500"/>
                                              <p:tgtEl>
                                                <p:spTgt spid="32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630"/>
                            </p:stCondLst>
                            <p:childTnLst>
                              <p:par>
                                <p:cTn id="14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47" dur="500" presetID="10" presetClass="entr" presetSubtype="0" fill="hold" grpId="28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8" dur="1" fill="hold"/>
                                              <p:tgtEl>
                                                <p:spTgt spid="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49" dur="500"/>
                                              <p:tgtEl>
                                                <p:spTgt spid="33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710"/>
                            </p:stCondLst>
                            <p:childTnLst>
                              <p:par>
                                <p:cTn id="15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2" dur="500" presetID="10" presetClass="entr" presetSubtype="0" fill="hold" grpId="29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3" dur="1" fill="hold"/>
                                              <p:tgtEl>
                                                <p:spTgt spid="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4" dur="500"/>
                                              <p:tgtEl>
                                                <p:spTgt spid="34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790"/>
                            </p:stCondLst>
                            <p:childTnLst>
                              <p:par>
                                <p:cTn id="15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7" dur="500" presetID="10" presetClass="entr" presetSubtype="0" fill="hold" grpId="30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8" dur="1" fill="hold"/>
                                              <p:tgtEl>
                                                <p:spTgt spid="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59" dur="500"/>
                                              <p:tgtEl>
                                                <p:spTgt spid="35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870"/>
                            </p:stCondLst>
                            <p:childTnLst>
                              <p:par>
                                <p:cTn id="16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2" dur="500" presetID="10" presetClass="entr" presetSubtype="0" fill="hold" grpId="31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3" dur="1" fill="hold"/>
                                              <p:tgtEl>
                                                <p:spTgt spid="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4" dur="500"/>
                                              <p:tgtEl>
                                                <p:spTgt spid="36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950"/>
                            </p:stCondLst>
                            <p:childTnLst>
                              <p:par>
                                <p:cTn id="16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67" dur="500" presetID="10" presetClass="entr" presetSubtype="0" fill="hold" grpId="32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8" dur="1" fill="hold"/>
                                              <p:tgtEl>
                                                <p:spTgt spid="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69" dur="500"/>
                                              <p:tgtEl>
                                                <p:spTgt spid="37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030"/>
                            </p:stCondLst>
                            <p:childTnLst>
                              <p:par>
                                <p:cTn id="171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2" dur="500" presetID="10" presetClass="entr" presetSubtype="0" fill="hold" grpId="33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3" dur="1" fill="hold"/>
                                              <p:tgtEl>
                                                <p:spTgt spid="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4" dur="500"/>
                                              <p:tgtEl>
                                                <p:spTgt spid="38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110"/>
                            </p:stCondLst>
                            <p:childTnLst>
                              <p:par>
                                <p:cTn id="176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77" dur="500" presetID="10" presetClass="entr" presetSubtype="0" fill="hold" grpId="34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8" dur="1" fill="hold"/>
                                              <p:tgtEl>
                                                <p:spTgt spid="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79" dur="500"/>
                                              <p:tgtEl>
                                                <p:spTgt spid="39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evt="onClick" delay="0">
                          <p:tn/>
                        </p:cond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3" dur="500" presetID="10" presetClass="entr" presetSubtype="0" fill="hold" grpId="35" nodeType="click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4" dur="1" fill="hold"/>
                                              <p:tgtEl>
                                                <p:spTgt spid="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85" dur="500"/>
                                              <p:tgtEl>
                                                <p:spTgt spid="40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200"/>
                            </p:stCondLst>
                            <p:childTnLst>
                              <p:par>
                                <p:cTn id="187" fill="hold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88" dur="500" presetID="10" presetClass="entr" presetSubtype="0" fill="hold" grpId="36" nodeType="with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9" dur="1" fill="hold"/>
                                              <p:tgtEl>
                                                <p:spTgt spid="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Effect transition="in" filter="fade">
                                            <p:cBhvr>
                                              <p:cTn id="190" dur="500"/>
                                              <p:tgtEl>
                                                <p:spTgt spid="41"/>
                                              </p:tgtEl>
                                            </p:cBhvr>
                                          </p:animEffec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n/>
                </p:cond>
              </p:prev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