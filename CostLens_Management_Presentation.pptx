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-457200"/>
            <a:ext cx="5029200" cy="82296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645920"/>
            <a:ext cx="2286000" cy="22860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7373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🔭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047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  <a:latin typeface="Calibri"/>
              </a:rPr>
              <a:t>AUTOMOTIVE COST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CostLens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AI-Powered Should-Cost &amp;
Supplier Quote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32004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Presented to Senior Management  ·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2011680" cy="8229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Cost 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5486400"/>
            <a:ext cx="2011680" cy="8229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5532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5×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897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Faster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5486400"/>
            <a:ext cx="2011680" cy="8229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5532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897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AI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Challenge — and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Traditional cost engineering is slow, manual, and disconnected from supplier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274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212080" cy="5120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Calibri"/>
              </a:rPr>
              <a:t>❌  BEFORE CostLens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Spreadsheet-based should-cost models — error-prone &amp; version chaos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Supplier quotes received with no structured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Manual variance analysis takes days, not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95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No visibility into where supplier margins are inflated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Negotiation targets set on gut feel, not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Audit trail and history impossible to maintain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98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•  AI/ML insights require expensive external consultants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760720" cy="5120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alibri"/>
              </a:rPr>
              <a:t>✅  WITH CostLens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Calibri"/>
              </a:rPr>
              <a:t>•  Structured 3-level should-cost models with version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50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alibri"/>
              </a:rPr>
              <a:t>•  Web-based &amp; CSV quote intake with element-by-element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79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Calibri"/>
              </a:rPr>
              <a:t>•  Instant automated variance analysis across all cost elements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095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alibri"/>
              </a:rPr>
              <a:t>•  AI (Claude) flags over-priced elements with severity 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9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Calibri"/>
              </a:rPr>
              <a:t>•  Data-driven negotiation targets with deadline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06907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alibri"/>
              </a:rPr>
              <a:t>•  Full audit trail — who changed what and when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4988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Calibri"/>
              </a:rPr>
              <a:t>•  AI should-cost generation from part description in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End-to-end cost engineering — from build to negotiation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749039" cy="2148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74903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399032"/>
            <a:ext cx="475488" cy="47548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22806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39903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Should-Cost
Modeller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3-level hierarchical cost build-up (Category → Element → Cost Driver). Publish/Archive versioning with full audit trail. GBP/EUR/USD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1234440"/>
            <a:ext cx="3749039" cy="2148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1234440"/>
            <a:ext cx="3749039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1" y="1399032"/>
            <a:ext cx="475488" cy="47548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1" y="1422806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3" y="139903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Supplier
Quote 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1" y="1984248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Web form or CSV import. Element-level quote breakdown. Multiple quotes per part. Status workflow: Submitted → Negotiating → Accepted.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4462" y="1234440"/>
            <a:ext cx="3749039" cy="2148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2" y="1234440"/>
            <a:ext cx="3749039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21622" y="1399032"/>
            <a:ext cx="475488" cy="47548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2" y="1422806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4" y="139903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Cost
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2" y="1984248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Side-by-side should-cost vs. quote variance. Element-level over/under flags. Cross-model cross-supplier analysis. Snapshot history.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29584"/>
            <a:ext cx="3749039" cy="2148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529584"/>
            <a:ext cx="3749039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3694176"/>
            <a:ext cx="475488" cy="47548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17950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6941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Analysis
(Claude)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79392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Instant AI-powered gap analysis. Severity-rated flags (High/Med/Low). Clarifying questions for suppliers. Recommended negotiation 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1" y="3529584"/>
            <a:ext cx="3749039" cy="2148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1" y="3529584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07991" y="369417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1" y="3717950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3" y="36941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Negotiation
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1" y="4279392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Track price targets per part/supplier. Deadline alerts. Potential saving calculator. Mark Agreed/Stalled/Closed.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2" y="3529584"/>
            <a:ext cx="3749039" cy="2148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4462" y="3529584"/>
            <a:ext cx="3749039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21622" y="3694176"/>
            <a:ext cx="475488" cy="475488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2" y="3717950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7694" y="36941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Supplier
Scorecard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2" y="4279392"/>
            <a:ext cx="3520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Multi-dimensional supplier performance scoring. On-time, quality, cost competitiveness. Monthly trend sparklines.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the AI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Powered by Anthropic's Claude — the same AI used by Fortune 500 procurement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234440"/>
            <a:ext cx="2148840" cy="4206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34440"/>
            <a:ext cx="214884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76272" y="132588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4173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0312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Calibri"/>
              </a:rPr>
              <a:t>Cost
Comparison
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1929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Buyer builds should-cost model and uploads supplier quote. System calculates element-level variance.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4211" y="3063240"/>
            <a:ext cx="7680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234440"/>
            <a:ext cx="2148840" cy="4206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234440"/>
            <a:ext cx="21488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132588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4173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10312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AI Prompt
Engineered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2807208"/>
            <a:ext cx="1929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CostLens compiles part data, variances, and commodity context into a structured prompt for Claude.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2779" y="3063240"/>
            <a:ext cx="7680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1234440"/>
            <a:ext cx="2148840" cy="4206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56048" y="1234440"/>
            <a:ext cx="2148840" cy="64008"/>
          </a:xfrm>
          <a:prstGeom prst="rect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93408" y="1325880"/>
            <a:ext cx="320040" cy="320040"/>
          </a:xfrm>
          <a:prstGeom prst="ellipse">
            <a:avLst/>
          </a:prstGeom>
          <a:solidFill>
            <a:srgbClr val="069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14173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10312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95DD"/>
                </a:solidFill>
                <a:latin typeface="Calibri"/>
              </a:rPr>
              <a:t>Claude API
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2807208"/>
            <a:ext cx="1929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Claude analyses the cost data in real-time via streaming. Response appears word-by-word instantly.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1347" y="3063240"/>
            <a:ext cx="7680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14616" y="1234440"/>
            <a:ext cx="2148840" cy="4206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14616" y="1234440"/>
            <a:ext cx="214884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51976" y="1325880"/>
            <a:ext cx="320040" cy="3200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4616" y="14173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6056" y="210312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923C"/>
                </a:solidFill>
                <a:latin typeface="Calibri"/>
              </a:rPr>
              <a:t>Structured
Insight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2807208"/>
            <a:ext cx="1929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AI returns: executive summary, flagged elements with severity, supplier questions, recommended actions.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15" y="3063240"/>
            <a:ext cx="7680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73184" y="1234440"/>
            <a:ext cx="2148840" cy="42062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73184" y="1234440"/>
            <a:ext cx="214884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210544" y="132588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10544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73184" y="14173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64624" y="210312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Calibri"/>
              </a:rPr>
              <a:t>Buyer
Takes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2912" y="2807208"/>
            <a:ext cx="1929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Buyer uses AI flags to drive negotiation targets, raise RFQs, or escalate to management.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577840"/>
            <a:ext cx="11274552" cy="7315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Calibri"/>
              </a:rPr>
              <a:t>💡  Real-time streaming: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6692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The AI response streams word-by-word directly into the CostLens interface — no waiting for a full response. If no API key is configured, a built-in intelligent mock provides full functionality for demonstrations.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Benefits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Measurable impact on productivity, cost reduction, and decision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51760" cy="1417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51760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2C55E"/>
                </a:solidFill>
                <a:latin typeface="Calibri"/>
              </a:rPr>
              <a:t>30–40%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Cost Savings
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vs. quoted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6911452400" y="1234440"/>
            <a:ext cx="2651760" cy="1417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6911452400" y="1234440"/>
            <a:ext cx="26517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691145240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  <a:latin typeface="Calibri"/>
              </a:rPr>
              <a:t>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691145240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Faster Quote
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691145240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hours →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3822447600" y="1234440"/>
            <a:ext cx="2651760" cy="1417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3822447600" y="1234440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382244760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382244760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Audit Trail
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382244760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full change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0733442800" y="1234440"/>
            <a:ext cx="2651760" cy="14173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00733442800" y="1234440"/>
            <a:ext cx="2651760" cy="502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0733442800" y="1325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923C"/>
                </a:solidFill>
                <a:latin typeface="Calibri"/>
              </a:rPr>
              <a:t>£000s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073344280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Annual Saving
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073344280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negotiation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34640"/>
            <a:ext cx="5394960" cy="23774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834640"/>
            <a:ext cx="53949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🏎️  Procurement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3649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Quote analysis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3649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38BDF8"/>
                </a:solidFill>
                <a:latin typeface="Calibri"/>
              </a:rPr>
              <a:t>2 days →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856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Should-cost build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7856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38BDF8"/>
                </a:solidFill>
                <a:latin typeface="Calibri"/>
              </a:rPr>
              <a:t>1 week → 2 hrs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2062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AI insight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206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38BDF8"/>
                </a:solidFill>
                <a:latin typeface="Calibri"/>
              </a:rPr>
              <a:t>instant 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6268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Negotiation prep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6268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38BDF8"/>
                </a:solidFill>
                <a:latin typeface="Calibri"/>
              </a:rPr>
              <a:t>data-ready in seconds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00377353200" y="2834640"/>
            <a:ext cx="5394960" cy="23774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00377353200" y="2834640"/>
            <a:ext cx="5394960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037749036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💰  Cost Reduction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0377490360" y="33649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Identify inflated margins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0380370720" y="33649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2C55E"/>
                </a:solidFill>
                <a:latin typeface="Calibri"/>
              </a:rPr>
              <a:t>element-level flags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0377490360" y="37856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AI-flagged over-pricing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0380370720" y="37856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2C55E"/>
                </a:solidFill>
                <a:latin typeface="Calibri"/>
              </a:rPr>
              <a:t>High/Med/Low severity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0377490360" y="42062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Structured negotiation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0380370720" y="4206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2C55E"/>
                </a:solidFill>
                <a:latin typeface="Calibri"/>
              </a:rPr>
              <a:t>target vs. current price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0377490360" y="46268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Annual saving visibility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0380370720" y="46268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22C55E"/>
                </a:solidFill>
                <a:latin typeface="Calibri"/>
              </a:rPr>
              <a:t>full pipeline 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274269253840"/>
            <a:ext cx="5394960" cy="23774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2274269253840"/>
            <a:ext cx="53949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2274269345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📈  Decision Quality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22742697841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Evidence-based targets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22742697841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9E0B"/>
                </a:solidFill>
                <a:latin typeface="Calibri"/>
              </a:rPr>
              <a:t>not gut feel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22742702048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Cross-model benchmarking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22742702048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9E0B"/>
                </a:solidFill>
                <a:latin typeface="Calibri"/>
              </a:rPr>
              <a:t>compare similar parts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22742706254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Supplier scorecards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2274270625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9E0B"/>
                </a:solidFill>
                <a:latin typeface="Calibri"/>
              </a:rPr>
              <a:t>multi-factor rating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22742710460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Management dashboards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2274271046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59E0B"/>
                </a:solidFill>
                <a:latin typeface="Calibri"/>
              </a:rPr>
              <a:t>live KPI tiles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00377353200" y="2274269253840"/>
            <a:ext cx="5394960" cy="23774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00377353200" y="2274269253840"/>
            <a:ext cx="5394960" cy="502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00377490360" y="2274269345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🔒  Compliance &amp; Control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0377490360" y="22742697841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Version audit trail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0380370720" y="22742697841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B923C"/>
                </a:solidFill>
                <a:latin typeface="Calibri"/>
              </a:rPr>
              <a:t>who changed what/when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0377490360" y="22742702048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Status workflow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0380370720" y="22742702048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B923C"/>
                </a:solidFill>
                <a:latin typeface="Calibri"/>
              </a:rPr>
              <a:t>Draft → Published → Archived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00377490360" y="22742706254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Role-based access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0380370720" y="2274270625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B923C"/>
                </a:solidFill>
                <a:latin typeface="Calibri"/>
              </a:rPr>
              <a:t>Admin / Buyer / Supplier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00377490360" y="22742710460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  Data sovereignty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0380370720" y="2274271046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FB923C"/>
                </a:solidFill>
                <a:latin typeface="Calibri"/>
              </a:rPr>
              <a:t>self-hosted on-premises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Sample Reports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Everything your team sees in CostLens — representative data for a brake disc 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5120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Calibri"/>
              </a:rPr>
              <a:t>📐  Should-Cost Breakup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Part: BRK-2001  Front Brake Disc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RAW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659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38BDF8"/>
                </a:solidFill>
                <a:latin typeface="Calibri"/>
              </a:rPr>
              <a:t>GBP 4.82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9514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Steel coil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951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GBP 3.10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24327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Alloy additives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24327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GBP 1.72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24327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alibri"/>
              </a:rP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9535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06B6D4"/>
                </a:solidFill>
                <a:latin typeface="Calibri"/>
              </a:rPr>
              <a:t>GBP 5.60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95351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37%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826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2826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GBP 2.40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8269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1188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Machining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61188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GBP 1.90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61188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94106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Surface treat.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9410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GBP 1.30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4106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7024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923C"/>
                </a:solidFill>
                <a:latin typeface="Calibri"/>
              </a:rPr>
              <a:t>OVERHEAD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2702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B923C"/>
                </a:solidFill>
                <a:latin typeface="Calibri"/>
              </a:rPr>
              <a:t>GBP 1.95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27024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9943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59943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Calibri"/>
              </a:rPr>
              <a:t>GBP 1.20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59943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92861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C55E"/>
                </a:solidFill>
                <a:latin typeface="Calibri"/>
              </a:rPr>
              <a:t>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92861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2C55E"/>
                </a:solidFill>
                <a:latin typeface="Calibri"/>
              </a:rPr>
              <a:t>GBP 1.53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92861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257799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─────────────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525779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─────────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257799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───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58698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58698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GBP 15.10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58698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1188720"/>
            <a:ext cx="3566160" cy="5120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1188720"/>
            <a:ext cx="3566160" cy="502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923C"/>
                </a:solidFill>
                <a:latin typeface="Calibri"/>
              </a:rPr>
              <a:t>⚖️  Quote vs. Should-Cost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16642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Supplier: Leamington Forge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1938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Element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19385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Should-Cost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193852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Quote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19385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Var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226771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Raw Material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2267712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4.82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226771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5.90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226771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87171"/>
                </a:solidFill>
                <a:latin typeface="Calibri"/>
              </a:rPr>
              <a:t>+1.08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25968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Manufacturing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0" y="2596896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5.60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259689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5.80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259689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59E0B"/>
                </a:solidFill>
                <a:latin typeface="Calibri"/>
              </a:rPr>
              <a:t>+0.20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29260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  Casting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0" y="2926080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2.40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292608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3.10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29260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87171"/>
                </a:solidFill>
                <a:latin typeface="Calibri"/>
              </a:rPr>
              <a:t>+0.70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325526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  Machining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3255263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1.90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3255263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1.75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8040" y="3255263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2C55E"/>
                </a:solidFill>
                <a:latin typeface="Calibri"/>
              </a:rPr>
              <a:t>-0.15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3584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Overhead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5000" y="3584448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1.95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358444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2.40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35844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B923C"/>
                </a:solidFill>
                <a:latin typeface="Calibri"/>
              </a:rPr>
              <a:t>+0.45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43400" y="391363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Logistics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15000" y="3913631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1.20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0" y="3913631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3913631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2C55E"/>
                </a:solidFill>
                <a:latin typeface="Calibri"/>
              </a:rPr>
              <a:t>-0.20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3400" y="424281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Profit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15000" y="4242816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1.53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42428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2.30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78040" y="42428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87171"/>
                </a:solidFill>
                <a:latin typeface="Calibri"/>
              </a:rPr>
              <a:t>+0.77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43400" y="45720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─────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15000" y="4572000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────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92240" y="457200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────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78040" y="45720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94A3B8"/>
                </a:solidFill>
                <a:latin typeface="Calibri"/>
              </a:rPr>
              <a:t>────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43400" y="4901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0" y="4901183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Calibri"/>
              </a:rPr>
              <a:t>15.10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4901183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18.40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78040" y="4901183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87171"/>
                </a:solidFill>
                <a:latin typeface="Calibri"/>
              </a:rPr>
              <a:t>+3.30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55279" y="1188720"/>
            <a:ext cx="3566160" cy="5120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55279" y="1188720"/>
            <a:ext cx="3566160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92439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2C55E"/>
                </a:solidFill>
                <a:latin typeface="Calibri"/>
              </a:rPr>
              <a:t>🤖  AI Analysis Output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92439" y="17190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  <a:latin typeface="Calibri"/>
              </a:rPr>
              <a:t>Summary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92439" y="1993392"/>
            <a:ext cx="3383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2E8F0"/>
                </a:solidFill>
                <a:latin typeface="Calibri"/>
              </a:rPr>
              <a:t>"The quote of GBP 18.40 exceeds the should-cost model by 21.9% (GBP 3.30). The most significant overcharges are in Raw Material castings (+29%) and Profit margin (+50% above model). Strong case for negotiation."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92439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  <a:latin typeface="Calibri"/>
              </a:rPr>
              <a:t>Flagged Elements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92439" y="3456432"/>
            <a:ext cx="640080" cy="2560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92439" y="34564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87171"/>
                </a:solidFill>
                <a:latin typeface="Calibri"/>
              </a:rPr>
              <a:t>🔴 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78239" y="34564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Casting cost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78239" y="371246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29% above model — request process breakdown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92439" y="3968496"/>
            <a:ext cx="640080" cy="2560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92439" y="39684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87171"/>
                </a:solidFill>
                <a:latin typeface="Calibri"/>
              </a:rPr>
              <a:t>🔴 HIGH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78239" y="396849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Profit margin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78239" y="42245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50% above agreed 10% — challenge with data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92439" y="4480560"/>
            <a:ext cx="640080" cy="2560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92439" y="44805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  <a:latin typeface="Calibri"/>
              </a:rPr>
              <a:t>🟡 MED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78239" y="44805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Overhead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78239" y="47365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23% inflated — request overhead allocation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92439" y="4992624"/>
            <a:ext cx="640080" cy="2560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92439" y="4992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2C55E"/>
                </a:solidFill>
                <a:latin typeface="Calibri"/>
              </a:rPr>
              <a:t>🟢 LOW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78239" y="499262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Machining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78239" y="5248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Under-cost — no action needed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2439" y="55595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  <a:latin typeface="Calibri"/>
              </a:rPr>
              <a:t>Recommended Action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92439" y="583387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E7B7"/>
                </a:solidFill>
                <a:latin typeface="Calibri"/>
              </a:rPr>
              <a:t>• Request itemised casting cost breakdown
• Challenge profit at agreed 10% rate
• Counter-offer: GBP 15.80 target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303520" cy="53949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5303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🛠️ 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React 18 + TypeScript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State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TanStack React Query v5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Node.js + Express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95DD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PostgreSQL (structured, relational)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Calibri"/>
              </a:rP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429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Anthropic Claude API (streaming)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31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JWT with role-based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923C"/>
                </a:solidFill>
                <a:latin typeface="Calibri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Docker Compose (self-hosted / cloud)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37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E7B7"/>
                </a:solidFill>
                <a:latin typeface="Calibri"/>
              </a:rPr>
              <a:t>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937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CSV import/export, web 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  <a:latin typeface="Calibri"/>
              </a:rPr>
              <a:t>✅  Self-hosted: data never leaves your infrastructure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868680"/>
            <a:ext cx="5577840" cy="53949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868680"/>
            <a:ext cx="55778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960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🚀  Recommended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Calibri"/>
              </a:rPr>
              <a:t>◆  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647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Deploy to shared server for team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1122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Load historical should-cost models from spreadsheets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4597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Configure Anthropic API key for live AI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916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◆  Short-Term (1-3 months)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264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Pilot on top 20 highest-spend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611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Train procurement team on quote analysis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959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Establish negotiation target discipline via Tracker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4165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B923C"/>
                </a:solidFill>
                <a:latin typeface="Calibri"/>
              </a:rPr>
              <a:t>◆  Medium-Term (3-6 months)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764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Integrate with ERP for live price &amp; volume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111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Expand AI model with commodity-specific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458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   •  Add weekly AI digest to management email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00800"/>
            <a:ext cx="11274552" cy="347472"/>
          </a:xfrm>
          <a:prstGeom prst="rect">
            <a:avLst/>
          </a:prstGeom>
          <a:solidFill>
            <a:srgbClr val="0E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4373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CostLens is live, fully functional, and ready for your team today.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