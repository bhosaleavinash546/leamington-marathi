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star of the show, so spend the time here. The flow in one sentence: pick a system — say Body Structure — set volume, region and vehicle type, and in minutes you get a full set of costed, ranked ideas. Then the four things that make it different from asking a chatbot. First, it's grounded: it searches live prices and carries a curated knowledge base of proven levers for thirteen vehicle domains — so ideas cite real OEM practice, not generic advice. Second, it learns US: what we approve and confirm in production feeds back as positive examples, and it deliberately aims at the white space in our own idea library. Third, Deep Mode: a panel of three AI experts — manufacturing, commercial, quality — critiques every idea, they compete in a tournament, and anything weak gets one repair attempt that only survives if the engine re-confirms it. Fourth, the output is defensible: point at the example card — the saving chip, and below it the engine's own recomputed cost. That green verified tag is the whole philosophy: AI proposes, the engine verifies. Mention the bottom strip only in passing — the demo will show the rest of the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answers 'how is this different from asking a chatbot for ideas?' The answer: methodology as software. Each of these eleven is a genuine engineering method implemented as deterministic code — TRIZ actually walks the contradiction matrix, DFA actually computes the Boothroyd-Dewhurst minimum part count, the FAST matrix enforces that component costs map onto functions and sum correctly. The AI's job is the last mile: turning the method's output into concrete embodiments for your specific part, which the cost engine then checks. Call out the three newest, because they're the most 'cost-engineering-native': the FAST function-cost matrix — the classical VE core; the Spec and Tolerance Challenge, where relaxation savings are computed by the engine itself and safety-critical characteristics are locked in code so the AI can never propose touching them; and Teardown Delta — benchmark your part attribute-by-attribute and turn every gap into an idea. The twelfth tile reminds them all of this is also available as one-click lenses on any analysis. Then the bottom band: the proof numbers are measured and CI-gated, not marketing — and go straight into the demo from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18.png"/><Relationship Id="rId15" Type="http://schemas.openxmlformats.org/officeDocument/2006/relationships/image" Target="../media/image19.png"/><Relationship Id="rId16" Type="http://schemas.openxmlformats.org/officeDocument/2006/relationships/image" Target="../media/image20.png"/><Relationship Id="rId17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00584" cy="475488"/>
          </a:xfrm>
          <a:prstGeom prst="rect">
            <a:avLst/>
          </a:prstGeom>
          <a:solidFill>
            <a:srgbClr val="B476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D9488"/>
                </a:solidFill>
                <a:latin typeface="Segoe UI Semibold"/>
              </a:rPr>
              <a:t>THE HEADLINE CAPABILITY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7548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273C"/>
                </a:solidFill>
                <a:latin typeface="Segoe UI Semibold"/>
              </a:rPr>
              <a:t>AI Idea Generation — Grounded, Learning, Verified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D9488"/>
                </a:solidFill>
                <a:latin typeface="Segoe UI"/>
              </a:rPr>
              <a:t>BrainSpark</a:t>
            </a:r>
            <a:r>
              <a:rPr sz="900" b="0">
                <a:solidFill>
                  <a:srgbClr val="8390A1"/>
                </a:solidFill>
                <a:latin typeface="Segoe UI"/>
              </a:rPr>
              <a:t>  ·  AI-Powered Cost Engineering Platform  ·  Avinash Bhosale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647395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390A1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>
                <a:solidFill>
                  <a:srgbClr val="374558"/>
                </a:solidFill>
                <a:latin typeface="Segoe UI"/>
              </a:rPr>
              <a:t>Pick a vehicle system, set volume, region and vehicle type — get a full set of </a:t>
            </a:r>
            <a:r>
              <a:rPr sz="1400" b="1">
                <a:solidFill>
                  <a:srgbClr val="0D9488"/>
                </a:solidFill>
                <a:latin typeface="Segoe UI Semibold"/>
              </a:rPr>
              <a:t>costed, ranked, engine-checked cost-reduction ideas</a:t>
            </a:r>
            <a:r>
              <a:rPr sz="1400" b="0">
                <a:solidFill>
                  <a:srgbClr val="374558"/>
                </a:solidFill>
                <a:latin typeface="Segoe UI"/>
              </a:rPr>
              <a:t> in minutes. </a:t>
            </a:r>
            <a:r>
              <a:rPr sz="1400" b="1">
                <a:solidFill>
                  <a:srgbClr val="B47609"/>
                </a:solidFill>
                <a:latin typeface="Segoe UI Semibold"/>
              </a:rPr>
              <a:t>AI proposes; the engine verifies; nothing is invented.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457200" cy="4572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l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" y="2061972"/>
            <a:ext cx="265176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70432" y="192938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73C"/>
                </a:solidFill>
                <a:latin typeface="Segoe UI Semibold"/>
              </a:rPr>
              <a:t>Grounded, not guessed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249424"/>
            <a:ext cx="550468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56477"/>
                </a:solidFill>
                <a:latin typeface="Segoe UI"/>
              </a:rPr>
              <a:t>Live web search for current prices and innovations + a curated knowledge base of proven levers across 13 vehicle domains, with OEM &amp; teardown benchmarks.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35808"/>
            <a:ext cx="457200" cy="457200"/>
          </a:xfrm>
          <a:prstGeom prst="roundRect">
            <a:avLst/>
          </a:prstGeom>
          <a:solidFill>
            <a:srgbClr val="B476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" y="3131820"/>
            <a:ext cx="265176" cy="2651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70432" y="2999232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73C"/>
                </a:solidFill>
                <a:latin typeface="Segoe UI Semibold"/>
              </a:rPr>
              <a:t>Learns your organisation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319272"/>
            <a:ext cx="550468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56477"/>
                </a:solidFill>
                <a:latin typeface="Segoe UI"/>
              </a:rPr>
              <a:t>Ideas you approve or confirm in production feed back as positive examples; the AI targets gaps in the 1,600+ idea library and auto-merges near-duplicates.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05656"/>
            <a:ext cx="457200" cy="457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" y="4201668"/>
            <a:ext cx="265176" cy="2651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70432" y="406908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73C"/>
                </a:solidFill>
                <a:latin typeface="Segoe UI Semibold"/>
              </a:rPr>
              <a:t>Deep Mode (opt-in)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389120"/>
            <a:ext cx="550468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56477"/>
                </a:solidFill>
                <a:latin typeface="Segoe UI"/>
              </a:rPr>
              <a:t>A 3-persona expert panel — manufacturing, supplier-commercial, quality — critiques every idea; a tournament ranks them; weak ideas get one engine-verified repair.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75504"/>
            <a:ext cx="457200" cy="45720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ad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" y="5271516"/>
            <a:ext cx="265176" cy="2651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70432" y="5138928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73C"/>
                </a:solidFill>
                <a:latin typeface="Segoe UI Semibold"/>
              </a:rPr>
              <a:t>Ranked &amp; defensible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5458968"/>
            <a:ext cx="550468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56477"/>
                </a:solidFill>
                <a:latin typeface="Segoe UI"/>
              </a:rPr>
              <a:t>Explainable ranking: annual value × payback × validation quality × engine cross-check — every factor visible on the idea card, every boost labelled.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1920240"/>
            <a:ext cx="47091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223760" y="2048256"/>
            <a:ext cx="292608" cy="292608"/>
          </a:xfrm>
          <a:prstGeom prst="roundRect">
            <a:avLst/>
          </a:prstGeom>
          <a:solidFill>
            <a:srgbClr val="B476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6429" y="2100925"/>
            <a:ext cx="187270" cy="18727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607808" y="2084831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8390A1"/>
                </a:solidFill>
                <a:latin typeface="Segoe UI Semibold"/>
              </a:rPr>
              <a:t>WHAT AN IDEA LOOKS LIKE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23760" y="2432304"/>
            <a:ext cx="4160520" cy="1481328"/>
          </a:xfrm>
          <a:prstGeom prst="roundRect">
            <a:avLst/>
          </a:prstGeom>
          <a:solidFill>
            <a:srgbClr val="F3F5F9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0" y="2560320"/>
            <a:ext cx="37947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273C"/>
                </a:solidFill>
                <a:latin typeface="Segoe UI Semibold"/>
              </a:rPr>
              <a:t>One-piece hot-stamped B-pillar tailored blank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127248"/>
            <a:ext cx="3794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56477"/>
                </a:solidFill>
                <a:latin typeface="Segoe UI"/>
              </a:rPr>
              <a:t>Deletes 14 welds + 2 dies · −0.9 kg/vehicle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06640" y="3456432"/>
            <a:ext cx="1234440" cy="329184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3474720"/>
            <a:ext cx="1234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£2.04M/yr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32520" y="3456432"/>
            <a:ext cx="914400" cy="329184"/>
          </a:xfrm>
          <a:prstGeom prst="roundRect">
            <a:avLst/>
          </a:prstGeom>
          <a:solidFill>
            <a:srgbClr val="B476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32520" y="3474720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High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38360" y="3456432"/>
            <a:ext cx="1234440" cy="329184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3474720"/>
            <a:ext cx="1234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✓ Verified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406908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8390A1"/>
                </a:solidFill>
                <a:latin typeface="Segoe UI Semibold"/>
              </a:rPr>
              <a:t>ENGINE CROSS-CHECK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23760" y="4370832"/>
            <a:ext cx="4160520" cy="841248"/>
          </a:xfrm>
          <a:prstGeom prst="roundRect">
            <a:avLst/>
          </a:prstGeom>
          <a:solidFill>
            <a:srgbClr val="F3F5F9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06640" y="4480560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>
                <a:solidFill>
                  <a:srgbClr val="556477"/>
                </a:solidFill>
                <a:latin typeface="Segoe UI"/>
              </a:rPr>
              <a:t>Should-cost recomputed:  </a:t>
            </a:r>
            <a:r>
              <a:rPr sz="1050" b="1">
                <a:solidFill>
                  <a:srgbClr val="059669"/>
                </a:solidFill>
                <a:latin typeface="Segoe UI Semibold"/>
              </a:rPr>
              <a:t>£17.10</a:t>
            </a:r>
            <a:r>
              <a:rPr sz="1050" b="0">
                <a:solidFill>
                  <a:srgbClr val="556477"/>
                </a:solidFill>
                <a:latin typeface="Segoe UI"/>
              </a:rPr>
              <a:t> vs </a:t>
            </a:r>
            <a:r>
              <a:rPr sz="1050" b="1">
                <a:solidFill>
                  <a:srgbClr val="E11D48"/>
                </a:solidFill>
                <a:latin typeface="Segoe UI Semibold"/>
              </a:rPr>
              <a:t>£23.40</a:t>
            </a:r>
            <a:r>
              <a:rPr sz="1050" b="0">
                <a:solidFill>
                  <a:srgbClr val="374558"/>
                </a:solidFill>
                <a:latin typeface="Segoe UI"/>
              </a:rPr>
              <a:t> baseline — saving confirmed by the deterministic engine.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5349240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56477"/>
                </a:solidFill>
                <a:latin typeface="Segoe UI"/>
              </a:rPr>
              <a:t>Every idea carries provenance: </a:t>
            </a:r>
            <a:r>
              <a:rPr sz="1000" b="1">
                <a:solidFill>
                  <a:srgbClr val="0D9488"/>
                </a:solidFill>
                <a:latin typeface="Segoe UI Semibold"/>
              </a:rPr>
              <a:t>engine-verified · prior-art · similar-to-approved · panel critiques</a:t>
            </a:r>
            <a:r>
              <a:rPr sz="1000" b="0">
                <a:solidFill>
                  <a:srgbClr val="556477"/>
                </a:solidFill>
                <a:latin typeface="Segoe UI"/>
              </a:rPr>
              <a:t> — boosts are never silent.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263640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390A1"/>
                </a:solidFill>
                <a:latin typeface="Segoe UI"/>
              </a:rPr>
              <a:t>Also in the platform:  Should-Cost Engine · CAD → Cost · PCB → BOM → Cost · Marketplace &amp; Savings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00584" cy="475488"/>
          </a:xfrm>
          <a:prstGeom prst="rect">
            <a:avLst/>
          </a:prstGeom>
          <a:solidFill>
            <a:srgbClr val="B476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D9488"/>
                </a:solidFill>
                <a:latin typeface="Segoe UI Semibold"/>
              </a:rPr>
              <a:t>INNOVATION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7548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273C"/>
                </a:solidFill>
                <a:latin typeface="Segoe UI Semibold"/>
              </a:rPr>
              <a:t>Eleven Engineering Methods — Not Chat Prompts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D9488"/>
                </a:solidFill>
                <a:latin typeface="Segoe UI"/>
              </a:rPr>
              <a:t>BrainSpark</a:t>
            </a:r>
            <a:r>
              <a:rPr sz="900" b="0">
                <a:solidFill>
                  <a:srgbClr val="8390A1"/>
                </a:solidFill>
                <a:latin typeface="Segoe UI"/>
              </a:rPr>
              <a:t>  ·  AI-Powered Cost Engineering Platform  ·  Avinash Bhosale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647395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390A1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>
                <a:solidFill>
                  <a:srgbClr val="374558"/>
                </a:solidFill>
                <a:latin typeface="Segoe UI"/>
              </a:rPr>
              <a:t>Classical idea-generation methodology implemented as </a:t>
            </a:r>
            <a:r>
              <a:rPr sz="1350" b="1">
                <a:solidFill>
                  <a:srgbClr val="0D9488"/>
                </a:solidFill>
                <a:latin typeface="Segoe UI Semibold"/>
              </a:rPr>
              <a:t>deterministic logic</a:t>
            </a:r>
            <a:r>
              <a:rPr sz="1350" b="0">
                <a:solidFill>
                  <a:srgbClr val="374558"/>
                </a:solidFill>
                <a:latin typeface="Segoe UI"/>
              </a:rPr>
              <a:t> — the method computes the analysis, the AI turns it into concrete embodiments for your part, the engine checks every figure.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74519"/>
            <a:ext cx="278892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4944" y="2020823"/>
            <a:ext cx="274320" cy="2743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21" y="2070200"/>
            <a:ext cx="175566" cy="1755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78992" y="1984247"/>
            <a:ext cx="2194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>
                <a:solidFill>
                  <a:srgbClr val="16273C"/>
                </a:solidFill>
                <a:latin typeface="Segoe UI Semibold"/>
              </a:rPr>
              <a:t>TRIZ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86583"/>
            <a:ext cx="254203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>
                <a:solidFill>
                  <a:srgbClr val="556477"/>
                </a:solidFill>
                <a:latin typeface="Segoe UI"/>
              </a:rPr>
              <a:t>40 inventive principles + contradiction matrix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65576" y="1874519"/>
            <a:ext cx="278892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11880" y="2020823"/>
            <a:ext cx="274320" cy="274320"/>
          </a:xfrm>
          <a:prstGeom prst="roundRect">
            <a:avLst/>
          </a:prstGeom>
          <a:solidFill>
            <a:srgbClr val="B476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1257" y="2070200"/>
            <a:ext cx="175566" cy="17556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995928" y="1984247"/>
            <a:ext cx="2194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>
                <a:solidFill>
                  <a:srgbClr val="16273C"/>
                </a:solidFill>
                <a:latin typeface="Segoe UI Semibold"/>
              </a:rPr>
              <a:t>Value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2386583"/>
            <a:ext cx="254203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>
                <a:solidFill>
                  <a:srgbClr val="556477"/>
                </a:solidFill>
                <a:latin typeface="Segoe UI"/>
              </a:rPr>
              <a:t>Value index = worth ÷ cost per function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82512" y="1874519"/>
            <a:ext cx="278892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28816" y="2020823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193" y="2070200"/>
            <a:ext cx="175566" cy="17556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12864" y="1984247"/>
            <a:ext cx="2194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>
                <a:solidFill>
                  <a:srgbClr val="16273C"/>
                </a:solidFill>
                <a:latin typeface="Segoe UI Semibold"/>
              </a:rPr>
              <a:t>FAST Function-Cost Matrix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2386583"/>
            <a:ext cx="254203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>
                <a:solidFill>
                  <a:srgbClr val="556477"/>
                </a:solidFill>
                <a:latin typeface="Segoe UI"/>
              </a:rPr>
              <a:t>Component cost mapped onto functions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99448" y="1874519"/>
            <a:ext cx="278892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445752" y="2020823"/>
            <a:ext cx="274320" cy="2743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box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5129" y="2070200"/>
            <a:ext cx="175566" cy="17556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829800" y="1984247"/>
            <a:ext cx="2194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>
                <a:solidFill>
                  <a:srgbClr val="16273C"/>
                </a:solidFill>
                <a:latin typeface="Segoe UI Semibold"/>
              </a:rPr>
              <a:t>DFA / DFMA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5752" y="2386583"/>
            <a:ext cx="254203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>
                <a:solidFill>
                  <a:srgbClr val="556477"/>
                </a:solidFill>
                <a:latin typeface="Segoe UI"/>
              </a:rPr>
              <a:t>Boothroyd-Dewhurst minimum part count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862071"/>
            <a:ext cx="278892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94944" y="3008375"/>
            <a:ext cx="274320" cy="27432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crossha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321" y="3057752"/>
            <a:ext cx="175566" cy="17556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78992" y="2971799"/>
            <a:ext cx="2194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>
                <a:solidFill>
                  <a:srgbClr val="16273C"/>
                </a:solidFill>
                <a:latin typeface="Segoe UI Semibold"/>
              </a:rPr>
              <a:t>Design-to-Cost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" y="3374135"/>
            <a:ext cx="254203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>
                <a:solidFill>
                  <a:srgbClr val="556477"/>
                </a:solidFill>
                <a:latin typeface="Segoe UI"/>
              </a:rPr>
              <a:t>Cost gap allocated across buckets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65576" y="2862071"/>
            <a:ext cx="278892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611880" y="3008375"/>
            <a:ext cx="274320" cy="274320"/>
          </a:xfrm>
          <a:prstGeom prst="round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slid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1257" y="3057752"/>
            <a:ext cx="175566" cy="17556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995928" y="2971799"/>
            <a:ext cx="2194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>
                <a:solidFill>
                  <a:srgbClr val="16273C"/>
                </a:solidFill>
                <a:latin typeface="Segoe UI Semibold"/>
              </a:rPr>
              <a:t>Spec &amp; Tolerance Challenge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1880" y="3374135"/>
            <a:ext cx="254203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>
                <a:solidFill>
                  <a:srgbClr val="556477"/>
                </a:solidFill>
                <a:latin typeface="Segoe UI"/>
              </a:rPr>
              <a:t>Engine-costed relaxations · CTQs locked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82512" y="2862071"/>
            <a:ext cx="278892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528816" y="3008375"/>
            <a:ext cx="274320" cy="2743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compar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8193" y="3057752"/>
            <a:ext cx="175566" cy="17556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912864" y="2971799"/>
            <a:ext cx="2194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>
                <a:solidFill>
                  <a:srgbClr val="16273C"/>
                </a:solidFill>
                <a:latin typeface="Segoe UI Semibold"/>
              </a:rPr>
              <a:t>Teardown Delta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8816" y="3374135"/>
            <a:ext cx="254203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>
                <a:solidFill>
                  <a:srgbClr val="556477"/>
                </a:solidFill>
                <a:latin typeface="Segoe UI"/>
              </a:rPr>
              <a:t>Attribute-by-attribute vs a benchmark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99448" y="2862071"/>
            <a:ext cx="278892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445752" y="3008375"/>
            <a:ext cx="274320" cy="274320"/>
          </a:xfrm>
          <a:prstGeom prst="roundRect">
            <a:avLst/>
          </a:prstGeom>
          <a:solidFill>
            <a:srgbClr val="B476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shuff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95129" y="3057752"/>
            <a:ext cx="175566" cy="17556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829800" y="2971799"/>
            <a:ext cx="2194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>
                <a:solidFill>
                  <a:srgbClr val="16273C"/>
                </a:solidFill>
                <a:latin typeface="Segoe UI Semibold"/>
              </a:rPr>
              <a:t>SCAMPER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45752" y="3374135"/>
            <a:ext cx="254203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>
                <a:solidFill>
                  <a:srgbClr val="556477"/>
                </a:solidFill>
                <a:latin typeface="Segoe UI"/>
              </a:rPr>
              <a:t>Seven-verb structured creativity sweep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3849623"/>
            <a:ext cx="278892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94944" y="3995927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gri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4321" y="4045304"/>
            <a:ext cx="175566" cy="175566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78992" y="3959351"/>
            <a:ext cx="2194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>
                <a:solidFill>
                  <a:srgbClr val="16273C"/>
                </a:solidFill>
                <a:latin typeface="Segoe UI Semibold"/>
              </a:rPr>
              <a:t>Morphological Analysis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" y="4361687"/>
            <a:ext cx="254203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>
                <a:solidFill>
                  <a:srgbClr val="556477"/>
                </a:solidFill>
                <a:latin typeface="Segoe UI"/>
              </a:rPr>
              <a:t>Zwicky concept-space recombination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465576" y="3849623"/>
            <a:ext cx="278892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611880" y="3995927"/>
            <a:ext cx="274320" cy="2743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za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61257" y="4045304"/>
            <a:ext cx="175566" cy="175566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3995928" y="3959351"/>
            <a:ext cx="2194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>
                <a:solidFill>
                  <a:srgbClr val="16273C"/>
                </a:solidFill>
                <a:latin typeface="Segoe UI Semibold"/>
              </a:rPr>
              <a:t>Effects &amp; Evolution Trends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11880" y="4361687"/>
            <a:ext cx="254203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>
                <a:solidFill>
                  <a:srgbClr val="556477"/>
                </a:solidFill>
                <a:latin typeface="Segoe UI"/>
              </a:rPr>
              <a:t>Cheaper physical effects · next-gen jumps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82512" y="3849623"/>
            <a:ext cx="278892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528816" y="3995927"/>
            <a:ext cx="274320" cy="27432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recycl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8193" y="4045304"/>
            <a:ext cx="175566" cy="175566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912864" y="3959351"/>
            <a:ext cx="2194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>
                <a:solidFill>
                  <a:srgbClr val="16273C"/>
                </a:solidFill>
                <a:latin typeface="Segoe UI Semibold"/>
              </a:rPr>
              <a:t>Design for Circularity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28816" y="4361687"/>
            <a:ext cx="254203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>
                <a:solidFill>
                  <a:srgbClr val="556477"/>
                </a:solidFill>
                <a:latin typeface="Segoe UI"/>
              </a:rPr>
              <a:t>Cut cost and meet EU end-of-life rules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299448" y="3849623"/>
            <a:ext cx="278892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445752" y="3995927"/>
            <a:ext cx="274320" cy="274320"/>
          </a:xfrm>
          <a:prstGeom prst="roundRect">
            <a:avLst/>
          </a:prstGeom>
          <a:solidFill>
            <a:srgbClr val="839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layer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95129" y="4045304"/>
            <a:ext cx="175566" cy="175566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9829800" y="3959351"/>
            <a:ext cx="2194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>
                <a:solidFill>
                  <a:srgbClr val="16273C"/>
                </a:solidFill>
                <a:latin typeface="Segoe UI Semibold"/>
              </a:rPr>
              <a:t>+ 9 one-click lenses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45752" y="4361687"/>
            <a:ext cx="254203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>
                <a:solidFill>
                  <a:srgbClr val="556477"/>
                </a:solidFill>
                <a:latin typeface="Segoe UI"/>
              </a:rPr>
              <a:t>Layer onto any analysis — incl. Biomimicry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48640" y="4983480"/>
            <a:ext cx="5669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749808" y="5102352"/>
            <a:ext cx="274320" cy="2743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char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9185" y="5151729"/>
            <a:ext cx="175566" cy="175566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133856" y="51206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390A1"/>
                </a:solidFill>
                <a:latin typeface="Segoe UI Semibold"/>
              </a:rPr>
              <a:t>HELD-OUT ACCURACY — FEATURE-BASED VS MASS ESTIMATE (MAPE, lower is better)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9808" y="5449824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374558"/>
                </a:solidFill>
                <a:latin typeface="Segoe UI Semibold"/>
              </a:rPr>
              <a:t>Machining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600200" y="5440680"/>
            <a:ext cx="1798167" cy="105156"/>
          </a:xfrm>
          <a:prstGeom prst="roundRect">
            <a:avLst/>
          </a:prstGeom>
          <a:solidFill>
            <a:srgbClr val="839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462375" y="5399532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390A1"/>
                </a:solidFill>
                <a:latin typeface="Segoe UI"/>
              </a:rPr>
              <a:t>43.7%  mass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600200" y="5586984"/>
            <a:ext cx="1419606" cy="105156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083814" y="5545836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D9488"/>
                </a:solidFill>
                <a:latin typeface="Segoe UI Semibold"/>
              </a:rPr>
              <a:t>34.5%  feature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9808" y="583387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374558"/>
                </a:solidFill>
                <a:latin typeface="Segoe UI Semibold"/>
              </a:rPr>
              <a:t>Stamping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600200" y="5824728"/>
            <a:ext cx="3077870" cy="105156"/>
          </a:xfrm>
          <a:prstGeom prst="roundRect">
            <a:avLst/>
          </a:prstGeom>
          <a:solidFill>
            <a:srgbClr val="839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742078" y="5783580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390A1"/>
                </a:solidFill>
                <a:latin typeface="Segoe UI"/>
              </a:rPr>
              <a:t>74.8%  mass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600200" y="5971032"/>
            <a:ext cx="1600657" cy="105156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264865" y="5929884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D9488"/>
                </a:solidFill>
                <a:latin typeface="Segoe UI Semibold"/>
              </a:rPr>
              <a:t>38.9%  feature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400800" y="4983480"/>
            <a:ext cx="523951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6601968" y="5102352"/>
            <a:ext cx="274320" cy="27432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shiel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51345" y="5151729"/>
            <a:ext cx="175566" cy="175566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6986016" y="512064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390A1"/>
                </a:solidFill>
                <a:latin typeface="Segoe UI Semibold"/>
              </a:rPr>
              <a:t>PROOF, NOT PROMISES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01968" y="544068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374558"/>
                </a:solidFill>
                <a:latin typeface="Segoe UI"/>
              </a:rPr>
              <a:t>Core engine: </a:t>
            </a:r>
            <a:r>
              <a:rPr sz="1050" b="1">
                <a:solidFill>
                  <a:srgbClr val="16273C"/>
                </a:solidFill>
                <a:latin typeface="Segoe UI Semibold"/>
              </a:rPr>
              <a:t>100% hit-rate · 8.3% avg. error</a:t>
            </a:r>
            <a:r>
              <a:rPr sz="1050" b="0">
                <a:solidFill>
                  <a:srgbClr val="374558"/>
                </a:solidFill>
                <a:latin typeface="Segoe UI"/>
              </a:rPr>
              <a:t> (CI-gated) · 285 tests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601968" y="5779008"/>
            <a:ext cx="274320" cy="274320"/>
          </a:xfrm>
          <a:prstGeom prst="roundRect">
            <a:avLst/>
          </a:prstGeom>
          <a:solidFill>
            <a:srgbClr val="B476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play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51345" y="5828385"/>
            <a:ext cx="175566" cy="175566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6986016" y="5815584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B47609"/>
                </a:solidFill>
                <a:latin typeface="Segoe UI Semibold"/>
              </a:rPr>
              <a:t>Next: </a:t>
            </a:r>
            <a:r>
              <a:rPr sz="1050" b="0">
                <a:solidFill>
                  <a:srgbClr val="374558"/>
                </a:solidFill>
                <a:latin typeface="Segoe UI"/>
              </a:rPr>
              <a:t>5-minute live demo, then a pilot on one programme.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