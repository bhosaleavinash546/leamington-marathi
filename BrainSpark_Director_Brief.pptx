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breath for the whole slide: 'BrainSpark generates cost-reduction ideas across the whole car and prices every one on a deterministic engine — AI proposes, the engine verifies, nothing is invented.' Walk the trust band left to right, because that's the differentiator versus generic AI: the AI is never allowed to make up a number; a separate deterministic engine recomputes each figure and stamps it confirmed or contradicted. Then sweep the six tiles quickly — idea generation that learns from what we approve, a proper should-cost engine with confidence bands, CAD and even PCB-photo costing, eleven classical methods like TRIZ and Value Engineering implemented as real logic, and a curated idea library feeding a tracked savings pipeline. Don't dwell — the live demo shows all of this in five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proof, not promises — these are measured numbers, not marketing: the engine hits 100% of sixteen held-out reference parts with 8.3% average error, and the build fails automatically if that ever regresses. Two hundred and eighty-five tests run on every change. Then the four benefits in one line each: ideas arrive in minutes while the design is still open; the numbers are reproducible so they survive a sourcing review; one platform covers the whole vehicle including electronics; and everything we learn — benchmarks, approvals, confirmed savings — compounds into a searchable asset instead of walking out the door. Close on the ask band and go straight into the demo: 'Let me show you' is stronger than any slide. Afterwards, the ask is small and low-risk: one pilot programme, benchmarked together against quotes we already know.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381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00584" cy="475488"/>
          </a:xfrm>
          <a:prstGeom prst="rect">
            <a:avLst/>
          </a:prstGeom>
          <a:solidFill>
            <a:srgbClr val="B476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116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Segoe UI Semibold"/>
              </a:rPr>
              <a:t>BRAINSPARK — IN ONE SLIDE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7548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6273C"/>
                </a:solidFill>
                <a:latin typeface="Segoe UI Semibold"/>
              </a:rPr>
              <a:t>AI Cost Engineering: Ideas You Can Defend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0D9488"/>
                </a:solidFill>
                <a:latin typeface="Segoe UI"/>
              </a:rPr>
              <a:t>BrainSpark</a:t>
            </a:r>
            <a:r>
              <a:rPr sz="900" b="0">
                <a:solidFill>
                  <a:srgbClr val="8390A1"/>
                </a:solidFill>
                <a:latin typeface="Segoe UI"/>
              </a:rPr>
              <a:t>  ·  AI-Powered Cost Engineering Platform  ·  Avinash Bhosale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0" y="6473952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390A1"/>
                </a:solidFill>
                <a:latin typeface="Segoe UI"/>
              </a:rPr>
              <a:t>Confidential — Internal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98448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0">
                <a:solidFill>
                  <a:srgbClr val="374558"/>
                </a:solidFill>
                <a:latin typeface="Segoe UI"/>
              </a:rPr>
              <a:t>One platform that generates </a:t>
            </a:r>
            <a:r>
              <a:rPr sz="1500" b="1">
                <a:solidFill>
                  <a:srgbClr val="0D9488"/>
                </a:solidFill>
                <a:latin typeface="Segoe UI Semibold"/>
              </a:rPr>
              <a:t>cost-reduction ideas across the whole vehicle</a:t>
            </a:r>
            <a:r>
              <a:rPr sz="1500" b="0">
                <a:solidFill>
                  <a:srgbClr val="374558"/>
                </a:solidFill>
                <a:latin typeface="Segoe UI"/>
              </a:rPr>
              <a:t> — and prices every one on a deterministic should-cost engine. </a:t>
            </a:r>
            <a:r>
              <a:rPr sz="1500" b="1">
                <a:solidFill>
                  <a:srgbClr val="B47609"/>
                </a:solidFill>
                <a:latin typeface="Segoe UI Semibold"/>
              </a:rPr>
              <a:t>AI proposes; the engine verifies; nothing is invented.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11680"/>
            <a:ext cx="352044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49808" y="2212848"/>
            <a:ext cx="475488" cy="47548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21284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57984"/>
            <a:ext cx="2606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D9488"/>
                </a:solidFill>
                <a:latin typeface="Segoe UI Semibold"/>
              </a:rPr>
              <a:t>AI PROPOSES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2487168"/>
            <a:ext cx="2606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556477"/>
                </a:solidFill>
                <a:latin typeface="Segoe UI"/>
              </a:rPr>
              <a:t>ideas grounded in OEM benchmarks,
live prices &amp; your approval history</a:t>
            </a:r>
          </a:p>
        </p:txBody>
      </p:sp>
      <p:sp>
        <p:nvSpPr>
          <p:cNvPr id="15" name="Chevron 14"/>
          <p:cNvSpPr/>
          <p:nvPr/>
        </p:nvSpPr>
        <p:spPr>
          <a:xfrm>
            <a:off x="4105656" y="2432304"/>
            <a:ext cx="310896" cy="329184"/>
          </a:xfrm>
          <a:prstGeom prst="chevron">
            <a:avLst/>
          </a:prstGeom>
          <a:solidFill>
            <a:srgbClr val="B476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471416" y="2011680"/>
            <a:ext cx="352044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672584" y="2212848"/>
            <a:ext cx="475488" cy="475488"/>
          </a:xfrm>
          <a:prstGeom prst="roundRect">
            <a:avLst/>
          </a:prstGeom>
          <a:solidFill>
            <a:srgbClr val="B476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72584" y="221284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12664" y="2157984"/>
            <a:ext cx="2606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B47609"/>
                </a:solidFill>
                <a:latin typeface="Segoe UI Semibold"/>
              </a:rPr>
              <a:t>ENGINE VERIFIES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12664" y="2487168"/>
            <a:ext cx="2606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556477"/>
                </a:solidFill>
                <a:latin typeface="Segoe UI"/>
              </a:rPr>
              <a:t>deterministic engine recomputes
every figure from first principles</a:t>
            </a:r>
          </a:p>
        </p:txBody>
      </p:sp>
      <p:sp>
        <p:nvSpPr>
          <p:cNvPr id="21" name="Chevron 20"/>
          <p:cNvSpPr/>
          <p:nvPr/>
        </p:nvSpPr>
        <p:spPr>
          <a:xfrm>
            <a:off x="8028432" y="2432304"/>
            <a:ext cx="310896" cy="329184"/>
          </a:xfrm>
          <a:prstGeom prst="chevron">
            <a:avLst/>
          </a:prstGeom>
          <a:solidFill>
            <a:srgbClr val="B476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394192" y="2011680"/>
            <a:ext cx="352044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595360" y="2212848"/>
            <a:ext cx="475488" cy="475488"/>
          </a:xfrm>
          <a:prstGeom prst="round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0" y="221284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2157984"/>
            <a:ext cx="2606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59669"/>
                </a:solidFill>
                <a:latin typeface="Segoe UI Semibold"/>
              </a:rPr>
              <a:t>DEFENSIBLE RESULT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2487168"/>
            <a:ext cx="2606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556477"/>
                </a:solidFill>
                <a:latin typeface="Segoe UI"/>
              </a:rPr>
              <a:t>each idea stamped confirmed or
contradicted — quote-ready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3401568"/>
            <a:ext cx="3520440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31520" y="3584448"/>
            <a:ext cx="402336" cy="402336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3584448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3566160"/>
            <a:ext cx="26974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6273C"/>
                </a:solidFill>
                <a:latin typeface="Segoe UI Semibold"/>
              </a:rPr>
              <a:t>AI Idea Generation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80160" y="3913632"/>
            <a:ext cx="26517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1000" b="0">
                <a:solidFill>
                  <a:srgbClr val="556477"/>
                </a:solidFill>
                <a:latin typeface="Segoe UI"/>
              </a:rPr>
              <a:t>System-aware ideas with live search; learns from what you approve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71416" y="3401568"/>
            <a:ext cx="3520440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654296" y="3584448"/>
            <a:ext cx="402336" cy="402336"/>
          </a:xfrm>
          <a:prstGeom prst="roundRect">
            <a:avLst/>
          </a:prstGeom>
          <a:solidFill>
            <a:srgbClr val="B476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54296" y="3584448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02936" y="3566160"/>
            <a:ext cx="26974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6273C"/>
                </a:solidFill>
                <a:latin typeface="Segoe UI Semibold"/>
              </a:rPr>
              <a:t>Should-Cost Engine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02936" y="3913632"/>
            <a:ext cx="26517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1000" b="0">
                <a:solidFill>
                  <a:srgbClr val="556477"/>
                </a:solidFill>
                <a:latin typeface="Segoe UI"/>
              </a:rPr>
              <a:t>Bottom-up piece price, 9 regions, Monte-Carlo P10–P90 bands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394192" y="3401568"/>
            <a:ext cx="3520440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577072" y="3584448"/>
            <a:ext cx="402336" cy="402336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77072" y="3584448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3D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25712" y="3566160"/>
            <a:ext cx="26974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6273C"/>
                </a:solidFill>
                <a:latin typeface="Segoe UI Semibold"/>
              </a:rPr>
              <a:t>CAD → Cost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25712" y="3913632"/>
            <a:ext cx="26517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1000" b="0">
                <a:solidFill>
                  <a:srgbClr val="556477"/>
                </a:solidFill>
                <a:latin typeface="Segoe UI"/>
              </a:rPr>
              <a:t>Upload a model — geometry-driven cost + interactive 3D viewer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4791456"/>
            <a:ext cx="3520440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731520" y="4974336"/>
            <a:ext cx="402336" cy="402336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497433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▣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80160" y="4956048"/>
            <a:ext cx="26974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6273C"/>
                </a:solidFill>
                <a:latin typeface="Segoe UI Semibold"/>
              </a:rPr>
              <a:t>PCB → BOM → Cost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80160" y="5303520"/>
            <a:ext cx="26517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1000" b="0">
                <a:solidFill>
                  <a:srgbClr val="556477"/>
                </a:solidFill>
                <a:latin typeface="Segoe UI"/>
              </a:rPr>
              <a:t>Photograph a board — BOM, live part prices, 12-country cost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471416" y="4791456"/>
            <a:ext cx="3520440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4654296" y="4974336"/>
            <a:ext cx="402336" cy="402336"/>
          </a:xfrm>
          <a:prstGeom prst="round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654296" y="497433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◆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02936" y="4956048"/>
            <a:ext cx="26974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6273C"/>
                </a:solidFill>
                <a:latin typeface="Segoe UI Semibold"/>
              </a:rPr>
              <a:t>11 Innovation Methods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02936" y="5303520"/>
            <a:ext cx="26517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1000" b="0">
                <a:solidFill>
                  <a:srgbClr val="556477"/>
                </a:solidFill>
                <a:latin typeface="Segoe UI"/>
              </a:rPr>
              <a:t>TRIZ, Value Engineering, FAST, DFA, Teardown Delta &amp; more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394192" y="4791456"/>
            <a:ext cx="3520440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8577072" y="4974336"/>
            <a:ext cx="402336" cy="402336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577072" y="497433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■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25712" y="4956048"/>
            <a:ext cx="26974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6273C"/>
                </a:solidFill>
                <a:latin typeface="Segoe UI Semibold"/>
              </a:rPr>
              <a:t>Marketplace &amp; Pipeline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25712" y="5303520"/>
            <a:ext cx="26517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1000" b="0">
                <a:solidFill>
                  <a:srgbClr val="556477"/>
                </a:solidFill>
                <a:latin typeface="Segoe UI"/>
              </a:rPr>
              <a:t>1,600+ curated ideas · savings tracked idea → confirmed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617220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556477"/>
                </a:solidFill>
                <a:latin typeface="Segoe UI"/>
              </a:rPr>
              <a:t>13+ vehicle systems   ·   11 structured methods   ·   1,600+ curated ideas   ·   </a:t>
            </a:r>
            <a:r>
              <a:rPr sz="1150" b="1">
                <a:solidFill>
                  <a:srgbClr val="0D9488"/>
                </a:solidFill>
                <a:latin typeface="Segoe UI Semibold"/>
              </a:rPr>
              <a:t>every figure engine-verified or honestly labelled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91695" cy="381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00584" cy="475488"/>
          </a:xfrm>
          <a:prstGeom prst="rect">
            <a:avLst/>
          </a:prstGeom>
          <a:solidFill>
            <a:srgbClr val="B476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116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Segoe UI Semibold"/>
              </a:rPr>
              <a:t>WHY IT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7548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6273C"/>
                </a:solidFill>
                <a:latin typeface="Segoe UI Semibold"/>
              </a:rPr>
              <a:t>Trusted Numbers, Faster Decisions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0D9488"/>
                </a:solidFill>
                <a:latin typeface="Segoe UI"/>
              </a:rPr>
              <a:t>BrainSpark</a:t>
            </a:r>
            <a:r>
              <a:rPr sz="900" b="0">
                <a:solidFill>
                  <a:srgbClr val="8390A1"/>
                </a:solidFill>
                <a:latin typeface="Segoe UI"/>
              </a:rPr>
              <a:t>  ·  AI-Powered Cost Engineering Platform  ·  Avinash Bhosale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0" y="6473952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390A1"/>
                </a:solidFill>
                <a:latin typeface="Segoe UI"/>
              </a:rPr>
              <a:t>Confidential — Internal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371600"/>
            <a:ext cx="27432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481328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B47609"/>
                </a:solidFill>
                <a:latin typeface="Segoe UI Semibold"/>
              </a:rPr>
              <a:t>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38528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556477"/>
                </a:solidFill>
                <a:latin typeface="Segoe UI"/>
              </a:rPr>
              <a:t>hit-rate vs 16 held-out
reference parts (CI-gated)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56432" y="1371600"/>
            <a:ext cx="27432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6432" y="1481328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B47609"/>
                </a:solidFill>
                <a:latin typeface="Segoe UI Semibold"/>
              </a:rPr>
              <a:t>8.3%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6432" y="1938528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556477"/>
                </a:solidFill>
                <a:latin typeface="Segoe UI"/>
              </a:rPr>
              <a:t>avg. error on the core
should-cost engine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64224" y="1371600"/>
            <a:ext cx="27432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4224" y="1481328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B47609"/>
                </a:solidFill>
                <a:latin typeface="Segoe UI Semibold"/>
              </a:rPr>
              <a:t>285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4224" y="1938528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556477"/>
                </a:solidFill>
                <a:latin typeface="Segoe UI"/>
              </a:rPr>
              <a:t>automated tests run
on every change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72016" y="1371600"/>
            <a:ext cx="27432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72016" y="1481328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B47609"/>
                </a:solidFill>
                <a:latin typeface="Segoe UI Semibold"/>
              </a:rPr>
              <a:t>42,600+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72016" y="1938528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556477"/>
                </a:solidFill>
                <a:latin typeface="Segoe UI"/>
              </a:rPr>
              <a:t>lines of production code,
built &amp; measured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2697480"/>
            <a:ext cx="27432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682496" y="2907792"/>
            <a:ext cx="475488" cy="47548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82496" y="2907792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520440"/>
            <a:ext cx="27432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50" b="1">
                <a:solidFill>
                  <a:srgbClr val="16273C"/>
                </a:solidFill>
                <a:latin typeface="Segoe UI Semibold"/>
              </a:rPr>
              <a:t>Speed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886200"/>
            <a:ext cx="234086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556477"/>
                </a:solidFill>
                <a:latin typeface="Segoe UI"/>
              </a:rPr>
              <a:t>From part or CAD file to a costed, ranked idea list in minutes — while the design is still open to change.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56432" y="2697480"/>
            <a:ext cx="27432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590288" y="2907792"/>
            <a:ext cx="475488" cy="475488"/>
          </a:xfrm>
          <a:prstGeom prst="round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90288" y="2907792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56432" y="3520440"/>
            <a:ext cx="27432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50" b="1">
                <a:solidFill>
                  <a:srgbClr val="16273C"/>
                </a:solidFill>
                <a:latin typeface="Segoe UI Semibold"/>
              </a:rPr>
              <a:t>Confidence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0" y="3886200"/>
            <a:ext cx="234086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556477"/>
                </a:solidFill>
                <a:latin typeface="Segoe UI"/>
              </a:rPr>
              <a:t>Engine-verified, reproducible figures that survive sourcing reviews and supplier negotiations.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64224" y="2697480"/>
            <a:ext cx="27432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498080" y="2907792"/>
            <a:ext cx="475488" cy="47548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0" y="2907792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64224" y="3520440"/>
            <a:ext cx="27432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50" b="1">
                <a:solidFill>
                  <a:srgbClr val="16273C"/>
                </a:solidFill>
                <a:latin typeface="Segoe UI Semibold"/>
              </a:rPr>
              <a:t>Breadth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65392" y="3886200"/>
            <a:ext cx="234086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556477"/>
                </a:solidFill>
                <a:latin typeface="Segoe UI"/>
              </a:rPr>
              <a:t>One platform: mechanical, electronics, whole-vehicle — no single-commodity blind spots.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272016" y="2697480"/>
            <a:ext cx="27432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0405872" y="2907792"/>
            <a:ext cx="475488" cy="475488"/>
          </a:xfrm>
          <a:prstGeom prst="roundRect">
            <a:avLst/>
          </a:prstGeom>
          <a:solidFill>
            <a:srgbClr val="B476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405872" y="2907792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72016" y="3520440"/>
            <a:ext cx="27432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50" b="1">
                <a:solidFill>
                  <a:srgbClr val="16273C"/>
                </a:solidFill>
                <a:latin typeface="Segoe UI Semibold"/>
              </a:rPr>
              <a:t>Leverage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73184" y="3886200"/>
            <a:ext cx="234086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556477"/>
                </a:solidFill>
                <a:latin typeface="Segoe UI"/>
              </a:rPr>
              <a:t>OEM know-how, teardown benchmarks and our own approvals become a reusable, searchable asset.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5257800"/>
            <a:ext cx="11091672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548640" y="5257800"/>
            <a:ext cx="109728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376672"/>
            <a:ext cx="105156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0D9488"/>
                </a:solidFill>
                <a:latin typeface="Segoe UI Semibold"/>
              </a:rPr>
              <a:t>Next step:  </a:t>
            </a:r>
            <a:r>
              <a:rPr sz="1300" b="0">
                <a:solidFill>
                  <a:srgbClr val="374558"/>
                </a:solidFill>
                <a:latin typeface="Segoe UI"/>
              </a:rPr>
              <a:t>a 5-minute live demo now — then pilot it on one active programme and benchmark it together against known supplier quotes.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