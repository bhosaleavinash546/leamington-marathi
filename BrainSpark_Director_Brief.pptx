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star of the show, so spend the time here. The flow in one sentence: pick a system — say Body Structure — set volume, region and vehicle type, and in minutes you get a full set of costed, ranked ideas. Then the four things that make it different from asking a chatbot. First, it's grounded: it searches live prices and carries a curated knowledge base of proven levers for thirteen vehicle domains — so ideas cite real OEM practice, not generic advice. Second, it learns US: what we approve and confirm in production feeds back as positive examples, and it deliberately aims at the white space in our own idea library. Third, Deep Mode: a panel of three AI experts — manufacturing, commercial, quality — critiques every idea, they compete in a tournament, and anything weak gets one repair attempt that only survives if the engine re-confirms it. Fourth, the output is defensible: point at the example card — the saving chip, and below it the engine's own recomputed cost. That green verified tag is the whole philosophy: AI proposes, the engine verifies. Mention the bottom strip only in passing — the demo will show the rest of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'how is this different from asking a chatbot for ideas?' The answer: methodology as software. Each of these eleven is a genuine engineering method implemented as deterministic code — TRIZ actually walks the contradiction matrix, DFA actually computes the Boothroyd-Dewhurst minimum part count, the FAST matrix enforces that component costs map onto functions and sum correctly. The AI's job is the last mile: turning the method's output into concrete embodiments for your specific part, which the cost engine then checks. Call out the three newest, because they're the most 'cost-engineering-native': the FAST function-cost matrix — the classical VE core; the Spec and Tolerance Challenge, where relaxation savings are computed by the engine itself and safety-critical characteristics are locked in code so the AI can never propose touching them; and Teardown Delta — benchmark your part attribute-by-attribute and turn every gap into an idea. The twelfth tile reminds them all of this is also available as one-click lenses on any analysis. Then the bottom band: the proof numbers are measured and CI-gated, not marketing — and go straight into the demo from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THE HEADLINE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AI Idea Generation — Grounded, Learning, 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374558"/>
                </a:solidFill>
                <a:latin typeface="Segoe UI"/>
              </a:rPr>
              <a:t>Pick a vehicle system, set volume, region and vehicle type — get a full set of </a:t>
            </a:r>
            <a:r>
              <a:rPr sz="1400" b="1">
                <a:solidFill>
                  <a:srgbClr val="0D9488"/>
                </a:solidFill>
                <a:latin typeface="Segoe UI Semibold"/>
              </a:rPr>
              <a:t>costed, ranked, engine-checked cost-reduction ideas</a:t>
            </a:r>
            <a:r>
              <a:rPr sz="1400" b="0">
                <a:solidFill>
                  <a:srgbClr val="374558"/>
                </a:solidFill>
                <a:latin typeface="Segoe UI"/>
              </a:rPr>
              <a:t> in minutes. </a:t>
            </a:r>
            <a:r>
              <a:rPr sz="1400" b="1">
                <a:solidFill>
                  <a:srgbClr val="B47609"/>
                </a:solidFill>
                <a:latin typeface="Segoe UI Semibold"/>
              </a:rPr>
              <a:t>AI proposes; the engine verifies; nothing is invented.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420624" cy="42062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92938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Grounded, not guessed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249424"/>
            <a:ext cx="5532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Live web search for current prices and innovations + a curated knowledge base of proven levers across 13 vehicle domains, with OEM &amp; teardown benchmarks.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35808"/>
            <a:ext cx="420624" cy="420624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99923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Learns your 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19272"/>
            <a:ext cx="5532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Ideas you approve or confirm in production feed back as positive examples; the AI targets gaps in the 1,600+ idea library and auto-merges near-duplicates.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05656"/>
            <a:ext cx="420624" cy="42062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0565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6908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Deep Mode (opt-in)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89120"/>
            <a:ext cx="5532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A 3-persona expert panel — manufacturing, supplier-commercial, quality — critiques every idea; a tournament ranks them; weak ideas get one engine-verified repair.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75504"/>
            <a:ext cx="420624" cy="42062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1755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389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6273C"/>
                </a:solidFill>
                <a:latin typeface="Segoe UI Semibold"/>
              </a:rPr>
              <a:t>Ranked &amp; defensible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58968"/>
            <a:ext cx="5532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Explainable ranking: annual value × payback × validation quality × engine cross-check — every factor visible on the idea card, every boost labelled.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920240"/>
            <a:ext cx="47091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2084831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WHAT AN IDEA LOOKS LIKE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2432304"/>
            <a:ext cx="4160520" cy="148132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2560320"/>
            <a:ext cx="3794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One-piece hot-stamped B-pillar tailored blank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127248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Deletes 14 welds + 2 dies · −0.9 kg/vehicle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3456432"/>
            <a:ext cx="1234440" cy="32918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£2.04M/yr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32520" y="3456432"/>
            <a:ext cx="914400" cy="329184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32520" y="3474720"/>
            <a:ext cx="914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High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38360" y="3456432"/>
            <a:ext cx="1234440" cy="32918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474720"/>
            <a:ext cx="1234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✓ Verified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06908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390A1"/>
                </a:solidFill>
                <a:latin typeface="Segoe UI Semibold"/>
              </a:rPr>
              <a:t>ENGINE CROSS-CHECK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23760" y="4370832"/>
            <a:ext cx="4160520" cy="841248"/>
          </a:xfrm>
          <a:prstGeom prst="roundRect">
            <a:avLst/>
          </a:prstGeom>
          <a:solidFill>
            <a:srgbClr val="F3F5F9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480560"/>
            <a:ext cx="3840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Should-cost recomputed:  </a:t>
            </a:r>
            <a:r>
              <a:rPr sz="1050" b="1">
                <a:solidFill>
                  <a:srgbClr val="059669"/>
                </a:solidFill>
                <a:latin typeface="Segoe UI Semibold"/>
              </a:rPr>
              <a:t>£17.10</a:t>
            </a:r>
            <a:r>
              <a:rPr sz="1050" b="0">
                <a:solidFill>
                  <a:srgbClr val="556477"/>
                </a:solidFill>
                <a:latin typeface="Segoe UI"/>
              </a:rPr>
              <a:t> vs </a:t>
            </a:r>
            <a:r>
              <a:rPr sz="1050" b="1">
                <a:solidFill>
                  <a:srgbClr val="E11D48"/>
                </a:solidFill>
                <a:latin typeface="Segoe UI Semibold"/>
              </a:rPr>
              <a:t>£23.40</a:t>
            </a:r>
            <a:r>
              <a:rPr sz="1050" b="0">
                <a:solidFill>
                  <a:srgbClr val="374558"/>
                </a:solidFill>
                <a:latin typeface="Segoe UI"/>
              </a:rPr>
              <a:t> baseline — saving confirmed by the deterministic engine.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34924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Every idea carries provenance: </a:t>
            </a:r>
            <a:r>
              <a:rPr sz="1000" b="1">
                <a:solidFill>
                  <a:srgbClr val="0D9488"/>
                </a:solidFill>
                <a:latin typeface="Segoe UI Semibold"/>
              </a:rPr>
              <a:t>engine-verified · prior-art · similar-to-approved · panel critiques</a:t>
            </a:r>
            <a:r>
              <a:rPr sz="1000" b="0">
                <a:solidFill>
                  <a:srgbClr val="556477"/>
                </a:solidFill>
                <a:latin typeface="Segoe UI"/>
              </a:rPr>
              <a:t> — boosts are never silent.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8390A1"/>
                </a:solidFill>
                <a:latin typeface="Segoe UI"/>
              </a:rPr>
              <a:t>Also in the platform:  Should-Cost Engine · CAD → Cost · PCB → BOM → Cost · Marketplace &amp; Savings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INNOVATION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Eleven Engineering Methods — Not Chat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374558"/>
                </a:solidFill>
                <a:latin typeface="Segoe UI"/>
              </a:rPr>
              <a:t>Classical idea-generation methodology implemented as </a:t>
            </a:r>
            <a:r>
              <a:rPr sz="1350" b="1">
                <a:solidFill>
                  <a:srgbClr val="0D9488"/>
                </a:solidFill>
                <a:latin typeface="Segoe UI Semibold"/>
              </a:rPr>
              <a:t>deterministic logic</a:t>
            </a:r>
            <a:r>
              <a:rPr sz="1350" b="0">
                <a:solidFill>
                  <a:srgbClr val="374558"/>
                </a:solidFill>
                <a:latin typeface="Segoe UI"/>
              </a:rPr>
              <a:t> — the method computes the analysis, the AI turns it into concrete embodiments for your part, the engine checks every figure.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01952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82296" cy="100584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011680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TRIZ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40 inventive principles + contradiction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1901952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65576" y="1901952"/>
            <a:ext cx="82296" cy="100584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011680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Value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450592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Value index = worth ÷ cost per function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1901952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1901952"/>
            <a:ext cx="82296" cy="10058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2011680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FAST Function-Cost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2450592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Component cost mapped onto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9448" y="1901952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99448" y="1901952"/>
            <a:ext cx="82296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18904" y="2011680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DFA / DFMA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18904" y="2450592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Boothroyd-Dewhurst minimum part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035808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035808"/>
            <a:ext cx="82296" cy="10058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145536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Design-to-Cost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584448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Cost gap allocated across buckets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65576" y="3035808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65576" y="3035808"/>
            <a:ext cx="82296" cy="100584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85032" y="3145536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Spec &amp; Tolerance Challenge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5032" y="3584448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Engine-costed relaxations · CTQs locked in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82512" y="3035808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82512" y="3035808"/>
            <a:ext cx="82296" cy="100584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145536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Teardown Delta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3584448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Attribute-by-attribute vs a benchmark part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99448" y="3035808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299448" y="3035808"/>
            <a:ext cx="82296" cy="1005840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18904" y="3145536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SCAMPER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18904" y="3584448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Seven-verb structured creativity sweep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169664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4169664"/>
            <a:ext cx="82296" cy="10058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279392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Morphological Analysis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4718304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Zwicky concept-space recombination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65576" y="4169664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65576" y="4169664"/>
            <a:ext cx="82296" cy="10058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85032" y="4279392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Effects &amp; Evolution Trends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5032" y="4718304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Cheaper physical effects · next-gen jumps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2512" y="4169664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382512" y="4169664"/>
            <a:ext cx="82296" cy="10058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01968" y="4279392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Design for Circularity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1968" y="4718304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Cut cost and meet EU end-of-life rules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99448" y="4169664"/>
            <a:ext cx="2788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99448" y="4169664"/>
            <a:ext cx="82296" cy="1005840"/>
          </a:xfrm>
          <a:prstGeom prst="roundRect">
            <a:avLst/>
          </a:prstGeom>
          <a:solidFill>
            <a:srgbClr val="8390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18904" y="4279392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16273C"/>
                </a:solidFill>
                <a:latin typeface="Segoe UI Semibold"/>
              </a:rPr>
              <a:t>+ 9 one-click lenses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18904" y="4718304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Layer methods onto any analysis — incl. Biomimicry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5486400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8640" y="5486400"/>
            <a:ext cx="109728" cy="713232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>
                <a:solidFill>
                  <a:srgbClr val="0D9488"/>
                </a:solidFill>
                <a:latin typeface="Segoe UI Semibold"/>
              </a:rPr>
              <a:t>Proof, not promises:  </a:t>
            </a:r>
            <a:r>
              <a:rPr sz="1150" b="0">
                <a:solidFill>
                  <a:srgbClr val="374558"/>
                </a:solidFill>
                <a:latin typeface="Segoe UI"/>
              </a:rPr>
              <a:t>engine 100% hit-rate, 8.3% avg. error on held-out parts (CI-gated) · 285 automated tests.   </a:t>
            </a:r>
            <a:r>
              <a:rPr sz="1200" b="1">
                <a:solidFill>
                  <a:srgbClr val="B47609"/>
                </a:solidFill>
                <a:latin typeface="Segoe UI Semibold"/>
              </a:rPr>
              <a:t>Next:  </a:t>
            </a:r>
            <a:r>
              <a:rPr sz="1150" b="0">
                <a:solidFill>
                  <a:srgbClr val="374558"/>
                </a:solidFill>
                <a:latin typeface="Segoe UI"/>
              </a:rPr>
              <a:t>5-minute live demo, then a pilot on one active programme.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