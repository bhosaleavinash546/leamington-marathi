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started in July as an answer to a fair challenge. Someone had seen a rival should-cost tool and liked its 3D viewer. It felt like real CAD software, and it seemed to pull data straight off the model. So I did two things. I read up on how the leading tools do this, and I went through our own viewer and geometry engine line by line. Since July we have built a good part of that plan. So I've updated the deck to say plainly what is in the tool today and what is still future. One thing to hold on to all the way through. At JLR the AI is switched off. The CAD path runs on measured geometry and plain rules. Where the geometry can't decide something, the tool asks the engineer. Nothing on these slides depends on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four things, make it these. One, the leading tools all work the same way. They find features on the solid model, the B-rep, which just means the exact faces and edges of the part. They turn those features into cost drivers, and a person corrects the result rather than retyping the part. Two, we already had the hard part. Our geometry engine measures the part, and rules turn those measurements into cost inputs. When the geometry can't settle something, like the process route or the material family, the tool asks you. Three, the thing that makes a viewer feel like CAD software is analysis drawn on the model. Most of that is now built. Four, what is left is deeper capture: tolerances from the file, more feature types, and a better answer for STL files. Those are still roadmap, and I'll be clear about that on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rest of the deck. Read it left to right. A 3D model comes in. Software finds the features, the holes, pockets, bends, ribs and undercuts. People call this AFR, automatic feature recognition. Each feature maps to a cost driver, like an operation or a tool. A person steps in only to fix a feature that was read wrong. Out comes a cost you can explain line by line. The two cards are how aPriori and Siemens describe their own tools in public. I haven't tested either of them hands-on, so treat this as their account, not mine. The part I find useful is that both keep a person in the loop to correct the recognition. Nobody claims to be fully hands-off. That matches how we work: the tool measures, and when it isn't sure, it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Each column is a capability that matters, each row is a tool. A full cyan dot means strong, amber means partial, and hollow means limited or missing. Please take the other rows as my reading of their public material, not a test. The costing leaders are strong on feature recognition and on going from CAD to cost without retyping. The best pure viewer experience comes from 3D-Tool. Werk24 reads tolerances, but from 2D drawings. Now our row. Since July we've filled in on-model analysis and the CAD feel, so those are full now. Feature recognition is only partial. We find holes, bosses, fillets and some pockets, but not chamfers, slots or thread specs. Tolerances from the CAD file is still empty. The bottom row is what we'd have if the roadmap lands. It is a plan,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say a viewer feels like CAD software, this is usually what they mean. It isn't about nicer graphics. It's analysis painted on the model. The biggest one is a wall-thickness heatmap. Thin and thick areas show up in colour, and you can see moulding or casting risk straight away. Then draft and undercut. You shade each face by how well it releases from the tool, and undercuts show up in red, because they need slides and slides cost money. Then the everyday actions: cut planes, measuring, and a model tree where clicking a row lights up the faces. Most of these are now in our viewer, and each card says so. The one we don't have is tolerances shown on the model. PMI just means product manufacturing information, the tolerances and notes stored in the CAD file. We can't read those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 about where we are, because the rest of the deck depends on it. On the left is what's in the tool today, and I checked each line against the code. The geometry engine is OpenCASCADE, an open-source CAD kernel. It measures the part, finds holes, bosses and fillets, and for STEP files it builds up a machining cycle time. The viewer now has the cube, the model tree, sections, exploded view, and colours for thickness, draft and cost per face. On the right is what's still open. The big ones are capture. We don't read tolerances from the CAD file. STL files have no feature table, so the tool stops and asks you for a cycle time rather than invent one. And there's one gap that matters more than any feature. We have not yet compared an estimate with a price JLR actually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plan comes down to two ideas. The first one is mostly done. In July the engine was already working out wall thickness, draft and undercuts, and then throwing them away as far as the viewer was concerned. Now they're coloured on the model, along with the cost per face after you run a costing. That was cheap to build because the numbers already existed. The second idea is still ahead of us. Every feature we can read from the CAD file is a field nobody has to type. Tolerances, chamfers, slots and threads are next. Until we can read them, the tool asks the engineer, and I think that's the right default. And the rule at the bottom doesn't change. The viewer is there to capture and check inputs. The tool measures and calculates. AI never sets a price, and at JLR it's switched off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future work needs inventing. It's all published, and most of it is open source. First, occt-import-js. It's the same CAD kernel we run on the server, compiled to run inside a web page. It could open a STEP file in the browser and tie every triangle back to its original face. Second, the kernel has a module that reads tolerances from STEP AP242 files. AP242 is the newer STEP standard that can carry tolerances inside the 3D file. Third, there's academic work on learned feature recognition. Those papers report 98 to 99 percent on public benchmarks. Please don't read that as a number for us. It's research on clean, synthetic parts, and real CAD is messier. So a person would still check the result. Fourth, the heatmap methods are textbook, and we already use them. So this slide is options, not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from July, with where each phase stands today. Phase zero was the quick wins. Make the viewer bigger, and draw the data the engine already measured. That's built. Phase one was the CAD-software feel. The cube, exploded view, sections, better measuring, and colouring the model by cost. That's mostly built. The one piece left is solid caps on a section cut, so a sliced part looks solid rather than hollow. Phase two is deeper capture, and it has only just started. We find fillets, and pockets in a cautious way. Chamfers, slots, thread specs, anything on STL, and tolerances from the file are all still to do. Phase three is research. A CAD kernel in the browser and learned recognition. It's not started and I'm not committing to it. The good news is that both of the things you asked for are now in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zero is done, so this slide is really a checklist. The first ask was a bigger viewer. There's now an Expand button that fills the window, and Esc brings you back. To be precise, it fills the browser window rather than switching the whole screen into full-screen mode. Then the three overlays. Wall thickness coloured red for thin and blue for thick. Draft and undercut against a pull direction you choose. And a model tree where clicking a row lights up the faces. Thickness and the tree need a STEP or IGES file, because an STL is just triangles with no face data. Last, the link between the result and the model. Click a face and the matching rows in the result get outlined. If a warning is about specific faces, its show-me button highlights them. It means you can see where a number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was about making it feel like CAD software, and most of it is in. The orientation cube is in the corner. Click a face of it and the view snaps round. The model tree lists bodies, features and face types, and you can hide bodies. Exploded view pulls a multi-body file apart, and you can move or rotate each component. Section planes work on all three axes at once. What's missing is a solid cap on the cut, so today a sectioned part looks hollow. Measuring is much richer than in July. Distance that snaps to corners and edges, radius from three points, angle, a coordinate read-out, and face-to-face distance. And after a CAD costing, the model is coloured by how much money sits on each face. So the viewer is now somewhere you check the cost. It's still a mesh, though, and it still can't read tolerances.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is about capturing more so people type less, and it has only just started. On the left, the engine now finds fillets. It also finds pockets and machined flat faces, but cautiously. They're switched off in the cost until the engineer confirms them, because a wrong pocket adds cost that isn't real. Chamfers, slots, thread specs and rib counts are still to do. So is the STL path. Today, if you upload an STL for a machined part, the tool stops and asks you for a cycle time rather than making one up. On the right is tolerance-driven costing, and this is future work. GD&amp;T means geometric dimensioning and tolerancing. The idea is to read it from the STEP file and let a tight bore add a reaming or grinding step. Today the engineer types the tightest tolerance on the form, and that scales the machining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three is research, and I've put it last on purpose. None of it is started. The first idea is to run the CAD kernel inside the browser, so the viewer holds the real faces rather than a mesh the server made. That would make measuring exact and picking a face instant. The second is a learned model that labels machining features face by face. It might catch compound features our rules miss. But I want to be careful here. The accuracy figures in the papers come from clean, synthetic parts. We'd only know whether it helps by testing it on real JLR parts. And it would only ever label features. The money would still be plain arithmetic on rates. At JLR, anything like this would also need AI approval, which we don't have. So this stays a research track until Phase two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takes the two things you asked for and checks them against the tool as it is today. On the left, the bigger viewer. There's an Expand button, Esc brings you back, you can hide the tools bar, drag the toolbar groups into your own order, and resize the model tree. The one thing I'd call not done is true full-screen mode. Today it fills the browser window, which in practice is most of the screen. On the right, the CAD feel. The cube, the model tree, the colour overlays, sections and exploded view, the measuring tools, and cost per face are all in. The honest footnote is the section caps, and that most of the richer features need a STEP or IGES file rather than an STL. So both asks are met. The remaining work is about capture, not the 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finish on why this matters and what I'd do next. The benefits are simple. Every feature we read from the model is a field nobody types, and a measured value can't be mistyped. Thin walls and undercuts show up while a design change is still cheap. And when someone asks where a number came from, you can click the face and show them. I haven't put a time saving or an accuracy figure on any of this, because we haven't measured one. That's the first part of my recommendation. Use what's built on real JLR parts, and log the actual prices you pay, so we find out how close the estimates really are. Then the next build: section caps, chamfers, slots and threads, and a better answer for STL files. Tolerances from the STEP file after that. Phase three stays research until we have a reason to start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practical question. What does the tool measure on its own, and where does each number go? You can upload STEP, IGES or STL. On the left is what the geometry engine measures, with nothing typed. On the right is the cost input it feeds. Volume and weight give material cost. The bounding box sizes the machine and the stock. The hole table becomes drilling and tapping. Wall thickness helps pick the route, and draft and undercuts drive tooling. For STEP and IGES there's also a machining cycle estimate. The box on the right is the part I like most. When the geometry can't decide, the tool asks you. An STL has no feature table, so it waits for you to type a cycle time. For sheet metal you can add a DXF flat pattern, and the measured blank is used. Thirteen commodities work this way, with no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0" y="0"/>
            <a:ext cx="12191695" cy="128016"/>
          </a:xfrm>
          <a:prstGeom prst="rect">
            <a:avLst/>
          </a:prstGeom>
          <a:solidFill>
            <a:srgbClr val="2DD4BF"/>
          </a:solidFill>
          <a:ln/>
        </p:spPr>
      </p:sp>
      <p:sp>
        <p:nvSpPr>
          <p:cNvPr id="4" name="Shape 2"/>
          <p:cNvSpPr/>
          <p:nvPr/>
        </p:nvSpPr>
        <p:spPr>
          <a:xfrm>
            <a:off x="2514600" y="4206240"/>
            <a:ext cx="0" cy="2011680"/>
          </a:xfrm>
          <a:prstGeom prst="line">
            <a:avLst/>
          </a:prstGeom>
          <a:noFill/>
          <a:ln w="9525">
            <a:solidFill>
              <a:srgbClr val="1C2536"/>
            </a:solidFill>
            <a:prstDash val="solid"/>
          </a:ln>
        </p:spPr>
      </p:sp>
      <p:sp>
        <p:nvSpPr>
          <p:cNvPr id="5" name="Shape 3"/>
          <p:cNvSpPr/>
          <p:nvPr/>
        </p:nvSpPr>
        <p:spPr>
          <a:xfrm>
            <a:off x="3657600" y="4206240"/>
            <a:ext cx="0" cy="2011680"/>
          </a:xfrm>
          <a:prstGeom prst="line">
            <a:avLst/>
          </a:prstGeom>
          <a:noFill/>
          <a:ln w="9525">
            <a:solidFill>
              <a:srgbClr val="1C2536"/>
            </a:solidFill>
            <a:prstDash val="solid"/>
          </a:ln>
        </p:spPr>
      </p:sp>
      <p:sp>
        <p:nvSpPr>
          <p:cNvPr id="6" name="Shape 4"/>
          <p:cNvSpPr/>
          <p:nvPr/>
        </p:nvSpPr>
        <p:spPr>
          <a:xfrm>
            <a:off x="4800600" y="4206240"/>
            <a:ext cx="0" cy="2011680"/>
          </a:xfrm>
          <a:prstGeom prst="line">
            <a:avLst/>
          </a:prstGeom>
          <a:noFill/>
          <a:ln w="9525">
            <a:solidFill>
              <a:srgbClr val="1C2536"/>
            </a:solidFill>
            <a:prstDash val="solid"/>
          </a:ln>
        </p:spPr>
      </p:sp>
      <p:sp>
        <p:nvSpPr>
          <p:cNvPr id="7" name="Shape 5"/>
          <p:cNvSpPr/>
          <p:nvPr/>
        </p:nvSpPr>
        <p:spPr>
          <a:xfrm>
            <a:off x="5943600" y="4206240"/>
            <a:ext cx="0" cy="2011680"/>
          </a:xfrm>
          <a:prstGeom prst="line">
            <a:avLst/>
          </a:prstGeom>
          <a:noFill/>
          <a:ln w="9525">
            <a:solidFill>
              <a:srgbClr val="1C2536"/>
            </a:solidFill>
            <a:prstDash val="solid"/>
          </a:ln>
        </p:spPr>
      </p:sp>
      <p:sp>
        <p:nvSpPr>
          <p:cNvPr id="8" name="Shape 6"/>
          <p:cNvSpPr/>
          <p:nvPr/>
        </p:nvSpPr>
        <p:spPr>
          <a:xfrm>
            <a:off x="7086600" y="4206240"/>
            <a:ext cx="0" cy="2011680"/>
          </a:xfrm>
          <a:prstGeom prst="line">
            <a:avLst/>
          </a:prstGeom>
          <a:noFill/>
          <a:ln w="9525">
            <a:solidFill>
              <a:srgbClr val="1C2536"/>
            </a:solidFill>
            <a:prstDash val="solid"/>
          </a:ln>
        </p:spPr>
      </p:sp>
      <p:sp>
        <p:nvSpPr>
          <p:cNvPr id="9" name="Shape 7"/>
          <p:cNvSpPr/>
          <p:nvPr/>
        </p:nvSpPr>
        <p:spPr>
          <a:xfrm>
            <a:off x="8229600" y="4206240"/>
            <a:ext cx="0" cy="2011680"/>
          </a:xfrm>
          <a:prstGeom prst="line">
            <a:avLst/>
          </a:prstGeom>
          <a:noFill/>
          <a:ln w="9525">
            <a:solidFill>
              <a:srgbClr val="1C2536"/>
            </a:solidFill>
            <a:prstDash val="solid"/>
          </a:ln>
        </p:spPr>
      </p:sp>
      <p:sp>
        <p:nvSpPr>
          <p:cNvPr id="10" name="Shape 8"/>
          <p:cNvSpPr/>
          <p:nvPr/>
        </p:nvSpPr>
        <p:spPr>
          <a:xfrm>
            <a:off x="9372600" y="4206240"/>
            <a:ext cx="0" cy="2011680"/>
          </a:xfrm>
          <a:prstGeom prst="line">
            <a:avLst/>
          </a:prstGeom>
          <a:noFill/>
          <a:ln w="9525">
            <a:solidFill>
              <a:srgbClr val="1C2536"/>
            </a:solidFill>
            <a:prstDash val="solid"/>
          </a:ln>
        </p:spPr>
      </p:sp>
      <p:sp>
        <p:nvSpPr>
          <p:cNvPr id="11" name="Shape 9"/>
          <p:cNvSpPr/>
          <p:nvPr/>
        </p:nvSpPr>
        <p:spPr>
          <a:xfrm>
            <a:off x="10515600" y="4206240"/>
            <a:ext cx="0" cy="2011680"/>
          </a:xfrm>
          <a:prstGeom prst="line">
            <a:avLst/>
          </a:prstGeom>
          <a:noFill/>
          <a:ln w="9525">
            <a:solidFill>
              <a:srgbClr val="1C2536"/>
            </a:solidFill>
            <a:prstDash val="solid"/>
          </a:ln>
        </p:spPr>
      </p:sp>
      <p:sp>
        <p:nvSpPr>
          <p:cNvPr id="12" name="Shape 10"/>
          <p:cNvSpPr/>
          <p:nvPr/>
        </p:nvSpPr>
        <p:spPr>
          <a:xfrm>
            <a:off x="365760" y="310896"/>
            <a:ext cx="365760" cy="365760"/>
          </a:xfrm>
          <a:prstGeom prst="roundRect">
            <a:avLst>
              <a:gd name="adj" fmla="val 25000"/>
            </a:avLst>
          </a:prstGeom>
          <a:solidFill>
            <a:srgbClr val="2DD4BF"/>
          </a:solidFill>
          <a:ln/>
        </p:spPr>
      </p:sp>
      <p:sp>
        <p:nvSpPr>
          <p:cNvPr id="13" name="Text 11"/>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14" name="Text 12"/>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15" name="Text 13"/>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16" name="Text 14"/>
          <p:cNvSpPr/>
          <p:nvPr/>
        </p:nvSpPr>
        <p:spPr>
          <a:xfrm>
            <a:off x="640080" y="2011680"/>
            <a:ext cx="11155680" cy="822960"/>
          </a:xfrm>
          <a:prstGeom prst="rect">
            <a:avLst/>
          </a:prstGeom>
          <a:noFill/>
          <a:ln/>
        </p:spPr>
        <p:txBody>
          <a:bodyPr wrap="square" lIns="0" tIns="0" rIns="0" bIns="0" rtlCol="0" anchor="t"/>
          <a:lstStyle/>
          <a:p>
            <a:pPr indent="0" marL="0">
              <a:buNone/>
            </a:pPr>
            <a:r>
              <a:rPr lang="en-US" sz="3400" b="1" dirty="0">
                <a:solidFill>
                  <a:srgbClr val="EAF0F8"/>
                </a:solidFill>
                <a:latin typeface="Calibri" pitchFamily="34" charset="0"/>
                <a:ea typeface="Calibri" pitchFamily="34" charset="-122"/>
                <a:cs typeface="Calibri" pitchFamily="34" charset="-120"/>
              </a:rPr>
              <a:t>The 3D Viewer — and the Data It Captures</a:t>
            </a:r>
            <a:endParaRPr lang="en-US" sz="3400" dirty="0"/>
          </a:p>
        </p:txBody>
      </p:sp>
      <p:sp>
        <p:nvSpPr>
          <p:cNvPr id="17" name="Shape 15"/>
          <p:cNvSpPr/>
          <p:nvPr/>
        </p:nvSpPr>
        <p:spPr>
          <a:xfrm>
            <a:off x="658368" y="2852928"/>
            <a:ext cx="3108960" cy="45720"/>
          </a:xfrm>
          <a:prstGeom prst="rect">
            <a:avLst/>
          </a:prstGeom>
          <a:solidFill>
            <a:srgbClr val="2DD4BF"/>
          </a:solidFill>
          <a:ln/>
        </p:spPr>
      </p:sp>
      <p:sp>
        <p:nvSpPr>
          <p:cNvPr id="18" name="Text 16"/>
          <p:cNvSpPr/>
          <p:nvPr/>
        </p:nvSpPr>
        <p:spPr>
          <a:xfrm>
            <a:off x="658368" y="3054096"/>
            <a:ext cx="10607040" cy="731520"/>
          </a:xfrm>
          <a:prstGeom prst="rect">
            <a:avLst/>
          </a:prstGeom>
          <a:noFill/>
          <a:ln/>
        </p:spPr>
        <p:txBody>
          <a:bodyPr wrap="square" lIns="0" tIns="0" rIns="0" bIns="0" rtlCol="0" anchor="t"/>
          <a:lstStyle/>
          <a:p>
            <a:pPr indent="0" marL="0">
              <a:lnSpc>
                <a:spcPct val="115000"/>
              </a:lnSpc>
              <a:buNone/>
            </a:pPr>
            <a:r>
              <a:rPr lang="en-US" sz="1500" dirty="0">
                <a:solidFill>
                  <a:srgbClr val="9AA7BD"/>
                </a:solidFill>
                <a:latin typeface="Calibri" pitchFamily="34" charset="0"/>
                <a:ea typeface="Calibri" pitchFamily="34" charset="-122"/>
                <a:cs typeface="Calibri" pitchFamily="34" charset="-120"/>
              </a:rPr>
              <a:t>How leading should-cost tools turn CAD into cost, what our viewer and geometry engine do today, and what is still to build.</a:t>
            </a:r>
            <a:endParaRPr lang="en-US" sz="1500" dirty="0"/>
          </a:p>
        </p:txBody>
      </p:sp>
      <p:sp>
        <p:nvSpPr>
          <p:cNvPr id="19" name="Shape 17"/>
          <p:cNvSpPr/>
          <p:nvPr/>
        </p:nvSpPr>
        <p:spPr>
          <a:xfrm>
            <a:off x="658368" y="4160520"/>
            <a:ext cx="1331366" cy="365760"/>
          </a:xfrm>
          <a:prstGeom prst="roundRect">
            <a:avLst>
              <a:gd name="adj" fmla="val 17500"/>
            </a:avLst>
          </a:prstGeom>
          <a:solidFill>
            <a:srgbClr val="1C2536"/>
          </a:solidFill>
          <a:ln w="12700">
            <a:solidFill>
              <a:srgbClr val="2DD4BF"/>
            </a:solidFill>
            <a:prstDash val="solid"/>
          </a:ln>
        </p:spPr>
      </p:sp>
      <p:sp>
        <p:nvSpPr>
          <p:cNvPr id="20" name="Text 18"/>
          <p:cNvSpPr/>
          <p:nvPr/>
        </p:nvSpPr>
        <p:spPr>
          <a:xfrm>
            <a:off x="658368" y="4160520"/>
            <a:ext cx="1331366" cy="365760"/>
          </a:xfrm>
          <a:prstGeom prst="rect">
            <a:avLst/>
          </a:prstGeom>
          <a:noFill/>
          <a:ln/>
        </p:spPr>
        <p:txBody>
          <a:bodyPr wrap="square" lIns="0" tIns="0" rIns="0" bIns="0" rtlCol="0" anchor="ctr"/>
          <a:lstStyle/>
          <a:p>
            <a:pPr algn="ctr" indent="0" marL="0">
              <a:buNone/>
            </a:pPr>
            <a:r>
              <a:rPr lang="en-US" sz="1000" b="1" dirty="0">
                <a:solidFill>
                  <a:srgbClr val="2DD4BF"/>
                </a:solidFill>
                <a:latin typeface="Calibri" pitchFamily="34" charset="0"/>
                <a:ea typeface="Calibri" pitchFamily="34" charset="-122"/>
                <a:cs typeface="Calibri" pitchFamily="34" charset="-120"/>
              </a:rPr>
              <a:t>Market study</a:t>
            </a:r>
            <a:endParaRPr lang="en-US" sz="1000" dirty="0"/>
          </a:p>
        </p:txBody>
      </p:sp>
      <p:sp>
        <p:nvSpPr>
          <p:cNvPr id="21" name="Shape 19"/>
          <p:cNvSpPr/>
          <p:nvPr/>
        </p:nvSpPr>
        <p:spPr>
          <a:xfrm>
            <a:off x="2190902" y="4160520"/>
            <a:ext cx="1510589" cy="365760"/>
          </a:xfrm>
          <a:prstGeom prst="roundRect">
            <a:avLst>
              <a:gd name="adj" fmla="val 17500"/>
            </a:avLst>
          </a:prstGeom>
          <a:solidFill>
            <a:srgbClr val="1C2536"/>
          </a:solidFill>
          <a:ln w="12700">
            <a:solidFill>
              <a:srgbClr val="38BDF8"/>
            </a:solidFill>
            <a:prstDash val="solid"/>
          </a:ln>
        </p:spPr>
      </p:sp>
      <p:sp>
        <p:nvSpPr>
          <p:cNvPr id="22" name="Text 20"/>
          <p:cNvSpPr/>
          <p:nvPr/>
        </p:nvSpPr>
        <p:spPr>
          <a:xfrm>
            <a:off x="2190902" y="4160520"/>
            <a:ext cx="1510589" cy="365760"/>
          </a:xfrm>
          <a:prstGeom prst="rect">
            <a:avLst/>
          </a:prstGeom>
          <a:noFill/>
          <a:ln/>
        </p:spPr>
        <p:txBody>
          <a:bodyPr wrap="square" lIns="0" tIns="0" rIns="0" bIns="0"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Where we stand</a:t>
            </a:r>
            <a:endParaRPr lang="en-US" sz="1000" dirty="0"/>
          </a:p>
        </p:txBody>
      </p:sp>
      <p:sp>
        <p:nvSpPr>
          <p:cNvPr id="23" name="Shape 21"/>
          <p:cNvSpPr/>
          <p:nvPr/>
        </p:nvSpPr>
        <p:spPr>
          <a:xfrm>
            <a:off x="3902659" y="4160520"/>
            <a:ext cx="883310" cy="365760"/>
          </a:xfrm>
          <a:prstGeom prst="roundRect">
            <a:avLst>
              <a:gd name="adj" fmla="val 17500"/>
            </a:avLst>
          </a:prstGeom>
          <a:solidFill>
            <a:srgbClr val="1C2536"/>
          </a:solidFill>
          <a:ln w="12700">
            <a:solidFill>
              <a:srgbClr val="A78BFA"/>
            </a:solidFill>
            <a:prstDash val="solid"/>
          </a:ln>
        </p:spPr>
      </p:sp>
      <p:sp>
        <p:nvSpPr>
          <p:cNvPr id="24" name="Text 22"/>
          <p:cNvSpPr/>
          <p:nvPr/>
        </p:nvSpPr>
        <p:spPr>
          <a:xfrm>
            <a:off x="3902659" y="4160520"/>
            <a:ext cx="883310" cy="365760"/>
          </a:xfrm>
          <a:prstGeom prst="rect">
            <a:avLst/>
          </a:prstGeom>
          <a:noFill/>
          <a:ln/>
        </p:spPr>
        <p:txBody>
          <a:bodyPr wrap="square" lIns="0" tIns="0" rIns="0" bIns="0" rtlCol="0" anchor="ctr"/>
          <a:lstStyle/>
          <a:p>
            <a:pPr algn="ctr" indent="0" marL="0">
              <a:buNone/>
            </a:pPr>
            <a:r>
              <a:rPr lang="en-US" sz="1000" b="1" dirty="0">
                <a:solidFill>
                  <a:srgbClr val="A78BFA"/>
                </a:solidFill>
                <a:latin typeface="Calibri" pitchFamily="34" charset="0"/>
                <a:ea typeface="Calibri" pitchFamily="34" charset="-122"/>
                <a:cs typeface="Calibri" pitchFamily="34" charset="-120"/>
              </a:rPr>
              <a:t>Roadmap</a:t>
            </a:r>
            <a:endParaRPr lang="en-US" sz="1000" dirty="0"/>
          </a:p>
        </p:txBody>
      </p:sp>
      <p:sp>
        <p:nvSpPr>
          <p:cNvPr id="25" name="Shape 23"/>
          <p:cNvSpPr/>
          <p:nvPr/>
        </p:nvSpPr>
        <p:spPr>
          <a:xfrm>
            <a:off x="4987138" y="4160520"/>
            <a:ext cx="1779422" cy="365760"/>
          </a:xfrm>
          <a:prstGeom prst="roundRect">
            <a:avLst>
              <a:gd name="adj" fmla="val 17500"/>
            </a:avLst>
          </a:prstGeom>
          <a:solidFill>
            <a:srgbClr val="1C2536"/>
          </a:solidFill>
          <a:ln w="12700">
            <a:solidFill>
              <a:srgbClr val="34D399"/>
            </a:solidFill>
            <a:prstDash val="solid"/>
          </a:ln>
        </p:spPr>
      </p:sp>
      <p:sp>
        <p:nvSpPr>
          <p:cNvPr id="26" name="Text 24"/>
          <p:cNvSpPr/>
          <p:nvPr/>
        </p:nvSpPr>
        <p:spPr>
          <a:xfrm>
            <a:off x="4987138" y="4160520"/>
            <a:ext cx="1779422" cy="365760"/>
          </a:xfrm>
          <a:prstGeom prst="rect">
            <a:avLst/>
          </a:prstGeom>
          <a:noFill/>
          <a:ln/>
        </p:spPr>
        <p:txBody>
          <a:bodyPr wrap="square" lIns="0" tIns="0" rIns="0" bIns="0" rtlCol="0" anchor="ctr"/>
          <a:lstStyle/>
          <a:p>
            <a:pPr algn="ctr" indent="0" marL="0">
              <a:buNone/>
            </a:pPr>
            <a:r>
              <a:rPr lang="en-US" sz="1000" b="1" dirty="0">
                <a:solidFill>
                  <a:srgbClr val="34D399"/>
                </a:solidFill>
                <a:latin typeface="Calibri" pitchFamily="34" charset="0"/>
                <a:ea typeface="Calibri" pitchFamily="34" charset="-122"/>
                <a:cs typeface="Calibri" pitchFamily="34" charset="-120"/>
              </a:rPr>
              <a:t>What is built now</a:t>
            </a:r>
            <a:endParaRPr lang="en-US" sz="1000" dirty="0"/>
          </a:p>
        </p:txBody>
      </p:sp>
      <p:sp>
        <p:nvSpPr>
          <p:cNvPr id="27" name="Text 25"/>
          <p:cNvSpPr/>
          <p:nvPr/>
        </p:nvSpPr>
        <p:spPr>
          <a:xfrm>
            <a:off x="658368" y="6126480"/>
            <a:ext cx="10972800" cy="274320"/>
          </a:xfrm>
          <a:prstGeom prst="rect">
            <a:avLst/>
          </a:prstGeom>
          <a:noFill/>
          <a:ln/>
        </p:spPr>
        <p:txBody>
          <a:bodyPr wrap="square" lIns="0" tIns="0" rIns="0" bIns="0" rtlCol="0" anchor="t"/>
          <a:lstStyle/>
          <a:p>
            <a:pPr indent="0" marL="0">
              <a:buNone/>
            </a:pPr>
            <a:r>
              <a:rPr lang="en-US" sz="1100" dirty="0">
                <a:solidFill>
                  <a:srgbClr val="5C6B85"/>
                </a:solidFill>
                <a:latin typeface="Calibri" pitchFamily="34" charset="0"/>
                <a:ea typeface="Calibri" pitchFamily="34" charset="-122"/>
                <a:cs typeface="Calibri" pitchFamily="34" charset="-120"/>
              </a:rPr>
              <a:t>CostVision  ·  Cost Engineering &amp; Digital Innovation  ·  Study July 2026, updated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EXECUTIVE SUMMARY</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What we found</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11480" y="1783080"/>
            <a:ext cx="11384280" cy="1042416"/>
          </a:xfrm>
          <a:prstGeom prst="roundRect">
            <a:avLst>
              <a:gd name="adj" fmla="val 6140"/>
            </a:avLst>
          </a:prstGeom>
          <a:solidFill>
            <a:srgbClr val="141B28"/>
          </a:solidFill>
          <a:ln w="9525">
            <a:solidFill>
              <a:srgbClr val="2B3A52"/>
            </a:solidFill>
            <a:prstDash val="solid"/>
          </a:ln>
        </p:spPr>
      </p:sp>
      <p:sp>
        <p:nvSpPr>
          <p:cNvPr id="12" name="Shape 10"/>
          <p:cNvSpPr/>
          <p:nvPr/>
        </p:nvSpPr>
        <p:spPr>
          <a:xfrm>
            <a:off x="411480" y="1783080"/>
            <a:ext cx="64008" cy="1042416"/>
          </a:xfrm>
          <a:prstGeom prst="rect">
            <a:avLst/>
          </a:prstGeom>
          <a:solidFill>
            <a:srgbClr val="2DD4BF"/>
          </a:solidFill>
          <a:ln/>
        </p:spPr>
      </p:sp>
      <p:sp>
        <p:nvSpPr>
          <p:cNvPr id="13" name="Shape 11"/>
          <p:cNvSpPr/>
          <p:nvPr/>
        </p:nvSpPr>
        <p:spPr>
          <a:xfrm>
            <a:off x="658368" y="2093976"/>
            <a:ext cx="420624" cy="420624"/>
          </a:xfrm>
          <a:prstGeom prst="ellipse">
            <a:avLst/>
          </a:prstGeom>
          <a:solidFill>
            <a:srgbClr val="2DD4BF"/>
          </a:solidFill>
          <a:ln/>
        </p:spPr>
      </p:sp>
      <p:sp>
        <p:nvSpPr>
          <p:cNvPr id="14" name="Text 12"/>
          <p:cNvSpPr/>
          <p:nvPr/>
        </p:nvSpPr>
        <p:spPr>
          <a:xfrm>
            <a:off x="658368" y="2093976"/>
            <a:ext cx="420624" cy="420624"/>
          </a:xfrm>
          <a:prstGeom prst="rect">
            <a:avLst/>
          </a:prstGeom>
          <a:noFill/>
          <a:ln/>
        </p:spPr>
        <p:txBody>
          <a:bodyPr wrap="square" lIns="0" tIns="0" rIns="0" bIns="0" rtlCol="0" anchor="ctr"/>
          <a:lstStyle/>
          <a:p>
            <a:pPr algn="ctr" indent="0" marL="0">
              <a:buNone/>
            </a:pPr>
            <a:r>
              <a:rPr lang="en-US" sz="1900" b="1" dirty="0">
                <a:solidFill>
                  <a:srgbClr val="0B0F17"/>
                </a:solidFill>
                <a:latin typeface="Calibri" pitchFamily="34" charset="0"/>
                <a:ea typeface="Calibri" pitchFamily="34" charset="-122"/>
                <a:cs typeface="Calibri" pitchFamily="34" charset="-120"/>
              </a:rPr>
              <a:t>1</a:t>
            </a:r>
            <a:endParaRPr lang="en-US" sz="1900" dirty="0"/>
          </a:p>
        </p:txBody>
      </p:sp>
      <p:sp>
        <p:nvSpPr>
          <p:cNvPr id="15" name="Text 13"/>
          <p:cNvSpPr/>
          <p:nvPr/>
        </p:nvSpPr>
        <p:spPr>
          <a:xfrm>
            <a:off x="1280160" y="1929384"/>
            <a:ext cx="4114800" cy="777240"/>
          </a:xfrm>
          <a:prstGeom prst="rect">
            <a:avLst/>
          </a:prstGeom>
          <a:noFill/>
          <a:ln/>
        </p:spPr>
        <p:txBody>
          <a:bodyPr wrap="square" lIns="0" tIns="0" rIns="0" bIns="0" rtlCol="0" anchor="ctr"/>
          <a:lstStyle/>
          <a:p>
            <a:pPr indent="0" marL="0">
              <a:buNone/>
            </a:pPr>
            <a:r>
              <a:rPr lang="en-US" sz="1300" b="1" dirty="0">
                <a:solidFill>
                  <a:srgbClr val="EAF0F8"/>
                </a:solidFill>
                <a:latin typeface="Calibri" pitchFamily="34" charset="0"/>
                <a:ea typeface="Calibri" pitchFamily="34" charset="-122"/>
                <a:cs typeface="Calibri" pitchFamily="34" charset="-120"/>
              </a:rPr>
              <a:t>The pattern is the same everywhere</a:t>
            </a:r>
            <a:endParaRPr lang="en-US" sz="1300" dirty="0"/>
          </a:p>
        </p:txBody>
      </p:sp>
      <p:sp>
        <p:nvSpPr>
          <p:cNvPr id="16" name="Text 14"/>
          <p:cNvSpPr/>
          <p:nvPr/>
        </p:nvSpPr>
        <p:spPr>
          <a:xfrm>
            <a:off x="5440680" y="1892808"/>
            <a:ext cx="6126480" cy="841248"/>
          </a:xfrm>
          <a:prstGeom prst="rect">
            <a:avLst/>
          </a:prstGeom>
          <a:noFill/>
          <a:ln/>
        </p:spPr>
        <p:txBody>
          <a:bodyPr wrap="square" lIns="0" tIns="0" rIns="0" bIns="0" rtlCol="0" anchor="ctr"/>
          <a:lstStyle/>
          <a:p>
            <a:pPr indent="0" marL="0">
              <a:lnSpc>
                <a:spcPct val="105000"/>
              </a:lnSpc>
              <a:buNone/>
            </a:pPr>
            <a:r>
              <a:rPr lang="en-US" sz="1050" dirty="0">
                <a:solidFill>
                  <a:srgbClr val="9AA7BD"/>
                </a:solidFill>
                <a:latin typeface="Calibri" pitchFamily="34" charset="0"/>
                <a:ea typeface="Calibri" pitchFamily="34" charset="-122"/>
                <a:cs typeface="Calibri" pitchFamily="34" charset="-120"/>
              </a:rPr>
              <a:t>The leading tools find features on the CAD solid (the B-rep: its exact faces and edges), turn them into cost drivers, and let a person correct the result instead of retyping the part.</a:t>
            </a:r>
            <a:endParaRPr lang="en-US" sz="1050" dirty="0"/>
          </a:p>
        </p:txBody>
      </p:sp>
      <p:sp>
        <p:nvSpPr>
          <p:cNvPr id="17" name="Shape 15"/>
          <p:cNvSpPr/>
          <p:nvPr/>
        </p:nvSpPr>
        <p:spPr>
          <a:xfrm>
            <a:off x="411480" y="2916936"/>
            <a:ext cx="11384280" cy="1042416"/>
          </a:xfrm>
          <a:prstGeom prst="roundRect">
            <a:avLst>
              <a:gd name="adj" fmla="val 6140"/>
            </a:avLst>
          </a:prstGeom>
          <a:solidFill>
            <a:srgbClr val="141B28"/>
          </a:solidFill>
          <a:ln w="9525">
            <a:solidFill>
              <a:srgbClr val="2B3A52"/>
            </a:solidFill>
            <a:prstDash val="solid"/>
          </a:ln>
        </p:spPr>
      </p:sp>
      <p:sp>
        <p:nvSpPr>
          <p:cNvPr id="18" name="Shape 16"/>
          <p:cNvSpPr/>
          <p:nvPr/>
        </p:nvSpPr>
        <p:spPr>
          <a:xfrm>
            <a:off x="411480" y="2916936"/>
            <a:ext cx="64008" cy="1042416"/>
          </a:xfrm>
          <a:prstGeom prst="rect">
            <a:avLst/>
          </a:prstGeom>
          <a:solidFill>
            <a:srgbClr val="34D399"/>
          </a:solidFill>
          <a:ln/>
        </p:spPr>
      </p:sp>
      <p:sp>
        <p:nvSpPr>
          <p:cNvPr id="19" name="Shape 17"/>
          <p:cNvSpPr/>
          <p:nvPr/>
        </p:nvSpPr>
        <p:spPr>
          <a:xfrm>
            <a:off x="658368" y="3227832"/>
            <a:ext cx="420624" cy="420624"/>
          </a:xfrm>
          <a:prstGeom prst="ellipse">
            <a:avLst/>
          </a:prstGeom>
          <a:solidFill>
            <a:srgbClr val="34D399"/>
          </a:solidFill>
          <a:ln/>
        </p:spPr>
      </p:sp>
      <p:sp>
        <p:nvSpPr>
          <p:cNvPr id="20" name="Text 18"/>
          <p:cNvSpPr/>
          <p:nvPr/>
        </p:nvSpPr>
        <p:spPr>
          <a:xfrm>
            <a:off x="658368" y="3227832"/>
            <a:ext cx="420624" cy="420624"/>
          </a:xfrm>
          <a:prstGeom prst="rect">
            <a:avLst/>
          </a:prstGeom>
          <a:noFill/>
          <a:ln/>
        </p:spPr>
        <p:txBody>
          <a:bodyPr wrap="square" lIns="0" tIns="0" rIns="0" bIns="0" rtlCol="0" anchor="ctr"/>
          <a:lstStyle/>
          <a:p>
            <a:pPr algn="ctr" indent="0" marL="0">
              <a:buNone/>
            </a:pPr>
            <a:r>
              <a:rPr lang="en-US" sz="1900" b="1" dirty="0">
                <a:solidFill>
                  <a:srgbClr val="0B0F17"/>
                </a:solidFill>
                <a:latin typeface="Calibri" pitchFamily="34" charset="0"/>
                <a:ea typeface="Calibri" pitchFamily="34" charset="-122"/>
                <a:cs typeface="Calibri" pitchFamily="34" charset="-120"/>
              </a:rPr>
              <a:t>2</a:t>
            </a:r>
            <a:endParaRPr lang="en-US" sz="1900" dirty="0"/>
          </a:p>
        </p:txBody>
      </p:sp>
      <p:sp>
        <p:nvSpPr>
          <p:cNvPr id="21" name="Text 19"/>
          <p:cNvSpPr/>
          <p:nvPr/>
        </p:nvSpPr>
        <p:spPr>
          <a:xfrm>
            <a:off x="1280160" y="3063240"/>
            <a:ext cx="4114800" cy="777240"/>
          </a:xfrm>
          <a:prstGeom prst="rect">
            <a:avLst/>
          </a:prstGeom>
          <a:noFill/>
          <a:ln/>
        </p:spPr>
        <p:txBody>
          <a:bodyPr wrap="square" lIns="0" tIns="0" rIns="0" bIns="0" rtlCol="0" anchor="ctr"/>
          <a:lstStyle/>
          <a:p>
            <a:pPr indent="0" marL="0">
              <a:buNone/>
            </a:pPr>
            <a:r>
              <a:rPr lang="en-US" sz="1300" b="1" dirty="0">
                <a:solidFill>
                  <a:srgbClr val="EAF0F8"/>
                </a:solidFill>
                <a:latin typeface="Calibri" pitchFamily="34" charset="0"/>
                <a:ea typeface="Calibri" pitchFamily="34" charset="-122"/>
                <a:cs typeface="Calibri" pitchFamily="34" charset="-120"/>
              </a:rPr>
              <a:t>We already had the hard part</a:t>
            </a:r>
            <a:endParaRPr lang="en-US" sz="1300" dirty="0"/>
          </a:p>
        </p:txBody>
      </p:sp>
      <p:sp>
        <p:nvSpPr>
          <p:cNvPr id="22" name="Text 20"/>
          <p:cNvSpPr/>
          <p:nvPr/>
        </p:nvSpPr>
        <p:spPr>
          <a:xfrm>
            <a:off x="5440680" y="3026664"/>
            <a:ext cx="6126480" cy="841248"/>
          </a:xfrm>
          <a:prstGeom prst="rect">
            <a:avLst/>
          </a:prstGeom>
          <a:noFill/>
          <a:ln/>
        </p:spPr>
        <p:txBody>
          <a:bodyPr wrap="square" lIns="0" tIns="0" rIns="0" bIns="0" rtlCol="0" anchor="ctr"/>
          <a:lstStyle/>
          <a:p>
            <a:pPr indent="0" marL="0">
              <a:lnSpc>
                <a:spcPct val="105000"/>
              </a:lnSpc>
              <a:buNone/>
            </a:pPr>
            <a:r>
              <a:rPr lang="en-US" sz="1050" dirty="0">
                <a:solidFill>
                  <a:srgbClr val="9AA7BD"/>
                </a:solidFill>
                <a:latin typeface="Calibri" pitchFamily="34" charset="0"/>
                <a:ea typeface="Calibri" pitchFamily="34" charset="-122"/>
                <a:cs typeface="Calibri" pitchFamily="34" charset="-120"/>
              </a:rPr>
              <a:t>Our geometry engine measures volume, size, walls, holes, draft and setups. Rules turn that into cost inputs. Where the geometry cannot decide, the tool asks the engineer.</a:t>
            </a:r>
            <a:endParaRPr lang="en-US" sz="1050" dirty="0"/>
          </a:p>
        </p:txBody>
      </p:sp>
      <p:sp>
        <p:nvSpPr>
          <p:cNvPr id="23" name="Shape 21"/>
          <p:cNvSpPr/>
          <p:nvPr/>
        </p:nvSpPr>
        <p:spPr>
          <a:xfrm>
            <a:off x="411480" y="4050792"/>
            <a:ext cx="11384280" cy="1042416"/>
          </a:xfrm>
          <a:prstGeom prst="roundRect">
            <a:avLst>
              <a:gd name="adj" fmla="val 6140"/>
            </a:avLst>
          </a:prstGeom>
          <a:solidFill>
            <a:srgbClr val="141B28"/>
          </a:solidFill>
          <a:ln w="9525">
            <a:solidFill>
              <a:srgbClr val="2B3A52"/>
            </a:solidFill>
            <a:prstDash val="solid"/>
          </a:ln>
        </p:spPr>
      </p:sp>
      <p:sp>
        <p:nvSpPr>
          <p:cNvPr id="24" name="Shape 22"/>
          <p:cNvSpPr/>
          <p:nvPr/>
        </p:nvSpPr>
        <p:spPr>
          <a:xfrm>
            <a:off x="411480" y="4050792"/>
            <a:ext cx="64008" cy="1042416"/>
          </a:xfrm>
          <a:prstGeom prst="rect">
            <a:avLst/>
          </a:prstGeom>
          <a:solidFill>
            <a:srgbClr val="38BDF8"/>
          </a:solidFill>
          <a:ln/>
        </p:spPr>
      </p:sp>
      <p:sp>
        <p:nvSpPr>
          <p:cNvPr id="25" name="Shape 23"/>
          <p:cNvSpPr/>
          <p:nvPr/>
        </p:nvSpPr>
        <p:spPr>
          <a:xfrm>
            <a:off x="658368" y="4361688"/>
            <a:ext cx="420624" cy="420624"/>
          </a:xfrm>
          <a:prstGeom prst="ellipse">
            <a:avLst/>
          </a:prstGeom>
          <a:solidFill>
            <a:srgbClr val="38BDF8"/>
          </a:solidFill>
          <a:ln/>
        </p:spPr>
      </p:sp>
      <p:sp>
        <p:nvSpPr>
          <p:cNvPr id="26" name="Text 24"/>
          <p:cNvSpPr/>
          <p:nvPr/>
        </p:nvSpPr>
        <p:spPr>
          <a:xfrm>
            <a:off x="658368" y="4361688"/>
            <a:ext cx="420624" cy="420624"/>
          </a:xfrm>
          <a:prstGeom prst="rect">
            <a:avLst/>
          </a:prstGeom>
          <a:noFill/>
          <a:ln/>
        </p:spPr>
        <p:txBody>
          <a:bodyPr wrap="square" lIns="0" tIns="0" rIns="0" bIns="0" rtlCol="0" anchor="ctr"/>
          <a:lstStyle/>
          <a:p>
            <a:pPr algn="ctr" indent="0" marL="0">
              <a:buNone/>
            </a:pPr>
            <a:r>
              <a:rPr lang="en-US" sz="1900" b="1" dirty="0">
                <a:solidFill>
                  <a:srgbClr val="0B0F17"/>
                </a:solidFill>
                <a:latin typeface="Calibri" pitchFamily="34" charset="0"/>
                <a:ea typeface="Calibri" pitchFamily="34" charset="-122"/>
                <a:cs typeface="Calibri" pitchFamily="34" charset="-120"/>
              </a:rPr>
              <a:t>3</a:t>
            </a:r>
            <a:endParaRPr lang="en-US" sz="1900" dirty="0"/>
          </a:p>
        </p:txBody>
      </p:sp>
      <p:sp>
        <p:nvSpPr>
          <p:cNvPr id="27" name="Text 25"/>
          <p:cNvSpPr/>
          <p:nvPr/>
        </p:nvSpPr>
        <p:spPr>
          <a:xfrm>
            <a:off x="1280160" y="4197096"/>
            <a:ext cx="4114800" cy="777240"/>
          </a:xfrm>
          <a:prstGeom prst="rect">
            <a:avLst/>
          </a:prstGeom>
          <a:noFill/>
          <a:ln/>
        </p:spPr>
        <p:txBody>
          <a:bodyPr wrap="square" lIns="0" tIns="0" rIns="0" bIns="0" rtlCol="0" anchor="ctr"/>
          <a:lstStyle/>
          <a:p>
            <a:pPr indent="0" marL="0">
              <a:buNone/>
            </a:pPr>
            <a:r>
              <a:rPr lang="en-US" sz="1300" b="1" dirty="0">
                <a:solidFill>
                  <a:srgbClr val="EAF0F8"/>
                </a:solidFill>
                <a:latin typeface="Calibri" pitchFamily="34" charset="0"/>
                <a:ea typeface="Calibri" pitchFamily="34" charset="-122"/>
                <a:cs typeface="Calibri" pitchFamily="34" charset="-120"/>
              </a:rPr>
              <a:t>The "CAD feel" is analysis on the model</a:t>
            </a:r>
            <a:endParaRPr lang="en-US" sz="1300" dirty="0"/>
          </a:p>
        </p:txBody>
      </p:sp>
      <p:sp>
        <p:nvSpPr>
          <p:cNvPr id="28" name="Text 26"/>
          <p:cNvSpPr/>
          <p:nvPr/>
        </p:nvSpPr>
        <p:spPr>
          <a:xfrm>
            <a:off x="5440680" y="4160520"/>
            <a:ext cx="6126480" cy="841248"/>
          </a:xfrm>
          <a:prstGeom prst="rect">
            <a:avLst/>
          </a:prstGeom>
          <a:noFill/>
          <a:ln/>
        </p:spPr>
        <p:txBody>
          <a:bodyPr wrap="square" lIns="0" tIns="0" rIns="0" bIns="0" rtlCol="0" anchor="ctr"/>
          <a:lstStyle/>
          <a:p>
            <a:pPr indent="0" marL="0">
              <a:lnSpc>
                <a:spcPct val="105000"/>
              </a:lnSpc>
              <a:buNone/>
            </a:pPr>
            <a:r>
              <a:rPr lang="en-US" sz="1050" dirty="0">
                <a:solidFill>
                  <a:srgbClr val="9AA7BD"/>
                </a:solidFill>
                <a:latin typeface="Calibri" pitchFamily="34" charset="0"/>
                <a:ea typeface="Calibri" pitchFamily="34" charset="-122"/>
                <a:cs typeface="Calibri" pitchFamily="34" charset="-120"/>
              </a:rPr>
              <a:t>Wall thickness and draft coloured on the part, sections, a model tree and a big canvas. Since July most of this has been built into our viewer.</a:t>
            </a:r>
            <a:endParaRPr lang="en-US" sz="1050" dirty="0"/>
          </a:p>
        </p:txBody>
      </p:sp>
      <p:sp>
        <p:nvSpPr>
          <p:cNvPr id="29" name="Shape 27"/>
          <p:cNvSpPr/>
          <p:nvPr/>
        </p:nvSpPr>
        <p:spPr>
          <a:xfrm>
            <a:off x="411480" y="5184648"/>
            <a:ext cx="11384280" cy="1042416"/>
          </a:xfrm>
          <a:prstGeom prst="roundRect">
            <a:avLst>
              <a:gd name="adj" fmla="val 6140"/>
            </a:avLst>
          </a:prstGeom>
          <a:solidFill>
            <a:srgbClr val="141B28"/>
          </a:solidFill>
          <a:ln w="9525">
            <a:solidFill>
              <a:srgbClr val="2B3A52"/>
            </a:solidFill>
            <a:prstDash val="solid"/>
          </a:ln>
        </p:spPr>
      </p:sp>
      <p:sp>
        <p:nvSpPr>
          <p:cNvPr id="30" name="Shape 28"/>
          <p:cNvSpPr/>
          <p:nvPr/>
        </p:nvSpPr>
        <p:spPr>
          <a:xfrm>
            <a:off x="411480" y="5184648"/>
            <a:ext cx="64008" cy="1042416"/>
          </a:xfrm>
          <a:prstGeom prst="rect">
            <a:avLst/>
          </a:prstGeom>
          <a:solidFill>
            <a:srgbClr val="A78BFA"/>
          </a:solidFill>
          <a:ln/>
        </p:spPr>
      </p:sp>
      <p:sp>
        <p:nvSpPr>
          <p:cNvPr id="31" name="Shape 29"/>
          <p:cNvSpPr/>
          <p:nvPr/>
        </p:nvSpPr>
        <p:spPr>
          <a:xfrm>
            <a:off x="658368" y="5495544"/>
            <a:ext cx="420624" cy="420624"/>
          </a:xfrm>
          <a:prstGeom prst="ellipse">
            <a:avLst/>
          </a:prstGeom>
          <a:solidFill>
            <a:srgbClr val="A78BFA"/>
          </a:solidFill>
          <a:ln/>
        </p:spPr>
      </p:sp>
      <p:sp>
        <p:nvSpPr>
          <p:cNvPr id="32" name="Text 30"/>
          <p:cNvSpPr/>
          <p:nvPr/>
        </p:nvSpPr>
        <p:spPr>
          <a:xfrm>
            <a:off x="658368" y="5495544"/>
            <a:ext cx="420624" cy="420624"/>
          </a:xfrm>
          <a:prstGeom prst="rect">
            <a:avLst/>
          </a:prstGeom>
          <a:noFill/>
          <a:ln/>
        </p:spPr>
        <p:txBody>
          <a:bodyPr wrap="square" lIns="0" tIns="0" rIns="0" bIns="0" rtlCol="0" anchor="ctr"/>
          <a:lstStyle/>
          <a:p>
            <a:pPr algn="ctr" indent="0" marL="0">
              <a:buNone/>
            </a:pPr>
            <a:r>
              <a:rPr lang="en-US" sz="1900" b="1" dirty="0">
                <a:solidFill>
                  <a:srgbClr val="0B0F17"/>
                </a:solidFill>
                <a:latin typeface="Calibri" pitchFamily="34" charset="0"/>
                <a:ea typeface="Calibri" pitchFamily="34" charset="-122"/>
                <a:cs typeface="Calibri" pitchFamily="34" charset="-120"/>
              </a:rPr>
              <a:t>4</a:t>
            </a:r>
            <a:endParaRPr lang="en-US" sz="1900" dirty="0"/>
          </a:p>
        </p:txBody>
      </p:sp>
      <p:sp>
        <p:nvSpPr>
          <p:cNvPr id="33" name="Text 31"/>
          <p:cNvSpPr/>
          <p:nvPr/>
        </p:nvSpPr>
        <p:spPr>
          <a:xfrm>
            <a:off x="1280160" y="5330952"/>
            <a:ext cx="4114800" cy="777240"/>
          </a:xfrm>
          <a:prstGeom prst="rect">
            <a:avLst/>
          </a:prstGeom>
          <a:noFill/>
          <a:ln/>
        </p:spPr>
        <p:txBody>
          <a:bodyPr wrap="square" lIns="0" tIns="0" rIns="0" bIns="0" rtlCol="0" anchor="ctr"/>
          <a:lstStyle/>
          <a:p>
            <a:pPr indent="0" marL="0">
              <a:buNone/>
            </a:pPr>
            <a:r>
              <a:rPr lang="en-US" sz="1300" b="1" dirty="0">
                <a:solidFill>
                  <a:srgbClr val="EAF0F8"/>
                </a:solidFill>
                <a:latin typeface="Calibri" pitchFamily="34" charset="0"/>
                <a:ea typeface="Calibri" pitchFamily="34" charset="-122"/>
                <a:cs typeface="Calibri" pitchFamily="34" charset="-120"/>
              </a:rPr>
              <a:t>What is left is deeper capture</a:t>
            </a:r>
            <a:endParaRPr lang="en-US" sz="1300" dirty="0"/>
          </a:p>
        </p:txBody>
      </p:sp>
      <p:sp>
        <p:nvSpPr>
          <p:cNvPr id="34" name="Text 32"/>
          <p:cNvSpPr/>
          <p:nvPr/>
        </p:nvSpPr>
        <p:spPr>
          <a:xfrm>
            <a:off x="5440680" y="5294376"/>
            <a:ext cx="6126480" cy="841248"/>
          </a:xfrm>
          <a:prstGeom prst="rect">
            <a:avLst/>
          </a:prstGeom>
          <a:noFill/>
          <a:ln/>
        </p:spPr>
        <p:txBody>
          <a:bodyPr wrap="square" lIns="0" tIns="0" rIns="0" bIns="0" rtlCol="0" anchor="ctr"/>
          <a:lstStyle/>
          <a:p>
            <a:pPr indent="0" marL="0">
              <a:lnSpc>
                <a:spcPct val="105000"/>
              </a:lnSpc>
              <a:buNone/>
            </a:pPr>
            <a:r>
              <a:rPr lang="en-US" sz="1050" dirty="0">
                <a:solidFill>
                  <a:srgbClr val="9AA7BD"/>
                </a:solidFill>
                <a:latin typeface="Calibri" pitchFamily="34" charset="0"/>
                <a:ea typeface="Calibri" pitchFamily="34" charset="-122"/>
                <a:cs typeface="Calibri" pitchFamily="34" charset="-120"/>
              </a:rPr>
              <a:t>Tolerances read from the CAD file, more feature types and a better STL path are still roadmap. Browser-side B-rep and learned recognition are future research.</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THE PATTERN · FROM PUBLIC MATERIAL</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How the leading tools turn CAD into cost</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57200" y="1874520"/>
            <a:ext cx="2103120" cy="1234440"/>
          </a:xfrm>
          <a:prstGeom prst="roundRect">
            <a:avLst>
              <a:gd name="adj" fmla="val 5185"/>
            </a:avLst>
          </a:prstGeom>
          <a:solidFill>
            <a:srgbClr val="1C2536"/>
          </a:solidFill>
          <a:ln w="9525">
            <a:solidFill>
              <a:srgbClr val="2B3A52"/>
            </a:solidFill>
            <a:prstDash val="solid"/>
          </a:ln>
        </p:spPr>
      </p:sp>
      <p:sp>
        <p:nvSpPr>
          <p:cNvPr id="12" name="Shape 10"/>
          <p:cNvSpPr/>
          <p:nvPr/>
        </p:nvSpPr>
        <p:spPr>
          <a:xfrm>
            <a:off x="457200" y="1874520"/>
            <a:ext cx="2103120" cy="45720"/>
          </a:xfrm>
          <a:prstGeom prst="rect">
            <a:avLst/>
          </a:prstGeom>
          <a:solidFill>
            <a:srgbClr val="9AA7BD"/>
          </a:solidFill>
          <a:ln/>
        </p:spPr>
      </p:sp>
      <p:sp>
        <p:nvSpPr>
          <p:cNvPr id="13" name="Text 11"/>
          <p:cNvSpPr/>
          <p:nvPr/>
        </p:nvSpPr>
        <p:spPr>
          <a:xfrm>
            <a:off x="585216" y="2011680"/>
            <a:ext cx="1847088" cy="365760"/>
          </a:xfrm>
          <a:prstGeom prst="rect">
            <a:avLst/>
          </a:prstGeom>
          <a:noFill/>
          <a:ln/>
        </p:spPr>
        <p:txBody>
          <a:bodyPr wrap="square" lIns="0" tIns="0" rIns="0" bIns="0" rtlCol="0" anchor="t"/>
          <a:lstStyle/>
          <a:p>
            <a:pPr indent="0" marL="0">
              <a:buNone/>
            </a:pPr>
            <a:r>
              <a:rPr lang="en-US" sz="1200" b="1" dirty="0">
                <a:solidFill>
                  <a:srgbClr val="9AA7BD"/>
                </a:solidFill>
                <a:latin typeface="Calibri" pitchFamily="34" charset="0"/>
                <a:ea typeface="Calibri" pitchFamily="34" charset="-122"/>
                <a:cs typeface="Calibri" pitchFamily="34" charset="-120"/>
              </a:rPr>
              <a:t>3D model</a:t>
            </a:r>
            <a:endParaRPr lang="en-US" sz="1200" dirty="0"/>
          </a:p>
        </p:txBody>
      </p:sp>
      <p:sp>
        <p:nvSpPr>
          <p:cNvPr id="14" name="Text 12"/>
          <p:cNvSpPr/>
          <p:nvPr/>
        </p:nvSpPr>
        <p:spPr>
          <a:xfrm>
            <a:off x="585216" y="2359152"/>
            <a:ext cx="1847088" cy="658368"/>
          </a:xfrm>
          <a:prstGeom prst="rect">
            <a:avLst/>
          </a:prstGeom>
          <a:noFill/>
          <a:ln/>
        </p:spPr>
        <p:txBody>
          <a:bodyPr wrap="square" lIns="0" tIns="0" rIns="0" bIns="0" rtlCol="0" anchor="t"/>
          <a:lstStyle/>
          <a:p>
            <a:pPr indent="0" marL="0">
              <a:lnSpc>
                <a:spcPct val="104000"/>
              </a:lnSpc>
              <a:buNone/>
            </a:pPr>
            <a:r>
              <a:rPr lang="en-US" sz="850" dirty="0">
                <a:solidFill>
                  <a:srgbClr val="9AA7BD"/>
                </a:solidFill>
                <a:latin typeface="Calibri" pitchFamily="34" charset="0"/>
                <a:ea typeface="Calibri" pitchFamily="34" charset="-122"/>
                <a:cs typeface="Calibri" pitchFamily="34" charset="-120"/>
              </a:rPr>
              <a:t>STEP, native CAD or Parasolid file</a:t>
            </a:r>
            <a:endParaRPr lang="en-US" sz="850" dirty="0"/>
          </a:p>
        </p:txBody>
      </p:sp>
      <p:sp>
        <p:nvSpPr>
          <p:cNvPr id="15" name="Text 13"/>
          <p:cNvSpPr/>
          <p:nvPr/>
        </p:nvSpPr>
        <p:spPr>
          <a:xfrm>
            <a:off x="2542032" y="2148840"/>
            <a:ext cx="292608" cy="457200"/>
          </a:xfrm>
          <a:prstGeom prst="rect">
            <a:avLst/>
          </a:prstGeom>
          <a:noFill/>
          <a:ln/>
        </p:spPr>
        <p:txBody>
          <a:bodyPr wrap="square" lIns="0" tIns="0" rIns="0" bIns="0" rtlCol="0" anchor="t"/>
          <a:lstStyle/>
          <a:p>
            <a:pPr algn="ctr" indent="0" marL="0">
              <a:buNone/>
            </a:pPr>
            <a:r>
              <a:rPr lang="en-US" sz="1600" b="1" dirty="0">
                <a:solidFill>
                  <a:srgbClr val="2DD4B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2761488" y="1874520"/>
            <a:ext cx="2103120" cy="1234440"/>
          </a:xfrm>
          <a:prstGeom prst="roundRect">
            <a:avLst>
              <a:gd name="adj" fmla="val 5185"/>
            </a:avLst>
          </a:prstGeom>
          <a:solidFill>
            <a:srgbClr val="1C2536"/>
          </a:solidFill>
          <a:ln w="9525">
            <a:solidFill>
              <a:srgbClr val="2B3A52"/>
            </a:solidFill>
            <a:prstDash val="solid"/>
          </a:ln>
        </p:spPr>
      </p:sp>
      <p:sp>
        <p:nvSpPr>
          <p:cNvPr id="17" name="Shape 15"/>
          <p:cNvSpPr/>
          <p:nvPr/>
        </p:nvSpPr>
        <p:spPr>
          <a:xfrm>
            <a:off x="2761488" y="1874520"/>
            <a:ext cx="2103120" cy="45720"/>
          </a:xfrm>
          <a:prstGeom prst="rect">
            <a:avLst/>
          </a:prstGeom>
          <a:solidFill>
            <a:srgbClr val="2DD4BF"/>
          </a:solidFill>
          <a:ln/>
        </p:spPr>
      </p:sp>
      <p:sp>
        <p:nvSpPr>
          <p:cNvPr id="18" name="Text 16"/>
          <p:cNvSpPr/>
          <p:nvPr/>
        </p:nvSpPr>
        <p:spPr>
          <a:xfrm>
            <a:off x="2889504" y="2011680"/>
            <a:ext cx="1847088" cy="365760"/>
          </a:xfrm>
          <a:prstGeom prst="rect">
            <a:avLst/>
          </a:prstGeom>
          <a:noFill/>
          <a:ln/>
        </p:spPr>
        <p:txBody>
          <a:bodyPr wrap="square" lIns="0" tIns="0" rIns="0" bIns="0" rtlCol="0" anchor="t"/>
          <a:lstStyle/>
          <a:p>
            <a:pPr indent="0" marL="0">
              <a:buNone/>
            </a:pPr>
            <a:r>
              <a:rPr lang="en-US" sz="1200" b="1" dirty="0">
                <a:solidFill>
                  <a:srgbClr val="2DD4BF"/>
                </a:solidFill>
                <a:latin typeface="Calibri" pitchFamily="34" charset="0"/>
                <a:ea typeface="Calibri" pitchFamily="34" charset="-122"/>
                <a:cs typeface="Calibri" pitchFamily="34" charset="-120"/>
              </a:rPr>
              <a:t>Feature finding</a:t>
            </a:r>
            <a:endParaRPr lang="en-US" sz="1200" dirty="0"/>
          </a:p>
        </p:txBody>
      </p:sp>
      <p:sp>
        <p:nvSpPr>
          <p:cNvPr id="19" name="Text 17"/>
          <p:cNvSpPr/>
          <p:nvPr/>
        </p:nvSpPr>
        <p:spPr>
          <a:xfrm>
            <a:off x="2889504" y="2359152"/>
            <a:ext cx="1847088" cy="658368"/>
          </a:xfrm>
          <a:prstGeom prst="rect">
            <a:avLst/>
          </a:prstGeom>
          <a:noFill/>
          <a:ln/>
        </p:spPr>
        <p:txBody>
          <a:bodyPr wrap="square" lIns="0" tIns="0" rIns="0" bIns="0" rtlCol="0" anchor="t"/>
          <a:lstStyle/>
          <a:p>
            <a:pPr indent="0" marL="0">
              <a:lnSpc>
                <a:spcPct val="104000"/>
              </a:lnSpc>
              <a:buNone/>
            </a:pPr>
            <a:r>
              <a:rPr lang="en-US" sz="850" dirty="0">
                <a:solidFill>
                  <a:srgbClr val="9AA7BD"/>
                </a:solidFill>
                <a:latin typeface="Calibri" pitchFamily="34" charset="0"/>
                <a:ea typeface="Calibri" pitchFamily="34" charset="-122"/>
                <a:cs typeface="Calibri" pitchFamily="34" charset="-120"/>
              </a:rPr>
              <a:t>find holes, pockets, bends, ribs, undercuts (AFR: automatic feature recognition)</a:t>
            </a:r>
            <a:endParaRPr lang="en-US" sz="850" dirty="0"/>
          </a:p>
        </p:txBody>
      </p:sp>
      <p:sp>
        <p:nvSpPr>
          <p:cNvPr id="20" name="Text 18"/>
          <p:cNvSpPr/>
          <p:nvPr/>
        </p:nvSpPr>
        <p:spPr>
          <a:xfrm>
            <a:off x="4846320" y="2148840"/>
            <a:ext cx="292608" cy="457200"/>
          </a:xfrm>
          <a:prstGeom prst="rect">
            <a:avLst/>
          </a:prstGeom>
          <a:noFill/>
          <a:ln/>
        </p:spPr>
        <p:txBody>
          <a:bodyPr wrap="square" lIns="0" tIns="0" rIns="0" bIns="0" rtlCol="0" anchor="t"/>
          <a:lstStyle/>
          <a:p>
            <a:pPr algn="ctr" indent="0" marL="0">
              <a:buNone/>
            </a:pPr>
            <a:r>
              <a:rPr lang="en-US" sz="1600" b="1" dirty="0">
                <a:solidFill>
                  <a:srgbClr val="2DD4BF"/>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5065776" y="1874520"/>
            <a:ext cx="2103120" cy="1234440"/>
          </a:xfrm>
          <a:prstGeom prst="roundRect">
            <a:avLst>
              <a:gd name="adj" fmla="val 5185"/>
            </a:avLst>
          </a:prstGeom>
          <a:solidFill>
            <a:srgbClr val="1C2536"/>
          </a:solidFill>
          <a:ln w="9525">
            <a:solidFill>
              <a:srgbClr val="2B3A52"/>
            </a:solidFill>
            <a:prstDash val="solid"/>
          </a:ln>
        </p:spPr>
      </p:sp>
      <p:sp>
        <p:nvSpPr>
          <p:cNvPr id="22" name="Shape 20"/>
          <p:cNvSpPr/>
          <p:nvPr/>
        </p:nvSpPr>
        <p:spPr>
          <a:xfrm>
            <a:off x="5065776" y="1874520"/>
            <a:ext cx="2103120" cy="45720"/>
          </a:xfrm>
          <a:prstGeom prst="rect">
            <a:avLst/>
          </a:prstGeom>
          <a:solidFill>
            <a:srgbClr val="38BDF8"/>
          </a:solidFill>
          <a:ln/>
        </p:spPr>
      </p:sp>
      <p:sp>
        <p:nvSpPr>
          <p:cNvPr id="23" name="Text 21"/>
          <p:cNvSpPr/>
          <p:nvPr/>
        </p:nvSpPr>
        <p:spPr>
          <a:xfrm>
            <a:off x="5193792" y="2011680"/>
            <a:ext cx="1847088" cy="365760"/>
          </a:xfrm>
          <a:prstGeom prst="rect">
            <a:avLst/>
          </a:prstGeom>
          <a:noFill/>
          <a:ln/>
        </p:spPr>
        <p:txBody>
          <a:bodyPr wrap="square" lIns="0" tIns="0" rIns="0" bIns="0" rtlCol="0" anchor="t"/>
          <a:lstStyle/>
          <a:p>
            <a:pPr indent="0" marL="0">
              <a:buNone/>
            </a:pPr>
            <a:r>
              <a:rPr lang="en-US" sz="1200" b="1" dirty="0">
                <a:solidFill>
                  <a:srgbClr val="38BDF8"/>
                </a:solidFill>
                <a:latin typeface="Calibri" pitchFamily="34" charset="0"/>
                <a:ea typeface="Calibri" pitchFamily="34" charset="-122"/>
                <a:cs typeface="Calibri" pitchFamily="34" charset="-120"/>
              </a:rPr>
              <a:t>Cost drivers</a:t>
            </a:r>
            <a:endParaRPr lang="en-US" sz="1200" dirty="0"/>
          </a:p>
        </p:txBody>
      </p:sp>
      <p:sp>
        <p:nvSpPr>
          <p:cNvPr id="24" name="Text 22"/>
          <p:cNvSpPr/>
          <p:nvPr/>
        </p:nvSpPr>
        <p:spPr>
          <a:xfrm>
            <a:off x="5193792" y="2359152"/>
            <a:ext cx="1847088" cy="658368"/>
          </a:xfrm>
          <a:prstGeom prst="rect">
            <a:avLst/>
          </a:prstGeom>
          <a:noFill/>
          <a:ln/>
        </p:spPr>
        <p:txBody>
          <a:bodyPr wrap="square" lIns="0" tIns="0" rIns="0" bIns="0" rtlCol="0" anchor="t"/>
          <a:lstStyle/>
          <a:p>
            <a:pPr indent="0" marL="0">
              <a:lnSpc>
                <a:spcPct val="104000"/>
              </a:lnSpc>
              <a:buNone/>
            </a:pPr>
            <a:r>
              <a:rPr lang="en-US" sz="850" dirty="0">
                <a:solidFill>
                  <a:srgbClr val="9AA7BD"/>
                </a:solidFill>
                <a:latin typeface="Calibri" pitchFamily="34" charset="0"/>
                <a:ea typeface="Calibri" pitchFamily="34" charset="-122"/>
                <a:cs typeface="Calibri" pitchFamily="34" charset="-120"/>
              </a:rPr>
              <a:t>each feature maps to a route, operations and tooling</a:t>
            </a:r>
            <a:endParaRPr lang="en-US" sz="850" dirty="0"/>
          </a:p>
        </p:txBody>
      </p:sp>
      <p:sp>
        <p:nvSpPr>
          <p:cNvPr id="25" name="Text 23"/>
          <p:cNvSpPr/>
          <p:nvPr/>
        </p:nvSpPr>
        <p:spPr>
          <a:xfrm>
            <a:off x="7150608" y="2148840"/>
            <a:ext cx="292608" cy="457200"/>
          </a:xfrm>
          <a:prstGeom prst="rect">
            <a:avLst/>
          </a:prstGeom>
          <a:noFill/>
          <a:ln/>
        </p:spPr>
        <p:txBody>
          <a:bodyPr wrap="square" lIns="0" tIns="0" rIns="0" bIns="0" rtlCol="0" anchor="t"/>
          <a:lstStyle/>
          <a:p>
            <a:pPr algn="ctr" indent="0" marL="0">
              <a:buNone/>
            </a:pPr>
            <a:r>
              <a:rPr lang="en-US" sz="1600" b="1" dirty="0">
                <a:solidFill>
                  <a:srgbClr val="2DD4BF"/>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7370064" y="1874520"/>
            <a:ext cx="2103120" cy="1234440"/>
          </a:xfrm>
          <a:prstGeom prst="roundRect">
            <a:avLst>
              <a:gd name="adj" fmla="val 5185"/>
            </a:avLst>
          </a:prstGeom>
          <a:solidFill>
            <a:srgbClr val="1C2536"/>
          </a:solidFill>
          <a:ln w="9525">
            <a:solidFill>
              <a:srgbClr val="2B3A52"/>
            </a:solidFill>
            <a:prstDash val="solid"/>
          </a:ln>
        </p:spPr>
      </p:sp>
      <p:sp>
        <p:nvSpPr>
          <p:cNvPr id="27" name="Shape 25"/>
          <p:cNvSpPr/>
          <p:nvPr/>
        </p:nvSpPr>
        <p:spPr>
          <a:xfrm>
            <a:off x="7370064" y="1874520"/>
            <a:ext cx="2103120" cy="45720"/>
          </a:xfrm>
          <a:prstGeom prst="rect">
            <a:avLst/>
          </a:prstGeom>
          <a:solidFill>
            <a:srgbClr val="FBBF24"/>
          </a:solidFill>
          <a:ln/>
        </p:spPr>
      </p:sp>
      <p:sp>
        <p:nvSpPr>
          <p:cNvPr id="28" name="Text 26"/>
          <p:cNvSpPr/>
          <p:nvPr/>
        </p:nvSpPr>
        <p:spPr>
          <a:xfrm>
            <a:off x="7498080" y="2011680"/>
            <a:ext cx="1847088" cy="365760"/>
          </a:xfrm>
          <a:prstGeom prst="rect">
            <a:avLst/>
          </a:prstGeom>
          <a:noFill/>
          <a:ln/>
        </p:spPr>
        <p:txBody>
          <a:bodyPr wrap="square" lIns="0" tIns="0" rIns="0" bIns="0" rtlCol="0" anchor="t"/>
          <a:lstStyle/>
          <a:p>
            <a:pPr indent="0" marL="0">
              <a:buNone/>
            </a:pPr>
            <a:r>
              <a:rPr lang="en-US" sz="1200" b="1" dirty="0">
                <a:solidFill>
                  <a:srgbClr val="FBBF24"/>
                </a:solidFill>
                <a:latin typeface="Calibri" pitchFamily="34" charset="0"/>
                <a:ea typeface="Calibri" pitchFamily="34" charset="-122"/>
                <a:cs typeface="Calibri" pitchFamily="34" charset="-120"/>
              </a:rPr>
              <a:t>Person corrects</a:t>
            </a:r>
            <a:endParaRPr lang="en-US" sz="1200" dirty="0"/>
          </a:p>
        </p:txBody>
      </p:sp>
      <p:sp>
        <p:nvSpPr>
          <p:cNvPr id="29" name="Text 27"/>
          <p:cNvSpPr/>
          <p:nvPr/>
        </p:nvSpPr>
        <p:spPr>
          <a:xfrm>
            <a:off x="7498080" y="2359152"/>
            <a:ext cx="1847088" cy="658368"/>
          </a:xfrm>
          <a:prstGeom prst="rect">
            <a:avLst/>
          </a:prstGeom>
          <a:noFill/>
          <a:ln/>
        </p:spPr>
        <p:txBody>
          <a:bodyPr wrap="square" lIns="0" tIns="0" rIns="0" bIns="0" rtlCol="0" anchor="t"/>
          <a:lstStyle/>
          <a:p>
            <a:pPr indent="0" marL="0">
              <a:lnSpc>
                <a:spcPct val="104000"/>
              </a:lnSpc>
              <a:buNone/>
            </a:pPr>
            <a:r>
              <a:rPr lang="en-US" sz="850" dirty="0">
                <a:solidFill>
                  <a:srgbClr val="9AA7BD"/>
                </a:solidFill>
                <a:latin typeface="Calibri" pitchFamily="34" charset="0"/>
                <a:ea typeface="Calibri" pitchFamily="34" charset="-122"/>
                <a:cs typeface="Calibri" pitchFamily="34" charset="-120"/>
              </a:rPr>
              <a:t>fix a feature that was read wrong; no retyping the part</a:t>
            </a:r>
            <a:endParaRPr lang="en-US" sz="850" dirty="0"/>
          </a:p>
        </p:txBody>
      </p:sp>
      <p:sp>
        <p:nvSpPr>
          <p:cNvPr id="30" name="Text 28"/>
          <p:cNvSpPr/>
          <p:nvPr/>
        </p:nvSpPr>
        <p:spPr>
          <a:xfrm>
            <a:off x="9454896" y="2148840"/>
            <a:ext cx="292608" cy="457200"/>
          </a:xfrm>
          <a:prstGeom prst="rect">
            <a:avLst/>
          </a:prstGeom>
          <a:noFill/>
          <a:ln/>
        </p:spPr>
        <p:txBody>
          <a:bodyPr wrap="square" lIns="0" tIns="0" rIns="0" bIns="0" rtlCol="0" anchor="t"/>
          <a:lstStyle/>
          <a:p>
            <a:pPr algn="ctr" indent="0" marL="0">
              <a:buNone/>
            </a:pPr>
            <a:r>
              <a:rPr lang="en-US" sz="1600" b="1" dirty="0">
                <a:solidFill>
                  <a:srgbClr val="2DD4BF"/>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9674352" y="1874520"/>
            <a:ext cx="2103120" cy="1234440"/>
          </a:xfrm>
          <a:prstGeom prst="roundRect">
            <a:avLst>
              <a:gd name="adj" fmla="val 5185"/>
            </a:avLst>
          </a:prstGeom>
          <a:solidFill>
            <a:srgbClr val="1C2536"/>
          </a:solidFill>
          <a:ln w="9525">
            <a:solidFill>
              <a:srgbClr val="2B3A52"/>
            </a:solidFill>
            <a:prstDash val="solid"/>
          </a:ln>
        </p:spPr>
      </p:sp>
      <p:sp>
        <p:nvSpPr>
          <p:cNvPr id="32" name="Shape 30"/>
          <p:cNvSpPr/>
          <p:nvPr/>
        </p:nvSpPr>
        <p:spPr>
          <a:xfrm>
            <a:off x="9674352" y="1874520"/>
            <a:ext cx="2103120" cy="45720"/>
          </a:xfrm>
          <a:prstGeom prst="rect">
            <a:avLst/>
          </a:prstGeom>
          <a:solidFill>
            <a:srgbClr val="34D399"/>
          </a:solidFill>
          <a:ln/>
        </p:spPr>
      </p:sp>
      <p:sp>
        <p:nvSpPr>
          <p:cNvPr id="33" name="Text 31"/>
          <p:cNvSpPr/>
          <p:nvPr/>
        </p:nvSpPr>
        <p:spPr>
          <a:xfrm>
            <a:off x="9802368" y="2011680"/>
            <a:ext cx="1847088" cy="365760"/>
          </a:xfrm>
          <a:prstGeom prst="rect">
            <a:avLst/>
          </a:prstGeom>
          <a:noFill/>
          <a:ln/>
        </p:spPr>
        <p:txBody>
          <a:bodyPr wrap="square" lIns="0" tIns="0" rIns="0" bIns="0" rtlCol="0" anchor="t"/>
          <a:lstStyle/>
          <a:p>
            <a:pPr indent="0" marL="0">
              <a:buNone/>
            </a:pPr>
            <a:r>
              <a:rPr lang="en-US" sz="1200" b="1" dirty="0">
                <a:solidFill>
                  <a:srgbClr val="34D399"/>
                </a:solidFill>
                <a:latin typeface="Calibri" pitchFamily="34" charset="0"/>
                <a:ea typeface="Calibri" pitchFamily="34" charset="-122"/>
                <a:cs typeface="Calibri" pitchFamily="34" charset="-120"/>
              </a:rPr>
              <a:t>Should-cost</a:t>
            </a:r>
            <a:endParaRPr lang="en-US" sz="1200" dirty="0"/>
          </a:p>
        </p:txBody>
      </p:sp>
      <p:sp>
        <p:nvSpPr>
          <p:cNvPr id="34" name="Text 32"/>
          <p:cNvSpPr/>
          <p:nvPr/>
        </p:nvSpPr>
        <p:spPr>
          <a:xfrm>
            <a:off x="9802368" y="2359152"/>
            <a:ext cx="1847088" cy="658368"/>
          </a:xfrm>
          <a:prstGeom prst="rect">
            <a:avLst/>
          </a:prstGeom>
          <a:noFill/>
          <a:ln/>
        </p:spPr>
        <p:txBody>
          <a:bodyPr wrap="square" lIns="0" tIns="0" rIns="0" bIns="0" rtlCol="0" anchor="t"/>
          <a:lstStyle/>
          <a:p>
            <a:pPr indent="0" marL="0">
              <a:lnSpc>
                <a:spcPct val="104000"/>
              </a:lnSpc>
              <a:buNone/>
            </a:pPr>
            <a:r>
              <a:rPr lang="en-US" sz="850" dirty="0">
                <a:solidFill>
                  <a:srgbClr val="9AA7BD"/>
                </a:solidFill>
                <a:latin typeface="Calibri" pitchFamily="34" charset="0"/>
                <a:ea typeface="Calibri" pitchFamily="34" charset="-122"/>
                <a:cs typeface="Calibri" pitchFamily="34" charset="-120"/>
              </a:rPr>
              <a:t>built up from the drivers, so it can be explained</a:t>
            </a:r>
            <a:endParaRPr lang="en-US" sz="850" dirty="0"/>
          </a:p>
        </p:txBody>
      </p:sp>
      <p:sp>
        <p:nvSpPr>
          <p:cNvPr id="35" name="Shape 33"/>
          <p:cNvSpPr/>
          <p:nvPr/>
        </p:nvSpPr>
        <p:spPr>
          <a:xfrm>
            <a:off x="457200" y="3520440"/>
            <a:ext cx="5532120" cy="2514600"/>
          </a:xfrm>
          <a:prstGeom prst="roundRect">
            <a:avLst>
              <a:gd name="adj" fmla="val 2545"/>
            </a:avLst>
          </a:prstGeom>
          <a:solidFill>
            <a:srgbClr val="1C2536"/>
          </a:solidFill>
          <a:ln w="9525">
            <a:solidFill>
              <a:srgbClr val="2B3A52"/>
            </a:solidFill>
            <a:prstDash val="solid"/>
          </a:ln>
        </p:spPr>
      </p:sp>
      <p:sp>
        <p:nvSpPr>
          <p:cNvPr id="36" name="Shape 34"/>
          <p:cNvSpPr/>
          <p:nvPr/>
        </p:nvSpPr>
        <p:spPr>
          <a:xfrm>
            <a:off x="457200" y="3520440"/>
            <a:ext cx="64008" cy="2514600"/>
          </a:xfrm>
          <a:prstGeom prst="rect">
            <a:avLst/>
          </a:prstGeom>
          <a:solidFill>
            <a:srgbClr val="2DD4BF"/>
          </a:solidFill>
          <a:ln/>
        </p:spPr>
      </p:sp>
      <p:sp>
        <p:nvSpPr>
          <p:cNvPr id="37" name="Text 35"/>
          <p:cNvSpPr/>
          <p:nvPr/>
        </p:nvSpPr>
        <p:spPr>
          <a:xfrm>
            <a:off x="640080" y="3630168"/>
            <a:ext cx="5221224" cy="365760"/>
          </a:xfrm>
          <a:prstGeom prst="rect">
            <a:avLst/>
          </a:prstGeom>
          <a:noFill/>
          <a:ln/>
        </p:spPr>
        <p:txBody>
          <a:bodyPr wrap="square" lIns="0" tIns="0" rIns="0" bIns="0" rtlCol="0" anchor="t"/>
          <a:lstStyle/>
          <a:p>
            <a:pPr indent="0" marL="0">
              <a:buNone/>
            </a:pPr>
            <a:r>
              <a:rPr lang="en-US" sz="1050" b="1" dirty="0">
                <a:solidFill>
                  <a:srgbClr val="EAF0F8"/>
                </a:solidFill>
                <a:latin typeface="Calibri" pitchFamily="34" charset="0"/>
                <a:ea typeface="Calibri" pitchFamily="34" charset="-122"/>
                <a:cs typeface="Calibri" pitchFamily="34" charset="-120"/>
              </a:rPr>
              <a:t>aPriori — geometric cost drivers</a:t>
            </a:r>
            <a:endParaRPr lang="en-US" sz="1050" dirty="0"/>
          </a:p>
        </p:txBody>
      </p:sp>
      <p:sp>
        <p:nvSpPr>
          <p:cNvPr id="38" name="Text 36"/>
          <p:cNvSpPr/>
          <p:nvPr/>
        </p:nvSpPr>
        <p:spPr>
          <a:xfrm>
            <a:off x="640080" y="3941064"/>
            <a:ext cx="5221224" cy="205740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As aPriori describes it, the tool reads the 3D model, breaks it into individual geometric cost drivers, and builds the cost from the bottom up.</a:t>
            </a:r>
            <a:endParaRPr lang="en-US" sz="1050" dirty="0"/>
          </a:p>
          <a:p>
            <a:pPr indent="0" marL="0">
              <a:lnSpc>
                <a:spcPct val="106000"/>
              </a:lnSpc>
              <a:buNone/>
            </a:pPr>
            <a:endParaRPr lang="en-US" sz="1050" dirty="0"/>
          </a:p>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It can cost from STEP and Parasolid files, which carry no feature history. That suggests it reads the shape itself rather than replaying how the designer built it. Tolerances can be added to drivers to steer the process route.</a:t>
            </a:r>
            <a:endParaRPr lang="en-US" sz="1050" dirty="0"/>
          </a:p>
        </p:txBody>
      </p:sp>
      <p:sp>
        <p:nvSpPr>
          <p:cNvPr id="39" name="Shape 37"/>
          <p:cNvSpPr/>
          <p:nvPr/>
        </p:nvSpPr>
        <p:spPr>
          <a:xfrm>
            <a:off x="6172200" y="3520440"/>
            <a:ext cx="5577840" cy="2514600"/>
          </a:xfrm>
          <a:prstGeom prst="roundRect">
            <a:avLst>
              <a:gd name="adj" fmla="val 2545"/>
            </a:avLst>
          </a:prstGeom>
          <a:solidFill>
            <a:srgbClr val="1C2536"/>
          </a:solidFill>
          <a:ln w="9525">
            <a:solidFill>
              <a:srgbClr val="2B3A52"/>
            </a:solidFill>
            <a:prstDash val="solid"/>
          </a:ln>
        </p:spPr>
      </p:sp>
      <p:sp>
        <p:nvSpPr>
          <p:cNvPr id="40" name="Shape 38"/>
          <p:cNvSpPr/>
          <p:nvPr/>
        </p:nvSpPr>
        <p:spPr>
          <a:xfrm>
            <a:off x="6172200" y="3520440"/>
            <a:ext cx="64008" cy="2514600"/>
          </a:xfrm>
          <a:prstGeom prst="rect">
            <a:avLst/>
          </a:prstGeom>
          <a:solidFill>
            <a:srgbClr val="38BDF8"/>
          </a:solidFill>
          <a:ln/>
        </p:spPr>
      </p:sp>
      <p:sp>
        <p:nvSpPr>
          <p:cNvPr id="41" name="Text 39"/>
          <p:cNvSpPr/>
          <p:nvPr/>
        </p:nvSpPr>
        <p:spPr>
          <a:xfrm>
            <a:off x="6355080" y="3630168"/>
            <a:ext cx="5266944" cy="365760"/>
          </a:xfrm>
          <a:prstGeom prst="rect">
            <a:avLst/>
          </a:prstGeom>
          <a:noFill/>
          <a:ln/>
        </p:spPr>
        <p:txBody>
          <a:bodyPr wrap="square" lIns="0" tIns="0" rIns="0" bIns="0" rtlCol="0" anchor="t"/>
          <a:lstStyle/>
          <a:p>
            <a:pPr indent="0" marL="0">
              <a:buNone/>
            </a:pPr>
            <a:r>
              <a:rPr lang="en-US" sz="1050" b="1" dirty="0">
                <a:solidFill>
                  <a:srgbClr val="EAF0F8"/>
                </a:solidFill>
                <a:latin typeface="Calibri" pitchFamily="34" charset="0"/>
                <a:ea typeface="Calibri" pitchFamily="34" charset="-122"/>
                <a:cs typeface="Calibri" pitchFamily="34" charset="-120"/>
              </a:rPr>
              <a:t>Siemens NX Feature2Cost</a:t>
            </a:r>
            <a:endParaRPr lang="en-US" sz="1050" dirty="0"/>
          </a:p>
        </p:txBody>
      </p:sp>
      <p:sp>
        <p:nvSpPr>
          <p:cNvPr id="42" name="Text 40"/>
          <p:cNvSpPr/>
          <p:nvPr/>
        </p:nvSpPr>
        <p:spPr>
          <a:xfrm>
            <a:off x="6355080" y="3941064"/>
            <a:ext cx="5266944" cy="205740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As Siemens describes it, commodity modules (moulding, stamping) analyse the geometry and pick out part dimensions, ribs, undercuts, bends and progressive-die features.</a:t>
            </a:r>
            <a:endParaRPr lang="en-US" sz="1050" dirty="0"/>
          </a:p>
          <a:p>
            <a:pPr indent="0" marL="0">
              <a:lnSpc>
                <a:spcPct val="106000"/>
              </a:lnSpc>
              <a:buNone/>
            </a:pPr>
            <a:endParaRPr lang="en-US" sz="1050" dirty="0"/>
          </a:p>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Those become cost drivers. The user can correct them, and they pass into Siemens' own product-costing software.</a:t>
            </a:r>
            <a:endParaRPr lang="en-US" sz="1050" dirty="0"/>
          </a:p>
        </p:txBody>
      </p:sp>
      <p:sp>
        <p:nvSpPr>
          <p:cNvPr id="43" name="Text 41"/>
          <p:cNvSpPr/>
          <p:nvPr/>
        </p:nvSpPr>
        <p:spPr>
          <a:xfrm>
            <a:off x="457200" y="6126480"/>
            <a:ext cx="11292840" cy="256032"/>
          </a:xfrm>
          <a:prstGeom prst="rect">
            <a:avLst/>
          </a:prstGeom>
          <a:noFill/>
          <a:ln/>
        </p:spPr>
        <p:txBody>
          <a:bodyPr wrap="square" lIns="0" tIns="0" rIns="0" bIns="0" rtlCol="0" anchor="t"/>
          <a:lstStyle/>
          <a:p>
            <a:pPr indent="0" marL="0">
              <a:buNone/>
            </a:pPr>
            <a:r>
              <a:rPr lang="en-US" sz="800" i="1" dirty="0">
                <a:solidFill>
                  <a:srgbClr val="5C6B85"/>
                </a:solidFill>
                <a:latin typeface="Calibri" pitchFamily="34" charset="0"/>
                <a:ea typeface="Calibri" pitchFamily="34" charset="-122"/>
                <a:cs typeface="Calibri" pitchFamily="34" charset="-120"/>
              </a:rPr>
              <a:t>Source: each vendor's public product material and blogs, read July 2026. Not tested hands-on by us.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THE LANDSCAPE</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Capability comparison</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Text 9"/>
          <p:cNvSpPr/>
          <p:nvPr/>
        </p:nvSpPr>
        <p:spPr>
          <a:xfrm>
            <a:off x="3063240" y="2066544"/>
            <a:ext cx="1455420" cy="530352"/>
          </a:xfrm>
          <a:prstGeom prst="rect">
            <a:avLst/>
          </a:prstGeom>
          <a:noFill/>
          <a:ln/>
        </p:spPr>
        <p:txBody>
          <a:bodyPr wrap="square" lIns="0" tIns="0" rIns="0" bIns="0" rtlCol="0" anchor="ctr"/>
          <a:lstStyle/>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B-rep feature</a:t>
            </a:r>
            <a:endParaRPr lang="en-US" sz="850" dirty="0"/>
          </a:p>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recognition</a:t>
            </a:r>
            <a:endParaRPr lang="en-US" sz="850" dirty="0"/>
          </a:p>
        </p:txBody>
      </p:sp>
      <p:sp>
        <p:nvSpPr>
          <p:cNvPr id="12" name="Text 10"/>
          <p:cNvSpPr/>
          <p:nvPr/>
        </p:nvSpPr>
        <p:spPr>
          <a:xfrm>
            <a:off x="4518660" y="2066544"/>
            <a:ext cx="1455420" cy="530352"/>
          </a:xfrm>
          <a:prstGeom prst="rect">
            <a:avLst/>
          </a:prstGeom>
          <a:noFill/>
          <a:ln/>
        </p:spPr>
        <p:txBody>
          <a:bodyPr wrap="square" lIns="0" tIns="0" rIns="0" bIns="0" rtlCol="0" anchor="ctr"/>
          <a:lstStyle/>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On-model DFM</a:t>
            </a:r>
            <a:endParaRPr lang="en-US" sz="850" dirty="0"/>
          </a:p>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overlays</a:t>
            </a:r>
            <a:endParaRPr lang="en-US" sz="850" dirty="0"/>
          </a:p>
        </p:txBody>
      </p:sp>
      <p:sp>
        <p:nvSpPr>
          <p:cNvPr id="13" name="Text 11"/>
          <p:cNvSpPr/>
          <p:nvPr/>
        </p:nvSpPr>
        <p:spPr>
          <a:xfrm>
            <a:off x="5974080" y="2066544"/>
            <a:ext cx="1455420" cy="530352"/>
          </a:xfrm>
          <a:prstGeom prst="rect">
            <a:avLst/>
          </a:prstGeom>
          <a:noFill/>
          <a:ln/>
        </p:spPr>
        <p:txBody>
          <a:bodyPr wrap="square" lIns="0" tIns="0" rIns="0" bIns="0" rtlCol="0" anchor="ctr"/>
          <a:lstStyle/>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Tolerances from</a:t>
            </a:r>
            <a:endParaRPr lang="en-US" sz="850" dirty="0"/>
          </a:p>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CAD → cost</a:t>
            </a:r>
            <a:endParaRPr lang="en-US" sz="850" dirty="0"/>
          </a:p>
        </p:txBody>
      </p:sp>
      <p:sp>
        <p:nvSpPr>
          <p:cNvPr id="14" name="Text 12"/>
          <p:cNvSpPr/>
          <p:nvPr/>
        </p:nvSpPr>
        <p:spPr>
          <a:xfrm>
            <a:off x="7429500" y="2066544"/>
            <a:ext cx="1455420" cy="530352"/>
          </a:xfrm>
          <a:prstGeom prst="rect">
            <a:avLst/>
          </a:prstGeom>
          <a:noFill/>
          <a:ln/>
        </p:spPr>
        <p:txBody>
          <a:bodyPr wrap="square" lIns="0" tIns="0" rIns="0" bIns="0" rtlCol="0" anchor="ctr"/>
          <a:lstStyle/>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CAD-software</a:t>
            </a:r>
            <a:endParaRPr lang="en-US" sz="850" dirty="0"/>
          </a:p>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viewer feel</a:t>
            </a:r>
            <a:endParaRPr lang="en-US" sz="850" dirty="0"/>
          </a:p>
        </p:txBody>
      </p:sp>
      <p:sp>
        <p:nvSpPr>
          <p:cNvPr id="15" name="Text 13"/>
          <p:cNvSpPr/>
          <p:nvPr/>
        </p:nvSpPr>
        <p:spPr>
          <a:xfrm>
            <a:off x="8884920" y="2066544"/>
            <a:ext cx="1455420" cy="530352"/>
          </a:xfrm>
          <a:prstGeom prst="rect">
            <a:avLst/>
          </a:prstGeom>
          <a:noFill/>
          <a:ln/>
        </p:spPr>
        <p:txBody>
          <a:bodyPr wrap="square" lIns="0" tIns="0" rIns="0" bIns="0" rtlCol="0" anchor="ctr"/>
          <a:lstStyle/>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CAD → cost with</a:t>
            </a:r>
            <a:endParaRPr lang="en-US" sz="850" dirty="0"/>
          </a:p>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no retyping</a:t>
            </a:r>
            <a:endParaRPr lang="en-US" sz="850" dirty="0"/>
          </a:p>
        </p:txBody>
      </p:sp>
      <p:sp>
        <p:nvSpPr>
          <p:cNvPr id="16" name="Text 14"/>
          <p:cNvSpPr/>
          <p:nvPr/>
        </p:nvSpPr>
        <p:spPr>
          <a:xfrm>
            <a:off x="10340340" y="2066544"/>
            <a:ext cx="1455420" cy="530352"/>
          </a:xfrm>
          <a:prstGeom prst="rect">
            <a:avLst/>
          </a:prstGeom>
          <a:noFill/>
          <a:ln/>
        </p:spPr>
        <p:txBody>
          <a:bodyPr wrap="square" lIns="0" tIns="0" rIns="0" bIns="0" rtlCol="0" anchor="ctr"/>
          <a:lstStyle/>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Web /</a:t>
            </a:r>
            <a:endParaRPr lang="en-US" sz="850" dirty="0"/>
          </a:p>
          <a:p>
            <a:pPr algn="ctr" indent="0" marL="0">
              <a:lnSpc>
                <a:spcPct val="92000"/>
              </a:lnSpc>
              <a:buNone/>
            </a:pPr>
            <a:r>
              <a:rPr lang="en-US" sz="850" b="1" dirty="0">
                <a:solidFill>
                  <a:srgbClr val="9AA7BD"/>
                </a:solidFill>
                <a:latin typeface="Calibri" pitchFamily="34" charset="0"/>
                <a:ea typeface="Calibri" pitchFamily="34" charset="-122"/>
                <a:cs typeface="Calibri" pitchFamily="34" charset="-120"/>
              </a:rPr>
              <a:t>instant</a:t>
            </a:r>
            <a:endParaRPr lang="en-US" sz="850" dirty="0"/>
          </a:p>
        </p:txBody>
      </p:sp>
      <p:sp>
        <p:nvSpPr>
          <p:cNvPr id="17" name="Text 15"/>
          <p:cNvSpPr/>
          <p:nvPr/>
        </p:nvSpPr>
        <p:spPr>
          <a:xfrm>
            <a:off x="457200" y="2066544"/>
            <a:ext cx="2606040" cy="530352"/>
          </a:xfrm>
          <a:prstGeom prst="rect">
            <a:avLst/>
          </a:prstGeom>
          <a:noFill/>
          <a:ln/>
        </p:spPr>
        <p:txBody>
          <a:bodyPr wrap="square" lIns="0" tIns="0" rIns="0" bIns="0" rtlCol="0" anchor="ctr"/>
          <a:lstStyle/>
          <a:p>
            <a:pPr indent="0" marL="0">
              <a:buNone/>
            </a:pPr>
            <a:r>
              <a:rPr lang="en-US" sz="900" b="1" dirty="0">
                <a:solidFill>
                  <a:srgbClr val="9AA7BD"/>
                </a:solidFill>
                <a:latin typeface="Calibri" pitchFamily="34" charset="0"/>
                <a:ea typeface="Calibri" pitchFamily="34" charset="-122"/>
                <a:cs typeface="Calibri" pitchFamily="34" charset="-120"/>
              </a:rPr>
              <a:t>Tool</a:t>
            </a:r>
            <a:endParaRPr lang="en-US" sz="900" dirty="0"/>
          </a:p>
        </p:txBody>
      </p:sp>
      <p:sp>
        <p:nvSpPr>
          <p:cNvPr id="18" name="Shape 16"/>
          <p:cNvSpPr/>
          <p:nvPr/>
        </p:nvSpPr>
        <p:spPr>
          <a:xfrm>
            <a:off x="457200" y="2615184"/>
            <a:ext cx="11338560" cy="411480"/>
          </a:xfrm>
          <a:prstGeom prst="roundRect">
            <a:avLst>
              <a:gd name="adj" fmla="val 15556"/>
            </a:avLst>
          </a:prstGeom>
          <a:solidFill>
            <a:srgbClr val="141B28"/>
          </a:solidFill>
          <a:ln w="6350">
            <a:solidFill>
              <a:srgbClr val="2B3A52"/>
            </a:solidFill>
            <a:prstDash val="solid"/>
          </a:ln>
        </p:spPr>
      </p:sp>
      <p:sp>
        <p:nvSpPr>
          <p:cNvPr id="19" name="Text 17"/>
          <p:cNvSpPr/>
          <p:nvPr/>
        </p:nvSpPr>
        <p:spPr>
          <a:xfrm>
            <a:off x="621792" y="2615184"/>
            <a:ext cx="2423160" cy="411480"/>
          </a:xfrm>
          <a:prstGeom prst="rect">
            <a:avLst/>
          </a:prstGeom>
          <a:noFill/>
          <a:ln/>
        </p:spPr>
        <p:txBody>
          <a:bodyPr wrap="square" lIns="0" tIns="0" rIns="0" bIns="0" rtlCol="0" anchor="ctr"/>
          <a:lstStyle/>
          <a:p>
            <a:pPr indent="0" marL="0">
              <a:buNone/>
            </a:pPr>
            <a:r>
              <a:rPr lang="en-US" sz="1000" dirty="0">
                <a:solidFill>
                  <a:srgbClr val="EAF0F8"/>
                </a:solidFill>
                <a:latin typeface="Calibri" pitchFamily="34" charset="0"/>
                <a:ea typeface="Calibri" pitchFamily="34" charset="-122"/>
                <a:cs typeface="Calibri" pitchFamily="34" charset="-120"/>
              </a:rPr>
              <a:t>aPriori</a:t>
            </a:r>
            <a:endParaRPr lang="en-US" sz="1000" dirty="0"/>
          </a:p>
        </p:txBody>
      </p:sp>
      <p:sp>
        <p:nvSpPr>
          <p:cNvPr id="20" name="Shape 18"/>
          <p:cNvSpPr/>
          <p:nvPr/>
        </p:nvSpPr>
        <p:spPr>
          <a:xfrm>
            <a:off x="3704082" y="2734056"/>
            <a:ext cx="173736" cy="173736"/>
          </a:xfrm>
          <a:prstGeom prst="ellipse">
            <a:avLst/>
          </a:prstGeom>
          <a:solidFill>
            <a:srgbClr val="2DD4BF"/>
          </a:solidFill>
          <a:ln/>
        </p:spPr>
      </p:sp>
      <p:sp>
        <p:nvSpPr>
          <p:cNvPr id="21" name="Shape 19"/>
          <p:cNvSpPr/>
          <p:nvPr/>
        </p:nvSpPr>
        <p:spPr>
          <a:xfrm>
            <a:off x="5159502" y="2734056"/>
            <a:ext cx="173736" cy="173736"/>
          </a:xfrm>
          <a:prstGeom prst="ellipse">
            <a:avLst/>
          </a:prstGeom>
          <a:solidFill>
            <a:srgbClr val="FBBF24"/>
          </a:solidFill>
          <a:ln/>
        </p:spPr>
      </p:sp>
      <p:sp>
        <p:nvSpPr>
          <p:cNvPr id="22" name="Shape 20"/>
          <p:cNvSpPr/>
          <p:nvPr/>
        </p:nvSpPr>
        <p:spPr>
          <a:xfrm>
            <a:off x="6614922" y="2734056"/>
            <a:ext cx="173736" cy="173736"/>
          </a:xfrm>
          <a:prstGeom prst="ellipse">
            <a:avLst/>
          </a:prstGeom>
          <a:solidFill>
            <a:srgbClr val="FBBF24"/>
          </a:solidFill>
          <a:ln/>
        </p:spPr>
      </p:sp>
      <p:sp>
        <p:nvSpPr>
          <p:cNvPr id="23" name="Shape 21"/>
          <p:cNvSpPr/>
          <p:nvPr/>
        </p:nvSpPr>
        <p:spPr>
          <a:xfrm>
            <a:off x="8070342" y="2734056"/>
            <a:ext cx="173736" cy="173736"/>
          </a:xfrm>
          <a:prstGeom prst="ellipse">
            <a:avLst/>
          </a:prstGeom>
          <a:solidFill>
            <a:srgbClr val="FBBF24"/>
          </a:solidFill>
          <a:ln/>
        </p:spPr>
      </p:sp>
      <p:sp>
        <p:nvSpPr>
          <p:cNvPr id="24" name="Shape 22"/>
          <p:cNvSpPr/>
          <p:nvPr/>
        </p:nvSpPr>
        <p:spPr>
          <a:xfrm>
            <a:off x="9525762" y="2734056"/>
            <a:ext cx="173736" cy="173736"/>
          </a:xfrm>
          <a:prstGeom prst="ellipse">
            <a:avLst/>
          </a:prstGeom>
          <a:solidFill>
            <a:srgbClr val="2DD4BF"/>
          </a:solidFill>
          <a:ln/>
        </p:spPr>
      </p:sp>
      <p:sp>
        <p:nvSpPr>
          <p:cNvPr id="25" name="Shape 23"/>
          <p:cNvSpPr/>
          <p:nvPr/>
        </p:nvSpPr>
        <p:spPr>
          <a:xfrm>
            <a:off x="10981182" y="2734056"/>
            <a:ext cx="173736" cy="173736"/>
          </a:xfrm>
          <a:prstGeom prst="ellipse">
            <a:avLst/>
          </a:prstGeom>
          <a:solidFill>
            <a:srgbClr val="FBBF24"/>
          </a:solidFill>
          <a:ln/>
        </p:spPr>
      </p:sp>
      <p:sp>
        <p:nvSpPr>
          <p:cNvPr id="26" name="Shape 24"/>
          <p:cNvSpPr/>
          <p:nvPr/>
        </p:nvSpPr>
        <p:spPr>
          <a:xfrm>
            <a:off x="457200" y="3026664"/>
            <a:ext cx="11338560" cy="411480"/>
          </a:xfrm>
          <a:prstGeom prst="roundRect">
            <a:avLst>
              <a:gd name="adj" fmla="val 15556"/>
            </a:avLst>
          </a:prstGeom>
          <a:solidFill>
            <a:srgbClr val="0B0F17"/>
          </a:solidFill>
          <a:ln w="6350">
            <a:solidFill>
              <a:srgbClr val="2B3A52"/>
            </a:solidFill>
            <a:prstDash val="solid"/>
          </a:ln>
        </p:spPr>
      </p:sp>
      <p:sp>
        <p:nvSpPr>
          <p:cNvPr id="27" name="Text 25"/>
          <p:cNvSpPr/>
          <p:nvPr/>
        </p:nvSpPr>
        <p:spPr>
          <a:xfrm>
            <a:off x="621792" y="3026664"/>
            <a:ext cx="2423160" cy="411480"/>
          </a:xfrm>
          <a:prstGeom prst="rect">
            <a:avLst/>
          </a:prstGeom>
          <a:noFill/>
          <a:ln/>
        </p:spPr>
        <p:txBody>
          <a:bodyPr wrap="square" lIns="0" tIns="0" rIns="0" bIns="0" rtlCol="0" anchor="ctr"/>
          <a:lstStyle/>
          <a:p>
            <a:pPr indent="0" marL="0">
              <a:buNone/>
            </a:pPr>
            <a:r>
              <a:rPr lang="en-US" sz="1000" dirty="0">
                <a:solidFill>
                  <a:srgbClr val="EAF0F8"/>
                </a:solidFill>
                <a:latin typeface="Calibri" pitchFamily="34" charset="0"/>
                <a:ea typeface="Calibri" pitchFamily="34" charset="-122"/>
                <a:cs typeface="Calibri" pitchFamily="34" charset="-120"/>
              </a:rPr>
              <a:t>Siemens NX F2C</a:t>
            </a:r>
            <a:endParaRPr lang="en-US" sz="1000" dirty="0"/>
          </a:p>
        </p:txBody>
      </p:sp>
      <p:sp>
        <p:nvSpPr>
          <p:cNvPr id="28" name="Shape 26"/>
          <p:cNvSpPr/>
          <p:nvPr/>
        </p:nvSpPr>
        <p:spPr>
          <a:xfrm>
            <a:off x="3704082" y="3145536"/>
            <a:ext cx="173736" cy="173736"/>
          </a:xfrm>
          <a:prstGeom prst="ellipse">
            <a:avLst/>
          </a:prstGeom>
          <a:solidFill>
            <a:srgbClr val="2DD4BF"/>
          </a:solidFill>
          <a:ln/>
        </p:spPr>
      </p:sp>
      <p:sp>
        <p:nvSpPr>
          <p:cNvPr id="29" name="Shape 27"/>
          <p:cNvSpPr/>
          <p:nvPr/>
        </p:nvSpPr>
        <p:spPr>
          <a:xfrm>
            <a:off x="5159502" y="3145536"/>
            <a:ext cx="173736" cy="173736"/>
          </a:xfrm>
          <a:prstGeom prst="ellipse">
            <a:avLst/>
          </a:prstGeom>
          <a:solidFill>
            <a:srgbClr val="FBBF24"/>
          </a:solidFill>
          <a:ln/>
        </p:spPr>
      </p:sp>
      <p:sp>
        <p:nvSpPr>
          <p:cNvPr id="30" name="Shape 28"/>
          <p:cNvSpPr/>
          <p:nvPr/>
        </p:nvSpPr>
        <p:spPr>
          <a:xfrm>
            <a:off x="6614922" y="3145536"/>
            <a:ext cx="173736" cy="173736"/>
          </a:xfrm>
          <a:prstGeom prst="ellipse">
            <a:avLst/>
          </a:prstGeom>
          <a:solidFill>
            <a:srgbClr val="FBBF24"/>
          </a:solidFill>
          <a:ln/>
        </p:spPr>
      </p:sp>
      <p:sp>
        <p:nvSpPr>
          <p:cNvPr id="31" name="Shape 29"/>
          <p:cNvSpPr/>
          <p:nvPr/>
        </p:nvSpPr>
        <p:spPr>
          <a:xfrm>
            <a:off x="8070342" y="3145536"/>
            <a:ext cx="173736" cy="173736"/>
          </a:xfrm>
          <a:prstGeom prst="ellipse">
            <a:avLst/>
          </a:prstGeom>
          <a:solidFill>
            <a:srgbClr val="2DD4BF"/>
          </a:solidFill>
          <a:ln/>
        </p:spPr>
      </p:sp>
      <p:sp>
        <p:nvSpPr>
          <p:cNvPr id="32" name="Shape 30"/>
          <p:cNvSpPr/>
          <p:nvPr/>
        </p:nvSpPr>
        <p:spPr>
          <a:xfrm>
            <a:off x="9525762" y="3145536"/>
            <a:ext cx="173736" cy="173736"/>
          </a:xfrm>
          <a:prstGeom prst="ellipse">
            <a:avLst/>
          </a:prstGeom>
          <a:solidFill>
            <a:srgbClr val="2DD4BF"/>
          </a:solidFill>
          <a:ln/>
        </p:spPr>
      </p:sp>
      <p:sp>
        <p:nvSpPr>
          <p:cNvPr id="33" name="Shape 31"/>
          <p:cNvSpPr/>
          <p:nvPr/>
        </p:nvSpPr>
        <p:spPr>
          <a:xfrm>
            <a:off x="10981182" y="3145536"/>
            <a:ext cx="173736" cy="173736"/>
          </a:xfrm>
          <a:prstGeom prst="ellipse">
            <a:avLst/>
          </a:prstGeom>
          <a:solidFill>
            <a:srgbClr val="141B28"/>
          </a:solidFill>
          <a:ln w="15875">
            <a:solidFill>
              <a:srgbClr val="5C6B85"/>
            </a:solidFill>
            <a:prstDash val="solid"/>
          </a:ln>
        </p:spPr>
      </p:sp>
      <p:sp>
        <p:nvSpPr>
          <p:cNvPr id="34" name="Shape 32"/>
          <p:cNvSpPr/>
          <p:nvPr/>
        </p:nvSpPr>
        <p:spPr>
          <a:xfrm>
            <a:off x="457200" y="3438144"/>
            <a:ext cx="11338560" cy="411480"/>
          </a:xfrm>
          <a:prstGeom prst="roundRect">
            <a:avLst>
              <a:gd name="adj" fmla="val 15556"/>
            </a:avLst>
          </a:prstGeom>
          <a:solidFill>
            <a:srgbClr val="141B28"/>
          </a:solidFill>
          <a:ln w="6350">
            <a:solidFill>
              <a:srgbClr val="2B3A52"/>
            </a:solidFill>
            <a:prstDash val="solid"/>
          </a:ln>
        </p:spPr>
      </p:sp>
      <p:sp>
        <p:nvSpPr>
          <p:cNvPr id="35" name="Text 33"/>
          <p:cNvSpPr/>
          <p:nvPr/>
        </p:nvSpPr>
        <p:spPr>
          <a:xfrm>
            <a:off x="621792" y="3438144"/>
            <a:ext cx="2423160" cy="411480"/>
          </a:xfrm>
          <a:prstGeom prst="rect">
            <a:avLst/>
          </a:prstGeom>
          <a:noFill/>
          <a:ln/>
        </p:spPr>
        <p:txBody>
          <a:bodyPr wrap="square" lIns="0" tIns="0" rIns="0" bIns="0" rtlCol="0" anchor="ctr"/>
          <a:lstStyle/>
          <a:p>
            <a:pPr indent="0" marL="0">
              <a:buNone/>
            </a:pPr>
            <a:r>
              <a:rPr lang="en-US" sz="1000" dirty="0">
                <a:solidFill>
                  <a:srgbClr val="EAF0F8"/>
                </a:solidFill>
                <a:latin typeface="Calibri" pitchFamily="34" charset="0"/>
                <a:ea typeface="Calibri" pitchFamily="34" charset="-122"/>
                <a:cs typeface="Calibri" pitchFamily="34" charset="-120"/>
              </a:rPr>
              <a:t>3D-Tool (viewer)</a:t>
            </a:r>
            <a:endParaRPr lang="en-US" sz="1000" dirty="0"/>
          </a:p>
        </p:txBody>
      </p:sp>
      <p:sp>
        <p:nvSpPr>
          <p:cNvPr id="36" name="Shape 34"/>
          <p:cNvSpPr/>
          <p:nvPr/>
        </p:nvSpPr>
        <p:spPr>
          <a:xfrm>
            <a:off x="3704082" y="3557016"/>
            <a:ext cx="173736" cy="173736"/>
          </a:xfrm>
          <a:prstGeom prst="ellipse">
            <a:avLst/>
          </a:prstGeom>
          <a:solidFill>
            <a:srgbClr val="FBBF24"/>
          </a:solidFill>
          <a:ln/>
        </p:spPr>
      </p:sp>
      <p:sp>
        <p:nvSpPr>
          <p:cNvPr id="37" name="Shape 35"/>
          <p:cNvSpPr/>
          <p:nvPr/>
        </p:nvSpPr>
        <p:spPr>
          <a:xfrm>
            <a:off x="5159502" y="3557016"/>
            <a:ext cx="173736" cy="173736"/>
          </a:xfrm>
          <a:prstGeom prst="ellipse">
            <a:avLst/>
          </a:prstGeom>
          <a:solidFill>
            <a:srgbClr val="2DD4BF"/>
          </a:solidFill>
          <a:ln/>
        </p:spPr>
      </p:sp>
      <p:sp>
        <p:nvSpPr>
          <p:cNvPr id="38" name="Shape 36"/>
          <p:cNvSpPr/>
          <p:nvPr/>
        </p:nvSpPr>
        <p:spPr>
          <a:xfrm>
            <a:off x="6614922" y="3557016"/>
            <a:ext cx="173736" cy="173736"/>
          </a:xfrm>
          <a:prstGeom prst="ellipse">
            <a:avLst/>
          </a:prstGeom>
          <a:solidFill>
            <a:srgbClr val="141B28"/>
          </a:solidFill>
          <a:ln w="15875">
            <a:solidFill>
              <a:srgbClr val="5C6B85"/>
            </a:solidFill>
            <a:prstDash val="solid"/>
          </a:ln>
        </p:spPr>
      </p:sp>
      <p:sp>
        <p:nvSpPr>
          <p:cNvPr id="39" name="Shape 37"/>
          <p:cNvSpPr/>
          <p:nvPr/>
        </p:nvSpPr>
        <p:spPr>
          <a:xfrm>
            <a:off x="8070342" y="3557016"/>
            <a:ext cx="173736" cy="173736"/>
          </a:xfrm>
          <a:prstGeom prst="ellipse">
            <a:avLst/>
          </a:prstGeom>
          <a:solidFill>
            <a:srgbClr val="2DD4BF"/>
          </a:solidFill>
          <a:ln/>
        </p:spPr>
      </p:sp>
      <p:sp>
        <p:nvSpPr>
          <p:cNvPr id="40" name="Shape 38"/>
          <p:cNvSpPr/>
          <p:nvPr/>
        </p:nvSpPr>
        <p:spPr>
          <a:xfrm>
            <a:off x="9525762" y="3557016"/>
            <a:ext cx="173736" cy="173736"/>
          </a:xfrm>
          <a:prstGeom prst="ellipse">
            <a:avLst/>
          </a:prstGeom>
          <a:solidFill>
            <a:srgbClr val="141B28"/>
          </a:solidFill>
          <a:ln w="15875">
            <a:solidFill>
              <a:srgbClr val="5C6B85"/>
            </a:solidFill>
            <a:prstDash val="solid"/>
          </a:ln>
        </p:spPr>
      </p:sp>
      <p:sp>
        <p:nvSpPr>
          <p:cNvPr id="41" name="Shape 39"/>
          <p:cNvSpPr/>
          <p:nvPr/>
        </p:nvSpPr>
        <p:spPr>
          <a:xfrm>
            <a:off x="10981182" y="3557016"/>
            <a:ext cx="173736" cy="173736"/>
          </a:xfrm>
          <a:prstGeom prst="ellipse">
            <a:avLst/>
          </a:prstGeom>
          <a:solidFill>
            <a:srgbClr val="FBBF24"/>
          </a:solidFill>
          <a:ln/>
        </p:spPr>
      </p:sp>
      <p:sp>
        <p:nvSpPr>
          <p:cNvPr id="42" name="Shape 40"/>
          <p:cNvSpPr/>
          <p:nvPr/>
        </p:nvSpPr>
        <p:spPr>
          <a:xfrm>
            <a:off x="457200" y="3849624"/>
            <a:ext cx="11338560" cy="411480"/>
          </a:xfrm>
          <a:prstGeom prst="roundRect">
            <a:avLst>
              <a:gd name="adj" fmla="val 15556"/>
            </a:avLst>
          </a:prstGeom>
          <a:solidFill>
            <a:srgbClr val="0B0F17"/>
          </a:solidFill>
          <a:ln w="6350">
            <a:solidFill>
              <a:srgbClr val="2B3A52"/>
            </a:solidFill>
            <a:prstDash val="solid"/>
          </a:ln>
        </p:spPr>
      </p:sp>
      <p:sp>
        <p:nvSpPr>
          <p:cNvPr id="43" name="Text 41"/>
          <p:cNvSpPr/>
          <p:nvPr/>
        </p:nvSpPr>
        <p:spPr>
          <a:xfrm>
            <a:off x="621792" y="3849624"/>
            <a:ext cx="2423160" cy="411480"/>
          </a:xfrm>
          <a:prstGeom prst="rect">
            <a:avLst/>
          </a:prstGeom>
          <a:noFill/>
          <a:ln/>
        </p:spPr>
        <p:txBody>
          <a:bodyPr wrap="square" lIns="0" tIns="0" rIns="0" bIns="0" rtlCol="0" anchor="ctr"/>
          <a:lstStyle/>
          <a:p>
            <a:pPr indent="0" marL="0">
              <a:buNone/>
            </a:pPr>
            <a:r>
              <a:rPr lang="en-US" sz="1000" dirty="0">
                <a:solidFill>
                  <a:srgbClr val="EAF0F8"/>
                </a:solidFill>
                <a:latin typeface="Calibri" pitchFamily="34" charset="0"/>
                <a:ea typeface="Calibri" pitchFamily="34" charset="-122"/>
                <a:cs typeface="Calibri" pitchFamily="34" charset="-120"/>
              </a:rPr>
              <a:t>Werk24 (drawings)</a:t>
            </a:r>
            <a:endParaRPr lang="en-US" sz="1000" dirty="0"/>
          </a:p>
        </p:txBody>
      </p:sp>
      <p:sp>
        <p:nvSpPr>
          <p:cNvPr id="44" name="Shape 42"/>
          <p:cNvSpPr/>
          <p:nvPr/>
        </p:nvSpPr>
        <p:spPr>
          <a:xfrm>
            <a:off x="3704082" y="3968496"/>
            <a:ext cx="173736" cy="173736"/>
          </a:xfrm>
          <a:prstGeom prst="ellipse">
            <a:avLst/>
          </a:prstGeom>
          <a:solidFill>
            <a:srgbClr val="FBBF24"/>
          </a:solidFill>
          <a:ln/>
        </p:spPr>
      </p:sp>
      <p:sp>
        <p:nvSpPr>
          <p:cNvPr id="45" name="Shape 43"/>
          <p:cNvSpPr/>
          <p:nvPr/>
        </p:nvSpPr>
        <p:spPr>
          <a:xfrm>
            <a:off x="5159502" y="3968496"/>
            <a:ext cx="173736" cy="173736"/>
          </a:xfrm>
          <a:prstGeom prst="ellipse">
            <a:avLst/>
          </a:prstGeom>
          <a:solidFill>
            <a:srgbClr val="141B28"/>
          </a:solidFill>
          <a:ln w="15875">
            <a:solidFill>
              <a:srgbClr val="5C6B85"/>
            </a:solidFill>
            <a:prstDash val="solid"/>
          </a:ln>
        </p:spPr>
      </p:sp>
      <p:sp>
        <p:nvSpPr>
          <p:cNvPr id="46" name="Shape 44"/>
          <p:cNvSpPr/>
          <p:nvPr/>
        </p:nvSpPr>
        <p:spPr>
          <a:xfrm>
            <a:off x="6614922" y="3968496"/>
            <a:ext cx="173736" cy="173736"/>
          </a:xfrm>
          <a:prstGeom prst="ellipse">
            <a:avLst/>
          </a:prstGeom>
          <a:solidFill>
            <a:srgbClr val="2DD4BF"/>
          </a:solidFill>
          <a:ln/>
        </p:spPr>
      </p:sp>
      <p:sp>
        <p:nvSpPr>
          <p:cNvPr id="47" name="Shape 45"/>
          <p:cNvSpPr/>
          <p:nvPr/>
        </p:nvSpPr>
        <p:spPr>
          <a:xfrm>
            <a:off x="8070342" y="3968496"/>
            <a:ext cx="173736" cy="173736"/>
          </a:xfrm>
          <a:prstGeom prst="ellipse">
            <a:avLst/>
          </a:prstGeom>
          <a:solidFill>
            <a:srgbClr val="141B28"/>
          </a:solidFill>
          <a:ln w="15875">
            <a:solidFill>
              <a:srgbClr val="5C6B85"/>
            </a:solidFill>
            <a:prstDash val="solid"/>
          </a:ln>
        </p:spPr>
      </p:sp>
      <p:sp>
        <p:nvSpPr>
          <p:cNvPr id="48" name="Shape 46"/>
          <p:cNvSpPr/>
          <p:nvPr/>
        </p:nvSpPr>
        <p:spPr>
          <a:xfrm>
            <a:off x="9525762" y="3968496"/>
            <a:ext cx="173736" cy="173736"/>
          </a:xfrm>
          <a:prstGeom prst="ellipse">
            <a:avLst/>
          </a:prstGeom>
          <a:solidFill>
            <a:srgbClr val="FBBF24"/>
          </a:solidFill>
          <a:ln/>
        </p:spPr>
      </p:sp>
      <p:sp>
        <p:nvSpPr>
          <p:cNvPr id="49" name="Shape 47"/>
          <p:cNvSpPr/>
          <p:nvPr/>
        </p:nvSpPr>
        <p:spPr>
          <a:xfrm>
            <a:off x="10981182" y="3968496"/>
            <a:ext cx="173736" cy="173736"/>
          </a:xfrm>
          <a:prstGeom prst="ellipse">
            <a:avLst/>
          </a:prstGeom>
          <a:solidFill>
            <a:srgbClr val="2DD4BF"/>
          </a:solidFill>
          <a:ln/>
        </p:spPr>
      </p:sp>
      <p:sp>
        <p:nvSpPr>
          <p:cNvPr id="50" name="Shape 48"/>
          <p:cNvSpPr/>
          <p:nvPr/>
        </p:nvSpPr>
        <p:spPr>
          <a:xfrm>
            <a:off x="457200" y="4261104"/>
            <a:ext cx="11338560" cy="411480"/>
          </a:xfrm>
          <a:prstGeom prst="roundRect">
            <a:avLst>
              <a:gd name="adj" fmla="val 15556"/>
            </a:avLst>
          </a:prstGeom>
          <a:solidFill>
            <a:srgbClr val="141B28"/>
          </a:solidFill>
          <a:ln w="6350">
            <a:solidFill>
              <a:srgbClr val="2B3A52"/>
            </a:solidFill>
            <a:prstDash val="solid"/>
          </a:ln>
        </p:spPr>
      </p:sp>
      <p:sp>
        <p:nvSpPr>
          <p:cNvPr id="51" name="Text 49"/>
          <p:cNvSpPr/>
          <p:nvPr/>
        </p:nvSpPr>
        <p:spPr>
          <a:xfrm>
            <a:off x="621792" y="4261104"/>
            <a:ext cx="2423160" cy="411480"/>
          </a:xfrm>
          <a:prstGeom prst="rect">
            <a:avLst/>
          </a:prstGeom>
          <a:noFill/>
          <a:ln/>
        </p:spPr>
        <p:txBody>
          <a:bodyPr wrap="square" lIns="0" tIns="0" rIns="0" bIns="0" rtlCol="0" anchor="ctr"/>
          <a:lstStyle/>
          <a:p>
            <a:pPr indent="0" marL="0">
              <a:buNone/>
            </a:pPr>
            <a:r>
              <a:rPr lang="en-US" sz="1000" dirty="0">
                <a:solidFill>
                  <a:srgbClr val="EAF0F8"/>
                </a:solidFill>
                <a:latin typeface="Calibri" pitchFamily="34" charset="0"/>
                <a:ea typeface="Calibri" pitchFamily="34" charset="-122"/>
                <a:cs typeface="Calibri" pitchFamily="34" charset="-120"/>
              </a:rPr>
              <a:t>MTI Costimator 3DFX</a:t>
            </a:r>
            <a:endParaRPr lang="en-US" sz="1000" dirty="0"/>
          </a:p>
        </p:txBody>
      </p:sp>
      <p:sp>
        <p:nvSpPr>
          <p:cNvPr id="52" name="Shape 50"/>
          <p:cNvSpPr/>
          <p:nvPr/>
        </p:nvSpPr>
        <p:spPr>
          <a:xfrm>
            <a:off x="3704082" y="4379976"/>
            <a:ext cx="173736" cy="173736"/>
          </a:xfrm>
          <a:prstGeom prst="ellipse">
            <a:avLst/>
          </a:prstGeom>
          <a:solidFill>
            <a:srgbClr val="2DD4BF"/>
          </a:solidFill>
          <a:ln/>
        </p:spPr>
      </p:sp>
      <p:sp>
        <p:nvSpPr>
          <p:cNvPr id="53" name="Shape 51"/>
          <p:cNvSpPr/>
          <p:nvPr/>
        </p:nvSpPr>
        <p:spPr>
          <a:xfrm>
            <a:off x="5159502" y="4379976"/>
            <a:ext cx="173736" cy="173736"/>
          </a:xfrm>
          <a:prstGeom prst="ellipse">
            <a:avLst/>
          </a:prstGeom>
          <a:solidFill>
            <a:srgbClr val="141B28"/>
          </a:solidFill>
          <a:ln w="15875">
            <a:solidFill>
              <a:srgbClr val="5C6B85"/>
            </a:solidFill>
            <a:prstDash val="solid"/>
          </a:ln>
        </p:spPr>
      </p:sp>
      <p:sp>
        <p:nvSpPr>
          <p:cNvPr id="54" name="Shape 52"/>
          <p:cNvSpPr/>
          <p:nvPr/>
        </p:nvSpPr>
        <p:spPr>
          <a:xfrm>
            <a:off x="6614922" y="4379976"/>
            <a:ext cx="173736" cy="173736"/>
          </a:xfrm>
          <a:prstGeom prst="ellipse">
            <a:avLst/>
          </a:prstGeom>
          <a:solidFill>
            <a:srgbClr val="141B28"/>
          </a:solidFill>
          <a:ln w="15875">
            <a:solidFill>
              <a:srgbClr val="5C6B85"/>
            </a:solidFill>
            <a:prstDash val="solid"/>
          </a:ln>
        </p:spPr>
      </p:sp>
      <p:sp>
        <p:nvSpPr>
          <p:cNvPr id="55" name="Shape 53"/>
          <p:cNvSpPr/>
          <p:nvPr/>
        </p:nvSpPr>
        <p:spPr>
          <a:xfrm>
            <a:off x="8070342" y="4379976"/>
            <a:ext cx="173736" cy="173736"/>
          </a:xfrm>
          <a:prstGeom prst="ellipse">
            <a:avLst/>
          </a:prstGeom>
          <a:solidFill>
            <a:srgbClr val="FBBF24"/>
          </a:solidFill>
          <a:ln/>
        </p:spPr>
      </p:sp>
      <p:sp>
        <p:nvSpPr>
          <p:cNvPr id="56" name="Shape 54"/>
          <p:cNvSpPr/>
          <p:nvPr/>
        </p:nvSpPr>
        <p:spPr>
          <a:xfrm>
            <a:off x="9525762" y="4379976"/>
            <a:ext cx="173736" cy="173736"/>
          </a:xfrm>
          <a:prstGeom prst="ellipse">
            <a:avLst/>
          </a:prstGeom>
          <a:solidFill>
            <a:srgbClr val="2DD4BF"/>
          </a:solidFill>
          <a:ln/>
        </p:spPr>
      </p:sp>
      <p:sp>
        <p:nvSpPr>
          <p:cNvPr id="57" name="Shape 55"/>
          <p:cNvSpPr/>
          <p:nvPr/>
        </p:nvSpPr>
        <p:spPr>
          <a:xfrm>
            <a:off x="10981182" y="4379976"/>
            <a:ext cx="173736" cy="173736"/>
          </a:xfrm>
          <a:prstGeom prst="ellipse">
            <a:avLst/>
          </a:prstGeom>
          <a:solidFill>
            <a:srgbClr val="141B28"/>
          </a:solidFill>
          <a:ln w="15875">
            <a:solidFill>
              <a:srgbClr val="5C6B85"/>
            </a:solidFill>
            <a:prstDash val="solid"/>
          </a:ln>
        </p:spPr>
      </p:sp>
      <p:sp>
        <p:nvSpPr>
          <p:cNvPr id="58" name="Shape 56"/>
          <p:cNvSpPr/>
          <p:nvPr/>
        </p:nvSpPr>
        <p:spPr>
          <a:xfrm>
            <a:off x="457200" y="4672584"/>
            <a:ext cx="11338560" cy="411480"/>
          </a:xfrm>
          <a:prstGeom prst="roundRect">
            <a:avLst>
              <a:gd name="adj" fmla="val 15556"/>
            </a:avLst>
          </a:prstGeom>
          <a:solidFill>
            <a:srgbClr val="10202E"/>
          </a:solidFill>
          <a:ln w="6350">
            <a:solidFill>
              <a:srgbClr val="2B3A52"/>
            </a:solidFill>
            <a:prstDash val="solid"/>
          </a:ln>
        </p:spPr>
      </p:sp>
      <p:sp>
        <p:nvSpPr>
          <p:cNvPr id="59" name="Shape 57"/>
          <p:cNvSpPr/>
          <p:nvPr/>
        </p:nvSpPr>
        <p:spPr>
          <a:xfrm>
            <a:off x="457200" y="4672584"/>
            <a:ext cx="54864" cy="411480"/>
          </a:xfrm>
          <a:prstGeom prst="rect">
            <a:avLst/>
          </a:prstGeom>
          <a:solidFill>
            <a:srgbClr val="2DD4BF"/>
          </a:solidFill>
          <a:ln/>
        </p:spPr>
      </p:sp>
      <p:sp>
        <p:nvSpPr>
          <p:cNvPr id="60" name="Text 58"/>
          <p:cNvSpPr/>
          <p:nvPr/>
        </p:nvSpPr>
        <p:spPr>
          <a:xfrm>
            <a:off x="621792" y="4672584"/>
            <a:ext cx="2423160" cy="411480"/>
          </a:xfrm>
          <a:prstGeom prst="rect">
            <a:avLst/>
          </a:prstGeom>
          <a:noFill/>
          <a:ln/>
        </p:spPr>
        <p:txBody>
          <a:bodyPr wrap="square" lIns="0" tIns="0" rIns="0" bIns="0" rtlCol="0" anchor="ctr"/>
          <a:lstStyle/>
          <a:p>
            <a:pPr indent="0" marL="0">
              <a:buNone/>
            </a:pPr>
            <a:r>
              <a:rPr lang="en-US" sz="1000" b="1" dirty="0">
                <a:solidFill>
                  <a:srgbClr val="2DD4BF"/>
                </a:solidFill>
                <a:latin typeface="Calibri" pitchFamily="34" charset="0"/>
                <a:ea typeface="Calibri" pitchFamily="34" charset="-122"/>
                <a:cs typeface="Calibri" pitchFamily="34" charset="-120"/>
              </a:rPr>
              <a:t>CostVision — today</a:t>
            </a:r>
            <a:endParaRPr lang="en-US" sz="1000" dirty="0"/>
          </a:p>
        </p:txBody>
      </p:sp>
      <p:sp>
        <p:nvSpPr>
          <p:cNvPr id="61" name="Shape 59"/>
          <p:cNvSpPr/>
          <p:nvPr/>
        </p:nvSpPr>
        <p:spPr>
          <a:xfrm>
            <a:off x="3704082" y="4791456"/>
            <a:ext cx="173736" cy="173736"/>
          </a:xfrm>
          <a:prstGeom prst="ellipse">
            <a:avLst/>
          </a:prstGeom>
          <a:solidFill>
            <a:srgbClr val="FBBF24"/>
          </a:solidFill>
          <a:ln/>
        </p:spPr>
      </p:sp>
      <p:sp>
        <p:nvSpPr>
          <p:cNvPr id="62" name="Shape 60"/>
          <p:cNvSpPr/>
          <p:nvPr/>
        </p:nvSpPr>
        <p:spPr>
          <a:xfrm>
            <a:off x="5159502" y="4791456"/>
            <a:ext cx="173736" cy="173736"/>
          </a:xfrm>
          <a:prstGeom prst="ellipse">
            <a:avLst/>
          </a:prstGeom>
          <a:solidFill>
            <a:srgbClr val="2DD4BF"/>
          </a:solidFill>
          <a:ln/>
        </p:spPr>
      </p:sp>
      <p:sp>
        <p:nvSpPr>
          <p:cNvPr id="63" name="Shape 61"/>
          <p:cNvSpPr/>
          <p:nvPr/>
        </p:nvSpPr>
        <p:spPr>
          <a:xfrm>
            <a:off x="6614922" y="4791456"/>
            <a:ext cx="173736" cy="173736"/>
          </a:xfrm>
          <a:prstGeom prst="ellipse">
            <a:avLst/>
          </a:prstGeom>
          <a:solidFill>
            <a:srgbClr val="141B28"/>
          </a:solidFill>
          <a:ln w="15875">
            <a:solidFill>
              <a:srgbClr val="5C6B85"/>
            </a:solidFill>
            <a:prstDash val="solid"/>
          </a:ln>
        </p:spPr>
      </p:sp>
      <p:sp>
        <p:nvSpPr>
          <p:cNvPr id="64" name="Shape 62"/>
          <p:cNvSpPr/>
          <p:nvPr/>
        </p:nvSpPr>
        <p:spPr>
          <a:xfrm>
            <a:off x="8070342" y="4791456"/>
            <a:ext cx="173736" cy="173736"/>
          </a:xfrm>
          <a:prstGeom prst="ellipse">
            <a:avLst/>
          </a:prstGeom>
          <a:solidFill>
            <a:srgbClr val="2DD4BF"/>
          </a:solidFill>
          <a:ln/>
        </p:spPr>
      </p:sp>
      <p:sp>
        <p:nvSpPr>
          <p:cNvPr id="65" name="Shape 63"/>
          <p:cNvSpPr/>
          <p:nvPr/>
        </p:nvSpPr>
        <p:spPr>
          <a:xfrm>
            <a:off x="9525762" y="4791456"/>
            <a:ext cx="173736" cy="173736"/>
          </a:xfrm>
          <a:prstGeom prst="ellipse">
            <a:avLst/>
          </a:prstGeom>
          <a:solidFill>
            <a:srgbClr val="2DD4BF"/>
          </a:solidFill>
          <a:ln/>
        </p:spPr>
      </p:sp>
      <p:sp>
        <p:nvSpPr>
          <p:cNvPr id="66" name="Shape 64"/>
          <p:cNvSpPr/>
          <p:nvPr/>
        </p:nvSpPr>
        <p:spPr>
          <a:xfrm>
            <a:off x="10981182" y="4791456"/>
            <a:ext cx="173736" cy="173736"/>
          </a:xfrm>
          <a:prstGeom prst="ellipse">
            <a:avLst/>
          </a:prstGeom>
          <a:solidFill>
            <a:srgbClr val="2DD4BF"/>
          </a:solidFill>
          <a:ln/>
        </p:spPr>
      </p:sp>
      <p:sp>
        <p:nvSpPr>
          <p:cNvPr id="67" name="Shape 65"/>
          <p:cNvSpPr/>
          <p:nvPr/>
        </p:nvSpPr>
        <p:spPr>
          <a:xfrm>
            <a:off x="457200" y="5084064"/>
            <a:ext cx="11338560" cy="411480"/>
          </a:xfrm>
          <a:prstGeom prst="roundRect">
            <a:avLst>
              <a:gd name="adj" fmla="val 15556"/>
            </a:avLst>
          </a:prstGeom>
          <a:solidFill>
            <a:srgbClr val="12271F"/>
          </a:solidFill>
          <a:ln w="6350">
            <a:solidFill>
              <a:srgbClr val="2B3A52"/>
            </a:solidFill>
            <a:prstDash val="solid"/>
          </a:ln>
        </p:spPr>
      </p:sp>
      <p:sp>
        <p:nvSpPr>
          <p:cNvPr id="68" name="Shape 66"/>
          <p:cNvSpPr/>
          <p:nvPr/>
        </p:nvSpPr>
        <p:spPr>
          <a:xfrm>
            <a:off x="457200" y="5084064"/>
            <a:ext cx="54864" cy="411480"/>
          </a:xfrm>
          <a:prstGeom prst="rect">
            <a:avLst/>
          </a:prstGeom>
          <a:solidFill>
            <a:srgbClr val="34D399"/>
          </a:solidFill>
          <a:ln/>
        </p:spPr>
      </p:sp>
      <p:sp>
        <p:nvSpPr>
          <p:cNvPr id="69" name="Text 67"/>
          <p:cNvSpPr/>
          <p:nvPr/>
        </p:nvSpPr>
        <p:spPr>
          <a:xfrm>
            <a:off x="621792" y="5084064"/>
            <a:ext cx="2423160" cy="411480"/>
          </a:xfrm>
          <a:prstGeom prst="rect">
            <a:avLst/>
          </a:prstGeom>
          <a:noFill/>
          <a:ln/>
        </p:spPr>
        <p:txBody>
          <a:bodyPr wrap="square" lIns="0" tIns="0" rIns="0" bIns="0" rtlCol="0" anchor="ctr"/>
          <a:lstStyle/>
          <a:p>
            <a:pPr indent="0" marL="0">
              <a:buNone/>
            </a:pPr>
            <a:r>
              <a:rPr lang="en-US" sz="900" b="1" dirty="0">
                <a:solidFill>
                  <a:srgbClr val="34D399"/>
                </a:solidFill>
                <a:latin typeface="Calibri" pitchFamily="34" charset="0"/>
                <a:ea typeface="Calibri" pitchFamily="34" charset="-122"/>
                <a:cs typeface="Calibri" pitchFamily="34" charset="-120"/>
              </a:rPr>
              <a:t>CostVision — if roadmap lands</a:t>
            </a:r>
            <a:endParaRPr lang="en-US" sz="900" dirty="0"/>
          </a:p>
        </p:txBody>
      </p:sp>
      <p:sp>
        <p:nvSpPr>
          <p:cNvPr id="70" name="Shape 68"/>
          <p:cNvSpPr/>
          <p:nvPr/>
        </p:nvSpPr>
        <p:spPr>
          <a:xfrm>
            <a:off x="3704082" y="5202936"/>
            <a:ext cx="173736" cy="173736"/>
          </a:xfrm>
          <a:prstGeom prst="ellipse">
            <a:avLst/>
          </a:prstGeom>
          <a:solidFill>
            <a:srgbClr val="2DD4BF"/>
          </a:solidFill>
          <a:ln/>
        </p:spPr>
      </p:sp>
      <p:sp>
        <p:nvSpPr>
          <p:cNvPr id="71" name="Shape 69"/>
          <p:cNvSpPr/>
          <p:nvPr/>
        </p:nvSpPr>
        <p:spPr>
          <a:xfrm>
            <a:off x="5159502" y="5202936"/>
            <a:ext cx="173736" cy="173736"/>
          </a:xfrm>
          <a:prstGeom prst="ellipse">
            <a:avLst/>
          </a:prstGeom>
          <a:solidFill>
            <a:srgbClr val="2DD4BF"/>
          </a:solidFill>
          <a:ln/>
        </p:spPr>
      </p:sp>
      <p:sp>
        <p:nvSpPr>
          <p:cNvPr id="72" name="Shape 70"/>
          <p:cNvSpPr/>
          <p:nvPr/>
        </p:nvSpPr>
        <p:spPr>
          <a:xfrm>
            <a:off x="6614922" y="5202936"/>
            <a:ext cx="173736" cy="173736"/>
          </a:xfrm>
          <a:prstGeom prst="ellipse">
            <a:avLst/>
          </a:prstGeom>
          <a:solidFill>
            <a:srgbClr val="2DD4BF"/>
          </a:solidFill>
          <a:ln/>
        </p:spPr>
      </p:sp>
      <p:sp>
        <p:nvSpPr>
          <p:cNvPr id="73" name="Shape 71"/>
          <p:cNvSpPr/>
          <p:nvPr/>
        </p:nvSpPr>
        <p:spPr>
          <a:xfrm>
            <a:off x="8070342" y="5202936"/>
            <a:ext cx="173736" cy="173736"/>
          </a:xfrm>
          <a:prstGeom prst="ellipse">
            <a:avLst/>
          </a:prstGeom>
          <a:solidFill>
            <a:srgbClr val="2DD4BF"/>
          </a:solidFill>
          <a:ln/>
        </p:spPr>
      </p:sp>
      <p:sp>
        <p:nvSpPr>
          <p:cNvPr id="74" name="Shape 72"/>
          <p:cNvSpPr/>
          <p:nvPr/>
        </p:nvSpPr>
        <p:spPr>
          <a:xfrm>
            <a:off x="9525762" y="5202936"/>
            <a:ext cx="173736" cy="173736"/>
          </a:xfrm>
          <a:prstGeom prst="ellipse">
            <a:avLst/>
          </a:prstGeom>
          <a:solidFill>
            <a:srgbClr val="2DD4BF"/>
          </a:solidFill>
          <a:ln/>
        </p:spPr>
      </p:sp>
      <p:sp>
        <p:nvSpPr>
          <p:cNvPr id="75" name="Shape 73"/>
          <p:cNvSpPr/>
          <p:nvPr/>
        </p:nvSpPr>
        <p:spPr>
          <a:xfrm>
            <a:off x="10981182" y="5202936"/>
            <a:ext cx="173736" cy="173736"/>
          </a:xfrm>
          <a:prstGeom prst="ellipse">
            <a:avLst/>
          </a:prstGeom>
          <a:solidFill>
            <a:srgbClr val="2DD4BF"/>
          </a:solidFill>
          <a:ln/>
        </p:spPr>
      </p:sp>
      <p:sp>
        <p:nvSpPr>
          <p:cNvPr id="76" name="Shape 74"/>
          <p:cNvSpPr/>
          <p:nvPr/>
        </p:nvSpPr>
        <p:spPr>
          <a:xfrm>
            <a:off x="461772" y="5664708"/>
            <a:ext cx="173736" cy="173736"/>
          </a:xfrm>
          <a:prstGeom prst="ellipse">
            <a:avLst/>
          </a:prstGeom>
          <a:solidFill>
            <a:srgbClr val="2DD4BF"/>
          </a:solidFill>
          <a:ln/>
        </p:spPr>
      </p:sp>
      <p:sp>
        <p:nvSpPr>
          <p:cNvPr id="77" name="Text 75"/>
          <p:cNvSpPr/>
          <p:nvPr/>
        </p:nvSpPr>
        <p:spPr>
          <a:xfrm>
            <a:off x="713232" y="5632704"/>
            <a:ext cx="1554480" cy="237744"/>
          </a:xfrm>
          <a:prstGeom prst="rect">
            <a:avLst/>
          </a:prstGeom>
          <a:noFill/>
          <a:ln/>
        </p:spPr>
        <p:txBody>
          <a:bodyPr wrap="square" lIns="0" tIns="0" rIns="0" bIns="0" rtlCol="0" anchor="t"/>
          <a:lstStyle/>
          <a:p>
            <a:pPr indent="0" marL="0">
              <a:buNone/>
            </a:pPr>
            <a:r>
              <a:rPr lang="en-US" sz="900" dirty="0">
                <a:solidFill>
                  <a:srgbClr val="9AA7BD"/>
                </a:solidFill>
                <a:latin typeface="Calibri" pitchFamily="34" charset="0"/>
                <a:ea typeface="Calibri" pitchFamily="34" charset="-122"/>
                <a:cs typeface="Calibri" pitchFamily="34" charset="-120"/>
              </a:rPr>
              <a:t>Full</a:t>
            </a:r>
            <a:endParaRPr lang="en-US" sz="900" dirty="0"/>
          </a:p>
        </p:txBody>
      </p:sp>
      <p:sp>
        <p:nvSpPr>
          <p:cNvPr id="78" name="Shape 76"/>
          <p:cNvSpPr/>
          <p:nvPr/>
        </p:nvSpPr>
        <p:spPr>
          <a:xfrm>
            <a:off x="1376172" y="5664708"/>
            <a:ext cx="173736" cy="173736"/>
          </a:xfrm>
          <a:prstGeom prst="ellipse">
            <a:avLst/>
          </a:prstGeom>
          <a:solidFill>
            <a:srgbClr val="FBBF24"/>
          </a:solidFill>
          <a:ln/>
        </p:spPr>
      </p:sp>
      <p:sp>
        <p:nvSpPr>
          <p:cNvPr id="79" name="Text 77"/>
          <p:cNvSpPr/>
          <p:nvPr/>
        </p:nvSpPr>
        <p:spPr>
          <a:xfrm>
            <a:off x="1627632" y="5632704"/>
            <a:ext cx="1554480" cy="237744"/>
          </a:xfrm>
          <a:prstGeom prst="rect">
            <a:avLst/>
          </a:prstGeom>
          <a:noFill/>
          <a:ln/>
        </p:spPr>
        <p:txBody>
          <a:bodyPr wrap="square" lIns="0" tIns="0" rIns="0" bIns="0" rtlCol="0" anchor="t"/>
          <a:lstStyle/>
          <a:p>
            <a:pPr indent="0" marL="0">
              <a:buNone/>
            </a:pPr>
            <a:r>
              <a:rPr lang="en-US" sz="900" dirty="0">
                <a:solidFill>
                  <a:srgbClr val="9AA7BD"/>
                </a:solidFill>
                <a:latin typeface="Calibri" pitchFamily="34" charset="0"/>
                <a:ea typeface="Calibri" pitchFamily="34" charset="-122"/>
                <a:cs typeface="Calibri" pitchFamily="34" charset="-120"/>
              </a:rPr>
              <a:t>Partial</a:t>
            </a:r>
            <a:endParaRPr lang="en-US" sz="900" dirty="0"/>
          </a:p>
        </p:txBody>
      </p:sp>
      <p:sp>
        <p:nvSpPr>
          <p:cNvPr id="80" name="Shape 78"/>
          <p:cNvSpPr/>
          <p:nvPr/>
        </p:nvSpPr>
        <p:spPr>
          <a:xfrm>
            <a:off x="2496312" y="5664708"/>
            <a:ext cx="173736" cy="173736"/>
          </a:xfrm>
          <a:prstGeom prst="ellipse">
            <a:avLst/>
          </a:prstGeom>
          <a:solidFill>
            <a:srgbClr val="141B28"/>
          </a:solidFill>
          <a:ln w="15875">
            <a:solidFill>
              <a:srgbClr val="5C6B85"/>
            </a:solidFill>
            <a:prstDash val="solid"/>
          </a:ln>
        </p:spPr>
      </p:sp>
      <p:sp>
        <p:nvSpPr>
          <p:cNvPr id="81" name="Text 79"/>
          <p:cNvSpPr/>
          <p:nvPr/>
        </p:nvSpPr>
        <p:spPr>
          <a:xfrm>
            <a:off x="2747772" y="5632704"/>
            <a:ext cx="1554480" cy="237744"/>
          </a:xfrm>
          <a:prstGeom prst="rect">
            <a:avLst/>
          </a:prstGeom>
          <a:noFill/>
          <a:ln/>
        </p:spPr>
        <p:txBody>
          <a:bodyPr wrap="square" lIns="0" tIns="0" rIns="0" bIns="0" rtlCol="0" anchor="t"/>
          <a:lstStyle/>
          <a:p>
            <a:pPr indent="0" marL="0">
              <a:buNone/>
            </a:pPr>
            <a:r>
              <a:rPr lang="en-US" sz="900" dirty="0">
                <a:solidFill>
                  <a:srgbClr val="9AA7BD"/>
                </a:solidFill>
                <a:latin typeface="Calibri" pitchFamily="34" charset="0"/>
                <a:ea typeface="Calibri" pitchFamily="34" charset="-122"/>
                <a:cs typeface="Calibri" pitchFamily="34" charset="-120"/>
              </a:rPr>
              <a:t>Limited / none</a:t>
            </a:r>
            <a:endParaRPr lang="en-US" sz="900" dirty="0"/>
          </a:p>
        </p:txBody>
      </p:sp>
      <p:sp>
        <p:nvSpPr>
          <p:cNvPr id="82" name="Text 80"/>
          <p:cNvSpPr/>
          <p:nvPr/>
        </p:nvSpPr>
        <p:spPr>
          <a:xfrm>
            <a:off x="457200" y="6025896"/>
            <a:ext cx="11338560" cy="274320"/>
          </a:xfrm>
          <a:prstGeom prst="rect">
            <a:avLst/>
          </a:prstGeom>
          <a:noFill/>
          <a:ln/>
        </p:spPr>
        <p:txBody>
          <a:bodyPr wrap="square" lIns="0" tIns="0" rIns="0" bIns="0" rtlCol="0" anchor="t"/>
          <a:lstStyle/>
          <a:p>
            <a:pPr indent="0" marL="0">
              <a:buNone/>
            </a:pPr>
            <a:r>
              <a:rPr lang="en-US" sz="800" i="1" dirty="0">
                <a:solidFill>
                  <a:srgbClr val="5C6B85"/>
                </a:solidFill>
                <a:latin typeface="Calibri" pitchFamily="34" charset="0"/>
                <a:ea typeface="Calibri" pitchFamily="34" charset="-122"/>
                <a:cs typeface="Calibri" pitchFamily="34" charset="-120"/>
              </a:rPr>
              <a:t>Other tools: our own read of public material (July 2026), not a hands-on test.  CostVision rows: checked against the code, September 2026.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THE EXPERIENCE</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What makes a viewer "feel like CAD software"</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Text 9"/>
          <p:cNvSpPr/>
          <p:nvPr/>
        </p:nvSpPr>
        <p:spPr>
          <a:xfrm>
            <a:off x="411480" y="1783080"/>
            <a:ext cx="11338560" cy="457200"/>
          </a:xfrm>
          <a:prstGeom prst="rect">
            <a:avLst/>
          </a:prstGeom>
          <a:noFill/>
          <a:ln/>
        </p:spPr>
        <p:txBody>
          <a:bodyPr wrap="square" lIns="0" tIns="0" rIns="0" bIns="0" rtlCol="0" anchor="t"/>
          <a:lstStyle/>
          <a:p>
            <a:pPr indent="0" marL="0">
              <a:lnSpc>
                <a:spcPct val="110000"/>
              </a:lnSpc>
              <a:buNone/>
            </a:pPr>
            <a:r>
              <a:rPr lang="en-US" sz="1200" i="1" dirty="0">
                <a:solidFill>
                  <a:srgbClr val="9AA7BD"/>
                </a:solidFill>
                <a:latin typeface="Calibri" pitchFamily="34" charset="0"/>
                <a:ea typeface="Calibri" pitchFamily="34" charset="-122"/>
                <a:cs typeface="Calibri" pitchFamily="34" charset="-120"/>
              </a:rPr>
              <a:t>It is not prettier rendering. It is analysis drawn on the model, and room to work. 3D-Tool, a dedicated viewer, is a good example of the idea.</a:t>
            </a:r>
            <a:endParaRPr lang="en-US" sz="1200" dirty="0"/>
          </a:p>
        </p:txBody>
      </p:sp>
      <p:sp>
        <p:nvSpPr>
          <p:cNvPr id="12" name="Shape 10"/>
          <p:cNvSpPr/>
          <p:nvPr/>
        </p:nvSpPr>
        <p:spPr>
          <a:xfrm>
            <a:off x="411480" y="2331720"/>
            <a:ext cx="3685032" cy="1737360"/>
          </a:xfrm>
          <a:prstGeom prst="roundRect">
            <a:avLst>
              <a:gd name="adj" fmla="val 3684"/>
            </a:avLst>
          </a:prstGeom>
          <a:solidFill>
            <a:srgbClr val="1C2536"/>
          </a:solidFill>
          <a:ln w="9525">
            <a:solidFill>
              <a:srgbClr val="2B3A52"/>
            </a:solidFill>
            <a:prstDash val="solid"/>
          </a:ln>
        </p:spPr>
      </p:sp>
      <p:sp>
        <p:nvSpPr>
          <p:cNvPr id="13" name="Shape 11"/>
          <p:cNvSpPr/>
          <p:nvPr/>
        </p:nvSpPr>
        <p:spPr>
          <a:xfrm>
            <a:off x="411480" y="2331720"/>
            <a:ext cx="64008" cy="1737360"/>
          </a:xfrm>
          <a:prstGeom prst="rect">
            <a:avLst/>
          </a:prstGeom>
          <a:solidFill>
            <a:srgbClr val="2DD4BF"/>
          </a:solidFill>
          <a:ln/>
        </p:spPr>
      </p:sp>
      <p:sp>
        <p:nvSpPr>
          <p:cNvPr id="14" name="Text 12"/>
          <p:cNvSpPr/>
          <p:nvPr/>
        </p:nvSpPr>
        <p:spPr>
          <a:xfrm>
            <a:off x="594360" y="244144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Wall-thickness heatmap</a:t>
            </a:r>
            <a:endParaRPr lang="en-US" sz="1150" dirty="0"/>
          </a:p>
        </p:txBody>
      </p:sp>
      <p:sp>
        <p:nvSpPr>
          <p:cNvPr id="15" name="Text 13"/>
          <p:cNvSpPr/>
          <p:nvPr/>
        </p:nvSpPr>
        <p:spPr>
          <a:xfrm>
            <a:off x="594360" y="2752344"/>
            <a:ext cx="3374136" cy="128016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Thin and thick areas coloured on the part. It shows moulding and casting risk at a glance. We have this today for STEP and IGES.</a:t>
            </a:r>
            <a:endParaRPr lang="en-US" sz="1050" dirty="0"/>
          </a:p>
        </p:txBody>
      </p:sp>
      <p:sp>
        <p:nvSpPr>
          <p:cNvPr id="16" name="Shape 14"/>
          <p:cNvSpPr/>
          <p:nvPr/>
        </p:nvSpPr>
        <p:spPr>
          <a:xfrm>
            <a:off x="4215384" y="2331720"/>
            <a:ext cx="3685032" cy="1737360"/>
          </a:xfrm>
          <a:prstGeom prst="roundRect">
            <a:avLst>
              <a:gd name="adj" fmla="val 3684"/>
            </a:avLst>
          </a:prstGeom>
          <a:solidFill>
            <a:srgbClr val="1C2536"/>
          </a:solidFill>
          <a:ln w="9525">
            <a:solidFill>
              <a:srgbClr val="2B3A52"/>
            </a:solidFill>
            <a:prstDash val="solid"/>
          </a:ln>
        </p:spPr>
      </p:sp>
      <p:sp>
        <p:nvSpPr>
          <p:cNvPr id="17" name="Shape 15"/>
          <p:cNvSpPr/>
          <p:nvPr/>
        </p:nvSpPr>
        <p:spPr>
          <a:xfrm>
            <a:off x="4215384" y="2331720"/>
            <a:ext cx="64008" cy="1737360"/>
          </a:xfrm>
          <a:prstGeom prst="rect">
            <a:avLst/>
          </a:prstGeom>
          <a:solidFill>
            <a:srgbClr val="38BDF8"/>
          </a:solidFill>
          <a:ln/>
        </p:spPr>
      </p:sp>
      <p:sp>
        <p:nvSpPr>
          <p:cNvPr id="18" name="Text 16"/>
          <p:cNvSpPr/>
          <p:nvPr/>
        </p:nvSpPr>
        <p:spPr>
          <a:xfrm>
            <a:off x="4398264" y="244144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Draft &amp; undercut view</a:t>
            </a:r>
            <a:endParaRPr lang="en-US" sz="1150" dirty="0"/>
          </a:p>
        </p:txBody>
      </p:sp>
      <p:sp>
        <p:nvSpPr>
          <p:cNvPr id="19" name="Text 17"/>
          <p:cNvSpPr/>
          <p:nvPr/>
        </p:nvSpPr>
        <p:spPr>
          <a:xfrm>
            <a:off x="4398264" y="2752344"/>
            <a:ext cx="3374136" cy="128016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Each face shaded by its draft angle to the tool pull direction. Undercuts need slides, and slides cost money. We have this today.</a:t>
            </a:r>
            <a:endParaRPr lang="en-US" sz="1050" dirty="0"/>
          </a:p>
        </p:txBody>
      </p:sp>
      <p:sp>
        <p:nvSpPr>
          <p:cNvPr id="20" name="Shape 18"/>
          <p:cNvSpPr/>
          <p:nvPr/>
        </p:nvSpPr>
        <p:spPr>
          <a:xfrm>
            <a:off x="8019288" y="2331720"/>
            <a:ext cx="3685032" cy="1737360"/>
          </a:xfrm>
          <a:prstGeom prst="roundRect">
            <a:avLst>
              <a:gd name="adj" fmla="val 3684"/>
            </a:avLst>
          </a:prstGeom>
          <a:solidFill>
            <a:srgbClr val="1C2536"/>
          </a:solidFill>
          <a:ln w="9525">
            <a:solidFill>
              <a:srgbClr val="2B3A52"/>
            </a:solidFill>
            <a:prstDash val="solid"/>
          </a:ln>
        </p:spPr>
      </p:sp>
      <p:sp>
        <p:nvSpPr>
          <p:cNvPr id="21" name="Shape 19"/>
          <p:cNvSpPr/>
          <p:nvPr/>
        </p:nvSpPr>
        <p:spPr>
          <a:xfrm>
            <a:off x="8019288" y="2331720"/>
            <a:ext cx="64008" cy="1737360"/>
          </a:xfrm>
          <a:prstGeom prst="rect">
            <a:avLst/>
          </a:prstGeom>
          <a:solidFill>
            <a:srgbClr val="A78BFA"/>
          </a:solidFill>
          <a:ln/>
        </p:spPr>
      </p:sp>
      <p:sp>
        <p:nvSpPr>
          <p:cNvPr id="22" name="Text 20"/>
          <p:cNvSpPr/>
          <p:nvPr/>
        </p:nvSpPr>
        <p:spPr>
          <a:xfrm>
            <a:off x="8202168" y="244144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Section &amp; measure</a:t>
            </a:r>
            <a:endParaRPr lang="en-US" sz="1150" dirty="0"/>
          </a:p>
        </p:txBody>
      </p:sp>
      <p:sp>
        <p:nvSpPr>
          <p:cNvPr id="23" name="Text 21"/>
          <p:cNvSpPr/>
          <p:nvPr/>
        </p:nvSpPr>
        <p:spPr>
          <a:xfrm>
            <a:off x="8202168" y="2752344"/>
            <a:ext cx="3374136" cy="128016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Cut planes and true measurements: the everyday CAD actions people expect. We have cut planes on X, Y and Z and six measure tools.</a:t>
            </a:r>
            <a:endParaRPr lang="en-US" sz="1050" dirty="0"/>
          </a:p>
        </p:txBody>
      </p:sp>
      <p:sp>
        <p:nvSpPr>
          <p:cNvPr id="24" name="Shape 22"/>
          <p:cNvSpPr/>
          <p:nvPr/>
        </p:nvSpPr>
        <p:spPr>
          <a:xfrm>
            <a:off x="411480" y="4187952"/>
            <a:ext cx="3685032" cy="1737360"/>
          </a:xfrm>
          <a:prstGeom prst="roundRect">
            <a:avLst>
              <a:gd name="adj" fmla="val 3684"/>
            </a:avLst>
          </a:prstGeom>
          <a:solidFill>
            <a:srgbClr val="1C2536"/>
          </a:solidFill>
          <a:ln w="9525">
            <a:solidFill>
              <a:srgbClr val="2B3A52"/>
            </a:solidFill>
            <a:prstDash val="solid"/>
          </a:ln>
        </p:spPr>
      </p:sp>
      <p:sp>
        <p:nvSpPr>
          <p:cNvPr id="25" name="Shape 23"/>
          <p:cNvSpPr/>
          <p:nvPr/>
        </p:nvSpPr>
        <p:spPr>
          <a:xfrm>
            <a:off x="411480" y="4187952"/>
            <a:ext cx="64008" cy="1737360"/>
          </a:xfrm>
          <a:prstGeom prst="rect">
            <a:avLst/>
          </a:prstGeom>
          <a:solidFill>
            <a:srgbClr val="34D399"/>
          </a:solidFill>
          <a:ln/>
        </p:spPr>
      </p:sp>
      <p:sp>
        <p:nvSpPr>
          <p:cNvPr id="26" name="Text 24"/>
          <p:cNvSpPr/>
          <p:nvPr/>
        </p:nvSpPr>
        <p:spPr>
          <a:xfrm>
            <a:off x="594360" y="429768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Feature / model tree</a:t>
            </a:r>
            <a:endParaRPr lang="en-US" sz="1150" dirty="0"/>
          </a:p>
        </p:txBody>
      </p:sp>
      <p:sp>
        <p:nvSpPr>
          <p:cNvPr id="27" name="Text 25"/>
          <p:cNvSpPr/>
          <p:nvPr/>
        </p:nvSpPr>
        <p:spPr>
          <a:xfrm>
            <a:off x="594360" y="4608576"/>
            <a:ext cx="3374136" cy="128016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A list of bodies and features. Click a row and the faces light up. We have this today for STEP and IGES.</a:t>
            </a:r>
            <a:endParaRPr lang="en-US" sz="1050" dirty="0"/>
          </a:p>
        </p:txBody>
      </p:sp>
      <p:sp>
        <p:nvSpPr>
          <p:cNvPr id="28" name="Shape 26"/>
          <p:cNvSpPr/>
          <p:nvPr/>
        </p:nvSpPr>
        <p:spPr>
          <a:xfrm>
            <a:off x="4215384" y="4187952"/>
            <a:ext cx="3685032" cy="1737360"/>
          </a:xfrm>
          <a:prstGeom prst="roundRect">
            <a:avLst>
              <a:gd name="adj" fmla="val 3684"/>
            </a:avLst>
          </a:prstGeom>
          <a:solidFill>
            <a:srgbClr val="1C2536"/>
          </a:solidFill>
          <a:ln w="9525">
            <a:solidFill>
              <a:srgbClr val="2B3A52"/>
            </a:solidFill>
            <a:prstDash val="solid"/>
          </a:ln>
        </p:spPr>
      </p:sp>
      <p:sp>
        <p:nvSpPr>
          <p:cNvPr id="29" name="Shape 27"/>
          <p:cNvSpPr/>
          <p:nvPr/>
        </p:nvSpPr>
        <p:spPr>
          <a:xfrm>
            <a:off x="4215384" y="4187952"/>
            <a:ext cx="64008" cy="1737360"/>
          </a:xfrm>
          <a:prstGeom prst="rect">
            <a:avLst/>
          </a:prstGeom>
          <a:solidFill>
            <a:srgbClr val="FBBF24"/>
          </a:solidFill>
          <a:ln/>
        </p:spPr>
      </p:sp>
      <p:sp>
        <p:nvSpPr>
          <p:cNvPr id="30" name="Text 28"/>
          <p:cNvSpPr/>
          <p:nvPr/>
        </p:nvSpPr>
        <p:spPr>
          <a:xfrm>
            <a:off x="4398264" y="429768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Tolerances on the model</a:t>
            </a:r>
            <a:endParaRPr lang="en-US" sz="1150" dirty="0"/>
          </a:p>
        </p:txBody>
      </p:sp>
      <p:sp>
        <p:nvSpPr>
          <p:cNvPr id="31" name="Text 29"/>
          <p:cNvSpPr/>
          <p:nvPr/>
        </p:nvSpPr>
        <p:spPr>
          <a:xfrm>
            <a:off x="4398264" y="4608576"/>
            <a:ext cx="3374136" cy="128016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Tolerances and notes shown in 3D (PMI: product manufacturing information), tied to the faces they apply to. We do not have this yet.</a:t>
            </a:r>
            <a:endParaRPr lang="en-US" sz="1050" dirty="0"/>
          </a:p>
        </p:txBody>
      </p:sp>
      <p:sp>
        <p:nvSpPr>
          <p:cNvPr id="32" name="Shape 30"/>
          <p:cNvSpPr/>
          <p:nvPr/>
        </p:nvSpPr>
        <p:spPr>
          <a:xfrm>
            <a:off x="8019288" y="4187952"/>
            <a:ext cx="3685032" cy="1737360"/>
          </a:xfrm>
          <a:prstGeom prst="roundRect">
            <a:avLst>
              <a:gd name="adj" fmla="val 3684"/>
            </a:avLst>
          </a:prstGeom>
          <a:solidFill>
            <a:srgbClr val="1C2536"/>
          </a:solidFill>
          <a:ln w="9525">
            <a:solidFill>
              <a:srgbClr val="2B3A52"/>
            </a:solidFill>
            <a:prstDash val="solid"/>
          </a:ln>
        </p:spPr>
      </p:sp>
      <p:sp>
        <p:nvSpPr>
          <p:cNvPr id="33" name="Shape 31"/>
          <p:cNvSpPr/>
          <p:nvPr/>
        </p:nvSpPr>
        <p:spPr>
          <a:xfrm>
            <a:off x="8019288" y="4187952"/>
            <a:ext cx="64008" cy="1737360"/>
          </a:xfrm>
          <a:prstGeom prst="rect">
            <a:avLst/>
          </a:prstGeom>
          <a:solidFill>
            <a:srgbClr val="2DD4BF"/>
          </a:solidFill>
          <a:ln/>
        </p:spPr>
      </p:sp>
      <p:sp>
        <p:nvSpPr>
          <p:cNvPr id="34" name="Text 32"/>
          <p:cNvSpPr/>
          <p:nvPr/>
        </p:nvSpPr>
        <p:spPr>
          <a:xfrm>
            <a:off x="8202168" y="429768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A big, easy canvas</a:t>
            </a:r>
            <a:endParaRPr lang="en-US" sz="1150" dirty="0"/>
          </a:p>
        </p:txBody>
      </p:sp>
      <p:sp>
        <p:nvSpPr>
          <p:cNvPr id="35" name="Text 33"/>
          <p:cNvSpPr/>
          <p:nvPr/>
        </p:nvSpPr>
        <p:spPr>
          <a:xfrm>
            <a:off x="8202168" y="4608576"/>
            <a:ext cx="3374136" cy="128016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A large view, an orientation cube and smooth orbit. We have an Expand button, the cube and standard views today.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OUR BASELINE · CHECKED AGAINST THE CODE, SEPTEMBER 2026</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Where CostVision stands today — honestly</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11480" y="1783080"/>
            <a:ext cx="5532120" cy="4297680"/>
          </a:xfrm>
          <a:prstGeom prst="roundRect">
            <a:avLst>
              <a:gd name="adj" fmla="val 1489"/>
            </a:avLst>
          </a:prstGeom>
          <a:solidFill>
            <a:srgbClr val="141B28"/>
          </a:solidFill>
          <a:ln w="9525">
            <a:solidFill>
              <a:srgbClr val="2B3A52"/>
            </a:solidFill>
            <a:prstDash val="solid"/>
          </a:ln>
        </p:spPr>
      </p:sp>
      <p:sp>
        <p:nvSpPr>
          <p:cNvPr id="12" name="Shape 10"/>
          <p:cNvSpPr/>
          <p:nvPr/>
        </p:nvSpPr>
        <p:spPr>
          <a:xfrm>
            <a:off x="411480" y="1783080"/>
            <a:ext cx="5532120" cy="45720"/>
          </a:xfrm>
          <a:prstGeom prst="rect">
            <a:avLst/>
          </a:prstGeom>
          <a:solidFill>
            <a:srgbClr val="34D399"/>
          </a:solidFill>
          <a:ln/>
        </p:spPr>
      </p:sp>
      <p:sp>
        <p:nvSpPr>
          <p:cNvPr id="13" name="Text 11"/>
          <p:cNvSpPr/>
          <p:nvPr/>
        </p:nvSpPr>
        <p:spPr>
          <a:xfrm>
            <a:off x="621792" y="1920240"/>
            <a:ext cx="5120640" cy="365760"/>
          </a:xfrm>
          <a:prstGeom prst="rect">
            <a:avLst/>
          </a:prstGeom>
          <a:noFill/>
          <a:ln/>
        </p:spPr>
        <p:txBody>
          <a:bodyPr wrap="square" lIns="0" tIns="0" rIns="0" bIns="0" rtlCol="0" anchor="t"/>
          <a:lstStyle/>
          <a:p>
            <a:pPr indent="0" marL="0">
              <a:buNone/>
            </a:pPr>
            <a:r>
              <a:rPr lang="en-US" sz="1400" b="1" dirty="0">
                <a:solidFill>
                  <a:srgbClr val="34D399"/>
                </a:solidFill>
                <a:latin typeface="Calibri" pitchFamily="34" charset="0"/>
                <a:ea typeface="Calibri" pitchFamily="34" charset="-122"/>
                <a:cs typeface="Calibri" pitchFamily="34" charset="-120"/>
              </a:rPr>
              <a:t>In the tool today</a:t>
            </a:r>
            <a:endParaRPr lang="en-US" sz="1400" dirty="0"/>
          </a:p>
        </p:txBody>
      </p:sp>
      <p:sp>
        <p:nvSpPr>
          <p:cNvPr id="14" name="Shape 12"/>
          <p:cNvSpPr/>
          <p:nvPr/>
        </p:nvSpPr>
        <p:spPr>
          <a:xfrm>
            <a:off x="658368" y="2377440"/>
            <a:ext cx="82296" cy="82296"/>
          </a:xfrm>
          <a:prstGeom prst="ellipse">
            <a:avLst/>
          </a:prstGeom>
          <a:solidFill>
            <a:srgbClr val="34D399"/>
          </a:solidFill>
          <a:ln/>
        </p:spPr>
      </p:sp>
      <p:sp>
        <p:nvSpPr>
          <p:cNvPr id="15" name="Text 13"/>
          <p:cNvSpPr/>
          <p:nvPr/>
        </p:nvSpPr>
        <p:spPr>
          <a:xfrm>
            <a:off x="841248" y="2295144"/>
            <a:ext cx="4937760" cy="402336"/>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STEP/IGES measured by OpenCASCADE; STL by a fast mesh path: volume, weight, size, area</a:t>
            </a:r>
            <a:endParaRPr lang="en-US" sz="970" dirty="0"/>
          </a:p>
        </p:txBody>
      </p:sp>
      <p:sp>
        <p:nvSpPr>
          <p:cNvPr id="16" name="Shape 14"/>
          <p:cNvSpPr/>
          <p:nvPr/>
        </p:nvSpPr>
        <p:spPr>
          <a:xfrm>
            <a:off x="658368" y="2834640"/>
            <a:ext cx="82296" cy="82296"/>
          </a:xfrm>
          <a:prstGeom prst="ellipse">
            <a:avLst/>
          </a:prstGeom>
          <a:solidFill>
            <a:srgbClr val="34D399"/>
          </a:solidFill>
          <a:ln/>
        </p:spPr>
      </p:sp>
      <p:sp>
        <p:nvSpPr>
          <p:cNvPr id="17" name="Text 15"/>
          <p:cNvSpPr/>
          <p:nvPr/>
        </p:nvSpPr>
        <p:spPr>
          <a:xfrm>
            <a:off x="841248" y="2752344"/>
            <a:ext cx="4937760" cy="402336"/>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Feature table (STEP/IGES): holes and bosses with diameter and depth; fillets; cautious pockets</a:t>
            </a:r>
            <a:endParaRPr lang="en-US" sz="970" dirty="0"/>
          </a:p>
        </p:txBody>
      </p:sp>
      <p:sp>
        <p:nvSpPr>
          <p:cNvPr id="18" name="Shape 16"/>
          <p:cNvSpPr/>
          <p:nvPr/>
        </p:nvSpPr>
        <p:spPr>
          <a:xfrm>
            <a:off x="658368" y="3291840"/>
            <a:ext cx="82296" cy="82296"/>
          </a:xfrm>
          <a:prstGeom prst="ellipse">
            <a:avLst/>
          </a:prstGeom>
          <a:solidFill>
            <a:srgbClr val="34D399"/>
          </a:solidFill>
          <a:ln/>
        </p:spPr>
      </p:sp>
      <p:sp>
        <p:nvSpPr>
          <p:cNvPr id="19" name="Text 17"/>
          <p:cNvSpPr/>
          <p:nvPr/>
        </p:nvSpPr>
        <p:spPr>
          <a:xfrm>
            <a:off x="841248" y="3209544"/>
            <a:ext cx="4937760" cy="402336"/>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Wall thickness by ray-casting, draft and undercut counts, setup count, sheet-metal bends</a:t>
            </a:r>
            <a:endParaRPr lang="en-US" sz="970" dirty="0"/>
          </a:p>
        </p:txBody>
      </p:sp>
      <p:sp>
        <p:nvSpPr>
          <p:cNvPr id="20" name="Shape 18"/>
          <p:cNvSpPr/>
          <p:nvPr/>
        </p:nvSpPr>
        <p:spPr>
          <a:xfrm>
            <a:off x="658368" y="3749040"/>
            <a:ext cx="82296" cy="82296"/>
          </a:xfrm>
          <a:prstGeom prst="ellipse">
            <a:avLst/>
          </a:prstGeom>
          <a:solidFill>
            <a:srgbClr val="34D399"/>
          </a:solidFill>
          <a:ln/>
        </p:spPr>
      </p:sp>
      <p:sp>
        <p:nvSpPr>
          <p:cNvPr id="21" name="Text 19"/>
          <p:cNvSpPr/>
          <p:nvPr/>
        </p:nvSpPr>
        <p:spPr>
          <a:xfrm>
            <a:off x="841248" y="3666744"/>
            <a:ext cx="4937760" cy="402336"/>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CNC cycle-time estimate for STEP/IGES, built up from the measured features</a:t>
            </a:r>
            <a:endParaRPr lang="en-US" sz="970" dirty="0"/>
          </a:p>
        </p:txBody>
      </p:sp>
      <p:sp>
        <p:nvSpPr>
          <p:cNvPr id="22" name="Shape 20"/>
          <p:cNvSpPr/>
          <p:nvPr/>
        </p:nvSpPr>
        <p:spPr>
          <a:xfrm>
            <a:off x="658368" y="4206240"/>
            <a:ext cx="82296" cy="82296"/>
          </a:xfrm>
          <a:prstGeom prst="ellipse">
            <a:avLst/>
          </a:prstGeom>
          <a:solidFill>
            <a:srgbClr val="34D399"/>
          </a:solidFill>
          <a:ln/>
        </p:spPr>
      </p:sp>
      <p:sp>
        <p:nvSpPr>
          <p:cNvPr id="23" name="Text 21"/>
          <p:cNvSpPr/>
          <p:nvPr/>
        </p:nvSpPr>
        <p:spPr>
          <a:xfrm>
            <a:off x="841248" y="4123944"/>
            <a:ext cx="4937760" cy="402336"/>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Viewer: orientation cube, model tree, X/Y/Z section planes, exploded view, Expand</a:t>
            </a:r>
            <a:endParaRPr lang="en-US" sz="970" dirty="0"/>
          </a:p>
        </p:txBody>
      </p:sp>
      <p:sp>
        <p:nvSpPr>
          <p:cNvPr id="24" name="Shape 22"/>
          <p:cNvSpPr/>
          <p:nvPr/>
        </p:nvSpPr>
        <p:spPr>
          <a:xfrm>
            <a:off x="658368" y="4663440"/>
            <a:ext cx="82296" cy="82296"/>
          </a:xfrm>
          <a:prstGeom prst="ellipse">
            <a:avLst/>
          </a:prstGeom>
          <a:solidFill>
            <a:srgbClr val="34D399"/>
          </a:solidFill>
          <a:ln/>
        </p:spPr>
      </p:sp>
      <p:sp>
        <p:nvSpPr>
          <p:cNvPr id="25" name="Text 23"/>
          <p:cNvSpPr/>
          <p:nvPr/>
        </p:nvSpPr>
        <p:spPr>
          <a:xfrm>
            <a:off x="841248" y="4581144"/>
            <a:ext cx="4937760" cy="402336"/>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On-model colour: wall thickness, draft and undercut, and £ per face after a costing</a:t>
            </a:r>
            <a:endParaRPr lang="en-US" sz="970" dirty="0"/>
          </a:p>
        </p:txBody>
      </p:sp>
      <p:sp>
        <p:nvSpPr>
          <p:cNvPr id="26" name="Shape 24"/>
          <p:cNvSpPr/>
          <p:nvPr/>
        </p:nvSpPr>
        <p:spPr>
          <a:xfrm>
            <a:off x="658368" y="5120640"/>
            <a:ext cx="82296" cy="82296"/>
          </a:xfrm>
          <a:prstGeom prst="ellipse">
            <a:avLst/>
          </a:prstGeom>
          <a:solidFill>
            <a:srgbClr val="34D399"/>
          </a:solidFill>
          <a:ln/>
        </p:spPr>
      </p:sp>
      <p:sp>
        <p:nvSpPr>
          <p:cNvPr id="27" name="Text 25"/>
          <p:cNvSpPr/>
          <p:nvPr/>
        </p:nvSpPr>
        <p:spPr>
          <a:xfrm>
            <a:off x="841248" y="5038344"/>
            <a:ext cx="4937760" cy="402336"/>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Measure: distance, radius, angle, point, face-to-face; export to CSV</a:t>
            </a:r>
            <a:endParaRPr lang="en-US" sz="970" dirty="0"/>
          </a:p>
        </p:txBody>
      </p:sp>
      <p:sp>
        <p:nvSpPr>
          <p:cNvPr id="28" name="Shape 26"/>
          <p:cNvSpPr/>
          <p:nvPr/>
        </p:nvSpPr>
        <p:spPr>
          <a:xfrm>
            <a:off x="658368" y="5577840"/>
            <a:ext cx="82296" cy="82296"/>
          </a:xfrm>
          <a:prstGeom prst="ellipse">
            <a:avLst/>
          </a:prstGeom>
          <a:solidFill>
            <a:srgbClr val="34D399"/>
          </a:solidFill>
          <a:ln/>
        </p:spPr>
      </p:sp>
      <p:sp>
        <p:nvSpPr>
          <p:cNvPr id="29" name="Text 27"/>
          <p:cNvSpPr/>
          <p:nvPr/>
        </p:nvSpPr>
        <p:spPr>
          <a:xfrm>
            <a:off x="841248" y="5495544"/>
            <a:ext cx="4937760" cy="402336"/>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Click a face for its exact type, radius and area; the matching result rows are outlined</a:t>
            </a:r>
            <a:endParaRPr lang="en-US" sz="970" dirty="0"/>
          </a:p>
        </p:txBody>
      </p:sp>
      <p:sp>
        <p:nvSpPr>
          <p:cNvPr id="30" name="Shape 28"/>
          <p:cNvSpPr/>
          <p:nvPr/>
        </p:nvSpPr>
        <p:spPr>
          <a:xfrm>
            <a:off x="6217920" y="1783080"/>
            <a:ext cx="5532120" cy="4297680"/>
          </a:xfrm>
          <a:prstGeom prst="roundRect">
            <a:avLst>
              <a:gd name="adj" fmla="val 1489"/>
            </a:avLst>
          </a:prstGeom>
          <a:solidFill>
            <a:srgbClr val="141B28"/>
          </a:solidFill>
          <a:ln w="9525">
            <a:solidFill>
              <a:srgbClr val="2B3A52"/>
            </a:solidFill>
            <a:prstDash val="solid"/>
          </a:ln>
        </p:spPr>
      </p:sp>
      <p:sp>
        <p:nvSpPr>
          <p:cNvPr id="31" name="Shape 29"/>
          <p:cNvSpPr/>
          <p:nvPr/>
        </p:nvSpPr>
        <p:spPr>
          <a:xfrm>
            <a:off x="6217920" y="1783080"/>
            <a:ext cx="5532120" cy="45720"/>
          </a:xfrm>
          <a:prstGeom prst="rect">
            <a:avLst/>
          </a:prstGeom>
          <a:solidFill>
            <a:srgbClr val="FBBF24"/>
          </a:solidFill>
          <a:ln/>
        </p:spPr>
      </p:sp>
      <p:sp>
        <p:nvSpPr>
          <p:cNvPr id="32" name="Text 30"/>
          <p:cNvSpPr/>
          <p:nvPr/>
        </p:nvSpPr>
        <p:spPr>
          <a:xfrm>
            <a:off x="6428232" y="1920240"/>
            <a:ext cx="5120640" cy="365760"/>
          </a:xfrm>
          <a:prstGeom prst="rect">
            <a:avLst/>
          </a:prstGeom>
          <a:noFill/>
          <a:ln/>
        </p:spPr>
        <p:txBody>
          <a:bodyPr wrap="square" lIns="0" tIns="0" rIns="0" bIns="0" rtlCol="0" anchor="t"/>
          <a:lstStyle/>
          <a:p>
            <a:pPr indent="0" marL="0">
              <a:buNone/>
            </a:pPr>
            <a:r>
              <a:rPr lang="en-US" sz="1400" b="1" dirty="0">
                <a:solidFill>
                  <a:srgbClr val="FBBF24"/>
                </a:solidFill>
                <a:latin typeface="Calibri" pitchFamily="34" charset="0"/>
                <a:ea typeface="Calibri" pitchFamily="34" charset="-122"/>
                <a:cs typeface="Calibri" pitchFamily="34" charset="-120"/>
              </a:rPr>
              <a:t>Still open</a:t>
            </a:r>
            <a:endParaRPr lang="en-US" sz="1400" dirty="0"/>
          </a:p>
        </p:txBody>
      </p:sp>
      <p:sp>
        <p:nvSpPr>
          <p:cNvPr id="33" name="Shape 31"/>
          <p:cNvSpPr/>
          <p:nvPr/>
        </p:nvSpPr>
        <p:spPr>
          <a:xfrm>
            <a:off x="6464808" y="2377440"/>
            <a:ext cx="82296" cy="82296"/>
          </a:xfrm>
          <a:prstGeom prst="ellipse">
            <a:avLst/>
          </a:prstGeom>
          <a:solidFill>
            <a:srgbClr val="A78BFA"/>
          </a:solidFill>
          <a:ln/>
        </p:spPr>
      </p:sp>
      <p:sp>
        <p:nvSpPr>
          <p:cNvPr id="34" name="Text 32"/>
          <p:cNvSpPr/>
          <p:nvPr/>
        </p:nvSpPr>
        <p:spPr>
          <a:xfrm>
            <a:off x="6647688" y="2295144"/>
            <a:ext cx="4937760" cy="457200"/>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No tolerances read from the CAD file (STEP AP242 PMI); the engineer types the tightest tolerance</a:t>
            </a:r>
            <a:endParaRPr lang="en-US" sz="970" dirty="0"/>
          </a:p>
        </p:txBody>
      </p:sp>
      <p:sp>
        <p:nvSpPr>
          <p:cNvPr id="35" name="Shape 33"/>
          <p:cNvSpPr/>
          <p:nvPr/>
        </p:nvSpPr>
        <p:spPr>
          <a:xfrm>
            <a:off x="6464808" y="2834640"/>
            <a:ext cx="82296" cy="82296"/>
          </a:xfrm>
          <a:prstGeom prst="ellipse">
            <a:avLst/>
          </a:prstGeom>
          <a:solidFill>
            <a:srgbClr val="A78BFA"/>
          </a:solidFill>
          <a:ln/>
        </p:spPr>
      </p:sp>
      <p:sp>
        <p:nvSpPr>
          <p:cNvPr id="36" name="Text 34"/>
          <p:cNvSpPr/>
          <p:nvPr/>
        </p:nvSpPr>
        <p:spPr>
          <a:xfrm>
            <a:off x="6647688" y="2752344"/>
            <a:ext cx="4937760" cy="457200"/>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STL has no feature table: no cycle time, tree or thickness map; the engineer types the cycle time</a:t>
            </a:r>
            <a:endParaRPr lang="en-US" sz="970" dirty="0"/>
          </a:p>
        </p:txBody>
      </p:sp>
      <p:sp>
        <p:nvSpPr>
          <p:cNvPr id="37" name="Shape 35"/>
          <p:cNvSpPr/>
          <p:nvPr/>
        </p:nvSpPr>
        <p:spPr>
          <a:xfrm>
            <a:off x="6464808" y="3291840"/>
            <a:ext cx="82296" cy="82296"/>
          </a:xfrm>
          <a:prstGeom prst="ellipse">
            <a:avLst/>
          </a:prstGeom>
          <a:solidFill>
            <a:srgbClr val="A78BFA"/>
          </a:solidFill>
          <a:ln/>
        </p:spPr>
      </p:sp>
      <p:sp>
        <p:nvSpPr>
          <p:cNvPr id="38" name="Text 36"/>
          <p:cNvSpPr/>
          <p:nvPr/>
        </p:nvSpPr>
        <p:spPr>
          <a:xfrm>
            <a:off x="6647688" y="3209544"/>
            <a:ext cx="4937760" cy="457200"/>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No chamfer, slot or thread-spec recognition yet</a:t>
            </a:r>
            <a:endParaRPr lang="en-US" sz="970" dirty="0"/>
          </a:p>
        </p:txBody>
      </p:sp>
      <p:sp>
        <p:nvSpPr>
          <p:cNvPr id="39" name="Shape 37"/>
          <p:cNvSpPr/>
          <p:nvPr/>
        </p:nvSpPr>
        <p:spPr>
          <a:xfrm>
            <a:off x="6464808" y="3749040"/>
            <a:ext cx="82296" cy="82296"/>
          </a:xfrm>
          <a:prstGeom prst="ellipse">
            <a:avLst/>
          </a:prstGeom>
          <a:solidFill>
            <a:srgbClr val="FBBF24"/>
          </a:solidFill>
          <a:ln/>
        </p:spPr>
      </p:sp>
      <p:sp>
        <p:nvSpPr>
          <p:cNvPr id="40" name="Text 38"/>
          <p:cNvSpPr/>
          <p:nvPr/>
        </p:nvSpPr>
        <p:spPr>
          <a:xfrm>
            <a:off x="6647688" y="3666744"/>
            <a:ext cx="4937760" cy="457200"/>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The browser shows a mesh; the server turns STEP into triangles (no live B-rep in the browser)</a:t>
            </a:r>
            <a:endParaRPr lang="en-US" sz="970" dirty="0"/>
          </a:p>
        </p:txBody>
      </p:sp>
      <p:sp>
        <p:nvSpPr>
          <p:cNvPr id="41" name="Shape 39"/>
          <p:cNvSpPr/>
          <p:nvPr/>
        </p:nvSpPr>
        <p:spPr>
          <a:xfrm>
            <a:off x="6464808" y="4206240"/>
            <a:ext cx="82296" cy="82296"/>
          </a:xfrm>
          <a:prstGeom prst="ellipse">
            <a:avLst/>
          </a:prstGeom>
          <a:solidFill>
            <a:srgbClr val="FBBF24"/>
          </a:solidFill>
          <a:ln/>
        </p:spPr>
      </p:sp>
      <p:sp>
        <p:nvSpPr>
          <p:cNvPr id="42" name="Text 40"/>
          <p:cNvSpPr/>
          <p:nvPr/>
        </p:nvSpPr>
        <p:spPr>
          <a:xfrm>
            <a:off x="6647688" y="4123944"/>
            <a:ext cx="4937760" cy="457200"/>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Section planes have no solid caps on the cut</a:t>
            </a:r>
            <a:endParaRPr lang="en-US" sz="970" dirty="0"/>
          </a:p>
        </p:txBody>
      </p:sp>
      <p:sp>
        <p:nvSpPr>
          <p:cNvPr id="43" name="Shape 41"/>
          <p:cNvSpPr/>
          <p:nvPr/>
        </p:nvSpPr>
        <p:spPr>
          <a:xfrm>
            <a:off x="6464808" y="4663440"/>
            <a:ext cx="82296" cy="82296"/>
          </a:xfrm>
          <a:prstGeom prst="ellipse">
            <a:avLst/>
          </a:prstGeom>
          <a:solidFill>
            <a:srgbClr val="2DD4BF"/>
          </a:solidFill>
          <a:ln/>
        </p:spPr>
      </p:sp>
      <p:sp>
        <p:nvSpPr>
          <p:cNvPr id="44" name="Text 42"/>
          <p:cNvSpPr/>
          <p:nvPr/>
        </p:nvSpPr>
        <p:spPr>
          <a:xfrm>
            <a:off x="6647688" y="4581144"/>
            <a:ext cx="4937760" cy="457200"/>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Extrusion has no CAD rules yet (its form still costs it)</a:t>
            </a:r>
            <a:endParaRPr lang="en-US" sz="970" dirty="0"/>
          </a:p>
        </p:txBody>
      </p:sp>
      <p:sp>
        <p:nvSpPr>
          <p:cNvPr id="45" name="Shape 43"/>
          <p:cNvSpPr/>
          <p:nvPr/>
        </p:nvSpPr>
        <p:spPr>
          <a:xfrm>
            <a:off x="6464808" y="5120640"/>
            <a:ext cx="82296" cy="82296"/>
          </a:xfrm>
          <a:prstGeom prst="ellipse">
            <a:avLst/>
          </a:prstGeom>
          <a:solidFill>
            <a:srgbClr val="2DD4BF"/>
          </a:solidFill>
          <a:ln/>
        </p:spPr>
      </p:sp>
      <p:sp>
        <p:nvSpPr>
          <p:cNvPr id="46" name="Text 44"/>
          <p:cNvSpPr/>
          <p:nvPr/>
        </p:nvSpPr>
        <p:spPr>
          <a:xfrm>
            <a:off x="6647688" y="5038344"/>
            <a:ext cx="4937760" cy="457200"/>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Route or material is asked, not guessed, when geometry cannot decide: by design, but it is typing</a:t>
            </a:r>
            <a:endParaRPr lang="en-US" sz="970" dirty="0"/>
          </a:p>
        </p:txBody>
      </p:sp>
      <p:sp>
        <p:nvSpPr>
          <p:cNvPr id="47" name="Shape 45"/>
          <p:cNvSpPr/>
          <p:nvPr/>
        </p:nvSpPr>
        <p:spPr>
          <a:xfrm>
            <a:off x="6464808" y="5577840"/>
            <a:ext cx="82296" cy="82296"/>
          </a:xfrm>
          <a:prstGeom prst="ellipse">
            <a:avLst/>
          </a:prstGeom>
          <a:solidFill>
            <a:srgbClr val="2DD4BF"/>
          </a:solidFill>
          <a:ln/>
        </p:spPr>
      </p:sp>
      <p:sp>
        <p:nvSpPr>
          <p:cNvPr id="48" name="Text 46"/>
          <p:cNvSpPr/>
          <p:nvPr/>
        </p:nvSpPr>
        <p:spPr>
          <a:xfrm>
            <a:off x="6647688" y="5495544"/>
            <a:ext cx="4937760" cy="457200"/>
          </a:xfrm>
          <a:prstGeom prst="rect">
            <a:avLst/>
          </a:prstGeom>
          <a:noFill/>
          <a:ln/>
        </p:spPr>
        <p:txBody>
          <a:bodyPr wrap="square" lIns="0" tIns="0" rIns="0" bIns="0" rtlCol="0" anchor="t"/>
          <a:lstStyle/>
          <a:p>
            <a:pPr indent="0" marL="0">
              <a:lnSpc>
                <a:spcPct val="102000"/>
              </a:lnSpc>
              <a:buNone/>
            </a:pPr>
            <a:r>
              <a:rPr lang="en-US" sz="970" dirty="0">
                <a:solidFill>
                  <a:srgbClr val="9AA7BD"/>
                </a:solidFill>
                <a:latin typeface="Calibri" pitchFamily="34" charset="0"/>
                <a:ea typeface="Calibri" pitchFamily="34" charset="-122"/>
                <a:cs typeface="Calibri" pitchFamily="34" charset="-120"/>
              </a:rPr>
              <a:t>No estimate has yet been compared with a price JLR actually paid</a:t>
            </a:r>
            <a:endParaRPr lang="en-US" sz="9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WHERE THE LEVERAGE IS</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The two ideas behind the plan</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57200" y="1874520"/>
            <a:ext cx="5532120" cy="3200400"/>
          </a:xfrm>
          <a:prstGeom prst="roundRect">
            <a:avLst>
              <a:gd name="adj" fmla="val 2000"/>
            </a:avLst>
          </a:prstGeom>
          <a:solidFill>
            <a:srgbClr val="1C2536"/>
          </a:solidFill>
          <a:ln w="9525">
            <a:solidFill>
              <a:srgbClr val="2B3A52"/>
            </a:solidFill>
            <a:prstDash val="solid"/>
          </a:ln>
        </p:spPr>
      </p:sp>
      <p:sp>
        <p:nvSpPr>
          <p:cNvPr id="12" name="Shape 10"/>
          <p:cNvSpPr/>
          <p:nvPr/>
        </p:nvSpPr>
        <p:spPr>
          <a:xfrm>
            <a:off x="457200" y="1874520"/>
            <a:ext cx="73152" cy="3200400"/>
          </a:xfrm>
          <a:prstGeom prst="rect">
            <a:avLst/>
          </a:prstGeom>
          <a:solidFill>
            <a:srgbClr val="2DD4BF"/>
          </a:solidFill>
          <a:ln/>
        </p:spPr>
      </p:sp>
      <p:sp>
        <p:nvSpPr>
          <p:cNvPr id="13" name="Text 11"/>
          <p:cNvSpPr/>
          <p:nvPr/>
        </p:nvSpPr>
        <p:spPr>
          <a:xfrm>
            <a:off x="731520" y="2148840"/>
            <a:ext cx="5029200" cy="1280160"/>
          </a:xfrm>
          <a:prstGeom prst="rect">
            <a:avLst/>
          </a:prstGeom>
          <a:noFill/>
          <a:ln/>
        </p:spPr>
        <p:txBody>
          <a:bodyPr wrap="square" lIns="0" tIns="0" rIns="0" bIns="0" rtlCol="0" anchor="t"/>
          <a:lstStyle/>
          <a:p>
            <a:pPr indent="0" marL="0">
              <a:lnSpc>
                <a:spcPct val="102000"/>
              </a:lnSpc>
              <a:buNone/>
            </a:pPr>
            <a:r>
              <a:rPr lang="en-US" sz="1900" b="1" dirty="0">
                <a:solidFill>
                  <a:srgbClr val="EAF0F8"/>
                </a:solidFill>
                <a:latin typeface="Calibri" pitchFamily="34" charset="0"/>
                <a:ea typeface="Calibri" pitchFamily="34" charset="-122"/>
                <a:cs typeface="Calibri" pitchFamily="34" charset="-120"/>
              </a:rPr>
              <a:t>“We measured it —</a:t>
            </a:r>
            <a:endParaRPr lang="en-US" sz="1900" dirty="0"/>
          </a:p>
          <a:p>
            <a:pPr indent="0" marL="0">
              <a:lnSpc>
                <a:spcPct val="102000"/>
              </a:lnSpc>
              <a:buNone/>
            </a:pPr>
            <a:r>
              <a:rPr lang="en-US" sz="1900" b="1" dirty="0">
                <a:solidFill>
                  <a:srgbClr val="EAF0F8"/>
                </a:solidFill>
                <a:latin typeface="Calibri" pitchFamily="34" charset="0"/>
                <a:ea typeface="Calibri" pitchFamily="34" charset="-122"/>
                <a:cs typeface="Calibri" pitchFamily="34" charset="-120"/>
              </a:rPr>
              <a:t>now we show it.”</a:t>
            </a:r>
            <a:endParaRPr lang="en-US" sz="1900" dirty="0"/>
          </a:p>
        </p:txBody>
      </p:sp>
      <p:sp>
        <p:nvSpPr>
          <p:cNvPr id="14" name="Text 12"/>
          <p:cNvSpPr/>
          <p:nvPr/>
        </p:nvSpPr>
        <p:spPr>
          <a:xfrm>
            <a:off x="731520" y="3429000"/>
            <a:ext cx="5029200" cy="1463040"/>
          </a:xfrm>
          <a:prstGeom prst="rect">
            <a:avLst/>
          </a:prstGeom>
          <a:noFill/>
          <a:ln/>
        </p:spPr>
        <p:txBody>
          <a:bodyPr wrap="square" lIns="0" tIns="0" rIns="0" bIns="0" rtlCol="0" anchor="t"/>
          <a:lstStyle/>
          <a:p>
            <a:pPr indent="0" marL="0">
              <a:lnSpc>
                <a:spcPct val="112000"/>
              </a:lnSpc>
              <a:buNone/>
            </a:pPr>
            <a:r>
              <a:rPr lang="en-US" sz="1200" dirty="0">
                <a:solidFill>
                  <a:srgbClr val="9AA7BD"/>
                </a:solidFill>
                <a:latin typeface="Calibri" pitchFamily="34" charset="0"/>
                <a:ea typeface="Calibri" pitchFamily="34" charset="-122"/>
                <a:cs typeface="Calibri" pitchFamily="34" charset="-120"/>
              </a:rPr>
              <a:t>In July the engine already worked out wall thickness, draft and undercuts, but the viewer never drew them. Now thickness, draft and £ per face are coloured on the model. The data was there; the viewer just uses it.</a:t>
            </a:r>
            <a:endParaRPr lang="en-US" sz="1200" dirty="0"/>
          </a:p>
        </p:txBody>
      </p:sp>
      <p:sp>
        <p:nvSpPr>
          <p:cNvPr id="15" name="Shape 13"/>
          <p:cNvSpPr/>
          <p:nvPr/>
        </p:nvSpPr>
        <p:spPr>
          <a:xfrm>
            <a:off x="6263640" y="1874520"/>
            <a:ext cx="5532120" cy="3200400"/>
          </a:xfrm>
          <a:prstGeom prst="roundRect">
            <a:avLst>
              <a:gd name="adj" fmla="val 2000"/>
            </a:avLst>
          </a:prstGeom>
          <a:solidFill>
            <a:srgbClr val="1C2536"/>
          </a:solidFill>
          <a:ln w="9525">
            <a:solidFill>
              <a:srgbClr val="2B3A52"/>
            </a:solidFill>
            <a:prstDash val="solid"/>
          </a:ln>
        </p:spPr>
      </p:sp>
      <p:sp>
        <p:nvSpPr>
          <p:cNvPr id="16" name="Shape 14"/>
          <p:cNvSpPr/>
          <p:nvPr/>
        </p:nvSpPr>
        <p:spPr>
          <a:xfrm>
            <a:off x="6263640" y="1874520"/>
            <a:ext cx="73152" cy="3200400"/>
          </a:xfrm>
          <a:prstGeom prst="rect">
            <a:avLst/>
          </a:prstGeom>
          <a:solidFill>
            <a:srgbClr val="A78BFA"/>
          </a:solidFill>
          <a:ln/>
        </p:spPr>
      </p:sp>
      <p:sp>
        <p:nvSpPr>
          <p:cNvPr id="17" name="Text 15"/>
          <p:cNvSpPr/>
          <p:nvPr/>
        </p:nvSpPr>
        <p:spPr>
          <a:xfrm>
            <a:off x="6537960" y="2148840"/>
            <a:ext cx="5029200" cy="1280160"/>
          </a:xfrm>
          <a:prstGeom prst="rect">
            <a:avLst/>
          </a:prstGeom>
          <a:noFill/>
          <a:ln/>
        </p:spPr>
        <p:txBody>
          <a:bodyPr wrap="square" lIns="0" tIns="0" rIns="0" bIns="0" rtlCol="0" anchor="t"/>
          <a:lstStyle/>
          <a:p>
            <a:pPr indent="0" marL="0">
              <a:lnSpc>
                <a:spcPct val="102000"/>
              </a:lnSpc>
              <a:buNone/>
            </a:pPr>
            <a:r>
              <a:rPr lang="en-US" sz="1900" b="1" dirty="0">
                <a:solidFill>
                  <a:srgbClr val="EAF0F8"/>
                </a:solidFill>
                <a:latin typeface="Calibri" pitchFamily="34" charset="0"/>
                <a:ea typeface="Calibri" pitchFamily="34" charset="-122"/>
                <a:cs typeface="Calibri" pitchFamily="34" charset="-120"/>
              </a:rPr>
              <a:t>“Capture more —</a:t>
            </a:r>
            <a:endParaRPr lang="en-US" sz="1900" dirty="0"/>
          </a:p>
          <a:p>
            <a:pPr indent="0" marL="0">
              <a:lnSpc>
                <a:spcPct val="102000"/>
              </a:lnSpc>
              <a:buNone/>
            </a:pPr>
            <a:r>
              <a:rPr lang="en-US" sz="1900" b="1" dirty="0">
                <a:solidFill>
                  <a:srgbClr val="EAF0F8"/>
                </a:solidFill>
                <a:latin typeface="Calibri" pitchFamily="34" charset="0"/>
                <a:ea typeface="Calibri" pitchFamily="34" charset="-122"/>
                <a:cs typeface="Calibri" pitchFamily="34" charset="-120"/>
              </a:rPr>
              <a:t>so people type less.”</a:t>
            </a:r>
            <a:endParaRPr lang="en-US" sz="1900" dirty="0"/>
          </a:p>
        </p:txBody>
      </p:sp>
      <p:sp>
        <p:nvSpPr>
          <p:cNvPr id="18" name="Text 16"/>
          <p:cNvSpPr/>
          <p:nvPr/>
        </p:nvSpPr>
        <p:spPr>
          <a:xfrm>
            <a:off x="6537960" y="3429000"/>
            <a:ext cx="5029200" cy="1463040"/>
          </a:xfrm>
          <a:prstGeom prst="rect">
            <a:avLst/>
          </a:prstGeom>
          <a:noFill/>
          <a:ln/>
        </p:spPr>
        <p:txBody>
          <a:bodyPr wrap="square" lIns="0" tIns="0" rIns="0" bIns="0" rtlCol="0" anchor="t"/>
          <a:lstStyle/>
          <a:p>
            <a:pPr indent="0" marL="0">
              <a:lnSpc>
                <a:spcPct val="112000"/>
              </a:lnSpc>
              <a:buNone/>
            </a:pPr>
            <a:r>
              <a:rPr lang="en-US" sz="1200" dirty="0">
                <a:solidFill>
                  <a:srgbClr val="9AA7BD"/>
                </a:solidFill>
                <a:latin typeface="Calibri" pitchFamily="34" charset="0"/>
                <a:ea typeface="Calibri" pitchFamily="34" charset="-122"/>
                <a:cs typeface="Calibri" pitchFamily="34" charset="-120"/>
              </a:rPr>
              <a:t>Every feature read from the CAD is one less field someone fills in, and one less place for a typing slip. Tolerances, chamfers, slots and threads are next. Until then, the tool asks the engineer.</a:t>
            </a:r>
            <a:endParaRPr lang="en-US" sz="1200" dirty="0"/>
          </a:p>
        </p:txBody>
      </p:sp>
      <p:sp>
        <p:nvSpPr>
          <p:cNvPr id="19" name="Shape 17"/>
          <p:cNvSpPr/>
          <p:nvPr/>
        </p:nvSpPr>
        <p:spPr>
          <a:xfrm>
            <a:off x="457200" y="5257800"/>
            <a:ext cx="11292840" cy="868680"/>
          </a:xfrm>
          <a:prstGeom prst="roundRect">
            <a:avLst>
              <a:gd name="adj" fmla="val 7368"/>
            </a:avLst>
          </a:prstGeom>
          <a:solidFill>
            <a:srgbClr val="10202E"/>
          </a:solidFill>
          <a:ln w="12700">
            <a:solidFill>
              <a:srgbClr val="2DD4BF"/>
            </a:solidFill>
            <a:prstDash val="solid"/>
          </a:ln>
        </p:spPr>
      </p:sp>
      <p:sp>
        <p:nvSpPr>
          <p:cNvPr id="20" name="Text 18"/>
          <p:cNvSpPr/>
          <p:nvPr/>
        </p:nvSpPr>
        <p:spPr>
          <a:xfrm>
            <a:off x="731520" y="5257800"/>
            <a:ext cx="10698480" cy="868680"/>
          </a:xfrm>
          <a:prstGeom prst="rect">
            <a:avLst/>
          </a:prstGeom>
          <a:noFill/>
          <a:ln/>
        </p:spPr>
        <p:txBody>
          <a:bodyPr wrap="square" lIns="0" tIns="0" rIns="0" bIns="0" rtlCol="0" anchor="ctr"/>
          <a:lstStyle/>
          <a:p>
            <a:pPr indent="0" marL="0">
              <a:lnSpc>
                <a:spcPct val="108000"/>
              </a:lnSpc>
              <a:buNone/>
            </a:pPr>
            <a:r>
              <a:rPr lang="en-US" sz="1150" b="1" dirty="0">
                <a:solidFill>
                  <a:srgbClr val="2DD4BF"/>
                </a:solidFill>
                <a:latin typeface="Calibri" pitchFamily="34" charset="0"/>
                <a:ea typeface="Calibri" pitchFamily="34" charset="-122"/>
                <a:cs typeface="Calibri" pitchFamily="34" charset="-120"/>
              </a:rPr>
              <a:t>The rule we keep:  </a:t>
            </a:r>
            <a:pPr indent="0" marL="0">
              <a:lnSpc>
                <a:spcPct val="108000"/>
              </a:lnSpc>
              <a:buNone/>
            </a:pPr>
            <a:r>
              <a:rPr lang="en-US" sz="1150" dirty="0">
                <a:solidFill>
                  <a:srgbClr val="9AA7BD"/>
                </a:solidFill>
                <a:latin typeface="Calibri" pitchFamily="34" charset="0"/>
                <a:ea typeface="Calibri" pitchFamily="34" charset="-122"/>
                <a:cs typeface="Calibri" pitchFamily="34" charset="-120"/>
              </a:rPr>
              <a:t>the viewer is a place to capture and check cost inputs, not decoration. The tool measures and calculates; every £ traces to a rate. AI never sets a price, and at JLR it is switched off.</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FUTURE OPTIONS · PUBLISHED AND OPEN SOURCE</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The technology we could build on</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57200" y="1828800"/>
            <a:ext cx="5532120" cy="1828800"/>
          </a:xfrm>
          <a:prstGeom prst="roundRect">
            <a:avLst>
              <a:gd name="adj" fmla="val 3500"/>
            </a:avLst>
          </a:prstGeom>
          <a:solidFill>
            <a:srgbClr val="1C2536"/>
          </a:solidFill>
          <a:ln w="9525">
            <a:solidFill>
              <a:srgbClr val="2B3A52"/>
            </a:solidFill>
            <a:prstDash val="solid"/>
          </a:ln>
        </p:spPr>
      </p:sp>
      <p:sp>
        <p:nvSpPr>
          <p:cNvPr id="12" name="Shape 10"/>
          <p:cNvSpPr/>
          <p:nvPr/>
        </p:nvSpPr>
        <p:spPr>
          <a:xfrm>
            <a:off x="457200" y="1828800"/>
            <a:ext cx="64008" cy="1828800"/>
          </a:xfrm>
          <a:prstGeom prst="rect">
            <a:avLst/>
          </a:prstGeom>
          <a:solidFill>
            <a:srgbClr val="2DD4BF"/>
          </a:solidFill>
          <a:ln/>
        </p:spPr>
      </p:sp>
      <p:sp>
        <p:nvSpPr>
          <p:cNvPr id="13" name="Text 11"/>
          <p:cNvSpPr/>
          <p:nvPr/>
        </p:nvSpPr>
        <p:spPr>
          <a:xfrm>
            <a:off x="640080" y="1938528"/>
            <a:ext cx="5221224" cy="365760"/>
          </a:xfrm>
          <a:prstGeom prst="rect">
            <a:avLst/>
          </a:prstGeom>
          <a:noFill/>
          <a:ln/>
        </p:spPr>
        <p:txBody>
          <a:bodyPr wrap="square" lIns="0" tIns="0" rIns="0" bIns="0" rtlCol="0" anchor="t"/>
          <a:lstStyle/>
          <a:p>
            <a:pPr indent="0" marL="0">
              <a:buNone/>
            </a:pPr>
            <a:r>
              <a:rPr lang="en-US" sz="1200" b="1" dirty="0">
                <a:solidFill>
                  <a:srgbClr val="EAF0F8"/>
                </a:solidFill>
                <a:latin typeface="Calibri" pitchFamily="34" charset="0"/>
                <a:ea typeface="Calibri" pitchFamily="34" charset="-122"/>
                <a:cs typeface="Calibri" pitchFamily="34" charset="-120"/>
              </a:rPr>
              <a:t>occt-import-js (OpenCASCADE in the browser)</a:t>
            </a:r>
            <a:endParaRPr lang="en-US" sz="1200" dirty="0"/>
          </a:p>
        </p:txBody>
      </p:sp>
      <p:sp>
        <p:nvSpPr>
          <p:cNvPr id="14" name="Text 12"/>
          <p:cNvSpPr/>
          <p:nvPr/>
        </p:nvSpPr>
        <p:spPr>
          <a:xfrm>
            <a:off x="640080" y="2249424"/>
            <a:ext cx="5221224" cy="1371600"/>
          </a:xfrm>
          <a:prstGeom prst="rect">
            <a:avLst/>
          </a:prstGeom>
          <a:noFill/>
          <a:ln/>
        </p:spPr>
        <p:txBody>
          <a:bodyPr wrap="square" lIns="0" tIns="0" rIns="0" bIns="0" rtlCol="0" anchor="t"/>
          <a:lstStyle/>
          <a:p>
            <a:pPr indent="0" marL="0">
              <a:lnSpc>
                <a:spcPct val="106000"/>
              </a:lnSpc>
              <a:buNone/>
            </a:pPr>
            <a:r>
              <a:rPr lang="en-US" sz="1100" dirty="0">
                <a:solidFill>
                  <a:srgbClr val="9AA7BD"/>
                </a:solidFill>
                <a:latin typeface="Calibri" pitchFamily="34" charset="0"/>
                <a:ea typeface="Calibri" pitchFamily="34" charset="-122"/>
                <a:cs typeface="Calibri" pitchFamily="34" charset="-120"/>
              </a:rPr>
              <a:t>An open-source build of our CAD kernel that runs in a web page (WebAssembly). It opens STEP and IGES directly and links each triangle back to its original face, so a click could select an exact face with no server call.</a:t>
            </a:r>
            <a:endParaRPr lang="en-US" sz="1100" dirty="0"/>
          </a:p>
        </p:txBody>
      </p:sp>
      <p:sp>
        <p:nvSpPr>
          <p:cNvPr id="15" name="Shape 13"/>
          <p:cNvSpPr/>
          <p:nvPr/>
        </p:nvSpPr>
        <p:spPr>
          <a:xfrm>
            <a:off x="6172200" y="1828800"/>
            <a:ext cx="5532120" cy="1828800"/>
          </a:xfrm>
          <a:prstGeom prst="roundRect">
            <a:avLst>
              <a:gd name="adj" fmla="val 3500"/>
            </a:avLst>
          </a:prstGeom>
          <a:solidFill>
            <a:srgbClr val="1C2536"/>
          </a:solidFill>
          <a:ln w="9525">
            <a:solidFill>
              <a:srgbClr val="2B3A52"/>
            </a:solidFill>
            <a:prstDash val="solid"/>
          </a:ln>
        </p:spPr>
      </p:sp>
      <p:sp>
        <p:nvSpPr>
          <p:cNvPr id="16" name="Shape 14"/>
          <p:cNvSpPr/>
          <p:nvPr/>
        </p:nvSpPr>
        <p:spPr>
          <a:xfrm>
            <a:off x="6172200" y="1828800"/>
            <a:ext cx="64008" cy="1828800"/>
          </a:xfrm>
          <a:prstGeom prst="rect">
            <a:avLst/>
          </a:prstGeom>
          <a:solidFill>
            <a:srgbClr val="38BDF8"/>
          </a:solidFill>
          <a:ln/>
        </p:spPr>
      </p:sp>
      <p:sp>
        <p:nvSpPr>
          <p:cNvPr id="17" name="Text 15"/>
          <p:cNvSpPr/>
          <p:nvPr/>
        </p:nvSpPr>
        <p:spPr>
          <a:xfrm>
            <a:off x="6355080" y="1938528"/>
            <a:ext cx="5221224" cy="365760"/>
          </a:xfrm>
          <a:prstGeom prst="rect">
            <a:avLst/>
          </a:prstGeom>
          <a:noFill/>
          <a:ln/>
        </p:spPr>
        <p:txBody>
          <a:bodyPr wrap="square" lIns="0" tIns="0" rIns="0" bIns="0" rtlCol="0" anchor="t"/>
          <a:lstStyle/>
          <a:p>
            <a:pPr indent="0" marL="0">
              <a:buNone/>
            </a:pPr>
            <a:r>
              <a:rPr lang="en-US" sz="1200" b="1" dirty="0">
                <a:solidFill>
                  <a:srgbClr val="EAF0F8"/>
                </a:solidFill>
                <a:latin typeface="Calibri" pitchFamily="34" charset="0"/>
                <a:ea typeface="Calibri" pitchFamily="34" charset="-122"/>
                <a:cs typeface="Calibri" pitchFamily="34" charset="-120"/>
              </a:rPr>
              <a:t>OpenCASCADE XDE — STEP AP242 PMI</a:t>
            </a:r>
            <a:endParaRPr lang="en-US" sz="1200" dirty="0"/>
          </a:p>
        </p:txBody>
      </p:sp>
      <p:sp>
        <p:nvSpPr>
          <p:cNvPr id="18" name="Text 16"/>
          <p:cNvSpPr/>
          <p:nvPr/>
        </p:nvSpPr>
        <p:spPr>
          <a:xfrm>
            <a:off x="6355080" y="2249424"/>
            <a:ext cx="5221224" cy="1371600"/>
          </a:xfrm>
          <a:prstGeom prst="rect">
            <a:avLst/>
          </a:prstGeom>
          <a:noFill/>
          <a:ln/>
        </p:spPr>
        <p:txBody>
          <a:bodyPr wrap="square" lIns="0" tIns="0" rIns="0" bIns="0" rtlCol="0" anchor="t"/>
          <a:lstStyle/>
          <a:p>
            <a:pPr indent="0" marL="0">
              <a:lnSpc>
                <a:spcPct val="106000"/>
              </a:lnSpc>
              <a:buNone/>
            </a:pPr>
            <a:r>
              <a:rPr lang="en-US" sz="1100" dirty="0">
                <a:solidFill>
                  <a:srgbClr val="9AA7BD"/>
                </a:solidFill>
                <a:latin typeface="Calibri" pitchFamily="34" charset="0"/>
                <a:ea typeface="Calibri" pitchFamily="34" charset="-122"/>
                <a:cs typeface="Calibri" pitchFamily="34" charset="-120"/>
              </a:rPr>
              <a:t>The same kernel has a module that reads tolerances, dimensions and datums stored in STEP AP242 files. That is the route to reading tolerances from the 3D file, not a separate drawing.</a:t>
            </a:r>
            <a:endParaRPr lang="en-US" sz="1100" dirty="0"/>
          </a:p>
        </p:txBody>
      </p:sp>
      <p:sp>
        <p:nvSpPr>
          <p:cNvPr id="19" name="Shape 17"/>
          <p:cNvSpPr/>
          <p:nvPr/>
        </p:nvSpPr>
        <p:spPr>
          <a:xfrm>
            <a:off x="457200" y="3840480"/>
            <a:ext cx="5532120" cy="1828800"/>
          </a:xfrm>
          <a:prstGeom prst="roundRect">
            <a:avLst>
              <a:gd name="adj" fmla="val 3500"/>
            </a:avLst>
          </a:prstGeom>
          <a:solidFill>
            <a:srgbClr val="1C2536"/>
          </a:solidFill>
          <a:ln w="9525">
            <a:solidFill>
              <a:srgbClr val="2B3A52"/>
            </a:solidFill>
            <a:prstDash val="solid"/>
          </a:ln>
        </p:spPr>
      </p:sp>
      <p:sp>
        <p:nvSpPr>
          <p:cNvPr id="20" name="Shape 18"/>
          <p:cNvSpPr/>
          <p:nvPr/>
        </p:nvSpPr>
        <p:spPr>
          <a:xfrm>
            <a:off x="457200" y="3840480"/>
            <a:ext cx="64008" cy="1828800"/>
          </a:xfrm>
          <a:prstGeom prst="rect">
            <a:avLst/>
          </a:prstGeom>
          <a:solidFill>
            <a:srgbClr val="A78BFA"/>
          </a:solidFill>
          <a:ln/>
        </p:spPr>
      </p:sp>
      <p:sp>
        <p:nvSpPr>
          <p:cNvPr id="21" name="Text 19"/>
          <p:cNvSpPr/>
          <p:nvPr/>
        </p:nvSpPr>
        <p:spPr>
          <a:xfrm>
            <a:off x="640080" y="3950208"/>
            <a:ext cx="5221224" cy="365760"/>
          </a:xfrm>
          <a:prstGeom prst="rect">
            <a:avLst/>
          </a:prstGeom>
          <a:noFill/>
          <a:ln/>
        </p:spPr>
        <p:txBody>
          <a:bodyPr wrap="square" lIns="0" tIns="0" rIns="0" bIns="0" rtlCol="0" anchor="t"/>
          <a:lstStyle/>
          <a:p>
            <a:pPr indent="0" marL="0">
              <a:buNone/>
            </a:pPr>
            <a:r>
              <a:rPr lang="en-US" sz="1200" b="1" dirty="0">
                <a:solidFill>
                  <a:srgbClr val="EAF0F8"/>
                </a:solidFill>
                <a:latin typeface="Calibri" pitchFamily="34" charset="0"/>
                <a:ea typeface="Calibri" pitchFamily="34" charset="-122"/>
                <a:cs typeface="Calibri" pitchFamily="34" charset="-120"/>
              </a:rPr>
              <a:t>Learned feature recognition (research)</a:t>
            </a:r>
            <a:endParaRPr lang="en-US" sz="1200" dirty="0"/>
          </a:p>
        </p:txBody>
      </p:sp>
      <p:sp>
        <p:nvSpPr>
          <p:cNvPr id="22" name="Text 20"/>
          <p:cNvSpPr/>
          <p:nvPr/>
        </p:nvSpPr>
        <p:spPr>
          <a:xfrm>
            <a:off x="640080" y="4261104"/>
            <a:ext cx="5221224" cy="1371600"/>
          </a:xfrm>
          <a:prstGeom prst="rect">
            <a:avLst/>
          </a:prstGeom>
          <a:noFill/>
          <a:ln/>
        </p:spPr>
        <p:txBody>
          <a:bodyPr wrap="square" lIns="0" tIns="0" rIns="0" bIns="0" rtlCol="0" anchor="t"/>
          <a:lstStyle/>
          <a:p>
            <a:pPr indent="0" marL="0">
              <a:lnSpc>
                <a:spcPct val="106000"/>
              </a:lnSpc>
              <a:buNone/>
            </a:pPr>
            <a:r>
              <a:rPr lang="en-US" sz="1100" dirty="0">
                <a:solidFill>
                  <a:srgbClr val="9AA7BD"/>
                </a:solidFill>
                <a:latin typeface="Calibri" pitchFamily="34" charset="0"/>
                <a:ea typeface="Calibri" pitchFamily="34" charset="-122"/>
                <a:cs typeface="Calibri" pitchFamily="34" charset="-120"/>
              </a:rPr>
              <a:t>Published research models (UV-Net, BRepGAT, BrepMFR, AAGNet) treat the B-rep as a graph of faces and label machining features face by face. Papers report 98–99% on public benchmarks.</a:t>
            </a:r>
            <a:endParaRPr lang="en-US" sz="1100" dirty="0"/>
          </a:p>
        </p:txBody>
      </p:sp>
      <p:sp>
        <p:nvSpPr>
          <p:cNvPr id="23" name="Shape 21"/>
          <p:cNvSpPr/>
          <p:nvPr/>
        </p:nvSpPr>
        <p:spPr>
          <a:xfrm>
            <a:off x="6172200" y="3840480"/>
            <a:ext cx="5532120" cy="1828800"/>
          </a:xfrm>
          <a:prstGeom prst="roundRect">
            <a:avLst>
              <a:gd name="adj" fmla="val 3500"/>
            </a:avLst>
          </a:prstGeom>
          <a:solidFill>
            <a:srgbClr val="1C2536"/>
          </a:solidFill>
          <a:ln w="9525">
            <a:solidFill>
              <a:srgbClr val="2B3A52"/>
            </a:solidFill>
            <a:prstDash val="solid"/>
          </a:ln>
        </p:spPr>
      </p:sp>
      <p:sp>
        <p:nvSpPr>
          <p:cNvPr id="24" name="Shape 22"/>
          <p:cNvSpPr/>
          <p:nvPr/>
        </p:nvSpPr>
        <p:spPr>
          <a:xfrm>
            <a:off x="6172200" y="3840480"/>
            <a:ext cx="64008" cy="1828800"/>
          </a:xfrm>
          <a:prstGeom prst="rect">
            <a:avLst/>
          </a:prstGeom>
          <a:solidFill>
            <a:srgbClr val="34D399"/>
          </a:solidFill>
          <a:ln/>
        </p:spPr>
      </p:sp>
      <p:sp>
        <p:nvSpPr>
          <p:cNvPr id="25" name="Text 23"/>
          <p:cNvSpPr/>
          <p:nvPr/>
        </p:nvSpPr>
        <p:spPr>
          <a:xfrm>
            <a:off x="6355080" y="3950208"/>
            <a:ext cx="5221224" cy="365760"/>
          </a:xfrm>
          <a:prstGeom prst="rect">
            <a:avLst/>
          </a:prstGeom>
          <a:noFill/>
          <a:ln/>
        </p:spPr>
        <p:txBody>
          <a:bodyPr wrap="square" lIns="0" tIns="0" rIns="0" bIns="0" rtlCol="0" anchor="t"/>
          <a:lstStyle/>
          <a:p>
            <a:pPr indent="0" marL="0">
              <a:buNone/>
            </a:pPr>
            <a:r>
              <a:rPr lang="en-US" sz="1200" b="1" dirty="0">
                <a:solidFill>
                  <a:srgbClr val="EAF0F8"/>
                </a:solidFill>
                <a:latin typeface="Calibri" pitchFamily="34" charset="0"/>
                <a:ea typeface="Calibri" pitchFamily="34" charset="-122"/>
                <a:cs typeface="Calibri" pitchFamily="34" charset="-120"/>
              </a:rPr>
              <a:t>Heatmap methods (textbook)</a:t>
            </a:r>
            <a:endParaRPr lang="en-US" sz="1200" dirty="0"/>
          </a:p>
        </p:txBody>
      </p:sp>
      <p:sp>
        <p:nvSpPr>
          <p:cNvPr id="26" name="Text 24"/>
          <p:cNvSpPr/>
          <p:nvPr/>
        </p:nvSpPr>
        <p:spPr>
          <a:xfrm>
            <a:off x="6355080" y="4261104"/>
            <a:ext cx="5221224" cy="1371600"/>
          </a:xfrm>
          <a:prstGeom prst="rect">
            <a:avLst/>
          </a:prstGeom>
          <a:noFill/>
          <a:ln/>
        </p:spPr>
        <p:txBody>
          <a:bodyPr wrap="square" lIns="0" tIns="0" rIns="0" bIns="0" rtlCol="0" anchor="t"/>
          <a:lstStyle/>
          <a:p>
            <a:pPr indent="0" marL="0">
              <a:lnSpc>
                <a:spcPct val="106000"/>
              </a:lnSpc>
              <a:buNone/>
            </a:pPr>
            <a:r>
              <a:rPr lang="en-US" sz="1100" dirty="0">
                <a:solidFill>
                  <a:srgbClr val="9AA7BD"/>
                </a:solidFill>
                <a:latin typeface="Calibri" pitchFamily="34" charset="0"/>
                <a:ea typeface="Calibri" pitchFamily="34" charset="-122"/>
                <a:cs typeface="Calibri" pitchFamily="34" charset="-120"/>
              </a:rPr>
              <a:t>Wall thickness: cast a ray inward from each face. Draft: angle between the face normal and the pull direction. We already use both, in the engine and on the model.</a:t>
            </a:r>
            <a:endParaRPr lang="en-US" sz="1100" dirty="0"/>
          </a:p>
        </p:txBody>
      </p:sp>
      <p:sp>
        <p:nvSpPr>
          <p:cNvPr id="27" name="Shape 25"/>
          <p:cNvSpPr/>
          <p:nvPr/>
        </p:nvSpPr>
        <p:spPr>
          <a:xfrm>
            <a:off x="457200" y="5833872"/>
            <a:ext cx="11292840" cy="566928"/>
          </a:xfrm>
          <a:prstGeom prst="roundRect">
            <a:avLst>
              <a:gd name="adj" fmla="val 11290"/>
            </a:avLst>
          </a:prstGeom>
          <a:solidFill>
            <a:srgbClr val="141B28"/>
          </a:solidFill>
          <a:ln w="9525">
            <a:solidFill>
              <a:srgbClr val="FBBF24"/>
            </a:solidFill>
            <a:prstDash val="solid"/>
          </a:ln>
        </p:spPr>
      </p:sp>
      <p:sp>
        <p:nvSpPr>
          <p:cNvPr id="28" name="Text 26"/>
          <p:cNvSpPr/>
          <p:nvPr/>
        </p:nvSpPr>
        <p:spPr>
          <a:xfrm>
            <a:off x="685800" y="5833872"/>
            <a:ext cx="10881360" cy="566928"/>
          </a:xfrm>
          <a:prstGeom prst="rect">
            <a:avLst/>
          </a:prstGeom>
          <a:noFill/>
          <a:ln/>
        </p:spPr>
        <p:txBody>
          <a:bodyPr wrap="square" lIns="0" tIns="0" rIns="0" bIns="0" rtlCol="0" anchor="ctr"/>
          <a:lstStyle/>
          <a:p>
            <a:pPr indent="0" marL="0">
              <a:buNone/>
            </a:pPr>
            <a:r>
              <a:rPr lang="en-US" sz="1000" b="1" dirty="0">
                <a:solidFill>
                  <a:srgbClr val="FBBF24"/>
                </a:solidFill>
                <a:latin typeface="Calibri" pitchFamily="34" charset="0"/>
                <a:ea typeface="Calibri" pitchFamily="34" charset="-122"/>
                <a:cs typeface="Calibri" pitchFamily="34" charset="-120"/>
              </a:rPr>
              <a:t>Honest caveat:  </a:t>
            </a:r>
            <a:pPr indent="0" marL="0">
              <a:buNone/>
            </a:pPr>
            <a:r>
              <a:rPr lang="en-US" sz="1000" dirty="0">
                <a:solidFill>
                  <a:srgbClr val="9AA7BD"/>
                </a:solidFill>
                <a:latin typeface="Calibri" pitchFamily="34" charset="0"/>
                <a:ea typeface="Calibri" pitchFamily="34" charset="-122"/>
                <a:cs typeface="Calibri" pitchFamily="34" charset="-120"/>
              </a:rPr>
              <a:t>the 98–99% figures are research results on clean, synthetic datasets, not our results. Real STEP files are messier, so a person would always check what the model finds.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ROADMAP · STATUS SEPTEMBER 2026</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The build plan — four phases, and where each stands</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57200" y="1965960"/>
            <a:ext cx="2724912" cy="3566160"/>
          </a:xfrm>
          <a:prstGeom prst="roundRect">
            <a:avLst>
              <a:gd name="adj" fmla="val 2349"/>
            </a:avLst>
          </a:prstGeom>
          <a:solidFill>
            <a:srgbClr val="1C2536"/>
          </a:solidFill>
          <a:ln w="9525">
            <a:solidFill>
              <a:srgbClr val="2B3A52"/>
            </a:solidFill>
            <a:prstDash val="solid"/>
          </a:ln>
        </p:spPr>
      </p:sp>
      <p:sp>
        <p:nvSpPr>
          <p:cNvPr id="12" name="Shape 10"/>
          <p:cNvSpPr/>
          <p:nvPr/>
        </p:nvSpPr>
        <p:spPr>
          <a:xfrm>
            <a:off x="457200" y="1965960"/>
            <a:ext cx="2724912" cy="502920"/>
          </a:xfrm>
          <a:prstGeom prst="rect">
            <a:avLst/>
          </a:prstGeom>
          <a:solidFill>
            <a:srgbClr val="2DD4BF"/>
          </a:solidFill>
          <a:ln/>
        </p:spPr>
      </p:sp>
      <p:sp>
        <p:nvSpPr>
          <p:cNvPr id="13" name="Text 11"/>
          <p:cNvSpPr/>
          <p:nvPr/>
        </p:nvSpPr>
        <p:spPr>
          <a:xfrm>
            <a:off x="640080" y="2048256"/>
            <a:ext cx="2359152" cy="365760"/>
          </a:xfrm>
          <a:prstGeom prst="rect">
            <a:avLst/>
          </a:prstGeom>
          <a:noFill/>
          <a:ln/>
        </p:spPr>
        <p:txBody>
          <a:bodyPr wrap="square" lIns="0" tIns="0" rIns="0" bIns="0" rtlCol="0" anchor="t"/>
          <a:lstStyle/>
          <a:p>
            <a:pPr indent="0" marL="0">
              <a:buNone/>
            </a:pPr>
            <a:r>
              <a:rPr lang="en-US" sz="1400" b="1" dirty="0">
                <a:solidFill>
                  <a:srgbClr val="0B0F17"/>
                </a:solidFill>
                <a:latin typeface="Calibri" pitchFamily="34" charset="0"/>
                <a:ea typeface="Calibri" pitchFamily="34" charset="-122"/>
                <a:cs typeface="Calibri" pitchFamily="34" charset="-120"/>
              </a:rPr>
              <a:t>Phase 0</a:t>
            </a:r>
            <a:endParaRPr lang="en-US" sz="1400" dirty="0"/>
          </a:p>
        </p:txBody>
      </p:sp>
      <p:sp>
        <p:nvSpPr>
          <p:cNvPr id="14" name="Text 12"/>
          <p:cNvSpPr/>
          <p:nvPr/>
        </p:nvSpPr>
        <p:spPr>
          <a:xfrm>
            <a:off x="640080" y="2624328"/>
            <a:ext cx="2359152" cy="457200"/>
          </a:xfrm>
          <a:prstGeom prst="rect">
            <a:avLst/>
          </a:prstGeom>
          <a:noFill/>
          <a:ln/>
        </p:spPr>
        <p:txBody>
          <a:bodyPr wrap="square" lIns="0" tIns="0" rIns="0" bIns="0" rtlCol="0" anchor="t"/>
          <a:lstStyle/>
          <a:p>
            <a:pPr indent="0" marL="0">
              <a:buNone/>
            </a:pPr>
            <a:r>
              <a:rPr lang="en-US" sz="1400" b="1" dirty="0">
                <a:solidFill>
                  <a:srgbClr val="EAF0F8"/>
                </a:solidFill>
                <a:latin typeface="Calibri" pitchFamily="34" charset="0"/>
                <a:ea typeface="Calibri" pitchFamily="34" charset="-122"/>
                <a:cs typeface="Calibri" pitchFamily="34" charset="-120"/>
              </a:rPr>
              <a:t>Quick wins</a:t>
            </a:r>
            <a:endParaRPr lang="en-US" sz="1400" dirty="0"/>
          </a:p>
        </p:txBody>
      </p:sp>
      <p:sp>
        <p:nvSpPr>
          <p:cNvPr id="15" name="Text 13"/>
          <p:cNvSpPr/>
          <p:nvPr/>
        </p:nvSpPr>
        <p:spPr>
          <a:xfrm>
            <a:off x="640080" y="3200400"/>
            <a:ext cx="2359152" cy="1828800"/>
          </a:xfrm>
          <a:prstGeom prst="rect">
            <a:avLst/>
          </a:prstGeom>
          <a:noFill/>
          <a:ln/>
        </p:spPr>
        <p:txBody>
          <a:bodyPr wrap="square" lIns="0" tIns="0" rIns="0" bIns="0" rtlCol="0" anchor="t"/>
          <a:lstStyle/>
          <a:p>
            <a:pPr indent="0" marL="0">
              <a:lnSpc>
                <a:spcPct val="112000"/>
              </a:lnSpc>
              <a:buNone/>
            </a:pPr>
            <a:r>
              <a:rPr lang="en-US" sz="1050" dirty="0">
                <a:solidFill>
                  <a:srgbClr val="9AA7BD"/>
                </a:solidFill>
                <a:latin typeface="Calibri" pitchFamily="34" charset="0"/>
                <a:ea typeface="Calibri" pitchFamily="34" charset="-122"/>
                <a:cs typeface="Calibri" pitchFamily="34" charset="-120"/>
              </a:rPr>
              <a:t>Bigger viewer, and draw the data we already measured: thickness, draft, model tree, result-to-model links.</a:t>
            </a:r>
            <a:endParaRPr lang="en-US" sz="1050" dirty="0"/>
          </a:p>
        </p:txBody>
      </p:sp>
      <p:sp>
        <p:nvSpPr>
          <p:cNvPr id="16" name="Shape 14"/>
          <p:cNvSpPr/>
          <p:nvPr/>
        </p:nvSpPr>
        <p:spPr>
          <a:xfrm>
            <a:off x="640080" y="4965192"/>
            <a:ext cx="2359152" cy="384048"/>
          </a:xfrm>
          <a:prstGeom prst="roundRect">
            <a:avLst>
              <a:gd name="adj" fmla="val 16667"/>
            </a:avLst>
          </a:prstGeom>
          <a:solidFill>
            <a:srgbClr val="0B0F17"/>
          </a:solidFill>
          <a:ln w="9525">
            <a:solidFill>
              <a:srgbClr val="2DD4BF"/>
            </a:solidFill>
            <a:prstDash val="solid"/>
          </a:ln>
        </p:spPr>
      </p:sp>
      <p:sp>
        <p:nvSpPr>
          <p:cNvPr id="17" name="Text 15"/>
          <p:cNvSpPr/>
          <p:nvPr/>
        </p:nvSpPr>
        <p:spPr>
          <a:xfrm>
            <a:off x="640080" y="4965192"/>
            <a:ext cx="2359152" cy="384048"/>
          </a:xfrm>
          <a:prstGeom prst="rect">
            <a:avLst/>
          </a:prstGeom>
          <a:noFill/>
          <a:ln/>
        </p:spPr>
        <p:txBody>
          <a:bodyPr wrap="square" lIns="0" tIns="0" rIns="0" bIns="0" rtlCol="0" anchor="ctr"/>
          <a:lstStyle/>
          <a:p>
            <a:pPr algn="ctr" indent="0" marL="0">
              <a:buNone/>
            </a:pPr>
            <a:r>
              <a:rPr lang="en-US" sz="1000" b="1" dirty="0">
                <a:solidFill>
                  <a:srgbClr val="2DD4BF"/>
                </a:solidFill>
                <a:latin typeface="Calibri" pitchFamily="34" charset="0"/>
                <a:ea typeface="Calibri" pitchFamily="34" charset="-122"/>
                <a:cs typeface="Calibri" pitchFamily="34" charset="-120"/>
              </a:rPr>
              <a:t>Built</a:t>
            </a:r>
            <a:endParaRPr lang="en-US" sz="1000" dirty="0"/>
          </a:p>
        </p:txBody>
      </p:sp>
      <p:sp>
        <p:nvSpPr>
          <p:cNvPr id="18" name="Text 16"/>
          <p:cNvSpPr/>
          <p:nvPr/>
        </p:nvSpPr>
        <p:spPr>
          <a:xfrm>
            <a:off x="3154680" y="3429000"/>
            <a:ext cx="228600" cy="457200"/>
          </a:xfrm>
          <a:prstGeom prst="rect">
            <a:avLst/>
          </a:prstGeom>
          <a:noFill/>
          <a:ln/>
        </p:spPr>
        <p:txBody>
          <a:bodyPr wrap="square" lIns="0" tIns="0" rIns="0" bIns="0" rtlCol="0" anchor="t"/>
          <a:lstStyle/>
          <a:p>
            <a:pPr algn="ctr" indent="0" marL="0">
              <a:buNone/>
            </a:pPr>
            <a:r>
              <a:rPr lang="en-US" sz="1500" b="1" dirty="0">
                <a:solidFill>
                  <a:srgbClr val="5C6B85"/>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3300984" y="1965960"/>
            <a:ext cx="2724912" cy="3566160"/>
          </a:xfrm>
          <a:prstGeom prst="roundRect">
            <a:avLst>
              <a:gd name="adj" fmla="val 2349"/>
            </a:avLst>
          </a:prstGeom>
          <a:solidFill>
            <a:srgbClr val="1C2536"/>
          </a:solidFill>
          <a:ln w="9525">
            <a:solidFill>
              <a:srgbClr val="2B3A52"/>
            </a:solidFill>
            <a:prstDash val="solid"/>
          </a:ln>
        </p:spPr>
      </p:sp>
      <p:sp>
        <p:nvSpPr>
          <p:cNvPr id="20" name="Shape 18"/>
          <p:cNvSpPr/>
          <p:nvPr/>
        </p:nvSpPr>
        <p:spPr>
          <a:xfrm>
            <a:off x="3300984" y="1965960"/>
            <a:ext cx="2724912" cy="502920"/>
          </a:xfrm>
          <a:prstGeom prst="rect">
            <a:avLst/>
          </a:prstGeom>
          <a:solidFill>
            <a:srgbClr val="38BDF8"/>
          </a:solidFill>
          <a:ln/>
        </p:spPr>
      </p:sp>
      <p:sp>
        <p:nvSpPr>
          <p:cNvPr id="21" name="Text 19"/>
          <p:cNvSpPr/>
          <p:nvPr/>
        </p:nvSpPr>
        <p:spPr>
          <a:xfrm>
            <a:off x="3483864" y="2048256"/>
            <a:ext cx="2359152" cy="365760"/>
          </a:xfrm>
          <a:prstGeom prst="rect">
            <a:avLst/>
          </a:prstGeom>
          <a:noFill/>
          <a:ln/>
        </p:spPr>
        <p:txBody>
          <a:bodyPr wrap="square" lIns="0" tIns="0" rIns="0" bIns="0" rtlCol="0" anchor="t"/>
          <a:lstStyle/>
          <a:p>
            <a:pPr indent="0" marL="0">
              <a:buNone/>
            </a:pPr>
            <a:r>
              <a:rPr lang="en-US" sz="1400" b="1" dirty="0">
                <a:solidFill>
                  <a:srgbClr val="0B0F17"/>
                </a:solidFill>
                <a:latin typeface="Calibri" pitchFamily="34" charset="0"/>
                <a:ea typeface="Calibri" pitchFamily="34" charset="-122"/>
                <a:cs typeface="Calibri" pitchFamily="34" charset="-120"/>
              </a:rPr>
              <a:t>Phase 1</a:t>
            </a:r>
            <a:endParaRPr lang="en-US" sz="1400" dirty="0"/>
          </a:p>
        </p:txBody>
      </p:sp>
      <p:sp>
        <p:nvSpPr>
          <p:cNvPr id="22" name="Text 20"/>
          <p:cNvSpPr/>
          <p:nvPr/>
        </p:nvSpPr>
        <p:spPr>
          <a:xfrm>
            <a:off x="3483864" y="2624328"/>
            <a:ext cx="2359152" cy="457200"/>
          </a:xfrm>
          <a:prstGeom prst="rect">
            <a:avLst/>
          </a:prstGeom>
          <a:noFill/>
          <a:ln/>
        </p:spPr>
        <p:txBody>
          <a:bodyPr wrap="square" lIns="0" tIns="0" rIns="0" bIns="0" rtlCol="0" anchor="t"/>
          <a:lstStyle/>
          <a:p>
            <a:pPr indent="0" marL="0">
              <a:buNone/>
            </a:pPr>
            <a:r>
              <a:rPr lang="en-US" sz="1400" b="1" dirty="0">
                <a:solidFill>
                  <a:srgbClr val="EAF0F8"/>
                </a:solidFill>
                <a:latin typeface="Calibri" pitchFamily="34" charset="0"/>
                <a:ea typeface="Calibri" pitchFamily="34" charset="-122"/>
                <a:cs typeface="Calibri" pitchFamily="34" charset="-120"/>
              </a:rPr>
              <a:t>CAD-software feel</a:t>
            </a:r>
            <a:endParaRPr lang="en-US" sz="1400" dirty="0"/>
          </a:p>
        </p:txBody>
      </p:sp>
      <p:sp>
        <p:nvSpPr>
          <p:cNvPr id="23" name="Text 21"/>
          <p:cNvSpPr/>
          <p:nvPr/>
        </p:nvSpPr>
        <p:spPr>
          <a:xfrm>
            <a:off x="3483864" y="3200400"/>
            <a:ext cx="2359152" cy="1828800"/>
          </a:xfrm>
          <a:prstGeom prst="rect">
            <a:avLst/>
          </a:prstGeom>
          <a:noFill/>
          <a:ln/>
        </p:spPr>
        <p:txBody>
          <a:bodyPr wrap="square" lIns="0" tIns="0" rIns="0" bIns="0" rtlCol="0" anchor="t"/>
          <a:lstStyle/>
          <a:p>
            <a:pPr indent="0" marL="0">
              <a:lnSpc>
                <a:spcPct val="112000"/>
              </a:lnSpc>
              <a:buNone/>
            </a:pPr>
            <a:r>
              <a:rPr lang="en-US" sz="1050" dirty="0">
                <a:solidFill>
                  <a:srgbClr val="9AA7BD"/>
                </a:solidFill>
                <a:latin typeface="Calibri" pitchFamily="34" charset="0"/>
                <a:ea typeface="Calibri" pitchFamily="34" charset="-122"/>
                <a:cs typeface="Calibri" pitchFamily="34" charset="-120"/>
              </a:rPr>
              <a:t>Orientation cube, exploded view, X/Y/Z sections, richer measuring, £ per face. Solid section caps still to do.</a:t>
            </a:r>
            <a:endParaRPr lang="en-US" sz="1050" dirty="0"/>
          </a:p>
        </p:txBody>
      </p:sp>
      <p:sp>
        <p:nvSpPr>
          <p:cNvPr id="24" name="Shape 22"/>
          <p:cNvSpPr/>
          <p:nvPr/>
        </p:nvSpPr>
        <p:spPr>
          <a:xfrm>
            <a:off x="3483864" y="4965192"/>
            <a:ext cx="2359152" cy="384048"/>
          </a:xfrm>
          <a:prstGeom prst="roundRect">
            <a:avLst>
              <a:gd name="adj" fmla="val 16667"/>
            </a:avLst>
          </a:prstGeom>
          <a:solidFill>
            <a:srgbClr val="0B0F17"/>
          </a:solidFill>
          <a:ln w="9525">
            <a:solidFill>
              <a:srgbClr val="38BDF8"/>
            </a:solidFill>
            <a:prstDash val="solid"/>
          </a:ln>
        </p:spPr>
      </p:sp>
      <p:sp>
        <p:nvSpPr>
          <p:cNvPr id="25" name="Text 23"/>
          <p:cNvSpPr/>
          <p:nvPr/>
        </p:nvSpPr>
        <p:spPr>
          <a:xfrm>
            <a:off x="3483864" y="4965192"/>
            <a:ext cx="2359152" cy="384048"/>
          </a:xfrm>
          <a:prstGeom prst="rect">
            <a:avLst/>
          </a:prstGeom>
          <a:noFill/>
          <a:ln/>
        </p:spPr>
        <p:txBody>
          <a:bodyPr wrap="square" lIns="0" tIns="0" rIns="0" bIns="0"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Mostly built</a:t>
            </a:r>
            <a:endParaRPr lang="en-US" sz="1000" dirty="0"/>
          </a:p>
        </p:txBody>
      </p:sp>
      <p:sp>
        <p:nvSpPr>
          <p:cNvPr id="26" name="Text 24"/>
          <p:cNvSpPr/>
          <p:nvPr/>
        </p:nvSpPr>
        <p:spPr>
          <a:xfrm>
            <a:off x="5998464" y="3429000"/>
            <a:ext cx="228600" cy="457200"/>
          </a:xfrm>
          <a:prstGeom prst="rect">
            <a:avLst/>
          </a:prstGeom>
          <a:noFill/>
          <a:ln/>
        </p:spPr>
        <p:txBody>
          <a:bodyPr wrap="square" lIns="0" tIns="0" rIns="0" bIns="0" rtlCol="0" anchor="t"/>
          <a:lstStyle/>
          <a:p>
            <a:pPr algn="ctr" indent="0" marL="0">
              <a:buNone/>
            </a:pPr>
            <a:r>
              <a:rPr lang="en-US" sz="1500" b="1" dirty="0">
                <a:solidFill>
                  <a:srgbClr val="5C6B85"/>
                </a:solidFill>
                <a:latin typeface="Calibri" pitchFamily="34" charset="0"/>
                <a:ea typeface="Calibri" pitchFamily="34" charset="-122"/>
                <a:cs typeface="Calibri" pitchFamily="34" charset="-120"/>
              </a:rPr>
              <a:t>→</a:t>
            </a:r>
            <a:endParaRPr lang="en-US" sz="1500" dirty="0"/>
          </a:p>
        </p:txBody>
      </p:sp>
      <p:sp>
        <p:nvSpPr>
          <p:cNvPr id="27" name="Shape 25"/>
          <p:cNvSpPr/>
          <p:nvPr/>
        </p:nvSpPr>
        <p:spPr>
          <a:xfrm>
            <a:off x="6144768" y="1965960"/>
            <a:ext cx="2724912" cy="3566160"/>
          </a:xfrm>
          <a:prstGeom prst="roundRect">
            <a:avLst>
              <a:gd name="adj" fmla="val 2349"/>
            </a:avLst>
          </a:prstGeom>
          <a:solidFill>
            <a:srgbClr val="1C2536"/>
          </a:solidFill>
          <a:ln w="9525">
            <a:solidFill>
              <a:srgbClr val="2B3A52"/>
            </a:solidFill>
            <a:prstDash val="solid"/>
          </a:ln>
        </p:spPr>
      </p:sp>
      <p:sp>
        <p:nvSpPr>
          <p:cNvPr id="28" name="Shape 26"/>
          <p:cNvSpPr/>
          <p:nvPr/>
        </p:nvSpPr>
        <p:spPr>
          <a:xfrm>
            <a:off x="6144768" y="1965960"/>
            <a:ext cx="2724912" cy="502920"/>
          </a:xfrm>
          <a:prstGeom prst="rect">
            <a:avLst/>
          </a:prstGeom>
          <a:solidFill>
            <a:srgbClr val="A78BFA"/>
          </a:solidFill>
          <a:ln/>
        </p:spPr>
      </p:sp>
      <p:sp>
        <p:nvSpPr>
          <p:cNvPr id="29" name="Text 27"/>
          <p:cNvSpPr/>
          <p:nvPr/>
        </p:nvSpPr>
        <p:spPr>
          <a:xfrm>
            <a:off x="6327648" y="2048256"/>
            <a:ext cx="2359152" cy="365760"/>
          </a:xfrm>
          <a:prstGeom prst="rect">
            <a:avLst/>
          </a:prstGeom>
          <a:noFill/>
          <a:ln/>
        </p:spPr>
        <p:txBody>
          <a:bodyPr wrap="square" lIns="0" tIns="0" rIns="0" bIns="0" rtlCol="0" anchor="t"/>
          <a:lstStyle/>
          <a:p>
            <a:pPr indent="0" marL="0">
              <a:buNone/>
            </a:pPr>
            <a:r>
              <a:rPr lang="en-US" sz="1400" b="1" dirty="0">
                <a:solidFill>
                  <a:srgbClr val="0B0F17"/>
                </a:solidFill>
                <a:latin typeface="Calibri" pitchFamily="34" charset="0"/>
                <a:ea typeface="Calibri" pitchFamily="34" charset="-122"/>
                <a:cs typeface="Calibri" pitchFamily="34" charset="-120"/>
              </a:rPr>
              <a:t>Phase 2</a:t>
            </a:r>
            <a:endParaRPr lang="en-US" sz="1400" dirty="0"/>
          </a:p>
        </p:txBody>
      </p:sp>
      <p:sp>
        <p:nvSpPr>
          <p:cNvPr id="30" name="Text 28"/>
          <p:cNvSpPr/>
          <p:nvPr/>
        </p:nvSpPr>
        <p:spPr>
          <a:xfrm>
            <a:off x="6327648" y="2624328"/>
            <a:ext cx="2359152" cy="457200"/>
          </a:xfrm>
          <a:prstGeom prst="rect">
            <a:avLst/>
          </a:prstGeom>
          <a:noFill/>
          <a:ln/>
        </p:spPr>
        <p:txBody>
          <a:bodyPr wrap="square" lIns="0" tIns="0" rIns="0" bIns="0" rtlCol="0" anchor="t"/>
          <a:lstStyle/>
          <a:p>
            <a:pPr indent="0" marL="0">
              <a:buNone/>
            </a:pPr>
            <a:r>
              <a:rPr lang="en-US" sz="1400" b="1" dirty="0">
                <a:solidFill>
                  <a:srgbClr val="EAF0F8"/>
                </a:solidFill>
                <a:latin typeface="Calibri" pitchFamily="34" charset="0"/>
                <a:ea typeface="Calibri" pitchFamily="34" charset="-122"/>
                <a:cs typeface="Calibri" pitchFamily="34" charset="-120"/>
              </a:rPr>
              <a:t>Deeper capture</a:t>
            </a:r>
            <a:endParaRPr lang="en-US" sz="1400" dirty="0"/>
          </a:p>
        </p:txBody>
      </p:sp>
      <p:sp>
        <p:nvSpPr>
          <p:cNvPr id="31" name="Text 29"/>
          <p:cNvSpPr/>
          <p:nvPr/>
        </p:nvSpPr>
        <p:spPr>
          <a:xfrm>
            <a:off x="6327648" y="3200400"/>
            <a:ext cx="2359152" cy="1828800"/>
          </a:xfrm>
          <a:prstGeom prst="rect">
            <a:avLst/>
          </a:prstGeom>
          <a:noFill/>
          <a:ln/>
        </p:spPr>
        <p:txBody>
          <a:bodyPr wrap="square" lIns="0" tIns="0" rIns="0" bIns="0" rtlCol="0" anchor="t"/>
          <a:lstStyle/>
          <a:p>
            <a:pPr indent="0" marL="0">
              <a:lnSpc>
                <a:spcPct val="112000"/>
              </a:lnSpc>
              <a:buNone/>
            </a:pPr>
            <a:r>
              <a:rPr lang="en-US" sz="1050" dirty="0">
                <a:solidFill>
                  <a:srgbClr val="9AA7BD"/>
                </a:solidFill>
                <a:latin typeface="Calibri" pitchFamily="34" charset="0"/>
                <a:ea typeface="Calibri" pitchFamily="34" charset="-122"/>
                <a:cs typeface="Calibri" pitchFamily="34" charset="-120"/>
              </a:rPr>
              <a:t>Fillets and cautious pockets found today. Chamfers, slots, threads, STL features and tolerances from STEP AP242 still to do.</a:t>
            </a:r>
            <a:endParaRPr lang="en-US" sz="1050" dirty="0"/>
          </a:p>
        </p:txBody>
      </p:sp>
      <p:sp>
        <p:nvSpPr>
          <p:cNvPr id="32" name="Shape 30"/>
          <p:cNvSpPr/>
          <p:nvPr/>
        </p:nvSpPr>
        <p:spPr>
          <a:xfrm>
            <a:off x="6327648" y="4965192"/>
            <a:ext cx="2359152" cy="384048"/>
          </a:xfrm>
          <a:prstGeom prst="roundRect">
            <a:avLst>
              <a:gd name="adj" fmla="val 16667"/>
            </a:avLst>
          </a:prstGeom>
          <a:solidFill>
            <a:srgbClr val="0B0F17"/>
          </a:solidFill>
          <a:ln w="9525">
            <a:solidFill>
              <a:srgbClr val="A78BFA"/>
            </a:solidFill>
            <a:prstDash val="solid"/>
          </a:ln>
        </p:spPr>
      </p:sp>
      <p:sp>
        <p:nvSpPr>
          <p:cNvPr id="33" name="Text 31"/>
          <p:cNvSpPr/>
          <p:nvPr/>
        </p:nvSpPr>
        <p:spPr>
          <a:xfrm>
            <a:off x="6327648" y="4965192"/>
            <a:ext cx="2359152" cy="384048"/>
          </a:xfrm>
          <a:prstGeom prst="rect">
            <a:avLst/>
          </a:prstGeom>
          <a:noFill/>
          <a:ln/>
        </p:spPr>
        <p:txBody>
          <a:bodyPr wrap="square" lIns="0" tIns="0" rIns="0" bIns="0" rtlCol="0" anchor="ctr"/>
          <a:lstStyle/>
          <a:p>
            <a:pPr algn="ctr" indent="0" marL="0">
              <a:buNone/>
            </a:pPr>
            <a:r>
              <a:rPr lang="en-US" sz="1000" b="1" dirty="0">
                <a:solidFill>
                  <a:srgbClr val="A78BFA"/>
                </a:solidFill>
                <a:latin typeface="Calibri" pitchFamily="34" charset="0"/>
                <a:ea typeface="Calibri" pitchFamily="34" charset="-122"/>
                <a:cs typeface="Calibri" pitchFamily="34" charset="-120"/>
              </a:rPr>
              <a:t>Partly started</a:t>
            </a:r>
            <a:endParaRPr lang="en-US" sz="1000" dirty="0"/>
          </a:p>
        </p:txBody>
      </p:sp>
      <p:sp>
        <p:nvSpPr>
          <p:cNvPr id="34" name="Text 32"/>
          <p:cNvSpPr/>
          <p:nvPr/>
        </p:nvSpPr>
        <p:spPr>
          <a:xfrm>
            <a:off x="8842248" y="3429000"/>
            <a:ext cx="228600" cy="457200"/>
          </a:xfrm>
          <a:prstGeom prst="rect">
            <a:avLst/>
          </a:prstGeom>
          <a:noFill/>
          <a:ln/>
        </p:spPr>
        <p:txBody>
          <a:bodyPr wrap="square" lIns="0" tIns="0" rIns="0" bIns="0" rtlCol="0" anchor="t"/>
          <a:lstStyle/>
          <a:p>
            <a:pPr algn="ctr" indent="0" marL="0">
              <a:buNone/>
            </a:pPr>
            <a:r>
              <a:rPr lang="en-US" sz="1500" b="1" dirty="0">
                <a:solidFill>
                  <a:srgbClr val="5C6B85"/>
                </a:solidFill>
                <a:latin typeface="Calibri" pitchFamily="34" charset="0"/>
                <a:ea typeface="Calibri" pitchFamily="34" charset="-122"/>
                <a:cs typeface="Calibri" pitchFamily="34" charset="-120"/>
              </a:rPr>
              <a:t>→</a:t>
            </a:r>
            <a:endParaRPr lang="en-US" sz="1500" dirty="0"/>
          </a:p>
        </p:txBody>
      </p:sp>
      <p:sp>
        <p:nvSpPr>
          <p:cNvPr id="35" name="Shape 33"/>
          <p:cNvSpPr/>
          <p:nvPr/>
        </p:nvSpPr>
        <p:spPr>
          <a:xfrm>
            <a:off x="8988552" y="1965960"/>
            <a:ext cx="2724912" cy="3566160"/>
          </a:xfrm>
          <a:prstGeom prst="roundRect">
            <a:avLst>
              <a:gd name="adj" fmla="val 2349"/>
            </a:avLst>
          </a:prstGeom>
          <a:solidFill>
            <a:srgbClr val="1C2536"/>
          </a:solidFill>
          <a:ln w="9525">
            <a:solidFill>
              <a:srgbClr val="2B3A52"/>
            </a:solidFill>
            <a:prstDash val="solid"/>
          </a:ln>
        </p:spPr>
      </p:sp>
      <p:sp>
        <p:nvSpPr>
          <p:cNvPr id="36" name="Shape 34"/>
          <p:cNvSpPr/>
          <p:nvPr/>
        </p:nvSpPr>
        <p:spPr>
          <a:xfrm>
            <a:off x="8988552" y="1965960"/>
            <a:ext cx="2724912" cy="502920"/>
          </a:xfrm>
          <a:prstGeom prst="rect">
            <a:avLst/>
          </a:prstGeom>
          <a:solidFill>
            <a:srgbClr val="34D399"/>
          </a:solidFill>
          <a:ln/>
        </p:spPr>
      </p:sp>
      <p:sp>
        <p:nvSpPr>
          <p:cNvPr id="37" name="Text 35"/>
          <p:cNvSpPr/>
          <p:nvPr/>
        </p:nvSpPr>
        <p:spPr>
          <a:xfrm>
            <a:off x="9171432" y="2048256"/>
            <a:ext cx="2359152" cy="365760"/>
          </a:xfrm>
          <a:prstGeom prst="rect">
            <a:avLst/>
          </a:prstGeom>
          <a:noFill/>
          <a:ln/>
        </p:spPr>
        <p:txBody>
          <a:bodyPr wrap="square" lIns="0" tIns="0" rIns="0" bIns="0" rtlCol="0" anchor="t"/>
          <a:lstStyle/>
          <a:p>
            <a:pPr indent="0" marL="0">
              <a:buNone/>
            </a:pPr>
            <a:r>
              <a:rPr lang="en-US" sz="1400" b="1" dirty="0">
                <a:solidFill>
                  <a:srgbClr val="0B0F17"/>
                </a:solidFill>
                <a:latin typeface="Calibri" pitchFamily="34" charset="0"/>
                <a:ea typeface="Calibri" pitchFamily="34" charset="-122"/>
                <a:cs typeface="Calibri" pitchFamily="34" charset="-120"/>
              </a:rPr>
              <a:t>Phase 3</a:t>
            </a:r>
            <a:endParaRPr lang="en-US" sz="1400" dirty="0"/>
          </a:p>
        </p:txBody>
      </p:sp>
      <p:sp>
        <p:nvSpPr>
          <p:cNvPr id="38" name="Text 36"/>
          <p:cNvSpPr/>
          <p:nvPr/>
        </p:nvSpPr>
        <p:spPr>
          <a:xfrm>
            <a:off x="9171432" y="2624328"/>
            <a:ext cx="2359152" cy="457200"/>
          </a:xfrm>
          <a:prstGeom prst="rect">
            <a:avLst/>
          </a:prstGeom>
          <a:noFill/>
          <a:ln/>
        </p:spPr>
        <p:txBody>
          <a:bodyPr wrap="square" lIns="0" tIns="0" rIns="0" bIns="0" rtlCol="0" anchor="t"/>
          <a:lstStyle/>
          <a:p>
            <a:pPr indent="0" marL="0">
              <a:buNone/>
            </a:pPr>
            <a:r>
              <a:rPr lang="en-US" sz="1400" b="1" dirty="0">
                <a:solidFill>
                  <a:srgbClr val="EAF0F8"/>
                </a:solidFill>
                <a:latin typeface="Calibri" pitchFamily="34" charset="0"/>
                <a:ea typeface="Calibri" pitchFamily="34" charset="-122"/>
                <a:cs typeface="Calibri" pitchFamily="34" charset="-120"/>
              </a:rPr>
              <a:t>Research track</a:t>
            </a:r>
            <a:endParaRPr lang="en-US" sz="1400" dirty="0"/>
          </a:p>
        </p:txBody>
      </p:sp>
      <p:sp>
        <p:nvSpPr>
          <p:cNvPr id="39" name="Text 37"/>
          <p:cNvSpPr/>
          <p:nvPr/>
        </p:nvSpPr>
        <p:spPr>
          <a:xfrm>
            <a:off x="9171432" y="3200400"/>
            <a:ext cx="2359152" cy="1828800"/>
          </a:xfrm>
          <a:prstGeom prst="rect">
            <a:avLst/>
          </a:prstGeom>
          <a:noFill/>
          <a:ln/>
        </p:spPr>
        <p:txBody>
          <a:bodyPr wrap="square" lIns="0" tIns="0" rIns="0" bIns="0" rtlCol="0" anchor="t"/>
          <a:lstStyle/>
          <a:p>
            <a:pPr indent="0" marL="0">
              <a:lnSpc>
                <a:spcPct val="112000"/>
              </a:lnSpc>
              <a:buNone/>
            </a:pPr>
            <a:r>
              <a:rPr lang="en-US" sz="1050" dirty="0">
                <a:solidFill>
                  <a:srgbClr val="9AA7BD"/>
                </a:solidFill>
                <a:latin typeface="Calibri" pitchFamily="34" charset="0"/>
                <a:ea typeface="Calibri" pitchFamily="34" charset="-122"/>
                <a:cs typeface="Calibri" pitchFamily="34" charset="-120"/>
              </a:rPr>
              <a:t>Browser-side B-rep kernel and learned feature recognition. Not started and not committed.</a:t>
            </a:r>
            <a:endParaRPr lang="en-US" sz="1050" dirty="0"/>
          </a:p>
        </p:txBody>
      </p:sp>
      <p:sp>
        <p:nvSpPr>
          <p:cNvPr id="40" name="Shape 38"/>
          <p:cNvSpPr/>
          <p:nvPr/>
        </p:nvSpPr>
        <p:spPr>
          <a:xfrm>
            <a:off x="9171432" y="4965192"/>
            <a:ext cx="2359152" cy="384048"/>
          </a:xfrm>
          <a:prstGeom prst="roundRect">
            <a:avLst>
              <a:gd name="adj" fmla="val 16667"/>
            </a:avLst>
          </a:prstGeom>
          <a:solidFill>
            <a:srgbClr val="0B0F17"/>
          </a:solidFill>
          <a:ln w="9525">
            <a:solidFill>
              <a:srgbClr val="34D399"/>
            </a:solidFill>
            <a:prstDash val="solid"/>
          </a:ln>
        </p:spPr>
      </p:sp>
      <p:sp>
        <p:nvSpPr>
          <p:cNvPr id="41" name="Text 39"/>
          <p:cNvSpPr/>
          <p:nvPr/>
        </p:nvSpPr>
        <p:spPr>
          <a:xfrm>
            <a:off x="9171432" y="4965192"/>
            <a:ext cx="2359152" cy="384048"/>
          </a:xfrm>
          <a:prstGeom prst="rect">
            <a:avLst/>
          </a:prstGeom>
          <a:noFill/>
          <a:ln/>
        </p:spPr>
        <p:txBody>
          <a:bodyPr wrap="square" lIns="0" tIns="0" rIns="0" bIns="0" rtlCol="0" anchor="ctr"/>
          <a:lstStyle/>
          <a:p>
            <a:pPr algn="ctr" indent="0" marL="0">
              <a:buNone/>
            </a:pPr>
            <a:r>
              <a:rPr lang="en-US" sz="1000" b="1" dirty="0">
                <a:solidFill>
                  <a:srgbClr val="34D399"/>
                </a:solidFill>
                <a:latin typeface="Calibri" pitchFamily="34" charset="0"/>
                <a:ea typeface="Calibri" pitchFamily="34" charset="-122"/>
                <a:cs typeface="Calibri" pitchFamily="34" charset="-120"/>
              </a:rPr>
              <a:t>Future</a:t>
            </a:r>
            <a:endParaRPr lang="en-US" sz="1000" dirty="0"/>
          </a:p>
        </p:txBody>
      </p:sp>
      <p:sp>
        <p:nvSpPr>
          <p:cNvPr id="42" name="Text 40"/>
          <p:cNvSpPr/>
          <p:nvPr/>
        </p:nvSpPr>
        <p:spPr>
          <a:xfrm>
            <a:off x="457200" y="5806440"/>
            <a:ext cx="11338560" cy="457200"/>
          </a:xfrm>
          <a:prstGeom prst="rect">
            <a:avLst/>
          </a:prstGeom>
          <a:noFill/>
          <a:ln/>
        </p:spPr>
        <p:txBody>
          <a:bodyPr wrap="square" lIns="0" tIns="0" rIns="0" bIns="0" rtlCol="0" anchor="t"/>
          <a:lstStyle/>
          <a:p>
            <a:pPr algn="ctr" indent="0" marL="0">
              <a:buNone/>
            </a:pPr>
            <a:r>
              <a:rPr lang="en-US" sz="1100" i="1" dirty="0">
                <a:solidFill>
                  <a:srgbClr val="9AA7BD"/>
                </a:solidFill>
                <a:latin typeface="Calibri" pitchFamily="34" charset="0"/>
                <a:ea typeface="Calibri" pitchFamily="34" charset="-122"/>
                <a:cs typeface="Calibri" pitchFamily="34" charset="-120"/>
              </a:rPr>
              <a:t>Each phase ships on its own. The two things you asked for — a bigger viewer and a CAD-software feel — were Phases 0 and 1, and both are now in the tool.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ROADMAP · BUILT</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Phase 0 — Quick wins</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Text 9"/>
          <p:cNvSpPr/>
          <p:nvPr/>
        </p:nvSpPr>
        <p:spPr>
          <a:xfrm>
            <a:off x="411480" y="1737360"/>
            <a:ext cx="11338560" cy="365760"/>
          </a:xfrm>
          <a:prstGeom prst="rect">
            <a:avLst/>
          </a:prstGeom>
          <a:noFill/>
          <a:ln/>
        </p:spPr>
        <p:txBody>
          <a:bodyPr wrap="square" lIns="0" tIns="0" rIns="0" bIns="0" rtlCol="0" anchor="t"/>
          <a:lstStyle/>
          <a:p>
            <a:pPr indent="0" marL="0">
              <a:buNone/>
            </a:pPr>
            <a:r>
              <a:rPr lang="en-US" sz="1150" i="1" dirty="0">
                <a:solidFill>
                  <a:srgbClr val="2DD4BF"/>
                </a:solidFill>
                <a:latin typeface="Calibri" pitchFamily="34" charset="0"/>
                <a:ea typeface="Calibri" pitchFamily="34" charset="-122"/>
                <a:cs typeface="Calibri" pitchFamily="34" charset="-120"/>
              </a:rPr>
              <a:t>All five quick wins from the July plan are now in the tool. Three of them only needed us to draw data the engine already measured.</a:t>
            </a:r>
            <a:endParaRPr lang="en-US" sz="1150" dirty="0"/>
          </a:p>
        </p:txBody>
      </p:sp>
      <p:sp>
        <p:nvSpPr>
          <p:cNvPr id="12" name="Shape 10"/>
          <p:cNvSpPr/>
          <p:nvPr/>
        </p:nvSpPr>
        <p:spPr>
          <a:xfrm>
            <a:off x="411480" y="2194560"/>
            <a:ext cx="11384280" cy="786384"/>
          </a:xfrm>
          <a:prstGeom prst="roundRect">
            <a:avLst>
              <a:gd name="adj" fmla="val 8140"/>
            </a:avLst>
          </a:prstGeom>
          <a:solidFill>
            <a:srgbClr val="141B28"/>
          </a:solidFill>
          <a:ln w="7620">
            <a:solidFill>
              <a:srgbClr val="2B3A52"/>
            </a:solidFill>
            <a:prstDash val="solid"/>
          </a:ln>
        </p:spPr>
      </p:sp>
      <p:sp>
        <p:nvSpPr>
          <p:cNvPr id="13" name="Shape 11"/>
          <p:cNvSpPr/>
          <p:nvPr/>
        </p:nvSpPr>
        <p:spPr>
          <a:xfrm>
            <a:off x="411480" y="2194560"/>
            <a:ext cx="54864" cy="786384"/>
          </a:xfrm>
          <a:prstGeom prst="rect">
            <a:avLst/>
          </a:prstGeom>
          <a:solidFill>
            <a:srgbClr val="2DD4BF"/>
          </a:solidFill>
          <a:ln/>
        </p:spPr>
      </p:sp>
      <p:sp>
        <p:nvSpPr>
          <p:cNvPr id="14" name="Text 12"/>
          <p:cNvSpPr/>
          <p:nvPr/>
        </p:nvSpPr>
        <p:spPr>
          <a:xfrm>
            <a:off x="603504" y="2286000"/>
            <a:ext cx="2880360" cy="603504"/>
          </a:xfrm>
          <a:prstGeom prst="rect">
            <a:avLst/>
          </a:prstGeom>
          <a:noFill/>
          <a:ln/>
        </p:spPr>
        <p:txBody>
          <a:bodyPr wrap="square" lIns="0" tIns="0" rIns="0" bIns="0" rtlCol="0" anchor="ctr"/>
          <a:lstStyle/>
          <a:p>
            <a:pPr indent="0" marL="0">
              <a:lnSpc>
                <a:spcPct val="98000"/>
              </a:lnSpc>
              <a:buNone/>
            </a:pPr>
            <a:r>
              <a:rPr lang="en-US" sz="1100" b="1" dirty="0">
                <a:solidFill>
                  <a:srgbClr val="EAF0F8"/>
                </a:solidFill>
                <a:latin typeface="Calibri" pitchFamily="34" charset="0"/>
                <a:ea typeface="Calibri" pitchFamily="34" charset="-122"/>
                <a:cs typeface="Calibri" pitchFamily="34" charset="-120"/>
              </a:rPr>
              <a:t>Bigger viewer</a:t>
            </a:r>
            <a:endParaRPr lang="en-US" sz="1100" dirty="0"/>
          </a:p>
        </p:txBody>
      </p:sp>
      <p:sp>
        <p:nvSpPr>
          <p:cNvPr id="15" name="Text 13"/>
          <p:cNvSpPr/>
          <p:nvPr/>
        </p:nvSpPr>
        <p:spPr>
          <a:xfrm>
            <a:off x="3611880" y="2267712"/>
            <a:ext cx="4892040" cy="658368"/>
          </a:xfrm>
          <a:prstGeom prst="rect">
            <a:avLst/>
          </a:prstGeom>
          <a:noFill/>
          <a:ln/>
        </p:spPr>
        <p:txBody>
          <a:bodyPr wrap="square" lIns="0" tIns="0" rIns="0" bIns="0" rtlCol="0" anchor="ctr"/>
          <a:lstStyle/>
          <a:p>
            <a:pPr indent="0" marL="0">
              <a:lnSpc>
                <a:spcPct val="103000"/>
              </a:lnSpc>
              <a:buNone/>
            </a:pPr>
            <a:r>
              <a:rPr lang="en-US" sz="950" dirty="0">
                <a:solidFill>
                  <a:srgbClr val="9AA7BD"/>
                </a:solidFill>
                <a:latin typeface="Calibri" pitchFamily="34" charset="0"/>
                <a:ea typeface="Calibri" pitchFamily="34" charset="-122"/>
                <a:cs typeface="Calibri" pitchFamily="34" charset="-120"/>
              </a:rPr>
              <a:t>An Expand button fills the window with the model. Esc takes you back to the costing layout.</a:t>
            </a:r>
            <a:endParaRPr lang="en-US" sz="950" dirty="0"/>
          </a:p>
        </p:txBody>
      </p:sp>
      <p:sp>
        <p:nvSpPr>
          <p:cNvPr id="16" name="Text 14"/>
          <p:cNvSpPr/>
          <p:nvPr/>
        </p:nvSpPr>
        <p:spPr>
          <a:xfrm>
            <a:off x="8686800" y="2267712"/>
            <a:ext cx="2971800" cy="658368"/>
          </a:xfrm>
          <a:prstGeom prst="rect">
            <a:avLst/>
          </a:prstGeom>
          <a:noFill/>
          <a:ln/>
        </p:spPr>
        <p:txBody>
          <a:bodyPr wrap="square" lIns="0" tIns="0" rIns="0" bIns="0" rtlCol="0" anchor="ctr"/>
          <a:lstStyle/>
          <a:p>
            <a:pPr indent="0" marL="0">
              <a:lnSpc>
                <a:spcPct val="103000"/>
              </a:lnSpc>
              <a:buNone/>
            </a:pPr>
            <a:r>
              <a:rPr lang="en-US" sz="900" i="1" dirty="0">
                <a:solidFill>
                  <a:srgbClr val="34D399"/>
                </a:solidFill>
                <a:latin typeface="Calibri" pitchFamily="34" charset="0"/>
                <a:ea typeface="Calibri" pitchFamily="34" charset="-122"/>
                <a:cs typeface="Calibri" pitchFamily="34" charset="-120"/>
              </a:rPr>
              <a:t>Built. It fills the browser window; it does not use the operating system's full-screen mode.</a:t>
            </a:r>
            <a:endParaRPr lang="en-US" sz="900" dirty="0"/>
          </a:p>
        </p:txBody>
      </p:sp>
      <p:sp>
        <p:nvSpPr>
          <p:cNvPr id="17" name="Shape 15"/>
          <p:cNvSpPr/>
          <p:nvPr/>
        </p:nvSpPr>
        <p:spPr>
          <a:xfrm>
            <a:off x="411480" y="3035808"/>
            <a:ext cx="11384280" cy="786384"/>
          </a:xfrm>
          <a:prstGeom prst="roundRect">
            <a:avLst>
              <a:gd name="adj" fmla="val 8140"/>
            </a:avLst>
          </a:prstGeom>
          <a:solidFill>
            <a:srgbClr val="141B28"/>
          </a:solidFill>
          <a:ln w="7620">
            <a:solidFill>
              <a:srgbClr val="2B3A52"/>
            </a:solidFill>
            <a:prstDash val="solid"/>
          </a:ln>
        </p:spPr>
      </p:sp>
      <p:sp>
        <p:nvSpPr>
          <p:cNvPr id="18" name="Shape 16"/>
          <p:cNvSpPr/>
          <p:nvPr/>
        </p:nvSpPr>
        <p:spPr>
          <a:xfrm>
            <a:off x="411480" y="3035808"/>
            <a:ext cx="54864" cy="786384"/>
          </a:xfrm>
          <a:prstGeom prst="rect">
            <a:avLst/>
          </a:prstGeom>
          <a:solidFill>
            <a:srgbClr val="2DD4BF"/>
          </a:solidFill>
          <a:ln/>
        </p:spPr>
      </p:sp>
      <p:sp>
        <p:nvSpPr>
          <p:cNvPr id="19" name="Text 17"/>
          <p:cNvSpPr/>
          <p:nvPr/>
        </p:nvSpPr>
        <p:spPr>
          <a:xfrm>
            <a:off x="603504" y="3127248"/>
            <a:ext cx="2880360" cy="603504"/>
          </a:xfrm>
          <a:prstGeom prst="rect">
            <a:avLst/>
          </a:prstGeom>
          <a:noFill/>
          <a:ln/>
        </p:spPr>
        <p:txBody>
          <a:bodyPr wrap="square" lIns="0" tIns="0" rIns="0" bIns="0" rtlCol="0" anchor="ctr"/>
          <a:lstStyle/>
          <a:p>
            <a:pPr indent="0" marL="0">
              <a:lnSpc>
                <a:spcPct val="98000"/>
              </a:lnSpc>
              <a:buNone/>
            </a:pPr>
            <a:r>
              <a:rPr lang="en-US" sz="1100" b="1" dirty="0">
                <a:solidFill>
                  <a:srgbClr val="EAF0F8"/>
                </a:solidFill>
                <a:latin typeface="Calibri" pitchFamily="34" charset="0"/>
                <a:ea typeface="Calibri" pitchFamily="34" charset="-122"/>
                <a:cs typeface="Calibri" pitchFamily="34" charset="-120"/>
              </a:rPr>
              <a:t>Wall-thickness heatmap</a:t>
            </a:r>
            <a:endParaRPr lang="en-US" sz="1100" dirty="0"/>
          </a:p>
        </p:txBody>
      </p:sp>
      <p:sp>
        <p:nvSpPr>
          <p:cNvPr id="20" name="Text 18"/>
          <p:cNvSpPr/>
          <p:nvPr/>
        </p:nvSpPr>
        <p:spPr>
          <a:xfrm>
            <a:off x="3611880" y="3108960"/>
            <a:ext cx="4892040" cy="658368"/>
          </a:xfrm>
          <a:prstGeom prst="rect">
            <a:avLst/>
          </a:prstGeom>
          <a:noFill/>
          <a:ln/>
        </p:spPr>
        <p:txBody>
          <a:bodyPr wrap="square" lIns="0" tIns="0" rIns="0" bIns="0" rtlCol="0" anchor="ctr"/>
          <a:lstStyle/>
          <a:p>
            <a:pPr indent="0" marL="0">
              <a:lnSpc>
                <a:spcPct val="103000"/>
              </a:lnSpc>
              <a:buNone/>
            </a:pPr>
            <a:r>
              <a:rPr lang="en-US" sz="950" dirty="0">
                <a:solidFill>
                  <a:srgbClr val="9AA7BD"/>
                </a:solidFill>
                <a:latin typeface="Calibri" pitchFamily="34" charset="0"/>
                <a:ea typeface="Calibri" pitchFamily="34" charset="-122"/>
                <a:cs typeface="Calibri" pitchFamily="34" charset="-120"/>
              </a:rPr>
              <a:t>Per-face thickness from the geometry engine, coloured from thin (red) to thick (blue).</a:t>
            </a:r>
            <a:endParaRPr lang="en-US" sz="950" dirty="0"/>
          </a:p>
        </p:txBody>
      </p:sp>
      <p:sp>
        <p:nvSpPr>
          <p:cNvPr id="21" name="Text 19"/>
          <p:cNvSpPr/>
          <p:nvPr/>
        </p:nvSpPr>
        <p:spPr>
          <a:xfrm>
            <a:off x="8686800" y="3108960"/>
            <a:ext cx="2971800" cy="658368"/>
          </a:xfrm>
          <a:prstGeom prst="rect">
            <a:avLst/>
          </a:prstGeom>
          <a:noFill/>
          <a:ln/>
        </p:spPr>
        <p:txBody>
          <a:bodyPr wrap="square" lIns="0" tIns="0" rIns="0" bIns="0" rtlCol="0" anchor="ctr"/>
          <a:lstStyle/>
          <a:p>
            <a:pPr indent="0" marL="0">
              <a:lnSpc>
                <a:spcPct val="103000"/>
              </a:lnSpc>
              <a:buNone/>
            </a:pPr>
            <a:r>
              <a:rPr lang="en-US" sz="900" i="1" dirty="0">
                <a:solidFill>
                  <a:srgbClr val="34D399"/>
                </a:solidFill>
                <a:latin typeface="Calibri" pitchFamily="34" charset="0"/>
                <a:ea typeface="Calibri" pitchFamily="34" charset="-122"/>
                <a:cs typeface="Calibri" pitchFamily="34" charset="-120"/>
              </a:rPr>
              <a:t>Built. STEP and IGES only; an STL has no per-face data.</a:t>
            </a:r>
            <a:endParaRPr lang="en-US" sz="900" dirty="0"/>
          </a:p>
        </p:txBody>
      </p:sp>
      <p:sp>
        <p:nvSpPr>
          <p:cNvPr id="22" name="Shape 20"/>
          <p:cNvSpPr/>
          <p:nvPr/>
        </p:nvSpPr>
        <p:spPr>
          <a:xfrm>
            <a:off x="411480" y="3877056"/>
            <a:ext cx="11384280" cy="786384"/>
          </a:xfrm>
          <a:prstGeom prst="roundRect">
            <a:avLst>
              <a:gd name="adj" fmla="val 8140"/>
            </a:avLst>
          </a:prstGeom>
          <a:solidFill>
            <a:srgbClr val="141B28"/>
          </a:solidFill>
          <a:ln w="7620">
            <a:solidFill>
              <a:srgbClr val="2B3A52"/>
            </a:solidFill>
            <a:prstDash val="solid"/>
          </a:ln>
        </p:spPr>
      </p:sp>
      <p:sp>
        <p:nvSpPr>
          <p:cNvPr id="23" name="Shape 21"/>
          <p:cNvSpPr/>
          <p:nvPr/>
        </p:nvSpPr>
        <p:spPr>
          <a:xfrm>
            <a:off x="411480" y="3877056"/>
            <a:ext cx="54864" cy="786384"/>
          </a:xfrm>
          <a:prstGeom prst="rect">
            <a:avLst/>
          </a:prstGeom>
          <a:solidFill>
            <a:srgbClr val="2DD4BF"/>
          </a:solidFill>
          <a:ln/>
        </p:spPr>
      </p:sp>
      <p:sp>
        <p:nvSpPr>
          <p:cNvPr id="24" name="Text 22"/>
          <p:cNvSpPr/>
          <p:nvPr/>
        </p:nvSpPr>
        <p:spPr>
          <a:xfrm>
            <a:off x="603504" y="3968496"/>
            <a:ext cx="2880360" cy="603504"/>
          </a:xfrm>
          <a:prstGeom prst="rect">
            <a:avLst/>
          </a:prstGeom>
          <a:noFill/>
          <a:ln/>
        </p:spPr>
        <p:txBody>
          <a:bodyPr wrap="square" lIns="0" tIns="0" rIns="0" bIns="0" rtlCol="0" anchor="ctr"/>
          <a:lstStyle/>
          <a:p>
            <a:pPr indent="0" marL="0">
              <a:lnSpc>
                <a:spcPct val="98000"/>
              </a:lnSpc>
              <a:buNone/>
            </a:pPr>
            <a:r>
              <a:rPr lang="en-US" sz="1100" b="1" dirty="0">
                <a:solidFill>
                  <a:srgbClr val="EAF0F8"/>
                </a:solidFill>
                <a:latin typeface="Calibri" pitchFamily="34" charset="0"/>
                <a:ea typeface="Calibri" pitchFamily="34" charset="-122"/>
                <a:cs typeface="Calibri" pitchFamily="34" charset="-120"/>
              </a:rPr>
              <a:t>Draft / undercut view</a:t>
            </a:r>
            <a:endParaRPr lang="en-US" sz="1100" dirty="0"/>
          </a:p>
        </p:txBody>
      </p:sp>
      <p:sp>
        <p:nvSpPr>
          <p:cNvPr id="25" name="Text 23"/>
          <p:cNvSpPr/>
          <p:nvPr/>
        </p:nvSpPr>
        <p:spPr>
          <a:xfrm>
            <a:off x="3611880" y="3950208"/>
            <a:ext cx="4892040" cy="658368"/>
          </a:xfrm>
          <a:prstGeom prst="rect">
            <a:avLst/>
          </a:prstGeom>
          <a:noFill/>
          <a:ln/>
        </p:spPr>
        <p:txBody>
          <a:bodyPr wrap="square" lIns="0" tIns="0" rIns="0" bIns="0" rtlCol="0" anchor="ctr"/>
          <a:lstStyle/>
          <a:p>
            <a:pPr indent="0" marL="0">
              <a:lnSpc>
                <a:spcPct val="103000"/>
              </a:lnSpc>
              <a:buNone/>
            </a:pPr>
            <a:r>
              <a:rPr lang="en-US" sz="950" dirty="0">
                <a:solidFill>
                  <a:srgbClr val="9AA7BD"/>
                </a:solidFill>
                <a:latin typeface="Calibri" pitchFamily="34" charset="0"/>
                <a:ea typeface="Calibri" pitchFamily="34" charset="-122"/>
                <a:cs typeface="Calibri" pitchFamily="34" charset="-120"/>
              </a:rPr>
              <a:t>Faces shaded by draft against a chosen pull direction (X, Y or Z). Undercuts show in red.</a:t>
            </a:r>
            <a:endParaRPr lang="en-US" sz="950" dirty="0"/>
          </a:p>
        </p:txBody>
      </p:sp>
      <p:sp>
        <p:nvSpPr>
          <p:cNvPr id="26" name="Text 24"/>
          <p:cNvSpPr/>
          <p:nvPr/>
        </p:nvSpPr>
        <p:spPr>
          <a:xfrm>
            <a:off x="8686800" y="3950208"/>
            <a:ext cx="2971800" cy="658368"/>
          </a:xfrm>
          <a:prstGeom prst="rect">
            <a:avLst/>
          </a:prstGeom>
          <a:noFill/>
          <a:ln/>
        </p:spPr>
        <p:txBody>
          <a:bodyPr wrap="square" lIns="0" tIns="0" rIns="0" bIns="0" rtlCol="0" anchor="ctr"/>
          <a:lstStyle/>
          <a:p>
            <a:pPr indent="0" marL="0">
              <a:lnSpc>
                <a:spcPct val="103000"/>
              </a:lnSpc>
              <a:buNone/>
            </a:pPr>
            <a:r>
              <a:rPr lang="en-US" sz="900" i="1" dirty="0">
                <a:solidFill>
                  <a:srgbClr val="34D399"/>
                </a:solidFill>
                <a:latin typeface="Calibri" pitchFamily="34" charset="0"/>
                <a:ea typeface="Calibri" pitchFamily="34" charset="-122"/>
                <a:cs typeface="Calibri" pitchFamily="34" charset="-120"/>
              </a:rPr>
              <a:t>Built. Works on any file, as it uses the mesh.</a:t>
            </a:r>
            <a:endParaRPr lang="en-US" sz="900" dirty="0"/>
          </a:p>
        </p:txBody>
      </p:sp>
      <p:sp>
        <p:nvSpPr>
          <p:cNvPr id="27" name="Shape 25"/>
          <p:cNvSpPr/>
          <p:nvPr/>
        </p:nvSpPr>
        <p:spPr>
          <a:xfrm>
            <a:off x="411480" y="4718304"/>
            <a:ext cx="11384280" cy="786384"/>
          </a:xfrm>
          <a:prstGeom prst="roundRect">
            <a:avLst>
              <a:gd name="adj" fmla="val 8140"/>
            </a:avLst>
          </a:prstGeom>
          <a:solidFill>
            <a:srgbClr val="141B28"/>
          </a:solidFill>
          <a:ln w="7620">
            <a:solidFill>
              <a:srgbClr val="2B3A52"/>
            </a:solidFill>
            <a:prstDash val="solid"/>
          </a:ln>
        </p:spPr>
      </p:sp>
      <p:sp>
        <p:nvSpPr>
          <p:cNvPr id="28" name="Shape 26"/>
          <p:cNvSpPr/>
          <p:nvPr/>
        </p:nvSpPr>
        <p:spPr>
          <a:xfrm>
            <a:off x="411480" y="4718304"/>
            <a:ext cx="54864" cy="786384"/>
          </a:xfrm>
          <a:prstGeom prst="rect">
            <a:avLst/>
          </a:prstGeom>
          <a:solidFill>
            <a:srgbClr val="2DD4BF"/>
          </a:solidFill>
          <a:ln/>
        </p:spPr>
      </p:sp>
      <p:sp>
        <p:nvSpPr>
          <p:cNvPr id="29" name="Text 27"/>
          <p:cNvSpPr/>
          <p:nvPr/>
        </p:nvSpPr>
        <p:spPr>
          <a:xfrm>
            <a:off x="603504" y="4809744"/>
            <a:ext cx="2880360" cy="603504"/>
          </a:xfrm>
          <a:prstGeom prst="rect">
            <a:avLst/>
          </a:prstGeom>
          <a:noFill/>
          <a:ln/>
        </p:spPr>
        <p:txBody>
          <a:bodyPr wrap="square" lIns="0" tIns="0" rIns="0" bIns="0" rtlCol="0" anchor="ctr"/>
          <a:lstStyle/>
          <a:p>
            <a:pPr indent="0" marL="0">
              <a:lnSpc>
                <a:spcPct val="98000"/>
              </a:lnSpc>
              <a:buNone/>
            </a:pPr>
            <a:r>
              <a:rPr lang="en-US" sz="1100" b="1" dirty="0">
                <a:solidFill>
                  <a:srgbClr val="EAF0F8"/>
                </a:solidFill>
                <a:latin typeface="Calibri" pitchFamily="34" charset="0"/>
                <a:ea typeface="Calibri" pitchFamily="34" charset="-122"/>
                <a:cs typeface="Calibri" pitchFamily="34" charset="-120"/>
              </a:rPr>
              <a:t>Model tree</a:t>
            </a:r>
            <a:endParaRPr lang="en-US" sz="1100" dirty="0"/>
          </a:p>
        </p:txBody>
      </p:sp>
      <p:sp>
        <p:nvSpPr>
          <p:cNvPr id="30" name="Text 28"/>
          <p:cNvSpPr/>
          <p:nvPr/>
        </p:nvSpPr>
        <p:spPr>
          <a:xfrm>
            <a:off x="3611880" y="4791456"/>
            <a:ext cx="4892040" cy="658368"/>
          </a:xfrm>
          <a:prstGeom prst="rect">
            <a:avLst/>
          </a:prstGeom>
          <a:noFill/>
          <a:ln/>
        </p:spPr>
        <p:txBody>
          <a:bodyPr wrap="square" lIns="0" tIns="0" rIns="0" bIns="0" rtlCol="0" anchor="ctr"/>
          <a:lstStyle/>
          <a:p>
            <a:pPr indent="0" marL="0">
              <a:lnSpc>
                <a:spcPct val="103000"/>
              </a:lnSpc>
              <a:buNone/>
            </a:pPr>
            <a:r>
              <a:rPr lang="en-US" sz="950" dirty="0">
                <a:solidFill>
                  <a:srgbClr val="9AA7BD"/>
                </a:solidFill>
                <a:latin typeface="Calibri" pitchFamily="34" charset="0"/>
                <a:ea typeface="Calibri" pitchFamily="34" charset="-122"/>
                <a:cs typeface="Calibri" pitchFamily="34" charset="-120"/>
              </a:rPr>
              <a:t>Bodies, features and face types. Click a row and its faces light up; show or hide each body.</a:t>
            </a:r>
            <a:endParaRPr lang="en-US" sz="950" dirty="0"/>
          </a:p>
        </p:txBody>
      </p:sp>
      <p:sp>
        <p:nvSpPr>
          <p:cNvPr id="31" name="Text 29"/>
          <p:cNvSpPr/>
          <p:nvPr/>
        </p:nvSpPr>
        <p:spPr>
          <a:xfrm>
            <a:off x="8686800" y="4791456"/>
            <a:ext cx="2971800" cy="658368"/>
          </a:xfrm>
          <a:prstGeom prst="rect">
            <a:avLst/>
          </a:prstGeom>
          <a:noFill/>
          <a:ln/>
        </p:spPr>
        <p:txBody>
          <a:bodyPr wrap="square" lIns="0" tIns="0" rIns="0" bIns="0" rtlCol="0" anchor="ctr"/>
          <a:lstStyle/>
          <a:p>
            <a:pPr indent="0" marL="0">
              <a:lnSpc>
                <a:spcPct val="103000"/>
              </a:lnSpc>
              <a:buNone/>
            </a:pPr>
            <a:r>
              <a:rPr lang="en-US" sz="900" i="1" dirty="0">
                <a:solidFill>
                  <a:srgbClr val="34D399"/>
                </a:solidFill>
                <a:latin typeface="Calibri" pitchFamily="34" charset="0"/>
                <a:ea typeface="Calibri" pitchFamily="34" charset="-122"/>
                <a:cs typeface="Calibri" pitchFamily="34" charset="-120"/>
              </a:rPr>
              <a:t>Built. STEP and IGES only.</a:t>
            </a:r>
            <a:endParaRPr lang="en-US" sz="900" dirty="0"/>
          </a:p>
        </p:txBody>
      </p:sp>
      <p:sp>
        <p:nvSpPr>
          <p:cNvPr id="32" name="Shape 30"/>
          <p:cNvSpPr/>
          <p:nvPr/>
        </p:nvSpPr>
        <p:spPr>
          <a:xfrm>
            <a:off x="411480" y="5559552"/>
            <a:ext cx="11384280" cy="786384"/>
          </a:xfrm>
          <a:prstGeom prst="roundRect">
            <a:avLst>
              <a:gd name="adj" fmla="val 8140"/>
            </a:avLst>
          </a:prstGeom>
          <a:solidFill>
            <a:srgbClr val="141B28"/>
          </a:solidFill>
          <a:ln w="7620">
            <a:solidFill>
              <a:srgbClr val="2B3A52"/>
            </a:solidFill>
            <a:prstDash val="solid"/>
          </a:ln>
        </p:spPr>
      </p:sp>
      <p:sp>
        <p:nvSpPr>
          <p:cNvPr id="33" name="Shape 31"/>
          <p:cNvSpPr/>
          <p:nvPr/>
        </p:nvSpPr>
        <p:spPr>
          <a:xfrm>
            <a:off x="411480" y="5559552"/>
            <a:ext cx="54864" cy="786384"/>
          </a:xfrm>
          <a:prstGeom prst="rect">
            <a:avLst/>
          </a:prstGeom>
          <a:solidFill>
            <a:srgbClr val="2DD4BF"/>
          </a:solidFill>
          <a:ln/>
        </p:spPr>
      </p:sp>
      <p:sp>
        <p:nvSpPr>
          <p:cNvPr id="34" name="Text 32"/>
          <p:cNvSpPr/>
          <p:nvPr/>
        </p:nvSpPr>
        <p:spPr>
          <a:xfrm>
            <a:off x="603504" y="5650992"/>
            <a:ext cx="2880360" cy="603504"/>
          </a:xfrm>
          <a:prstGeom prst="rect">
            <a:avLst/>
          </a:prstGeom>
          <a:noFill/>
          <a:ln/>
        </p:spPr>
        <p:txBody>
          <a:bodyPr wrap="square" lIns="0" tIns="0" rIns="0" bIns="0" rtlCol="0" anchor="ctr"/>
          <a:lstStyle/>
          <a:p>
            <a:pPr indent="0" marL="0">
              <a:lnSpc>
                <a:spcPct val="98000"/>
              </a:lnSpc>
              <a:buNone/>
            </a:pPr>
            <a:r>
              <a:rPr lang="en-US" sz="1100" b="1" dirty="0">
                <a:solidFill>
                  <a:srgbClr val="EAF0F8"/>
                </a:solidFill>
                <a:latin typeface="Calibri" pitchFamily="34" charset="0"/>
                <a:ea typeface="Calibri" pitchFamily="34" charset="-122"/>
                <a:cs typeface="Calibri" pitchFamily="34" charset="-120"/>
              </a:rPr>
              <a:t>Result ↔ model link</a:t>
            </a:r>
            <a:endParaRPr lang="en-US" sz="1100" dirty="0"/>
          </a:p>
        </p:txBody>
      </p:sp>
      <p:sp>
        <p:nvSpPr>
          <p:cNvPr id="35" name="Text 33"/>
          <p:cNvSpPr/>
          <p:nvPr/>
        </p:nvSpPr>
        <p:spPr>
          <a:xfrm>
            <a:off x="3611880" y="5632704"/>
            <a:ext cx="4892040" cy="658368"/>
          </a:xfrm>
          <a:prstGeom prst="rect">
            <a:avLst/>
          </a:prstGeom>
          <a:noFill/>
          <a:ln/>
        </p:spPr>
        <p:txBody>
          <a:bodyPr wrap="square" lIns="0" tIns="0" rIns="0" bIns="0" rtlCol="0" anchor="ctr"/>
          <a:lstStyle/>
          <a:p>
            <a:pPr indent="0" marL="0">
              <a:lnSpc>
                <a:spcPct val="103000"/>
              </a:lnSpc>
              <a:buNone/>
            </a:pPr>
            <a:r>
              <a:rPr lang="en-US" sz="950" dirty="0">
                <a:solidFill>
                  <a:srgbClr val="9AA7BD"/>
                </a:solidFill>
                <a:latin typeface="Calibri" pitchFamily="34" charset="0"/>
                <a:ea typeface="Calibri" pitchFamily="34" charset="-122"/>
                <a:cs typeface="Calibri" pitchFamily="34" charset="-120"/>
              </a:rPr>
              <a:t>Click a face and the matching feature rows in the result are outlined. A warning's "show me" button lights up its faces.</a:t>
            </a:r>
            <a:endParaRPr lang="en-US" sz="950" dirty="0"/>
          </a:p>
        </p:txBody>
      </p:sp>
      <p:sp>
        <p:nvSpPr>
          <p:cNvPr id="36" name="Text 34"/>
          <p:cNvSpPr/>
          <p:nvPr/>
        </p:nvSpPr>
        <p:spPr>
          <a:xfrm>
            <a:off x="8686800" y="5632704"/>
            <a:ext cx="2971800" cy="658368"/>
          </a:xfrm>
          <a:prstGeom prst="rect">
            <a:avLst/>
          </a:prstGeom>
          <a:noFill/>
          <a:ln/>
        </p:spPr>
        <p:txBody>
          <a:bodyPr wrap="square" lIns="0" tIns="0" rIns="0" bIns="0" rtlCol="0" anchor="ctr"/>
          <a:lstStyle/>
          <a:p>
            <a:pPr indent="0" marL="0">
              <a:lnSpc>
                <a:spcPct val="103000"/>
              </a:lnSpc>
              <a:buNone/>
            </a:pPr>
            <a:r>
              <a:rPr lang="en-US" sz="900" i="1" dirty="0">
                <a:solidFill>
                  <a:srgbClr val="34D399"/>
                </a:solidFill>
                <a:latin typeface="Calibri" pitchFamily="34" charset="0"/>
                <a:ea typeface="Calibri" pitchFamily="34" charset="-122"/>
                <a:cs typeface="Calibri" pitchFamily="34" charset="-120"/>
              </a:rPr>
              <a:t>Built. Works where the feature has face data (STEP/IGES).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ROADMAP · MOSTLY BUILT</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Phase 1 — The CAD-software feel</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11480" y="1828800"/>
            <a:ext cx="3685032" cy="1783080"/>
          </a:xfrm>
          <a:prstGeom prst="roundRect">
            <a:avLst>
              <a:gd name="adj" fmla="val 3590"/>
            </a:avLst>
          </a:prstGeom>
          <a:solidFill>
            <a:srgbClr val="1C2536"/>
          </a:solidFill>
          <a:ln w="9525">
            <a:solidFill>
              <a:srgbClr val="2B3A52"/>
            </a:solidFill>
            <a:prstDash val="solid"/>
          </a:ln>
        </p:spPr>
      </p:sp>
      <p:sp>
        <p:nvSpPr>
          <p:cNvPr id="12" name="Shape 10"/>
          <p:cNvSpPr/>
          <p:nvPr/>
        </p:nvSpPr>
        <p:spPr>
          <a:xfrm>
            <a:off x="411480" y="1828800"/>
            <a:ext cx="64008" cy="1783080"/>
          </a:xfrm>
          <a:prstGeom prst="rect">
            <a:avLst/>
          </a:prstGeom>
          <a:solidFill>
            <a:srgbClr val="38BDF8"/>
          </a:solidFill>
          <a:ln/>
        </p:spPr>
      </p:sp>
      <p:sp>
        <p:nvSpPr>
          <p:cNvPr id="13" name="Text 11"/>
          <p:cNvSpPr/>
          <p:nvPr/>
        </p:nvSpPr>
        <p:spPr>
          <a:xfrm>
            <a:off x="594360" y="193852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Orientation cube + views</a:t>
            </a:r>
            <a:endParaRPr lang="en-US" sz="1150" dirty="0"/>
          </a:p>
        </p:txBody>
      </p:sp>
      <p:sp>
        <p:nvSpPr>
          <p:cNvPr id="14" name="Text 12"/>
          <p:cNvSpPr/>
          <p:nvPr/>
        </p:nvSpPr>
        <p:spPr>
          <a:xfrm>
            <a:off x="594360" y="2249424"/>
            <a:ext cx="3374136" cy="132588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Built. A cube in the corner: click a face or axis to snap to that view. Home, front, top, right and fit buttons.</a:t>
            </a:r>
            <a:endParaRPr lang="en-US" sz="1050" dirty="0"/>
          </a:p>
        </p:txBody>
      </p:sp>
      <p:sp>
        <p:nvSpPr>
          <p:cNvPr id="15" name="Shape 13"/>
          <p:cNvSpPr/>
          <p:nvPr/>
        </p:nvSpPr>
        <p:spPr>
          <a:xfrm>
            <a:off x="4215384" y="1828800"/>
            <a:ext cx="3685032" cy="1783080"/>
          </a:xfrm>
          <a:prstGeom prst="roundRect">
            <a:avLst>
              <a:gd name="adj" fmla="val 3590"/>
            </a:avLst>
          </a:prstGeom>
          <a:solidFill>
            <a:srgbClr val="1C2536"/>
          </a:solidFill>
          <a:ln w="9525">
            <a:solidFill>
              <a:srgbClr val="2B3A52"/>
            </a:solidFill>
            <a:prstDash val="solid"/>
          </a:ln>
        </p:spPr>
      </p:sp>
      <p:sp>
        <p:nvSpPr>
          <p:cNvPr id="16" name="Shape 14"/>
          <p:cNvSpPr/>
          <p:nvPr/>
        </p:nvSpPr>
        <p:spPr>
          <a:xfrm>
            <a:off x="4215384" y="1828800"/>
            <a:ext cx="64008" cy="1783080"/>
          </a:xfrm>
          <a:prstGeom prst="rect">
            <a:avLst/>
          </a:prstGeom>
          <a:solidFill>
            <a:srgbClr val="38BDF8"/>
          </a:solidFill>
          <a:ln/>
        </p:spPr>
      </p:sp>
      <p:sp>
        <p:nvSpPr>
          <p:cNvPr id="17" name="Text 15"/>
          <p:cNvSpPr/>
          <p:nvPr/>
        </p:nvSpPr>
        <p:spPr>
          <a:xfrm>
            <a:off x="4398264" y="193852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Model tree</a:t>
            </a:r>
            <a:endParaRPr lang="en-US" sz="1150" dirty="0"/>
          </a:p>
        </p:txBody>
      </p:sp>
      <p:sp>
        <p:nvSpPr>
          <p:cNvPr id="18" name="Text 16"/>
          <p:cNvSpPr/>
          <p:nvPr/>
        </p:nvSpPr>
        <p:spPr>
          <a:xfrm>
            <a:off x="4398264" y="2249424"/>
            <a:ext cx="3374136" cy="132588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Built. Bodies, found features and face types, with show and hide for each body.</a:t>
            </a:r>
            <a:endParaRPr lang="en-US" sz="1050" dirty="0"/>
          </a:p>
        </p:txBody>
      </p:sp>
      <p:sp>
        <p:nvSpPr>
          <p:cNvPr id="19" name="Shape 17"/>
          <p:cNvSpPr/>
          <p:nvPr/>
        </p:nvSpPr>
        <p:spPr>
          <a:xfrm>
            <a:off x="8019288" y="1828800"/>
            <a:ext cx="3685032" cy="1783080"/>
          </a:xfrm>
          <a:prstGeom prst="roundRect">
            <a:avLst>
              <a:gd name="adj" fmla="val 3590"/>
            </a:avLst>
          </a:prstGeom>
          <a:solidFill>
            <a:srgbClr val="1C2536"/>
          </a:solidFill>
          <a:ln w="9525">
            <a:solidFill>
              <a:srgbClr val="2B3A52"/>
            </a:solidFill>
            <a:prstDash val="solid"/>
          </a:ln>
        </p:spPr>
      </p:sp>
      <p:sp>
        <p:nvSpPr>
          <p:cNvPr id="20" name="Shape 18"/>
          <p:cNvSpPr/>
          <p:nvPr/>
        </p:nvSpPr>
        <p:spPr>
          <a:xfrm>
            <a:off x="8019288" y="1828800"/>
            <a:ext cx="64008" cy="1783080"/>
          </a:xfrm>
          <a:prstGeom prst="rect">
            <a:avLst/>
          </a:prstGeom>
          <a:solidFill>
            <a:srgbClr val="A78BFA"/>
          </a:solidFill>
          <a:ln/>
        </p:spPr>
      </p:sp>
      <p:sp>
        <p:nvSpPr>
          <p:cNvPr id="21" name="Text 19"/>
          <p:cNvSpPr/>
          <p:nvPr/>
        </p:nvSpPr>
        <p:spPr>
          <a:xfrm>
            <a:off x="8202168" y="193852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Exploded view</a:t>
            </a:r>
            <a:endParaRPr lang="en-US" sz="1150" dirty="0"/>
          </a:p>
        </p:txBody>
      </p:sp>
      <p:sp>
        <p:nvSpPr>
          <p:cNvPr id="22" name="Text 20"/>
          <p:cNvSpPr/>
          <p:nvPr/>
        </p:nvSpPr>
        <p:spPr>
          <a:xfrm>
            <a:off x="8202168" y="2249424"/>
            <a:ext cx="3374136" cy="132588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Built. Pull a multi-body file apart radially or along X, Y or Z. Each component can also be moved or rotated.</a:t>
            </a:r>
            <a:endParaRPr lang="en-US" sz="1050" dirty="0"/>
          </a:p>
        </p:txBody>
      </p:sp>
      <p:sp>
        <p:nvSpPr>
          <p:cNvPr id="23" name="Shape 21"/>
          <p:cNvSpPr/>
          <p:nvPr/>
        </p:nvSpPr>
        <p:spPr>
          <a:xfrm>
            <a:off x="411480" y="3730752"/>
            <a:ext cx="3685032" cy="1783080"/>
          </a:xfrm>
          <a:prstGeom prst="roundRect">
            <a:avLst>
              <a:gd name="adj" fmla="val 3590"/>
            </a:avLst>
          </a:prstGeom>
          <a:solidFill>
            <a:srgbClr val="1C2536"/>
          </a:solidFill>
          <a:ln w="9525">
            <a:solidFill>
              <a:srgbClr val="2B3A52"/>
            </a:solidFill>
            <a:prstDash val="solid"/>
          </a:ln>
        </p:spPr>
      </p:sp>
      <p:sp>
        <p:nvSpPr>
          <p:cNvPr id="24" name="Shape 22"/>
          <p:cNvSpPr/>
          <p:nvPr/>
        </p:nvSpPr>
        <p:spPr>
          <a:xfrm>
            <a:off x="411480" y="3730752"/>
            <a:ext cx="64008" cy="1783080"/>
          </a:xfrm>
          <a:prstGeom prst="rect">
            <a:avLst/>
          </a:prstGeom>
          <a:solidFill>
            <a:srgbClr val="A78BFA"/>
          </a:solidFill>
          <a:ln/>
        </p:spPr>
      </p:sp>
      <p:sp>
        <p:nvSpPr>
          <p:cNvPr id="25" name="Text 23"/>
          <p:cNvSpPr/>
          <p:nvPr/>
        </p:nvSpPr>
        <p:spPr>
          <a:xfrm>
            <a:off x="594360" y="384048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Section planes</a:t>
            </a:r>
            <a:endParaRPr lang="en-US" sz="1150" dirty="0"/>
          </a:p>
        </p:txBody>
      </p:sp>
      <p:sp>
        <p:nvSpPr>
          <p:cNvPr id="26" name="Text 24"/>
          <p:cNvSpPr/>
          <p:nvPr/>
        </p:nvSpPr>
        <p:spPr>
          <a:xfrm>
            <a:off x="594360" y="4151376"/>
            <a:ext cx="3374136" cy="132588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Partly built. Independent cut planes on X, Y and Z. Solid caps on the cut face are still to do.</a:t>
            </a:r>
            <a:endParaRPr lang="en-US" sz="1050" dirty="0"/>
          </a:p>
        </p:txBody>
      </p:sp>
      <p:sp>
        <p:nvSpPr>
          <p:cNvPr id="27" name="Shape 25"/>
          <p:cNvSpPr/>
          <p:nvPr/>
        </p:nvSpPr>
        <p:spPr>
          <a:xfrm>
            <a:off x="4215384" y="3730752"/>
            <a:ext cx="3685032" cy="1783080"/>
          </a:xfrm>
          <a:prstGeom prst="roundRect">
            <a:avLst>
              <a:gd name="adj" fmla="val 3590"/>
            </a:avLst>
          </a:prstGeom>
          <a:solidFill>
            <a:srgbClr val="1C2536"/>
          </a:solidFill>
          <a:ln w="9525">
            <a:solidFill>
              <a:srgbClr val="2B3A52"/>
            </a:solidFill>
            <a:prstDash val="solid"/>
          </a:ln>
        </p:spPr>
      </p:sp>
      <p:sp>
        <p:nvSpPr>
          <p:cNvPr id="28" name="Shape 26"/>
          <p:cNvSpPr/>
          <p:nvPr/>
        </p:nvSpPr>
        <p:spPr>
          <a:xfrm>
            <a:off x="4215384" y="3730752"/>
            <a:ext cx="64008" cy="1783080"/>
          </a:xfrm>
          <a:prstGeom prst="rect">
            <a:avLst/>
          </a:prstGeom>
          <a:solidFill>
            <a:srgbClr val="34D399"/>
          </a:solidFill>
          <a:ln/>
        </p:spPr>
      </p:sp>
      <p:sp>
        <p:nvSpPr>
          <p:cNvPr id="29" name="Text 27"/>
          <p:cNvSpPr/>
          <p:nvPr/>
        </p:nvSpPr>
        <p:spPr>
          <a:xfrm>
            <a:off x="4398264" y="384048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Richer measuring</a:t>
            </a:r>
            <a:endParaRPr lang="en-US" sz="1150" dirty="0"/>
          </a:p>
        </p:txBody>
      </p:sp>
      <p:sp>
        <p:nvSpPr>
          <p:cNvPr id="30" name="Text 28"/>
          <p:cNvSpPr/>
          <p:nvPr/>
        </p:nvSpPr>
        <p:spPr>
          <a:xfrm>
            <a:off x="4398264" y="4151376"/>
            <a:ext cx="3374136" cy="132588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Built. Distance (snaps to corners and edges), 3-point radius, angle, X/Y/Z point, face-to-face. Saved per file; export to CSV.</a:t>
            </a:r>
            <a:endParaRPr lang="en-US" sz="1050" dirty="0"/>
          </a:p>
        </p:txBody>
      </p:sp>
      <p:sp>
        <p:nvSpPr>
          <p:cNvPr id="31" name="Shape 29"/>
          <p:cNvSpPr/>
          <p:nvPr/>
        </p:nvSpPr>
        <p:spPr>
          <a:xfrm>
            <a:off x="8019288" y="3730752"/>
            <a:ext cx="3685032" cy="1783080"/>
          </a:xfrm>
          <a:prstGeom prst="roundRect">
            <a:avLst>
              <a:gd name="adj" fmla="val 3590"/>
            </a:avLst>
          </a:prstGeom>
          <a:solidFill>
            <a:srgbClr val="1C2536"/>
          </a:solidFill>
          <a:ln w="9525">
            <a:solidFill>
              <a:srgbClr val="2B3A52"/>
            </a:solidFill>
            <a:prstDash val="solid"/>
          </a:ln>
        </p:spPr>
      </p:sp>
      <p:sp>
        <p:nvSpPr>
          <p:cNvPr id="32" name="Shape 30"/>
          <p:cNvSpPr/>
          <p:nvPr/>
        </p:nvSpPr>
        <p:spPr>
          <a:xfrm>
            <a:off x="8019288" y="3730752"/>
            <a:ext cx="64008" cy="1783080"/>
          </a:xfrm>
          <a:prstGeom prst="rect">
            <a:avLst/>
          </a:prstGeom>
          <a:solidFill>
            <a:srgbClr val="2DD4BF"/>
          </a:solidFill>
          <a:ln/>
        </p:spPr>
      </p:sp>
      <p:sp>
        <p:nvSpPr>
          <p:cNvPr id="33" name="Text 31"/>
          <p:cNvSpPr/>
          <p:nvPr/>
        </p:nvSpPr>
        <p:spPr>
          <a:xfrm>
            <a:off x="8202168" y="384048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Cost on the model</a:t>
            </a:r>
            <a:endParaRPr lang="en-US" sz="1150" dirty="0"/>
          </a:p>
        </p:txBody>
      </p:sp>
      <p:sp>
        <p:nvSpPr>
          <p:cNvPr id="34" name="Text 32"/>
          <p:cNvSpPr/>
          <p:nvPr/>
        </p:nvSpPr>
        <p:spPr>
          <a:xfrm>
            <a:off x="8202168" y="4151376"/>
            <a:ext cx="3374136" cy="132588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Built. After a CAD costing, faces are coloured by the £ of the machining lines they carry.</a:t>
            </a:r>
            <a:endParaRPr lang="en-US" sz="1050" dirty="0"/>
          </a:p>
        </p:txBody>
      </p:sp>
      <p:sp>
        <p:nvSpPr>
          <p:cNvPr id="35" name="Shape 33"/>
          <p:cNvSpPr/>
          <p:nvPr/>
        </p:nvSpPr>
        <p:spPr>
          <a:xfrm>
            <a:off x="411480" y="5623560"/>
            <a:ext cx="11384280" cy="566928"/>
          </a:xfrm>
          <a:prstGeom prst="roundRect">
            <a:avLst>
              <a:gd name="adj" fmla="val 11290"/>
            </a:avLst>
          </a:prstGeom>
          <a:solidFill>
            <a:srgbClr val="10202E"/>
          </a:solidFill>
          <a:ln w="9525">
            <a:solidFill>
              <a:srgbClr val="2DD4BF"/>
            </a:solidFill>
            <a:prstDash val="solid"/>
          </a:ln>
        </p:spPr>
      </p:sp>
      <p:sp>
        <p:nvSpPr>
          <p:cNvPr id="36" name="Text 34"/>
          <p:cNvSpPr/>
          <p:nvPr/>
        </p:nvSpPr>
        <p:spPr>
          <a:xfrm>
            <a:off x="640080" y="5623560"/>
            <a:ext cx="10881360" cy="566928"/>
          </a:xfrm>
          <a:prstGeom prst="rect">
            <a:avLst/>
          </a:prstGeom>
          <a:noFill/>
          <a:ln/>
        </p:spPr>
        <p:txBody>
          <a:bodyPr wrap="square" lIns="0" tIns="0" rIns="0" bIns="0" rtlCol="0" anchor="ctr"/>
          <a:lstStyle/>
          <a:p>
            <a:pPr indent="0" marL="0">
              <a:buNone/>
            </a:pPr>
            <a:r>
              <a:rPr lang="en-US" sz="1050" b="1" dirty="0">
                <a:solidFill>
                  <a:srgbClr val="2DD4BF"/>
                </a:solidFill>
                <a:latin typeface="Calibri" pitchFamily="34" charset="0"/>
                <a:ea typeface="Calibri" pitchFamily="34" charset="-122"/>
                <a:cs typeface="Calibri" pitchFamily="34" charset="-120"/>
              </a:rPr>
              <a:t>Where this leaves us:  </a:t>
            </a:r>
            <a:pPr indent="0" marL="0">
              <a:buNone/>
            </a:pPr>
            <a:r>
              <a:rPr lang="en-US" sz="1050" dirty="0">
                <a:solidFill>
                  <a:srgbClr val="9AA7BD"/>
                </a:solidFill>
                <a:latin typeface="Calibri" pitchFamily="34" charset="0"/>
                <a:ea typeface="Calibri" pitchFamily="34" charset="-122"/>
                <a:cs typeface="Calibri" pitchFamily="34" charset="-120"/>
              </a:rPr>
              <a:t>the viewer is now a place to check the cost, not just a preview. The limits: it shows a mesh, sections have no caps, and tolerances are not read from the file.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ROADMAP · PARTLY STARTED</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Phase 2 — Deeper automatic capture</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11480" y="1783080"/>
            <a:ext cx="5532120" cy="4297680"/>
          </a:xfrm>
          <a:prstGeom prst="roundRect">
            <a:avLst>
              <a:gd name="adj" fmla="val 1489"/>
            </a:avLst>
          </a:prstGeom>
          <a:solidFill>
            <a:srgbClr val="141B28"/>
          </a:solidFill>
          <a:ln w="9525">
            <a:solidFill>
              <a:srgbClr val="2B3A52"/>
            </a:solidFill>
            <a:prstDash val="solid"/>
          </a:ln>
        </p:spPr>
      </p:sp>
      <p:sp>
        <p:nvSpPr>
          <p:cNvPr id="12" name="Shape 10"/>
          <p:cNvSpPr/>
          <p:nvPr/>
        </p:nvSpPr>
        <p:spPr>
          <a:xfrm>
            <a:off x="411480" y="1783080"/>
            <a:ext cx="5532120" cy="45720"/>
          </a:xfrm>
          <a:prstGeom prst="rect">
            <a:avLst/>
          </a:prstGeom>
          <a:solidFill>
            <a:srgbClr val="A78BFA"/>
          </a:solidFill>
          <a:ln/>
        </p:spPr>
      </p:sp>
      <p:sp>
        <p:nvSpPr>
          <p:cNvPr id="13" name="Text 11"/>
          <p:cNvSpPr/>
          <p:nvPr/>
        </p:nvSpPr>
        <p:spPr>
          <a:xfrm>
            <a:off x="621792" y="1938528"/>
            <a:ext cx="5120640" cy="365760"/>
          </a:xfrm>
          <a:prstGeom prst="rect">
            <a:avLst/>
          </a:prstGeom>
          <a:noFill/>
          <a:ln/>
        </p:spPr>
        <p:txBody>
          <a:bodyPr wrap="square" lIns="0" tIns="0" rIns="0" bIns="0" rtlCol="0" anchor="t"/>
          <a:lstStyle/>
          <a:p>
            <a:pPr indent="0" marL="0">
              <a:buNone/>
            </a:pPr>
            <a:r>
              <a:rPr lang="en-US" sz="1300" b="1" dirty="0">
                <a:solidFill>
                  <a:srgbClr val="A78BFA"/>
                </a:solidFill>
                <a:latin typeface="Calibri" pitchFamily="34" charset="0"/>
                <a:ea typeface="Calibri" pitchFamily="34" charset="-122"/>
                <a:cs typeface="Calibri" pitchFamily="34" charset="-120"/>
              </a:rPr>
              <a:t>More features found → cost</a:t>
            </a:r>
            <a:endParaRPr lang="en-US" sz="1300" dirty="0"/>
          </a:p>
        </p:txBody>
      </p:sp>
      <p:sp>
        <p:nvSpPr>
          <p:cNvPr id="14" name="Shape 12"/>
          <p:cNvSpPr/>
          <p:nvPr/>
        </p:nvSpPr>
        <p:spPr>
          <a:xfrm>
            <a:off x="658368" y="2432304"/>
            <a:ext cx="82296" cy="82296"/>
          </a:xfrm>
          <a:prstGeom prst="ellipse">
            <a:avLst/>
          </a:prstGeom>
          <a:solidFill>
            <a:srgbClr val="A78BFA"/>
          </a:solidFill>
          <a:ln/>
        </p:spPr>
      </p:sp>
      <p:sp>
        <p:nvSpPr>
          <p:cNvPr id="15" name="Text 13"/>
          <p:cNvSpPr/>
          <p:nvPr/>
        </p:nvSpPr>
        <p:spPr>
          <a:xfrm>
            <a:off x="841248" y="2359152"/>
            <a:ext cx="4937760" cy="512064"/>
          </a:xfrm>
          <a:prstGeom prst="rect">
            <a:avLst/>
          </a:prstGeom>
          <a:noFill/>
          <a:ln/>
        </p:spPr>
        <p:txBody>
          <a:bodyPr wrap="square" lIns="0" tIns="0" rIns="0" bIns="0" rtlCol="0" anchor="t"/>
          <a:lstStyle/>
          <a:p>
            <a:pPr indent="0" marL="0">
              <a:lnSpc>
                <a:spcPct val="105000"/>
              </a:lnSpc>
              <a:buNone/>
            </a:pPr>
            <a:r>
              <a:rPr lang="en-US" sz="1000" dirty="0">
                <a:solidFill>
                  <a:srgbClr val="9AA7BD"/>
                </a:solidFill>
                <a:latin typeface="Calibri" pitchFamily="34" charset="0"/>
                <a:ea typeface="Calibri" pitchFamily="34" charset="-122"/>
                <a:cs typeface="Calibri" pitchFamily="34" charset="-120"/>
              </a:rPr>
              <a:t>Fillets: found today. Turning them into finishing operations is still to do</a:t>
            </a:r>
            <a:endParaRPr lang="en-US" sz="1000" dirty="0"/>
          </a:p>
        </p:txBody>
      </p:sp>
      <p:sp>
        <p:nvSpPr>
          <p:cNvPr id="16" name="Shape 14"/>
          <p:cNvSpPr/>
          <p:nvPr/>
        </p:nvSpPr>
        <p:spPr>
          <a:xfrm>
            <a:off x="658368" y="3008376"/>
            <a:ext cx="82296" cy="82296"/>
          </a:xfrm>
          <a:prstGeom prst="ellipse">
            <a:avLst/>
          </a:prstGeom>
          <a:solidFill>
            <a:srgbClr val="A78BFA"/>
          </a:solidFill>
          <a:ln/>
        </p:spPr>
      </p:sp>
      <p:sp>
        <p:nvSpPr>
          <p:cNvPr id="17" name="Text 15"/>
          <p:cNvSpPr/>
          <p:nvPr/>
        </p:nvSpPr>
        <p:spPr>
          <a:xfrm>
            <a:off x="841248" y="2935224"/>
            <a:ext cx="4937760" cy="512064"/>
          </a:xfrm>
          <a:prstGeom prst="rect">
            <a:avLst/>
          </a:prstGeom>
          <a:noFill/>
          <a:ln/>
        </p:spPr>
        <p:txBody>
          <a:bodyPr wrap="square" lIns="0" tIns="0" rIns="0" bIns="0" rtlCol="0" anchor="t"/>
          <a:lstStyle/>
          <a:p>
            <a:pPr indent="0" marL="0">
              <a:lnSpc>
                <a:spcPct val="105000"/>
              </a:lnSpc>
              <a:buNone/>
            </a:pPr>
            <a:r>
              <a:rPr lang="en-US" sz="1000" dirty="0">
                <a:solidFill>
                  <a:srgbClr val="9AA7BD"/>
                </a:solidFill>
                <a:latin typeface="Calibri" pitchFamily="34" charset="0"/>
                <a:ea typeface="Calibri" pitchFamily="34" charset="-122"/>
                <a:cs typeface="Calibri" pitchFamily="34" charset="-120"/>
              </a:rPr>
              <a:t>Pockets and machined flat faces: found cautiously, and off in the cost until the engineer confirms</a:t>
            </a:r>
            <a:endParaRPr lang="en-US" sz="1000" dirty="0"/>
          </a:p>
        </p:txBody>
      </p:sp>
      <p:sp>
        <p:nvSpPr>
          <p:cNvPr id="18" name="Shape 16"/>
          <p:cNvSpPr/>
          <p:nvPr/>
        </p:nvSpPr>
        <p:spPr>
          <a:xfrm>
            <a:off x="658368" y="3584448"/>
            <a:ext cx="82296" cy="82296"/>
          </a:xfrm>
          <a:prstGeom prst="ellipse">
            <a:avLst/>
          </a:prstGeom>
          <a:solidFill>
            <a:srgbClr val="A78BFA"/>
          </a:solidFill>
          <a:ln/>
        </p:spPr>
      </p:sp>
      <p:sp>
        <p:nvSpPr>
          <p:cNvPr id="19" name="Text 17"/>
          <p:cNvSpPr/>
          <p:nvPr/>
        </p:nvSpPr>
        <p:spPr>
          <a:xfrm>
            <a:off x="841248" y="3511296"/>
            <a:ext cx="4937760" cy="512064"/>
          </a:xfrm>
          <a:prstGeom prst="rect">
            <a:avLst/>
          </a:prstGeom>
          <a:noFill/>
          <a:ln/>
        </p:spPr>
        <p:txBody>
          <a:bodyPr wrap="square" lIns="0" tIns="0" rIns="0" bIns="0" rtlCol="0" anchor="t"/>
          <a:lstStyle/>
          <a:p>
            <a:pPr indent="0" marL="0">
              <a:lnSpc>
                <a:spcPct val="105000"/>
              </a:lnSpc>
              <a:buNone/>
            </a:pPr>
            <a:r>
              <a:rPr lang="en-US" sz="1000" dirty="0">
                <a:solidFill>
                  <a:srgbClr val="9AA7BD"/>
                </a:solidFill>
                <a:latin typeface="Calibri" pitchFamily="34" charset="0"/>
                <a:ea typeface="Calibri" pitchFamily="34" charset="-122"/>
                <a:cs typeface="Calibri" pitchFamily="34" charset="-120"/>
              </a:rPr>
              <a:t>Chamfers, slots and thread specs (pitch and class): still to do</a:t>
            </a:r>
            <a:endParaRPr lang="en-US" sz="1000" dirty="0"/>
          </a:p>
        </p:txBody>
      </p:sp>
      <p:sp>
        <p:nvSpPr>
          <p:cNvPr id="20" name="Shape 18"/>
          <p:cNvSpPr/>
          <p:nvPr/>
        </p:nvSpPr>
        <p:spPr>
          <a:xfrm>
            <a:off x="658368" y="4160520"/>
            <a:ext cx="82296" cy="82296"/>
          </a:xfrm>
          <a:prstGeom prst="ellipse">
            <a:avLst/>
          </a:prstGeom>
          <a:solidFill>
            <a:srgbClr val="A78BFA"/>
          </a:solidFill>
          <a:ln/>
        </p:spPr>
      </p:sp>
      <p:sp>
        <p:nvSpPr>
          <p:cNvPr id="21" name="Text 19"/>
          <p:cNvSpPr/>
          <p:nvPr/>
        </p:nvSpPr>
        <p:spPr>
          <a:xfrm>
            <a:off x="841248" y="4087368"/>
            <a:ext cx="4937760" cy="512064"/>
          </a:xfrm>
          <a:prstGeom prst="rect">
            <a:avLst/>
          </a:prstGeom>
          <a:noFill/>
          <a:ln/>
        </p:spPr>
        <p:txBody>
          <a:bodyPr wrap="square" lIns="0" tIns="0" rIns="0" bIns="0" rtlCol="0" anchor="t"/>
          <a:lstStyle/>
          <a:p>
            <a:pPr indent="0" marL="0">
              <a:lnSpc>
                <a:spcPct val="105000"/>
              </a:lnSpc>
              <a:buNone/>
            </a:pPr>
            <a:r>
              <a:rPr lang="en-US" sz="1000" dirty="0">
                <a:solidFill>
                  <a:srgbClr val="9AA7BD"/>
                </a:solidFill>
                <a:latin typeface="Calibri" pitchFamily="34" charset="0"/>
                <a:ea typeface="Calibri" pitchFamily="34" charset="-122"/>
                <a:cs typeface="Calibri" pitchFamily="34" charset="-120"/>
              </a:rPr>
              <a:t>Rib count on mouldings to drive tool complexity: still to do</a:t>
            </a:r>
            <a:endParaRPr lang="en-US" sz="1000" dirty="0"/>
          </a:p>
        </p:txBody>
      </p:sp>
      <p:sp>
        <p:nvSpPr>
          <p:cNvPr id="22" name="Shape 20"/>
          <p:cNvSpPr/>
          <p:nvPr/>
        </p:nvSpPr>
        <p:spPr>
          <a:xfrm>
            <a:off x="658368" y="4736592"/>
            <a:ext cx="82296" cy="82296"/>
          </a:xfrm>
          <a:prstGeom prst="ellipse">
            <a:avLst/>
          </a:prstGeom>
          <a:solidFill>
            <a:srgbClr val="A78BFA"/>
          </a:solidFill>
          <a:ln/>
        </p:spPr>
      </p:sp>
      <p:sp>
        <p:nvSpPr>
          <p:cNvPr id="23" name="Text 21"/>
          <p:cNvSpPr/>
          <p:nvPr/>
        </p:nvSpPr>
        <p:spPr>
          <a:xfrm>
            <a:off x="841248" y="4663440"/>
            <a:ext cx="4937760" cy="512064"/>
          </a:xfrm>
          <a:prstGeom prst="rect">
            <a:avLst/>
          </a:prstGeom>
          <a:noFill/>
          <a:ln/>
        </p:spPr>
        <p:txBody>
          <a:bodyPr wrap="square" lIns="0" tIns="0" rIns="0" bIns="0" rtlCol="0" anchor="t"/>
          <a:lstStyle/>
          <a:p>
            <a:pPr indent="0" marL="0">
              <a:lnSpc>
                <a:spcPct val="105000"/>
              </a:lnSpc>
              <a:buNone/>
            </a:pPr>
            <a:r>
              <a:rPr lang="en-US" sz="1000" dirty="0">
                <a:solidFill>
                  <a:srgbClr val="9AA7BD"/>
                </a:solidFill>
                <a:latin typeface="Calibri" pitchFamily="34" charset="0"/>
                <a:ea typeface="Calibri" pitchFamily="34" charset="-122"/>
                <a:cs typeface="Calibri" pitchFamily="34" charset="-120"/>
              </a:rPr>
              <a:t>Machined vs as-cast faces: still to do. Today a guard caps machining time on near-net parts</a:t>
            </a:r>
            <a:endParaRPr lang="en-US" sz="1000" dirty="0"/>
          </a:p>
        </p:txBody>
      </p:sp>
      <p:sp>
        <p:nvSpPr>
          <p:cNvPr id="24" name="Shape 22"/>
          <p:cNvSpPr/>
          <p:nvPr/>
        </p:nvSpPr>
        <p:spPr>
          <a:xfrm>
            <a:off x="658368" y="5312664"/>
            <a:ext cx="82296" cy="82296"/>
          </a:xfrm>
          <a:prstGeom prst="ellipse">
            <a:avLst/>
          </a:prstGeom>
          <a:solidFill>
            <a:srgbClr val="A78BFA"/>
          </a:solidFill>
          <a:ln/>
        </p:spPr>
      </p:sp>
      <p:sp>
        <p:nvSpPr>
          <p:cNvPr id="25" name="Text 23"/>
          <p:cNvSpPr/>
          <p:nvPr/>
        </p:nvSpPr>
        <p:spPr>
          <a:xfrm>
            <a:off x="841248" y="5239512"/>
            <a:ext cx="4937760" cy="512064"/>
          </a:xfrm>
          <a:prstGeom prst="rect">
            <a:avLst/>
          </a:prstGeom>
          <a:noFill/>
          <a:ln/>
        </p:spPr>
        <p:txBody>
          <a:bodyPr wrap="square" lIns="0" tIns="0" rIns="0" bIns="0" rtlCol="0" anchor="t"/>
          <a:lstStyle/>
          <a:p>
            <a:pPr indent="0" marL="0">
              <a:lnSpc>
                <a:spcPct val="105000"/>
              </a:lnSpc>
              <a:buNone/>
            </a:pPr>
            <a:r>
              <a:rPr lang="en-US" sz="1000" dirty="0">
                <a:solidFill>
                  <a:srgbClr val="9AA7BD"/>
                </a:solidFill>
                <a:latin typeface="Calibri" pitchFamily="34" charset="0"/>
                <a:ea typeface="Calibri" pitchFamily="34" charset="-122"/>
                <a:cs typeface="Calibri" pitchFamily="34" charset="-120"/>
              </a:rPr>
              <a:t>STL features: still to do. Today the tool stops and asks for a cycle time</a:t>
            </a:r>
            <a:endParaRPr lang="en-US" sz="1000" dirty="0"/>
          </a:p>
        </p:txBody>
      </p:sp>
      <p:sp>
        <p:nvSpPr>
          <p:cNvPr id="26" name="Shape 24"/>
          <p:cNvSpPr/>
          <p:nvPr/>
        </p:nvSpPr>
        <p:spPr>
          <a:xfrm>
            <a:off x="6217920" y="1783080"/>
            <a:ext cx="5532120" cy="4297680"/>
          </a:xfrm>
          <a:prstGeom prst="roundRect">
            <a:avLst>
              <a:gd name="adj" fmla="val 1489"/>
            </a:avLst>
          </a:prstGeom>
          <a:solidFill>
            <a:srgbClr val="141B28"/>
          </a:solidFill>
          <a:ln w="9525">
            <a:solidFill>
              <a:srgbClr val="2B3A52"/>
            </a:solidFill>
            <a:prstDash val="solid"/>
          </a:ln>
        </p:spPr>
      </p:sp>
      <p:sp>
        <p:nvSpPr>
          <p:cNvPr id="27" name="Shape 25"/>
          <p:cNvSpPr/>
          <p:nvPr/>
        </p:nvSpPr>
        <p:spPr>
          <a:xfrm>
            <a:off x="6217920" y="1783080"/>
            <a:ext cx="5532120" cy="45720"/>
          </a:xfrm>
          <a:prstGeom prst="rect">
            <a:avLst/>
          </a:prstGeom>
          <a:solidFill>
            <a:srgbClr val="FBBF24"/>
          </a:solidFill>
          <a:ln/>
        </p:spPr>
      </p:sp>
      <p:sp>
        <p:nvSpPr>
          <p:cNvPr id="28" name="Text 26"/>
          <p:cNvSpPr/>
          <p:nvPr/>
        </p:nvSpPr>
        <p:spPr>
          <a:xfrm>
            <a:off x="6428232" y="1938528"/>
            <a:ext cx="5120640" cy="365760"/>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Tolerance-driven costing (future)</a:t>
            </a:r>
            <a:endParaRPr lang="en-US" sz="1300" dirty="0"/>
          </a:p>
        </p:txBody>
      </p:sp>
      <p:sp>
        <p:nvSpPr>
          <p:cNvPr id="29" name="Text 27"/>
          <p:cNvSpPr/>
          <p:nvPr/>
        </p:nvSpPr>
        <p:spPr>
          <a:xfrm>
            <a:off x="6428232" y="2331720"/>
            <a:ext cx="5120640" cy="914400"/>
          </a:xfrm>
          <a:prstGeom prst="rect">
            <a:avLst/>
          </a:prstGeom>
          <a:noFill/>
          <a:ln/>
        </p:spPr>
        <p:txBody>
          <a:bodyPr wrap="square" lIns="0" tIns="0" rIns="0" bIns="0" rtlCol="0" anchor="t"/>
          <a:lstStyle/>
          <a:p>
            <a:pPr indent="0" marL="0">
              <a:lnSpc>
                <a:spcPct val="108000"/>
              </a:lnSpc>
              <a:buNone/>
            </a:pPr>
            <a:r>
              <a:rPr lang="en-US" sz="1000" dirty="0">
                <a:solidFill>
                  <a:srgbClr val="9AA7BD"/>
                </a:solidFill>
                <a:latin typeface="Calibri" pitchFamily="34" charset="0"/>
                <a:ea typeface="Calibri" pitchFamily="34" charset="-122"/>
                <a:cs typeface="Calibri" pitchFamily="34" charset="-120"/>
              </a:rPr>
              <a:t>Not built. The idea: read tolerances (GD&amp;T: geometric dimensioning and tolerancing) from STEP AP242 files, and map them to process and inspection. Today the engineer types the tightest tolerance, and it scales the machining time.</a:t>
            </a:r>
            <a:endParaRPr lang="en-US" sz="1000" dirty="0"/>
          </a:p>
        </p:txBody>
      </p:sp>
      <p:sp>
        <p:nvSpPr>
          <p:cNvPr id="30" name="Shape 28"/>
          <p:cNvSpPr/>
          <p:nvPr/>
        </p:nvSpPr>
        <p:spPr>
          <a:xfrm>
            <a:off x="6428232" y="3383280"/>
            <a:ext cx="5120640" cy="548640"/>
          </a:xfrm>
          <a:prstGeom prst="roundRect">
            <a:avLst>
              <a:gd name="adj" fmla="val 11667"/>
            </a:avLst>
          </a:prstGeom>
          <a:solidFill>
            <a:srgbClr val="1C2536"/>
          </a:solidFill>
          <a:ln w="6350">
            <a:solidFill>
              <a:srgbClr val="2B3A52"/>
            </a:solidFill>
            <a:prstDash val="solid"/>
          </a:ln>
        </p:spPr>
      </p:sp>
      <p:sp>
        <p:nvSpPr>
          <p:cNvPr id="31" name="Text 29"/>
          <p:cNvSpPr/>
          <p:nvPr/>
        </p:nvSpPr>
        <p:spPr>
          <a:xfrm>
            <a:off x="6583680" y="3383280"/>
            <a:ext cx="2468880" cy="548640"/>
          </a:xfrm>
          <a:prstGeom prst="rect">
            <a:avLst/>
          </a:prstGeom>
          <a:noFill/>
          <a:ln/>
        </p:spPr>
        <p:txBody>
          <a:bodyPr wrap="square" lIns="0" tIns="0" rIns="0" bIns="0" rtlCol="0" anchor="ctr"/>
          <a:lstStyle/>
          <a:p>
            <a:pPr indent="0" marL="0">
              <a:buNone/>
            </a:pPr>
            <a:r>
              <a:rPr lang="en-US" sz="950" b="1" dirty="0">
                <a:solidFill>
                  <a:srgbClr val="EAF0F8"/>
                </a:solidFill>
                <a:latin typeface="Calibri" pitchFamily="34" charset="0"/>
                <a:ea typeface="Calibri" pitchFamily="34" charset="-122"/>
                <a:cs typeface="Calibri" pitchFamily="34" charset="-120"/>
              </a:rPr>
              <a:t>Tight bore tolerance</a:t>
            </a:r>
            <a:endParaRPr lang="en-US" sz="950" dirty="0"/>
          </a:p>
        </p:txBody>
      </p:sp>
      <p:sp>
        <p:nvSpPr>
          <p:cNvPr id="32" name="Text 30"/>
          <p:cNvSpPr/>
          <p:nvPr/>
        </p:nvSpPr>
        <p:spPr>
          <a:xfrm>
            <a:off x="9052560" y="3383280"/>
            <a:ext cx="2377440" cy="548640"/>
          </a:xfrm>
          <a:prstGeom prst="rect">
            <a:avLst/>
          </a:prstGeom>
          <a:noFill/>
          <a:ln/>
        </p:spPr>
        <p:txBody>
          <a:bodyPr wrap="square" lIns="0" tIns="0" rIns="0" bIns="0" rtlCol="0" anchor="ctr"/>
          <a:lstStyle/>
          <a:p>
            <a:pPr indent="0" marL="0">
              <a:buNone/>
            </a:pPr>
            <a:r>
              <a:rPr lang="en-US" sz="950" dirty="0">
                <a:solidFill>
                  <a:srgbClr val="FBBF24"/>
                </a:solidFill>
                <a:latin typeface="Calibri" pitchFamily="34" charset="0"/>
                <a:ea typeface="Calibri" pitchFamily="34" charset="-122"/>
                <a:cs typeface="Calibri" pitchFamily="34" charset="-120"/>
              </a:rPr>
              <a:t>→ ream / hone / grind added</a:t>
            </a:r>
            <a:endParaRPr lang="en-US" sz="950" dirty="0"/>
          </a:p>
        </p:txBody>
      </p:sp>
      <p:sp>
        <p:nvSpPr>
          <p:cNvPr id="33" name="Shape 31"/>
          <p:cNvSpPr/>
          <p:nvPr/>
        </p:nvSpPr>
        <p:spPr>
          <a:xfrm>
            <a:off x="6428232" y="4023360"/>
            <a:ext cx="5120640" cy="548640"/>
          </a:xfrm>
          <a:prstGeom prst="roundRect">
            <a:avLst>
              <a:gd name="adj" fmla="val 11667"/>
            </a:avLst>
          </a:prstGeom>
          <a:solidFill>
            <a:srgbClr val="1C2536"/>
          </a:solidFill>
          <a:ln w="6350">
            <a:solidFill>
              <a:srgbClr val="2B3A52"/>
            </a:solidFill>
            <a:prstDash val="solid"/>
          </a:ln>
        </p:spPr>
      </p:sp>
      <p:sp>
        <p:nvSpPr>
          <p:cNvPr id="34" name="Text 32"/>
          <p:cNvSpPr/>
          <p:nvPr/>
        </p:nvSpPr>
        <p:spPr>
          <a:xfrm>
            <a:off x="6583680" y="4023360"/>
            <a:ext cx="2468880" cy="548640"/>
          </a:xfrm>
          <a:prstGeom prst="rect">
            <a:avLst/>
          </a:prstGeom>
          <a:noFill/>
          <a:ln/>
        </p:spPr>
        <p:txBody>
          <a:bodyPr wrap="square" lIns="0" tIns="0" rIns="0" bIns="0" rtlCol="0" anchor="ctr"/>
          <a:lstStyle/>
          <a:p>
            <a:pPr indent="0" marL="0">
              <a:buNone/>
            </a:pPr>
            <a:r>
              <a:rPr lang="en-US" sz="950" b="1" dirty="0">
                <a:solidFill>
                  <a:srgbClr val="EAF0F8"/>
                </a:solidFill>
                <a:latin typeface="Calibri" pitchFamily="34" charset="0"/>
                <a:ea typeface="Calibri" pitchFamily="34" charset="-122"/>
                <a:cs typeface="Calibri" pitchFamily="34" charset="-120"/>
              </a:rPr>
              <a:t>Fine surface finish (Ra)</a:t>
            </a:r>
            <a:endParaRPr lang="en-US" sz="950" dirty="0"/>
          </a:p>
        </p:txBody>
      </p:sp>
      <p:sp>
        <p:nvSpPr>
          <p:cNvPr id="35" name="Text 33"/>
          <p:cNvSpPr/>
          <p:nvPr/>
        </p:nvSpPr>
        <p:spPr>
          <a:xfrm>
            <a:off x="9052560" y="4023360"/>
            <a:ext cx="2377440" cy="548640"/>
          </a:xfrm>
          <a:prstGeom prst="rect">
            <a:avLst/>
          </a:prstGeom>
          <a:noFill/>
          <a:ln/>
        </p:spPr>
        <p:txBody>
          <a:bodyPr wrap="square" lIns="0" tIns="0" rIns="0" bIns="0" rtlCol="0" anchor="ctr"/>
          <a:lstStyle/>
          <a:p>
            <a:pPr indent="0" marL="0">
              <a:buNone/>
            </a:pPr>
            <a:r>
              <a:rPr lang="en-US" sz="950" dirty="0">
                <a:solidFill>
                  <a:srgbClr val="FBBF24"/>
                </a:solidFill>
                <a:latin typeface="Calibri" pitchFamily="34" charset="0"/>
                <a:ea typeface="Calibri" pitchFamily="34" charset="-122"/>
                <a:cs typeface="Calibri" pitchFamily="34" charset="-120"/>
              </a:rPr>
              <a:t>→ extra finishing operation</a:t>
            </a:r>
            <a:endParaRPr lang="en-US" sz="950" dirty="0"/>
          </a:p>
        </p:txBody>
      </p:sp>
      <p:sp>
        <p:nvSpPr>
          <p:cNvPr id="36" name="Shape 34"/>
          <p:cNvSpPr/>
          <p:nvPr/>
        </p:nvSpPr>
        <p:spPr>
          <a:xfrm>
            <a:off x="6428232" y="4663440"/>
            <a:ext cx="5120640" cy="548640"/>
          </a:xfrm>
          <a:prstGeom prst="roundRect">
            <a:avLst>
              <a:gd name="adj" fmla="val 11667"/>
            </a:avLst>
          </a:prstGeom>
          <a:solidFill>
            <a:srgbClr val="1C2536"/>
          </a:solidFill>
          <a:ln w="6350">
            <a:solidFill>
              <a:srgbClr val="2B3A52"/>
            </a:solidFill>
            <a:prstDash val="solid"/>
          </a:ln>
        </p:spPr>
      </p:sp>
      <p:sp>
        <p:nvSpPr>
          <p:cNvPr id="37" name="Text 35"/>
          <p:cNvSpPr/>
          <p:nvPr/>
        </p:nvSpPr>
        <p:spPr>
          <a:xfrm>
            <a:off x="6583680" y="4663440"/>
            <a:ext cx="2468880" cy="548640"/>
          </a:xfrm>
          <a:prstGeom prst="rect">
            <a:avLst/>
          </a:prstGeom>
          <a:noFill/>
          <a:ln/>
        </p:spPr>
        <p:txBody>
          <a:bodyPr wrap="square" lIns="0" tIns="0" rIns="0" bIns="0" rtlCol="0" anchor="ctr"/>
          <a:lstStyle/>
          <a:p>
            <a:pPr indent="0" marL="0">
              <a:buNone/>
            </a:pPr>
            <a:r>
              <a:rPr lang="en-US" sz="950" b="1" dirty="0">
                <a:solidFill>
                  <a:srgbClr val="EAF0F8"/>
                </a:solidFill>
                <a:latin typeface="Calibri" pitchFamily="34" charset="0"/>
                <a:ea typeface="Calibri" pitchFamily="34" charset="-122"/>
                <a:cs typeface="Calibri" pitchFamily="34" charset="-120"/>
              </a:rPr>
              <a:t>Flatness / position GD&amp;T</a:t>
            </a:r>
            <a:endParaRPr lang="en-US" sz="950" dirty="0"/>
          </a:p>
        </p:txBody>
      </p:sp>
      <p:sp>
        <p:nvSpPr>
          <p:cNvPr id="38" name="Text 36"/>
          <p:cNvSpPr/>
          <p:nvPr/>
        </p:nvSpPr>
        <p:spPr>
          <a:xfrm>
            <a:off x="9052560" y="4663440"/>
            <a:ext cx="2377440" cy="548640"/>
          </a:xfrm>
          <a:prstGeom prst="rect">
            <a:avLst/>
          </a:prstGeom>
          <a:noFill/>
          <a:ln/>
        </p:spPr>
        <p:txBody>
          <a:bodyPr wrap="square" lIns="0" tIns="0" rIns="0" bIns="0" rtlCol="0" anchor="ctr"/>
          <a:lstStyle/>
          <a:p>
            <a:pPr indent="0" marL="0">
              <a:buNone/>
            </a:pPr>
            <a:r>
              <a:rPr lang="en-US" sz="950" dirty="0">
                <a:solidFill>
                  <a:srgbClr val="FBBF24"/>
                </a:solidFill>
                <a:latin typeface="Calibri" pitchFamily="34" charset="0"/>
                <a:ea typeface="Calibri" pitchFamily="34" charset="-122"/>
                <a:cs typeface="Calibri" pitchFamily="34" charset="-120"/>
              </a:rPr>
              <a:t>→ inspection + fixturing cost</a:t>
            </a:r>
            <a:endParaRPr lang="en-US" sz="950" dirty="0"/>
          </a:p>
        </p:txBody>
      </p:sp>
      <p:sp>
        <p:nvSpPr>
          <p:cNvPr id="39" name="Shape 37"/>
          <p:cNvSpPr/>
          <p:nvPr/>
        </p:nvSpPr>
        <p:spPr>
          <a:xfrm>
            <a:off x="6428232" y="5303520"/>
            <a:ext cx="5120640" cy="548640"/>
          </a:xfrm>
          <a:prstGeom prst="roundRect">
            <a:avLst>
              <a:gd name="adj" fmla="val 11667"/>
            </a:avLst>
          </a:prstGeom>
          <a:solidFill>
            <a:srgbClr val="1C2536"/>
          </a:solidFill>
          <a:ln w="6350">
            <a:solidFill>
              <a:srgbClr val="2B3A52"/>
            </a:solidFill>
            <a:prstDash val="solid"/>
          </a:ln>
        </p:spPr>
      </p:sp>
      <p:sp>
        <p:nvSpPr>
          <p:cNvPr id="40" name="Text 38"/>
          <p:cNvSpPr/>
          <p:nvPr/>
        </p:nvSpPr>
        <p:spPr>
          <a:xfrm>
            <a:off x="6583680" y="5303520"/>
            <a:ext cx="2468880" cy="548640"/>
          </a:xfrm>
          <a:prstGeom prst="rect">
            <a:avLst/>
          </a:prstGeom>
          <a:noFill/>
          <a:ln/>
        </p:spPr>
        <p:txBody>
          <a:bodyPr wrap="square" lIns="0" tIns="0" rIns="0" bIns="0" rtlCol="0" anchor="ctr"/>
          <a:lstStyle/>
          <a:p>
            <a:pPr indent="0" marL="0">
              <a:buNone/>
            </a:pPr>
            <a:r>
              <a:rPr lang="en-US" sz="950" b="1" dirty="0">
                <a:solidFill>
                  <a:srgbClr val="EAF0F8"/>
                </a:solidFill>
                <a:latin typeface="Calibri" pitchFamily="34" charset="0"/>
                <a:ea typeface="Calibri" pitchFamily="34" charset="-122"/>
                <a:cs typeface="Calibri" pitchFamily="34" charset="-120"/>
              </a:rPr>
              <a:t>Loose general tolerance</a:t>
            </a:r>
            <a:endParaRPr lang="en-US" sz="950" dirty="0"/>
          </a:p>
        </p:txBody>
      </p:sp>
      <p:sp>
        <p:nvSpPr>
          <p:cNvPr id="41" name="Text 39"/>
          <p:cNvSpPr/>
          <p:nvPr/>
        </p:nvSpPr>
        <p:spPr>
          <a:xfrm>
            <a:off x="9052560" y="5303520"/>
            <a:ext cx="2377440" cy="548640"/>
          </a:xfrm>
          <a:prstGeom prst="rect">
            <a:avLst/>
          </a:prstGeom>
          <a:noFill/>
          <a:ln/>
        </p:spPr>
        <p:txBody>
          <a:bodyPr wrap="square" lIns="0" tIns="0" rIns="0" bIns="0" rtlCol="0" anchor="ctr"/>
          <a:lstStyle/>
          <a:p>
            <a:pPr indent="0" marL="0">
              <a:buNone/>
            </a:pPr>
            <a:r>
              <a:rPr lang="en-US" sz="950" dirty="0">
                <a:solidFill>
                  <a:srgbClr val="FBBF24"/>
                </a:solidFill>
                <a:latin typeface="Calibri" pitchFamily="34" charset="0"/>
                <a:ea typeface="Calibri" pitchFamily="34" charset="-122"/>
                <a:cs typeface="Calibri" pitchFamily="34" charset="-120"/>
              </a:rPr>
              <a:t>→ cheaper route, faster cycle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ROADMAP · FUTURE, NOT STARTED</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Phase 3 — Research track</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57200" y="1874520"/>
            <a:ext cx="5532120" cy="2788920"/>
          </a:xfrm>
          <a:prstGeom prst="roundRect">
            <a:avLst>
              <a:gd name="adj" fmla="val 2295"/>
            </a:avLst>
          </a:prstGeom>
          <a:solidFill>
            <a:srgbClr val="1C2536"/>
          </a:solidFill>
          <a:ln w="9525">
            <a:solidFill>
              <a:srgbClr val="2B3A52"/>
            </a:solidFill>
            <a:prstDash val="solid"/>
          </a:ln>
        </p:spPr>
      </p:sp>
      <p:sp>
        <p:nvSpPr>
          <p:cNvPr id="12" name="Shape 10"/>
          <p:cNvSpPr/>
          <p:nvPr/>
        </p:nvSpPr>
        <p:spPr>
          <a:xfrm>
            <a:off x="457200" y="1874520"/>
            <a:ext cx="64008" cy="2788920"/>
          </a:xfrm>
          <a:prstGeom prst="rect">
            <a:avLst/>
          </a:prstGeom>
          <a:solidFill>
            <a:srgbClr val="2DD4BF"/>
          </a:solidFill>
          <a:ln/>
        </p:spPr>
      </p:sp>
      <p:sp>
        <p:nvSpPr>
          <p:cNvPr id="13" name="Text 11"/>
          <p:cNvSpPr/>
          <p:nvPr/>
        </p:nvSpPr>
        <p:spPr>
          <a:xfrm>
            <a:off x="640080" y="1984248"/>
            <a:ext cx="5221224" cy="365760"/>
          </a:xfrm>
          <a:prstGeom prst="rect">
            <a:avLst/>
          </a:prstGeom>
          <a:noFill/>
          <a:ln/>
        </p:spPr>
        <p:txBody>
          <a:bodyPr wrap="square" lIns="0" tIns="0" rIns="0" bIns="0" rtlCol="0" anchor="t"/>
          <a:lstStyle/>
          <a:p>
            <a:pPr indent="0" marL="0">
              <a:buNone/>
            </a:pPr>
            <a:r>
              <a:rPr lang="en-US" sz="1200" b="1" dirty="0">
                <a:solidFill>
                  <a:srgbClr val="EAF0F8"/>
                </a:solidFill>
                <a:latin typeface="Calibri" pitchFamily="34" charset="0"/>
                <a:ea typeface="Calibri" pitchFamily="34" charset="-122"/>
                <a:cs typeface="Calibri" pitchFamily="34" charset="-120"/>
              </a:rPr>
              <a:t>CAD kernel in the browser (occt-import-js)</a:t>
            </a:r>
            <a:endParaRPr lang="en-US" sz="1200" dirty="0"/>
          </a:p>
        </p:txBody>
      </p:sp>
      <p:sp>
        <p:nvSpPr>
          <p:cNvPr id="14" name="Text 12"/>
          <p:cNvSpPr/>
          <p:nvPr/>
        </p:nvSpPr>
        <p:spPr>
          <a:xfrm>
            <a:off x="640080" y="2295144"/>
            <a:ext cx="5221224" cy="2331720"/>
          </a:xfrm>
          <a:prstGeom prst="rect">
            <a:avLst/>
          </a:prstGeom>
          <a:noFill/>
          <a:ln/>
        </p:spPr>
        <p:txBody>
          <a:bodyPr wrap="square" lIns="0" tIns="0" rIns="0" bIns="0" rtlCol="0" anchor="t"/>
          <a:lstStyle/>
          <a:p>
            <a:pPr indent="0" marL="0">
              <a:lnSpc>
                <a:spcPct val="106000"/>
              </a:lnSpc>
              <a:buNone/>
            </a:pPr>
            <a:r>
              <a:rPr lang="en-US" sz="1100" dirty="0">
                <a:solidFill>
                  <a:srgbClr val="9AA7BD"/>
                </a:solidFill>
                <a:latin typeface="Calibri" pitchFamily="34" charset="0"/>
                <a:ea typeface="Calibri" pitchFamily="34" charset="-122"/>
                <a:cs typeface="Calibri" pitchFamily="34" charset="-120"/>
              </a:rPr>
              <a:t>Open STEP and IGES directly in the browser and keep the real B-rep, not a mesh made on the server. That would allow exact face measurement, faster loading, and face picking with no server call.</a:t>
            </a:r>
            <a:endParaRPr lang="en-US" sz="1100" dirty="0"/>
          </a:p>
          <a:p>
            <a:pPr indent="0" marL="0">
              <a:lnSpc>
                <a:spcPct val="106000"/>
              </a:lnSpc>
              <a:buNone/>
            </a:pPr>
            <a:endParaRPr lang="en-US" sz="1100" dirty="0"/>
          </a:p>
          <a:p>
            <a:pPr indent="0" marL="0">
              <a:lnSpc>
                <a:spcPct val="106000"/>
              </a:lnSpc>
              <a:buNone/>
            </a:pPr>
            <a:r>
              <a:rPr lang="en-US" sz="1100" dirty="0">
                <a:solidFill>
                  <a:srgbClr val="9AA7BD"/>
                </a:solidFill>
                <a:latin typeface="Calibri" pitchFamily="34" charset="0"/>
                <a:ea typeface="Calibri" pitchFamily="34" charset="-122"/>
                <a:cs typeface="Calibri" pitchFamily="34" charset="-120"/>
              </a:rPr>
              <a:t>What it would change: every face becomes an exact object you can click and cost, even before the server replies.</a:t>
            </a:r>
            <a:endParaRPr lang="en-US" sz="1100" dirty="0"/>
          </a:p>
        </p:txBody>
      </p:sp>
      <p:sp>
        <p:nvSpPr>
          <p:cNvPr id="15" name="Shape 13"/>
          <p:cNvSpPr/>
          <p:nvPr/>
        </p:nvSpPr>
        <p:spPr>
          <a:xfrm>
            <a:off x="6172200" y="1874520"/>
            <a:ext cx="5577840" cy="2788920"/>
          </a:xfrm>
          <a:prstGeom prst="roundRect">
            <a:avLst>
              <a:gd name="adj" fmla="val 2295"/>
            </a:avLst>
          </a:prstGeom>
          <a:solidFill>
            <a:srgbClr val="1C2536"/>
          </a:solidFill>
          <a:ln w="9525">
            <a:solidFill>
              <a:srgbClr val="2B3A52"/>
            </a:solidFill>
            <a:prstDash val="solid"/>
          </a:ln>
        </p:spPr>
      </p:sp>
      <p:sp>
        <p:nvSpPr>
          <p:cNvPr id="16" name="Shape 14"/>
          <p:cNvSpPr/>
          <p:nvPr/>
        </p:nvSpPr>
        <p:spPr>
          <a:xfrm>
            <a:off x="6172200" y="1874520"/>
            <a:ext cx="64008" cy="2788920"/>
          </a:xfrm>
          <a:prstGeom prst="rect">
            <a:avLst/>
          </a:prstGeom>
          <a:solidFill>
            <a:srgbClr val="A78BFA"/>
          </a:solidFill>
          <a:ln/>
        </p:spPr>
      </p:sp>
      <p:sp>
        <p:nvSpPr>
          <p:cNvPr id="17" name="Text 15"/>
          <p:cNvSpPr/>
          <p:nvPr/>
        </p:nvSpPr>
        <p:spPr>
          <a:xfrm>
            <a:off x="6355080" y="1984248"/>
            <a:ext cx="5266944" cy="365760"/>
          </a:xfrm>
          <a:prstGeom prst="rect">
            <a:avLst/>
          </a:prstGeom>
          <a:noFill/>
          <a:ln/>
        </p:spPr>
        <p:txBody>
          <a:bodyPr wrap="square" lIns="0" tIns="0" rIns="0" bIns="0" rtlCol="0" anchor="t"/>
          <a:lstStyle/>
          <a:p>
            <a:pPr indent="0" marL="0">
              <a:buNone/>
            </a:pPr>
            <a:r>
              <a:rPr lang="en-US" sz="1200" b="1" dirty="0">
                <a:solidFill>
                  <a:srgbClr val="EAF0F8"/>
                </a:solidFill>
                <a:latin typeface="Calibri" pitchFamily="34" charset="0"/>
                <a:ea typeface="Calibri" pitchFamily="34" charset="-122"/>
                <a:cs typeface="Calibri" pitchFamily="34" charset="-120"/>
              </a:rPr>
              <a:t>Learned feature recognition</a:t>
            </a:r>
            <a:endParaRPr lang="en-US" sz="1200" dirty="0"/>
          </a:p>
        </p:txBody>
      </p:sp>
      <p:sp>
        <p:nvSpPr>
          <p:cNvPr id="18" name="Text 16"/>
          <p:cNvSpPr/>
          <p:nvPr/>
        </p:nvSpPr>
        <p:spPr>
          <a:xfrm>
            <a:off x="6355080" y="2295144"/>
            <a:ext cx="5266944" cy="2331720"/>
          </a:xfrm>
          <a:prstGeom prst="rect">
            <a:avLst/>
          </a:prstGeom>
          <a:noFill/>
          <a:ln/>
        </p:spPr>
        <p:txBody>
          <a:bodyPr wrap="square" lIns="0" tIns="0" rIns="0" bIns="0" rtlCol="0" anchor="t"/>
          <a:lstStyle/>
          <a:p>
            <a:pPr indent="0" marL="0">
              <a:lnSpc>
                <a:spcPct val="106000"/>
              </a:lnSpc>
              <a:buNone/>
            </a:pPr>
            <a:r>
              <a:rPr lang="en-US" sz="1100" dirty="0">
                <a:solidFill>
                  <a:srgbClr val="9AA7BD"/>
                </a:solidFill>
                <a:latin typeface="Calibri" pitchFamily="34" charset="0"/>
                <a:ea typeface="Calibri" pitchFamily="34" charset="-122"/>
                <a:cs typeface="Calibri" pitchFamily="34" charset="-120"/>
              </a:rPr>
              <a:t>Add a research-style model (the UV-Net / BRepGAT family) that labels machining features face by face. It could pick up compound features our current rules miss.</a:t>
            </a:r>
            <a:endParaRPr lang="en-US" sz="1100" dirty="0"/>
          </a:p>
          <a:p>
            <a:pPr indent="0" marL="0">
              <a:lnSpc>
                <a:spcPct val="106000"/>
              </a:lnSpc>
              <a:buNone/>
            </a:pPr>
            <a:endParaRPr lang="en-US" sz="1100" dirty="0"/>
          </a:p>
          <a:p>
            <a:pPr indent="0" marL="0">
              <a:lnSpc>
                <a:spcPct val="106000"/>
              </a:lnSpc>
              <a:buNone/>
            </a:pPr>
            <a:r>
              <a:rPr lang="en-US" sz="1100" dirty="0">
                <a:solidFill>
                  <a:srgbClr val="9AA7BD"/>
                </a:solidFill>
                <a:latin typeface="Calibri" pitchFamily="34" charset="0"/>
                <a:ea typeface="Calibri" pitchFamily="34" charset="-122"/>
                <a:cs typeface="Calibri" pitchFamily="34" charset="-120"/>
              </a:rPr>
              <a:t>What it would change: better recall on complex parts, and every label is still a face a person can check. Only worth it if it holds up on real JLR parts.</a:t>
            </a:r>
            <a:endParaRPr lang="en-US" sz="1100" dirty="0"/>
          </a:p>
        </p:txBody>
      </p:sp>
      <p:sp>
        <p:nvSpPr>
          <p:cNvPr id="19" name="Shape 17"/>
          <p:cNvSpPr/>
          <p:nvPr/>
        </p:nvSpPr>
        <p:spPr>
          <a:xfrm>
            <a:off x="457200" y="4892040"/>
            <a:ext cx="11292840" cy="1234440"/>
          </a:xfrm>
          <a:prstGeom prst="roundRect">
            <a:avLst>
              <a:gd name="adj" fmla="val 5185"/>
            </a:avLst>
          </a:prstGeom>
          <a:solidFill>
            <a:srgbClr val="141B28"/>
          </a:solidFill>
          <a:ln w="9525">
            <a:solidFill>
              <a:srgbClr val="2B3A52"/>
            </a:solidFill>
            <a:prstDash val="solid"/>
          </a:ln>
        </p:spPr>
      </p:sp>
      <p:sp>
        <p:nvSpPr>
          <p:cNvPr id="20" name="Shape 18"/>
          <p:cNvSpPr/>
          <p:nvPr/>
        </p:nvSpPr>
        <p:spPr>
          <a:xfrm>
            <a:off x="457200" y="4892040"/>
            <a:ext cx="73152" cy="1234440"/>
          </a:xfrm>
          <a:prstGeom prst="rect">
            <a:avLst/>
          </a:prstGeom>
          <a:solidFill>
            <a:srgbClr val="FBBF24"/>
          </a:solidFill>
          <a:ln/>
        </p:spPr>
      </p:sp>
      <p:sp>
        <p:nvSpPr>
          <p:cNvPr id="21" name="Text 19"/>
          <p:cNvSpPr/>
          <p:nvPr/>
        </p:nvSpPr>
        <p:spPr>
          <a:xfrm>
            <a:off x="713232" y="5029200"/>
            <a:ext cx="10789920" cy="320040"/>
          </a:xfrm>
          <a:prstGeom prst="rect">
            <a:avLst/>
          </a:prstGeom>
          <a:noFill/>
          <a:ln/>
        </p:spPr>
        <p:txBody>
          <a:bodyPr wrap="square" lIns="0" tIns="0" rIns="0" bIns="0" rtlCol="0" anchor="t"/>
          <a:lstStyle/>
          <a:p>
            <a:pPr indent="0" marL="0">
              <a:buNone/>
            </a:pPr>
            <a:r>
              <a:rPr lang="en-US" sz="1200" b="1" dirty="0">
                <a:solidFill>
                  <a:srgbClr val="FBBF24"/>
                </a:solidFill>
                <a:latin typeface="Calibri" pitchFamily="34" charset="0"/>
                <a:ea typeface="Calibri" pitchFamily="34" charset="-122"/>
                <a:cs typeface="Calibri" pitchFamily="34" charset="-120"/>
              </a:rPr>
              <a:t>Why this comes last</a:t>
            </a:r>
            <a:endParaRPr lang="en-US" sz="1200" dirty="0"/>
          </a:p>
        </p:txBody>
      </p:sp>
      <p:sp>
        <p:nvSpPr>
          <p:cNvPr id="22" name="Text 20"/>
          <p:cNvSpPr/>
          <p:nvPr/>
        </p:nvSpPr>
        <p:spPr>
          <a:xfrm>
            <a:off x="713232" y="5358384"/>
            <a:ext cx="10881360" cy="713232"/>
          </a:xfrm>
          <a:prstGeom prst="rect">
            <a:avLst/>
          </a:prstGeom>
          <a:noFill/>
          <a:ln/>
        </p:spPr>
        <p:txBody>
          <a:bodyPr wrap="square" lIns="0" tIns="0" rIns="0" bIns="0" rtlCol="0" anchor="t"/>
          <a:lstStyle/>
          <a:p>
            <a:pPr indent="0" marL="0">
              <a:lnSpc>
                <a:spcPct val="110000"/>
              </a:lnSpc>
              <a:buNone/>
            </a:pPr>
            <a:r>
              <a:rPr lang="en-US" sz="1050" dirty="0">
                <a:solidFill>
                  <a:srgbClr val="9AA7BD"/>
                </a:solidFill>
                <a:latin typeface="Calibri" pitchFamily="34" charset="0"/>
                <a:ea typeface="Calibri" pitchFamily="34" charset="-122"/>
                <a:cs typeface="Calibri" pitchFamily="34" charset="-120"/>
              </a:rPr>
              <a:t>It is the most effort, and the published accuracy comes from synthetic test data. It only makes sense once Phase 2 is done and we have real JLR parts to test it on. A learned model would only label features. The cost would still be plain arithmetic, and at JLR any AI would need approval first.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WHAT YOU ASKED FOR, CHECKED AGAINST THE TOOL</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Your two asks — where they stand</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11480" y="1783080"/>
            <a:ext cx="5532120" cy="4343400"/>
          </a:xfrm>
          <a:prstGeom prst="roundRect">
            <a:avLst>
              <a:gd name="adj" fmla="val 1474"/>
            </a:avLst>
          </a:prstGeom>
          <a:solidFill>
            <a:srgbClr val="1C2536"/>
          </a:solidFill>
          <a:ln w="12700">
            <a:solidFill>
              <a:srgbClr val="2DD4BF"/>
            </a:solidFill>
            <a:prstDash val="solid"/>
          </a:ln>
        </p:spPr>
      </p:sp>
      <p:sp>
        <p:nvSpPr>
          <p:cNvPr id="12" name="Shape 10"/>
          <p:cNvSpPr/>
          <p:nvPr/>
        </p:nvSpPr>
        <p:spPr>
          <a:xfrm>
            <a:off x="411480" y="1783080"/>
            <a:ext cx="5532120" cy="45720"/>
          </a:xfrm>
          <a:prstGeom prst="rect">
            <a:avLst/>
          </a:prstGeom>
          <a:solidFill>
            <a:srgbClr val="2DD4BF"/>
          </a:solidFill>
          <a:ln/>
        </p:spPr>
      </p:sp>
      <p:sp>
        <p:nvSpPr>
          <p:cNvPr id="13" name="Text 11"/>
          <p:cNvSpPr/>
          <p:nvPr/>
        </p:nvSpPr>
        <p:spPr>
          <a:xfrm>
            <a:off x="640080" y="1938528"/>
            <a:ext cx="5120640" cy="365760"/>
          </a:xfrm>
          <a:prstGeom prst="rect">
            <a:avLst/>
          </a:prstGeom>
          <a:noFill/>
          <a:ln/>
        </p:spPr>
        <p:txBody>
          <a:bodyPr wrap="square" lIns="0" tIns="0" rIns="0" bIns="0" rtlCol="0" anchor="t"/>
          <a:lstStyle/>
          <a:p>
            <a:pPr indent="0" marL="0">
              <a:buNone/>
            </a:pPr>
            <a:r>
              <a:rPr lang="en-US" sz="1500" b="1" dirty="0">
                <a:solidFill>
                  <a:srgbClr val="2DD4BF"/>
                </a:solidFill>
                <a:latin typeface="Calibri" pitchFamily="34" charset="0"/>
                <a:ea typeface="Calibri" pitchFamily="34" charset="-122"/>
                <a:cs typeface="Calibri" pitchFamily="34" charset="-120"/>
              </a:rPr>
              <a:t>1 · Make the 3D viewer bigger</a:t>
            </a:r>
            <a:endParaRPr lang="en-US" sz="1500" dirty="0"/>
          </a:p>
        </p:txBody>
      </p:sp>
      <p:sp>
        <p:nvSpPr>
          <p:cNvPr id="14" name="Shape 12"/>
          <p:cNvSpPr/>
          <p:nvPr/>
        </p:nvSpPr>
        <p:spPr>
          <a:xfrm>
            <a:off x="658368" y="2450592"/>
            <a:ext cx="82296" cy="82296"/>
          </a:xfrm>
          <a:prstGeom prst="ellipse">
            <a:avLst/>
          </a:prstGeom>
          <a:solidFill>
            <a:srgbClr val="2DD4BF"/>
          </a:solidFill>
          <a:ln/>
        </p:spPr>
      </p:sp>
      <p:sp>
        <p:nvSpPr>
          <p:cNvPr id="15" name="Text 13"/>
          <p:cNvSpPr/>
          <p:nvPr/>
        </p:nvSpPr>
        <p:spPr>
          <a:xfrm>
            <a:off x="841248" y="2377440"/>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Expand button fills the window with the viewer</a:t>
            </a:r>
            <a:endParaRPr lang="en-US" sz="1030" dirty="0"/>
          </a:p>
        </p:txBody>
      </p:sp>
      <p:sp>
        <p:nvSpPr>
          <p:cNvPr id="16" name="Shape 14"/>
          <p:cNvSpPr/>
          <p:nvPr/>
        </p:nvSpPr>
        <p:spPr>
          <a:xfrm>
            <a:off x="658368" y="3017520"/>
            <a:ext cx="82296" cy="82296"/>
          </a:xfrm>
          <a:prstGeom prst="ellipse">
            <a:avLst/>
          </a:prstGeom>
          <a:solidFill>
            <a:srgbClr val="2DD4BF"/>
          </a:solidFill>
          <a:ln/>
        </p:spPr>
      </p:sp>
      <p:sp>
        <p:nvSpPr>
          <p:cNvPr id="17" name="Text 15"/>
          <p:cNvSpPr/>
          <p:nvPr/>
        </p:nvSpPr>
        <p:spPr>
          <a:xfrm>
            <a:off x="841248" y="2944368"/>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Esc returns to the costing layout</a:t>
            </a:r>
            <a:endParaRPr lang="en-US" sz="1030" dirty="0"/>
          </a:p>
        </p:txBody>
      </p:sp>
      <p:sp>
        <p:nvSpPr>
          <p:cNvPr id="18" name="Shape 16"/>
          <p:cNvSpPr/>
          <p:nvPr/>
        </p:nvSpPr>
        <p:spPr>
          <a:xfrm>
            <a:off x="658368" y="3584448"/>
            <a:ext cx="82296" cy="82296"/>
          </a:xfrm>
          <a:prstGeom prst="ellipse">
            <a:avLst/>
          </a:prstGeom>
          <a:solidFill>
            <a:srgbClr val="2DD4BF"/>
          </a:solidFill>
          <a:ln/>
        </p:spPr>
      </p:sp>
      <p:sp>
        <p:nvSpPr>
          <p:cNvPr id="19" name="Text 17"/>
          <p:cNvSpPr/>
          <p:nvPr/>
        </p:nvSpPr>
        <p:spPr>
          <a:xfrm>
            <a:off x="841248" y="3511296"/>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the tools bar can be hidden to give the model room</a:t>
            </a:r>
            <a:endParaRPr lang="en-US" sz="1030" dirty="0"/>
          </a:p>
        </p:txBody>
      </p:sp>
      <p:sp>
        <p:nvSpPr>
          <p:cNvPr id="20" name="Shape 18"/>
          <p:cNvSpPr/>
          <p:nvPr/>
        </p:nvSpPr>
        <p:spPr>
          <a:xfrm>
            <a:off x="658368" y="4151376"/>
            <a:ext cx="82296" cy="82296"/>
          </a:xfrm>
          <a:prstGeom prst="ellipse">
            <a:avLst/>
          </a:prstGeom>
          <a:solidFill>
            <a:srgbClr val="2DD4BF"/>
          </a:solidFill>
          <a:ln/>
        </p:spPr>
      </p:sp>
      <p:sp>
        <p:nvSpPr>
          <p:cNvPr id="21" name="Text 19"/>
          <p:cNvSpPr/>
          <p:nvPr/>
        </p:nvSpPr>
        <p:spPr>
          <a:xfrm>
            <a:off x="841248" y="4078224"/>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toolbar groups can be dragged into your own order</a:t>
            </a:r>
            <a:endParaRPr lang="en-US" sz="1030" dirty="0"/>
          </a:p>
        </p:txBody>
      </p:sp>
      <p:sp>
        <p:nvSpPr>
          <p:cNvPr id="22" name="Shape 20"/>
          <p:cNvSpPr/>
          <p:nvPr/>
        </p:nvSpPr>
        <p:spPr>
          <a:xfrm>
            <a:off x="658368" y="4718304"/>
            <a:ext cx="82296" cy="82296"/>
          </a:xfrm>
          <a:prstGeom prst="ellipse">
            <a:avLst/>
          </a:prstGeom>
          <a:solidFill>
            <a:srgbClr val="2DD4BF"/>
          </a:solidFill>
          <a:ln/>
        </p:spPr>
      </p:sp>
      <p:sp>
        <p:nvSpPr>
          <p:cNvPr id="23" name="Text 21"/>
          <p:cNvSpPr/>
          <p:nvPr/>
        </p:nvSpPr>
        <p:spPr>
          <a:xfrm>
            <a:off x="841248" y="4645152"/>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the model-tree panel can be resized</a:t>
            </a:r>
            <a:endParaRPr lang="en-US" sz="1030" dirty="0"/>
          </a:p>
        </p:txBody>
      </p:sp>
      <p:sp>
        <p:nvSpPr>
          <p:cNvPr id="24" name="Shape 22"/>
          <p:cNvSpPr/>
          <p:nvPr/>
        </p:nvSpPr>
        <p:spPr>
          <a:xfrm>
            <a:off x="658368" y="5285232"/>
            <a:ext cx="82296" cy="82296"/>
          </a:xfrm>
          <a:prstGeom prst="ellipse">
            <a:avLst/>
          </a:prstGeom>
          <a:solidFill>
            <a:srgbClr val="2DD4BF"/>
          </a:solidFill>
          <a:ln/>
        </p:spPr>
      </p:sp>
      <p:sp>
        <p:nvSpPr>
          <p:cNvPr id="25" name="Text 23"/>
          <p:cNvSpPr/>
          <p:nvPr/>
        </p:nvSpPr>
        <p:spPr>
          <a:xfrm>
            <a:off x="841248" y="5212080"/>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Not yet: true operating-system full-screen mode</a:t>
            </a:r>
            <a:endParaRPr lang="en-US" sz="1030" dirty="0"/>
          </a:p>
        </p:txBody>
      </p:sp>
      <p:sp>
        <p:nvSpPr>
          <p:cNvPr id="26" name="Shape 24"/>
          <p:cNvSpPr/>
          <p:nvPr/>
        </p:nvSpPr>
        <p:spPr>
          <a:xfrm>
            <a:off x="6217920" y="1783080"/>
            <a:ext cx="5532120" cy="4343400"/>
          </a:xfrm>
          <a:prstGeom prst="roundRect">
            <a:avLst>
              <a:gd name="adj" fmla="val 1474"/>
            </a:avLst>
          </a:prstGeom>
          <a:solidFill>
            <a:srgbClr val="1C2536"/>
          </a:solidFill>
          <a:ln w="12700">
            <a:solidFill>
              <a:srgbClr val="38BDF8"/>
            </a:solidFill>
            <a:prstDash val="solid"/>
          </a:ln>
        </p:spPr>
      </p:sp>
      <p:sp>
        <p:nvSpPr>
          <p:cNvPr id="27" name="Shape 25"/>
          <p:cNvSpPr/>
          <p:nvPr/>
        </p:nvSpPr>
        <p:spPr>
          <a:xfrm>
            <a:off x="6217920" y="1783080"/>
            <a:ext cx="5532120" cy="45720"/>
          </a:xfrm>
          <a:prstGeom prst="rect">
            <a:avLst/>
          </a:prstGeom>
          <a:solidFill>
            <a:srgbClr val="38BDF8"/>
          </a:solidFill>
          <a:ln/>
        </p:spPr>
      </p:sp>
      <p:sp>
        <p:nvSpPr>
          <p:cNvPr id="28" name="Text 26"/>
          <p:cNvSpPr/>
          <p:nvPr/>
        </p:nvSpPr>
        <p:spPr>
          <a:xfrm>
            <a:off x="6446520" y="1938528"/>
            <a:ext cx="5120640" cy="365760"/>
          </a:xfrm>
          <a:prstGeom prst="rect">
            <a:avLst/>
          </a:prstGeom>
          <a:noFill/>
          <a:ln/>
        </p:spPr>
        <p:txBody>
          <a:bodyPr wrap="square" lIns="0" tIns="0" rIns="0" bIns="0" rtlCol="0" anchor="t"/>
          <a:lstStyle/>
          <a:p>
            <a:pPr indent="0" marL="0">
              <a:buNone/>
            </a:pPr>
            <a:r>
              <a:rPr lang="en-US" sz="1500" b="1" dirty="0">
                <a:solidFill>
                  <a:srgbClr val="38BDF8"/>
                </a:solidFill>
                <a:latin typeface="Calibri" pitchFamily="34" charset="0"/>
                <a:ea typeface="Calibri" pitchFamily="34" charset="-122"/>
                <a:cs typeface="Calibri" pitchFamily="34" charset="-120"/>
              </a:rPr>
              <a:t>2 · A CAD-software feel</a:t>
            </a:r>
            <a:endParaRPr lang="en-US" sz="1500" dirty="0"/>
          </a:p>
        </p:txBody>
      </p:sp>
      <p:sp>
        <p:nvSpPr>
          <p:cNvPr id="29" name="Shape 27"/>
          <p:cNvSpPr/>
          <p:nvPr/>
        </p:nvSpPr>
        <p:spPr>
          <a:xfrm>
            <a:off x="6464808" y="2450592"/>
            <a:ext cx="82296" cy="82296"/>
          </a:xfrm>
          <a:prstGeom prst="ellipse">
            <a:avLst/>
          </a:prstGeom>
          <a:solidFill>
            <a:srgbClr val="38BDF8"/>
          </a:solidFill>
          <a:ln/>
        </p:spPr>
      </p:sp>
      <p:sp>
        <p:nvSpPr>
          <p:cNvPr id="30" name="Text 28"/>
          <p:cNvSpPr/>
          <p:nvPr/>
        </p:nvSpPr>
        <p:spPr>
          <a:xfrm>
            <a:off x="6647688" y="2377440"/>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orientation cube and standard views</a:t>
            </a:r>
            <a:endParaRPr lang="en-US" sz="1030" dirty="0"/>
          </a:p>
        </p:txBody>
      </p:sp>
      <p:sp>
        <p:nvSpPr>
          <p:cNvPr id="31" name="Shape 29"/>
          <p:cNvSpPr/>
          <p:nvPr/>
        </p:nvSpPr>
        <p:spPr>
          <a:xfrm>
            <a:off x="6464808" y="3017520"/>
            <a:ext cx="82296" cy="82296"/>
          </a:xfrm>
          <a:prstGeom prst="ellipse">
            <a:avLst/>
          </a:prstGeom>
          <a:solidFill>
            <a:srgbClr val="38BDF8"/>
          </a:solidFill>
          <a:ln/>
        </p:spPr>
      </p:sp>
      <p:sp>
        <p:nvSpPr>
          <p:cNvPr id="32" name="Text 30"/>
          <p:cNvSpPr/>
          <p:nvPr/>
        </p:nvSpPr>
        <p:spPr>
          <a:xfrm>
            <a:off x="6647688" y="2944368"/>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model tree; click a row and its faces light up</a:t>
            </a:r>
            <a:endParaRPr lang="en-US" sz="1030" dirty="0"/>
          </a:p>
        </p:txBody>
      </p:sp>
      <p:sp>
        <p:nvSpPr>
          <p:cNvPr id="33" name="Shape 31"/>
          <p:cNvSpPr/>
          <p:nvPr/>
        </p:nvSpPr>
        <p:spPr>
          <a:xfrm>
            <a:off x="6464808" y="3584448"/>
            <a:ext cx="82296" cy="82296"/>
          </a:xfrm>
          <a:prstGeom prst="ellipse">
            <a:avLst/>
          </a:prstGeom>
          <a:solidFill>
            <a:srgbClr val="38BDF8"/>
          </a:solidFill>
          <a:ln/>
        </p:spPr>
      </p:sp>
      <p:sp>
        <p:nvSpPr>
          <p:cNvPr id="34" name="Text 32"/>
          <p:cNvSpPr/>
          <p:nvPr/>
        </p:nvSpPr>
        <p:spPr>
          <a:xfrm>
            <a:off x="6647688" y="3511296"/>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thickness, draft and undercut colours on the model</a:t>
            </a:r>
            <a:endParaRPr lang="en-US" sz="1030" dirty="0"/>
          </a:p>
        </p:txBody>
      </p:sp>
      <p:sp>
        <p:nvSpPr>
          <p:cNvPr id="35" name="Shape 33"/>
          <p:cNvSpPr/>
          <p:nvPr/>
        </p:nvSpPr>
        <p:spPr>
          <a:xfrm>
            <a:off x="6464808" y="4151376"/>
            <a:ext cx="82296" cy="82296"/>
          </a:xfrm>
          <a:prstGeom prst="ellipse">
            <a:avLst/>
          </a:prstGeom>
          <a:solidFill>
            <a:srgbClr val="38BDF8"/>
          </a:solidFill>
          <a:ln/>
        </p:spPr>
      </p:sp>
      <p:sp>
        <p:nvSpPr>
          <p:cNvPr id="36" name="Text 34"/>
          <p:cNvSpPr/>
          <p:nvPr/>
        </p:nvSpPr>
        <p:spPr>
          <a:xfrm>
            <a:off x="6647688" y="4078224"/>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X/Y/Z sections and exploded view (no solid caps yet)</a:t>
            </a:r>
            <a:endParaRPr lang="en-US" sz="1030" dirty="0"/>
          </a:p>
        </p:txBody>
      </p:sp>
      <p:sp>
        <p:nvSpPr>
          <p:cNvPr id="37" name="Shape 35"/>
          <p:cNvSpPr/>
          <p:nvPr/>
        </p:nvSpPr>
        <p:spPr>
          <a:xfrm>
            <a:off x="6464808" y="4718304"/>
            <a:ext cx="82296" cy="82296"/>
          </a:xfrm>
          <a:prstGeom prst="ellipse">
            <a:avLst/>
          </a:prstGeom>
          <a:solidFill>
            <a:srgbClr val="38BDF8"/>
          </a:solidFill>
          <a:ln/>
        </p:spPr>
      </p:sp>
      <p:sp>
        <p:nvSpPr>
          <p:cNvPr id="38" name="Text 36"/>
          <p:cNvSpPr/>
          <p:nvPr/>
        </p:nvSpPr>
        <p:spPr>
          <a:xfrm>
            <a:off x="6647688" y="4645152"/>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radius, angle, point and face-to-face measuring</a:t>
            </a:r>
            <a:endParaRPr lang="en-US" sz="1030" dirty="0"/>
          </a:p>
        </p:txBody>
      </p:sp>
      <p:sp>
        <p:nvSpPr>
          <p:cNvPr id="39" name="Shape 37"/>
          <p:cNvSpPr/>
          <p:nvPr/>
        </p:nvSpPr>
        <p:spPr>
          <a:xfrm>
            <a:off x="6464808" y="5285232"/>
            <a:ext cx="82296" cy="82296"/>
          </a:xfrm>
          <a:prstGeom prst="ellipse">
            <a:avLst/>
          </a:prstGeom>
          <a:solidFill>
            <a:srgbClr val="38BDF8"/>
          </a:solidFill>
          <a:ln/>
        </p:spPr>
      </p:sp>
      <p:sp>
        <p:nvSpPr>
          <p:cNvPr id="40" name="Text 38"/>
          <p:cNvSpPr/>
          <p:nvPr/>
        </p:nvSpPr>
        <p:spPr>
          <a:xfrm>
            <a:off x="6647688" y="5212080"/>
            <a:ext cx="4937760" cy="457200"/>
          </a:xfrm>
          <a:prstGeom prst="rect">
            <a:avLst/>
          </a:prstGeom>
          <a:noFill/>
          <a:ln/>
        </p:spPr>
        <p:txBody>
          <a:bodyPr wrap="square" lIns="0" tIns="0" rIns="0" bIns="0" rtlCol="0" anchor="t"/>
          <a:lstStyle/>
          <a:p>
            <a:pPr indent="0" marL="0">
              <a:lnSpc>
                <a:spcPct val="104000"/>
              </a:lnSpc>
              <a:buNone/>
            </a:pPr>
            <a:r>
              <a:rPr lang="en-US" sz="1030" dirty="0">
                <a:solidFill>
                  <a:srgbClr val="9AA7BD"/>
                </a:solidFill>
                <a:latin typeface="Calibri" pitchFamily="34" charset="0"/>
                <a:ea typeface="Calibri" pitchFamily="34" charset="-122"/>
                <a:cs typeface="Calibri" pitchFamily="34" charset="-120"/>
              </a:rPr>
              <a:t>Built: £ per face after a CAD costing</a:t>
            </a:r>
            <a:endParaRPr lang="en-US" sz="10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BENEFITS AND NEXT STEPS</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Why it matters, and what I recommend next</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11480" y="1783080"/>
            <a:ext cx="3685032" cy="1417320"/>
          </a:xfrm>
          <a:prstGeom prst="roundRect">
            <a:avLst>
              <a:gd name="adj" fmla="val 4516"/>
            </a:avLst>
          </a:prstGeom>
          <a:solidFill>
            <a:srgbClr val="1C2536"/>
          </a:solidFill>
          <a:ln w="9525">
            <a:solidFill>
              <a:srgbClr val="2B3A52"/>
            </a:solidFill>
            <a:prstDash val="solid"/>
          </a:ln>
        </p:spPr>
      </p:sp>
      <p:sp>
        <p:nvSpPr>
          <p:cNvPr id="12" name="Shape 10"/>
          <p:cNvSpPr/>
          <p:nvPr/>
        </p:nvSpPr>
        <p:spPr>
          <a:xfrm>
            <a:off x="411480" y="1783080"/>
            <a:ext cx="64008" cy="1417320"/>
          </a:xfrm>
          <a:prstGeom prst="rect">
            <a:avLst/>
          </a:prstGeom>
          <a:solidFill>
            <a:srgbClr val="34D399"/>
          </a:solidFill>
          <a:ln/>
        </p:spPr>
      </p:sp>
      <p:sp>
        <p:nvSpPr>
          <p:cNvPr id="13" name="Text 11"/>
          <p:cNvSpPr/>
          <p:nvPr/>
        </p:nvSpPr>
        <p:spPr>
          <a:xfrm>
            <a:off x="594360" y="189280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Less typing</a:t>
            </a:r>
            <a:endParaRPr lang="en-US" sz="1150" dirty="0"/>
          </a:p>
        </p:txBody>
      </p:sp>
      <p:sp>
        <p:nvSpPr>
          <p:cNvPr id="14" name="Text 12"/>
          <p:cNvSpPr/>
          <p:nvPr/>
        </p:nvSpPr>
        <p:spPr>
          <a:xfrm>
            <a:off x="594360" y="2203704"/>
            <a:ext cx="3374136" cy="96012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Each feature read from the CAD is a field nobody types. Where geometry cannot decide, the tool asks.</a:t>
            </a:r>
            <a:endParaRPr lang="en-US" sz="1050" dirty="0"/>
          </a:p>
        </p:txBody>
      </p:sp>
      <p:sp>
        <p:nvSpPr>
          <p:cNvPr id="15" name="Shape 13"/>
          <p:cNvSpPr/>
          <p:nvPr/>
        </p:nvSpPr>
        <p:spPr>
          <a:xfrm>
            <a:off x="4215384" y="1783080"/>
            <a:ext cx="3685032" cy="1417320"/>
          </a:xfrm>
          <a:prstGeom prst="roundRect">
            <a:avLst>
              <a:gd name="adj" fmla="val 4516"/>
            </a:avLst>
          </a:prstGeom>
          <a:solidFill>
            <a:srgbClr val="1C2536"/>
          </a:solidFill>
          <a:ln w="9525">
            <a:solidFill>
              <a:srgbClr val="2B3A52"/>
            </a:solidFill>
            <a:prstDash val="solid"/>
          </a:ln>
        </p:spPr>
      </p:sp>
      <p:sp>
        <p:nvSpPr>
          <p:cNvPr id="16" name="Shape 14"/>
          <p:cNvSpPr/>
          <p:nvPr/>
        </p:nvSpPr>
        <p:spPr>
          <a:xfrm>
            <a:off x="4215384" y="1783080"/>
            <a:ext cx="64008" cy="1417320"/>
          </a:xfrm>
          <a:prstGeom prst="rect">
            <a:avLst/>
          </a:prstGeom>
          <a:solidFill>
            <a:srgbClr val="2DD4BF"/>
          </a:solidFill>
          <a:ln/>
        </p:spPr>
      </p:sp>
      <p:sp>
        <p:nvSpPr>
          <p:cNvPr id="17" name="Text 15"/>
          <p:cNvSpPr/>
          <p:nvPr/>
        </p:nvSpPr>
        <p:spPr>
          <a:xfrm>
            <a:off x="4398264" y="189280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Fewer slips</a:t>
            </a:r>
            <a:endParaRPr lang="en-US" sz="1150" dirty="0"/>
          </a:p>
        </p:txBody>
      </p:sp>
      <p:sp>
        <p:nvSpPr>
          <p:cNvPr id="18" name="Text 16"/>
          <p:cNvSpPr/>
          <p:nvPr/>
        </p:nvSpPr>
        <p:spPr>
          <a:xfrm>
            <a:off x="4398264" y="2203704"/>
            <a:ext cx="3374136" cy="96012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A measured value cannot be mistyped. Every input traces back to the geometry or a rate.</a:t>
            </a:r>
            <a:endParaRPr lang="en-US" sz="1050" dirty="0"/>
          </a:p>
        </p:txBody>
      </p:sp>
      <p:sp>
        <p:nvSpPr>
          <p:cNvPr id="19" name="Shape 17"/>
          <p:cNvSpPr/>
          <p:nvPr/>
        </p:nvSpPr>
        <p:spPr>
          <a:xfrm>
            <a:off x="8019288" y="1783080"/>
            <a:ext cx="3685032" cy="1417320"/>
          </a:xfrm>
          <a:prstGeom prst="roundRect">
            <a:avLst>
              <a:gd name="adj" fmla="val 4516"/>
            </a:avLst>
          </a:prstGeom>
          <a:solidFill>
            <a:srgbClr val="1C2536"/>
          </a:solidFill>
          <a:ln w="9525">
            <a:solidFill>
              <a:srgbClr val="2B3A52"/>
            </a:solidFill>
            <a:prstDash val="solid"/>
          </a:ln>
        </p:spPr>
      </p:sp>
      <p:sp>
        <p:nvSpPr>
          <p:cNvPr id="20" name="Shape 18"/>
          <p:cNvSpPr/>
          <p:nvPr/>
        </p:nvSpPr>
        <p:spPr>
          <a:xfrm>
            <a:off x="8019288" y="1783080"/>
            <a:ext cx="64008" cy="1417320"/>
          </a:xfrm>
          <a:prstGeom prst="rect">
            <a:avLst/>
          </a:prstGeom>
          <a:solidFill>
            <a:srgbClr val="38BDF8"/>
          </a:solidFill>
          <a:ln/>
        </p:spPr>
      </p:sp>
      <p:sp>
        <p:nvSpPr>
          <p:cNvPr id="21" name="Text 19"/>
          <p:cNvSpPr/>
          <p:nvPr/>
        </p:nvSpPr>
        <p:spPr>
          <a:xfrm>
            <a:off x="8202168" y="1892808"/>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Design issues seen early</a:t>
            </a:r>
            <a:endParaRPr lang="en-US" sz="1150" dirty="0"/>
          </a:p>
        </p:txBody>
      </p:sp>
      <p:sp>
        <p:nvSpPr>
          <p:cNvPr id="22" name="Text 20"/>
          <p:cNvSpPr/>
          <p:nvPr/>
        </p:nvSpPr>
        <p:spPr>
          <a:xfrm>
            <a:off x="8202168" y="2203704"/>
            <a:ext cx="3374136" cy="96012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Thin walls, zero draft and undercuts show on the model while a change is still cheap.</a:t>
            </a:r>
            <a:endParaRPr lang="en-US" sz="1050" dirty="0"/>
          </a:p>
        </p:txBody>
      </p:sp>
      <p:sp>
        <p:nvSpPr>
          <p:cNvPr id="23" name="Shape 21"/>
          <p:cNvSpPr/>
          <p:nvPr/>
        </p:nvSpPr>
        <p:spPr>
          <a:xfrm>
            <a:off x="411480" y="3319272"/>
            <a:ext cx="3685032" cy="1417320"/>
          </a:xfrm>
          <a:prstGeom prst="roundRect">
            <a:avLst>
              <a:gd name="adj" fmla="val 4516"/>
            </a:avLst>
          </a:prstGeom>
          <a:solidFill>
            <a:srgbClr val="1C2536"/>
          </a:solidFill>
          <a:ln w="9525">
            <a:solidFill>
              <a:srgbClr val="2B3A52"/>
            </a:solidFill>
            <a:prstDash val="solid"/>
          </a:ln>
        </p:spPr>
      </p:sp>
      <p:sp>
        <p:nvSpPr>
          <p:cNvPr id="24" name="Shape 22"/>
          <p:cNvSpPr/>
          <p:nvPr/>
        </p:nvSpPr>
        <p:spPr>
          <a:xfrm>
            <a:off x="411480" y="3319272"/>
            <a:ext cx="64008" cy="1417320"/>
          </a:xfrm>
          <a:prstGeom prst="rect">
            <a:avLst/>
          </a:prstGeom>
          <a:solidFill>
            <a:srgbClr val="A78BFA"/>
          </a:solidFill>
          <a:ln/>
        </p:spPr>
      </p:sp>
      <p:sp>
        <p:nvSpPr>
          <p:cNvPr id="25" name="Text 23"/>
          <p:cNvSpPr/>
          <p:nvPr/>
        </p:nvSpPr>
        <p:spPr>
          <a:xfrm>
            <a:off x="594360" y="342900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Easier to explain</a:t>
            </a:r>
            <a:endParaRPr lang="en-US" sz="1150" dirty="0"/>
          </a:p>
        </p:txBody>
      </p:sp>
      <p:sp>
        <p:nvSpPr>
          <p:cNvPr id="26" name="Text 24"/>
          <p:cNvSpPr/>
          <p:nvPr/>
        </p:nvSpPr>
        <p:spPr>
          <a:xfrm>
            <a:off x="594360" y="3739896"/>
            <a:ext cx="3374136" cy="96012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Click a face to see what was measured, and where the money sits. The model backs up the number.</a:t>
            </a:r>
            <a:endParaRPr lang="en-US" sz="1050" dirty="0"/>
          </a:p>
        </p:txBody>
      </p:sp>
      <p:sp>
        <p:nvSpPr>
          <p:cNvPr id="27" name="Shape 25"/>
          <p:cNvSpPr/>
          <p:nvPr/>
        </p:nvSpPr>
        <p:spPr>
          <a:xfrm>
            <a:off x="4215384" y="3319272"/>
            <a:ext cx="3685032" cy="1417320"/>
          </a:xfrm>
          <a:prstGeom prst="roundRect">
            <a:avLst>
              <a:gd name="adj" fmla="val 4516"/>
            </a:avLst>
          </a:prstGeom>
          <a:solidFill>
            <a:srgbClr val="1C2536"/>
          </a:solidFill>
          <a:ln w="9525">
            <a:solidFill>
              <a:srgbClr val="2B3A52"/>
            </a:solidFill>
            <a:prstDash val="solid"/>
          </a:ln>
        </p:spPr>
      </p:sp>
      <p:sp>
        <p:nvSpPr>
          <p:cNvPr id="28" name="Shape 26"/>
          <p:cNvSpPr/>
          <p:nvPr/>
        </p:nvSpPr>
        <p:spPr>
          <a:xfrm>
            <a:off x="4215384" y="3319272"/>
            <a:ext cx="64008" cy="1417320"/>
          </a:xfrm>
          <a:prstGeom prst="rect">
            <a:avLst/>
          </a:prstGeom>
          <a:solidFill>
            <a:srgbClr val="FBBF24"/>
          </a:solidFill>
          <a:ln/>
        </p:spPr>
      </p:sp>
      <p:sp>
        <p:nvSpPr>
          <p:cNvPr id="29" name="Text 27"/>
          <p:cNvSpPr/>
          <p:nvPr/>
        </p:nvSpPr>
        <p:spPr>
          <a:xfrm>
            <a:off x="4398264" y="342900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Tolerance-aware cost (future)</a:t>
            </a:r>
            <a:endParaRPr lang="en-US" sz="1150" dirty="0"/>
          </a:p>
        </p:txBody>
      </p:sp>
      <p:sp>
        <p:nvSpPr>
          <p:cNvPr id="30" name="Text 28"/>
          <p:cNvSpPr/>
          <p:nvPr/>
        </p:nvSpPr>
        <p:spPr>
          <a:xfrm>
            <a:off x="4398264" y="3739896"/>
            <a:ext cx="3374136" cy="96012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Reading GD&amp;T from the file would price precision parts from the model itself. Not built yet.</a:t>
            </a:r>
            <a:endParaRPr lang="en-US" sz="1050" dirty="0"/>
          </a:p>
        </p:txBody>
      </p:sp>
      <p:sp>
        <p:nvSpPr>
          <p:cNvPr id="31" name="Shape 29"/>
          <p:cNvSpPr/>
          <p:nvPr/>
        </p:nvSpPr>
        <p:spPr>
          <a:xfrm>
            <a:off x="8019288" y="3319272"/>
            <a:ext cx="3685032" cy="1417320"/>
          </a:xfrm>
          <a:prstGeom prst="roundRect">
            <a:avLst>
              <a:gd name="adj" fmla="val 4516"/>
            </a:avLst>
          </a:prstGeom>
          <a:solidFill>
            <a:srgbClr val="1C2536"/>
          </a:solidFill>
          <a:ln w="9525">
            <a:solidFill>
              <a:srgbClr val="2B3A52"/>
            </a:solidFill>
            <a:prstDash val="solid"/>
          </a:ln>
        </p:spPr>
      </p:sp>
      <p:sp>
        <p:nvSpPr>
          <p:cNvPr id="32" name="Shape 30"/>
          <p:cNvSpPr/>
          <p:nvPr/>
        </p:nvSpPr>
        <p:spPr>
          <a:xfrm>
            <a:off x="8019288" y="3319272"/>
            <a:ext cx="64008" cy="1417320"/>
          </a:xfrm>
          <a:prstGeom prst="rect">
            <a:avLst/>
          </a:prstGeom>
          <a:solidFill>
            <a:srgbClr val="34D399"/>
          </a:solidFill>
          <a:ln/>
        </p:spPr>
      </p:sp>
      <p:sp>
        <p:nvSpPr>
          <p:cNvPr id="33" name="Text 31"/>
          <p:cNvSpPr/>
          <p:nvPr/>
        </p:nvSpPr>
        <p:spPr>
          <a:xfrm>
            <a:off x="8202168" y="3429000"/>
            <a:ext cx="3374136" cy="365760"/>
          </a:xfrm>
          <a:prstGeom prst="rect">
            <a:avLst/>
          </a:prstGeom>
          <a:noFill/>
          <a:ln/>
        </p:spPr>
        <p:txBody>
          <a:bodyPr wrap="square" lIns="0" tIns="0" rIns="0" bIns="0" rtlCol="0" anchor="t"/>
          <a:lstStyle/>
          <a:p>
            <a:pPr indent="0" marL="0">
              <a:buNone/>
            </a:pPr>
            <a:r>
              <a:rPr lang="en-US" sz="1150" b="1" dirty="0">
                <a:solidFill>
                  <a:srgbClr val="EAF0F8"/>
                </a:solidFill>
                <a:latin typeface="Calibri" pitchFamily="34" charset="0"/>
                <a:ea typeface="Calibri" pitchFamily="34" charset="-122"/>
                <a:cs typeface="Calibri" pitchFamily="34" charset="-120"/>
              </a:rPr>
              <a:t>Still traceable</a:t>
            </a:r>
            <a:endParaRPr lang="en-US" sz="1150" dirty="0"/>
          </a:p>
        </p:txBody>
      </p:sp>
      <p:sp>
        <p:nvSpPr>
          <p:cNvPr id="34" name="Text 32"/>
          <p:cNvSpPr/>
          <p:nvPr/>
        </p:nvSpPr>
        <p:spPr>
          <a:xfrm>
            <a:off x="8202168" y="3739896"/>
            <a:ext cx="3374136" cy="960120"/>
          </a:xfrm>
          <a:prstGeom prst="rect">
            <a:avLst/>
          </a:prstGeom>
          <a:noFill/>
          <a:ln/>
        </p:spPr>
        <p:txBody>
          <a:bodyPr wrap="square" lIns="0" tIns="0" rIns="0" bIns="0" rtlCol="0" anchor="t"/>
          <a:lstStyle/>
          <a:p>
            <a:pPr indent="0" marL="0">
              <a:lnSpc>
                <a:spcPct val="106000"/>
              </a:lnSpc>
              <a:buNone/>
            </a:pPr>
            <a:r>
              <a:rPr lang="en-US" sz="1050" dirty="0">
                <a:solidFill>
                  <a:srgbClr val="9AA7BD"/>
                </a:solidFill>
                <a:latin typeface="Calibri" pitchFamily="34" charset="0"/>
                <a:ea typeface="Calibri" pitchFamily="34" charset="-122"/>
                <a:cs typeface="Calibri" pitchFamily="34" charset="-120"/>
              </a:rPr>
              <a:t>The tool measures and calculates. AI never sets a price, and at JLR it is switched off.</a:t>
            </a:r>
            <a:endParaRPr lang="en-US" sz="1050" dirty="0"/>
          </a:p>
        </p:txBody>
      </p:sp>
      <p:sp>
        <p:nvSpPr>
          <p:cNvPr id="35" name="Shape 33"/>
          <p:cNvSpPr/>
          <p:nvPr/>
        </p:nvSpPr>
        <p:spPr>
          <a:xfrm>
            <a:off x="411480" y="4892040"/>
            <a:ext cx="11384280" cy="1280160"/>
          </a:xfrm>
          <a:prstGeom prst="roundRect">
            <a:avLst>
              <a:gd name="adj" fmla="val 5000"/>
            </a:avLst>
          </a:prstGeom>
          <a:solidFill>
            <a:srgbClr val="10202E"/>
          </a:solidFill>
          <a:ln w="12700">
            <a:solidFill>
              <a:srgbClr val="34D399"/>
            </a:solidFill>
            <a:prstDash val="solid"/>
          </a:ln>
        </p:spPr>
      </p:sp>
      <p:sp>
        <p:nvSpPr>
          <p:cNvPr id="36" name="Shape 34"/>
          <p:cNvSpPr/>
          <p:nvPr/>
        </p:nvSpPr>
        <p:spPr>
          <a:xfrm>
            <a:off x="411480" y="4892040"/>
            <a:ext cx="73152" cy="1280160"/>
          </a:xfrm>
          <a:prstGeom prst="rect">
            <a:avLst/>
          </a:prstGeom>
          <a:solidFill>
            <a:srgbClr val="34D399"/>
          </a:solidFill>
          <a:ln/>
        </p:spPr>
      </p:sp>
      <p:sp>
        <p:nvSpPr>
          <p:cNvPr id="37" name="Text 35"/>
          <p:cNvSpPr/>
          <p:nvPr/>
        </p:nvSpPr>
        <p:spPr>
          <a:xfrm>
            <a:off x="685800" y="5029200"/>
            <a:ext cx="3657600" cy="320040"/>
          </a:xfrm>
          <a:prstGeom prst="rect">
            <a:avLst/>
          </a:prstGeom>
          <a:noFill/>
          <a:ln/>
        </p:spPr>
        <p:txBody>
          <a:bodyPr wrap="square" lIns="0" tIns="0" rIns="0" bIns="0" rtlCol="0" anchor="t"/>
          <a:lstStyle/>
          <a:p>
            <a:pPr indent="0" marL="0">
              <a:buNone/>
            </a:pPr>
            <a:r>
              <a:rPr lang="en-US" sz="1300" b="1" dirty="0">
                <a:solidFill>
                  <a:srgbClr val="34D399"/>
                </a:solidFill>
                <a:latin typeface="Calibri" pitchFamily="34" charset="0"/>
                <a:ea typeface="Calibri" pitchFamily="34" charset="-122"/>
                <a:cs typeface="Calibri" pitchFamily="34" charset="-120"/>
              </a:rPr>
              <a:t>Recommendation</a:t>
            </a:r>
            <a:endParaRPr lang="en-US" sz="1300" dirty="0"/>
          </a:p>
        </p:txBody>
      </p:sp>
      <p:sp>
        <p:nvSpPr>
          <p:cNvPr id="38" name="Text 36"/>
          <p:cNvSpPr/>
          <p:nvPr/>
        </p:nvSpPr>
        <p:spPr>
          <a:xfrm>
            <a:off x="685800" y="5376672"/>
            <a:ext cx="10881360" cy="731520"/>
          </a:xfrm>
          <a:prstGeom prst="rect">
            <a:avLst/>
          </a:prstGeom>
          <a:noFill/>
          <a:ln/>
        </p:spPr>
        <p:txBody>
          <a:bodyPr wrap="square" lIns="0" tIns="0" rIns="0" bIns="0" rtlCol="0" anchor="t"/>
          <a:lstStyle/>
          <a:p>
            <a:pPr indent="0" marL="0">
              <a:lnSpc>
                <a:spcPct val="112000"/>
              </a:lnSpc>
              <a:buNone/>
            </a:pPr>
            <a:r>
              <a:rPr lang="en-US" sz="1100" b="1" dirty="0">
                <a:solidFill>
                  <a:srgbClr val="EAF0F8"/>
                </a:solidFill>
                <a:latin typeface="Calibri" pitchFamily="34" charset="0"/>
                <a:ea typeface="Calibri" pitchFamily="34" charset="-122"/>
                <a:cs typeface="Calibri" pitchFamily="34" charset="-120"/>
              </a:rPr>
              <a:t>Use what is built on real JLR parts, and log actual prices</a:t>
            </a:r>
            <a:pPr indent="0" marL="0">
              <a:lnSpc>
                <a:spcPct val="112000"/>
              </a:lnSpc>
              <a:buNone/>
            </a:pPr>
            <a:r>
              <a:rPr lang="en-US" sz="1100" dirty="0">
                <a:solidFill>
                  <a:srgbClr val="9AA7BD"/>
                </a:solidFill>
                <a:latin typeface="Calibri" pitchFamily="34" charset="0"/>
                <a:ea typeface="Calibri" pitchFamily="34" charset="-122"/>
                <a:cs typeface="Calibri" pitchFamily="34" charset="-120"/>
              </a:rPr>
              <a:t> so we learn how close the estimates are. Next build: solid section caps, then chamfer, slot and thread recognition, and a better STL path. Tolerances from STEP AP242 after that. Phase 3 stays a research track.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0F17"/>
          </a:solidFill>
          <a:ln/>
        </p:spPr>
      </p:sp>
      <p:sp>
        <p:nvSpPr>
          <p:cNvPr id="3" name="Shape 1"/>
          <p:cNvSpPr/>
          <p:nvPr/>
        </p:nvSpPr>
        <p:spPr>
          <a:xfrm>
            <a:off x="365760" y="310896"/>
            <a:ext cx="365760" cy="365760"/>
          </a:xfrm>
          <a:prstGeom prst="roundRect">
            <a:avLst>
              <a:gd name="adj" fmla="val 25000"/>
            </a:avLst>
          </a:prstGeom>
          <a:solidFill>
            <a:srgbClr val="2DD4BF"/>
          </a:solidFill>
          <a:ln/>
        </p:spPr>
      </p:sp>
      <p:sp>
        <p:nvSpPr>
          <p:cNvPr id="4" name="Text 2"/>
          <p:cNvSpPr/>
          <p:nvPr/>
        </p:nvSpPr>
        <p:spPr>
          <a:xfrm>
            <a:off x="365760" y="310896"/>
            <a:ext cx="365760" cy="365760"/>
          </a:xfrm>
          <a:prstGeom prst="rect">
            <a:avLst/>
          </a:prstGeom>
          <a:noFill/>
          <a:ln/>
        </p:spPr>
        <p:txBody>
          <a:bodyPr wrap="square" lIns="0" tIns="0" rIns="0" bIns="0" rtlCol="0" anchor="ctr"/>
          <a:lstStyle/>
          <a:p>
            <a:pPr algn="ctr" indent="0" marL="0">
              <a:buNone/>
            </a:pPr>
            <a:r>
              <a:rPr lang="en-US" sz="1600" b="1" dirty="0">
                <a:solidFill>
                  <a:srgbClr val="0B0F17"/>
                </a:solidFill>
                <a:latin typeface="Calibri" pitchFamily="34" charset="0"/>
                <a:ea typeface="Calibri" pitchFamily="34" charset="-122"/>
                <a:cs typeface="Calibri" pitchFamily="34" charset="-120"/>
              </a:rPr>
              <a:t>cv</a:t>
            </a:r>
            <a:endParaRPr lang="en-US" sz="1600" dirty="0"/>
          </a:p>
        </p:txBody>
      </p:sp>
      <p:sp>
        <p:nvSpPr>
          <p:cNvPr id="5" name="Text 3"/>
          <p:cNvSpPr/>
          <p:nvPr/>
        </p:nvSpPr>
        <p:spPr>
          <a:xfrm>
            <a:off x="822960" y="283464"/>
            <a:ext cx="2926080" cy="274320"/>
          </a:xfrm>
          <a:prstGeom prst="rect">
            <a:avLst/>
          </a:prstGeom>
          <a:noFill/>
          <a:ln/>
        </p:spPr>
        <p:txBody>
          <a:bodyPr wrap="square" lIns="0" tIns="0" rIns="0" bIns="0" rtlCol="0" anchor="t"/>
          <a:lstStyle/>
          <a:p>
            <a:pPr indent="0" marL="0">
              <a:buNone/>
            </a:pPr>
            <a:r>
              <a:rPr lang="en-US" sz="1600" b="1" dirty="0">
                <a:solidFill>
                  <a:srgbClr val="EAF0F8"/>
                </a:solidFill>
                <a:latin typeface="Calibri" pitchFamily="34" charset="0"/>
                <a:ea typeface="Calibri" pitchFamily="34" charset="-122"/>
                <a:cs typeface="Calibri" pitchFamily="34" charset="-120"/>
              </a:rPr>
              <a:t>CostVision</a:t>
            </a:r>
            <a:endParaRPr lang="en-US" sz="1600" dirty="0"/>
          </a:p>
        </p:txBody>
      </p:sp>
      <p:sp>
        <p:nvSpPr>
          <p:cNvPr id="6" name="Text 4"/>
          <p:cNvSpPr/>
          <p:nvPr/>
        </p:nvSpPr>
        <p:spPr>
          <a:xfrm>
            <a:off x="822960" y="512064"/>
            <a:ext cx="3108960" cy="182880"/>
          </a:xfrm>
          <a:prstGeom prst="rect">
            <a:avLst/>
          </a:prstGeom>
          <a:noFill/>
          <a:ln/>
        </p:spPr>
        <p:txBody>
          <a:bodyPr wrap="square" lIns="0" tIns="0" rIns="0" bIns="0" rtlCol="0" anchor="t"/>
          <a:lstStyle/>
          <a:p>
            <a:pPr indent="0" marL="0">
              <a:buNone/>
            </a:pPr>
            <a:r>
              <a:rPr lang="en-US" sz="750" spc="150" kern="0" dirty="0">
                <a:solidFill>
                  <a:srgbClr val="5C6B85"/>
                </a:solidFill>
                <a:latin typeface="Calibri" pitchFamily="34" charset="0"/>
                <a:ea typeface="Calibri" pitchFamily="34" charset="-122"/>
                <a:cs typeface="Calibri" pitchFamily="34" charset="-120"/>
              </a:rPr>
              <a:t>CAD-TO-COST  INTELLIGENCE</a:t>
            </a:r>
            <a:endParaRPr lang="en-US" sz="750" dirty="0"/>
          </a:p>
        </p:txBody>
      </p:sp>
      <p:sp>
        <p:nvSpPr>
          <p:cNvPr id="7" name="Shape 5"/>
          <p:cNvSpPr/>
          <p:nvPr/>
        </p:nvSpPr>
        <p:spPr>
          <a:xfrm>
            <a:off x="0" y="841248"/>
            <a:ext cx="12191695" cy="20117"/>
          </a:xfrm>
          <a:prstGeom prst="rect">
            <a:avLst/>
          </a:prstGeom>
          <a:solidFill>
            <a:srgbClr val="2DD4BF"/>
          </a:solidFill>
          <a:ln/>
        </p:spPr>
      </p:sp>
      <p:sp>
        <p:nvSpPr>
          <p:cNvPr id="8" name="Text 6"/>
          <p:cNvSpPr/>
          <p:nvPr/>
        </p:nvSpPr>
        <p:spPr>
          <a:xfrm>
            <a:off x="411480" y="987552"/>
            <a:ext cx="11338560" cy="256032"/>
          </a:xfrm>
          <a:prstGeom prst="rect">
            <a:avLst/>
          </a:prstGeom>
          <a:noFill/>
          <a:ln/>
        </p:spPr>
        <p:txBody>
          <a:bodyPr wrap="square" lIns="0" tIns="0" rIns="0" bIns="0" rtlCol="0" anchor="t"/>
          <a:lstStyle/>
          <a:p>
            <a:pPr indent="0" marL="0">
              <a:buNone/>
            </a:pPr>
            <a:r>
              <a:rPr lang="en-US" sz="1050" b="1" spc="50" kern="0" dirty="0">
                <a:solidFill>
                  <a:srgbClr val="2DD4BF"/>
                </a:solidFill>
                <a:latin typeface="Calibri" pitchFamily="34" charset="0"/>
                <a:ea typeface="Calibri" pitchFamily="34" charset="-122"/>
                <a:cs typeface="Calibri" pitchFamily="34" charset="-120"/>
              </a:rPr>
              <a:t>CAD-TO-COST · MEASURED, THEN RULES · STEP, IGES OR STL</a:t>
            </a:r>
            <a:endParaRPr lang="en-US" sz="1050" dirty="0"/>
          </a:p>
        </p:txBody>
      </p:sp>
      <p:sp>
        <p:nvSpPr>
          <p:cNvPr id="9" name="Text 7"/>
          <p:cNvSpPr/>
          <p:nvPr/>
        </p:nvSpPr>
        <p:spPr>
          <a:xfrm>
            <a:off x="411480" y="1243584"/>
            <a:ext cx="11384280" cy="566928"/>
          </a:xfrm>
          <a:prstGeom prst="rect">
            <a:avLst/>
          </a:prstGeom>
          <a:noFill/>
          <a:ln/>
        </p:spPr>
        <p:txBody>
          <a:bodyPr wrap="square" lIns="0" tIns="0" rIns="0" bIns="0" rtlCol="0" anchor="t"/>
          <a:lstStyle/>
          <a:p>
            <a:pPr indent="0" marL="0">
              <a:buNone/>
            </a:pPr>
            <a:r>
              <a:rPr lang="en-US" sz="2500" b="1" dirty="0">
                <a:solidFill>
                  <a:srgbClr val="EAF0F8"/>
                </a:solidFill>
                <a:latin typeface="Calibri" pitchFamily="34" charset="0"/>
                <a:ea typeface="Calibri" pitchFamily="34" charset="-122"/>
                <a:cs typeface="Calibri" pitchFamily="34" charset="-120"/>
              </a:rPr>
              <a:t>What the Tool Measures — and Where It Goes</a:t>
            </a:r>
            <a:endParaRPr lang="en-US" sz="2500" dirty="0"/>
          </a:p>
        </p:txBody>
      </p:sp>
      <p:sp>
        <p:nvSpPr>
          <p:cNvPr id="10" name="Text 8"/>
          <p:cNvSpPr/>
          <p:nvPr/>
        </p:nvSpPr>
        <p:spPr>
          <a:xfrm>
            <a:off x="411480" y="6510528"/>
            <a:ext cx="11384280" cy="256032"/>
          </a:xfrm>
          <a:prstGeom prst="rect">
            <a:avLst/>
          </a:prstGeom>
          <a:noFill/>
          <a:ln/>
        </p:spPr>
        <p:txBody>
          <a:bodyPr wrap="square" lIns="0" tIns="0" rIns="0" bIns="0" rtlCol="0" anchor="t"/>
          <a:lstStyle/>
          <a:p>
            <a:pPr algn="ctr" indent="0" marL="0">
              <a:buNone/>
            </a:pPr>
            <a:r>
              <a:rPr lang="en-US" sz="750" dirty="0">
                <a:solidFill>
                  <a:srgbClr val="5C6B85"/>
                </a:solidFill>
                <a:latin typeface="Calibri" pitchFamily="34" charset="0"/>
                <a:ea typeface="Calibri" pitchFamily="34" charset="-122"/>
                <a:cs typeface="Calibri" pitchFamily="34" charset="-120"/>
              </a:rPr>
              <a:t>CostVision  ·  CAD viewer study &amp; roadmap  ·  Updated September 2026  ·  Confidential</a:t>
            </a:r>
            <a:endParaRPr lang="en-US" sz="750" dirty="0"/>
          </a:p>
        </p:txBody>
      </p:sp>
      <p:sp>
        <p:nvSpPr>
          <p:cNvPr id="11" name="Shape 9"/>
          <p:cNvSpPr/>
          <p:nvPr/>
        </p:nvSpPr>
        <p:spPr>
          <a:xfrm>
            <a:off x="411480" y="1783080"/>
            <a:ext cx="6766560" cy="365760"/>
          </a:xfrm>
          <a:prstGeom prst="roundRect">
            <a:avLst>
              <a:gd name="adj" fmla="val 17500"/>
            </a:avLst>
          </a:prstGeom>
          <a:solidFill>
            <a:srgbClr val="1C2536"/>
          </a:solidFill>
          <a:ln w="9525">
            <a:solidFill>
              <a:srgbClr val="2B3A52"/>
            </a:solidFill>
            <a:prstDash val="solid"/>
          </a:ln>
        </p:spPr>
      </p:sp>
      <p:sp>
        <p:nvSpPr>
          <p:cNvPr id="12" name="Text 10"/>
          <p:cNvSpPr/>
          <p:nvPr/>
        </p:nvSpPr>
        <p:spPr>
          <a:xfrm>
            <a:off x="548640" y="1847088"/>
            <a:ext cx="3611880" cy="256032"/>
          </a:xfrm>
          <a:prstGeom prst="rect">
            <a:avLst/>
          </a:prstGeom>
          <a:noFill/>
          <a:ln/>
        </p:spPr>
        <p:txBody>
          <a:bodyPr wrap="square" lIns="0" tIns="0" rIns="0" bIns="0" rtlCol="0" anchor="t"/>
          <a:lstStyle/>
          <a:p>
            <a:pPr indent="0" marL="0">
              <a:buNone/>
            </a:pPr>
            <a:r>
              <a:rPr lang="en-US" sz="950" b="1" dirty="0">
                <a:solidFill>
                  <a:srgbClr val="EAF0F8"/>
                </a:solidFill>
                <a:latin typeface="Calibri" pitchFamily="34" charset="0"/>
                <a:ea typeface="Calibri" pitchFamily="34" charset="-122"/>
                <a:cs typeface="Calibri" pitchFamily="34" charset="-120"/>
              </a:rPr>
              <a:t>Measured from the geometry</a:t>
            </a:r>
            <a:endParaRPr lang="en-US" sz="950" dirty="0"/>
          </a:p>
        </p:txBody>
      </p:sp>
      <p:sp>
        <p:nvSpPr>
          <p:cNvPr id="13" name="Text 11"/>
          <p:cNvSpPr/>
          <p:nvPr/>
        </p:nvSpPr>
        <p:spPr>
          <a:xfrm>
            <a:off x="4297680" y="1847088"/>
            <a:ext cx="2880360" cy="256032"/>
          </a:xfrm>
          <a:prstGeom prst="rect">
            <a:avLst/>
          </a:prstGeom>
          <a:noFill/>
          <a:ln/>
        </p:spPr>
        <p:txBody>
          <a:bodyPr wrap="square" lIns="0" tIns="0" rIns="0" bIns="0" rtlCol="0" anchor="t"/>
          <a:lstStyle/>
          <a:p>
            <a:pPr indent="0" marL="0">
              <a:buNone/>
            </a:pPr>
            <a:r>
              <a:rPr lang="en-US" sz="950" b="1" dirty="0">
                <a:solidFill>
                  <a:srgbClr val="2DD4BF"/>
                </a:solidFill>
                <a:latin typeface="Calibri" pitchFamily="34" charset="0"/>
                <a:ea typeface="Calibri" pitchFamily="34" charset="-122"/>
                <a:cs typeface="Calibri" pitchFamily="34" charset="-120"/>
              </a:rPr>
              <a:t>→ Feeds this cost input</a:t>
            </a:r>
            <a:endParaRPr lang="en-US" sz="950" dirty="0"/>
          </a:p>
        </p:txBody>
      </p:sp>
      <p:sp>
        <p:nvSpPr>
          <p:cNvPr id="14" name="Shape 12"/>
          <p:cNvSpPr/>
          <p:nvPr/>
        </p:nvSpPr>
        <p:spPr>
          <a:xfrm>
            <a:off x="411480" y="2203704"/>
            <a:ext cx="6766560" cy="384048"/>
          </a:xfrm>
          <a:prstGeom prst="roundRect">
            <a:avLst>
              <a:gd name="adj" fmla="val 16667"/>
            </a:avLst>
          </a:prstGeom>
          <a:solidFill>
            <a:srgbClr val="141B28"/>
          </a:solidFill>
          <a:ln w="6350">
            <a:solidFill>
              <a:srgbClr val="2B3A52"/>
            </a:solidFill>
            <a:prstDash val="solid"/>
          </a:ln>
        </p:spPr>
      </p:sp>
      <p:sp>
        <p:nvSpPr>
          <p:cNvPr id="15" name="Text 13"/>
          <p:cNvSpPr/>
          <p:nvPr/>
        </p:nvSpPr>
        <p:spPr>
          <a:xfrm>
            <a:off x="548640" y="2286000"/>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Volume (exact, from the solid)</a:t>
            </a:r>
            <a:endParaRPr lang="en-US" sz="950" dirty="0"/>
          </a:p>
        </p:txBody>
      </p:sp>
      <p:sp>
        <p:nvSpPr>
          <p:cNvPr id="16" name="Text 14"/>
          <p:cNvSpPr/>
          <p:nvPr/>
        </p:nvSpPr>
        <p:spPr>
          <a:xfrm>
            <a:off x="4297680" y="2286000"/>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Material mass · stock size</a:t>
            </a:r>
            <a:endParaRPr lang="en-US" sz="950" dirty="0"/>
          </a:p>
        </p:txBody>
      </p:sp>
      <p:sp>
        <p:nvSpPr>
          <p:cNvPr id="17" name="Shape 15"/>
          <p:cNvSpPr/>
          <p:nvPr/>
        </p:nvSpPr>
        <p:spPr>
          <a:xfrm>
            <a:off x="411480" y="2624328"/>
            <a:ext cx="6766560" cy="384048"/>
          </a:xfrm>
          <a:prstGeom prst="roundRect">
            <a:avLst>
              <a:gd name="adj" fmla="val 16667"/>
            </a:avLst>
          </a:prstGeom>
          <a:solidFill>
            <a:srgbClr val="141B28"/>
          </a:solidFill>
          <a:ln w="6350">
            <a:solidFill>
              <a:srgbClr val="2B3A52"/>
            </a:solidFill>
            <a:prstDash val="solid"/>
          </a:ln>
        </p:spPr>
      </p:sp>
      <p:sp>
        <p:nvSpPr>
          <p:cNvPr id="18" name="Text 16"/>
          <p:cNvSpPr/>
          <p:nvPr/>
        </p:nvSpPr>
        <p:spPr>
          <a:xfrm>
            <a:off x="548640" y="2706624"/>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Weight = volume × density</a:t>
            </a:r>
            <a:endParaRPr lang="en-US" sz="950" dirty="0"/>
          </a:p>
        </p:txBody>
      </p:sp>
      <p:sp>
        <p:nvSpPr>
          <p:cNvPr id="19" name="Text 17"/>
          <p:cNvSpPr/>
          <p:nvPr/>
        </p:nvSpPr>
        <p:spPr>
          <a:xfrm>
            <a:off x="4297680" y="2706624"/>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Material cost</a:t>
            </a:r>
            <a:endParaRPr lang="en-US" sz="950" dirty="0"/>
          </a:p>
        </p:txBody>
      </p:sp>
      <p:sp>
        <p:nvSpPr>
          <p:cNvPr id="20" name="Shape 18"/>
          <p:cNvSpPr/>
          <p:nvPr/>
        </p:nvSpPr>
        <p:spPr>
          <a:xfrm>
            <a:off x="411480" y="3044952"/>
            <a:ext cx="6766560" cy="384048"/>
          </a:xfrm>
          <a:prstGeom prst="roundRect">
            <a:avLst>
              <a:gd name="adj" fmla="val 16667"/>
            </a:avLst>
          </a:prstGeom>
          <a:solidFill>
            <a:srgbClr val="141B28"/>
          </a:solidFill>
          <a:ln w="6350">
            <a:solidFill>
              <a:srgbClr val="2B3A52"/>
            </a:solidFill>
            <a:prstDash val="solid"/>
          </a:ln>
        </p:spPr>
      </p:sp>
      <p:sp>
        <p:nvSpPr>
          <p:cNvPr id="21" name="Text 19"/>
          <p:cNvSpPr/>
          <p:nvPr/>
        </p:nvSpPr>
        <p:spPr>
          <a:xfrm>
            <a:off x="548640" y="3127248"/>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Bounding box / envelope</a:t>
            </a:r>
            <a:endParaRPr lang="en-US" sz="950" dirty="0"/>
          </a:p>
        </p:txBody>
      </p:sp>
      <p:sp>
        <p:nvSpPr>
          <p:cNvPr id="22" name="Text 20"/>
          <p:cNvSpPr/>
          <p:nvPr/>
        </p:nvSpPr>
        <p:spPr>
          <a:xfrm>
            <a:off x="4297680" y="3127248"/>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Machine size · stock · setups</a:t>
            </a:r>
            <a:endParaRPr lang="en-US" sz="950" dirty="0"/>
          </a:p>
        </p:txBody>
      </p:sp>
      <p:sp>
        <p:nvSpPr>
          <p:cNvPr id="23" name="Shape 21"/>
          <p:cNvSpPr/>
          <p:nvPr/>
        </p:nvSpPr>
        <p:spPr>
          <a:xfrm>
            <a:off x="411480" y="3465576"/>
            <a:ext cx="6766560" cy="384048"/>
          </a:xfrm>
          <a:prstGeom prst="roundRect">
            <a:avLst>
              <a:gd name="adj" fmla="val 16667"/>
            </a:avLst>
          </a:prstGeom>
          <a:solidFill>
            <a:srgbClr val="141B28"/>
          </a:solidFill>
          <a:ln w="6350">
            <a:solidFill>
              <a:srgbClr val="2B3A52"/>
            </a:solidFill>
            <a:prstDash val="solid"/>
          </a:ln>
        </p:spPr>
      </p:sp>
      <p:sp>
        <p:nvSpPr>
          <p:cNvPr id="24" name="Text 22"/>
          <p:cNvSpPr/>
          <p:nvPr/>
        </p:nvSpPr>
        <p:spPr>
          <a:xfrm>
            <a:off x="548640" y="3547872"/>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Body count</a:t>
            </a:r>
            <a:endParaRPr lang="en-US" sz="950" dirty="0"/>
          </a:p>
        </p:txBody>
      </p:sp>
      <p:sp>
        <p:nvSpPr>
          <p:cNvPr id="25" name="Text 23"/>
          <p:cNvSpPr/>
          <p:nvPr/>
        </p:nvSpPr>
        <p:spPr>
          <a:xfrm>
            <a:off x="4297680" y="3547872"/>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Flags an assembly, not one part</a:t>
            </a:r>
            <a:endParaRPr lang="en-US" sz="950" dirty="0"/>
          </a:p>
        </p:txBody>
      </p:sp>
      <p:sp>
        <p:nvSpPr>
          <p:cNvPr id="26" name="Shape 24"/>
          <p:cNvSpPr/>
          <p:nvPr/>
        </p:nvSpPr>
        <p:spPr>
          <a:xfrm>
            <a:off x="411480" y="3886200"/>
            <a:ext cx="6766560" cy="384048"/>
          </a:xfrm>
          <a:prstGeom prst="roundRect">
            <a:avLst>
              <a:gd name="adj" fmla="val 16667"/>
            </a:avLst>
          </a:prstGeom>
          <a:solidFill>
            <a:srgbClr val="141B28"/>
          </a:solidFill>
          <a:ln w="6350">
            <a:solidFill>
              <a:srgbClr val="2B3A52"/>
            </a:solidFill>
            <a:prstDash val="solid"/>
          </a:ln>
        </p:spPr>
      </p:sp>
      <p:sp>
        <p:nvSpPr>
          <p:cNvPr id="27" name="Text 25"/>
          <p:cNvSpPr/>
          <p:nvPr/>
        </p:nvSpPr>
        <p:spPr>
          <a:xfrm>
            <a:off x="548640" y="3968496"/>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Hole &amp; boss table (Ø, depth)</a:t>
            </a:r>
            <a:endParaRPr lang="en-US" sz="950" dirty="0"/>
          </a:p>
        </p:txBody>
      </p:sp>
      <p:sp>
        <p:nvSpPr>
          <p:cNvPr id="28" name="Text 26"/>
          <p:cNvSpPr/>
          <p:nvPr/>
        </p:nvSpPr>
        <p:spPr>
          <a:xfrm>
            <a:off x="4297680" y="3968496"/>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Drill, bore and tap operations</a:t>
            </a:r>
            <a:endParaRPr lang="en-US" sz="950" dirty="0"/>
          </a:p>
        </p:txBody>
      </p:sp>
      <p:sp>
        <p:nvSpPr>
          <p:cNvPr id="29" name="Shape 27"/>
          <p:cNvSpPr/>
          <p:nvPr/>
        </p:nvSpPr>
        <p:spPr>
          <a:xfrm>
            <a:off x="411480" y="4306824"/>
            <a:ext cx="6766560" cy="384048"/>
          </a:xfrm>
          <a:prstGeom prst="roundRect">
            <a:avLst>
              <a:gd name="adj" fmla="val 16667"/>
            </a:avLst>
          </a:prstGeom>
          <a:solidFill>
            <a:srgbClr val="141B28"/>
          </a:solidFill>
          <a:ln w="6350">
            <a:solidFill>
              <a:srgbClr val="2B3A52"/>
            </a:solidFill>
            <a:prstDash val="solid"/>
          </a:ln>
        </p:spPr>
      </p:sp>
      <p:sp>
        <p:nvSpPr>
          <p:cNvPr id="30" name="Text 28"/>
          <p:cNvSpPr/>
          <p:nvPr/>
        </p:nvSpPr>
        <p:spPr>
          <a:xfrm>
            <a:off x="548640" y="4389120"/>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Wall thickness</a:t>
            </a:r>
            <a:endParaRPr lang="en-US" sz="950" dirty="0"/>
          </a:p>
        </p:txBody>
      </p:sp>
      <p:sp>
        <p:nvSpPr>
          <p:cNvPr id="31" name="Text 29"/>
          <p:cNvSpPr/>
          <p:nvPr/>
        </p:nvSpPr>
        <p:spPr>
          <a:xfrm>
            <a:off x="4297680" y="4389120"/>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Route choice · mould &amp; cast checks</a:t>
            </a:r>
            <a:endParaRPr lang="en-US" sz="950" dirty="0"/>
          </a:p>
        </p:txBody>
      </p:sp>
      <p:sp>
        <p:nvSpPr>
          <p:cNvPr id="32" name="Shape 30"/>
          <p:cNvSpPr/>
          <p:nvPr/>
        </p:nvSpPr>
        <p:spPr>
          <a:xfrm>
            <a:off x="411480" y="4727448"/>
            <a:ext cx="6766560" cy="384048"/>
          </a:xfrm>
          <a:prstGeom prst="roundRect">
            <a:avLst>
              <a:gd name="adj" fmla="val 16667"/>
            </a:avLst>
          </a:prstGeom>
          <a:solidFill>
            <a:srgbClr val="141B28"/>
          </a:solidFill>
          <a:ln w="6350">
            <a:solidFill>
              <a:srgbClr val="2B3A52"/>
            </a:solidFill>
            <a:prstDash val="solid"/>
          </a:ln>
        </p:spPr>
      </p:sp>
      <p:sp>
        <p:nvSpPr>
          <p:cNvPr id="33" name="Text 31"/>
          <p:cNvSpPr/>
          <p:nvPr/>
        </p:nvSpPr>
        <p:spPr>
          <a:xfrm>
            <a:off x="548640" y="4809744"/>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Draft &amp; undercuts</a:t>
            </a:r>
            <a:endParaRPr lang="en-US" sz="950" dirty="0"/>
          </a:p>
        </p:txBody>
      </p:sp>
      <p:sp>
        <p:nvSpPr>
          <p:cNvPr id="34" name="Text 32"/>
          <p:cNvSpPr/>
          <p:nvPr/>
        </p:nvSpPr>
        <p:spPr>
          <a:xfrm>
            <a:off x="4297680" y="4809744"/>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Tooling complexity (side actions)</a:t>
            </a:r>
            <a:endParaRPr lang="en-US" sz="950" dirty="0"/>
          </a:p>
        </p:txBody>
      </p:sp>
      <p:sp>
        <p:nvSpPr>
          <p:cNvPr id="35" name="Shape 33"/>
          <p:cNvSpPr/>
          <p:nvPr/>
        </p:nvSpPr>
        <p:spPr>
          <a:xfrm>
            <a:off x="411480" y="5148072"/>
            <a:ext cx="6766560" cy="384048"/>
          </a:xfrm>
          <a:prstGeom prst="roundRect">
            <a:avLst>
              <a:gd name="adj" fmla="val 16667"/>
            </a:avLst>
          </a:prstGeom>
          <a:solidFill>
            <a:srgbClr val="141B28"/>
          </a:solidFill>
          <a:ln w="6350">
            <a:solidFill>
              <a:srgbClr val="2B3A52"/>
            </a:solidFill>
            <a:prstDash val="solid"/>
          </a:ln>
        </p:spPr>
      </p:sp>
      <p:sp>
        <p:nvSpPr>
          <p:cNvPr id="36" name="Text 34"/>
          <p:cNvSpPr/>
          <p:nvPr/>
        </p:nvSpPr>
        <p:spPr>
          <a:xfrm>
            <a:off x="548640" y="5230368"/>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Surface area</a:t>
            </a:r>
            <a:endParaRPr lang="en-US" sz="950" dirty="0"/>
          </a:p>
        </p:txBody>
      </p:sp>
      <p:sp>
        <p:nvSpPr>
          <p:cNvPr id="37" name="Text 35"/>
          <p:cNvSpPr/>
          <p:nvPr/>
        </p:nvSpPr>
        <p:spPr>
          <a:xfrm>
            <a:off x="4297680" y="5230368"/>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Area-driven operations</a:t>
            </a:r>
            <a:endParaRPr lang="en-US" sz="950" dirty="0"/>
          </a:p>
        </p:txBody>
      </p:sp>
      <p:sp>
        <p:nvSpPr>
          <p:cNvPr id="38" name="Shape 36"/>
          <p:cNvSpPr/>
          <p:nvPr/>
        </p:nvSpPr>
        <p:spPr>
          <a:xfrm>
            <a:off x="411480" y="5568696"/>
            <a:ext cx="6766560" cy="384048"/>
          </a:xfrm>
          <a:prstGeom prst="roundRect">
            <a:avLst>
              <a:gd name="adj" fmla="val 16667"/>
            </a:avLst>
          </a:prstGeom>
          <a:solidFill>
            <a:srgbClr val="141B28"/>
          </a:solidFill>
          <a:ln w="6350">
            <a:solidFill>
              <a:srgbClr val="2B3A52"/>
            </a:solidFill>
            <a:prstDash val="solid"/>
          </a:ln>
        </p:spPr>
      </p:sp>
      <p:sp>
        <p:nvSpPr>
          <p:cNvPr id="39" name="Text 37"/>
          <p:cNvSpPr/>
          <p:nvPr/>
        </p:nvSpPr>
        <p:spPr>
          <a:xfrm>
            <a:off x="548640" y="5650992"/>
            <a:ext cx="3611880" cy="256032"/>
          </a:xfrm>
          <a:prstGeom prst="rect">
            <a:avLst/>
          </a:prstGeom>
          <a:noFill/>
          <a:ln/>
        </p:spPr>
        <p:txBody>
          <a:bodyPr wrap="square" lIns="0" tIns="0" rIns="0" bIns="0" rtlCol="0" anchor="t"/>
          <a:lstStyle/>
          <a:p>
            <a:pPr indent="0" marL="0">
              <a:buNone/>
            </a:pPr>
            <a:r>
              <a:rPr lang="en-US" sz="950" b="1" dirty="0">
                <a:solidFill>
                  <a:srgbClr val="38BDF8"/>
                </a:solidFill>
                <a:latin typeface="Calibri" pitchFamily="34" charset="0"/>
                <a:ea typeface="Calibri" pitchFamily="34" charset="-122"/>
                <a:cs typeface="Calibri" pitchFamily="34" charset="-120"/>
              </a:rPr>
              <a:t>CNC cycle &amp; setups (STEP/IGES)</a:t>
            </a:r>
            <a:endParaRPr lang="en-US" sz="950" dirty="0"/>
          </a:p>
        </p:txBody>
      </p:sp>
      <p:sp>
        <p:nvSpPr>
          <p:cNvPr id="40" name="Text 38"/>
          <p:cNvSpPr/>
          <p:nvPr/>
        </p:nvSpPr>
        <p:spPr>
          <a:xfrm>
            <a:off x="4297680" y="5650992"/>
            <a:ext cx="2880360" cy="256032"/>
          </a:xfrm>
          <a:prstGeom prst="rect">
            <a:avLst/>
          </a:prstGeom>
          <a:noFill/>
          <a:ln/>
        </p:spPr>
        <p:txBody>
          <a:bodyPr wrap="square" lIns="0" tIns="0" rIns="0" bIns="0" rtlCol="0" anchor="t"/>
          <a:lstStyle/>
          <a:p>
            <a:pPr indent="0" marL="0">
              <a:buNone/>
            </a:pPr>
            <a:r>
              <a:rPr lang="en-US" sz="950" dirty="0">
                <a:solidFill>
                  <a:srgbClr val="9AA7BD"/>
                </a:solidFill>
                <a:latin typeface="Calibri" pitchFamily="34" charset="0"/>
                <a:ea typeface="Calibri" pitchFamily="34" charset="-122"/>
                <a:cs typeface="Calibri" pitchFamily="34" charset="-120"/>
              </a:rPr>
              <a:t>Machining time baseline</a:t>
            </a:r>
            <a:endParaRPr lang="en-US" sz="950" dirty="0"/>
          </a:p>
        </p:txBody>
      </p:sp>
      <p:sp>
        <p:nvSpPr>
          <p:cNvPr id="41" name="Shape 39"/>
          <p:cNvSpPr/>
          <p:nvPr/>
        </p:nvSpPr>
        <p:spPr>
          <a:xfrm>
            <a:off x="7360920" y="1783080"/>
            <a:ext cx="4434840" cy="2514600"/>
          </a:xfrm>
          <a:prstGeom prst="roundRect">
            <a:avLst>
              <a:gd name="adj" fmla="val 2545"/>
            </a:avLst>
          </a:prstGeom>
          <a:solidFill>
            <a:srgbClr val="1C2536"/>
          </a:solidFill>
          <a:ln w="9525">
            <a:solidFill>
              <a:srgbClr val="2B3A52"/>
            </a:solidFill>
            <a:prstDash val="solid"/>
          </a:ln>
        </p:spPr>
      </p:sp>
      <p:sp>
        <p:nvSpPr>
          <p:cNvPr id="42" name="Shape 40"/>
          <p:cNvSpPr/>
          <p:nvPr/>
        </p:nvSpPr>
        <p:spPr>
          <a:xfrm>
            <a:off x="7360920" y="1783080"/>
            <a:ext cx="64008" cy="2514600"/>
          </a:xfrm>
          <a:prstGeom prst="rect">
            <a:avLst/>
          </a:prstGeom>
          <a:solidFill>
            <a:srgbClr val="38BDF8"/>
          </a:solidFill>
          <a:ln/>
        </p:spPr>
      </p:sp>
      <p:sp>
        <p:nvSpPr>
          <p:cNvPr id="43" name="Text 41"/>
          <p:cNvSpPr/>
          <p:nvPr/>
        </p:nvSpPr>
        <p:spPr>
          <a:xfrm>
            <a:off x="7543800" y="1892808"/>
            <a:ext cx="4123944" cy="365760"/>
          </a:xfrm>
          <a:prstGeom prst="rect">
            <a:avLst/>
          </a:prstGeom>
          <a:noFill/>
          <a:ln/>
        </p:spPr>
        <p:txBody>
          <a:bodyPr wrap="square" lIns="0" tIns="0" rIns="0" bIns="0" rtlCol="0" anchor="t"/>
          <a:lstStyle/>
          <a:p>
            <a:pPr indent="0" marL="0">
              <a:buNone/>
            </a:pPr>
            <a:r>
              <a:rPr lang="en-US" sz="1100" b="1" dirty="0">
                <a:solidFill>
                  <a:srgbClr val="EAF0F8"/>
                </a:solidFill>
                <a:latin typeface="Calibri" pitchFamily="34" charset="0"/>
                <a:ea typeface="Calibri" pitchFamily="34" charset="-122"/>
                <a:cs typeface="Calibri" pitchFamily="34" charset="-120"/>
              </a:rPr>
              <a:t>When the geometry cannot decide</a:t>
            </a:r>
            <a:endParaRPr lang="en-US" sz="1100" dirty="0"/>
          </a:p>
        </p:txBody>
      </p:sp>
      <p:sp>
        <p:nvSpPr>
          <p:cNvPr id="44" name="Text 42"/>
          <p:cNvSpPr/>
          <p:nvPr/>
        </p:nvSpPr>
        <p:spPr>
          <a:xfrm>
            <a:off x="7543800" y="2203704"/>
            <a:ext cx="4123944" cy="2057400"/>
          </a:xfrm>
          <a:prstGeom prst="rect">
            <a:avLst/>
          </a:prstGeom>
          <a:noFill/>
          <a:ln/>
        </p:spPr>
        <p:txBody>
          <a:bodyPr wrap="square" lIns="0" tIns="0" rIns="0" bIns="0" rtlCol="0" anchor="t"/>
          <a:lstStyle/>
          <a:p>
            <a:pPr indent="0" marL="0">
              <a:lnSpc>
                <a:spcPct val="106000"/>
              </a:lnSpc>
              <a:buNone/>
            </a:pPr>
            <a:r>
              <a:rPr lang="en-US" sz="930" dirty="0">
                <a:solidFill>
                  <a:srgbClr val="9AA7BD"/>
                </a:solidFill>
                <a:latin typeface="Calibri" pitchFamily="34" charset="0"/>
                <a:ea typeface="Calibri" pitchFamily="34" charset="-122"/>
                <a:cs typeface="Calibri" pitchFamily="34" charset="-120"/>
              </a:rPr>
              <a:t>The rules ask the engineer instead of guessing: the process route, the material family, a hole count on an STL.</a:t>
            </a:r>
            <a:endParaRPr lang="en-US" sz="930" dirty="0"/>
          </a:p>
          <a:p>
            <a:pPr indent="0" marL="0">
              <a:lnSpc>
                <a:spcPct val="106000"/>
              </a:lnSpc>
              <a:buNone/>
            </a:pPr>
            <a:endParaRPr lang="en-US" sz="930" dirty="0"/>
          </a:p>
          <a:p>
            <a:pPr indent="0" marL="0">
              <a:lnSpc>
                <a:spcPct val="106000"/>
              </a:lnSpc>
              <a:buNone/>
            </a:pPr>
            <a:r>
              <a:rPr lang="en-US" sz="930" dirty="0">
                <a:solidFill>
                  <a:srgbClr val="9AA7BD"/>
                </a:solidFill>
                <a:latin typeface="Calibri" pitchFamily="34" charset="0"/>
                <a:ea typeface="Calibri" pitchFamily="34" charset="-122"/>
                <a:cs typeface="Calibri" pitchFamily="34" charset="-120"/>
              </a:rPr>
              <a:t>Thick-walled parts (walls over about 6 mm) are offered casting, forging, cast + machine or machining.</a:t>
            </a:r>
            <a:endParaRPr lang="en-US" sz="930" dirty="0"/>
          </a:p>
          <a:p>
            <a:pPr indent="0" marL="0">
              <a:lnSpc>
                <a:spcPct val="106000"/>
              </a:lnSpc>
              <a:buNone/>
            </a:pPr>
            <a:endParaRPr lang="en-US" sz="930" dirty="0"/>
          </a:p>
          <a:p>
            <a:pPr indent="0" marL="0">
              <a:lnSpc>
                <a:spcPct val="106000"/>
              </a:lnSpc>
              <a:buNone/>
            </a:pPr>
            <a:r>
              <a:rPr lang="en-US" sz="930" dirty="0">
                <a:solidFill>
                  <a:srgbClr val="9AA7BD"/>
                </a:solidFill>
                <a:latin typeface="Calibri" pitchFamily="34" charset="0"/>
                <a:ea typeface="Calibri" pitchFamily="34" charset="-122"/>
                <a:cs typeface="Calibri" pitchFamily="34" charset="-120"/>
              </a:rPr>
              <a:t>An STL has no feature table, so a machined STL waits until the engineer types a cycle time.</a:t>
            </a:r>
            <a:endParaRPr lang="en-US" sz="930" dirty="0"/>
          </a:p>
          <a:p>
            <a:pPr indent="0" marL="0">
              <a:lnSpc>
                <a:spcPct val="106000"/>
              </a:lnSpc>
              <a:buNone/>
            </a:pPr>
            <a:endParaRPr lang="en-US" sz="930" dirty="0"/>
          </a:p>
          <a:p>
            <a:pPr indent="0" marL="0">
              <a:lnSpc>
                <a:spcPct val="106000"/>
              </a:lnSpc>
              <a:buNone/>
            </a:pPr>
            <a:r>
              <a:rPr lang="en-US" sz="930" dirty="0">
                <a:solidFill>
                  <a:srgbClr val="9AA7BD"/>
                </a:solidFill>
                <a:latin typeface="Calibri" pitchFamily="34" charset="0"/>
                <a:ea typeface="Calibri" pitchFamily="34" charset="-122"/>
                <a:cs typeface="Calibri" pitchFamily="34" charset="-120"/>
              </a:rPr>
              <a:t>Sheet metal: upload a DXF flat pattern with the STEP, and the measured blank replaces the bounding box.</a:t>
            </a:r>
            <a:endParaRPr lang="en-US" sz="930" dirty="0"/>
          </a:p>
        </p:txBody>
      </p:sp>
      <p:sp>
        <p:nvSpPr>
          <p:cNvPr id="45" name="Shape 43"/>
          <p:cNvSpPr/>
          <p:nvPr/>
        </p:nvSpPr>
        <p:spPr>
          <a:xfrm>
            <a:off x="7360920" y="4434840"/>
            <a:ext cx="4434840" cy="1508760"/>
          </a:xfrm>
          <a:prstGeom prst="roundRect">
            <a:avLst>
              <a:gd name="adj" fmla="val 4242"/>
            </a:avLst>
          </a:prstGeom>
          <a:solidFill>
            <a:srgbClr val="1C2536"/>
          </a:solidFill>
          <a:ln w="9525">
            <a:solidFill>
              <a:srgbClr val="2B3A52"/>
            </a:solidFill>
            <a:prstDash val="solid"/>
          </a:ln>
        </p:spPr>
      </p:sp>
      <p:sp>
        <p:nvSpPr>
          <p:cNvPr id="46" name="Shape 44"/>
          <p:cNvSpPr/>
          <p:nvPr/>
        </p:nvSpPr>
        <p:spPr>
          <a:xfrm>
            <a:off x="7360920" y="4434840"/>
            <a:ext cx="64008" cy="1508760"/>
          </a:xfrm>
          <a:prstGeom prst="rect">
            <a:avLst/>
          </a:prstGeom>
          <a:solidFill>
            <a:srgbClr val="34D399"/>
          </a:solidFill>
          <a:ln/>
        </p:spPr>
      </p:sp>
      <p:sp>
        <p:nvSpPr>
          <p:cNvPr id="47" name="Text 45"/>
          <p:cNvSpPr/>
          <p:nvPr/>
        </p:nvSpPr>
        <p:spPr>
          <a:xfrm>
            <a:off x="7543800" y="4544568"/>
            <a:ext cx="4123944" cy="365760"/>
          </a:xfrm>
          <a:prstGeom prst="rect">
            <a:avLst/>
          </a:prstGeom>
          <a:noFill/>
          <a:ln/>
        </p:spPr>
        <p:txBody>
          <a:bodyPr wrap="square" lIns="0" tIns="0" rIns="0" bIns="0" rtlCol="0" anchor="t"/>
          <a:lstStyle/>
          <a:p>
            <a:pPr indent="0" marL="0">
              <a:buNone/>
            </a:pPr>
            <a:r>
              <a:rPr lang="en-US" sz="1100" b="1" dirty="0">
                <a:solidFill>
                  <a:srgbClr val="EAF0F8"/>
                </a:solidFill>
                <a:latin typeface="Calibri" pitchFamily="34" charset="0"/>
                <a:ea typeface="Calibri" pitchFamily="34" charset="-122"/>
                <a:cs typeface="Calibri" pitchFamily="34" charset="-120"/>
              </a:rPr>
              <a:t>The golden rule</a:t>
            </a:r>
            <a:endParaRPr lang="en-US" sz="1100" dirty="0"/>
          </a:p>
        </p:txBody>
      </p:sp>
      <p:sp>
        <p:nvSpPr>
          <p:cNvPr id="48" name="Text 46"/>
          <p:cNvSpPr/>
          <p:nvPr/>
        </p:nvSpPr>
        <p:spPr>
          <a:xfrm>
            <a:off x="7543800" y="4855464"/>
            <a:ext cx="4123944" cy="1051560"/>
          </a:xfrm>
          <a:prstGeom prst="rect">
            <a:avLst/>
          </a:prstGeom>
          <a:noFill/>
          <a:ln/>
        </p:spPr>
        <p:txBody>
          <a:bodyPr wrap="square" lIns="0" tIns="0" rIns="0" bIns="0" rtlCol="0" anchor="t"/>
          <a:lstStyle/>
          <a:p>
            <a:pPr indent="0" marL="0">
              <a:lnSpc>
                <a:spcPct val="106000"/>
              </a:lnSpc>
              <a:buNone/>
            </a:pPr>
            <a:r>
              <a:rPr lang="en-US" sz="950" dirty="0">
                <a:solidFill>
                  <a:srgbClr val="9AA7BD"/>
                </a:solidFill>
                <a:latin typeface="Calibri" pitchFamily="34" charset="0"/>
                <a:ea typeface="Calibri" pitchFamily="34" charset="-122"/>
                <a:cs typeface="Calibri" pitchFamily="34" charset="-120"/>
              </a:rPr>
              <a:t>AI never sets a price. At JLR it is switched off. The CAD path runs on measured geometry and rules, for 13 commodities. Every £ is plain arithmetic, traceable to a rate.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CAD Viewer &amp; CAD-to-Cost Capture — Study &amp; Roadmap</dc:title>
  <dc:subject>PptxGenJS Presentation</dc:subject>
  <dc:creator>CostVision</dc:creator>
  <cp:lastModifiedBy>CostVision</cp:lastModifiedBy>
  <cp:revision>1</cp:revision>
  <dcterms:created xsi:type="dcterms:W3CDTF">2026-09-28T19:18:16Z</dcterms:created>
  <dcterms:modified xsi:type="dcterms:W3CDTF">2026-09-28T19:18:16Z</dcterms:modified>
</cp:coreProperties>
</file>