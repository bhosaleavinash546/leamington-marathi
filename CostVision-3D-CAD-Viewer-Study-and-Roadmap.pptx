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in one breath. You looked at a rival should-cost tool and its CAD viewer impressed you — it pulls data straight off the model and it feels like real CAD software. Fair challenge. So I did two things: I audited exactly what our own viewer and geometry engine do today, and I ran verified market research on how the leaders — aPriori, Siemens, and the specialist DFM and drawing-reading tools — actually work. This deck is the honest result: where they're ahead, where we're quietly already strong, and a concrete four-phase plan to close the gap — including the two things you asked for by name, a bigger viewer and a proper CAD-software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if you remember nothing else. One: the whole industry works the same way — recognise features off the raw geometry, turn them into cost drivers, and keep a human in the loop only to CORRECT the recognition, never to re-type the part. Two — and this surprised me in a good way — we're already strong at the hard part: our engine measures holes, depths, walls, draft and setups and pushes them into the cost. Three: what makes their viewers feel premium isn't magic, it's DFM analysis painted directly on the model, plus a canvas big enough to work in. Four: the plan is bounded and staged — quick wins first, and several of those are just SHOWING data we already compute. This isn't a moonshot; it's mostly finishing what we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for the whole deck. Read left to right: a 3D model comes in; automatic feature recognition reads the geometry and finds the holes, pockets, bends, ribs, undercuts; those features map onto cost drivers — routing, operations, tooling; a human steps in only to fix a mis-read feature, not to re-enter the part; and out comes a bottom-up should-cost. The two cards are the proof, in the vendors' own words. aPriori extracts 'geometric cost drivers' straight off the B-rep — and the tell is that it costs from STEP and Parasolid, which have no feature history, so it MUST be reading raw topology. Siemens ships commodity modules that recognise ribs, undercuts and bends and hand them straight to their costing engine. Note the honest caveat in both: the human corrects the recognition. Nobody is fully hands-off — and that's exactly our glass-box philosophy.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Columns are the six capabilities that matter; each row is a tool; a full cyan dot means strong, amber means partial, hollow means limited or absent. A few honest reads. The costing leaders — aPriori, Siemens, MTI Costimator — are strong on B-rep feature recognition and auto-to-cost, which is the expensive part. The best VIEWER experience actually comes from a pure viewer, 3D-Tool, whose on-model heatmaps set the bar. Werk24 owns tolerance and GD&amp;T capture, but from 2D drawings, not the 3D model. Now find our two rows. 'CostVision today' — look where we already have full dots: auto-to-cost and web-native. That's rare; most rivals are desktop. Our hollow dots are on-model overlays, PMI-to-cost, and viewer feel. The bottom row is the plan — and the whole roadmap is simply turning those three hollow dots green without giving up the two we already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said their viewer 'feels like CAD software', this slide is what you were reacting to — and it's learnable, not magic. The single biggest lever is the wall-thickness heatmap: the model lights up thin and thick zones in colour, and an engineer instantly sees the mould or casting risk that drives cost. Same idea for draft and undercut — shade the draft angle per face and flag the areas that can't be pulled from the tool, because those become slide units and real money. Then the everyday verbs: section planes, true measurement, and a feature tree where clicking a row lights up the face — that two-way link between a number and the geometry is what sells it. Add tolerances shown in 3D, and a canvas big enough to actually work in with a smooth orientation cube. None of this is exotic; it's a known, finite list — which is exactly why we can plan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because credibility depends on it. On the left is what we already do well, and it's genuinely a lot: a real OCCT geometry engine that measures holes with depths, walls, draft and setups, and crucially auto-fills the cost form so nobody re-types the part — plus it runs right in the browser. That's the hard, expensive machinery, and it's built. On the right are the honest gaps, and I've colour-tagged them. The amber ones are the viewer experience — no bigger view, no feature tree, no orientation cube — which is exactly what you flagged. The cyan one is the most embarrassing and the most encouraging: we already COMPUTE wall thickness and draft, we just never draw them on the model. The violet ones are capture depth — fillets, chamfers, and especially tolerances from the CAD file. So the gap isn't 'we're behind on everything'; it's 'we hid our best work and skipped the shop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last slide was the diagnosis, this is the prescription, and it's two sentences. First: we already measure it, we just don't show it. Thickness, draft, undercuts, setups — all computed, all discarded visually. Painting them onto the model is the best value-to-effort ratio in the entire plan, because the hard work is already done. Second: capture more so users type less. Every feature we can read off the CAD — a fillet, a chamfer, a thread, a tolerance from the STEP file — is a field a human doesn't fill in and a place the number can't drift. And the principle at the bottom keeps us honest: the viewer isn't eye-candy, it's an input-capture surface, and every pixel has to either capture a cost driver or let a human check one. Same glass-box rule as everything else — the AI reads the geometry, it never sets the price in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good news is none of this needs inventing — it's all published and buildable, and we already run the same kernel on the server. Four building blocks. First, occt-import-js: OpenCascade compiled to WebAssembly, so we can open a STEP file right in the browser and — critically — its output maps every mesh triangle back to the original CAD face, which is what lets you click one face and link it to a cost driver, live. Second, OCCT's XDE module reads GD&amp;T and tolerances straight out of STEP AP242 — that's tolerance capture from the 3D file itself, no separate drawing. Third, native B-rep feature recognition — the UV-Net and BRepGAT family — hits 98–99% on public benchmarks by reading the geometry as a graph. And fourth, the heatmaps are textbook; we already compute the numbers. But note the caveat in amber: those accuracy numbers are on clean synthetic parts, and vendor claims are marketing — real CAD is messy — so we keep the human correction step. Honesty is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build, and the sequencing is deliberate. Phase zero is the quick wins — make the viewer bigger and paint the data we already compute — one to two weeks, and it's the best value for effort in the plan. Phase one is the CAD-software feel you asked for: feature tree, orientation cube, exploded view, better section and measure, and clicking a face to see its cost. Phase two goes deeper on capture — recognising fillets, chamfers, slots and threads, and reading tolerances straight from the STEP file to drive cost, which is how the leaders handle precision parts. Phase three is the research frontier — a browser-side CAD kernel and graph-neural feature recognition that would put us level with aPriori and Siemens on recognition. The key message: each phase ships on its own, so value lands early — and the two things you named specifically are the first two phases, not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zero is where I'd start on Monday, because the return is immediate. Top of the list is your first explicit ask: a bigger, fullscreen viewer — a maximise button, the browser Fullscreen API, a large focus mode and drag-to-resize, so there's finally room to work and to demo. Then three overlays that are almost free because the engine already computes the numbers: paint the wall thickness as a heatmap, shade draft and flag undercuts, and it instantly looks and behaves like a DFM tool. Then a docked feature tree built from the feature table we already have, where clicking a row lights up the face — and the reverse, clicking a cost line in the report highlights the geometry it came from. That last one is quietly powerful: every pound traces to a face. Three of these five are literally just showing work we already did — that's why Phase zero is the highest-leverage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one is your second explicit ask made concrete: making it genuinely feel like CAD software. The orientation cube in the corner is the single most recognisable 'this is CAD' signal, so it's first. A real docked feature and model tree — bodies, faces, recognised features, with visibility toggles — gives the professional structure people expect. Exploded view lets you pull an assembly apart and cost each component. Proper multi-plane sectioning with solid caps replaces our single slider. Richer measurement — true face radius, edge length, face-to-face — matches what they'd do in SolidWorks. And the one that ties it to our mission: click a face and see the operation and the pounds it drives. That's the payoff line at the bottom — the viewer stops being a preview and becomes the place engineers actually inspect and understand the cost. That's precisely what impressed you about the rival, and it's a few weeks of focused work, not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two is about capturing more so people type less, and it splits in two. On the left, we widen feature recognition beyond today's holes and bosses to fillets, chamfers, slots, ribs, real thread specs, and — importantly — telling machined faces from as-cast ones, plus rescuing the STL path so those uploads aren't cost-blind. Each of those is a field a human no longer fills in. On the right is the real differentiator, and it's the thing Werk24 built a company on: tolerance-driven costing. Today, tolerances only reach us if someone uploads a separate drawing. But OpenCascade's XDE module can read the GD&amp;T straight out of the STEP AP242 file — and tolerances are where cost hides. A tight bore adds a ream or a grind; a fine surface finish adds a polishing op; a flatness callout adds inspection and fixturing; a loose tolerance means a cheaper, faster route. Reading that automatically and mapping it to the process is how you cost a precision part correctly — and almost nobody does it from the 3D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three is the frontier, and I'm putting it last on purpose. Two pieces. First, move the CAD kernel into the browser with occt-import-js so we hold the real geometry, not a server-made mesh — that makes the viewer feel instant and makes every face a true, clickable, costable object. Second, add a graph-neural feature-recognition model of the kind the research validated — the UV-Net and BRepGAT family — which segments machining features per face at benchmark accuracies in the high nineties and catches the compound features our current geometric rules miss. That's what would let us honestly say our recognition rivals aPriori and Siemens. But note the amber box: it's the highest-effort work, and those accuracy numbers are on clean synthetic parts, so it only earns its slot after Phases zero to two have already closed the gap the user can actually see. It's the ceiling, not the floor — and it stays glass-box, because every prediction is just a face a human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just the two things you asked for, turned into a checklist so we're precise. On the left, 'make it bigger' is really six concrete moves: a maximise button, true browser full-screen, a focus mode that hands the whole workspace to the model, a drag-to-resize handle that remembers your size, panels that reflow so nothing crowds the part, and escape to come back to costing. On the right, 'feel like CAD software' is the orientation cube, a clickable feature tree, the on-model heatmaps, multi-plane sections and exploded view, richer measurement, and clicking a face to see its cost. The left column is Phase zero and the right column is Phases zero and one — so if you approve the plan, both of your asks are in the first fortnight or two of work, not somewhere off in the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land it on why this is worth doing and what I'd actually ask for. The benefits stack up in plain terms: more auto-capture means fewer fields typed and faster quotes; capturing a driver instead of typing it removes a place the estimate drifts; on-model DFM catches cost problems at concept while a change is still free; a big CAD-grade viewer wins demos — literally the reaction you had to the competitor; reading tolerances from the model prices precision parts correctly, which is a genuine differentiator; and all of it stays glass-box and on our own secure, learning platform. My recommendation is deliberately modest: approve Phase zero now — the bigger viewer plus painting the data we already compute, one to two weeks — because it delivers both of your asks fastest and de-risks everything after it. Then Phases one and two as a fast-follow, and we green-light the Phase-three research only once the gap you can see is already closed. Small ask, fast proof, compounding payoff. That's the challenge met — happy to start on Phase zero whenever you say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0" y="0"/>
            <a:ext cx="12191695" cy="128016"/>
          </a:xfrm>
          <a:prstGeom prst="rect">
            <a:avLst/>
          </a:prstGeom>
          <a:solidFill>
            <a:srgbClr val="22D3EE"/>
          </a:solidFill>
          <a:ln/>
        </p:spPr>
      </p:sp>
      <p:sp>
        <p:nvSpPr>
          <p:cNvPr id="4" name="Shape 2"/>
          <p:cNvSpPr/>
          <p:nvPr/>
        </p:nvSpPr>
        <p:spPr>
          <a:xfrm>
            <a:off x="2514600" y="4206240"/>
            <a:ext cx="0" cy="2011680"/>
          </a:xfrm>
          <a:prstGeom prst="line">
            <a:avLst/>
          </a:prstGeom>
          <a:noFill/>
          <a:ln w="9525">
            <a:solidFill>
              <a:srgbClr val="1C2536"/>
            </a:solidFill>
            <a:prstDash val="solid"/>
          </a:ln>
        </p:spPr>
      </p:sp>
      <p:sp>
        <p:nvSpPr>
          <p:cNvPr id="5" name="Shape 3"/>
          <p:cNvSpPr/>
          <p:nvPr/>
        </p:nvSpPr>
        <p:spPr>
          <a:xfrm>
            <a:off x="3657600" y="4206240"/>
            <a:ext cx="0" cy="2011680"/>
          </a:xfrm>
          <a:prstGeom prst="line">
            <a:avLst/>
          </a:prstGeom>
          <a:noFill/>
          <a:ln w="9525">
            <a:solidFill>
              <a:srgbClr val="1C2536"/>
            </a:solidFill>
            <a:prstDash val="solid"/>
          </a:ln>
        </p:spPr>
      </p:sp>
      <p:sp>
        <p:nvSpPr>
          <p:cNvPr id="6" name="Shape 4"/>
          <p:cNvSpPr/>
          <p:nvPr/>
        </p:nvSpPr>
        <p:spPr>
          <a:xfrm>
            <a:off x="4800600" y="4206240"/>
            <a:ext cx="0" cy="2011680"/>
          </a:xfrm>
          <a:prstGeom prst="line">
            <a:avLst/>
          </a:prstGeom>
          <a:noFill/>
          <a:ln w="9525">
            <a:solidFill>
              <a:srgbClr val="1C2536"/>
            </a:solidFill>
            <a:prstDash val="solid"/>
          </a:ln>
        </p:spPr>
      </p:sp>
      <p:sp>
        <p:nvSpPr>
          <p:cNvPr id="7" name="Shape 5"/>
          <p:cNvSpPr/>
          <p:nvPr/>
        </p:nvSpPr>
        <p:spPr>
          <a:xfrm>
            <a:off x="5943600" y="4206240"/>
            <a:ext cx="0" cy="2011680"/>
          </a:xfrm>
          <a:prstGeom prst="line">
            <a:avLst/>
          </a:prstGeom>
          <a:noFill/>
          <a:ln w="9525">
            <a:solidFill>
              <a:srgbClr val="1C2536"/>
            </a:solidFill>
            <a:prstDash val="solid"/>
          </a:ln>
        </p:spPr>
      </p:sp>
      <p:sp>
        <p:nvSpPr>
          <p:cNvPr id="8" name="Shape 6"/>
          <p:cNvSpPr/>
          <p:nvPr/>
        </p:nvSpPr>
        <p:spPr>
          <a:xfrm>
            <a:off x="7086600" y="4206240"/>
            <a:ext cx="0" cy="2011680"/>
          </a:xfrm>
          <a:prstGeom prst="line">
            <a:avLst/>
          </a:prstGeom>
          <a:noFill/>
          <a:ln w="9525">
            <a:solidFill>
              <a:srgbClr val="1C2536"/>
            </a:solidFill>
            <a:prstDash val="solid"/>
          </a:ln>
        </p:spPr>
      </p:sp>
      <p:sp>
        <p:nvSpPr>
          <p:cNvPr id="9" name="Shape 7"/>
          <p:cNvSpPr/>
          <p:nvPr/>
        </p:nvSpPr>
        <p:spPr>
          <a:xfrm>
            <a:off x="8229600" y="4206240"/>
            <a:ext cx="0" cy="2011680"/>
          </a:xfrm>
          <a:prstGeom prst="line">
            <a:avLst/>
          </a:prstGeom>
          <a:noFill/>
          <a:ln w="9525">
            <a:solidFill>
              <a:srgbClr val="1C2536"/>
            </a:solidFill>
            <a:prstDash val="solid"/>
          </a:ln>
        </p:spPr>
      </p:sp>
      <p:sp>
        <p:nvSpPr>
          <p:cNvPr id="10" name="Shape 8"/>
          <p:cNvSpPr/>
          <p:nvPr/>
        </p:nvSpPr>
        <p:spPr>
          <a:xfrm>
            <a:off x="9372600" y="4206240"/>
            <a:ext cx="0" cy="2011680"/>
          </a:xfrm>
          <a:prstGeom prst="line">
            <a:avLst/>
          </a:prstGeom>
          <a:noFill/>
          <a:ln w="9525">
            <a:solidFill>
              <a:srgbClr val="1C2536"/>
            </a:solidFill>
            <a:prstDash val="solid"/>
          </a:ln>
        </p:spPr>
      </p:sp>
      <p:sp>
        <p:nvSpPr>
          <p:cNvPr id="11" name="Shape 9"/>
          <p:cNvSpPr/>
          <p:nvPr/>
        </p:nvSpPr>
        <p:spPr>
          <a:xfrm>
            <a:off x="10515600" y="4206240"/>
            <a:ext cx="0" cy="2011680"/>
          </a:xfrm>
          <a:prstGeom prst="line">
            <a:avLst/>
          </a:prstGeom>
          <a:noFill/>
          <a:ln w="9525">
            <a:solidFill>
              <a:srgbClr val="1C2536"/>
            </a:solidFill>
            <a:prstDash val="solid"/>
          </a:ln>
        </p:spPr>
      </p:sp>
      <p:sp>
        <p:nvSpPr>
          <p:cNvPr id="12" name="Shape 10"/>
          <p:cNvSpPr/>
          <p:nvPr/>
        </p:nvSpPr>
        <p:spPr>
          <a:xfrm>
            <a:off x="365760" y="310896"/>
            <a:ext cx="365760" cy="365760"/>
          </a:xfrm>
          <a:prstGeom prst="roundRect">
            <a:avLst>
              <a:gd name="adj" fmla="val 25000"/>
            </a:avLst>
          </a:prstGeom>
          <a:solidFill>
            <a:srgbClr val="22D3EE"/>
          </a:solidFill>
          <a:ln/>
        </p:spPr>
      </p:sp>
      <p:sp>
        <p:nvSpPr>
          <p:cNvPr id="13" name="Text 11"/>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14" name="Text 12"/>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15" name="Text 13"/>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16" name="Text 14"/>
          <p:cNvSpPr/>
          <p:nvPr/>
        </p:nvSpPr>
        <p:spPr>
          <a:xfrm>
            <a:off x="640080" y="1965960"/>
            <a:ext cx="10972800" cy="822960"/>
          </a:xfrm>
          <a:prstGeom prst="rect">
            <a:avLst/>
          </a:prstGeom>
          <a:noFill/>
          <a:ln/>
        </p:spPr>
        <p:txBody>
          <a:bodyPr wrap="square" lIns="0" tIns="0" rIns="0" bIns="0" rtlCol="0" anchor="t"/>
          <a:lstStyle/>
          <a:p>
            <a:pPr indent="0" marL="0">
              <a:buNone/>
            </a:pPr>
            <a:r>
              <a:rPr lang="en-US" sz="4000" b="1" dirty="0">
                <a:solidFill>
                  <a:srgbClr val="EAF0F8"/>
                </a:solidFill>
                <a:latin typeface="Calibri" pitchFamily="34" charset="0"/>
                <a:ea typeface="Calibri" pitchFamily="34" charset="-122"/>
                <a:cs typeface="Calibri" pitchFamily="34" charset="-120"/>
              </a:rPr>
              <a:t>The 3D Viewer — and the Data It Captures</a:t>
            </a:r>
            <a:endParaRPr lang="en-US" sz="4000" dirty="0"/>
          </a:p>
        </p:txBody>
      </p:sp>
      <p:sp>
        <p:nvSpPr>
          <p:cNvPr id="17" name="Shape 15"/>
          <p:cNvSpPr/>
          <p:nvPr/>
        </p:nvSpPr>
        <p:spPr>
          <a:xfrm>
            <a:off x="658368" y="2852928"/>
            <a:ext cx="3108960" cy="45720"/>
          </a:xfrm>
          <a:prstGeom prst="rect">
            <a:avLst/>
          </a:prstGeom>
          <a:solidFill>
            <a:srgbClr val="22D3EE"/>
          </a:solidFill>
          <a:ln/>
        </p:spPr>
      </p:sp>
      <p:sp>
        <p:nvSpPr>
          <p:cNvPr id="18" name="Text 16"/>
          <p:cNvSpPr/>
          <p:nvPr/>
        </p:nvSpPr>
        <p:spPr>
          <a:xfrm>
            <a:off x="658368" y="3054096"/>
            <a:ext cx="10607040" cy="731520"/>
          </a:xfrm>
          <a:prstGeom prst="rect">
            <a:avLst/>
          </a:prstGeom>
          <a:noFill/>
          <a:ln/>
        </p:spPr>
        <p:txBody>
          <a:bodyPr wrap="square" lIns="0" tIns="0" rIns="0" bIns="0" rtlCol="0" anchor="t"/>
          <a:lstStyle/>
          <a:p>
            <a:pPr indent="0" marL="0">
              <a:lnSpc>
                <a:spcPct val="115000"/>
              </a:lnSpc>
              <a:buNone/>
            </a:pPr>
            <a:r>
              <a:rPr lang="en-US" sz="1500" dirty="0">
                <a:solidFill>
                  <a:srgbClr val="9AA7BD"/>
                </a:solidFill>
                <a:latin typeface="Calibri" pitchFamily="34" charset="0"/>
                <a:ea typeface="Calibri" pitchFamily="34" charset="-122"/>
                <a:cs typeface="Calibri" pitchFamily="34" charset="-120"/>
              </a:rPr>
              <a:t>A competitive study of how the best should-cost tools turn CAD into cost automatically — and a build plan to make our 3D viewer feel like real CAD software.</a:t>
            </a:r>
            <a:endParaRPr lang="en-US" sz="1500" dirty="0"/>
          </a:p>
        </p:txBody>
      </p:sp>
      <p:sp>
        <p:nvSpPr>
          <p:cNvPr id="19" name="Shape 17"/>
          <p:cNvSpPr/>
          <p:nvPr/>
        </p:nvSpPr>
        <p:spPr>
          <a:xfrm>
            <a:off x="658368" y="4160520"/>
            <a:ext cx="1331366" cy="365760"/>
          </a:xfrm>
          <a:prstGeom prst="roundRect">
            <a:avLst>
              <a:gd name="adj" fmla="val 17500"/>
            </a:avLst>
          </a:prstGeom>
          <a:solidFill>
            <a:srgbClr val="1C2536"/>
          </a:solidFill>
          <a:ln w="12700">
            <a:solidFill>
              <a:srgbClr val="22D3EE"/>
            </a:solidFill>
            <a:prstDash val="solid"/>
          </a:ln>
        </p:spPr>
      </p:sp>
      <p:sp>
        <p:nvSpPr>
          <p:cNvPr id="20" name="Text 18"/>
          <p:cNvSpPr/>
          <p:nvPr/>
        </p:nvSpPr>
        <p:spPr>
          <a:xfrm>
            <a:off x="658368" y="4160520"/>
            <a:ext cx="1331366" cy="365760"/>
          </a:xfrm>
          <a:prstGeom prst="rect">
            <a:avLst/>
          </a:prstGeom>
          <a:noFill/>
          <a:ln/>
        </p:spPr>
        <p:txBody>
          <a:bodyPr wrap="square" lIns="0" tIns="0" rIns="0" bIns="0" rtlCol="0" anchor="ctr"/>
          <a:lstStyle/>
          <a:p>
            <a:pPr algn="ctr" indent="0" marL="0">
              <a:buNone/>
            </a:pPr>
            <a:r>
              <a:rPr lang="en-US" sz="1000" b="1" dirty="0">
                <a:solidFill>
                  <a:srgbClr val="22D3EE"/>
                </a:solidFill>
                <a:latin typeface="Calibri" pitchFamily="34" charset="0"/>
                <a:ea typeface="Calibri" pitchFamily="34" charset="-122"/>
                <a:cs typeface="Calibri" pitchFamily="34" charset="-120"/>
              </a:rPr>
              <a:t>Market study</a:t>
            </a:r>
            <a:endParaRPr lang="en-US" sz="1000" dirty="0"/>
          </a:p>
        </p:txBody>
      </p:sp>
      <p:sp>
        <p:nvSpPr>
          <p:cNvPr id="21" name="Shape 19"/>
          <p:cNvSpPr/>
          <p:nvPr/>
        </p:nvSpPr>
        <p:spPr>
          <a:xfrm>
            <a:off x="2190902" y="4160520"/>
            <a:ext cx="1331366" cy="365760"/>
          </a:xfrm>
          <a:prstGeom prst="roundRect">
            <a:avLst>
              <a:gd name="adj" fmla="val 17500"/>
            </a:avLst>
          </a:prstGeom>
          <a:solidFill>
            <a:srgbClr val="1C2536"/>
          </a:solidFill>
          <a:ln w="12700">
            <a:solidFill>
              <a:srgbClr val="3B82F6"/>
            </a:solidFill>
            <a:prstDash val="solid"/>
          </a:ln>
        </p:spPr>
      </p:sp>
      <p:sp>
        <p:nvSpPr>
          <p:cNvPr id="22" name="Text 20"/>
          <p:cNvSpPr/>
          <p:nvPr/>
        </p:nvSpPr>
        <p:spPr>
          <a:xfrm>
            <a:off x="2190902" y="4160520"/>
            <a:ext cx="1331366" cy="365760"/>
          </a:xfrm>
          <a:prstGeom prst="rect">
            <a:avLst/>
          </a:prstGeom>
          <a:noFill/>
          <a:ln/>
        </p:spPr>
        <p:txBody>
          <a:bodyPr wrap="square" lIns="0" tIns="0" rIns="0" bIns="0" rtlCol="0" anchor="ctr"/>
          <a:lstStyle/>
          <a:p>
            <a:pPr algn="ctr" indent="0" marL="0">
              <a:buNone/>
            </a:pPr>
            <a:r>
              <a:rPr lang="en-US" sz="1000" b="1" dirty="0">
                <a:solidFill>
                  <a:srgbClr val="3B82F6"/>
                </a:solidFill>
                <a:latin typeface="Calibri" pitchFamily="34" charset="0"/>
                <a:ea typeface="Calibri" pitchFamily="34" charset="-122"/>
                <a:cs typeface="Calibri" pitchFamily="34" charset="-120"/>
              </a:rPr>
              <a:t>Gap analysis</a:t>
            </a:r>
            <a:endParaRPr lang="en-US" sz="1000" dirty="0"/>
          </a:p>
        </p:txBody>
      </p:sp>
      <p:sp>
        <p:nvSpPr>
          <p:cNvPr id="23" name="Shape 21"/>
          <p:cNvSpPr/>
          <p:nvPr/>
        </p:nvSpPr>
        <p:spPr>
          <a:xfrm>
            <a:off x="3723437" y="4160520"/>
            <a:ext cx="1600200" cy="365760"/>
          </a:xfrm>
          <a:prstGeom prst="roundRect">
            <a:avLst>
              <a:gd name="adj" fmla="val 17500"/>
            </a:avLst>
          </a:prstGeom>
          <a:solidFill>
            <a:srgbClr val="1C2536"/>
          </a:solidFill>
          <a:ln w="12700">
            <a:solidFill>
              <a:srgbClr val="8B5CF6"/>
            </a:solidFill>
            <a:prstDash val="solid"/>
          </a:ln>
        </p:spPr>
      </p:sp>
      <p:sp>
        <p:nvSpPr>
          <p:cNvPr id="24" name="Text 22"/>
          <p:cNvSpPr/>
          <p:nvPr/>
        </p:nvSpPr>
        <p:spPr>
          <a:xfrm>
            <a:off x="3723437" y="4160520"/>
            <a:ext cx="1600200" cy="365760"/>
          </a:xfrm>
          <a:prstGeom prst="rect">
            <a:avLst/>
          </a:prstGeom>
          <a:noFill/>
          <a:ln/>
        </p:spPr>
        <p:txBody>
          <a:bodyPr wrap="square" lIns="0" tIns="0" rIns="0" bIns="0" rtlCol="0" anchor="ctr"/>
          <a:lstStyle/>
          <a:p>
            <a:pPr algn="ctr" indent="0" marL="0">
              <a:buNone/>
            </a:pPr>
            <a:r>
              <a:rPr lang="en-US" sz="1000" b="1" dirty="0">
                <a:solidFill>
                  <a:srgbClr val="8B5CF6"/>
                </a:solidFill>
                <a:latin typeface="Calibri" pitchFamily="34" charset="0"/>
                <a:ea typeface="Calibri" pitchFamily="34" charset="-122"/>
                <a:cs typeface="Calibri" pitchFamily="34" charset="-120"/>
              </a:rPr>
              <a:t>4-phase roadmap</a:t>
            </a:r>
            <a:endParaRPr lang="en-US" sz="1000" dirty="0"/>
          </a:p>
        </p:txBody>
      </p:sp>
      <p:sp>
        <p:nvSpPr>
          <p:cNvPr id="25" name="Shape 23"/>
          <p:cNvSpPr/>
          <p:nvPr/>
        </p:nvSpPr>
        <p:spPr>
          <a:xfrm>
            <a:off x="5524805" y="4160520"/>
            <a:ext cx="2406701" cy="365760"/>
          </a:xfrm>
          <a:prstGeom prst="roundRect">
            <a:avLst>
              <a:gd name="adj" fmla="val 17500"/>
            </a:avLst>
          </a:prstGeom>
          <a:solidFill>
            <a:srgbClr val="1C2536"/>
          </a:solidFill>
          <a:ln w="12700">
            <a:solidFill>
              <a:srgbClr val="10B981"/>
            </a:solidFill>
            <a:prstDash val="solid"/>
          </a:ln>
        </p:spPr>
      </p:sp>
      <p:sp>
        <p:nvSpPr>
          <p:cNvPr id="26" name="Text 24"/>
          <p:cNvSpPr/>
          <p:nvPr/>
        </p:nvSpPr>
        <p:spPr>
          <a:xfrm>
            <a:off x="5524805" y="4160520"/>
            <a:ext cx="2406701" cy="365760"/>
          </a:xfrm>
          <a:prstGeom prst="rect">
            <a:avLst/>
          </a:prstGeom>
          <a:noFill/>
          <a:ln/>
        </p:spPr>
        <p:txBody>
          <a:bodyPr wrap="square" lIns="0" tIns="0" rIns="0" bIns="0" rtlCol="0" anchor="ctr"/>
          <a:lstStyle/>
          <a:p>
            <a:pPr algn="ctr" indent="0" marL="0">
              <a:buNone/>
            </a:pPr>
            <a:r>
              <a:rPr lang="en-US" sz="1000" b="1" dirty="0">
                <a:solidFill>
                  <a:srgbClr val="10B981"/>
                </a:solidFill>
                <a:latin typeface="Calibri" pitchFamily="34" charset="0"/>
                <a:ea typeface="Calibri" pitchFamily="34" charset="-122"/>
                <a:cs typeface="Calibri" pitchFamily="34" charset="-120"/>
              </a:rPr>
              <a:t>Bigger, CAD-grade viewer</a:t>
            </a:r>
            <a:endParaRPr lang="en-US" sz="1000" dirty="0"/>
          </a:p>
        </p:txBody>
      </p:sp>
      <p:sp>
        <p:nvSpPr>
          <p:cNvPr id="27" name="Text 25"/>
          <p:cNvSpPr/>
          <p:nvPr/>
        </p:nvSpPr>
        <p:spPr>
          <a:xfrm>
            <a:off x="658368" y="6126480"/>
            <a:ext cx="10972800" cy="274320"/>
          </a:xfrm>
          <a:prstGeom prst="rect">
            <a:avLst/>
          </a:prstGeom>
          <a:noFill/>
          <a:ln/>
        </p:spPr>
        <p:txBody>
          <a:bodyPr wrap="square" lIns="0" tIns="0" rIns="0" bIns="0" rtlCol="0" anchor="t"/>
          <a:lstStyle/>
          <a:p>
            <a:pPr indent="0" marL="0">
              <a:buNone/>
            </a:pPr>
            <a:r>
              <a:rPr lang="en-US" sz="1100" dirty="0">
                <a:solidFill>
                  <a:srgbClr val="5C6B85"/>
                </a:solidFill>
                <a:latin typeface="Calibri" pitchFamily="34" charset="0"/>
                <a:ea typeface="Calibri" pitchFamily="34" charset="-122"/>
                <a:cs typeface="Calibri" pitchFamily="34" charset="-120"/>
              </a:rPr>
              <a:t>CostVision  ·  Cost Engineering &amp; Digital Innovation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EXECUTIVE SUMMARY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we found — and the bet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11384280" cy="1042416"/>
          </a:xfrm>
          <a:prstGeom prst="roundRect">
            <a:avLst>
              <a:gd name="adj" fmla="val 6140"/>
            </a:avLst>
          </a:prstGeom>
          <a:solidFill>
            <a:srgbClr val="141B28"/>
          </a:solidFill>
          <a:ln w="9525">
            <a:solidFill>
              <a:srgbClr val="2B3A52"/>
            </a:solidFill>
            <a:prstDash val="solid"/>
          </a:ln>
        </p:spPr>
      </p:sp>
      <p:sp>
        <p:nvSpPr>
          <p:cNvPr id="12" name="Shape 10"/>
          <p:cNvSpPr/>
          <p:nvPr/>
        </p:nvSpPr>
        <p:spPr>
          <a:xfrm>
            <a:off x="411480" y="1783080"/>
            <a:ext cx="64008" cy="1042416"/>
          </a:xfrm>
          <a:prstGeom prst="rect">
            <a:avLst/>
          </a:prstGeom>
          <a:solidFill>
            <a:srgbClr val="22D3EE"/>
          </a:solidFill>
          <a:ln/>
        </p:spPr>
      </p:sp>
      <p:sp>
        <p:nvSpPr>
          <p:cNvPr id="13" name="Shape 11"/>
          <p:cNvSpPr/>
          <p:nvPr/>
        </p:nvSpPr>
        <p:spPr>
          <a:xfrm>
            <a:off x="658368" y="2093976"/>
            <a:ext cx="420624" cy="420624"/>
          </a:xfrm>
          <a:prstGeom prst="ellipse">
            <a:avLst/>
          </a:prstGeom>
          <a:solidFill>
            <a:srgbClr val="22D3EE"/>
          </a:solidFill>
          <a:ln/>
        </p:spPr>
      </p:sp>
      <p:sp>
        <p:nvSpPr>
          <p:cNvPr id="14" name="Text 12"/>
          <p:cNvSpPr/>
          <p:nvPr/>
        </p:nvSpPr>
        <p:spPr>
          <a:xfrm>
            <a:off x="658368" y="2093976"/>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1</a:t>
            </a:r>
            <a:endParaRPr lang="en-US" sz="1900" dirty="0"/>
          </a:p>
        </p:txBody>
      </p:sp>
      <p:sp>
        <p:nvSpPr>
          <p:cNvPr id="15" name="Text 13"/>
          <p:cNvSpPr/>
          <p:nvPr/>
        </p:nvSpPr>
        <p:spPr>
          <a:xfrm>
            <a:off x="1280160" y="1929384"/>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pattern is universal</a:t>
            </a:r>
            <a:endParaRPr lang="en-US" sz="1300" dirty="0"/>
          </a:p>
        </p:txBody>
      </p:sp>
      <p:sp>
        <p:nvSpPr>
          <p:cNvPr id="16" name="Text 14"/>
          <p:cNvSpPr/>
          <p:nvPr/>
        </p:nvSpPr>
        <p:spPr>
          <a:xfrm>
            <a:off x="5440680" y="1892808"/>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Every leader runs automatic feature recognition on the CAD B-rep, maps features to cost drivers, and lets a human CORRECT — never re-type — the geometry.</a:t>
            </a:r>
            <a:endParaRPr lang="en-US" sz="1050" dirty="0"/>
          </a:p>
        </p:txBody>
      </p:sp>
      <p:sp>
        <p:nvSpPr>
          <p:cNvPr id="17" name="Shape 15"/>
          <p:cNvSpPr/>
          <p:nvPr/>
        </p:nvSpPr>
        <p:spPr>
          <a:xfrm>
            <a:off x="411480" y="2916936"/>
            <a:ext cx="11384280" cy="1042416"/>
          </a:xfrm>
          <a:prstGeom prst="roundRect">
            <a:avLst>
              <a:gd name="adj" fmla="val 6140"/>
            </a:avLst>
          </a:prstGeom>
          <a:solidFill>
            <a:srgbClr val="141B28"/>
          </a:solidFill>
          <a:ln w="9525">
            <a:solidFill>
              <a:srgbClr val="2B3A52"/>
            </a:solidFill>
            <a:prstDash val="solid"/>
          </a:ln>
        </p:spPr>
      </p:sp>
      <p:sp>
        <p:nvSpPr>
          <p:cNvPr id="18" name="Shape 16"/>
          <p:cNvSpPr/>
          <p:nvPr/>
        </p:nvSpPr>
        <p:spPr>
          <a:xfrm>
            <a:off x="411480" y="2916936"/>
            <a:ext cx="64008" cy="1042416"/>
          </a:xfrm>
          <a:prstGeom prst="rect">
            <a:avLst/>
          </a:prstGeom>
          <a:solidFill>
            <a:srgbClr val="10B981"/>
          </a:solidFill>
          <a:ln/>
        </p:spPr>
      </p:sp>
      <p:sp>
        <p:nvSpPr>
          <p:cNvPr id="19" name="Shape 17"/>
          <p:cNvSpPr/>
          <p:nvPr/>
        </p:nvSpPr>
        <p:spPr>
          <a:xfrm>
            <a:off x="658368" y="3227832"/>
            <a:ext cx="420624" cy="420624"/>
          </a:xfrm>
          <a:prstGeom prst="ellipse">
            <a:avLst/>
          </a:prstGeom>
          <a:solidFill>
            <a:srgbClr val="10B981"/>
          </a:solidFill>
          <a:ln/>
        </p:spPr>
      </p:sp>
      <p:sp>
        <p:nvSpPr>
          <p:cNvPr id="20" name="Text 18"/>
          <p:cNvSpPr/>
          <p:nvPr/>
        </p:nvSpPr>
        <p:spPr>
          <a:xfrm>
            <a:off x="658368" y="3227832"/>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2</a:t>
            </a:r>
            <a:endParaRPr lang="en-US" sz="1900" dirty="0"/>
          </a:p>
        </p:txBody>
      </p:sp>
      <p:sp>
        <p:nvSpPr>
          <p:cNvPr id="21" name="Text 19"/>
          <p:cNvSpPr/>
          <p:nvPr/>
        </p:nvSpPr>
        <p:spPr>
          <a:xfrm>
            <a:off x="1280160" y="3063240"/>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We are already strong where it is hard</a:t>
            </a:r>
            <a:endParaRPr lang="en-US" sz="1300" dirty="0"/>
          </a:p>
        </p:txBody>
      </p:sp>
      <p:sp>
        <p:nvSpPr>
          <p:cNvPr id="22" name="Text 20"/>
          <p:cNvSpPr/>
          <p:nvPr/>
        </p:nvSpPr>
        <p:spPr>
          <a:xfrm>
            <a:off x="5440680" y="3026664"/>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Our OCCT engine already measures holes, depths, walls, draft, setups and feeds them to cost. Our real gaps are the VIEWER and showing what we already know.</a:t>
            </a:r>
            <a:endParaRPr lang="en-US" sz="1050" dirty="0"/>
          </a:p>
        </p:txBody>
      </p:sp>
      <p:sp>
        <p:nvSpPr>
          <p:cNvPr id="23" name="Shape 21"/>
          <p:cNvSpPr/>
          <p:nvPr/>
        </p:nvSpPr>
        <p:spPr>
          <a:xfrm>
            <a:off x="411480" y="4050792"/>
            <a:ext cx="11384280" cy="1042416"/>
          </a:xfrm>
          <a:prstGeom prst="roundRect">
            <a:avLst>
              <a:gd name="adj" fmla="val 6140"/>
            </a:avLst>
          </a:prstGeom>
          <a:solidFill>
            <a:srgbClr val="141B28"/>
          </a:solidFill>
          <a:ln w="9525">
            <a:solidFill>
              <a:srgbClr val="2B3A52"/>
            </a:solidFill>
            <a:prstDash val="solid"/>
          </a:ln>
        </p:spPr>
      </p:sp>
      <p:sp>
        <p:nvSpPr>
          <p:cNvPr id="24" name="Shape 22"/>
          <p:cNvSpPr/>
          <p:nvPr/>
        </p:nvSpPr>
        <p:spPr>
          <a:xfrm>
            <a:off x="411480" y="4050792"/>
            <a:ext cx="64008" cy="1042416"/>
          </a:xfrm>
          <a:prstGeom prst="rect">
            <a:avLst/>
          </a:prstGeom>
          <a:solidFill>
            <a:srgbClr val="3B82F6"/>
          </a:solidFill>
          <a:ln/>
        </p:spPr>
      </p:sp>
      <p:sp>
        <p:nvSpPr>
          <p:cNvPr id="25" name="Shape 23"/>
          <p:cNvSpPr/>
          <p:nvPr/>
        </p:nvSpPr>
        <p:spPr>
          <a:xfrm>
            <a:off x="658368" y="4361688"/>
            <a:ext cx="420624" cy="420624"/>
          </a:xfrm>
          <a:prstGeom prst="ellipse">
            <a:avLst/>
          </a:prstGeom>
          <a:solidFill>
            <a:srgbClr val="3B82F6"/>
          </a:solidFill>
          <a:ln/>
        </p:spPr>
      </p:sp>
      <p:sp>
        <p:nvSpPr>
          <p:cNvPr id="26" name="Text 24"/>
          <p:cNvSpPr/>
          <p:nvPr/>
        </p:nvSpPr>
        <p:spPr>
          <a:xfrm>
            <a:off x="658368" y="4361688"/>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3</a:t>
            </a:r>
            <a:endParaRPr lang="en-US" sz="1900" dirty="0"/>
          </a:p>
        </p:txBody>
      </p:sp>
      <p:sp>
        <p:nvSpPr>
          <p:cNvPr id="27" name="Text 25"/>
          <p:cNvSpPr/>
          <p:nvPr/>
        </p:nvSpPr>
        <p:spPr>
          <a:xfrm>
            <a:off x="1280160" y="4197096"/>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"feel" is on-model overlays</a:t>
            </a:r>
            <a:endParaRPr lang="en-US" sz="1300" dirty="0"/>
          </a:p>
        </p:txBody>
      </p:sp>
      <p:sp>
        <p:nvSpPr>
          <p:cNvPr id="28" name="Text 26"/>
          <p:cNvSpPr/>
          <p:nvPr/>
        </p:nvSpPr>
        <p:spPr>
          <a:xfrm>
            <a:off x="5440680" y="4160520"/>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What makes a viewer feel like CAD software is DFM painted ON the model — thickness &amp; draft heatmaps, section, a feature tree — plus room to breathe (a big canvas).</a:t>
            </a:r>
            <a:endParaRPr lang="en-US" sz="1050" dirty="0"/>
          </a:p>
        </p:txBody>
      </p:sp>
      <p:sp>
        <p:nvSpPr>
          <p:cNvPr id="29" name="Shape 27"/>
          <p:cNvSpPr/>
          <p:nvPr/>
        </p:nvSpPr>
        <p:spPr>
          <a:xfrm>
            <a:off x="411480" y="5184648"/>
            <a:ext cx="11384280" cy="1042416"/>
          </a:xfrm>
          <a:prstGeom prst="roundRect">
            <a:avLst>
              <a:gd name="adj" fmla="val 6140"/>
            </a:avLst>
          </a:prstGeom>
          <a:solidFill>
            <a:srgbClr val="141B28"/>
          </a:solidFill>
          <a:ln w="9525">
            <a:solidFill>
              <a:srgbClr val="2B3A52"/>
            </a:solidFill>
            <a:prstDash val="solid"/>
          </a:ln>
        </p:spPr>
      </p:sp>
      <p:sp>
        <p:nvSpPr>
          <p:cNvPr id="30" name="Shape 28"/>
          <p:cNvSpPr/>
          <p:nvPr/>
        </p:nvSpPr>
        <p:spPr>
          <a:xfrm>
            <a:off x="411480" y="5184648"/>
            <a:ext cx="64008" cy="1042416"/>
          </a:xfrm>
          <a:prstGeom prst="rect">
            <a:avLst/>
          </a:prstGeom>
          <a:solidFill>
            <a:srgbClr val="8B5CF6"/>
          </a:solidFill>
          <a:ln/>
        </p:spPr>
      </p:sp>
      <p:sp>
        <p:nvSpPr>
          <p:cNvPr id="31" name="Shape 29"/>
          <p:cNvSpPr/>
          <p:nvPr/>
        </p:nvSpPr>
        <p:spPr>
          <a:xfrm>
            <a:off x="658368" y="5495544"/>
            <a:ext cx="420624" cy="420624"/>
          </a:xfrm>
          <a:prstGeom prst="ellipse">
            <a:avLst/>
          </a:prstGeom>
          <a:solidFill>
            <a:srgbClr val="8B5CF6"/>
          </a:solidFill>
          <a:ln/>
        </p:spPr>
      </p:sp>
      <p:sp>
        <p:nvSpPr>
          <p:cNvPr id="32" name="Text 30"/>
          <p:cNvSpPr/>
          <p:nvPr/>
        </p:nvSpPr>
        <p:spPr>
          <a:xfrm>
            <a:off x="658368" y="5495544"/>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4</a:t>
            </a:r>
            <a:endParaRPr lang="en-US" sz="1900" dirty="0"/>
          </a:p>
        </p:txBody>
      </p:sp>
      <p:sp>
        <p:nvSpPr>
          <p:cNvPr id="33" name="Text 31"/>
          <p:cNvSpPr/>
          <p:nvPr/>
        </p:nvSpPr>
        <p:spPr>
          <a:xfrm>
            <a:off x="1280160" y="5330952"/>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build is bounded &amp; staged</a:t>
            </a:r>
            <a:endParaRPr lang="en-US" sz="1300" dirty="0"/>
          </a:p>
        </p:txBody>
      </p:sp>
      <p:sp>
        <p:nvSpPr>
          <p:cNvPr id="34" name="Text 32"/>
          <p:cNvSpPr/>
          <p:nvPr/>
        </p:nvSpPr>
        <p:spPr>
          <a:xfrm>
            <a:off x="5440680" y="5294376"/>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A 4-phase plan: quick wins first (bigger viewer + paint the data we already compute), then CAD-grade tools, then deeper capture (PMI/tolerances), then best-in-class AFR.</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THE PATTERN · VERIFIED</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How the best tools turn CAD into cost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2103120" cy="1234440"/>
          </a:xfrm>
          <a:prstGeom prst="roundRect">
            <a:avLst>
              <a:gd name="adj" fmla="val 5185"/>
            </a:avLst>
          </a:prstGeom>
          <a:solidFill>
            <a:srgbClr val="1C2536"/>
          </a:solidFill>
          <a:ln w="9525">
            <a:solidFill>
              <a:srgbClr val="2B3A52"/>
            </a:solidFill>
            <a:prstDash val="solid"/>
          </a:ln>
        </p:spPr>
      </p:sp>
      <p:sp>
        <p:nvSpPr>
          <p:cNvPr id="12" name="Shape 10"/>
          <p:cNvSpPr/>
          <p:nvPr/>
        </p:nvSpPr>
        <p:spPr>
          <a:xfrm>
            <a:off x="457200" y="1874520"/>
            <a:ext cx="2103120" cy="45720"/>
          </a:xfrm>
          <a:prstGeom prst="rect">
            <a:avLst/>
          </a:prstGeom>
          <a:solidFill>
            <a:srgbClr val="9AA7BD"/>
          </a:solidFill>
          <a:ln/>
        </p:spPr>
      </p:sp>
      <p:sp>
        <p:nvSpPr>
          <p:cNvPr id="13" name="Text 11"/>
          <p:cNvSpPr/>
          <p:nvPr/>
        </p:nvSpPr>
        <p:spPr>
          <a:xfrm>
            <a:off x="585216" y="2011680"/>
            <a:ext cx="1847088" cy="365760"/>
          </a:xfrm>
          <a:prstGeom prst="rect">
            <a:avLst/>
          </a:prstGeom>
          <a:noFill/>
          <a:ln/>
        </p:spPr>
        <p:txBody>
          <a:bodyPr wrap="square" lIns="0" tIns="0" rIns="0" bIns="0" rtlCol="0" anchor="t"/>
          <a:lstStyle/>
          <a:p>
            <a:pPr indent="0" marL="0">
              <a:buNone/>
            </a:pPr>
            <a:r>
              <a:rPr lang="en-US" sz="1200" b="1" dirty="0">
                <a:solidFill>
                  <a:srgbClr val="9AA7BD"/>
                </a:solidFill>
                <a:latin typeface="Calibri" pitchFamily="34" charset="0"/>
                <a:ea typeface="Calibri" pitchFamily="34" charset="-122"/>
                <a:cs typeface="Calibri" pitchFamily="34" charset="-120"/>
              </a:rPr>
              <a:t>3D model</a:t>
            </a:r>
            <a:endParaRPr lang="en-US" sz="1200" dirty="0"/>
          </a:p>
        </p:txBody>
      </p:sp>
      <p:sp>
        <p:nvSpPr>
          <p:cNvPr id="14" name="Text 12"/>
          <p:cNvSpPr/>
          <p:nvPr/>
        </p:nvSpPr>
        <p:spPr>
          <a:xfrm>
            <a:off x="585216"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STEP / native CAD / Parasolid</a:t>
            </a:r>
            <a:endParaRPr lang="en-US" sz="850" dirty="0"/>
          </a:p>
        </p:txBody>
      </p:sp>
      <p:sp>
        <p:nvSpPr>
          <p:cNvPr id="15" name="Text 13"/>
          <p:cNvSpPr/>
          <p:nvPr/>
        </p:nvSpPr>
        <p:spPr>
          <a:xfrm>
            <a:off x="2542032"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2761488" y="1874520"/>
            <a:ext cx="2103120" cy="1234440"/>
          </a:xfrm>
          <a:prstGeom prst="roundRect">
            <a:avLst>
              <a:gd name="adj" fmla="val 5185"/>
            </a:avLst>
          </a:prstGeom>
          <a:solidFill>
            <a:srgbClr val="1C2536"/>
          </a:solidFill>
          <a:ln w="9525">
            <a:solidFill>
              <a:srgbClr val="2B3A52"/>
            </a:solidFill>
            <a:prstDash val="solid"/>
          </a:ln>
        </p:spPr>
      </p:sp>
      <p:sp>
        <p:nvSpPr>
          <p:cNvPr id="17" name="Shape 15"/>
          <p:cNvSpPr/>
          <p:nvPr/>
        </p:nvSpPr>
        <p:spPr>
          <a:xfrm>
            <a:off x="2761488" y="1874520"/>
            <a:ext cx="2103120" cy="45720"/>
          </a:xfrm>
          <a:prstGeom prst="rect">
            <a:avLst/>
          </a:prstGeom>
          <a:solidFill>
            <a:srgbClr val="22D3EE"/>
          </a:solidFill>
          <a:ln/>
        </p:spPr>
      </p:sp>
      <p:sp>
        <p:nvSpPr>
          <p:cNvPr id="18" name="Text 16"/>
          <p:cNvSpPr/>
          <p:nvPr/>
        </p:nvSpPr>
        <p:spPr>
          <a:xfrm>
            <a:off x="2889504" y="2011680"/>
            <a:ext cx="1847088" cy="365760"/>
          </a:xfrm>
          <a:prstGeom prst="rect">
            <a:avLst/>
          </a:prstGeom>
          <a:noFill/>
          <a:ln/>
        </p:spPr>
        <p:txBody>
          <a:bodyPr wrap="square" lIns="0" tIns="0" rIns="0" bIns="0" rtlCol="0" anchor="t"/>
          <a:lstStyle/>
          <a:p>
            <a:pPr indent="0" marL="0">
              <a:buNone/>
            </a:pPr>
            <a:r>
              <a:rPr lang="en-US" sz="1200" b="1" dirty="0">
                <a:solidFill>
                  <a:srgbClr val="22D3EE"/>
                </a:solidFill>
                <a:latin typeface="Calibri" pitchFamily="34" charset="0"/>
                <a:ea typeface="Calibri" pitchFamily="34" charset="-122"/>
                <a:cs typeface="Calibri" pitchFamily="34" charset="-120"/>
              </a:rPr>
              <a:t>B-rep AFR</a:t>
            </a:r>
            <a:endParaRPr lang="en-US" sz="1200" dirty="0"/>
          </a:p>
        </p:txBody>
      </p:sp>
      <p:sp>
        <p:nvSpPr>
          <p:cNvPr id="19" name="Text 17"/>
          <p:cNvSpPr/>
          <p:nvPr/>
        </p:nvSpPr>
        <p:spPr>
          <a:xfrm>
            <a:off x="2889504"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recognise holes, pockets, bends, ribs, undercuts…</a:t>
            </a:r>
            <a:endParaRPr lang="en-US" sz="850" dirty="0"/>
          </a:p>
        </p:txBody>
      </p:sp>
      <p:sp>
        <p:nvSpPr>
          <p:cNvPr id="20" name="Text 18"/>
          <p:cNvSpPr/>
          <p:nvPr/>
        </p:nvSpPr>
        <p:spPr>
          <a:xfrm>
            <a:off x="4846320"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5065776" y="1874520"/>
            <a:ext cx="2103120" cy="1234440"/>
          </a:xfrm>
          <a:prstGeom prst="roundRect">
            <a:avLst>
              <a:gd name="adj" fmla="val 5185"/>
            </a:avLst>
          </a:prstGeom>
          <a:solidFill>
            <a:srgbClr val="1C2536"/>
          </a:solidFill>
          <a:ln w="9525">
            <a:solidFill>
              <a:srgbClr val="2B3A52"/>
            </a:solidFill>
            <a:prstDash val="solid"/>
          </a:ln>
        </p:spPr>
      </p:sp>
      <p:sp>
        <p:nvSpPr>
          <p:cNvPr id="22" name="Shape 20"/>
          <p:cNvSpPr/>
          <p:nvPr/>
        </p:nvSpPr>
        <p:spPr>
          <a:xfrm>
            <a:off x="5065776" y="1874520"/>
            <a:ext cx="2103120" cy="45720"/>
          </a:xfrm>
          <a:prstGeom prst="rect">
            <a:avLst/>
          </a:prstGeom>
          <a:solidFill>
            <a:srgbClr val="3B82F6"/>
          </a:solidFill>
          <a:ln/>
        </p:spPr>
      </p:sp>
      <p:sp>
        <p:nvSpPr>
          <p:cNvPr id="23" name="Text 21"/>
          <p:cNvSpPr/>
          <p:nvPr/>
        </p:nvSpPr>
        <p:spPr>
          <a:xfrm>
            <a:off x="5193792" y="2011680"/>
            <a:ext cx="1847088" cy="365760"/>
          </a:xfrm>
          <a:prstGeom prst="rect">
            <a:avLst/>
          </a:prstGeom>
          <a:noFill/>
          <a:ln/>
        </p:spPr>
        <p:txBody>
          <a:bodyPr wrap="square" lIns="0" tIns="0" rIns="0" bIns="0" rtlCol="0" anchor="t"/>
          <a:lstStyle/>
          <a:p>
            <a:pPr indent="0" marL="0">
              <a:buNone/>
            </a:pPr>
            <a:r>
              <a:rPr lang="en-US" sz="1200" b="1" dirty="0">
                <a:solidFill>
                  <a:srgbClr val="3B82F6"/>
                </a:solidFill>
                <a:latin typeface="Calibri" pitchFamily="34" charset="0"/>
                <a:ea typeface="Calibri" pitchFamily="34" charset="-122"/>
                <a:cs typeface="Calibri" pitchFamily="34" charset="-120"/>
              </a:rPr>
              <a:t>Cost drivers</a:t>
            </a:r>
            <a:endParaRPr lang="en-US" sz="1200" dirty="0"/>
          </a:p>
        </p:txBody>
      </p:sp>
      <p:sp>
        <p:nvSpPr>
          <p:cNvPr id="24" name="Text 22"/>
          <p:cNvSpPr/>
          <p:nvPr/>
        </p:nvSpPr>
        <p:spPr>
          <a:xfrm>
            <a:off x="5193792"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features map to routing, ops, tooling</a:t>
            </a:r>
            <a:endParaRPr lang="en-US" sz="850" dirty="0"/>
          </a:p>
        </p:txBody>
      </p:sp>
      <p:sp>
        <p:nvSpPr>
          <p:cNvPr id="25" name="Text 23"/>
          <p:cNvSpPr/>
          <p:nvPr/>
        </p:nvSpPr>
        <p:spPr>
          <a:xfrm>
            <a:off x="7150608"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7370064" y="1874520"/>
            <a:ext cx="2103120" cy="1234440"/>
          </a:xfrm>
          <a:prstGeom prst="roundRect">
            <a:avLst>
              <a:gd name="adj" fmla="val 5185"/>
            </a:avLst>
          </a:prstGeom>
          <a:solidFill>
            <a:srgbClr val="1C2536"/>
          </a:solidFill>
          <a:ln w="9525">
            <a:solidFill>
              <a:srgbClr val="2B3A52"/>
            </a:solidFill>
            <a:prstDash val="solid"/>
          </a:ln>
        </p:spPr>
      </p:sp>
      <p:sp>
        <p:nvSpPr>
          <p:cNvPr id="27" name="Shape 25"/>
          <p:cNvSpPr/>
          <p:nvPr/>
        </p:nvSpPr>
        <p:spPr>
          <a:xfrm>
            <a:off x="7370064" y="1874520"/>
            <a:ext cx="2103120" cy="45720"/>
          </a:xfrm>
          <a:prstGeom prst="rect">
            <a:avLst/>
          </a:prstGeom>
          <a:solidFill>
            <a:srgbClr val="F59E0B"/>
          </a:solidFill>
          <a:ln/>
        </p:spPr>
      </p:sp>
      <p:sp>
        <p:nvSpPr>
          <p:cNvPr id="28" name="Text 26"/>
          <p:cNvSpPr/>
          <p:nvPr/>
        </p:nvSpPr>
        <p:spPr>
          <a:xfrm>
            <a:off x="7498080" y="2011680"/>
            <a:ext cx="1847088" cy="365760"/>
          </a:xfrm>
          <a:prstGeom prst="rect">
            <a:avLst/>
          </a:prstGeom>
          <a:noFill/>
          <a:ln/>
        </p:spPr>
        <p:txBody>
          <a:bodyPr wrap="square" lIns="0" tIns="0" rIns="0" bIns="0" rtlCol="0" anchor="t"/>
          <a:lstStyle/>
          <a:p>
            <a:pPr indent="0" marL="0">
              <a:buNone/>
            </a:pPr>
            <a:r>
              <a:rPr lang="en-US" sz="1200" b="1" dirty="0">
                <a:solidFill>
                  <a:srgbClr val="F59E0B"/>
                </a:solidFill>
                <a:latin typeface="Calibri" pitchFamily="34" charset="0"/>
                <a:ea typeface="Calibri" pitchFamily="34" charset="-122"/>
                <a:cs typeface="Calibri" pitchFamily="34" charset="-120"/>
              </a:rPr>
              <a:t>Human CORRECTS</a:t>
            </a:r>
            <a:endParaRPr lang="en-US" sz="1200" dirty="0"/>
          </a:p>
        </p:txBody>
      </p:sp>
      <p:sp>
        <p:nvSpPr>
          <p:cNvPr id="29" name="Text 27"/>
          <p:cNvSpPr/>
          <p:nvPr/>
        </p:nvSpPr>
        <p:spPr>
          <a:xfrm>
            <a:off x="7498080"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fix a mis-read feature — not re-type geometry</a:t>
            </a:r>
            <a:endParaRPr lang="en-US" sz="850" dirty="0"/>
          </a:p>
        </p:txBody>
      </p:sp>
      <p:sp>
        <p:nvSpPr>
          <p:cNvPr id="30" name="Text 28"/>
          <p:cNvSpPr/>
          <p:nvPr/>
        </p:nvSpPr>
        <p:spPr>
          <a:xfrm>
            <a:off x="9454896" y="2148840"/>
            <a:ext cx="292608" cy="457200"/>
          </a:xfrm>
          <a:prstGeom prst="rect">
            <a:avLst/>
          </a:prstGeom>
          <a:noFill/>
          <a:ln/>
        </p:spPr>
        <p:txBody>
          <a:bodyPr wrap="square" lIns="0" tIns="0" rIns="0" bIns="0" rtlCol="0" anchor="t"/>
          <a:lstStyle/>
          <a:p>
            <a:pPr algn="ctr" indent="0" marL="0">
              <a:buNone/>
            </a:pPr>
            <a:r>
              <a:rPr lang="en-US" sz="1600" b="1" dirty="0">
                <a:solidFill>
                  <a:srgbClr val="22D3EE"/>
                </a:solidFill>
                <a:latin typeface="Calibri" pitchFamily="34" charset="0"/>
                <a:ea typeface="Calibri" pitchFamily="34" charset="-122"/>
                <a:cs typeface="Calibri" pitchFamily="34" charset="-120"/>
              </a:rPr>
              <a:t>→</a:t>
            </a:r>
            <a:endParaRPr lang="en-US" sz="1600" dirty="0"/>
          </a:p>
        </p:txBody>
      </p:sp>
      <p:sp>
        <p:nvSpPr>
          <p:cNvPr id="31" name="Shape 29"/>
          <p:cNvSpPr/>
          <p:nvPr/>
        </p:nvSpPr>
        <p:spPr>
          <a:xfrm>
            <a:off x="9674352" y="1874520"/>
            <a:ext cx="2103120" cy="1234440"/>
          </a:xfrm>
          <a:prstGeom prst="roundRect">
            <a:avLst>
              <a:gd name="adj" fmla="val 5185"/>
            </a:avLst>
          </a:prstGeom>
          <a:solidFill>
            <a:srgbClr val="1C2536"/>
          </a:solidFill>
          <a:ln w="9525">
            <a:solidFill>
              <a:srgbClr val="2B3A52"/>
            </a:solidFill>
            <a:prstDash val="solid"/>
          </a:ln>
        </p:spPr>
      </p:sp>
      <p:sp>
        <p:nvSpPr>
          <p:cNvPr id="32" name="Shape 30"/>
          <p:cNvSpPr/>
          <p:nvPr/>
        </p:nvSpPr>
        <p:spPr>
          <a:xfrm>
            <a:off x="9674352" y="1874520"/>
            <a:ext cx="2103120" cy="45720"/>
          </a:xfrm>
          <a:prstGeom prst="rect">
            <a:avLst/>
          </a:prstGeom>
          <a:solidFill>
            <a:srgbClr val="10B981"/>
          </a:solidFill>
          <a:ln/>
        </p:spPr>
      </p:sp>
      <p:sp>
        <p:nvSpPr>
          <p:cNvPr id="33" name="Text 31"/>
          <p:cNvSpPr/>
          <p:nvPr/>
        </p:nvSpPr>
        <p:spPr>
          <a:xfrm>
            <a:off x="9802368" y="2011680"/>
            <a:ext cx="1847088" cy="365760"/>
          </a:xfrm>
          <a:prstGeom prst="rect">
            <a:avLst/>
          </a:prstGeom>
          <a:noFill/>
          <a:ln/>
        </p:spPr>
        <p:txBody>
          <a:bodyPr wrap="square" lIns="0" tIns="0" rIns="0" bIns="0" rtlCol="0" anchor="t"/>
          <a:lstStyle/>
          <a:p>
            <a:pPr indent="0" marL="0">
              <a:buNone/>
            </a:pPr>
            <a:r>
              <a:rPr lang="en-US" sz="1200" b="1" dirty="0">
                <a:solidFill>
                  <a:srgbClr val="10B981"/>
                </a:solidFill>
                <a:latin typeface="Calibri" pitchFamily="34" charset="0"/>
                <a:ea typeface="Calibri" pitchFamily="34" charset="-122"/>
                <a:cs typeface="Calibri" pitchFamily="34" charset="-120"/>
              </a:rPr>
              <a:t>Should-cost</a:t>
            </a:r>
            <a:endParaRPr lang="en-US" sz="1200" dirty="0"/>
          </a:p>
        </p:txBody>
      </p:sp>
      <p:sp>
        <p:nvSpPr>
          <p:cNvPr id="34" name="Text 32"/>
          <p:cNvSpPr/>
          <p:nvPr/>
        </p:nvSpPr>
        <p:spPr>
          <a:xfrm>
            <a:off x="9802368"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bottom-up, defensible</a:t>
            </a:r>
            <a:endParaRPr lang="en-US" sz="850" dirty="0"/>
          </a:p>
        </p:txBody>
      </p:sp>
      <p:sp>
        <p:nvSpPr>
          <p:cNvPr id="35" name="Shape 33"/>
          <p:cNvSpPr/>
          <p:nvPr/>
        </p:nvSpPr>
        <p:spPr>
          <a:xfrm>
            <a:off x="457200" y="3520440"/>
            <a:ext cx="5532120" cy="2514600"/>
          </a:xfrm>
          <a:prstGeom prst="roundRect">
            <a:avLst>
              <a:gd name="adj" fmla="val 2545"/>
            </a:avLst>
          </a:prstGeom>
          <a:solidFill>
            <a:srgbClr val="1C2536"/>
          </a:solidFill>
          <a:ln w="9525">
            <a:solidFill>
              <a:srgbClr val="2B3A52"/>
            </a:solidFill>
            <a:prstDash val="solid"/>
          </a:ln>
        </p:spPr>
      </p:sp>
      <p:sp>
        <p:nvSpPr>
          <p:cNvPr id="36" name="Shape 34"/>
          <p:cNvSpPr/>
          <p:nvPr/>
        </p:nvSpPr>
        <p:spPr>
          <a:xfrm>
            <a:off x="457200" y="3520440"/>
            <a:ext cx="64008" cy="2514600"/>
          </a:xfrm>
          <a:prstGeom prst="rect">
            <a:avLst/>
          </a:prstGeom>
          <a:solidFill>
            <a:srgbClr val="22D3EE"/>
          </a:solidFill>
          <a:ln/>
        </p:spPr>
      </p:sp>
      <p:sp>
        <p:nvSpPr>
          <p:cNvPr id="37" name="Text 35"/>
          <p:cNvSpPr/>
          <p:nvPr/>
        </p:nvSpPr>
        <p:spPr>
          <a:xfrm>
            <a:off x="640080" y="3630168"/>
            <a:ext cx="522122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aPriori — Geometric Cost Drivers</a:t>
            </a:r>
            <a:endParaRPr lang="en-US" sz="1050" dirty="0"/>
          </a:p>
        </p:txBody>
      </p:sp>
      <p:sp>
        <p:nvSpPr>
          <p:cNvPr id="38" name="Text 36"/>
          <p:cNvSpPr/>
          <p:nvPr/>
        </p:nvSpPr>
        <p:spPr>
          <a:xfrm>
            <a:off x="640080" y="3941064"/>
            <a:ext cx="5221224" cy="2057400"/>
          </a:xfrm>
          <a:prstGeom prst="rect">
            <a:avLst/>
          </a:prstGeom>
          <a:noFill/>
          <a:ln/>
        </p:spPr>
        <p:txBody>
          <a:bodyPr wrap="square" lIns="0" tIns="0" rIns="0" bIns="0" rtlCol="0" anchor="t"/>
          <a:lstStyle/>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Inspects the raw B-rep — independent of how the native CAD built the feature — to extract named "Geometric Cost Drivers", then builds cost bottom-up. Because it costs from STEP / Parasolid (history-free formats), the recognition is provably topology-based, not feature-tree replay. GD&amp;T can be added onto drivers to steer the process route.</a:t>
            </a:r>
            <a:endParaRPr lang="en-US" sz="900" dirty="0"/>
          </a:p>
          <a:p>
            <a:pPr indent="0" marL="0">
              <a:lnSpc>
                <a:spcPct val="106000"/>
              </a:lnSpc>
              <a:buNone/>
            </a:pPr>
            <a:endParaRPr lang="en-US" sz="900" dirty="0"/>
          </a:p>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"Analyzes the 3D model, breaks it down into individual geometric cost drivers, and builds a cost from the bottom up."  — aPriori / DEVELOP3D</a:t>
            </a:r>
            <a:endParaRPr lang="en-US" sz="900" dirty="0"/>
          </a:p>
        </p:txBody>
      </p:sp>
      <p:sp>
        <p:nvSpPr>
          <p:cNvPr id="39" name="Shape 37"/>
          <p:cNvSpPr/>
          <p:nvPr/>
        </p:nvSpPr>
        <p:spPr>
          <a:xfrm>
            <a:off x="6172200" y="3520440"/>
            <a:ext cx="5577840" cy="2514600"/>
          </a:xfrm>
          <a:prstGeom prst="roundRect">
            <a:avLst>
              <a:gd name="adj" fmla="val 2545"/>
            </a:avLst>
          </a:prstGeom>
          <a:solidFill>
            <a:srgbClr val="1C2536"/>
          </a:solidFill>
          <a:ln w="9525">
            <a:solidFill>
              <a:srgbClr val="2B3A52"/>
            </a:solidFill>
            <a:prstDash val="solid"/>
          </a:ln>
        </p:spPr>
      </p:sp>
      <p:sp>
        <p:nvSpPr>
          <p:cNvPr id="40" name="Shape 38"/>
          <p:cNvSpPr/>
          <p:nvPr/>
        </p:nvSpPr>
        <p:spPr>
          <a:xfrm>
            <a:off x="6172200" y="3520440"/>
            <a:ext cx="64008" cy="2514600"/>
          </a:xfrm>
          <a:prstGeom prst="rect">
            <a:avLst/>
          </a:prstGeom>
          <a:solidFill>
            <a:srgbClr val="3B82F6"/>
          </a:solidFill>
          <a:ln/>
        </p:spPr>
      </p:sp>
      <p:sp>
        <p:nvSpPr>
          <p:cNvPr id="41" name="Text 39"/>
          <p:cNvSpPr/>
          <p:nvPr/>
        </p:nvSpPr>
        <p:spPr>
          <a:xfrm>
            <a:off x="6355080" y="3630168"/>
            <a:ext cx="526694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Siemens NX Feature2Cost</a:t>
            </a:r>
            <a:endParaRPr lang="en-US" sz="1050" dirty="0"/>
          </a:p>
        </p:txBody>
      </p:sp>
      <p:sp>
        <p:nvSpPr>
          <p:cNvPr id="42" name="Text 40"/>
          <p:cNvSpPr/>
          <p:nvPr/>
        </p:nvSpPr>
        <p:spPr>
          <a:xfrm>
            <a:off x="6355080" y="3941064"/>
            <a:ext cx="5266944" cy="2057400"/>
          </a:xfrm>
          <a:prstGeom prst="rect">
            <a:avLst/>
          </a:prstGeom>
          <a:noFill/>
          <a:ln/>
        </p:spPr>
        <p:txBody>
          <a:bodyPr wrap="square" lIns="0" tIns="0" rIns="0" bIns="0" rtlCol="0" anchor="t"/>
          <a:lstStyle/>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Commodity-specific modules (Molding, Stamping) automatically analyse the geometry file and recognise part dimensions, ribs, undercuts, bends and progressive-die features, turn them into cost drivers, allow manual correction, and pass them "seamlessly" into Teamcenter Product Cost Management / Tool Costing.</a:t>
            </a:r>
            <a:endParaRPr lang="en-US" sz="900" dirty="0"/>
          </a:p>
          <a:p>
            <a:pPr indent="0" marL="0">
              <a:lnSpc>
                <a:spcPct val="106000"/>
              </a:lnSpc>
              <a:buNone/>
            </a:pPr>
            <a:endParaRPr lang="en-US" sz="900" dirty="0"/>
          </a:p>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"Recognizes important geometrical information like general part dimensions, ribs, undercuts, bends… and drives them into actual cost drivers."  — Siemens Teamcenter blog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THE LANDSCAPE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Competitor capability matrix</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30632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B-rep feature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recognition</a:t>
            </a:r>
            <a:endParaRPr lang="en-US" sz="850" dirty="0"/>
          </a:p>
        </p:txBody>
      </p:sp>
      <p:sp>
        <p:nvSpPr>
          <p:cNvPr id="12" name="Text 10"/>
          <p:cNvSpPr/>
          <p:nvPr/>
        </p:nvSpPr>
        <p:spPr>
          <a:xfrm>
            <a:off x="451866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On-model DFM</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overlays</a:t>
            </a:r>
            <a:endParaRPr lang="en-US" sz="850" dirty="0"/>
          </a:p>
        </p:txBody>
      </p:sp>
      <p:sp>
        <p:nvSpPr>
          <p:cNvPr id="13" name="Text 11"/>
          <p:cNvSpPr/>
          <p:nvPr/>
        </p:nvSpPr>
        <p:spPr>
          <a:xfrm>
            <a:off x="597408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PMI / GD&amp;T</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 cost</a:t>
            </a:r>
            <a:endParaRPr lang="en-US" sz="850" dirty="0"/>
          </a:p>
        </p:txBody>
      </p:sp>
      <p:sp>
        <p:nvSpPr>
          <p:cNvPr id="14" name="Text 12"/>
          <p:cNvSpPr/>
          <p:nvPr/>
        </p:nvSpPr>
        <p:spPr>
          <a:xfrm>
            <a:off x="742950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CAD-software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viewer feel</a:t>
            </a:r>
            <a:endParaRPr lang="en-US" sz="850" dirty="0"/>
          </a:p>
        </p:txBody>
      </p:sp>
      <p:sp>
        <p:nvSpPr>
          <p:cNvPr id="15" name="Text 13"/>
          <p:cNvSpPr/>
          <p:nvPr/>
        </p:nvSpPr>
        <p:spPr>
          <a:xfrm>
            <a:off x="888492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Auto → cost</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(no re-entry)</a:t>
            </a:r>
            <a:endParaRPr lang="en-US" sz="850" dirty="0"/>
          </a:p>
        </p:txBody>
      </p:sp>
      <p:sp>
        <p:nvSpPr>
          <p:cNvPr id="16" name="Text 14"/>
          <p:cNvSpPr/>
          <p:nvPr/>
        </p:nvSpPr>
        <p:spPr>
          <a:xfrm>
            <a:off x="103403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Web /</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instant</a:t>
            </a:r>
            <a:endParaRPr lang="en-US" sz="850" dirty="0"/>
          </a:p>
        </p:txBody>
      </p:sp>
      <p:sp>
        <p:nvSpPr>
          <p:cNvPr id="17" name="Text 15"/>
          <p:cNvSpPr/>
          <p:nvPr/>
        </p:nvSpPr>
        <p:spPr>
          <a:xfrm>
            <a:off x="457200" y="2066544"/>
            <a:ext cx="2606040" cy="530352"/>
          </a:xfrm>
          <a:prstGeom prst="rect">
            <a:avLst/>
          </a:prstGeom>
          <a:noFill/>
          <a:ln/>
        </p:spPr>
        <p:txBody>
          <a:bodyPr wrap="square" lIns="0" tIns="0" rIns="0" bIns="0" rtlCol="0" anchor="ctr"/>
          <a:lstStyle/>
          <a:p>
            <a:pPr indent="0" marL="0">
              <a:buNone/>
            </a:pPr>
            <a:r>
              <a:rPr lang="en-US" sz="900" b="1" dirty="0">
                <a:solidFill>
                  <a:srgbClr val="9AA7BD"/>
                </a:solidFill>
                <a:latin typeface="Calibri" pitchFamily="34" charset="0"/>
                <a:ea typeface="Calibri" pitchFamily="34" charset="-122"/>
                <a:cs typeface="Calibri" pitchFamily="34" charset="-120"/>
              </a:rPr>
              <a:t>Tool</a:t>
            </a:r>
            <a:endParaRPr lang="en-US" sz="900" dirty="0"/>
          </a:p>
        </p:txBody>
      </p:sp>
      <p:sp>
        <p:nvSpPr>
          <p:cNvPr id="18" name="Shape 16"/>
          <p:cNvSpPr/>
          <p:nvPr/>
        </p:nvSpPr>
        <p:spPr>
          <a:xfrm>
            <a:off x="457200" y="2615184"/>
            <a:ext cx="11338560" cy="411480"/>
          </a:xfrm>
          <a:prstGeom prst="roundRect">
            <a:avLst>
              <a:gd name="adj" fmla="val 15556"/>
            </a:avLst>
          </a:prstGeom>
          <a:solidFill>
            <a:srgbClr val="141B28"/>
          </a:solidFill>
          <a:ln w="6350">
            <a:solidFill>
              <a:srgbClr val="2B3A52"/>
            </a:solidFill>
            <a:prstDash val="solid"/>
          </a:ln>
        </p:spPr>
      </p:sp>
      <p:sp>
        <p:nvSpPr>
          <p:cNvPr id="19" name="Text 17"/>
          <p:cNvSpPr/>
          <p:nvPr/>
        </p:nvSpPr>
        <p:spPr>
          <a:xfrm>
            <a:off x="621792" y="261518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aPriori</a:t>
            </a:r>
            <a:endParaRPr lang="en-US" sz="1000" dirty="0"/>
          </a:p>
        </p:txBody>
      </p:sp>
      <p:sp>
        <p:nvSpPr>
          <p:cNvPr id="20" name="Shape 18"/>
          <p:cNvSpPr/>
          <p:nvPr/>
        </p:nvSpPr>
        <p:spPr>
          <a:xfrm>
            <a:off x="3704082" y="2734056"/>
            <a:ext cx="173736" cy="173736"/>
          </a:xfrm>
          <a:prstGeom prst="ellipse">
            <a:avLst/>
          </a:prstGeom>
          <a:solidFill>
            <a:srgbClr val="22D3EE"/>
          </a:solidFill>
          <a:ln/>
        </p:spPr>
      </p:sp>
      <p:sp>
        <p:nvSpPr>
          <p:cNvPr id="21" name="Shape 19"/>
          <p:cNvSpPr/>
          <p:nvPr/>
        </p:nvSpPr>
        <p:spPr>
          <a:xfrm>
            <a:off x="5159502" y="2734056"/>
            <a:ext cx="173736" cy="173736"/>
          </a:xfrm>
          <a:prstGeom prst="ellipse">
            <a:avLst/>
          </a:prstGeom>
          <a:solidFill>
            <a:srgbClr val="F59E0B"/>
          </a:solidFill>
          <a:ln/>
        </p:spPr>
      </p:sp>
      <p:sp>
        <p:nvSpPr>
          <p:cNvPr id="22" name="Shape 20"/>
          <p:cNvSpPr/>
          <p:nvPr/>
        </p:nvSpPr>
        <p:spPr>
          <a:xfrm>
            <a:off x="6614922" y="2734056"/>
            <a:ext cx="173736" cy="173736"/>
          </a:xfrm>
          <a:prstGeom prst="ellipse">
            <a:avLst/>
          </a:prstGeom>
          <a:solidFill>
            <a:srgbClr val="F59E0B"/>
          </a:solidFill>
          <a:ln/>
        </p:spPr>
      </p:sp>
      <p:sp>
        <p:nvSpPr>
          <p:cNvPr id="23" name="Shape 21"/>
          <p:cNvSpPr/>
          <p:nvPr/>
        </p:nvSpPr>
        <p:spPr>
          <a:xfrm>
            <a:off x="8070342" y="2734056"/>
            <a:ext cx="173736" cy="173736"/>
          </a:xfrm>
          <a:prstGeom prst="ellipse">
            <a:avLst/>
          </a:prstGeom>
          <a:solidFill>
            <a:srgbClr val="F59E0B"/>
          </a:solidFill>
          <a:ln/>
        </p:spPr>
      </p:sp>
      <p:sp>
        <p:nvSpPr>
          <p:cNvPr id="24" name="Shape 22"/>
          <p:cNvSpPr/>
          <p:nvPr/>
        </p:nvSpPr>
        <p:spPr>
          <a:xfrm>
            <a:off x="9525762" y="2734056"/>
            <a:ext cx="173736" cy="173736"/>
          </a:xfrm>
          <a:prstGeom prst="ellipse">
            <a:avLst/>
          </a:prstGeom>
          <a:solidFill>
            <a:srgbClr val="22D3EE"/>
          </a:solidFill>
          <a:ln/>
        </p:spPr>
      </p:sp>
      <p:sp>
        <p:nvSpPr>
          <p:cNvPr id="25" name="Shape 23"/>
          <p:cNvSpPr/>
          <p:nvPr/>
        </p:nvSpPr>
        <p:spPr>
          <a:xfrm>
            <a:off x="10981182" y="2734056"/>
            <a:ext cx="173736" cy="173736"/>
          </a:xfrm>
          <a:prstGeom prst="ellipse">
            <a:avLst/>
          </a:prstGeom>
          <a:solidFill>
            <a:srgbClr val="F59E0B"/>
          </a:solidFill>
          <a:ln/>
        </p:spPr>
      </p:sp>
      <p:sp>
        <p:nvSpPr>
          <p:cNvPr id="26" name="Shape 24"/>
          <p:cNvSpPr/>
          <p:nvPr/>
        </p:nvSpPr>
        <p:spPr>
          <a:xfrm>
            <a:off x="457200" y="3026664"/>
            <a:ext cx="11338560" cy="411480"/>
          </a:xfrm>
          <a:prstGeom prst="roundRect">
            <a:avLst>
              <a:gd name="adj" fmla="val 15556"/>
            </a:avLst>
          </a:prstGeom>
          <a:solidFill>
            <a:srgbClr val="0B0F17"/>
          </a:solidFill>
          <a:ln w="6350">
            <a:solidFill>
              <a:srgbClr val="2B3A52"/>
            </a:solidFill>
            <a:prstDash val="solid"/>
          </a:ln>
        </p:spPr>
      </p:sp>
      <p:sp>
        <p:nvSpPr>
          <p:cNvPr id="27" name="Text 25"/>
          <p:cNvSpPr/>
          <p:nvPr/>
        </p:nvSpPr>
        <p:spPr>
          <a:xfrm>
            <a:off x="621792" y="302666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Siemens NX F2C</a:t>
            </a:r>
            <a:endParaRPr lang="en-US" sz="1000" dirty="0"/>
          </a:p>
        </p:txBody>
      </p:sp>
      <p:sp>
        <p:nvSpPr>
          <p:cNvPr id="28" name="Shape 26"/>
          <p:cNvSpPr/>
          <p:nvPr/>
        </p:nvSpPr>
        <p:spPr>
          <a:xfrm>
            <a:off x="3704082" y="3145536"/>
            <a:ext cx="173736" cy="173736"/>
          </a:xfrm>
          <a:prstGeom prst="ellipse">
            <a:avLst/>
          </a:prstGeom>
          <a:solidFill>
            <a:srgbClr val="22D3EE"/>
          </a:solidFill>
          <a:ln/>
        </p:spPr>
      </p:sp>
      <p:sp>
        <p:nvSpPr>
          <p:cNvPr id="29" name="Shape 27"/>
          <p:cNvSpPr/>
          <p:nvPr/>
        </p:nvSpPr>
        <p:spPr>
          <a:xfrm>
            <a:off x="5159502" y="3145536"/>
            <a:ext cx="173736" cy="173736"/>
          </a:xfrm>
          <a:prstGeom prst="ellipse">
            <a:avLst/>
          </a:prstGeom>
          <a:solidFill>
            <a:srgbClr val="F59E0B"/>
          </a:solidFill>
          <a:ln/>
        </p:spPr>
      </p:sp>
      <p:sp>
        <p:nvSpPr>
          <p:cNvPr id="30" name="Shape 28"/>
          <p:cNvSpPr/>
          <p:nvPr/>
        </p:nvSpPr>
        <p:spPr>
          <a:xfrm>
            <a:off x="6614922" y="3145536"/>
            <a:ext cx="173736" cy="173736"/>
          </a:xfrm>
          <a:prstGeom prst="ellipse">
            <a:avLst/>
          </a:prstGeom>
          <a:solidFill>
            <a:srgbClr val="F59E0B"/>
          </a:solidFill>
          <a:ln/>
        </p:spPr>
      </p:sp>
      <p:sp>
        <p:nvSpPr>
          <p:cNvPr id="31" name="Shape 29"/>
          <p:cNvSpPr/>
          <p:nvPr/>
        </p:nvSpPr>
        <p:spPr>
          <a:xfrm>
            <a:off x="8070342" y="3145536"/>
            <a:ext cx="173736" cy="173736"/>
          </a:xfrm>
          <a:prstGeom prst="ellipse">
            <a:avLst/>
          </a:prstGeom>
          <a:solidFill>
            <a:srgbClr val="22D3EE"/>
          </a:solidFill>
          <a:ln/>
        </p:spPr>
      </p:sp>
      <p:sp>
        <p:nvSpPr>
          <p:cNvPr id="32" name="Shape 30"/>
          <p:cNvSpPr/>
          <p:nvPr/>
        </p:nvSpPr>
        <p:spPr>
          <a:xfrm>
            <a:off x="9525762" y="3145536"/>
            <a:ext cx="173736" cy="173736"/>
          </a:xfrm>
          <a:prstGeom prst="ellipse">
            <a:avLst/>
          </a:prstGeom>
          <a:solidFill>
            <a:srgbClr val="22D3EE"/>
          </a:solidFill>
          <a:ln/>
        </p:spPr>
      </p:sp>
      <p:sp>
        <p:nvSpPr>
          <p:cNvPr id="33" name="Shape 31"/>
          <p:cNvSpPr/>
          <p:nvPr/>
        </p:nvSpPr>
        <p:spPr>
          <a:xfrm>
            <a:off x="10981182" y="3145536"/>
            <a:ext cx="173736" cy="173736"/>
          </a:xfrm>
          <a:prstGeom prst="ellipse">
            <a:avLst/>
          </a:prstGeom>
          <a:solidFill>
            <a:srgbClr val="141B28"/>
          </a:solidFill>
          <a:ln w="15875">
            <a:solidFill>
              <a:srgbClr val="5C6B85"/>
            </a:solidFill>
            <a:prstDash val="solid"/>
          </a:ln>
        </p:spPr>
      </p:sp>
      <p:sp>
        <p:nvSpPr>
          <p:cNvPr id="34" name="Shape 32"/>
          <p:cNvSpPr/>
          <p:nvPr/>
        </p:nvSpPr>
        <p:spPr>
          <a:xfrm>
            <a:off x="457200" y="3438144"/>
            <a:ext cx="11338560" cy="411480"/>
          </a:xfrm>
          <a:prstGeom prst="roundRect">
            <a:avLst>
              <a:gd name="adj" fmla="val 15556"/>
            </a:avLst>
          </a:prstGeom>
          <a:solidFill>
            <a:srgbClr val="141B28"/>
          </a:solidFill>
          <a:ln w="6350">
            <a:solidFill>
              <a:srgbClr val="2B3A52"/>
            </a:solidFill>
            <a:prstDash val="solid"/>
          </a:ln>
        </p:spPr>
      </p:sp>
      <p:sp>
        <p:nvSpPr>
          <p:cNvPr id="35" name="Text 33"/>
          <p:cNvSpPr/>
          <p:nvPr/>
        </p:nvSpPr>
        <p:spPr>
          <a:xfrm>
            <a:off x="621792" y="343814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3D-Tool (viewer)</a:t>
            </a:r>
            <a:endParaRPr lang="en-US" sz="1000" dirty="0"/>
          </a:p>
        </p:txBody>
      </p:sp>
      <p:sp>
        <p:nvSpPr>
          <p:cNvPr id="36" name="Shape 34"/>
          <p:cNvSpPr/>
          <p:nvPr/>
        </p:nvSpPr>
        <p:spPr>
          <a:xfrm>
            <a:off x="3704082" y="3557016"/>
            <a:ext cx="173736" cy="173736"/>
          </a:xfrm>
          <a:prstGeom prst="ellipse">
            <a:avLst/>
          </a:prstGeom>
          <a:solidFill>
            <a:srgbClr val="F59E0B"/>
          </a:solidFill>
          <a:ln/>
        </p:spPr>
      </p:sp>
      <p:sp>
        <p:nvSpPr>
          <p:cNvPr id="37" name="Shape 35"/>
          <p:cNvSpPr/>
          <p:nvPr/>
        </p:nvSpPr>
        <p:spPr>
          <a:xfrm>
            <a:off x="5159502" y="3557016"/>
            <a:ext cx="173736" cy="173736"/>
          </a:xfrm>
          <a:prstGeom prst="ellipse">
            <a:avLst/>
          </a:prstGeom>
          <a:solidFill>
            <a:srgbClr val="22D3EE"/>
          </a:solidFill>
          <a:ln/>
        </p:spPr>
      </p:sp>
      <p:sp>
        <p:nvSpPr>
          <p:cNvPr id="38" name="Shape 36"/>
          <p:cNvSpPr/>
          <p:nvPr/>
        </p:nvSpPr>
        <p:spPr>
          <a:xfrm>
            <a:off x="6614922" y="3557016"/>
            <a:ext cx="173736" cy="173736"/>
          </a:xfrm>
          <a:prstGeom prst="ellipse">
            <a:avLst/>
          </a:prstGeom>
          <a:solidFill>
            <a:srgbClr val="141B28"/>
          </a:solidFill>
          <a:ln w="15875">
            <a:solidFill>
              <a:srgbClr val="5C6B85"/>
            </a:solidFill>
            <a:prstDash val="solid"/>
          </a:ln>
        </p:spPr>
      </p:sp>
      <p:sp>
        <p:nvSpPr>
          <p:cNvPr id="39" name="Shape 37"/>
          <p:cNvSpPr/>
          <p:nvPr/>
        </p:nvSpPr>
        <p:spPr>
          <a:xfrm>
            <a:off x="8070342" y="3557016"/>
            <a:ext cx="173736" cy="173736"/>
          </a:xfrm>
          <a:prstGeom prst="ellipse">
            <a:avLst/>
          </a:prstGeom>
          <a:solidFill>
            <a:srgbClr val="22D3EE"/>
          </a:solidFill>
          <a:ln/>
        </p:spPr>
      </p:sp>
      <p:sp>
        <p:nvSpPr>
          <p:cNvPr id="40" name="Shape 38"/>
          <p:cNvSpPr/>
          <p:nvPr/>
        </p:nvSpPr>
        <p:spPr>
          <a:xfrm>
            <a:off x="9525762" y="3557016"/>
            <a:ext cx="173736" cy="173736"/>
          </a:xfrm>
          <a:prstGeom prst="ellipse">
            <a:avLst/>
          </a:prstGeom>
          <a:solidFill>
            <a:srgbClr val="141B28"/>
          </a:solidFill>
          <a:ln w="15875">
            <a:solidFill>
              <a:srgbClr val="5C6B85"/>
            </a:solidFill>
            <a:prstDash val="solid"/>
          </a:ln>
        </p:spPr>
      </p:sp>
      <p:sp>
        <p:nvSpPr>
          <p:cNvPr id="41" name="Shape 39"/>
          <p:cNvSpPr/>
          <p:nvPr/>
        </p:nvSpPr>
        <p:spPr>
          <a:xfrm>
            <a:off x="10981182" y="3557016"/>
            <a:ext cx="173736" cy="173736"/>
          </a:xfrm>
          <a:prstGeom prst="ellipse">
            <a:avLst/>
          </a:prstGeom>
          <a:solidFill>
            <a:srgbClr val="F59E0B"/>
          </a:solidFill>
          <a:ln/>
        </p:spPr>
      </p:sp>
      <p:sp>
        <p:nvSpPr>
          <p:cNvPr id="42" name="Shape 40"/>
          <p:cNvSpPr/>
          <p:nvPr/>
        </p:nvSpPr>
        <p:spPr>
          <a:xfrm>
            <a:off x="457200" y="3849624"/>
            <a:ext cx="11338560" cy="411480"/>
          </a:xfrm>
          <a:prstGeom prst="roundRect">
            <a:avLst>
              <a:gd name="adj" fmla="val 15556"/>
            </a:avLst>
          </a:prstGeom>
          <a:solidFill>
            <a:srgbClr val="0B0F17"/>
          </a:solidFill>
          <a:ln w="6350">
            <a:solidFill>
              <a:srgbClr val="2B3A52"/>
            </a:solidFill>
            <a:prstDash val="solid"/>
          </a:ln>
        </p:spPr>
      </p:sp>
      <p:sp>
        <p:nvSpPr>
          <p:cNvPr id="43" name="Text 41"/>
          <p:cNvSpPr/>
          <p:nvPr/>
        </p:nvSpPr>
        <p:spPr>
          <a:xfrm>
            <a:off x="621792" y="384962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Werk24 (drawings)</a:t>
            </a:r>
            <a:endParaRPr lang="en-US" sz="1000" dirty="0"/>
          </a:p>
        </p:txBody>
      </p:sp>
      <p:sp>
        <p:nvSpPr>
          <p:cNvPr id="44" name="Shape 42"/>
          <p:cNvSpPr/>
          <p:nvPr/>
        </p:nvSpPr>
        <p:spPr>
          <a:xfrm>
            <a:off x="3704082" y="3968496"/>
            <a:ext cx="173736" cy="173736"/>
          </a:xfrm>
          <a:prstGeom prst="ellipse">
            <a:avLst/>
          </a:prstGeom>
          <a:solidFill>
            <a:srgbClr val="F59E0B"/>
          </a:solidFill>
          <a:ln/>
        </p:spPr>
      </p:sp>
      <p:sp>
        <p:nvSpPr>
          <p:cNvPr id="45" name="Shape 43"/>
          <p:cNvSpPr/>
          <p:nvPr/>
        </p:nvSpPr>
        <p:spPr>
          <a:xfrm>
            <a:off x="5159502" y="3968496"/>
            <a:ext cx="173736" cy="173736"/>
          </a:xfrm>
          <a:prstGeom prst="ellipse">
            <a:avLst/>
          </a:prstGeom>
          <a:solidFill>
            <a:srgbClr val="141B28"/>
          </a:solidFill>
          <a:ln w="15875">
            <a:solidFill>
              <a:srgbClr val="5C6B85"/>
            </a:solidFill>
            <a:prstDash val="solid"/>
          </a:ln>
        </p:spPr>
      </p:sp>
      <p:sp>
        <p:nvSpPr>
          <p:cNvPr id="46" name="Shape 44"/>
          <p:cNvSpPr/>
          <p:nvPr/>
        </p:nvSpPr>
        <p:spPr>
          <a:xfrm>
            <a:off x="6614922" y="3968496"/>
            <a:ext cx="173736" cy="173736"/>
          </a:xfrm>
          <a:prstGeom prst="ellipse">
            <a:avLst/>
          </a:prstGeom>
          <a:solidFill>
            <a:srgbClr val="22D3EE"/>
          </a:solidFill>
          <a:ln/>
        </p:spPr>
      </p:sp>
      <p:sp>
        <p:nvSpPr>
          <p:cNvPr id="47" name="Shape 45"/>
          <p:cNvSpPr/>
          <p:nvPr/>
        </p:nvSpPr>
        <p:spPr>
          <a:xfrm>
            <a:off x="8070342" y="3968496"/>
            <a:ext cx="173736" cy="173736"/>
          </a:xfrm>
          <a:prstGeom prst="ellipse">
            <a:avLst/>
          </a:prstGeom>
          <a:solidFill>
            <a:srgbClr val="141B28"/>
          </a:solidFill>
          <a:ln w="15875">
            <a:solidFill>
              <a:srgbClr val="5C6B85"/>
            </a:solidFill>
            <a:prstDash val="solid"/>
          </a:ln>
        </p:spPr>
      </p:sp>
      <p:sp>
        <p:nvSpPr>
          <p:cNvPr id="48" name="Shape 46"/>
          <p:cNvSpPr/>
          <p:nvPr/>
        </p:nvSpPr>
        <p:spPr>
          <a:xfrm>
            <a:off x="9525762" y="3968496"/>
            <a:ext cx="173736" cy="173736"/>
          </a:xfrm>
          <a:prstGeom prst="ellipse">
            <a:avLst/>
          </a:prstGeom>
          <a:solidFill>
            <a:srgbClr val="F59E0B"/>
          </a:solidFill>
          <a:ln/>
        </p:spPr>
      </p:sp>
      <p:sp>
        <p:nvSpPr>
          <p:cNvPr id="49" name="Shape 47"/>
          <p:cNvSpPr/>
          <p:nvPr/>
        </p:nvSpPr>
        <p:spPr>
          <a:xfrm>
            <a:off x="10981182" y="3968496"/>
            <a:ext cx="173736" cy="173736"/>
          </a:xfrm>
          <a:prstGeom prst="ellipse">
            <a:avLst/>
          </a:prstGeom>
          <a:solidFill>
            <a:srgbClr val="22D3EE"/>
          </a:solidFill>
          <a:ln/>
        </p:spPr>
      </p:sp>
      <p:sp>
        <p:nvSpPr>
          <p:cNvPr id="50" name="Shape 48"/>
          <p:cNvSpPr/>
          <p:nvPr/>
        </p:nvSpPr>
        <p:spPr>
          <a:xfrm>
            <a:off x="457200" y="4261104"/>
            <a:ext cx="11338560" cy="411480"/>
          </a:xfrm>
          <a:prstGeom prst="roundRect">
            <a:avLst>
              <a:gd name="adj" fmla="val 15556"/>
            </a:avLst>
          </a:prstGeom>
          <a:solidFill>
            <a:srgbClr val="141B28"/>
          </a:solidFill>
          <a:ln w="6350">
            <a:solidFill>
              <a:srgbClr val="2B3A52"/>
            </a:solidFill>
            <a:prstDash val="solid"/>
          </a:ln>
        </p:spPr>
      </p:sp>
      <p:sp>
        <p:nvSpPr>
          <p:cNvPr id="51" name="Text 49"/>
          <p:cNvSpPr/>
          <p:nvPr/>
        </p:nvSpPr>
        <p:spPr>
          <a:xfrm>
            <a:off x="621792" y="426110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MTI Costimator 3DFX</a:t>
            </a:r>
            <a:endParaRPr lang="en-US" sz="1000" dirty="0"/>
          </a:p>
        </p:txBody>
      </p:sp>
      <p:sp>
        <p:nvSpPr>
          <p:cNvPr id="52" name="Shape 50"/>
          <p:cNvSpPr/>
          <p:nvPr/>
        </p:nvSpPr>
        <p:spPr>
          <a:xfrm>
            <a:off x="3704082" y="4379976"/>
            <a:ext cx="173736" cy="173736"/>
          </a:xfrm>
          <a:prstGeom prst="ellipse">
            <a:avLst/>
          </a:prstGeom>
          <a:solidFill>
            <a:srgbClr val="22D3EE"/>
          </a:solidFill>
          <a:ln/>
        </p:spPr>
      </p:sp>
      <p:sp>
        <p:nvSpPr>
          <p:cNvPr id="53" name="Shape 51"/>
          <p:cNvSpPr/>
          <p:nvPr/>
        </p:nvSpPr>
        <p:spPr>
          <a:xfrm>
            <a:off x="5159502" y="4379976"/>
            <a:ext cx="173736" cy="173736"/>
          </a:xfrm>
          <a:prstGeom prst="ellipse">
            <a:avLst/>
          </a:prstGeom>
          <a:solidFill>
            <a:srgbClr val="141B28"/>
          </a:solidFill>
          <a:ln w="15875">
            <a:solidFill>
              <a:srgbClr val="5C6B85"/>
            </a:solidFill>
            <a:prstDash val="solid"/>
          </a:ln>
        </p:spPr>
      </p:sp>
      <p:sp>
        <p:nvSpPr>
          <p:cNvPr id="54" name="Shape 52"/>
          <p:cNvSpPr/>
          <p:nvPr/>
        </p:nvSpPr>
        <p:spPr>
          <a:xfrm>
            <a:off x="6614922" y="4379976"/>
            <a:ext cx="173736" cy="173736"/>
          </a:xfrm>
          <a:prstGeom prst="ellipse">
            <a:avLst/>
          </a:prstGeom>
          <a:solidFill>
            <a:srgbClr val="141B28"/>
          </a:solidFill>
          <a:ln w="15875">
            <a:solidFill>
              <a:srgbClr val="5C6B85"/>
            </a:solidFill>
            <a:prstDash val="solid"/>
          </a:ln>
        </p:spPr>
      </p:sp>
      <p:sp>
        <p:nvSpPr>
          <p:cNvPr id="55" name="Shape 53"/>
          <p:cNvSpPr/>
          <p:nvPr/>
        </p:nvSpPr>
        <p:spPr>
          <a:xfrm>
            <a:off x="8070342" y="4379976"/>
            <a:ext cx="173736" cy="173736"/>
          </a:xfrm>
          <a:prstGeom prst="ellipse">
            <a:avLst/>
          </a:prstGeom>
          <a:solidFill>
            <a:srgbClr val="F59E0B"/>
          </a:solidFill>
          <a:ln/>
        </p:spPr>
      </p:sp>
      <p:sp>
        <p:nvSpPr>
          <p:cNvPr id="56" name="Shape 54"/>
          <p:cNvSpPr/>
          <p:nvPr/>
        </p:nvSpPr>
        <p:spPr>
          <a:xfrm>
            <a:off x="9525762" y="4379976"/>
            <a:ext cx="173736" cy="173736"/>
          </a:xfrm>
          <a:prstGeom prst="ellipse">
            <a:avLst/>
          </a:prstGeom>
          <a:solidFill>
            <a:srgbClr val="22D3EE"/>
          </a:solidFill>
          <a:ln/>
        </p:spPr>
      </p:sp>
      <p:sp>
        <p:nvSpPr>
          <p:cNvPr id="57" name="Shape 55"/>
          <p:cNvSpPr/>
          <p:nvPr/>
        </p:nvSpPr>
        <p:spPr>
          <a:xfrm>
            <a:off x="10981182" y="4379976"/>
            <a:ext cx="173736" cy="173736"/>
          </a:xfrm>
          <a:prstGeom prst="ellipse">
            <a:avLst/>
          </a:prstGeom>
          <a:solidFill>
            <a:srgbClr val="141B28"/>
          </a:solidFill>
          <a:ln w="15875">
            <a:solidFill>
              <a:srgbClr val="5C6B85"/>
            </a:solidFill>
            <a:prstDash val="solid"/>
          </a:ln>
        </p:spPr>
      </p:sp>
      <p:sp>
        <p:nvSpPr>
          <p:cNvPr id="58" name="Shape 56"/>
          <p:cNvSpPr/>
          <p:nvPr/>
        </p:nvSpPr>
        <p:spPr>
          <a:xfrm>
            <a:off x="457200" y="4672584"/>
            <a:ext cx="11338560" cy="411480"/>
          </a:xfrm>
          <a:prstGeom prst="roundRect">
            <a:avLst>
              <a:gd name="adj" fmla="val 15556"/>
            </a:avLst>
          </a:prstGeom>
          <a:solidFill>
            <a:srgbClr val="10202E"/>
          </a:solidFill>
          <a:ln w="6350">
            <a:solidFill>
              <a:srgbClr val="2B3A52"/>
            </a:solidFill>
            <a:prstDash val="solid"/>
          </a:ln>
        </p:spPr>
      </p:sp>
      <p:sp>
        <p:nvSpPr>
          <p:cNvPr id="59" name="Shape 57"/>
          <p:cNvSpPr/>
          <p:nvPr/>
        </p:nvSpPr>
        <p:spPr>
          <a:xfrm>
            <a:off x="457200" y="4672584"/>
            <a:ext cx="54864" cy="411480"/>
          </a:xfrm>
          <a:prstGeom prst="rect">
            <a:avLst/>
          </a:prstGeom>
          <a:solidFill>
            <a:srgbClr val="22D3EE"/>
          </a:solidFill>
          <a:ln/>
        </p:spPr>
      </p:sp>
      <p:sp>
        <p:nvSpPr>
          <p:cNvPr id="60" name="Text 58"/>
          <p:cNvSpPr/>
          <p:nvPr/>
        </p:nvSpPr>
        <p:spPr>
          <a:xfrm>
            <a:off x="621792" y="4672584"/>
            <a:ext cx="2423160" cy="411480"/>
          </a:xfrm>
          <a:prstGeom prst="rect">
            <a:avLst/>
          </a:prstGeom>
          <a:noFill/>
          <a:ln/>
        </p:spPr>
        <p:txBody>
          <a:bodyPr wrap="square" lIns="0" tIns="0" rIns="0" bIns="0" rtlCol="0" anchor="ctr"/>
          <a:lstStyle/>
          <a:p>
            <a:pPr indent="0" marL="0">
              <a:buNone/>
            </a:pPr>
            <a:r>
              <a:rPr lang="en-US" sz="1000" b="1" dirty="0">
                <a:solidFill>
                  <a:srgbClr val="22D3EE"/>
                </a:solidFill>
                <a:latin typeface="Calibri" pitchFamily="34" charset="0"/>
                <a:ea typeface="Calibri" pitchFamily="34" charset="-122"/>
                <a:cs typeface="Calibri" pitchFamily="34" charset="-120"/>
              </a:rPr>
              <a:t>CostVision — today</a:t>
            </a:r>
            <a:endParaRPr lang="en-US" sz="1000" dirty="0"/>
          </a:p>
        </p:txBody>
      </p:sp>
      <p:sp>
        <p:nvSpPr>
          <p:cNvPr id="61" name="Shape 59"/>
          <p:cNvSpPr/>
          <p:nvPr/>
        </p:nvSpPr>
        <p:spPr>
          <a:xfrm>
            <a:off x="3704082" y="4791456"/>
            <a:ext cx="173736" cy="173736"/>
          </a:xfrm>
          <a:prstGeom prst="ellipse">
            <a:avLst/>
          </a:prstGeom>
          <a:solidFill>
            <a:srgbClr val="F59E0B"/>
          </a:solidFill>
          <a:ln/>
        </p:spPr>
      </p:sp>
      <p:sp>
        <p:nvSpPr>
          <p:cNvPr id="62" name="Shape 60"/>
          <p:cNvSpPr/>
          <p:nvPr/>
        </p:nvSpPr>
        <p:spPr>
          <a:xfrm>
            <a:off x="5159502" y="4791456"/>
            <a:ext cx="173736" cy="173736"/>
          </a:xfrm>
          <a:prstGeom prst="ellipse">
            <a:avLst/>
          </a:prstGeom>
          <a:solidFill>
            <a:srgbClr val="141B28"/>
          </a:solidFill>
          <a:ln w="15875">
            <a:solidFill>
              <a:srgbClr val="5C6B85"/>
            </a:solidFill>
            <a:prstDash val="solid"/>
          </a:ln>
        </p:spPr>
      </p:sp>
      <p:sp>
        <p:nvSpPr>
          <p:cNvPr id="63" name="Shape 61"/>
          <p:cNvSpPr/>
          <p:nvPr/>
        </p:nvSpPr>
        <p:spPr>
          <a:xfrm>
            <a:off x="6614922" y="4791456"/>
            <a:ext cx="173736" cy="173736"/>
          </a:xfrm>
          <a:prstGeom prst="ellipse">
            <a:avLst/>
          </a:prstGeom>
          <a:solidFill>
            <a:srgbClr val="141B28"/>
          </a:solidFill>
          <a:ln w="15875">
            <a:solidFill>
              <a:srgbClr val="5C6B85"/>
            </a:solidFill>
            <a:prstDash val="solid"/>
          </a:ln>
        </p:spPr>
      </p:sp>
      <p:sp>
        <p:nvSpPr>
          <p:cNvPr id="64" name="Shape 62"/>
          <p:cNvSpPr/>
          <p:nvPr/>
        </p:nvSpPr>
        <p:spPr>
          <a:xfrm>
            <a:off x="8070342" y="4791456"/>
            <a:ext cx="173736" cy="173736"/>
          </a:xfrm>
          <a:prstGeom prst="ellipse">
            <a:avLst/>
          </a:prstGeom>
          <a:solidFill>
            <a:srgbClr val="F59E0B"/>
          </a:solidFill>
          <a:ln/>
        </p:spPr>
      </p:sp>
      <p:sp>
        <p:nvSpPr>
          <p:cNvPr id="65" name="Shape 63"/>
          <p:cNvSpPr/>
          <p:nvPr/>
        </p:nvSpPr>
        <p:spPr>
          <a:xfrm>
            <a:off x="9525762" y="4791456"/>
            <a:ext cx="173736" cy="173736"/>
          </a:xfrm>
          <a:prstGeom prst="ellipse">
            <a:avLst/>
          </a:prstGeom>
          <a:solidFill>
            <a:srgbClr val="22D3EE"/>
          </a:solidFill>
          <a:ln/>
        </p:spPr>
      </p:sp>
      <p:sp>
        <p:nvSpPr>
          <p:cNvPr id="66" name="Shape 64"/>
          <p:cNvSpPr/>
          <p:nvPr/>
        </p:nvSpPr>
        <p:spPr>
          <a:xfrm>
            <a:off x="10981182" y="4791456"/>
            <a:ext cx="173736" cy="173736"/>
          </a:xfrm>
          <a:prstGeom prst="ellipse">
            <a:avLst/>
          </a:prstGeom>
          <a:solidFill>
            <a:srgbClr val="22D3EE"/>
          </a:solidFill>
          <a:ln/>
        </p:spPr>
      </p:sp>
      <p:sp>
        <p:nvSpPr>
          <p:cNvPr id="67" name="Shape 65"/>
          <p:cNvSpPr/>
          <p:nvPr/>
        </p:nvSpPr>
        <p:spPr>
          <a:xfrm>
            <a:off x="457200" y="5084064"/>
            <a:ext cx="11338560" cy="411480"/>
          </a:xfrm>
          <a:prstGeom prst="roundRect">
            <a:avLst>
              <a:gd name="adj" fmla="val 15556"/>
            </a:avLst>
          </a:prstGeom>
          <a:solidFill>
            <a:srgbClr val="12271F"/>
          </a:solidFill>
          <a:ln w="6350">
            <a:solidFill>
              <a:srgbClr val="2B3A52"/>
            </a:solidFill>
            <a:prstDash val="solid"/>
          </a:ln>
        </p:spPr>
      </p:sp>
      <p:sp>
        <p:nvSpPr>
          <p:cNvPr id="68" name="Shape 66"/>
          <p:cNvSpPr/>
          <p:nvPr/>
        </p:nvSpPr>
        <p:spPr>
          <a:xfrm>
            <a:off x="457200" y="5084064"/>
            <a:ext cx="54864" cy="411480"/>
          </a:xfrm>
          <a:prstGeom prst="rect">
            <a:avLst/>
          </a:prstGeom>
          <a:solidFill>
            <a:srgbClr val="10B981"/>
          </a:solidFill>
          <a:ln/>
        </p:spPr>
      </p:sp>
      <p:sp>
        <p:nvSpPr>
          <p:cNvPr id="69" name="Text 67"/>
          <p:cNvSpPr/>
          <p:nvPr/>
        </p:nvSpPr>
        <p:spPr>
          <a:xfrm>
            <a:off x="621792" y="5084064"/>
            <a:ext cx="2423160" cy="411480"/>
          </a:xfrm>
          <a:prstGeom prst="rect">
            <a:avLst/>
          </a:prstGeom>
          <a:noFill/>
          <a:ln/>
        </p:spPr>
        <p:txBody>
          <a:bodyPr wrap="square" lIns="0" tIns="0" rIns="0" bIns="0"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CostVision — planned</a:t>
            </a:r>
            <a:endParaRPr lang="en-US" sz="1000" dirty="0"/>
          </a:p>
        </p:txBody>
      </p:sp>
      <p:sp>
        <p:nvSpPr>
          <p:cNvPr id="70" name="Shape 68"/>
          <p:cNvSpPr/>
          <p:nvPr/>
        </p:nvSpPr>
        <p:spPr>
          <a:xfrm>
            <a:off x="3704082" y="5202936"/>
            <a:ext cx="173736" cy="173736"/>
          </a:xfrm>
          <a:prstGeom prst="ellipse">
            <a:avLst/>
          </a:prstGeom>
          <a:solidFill>
            <a:srgbClr val="22D3EE"/>
          </a:solidFill>
          <a:ln/>
        </p:spPr>
      </p:sp>
      <p:sp>
        <p:nvSpPr>
          <p:cNvPr id="71" name="Shape 69"/>
          <p:cNvSpPr/>
          <p:nvPr/>
        </p:nvSpPr>
        <p:spPr>
          <a:xfrm>
            <a:off x="5159502" y="5202936"/>
            <a:ext cx="173736" cy="173736"/>
          </a:xfrm>
          <a:prstGeom prst="ellipse">
            <a:avLst/>
          </a:prstGeom>
          <a:solidFill>
            <a:srgbClr val="22D3EE"/>
          </a:solidFill>
          <a:ln/>
        </p:spPr>
      </p:sp>
      <p:sp>
        <p:nvSpPr>
          <p:cNvPr id="72" name="Shape 70"/>
          <p:cNvSpPr/>
          <p:nvPr/>
        </p:nvSpPr>
        <p:spPr>
          <a:xfrm>
            <a:off x="6614922" y="5202936"/>
            <a:ext cx="173736" cy="173736"/>
          </a:xfrm>
          <a:prstGeom prst="ellipse">
            <a:avLst/>
          </a:prstGeom>
          <a:solidFill>
            <a:srgbClr val="22D3EE"/>
          </a:solidFill>
          <a:ln/>
        </p:spPr>
      </p:sp>
      <p:sp>
        <p:nvSpPr>
          <p:cNvPr id="73" name="Shape 71"/>
          <p:cNvSpPr/>
          <p:nvPr/>
        </p:nvSpPr>
        <p:spPr>
          <a:xfrm>
            <a:off x="8070342" y="5202936"/>
            <a:ext cx="173736" cy="173736"/>
          </a:xfrm>
          <a:prstGeom prst="ellipse">
            <a:avLst/>
          </a:prstGeom>
          <a:solidFill>
            <a:srgbClr val="22D3EE"/>
          </a:solidFill>
          <a:ln/>
        </p:spPr>
      </p:sp>
      <p:sp>
        <p:nvSpPr>
          <p:cNvPr id="74" name="Shape 72"/>
          <p:cNvSpPr/>
          <p:nvPr/>
        </p:nvSpPr>
        <p:spPr>
          <a:xfrm>
            <a:off x="9525762" y="5202936"/>
            <a:ext cx="173736" cy="173736"/>
          </a:xfrm>
          <a:prstGeom prst="ellipse">
            <a:avLst/>
          </a:prstGeom>
          <a:solidFill>
            <a:srgbClr val="22D3EE"/>
          </a:solidFill>
          <a:ln/>
        </p:spPr>
      </p:sp>
      <p:sp>
        <p:nvSpPr>
          <p:cNvPr id="75" name="Shape 73"/>
          <p:cNvSpPr/>
          <p:nvPr/>
        </p:nvSpPr>
        <p:spPr>
          <a:xfrm>
            <a:off x="10981182" y="5202936"/>
            <a:ext cx="173736" cy="173736"/>
          </a:xfrm>
          <a:prstGeom prst="ellipse">
            <a:avLst/>
          </a:prstGeom>
          <a:solidFill>
            <a:srgbClr val="22D3EE"/>
          </a:solidFill>
          <a:ln/>
        </p:spPr>
      </p:sp>
      <p:sp>
        <p:nvSpPr>
          <p:cNvPr id="76" name="Shape 74"/>
          <p:cNvSpPr/>
          <p:nvPr/>
        </p:nvSpPr>
        <p:spPr>
          <a:xfrm>
            <a:off x="461772" y="5664708"/>
            <a:ext cx="173736" cy="173736"/>
          </a:xfrm>
          <a:prstGeom prst="ellipse">
            <a:avLst/>
          </a:prstGeom>
          <a:solidFill>
            <a:srgbClr val="22D3EE"/>
          </a:solidFill>
          <a:ln/>
        </p:spPr>
      </p:sp>
      <p:sp>
        <p:nvSpPr>
          <p:cNvPr id="77" name="Text 75"/>
          <p:cNvSpPr/>
          <p:nvPr/>
        </p:nvSpPr>
        <p:spPr>
          <a:xfrm>
            <a:off x="7132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Full</a:t>
            </a:r>
            <a:endParaRPr lang="en-US" sz="900" dirty="0"/>
          </a:p>
        </p:txBody>
      </p:sp>
      <p:sp>
        <p:nvSpPr>
          <p:cNvPr id="78" name="Shape 76"/>
          <p:cNvSpPr/>
          <p:nvPr/>
        </p:nvSpPr>
        <p:spPr>
          <a:xfrm>
            <a:off x="1376172" y="5664708"/>
            <a:ext cx="173736" cy="173736"/>
          </a:xfrm>
          <a:prstGeom prst="ellipse">
            <a:avLst/>
          </a:prstGeom>
          <a:solidFill>
            <a:srgbClr val="F59E0B"/>
          </a:solidFill>
          <a:ln/>
        </p:spPr>
      </p:sp>
      <p:sp>
        <p:nvSpPr>
          <p:cNvPr id="79" name="Text 77"/>
          <p:cNvSpPr/>
          <p:nvPr/>
        </p:nvSpPr>
        <p:spPr>
          <a:xfrm>
            <a:off x="16276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Partial</a:t>
            </a:r>
            <a:endParaRPr lang="en-US" sz="900" dirty="0"/>
          </a:p>
        </p:txBody>
      </p:sp>
      <p:sp>
        <p:nvSpPr>
          <p:cNvPr id="80" name="Shape 78"/>
          <p:cNvSpPr/>
          <p:nvPr/>
        </p:nvSpPr>
        <p:spPr>
          <a:xfrm>
            <a:off x="2496312" y="5664708"/>
            <a:ext cx="173736" cy="173736"/>
          </a:xfrm>
          <a:prstGeom prst="ellipse">
            <a:avLst/>
          </a:prstGeom>
          <a:solidFill>
            <a:srgbClr val="141B28"/>
          </a:solidFill>
          <a:ln w="15875">
            <a:solidFill>
              <a:srgbClr val="5C6B85"/>
            </a:solidFill>
            <a:prstDash val="solid"/>
          </a:ln>
        </p:spPr>
      </p:sp>
      <p:sp>
        <p:nvSpPr>
          <p:cNvPr id="81" name="Text 79"/>
          <p:cNvSpPr/>
          <p:nvPr/>
        </p:nvSpPr>
        <p:spPr>
          <a:xfrm>
            <a:off x="274777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Limited / none</a:t>
            </a:r>
            <a:endParaRPr lang="en-US" sz="900" dirty="0"/>
          </a:p>
        </p:txBody>
      </p:sp>
      <p:sp>
        <p:nvSpPr>
          <p:cNvPr id="82" name="Text 80"/>
          <p:cNvSpPr/>
          <p:nvPr/>
        </p:nvSpPr>
        <p:spPr>
          <a:xfrm>
            <a:off x="457200" y="6025896"/>
            <a:ext cx="11338560" cy="274320"/>
          </a:xfrm>
          <a:prstGeom prst="rect">
            <a:avLst/>
          </a:prstGeom>
          <a:noFill/>
          <a:ln/>
        </p:spPr>
        <p:txBody>
          <a:bodyPr wrap="square" lIns="0" tIns="0" rIns="0" bIns="0" rtlCol="0" anchor="t"/>
          <a:lstStyle/>
          <a:p>
            <a:pPr indent="0" marL="0">
              <a:buNone/>
            </a:pPr>
            <a:r>
              <a:rPr lang="en-US" sz="800" i="1" dirty="0">
                <a:solidFill>
                  <a:srgbClr val="5C6B85"/>
                </a:solidFill>
                <a:latin typeface="Calibri" pitchFamily="34" charset="0"/>
                <a:ea typeface="Calibri" pitchFamily="34" charset="-122"/>
                <a:cs typeface="Calibri" pitchFamily="34" charset="-120"/>
              </a:rPr>
              <a:t>Sources: aPriori (DEVELOP3D / product), Siemens Teamcenter blog, 3D-Tool, Werk24 docs, MTI Systems — all verified.  Marks are our read of published capability.</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THE EXPERIENCE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makes a viewer "feel like CAD software"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411480" y="1783080"/>
            <a:ext cx="11338560" cy="457200"/>
          </a:xfrm>
          <a:prstGeom prst="rect">
            <a:avLst/>
          </a:prstGeom>
          <a:noFill/>
          <a:ln/>
        </p:spPr>
        <p:txBody>
          <a:bodyPr wrap="square" lIns="0" tIns="0" rIns="0" bIns="0" rtlCol="0" anchor="t"/>
          <a:lstStyle/>
          <a:p>
            <a:pPr indent="0" marL="0">
              <a:lnSpc>
                <a:spcPct val="110000"/>
              </a:lnSpc>
              <a:buNone/>
            </a:pPr>
            <a:r>
              <a:rPr lang="en-US" sz="1200" i="1" dirty="0">
                <a:solidFill>
                  <a:srgbClr val="9AA7BD"/>
                </a:solidFill>
                <a:latin typeface="Calibri" pitchFamily="34" charset="0"/>
                <a:ea typeface="Calibri" pitchFamily="34" charset="-122"/>
                <a:cs typeface="Calibri" pitchFamily="34" charset="-120"/>
              </a:rPr>
              <a:t>It is not prettier rendering — it is analysis painted ON the model, and room to work. 3D-Tool is the gold standard: four heatmap analyses shown directly on the part.</a:t>
            </a:r>
            <a:endParaRPr lang="en-US" sz="1200" dirty="0"/>
          </a:p>
        </p:txBody>
      </p:sp>
      <p:sp>
        <p:nvSpPr>
          <p:cNvPr id="12" name="Shape 10"/>
          <p:cNvSpPr/>
          <p:nvPr/>
        </p:nvSpPr>
        <p:spPr>
          <a:xfrm>
            <a:off x="411480" y="2331720"/>
            <a:ext cx="3685032" cy="1737360"/>
          </a:xfrm>
          <a:prstGeom prst="roundRect">
            <a:avLst>
              <a:gd name="adj" fmla="val 3684"/>
            </a:avLst>
          </a:prstGeom>
          <a:solidFill>
            <a:srgbClr val="1C2536"/>
          </a:solidFill>
          <a:ln w="9525">
            <a:solidFill>
              <a:srgbClr val="2B3A52"/>
            </a:solidFill>
            <a:prstDash val="solid"/>
          </a:ln>
        </p:spPr>
      </p:sp>
      <p:sp>
        <p:nvSpPr>
          <p:cNvPr id="13" name="Shape 11"/>
          <p:cNvSpPr/>
          <p:nvPr/>
        </p:nvSpPr>
        <p:spPr>
          <a:xfrm>
            <a:off x="411480" y="2331720"/>
            <a:ext cx="64008" cy="1737360"/>
          </a:xfrm>
          <a:prstGeom prst="rect">
            <a:avLst/>
          </a:prstGeom>
          <a:solidFill>
            <a:srgbClr val="22D3EE"/>
          </a:solidFill>
          <a:ln/>
        </p:spPr>
      </p:sp>
      <p:sp>
        <p:nvSpPr>
          <p:cNvPr id="14" name="Text 12"/>
          <p:cNvSpPr/>
          <p:nvPr/>
        </p:nvSpPr>
        <p:spPr>
          <a:xfrm>
            <a:off x="594360"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Wall-thickness heatmap</a:t>
            </a:r>
            <a:endParaRPr lang="en-US" sz="1100" dirty="0"/>
          </a:p>
        </p:txBody>
      </p:sp>
      <p:sp>
        <p:nvSpPr>
          <p:cNvPr id="15" name="Text 13"/>
          <p:cNvSpPr/>
          <p:nvPr/>
        </p:nvSpPr>
        <p:spPr>
          <a:xfrm>
            <a:off x="594360"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Thin/thick zones coloured on the model (single-ray &amp; fitted-ball methods) — instantly shows mould/casting risk and cost drivers.</a:t>
            </a:r>
            <a:endParaRPr lang="en-US" sz="930" dirty="0"/>
          </a:p>
        </p:txBody>
      </p:sp>
      <p:sp>
        <p:nvSpPr>
          <p:cNvPr id="16" name="Shape 14"/>
          <p:cNvSpPr/>
          <p:nvPr/>
        </p:nvSpPr>
        <p:spPr>
          <a:xfrm>
            <a:off x="4215384" y="2331720"/>
            <a:ext cx="3685032" cy="1737360"/>
          </a:xfrm>
          <a:prstGeom prst="roundRect">
            <a:avLst>
              <a:gd name="adj" fmla="val 3684"/>
            </a:avLst>
          </a:prstGeom>
          <a:solidFill>
            <a:srgbClr val="1C2536"/>
          </a:solidFill>
          <a:ln w="9525">
            <a:solidFill>
              <a:srgbClr val="2B3A52"/>
            </a:solidFill>
            <a:prstDash val="solid"/>
          </a:ln>
        </p:spPr>
      </p:sp>
      <p:sp>
        <p:nvSpPr>
          <p:cNvPr id="17" name="Shape 15"/>
          <p:cNvSpPr/>
          <p:nvPr/>
        </p:nvSpPr>
        <p:spPr>
          <a:xfrm>
            <a:off x="4215384" y="2331720"/>
            <a:ext cx="64008" cy="1737360"/>
          </a:xfrm>
          <a:prstGeom prst="rect">
            <a:avLst/>
          </a:prstGeom>
          <a:solidFill>
            <a:srgbClr val="3B82F6"/>
          </a:solidFill>
          <a:ln/>
        </p:spPr>
      </p:sp>
      <p:sp>
        <p:nvSpPr>
          <p:cNvPr id="18" name="Text 16"/>
          <p:cNvSpPr/>
          <p:nvPr/>
        </p:nvSpPr>
        <p:spPr>
          <a:xfrm>
            <a:off x="4398264"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Draft &amp; undercut analysis</a:t>
            </a:r>
            <a:endParaRPr lang="en-US" sz="1100" dirty="0"/>
          </a:p>
        </p:txBody>
      </p:sp>
      <p:sp>
        <p:nvSpPr>
          <p:cNvPr id="19" name="Text 17"/>
          <p:cNvSpPr/>
          <p:nvPr/>
        </p:nvSpPr>
        <p:spPr>
          <a:xfrm>
            <a:off x="4398264"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Draft angle shaded per face; areas that "cannot be demolded" flagged as undercuts → slide units → tooling cost.</a:t>
            </a:r>
            <a:endParaRPr lang="en-US" sz="930" dirty="0"/>
          </a:p>
        </p:txBody>
      </p:sp>
      <p:sp>
        <p:nvSpPr>
          <p:cNvPr id="20" name="Shape 18"/>
          <p:cNvSpPr/>
          <p:nvPr/>
        </p:nvSpPr>
        <p:spPr>
          <a:xfrm>
            <a:off x="8019288" y="2331720"/>
            <a:ext cx="3685032" cy="1737360"/>
          </a:xfrm>
          <a:prstGeom prst="roundRect">
            <a:avLst>
              <a:gd name="adj" fmla="val 3684"/>
            </a:avLst>
          </a:prstGeom>
          <a:solidFill>
            <a:srgbClr val="1C2536"/>
          </a:solidFill>
          <a:ln w="9525">
            <a:solidFill>
              <a:srgbClr val="2B3A52"/>
            </a:solidFill>
            <a:prstDash val="solid"/>
          </a:ln>
        </p:spPr>
      </p:sp>
      <p:sp>
        <p:nvSpPr>
          <p:cNvPr id="21" name="Shape 19"/>
          <p:cNvSpPr/>
          <p:nvPr/>
        </p:nvSpPr>
        <p:spPr>
          <a:xfrm>
            <a:off x="8019288" y="2331720"/>
            <a:ext cx="64008" cy="1737360"/>
          </a:xfrm>
          <a:prstGeom prst="rect">
            <a:avLst/>
          </a:prstGeom>
          <a:solidFill>
            <a:srgbClr val="8B5CF6"/>
          </a:solidFill>
          <a:ln/>
        </p:spPr>
      </p:sp>
      <p:sp>
        <p:nvSpPr>
          <p:cNvPr id="22" name="Text 20"/>
          <p:cNvSpPr/>
          <p:nvPr/>
        </p:nvSpPr>
        <p:spPr>
          <a:xfrm>
            <a:off x="8202168"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Section &amp; measurement</a:t>
            </a:r>
            <a:endParaRPr lang="en-US" sz="1100" dirty="0"/>
          </a:p>
        </p:txBody>
      </p:sp>
      <p:sp>
        <p:nvSpPr>
          <p:cNvPr id="23" name="Text 21"/>
          <p:cNvSpPr/>
          <p:nvPr/>
        </p:nvSpPr>
        <p:spPr>
          <a:xfrm>
            <a:off x="8202168"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Live cut planes, true measure, model comparison and collision — the everyday CAD verbs users expect.</a:t>
            </a:r>
            <a:endParaRPr lang="en-US" sz="930" dirty="0"/>
          </a:p>
        </p:txBody>
      </p:sp>
      <p:sp>
        <p:nvSpPr>
          <p:cNvPr id="24" name="Shape 22"/>
          <p:cNvSpPr/>
          <p:nvPr/>
        </p:nvSpPr>
        <p:spPr>
          <a:xfrm>
            <a:off x="411480" y="4187952"/>
            <a:ext cx="3685032" cy="1737360"/>
          </a:xfrm>
          <a:prstGeom prst="roundRect">
            <a:avLst>
              <a:gd name="adj" fmla="val 3684"/>
            </a:avLst>
          </a:prstGeom>
          <a:solidFill>
            <a:srgbClr val="1C2536"/>
          </a:solidFill>
          <a:ln w="9525">
            <a:solidFill>
              <a:srgbClr val="2B3A52"/>
            </a:solidFill>
            <a:prstDash val="solid"/>
          </a:ln>
        </p:spPr>
      </p:sp>
      <p:sp>
        <p:nvSpPr>
          <p:cNvPr id="25" name="Shape 23"/>
          <p:cNvSpPr/>
          <p:nvPr/>
        </p:nvSpPr>
        <p:spPr>
          <a:xfrm>
            <a:off x="411480" y="4187952"/>
            <a:ext cx="64008" cy="1737360"/>
          </a:xfrm>
          <a:prstGeom prst="rect">
            <a:avLst/>
          </a:prstGeom>
          <a:solidFill>
            <a:srgbClr val="10B981"/>
          </a:solidFill>
          <a:ln/>
        </p:spPr>
      </p:sp>
      <p:sp>
        <p:nvSpPr>
          <p:cNvPr id="26" name="Text 24"/>
          <p:cNvSpPr/>
          <p:nvPr/>
        </p:nvSpPr>
        <p:spPr>
          <a:xfrm>
            <a:off x="594360"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Feature / model tree</a:t>
            </a:r>
            <a:endParaRPr lang="en-US" sz="1100" dirty="0"/>
          </a:p>
        </p:txBody>
      </p:sp>
      <p:sp>
        <p:nvSpPr>
          <p:cNvPr id="27" name="Text 25"/>
          <p:cNvSpPr/>
          <p:nvPr/>
        </p:nvSpPr>
        <p:spPr>
          <a:xfrm>
            <a:off x="594360"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A persistent list of recognised features; click a row → the face lights up. Two-way link between the number and the geometry.</a:t>
            </a:r>
            <a:endParaRPr lang="en-US" sz="930" dirty="0"/>
          </a:p>
        </p:txBody>
      </p:sp>
      <p:sp>
        <p:nvSpPr>
          <p:cNvPr id="28" name="Shape 26"/>
          <p:cNvSpPr/>
          <p:nvPr/>
        </p:nvSpPr>
        <p:spPr>
          <a:xfrm>
            <a:off x="4215384" y="4187952"/>
            <a:ext cx="3685032" cy="1737360"/>
          </a:xfrm>
          <a:prstGeom prst="roundRect">
            <a:avLst>
              <a:gd name="adj" fmla="val 3684"/>
            </a:avLst>
          </a:prstGeom>
          <a:solidFill>
            <a:srgbClr val="1C2536"/>
          </a:solidFill>
          <a:ln w="9525">
            <a:solidFill>
              <a:srgbClr val="2B3A52"/>
            </a:solidFill>
            <a:prstDash val="solid"/>
          </a:ln>
        </p:spPr>
      </p:sp>
      <p:sp>
        <p:nvSpPr>
          <p:cNvPr id="29" name="Shape 27"/>
          <p:cNvSpPr/>
          <p:nvPr/>
        </p:nvSpPr>
        <p:spPr>
          <a:xfrm>
            <a:off x="4215384" y="4187952"/>
            <a:ext cx="64008" cy="1737360"/>
          </a:xfrm>
          <a:prstGeom prst="rect">
            <a:avLst/>
          </a:prstGeom>
          <a:solidFill>
            <a:srgbClr val="F59E0B"/>
          </a:solidFill>
          <a:ln/>
        </p:spPr>
      </p:sp>
      <p:sp>
        <p:nvSpPr>
          <p:cNvPr id="30" name="Text 28"/>
          <p:cNvSpPr/>
          <p:nvPr/>
        </p:nvSpPr>
        <p:spPr>
          <a:xfrm>
            <a:off x="4398264"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PMI / GD&amp;T on the model</a:t>
            </a:r>
            <a:endParaRPr lang="en-US" sz="1100" dirty="0"/>
          </a:p>
        </p:txBody>
      </p:sp>
      <p:sp>
        <p:nvSpPr>
          <p:cNvPr id="31" name="Text 29"/>
          <p:cNvSpPr/>
          <p:nvPr/>
        </p:nvSpPr>
        <p:spPr>
          <a:xfrm>
            <a:off x="4398264"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Tolerances and annotations shown in 3D, tied to the faces that carry the cost of holding them.</a:t>
            </a:r>
            <a:endParaRPr lang="en-US" sz="930" dirty="0"/>
          </a:p>
        </p:txBody>
      </p:sp>
      <p:sp>
        <p:nvSpPr>
          <p:cNvPr id="32" name="Shape 30"/>
          <p:cNvSpPr/>
          <p:nvPr/>
        </p:nvSpPr>
        <p:spPr>
          <a:xfrm>
            <a:off x="8019288" y="4187952"/>
            <a:ext cx="3685032" cy="1737360"/>
          </a:xfrm>
          <a:prstGeom prst="roundRect">
            <a:avLst>
              <a:gd name="adj" fmla="val 3684"/>
            </a:avLst>
          </a:prstGeom>
          <a:solidFill>
            <a:srgbClr val="1C2536"/>
          </a:solidFill>
          <a:ln w="9525">
            <a:solidFill>
              <a:srgbClr val="2B3A52"/>
            </a:solidFill>
            <a:prstDash val="solid"/>
          </a:ln>
        </p:spPr>
      </p:sp>
      <p:sp>
        <p:nvSpPr>
          <p:cNvPr id="33" name="Shape 31"/>
          <p:cNvSpPr/>
          <p:nvPr/>
        </p:nvSpPr>
        <p:spPr>
          <a:xfrm>
            <a:off x="8019288" y="4187952"/>
            <a:ext cx="64008" cy="1737360"/>
          </a:xfrm>
          <a:prstGeom prst="rect">
            <a:avLst/>
          </a:prstGeom>
          <a:solidFill>
            <a:srgbClr val="22D3EE"/>
          </a:solidFill>
          <a:ln/>
        </p:spPr>
      </p:sp>
      <p:sp>
        <p:nvSpPr>
          <p:cNvPr id="34" name="Text 32"/>
          <p:cNvSpPr/>
          <p:nvPr/>
        </p:nvSpPr>
        <p:spPr>
          <a:xfrm>
            <a:off x="8202168"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A big, fluid canvas</a:t>
            </a:r>
            <a:endParaRPr lang="en-US" sz="1100" dirty="0"/>
          </a:p>
        </p:txBody>
      </p:sp>
      <p:sp>
        <p:nvSpPr>
          <p:cNvPr id="35" name="Text 33"/>
          <p:cNvSpPr/>
          <p:nvPr/>
        </p:nvSpPr>
        <p:spPr>
          <a:xfrm>
            <a:off x="8202168"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Fullscreen / large view, an orientation cube, smooth orbit — the difference between "a widget" and "a tool".</a:t>
            </a:r>
            <a:endParaRPr lang="en-US" sz="9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OUR BASELINE · FROM A CODE AUDIT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Where CostVision stands today — honestly</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10B981"/>
          </a:solidFill>
          <a:ln/>
        </p:spPr>
      </p:sp>
      <p:sp>
        <p:nvSpPr>
          <p:cNvPr id="13" name="Text 11"/>
          <p:cNvSpPr/>
          <p:nvPr/>
        </p:nvSpPr>
        <p:spPr>
          <a:xfrm>
            <a:off x="621792" y="1920240"/>
            <a:ext cx="5120640" cy="365760"/>
          </a:xfrm>
          <a:prstGeom prst="rect">
            <a:avLst/>
          </a:prstGeom>
          <a:noFill/>
          <a:ln/>
        </p:spPr>
        <p:txBody>
          <a:bodyPr wrap="square" lIns="0" tIns="0" rIns="0" bIns="0" rtlCol="0" anchor="t"/>
          <a:lstStyle/>
          <a:p>
            <a:pPr indent="0" marL="0">
              <a:buNone/>
            </a:pPr>
            <a:r>
              <a:rPr lang="en-US" sz="1400" b="1" dirty="0">
                <a:solidFill>
                  <a:srgbClr val="10B981"/>
                </a:solidFill>
                <a:latin typeface="Calibri" pitchFamily="34" charset="0"/>
                <a:ea typeface="Calibri" pitchFamily="34" charset="-122"/>
                <a:cs typeface="Calibri" pitchFamily="34" charset="-120"/>
              </a:rPr>
              <a:t>✓  Already strong</a:t>
            </a:r>
            <a:endParaRPr lang="en-US" sz="1400" dirty="0"/>
          </a:p>
        </p:txBody>
      </p:sp>
      <p:sp>
        <p:nvSpPr>
          <p:cNvPr id="14" name="Shape 12"/>
          <p:cNvSpPr/>
          <p:nvPr/>
        </p:nvSpPr>
        <p:spPr>
          <a:xfrm>
            <a:off x="658368" y="2377440"/>
            <a:ext cx="82296" cy="82296"/>
          </a:xfrm>
          <a:prstGeom prst="ellipse">
            <a:avLst/>
          </a:prstGeom>
          <a:solidFill>
            <a:srgbClr val="10B981"/>
          </a:solidFill>
          <a:ln/>
        </p:spPr>
      </p:sp>
      <p:sp>
        <p:nvSpPr>
          <p:cNvPr id="15" name="Text 13"/>
          <p:cNvSpPr/>
          <p:nvPr/>
        </p:nvSpPr>
        <p:spPr>
          <a:xfrm>
            <a:off x="841248" y="2295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OCCT B-rep engine: volume, bbox, area, weights, face/edge classes</a:t>
            </a:r>
            <a:endParaRPr lang="en-US" sz="970" dirty="0"/>
          </a:p>
        </p:txBody>
      </p:sp>
      <p:sp>
        <p:nvSpPr>
          <p:cNvPr id="16" name="Shape 14"/>
          <p:cNvSpPr/>
          <p:nvPr/>
        </p:nvSpPr>
        <p:spPr>
          <a:xfrm>
            <a:off x="658368" y="2834640"/>
            <a:ext cx="82296" cy="82296"/>
          </a:xfrm>
          <a:prstGeom prst="ellipse">
            <a:avLst/>
          </a:prstGeom>
          <a:solidFill>
            <a:srgbClr val="10B981"/>
          </a:solidFill>
          <a:ln/>
        </p:spPr>
      </p:sp>
      <p:sp>
        <p:nvSpPr>
          <p:cNvPr id="17" name="Text 15"/>
          <p:cNvSpPr/>
          <p:nvPr/>
        </p:nvSpPr>
        <p:spPr>
          <a:xfrm>
            <a:off x="841248" y="2752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Real feature table — holes &amp; bosses with Ø, depth, through/blind</a:t>
            </a:r>
            <a:endParaRPr lang="en-US" sz="970" dirty="0"/>
          </a:p>
        </p:txBody>
      </p:sp>
      <p:sp>
        <p:nvSpPr>
          <p:cNvPr id="18" name="Shape 16"/>
          <p:cNvSpPr/>
          <p:nvPr/>
        </p:nvSpPr>
        <p:spPr>
          <a:xfrm>
            <a:off x="658368" y="3291840"/>
            <a:ext cx="82296" cy="82296"/>
          </a:xfrm>
          <a:prstGeom prst="ellipse">
            <a:avLst/>
          </a:prstGeom>
          <a:solidFill>
            <a:srgbClr val="10B981"/>
          </a:solidFill>
          <a:ln/>
        </p:spPr>
      </p:sp>
      <p:sp>
        <p:nvSpPr>
          <p:cNvPr id="19" name="Text 17"/>
          <p:cNvSpPr/>
          <p:nvPr/>
        </p:nvSpPr>
        <p:spPr>
          <a:xfrm>
            <a:off x="841248" y="3209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Ray-cast wall thickness, draft/undercut analysis, setup-count</a:t>
            </a:r>
            <a:endParaRPr lang="en-US" sz="970" dirty="0"/>
          </a:p>
        </p:txBody>
      </p:sp>
      <p:sp>
        <p:nvSpPr>
          <p:cNvPr id="20" name="Shape 18"/>
          <p:cNvSpPr/>
          <p:nvPr/>
        </p:nvSpPr>
        <p:spPr>
          <a:xfrm>
            <a:off x="658368" y="3749040"/>
            <a:ext cx="82296" cy="82296"/>
          </a:xfrm>
          <a:prstGeom prst="ellipse">
            <a:avLst/>
          </a:prstGeom>
          <a:solidFill>
            <a:srgbClr val="10B981"/>
          </a:solidFill>
          <a:ln/>
        </p:spPr>
      </p:sp>
      <p:sp>
        <p:nvSpPr>
          <p:cNvPr id="21" name="Text 19"/>
          <p:cNvSpPr/>
          <p:nvPr/>
        </p:nvSpPr>
        <p:spPr>
          <a:xfrm>
            <a:off x="841248" y="36667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Sheet-metal bend detection; parametric tooling-cost estimates</a:t>
            </a:r>
            <a:endParaRPr lang="en-US" sz="970" dirty="0"/>
          </a:p>
        </p:txBody>
      </p:sp>
      <p:sp>
        <p:nvSpPr>
          <p:cNvPr id="22" name="Shape 20"/>
          <p:cNvSpPr/>
          <p:nvPr/>
        </p:nvSpPr>
        <p:spPr>
          <a:xfrm>
            <a:off x="658368" y="4206240"/>
            <a:ext cx="82296" cy="82296"/>
          </a:xfrm>
          <a:prstGeom prst="ellipse">
            <a:avLst/>
          </a:prstGeom>
          <a:solidFill>
            <a:srgbClr val="10B981"/>
          </a:solidFill>
          <a:ln/>
        </p:spPr>
      </p:sp>
      <p:sp>
        <p:nvSpPr>
          <p:cNvPr id="23" name="Text 21"/>
          <p:cNvSpPr/>
          <p:nvPr/>
        </p:nvSpPr>
        <p:spPr>
          <a:xfrm>
            <a:off x="841248" y="41239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Strong AUTO → cost: geometry auto-fills the cost form, no re-typing</a:t>
            </a:r>
            <a:endParaRPr lang="en-US" sz="970" dirty="0"/>
          </a:p>
        </p:txBody>
      </p:sp>
      <p:sp>
        <p:nvSpPr>
          <p:cNvPr id="24" name="Shape 22"/>
          <p:cNvSpPr/>
          <p:nvPr/>
        </p:nvSpPr>
        <p:spPr>
          <a:xfrm>
            <a:off x="658368" y="4663440"/>
            <a:ext cx="82296" cy="82296"/>
          </a:xfrm>
          <a:prstGeom prst="ellipse">
            <a:avLst/>
          </a:prstGeom>
          <a:solidFill>
            <a:srgbClr val="10B981"/>
          </a:solidFill>
          <a:ln/>
        </p:spPr>
      </p:sp>
      <p:sp>
        <p:nvSpPr>
          <p:cNvPr id="25" name="Text 23"/>
          <p:cNvSpPr/>
          <p:nvPr/>
        </p:nvSpPr>
        <p:spPr>
          <a:xfrm>
            <a:off x="841248" y="4581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Per-face B-rep intelligence on click (type, Ø, hole-vs-boss, area)</a:t>
            </a:r>
            <a:endParaRPr lang="en-US" sz="970" dirty="0"/>
          </a:p>
        </p:txBody>
      </p:sp>
      <p:sp>
        <p:nvSpPr>
          <p:cNvPr id="26" name="Shape 24"/>
          <p:cNvSpPr/>
          <p:nvPr/>
        </p:nvSpPr>
        <p:spPr>
          <a:xfrm>
            <a:off x="658368" y="5120640"/>
            <a:ext cx="82296" cy="82296"/>
          </a:xfrm>
          <a:prstGeom prst="ellipse">
            <a:avLst/>
          </a:prstGeom>
          <a:solidFill>
            <a:srgbClr val="10B981"/>
          </a:solidFill>
          <a:ln/>
        </p:spPr>
      </p:sp>
      <p:sp>
        <p:nvSpPr>
          <p:cNvPr id="27" name="Text 25"/>
          <p:cNvSpPr/>
          <p:nvPr/>
        </p:nvSpPr>
        <p:spPr>
          <a:xfrm>
            <a:off x="841248" y="5038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Distance / 3-pt circle / angle measure, section plane, CSV export</a:t>
            </a:r>
            <a:endParaRPr lang="en-US" sz="970" dirty="0"/>
          </a:p>
        </p:txBody>
      </p:sp>
      <p:sp>
        <p:nvSpPr>
          <p:cNvPr id="28" name="Shape 26"/>
          <p:cNvSpPr/>
          <p:nvPr/>
        </p:nvSpPr>
        <p:spPr>
          <a:xfrm>
            <a:off x="658368" y="5577840"/>
            <a:ext cx="82296" cy="82296"/>
          </a:xfrm>
          <a:prstGeom prst="ellipse">
            <a:avLst/>
          </a:prstGeom>
          <a:solidFill>
            <a:srgbClr val="10B981"/>
          </a:solidFill>
          <a:ln/>
        </p:spPr>
      </p:sp>
      <p:sp>
        <p:nvSpPr>
          <p:cNvPr id="29" name="Text 27"/>
          <p:cNvSpPr/>
          <p:nvPr/>
        </p:nvSpPr>
        <p:spPr>
          <a:xfrm>
            <a:off x="841248" y="5495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Runs in the browser — instant, no desktop install</a:t>
            </a:r>
            <a:endParaRPr lang="en-US" sz="970" dirty="0"/>
          </a:p>
        </p:txBody>
      </p:sp>
      <p:sp>
        <p:nvSpPr>
          <p:cNvPr id="30" name="Shape 28"/>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31" name="Shape 29"/>
          <p:cNvSpPr/>
          <p:nvPr/>
        </p:nvSpPr>
        <p:spPr>
          <a:xfrm>
            <a:off x="6217920" y="1783080"/>
            <a:ext cx="5532120" cy="45720"/>
          </a:xfrm>
          <a:prstGeom prst="rect">
            <a:avLst/>
          </a:prstGeom>
          <a:solidFill>
            <a:srgbClr val="F59E0B"/>
          </a:solidFill>
          <a:ln/>
        </p:spPr>
      </p:sp>
      <p:sp>
        <p:nvSpPr>
          <p:cNvPr id="32" name="Text 30"/>
          <p:cNvSpPr/>
          <p:nvPr/>
        </p:nvSpPr>
        <p:spPr>
          <a:xfrm>
            <a:off x="6428232" y="1920240"/>
            <a:ext cx="5120640" cy="365760"/>
          </a:xfrm>
          <a:prstGeom prst="rect">
            <a:avLst/>
          </a:prstGeom>
          <a:noFill/>
          <a:ln/>
        </p:spPr>
        <p:txBody>
          <a:bodyPr wrap="square" lIns="0" tIns="0" rIns="0" bIns="0" rtlCol="0" anchor="t"/>
          <a:lstStyle/>
          <a:p>
            <a:pPr indent="0" marL="0">
              <a:buNone/>
            </a:pPr>
            <a:r>
              <a:rPr lang="en-US" sz="1400" b="1" dirty="0">
                <a:solidFill>
                  <a:srgbClr val="F59E0B"/>
                </a:solidFill>
                <a:latin typeface="Calibri" pitchFamily="34" charset="0"/>
                <a:ea typeface="Calibri" pitchFamily="34" charset="-122"/>
                <a:cs typeface="Calibri" pitchFamily="34" charset="-120"/>
              </a:rPr>
              <a:t>△  The real gaps</a:t>
            </a:r>
            <a:endParaRPr lang="en-US" sz="1400" dirty="0"/>
          </a:p>
        </p:txBody>
      </p:sp>
      <p:sp>
        <p:nvSpPr>
          <p:cNvPr id="33" name="Shape 31"/>
          <p:cNvSpPr/>
          <p:nvPr/>
        </p:nvSpPr>
        <p:spPr>
          <a:xfrm>
            <a:off x="6464808" y="2377440"/>
            <a:ext cx="82296" cy="82296"/>
          </a:xfrm>
          <a:prstGeom prst="ellipse">
            <a:avLst/>
          </a:prstGeom>
          <a:solidFill>
            <a:srgbClr val="F59E0B"/>
          </a:solidFill>
          <a:ln/>
        </p:spPr>
      </p:sp>
      <p:sp>
        <p:nvSpPr>
          <p:cNvPr id="34" name="Text 32"/>
          <p:cNvSpPr/>
          <p:nvPr/>
        </p:nvSpPr>
        <p:spPr>
          <a:xfrm>
            <a:off x="6647688" y="2295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bigger / fullscreen viewer — fixed ~560px panel</a:t>
            </a:r>
            <a:endParaRPr lang="en-US" sz="970" dirty="0"/>
          </a:p>
        </p:txBody>
      </p:sp>
      <p:sp>
        <p:nvSpPr>
          <p:cNvPr id="35" name="Shape 33"/>
          <p:cNvSpPr/>
          <p:nvPr/>
        </p:nvSpPr>
        <p:spPr>
          <a:xfrm>
            <a:off x="6464808" y="2834640"/>
            <a:ext cx="82296" cy="82296"/>
          </a:xfrm>
          <a:prstGeom prst="ellipse">
            <a:avLst/>
          </a:prstGeom>
          <a:solidFill>
            <a:srgbClr val="22D3EE"/>
          </a:solidFill>
          <a:ln/>
        </p:spPr>
      </p:sp>
      <p:sp>
        <p:nvSpPr>
          <p:cNvPr id="36" name="Text 34"/>
          <p:cNvSpPr/>
          <p:nvPr/>
        </p:nvSpPr>
        <p:spPr>
          <a:xfrm>
            <a:off x="6647688" y="2752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We COMPUTE thickness, draft, setups — but never paint them on the model</a:t>
            </a:r>
            <a:endParaRPr lang="en-US" sz="970" dirty="0"/>
          </a:p>
        </p:txBody>
      </p:sp>
      <p:sp>
        <p:nvSpPr>
          <p:cNvPr id="37" name="Shape 35"/>
          <p:cNvSpPr/>
          <p:nvPr/>
        </p:nvSpPr>
        <p:spPr>
          <a:xfrm>
            <a:off x="6464808" y="3291840"/>
            <a:ext cx="82296" cy="82296"/>
          </a:xfrm>
          <a:prstGeom prst="ellipse">
            <a:avLst/>
          </a:prstGeom>
          <a:solidFill>
            <a:srgbClr val="F59E0B"/>
          </a:solidFill>
          <a:ln/>
        </p:spPr>
      </p:sp>
      <p:sp>
        <p:nvSpPr>
          <p:cNvPr id="38" name="Text 36"/>
          <p:cNvSpPr/>
          <p:nvPr/>
        </p:nvSpPr>
        <p:spPr>
          <a:xfrm>
            <a:off x="6647688" y="3209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feature/model tree, no orientation cube, no exploded view</a:t>
            </a:r>
            <a:endParaRPr lang="en-US" sz="970" dirty="0"/>
          </a:p>
        </p:txBody>
      </p:sp>
      <p:sp>
        <p:nvSpPr>
          <p:cNvPr id="39" name="Shape 37"/>
          <p:cNvSpPr/>
          <p:nvPr/>
        </p:nvSpPr>
        <p:spPr>
          <a:xfrm>
            <a:off x="6464808" y="3749040"/>
            <a:ext cx="82296" cy="82296"/>
          </a:xfrm>
          <a:prstGeom prst="ellipse">
            <a:avLst/>
          </a:prstGeom>
          <a:solidFill>
            <a:srgbClr val="F59E0B"/>
          </a:solidFill>
          <a:ln/>
        </p:spPr>
      </p:sp>
      <p:sp>
        <p:nvSpPr>
          <p:cNvPr id="40" name="Text 38"/>
          <p:cNvSpPr/>
          <p:nvPr/>
        </p:nvSpPr>
        <p:spPr>
          <a:xfrm>
            <a:off x="6647688" y="36667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Mesh-only render; STEP is tessellated server-side (no live B-rep in browser)</a:t>
            </a:r>
            <a:endParaRPr lang="en-US" sz="970" dirty="0"/>
          </a:p>
        </p:txBody>
      </p:sp>
      <p:sp>
        <p:nvSpPr>
          <p:cNvPr id="41" name="Shape 39"/>
          <p:cNvSpPr/>
          <p:nvPr/>
        </p:nvSpPr>
        <p:spPr>
          <a:xfrm>
            <a:off x="6464808" y="4206240"/>
            <a:ext cx="82296" cy="82296"/>
          </a:xfrm>
          <a:prstGeom prst="ellipse">
            <a:avLst/>
          </a:prstGeom>
          <a:solidFill>
            <a:srgbClr val="8B5CF6"/>
          </a:solidFill>
          <a:ln/>
        </p:spPr>
      </p:sp>
      <p:sp>
        <p:nvSpPr>
          <p:cNvPr id="42" name="Text 40"/>
          <p:cNvSpPr/>
          <p:nvPr/>
        </p:nvSpPr>
        <p:spPr>
          <a:xfrm>
            <a:off x="6647688" y="41239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PMI / GD&amp;T / tolerance capture from STEP AP242</a:t>
            </a:r>
            <a:endParaRPr lang="en-US" sz="970" dirty="0"/>
          </a:p>
        </p:txBody>
      </p:sp>
      <p:sp>
        <p:nvSpPr>
          <p:cNvPr id="43" name="Shape 41"/>
          <p:cNvSpPr/>
          <p:nvPr/>
        </p:nvSpPr>
        <p:spPr>
          <a:xfrm>
            <a:off x="6464808" y="4663440"/>
            <a:ext cx="82296" cy="82296"/>
          </a:xfrm>
          <a:prstGeom prst="ellipse">
            <a:avLst/>
          </a:prstGeom>
          <a:solidFill>
            <a:srgbClr val="8B5CF6"/>
          </a:solidFill>
          <a:ln/>
        </p:spPr>
      </p:sp>
      <p:sp>
        <p:nvSpPr>
          <p:cNvPr id="44" name="Text 42"/>
          <p:cNvSpPr/>
          <p:nvPr/>
        </p:nvSpPr>
        <p:spPr>
          <a:xfrm>
            <a:off x="6647688" y="4581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Feature recognition stops at holes/bosses — no fillet, chamfer, slot, thread specs</a:t>
            </a:r>
            <a:endParaRPr lang="en-US" sz="970" dirty="0"/>
          </a:p>
        </p:txBody>
      </p:sp>
      <p:sp>
        <p:nvSpPr>
          <p:cNvPr id="45" name="Shape 43"/>
          <p:cNvSpPr/>
          <p:nvPr/>
        </p:nvSpPr>
        <p:spPr>
          <a:xfrm>
            <a:off x="6464808" y="5120640"/>
            <a:ext cx="82296" cy="82296"/>
          </a:xfrm>
          <a:prstGeom prst="ellipse">
            <a:avLst/>
          </a:prstGeom>
          <a:solidFill>
            <a:srgbClr val="8B5CF6"/>
          </a:solidFill>
          <a:ln/>
        </p:spPr>
      </p:sp>
      <p:sp>
        <p:nvSpPr>
          <p:cNvPr id="46" name="Text 44"/>
          <p:cNvSpPr/>
          <p:nvPr/>
        </p:nvSpPr>
        <p:spPr>
          <a:xfrm>
            <a:off x="6647688" y="5038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STL uploads are feature-blind (holes/draft/setups all zero)</a:t>
            </a:r>
            <a:endParaRPr lang="en-US" sz="970" dirty="0"/>
          </a:p>
        </p:txBody>
      </p:sp>
      <p:sp>
        <p:nvSpPr>
          <p:cNvPr id="47" name="Shape 45"/>
          <p:cNvSpPr/>
          <p:nvPr/>
        </p:nvSpPr>
        <p:spPr>
          <a:xfrm>
            <a:off x="6464808" y="5577840"/>
            <a:ext cx="82296" cy="82296"/>
          </a:xfrm>
          <a:prstGeom prst="ellipse">
            <a:avLst/>
          </a:prstGeom>
          <a:solidFill>
            <a:srgbClr val="F59E0B"/>
          </a:solidFill>
          <a:ln/>
        </p:spPr>
      </p:sp>
      <p:sp>
        <p:nvSpPr>
          <p:cNvPr id="48" name="Text 46"/>
          <p:cNvSpPr/>
          <p:nvPr/>
        </p:nvSpPr>
        <p:spPr>
          <a:xfrm>
            <a:off x="6647688" y="5495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Report feature tables not click-linked back to the 3D model</a:t>
            </a:r>
            <a:endParaRPr lang="en-US" sz="97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WHERE THE LEVERAGE IS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strategic insight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5532120" cy="3200400"/>
          </a:xfrm>
          <a:prstGeom prst="roundRect">
            <a:avLst>
              <a:gd name="adj" fmla="val 2000"/>
            </a:avLst>
          </a:prstGeom>
          <a:solidFill>
            <a:srgbClr val="1C2536"/>
          </a:solidFill>
          <a:ln w="9525">
            <a:solidFill>
              <a:srgbClr val="2B3A52"/>
            </a:solidFill>
            <a:prstDash val="solid"/>
          </a:ln>
        </p:spPr>
      </p:sp>
      <p:sp>
        <p:nvSpPr>
          <p:cNvPr id="12" name="Shape 10"/>
          <p:cNvSpPr/>
          <p:nvPr/>
        </p:nvSpPr>
        <p:spPr>
          <a:xfrm>
            <a:off x="457200" y="1874520"/>
            <a:ext cx="73152" cy="3200400"/>
          </a:xfrm>
          <a:prstGeom prst="rect">
            <a:avLst/>
          </a:prstGeom>
          <a:solidFill>
            <a:srgbClr val="22D3EE"/>
          </a:solidFill>
          <a:ln/>
        </p:spPr>
      </p:sp>
      <p:sp>
        <p:nvSpPr>
          <p:cNvPr id="13" name="Text 11"/>
          <p:cNvSpPr/>
          <p:nvPr/>
        </p:nvSpPr>
        <p:spPr>
          <a:xfrm>
            <a:off x="73152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“We already measure it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we just don’t show it.”</a:t>
            </a:r>
            <a:endParaRPr lang="en-US" sz="1900" dirty="0"/>
          </a:p>
        </p:txBody>
      </p:sp>
      <p:sp>
        <p:nvSpPr>
          <p:cNvPr id="14" name="Text 12"/>
          <p:cNvSpPr/>
          <p:nvPr/>
        </p:nvSpPr>
        <p:spPr>
          <a:xfrm>
            <a:off x="73152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Wall thickness, draft, undercuts, setups and manufacturability are all computed server-side today and thrown away visually. Painting them on the model is the single highest ratio of perceived value to engineering effort in this whole plan.</a:t>
            </a:r>
            <a:endParaRPr lang="en-US" sz="1200" dirty="0"/>
          </a:p>
        </p:txBody>
      </p:sp>
      <p:sp>
        <p:nvSpPr>
          <p:cNvPr id="15" name="Shape 13"/>
          <p:cNvSpPr/>
          <p:nvPr/>
        </p:nvSpPr>
        <p:spPr>
          <a:xfrm>
            <a:off x="6263640" y="1874520"/>
            <a:ext cx="5532120" cy="3200400"/>
          </a:xfrm>
          <a:prstGeom prst="roundRect">
            <a:avLst>
              <a:gd name="adj" fmla="val 2000"/>
            </a:avLst>
          </a:prstGeom>
          <a:solidFill>
            <a:srgbClr val="1C2536"/>
          </a:solidFill>
          <a:ln w="9525">
            <a:solidFill>
              <a:srgbClr val="2B3A52"/>
            </a:solidFill>
            <a:prstDash val="solid"/>
          </a:ln>
        </p:spPr>
      </p:sp>
      <p:sp>
        <p:nvSpPr>
          <p:cNvPr id="16" name="Shape 14"/>
          <p:cNvSpPr/>
          <p:nvPr/>
        </p:nvSpPr>
        <p:spPr>
          <a:xfrm>
            <a:off x="6263640" y="1874520"/>
            <a:ext cx="73152" cy="3200400"/>
          </a:xfrm>
          <a:prstGeom prst="rect">
            <a:avLst/>
          </a:prstGeom>
          <a:solidFill>
            <a:srgbClr val="8B5CF6"/>
          </a:solidFill>
          <a:ln/>
        </p:spPr>
      </p:sp>
      <p:sp>
        <p:nvSpPr>
          <p:cNvPr id="17" name="Text 15"/>
          <p:cNvSpPr/>
          <p:nvPr/>
        </p:nvSpPr>
        <p:spPr>
          <a:xfrm>
            <a:off x="653796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“Capture more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so users type less.”</a:t>
            </a:r>
            <a:endParaRPr lang="en-US" sz="1900" dirty="0"/>
          </a:p>
        </p:txBody>
      </p:sp>
      <p:sp>
        <p:nvSpPr>
          <p:cNvPr id="18" name="Text 16"/>
          <p:cNvSpPr/>
          <p:nvPr/>
        </p:nvSpPr>
        <p:spPr>
          <a:xfrm>
            <a:off x="653796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Every feature we recognise from the CAD (fillets, chamfers, threads, and tolerances from AP242) is one less field a human fills in — and one less place the estimate can drift. More capture = faster, more defensible, more automatic.</a:t>
            </a:r>
            <a:endParaRPr lang="en-US" sz="1200" dirty="0"/>
          </a:p>
        </p:txBody>
      </p:sp>
      <p:sp>
        <p:nvSpPr>
          <p:cNvPr id="19" name="Shape 17"/>
          <p:cNvSpPr/>
          <p:nvPr/>
        </p:nvSpPr>
        <p:spPr>
          <a:xfrm>
            <a:off x="457200" y="5257800"/>
            <a:ext cx="11292840" cy="868680"/>
          </a:xfrm>
          <a:prstGeom prst="roundRect">
            <a:avLst>
              <a:gd name="adj" fmla="val 7368"/>
            </a:avLst>
          </a:prstGeom>
          <a:solidFill>
            <a:srgbClr val="10202E"/>
          </a:solidFill>
          <a:ln w="12700">
            <a:solidFill>
              <a:srgbClr val="22D3EE"/>
            </a:solidFill>
            <a:prstDash val="solid"/>
          </a:ln>
        </p:spPr>
      </p:sp>
      <p:sp>
        <p:nvSpPr>
          <p:cNvPr id="20" name="Text 18"/>
          <p:cNvSpPr/>
          <p:nvPr/>
        </p:nvSpPr>
        <p:spPr>
          <a:xfrm>
            <a:off x="731520" y="5257800"/>
            <a:ext cx="10698480" cy="868680"/>
          </a:xfrm>
          <a:prstGeom prst="rect">
            <a:avLst/>
          </a:prstGeom>
          <a:noFill/>
          <a:ln/>
        </p:spPr>
        <p:txBody>
          <a:bodyPr wrap="square" lIns="0" tIns="0" rIns="0" bIns="0" rtlCol="0" anchor="ctr"/>
          <a:lstStyle/>
          <a:p>
            <a:pPr indent="0" marL="0">
              <a:lnSpc>
                <a:spcPct val="108000"/>
              </a:lnSpc>
              <a:buNone/>
            </a:pPr>
            <a:r>
              <a:rPr lang="en-US" sz="1150" b="1" dirty="0">
                <a:solidFill>
                  <a:srgbClr val="22D3EE"/>
                </a:solidFill>
                <a:latin typeface="Calibri" pitchFamily="34" charset="0"/>
                <a:ea typeface="Calibri" pitchFamily="34" charset="-122"/>
                <a:cs typeface="Calibri" pitchFamily="34" charset="-120"/>
              </a:rPr>
              <a:t>Design principle we keep:  </a:t>
            </a:r>
            <a:pPr indent="0" marL="0">
              <a:lnSpc>
                <a:spcPct val="108000"/>
              </a:lnSpc>
              <a:buNone/>
            </a:pPr>
            <a:r>
              <a:rPr lang="en-US" sz="1150" dirty="0">
                <a:solidFill>
                  <a:srgbClr val="9AA7BD"/>
                </a:solidFill>
                <a:latin typeface="Calibri" pitchFamily="34" charset="0"/>
                <a:ea typeface="Calibri" pitchFamily="34" charset="-122"/>
                <a:cs typeface="Calibri" pitchFamily="34" charset="-120"/>
              </a:rPr>
              <a:t>the viewer is not decoration — it is an INPUT-CAPTURE surface. Every pixel earns its place by either capturing a cost driver or letting a human verify one. Glass-box, always: the AI reads geometry, it never sets a price in secret.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HOW · VERIFIED &amp; BUILDABLE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technology we would build 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28800"/>
            <a:ext cx="5532120" cy="1965960"/>
          </a:xfrm>
          <a:prstGeom prst="roundRect">
            <a:avLst>
              <a:gd name="adj" fmla="val 3256"/>
            </a:avLst>
          </a:prstGeom>
          <a:solidFill>
            <a:srgbClr val="1C2536"/>
          </a:solidFill>
          <a:ln w="9525">
            <a:solidFill>
              <a:srgbClr val="2B3A52"/>
            </a:solidFill>
            <a:prstDash val="solid"/>
          </a:ln>
        </p:spPr>
      </p:sp>
      <p:sp>
        <p:nvSpPr>
          <p:cNvPr id="12" name="Shape 10"/>
          <p:cNvSpPr/>
          <p:nvPr/>
        </p:nvSpPr>
        <p:spPr>
          <a:xfrm>
            <a:off x="457200" y="1828800"/>
            <a:ext cx="64008" cy="1965960"/>
          </a:xfrm>
          <a:prstGeom prst="rect">
            <a:avLst/>
          </a:prstGeom>
          <a:solidFill>
            <a:srgbClr val="22D3EE"/>
          </a:solidFill>
          <a:ln/>
        </p:spPr>
      </p:sp>
      <p:sp>
        <p:nvSpPr>
          <p:cNvPr id="13" name="Text 11"/>
          <p:cNvSpPr/>
          <p:nvPr/>
        </p:nvSpPr>
        <p:spPr>
          <a:xfrm>
            <a:off x="640080"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occt-import-js (OCCT → WASM)</a:t>
            </a:r>
            <a:endParaRPr lang="en-US" sz="1200" dirty="0"/>
          </a:p>
        </p:txBody>
      </p:sp>
      <p:sp>
        <p:nvSpPr>
          <p:cNvPr id="14" name="Text 12"/>
          <p:cNvSpPr/>
          <p:nvPr/>
        </p:nvSpPr>
        <p:spPr>
          <a:xfrm>
            <a:off x="640080" y="2249424"/>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Import STEP/IGES/BREP in the browser. Its JSON exposes a "brep_faces" map tying mesh triangles back to original B-rep faces — exactly what enables per-face selection &amp; highlighting linked to cost, live, with no server round-trip.</a:t>
            </a:r>
            <a:endParaRPr lang="en-US" sz="1000" dirty="0"/>
          </a:p>
        </p:txBody>
      </p:sp>
      <p:sp>
        <p:nvSpPr>
          <p:cNvPr id="15" name="Shape 13"/>
          <p:cNvSpPr/>
          <p:nvPr/>
        </p:nvSpPr>
        <p:spPr>
          <a:xfrm>
            <a:off x="6208776" y="1828800"/>
            <a:ext cx="5532120" cy="1965960"/>
          </a:xfrm>
          <a:prstGeom prst="roundRect">
            <a:avLst>
              <a:gd name="adj" fmla="val 3256"/>
            </a:avLst>
          </a:prstGeom>
          <a:solidFill>
            <a:srgbClr val="1C2536"/>
          </a:solidFill>
          <a:ln w="9525">
            <a:solidFill>
              <a:srgbClr val="2B3A52"/>
            </a:solidFill>
            <a:prstDash val="solid"/>
          </a:ln>
        </p:spPr>
      </p:sp>
      <p:sp>
        <p:nvSpPr>
          <p:cNvPr id="16" name="Shape 14"/>
          <p:cNvSpPr/>
          <p:nvPr/>
        </p:nvSpPr>
        <p:spPr>
          <a:xfrm>
            <a:off x="6208776" y="1828800"/>
            <a:ext cx="64008" cy="1965960"/>
          </a:xfrm>
          <a:prstGeom prst="rect">
            <a:avLst/>
          </a:prstGeom>
          <a:solidFill>
            <a:srgbClr val="3B82F6"/>
          </a:solidFill>
          <a:ln/>
        </p:spPr>
      </p:sp>
      <p:sp>
        <p:nvSpPr>
          <p:cNvPr id="17" name="Text 15"/>
          <p:cNvSpPr/>
          <p:nvPr/>
        </p:nvSpPr>
        <p:spPr>
          <a:xfrm>
            <a:off x="6391656"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OCCT XDE — AP242 PMI</a:t>
            </a:r>
            <a:endParaRPr lang="en-US" sz="1200" dirty="0"/>
          </a:p>
        </p:txBody>
      </p:sp>
      <p:sp>
        <p:nvSpPr>
          <p:cNvPr id="18" name="Text 16"/>
          <p:cNvSpPr/>
          <p:nvPr/>
        </p:nvSpPr>
        <p:spPr>
          <a:xfrm>
            <a:off x="6391656" y="2249424"/>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OpenCascade's XDE / STEPCAFControl reads PMI (GD&amp;T) from STEP AP242: dimensions, tolerances, datums. This is the path to reading tolerances straight from the 3D file — not a separate drawing.</a:t>
            </a:r>
            <a:endParaRPr lang="en-US" sz="1000" dirty="0"/>
          </a:p>
        </p:txBody>
      </p:sp>
      <p:sp>
        <p:nvSpPr>
          <p:cNvPr id="19" name="Shape 17"/>
          <p:cNvSpPr/>
          <p:nvPr/>
        </p:nvSpPr>
        <p:spPr>
          <a:xfrm>
            <a:off x="457200" y="4014216"/>
            <a:ext cx="5532120" cy="1965960"/>
          </a:xfrm>
          <a:prstGeom prst="roundRect">
            <a:avLst>
              <a:gd name="adj" fmla="val 3256"/>
            </a:avLst>
          </a:prstGeom>
          <a:solidFill>
            <a:srgbClr val="1C2536"/>
          </a:solidFill>
          <a:ln w="9525">
            <a:solidFill>
              <a:srgbClr val="2B3A52"/>
            </a:solidFill>
            <a:prstDash val="solid"/>
          </a:ln>
        </p:spPr>
      </p:sp>
      <p:sp>
        <p:nvSpPr>
          <p:cNvPr id="20" name="Shape 18"/>
          <p:cNvSpPr/>
          <p:nvPr/>
        </p:nvSpPr>
        <p:spPr>
          <a:xfrm>
            <a:off x="457200" y="4014216"/>
            <a:ext cx="64008" cy="1965960"/>
          </a:xfrm>
          <a:prstGeom prst="rect">
            <a:avLst/>
          </a:prstGeom>
          <a:solidFill>
            <a:srgbClr val="8B5CF6"/>
          </a:solidFill>
          <a:ln/>
        </p:spPr>
      </p:sp>
      <p:sp>
        <p:nvSpPr>
          <p:cNvPr id="21" name="Text 19"/>
          <p:cNvSpPr/>
          <p:nvPr/>
        </p:nvSpPr>
        <p:spPr>
          <a:xfrm>
            <a:off x="640080" y="4123944"/>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Native B-rep AFR (deep learning)</a:t>
            </a:r>
            <a:endParaRPr lang="en-US" sz="1200" dirty="0"/>
          </a:p>
        </p:txBody>
      </p:sp>
      <p:sp>
        <p:nvSpPr>
          <p:cNvPr id="22" name="Text 20"/>
          <p:cNvSpPr/>
          <p:nvPr/>
        </p:nvSpPr>
        <p:spPr>
          <a:xfrm>
            <a:off x="640080" y="4434840"/>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UV-Net, BRepGAT, BrepMFR, AAGNet encode the B-rep as a face-adjacency graph and segment machining features per face — 98–99%+ on public benchmarks — WITHOUT lossy mesh/voxel conversion.</a:t>
            </a:r>
            <a:endParaRPr lang="en-US" sz="1000" dirty="0"/>
          </a:p>
        </p:txBody>
      </p:sp>
      <p:sp>
        <p:nvSpPr>
          <p:cNvPr id="23" name="Shape 21"/>
          <p:cNvSpPr/>
          <p:nvPr/>
        </p:nvSpPr>
        <p:spPr>
          <a:xfrm>
            <a:off x="6208776" y="4014216"/>
            <a:ext cx="5532120" cy="1965960"/>
          </a:xfrm>
          <a:prstGeom prst="roundRect">
            <a:avLst>
              <a:gd name="adj" fmla="val 3256"/>
            </a:avLst>
          </a:prstGeom>
          <a:solidFill>
            <a:srgbClr val="1C2536"/>
          </a:solidFill>
          <a:ln w="9525">
            <a:solidFill>
              <a:srgbClr val="2B3A52"/>
            </a:solidFill>
            <a:prstDash val="solid"/>
          </a:ln>
        </p:spPr>
      </p:sp>
      <p:sp>
        <p:nvSpPr>
          <p:cNvPr id="24" name="Shape 22"/>
          <p:cNvSpPr/>
          <p:nvPr/>
        </p:nvSpPr>
        <p:spPr>
          <a:xfrm>
            <a:off x="6208776" y="4014216"/>
            <a:ext cx="64008" cy="1965960"/>
          </a:xfrm>
          <a:prstGeom prst="rect">
            <a:avLst/>
          </a:prstGeom>
          <a:solidFill>
            <a:srgbClr val="10B981"/>
          </a:solidFill>
          <a:ln/>
        </p:spPr>
      </p:sp>
      <p:sp>
        <p:nvSpPr>
          <p:cNvPr id="25" name="Text 23"/>
          <p:cNvSpPr/>
          <p:nvPr/>
        </p:nvSpPr>
        <p:spPr>
          <a:xfrm>
            <a:off x="6391656" y="4123944"/>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Heatmap methods (well-trodden)</a:t>
            </a:r>
            <a:endParaRPr lang="en-US" sz="1200" dirty="0"/>
          </a:p>
        </p:txBody>
      </p:sp>
      <p:sp>
        <p:nvSpPr>
          <p:cNvPr id="26" name="Text 24"/>
          <p:cNvSpPr/>
          <p:nvPr/>
        </p:nvSpPr>
        <p:spPr>
          <a:xfrm>
            <a:off x="6391656" y="4434840"/>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Wall thickness = single-ray + fitted-ball (both textbook). Draft = face-normal vs pull direction. We already compute the numbers; rendering them is a shader/vertex-colour job.</a:t>
            </a:r>
            <a:endParaRPr lang="en-US" sz="1000" dirty="0"/>
          </a:p>
        </p:txBody>
      </p:sp>
      <p:sp>
        <p:nvSpPr>
          <p:cNvPr id="27" name="Shape 25"/>
          <p:cNvSpPr/>
          <p:nvPr/>
        </p:nvSpPr>
        <p:spPr>
          <a:xfrm>
            <a:off x="457200" y="5897880"/>
            <a:ext cx="11292840" cy="566928"/>
          </a:xfrm>
          <a:prstGeom prst="roundRect">
            <a:avLst>
              <a:gd name="adj" fmla="val 11290"/>
            </a:avLst>
          </a:prstGeom>
          <a:solidFill>
            <a:srgbClr val="141B28"/>
          </a:solidFill>
          <a:ln w="9525">
            <a:solidFill>
              <a:srgbClr val="F59E0B"/>
            </a:solidFill>
            <a:prstDash val="solid"/>
          </a:ln>
        </p:spPr>
      </p:sp>
      <p:sp>
        <p:nvSpPr>
          <p:cNvPr id="28" name="Text 26"/>
          <p:cNvSpPr/>
          <p:nvPr/>
        </p:nvSpPr>
        <p:spPr>
          <a:xfrm>
            <a:off x="685800" y="5897880"/>
            <a:ext cx="10881360" cy="566928"/>
          </a:xfrm>
          <a:prstGeom prst="rect">
            <a:avLst/>
          </a:prstGeom>
          <a:noFill/>
          <a:ln/>
        </p:spPr>
        <p:txBody>
          <a:bodyPr wrap="square" lIns="0" tIns="0" rIns="0" bIns="0" rtlCol="0" anchor="ctr"/>
          <a:lstStyle/>
          <a:p>
            <a:pPr indent="0" marL="0">
              <a:buNone/>
            </a:pPr>
            <a:r>
              <a:rPr lang="en-US" sz="1000" b="1" dirty="0">
                <a:solidFill>
                  <a:srgbClr val="F59E0B"/>
                </a:solidFill>
                <a:latin typeface="Calibri" pitchFamily="34" charset="0"/>
                <a:ea typeface="Calibri" pitchFamily="34" charset="-122"/>
                <a:cs typeface="Calibri" pitchFamily="34" charset="-120"/>
              </a:rPr>
              <a:t>Honest caveat:  </a:t>
            </a:r>
            <a:pPr indent="0" marL="0">
              <a:buNone/>
            </a:pPr>
            <a:r>
              <a:rPr lang="en-US" sz="1000" dirty="0">
                <a:solidFill>
                  <a:srgbClr val="9AA7BD"/>
                </a:solidFill>
                <a:latin typeface="Calibri" pitchFamily="34" charset="0"/>
                <a:ea typeface="Calibri" pitchFamily="34" charset="-122"/>
                <a:cs typeface="Calibri" pitchFamily="34" charset="-120"/>
              </a:rPr>
              <a:t>those 98–99% AFR figures are per-face on SYNTHETIC datasets; vendor "seamless / 95%+" claims are marketing. Real STEP is messier — so we keep the human-in-the-loop correction step, always.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build plan — four phases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965960"/>
            <a:ext cx="2724912" cy="3566160"/>
          </a:xfrm>
          <a:prstGeom prst="roundRect">
            <a:avLst>
              <a:gd name="adj" fmla="val 2349"/>
            </a:avLst>
          </a:prstGeom>
          <a:solidFill>
            <a:srgbClr val="1C2536"/>
          </a:solidFill>
          <a:ln w="9525">
            <a:solidFill>
              <a:srgbClr val="2B3A52"/>
            </a:solidFill>
            <a:prstDash val="solid"/>
          </a:ln>
        </p:spPr>
      </p:sp>
      <p:sp>
        <p:nvSpPr>
          <p:cNvPr id="12" name="Shape 10"/>
          <p:cNvSpPr/>
          <p:nvPr/>
        </p:nvSpPr>
        <p:spPr>
          <a:xfrm>
            <a:off x="457200" y="1965960"/>
            <a:ext cx="2724912" cy="502920"/>
          </a:xfrm>
          <a:prstGeom prst="rect">
            <a:avLst/>
          </a:prstGeom>
          <a:solidFill>
            <a:srgbClr val="22D3EE"/>
          </a:solidFill>
          <a:ln/>
        </p:spPr>
      </p:sp>
      <p:sp>
        <p:nvSpPr>
          <p:cNvPr id="13" name="Text 11"/>
          <p:cNvSpPr/>
          <p:nvPr/>
        </p:nvSpPr>
        <p:spPr>
          <a:xfrm>
            <a:off x="640080"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0</a:t>
            </a:r>
            <a:endParaRPr lang="en-US" sz="1400" dirty="0"/>
          </a:p>
        </p:txBody>
      </p:sp>
      <p:sp>
        <p:nvSpPr>
          <p:cNvPr id="14" name="Text 12"/>
          <p:cNvSpPr/>
          <p:nvPr/>
        </p:nvSpPr>
        <p:spPr>
          <a:xfrm>
            <a:off x="640080"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Quick wins</a:t>
            </a:r>
            <a:endParaRPr lang="en-US" sz="1400" dirty="0"/>
          </a:p>
        </p:txBody>
      </p:sp>
      <p:sp>
        <p:nvSpPr>
          <p:cNvPr id="15" name="Text 13"/>
          <p:cNvSpPr/>
          <p:nvPr/>
        </p:nvSpPr>
        <p:spPr>
          <a:xfrm>
            <a:off x="640080"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Bigger viewer + paint the data we already compute. Highest value / effort.</a:t>
            </a:r>
            <a:endParaRPr lang="en-US" sz="1050" dirty="0"/>
          </a:p>
        </p:txBody>
      </p:sp>
      <p:sp>
        <p:nvSpPr>
          <p:cNvPr id="16" name="Shape 14"/>
          <p:cNvSpPr/>
          <p:nvPr/>
        </p:nvSpPr>
        <p:spPr>
          <a:xfrm>
            <a:off x="640080" y="4965192"/>
            <a:ext cx="2359152" cy="384048"/>
          </a:xfrm>
          <a:prstGeom prst="roundRect">
            <a:avLst>
              <a:gd name="adj" fmla="val 16667"/>
            </a:avLst>
          </a:prstGeom>
          <a:solidFill>
            <a:srgbClr val="0B0F17"/>
          </a:solidFill>
          <a:ln w="9525">
            <a:solidFill>
              <a:srgbClr val="22D3EE"/>
            </a:solidFill>
            <a:prstDash val="solid"/>
          </a:ln>
        </p:spPr>
      </p:sp>
      <p:sp>
        <p:nvSpPr>
          <p:cNvPr id="17" name="Text 15"/>
          <p:cNvSpPr/>
          <p:nvPr/>
        </p:nvSpPr>
        <p:spPr>
          <a:xfrm>
            <a:off x="640080" y="4965192"/>
            <a:ext cx="2359152" cy="384048"/>
          </a:xfrm>
          <a:prstGeom prst="rect">
            <a:avLst/>
          </a:prstGeom>
          <a:noFill/>
          <a:ln/>
        </p:spPr>
        <p:txBody>
          <a:bodyPr wrap="square" lIns="0" tIns="0" rIns="0" bIns="0" rtlCol="0" anchor="ctr"/>
          <a:lstStyle/>
          <a:p>
            <a:pPr algn="ctr" indent="0" marL="0">
              <a:buNone/>
            </a:pPr>
            <a:r>
              <a:rPr lang="en-US" sz="1000" b="1" dirty="0">
                <a:solidFill>
                  <a:srgbClr val="22D3EE"/>
                </a:solidFill>
                <a:latin typeface="Calibri" pitchFamily="34" charset="0"/>
                <a:ea typeface="Calibri" pitchFamily="34" charset="-122"/>
                <a:cs typeface="Calibri" pitchFamily="34" charset="-120"/>
              </a:rPr>
              <a:t>~1–2 wks</a:t>
            </a:r>
            <a:endParaRPr lang="en-US" sz="1000" dirty="0"/>
          </a:p>
        </p:txBody>
      </p:sp>
      <p:sp>
        <p:nvSpPr>
          <p:cNvPr id="18" name="Text 16"/>
          <p:cNvSpPr/>
          <p:nvPr/>
        </p:nvSpPr>
        <p:spPr>
          <a:xfrm>
            <a:off x="3154680"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3300984" y="1965960"/>
            <a:ext cx="2724912" cy="3566160"/>
          </a:xfrm>
          <a:prstGeom prst="roundRect">
            <a:avLst>
              <a:gd name="adj" fmla="val 2349"/>
            </a:avLst>
          </a:prstGeom>
          <a:solidFill>
            <a:srgbClr val="1C2536"/>
          </a:solidFill>
          <a:ln w="9525">
            <a:solidFill>
              <a:srgbClr val="2B3A52"/>
            </a:solidFill>
            <a:prstDash val="solid"/>
          </a:ln>
        </p:spPr>
      </p:sp>
      <p:sp>
        <p:nvSpPr>
          <p:cNvPr id="20" name="Shape 18"/>
          <p:cNvSpPr/>
          <p:nvPr/>
        </p:nvSpPr>
        <p:spPr>
          <a:xfrm>
            <a:off x="3300984" y="1965960"/>
            <a:ext cx="2724912" cy="502920"/>
          </a:xfrm>
          <a:prstGeom prst="rect">
            <a:avLst/>
          </a:prstGeom>
          <a:solidFill>
            <a:srgbClr val="3B82F6"/>
          </a:solidFill>
          <a:ln/>
        </p:spPr>
      </p:sp>
      <p:sp>
        <p:nvSpPr>
          <p:cNvPr id="21" name="Text 19"/>
          <p:cNvSpPr/>
          <p:nvPr/>
        </p:nvSpPr>
        <p:spPr>
          <a:xfrm>
            <a:off x="3483864"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1</a:t>
            </a:r>
            <a:endParaRPr lang="en-US" sz="1400" dirty="0"/>
          </a:p>
        </p:txBody>
      </p:sp>
      <p:sp>
        <p:nvSpPr>
          <p:cNvPr id="22" name="Text 20"/>
          <p:cNvSpPr/>
          <p:nvPr/>
        </p:nvSpPr>
        <p:spPr>
          <a:xfrm>
            <a:off x="3483864"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CAD-software feel</a:t>
            </a:r>
            <a:endParaRPr lang="en-US" sz="1400" dirty="0"/>
          </a:p>
        </p:txBody>
      </p:sp>
      <p:sp>
        <p:nvSpPr>
          <p:cNvPr id="23" name="Text 21"/>
          <p:cNvSpPr/>
          <p:nvPr/>
        </p:nvSpPr>
        <p:spPr>
          <a:xfrm>
            <a:off x="3483864"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Feature tree, orientation cube, exploded, multi-section, richer measure, per-face → cost.</a:t>
            </a:r>
            <a:endParaRPr lang="en-US" sz="1050" dirty="0"/>
          </a:p>
        </p:txBody>
      </p:sp>
      <p:sp>
        <p:nvSpPr>
          <p:cNvPr id="24" name="Shape 22"/>
          <p:cNvSpPr/>
          <p:nvPr/>
        </p:nvSpPr>
        <p:spPr>
          <a:xfrm>
            <a:off x="3483864" y="4965192"/>
            <a:ext cx="2359152" cy="384048"/>
          </a:xfrm>
          <a:prstGeom prst="roundRect">
            <a:avLst>
              <a:gd name="adj" fmla="val 16667"/>
            </a:avLst>
          </a:prstGeom>
          <a:solidFill>
            <a:srgbClr val="0B0F17"/>
          </a:solidFill>
          <a:ln w="9525">
            <a:solidFill>
              <a:srgbClr val="3B82F6"/>
            </a:solidFill>
            <a:prstDash val="solid"/>
          </a:ln>
        </p:spPr>
      </p:sp>
      <p:sp>
        <p:nvSpPr>
          <p:cNvPr id="25" name="Text 23"/>
          <p:cNvSpPr/>
          <p:nvPr/>
        </p:nvSpPr>
        <p:spPr>
          <a:xfrm>
            <a:off x="3483864" y="4965192"/>
            <a:ext cx="2359152" cy="384048"/>
          </a:xfrm>
          <a:prstGeom prst="rect">
            <a:avLst/>
          </a:prstGeom>
          <a:noFill/>
          <a:ln/>
        </p:spPr>
        <p:txBody>
          <a:bodyPr wrap="square" lIns="0" tIns="0" rIns="0" bIns="0" rtlCol="0" anchor="ctr"/>
          <a:lstStyle/>
          <a:p>
            <a:pPr algn="ctr" indent="0" marL="0">
              <a:buNone/>
            </a:pPr>
            <a:r>
              <a:rPr lang="en-US" sz="1000" b="1" dirty="0">
                <a:solidFill>
                  <a:srgbClr val="3B82F6"/>
                </a:solidFill>
                <a:latin typeface="Calibri" pitchFamily="34" charset="0"/>
                <a:ea typeface="Calibri" pitchFamily="34" charset="-122"/>
                <a:cs typeface="Calibri" pitchFamily="34" charset="-120"/>
              </a:rPr>
              <a:t>~2–4 wks</a:t>
            </a:r>
            <a:endParaRPr lang="en-US" sz="1000" dirty="0"/>
          </a:p>
        </p:txBody>
      </p:sp>
      <p:sp>
        <p:nvSpPr>
          <p:cNvPr id="26" name="Text 24"/>
          <p:cNvSpPr/>
          <p:nvPr/>
        </p:nvSpPr>
        <p:spPr>
          <a:xfrm>
            <a:off x="5998464"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6144768" y="1965960"/>
            <a:ext cx="2724912" cy="3566160"/>
          </a:xfrm>
          <a:prstGeom prst="roundRect">
            <a:avLst>
              <a:gd name="adj" fmla="val 2349"/>
            </a:avLst>
          </a:prstGeom>
          <a:solidFill>
            <a:srgbClr val="1C2536"/>
          </a:solidFill>
          <a:ln w="9525">
            <a:solidFill>
              <a:srgbClr val="2B3A52"/>
            </a:solidFill>
            <a:prstDash val="solid"/>
          </a:ln>
        </p:spPr>
      </p:sp>
      <p:sp>
        <p:nvSpPr>
          <p:cNvPr id="28" name="Shape 26"/>
          <p:cNvSpPr/>
          <p:nvPr/>
        </p:nvSpPr>
        <p:spPr>
          <a:xfrm>
            <a:off x="6144768" y="1965960"/>
            <a:ext cx="2724912" cy="502920"/>
          </a:xfrm>
          <a:prstGeom prst="rect">
            <a:avLst/>
          </a:prstGeom>
          <a:solidFill>
            <a:srgbClr val="8B5CF6"/>
          </a:solidFill>
          <a:ln/>
        </p:spPr>
      </p:sp>
      <p:sp>
        <p:nvSpPr>
          <p:cNvPr id="29" name="Text 27"/>
          <p:cNvSpPr/>
          <p:nvPr/>
        </p:nvSpPr>
        <p:spPr>
          <a:xfrm>
            <a:off x="6327648"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2</a:t>
            </a:r>
            <a:endParaRPr lang="en-US" sz="1400" dirty="0"/>
          </a:p>
        </p:txBody>
      </p:sp>
      <p:sp>
        <p:nvSpPr>
          <p:cNvPr id="30" name="Text 28"/>
          <p:cNvSpPr/>
          <p:nvPr/>
        </p:nvSpPr>
        <p:spPr>
          <a:xfrm>
            <a:off x="6327648"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Deeper capture</a:t>
            </a:r>
            <a:endParaRPr lang="en-US" sz="1400" dirty="0"/>
          </a:p>
        </p:txBody>
      </p:sp>
      <p:sp>
        <p:nvSpPr>
          <p:cNvPr id="31" name="Text 29"/>
          <p:cNvSpPr/>
          <p:nvPr/>
        </p:nvSpPr>
        <p:spPr>
          <a:xfrm>
            <a:off x="6327648"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Fillet/chamfer/slot/thread recognition + STEP AP242 PMI → tolerance-driven costing.</a:t>
            </a:r>
            <a:endParaRPr lang="en-US" sz="1050" dirty="0"/>
          </a:p>
        </p:txBody>
      </p:sp>
      <p:sp>
        <p:nvSpPr>
          <p:cNvPr id="32" name="Shape 30"/>
          <p:cNvSpPr/>
          <p:nvPr/>
        </p:nvSpPr>
        <p:spPr>
          <a:xfrm>
            <a:off x="6327648" y="4965192"/>
            <a:ext cx="2359152" cy="384048"/>
          </a:xfrm>
          <a:prstGeom prst="roundRect">
            <a:avLst>
              <a:gd name="adj" fmla="val 16667"/>
            </a:avLst>
          </a:prstGeom>
          <a:solidFill>
            <a:srgbClr val="0B0F17"/>
          </a:solidFill>
          <a:ln w="9525">
            <a:solidFill>
              <a:srgbClr val="8B5CF6"/>
            </a:solidFill>
            <a:prstDash val="solid"/>
          </a:ln>
        </p:spPr>
      </p:sp>
      <p:sp>
        <p:nvSpPr>
          <p:cNvPr id="33" name="Text 31"/>
          <p:cNvSpPr/>
          <p:nvPr/>
        </p:nvSpPr>
        <p:spPr>
          <a:xfrm>
            <a:off x="6327648" y="4965192"/>
            <a:ext cx="2359152" cy="384048"/>
          </a:xfrm>
          <a:prstGeom prst="rect">
            <a:avLst/>
          </a:prstGeom>
          <a:noFill/>
          <a:ln/>
        </p:spPr>
        <p:txBody>
          <a:bodyPr wrap="square" lIns="0" tIns="0" rIns="0" bIns="0" rtlCol="0" anchor="ctr"/>
          <a:lstStyle/>
          <a:p>
            <a:pPr algn="ctr" indent="0" marL="0">
              <a:buNone/>
            </a:pPr>
            <a:r>
              <a:rPr lang="en-US" sz="1000" b="1" dirty="0">
                <a:solidFill>
                  <a:srgbClr val="8B5CF6"/>
                </a:solidFill>
                <a:latin typeface="Calibri" pitchFamily="34" charset="0"/>
                <a:ea typeface="Calibri" pitchFamily="34" charset="-122"/>
                <a:cs typeface="Calibri" pitchFamily="34" charset="-120"/>
              </a:rPr>
              <a:t>~3–5 wks</a:t>
            </a:r>
            <a:endParaRPr lang="en-US" sz="1000" dirty="0"/>
          </a:p>
        </p:txBody>
      </p:sp>
      <p:sp>
        <p:nvSpPr>
          <p:cNvPr id="34" name="Text 32"/>
          <p:cNvSpPr/>
          <p:nvPr/>
        </p:nvSpPr>
        <p:spPr>
          <a:xfrm>
            <a:off x="8842248"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35" name="Shape 33"/>
          <p:cNvSpPr/>
          <p:nvPr/>
        </p:nvSpPr>
        <p:spPr>
          <a:xfrm>
            <a:off x="8988552" y="1965960"/>
            <a:ext cx="2724912" cy="3566160"/>
          </a:xfrm>
          <a:prstGeom prst="roundRect">
            <a:avLst>
              <a:gd name="adj" fmla="val 2349"/>
            </a:avLst>
          </a:prstGeom>
          <a:solidFill>
            <a:srgbClr val="1C2536"/>
          </a:solidFill>
          <a:ln w="9525">
            <a:solidFill>
              <a:srgbClr val="2B3A52"/>
            </a:solidFill>
            <a:prstDash val="solid"/>
          </a:ln>
        </p:spPr>
      </p:sp>
      <p:sp>
        <p:nvSpPr>
          <p:cNvPr id="36" name="Shape 34"/>
          <p:cNvSpPr/>
          <p:nvPr/>
        </p:nvSpPr>
        <p:spPr>
          <a:xfrm>
            <a:off x="8988552" y="1965960"/>
            <a:ext cx="2724912" cy="502920"/>
          </a:xfrm>
          <a:prstGeom prst="rect">
            <a:avLst/>
          </a:prstGeom>
          <a:solidFill>
            <a:srgbClr val="10B981"/>
          </a:solidFill>
          <a:ln/>
        </p:spPr>
      </p:sp>
      <p:sp>
        <p:nvSpPr>
          <p:cNvPr id="37" name="Text 35"/>
          <p:cNvSpPr/>
          <p:nvPr/>
        </p:nvSpPr>
        <p:spPr>
          <a:xfrm>
            <a:off x="9171432"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3</a:t>
            </a:r>
            <a:endParaRPr lang="en-US" sz="1400" dirty="0"/>
          </a:p>
        </p:txBody>
      </p:sp>
      <p:sp>
        <p:nvSpPr>
          <p:cNvPr id="38" name="Text 36"/>
          <p:cNvSpPr/>
          <p:nvPr/>
        </p:nvSpPr>
        <p:spPr>
          <a:xfrm>
            <a:off x="9171432"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Best-in-class AFR</a:t>
            </a:r>
            <a:endParaRPr lang="en-US" sz="1400" dirty="0"/>
          </a:p>
        </p:txBody>
      </p:sp>
      <p:sp>
        <p:nvSpPr>
          <p:cNvPr id="39" name="Text 37"/>
          <p:cNvSpPr/>
          <p:nvPr/>
        </p:nvSpPr>
        <p:spPr>
          <a:xfrm>
            <a:off x="9171432"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Client-side B-rep kernel + graph-neural feature recognition. Rivals the leaders.</a:t>
            </a:r>
            <a:endParaRPr lang="en-US" sz="1050" dirty="0"/>
          </a:p>
        </p:txBody>
      </p:sp>
      <p:sp>
        <p:nvSpPr>
          <p:cNvPr id="40" name="Shape 38"/>
          <p:cNvSpPr/>
          <p:nvPr/>
        </p:nvSpPr>
        <p:spPr>
          <a:xfrm>
            <a:off x="9171432" y="4965192"/>
            <a:ext cx="2359152" cy="384048"/>
          </a:xfrm>
          <a:prstGeom prst="roundRect">
            <a:avLst>
              <a:gd name="adj" fmla="val 16667"/>
            </a:avLst>
          </a:prstGeom>
          <a:solidFill>
            <a:srgbClr val="0B0F17"/>
          </a:solidFill>
          <a:ln w="9525">
            <a:solidFill>
              <a:srgbClr val="10B981"/>
            </a:solidFill>
            <a:prstDash val="solid"/>
          </a:ln>
        </p:spPr>
      </p:sp>
      <p:sp>
        <p:nvSpPr>
          <p:cNvPr id="41" name="Text 39"/>
          <p:cNvSpPr/>
          <p:nvPr/>
        </p:nvSpPr>
        <p:spPr>
          <a:xfrm>
            <a:off x="9171432" y="4965192"/>
            <a:ext cx="2359152" cy="384048"/>
          </a:xfrm>
          <a:prstGeom prst="rect">
            <a:avLst/>
          </a:prstGeom>
          <a:noFill/>
          <a:ln/>
        </p:spPr>
        <p:txBody>
          <a:bodyPr wrap="square" lIns="0" tIns="0" rIns="0" bIns="0" rtlCol="0" anchor="ctr"/>
          <a:lstStyle/>
          <a:p>
            <a:pPr algn="ctr" indent="0" marL="0">
              <a:buNone/>
            </a:pPr>
            <a:r>
              <a:rPr lang="en-US" sz="1000" b="1" dirty="0">
                <a:solidFill>
                  <a:srgbClr val="10B981"/>
                </a:solidFill>
                <a:latin typeface="Calibri" pitchFamily="34" charset="0"/>
                <a:ea typeface="Calibri" pitchFamily="34" charset="-122"/>
                <a:cs typeface="Calibri" pitchFamily="34" charset="-120"/>
              </a:rPr>
              <a:t>research</a:t>
            </a:r>
            <a:endParaRPr lang="en-US" sz="1000" dirty="0"/>
          </a:p>
        </p:txBody>
      </p:sp>
      <p:sp>
        <p:nvSpPr>
          <p:cNvPr id="42" name="Text 40"/>
          <p:cNvSpPr/>
          <p:nvPr/>
        </p:nvSpPr>
        <p:spPr>
          <a:xfrm>
            <a:off x="457200" y="5806440"/>
            <a:ext cx="11338560" cy="457200"/>
          </a:xfrm>
          <a:prstGeom prst="rect">
            <a:avLst/>
          </a:prstGeom>
          <a:noFill/>
          <a:ln/>
        </p:spPr>
        <p:txBody>
          <a:bodyPr wrap="square" lIns="0" tIns="0" rIns="0" bIns="0" rtlCol="0" anchor="t"/>
          <a:lstStyle/>
          <a:p>
            <a:pPr algn="ctr" indent="0" marL="0">
              <a:buNone/>
            </a:pPr>
            <a:r>
              <a:rPr lang="en-US" sz="1100" i="1" dirty="0">
                <a:solidFill>
                  <a:srgbClr val="9AA7BD"/>
                </a:solidFill>
                <a:latin typeface="Calibri" pitchFamily="34" charset="0"/>
                <a:ea typeface="Calibri" pitchFamily="34" charset="-122"/>
                <a:cs typeface="Calibri" pitchFamily="34" charset="-120"/>
              </a:rPr>
              <a:t>Ship each phase on its own — value lands early. The two things you asked for (a bigger viewer, a CAD-software feel) are Phase 0 and Phase 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~1–2 WEEKS · HIGHEST LEVERAGE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0 — Quick wins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411480" y="1737360"/>
            <a:ext cx="11338560" cy="365760"/>
          </a:xfrm>
          <a:prstGeom prst="rect">
            <a:avLst/>
          </a:prstGeom>
          <a:noFill/>
          <a:ln/>
        </p:spPr>
        <p:txBody>
          <a:bodyPr wrap="square" lIns="0" tIns="0" rIns="0" bIns="0" rtlCol="0" anchor="t"/>
          <a:lstStyle/>
          <a:p>
            <a:pPr indent="0" marL="0">
              <a:buNone/>
            </a:pPr>
            <a:r>
              <a:rPr lang="en-US" sz="1150" i="1" dirty="0">
                <a:solidFill>
                  <a:srgbClr val="22D3EE"/>
                </a:solidFill>
                <a:latin typeface="Calibri" pitchFamily="34" charset="0"/>
                <a:ea typeface="Calibri" pitchFamily="34" charset="-122"/>
                <a:cs typeface="Calibri" pitchFamily="34" charset="-120"/>
              </a:rPr>
              <a:t>Everything here is high-value and low-risk — three of the five are just SHOWING data the engine already produces.</a:t>
            </a:r>
            <a:endParaRPr lang="en-US" sz="1150" dirty="0"/>
          </a:p>
        </p:txBody>
      </p:sp>
      <p:sp>
        <p:nvSpPr>
          <p:cNvPr id="12" name="Shape 10"/>
          <p:cNvSpPr/>
          <p:nvPr/>
        </p:nvSpPr>
        <p:spPr>
          <a:xfrm>
            <a:off x="411480" y="2240280"/>
            <a:ext cx="11384280" cy="786384"/>
          </a:xfrm>
          <a:prstGeom prst="roundRect">
            <a:avLst>
              <a:gd name="adj" fmla="val 8140"/>
            </a:avLst>
          </a:prstGeom>
          <a:solidFill>
            <a:srgbClr val="141B28"/>
          </a:solidFill>
          <a:ln w="7620">
            <a:solidFill>
              <a:srgbClr val="2B3A52"/>
            </a:solidFill>
            <a:prstDash val="solid"/>
          </a:ln>
        </p:spPr>
      </p:sp>
      <p:sp>
        <p:nvSpPr>
          <p:cNvPr id="13" name="Shape 11"/>
          <p:cNvSpPr/>
          <p:nvPr/>
        </p:nvSpPr>
        <p:spPr>
          <a:xfrm>
            <a:off x="411480" y="2240280"/>
            <a:ext cx="54864" cy="786384"/>
          </a:xfrm>
          <a:prstGeom prst="rect">
            <a:avLst/>
          </a:prstGeom>
          <a:solidFill>
            <a:srgbClr val="22D3EE"/>
          </a:solidFill>
          <a:ln/>
        </p:spPr>
      </p:sp>
      <p:sp>
        <p:nvSpPr>
          <p:cNvPr id="14" name="Text 12"/>
          <p:cNvSpPr/>
          <p:nvPr/>
        </p:nvSpPr>
        <p:spPr>
          <a:xfrm>
            <a:off x="603504" y="2331720"/>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Bigger / fullscreen viewer</a:t>
            </a:r>
            <a:endParaRPr lang="en-US" sz="1100" dirty="0"/>
          </a:p>
        </p:txBody>
      </p:sp>
      <p:sp>
        <p:nvSpPr>
          <p:cNvPr id="15" name="Text 13"/>
          <p:cNvSpPr/>
          <p:nvPr/>
        </p:nvSpPr>
        <p:spPr>
          <a:xfrm>
            <a:off x="3611880" y="2313432"/>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Maximise button + Fullscreen API + a large "focus" mode and drag-to-resize. Directly the ask: room to work.</a:t>
            </a:r>
            <a:endParaRPr lang="en-US" sz="930" dirty="0"/>
          </a:p>
        </p:txBody>
      </p:sp>
      <p:sp>
        <p:nvSpPr>
          <p:cNvPr id="16" name="Text 14"/>
          <p:cNvSpPr/>
          <p:nvPr/>
        </p:nvSpPr>
        <p:spPr>
          <a:xfrm>
            <a:off x="8686800" y="2313432"/>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Instantly a serious tool; better demos &amp; inspection</a:t>
            </a:r>
            <a:endParaRPr lang="en-US" sz="900" dirty="0"/>
          </a:p>
        </p:txBody>
      </p:sp>
      <p:sp>
        <p:nvSpPr>
          <p:cNvPr id="17" name="Shape 15"/>
          <p:cNvSpPr/>
          <p:nvPr/>
        </p:nvSpPr>
        <p:spPr>
          <a:xfrm>
            <a:off x="411480" y="3099816"/>
            <a:ext cx="11384280" cy="786384"/>
          </a:xfrm>
          <a:prstGeom prst="roundRect">
            <a:avLst>
              <a:gd name="adj" fmla="val 8140"/>
            </a:avLst>
          </a:prstGeom>
          <a:solidFill>
            <a:srgbClr val="141B28"/>
          </a:solidFill>
          <a:ln w="7620">
            <a:solidFill>
              <a:srgbClr val="2B3A52"/>
            </a:solidFill>
            <a:prstDash val="solid"/>
          </a:ln>
        </p:spPr>
      </p:sp>
      <p:sp>
        <p:nvSpPr>
          <p:cNvPr id="18" name="Shape 16"/>
          <p:cNvSpPr/>
          <p:nvPr/>
        </p:nvSpPr>
        <p:spPr>
          <a:xfrm>
            <a:off x="411480" y="3099816"/>
            <a:ext cx="54864" cy="786384"/>
          </a:xfrm>
          <a:prstGeom prst="rect">
            <a:avLst/>
          </a:prstGeom>
          <a:solidFill>
            <a:srgbClr val="22D3EE"/>
          </a:solidFill>
          <a:ln/>
        </p:spPr>
      </p:sp>
      <p:sp>
        <p:nvSpPr>
          <p:cNvPr id="19" name="Text 17"/>
          <p:cNvSpPr/>
          <p:nvPr/>
        </p:nvSpPr>
        <p:spPr>
          <a:xfrm>
            <a:off x="603504" y="3191256"/>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Wall-thickness heatmap</a:t>
            </a:r>
            <a:endParaRPr lang="en-US" sz="1100" dirty="0"/>
          </a:p>
        </p:txBody>
      </p:sp>
      <p:sp>
        <p:nvSpPr>
          <p:cNvPr id="20" name="Text 18"/>
          <p:cNvSpPr/>
          <p:nvPr/>
        </p:nvSpPr>
        <p:spPr>
          <a:xfrm>
            <a:off x="3611880" y="3172968"/>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Render the thickness we ALREADY compute as a colour map on the model, with a legend.</a:t>
            </a:r>
            <a:endParaRPr lang="en-US" sz="930" dirty="0"/>
          </a:p>
        </p:txBody>
      </p:sp>
      <p:sp>
        <p:nvSpPr>
          <p:cNvPr id="21" name="Text 19"/>
          <p:cNvSpPr/>
          <p:nvPr/>
        </p:nvSpPr>
        <p:spPr>
          <a:xfrm>
            <a:off x="8686800" y="3172968"/>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Thin-wall cost/mould risk visible at a glance</a:t>
            </a:r>
            <a:endParaRPr lang="en-US" sz="900" dirty="0"/>
          </a:p>
        </p:txBody>
      </p:sp>
      <p:sp>
        <p:nvSpPr>
          <p:cNvPr id="22" name="Shape 20"/>
          <p:cNvSpPr/>
          <p:nvPr/>
        </p:nvSpPr>
        <p:spPr>
          <a:xfrm>
            <a:off x="411480" y="3959352"/>
            <a:ext cx="11384280" cy="786384"/>
          </a:xfrm>
          <a:prstGeom prst="roundRect">
            <a:avLst>
              <a:gd name="adj" fmla="val 8140"/>
            </a:avLst>
          </a:prstGeom>
          <a:solidFill>
            <a:srgbClr val="141B28"/>
          </a:solidFill>
          <a:ln w="7620">
            <a:solidFill>
              <a:srgbClr val="2B3A52"/>
            </a:solidFill>
            <a:prstDash val="solid"/>
          </a:ln>
        </p:spPr>
      </p:sp>
      <p:sp>
        <p:nvSpPr>
          <p:cNvPr id="23" name="Shape 21"/>
          <p:cNvSpPr/>
          <p:nvPr/>
        </p:nvSpPr>
        <p:spPr>
          <a:xfrm>
            <a:off x="411480" y="3959352"/>
            <a:ext cx="54864" cy="786384"/>
          </a:xfrm>
          <a:prstGeom prst="rect">
            <a:avLst/>
          </a:prstGeom>
          <a:solidFill>
            <a:srgbClr val="22D3EE"/>
          </a:solidFill>
          <a:ln/>
        </p:spPr>
      </p:sp>
      <p:sp>
        <p:nvSpPr>
          <p:cNvPr id="24" name="Text 22"/>
          <p:cNvSpPr/>
          <p:nvPr/>
        </p:nvSpPr>
        <p:spPr>
          <a:xfrm>
            <a:off x="603504" y="4050792"/>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Draft / undercut overlay</a:t>
            </a:r>
            <a:endParaRPr lang="en-US" sz="1100" dirty="0"/>
          </a:p>
        </p:txBody>
      </p:sp>
      <p:sp>
        <p:nvSpPr>
          <p:cNvPr id="25" name="Text 23"/>
          <p:cNvSpPr/>
          <p:nvPr/>
        </p:nvSpPr>
        <p:spPr>
          <a:xfrm>
            <a:off x="3611880" y="4032504"/>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Shade draft angle per face; flag undercuts (data already computed) → tooling drivers.</a:t>
            </a:r>
            <a:endParaRPr lang="en-US" sz="930" dirty="0"/>
          </a:p>
        </p:txBody>
      </p:sp>
      <p:sp>
        <p:nvSpPr>
          <p:cNvPr id="26" name="Text 24"/>
          <p:cNvSpPr/>
          <p:nvPr/>
        </p:nvSpPr>
        <p:spPr>
          <a:xfrm>
            <a:off x="8686800" y="4032504"/>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DFM at concept; explains die/slide cost</a:t>
            </a:r>
            <a:endParaRPr lang="en-US" sz="900" dirty="0"/>
          </a:p>
        </p:txBody>
      </p:sp>
      <p:sp>
        <p:nvSpPr>
          <p:cNvPr id="27" name="Shape 25"/>
          <p:cNvSpPr/>
          <p:nvPr/>
        </p:nvSpPr>
        <p:spPr>
          <a:xfrm>
            <a:off x="411480" y="4818888"/>
            <a:ext cx="11384280" cy="786384"/>
          </a:xfrm>
          <a:prstGeom prst="roundRect">
            <a:avLst>
              <a:gd name="adj" fmla="val 8140"/>
            </a:avLst>
          </a:prstGeom>
          <a:solidFill>
            <a:srgbClr val="141B28"/>
          </a:solidFill>
          <a:ln w="7620">
            <a:solidFill>
              <a:srgbClr val="2B3A52"/>
            </a:solidFill>
            <a:prstDash val="solid"/>
          </a:ln>
        </p:spPr>
      </p:sp>
      <p:sp>
        <p:nvSpPr>
          <p:cNvPr id="28" name="Shape 26"/>
          <p:cNvSpPr/>
          <p:nvPr/>
        </p:nvSpPr>
        <p:spPr>
          <a:xfrm>
            <a:off x="411480" y="4818888"/>
            <a:ext cx="54864" cy="786384"/>
          </a:xfrm>
          <a:prstGeom prst="rect">
            <a:avLst/>
          </a:prstGeom>
          <a:solidFill>
            <a:srgbClr val="22D3EE"/>
          </a:solidFill>
          <a:ln/>
        </p:spPr>
      </p:sp>
      <p:sp>
        <p:nvSpPr>
          <p:cNvPr id="29" name="Text 27"/>
          <p:cNvSpPr/>
          <p:nvPr/>
        </p:nvSpPr>
        <p:spPr>
          <a:xfrm>
            <a:off x="603504" y="4910328"/>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Persistent feature tree</a:t>
            </a:r>
            <a:endParaRPr lang="en-US" sz="1100" dirty="0"/>
          </a:p>
        </p:txBody>
      </p:sp>
      <p:sp>
        <p:nvSpPr>
          <p:cNvPr id="30" name="Text 28"/>
          <p:cNvSpPr/>
          <p:nvPr/>
        </p:nvSpPr>
        <p:spPr>
          <a:xfrm>
            <a:off x="3611880" y="4892040"/>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Turn the existing feature table into a docked tree; click a row → highlight the face.</a:t>
            </a:r>
            <a:endParaRPr lang="en-US" sz="930" dirty="0"/>
          </a:p>
        </p:txBody>
      </p:sp>
      <p:sp>
        <p:nvSpPr>
          <p:cNvPr id="31" name="Text 29"/>
          <p:cNvSpPr/>
          <p:nvPr/>
        </p:nvSpPr>
        <p:spPr>
          <a:xfrm>
            <a:off x="8686800" y="4892040"/>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Two-way link between the number and the geometry</a:t>
            </a:r>
            <a:endParaRPr lang="en-US" sz="900" dirty="0"/>
          </a:p>
        </p:txBody>
      </p:sp>
      <p:sp>
        <p:nvSpPr>
          <p:cNvPr id="32" name="Shape 30"/>
          <p:cNvSpPr/>
          <p:nvPr/>
        </p:nvSpPr>
        <p:spPr>
          <a:xfrm>
            <a:off x="411480" y="5678424"/>
            <a:ext cx="11384280" cy="786384"/>
          </a:xfrm>
          <a:prstGeom prst="roundRect">
            <a:avLst>
              <a:gd name="adj" fmla="val 8140"/>
            </a:avLst>
          </a:prstGeom>
          <a:solidFill>
            <a:srgbClr val="141B28"/>
          </a:solidFill>
          <a:ln w="7620">
            <a:solidFill>
              <a:srgbClr val="2B3A52"/>
            </a:solidFill>
            <a:prstDash val="solid"/>
          </a:ln>
        </p:spPr>
      </p:sp>
      <p:sp>
        <p:nvSpPr>
          <p:cNvPr id="33" name="Shape 31"/>
          <p:cNvSpPr/>
          <p:nvPr/>
        </p:nvSpPr>
        <p:spPr>
          <a:xfrm>
            <a:off x="411480" y="5678424"/>
            <a:ext cx="54864" cy="786384"/>
          </a:xfrm>
          <a:prstGeom prst="rect">
            <a:avLst/>
          </a:prstGeom>
          <a:solidFill>
            <a:srgbClr val="22D3EE"/>
          </a:solidFill>
          <a:ln/>
        </p:spPr>
      </p:sp>
      <p:sp>
        <p:nvSpPr>
          <p:cNvPr id="34" name="Text 32"/>
          <p:cNvSpPr/>
          <p:nvPr/>
        </p:nvSpPr>
        <p:spPr>
          <a:xfrm>
            <a:off x="603504" y="5769864"/>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Two-way report ↔ model link</a:t>
            </a:r>
            <a:endParaRPr lang="en-US" sz="1100" dirty="0"/>
          </a:p>
        </p:txBody>
      </p:sp>
      <p:sp>
        <p:nvSpPr>
          <p:cNvPr id="35" name="Text 33"/>
          <p:cNvSpPr/>
          <p:nvPr/>
        </p:nvSpPr>
        <p:spPr>
          <a:xfrm>
            <a:off x="3611880" y="5751576"/>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Click a machined-feature report row → the face lights up in 3D, and back.</a:t>
            </a:r>
            <a:endParaRPr lang="en-US" sz="930" dirty="0"/>
          </a:p>
        </p:txBody>
      </p:sp>
      <p:sp>
        <p:nvSpPr>
          <p:cNvPr id="36" name="Text 34"/>
          <p:cNvSpPr/>
          <p:nvPr/>
        </p:nvSpPr>
        <p:spPr>
          <a:xfrm>
            <a:off x="8686800" y="5751576"/>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10B981"/>
                </a:solidFill>
                <a:latin typeface="Calibri" pitchFamily="34" charset="0"/>
                <a:ea typeface="Calibri" pitchFamily="34" charset="-122"/>
                <a:cs typeface="Calibri" pitchFamily="34" charset="-120"/>
              </a:rPr>
              <a:t>→ Trust: every cost line traces to a face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~2–4 WEEKS · YOUR 2ND ASK</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1 — The full CAD-software feel</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828800"/>
            <a:ext cx="3685032" cy="1783080"/>
          </a:xfrm>
          <a:prstGeom prst="roundRect">
            <a:avLst>
              <a:gd name="adj" fmla="val 3590"/>
            </a:avLst>
          </a:prstGeom>
          <a:solidFill>
            <a:srgbClr val="1C2536"/>
          </a:solidFill>
          <a:ln w="9525">
            <a:solidFill>
              <a:srgbClr val="2B3A52"/>
            </a:solidFill>
            <a:prstDash val="solid"/>
          </a:ln>
        </p:spPr>
      </p:sp>
      <p:sp>
        <p:nvSpPr>
          <p:cNvPr id="12" name="Shape 10"/>
          <p:cNvSpPr/>
          <p:nvPr/>
        </p:nvSpPr>
        <p:spPr>
          <a:xfrm>
            <a:off x="411480" y="1828800"/>
            <a:ext cx="64008" cy="1783080"/>
          </a:xfrm>
          <a:prstGeom prst="rect">
            <a:avLst/>
          </a:prstGeom>
          <a:solidFill>
            <a:srgbClr val="3B82F6"/>
          </a:solidFill>
          <a:ln/>
        </p:spPr>
      </p:sp>
      <p:sp>
        <p:nvSpPr>
          <p:cNvPr id="13" name="Text 11"/>
          <p:cNvSpPr/>
          <p:nvPr/>
        </p:nvSpPr>
        <p:spPr>
          <a:xfrm>
            <a:off x="594360"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Orientation cube + smooth views</a:t>
            </a:r>
            <a:endParaRPr lang="en-US" sz="1150" dirty="0"/>
          </a:p>
        </p:txBody>
      </p:sp>
      <p:sp>
        <p:nvSpPr>
          <p:cNvPr id="14" name="Text 12"/>
          <p:cNvSpPr/>
          <p:nvPr/>
        </p:nvSpPr>
        <p:spPr>
          <a:xfrm>
            <a:off x="594360"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A draggable nav cube and named-view snapping — the universal "this is CAD" signal.</a:t>
            </a:r>
            <a:endParaRPr lang="en-US" sz="960" dirty="0"/>
          </a:p>
        </p:txBody>
      </p:sp>
      <p:sp>
        <p:nvSpPr>
          <p:cNvPr id="15" name="Shape 13"/>
          <p:cNvSpPr/>
          <p:nvPr/>
        </p:nvSpPr>
        <p:spPr>
          <a:xfrm>
            <a:off x="4215384" y="1828800"/>
            <a:ext cx="3685032" cy="1783080"/>
          </a:xfrm>
          <a:prstGeom prst="roundRect">
            <a:avLst>
              <a:gd name="adj" fmla="val 3590"/>
            </a:avLst>
          </a:prstGeom>
          <a:solidFill>
            <a:srgbClr val="1C2536"/>
          </a:solidFill>
          <a:ln w="9525">
            <a:solidFill>
              <a:srgbClr val="2B3A52"/>
            </a:solidFill>
            <a:prstDash val="solid"/>
          </a:ln>
        </p:spPr>
      </p:sp>
      <p:sp>
        <p:nvSpPr>
          <p:cNvPr id="16" name="Shape 14"/>
          <p:cNvSpPr/>
          <p:nvPr/>
        </p:nvSpPr>
        <p:spPr>
          <a:xfrm>
            <a:off x="4215384" y="1828800"/>
            <a:ext cx="64008" cy="1783080"/>
          </a:xfrm>
          <a:prstGeom prst="rect">
            <a:avLst/>
          </a:prstGeom>
          <a:solidFill>
            <a:srgbClr val="3B82F6"/>
          </a:solidFill>
          <a:ln/>
        </p:spPr>
      </p:sp>
      <p:sp>
        <p:nvSpPr>
          <p:cNvPr id="17" name="Text 15"/>
          <p:cNvSpPr/>
          <p:nvPr/>
        </p:nvSpPr>
        <p:spPr>
          <a:xfrm>
            <a:off x="4398264"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Feature / model tree</a:t>
            </a:r>
            <a:endParaRPr lang="en-US" sz="1150" dirty="0"/>
          </a:p>
        </p:txBody>
      </p:sp>
      <p:sp>
        <p:nvSpPr>
          <p:cNvPr id="18" name="Text 16"/>
          <p:cNvSpPr/>
          <p:nvPr/>
        </p:nvSpPr>
        <p:spPr>
          <a:xfrm>
            <a:off x="4398264"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A real docked tree of bodies, faces &amp; recognised features with visibility toggles.</a:t>
            </a:r>
            <a:endParaRPr lang="en-US" sz="960" dirty="0"/>
          </a:p>
        </p:txBody>
      </p:sp>
      <p:sp>
        <p:nvSpPr>
          <p:cNvPr id="19" name="Shape 17"/>
          <p:cNvSpPr/>
          <p:nvPr/>
        </p:nvSpPr>
        <p:spPr>
          <a:xfrm>
            <a:off x="8019288" y="1828800"/>
            <a:ext cx="3685032" cy="1783080"/>
          </a:xfrm>
          <a:prstGeom prst="roundRect">
            <a:avLst>
              <a:gd name="adj" fmla="val 3590"/>
            </a:avLst>
          </a:prstGeom>
          <a:solidFill>
            <a:srgbClr val="1C2536"/>
          </a:solidFill>
          <a:ln w="9525">
            <a:solidFill>
              <a:srgbClr val="2B3A52"/>
            </a:solidFill>
            <a:prstDash val="solid"/>
          </a:ln>
        </p:spPr>
      </p:sp>
      <p:sp>
        <p:nvSpPr>
          <p:cNvPr id="20" name="Shape 18"/>
          <p:cNvSpPr/>
          <p:nvPr/>
        </p:nvSpPr>
        <p:spPr>
          <a:xfrm>
            <a:off x="8019288" y="1828800"/>
            <a:ext cx="64008" cy="1783080"/>
          </a:xfrm>
          <a:prstGeom prst="rect">
            <a:avLst/>
          </a:prstGeom>
          <a:solidFill>
            <a:srgbClr val="8B5CF6"/>
          </a:solidFill>
          <a:ln/>
        </p:spPr>
      </p:sp>
      <p:sp>
        <p:nvSpPr>
          <p:cNvPr id="21" name="Text 19"/>
          <p:cNvSpPr/>
          <p:nvPr/>
        </p:nvSpPr>
        <p:spPr>
          <a:xfrm>
            <a:off x="8202168"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Exploded view</a:t>
            </a:r>
            <a:endParaRPr lang="en-US" sz="1150" dirty="0"/>
          </a:p>
        </p:txBody>
      </p:sp>
      <p:sp>
        <p:nvSpPr>
          <p:cNvPr id="22" name="Text 20"/>
          <p:cNvSpPr/>
          <p:nvPr/>
        </p:nvSpPr>
        <p:spPr>
          <a:xfrm>
            <a:off x="8202168"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Separate the solids of an assembly along an axis — inspect and cost per component.</a:t>
            </a:r>
            <a:endParaRPr lang="en-US" sz="960" dirty="0"/>
          </a:p>
        </p:txBody>
      </p:sp>
      <p:sp>
        <p:nvSpPr>
          <p:cNvPr id="23" name="Shape 21"/>
          <p:cNvSpPr/>
          <p:nvPr/>
        </p:nvSpPr>
        <p:spPr>
          <a:xfrm>
            <a:off x="411480" y="3730752"/>
            <a:ext cx="3685032" cy="1783080"/>
          </a:xfrm>
          <a:prstGeom prst="roundRect">
            <a:avLst>
              <a:gd name="adj" fmla="val 3590"/>
            </a:avLst>
          </a:prstGeom>
          <a:solidFill>
            <a:srgbClr val="1C2536"/>
          </a:solidFill>
          <a:ln w="9525">
            <a:solidFill>
              <a:srgbClr val="2B3A52"/>
            </a:solidFill>
            <a:prstDash val="solid"/>
          </a:ln>
        </p:spPr>
      </p:sp>
      <p:sp>
        <p:nvSpPr>
          <p:cNvPr id="24" name="Shape 22"/>
          <p:cNvSpPr/>
          <p:nvPr/>
        </p:nvSpPr>
        <p:spPr>
          <a:xfrm>
            <a:off x="411480" y="3730752"/>
            <a:ext cx="64008" cy="1783080"/>
          </a:xfrm>
          <a:prstGeom prst="rect">
            <a:avLst/>
          </a:prstGeom>
          <a:solidFill>
            <a:srgbClr val="8B5CF6"/>
          </a:solidFill>
          <a:ln/>
        </p:spPr>
      </p:sp>
      <p:sp>
        <p:nvSpPr>
          <p:cNvPr id="25" name="Text 23"/>
          <p:cNvSpPr/>
          <p:nvPr/>
        </p:nvSpPr>
        <p:spPr>
          <a:xfrm>
            <a:off x="594360"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Multi-section + cap shading</a:t>
            </a:r>
            <a:endParaRPr lang="en-US" sz="1150" dirty="0"/>
          </a:p>
        </p:txBody>
      </p:sp>
      <p:sp>
        <p:nvSpPr>
          <p:cNvPr id="26" name="Text 24"/>
          <p:cNvSpPr/>
          <p:nvPr/>
        </p:nvSpPr>
        <p:spPr>
          <a:xfrm>
            <a:off x="594360"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More than one cut plane, with solid caps — proper sectioning, not a single slider.</a:t>
            </a:r>
            <a:endParaRPr lang="en-US" sz="960" dirty="0"/>
          </a:p>
        </p:txBody>
      </p:sp>
      <p:sp>
        <p:nvSpPr>
          <p:cNvPr id="27" name="Shape 25"/>
          <p:cNvSpPr/>
          <p:nvPr/>
        </p:nvSpPr>
        <p:spPr>
          <a:xfrm>
            <a:off x="4215384" y="3730752"/>
            <a:ext cx="3685032" cy="1783080"/>
          </a:xfrm>
          <a:prstGeom prst="roundRect">
            <a:avLst>
              <a:gd name="adj" fmla="val 3590"/>
            </a:avLst>
          </a:prstGeom>
          <a:solidFill>
            <a:srgbClr val="1C2536"/>
          </a:solidFill>
          <a:ln w="9525">
            <a:solidFill>
              <a:srgbClr val="2B3A52"/>
            </a:solidFill>
            <a:prstDash val="solid"/>
          </a:ln>
        </p:spPr>
      </p:sp>
      <p:sp>
        <p:nvSpPr>
          <p:cNvPr id="28" name="Shape 26"/>
          <p:cNvSpPr/>
          <p:nvPr/>
        </p:nvSpPr>
        <p:spPr>
          <a:xfrm>
            <a:off x="4215384" y="3730752"/>
            <a:ext cx="64008" cy="1783080"/>
          </a:xfrm>
          <a:prstGeom prst="rect">
            <a:avLst/>
          </a:prstGeom>
          <a:solidFill>
            <a:srgbClr val="10B981"/>
          </a:solidFill>
          <a:ln/>
        </p:spPr>
      </p:sp>
      <p:sp>
        <p:nvSpPr>
          <p:cNvPr id="29" name="Text 27"/>
          <p:cNvSpPr/>
          <p:nvPr/>
        </p:nvSpPr>
        <p:spPr>
          <a:xfrm>
            <a:off x="4398264"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Richer measurement</a:t>
            </a:r>
            <a:endParaRPr lang="en-US" sz="1150" dirty="0"/>
          </a:p>
        </p:txBody>
      </p:sp>
      <p:sp>
        <p:nvSpPr>
          <p:cNvPr id="30" name="Text 28"/>
          <p:cNvSpPr/>
          <p:nvPr/>
        </p:nvSpPr>
        <p:spPr>
          <a:xfrm>
            <a:off x="4398264"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True face radius, edge length, face-to-face parallel distance, coordinate read-out.</a:t>
            </a:r>
            <a:endParaRPr lang="en-US" sz="960" dirty="0"/>
          </a:p>
        </p:txBody>
      </p:sp>
      <p:sp>
        <p:nvSpPr>
          <p:cNvPr id="31" name="Shape 29"/>
          <p:cNvSpPr/>
          <p:nvPr/>
        </p:nvSpPr>
        <p:spPr>
          <a:xfrm>
            <a:off x="8019288" y="3730752"/>
            <a:ext cx="3685032" cy="1783080"/>
          </a:xfrm>
          <a:prstGeom prst="roundRect">
            <a:avLst>
              <a:gd name="adj" fmla="val 3590"/>
            </a:avLst>
          </a:prstGeom>
          <a:solidFill>
            <a:srgbClr val="1C2536"/>
          </a:solidFill>
          <a:ln w="9525">
            <a:solidFill>
              <a:srgbClr val="2B3A52"/>
            </a:solidFill>
            <a:prstDash val="solid"/>
          </a:ln>
        </p:spPr>
      </p:sp>
      <p:sp>
        <p:nvSpPr>
          <p:cNvPr id="32" name="Shape 30"/>
          <p:cNvSpPr/>
          <p:nvPr/>
        </p:nvSpPr>
        <p:spPr>
          <a:xfrm>
            <a:off x="8019288" y="3730752"/>
            <a:ext cx="64008" cy="1783080"/>
          </a:xfrm>
          <a:prstGeom prst="rect">
            <a:avLst/>
          </a:prstGeom>
          <a:solidFill>
            <a:srgbClr val="22D3EE"/>
          </a:solidFill>
          <a:ln/>
        </p:spPr>
      </p:sp>
      <p:sp>
        <p:nvSpPr>
          <p:cNvPr id="33" name="Text 31"/>
          <p:cNvSpPr/>
          <p:nvPr/>
        </p:nvSpPr>
        <p:spPr>
          <a:xfrm>
            <a:off x="8202168"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Per-face → cost linking</a:t>
            </a:r>
            <a:endParaRPr lang="en-US" sz="1150" dirty="0"/>
          </a:p>
        </p:txBody>
      </p:sp>
      <p:sp>
        <p:nvSpPr>
          <p:cNvPr id="34" name="Text 32"/>
          <p:cNvSpPr/>
          <p:nvPr/>
        </p:nvSpPr>
        <p:spPr>
          <a:xfrm>
            <a:off x="8202168"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Click a face → see the operation and £ it drives. The viewer becomes the cost story.</a:t>
            </a:r>
            <a:endParaRPr lang="en-US" sz="960" dirty="0"/>
          </a:p>
        </p:txBody>
      </p:sp>
      <p:sp>
        <p:nvSpPr>
          <p:cNvPr id="35" name="Shape 33"/>
          <p:cNvSpPr/>
          <p:nvPr/>
        </p:nvSpPr>
        <p:spPr>
          <a:xfrm>
            <a:off x="411480" y="5623560"/>
            <a:ext cx="11384280" cy="566928"/>
          </a:xfrm>
          <a:prstGeom prst="roundRect">
            <a:avLst>
              <a:gd name="adj" fmla="val 11290"/>
            </a:avLst>
          </a:prstGeom>
          <a:solidFill>
            <a:srgbClr val="10202E"/>
          </a:solidFill>
          <a:ln w="9525">
            <a:solidFill>
              <a:srgbClr val="22D3EE"/>
            </a:solidFill>
            <a:prstDash val="solid"/>
          </a:ln>
        </p:spPr>
      </p:sp>
      <p:sp>
        <p:nvSpPr>
          <p:cNvPr id="36" name="Text 34"/>
          <p:cNvSpPr/>
          <p:nvPr/>
        </p:nvSpPr>
        <p:spPr>
          <a:xfrm>
            <a:off x="640080" y="5623560"/>
            <a:ext cx="10881360" cy="566928"/>
          </a:xfrm>
          <a:prstGeom prst="rect">
            <a:avLst/>
          </a:prstGeom>
          <a:noFill/>
          <a:ln/>
        </p:spPr>
        <p:txBody>
          <a:bodyPr wrap="square" lIns="0" tIns="0" rIns="0" bIns="0" rtlCol="0" anchor="ctr"/>
          <a:lstStyle/>
          <a:p>
            <a:pPr indent="0" marL="0">
              <a:buNone/>
            </a:pPr>
            <a:r>
              <a:rPr lang="en-US" sz="1050" b="1" dirty="0">
                <a:solidFill>
                  <a:srgbClr val="22D3EE"/>
                </a:solidFill>
                <a:latin typeface="Calibri" pitchFamily="34" charset="0"/>
                <a:ea typeface="Calibri" pitchFamily="34" charset="-122"/>
                <a:cs typeface="Calibri" pitchFamily="34" charset="-120"/>
              </a:rPr>
              <a:t>The payoff:  </a:t>
            </a:r>
            <a:pPr indent="0" marL="0">
              <a:buNone/>
            </a:pPr>
            <a:r>
              <a:rPr lang="en-US" sz="1050" dirty="0">
                <a:solidFill>
                  <a:srgbClr val="9AA7BD"/>
                </a:solidFill>
                <a:latin typeface="Calibri" pitchFamily="34" charset="0"/>
                <a:ea typeface="Calibri" pitchFamily="34" charset="-122"/>
                <a:cs typeface="Calibri" pitchFamily="34" charset="-120"/>
              </a:rPr>
              <a:t>the viewer stops being "a preview" and becomes the place engineers inspect, verify and understand the cost — the exact thing that impressed you about the competitor.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~3–5 WEEKS · TYPE LESS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2 — Deeper automatic capture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8B5CF6"/>
          </a:solidFill>
          <a:ln/>
        </p:spPr>
      </p:sp>
      <p:sp>
        <p:nvSpPr>
          <p:cNvPr id="13" name="Text 11"/>
          <p:cNvSpPr/>
          <p:nvPr/>
        </p:nvSpPr>
        <p:spPr>
          <a:xfrm>
            <a:off x="621792" y="1938528"/>
            <a:ext cx="5120640" cy="36576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More recognised features → cost</a:t>
            </a:r>
            <a:endParaRPr lang="en-US" sz="1300" dirty="0"/>
          </a:p>
        </p:txBody>
      </p:sp>
      <p:sp>
        <p:nvSpPr>
          <p:cNvPr id="14" name="Shape 12"/>
          <p:cNvSpPr/>
          <p:nvPr/>
        </p:nvSpPr>
        <p:spPr>
          <a:xfrm>
            <a:off x="658368" y="2432304"/>
            <a:ext cx="82296" cy="82296"/>
          </a:xfrm>
          <a:prstGeom prst="ellipse">
            <a:avLst/>
          </a:prstGeom>
          <a:solidFill>
            <a:srgbClr val="8B5CF6"/>
          </a:solidFill>
          <a:ln/>
        </p:spPr>
      </p:sp>
      <p:sp>
        <p:nvSpPr>
          <p:cNvPr id="15" name="Text 13"/>
          <p:cNvSpPr/>
          <p:nvPr/>
        </p:nvSpPr>
        <p:spPr>
          <a:xfrm>
            <a:off x="841248" y="2359152"/>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Fillets &amp; chamfers — count, size → finishing / deburr ops</a:t>
            </a:r>
            <a:endParaRPr lang="en-US" sz="1000" dirty="0"/>
          </a:p>
        </p:txBody>
      </p:sp>
      <p:sp>
        <p:nvSpPr>
          <p:cNvPr id="16" name="Shape 14"/>
          <p:cNvSpPr/>
          <p:nvPr/>
        </p:nvSpPr>
        <p:spPr>
          <a:xfrm>
            <a:off x="658368" y="3008376"/>
            <a:ext cx="82296" cy="82296"/>
          </a:xfrm>
          <a:prstGeom prst="ellipse">
            <a:avLst/>
          </a:prstGeom>
          <a:solidFill>
            <a:srgbClr val="8B5CF6"/>
          </a:solidFill>
          <a:ln/>
        </p:spPr>
      </p:sp>
      <p:sp>
        <p:nvSpPr>
          <p:cNvPr id="17" name="Text 15"/>
          <p:cNvSpPr/>
          <p:nvPr/>
        </p:nvSpPr>
        <p:spPr>
          <a:xfrm>
            <a:off x="841248" y="2935224"/>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Slots &amp; pockets — proper recognition (today only holes/bosses)</a:t>
            </a:r>
            <a:endParaRPr lang="en-US" sz="1000" dirty="0"/>
          </a:p>
        </p:txBody>
      </p:sp>
      <p:sp>
        <p:nvSpPr>
          <p:cNvPr id="18" name="Shape 16"/>
          <p:cNvSpPr/>
          <p:nvPr/>
        </p:nvSpPr>
        <p:spPr>
          <a:xfrm>
            <a:off x="658368" y="3584448"/>
            <a:ext cx="82296" cy="82296"/>
          </a:xfrm>
          <a:prstGeom prst="ellipse">
            <a:avLst/>
          </a:prstGeom>
          <a:solidFill>
            <a:srgbClr val="8B5CF6"/>
          </a:solidFill>
          <a:ln/>
        </p:spPr>
      </p:sp>
      <p:sp>
        <p:nvSpPr>
          <p:cNvPr id="19" name="Text 17"/>
          <p:cNvSpPr/>
          <p:nvPr/>
        </p:nvSpPr>
        <p:spPr>
          <a:xfrm>
            <a:off x="841248" y="3511296"/>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Ribs &amp; bosses on mouldings → tool complexity</a:t>
            </a:r>
            <a:endParaRPr lang="en-US" sz="1000" dirty="0"/>
          </a:p>
        </p:txBody>
      </p:sp>
      <p:sp>
        <p:nvSpPr>
          <p:cNvPr id="20" name="Shape 18"/>
          <p:cNvSpPr/>
          <p:nvPr/>
        </p:nvSpPr>
        <p:spPr>
          <a:xfrm>
            <a:off x="658368" y="4160520"/>
            <a:ext cx="82296" cy="82296"/>
          </a:xfrm>
          <a:prstGeom prst="ellipse">
            <a:avLst/>
          </a:prstGeom>
          <a:solidFill>
            <a:srgbClr val="8B5CF6"/>
          </a:solidFill>
          <a:ln/>
        </p:spPr>
      </p:sp>
      <p:sp>
        <p:nvSpPr>
          <p:cNvPr id="21" name="Text 19"/>
          <p:cNvSpPr/>
          <p:nvPr/>
        </p:nvSpPr>
        <p:spPr>
          <a:xfrm>
            <a:off x="841248" y="4087368"/>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Thread specs — real pitch/class, not a boolean guess</a:t>
            </a:r>
            <a:endParaRPr lang="en-US" sz="1000" dirty="0"/>
          </a:p>
        </p:txBody>
      </p:sp>
      <p:sp>
        <p:nvSpPr>
          <p:cNvPr id="22" name="Shape 20"/>
          <p:cNvSpPr/>
          <p:nvPr/>
        </p:nvSpPr>
        <p:spPr>
          <a:xfrm>
            <a:off x="658368" y="4736592"/>
            <a:ext cx="82296" cy="82296"/>
          </a:xfrm>
          <a:prstGeom prst="ellipse">
            <a:avLst/>
          </a:prstGeom>
          <a:solidFill>
            <a:srgbClr val="8B5CF6"/>
          </a:solidFill>
          <a:ln/>
        </p:spPr>
      </p:sp>
      <p:sp>
        <p:nvSpPr>
          <p:cNvPr id="23" name="Text 21"/>
          <p:cNvSpPr/>
          <p:nvPr/>
        </p:nvSpPr>
        <p:spPr>
          <a:xfrm>
            <a:off x="841248" y="4663440"/>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Machined-vs-as-cast face classification → what to machine</a:t>
            </a:r>
            <a:endParaRPr lang="en-US" sz="1000" dirty="0"/>
          </a:p>
        </p:txBody>
      </p:sp>
      <p:sp>
        <p:nvSpPr>
          <p:cNvPr id="24" name="Shape 22"/>
          <p:cNvSpPr/>
          <p:nvPr/>
        </p:nvSpPr>
        <p:spPr>
          <a:xfrm>
            <a:off x="658368" y="5312664"/>
            <a:ext cx="82296" cy="82296"/>
          </a:xfrm>
          <a:prstGeom prst="ellipse">
            <a:avLst/>
          </a:prstGeom>
          <a:solidFill>
            <a:srgbClr val="8B5CF6"/>
          </a:solidFill>
          <a:ln/>
        </p:spPr>
      </p:sp>
      <p:sp>
        <p:nvSpPr>
          <p:cNvPr id="25" name="Text 23"/>
          <p:cNvSpPr/>
          <p:nvPr/>
        </p:nvSpPr>
        <p:spPr>
          <a:xfrm>
            <a:off x="841248" y="5239512"/>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Better STL path — recover features so STL isn’t cost-blind</a:t>
            </a:r>
            <a:endParaRPr lang="en-US" sz="1000" dirty="0"/>
          </a:p>
        </p:txBody>
      </p:sp>
      <p:sp>
        <p:nvSpPr>
          <p:cNvPr id="26" name="Shape 24"/>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27" name="Shape 25"/>
          <p:cNvSpPr/>
          <p:nvPr/>
        </p:nvSpPr>
        <p:spPr>
          <a:xfrm>
            <a:off x="6217920" y="1783080"/>
            <a:ext cx="5532120" cy="45720"/>
          </a:xfrm>
          <a:prstGeom prst="rect">
            <a:avLst/>
          </a:prstGeom>
          <a:solidFill>
            <a:srgbClr val="F59E0B"/>
          </a:solidFill>
          <a:ln/>
        </p:spPr>
      </p:sp>
      <p:sp>
        <p:nvSpPr>
          <p:cNvPr id="28" name="Text 26"/>
          <p:cNvSpPr/>
          <p:nvPr/>
        </p:nvSpPr>
        <p:spPr>
          <a:xfrm>
            <a:off x="6428232" y="1938528"/>
            <a:ext cx="5120640" cy="365760"/>
          </a:xfrm>
          <a:prstGeom prst="rect">
            <a:avLst/>
          </a:prstGeom>
          <a:noFill/>
          <a:ln/>
        </p:spPr>
        <p:txBody>
          <a:bodyPr wrap="square" lIns="0" tIns="0" rIns="0" bIns="0" rtlCol="0" anchor="t"/>
          <a:lstStyle/>
          <a:p>
            <a:pPr indent="0" marL="0">
              <a:buNone/>
            </a:pPr>
            <a:r>
              <a:rPr lang="en-US" sz="1300" b="1" dirty="0">
                <a:solidFill>
                  <a:srgbClr val="F59E0B"/>
                </a:solidFill>
                <a:latin typeface="Calibri" pitchFamily="34" charset="0"/>
                <a:ea typeface="Calibri" pitchFamily="34" charset="-122"/>
                <a:cs typeface="Calibri" pitchFamily="34" charset="-120"/>
              </a:rPr>
              <a:t>Tolerance-driven costing (the differentiator)</a:t>
            </a:r>
            <a:endParaRPr lang="en-US" sz="1300" dirty="0"/>
          </a:p>
        </p:txBody>
      </p:sp>
      <p:sp>
        <p:nvSpPr>
          <p:cNvPr id="29" name="Text 27"/>
          <p:cNvSpPr/>
          <p:nvPr/>
        </p:nvSpPr>
        <p:spPr>
          <a:xfrm>
            <a:off x="6428232" y="2359152"/>
            <a:ext cx="5120640" cy="822960"/>
          </a:xfrm>
          <a:prstGeom prst="rect">
            <a:avLst/>
          </a:prstGeom>
          <a:noFill/>
          <a:ln/>
        </p:spPr>
        <p:txBody>
          <a:bodyPr wrap="square" lIns="0" tIns="0" rIns="0" bIns="0" rtlCol="0" anchor="t"/>
          <a:lstStyle/>
          <a:p>
            <a:pPr indent="0" marL="0">
              <a:lnSpc>
                <a:spcPct val="110000"/>
              </a:lnSpc>
              <a:buNone/>
            </a:pPr>
            <a:r>
              <a:rPr lang="en-US" sz="1000" dirty="0">
                <a:solidFill>
                  <a:srgbClr val="9AA7BD"/>
                </a:solidFill>
                <a:latin typeface="Calibri" pitchFamily="34" charset="0"/>
                <a:ea typeface="Calibri" pitchFamily="34" charset="-122"/>
                <a:cs typeface="Calibri" pitchFamily="34" charset="-120"/>
              </a:rPr>
              <a:t>Read PMI / GD&amp;T straight from STEP AP242 (via OCCT XDE) — the tolerances that actually drive cost — and map them to process &amp; inspection:</a:t>
            </a:r>
            <a:endParaRPr lang="en-US" sz="1000" dirty="0"/>
          </a:p>
        </p:txBody>
      </p:sp>
      <p:sp>
        <p:nvSpPr>
          <p:cNvPr id="30" name="Shape 28"/>
          <p:cNvSpPr/>
          <p:nvPr/>
        </p:nvSpPr>
        <p:spPr>
          <a:xfrm>
            <a:off x="6428232" y="3291840"/>
            <a:ext cx="5120640" cy="548640"/>
          </a:xfrm>
          <a:prstGeom prst="roundRect">
            <a:avLst>
              <a:gd name="adj" fmla="val 11667"/>
            </a:avLst>
          </a:prstGeom>
          <a:solidFill>
            <a:srgbClr val="1C2536"/>
          </a:solidFill>
          <a:ln w="6350">
            <a:solidFill>
              <a:srgbClr val="2B3A52"/>
            </a:solidFill>
            <a:prstDash val="solid"/>
          </a:ln>
        </p:spPr>
      </p:sp>
      <p:sp>
        <p:nvSpPr>
          <p:cNvPr id="31" name="Text 29"/>
          <p:cNvSpPr/>
          <p:nvPr/>
        </p:nvSpPr>
        <p:spPr>
          <a:xfrm>
            <a:off x="6583680" y="329184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Tight bore tolerance</a:t>
            </a:r>
            <a:endParaRPr lang="en-US" sz="950" dirty="0"/>
          </a:p>
        </p:txBody>
      </p:sp>
      <p:sp>
        <p:nvSpPr>
          <p:cNvPr id="32" name="Text 30"/>
          <p:cNvSpPr/>
          <p:nvPr/>
        </p:nvSpPr>
        <p:spPr>
          <a:xfrm>
            <a:off x="9052560" y="329184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ream / hone / grind added</a:t>
            </a:r>
            <a:endParaRPr lang="en-US" sz="950" dirty="0"/>
          </a:p>
        </p:txBody>
      </p:sp>
      <p:sp>
        <p:nvSpPr>
          <p:cNvPr id="33" name="Shape 31"/>
          <p:cNvSpPr/>
          <p:nvPr/>
        </p:nvSpPr>
        <p:spPr>
          <a:xfrm>
            <a:off x="6428232" y="3931920"/>
            <a:ext cx="5120640" cy="548640"/>
          </a:xfrm>
          <a:prstGeom prst="roundRect">
            <a:avLst>
              <a:gd name="adj" fmla="val 11667"/>
            </a:avLst>
          </a:prstGeom>
          <a:solidFill>
            <a:srgbClr val="1C2536"/>
          </a:solidFill>
          <a:ln w="6350">
            <a:solidFill>
              <a:srgbClr val="2B3A52"/>
            </a:solidFill>
            <a:prstDash val="solid"/>
          </a:ln>
        </p:spPr>
      </p:sp>
      <p:sp>
        <p:nvSpPr>
          <p:cNvPr id="34" name="Text 32"/>
          <p:cNvSpPr/>
          <p:nvPr/>
        </p:nvSpPr>
        <p:spPr>
          <a:xfrm>
            <a:off x="6583680" y="393192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Fine surface finish (Ra)</a:t>
            </a:r>
            <a:endParaRPr lang="en-US" sz="950" dirty="0"/>
          </a:p>
        </p:txBody>
      </p:sp>
      <p:sp>
        <p:nvSpPr>
          <p:cNvPr id="35" name="Text 33"/>
          <p:cNvSpPr/>
          <p:nvPr/>
        </p:nvSpPr>
        <p:spPr>
          <a:xfrm>
            <a:off x="9052560" y="393192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super-finish / polish op</a:t>
            </a:r>
            <a:endParaRPr lang="en-US" sz="950" dirty="0"/>
          </a:p>
        </p:txBody>
      </p:sp>
      <p:sp>
        <p:nvSpPr>
          <p:cNvPr id="36" name="Shape 34"/>
          <p:cNvSpPr/>
          <p:nvPr/>
        </p:nvSpPr>
        <p:spPr>
          <a:xfrm>
            <a:off x="6428232" y="4572000"/>
            <a:ext cx="5120640" cy="548640"/>
          </a:xfrm>
          <a:prstGeom prst="roundRect">
            <a:avLst>
              <a:gd name="adj" fmla="val 11667"/>
            </a:avLst>
          </a:prstGeom>
          <a:solidFill>
            <a:srgbClr val="1C2536"/>
          </a:solidFill>
          <a:ln w="6350">
            <a:solidFill>
              <a:srgbClr val="2B3A52"/>
            </a:solidFill>
            <a:prstDash val="solid"/>
          </a:ln>
        </p:spPr>
      </p:sp>
      <p:sp>
        <p:nvSpPr>
          <p:cNvPr id="37" name="Text 35"/>
          <p:cNvSpPr/>
          <p:nvPr/>
        </p:nvSpPr>
        <p:spPr>
          <a:xfrm>
            <a:off x="6583680" y="457200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Flatness / position GD&amp;T</a:t>
            </a:r>
            <a:endParaRPr lang="en-US" sz="950" dirty="0"/>
          </a:p>
        </p:txBody>
      </p:sp>
      <p:sp>
        <p:nvSpPr>
          <p:cNvPr id="38" name="Text 36"/>
          <p:cNvSpPr/>
          <p:nvPr/>
        </p:nvSpPr>
        <p:spPr>
          <a:xfrm>
            <a:off x="9052560" y="457200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inspection + fixturing cost</a:t>
            </a:r>
            <a:endParaRPr lang="en-US" sz="950" dirty="0"/>
          </a:p>
        </p:txBody>
      </p:sp>
      <p:sp>
        <p:nvSpPr>
          <p:cNvPr id="39" name="Shape 37"/>
          <p:cNvSpPr/>
          <p:nvPr/>
        </p:nvSpPr>
        <p:spPr>
          <a:xfrm>
            <a:off x="6428232" y="5212080"/>
            <a:ext cx="5120640" cy="548640"/>
          </a:xfrm>
          <a:prstGeom prst="roundRect">
            <a:avLst>
              <a:gd name="adj" fmla="val 11667"/>
            </a:avLst>
          </a:prstGeom>
          <a:solidFill>
            <a:srgbClr val="1C2536"/>
          </a:solidFill>
          <a:ln w="6350">
            <a:solidFill>
              <a:srgbClr val="2B3A52"/>
            </a:solidFill>
            <a:prstDash val="solid"/>
          </a:ln>
        </p:spPr>
      </p:sp>
      <p:sp>
        <p:nvSpPr>
          <p:cNvPr id="40" name="Text 38"/>
          <p:cNvSpPr/>
          <p:nvPr/>
        </p:nvSpPr>
        <p:spPr>
          <a:xfrm>
            <a:off x="6583680" y="521208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Loose general tol.</a:t>
            </a:r>
            <a:endParaRPr lang="en-US" sz="950" dirty="0"/>
          </a:p>
        </p:txBody>
      </p:sp>
      <p:sp>
        <p:nvSpPr>
          <p:cNvPr id="41" name="Text 39"/>
          <p:cNvSpPr/>
          <p:nvPr/>
        </p:nvSpPr>
        <p:spPr>
          <a:xfrm>
            <a:off x="9052560" y="5212080"/>
            <a:ext cx="2377440" cy="548640"/>
          </a:xfrm>
          <a:prstGeom prst="rect">
            <a:avLst/>
          </a:prstGeom>
          <a:noFill/>
          <a:ln/>
        </p:spPr>
        <p:txBody>
          <a:bodyPr wrap="square" lIns="0" tIns="0" rIns="0" bIns="0" rtlCol="0" anchor="ctr"/>
          <a:lstStyle/>
          <a:p>
            <a:pPr indent="0" marL="0">
              <a:buNone/>
            </a:pPr>
            <a:r>
              <a:rPr lang="en-US" sz="950" dirty="0">
                <a:solidFill>
                  <a:srgbClr val="F59E0B"/>
                </a:solidFill>
                <a:latin typeface="Calibri" pitchFamily="34" charset="0"/>
                <a:ea typeface="Calibri" pitchFamily="34" charset="-122"/>
                <a:cs typeface="Calibri" pitchFamily="34" charset="-120"/>
              </a:rPr>
              <a:t>→ cheaper route, faster cycle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ROADMAP · RESEARCH TRACK</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3 — Best-in-class recognition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5532120" cy="2788920"/>
          </a:xfrm>
          <a:prstGeom prst="roundRect">
            <a:avLst>
              <a:gd name="adj" fmla="val 2295"/>
            </a:avLst>
          </a:prstGeom>
          <a:solidFill>
            <a:srgbClr val="1C2536"/>
          </a:solidFill>
          <a:ln w="9525">
            <a:solidFill>
              <a:srgbClr val="2B3A52"/>
            </a:solidFill>
            <a:prstDash val="solid"/>
          </a:ln>
        </p:spPr>
      </p:sp>
      <p:sp>
        <p:nvSpPr>
          <p:cNvPr id="12" name="Shape 10"/>
          <p:cNvSpPr/>
          <p:nvPr/>
        </p:nvSpPr>
        <p:spPr>
          <a:xfrm>
            <a:off x="457200" y="1874520"/>
            <a:ext cx="64008" cy="2788920"/>
          </a:xfrm>
          <a:prstGeom prst="rect">
            <a:avLst/>
          </a:prstGeom>
          <a:solidFill>
            <a:srgbClr val="22D3EE"/>
          </a:solidFill>
          <a:ln/>
        </p:spPr>
      </p:sp>
      <p:sp>
        <p:nvSpPr>
          <p:cNvPr id="13" name="Text 11"/>
          <p:cNvSpPr/>
          <p:nvPr/>
        </p:nvSpPr>
        <p:spPr>
          <a:xfrm>
            <a:off x="640080" y="198424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Client-side B-rep kernel (occt-import-js)</a:t>
            </a:r>
            <a:endParaRPr lang="en-US" sz="1200" dirty="0"/>
          </a:p>
        </p:txBody>
      </p:sp>
      <p:sp>
        <p:nvSpPr>
          <p:cNvPr id="14" name="Text 12"/>
          <p:cNvSpPr/>
          <p:nvPr/>
        </p:nvSpPr>
        <p:spPr>
          <a:xfrm>
            <a:off x="640080" y="2295144"/>
            <a:ext cx="5221224" cy="233172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Open STEP/IGES directly in the browser and hold the real B-rep, not a server-tessellated mesh. Unlocks true face-radius measurement, instant load, and per-face picking with zero round-trip.</a:t>
            </a:r>
            <a:endParaRPr lang="en-US" sz="1000" dirty="0"/>
          </a:p>
          <a:p>
            <a:pPr indent="0" marL="0">
              <a:lnSpc>
                <a:spcPct val="106000"/>
              </a:lnSpc>
              <a:buNone/>
            </a:pPr>
            <a:endParaRPr lang="en-US" sz="1000" dirty="0"/>
          </a:p>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Benefit: the viewer stops depending on a server call to feel alive — and every face is a first-class, clickable, costable object.</a:t>
            </a:r>
            <a:endParaRPr lang="en-US" sz="1000" dirty="0"/>
          </a:p>
        </p:txBody>
      </p:sp>
      <p:sp>
        <p:nvSpPr>
          <p:cNvPr id="15" name="Shape 13"/>
          <p:cNvSpPr/>
          <p:nvPr/>
        </p:nvSpPr>
        <p:spPr>
          <a:xfrm>
            <a:off x="6172200" y="1874520"/>
            <a:ext cx="5577840" cy="2788920"/>
          </a:xfrm>
          <a:prstGeom prst="roundRect">
            <a:avLst>
              <a:gd name="adj" fmla="val 2295"/>
            </a:avLst>
          </a:prstGeom>
          <a:solidFill>
            <a:srgbClr val="1C2536"/>
          </a:solidFill>
          <a:ln w="9525">
            <a:solidFill>
              <a:srgbClr val="2B3A52"/>
            </a:solidFill>
            <a:prstDash val="solid"/>
          </a:ln>
        </p:spPr>
      </p:sp>
      <p:sp>
        <p:nvSpPr>
          <p:cNvPr id="16" name="Shape 14"/>
          <p:cNvSpPr/>
          <p:nvPr/>
        </p:nvSpPr>
        <p:spPr>
          <a:xfrm>
            <a:off x="6172200" y="1874520"/>
            <a:ext cx="64008" cy="2788920"/>
          </a:xfrm>
          <a:prstGeom prst="rect">
            <a:avLst/>
          </a:prstGeom>
          <a:solidFill>
            <a:srgbClr val="8B5CF6"/>
          </a:solidFill>
          <a:ln/>
        </p:spPr>
      </p:sp>
      <p:sp>
        <p:nvSpPr>
          <p:cNvPr id="17" name="Text 15"/>
          <p:cNvSpPr/>
          <p:nvPr/>
        </p:nvSpPr>
        <p:spPr>
          <a:xfrm>
            <a:off x="6355080" y="1984248"/>
            <a:ext cx="526694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Graph-neural feature recognition (AFR)</a:t>
            </a:r>
            <a:endParaRPr lang="en-US" sz="1200" dirty="0"/>
          </a:p>
        </p:txBody>
      </p:sp>
      <p:sp>
        <p:nvSpPr>
          <p:cNvPr id="18" name="Text 16"/>
          <p:cNvSpPr/>
          <p:nvPr/>
        </p:nvSpPr>
        <p:spPr>
          <a:xfrm>
            <a:off x="6355080" y="2295144"/>
            <a:ext cx="5266944" cy="233172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Add a native B-rep AFR model (UV-Net / BRepGAT family) that segments machining features per face at published 98–99% on benchmarks — recognising the compound features our geometric heuristics miss.</a:t>
            </a:r>
            <a:endParaRPr lang="en-US" sz="1000" dirty="0"/>
          </a:p>
          <a:p>
            <a:pPr indent="0" marL="0">
              <a:lnSpc>
                <a:spcPct val="106000"/>
              </a:lnSpc>
              <a:buNone/>
            </a:pPr>
            <a:endParaRPr lang="en-US" sz="1000" dirty="0"/>
          </a:p>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Benefit: recall and precision that rival aPriori &amp; Siemens — while staying glass-box, because every prediction is a face a human can verify.</a:t>
            </a:r>
            <a:endParaRPr lang="en-US" sz="1000" dirty="0"/>
          </a:p>
        </p:txBody>
      </p:sp>
      <p:sp>
        <p:nvSpPr>
          <p:cNvPr id="19" name="Shape 17"/>
          <p:cNvSpPr/>
          <p:nvPr/>
        </p:nvSpPr>
        <p:spPr>
          <a:xfrm>
            <a:off x="457200" y="4892040"/>
            <a:ext cx="11292840" cy="1234440"/>
          </a:xfrm>
          <a:prstGeom prst="roundRect">
            <a:avLst>
              <a:gd name="adj" fmla="val 5185"/>
            </a:avLst>
          </a:prstGeom>
          <a:solidFill>
            <a:srgbClr val="141B28"/>
          </a:solidFill>
          <a:ln w="9525">
            <a:solidFill>
              <a:srgbClr val="2B3A52"/>
            </a:solidFill>
            <a:prstDash val="solid"/>
          </a:ln>
        </p:spPr>
      </p:sp>
      <p:sp>
        <p:nvSpPr>
          <p:cNvPr id="20" name="Shape 18"/>
          <p:cNvSpPr/>
          <p:nvPr/>
        </p:nvSpPr>
        <p:spPr>
          <a:xfrm>
            <a:off x="457200" y="4892040"/>
            <a:ext cx="73152" cy="1234440"/>
          </a:xfrm>
          <a:prstGeom prst="rect">
            <a:avLst/>
          </a:prstGeom>
          <a:solidFill>
            <a:srgbClr val="F59E0B"/>
          </a:solidFill>
          <a:ln/>
        </p:spPr>
      </p:sp>
      <p:sp>
        <p:nvSpPr>
          <p:cNvPr id="21" name="Text 19"/>
          <p:cNvSpPr/>
          <p:nvPr/>
        </p:nvSpPr>
        <p:spPr>
          <a:xfrm>
            <a:off x="713232" y="5029200"/>
            <a:ext cx="10789920" cy="320040"/>
          </a:xfrm>
          <a:prstGeom prst="rect">
            <a:avLst/>
          </a:prstGeom>
          <a:noFill/>
          <a:ln/>
        </p:spPr>
        <p:txBody>
          <a:bodyPr wrap="square" lIns="0" tIns="0" rIns="0" bIns="0" rtlCol="0" anchor="t"/>
          <a:lstStyle/>
          <a:p>
            <a:pPr indent="0" marL="0">
              <a:buNone/>
            </a:pPr>
            <a:r>
              <a:rPr lang="en-US" sz="1200" b="1" dirty="0">
                <a:solidFill>
                  <a:srgbClr val="F59E0B"/>
                </a:solidFill>
                <a:latin typeface="Calibri" pitchFamily="34" charset="0"/>
                <a:ea typeface="Calibri" pitchFamily="34" charset="-122"/>
                <a:cs typeface="Calibri" pitchFamily="34" charset="-120"/>
              </a:rPr>
              <a:t>Why this is a "later" phase, not a "never" phase</a:t>
            </a:r>
            <a:endParaRPr lang="en-US" sz="1200" dirty="0"/>
          </a:p>
        </p:txBody>
      </p:sp>
      <p:sp>
        <p:nvSpPr>
          <p:cNvPr id="22" name="Text 20"/>
          <p:cNvSpPr/>
          <p:nvPr/>
        </p:nvSpPr>
        <p:spPr>
          <a:xfrm>
            <a:off x="713232" y="5358384"/>
            <a:ext cx="10881360" cy="713232"/>
          </a:xfrm>
          <a:prstGeom prst="rect">
            <a:avLst/>
          </a:prstGeom>
          <a:noFill/>
          <a:ln/>
        </p:spPr>
        <p:txBody>
          <a:bodyPr wrap="square" lIns="0" tIns="0" rIns="0" bIns="0" rtlCol="0" anchor="t"/>
          <a:lstStyle/>
          <a:p>
            <a:pPr indent="0" marL="0">
              <a:lnSpc>
                <a:spcPct val="110000"/>
              </a:lnSpc>
              <a:buNone/>
            </a:pPr>
            <a:r>
              <a:rPr lang="en-US" sz="1050" dirty="0">
                <a:solidFill>
                  <a:srgbClr val="9AA7BD"/>
                </a:solidFill>
                <a:latin typeface="Calibri" pitchFamily="34" charset="0"/>
                <a:ea typeface="Calibri" pitchFamily="34" charset="-122"/>
                <a:cs typeface="Calibri" pitchFamily="34" charset="-120"/>
              </a:rPr>
              <a:t>Highest effort and the benchmark accuracy is on synthetic data — so it earns its place only after Phases 0–2 have already closed the visible gap. But it is the ceiling: it is what would let us say "our recognition matches the market leaders," on our own secure, learning, glass-box platform.</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WHAT YOU ASKED FOR, CONCRETELY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Your two asks — specced</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343400"/>
          </a:xfrm>
          <a:prstGeom prst="roundRect">
            <a:avLst>
              <a:gd name="adj" fmla="val 1474"/>
            </a:avLst>
          </a:prstGeom>
          <a:solidFill>
            <a:srgbClr val="1C2536"/>
          </a:solidFill>
          <a:ln w="12700">
            <a:solidFill>
              <a:srgbClr val="22D3EE"/>
            </a:solidFill>
            <a:prstDash val="solid"/>
          </a:ln>
        </p:spPr>
      </p:sp>
      <p:sp>
        <p:nvSpPr>
          <p:cNvPr id="12" name="Shape 10"/>
          <p:cNvSpPr/>
          <p:nvPr/>
        </p:nvSpPr>
        <p:spPr>
          <a:xfrm>
            <a:off x="411480" y="1783080"/>
            <a:ext cx="5532120" cy="45720"/>
          </a:xfrm>
          <a:prstGeom prst="rect">
            <a:avLst/>
          </a:prstGeom>
          <a:solidFill>
            <a:srgbClr val="22D3EE"/>
          </a:solidFill>
          <a:ln/>
        </p:spPr>
      </p:sp>
      <p:sp>
        <p:nvSpPr>
          <p:cNvPr id="13" name="Text 11"/>
          <p:cNvSpPr/>
          <p:nvPr/>
        </p:nvSpPr>
        <p:spPr>
          <a:xfrm>
            <a:off x="640080" y="1938528"/>
            <a:ext cx="512064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1 · Make the 3D viewer bigger</a:t>
            </a:r>
            <a:endParaRPr lang="en-US" sz="1500" dirty="0"/>
          </a:p>
        </p:txBody>
      </p:sp>
      <p:sp>
        <p:nvSpPr>
          <p:cNvPr id="14" name="Shape 12"/>
          <p:cNvSpPr/>
          <p:nvPr/>
        </p:nvSpPr>
        <p:spPr>
          <a:xfrm>
            <a:off x="658368" y="2450592"/>
            <a:ext cx="82296" cy="82296"/>
          </a:xfrm>
          <a:prstGeom prst="ellipse">
            <a:avLst/>
          </a:prstGeom>
          <a:solidFill>
            <a:srgbClr val="22D3EE"/>
          </a:solidFill>
          <a:ln/>
        </p:spPr>
      </p:sp>
      <p:sp>
        <p:nvSpPr>
          <p:cNvPr id="15" name="Text 13"/>
          <p:cNvSpPr/>
          <p:nvPr/>
        </p:nvSpPr>
        <p:spPr>
          <a:xfrm>
            <a:off x="84124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Maximise button in the toolbar → full-window overlay</a:t>
            </a:r>
            <a:endParaRPr lang="en-US" sz="1030" dirty="0"/>
          </a:p>
        </p:txBody>
      </p:sp>
      <p:sp>
        <p:nvSpPr>
          <p:cNvPr id="16" name="Shape 14"/>
          <p:cNvSpPr/>
          <p:nvPr/>
        </p:nvSpPr>
        <p:spPr>
          <a:xfrm>
            <a:off x="658368" y="3017520"/>
            <a:ext cx="82296" cy="82296"/>
          </a:xfrm>
          <a:prstGeom prst="ellipse">
            <a:avLst/>
          </a:prstGeom>
          <a:solidFill>
            <a:srgbClr val="22D3EE"/>
          </a:solidFill>
          <a:ln/>
        </p:spPr>
      </p:sp>
      <p:sp>
        <p:nvSpPr>
          <p:cNvPr id="17" name="Text 15"/>
          <p:cNvSpPr/>
          <p:nvPr/>
        </p:nvSpPr>
        <p:spPr>
          <a:xfrm>
            <a:off x="84124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Browser Fullscreen API (true full-screen, F11-style)</a:t>
            </a:r>
            <a:endParaRPr lang="en-US" sz="1030" dirty="0"/>
          </a:p>
        </p:txBody>
      </p:sp>
      <p:sp>
        <p:nvSpPr>
          <p:cNvPr id="18" name="Shape 16"/>
          <p:cNvSpPr/>
          <p:nvPr/>
        </p:nvSpPr>
        <p:spPr>
          <a:xfrm>
            <a:off x="658368" y="3584448"/>
            <a:ext cx="82296" cy="82296"/>
          </a:xfrm>
          <a:prstGeom prst="ellipse">
            <a:avLst/>
          </a:prstGeom>
          <a:solidFill>
            <a:srgbClr val="22D3EE"/>
          </a:solidFill>
          <a:ln/>
        </p:spPr>
      </p:sp>
      <p:sp>
        <p:nvSpPr>
          <p:cNvPr id="19" name="Text 17"/>
          <p:cNvSpPr/>
          <p:nvPr/>
        </p:nvSpPr>
        <p:spPr>
          <a:xfrm>
            <a:off x="84124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Large "focus" mode: viewer takes the whole workspace</a:t>
            </a:r>
            <a:endParaRPr lang="en-US" sz="1030" dirty="0"/>
          </a:p>
        </p:txBody>
      </p:sp>
      <p:sp>
        <p:nvSpPr>
          <p:cNvPr id="20" name="Shape 18"/>
          <p:cNvSpPr/>
          <p:nvPr/>
        </p:nvSpPr>
        <p:spPr>
          <a:xfrm>
            <a:off x="658368" y="4151376"/>
            <a:ext cx="82296" cy="82296"/>
          </a:xfrm>
          <a:prstGeom prst="ellipse">
            <a:avLst/>
          </a:prstGeom>
          <a:solidFill>
            <a:srgbClr val="22D3EE"/>
          </a:solidFill>
          <a:ln/>
        </p:spPr>
      </p:sp>
      <p:sp>
        <p:nvSpPr>
          <p:cNvPr id="21" name="Text 19"/>
          <p:cNvSpPr/>
          <p:nvPr/>
        </p:nvSpPr>
        <p:spPr>
          <a:xfrm>
            <a:off x="84124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Drag-to-resize handle on the panel; remembers your size</a:t>
            </a:r>
            <a:endParaRPr lang="en-US" sz="1030" dirty="0"/>
          </a:p>
        </p:txBody>
      </p:sp>
      <p:sp>
        <p:nvSpPr>
          <p:cNvPr id="22" name="Shape 20"/>
          <p:cNvSpPr/>
          <p:nvPr/>
        </p:nvSpPr>
        <p:spPr>
          <a:xfrm>
            <a:off x="658368" y="4718304"/>
            <a:ext cx="82296" cy="82296"/>
          </a:xfrm>
          <a:prstGeom prst="ellipse">
            <a:avLst/>
          </a:prstGeom>
          <a:solidFill>
            <a:srgbClr val="22D3EE"/>
          </a:solidFill>
          <a:ln/>
        </p:spPr>
      </p:sp>
      <p:sp>
        <p:nvSpPr>
          <p:cNvPr id="23" name="Text 21"/>
          <p:cNvSpPr/>
          <p:nvPr/>
        </p:nvSpPr>
        <p:spPr>
          <a:xfrm>
            <a:off x="84124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Toolbar &amp; panels reflow so nothing crowds the model</a:t>
            </a:r>
            <a:endParaRPr lang="en-US" sz="1030" dirty="0"/>
          </a:p>
        </p:txBody>
      </p:sp>
      <p:sp>
        <p:nvSpPr>
          <p:cNvPr id="24" name="Shape 22"/>
          <p:cNvSpPr/>
          <p:nvPr/>
        </p:nvSpPr>
        <p:spPr>
          <a:xfrm>
            <a:off x="658368" y="5285232"/>
            <a:ext cx="82296" cy="82296"/>
          </a:xfrm>
          <a:prstGeom prst="ellipse">
            <a:avLst/>
          </a:prstGeom>
          <a:solidFill>
            <a:srgbClr val="22D3EE"/>
          </a:solidFill>
          <a:ln/>
        </p:spPr>
      </p:sp>
      <p:sp>
        <p:nvSpPr>
          <p:cNvPr id="25" name="Text 23"/>
          <p:cNvSpPr/>
          <p:nvPr/>
        </p:nvSpPr>
        <p:spPr>
          <a:xfrm>
            <a:off x="84124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Escape / click-out returns to the costing layout</a:t>
            </a:r>
            <a:endParaRPr lang="en-US" sz="1030" dirty="0"/>
          </a:p>
        </p:txBody>
      </p:sp>
      <p:sp>
        <p:nvSpPr>
          <p:cNvPr id="26" name="Shape 24"/>
          <p:cNvSpPr/>
          <p:nvPr/>
        </p:nvSpPr>
        <p:spPr>
          <a:xfrm>
            <a:off x="6217920" y="1783080"/>
            <a:ext cx="5532120" cy="4343400"/>
          </a:xfrm>
          <a:prstGeom prst="roundRect">
            <a:avLst>
              <a:gd name="adj" fmla="val 1474"/>
            </a:avLst>
          </a:prstGeom>
          <a:solidFill>
            <a:srgbClr val="1C2536"/>
          </a:solidFill>
          <a:ln w="12700">
            <a:solidFill>
              <a:srgbClr val="3B82F6"/>
            </a:solidFill>
            <a:prstDash val="solid"/>
          </a:ln>
        </p:spPr>
      </p:sp>
      <p:sp>
        <p:nvSpPr>
          <p:cNvPr id="27" name="Shape 25"/>
          <p:cNvSpPr/>
          <p:nvPr/>
        </p:nvSpPr>
        <p:spPr>
          <a:xfrm>
            <a:off x="6217920" y="1783080"/>
            <a:ext cx="5532120" cy="45720"/>
          </a:xfrm>
          <a:prstGeom prst="rect">
            <a:avLst/>
          </a:prstGeom>
          <a:solidFill>
            <a:srgbClr val="3B82F6"/>
          </a:solidFill>
          <a:ln/>
        </p:spPr>
      </p:sp>
      <p:sp>
        <p:nvSpPr>
          <p:cNvPr id="28" name="Text 26"/>
          <p:cNvSpPr/>
          <p:nvPr/>
        </p:nvSpPr>
        <p:spPr>
          <a:xfrm>
            <a:off x="6446520" y="1938528"/>
            <a:ext cx="5120640" cy="365760"/>
          </a:xfrm>
          <a:prstGeom prst="rect">
            <a:avLst/>
          </a:prstGeom>
          <a:noFill/>
          <a:ln/>
        </p:spPr>
        <p:txBody>
          <a:bodyPr wrap="square" lIns="0" tIns="0" rIns="0" bIns="0" rtlCol="0" anchor="t"/>
          <a:lstStyle/>
          <a:p>
            <a:pPr indent="0" marL="0">
              <a:buNone/>
            </a:pPr>
            <a:r>
              <a:rPr lang="en-US" sz="1500" b="1" dirty="0">
                <a:solidFill>
                  <a:srgbClr val="3B82F6"/>
                </a:solidFill>
                <a:latin typeface="Calibri" pitchFamily="34" charset="0"/>
                <a:ea typeface="Calibri" pitchFamily="34" charset="-122"/>
                <a:cs typeface="Calibri" pitchFamily="34" charset="-120"/>
              </a:rPr>
              <a:t>2 · Full CAD-software feel</a:t>
            </a:r>
            <a:endParaRPr lang="en-US" sz="1500" dirty="0"/>
          </a:p>
        </p:txBody>
      </p:sp>
      <p:sp>
        <p:nvSpPr>
          <p:cNvPr id="29" name="Shape 27"/>
          <p:cNvSpPr/>
          <p:nvPr/>
        </p:nvSpPr>
        <p:spPr>
          <a:xfrm>
            <a:off x="6464808" y="2450592"/>
            <a:ext cx="82296" cy="82296"/>
          </a:xfrm>
          <a:prstGeom prst="ellipse">
            <a:avLst/>
          </a:prstGeom>
          <a:solidFill>
            <a:srgbClr val="3B82F6"/>
          </a:solidFill>
          <a:ln/>
        </p:spPr>
      </p:sp>
      <p:sp>
        <p:nvSpPr>
          <p:cNvPr id="30" name="Text 28"/>
          <p:cNvSpPr/>
          <p:nvPr/>
        </p:nvSpPr>
        <p:spPr>
          <a:xfrm>
            <a:off x="664768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Orientation cube + named-view snapping</a:t>
            </a:r>
            <a:endParaRPr lang="en-US" sz="1030" dirty="0"/>
          </a:p>
        </p:txBody>
      </p:sp>
      <p:sp>
        <p:nvSpPr>
          <p:cNvPr id="31" name="Shape 29"/>
          <p:cNvSpPr/>
          <p:nvPr/>
        </p:nvSpPr>
        <p:spPr>
          <a:xfrm>
            <a:off x="6464808" y="3017520"/>
            <a:ext cx="82296" cy="82296"/>
          </a:xfrm>
          <a:prstGeom prst="ellipse">
            <a:avLst/>
          </a:prstGeom>
          <a:solidFill>
            <a:srgbClr val="3B82F6"/>
          </a:solidFill>
          <a:ln/>
        </p:spPr>
      </p:sp>
      <p:sp>
        <p:nvSpPr>
          <p:cNvPr id="32" name="Text 30"/>
          <p:cNvSpPr/>
          <p:nvPr/>
        </p:nvSpPr>
        <p:spPr>
          <a:xfrm>
            <a:off x="664768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Docked feature / model tree (click row → highlight face)</a:t>
            </a:r>
            <a:endParaRPr lang="en-US" sz="1030" dirty="0"/>
          </a:p>
        </p:txBody>
      </p:sp>
      <p:sp>
        <p:nvSpPr>
          <p:cNvPr id="33" name="Shape 31"/>
          <p:cNvSpPr/>
          <p:nvPr/>
        </p:nvSpPr>
        <p:spPr>
          <a:xfrm>
            <a:off x="6464808" y="3584448"/>
            <a:ext cx="82296" cy="82296"/>
          </a:xfrm>
          <a:prstGeom prst="ellipse">
            <a:avLst/>
          </a:prstGeom>
          <a:solidFill>
            <a:srgbClr val="3B82F6"/>
          </a:solidFill>
          <a:ln/>
        </p:spPr>
      </p:sp>
      <p:sp>
        <p:nvSpPr>
          <p:cNvPr id="34" name="Text 32"/>
          <p:cNvSpPr/>
          <p:nvPr/>
        </p:nvSpPr>
        <p:spPr>
          <a:xfrm>
            <a:off x="664768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On-model heatmaps: wall thickness, draft, undercut</a:t>
            </a:r>
            <a:endParaRPr lang="en-US" sz="1030" dirty="0"/>
          </a:p>
        </p:txBody>
      </p:sp>
      <p:sp>
        <p:nvSpPr>
          <p:cNvPr id="35" name="Shape 33"/>
          <p:cNvSpPr/>
          <p:nvPr/>
        </p:nvSpPr>
        <p:spPr>
          <a:xfrm>
            <a:off x="6464808" y="4151376"/>
            <a:ext cx="82296" cy="82296"/>
          </a:xfrm>
          <a:prstGeom prst="ellipse">
            <a:avLst/>
          </a:prstGeom>
          <a:solidFill>
            <a:srgbClr val="3B82F6"/>
          </a:solidFill>
          <a:ln/>
        </p:spPr>
      </p:sp>
      <p:sp>
        <p:nvSpPr>
          <p:cNvPr id="36" name="Text 34"/>
          <p:cNvSpPr/>
          <p:nvPr/>
        </p:nvSpPr>
        <p:spPr>
          <a:xfrm>
            <a:off x="664768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Multi-section planes with cap shading; exploded view</a:t>
            </a:r>
            <a:endParaRPr lang="en-US" sz="1030" dirty="0"/>
          </a:p>
        </p:txBody>
      </p:sp>
      <p:sp>
        <p:nvSpPr>
          <p:cNvPr id="37" name="Shape 35"/>
          <p:cNvSpPr/>
          <p:nvPr/>
        </p:nvSpPr>
        <p:spPr>
          <a:xfrm>
            <a:off x="6464808" y="4718304"/>
            <a:ext cx="82296" cy="82296"/>
          </a:xfrm>
          <a:prstGeom prst="ellipse">
            <a:avLst/>
          </a:prstGeom>
          <a:solidFill>
            <a:srgbClr val="3B82F6"/>
          </a:solidFill>
          <a:ln/>
        </p:spPr>
      </p:sp>
      <p:sp>
        <p:nvSpPr>
          <p:cNvPr id="38" name="Text 36"/>
          <p:cNvSpPr/>
          <p:nvPr/>
        </p:nvSpPr>
        <p:spPr>
          <a:xfrm>
            <a:off x="664768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Richer measure: face radius, edge length, face-to-face</a:t>
            </a:r>
            <a:endParaRPr lang="en-US" sz="1030" dirty="0"/>
          </a:p>
        </p:txBody>
      </p:sp>
      <p:sp>
        <p:nvSpPr>
          <p:cNvPr id="39" name="Shape 37"/>
          <p:cNvSpPr/>
          <p:nvPr/>
        </p:nvSpPr>
        <p:spPr>
          <a:xfrm>
            <a:off x="6464808" y="5285232"/>
            <a:ext cx="82296" cy="82296"/>
          </a:xfrm>
          <a:prstGeom prst="ellipse">
            <a:avLst/>
          </a:prstGeom>
          <a:solidFill>
            <a:srgbClr val="3B82F6"/>
          </a:solidFill>
          <a:ln/>
        </p:spPr>
      </p:sp>
      <p:sp>
        <p:nvSpPr>
          <p:cNvPr id="40" name="Text 38"/>
          <p:cNvSpPr/>
          <p:nvPr/>
        </p:nvSpPr>
        <p:spPr>
          <a:xfrm>
            <a:off x="664768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Per-face → cost: click a face, see its op and £</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2D3EE"/>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2D3EE"/>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2D3EE"/>
                </a:solidFill>
                <a:latin typeface="Calibri" pitchFamily="34" charset="0"/>
                <a:ea typeface="Calibri" pitchFamily="34" charset="-122"/>
                <a:cs typeface="Calibri" pitchFamily="34" charset="-120"/>
              </a:rPr>
              <a:t>WHY IT IS WORTH IT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Benefits, and the recommendation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3685032" cy="1417320"/>
          </a:xfrm>
          <a:prstGeom prst="roundRect">
            <a:avLst>
              <a:gd name="adj" fmla="val 4516"/>
            </a:avLst>
          </a:prstGeom>
          <a:solidFill>
            <a:srgbClr val="1C2536"/>
          </a:solidFill>
          <a:ln w="9525">
            <a:solidFill>
              <a:srgbClr val="2B3A52"/>
            </a:solidFill>
            <a:prstDash val="solid"/>
          </a:ln>
        </p:spPr>
      </p:sp>
      <p:sp>
        <p:nvSpPr>
          <p:cNvPr id="12" name="Shape 10"/>
          <p:cNvSpPr/>
          <p:nvPr/>
        </p:nvSpPr>
        <p:spPr>
          <a:xfrm>
            <a:off x="411480" y="1783080"/>
            <a:ext cx="64008" cy="1417320"/>
          </a:xfrm>
          <a:prstGeom prst="rect">
            <a:avLst/>
          </a:prstGeom>
          <a:solidFill>
            <a:srgbClr val="10B981"/>
          </a:solidFill>
          <a:ln/>
        </p:spPr>
      </p:sp>
      <p:sp>
        <p:nvSpPr>
          <p:cNvPr id="13" name="Text 11"/>
          <p:cNvSpPr/>
          <p:nvPr/>
        </p:nvSpPr>
        <p:spPr>
          <a:xfrm>
            <a:off x="594360"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More auto-capture</a:t>
            </a:r>
            <a:endParaRPr lang="en-US" sz="1100" dirty="0"/>
          </a:p>
        </p:txBody>
      </p:sp>
      <p:sp>
        <p:nvSpPr>
          <p:cNvPr id="14" name="Text 12"/>
          <p:cNvSpPr/>
          <p:nvPr/>
        </p:nvSpPr>
        <p:spPr>
          <a:xfrm>
            <a:off x="594360"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Every feature &amp; tolerance read from CAD is a field nobody types — faster quotes, fewer errors.</a:t>
            </a:r>
            <a:endParaRPr lang="en-US" sz="920" dirty="0"/>
          </a:p>
        </p:txBody>
      </p:sp>
      <p:sp>
        <p:nvSpPr>
          <p:cNvPr id="15" name="Shape 13"/>
          <p:cNvSpPr/>
          <p:nvPr/>
        </p:nvSpPr>
        <p:spPr>
          <a:xfrm>
            <a:off x="4215384" y="1783080"/>
            <a:ext cx="3685032" cy="1417320"/>
          </a:xfrm>
          <a:prstGeom prst="roundRect">
            <a:avLst>
              <a:gd name="adj" fmla="val 4516"/>
            </a:avLst>
          </a:prstGeom>
          <a:solidFill>
            <a:srgbClr val="1C2536"/>
          </a:solidFill>
          <a:ln w="9525">
            <a:solidFill>
              <a:srgbClr val="2B3A52"/>
            </a:solidFill>
            <a:prstDash val="solid"/>
          </a:ln>
        </p:spPr>
      </p:sp>
      <p:sp>
        <p:nvSpPr>
          <p:cNvPr id="16" name="Shape 14"/>
          <p:cNvSpPr/>
          <p:nvPr/>
        </p:nvSpPr>
        <p:spPr>
          <a:xfrm>
            <a:off x="4215384" y="1783080"/>
            <a:ext cx="64008" cy="1417320"/>
          </a:xfrm>
          <a:prstGeom prst="rect">
            <a:avLst/>
          </a:prstGeom>
          <a:solidFill>
            <a:srgbClr val="22D3EE"/>
          </a:solidFill>
          <a:ln/>
        </p:spPr>
      </p:sp>
      <p:sp>
        <p:nvSpPr>
          <p:cNvPr id="17" name="Text 15"/>
          <p:cNvSpPr/>
          <p:nvPr/>
        </p:nvSpPr>
        <p:spPr>
          <a:xfrm>
            <a:off x="4398264"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Fewer estimate drifts</a:t>
            </a:r>
            <a:endParaRPr lang="en-US" sz="1100" dirty="0"/>
          </a:p>
        </p:txBody>
      </p:sp>
      <p:sp>
        <p:nvSpPr>
          <p:cNvPr id="18" name="Text 16"/>
          <p:cNvSpPr/>
          <p:nvPr/>
        </p:nvSpPr>
        <p:spPr>
          <a:xfrm>
            <a:off x="4398264"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Capturing the driver instead of typing it removes a place the number can go wrong.</a:t>
            </a:r>
            <a:endParaRPr lang="en-US" sz="920" dirty="0"/>
          </a:p>
        </p:txBody>
      </p:sp>
      <p:sp>
        <p:nvSpPr>
          <p:cNvPr id="19" name="Shape 17"/>
          <p:cNvSpPr/>
          <p:nvPr/>
        </p:nvSpPr>
        <p:spPr>
          <a:xfrm>
            <a:off x="8019288" y="1783080"/>
            <a:ext cx="3685032" cy="1417320"/>
          </a:xfrm>
          <a:prstGeom prst="roundRect">
            <a:avLst>
              <a:gd name="adj" fmla="val 4516"/>
            </a:avLst>
          </a:prstGeom>
          <a:solidFill>
            <a:srgbClr val="1C2536"/>
          </a:solidFill>
          <a:ln w="9525">
            <a:solidFill>
              <a:srgbClr val="2B3A52"/>
            </a:solidFill>
            <a:prstDash val="solid"/>
          </a:ln>
        </p:spPr>
      </p:sp>
      <p:sp>
        <p:nvSpPr>
          <p:cNvPr id="20" name="Shape 18"/>
          <p:cNvSpPr/>
          <p:nvPr/>
        </p:nvSpPr>
        <p:spPr>
          <a:xfrm>
            <a:off x="8019288" y="1783080"/>
            <a:ext cx="64008" cy="1417320"/>
          </a:xfrm>
          <a:prstGeom prst="rect">
            <a:avLst/>
          </a:prstGeom>
          <a:solidFill>
            <a:srgbClr val="3B82F6"/>
          </a:solidFill>
          <a:ln/>
        </p:spPr>
      </p:sp>
      <p:sp>
        <p:nvSpPr>
          <p:cNvPr id="21" name="Text 19"/>
          <p:cNvSpPr/>
          <p:nvPr/>
        </p:nvSpPr>
        <p:spPr>
          <a:xfrm>
            <a:off x="8202168"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DFM at concept</a:t>
            </a:r>
            <a:endParaRPr lang="en-US" sz="1100" dirty="0"/>
          </a:p>
        </p:txBody>
      </p:sp>
      <p:sp>
        <p:nvSpPr>
          <p:cNvPr id="22" name="Text 20"/>
          <p:cNvSpPr/>
          <p:nvPr/>
        </p:nvSpPr>
        <p:spPr>
          <a:xfrm>
            <a:off x="8202168"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On-model thickness/draft/undercut catches cost problems while a change is still free.</a:t>
            </a:r>
            <a:endParaRPr lang="en-US" sz="920" dirty="0"/>
          </a:p>
        </p:txBody>
      </p:sp>
      <p:sp>
        <p:nvSpPr>
          <p:cNvPr id="23" name="Shape 21"/>
          <p:cNvSpPr/>
          <p:nvPr/>
        </p:nvSpPr>
        <p:spPr>
          <a:xfrm>
            <a:off x="411480" y="3319272"/>
            <a:ext cx="3685032" cy="1417320"/>
          </a:xfrm>
          <a:prstGeom prst="roundRect">
            <a:avLst>
              <a:gd name="adj" fmla="val 4516"/>
            </a:avLst>
          </a:prstGeom>
          <a:solidFill>
            <a:srgbClr val="1C2536"/>
          </a:solidFill>
          <a:ln w="9525">
            <a:solidFill>
              <a:srgbClr val="2B3A52"/>
            </a:solidFill>
            <a:prstDash val="solid"/>
          </a:ln>
        </p:spPr>
      </p:sp>
      <p:sp>
        <p:nvSpPr>
          <p:cNvPr id="24" name="Shape 22"/>
          <p:cNvSpPr/>
          <p:nvPr/>
        </p:nvSpPr>
        <p:spPr>
          <a:xfrm>
            <a:off x="411480" y="3319272"/>
            <a:ext cx="64008" cy="1417320"/>
          </a:xfrm>
          <a:prstGeom prst="rect">
            <a:avLst/>
          </a:prstGeom>
          <a:solidFill>
            <a:srgbClr val="8B5CF6"/>
          </a:solidFill>
          <a:ln/>
        </p:spPr>
      </p:sp>
      <p:sp>
        <p:nvSpPr>
          <p:cNvPr id="25" name="Text 23"/>
          <p:cNvSpPr/>
          <p:nvPr/>
        </p:nvSpPr>
        <p:spPr>
          <a:xfrm>
            <a:off x="594360"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Demo &amp; sales credibility</a:t>
            </a:r>
            <a:endParaRPr lang="en-US" sz="1100" dirty="0"/>
          </a:p>
        </p:txBody>
      </p:sp>
      <p:sp>
        <p:nvSpPr>
          <p:cNvPr id="26" name="Text 24"/>
          <p:cNvSpPr/>
          <p:nvPr/>
        </p:nvSpPr>
        <p:spPr>
          <a:xfrm>
            <a:off x="594360"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A big, CAD-grade viewer is what wins the room — the exact reaction you had to the rival.</a:t>
            </a:r>
            <a:endParaRPr lang="en-US" sz="920" dirty="0"/>
          </a:p>
        </p:txBody>
      </p:sp>
      <p:sp>
        <p:nvSpPr>
          <p:cNvPr id="27" name="Shape 25"/>
          <p:cNvSpPr/>
          <p:nvPr/>
        </p:nvSpPr>
        <p:spPr>
          <a:xfrm>
            <a:off x="4215384" y="3319272"/>
            <a:ext cx="3685032" cy="1417320"/>
          </a:xfrm>
          <a:prstGeom prst="roundRect">
            <a:avLst>
              <a:gd name="adj" fmla="val 4516"/>
            </a:avLst>
          </a:prstGeom>
          <a:solidFill>
            <a:srgbClr val="1C2536"/>
          </a:solidFill>
          <a:ln w="9525">
            <a:solidFill>
              <a:srgbClr val="2B3A52"/>
            </a:solidFill>
            <a:prstDash val="solid"/>
          </a:ln>
        </p:spPr>
      </p:sp>
      <p:sp>
        <p:nvSpPr>
          <p:cNvPr id="28" name="Shape 26"/>
          <p:cNvSpPr/>
          <p:nvPr/>
        </p:nvSpPr>
        <p:spPr>
          <a:xfrm>
            <a:off x="4215384" y="3319272"/>
            <a:ext cx="64008" cy="1417320"/>
          </a:xfrm>
          <a:prstGeom prst="rect">
            <a:avLst/>
          </a:prstGeom>
          <a:solidFill>
            <a:srgbClr val="F59E0B"/>
          </a:solidFill>
          <a:ln/>
        </p:spPr>
      </p:sp>
      <p:sp>
        <p:nvSpPr>
          <p:cNvPr id="29" name="Text 27"/>
          <p:cNvSpPr/>
          <p:nvPr/>
        </p:nvSpPr>
        <p:spPr>
          <a:xfrm>
            <a:off x="4398264"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Tolerance-correct cost</a:t>
            </a:r>
            <a:endParaRPr lang="en-US" sz="1100" dirty="0"/>
          </a:p>
        </p:txBody>
      </p:sp>
      <p:sp>
        <p:nvSpPr>
          <p:cNvPr id="30" name="Text 28"/>
          <p:cNvSpPr/>
          <p:nvPr/>
        </p:nvSpPr>
        <p:spPr>
          <a:xfrm>
            <a:off x="4398264"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Reading GD&amp;T from the model prices precision parts right — a real differentiator.</a:t>
            </a:r>
            <a:endParaRPr lang="en-US" sz="920" dirty="0"/>
          </a:p>
        </p:txBody>
      </p:sp>
      <p:sp>
        <p:nvSpPr>
          <p:cNvPr id="31" name="Shape 29"/>
          <p:cNvSpPr/>
          <p:nvPr/>
        </p:nvSpPr>
        <p:spPr>
          <a:xfrm>
            <a:off x="8019288" y="3319272"/>
            <a:ext cx="3685032" cy="1417320"/>
          </a:xfrm>
          <a:prstGeom prst="roundRect">
            <a:avLst>
              <a:gd name="adj" fmla="val 4516"/>
            </a:avLst>
          </a:prstGeom>
          <a:solidFill>
            <a:srgbClr val="1C2536"/>
          </a:solidFill>
          <a:ln w="9525">
            <a:solidFill>
              <a:srgbClr val="2B3A52"/>
            </a:solidFill>
            <a:prstDash val="solid"/>
          </a:ln>
        </p:spPr>
      </p:sp>
      <p:sp>
        <p:nvSpPr>
          <p:cNvPr id="32" name="Shape 30"/>
          <p:cNvSpPr/>
          <p:nvPr/>
        </p:nvSpPr>
        <p:spPr>
          <a:xfrm>
            <a:off x="8019288" y="3319272"/>
            <a:ext cx="64008" cy="1417320"/>
          </a:xfrm>
          <a:prstGeom prst="rect">
            <a:avLst/>
          </a:prstGeom>
          <a:solidFill>
            <a:srgbClr val="10B981"/>
          </a:solidFill>
          <a:ln/>
        </p:spPr>
      </p:sp>
      <p:sp>
        <p:nvSpPr>
          <p:cNvPr id="33" name="Text 31"/>
          <p:cNvSpPr/>
          <p:nvPr/>
        </p:nvSpPr>
        <p:spPr>
          <a:xfrm>
            <a:off x="8202168"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Still glass-box &amp; ours</a:t>
            </a:r>
            <a:endParaRPr lang="en-US" sz="1100" dirty="0"/>
          </a:p>
        </p:txBody>
      </p:sp>
      <p:sp>
        <p:nvSpPr>
          <p:cNvPr id="34" name="Text 32"/>
          <p:cNvSpPr/>
          <p:nvPr/>
        </p:nvSpPr>
        <p:spPr>
          <a:xfrm>
            <a:off x="8202168"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Every captured value is a face a human can verify; secure, on-prem, self-learning.</a:t>
            </a:r>
            <a:endParaRPr lang="en-US" sz="920" dirty="0"/>
          </a:p>
        </p:txBody>
      </p:sp>
      <p:sp>
        <p:nvSpPr>
          <p:cNvPr id="35" name="Shape 33"/>
          <p:cNvSpPr/>
          <p:nvPr/>
        </p:nvSpPr>
        <p:spPr>
          <a:xfrm>
            <a:off x="411480" y="4892040"/>
            <a:ext cx="11384280" cy="1280160"/>
          </a:xfrm>
          <a:prstGeom prst="roundRect">
            <a:avLst>
              <a:gd name="adj" fmla="val 5000"/>
            </a:avLst>
          </a:prstGeom>
          <a:solidFill>
            <a:srgbClr val="10202E"/>
          </a:solidFill>
          <a:ln w="12700">
            <a:solidFill>
              <a:srgbClr val="10B981"/>
            </a:solidFill>
            <a:prstDash val="solid"/>
          </a:ln>
        </p:spPr>
      </p:sp>
      <p:sp>
        <p:nvSpPr>
          <p:cNvPr id="36" name="Shape 34"/>
          <p:cNvSpPr/>
          <p:nvPr/>
        </p:nvSpPr>
        <p:spPr>
          <a:xfrm>
            <a:off x="411480" y="4892040"/>
            <a:ext cx="73152" cy="1280160"/>
          </a:xfrm>
          <a:prstGeom prst="rect">
            <a:avLst/>
          </a:prstGeom>
          <a:solidFill>
            <a:srgbClr val="10B981"/>
          </a:solidFill>
          <a:ln/>
        </p:spPr>
      </p:sp>
      <p:sp>
        <p:nvSpPr>
          <p:cNvPr id="37" name="Text 35"/>
          <p:cNvSpPr/>
          <p:nvPr/>
        </p:nvSpPr>
        <p:spPr>
          <a:xfrm>
            <a:off x="685800" y="5029200"/>
            <a:ext cx="3657600" cy="320040"/>
          </a:xfrm>
          <a:prstGeom prst="rect">
            <a:avLst/>
          </a:prstGeom>
          <a:noFill/>
          <a:ln/>
        </p:spPr>
        <p:txBody>
          <a:bodyPr wrap="square" lIns="0" tIns="0" rIns="0" bIns="0" rtlCol="0" anchor="t"/>
          <a:lstStyle/>
          <a:p>
            <a:pPr indent="0" marL="0">
              <a:buNone/>
            </a:pPr>
            <a:r>
              <a:rPr lang="en-US" sz="1300" b="1" dirty="0">
                <a:solidFill>
                  <a:srgbClr val="10B981"/>
                </a:solidFill>
                <a:latin typeface="Calibri" pitchFamily="34" charset="0"/>
                <a:ea typeface="Calibri" pitchFamily="34" charset="-122"/>
                <a:cs typeface="Calibri" pitchFamily="34" charset="-120"/>
              </a:rPr>
              <a:t>Recommendation</a:t>
            </a:r>
            <a:endParaRPr lang="en-US" sz="1300" dirty="0"/>
          </a:p>
        </p:txBody>
      </p:sp>
      <p:sp>
        <p:nvSpPr>
          <p:cNvPr id="38" name="Text 36"/>
          <p:cNvSpPr/>
          <p:nvPr/>
        </p:nvSpPr>
        <p:spPr>
          <a:xfrm>
            <a:off x="685800" y="5376672"/>
            <a:ext cx="10881360" cy="731520"/>
          </a:xfrm>
          <a:prstGeom prst="rect">
            <a:avLst/>
          </a:prstGeom>
          <a:noFill/>
          <a:ln/>
        </p:spPr>
        <p:txBody>
          <a:bodyPr wrap="square" lIns="0" tIns="0" rIns="0" bIns="0" rtlCol="0" anchor="t"/>
          <a:lstStyle/>
          <a:p>
            <a:pPr indent="0" marL="0">
              <a:lnSpc>
                <a:spcPct val="112000"/>
              </a:lnSpc>
              <a:buNone/>
            </a:pPr>
            <a:r>
              <a:rPr lang="en-US" sz="1100" b="1" dirty="0">
                <a:solidFill>
                  <a:srgbClr val="EAF0F8"/>
                </a:solidFill>
                <a:latin typeface="Calibri" pitchFamily="34" charset="0"/>
                <a:ea typeface="Calibri" pitchFamily="34" charset="-122"/>
                <a:cs typeface="Calibri" pitchFamily="34" charset="-120"/>
              </a:rPr>
              <a:t>Approve Phase 0 now</a:t>
            </a:r>
            <a:pPr indent="0" marL="0">
              <a:lnSpc>
                <a:spcPct val="112000"/>
              </a:lnSpc>
              <a:buNone/>
            </a:pPr>
            <a:r>
              <a:rPr lang="en-US" sz="1100" dirty="0">
                <a:solidFill>
                  <a:srgbClr val="9AA7BD"/>
                </a:solidFill>
                <a:latin typeface="Calibri" pitchFamily="34" charset="0"/>
                <a:ea typeface="Calibri" pitchFamily="34" charset="-122"/>
                <a:cs typeface="Calibri" pitchFamily="34" charset="-120"/>
              </a:rPr>
              <a:t> — the bigger viewer plus painting the data we already compute, ~1–2 weeks. It delivers both of your asks fastest and de-risks the rest. Then take Phases 1–2 as a fast-follow. Phase 3 (graph-neural AFR) stays a research track we green-light once the visible gap is closed.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CAD Viewer &amp; CAD-to-Cost Capture — Study &amp; Roadmap</dc:title>
  <dc:subject>PptxGenJS Presentation</dc:subject>
  <dc:creator>CostVision</dc:creator>
  <cp:lastModifiedBy>CostVision</cp:lastModifiedBy>
  <cp:revision>1</cp:revision>
  <dcterms:created xsi:type="dcterms:W3CDTF">2026-07-22T13:52:23Z</dcterms:created>
  <dcterms:modified xsi:type="dcterms:W3CDTF">2026-07-22T13:52:23Z</dcterms:modified>
</cp:coreProperties>
</file>