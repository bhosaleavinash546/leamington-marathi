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Technologies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D1F33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Battery</c:v>
                  </c:pt>
                  <c:pt idx="1">
                    <c:v>EDU</c:v>
                  </c:pt>
                  <c:pt idx="2">
                    <c:v>Powertrain</c:v>
                  </c:pt>
                  <c:pt idx="3">
                    <c:v>Chassis</c:v>
                  </c:pt>
                  <c:pt idx="4">
                    <c:v>Driveline</c:v>
                  </c:pt>
                  <c:pt idx="5">
                    <c:v>BIW</c:v>
                  </c:pt>
                  <c:pt idx="6">
                    <c:v>Interior</c:v>
                  </c:pt>
                  <c:pt idx="7">
                    <c:v>Exterior</c:v>
                  </c:pt>
                  <c:pt idx="8">
                    <c:v>Electrical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</c:v>
                </c:pt>
                <c:pt idx="1">
                  <c:v>13</c:v>
                </c:pt>
                <c:pt idx="2">
                  <c:v>11</c:v>
                </c:pt>
                <c:pt idx="3">
                  <c:v>14</c:v>
                </c:pt>
                <c:pt idx="4">
                  <c:v>11</c:v>
                </c:pt>
                <c:pt idx="5">
                  <c:v>12</c:v>
                </c:pt>
                <c:pt idx="6">
                  <c:v>15</c:v>
                </c:pt>
                <c:pt idx="7">
                  <c:v>12</c:v>
                </c:pt>
                <c:pt idx="8">
                  <c:v>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D1F33"/>
                  </a:solidFill>
                  <a:latin typeface="Courier New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0D1F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LFP volume packs</c:v>
                </c:pt>
              </c:strCache>
            </c:strRef>
          </c:tx>
          <c:spPr>
            <a:solidFill>
              <a:srgbClr val="F59E0B"/>
            </a:solidFill>
            <a:ln w="28575" cap="flat">
              <a:solidFill>
                <a:srgbClr val="F59E0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59E0B"/>
              </a:solidFill>
              <a:ln w="9525" cap="flat">
                <a:solidFill>
                  <a:srgbClr val="F59E0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  <c:pt idx="6">
                    <c:v>2032</c:v>
                  </c:pt>
                  <c:pt idx="7">
                    <c:v>2033</c:v>
                  </c:pt>
                  <c:pt idx="8">
                    <c:v>2034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40</c:v>
                </c:pt>
                <c:pt idx="1">
                  <c:v>49.9</c:v>
                </c:pt>
                <c:pt idx="2">
                  <c:v>59.1</c:v>
                </c:pt>
                <c:pt idx="3">
                  <c:v>67</c:v>
                </c:pt>
                <c:pt idx="4">
                  <c:v>73.4</c:v>
                </c:pt>
                <c:pt idx="5">
                  <c:v>78.3</c:v>
                </c:pt>
                <c:pt idx="6">
                  <c:v>81.9</c:v>
                </c:pt>
                <c:pt idx="7">
                  <c:v>84.5</c:v>
                </c:pt>
                <c:pt idx="8">
                  <c:v>86.3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Cell-to-pack / CTB</c:v>
                </c:pt>
              </c:strCache>
            </c:strRef>
          </c:tx>
          <c:spPr>
            <a:solidFill>
              <a:srgbClr val="0D9488"/>
            </a:solidFill>
            <a:ln w="28575" cap="flat">
              <a:solidFill>
                <a:srgbClr val="0D948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  <c:pt idx="6">
                    <c:v>2032</c:v>
                  </c:pt>
                  <c:pt idx="7">
                    <c:v>2033</c:v>
                  </c:pt>
                  <c:pt idx="8">
                    <c:v>2034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25</c:v>
                </c:pt>
                <c:pt idx="1">
                  <c:v>34.3</c:v>
                </c:pt>
                <c:pt idx="2">
                  <c:v>44.2</c:v>
                </c:pt>
                <c:pt idx="3">
                  <c:v>53.9</c:v>
                </c:pt>
                <c:pt idx="4">
                  <c:v>62.6</c:v>
                </c:pt>
                <c:pt idx="5">
                  <c:v>69.9</c:v>
                </c:pt>
                <c:pt idx="6">
                  <c:v>75.7</c:v>
                </c:pt>
                <c:pt idx="7">
                  <c:v>80</c:v>
                </c:pt>
                <c:pt idx="8">
                  <c:v>83.1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4C-10C fast-charge LFP</c:v>
                </c:pt>
              </c:strCache>
            </c:strRef>
          </c:tx>
          <c:spPr>
            <a:solidFill>
              <a:srgbClr val="7C3AED"/>
            </a:solidFill>
            <a:ln w="28575" cap="flat">
              <a:solidFill>
                <a:srgbClr val="7C3AE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C3AED"/>
              </a:solidFill>
              <a:ln w="9525" cap="flat">
                <a:solidFill>
                  <a:srgbClr val="7C3AE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  <c:pt idx="6">
                    <c:v>2032</c:v>
                  </c:pt>
                  <c:pt idx="7">
                    <c:v>2033</c:v>
                  </c:pt>
                  <c:pt idx="8">
                    <c:v>2034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8</c:v>
                </c:pt>
                <c:pt idx="1">
                  <c:v>14</c:v>
                </c:pt>
                <c:pt idx="2">
                  <c:v>21.5</c:v>
                </c:pt>
                <c:pt idx="3">
                  <c:v>30.4</c:v>
                </c:pt>
                <c:pt idx="4">
                  <c:v>40.2</c:v>
                </c:pt>
                <c:pt idx="5">
                  <c:v>50.1</c:v>
                </c:pt>
                <c:pt idx="6">
                  <c:v>59.2</c:v>
                </c:pt>
                <c:pt idx="7">
                  <c:v>67.1</c:v>
                </c:pt>
                <c:pt idx="8">
                  <c:v>73.5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46xx cylindricals</c:v>
                </c:pt>
              </c:strCache>
            </c:strRef>
          </c:tx>
          <c:spPr>
            <a:solidFill>
              <a:srgbClr val="2563EB"/>
            </a:solidFill>
            <a:ln w="28575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  <c:pt idx="6">
                    <c:v>2032</c:v>
                  </c:pt>
                  <c:pt idx="7">
                    <c:v>2033</c:v>
                  </c:pt>
                  <c:pt idx="8">
                    <c:v>2034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5</c:v>
                </c:pt>
                <c:pt idx="1">
                  <c:v>10.1</c:v>
                </c:pt>
                <c:pt idx="2">
                  <c:v>16.6</c:v>
                </c:pt>
                <c:pt idx="3">
                  <c:v>24.7</c:v>
                </c:pt>
                <c:pt idx="4">
                  <c:v>34</c:v>
                </c:pt>
                <c:pt idx="5">
                  <c:v>43.9</c:v>
                </c:pt>
                <c:pt idx="6">
                  <c:v>53.6</c:v>
                </c:pt>
                <c:pt idx="7">
                  <c:v>62.3</c:v>
                </c:pt>
                <c:pt idx="8">
                  <c:v>69.7</c:v>
                </c:pt>
              </c:numCache>
            </c:numRef>
          </c:val>
          <c:smooth val="1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Solid-state</c:v>
                </c:pt>
              </c:strCache>
            </c:strRef>
          </c:tx>
          <c:spPr>
            <a:solidFill>
              <a:srgbClr val="9CA3AF"/>
            </a:solidFill>
            <a:ln w="28575" cap="flat">
              <a:solidFill>
                <a:srgbClr val="9CA3A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CA3AF"/>
              </a:solidFill>
              <a:ln w="9525" cap="flat">
                <a:solidFill>
                  <a:srgbClr val="9CA3A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  <c:pt idx="6">
                    <c:v>2032</c:v>
                  </c:pt>
                  <c:pt idx="7">
                    <c:v>2033</c:v>
                  </c:pt>
                  <c:pt idx="8">
                    <c:v>2034</c:v>
                  </c:pt>
                </c:lvl>
              </c:multiLvlStrCache>
            </c:multiLvlStrRef>
          </c:cat>
          <c:val>
            <c:numRef>
              <c:f>Sheet1!$F$2:$F$10</c:f>
              <c:numCache>
                <c:formatCode>General</c:formatCode>
                <c:ptCount val="9"/>
                <c:pt idx="0">
                  <c:v>0.5</c:v>
                </c:pt>
                <c:pt idx="1">
                  <c:v>3.9</c:v>
                </c:pt>
                <c:pt idx="2">
                  <c:v>8.6</c:v>
                </c:pt>
                <c:pt idx="3">
                  <c:v>14.8</c:v>
                </c:pt>
                <c:pt idx="4">
                  <c:v>22.5</c:v>
                </c:pt>
                <c:pt idx="5">
                  <c:v>31.5</c:v>
                </c:pt>
                <c:pt idx="6">
                  <c:v>41.3</c:v>
                </c:pt>
                <c:pt idx="7">
                  <c:v>51.1</c:v>
                </c:pt>
                <c:pt idx="8">
                  <c:v>60.2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AEF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0D1F33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morning. Today I want to show you a capability I believe nobody else in our industry has in this form — a technology foresight engine built into our BrainSpark platform. In the next ten minutes: what it is, why it is not just another AI chatbot, and what it predicts for a live commodity — the BEV HV battery.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context: Horizon is not a standalone experiment — it is the newest module of BrainSpark, the platform this team already uses for idea generation and should-costing. Same discipline throughout: deterministic engines produce every number; the AI explains. Here is the agenda — the heart of it is the live BEV battery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problem: our sourcing and platform decisions outlive the technologies they assume. The current answers are analyst services that stop at market level, consulting studies that take weeks, or — worse — asking a chatbot and getting confident fiction. What engineering needs is part-level foresight, on demand, with numbers you can defend. That is exactly what Horizon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I most want to land. Horizon is not a chatbot with a nice skin. On the left — what you get from generic AI: plausible text with invented numbers and no audit trail. On the right — Horizon: a curated, evidence-backed register; deterministic diffusion mathematics for every figure; honesty labels including the legal status of each regulation; AI that must cite retrieved sources or its claims are dropped; and a prediction ledger that scores our own past forecasts. One sentence to remember: the AI narrates — it never invents a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Coverage is the moat. 139 technologies spanning every commodity — this chart is generated live from the register, not drawn by hand. Three dedicated lenses matter to us specifically: the Off-Road and Luxury SUV lenses map our own segment including the Chinese disruptors, and the SDV/ADAS lens covers the software half of the vehicle. Every regulation in the register carries its legal status — adopted law versus proposal — because a proposal is not a commitment.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capability set. Three horizon lanes answer "when do I care". The projections give adoption and cost trajectories with concrete crossing years — always with an uncertainty band, because a single year would be false precision. Momentum and confidence tiers rank what matters. And two things no chatbot offers: retrieved evidence — patent velocity and cited research — and self-accountability through the expert panel and the prediction ledger.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query: "BEV HV battery". 22 technologies mapped instantly. The chart shows the engine's modelled adoption paths — LFP already dominant and saturating; cell-to-pack integration crossing the majority line this decade; ultra-fast-charge LFP the fastest riser; solid-state honestly flat within the planning window because it is still pilot-scale. On the right, the headline calls with uncertainty bands. And the line at the bottom matters most in this room: every number here came out of the engine — I typed none of them into this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concrete uses. Sourcing: check the technology future of a part before a 7-year contract. Negotiation: cost trajectories give us a defensible view of what a part should cost mid-contract. Risk: regulations are dated and legally statused — the audit caught a proposal being treated as law, and the tool now makes that mistake impossible. And the segment radar keeps our off-road and luxury battleground — including the Chinese disruptors — permanently benchmarked.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you can put this in front of a board. It is engineered like a product: 326 automated tests lock the honesty rules in — high adoption claims must carry evidence or the build fails. It was independently audited against primary sources, and the audit findings are fixed and locked. And the part I am proudest of: it grades its own homework via the prediction ledger. That is a discipline most human forecasters do not have.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would rather show than tell — a live run takes under a minute: open Horizon, click our Off-Road &amp; Luxury lens, and export the report. Three asks to take this further: pilot it with two commodity teams, a free patent-database key to light up the evidence layer, and a quarterly re-curation slot so the prediction ledger starts scoring us.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-8170164" y="5120640"/>
            <a:ext cx="11247120" cy="1737360"/>
          </a:xfrm>
          <a:prstGeom prst="line">
            <a:avLst/>
          </a:prstGeom>
          <a:noFill/>
          <a:ln w="9525">
            <a:solidFill>
              <a:srgbClr val="F59E0B">
                <a:alpha val="3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H="1">
            <a:off x="-5792724" y="5120640"/>
            <a:ext cx="9372600" cy="1737360"/>
          </a:xfrm>
          <a:prstGeom prst="line">
            <a:avLst/>
          </a:prstGeom>
          <a:noFill/>
          <a:ln w="9525">
            <a:solidFill>
              <a:srgbClr val="F59E0B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>
            <a:off x="-3415284" y="5120640"/>
            <a:ext cx="7498080" cy="1737360"/>
          </a:xfrm>
          <a:prstGeom prst="line">
            <a:avLst/>
          </a:prstGeom>
          <a:noFill/>
          <a:ln w="9525">
            <a:solidFill>
              <a:srgbClr val="F59E0B">
                <a:alpha val="3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>
            <a:off x="-1037844" y="5120640"/>
            <a:ext cx="5623560" cy="1737360"/>
          </a:xfrm>
          <a:prstGeom prst="line">
            <a:avLst/>
          </a:prstGeom>
          <a:noFill/>
          <a:ln w="9525">
            <a:solidFill>
              <a:srgbClr val="F59E0B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>
            <a:off x="1339596" y="5120640"/>
            <a:ext cx="3749040" cy="1737360"/>
          </a:xfrm>
          <a:prstGeom prst="line">
            <a:avLst/>
          </a:prstGeom>
          <a:noFill/>
          <a:ln w="9525">
            <a:solidFill>
              <a:srgbClr val="F59E0B">
                <a:alpha val="3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>
            <a:off x="3717036" y="5120640"/>
            <a:ext cx="1874520" cy="1737360"/>
          </a:xfrm>
          <a:prstGeom prst="line">
            <a:avLst/>
          </a:prstGeom>
          <a:noFill/>
          <a:ln w="9525">
            <a:solidFill>
              <a:srgbClr val="F59E0B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4476" y="5120640"/>
            <a:ext cx="0" cy="1737360"/>
          </a:xfrm>
          <a:prstGeom prst="line">
            <a:avLst/>
          </a:prstGeom>
          <a:noFill/>
          <a:ln w="9525">
            <a:solidFill>
              <a:srgbClr val="F59E0B">
                <a:alpha val="3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97396" y="5120640"/>
            <a:ext cx="1874520" cy="1737360"/>
          </a:xfrm>
          <a:prstGeom prst="line">
            <a:avLst/>
          </a:prstGeom>
          <a:noFill/>
          <a:ln w="9525">
            <a:solidFill>
              <a:srgbClr val="F59E0B">
                <a:alpha val="3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00316" y="5120640"/>
            <a:ext cx="3749040" cy="1737360"/>
          </a:xfrm>
          <a:prstGeom prst="line">
            <a:avLst/>
          </a:prstGeom>
          <a:noFill/>
          <a:ln w="9525">
            <a:solidFill>
              <a:srgbClr val="F59E0B">
                <a:alpha val="3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03236" y="5120640"/>
            <a:ext cx="5623560" cy="1737360"/>
          </a:xfrm>
          <a:prstGeom prst="line">
            <a:avLst/>
          </a:prstGeom>
          <a:noFill/>
          <a:ln w="9525">
            <a:solidFill>
              <a:srgbClr val="F59E0B">
                <a:alpha val="3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106156" y="5120640"/>
            <a:ext cx="7498080" cy="1737360"/>
          </a:xfrm>
          <a:prstGeom prst="line">
            <a:avLst/>
          </a:prstGeom>
          <a:noFill/>
          <a:ln w="9525">
            <a:solidFill>
              <a:srgbClr val="F59E0B">
                <a:alpha val="3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09076" y="5120640"/>
            <a:ext cx="9372600" cy="1737360"/>
          </a:xfrm>
          <a:prstGeom prst="line">
            <a:avLst/>
          </a:prstGeom>
          <a:noFill/>
          <a:ln w="9525">
            <a:solidFill>
              <a:srgbClr val="F59E0B">
                <a:alpha val="3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11996" y="5120640"/>
            <a:ext cx="11247120" cy="1737360"/>
          </a:xfrm>
          <a:prstGeom prst="line">
            <a:avLst/>
          </a:prstGeom>
          <a:noFill/>
          <a:ln w="9525">
            <a:solidFill>
              <a:srgbClr val="F59E0B">
                <a:alpha val="3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5230368"/>
            <a:ext cx="12188952" cy="0"/>
          </a:xfrm>
          <a:prstGeom prst="line">
            <a:avLst/>
          </a:prstGeom>
          <a:noFill/>
          <a:ln w="9525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5394960"/>
            <a:ext cx="12188952" cy="0"/>
          </a:xfrm>
          <a:prstGeom prst="line">
            <a:avLst/>
          </a:prstGeom>
          <a:noFill/>
          <a:ln w="9525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5623560"/>
            <a:ext cx="12188952" cy="0"/>
          </a:xfrm>
          <a:prstGeom prst="line">
            <a:avLst/>
          </a:prstGeom>
          <a:noFill/>
          <a:ln w="9525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5943600"/>
            <a:ext cx="12188952" cy="0"/>
          </a:xfrm>
          <a:prstGeom prst="line">
            <a:avLst/>
          </a:prstGeom>
          <a:noFill/>
          <a:ln w="9525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9525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5120640"/>
            <a:ext cx="12188952" cy="0"/>
          </a:xfrm>
          <a:prstGeom prst="line">
            <a:avLst/>
          </a:prstGeom>
          <a:noFill/>
          <a:ln w="17780">
            <a:solidFill>
              <a:srgbClr val="F59E0B">
                <a:alpha val="7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17236" y="566928"/>
            <a:ext cx="1554480" cy="1554480"/>
          </a:xfrm>
          <a:prstGeom prst="ellipse">
            <a:avLst/>
          </a:prstGeom>
          <a:ln w="9525">
            <a:solidFill>
              <a:srgbClr val="0D9488">
                <a:alpha val="55000"/>
              </a:srgbClr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527548" y="777240"/>
            <a:ext cx="1133856" cy="1133856"/>
          </a:xfrm>
          <a:prstGeom prst="ellipse">
            <a:avLst/>
          </a:prstGeom>
          <a:solidFill>
            <a:srgbClr val="FDF4E3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3580" y="1033272"/>
            <a:ext cx="621792" cy="621792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6752844" y="640080"/>
            <a:ext cx="82296" cy="82296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5" name="Text 22"/>
          <p:cNvSpPr/>
          <p:nvPr/>
        </p:nvSpPr>
        <p:spPr>
          <a:xfrm>
            <a:off x="0" y="2395728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OF THE BRAINSPARK AI COST-ENGINEERING PLATFORM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0" y="2670048"/>
            <a:ext cx="121889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BrainSpark </a:t>
            </a:r>
            <a:pPr algn="ctr" indent="0" marL="0">
              <a:buNone/>
            </a:pPr>
            <a:r>
              <a:rPr lang="en-US" sz="5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</a:t>
            </a:r>
            <a:endParaRPr lang="en-US" sz="5400" dirty="0"/>
          </a:p>
        </p:txBody>
      </p:sp>
      <p:sp>
        <p:nvSpPr>
          <p:cNvPr id="27" name="Text 24"/>
          <p:cNvSpPr/>
          <p:nvPr/>
        </p:nvSpPr>
        <p:spPr>
          <a:xfrm>
            <a:off x="0" y="3566160"/>
            <a:ext cx="121889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Automotive Technology Foresight Engine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0" y="4005072"/>
            <a:ext cx="12188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technologies will reshape every commodity across ICE · MHEV · PHEV · BEV — and when.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0" y="6126480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Avinash Bhosale   ·   Cost Engineering   ·  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420624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241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1005840" y="530352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Horizon sits in BrainSpark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371600"/>
            <a:ext cx="5943600" cy="4846320"/>
          </a:xfrm>
          <a:prstGeom prst="roundRect">
            <a:avLst>
              <a:gd name="adj" fmla="val 1321"/>
            </a:avLst>
          </a:prstGeom>
          <a:solidFill>
            <a:srgbClr val="F4F7FB"/>
          </a:solidFill>
          <a:ln w="9525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25400" dir="5400000">
              <a:srgbClr val="AAB6C4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57784" y="1426464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1426464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245352" y="6163056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391656" y="6016752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16002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BrainSpark platform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822960" y="2130552"/>
            <a:ext cx="457200" cy="457200"/>
          </a:xfrm>
          <a:prstGeom prst="ellipse">
            <a:avLst/>
          </a:prstGeom>
          <a:solidFill>
            <a:srgbClr val="F4F7FB"/>
          </a:solidFill>
          <a:ln w="9525">
            <a:solidFill>
              <a:srgbClr val="DBE3EC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231136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426464" y="2075688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AI tools for cost engineering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1426464" y="2322576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 generation, should-cost, CAD/PCB/BOM costing, marketplace of 1,600+ proven ideas, savings pipeline.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22960" y="2999232"/>
            <a:ext cx="457200" cy="457200"/>
          </a:xfrm>
          <a:prstGeom prst="ellipse">
            <a:avLst/>
          </a:prstGeom>
          <a:solidFill>
            <a:srgbClr val="F4F7FB"/>
          </a:solidFill>
          <a:ln w="9525">
            <a:solidFill>
              <a:srgbClr val="DBE3E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3099816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26464" y="2944368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governing rule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426464" y="3191256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for numbers, AI for judgment — every figure comes from a deterministic engine; the AI proposes and explains, it never invents a number.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822960" y="4005072"/>
            <a:ext cx="457200" cy="457200"/>
          </a:xfrm>
          <a:prstGeom prst="ellipse">
            <a:avLst/>
          </a:prstGeom>
          <a:solidFill>
            <a:srgbClr val="F4F7FB"/>
          </a:solidFill>
          <a:ln w="9525">
            <a:solidFill>
              <a:srgbClr val="DBE3EC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4105656"/>
            <a:ext cx="256032" cy="25603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26464" y="3950208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Horizon: the newest module</a:t>
            </a:r>
            <a:endParaRPr lang="en-US" sz="1350" dirty="0"/>
          </a:p>
        </p:txBody>
      </p:sp>
      <p:sp>
        <p:nvSpPr>
          <p:cNvPr id="22" name="Text 16"/>
          <p:cNvSpPr/>
          <p:nvPr/>
        </p:nvSpPr>
        <p:spPr>
          <a:xfrm>
            <a:off x="1426464" y="4197096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Extends BrainSpark from "what does this part cost today?" to "what will this part BECOME — and when?"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822960" y="512064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139 technologies · 9 commodities · 4 powertrains · audited July 2026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6903720" y="148132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6903720" y="1920240"/>
            <a:ext cx="384048" cy="38404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DBE3EC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6903720" y="189463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7452360" y="19659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 foresight tool — the gap it closes</a:t>
            </a:r>
            <a:endParaRPr lang="en-US" sz="1350" dirty="0"/>
          </a:p>
        </p:txBody>
      </p:sp>
      <p:sp>
        <p:nvSpPr>
          <p:cNvPr id="28" name="Shape 22"/>
          <p:cNvSpPr/>
          <p:nvPr/>
        </p:nvSpPr>
        <p:spPr>
          <a:xfrm>
            <a:off x="6903720" y="2633472"/>
            <a:ext cx="384048" cy="38404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DBE3EC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6903720" y="260786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7452360" y="26791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typical AI chat — how Horizon is different</a:t>
            </a:r>
            <a:endParaRPr lang="en-US" sz="1350" dirty="0"/>
          </a:p>
        </p:txBody>
      </p:sp>
      <p:sp>
        <p:nvSpPr>
          <p:cNvPr id="31" name="Shape 25"/>
          <p:cNvSpPr/>
          <p:nvPr/>
        </p:nvSpPr>
        <p:spPr>
          <a:xfrm>
            <a:off x="6903720" y="3346704"/>
            <a:ext cx="384048" cy="38404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DBE3EC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6903720" y="332110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33" name="Text 27"/>
          <p:cNvSpPr/>
          <p:nvPr/>
        </p:nvSpPr>
        <p:spPr>
          <a:xfrm>
            <a:off x="7452360" y="339242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360° coverage of the automotive future</a:t>
            </a:r>
            <a:endParaRPr lang="en-US" sz="1350" dirty="0"/>
          </a:p>
        </p:txBody>
      </p:sp>
      <p:sp>
        <p:nvSpPr>
          <p:cNvPr id="34" name="Shape 28"/>
          <p:cNvSpPr/>
          <p:nvPr/>
        </p:nvSpPr>
        <p:spPr>
          <a:xfrm>
            <a:off x="6903720" y="4059936"/>
            <a:ext cx="384048" cy="38404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DBE3EC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903720" y="403433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36" name="Text 30"/>
          <p:cNvSpPr/>
          <p:nvPr/>
        </p:nvSpPr>
        <p:spPr>
          <a:xfrm>
            <a:off x="7452360" y="410565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predicts — the capability set</a:t>
            </a:r>
            <a:endParaRPr lang="en-US" sz="1350" dirty="0"/>
          </a:p>
        </p:txBody>
      </p:sp>
      <p:sp>
        <p:nvSpPr>
          <p:cNvPr id="37" name="Shape 31"/>
          <p:cNvSpPr/>
          <p:nvPr/>
        </p:nvSpPr>
        <p:spPr>
          <a:xfrm>
            <a:off x="6903720" y="4773168"/>
            <a:ext cx="384048" cy="384048"/>
          </a:xfrm>
          <a:prstGeom prst="ellipse">
            <a:avLst/>
          </a:prstGeom>
          <a:solidFill>
            <a:srgbClr val="FDF4E3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6903720" y="474756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39" name="Text 33"/>
          <p:cNvSpPr/>
          <p:nvPr/>
        </p:nvSpPr>
        <p:spPr>
          <a:xfrm>
            <a:off x="7452360" y="481888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example: BEV HV battery</a:t>
            </a:r>
            <a:endParaRPr lang="en-US" sz="1350" dirty="0"/>
          </a:p>
        </p:txBody>
      </p:sp>
      <p:sp>
        <p:nvSpPr>
          <p:cNvPr id="40" name="Shape 34"/>
          <p:cNvSpPr/>
          <p:nvPr/>
        </p:nvSpPr>
        <p:spPr>
          <a:xfrm>
            <a:off x="6903720" y="5486400"/>
            <a:ext cx="384048" cy="38404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DBE3EC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6903720" y="546079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42" name="Text 36"/>
          <p:cNvSpPr/>
          <p:nvPr/>
        </p:nvSpPr>
        <p:spPr>
          <a:xfrm>
            <a:off x="7452360" y="55321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value &amp; the road ahead</a:t>
            </a:r>
            <a:endParaRPr lang="en-US" sz="1350" dirty="0"/>
          </a:p>
        </p:txBody>
      </p:sp>
      <p:sp>
        <p:nvSpPr>
          <p:cNvPr id="43" name="Text 37"/>
          <p:cNvSpPr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BrainSpark </a:t>
            </a:r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Horizon</a:t>
            </a:r>
            <a:pPr indent="0" marL="0">
              <a:buNone/>
            </a:pPr>
            <a:r>
              <a:rPr lang="en-US" sz="900" dirty="0">
                <a:solidFill>
                  <a:srgbClr val="93A3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Technology Foresight   ·   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420624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241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GAP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1005840" y="530352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make 7-year decisions with today’s technology assumptions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627632"/>
            <a:ext cx="457200" cy="457200"/>
          </a:xfrm>
          <a:prstGeom prst="ellipse">
            <a:avLst/>
          </a:prstGeom>
          <a:solidFill>
            <a:srgbClr val="F4F7FB"/>
          </a:solidFill>
          <a:ln w="9525">
            <a:solidFill>
              <a:srgbClr val="DBE3EC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728216"/>
            <a:ext cx="256032" cy="25603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06424" y="1572768"/>
            <a:ext cx="5431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Sourcing outlives technology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1106424" y="1819656"/>
            <a:ext cx="5431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platform sourced in 2026 is in production to 2033+. The technologies underneath it — cells, motors, brakes, software — will shift two or three times in that window.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02920" y="2770632"/>
            <a:ext cx="457200" cy="457200"/>
          </a:xfrm>
          <a:prstGeom prst="ellipse">
            <a:avLst/>
          </a:prstGeom>
          <a:solidFill>
            <a:srgbClr val="F4F7FB"/>
          </a:solidFill>
          <a:ln w="9525">
            <a:solidFill>
              <a:srgbClr val="DBE3EC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2871216"/>
            <a:ext cx="256032" cy="25603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06424" y="2715768"/>
            <a:ext cx="5431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Todays answers: slow, generic, or guesswork</a:t>
            </a:r>
            <a:endParaRPr lang="en-US" sz="1350" dirty="0"/>
          </a:p>
        </p:txBody>
      </p:sp>
      <p:sp>
        <p:nvSpPr>
          <p:cNvPr id="12" name="Text 7"/>
          <p:cNvSpPr/>
          <p:nvPr/>
        </p:nvSpPr>
        <p:spPr>
          <a:xfrm>
            <a:off x="1106424" y="2962656"/>
            <a:ext cx="5431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Analyst subscriptions are expensive and stop at market level. Consultants take weeks. Asking a chatbot produces confident text with invented numbers.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02920" y="3913632"/>
            <a:ext cx="457200" cy="457200"/>
          </a:xfrm>
          <a:prstGeom prst="ellipse">
            <a:avLst/>
          </a:prstGeom>
          <a:solidFill>
            <a:srgbClr val="F4F7FB"/>
          </a:solidFill>
          <a:ln w="9525">
            <a:solidFill>
              <a:srgbClr val="DBE3EC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" y="4014216"/>
            <a:ext cx="256032" cy="25603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06424" y="3858768"/>
            <a:ext cx="5431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engineering actually needs</a:t>
            </a:r>
            <a:endParaRPr lang="en-US" sz="1350" dirty="0"/>
          </a:p>
        </p:txBody>
      </p:sp>
      <p:sp>
        <p:nvSpPr>
          <p:cNvPr id="16" name="Text 10"/>
          <p:cNvSpPr/>
          <p:nvPr/>
        </p:nvSpPr>
        <p:spPr>
          <a:xfrm>
            <a:off x="1106424" y="4105656"/>
            <a:ext cx="5431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Part-level, self-serve foresight: for THIS commodity, what replaces it, when does it cross 25% adoption, what does the cost curve do, and which regulation forces it.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6949440" y="1600200"/>
            <a:ext cx="4709160" cy="4023360"/>
          </a:xfrm>
          <a:prstGeom prst="roundRect">
            <a:avLst>
              <a:gd name="adj" fmla="val 1591"/>
            </a:avLst>
          </a:prstGeom>
          <a:solidFill>
            <a:srgbClr val="FFFFFF"/>
          </a:solidFill>
          <a:ln w="9525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25400" dir="5400000">
              <a:srgbClr val="AAB6C4">
                <a:alpha val="28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7004304" y="1655064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7004304" y="1655064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11457432" y="5568696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603736" y="5422392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7269480" y="1874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Horizon about any part: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7269480" y="21488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F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"EDU stator"</a:t>
            </a:r>
            <a:endParaRPr lang="en-US" sz="2400" dirty="0"/>
          </a:p>
        </p:txBody>
      </p:sp>
      <p:sp>
        <p:nvSpPr>
          <p:cNvPr id="24" name="Text 18"/>
          <p:cNvSpPr/>
          <p:nvPr/>
        </p:nvSpPr>
        <p:spPr>
          <a:xfrm>
            <a:off x="7269480" y="288036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seconds</a:t>
            </a:r>
            <a:endParaRPr lang="en-US" sz="4400" dirty="0"/>
          </a:p>
        </p:txBody>
      </p:sp>
      <p:sp>
        <p:nvSpPr>
          <p:cNvPr id="25" name="Text 19"/>
          <p:cNvSpPr/>
          <p:nvPr/>
        </p:nvSpPr>
        <p:spPr>
          <a:xfrm>
            <a:off x="7269480" y="3611880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a horizon-mapped, evidence-backed technology outlook — with the numbers computed, not imagined.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7269480" y="48920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weeks for a consulting study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BrainSpark </a:t>
            </a:r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Horizon</a:t>
            </a:r>
            <a:pPr indent="0" marL="0">
              <a:buNone/>
            </a:pPr>
            <a:r>
              <a:rPr lang="en-US" sz="900" dirty="0">
                <a:solidFill>
                  <a:srgbClr val="93A3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Technology Foresight   ·   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420624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241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DIFFERENCE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1005840" y="530352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not "ask an AI and get an answer"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417320"/>
            <a:ext cx="5394960" cy="4160520"/>
          </a:xfrm>
          <a:prstGeom prst="roundRect">
            <a:avLst>
              <a:gd name="adj" fmla="val 1538"/>
            </a:avLst>
          </a:prstGeom>
          <a:solidFill>
            <a:srgbClr val="F8FAFC"/>
          </a:solidFill>
          <a:ln w="9525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25400" dir="5400000">
              <a:srgbClr val="AAB6C4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57784" y="1472184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1472184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696712" y="5522976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843016" y="5376672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91640"/>
            <a:ext cx="384048" cy="38404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171907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AI chat / search</a:t>
            </a:r>
            <a:endParaRPr lang="en-US" sz="16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30428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80160" y="224942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Plausible prose, invented numbers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1280160" y="2487168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figures and dates hallucinated on the spot</a:t>
            </a:r>
            <a:endParaRPr lang="en-US" sz="10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108960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280160" y="305409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evidence trail</a:t>
            </a:r>
            <a:endParaRPr lang="en-US" sz="1250" dirty="0"/>
          </a:p>
        </p:txBody>
      </p:sp>
      <p:sp>
        <p:nvSpPr>
          <p:cNvPr id="17" name="Text 11"/>
          <p:cNvSpPr/>
          <p:nvPr/>
        </p:nvSpPr>
        <p:spPr>
          <a:xfrm>
            <a:off x="1280160" y="3291840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cannot audit where a claim came from</a:t>
            </a:r>
            <a:endParaRPr lang="en-US" sz="105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913632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280160" y="3858768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answer every time</a:t>
            </a:r>
            <a:endParaRPr lang="en-US" sz="1250" dirty="0"/>
          </a:p>
        </p:txBody>
      </p:sp>
      <p:sp>
        <p:nvSpPr>
          <p:cNvPr id="20" name="Text 13"/>
          <p:cNvSpPr/>
          <p:nvPr/>
        </p:nvSpPr>
        <p:spPr>
          <a:xfrm>
            <a:off x="1280160" y="4096512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to track, score, or hold accountable</a:t>
            </a:r>
            <a:endParaRPr lang="en-US" sz="105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718304"/>
            <a:ext cx="274320" cy="27432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1280160" y="466344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</a:t>
            </a:r>
            <a:endParaRPr lang="en-US" sz="1250" dirty="0"/>
          </a:p>
        </p:txBody>
      </p:sp>
      <p:sp>
        <p:nvSpPr>
          <p:cNvPr id="23" name="Text 15"/>
          <p:cNvSpPr/>
          <p:nvPr/>
        </p:nvSpPr>
        <p:spPr>
          <a:xfrm>
            <a:off x="1280160" y="4901184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automotive TRL, no regulation dates, no segment context</a:t>
            </a:r>
            <a:endParaRPr lang="en-US" sz="1050" dirty="0"/>
          </a:p>
        </p:txBody>
      </p:sp>
      <p:sp>
        <p:nvSpPr>
          <p:cNvPr id="24" name="Shape 16"/>
          <p:cNvSpPr/>
          <p:nvPr/>
        </p:nvSpPr>
        <p:spPr>
          <a:xfrm>
            <a:off x="6263640" y="1417320"/>
            <a:ext cx="5394960" cy="4160520"/>
          </a:xfrm>
          <a:prstGeom prst="roundRect">
            <a:avLst>
              <a:gd name="adj" fmla="val 1538"/>
            </a:avLst>
          </a:prstGeom>
          <a:solidFill>
            <a:srgbClr val="FDF9F0"/>
          </a:solidFill>
          <a:ln w="9525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25400" dir="5400000">
              <a:srgbClr val="AAB6C4">
                <a:alpha val="28000"/>
              </a:srgbClr>
            </a:outerShdw>
          </a:effectLst>
        </p:spPr>
      </p:sp>
      <p:sp>
        <p:nvSpPr>
          <p:cNvPr id="25" name="Shape 17"/>
          <p:cNvSpPr/>
          <p:nvPr/>
        </p:nvSpPr>
        <p:spPr>
          <a:xfrm>
            <a:off x="6318504" y="1472184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26" name="Shape 18"/>
          <p:cNvSpPr/>
          <p:nvPr/>
        </p:nvSpPr>
        <p:spPr>
          <a:xfrm>
            <a:off x="6318504" y="1472184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11457432" y="5522976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11603736" y="5376672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9400" y="1691640"/>
            <a:ext cx="384048" cy="38404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7132320" y="171907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foresight engine</a:t>
            </a:r>
            <a:endParaRPr lang="en-US" sz="1600" dirty="0"/>
          </a:p>
        </p:txBody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9400" y="2231136"/>
            <a:ext cx="274320" cy="274320"/>
          </a:xfrm>
          <a:prstGeom prst="rect">
            <a:avLst/>
          </a:prstGeom>
        </p:spPr>
      </p:pic>
      <p:sp>
        <p:nvSpPr>
          <p:cNvPr id="32" name="Text 22"/>
          <p:cNvSpPr/>
          <p:nvPr/>
        </p:nvSpPr>
        <p:spPr>
          <a:xfrm>
            <a:off x="7040880" y="21762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Curated register, not recall</a:t>
            </a:r>
            <a:endParaRPr lang="en-US" sz="1250" dirty="0"/>
          </a:p>
        </p:txBody>
      </p:sp>
      <p:sp>
        <p:nvSpPr>
          <p:cNvPr id="33" name="Text 23"/>
          <p:cNvSpPr/>
          <p:nvPr/>
        </p:nvSpPr>
        <p:spPr>
          <a:xfrm>
            <a:off x="7040880" y="241401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 technologies with TRL, adoption, named production evidence</a:t>
            </a:r>
            <a:endParaRPr lang="en-US" sz="1050" dirty="0"/>
          </a:p>
        </p:txBody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29400" y="2898648"/>
            <a:ext cx="274320" cy="274320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7040880" y="284378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from math, not language</a:t>
            </a:r>
            <a:endParaRPr lang="en-US" sz="1250" dirty="0"/>
          </a:p>
        </p:txBody>
      </p:sp>
      <p:sp>
        <p:nvSpPr>
          <p:cNvPr id="36" name="Text 25"/>
          <p:cNvSpPr/>
          <p:nvPr/>
        </p:nvSpPr>
        <p:spPr>
          <a:xfrm>
            <a:off x="7040880" y="308152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S-curve, Bass diffusion, Wright’s law — deterministic and repeatable</a:t>
            </a:r>
            <a:endParaRPr lang="en-US" sz="1050" dirty="0"/>
          </a:p>
        </p:txBody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29400" y="3566160"/>
            <a:ext cx="274320" cy="274320"/>
          </a:xfrm>
          <a:prstGeom prst="rect">
            <a:avLst/>
          </a:prstGeom>
        </p:spPr>
      </p:pic>
      <p:sp>
        <p:nvSpPr>
          <p:cNvPr id="38" name="Text 26"/>
          <p:cNvSpPr/>
          <p:nvPr/>
        </p:nvSpPr>
        <p:spPr>
          <a:xfrm>
            <a:off x="7040880" y="351129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Honesty built in</a:t>
            </a:r>
            <a:endParaRPr lang="en-US" sz="1250" dirty="0"/>
          </a:p>
        </p:txBody>
      </p:sp>
      <p:sp>
        <p:nvSpPr>
          <p:cNvPr id="39" name="Text 27"/>
          <p:cNvSpPr/>
          <p:nvPr/>
        </p:nvSpPr>
        <p:spPr>
          <a:xfrm>
            <a:off x="7040880" y="37490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Committed / probable / speculative tiers; regulations carry legal status; projections labelled "modelled"</a:t>
            </a:r>
            <a:endParaRPr lang="en-US" sz="1050" dirty="0"/>
          </a:p>
        </p:txBody>
      </p:sp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29400" y="4233672"/>
            <a:ext cx="274320" cy="274320"/>
          </a:xfrm>
          <a:prstGeom prst="rect">
            <a:avLst/>
          </a:prstGeom>
        </p:spPr>
      </p:pic>
      <p:sp>
        <p:nvSpPr>
          <p:cNvPr id="41" name="Text 28"/>
          <p:cNvSpPr/>
          <p:nvPr/>
        </p:nvSpPr>
        <p:spPr>
          <a:xfrm>
            <a:off x="7040880" y="417880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narrates, grounded</a:t>
            </a:r>
            <a:endParaRPr lang="en-US" sz="1250" dirty="0"/>
          </a:p>
        </p:txBody>
      </p:sp>
      <p:sp>
        <p:nvSpPr>
          <p:cNvPr id="42" name="Text 29"/>
          <p:cNvSpPr/>
          <p:nvPr/>
        </p:nvSpPr>
        <p:spPr>
          <a:xfrm>
            <a:off x="7040880" y="441655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Briefings and research must cite retrieved sources — uncited claims are auto-dropped</a:t>
            </a:r>
            <a:endParaRPr lang="en-US" sz="1050" dirty="0"/>
          </a:p>
        </p:txBody>
      </p:sp>
      <p:pic>
        <p:nvPicPr>
          <p:cNvPr id="4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29400" y="4901184"/>
            <a:ext cx="274320" cy="274320"/>
          </a:xfrm>
          <a:prstGeom prst="rect">
            <a:avLst/>
          </a:prstGeom>
        </p:spPr>
      </p:pic>
      <p:sp>
        <p:nvSpPr>
          <p:cNvPr id="44" name="Text 30"/>
          <p:cNvSpPr/>
          <p:nvPr/>
        </p:nvSpPr>
        <p:spPr>
          <a:xfrm>
            <a:off x="7040880" y="4846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keeps score on itself</a:t>
            </a:r>
            <a:endParaRPr lang="en-US" sz="1250" dirty="0"/>
          </a:p>
        </p:txBody>
      </p:sp>
      <p:sp>
        <p:nvSpPr>
          <p:cNvPr id="45" name="Text 31"/>
          <p:cNvSpPr/>
          <p:nvPr/>
        </p:nvSpPr>
        <p:spPr>
          <a:xfrm>
            <a:off x="7040880" y="5084064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Prediction Ledger revisits and scores past forecasts</a:t>
            </a:r>
            <a:endParaRPr lang="en-US" sz="1050" dirty="0"/>
          </a:p>
        </p:txBody>
      </p:sp>
      <p:sp>
        <p:nvSpPr>
          <p:cNvPr id="46" name="Text 32"/>
          <p:cNvSpPr/>
          <p:nvPr/>
        </p:nvSpPr>
        <p:spPr>
          <a:xfrm>
            <a:off x="502920" y="585216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AI narrates — it never invents a number."</a:t>
            </a:r>
            <a:endParaRPr lang="en-US" sz="1500" dirty="0"/>
          </a:p>
        </p:txBody>
      </p:sp>
      <p:sp>
        <p:nvSpPr>
          <p:cNvPr id="47" name="Text 33"/>
          <p:cNvSpPr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BrainSpark </a:t>
            </a:r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Horizon</a:t>
            </a:r>
            <a:pPr indent="0" marL="0">
              <a:buNone/>
            </a:pPr>
            <a:r>
              <a:rPr lang="en-US" sz="900" dirty="0">
                <a:solidFill>
                  <a:srgbClr val="93A3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Technology Foresight   ·   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420624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241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360° VIEW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1005840" y="530352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vehicle, the whole future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481328"/>
            <a:ext cx="2212848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9525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25400" dir="5400000">
              <a:srgbClr val="AAB6C4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57784" y="1536192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1536192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514600" y="2724912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660904" y="2578608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7512" y="159105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667512" y="2194560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curated technologies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898648" y="1481328"/>
            <a:ext cx="2212848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9525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25400" dir="5400000">
              <a:srgbClr val="AAB6C4">
                <a:alpha val="2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953512" y="1536192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53512" y="1536192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910328" y="2724912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056632" y="2578608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063240" y="159105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3400" dirty="0"/>
          </a:p>
        </p:txBody>
      </p:sp>
      <p:sp>
        <p:nvSpPr>
          <p:cNvPr id="18" name="Text 15"/>
          <p:cNvSpPr/>
          <p:nvPr/>
        </p:nvSpPr>
        <p:spPr>
          <a:xfrm>
            <a:off x="3063240" y="2194560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commodities — battery to BIW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02920" y="2962656"/>
            <a:ext cx="2212848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9525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25400" dir="5400000">
              <a:srgbClr val="AAB6C4">
                <a:alpha val="2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57784" y="3017520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57784" y="3017520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514600" y="4206240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660904" y="4059936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67512" y="3072384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400" dirty="0"/>
          </a:p>
        </p:txBody>
      </p:sp>
      <p:sp>
        <p:nvSpPr>
          <p:cNvPr id="25" name="Text 22"/>
          <p:cNvSpPr/>
          <p:nvPr/>
        </p:nvSpPr>
        <p:spPr>
          <a:xfrm>
            <a:off x="667512" y="3675888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powertrains: ICE·MHEV·PHEV·BEV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2898648" y="2962656"/>
            <a:ext cx="2212848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9525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25400" dir="5400000">
              <a:srgbClr val="AAB6C4">
                <a:alpha val="2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2953512" y="3017520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953512" y="3017520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910328" y="4206240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056632" y="4059936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063240" y="3072384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400" dirty="0"/>
          </a:p>
        </p:txBody>
      </p:sp>
      <p:sp>
        <p:nvSpPr>
          <p:cNvPr id="32" name="Text 29"/>
          <p:cNvSpPr/>
          <p:nvPr/>
        </p:nvSpPr>
        <p:spPr>
          <a:xfrm>
            <a:off x="3063240" y="3675888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lenses: Off-Road · Luxury · SDV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4443984"/>
            <a:ext cx="2212848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9525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25400" dir="5400000">
              <a:srgbClr val="AAB6C4">
                <a:alpha val="28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557784" y="4498848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57784" y="4498848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2514600" y="5687568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660904" y="5541264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67512" y="45537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3400" dirty="0"/>
          </a:p>
        </p:txBody>
      </p:sp>
      <p:sp>
        <p:nvSpPr>
          <p:cNvPr id="39" name="Text 36"/>
          <p:cNvSpPr/>
          <p:nvPr/>
        </p:nvSpPr>
        <p:spPr>
          <a:xfrm>
            <a:off x="667512" y="5157216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dated regulatory anchors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2898648" y="4443984"/>
            <a:ext cx="2212848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9525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25400" dir="5400000">
              <a:srgbClr val="AAB6C4">
                <a:alpha val="2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2953512" y="4498848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2953512" y="4498848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910328" y="5687568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056632" y="5541264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3063240" y="45537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3400" dirty="0"/>
          </a:p>
        </p:txBody>
      </p:sp>
      <p:sp>
        <p:nvSpPr>
          <p:cNvPr id="46" name="Text 43"/>
          <p:cNvSpPr/>
          <p:nvPr/>
        </p:nvSpPr>
        <p:spPr>
          <a:xfrm>
            <a:off x="3063240" y="5157216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 vehicles (RR to U8)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5806440" y="148132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Technologies per commodity (live register)</a:t>
            </a:r>
            <a:endParaRPr lang="en-US" sz="1300" dirty="0"/>
          </a:p>
        </p:txBody>
      </p:sp>
      <p:graphicFrame>
        <p:nvGraphicFramePr>
          <p:cNvPr id="48" name="Chart 0" descr=""/>
          <p:cNvGraphicFramePr/>
          <p:nvPr/>
        </p:nvGraphicFramePr>
        <p:xfrm>
          <a:off x="5760720" y="1783080"/>
          <a:ext cx="589788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9" name="Text 45"/>
          <p:cNvSpPr/>
          <p:nvPr/>
        </p:nvSpPr>
        <p:spPr>
          <a:xfrm>
            <a:off x="502920" y="598932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Off-road &amp; luxury SUV segment: hydraulic interlinked suspension, e-lockers, wading, tank-turn quad motors, terrain AI — with a 12-vehicle competitor benchmark set.</a:t>
            </a:r>
            <a:endParaRPr lang="en-US" sz="1100" dirty="0"/>
          </a:p>
        </p:txBody>
      </p:sp>
      <p:sp>
        <p:nvSpPr>
          <p:cNvPr id="50" name="Text 46"/>
          <p:cNvSpPr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BrainSpark </a:t>
            </a:r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Horizon</a:t>
            </a:r>
            <a:pPr indent="0" marL="0">
              <a:buNone/>
            </a:pPr>
            <a:r>
              <a:rPr lang="en-US" sz="900" dirty="0">
                <a:solidFill>
                  <a:srgbClr val="93A3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Technology Foresight   ·   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420624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241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CAPABILITIES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1005840" y="530352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Horizon predicts — and how honestly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554480"/>
            <a:ext cx="5440680" cy="1298448"/>
          </a:xfrm>
          <a:prstGeom prst="roundRect">
            <a:avLst>
              <a:gd name="adj" fmla="val 4930"/>
            </a:avLst>
          </a:prstGeom>
          <a:solidFill>
            <a:srgbClr val="F4F7FB"/>
          </a:solidFill>
          <a:ln w="9525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25400" dir="5400000">
              <a:srgbClr val="AAB6C4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57784" y="1609344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1609344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742432" y="2798064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888736" y="2651760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04088" y="1810512"/>
            <a:ext cx="512064" cy="51206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BE3E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2938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71600" y="168249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horizon lanes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1371600" y="1956816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Adopt/quote now (–2028) · plan the transition (2029-32) · track, don’t commit (2033+). Regulation can pull a lane — only if it is actual law.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217920" y="1554480"/>
            <a:ext cx="544068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9525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25400" dir="5400000">
              <a:srgbClr val="AAB6C4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72784" y="1609344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72784" y="1609344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11457432" y="2798064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1603736" y="2651760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19088" y="1810512"/>
            <a:ext cx="512064" cy="51206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BE3EC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929384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7086600" y="168249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&amp; cost trajectories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7086600" y="1956816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Bass-diffusion adoption paths and Wright’s-law cost indices at +3/+5/+8 years — labelled "modelled, not measured".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502920" y="3035808"/>
            <a:ext cx="5440680" cy="1298448"/>
          </a:xfrm>
          <a:prstGeom prst="roundRect">
            <a:avLst>
              <a:gd name="adj" fmla="val 4930"/>
            </a:avLst>
          </a:prstGeom>
          <a:solidFill>
            <a:srgbClr val="F4F7FB"/>
          </a:solidFill>
          <a:ln w="9525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25400" dir="5400000">
              <a:srgbClr val="AAB6C4">
                <a:alpha val="2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557784" y="3090672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557784" y="3090672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5742432" y="4279392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888736" y="4133088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704088" y="3291840"/>
            <a:ext cx="512064" cy="51206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BE3EC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410712"/>
            <a:ext cx="274320" cy="274320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371600" y="316382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Crossing years with uncertainty</a:t>
            </a:r>
            <a:endParaRPr lang="en-US" sz="1350" dirty="0"/>
          </a:p>
        </p:txBody>
      </p:sp>
      <p:sp>
        <p:nvSpPr>
          <p:cNvPr id="31" name="Text 25"/>
          <p:cNvSpPr/>
          <p:nvPr/>
        </p:nvSpPr>
        <p:spPr>
          <a:xfrm>
            <a:off x="1371600" y="3438144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year a technology crosses 25% / 50% of its segment — with a band, e.g. ≈2032 (2031–2034). Niche techs honestly "never cross".</a:t>
            </a:r>
            <a:endParaRPr 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6217920" y="3035808"/>
            <a:ext cx="544068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9525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25400" dir="5400000">
              <a:srgbClr val="AAB6C4">
                <a:alpha val="28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6272784" y="3090672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6272784" y="3090672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457432" y="4279392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11603736" y="4133088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6419088" y="3291840"/>
            <a:ext cx="512064" cy="51206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BE3EC"/>
            </a:solidFill>
            <a:prstDash val="solid"/>
          </a:ln>
        </p:spPr>
      </p:sp>
      <p:pic>
        <p:nvPicPr>
          <p:cNvPr id="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3410712"/>
            <a:ext cx="274320" cy="274320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>
            <a:off x="7086600" y="316382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Momentum &amp; confidence tiers</a:t>
            </a:r>
            <a:endParaRPr lang="en-US" sz="1350" dirty="0"/>
          </a:p>
        </p:txBody>
      </p:sp>
      <p:sp>
        <p:nvSpPr>
          <p:cNvPr id="40" name="Text 33"/>
          <p:cNvSpPr/>
          <p:nvPr/>
        </p:nvSpPr>
        <p:spPr>
          <a:xfrm>
            <a:off x="7086600" y="3438144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0-100 momentum from maturity, adoption, cost trend and evidence; committed / probable / speculative on every card.</a:t>
            </a:r>
            <a:endParaRPr lang="en-US" sz="1050" dirty="0"/>
          </a:p>
        </p:txBody>
      </p:sp>
      <p:sp>
        <p:nvSpPr>
          <p:cNvPr id="41" name="Shape 34"/>
          <p:cNvSpPr/>
          <p:nvPr/>
        </p:nvSpPr>
        <p:spPr>
          <a:xfrm>
            <a:off x="502920" y="4517136"/>
            <a:ext cx="5440680" cy="1298448"/>
          </a:xfrm>
          <a:prstGeom prst="roundRect">
            <a:avLst>
              <a:gd name="adj" fmla="val 4930"/>
            </a:avLst>
          </a:prstGeom>
          <a:solidFill>
            <a:srgbClr val="F4F7FB"/>
          </a:solidFill>
          <a:ln w="9525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25400" dir="5400000">
              <a:srgbClr val="AAB6C4">
                <a:alpha val="28000"/>
              </a:srgbClr>
            </a:outerShdw>
          </a:effectLst>
        </p:spPr>
      </p:sp>
      <p:sp>
        <p:nvSpPr>
          <p:cNvPr id="42" name="Shape 35"/>
          <p:cNvSpPr/>
          <p:nvPr/>
        </p:nvSpPr>
        <p:spPr>
          <a:xfrm>
            <a:off x="557784" y="4572000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557784" y="4572000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44" name="Shape 37"/>
          <p:cNvSpPr/>
          <p:nvPr/>
        </p:nvSpPr>
        <p:spPr>
          <a:xfrm>
            <a:off x="5742432" y="5760720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45" name="Shape 38"/>
          <p:cNvSpPr/>
          <p:nvPr/>
        </p:nvSpPr>
        <p:spPr>
          <a:xfrm>
            <a:off x="5888736" y="5614416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46" name="Shape 39"/>
          <p:cNvSpPr/>
          <p:nvPr/>
        </p:nvSpPr>
        <p:spPr>
          <a:xfrm>
            <a:off x="704088" y="4773168"/>
            <a:ext cx="512064" cy="51206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BE3EC"/>
            </a:solidFill>
            <a:prstDash val="solid"/>
          </a:ln>
        </p:spPr>
      </p:sp>
      <p:pic>
        <p:nvPicPr>
          <p:cNvPr id="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4892040"/>
            <a:ext cx="274320" cy="274320"/>
          </a:xfrm>
          <a:prstGeom prst="rect">
            <a:avLst/>
          </a:prstGeom>
        </p:spPr>
      </p:pic>
      <p:sp>
        <p:nvSpPr>
          <p:cNvPr id="48" name="Text 40"/>
          <p:cNvSpPr/>
          <p:nvPr/>
        </p:nvSpPr>
        <p:spPr>
          <a:xfrm>
            <a:off x="1371600" y="4645152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on demand</a:t>
            </a:r>
            <a:endParaRPr lang="en-US" sz="1350" dirty="0"/>
          </a:p>
        </p:txBody>
      </p:sp>
      <p:sp>
        <p:nvSpPr>
          <p:cNvPr id="49" name="Text 41"/>
          <p:cNvSpPr/>
          <p:nvPr/>
        </p:nvSpPr>
        <p:spPr>
          <a:xfrm>
            <a:off x="1371600" y="4919472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patent-filing velocity per technology, plus AI deep research where every finding must cite a retrieved source.</a:t>
            </a:r>
            <a:endParaRPr lang="en-US" sz="1050" dirty="0"/>
          </a:p>
        </p:txBody>
      </p:sp>
      <p:sp>
        <p:nvSpPr>
          <p:cNvPr id="50" name="Shape 42"/>
          <p:cNvSpPr/>
          <p:nvPr/>
        </p:nvSpPr>
        <p:spPr>
          <a:xfrm>
            <a:off x="6217920" y="4517136"/>
            <a:ext cx="544068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9525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25400" dir="5400000">
              <a:srgbClr val="AAB6C4">
                <a:alpha val="28000"/>
              </a:srgbClr>
            </a:outerShdw>
          </a:effectLst>
        </p:spPr>
      </p:sp>
      <p:sp>
        <p:nvSpPr>
          <p:cNvPr id="51" name="Shape 43"/>
          <p:cNvSpPr/>
          <p:nvPr/>
        </p:nvSpPr>
        <p:spPr>
          <a:xfrm>
            <a:off x="6272784" y="4572000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52" name="Shape 44"/>
          <p:cNvSpPr/>
          <p:nvPr/>
        </p:nvSpPr>
        <p:spPr>
          <a:xfrm>
            <a:off x="6272784" y="4572000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53" name="Shape 45"/>
          <p:cNvSpPr/>
          <p:nvPr/>
        </p:nvSpPr>
        <p:spPr>
          <a:xfrm>
            <a:off x="11457432" y="5760720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54" name="Shape 46"/>
          <p:cNvSpPr/>
          <p:nvPr/>
        </p:nvSpPr>
        <p:spPr>
          <a:xfrm>
            <a:off x="11603736" y="5614416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55" name="Shape 47"/>
          <p:cNvSpPr/>
          <p:nvPr/>
        </p:nvSpPr>
        <p:spPr>
          <a:xfrm>
            <a:off x="6419088" y="4773168"/>
            <a:ext cx="512064" cy="51206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BE3EC"/>
            </a:solidFill>
            <a:prstDash val="solid"/>
          </a:ln>
        </p:spPr>
      </p:sp>
      <p:pic>
        <p:nvPicPr>
          <p:cNvPr id="5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7960" y="4892040"/>
            <a:ext cx="274320" cy="274320"/>
          </a:xfrm>
          <a:prstGeom prst="rect">
            <a:avLst/>
          </a:prstGeom>
        </p:spPr>
      </p:pic>
      <p:sp>
        <p:nvSpPr>
          <p:cNvPr id="57" name="Text 48"/>
          <p:cNvSpPr/>
          <p:nvPr/>
        </p:nvSpPr>
        <p:spPr>
          <a:xfrm>
            <a:off x="7086600" y="4645152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 &amp; self-scoring</a:t>
            </a:r>
            <a:endParaRPr lang="en-US" sz="1350" dirty="0"/>
          </a:p>
        </p:txBody>
      </p:sp>
      <p:sp>
        <p:nvSpPr>
          <p:cNvPr id="58" name="Text 49"/>
          <p:cNvSpPr/>
          <p:nvPr/>
        </p:nvSpPr>
        <p:spPr>
          <a:xfrm>
            <a:off x="7086600" y="4919472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3-persona expert panel critiques timing; the Prediction Ledger snapshots forecasts and scores them later. Exportable as a branded PDF report.</a:t>
            </a:r>
            <a:endParaRPr lang="en-US" sz="1050" dirty="0"/>
          </a:p>
        </p:txBody>
      </p:sp>
      <p:sp>
        <p:nvSpPr>
          <p:cNvPr id="59" name="Text 50"/>
          <p:cNvSpPr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BrainSpark </a:t>
            </a:r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Horizon</a:t>
            </a:r>
            <a:pPr indent="0" marL="0">
              <a:buNone/>
            </a:pPr>
            <a:r>
              <a:rPr lang="en-US" sz="900" dirty="0">
                <a:solidFill>
                  <a:srgbClr val="93A3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Technology Foresight   ·   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420624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241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EXAMPLE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1005840" y="530352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 HV battery — 22 technologies mapped in one query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Modelled adoption paths — % of applicable segment (Bass diffusion, computed by the engine)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737360"/>
          <a:ext cx="72237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8001000" y="1417320"/>
            <a:ext cx="3703320" cy="4434840"/>
          </a:xfrm>
          <a:prstGeom prst="roundRect">
            <a:avLst>
              <a:gd name="adj" fmla="val 1728"/>
            </a:avLst>
          </a:prstGeom>
          <a:solidFill>
            <a:srgbClr val="FFFFFF"/>
          </a:solidFill>
          <a:ln w="9525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25400" dir="5400000">
              <a:srgbClr val="AAB6C4">
                <a:alpha val="28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8055864" y="1472184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055864" y="1472184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1503152" y="5797296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649456" y="5650992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229600" y="16276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Headline predictions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8229600" y="19933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FPC/CCS flexible cell-contacting systems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8229600" y="2231136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momentum 73/100 · COMMITTED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crosses 50% ≈2028 (2027–2028)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8229600" y="3017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LFP chemistry in C/D-segment packs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8229600" y="3255264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momentum 73/100 · COMMITTED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crosses 50% ≈2027 (2027–2027)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229600" y="40416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Cell-to-pack / cell-to-body integration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8229600" y="4279392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momentum 69/100 · COMMITTED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crosses 50% ≈2029 (2028–2029)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8229600" y="512064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Lanes: H1 17 · H2 4 · H3 1. Solid-state stays H3: pilot-scale, $400-800/kWh — treat OEM dates skeptically.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502920" y="603504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on this slide was computed by the deterministic engine from the curated register — modelled, not measured; nothing was typed in by hand.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BrainSpark </a:t>
            </a:r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Horizon</a:t>
            </a:r>
            <a:pPr indent="0" marL="0">
              <a:buNone/>
            </a:pPr>
            <a:r>
              <a:rPr lang="en-US" sz="900" dirty="0">
                <a:solidFill>
                  <a:srgbClr val="93A3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Technology Foresight   ·   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420624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241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BUSINESS VALUE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1005840" y="530352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changes for us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554480"/>
            <a:ext cx="5440680" cy="166420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25400" dir="5400000">
              <a:srgbClr val="AAB6C4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57784" y="1609344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1609344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742432" y="3163824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888736" y="3017520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22376" y="1773936"/>
            <a:ext cx="548640" cy="548640"/>
          </a:xfrm>
          <a:prstGeom prst="ellipse">
            <a:avLst/>
          </a:prstGeom>
          <a:solidFill>
            <a:srgbClr val="F4F7FB"/>
          </a:solidFill>
          <a:ln w="9525">
            <a:solidFill>
              <a:srgbClr val="DBE3E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1911096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35608" y="1737360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Sharper sourcing decisions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1435608" y="2048256"/>
            <a:ext cx="4343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 whether the technology you are quoting will still be the right answer in year 5 of the contract — before signing it.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217920" y="1554480"/>
            <a:ext cx="5440680" cy="166420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25400" dir="5400000">
              <a:srgbClr val="AAB6C4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72784" y="1609344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72784" y="1609344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11457432" y="3163824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1603736" y="3017520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37376" y="1773936"/>
            <a:ext cx="548640" cy="548640"/>
          </a:xfrm>
          <a:prstGeom prst="ellipse">
            <a:avLst/>
          </a:prstGeom>
          <a:solidFill>
            <a:srgbClr val="F4F7FB"/>
          </a:solidFill>
          <a:ln w="9525">
            <a:solidFill>
              <a:srgbClr val="DBE3EC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536" y="1911096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7150608" y="1737360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Negotiation leverage</a:t>
            </a:r>
            <a:endParaRPr lang="en-US" sz="1450" dirty="0"/>
          </a:p>
        </p:txBody>
      </p:sp>
      <p:sp>
        <p:nvSpPr>
          <p:cNvPr id="22" name="Text 17"/>
          <p:cNvSpPr/>
          <p:nvPr/>
        </p:nvSpPr>
        <p:spPr>
          <a:xfrm>
            <a:off x="7150608" y="2048256"/>
            <a:ext cx="4343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Wright’s-law cost trajectories say what a part SHOULD cost in 2029 — a fact base for LTA and productivity discussions.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502920" y="3401568"/>
            <a:ext cx="5440680" cy="166420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25400" dir="5400000">
              <a:srgbClr val="AAB6C4">
                <a:alpha val="2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557784" y="3456432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557784" y="3456432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5742432" y="5010912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888736" y="4864608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722376" y="3621024"/>
            <a:ext cx="548640" cy="548640"/>
          </a:xfrm>
          <a:prstGeom prst="ellipse">
            <a:avLst/>
          </a:prstGeom>
          <a:solidFill>
            <a:srgbClr val="F4F7FB"/>
          </a:solidFill>
          <a:ln w="9525">
            <a:solidFill>
              <a:srgbClr val="DBE3EC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3758184"/>
            <a:ext cx="274320" cy="274320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435608" y="3584448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risk, de-risked</a:t>
            </a:r>
            <a:endParaRPr lang="en-US" sz="1450" dirty="0"/>
          </a:p>
        </p:txBody>
      </p:sp>
      <p:sp>
        <p:nvSpPr>
          <p:cNvPr id="31" name="Text 25"/>
          <p:cNvSpPr/>
          <p:nvPr/>
        </p:nvSpPr>
        <p:spPr>
          <a:xfrm>
            <a:off x="1435608" y="3895344"/>
            <a:ext cx="4343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7, ELV recast, GB 38031 — dated, statused, and mapped to the exact components they force. Proposals never masquerade as law.</a:t>
            </a:r>
            <a:endParaRPr lang="en-US" sz="1150" dirty="0"/>
          </a:p>
        </p:txBody>
      </p:sp>
      <p:sp>
        <p:nvSpPr>
          <p:cNvPr id="32" name="Shape 26"/>
          <p:cNvSpPr/>
          <p:nvPr/>
        </p:nvSpPr>
        <p:spPr>
          <a:xfrm>
            <a:off x="6217920" y="3401568"/>
            <a:ext cx="5440680" cy="166420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25400" dir="5400000">
              <a:srgbClr val="AAB6C4">
                <a:alpha val="28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6272784" y="3456432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6272784" y="3456432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457432" y="5010912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11603736" y="4864608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6437376" y="3621024"/>
            <a:ext cx="548640" cy="548640"/>
          </a:xfrm>
          <a:prstGeom prst="ellipse">
            <a:avLst/>
          </a:prstGeom>
          <a:solidFill>
            <a:srgbClr val="F4F7FB"/>
          </a:solidFill>
          <a:ln w="9525">
            <a:solidFill>
              <a:srgbClr val="DBE3EC"/>
            </a:solidFill>
            <a:prstDash val="solid"/>
          </a:ln>
        </p:spPr>
      </p:sp>
      <p:pic>
        <p:nvPicPr>
          <p:cNvPr id="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4536" y="3758184"/>
            <a:ext cx="274320" cy="274320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>
            <a:off x="7150608" y="3584448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 radar</a:t>
            </a:r>
            <a:endParaRPr lang="en-US" sz="1450" dirty="0"/>
          </a:p>
        </p:txBody>
      </p:sp>
      <p:sp>
        <p:nvSpPr>
          <p:cNvPr id="40" name="Text 33"/>
          <p:cNvSpPr/>
          <p:nvPr/>
        </p:nvSpPr>
        <p:spPr>
          <a:xfrm>
            <a:off x="7150608" y="3895344"/>
            <a:ext cx="4343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off-road &amp; luxury battleground benchmarked continuously — Defender OCTA to Yangwang U8 — with the next moves to watch.</a:t>
            </a:r>
            <a:endParaRPr lang="en-US" sz="1150" dirty="0"/>
          </a:p>
        </p:txBody>
      </p:sp>
      <p:sp>
        <p:nvSpPr>
          <p:cNvPr id="41" name="Text 34"/>
          <p:cNvSpPr/>
          <p:nvPr/>
        </p:nvSpPr>
        <p:spPr>
          <a:xfrm>
            <a:off x="502920" y="562356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Minutes, not weeks. </a:t>
            </a:r>
            <a:pPr algn="ctr" indent="0" marL="0">
              <a:buNone/>
            </a:pPr>
            <a:r>
              <a:rPr lang="en-US" sz="13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Self-serve, part-level foresight for every engineer — no per-seat analyst subscription, and it speaks our commodity language.</a:t>
            </a:r>
            <a:endParaRPr lang="en-US" sz="1350" dirty="0"/>
          </a:p>
        </p:txBody>
      </p:sp>
      <p:sp>
        <p:nvSpPr>
          <p:cNvPr id="42" name="Text 35"/>
          <p:cNvSpPr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BrainSpark </a:t>
            </a:r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Horizon</a:t>
            </a:r>
            <a:pPr indent="0" marL="0">
              <a:buNone/>
            </a:pPr>
            <a:r>
              <a:rPr lang="en-US" sz="900" dirty="0">
                <a:solidFill>
                  <a:srgbClr val="93A3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Technology Foresight   ·   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420624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241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TRUST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1005840" y="530352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Engineered and audited like a product, not a demo</a:t>
            </a:r>
            <a:endParaRPr lang="en-US" sz="30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591056"/>
            <a:ext cx="310896" cy="31089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51560" y="153619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326 automated tests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1051560" y="1810512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 integrity, model rules and coverage are CI-enforced — a claim without evidence fails the build.</a:t>
            </a:r>
            <a:endParaRPr lang="en-US" sz="10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459736"/>
            <a:ext cx="310896" cy="31089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051560" y="240487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Independently fact-checked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1051560" y="2679192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two-chair audit verified the riskiest claims against primary sources — and its findings are fixed and test-locked.</a:t>
            </a:r>
            <a:endParaRPr lang="en-US" sz="105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328416"/>
            <a:ext cx="310896" cy="310896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051560" y="327355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Honesty architecture</a:t>
            </a:r>
            <a:endParaRPr lang="en-US" sz="1400" dirty="0"/>
          </a:p>
        </p:txBody>
      </p:sp>
      <p:sp>
        <p:nvSpPr>
          <p:cNvPr id="13" name="Text 7"/>
          <p:cNvSpPr/>
          <p:nvPr/>
        </p:nvSpPr>
        <p:spPr>
          <a:xfrm>
            <a:off x="1051560" y="3547872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tiers, "modelled" labels, regulation legal status, adoption ceilings, uncertainty bands — the tool says "I don’t know" rather than guessing.</a:t>
            </a:r>
            <a:endParaRPr lang="en-US" sz="105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4197096"/>
            <a:ext cx="310896" cy="310896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051560" y="414223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AI, enforced in code</a:t>
            </a:r>
            <a:endParaRPr lang="en-US" sz="1400" dirty="0"/>
          </a:p>
        </p:txBody>
      </p:sp>
      <p:sp>
        <p:nvSpPr>
          <p:cNvPr id="16" name="Text 9"/>
          <p:cNvSpPr/>
          <p:nvPr/>
        </p:nvSpPr>
        <p:spPr>
          <a:xfrm>
            <a:off x="1051560" y="4416552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Briefings, panel critiques and deep research are grounded in engine output; uncited research findings are dropped server-side.</a:t>
            </a:r>
            <a:endParaRPr lang="en-US" sz="105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5065776"/>
            <a:ext cx="310896" cy="310896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1051560" y="50109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Self-scoring</a:t>
            </a:r>
            <a:endParaRPr lang="en-US" sz="1400" dirty="0"/>
          </a:p>
        </p:txBody>
      </p:sp>
      <p:sp>
        <p:nvSpPr>
          <p:cNvPr id="19" name="Text 11"/>
          <p:cNvSpPr/>
          <p:nvPr/>
        </p:nvSpPr>
        <p:spPr>
          <a:xfrm>
            <a:off x="1051560" y="5285232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Prediction Ledger snapshots every forecast and scores it against later re-curations — Tetlock discipline, built in.</a:t>
            </a:r>
            <a:endParaRPr lang="en-US" sz="1050" dirty="0"/>
          </a:p>
        </p:txBody>
      </p:sp>
      <p:sp>
        <p:nvSpPr>
          <p:cNvPr id="20" name="Shape 12"/>
          <p:cNvSpPr/>
          <p:nvPr/>
        </p:nvSpPr>
        <p:spPr>
          <a:xfrm>
            <a:off x="7178040" y="1572768"/>
            <a:ext cx="4480560" cy="4160520"/>
          </a:xfrm>
          <a:prstGeom prst="roundRect">
            <a:avLst>
              <a:gd name="adj" fmla="val 1538"/>
            </a:avLst>
          </a:prstGeom>
          <a:solidFill>
            <a:srgbClr val="F4F7FB"/>
          </a:solidFill>
          <a:ln w="9525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25400" dir="5400000">
              <a:srgbClr val="AAB6C4">
                <a:alpha val="28000"/>
              </a:srgbClr>
            </a:outerShdw>
          </a:effectLst>
        </p:spPr>
      </p:sp>
      <p:sp>
        <p:nvSpPr>
          <p:cNvPr id="21" name="Shape 13"/>
          <p:cNvSpPr/>
          <p:nvPr/>
        </p:nvSpPr>
        <p:spPr>
          <a:xfrm>
            <a:off x="7232904" y="1627632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22" name="Shape 14"/>
          <p:cNvSpPr/>
          <p:nvPr/>
        </p:nvSpPr>
        <p:spPr>
          <a:xfrm>
            <a:off x="7232904" y="1627632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23" name="Shape 15"/>
          <p:cNvSpPr/>
          <p:nvPr/>
        </p:nvSpPr>
        <p:spPr>
          <a:xfrm>
            <a:off x="11457432" y="5678424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11603736" y="5532120"/>
            <a:ext cx="0" cy="146304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</a:ln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52360" y="1828800"/>
            <a:ext cx="402336" cy="402336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7973568" y="18745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honesty test we set ourselves</a:t>
            </a:r>
            <a:endParaRPr lang="en-US" sz="1350" dirty="0"/>
          </a:p>
        </p:txBody>
      </p:sp>
      <p:sp>
        <p:nvSpPr>
          <p:cNvPr id="27" name="Text 18"/>
          <p:cNvSpPr/>
          <p:nvPr/>
        </p:nvSpPr>
        <p:spPr>
          <a:xfrm>
            <a:off x="7452360" y="242316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foresight tool that never checks its own past predictions is astrology."</a:t>
            </a:r>
            <a:endParaRPr lang="en-US" sz="1400" dirty="0"/>
          </a:p>
        </p:txBody>
      </p:sp>
      <p:sp>
        <p:nvSpPr>
          <p:cNvPr id="28" name="Text 19"/>
          <p:cNvSpPr/>
          <p:nvPr/>
        </p:nvSpPr>
        <p:spPr>
          <a:xfrm>
            <a:off x="7452360" y="3291840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prediction run can be snapshotted. When the register is re-curated, the tool computes exactly how far its old projections were off — and shows us the error. No other tool in this space grades its own homework.</a:t>
            </a:r>
            <a:endParaRPr lang="en-US" sz="1150" dirty="0"/>
          </a:p>
        </p:txBody>
      </p:sp>
      <p:sp>
        <p:nvSpPr>
          <p:cNvPr id="29" name="Text 20"/>
          <p:cNvSpPr/>
          <p:nvPr/>
        </p:nvSpPr>
        <p:spPr>
          <a:xfrm>
            <a:off x="7452360" y="51206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audited · test-locked · self-scoring</a:t>
            </a:r>
            <a:endParaRPr lang="en-US" sz="1050" dirty="0"/>
          </a:p>
        </p:txBody>
      </p:sp>
      <p:sp>
        <p:nvSpPr>
          <p:cNvPr id="30" name="Text 21"/>
          <p:cNvSpPr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BrainSpark </a:t>
            </a:r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Horizon</a:t>
            </a:r>
            <a:pPr indent="0" marL="0">
              <a:buNone/>
            </a:pPr>
            <a:r>
              <a:rPr lang="en-US" sz="900" dirty="0">
                <a:solidFill>
                  <a:srgbClr val="93A3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Technology Foresight   ·   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-8170164" y="4937760"/>
            <a:ext cx="11247120" cy="1920240"/>
          </a:xfrm>
          <a:prstGeom prst="line">
            <a:avLst/>
          </a:prstGeom>
          <a:noFill/>
          <a:ln w="9525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H="1">
            <a:off x="-5792724" y="4937760"/>
            <a:ext cx="9372600" cy="1920240"/>
          </a:xfrm>
          <a:prstGeom prst="line">
            <a:avLst/>
          </a:prstGeom>
          <a:noFill/>
          <a:ln w="9525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>
            <a:off x="-3415284" y="4937760"/>
            <a:ext cx="7498080" cy="1920240"/>
          </a:xfrm>
          <a:prstGeom prst="line">
            <a:avLst/>
          </a:prstGeom>
          <a:noFill/>
          <a:ln w="9525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>
            <a:off x="-1037844" y="4937760"/>
            <a:ext cx="5623560" cy="1920240"/>
          </a:xfrm>
          <a:prstGeom prst="line">
            <a:avLst/>
          </a:prstGeom>
          <a:noFill/>
          <a:ln w="9525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>
            <a:off x="1339596" y="4937760"/>
            <a:ext cx="3749040" cy="1920240"/>
          </a:xfrm>
          <a:prstGeom prst="line">
            <a:avLst/>
          </a:prstGeom>
          <a:noFill/>
          <a:ln w="9525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>
            <a:off x="3717036" y="4937760"/>
            <a:ext cx="1874520" cy="1920240"/>
          </a:xfrm>
          <a:prstGeom prst="line">
            <a:avLst/>
          </a:prstGeom>
          <a:noFill/>
          <a:ln w="9525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4476" y="4937760"/>
            <a:ext cx="0" cy="1920240"/>
          </a:xfrm>
          <a:prstGeom prst="line">
            <a:avLst/>
          </a:prstGeom>
          <a:noFill/>
          <a:ln w="9525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97396" y="4937760"/>
            <a:ext cx="1874520" cy="1920240"/>
          </a:xfrm>
          <a:prstGeom prst="line">
            <a:avLst/>
          </a:prstGeom>
          <a:noFill/>
          <a:ln w="9525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00316" y="4937760"/>
            <a:ext cx="3749040" cy="1920240"/>
          </a:xfrm>
          <a:prstGeom prst="line">
            <a:avLst/>
          </a:prstGeom>
          <a:noFill/>
          <a:ln w="9525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03236" y="4937760"/>
            <a:ext cx="5623560" cy="1920240"/>
          </a:xfrm>
          <a:prstGeom prst="line">
            <a:avLst/>
          </a:prstGeom>
          <a:noFill/>
          <a:ln w="9525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106156" y="4937760"/>
            <a:ext cx="7498080" cy="1920240"/>
          </a:xfrm>
          <a:prstGeom prst="line">
            <a:avLst/>
          </a:prstGeom>
          <a:noFill/>
          <a:ln w="9525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09076" y="4937760"/>
            <a:ext cx="9372600" cy="1920240"/>
          </a:xfrm>
          <a:prstGeom prst="line">
            <a:avLst/>
          </a:prstGeom>
          <a:noFill/>
          <a:ln w="9525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11996" y="4937760"/>
            <a:ext cx="11247120" cy="1920240"/>
          </a:xfrm>
          <a:prstGeom prst="line">
            <a:avLst/>
          </a:prstGeom>
          <a:noFill/>
          <a:ln w="9525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5047488"/>
            <a:ext cx="12188952" cy="0"/>
          </a:xfrm>
          <a:prstGeom prst="line">
            <a:avLst/>
          </a:prstGeom>
          <a:noFill/>
          <a:ln w="9525">
            <a:solidFill>
              <a:srgbClr val="F59E0B">
                <a:alpha val="24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5212080"/>
            <a:ext cx="12188952" cy="0"/>
          </a:xfrm>
          <a:prstGeom prst="line">
            <a:avLst/>
          </a:prstGeom>
          <a:noFill/>
          <a:ln w="9525">
            <a:solidFill>
              <a:srgbClr val="F59E0B">
                <a:alpha val="24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5440680"/>
            <a:ext cx="12188952" cy="0"/>
          </a:xfrm>
          <a:prstGeom prst="line">
            <a:avLst/>
          </a:prstGeom>
          <a:noFill/>
          <a:ln w="9525">
            <a:solidFill>
              <a:srgbClr val="F59E0B">
                <a:alpha val="24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5760720"/>
            <a:ext cx="12188952" cy="0"/>
          </a:xfrm>
          <a:prstGeom prst="line">
            <a:avLst/>
          </a:prstGeom>
          <a:noFill/>
          <a:ln w="9525">
            <a:solidFill>
              <a:srgbClr val="F59E0B">
                <a:alpha val="24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6217920"/>
            <a:ext cx="12188952" cy="0"/>
          </a:xfrm>
          <a:prstGeom prst="line">
            <a:avLst/>
          </a:prstGeom>
          <a:noFill/>
          <a:ln w="9525">
            <a:solidFill>
              <a:srgbClr val="F59E0B">
                <a:alpha val="24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4937760"/>
            <a:ext cx="12188952" cy="0"/>
          </a:xfrm>
          <a:prstGeom prst="line">
            <a:avLst/>
          </a:prstGeom>
          <a:noFill/>
          <a:ln w="17780">
            <a:solidFill>
              <a:srgbClr val="F59E0B">
                <a:alpha val="6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08676" y="685800"/>
            <a:ext cx="1371600" cy="1371600"/>
          </a:xfrm>
          <a:prstGeom prst="ellipse">
            <a:avLst/>
          </a:prstGeom>
          <a:ln w="9525">
            <a:solidFill>
              <a:srgbClr val="0D9488">
                <a:alpha val="65000"/>
              </a:srgbClr>
            </a:solidFill>
            <a:prstDash val="dash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1868" y="987552"/>
            <a:ext cx="585216" cy="585216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0" y="2286000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 IT LIVE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0" y="260604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future of every part we buy — on demand</a:t>
            </a:r>
            <a:endParaRPr lang="en-US" sz="2800" dirty="0"/>
          </a:p>
        </p:txBody>
      </p:sp>
      <p:sp>
        <p:nvSpPr>
          <p:cNvPr id="25" name="Text 22"/>
          <p:cNvSpPr/>
          <p:nvPr/>
        </p:nvSpPr>
        <p:spPr>
          <a:xfrm>
            <a:off x="2011680" y="34290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Open Horizon → Off-Road &amp; Luxury lens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4846320" y="34290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Predict → lanes, crossings, benchmarks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7680960" y="34290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Export the foresight report (PDF)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0" y="4160520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Next: pilot with the commodity teams · patent-evidence key · quarterly re-curation cadence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0" y="6263640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C8D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Avinash Bhosale · BrainSpark Horizon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BrainSpark Horizon — Automotive Technology Foresight Engine</dc:title>
  <dc:subject>PptxGenJS Presentation</dc:subject>
  <dc:creator>Avinash Bhosale</dc:creator>
  <cp:lastModifiedBy>Avinash Bhosale</cp:lastModifiedBy>
  <cp:revision>1</cp:revision>
  <dcterms:created xsi:type="dcterms:W3CDTF">2026-07-25T14:18:41Z</dcterms:created>
  <dcterms:modified xsi:type="dcterms:W3CDTF">2026-07-25T14:18:41Z</dcterms:modified>
</cp:coreProperties>
</file>