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Technologies</c:v>
                </c:pt>
              </c:strCache>
            </c:strRef>
          </c:tx>
          <c:spPr>
            <a:solidFill>
              <a:srgbClr val="F59E0B"/>
            </a:solidFill>
            <a:effectLst/>
          </c:spPr>
          <c:invertIfNegative val="0"/>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cat>
            <c:multiLvlStrRef>
              <c:f>Sheet1!$A$2:$A$10</c:f>
              <c:multiLvlStrCache>
                <c:ptCount val="9"/>
                <c:lvl>
                  <c:pt idx="0">
                    <c:v>Battery</c:v>
                  </c:pt>
                  <c:pt idx="1">
                    <c:v>EDU</c:v>
                  </c:pt>
                  <c:pt idx="2">
                    <c:v>Powertrain</c:v>
                  </c:pt>
                  <c:pt idx="3">
                    <c:v>Chassis</c:v>
                  </c:pt>
                  <c:pt idx="4">
                    <c:v>Driveline</c:v>
                  </c:pt>
                  <c:pt idx="5">
                    <c:v>BIW</c:v>
                  </c:pt>
                  <c:pt idx="6">
                    <c:v>Interior</c:v>
                  </c:pt>
                  <c:pt idx="7">
                    <c:v>Exterior</c:v>
                  </c:pt>
                  <c:pt idx="8">
                    <c:v>Electrical</c:v>
                  </c:pt>
                </c:lvl>
              </c:multiLvlStrCache>
            </c:multiLvlStrRef>
          </c:cat>
          <c:val>
            <c:numRef>
              <c:f>Sheet1!$B$2:$B$10</c:f>
              <c:numCache>
                <c:formatCode>General</c:formatCode>
                <c:ptCount val="9"/>
                <c:pt idx="0">
                  <c:v>20</c:v>
                </c:pt>
                <c:pt idx="1">
                  <c:v>13</c:v>
                </c:pt>
                <c:pt idx="2">
                  <c:v>11</c:v>
                </c:pt>
                <c:pt idx="3">
                  <c:v>14</c:v>
                </c:pt>
                <c:pt idx="4">
                  <c:v>11</c:v>
                </c:pt>
                <c:pt idx="5">
                  <c:v>12</c:v>
                </c:pt>
                <c:pt idx="6">
                  <c:v>15</c:v>
                </c:pt>
                <c:pt idx="7">
                  <c:v>12</c:v>
                </c:pt>
                <c:pt idx="8">
                  <c:v>31</c:v>
                </c:pt>
              </c:numCache>
            </c:numRef>
          </c:val>
        </c:ser>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0D1F33"/>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LFP volume packs</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9E0B"/>
              </a:solidFill>
              <a:ln w="9525" cap="flat">
                <a:solidFill>
                  <a:srgbClr val="F59E0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Sheet1!$B$2:$B$10</c:f>
              <c:numCache>
                <c:formatCode>General</c:formatCode>
                <c:ptCount val="9"/>
                <c:pt idx="0">
                  <c:v>40</c:v>
                </c:pt>
                <c:pt idx="1">
                  <c:v>49.9</c:v>
                </c:pt>
                <c:pt idx="2">
                  <c:v>59.1</c:v>
                </c:pt>
                <c:pt idx="3">
                  <c:v>67</c:v>
                </c:pt>
                <c:pt idx="4">
                  <c:v>73.4</c:v>
                </c:pt>
                <c:pt idx="5">
                  <c:v>78.3</c:v>
                </c:pt>
                <c:pt idx="6">
                  <c:v>81.9</c:v>
                </c:pt>
                <c:pt idx="7">
                  <c:v>84.5</c:v>
                </c:pt>
                <c:pt idx="8">
                  <c:v>86.3</c:v>
                </c:pt>
              </c:numCache>
            </c:numRef>
          </c:val>
          <c:smooth val="1"/>
        </c:ser>
        <c:ser>
          <c:idx val="1"/>
          <c:order val="1"/>
          <c:tx>
            <c:strRef>
              <c:f>Sheet1!$C$1</c:f>
              <c:strCache>
                <c:ptCount val="1"/>
                <c:pt idx="0">
                  <c:v>Cell-to-pack / CTB</c:v>
                </c:pt>
              </c:strCache>
            </c:strRef>
          </c:tx>
          <c:spPr>
            <a:solidFill>
              <a:srgbClr val="0D9488"/>
            </a:solidFill>
            <a:ln w="31750" cap="flat">
              <a:solidFill>
                <a:srgbClr val="0D948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D9488"/>
              </a:solidFill>
              <a:ln w="9525" cap="flat">
                <a:solidFill>
                  <a:srgbClr val="0D9488"/>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Sheet1!$C$2:$C$10</c:f>
              <c:numCache>
                <c:formatCode>General</c:formatCode>
                <c:ptCount val="9"/>
                <c:pt idx="0">
                  <c:v>25</c:v>
                </c:pt>
                <c:pt idx="1">
                  <c:v>34.3</c:v>
                </c:pt>
                <c:pt idx="2">
                  <c:v>44.2</c:v>
                </c:pt>
                <c:pt idx="3">
                  <c:v>53.9</c:v>
                </c:pt>
                <c:pt idx="4">
                  <c:v>62.6</c:v>
                </c:pt>
                <c:pt idx="5">
                  <c:v>69.9</c:v>
                </c:pt>
                <c:pt idx="6">
                  <c:v>75.7</c:v>
                </c:pt>
                <c:pt idx="7">
                  <c:v>80</c:v>
                </c:pt>
                <c:pt idx="8">
                  <c:v>83.1</c:v>
                </c:pt>
              </c:numCache>
            </c:numRef>
          </c:val>
          <c:smooth val="1"/>
        </c:ser>
        <c:ser>
          <c:idx val="2"/>
          <c:order val="2"/>
          <c:tx>
            <c:strRef>
              <c:f>Sheet1!$D$1</c:f>
              <c:strCache>
                <c:ptCount val="1"/>
                <c:pt idx="0">
                  <c:v>4C-10C fast-charge LFP</c:v>
                </c:pt>
              </c:strCache>
            </c:strRef>
          </c:tx>
          <c:spPr>
            <a:solidFill>
              <a:srgbClr val="6D28D9"/>
            </a:solidFill>
            <a:ln w="31750" cap="flat">
              <a:solidFill>
                <a:srgbClr val="6D28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D28D9"/>
              </a:solidFill>
              <a:ln w="9525" cap="flat">
                <a:solidFill>
                  <a:srgbClr val="6D28D9"/>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Sheet1!$D$2:$D$10</c:f>
              <c:numCache>
                <c:formatCode>General</c:formatCode>
                <c:ptCount val="9"/>
                <c:pt idx="0">
                  <c:v>8</c:v>
                </c:pt>
                <c:pt idx="1">
                  <c:v>14</c:v>
                </c:pt>
                <c:pt idx="2">
                  <c:v>21.5</c:v>
                </c:pt>
                <c:pt idx="3">
                  <c:v>30.4</c:v>
                </c:pt>
                <c:pt idx="4">
                  <c:v>40.2</c:v>
                </c:pt>
                <c:pt idx="5">
                  <c:v>50.1</c:v>
                </c:pt>
                <c:pt idx="6">
                  <c:v>59.2</c:v>
                </c:pt>
                <c:pt idx="7">
                  <c:v>67.1</c:v>
                </c:pt>
                <c:pt idx="8">
                  <c:v>73.5</c:v>
                </c:pt>
              </c:numCache>
            </c:numRef>
          </c:val>
          <c:smooth val="1"/>
        </c:ser>
        <c:ser>
          <c:idx val="3"/>
          <c:order val="3"/>
          <c:tx>
            <c:strRef>
              <c:f>Sheet1!$E$1</c:f>
              <c:strCache>
                <c:ptCount val="1"/>
                <c:pt idx="0">
                  <c:v>46xx cylindricals</c:v>
                </c:pt>
              </c:strCache>
            </c:strRef>
          </c:tx>
          <c:spPr>
            <a:solidFill>
              <a:srgbClr val="2563EB"/>
            </a:solidFill>
            <a:ln w="31750" cap="flat">
              <a:solidFill>
                <a:srgbClr val="2563E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563EB"/>
              </a:solidFill>
              <a:ln w="9525" cap="flat">
                <a:solidFill>
                  <a:srgbClr val="2563E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Sheet1!$E$2:$E$10</c:f>
              <c:numCache>
                <c:formatCode>General</c:formatCode>
                <c:ptCount val="9"/>
                <c:pt idx="0">
                  <c:v>5</c:v>
                </c:pt>
                <c:pt idx="1">
                  <c:v>10.1</c:v>
                </c:pt>
                <c:pt idx="2">
                  <c:v>16.6</c:v>
                </c:pt>
                <c:pt idx="3">
                  <c:v>24.7</c:v>
                </c:pt>
                <c:pt idx="4">
                  <c:v>34</c:v>
                </c:pt>
                <c:pt idx="5">
                  <c:v>43.9</c:v>
                </c:pt>
                <c:pt idx="6">
                  <c:v>53.6</c:v>
                </c:pt>
                <c:pt idx="7">
                  <c:v>62.3</c:v>
                </c:pt>
                <c:pt idx="8">
                  <c:v>69.7</c:v>
                </c:pt>
              </c:numCache>
            </c:numRef>
          </c:val>
          <c:smooth val="1"/>
        </c:ser>
        <c:ser>
          <c:idx val="4"/>
          <c:order val="4"/>
          <c:tx>
            <c:strRef>
              <c:f>Sheet1!$F$1</c:f>
              <c:strCache>
                <c:ptCount val="1"/>
                <c:pt idx="0">
                  <c:v>Solid-state</c:v>
                </c:pt>
              </c:strCache>
            </c:strRef>
          </c:tx>
          <c:spPr>
            <a:solidFill>
              <a:srgbClr val="9CA3AF"/>
            </a:solidFill>
            <a:ln w="3175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Sheet1!$F$2:$F$10</c:f>
              <c:numCache>
                <c:formatCode>General</c:formatCode>
                <c:ptCount val="9"/>
                <c:pt idx="0">
                  <c:v>0.5</c:v>
                </c:pt>
                <c:pt idx="1">
                  <c:v>3.9</c:v>
                </c:pt>
                <c:pt idx="2">
                  <c:v>8.6</c:v>
                </c:pt>
                <c:pt idx="3">
                  <c:v>14.8</c:v>
                </c:pt>
                <c:pt idx="4">
                  <c:v>22.5</c:v>
                </c:pt>
                <c:pt idx="5">
                  <c:v>31.5</c:v>
                </c:pt>
                <c:pt idx="6">
                  <c:v>41.3</c:v>
                </c:pt>
                <c:pt idx="7">
                  <c:v>51.1</c:v>
                </c:pt>
                <c:pt idx="8">
                  <c:v>60.2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4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D1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want to show you a capability I believe nobody else in our industry has in this form — a technology foresight engine built into our BrainSpark platform. Ten minutes: what it is, why it is not just another AI chatbot, how the engine actually works, and what it predicts for a live commodity — the BEV HV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first: Horizon is the newest module of BrainSpark — the platform this team already uses daily. Same governing rule across all of it: deterministic engines produce every number, the AI explains. The agenda — and the heart of it is the live BEV battery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in one line: our decisions outlive the technologies they assume. Analyst services stop at market level, consultants take weeks, chatbots invent. The tiles on the right frame it: seven-year decisions, two-to-three technology turns inside them — and Horizon answers in about thirty seconds with numbers we can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actually works — four stages. One: a curated register, every entry carrying TRL, adoption share and named production evidence. Two: deterministic mathematics — Bass diffusion, Wright’s law — computing every projection. Three: an honesty layer — confidence tiers, legal status on regulations, uncertainty bands. Four, and only four: AI narrates on top, grounded in the computed cards, with uncited claims dropped in code. The sentence to remember: the AI narrates — it never invents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 most want to land. Left: generic AI — confident fiction with no audit trail. Right: Horizon — curated evidence, deterministic numbers, honesty labels, code-enforced grounding, self-scoring. The bottom line is the real differentiator: ask the same question every quarter and you get comparable, scoreable answers. That makes it an instrument, not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the moat. The tiles: 139 technologies, all nine commodities, all four powertrains, three dedicated lenses, fourteen dated regulations, twelve benchmark vehicles. The bar chart is generated from the live register at the moment this deck was built — not drawn by hand. And note the range: this covers the software half of the vehicle as thoroughly as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one-click lenses. The Off-Road lens is ours: interlinked suspension, e-lockers, wading, tank-turn quad motors — with a benchmark strip from Defender OCTA to the Yangwang U8. The Luxury lens tracks the comfort arms race. And the SDV lens covers the software-defined vehicle — 24 technologies from end-to-end AI driving to feature subscriptions.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regulation in the register is dated AND legally statused. Teal: in force. Gold: adopted law. Grey: proposal. Red: under revision — the US EPA standards are being rolled back, so the tool treats them as a weakening anchor. This discipline came from our own audit: it caught the ELV recast being treated as committed law with the wrong date. Only real law is allowed to pull a technology’s horizon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competitive bar, curated as evidence. Our own flagships; the electric G-Wagen with virtual diff locks and per-motor low range; and the disruptor the segment must take seriously — the Yangwang U8, with hydraulic body control, tank turn, and an emergency float mode. Each entry carries a watch item: the announced next move. This strip appears automatically in the tool whenever our segment lens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one query returns. The lanes answer "when do I care". The trajectories put numbers on adoption and cost. Crossing years come with uncertainty bands — a single year would be false precision. Momentum ranks what matters, confidence tiers say how firm each call is. Then the parts no chatbot has: computed patent-velocity evidence, cite-or-drop research, a critique panel, a self-scoring ledger and a boardroom-ready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query, 22 technologies mapped. Read the chart: LFP already dominant and saturating; cell-to-pack crossing the majority line this decade; ultra-fast-charge LFP the fastest riser — charging speed is replacing range as the spec war; 46xx cylindricals climbing; solid-state honestly flat inside the planning window because it is still pilot-scale. On the right, the headline calls with uncertainty bands. And the footer is the point: I typed none of these numbers — the engine computed them when this deck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predictions, an evidence layer. Patent velocity gives an observable early signal, computed not opined. Deep research retrieves live sources and the synthesis must cite them — uncited claims are dropped by the code, and the verdict can go against our own register. A three-persona panel challenges timing. And the ledger grades our own past forecasts. Prediction plus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concrete uses: sourcing decisions checked against the technology future before signing; negotiation leverage from cost trajectories; regulatory de-risking with legal status; and a permanent competitor radar on our own segment. The pill at the bottom is the operating model: minutes not weeks, self-serve, for every engineer — no per-seat analyst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can go in front of a board: engineered like a product. 326 tests lock the honesty rules into CI. It was independently audited against primary sources and the findings are fixed and locked. And it grades its own homework — a discipline most human forecasters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show than tell — a live run takes under a minute: open Horizon, click our Off-Road &amp; Luxury lens, predict, and export the report. Three asks: a pilot with two commodity teams, the free patent-database key to light up the evidence layer, and a quarterly re-curation slot so the prediction ledger starts scoring us.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617720"/>
            <a:ext cx="12188952" cy="2240280"/>
          </a:xfrm>
          <a:prstGeom prst="rect">
            <a:avLst/>
          </a:prstGeom>
          <a:solidFill>
            <a:srgbClr val="0D1F33"/>
          </a:solidFill>
          <a:ln/>
        </p:spPr>
      </p:sp>
      <p:sp>
        <p:nvSpPr>
          <p:cNvPr id="3" name="Shape 1"/>
          <p:cNvSpPr/>
          <p:nvPr/>
        </p:nvSpPr>
        <p:spPr>
          <a:xfrm flipH="1">
            <a:off x="-8170164" y="5074920"/>
            <a:ext cx="11247120" cy="1783080"/>
          </a:xfrm>
          <a:prstGeom prst="line">
            <a:avLst/>
          </a:prstGeom>
          <a:noFill/>
          <a:ln w="11430">
            <a:solidFill>
              <a:srgbClr val="F59E0B">
                <a:alpha val="42000"/>
              </a:srgbClr>
            </a:solidFill>
            <a:prstDash val="solid"/>
          </a:ln>
        </p:spPr>
      </p:sp>
      <p:sp>
        <p:nvSpPr>
          <p:cNvPr id="4" name="Shape 2"/>
          <p:cNvSpPr/>
          <p:nvPr/>
        </p:nvSpPr>
        <p:spPr>
          <a:xfrm flipH="1">
            <a:off x="-5792724" y="5074920"/>
            <a:ext cx="9372600" cy="1783080"/>
          </a:xfrm>
          <a:prstGeom prst="line">
            <a:avLst/>
          </a:prstGeom>
          <a:noFill/>
          <a:ln w="11430">
            <a:solidFill>
              <a:srgbClr val="F59E0B">
                <a:alpha val="42000"/>
              </a:srgbClr>
            </a:solidFill>
            <a:prstDash val="solid"/>
          </a:ln>
        </p:spPr>
      </p:sp>
      <p:sp>
        <p:nvSpPr>
          <p:cNvPr id="5" name="Shape 3"/>
          <p:cNvSpPr/>
          <p:nvPr/>
        </p:nvSpPr>
        <p:spPr>
          <a:xfrm flipH="1">
            <a:off x="-3415284" y="5074920"/>
            <a:ext cx="7498080" cy="1783080"/>
          </a:xfrm>
          <a:prstGeom prst="line">
            <a:avLst/>
          </a:prstGeom>
          <a:noFill/>
          <a:ln w="11430">
            <a:solidFill>
              <a:srgbClr val="F59E0B">
                <a:alpha val="42000"/>
              </a:srgbClr>
            </a:solidFill>
            <a:prstDash val="solid"/>
          </a:ln>
        </p:spPr>
      </p:sp>
      <p:sp>
        <p:nvSpPr>
          <p:cNvPr id="6" name="Shape 4"/>
          <p:cNvSpPr/>
          <p:nvPr/>
        </p:nvSpPr>
        <p:spPr>
          <a:xfrm flipH="1">
            <a:off x="-1037844" y="5074920"/>
            <a:ext cx="5623560" cy="1783080"/>
          </a:xfrm>
          <a:prstGeom prst="line">
            <a:avLst/>
          </a:prstGeom>
          <a:noFill/>
          <a:ln w="11430">
            <a:solidFill>
              <a:srgbClr val="F59E0B">
                <a:alpha val="42000"/>
              </a:srgbClr>
            </a:solidFill>
            <a:prstDash val="solid"/>
          </a:ln>
        </p:spPr>
      </p:sp>
      <p:sp>
        <p:nvSpPr>
          <p:cNvPr id="7" name="Shape 5"/>
          <p:cNvSpPr/>
          <p:nvPr/>
        </p:nvSpPr>
        <p:spPr>
          <a:xfrm flipH="1">
            <a:off x="1339596" y="5074920"/>
            <a:ext cx="3749040" cy="1783080"/>
          </a:xfrm>
          <a:prstGeom prst="line">
            <a:avLst/>
          </a:prstGeom>
          <a:noFill/>
          <a:ln w="11430">
            <a:solidFill>
              <a:srgbClr val="F59E0B">
                <a:alpha val="42000"/>
              </a:srgbClr>
            </a:solidFill>
            <a:prstDash val="solid"/>
          </a:ln>
        </p:spPr>
      </p:sp>
      <p:sp>
        <p:nvSpPr>
          <p:cNvPr id="8" name="Shape 6"/>
          <p:cNvSpPr/>
          <p:nvPr/>
        </p:nvSpPr>
        <p:spPr>
          <a:xfrm flipH="1">
            <a:off x="3717036" y="5074920"/>
            <a:ext cx="1874520" cy="1783080"/>
          </a:xfrm>
          <a:prstGeom prst="line">
            <a:avLst/>
          </a:prstGeom>
          <a:noFill/>
          <a:ln w="11430">
            <a:solidFill>
              <a:srgbClr val="F59E0B">
                <a:alpha val="42000"/>
              </a:srgbClr>
            </a:solidFill>
            <a:prstDash val="solid"/>
          </a:ln>
        </p:spPr>
      </p:sp>
      <p:sp>
        <p:nvSpPr>
          <p:cNvPr id="9" name="Shape 7"/>
          <p:cNvSpPr/>
          <p:nvPr/>
        </p:nvSpPr>
        <p:spPr>
          <a:xfrm>
            <a:off x="6094476" y="5074920"/>
            <a:ext cx="0" cy="1783080"/>
          </a:xfrm>
          <a:prstGeom prst="line">
            <a:avLst/>
          </a:prstGeom>
          <a:noFill/>
          <a:ln w="11430">
            <a:solidFill>
              <a:srgbClr val="F59E0B">
                <a:alpha val="42000"/>
              </a:srgbClr>
            </a:solidFill>
            <a:prstDash val="solid"/>
          </a:ln>
        </p:spPr>
      </p:sp>
      <p:sp>
        <p:nvSpPr>
          <p:cNvPr id="10" name="Shape 8"/>
          <p:cNvSpPr/>
          <p:nvPr/>
        </p:nvSpPr>
        <p:spPr>
          <a:xfrm>
            <a:off x="6597396" y="5074920"/>
            <a:ext cx="1874520" cy="1783080"/>
          </a:xfrm>
          <a:prstGeom prst="line">
            <a:avLst/>
          </a:prstGeom>
          <a:noFill/>
          <a:ln w="11430">
            <a:solidFill>
              <a:srgbClr val="F59E0B">
                <a:alpha val="42000"/>
              </a:srgbClr>
            </a:solidFill>
            <a:prstDash val="solid"/>
          </a:ln>
        </p:spPr>
      </p:sp>
      <p:sp>
        <p:nvSpPr>
          <p:cNvPr id="11" name="Shape 9"/>
          <p:cNvSpPr/>
          <p:nvPr/>
        </p:nvSpPr>
        <p:spPr>
          <a:xfrm>
            <a:off x="7100316" y="5074920"/>
            <a:ext cx="3749040" cy="1783080"/>
          </a:xfrm>
          <a:prstGeom prst="line">
            <a:avLst/>
          </a:prstGeom>
          <a:noFill/>
          <a:ln w="11430">
            <a:solidFill>
              <a:srgbClr val="F59E0B">
                <a:alpha val="42000"/>
              </a:srgbClr>
            </a:solidFill>
            <a:prstDash val="solid"/>
          </a:ln>
        </p:spPr>
      </p:sp>
      <p:sp>
        <p:nvSpPr>
          <p:cNvPr id="12" name="Shape 10"/>
          <p:cNvSpPr/>
          <p:nvPr/>
        </p:nvSpPr>
        <p:spPr>
          <a:xfrm>
            <a:off x="7603236" y="5074920"/>
            <a:ext cx="5623560" cy="1783080"/>
          </a:xfrm>
          <a:prstGeom prst="line">
            <a:avLst/>
          </a:prstGeom>
          <a:noFill/>
          <a:ln w="11430">
            <a:solidFill>
              <a:srgbClr val="F59E0B">
                <a:alpha val="42000"/>
              </a:srgbClr>
            </a:solidFill>
            <a:prstDash val="solid"/>
          </a:ln>
        </p:spPr>
      </p:sp>
      <p:sp>
        <p:nvSpPr>
          <p:cNvPr id="13" name="Shape 11"/>
          <p:cNvSpPr/>
          <p:nvPr/>
        </p:nvSpPr>
        <p:spPr>
          <a:xfrm>
            <a:off x="8106156" y="5074920"/>
            <a:ext cx="7498080" cy="1783080"/>
          </a:xfrm>
          <a:prstGeom prst="line">
            <a:avLst/>
          </a:prstGeom>
          <a:noFill/>
          <a:ln w="11430">
            <a:solidFill>
              <a:srgbClr val="F59E0B">
                <a:alpha val="42000"/>
              </a:srgbClr>
            </a:solidFill>
            <a:prstDash val="solid"/>
          </a:ln>
        </p:spPr>
      </p:sp>
      <p:sp>
        <p:nvSpPr>
          <p:cNvPr id="14" name="Shape 12"/>
          <p:cNvSpPr/>
          <p:nvPr/>
        </p:nvSpPr>
        <p:spPr>
          <a:xfrm>
            <a:off x="8609076" y="5074920"/>
            <a:ext cx="9372600" cy="1783080"/>
          </a:xfrm>
          <a:prstGeom prst="line">
            <a:avLst/>
          </a:prstGeom>
          <a:noFill/>
          <a:ln w="11430">
            <a:solidFill>
              <a:srgbClr val="F59E0B">
                <a:alpha val="42000"/>
              </a:srgbClr>
            </a:solidFill>
            <a:prstDash val="solid"/>
          </a:ln>
        </p:spPr>
      </p:sp>
      <p:sp>
        <p:nvSpPr>
          <p:cNvPr id="15" name="Shape 13"/>
          <p:cNvSpPr/>
          <p:nvPr/>
        </p:nvSpPr>
        <p:spPr>
          <a:xfrm>
            <a:off x="9111996" y="5074920"/>
            <a:ext cx="11247120" cy="1783080"/>
          </a:xfrm>
          <a:prstGeom prst="line">
            <a:avLst/>
          </a:prstGeom>
          <a:noFill/>
          <a:ln w="11430">
            <a:solidFill>
              <a:srgbClr val="F59E0B">
                <a:alpha val="42000"/>
              </a:srgbClr>
            </a:solidFill>
            <a:prstDash val="solid"/>
          </a:ln>
        </p:spPr>
      </p:sp>
      <p:sp>
        <p:nvSpPr>
          <p:cNvPr id="16" name="Shape 14"/>
          <p:cNvSpPr/>
          <p:nvPr/>
        </p:nvSpPr>
        <p:spPr>
          <a:xfrm>
            <a:off x="0" y="5202936"/>
            <a:ext cx="12188952" cy="0"/>
          </a:xfrm>
          <a:prstGeom prst="line">
            <a:avLst/>
          </a:prstGeom>
          <a:noFill/>
          <a:ln w="11430">
            <a:solidFill>
              <a:srgbClr val="F59E0B">
                <a:alpha val="32000"/>
              </a:srgbClr>
            </a:solidFill>
            <a:prstDash val="solid"/>
          </a:ln>
        </p:spPr>
      </p:sp>
      <p:sp>
        <p:nvSpPr>
          <p:cNvPr id="17" name="Shape 15"/>
          <p:cNvSpPr/>
          <p:nvPr/>
        </p:nvSpPr>
        <p:spPr>
          <a:xfrm>
            <a:off x="0" y="5385816"/>
            <a:ext cx="12188952" cy="0"/>
          </a:xfrm>
          <a:prstGeom prst="line">
            <a:avLst/>
          </a:prstGeom>
          <a:noFill/>
          <a:ln w="11430">
            <a:solidFill>
              <a:srgbClr val="F59E0B">
                <a:alpha val="32000"/>
              </a:srgbClr>
            </a:solidFill>
            <a:prstDash val="solid"/>
          </a:ln>
        </p:spPr>
      </p:sp>
      <p:sp>
        <p:nvSpPr>
          <p:cNvPr id="18" name="Shape 16"/>
          <p:cNvSpPr/>
          <p:nvPr/>
        </p:nvSpPr>
        <p:spPr>
          <a:xfrm>
            <a:off x="0" y="5641848"/>
            <a:ext cx="12188952" cy="0"/>
          </a:xfrm>
          <a:prstGeom prst="line">
            <a:avLst/>
          </a:prstGeom>
          <a:noFill/>
          <a:ln w="11430">
            <a:solidFill>
              <a:srgbClr val="F59E0B">
                <a:alpha val="32000"/>
              </a:srgbClr>
            </a:solidFill>
            <a:prstDash val="solid"/>
          </a:ln>
        </p:spPr>
      </p:sp>
      <p:sp>
        <p:nvSpPr>
          <p:cNvPr id="19" name="Shape 17"/>
          <p:cNvSpPr/>
          <p:nvPr/>
        </p:nvSpPr>
        <p:spPr>
          <a:xfrm>
            <a:off x="0" y="5989320"/>
            <a:ext cx="12188952" cy="0"/>
          </a:xfrm>
          <a:prstGeom prst="line">
            <a:avLst/>
          </a:prstGeom>
          <a:noFill/>
          <a:ln w="11430">
            <a:solidFill>
              <a:srgbClr val="F59E0B">
                <a:alpha val="32000"/>
              </a:srgbClr>
            </a:solidFill>
            <a:prstDash val="solid"/>
          </a:ln>
        </p:spPr>
      </p:sp>
      <p:sp>
        <p:nvSpPr>
          <p:cNvPr id="20" name="Shape 18"/>
          <p:cNvSpPr/>
          <p:nvPr/>
        </p:nvSpPr>
        <p:spPr>
          <a:xfrm>
            <a:off x="0" y="6446520"/>
            <a:ext cx="12188952" cy="0"/>
          </a:xfrm>
          <a:prstGeom prst="line">
            <a:avLst/>
          </a:prstGeom>
          <a:noFill/>
          <a:ln w="11430">
            <a:solidFill>
              <a:srgbClr val="F59E0B">
                <a:alpha val="32000"/>
              </a:srgbClr>
            </a:solidFill>
            <a:prstDash val="solid"/>
          </a:ln>
        </p:spPr>
      </p:sp>
      <p:sp>
        <p:nvSpPr>
          <p:cNvPr id="21" name="Shape 19"/>
          <p:cNvSpPr/>
          <p:nvPr/>
        </p:nvSpPr>
        <p:spPr>
          <a:xfrm>
            <a:off x="0" y="5074920"/>
            <a:ext cx="12188952" cy="0"/>
          </a:xfrm>
          <a:prstGeom prst="line">
            <a:avLst/>
          </a:prstGeom>
          <a:noFill/>
          <a:ln w="20320">
            <a:solidFill>
              <a:srgbClr val="F59E0B">
                <a:alpha val="78000"/>
              </a:srgbClr>
            </a:solidFill>
            <a:prstDash val="solid"/>
          </a:ln>
        </p:spPr>
      </p:sp>
      <p:sp>
        <p:nvSpPr>
          <p:cNvPr id="22" name="Text 20"/>
          <p:cNvSpPr/>
          <p:nvPr/>
        </p:nvSpPr>
        <p:spPr>
          <a:xfrm>
            <a:off x="0" y="4681728"/>
            <a:ext cx="12188952" cy="320040"/>
          </a:xfrm>
          <a:prstGeom prst="rect">
            <a:avLst/>
          </a:prstGeom>
          <a:noFill/>
          <a:ln/>
        </p:spPr>
        <p:txBody>
          <a:bodyPr wrap="square" rtlCol="0" anchor="ctr"/>
          <a:lstStyle/>
          <a:p>
            <a:pPr algn="ctr" indent="0" marL="0">
              <a:buNone/>
            </a:pPr>
            <a:r>
              <a:rPr lang="en-US" sz="1350" i="1" dirty="0">
                <a:solidFill>
                  <a:srgbClr val="E7EDF4"/>
                </a:solidFill>
                <a:latin typeface="Arial" pitchFamily="34" charset="0"/>
                <a:ea typeface="Arial" pitchFamily="34" charset="-122"/>
                <a:cs typeface="Arial" pitchFamily="34" charset="-120"/>
              </a:rPr>
              <a:t>Which technologies will reshape every commodity across ICE · MHEV · PHEV · BEV — and when.</a:t>
            </a:r>
            <a:endParaRPr lang="en-US" sz="1350" dirty="0"/>
          </a:p>
        </p:txBody>
      </p:sp>
      <p:sp>
        <p:nvSpPr>
          <p:cNvPr id="23" name="Text 21"/>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9FB2C6"/>
                </a:solidFill>
                <a:latin typeface="Courier New" pitchFamily="34" charset="0"/>
                <a:ea typeface="Courier New" pitchFamily="34" charset="-122"/>
                <a:cs typeface="Courier New" pitchFamily="34" charset="-120"/>
              </a:rPr>
              <a:t>Avinash Bhosale   ·   Cost Engineering   ·   July 2026</a:t>
            </a:r>
            <a:endParaRPr lang="en-US" sz="1050" dirty="0"/>
          </a:p>
        </p:txBody>
      </p:sp>
      <p:sp>
        <p:nvSpPr>
          <p:cNvPr id="24" name="Shape 22"/>
          <p:cNvSpPr/>
          <p:nvPr/>
        </p:nvSpPr>
        <p:spPr>
          <a:xfrm>
            <a:off x="5253228" y="502920"/>
            <a:ext cx="1682496" cy="1682496"/>
          </a:xfrm>
          <a:prstGeom prst="ellipse">
            <a:avLst/>
          </a:prstGeom>
          <a:ln w="12700">
            <a:solidFill>
              <a:srgbClr val="0D9488">
                <a:alpha val="65000"/>
              </a:srgbClr>
            </a:solidFill>
            <a:prstDash val="dash"/>
          </a:ln>
        </p:spPr>
      </p:sp>
      <p:sp>
        <p:nvSpPr>
          <p:cNvPr id="25" name="Shape 23"/>
          <p:cNvSpPr/>
          <p:nvPr/>
        </p:nvSpPr>
        <p:spPr>
          <a:xfrm>
            <a:off x="5490972" y="740664"/>
            <a:ext cx="1207008" cy="1207008"/>
          </a:xfrm>
          <a:prstGeom prst="ellipse">
            <a:avLst/>
          </a:prstGeom>
          <a:solidFill>
            <a:srgbClr val="0D1F33"/>
          </a:solidFill>
          <a:ln/>
        </p:spPr>
      </p:sp>
      <p:pic>
        <p:nvPicPr>
          <p:cNvPr id="26" name="Image 0" descr="preencoded.png">    </p:cNvPr>
          <p:cNvPicPr>
            <a:picLocks noChangeAspect="1"/>
          </p:cNvPicPr>
          <p:nvPr/>
        </p:nvPicPr>
        <p:blipFill>
          <a:blip r:embed="rId1"/>
          <a:stretch>
            <a:fillRect/>
          </a:stretch>
        </p:blipFill>
        <p:spPr>
          <a:xfrm>
            <a:off x="5756148" y="1005840"/>
            <a:ext cx="676656" cy="676656"/>
          </a:xfrm>
          <a:prstGeom prst="rect">
            <a:avLst/>
          </a:prstGeom>
        </p:spPr>
      </p:pic>
      <p:sp>
        <p:nvSpPr>
          <p:cNvPr id="27" name="Shape 24"/>
          <p:cNvSpPr/>
          <p:nvPr/>
        </p:nvSpPr>
        <p:spPr>
          <a:xfrm>
            <a:off x="6825996" y="603504"/>
            <a:ext cx="91440" cy="91440"/>
          </a:xfrm>
          <a:prstGeom prst="ellipse">
            <a:avLst/>
          </a:prstGeom>
          <a:solidFill>
            <a:srgbClr val="0D9488"/>
          </a:solidFill>
          <a:ln/>
        </p:spPr>
      </p:sp>
      <p:sp>
        <p:nvSpPr>
          <p:cNvPr id="28" name="Text 25"/>
          <p:cNvSpPr/>
          <p:nvPr/>
        </p:nvSpPr>
        <p:spPr>
          <a:xfrm>
            <a:off x="0" y="2450592"/>
            <a:ext cx="12188952" cy="274320"/>
          </a:xfrm>
          <a:prstGeom prst="rect">
            <a:avLst/>
          </a:prstGeom>
          <a:noFill/>
          <a:ln/>
        </p:spPr>
        <p:txBody>
          <a:bodyPr wrap="square" rtlCol="0" anchor="ctr"/>
          <a:lstStyle/>
          <a:p>
            <a:pPr algn="ctr" indent="0" marL="0">
              <a:buNone/>
            </a:pPr>
            <a:r>
              <a:rPr lang="en-US" sz="1150" b="1" spc="250" kern="0" dirty="0">
                <a:solidFill>
                  <a:srgbClr val="0D9488"/>
                </a:solidFill>
                <a:latin typeface="Courier New" pitchFamily="34" charset="0"/>
                <a:ea typeface="Courier New" pitchFamily="34" charset="-122"/>
                <a:cs typeface="Courier New" pitchFamily="34" charset="-120"/>
              </a:rPr>
              <a:t>PART OF THE BRAINSPARK AI COST-ENGINEERING PLATFORM</a:t>
            </a:r>
            <a:endParaRPr lang="en-US" sz="1150" dirty="0"/>
          </a:p>
        </p:txBody>
      </p:sp>
      <p:sp>
        <p:nvSpPr>
          <p:cNvPr id="29" name="Text 26"/>
          <p:cNvSpPr/>
          <p:nvPr/>
        </p:nvSpPr>
        <p:spPr>
          <a:xfrm>
            <a:off x="0" y="2743200"/>
            <a:ext cx="12188952" cy="868680"/>
          </a:xfrm>
          <a:prstGeom prst="rect">
            <a:avLst/>
          </a:prstGeom>
          <a:noFill/>
          <a:ln/>
        </p:spPr>
        <p:txBody>
          <a:bodyPr wrap="square" rtlCol="0" anchor="ctr"/>
          <a:lstStyle/>
          <a:p>
            <a:pPr algn="ctr" indent="0" marL="0">
              <a:buNone/>
            </a:pPr>
            <a:r>
              <a:rPr lang="en-US" sz="5400" b="1" dirty="0">
                <a:solidFill>
                  <a:srgbClr val="0D1F33"/>
                </a:solidFill>
                <a:latin typeface="Arial" pitchFamily="34" charset="0"/>
                <a:ea typeface="Arial" pitchFamily="34" charset="-122"/>
                <a:cs typeface="Arial" pitchFamily="34" charset="-120"/>
              </a:rPr>
              <a:t>BrainSpark </a:t>
            </a:r>
            <a:pPr algn="ctr" indent="0" marL="0">
              <a:buNone/>
            </a:pPr>
            <a:r>
              <a:rPr lang="en-US" sz="5400" b="1" dirty="0">
                <a:solidFill>
                  <a:srgbClr val="D97706"/>
                </a:solidFill>
                <a:latin typeface="Arial" pitchFamily="34" charset="0"/>
                <a:ea typeface="Arial" pitchFamily="34" charset="-122"/>
                <a:cs typeface="Arial" pitchFamily="34" charset="-120"/>
              </a:rPr>
              <a:t>Horizon</a:t>
            </a:r>
            <a:endParaRPr lang="en-US" sz="5400" dirty="0"/>
          </a:p>
        </p:txBody>
      </p:sp>
      <p:sp>
        <p:nvSpPr>
          <p:cNvPr id="30" name="Text 27"/>
          <p:cNvSpPr/>
          <p:nvPr/>
        </p:nvSpPr>
        <p:spPr>
          <a:xfrm>
            <a:off x="0" y="3639312"/>
            <a:ext cx="12188952" cy="411480"/>
          </a:xfrm>
          <a:prstGeom prst="rect">
            <a:avLst/>
          </a:prstGeom>
          <a:noFill/>
          <a:ln/>
        </p:spPr>
        <p:txBody>
          <a:bodyPr wrap="square" rtlCol="0" anchor="ctr"/>
          <a:lstStyle/>
          <a:p>
            <a:pPr algn="ctr" indent="0" marL="0">
              <a:buNone/>
            </a:pPr>
            <a:r>
              <a:rPr lang="en-US" sz="2000" b="1" dirty="0">
                <a:solidFill>
                  <a:srgbClr val="5B6B7F"/>
                </a:solidFill>
                <a:latin typeface="Arial" pitchFamily="34" charset="0"/>
                <a:ea typeface="Arial" pitchFamily="34" charset="-122"/>
                <a:cs typeface="Arial" pitchFamily="34" charset="-120"/>
              </a:rPr>
              <a:t>Automotive Technology Foresight Engine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212080" cy="6858000"/>
          </a:xfrm>
          <a:prstGeom prst="rect">
            <a:avLst/>
          </a:prstGeom>
          <a:solidFill>
            <a:srgbClr val="0D1F33"/>
          </a:solidFill>
          <a:ln/>
        </p:spPr>
      </p:sp>
      <p:sp>
        <p:nvSpPr>
          <p:cNvPr id="3" name="Shape 1"/>
          <p:cNvSpPr/>
          <p:nvPr/>
        </p:nvSpPr>
        <p:spPr>
          <a:xfrm>
            <a:off x="457200" y="457200"/>
            <a:ext cx="137160" cy="0"/>
          </a:xfrm>
          <a:prstGeom prst="line">
            <a:avLst/>
          </a:prstGeom>
          <a:noFill/>
          <a:ln w="19050">
            <a:solidFill>
              <a:srgbClr val="F59E0B"/>
            </a:solidFill>
            <a:prstDash val="solid"/>
          </a:ln>
        </p:spPr>
      </p:sp>
      <p:sp>
        <p:nvSpPr>
          <p:cNvPr id="4" name="Shape 2"/>
          <p:cNvSpPr/>
          <p:nvPr/>
        </p:nvSpPr>
        <p:spPr>
          <a:xfrm>
            <a:off x="457200" y="457200"/>
            <a:ext cx="0" cy="137160"/>
          </a:xfrm>
          <a:prstGeom prst="line">
            <a:avLst/>
          </a:prstGeom>
          <a:noFill/>
          <a:ln w="19050">
            <a:solidFill>
              <a:srgbClr val="F59E0B"/>
            </a:solidFill>
            <a:prstDash val="solid"/>
          </a:ln>
        </p:spPr>
      </p:sp>
      <p:sp>
        <p:nvSpPr>
          <p:cNvPr id="5" name="Shape 3"/>
          <p:cNvSpPr/>
          <p:nvPr/>
        </p:nvSpPr>
        <p:spPr>
          <a:xfrm>
            <a:off x="4663440" y="6400800"/>
            <a:ext cx="137160" cy="0"/>
          </a:xfrm>
          <a:prstGeom prst="line">
            <a:avLst/>
          </a:prstGeom>
          <a:noFill/>
          <a:ln w="19050">
            <a:solidFill>
              <a:srgbClr val="F59E0B"/>
            </a:solidFill>
            <a:prstDash val="solid"/>
          </a:ln>
        </p:spPr>
      </p:sp>
      <p:sp>
        <p:nvSpPr>
          <p:cNvPr id="6" name="Shape 4"/>
          <p:cNvSpPr/>
          <p:nvPr/>
        </p:nvSpPr>
        <p:spPr>
          <a:xfrm>
            <a:off x="4800600" y="6263640"/>
            <a:ext cx="0" cy="137160"/>
          </a:xfrm>
          <a:prstGeom prst="line">
            <a:avLst/>
          </a:prstGeom>
          <a:no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777240" y="777240"/>
            <a:ext cx="457200" cy="457200"/>
          </a:xfrm>
          <a:prstGeom prst="rect">
            <a:avLst/>
          </a:prstGeom>
        </p:spPr>
      </p:pic>
      <p:sp>
        <p:nvSpPr>
          <p:cNvPr id="8" name="Text 5"/>
          <p:cNvSpPr/>
          <p:nvPr/>
        </p:nvSpPr>
        <p:spPr>
          <a:xfrm>
            <a:off x="777240" y="1371600"/>
            <a:ext cx="3840480" cy="4114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Horizon sits</a:t>
            </a:r>
            <a:endParaRPr lang="en-US" sz="2400" dirty="0"/>
          </a:p>
        </p:txBody>
      </p:sp>
      <p:sp>
        <p:nvSpPr>
          <p:cNvPr id="9" name="Shape 6"/>
          <p:cNvSpPr/>
          <p:nvPr/>
        </p:nvSpPr>
        <p:spPr>
          <a:xfrm>
            <a:off x="777240" y="2029968"/>
            <a:ext cx="128016" cy="128016"/>
          </a:xfrm>
          <a:prstGeom prst="ellipse">
            <a:avLst/>
          </a:prstGeom>
          <a:solidFill>
            <a:srgbClr val="F59E0B"/>
          </a:solidFill>
          <a:ln/>
        </p:spPr>
      </p:sp>
      <p:sp>
        <p:nvSpPr>
          <p:cNvPr id="10" name="Text 7"/>
          <p:cNvSpPr/>
          <p:nvPr/>
        </p:nvSpPr>
        <p:spPr>
          <a:xfrm>
            <a:off x="1051560" y="1938528"/>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13 AI tools, one platform</a:t>
            </a:r>
            <a:endParaRPr lang="en-US" sz="1450" dirty="0"/>
          </a:p>
        </p:txBody>
      </p:sp>
      <p:sp>
        <p:nvSpPr>
          <p:cNvPr id="11" name="Text 8"/>
          <p:cNvSpPr/>
          <p:nvPr/>
        </p:nvSpPr>
        <p:spPr>
          <a:xfrm>
            <a:off x="1051560" y="2212848"/>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BrainSpark already generates cost ideas, should-costs parts, reads CAD and PCBs, and tracks savings to realisation.</a:t>
            </a:r>
            <a:endParaRPr lang="en-US" sz="1050" dirty="0"/>
          </a:p>
        </p:txBody>
      </p:sp>
      <p:sp>
        <p:nvSpPr>
          <p:cNvPr id="12" name="Shape 9"/>
          <p:cNvSpPr/>
          <p:nvPr/>
        </p:nvSpPr>
        <p:spPr>
          <a:xfrm>
            <a:off x="777240" y="3200400"/>
            <a:ext cx="128016" cy="128016"/>
          </a:xfrm>
          <a:prstGeom prst="ellipse">
            <a:avLst/>
          </a:prstGeom>
          <a:solidFill>
            <a:srgbClr val="F59E0B"/>
          </a:solidFill>
          <a:ln/>
        </p:spPr>
      </p:sp>
      <p:sp>
        <p:nvSpPr>
          <p:cNvPr id="13" name="Text 10"/>
          <p:cNvSpPr/>
          <p:nvPr/>
        </p:nvSpPr>
        <p:spPr>
          <a:xfrm>
            <a:off x="1051560" y="3108960"/>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One governing rule</a:t>
            </a:r>
            <a:endParaRPr lang="en-US" sz="1450" dirty="0"/>
          </a:p>
        </p:txBody>
      </p:sp>
      <p:sp>
        <p:nvSpPr>
          <p:cNvPr id="14" name="Text 11"/>
          <p:cNvSpPr/>
          <p:nvPr/>
        </p:nvSpPr>
        <p:spPr>
          <a:xfrm>
            <a:off x="1051560" y="3383280"/>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Math for numbers, AI for judgment. Every figure comes from a deterministic engine — the AI proposes and explains, it never invents a number.</a:t>
            </a:r>
            <a:endParaRPr lang="en-US" sz="1050" dirty="0"/>
          </a:p>
        </p:txBody>
      </p:sp>
      <p:sp>
        <p:nvSpPr>
          <p:cNvPr id="15" name="Shape 12"/>
          <p:cNvSpPr/>
          <p:nvPr/>
        </p:nvSpPr>
        <p:spPr>
          <a:xfrm>
            <a:off x="777240" y="4370832"/>
            <a:ext cx="128016" cy="128016"/>
          </a:xfrm>
          <a:prstGeom prst="ellipse">
            <a:avLst/>
          </a:prstGeom>
          <a:solidFill>
            <a:srgbClr val="F59E0B"/>
          </a:solidFill>
          <a:ln/>
        </p:spPr>
      </p:sp>
      <p:sp>
        <p:nvSpPr>
          <p:cNvPr id="16" name="Text 13"/>
          <p:cNvSpPr/>
          <p:nvPr/>
        </p:nvSpPr>
        <p:spPr>
          <a:xfrm>
            <a:off x="1051560" y="4279392"/>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Horizon: the newest module</a:t>
            </a:r>
            <a:endParaRPr lang="en-US" sz="1450" dirty="0"/>
          </a:p>
        </p:txBody>
      </p:sp>
      <p:sp>
        <p:nvSpPr>
          <p:cNvPr id="17" name="Text 14"/>
          <p:cNvSpPr/>
          <p:nvPr/>
        </p:nvSpPr>
        <p:spPr>
          <a:xfrm>
            <a:off x="1051560" y="4553712"/>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Extends the platform from "what does this part cost today?" to "what will this part BECOME — and when?"</a:t>
            </a:r>
            <a:endParaRPr lang="en-US" sz="1050" dirty="0"/>
          </a:p>
        </p:txBody>
      </p:sp>
      <p:sp>
        <p:nvSpPr>
          <p:cNvPr id="18" name="Text 15"/>
          <p:cNvSpPr/>
          <p:nvPr/>
        </p:nvSpPr>
        <p:spPr>
          <a:xfrm>
            <a:off x="777240" y="5806440"/>
            <a:ext cx="3931920" cy="457200"/>
          </a:xfrm>
          <a:prstGeom prst="rect">
            <a:avLst/>
          </a:prstGeom>
          <a:noFill/>
          <a:ln/>
        </p:spPr>
        <p:txBody>
          <a:bodyPr wrap="square" lIns="0" tIns="0" rIns="0" bIns="0" rtlCol="0" anchor="ctr"/>
          <a:lstStyle/>
          <a:p>
            <a:pPr indent="0" marL="0">
              <a:buNone/>
            </a:pPr>
            <a:r>
              <a:rPr lang="en-US" sz="1050" b="1" dirty="0">
                <a:solidFill>
                  <a:srgbClr val="F59E0B"/>
                </a:solidFill>
                <a:latin typeface="Courier New" pitchFamily="34" charset="0"/>
                <a:ea typeface="Courier New" pitchFamily="34" charset="-122"/>
                <a:cs typeface="Courier New" pitchFamily="34" charset="-120"/>
              </a:rPr>
              <a:t>139 technologies · 9 commodities · 4 powertrains · audited 07/2026</a:t>
            </a:r>
            <a:endParaRPr lang="en-US" sz="1050" dirty="0"/>
          </a:p>
        </p:txBody>
      </p:sp>
      <p:sp>
        <p:nvSpPr>
          <p:cNvPr id="19" name="Text 16"/>
          <p:cNvSpPr/>
          <p:nvPr/>
        </p:nvSpPr>
        <p:spPr>
          <a:xfrm>
            <a:off x="5760720" y="566928"/>
            <a:ext cx="4572000" cy="457200"/>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Agenda</a:t>
            </a:r>
            <a:endParaRPr lang="en-US" sz="2800" dirty="0"/>
          </a:p>
        </p:txBody>
      </p:sp>
      <p:sp>
        <p:nvSpPr>
          <p:cNvPr id="20" name="Shape 17"/>
          <p:cNvSpPr/>
          <p:nvPr/>
        </p:nvSpPr>
        <p:spPr>
          <a:xfrm>
            <a:off x="5760720" y="1325880"/>
            <a:ext cx="475488" cy="475488"/>
          </a:xfrm>
          <a:prstGeom prst="roundRect">
            <a:avLst>
              <a:gd name="adj" fmla="val 19231"/>
            </a:avLst>
          </a:prstGeom>
          <a:solidFill>
            <a:srgbClr val="0D1F33"/>
          </a:solidFill>
          <a:ln/>
        </p:spPr>
      </p:sp>
      <p:sp>
        <p:nvSpPr>
          <p:cNvPr id="21" name="Text 18"/>
          <p:cNvSpPr/>
          <p:nvPr/>
        </p:nvSpPr>
        <p:spPr>
          <a:xfrm>
            <a:off x="5760720" y="1325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01</a:t>
            </a:r>
            <a:endParaRPr lang="en-US" sz="1300" dirty="0"/>
          </a:p>
        </p:txBody>
      </p:sp>
      <p:sp>
        <p:nvSpPr>
          <p:cNvPr id="22" name="Text 19"/>
          <p:cNvSpPr/>
          <p:nvPr/>
        </p:nvSpPr>
        <p:spPr>
          <a:xfrm>
            <a:off x="6446520" y="1408176"/>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Why a foresight tool — the gap it closes</a:t>
            </a:r>
            <a:endParaRPr lang="en-US" sz="1400" dirty="0"/>
          </a:p>
        </p:txBody>
      </p:sp>
      <p:sp>
        <p:nvSpPr>
          <p:cNvPr id="23" name="Shape 20"/>
          <p:cNvSpPr/>
          <p:nvPr/>
        </p:nvSpPr>
        <p:spPr>
          <a:xfrm>
            <a:off x="5760720" y="2075688"/>
            <a:ext cx="475488" cy="475488"/>
          </a:xfrm>
          <a:prstGeom prst="roundRect">
            <a:avLst>
              <a:gd name="adj" fmla="val 19231"/>
            </a:avLst>
          </a:prstGeom>
          <a:solidFill>
            <a:srgbClr val="0D1F33"/>
          </a:solidFill>
          <a:ln/>
        </p:spPr>
      </p:sp>
      <p:sp>
        <p:nvSpPr>
          <p:cNvPr id="24" name="Text 21"/>
          <p:cNvSpPr/>
          <p:nvPr/>
        </p:nvSpPr>
        <p:spPr>
          <a:xfrm>
            <a:off x="5760720" y="2075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02</a:t>
            </a:r>
            <a:endParaRPr lang="en-US" sz="1300" dirty="0"/>
          </a:p>
        </p:txBody>
      </p:sp>
      <p:sp>
        <p:nvSpPr>
          <p:cNvPr id="25" name="Text 22"/>
          <p:cNvSpPr/>
          <p:nvPr/>
        </p:nvSpPr>
        <p:spPr>
          <a:xfrm>
            <a:off x="6446520" y="215798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How the engine works (and why it can be trusted)</a:t>
            </a:r>
            <a:endParaRPr lang="en-US" sz="1400" dirty="0"/>
          </a:p>
        </p:txBody>
      </p:sp>
      <p:sp>
        <p:nvSpPr>
          <p:cNvPr id="26" name="Shape 23"/>
          <p:cNvSpPr/>
          <p:nvPr/>
        </p:nvSpPr>
        <p:spPr>
          <a:xfrm>
            <a:off x="5760720" y="2825496"/>
            <a:ext cx="475488" cy="475488"/>
          </a:xfrm>
          <a:prstGeom prst="roundRect">
            <a:avLst>
              <a:gd name="adj" fmla="val 19231"/>
            </a:avLst>
          </a:prstGeom>
          <a:solidFill>
            <a:srgbClr val="0D1F33"/>
          </a:solidFill>
          <a:ln/>
        </p:spPr>
      </p:sp>
      <p:sp>
        <p:nvSpPr>
          <p:cNvPr id="27" name="Text 24"/>
          <p:cNvSpPr/>
          <p:nvPr/>
        </p:nvSpPr>
        <p:spPr>
          <a:xfrm>
            <a:off x="5760720" y="282549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03</a:t>
            </a:r>
            <a:endParaRPr lang="en-US" sz="1300" dirty="0"/>
          </a:p>
        </p:txBody>
      </p:sp>
      <p:sp>
        <p:nvSpPr>
          <p:cNvPr id="28" name="Text 25"/>
          <p:cNvSpPr/>
          <p:nvPr/>
        </p:nvSpPr>
        <p:spPr>
          <a:xfrm>
            <a:off x="6446520" y="2907792"/>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Not a typical AI chat — the difference</a:t>
            </a:r>
            <a:endParaRPr lang="en-US" sz="1400" dirty="0"/>
          </a:p>
        </p:txBody>
      </p:sp>
      <p:sp>
        <p:nvSpPr>
          <p:cNvPr id="29" name="Shape 26"/>
          <p:cNvSpPr/>
          <p:nvPr/>
        </p:nvSpPr>
        <p:spPr>
          <a:xfrm>
            <a:off x="5760720" y="3575304"/>
            <a:ext cx="475488" cy="475488"/>
          </a:xfrm>
          <a:prstGeom prst="roundRect">
            <a:avLst>
              <a:gd name="adj" fmla="val 19231"/>
            </a:avLst>
          </a:prstGeom>
          <a:solidFill>
            <a:srgbClr val="0D1F33"/>
          </a:solidFill>
          <a:ln/>
        </p:spPr>
      </p:sp>
      <p:sp>
        <p:nvSpPr>
          <p:cNvPr id="30" name="Text 27"/>
          <p:cNvSpPr/>
          <p:nvPr/>
        </p:nvSpPr>
        <p:spPr>
          <a:xfrm>
            <a:off x="5760720" y="35753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04</a:t>
            </a:r>
            <a:endParaRPr lang="en-US" sz="1300" dirty="0"/>
          </a:p>
        </p:txBody>
      </p:sp>
      <p:sp>
        <p:nvSpPr>
          <p:cNvPr id="31" name="Text 28"/>
          <p:cNvSpPr/>
          <p:nvPr/>
        </p:nvSpPr>
        <p:spPr>
          <a:xfrm>
            <a:off x="6446520" y="3657600"/>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360° coverage · three segment lenses</a:t>
            </a:r>
            <a:endParaRPr lang="en-US" sz="1400" dirty="0"/>
          </a:p>
        </p:txBody>
      </p:sp>
      <p:sp>
        <p:nvSpPr>
          <p:cNvPr id="32" name="Shape 29"/>
          <p:cNvSpPr/>
          <p:nvPr/>
        </p:nvSpPr>
        <p:spPr>
          <a:xfrm>
            <a:off x="5760720" y="4325112"/>
            <a:ext cx="475488" cy="475488"/>
          </a:xfrm>
          <a:prstGeom prst="roundRect">
            <a:avLst>
              <a:gd name="adj" fmla="val 19231"/>
            </a:avLst>
          </a:prstGeom>
          <a:solidFill>
            <a:srgbClr val="0D1F33"/>
          </a:solidFill>
          <a:ln/>
        </p:spPr>
      </p:sp>
      <p:sp>
        <p:nvSpPr>
          <p:cNvPr id="33" name="Text 30"/>
          <p:cNvSpPr/>
          <p:nvPr/>
        </p:nvSpPr>
        <p:spPr>
          <a:xfrm>
            <a:off x="576072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05</a:t>
            </a:r>
            <a:endParaRPr lang="en-US" sz="1300" dirty="0"/>
          </a:p>
        </p:txBody>
      </p:sp>
      <p:sp>
        <p:nvSpPr>
          <p:cNvPr id="34" name="Text 31"/>
          <p:cNvSpPr/>
          <p:nvPr/>
        </p:nvSpPr>
        <p:spPr>
          <a:xfrm>
            <a:off x="6446520" y="4407408"/>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Regulatory radar &amp; competitor benchmarks</a:t>
            </a:r>
            <a:endParaRPr lang="en-US" sz="1400" dirty="0"/>
          </a:p>
        </p:txBody>
      </p:sp>
      <p:sp>
        <p:nvSpPr>
          <p:cNvPr id="35" name="Shape 32"/>
          <p:cNvSpPr/>
          <p:nvPr/>
        </p:nvSpPr>
        <p:spPr>
          <a:xfrm>
            <a:off x="5760720" y="5074920"/>
            <a:ext cx="475488" cy="475488"/>
          </a:xfrm>
          <a:prstGeom prst="roundRect">
            <a:avLst>
              <a:gd name="adj" fmla="val 19231"/>
            </a:avLst>
          </a:prstGeom>
          <a:solidFill>
            <a:srgbClr val="F59E0B"/>
          </a:solidFill>
          <a:ln/>
        </p:spPr>
      </p:sp>
      <p:sp>
        <p:nvSpPr>
          <p:cNvPr id="36" name="Text 33"/>
          <p:cNvSpPr/>
          <p:nvPr/>
        </p:nvSpPr>
        <p:spPr>
          <a:xfrm>
            <a:off x="5760720" y="5074920"/>
            <a:ext cx="475488" cy="475488"/>
          </a:xfrm>
          <a:prstGeom prst="rect">
            <a:avLst/>
          </a:prstGeom>
          <a:noFill/>
          <a:ln/>
        </p:spPr>
        <p:txBody>
          <a:bodyPr wrap="square" lIns="0" tIns="0" rIns="0" bIns="0" rtlCol="0" anchor="ctr"/>
          <a:lstStyle/>
          <a:p>
            <a:pPr algn="ctr" indent="0" marL="0">
              <a:buNone/>
            </a:pPr>
            <a:r>
              <a:rPr lang="en-US" sz="1300" b="1" dirty="0">
                <a:solidFill>
                  <a:srgbClr val="0D1F33"/>
                </a:solidFill>
                <a:latin typeface="Courier New" pitchFamily="34" charset="0"/>
                <a:ea typeface="Courier New" pitchFamily="34" charset="-122"/>
                <a:cs typeface="Courier New" pitchFamily="34" charset="-120"/>
              </a:rPr>
              <a:t>06</a:t>
            </a:r>
            <a:endParaRPr lang="en-US" sz="1300" dirty="0"/>
          </a:p>
        </p:txBody>
      </p:sp>
      <p:sp>
        <p:nvSpPr>
          <p:cNvPr id="37" name="Text 34"/>
          <p:cNvSpPr/>
          <p:nvPr/>
        </p:nvSpPr>
        <p:spPr>
          <a:xfrm>
            <a:off x="6446520" y="5157216"/>
            <a:ext cx="5212080" cy="347472"/>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Live example: BEV HV battery</a:t>
            </a:r>
            <a:endParaRPr lang="en-US" sz="1400" dirty="0"/>
          </a:p>
        </p:txBody>
      </p:sp>
      <p:sp>
        <p:nvSpPr>
          <p:cNvPr id="38" name="Shape 35"/>
          <p:cNvSpPr/>
          <p:nvPr/>
        </p:nvSpPr>
        <p:spPr>
          <a:xfrm>
            <a:off x="5760720" y="5824728"/>
            <a:ext cx="475488" cy="475488"/>
          </a:xfrm>
          <a:prstGeom prst="roundRect">
            <a:avLst>
              <a:gd name="adj" fmla="val 19231"/>
            </a:avLst>
          </a:prstGeom>
          <a:solidFill>
            <a:srgbClr val="0D1F33"/>
          </a:solidFill>
          <a:ln/>
        </p:spPr>
      </p:sp>
      <p:sp>
        <p:nvSpPr>
          <p:cNvPr id="39" name="Text 36"/>
          <p:cNvSpPr/>
          <p:nvPr/>
        </p:nvSpPr>
        <p:spPr>
          <a:xfrm>
            <a:off x="5760720" y="582472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07</a:t>
            </a:r>
            <a:endParaRPr lang="en-US" sz="1300" dirty="0"/>
          </a:p>
        </p:txBody>
      </p:sp>
      <p:sp>
        <p:nvSpPr>
          <p:cNvPr id="40" name="Text 37"/>
          <p:cNvSpPr/>
          <p:nvPr/>
        </p:nvSpPr>
        <p:spPr>
          <a:xfrm>
            <a:off x="6446520" y="590702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Business value · evidence · road ahead</a:t>
            </a:r>
            <a:endParaRPr lang="en-US" sz="1400" dirty="0"/>
          </a:p>
        </p:txBody>
      </p:sp>
      <p:sp>
        <p:nvSpPr>
          <p:cNvPr id="41" name="Text 3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2/15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622146" cy="329184"/>
          </a:xfrm>
          <a:prstGeom prst="roundRect">
            <a:avLst>
              <a:gd name="adj" fmla="val 50000"/>
            </a:avLst>
          </a:prstGeom>
          <a:solidFill>
            <a:srgbClr val="0D1F33"/>
          </a:solidFill>
          <a:ln/>
        </p:spPr>
      </p:sp>
      <p:sp>
        <p:nvSpPr>
          <p:cNvPr id="3" name="Text 1"/>
          <p:cNvSpPr/>
          <p:nvPr/>
        </p:nvSpPr>
        <p:spPr>
          <a:xfrm>
            <a:off x="502920" y="347472"/>
            <a:ext cx="162214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WHY THIS TOOL</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We make 7-year decisions on today’s technology assumptions</a:t>
            </a:r>
            <a:endParaRPr lang="en-US" sz="2800" dirty="0"/>
          </a:p>
        </p:txBody>
      </p:sp>
      <p:sp>
        <p:nvSpPr>
          <p:cNvPr id="5" name="Shape 3"/>
          <p:cNvSpPr/>
          <p:nvPr/>
        </p:nvSpPr>
        <p:spPr>
          <a:xfrm>
            <a:off x="502920" y="1600200"/>
            <a:ext cx="566928" cy="566928"/>
          </a:xfrm>
          <a:prstGeom prst="ellipse">
            <a:avLst/>
          </a:prstGeom>
          <a:solidFill>
            <a:srgbClr val="0D1F33"/>
          </a:solidFill>
          <a:ln/>
        </p:spPr>
      </p:sp>
      <p:pic>
        <p:nvPicPr>
          <p:cNvPr id="6" name="Image 0" descr="preencoded.png">    </p:cNvPr>
          <p:cNvPicPr>
            <a:picLocks noChangeAspect="1"/>
          </p:cNvPicPr>
          <p:nvPr/>
        </p:nvPicPr>
        <p:blipFill>
          <a:blip r:embed="rId1"/>
          <a:stretch>
            <a:fillRect/>
          </a:stretch>
        </p:blipFill>
        <p:spPr>
          <a:xfrm>
            <a:off x="633313" y="1730593"/>
            <a:ext cx="306141" cy="306141"/>
          </a:xfrm>
          <a:prstGeom prst="rect">
            <a:avLst/>
          </a:prstGeom>
        </p:spPr>
      </p:pic>
      <p:sp>
        <p:nvSpPr>
          <p:cNvPr id="7" name="Text 4"/>
          <p:cNvSpPr/>
          <p:nvPr/>
        </p:nvSpPr>
        <p:spPr>
          <a:xfrm>
            <a:off x="1234440" y="15819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Sourcing outlives technology</a:t>
            </a:r>
            <a:endParaRPr lang="en-US" sz="1550" dirty="0"/>
          </a:p>
        </p:txBody>
      </p:sp>
      <p:sp>
        <p:nvSpPr>
          <p:cNvPr id="8" name="Text 5"/>
          <p:cNvSpPr/>
          <p:nvPr/>
        </p:nvSpPr>
        <p:spPr>
          <a:xfrm>
            <a:off x="1234440" y="18745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 platform sourced in 2026 runs to 2033+. The cells, motors, brakes and software underneath it will shift two or three times in that window — and the cost base shifts with them.</a:t>
            </a:r>
            <a:endParaRPr lang="en-US" sz="1150" dirty="0"/>
          </a:p>
        </p:txBody>
      </p:sp>
      <p:sp>
        <p:nvSpPr>
          <p:cNvPr id="9" name="Shape 6"/>
          <p:cNvSpPr/>
          <p:nvPr/>
        </p:nvSpPr>
        <p:spPr>
          <a:xfrm>
            <a:off x="502920" y="2971800"/>
            <a:ext cx="566928" cy="566928"/>
          </a:xfrm>
          <a:prstGeom prst="ellipse">
            <a:avLst/>
          </a:prstGeom>
          <a:solidFill>
            <a:srgbClr val="B91C1C"/>
          </a:solidFill>
          <a:ln/>
        </p:spPr>
      </p:sp>
      <p:pic>
        <p:nvPicPr>
          <p:cNvPr id="10" name="Image 1" descr="preencoded.png">    </p:cNvPr>
          <p:cNvPicPr>
            <a:picLocks noChangeAspect="1"/>
          </p:cNvPicPr>
          <p:nvPr/>
        </p:nvPicPr>
        <p:blipFill>
          <a:blip r:embed="rId2"/>
          <a:stretch>
            <a:fillRect/>
          </a:stretch>
        </p:blipFill>
        <p:spPr>
          <a:xfrm>
            <a:off x="633313" y="3102193"/>
            <a:ext cx="306141" cy="306141"/>
          </a:xfrm>
          <a:prstGeom prst="rect">
            <a:avLst/>
          </a:prstGeom>
        </p:spPr>
      </p:pic>
      <p:sp>
        <p:nvSpPr>
          <p:cNvPr id="11" name="Text 7"/>
          <p:cNvSpPr/>
          <p:nvPr/>
        </p:nvSpPr>
        <p:spPr>
          <a:xfrm>
            <a:off x="1234440" y="29535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Today’s answers don’t fit engineering</a:t>
            </a:r>
            <a:endParaRPr lang="en-US" sz="1550" dirty="0"/>
          </a:p>
        </p:txBody>
      </p:sp>
      <p:sp>
        <p:nvSpPr>
          <p:cNvPr id="12" name="Text 8"/>
          <p:cNvSpPr/>
          <p:nvPr/>
        </p:nvSpPr>
        <p:spPr>
          <a:xfrm>
            <a:off x="1234440" y="32461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Analyst subscriptions are expensive and stop at market level. Consulting studies take weeks. Chatbots answer instantly — with confident, invented numbers nobody can audit.</a:t>
            </a:r>
            <a:endParaRPr lang="en-US" sz="1150" dirty="0"/>
          </a:p>
        </p:txBody>
      </p:sp>
      <p:sp>
        <p:nvSpPr>
          <p:cNvPr id="13" name="Shape 9"/>
          <p:cNvSpPr/>
          <p:nvPr/>
        </p:nvSpPr>
        <p:spPr>
          <a:xfrm>
            <a:off x="502920" y="4343400"/>
            <a:ext cx="566928" cy="566928"/>
          </a:xfrm>
          <a:prstGeom prst="ellipse">
            <a:avLst/>
          </a:prstGeom>
          <a:solidFill>
            <a:srgbClr val="0D9488"/>
          </a:solidFill>
          <a:ln/>
        </p:spPr>
      </p:sp>
      <p:pic>
        <p:nvPicPr>
          <p:cNvPr id="14" name="Image 2" descr="preencoded.png">    </p:cNvPr>
          <p:cNvPicPr>
            <a:picLocks noChangeAspect="1"/>
          </p:cNvPicPr>
          <p:nvPr/>
        </p:nvPicPr>
        <p:blipFill>
          <a:blip r:embed="rId3"/>
          <a:stretch>
            <a:fillRect/>
          </a:stretch>
        </p:blipFill>
        <p:spPr>
          <a:xfrm>
            <a:off x="633313" y="4473793"/>
            <a:ext cx="306141" cy="306141"/>
          </a:xfrm>
          <a:prstGeom prst="rect">
            <a:avLst/>
          </a:prstGeom>
        </p:spPr>
      </p:pic>
      <p:sp>
        <p:nvSpPr>
          <p:cNvPr id="15" name="Text 10"/>
          <p:cNvSpPr/>
          <p:nvPr/>
        </p:nvSpPr>
        <p:spPr>
          <a:xfrm>
            <a:off x="1234440" y="43251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What we actually need</a:t>
            </a:r>
            <a:endParaRPr lang="en-US" sz="1550" dirty="0"/>
          </a:p>
        </p:txBody>
      </p:sp>
      <p:sp>
        <p:nvSpPr>
          <p:cNvPr id="16" name="Text 11"/>
          <p:cNvSpPr/>
          <p:nvPr/>
        </p:nvSpPr>
        <p:spPr>
          <a:xfrm>
            <a:off x="1234440" y="46177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Part-level, self-serve foresight: for THIS commodity — what replaces it, when does it cross 25% adoption, what does its cost curve do, which regulation forces it, who is ahead.</a:t>
            </a:r>
            <a:endParaRPr lang="en-US" sz="1150" dirty="0"/>
          </a:p>
        </p:txBody>
      </p:sp>
      <p:sp>
        <p:nvSpPr>
          <p:cNvPr id="17" name="Shape 12"/>
          <p:cNvSpPr/>
          <p:nvPr/>
        </p:nvSpPr>
        <p:spPr>
          <a:xfrm>
            <a:off x="7818120" y="1600200"/>
            <a:ext cx="3886200" cy="1188720"/>
          </a:xfrm>
          <a:prstGeom prst="roundRect">
            <a:avLst>
              <a:gd name="adj" fmla="val 6923"/>
            </a:avLst>
          </a:prstGeom>
          <a:solidFill>
            <a:srgbClr val="0D1F33"/>
          </a:solidFill>
          <a:ln/>
          <a:effectLst>
            <a:outerShdw sx="100000" sy="100000" kx="0" ky="0" algn="bl" rotWithShape="0" blurRad="88900" dist="25400" dir="5400000">
              <a:srgbClr val="9FB0C2">
                <a:alpha val="35000"/>
              </a:srgbClr>
            </a:outerShdw>
          </a:effectLst>
        </p:spPr>
      </p:sp>
      <p:sp>
        <p:nvSpPr>
          <p:cNvPr id="18" name="Text 13"/>
          <p:cNvSpPr/>
          <p:nvPr/>
        </p:nvSpPr>
        <p:spPr>
          <a:xfrm>
            <a:off x="8092440" y="17647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7 yr</a:t>
            </a:r>
            <a:endParaRPr lang="en-US" sz="3600" dirty="0"/>
          </a:p>
        </p:txBody>
      </p:sp>
      <p:sp>
        <p:nvSpPr>
          <p:cNvPr id="19" name="Text 14"/>
          <p:cNvSpPr/>
          <p:nvPr/>
        </p:nvSpPr>
        <p:spPr>
          <a:xfrm>
            <a:off x="9829800" y="17647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sourcing &amp; platform horizon</a:t>
            </a:r>
            <a:endParaRPr lang="en-US" sz="1150" dirty="0"/>
          </a:p>
        </p:txBody>
      </p:sp>
      <p:sp>
        <p:nvSpPr>
          <p:cNvPr id="20" name="Shape 15"/>
          <p:cNvSpPr/>
          <p:nvPr/>
        </p:nvSpPr>
        <p:spPr>
          <a:xfrm>
            <a:off x="7818120" y="2971800"/>
            <a:ext cx="3886200" cy="1188720"/>
          </a:xfrm>
          <a:prstGeom prst="roundRect">
            <a:avLst>
              <a:gd name="adj" fmla="val 6923"/>
            </a:avLst>
          </a:prstGeom>
          <a:solidFill>
            <a:srgbClr val="F59E0B"/>
          </a:solidFill>
          <a:ln/>
          <a:effectLst>
            <a:outerShdw sx="100000" sy="100000" kx="0" ky="0" algn="bl" rotWithShape="0" blurRad="88900" dist="25400" dir="5400000">
              <a:srgbClr val="9FB0C2">
                <a:alpha val="35000"/>
              </a:srgbClr>
            </a:outerShdw>
          </a:effectLst>
        </p:spPr>
      </p:sp>
      <p:sp>
        <p:nvSpPr>
          <p:cNvPr id="21" name="Text 16"/>
          <p:cNvSpPr/>
          <p:nvPr/>
        </p:nvSpPr>
        <p:spPr>
          <a:xfrm>
            <a:off x="8092440" y="31363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2-3×</a:t>
            </a:r>
            <a:endParaRPr lang="en-US" sz="3600" dirty="0"/>
          </a:p>
        </p:txBody>
      </p:sp>
      <p:sp>
        <p:nvSpPr>
          <p:cNvPr id="22" name="Text 17"/>
          <p:cNvSpPr/>
          <p:nvPr/>
        </p:nvSpPr>
        <p:spPr>
          <a:xfrm>
            <a:off x="9829800" y="3136392"/>
            <a:ext cx="1783080" cy="868680"/>
          </a:xfrm>
          <a:prstGeom prst="rect">
            <a:avLst/>
          </a:prstGeom>
          <a:noFill/>
          <a:ln/>
        </p:spPr>
        <p:txBody>
          <a:bodyPr wrap="square" lIns="0" tIns="0" rIns="0" bIns="0" rtlCol="0" anchor="ctr"/>
          <a:lstStyle/>
          <a:p>
            <a:pPr indent="0" marL="0">
              <a:buNone/>
            </a:pPr>
            <a:r>
              <a:rPr lang="en-US" sz="1150" dirty="0">
                <a:solidFill>
                  <a:srgbClr val="4A2E05"/>
                </a:solidFill>
                <a:latin typeface="Arial" pitchFamily="34" charset="0"/>
                <a:ea typeface="Arial" pitchFamily="34" charset="-122"/>
                <a:cs typeface="Arial" pitchFamily="34" charset="-120"/>
              </a:rPr>
              <a:t>technology turns inside that window</a:t>
            </a:r>
            <a:endParaRPr lang="en-US" sz="1150" dirty="0"/>
          </a:p>
        </p:txBody>
      </p:sp>
      <p:sp>
        <p:nvSpPr>
          <p:cNvPr id="23" name="Shape 18"/>
          <p:cNvSpPr/>
          <p:nvPr/>
        </p:nvSpPr>
        <p:spPr>
          <a:xfrm>
            <a:off x="7818120" y="4343400"/>
            <a:ext cx="3886200" cy="1188720"/>
          </a:xfrm>
          <a:prstGeom prst="roundRect">
            <a:avLst>
              <a:gd name="adj" fmla="val 6923"/>
            </a:avLst>
          </a:prstGeom>
          <a:solidFill>
            <a:srgbClr val="0D9488"/>
          </a:solidFill>
          <a:ln/>
          <a:effectLst>
            <a:outerShdw sx="100000" sy="100000" kx="0" ky="0" algn="bl" rotWithShape="0" blurRad="88900" dist="25400" dir="5400000">
              <a:srgbClr val="9FB0C2">
                <a:alpha val="35000"/>
              </a:srgbClr>
            </a:outerShdw>
          </a:effectLst>
        </p:spPr>
      </p:sp>
      <p:sp>
        <p:nvSpPr>
          <p:cNvPr id="24" name="Text 19"/>
          <p:cNvSpPr/>
          <p:nvPr/>
        </p:nvSpPr>
        <p:spPr>
          <a:xfrm>
            <a:off x="8092440" y="45079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~30 s</a:t>
            </a:r>
            <a:endParaRPr lang="en-US" sz="3600" dirty="0"/>
          </a:p>
        </p:txBody>
      </p:sp>
      <p:sp>
        <p:nvSpPr>
          <p:cNvPr id="25" name="Text 20"/>
          <p:cNvSpPr/>
          <p:nvPr/>
        </p:nvSpPr>
        <p:spPr>
          <a:xfrm>
            <a:off x="9829800" y="45079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to a Horizon foresight answer</a:t>
            </a:r>
            <a:endParaRPr lang="en-US" sz="1150" dirty="0"/>
          </a:p>
        </p:txBody>
      </p:sp>
      <p:sp>
        <p:nvSpPr>
          <p:cNvPr id="26" name="Text 21"/>
          <p:cNvSpPr/>
          <p:nvPr/>
        </p:nvSpPr>
        <p:spPr>
          <a:xfrm>
            <a:off x="502920" y="5943600"/>
            <a:ext cx="11155680" cy="365760"/>
          </a:xfrm>
          <a:prstGeom prst="rect">
            <a:avLst/>
          </a:prstGeom>
          <a:noFill/>
          <a:ln/>
        </p:spPr>
        <p:txBody>
          <a:bodyPr wrap="square" rtlCol="0" anchor="ctr"/>
          <a:lstStyle/>
          <a:p>
            <a:pPr algn="ctr" indent="0" marL="0">
              <a:buNone/>
            </a:pPr>
            <a:r>
              <a:rPr lang="en-US" sz="1400" b="1" i="1" dirty="0">
                <a:solidFill>
                  <a:srgbClr val="D97706"/>
                </a:solidFill>
                <a:latin typeface="Arial" pitchFamily="34" charset="0"/>
                <a:ea typeface="Arial" pitchFamily="34" charset="-122"/>
                <a:cs typeface="Arial" pitchFamily="34" charset="-120"/>
              </a:rPr>
              <a:t>Horizon closes the gap: consulting-grade foresight, engineering-grade numbers, on demand.</a:t>
            </a:r>
            <a:endParaRPr lang="en-US" sz="1400" dirty="0"/>
          </a:p>
        </p:txBody>
      </p:sp>
      <p:sp>
        <p:nvSpPr>
          <p:cNvPr id="27"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3/15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ENGINE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Four stages — and numbers never come from the AI</a:t>
            </a:r>
            <a:endParaRPr lang="en-US" sz="2800" dirty="0"/>
          </a:p>
        </p:txBody>
      </p:sp>
      <p:sp>
        <p:nvSpPr>
          <p:cNvPr id="5" name="Shape 3"/>
          <p:cNvSpPr/>
          <p:nvPr/>
        </p:nvSpPr>
        <p:spPr>
          <a:xfrm>
            <a:off x="502920"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2697480" cy="868680"/>
          </a:xfrm>
          <a:prstGeom prst="roundRect">
            <a:avLst>
              <a:gd name="adj" fmla="val 7368"/>
            </a:avLst>
          </a:prstGeom>
          <a:solidFill>
            <a:srgbClr val="0D1F33"/>
          </a:solidFill>
          <a:ln/>
        </p:spPr>
      </p:sp>
      <p:sp>
        <p:nvSpPr>
          <p:cNvPr id="7" name="Shape 5"/>
          <p:cNvSpPr/>
          <p:nvPr/>
        </p:nvSpPr>
        <p:spPr>
          <a:xfrm>
            <a:off x="649224" y="1700784"/>
            <a:ext cx="548640" cy="548640"/>
          </a:xfrm>
          <a:prstGeom prst="ellipse">
            <a:avLst/>
          </a:prstGeom>
          <a:solidFill>
            <a:srgbClr val="0D1F33"/>
          </a:solidFill>
          <a:ln/>
        </p:spPr>
      </p:sp>
      <p:pic>
        <p:nvPicPr>
          <p:cNvPr id="8" name="Image 0" descr="preencoded.png">    </p:cNvPr>
          <p:cNvPicPr>
            <a:picLocks noChangeAspect="1"/>
          </p:cNvPicPr>
          <p:nvPr/>
        </p:nvPicPr>
        <p:blipFill>
          <a:blip r:embed="rId1"/>
          <a:stretch>
            <a:fillRect/>
          </a:stretch>
        </p:blipFill>
        <p:spPr>
          <a:xfrm>
            <a:off x="758952" y="1810512"/>
            <a:ext cx="329184" cy="329184"/>
          </a:xfrm>
          <a:prstGeom prst="rect">
            <a:avLst/>
          </a:prstGeom>
        </p:spPr>
      </p:pic>
      <p:sp>
        <p:nvSpPr>
          <p:cNvPr id="9" name="Text 6"/>
          <p:cNvSpPr/>
          <p:nvPr/>
        </p:nvSpPr>
        <p:spPr>
          <a:xfrm>
            <a:off x="1280160"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1 · Curated register</a:t>
            </a:r>
            <a:endParaRPr lang="en-US" sz="1350" dirty="0"/>
          </a:p>
        </p:txBody>
      </p:sp>
      <p:sp>
        <p:nvSpPr>
          <p:cNvPr id="10" name="Text 7"/>
          <p:cNvSpPr/>
          <p:nvPr/>
        </p:nvSpPr>
        <p:spPr>
          <a:xfrm>
            <a:off x="685800"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139 technologies, every one with automotive TRL 1-9, current adoption share, named production evidence, players, cost trend</a:t>
            </a:r>
            <a:endParaRPr lang="en-US" sz="1050" dirty="0"/>
          </a:p>
        </p:txBody>
      </p:sp>
      <p:sp>
        <p:nvSpPr>
          <p:cNvPr id="11" name="Text 8"/>
          <p:cNvSpPr/>
          <p:nvPr/>
        </p:nvSpPr>
        <p:spPr>
          <a:xfrm>
            <a:off x="685800"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Plus 14 dated regulations &amp; 12 benchmark vehicles</a:t>
            </a:r>
            <a:endParaRPr lang="en-US" sz="1000" dirty="0"/>
          </a:p>
        </p:txBody>
      </p:sp>
      <p:sp>
        <p:nvSpPr>
          <p:cNvPr id="12" name="Shape 9"/>
          <p:cNvSpPr/>
          <p:nvPr/>
        </p:nvSpPr>
        <p:spPr>
          <a:xfrm>
            <a:off x="3227832" y="3310128"/>
            <a:ext cx="274320" cy="256032"/>
          </a:xfrm>
          <a:prstGeom prst="rightArrow">
            <a:avLst/>
          </a:prstGeom>
          <a:solidFill>
            <a:srgbClr val="F59E0B"/>
          </a:solidFill>
          <a:ln/>
        </p:spPr>
      </p:sp>
      <p:sp>
        <p:nvSpPr>
          <p:cNvPr id="13" name="Shape 10"/>
          <p:cNvSpPr/>
          <p:nvPr/>
        </p:nvSpPr>
        <p:spPr>
          <a:xfrm>
            <a:off x="3502152"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4" name="Shape 11"/>
          <p:cNvSpPr/>
          <p:nvPr/>
        </p:nvSpPr>
        <p:spPr>
          <a:xfrm>
            <a:off x="3502152" y="1554480"/>
            <a:ext cx="2697480" cy="868680"/>
          </a:xfrm>
          <a:prstGeom prst="roundRect">
            <a:avLst>
              <a:gd name="adj" fmla="val 7368"/>
            </a:avLst>
          </a:prstGeom>
          <a:solidFill>
            <a:srgbClr val="0D9488"/>
          </a:solidFill>
          <a:ln/>
        </p:spPr>
      </p:sp>
      <p:sp>
        <p:nvSpPr>
          <p:cNvPr id="15" name="Shape 12"/>
          <p:cNvSpPr/>
          <p:nvPr/>
        </p:nvSpPr>
        <p:spPr>
          <a:xfrm>
            <a:off x="3648456" y="1700784"/>
            <a:ext cx="548640" cy="548640"/>
          </a:xfrm>
          <a:prstGeom prst="ellipse">
            <a:avLst/>
          </a:prstGeom>
          <a:solidFill>
            <a:srgbClr val="0D9488"/>
          </a:solidFill>
          <a:ln/>
        </p:spPr>
      </p:sp>
      <p:pic>
        <p:nvPicPr>
          <p:cNvPr id="16" name="Image 1" descr="preencoded.png">    </p:cNvPr>
          <p:cNvPicPr>
            <a:picLocks noChangeAspect="1"/>
          </p:cNvPicPr>
          <p:nvPr/>
        </p:nvPicPr>
        <p:blipFill>
          <a:blip r:embed="rId2"/>
          <a:stretch>
            <a:fillRect/>
          </a:stretch>
        </p:blipFill>
        <p:spPr>
          <a:xfrm>
            <a:off x="3758184" y="1810512"/>
            <a:ext cx="329184" cy="329184"/>
          </a:xfrm>
          <a:prstGeom prst="rect">
            <a:avLst/>
          </a:prstGeom>
        </p:spPr>
      </p:pic>
      <p:sp>
        <p:nvSpPr>
          <p:cNvPr id="17" name="Text 13"/>
          <p:cNvSpPr/>
          <p:nvPr/>
        </p:nvSpPr>
        <p:spPr>
          <a:xfrm>
            <a:off x="4279392"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2 · Deterministic cores</a:t>
            </a:r>
            <a:endParaRPr lang="en-US" sz="1350" dirty="0"/>
          </a:p>
        </p:txBody>
      </p:sp>
      <p:sp>
        <p:nvSpPr>
          <p:cNvPr id="18" name="Text 14"/>
          <p:cNvSpPr/>
          <p:nvPr/>
        </p:nvSpPr>
        <p:spPr>
          <a:xfrm>
            <a:off x="3685032"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S-curve phase · Bass diffusion adoption paths · Wright’s-law cost index · momentum 0-100 · horizon lanes</a:t>
            </a:r>
            <a:endParaRPr lang="en-US" sz="1050" dirty="0"/>
          </a:p>
        </p:txBody>
      </p:sp>
      <p:sp>
        <p:nvSpPr>
          <p:cNvPr id="19" name="Text 15"/>
          <p:cNvSpPr/>
          <p:nvPr/>
        </p:nvSpPr>
        <p:spPr>
          <a:xfrm>
            <a:off x="3685032"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25% / 50% crossing years — pure mathematics, repeatable</a:t>
            </a:r>
            <a:endParaRPr lang="en-US" sz="1000" dirty="0"/>
          </a:p>
        </p:txBody>
      </p:sp>
      <p:sp>
        <p:nvSpPr>
          <p:cNvPr id="20" name="Shape 16"/>
          <p:cNvSpPr/>
          <p:nvPr/>
        </p:nvSpPr>
        <p:spPr>
          <a:xfrm>
            <a:off x="6227064" y="3310128"/>
            <a:ext cx="274320" cy="256032"/>
          </a:xfrm>
          <a:prstGeom prst="rightArrow">
            <a:avLst/>
          </a:prstGeom>
          <a:solidFill>
            <a:srgbClr val="F59E0B"/>
          </a:solidFill>
          <a:ln/>
        </p:spPr>
      </p:sp>
      <p:sp>
        <p:nvSpPr>
          <p:cNvPr id="21" name="Shape 17"/>
          <p:cNvSpPr/>
          <p:nvPr/>
        </p:nvSpPr>
        <p:spPr>
          <a:xfrm>
            <a:off x="6501384"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2" name="Shape 18"/>
          <p:cNvSpPr/>
          <p:nvPr/>
        </p:nvSpPr>
        <p:spPr>
          <a:xfrm>
            <a:off x="6501384" y="1554480"/>
            <a:ext cx="2697480" cy="868680"/>
          </a:xfrm>
          <a:prstGeom prst="roundRect">
            <a:avLst>
              <a:gd name="adj" fmla="val 7368"/>
            </a:avLst>
          </a:prstGeom>
          <a:solidFill>
            <a:srgbClr val="F59E0B"/>
          </a:solidFill>
          <a:ln/>
        </p:spPr>
      </p:sp>
      <p:sp>
        <p:nvSpPr>
          <p:cNvPr id="23" name="Shape 19"/>
          <p:cNvSpPr/>
          <p:nvPr/>
        </p:nvSpPr>
        <p:spPr>
          <a:xfrm>
            <a:off x="6647688" y="1700784"/>
            <a:ext cx="548640" cy="548640"/>
          </a:xfrm>
          <a:prstGeom prst="ellipse">
            <a:avLst/>
          </a:prstGeom>
          <a:solidFill>
            <a:srgbClr val="F59E0B"/>
          </a:solidFill>
          <a:ln/>
        </p:spPr>
      </p:sp>
      <p:pic>
        <p:nvPicPr>
          <p:cNvPr id="24" name="Image 2" descr="preencoded.png">    </p:cNvPr>
          <p:cNvPicPr>
            <a:picLocks noChangeAspect="1"/>
          </p:cNvPicPr>
          <p:nvPr/>
        </p:nvPicPr>
        <p:blipFill>
          <a:blip r:embed="rId3"/>
          <a:stretch>
            <a:fillRect/>
          </a:stretch>
        </p:blipFill>
        <p:spPr>
          <a:xfrm>
            <a:off x="6757416" y="1810512"/>
            <a:ext cx="329184" cy="329184"/>
          </a:xfrm>
          <a:prstGeom prst="rect">
            <a:avLst/>
          </a:prstGeom>
        </p:spPr>
      </p:pic>
      <p:sp>
        <p:nvSpPr>
          <p:cNvPr id="25" name="Text 20"/>
          <p:cNvSpPr/>
          <p:nvPr/>
        </p:nvSpPr>
        <p:spPr>
          <a:xfrm>
            <a:off x="7278624"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3 · Honesty layer</a:t>
            </a:r>
            <a:endParaRPr lang="en-US" sz="1350" dirty="0"/>
          </a:p>
        </p:txBody>
      </p:sp>
      <p:sp>
        <p:nvSpPr>
          <p:cNvPr id="26" name="Text 21"/>
          <p:cNvSpPr/>
          <p:nvPr/>
        </p:nvSpPr>
        <p:spPr>
          <a:xfrm>
            <a:off x="6684264"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Committed / probable / speculative tiers · "modelled, not measured" labels</a:t>
            </a:r>
            <a:endParaRPr lang="en-US" sz="1050" dirty="0"/>
          </a:p>
        </p:txBody>
      </p:sp>
      <p:sp>
        <p:nvSpPr>
          <p:cNvPr id="27" name="Text 22"/>
          <p:cNvSpPr/>
          <p:nvPr/>
        </p:nvSpPr>
        <p:spPr>
          <a:xfrm>
            <a:off x="6684264"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Regulations carry legal status · niche techs get adoption ceilings · crossing years get uncertainty bands</a:t>
            </a:r>
            <a:endParaRPr lang="en-US" sz="1000" dirty="0"/>
          </a:p>
        </p:txBody>
      </p:sp>
      <p:sp>
        <p:nvSpPr>
          <p:cNvPr id="28" name="Shape 23"/>
          <p:cNvSpPr/>
          <p:nvPr/>
        </p:nvSpPr>
        <p:spPr>
          <a:xfrm>
            <a:off x="9226296" y="3310128"/>
            <a:ext cx="274320" cy="256032"/>
          </a:xfrm>
          <a:prstGeom prst="rightArrow">
            <a:avLst/>
          </a:prstGeom>
          <a:solidFill>
            <a:srgbClr val="F59E0B"/>
          </a:solidFill>
          <a:ln/>
        </p:spPr>
      </p:sp>
      <p:sp>
        <p:nvSpPr>
          <p:cNvPr id="29" name="Shape 24"/>
          <p:cNvSpPr/>
          <p:nvPr/>
        </p:nvSpPr>
        <p:spPr>
          <a:xfrm>
            <a:off x="9500616"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0" name="Shape 25"/>
          <p:cNvSpPr/>
          <p:nvPr/>
        </p:nvSpPr>
        <p:spPr>
          <a:xfrm>
            <a:off x="9500616" y="1554480"/>
            <a:ext cx="2697480" cy="868680"/>
          </a:xfrm>
          <a:prstGeom prst="roundRect">
            <a:avLst>
              <a:gd name="adj" fmla="val 7368"/>
            </a:avLst>
          </a:prstGeom>
          <a:solidFill>
            <a:srgbClr val="6D28D9"/>
          </a:solidFill>
          <a:ln/>
        </p:spPr>
      </p:sp>
      <p:sp>
        <p:nvSpPr>
          <p:cNvPr id="31" name="Shape 26"/>
          <p:cNvSpPr/>
          <p:nvPr/>
        </p:nvSpPr>
        <p:spPr>
          <a:xfrm>
            <a:off x="9646920" y="1700784"/>
            <a:ext cx="548640" cy="548640"/>
          </a:xfrm>
          <a:prstGeom prst="ellipse">
            <a:avLst/>
          </a:prstGeom>
          <a:solidFill>
            <a:srgbClr val="6D28D9"/>
          </a:solidFill>
          <a:ln/>
        </p:spPr>
      </p:sp>
      <p:pic>
        <p:nvPicPr>
          <p:cNvPr id="32" name="Image 3" descr="preencoded.png">    </p:cNvPr>
          <p:cNvPicPr>
            <a:picLocks noChangeAspect="1"/>
          </p:cNvPicPr>
          <p:nvPr/>
        </p:nvPicPr>
        <p:blipFill>
          <a:blip r:embed="rId4"/>
          <a:stretch>
            <a:fillRect/>
          </a:stretch>
        </p:blipFill>
        <p:spPr>
          <a:xfrm>
            <a:off x="9756648" y="1810512"/>
            <a:ext cx="329184" cy="329184"/>
          </a:xfrm>
          <a:prstGeom prst="rect">
            <a:avLst/>
          </a:prstGeom>
        </p:spPr>
      </p:pic>
      <p:sp>
        <p:nvSpPr>
          <p:cNvPr id="33" name="Text 27"/>
          <p:cNvSpPr/>
          <p:nvPr/>
        </p:nvSpPr>
        <p:spPr>
          <a:xfrm>
            <a:off x="10277856"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4 · Grounded AI on top</a:t>
            </a:r>
            <a:endParaRPr lang="en-US" sz="1350" dirty="0"/>
          </a:p>
        </p:txBody>
      </p:sp>
      <p:sp>
        <p:nvSpPr>
          <p:cNvPr id="34" name="Text 28"/>
          <p:cNvSpPr/>
          <p:nvPr/>
        </p:nvSpPr>
        <p:spPr>
          <a:xfrm>
            <a:off x="9683496"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Analyst briefing, expert panel, deep research — grounded in the cards the engine computed</a:t>
            </a:r>
            <a:endParaRPr lang="en-US" sz="1050" dirty="0"/>
          </a:p>
        </p:txBody>
      </p:sp>
      <p:sp>
        <p:nvSpPr>
          <p:cNvPr id="35" name="Text 29"/>
          <p:cNvSpPr/>
          <p:nvPr/>
        </p:nvSpPr>
        <p:spPr>
          <a:xfrm>
            <a:off x="9683496"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Research findings must cite retrieved sources or they are dropped in code</a:t>
            </a:r>
            <a:endParaRPr lang="en-US" sz="1000" dirty="0"/>
          </a:p>
        </p:txBody>
      </p:sp>
      <p:sp>
        <p:nvSpPr>
          <p:cNvPr id="36" name="Text 30"/>
          <p:cNvSpPr/>
          <p:nvPr/>
        </p:nvSpPr>
        <p:spPr>
          <a:xfrm>
            <a:off x="502920" y="5806440"/>
            <a:ext cx="11155680" cy="384048"/>
          </a:xfrm>
          <a:prstGeom prst="rect">
            <a:avLst/>
          </a:prstGeom>
          <a:noFill/>
          <a:ln/>
        </p:spPr>
        <p:txBody>
          <a:bodyPr wrap="square" rtlCol="0" anchor="ctr"/>
          <a:lstStyle/>
          <a:p>
            <a:pPr algn="ctr" indent="0" marL="0">
              <a:buNone/>
            </a:pPr>
            <a:r>
              <a:rPr lang="en-US" sz="1600" b="1" i="1" dirty="0">
                <a:solidFill>
                  <a:srgbClr val="0D9488"/>
                </a:solidFill>
                <a:latin typeface="Arial" pitchFamily="34" charset="0"/>
                <a:ea typeface="Arial" pitchFamily="34" charset="-122"/>
                <a:cs typeface="Arial" pitchFamily="34" charset="-120"/>
              </a:rPr>
              <a:t>"The AI narrates — it never invents a number."</a:t>
            </a:r>
            <a:endParaRPr lang="en-US" sz="1600" dirty="0"/>
          </a:p>
        </p:txBody>
      </p:sp>
      <p:sp>
        <p:nvSpPr>
          <p:cNvPr id="37" name="Text 3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4/15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DIFFERENCE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This is not "ask an AI and hope"</a:t>
            </a:r>
            <a:endParaRPr lang="en-US" sz="2800" dirty="0"/>
          </a:p>
        </p:txBody>
      </p:sp>
      <p:sp>
        <p:nvSpPr>
          <p:cNvPr id="5" name="Shape 3"/>
          <p:cNvSpPr/>
          <p:nvPr/>
        </p:nvSpPr>
        <p:spPr>
          <a:xfrm>
            <a:off x="502920" y="1463040"/>
            <a:ext cx="5394960" cy="4206240"/>
          </a:xfrm>
          <a:prstGeom prst="roundRect">
            <a:avLst>
              <a:gd name="adj" fmla="val 1522"/>
            </a:avLst>
          </a:prstGeom>
          <a:solidFill>
            <a:srgbClr val="FCEFEE"/>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777240" y="1691640"/>
            <a:ext cx="2651760" cy="384048"/>
          </a:xfrm>
          <a:prstGeom prst="roundRect">
            <a:avLst>
              <a:gd name="adj" fmla="val 50000"/>
            </a:avLst>
          </a:prstGeom>
          <a:solidFill>
            <a:srgbClr val="B91C1C"/>
          </a:solidFill>
          <a:ln/>
        </p:spPr>
      </p:sp>
      <p:sp>
        <p:nvSpPr>
          <p:cNvPr id="7" name="Text 5"/>
          <p:cNvSpPr/>
          <p:nvPr/>
        </p:nvSpPr>
        <p:spPr>
          <a:xfrm>
            <a:off x="777240" y="1691640"/>
            <a:ext cx="265176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TYPICAL AI CHAT / SEARCH</a:t>
            </a:r>
            <a:endParaRPr lang="en-US" sz="1000" dirty="0"/>
          </a:p>
        </p:txBody>
      </p:sp>
      <p:pic>
        <p:nvPicPr>
          <p:cNvPr id="8" name="Image 0" descr="preencoded.png">    </p:cNvPr>
          <p:cNvPicPr>
            <a:picLocks noChangeAspect="1"/>
          </p:cNvPicPr>
          <p:nvPr/>
        </p:nvPicPr>
        <p:blipFill>
          <a:blip r:embed="rId1"/>
          <a:stretch>
            <a:fillRect/>
          </a:stretch>
        </p:blipFill>
        <p:spPr>
          <a:xfrm>
            <a:off x="822960" y="2304288"/>
            <a:ext cx="274320" cy="274320"/>
          </a:xfrm>
          <a:prstGeom prst="rect">
            <a:avLst/>
          </a:prstGeom>
        </p:spPr>
      </p:pic>
      <p:sp>
        <p:nvSpPr>
          <p:cNvPr id="9" name="Text 6"/>
          <p:cNvSpPr/>
          <p:nvPr/>
        </p:nvSpPr>
        <p:spPr>
          <a:xfrm>
            <a:off x="1234440" y="224942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Plausible prose, invented numbers</a:t>
            </a:r>
            <a:endParaRPr lang="en-US" sz="1300" dirty="0"/>
          </a:p>
        </p:txBody>
      </p:sp>
      <p:sp>
        <p:nvSpPr>
          <p:cNvPr id="10" name="Text 7"/>
          <p:cNvSpPr/>
          <p:nvPr/>
        </p:nvSpPr>
        <p:spPr>
          <a:xfrm>
            <a:off x="1234440" y="250545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Adoption figures and dates hallucinated on the spot</a:t>
            </a:r>
            <a:endParaRPr lang="en-US" sz="1050" dirty="0"/>
          </a:p>
        </p:txBody>
      </p:sp>
      <p:pic>
        <p:nvPicPr>
          <p:cNvPr id="11" name="Image 1" descr="preencoded.png">    </p:cNvPr>
          <p:cNvPicPr>
            <a:picLocks noChangeAspect="1"/>
          </p:cNvPicPr>
          <p:nvPr/>
        </p:nvPicPr>
        <p:blipFill>
          <a:blip r:embed="rId2"/>
          <a:stretch>
            <a:fillRect/>
          </a:stretch>
        </p:blipFill>
        <p:spPr>
          <a:xfrm>
            <a:off x="822960" y="3127248"/>
            <a:ext cx="274320" cy="274320"/>
          </a:xfrm>
          <a:prstGeom prst="rect">
            <a:avLst/>
          </a:prstGeom>
        </p:spPr>
      </p:pic>
      <p:sp>
        <p:nvSpPr>
          <p:cNvPr id="12" name="Text 8"/>
          <p:cNvSpPr/>
          <p:nvPr/>
        </p:nvSpPr>
        <p:spPr>
          <a:xfrm>
            <a:off x="1234440" y="307238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No evidence trail</a:t>
            </a:r>
            <a:endParaRPr lang="en-US" sz="1300" dirty="0"/>
          </a:p>
        </p:txBody>
      </p:sp>
      <p:sp>
        <p:nvSpPr>
          <p:cNvPr id="13" name="Text 9"/>
          <p:cNvSpPr/>
          <p:nvPr/>
        </p:nvSpPr>
        <p:spPr>
          <a:xfrm>
            <a:off x="1234440" y="332841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You cannot audit where any claim came from</a:t>
            </a:r>
            <a:endParaRPr lang="en-US" sz="1050" dirty="0"/>
          </a:p>
        </p:txBody>
      </p:sp>
      <p:pic>
        <p:nvPicPr>
          <p:cNvPr id="14" name="Image 2" descr="preencoded.png">    </p:cNvPr>
          <p:cNvPicPr>
            <a:picLocks noChangeAspect="1"/>
          </p:cNvPicPr>
          <p:nvPr/>
        </p:nvPicPr>
        <p:blipFill>
          <a:blip r:embed="rId3"/>
          <a:stretch>
            <a:fillRect/>
          </a:stretch>
        </p:blipFill>
        <p:spPr>
          <a:xfrm>
            <a:off x="822960" y="3950208"/>
            <a:ext cx="274320" cy="274320"/>
          </a:xfrm>
          <a:prstGeom prst="rect">
            <a:avLst/>
          </a:prstGeom>
        </p:spPr>
      </p:pic>
      <p:sp>
        <p:nvSpPr>
          <p:cNvPr id="15" name="Text 10"/>
          <p:cNvSpPr/>
          <p:nvPr/>
        </p:nvSpPr>
        <p:spPr>
          <a:xfrm>
            <a:off x="1234440" y="389534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Different answer every run</a:t>
            </a:r>
            <a:endParaRPr lang="en-US" sz="1300" dirty="0"/>
          </a:p>
        </p:txBody>
      </p:sp>
      <p:sp>
        <p:nvSpPr>
          <p:cNvPr id="16" name="Text 11"/>
          <p:cNvSpPr/>
          <p:nvPr/>
        </p:nvSpPr>
        <p:spPr>
          <a:xfrm>
            <a:off x="1234440" y="415137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Nothing to track, score, or hold accountable</a:t>
            </a:r>
            <a:endParaRPr lang="en-US" sz="1050" dirty="0"/>
          </a:p>
        </p:txBody>
      </p:sp>
      <p:pic>
        <p:nvPicPr>
          <p:cNvPr id="17" name="Image 3" descr="preencoded.png">    </p:cNvPr>
          <p:cNvPicPr>
            <a:picLocks noChangeAspect="1"/>
          </p:cNvPicPr>
          <p:nvPr/>
        </p:nvPicPr>
        <p:blipFill>
          <a:blip r:embed="rId4"/>
          <a:stretch>
            <a:fillRect/>
          </a:stretch>
        </p:blipFill>
        <p:spPr>
          <a:xfrm>
            <a:off x="822960" y="4773168"/>
            <a:ext cx="274320" cy="274320"/>
          </a:xfrm>
          <a:prstGeom prst="rect">
            <a:avLst/>
          </a:prstGeom>
        </p:spPr>
      </p:pic>
      <p:sp>
        <p:nvSpPr>
          <p:cNvPr id="18" name="Text 12"/>
          <p:cNvSpPr/>
          <p:nvPr/>
        </p:nvSpPr>
        <p:spPr>
          <a:xfrm>
            <a:off x="1234440" y="471830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Generic</a:t>
            </a:r>
            <a:endParaRPr lang="en-US" sz="1300" dirty="0"/>
          </a:p>
        </p:txBody>
      </p:sp>
      <p:sp>
        <p:nvSpPr>
          <p:cNvPr id="19" name="Text 13"/>
          <p:cNvSpPr/>
          <p:nvPr/>
        </p:nvSpPr>
        <p:spPr>
          <a:xfrm>
            <a:off x="1234440" y="497433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 automotive TRL, no regulation dates, no segment context</a:t>
            </a:r>
            <a:endParaRPr lang="en-US" sz="1050" dirty="0"/>
          </a:p>
        </p:txBody>
      </p:sp>
      <p:sp>
        <p:nvSpPr>
          <p:cNvPr id="20" name="Shape 14"/>
          <p:cNvSpPr/>
          <p:nvPr/>
        </p:nvSpPr>
        <p:spPr>
          <a:xfrm>
            <a:off x="6263640" y="1463040"/>
            <a:ext cx="5394960" cy="4206240"/>
          </a:xfrm>
          <a:prstGeom prst="roundRect">
            <a:avLst>
              <a:gd name="adj" fmla="val 1522"/>
            </a:avLst>
          </a:prstGeom>
          <a:solidFill>
            <a:srgbClr val="FBF3E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5"/>
          <p:cNvSpPr/>
          <p:nvPr/>
        </p:nvSpPr>
        <p:spPr>
          <a:xfrm>
            <a:off x="6537960" y="1691640"/>
            <a:ext cx="3017520" cy="384048"/>
          </a:xfrm>
          <a:prstGeom prst="roundRect">
            <a:avLst>
              <a:gd name="adj" fmla="val 50000"/>
            </a:avLst>
          </a:prstGeom>
          <a:solidFill>
            <a:srgbClr val="D97706"/>
          </a:solidFill>
          <a:ln/>
        </p:spPr>
      </p:sp>
      <p:sp>
        <p:nvSpPr>
          <p:cNvPr id="22" name="Text 16"/>
          <p:cNvSpPr/>
          <p:nvPr/>
        </p:nvSpPr>
        <p:spPr>
          <a:xfrm>
            <a:off x="6537960" y="1691640"/>
            <a:ext cx="301752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HORIZON FORESIGHT ENGINE</a:t>
            </a:r>
            <a:endParaRPr lang="en-US" sz="1000" dirty="0"/>
          </a:p>
        </p:txBody>
      </p:sp>
      <p:pic>
        <p:nvPicPr>
          <p:cNvPr id="23" name="Image 4" descr="preencoded.png">    </p:cNvPr>
          <p:cNvPicPr>
            <a:picLocks noChangeAspect="1"/>
          </p:cNvPicPr>
          <p:nvPr/>
        </p:nvPicPr>
        <p:blipFill>
          <a:blip r:embed="rId5"/>
          <a:stretch>
            <a:fillRect/>
          </a:stretch>
        </p:blipFill>
        <p:spPr>
          <a:xfrm>
            <a:off x="6583680" y="2258568"/>
            <a:ext cx="274320" cy="274320"/>
          </a:xfrm>
          <a:prstGeom prst="rect">
            <a:avLst/>
          </a:prstGeom>
        </p:spPr>
      </p:pic>
      <p:sp>
        <p:nvSpPr>
          <p:cNvPr id="24" name="Text 17"/>
          <p:cNvSpPr/>
          <p:nvPr/>
        </p:nvSpPr>
        <p:spPr>
          <a:xfrm>
            <a:off x="6995160" y="2203704"/>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Curated register, not model recall</a:t>
            </a:r>
            <a:endParaRPr lang="en-US" sz="1300" dirty="0"/>
          </a:p>
        </p:txBody>
      </p:sp>
      <p:sp>
        <p:nvSpPr>
          <p:cNvPr id="25" name="Text 18"/>
          <p:cNvSpPr/>
          <p:nvPr/>
        </p:nvSpPr>
        <p:spPr>
          <a:xfrm>
            <a:off x="6995160" y="2459736"/>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139 technologies with TRL, adoption, production evidence</a:t>
            </a:r>
            <a:endParaRPr lang="en-US" sz="1050" dirty="0"/>
          </a:p>
        </p:txBody>
      </p:sp>
      <p:pic>
        <p:nvPicPr>
          <p:cNvPr id="26" name="Image 5" descr="preencoded.png">    </p:cNvPr>
          <p:cNvPicPr>
            <a:picLocks noChangeAspect="1"/>
          </p:cNvPicPr>
          <p:nvPr/>
        </p:nvPicPr>
        <p:blipFill>
          <a:blip r:embed="rId6"/>
          <a:stretch>
            <a:fillRect/>
          </a:stretch>
        </p:blipFill>
        <p:spPr>
          <a:xfrm>
            <a:off x="6583680" y="2926080"/>
            <a:ext cx="274320" cy="274320"/>
          </a:xfrm>
          <a:prstGeom prst="rect">
            <a:avLst/>
          </a:prstGeom>
        </p:spPr>
      </p:pic>
      <p:sp>
        <p:nvSpPr>
          <p:cNvPr id="27" name="Text 19"/>
          <p:cNvSpPr/>
          <p:nvPr/>
        </p:nvSpPr>
        <p:spPr>
          <a:xfrm>
            <a:off x="6995160" y="2871216"/>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Numbers from math, not language</a:t>
            </a:r>
            <a:endParaRPr lang="en-US" sz="1300" dirty="0"/>
          </a:p>
        </p:txBody>
      </p:sp>
      <p:sp>
        <p:nvSpPr>
          <p:cNvPr id="28" name="Text 20"/>
          <p:cNvSpPr/>
          <p:nvPr/>
        </p:nvSpPr>
        <p:spPr>
          <a:xfrm>
            <a:off x="6995160" y="3127248"/>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 Wright, S-curve — deterministic, same answer every time</a:t>
            </a:r>
            <a:endParaRPr lang="en-US" sz="1050" dirty="0"/>
          </a:p>
        </p:txBody>
      </p:sp>
      <p:pic>
        <p:nvPicPr>
          <p:cNvPr id="29" name="Image 6" descr="preencoded.png">    </p:cNvPr>
          <p:cNvPicPr>
            <a:picLocks noChangeAspect="1"/>
          </p:cNvPicPr>
          <p:nvPr/>
        </p:nvPicPr>
        <p:blipFill>
          <a:blip r:embed="rId7"/>
          <a:stretch>
            <a:fillRect/>
          </a:stretch>
        </p:blipFill>
        <p:spPr>
          <a:xfrm>
            <a:off x="6583680" y="3593592"/>
            <a:ext cx="274320" cy="274320"/>
          </a:xfrm>
          <a:prstGeom prst="rect">
            <a:avLst/>
          </a:prstGeom>
        </p:spPr>
      </p:pic>
      <p:sp>
        <p:nvSpPr>
          <p:cNvPr id="30" name="Text 21"/>
          <p:cNvSpPr/>
          <p:nvPr/>
        </p:nvSpPr>
        <p:spPr>
          <a:xfrm>
            <a:off x="6995160" y="3538728"/>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Honesty built in</a:t>
            </a:r>
            <a:endParaRPr lang="en-US" sz="1300" dirty="0"/>
          </a:p>
        </p:txBody>
      </p:sp>
      <p:sp>
        <p:nvSpPr>
          <p:cNvPr id="31" name="Text 22"/>
          <p:cNvSpPr/>
          <p:nvPr/>
        </p:nvSpPr>
        <p:spPr>
          <a:xfrm>
            <a:off x="6995160" y="3794760"/>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legal status on regulations · "modelled" labels · uncertainty bands</a:t>
            </a:r>
            <a:endParaRPr lang="en-US" sz="1050" dirty="0"/>
          </a:p>
        </p:txBody>
      </p:sp>
      <p:pic>
        <p:nvPicPr>
          <p:cNvPr id="32" name="Image 7" descr="preencoded.png">    </p:cNvPr>
          <p:cNvPicPr>
            <a:picLocks noChangeAspect="1"/>
          </p:cNvPicPr>
          <p:nvPr/>
        </p:nvPicPr>
        <p:blipFill>
          <a:blip r:embed="rId8"/>
          <a:stretch>
            <a:fillRect/>
          </a:stretch>
        </p:blipFill>
        <p:spPr>
          <a:xfrm>
            <a:off x="6583680" y="4261104"/>
            <a:ext cx="274320" cy="274320"/>
          </a:xfrm>
          <a:prstGeom prst="rect">
            <a:avLst/>
          </a:prstGeom>
        </p:spPr>
      </p:pic>
      <p:sp>
        <p:nvSpPr>
          <p:cNvPr id="33" name="Text 23"/>
          <p:cNvSpPr/>
          <p:nvPr/>
        </p:nvSpPr>
        <p:spPr>
          <a:xfrm>
            <a:off x="6995160" y="4206240"/>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AI grounded, enforced in code</a:t>
            </a:r>
            <a:endParaRPr lang="en-US" sz="1300" dirty="0"/>
          </a:p>
        </p:txBody>
      </p:sp>
      <p:sp>
        <p:nvSpPr>
          <p:cNvPr id="34" name="Text 24"/>
          <p:cNvSpPr/>
          <p:nvPr/>
        </p:nvSpPr>
        <p:spPr>
          <a:xfrm>
            <a:off x="6995160" y="4462272"/>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Briefings &amp; research must cite retrieved sources — or are dropped</a:t>
            </a:r>
            <a:endParaRPr lang="en-US" sz="1050" dirty="0"/>
          </a:p>
        </p:txBody>
      </p:sp>
      <p:pic>
        <p:nvPicPr>
          <p:cNvPr id="35" name="Image 8" descr="preencoded.png">    </p:cNvPr>
          <p:cNvPicPr>
            <a:picLocks noChangeAspect="1"/>
          </p:cNvPicPr>
          <p:nvPr/>
        </p:nvPicPr>
        <p:blipFill>
          <a:blip r:embed="rId9"/>
          <a:stretch>
            <a:fillRect/>
          </a:stretch>
        </p:blipFill>
        <p:spPr>
          <a:xfrm>
            <a:off x="6583680" y="4928616"/>
            <a:ext cx="274320" cy="274320"/>
          </a:xfrm>
          <a:prstGeom prst="rect">
            <a:avLst/>
          </a:prstGeom>
        </p:spPr>
      </p:pic>
      <p:sp>
        <p:nvSpPr>
          <p:cNvPr id="36" name="Text 25"/>
          <p:cNvSpPr/>
          <p:nvPr/>
        </p:nvSpPr>
        <p:spPr>
          <a:xfrm>
            <a:off x="6995160" y="4873752"/>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It keeps score on itself</a:t>
            </a:r>
            <a:endParaRPr lang="en-US" sz="1300" dirty="0"/>
          </a:p>
        </p:txBody>
      </p:sp>
      <p:sp>
        <p:nvSpPr>
          <p:cNvPr id="37" name="Text 26"/>
          <p:cNvSpPr/>
          <p:nvPr/>
        </p:nvSpPr>
        <p:spPr>
          <a:xfrm>
            <a:off x="6995160" y="5129784"/>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revisits and scores past forecasts</a:t>
            </a:r>
            <a:endParaRPr lang="en-US" sz="1050" dirty="0"/>
          </a:p>
        </p:txBody>
      </p:sp>
      <p:sp>
        <p:nvSpPr>
          <p:cNvPr id="38" name="Text 27"/>
          <p:cNvSpPr/>
          <p:nvPr/>
        </p:nvSpPr>
        <p:spPr>
          <a:xfrm>
            <a:off x="502920" y="5897880"/>
            <a:ext cx="11155680" cy="365760"/>
          </a:xfrm>
          <a:prstGeom prst="rect">
            <a:avLst/>
          </a:prstGeom>
          <a:noFill/>
          <a:ln/>
        </p:spPr>
        <p:txBody>
          <a:bodyPr wrap="square" rtlCol="0" anchor="ctr"/>
          <a:lstStyle/>
          <a:p>
            <a:pPr algn="ctr" indent="0" marL="0">
              <a:buNone/>
            </a:pPr>
            <a:r>
              <a:rPr lang="en-US" sz="1400" b="1" i="1" dirty="0">
                <a:solidFill>
                  <a:srgbClr val="0D1F33"/>
                </a:solidFill>
                <a:latin typeface="Arial" pitchFamily="34" charset="0"/>
                <a:ea typeface="Arial" pitchFamily="34" charset="-122"/>
                <a:cs typeface="Arial" pitchFamily="34" charset="-120"/>
              </a:rPr>
              <a:t>Same question, every quarter → comparable, scoreable answers. That is an instrument, not a chatbot.</a:t>
            </a:r>
            <a:endParaRPr lang="en-US" sz="1400" dirty="0"/>
          </a:p>
        </p:txBody>
      </p:sp>
      <p:sp>
        <p:nvSpPr>
          <p:cNvPr id="39" name="Text 2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5/15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263701" cy="329184"/>
          </a:xfrm>
          <a:prstGeom prst="roundRect">
            <a:avLst>
              <a:gd name="adj" fmla="val 50000"/>
            </a:avLst>
          </a:prstGeom>
          <a:solidFill>
            <a:srgbClr val="0D1F33"/>
          </a:solidFill>
          <a:ln/>
        </p:spPr>
      </p:sp>
      <p:sp>
        <p:nvSpPr>
          <p:cNvPr id="3" name="Text 1"/>
          <p:cNvSpPr/>
          <p:nvPr/>
        </p:nvSpPr>
        <p:spPr>
          <a:xfrm>
            <a:off x="502920" y="347472"/>
            <a:ext cx="1263701"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360° VIEW</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The whole vehicle, the whole future</a:t>
            </a:r>
            <a:endParaRPr lang="en-US" sz="2800" dirty="0"/>
          </a:p>
        </p:txBody>
      </p:sp>
      <p:sp>
        <p:nvSpPr>
          <p:cNvPr id="5" name="Shape 3"/>
          <p:cNvSpPr/>
          <p:nvPr/>
        </p:nvSpPr>
        <p:spPr>
          <a:xfrm>
            <a:off x="502920" y="1554480"/>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6" name="Text 4"/>
          <p:cNvSpPr/>
          <p:nvPr/>
        </p:nvSpPr>
        <p:spPr>
          <a:xfrm>
            <a:off x="667512"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139</a:t>
            </a:r>
            <a:endParaRPr lang="en-US" sz="3300" dirty="0"/>
          </a:p>
        </p:txBody>
      </p:sp>
      <p:sp>
        <p:nvSpPr>
          <p:cNvPr id="7" name="Text 5"/>
          <p:cNvSpPr/>
          <p:nvPr/>
        </p:nvSpPr>
        <p:spPr>
          <a:xfrm>
            <a:off x="667512"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curated technologies</a:t>
            </a:r>
            <a:endParaRPr lang="en-US" sz="1050" dirty="0"/>
          </a:p>
        </p:txBody>
      </p:sp>
      <p:sp>
        <p:nvSpPr>
          <p:cNvPr id="8" name="Shape 6"/>
          <p:cNvSpPr/>
          <p:nvPr/>
        </p:nvSpPr>
        <p:spPr>
          <a:xfrm>
            <a:off x="2935224" y="1554480"/>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9" name="Text 7"/>
          <p:cNvSpPr/>
          <p:nvPr/>
        </p:nvSpPr>
        <p:spPr>
          <a:xfrm>
            <a:off x="3099816"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9</a:t>
            </a:r>
            <a:endParaRPr lang="en-US" sz="3300" dirty="0"/>
          </a:p>
        </p:txBody>
      </p:sp>
      <p:sp>
        <p:nvSpPr>
          <p:cNvPr id="10" name="Text 8"/>
          <p:cNvSpPr/>
          <p:nvPr/>
        </p:nvSpPr>
        <p:spPr>
          <a:xfrm>
            <a:off x="3099816"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commodities — battery to BIW</a:t>
            </a:r>
            <a:endParaRPr lang="en-US" sz="1050" dirty="0"/>
          </a:p>
        </p:txBody>
      </p:sp>
      <p:sp>
        <p:nvSpPr>
          <p:cNvPr id="11" name="Shape 9"/>
          <p:cNvSpPr/>
          <p:nvPr/>
        </p:nvSpPr>
        <p:spPr>
          <a:xfrm>
            <a:off x="502920" y="2999232"/>
            <a:ext cx="2267712" cy="1280160"/>
          </a:xfrm>
          <a:prstGeom prst="roundRect">
            <a:avLst>
              <a:gd name="adj" fmla="val 6429"/>
            </a:avLst>
          </a:prstGeom>
          <a:solidFill>
            <a:srgbClr val="F59E0B"/>
          </a:solidFill>
          <a:ln/>
          <a:effectLst>
            <a:outerShdw sx="100000" sy="100000" kx="0" ky="0" algn="bl" rotWithShape="0" blurRad="76200" dist="25400" dir="5400000">
              <a:srgbClr val="9FB0C2">
                <a:alpha val="32000"/>
              </a:srgbClr>
            </a:outerShdw>
          </a:effectLst>
        </p:spPr>
      </p:sp>
      <p:sp>
        <p:nvSpPr>
          <p:cNvPr id="12" name="Text 10"/>
          <p:cNvSpPr/>
          <p:nvPr/>
        </p:nvSpPr>
        <p:spPr>
          <a:xfrm>
            <a:off x="667512"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4</a:t>
            </a:r>
            <a:endParaRPr lang="en-US" sz="3300" dirty="0"/>
          </a:p>
        </p:txBody>
      </p:sp>
      <p:sp>
        <p:nvSpPr>
          <p:cNvPr id="13" name="Text 11"/>
          <p:cNvSpPr/>
          <p:nvPr/>
        </p:nvSpPr>
        <p:spPr>
          <a:xfrm>
            <a:off x="667512" y="3712464"/>
            <a:ext cx="1975104" cy="502920"/>
          </a:xfrm>
          <a:prstGeom prst="rect">
            <a:avLst/>
          </a:prstGeom>
          <a:noFill/>
          <a:ln/>
        </p:spPr>
        <p:txBody>
          <a:bodyPr wrap="square" lIns="0" tIns="0" rIns="0" bIns="0" rtlCol="0" anchor="ctr"/>
          <a:lstStyle/>
          <a:p>
            <a:pPr indent="0" marL="0">
              <a:buNone/>
            </a:pPr>
            <a:r>
              <a:rPr lang="en-US" sz="1050" dirty="0">
                <a:solidFill>
                  <a:srgbClr val="4A2E05"/>
                </a:solidFill>
                <a:latin typeface="Arial" pitchFamily="34" charset="0"/>
                <a:ea typeface="Arial" pitchFamily="34" charset="-122"/>
                <a:cs typeface="Arial" pitchFamily="34" charset="-120"/>
              </a:rPr>
              <a:t>powertrains ICE·MHEV·PHEV·BEV</a:t>
            </a:r>
            <a:endParaRPr lang="en-US" sz="1050" dirty="0"/>
          </a:p>
        </p:txBody>
      </p:sp>
      <p:sp>
        <p:nvSpPr>
          <p:cNvPr id="14" name="Shape 12"/>
          <p:cNvSpPr/>
          <p:nvPr/>
        </p:nvSpPr>
        <p:spPr>
          <a:xfrm>
            <a:off x="2935224" y="2999232"/>
            <a:ext cx="2267712" cy="1280160"/>
          </a:xfrm>
          <a:prstGeom prst="roundRect">
            <a:avLst>
              <a:gd name="adj" fmla="val 6429"/>
            </a:avLst>
          </a:prstGeom>
          <a:solidFill>
            <a:srgbClr val="6D28D9"/>
          </a:solidFill>
          <a:ln/>
          <a:effectLst>
            <a:outerShdw sx="100000" sy="100000" kx="0" ky="0" algn="bl" rotWithShape="0" blurRad="76200" dist="25400" dir="5400000">
              <a:srgbClr val="9FB0C2">
                <a:alpha val="32000"/>
              </a:srgbClr>
            </a:outerShdw>
          </a:effectLst>
        </p:spPr>
      </p:sp>
      <p:sp>
        <p:nvSpPr>
          <p:cNvPr id="15" name="Text 13"/>
          <p:cNvSpPr/>
          <p:nvPr/>
        </p:nvSpPr>
        <p:spPr>
          <a:xfrm>
            <a:off x="3099816"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3</a:t>
            </a:r>
            <a:endParaRPr lang="en-US" sz="3300" dirty="0"/>
          </a:p>
        </p:txBody>
      </p:sp>
      <p:sp>
        <p:nvSpPr>
          <p:cNvPr id="16" name="Text 14"/>
          <p:cNvSpPr/>
          <p:nvPr/>
        </p:nvSpPr>
        <p:spPr>
          <a:xfrm>
            <a:off x="3099816" y="3712464"/>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lenses Off-Road · Luxury · SDV</a:t>
            </a:r>
            <a:endParaRPr lang="en-US" sz="1050" dirty="0"/>
          </a:p>
        </p:txBody>
      </p:sp>
      <p:sp>
        <p:nvSpPr>
          <p:cNvPr id="17" name="Shape 15"/>
          <p:cNvSpPr/>
          <p:nvPr/>
        </p:nvSpPr>
        <p:spPr>
          <a:xfrm>
            <a:off x="502920" y="4443984"/>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18" name="Text 16"/>
          <p:cNvSpPr/>
          <p:nvPr/>
        </p:nvSpPr>
        <p:spPr>
          <a:xfrm>
            <a:off x="667512"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14</a:t>
            </a:r>
            <a:endParaRPr lang="en-US" sz="3300" dirty="0"/>
          </a:p>
        </p:txBody>
      </p:sp>
      <p:sp>
        <p:nvSpPr>
          <p:cNvPr id="19" name="Text 17"/>
          <p:cNvSpPr/>
          <p:nvPr/>
        </p:nvSpPr>
        <p:spPr>
          <a:xfrm>
            <a:off x="667512"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dated regulatory anchors</a:t>
            </a:r>
            <a:endParaRPr lang="en-US" sz="1050" dirty="0"/>
          </a:p>
        </p:txBody>
      </p:sp>
      <p:sp>
        <p:nvSpPr>
          <p:cNvPr id="20" name="Shape 18"/>
          <p:cNvSpPr/>
          <p:nvPr/>
        </p:nvSpPr>
        <p:spPr>
          <a:xfrm>
            <a:off x="2935224" y="4443984"/>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21" name="Text 19"/>
          <p:cNvSpPr/>
          <p:nvPr/>
        </p:nvSpPr>
        <p:spPr>
          <a:xfrm>
            <a:off x="3099816"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12</a:t>
            </a:r>
            <a:endParaRPr lang="en-US" sz="3300" dirty="0"/>
          </a:p>
        </p:txBody>
      </p:sp>
      <p:sp>
        <p:nvSpPr>
          <p:cNvPr id="22" name="Text 20"/>
          <p:cNvSpPr/>
          <p:nvPr/>
        </p:nvSpPr>
        <p:spPr>
          <a:xfrm>
            <a:off x="3099816"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benchmark vehicles</a:t>
            </a:r>
            <a:endParaRPr lang="en-US" sz="1050" dirty="0"/>
          </a:p>
        </p:txBody>
      </p:sp>
      <p:sp>
        <p:nvSpPr>
          <p:cNvPr id="23" name="Text 21"/>
          <p:cNvSpPr/>
          <p:nvPr/>
        </p:nvSpPr>
        <p:spPr>
          <a:xfrm>
            <a:off x="5806440" y="1517904"/>
            <a:ext cx="58521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Technologies per commodity — generated from the live register</a:t>
            </a:r>
            <a:endParaRPr lang="en-US" sz="1300" dirty="0"/>
          </a:p>
        </p:txBody>
      </p:sp>
      <p:graphicFrame>
        <p:nvGraphicFramePr>
          <p:cNvPr id="24" name="Chart 0" descr=""/>
          <p:cNvGraphicFramePr/>
          <p:nvPr/>
        </p:nvGraphicFramePr>
        <p:xfrm>
          <a:off x="5760720" y="1828800"/>
          <a:ext cx="5897880" cy="402336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502920" y="5989320"/>
            <a:ext cx="11155680" cy="365760"/>
          </a:xfrm>
          <a:prstGeom prst="rect">
            <a:avLst/>
          </a:prstGeom>
          <a:noFill/>
          <a:ln/>
        </p:spPr>
        <p:txBody>
          <a:bodyPr wrap="square" rtlCol="0" anchor="ctr"/>
          <a:lstStyle/>
          <a:p>
            <a:pPr indent="0" marL="0">
              <a:buNone/>
            </a:pPr>
            <a:r>
              <a:rPr lang="en-US" sz="1150" i="1" dirty="0">
                <a:solidFill>
                  <a:srgbClr val="5B6B7F"/>
                </a:solidFill>
                <a:latin typeface="Arial" pitchFamily="34" charset="0"/>
                <a:ea typeface="Arial" pitchFamily="34" charset="-122"/>
                <a:cs typeface="Arial" pitchFamily="34" charset="-120"/>
              </a:rPr>
              <a:t>Hardware to software: cells, motors, brakes and BIW — through zonal E/E, ADAS stacks, vehicle OS and feature subscriptions.</a:t>
            </a:r>
            <a:endParaRPr lang="en-US" sz="1150" dirty="0"/>
          </a:p>
        </p:txBody>
      </p:sp>
      <p:sp>
        <p:nvSpPr>
          <p:cNvPr id="26"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6/15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SEGMENT LENSES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click focuses the register on OUR battleground</a:t>
            </a:r>
            <a:endParaRPr lang="en-US" sz="2800" dirty="0"/>
          </a:p>
        </p:txBody>
      </p:sp>
      <p:sp>
        <p:nvSpPr>
          <p:cNvPr id="5" name="Shape 3"/>
          <p:cNvSpPr/>
          <p:nvPr/>
        </p:nvSpPr>
        <p:spPr>
          <a:xfrm>
            <a:off x="502920" y="1508760"/>
            <a:ext cx="3639312" cy="4297680"/>
          </a:xfrm>
          <a:prstGeom prst="roundRect">
            <a:avLst>
              <a:gd name="adj" fmla="val 1759"/>
            </a:avLst>
          </a:prstGeom>
          <a:solidFill>
            <a:srgbClr val="E9F6F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08760"/>
            <a:ext cx="3639312" cy="804672"/>
          </a:xfrm>
          <a:prstGeom prst="roundRect">
            <a:avLst>
              <a:gd name="adj" fmla="val 7955"/>
            </a:avLst>
          </a:prstGeom>
          <a:solidFill>
            <a:srgbClr val="0D9488"/>
          </a:solidFill>
          <a:ln/>
        </p:spPr>
      </p:sp>
      <p:sp>
        <p:nvSpPr>
          <p:cNvPr id="7" name="Shape 5"/>
          <p:cNvSpPr/>
          <p:nvPr/>
        </p:nvSpPr>
        <p:spPr>
          <a:xfrm>
            <a:off x="667512" y="1636776"/>
            <a:ext cx="548640" cy="548640"/>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71754" y="1741018"/>
            <a:ext cx="340157" cy="340157"/>
          </a:xfrm>
          <a:prstGeom prst="rect">
            <a:avLst/>
          </a:prstGeom>
        </p:spPr>
      </p:pic>
      <p:sp>
        <p:nvSpPr>
          <p:cNvPr id="9" name="Text 6"/>
          <p:cNvSpPr/>
          <p:nvPr/>
        </p:nvSpPr>
        <p:spPr>
          <a:xfrm>
            <a:off x="1307592"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Off-Road Features &amp; Tech</a:t>
            </a:r>
            <a:endParaRPr lang="en-US" sz="1450" dirty="0"/>
          </a:p>
        </p:txBody>
      </p:sp>
      <p:sp>
        <p:nvSpPr>
          <p:cNvPr id="10" name="Text 7"/>
          <p:cNvSpPr/>
          <p:nvPr/>
        </p:nvSpPr>
        <p:spPr>
          <a:xfrm>
            <a:off x="731520" y="2450592"/>
            <a:ext cx="3200400" cy="411480"/>
          </a:xfrm>
          <a:prstGeom prst="rect">
            <a:avLst/>
          </a:prstGeom>
          <a:noFill/>
          <a:ln/>
        </p:spPr>
        <p:txBody>
          <a:bodyPr wrap="square" lIns="0" tIns="0" rIns="0" bIns="0" rtlCol="0" anchor="ctr"/>
          <a:lstStyle/>
          <a:p>
            <a:pPr indent="0" marL="0">
              <a:buNone/>
            </a:pPr>
            <a:r>
              <a:rPr lang="en-US" sz="2600" b="1" dirty="0">
                <a:solidFill>
                  <a:srgbClr val="0D9488"/>
                </a:solidFill>
                <a:latin typeface="Arial" pitchFamily="34" charset="0"/>
                <a:ea typeface="Arial" pitchFamily="34" charset="-122"/>
                <a:cs typeface="Arial" pitchFamily="34" charset="-120"/>
              </a:rPr>
              <a:t>19</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11" name="Shape 8"/>
          <p:cNvSpPr/>
          <p:nvPr/>
        </p:nvSpPr>
        <p:spPr>
          <a:xfrm>
            <a:off x="758952" y="3090672"/>
            <a:ext cx="91440" cy="91440"/>
          </a:xfrm>
          <a:prstGeom prst="ellipse">
            <a:avLst/>
          </a:prstGeom>
          <a:solidFill>
            <a:srgbClr val="0D9488"/>
          </a:solidFill>
          <a:ln/>
        </p:spPr>
      </p:sp>
      <p:sp>
        <p:nvSpPr>
          <p:cNvPr id="12" name="Text 9"/>
          <p:cNvSpPr/>
          <p:nvPr/>
        </p:nvSpPr>
        <p:spPr>
          <a:xfrm>
            <a:off x="960120"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Hydraulic cross-linked suspension</a:t>
            </a:r>
            <a:endParaRPr lang="en-US" sz="1050" dirty="0"/>
          </a:p>
        </p:txBody>
      </p:sp>
      <p:sp>
        <p:nvSpPr>
          <p:cNvPr id="13" name="Shape 10"/>
          <p:cNvSpPr/>
          <p:nvPr/>
        </p:nvSpPr>
        <p:spPr>
          <a:xfrm>
            <a:off x="758952" y="3547872"/>
            <a:ext cx="91440" cy="91440"/>
          </a:xfrm>
          <a:prstGeom prst="ellipse">
            <a:avLst/>
          </a:prstGeom>
          <a:solidFill>
            <a:srgbClr val="0D9488"/>
          </a:solidFill>
          <a:ln/>
        </p:spPr>
      </p:sp>
      <p:sp>
        <p:nvSpPr>
          <p:cNvPr id="14" name="Text 11"/>
          <p:cNvSpPr/>
          <p:nvPr/>
        </p:nvSpPr>
        <p:spPr>
          <a:xfrm>
            <a:off x="960120"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Electronic locking differentials</a:t>
            </a:r>
            <a:endParaRPr lang="en-US" sz="1050" dirty="0"/>
          </a:p>
        </p:txBody>
      </p:sp>
      <p:sp>
        <p:nvSpPr>
          <p:cNvPr id="15" name="Shape 12"/>
          <p:cNvSpPr/>
          <p:nvPr/>
        </p:nvSpPr>
        <p:spPr>
          <a:xfrm>
            <a:off x="758952" y="4005072"/>
            <a:ext cx="91440" cy="91440"/>
          </a:xfrm>
          <a:prstGeom prst="ellipse">
            <a:avLst/>
          </a:prstGeom>
          <a:solidFill>
            <a:srgbClr val="0D9488"/>
          </a:solidFill>
          <a:ln/>
        </p:spPr>
      </p:sp>
      <p:sp>
        <p:nvSpPr>
          <p:cNvPr id="16" name="Text 13"/>
          <p:cNvSpPr/>
          <p:nvPr/>
        </p:nvSpPr>
        <p:spPr>
          <a:xfrm>
            <a:off x="960120"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BEV low-range: per-motor 2-speed off-road gearing</a:t>
            </a:r>
            <a:endParaRPr lang="en-US" sz="1050" dirty="0"/>
          </a:p>
        </p:txBody>
      </p:sp>
      <p:sp>
        <p:nvSpPr>
          <p:cNvPr id="17" name="Shape 14"/>
          <p:cNvSpPr/>
          <p:nvPr/>
        </p:nvSpPr>
        <p:spPr>
          <a:xfrm>
            <a:off x="758952" y="4462272"/>
            <a:ext cx="91440" cy="91440"/>
          </a:xfrm>
          <a:prstGeom prst="ellipse">
            <a:avLst/>
          </a:prstGeom>
          <a:solidFill>
            <a:srgbClr val="0D9488"/>
          </a:solidFill>
          <a:ln/>
        </p:spPr>
      </p:sp>
      <p:sp>
        <p:nvSpPr>
          <p:cNvPr id="18" name="Text 15"/>
          <p:cNvSpPr/>
          <p:nvPr/>
        </p:nvSpPr>
        <p:spPr>
          <a:xfrm>
            <a:off x="960120"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Quad-motor manoeuvre modes</a:t>
            </a:r>
            <a:endParaRPr lang="en-US" sz="1050" dirty="0"/>
          </a:p>
        </p:txBody>
      </p:sp>
      <p:sp>
        <p:nvSpPr>
          <p:cNvPr id="19" name="Shape 16"/>
          <p:cNvSpPr/>
          <p:nvPr/>
        </p:nvSpPr>
        <p:spPr>
          <a:xfrm>
            <a:off x="758952" y="4919472"/>
            <a:ext cx="91440" cy="91440"/>
          </a:xfrm>
          <a:prstGeom prst="ellipse">
            <a:avLst/>
          </a:prstGeom>
          <a:solidFill>
            <a:srgbClr val="0D9488"/>
          </a:solidFill>
          <a:ln/>
        </p:spPr>
      </p:sp>
      <p:sp>
        <p:nvSpPr>
          <p:cNvPr id="20" name="Text 17"/>
          <p:cNvSpPr/>
          <p:nvPr/>
        </p:nvSpPr>
        <p:spPr>
          <a:xfrm>
            <a:off x="960120"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Deep-wading engineering + wade sensing</a:t>
            </a:r>
            <a:endParaRPr lang="en-US" sz="1050" dirty="0"/>
          </a:p>
        </p:txBody>
      </p:sp>
      <p:sp>
        <p:nvSpPr>
          <p:cNvPr id="21" name="Text 18"/>
          <p:cNvSpPr/>
          <p:nvPr/>
        </p:nvSpPr>
        <p:spPr>
          <a:xfrm>
            <a:off x="731520"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Plus the 12-vehicle benchmark strip — Defender OCTA to Yangwang U8</a:t>
            </a:r>
            <a:endParaRPr lang="en-US" sz="950" dirty="0"/>
          </a:p>
        </p:txBody>
      </p:sp>
      <p:sp>
        <p:nvSpPr>
          <p:cNvPr id="22" name="Shape 19"/>
          <p:cNvSpPr/>
          <p:nvPr/>
        </p:nvSpPr>
        <p:spPr>
          <a:xfrm>
            <a:off x="4416552" y="1508760"/>
            <a:ext cx="3639312" cy="4297680"/>
          </a:xfrm>
          <a:prstGeom prst="roundRect">
            <a:avLst>
              <a:gd name="adj" fmla="val 1759"/>
            </a:avLst>
          </a:prstGeom>
          <a:solidFill>
            <a:srgbClr val="F1ED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3" name="Shape 20"/>
          <p:cNvSpPr/>
          <p:nvPr/>
        </p:nvSpPr>
        <p:spPr>
          <a:xfrm>
            <a:off x="4416552" y="1508760"/>
            <a:ext cx="3639312" cy="804672"/>
          </a:xfrm>
          <a:prstGeom prst="roundRect">
            <a:avLst>
              <a:gd name="adj" fmla="val 7955"/>
            </a:avLst>
          </a:prstGeom>
          <a:solidFill>
            <a:srgbClr val="6D28D9"/>
          </a:solidFill>
          <a:ln/>
        </p:spPr>
      </p:sp>
      <p:sp>
        <p:nvSpPr>
          <p:cNvPr id="24" name="Shape 21"/>
          <p:cNvSpPr/>
          <p:nvPr/>
        </p:nvSpPr>
        <p:spPr>
          <a:xfrm>
            <a:off x="4581144" y="1636776"/>
            <a:ext cx="548640" cy="548640"/>
          </a:xfrm>
          <a:prstGeom prst="ellipse">
            <a:avLst/>
          </a:prstGeom>
          <a:solidFill>
            <a:srgbClr val="6D28D9"/>
          </a:solidFill>
          <a:ln/>
        </p:spPr>
      </p:sp>
      <p:pic>
        <p:nvPicPr>
          <p:cNvPr id="25" name="Image 1" descr="preencoded.png">    </p:cNvPr>
          <p:cNvPicPr>
            <a:picLocks noChangeAspect="1"/>
          </p:cNvPicPr>
          <p:nvPr/>
        </p:nvPicPr>
        <p:blipFill>
          <a:blip r:embed="rId2"/>
          <a:stretch>
            <a:fillRect/>
          </a:stretch>
        </p:blipFill>
        <p:spPr>
          <a:xfrm>
            <a:off x="4685386" y="1741018"/>
            <a:ext cx="340157" cy="340157"/>
          </a:xfrm>
          <a:prstGeom prst="rect">
            <a:avLst/>
          </a:prstGeom>
        </p:spPr>
      </p:pic>
      <p:sp>
        <p:nvSpPr>
          <p:cNvPr id="26" name="Text 22"/>
          <p:cNvSpPr/>
          <p:nvPr/>
        </p:nvSpPr>
        <p:spPr>
          <a:xfrm>
            <a:off x="5221224"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Luxury / Premium SUV</a:t>
            </a:r>
            <a:endParaRPr lang="en-US" sz="1450" dirty="0"/>
          </a:p>
        </p:txBody>
      </p:sp>
      <p:sp>
        <p:nvSpPr>
          <p:cNvPr id="27" name="Text 23"/>
          <p:cNvSpPr/>
          <p:nvPr/>
        </p:nvSpPr>
        <p:spPr>
          <a:xfrm>
            <a:off x="4645152" y="2450592"/>
            <a:ext cx="3200400" cy="411480"/>
          </a:xfrm>
          <a:prstGeom prst="rect">
            <a:avLst/>
          </a:prstGeom>
          <a:noFill/>
          <a:ln/>
        </p:spPr>
        <p:txBody>
          <a:bodyPr wrap="square" lIns="0" tIns="0" rIns="0" bIns="0" rtlCol="0" anchor="ctr"/>
          <a:lstStyle/>
          <a:p>
            <a:pPr indent="0" marL="0">
              <a:buNone/>
            </a:pPr>
            <a:r>
              <a:rPr lang="en-US" sz="2600" b="1" dirty="0">
                <a:solidFill>
                  <a:srgbClr val="6D28D9"/>
                </a:solidFill>
                <a:latin typeface="Arial" pitchFamily="34" charset="0"/>
                <a:ea typeface="Arial" pitchFamily="34" charset="-122"/>
                <a:cs typeface="Arial" pitchFamily="34" charset="-120"/>
              </a:rPr>
              <a:t>20</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28" name="Shape 24"/>
          <p:cNvSpPr/>
          <p:nvPr/>
        </p:nvSpPr>
        <p:spPr>
          <a:xfrm>
            <a:off x="4672584" y="3090672"/>
            <a:ext cx="91440" cy="91440"/>
          </a:xfrm>
          <a:prstGeom prst="ellipse">
            <a:avLst/>
          </a:prstGeom>
          <a:solidFill>
            <a:srgbClr val="6D28D9"/>
          </a:solidFill>
          <a:ln/>
        </p:spPr>
      </p:sp>
      <p:sp>
        <p:nvSpPr>
          <p:cNvPr id="29" name="Text 25"/>
          <p:cNvSpPr/>
          <p:nvPr/>
        </p:nvSpPr>
        <p:spPr>
          <a:xfrm>
            <a:off x="4873752"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Air suspension cost collapse</a:t>
            </a:r>
            <a:endParaRPr lang="en-US" sz="1050" dirty="0"/>
          </a:p>
        </p:txBody>
      </p:sp>
      <p:sp>
        <p:nvSpPr>
          <p:cNvPr id="30" name="Shape 26"/>
          <p:cNvSpPr/>
          <p:nvPr/>
        </p:nvSpPr>
        <p:spPr>
          <a:xfrm>
            <a:off x="4672584" y="3547872"/>
            <a:ext cx="91440" cy="91440"/>
          </a:xfrm>
          <a:prstGeom prst="ellipse">
            <a:avLst/>
          </a:prstGeom>
          <a:solidFill>
            <a:srgbClr val="6D28D9"/>
          </a:solidFill>
          <a:ln/>
        </p:spPr>
      </p:sp>
      <p:sp>
        <p:nvSpPr>
          <p:cNvPr id="31" name="Text 27"/>
          <p:cNvSpPr/>
          <p:nvPr/>
        </p:nvSpPr>
        <p:spPr>
          <a:xfrm>
            <a:off x="4873752"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Power-articulating lounge/zero-g front seats</a:t>
            </a:r>
            <a:endParaRPr lang="en-US" sz="1050" dirty="0"/>
          </a:p>
        </p:txBody>
      </p:sp>
      <p:sp>
        <p:nvSpPr>
          <p:cNvPr id="32" name="Shape 28"/>
          <p:cNvSpPr/>
          <p:nvPr/>
        </p:nvSpPr>
        <p:spPr>
          <a:xfrm>
            <a:off x="4672584" y="4005072"/>
            <a:ext cx="91440" cy="91440"/>
          </a:xfrm>
          <a:prstGeom prst="ellipse">
            <a:avLst/>
          </a:prstGeom>
          <a:solidFill>
            <a:srgbClr val="6D28D9"/>
          </a:solidFill>
          <a:ln/>
        </p:spPr>
      </p:sp>
      <p:sp>
        <p:nvSpPr>
          <p:cNvPr id="33" name="Text 29"/>
          <p:cNvSpPr/>
          <p:nvPr/>
        </p:nvSpPr>
        <p:spPr>
          <a:xfrm>
            <a:off x="4873752"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Software road-noise ANC replacing mass</a:t>
            </a:r>
            <a:endParaRPr lang="en-US" sz="1050" dirty="0"/>
          </a:p>
        </p:txBody>
      </p:sp>
      <p:sp>
        <p:nvSpPr>
          <p:cNvPr id="34" name="Shape 30"/>
          <p:cNvSpPr/>
          <p:nvPr/>
        </p:nvSpPr>
        <p:spPr>
          <a:xfrm>
            <a:off x="4672584" y="4462272"/>
            <a:ext cx="91440" cy="91440"/>
          </a:xfrm>
          <a:prstGeom prst="ellipse">
            <a:avLst/>
          </a:prstGeom>
          <a:solidFill>
            <a:srgbClr val="6D28D9"/>
          </a:solidFill>
          <a:ln/>
        </p:spPr>
      </p:sp>
      <p:sp>
        <p:nvSpPr>
          <p:cNvPr id="35" name="Text 31"/>
          <p:cNvSpPr/>
          <p:nvPr/>
        </p:nvSpPr>
        <p:spPr>
          <a:xfrm>
            <a:off x="4873752"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AR-HUD and panoramic displays</a:t>
            </a:r>
            <a:endParaRPr lang="en-US" sz="1050" dirty="0"/>
          </a:p>
        </p:txBody>
      </p:sp>
      <p:sp>
        <p:nvSpPr>
          <p:cNvPr id="36" name="Shape 32"/>
          <p:cNvSpPr/>
          <p:nvPr/>
        </p:nvSpPr>
        <p:spPr>
          <a:xfrm>
            <a:off x="4672584" y="4919472"/>
            <a:ext cx="91440" cy="91440"/>
          </a:xfrm>
          <a:prstGeom prst="ellipse">
            <a:avLst/>
          </a:prstGeom>
          <a:solidFill>
            <a:srgbClr val="6D28D9"/>
          </a:solidFill>
          <a:ln/>
        </p:spPr>
      </p:sp>
      <p:sp>
        <p:nvSpPr>
          <p:cNvPr id="37" name="Text 33"/>
          <p:cNvSpPr/>
          <p:nvPr/>
        </p:nvSpPr>
        <p:spPr>
          <a:xfrm>
            <a:off x="4873752"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Camera/road-preview predictive suspension</a:t>
            </a:r>
            <a:endParaRPr lang="en-US" sz="1050" dirty="0"/>
          </a:p>
        </p:txBody>
      </p:sp>
      <p:sp>
        <p:nvSpPr>
          <p:cNvPr id="38" name="Text 34"/>
          <p:cNvSpPr/>
          <p:nvPr/>
        </p:nvSpPr>
        <p:spPr>
          <a:xfrm>
            <a:off x="4645152"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comfort &amp; craft arms race, tracked with evidence</a:t>
            </a:r>
            <a:endParaRPr lang="en-US" sz="950" dirty="0"/>
          </a:p>
        </p:txBody>
      </p:sp>
      <p:sp>
        <p:nvSpPr>
          <p:cNvPr id="39" name="Shape 35"/>
          <p:cNvSpPr/>
          <p:nvPr/>
        </p:nvSpPr>
        <p:spPr>
          <a:xfrm>
            <a:off x="8330184" y="1508760"/>
            <a:ext cx="3639312" cy="4297680"/>
          </a:xfrm>
          <a:prstGeom prst="roundRect">
            <a:avLst>
              <a:gd name="adj" fmla="val 1759"/>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40" name="Shape 36"/>
          <p:cNvSpPr/>
          <p:nvPr/>
        </p:nvSpPr>
        <p:spPr>
          <a:xfrm>
            <a:off x="8330184" y="1508760"/>
            <a:ext cx="3639312" cy="804672"/>
          </a:xfrm>
          <a:prstGeom prst="roundRect">
            <a:avLst>
              <a:gd name="adj" fmla="val 7955"/>
            </a:avLst>
          </a:prstGeom>
          <a:solidFill>
            <a:srgbClr val="0D1F33"/>
          </a:solidFill>
          <a:ln/>
        </p:spPr>
      </p:sp>
      <p:sp>
        <p:nvSpPr>
          <p:cNvPr id="41" name="Shape 37"/>
          <p:cNvSpPr/>
          <p:nvPr/>
        </p:nvSpPr>
        <p:spPr>
          <a:xfrm>
            <a:off x="8494776" y="1636776"/>
            <a:ext cx="548640" cy="548640"/>
          </a:xfrm>
          <a:prstGeom prst="ellipse">
            <a:avLst/>
          </a:prstGeom>
          <a:solidFill>
            <a:srgbClr val="0D1F33"/>
          </a:solidFill>
          <a:ln/>
        </p:spPr>
      </p:sp>
      <p:pic>
        <p:nvPicPr>
          <p:cNvPr id="42" name="Image 2" descr="preencoded.png">    </p:cNvPr>
          <p:cNvPicPr>
            <a:picLocks noChangeAspect="1"/>
          </p:cNvPicPr>
          <p:nvPr/>
        </p:nvPicPr>
        <p:blipFill>
          <a:blip r:embed="rId3"/>
          <a:stretch>
            <a:fillRect/>
          </a:stretch>
        </p:blipFill>
        <p:spPr>
          <a:xfrm>
            <a:off x="8599018" y="1741018"/>
            <a:ext cx="340157" cy="340157"/>
          </a:xfrm>
          <a:prstGeom prst="rect">
            <a:avLst/>
          </a:prstGeom>
        </p:spPr>
      </p:pic>
      <p:sp>
        <p:nvSpPr>
          <p:cNvPr id="43" name="Text 38"/>
          <p:cNvSpPr/>
          <p:nvPr/>
        </p:nvSpPr>
        <p:spPr>
          <a:xfrm>
            <a:off x="9134856"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SDV / ADAS &amp; Software</a:t>
            </a:r>
            <a:endParaRPr lang="en-US" sz="1450" dirty="0"/>
          </a:p>
        </p:txBody>
      </p:sp>
      <p:sp>
        <p:nvSpPr>
          <p:cNvPr id="44" name="Text 39"/>
          <p:cNvSpPr/>
          <p:nvPr/>
        </p:nvSpPr>
        <p:spPr>
          <a:xfrm>
            <a:off x="8558784" y="2450592"/>
            <a:ext cx="3200400" cy="411480"/>
          </a:xfrm>
          <a:prstGeom prst="rect">
            <a:avLst/>
          </a:prstGeom>
          <a:noFill/>
          <a:ln/>
        </p:spPr>
        <p:txBody>
          <a:bodyPr wrap="square" lIns="0" tIns="0" rIns="0" bIns="0" rtlCol="0" anchor="ctr"/>
          <a:lstStyle/>
          <a:p>
            <a:pPr indent="0" marL="0">
              <a:buNone/>
            </a:pPr>
            <a:r>
              <a:rPr lang="en-US" sz="2600" b="1" dirty="0">
                <a:solidFill>
                  <a:srgbClr val="0D1F33"/>
                </a:solidFill>
                <a:latin typeface="Arial" pitchFamily="34" charset="0"/>
                <a:ea typeface="Arial" pitchFamily="34" charset="-122"/>
                <a:cs typeface="Arial" pitchFamily="34" charset="-120"/>
              </a:rPr>
              <a:t>24</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45" name="Shape 40"/>
          <p:cNvSpPr/>
          <p:nvPr/>
        </p:nvSpPr>
        <p:spPr>
          <a:xfrm>
            <a:off x="8586216" y="3090672"/>
            <a:ext cx="91440" cy="91440"/>
          </a:xfrm>
          <a:prstGeom prst="ellipse">
            <a:avLst/>
          </a:prstGeom>
          <a:solidFill>
            <a:srgbClr val="0D1F33"/>
          </a:solidFill>
          <a:ln/>
        </p:spPr>
      </p:sp>
      <p:sp>
        <p:nvSpPr>
          <p:cNvPr id="46" name="Text 41"/>
          <p:cNvSpPr/>
          <p:nvPr/>
        </p:nvSpPr>
        <p:spPr>
          <a:xfrm>
            <a:off x="8787384"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Zonal E/E architecture + central compute</a:t>
            </a:r>
            <a:endParaRPr lang="en-US" sz="1050" dirty="0"/>
          </a:p>
        </p:txBody>
      </p:sp>
      <p:sp>
        <p:nvSpPr>
          <p:cNvPr id="47" name="Shape 42"/>
          <p:cNvSpPr/>
          <p:nvPr/>
        </p:nvSpPr>
        <p:spPr>
          <a:xfrm>
            <a:off x="8586216" y="3547872"/>
            <a:ext cx="91440" cy="91440"/>
          </a:xfrm>
          <a:prstGeom prst="ellipse">
            <a:avLst/>
          </a:prstGeom>
          <a:solidFill>
            <a:srgbClr val="0D1F33"/>
          </a:solidFill>
          <a:ln/>
        </p:spPr>
      </p:sp>
      <p:sp>
        <p:nvSpPr>
          <p:cNvPr id="48" name="Text 43"/>
          <p:cNvSpPr/>
          <p:nvPr/>
        </p:nvSpPr>
        <p:spPr>
          <a:xfrm>
            <a:off x="8787384"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End-to-end AI driving stacks</a:t>
            </a:r>
            <a:endParaRPr lang="en-US" sz="1050" dirty="0"/>
          </a:p>
        </p:txBody>
      </p:sp>
      <p:sp>
        <p:nvSpPr>
          <p:cNvPr id="49" name="Shape 44"/>
          <p:cNvSpPr/>
          <p:nvPr/>
        </p:nvSpPr>
        <p:spPr>
          <a:xfrm>
            <a:off x="8586216" y="4005072"/>
            <a:ext cx="91440" cy="91440"/>
          </a:xfrm>
          <a:prstGeom prst="ellipse">
            <a:avLst/>
          </a:prstGeom>
          <a:solidFill>
            <a:srgbClr val="0D1F33"/>
          </a:solidFill>
          <a:ln/>
        </p:spPr>
      </p:sp>
      <p:sp>
        <p:nvSpPr>
          <p:cNvPr id="50" name="Text 45"/>
          <p:cNvSpPr/>
          <p:nvPr/>
        </p:nvSpPr>
        <p:spPr>
          <a:xfrm>
            <a:off x="8787384"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 driver &amp; occupant monitoring as standard</a:t>
            </a:r>
            <a:endParaRPr lang="en-US" sz="1050" dirty="0"/>
          </a:p>
        </p:txBody>
      </p:sp>
      <p:sp>
        <p:nvSpPr>
          <p:cNvPr id="51" name="Shape 46"/>
          <p:cNvSpPr/>
          <p:nvPr/>
        </p:nvSpPr>
        <p:spPr>
          <a:xfrm>
            <a:off x="8586216" y="4462272"/>
            <a:ext cx="91440" cy="91440"/>
          </a:xfrm>
          <a:prstGeom prst="ellipse">
            <a:avLst/>
          </a:prstGeom>
          <a:solidFill>
            <a:srgbClr val="0D1F33"/>
          </a:solidFill>
          <a:ln/>
        </p:spPr>
      </p:sp>
      <p:sp>
        <p:nvSpPr>
          <p:cNvPr id="52" name="Text 47"/>
          <p:cNvSpPr/>
          <p:nvPr/>
        </p:nvSpPr>
        <p:spPr>
          <a:xfrm>
            <a:off x="8787384"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Onboard AI compute</a:t>
            </a:r>
            <a:endParaRPr lang="en-US" sz="1050" dirty="0"/>
          </a:p>
        </p:txBody>
      </p:sp>
      <p:sp>
        <p:nvSpPr>
          <p:cNvPr id="53" name="Shape 48"/>
          <p:cNvSpPr/>
          <p:nvPr/>
        </p:nvSpPr>
        <p:spPr>
          <a:xfrm>
            <a:off x="8586216" y="4919472"/>
            <a:ext cx="91440" cy="91440"/>
          </a:xfrm>
          <a:prstGeom prst="ellipse">
            <a:avLst/>
          </a:prstGeom>
          <a:solidFill>
            <a:srgbClr val="0D1F33"/>
          </a:solidFill>
          <a:ln/>
        </p:spPr>
      </p:sp>
      <p:sp>
        <p:nvSpPr>
          <p:cNvPr id="54" name="Text 49"/>
          <p:cNvSpPr/>
          <p:nvPr/>
        </p:nvSpPr>
        <p:spPr>
          <a:xfrm>
            <a:off x="8787384"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Virtual ECUs &amp; software-defined consolidation</a:t>
            </a:r>
            <a:endParaRPr lang="en-US" sz="1050" dirty="0"/>
          </a:p>
        </p:txBody>
      </p:sp>
      <p:sp>
        <p:nvSpPr>
          <p:cNvPr id="55" name="Text 50"/>
          <p:cNvSpPr/>
          <p:nvPr/>
        </p:nvSpPr>
        <p:spPr>
          <a:xfrm>
            <a:off x="8558784"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software-defined half of the vehicle, end to end</a:t>
            </a:r>
            <a:endParaRPr lang="en-US" sz="950" dirty="0"/>
          </a:p>
        </p:txBody>
      </p:sp>
      <p:sp>
        <p:nvSpPr>
          <p:cNvPr id="56" name="Text 5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7/15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890979" cy="329184"/>
          </a:xfrm>
          <a:prstGeom prst="roundRect">
            <a:avLst>
              <a:gd name="adj" fmla="val 50000"/>
            </a:avLst>
          </a:prstGeom>
          <a:solidFill>
            <a:srgbClr val="0D1F33"/>
          </a:solidFill>
          <a:ln/>
        </p:spPr>
      </p:sp>
      <p:sp>
        <p:nvSpPr>
          <p:cNvPr id="3" name="Text 1"/>
          <p:cNvSpPr/>
          <p:nvPr/>
        </p:nvSpPr>
        <p:spPr>
          <a:xfrm>
            <a:off x="502920" y="347472"/>
            <a:ext cx="1890979"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REGULATORY RADAR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Dated obligations — with their LEGAL status, not just their headline</a:t>
            </a:r>
            <a:endParaRPr lang="en-US" sz="2800" dirty="0"/>
          </a:p>
        </p:txBody>
      </p:sp>
      <p:sp>
        <p:nvSpPr>
          <p:cNvPr id="5" name="Shape 3"/>
          <p:cNvSpPr/>
          <p:nvPr/>
        </p:nvSpPr>
        <p:spPr>
          <a:xfrm>
            <a:off x="731520" y="3657600"/>
            <a:ext cx="10698480" cy="0"/>
          </a:xfrm>
          <a:prstGeom prst="line">
            <a:avLst/>
          </a:prstGeom>
          <a:noFill/>
          <a:ln w="25400">
            <a:solidFill>
              <a:srgbClr val="0D1F33"/>
            </a:solidFill>
            <a:prstDash val="solid"/>
          </a:ln>
        </p:spPr>
      </p:sp>
      <p:sp>
        <p:nvSpPr>
          <p:cNvPr id="6" name="Shape 4"/>
          <p:cNvSpPr/>
          <p:nvPr/>
        </p:nvSpPr>
        <p:spPr>
          <a:xfrm>
            <a:off x="649224" y="3575304"/>
            <a:ext cx="164592" cy="164592"/>
          </a:xfrm>
          <a:prstGeom prst="ellipse">
            <a:avLst/>
          </a:prstGeom>
          <a:solidFill>
            <a:srgbClr val="0D9488"/>
          </a:solidFill>
          <a:ln/>
        </p:spPr>
      </p:sp>
      <p:sp>
        <p:nvSpPr>
          <p:cNvPr id="7" name="Shape 5"/>
          <p:cNvSpPr/>
          <p:nvPr/>
        </p:nvSpPr>
        <p:spPr>
          <a:xfrm>
            <a:off x="731520" y="2724912"/>
            <a:ext cx="0" cy="850392"/>
          </a:xfrm>
          <a:prstGeom prst="line">
            <a:avLst/>
          </a:prstGeom>
          <a:noFill/>
          <a:ln w="12700">
            <a:solidFill>
              <a:srgbClr val="C3CEDA"/>
            </a:solidFill>
            <a:prstDash val="solid"/>
          </a:ln>
        </p:spPr>
      </p:sp>
      <p:sp>
        <p:nvSpPr>
          <p:cNvPr id="8" name="Text 6"/>
          <p:cNvSpPr/>
          <p:nvPr/>
        </p:nvSpPr>
        <p:spPr>
          <a:xfrm>
            <a:off x="274320"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2024</a:t>
            </a:r>
            <a:endParaRPr lang="en-US" sz="1200" dirty="0"/>
          </a:p>
        </p:txBody>
      </p:sp>
      <p:sp>
        <p:nvSpPr>
          <p:cNvPr id="9" name="Text 7"/>
          <p:cNvSpPr/>
          <p:nvPr/>
        </p:nvSpPr>
        <p:spPr>
          <a:xfrm>
            <a:off x="274320"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General Safety Regulation 2</a:t>
            </a:r>
            <a:endParaRPr lang="en-US" sz="900" dirty="0"/>
          </a:p>
        </p:txBody>
      </p:sp>
      <p:sp>
        <p:nvSpPr>
          <p:cNvPr id="10" name="Shape 8"/>
          <p:cNvSpPr/>
          <p:nvPr/>
        </p:nvSpPr>
        <p:spPr>
          <a:xfrm>
            <a:off x="274320" y="2542032"/>
            <a:ext cx="1133856" cy="219456"/>
          </a:xfrm>
          <a:prstGeom prst="roundRect">
            <a:avLst>
              <a:gd name="adj" fmla="val 50000"/>
            </a:avLst>
          </a:prstGeom>
          <a:solidFill>
            <a:srgbClr val="0D9488"/>
          </a:solidFill>
          <a:ln/>
        </p:spPr>
      </p:sp>
      <p:sp>
        <p:nvSpPr>
          <p:cNvPr id="11" name="Text 9"/>
          <p:cNvSpPr/>
          <p:nvPr/>
        </p:nvSpPr>
        <p:spPr>
          <a:xfrm>
            <a:off x="27432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2" name="Shape 10"/>
          <p:cNvSpPr/>
          <p:nvPr/>
        </p:nvSpPr>
        <p:spPr>
          <a:xfrm>
            <a:off x="2594402" y="3575304"/>
            <a:ext cx="164592" cy="164592"/>
          </a:xfrm>
          <a:prstGeom prst="ellipse">
            <a:avLst/>
          </a:prstGeom>
          <a:solidFill>
            <a:srgbClr val="0D9488"/>
          </a:solidFill>
          <a:ln/>
        </p:spPr>
      </p:sp>
      <p:sp>
        <p:nvSpPr>
          <p:cNvPr id="13" name="Shape 11"/>
          <p:cNvSpPr/>
          <p:nvPr/>
        </p:nvSpPr>
        <p:spPr>
          <a:xfrm>
            <a:off x="2676698" y="3739896"/>
            <a:ext cx="0" cy="850392"/>
          </a:xfrm>
          <a:prstGeom prst="line">
            <a:avLst/>
          </a:prstGeom>
          <a:noFill/>
          <a:ln w="12700">
            <a:solidFill>
              <a:srgbClr val="C3CEDA"/>
            </a:solidFill>
            <a:prstDash val="solid"/>
          </a:ln>
        </p:spPr>
      </p:sp>
      <p:sp>
        <p:nvSpPr>
          <p:cNvPr id="14" name="Text 12"/>
          <p:cNvSpPr/>
          <p:nvPr/>
        </p:nvSpPr>
        <p:spPr>
          <a:xfrm>
            <a:off x="1899458"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15" name="Text 13"/>
          <p:cNvSpPr/>
          <p:nvPr/>
        </p:nvSpPr>
        <p:spPr>
          <a:xfrm>
            <a:off x="1716578"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CBAM definitive regime</a:t>
            </a:r>
            <a:endParaRPr lang="en-US" sz="900" dirty="0"/>
          </a:p>
        </p:txBody>
      </p:sp>
      <p:sp>
        <p:nvSpPr>
          <p:cNvPr id="16" name="Shape 14"/>
          <p:cNvSpPr/>
          <p:nvPr/>
        </p:nvSpPr>
        <p:spPr>
          <a:xfrm>
            <a:off x="2109770" y="4864608"/>
            <a:ext cx="1133856" cy="219456"/>
          </a:xfrm>
          <a:prstGeom prst="roundRect">
            <a:avLst>
              <a:gd name="adj" fmla="val 50000"/>
            </a:avLst>
          </a:prstGeom>
          <a:solidFill>
            <a:srgbClr val="0D9488"/>
          </a:solidFill>
          <a:ln/>
        </p:spPr>
      </p:sp>
      <p:sp>
        <p:nvSpPr>
          <p:cNvPr id="17" name="Text 15"/>
          <p:cNvSpPr/>
          <p:nvPr/>
        </p:nvSpPr>
        <p:spPr>
          <a:xfrm>
            <a:off x="2109770"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8" name="Shape 16"/>
          <p:cNvSpPr/>
          <p:nvPr/>
        </p:nvSpPr>
        <p:spPr>
          <a:xfrm>
            <a:off x="2594402" y="3575304"/>
            <a:ext cx="164592" cy="164592"/>
          </a:xfrm>
          <a:prstGeom prst="ellipse">
            <a:avLst/>
          </a:prstGeom>
          <a:solidFill>
            <a:srgbClr val="0D9488"/>
          </a:solidFill>
          <a:ln/>
        </p:spPr>
      </p:sp>
      <p:sp>
        <p:nvSpPr>
          <p:cNvPr id="19" name="Shape 17"/>
          <p:cNvSpPr/>
          <p:nvPr/>
        </p:nvSpPr>
        <p:spPr>
          <a:xfrm>
            <a:off x="2676698" y="2724912"/>
            <a:ext cx="0" cy="850392"/>
          </a:xfrm>
          <a:prstGeom prst="line">
            <a:avLst/>
          </a:prstGeom>
          <a:noFill/>
          <a:ln w="12700">
            <a:solidFill>
              <a:srgbClr val="C3CEDA"/>
            </a:solidFill>
            <a:prstDash val="solid"/>
          </a:ln>
        </p:spPr>
      </p:sp>
      <p:sp>
        <p:nvSpPr>
          <p:cNvPr id="20" name="Text 18"/>
          <p:cNvSpPr/>
          <p:nvPr/>
        </p:nvSpPr>
        <p:spPr>
          <a:xfrm>
            <a:off x="1899458"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21" name="Text 19"/>
          <p:cNvSpPr/>
          <p:nvPr/>
        </p:nvSpPr>
        <p:spPr>
          <a:xfrm>
            <a:off x="1716578"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GB 38031-2025 battery safety</a:t>
            </a:r>
            <a:endParaRPr lang="en-US" sz="900" dirty="0"/>
          </a:p>
        </p:txBody>
      </p:sp>
      <p:sp>
        <p:nvSpPr>
          <p:cNvPr id="22" name="Shape 20"/>
          <p:cNvSpPr/>
          <p:nvPr/>
        </p:nvSpPr>
        <p:spPr>
          <a:xfrm>
            <a:off x="2109770" y="2542032"/>
            <a:ext cx="1133856" cy="219456"/>
          </a:xfrm>
          <a:prstGeom prst="roundRect">
            <a:avLst>
              <a:gd name="adj" fmla="val 50000"/>
            </a:avLst>
          </a:prstGeom>
          <a:solidFill>
            <a:srgbClr val="0D9488"/>
          </a:solidFill>
          <a:ln/>
        </p:spPr>
      </p:sp>
      <p:sp>
        <p:nvSpPr>
          <p:cNvPr id="23" name="Text 21"/>
          <p:cNvSpPr/>
          <p:nvPr/>
        </p:nvSpPr>
        <p:spPr>
          <a:xfrm>
            <a:off x="210977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24" name="Shape 22"/>
          <p:cNvSpPr/>
          <p:nvPr/>
        </p:nvSpPr>
        <p:spPr>
          <a:xfrm>
            <a:off x="3566991" y="3575304"/>
            <a:ext cx="164592" cy="164592"/>
          </a:xfrm>
          <a:prstGeom prst="ellipse">
            <a:avLst/>
          </a:prstGeom>
          <a:solidFill>
            <a:srgbClr val="F59E0B"/>
          </a:solidFill>
          <a:ln/>
        </p:spPr>
      </p:sp>
      <p:sp>
        <p:nvSpPr>
          <p:cNvPr id="25" name="Shape 23"/>
          <p:cNvSpPr/>
          <p:nvPr/>
        </p:nvSpPr>
        <p:spPr>
          <a:xfrm>
            <a:off x="3649287" y="3739896"/>
            <a:ext cx="0" cy="850392"/>
          </a:xfrm>
          <a:prstGeom prst="line">
            <a:avLst/>
          </a:prstGeom>
          <a:noFill/>
          <a:ln w="12700">
            <a:solidFill>
              <a:srgbClr val="C3CEDA"/>
            </a:solidFill>
            <a:prstDash val="solid"/>
          </a:ln>
        </p:spPr>
      </p:sp>
      <p:sp>
        <p:nvSpPr>
          <p:cNvPr id="26" name="Text 24"/>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27" name="Text 25"/>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Euro 7 (M1)</a:t>
            </a:r>
            <a:endParaRPr lang="en-US" sz="900" dirty="0"/>
          </a:p>
        </p:txBody>
      </p:sp>
      <p:sp>
        <p:nvSpPr>
          <p:cNvPr id="28" name="Shape 26"/>
          <p:cNvSpPr/>
          <p:nvPr/>
        </p:nvSpPr>
        <p:spPr>
          <a:xfrm>
            <a:off x="3082359" y="4864608"/>
            <a:ext cx="1133856" cy="219456"/>
          </a:xfrm>
          <a:prstGeom prst="roundRect">
            <a:avLst>
              <a:gd name="adj" fmla="val 50000"/>
            </a:avLst>
          </a:prstGeom>
          <a:solidFill>
            <a:srgbClr val="F59E0B"/>
          </a:solidFill>
          <a:ln/>
        </p:spPr>
      </p:sp>
      <p:sp>
        <p:nvSpPr>
          <p:cNvPr id="29" name="Text 27"/>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0" name="Shape 28"/>
          <p:cNvSpPr/>
          <p:nvPr/>
        </p:nvSpPr>
        <p:spPr>
          <a:xfrm>
            <a:off x="3566991" y="3575304"/>
            <a:ext cx="164592" cy="164592"/>
          </a:xfrm>
          <a:prstGeom prst="ellipse">
            <a:avLst/>
          </a:prstGeom>
          <a:solidFill>
            <a:srgbClr val="F59E0B"/>
          </a:solidFill>
          <a:ln/>
        </p:spPr>
      </p:sp>
      <p:sp>
        <p:nvSpPr>
          <p:cNvPr id="31" name="Shape 29"/>
          <p:cNvSpPr/>
          <p:nvPr/>
        </p:nvSpPr>
        <p:spPr>
          <a:xfrm>
            <a:off x="3649287" y="2724912"/>
            <a:ext cx="0" cy="850392"/>
          </a:xfrm>
          <a:prstGeom prst="line">
            <a:avLst/>
          </a:prstGeom>
          <a:noFill/>
          <a:ln w="12700">
            <a:solidFill>
              <a:srgbClr val="C3CEDA"/>
            </a:solidFill>
            <a:prstDash val="solid"/>
          </a:ln>
        </p:spPr>
      </p:sp>
      <p:sp>
        <p:nvSpPr>
          <p:cNvPr id="32" name="Text 30"/>
          <p:cNvSpPr/>
          <p:nvPr/>
        </p:nvSpPr>
        <p:spPr>
          <a:xfrm>
            <a:off x="2872047"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3" name="Text 31"/>
          <p:cNvSpPr/>
          <p:nvPr/>
        </p:nvSpPr>
        <p:spPr>
          <a:xfrm>
            <a:off x="2689167"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digital passport</a:t>
            </a:r>
            <a:endParaRPr lang="en-US" sz="900" dirty="0"/>
          </a:p>
        </p:txBody>
      </p:sp>
      <p:sp>
        <p:nvSpPr>
          <p:cNvPr id="34" name="Shape 32"/>
          <p:cNvSpPr/>
          <p:nvPr/>
        </p:nvSpPr>
        <p:spPr>
          <a:xfrm>
            <a:off x="3082359" y="2542032"/>
            <a:ext cx="1133856" cy="219456"/>
          </a:xfrm>
          <a:prstGeom prst="roundRect">
            <a:avLst>
              <a:gd name="adj" fmla="val 50000"/>
            </a:avLst>
          </a:prstGeom>
          <a:solidFill>
            <a:srgbClr val="F59E0B"/>
          </a:solidFill>
          <a:ln/>
        </p:spPr>
      </p:sp>
      <p:sp>
        <p:nvSpPr>
          <p:cNvPr id="35" name="Text 33"/>
          <p:cNvSpPr/>
          <p:nvPr/>
        </p:nvSpPr>
        <p:spPr>
          <a:xfrm>
            <a:off x="3082359"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6" name="Shape 34"/>
          <p:cNvSpPr/>
          <p:nvPr/>
        </p:nvSpPr>
        <p:spPr>
          <a:xfrm>
            <a:off x="3566991" y="3575304"/>
            <a:ext cx="164592" cy="164592"/>
          </a:xfrm>
          <a:prstGeom prst="ellipse">
            <a:avLst/>
          </a:prstGeom>
          <a:solidFill>
            <a:srgbClr val="B91C1C"/>
          </a:solidFill>
          <a:ln/>
        </p:spPr>
      </p:sp>
      <p:sp>
        <p:nvSpPr>
          <p:cNvPr id="37" name="Shape 35"/>
          <p:cNvSpPr/>
          <p:nvPr/>
        </p:nvSpPr>
        <p:spPr>
          <a:xfrm>
            <a:off x="3649287" y="3739896"/>
            <a:ext cx="0" cy="850392"/>
          </a:xfrm>
          <a:prstGeom prst="line">
            <a:avLst/>
          </a:prstGeom>
          <a:noFill/>
          <a:ln w="12700">
            <a:solidFill>
              <a:srgbClr val="C3CEDA"/>
            </a:solidFill>
            <a:prstDash val="solid"/>
          </a:ln>
        </p:spPr>
      </p:sp>
      <p:sp>
        <p:nvSpPr>
          <p:cNvPr id="38" name="Text 36"/>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9" name="Text 37"/>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US EPA MY2027-2032 standards</a:t>
            </a:r>
            <a:endParaRPr lang="en-US" sz="900" dirty="0"/>
          </a:p>
        </p:txBody>
      </p:sp>
      <p:sp>
        <p:nvSpPr>
          <p:cNvPr id="40" name="Shape 38"/>
          <p:cNvSpPr/>
          <p:nvPr/>
        </p:nvSpPr>
        <p:spPr>
          <a:xfrm>
            <a:off x="3082359" y="4864608"/>
            <a:ext cx="1133856" cy="219456"/>
          </a:xfrm>
          <a:prstGeom prst="roundRect">
            <a:avLst>
              <a:gd name="adj" fmla="val 50000"/>
            </a:avLst>
          </a:prstGeom>
          <a:solidFill>
            <a:srgbClr val="B91C1C"/>
          </a:solidFill>
          <a:ln/>
        </p:spPr>
      </p:sp>
      <p:sp>
        <p:nvSpPr>
          <p:cNvPr id="41" name="Text 39"/>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UNDER REVISION</a:t>
            </a:r>
            <a:endParaRPr lang="en-US" sz="750" dirty="0"/>
          </a:p>
        </p:txBody>
      </p:sp>
      <p:sp>
        <p:nvSpPr>
          <p:cNvPr id="42" name="Shape 40"/>
          <p:cNvSpPr/>
          <p:nvPr/>
        </p:nvSpPr>
        <p:spPr>
          <a:xfrm>
            <a:off x="4539580" y="3575304"/>
            <a:ext cx="164592" cy="164592"/>
          </a:xfrm>
          <a:prstGeom prst="ellipse">
            <a:avLst/>
          </a:prstGeom>
          <a:solidFill>
            <a:srgbClr val="94A3B8"/>
          </a:solidFill>
          <a:ln/>
        </p:spPr>
      </p:sp>
      <p:sp>
        <p:nvSpPr>
          <p:cNvPr id="43" name="Shape 41"/>
          <p:cNvSpPr/>
          <p:nvPr/>
        </p:nvSpPr>
        <p:spPr>
          <a:xfrm>
            <a:off x="4621876" y="2724912"/>
            <a:ext cx="0" cy="850392"/>
          </a:xfrm>
          <a:prstGeom prst="line">
            <a:avLst/>
          </a:prstGeom>
          <a:noFill/>
          <a:ln w="12700">
            <a:solidFill>
              <a:srgbClr val="C3CEDA"/>
            </a:solidFill>
            <a:prstDash val="solid"/>
          </a:ln>
        </p:spPr>
      </p:sp>
      <p:sp>
        <p:nvSpPr>
          <p:cNvPr id="44" name="Text 42"/>
          <p:cNvSpPr/>
          <p:nvPr/>
        </p:nvSpPr>
        <p:spPr>
          <a:xfrm>
            <a:off x="3844636"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2028</a:t>
            </a:r>
            <a:endParaRPr lang="en-US" sz="1200" dirty="0"/>
          </a:p>
        </p:txBody>
      </p:sp>
      <p:sp>
        <p:nvSpPr>
          <p:cNvPr id="45" name="Text 43"/>
          <p:cNvSpPr/>
          <p:nvPr/>
        </p:nvSpPr>
        <p:spPr>
          <a:xfrm>
            <a:off x="3661756"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PFAS restriction (REACH)</a:t>
            </a:r>
            <a:endParaRPr lang="en-US" sz="900" dirty="0"/>
          </a:p>
        </p:txBody>
      </p:sp>
      <p:sp>
        <p:nvSpPr>
          <p:cNvPr id="46" name="Shape 44"/>
          <p:cNvSpPr/>
          <p:nvPr/>
        </p:nvSpPr>
        <p:spPr>
          <a:xfrm>
            <a:off x="4054948" y="2542032"/>
            <a:ext cx="1133856" cy="219456"/>
          </a:xfrm>
          <a:prstGeom prst="roundRect">
            <a:avLst>
              <a:gd name="adj" fmla="val 50000"/>
            </a:avLst>
          </a:prstGeom>
          <a:solidFill>
            <a:srgbClr val="94A3B8"/>
          </a:solidFill>
          <a:ln/>
        </p:spPr>
      </p:sp>
      <p:sp>
        <p:nvSpPr>
          <p:cNvPr id="47" name="Text 45"/>
          <p:cNvSpPr/>
          <p:nvPr/>
        </p:nvSpPr>
        <p:spPr>
          <a:xfrm>
            <a:off x="4054948"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PROPOSED</a:t>
            </a:r>
            <a:endParaRPr lang="en-US" sz="750" dirty="0"/>
          </a:p>
        </p:txBody>
      </p:sp>
      <p:sp>
        <p:nvSpPr>
          <p:cNvPr id="48" name="Shape 46"/>
          <p:cNvSpPr/>
          <p:nvPr/>
        </p:nvSpPr>
        <p:spPr>
          <a:xfrm>
            <a:off x="6484759" y="3575304"/>
            <a:ext cx="164592" cy="164592"/>
          </a:xfrm>
          <a:prstGeom prst="ellipse">
            <a:avLst/>
          </a:prstGeom>
          <a:solidFill>
            <a:srgbClr val="0D9488"/>
          </a:solidFill>
          <a:ln/>
        </p:spPr>
      </p:sp>
      <p:sp>
        <p:nvSpPr>
          <p:cNvPr id="49" name="Shape 47"/>
          <p:cNvSpPr/>
          <p:nvPr/>
        </p:nvSpPr>
        <p:spPr>
          <a:xfrm>
            <a:off x="6567055" y="3739896"/>
            <a:ext cx="0" cy="850392"/>
          </a:xfrm>
          <a:prstGeom prst="line">
            <a:avLst/>
          </a:prstGeom>
          <a:noFill/>
          <a:ln w="12700">
            <a:solidFill>
              <a:srgbClr val="C3CEDA"/>
            </a:solidFill>
            <a:prstDash val="solid"/>
          </a:ln>
        </p:spPr>
      </p:sp>
      <p:sp>
        <p:nvSpPr>
          <p:cNvPr id="50" name="Text 48"/>
          <p:cNvSpPr/>
          <p:nvPr/>
        </p:nvSpPr>
        <p:spPr>
          <a:xfrm>
            <a:off x="5789815"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2030</a:t>
            </a:r>
            <a:endParaRPr lang="en-US" sz="1200" dirty="0"/>
          </a:p>
        </p:txBody>
      </p:sp>
      <p:sp>
        <p:nvSpPr>
          <p:cNvPr id="51" name="Text 49"/>
          <p:cNvSpPr/>
          <p:nvPr/>
        </p:nvSpPr>
        <p:spPr>
          <a:xfrm>
            <a:off x="5606935"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CO2 fleet targets −55%</a:t>
            </a:r>
            <a:endParaRPr lang="en-US" sz="900" dirty="0"/>
          </a:p>
        </p:txBody>
      </p:sp>
      <p:sp>
        <p:nvSpPr>
          <p:cNvPr id="52" name="Shape 50"/>
          <p:cNvSpPr/>
          <p:nvPr/>
        </p:nvSpPr>
        <p:spPr>
          <a:xfrm>
            <a:off x="6000127" y="4864608"/>
            <a:ext cx="1133856" cy="219456"/>
          </a:xfrm>
          <a:prstGeom prst="roundRect">
            <a:avLst>
              <a:gd name="adj" fmla="val 50000"/>
            </a:avLst>
          </a:prstGeom>
          <a:solidFill>
            <a:srgbClr val="0D9488"/>
          </a:solidFill>
          <a:ln/>
        </p:spPr>
      </p:sp>
      <p:sp>
        <p:nvSpPr>
          <p:cNvPr id="53" name="Text 51"/>
          <p:cNvSpPr/>
          <p:nvPr/>
        </p:nvSpPr>
        <p:spPr>
          <a:xfrm>
            <a:off x="6000127"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54" name="Shape 52"/>
          <p:cNvSpPr/>
          <p:nvPr/>
        </p:nvSpPr>
        <p:spPr>
          <a:xfrm>
            <a:off x="7457348" y="3575304"/>
            <a:ext cx="164592" cy="164592"/>
          </a:xfrm>
          <a:prstGeom prst="ellipse">
            <a:avLst/>
          </a:prstGeom>
          <a:solidFill>
            <a:srgbClr val="F59E0B"/>
          </a:solidFill>
          <a:ln/>
        </p:spPr>
      </p:sp>
      <p:sp>
        <p:nvSpPr>
          <p:cNvPr id="55" name="Shape 53"/>
          <p:cNvSpPr/>
          <p:nvPr/>
        </p:nvSpPr>
        <p:spPr>
          <a:xfrm>
            <a:off x="7539644" y="2724912"/>
            <a:ext cx="0" cy="850392"/>
          </a:xfrm>
          <a:prstGeom prst="line">
            <a:avLst/>
          </a:prstGeom>
          <a:noFill/>
          <a:ln w="12700">
            <a:solidFill>
              <a:srgbClr val="C3CEDA"/>
            </a:solidFill>
            <a:prstDash val="solid"/>
          </a:ln>
        </p:spPr>
      </p:sp>
      <p:sp>
        <p:nvSpPr>
          <p:cNvPr id="56" name="Text 54"/>
          <p:cNvSpPr/>
          <p:nvPr/>
        </p:nvSpPr>
        <p:spPr>
          <a:xfrm>
            <a:off x="6762404"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2031</a:t>
            </a:r>
            <a:endParaRPr lang="en-US" sz="1200" dirty="0"/>
          </a:p>
        </p:txBody>
      </p:sp>
      <p:sp>
        <p:nvSpPr>
          <p:cNvPr id="57" name="Text 55"/>
          <p:cNvSpPr/>
          <p:nvPr/>
        </p:nvSpPr>
        <p:spPr>
          <a:xfrm>
            <a:off x="6579524"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recycled content</a:t>
            </a:r>
            <a:endParaRPr lang="en-US" sz="900" dirty="0"/>
          </a:p>
        </p:txBody>
      </p:sp>
      <p:sp>
        <p:nvSpPr>
          <p:cNvPr id="58" name="Shape 56"/>
          <p:cNvSpPr/>
          <p:nvPr/>
        </p:nvSpPr>
        <p:spPr>
          <a:xfrm>
            <a:off x="6972716" y="2542032"/>
            <a:ext cx="1133856" cy="219456"/>
          </a:xfrm>
          <a:prstGeom prst="roundRect">
            <a:avLst>
              <a:gd name="adj" fmla="val 50000"/>
            </a:avLst>
          </a:prstGeom>
          <a:solidFill>
            <a:srgbClr val="F59E0B"/>
          </a:solidFill>
          <a:ln/>
        </p:spPr>
      </p:sp>
      <p:sp>
        <p:nvSpPr>
          <p:cNvPr id="59" name="Text 57"/>
          <p:cNvSpPr/>
          <p:nvPr/>
        </p:nvSpPr>
        <p:spPr>
          <a:xfrm>
            <a:off x="697271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0" name="Shape 58"/>
          <p:cNvSpPr/>
          <p:nvPr/>
        </p:nvSpPr>
        <p:spPr>
          <a:xfrm>
            <a:off x="8429937" y="3575304"/>
            <a:ext cx="164592" cy="164592"/>
          </a:xfrm>
          <a:prstGeom prst="ellipse">
            <a:avLst/>
          </a:prstGeom>
          <a:solidFill>
            <a:srgbClr val="F59E0B"/>
          </a:solidFill>
          <a:ln/>
        </p:spPr>
      </p:sp>
      <p:sp>
        <p:nvSpPr>
          <p:cNvPr id="61" name="Shape 59"/>
          <p:cNvSpPr/>
          <p:nvPr/>
        </p:nvSpPr>
        <p:spPr>
          <a:xfrm>
            <a:off x="8512233" y="3739896"/>
            <a:ext cx="0" cy="850392"/>
          </a:xfrm>
          <a:prstGeom prst="line">
            <a:avLst/>
          </a:prstGeom>
          <a:noFill/>
          <a:ln w="12700">
            <a:solidFill>
              <a:srgbClr val="C3CEDA"/>
            </a:solidFill>
            <a:prstDash val="solid"/>
          </a:ln>
        </p:spPr>
      </p:sp>
      <p:sp>
        <p:nvSpPr>
          <p:cNvPr id="62" name="Text 60"/>
          <p:cNvSpPr/>
          <p:nvPr/>
        </p:nvSpPr>
        <p:spPr>
          <a:xfrm>
            <a:off x="7734993"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2032</a:t>
            </a:r>
            <a:endParaRPr lang="en-US" sz="1200" dirty="0"/>
          </a:p>
        </p:txBody>
      </p:sp>
      <p:sp>
        <p:nvSpPr>
          <p:cNvPr id="63" name="Text 61"/>
          <p:cNvSpPr/>
          <p:nvPr/>
        </p:nvSpPr>
        <p:spPr>
          <a:xfrm>
            <a:off x="7552113"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ELV Regulation recast</a:t>
            </a:r>
            <a:endParaRPr lang="en-US" sz="900" dirty="0"/>
          </a:p>
        </p:txBody>
      </p:sp>
      <p:sp>
        <p:nvSpPr>
          <p:cNvPr id="64" name="Shape 62"/>
          <p:cNvSpPr/>
          <p:nvPr/>
        </p:nvSpPr>
        <p:spPr>
          <a:xfrm>
            <a:off x="7945305" y="4864608"/>
            <a:ext cx="1133856" cy="219456"/>
          </a:xfrm>
          <a:prstGeom prst="roundRect">
            <a:avLst>
              <a:gd name="adj" fmla="val 50000"/>
            </a:avLst>
          </a:prstGeom>
          <a:solidFill>
            <a:srgbClr val="F59E0B"/>
          </a:solidFill>
          <a:ln/>
        </p:spPr>
      </p:sp>
      <p:sp>
        <p:nvSpPr>
          <p:cNvPr id="65" name="Text 63"/>
          <p:cNvSpPr/>
          <p:nvPr/>
        </p:nvSpPr>
        <p:spPr>
          <a:xfrm>
            <a:off x="7945305"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6" name="Shape 64"/>
          <p:cNvSpPr/>
          <p:nvPr/>
        </p:nvSpPr>
        <p:spPr>
          <a:xfrm>
            <a:off x="11347704" y="3575304"/>
            <a:ext cx="164592" cy="164592"/>
          </a:xfrm>
          <a:prstGeom prst="ellipse">
            <a:avLst/>
          </a:prstGeom>
          <a:solidFill>
            <a:srgbClr val="F59E0B"/>
          </a:solidFill>
          <a:ln/>
        </p:spPr>
      </p:sp>
      <p:sp>
        <p:nvSpPr>
          <p:cNvPr id="67" name="Shape 65"/>
          <p:cNvSpPr/>
          <p:nvPr/>
        </p:nvSpPr>
        <p:spPr>
          <a:xfrm>
            <a:off x="11430000" y="2724912"/>
            <a:ext cx="0" cy="850392"/>
          </a:xfrm>
          <a:prstGeom prst="line">
            <a:avLst/>
          </a:prstGeom>
          <a:noFill/>
          <a:ln w="12700">
            <a:solidFill>
              <a:srgbClr val="C3CEDA"/>
            </a:solidFill>
            <a:prstDash val="solid"/>
          </a:ln>
        </p:spPr>
      </p:sp>
      <p:sp>
        <p:nvSpPr>
          <p:cNvPr id="68" name="Text 66"/>
          <p:cNvSpPr/>
          <p:nvPr/>
        </p:nvSpPr>
        <p:spPr>
          <a:xfrm>
            <a:off x="10360152"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2035</a:t>
            </a:r>
            <a:endParaRPr lang="en-US" sz="1200" dirty="0"/>
          </a:p>
        </p:txBody>
      </p:sp>
      <p:sp>
        <p:nvSpPr>
          <p:cNvPr id="69" name="Text 67"/>
          <p:cNvSpPr/>
          <p:nvPr/>
        </p:nvSpPr>
        <p:spPr>
          <a:xfrm>
            <a:off x="9994392"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100% zero-emission new cars</a:t>
            </a:r>
            <a:endParaRPr lang="en-US" sz="900" dirty="0"/>
          </a:p>
        </p:txBody>
      </p:sp>
      <p:sp>
        <p:nvSpPr>
          <p:cNvPr id="70" name="Shape 68"/>
          <p:cNvSpPr/>
          <p:nvPr/>
        </p:nvSpPr>
        <p:spPr>
          <a:xfrm>
            <a:off x="10780776" y="2542032"/>
            <a:ext cx="1133856" cy="219456"/>
          </a:xfrm>
          <a:prstGeom prst="roundRect">
            <a:avLst>
              <a:gd name="adj" fmla="val 50000"/>
            </a:avLst>
          </a:prstGeom>
          <a:solidFill>
            <a:srgbClr val="F59E0B"/>
          </a:solidFill>
          <a:ln/>
        </p:spPr>
      </p:sp>
      <p:sp>
        <p:nvSpPr>
          <p:cNvPr id="71" name="Text 69"/>
          <p:cNvSpPr/>
          <p:nvPr/>
        </p:nvSpPr>
        <p:spPr>
          <a:xfrm>
            <a:off x="1078077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72" name="Text 70"/>
          <p:cNvSpPr/>
          <p:nvPr/>
        </p:nvSpPr>
        <p:spPr>
          <a:xfrm>
            <a:off x="502920" y="5486400"/>
            <a:ext cx="11155680" cy="86868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Why status matters:  </a:t>
            </a:r>
            <a:pPr indent="0" marL="0">
              <a:buNone/>
            </a:pPr>
            <a:r>
              <a:rPr lang="en-US" sz="1150" dirty="0">
                <a:solidFill>
                  <a:srgbClr val="5B6B7F"/>
                </a:solidFill>
                <a:latin typeface="Arial" pitchFamily="34" charset="0"/>
                <a:ea typeface="Arial" pitchFamily="34" charset="-122"/>
                <a:cs typeface="Arial" pitchFamily="34" charset="-120"/>
              </a:rPr>
              <a:t>only in-force or adopted law can pull a technology’s horizon forward. Proposals are context — the audit caught the ELV recast being treated as committed with the wrong date (25% recycled plastic is ≈2036, not 2031), and US EPA standards are treated as a WEAKENING anchor. The tool now makes that class of mistake impossible.</a:t>
            </a:r>
            <a:endParaRPr lang="en-US" sz="1150" dirty="0"/>
          </a:p>
        </p:txBody>
      </p:sp>
      <p:sp>
        <p:nvSpPr>
          <p:cNvPr id="73" name="Text 7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8/15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BENCHMARKS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Who sets the bar in premium off-road — and what to watch</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914400"/>
        </p:xfrm>
        <a:graphic>
          <a:graphicData uri="http://schemas.openxmlformats.org/drawingml/2006/table">
            <a:tbl>
              <a:tblPr/>
              <a:tblGrid>
                <a:gridCol w="2743200"/>
                <a:gridCol w="4480560"/>
                <a:gridCol w="3959352"/>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Vehicle</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Signature technology (in production)</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to watch next</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Range Rover</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2022</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Integrated Chassis Control + road preview</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Range Rover Electric: wading/thermal engineering of an 800V flagship</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Defender OCTA</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6D Dynamics hydraulic interlinked suspension</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6D-class suspension cascading into volume Defender/Discovery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G 580 with EQ Technology</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Mercedes-Benz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Four motors + per-wheel 2-speed low range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Whether virtual lockers win over the mechanical-locks faithful</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Yangwang U8</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BYD · 2023</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DiSus-P hydraulic body control (+150mm)</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U8L exports and DiSus trickling into volume BYD</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R1S Gen2 Quad</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Rivian ·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Quad-motor 1,025hp + Kick Turn (OTA,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R2 cost-down of quad-motor capability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Escalade IQ</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Cadillac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4-wheel steer + Arrival Mode diagonal drive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Arrival-mode 4WS spreading across Ultium SUVs</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5897880"/>
            <a:ext cx="11155680" cy="457200"/>
          </a:xfrm>
          <a:prstGeom prst="rect">
            <a:avLst/>
          </a:prstGeom>
          <a:noFill/>
          <a:ln/>
        </p:spPr>
        <p:txBody>
          <a:bodyPr wrap="square" rtlCol="0" anchor="ctr"/>
          <a:lstStyle/>
          <a:p>
            <a:pPr indent="0" marL="0">
              <a:buNone/>
            </a:pPr>
            <a:r>
              <a:rPr lang="en-US" sz="1100" i="1" dirty="0">
                <a:solidFill>
                  <a:srgbClr val="5B6B7F"/>
                </a:solidFill>
                <a:latin typeface="Arial" pitchFamily="34" charset="0"/>
                <a:ea typeface="Arial" pitchFamily="34" charset="-122"/>
                <a:cs typeface="Arial" pitchFamily="34" charset="-120"/>
              </a:rPr>
              <a:t>+6 more in the register: Hummer EV · Lexus GX Overtrail · Cullinan II · Bentayga · AITO M9 · Land Cruiser 250 — shown automatically whenever the Off-Road or Luxury lens is active.</a:t>
            </a:r>
            <a:endParaRPr lang="en-US" sz="1100" dirty="0"/>
          </a:p>
        </p:txBody>
      </p:sp>
      <p:sp>
        <p:nvSpPr>
          <p:cNvPr id="7" name="Text 4"/>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9/15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CAPABILITIES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a single query returns</a:t>
            </a:r>
            <a:endParaRPr lang="en-US" sz="2800" dirty="0"/>
          </a:p>
        </p:txBody>
      </p:sp>
      <p:sp>
        <p:nvSpPr>
          <p:cNvPr id="5" name="Shape 3"/>
          <p:cNvSpPr/>
          <p:nvPr/>
        </p:nvSpPr>
        <p:spPr>
          <a:xfrm>
            <a:off x="502920" y="1554480"/>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685800" y="1773936"/>
            <a:ext cx="530352" cy="530352"/>
          </a:xfrm>
          <a:prstGeom prst="ellipse">
            <a:avLst/>
          </a:prstGeom>
          <a:solidFill>
            <a:srgbClr val="0D9488"/>
          </a:solidFill>
          <a:ln/>
        </p:spPr>
      </p:sp>
      <p:pic>
        <p:nvPicPr>
          <p:cNvPr id="7" name="Image 0" descr="preencoded.png">    </p:cNvPr>
          <p:cNvPicPr>
            <a:picLocks noChangeAspect="1"/>
          </p:cNvPicPr>
          <p:nvPr/>
        </p:nvPicPr>
        <p:blipFill>
          <a:blip r:embed="rId1"/>
          <a:stretch>
            <a:fillRect/>
          </a:stretch>
        </p:blipFill>
        <p:spPr>
          <a:xfrm>
            <a:off x="807781" y="1895917"/>
            <a:ext cx="286390" cy="286390"/>
          </a:xfrm>
          <a:prstGeom prst="rect">
            <a:avLst/>
          </a:prstGeom>
        </p:spPr>
      </p:pic>
      <p:sp>
        <p:nvSpPr>
          <p:cNvPr id="8" name="Text 5"/>
          <p:cNvSpPr/>
          <p:nvPr/>
        </p:nvSpPr>
        <p:spPr>
          <a:xfrm>
            <a:off x="1371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Three horizon lanes</a:t>
            </a:r>
            <a:endParaRPr lang="en-US" sz="1350" dirty="0"/>
          </a:p>
        </p:txBody>
      </p:sp>
      <p:sp>
        <p:nvSpPr>
          <p:cNvPr id="9" name="Text 6"/>
          <p:cNvSpPr/>
          <p:nvPr/>
        </p:nvSpPr>
        <p:spPr>
          <a:xfrm>
            <a:off x="1371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Adopt/quote now (–2028) · plan the transition (2029-32) · track, don’t commit (2033+). Law can pull a lane forward — proposals cannot.</a:t>
            </a:r>
            <a:endParaRPr lang="en-US" sz="1050" dirty="0"/>
          </a:p>
        </p:txBody>
      </p:sp>
      <p:sp>
        <p:nvSpPr>
          <p:cNvPr id="10" name="Shape 7"/>
          <p:cNvSpPr/>
          <p:nvPr/>
        </p:nvSpPr>
        <p:spPr>
          <a:xfrm>
            <a:off x="6217920" y="1554480"/>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1" name="Shape 8"/>
          <p:cNvSpPr/>
          <p:nvPr/>
        </p:nvSpPr>
        <p:spPr>
          <a:xfrm>
            <a:off x="6400800" y="1773936"/>
            <a:ext cx="530352" cy="530352"/>
          </a:xfrm>
          <a:prstGeom prst="ellipse">
            <a:avLst/>
          </a:prstGeom>
          <a:solidFill>
            <a:srgbClr val="F59E0B"/>
          </a:solidFill>
          <a:ln/>
        </p:spPr>
      </p:sp>
      <p:pic>
        <p:nvPicPr>
          <p:cNvPr id="12" name="Image 1" descr="preencoded.png">    </p:cNvPr>
          <p:cNvPicPr>
            <a:picLocks noChangeAspect="1"/>
          </p:cNvPicPr>
          <p:nvPr/>
        </p:nvPicPr>
        <p:blipFill>
          <a:blip r:embed="rId2"/>
          <a:stretch>
            <a:fillRect/>
          </a:stretch>
        </p:blipFill>
        <p:spPr>
          <a:xfrm>
            <a:off x="6522781" y="1895917"/>
            <a:ext cx="286390" cy="286390"/>
          </a:xfrm>
          <a:prstGeom prst="rect">
            <a:avLst/>
          </a:prstGeom>
        </p:spPr>
      </p:pic>
      <p:sp>
        <p:nvSpPr>
          <p:cNvPr id="13" name="Text 9"/>
          <p:cNvSpPr/>
          <p:nvPr/>
        </p:nvSpPr>
        <p:spPr>
          <a:xfrm>
            <a:off x="7086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Adoption &amp; cost trajectories</a:t>
            </a:r>
            <a:endParaRPr lang="en-US" sz="1350" dirty="0"/>
          </a:p>
        </p:txBody>
      </p:sp>
      <p:sp>
        <p:nvSpPr>
          <p:cNvPr id="14" name="Text 10"/>
          <p:cNvSpPr/>
          <p:nvPr/>
        </p:nvSpPr>
        <p:spPr>
          <a:xfrm>
            <a:off x="7086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Bass-diffusion adoption and Wright’s-law cost index at +3/+5/+8 years — labelled "modelled, not measured".</a:t>
            </a:r>
            <a:endParaRPr lang="en-US" sz="1050" dirty="0"/>
          </a:p>
        </p:txBody>
      </p:sp>
      <p:sp>
        <p:nvSpPr>
          <p:cNvPr id="15" name="Shape 11"/>
          <p:cNvSpPr/>
          <p:nvPr/>
        </p:nvSpPr>
        <p:spPr>
          <a:xfrm>
            <a:off x="502920" y="2999232"/>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6" name="Shape 12"/>
          <p:cNvSpPr/>
          <p:nvPr/>
        </p:nvSpPr>
        <p:spPr>
          <a:xfrm>
            <a:off x="685800" y="3218688"/>
            <a:ext cx="530352" cy="530352"/>
          </a:xfrm>
          <a:prstGeom prst="ellipse">
            <a:avLst/>
          </a:prstGeom>
          <a:solidFill>
            <a:srgbClr val="0D1F33"/>
          </a:solidFill>
          <a:ln/>
        </p:spPr>
      </p:sp>
      <p:pic>
        <p:nvPicPr>
          <p:cNvPr id="17" name="Image 2" descr="preencoded.png">    </p:cNvPr>
          <p:cNvPicPr>
            <a:picLocks noChangeAspect="1"/>
          </p:cNvPicPr>
          <p:nvPr/>
        </p:nvPicPr>
        <p:blipFill>
          <a:blip r:embed="rId3"/>
          <a:stretch>
            <a:fillRect/>
          </a:stretch>
        </p:blipFill>
        <p:spPr>
          <a:xfrm>
            <a:off x="807781" y="3340669"/>
            <a:ext cx="286390" cy="286390"/>
          </a:xfrm>
          <a:prstGeom prst="rect">
            <a:avLst/>
          </a:prstGeom>
        </p:spPr>
      </p:pic>
      <p:sp>
        <p:nvSpPr>
          <p:cNvPr id="18" name="Text 13"/>
          <p:cNvSpPr/>
          <p:nvPr/>
        </p:nvSpPr>
        <p:spPr>
          <a:xfrm>
            <a:off x="1371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Crossing years, with honesty</a:t>
            </a:r>
            <a:endParaRPr lang="en-US" sz="1350" dirty="0"/>
          </a:p>
        </p:txBody>
      </p:sp>
      <p:sp>
        <p:nvSpPr>
          <p:cNvPr id="19" name="Text 14"/>
          <p:cNvSpPr/>
          <p:nvPr/>
        </p:nvSpPr>
        <p:spPr>
          <a:xfrm>
            <a:off x="1371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When a tech crosses 25%/50% of its segment — with an uncertainty band: ≈2032 (2031–2034). Niche techs honestly "never cross".</a:t>
            </a:r>
            <a:endParaRPr lang="en-US" sz="1050" dirty="0"/>
          </a:p>
        </p:txBody>
      </p:sp>
      <p:sp>
        <p:nvSpPr>
          <p:cNvPr id="20" name="Shape 15"/>
          <p:cNvSpPr/>
          <p:nvPr/>
        </p:nvSpPr>
        <p:spPr>
          <a:xfrm>
            <a:off x="6217920" y="2999232"/>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6"/>
          <p:cNvSpPr/>
          <p:nvPr/>
        </p:nvSpPr>
        <p:spPr>
          <a:xfrm>
            <a:off x="6400800" y="3218688"/>
            <a:ext cx="530352" cy="530352"/>
          </a:xfrm>
          <a:prstGeom prst="ellipse">
            <a:avLst/>
          </a:prstGeom>
          <a:solidFill>
            <a:srgbClr val="6D28D9"/>
          </a:solidFill>
          <a:ln/>
        </p:spPr>
      </p:sp>
      <p:pic>
        <p:nvPicPr>
          <p:cNvPr id="22" name="Image 3" descr="preencoded.png">    </p:cNvPr>
          <p:cNvPicPr>
            <a:picLocks noChangeAspect="1"/>
          </p:cNvPicPr>
          <p:nvPr/>
        </p:nvPicPr>
        <p:blipFill>
          <a:blip r:embed="rId4"/>
          <a:stretch>
            <a:fillRect/>
          </a:stretch>
        </p:blipFill>
        <p:spPr>
          <a:xfrm>
            <a:off x="6522781" y="3340669"/>
            <a:ext cx="286390" cy="286390"/>
          </a:xfrm>
          <a:prstGeom prst="rect">
            <a:avLst/>
          </a:prstGeom>
        </p:spPr>
      </p:pic>
      <p:sp>
        <p:nvSpPr>
          <p:cNvPr id="23" name="Text 17"/>
          <p:cNvSpPr/>
          <p:nvPr/>
        </p:nvSpPr>
        <p:spPr>
          <a:xfrm>
            <a:off x="7086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Momentum &amp; confidence</a:t>
            </a:r>
            <a:endParaRPr lang="en-US" sz="1350" dirty="0"/>
          </a:p>
        </p:txBody>
      </p:sp>
      <p:sp>
        <p:nvSpPr>
          <p:cNvPr id="24" name="Text 18"/>
          <p:cNvSpPr/>
          <p:nvPr/>
        </p:nvSpPr>
        <p:spPr>
          <a:xfrm>
            <a:off x="7086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0-100 momentum from maturity, adoption, cost trend, drivers, regulation and evidence; committed / probable / speculative on every card.</a:t>
            </a:r>
            <a:endParaRPr lang="en-US" sz="1050" dirty="0"/>
          </a:p>
        </p:txBody>
      </p:sp>
      <p:sp>
        <p:nvSpPr>
          <p:cNvPr id="25" name="Shape 19"/>
          <p:cNvSpPr/>
          <p:nvPr/>
        </p:nvSpPr>
        <p:spPr>
          <a:xfrm>
            <a:off x="502920" y="4443984"/>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6" name="Shape 20"/>
          <p:cNvSpPr/>
          <p:nvPr/>
        </p:nvSpPr>
        <p:spPr>
          <a:xfrm>
            <a:off x="685800" y="4663440"/>
            <a:ext cx="530352" cy="530352"/>
          </a:xfrm>
          <a:prstGeom prst="ellipse">
            <a:avLst/>
          </a:prstGeom>
          <a:solidFill>
            <a:srgbClr val="0D9488"/>
          </a:solidFill>
          <a:ln/>
        </p:spPr>
      </p:sp>
      <p:pic>
        <p:nvPicPr>
          <p:cNvPr id="27" name="Image 4" descr="preencoded.png">    </p:cNvPr>
          <p:cNvPicPr>
            <a:picLocks noChangeAspect="1"/>
          </p:cNvPicPr>
          <p:nvPr/>
        </p:nvPicPr>
        <p:blipFill>
          <a:blip r:embed="rId5"/>
          <a:stretch>
            <a:fillRect/>
          </a:stretch>
        </p:blipFill>
        <p:spPr>
          <a:xfrm>
            <a:off x="807781" y="4785421"/>
            <a:ext cx="286390" cy="286390"/>
          </a:xfrm>
          <a:prstGeom prst="rect">
            <a:avLst/>
          </a:prstGeom>
        </p:spPr>
      </p:pic>
      <p:sp>
        <p:nvSpPr>
          <p:cNvPr id="28" name="Text 21"/>
          <p:cNvSpPr/>
          <p:nvPr/>
        </p:nvSpPr>
        <p:spPr>
          <a:xfrm>
            <a:off x="1371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Evidence on demand</a:t>
            </a:r>
            <a:endParaRPr lang="en-US" sz="1350" dirty="0"/>
          </a:p>
        </p:txBody>
      </p:sp>
      <p:sp>
        <p:nvSpPr>
          <p:cNvPr id="29" name="Text 22"/>
          <p:cNvSpPr/>
          <p:nvPr/>
        </p:nvSpPr>
        <p:spPr>
          <a:xfrm>
            <a:off x="1371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patent-filing velocity per technology (accelerating / steady / declining — computed, not opined) plus cite-or-drop AI deep research.</a:t>
            </a:r>
            <a:endParaRPr lang="en-US" sz="1050" dirty="0"/>
          </a:p>
        </p:txBody>
      </p:sp>
      <p:sp>
        <p:nvSpPr>
          <p:cNvPr id="30" name="Shape 23"/>
          <p:cNvSpPr/>
          <p:nvPr/>
        </p:nvSpPr>
        <p:spPr>
          <a:xfrm>
            <a:off x="6217920" y="4443984"/>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1" name="Shape 24"/>
          <p:cNvSpPr/>
          <p:nvPr/>
        </p:nvSpPr>
        <p:spPr>
          <a:xfrm>
            <a:off x="6400800" y="4663440"/>
            <a:ext cx="530352" cy="530352"/>
          </a:xfrm>
          <a:prstGeom prst="ellipse">
            <a:avLst/>
          </a:prstGeom>
          <a:solidFill>
            <a:srgbClr val="F59E0B"/>
          </a:solidFill>
          <a:ln/>
        </p:spPr>
      </p:sp>
      <p:pic>
        <p:nvPicPr>
          <p:cNvPr id="32" name="Image 5" descr="preencoded.png">    </p:cNvPr>
          <p:cNvPicPr>
            <a:picLocks noChangeAspect="1"/>
          </p:cNvPicPr>
          <p:nvPr/>
        </p:nvPicPr>
        <p:blipFill>
          <a:blip r:embed="rId6"/>
          <a:stretch>
            <a:fillRect/>
          </a:stretch>
        </p:blipFill>
        <p:spPr>
          <a:xfrm>
            <a:off x="6522781" y="4785421"/>
            <a:ext cx="286390" cy="286390"/>
          </a:xfrm>
          <a:prstGeom prst="rect">
            <a:avLst/>
          </a:prstGeom>
        </p:spPr>
      </p:pic>
      <p:sp>
        <p:nvSpPr>
          <p:cNvPr id="33" name="Text 25"/>
          <p:cNvSpPr/>
          <p:nvPr/>
        </p:nvSpPr>
        <p:spPr>
          <a:xfrm>
            <a:off x="7086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Boardroom outputs</a:t>
            </a:r>
            <a:endParaRPr lang="en-US" sz="1350" dirty="0"/>
          </a:p>
        </p:txBody>
      </p:sp>
      <p:sp>
        <p:nvSpPr>
          <p:cNvPr id="34" name="Text 26"/>
          <p:cNvSpPr/>
          <p:nvPr/>
        </p:nvSpPr>
        <p:spPr>
          <a:xfrm>
            <a:off x="7086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Expert-panel critique, Prediction Ledger snapshots, and a branded multi-page Foresight Report PDF — one click each.</a:t>
            </a:r>
            <a:endParaRPr lang="en-US" sz="1050" dirty="0"/>
          </a:p>
        </p:txBody>
      </p:sp>
      <p:sp>
        <p:nvSpPr>
          <p:cNvPr id="35" name="Text 2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10/15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LIVE EXAMPLE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query: "BEV HV battery"</a:t>
            </a:r>
            <a:endParaRPr lang="en-US" sz="2800" dirty="0"/>
          </a:p>
        </p:txBody>
      </p:sp>
      <p:sp>
        <p:nvSpPr>
          <p:cNvPr id="5" name="Shape 3"/>
          <p:cNvSpPr/>
          <p:nvPr/>
        </p:nvSpPr>
        <p:spPr>
          <a:xfrm>
            <a:off x="9235440" y="411480"/>
            <a:ext cx="2450592" cy="777240"/>
          </a:xfrm>
          <a:prstGeom prst="roundRect">
            <a:avLst>
              <a:gd name="adj" fmla="val 10588"/>
            </a:avLst>
          </a:prstGeom>
          <a:solidFill>
            <a:srgbClr val="0D1F33"/>
          </a:solidFill>
          <a:ln/>
        </p:spPr>
      </p:sp>
      <p:sp>
        <p:nvSpPr>
          <p:cNvPr id="6" name="Text 4"/>
          <p:cNvSpPr/>
          <p:nvPr/>
        </p:nvSpPr>
        <p:spPr>
          <a:xfrm>
            <a:off x="9418320" y="411480"/>
            <a:ext cx="2194560" cy="777240"/>
          </a:xfrm>
          <a:prstGeom prst="rect">
            <a:avLst/>
          </a:prstGeom>
          <a:noFill/>
          <a:ln/>
        </p:spPr>
        <p:txBody>
          <a:bodyPr wrap="square" lIns="0" tIns="0" rIns="0" bIns="0" rtlCol="0" anchor="ctr"/>
          <a:lstStyle/>
          <a:p>
            <a:pPr indent="0" marL="0">
              <a:buNone/>
            </a:pPr>
            <a:r>
              <a:rPr lang="en-US" sz="2600" b="1" dirty="0">
                <a:solidFill>
                  <a:srgbClr val="F59E0B"/>
                </a:solidFill>
                <a:latin typeface="Arial" pitchFamily="34" charset="0"/>
                <a:ea typeface="Arial" pitchFamily="34" charset="-122"/>
                <a:cs typeface="Arial" pitchFamily="34" charset="-120"/>
              </a:rPr>
              <a:t>22 </a:t>
            </a:r>
            <a:pPr indent="0" marL="0">
              <a:buNone/>
            </a:pPr>
            <a:r>
              <a:rPr lang="en-US" sz="1000" dirty="0">
                <a:solidFill>
                  <a:srgbClr val="D5DEE9"/>
                </a:solidFill>
                <a:latin typeface="Arial" pitchFamily="34" charset="0"/>
                <a:ea typeface="Arial" pitchFamily="34" charset="-122"/>
                <a:cs typeface="Arial" pitchFamily="34" charset="-120"/>
              </a:rPr>
              <a:t>technologies</a:t>
            </a:r>
            <a:endParaRPr lang="en-US" sz="2600" dirty="0"/>
          </a:p>
          <a:p>
            <a:pPr indent="0" marL="0">
              <a:buNone/>
            </a:pPr>
            <a:r>
              <a:rPr lang="en-US" sz="1000" dirty="0">
                <a:solidFill>
                  <a:srgbClr val="D5DEE9"/>
                </a:solidFill>
                <a:latin typeface="Arial" pitchFamily="34" charset="0"/>
                <a:ea typeface="Arial" pitchFamily="34" charset="-122"/>
                <a:cs typeface="Arial" pitchFamily="34" charset="-120"/>
              </a:rPr>
              <a:t>mapped instantly</a:t>
            </a:r>
            <a:endParaRPr lang="en-US" sz="2600" dirty="0"/>
          </a:p>
        </p:txBody>
      </p:sp>
      <p:sp>
        <p:nvSpPr>
          <p:cNvPr id="7" name="Text 5"/>
          <p:cNvSpPr/>
          <p:nvPr/>
        </p:nvSpPr>
        <p:spPr>
          <a:xfrm>
            <a:off x="502920" y="1389888"/>
            <a:ext cx="7315200" cy="274320"/>
          </a:xfrm>
          <a:prstGeom prst="rect">
            <a:avLst/>
          </a:prstGeom>
          <a:noFill/>
          <a:ln/>
        </p:spPr>
        <p:txBody>
          <a:bodyPr wrap="square" lIns="0" tIns="0" rIns="0" bIns="0" rtlCol="0" anchor="ctr"/>
          <a:lstStyle/>
          <a:p>
            <a:pPr indent="0" marL="0">
              <a:buNone/>
            </a:pPr>
            <a:r>
              <a:rPr lang="en-US" sz="1250" b="1" dirty="0">
                <a:solidFill>
                  <a:srgbClr val="0D1F33"/>
                </a:solidFill>
                <a:latin typeface="Arial" pitchFamily="34" charset="0"/>
                <a:ea typeface="Arial" pitchFamily="34" charset="-122"/>
                <a:cs typeface="Arial" pitchFamily="34" charset="-120"/>
              </a:rPr>
              <a:t>Modelled adoption paths — % of applicable segment (computed by the engine)</a:t>
            </a:r>
            <a:endParaRPr lang="en-US" sz="1250" dirty="0"/>
          </a:p>
        </p:txBody>
      </p:sp>
      <p:graphicFrame>
        <p:nvGraphicFramePr>
          <p:cNvPr id="8" name="Chart 0" descr=""/>
          <p:cNvGraphicFramePr/>
          <p:nvPr/>
        </p:nvGraphicFramePr>
        <p:xfrm>
          <a:off x="457200" y="1691640"/>
          <a:ext cx="7223760" cy="4069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01000" y="1389888"/>
            <a:ext cx="3703320" cy="4389120"/>
          </a:xfrm>
          <a:prstGeom prst="roundRect">
            <a:avLst>
              <a:gd name="adj" fmla="val 1728"/>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0" name="Shape 7"/>
          <p:cNvSpPr/>
          <p:nvPr/>
        </p:nvSpPr>
        <p:spPr>
          <a:xfrm>
            <a:off x="8065008" y="1453896"/>
            <a:ext cx="137160" cy="0"/>
          </a:xfrm>
          <a:prstGeom prst="line">
            <a:avLst/>
          </a:prstGeom>
          <a:noFill/>
          <a:ln w="19050">
            <a:solidFill>
              <a:srgbClr val="F59E0B"/>
            </a:solidFill>
            <a:prstDash val="solid"/>
          </a:ln>
        </p:spPr>
      </p:sp>
      <p:sp>
        <p:nvSpPr>
          <p:cNvPr id="11" name="Shape 8"/>
          <p:cNvSpPr/>
          <p:nvPr/>
        </p:nvSpPr>
        <p:spPr>
          <a:xfrm>
            <a:off x="8065008" y="1453896"/>
            <a:ext cx="0" cy="137160"/>
          </a:xfrm>
          <a:prstGeom prst="line">
            <a:avLst/>
          </a:prstGeom>
          <a:noFill/>
          <a:ln w="19050">
            <a:solidFill>
              <a:srgbClr val="F59E0B"/>
            </a:solidFill>
            <a:prstDash val="solid"/>
          </a:ln>
        </p:spPr>
      </p:sp>
      <p:sp>
        <p:nvSpPr>
          <p:cNvPr id="12" name="Shape 9"/>
          <p:cNvSpPr/>
          <p:nvPr/>
        </p:nvSpPr>
        <p:spPr>
          <a:xfrm>
            <a:off x="11503152" y="5715000"/>
            <a:ext cx="137160" cy="0"/>
          </a:xfrm>
          <a:prstGeom prst="line">
            <a:avLst/>
          </a:prstGeom>
          <a:noFill/>
          <a:ln w="19050">
            <a:solidFill>
              <a:srgbClr val="F59E0B"/>
            </a:solidFill>
            <a:prstDash val="solid"/>
          </a:ln>
        </p:spPr>
      </p:sp>
      <p:sp>
        <p:nvSpPr>
          <p:cNvPr id="13" name="Shape 10"/>
          <p:cNvSpPr/>
          <p:nvPr/>
        </p:nvSpPr>
        <p:spPr>
          <a:xfrm>
            <a:off x="11640312" y="5577840"/>
            <a:ext cx="0" cy="137160"/>
          </a:xfrm>
          <a:prstGeom prst="line">
            <a:avLst/>
          </a:prstGeom>
          <a:noFill/>
          <a:ln w="19050">
            <a:solidFill>
              <a:srgbClr val="F59E0B"/>
            </a:solidFill>
            <a:prstDash val="solid"/>
          </a:ln>
        </p:spPr>
      </p:sp>
      <p:sp>
        <p:nvSpPr>
          <p:cNvPr id="14" name="Text 11"/>
          <p:cNvSpPr/>
          <p:nvPr/>
        </p:nvSpPr>
        <p:spPr>
          <a:xfrm>
            <a:off x="8229600" y="1591056"/>
            <a:ext cx="3291840" cy="274320"/>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Headline calls</a:t>
            </a:r>
            <a:endParaRPr lang="en-US" sz="1400" dirty="0"/>
          </a:p>
        </p:txBody>
      </p:sp>
      <p:sp>
        <p:nvSpPr>
          <p:cNvPr id="15" name="Text 12"/>
          <p:cNvSpPr/>
          <p:nvPr/>
        </p:nvSpPr>
        <p:spPr>
          <a:xfrm>
            <a:off x="8229600" y="1956816"/>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FPC/CCS flexible cell-contacting systems</a:t>
            </a:r>
            <a:endParaRPr lang="en-US" sz="1150" dirty="0"/>
          </a:p>
        </p:txBody>
      </p:sp>
      <p:sp>
        <p:nvSpPr>
          <p:cNvPr id="16" name="Text 13"/>
          <p:cNvSpPr/>
          <p:nvPr/>
        </p:nvSpPr>
        <p:spPr>
          <a:xfrm>
            <a:off x="8229600" y="2203704"/>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≈2028 (2027–2028)</a:t>
            </a:r>
            <a:endParaRPr lang="en-US" sz="950" dirty="0"/>
          </a:p>
        </p:txBody>
      </p:sp>
      <p:sp>
        <p:nvSpPr>
          <p:cNvPr id="17" name="Text 14"/>
          <p:cNvSpPr/>
          <p:nvPr/>
        </p:nvSpPr>
        <p:spPr>
          <a:xfrm>
            <a:off x="8229600" y="2999232"/>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LFP chemistry in C/D-segment packs</a:t>
            </a:r>
            <a:endParaRPr lang="en-US" sz="1150" dirty="0"/>
          </a:p>
        </p:txBody>
      </p:sp>
      <p:sp>
        <p:nvSpPr>
          <p:cNvPr id="18" name="Text 15"/>
          <p:cNvSpPr/>
          <p:nvPr/>
        </p:nvSpPr>
        <p:spPr>
          <a:xfrm>
            <a:off x="8229600" y="3246120"/>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≈2027 (2027–2027)</a:t>
            </a:r>
            <a:endParaRPr lang="en-US" sz="950" dirty="0"/>
          </a:p>
        </p:txBody>
      </p:sp>
      <p:sp>
        <p:nvSpPr>
          <p:cNvPr id="19" name="Text 16"/>
          <p:cNvSpPr/>
          <p:nvPr/>
        </p:nvSpPr>
        <p:spPr>
          <a:xfrm>
            <a:off x="8229600" y="4041648"/>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Cell-to-pack / cell-to-body integration</a:t>
            </a:r>
            <a:endParaRPr lang="en-US" sz="1150" dirty="0"/>
          </a:p>
        </p:txBody>
      </p:sp>
      <p:sp>
        <p:nvSpPr>
          <p:cNvPr id="20" name="Text 17"/>
          <p:cNvSpPr/>
          <p:nvPr/>
        </p:nvSpPr>
        <p:spPr>
          <a:xfrm>
            <a:off x="8229600" y="4288536"/>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69/100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≈2029 (2028–2029)</a:t>
            </a:r>
            <a:endParaRPr lang="en-US" sz="950" dirty="0"/>
          </a:p>
        </p:txBody>
      </p:sp>
      <p:sp>
        <p:nvSpPr>
          <p:cNvPr id="21" name="Text 18"/>
          <p:cNvSpPr/>
          <p:nvPr/>
        </p:nvSpPr>
        <p:spPr>
          <a:xfrm>
            <a:off x="8229600" y="5074920"/>
            <a:ext cx="3291840" cy="64008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Lanes H1/H2/H3: 17/4/1. Solid-state stays H3 — pilot-scale, $400-800/kWh; treat OEM dates skeptically.</a:t>
            </a:r>
            <a:endParaRPr lang="en-US" sz="950" dirty="0"/>
          </a:p>
        </p:txBody>
      </p:sp>
      <p:sp>
        <p:nvSpPr>
          <p:cNvPr id="22" name="Text 19"/>
          <p:cNvSpPr/>
          <p:nvPr/>
        </p:nvSpPr>
        <p:spPr>
          <a:xfrm>
            <a:off x="502920" y="5989320"/>
            <a:ext cx="11155680" cy="365760"/>
          </a:xfrm>
          <a:prstGeom prst="rect">
            <a:avLst/>
          </a:prstGeom>
          <a:noFill/>
          <a:ln/>
        </p:spPr>
        <p:txBody>
          <a:bodyPr wrap="square" rtlCol="0" anchor="ctr"/>
          <a:lstStyle/>
          <a:p>
            <a:pPr algn="ctr" indent="0" marL="0">
              <a:buNone/>
            </a:pPr>
            <a:r>
              <a:rPr lang="en-US" sz="1250" b="1" i="1" dirty="0">
                <a:solidFill>
                  <a:srgbClr val="0D9488"/>
                </a:solidFill>
                <a:latin typeface="Arial" pitchFamily="34" charset="0"/>
                <a:ea typeface="Arial" pitchFamily="34" charset="-122"/>
                <a:cs typeface="Arial" pitchFamily="34" charset="-120"/>
              </a:rPr>
              <a:t>Every number on this slide came out of the deterministic engine at deck-build time — none were typed in by hand.</a:t>
            </a:r>
            <a:endParaRPr lang="en-US" sz="1250" dirty="0"/>
          </a:p>
        </p:txBody>
      </p:sp>
      <p:sp>
        <p:nvSpPr>
          <p:cNvPr id="23" name="Text 20"/>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11/15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EVIDENCE LAYER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Prediction backed by retrieval — and graded afterwards</a:t>
            </a:r>
            <a:endParaRPr lang="en-US" sz="2800" dirty="0"/>
          </a:p>
        </p:txBody>
      </p:sp>
      <p:sp>
        <p:nvSpPr>
          <p:cNvPr id="5" name="Shape 3"/>
          <p:cNvSpPr/>
          <p:nvPr/>
        </p:nvSpPr>
        <p:spPr>
          <a:xfrm>
            <a:off x="502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5440680" cy="566928"/>
          </a:xfrm>
          <a:prstGeom prst="roundRect">
            <a:avLst>
              <a:gd name="adj" fmla="val 11290"/>
            </a:avLst>
          </a:prstGeom>
          <a:solidFill>
            <a:srgbClr val="0D9488"/>
          </a:solidFill>
          <a:ln/>
        </p:spPr>
      </p:sp>
      <p:sp>
        <p:nvSpPr>
          <p:cNvPr id="7" name="Shape 5"/>
          <p:cNvSpPr/>
          <p:nvPr/>
        </p:nvSpPr>
        <p:spPr>
          <a:xfrm>
            <a:off x="630936" y="1627632"/>
            <a:ext cx="420624" cy="420624"/>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15061" y="1711757"/>
            <a:ext cx="252374" cy="252374"/>
          </a:xfrm>
          <a:prstGeom prst="rect">
            <a:avLst/>
          </a:prstGeom>
        </p:spPr>
      </p:pic>
      <p:sp>
        <p:nvSpPr>
          <p:cNvPr id="9" name="Text 6"/>
          <p:cNvSpPr/>
          <p:nvPr/>
        </p:nvSpPr>
        <p:spPr>
          <a:xfrm>
            <a:off x="1188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Patent-filing velocity</a:t>
            </a:r>
            <a:endParaRPr lang="en-US" sz="1400" dirty="0"/>
          </a:p>
        </p:txBody>
      </p:sp>
      <p:sp>
        <p:nvSpPr>
          <p:cNvPr id="10" name="Text 7"/>
          <p:cNvSpPr/>
          <p:nvPr/>
        </p:nvSpPr>
        <p:spPr>
          <a:xfrm>
            <a:off x="731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filings per year for each technology, with a computed accelerating / steady / declining label. A rising curve is an observable early signal — not an opinion.</a:t>
            </a:r>
            <a:endParaRPr lang="en-US" sz="1050" dirty="0"/>
          </a:p>
        </p:txBody>
      </p:sp>
      <p:sp>
        <p:nvSpPr>
          <p:cNvPr id="11" name="Shape 8"/>
          <p:cNvSpPr/>
          <p:nvPr/>
        </p:nvSpPr>
        <p:spPr>
          <a:xfrm>
            <a:off x="6217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2" name="Shape 9"/>
          <p:cNvSpPr/>
          <p:nvPr/>
        </p:nvSpPr>
        <p:spPr>
          <a:xfrm>
            <a:off x="6217920" y="1554480"/>
            <a:ext cx="5440680" cy="566928"/>
          </a:xfrm>
          <a:prstGeom prst="roundRect">
            <a:avLst>
              <a:gd name="adj" fmla="val 11290"/>
            </a:avLst>
          </a:prstGeom>
          <a:solidFill>
            <a:srgbClr val="F59E0B"/>
          </a:solidFill>
          <a:ln/>
        </p:spPr>
      </p:sp>
      <p:sp>
        <p:nvSpPr>
          <p:cNvPr id="13" name="Shape 10"/>
          <p:cNvSpPr/>
          <p:nvPr/>
        </p:nvSpPr>
        <p:spPr>
          <a:xfrm>
            <a:off x="6345936" y="1627632"/>
            <a:ext cx="420624" cy="420624"/>
          </a:xfrm>
          <a:prstGeom prst="ellipse">
            <a:avLst/>
          </a:prstGeom>
          <a:solidFill>
            <a:srgbClr val="F59E0B"/>
          </a:solidFill>
          <a:ln/>
        </p:spPr>
      </p:sp>
      <p:pic>
        <p:nvPicPr>
          <p:cNvPr id="14" name="Image 1" descr="preencoded.png">    </p:cNvPr>
          <p:cNvPicPr>
            <a:picLocks noChangeAspect="1"/>
          </p:cNvPicPr>
          <p:nvPr/>
        </p:nvPicPr>
        <p:blipFill>
          <a:blip r:embed="rId2"/>
          <a:stretch>
            <a:fillRect/>
          </a:stretch>
        </p:blipFill>
        <p:spPr>
          <a:xfrm>
            <a:off x="6430061" y="1711757"/>
            <a:ext cx="252374" cy="252374"/>
          </a:xfrm>
          <a:prstGeom prst="rect">
            <a:avLst/>
          </a:prstGeom>
        </p:spPr>
      </p:pic>
      <p:sp>
        <p:nvSpPr>
          <p:cNvPr id="15" name="Text 11"/>
          <p:cNvSpPr/>
          <p:nvPr/>
        </p:nvSpPr>
        <p:spPr>
          <a:xfrm>
            <a:off x="6903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Deep research, cite-or-drop</a:t>
            </a:r>
            <a:endParaRPr lang="en-US" sz="1400" dirty="0"/>
          </a:p>
        </p:txBody>
      </p:sp>
      <p:sp>
        <p:nvSpPr>
          <p:cNvPr id="16" name="Text 12"/>
          <p:cNvSpPr/>
          <p:nvPr/>
        </p:nvSpPr>
        <p:spPr>
          <a:xfrm>
            <a:off x="6446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Live web + patent retrieval, then AI synthesis where every finding must cite a retrieved source. Uncited claims are dropped in code — and it reports whether evidence supports or challenges the register.</a:t>
            </a:r>
            <a:endParaRPr lang="en-US" sz="1050" dirty="0"/>
          </a:p>
        </p:txBody>
      </p:sp>
      <p:sp>
        <p:nvSpPr>
          <p:cNvPr id="17" name="Shape 13"/>
          <p:cNvSpPr/>
          <p:nvPr/>
        </p:nvSpPr>
        <p:spPr>
          <a:xfrm>
            <a:off x="502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8" name="Shape 14"/>
          <p:cNvSpPr/>
          <p:nvPr/>
        </p:nvSpPr>
        <p:spPr>
          <a:xfrm>
            <a:off x="502920" y="3639312"/>
            <a:ext cx="5440680" cy="566928"/>
          </a:xfrm>
          <a:prstGeom prst="roundRect">
            <a:avLst>
              <a:gd name="adj" fmla="val 11290"/>
            </a:avLst>
          </a:prstGeom>
          <a:solidFill>
            <a:srgbClr val="6D28D9"/>
          </a:solidFill>
          <a:ln/>
        </p:spPr>
      </p:sp>
      <p:sp>
        <p:nvSpPr>
          <p:cNvPr id="19" name="Shape 15"/>
          <p:cNvSpPr/>
          <p:nvPr/>
        </p:nvSpPr>
        <p:spPr>
          <a:xfrm>
            <a:off x="630936" y="3712464"/>
            <a:ext cx="420624" cy="420624"/>
          </a:xfrm>
          <a:prstGeom prst="ellipse">
            <a:avLst/>
          </a:prstGeom>
          <a:solidFill>
            <a:srgbClr val="6D28D9"/>
          </a:solidFill>
          <a:ln/>
        </p:spPr>
      </p:sp>
      <p:pic>
        <p:nvPicPr>
          <p:cNvPr id="20" name="Image 2" descr="preencoded.png">    </p:cNvPr>
          <p:cNvPicPr>
            <a:picLocks noChangeAspect="1"/>
          </p:cNvPicPr>
          <p:nvPr/>
        </p:nvPicPr>
        <p:blipFill>
          <a:blip r:embed="rId3"/>
          <a:stretch>
            <a:fillRect/>
          </a:stretch>
        </p:blipFill>
        <p:spPr>
          <a:xfrm>
            <a:off x="715061" y="3796589"/>
            <a:ext cx="252374" cy="252374"/>
          </a:xfrm>
          <a:prstGeom prst="rect">
            <a:avLst/>
          </a:prstGeom>
        </p:spPr>
      </p:pic>
      <p:sp>
        <p:nvSpPr>
          <p:cNvPr id="21" name="Text 16"/>
          <p:cNvSpPr/>
          <p:nvPr/>
        </p:nvSpPr>
        <p:spPr>
          <a:xfrm>
            <a:off x="1188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Expert panel critique</a:t>
            </a:r>
            <a:endParaRPr lang="en-US" sz="1400" dirty="0"/>
          </a:p>
        </p:txBody>
      </p:sp>
      <p:sp>
        <p:nvSpPr>
          <p:cNvPr id="22" name="Text 17"/>
          <p:cNvSpPr/>
          <p:nvPr/>
        </p:nvSpPr>
        <p:spPr>
          <a:xfrm>
            <a:off x="731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Three AI sceptics — over-hype historian, supply-chain realist, regulatory analyst — stamp agree / caution / challenge on each card. They critique timing; they cannot change a number.</a:t>
            </a:r>
            <a:endParaRPr lang="en-US" sz="1050" dirty="0"/>
          </a:p>
        </p:txBody>
      </p:sp>
      <p:sp>
        <p:nvSpPr>
          <p:cNvPr id="23" name="Shape 18"/>
          <p:cNvSpPr/>
          <p:nvPr/>
        </p:nvSpPr>
        <p:spPr>
          <a:xfrm>
            <a:off x="6217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19"/>
          <p:cNvSpPr/>
          <p:nvPr/>
        </p:nvSpPr>
        <p:spPr>
          <a:xfrm>
            <a:off x="6217920" y="3639312"/>
            <a:ext cx="5440680" cy="566928"/>
          </a:xfrm>
          <a:prstGeom prst="roundRect">
            <a:avLst>
              <a:gd name="adj" fmla="val 11290"/>
            </a:avLst>
          </a:prstGeom>
          <a:solidFill>
            <a:srgbClr val="0D1F33"/>
          </a:solidFill>
          <a:ln/>
        </p:spPr>
      </p:sp>
      <p:sp>
        <p:nvSpPr>
          <p:cNvPr id="25" name="Shape 20"/>
          <p:cNvSpPr/>
          <p:nvPr/>
        </p:nvSpPr>
        <p:spPr>
          <a:xfrm>
            <a:off x="6345936" y="3712464"/>
            <a:ext cx="420624" cy="420624"/>
          </a:xfrm>
          <a:prstGeom prst="ellipse">
            <a:avLst/>
          </a:prstGeom>
          <a:solidFill>
            <a:srgbClr val="0D1F33"/>
          </a:solidFill>
          <a:ln/>
        </p:spPr>
      </p:sp>
      <p:pic>
        <p:nvPicPr>
          <p:cNvPr id="26" name="Image 3" descr="preencoded.png">    </p:cNvPr>
          <p:cNvPicPr>
            <a:picLocks noChangeAspect="1"/>
          </p:cNvPicPr>
          <p:nvPr/>
        </p:nvPicPr>
        <p:blipFill>
          <a:blip r:embed="rId4"/>
          <a:stretch>
            <a:fillRect/>
          </a:stretch>
        </p:blipFill>
        <p:spPr>
          <a:xfrm>
            <a:off x="6430061" y="3796589"/>
            <a:ext cx="252374" cy="252374"/>
          </a:xfrm>
          <a:prstGeom prst="rect">
            <a:avLst/>
          </a:prstGeom>
        </p:spPr>
      </p:pic>
      <p:sp>
        <p:nvSpPr>
          <p:cNvPr id="27" name="Text 21"/>
          <p:cNvSpPr/>
          <p:nvPr/>
        </p:nvSpPr>
        <p:spPr>
          <a:xfrm>
            <a:off x="6903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Prediction Ledger</a:t>
            </a:r>
            <a:endParaRPr lang="en-US" sz="1400" dirty="0"/>
          </a:p>
        </p:txBody>
      </p:sp>
      <p:sp>
        <p:nvSpPr>
          <p:cNvPr id="28" name="Text 22"/>
          <p:cNvSpPr/>
          <p:nvPr/>
        </p:nvSpPr>
        <p:spPr>
          <a:xfrm>
            <a:off x="6446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Every forecast can be snapshotted. On re-curation the tool scores its own past projections — mean error, shown to us. "A foresight tool that never checks its past predictions is astrology."</a:t>
            </a:r>
            <a:endParaRPr lang="en-US" sz="1050" dirty="0"/>
          </a:p>
        </p:txBody>
      </p:sp>
      <p:sp>
        <p:nvSpPr>
          <p:cNvPr id="29"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12/15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BUSINESS VALUE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this changes for us</a:t>
            </a:r>
            <a:endParaRPr lang="en-US" sz="2800" dirty="0"/>
          </a:p>
        </p:txBody>
      </p:sp>
      <p:sp>
        <p:nvSpPr>
          <p:cNvPr id="5" name="Shape 3"/>
          <p:cNvSpPr/>
          <p:nvPr/>
        </p:nvSpPr>
        <p:spPr>
          <a:xfrm>
            <a:off x="502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66928" y="1618488"/>
            <a:ext cx="137160" cy="0"/>
          </a:xfrm>
          <a:prstGeom prst="line">
            <a:avLst/>
          </a:prstGeom>
          <a:noFill/>
          <a:ln w="19050">
            <a:solidFill>
              <a:srgbClr val="F59E0B"/>
            </a:solidFill>
            <a:prstDash val="solid"/>
          </a:ln>
        </p:spPr>
      </p:sp>
      <p:sp>
        <p:nvSpPr>
          <p:cNvPr id="7" name="Shape 5"/>
          <p:cNvSpPr/>
          <p:nvPr/>
        </p:nvSpPr>
        <p:spPr>
          <a:xfrm>
            <a:off x="566928" y="1618488"/>
            <a:ext cx="0" cy="137160"/>
          </a:xfrm>
          <a:prstGeom prst="line">
            <a:avLst/>
          </a:prstGeom>
          <a:noFill/>
          <a:ln w="19050">
            <a:solidFill>
              <a:srgbClr val="F59E0B"/>
            </a:solidFill>
            <a:prstDash val="solid"/>
          </a:ln>
        </p:spPr>
      </p:sp>
      <p:sp>
        <p:nvSpPr>
          <p:cNvPr id="8" name="Shape 6"/>
          <p:cNvSpPr/>
          <p:nvPr/>
        </p:nvSpPr>
        <p:spPr>
          <a:xfrm>
            <a:off x="5742432" y="3246120"/>
            <a:ext cx="137160" cy="0"/>
          </a:xfrm>
          <a:prstGeom prst="line">
            <a:avLst/>
          </a:prstGeom>
          <a:noFill/>
          <a:ln w="19050">
            <a:solidFill>
              <a:srgbClr val="F59E0B"/>
            </a:solidFill>
            <a:prstDash val="solid"/>
          </a:ln>
        </p:spPr>
      </p:sp>
      <p:sp>
        <p:nvSpPr>
          <p:cNvPr id="9" name="Shape 7"/>
          <p:cNvSpPr/>
          <p:nvPr/>
        </p:nvSpPr>
        <p:spPr>
          <a:xfrm>
            <a:off x="5879592" y="3108960"/>
            <a:ext cx="0" cy="137160"/>
          </a:xfrm>
          <a:prstGeom prst="line">
            <a:avLst/>
          </a:prstGeom>
          <a:noFill/>
          <a:ln w="19050">
            <a:solidFill>
              <a:srgbClr val="F59E0B"/>
            </a:solidFill>
            <a:prstDash val="solid"/>
          </a:ln>
        </p:spPr>
      </p:sp>
      <p:sp>
        <p:nvSpPr>
          <p:cNvPr id="10" name="Shape 8"/>
          <p:cNvSpPr/>
          <p:nvPr/>
        </p:nvSpPr>
        <p:spPr>
          <a:xfrm>
            <a:off x="722376" y="1773936"/>
            <a:ext cx="566928" cy="566928"/>
          </a:xfrm>
          <a:prstGeom prst="ellipse">
            <a:avLst/>
          </a:prstGeom>
          <a:solidFill>
            <a:srgbClr val="0D1F33"/>
          </a:solidFill>
          <a:ln/>
        </p:spPr>
      </p:sp>
      <p:pic>
        <p:nvPicPr>
          <p:cNvPr id="11" name="Image 0" descr="preencoded.png">    </p:cNvPr>
          <p:cNvPicPr>
            <a:picLocks noChangeAspect="1"/>
          </p:cNvPicPr>
          <p:nvPr/>
        </p:nvPicPr>
        <p:blipFill>
          <a:blip r:embed="rId1"/>
          <a:stretch>
            <a:fillRect/>
          </a:stretch>
        </p:blipFill>
        <p:spPr>
          <a:xfrm>
            <a:off x="852769" y="1904329"/>
            <a:ext cx="306141" cy="306141"/>
          </a:xfrm>
          <a:prstGeom prst="rect">
            <a:avLst/>
          </a:prstGeom>
        </p:spPr>
      </p:pic>
      <p:sp>
        <p:nvSpPr>
          <p:cNvPr id="12" name="Text 9"/>
          <p:cNvSpPr/>
          <p:nvPr/>
        </p:nvSpPr>
        <p:spPr>
          <a:xfrm>
            <a:off x="1463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Sharper sourcing decisions</a:t>
            </a:r>
            <a:endParaRPr lang="en-US" sz="1450" dirty="0"/>
          </a:p>
        </p:txBody>
      </p:sp>
      <p:sp>
        <p:nvSpPr>
          <p:cNvPr id="13" name="Text 10"/>
          <p:cNvSpPr/>
          <p:nvPr/>
        </p:nvSpPr>
        <p:spPr>
          <a:xfrm>
            <a:off x="1463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Check the technology future of a part before the 7-year contract: what replaces it, when, at what cost trajectory — with confidence tiers on every call.</a:t>
            </a:r>
            <a:endParaRPr lang="en-US" sz="1100" dirty="0"/>
          </a:p>
        </p:txBody>
      </p:sp>
      <p:sp>
        <p:nvSpPr>
          <p:cNvPr id="14" name="Shape 11"/>
          <p:cNvSpPr/>
          <p:nvPr/>
        </p:nvSpPr>
        <p:spPr>
          <a:xfrm>
            <a:off x="6217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5" name="Shape 12"/>
          <p:cNvSpPr/>
          <p:nvPr/>
        </p:nvSpPr>
        <p:spPr>
          <a:xfrm>
            <a:off x="6281928" y="1618488"/>
            <a:ext cx="137160" cy="0"/>
          </a:xfrm>
          <a:prstGeom prst="line">
            <a:avLst/>
          </a:prstGeom>
          <a:noFill/>
          <a:ln w="19050">
            <a:solidFill>
              <a:srgbClr val="F59E0B"/>
            </a:solidFill>
            <a:prstDash val="solid"/>
          </a:ln>
        </p:spPr>
      </p:sp>
      <p:sp>
        <p:nvSpPr>
          <p:cNvPr id="16" name="Shape 13"/>
          <p:cNvSpPr/>
          <p:nvPr/>
        </p:nvSpPr>
        <p:spPr>
          <a:xfrm>
            <a:off x="6281928" y="1618488"/>
            <a:ext cx="0" cy="137160"/>
          </a:xfrm>
          <a:prstGeom prst="line">
            <a:avLst/>
          </a:prstGeom>
          <a:noFill/>
          <a:ln w="19050">
            <a:solidFill>
              <a:srgbClr val="F59E0B"/>
            </a:solidFill>
            <a:prstDash val="solid"/>
          </a:ln>
        </p:spPr>
      </p:sp>
      <p:sp>
        <p:nvSpPr>
          <p:cNvPr id="17" name="Shape 14"/>
          <p:cNvSpPr/>
          <p:nvPr/>
        </p:nvSpPr>
        <p:spPr>
          <a:xfrm>
            <a:off x="11457432" y="3246120"/>
            <a:ext cx="137160" cy="0"/>
          </a:xfrm>
          <a:prstGeom prst="line">
            <a:avLst/>
          </a:prstGeom>
          <a:noFill/>
          <a:ln w="19050">
            <a:solidFill>
              <a:srgbClr val="F59E0B"/>
            </a:solidFill>
            <a:prstDash val="solid"/>
          </a:ln>
        </p:spPr>
      </p:sp>
      <p:sp>
        <p:nvSpPr>
          <p:cNvPr id="18" name="Shape 15"/>
          <p:cNvSpPr/>
          <p:nvPr/>
        </p:nvSpPr>
        <p:spPr>
          <a:xfrm>
            <a:off x="11594592" y="3108960"/>
            <a:ext cx="0" cy="137160"/>
          </a:xfrm>
          <a:prstGeom prst="line">
            <a:avLst/>
          </a:prstGeom>
          <a:noFill/>
          <a:ln w="19050">
            <a:solidFill>
              <a:srgbClr val="F59E0B"/>
            </a:solidFill>
            <a:prstDash val="solid"/>
          </a:ln>
        </p:spPr>
      </p:sp>
      <p:sp>
        <p:nvSpPr>
          <p:cNvPr id="19" name="Shape 16"/>
          <p:cNvSpPr/>
          <p:nvPr/>
        </p:nvSpPr>
        <p:spPr>
          <a:xfrm>
            <a:off x="6437376" y="1773936"/>
            <a:ext cx="566928" cy="566928"/>
          </a:xfrm>
          <a:prstGeom prst="ellipse">
            <a:avLst/>
          </a:prstGeom>
          <a:solidFill>
            <a:srgbClr val="F59E0B"/>
          </a:solidFill>
          <a:ln/>
        </p:spPr>
      </p:sp>
      <p:pic>
        <p:nvPicPr>
          <p:cNvPr id="20" name="Image 1" descr="preencoded.png">    </p:cNvPr>
          <p:cNvPicPr>
            <a:picLocks noChangeAspect="1"/>
          </p:cNvPicPr>
          <p:nvPr/>
        </p:nvPicPr>
        <p:blipFill>
          <a:blip r:embed="rId2"/>
          <a:stretch>
            <a:fillRect/>
          </a:stretch>
        </p:blipFill>
        <p:spPr>
          <a:xfrm>
            <a:off x="6567769" y="1904329"/>
            <a:ext cx="306141" cy="306141"/>
          </a:xfrm>
          <a:prstGeom prst="rect">
            <a:avLst/>
          </a:prstGeom>
        </p:spPr>
      </p:pic>
      <p:sp>
        <p:nvSpPr>
          <p:cNvPr id="21" name="Text 17"/>
          <p:cNvSpPr/>
          <p:nvPr/>
        </p:nvSpPr>
        <p:spPr>
          <a:xfrm>
            <a:off x="7178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Negotiation leverage</a:t>
            </a:r>
            <a:endParaRPr lang="en-US" sz="1450" dirty="0"/>
          </a:p>
        </p:txBody>
      </p:sp>
      <p:sp>
        <p:nvSpPr>
          <p:cNvPr id="22" name="Text 18"/>
          <p:cNvSpPr/>
          <p:nvPr/>
        </p:nvSpPr>
        <p:spPr>
          <a:xfrm>
            <a:off x="7178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Wright’s-law trajectories say what a part SHOULD cost in 2029-31 — a defensible fact base for LTAs, productivity clauses and make-vs-buy.</a:t>
            </a:r>
            <a:endParaRPr lang="en-US" sz="1100" dirty="0"/>
          </a:p>
        </p:txBody>
      </p:sp>
      <p:sp>
        <p:nvSpPr>
          <p:cNvPr id="23" name="Shape 19"/>
          <p:cNvSpPr/>
          <p:nvPr/>
        </p:nvSpPr>
        <p:spPr>
          <a:xfrm>
            <a:off x="502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20"/>
          <p:cNvSpPr/>
          <p:nvPr/>
        </p:nvSpPr>
        <p:spPr>
          <a:xfrm>
            <a:off x="566928" y="3557016"/>
            <a:ext cx="137160" cy="0"/>
          </a:xfrm>
          <a:prstGeom prst="line">
            <a:avLst/>
          </a:prstGeom>
          <a:noFill/>
          <a:ln w="19050">
            <a:solidFill>
              <a:srgbClr val="F59E0B"/>
            </a:solidFill>
            <a:prstDash val="solid"/>
          </a:ln>
        </p:spPr>
      </p:sp>
      <p:sp>
        <p:nvSpPr>
          <p:cNvPr id="25" name="Shape 21"/>
          <p:cNvSpPr/>
          <p:nvPr/>
        </p:nvSpPr>
        <p:spPr>
          <a:xfrm>
            <a:off x="566928" y="3557016"/>
            <a:ext cx="0" cy="137160"/>
          </a:xfrm>
          <a:prstGeom prst="line">
            <a:avLst/>
          </a:prstGeom>
          <a:noFill/>
          <a:ln w="19050">
            <a:solidFill>
              <a:srgbClr val="F59E0B"/>
            </a:solidFill>
            <a:prstDash val="solid"/>
          </a:ln>
        </p:spPr>
      </p:sp>
      <p:sp>
        <p:nvSpPr>
          <p:cNvPr id="26" name="Shape 22"/>
          <p:cNvSpPr/>
          <p:nvPr/>
        </p:nvSpPr>
        <p:spPr>
          <a:xfrm>
            <a:off x="5742432" y="5184648"/>
            <a:ext cx="137160" cy="0"/>
          </a:xfrm>
          <a:prstGeom prst="line">
            <a:avLst/>
          </a:prstGeom>
          <a:noFill/>
          <a:ln w="19050">
            <a:solidFill>
              <a:srgbClr val="F59E0B"/>
            </a:solidFill>
            <a:prstDash val="solid"/>
          </a:ln>
        </p:spPr>
      </p:sp>
      <p:sp>
        <p:nvSpPr>
          <p:cNvPr id="27" name="Shape 23"/>
          <p:cNvSpPr/>
          <p:nvPr/>
        </p:nvSpPr>
        <p:spPr>
          <a:xfrm>
            <a:off x="5879592" y="5047488"/>
            <a:ext cx="0" cy="137160"/>
          </a:xfrm>
          <a:prstGeom prst="line">
            <a:avLst/>
          </a:prstGeom>
          <a:noFill/>
          <a:ln w="19050">
            <a:solidFill>
              <a:srgbClr val="F59E0B"/>
            </a:solidFill>
            <a:prstDash val="solid"/>
          </a:ln>
        </p:spPr>
      </p:sp>
      <p:sp>
        <p:nvSpPr>
          <p:cNvPr id="28" name="Shape 24"/>
          <p:cNvSpPr/>
          <p:nvPr/>
        </p:nvSpPr>
        <p:spPr>
          <a:xfrm>
            <a:off x="722376" y="3712464"/>
            <a:ext cx="566928" cy="566928"/>
          </a:xfrm>
          <a:prstGeom prst="ellipse">
            <a:avLst/>
          </a:prstGeom>
          <a:solidFill>
            <a:srgbClr val="0D9488"/>
          </a:solidFill>
          <a:ln/>
        </p:spPr>
      </p:sp>
      <p:pic>
        <p:nvPicPr>
          <p:cNvPr id="29" name="Image 2" descr="preencoded.png">    </p:cNvPr>
          <p:cNvPicPr>
            <a:picLocks noChangeAspect="1"/>
          </p:cNvPicPr>
          <p:nvPr/>
        </p:nvPicPr>
        <p:blipFill>
          <a:blip r:embed="rId3"/>
          <a:stretch>
            <a:fillRect/>
          </a:stretch>
        </p:blipFill>
        <p:spPr>
          <a:xfrm>
            <a:off x="852769" y="3842857"/>
            <a:ext cx="306141" cy="306141"/>
          </a:xfrm>
          <a:prstGeom prst="rect">
            <a:avLst/>
          </a:prstGeom>
        </p:spPr>
      </p:pic>
      <p:sp>
        <p:nvSpPr>
          <p:cNvPr id="30" name="Text 25"/>
          <p:cNvSpPr/>
          <p:nvPr/>
        </p:nvSpPr>
        <p:spPr>
          <a:xfrm>
            <a:off x="1463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Regulatory de-risking</a:t>
            </a:r>
            <a:endParaRPr lang="en-US" sz="1450" dirty="0"/>
          </a:p>
        </p:txBody>
      </p:sp>
      <p:sp>
        <p:nvSpPr>
          <p:cNvPr id="31" name="Text 26"/>
          <p:cNvSpPr/>
          <p:nvPr/>
        </p:nvSpPr>
        <p:spPr>
          <a:xfrm>
            <a:off x="1463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Euro 7, ELV recast, GB 38031 — dated, legally statused, mapped to the exact components they force. Proposals can never masquerade as law.</a:t>
            </a:r>
            <a:endParaRPr lang="en-US" sz="1100" dirty="0"/>
          </a:p>
        </p:txBody>
      </p:sp>
      <p:sp>
        <p:nvSpPr>
          <p:cNvPr id="32" name="Shape 27"/>
          <p:cNvSpPr/>
          <p:nvPr/>
        </p:nvSpPr>
        <p:spPr>
          <a:xfrm>
            <a:off x="6217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3" name="Shape 28"/>
          <p:cNvSpPr/>
          <p:nvPr/>
        </p:nvSpPr>
        <p:spPr>
          <a:xfrm>
            <a:off x="6281928" y="3557016"/>
            <a:ext cx="137160" cy="0"/>
          </a:xfrm>
          <a:prstGeom prst="line">
            <a:avLst/>
          </a:prstGeom>
          <a:noFill/>
          <a:ln w="19050">
            <a:solidFill>
              <a:srgbClr val="F59E0B"/>
            </a:solidFill>
            <a:prstDash val="solid"/>
          </a:ln>
        </p:spPr>
      </p:sp>
      <p:sp>
        <p:nvSpPr>
          <p:cNvPr id="34" name="Shape 29"/>
          <p:cNvSpPr/>
          <p:nvPr/>
        </p:nvSpPr>
        <p:spPr>
          <a:xfrm>
            <a:off x="6281928" y="3557016"/>
            <a:ext cx="0" cy="137160"/>
          </a:xfrm>
          <a:prstGeom prst="line">
            <a:avLst/>
          </a:prstGeom>
          <a:noFill/>
          <a:ln w="19050">
            <a:solidFill>
              <a:srgbClr val="F59E0B"/>
            </a:solidFill>
            <a:prstDash val="solid"/>
          </a:ln>
        </p:spPr>
      </p:sp>
      <p:sp>
        <p:nvSpPr>
          <p:cNvPr id="35" name="Shape 30"/>
          <p:cNvSpPr/>
          <p:nvPr/>
        </p:nvSpPr>
        <p:spPr>
          <a:xfrm>
            <a:off x="11457432" y="5184648"/>
            <a:ext cx="137160" cy="0"/>
          </a:xfrm>
          <a:prstGeom prst="line">
            <a:avLst/>
          </a:prstGeom>
          <a:noFill/>
          <a:ln w="19050">
            <a:solidFill>
              <a:srgbClr val="F59E0B"/>
            </a:solidFill>
            <a:prstDash val="solid"/>
          </a:ln>
        </p:spPr>
      </p:sp>
      <p:sp>
        <p:nvSpPr>
          <p:cNvPr id="36" name="Shape 31"/>
          <p:cNvSpPr/>
          <p:nvPr/>
        </p:nvSpPr>
        <p:spPr>
          <a:xfrm>
            <a:off x="11594592" y="5047488"/>
            <a:ext cx="0" cy="137160"/>
          </a:xfrm>
          <a:prstGeom prst="line">
            <a:avLst/>
          </a:prstGeom>
          <a:noFill/>
          <a:ln w="19050">
            <a:solidFill>
              <a:srgbClr val="F59E0B"/>
            </a:solidFill>
            <a:prstDash val="solid"/>
          </a:ln>
        </p:spPr>
      </p:sp>
      <p:sp>
        <p:nvSpPr>
          <p:cNvPr id="37" name="Shape 32"/>
          <p:cNvSpPr/>
          <p:nvPr/>
        </p:nvSpPr>
        <p:spPr>
          <a:xfrm>
            <a:off x="6437376" y="3712464"/>
            <a:ext cx="566928" cy="566928"/>
          </a:xfrm>
          <a:prstGeom prst="ellipse">
            <a:avLst/>
          </a:prstGeom>
          <a:solidFill>
            <a:srgbClr val="6D28D9"/>
          </a:solidFill>
          <a:ln/>
        </p:spPr>
      </p:sp>
      <p:pic>
        <p:nvPicPr>
          <p:cNvPr id="38" name="Image 3" descr="preencoded.png">    </p:cNvPr>
          <p:cNvPicPr>
            <a:picLocks noChangeAspect="1"/>
          </p:cNvPicPr>
          <p:nvPr/>
        </p:nvPicPr>
        <p:blipFill>
          <a:blip r:embed="rId4"/>
          <a:stretch>
            <a:fillRect/>
          </a:stretch>
        </p:blipFill>
        <p:spPr>
          <a:xfrm>
            <a:off x="6567769" y="3842857"/>
            <a:ext cx="306141" cy="306141"/>
          </a:xfrm>
          <a:prstGeom prst="rect">
            <a:avLst/>
          </a:prstGeom>
        </p:spPr>
      </p:pic>
      <p:sp>
        <p:nvSpPr>
          <p:cNvPr id="39" name="Text 33"/>
          <p:cNvSpPr/>
          <p:nvPr/>
        </p:nvSpPr>
        <p:spPr>
          <a:xfrm>
            <a:off x="7178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Segment &amp; competitor radar</a:t>
            </a:r>
            <a:endParaRPr lang="en-US" sz="1450" dirty="0"/>
          </a:p>
        </p:txBody>
      </p:sp>
      <p:sp>
        <p:nvSpPr>
          <p:cNvPr id="40" name="Text 34"/>
          <p:cNvSpPr/>
          <p:nvPr/>
        </p:nvSpPr>
        <p:spPr>
          <a:xfrm>
            <a:off x="7178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Our off-road/luxury battleground benchmarked continuously — Defender OCTA to Yangwang U8 — each with the announced next move to watch.</a:t>
            </a:r>
            <a:endParaRPr lang="en-US" sz="1100" dirty="0"/>
          </a:p>
        </p:txBody>
      </p:sp>
      <p:sp>
        <p:nvSpPr>
          <p:cNvPr id="41" name="Shape 35"/>
          <p:cNvSpPr/>
          <p:nvPr/>
        </p:nvSpPr>
        <p:spPr>
          <a:xfrm>
            <a:off x="2103120" y="5650992"/>
            <a:ext cx="7982712" cy="566928"/>
          </a:xfrm>
          <a:prstGeom prst="roundRect">
            <a:avLst>
              <a:gd name="adj" fmla="val 50000"/>
            </a:avLst>
          </a:prstGeom>
          <a:solidFill>
            <a:srgbClr val="0D1F33"/>
          </a:solidFill>
          <a:ln/>
        </p:spPr>
      </p:sp>
      <p:sp>
        <p:nvSpPr>
          <p:cNvPr id="42" name="Text 36"/>
          <p:cNvSpPr/>
          <p:nvPr/>
        </p:nvSpPr>
        <p:spPr>
          <a:xfrm>
            <a:off x="2103120" y="5650992"/>
            <a:ext cx="7982712" cy="566928"/>
          </a:xfrm>
          <a:prstGeom prst="rect">
            <a:avLst/>
          </a:prstGeom>
          <a:noFill/>
          <a:ln/>
        </p:spPr>
        <p:txBody>
          <a:bodyPr wrap="square" lIns="0" tIns="0" rIns="0" bIns="0" rtlCol="0" anchor="ctr"/>
          <a:lstStyle/>
          <a:p>
            <a:pPr algn="ctr" indent="0" marL="0">
              <a:buNone/>
            </a:pPr>
            <a:r>
              <a:rPr lang="en-US" sz="1300" b="1" dirty="0">
                <a:solidFill>
                  <a:srgbClr val="F59E0B"/>
                </a:solidFill>
                <a:latin typeface="Arial" pitchFamily="34" charset="0"/>
                <a:ea typeface="Arial" pitchFamily="34" charset="-122"/>
                <a:cs typeface="Arial" pitchFamily="34" charset="-120"/>
              </a:rPr>
              <a:t>Minutes, not weeks </a:t>
            </a:r>
            <a:pPr algn="ctr" indent="0" marL="0">
              <a:buNone/>
            </a:pPr>
            <a:r>
              <a:rPr lang="en-US" sz="1300" dirty="0">
                <a:solidFill>
                  <a:srgbClr val="D5DEE9"/>
                </a:solidFill>
                <a:latin typeface="Arial" pitchFamily="34" charset="0"/>
                <a:ea typeface="Arial" pitchFamily="34" charset="-122"/>
                <a:cs typeface="Arial" pitchFamily="34" charset="-120"/>
              </a:rPr>
              <a:t> ·  self-serve, part-level, in our commodity language — for every engineer</a:t>
            </a:r>
            <a:endParaRPr lang="en-US" sz="1300" dirty="0"/>
          </a:p>
        </p:txBody>
      </p:sp>
      <p:sp>
        <p:nvSpPr>
          <p:cNvPr id="43" name="Text 3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13/15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905256" cy="329184"/>
          </a:xfrm>
          <a:prstGeom prst="roundRect">
            <a:avLst>
              <a:gd name="adj" fmla="val 50000"/>
            </a:avLst>
          </a:prstGeom>
          <a:solidFill>
            <a:srgbClr val="0D1F33"/>
          </a:solidFill>
          <a:ln/>
        </p:spPr>
      </p:sp>
      <p:sp>
        <p:nvSpPr>
          <p:cNvPr id="3" name="Text 1"/>
          <p:cNvSpPr/>
          <p:nvPr/>
        </p:nvSpPr>
        <p:spPr>
          <a:xfrm>
            <a:off x="502920" y="347472"/>
            <a:ext cx="90525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TRUST</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Engineered and audited like a product, not a demo</a:t>
            </a:r>
            <a:endParaRPr lang="en-US" sz="2800" dirty="0"/>
          </a:p>
        </p:txBody>
      </p:sp>
      <p:pic>
        <p:nvPicPr>
          <p:cNvPr id="5" name="Image 0" descr="preencoded.png">    </p:cNvPr>
          <p:cNvPicPr>
            <a:picLocks noChangeAspect="1"/>
          </p:cNvPicPr>
          <p:nvPr/>
        </p:nvPicPr>
        <p:blipFill>
          <a:blip r:embed="rId1"/>
          <a:stretch>
            <a:fillRect/>
          </a:stretch>
        </p:blipFill>
        <p:spPr>
          <a:xfrm>
            <a:off x="548640" y="1572768"/>
            <a:ext cx="329184" cy="329184"/>
          </a:xfrm>
          <a:prstGeom prst="rect">
            <a:avLst/>
          </a:prstGeom>
        </p:spPr>
      </p:pic>
      <p:sp>
        <p:nvSpPr>
          <p:cNvPr id="6" name="Text 3"/>
          <p:cNvSpPr/>
          <p:nvPr/>
        </p:nvSpPr>
        <p:spPr>
          <a:xfrm>
            <a:off x="1024128" y="1517904"/>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326 automated tests</a:t>
            </a:r>
            <a:endParaRPr lang="en-US" sz="1450" dirty="0"/>
          </a:p>
        </p:txBody>
      </p:sp>
      <p:sp>
        <p:nvSpPr>
          <p:cNvPr id="7" name="Text 4"/>
          <p:cNvSpPr/>
          <p:nvPr/>
        </p:nvSpPr>
        <p:spPr>
          <a:xfrm>
            <a:off x="1024128" y="1801368"/>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Register integrity, model rules and coverage are CI-enforced — an adoption claim without evidence fails the build.</a:t>
            </a:r>
            <a:endParaRPr lang="en-US" sz="1050" dirty="0"/>
          </a:p>
        </p:txBody>
      </p:sp>
      <p:pic>
        <p:nvPicPr>
          <p:cNvPr id="8" name="Image 1" descr="preencoded.png">    </p:cNvPr>
          <p:cNvPicPr>
            <a:picLocks noChangeAspect="1"/>
          </p:cNvPicPr>
          <p:nvPr/>
        </p:nvPicPr>
        <p:blipFill>
          <a:blip r:embed="rId2"/>
          <a:stretch>
            <a:fillRect/>
          </a:stretch>
        </p:blipFill>
        <p:spPr>
          <a:xfrm>
            <a:off x="548640" y="2432304"/>
            <a:ext cx="329184" cy="329184"/>
          </a:xfrm>
          <a:prstGeom prst="rect">
            <a:avLst/>
          </a:prstGeom>
        </p:spPr>
      </p:pic>
      <p:sp>
        <p:nvSpPr>
          <p:cNvPr id="9" name="Text 5"/>
          <p:cNvSpPr/>
          <p:nvPr/>
        </p:nvSpPr>
        <p:spPr>
          <a:xfrm>
            <a:off x="1024128" y="2377440"/>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Independently fact-checked</a:t>
            </a:r>
            <a:endParaRPr lang="en-US" sz="1450" dirty="0"/>
          </a:p>
        </p:txBody>
      </p:sp>
      <p:sp>
        <p:nvSpPr>
          <p:cNvPr id="10" name="Text 6"/>
          <p:cNvSpPr/>
          <p:nvPr/>
        </p:nvSpPr>
        <p:spPr>
          <a:xfrm>
            <a:off x="1024128" y="2660904"/>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 two-chair audit verified the riskiest claims against primary sources; every finding is fixed and test-locked.</a:t>
            </a:r>
            <a:endParaRPr lang="en-US" sz="1050" dirty="0"/>
          </a:p>
        </p:txBody>
      </p:sp>
      <p:pic>
        <p:nvPicPr>
          <p:cNvPr id="11" name="Image 2" descr="preencoded.png">    </p:cNvPr>
          <p:cNvPicPr>
            <a:picLocks noChangeAspect="1"/>
          </p:cNvPicPr>
          <p:nvPr/>
        </p:nvPicPr>
        <p:blipFill>
          <a:blip r:embed="rId3"/>
          <a:stretch>
            <a:fillRect/>
          </a:stretch>
        </p:blipFill>
        <p:spPr>
          <a:xfrm>
            <a:off x="548640" y="3291840"/>
            <a:ext cx="329184" cy="329184"/>
          </a:xfrm>
          <a:prstGeom prst="rect">
            <a:avLst/>
          </a:prstGeom>
        </p:spPr>
      </p:pic>
      <p:sp>
        <p:nvSpPr>
          <p:cNvPr id="12" name="Text 7"/>
          <p:cNvSpPr/>
          <p:nvPr/>
        </p:nvSpPr>
        <p:spPr>
          <a:xfrm>
            <a:off x="1024128" y="3236976"/>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Honesty architecture</a:t>
            </a:r>
            <a:endParaRPr lang="en-US" sz="1450" dirty="0"/>
          </a:p>
        </p:txBody>
      </p:sp>
      <p:sp>
        <p:nvSpPr>
          <p:cNvPr id="13" name="Text 8"/>
          <p:cNvSpPr/>
          <p:nvPr/>
        </p:nvSpPr>
        <p:spPr>
          <a:xfrm>
            <a:off x="1024128" y="3520440"/>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"modelled" labels · regulation legal status · adoption ceilings · uncertainty bands. It says "I don’t know" rather than guessing.</a:t>
            </a:r>
            <a:endParaRPr lang="en-US" sz="1050" dirty="0"/>
          </a:p>
        </p:txBody>
      </p:sp>
      <p:pic>
        <p:nvPicPr>
          <p:cNvPr id="14" name="Image 3" descr="preencoded.png">    </p:cNvPr>
          <p:cNvPicPr>
            <a:picLocks noChangeAspect="1"/>
          </p:cNvPicPr>
          <p:nvPr/>
        </p:nvPicPr>
        <p:blipFill>
          <a:blip r:embed="rId4"/>
          <a:stretch>
            <a:fillRect/>
          </a:stretch>
        </p:blipFill>
        <p:spPr>
          <a:xfrm>
            <a:off x="548640" y="4151376"/>
            <a:ext cx="329184" cy="329184"/>
          </a:xfrm>
          <a:prstGeom prst="rect">
            <a:avLst/>
          </a:prstGeom>
        </p:spPr>
      </p:pic>
      <p:sp>
        <p:nvSpPr>
          <p:cNvPr id="15" name="Text 9"/>
          <p:cNvSpPr/>
          <p:nvPr/>
        </p:nvSpPr>
        <p:spPr>
          <a:xfrm>
            <a:off x="1024128" y="4096512"/>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Grounded AI, enforced in code</a:t>
            </a:r>
            <a:endParaRPr lang="en-US" sz="1450" dirty="0"/>
          </a:p>
        </p:txBody>
      </p:sp>
      <p:sp>
        <p:nvSpPr>
          <p:cNvPr id="16" name="Text 10"/>
          <p:cNvSpPr/>
          <p:nvPr/>
        </p:nvSpPr>
        <p:spPr>
          <a:xfrm>
            <a:off x="1024128" y="4379976"/>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 panel and research are grounded in engine output; uncited findings are dropped server-side.</a:t>
            </a:r>
            <a:endParaRPr lang="en-US" sz="1050" dirty="0"/>
          </a:p>
        </p:txBody>
      </p:sp>
      <p:pic>
        <p:nvPicPr>
          <p:cNvPr id="17" name="Image 4" descr="preencoded.png">    </p:cNvPr>
          <p:cNvPicPr>
            <a:picLocks noChangeAspect="1"/>
          </p:cNvPicPr>
          <p:nvPr/>
        </p:nvPicPr>
        <p:blipFill>
          <a:blip r:embed="rId5"/>
          <a:stretch>
            <a:fillRect/>
          </a:stretch>
        </p:blipFill>
        <p:spPr>
          <a:xfrm>
            <a:off x="548640" y="5010912"/>
            <a:ext cx="329184" cy="329184"/>
          </a:xfrm>
          <a:prstGeom prst="rect">
            <a:avLst/>
          </a:prstGeom>
        </p:spPr>
      </p:pic>
      <p:sp>
        <p:nvSpPr>
          <p:cNvPr id="18" name="Text 11"/>
          <p:cNvSpPr/>
          <p:nvPr/>
        </p:nvSpPr>
        <p:spPr>
          <a:xfrm>
            <a:off x="1024128" y="4956048"/>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Self-scoring</a:t>
            </a:r>
            <a:endParaRPr lang="en-US" sz="1450" dirty="0"/>
          </a:p>
        </p:txBody>
      </p:sp>
      <p:sp>
        <p:nvSpPr>
          <p:cNvPr id="19" name="Text 12"/>
          <p:cNvSpPr/>
          <p:nvPr/>
        </p:nvSpPr>
        <p:spPr>
          <a:xfrm>
            <a:off x="1024128" y="5239512"/>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snapshots forecasts and scores them on re-curation — Tetlock discipline, built in.</a:t>
            </a:r>
            <a:endParaRPr lang="en-US" sz="1050" dirty="0"/>
          </a:p>
        </p:txBody>
      </p:sp>
      <p:sp>
        <p:nvSpPr>
          <p:cNvPr id="20" name="Shape 13"/>
          <p:cNvSpPr/>
          <p:nvPr/>
        </p:nvSpPr>
        <p:spPr>
          <a:xfrm>
            <a:off x="7178040" y="1554480"/>
            <a:ext cx="4507992" cy="4206240"/>
          </a:xfrm>
          <a:prstGeom prst="roundRect">
            <a:avLst>
              <a:gd name="adj" fmla="val 1957"/>
            </a:avLst>
          </a:prstGeom>
          <a:solidFill>
            <a:srgbClr val="0D1F33"/>
          </a:solidFill>
          <a:ln/>
          <a:effectLst>
            <a:outerShdw sx="100000" sy="100000" kx="0" ky="0" algn="bl" rotWithShape="0" blurRad="101600" dist="25400" dir="5400000">
              <a:srgbClr val="9FB0C2">
                <a:alpha val="35000"/>
              </a:srgbClr>
            </a:outerShdw>
          </a:effectLst>
        </p:spPr>
      </p:sp>
      <p:sp>
        <p:nvSpPr>
          <p:cNvPr id="21" name="Shape 14"/>
          <p:cNvSpPr/>
          <p:nvPr/>
        </p:nvSpPr>
        <p:spPr>
          <a:xfrm>
            <a:off x="7296912" y="1673352"/>
            <a:ext cx="137160" cy="0"/>
          </a:xfrm>
          <a:prstGeom prst="line">
            <a:avLst/>
          </a:prstGeom>
          <a:noFill/>
          <a:ln w="19050">
            <a:solidFill>
              <a:srgbClr val="F59E0B"/>
            </a:solidFill>
            <a:prstDash val="solid"/>
          </a:ln>
        </p:spPr>
      </p:sp>
      <p:sp>
        <p:nvSpPr>
          <p:cNvPr id="22" name="Shape 15"/>
          <p:cNvSpPr/>
          <p:nvPr/>
        </p:nvSpPr>
        <p:spPr>
          <a:xfrm>
            <a:off x="7296912" y="1673352"/>
            <a:ext cx="0" cy="137160"/>
          </a:xfrm>
          <a:prstGeom prst="line">
            <a:avLst/>
          </a:prstGeom>
          <a:noFill/>
          <a:ln w="19050">
            <a:solidFill>
              <a:srgbClr val="F59E0B"/>
            </a:solidFill>
            <a:prstDash val="solid"/>
          </a:ln>
        </p:spPr>
      </p:sp>
      <p:sp>
        <p:nvSpPr>
          <p:cNvPr id="23" name="Shape 16"/>
          <p:cNvSpPr/>
          <p:nvPr/>
        </p:nvSpPr>
        <p:spPr>
          <a:xfrm>
            <a:off x="11430000" y="5641848"/>
            <a:ext cx="137160" cy="0"/>
          </a:xfrm>
          <a:prstGeom prst="line">
            <a:avLst/>
          </a:prstGeom>
          <a:noFill/>
          <a:ln w="19050">
            <a:solidFill>
              <a:srgbClr val="F59E0B"/>
            </a:solidFill>
            <a:prstDash val="solid"/>
          </a:ln>
        </p:spPr>
      </p:sp>
      <p:sp>
        <p:nvSpPr>
          <p:cNvPr id="24" name="Shape 17"/>
          <p:cNvSpPr/>
          <p:nvPr/>
        </p:nvSpPr>
        <p:spPr>
          <a:xfrm>
            <a:off x="11567160" y="5504688"/>
            <a:ext cx="0" cy="137160"/>
          </a:xfrm>
          <a:prstGeom prst="line">
            <a:avLst/>
          </a:prstGeom>
          <a:noFill/>
          <a:ln w="19050">
            <a:solidFill>
              <a:srgbClr val="F59E0B"/>
            </a:solidFill>
            <a:prstDash val="solid"/>
          </a:ln>
        </p:spPr>
      </p:sp>
      <p:pic>
        <p:nvPicPr>
          <p:cNvPr id="25" name="Image 5" descr="preencoded.png">    </p:cNvPr>
          <p:cNvPicPr>
            <a:picLocks noChangeAspect="1"/>
          </p:cNvPicPr>
          <p:nvPr/>
        </p:nvPicPr>
        <p:blipFill>
          <a:blip r:embed="rId6"/>
          <a:stretch>
            <a:fillRect/>
          </a:stretch>
        </p:blipFill>
        <p:spPr>
          <a:xfrm>
            <a:off x="7498080" y="1828800"/>
            <a:ext cx="420624" cy="420624"/>
          </a:xfrm>
          <a:prstGeom prst="rect">
            <a:avLst/>
          </a:prstGeom>
        </p:spPr>
      </p:pic>
      <p:sp>
        <p:nvSpPr>
          <p:cNvPr id="26" name="Text 18"/>
          <p:cNvSpPr/>
          <p:nvPr/>
        </p:nvSpPr>
        <p:spPr>
          <a:xfrm>
            <a:off x="8046720" y="1883664"/>
            <a:ext cx="3474720" cy="34747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test we set ourselves</a:t>
            </a:r>
            <a:endParaRPr lang="en-US" sz="1400" dirty="0"/>
          </a:p>
        </p:txBody>
      </p:sp>
      <p:sp>
        <p:nvSpPr>
          <p:cNvPr id="27" name="Text 19"/>
          <p:cNvSpPr/>
          <p:nvPr/>
        </p:nvSpPr>
        <p:spPr>
          <a:xfrm>
            <a:off x="7498080" y="2450592"/>
            <a:ext cx="3886200" cy="868680"/>
          </a:xfrm>
          <a:prstGeom prst="rect">
            <a:avLst/>
          </a:prstGeom>
          <a:noFill/>
          <a:ln/>
        </p:spPr>
        <p:txBody>
          <a:bodyPr wrap="square" lIns="0" tIns="0" rIns="0" bIns="0" rtlCol="0" anchor="ctr"/>
          <a:lstStyle/>
          <a:p>
            <a:pPr indent="0" marL="0">
              <a:buNone/>
            </a:pPr>
            <a:r>
              <a:rPr lang="en-US" sz="1500" i="1" dirty="0">
                <a:solidFill>
                  <a:srgbClr val="F59E0B"/>
                </a:solidFill>
                <a:latin typeface="Arial" pitchFamily="34" charset="0"/>
                <a:ea typeface="Arial" pitchFamily="34" charset="-122"/>
                <a:cs typeface="Arial" pitchFamily="34" charset="-120"/>
              </a:rPr>
              <a:t>"A foresight tool that never checks its own past predictions is astrology."</a:t>
            </a:r>
            <a:endParaRPr lang="en-US" sz="1500" dirty="0"/>
          </a:p>
        </p:txBody>
      </p:sp>
      <p:sp>
        <p:nvSpPr>
          <p:cNvPr id="28" name="Text 20"/>
          <p:cNvSpPr/>
          <p:nvPr/>
        </p:nvSpPr>
        <p:spPr>
          <a:xfrm>
            <a:off x="7498080" y="3429000"/>
            <a:ext cx="3886200" cy="1371600"/>
          </a:xfrm>
          <a:prstGeom prst="rect">
            <a:avLst/>
          </a:prstGeom>
          <a:noFill/>
          <a:ln/>
        </p:spPr>
        <p:txBody>
          <a:bodyPr wrap="square" lIns="0" tIns="0" rIns="0" bIns="0" rtlCol="0" anchor="ctr"/>
          <a:lstStyle/>
          <a:p>
            <a:pPr indent="0" marL="0">
              <a:buNone/>
            </a:pPr>
            <a:r>
              <a:rPr lang="en-US" sz="1150" dirty="0">
                <a:solidFill>
                  <a:srgbClr val="C7D2DE"/>
                </a:solidFill>
                <a:latin typeface="Arial" pitchFamily="34" charset="0"/>
                <a:ea typeface="Arial" pitchFamily="34" charset="-122"/>
                <a:cs typeface="Arial" pitchFamily="34" charset="-120"/>
              </a:rPr>
              <a:t>Every prediction can be snapshotted. When the register is re-curated, the tool computes exactly how far its old projections were off — and shows us the error. No other tool in this space grades its own homework.</a:t>
            </a:r>
            <a:endParaRPr lang="en-US" sz="1150" dirty="0"/>
          </a:p>
        </p:txBody>
      </p:sp>
      <p:sp>
        <p:nvSpPr>
          <p:cNvPr id="29" name="Text 21"/>
          <p:cNvSpPr/>
          <p:nvPr/>
        </p:nvSpPr>
        <p:spPr>
          <a:xfrm>
            <a:off x="7498080" y="5166360"/>
            <a:ext cx="3886200" cy="274320"/>
          </a:xfrm>
          <a:prstGeom prst="rect">
            <a:avLst/>
          </a:prstGeom>
          <a:noFill/>
          <a:ln/>
        </p:spPr>
        <p:txBody>
          <a:bodyPr wrap="square" lIns="0" tIns="0" rIns="0" bIns="0" rtlCol="0" anchor="ctr"/>
          <a:lstStyle/>
          <a:p>
            <a:pPr indent="0" marL="0">
              <a:buNone/>
            </a:pPr>
            <a:r>
              <a:rPr lang="en-US" sz="1050" b="1" dirty="0">
                <a:solidFill>
                  <a:srgbClr val="0D9488"/>
                </a:solidFill>
                <a:latin typeface="Courier New" pitchFamily="34" charset="0"/>
                <a:ea typeface="Courier New" pitchFamily="34" charset="-122"/>
                <a:cs typeface="Courier New" pitchFamily="34" charset="-120"/>
              </a:rPr>
              <a:t>audited · test-locked · self-scoring</a:t>
            </a:r>
            <a:endParaRPr lang="en-US" sz="1050" dirty="0"/>
          </a:p>
        </p:txBody>
      </p:sp>
      <p:sp>
        <p:nvSpPr>
          <p:cNvPr id="30"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14/15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F33"/>
        </a:solidFill>
      </p:bgPr>
    </p:bg>
    <p:spTree>
      <p:nvGrpSpPr>
        <p:cNvPr id="1" name=""/>
        <p:cNvGrpSpPr/>
        <p:nvPr/>
      </p:nvGrpSpPr>
      <p:grpSpPr>
        <a:xfrm>
          <a:off x="0" y="0"/>
          <a:ext cx="0" cy="0"/>
          <a:chOff x="0" y="0"/>
          <a:chExt cx="0" cy="0"/>
        </a:xfrm>
      </p:grpSpPr>
      <p:sp>
        <p:nvSpPr>
          <p:cNvPr id="2" name="Shape 0"/>
          <p:cNvSpPr/>
          <p:nvPr/>
        </p:nvSpPr>
        <p:spPr>
          <a:xfrm flipH="1">
            <a:off x="-8170164" y="4937760"/>
            <a:ext cx="11247120" cy="1920240"/>
          </a:xfrm>
          <a:prstGeom prst="line">
            <a:avLst/>
          </a:prstGeom>
          <a:noFill/>
          <a:ln w="11430">
            <a:solidFill>
              <a:srgbClr val="F59E0B">
                <a:alpha val="34000"/>
              </a:srgbClr>
            </a:solidFill>
            <a:prstDash val="solid"/>
          </a:ln>
        </p:spPr>
      </p:sp>
      <p:sp>
        <p:nvSpPr>
          <p:cNvPr id="3" name="Shape 1"/>
          <p:cNvSpPr/>
          <p:nvPr/>
        </p:nvSpPr>
        <p:spPr>
          <a:xfrm flipH="1">
            <a:off x="-5792724" y="4937760"/>
            <a:ext cx="9372600" cy="1920240"/>
          </a:xfrm>
          <a:prstGeom prst="line">
            <a:avLst/>
          </a:prstGeom>
          <a:noFill/>
          <a:ln w="11430">
            <a:solidFill>
              <a:srgbClr val="F59E0B">
                <a:alpha val="34000"/>
              </a:srgbClr>
            </a:solidFill>
            <a:prstDash val="solid"/>
          </a:ln>
        </p:spPr>
      </p:sp>
      <p:sp>
        <p:nvSpPr>
          <p:cNvPr id="4" name="Shape 2"/>
          <p:cNvSpPr/>
          <p:nvPr/>
        </p:nvSpPr>
        <p:spPr>
          <a:xfrm flipH="1">
            <a:off x="-3415284" y="4937760"/>
            <a:ext cx="7498080" cy="1920240"/>
          </a:xfrm>
          <a:prstGeom prst="line">
            <a:avLst/>
          </a:prstGeom>
          <a:noFill/>
          <a:ln w="11430">
            <a:solidFill>
              <a:srgbClr val="F59E0B">
                <a:alpha val="34000"/>
              </a:srgbClr>
            </a:solidFill>
            <a:prstDash val="solid"/>
          </a:ln>
        </p:spPr>
      </p:sp>
      <p:sp>
        <p:nvSpPr>
          <p:cNvPr id="5" name="Shape 3"/>
          <p:cNvSpPr/>
          <p:nvPr/>
        </p:nvSpPr>
        <p:spPr>
          <a:xfrm flipH="1">
            <a:off x="-1037844" y="4937760"/>
            <a:ext cx="5623560" cy="1920240"/>
          </a:xfrm>
          <a:prstGeom prst="line">
            <a:avLst/>
          </a:prstGeom>
          <a:noFill/>
          <a:ln w="11430">
            <a:solidFill>
              <a:srgbClr val="F59E0B">
                <a:alpha val="34000"/>
              </a:srgbClr>
            </a:solidFill>
            <a:prstDash val="solid"/>
          </a:ln>
        </p:spPr>
      </p:sp>
      <p:sp>
        <p:nvSpPr>
          <p:cNvPr id="6" name="Shape 4"/>
          <p:cNvSpPr/>
          <p:nvPr/>
        </p:nvSpPr>
        <p:spPr>
          <a:xfrm flipH="1">
            <a:off x="1339596" y="4937760"/>
            <a:ext cx="3749040" cy="1920240"/>
          </a:xfrm>
          <a:prstGeom prst="line">
            <a:avLst/>
          </a:prstGeom>
          <a:noFill/>
          <a:ln w="11430">
            <a:solidFill>
              <a:srgbClr val="F59E0B">
                <a:alpha val="34000"/>
              </a:srgbClr>
            </a:solidFill>
            <a:prstDash val="solid"/>
          </a:ln>
        </p:spPr>
      </p:sp>
      <p:sp>
        <p:nvSpPr>
          <p:cNvPr id="7" name="Shape 5"/>
          <p:cNvSpPr/>
          <p:nvPr/>
        </p:nvSpPr>
        <p:spPr>
          <a:xfrm flipH="1">
            <a:off x="3717036" y="4937760"/>
            <a:ext cx="1874520" cy="1920240"/>
          </a:xfrm>
          <a:prstGeom prst="line">
            <a:avLst/>
          </a:prstGeom>
          <a:noFill/>
          <a:ln w="11430">
            <a:solidFill>
              <a:srgbClr val="F59E0B">
                <a:alpha val="34000"/>
              </a:srgbClr>
            </a:solidFill>
            <a:prstDash val="solid"/>
          </a:ln>
        </p:spPr>
      </p:sp>
      <p:sp>
        <p:nvSpPr>
          <p:cNvPr id="8" name="Shape 6"/>
          <p:cNvSpPr/>
          <p:nvPr/>
        </p:nvSpPr>
        <p:spPr>
          <a:xfrm>
            <a:off x="6094476" y="4937760"/>
            <a:ext cx="0" cy="1920240"/>
          </a:xfrm>
          <a:prstGeom prst="line">
            <a:avLst/>
          </a:prstGeom>
          <a:noFill/>
          <a:ln w="11430">
            <a:solidFill>
              <a:srgbClr val="F59E0B">
                <a:alpha val="34000"/>
              </a:srgbClr>
            </a:solidFill>
            <a:prstDash val="solid"/>
          </a:ln>
        </p:spPr>
      </p:sp>
      <p:sp>
        <p:nvSpPr>
          <p:cNvPr id="9" name="Shape 7"/>
          <p:cNvSpPr/>
          <p:nvPr/>
        </p:nvSpPr>
        <p:spPr>
          <a:xfrm>
            <a:off x="6597396" y="4937760"/>
            <a:ext cx="1874520" cy="1920240"/>
          </a:xfrm>
          <a:prstGeom prst="line">
            <a:avLst/>
          </a:prstGeom>
          <a:noFill/>
          <a:ln w="11430">
            <a:solidFill>
              <a:srgbClr val="F59E0B">
                <a:alpha val="34000"/>
              </a:srgbClr>
            </a:solidFill>
            <a:prstDash val="solid"/>
          </a:ln>
        </p:spPr>
      </p:sp>
      <p:sp>
        <p:nvSpPr>
          <p:cNvPr id="10" name="Shape 8"/>
          <p:cNvSpPr/>
          <p:nvPr/>
        </p:nvSpPr>
        <p:spPr>
          <a:xfrm>
            <a:off x="7100316" y="4937760"/>
            <a:ext cx="3749040" cy="1920240"/>
          </a:xfrm>
          <a:prstGeom prst="line">
            <a:avLst/>
          </a:prstGeom>
          <a:noFill/>
          <a:ln w="11430">
            <a:solidFill>
              <a:srgbClr val="F59E0B">
                <a:alpha val="34000"/>
              </a:srgbClr>
            </a:solidFill>
            <a:prstDash val="solid"/>
          </a:ln>
        </p:spPr>
      </p:sp>
      <p:sp>
        <p:nvSpPr>
          <p:cNvPr id="11" name="Shape 9"/>
          <p:cNvSpPr/>
          <p:nvPr/>
        </p:nvSpPr>
        <p:spPr>
          <a:xfrm>
            <a:off x="7603236" y="4937760"/>
            <a:ext cx="5623560" cy="1920240"/>
          </a:xfrm>
          <a:prstGeom prst="line">
            <a:avLst/>
          </a:prstGeom>
          <a:noFill/>
          <a:ln w="11430">
            <a:solidFill>
              <a:srgbClr val="F59E0B">
                <a:alpha val="34000"/>
              </a:srgbClr>
            </a:solidFill>
            <a:prstDash val="solid"/>
          </a:ln>
        </p:spPr>
      </p:sp>
      <p:sp>
        <p:nvSpPr>
          <p:cNvPr id="12" name="Shape 10"/>
          <p:cNvSpPr/>
          <p:nvPr/>
        </p:nvSpPr>
        <p:spPr>
          <a:xfrm>
            <a:off x="8106156" y="4937760"/>
            <a:ext cx="7498080" cy="1920240"/>
          </a:xfrm>
          <a:prstGeom prst="line">
            <a:avLst/>
          </a:prstGeom>
          <a:noFill/>
          <a:ln w="11430">
            <a:solidFill>
              <a:srgbClr val="F59E0B">
                <a:alpha val="34000"/>
              </a:srgbClr>
            </a:solidFill>
            <a:prstDash val="solid"/>
          </a:ln>
        </p:spPr>
      </p:sp>
      <p:sp>
        <p:nvSpPr>
          <p:cNvPr id="13" name="Shape 11"/>
          <p:cNvSpPr/>
          <p:nvPr/>
        </p:nvSpPr>
        <p:spPr>
          <a:xfrm>
            <a:off x="8609076" y="4937760"/>
            <a:ext cx="9372600" cy="1920240"/>
          </a:xfrm>
          <a:prstGeom prst="line">
            <a:avLst/>
          </a:prstGeom>
          <a:noFill/>
          <a:ln w="11430">
            <a:solidFill>
              <a:srgbClr val="F59E0B">
                <a:alpha val="34000"/>
              </a:srgbClr>
            </a:solidFill>
            <a:prstDash val="solid"/>
          </a:ln>
        </p:spPr>
      </p:sp>
      <p:sp>
        <p:nvSpPr>
          <p:cNvPr id="14" name="Shape 12"/>
          <p:cNvSpPr/>
          <p:nvPr/>
        </p:nvSpPr>
        <p:spPr>
          <a:xfrm>
            <a:off x="9111996" y="4937760"/>
            <a:ext cx="11247120" cy="1920240"/>
          </a:xfrm>
          <a:prstGeom prst="line">
            <a:avLst/>
          </a:prstGeom>
          <a:noFill/>
          <a:ln w="11430">
            <a:solidFill>
              <a:srgbClr val="F59E0B">
                <a:alpha val="34000"/>
              </a:srgbClr>
            </a:solidFill>
            <a:prstDash val="solid"/>
          </a:ln>
        </p:spPr>
      </p:sp>
      <p:sp>
        <p:nvSpPr>
          <p:cNvPr id="15" name="Shape 13"/>
          <p:cNvSpPr/>
          <p:nvPr/>
        </p:nvSpPr>
        <p:spPr>
          <a:xfrm>
            <a:off x="0" y="5065776"/>
            <a:ext cx="12188952" cy="0"/>
          </a:xfrm>
          <a:prstGeom prst="line">
            <a:avLst/>
          </a:prstGeom>
          <a:noFill/>
          <a:ln w="11430">
            <a:solidFill>
              <a:srgbClr val="F59E0B">
                <a:alpha val="24000"/>
              </a:srgbClr>
            </a:solidFill>
            <a:prstDash val="solid"/>
          </a:ln>
        </p:spPr>
      </p:sp>
      <p:sp>
        <p:nvSpPr>
          <p:cNvPr id="16" name="Shape 14"/>
          <p:cNvSpPr/>
          <p:nvPr/>
        </p:nvSpPr>
        <p:spPr>
          <a:xfrm>
            <a:off x="0" y="5248656"/>
            <a:ext cx="12188952" cy="0"/>
          </a:xfrm>
          <a:prstGeom prst="line">
            <a:avLst/>
          </a:prstGeom>
          <a:noFill/>
          <a:ln w="11430">
            <a:solidFill>
              <a:srgbClr val="F59E0B">
                <a:alpha val="24000"/>
              </a:srgbClr>
            </a:solidFill>
            <a:prstDash val="solid"/>
          </a:ln>
        </p:spPr>
      </p:sp>
      <p:sp>
        <p:nvSpPr>
          <p:cNvPr id="17" name="Shape 15"/>
          <p:cNvSpPr/>
          <p:nvPr/>
        </p:nvSpPr>
        <p:spPr>
          <a:xfrm>
            <a:off x="0" y="5504688"/>
            <a:ext cx="12188952" cy="0"/>
          </a:xfrm>
          <a:prstGeom prst="line">
            <a:avLst/>
          </a:prstGeom>
          <a:noFill/>
          <a:ln w="11430">
            <a:solidFill>
              <a:srgbClr val="F59E0B">
                <a:alpha val="24000"/>
              </a:srgbClr>
            </a:solidFill>
            <a:prstDash val="solid"/>
          </a:ln>
        </p:spPr>
      </p:sp>
      <p:sp>
        <p:nvSpPr>
          <p:cNvPr id="18" name="Shape 16"/>
          <p:cNvSpPr/>
          <p:nvPr/>
        </p:nvSpPr>
        <p:spPr>
          <a:xfrm>
            <a:off x="0" y="5852160"/>
            <a:ext cx="12188952" cy="0"/>
          </a:xfrm>
          <a:prstGeom prst="line">
            <a:avLst/>
          </a:prstGeom>
          <a:noFill/>
          <a:ln w="11430">
            <a:solidFill>
              <a:srgbClr val="F59E0B">
                <a:alpha val="24000"/>
              </a:srgbClr>
            </a:solidFill>
            <a:prstDash val="solid"/>
          </a:ln>
        </p:spPr>
      </p:sp>
      <p:sp>
        <p:nvSpPr>
          <p:cNvPr id="19" name="Shape 17"/>
          <p:cNvSpPr/>
          <p:nvPr/>
        </p:nvSpPr>
        <p:spPr>
          <a:xfrm>
            <a:off x="0" y="6309360"/>
            <a:ext cx="12188952" cy="0"/>
          </a:xfrm>
          <a:prstGeom prst="line">
            <a:avLst/>
          </a:prstGeom>
          <a:noFill/>
          <a:ln w="11430">
            <a:solidFill>
              <a:srgbClr val="F59E0B">
                <a:alpha val="24000"/>
              </a:srgbClr>
            </a:solidFill>
            <a:prstDash val="solid"/>
          </a:ln>
        </p:spPr>
      </p:sp>
      <p:sp>
        <p:nvSpPr>
          <p:cNvPr id="20" name="Shape 18"/>
          <p:cNvSpPr/>
          <p:nvPr/>
        </p:nvSpPr>
        <p:spPr>
          <a:xfrm>
            <a:off x="0" y="4937760"/>
            <a:ext cx="12188952" cy="0"/>
          </a:xfrm>
          <a:prstGeom prst="line">
            <a:avLst/>
          </a:prstGeom>
          <a:noFill/>
          <a:ln w="20320">
            <a:solidFill>
              <a:srgbClr val="F59E0B">
                <a:alpha val="78000"/>
              </a:srgbClr>
            </a:solidFill>
            <a:prstDash val="solid"/>
          </a:ln>
        </p:spPr>
      </p:sp>
      <p:sp>
        <p:nvSpPr>
          <p:cNvPr id="21" name="Shape 19"/>
          <p:cNvSpPr/>
          <p:nvPr/>
        </p:nvSpPr>
        <p:spPr>
          <a:xfrm>
            <a:off x="5362956" y="640080"/>
            <a:ext cx="1463040" cy="1463040"/>
          </a:xfrm>
          <a:prstGeom prst="ellipse">
            <a:avLst/>
          </a:prstGeom>
          <a:ln w="12700">
            <a:solidFill>
              <a:srgbClr val="0D9488">
                <a:alpha val="70000"/>
              </a:srgbClr>
            </a:solidFill>
            <a:prstDash val="dash"/>
          </a:ln>
        </p:spPr>
      </p:sp>
      <p:pic>
        <p:nvPicPr>
          <p:cNvPr id="22" name="Image 0" descr="preencoded.png">    </p:cNvPr>
          <p:cNvPicPr>
            <a:picLocks noChangeAspect="1"/>
          </p:cNvPicPr>
          <p:nvPr/>
        </p:nvPicPr>
        <p:blipFill>
          <a:blip r:embed="rId1"/>
          <a:stretch>
            <a:fillRect/>
          </a:stretch>
        </p:blipFill>
        <p:spPr>
          <a:xfrm>
            <a:off x="5783580" y="1060704"/>
            <a:ext cx="621792" cy="621792"/>
          </a:xfrm>
          <a:prstGeom prst="rect">
            <a:avLst/>
          </a:prstGeom>
        </p:spPr>
      </p:pic>
      <p:sp>
        <p:nvSpPr>
          <p:cNvPr id="23" name="Text 20"/>
          <p:cNvSpPr/>
          <p:nvPr/>
        </p:nvSpPr>
        <p:spPr>
          <a:xfrm>
            <a:off x="0" y="2331720"/>
            <a:ext cx="12188952" cy="274320"/>
          </a:xfrm>
          <a:prstGeom prst="rect">
            <a:avLst/>
          </a:prstGeom>
          <a:noFill/>
          <a:ln/>
        </p:spPr>
        <p:txBody>
          <a:bodyPr wrap="square" rtlCol="0" anchor="ctr"/>
          <a:lstStyle/>
          <a:p>
            <a:pPr algn="ctr" indent="0" marL="0">
              <a:buNone/>
            </a:pPr>
            <a:r>
              <a:rPr lang="en-US" sz="1200" b="1" spc="300" kern="0" dirty="0">
                <a:solidFill>
                  <a:srgbClr val="F59E0B"/>
                </a:solidFill>
                <a:latin typeface="Courier New" pitchFamily="34" charset="0"/>
                <a:ea typeface="Courier New" pitchFamily="34" charset="-122"/>
                <a:cs typeface="Courier New" pitchFamily="34" charset="-120"/>
              </a:rPr>
              <a:t>SEE IT LIVE</a:t>
            </a:r>
            <a:endParaRPr lang="en-US" sz="1200" dirty="0"/>
          </a:p>
        </p:txBody>
      </p:sp>
      <p:sp>
        <p:nvSpPr>
          <p:cNvPr id="24" name="Text 21"/>
          <p:cNvSpPr/>
          <p:nvPr/>
        </p:nvSpPr>
        <p:spPr>
          <a:xfrm>
            <a:off x="0" y="2651760"/>
            <a:ext cx="12188952"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The future of every part we buy — on demand</a:t>
            </a:r>
            <a:endParaRPr lang="en-US" sz="2800" dirty="0"/>
          </a:p>
        </p:txBody>
      </p:sp>
      <p:sp>
        <p:nvSpPr>
          <p:cNvPr id="25" name="Shape 22"/>
          <p:cNvSpPr/>
          <p:nvPr/>
        </p:nvSpPr>
        <p:spPr>
          <a:xfrm>
            <a:off x="2286000" y="3383280"/>
            <a:ext cx="2468880" cy="868680"/>
          </a:xfrm>
          <a:prstGeom prst="roundRect">
            <a:avLst>
              <a:gd name="adj" fmla="val 9474"/>
            </a:avLst>
          </a:prstGeom>
          <a:solidFill>
            <a:srgbClr val="15304F"/>
          </a:solidFill>
          <a:ln w="9525">
            <a:solidFill>
              <a:srgbClr val="2A4463"/>
            </a:solidFill>
            <a:prstDash val="solid"/>
          </a:ln>
        </p:spPr>
      </p:sp>
      <p:sp>
        <p:nvSpPr>
          <p:cNvPr id="26" name="Text 23"/>
          <p:cNvSpPr/>
          <p:nvPr/>
        </p:nvSpPr>
        <p:spPr>
          <a:xfrm>
            <a:off x="24323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1</a:t>
            </a:r>
            <a:endParaRPr lang="en-US" sz="2200" dirty="0"/>
          </a:p>
        </p:txBody>
      </p:sp>
      <p:sp>
        <p:nvSpPr>
          <p:cNvPr id="27" name="Text 24"/>
          <p:cNvSpPr/>
          <p:nvPr/>
        </p:nvSpPr>
        <p:spPr>
          <a:xfrm>
            <a:off x="28895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Open Horizon</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Off-Road &amp; Luxury lens</a:t>
            </a:r>
            <a:endParaRPr lang="en-US" sz="1050" dirty="0"/>
          </a:p>
        </p:txBody>
      </p:sp>
      <p:sp>
        <p:nvSpPr>
          <p:cNvPr id="28" name="Shape 25"/>
          <p:cNvSpPr/>
          <p:nvPr/>
        </p:nvSpPr>
        <p:spPr>
          <a:xfrm>
            <a:off x="5029200" y="3383280"/>
            <a:ext cx="2468880" cy="868680"/>
          </a:xfrm>
          <a:prstGeom prst="roundRect">
            <a:avLst>
              <a:gd name="adj" fmla="val 9474"/>
            </a:avLst>
          </a:prstGeom>
          <a:solidFill>
            <a:srgbClr val="15304F"/>
          </a:solidFill>
          <a:ln w="9525">
            <a:solidFill>
              <a:srgbClr val="2A4463"/>
            </a:solidFill>
            <a:prstDash val="solid"/>
          </a:ln>
        </p:spPr>
      </p:sp>
      <p:sp>
        <p:nvSpPr>
          <p:cNvPr id="29" name="Text 26"/>
          <p:cNvSpPr/>
          <p:nvPr/>
        </p:nvSpPr>
        <p:spPr>
          <a:xfrm>
            <a:off x="51755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2</a:t>
            </a:r>
            <a:endParaRPr lang="en-US" sz="2200" dirty="0"/>
          </a:p>
        </p:txBody>
      </p:sp>
      <p:sp>
        <p:nvSpPr>
          <p:cNvPr id="30" name="Text 27"/>
          <p:cNvSpPr/>
          <p:nvPr/>
        </p:nvSpPr>
        <p:spPr>
          <a:xfrm>
            <a:off x="56327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Predict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lanes · crossings · benchmarks</a:t>
            </a:r>
            <a:endParaRPr lang="en-US" sz="1050" dirty="0"/>
          </a:p>
        </p:txBody>
      </p:sp>
      <p:sp>
        <p:nvSpPr>
          <p:cNvPr id="31" name="Shape 28"/>
          <p:cNvSpPr/>
          <p:nvPr/>
        </p:nvSpPr>
        <p:spPr>
          <a:xfrm>
            <a:off x="7772400" y="3383280"/>
            <a:ext cx="2468880" cy="868680"/>
          </a:xfrm>
          <a:prstGeom prst="roundRect">
            <a:avLst>
              <a:gd name="adj" fmla="val 9474"/>
            </a:avLst>
          </a:prstGeom>
          <a:solidFill>
            <a:srgbClr val="15304F"/>
          </a:solidFill>
          <a:ln w="9525">
            <a:solidFill>
              <a:srgbClr val="2A4463"/>
            </a:solidFill>
            <a:prstDash val="solid"/>
          </a:ln>
        </p:spPr>
      </p:sp>
      <p:sp>
        <p:nvSpPr>
          <p:cNvPr id="32" name="Text 29"/>
          <p:cNvSpPr/>
          <p:nvPr/>
        </p:nvSpPr>
        <p:spPr>
          <a:xfrm>
            <a:off x="79187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3</a:t>
            </a:r>
            <a:endParaRPr lang="en-US" sz="2200" dirty="0"/>
          </a:p>
        </p:txBody>
      </p:sp>
      <p:sp>
        <p:nvSpPr>
          <p:cNvPr id="33" name="Text 30"/>
          <p:cNvSpPr/>
          <p:nvPr/>
        </p:nvSpPr>
        <p:spPr>
          <a:xfrm>
            <a:off x="83759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Export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the Foresight Report PDF</a:t>
            </a:r>
            <a:endParaRPr lang="en-US" sz="1050" dirty="0"/>
          </a:p>
        </p:txBody>
      </p:sp>
      <p:sp>
        <p:nvSpPr>
          <p:cNvPr id="34" name="Text 31"/>
          <p:cNvSpPr/>
          <p:nvPr/>
        </p:nvSpPr>
        <p:spPr>
          <a:xfrm>
            <a:off x="0" y="4434840"/>
            <a:ext cx="12188952" cy="274320"/>
          </a:xfrm>
          <a:prstGeom prst="rect">
            <a:avLst/>
          </a:prstGeom>
          <a:noFill/>
          <a:ln/>
        </p:spPr>
        <p:txBody>
          <a:bodyPr wrap="square" rtlCol="0" anchor="ctr"/>
          <a:lstStyle/>
          <a:p>
            <a:pPr algn="ctr" indent="0" marL="0">
              <a:buNone/>
            </a:pPr>
            <a:r>
              <a:rPr lang="en-US" sz="1250" i="1" dirty="0">
                <a:solidFill>
                  <a:srgbClr val="9FB2C6"/>
                </a:solidFill>
                <a:latin typeface="Arial" pitchFamily="34" charset="0"/>
                <a:ea typeface="Arial" pitchFamily="34" charset="-122"/>
                <a:cs typeface="Arial" pitchFamily="34" charset="-120"/>
              </a:rPr>
              <a:t>Next: pilot with two commodity teams · patent-evidence API key · quarterly re-curation so the ledger starts scoring us</a:t>
            </a:r>
            <a:endParaRPr lang="en-US" sz="1250" dirty="0"/>
          </a:p>
        </p:txBody>
      </p:sp>
      <p:sp>
        <p:nvSpPr>
          <p:cNvPr id="35" name="Text 32"/>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7C8DA3"/>
                </a:solidFill>
                <a:latin typeface="Courier New" pitchFamily="34" charset="0"/>
                <a:ea typeface="Courier New" pitchFamily="34" charset="-122"/>
                <a:cs typeface="Courier New" pitchFamily="34" charset="-120"/>
              </a:rPr>
              <a:t>Avinash Bhosale · BrainSpark Horizon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Horizon — Automotive Technology Foresight Engine</dc:title>
  <dc:subject>PptxGenJS Presentation</dc:subject>
  <dc:creator>Avinash Bhosale</dc:creator>
  <cp:lastModifiedBy>Avinash Bhosale</cp:lastModifiedBy>
  <cp:revision>1</cp:revision>
  <dcterms:created xsi:type="dcterms:W3CDTF">2026-07-25T14:30:12Z</dcterms:created>
  <dcterms:modified xsi:type="dcterms:W3CDTF">2026-07-25T14:30:12Z</dcterms:modified>
</cp:coreProperties>
</file>