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Technologies</c:v>
                </c:pt>
              </c:strCache>
            </c:strRef>
          </c:tx>
          <c:spPr>
            <a:solidFill>
              <a:srgbClr val="F59E0B"/>
            </a:solidFill>
            <a:effectLst/>
          </c:spPr>
          <c:invertIfNegative val="0"/>
          <c:dLbls>
            <c:numFmt formatCode="#,##0" sourceLinked="0"/>
            <c:txPr>
              <a:bodyPr/>
              <a:lstStyle/>
              <a:p>
                <a:pPr>
                  <a:defRPr b="0" i="0" strike="noStrike" sz="1000" u="none">
                    <a:solidFill>
                      <a:srgbClr val="0D1F33"/>
                    </a:solidFill>
                    <a:latin typeface="Courier New"/>
                  </a:defRPr>
                </a:pPr>
              </a:p>
            </c:txPr>
            <c:showLegendKey val="0"/>
            <c:showVal val="1"/>
            <c:showCatName val="0"/>
            <c:showSerName val="0"/>
            <c:showPercent val="0"/>
            <c:showBubbleSize val="0"/>
            <c:showLeaderLines val="0"/>
          </c:dLbls>
          <c:cat>
            <c:multiLvlStrRef>
              <c:f>Sheet1!$A$2:$A$10</c:f>
              <c:multiLvlStrCache>
                <c:ptCount val="9"/>
                <c:lvl>
                  <c:pt idx="0">
                    <c:v>Battery</c:v>
                  </c:pt>
                  <c:pt idx="1">
                    <c:v>EDU</c:v>
                  </c:pt>
                  <c:pt idx="2">
                    <c:v>Powertrain</c:v>
                  </c:pt>
                  <c:pt idx="3">
                    <c:v>Chassis</c:v>
                  </c:pt>
                  <c:pt idx="4">
                    <c:v>Driveline</c:v>
                  </c:pt>
                  <c:pt idx="5">
                    <c:v>BIW</c:v>
                  </c:pt>
                  <c:pt idx="6">
                    <c:v>Interior</c:v>
                  </c:pt>
                  <c:pt idx="7">
                    <c:v>Exterior</c:v>
                  </c:pt>
                  <c:pt idx="8">
                    <c:v>Electrical</c:v>
                  </c:pt>
                </c:lvl>
              </c:multiLvlStrCache>
            </c:multiLvlStrRef>
          </c:cat>
          <c:val>
            <c:numRef>
              <c:f>Sheet1!$B$2:$B$10</c:f>
              <c:numCache>
                <c:formatCode>General</c:formatCode>
                <c:ptCount val="9"/>
                <c:pt idx="0">
                  <c:v>20</c:v>
                </c:pt>
                <c:pt idx="1">
                  <c:v>13</c:v>
                </c:pt>
                <c:pt idx="2">
                  <c:v>11</c:v>
                </c:pt>
                <c:pt idx="3">
                  <c:v>14</c:v>
                </c:pt>
                <c:pt idx="4">
                  <c:v>11</c:v>
                </c:pt>
                <c:pt idx="5">
                  <c:v>12</c:v>
                </c:pt>
                <c:pt idx="6">
                  <c:v>15</c:v>
                </c:pt>
                <c:pt idx="7">
                  <c:v>12</c:v>
                </c:pt>
                <c:pt idx="8">
                  <c:v>31</c:v>
                </c:pt>
              </c:numCache>
            </c:numRef>
          </c:val>
        </c:ser>
        <c:dLbls>
          <c:numFmt formatCode="#,##0" sourceLinked="0"/>
          <c:txPr>
            <a:bodyPr/>
            <a:lstStyle/>
            <a:p>
              <a:pPr>
                <a:defRPr b="0" i="0" strike="noStrike" sz="1000" u="none">
                  <a:solidFill>
                    <a:srgbClr val="0D1F33"/>
                  </a:solidFill>
                  <a:latin typeface="Courier New"/>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0D1F33"/>
                </a:solidFill>
                <a:latin typeface="Arial"/>
              </a:defRPr>
            </a:pPr>
            <a:endParaRPr lang="en-US"/>
          </a:p>
        </c:txPr>
        <c:crossAx val="2094734552"/>
        <c:crosses val="autoZero"/>
        <c:auto val="1"/>
        <c:lblAlgn val="ctr"/>
        <c:noMultiLvlLbl val="1"/>
      </c:catAx>
      <c:valAx>
        <c:axId val="2094734552"/>
        <c:scaling>
          <c:orientation val="minMax"/>
          <c:max val="3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LFP volume packs</c:v>
                </c:pt>
              </c:strCache>
            </c:strRef>
          </c:tx>
          <c:spPr>
            <a:solidFill>
              <a:srgbClr val="F59E0B"/>
            </a:solidFill>
            <a:ln w="3175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59E0B"/>
              </a:solidFill>
              <a:ln w="9525" cap="flat">
                <a:solidFill>
                  <a:srgbClr val="F59E0B"/>
                </a:solidFill>
                <a:prstDash val="solid"/>
                <a:round/>
              </a:ln>
              <a:effectLst/>
            </c:spPr>
          </c:marker>
          <c:cat>
            <c:multiLvlStrRef>
              <c:f>Sheet1!$A$2:$A$10</c:f>
              <c:multiLvlStrCache>
                <c:ptCount val="9"/>
                <c:lvl>
                  <c:pt idx="0">
                    <c:v>2026</c:v>
                  </c:pt>
                  <c:pt idx="1">
                    <c:v>2027</c:v>
                  </c:pt>
                  <c:pt idx="2">
                    <c:v>2028</c:v>
                  </c:pt>
                  <c:pt idx="3">
                    <c:v>2029</c:v>
                  </c:pt>
                  <c:pt idx="4">
                    <c:v>2030</c:v>
                  </c:pt>
                  <c:pt idx="5">
                    <c:v>2031</c:v>
                  </c:pt>
                  <c:pt idx="6">
                    <c:v>2032</c:v>
                  </c:pt>
                  <c:pt idx="7">
                    <c:v>2033</c:v>
                  </c:pt>
                  <c:pt idx="8">
                    <c:v>2034</c:v>
                  </c:pt>
                </c:lvl>
              </c:multiLvlStrCache>
            </c:multiLvlStrRef>
          </c:cat>
          <c:val>
            <c:numRef>
              <c:f>Sheet1!$B$2:$B$10</c:f>
              <c:numCache>
                <c:formatCode>General</c:formatCode>
                <c:ptCount val="9"/>
                <c:pt idx="0">
                  <c:v>40</c:v>
                </c:pt>
                <c:pt idx="1">
                  <c:v>49.9</c:v>
                </c:pt>
                <c:pt idx="2">
                  <c:v>59.1</c:v>
                </c:pt>
                <c:pt idx="3">
                  <c:v>67</c:v>
                </c:pt>
                <c:pt idx="4">
                  <c:v>73.4</c:v>
                </c:pt>
                <c:pt idx="5">
                  <c:v>78.3</c:v>
                </c:pt>
                <c:pt idx="6">
                  <c:v>81.9</c:v>
                </c:pt>
                <c:pt idx="7">
                  <c:v>84.5</c:v>
                </c:pt>
                <c:pt idx="8">
                  <c:v>86.3</c:v>
                </c:pt>
              </c:numCache>
            </c:numRef>
          </c:val>
          <c:smooth val="1"/>
        </c:ser>
        <c:ser>
          <c:idx val="1"/>
          <c:order val="1"/>
          <c:tx>
            <c:strRef>
              <c:f>Sheet1!$C$1</c:f>
              <c:strCache>
                <c:ptCount val="1"/>
                <c:pt idx="0">
                  <c:v>Cell-to-pack / CTB</c:v>
                </c:pt>
              </c:strCache>
            </c:strRef>
          </c:tx>
          <c:spPr>
            <a:solidFill>
              <a:srgbClr val="0D9488"/>
            </a:solidFill>
            <a:ln w="31750" cap="flat">
              <a:solidFill>
                <a:srgbClr val="0D948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D9488"/>
              </a:solidFill>
              <a:ln w="9525" cap="flat">
                <a:solidFill>
                  <a:srgbClr val="0D9488"/>
                </a:solidFill>
                <a:prstDash val="solid"/>
                <a:round/>
              </a:ln>
              <a:effectLst/>
            </c:spPr>
          </c:marker>
          <c:cat>
            <c:multiLvlStrRef>
              <c:f>Sheet1!$A$2:$A$10</c:f>
              <c:multiLvlStrCache>
                <c:ptCount val="9"/>
                <c:lvl>
                  <c:pt idx="0">
                    <c:v>2026</c:v>
                  </c:pt>
                  <c:pt idx="1">
                    <c:v>2027</c:v>
                  </c:pt>
                  <c:pt idx="2">
                    <c:v>2028</c:v>
                  </c:pt>
                  <c:pt idx="3">
                    <c:v>2029</c:v>
                  </c:pt>
                  <c:pt idx="4">
                    <c:v>2030</c:v>
                  </c:pt>
                  <c:pt idx="5">
                    <c:v>2031</c:v>
                  </c:pt>
                  <c:pt idx="6">
                    <c:v>2032</c:v>
                  </c:pt>
                  <c:pt idx="7">
                    <c:v>2033</c:v>
                  </c:pt>
                  <c:pt idx="8">
                    <c:v>2034</c:v>
                  </c:pt>
                </c:lvl>
              </c:multiLvlStrCache>
            </c:multiLvlStrRef>
          </c:cat>
          <c:val>
            <c:numRef>
              <c:f>Sheet1!$C$2:$C$10</c:f>
              <c:numCache>
                <c:formatCode>General</c:formatCode>
                <c:ptCount val="9"/>
                <c:pt idx="0">
                  <c:v>25</c:v>
                </c:pt>
                <c:pt idx="1">
                  <c:v>34.3</c:v>
                </c:pt>
                <c:pt idx="2">
                  <c:v>44.2</c:v>
                </c:pt>
                <c:pt idx="3">
                  <c:v>53.9</c:v>
                </c:pt>
                <c:pt idx="4">
                  <c:v>62.6</c:v>
                </c:pt>
                <c:pt idx="5">
                  <c:v>69.9</c:v>
                </c:pt>
                <c:pt idx="6">
                  <c:v>75.7</c:v>
                </c:pt>
                <c:pt idx="7">
                  <c:v>80</c:v>
                </c:pt>
                <c:pt idx="8">
                  <c:v>83.1</c:v>
                </c:pt>
              </c:numCache>
            </c:numRef>
          </c:val>
          <c:smooth val="1"/>
        </c:ser>
        <c:ser>
          <c:idx val="2"/>
          <c:order val="2"/>
          <c:tx>
            <c:strRef>
              <c:f>Sheet1!$D$1</c:f>
              <c:strCache>
                <c:ptCount val="1"/>
                <c:pt idx="0">
                  <c:v>4C-10C fast-charge LFP</c:v>
                </c:pt>
              </c:strCache>
            </c:strRef>
          </c:tx>
          <c:spPr>
            <a:solidFill>
              <a:srgbClr val="6D28D9"/>
            </a:solidFill>
            <a:ln w="31750" cap="flat">
              <a:solidFill>
                <a:srgbClr val="6D28D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D28D9"/>
              </a:solidFill>
              <a:ln w="9525" cap="flat">
                <a:solidFill>
                  <a:srgbClr val="6D28D9"/>
                </a:solidFill>
                <a:prstDash val="solid"/>
                <a:round/>
              </a:ln>
              <a:effectLst/>
            </c:spPr>
          </c:marker>
          <c:cat>
            <c:multiLvlStrRef>
              <c:f>Sheet1!$A$2:$A$10</c:f>
              <c:multiLvlStrCache>
                <c:ptCount val="9"/>
                <c:lvl>
                  <c:pt idx="0">
                    <c:v>2026</c:v>
                  </c:pt>
                  <c:pt idx="1">
                    <c:v>2027</c:v>
                  </c:pt>
                  <c:pt idx="2">
                    <c:v>2028</c:v>
                  </c:pt>
                  <c:pt idx="3">
                    <c:v>2029</c:v>
                  </c:pt>
                  <c:pt idx="4">
                    <c:v>2030</c:v>
                  </c:pt>
                  <c:pt idx="5">
                    <c:v>2031</c:v>
                  </c:pt>
                  <c:pt idx="6">
                    <c:v>2032</c:v>
                  </c:pt>
                  <c:pt idx="7">
                    <c:v>2033</c:v>
                  </c:pt>
                  <c:pt idx="8">
                    <c:v>2034</c:v>
                  </c:pt>
                </c:lvl>
              </c:multiLvlStrCache>
            </c:multiLvlStrRef>
          </c:cat>
          <c:val>
            <c:numRef>
              <c:f>Sheet1!$D$2:$D$10</c:f>
              <c:numCache>
                <c:formatCode>General</c:formatCode>
                <c:ptCount val="9"/>
                <c:pt idx="0">
                  <c:v>8</c:v>
                </c:pt>
                <c:pt idx="1">
                  <c:v>14</c:v>
                </c:pt>
                <c:pt idx="2">
                  <c:v>21.5</c:v>
                </c:pt>
                <c:pt idx="3">
                  <c:v>30.4</c:v>
                </c:pt>
                <c:pt idx="4">
                  <c:v>40.2</c:v>
                </c:pt>
                <c:pt idx="5">
                  <c:v>50.1</c:v>
                </c:pt>
                <c:pt idx="6">
                  <c:v>59.2</c:v>
                </c:pt>
                <c:pt idx="7">
                  <c:v>67.1</c:v>
                </c:pt>
                <c:pt idx="8">
                  <c:v>73.5</c:v>
                </c:pt>
              </c:numCache>
            </c:numRef>
          </c:val>
          <c:smooth val="1"/>
        </c:ser>
        <c:ser>
          <c:idx val="3"/>
          <c:order val="3"/>
          <c:tx>
            <c:strRef>
              <c:f>Sheet1!$E$1</c:f>
              <c:strCache>
                <c:ptCount val="1"/>
                <c:pt idx="0">
                  <c:v>46xx cylindricals</c:v>
                </c:pt>
              </c:strCache>
            </c:strRef>
          </c:tx>
          <c:spPr>
            <a:solidFill>
              <a:srgbClr val="2563EB"/>
            </a:solidFill>
            <a:ln w="31750" cap="flat">
              <a:solidFill>
                <a:srgbClr val="2563E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63EB"/>
              </a:solidFill>
              <a:ln w="9525" cap="flat">
                <a:solidFill>
                  <a:srgbClr val="2563EB"/>
                </a:solidFill>
                <a:prstDash val="solid"/>
                <a:round/>
              </a:ln>
              <a:effectLst/>
            </c:spPr>
          </c:marker>
          <c:cat>
            <c:multiLvlStrRef>
              <c:f>Sheet1!$A$2:$A$10</c:f>
              <c:multiLvlStrCache>
                <c:ptCount val="9"/>
                <c:lvl>
                  <c:pt idx="0">
                    <c:v>2026</c:v>
                  </c:pt>
                  <c:pt idx="1">
                    <c:v>2027</c:v>
                  </c:pt>
                  <c:pt idx="2">
                    <c:v>2028</c:v>
                  </c:pt>
                  <c:pt idx="3">
                    <c:v>2029</c:v>
                  </c:pt>
                  <c:pt idx="4">
                    <c:v>2030</c:v>
                  </c:pt>
                  <c:pt idx="5">
                    <c:v>2031</c:v>
                  </c:pt>
                  <c:pt idx="6">
                    <c:v>2032</c:v>
                  </c:pt>
                  <c:pt idx="7">
                    <c:v>2033</c:v>
                  </c:pt>
                  <c:pt idx="8">
                    <c:v>2034</c:v>
                  </c:pt>
                </c:lvl>
              </c:multiLvlStrCache>
            </c:multiLvlStrRef>
          </c:cat>
          <c:val>
            <c:numRef>
              <c:f>Sheet1!$E$2:$E$10</c:f>
              <c:numCache>
                <c:formatCode>General</c:formatCode>
                <c:ptCount val="9"/>
                <c:pt idx="0">
                  <c:v>5</c:v>
                </c:pt>
                <c:pt idx="1">
                  <c:v>10.1</c:v>
                </c:pt>
                <c:pt idx="2">
                  <c:v>16.6</c:v>
                </c:pt>
                <c:pt idx="3">
                  <c:v>24.7</c:v>
                </c:pt>
                <c:pt idx="4">
                  <c:v>34</c:v>
                </c:pt>
                <c:pt idx="5">
                  <c:v>43.9</c:v>
                </c:pt>
                <c:pt idx="6">
                  <c:v>53.6</c:v>
                </c:pt>
                <c:pt idx="7">
                  <c:v>62.3</c:v>
                </c:pt>
                <c:pt idx="8">
                  <c:v>69.7</c:v>
                </c:pt>
              </c:numCache>
            </c:numRef>
          </c:val>
          <c:smooth val="1"/>
        </c:ser>
        <c:ser>
          <c:idx val="4"/>
          <c:order val="4"/>
          <c:tx>
            <c:strRef>
              <c:f>Sheet1!$F$1</c:f>
              <c:strCache>
                <c:ptCount val="1"/>
                <c:pt idx="0">
                  <c:v>Solid-state</c:v>
                </c:pt>
              </c:strCache>
            </c:strRef>
          </c:tx>
          <c:spPr>
            <a:solidFill>
              <a:srgbClr val="9CA3AF"/>
            </a:solidFill>
            <a:ln w="31750" cap="flat">
              <a:solidFill>
                <a:srgbClr val="9CA3A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CA3AF"/>
              </a:solidFill>
              <a:ln w="9525" cap="flat">
                <a:solidFill>
                  <a:srgbClr val="9CA3AF"/>
                </a:solidFill>
                <a:prstDash val="solid"/>
                <a:round/>
              </a:ln>
              <a:effectLst/>
            </c:spPr>
          </c:marker>
          <c:cat>
            <c:multiLvlStrRef>
              <c:f>Sheet1!$A$2:$A$10</c:f>
              <c:multiLvlStrCache>
                <c:ptCount val="9"/>
                <c:lvl>
                  <c:pt idx="0">
                    <c:v>2026</c:v>
                  </c:pt>
                  <c:pt idx="1">
                    <c:v>2027</c:v>
                  </c:pt>
                  <c:pt idx="2">
                    <c:v>2028</c:v>
                  </c:pt>
                  <c:pt idx="3">
                    <c:v>2029</c:v>
                  </c:pt>
                  <c:pt idx="4">
                    <c:v>2030</c:v>
                  </c:pt>
                  <c:pt idx="5">
                    <c:v>2031</c:v>
                  </c:pt>
                  <c:pt idx="6">
                    <c:v>2032</c:v>
                  </c:pt>
                  <c:pt idx="7">
                    <c:v>2033</c:v>
                  </c:pt>
                  <c:pt idx="8">
                    <c:v>2034</c:v>
                  </c:pt>
                </c:lvl>
              </c:multiLvlStrCache>
            </c:multiLvlStrRef>
          </c:cat>
          <c:val>
            <c:numRef>
              <c:f>Sheet1!$F$2:$F$10</c:f>
              <c:numCache>
                <c:formatCode>General</c:formatCode>
                <c:ptCount val="9"/>
                <c:pt idx="0">
                  <c:v>0.5</c:v>
                </c:pt>
                <c:pt idx="1">
                  <c:v>3.9</c:v>
                </c:pt>
                <c:pt idx="2">
                  <c:v>8.6</c:v>
                </c:pt>
                <c:pt idx="3">
                  <c:v>14.8</c:v>
                </c:pt>
                <c:pt idx="4">
                  <c:v>22.5</c:v>
                </c:pt>
                <c:pt idx="5">
                  <c:v>31.5</c:v>
                </c:pt>
                <c:pt idx="6">
                  <c:v>41.3</c:v>
                </c:pt>
                <c:pt idx="7">
                  <c:v>51.1</c:v>
                </c:pt>
                <c:pt idx="8">
                  <c:v>60.2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F"/>
                </a:solidFill>
                <a:latin typeface="Courier New"/>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4EA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F"/>
                </a:solidFill>
                <a:latin typeface="Courier New"/>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0D1F33"/>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Thank you for the time. Let me start with a question we all quietly carry: when we source a part today, how confident are we about what that part will look like in five years? [pause] What I want to show you today is our answer to that question — BrainSpark Horizon, a technology foresight engine we have built into our own platform. I will keep this to about ten minutes: what it is, why it is genuinely not just another AI chatbot, what is actually inside it, and then a live example on the BEV HV battery. And at the end, I would love to just show it to you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bit of context before we dive in. Horizon is not a side project — it is the newest module of BrainSpark, the platform we already use every day for cost ideas and should-costing. And it inherits the one rule that platform lives by: math for numbers, AI for judgment. Every figure you will see today came out of a calculation, not out of a language model. [gesture to agenda] Here is where we are going — seven stops, and the one I am most excited about is number six, where I will show you a live prediction on the BEV battery. Let us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did we build this? Here is the uncomfortable truth in one line: our decisions outlive the technologies they assume. A platform we source this year runs into the mid-2030s — and the cells, the motors, even the brake discs underneath it will turn over two or three times before it retires. [point to middle row] And look at what we currently reach for when we ask "what comes next": analyst subscriptions that stop at market level. Consulting studies that take six weeks. Or — let us be honest, we have all tried it — asking a chatbot, and getting a very confident answer with numbers that were invented on the spot. [point to tiles] Seven-year decisions. Two to three technology turns inside them. And on the right — that is what Horizon changes: about thirty seconds to an answer we can actually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how it actually works — four stages, left to right. Stage one is the foundation: a curated register. A hundred and thirty-nine technologies, and every single one carries a readiness level, a real adoption share, and — this is the important bit — named production evidence. Not "solid state is coming", but which vehicle, which year. Stage two: the mathematics. Diffusion curves, learning curves — deterministic, so the same question gives the same answer every time. Stage three, and this is the part I am genuinely proud of: an honesty layer. The tool labels its own confidence, checks whether a regulation is actual law, and puts uncertainty bands on every date. And only then, stage four: AI writes the narrative on top — and if it cannot cite a source, the claim is deleted automatically. [pause] If you take one sentence away from today, make it this one: the AI narrates — it never invents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sometimes ask me — so what is actually inside this thing? Fair question, and I want to be completely open about it. On the left, the models. These are not exotic: TRL grading, S-curves, the Bass diffusion model, Wright’s law — these are the same techniques the forecasting textbooks and the big analyst houses use. What is different is that we have implemented them as software, wired them to a curated evidence register, and put honesty gates around them. On the right, the workflow, step by step: you type a part name… the register matches it… the maths computes the projections… the honesty gates apply… then, only if you want it, the AI layers add evidence and critique… and everything lands in the lanes view, the PDF, and the ledger. And step seven is my favourite — the loop closes: every quarter we re-curate, and the tool scores its own old forecasts. Nothing here is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 I know what some of you may be thinking: "is this not just ChatGPT with our logo on it?" [smile] Fair challenge. This slide is my answer. On the left, what you get from a generic AI: beautifully written prose… with numbers it made up, no way to audit where anything came from, and a different answer every time you ask. On the right, Horizon: the numbers come from a curated register and deterministic math; every claim is labelled with how confident we should be; the AI is forced — in code, not in a prompt — to cite its sources or lose the claim; and the tool keeps score on its own past predictions. [pause, point to bottom line] But here is the practical difference for us: ask Horizon the same question every quarter and you get comparable, scoreable answers. That is what makes it an instrument, not a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asked me once whether this covers everything — so let me show you the numbers. [point to tiles] A hundred and thirty-nine technologies. All nine commodities — from battery cells to body-in-white. All four powertrains. Three dedicated lenses, fourteen dated regulations, twelve benchmark vehicles. [point to chart] And a small detail I like: this bar chart was not drawn by anyone — the deck generated it from the live register the moment it was built. If the register changes, the chart changes. One more thing worth saying out loud: the coverage is not just hardware. The software half of the vehicle — the E/E architecture, ADAS, the vehicle OS — is covered just as deeply. That is where half the future cost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is the part built specifically for us. Three lenses — one click each. [point left] The Off-Road lens is our home turf: hydraulic interlinked suspension — the Defender OCTA technology — electronic lockers, deep wading, the quad-motor tank-turn party tricks the Chinese brands are shipping. And when this lens is on, the tool automatically shows the twelve benchmark vehicles alongside. [point middle] The Luxury lens tracks the comfort arms race — predictive suspension, executive seating, cabin purification. [point right] And the SDV lens — twenty-four technologies covering the software-defined vehicle, because our competitors are increasingly software companies. One register, three ways to look at OUR battleground.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Regulation is where foresight tools usually embarrass themselves — so let me show you how we handle it. Every anchor on this timeline is dated AND carries its legal status. Teal means in force today. Gold means adopted law with a future date. Grey means still a proposal — and here is the rule: a proposal is context, it is never allowed to move a prediction. Red means under revision — the US EPA standards are actively being rolled back, so the tool treats them as a weakening signal, not a driver. [pause] And I will share something honestly, because I think it builds more trust than hiding it: when we audited this tool, we caught it treating the ELV recast as committed law with the wrong date. We fixed it, we locked the fix into the test suite — and that mistake is now structurally impossible. That is the level of rigour behind this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who is setting the bar in our segment — as curated evidence, not opinion. Our own flagships at the top, and rightly so. Then look at the electric G-Wagen: four motors, a real two-speed low range on each one, and virtual diff locks — Mercedes is betting software can replace the mechanical locker. And then — [pause] — the one I show everyone: the Yangwang U8. Hydraulic body control, a tank turn, and an emergency float mode. It floats. For thirty minutes. [let that land] Whether we admire it or not, that is the pressure coming into our segment, and each row here carries a "what to watch next" — the announced move, not speculation. In the tool, this table appears automatically the moment our segment lens is switched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you actually get back from one query? Six things. The horizon lanes tell you WHEN to care — act now, plan for it, or just watch. The trajectories put actual numbers on adoption and cost, three, five and eight years out. The crossing years tell you when a technology hits a quarter or half its market — and notice, always with a band around the date, because anyone who gives you a single year for the future is selling false precision. Momentum ranks what deserves attention; confidence tiers tell you how firm each call is. And then the two at the bottom are things no chatbot will ever give you: computed patent evidence and cited research… and one-click outputs — a critique panel, a self-scoring ledger, and a PDF report you could hand straight to a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I promised — a live example. I typed one thing into the tool: "BEV HV battery". 22 technologies came back, mapped instantly. Let me read the chart with you. The gold line — LFP — already dominant and heading for saturation; that battle is over. The teal line, cell-to-pack integration, crosses the majority of the market this decade — that changes pack architecture and who adds the value. The purple riser is the one to watch: ultra-fast-charge LFP — charging speed is replacing range as the spec war. And down at the bottom — solid-state. Flat. [pause] Not because we are pessimists, but because it is still pilot-scale at four to eight hundred dollars a kilowatt-hour — the honest position is "track it, don't bet the platform on it". On the right, the headline calls, each with an uncertainty band. And the line at the bottom of the slide is the one I want you to remember: I did not type a single one of these numbers. The engine computed all of them the moment this deck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prediction on its own is just an opinion with confidence — so underneath every prediction sits an evidence layer. Top left: patent filing velocity. If filings on a technology are accelerating year over year, that is an observable early signal — and the label is computed from the counts, not from anyone's opinion. Top right: deep research. The tool goes out, retrieves live sources and patents, and then — this is the part I love — if the AI writes a finding it cannot tie to a retrieved source, the code deletes it before we ever see it. It can even come back and say the evidence CHALLENGES our own register. Bottom left: three AI sceptics — an over-hype historian, a supply-chain realist, a regulatory analyst — who stamp agree, caution or challenge on every card. They can question timing; they are not allowed to touch a number. And bottom right, the ledger — we grade our own homework. Prediction plus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actually change for the business? Four things, very concretely. One — sourcing: before we sign a seven-year contract, we check the technology future of that part. Will hydraulic brakes still be the right answer in year five, or are we signing up for legacy? Two — negotiation: if the cost curve says this part should be fifteen percent cheaper by 2029, that belongs in the LTA conversation, and now we have the maths behind it. Three — regulation: every obligation dated, statused, and mapped to the exact components it forces. No more surprises, and no more panicking over proposals that are not law. Four — the radar: our competitive segment, benchmarked continuously, including the disruptors. [point to pill] And the operating model matters as much as the features: minutes not weeks, self-serve, every engineer — not a gated analyst subscription.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question before the close: why should you trust it enough to put its output in front of a board? Because we engineered it like a product, not a demo. Three hundred and twenty-six automated tests run on every change — and they enforce the honesty rules themselves: if someone adds a technology claiming high adoption without evidence, the build literally fails. It has been through an independent fact-check against primary sources, and every finding from that audit is fixed and locked into the tests. [point to navy card] And the quote on the right is the standard we hold it to: a foresight tool that never checks its own past predictions is astrology. This one checks. It scores its own old forecasts and shows us the error. I know very few humans with that discipline — now we have a tool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story — but honestly, this tool is better experienced than described, and a live run takes under a minute. If you will allow me: I will open Horizon, click our Off-Road and Luxury lens, run a prediction, and export the report — right now, on this screen. [do the demo] Before I hand back, three small asks to take this from impressive to embedded. First: let me pilot it with two commodity teams for one quarter. Second: a free patent-database key — it costs nothing and lights up the evidence layer. Third: a quarterly re-curation slot in the calendar, so the prediction ledger starts scoring us and the tool gets sharper every cycle. [pause] Thank you — and I am happy to take questions, or better, take requests: name any part you own, and let us see its future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617720"/>
            <a:ext cx="12188952" cy="2240280"/>
          </a:xfrm>
          <a:prstGeom prst="rect">
            <a:avLst/>
          </a:prstGeom>
          <a:solidFill>
            <a:srgbClr val="0D1F33"/>
          </a:solidFill>
          <a:ln/>
        </p:spPr>
      </p:sp>
      <p:sp>
        <p:nvSpPr>
          <p:cNvPr id="3" name="Shape 1"/>
          <p:cNvSpPr/>
          <p:nvPr/>
        </p:nvSpPr>
        <p:spPr>
          <a:xfrm flipH="1">
            <a:off x="-8170164" y="5074920"/>
            <a:ext cx="11247120" cy="1783080"/>
          </a:xfrm>
          <a:prstGeom prst="line">
            <a:avLst/>
          </a:prstGeom>
          <a:noFill/>
          <a:ln w="11430">
            <a:solidFill>
              <a:srgbClr val="F59E0B">
                <a:alpha val="42000"/>
              </a:srgbClr>
            </a:solidFill>
            <a:prstDash val="solid"/>
          </a:ln>
        </p:spPr>
      </p:sp>
      <p:sp>
        <p:nvSpPr>
          <p:cNvPr id="4" name="Shape 2"/>
          <p:cNvSpPr/>
          <p:nvPr/>
        </p:nvSpPr>
        <p:spPr>
          <a:xfrm flipH="1">
            <a:off x="-5792724" y="5074920"/>
            <a:ext cx="9372600" cy="1783080"/>
          </a:xfrm>
          <a:prstGeom prst="line">
            <a:avLst/>
          </a:prstGeom>
          <a:noFill/>
          <a:ln w="11430">
            <a:solidFill>
              <a:srgbClr val="F59E0B">
                <a:alpha val="42000"/>
              </a:srgbClr>
            </a:solidFill>
            <a:prstDash val="solid"/>
          </a:ln>
        </p:spPr>
      </p:sp>
      <p:sp>
        <p:nvSpPr>
          <p:cNvPr id="5" name="Shape 3"/>
          <p:cNvSpPr/>
          <p:nvPr/>
        </p:nvSpPr>
        <p:spPr>
          <a:xfrm flipH="1">
            <a:off x="-3415284" y="5074920"/>
            <a:ext cx="7498080" cy="1783080"/>
          </a:xfrm>
          <a:prstGeom prst="line">
            <a:avLst/>
          </a:prstGeom>
          <a:noFill/>
          <a:ln w="11430">
            <a:solidFill>
              <a:srgbClr val="F59E0B">
                <a:alpha val="42000"/>
              </a:srgbClr>
            </a:solidFill>
            <a:prstDash val="solid"/>
          </a:ln>
        </p:spPr>
      </p:sp>
      <p:sp>
        <p:nvSpPr>
          <p:cNvPr id="6" name="Shape 4"/>
          <p:cNvSpPr/>
          <p:nvPr/>
        </p:nvSpPr>
        <p:spPr>
          <a:xfrm flipH="1">
            <a:off x="-1037844" y="5074920"/>
            <a:ext cx="5623560" cy="1783080"/>
          </a:xfrm>
          <a:prstGeom prst="line">
            <a:avLst/>
          </a:prstGeom>
          <a:noFill/>
          <a:ln w="11430">
            <a:solidFill>
              <a:srgbClr val="F59E0B">
                <a:alpha val="42000"/>
              </a:srgbClr>
            </a:solidFill>
            <a:prstDash val="solid"/>
          </a:ln>
        </p:spPr>
      </p:sp>
      <p:sp>
        <p:nvSpPr>
          <p:cNvPr id="7" name="Shape 5"/>
          <p:cNvSpPr/>
          <p:nvPr/>
        </p:nvSpPr>
        <p:spPr>
          <a:xfrm flipH="1">
            <a:off x="1339596" y="5074920"/>
            <a:ext cx="3749040" cy="1783080"/>
          </a:xfrm>
          <a:prstGeom prst="line">
            <a:avLst/>
          </a:prstGeom>
          <a:noFill/>
          <a:ln w="11430">
            <a:solidFill>
              <a:srgbClr val="F59E0B">
                <a:alpha val="42000"/>
              </a:srgbClr>
            </a:solidFill>
            <a:prstDash val="solid"/>
          </a:ln>
        </p:spPr>
      </p:sp>
      <p:sp>
        <p:nvSpPr>
          <p:cNvPr id="8" name="Shape 6"/>
          <p:cNvSpPr/>
          <p:nvPr/>
        </p:nvSpPr>
        <p:spPr>
          <a:xfrm flipH="1">
            <a:off x="3717036" y="5074920"/>
            <a:ext cx="1874520" cy="1783080"/>
          </a:xfrm>
          <a:prstGeom prst="line">
            <a:avLst/>
          </a:prstGeom>
          <a:noFill/>
          <a:ln w="11430">
            <a:solidFill>
              <a:srgbClr val="F59E0B">
                <a:alpha val="42000"/>
              </a:srgbClr>
            </a:solidFill>
            <a:prstDash val="solid"/>
          </a:ln>
        </p:spPr>
      </p:sp>
      <p:sp>
        <p:nvSpPr>
          <p:cNvPr id="9" name="Shape 7"/>
          <p:cNvSpPr/>
          <p:nvPr/>
        </p:nvSpPr>
        <p:spPr>
          <a:xfrm>
            <a:off x="6094476" y="5074920"/>
            <a:ext cx="0" cy="1783080"/>
          </a:xfrm>
          <a:prstGeom prst="line">
            <a:avLst/>
          </a:prstGeom>
          <a:noFill/>
          <a:ln w="11430">
            <a:solidFill>
              <a:srgbClr val="F59E0B">
                <a:alpha val="42000"/>
              </a:srgbClr>
            </a:solidFill>
            <a:prstDash val="solid"/>
          </a:ln>
        </p:spPr>
      </p:sp>
      <p:sp>
        <p:nvSpPr>
          <p:cNvPr id="10" name="Shape 8"/>
          <p:cNvSpPr/>
          <p:nvPr/>
        </p:nvSpPr>
        <p:spPr>
          <a:xfrm>
            <a:off x="6597396" y="5074920"/>
            <a:ext cx="1874520" cy="1783080"/>
          </a:xfrm>
          <a:prstGeom prst="line">
            <a:avLst/>
          </a:prstGeom>
          <a:noFill/>
          <a:ln w="11430">
            <a:solidFill>
              <a:srgbClr val="F59E0B">
                <a:alpha val="42000"/>
              </a:srgbClr>
            </a:solidFill>
            <a:prstDash val="solid"/>
          </a:ln>
        </p:spPr>
      </p:sp>
      <p:sp>
        <p:nvSpPr>
          <p:cNvPr id="11" name="Shape 9"/>
          <p:cNvSpPr/>
          <p:nvPr/>
        </p:nvSpPr>
        <p:spPr>
          <a:xfrm>
            <a:off x="7100316" y="5074920"/>
            <a:ext cx="3749040" cy="1783080"/>
          </a:xfrm>
          <a:prstGeom prst="line">
            <a:avLst/>
          </a:prstGeom>
          <a:noFill/>
          <a:ln w="11430">
            <a:solidFill>
              <a:srgbClr val="F59E0B">
                <a:alpha val="42000"/>
              </a:srgbClr>
            </a:solidFill>
            <a:prstDash val="solid"/>
          </a:ln>
        </p:spPr>
      </p:sp>
      <p:sp>
        <p:nvSpPr>
          <p:cNvPr id="12" name="Shape 10"/>
          <p:cNvSpPr/>
          <p:nvPr/>
        </p:nvSpPr>
        <p:spPr>
          <a:xfrm>
            <a:off x="7603236" y="5074920"/>
            <a:ext cx="5623560" cy="1783080"/>
          </a:xfrm>
          <a:prstGeom prst="line">
            <a:avLst/>
          </a:prstGeom>
          <a:noFill/>
          <a:ln w="11430">
            <a:solidFill>
              <a:srgbClr val="F59E0B">
                <a:alpha val="42000"/>
              </a:srgbClr>
            </a:solidFill>
            <a:prstDash val="solid"/>
          </a:ln>
        </p:spPr>
      </p:sp>
      <p:sp>
        <p:nvSpPr>
          <p:cNvPr id="13" name="Shape 11"/>
          <p:cNvSpPr/>
          <p:nvPr/>
        </p:nvSpPr>
        <p:spPr>
          <a:xfrm>
            <a:off x="8106156" y="5074920"/>
            <a:ext cx="7498080" cy="1783080"/>
          </a:xfrm>
          <a:prstGeom prst="line">
            <a:avLst/>
          </a:prstGeom>
          <a:noFill/>
          <a:ln w="11430">
            <a:solidFill>
              <a:srgbClr val="F59E0B">
                <a:alpha val="42000"/>
              </a:srgbClr>
            </a:solidFill>
            <a:prstDash val="solid"/>
          </a:ln>
        </p:spPr>
      </p:sp>
      <p:sp>
        <p:nvSpPr>
          <p:cNvPr id="14" name="Shape 12"/>
          <p:cNvSpPr/>
          <p:nvPr/>
        </p:nvSpPr>
        <p:spPr>
          <a:xfrm>
            <a:off x="8609076" y="5074920"/>
            <a:ext cx="9372600" cy="1783080"/>
          </a:xfrm>
          <a:prstGeom prst="line">
            <a:avLst/>
          </a:prstGeom>
          <a:noFill/>
          <a:ln w="11430">
            <a:solidFill>
              <a:srgbClr val="F59E0B">
                <a:alpha val="42000"/>
              </a:srgbClr>
            </a:solidFill>
            <a:prstDash val="solid"/>
          </a:ln>
        </p:spPr>
      </p:sp>
      <p:sp>
        <p:nvSpPr>
          <p:cNvPr id="15" name="Shape 13"/>
          <p:cNvSpPr/>
          <p:nvPr/>
        </p:nvSpPr>
        <p:spPr>
          <a:xfrm>
            <a:off x="9111996" y="5074920"/>
            <a:ext cx="11247120" cy="1783080"/>
          </a:xfrm>
          <a:prstGeom prst="line">
            <a:avLst/>
          </a:prstGeom>
          <a:noFill/>
          <a:ln w="11430">
            <a:solidFill>
              <a:srgbClr val="F59E0B">
                <a:alpha val="42000"/>
              </a:srgbClr>
            </a:solidFill>
            <a:prstDash val="solid"/>
          </a:ln>
        </p:spPr>
      </p:sp>
      <p:sp>
        <p:nvSpPr>
          <p:cNvPr id="16" name="Shape 14"/>
          <p:cNvSpPr/>
          <p:nvPr/>
        </p:nvSpPr>
        <p:spPr>
          <a:xfrm>
            <a:off x="0" y="5202936"/>
            <a:ext cx="12188952" cy="0"/>
          </a:xfrm>
          <a:prstGeom prst="line">
            <a:avLst/>
          </a:prstGeom>
          <a:noFill/>
          <a:ln w="11430">
            <a:solidFill>
              <a:srgbClr val="F59E0B">
                <a:alpha val="32000"/>
              </a:srgbClr>
            </a:solidFill>
            <a:prstDash val="solid"/>
          </a:ln>
        </p:spPr>
      </p:sp>
      <p:sp>
        <p:nvSpPr>
          <p:cNvPr id="17" name="Shape 15"/>
          <p:cNvSpPr/>
          <p:nvPr/>
        </p:nvSpPr>
        <p:spPr>
          <a:xfrm>
            <a:off x="0" y="5385816"/>
            <a:ext cx="12188952" cy="0"/>
          </a:xfrm>
          <a:prstGeom prst="line">
            <a:avLst/>
          </a:prstGeom>
          <a:noFill/>
          <a:ln w="11430">
            <a:solidFill>
              <a:srgbClr val="F59E0B">
                <a:alpha val="32000"/>
              </a:srgbClr>
            </a:solidFill>
            <a:prstDash val="solid"/>
          </a:ln>
        </p:spPr>
      </p:sp>
      <p:sp>
        <p:nvSpPr>
          <p:cNvPr id="18" name="Shape 16"/>
          <p:cNvSpPr/>
          <p:nvPr/>
        </p:nvSpPr>
        <p:spPr>
          <a:xfrm>
            <a:off x="0" y="5641848"/>
            <a:ext cx="12188952" cy="0"/>
          </a:xfrm>
          <a:prstGeom prst="line">
            <a:avLst/>
          </a:prstGeom>
          <a:noFill/>
          <a:ln w="11430">
            <a:solidFill>
              <a:srgbClr val="F59E0B">
                <a:alpha val="32000"/>
              </a:srgbClr>
            </a:solidFill>
            <a:prstDash val="solid"/>
          </a:ln>
        </p:spPr>
      </p:sp>
      <p:sp>
        <p:nvSpPr>
          <p:cNvPr id="19" name="Shape 17"/>
          <p:cNvSpPr/>
          <p:nvPr/>
        </p:nvSpPr>
        <p:spPr>
          <a:xfrm>
            <a:off x="0" y="5989320"/>
            <a:ext cx="12188952" cy="0"/>
          </a:xfrm>
          <a:prstGeom prst="line">
            <a:avLst/>
          </a:prstGeom>
          <a:noFill/>
          <a:ln w="11430">
            <a:solidFill>
              <a:srgbClr val="F59E0B">
                <a:alpha val="32000"/>
              </a:srgbClr>
            </a:solidFill>
            <a:prstDash val="solid"/>
          </a:ln>
        </p:spPr>
      </p:sp>
      <p:sp>
        <p:nvSpPr>
          <p:cNvPr id="20" name="Shape 18"/>
          <p:cNvSpPr/>
          <p:nvPr/>
        </p:nvSpPr>
        <p:spPr>
          <a:xfrm>
            <a:off x="0" y="6446520"/>
            <a:ext cx="12188952" cy="0"/>
          </a:xfrm>
          <a:prstGeom prst="line">
            <a:avLst/>
          </a:prstGeom>
          <a:noFill/>
          <a:ln w="11430">
            <a:solidFill>
              <a:srgbClr val="F59E0B">
                <a:alpha val="32000"/>
              </a:srgbClr>
            </a:solidFill>
            <a:prstDash val="solid"/>
          </a:ln>
        </p:spPr>
      </p:sp>
      <p:sp>
        <p:nvSpPr>
          <p:cNvPr id="21" name="Shape 19"/>
          <p:cNvSpPr/>
          <p:nvPr/>
        </p:nvSpPr>
        <p:spPr>
          <a:xfrm>
            <a:off x="0" y="5074920"/>
            <a:ext cx="12188952" cy="0"/>
          </a:xfrm>
          <a:prstGeom prst="line">
            <a:avLst/>
          </a:prstGeom>
          <a:noFill/>
          <a:ln w="20320">
            <a:solidFill>
              <a:srgbClr val="F59E0B">
                <a:alpha val="78000"/>
              </a:srgbClr>
            </a:solidFill>
            <a:prstDash val="solid"/>
          </a:ln>
        </p:spPr>
      </p:sp>
      <p:sp>
        <p:nvSpPr>
          <p:cNvPr id="22" name="Text 20"/>
          <p:cNvSpPr/>
          <p:nvPr/>
        </p:nvSpPr>
        <p:spPr>
          <a:xfrm>
            <a:off x="0" y="4681728"/>
            <a:ext cx="12188952" cy="320040"/>
          </a:xfrm>
          <a:prstGeom prst="rect">
            <a:avLst/>
          </a:prstGeom>
          <a:noFill/>
          <a:ln/>
        </p:spPr>
        <p:txBody>
          <a:bodyPr wrap="square" rtlCol="0" anchor="ctr"/>
          <a:lstStyle/>
          <a:p>
            <a:pPr algn="ctr" indent="0" marL="0">
              <a:buNone/>
            </a:pPr>
            <a:r>
              <a:rPr lang="en-US" sz="1350" i="1" dirty="0">
                <a:solidFill>
                  <a:srgbClr val="E7EDF4"/>
                </a:solidFill>
                <a:latin typeface="Arial" pitchFamily="34" charset="0"/>
                <a:ea typeface="Arial" pitchFamily="34" charset="-122"/>
                <a:cs typeface="Arial" pitchFamily="34" charset="-120"/>
              </a:rPr>
              <a:t>Which technologies will reshape every commodity across ICE · MHEV · PHEV · BEV — and when.</a:t>
            </a:r>
            <a:endParaRPr lang="en-US" sz="1350" dirty="0"/>
          </a:p>
        </p:txBody>
      </p:sp>
      <p:sp>
        <p:nvSpPr>
          <p:cNvPr id="23" name="Text 21"/>
          <p:cNvSpPr/>
          <p:nvPr/>
        </p:nvSpPr>
        <p:spPr>
          <a:xfrm>
            <a:off x="0" y="6355080"/>
            <a:ext cx="12188952" cy="274320"/>
          </a:xfrm>
          <a:prstGeom prst="rect">
            <a:avLst/>
          </a:prstGeom>
          <a:noFill/>
          <a:ln/>
        </p:spPr>
        <p:txBody>
          <a:bodyPr wrap="square" rtlCol="0" anchor="ctr"/>
          <a:lstStyle/>
          <a:p>
            <a:pPr algn="ctr" indent="0" marL="0">
              <a:buNone/>
            </a:pPr>
            <a:r>
              <a:rPr lang="en-US" sz="1050" dirty="0">
                <a:solidFill>
                  <a:srgbClr val="9FB2C6"/>
                </a:solidFill>
                <a:latin typeface="Courier New" pitchFamily="34" charset="0"/>
                <a:ea typeface="Courier New" pitchFamily="34" charset="-122"/>
                <a:cs typeface="Courier New" pitchFamily="34" charset="-120"/>
              </a:rPr>
              <a:t>Avinash Bhosale   ·   Cost Engineering   ·   July 2026</a:t>
            </a:r>
            <a:endParaRPr lang="en-US" sz="1050" dirty="0"/>
          </a:p>
        </p:txBody>
      </p:sp>
      <p:sp>
        <p:nvSpPr>
          <p:cNvPr id="24" name="Shape 22"/>
          <p:cNvSpPr/>
          <p:nvPr/>
        </p:nvSpPr>
        <p:spPr>
          <a:xfrm>
            <a:off x="5253228" y="502920"/>
            <a:ext cx="1682496" cy="1682496"/>
          </a:xfrm>
          <a:prstGeom prst="ellipse">
            <a:avLst/>
          </a:prstGeom>
          <a:ln w="12700">
            <a:solidFill>
              <a:srgbClr val="0D9488">
                <a:alpha val="65000"/>
              </a:srgbClr>
            </a:solidFill>
            <a:prstDash val="dash"/>
          </a:ln>
        </p:spPr>
      </p:sp>
      <p:sp>
        <p:nvSpPr>
          <p:cNvPr id="25" name="Shape 23"/>
          <p:cNvSpPr/>
          <p:nvPr/>
        </p:nvSpPr>
        <p:spPr>
          <a:xfrm>
            <a:off x="5490972" y="740664"/>
            <a:ext cx="1207008" cy="1207008"/>
          </a:xfrm>
          <a:prstGeom prst="ellipse">
            <a:avLst/>
          </a:prstGeom>
          <a:solidFill>
            <a:srgbClr val="0D1F33"/>
          </a:solidFill>
          <a:ln/>
        </p:spPr>
      </p:sp>
      <p:pic>
        <p:nvPicPr>
          <p:cNvPr id="26" name="Image 0" descr="preencoded.png">    </p:cNvPr>
          <p:cNvPicPr>
            <a:picLocks noChangeAspect="1"/>
          </p:cNvPicPr>
          <p:nvPr/>
        </p:nvPicPr>
        <p:blipFill>
          <a:blip r:embed="rId1"/>
          <a:stretch>
            <a:fillRect/>
          </a:stretch>
        </p:blipFill>
        <p:spPr>
          <a:xfrm>
            <a:off x="5756148" y="1005840"/>
            <a:ext cx="676656" cy="676656"/>
          </a:xfrm>
          <a:prstGeom prst="rect">
            <a:avLst/>
          </a:prstGeom>
        </p:spPr>
      </p:pic>
      <p:sp>
        <p:nvSpPr>
          <p:cNvPr id="27" name="Shape 24"/>
          <p:cNvSpPr/>
          <p:nvPr/>
        </p:nvSpPr>
        <p:spPr>
          <a:xfrm>
            <a:off x="6825996" y="603504"/>
            <a:ext cx="91440" cy="91440"/>
          </a:xfrm>
          <a:prstGeom prst="ellipse">
            <a:avLst/>
          </a:prstGeom>
          <a:solidFill>
            <a:srgbClr val="0D9488"/>
          </a:solidFill>
          <a:ln/>
        </p:spPr>
      </p:sp>
      <p:sp>
        <p:nvSpPr>
          <p:cNvPr id="28" name="Text 25"/>
          <p:cNvSpPr/>
          <p:nvPr/>
        </p:nvSpPr>
        <p:spPr>
          <a:xfrm>
            <a:off x="0" y="2450592"/>
            <a:ext cx="12188952" cy="274320"/>
          </a:xfrm>
          <a:prstGeom prst="rect">
            <a:avLst/>
          </a:prstGeom>
          <a:noFill/>
          <a:ln/>
        </p:spPr>
        <p:txBody>
          <a:bodyPr wrap="square" rtlCol="0" anchor="ctr"/>
          <a:lstStyle/>
          <a:p>
            <a:pPr algn="ctr" indent="0" marL="0">
              <a:buNone/>
            </a:pPr>
            <a:r>
              <a:rPr lang="en-US" sz="1150" b="1" spc="250" kern="0" dirty="0">
                <a:solidFill>
                  <a:srgbClr val="0D9488"/>
                </a:solidFill>
                <a:latin typeface="Courier New" pitchFamily="34" charset="0"/>
                <a:ea typeface="Courier New" pitchFamily="34" charset="-122"/>
                <a:cs typeface="Courier New" pitchFamily="34" charset="-120"/>
              </a:rPr>
              <a:t>PART OF THE BRAINSPARK AI COST-ENGINEERING PLATFORM</a:t>
            </a:r>
            <a:endParaRPr lang="en-US" sz="1150" dirty="0"/>
          </a:p>
        </p:txBody>
      </p:sp>
      <p:sp>
        <p:nvSpPr>
          <p:cNvPr id="29" name="Text 26"/>
          <p:cNvSpPr/>
          <p:nvPr/>
        </p:nvSpPr>
        <p:spPr>
          <a:xfrm>
            <a:off x="0" y="2743200"/>
            <a:ext cx="12188952" cy="868680"/>
          </a:xfrm>
          <a:prstGeom prst="rect">
            <a:avLst/>
          </a:prstGeom>
          <a:noFill/>
          <a:ln/>
        </p:spPr>
        <p:txBody>
          <a:bodyPr wrap="square" rtlCol="0" anchor="ctr"/>
          <a:lstStyle/>
          <a:p>
            <a:pPr algn="ctr" indent="0" marL="0">
              <a:buNone/>
            </a:pPr>
            <a:r>
              <a:rPr lang="en-US" sz="5400" b="1" dirty="0">
                <a:solidFill>
                  <a:srgbClr val="0D1F33"/>
                </a:solidFill>
                <a:latin typeface="Arial" pitchFamily="34" charset="0"/>
                <a:ea typeface="Arial" pitchFamily="34" charset="-122"/>
                <a:cs typeface="Arial" pitchFamily="34" charset="-120"/>
              </a:rPr>
              <a:t>BrainSpark </a:t>
            </a:r>
            <a:pPr algn="ctr" indent="0" marL="0">
              <a:buNone/>
            </a:pPr>
            <a:r>
              <a:rPr lang="en-US" sz="5400" b="1" dirty="0">
                <a:solidFill>
                  <a:srgbClr val="D97706"/>
                </a:solidFill>
                <a:latin typeface="Arial" pitchFamily="34" charset="0"/>
                <a:ea typeface="Arial" pitchFamily="34" charset="-122"/>
                <a:cs typeface="Arial" pitchFamily="34" charset="-120"/>
              </a:rPr>
              <a:t>Horizon</a:t>
            </a:r>
            <a:endParaRPr lang="en-US" sz="5400" dirty="0"/>
          </a:p>
        </p:txBody>
      </p:sp>
      <p:sp>
        <p:nvSpPr>
          <p:cNvPr id="30" name="Text 27"/>
          <p:cNvSpPr/>
          <p:nvPr/>
        </p:nvSpPr>
        <p:spPr>
          <a:xfrm>
            <a:off x="0" y="3639312"/>
            <a:ext cx="12188952" cy="411480"/>
          </a:xfrm>
          <a:prstGeom prst="rect">
            <a:avLst/>
          </a:prstGeom>
          <a:noFill/>
          <a:ln/>
        </p:spPr>
        <p:txBody>
          <a:bodyPr wrap="square" rtlCol="0" anchor="ctr"/>
          <a:lstStyle/>
          <a:p>
            <a:pPr algn="ctr" indent="0" marL="0">
              <a:buNone/>
            </a:pPr>
            <a:r>
              <a:rPr lang="en-US" sz="2000" b="1" dirty="0">
                <a:solidFill>
                  <a:srgbClr val="5B6B7F"/>
                </a:solidFill>
                <a:latin typeface="Arial" pitchFamily="34" charset="0"/>
                <a:ea typeface="Arial" pitchFamily="34" charset="-122"/>
                <a:cs typeface="Arial" pitchFamily="34" charset="-120"/>
              </a:rPr>
              <a:t>Automotive Technology Foresight Engine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212080" cy="6858000"/>
          </a:xfrm>
          <a:prstGeom prst="rect">
            <a:avLst/>
          </a:prstGeom>
          <a:solidFill>
            <a:srgbClr val="0D1F33"/>
          </a:solidFill>
          <a:ln/>
        </p:spPr>
      </p:sp>
      <p:sp>
        <p:nvSpPr>
          <p:cNvPr id="3" name="Shape 1"/>
          <p:cNvSpPr/>
          <p:nvPr/>
        </p:nvSpPr>
        <p:spPr>
          <a:xfrm>
            <a:off x="457200" y="457200"/>
            <a:ext cx="137160" cy="0"/>
          </a:xfrm>
          <a:prstGeom prst="line">
            <a:avLst/>
          </a:prstGeom>
          <a:noFill/>
          <a:ln w="19050">
            <a:solidFill>
              <a:srgbClr val="F59E0B"/>
            </a:solidFill>
            <a:prstDash val="solid"/>
          </a:ln>
        </p:spPr>
      </p:sp>
      <p:sp>
        <p:nvSpPr>
          <p:cNvPr id="4" name="Shape 2"/>
          <p:cNvSpPr/>
          <p:nvPr/>
        </p:nvSpPr>
        <p:spPr>
          <a:xfrm>
            <a:off x="457200" y="457200"/>
            <a:ext cx="0" cy="137160"/>
          </a:xfrm>
          <a:prstGeom prst="line">
            <a:avLst/>
          </a:prstGeom>
          <a:noFill/>
          <a:ln w="19050">
            <a:solidFill>
              <a:srgbClr val="F59E0B"/>
            </a:solidFill>
            <a:prstDash val="solid"/>
          </a:ln>
        </p:spPr>
      </p:sp>
      <p:sp>
        <p:nvSpPr>
          <p:cNvPr id="5" name="Shape 3"/>
          <p:cNvSpPr/>
          <p:nvPr/>
        </p:nvSpPr>
        <p:spPr>
          <a:xfrm>
            <a:off x="4663440" y="6400800"/>
            <a:ext cx="137160" cy="0"/>
          </a:xfrm>
          <a:prstGeom prst="line">
            <a:avLst/>
          </a:prstGeom>
          <a:noFill/>
          <a:ln w="19050">
            <a:solidFill>
              <a:srgbClr val="F59E0B"/>
            </a:solidFill>
            <a:prstDash val="solid"/>
          </a:ln>
        </p:spPr>
      </p:sp>
      <p:sp>
        <p:nvSpPr>
          <p:cNvPr id="6" name="Shape 4"/>
          <p:cNvSpPr/>
          <p:nvPr/>
        </p:nvSpPr>
        <p:spPr>
          <a:xfrm>
            <a:off x="4800600" y="6263640"/>
            <a:ext cx="0" cy="137160"/>
          </a:xfrm>
          <a:prstGeom prst="line">
            <a:avLst/>
          </a:prstGeom>
          <a:noFill/>
          <a:ln w="19050">
            <a:solidFill>
              <a:srgbClr val="F59E0B"/>
            </a:solidFill>
            <a:prstDash val="solid"/>
          </a:ln>
        </p:spPr>
      </p:sp>
      <p:pic>
        <p:nvPicPr>
          <p:cNvPr id="7" name="Image 0" descr="preencoded.png">    </p:cNvPr>
          <p:cNvPicPr>
            <a:picLocks noChangeAspect="1"/>
          </p:cNvPicPr>
          <p:nvPr/>
        </p:nvPicPr>
        <p:blipFill>
          <a:blip r:embed="rId1"/>
          <a:stretch>
            <a:fillRect/>
          </a:stretch>
        </p:blipFill>
        <p:spPr>
          <a:xfrm>
            <a:off x="777240" y="777240"/>
            <a:ext cx="457200" cy="457200"/>
          </a:xfrm>
          <a:prstGeom prst="rect">
            <a:avLst/>
          </a:prstGeom>
        </p:spPr>
      </p:pic>
      <p:sp>
        <p:nvSpPr>
          <p:cNvPr id="8" name="Text 5"/>
          <p:cNvSpPr/>
          <p:nvPr/>
        </p:nvSpPr>
        <p:spPr>
          <a:xfrm>
            <a:off x="777240" y="1371600"/>
            <a:ext cx="3840480" cy="41148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Where Horizon sits</a:t>
            </a:r>
            <a:endParaRPr lang="en-US" sz="2400" dirty="0"/>
          </a:p>
        </p:txBody>
      </p:sp>
      <p:sp>
        <p:nvSpPr>
          <p:cNvPr id="9" name="Shape 6"/>
          <p:cNvSpPr/>
          <p:nvPr/>
        </p:nvSpPr>
        <p:spPr>
          <a:xfrm>
            <a:off x="777240" y="2029968"/>
            <a:ext cx="128016" cy="128016"/>
          </a:xfrm>
          <a:prstGeom prst="ellipse">
            <a:avLst/>
          </a:prstGeom>
          <a:solidFill>
            <a:srgbClr val="F59E0B"/>
          </a:solidFill>
          <a:ln/>
        </p:spPr>
      </p:sp>
      <p:sp>
        <p:nvSpPr>
          <p:cNvPr id="10" name="Text 7"/>
          <p:cNvSpPr/>
          <p:nvPr/>
        </p:nvSpPr>
        <p:spPr>
          <a:xfrm>
            <a:off x="1051560" y="1938528"/>
            <a:ext cx="365760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13 AI tools, one platform</a:t>
            </a:r>
            <a:endParaRPr lang="en-US" sz="1450" dirty="0"/>
          </a:p>
        </p:txBody>
      </p:sp>
      <p:sp>
        <p:nvSpPr>
          <p:cNvPr id="11" name="Text 8"/>
          <p:cNvSpPr/>
          <p:nvPr/>
        </p:nvSpPr>
        <p:spPr>
          <a:xfrm>
            <a:off x="1051560" y="2212848"/>
            <a:ext cx="3657600" cy="822960"/>
          </a:xfrm>
          <a:prstGeom prst="rect">
            <a:avLst/>
          </a:prstGeom>
          <a:noFill/>
          <a:ln/>
        </p:spPr>
        <p:txBody>
          <a:bodyPr wrap="square" lIns="0" tIns="0" rIns="0" bIns="0" rtlCol="0" anchor="ctr"/>
          <a:lstStyle/>
          <a:p>
            <a:pPr indent="0" marL="0">
              <a:buNone/>
            </a:pPr>
            <a:r>
              <a:rPr lang="en-US" sz="1050" dirty="0">
                <a:solidFill>
                  <a:srgbClr val="B9C6D6"/>
                </a:solidFill>
                <a:latin typeface="Arial" pitchFamily="34" charset="0"/>
                <a:ea typeface="Arial" pitchFamily="34" charset="-122"/>
                <a:cs typeface="Arial" pitchFamily="34" charset="-120"/>
              </a:rPr>
              <a:t>BrainSpark already generates cost ideas, should-costs parts, reads CAD and PCBs, and tracks savings to realisation.</a:t>
            </a:r>
            <a:endParaRPr lang="en-US" sz="1050" dirty="0"/>
          </a:p>
        </p:txBody>
      </p:sp>
      <p:sp>
        <p:nvSpPr>
          <p:cNvPr id="12" name="Shape 9"/>
          <p:cNvSpPr/>
          <p:nvPr/>
        </p:nvSpPr>
        <p:spPr>
          <a:xfrm>
            <a:off x="777240" y="3200400"/>
            <a:ext cx="128016" cy="128016"/>
          </a:xfrm>
          <a:prstGeom prst="ellipse">
            <a:avLst/>
          </a:prstGeom>
          <a:solidFill>
            <a:srgbClr val="F59E0B"/>
          </a:solidFill>
          <a:ln/>
        </p:spPr>
      </p:sp>
      <p:sp>
        <p:nvSpPr>
          <p:cNvPr id="13" name="Text 10"/>
          <p:cNvSpPr/>
          <p:nvPr/>
        </p:nvSpPr>
        <p:spPr>
          <a:xfrm>
            <a:off x="1051560" y="3108960"/>
            <a:ext cx="365760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One governing rule</a:t>
            </a:r>
            <a:endParaRPr lang="en-US" sz="1450" dirty="0"/>
          </a:p>
        </p:txBody>
      </p:sp>
      <p:sp>
        <p:nvSpPr>
          <p:cNvPr id="14" name="Text 11"/>
          <p:cNvSpPr/>
          <p:nvPr/>
        </p:nvSpPr>
        <p:spPr>
          <a:xfrm>
            <a:off x="1051560" y="3383280"/>
            <a:ext cx="3657600" cy="822960"/>
          </a:xfrm>
          <a:prstGeom prst="rect">
            <a:avLst/>
          </a:prstGeom>
          <a:noFill/>
          <a:ln/>
        </p:spPr>
        <p:txBody>
          <a:bodyPr wrap="square" lIns="0" tIns="0" rIns="0" bIns="0" rtlCol="0" anchor="ctr"/>
          <a:lstStyle/>
          <a:p>
            <a:pPr indent="0" marL="0">
              <a:buNone/>
            </a:pPr>
            <a:r>
              <a:rPr lang="en-US" sz="1050" dirty="0">
                <a:solidFill>
                  <a:srgbClr val="B9C6D6"/>
                </a:solidFill>
                <a:latin typeface="Arial" pitchFamily="34" charset="0"/>
                <a:ea typeface="Arial" pitchFamily="34" charset="-122"/>
                <a:cs typeface="Arial" pitchFamily="34" charset="-120"/>
              </a:rPr>
              <a:t>Math for numbers, AI for judgment. Every figure comes from a deterministic engine — the AI proposes and explains, it never invents a number.</a:t>
            </a:r>
            <a:endParaRPr lang="en-US" sz="1050" dirty="0"/>
          </a:p>
        </p:txBody>
      </p:sp>
      <p:sp>
        <p:nvSpPr>
          <p:cNvPr id="15" name="Shape 12"/>
          <p:cNvSpPr/>
          <p:nvPr/>
        </p:nvSpPr>
        <p:spPr>
          <a:xfrm>
            <a:off x="777240" y="4370832"/>
            <a:ext cx="128016" cy="128016"/>
          </a:xfrm>
          <a:prstGeom prst="ellipse">
            <a:avLst/>
          </a:prstGeom>
          <a:solidFill>
            <a:srgbClr val="F59E0B"/>
          </a:solidFill>
          <a:ln/>
        </p:spPr>
      </p:sp>
      <p:sp>
        <p:nvSpPr>
          <p:cNvPr id="16" name="Text 13"/>
          <p:cNvSpPr/>
          <p:nvPr/>
        </p:nvSpPr>
        <p:spPr>
          <a:xfrm>
            <a:off x="1051560" y="4279392"/>
            <a:ext cx="3657600" cy="292608"/>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Horizon: the newest module</a:t>
            </a:r>
            <a:endParaRPr lang="en-US" sz="1450" dirty="0"/>
          </a:p>
        </p:txBody>
      </p:sp>
      <p:sp>
        <p:nvSpPr>
          <p:cNvPr id="17" name="Text 14"/>
          <p:cNvSpPr/>
          <p:nvPr/>
        </p:nvSpPr>
        <p:spPr>
          <a:xfrm>
            <a:off x="1051560" y="4553712"/>
            <a:ext cx="3657600" cy="822960"/>
          </a:xfrm>
          <a:prstGeom prst="rect">
            <a:avLst/>
          </a:prstGeom>
          <a:noFill/>
          <a:ln/>
        </p:spPr>
        <p:txBody>
          <a:bodyPr wrap="square" lIns="0" tIns="0" rIns="0" bIns="0" rtlCol="0" anchor="ctr"/>
          <a:lstStyle/>
          <a:p>
            <a:pPr indent="0" marL="0">
              <a:buNone/>
            </a:pPr>
            <a:r>
              <a:rPr lang="en-US" sz="1050" dirty="0">
                <a:solidFill>
                  <a:srgbClr val="B9C6D6"/>
                </a:solidFill>
                <a:latin typeface="Arial" pitchFamily="34" charset="0"/>
                <a:ea typeface="Arial" pitchFamily="34" charset="-122"/>
                <a:cs typeface="Arial" pitchFamily="34" charset="-120"/>
              </a:rPr>
              <a:t>Extends the platform from "what does this part cost today?" to "what will this part BECOME — and when?"</a:t>
            </a:r>
            <a:endParaRPr lang="en-US" sz="1050" dirty="0"/>
          </a:p>
        </p:txBody>
      </p:sp>
      <p:sp>
        <p:nvSpPr>
          <p:cNvPr id="18" name="Text 15"/>
          <p:cNvSpPr/>
          <p:nvPr/>
        </p:nvSpPr>
        <p:spPr>
          <a:xfrm>
            <a:off x="777240" y="5806440"/>
            <a:ext cx="3931920" cy="457200"/>
          </a:xfrm>
          <a:prstGeom prst="rect">
            <a:avLst/>
          </a:prstGeom>
          <a:noFill/>
          <a:ln/>
        </p:spPr>
        <p:txBody>
          <a:bodyPr wrap="square" lIns="0" tIns="0" rIns="0" bIns="0" rtlCol="0" anchor="ctr"/>
          <a:lstStyle/>
          <a:p>
            <a:pPr indent="0" marL="0">
              <a:buNone/>
            </a:pPr>
            <a:r>
              <a:rPr lang="en-US" sz="1050" b="1" dirty="0">
                <a:solidFill>
                  <a:srgbClr val="F59E0B"/>
                </a:solidFill>
                <a:latin typeface="Courier New" pitchFamily="34" charset="0"/>
                <a:ea typeface="Courier New" pitchFamily="34" charset="-122"/>
                <a:cs typeface="Courier New" pitchFamily="34" charset="-120"/>
              </a:rPr>
              <a:t>139 technologies · 9 commodities · 4 powertrains · audited 07/2026</a:t>
            </a:r>
            <a:endParaRPr lang="en-US" sz="1050" dirty="0"/>
          </a:p>
        </p:txBody>
      </p:sp>
      <p:sp>
        <p:nvSpPr>
          <p:cNvPr id="19" name="Text 16"/>
          <p:cNvSpPr/>
          <p:nvPr/>
        </p:nvSpPr>
        <p:spPr>
          <a:xfrm>
            <a:off x="5760720" y="566928"/>
            <a:ext cx="4572000" cy="457200"/>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Agenda</a:t>
            </a:r>
            <a:endParaRPr lang="en-US" sz="2800" dirty="0"/>
          </a:p>
        </p:txBody>
      </p:sp>
      <p:sp>
        <p:nvSpPr>
          <p:cNvPr id="20" name="Shape 17"/>
          <p:cNvSpPr/>
          <p:nvPr/>
        </p:nvSpPr>
        <p:spPr>
          <a:xfrm>
            <a:off x="5760720" y="1325880"/>
            <a:ext cx="475488" cy="475488"/>
          </a:xfrm>
          <a:prstGeom prst="roundRect">
            <a:avLst>
              <a:gd name="adj" fmla="val 19231"/>
            </a:avLst>
          </a:prstGeom>
          <a:solidFill>
            <a:srgbClr val="0D1F33"/>
          </a:solidFill>
          <a:ln/>
        </p:spPr>
      </p:sp>
      <p:sp>
        <p:nvSpPr>
          <p:cNvPr id="21" name="Text 18"/>
          <p:cNvSpPr/>
          <p:nvPr/>
        </p:nvSpPr>
        <p:spPr>
          <a:xfrm>
            <a:off x="5760720" y="1325880"/>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01</a:t>
            </a:r>
            <a:endParaRPr lang="en-US" sz="1300" dirty="0"/>
          </a:p>
        </p:txBody>
      </p:sp>
      <p:sp>
        <p:nvSpPr>
          <p:cNvPr id="22" name="Text 19"/>
          <p:cNvSpPr/>
          <p:nvPr/>
        </p:nvSpPr>
        <p:spPr>
          <a:xfrm>
            <a:off x="6446520" y="1408176"/>
            <a:ext cx="5212080" cy="347472"/>
          </a:xfrm>
          <a:prstGeom prst="rect">
            <a:avLst/>
          </a:prstGeom>
          <a:noFill/>
          <a:ln/>
        </p:spPr>
        <p:txBody>
          <a:bodyPr wrap="square" lIns="0" tIns="0" rIns="0" bIns="0" rtlCol="0" anchor="ctr"/>
          <a:lstStyle/>
          <a:p>
            <a:pPr indent="0" marL="0">
              <a:buNone/>
            </a:pPr>
            <a:r>
              <a:rPr lang="en-US" sz="1400" dirty="0">
                <a:solidFill>
                  <a:srgbClr val="0D1F33"/>
                </a:solidFill>
                <a:latin typeface="Arial" pitchFamily="34" charset="0"/>
                <a:ea typeface="Arial" pitchFamily="34" charset="-122"/>
                <a:cs typeface="Arial" pitchFamily="34" charset="-120"/>
              </a:rPr>
              <a:t>Why a foresight tool — the gap it closes</a:t>
            </a:r>
            <a:endParaRPr lang="en-US" sz="1400" dirty="0"/>
          </a:p>
        </p:txBody>
      </p:sp>
      <p:sp>
        <p:nvSpPr>
          <p:cNvPr id="23" name="Shape 20"/>
          <p:cNvSpPr/>
          <p:nvPr/>
        </p:nvSpPr>
        <p:spPr>
          <a:xfrm>
            <a:off x="5760720" y="2075688"/>
            <a:ext cx="475488" cy="475488"/>
          </a:xfrm>
          <a:prstGeom prst="roundRect">
            <a:avLst>
              <a:gd name="adj" fmla="val 19231"/>
            </a:avLst>
          </a:prstGeom>
          <a:solidFill>
            <a:srgbClr val="0D1F33"/>
          </a:solidFill>
          <a:ln/>
        </p:spPr>
      </p:sp>
      <p:sp>
        <p:nvSpPr>
          <p:cNvPr id="24" name="Text 21"/>
          <p:cNvSpPr/>
          <p:nvPr/>
        </p:nvSpPr>
        <p:spPr>
          <a:xfrm>
            <a:off x="5760720" y="207568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02</a:t>
            </a:r>
            <a:endParaRPr lang="en-US" sz="1300" dirty="0"/>
          </a:p>
        </p:txBody>
      </p:sp>
      <p:sp>
        <p:nvSpPr>
          <p:cNvPr id="25" name="Text 22"/>
          <p:cNvSpPr/>
          <p:nvPr/>
        </p:nvSpPr>
        <p:spPr>
          <a:xfrm>
            <a:off x="6446520" y="2157984"/>
            <a:ext cx="5212080" cy="347472"/>
          </a:xfrm>
          <a:prstGeom prst="rect">
            <a:avLst/>
          </a:prstGeom>
          <a:noFill/>
          <a:ln/>
        </p:spPr>
        <p:txBody>
          <a:bodyPr wrap="square" lIns="0" tIns="0" rIns="0" bIns="0" rtlCol="0" anchor="ctr"/>
          <a:lstStyle/>
          <a:p>
            <a:pPr indent="0" marL="0">
              <a:buNone/>
            </a:pPr>
            <a:r>
              <a:rPr lang="en-US" sz="1400" dirty="0">
                <a:solidFill>
                  <a:srgbClr val="0D1F33"/>
                </a:solidFill>
                <a:latin typeface="Arial" pitchFamily="34" charset="0"/>
                <a:ea typeface="Arial" pitchFamily="34" charset="-122"/>
                <a:cs typeface="Arial" pitchFamily="34" charset="-120"/>
              </a:rPr>
              <a:t>How the engine works (and why it can be trusted)</a:t>
            </a:r>
            <a:endParaRPr lang="en-US" sz="1400" dirty="0"/>
          </a:p>
        </p:txBody>
      </p:sp>
      <p:sp>
        <p:nvSpPr>
          <p:cNvPr id="26" name="Shape 23"/>
          <p:cNvSpPr/>
          <p:nvPr/>
        </p:nvSpPr>
        <p:spPr>
          <a:xfrm>
            <a:off x="5760720" y="2825496"/>
            <a:ext cx="475488" cy="475488"/>
          </a:xfrm>
          <a:prstGeom prst="roundRect">
            <a:avLst>
              <a:gd name="adj" fmla="val 19231"/>
            </a:avLst>
          </a:prstGeom>
          <a:solidFill>
            <a:srgbClr val="0D1F33"/>
          </a:solidFill>
          <a:ln/>
        </p:spPr>
      </p:sp>
      <p:sp>
        <p:nvSpPr>
          <p:cNvPr id="27" name="Text 24"/>
          <p:cNvSpPr/>
          <p:nvPr/>
        </p:nvSpPr>
        <p:spPr>
          <a:xfrm>
            <a:off x="5760720" y="2825496"/>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03</a:t>
            </a:r>
            <a:endParaRPr lang="en-US" sz="1300" dirty="0"/>
          </a:p>
        </p:txBody>
      </p:sp>
      <p:sp>
        <p:nvSpPr>
          <p:cNvPr id="28" name="Text 25"/>
          <p:cNvSpPr/>
          <p:nvPr/>
        </p:nvSpPr>
        <p:spPr>
          <a:xfrm>
            <a:off x="6446520" y="2907792"/>
            <a:ext cx="5212080" cy="347472"/>
          </a:xfrm>
          <a:prstGeom prst="rect">
            <a:avLst/>
          </a:prstGeom>
          <a:noFill/>
          <a:ln/>
        </p:spPr>
        <p:txBody>
          <a:bodyPr wrap="square" lIns="0" tIns="0" rIns="0" bIns="0" rtlCol="0" anchor="ctr"/>
          <a:lstStyle/>
          <a:p>
            <a:pPr indent="0" marL="0">
              <a:buNone/>
            </a:pPr>
            <a:r>
              <a:rPr lang="en-US" sz="1400" dirty="0">
                <a:solidFill>
                  <a:srgbClr val="0D1F33"/>
                </a:solidFill>
                <a:latin typeface="Arial" pitchFamily="34" charset="0"/>
                <a:ea typeface="Arial" pitchFamily="34" charset="-122"/>
                <a:cs typeface="Arial" pitchFamily="34" charset="-120"/>
              </a:rPr>
              <a:t>Not a typical AI chat — the difference</a:t>
            </a:r>
            <a:endParaRPr lang="en-US" sz="1400" dirty="0"/>
          </a:p>
        </p:txBody>
      </p:sp>
      <p:sp>
        <p:nvSpPr>
          <p:cNvPr id="29" name="Shape 26"/>
          <p:cNvSpPr/>
          <p:nvPr/>
        </p:nvSpPr>
        <p:spPr>
          <a:xfrm>
            <a:off x="5760720" y="3575304"/>
            <a:ext cx="475488" cy="475488"/>
          </a:xfrm>
          <a:prstGeom prst="roundRect">
            <a:avLst>
              <a:gd name="adj" fmla="val 19231"/>
            </a:avLst>
          </a:prstGeom>
          <a:solidFill>
            <a:srgbClr val="0D1F33"/>
          </a:solidFill>
          <a:ln/>
        </p:spPr>
      </p:sp>
      <p:sp>
        <p:nvSpPr>
          <p:cNvPr id="30" name="Text 27"/>
          <p:cNvSpPr/>
          <p:nvPr/>
        </p:nvSpPr>
        <p:spPr>
          <a:xfrm>
            <a:off x="5760720" y="3575304"/>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04</a:t>
            </a:r>
            <a:endParaRPr lang="en-US" sz="1300" dirty="0"/>
          </a:p>
        </p:txBody>
      </p:sp>
      <p:sp>
        <p:nvSpPr>
          <p:cNvPr id="31" name="Text 28"/>
          <p:cNvSpPr/>
          <p:nvPr/>
        </p:nvSpPr>
        <p:spPr>
          <a:xfrm>
            <a:off x="6446520" y="3657600"/>
            <a:ext cx="5212080" cy="347472"/>
          </a:xfrm>
          <a:prstGeom prst="rect">
            <a:avLst/>
          </a:prstGeom>
          <a:noFill/>
          <a:ln/>
        </p:spPr>
        <p:txBody>
          <a:bodyPr wrap="square" lIns="0" tIns="0" rIns="0" bIns="0" rtlCol="0" anchor="ctr"/>
          <a:lstStyle/>
          <a:p>
            <a:pPr indent="0" marL="0">
              <a:buNone/>
            </a:pPr>
            <a:r>
              <a:rPr lang="en-US" sz="1400" dirty="0">
                <a:solidFill>
                  <a:srgbClr val="0D1F33"/>
                </a:solidFill>
                <a:latin typeface="Arial" pitchFamily="34" charset="0"/>
                <a:ea typeface="Arial" pitchFamily="34" charset="-122"/>
                <a:cs typeface="Arial" pitchFamily="34" charset="-120"/>
              </a:rPr>
              <a:t>360° coverage · three segment lenses</a:t>
            </a:r>
            <a:endParaRPr lang="en-US" sz="1400" dirty="0"/>
          </a:p>
        </p:txBody>
      </p:sp>
      <p:sp>
        <p:nvSpPr>
          <p:cNvPr id="32" name="Shape 29"/>
          <p:cNvSpPr/>
          <p:nvPr/>
        </p:nvSpPr>
        <p:spPr>
          <a:xfrm>
            <a:off x="5760720" y="4325112"/>
            <a:ext cx="475488" cy="475488"/>
          </a:xfrm>
          <a:prstGeom prst="roundRect">
            <a:avLst>
              <a:gd name="adj" fmla="val 19231"/>
            </a:avLst>
          </a:prstGeom>
          <a:solidFill>
            <a:srgbClr val="0D1F33"/>
          </a:solidFill>
          <a:ln/>
        </p:spPr>
      </p:sp>
      <p:sp>
        <p:nvSpPr>
          <p:cNvPr id="33" name="Text 30"/>
          <p:cNvSpPr/>
          <p:nvPr/>
        </p:nvSpPr>
        <p:spPr>
          <a:xfrm>
            <a:off x="5760720" y="4325112"/>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05</a:t>
            </a:r>
            <a:endParaRPr lang="en-US" sz="1300" dirty="0"/>
          </a:p>
        </p:txBody>
      </p:sp>
      <p:sp>
        <p:nvSpPr>
          <p:cNvPr id="34" name="Text 31"/>
          <p:cNvSpPr/>
          <p:nvPr/>
        </p:nvSpPr>
        <p:spPr>
          <a:xfrm>
            <a:off x="6446520" y="4407408"/>
            <a:ext cx="5212080" cy="347472"/>
          </a:xfrm>
          <a:prstGeom prst="rect">
            <a:avLst/>
          </a:prstGeom>
          <a:noFill/>
          <a:ln/>
        </p:spPr>
        <p:txBody>
          <a:bodyPr wrap="square" lIns="0" tIns="0" rIns="0" bIns="0" rtlCol="0" anchor="ctr"/>
          <a:lstStyle/>
          <a:p>
            <a:pPr indent="0" marL="0">
              <a:buNone/>
            </a:pPr>
            <a:r>
              <a:rPr lang="en-US" sz="1400" dirty="0">
                <a:solidFill>
                  <a:srgbClr val="0D1F33"/>
                </a:solidFill>
                <a:latin typeface="Arial" pitchFamily="34" charset="0"/>
                <a:ea typeface="Arial" pitchFamily="34" charset="-122"/>
                <a:cs typeface="Arial" pitchFamily="34" charset="-120"/>
              </a:rPr>
              <a:t>Regulatory radar &amp; competitor benchmarks</a:t>
            </a:r>
            <a:endParaRPr lang="en-US" sz="1400" dirty="0"/>
          </a:p>
        </p:txBody>
      </p:sp>
      <p:sp>
        <p:nvSpPr>
          <p:cNvPr id="35" name="Shape 32"/>
          <p:cNvSpPr/>
          <p:nvPr/>
        </p:nvSpPr>
        <p:spPr>
          <a:xfrm>
            <a:off x="5760720" y="5074920"/>
            <a:ext cx="475488" cy="475488"/>
          </a:xfrm>
          <a:prstGeom prst="roundRect">
            <a:avLst>
              <a:gd name="adj" fmla="val 19231"/>
            </a:avLst>
          </a:prstGeom>
          <a:solidFill>
            <a:srgbClr val="F59E0B"/>
          </a:solidFill>
          <a:ln/>
        </p:spPr>
      </p:sp>
      <p:sp>
        <p:nvSpPr>
          <p:cNvPr id="36" name="Text 33"/>
          <p:cNvSpPr/>
          <p:nvPr/>
        </p:nvSpPr>
        <p:spPr>
          <a:xfrm>
            <a:off x="5760720" y="5074920"/>
            <a:ext cx="475488" cy="475488"/>
          </a:xfrm>
          <a:prstGeom prst="rect">
            <a:avLst/>
          </a:prstGeom>
          <a:noFill/>
          <a:ln/>
        </p:spPr>
        <p:txBody>
          <a:bodyPr wrap="square" lIns="0" tIns="0" rIns="0" bIns="0" rtlCol="0" anchor="ctr"/>
          <a:lstStyle/>
          <a:p>
            <a:pPr algn="ctr" indent="0" marL="0">
              <a:buNone/>
            </a:pPr>
            <a:r>
              <a:rPr lang="en-US" sz="1300" b="1" dirty="0">
                <a:solidFill>
                  <a:srgbClr val="0D1F33"/>
                </a:solidFill>
                <a:latin typeface="Courier New" pitchFamily="34" charset="0"/>
                <a:ea typeface="Courier New" pitchFamily="34" charset="-122"/>
                <a:cs typeface="Courier New" pitchFamily="34" charset="-120"/>
              </a:rPr>
              <a:t>06</a:t>
            </a:r>
            <a:endParaRPr lang="en-US" sz="1300" dirty="0"/>
          </a:p>
        </p:txBody>
      </p:sp>
      <p:sp>
        <p:nvSpPr>
          <p:cNvPr id="37" name="Text 34"/>
          <p:cNvSpPr/>
          <p:nvPr/>
        </p:nvSpPr>
        <p:spPr>
          <a:xfrm>
            <a:off x="6446520" y="5157216"/>
            <a:ext cx="5212080" cy="347472"/>
          </a:xfrm>
          <a:prstGeom prst="rect">
            <a:avLst/>
          </a:prstGeom>
          <a:noFill/>
          <a:ln/>
        </p:spPr>
        <p:txBody>
          <a:bodyPr wrap="square" lIns="0" tIns="0" rIns="0" bIns="0" rtlCol="0" anchor="ctr"/>
          <a:lstStyle/>
          <a:p>
            <a:pPr indent="0" marL="0">
              <a:buNone/>
            </a:pPr>
            <a:r>
              <a:rPr lang="en-US" sz="1400" b="1" dirty="0">
                <a:solidFill>
                  <a:srgbClr val="0D1F33"/>
                </a:solidFill>
                <a:latin typeface="Arial" pitchFamily="34" charset="0"/>
                <a:ea typeface="Arial" pitchFamily="34" charset="-122"/>
                <a:cs typeface="Arial" pitchFamily="34" charset="-120"/>
              </a:rPr>
              <a:t>Live example: BEV HV battery</a:t>
            </a:r>
            <a:endParaRPr lang="en-US" sz="1400" dirty="0"/>
          </a:p>
        </p:txBody>
      </p:sp>
      <p:sp>
        <p:nvSpPr>
          <p:cNvPr id="38" name="Shape 35"/>
          <p:cNvSpPr/>
          <p:nvPr/>
        </p:nvSpPr>
        <p:spPr>
          <a:xfrm>
            <a:off x="5760720" y="5824728"/>
            <a:ext cx="475488" cy="475488"/>
          </a:xfrm>
          <a:prstGeom prst="roundRect">
            <a:avLst>
              <a:gd name="adj" fmla="val 19231"/>
            </a:avLst>
          </a:prstGeom>
          <a:solidFill>
            <a:srgbClr val="0D1F33"/>
          </a:solidFill>
          <a:ln/>
        </p:spPr>
      </p:sp>
      <p:sp>
        <p:nvSpPr>
          <p:cNvPr id="39" name="Text 36"/>
          <p:cNvSpPr/>
          <p:nvPr/>
        </p:nvSpPr>
        <p:spPr>
          <a:xfrm>
            <a:off x="5760720" y="582472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07</a:t>
            </a:r>
            <a:endParaRPr lang="en-US" sz="1300" dirty="0"/>
          </a:p>
        </p:txBody>
      </p:sp>
      <p:sp>
        <p:nvSpPr>
          <p:cNvPr id="40" name="Text 37"/>
          <p:cNvSpPr/>
          <p:nvPr/>
        </p:nvSpPr>
        <p:spPr>
          <a:xfrm>
            <a:off x="6446520" y="5907024"/>
            <a:ext cx="5212080" cy="347472"/>
          </a:xfrm>
          <a:prstGeom prst="rect">
            <a:avLst/>
          </a:prstGeom>
          <a:noFill/>
          <a:ln/>
        </p:spPr>
        <p:txBody>
          <a:bodyPr wrap="square" lIns="0" tIns="0" rIns="0" bIns="0" rtlCol="0" anchor="ctr"/>
          <a:lstStyle/>
          <a:p>
            <a:pPr indent="0" marL="0">
              <a:buNone/>
            </a:pPr>
            <a:r>
              <a:rPr lang="en-US" sz="1400" dirty="0">
                <a:solidFill>
                  <a:srgbClr val="0D1F33"/>
                </a:solidFill>
                <a:latin typeface="Arial" pitchFamily="34" charset="0"/>
                <a:ea typeface="Arial" pitchFamily="34" charset="-122"/>
                <a:cs typeface="Arial" pitchFamily="34" charset="-120"/>
              </a:rPr>
              <a:t>Business value · evidence · road ahead</a:t>
            </a:r>
            <a:endParaRPr lang="en-US" sz="1400" dirty="0"/>
          </a:p>
        </p:txBody>
      </p:sp>
      <p:sp>
        <p:nvSpPr>
          <p:cNvPr id="41" name="Text 38"/>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2/16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622146" cy="329184"/>
          </a:xfrm>
          <a:prstGeom prst="roundRect">
            <a:avLst>
              <a:gd name="adj" fmla="val 50000"/>
            </a:avLst>
          </a:prstGeom>
          <a:solidFill>
            <a:srgbClr val="0D1F33"/>
          </a:solidFill>
          <a:ln/>
        </p:spPr>
      </p:sp>
      <p:sp>
        <p:nvSpPr>
          <p:cNvPr id="3" name="Text 1"/>
          <p:cNvSpPr/>
          <p:nvPr/>
        </p:nvSpPr>
        <p:spPr>
          <a:xfrm>
            <a:off x="502920" y="347472"/>
            <a:ext cx="1622146"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WHY THIS TOOL</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We make 7-year decisions on today’s technology assumptions</a:t>
            </a:r>
            <a:endParaRPr lang="en-US" sz="2800" dirty="0"/>
          </a:p>
        </p:txBody>
      </p:sp>
      <p:sp>
        <p:nvSpPr>
          <p:cNvPr id="5" name="Shape 3"/>
          <p:cNvSpPr/>
          <p:nvPr/>
        </p:nvSpPr>
        <p:spPr>
          <a:xfrm>
            <a:off x="502920" y="1600200"/>
            <a:ext cx="566928" cy="566928"/>
          </a:xfrm>
          <a:prstGeom prst="ellipse">
            <a:avLst/>
          </a:prstGeom>
          <a:solidFill>
            <a:srgbClr val="0D1F33"/>
          </a:solidFill>
          <a:ln/>
        </p:spPr>
      </p:sp>
      <p:pic>
        <p:nvPicPr>
          <p:cNvPr id="6" name="Image 0" descr="preencoded.png">    </p:cNvPr>
          <p:cNvPicPr>
            <a:picLocks noChangeAspect="1"/>
          </p:cNvPicPr>
          <p:nvPr/>
        </p:nvPicPr>
        <p:blipFill>
          <a:blip r:embed="rId1"/>
          <a:stretch>
            <a:fillRect/>
          </a:stretch>
        </p:blipFill>
        <p:spPr>
          <a:xfrm>
            <a:off x="633313" y="1730593"/>
            <a:ext cx="306141" cy="306141"/>
          </a:xfrm>
          <a:prstGeom prst="rect">
            <a:avLst/>
          </a:prstGeom>
        </p:spPr>
      </p:pic>
      <p:sp>
        <p:nvSpPr>
          <p:cNvPr id="7" name="Text 4"/>
          <p:cNvSpPr/>
          <p:nvPr/>
        </p:nvSpPr>
        <p:spPr>
          <a:xfrm>
            <a:off x="1234440" y="1581912"/>
            <a:ext cx="6035040" cy="292608"/>
          </a:xfrm>
          <a:prstGeom prst="rect">
            <a:avLst/>
          </a:prstGeom>
          <a:noFill/>
          <a:ln/>
        </p:spPr>
        <p:txBody>
          <a:bodyPr wrap="square" lIns="0" tIns="0" rIns="0" bIns="0" rtlCol="0" anchor="ctr"/>
          <a:lstStyle/>
          <a:p>
            <a:pPr indent="0" marL="0">
              <a:buNone/>
            </a:pPr>
            <a:r>
              <a:rPr lang="en-US" sz="1550" b="1" dirty="0">
                <a:solidFill>
                  <a:srgbClr val="0D1F33"/>
                </a:solidFill>
                <a:latin typeface="Arial" pitchFamily="34" charset="0"/>
                <a:ea typeface="Arial" pitchFamily="34" charset="-122"/>
                <a:cs typeface="Arial" pitchFamily="34" charset="-120"/>
              </a:rPr>
              <a:t>Sourcing outlives technology</a:t>
            </a:r>
            <a:endParaRPr lang="en-US" sz="1550" dirty="0"/>
          </a:p>
        </p:txBody>
      </p:sp>
      <p:sp>
        <p:nvSpPr>
          <p:cNvPr id="8" name="Text 5"/>
          <p:cNvSpPr/>
          <p:nvPr/>
        </p:nvSpPr>
        <p:spPr>
          <a:xfrm>
            <a:off x="1234440" y="1874520"/>
            <a:ext cx="6035040" cy="960120"/>
          </a:xfrm>
          <a:prstGeom prst="rect">
            <a:avLst/>
          </a:prstGeom>
          <a:noFill/>
          <a:ln/>
        </p:spPr>
        <p:txBody>
          <a:bodyPr wrap="square" lIns="0" tIns="0" rIns="0" bIns="0" rtlCol="0" anchor="ctr"/>
          <a:lstStyle/>
          <a:p>
            <a:pPr indent="0" marL="0">
              <a:buNone/>
            </a:pPr>
            <a:r>
              <a:rPr lang="en-US" sz="1150" dirty="0">
                <a:solidFill>
                  <a:srgbClr val="5B6B7F"/>
                </a:solidFill>
                <a:latin typeface="Arial" pitchFamily="34" charset="0"/>
                <a:ea typeface="Arial" pitchFamily="34" charset="-122"/>
                <a:cs typeface="Arial" pitchFamily="34" charset="-120"/>
              </a:rPr>
              <a:t>A platform sourced in 2026 runs to 2033+. The cells, motors, brakes and software underneath it will shift two or three times in that window — and the cost base shifts with them.</a:t>
            </a:r>
            <a:endParaRPr lang="en-US" sz="1150" dirty="0"/>
          </a:p>
        </p:txBody>
      </p:sp>
      <p:sp>
        <p:nvSpPr>
          <p:cNvPr id="9" name="Shape 6"/>
          <p:cNvSpPr/>
          <p:nvPr/>
        </p:nvSpPr>
        <p:spPr>
          <a:xfrm>
            <a:off x="502920" y="2971800"/>
            <a:ext cx="566928" cy="566928"/>
          </a:xfrm>
          <a:prstGeom prst="ellipse">
            <a:avLst/>
          </a:prstGeom>
          <a:solidFill>
            <a:srgbClr val="B91C1C"/>
          </a:solidFill>
          <a:ln/>
        </p:spPr>
      </p:sp>
      <p:pic>
        <p:nvPicPr>
          <p:cNvPr id="10" name="Image 1" descr="preencoded.png">    </p:cNvPr>
          <p:cNvPicPr>
            <a:picLocks noChangeAspect="1"/>
          </p:cNvPicPr>
          <p:nvPr/>
        </p:nvPicPr>
        <p:blipFill>
          <a:blip r:embed="rId2"/>
          <a:stretch>
            <a:fillRect/>
          </a:stretch>
        </p:blipFill>
        <p:spPr>
          <a:xfrm>
            <a:off x="633313" y="3102193"/>
            <a:ext cx="306141" cy="306141"/>
          </a:xfrm>
          <a:prstGeom prst="rect">
            <a:avLst/>
          </a:prstGeom>
        </p:spPr>
      </p:pic>
      <p:sp>
        <p:nvSpPr>
          <p:cNvPr id="11" name="Text 7"/>
          <p:cNvSpPr/>
          <p:nvPr/>
        </p:nvSpPr>
        <p:spPr>
          <a:xfrm>
            <a:off x="1234440" y="2953512"/>
            <a:ext cx="6035040" cy="292608"/>
          </a:xfrm>
          <a:prstGeom prst="rect">
            <a:avLst/>
          </a:prstGeom>
          <a:noFill/>
          <a:ln/>
        </p:spPr>
        <p:txBody>
          <a:bodyPr wrap="square" lIns="0" tIns="0" rIns="0" bIns="0" rtlCol="0" anchor="ctr"/>
          <a:lstStyle/>
          <a:p>
            <a:pPr indent="0" marL="0">
              <a:buNone/>
            </a:pPr>
            <a:r>
              <a:rPr lang="en-US" sz="1550" b="1" dirty="0">
                <a:solidFill>
                  <a:srgbClr val="0D1F33"/>
                </a:solidFill>
                <a:latin typeface="Arial" pitchFamily="34" charset="0"/>
                <a:ea typeface="Arial" pitchFamily="34" charset="-122"/>
                <a:cs typeface="Arial" pitchFamily="34" charset="-120"/>
              </a:rPr>
              <a:t>Today’s answers don’t fit engineering</a:t>
            </a:r>
            <a:endParaRPr lang="en-US" sz="1550" dirty="0"/>
          </a:p>
        </p:txBody>
      </p:sp>
      <p:sp>
        <p:nvSpPr>
          <p:cNvPr id="12" name="Text 8"/>
          <p:cNvSpPr/>
          <p:nvPr/>
        </p:nvSpPr>
        <p:spPr>
          <a:xfrm>
            <a:off x="1234440" y="3246120"/>
            <a:ext cx="6035040" cy="960120"/>
          </a:xfrm>
          <a:prstGeom prst="rect">
            <a:avLst/>
          </a:prstGeom>
          <a:noFill/>
          <a:ln/>
        </p:spPr>
        <p:txBody>
          <a:bodyPr wrap="square" lIns="0" tIns="0" rIns="0" bIns="0" rtlCol="0" anchor="ctr"/>
          <a:lstStyle/>
          <a:p>
            <a:pPr indent="0" marL="0">
              <a:buNone/>
            </a:pPr>
            <a:r>
              <a:rPr lang="en-US" sz="1150" dirty="0">
                <a:solidFill>
                  <a:srgbClr val="5B6B7F"/>
                </a:solidFill>
                <a:latin typeface="Arial" pitchFamily="34" charset="0"/>
                <a:ea typeface="Arial" pitchFamily="34" charset="-122"/>
                <a:cs typeface="Arial" pitchFamily="34" charset="-120"/>
              </a:rPr>
              <a:t>Analyst subscriptions are expensive and stop at market level. Consulting studies take weeks. Chatbots answer instantly — with confident, invented numbers nobody can audit.</a:t>
            </a:r>
            <a:endParaRPr lang="en-US" sz="1150" dirty="0"/>
          </a:p>
        </p:txBody>
      </p:sp>
      <p:sp>
        <p:nvSpPr>
          <p:cNvPr id="13" name="Shape 9"/>
          <p:cNvSpPr/>
          <p:nvPr/>
        </p:nvSpPr>
        <p:spPr>
          <a:xfrm>
            <a:off x="502920" y="4343400"/>
            <a:ext cx="566928" cy="566928"/>
          </a:xfrm>
          <a:prstGeom prst="ellipse">
            <a:avLst/>
          </a:prstGeom>
          <a:solidFill>
            <a:srgbClr val="0D9488"/>
          </a:solidFill>
          <a:ln/>
        </p:spPr>
      </p:sp>
      <p:pic>
        <p:nvPicPr>
          <p:cNvPr id="14" name="Image 2" descr="preencoded.png">    </p:cNvPr>
          <p:cNvPicPr>
            <a:picLocks noChangeAspect="1"/>
          </p:cNvPicPr>
          <p:nvPr/>
        </p:nvPicPr>
        <p:blipFill>
          <a:blip r:embed="rId3"/>
          <a:stretch>
            <a:fillRect/>
          </a:stretch>
        </p:blipFill>
        <p:spPr>
          <a:xfrm>
            <a:off x="633313" y="4473793"/>
            <a:ext cx="306141" cy="306141"/>
          </a:xfrm>
          <a:prstGeom prst="rect">
            <a:avLst/>
          </a:prstGeom>
        </p:spPr>
      </p:pic>
      <p:sp>
        <p:nvSpPr>
          <p:cNvPr id="15" name="Text 10"/>
          <p:cNvSpPr/>
          <p:nvPr/>
        </p:nvSpPr>
        <p:spPr>
          <a:xfrm>
            <a:off x="1234440" y="4325112"/>
            <a:ext cx="6035040" cy="292608"/>
          </a:xfrm>
          <a:prstGeom prst="rect">
            <a:avLst/>
          </a:prstGeom>
          <a:noFill/>
          <a:ln/>
        </p:spPr>
        <p:txBody>
          <a:bodyPr wrap="square" lIns="0" tIns="0" rIns="0" bIns="0" rtlCol="0" anchor="ctr"/>
          <a:lstStyle/>
          <a:p>
            <a:pPr indent="0" marL="0">
              <a:buNone/>
            </a:pPr>
            <a:r>
              <a:rPr lang="en-US" sz="1550" b="1" dirty="0">
                <a:solidFill>
                  <a:srgbClr val="0D1F33"/>
                </a:solidFill>
                <a:latin typeface="Arial" pitchFamily="34" charset="0"/>
                <a:ea typeface="Arial" pitchFamily="34" charset="-122"/>
                <a:cs typeface="Arial" pitchFamily="34" charset="-120"/>
              </a:rPr>
              <a:t>What we actually need</a:t>
            </a:r>
            <a:endParaRPr lang="en-US" sz="1550" dirty="0"/>
          </a:p>
        </p:txBody>
      </p:sp>
      <p:sp>
        <p:nvSpPr>
          <p:cNvPr id="16" name="Text 11"/>
          <p:cNvSpPr/>
          <p:nvPr/>
        </p:nvSpPr>
        <p:spPr>
          <a:xfrm>
            <a:off x="1234440" y="4617720"/>
            <a:ext cx="6035040" cy="960120"/>
          </a:xfrm>
          <a:prstGeom prst="rect">
            <a:avLst/>
          </a:prstGeom>
          <a:noFill/>
          <a:ln/>
        </p:spPr>
        <p:txBody>
          <a:bodyPr wrap="square" lIns="0" tIns="0" rIns="0" bIns="0" rtlCol="0" anchor="ctr"/>
          <a:lstStyle/>
          <a:p>
            <a:pPr indent="0" marL="0">
              <a:buNone/>
            </a:pPr>
            <a:r>
              <a:rPr lang="en-US" sz="1150" dirty="0">
                <a:solidFill>
                  <a:srgbClr val="5B6B7F"/>
                </a:solidFill>
                <a:latin typeface="Arial" pitchFamily="34" charset="0"/>
                <a:ea typeface="Arial" pitchFamily="34" charset="-122"/>
                <a:cs typeface="Arial" pitchFamily="34" charset="-120"/>
              </a:rPr>
              <a:t>Part-level, self-serve foresight: for THIS commodity — what replaces it, when does it cross 25% adoption, what does its cost curve do, which regulation forces it, who is ahead.</a:t>
            </a:r>
            <a:endParaRPr lang="en-US" sz="1150" dirty="0"/>
          </a:p>
        </p:txBody>
      </p:sp>
      <p:sp>
        <p:nvSpPr>
          <p:cNvPr id="17" name="Shape 12"/>
          <p:cNvSpPr/>
          <p:nvPr/>
        </p:nvSpPr>
        <p:spPr>
          <a:xfrm>
            <a:off x="7818120" y="1600200"/>
            <a:ext cx="3886200" cy="1188720"/>
          </a:xfrm>
          <a:prstGeom prst="roundRect">
            <a:avLst>
              <a:gd name="adj" fmla="val 6923"/>
            </a:avLst>
          </a:prstGeom>
          <a:solidFill>
            <a:srgbClr val="0D1F33"/>
          </a:solidFill>
          <a:ln/>
          <a:effectLst>
            <a:outerShdw sx="100000" sy="100000" kx="0" ky="0" algn="bl" rotWithShape="0" blurRad="88900" dist="25400" dir="5400000">
              <a:srgbClr val="9FB0C2">
                <a:alpha val="35000"/>
              </a:srgbClr>
            </a:outerShdw>
          </a:effectLst>
        </p:spPr>
      </p:sp>
      <p:sp>
        <p:nvSpPr>
          <p:cNvPr id="18" name="Text 13"/>
          <p:cNvSpPr/>
          <p:nvPr/>
        </p:nvSpPr>
        <p:spPr>
          <a:xfrm>
            <a:off x="8092440" y="1764792"/>
            <a:ext cx="1737360" cy="8686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7 yr</a:t>
            </a:r>
            <a:endParaRPr lang="en-US" sz="3600" dirty="0"/>
          </a:p>
        </p:txBody>
      </p:sp>
      <p:sp>
        <p:nvSpPr>
          <p:cNvPr id="19" name="Text 14"/>
          <p:cNvSpPr/>
          <p:nvPr/>
        </p:nvSpPr>
        <p:spPr>
          <a:xfrm>
            <a:off x="9829800" y="1764792"/>
            <a:ext cx="1783080" cy="868680"/>
          </a:xfrm>
          <a:prstGeom prst="rect">
            <a:avLst/>
          </a:prstGeom>
          <a:noFill/>
          <a:ln/>
        </p:spPr>
        <p:txBody>
          <a:bodyPr wrap="square" lIns="0" tIns="0" rIns="0" bIns="0" rtlCol="0" anchor="ctr"/>
          <a:lstStyle/>
          <a:p>
            <a:pPr indent="0" marL="0">
              <a:buNone/>
            </a:pPr>
            <a:r>
              <a:rPr lang="en-US" sz="1150" dirty="0">
                <a:solidFill>
                  <a:srgbClr val="D5DEE9"/>
                </a:solidFill>
                <a:latin typeface="Arial" pitchFamily="34" charset="0"/>
                <a:ea typeface="Arial" pitchFamily="34" charset="-122"/>
                <a:cs typeface="Arial" pitchFamily="34" charset="-120"/>
              </a:rPr>
              <a:t>sourcing &amp; platform horizon</a:t>
            </a:r>
            <a:endParaRPr lang="en-US" sz="1150" dirty="0"/>
          </a:p>
        </p:txBody>
      </p:sp>
      <p:sp>
        <p:nvSpPr>
          <p:cNvPr id="20" name="Shape 15"/>
          <p:cNvSpPr/>
          <p:nvPr/>
        </p:nvSpPr>
        <p:spPr>
          <a:xfrm>
            <a:off x="7818120" y="2971800"/>
            <a:ext cx="3886200" cy="1188720"/>
          </a:xfrm>
          <a:prstGeom prst="roundRect">
            <a:avLst>
              <a:gd name="adj" fmla="val 6923"/>
            </a:avLst>
          </a:prstGeom>
          <a:solidFill>
            <a:srgbClr val="F59E0B"/>
          </a:solidFill>
          <a:ln/>
          <a:effectLst>
            <a:outerShdw sx="100000" sy="100000" kx="0" ky="0" algn="bl" rotWithShape="0" blurRad="88900" dist="25400" dir="5400000">
              <a:srgbClr val="9FB0C2">
                <a:alpha val="35000"/>
              </a:srgbClr>
            </a:outerShdw>
          </a:effectLst>
        </p:spPr>
      </p:sp>
      <p:sp>
        <p:nvSpPr>
          <p:cNvPr id="21" name="Text 16"/>
          <p:cNvSpPr/>
          <p:nvPr/>
        </p:nvSpPr>
        <p:spPr>
          <a:xfrm>
            <a:off x="8092440" y="3136392"/>
            <a:ext cx="1737360" cy="8686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2-3×</a:t>
            </a:r>
            <a:endParaRPr lang="en-US" sz="3600" dirty="0"/>
          </a:p>
        </p:txBody>
      </p:sp>
      <p:sp>
        <p:nvSpPr>
          <p:cNvPr id="22" name="Text 17"/>
          <p:cNvSpPr/>
          <p:nvPr/>
        </p:nvSpPr>
        <p:spPr>
          <a:xfrm>
            <a:off x="9829800" y="3136392"/>
            <a:ext cx="1783080" cy="868680"/>
          </a:xfrm>
          <a:prstGeom prst="rect">
            <a:avLst/>
          </a:prstGeom>
          <a:noFill/>
          <a:ln/>
        </p:spPr>
        <p:txBody>
          <a:bodyPr wrap="square" lIns="0" tIns="0" rIns="0" bIns="0" rtlCol="0" anchor="ctr"/>
          <a:lstStyle/>
          <a:p>
            <a:pPr indent="0" marL="0">
              <a:buNone/>
            </a:pPr>
            <a:r>
              <a:rPr lang="en-US" sz="1150" dirty="0">
                <a:solidFill>
                  <a:srgbClr val="4A2E05"/>
                </a:solidFill>
                <a:latin typeface="Arial" pitchFamily="34" charset="0"/>
                <a:ea typeface="Arial" pitchFamily="34" charset="-122"/>
                <a:cs typeface="Arial" pitchFamily="34" charset="-120"/>
              </a:rPr>
              <a:t>technology turns inside that window</a:t>
            </a:r>
            <a:endParaRPr lang="en-US" sz="1150" dirty="0"/>
          </a:p>
        </p:txBody>
      </p:sp>
      <p:sp>
        <p:nvSpPr>
          <p:cNvPr id="23" name="Shape 18"/>
          <p:cNvSpPr/>
          <p:nvPr/>
        </p:nvSpPr>
        <p:spPr>
          <a:xfrm>
            <a:off x="7818120" y="4343400"/>
            <a:ext cx="3886200" cy="1188720"/>
          </a:xfrm>
          <a:prstGeom prst="roundRect">
            <a:avLst>
              <a:gd name="adj" fmla="val 6923"/>
            </a:avLst>
          </a:prstGeom>
          <a:solidFill>
            <a:srgbClr val="0D9488"/>
          </a:solidFill>
          <a:ln/>
          <a:effectLst>
            <a:outerShdw sx="100000" sy="100000" kx="0" ky="0" algn="bl" rotWithShape="0" blurRad="88900" dist="25400" dir="5400000">
              <a:srgbClr val="9FB0C2">
                <a:alpha val="35000"/>
              </a:srgbClr>
            </a:outerShdw>
          </a:effectLst>
        </p:spPr>
      </p:sp>
      <p:sp>
        <p:nvSpPr>
          <p:cNvPr id="24" name="Text 19"/>
          <p:cNvSpPr/>
          <p:nvPr/>
        </p:nvSpPr>
        <p:spPr>
          <a:xfrm>
            <a:off x="8092440" y="4507992"/>
            <a:ext cx="1737360" cy="8686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~30 s</a:t>
            </a:r>
            <a:endParaRPr lang="en-US" sz="3600" dirty="0"/>
          </a:p>
        </p:txBody>
      </p:sp>
      <p:sp>
        <p:nvSpPr>
          <p:cNvPr id="25" name="Text 20"/>
          <p:cNvSpPr/>
          <p:nvPr/>
        </p:nvSpPr>
        <p:spPr>
          <a:xfrm>
            <a:off x="9829800" y="4507992"/>
            <a:ext cx="1783080" cy="868680"/>
          </a:xfrm>
          <a:prstGeom prst="rect">
            <a:avLst/>
          </a:prstGeom>
          <a:noFill/>
          <a:ln/>
        </p:spPr>
        <p:txBody>
          <a:bodyPr wrap="square" lIns="0" tIns="0" rIns="0" bIns="0" rtlCol="0" anchor="ctr"/>
          <a:lstStyle/>
          <a:p>
            <a:pPr indent="0" marL="0">
              <a:buNone/>
            </a:pPr>
            <a:r>
              <a:rPr lang="en-US" sz="1150" dirty="0">
                <a:solidFill>
                  <a:srgbClr val="D5DEE9"/>
                </a:solidFill>
                <a:latin typeface="Arial" pitchFamily="34" charset="0"/>
                <a:ea typeface="Arial" pitchFamily="34" charset="-122"/>
                <a:cs typeface="Arial" pitchFamily="34" charset="-120"/>
              </a:rPr>
              <a:t>to a Horizon foresight answer</a:t>
            </a:r>
            <a:endParaRPr lang="en-US" sz="1150" dirty="0"/>
          </a:p>
        </p:txBody>
      </p:sp>
      <p:sp>
        <p:nvSpPr>
          <p:cNvPr id="26" name="Text 21"/>
          <p:cNvSpPr/>
          <p:nvPr/>
        </p:nvSpPr>
        <p:spPr>
          <a:xfrm>
            <a:off x="502920" y="5943600"/>
            <a:ext cx="11155680" cy="365760"/>
          </a:xfrm>
          <a:prstGeom prst="rect">
            <a:avLst/>
          </a:prstGeom>
          <a:noFill/>
          <a:ln/>
        </p:spPr>
        <p:txBody>
          <a:bodyPr wrap="square" rtlCol="0" anchor="ctr"/>
          <a:lstStyle/>
          <a:p>
            <a:pPr algn="ctr" indent="0" marL="0">
              <a:buNone/>
            </a:pPr>
            <a:r>
              <a:rPr lang="en-US" sz="1400" b="1" i="1" dirty="0">
                <a:solidFill>
                  <a:srgbClr val="D97706"/>
                </a:solidFill>
                <a:latin typeface="Arial" pitchFamily="34" charset="0"/>
                <a:ea typeface="Arial" pitchFamily="34" charset="-122"/>
                <a:cs typeface="Arial" pitchFamily="34" charset="-120"/>
              </a:rPr>
              <a:t>Horizon closes the gap: consulting-grade foresight, engineering-grade numbers, on demand.</a:t>
            </a:r>
            <a:endParaRPr lang="en-US" sz="1400" dirty="0"/>
          </a:p>
        </p:txBody>
      </p:sp>
      <p:sp>
        <p:nvSpPr>
          <p:cNvPr id="27" name="Text 22"/>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3/16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353312" cy="329184"/>
          </a:xfrm>
          <a:prstGeom prst="roundRect">
            <a:avLst>
              <a:gd name="adj" fmla="val 50000"/>
            </a:avLst>
          </a:prstGeom>
          <a:solidFill>
            <a:srgbClr val="0D1F33"/>
          </a:solidFill>
          <a:ln/>
        </p:spPr>
      </p:sp>
      <p:sp>
        <p:nvSpPr>
          <p:cNvPr id="3" name="Text 1"/>
          <p:cNvSpPr/>
          <p:nvPr/>
        </p:nvSpPr>
        <p:spPr>
          <a:xfrm>
            <a:off x="502920" y="347472"/>
            <a:ext cx="1353312"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THE ENGINE</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Four stages — and numbers never come from the AI</a:t>
            </a:r>
            <a:endParaRPr lang="en-US" sz="2800" dirty="0"/>
          </a:p>
        </p:txBody>
      </p:sp>
      <p:sp>
        <p:nvSpPr>
          <p:cNvPr id="5" name="Shape 3"/>
          <p:cNvSpPr/>
          <p:nvPr/>
        </p:nvSpPr>
        <p:spPr>
          <a:xfrm>
            <a:off x="502920" y="1554480"/>
            <a:ext cx="2697480" cy="3977640"/>
          </a:xfrm>
          <a:prstGeom prst="roundRect">
            <a:avLst>
              <a:gd name="adj" fmla="val 2373"/>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6" name="Shape 4"/>
          <p:cNvSpPr/>
          <p:nvPr/>
        </p:nvSpPr>
        <p:spPr>
          <a:xfrm>
            <a:off x="502920" y="1554480"/>
            <a:ext cx="2697480" cy="868680"/>
          </a:xfrm>
          <a:prstGeom prst="roundRect">
            <a:avLst>
              <a:gd name="adj" fmla="val 7368"/>
            </a:avLst>
          </a:prstGeom>
          <a:solidFill>
            <a:srgbClr val="0D1F33"/>
          </a:solidFill>
          <a:ln/>
        </p:spPr>
      </p:sp>
      <p:sp>
        <p:nvSpPr>
          <p:cNvPr id="7" name="Shape 5"/>
          <p:cNvSpPr/>
          <p:nvPr/>
        </p:nvSpPr>
        <p:spPr>
          <a:xfrm>
            <a:off x="649224" y="1700784"/>
            <a:ext cx="548640" cy="548640"/>
          </a:xfrm>
          <a:prstGeom prst="ellipse">
            <a:avLst/>
          </a:prstGeom>
          <a:solidFill>
            <a:srgbClr val="0D1F33"/>
          </a:solidFill>
          <a:ln/>
        </p:spPr>
      </p:sp>
      <p:pic>
        <p:nvPicPr>
          <p:cNvPr id="8" name="Image 0" descr="preencoded.png">    </p:cNvPr>
          <p:cNvPicPr>
            <a:picLocks noChangeAspect="1"/>
          </p:cNvPicPr>
          <p:nvPr/>
        </p:nvPicPr>
        <p:blipFill>
          <a:blip r:embed="rId1"/>
          <a:stretch>
            <a:fillRect/>
          </a:stretch>
        </p:blipFill>
        <p:spPr>
          <a:xfrm>
            <a:off x="758952" y="1810512"/>
            <a:ext cx="329184" cy="329184"/>
          </a:xfrm>
          <a:prstGeom prst="rect">
            <a:avLst/>
          </a:prstGeom>
        </p:spPr>
      </p:pic>
      <p:sp>
        <p:nvSpPr>
          <p:cNvPr id="9" name="Text 6"/>
          <p:cNvSpPr/>
          <p:nvPr/>
        </p:nvSpPr>
        <p:spPr>
          <a:xfrm>
            <a:off x="1280160" y="1554480"/>
            <a:ext cx="1874520" cy="86868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1 · Curated register</a:t>
            </a:r>
            <a:endParaRPr lang="en-US" sz="1350" dirty="0"/>
          </a:p>
        </p:txBody>
      </p:sp>
      <p:sp>
        <p:nvSpPr>
          <p:cNvPr id="10" name="Text 7"/>
          <p:cNvSpPr/>
          <p:nvPr/>
        </p:nvSpPr>
        <p:spPr>
          <a:xfrm>
            <a:off x="685800" y="2606040"/>
            <a:ext cx="2377440" cy="1463040"/>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139 technologies, every one with automotive TRL 1-9, current adoption share, named production evidence, players, cost trend</a:t>
            </a:r>
            <a:endParaRPr lang="en-US" sz="1050" dirty="0"/>
          </a:p>
        </p:txBody>
      </p:sp>
      <p:sp>
        <p:nvSpPr>
          <p:cNvPr id="11" name="Text 8"/>
          <p:cNvSpPr/>
          <p:nvPr/>
        </p:nvSpPr>
        <p:spPr>
          <a:xfrm>
            <a:off x="685800" y="4160520"/>
            <a:ext cx="2377440" cy="1188720"/>
          </a:xfrm>
          <a:prstGeom prst="rect">
            <a:avLst/>
          </a:prstGeom>
          <a:noFill/>
          <a:ln/>
        </p:spPr>
        <p:txBody>
          <a:bodyPr wrap="square" lIns="0" tIns="0" rIns="0" bIns="0" rtlCol="0" anchor="ctr"/>
          <a:lstStyle/>
          <a:p>
            <a:pPr indent="0" marL="0">
              <a:buNone/>
            </a:pPr>
            <a:r>
              <a:rPr lang="en-US" sz="1000" dirty="0">
                <a:solidFill>
                  <a:srgbClr val="5B6B7F"/>
                </a:solidFill>
                <a:latin typeface="Arial" pitchFamily="34" charset="0"/>
                <a:ea typeface="Arial" pitchFamily="34" charset="-122"/>
                <a:cs typeface="Arial" pitchFamily="34" charset="-120"/>
              </a:rPr>
              <a:t>Plus 14 dated regulations &amp; 12 benchmark vehicles</a:t>
            </a:r>
            <a:endParaRPr lang="en-US" sz="1000" dirty="0"/>
          </a:p>
        </p:txBody>
      </p:sp>
      <p:sp>
        <p:nvSpPr>
          <p:cNvPr id="12" name="Shape 9"/>
          <p:cNvSpPr/>
          <p:nvPr/>
        </p:nvSpPr>
        <p:spPr>
          <a:xfrm>
            <a:off x="3227832" y="3310128"/>
            <a:ext cx="274320" cy="256032"/>
          </a:xfrm>
          <a:prstGeom prst="rightArrow">
            <a:avLst/>
          </a:prstGeom>
          <a:solidFill>
            <a:srgbClr val="F59E0B"/>
          </a:solidFill>
          <a:ln/>
        </p:spPr>
      </p:sp>
      <p:sp>
        <p:nvSpPr>
          <p:cNvPr id="13" name="Shape 10"/>
          <p:cNvSpPr/>
          <p:nvPr/>
        </p:nvSpPr>
        <p:spPr>
          <a:xfrm>
            <a:off x="3502152" y="1554480"/>
            <a:ext cx="2697480" cy="3977640"/>
          </a:xfrm>
          <a:prstGeom prst="roundRect">
            <a:avLst>
              <a:gd name="adj" fmla="val 2373"/>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14" name="Shape 11"/>
          <p:cNvSpPr/>
          <p:nvPr/>
        </p:nvSpPr>
        <p:spPr>
          <a:xfrm>
            <a:off x="3502152" y="1554480"/>
            <a:ext cx="2697480" cy="868680"/>
          </a:xfrm>
          <a:prstGeom prst="roundRect">
            <a:avLst>
              <a:gd name="adj" fmla="val 7368"/>
            </a:avLst>
          </a:prstGeom>
          <a:solidFill>
            <a:srgbClr val="0D9488"/>
          </a:solidFill>
          <a:ln/>
        </p:spPr>
      </p:sp>
      <p:sp>
        <p:nvSpPr>
          <p:cNvPr id="15" name="Shape 12"/>
          <p:cNvSpPr/>
          <p:nvPr/>
        </p:nvSpPr>
        <p:spPr>
          <a:xfrm>
            <a:off x="3648456" y="1700784"/>
            <a:ext cx="548640" cy="548640"/>
          </a:xfrm>
          <a:prstGeom prst="ellipse">
            <a:avLst/>
          </a:prstGeom>
          <a:solidFill>
            <a:srgbClr val="0D9488"/>
          </a:solidFill>
          <a:ln/>
        </p:spPr>
      </p:sp>
      <p:pic>
        <p:nvPicPr>
          <p:cNvPr id="16" name="Image 1" descr="preencoded.png">    </p:cNvPr>
          <p:cNvPicPr>
            <a:picLocks noChangeAspect="1"/>
          </p:cNvPicPr>
          <p:nvPr/>
        </p:nvPicPr>
        <p:blipFill>
          <a:blip r:embed="rId2"/>
          <a:stretch>
            <a:fillRect/>
          </a:stretch>
        </p:blipFill>
        <p:spPr>
          <a:xfrm>
            <a:off x="3758184" y="1810512"/>
            <a:ext cx="329184" cy="329184"/>
          </a:xfrm>
          <a:prstGeom prst="rect">
            <a:avLst/>
          </a:prstGeom>
        </p:spPr>
      </p:pic>
      <p:sp>
        <p:nvSpPr>
          <p:cNvPr id="17" name="Text 13"/>
          <p:cNvSpPr/>
          <p:nvPr/>
        </p:nvSpPr>
        <p:spPr>
          <a:xfrm>
            <a:off x="4279392" y="1554480"/>
            <a:ext cx="1874520" cy="86868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2 · Deterministic cores</a:t>
            </a:r>
            <a:endParaRPr lang="en-US" sz="1350" dirty="0"/>
          </a:p>
        </p:txBody>
      </p:sp>
      <p:sp>
        <p:nvSpPr>
          <p:cNvPr id="18" name="Text 14"/>
          <p:cNvSpPr/>
          <p:nvPr/>
        </p:nvSpPr>
        <p:spPr>
          <a:xfrm>
            <a:off x="3685032" y="2606040"/>
            <a:ext cx="2377440" cy="1463040"/>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S-curve phase · Bass diffusion adoption paths · Wright’s-law cost index · momentum 0-100 · horizon lanes</a:t>
            </a:r>
            <a:endParaRPr lang="en-US" sz="1050" dirty="0"/>
          </a:p>
        </p:txBody>
      </p:sp>
      <p:sp>
        <p:nvSpPr>
          <p:cNvPr id="19" name="Text 15"/>
          <p:cNvSpPr/>
          <p:nvPr/>
        </p:nvSpPr>
        <p:spPr>
          <a:xfrm>
            <a:off x="3685032" y="4160520"/>
            <a:ext cx="2377440" cy="1188720"/>
          </a:xfrm>
          <a:prstGeom prst="rect">
            <a:avLst/>
          </a:prstGeom>
          <a:noFill/>
          <a:ln/>
        </p:spPr>
        <p:txBody>
          <a:bodyPr wrap="square" lIns="0" tIns="0" rIns="0" bIns="0" rtlCol="0" anchor="ctr"/>
          <a:lstStyle/>
          <a:p>
            <a:pPr indent="0" marL="0">
              <a:buNone/>
            </a:pPr>
            <a:r>
              <a:rPr lang="en-US" sz="1000" dirty="0">
                <a:solidFill>
                  <a:srgbClr val="5B6B7F"/>
                </a:solidFill>
                <a:latin typeface="Arial" pitchFamily="34" charset="0"/>
                <a:ea typeface="Arial" pitchFamily="34" charset="-122"/>
                <a:cs typeface="Arial" pitchFamily="34" charset="-120"/>
              </a:rPr>
              <a:t>25% / 50% crossing years — pure mathematics, repeatable</a:t>
            </a:r>
            <a:endParaRPr lang="en-US" sz="1000" dirty="0"/>
          </a:p>
        </p:txBody>
      </p:sp>
      <p:sp>
        <p:nvSpPr>
          <p:cNvPr id="20" name="Shape 16"/>
          <p:cNvSpPr/>
          <p:nvPr/>
        </p:nvSpPr>
        <p:spPr>
          <a:xfrm>
            <a:off x="6227064" y="3310128"/>
            <a:ext cx="274320" cy="256032"/>
          </a:xfrm>
          <a:prstGeom prst="rightArrow">
            <a:avLst/>
          </a:prstGeom>
          <a:solidFill>
            <a:srgbClr val="F59E0B"/>
          </a:solidFill>
          <a:ln/>
        </p:spPr>
      </p:sp>
      <p:sp>
        <p:nvSpPr>
          <p:cNvPr id="21" name="Shape 17"/>
          <p:cNvSpPr/>
          <p:nvPr/>
        </p:nvSpPr>
        <p:spPr>
          <a:xfrm>
            <a:off x="6501384" y="1554480"/>
            <a:ext cx="2697480" cy="3977640"/>
          </a:xfrm>
          <a:prstGeom prst="roundRect">
            <a:avLst>
              <a:gd name="adj" fmla="val 2373"/>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22" name="Shape 18"/>
          <p:cNvSpPr/>
          <p:nvPr/>
        </p:nvSpPr>
        <p:spPr>
          <a:xfrm>
            <a:off x="6501384" y="1554480"/>
            <a:ext cx="2697480" cy="868680"/>
          </a:xfrm>
          <a:prstGeom prst="roundRect">
            <a:avLst>
              <a:gd name="adj" fmla="val 7368"/>
            </a:avLst>
          </a:prstGeom>
          <a:solidFill>
            <a:srgbClr val="F59E0B"/>
          </a:solidFill>
          <a:ln/>
        </p:spPr>
      </p:sp>
      <p:sp>
        <p:nvSpPr>
          <p:cNvPr id="23" name="Shape 19"/>
          <p:cNvSpPr/>
          <p:nvPr/>
        </p:nvSpPr>
        <p:spPr>
          <a:xfrm>
            <a:off x="6647688" y="1700784"/>
            <a:ext cx="548640" cy="548640"/>
          </a:xfrm>
          <a:prstGeom prst="ellipse">
            <a:avLst/>
          </a:prstGeom>
          <a:solidFill>
            <a:srgbClr val="F59E0B"/>
          </a:solidFill>
          <a:ln/>
        </p:spPr>
      </p:sp>
      <p:pic>
        <p:nvPicPr>
          <p:cNvPr id="24" name="Image 2" descr="preencoded.png">    </p:cNvPr>
          <p:cNvPicPr>
            <a:picLocks noChangeAspect="1"/>
          </p:cNvPicPr>
          <p:nvPr/>
        </p:nvPicPr>
        <p:blipFill>
          <a:blip r:embed="rId3"/>
          <a:stretch>
            <a:fillRect/>
          </a:stretch>
        </p:blipFill>
        <p:spPr>
          <a:xfrm>
            <a:off x="6757416" y="1810512"/>
            <a:ext cx="329184" cy="329184"/>
          </a:xfrm>
          <a:prstGeom prst="rect">
            <a:avLst/>
          </a:prstGeom>
        </p:spPr>
      </p:pic>
      <p:sp>
        <p:nvSpPr>
          <p:cNvPr id="25" name="Text 20"/>
          <p:cNvSpPr/>
          <p:nvPr/>
        </p:nvSpPr>
        <p:spPr>
          <a:xfrm>
            <a:off x="7278624" y="1554480"/>
            <a:ext cx="1874520" cy="86868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3 · Honesty layer</a:t>
            </a:r>
            <a:endParaRPr lang="en-US" sz="1350" dirty="0"/>
          </a:p>
        </p:txBody>
      </p:sp>
      <p:sp>
        <p:nvSpPr>
          <p:cNvPr id="26" name="Text 21"/>
          <p:cNvSpPr/>
          <p:nvPr/>
        </p:nvSpPr>
        <p:spPr>
          <a:xfrm>
            <a:off x="6684264" y="2606040"/>
            <a:ext cx="2377440" cy="1463040"/>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Committed / probable / speculative tiers · "modelled, not measured" labels</a:t>
            </a:r>
            <a:endParaRPr lang="en-US" sz="1050" dirty="0"/>
          </a:p>
        </p:txBody>
      </p:sp>
      <p:sp>
        <p:nvSpPr>
          <p:cNvPr id="27" name="Text 22"/>
          <p:cNvSpPr/>
          <p:nvPr/>
        </p:nvSpPr>
        <p:spPr>
          <a:xfrm>
            <a:off x="6684264" y="4160520"/>
            <a:ext cx="2377440" cy="1188720"/>
          </a:xfrm>
          <a:prstGeom prst="rect">
            <a:avLst/>
          </a:prstGeom>
          <a:noFill/>
          <a:ln/>
        </p:spPr>
        <p:txBody>
          <a:bodyPr wrap="square" lIns="0" tIns="0" rIns="0" bIns="0" rtlCol="0" anchor="ctr"/>
          <a:lstStyle/>
          <a:p>
            <a:pPr indent="0" marL="0">
              <a:buNone/>
            </a:pPr>
            <a:r>
              <a:rPr lang="en-US" sz="1000" dirty="0">
                <a:solidFill>
                  <a:srgbClr val="5B6B7F"/>
                </a:solidFill>
                <a:latin typeface="Arial" pitchFamily="34" charset="0"/>
                <a:ea typeface="Arial" pitchFamily="34" charset="-122"/>
                <a:cs typeface="Arial" pitchFamily="34" charset="-120"/>
              </a:rPr>
              <a:t>Regulations carry legal status · niche techs get adoption ceilings · crossing years get uncertainty bands</a:t>
            </a:r>
            <a:endParaRPr lang="en-US" sz="1000" dirty="0"/>
          </a:p>
        </p:txBody>
      </p:sp>
      <p:sp>
        <p:nvSpPr>
          <p:cNvPr id="28" name="Shape 23"/>
          <p:cNvSpPr/>
          <p:nvPr/>
        </p:nvSpPr>
        <p:spPr>
          <a:xfrm>
            <a:off x="9226296" y="3310128"/>
            <a:ext cx="274320" cy="256032"/>
          </a:xfrm>
          <a:prstGeom prst="rightArrow">
            <a:avLst/>
          </a:prstGeom>
          <a:solidFill>
            <a:srgbClr val="F59E0B"/>
          </a:solidFill>
          <a:ln/>
        </p:spPr>
      </p:sp>
      <p:sp>
        <p:nvSpPr>
          <p:cNvPr id="29" name="Shape 24"/>
          <p:cNvSpPr/>
          <p:nvPr/>
        </p:nvSpPr>
        <p:spPr>
          <a:xfrm>
            <a:off x="9500616" y="1554480"/>
            <a:ext cx="2697480" cy="3977640"/>
          </a:xfrm>
          <a:prstGeom prst="roundRect">
            <a:avLst>
              <a:gd name="adj" fmla="val 2373"/>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30" name="Shape 25"/>
          <p:cNvSpPr/>
          <p:nvPr/>
        </p:nvSpPr>
        <p:spPr>
          <a:xfrm>
            <a:off x="9500616" y="1554480"/>
            <a:ext cx="2697480" cy="868680"/>
          </a:xfrm>
          <a:prstGeom prst="roundRect">
            <a:avLst>
              <a:gd name="adj" fmla="val 7368"/>
            </a:avLst>
          </a:prstGeom>
          <a:solidFill>
            <a:srgbClr val="6D28D9"/>
          </a:solidFill>
          <a:ln/>
        </p:spPr>
      </p:sp>
      <p:sp>
        <p:nvSpPr>
          <p:cNvPr id="31" name="Shape 26"/>
          <p:cNvSpPr/>
          <p:nvPr/>
        </p:nvSpPr>
        <p:spPr>
          <a:xfrm>
            <a:off x="9646920" y="1700784"/>
            <a:ext cx="548640" cy="548640"/>
          </a:xfrm>
          <a:prstGeom prst="ellipse">
            <a:avLst/>
          </a:prstGeom>
          <a:solidFill>
            <a:srgbClr val="6D28D9"/>
          </a:solidFill>
          <a:ln/>
        </p:spPr>
      </p:sp>
      <p:pic>
        <p:nvPicPr>
          <p:cNvPr id="32" name="Image 3" descr="preencoded.png">    </p:cNvPr>
          <p:cNvPicPr>
            <a:picLocks noChangeAspect="1"/>
          </p:cNvPicPr>
          <p:nvPr/>
        </p:nvPicPr>
        <p:blipFill>
          <a:blip r:embed="rId4"/>
          <a:stretch>
            <a:fillRect/>
          </a:stretch>
        </p:blipFill>
        <p:spPr>
          <a:xfrm>
            <a:off x="9756648" y="1810512"/>
            <a:ext cx="329184" cy="329184"/>
          </a:xfrm>
          <a:prstGeom prst="rect">
            <a:avLst/>
          </a:prstGeom>
        </p:spPr>
      </p:pic>
      <p:sp>
        <p:nvSpPr>
          <p:cNvPr id="33" name="Text 27"/>
          <p:cNvSpPr/>
          <p:nvPr/>
        </p:nvSpPr>
        <p:spPr>
          <a:xfrm>
            <a:off x="10277856" y="1554480"/>
            <a:ext cx="1874520" cy="86868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4 · Grounded AI on top</a:t>
            </a:r>
            <a:endParaRPr lang="en-US" sz="1350" dirty="0"/>
          </a:p>
        </p:txBody>
      </p:sp>
      <p:sp>
        <p:nvSpPr>
          <p:cNvPr id="34" name="Text 28"/>
          <p:cNvSpPr/>
          <p:nvPr/>
        </p:nvSpPr>
        <p:spPr>
          <a:xfrm>
            <a:off x="9683496" y="2606040"/>
            <a:ext cx="2377440" cy="1463040"/>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Analyst briefing, expert panel, deep research — grounded in the cards the engine computed</a:t>
            </a:r>
            <a:endParaRPr lang="en-US" sz="1050" dirty="0"/>
          </a:p>
        </p:txBody>
      </p:sp>
      <p:sp>
        <p:nvSpPr>
          <p:cNvPr id="35" name="Text 29"/>
          <p:cNvSpPr/>
          <p:nvPr/>
        </p:nvSpPr>
        <p:spPr>
          <a:xfrm>
            <a:off x="9683496" y="4160520"/>
            <a:ext cx="2377440" cy="1188720"/>
          </a:xfrm>
          <a:prstGeom prst="rect">
            <a:avLst/>
          </a:prstGeom>
          <a:noFill/>
          <a:ln/>
        </p:spPr>
        <p:txBody>
          <a:bodyPr wrap="square" lIns="0" tIns="0" rIns="0" bIns="0" rtlCol="0" anchor="ctr"/>
          <a:lstStyle/>
          <a:p>
            <a:pPr indent="0" marL="0">
              <a:buNone/>
            </a:pPr>
            <a:r>
              <a:rPr lang="en-US" sz="1000" dirty="0">
                <a:solidFill>
                  <a:srgbClr val="5B6B7F"/>
                </a:solidFill>
                <a:latin typeface="Arial" pitchFamily="34" charset="0"/>
                <a:ea typeface="Arial" pitchFamily="34" charset="-122"/>
                <a:cs typeface="Arial" pitchFamily="34" charset="-120"/>
              </a:rPr>
              <a:t>Research findings must cite retrieved sources or they are dropped in code</a:t>
            </a:r>
            <a:endParaRPr lang="en-US" sz="1000" dirty="0"/>
          </a:p>
        </p:txBody>
      </p:sp>
      <p:sp>
        <p:nvSpPr>
          <p:cNvPr id="36" name="Text 30"/>
          <p:cNvSpPr/>
          <p:nvPr/>
        </p:nvSpPr>
        <p:spPr>
          <a:xfrm>
            <a:off x="502920" y="5806440"/>
            <a:ext cx="11155680" cy="384048"/>
          </a:xfrm>
          <a:prstGeom prst="rect">
            <a:avLst/>
          </a:prstGeom>
          <a:noFill/>
          <a:ln/>
        </p:spPr>
        <p:txBody>
          <a:bodyPr wrap="square" rtlCol="0" anchor="ctr"/>
          <a:lstStyle/>
          <a:p>
            <a:pPr algn="ctr" indent="0" marL="0">
              <a:buNone/>
            </a:pPr>
            <a:r>
              <a:rPr lang="en-US" sz="1600" b="1" i="1" dirty="0">
                <a:solidFill>
                  <a:srgbClr val="0D9488"/>
                </a:solidFill>
                <a:latin typeface="Arial" pitchFamily="34" charset="0"/>
                <a:ea typeface="Arial" pitchFamily="34" charset="-122"/>
                <a:cs typeface="Arial" pitchFamily="34" charset="-120"/>
              </a:rPr>
              <a:t>"The AI narrates — it never invents a number."</a:t>
            </a:r>
            <a:endParaRPr lang="en-US" sz="1600" dirty="0"/>
          </a:p>
        </p:txBody>
      </p:sp>
      <p:sp>
        <p:nvSpPr>
          <p:cNvPr id="37" name="Text 31"/>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4/16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711757" cy="329184"/>
          </a:xfrm>
          <a:prstGeom prst="roundRect">
            <a:avLst>
              <a:gd name="adj" fmla="val 50000"/>
            </a:avLst>
          </a:prstGeom>
          <a:solidFill>
            <a:srgbClr val="0D1F33"/>
          </a:solidFill>
          <a:ln/>
        </p:spPr>
      </p:sp>
      <p:sp>
        <p:nvSpPr>
          <p:cNvPr id="3" name="Text 1"/>
          <p:cNvSpPr/>
          <p:nvPr/>
        </p:nvSpPr>
        <p:spPr>
          <a:xfrm>
            <a:off x="502920" y="347472"/>
            <a:ext cx="1711757"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UNDER THE HOOD</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The models, the techniques, and the exact workflow</a:t>
            </a:r>
            <a:endParaRPr lang="en-US" sz="2800" dirty="0"/>
          </a:p>
        </p:txBody>
      </p:sp>
      <p:sp>
        <p:nvSpPr>
          <p:cNvPr id="5" name="Shape 3"/>
          <p:cNvSpPr/>
          <p:nvPr/>
        </p:nvSpPr>
        <p:spPr>
          <a:xfrm>
            <a:off x="502920" y="1481328"/>
            <a:ext cx="5577840" cy="4572000"/>
          </a:xfrm>
          <a:prstGeom prst="roundRect">
            <a:avLst>
              <a:gd name="adj" fmla="val 1400"/>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6" name="Shape 4"/>
          <p:cNvSpPr/>
          <p:nvPr/>
        </p:nvSpPr>
        <p:spPr>
          <a:xfrm>
            <a:off x="502920" y="1481328"/>
            <a:ext cx="5577840" cy="457200"/>
          </a:xfrm>
          <a:prstGeom prst="roundRect">
            <a:avLst>
              <a:gd name="adj" fmla="val 14000"/>
            </a:avLst>
          </a:prstGeom>
          <a:solidFill>
            <a:srgbClr val="0D1F33"/>
          </a:solidFill>
          <a:ln/>
        </p:spPr>
      </p:sp>
      <p:sp>
        <p:nvSpPr>
          <p:cNvPr id="7" name="Text 5"/>
          <p:cNvSpPr/>
          <p:nvPr/>
        </p:nvSpPr>
        <p:spPr>
          <a:xfrm>
            <a:off x="731520" y="1481328"/>
            <a:ext cx="5120640" cy="457200"/>
          </a:xfrm>
          <a:prstGeom prst="rect">
            <a:avLst/>
          </a:prstGeom>
          <a:noFill/>
          <a:ln/>
        </p:spPr>
        <p:txBody>
          <a:bodyPr wrap="square" lIns="0" tIns="0" rIns="0" bIns="0" rtlCol="0" anchor="ctr"/>
          <a:lstStyle/>
          <a:p>
            <a:pPr indent="0" marL="0">
              <a:buNone/>
            </a:pPr>
            <a:r>
              <a:rPr lang="en-US" sz="1100" b="1" spc="150" kern="0" dirty="0">
                <a:solidFill>
                  <a:srgbClr val="F59E0B"/>
                </a:solidFill>
                <a:latin typeface="Courier New" pitchFamily="34" charset="0"/>
                <a:ea typeface="Courier New" pitchFamily="34" charset="-122"/>
                <a:cs typeface="Courier New" pitchFamily="34" charset="-120"/>
              </a:rPr>
              <a:t>MODELS &amp; TECHNIQUES</a:t>
            </a:r>
            <a:endParaRPr lang="en-US" sz="1100" dirty="0"/>
          </a:p>
        </p:txBody>
      </p:sp>
      <p:sp>
        <p:nvSpPr>
          <p:cNvPr id="8" name="Shape 6"/>
          <p:cNvSpPr/>
          <p:nvPr/>
        </p:nvSpPr>
        <p:spPr>
          <a:xfrm>
            <a:off x="749808" y="2130552"/>
            <a:ext cx="109728" cy="109728"/>
          </a:xfrm>
          <a:prstGeom prst="ellipse">
            <a:avLst/>
          </a:prstGeom>
          <a:solidFill>
            <a:srgbClr val="0D9488"/>
          </a:solidFill>
          <a:ln/>
        </p:spPr>
      </p:sp>
      <p:sp>
        <p:nvSpPr>
          <p:cNvPr id="9" name="Text 7"/>
          <p:cNvSpPr/>
          <p:nvPr/>
        </p:nvSpPr>
        <p:spPr>
          <a:xfrm>
            <a:off x="987552" y="2084832"/>
            <a:ext cx="4937760" cy="548640"/>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Automotive TRL 1-9 — </a:t>
            </a:r>
            <a:pPr indent="0" marL="0">
              <a:buNone/>
            </a:pPr>
            <a:r>
              <a:rPr lang="en-US" sz="980" dirty="0">
                <a:solidFill>
                  <a:srgbClr val="5B6B7F"/>
                </a:solidFill>
                <a:latin typeface="Arial" pitchFamily="34" charset="0"/>
                <a:ea typeface="Arial" pitchFamily="34" charset="-122"/>
                <a:cs typeface="Arial" pitchFamily="34" charset="-120"/>
              </a:rPr>
              <a:t>APC-style readiness grading — where each tech stands in productionisation today</a:t>
            </a:r>
            <a:endParaRPr lang="en-US" sz="980" dirty="0"/>
          </a:p>
        </p:txBody>
      </p:sp>
      <p:sp>
        <p:nvSpPr>
          <p:cNvPr id="10" name="Shape 8"/>
          <p:cNvSpPr/>
          <p:nvPr/>
        </p:nvSpPr>
        <p:spPr>
          <a:xfrm>
            <a:off x="749808" y="2692908"/>
            <a:ext cx="109728" cy="109728"/>
          </a:xfrm>
          <a:prstGeom prst="ellipse">
            <a:avLst/>
          </a:prstGeom>
          <a:solidFill>
            <a:srgbClr val="0D9488"/>
          </a:solidFill>
          <a:ln/>
        </p:spPr>
      </p:sp>
      <p:sp>
        <p:nvSpPr>
          <p:cNvPr id="11" name="Text 9"/>
          <p:cNvSpPr/>
          <p:nvPr/>
        </p:nvSpPr>
        <p:spPr>
          <a:xfrm>
            <a:off x="987552" y="2647188"/>
            <a:ext cx="4937760" cy="548640"/>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Logistic S-curve — </a:t>
            </a:r>
            <a:pPr indent="0" marL="0">
              <a:buNone/>
            </a:pPr>
            <a:r>
              <a:rPr lang="en-US" sz="980" dirty="0">
                <a:solidFill>
                  <a:srgbClr val="5B6B7F"/>
                </a:solidFill>
                <a:latin typeface="Arial" pitchFamily="34" charset="0"/>
                <a:ea typeface="Arial" pitchFamily="34" charset="-122"/>
                <a:cs typeface="Arial" pitchFamily="34" charset="-120"/>
              </a:rPr>
              <a:t>positions every tech: research → demonstration → take-off → growth → mainstream</a:t>
            </a:r>
            <a:endParaRPr lang="en-US" sz="980" dirty="0"/>
          </a:p>
        </p:txBody>
      </p:sp>
      <p:sp>
        <p:nvSpPr>
          <p:cNvPr id="12" name="Shape 10"/>
          <p:cNvSpPr/>
          <p:nvPr/>
        </p:nvSpPr>
        <p:spPr>
          <a:xfrm>
            <a:off x="749808" y="3255264"/>
            <a:ext cx="109728" cy="109728"/>
          </a:xfrm>
          <a:prstGeom prst="ellipse">
            <a:avLst/>
          </a:prstGeom>
          <a:solidFill>
            <a:srgbClr val="F59E0B"/>
          </a:solidFill>
          <a:ln/>
        </p:spPr>
      </p:sp>
      <p:sp>
        <p:nvSpPr>
          <p:cNvPr id="13" name="Text 11"/>
          <p:cNvSpPr/>
          <p:nvPr/>
        </p:nvSpPr>
        <p:spPr>
          <a:xfrm>
            <a:off x="987552" y="3209544"/>
            <a:ext cx="4937760" cy="548640"/>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Bass diffusion model — </a:t>
            </a:r>
            <a:pPr indent="0" marL="0">
              <a:buNone/>
            </a:pPr>
            <a:r>
              <a:rPr lang="en-US" sz="980" dirty="0">
                <a:solidFill>
                  <a:srgbClr val="5B6B7F"/>
                </a:solidFill>
                <a:latin typeface="Arial" pitchFamily="34" charset="0"/>
                <a:ea typeface="Arial" pitchFamily="34" charset="-122"/>
                <a:cs typeface="Arial" pitchFamily="34" charset="-120"/>
              </a:rPr>
              <a:t>adoption forecasting (p=0.03, q=0.38) with per-tech segment ceilings; 25%/50% crossing years with q±25% uncertainty bands</a:t>
            </a:r>
            <a:endParaRPr lang="en-US" sz="980" dirty="0"/>
          </a:p>
        </p:txBody>
      </p:sp>
      <p:sp>
        <p:nvSpPr>
          <p:cNvPr id="14" name="Shape 12"/>
          <p:cNvSpPr/>
          <p:nvPr/>
        </p:nvSpPr>
        <p:spPr>
          <a:xfrm>
            <a:off x="749808" y="3817620"/>
            <a:ext cx="109728" cy="109728"/>
          </a:xfrm>
          <a:prstGeom prst="ellipse">
            <a:avLst/>
          </a:prstGeom>
          <a:solidFill>
            <a:srgbClr val="F59E0B"/>
          </a:solidFill>
          <a:ln/>
        </p:spPr>
      </p:sp>
      <p:sp>
        <p:nvSpPr>
          <p:cNvPr id="15" name="Text 13"/>
          <p:cNvSpPr/>
          <p:nvPr/>
        </p:nvSpPr>
        <p:spPr>
          <a:xfrm>
            <a:off x="987552" y="3771900"/>
            <a:ext cx="4937760" cy="548640"/>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Wright’s law — </a:t>
            </a:r>
            <a:pPr indent="0" marL="0">
              <a:buNone/>
            </a:pPr>
            <a:r>
              <a:rPr lang="en-US" sz="980" dirty="0">
                <a:solidFill>
                  <a:srgbClr val="5B6B7F"/>
                </a:solidFill>
                <a:latin typeface="Arial" pitchFamily="34" charset="0"/>
                <a:ea typeface="Arial" pitchFamily="34" charset="-122"/>
                <a:cs typeface="Arial" pitchFamily="34" charset="-120"/>
              </a:rPr>
              <a:t>experience-curve cost index — 3-22% cost reduction per volume doubling, mapped from each tech’s cost trend</a:t>
            </a:r>
            <a:endParaRPr lang="en-US" sz="980" dirty="0"/>
          </a:p>
        </p:txBody>
      </p:sp>
      <p:sp>
        <p:nvSpPr>
          <p:cNvPr id="16" name="Shape 14"/>
          <p:cNvSpPr/>
          <p:nvPr/>
        </p:nvSpPr>
        <p:spPr>
          <a:xfrm>
            <a:off x="749808" y="4379976"/>
            <a:ext cx="109728" cy="109728"/>
          </a:xfrm>
          <a:prstGeom prst="ellipse">
            <a:avLst/>
          </a:prstGeom>
          <a:solidFill>
            <a:srgbClr val="0D1F33"/>
          </a:solidFill>
          <a:ln/>
        </p:spPr>
      </p:sp>
      <p:sp>
        <p:nvSpPr>
          <p:cNvPr id="17" name="Text 15"/>
          <p:cNvSpPr/>
          <p:nvPr/>
        </p:nvSpPr>
        <p:spPr>
          <a:xfrm>
            <a:off x="987552" y="4334256"/>
            <a:ext cx="4937760" cy="548640"/>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Momentum composite 0-100 — </a:t>
            </a:r>
            <a:pPr indent="0" marL="0">
              <a:buNone/>
            </a:pPr>
            <a:r>
              <a:rPr lang="en-US" sz="980" dirty="0">
                <a:solidFill>
                  <a:srgbClr val="5B6B7F"/>
                </a:solidFill>
                <a:latin typeface="Arial" pitchFamily="34" charset="0"/>
                <a:ea typeface="Arial" pitchFamily="34" charset="-122"/>
                <a:cs typeface="Arial" pitchFamily="34" charset="-120"/>
              </a:rPr>
              <a:t>maturity + adoption + cost trajectory + drivers + regulation + production evidence</a:t>
            </a:r>
            <a:endParaRPr lang="en-US" sz="980" dirty="0"/>
          </a:p>
        </p:txBody>
      </p:sp>
      <p:sp>
        <p:nvSpPr>
          <p:cNvPr id="18" name="Shape 16"/>
          <p:cNvSpPr/>
          <p:nvPr/>
        </p:nvSpPr>
        <p:spPr>
          <a:xfrm>
            <a:off x="749808" y="4942332"/>
            <a:ext cx="109728" cy="109728"/>
          </a:xfrm>
          <a:prstGeom prst="ellipse">
            <a:avLst/>
          </a:prstGeom>
          <a:solidFill>
            <a:srgbClr val="6D28D9"/>
          </a:solidFill>
          <a:ln/>
        </p:spPr>
      </p:sp>
      <p:sp>
        <p:nvSpPr>
          <p:cNvPr id="19" name="Text 17"/>
          <p:cNvSpPr/>
          <p:nvPr/>
        </p:nvSpPr>
        <p:spPr>
          <a:xfrm>
            <a:off x="987552" y="4896612"/>
            <a:ext cx="4937760" cy="548640"/>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Retrieval &amp; grounding — </a:t>
            </a:r>
            <a:pPr indent="0" marL="0">
              <a:buNone/>
            </a:pPr>
            <a:r>
              <a:rPr lang="en-US" sz="980" dirty="0">
                <a:solidFill>
                  <a:srgbClr val="5B6B7F"/>
                </a:solidFill>
                <a:latin typeface="Arial" pitchFamily="34" charset="0"/>
                <a:ea typeface="Arial" pitchFamily="34" charset="-122"/>
                <a:cs typeface="Arial" pitchFamily="34" charset="-120"/>
              </a:rPr>
              <a:t>PatentsView patent-velocity API, live web retrieval; LLM output is schema-forced JSON and cite-or-drop</a:t>
            </a:r>
            <a:endParaRPr lang="en-US" sz="980" dirty="0"/>
          </a:p>
        </p:txBody>
      </p:sp>
      <p:sp>
        <p:nvSpPr>
          <p:cNvPr id="20" name="Shape 18"/>
          <p:cNvSpPr/>
          <p:nvPr/>
        </p:nvSpPr>
        <p:spPr>
          <a:xfrm>
            <a:off x="749808" y="5504688"/>
            <a:ext cx="109728" cy="109728"/>
          </a:xfrm>
          <a:prstGeom prst="ellipse">
            <a:avLst/>
          </a:prstGeom>
          <a:solidFill>
            <a:srgbClr val="0D1F33"/>
          </a:solidFill>
          <a:ln/>
        </p:spPr>
      </p:sp>
      <p:sp>
        <p:nvSpPr>
          <p:cNvPr id="21" name="Text 19"/>
          <p:cNvSpPr/>
          <p:nvPr/>
        </p:nvSpPr>
        <p:spPr>
          <a:xfrm>
            <a:off x="987552" y="5458968"/>
            <a:ext cx="4937760" cy="548640"/>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Tetlock-style scoring — </a:t>
            </a:r>
            <a:pPr indent="0" marL="0">
              <a:buNone/>
            </a:pPr>
            <a:r>
              <a:rPr lang="en-US" sz="980" dirty="0">
                <a:solidFill>
                  <a:srgbClr val="5B6B7F"/>
                </a:solidFill>
                <a:latin typeface="Arial" pitchFamily="34" charset="0"/>
                <a:ea typeface="Arial" pitchFamily="34" charset="-122"/>
                <a:cs typeface="Arial" pitchFamily="34" charset="-120"/>
              </a:rPr>
              <a:t>Prediction Ledger snapshots forecasts; re-curation computes mean absolute error</a:t>
            </a:r>
            <a:endParaRPr lang="en-US" sz="980" dirty="0"/>
          </a:p>
        </p:txBody>
      </p:sp>
      <p:sp>
        <p:nvSpPr>
          <p:cNvPr id="22" name="Shape 20"/>
          <p:cNvSpPr/>
          <p:nvPr/>
        </p:nvSpPr>
        <p:spPr>
          <a:xfrm>
            <a:off x="6400800" y="1481328"/>
            <a:ext cx="5285232" cy="4572000"/>
          </a:xfrm>
          <a:prstGeom prst="roundRect">
            <a:avLst>
              <a:gd name="adj" fmla="val 1400"/>
            </a:avLst>
          </a:prstGeom>
          <a:solidFill>
            <a:srgbClr val="F2F6FB"/>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23" name="Shape 21"/>
          <p:cNvSpPr/>
          <p:nvPr/>
        </p:nvSpPr>
        <p:spPr>
          <a:xfrm>
            <a:off x="6400800" y="1481328"/>
            <a:ext cx="5285232" cy="457200"/>
          </a:xfrm>
          <a:prstGeom prst="roundRect">
            <a:avLst>
              <a:gd name="adj" fmla="val 14000"/>
            </a:avLst>
          </a:prstGeom>
          <a:solidFill>
            <a:srgbClr val="0D9488"/>
          </a:solidFill>
          <a:ln/>
        </p:spPr>
      </p:sp>
      <p:sp>
        <p:nvSpPr>
          <p:cNvPr id="24" name="Text 22"/>
          <p:cNvSpPr/>
          <p:nvPr/>
        </p:nvSpPr>
        <p:spPr>
          <a:xfrm>
            <a:off x="6629400" y="1481328"/>
            <a:ext cx="4846320" cy="457200"/>
          </a:xfrm>
          <a:prstGeom prst="rect">
            <a:avLst/>
          </a:prstGeom>
          <a:noFill/>
          <a:ln/>
        </p:spPr>
        <p:txBody>
          <a:bodyPr wrap="square" lIns="0" tIns="0" rIns="0" bIns="0" rtlCol="0" anchor="ctr"/>
          <a:lstStyle/>
          <a:p>
            <a:pPr indent="0" marL="0">
              <a:buNone/>
            </a:pPr>
            <a:r>
              <a:rPr lang="en-US" sz="1100" b="1" spc="150" kern="0" dirty="0">
                <a:solidFill>
                  <a:srgbClr val="FFFFFF"/>
                </a:solidFill>
                <a:latin typeface="Courier New" pitchFamily="34" charset="0"/>
                <a:ea typeface="Courier New" pitchFamily="34" charset="-122"/>
                <a:cs typeface="Courier New" pitchFamily="34" charset="-120"/>
              </a:rPr>
              <a:t>THE WORKFLOW — END TO END</a:t>
            </a:r>
            <a:endParaRPr lang="en-US" sz="1100" dirty="0"/>
          </a:p>
        </p:txBody>
      </p:sp>
      <p:sp>
        <p:nvSpPr>
          <p:cNvPr id="25" name="Shape 23"/>
          <p:cNvSpPr/>
          <p:nvPr/>
        </p:nvSpPr>
        <p:spPr>
          <a:xfrm>
            <a:off x="6629400" y="2103120"/>
            <a:ext cx="365760" cy="365760"/>
          </a:xfrm>
          <a:prstGeom prst="roundRect">
            <a:avLst>
              <a:gd name="adj" fmla="val 20000"/>
            </a:avLst>
          </a:prstGeom>
          <a:solidFill>
            <a:srgbClr val="0D1F33"/>
          </a:solidFill>
          <a:ln/>
        </p:spPr>
      </p:sp>
      <p:sp>
        <p:nvSpPr>
          <p:cNvPr id="26" name="Text 24"/>
          <p:cNvSpPr/>
          <p:nvPr/>
        </p:nvSpPr>
        <p:spPr>
          <a:xfrm>
            <a:off x="6629400" y="21031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a:t>
            </a:r>
            <a:endParaRPr lang="en-US" sz="1200" dirty="0"/>
          </a:p>
        </p:txBody>
      </p:sp>
      <p:sp>
        <p:nvSpPr>
          <p:cNvPr id="27" name="Shape 25"/>
          <p:cNvSpPr/>
          <p:nvPr/>
        </p:nvSpPr>
        <p:spPr>
          <a:xfrm>
            <a:off x="6812280" y="2487168"/>
            <a:ext cx="0" cy="146304"/>
          </a:xfrm>
          <a:prstGeom prst="line">
            <a:avLst/>
          </a:prstGeom>
          <a:noFill/>
          <a:ln w="15240">
            <a:solidFill>
              <a:srgbClr val="9FB0C2"/>
            </a:solidFill>
            <a:prstDash val="solid"/>
          </a:ln>
        </p:spPr>
      </p:sp>
      <p:sp>
        <p:nvSpPr>
          <p:cNvPr id="28" name="Text 26"/>
          <p:cNvSpPr/>
          <p:nvPr/>
        </p:nvSpPr>
        <p:spPr>
          <a:xfrm>
            <a:off x="7132320" y="2093976"/>
            <a:ext cx="4434840" cy="530352"/>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Query in  </a:t>
            </a:r>
            <a:pPr indent="0" marL="0">
              <a:buNone/>
            </a:pPr>
            <a:r>
              <a:rPr lang="en-US" sz="980" dirty="0">
                <a:solidFill>
                  <a:srgbClr val="5B6B7F"/>
                </a:solidFill>
                <a:latin typeface="Arial" pitchFamily="34" charset="0"/>
                <a:ea typeface="Arial" pitchFamily="34" charset="-122"/>
                <a:cs typeface="Arial" pitchFamily="34" charset="-120"/>
              </a:rPr>
              <a:t>part name / commodity / powertrain / segment lens — "brake disc", "EDU stator", Off-Road</a:t>
            </a:r>
            <a:endParaRPr lang="en-US" sz="980" dirty="0"/>
          </a:p>
        </p:txBody>
      </p:sp>
      <p:sp>
        <p:nvSpPr>
          <p:cNvPr id="29" name="Shape 27"/>
          <p:cNvSpPr/>
          <p:nvPr/>
        </p:nvSpPr>
        <p:spPr>
          <a:xfrm>
            <a:off x="6629400" y="2647188"/>
            <a:ext cx="365760" cy="365760"/>
          </a:xfrm>
          <a:prstGeom prst="roundRect">
            <a:avLst>
              <a:gd name="adj" fmla="val 20000"/>
            </a:avLst>
          </a:prstGeom>
          <a:solidFill>
            <a:srgbClr val="0D1F33"/>
          </a:solidFill>
          <a:ln/>
        </p:spPr>
      </p:sp>
      <p:sp>
        <p:nvSpPr>
          <p:cNvPr id="30" name="Text 28"/>
          <p:cNvSpPr/>
          <p:nvPr/>
        </p:nvSpPr>
        <p:spPr>
          <a:xfrm>
            <a:off x="6629400" y="26471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a:t>
            </a:r>
            <a:endParaRPr lang="en-US" sz="1200" dirty="0"/>
          </a:p>
        </p:txBody>
      </p:sp>
      <p:sp>
        <p:nvSpPr>
          <p:cNvPr id="31" name="Shape 29"/>
          <p:cNvSpPr/>
          <p:nvPr/>
        </p:nvSpPr>
        <p:spPr>
          <a:xfrm>
            <a:off x="6812280" y="3031236"/>
            <a:ext cx="0" cy="146304"/>
          </a:xfrm>
          <a:prstGeom prst="line">
            <a:avLst/>
          </a:prstGeom>
          <a:noFill/>
          <a:ln w="15240">
            <a:solidFill>
              <a:srgbClr val="9FB0C2"/>
            </a:solidFill>
            <a:prstDash val="solid"/>
          </a:ln>
        </p:spPr>
      </p:sp>
      <p:sp>
        <p:nvSpPr>
          <p:cNvPr id="32" name="Text 30"/>
          <p:cNvSpPr/>
          <p:nvPr/>
        </p:nvSpPr>
        <p:spPr>
          <a:xfrm>
            <a:off x="7132320" y="2638044"/>
            <a:ext cx="4434840" cy="530352"/>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Register match  </a:t>
            </a:r>
            <a:pPr indent="0" marL="0">
              <a:buNone/>
            </a:pPr>
            <a:r>
              <a:rPr lang="en-US" sz="980" dirty="0">
                <a:solidFill>
                  <a:srgbClr val="5B6B7F"/>
                </a:solidFill>
                <a:latin typeface="Arial" pitchFamily="34" charset="0"/>
                <a:ea typeface="Arial" pitchFamily="34" charset="-122"/>
                <a:cs typeface="Arial" pitchFamily="34" charset="-120"/>
              </a:rPr>
              <a:t>search-term + commodity-classifier resolution against the 139 curated technologies</a:t>
            </a:r>
            <a:endParaRPr lang="en-US" sz="980" dirty="0"/>
          </a:p>
        </p:txBody>
      </p:sp>
      <p:sp>
        <p:nvSpPr>
          <p:cNvPr id="33" name="Shape 31"/>
          <p:cNvSpPr/>
          <p:nvPr/>
        </p:nvSpPr>
        <p:spPr>
          <a:xfrm>
            <a:off x="6629400" y="3191256"/>
            <a:ext cx="365760" cy="365760"/>
          </a:xfrm>
          <a:prstGeom prst="roundRect">
            <a:avLst>
              <a:gd name="adj" fmla="val 20000"/>
            </a:avLst>
          </a:prstGeom>
          <a:solidFill>
            <a:srgbClr val="0D1F33"/>
          </a:solidFill>
          <a:ln/>
        </p:spPr>
      </p:sp>
      <p:sp>
        <p:nvSpPr>
          <p:cNvPr id="34" name="Text 32"/>
          <p:cNvSpPr/>
          <p:nvPr/>
        </p:nvSpPr>
        <p:spPr>
          <a:xfrm>
            <a:off x="6629400" y="31912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3</a:t>
            </a:r>
            <a:endParaRPr lang="en-US" sz="1200" dirty="0"/>
          </a:p>
        </p:txBody>
      </p:sp>
      <p:sp>
        <p:nvSpPr>
          <p:cNvPr id="35" name="Shape 33"/>
          <p:cNvSpPr/>
          <p:nvPr/>
        </p:nvSpPr>
        <p:spPr>
          <a:xfrm>
            <a:off x="6812280" y="3575304"/>
            <a:ext cx="0" cy="146304"/>
          </a:xfrm>
          <a:prstGeom prst="line">
            <a:avLst/>
          </a:prstGeom>
          <a:noFill/>
          <a:ln w="15240">
            <a:solidFill>
              <a:srgbClr val="9FB0C2"/>
            </a:solidFill>
            <a:prstDash val="solid"/>
          </a:ln>
        </p:spPr>
      </p:sp>
      <p:sp>
        <p:nvSpPr>
          <p:cNvPr id="36" name="Text 34"/>
          <p:cNvSpPr/>
          <p:nvPr/>
        </p:nvSpPr>
        <p:spPr>
          <a:xfrm>
            <a:off x="7132320" y="3182112"/>
            <a:ext cx="4434840" cy="530352"/>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Cores compute  </a:t>
            </a:r>
            <a:pPr indent="0" marL="0">
              <a:buNone/>
            </a:pPr>
            <a:r>
              <a:rPr lang="en-US" sz="980" dirty="0">
                <a:solidFill>
                  <a:srgbClr val="5B6B7F"/>
                </a:solidFill>
                <a:latin typeface="Arial" pitchFamily="34" charset="0"/>
                <a:ea typeface="Arial" pitchFamily="34" charset="-122"/>
                <a:cs typeface="Arial" pitchFamily="34" charset="-120"/>
              </a:rPr>
              <a:t>S-curve phase · horizon lane · Bass adoption paths · Wright cost index · momentum · crossing years</a:t>
            </a:r>
            <a:endParaRPr lang="en-US" sz="980" dirty="0"/>
          </a:p>
        </p:txBody>
      </p:sp>
      <p:sp>
        <p:nvSpPr>
          <p:cNvPr id="37" name="Shape 35"/>
          <p:cNvSpPr/>
          <p:nvPr/>
        </p:nvSpPr>
        <p:spPr>
          <a:xfrm>
            <a:off x="6629400" y="3735324"/>
            <a:ext cx="365760" cy="365760"/>
          </a:xfrm>
          <a:prstGeom prst="roundRect">
            <a:avLst>
              <a:gd name="adj" fmla="val 20000"/>
            </a:avLst>
          </a:prstGeom>
          <a:solidFill>
            <a:srgbClr val="0D1F33"/>
          </a:solidFill>
          <a:ln/>
        </p:spPr>
      </p:sp>
      <p:sp>
        <p:nvSpPr>
          <p:cNvPr id="38" name="Text 36"/>
          <p:cNvSpPr/>
          <p:nvPr/>
        </p:nvSpPr>
        <p:spPr>
          <a:xfrm>
            <a:off x="6629400" y="37353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4</a:t>
            </a:r>
            <a:endParaRPr lang="en-US" sz="1200" dirty="0"/>
          </a:p>
        </p:txBody>
      </p:sp>
      <p:sp>
        <p:nvSpPr>
          <p:cNvPr id="39" name="Shape 37"/>
          <p:cNvSpPr/>
          <p:nvPr/>
        </p:nvSpPr>
        <p:spPr>
          <a:xfrm>
            <a:off x="6812280" y="4119372"/>
            <a:ext cx="0" cy="146304"/>
          </a:xfrm>
          <a:prstGeom prst="line">
            <a:avLst/>
          </a:prstGeom>
          <a:noFill/>
          <a:ln w="15240">
            <a:solidFill>
              <a:srgbClr val="9FB0C2"/>
            </a:solidFill>
            <a:prstDash val="solid"/>
          </a:ln>
        </p:spPr>
      </p:sp>
      <p:sp>
        <p:nvSpPr>
          <p:cNvPr id="40" name="Text 38"/>
          <p:cNvSpPr/>
          <p:nvPr/>
        </p:nvSpPr>
        <p:spPr>
          <a:xfrm>
            <a:off x="7132320" y="3726180"/>
            <a:ext cx="4434840" cy="530352"/>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Honesty gates  </a:t>
            </a:r>
            <a:pPr indent="0" marL="0">
              <a:buNone/>
            </a:pPr>
            <a:r>
              <a:rPr lang="en-US" sz="980" dirty="0">
                <a:solidFill>
                  <a:srgbClr val="5B6B7F"/>
                </a:solidFill>
                <a:latin typeface="Arial" pitchFamily="34" charset="0"/>
                <a:ea typeface="Arial" pitchFamily="34" charset="-122"/>
                <a:cs typeface="Arial" pitchFamily="34" charset="-120"/>
              </a:rPr>
              <a:t>confidence tiers · only real law pulls a lane · ceilings cap niche techs · bands on every date</a:t>
            </a:r>
            <a:endParaRPr lang="en-US" sz="980" dirty="0"/>
          </a:p>
        </p:txBody>
      </p:sp>
      <p:sp>
        <p:nvSpPr>
          <p:cNvPr id="41" name="Shape 39"/>
          <p:cNvSpPr/>
          <p:nvPr/>
        </p:nvSpPr>
        <p:spPr>
          <a:xfrm>
            <a:off x="6629400" y="4279392"/>
            <a:ext cx="365760" cy="365760"/>
          </a:xfrm>
          <a:prstGeom prst="roundRect">
            <a:avLst>
              <a:gd name="adj" fmla="val 20000"/>
            </a:avLst>
          </a:prstGeom>
          <a:solidFill>
            <a:srgbClr val="0D1F33"/>
          </a:solidFill>
          <a:ln/>
        </p:spPr>
      </p:sp>
      <p:sp>
        <p:nvSpPr>
          <p:cNvPr id="42" name="Text 40"/>
          <p:cNvSpPr/>
          <p:nvPr/>
        </p:nvSpPr>
        <p:spPr>
          <a:xfrm>
            <a:off x="6629400" y="42793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5</a:t>
            </a:r>
            <a:endParaRPr lang="en-US" sz="1200" dirty="0"/>
          </a:p>
        </p:txBody>
      </p:sp>
      <p:sp>
        <p:nvSpPr>
          <p:cNvPr id="43" name="Shape 41"/>
          <p:cNvSpPr/>
          <p:nvPr/>
        </p:nvSpPr>
        <p:spPr>
          <a:xfrm>
            <a:off x="6812280" y="4663440"/>
            <a:ext cx="0" cy="146304"/>
          </a:xfrm>
          <a:prstGeom prst="line">
            <a:avLst/>
          </a:prstGeom>
          <a:noFill/>
          <a:ln w="15240">
            <a:solidFill>
              <a:srgbClr val="9FB0C2"/>
            </a:solidFill>
            <a:prstDash val="solid"/>
          </a:ln>
        </p:spPr>
      </p:sp>
      <p:sp>
        <p:nvSpPr>
          <p:cNvPr id="44" name="Text 42"/>
          <p:cNvSpPr/>
          <p:nvPr/>
        </p:nvSpPr>
        <p:spPr>
          <a:xfrm>
            <a:off x="7132320" y="4270248"/>
            <a:ext cx="4434840" cy="530352"/>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Evidence (optional)  </a:t>
            </a:r>
            <a:pPr indent="0" marL="0">
              <a:buNone/>
            </a:pPr>
            <a:r>
              <a:rPr lang="en-US" sz="980" dirty="0">
                <a:solidFill>
                  <a:srgbClr val="5B6B7F"/>
                </a:solidFill>
                <a:latin typeface="Arial" pitchFamily="34" charset="0"/>
                <a:ea typeface="Arial" pitchFamily="34" charset="-122"/>
                <a:cs typeface="Arial" pitchFamily="34" charset="-120"/>
              </a:rPr>
              <a:t>patent-velocity trend · cite-or-drop deep research · 3-persona expert panel</a:t>
            </a:r>
            <a:endParaRPr lang="en-US" sz="980" dirty="0"/>
          </a:p>
        </p:txBody>
      </p:sp>
      <p:sp>
        <p:nvSpPr>
          <p:cNvPr id="45" name="Shape 43"/>
          <p:cNvSpPr/>
          <p:nvPr/>
        </p:nvSpPr>
        <p:spPr>
          <a:xfrm>
            <a:off x="6629400" y="4823460"/>
            <a:ext cx="365760" cy="365760"/>
          </a:xfrm>
          <a:prstGeom prst="roundRect">
            <a:avLst>
              <a:gd name="adj" fmla="val 20000"/>
            </a:avLst>
          </a:prstGeom>
          <a:solidFill>
            <a:srgbClr val="0D1F33"/>
          </a:solidFill>
          <a:ln/>
        </p:spPr>
      </p:sp>
      <p:sp>
        <p:nvSpPr>
          <p:cNvPr id="46" name="Text 44"/>
          <p:cNvSpPr/>
          <p:nvPr/>
        </p:nvSpPr>
        <p:spPr>
          <a:xfrm>
            <a:off x="6629400" y="48234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6</a:t>
            </a:r>
            <a:endParaRPr lang="en-US" sz="1200" dirty="0"/>
          </a:p>
        </p:txBody>
      </p:sp>
      <p:sp>
        <p:nvSpPr>
          <p:cNvPr id="47" name="Shape 45"/>
          <p:cNvSpPr/>
          <p:nvPr/>
        </p:nvSpPr>
        <p:spPr>
          <a:xfrm>
            <a:off x="6812280" y="5207508"/>
            <a:ext cx="0" cy="146304"/>
          </a:xfrm>
          <a:prstGeom prst="line">
            <a:avLst/>
          </a:prstGeom>
          <a:noFill/>
          <a:ln w="15240">
            <a:solidFill>
              <a:srgbClr val="9FB0C2"/>
            </a:solidFill>
            <a:prstDash val="solid"/>
          </a:ln>
        </p:spPr>
      </p:sp>
      <p:sp>
        <p:nvSpPr>
          <p:cNvPr id="48" name="Text 46"/>
          <p:cNvSpPr/>
          <p:nvPr/>
        </p:nvSpPr>
        <p:spPr>
          <a:xfrm>
            <a:off x="7132320" y="4814316"/>
            <a:ext cx="4434840" cy="530352"/>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Outputs  </a:t>
            </a:r>
            <a:pPr indent="0" marL="0">
              <a:buNone/>
            </a:pPr>
            <a:r>
              <a:rPr lang="en-US" sz="980" dirty="0">
                <a:solidFill>
                  <a:srgbClr val="5B6B7F"/>
                </a:solidFill>
                <a:latin typeface="Arial" pitchFamily="34" charset="0"/>
                <a:ea typeface="Arial" pitchFamily="34" charset="-122"/>
                <a:cs typeface="Arial" pitchFamily="34" charset="-120"/>
              </a:rPr>
              <a:t>horizon-lane view · Foresight Report PDF · Prediction Ledger snapshot</a:t>
            </a:r>
            <a:endParaRPr lang="en-US" sz="980" dirty="0"/>
          </a:p>
        </p:txBody>
      </p:sp>
      <p:sp>
        <p:nvSpPr>
          <p:cNvPr id="49" name="Shape 47"/>
          <p:cNvSpPr/>
          <p:nvPr/>
        </p:nvSpPr>
        <p:spPr>
          <a:xfrm>
            <a:off x="6629400" y="5367528"/>
            <a:ext cx="365760" cy="365760"/>
          </a:xfrm>
          <a:prstGeom prst="roundRect">
            <a:avLst>
              <a:gd name="adj" fmla="val 20000"/>
            </a:avLst>
          </a:prstGeom>
          <a:solidFill>
            <a:srgbClr val="F59E0B"/>
          </a:solidFill>
          <a:ln/>
        </p:spPr>
      </p:sp>
      <p:sp>
        <p:nvSpPr>
          <p:cNvPr id="50" name="Text 48"/>
          <p:cNvSpPr/>
          <p:nvPr/>
        </p:nvSpPr>
        <p:spPr>
          <a:xfrm>
            <a:off x="6629400" y="5367528"/>
            <a:ext cx="365760" cy="365760"/>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7</a:t>
            </a:r>
            <a:endParaRPr lang="en-US" sz="1200" dirty="0"/>
          </a:p>
        </p:txBody>
      </p:sp>
      <p:sp>
        <p:nvSpPr>
          <p:cNvPr id="51" name="Text 49"/>
          <p:cNvSpPr/>
          <p:nvPr/>
        </p:nvSpPr>
        <p:spPr>
          <a:xfrm>
            <a:off x="7132320" y="5358384"/>
            <a:ext cx="4434840" cy="530352"/>
          </a:xfrm>
          <a:prstGeom prst="rect">
            <a:avLst/>
          </a:prstGeom>
          <a:noFill/>
          <a:ln/>
        </p:spPr>
        <p:txBody>
          <a:bodyPr wrap="square" lIns="0" tIns="0" rIns="0" bIns="0" rtlCol="0" anchor="ctr"/>
          <a:lstStyle/>
          <a:p>
            <a:pPr indent="0" marL="0">
              <a:buNone/>
            </a:pPr>
            <a:r>
              <a:rPr lang="en-US" sz="980" b="1" dirty="0">
                <a:solidFill>
                  <a:srgbClr val="0D1F33"/>
                </a:solidFill>
                <a:latin typeface="Arial" pitchFamily="34" charset="0"/>
                <a:ea typeface="Arial" pitchFamily="34" charset="-122"/>
                <a:cs typeface="Arial" pitchFamily="34" charset="-120"/>
              </a:rPr>
              <a:t>Learning loop  </a:t>
            </a:r>
            <a:pPr indent="0" marL="0">
              <a:buNone/>
            </a:pPr>
            <a:r>
              <a:rPr lang="en-US" sz="980" dirty="0">
                <a:solidFill>
                  <a:srgbClr val="5B6B7F"/>
                </a:solidFill>
                <a:latin typeface="Arial" pitchFamily="34" charset="0"/>
                <a:ea typeface="Arial" pitchFamily="34" charset="-122"/>
                <a:cs typeface="Arial" pitchFamily="34" charset="-120"/>
              </a:rPr>
              <a:t>quarterly re-curation → ledger scores the old forecasts → register improves</a:t>
            </a:r>
            <a:endParaRPr lang="en-US" sz="980" dirty="0"/>
          </a:p>
        </p:txBody>
      </p:sp>
      <p:sp>
        <p:nvSpPr>
          <p:cNvPr id="52" name="Text 50"/>
          <p:cNvSpPr/>
          <p:nvPr/>
        </p:nvSpPr>
        <p:spPr>
          <a:xfrm>
            <a:off x="502920" y="6199632"/>
            <a:ext cx="11155680" cy="320040"/>
          </a:xfrm>
          <a:prstGeom prst="rect">
            <a:avLst/>
          </a:prstGeom>
          <a:noFill/>
          <a:ln/>
        </p:spPr>
        <p:txBody>
          <a:bodyPr wrap="square" rtlCol="0" anchor="ctr"/>
          <a:lstStyle/>
          <a:p>
            <a:pPr algn="ctr" indent="0" marL="0">
              <a:buNone/>
            </a:pPr>
            <a:r>
              <a:rPr lang="en-US" sz="950" dirty="0">
                <a:solidFill>
                  <a:srgbClr val="5B6B7F"/>
                </a:solidFill>
                <a:latin typeface="Courier New" pitchFamily="34" charset="0"/>
                <a:ea typeface="Courier New" pitchFamily="34" charset="-122"/>
                <a:cs typeface="Courier New" pitchFamily="34" charset="-120"/>
              </a:rPr>
              <a:t>Stack: deterministic JavaScript engines · curated evidence register · SQLite ledger · Claude LLM (schema-forced, grounded) · PatentsView + web retrieval · React UI — locked by 326 CI tests.</a:t>
            </a:r>
            <a:endParaRPr lang="en-US" sz="950" dirty="0"/>
          </a:p>
        </p:txBody>
      </p:sp>
      <p:sp>
        <p:nvSpPr>
          <p:cNvPr id="53" name="Text 51"/>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5/16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711757" cy="329184"/>
          </a:xfrm>
          <a:prstGeom prst="roundRect">
            <a:avLst>
              <a:gd name="adj" fmla="val 50000"/>
            </a:avLst>
          </a:prstGeom>
          <a:solidFill>
            <a:srgbClr val="0D1F33"/>
          </a:solidFill>
          <a:ln/>
        </p:spPr>
      </p:sp>
      <p:sp>
        <p:nvSpPr>
          <p:cNvPr id="3" name="Text 1"/>
          <p:cNvSpPr/>
          <p:nvPr/>
        </p:nvSpPr>
        <p:spPr>
          <a:xfrm>
            <a:off x="502920" y="347472"/>
            <a:ext cx="1711757"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THE DIFFERENCE</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This is not "ask an AI and hope"</a:t>
            </a:r>
            <a:endParaRPr lang="en-US" sz="2800" dirty="0"/>
          </a:p>
        </p:txBody>
      </p:sp>
      <p:sp>
        <p:nvSpPr>
          <p:cNvPr id="5" name="Shape 3"/>
          <p:cNvSpPr/>
          <p:nvPr/>
        </p:nvSpPr>
        <p:spPr>
          <a:xfrm>
            <a:off x="502920" y="1463040"/>
            <a:ext cx="5394960" cy="4206240"/>
          </a:xfrm>
          <a:prstGeom prst="roundRect">
            <a:avLst>
              <a:gd name="adj" fmla="val 1522"/>
            </a:avLst>
          </a:prstGeom>
          <a:solidFill>
            <a:srgbClr val="FCEFEE"/>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6" name="Shape 4"/>
          <p:cNvSpPr/>
          <p:nvPr/>
        </p:nvSpPr>
        <p:spPr>
          <a:xfrm>
            <a:off x="777240" y="1691640"/>
            <a:ext cx="2651760" cy="384048"/>
          </a:xfrm>
          <a:prstGeom prst="roundRect">
            <a:avLst>
              <a:gd name="adj" fmla="val 50000"/>
            </a:avLst>
          </a:prstGeom>
          <a:solidFill>
            <a:srgbClr val="B91C1C"/>
          </a:solidFill>
          <a:ln/>
        </p:spPr>
      </p:sp>
      <p:sp>
        <p:nvSpPr>
          <p:cNvPr id="7" name="Text 5"/>
          <p:cNvSpPr/>
          <p:nvPr/>
        </p:nvSpPr>
        <p:spPr>
          <a:xfrm>
            <a:off x="777240" y="1691640"/>
            <a:ext cx="2651760" cy="38404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ourier New" pitchFamily="34" charset="0"/>
                <a:ea typeface="Courier New" pitchFamily="34" charset="-122"/>
                <a:cs typeface="Courier New" pitchFamily="34" charset="-120"/>
              </a:rPr>
              <a:t>TYPICAL AI CHAT / SEARCH</a:t>
            </a:r>
            <a:endParaRPr lang="en-US" sz="1000" dirty="0"/>
          </a:p>
        </p:txBody>
      </p:sp>
      <p:pic>
        <p:nvPicPr>
          <p:cNvPr id="8" name="Image 0" descr="preencoded.png">    </p:cNvPr>
          <p:cNvPicPr>
            <a:picLocks noChangeAspect="1"/>
          </p:cNvPicPr>
          <p:nvPr/>
        </p:nvPicPr>
        <p:blipFill>
          <a:blip r:embed="rId1"/>
          <a:stretch>
            <a:fillRect/>
          </a:stretch>
        </p:blipFill>
        <p:spPr>
          <a:xfrm>
            <a:off x="822960" y="2304288"/>
            <a:ext cx="274320" cy="274320"/>
          </a:xfrm>
          <a:prstGeom prst="rect">
            <a:avLst/>
          </a:prstGeom>
        </p:spPr>
      </p:pic>
      <p:sp>
        <p:nvSpPr>
          <p:cNvPr id="9" name="Text 6"/>
          <p:cNvSpPr/>
          <p:nvPr/>
        </p:nvSpPr>
        <p:spPr>
          <a:xfrm>
            <a:off x="1234440" y="2249424"/>
            <a:ext cx="4480560" cy="274320"/>
          </a:xfrm>
          <a:prstGeom prst="rect">
            <a:avLst/>
          </a:prstGeom>
          <a:noFill/>
          <a:ln/>
        </p:spPr>
        <p:txBody>
          <a:bodyPr wrap="square" lIns="0" tIns="0" rIns="0" bIns="0" rtlCol="0" anchor="ctr"/>
          <a:lstStyle/>
          <a:p>
            <a:pPr indent="0" marL="0">
              <a:buNone/>
            </a:pPr>
            <a:r>
              <a:rPr lang="en-US" sz="1300" b="1" dirty="0">
                <a:solidFill>
                  <a:srgbClr val="0D1F33"/>
                </a:solidFill>
                <a:latin typeface="Arial" pitchFamily="34" charset="0"/>
                <a:ea typeface="Arial" pitchFamily="34" charset="-122"/>
                <a:cs typeface="Arial" pitchFamily="34" charset="-120"/>
              </a:rPr>
              <a:t>Plausible prose, invented numbers</a:t>
            </a:r>
            <a:endParaRPr lang="en-US" sz="1300" dirty="0"/>
          </a:p>
        </p:txBody>
      </p:sp>
      <p:sp>
        <p:nvSpPr>
          <p:cNvPr id="10" name="Text 7"/>
          <p:cNvSpPr/>
          <p:nvPr/>
        </p:nvSpPr>
        <p:spPr>
          <a:xfrm>
            <a:off x="1234440" y="2505456"/>
            <a:ext cx="4480560" cy="3200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Adoption figures and dates hallucinated on the spot</a:t>
            </a:r>
            <a:endParaRPr lang="en-US" sz="1050" dirty="0"/>
          </a:p>
        </p:txBody>
      </p:sp>
      <p:pic>
        <p:nvPicPr>
          <p:cNvPr id="11" name="Image 1" descr="preencoded.png">    </p:cNvPr>
          <p:cNvPicPr>
            <a:picLocks noChangeAspect="1"/>
          </p:cNvPicPr>
          <p:nvPr/>
        </p:nvPicPr>
        <p:blipFill>
          <a:blip r:embed="rId2"/>
          <a:stretch>
            <a:fillRect/>
          </a:stretch>
        </p:blipFill>
        <p:spPr>
          <a:xfrm>
            <a:off x="822960" y="3127248"/>
            <a:ext cx="274320" cy="274320"/>
          </a:xfrm>
          <a:prstGeom prst="rect">
            <a:avLst/>
          </a:prstGeom>
        </p:spPr>
      </p:pic>
      <p:sp>
        <p:nvSpPr>
          <p:cNvPr id="12" name="Text 8"/>
          <p:cNvSpPr/>
          <p:nvPr/>
        </p:nvSpPr>
        <p:spPr>
          <a:xfrm>
            <a:off x="1234440" y="3072384"/>
            <a:ext cx="4480560" cy="274320"/>
          </a:xfrm>
          <a:prstGeom prst="rect">
            <a:avLst/>
          </a:prstGeom>
          <a:noFill/>
          <a:ln/>
        </p:spPr>
        <p:txBody>
          <a:bodyPr wrap="square" lIns="0" tIns="0" rIns="0" bIns="0" rtlCol="0" anchor="ctr"/>
          <a:lstStyle/>
          <a:p>
            <a:pPr indent="0" marL="0">
              <a:buNone/>
            </a:pPr>
            <a:r>
              <a:rPr lang="en-US" sz="1300" b="1" dirty="0">
                <a:solidFill>
                  <a:srgbClr val="0D1F33"/>
                </a:solidFill>
                <a:latin typeface="Arial" pitchFamily="34" charset="0"/>
                <a:ea typeface="Arial" pitchFamily="34" charset="-122"/>
                <a:cs typeface="Arial" pitchFamily="34" charset="-120"/>
              </a:rPr>
              <a:t>No evidence trail</a:t>
            </a:r>
            <a:endParaRPr lang="en-US" sz="1300" dirty="0"/>
          </a:p>
        </p:txBody>
      </p:sp>
      <p:sp>
        <p:nvSpPr>
          <p:cNvPr id="13" name="Text 9"/>
          <p:cNvSpPr/>
          <p:nvPr/>
        </p:nvSpPr>
        <p:spPr>
          <a:xfrm>
            <a:off x="1234440" y="3328416"/>
            <a:ext cx="4480560" cy="3200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You cannot audit where any claim came from</a:t>
            </a:r>
            <a:endParaRPr lang="en-US" sz="1050" dirty="0"/>
          </a:p>
        </p:txBody>
      </p:sp>
      <p:pic>
        <p:nvPicPr>
          <p:cNvPr id="14" name="Image 2" descr="preencoded.png">    </p:cNvPr>
          <p:cNvPicPr>
            <a:picLocks noChangeAspect="1"/>
          </p:cNvPicPr>
          <p:nvPr/>
        </p:nvPicPr>
        <p:blipFill>
          <a:blip r:embed="rId3"/>
          <a:stretch>
            <a:fillRect/>
          </a:stretch>
        </p:blipFill>
        <p:spPr>
          <a:xfrm>
            <a:off x="822960" y="3950208"/>
            <a:ext cx="274320" cy="274320"/>
          </a:xfrm>
          <a:prstGeom prst="rect">
            <a:avLst/>
          </a:prstGeom>
        </p:spPr>
      </p:pic>
      <p:sp>
        <p:nvSpPr>
          <p:cNvPr id="15" name="Text 10"/>
          <p:cNvSpPr/>
          <p:nvPr/>
        </p:nvSpPr>
        <p:spPr>
          <a:xfrm>
            <a:off x="1234440" y="3895344"/>
            <a:ext cx="4480560" cy="274320"/>
          </a:xfrm>
          <a:prstGeom prst="rect">
            <a:avLst/>
          </a:prstGeom>
          <a:noFill/>
          <a:ln/>
        </p:spPr>
        <p:txBody>
          <a:bodyPr wrap="square" lIns="0" tIns="0" rIns="0" bIns="0" rtlCol="0" anchor="ctr"/>
          <a:lstStyle/>
          <a:p>
            <a:pPr indent="0" marL="0">
              <a:buNone/>
            </a:pPr>
            <a:r>
              <a:rPr lang="en-US" sz="1300" b="1" dirty="0">
                <a:solidFill>
                  <a:srgbClr val="0D1F33"/>
                </a:solidFill>
                <a:latin typeface="Arial" pitchFamily="34" charset="0"/>
                <a:ea typeface="Arial" pitchFamily="34" charset="-122"/>
                <a:cs typeface="Arial" pitchFamily="34" charset="-120"/>
              </a:rPr>
              <a:t>Different answer every run</a:t>
            </a:r>
            <a:endParaRPr lang="en-US" sz="1300" dirty="0"/>
          </a:p>
        </p:txBody>
      </p:sp>
      <p:sp>
        <p:nvSpPr>
          <p:cNvPr id="16" name="Text 11"/>
          <p:cNvSpPr/>
          <p:nvPr/>
        </p:nvSpPr>
        <p:spPr>
          <a:xfrm>
            <a:off x="1234440" y="4151376"/>
            <a:ext cx="4480560" cy="3200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Nothing to track, score, or hold accountable</a:t>
            </a:r>
            <a:endParaRPr lang="en-US" sz="1050" dirty="0"/>
          </a:p>
        </p:txBody>
      </p:sp>
      <p:pic>
        <p:nvPicPr>
          <p:cNvPr id="17" name="Image 3" descr="preencoded.png">    </p:cNvPr>
          <p:cNvPicPr>
            <a:picLocks noChangeAspect="1"/>
          </p:cNvPicPr>
          <p:nvPr/>
        </p:nvPicPr>
        <p:blipFill>
          <a:blip r:embed="rId4"/>
          <a:stretch>
            <a:fillRect/>
          </a:stretch>
        </p:blipFill>
        <p:spPr>
          <a:xfrm>
            <a:off x="822960" y="4773168"/>
            <a:ext cx="274320" cy="274320"/>
          </a:xfrm>
          <a:prstGeom prst="rect">
            <a:avLst/>
          </a:prstGeom>
        </p:spPr>
      </p:pic>
      <p:sp>
        <p:nvSpPr>
          <p:cNvPr id="18" name="Text 12"/>
          <p:cNvSpPr/>
          <p:nvPr/>
        </p:nvSpPr>
        <p:spPr>
          <a:xfrm>
            <a:off x="1234440" y="4718304"/>
            <a:ext cx="4480560" cy="274320"/>
          </a:xfrm>
          <a:prstGeom prst="rect">
            <a:avLst/>
          </a:prstGeom>
          <a:noFill/>
          <a:ln/>
        </p:spPr>
        <p:txBody>
          <a:bodyPr wrap="square" lIns="0" tIns="0" rIns="0" bIns="0" rtlCol="0" anchor="ctr"/>
          <a:lstStyle/>
          <a:p>
            <a:pPr indent="0" marL="0">
              <a:buNone/>
            </a:pPr>
            <a:r>
              <a:rPr lang="en-US" sz="1300" b="1" dirty="0">
                <a:solidFill>
                  <a:srgbClr val="0D1F33"/>
                </a:solidFill>
                <a:latin typeface="Arial" pitchFamily="34" charset="0"/>
                <a:ea typeface="Arial" pitchFamily="34" charset="-122"/>
                <a:cs typeface="Arial" pitchFamily="34" charset="-120"/>
              </a:rPr>
              <a:t>Generic</a:t>
            </a:r>
            <a:endParaRPr lang="en-US" sz="1300" dirty="0"/>
          </a:p>
        </p:txBody>
      </p:sp>
      <p:sp>
        <p:nvSpPr>
          <p:cNvPr id="19" name="Text 13"/>
          <p:cNvSpPr/>
          <p:nvPr/>
        </p:nvSpPr>
        <p:spPr>
          <a:xfrm>
            <a:off x="1234440" y="4974336"/>
            <a:ext cx="4480560" cy="3200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No automotive TRL, no regulation dates, no segment context</a:t>
            </a:r>
            <a:endParaRPr lang="en-US" sz="1050" dirty="0"/>
          </a:p>
        </p:txBody>
      </p:sp>
      <p:sp>
        <p:nvSpPr>
          <p:cNvPr id="20" name="Shape 14"/>
          <p:cNvSpPr/>
          <p:nvPr/>
        </p:nvSpPr>
        <p:spPr>
          <a:xfrm>
            <a:off x="6263640" y="1463040"/>
            <a:ext cx="5394960" cy="4206240"/>
          </a:xfrm>
          <a:prstGeom prst="roundRect">
            <a:avLst>
              <a:gd name="adj" fmla="val 1522"/>
            </a:avLst>
          </a:prstGeom>
          <a:solidFill>
            <a:srgbClr val="FBF3E4"/>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21" name="Shape 15"/>
          <p:cNvSpPr/>
          <p:nvPr/>
        </p:nvSpPr>
        <p:spPr>
          <a:xfrm>
            <a:off x="6537960" y="1691640"/>
            <a:ext cx="3017520" cy="384048"/>
          </a:xfrm>
          <a:prstGeom prst="roundRect">
            <a:avLst>
              <a:gd name="adj" fmla="val 50000"/>
            </a:avLst>
          </a:prstGeom>
          <a:solidFill>
            <a:srgbClr val="D97706"/>
          </a:solidFill>
          <a:ln/>
        </p:spPr>
      </p:sp>
      <p:sp>
        <p:nvSpPr>
          <p:cNvPr id="22" name="Text 16"/>
          <p:cNvSpPr/>
          <p:nvPr/>
        </p:nvSpPr>
        <p:spPr>
          <a:xfrm>
            <a:off x="6537960" y="1691640"/>
            <a:ext cx="3017520" cy="38404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ourier New" pitchFamily="34" charset="0"/>
                <a:ea typeface="Courier New" pitchFamily="34" charset="-122"/>
                <a:cs typeface="Courier New" pitchFamily="34" charset="-120"/>
              </a:rPr>
              <a:t>HORIZON FORESIGHT ENGINE</a:t>
            </a:r>
            <a:endParaRPr lang="en-US" sz="1000" dirty="0"/>
          </a:p>
        </p:txBody>
      </p:sp>
      <p:pic>
        <p:nvPicPr>
          <p:cNvPr id="23" name="Image 4" descr="preencoded.png">    </p:cNvPr>
          <p:cNvPicPr>
            <a:picLocks noChangeAspect="1"/>
          </p:cNvPicPr>
          <p:nvPr/>
        </p:nvPicPr>
        <p:blipFill>
          <a:blip r:embed="rId5"/>
          <a:stretch>
            <a:fillRect/>
          </a:stretch>
        </p:blipFill>
        <p:spPr>
          <a:xfrm>
            <a:off x="6583680" y="2258568"/>
            <a:ext cx="274320" cy="274320"/>
          </a:xfrm>
          <a:prstGeom prst="rect">
            <a:avLst/>
          </a:prstGeom>
        </p:spPr>
      </p:pic>
      <p:sp>
        <p:nvSpPr>
          <p:cNvPr id="24" name="Text 17"/>
          <p:cNvSpPr/>
          <p:nvPr/>
        </p:nvSpPr>
        <p:spPr>
          <a:xfrm>
            <a:off x="6995160" y="2203704"/>
            <a:ext cx="4526280" cy="274320"/>
          </a:xfrm>
          <a:prstGeom prst="rect">
            <a:avLst/>
          </a:prstGeom>
          <a:noFill/>
          <a:ln/>
        </p:spPr>
        <p:txBody>
          <a:bodyPr wrap="square" lIns="0" tIns="0" rIns="0" bIns="0" rtlCol="0" anchor="ctr"/>
          <a:lstStyle/>
          <a:p>
            <a:pPr indent="0" marL="0">
              <a:buNone/>
            </a:pPr>
            <a:r>
              <a:rPr lang="en-US" sz="1300" b="1" dirty="0">
                <a:solidFill>
                  <a:srgbClr val="0D1F33"/>
                </a:solidFill>
                <a:latin typeface="Arial" pitchFamily="34" charset="0"/>
                <a:ea typeface="Arial" pitchFamily="34" charset="-122"/>
                <a:cs typeface="Arial" pitchFamily="34" charset="-120"/>
              </a:rPr>
              <a:t>Curated register, not model recall</a:t>
            </a:r>
            <a:endParaRPr lang="en-US" sz="1300" dirty="0"/>
          </a:p>
        </p:txBody>
      </p:sp>
      <p:sp>
        <p:nvSpPr>
          <p:cNvPr id="25" name="Text 18"/>
          <p:cNvSpPr/>
          <p:nvPr/>
        </p:nvSpPr>
        <p:spPr>
          <a:xfrm>
            <a:off x="6995160" y="2459736"/>
            <a:ext cx="4526280" cy="3200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139 technologies with TRL, adoption, production evidence</a:t>
            </a:r>
            <a:endParaRPr lang="en-US" sz="1050" dirty="0"/>
          </a:p>
        </p:txBody>
      </p:sp>
      <p:pic>
        <p:nvPicPr>
          <p:cNvPr id="26" name="Image 5" descr="preencoded.png">    </p:cNvPr>
          <p:cNvPicPr>
            <a:picLocks noChangeAspect="1"/>
          </p:cNvPicPr>
          <p:nvPr/>
        </p:nvPicPr>
        <p:blipFill>
          <a:blip r:embed="rId6"/>
          <a:stretch>
            <a:fillRect/>
          </a:stretch>
        </p:blipFill>
        <p:spPr>
          <a:xfrm>
            <a:off x="6583680" y="2926080"/>
            <a:ext cx="274320" cy="274320"/>
          </a:xfrm>
          <a:prstGeom prst="rect">
            <a:avLst/>
          </a:prstGeom>
        </p:spPr>
      </p:pic>
      <p:sp>
        <p:nvSpPr>
          <p:cNvPr id="27" name="Text 19"/>
          <p:cNvSpPr/>
          <p:nvPr/>
        </p:nvSpPr>
        <p:spPr>
          <a:xfrm>
            <a:off x="6995160" y="2871216"/>
            <a:ext cx="4526280" cy="274320"/>
          </a:xfrm>
          <a:prstGeom prst="rect">
            <a:avLst/>
          </a:prstGeom>
          <a:noFill/>
          <a:ln/>
        </p:spPr>
        <p:txBody>
          <a:bodyPr wrap="square" lIns="0" tIns="0" rIns="0" bIns="0" rtlCol="0" anchor="ctr"/>
          <a:lstStyle/>
          <a:p>
            <a:pPr indent="0" marL="0">
              <a:buNone/>
            </a:pPr>
            <a:r>
              <a:rPr lang="en-US" sz="1300" b="1" dirty="0">
                <a:solidFill>
                  <a:srgbClr val="0D1F33"/>
                </a:solidFill>
                <a:latin typeface="Arial" pitchFamily="34" charset="0"/>
                <a:ea typeface="Arial" pitchFamily="34" charset="-122"/>
                <a:cs typeface="Arial" pitchFamily="34" charset="-120"/>
              </a:rPr>
              <a:t>Numbers from math, not language</a:t>
            </a:r>
            <a:endParaRPr lang="en-US" sz="1300" dirty="0"/>
          </a:p>
        </p:txBody>
      </p:sp>
      <p:sp>
        <p:nvSpPr>
          <p:cNvPr id="28" name="Text 20"/>
          <p:cNvSpPr/>
          <p:nvPr/>
        </p:nvSpPr>
        <p:spPr>
          <a:xfrm>
            <a:off x="6995160" y="3127248"/>
            <a:ext cx="4526280" cy="3200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Bass, Wright, S-curve — deterministic, same answer every time</a:t>
            </a:r>
            <a:endParaRPr lang="en-US" sz="1050" dirty="0"/>
          </a:p>
        </p:txBody>
      </p:sp>
      <p:pic>
        <p:nvPicPr>
          <p:cNvPr id="29" name="Image 6" descr="preencoded.png">    </p:cNvPr>
          <p:cNvPicPr>
            <a:picLocks noChangeAspect="1"/>
          </p:cNvPicPr>
          <p:nvPr/>
        </p:nvPicPr>
        <p:blipFill>
          <a:blip r:embed="rId7"/>
          <a:stretch>
            <a:fillRect/>
          </a:stretch>
        </p:blipFill>
        <p:spPr>
          <a:xfrm>
            <a:off x="6583680" y="3593592"/>
            <a:ext cx="274320" cy="274320"/>
          </a:xfrm>
          <a:prstGeom prst="rect">
            <a:avLst/>
          </a:prstGeom>
        </p:spPr>
      </p:pic>
      <p:sp>
        <p:nvSpPr>
          <p:cNvPr id="30" name="Text 21"/>
          <p:cNvSpPr/>
          <p:nvPr/>
        </p:nvSpPr>
        <p:spPr>
          <a:xfrm>
            <a:off x="6995160" y="3538728"/>
            <a:ext cx="4526280" cy="274320"/>
          </a:xfrm>
          <a:prstGeom prst="rect">
            <a:avLst/>
          </a:prstGeom>
          <a:noFill/>
          <a:ln/>
        </p:spPr>
        <p:txBody>
          <a:bodyPr wrap="square" lIns="0" tIns="0" rIns="0" bIns="0" rtlCol="0" anchor="ctr"/>
          <a:lstStyle/>
          <a:p>
            <a:pPr indent="0" marL="0">
              <a:buNone/>
            </a:pPr>
            <a:r>
              <a:rPr lang="en-US" sz="1300" b="1" dirty="0">
                <a:solidFill>
                  <a:srgbClr val="0D1F33"/>
                </a:solidFill>
                <a:latin typeface="Arial" pitchFamily="34" charset="0"/>
                <a:ea typeface="Arial" pitchFamily="34" charset="-122"/>
                <a:cs typeface="Arial" pitchFamily="34" charset="-120"/>
              </a:rPr>
              <a:t>Honesty built in</a:t>
            </a:r>
            <a:endParaRPr lang="en-US" sz="1300" dirty="0"/>
          </a:p>
        </p:txBody>
      </p:sp>
      <p:sp>
        <p:nvSpPr>
          <p:cNvPr id="31" name="Text 22"/>
          <p:cNvSpPr/>
          <p:nvPr/>
        </p:nvSpPr>
        <p:spPr>
          <a:xfrm>
            <a:off x="6995160" y="3794760"/>
            <a:ext cx="4526280" cy="3200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Confidence tiers · legal status on regulations · "modelled" labels · uncertainty bands</a:t>
            </a:r>
            <a:endParaRPr lang="en-US" sz="1050" dirty="0"/>
          </a:p>
        </p:txBody>
      </p:sp>
      <p:pic>
        <p:nvPicPr>
          <p:cNvPr id="32" name="Image 7" descr="preencoded.png">    </p:cNvPr>
          <p:cNvPicPr>
            <a:picLocks noChangeAspect="1"/>
          </p:cNvPicPr>
          <p:nvPr/>
        </p:nvPicPr>
        <p:blipFill>
          <a:blip r:embed="rId8"/>
          <a:stretch>
            <a:fillRect/>
          </a:stretch>
        </p:blipFill>
        <p:spPr>
          <a:xfrm>
            <a:off x="6583680" y="4261104"/>
            <a:ext cx="274320" cy="274320"/>
          </a:xfrm>
          <a:prstGeom prst="rect">
            <a:avLst/>
          </a:prstGeom>
        </p:spPr>
      </p:pic>
      <p:sp>
        <p:nvSpPr>
          <p:cNvPr id="33" name="Text 23"/>
          <p:cNvSpPr/>
          <p:nvPr/>
        </p:nvSpPr>
        <p:spPr>
          <a:xfrm>
            <a:off x="6995160" y="4206240"/>
            <a:ext cx="4526280" cy="274320"/>
          </a:xfrm>
          <a:prstGeom prst="rect">
            <a:avLst/>
          </a:prstGeom>
          <a:noFill/>
          <a:ln/>
        </p:spPr>
        <p:txBody>
          <a:bodyPr wrap="square" lIns="0" tIns="0" rIns="0" bIns="0" rtlCol="0" anchor="ctr"/>
          <a:lstStyle/>
          <a:p>
            <a:pPr indent="0" marL="0">
              <a:buNone/>
            </a:pPr>
            <a:r>
              <a:rPr lang="en-US" sz="1300" b="1" dirty="0">
                <a:solidFill>
                  <a:srgbClr val="0D1F33"/>
                </a:solidFill>
                <a:latin typeface="Arial" pitchFamily="34" charset="0"/>
                <a:ea typeface="Arial" pitchFamily="34" charset="-122"/>
                <a:cs typeface="Arial" pitchFamily="34" charset="-120"/>
              </a:rPr>
              <a:t>AI grounded, enforced in code</a:t>
            </a:r>
            <a:endParaRPr lang="en-US" sz="1300" dirty="0"/>
          </a:p>
        </p:txBody>
      </p:sp>
      <p:sp>
        <p:nvSpPr>
          <p:cNvPr id="34" name="Text 24"/>
          <p:cNvSpPr/>
          <p:nvPr/>
        </p:nvSpPr>
        <p:spPr>
          <a:xfrm>
            <a:off x="6995160" y="4462272"/>
            <a:ext cx="4526280" cy="3200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Briefings &amp; research must cite retrieved sources — or are dropped</a:t>
            </a:r>
            <a:endParaRPr lang="en-US" sz="1050" dirty="0"/>
          </a:p>
        </p:txBody>
      </p:sp>
      <p:pic>
        <p:nvPicPr>
          <p:cNvPr id="35" name="Image 8" descr="preencoded.png">    </p:cNvPr>
          <p:cNvPicPr>
            <a:picLocks noChangeAspect="1"/>
          </p:cNvPicPr>
          <p:nvPr/>
        </p:nvPicPr>
        <p:blipFill>
          <a:blip r:embed="rId9"/>
          <a:stretch>
            <a:fillRect/>
          </a:stretch>
        </p:blipFill>
        <p:spPr>
          <a:xfrm>
            <a:off x="6583680" y="4928616"/>
            <a:ext cx="274320" cy="274320"/>
          </a:xfrm>
          <a:prstGeom prst="rect">
            <a:avLst/>
          </a:prstGeom>
        </p:spPr>
      </p:pic>
      <p:sp>
        <p:nvSpPr>
          <p:cNvPr id="36" name="Text 25"/>
          <p:cNvSpPr/>
          <p:nvPr/>
        </p:nvSpPr>
        <p:spPr>
          <a:xfrm>
            <a:off x="6995160" y="4873752"/>
            <a:ext cx="4526280" cy="274320"/>
          </a:xfrm>
          <a:prstGeom prst="rect">
            <a:avLst/>
          </a:prstGeom>
          <a:noFill/>
          <a:ln/>
        </p:spPr>
        <p:txBody>
          <a:bodyPr wrap="square" lIns="0" tIns="0" rIns="0" bIns="0" rtlCol="0" anchor="ctr"/>
          <a:lstStyle/>
          <a:p>
            <a:pPr indent="0" marL="0">
              <a:buNone/>
            </a:pPr>
            <a:r>
              <a:rPr lang="en-US" sz="1300" b="1" dirty="0">
                <a:solidFill>
                  <a:srgbClr val="0D1F33"/>
                </a:solidFill>
                <a:latin typeface="Arial" pitchFamily="34" charset="0"/>
                <a:ea typeface="Arial" pitchFamily="34" charset="-122"/>
                <a:cs typeface="Arial" pitchFamily="34" charset="-120"/>
              </a:rPr>
              <a:t>It keeps score on itself</a:t>
            </a:r>
            <a:endParaRPr lang="en-US" sz="1300" dirty="0"/>
          </a:p>
        </p:txBody>
      </p:sp>
      <p:sp>
        <p:nvSpPr>
          <p:cNvPr id="37" name="Text 26"/>
          <p:cNvSpPr/>
          <p:nvPr/>
        </p:nvSpPr>
        <p:spPr>
          <a:xfrm>
            <a:off x="6995160" y="5129784"/>
            <a:ext cx="4526280" cy="3200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The Prediction Ledger revisits and scores past forecasts</a:t>
            </a:r>
            <a:endParaRPr lang="en-US" sz="1050" dirty="0"/>
          </a:p>
        </p:txBody>
      </p:sp>
      <p:sp>
        <p:nvSpPr>
          <p:cNvPr id="38" name="Text 27"/>
          <p:cNvSpPr/>
          <p:nvPr/>
        </p:nvSpPr>
        <p:spPr>
          <a:xfrm>
            <a:off x="502920" y="5897880"/>
            <a:ext cx="11155680" cy="365760"/>
          </a:xfrm>
          <a:prstGeom prst="rect">
            <a:avLst/>
          </a:prstGeom>
          <a:noFill/>
          <a:ln/>
        </p:spPr>
        <p:txBody>
          <a:bodyPr wrap="square" rtlCol="0" anchor="ctr"/>
          <a:lstStyle/>
          <a:p>
            <a:pPr algn="ctr" indent="0" marL="0">
              <a:buNone/>
            </a:pPr>
            <a:r>
              <a:rPr lang="en-US" sz="1400" b="1" i="1" dirty="0">
                <a:solidFill>
                  <a:srgbClr val="0D1F33"/>
                </a:solidFill>
                <a:latin typeface="Arial" pitchFamily="34" charset="0"/>
                <a:ea typeface="Arial" pitchFamily="34" charset="-122"/>
                <a:cs typeface="Arial" pitchFamily="34" charset="-120"/>
              </a:rPr>
              <a:t>Same question, every quarter → comparable, scoreable answers. That is an instrument, not a chatbot.</a:t>
            </a:r>
            <a:endParaRPr lang="en-US" sz="1400" dirty="0"/>
          </a:p>
        </p:txBody>
      </p:sp>
      <p:sp>
        <p:nvSpPr>
          <p:cNvPr id="39" name="Text 28"/>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6/16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263701" cy="329184"/>
          </a:xfrm>
          <a:prstGeom prst="roundRect">
            <a:avLst>
              <a:gd name="adj" fmla="val 50000"/>
            </a:avLst>
          </a:prstGeom>
          <a:solidFill>
            <a:srgbClr val="0D1F33"/>
          </a:solidFill>
          <a:ln/>
        </p:spPr>
      </p:sp>
      <p:sp>
        <p:nvSpPr>
          <p:cNvPr id="3" name="Text 1"/>
          <p:cNvSpPr/>
          <p:nvPr/>
        </p:nvSpPr>
        <p:spPr>
          <a:xfrm>
            <a:off x="502920" y="347472"/>
            <a:ext cx="1263701"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360° VIEW</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The whole vehicle, the whole future</a:t>
            </a:r>
            <a:endParaRPr lang="en-US" sz="2800" dirty="0"/>
          </a:p>
        </p:txBody>
      </p:sp>
      <p:sp>
        <p:nvSpPr>
          <p:cNvPr id="5" name="Shape 3"/>
          <p:cNvSpPr/>
          <p:nvPr/>
        </p:nvSpPr>
        <p:spPr>
          <a:xfrm>
            <a:off x="502920" y="1554480"/>
            <a:ext cx="2267712" cy="1280160"/>
          </a:xfrm>
          <a:prstGeom prst="roundRect">
            <a:avLst>
              <a:gd name="adj" fmla="val 6429"/>
            </a:avLst>
          </a:prstGeom>
          <a:solidFill>
            <a:srgbClr val="0D1F33"/>
          </a:solidFill>
          <a:ln/>
          <a:effectLst>
            <a:outerShdw sx="100000" sy="100000" kx="0" ky="0" algn="bl" rotWithShape="0" blurRad="76200" dist="25400" dir="5400000">
              <a:srgbClr val="9FB0C2">
                <a:alpha val="32000"/>
              </a:srgbClr>
            </a:outerShdw>
          </a:effectLst>
        </p:spPr>
      </p:sp>
      <p:sp>
        <p:nvSpPr>
          <p:cNvPr id="6" name="Text 4"/>
          <p:cNvSpPr/>
          <p:nvPr/>
        </p:nvSpPr>
        <p:spPr>
          <a:xfrm>
            <a:off x="667512" y="1645920"/>
            <a:ext cx="1920240" cy="603504"/>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139</a:t>
            </a:r>
            <a:endParaRPr lang="en-US" sz="3300" dirty="0"/>
          </a:p>
        </p:txBody>
      </p:sp>
      <p:sp>
        <p:nvSpPr>
          <p:cNvPr id="7" name="Text 5"/>
          <p:cNvSpPr/>
          <p:nvPr/>
        </p:nvSpPr>
        <p:spPr>
          <a:xfrm>
            <a:off x="667512" y="2267712"/>
            <a:ext cx="1975104" cy="502920"/>
          </a:xfrm>
          <a:prstGeom prst="rect">
            <a:avLst/>
          </a:prstGeom>
          <a:noFill/>
          <a:ln/>
        </p:spPr>
        <p:txBody>
          <a:bodyPr wrap="square" lIns="0" tIns="0" rIns="0" bIns="0" rtlCol="0" anchor="ctr"/>
          <a:lstStyle/>
          <a:p>
            <a:pPr indent="0" marL="0">
              <a:buNone/>
            </a:pPr>
            <a:r>
              <a:rPr lang="en-US" sz="1050" dirty="0">
                <a:solidFill>
                  <a:srgbClr val="D5DEE9"/>
                </a:solidFill>
                <a:latin typeface="Arial" pitchFamily="34" charset="0"/>
                <a:ea typeface="Arial" pitchFamily="34" charset="-122"/>
                <a:cs typeface="Arial" pitchFamily="34" charset="-120"/>
              </a:rPr>
              <a:t>curated technologies</a:t>
            </a:r>
            <a:endParaRPr lang="en-US" sz="1050" dirty="0"/>
          </a:p>
        </p:txBody>
      </p:sp>
      <p:sp>
        <p:nvSpPr>
          <p:cNvPr id="8" name="Shape 6"/>
          <p:cNvSpPr/>
          <p:nvPr/>
        </p:nvSpPr>
        <p:spPr>
          <a:xfrm>
            <a:off x="2935224" y="1554480"/>
            <a:ext cx="2267712" cy="1280160"/>
          </a:xfrm>
          <a:prstGeom prst="roundRect">
            <a:avLst>
              <a:gd name="adj" fmla="val 6429"/>
            </a:avLst>
          </a:prstGeom>
          <a:solidFill>
            <a:srgbClr val="0D9488"/>
          </a:solidFill>
          <a:ln/>
          <a:effectLst>
            <a:outerShdw sx="100000" sy="100000" kx="0" ky="0" algn="bl" rotWithShape="0" blurRad="76200" dist="25400" dir="5400000">
              <a:srgbClr val="9FB0C2">
                <a:alpha val="32000"/>
              </a:srgbClr>
            </a:outerShdw>
          </a:effectLst>
        </p:spPr>
      </p:sp>
      <p:sp>
        <p:nvSpPr>
          <p:cNvPr id="9" name="Text 7"/>
          <p:cNvSpPr/>
          <p:nvPr/>
        </p:nvSpPr>
        <p:spPr>
          <a:xfrm>
            <a:off x="3099816" y="1645920"/>
            <a:ext cx="1920240" cy="603504"/>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9</a:t>
            </a:r>
            <a:endParaRPr lang="en-US" sz="3300" dirty="0"/>
          </a:p>
        </p:txBody>
      </p:sp>
      <p:sp>
        <p:nvSpPr>
          <p:cNvPr id="10" name="Text 8"/>
          <p:cNvSpPr/>
          <p:nvPr/>
        </p:nvSpPr>
        <p:spPr>
          <a:xfrm>
            <a:off x="3099816" y="2267712"/>
            <a:ext cx="1975104" cy="502920"/>
          </a:xfrm>
          <a:prstGeom prst="rect">
            <a:avLst/>
          </a:prstGeom>
          <a:noFill/>
          <a:ln/>
        </p:spPr>
        <p:txBody>
          <a:bodyPr wrap="square" lIns="0" tIns="0" rIns="0" bIns="0" rtlCol="0" anchor="ctr"/>
          <a:lstStyle/>
          <a:p>
            <a:pPr indent="0" marL="0">
              <a:buNone/>
            </a:pPr>
            <a:r>
              <a:rPr lang="en-US" sz="1050" dirty="0">
                <a:solidFill>
                  <a:srgbClr val="D5DEE9"/>
                </a:solidFill>
                <a:latin typeface="Arial" pitchFamily="34" charset="0"/>
                <a:ea typeface="Arial" pitchFamily="34" charset="-122"/>
                <a:cs typeface="Arial" pitchFamily="34" charset="-120"/>
              </a:rPr>
              <a:t>commodities — battery to BIW</a:t>
            </a:r>
            <a:endParaRPr lang="en-US" sz="1050" dirty="0"/>
          </a:p>
        </p:txBody>
      </p:sp>
      <p:sp>
        <p:nvSpPr>
          <p:cNvPr id="11" name="Shape 9"/>
          <p:cNvSpPr/>
          <p:nvPr/>
        </p:nvSpPr>
        <p:spPr>
          <a:xfrm>
            <a:off x="502920" y="2999232"/>
            <a:ext cx="2267712" cy="1280160"/>
          </a:xfrm>
          <a:prstGeom prst="roundRect">
            <a:avLst>
              <a:gd name="adj" fmla="val 6429"/>
            </a:avLst>
          </a:prstGeom>
          <a:solidFill>
            <a:srgbClr val="F59E0B"/>
          </a:solidFill>
          <a:ln/>
          <a:effectLst>
            <a:outerShdw sx="100000" sy="100000" kx="0" ky="0" algn="bl" rotWithShape="0" blurRad="76200" dist="25400" dir="5400000">
              <a:srgbClr val="9FB0C2">
                <a:alpha val="32000"/>
              </a:srgbClr>
            </a:outerShdw>
          </a:effectLst>
        </p:spPr>
      </p:sp>
      <p:sp>
        <p:nvSpPr>
          <p:cNvPr id="12" name="Text 10"/>
          <p:cNvSpPr/>
          <p:nvPr/>
        </p:nvSpPr>
        <p:spPr>
          <a:xfrm>
            <a:off x="667512" y="3090672"/>
            <a:ext cx="1920240" cy="603504"/>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4</a:t>
            </a:r>
            <a:endParaRPr lang="en-US" sz="3300" dirty="0"/>
          </a:p>
        </p:txBody>
      </p:sp>
      <p:sp>
        <p:nvSpPr>
          <p:cNvPr id="13" name="Text 11"/>
          <p:cNvSpPr/>
          <p:nvPr/>
        </p:nvSpPr>
        <p:spPr>
          <a:xfrm>
            <a:off x="667512" y="3712464"/>
            <a:ext cx="1975104" cy="502920"/>
          </a:xfrm>
          <a:prstGeom prst="rect">
            <a:avLst/>
          </a:prstGeom>
          <a:noFill/>
          <a:ln/>
        </p:spPr>
        <p:txBody>
          <a:bodyPr wrap="square" lIns="0" tIns="0" rIns="0" bIns="0" rtlCol="0" anchor="ctr"/>
          <a:lstStyle/>
          <a:p>
            <a:pPr indent="0" marL="0">
              <a:buNone/>
            </a:pPr>
            <a:r>
              <a:rPr lang="en-US" sz="1050" dirty="0">
                <a:solidFill>
                  <a:srgbClr val="4A2E05"/>
                </a:solidFill>
                <a:latin typeface="Arial" pitchFamily="34" charset="0"/>
                <a:ea typeface="Arial" pitchFamily="34" charset="-122"/>
                <a:cs typeface="Arial" pitchFamily="34" charset="-120"/>
              </a:rPr>
              <a:t>powertrains ICE·MHEV·PHEV·BEV</a:t>
            </a:r>
            <a:endParaRPr lang="en-US" sz="1050" dirty="0"/>
          </a:p>
        </p:txBody>
      </p:sp>
      <p:sp>
        <p:nvSpPr>
          <p:cNvPr id="14" name="Shape 12"/>
          <p:cNvSpPr/>
          <p:nvPr/>
        </p:nvSpPr>
        <p:spPr>
          <a:xfrm>
            <a:off x="2935224" y="2999232"/>
            <a:ext cx="2267712" cy="1280160"/>
          </a:xfrm>
          <a:prstGeom prst="roundRect">
            <a:avLst>
              <a:gd name="adj" fmla="val 6429"/>
            </a:avLst>
          </a:prstGeom>
          <a:solidFill>
            <a:srgbClr val="6D28D9"/>
          </a:solidFill>
          <a:ln/>
          <a:effectLst>
            <a:outerShdw sx="100000" sy="100000" kx="0" ky="0" algn="bl" rotWithShape="0" blurRad="76200" dist="25400" dir="5400000">
              <a:srgbClr val="9FB0C2">
                <a:alpha val="32000"/>
              </a:srgbClr>
            </a:outerShdw>
          </a:effectLst>
        </p:spPr>
      </p:sp>
      <p:sp>
        <p:nvSpPr>
          <p:cNvPr id="15" name="Text 13"/>
          <p:cNvSpPr/>
          <p:nvPr/>
        </p:nvSpPr>
        <p:spPr>
          <a:xfrm>
            <a:off x="3099816" y="3090672"/>
            <a:ext cx="1920240" cy="603504"/>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3</a:t>
            </a:r>
            <a:endParaRPr lang="en-US" sz="3300" dirty="0"/>
          </a:p>
        </p:txBody>
      </p:sp>
      <p:sp>
        <p:nvSpPr>
          <p:cNvPr id="16" name="Text 14"/>
          <p:cNvSpPr/>
          <p:nvPr/>
        </p:nvSpPr>
        <p:spPr>
          <a:xfrm>
            <a:off x="3099816" y="3712464"/>
            <a:ext cx="1975104" cy="502920"/>
          </a:xfrm>
          <a:prstGeom prst="rect">
            <a:avLst/>
          </a:prstGeom>
          <a:noFill/>
          <a:ln/>
        </p:spPr>
        <p:txBody>
          <a:bodyPr wrap="square" lIns="0" tIns="0" rIns="0" bIns="0" rtlCol="0" anchor="ctr"/>
          <a:lstStyle/>
          <a:p>
            <a:pPr indent="0" marL="0">
              <a:buNone/>
            </a:pPr>
            <a:r>
              <a:rPr lang="en-US" sz="1050" dirty="0">
                <a:solidFill>
                  <a:srgbClr val="D5DEE9"/>
                </a:solidFill>
                <a:latin typeface="Arial" pitchFamily="34" charset="0"/>
                <a:ea typeface="Arial" pitchFamily="34" charset="-122"/>
                <a:cs typeface="Arial" pitchFamily="34" charset="-120"/>
              </a:rPr>
              <a:t>lenses Off-Road · Luxury · SDV</a:t>
            </a:r>
            <a:endParaRPr lang="en-US" sz="1050" dirty="0"/>
          </a:p>
        </p:txBody>
      </p:sp>
      <p:sp>
        <p:nvSpPr>
          <p:cNvPr id="17" name="Shape 15"/>
          <p:cNvSpPr/>
          <p:nvPr/>
        </p:nvSpPr>
        <p:spPr>
          <a:xfrm>
            <a:off x="502920" y="4443984"/>
            <a:ext cx="2267712" cy="1280160"/>
          </a:xfrm>
          <a:prstGeom prst="roundRect">
            <a:avLst>
              <a:gd name="adj" fmla="val 6429"/>
            </a:avLst>
          </a:prstGeom>
          <a:solidFill>
            <a:srgbClr val="0D9488"/>
          </a:solidFill>
          <a:ln/>
          <a:effectLst>
            <a:outerShdw sx="100000" sy="100000" kx="0" ky="0" algn="bl" rotWithShape="0" blurRad="76200" dist="25400" dir="5400000">
              <a:srgbClr val="9FB0C2">
                <a:alpha val="32000"/>
              </a:srgbClr>
            </a:outerShdw>
          </a:effectLst>
        </p:spPr>
      </p:sp>
      <p:sp>
        <p:nvSpPr>
          <p:cNvPr id="18" name="Text 16"/>
          <p:cNvSpPr/>
          <p:nvPr/>
        </p:nvSpPr>
        <p:spPr>
          <a:xfrm>
            <a:off x="667512" y="4535424"/>
            <a:ext cx="1920240" cy="603504"/>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14</a:t>
            </a:r>
            <a:endParaRPr lang="en-US" sz="3300" dirty="0"/>
          </a:p>
        </p:txBody>
      </p:sp>
      <p:sp>
        <p:nvSpPr>
          <p:cNvPr id="19" name="Text 17"/>
          <p:cNvSpPr/>
          <p:nvPr/>
        </p:nvSpPr>
        <p:spPr>
          <a:xfrm>
            <a:off x="667512" y="5157216"/>
            <a:ext cx="1975104" cy="502920"/>
          </a:xfrm>
          <a:prstGeom prst="rect">
            <a:avLst/>
          </a:prstGeom>
          <a:noFill/>
          <a:ln/>
        </p:spPr>
        <p:txBody>
          <a:bodyPr wrap="square" lIns="0" tIns="0" rIns="0" bIns="0" rtlCol="0" anchor="ctr"/>
          <a:lstStyle/>
          <a:p>
            <a:pPr indent="0" marL="0">
              <a:buNone/>
            </a:pPr>
            <a:r>
              <a:rPr lang="en-US" sz="1050" dirty="0">
                <a:solidFill>
                  <a:srgbClr val="D5DEE9"/>
                </a:solidFill>
                <a:latin typeface="Arial" pitchFamily="34" charset="0"/>
                <a:ea typeface="Arial" pitchFamily="34" charset="-122"/>
                <a:cs typeface="Arial" pitchFamily="34" charset="-120"/>
              </a:rPr>
              <a:t>dated regulatory anchors</a:t>
            </a:r>
            <a:endParaRPr lang="en-US" sz="1050" dirty="0"/>
          </a:p>
        </p:txBody>
      </p:sp>
      <p:sp>
        <p:nvSpPr>
          <p:cNvPr id="20" name="Shape 18"/>
          <p:cNvSpPr/>
          <p:nvPr/>
        </p:nvSpPr>
        <p:spPr>
          <a:xfrm>
            <a:off x="2935224" y="4443984"/>
            <a:ext cx="2267712" cy="1280160"/>
          </a:xfrm>
          <a:prstGeom prst="roundRect">
            <a:avLst>
              <a:gd name="adj" fmla="val 6429"/>
            </a:avLst>
          </a:prstGeom>
          <a:solidFill>
            <a:srgbClr val="0D1F33"/>
          </a:solidFill>
          <a:ln/>
          <a:effectLst>
            <a:outerShdw sx="100000" sy="100000" kx="0" ky="0" algn="bl" rotWithShape="0" blurRad="76200" dist="25400" dir="5400000">
              <a:srgbClr val="9FB0C2">
                <a:alpha val="32000"/>
              </a:srgbClr>
            </a:outerShdw>
          </a:effectLst>
        </p:spPr>
      </p:sp>
      <p:sp>
        <p:nvSpPr>
          <p:cNvPr id="21" name="Text 19"/>
          <p:cNvSpPr/>
          <p:nvPr/>
        </p:nvSpPr>
        <p:spPr>
          <a:xfrm>
            <a:off x="3099816" y="4535424"/>
            <a:ext cx="1920240" cy="603504"/>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12</a:t>
            </a:r>
            <a:endParaRPr lang="en-US" sz="3300" dirty="0"/>
          </a:p>
        </p:txBody>
      </p:sp>
      <p:sp>
        <p:nvSpPr>
          <p:cNvPr id="22" name="Text 20"/>
          <p:cNvSpPr/>
          <p:nvPr/>
        </p:nvSpPr>
        <p:spPr>
          <a:xfrm>
            <a:off x="3099816" y="5157216"/>
            <a:ext cx="1975104" cy="502920"/>
          </a:xfrm>
          <a:prstGeom prst="rect">
            <a:avLst/>
          </a:prstGeom>
          <a:noFill/>
          <a:ln/>
        </p:spPr>
        <p:txBody>
          <a:bodyPr wrap="square" lIns="0" tIns="0" rIns="0" bIns="0" rtlCol="0" anchor="ctr"/>
          <a:lstStyle/>
          <a:p>
            <a:pPr indent="0" marL="0">
              <a:buNone/>
            </a:pPr>
            <a:r>
              <a:rPr lang="en-US" sz="1050" dirty="0">
                <a:solidFill>
                  <a:srgbClr val="D5DEE9"/>
                </a:solidFill>
                <a:latin typeface="Arial" pitchFamily="34" charset="0"/>
                <a:ea typeface="Arial" pitchFamily="34" charset="-122"/>
                <a:cs typeface="Arial" pitchFamily="34" charset="-120"/>
              </a:rPr>
              <a:t>benchmark vehicles</a:t>
            </a:r>
            <a:endParaRPr lang="en-US" sz="1050" dirty="0"/>
          </a:p>
        </p:txBody>
      </p:sp>
      <p:sp>
        <p:nvSpPr>
          <p:cNvPr id="23" name="Text 21"/>
          <p:cNvSpPr/>
          <p:nvPr/>
        </p:nvSpPr>
        <p:spPr>
          <a:xfrm>
            <a:off x="5806440" y="1517904"/>
            <a:ext cx="5852160" cy="274320"/>
          </a:xfrm>
          <a:prstGeom prst="rect">
            <a:avLst/>
          </a:prstGeom>
          <a:noFill/>
          <a:ln/>
        </p:spPr>
        <p:txBody>
          <a:bodyPr wrap="square" lIns="0" tIns="0" rIns="0" bIns="0" rtlCol="0" anchor="ctr"/>
          <a:lstStyle/>
          <a:p>
            <a:pPr indent="0" marL="0">
              <a:buNone/>
            </a:pPr>
            <a:r>
              <a:rPr lang="en-US" sz="1300" b="1" dirty="0">
                <a:solidFill>
                  <a:srgbClr val="0D1F33"/>
                </a:solidFill>
                <a:latin typeface="Arial" pitchFamily="34" charset="0"/>
                <a:ea typeface="Arial" pitchFamily="34" charset="-122"/>
                <a:cs typeface="Arial" pitchFamily="34" charset="-120"/>
              </a:rPr>
              <a:t>Technologies per commodity — generated from the live register</a:t>
            </a:r>
            <a:endParaRPr lang="en-US" sz="1300" dirty="0"/>
          </a:p>
        </p:txBody>
      </p:sp>
      <p:graphicFrame>
        <p:nvGraphicFramePr>
          <p:cNvPr id="24" name="Chart 0" descr=""/>
          <p:cNvGraphicFramePr/>
          <p:nvPr/>
        </p:nvGraphicFramePr>
        <p:xfrm>
          <a:off x="5760720" y="1828800"/>
          <a:ext cx="5897880" cy="4023360"/>
        </p:xfrm>
        <a:graphic xmlns:a="http://schemas.openxmlformats.org/drawingml/2006/main">
          <a:graphicData uri="http://schemas.openxmlformats.org/drawingml/2006/chart">
            <c:chart xmlns:c="http://schemas.openxmlformats.org/drawingml/2006/chart" r:id="rId1"/>
          </a:graphicData>
        </a:graphic>
      </p:graphicFrame>
      <p:sp>
        <p:nvSpPr>
          <p:cNvPr id="25" name="Text 22"/>
          <p:cNvSpPr/>
          <p:nvPr/>
        </p:nvSpPr>
        <p:spPr>
          <a:xfrm>
            <a:off x="502920" y="5989320"/>
            <a:ext cx="11155680" cy="365760"/>
          </a:xfrm>
          <a:prstGeom prst="rect">
            <a:avLst/>
          </a:prstGeom>
          <a:noFill/>
          <a:ln/>
        </p:spPr>
        <p:txBody>
          <a:bodyPr wrap="square" rtlCol="0" anchor="ctr"/>
          <a:lstStyle/>
          <a:p>
            <a:pPr indent="0" marL="0">
              <a:buNone/>
            </a:pPr>
            <a:r>
              <a:rPr lang="en-US" sz="1150" i="1" dirty="0">
                <a:solidFill>
                  <a:srgbClr val="5B6B7F"/>
                </a:solidFill>
                <a:latin typeface="Arial" pitchFamily="34" charset="0"/>
                <a:ea typeface="Arial" pitchFamily="34" charset="-122"/>
                <a:cs typeface="Arial" pitchFamily="34" charset="-120"/>
              </a:rPr>
              <a:t>Hardware to software: cells, motors, brakes and BIW — through zonal E/E, ADAS stacks, vehicle OS and feature subscriptions.</a:t>
            </a:r>
            <a:endParaRPr lang="en-US" sz="1150" dirty="0"/>
          </a:p>
        </p:txBody>
      </p:sp>
      <p:sp>
        <p:nvSpPr>
          <p:cNvPr id="26" name="Text 23"/>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7/16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711757" cy="329184"/>
          </a:xfrm>
          <a:prstGeom prst="roundRect">
            <a:avLst>
              <a:gd name="adj" fmla="val 50000"/>
            </a:avLst>
          </a:prstGeom>
          <a:solidFill>
            <a:srgbClr val="0D1F33"/>
          </a:solidFill>
          <a:ln/>
        </p:spPr>
      </p:sp>
      <p:sp>
        <p:nvSpPr>
          <p:cNvPr id="3" name="Text 1"/>
          <p:cNvSpPr/>
          <p:nvPr/>
        </p:nvSpPr>
        <p:spPr>
          <a:xfrm>
            <a:off x="502920" y="347472"/>
            <a:ext cx="1711757"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SEGMENT LENSES</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One click focuses the register on OUR battleground</a:t>
            </a:r>
            <a:endParaRPr lang="en-US" sz="2800" dirty="0"/>
          </a:p>
        </p:txBody>
      </p:sp>
      <p:sp>
        <p:nvSpPr>
          <p:cNvPr id="5" name="Shape 3"/>
          <p:cNvSpPr/>
          <p:nvPr/>
        </p:nvSpPr>
        <p:spPr>
          <a:xfrm>
            <a:off x="502920" y="1508760"/>
            <a:ext cx="3639312" cy="4297680"/>
          </a:xfrm>
          <a:prstGeom prst="roundRect">
            <a:avLst>
              <a:gd name="adj" fmla="val 1759"/>
            </a:avLst>
          </a:prstGeom>
          <a:solidFill>
            <a:srgbClr val="E9F6F4"/>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6" name="Shape 4"/>
          <p:cNvSpPr/>
          <p:nvPr/>
        </p:nvSpPr>
        <p:spPr>
          <a:xfrm>
            <a:off x="502920" y="1508760"/>
            <a:ext cx="3639312" cy="804672"/>
          </a:xfrm>
          <a:prstGeom prst="roundRect">
            <a:avLst>
              <a:gd name="adj" fmla="val 7955"/>
            </a:avLst>
          </a:prstGeom>
          <a:solidFill>
            <a:srgbClr val="0D9488"/>
          </a:solidFill>
          <a:ln/>
        </p:spPr>
      </p:sp>
      <p:sp>
        <p:nvSpPr>
          <p:cNvPr id="7" name="Shape 5"/>
          <p:cNvSpPr/>
          <p:nvPr/>
        </p:nvSpPr>
        <p:spPr>
          <a:xfrm>
            <a:off x="667512" y="1636776"/>
            <a:ext cx="548640" cy="548640"/>
          </a:xfrm>
          <a:prstGeom prst="ellipse">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771754" y="1741018"/>
            <a:ext cx="340157" cy="340157"/>
          </a:xfrm>
          <a:prstGeom prst="rect">
            <a:avLst/>
          </a:prstGeom>
        </p:spPr>
      </p:pic>
      <p:sp>
        <p:nvSpPr>
          <p:cNvPr id="9" name="Text 6"/>
          <p:cNvSpPr/>
          <p:nvPr/>
        </p:nvSpPr>
        <p:spPr>
          <a:xfrm>
            <a:off x="1307592" y="1508760"/>
            <a:ext cx="2743200" cy="8046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Off-Road Features &amp; Tech</a:t>
            </a:r>
            <a:endParaRPr lang="en-US" sz="1450" dirty="0"/>
          </a:p>
        </p:txBody>
      </p:sp>
      <p:sp>
        <p:nvSpPr>
          <p:cNvPr id="10" name="Text 7"/>
          <p:cNvSpPr/>
          <p:nvPr/>
        </p:nvSpPr>
        <p:spPr>
          <a:xfrm>
            <a:off x="731520" y="2450592"/>
            <a:ext cx="3200400" cy="411480"/>
          </a:xfrm>
          <a:prstGeom prst="rect">
            <a:avLst/>
          </a:prstGeom>
          <a:noFill/>
          <a:ln/>
        </p:spPr>
        <p:txBody>
          <a:bodyPr wrap="square" lIns="0" tIns="0" rIns="0" bIns="0" rtlCol="0" anchor="ctr"/>
          <a:lstStyle/>
          <a:p>
            <a:pPr indent="0" marL="0">
              <a:buNone/>
            </a:pPr>
            <a:r>
              <a:rPr lang="en-US" sz="2600" b="1" dirty="0">
                <a:solidFill>
                  <a:srgbClr val="0D9488"/>
                </a:solidFill>
                <a:latin typeface="Arial" pitchFamily="34" charset="0"/>
                <a:ea typeface="Arial" pitchFamily="34" charset="-122"/>
                <a:cs typeface="Arial" pitchFamily="34" charset="-120"/>
              </a:rPr>
              <a:t>19</a:t>
            </a:r>
            <a:pPr indent="0" marL="0">
              <a:buNone/>
            </a:pPr>
            <a:r>
              <a:rPr lang="en-US" sz="1100" dirty="0">
                <a:solidFill>
                  <a:srgbClr val="5B6B7F"/>
                </a:solidFill>
                <a:latin typeface="Arial" pitchFamily="34" charset="0"/>
                <a:ea typeface="Arial" pitchFamily="34" charset="-122"/>
                <a:cs typeface="Arial" pitchFamily="34" charset="-120"/>
              </a:rPr>
              <a:t>  technologies in the lens</a:t>
            </a:r>
            <a:endParaRPr lang="en-US" sz="2600" dirty="0"/>
          </a:p>
        </p:txBody>
      </p:sp>
      <p:sp>
        <p:nvSpPr>
          <p:cNvPr id="11" name="Shape 8"/>
          <p:cNvSpPr/>
          <p:nvPr/>
        </p:nvSpPr>
        <p:spPr>
          <a:xfrm>
            <a:off x="758952" y="3090672"/>
            <a:ext cx="91440" cy="91440"/>
          </a:xfrm>
          <a:prstGeom prst="ellipse">
            <a:avLst/>
          </a:prstGeom>
          <a:solidFill>
            <a:srgbClr val="0D9488"/>
          </a:solidFill>
          <a:ln/>
        </p:spPr>
      </p:sp>
      <p:sp>
        <p:nvSpPr>
          <p:cNvPr id="12" name="Text 9"/>
          <p:cNvSpPr/>
          <p:nvPr/>
        </p:nvSpPr>
        <p:spPr>
          <a:xfrm>
            <a:off x="960120" y="30175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Hydraulic cross-linked suspension</a:t>
            </a:r>
            <a:endParaRPr lang="en-US" sz="1050" dirty="0"/>
          </a:p>
        </p:txBody>
      </p:sp>
      <p:sp>
        <p:nvSpPr>
          <p:cNvPr id="13" name="Shape 10"/>
          <p:cNvSpPr/>
          <p:nvPr/>
        </p:nvSpPr>
        <p:spPr>
          <a:xfrm>
            <a:off x="758952" y="3547872"/>
            <a:ext cx="91440" cy="91440"/>
          </a:xfrm>
          <a:prstGeom prst="ellipse">
            <a:avLst/>
          </a:prstGeom>
          <a:solidFill>
            <a:srgbClr val="0D9488"/>
          </a:solidFill>
          <a:ln/>
        </p:spPr>
      </p:sp>
      <p:sp>
        <p:nvSpPr>
          <p:cNvPr id="14" name="Text 11"/>
          <p:cNvSpPr/>
          <p:nvPr/>
        </p:nvSpPr>
        <p:spPr>
          <a:xfrm>
            <a:off x="960120" y="34747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Electronic locking differentials</a:t>
            </a:r>
            <a:endParaRPr lang="en-US" sz="1050" dirty="0"/>
          </a:p>
        </p:txBody>
      </p:sp>
      <p:sp>
        <p:nvSpPr>
          <p:cNvPr id="15" name="Shape 12"/>
          <p:cNvSpPr/>
          <p:nvPr/>
        </p:nvSpPr>
        <p:spPr>
          <a:xfrm>
            <a:off x="758952" y="4005072"/>
            <a:ext cx="91440" cy="91440"/>
          </a:xfrm>
          <a:prstGeom prst="ellipse">
            <a:avLst/>
          </a:prstGeom>
          <a:solidFill>
            <a:srgbClr val="0D9488"/>
          </a:solidFill>
          <a:ln/>
        </p:spPr>
      </p:sp>
      <p:sp>
        <p:nvSpPr>
          <p:cNvPr id="16" name="Text 13"/>
          <p:cNvSpPr/>
          <p:nvPr/>
        </p:nvSpPr>
        <p:spPr>
          <a:xfrm>
            <a:off x="960120" y="39319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BEV low-range: per-motor 2-speed off-road gearing</a:t>
            </a:r>
            <a:endParaRPr lang="en-US" sz="1050" dirty="0"/>
          </a:p>
        </p:txBody>
      </p:sp>
      <p:sp>
        <p:nvSpPr>
          <p:cNvPr id="17" name="Shape 14"/>
          <p:cNvSpPr/>
          <p:nvPr/>
        </p:nvSpPr>
        <p:spPr>
          <a:xfrm>
            <a:off x="758952" y="4462272"/>
            <a:ext cx="91440" cy="91440"/>
          </a:xfrm>
          <a:prstGeom prst="ellipse">
            <a:avLst/>
          </a:prstGeom>
          <a:solidFill>
            <a:srgbClr val="0D9488"/>
          </a:solidFill>
          <a:ln/>
        </p:spPr>
      </p:sp>
      <p:sp>
        <p:nvSpPr>
          <p:cNvPr id="18" name="Text 15"/>
          <p:cNvSpPr/>
          <p:nvPr/>
        </p:nvSpPr>
        <p:spPr>
          <a:xfrm>
            <a:off x="960120" y="43891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Quad-motor manoeuvre modes</a:t>
            </a:r>
            <a:endParaRPr lang="en-US" sz="1050" dirty="0"/>
          </a:p>
        </p:txBody>
      </p:sp>
      <p:sp>
        <p:nvSpPr>
          <p:cNvPr id="19" name="Shape 16"/>
          <p:cNvSpPr/>
          <p:nvPr/>
        </p:nvSpPr>
        <p:spPr>
          <a:xfrm>
            <a:off x="758952" y="4919472"/>
            <a:ext cx="91440" cy="91440"/>
          </a:xfrm>
          <a:prstGeom prst="ellipse">
            <a:avLst/>
          </a:prstGeom>
          <a:solidFill>
            <a:srgbClr val="0D9488"/>
          </a:solidFill>
          <a:ln/>
        </p:spPr>
      </p:sp>
      <p:sp>
        <p:nvSpPr>
          <p:cNvPr id="20" name="Text 17"/>
          <p:cNvSpPr/>
          <p:nvPr/>
        </p:nvSpPr>
        <p:spPr>
          <a:xfrm>
            <a:off x="960120" y="48463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Deep-wading engineering + wade sensing</a:t>
            </a:r>
            <a:endParaRPr lang="en-US" sz="1050" dirty="0"/>
          </a:p>
        </p:txBody>
      </p:sp>
      <p:sp>
        <p:nvSpPr>
          <p:cNvPr id="21" name="Text 18"/>
          <p:cNvSpPr/>
          <p:nvPr/>
        </p:nvSpPr>
        <p:spPr>
          <a:xfrm>
            <a:off x="731520" y="5321808"/>
            <a:ext cx="3200400" cy="457200"/>
          </a:xfrm>
          <a:prstGeom prst="rect">
            <a:avLst/>
          </a:prstGeom>
          <a:noFill/>
          <a:ln/>
        </p:spPr>
        <p:txBody>
          <a:bodyPr wrap="square" lIns="0" tIns="0" rIns="0" bIns="0" rtlCol="0" anchor="ctr"/>
          <a:lstStyle/>
          <a:p>
            <a:pPr indent="0" marL="0">
              <a:buNone/>
            </a:pPr>
            <a:r>
              <a:rPr lang="en-US" sz="950" i="1" dirty="0">
                <a:solidFill>
                  <a:srgbClr val="5B6B7F"/>
                </a:solidFill>
                <a:latin typeface="Arial" pitchFamily="34" charset="0"/>
                <a:ea typeface="Arial" pitchFamily="34" charset="-122"/>
                <a:cs typeface="Arial" pitchFamily="34" charset="-120"/>
              </a:rPr>
              <a:t>Plus the 12-vehicle benchmark strip — Defender OCTA to Yangwang U8</a:t>
            </a:r>
            <a:endParaRPr lang="en-US" sz="950" dirty="0"/>
          </a:p>
        </p:txBody>
      </p:sp>
      <p:sp>
        <p:nvSpPr>
          <p:cNvPr id="22" name="Shape 19"/>
          <p:cNvSpPr/>
          <p:nvPr/>
        </p:nvSpPr>
        <p:spPr>
          <a:xfrm>
            <a:off x="4416552" y="1508760"/>
            <a:ext cx="3639312" cy="4297680"/>
          </a:xfrm>
          <a:prstGeom prst="roundRect">
            <a:avLst>
              <a:gd name="adj" fmla="val 1759"/>
            </a:avLst>
          </a:prstGeom>
          <a:solidFill>
            <a:srgbClr val="F1EDFB"/>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23" name="Shape 20"/>
          <p:cNvSpPr/>
          <p:nvPr/>
        </p:nvSpPr>
        <p:spPr>
          <a:xfrm>
            <a:off x="4416552" y="1508760"/>
            <a:ext cx="3639312" cy="804672"/>
          </a:xfrm>
          <a:prstGeom prst="roundRect">
            <a:avLst>
              <a:gd name="adj" fmla="val 7955"/>
            </a:avLst>
          </a:prstGeom>
          <a:solidFill>
            <a:srgbClr val="6D28D9"/>
          </a:solidFill>
          <a:ln/>
        </p:spPr>
      </p:sp>
      <p:sp>
        <p:nvSpPr>
          <p:cNvPr id="24" name="Shape 21"/>
          <p:cNvSpPr/>
          <p:nvPr/>
        </p:nvSpPr>
        <p:spPr>
          <a:xfrm>
            <a:off x="4581144" y="1636776"/>
            <a:ext cx="548640" cy="548640"/>
          </a:xfrm>
          <a:prstGeom prst="ellipse">
            <a:avLst/>
          </a:prstGeom>
          <a:solidFill>
            <a:srgbClr val="6D28D9"/>
          </a:solidFill>
          <a:ln/>
        </p:spPr>
      </p:sp>
      <p:pic>
        <p:nvPicPr>
          <p:cNvPr id="25" name="Image 1" descr="preencoded.png">    </p:cNvPr>
          <p:cNvPicPr>
            <a:picLocks noChangeAspect="1"/>
          </p:cNvPicPr>
          <p:nvPr/>
        </p:nvPicPr>
        <p:blipFill>
          <a:blip r:embed="rId2"/>
          <a:stretch>
            <a:fillRect/>
          </a:stretch>
        </p:blipFill>
        <p:spPr>
          <a:xfrm>
            <a:off x="4685386" y="1741018"/>
            <a:ext cx="340157" cy="340157"/>
          </a:xfrm>
          <a:prstGeom prst="rect">
            <a:avLst/>
          </a:prstGeom>
        </p:spPr>
      </p:pic>
      <p:sp>
        <p:nvSpPr>
          <p:cNvPr id="26" name="Text 22"/>
          <p:cNvSpPr/>
          <p:nvPr/>
        </p:nvSpPr>
        <p:spPr>
          <a:xfrm>
            <a:off x="5221224" y="1508760"/>
            <a:ext cx="2743200" cy="8046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Luxury / Premium SUV</a:t>
            </a:r>
            <a:endParaRPr lang="en-US" sz="1450" dirty="0"/>
          </a:p>
        </p:txBody>
      </p:sp>
      <p:sp>
        <p:nvSpPr>
          <p:cNvPr id="27" name="Text 23"/>
          <p:cNvSpPr/>
          <p:nvPr/>
        </p:nvSpPr>
        <p:spPr>
          <a:xfrm>
            <a:off x="4645152" y="2450592"/>
            <a:ext cx="3200400" cy="411480"/>
          </a:xfrm>
          <a:prstGeom prst="rect">
            <a:avLst/>
          </a:prstGeom>
          <a:noFill/>
          <a:ln/>
        </p:spPr>
        <p:txBody>
          <a:bodyPr wrap="square" lIns="0" tIns="0" rIns="0" bIns="0" rtlCol="0" anchor="ctr"/>
          <a:lstStyle/>
          <a:p>
            <a:pPr indent="0" marL="0">
              <a:buNone/>
            </a:pPr>
            <a:r>
              <a:rPr lang="en-US" sz="2600" b="1" dirty="0">
                <a:solidFill>
                  <a:srgbClr val="6D28D9"/>
                </a:solidFill>
                <a:latin typeface="Arial" pitchFamily="34" charset="0"/>
                <a:ea typeface="Arial" pitchFamily="34" charset="-122"/>
                <a:cs typeface="Arial" pitchFamily="34" charset="-120"/>
              </a:rPr>
              <a:t>20</a:t>
            </a:r>
            <a:pPr indent="0" marL="0">
              <a:buNone/>
            </a:pPr>
            <a:r>
              <a:rPr lang="en-US" sz="1100" dirty="0">
                <a:solidFill>
                  <a:srgbClr val="5B6B7F"/>
                </a:solidFill>
                <a:latin typeface="Arial" pitchFamily="34" charset="0"/>
                <a:ea typeface="Arial" pitchFamily="34" charset="-122"/>
                <a:cs typeface="Arial" pitchFamily="34" charset="-120"/>
              </a:rPr>
              <a:t>  technologies in the lens</a:t>
            </a:r>
            <a:endParaRPr lang="en-US" sz="2600" dirty="0"/>
          </a:p>
        </p:txBody>
      </p:sp>
      <p:sp>
        <p:nvSpPr>
          <p:cNvPr id="28" name="Shape 24"/>
          <p:cNvSpPr/>
          <p:nvPr/>
        </p:nvSpPr>
        <p:spPr>
          <a:xfrm>
            <a:off x="4672584" y="3090672"/>
            <a:ext cx="91440" cy="91440"/>
          </a:xfrm>
          <a:prstGeom prst="ellipse">
            <a:avLst/>
          </a:prstGeom>
          <a:solidFill>
            <a:srgbClr val="6D28D9"/>
          </a:solidFill>
          <a:ln/>
        </p:spPr>
      </p:sp>
      <p:sp>
        <p:nvSpPr>
          <p:cNvPr id="29" name="Text 25"/>
          <p:cNvSpPr/>
          <p:nvPr/>
        </p:nvSpPr>
        <p:spPr>
          <a:xfrm>
            <a:off x="4873752" y="30175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Air suspension cost collapse</a:t>
            </a:r>
            <a:endParaRPr lang="en-US" sz="1050" dirty="0"/>
          </a:p>
        </p:txBody>
      </p:sp>
      <p:sp>
        <p:nvSpPr>
          <p:cNvPr id="30" name="Shape 26"/>
          <p:cNvSpPr/>
          <p:nvPr/>
        </p:nvSpPr>
        <p:spPr>
          <a:xfrm>
            <a:off x="4672584" y="3547872"/>
            <a:ext cx="91440" cy="91440"/>
          </a:xfrm>
          <a:prstGeom prst="ellipse">
            <a:avLst/>
          </a:prstGeom>
          <a:solidFill>
            <a:srgbClr val="6D28D9"/>
          </a:solidFill>
          <a:ln/>
        </p:spPr>
      </p:sp>
      <p:sp>
        <p:nvSpPr>
          <p:cNvPr id="31" name="Text 27"/>
          <p:cNvSpPr/>
          <p:nvPr/>
        </p:nvSpPr>
        <p:spPr>
          <a:xfrm>
            <a:off x="4873752" y="34747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Power-articulating lounge/zero-g front seats</a:t>
            </a:r>
            <a:endParaRPr lang="en-US" sz="1050" dirty="0"/>
          </a:p>
        </p:txBody>
      </p:sp>
      <p:sp>
        <p:nvSpPr>
          <p:cNvPr id="32" name="Shape 28"/>
          <p:cNvSpPr/>
          <p:nvPr/>
        </p:nvSpPr>
        <p:spPr>
          <a:xfrm>
            <a:off x="4672584" y="4005072"/>
            <a:ext cx="91440" cy="91440"/>
          </a:xfrm>
          <a:prstGeom prst="ellipse">
            <a:avLst/>
          </a:prstGeom>
          <a:solidFill>
            <a:srgbClr val="6D28D9"/>
          </a:solidFill>
          <a:ln/>
        </p:spPr>
      </p:sp>
      <p:sp>
        <p:nvSpPr>
          <p:cNvPr id="33" name="Text 29"/>
          <p:cNvSpPr/>
          <p:nvPr/>
        </p:nvSpPr>
        <p:spPr>
          <a:xfrm>
            <a:off x="4873752" y="39319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Software road-noise ANC replacing mass</a:t>
            </a:r>
            <a:endParaRPr lang="en-US" sz="1050" dirty="0"/>
          </a:p>
        </p:txBody>
      </p:sp>
      <p:sp>
        <p:nvSpPr>
          <p:cNvPr id="34" name="Shape 30"/>
          <p:cNvSpPr/>
          <p:nvPr/>
        </p:nvSpPr>
        <p:spPr>
          <a:xfrm>
            <a:off x="4672584" y="4462272"/>
            <a:ext cx="91440" cy="91440"/>
          </a:xfrm>
          <a:prstGeom prst="ellipse">
            <a:avLst/>
          </a:prstGeom>
          <a:solidFill>
            <a:srgbClr val="6D28D9"/>
          </a:solidFill>
          <a:ln/>
        </p:spPr>
      </p:sp>
      <p:sp>
        <p:nvSpPr>
          <p:cNvPr id="35" name="Text 31"/>
          <p:cNvSpPr/>
          <p:nvPr/>
        </p:nvSpPr>
        <p:spPr>
          <a:xfrm>
            <a:off x="4873752" y="43891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AR-HUD and panoramic displays</a:t>
            </a:r>
            <a:endParaRPr lang="en-US" sz="1050" dirty="0"/>
          </a:p>
        </p:txBody>
      </p:sp>
      <p:sp>
        <p:nvSpPr>
          <p:cNvPr id="36" name="Shape 32"/>
          <p:cNvSpPr/>
          <p:nvPr/>
        </p:nvSpPr>
        <p:spPr>
          <a:xfrm>
            <a:off x="4672584" y="4919472"/>
            <a:ext cx="91440" cy="91440"/>
          </a:xfrm>
          <a:prstGeom prst="ellipse">
            <a:avLst/>
          </a:prstGeom>
          <a:solidFill>
            <a:srgbClr val="6D28D9"/>
          </a:solidFill>
          <a:ln/>
        </p:spPr>
      </p:sp>
      <p:sp>
        <p:nvSpPr>
          <p:cNvPr id="37" name="Text 33"/>
          <p:cNvSpPr/>
          <p:nvPr/>
        </p:nvSpPr>
        <p:spPr>
          <a:xfrm>
            <a:off x="4873752" y="48463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Camera/road-preview predictive suspension</a:t>
            </a:r>
            <a:endParaRPr lang="en-US" sz="1050" dirty="0"/>
          </a:p>
        </p:txBody>
      </p:sp>
      <p:sp>
        <p:nvSpPr>
          <p:cNvPr id="38" name="Text 34"/>
          <p:cNvSpPr/>
          <p:nvPr/>
        </p:nvSpPr>
        <p:spPr>
          <a:xfrm>
            <a:off x="4645152" y="5321808"/>
            <a:ext cx="3200400" cy="457200"/>
          </a:xfrm>
          <a:prstGeom prst="rect">
            <a:avLst/>
          </a:prstGeom>
          <a:noFill/>
          <a:ln/>
        </p:spPr>
        <p:txBody>
          <a:bodyPr wrap="square" lIns="0" tIns="0" rIns="0" bIns="0" rtlCol="0" anchor="ctr"/>
          <a:lstStyle/>
          <a:p>
            <a:pPr indent="0" marL="0">
              <a:buNone/>
            </a:pPr>
            <a:r>
              <a:rPr lang="en-US" sz="950" i="1" dirty="0">
                <a:solidFill>
                  <a:srgbClr val="5B6B7F"/>
                </a:solidFill>
                <a:latin typeface="Arial" pitchFamily="34" charset="0"/>
                <a:ea typeface="Arial" pitchFamily="34" charset="-122"/>
                <a:cs typeface="Arial" pitchFamily="34" charset="-120"/>
              </a:rPr>
              <a:t>The comfort &amp; craft arms race, tracked with evidence</a:t>
            </a:r>
            <a:endParaRPr lang="en-US" sz="950" dirty="0"/>
          </a:p>
        </p:txBody>
      </p:sp>
      <p:sp>
        <p:nvSpPr>
          <p:cNvPr id="39" name="Shape 35"/>
          <p:cNvSpPr/>
          <p:nvPr/>
        </p:nvSpPr>
        <p:spPr>
          <a:xfrm>
            <a:off x="8330184" y="1508760"/>
            <a:ext cx="3639312" cy="4297680"/>
          </a:xfrm>
          <a:prstGeom prst="roundRect">
            <a:avLst>
              <a:gd name="adj" fmla="val 1759"/>
            </a:avLst>
          </a:prstGeom>
          <a:solidFill>
            <a:srgbClr val="F2F6FB"/>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40" name="Shape 36"/>
          <p:cNvSpPr/>
          <p:nvPr/>
        </p:nvSpPr>
        <p:spPr>
          <a:xfrm>
            <a:off x="8330184" y="1508760"/>
            <a:ext cx="3639312" cy="804672"/>
          </a:xfrm>
          <a:prstGeom prst="roundRect">
            <a:avLst>
              <a:gd name="adj" fmla="val 7955"/>
            </a:avLst>
          </a:prstGeom>
          <a:solidFill>
            <a:srgbClr val="0D1F33"/>
          </a:solidFill>
          <a:ln/>
        </p:spPr>
      </p:sp>
      <p:sp>
        <p:nvSpPr>
          <p:cNvPr id="41" name="Shape 37"/>
          <p:cNvSpPr/>
          <p:nvPr/>
        </p:nvSpPr>
        <p:spPr>
          <a:xfrm>
            <a:off x="8494776" y="1636776"/>
            <a:ext cx="548640" cy="548640"/>
          </a:xfrm>
          <a:prstGeom prst="ellipse">
            <a:avLst/>
          </a:prstGeom>
          <a:solidFill>
            <a:srgbClr val="0D1F33"/>
          </a:solidFill>
          <a:ln/>
        </p:spPr>
      </p:sp>
      <p:pic>
        <p:nvPicPr>
          <p:cNvPr id="42" name="Image 2" descr="preencoded.png">    </p:cNvPr>
          <p:cNvPicPr>
            <a:picLocks noChangeAspect="1"/>
          </p:cNvPicPr>
          <p:nvPr/>
        </p:nvPicPr>
        <p:blipFill>
          <a:blip r:embed="rId3"/>
          <a:stretch>
            <a:fillRect/>
          </a:stretch>
        </p:blipFill>
        <p:spPr>
          <a:xfrm>
            <a:off x="8599018" y="1741018"/>
            <a:ext cx="340157" cy="340157"/>
          </a:xfrm>
          <a:prstGeom prst="rect">
            <a:avLst/>
          </a:prstGeom>
        </p:spPr>
      </p:pic>
      <p:sp>
        <p:nvSpPr>
          <p:cNvPr id="43" name="Text 38"/>
          <p:cNvSpPr/>
          <p:nvPr/>
        </p:nvSpPr>
        <p:spPr>
          <a:xfrm>
            <a:off x="9134856" y="1508760"/>
            <a:ext cx="2743200" cy="804672"/>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SDV / ADAS &amp; Software</a:t>
            </a:r>
            <a:endParaRPr lang="en-US" sz="1450" dirty="0"/>
          </a:p>
        </p:txBody>
      </p:sp>
      <p:sp>
        <p:nvSpPr>
          <p:cNvPr id="44" name="Text 39"/>
          <p:cNvSpPr/>
          <p:nvPr/>
        </p:nvSpPr>
        <p:spPr>
          <a:xfrm>
            <a:off x="8558784" y="2450592"/>
            <a:ext cx="3200400" cy="411480"/>
          </a:xfrm>
          <a:prstGeom prst="rect">
            <a:avLst/>
          </a:prstGeom>
          <a:noFill/>
          <a:ln/>
        </p:spPr>
        <p:txBody>
          <a:bodyPr wrap="square" lIns="0" tIns="0" rIns="0" bIns="0" rtlCol="0" anchor="ctr"/>
          <a:lstStyle/>
          <a:p>
            <a:pPr indent="0" marL="0">
              <a:buNone/>
            </a:pPr>
            <a:r>
              <a:rPr lang="en-US" sz="2600" b="1" dirty="0">
                <a:solidFill>
                  <a:srgbClr val="0D1F33"/>
                </a:solidFill>
                <a:latin typeface="Arial" pitchFamily="34" charset="0"/>
                <a:ea typeface="Arial" pitchFamily="34" charset="-122"/>
                <a:cs typeface="Arial" pitchFamily="34" charset="-120"/>
              </a:rPr>
              <a:t>24</a:t>
            </a:r>
            <a:pPr indent="0" marL="0">
              <a:buNone/>
            </a:pPr>
            <a:r>
              <a:rPr lang="en-US" sz="1100" dirty="0">
                <a:solidFill>
                  <a:srgbClr val="5B6B7F"/>
                </a:solidFill>
                <a:latin typeface="Arial" pitchFamily="34" charset="0"/>
                <a:ea typeface="Arial" pitchFamily="34" charset="-122"/>
                <a:cs typeface="Arial" pitchFamily="34" charset="-120"/>
              </a:rPr>
              <a:t>  technologies in the lens</a:t>
            </a:r>
            <a:endParaRPr lang="en-US" sz="2600" dirty="0"/>
          </a:p>
        </p:txBody>
      </p:sp>
      <p:sp>
        <p:nvSpPr>
          <p:cNvPr id="45" name="Shape 40"/>
          <p:cNvSpPr/>
          <p:nvPr/>
        </p:nvSpPr>
        <p:spPr>
          <a:xfrm>
            <a:off x="8586216" y="3090672"/>
            <a:ext cx="91440" cy="91440"/>
          </a:xfrm>
          <a:prstGeom prst="ellipse">
            <a:avLst/>
          </a:prstGeom>
          <a:solidFill>
            <a:srgbClr val="0D1F33"/>
          </a:solidFill>
          <a:ln/>
        </p:spPr>
      </p:sp>
      <p:sp>
        <p:nvSpPr>
          <p:cNvPr id="46" name="Text 41"/>
          <p:cNvSpPr/>
          <p:nvPr/>
        </p:nvSpPr>
        <p:spPr>
          <a:xfrm>
            <a:off x="8787384" y="30175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Zonal E/E architecture + central compute</a:t>
            </a:r>
            <a:endParaRPr lang="en-US" sz="1050" dirty="0"/>
          </a:p>
        </p:txBody>
      </p:sp>
      <p:sp>
        <p:nvSpPr>
          <p:cNvPr id="47" name="Shape 42"/>
          <p:cNvSpPr/>
          <p:nvPr/>
        </p:nvSpPr>
        <p:spPr>
          <a:xfrm>
            <a:off x="8586216" y="3547872"/>
            <a:ext cx="91440" cy="91440"/>
          </a:xfrm>
          <a:prstGeom prst="ellipse">
            <a:avLst/>
          </a:prstGeom>
          <a:solidFill>
            <a:srgbClr val="0D1F33"/>
          </a:solidFill>
          <a:ln/>
        </p:spPr>
      </p:sp>
      <p:sp>
        <p:nvSpPr>
          <p:cNvPr id="48" name="Text 43"/>
          <p:cNvSpPr/>
          <p:nvPr/>
        </p:nvSpPr>
        <p:spPr>
          <a:xfrm>
            <a:off x="8787384" y="34747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End-to-end AI driving stacks</a:t>
            </a:r>
            <a:endParaRPr lang="en-US" sz="1050" dirty="0"/>
          </a:p>
        </p:txBody>
      </p:sp>
      <p:sp>
        <p:nvSpPr>
          <p:cNvPr id="49" name="Shape 44"/>
          <p:cNvSpPr/>
          <p:nvPr/>
        </p:nvSpPr>
        <p:spPr>
          <a:xfrm>
            <a:off x="8586216" y="4005072"/>
            <a:ext cx="91440" cy="91440"/>
          </a:xfrm>
          <a:prstGeom prst="ellipse">
            <a:avLst/>
          </a:prstGeom>
          <a:solidFill>
            <a:srgbClr val="0D1F33"/>
          </a:solidFill>
          <a:ln/>
        </p:spPr>
      </p:sp>
      <p:sp>
        <p:nvSpPr>
          <p:cNvPr id="50" name="Text 45"/>
          <p:cNvSpPr/>
          <p:nvPr/>
        </p:nvSpPr>
        <p:spPr>
          <a:xfrm>
            <a:off x="8787384" y="39319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Camera driver &amp; occupant monitoring as standard</a:t>
            </a:r>
            <a:endParaRPr lang="en-US" sz="1050" dirty="0"/>
          </a:p>
        </p:txBody>
      </p:sp>
      <p:sp>
        <p:nvSpPr>
          <p:cNvPr id="51" name="Shape 46"/>
          <p:cNvSpPr/>
          <p:nvPr/>
        </p:nvSpPr>
        <p:spPr>
          <a:xfrm>
            <a:off x="8586216" y="4462272"/>
            <a:ext cx="91440" cy="91440"/>
          </a:xfrm>
          <a:prstGeom prst="ellipse">
            <a:avLst/>
          </a:prstGeom>
          <a:solidFill>
            <a:srgbClr val="0D1F33"/>
          </a:solidFill>
          <a:ln/>
        </p:spPr>
      </p:sp>
      <p:sp>
        <p:nvSpPr>
          <p:cNvPr id="52" name="Text 47"/>
          <p:cNvSpPr/>
          <p:nvPr/>
        </p:nvSpPr>
        <p:spPr>
          <a:xfrm>
            <a:off x="8787384" y="43891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Onboard AI compute</a:t>
            </a:r>
            <a:endParaRPr lang="en-US" sz="1050" dirty="0"/>
          </a:p>
        </p:txBody>
      </p:sp>
      <p:sp>
        <p:nvSpPr>
          <p:cNvPr id="53" name="Shape 48"/>
          <p:cNvSpPr/>
          <p:nvPr/>
        </p:nvSpPr>
        <p:spPr>
          <a:xfrm>
            <a:off x="8586216" y="4919472"/>
            <a:ext cx="91440" cy="91440"/>
          </a:xfrm>
          <a:prstGeom prst="ellipse">
            <a:avLst/>
          </a:prstGeom>
          <a:solidFill>
            <a:srgbClr val="0D1F33"/>
          </a:solidFill>
          <a:ln/>
        </p:spPr>
      </p:sp>
      <p:sp>
        <p:nvSpPr>
          <p:cNvPr id="54" name="Text 49"/>
          <p:cNvSpPr/>
          <p:nvPr/>
        </p:nvSpPr>
        <p:spPr>
          <a:xfrm>
            <a:off x="8787384" y="4846320"/>
            <a:ext cx="3063240" cy="384048"/>
          </a:xfrm>
          <a:prstGeom prst="rect">
            <a:avLst/>
          </a:prstGeom>
          <a:noFill/>
          <a:ln/>
        </p:spPr>
        <p:txBody>
          <a:bodyPr wrap="square" lIns="0" tIns="0" rIns="0" bIns="0" rtlCol="0" anchor="ctr"/>
          <a:lstStyle/>
          <a:p>
            <a:pPr indent="0" marL="0">
              <a:buNone/>
            </a:pPr>
            <a:r>
              <a:rPr lang="en-US" sz="1050" dirty="0">
                <a:solidFill>
                  <a:srgbClr val="0D1F33"/>
                </a:solidFill>
                <a:latin typeface="Arial" pitchFamily="34" charset="0"/>
                <a:ea typeface="Arial" pitchFamily="34" charset="-122"/>
                <a:cs typeface="Arial" pitchFamily="34" charset="-120"/>
              </a:rPr>
              <a:t>Virtual ECUs &amp; software-defined consolidation</a:t>
            </a:r>
            <a:endParaRPr lang="en-US" sz="1050" dirty="0"/>
          </a:p>
        </p:txBody>
      </p:sp>
      <p:sp>
        <p:nvSpPr>
          <p:cNvPr id="55" name="Text 50"/>
          <p:cNvSpPr/>
          <p:nvPr/>
        </p:nvSpPr>
        <p:spPr>
          <a:xfrm>
            <a:off x="8558784" y="5321808"/>
            <a:ext cx="3200400" cy="457200"/>
          </a:xfrm>
          <a:prstGeom prst="rect">
            <a:avLst/>
          </a:prstGeom>
          <a:noFill/>
          <a:ln/>
        </p:spPr>
        <p:txBody>
          <a:bodyPr wrap="square" lIns="0" tIns="0" rIns="0" bIns="0" rtlCol="0" anchor="ctr"/>
          <a:lstStyle/>
          <a:p>
            <a:pPr indent="0" marL="0">
              <a:buNone/>
            </a:pPr>
            <a:r>
              <a:rPr lang="en-US" sz="950" i="1" dirty="0">
                <a:solidFill>
                  <a:srgbClr val="5B6B7F"/>
                </a:solidFill>
                <a:latin typeface="Arial" pitchFamily="34" charset="0"/>
                <a:ea typeface="Arial" pitchFamily="34" charset="-122"/>
                <a:cs typeface="Arial" pitchFamily="34" charset="-120"/>
              </a:rPr>
              <a:t>The software-defined half of the vehicle, end to end</a:t>
            </a:r>
            <a:endParaRPr lang="en-US" sz="950" dirty="0"/>
          </a:p>
        </p:txBody>
      </p:sp>
      <p:sp>
        <p:nvSpPr>
          <p:cNvPr id="56" name="Text 51"/>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8/16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890979" cy="329184"/>
          </a:xfrm>
          <a:prstGeom prst="roundRect">
            <a:avLst>
              <a:gd name="adj" fmla="val 50000"/>
            </a:avLst>
          </a:prstGeom>
          <a:solidFill>
            <a:srgbClr val="0D1F33"/>
          </a:solidFill>
          <a:ln/>
        </p:spPr>
      </p:sp>
      <p:sp>
        <p:nvSpPr>
          <p:cNvPr id="3" name="Text 1"/>
          <p:cNvSpPr/>
          <p:nvPr/>
        </p:nvSpPr>
        <p:spPr>
          <a:xfrm>
            <a:off x="502920" y="347472"/>
            <a:ext cx="1890979"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REGULATORY RADAR</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Dated obligations — with their LEGAL status, not just their headline</a:t>
            </a:r>
            <a:endParaRPr lang="en-US" sz="2800" dirty="0"/>
          </a:p>
        </p:txBody>
      </p:sp>
      <p:sp>
        <p:nvSpPr>
          <p:cNvPr id="5" name="Shape 3"/>
          <p:cNvSpPr/>
          <p:nvPr/>
        </p:nvSpPr>
        <p:spPr>
          <a:xfrm>
            <a:off x="731520" y="3657600"/>
            <a:ext cx="10698480" cy="0"/>
          </a:xfrm>
          <a:prstGeom prst="line">
            <a:avLst/>
          </a:prstGeom>
          <a:noFill/>
          <a:ln w="25400">
            <a:solidFill>
              <a:srgbClr val="0D1F33"/>
            </a:solidFill>
            <a:prstDash val="solid"/>
          </a:ln>
        </p:spPr>
      </p:sp>
      <p:sp>
        <p:nvSpPr>
          <p:cNvPr id="6" name="Shape 4"/>
          <p:cNvSpPr/>
          <p:nvPr/>
        </p:nvSpPr>
        <p:spPr>
          <a:xfrm>
            <a:off x="649224" y="3575304"/>
            <a:ext cx="164592" cy="164592"/>
          </a:xfrm>
          <a:prstGeom prst="ellipse">
            <a:avLst/>
          </a:prstGeom>
          <a:solidFill>
            <a:srgbClr val="0D9488"/>
          </a:solidFill>
          <a:ln/>
        </p:spPr>
      </p:sp>
      <p:sp>
        <p:nvSpPr>
          <p:cNvPr id="7" name="Shape 5"/>
          <p:cNvSpPr/>
          <p:nvPr/>
        </p:nvSpPr>
        <p:spPr>
          <a:xfrm>
            <a:off x="731520" y="2724912"/>
            <a:ext cx="0" cy="850392"/>
          </a:xfrm>
          <a:prstGeom prst="line">
            <a:avLst/>
          </a:prstGeom>
          <a:noFill/>
          <a:ln w="12700">
            <a:solidFill>
              <a:srgbClr val="C3CEDA"/>
            </a:solidFill>
            <a:prstDash val="solid"/>
          </a:ln>
        </p:spPr>
      </p:sp>
      <p:sp>
        <p:nvSpPr>
          <p:cNvPr id="8" name="Text 6"/>
          <p:cNvSpPr/>
          <p:nvPr/>
        </p:nvSpPr>
        <p:spPr>
          <a:xfrm>
            <a:off x="274320" y="1883664"/>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2024</a:t>
            </a:r>
            <a:endParaRPr lang="en-US" sz="1200" dirty="0"/>
          </a:p>
        </p:txBody>
      </p:sp>
      <p:sp>
        <p:nvSpPr>
          <p:cNvPr id="9" name="Text 7"/>
          <p:cNvSpPr/>
          <p:nvPr/>
        </p:nvSpPr>
        <p:spPr>
          <a:xfrm>
            <a:off x="274320" y="2121408"/>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General Safety Regulation 2</a:t>
            </a:r>
            <a:endParaRPr lang="en-US" sz="900" dirty="0"/>
          </a:p>
        </p:txBody>
      </p:sp>
      <p:sp>
        <p:nvSpPr>
          <p:cNvPr id="10" name="Shape 8"/>
          <p:cNvSpPr/>
          <p:nvPr/>
        </p:nvSpPr>
        <p:spPr>
          <a:xfrm>
            <a:off x="274320" y="2542032"/>
            <a:ext cx="1133856" cy="219456"/>
          </a:xfrm>
          <a:prstGeom prst="roundRect">
            <a:avLst>
              <a:gd name="adj" fmla="val 50000"/>
            </a:avLst>
          </a:prstGeom>
          <a:solidFill>
            <a:srgbClr val="0D9488"/>
          </a:solidFill>
          <a:ln/>
        </p:spPr>
      </p:sp>
      <p:sp>
        <p:nvSpPr>
          <p:cNvPr id="11" name="Text 9"/>
          <p:cNvSpPr/>
          <p:nvPr/>
        </p:nvSpPr>
        <p:spPr>
          <a:xfrm>
            <a:off x="274320" y="2542032"/>
            <a:ext cx="11338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IN FORCE</a:t>
            </a:r>
            <a:endParaRPr lang="en-US" sz="750" dirty="0"/>
          </a:p>
        </p:txBody>
      </p:sp>
      <p:sp>
        <p:nvSpPr>
          <p:cNvPr id="12" name="Shape 10"/>
          <p:cNvSpPr/>
          <p:nvPr/>
        </p:nvSpPr>
        <p:spPr>
          <a:xfrm>
            <a:off x="2594402" y="3575304"/>
            <a:ext cx="164592" cy="164592"/>
          </a:xfrm>
          <a:prstGeom prst="ellipse">
            <a:avLst/>
          </a:prstGeom>
          <a:solidFill>
            <a:srgbClr val="0D9488"/>
          </a:solidFill>
          <a:ln/>
        </p:spPr>
      </p:sp>
      <p:sp>
        <p:nvSpPr>
          <p:cNvPr id="13" name="Shape 11"/>
          <p:cNvSpPr/>
          <p:nvPr/>
        </p:nvSpPr>
        <p:spPr>
          <a:xfrm>
            <a:off x="2676698" y="3739896"/>
            <a:ext cx="0" cy="850392"/>
          </a:xfrm>
          <a:prstGeom prst="line">
            <a:avLst/>
          </a:prstGeom>
          <a:noFill/>
          <a:ln w="12700">
            <a:solidFill>
              <a:srgbClr val="C3CEDA"/>
            </a:solidFill>
            <a:prstDash val="solid"/>
          </a:ln>
        </p:spPr>
      </p:sp>
      <p:sp>
        <p:nvSpPr>
          <p:cNvPr id="14" name="Text 12"/>
          <p:cNvSpPr/>
          <p:nvPr/>
        </p:nvSpPr>
        <p:spPr>
          <a:xfrm>
            <a:off x="1899458" y="4206240"/>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2026</a:t>
            </a:r>
            <a:endParaRPr lang="en-US" sz="1200" dirty="0"/>
          </a:p>
        </p:txBody>
      </p:sp>
      <p:sp>
        <p:nvSpPr>
          <p:cNvPr id="15" name="Text 13"/>
          <p:cNvSpPr/>
          <p:nvPr/>
        </p:nvSpPr>
        <p:spPr>
          <a:xfrm>
            <a:off x="1716578" y="4443984"/>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CBAM definitive regime</a:t>
            </a:r>
            <a:endParaRPr lang="en-US" sz="900" dirty="0"/>
          </a:p>
        </p:txBody>
      </p:sp>
      <p:sp>
        <p:nvSpPr>
          <p:cNvPr id="16" name="Shape 14"/>
          <p:cNvSpPr/>
          <p:nvPr/>
        </p:nvSpPr>
        <p:spPr>
          <a:xfrm>
            <a:off x="2109770" y="4864608"/>
            <a:ext cx="1133856" cy="219456"/>
          </a:xfrm>
          <a:prstGeom prst="roundRect">
            <a:avLst>
              <a:gd name="adj" fmla="val 50000"/>
            </a:avLst>
          </a:prstGeom>
          <a:solidFill>
            <a:srgbClr val="0D9488"/>
          </a:solidFill>
          <a:ln/>
        </p:spPr>
      </p:sp>
      <p:sp>
        <p:nvSpPr>
          <p:cNvPr id="17" name="Text 15"/>
          <p:cNvSpPr/>
          <p:nvPr/>
        </p:nvSpPr>
        <p:spPr>
          <a:xfrm>
            <a:off x="2109770" y="4864608"/>
            <a:ext cx="11338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IN FORCE</a:t>
            </a:r>
            <a:endParaRPr lang="en-US" sz="750" dirty="0"/>
          </a:p>
        </p:txBody>
      </p:sp>
      <p:sp>
        <p:nvSpPr>
          <p:cNvPr id="18" name="Shape 16"/>
          <p:cNvSpPr/>
          <p:nvPr/>
        </p:nvSpPr>
        <p:spPr>
          <a:xfrm>
            <a:off x="2594402" y="3575304"/>
            <a:ext cx="164592" cy="164592"/>
          </a:xfrm>
          <a:prstGeom prst="ellipse">
            <a:avLst/>
          </a:prstGeom>
          <a:solidFill>
            <a:srgbClr val="0D9488"/>
          </a:solidFill>
          <a:ln/>
        </p:spPr>
      </p:sp>
      <p:sp>
        <p:nvSpPr>
          <p:cNvPr id="19" name="Shape 17"/>
          <p:cNvSpPr/>
          <p:nvPr/>
        </p:nvSpPr>
        <p:spPr>
          <a:xfrm>
            <a:off x="2676698" y="2724912"/>
            <a:ext cx="0" cy="850392"/>
          </a:xfrm>
          <a:prstGeom prst="line">
            <a:avLst/>
          </a:prstGeom>
          <a:noFill/>
          <a:ln w="12700">
            <a:solidFill>
              <a:srgbClr val="C3CEDA"/>
            </a:solidFill>
            <a:prstDash val="solid"/>
          </a:ln>
        </p:spPr>
      </p:sp>
      <p:sp>
        <p:nvSpPr>
          <p:cNvPr id="20" name="Text 18"/>
          <p:cNvSpPr/>
          <p:nvPr/>
        </p:nvSpPr>
        <p:spPr>
          <a:xfrm>
            <a:off x="1899458" y="1883664"/>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2026</a:t>
            </a:r>
            <a:endParaRPr lang="en-US" sz="1200" dirty="0"/>
          </a:p>
        </p:txBody>
      </p:sp>
      <p:sp>
        <p:nvSpPr>
          <p:cNvPr id="21" name="Text 19"/>
          <p:cNvSpPr/>
          <p:nvPr/>
        </p:nvSpPr>
        <p:spPr>
          <a:xfrm>
            <a:off x="1716578" y="2121408"/>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GB 38031-2025 battery safety</a:t>
            </a:r>
            <a:endParaRPr lang="en-US" sz="900" dirty="0"/>
          </a:p>
        </p:txBody>
      </p:sp>
      <p:sp>
        <p:nvSpPr>
          <p:cNvPr id="22" name="Shape 20"/>
          <p:cNvSpPr/>
          <p:nvPr/>
        </p:nvSpPr>
        <p:spPr>
          <a:xfrm>
            <a:off x="2109770" y="2542032"/>
            <a:ext cx="1133856" cy="219456"/>
          </a:xfrm>
          <a:prstGeom prst="roundRect">
            <a:avLst>
              <a:gd name="adj" fmla="val 50000"/>
            </a:avLst>
          </a:prstGeom>
          <a:solidFill>
            <a:srgbClr val="0D9488"/>
          </a:solidFill>
          <a:ln/>
        </p:spPr>
      </p:sp>
      <p:sp>
        <p:nvSpPr>
          <p:cNvPr id="23" name="Text 21"/>
          <p:cNvSpPr/>
          <p:nvPr/>
        </p:nvSpPr>
        <p:spPr>
          <a:xfrm>
            <a:off x="2109770" y="2542032"/>
            <a:ext cx="11338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IN FORCE</a:t>
            </a:r>
            <a:endParaRPr lang="en-US" sz="750" dirty="0"/>
          </a:p>
        </p:txBody>
      </p:sp>
      <p:sp>
        <p:nvSpPr>
          <p:cNvPr id="24" name="Shape 22"/>
          <p:cNvSpPr/>
          <p:nvPr/>
        </p:nvSpPr>
        <p:spPr>
          <a:xfrm>
            <a:off x="3566991" y="3575304"/>
            <a:ext cx="164592" cy="164592"/>
          </a:xfrm>
          <a:prstGeom prst="ellipse">
            <a:avLst/>
          </a:prstGeom>
          <a:solidFill>
            <a:srgbClr val="F59E0B"/>
          </a:solidFill>
          <a:ln/>
        </p:spPr>
      </p:sp>
      <p:sp>
        <p:nvSpPr>
          <p:cNvPr id="25" name="Shape 23"/>
          <p:cNvSpPr/>
          <p:nvPr/>
        </p:nvSpPr>
        <p:spPr>
          <a:xfrm>
            <a:off x="3649287" y="3739896"/>
            <a:ext cx="0" cy="850392"/>
          </a:xfrm>
          <a:prstGeom prst="line">
            <a:avLst/>
          </a:prstGeom>
          <a:noFill/>
          <a:ln w="12700">
            <a:solidFill>
              <a:srgbClr val="C3CEDA"/>
            </a:solidFill>
            <a:prstDash val="solid"/>
          </a:ln>
        </p:spPr>
      </p:sp>
      <p:sp>
        <p:nvSpPr>
          <p:cNvPr id="26" name="Text 24"/>
          <p:cNvSpPr/>
          <p:nvPr/>
        </p:nvSpPr>
        <p:spPr>
          <a:xfrm>
            <a:off x="2872047" y="4206240"/>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2027</a:t>
            </a:r>
            <a:endParaRPr lang="en-US" sz="1200" dirty="0"/>
          </a:p>
        </p:txBody>
      </p:sp>
      <p:sp>
        <p:nvSpPr>
          <p:cNvPr id="27" name="Text 25"/>
          <p:cNvSpPr/>
          <p:nvPr/>
        </p:nvSpPr>
        <p:spPr>
          <a:xfrm>
            <a:off x="2689167" y="4443984"/>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Euro 7 (M1)</a:t>
            </a:r>
            <a:endParaRPr lang="en-US" sz="900" dirty="0"/>
          </a:p>
        </p:txBody>
      </p:sp>
      <p:sp>
        <p:nvSpPr>
          <p:cNvPr id="28" name="Shape 26"/>
          <p:cNvSpPr/>
          <p:nvPr/>
        </p:nvSpPr>
        <p:spPr>
          <a:xfrm>
            <a:off x="3082359" y="4864608"/>
            <a:ext cx="1133856" cy="219456"/>
          </a:xfrm>
          <a:prstGeom prst="roundRect">
            <a:avLst>
              <a:gd name="adj" fmla="val 50000"/>
            </a:avLst>
          </a:prstGeom>
          <a:solidFill>
            <a:srgbClr val="F59E0B"/>
          </a:solidFill>
          <a:ln/>
        </p:spPr>
      </p:sp>
      <p:sp>
        <p:nvSpPr>
          <p:cNvPr id="29" name="Text 27"/>
          <p:cNvSpPr/>
          <p:nvPr/>
        </p:nvSpPr>
        <p:spPr>
          <a:xfrm>
            <a:off x="3082359" y="4864608"/>
            <a:ext cx="1133856" cy="219456"/>
          </a:xfrm>
          <a:prstGeom prst="rect">
            <a:avLst/>
          </a:prstGeom>
          <a:noFill/>
          <a:ln/>
        </p:spPr>
        <p:txBody>
          <a:bodyPr wrap="square" lIns="0" tIns="0" rIns="0" bIns="0" rtlCol="0" anchor="ctr"/>
          <a:lstStyle/>
          <a:p>
            <a:pPr algn="ctr" indent="0" marL="0">
              <a:buNone/>
            </a:pPr>
            <a:r>
              <a:rPr lang="en-US" sz="750" b="1" dirty="0">
                <a:solidFill>
                  <a:srgbClr val="4A2E05"/>
                </a:solidFill>
                <a:latin typeface="Courier New" pitchFamily="34" charset="0"/>
                <a:ea typeface="Courier New" pitchFamily="34" charset="-122"/>
                <a:cs typeface="Courier New" pitchFamily="34" charset="-120"/>
              </a:rPr>
              <a:t>ADOPTED</a:t>
            </a:r>
            <a:endParaRPr lang="en-US" sz="750" dirty="0"/>
          </a:p>
        </p:txBody>
      </p:sp>
      <p:sp>
        <p:nvSpPr>
          <p:cNvPr id="30" name="Shape 28"/>
          <p:cNvSpPr/>
          <p:nvPr/>
        </p:nvSpPr>
        <p:spPr>
          <a:xfrm>
            <a:off x="3566991" y="3575304"/>
            <a:ext cx="164592" cy="164592"/>
          </a:xfrm>
          <a:prstGeom prst="ellipse">
            <a:avLst/>
          </a:prstGeom>
          <a:solidFill>
            <a:srgbClr val="F59E0B"/>
          </a:solidFill>
          <a:ln/>
        </p:spPr>
      </p:sp>
      <p:sp>
        <p:nvSpPr>
          <p:cNvPr id="31" name="Shape 29"/>
          <p:cNvSpPr/>
          <p:nvPr/>
        </p:nvSpPr>
        <p:spPr>
          <a:xfrm>
            <a:off x="3649287" y="2724912"/>
            <a:ext cx="0" cy="850392"/>
          </a:xfrm>
          <a:prstGeom prst="line">
            <a:avLst/>
          </a:prstGeom>
          <a:noFill/>
          <a:ln w="12700">
            <a:solidFill>
              <a:srgbClr val="C3CEDA"/>
            </a:solidFill>
            <a:prstDash val="solid"/>
          </a:ln>
        </p:spPr>
      </p:sp>
      <p:sp>
        <p:nvSpPr>
          <p:cNvPr id="32" name="Text 30"/>
          <p:cNvSpPr/>
          <p:nvPr/>
        </p:nvSpPr>
        <p:spPr>
          <a:xfrm>
            <a:off x="2872047" y="1883664"/>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2027</a:t>
            </a:r>
            <a:endParaRPr lang="en-US" sz="1200" dirty="0"/>
          </a:p>
        </p:txBody>
      </p:sp>
      <p:sp>
        <p:nvSpPr>
          <p:cNvPr id="33" name="Text 31"/>
          <p:cNvSpPr/>
          <p:nvPr/>
        </p:nvSpPr>
        <p:spPr>
          <a:xfrm>
            <a:off x="2689167" y="2121408"/>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Battery Reg: digital passport</a:t>
            </a:r>
            <a:endParaRPr lang="en-US" sz="900" dirty="0"/>
          </a:p>
        </p:txBody>
      </p:sp>
      <p:sp>
        <p:nvSpPr>
          <p:cNvPr id="34" name="Shape 32"/>
          <p:cNvSpPr/>
          <p:nvPr/>
        </p:nvSpPr>
        <p:spPr>
          <a:xfrm>
            <a:off x="3082359" y="2542032"/>
            <a:ext cx="1133856" cy="219456"/>
          </a:xfrm>
          <a:prstGeom prst="roundRect">
            <a:avLst>
              <a:gd name="adj" fmla="val 50000"/>
            </a:avLst>
          </a:prstGeom>
          <a:solidFill>
            <a:srgbClr val="F59E0B"/>
          </a:solidFill>
          <a:ln/>
        </p:spPr>
      </p:sp>
      <p:sp>
        <p:nvSpPr>
          <p:cNvPr id="35" name="Text 33"/>
          <p:cNvSpPr/>
          <p:nvPr/>
        </p:nvSpPr>
        <p:spPr>
          <a:xfrm>
            <a:off x="3082359" y="2542032"/>
            <a:ext cx="1133856" cy="219456"/>
          </a:xfrm>
          <a:prstGeom prst="rect">
            <a:avLst/>
          </a:prstGeom>
          <a:noFill/>
          <a:ln/>
        </p:spPr>
        <p:txBody>
          <a:bodyPr wrap="square" lIns="0" tIns="0" rIns="0" bIns="0" rtlCol="0" anchor="ctr"/>
          <a:lstStyle/>
          <a:p>
            <a:pPr algn="ctr" indent="0" marL="0">
              <a:buNone/>
            </a:pPr>
            <a:r>
              <a:rPr lang="en-US" sz="750" b="1" dirty="0">
                <a:solidFill>
                  <a:srgbClr val="4A2E05"/>
                </a:solidFill>
                <a:latin typeface="Courier New" pitchFamily="34" charset="0"/>
                <a:ea typeface="Courier New" pitchFamily="34" charset="-122"/>
                <a:cs typeface="Courier New" pitchFamily="34" charset="-120"/>
              </a:rPr>
              <a:t>ADOPTED</a:t>
            </a:r>
            <a:endParaRPr lang="en-US" sz="750" dirty="0"/>
          </a:p>
        </p:txBody>
      </p:sp>
      <p:sp>
        <p:nvSpPr>
          <p:cNvPr id="36" name="Shape 34"/>
          <p:cNvSpPr/>
          <p:nvPr/>
        </p:nvSpPr>
        <p:spPr>
          <a:xfrm>
            <a:off x="3566991" y="3575304"/>
            <a:ext cx="164592" cy="164592"/>
          </a:xfrm>
          <a:prstGeom prst="ellipse">
            <a:avLst/>
          </a:prstGeom>
          <a:solidFill>
            <a:srgbClr val="B91C1C"/>
          </a:solidFill>
          <a:ln/>
        </p:spPr>
      </p:sp>
      <p:sp>
        <p:nvSpPr>
          <p:cNvPr id="37" name="Shape 35"/>
          <p:cNvSpPr/>
          <p:nvPr/>
        </p:nvSpPr>
        <p:spPr>
          <a:xfrm>
            <a:off x="3649287" y="3739896"/>
            <a:ext cx="0" cy="850392"/>
          </a:xfrm>
          <a:prstGeom prst="line">
            <a:avLst/>
          </a:prstGeom>
          <a:noFill/>
          <a:ln w="12700">
            <a:solidFill>
              <a:srgbClr val="C3CEDA"/>
            </a:solidFill>
            <a:prstDash val="solid"/>
          </a:ln>
        </p:spPr>
      </p:sp>
      <p:sp>
        <p:nvSpPr>
          <p:cNvPr id="38" name="Text 36"/>
          <p:cNvSpPr/>
          <p:nvPr/>
        </p:nvSpPr>
        <p:spPr>
          <a:xfrm>
            <a:off x="2872047" y="4206240"/>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2027</a:t>
            </a:r>
            <a:endParaRPr lang="en-US" sz="1200" dirty="0"/>
          </a:p>
        </p:txBody>
      </p:sp>
      <p:sp>
        <p:nvSpPr>
          <p:cNvPr id="39" name="Text 37"/>
          <p:cNvSpPr/>
          <p:nvPr/>
        </p:nvSpPr>
        <p:spPr>
          <a:xfrm>
            <a:off x="2689167" y="4443984"/>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US EPA MY2027-2032 standards</a:t>
            </a:r>
            <a:endParaRPr lang="en-US" sz="900" dirty="0"/>
          </a:p>
        </p:txBody>
      </p:sp>
      <p:sp>
        <p:nvSpPr>
          <p:cNvPr id="40" name="Shape 38"/>
          <p:cNvSpPr/>
          <p:nvPr/>
        </p:nvSpPr>
        <p:spPr>
          <a:xfrm>
            <a:off x="3082359" y="4864608"/>
            <a:ext cx="1133856" cy="219456"/>
          </a:xfrm>
          <a:prstGeom prst="roundRect">
            <a:avLst>
              <a:gd name="adj" fmla="val 50000"/>
            </a:avLst>
          </a:prstGeom>
          <a:solidFill>
            <a:srgbClr val="B91C1C"/>
          </a:solidFill>
          <a:ln/>
        </p:spPr>
      </p:sp>
      <p:sp>
        <p:nvSpPr>
          <p:cNvPr id="41" name="Text 39"/>
          <p:cNvSpPr/>
          <p:nvPr/>
        </p:nvSpPr>
        <p:spPr>
          <a:xfrm>
            <a:off x="3082359" y="4864608"/>
            <a:ext cx="11338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UNDER REVISION</a:t>
            </a:r>
            <a:endParaRPr lang="en-US" sz="750" dirty="0"/>
          </a:p>
        </p:txBody>
      </p:sp>
      <p:sp>
        <p:nvSpPr>
          <p:cNvPr id="42" name="Shape 40"/>
          <p:cNvSpPr/>
          <p:nvPr/>
        </p:nvSpPr>
        <p:spPr>
          <a:xfrm>
            <a:off x="4539580" y="3575304"/>
            <a:ext cx="164592" cy="164592"/>
          </a:xfrm>
          <a:prstGeom prst="ellipse">
            <a:avLst/>
          </a:prstGeom>
          <a:solidFill>
            <a:srgbClr val="94A3B8"/>
          </a:solidFill>
          <a:ln/>
        </p:spPr>
      </p:sp>
      <p:sp>
        <p:nvSpPr>
          <p:cNvPr id="43" name="Shape 41"/>
          <p:cNvSpPr/>
          <p:nvPr/>
        </p:nvSpPr>
        <p:spPr>
          <a:xfrm>
            <a:off x="4621876" y="2724912"/>
            <a:ext cx="0" cy="850392"/>
          </a:xfrm>
          <a:prstGeom prst="line">
            <a:avLst/>
          </a:prstGeom>
          <a:noFill/>
          <a:ln w="12700">
            <a:solidFill>
              <a:srgbClr val="C3CEDA"/>
            </a:solidFill>
            <a:prstDash val="solid"/>
          </a:ln>
        </p:spPr>
      </p:sp>
      <p:sp>
        <p:nvSpPr>
          <p:cNvPr id="44" name="Text 42"/>
          <p:cNvSpPr/>
          <p:nvPr/>
        </p:nvSpPr>
        <p:spPr>
          <a:xfrm>
            <a:off x="3844636" y="1883664"/>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2028</a:t>
            </a:r>
            <a:endParaRPr lang="en-US" sz="1200" dirty="0"/>
          </a:p>
        </p:txBody>
      </p:sp>
      <p:sp>
        <p:nvSpPr>
          <p:cNvPr id="45" name="Text 43"/>
          <p:cNvSpPr/>
          <p:nvPr/>
        </p:nvSpPr>
        <p:spPr>
          <a:xfrm>
            <a:off x="3661756" y="2121408"/>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PFAS restriction (REACH)</a:t>
            </a:r>
            <a:endParaRPr lang="en-US" sz="900" dirty="0"/>
          </a:p>
        </p:txBody>
      </p:sp>
      <p:sp>
        <p:nvSpPr>
          <p:cNvPr id="46" name="Shape 44"/>
          <p:cNvSpPr/>
          <p:nvPr/>
        </p:nvSpPr>
        <p:spPr>
          <a:xfrm>
            <a:off x="4054948" y="2542032"/>
            <a:ext cx="1133856" cy="219456"/>
          </a:xfrm>
          <a:prstGeom prst="roundRect">
            <a:avLst>
              <a:gd name="adj" fmla="val 50000"/>
            </a:avLst>
          </a:prstGeom>
          <a:solidFill>
            <a:srgbClr val="94A3B8"/>
          </a:solidFill>
          <a:ln/>
        </p:spPr>
      </p:sp>
      <p:sp>
        <p:nvSpPr>
          <p:cNvPr id="47" name="Text 45"/>
          <p:cNvSpPr/>
          <p:nvPr/>
        </p:nvSpPr>
        <p:spPr>
          <a:xfrm>
            <a:off x="4054948" y="2542032"/>
            <a:ext cx="11338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PROPOSED</a:t>
            </a:r>
            <a:endParaRPr lang="en-US" sz="750" dirty="0"/>
          </a:p>
        </p:txBody>
      </p:sp>
      <p:sp>
        <p:nvSpPr>
          <p:cNvPr id="48" name="Shape 46"/>
          <p:cNvSpPr/>
          <p:nvPr/>
        </p:nvSpPr>
        <p:spPr>
          <a:xfrm>
            <a:off x="6484759" y="3575304"/>
            <a:ext cx="164592" cy="164592"/>
          </a:xfrm>
          <a:prstGeom prst="ellipse">
            <a:avLst/>
          </a:prstGeom>
          <a:solidFill>
            <a:srgbClr val="0D9488"/>
          </a:solidFill>
          <a:ln/>
        </p:spPr>
      </p:sp>
      <p:sp>
        <p:nvSpPr>
          <p:cNvPr id="49" name="Shape 47"/>
          <p:cNvSpPr/>
          <p:nvPr/>
        </p:nvSpPr>
        <p:spPr>
          <a:xfrm>
            <a:off x="6567055" y="3739896"/>
            <a:ext cx="0" cy="850392"/>
          </a:xfrm>
          <a:prstGeom prst="line">
            <a:avLst/>
          </a:prstGeom>
          <a:noFill/>
          <a:ln w="12700">
            <a:solidFill>
              <a:srgbClr val="C3CEDA"/>
            </a:solidFill>
            <a:prstDash val="solid"/>
          </a:ln>
        </p:spPr>
      </p:sp>
      <p:sp>
        <p:nvSpPr>
          <p:cNvPr id="50" name="Text 48"/>
          <p:cNvSpPr/>
          <p:nvPr/>
        </p:nvSpPr>
        <p:spPr>
          <a:xfrm>
            <a:off x="5789815" y="4206240"/>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2030</a:t>
            </a:r>
            <a:endParaRPr lang="en-US" sz="1200" dirty="0"/>
          </a:p>
        </p:txBody>
      </p:sp>
      <p:sp>
        <p:nvSpPr>
          <p:cNvPr id="51" name="Text 49"/>
          <p:cNvSpPr/>
          <p:nvPr/>
        </p:nvSpPr>
        <p:spPr>
          <a:xfrm>
            <a:off x="5606935" y="4443984"/>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CO2 fleet targets −55%</a:t>
            </a:r>
            <a:endParaRPr lang="en-US" sz="900" dirty="0"/>
          </a:p>
        </p:txBody>
      </p:sp>
      <p:sp>
        <p:nvSpPr>
          <p:cNvPr id="52" name="Shape 50"/>
          <p:cNvSpPr/>
          <p:nvPr/>
        </p:nvSpPr>
        <p:spPr>
          <a:xfrm>
            <a:off x="6000127" y="4864608"/>
            <a:ext cx="1133856" cy="219456"/>
          </a:xfrm>
          <a:prstGeom prst="roundRect">
            <a:avLst>
              <a:gd name="adj" fmla="val 50000"/>
            </a:avLst>
          </a:prstGeom>
          <a:solidFill>
            <a:srgbClr val="0D9488"/>
          </a:solidFill>
          <a:ln/>
        </p:spPr>
      </p:sp>
      <p:sp>
        <p:nvSpPr>
          <p:cNvPr id="53" name="Text 51"/>
          <p:cNvSpPr/>
          <p:nvPr/>
        </p:nvSpPr>
        <p:spPr>
          <a:xfrm>
            <a:off x="6000127" y="4864608"/>
            <a:ext cx="1133856" cy="219456"/>
          </a:xfrm>
          <a:prstGeom prst="rect">
            <a:avLst/>
          </a:prstGeom>
          <a:noFill/>
          <a:ln/>
        </p:spPr>
        <p:txBody>
          <a:bodyPr wrap="square" lIns="0" tIns="0" rIns="0" bIns="0" rtlCol="0" anchor="ctr"/>
          <a:lstStyle/>
          <a:p>
            <a:pPr algn="ctr" indent="0" marL="0">
              <a:buNone/>
            </a:pPr>
            <a:r>
              <a:rPr lang="en-US" sz="750" b="1" dirty="0">
                <a:solidFill>
                  <a:srgbClr val="FFFFFF"/>
                </a:solidFill>
                <a:latin typeface="Courier New" pitchFamily="34" charset="0"/>
                <a:ea typeface="Courier New" pitchFamily="34" charset="-122"/>
                <a:cs typeface="Courier New" pitchFamily="34" charset="-120"/>
              </a:rPr>
              <a:t>IN FORCE</a:t>
            </a:r>
            <a:endParaRPr lang="en-US" sz="750" dirty="0"/>
          </a:p>
        </p:txBody>
      </p:sp>
      <p:sp>
        <p:nvSpPr>
          <p:cNvPr id="54" name="Shape 52"/>
          <p:cNvSpPr/>
          <p:nvPr/>
        </p:nvSpPr>
        <p:spPr>
          <a:xfrm>
            <a:off x="7457348" y="3575304"/>
            <a:ext cx="164592" cy="164592"/>
          </a:xfrm>
          <a:prstGeom prst="ellipse">
            <a:avLst/>
          </a:prstGeom>
          <a:solidFill>
            <a:srgbClr val="F59E0B"/>
          </a:solidFill>
          <a:ln/>
        </p:spPr>
      </p:sp>
      <p:sp>
        <p:nvSpPr>
          <p:cNvPr id="55" name="Shape 53"/>
          <p:cNvSpPr/>
          <p:nvPr/>
        </p:nvSpPr>
        <p:spPr>
          <a:xfrm>
            <a:off x="7539644" y="2724912"/>
            <a:ext cx="0" cy="850392"/>
          </a:xfrm>
          <a:prstGeom prst="line">
            <a:avLst/>
          </a:prstGeom>
          <a:noFill/>
          <a:ln w="12700">
            <a:solidFill>
              <a:srgbClr val="C3CEDA"/>
            </a:solidFill>
            <a:prstDash val="solid"/>
          </a:ln>
        </p:spPr>
      </p:sp>
      <p:sp>
        <p:nvSpPr>
          <p:cNvPr id="56" name="Text 54"/>
          <p:cNvSpPr/>
          <p:nvPr/>
        </p:nvSpPr>
        <p:spPr>
          <a:xfrm>
            <a:off x="6762404" y="1883664"/>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2031</a:t>
            </a:r>
            <a:endParaRPr lang="en-US" sz="1200" dirty="0"/>
          </a:p>
        </p:txBody>
      </p:sp>
      <p:sp>
        <p:nvSpPr>
          <p:cNvPr id="57" name="Text 55"/>
          <p:cNvSpPr/>
          <p:nvPr/>
        </p:nvSpPr>
        <p:spPr>
          <a:xfrm>
            <a:off x="6579524" y="2121408"/>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Battery Reg: recycled content</a:t>
            </a:r>
            <a:endParaRPr lang="en-US" sz="900" dirty="0"/>
          </a:p>
        </p:txBody>
      </p:sp>
      <p:sp>
        <p:nvSpPr>
          <p:cNvPr id="58" name="Shape 56"/>
          <p:cNvSpPr/>
          <p:nvPr/>
        </p:nvSpPr>
        <p:spPr>
          <a:xfrm>
            <a:off x="6972716" y="2542032"/>
            <a:ext cx="1133856" cy="219456"/>
          </a:xfrm>
          <a:prstGeom prst="roundRect">
            <a:avLst>
              <a:gd name="adj" fmla="val 50000"/>
            </a:avLst>
          </a:prstGeom>
          <a:solidFill>
            <a:srgbClr val="F59E0B"/>
          </a:solidFill>
          <a:ln/>
        </p:spPr>
      </p:sp>
      <p:sp>
        <p:nvSpPr>
          <p:cNvPr id="59" name="Text 57"/>
          <p:cNvSpPr/>
          <p:nvPr/>
        </p:nvSpPr>
        <p:spPr>
          <a:xfrm>
            <a:off x="6972716" y="2542032"/>
            <a:ext cx="1133856" cy="219456"/>
          </a:xfrm>
          <a:prstGeom prst="rect">
            <a:avLst/>
          </a:prstGeom>
          <a:noFill/>
          <a:ln/>
        </p:spPr>
        <p:txBody>
          <a:bodyPr wrap="square" lIns="0" tIns="0" rIns="0" bIns="0" rtlCol="0" anchor="ctr"/>
          <a:lstStyle/>
          <a:p>
            <a:pPr algn="ctr" indent="0" marL="0">
              <a:buNone/>
            </a:pPr>
            <a:r>
              <a:rPr lang="en-US" sz="750" b="1" dirty="0">
                <a:solidFill>
                  <a:srgbClr val="4A2E05"/>
                </a:solidFill>
                <a:latin typeface="Courier New" pitchFamily="34" charset="0"/>
                <a:ea typeface="Courier New" pitchFamily="34" charset="-122"/>
                <a:cs typeface="Courier New" pitchFamily="34" charset="-120"/>
              </a:rPr>
              <a:t>ADOPTED</a:t>
            </a:r>
            <a:endParaRPr lang="en-US" sz="750" dirty="0"/>
          </a:p>
        </p:txBody>
      </p:sp>
      <p:sp>
        <p:nvSpPr>
          <p:cNvPr id="60" name="Shape 58"/>
          <p:cNvSpPr/>
          <p:nvPr/>
        </p:nvSpPr>
        <p:spPr>
          <a:xfrm>
            <a:off x="8429937" y="3575304"/>
            <a:ext cx="164592" cy="164592"/>
          </a:xfrm>
          <a:prstGeom prst="ellipse">
            <a:avLst/>
          </a:prstGeom>
          <a:solidFill>
            <a:srgbClr val="F59E0B"/>
          </a:solidFill>
          <a:ln/>
        </p:spPr>
      </p:sp>
      <p:sp>
        <p:nvSpPr>
          <p:cNvPr id="61" name="Shape 59"/>
          <p:cNvSpPr/>
          <p:nvPr/>
        </p:nvSpPr>
        <p:spPr>
          <a:xfrm>
            <a:off x="8512233" y="3739896"/>
            <a:ext cx="0" cy="850392"/>
          </a:xfrm>
          <a:prstGeom prst="line">
            <a:avLst/>
          </a:prstGeom>
          <a:noFill/>
          <a:ln w="12700">
            <a:solidFill>
              <a:srgbClr val="C3CEDA"/>
            </a:solidFill>
            <a:prstDash val="solid"/>
          </a:ln>
        </p:spPr>
      </p:sp>
      <p:sp>
        <p:nvSpPr>
          <p:cNvPr id="62" name="Text 60"/>
          <p:cNvSpPr/>
          <p:nvPr/>
        </p:nvSpPr>
        <p:spPr>
          <a:xfrm>
            <a:off x="7734993" y="4206240"/>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2032</a:t>
            </a:r>
            <a:endParaRPr lang="en-US" sz="1200" dirty="0"/>
          </a:p>
        </p:txBody>
      </p:sp>
      <p:sp>
        <p:nvSpPr>
          <p:cNvPr id="63" name="Text 61"/>
          <p:cNvSpPr/>
          <p:nvPr/>
        </p:nvSpPr>
        <p:spPr>
          <a:xfrm>
            <a:off x="7552113" y="4443984"/>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ELV Regulation recast</a:t>
            </a:r>
            <a:endParaRPr lang="en-US" sz="900" dirty="0"/>
          </a:p>
        </p:txBody>
      </p:sp>
      <p:sp>
        <p:nvSpPr>
          <p:cNvPr id="64" name="Shape 62"/>
          <p:cNvSpPr/>
          <p:nvPr/>
        </p:nvSpPr>
        <p:spPr>
          <a:xfrm>
            <a:off x="7945305" y="4864608"/>
            <a:ext cx="1133856" cy="219456"/>
          </a:xfrm>
          <a:prstGeom prst="roundRect">
            <a:avLst>
              <a:gd name="adj" fmla="val 50000"/>
            </a:avLst>
          </a:prstGeom>
          <a:solidFill>
            <a:srgbClr val="F59E0B"/>
          </a:solidFill>
          <a:ln/>
        </p:spPr>
      </p:sp>
      <p:sp>
        <p:nvSpPr>
          <p:cNvPr id="65" name="Text 63"/>
          <p:cNvSpPr/>
          <p:nvPr/>
        </p:nvSpPr>
        <p:spPr>
          <a:xfrm>
            <a:off x="7945305" y="4864608"/>
            <a:ext cx="1133856" cy="219456"/>
          </a:xfrm>
          <a:prstGeom prst="rect">
            <a:avLst/>
          </a:prstGeom>
          <a:noFill/>
          <a:ln/>
        </p:spPr>
        <p:txBody>
          <a:bodyPr wrap="square" lIns="0" tIns="0" rIns="0" bIns="0" rtlCol="0" anchor="ctr"/>
          <a:lstStyle/>
          <a:p>
            <a:pPr algn="ctr" indent="0" marL="0">
              <a:buNone/>
            </a:pPr>
            <a:r>
              <a:rPr lang="en-US" sz="750" b="1" dirty="0">
                <a:solidFill>
                  <a:srgbClr val="4A2E05"/>
                </a:solidFill>
                <a:latin typeface="Courier New" pitchFamily="34" charset="0"/>
                <a:ea typeface="Courier New" pitchFamily="34" charset="-122"/>
                <a:cs typeface="Courier New" pitchFamily="34" charset="-120"/>
              </a:rPr>
              <a:t>ADOPTED</a:t>
            </a:r>
            <a:endParaRPr lang="en-US" sz="750" dirty="0"/>
          </a:p>
        </p:txBody>
      </p:sp>
      <p:sp>
        <p:nvSpPr>
          <p:cNvPr id="66" name="Shape 64"/>
          <p:cNvSpPr/>
          <p:nvPr/>
        </p:nvSpPr>
        <p:spPr>
          <a:xfrm>
            <a:off x="11347704" y="3575304"/>
            <a:ext cx="164592" cy="164592"/>
          </a:xfrm>
          <a:prstGeom prst="ellipse">
            <a:avLst/>
          </a:prstGeom>
          <a:solidFill>
            <a:srgbClr val="F59E0B"/>
          </a:solidFill>
          <a:ln/>
        </p:spPr>
      </p:sp>
      <p:sp>
        <p:nvSpPr>
          <p:cNvPr id="67" name="Shape 65"/>
          <p:cNvSpPr/>
          <p:nvPr/>
        </p:nvSpPr>
        <p:spPr>
          <a:xfrm>
            <a:off x="11430000" y="2724912"/>
            <a:ext cx="0" cy="850392"/>
          </a:xfrm>
          <a:prstGeom prst="line">
            <a:avLst/>
          </a:prstGeom>
          <a:noFill/>
          <a:ln w="12700">
            <a:solidFill>
              <a:srgbClr val="C3CEDA"/>
            </a:solidFill>
            <a:prstDash val="solid"/>
          </a:ln>
        </p:spPr>
      </p:sp>
      <p:sp>
        <p:nvSpPr>
          <p:cNvPr id="68" name="Text 66"/>
          <p:cNvSpPr/>
          <p:nvPr/>
        </p:nvSpPr>
        <p:spPr>
          <a:xfrm>
            <a:off x="10360152" y="1883664"/>
            <a:ext cx="1554480" cy="256032"/>
          </a:xfrm>
          <a:prstGeom prst="rect">
            <a:avLst/>
          </a:prstGeom>
          <a:noFill/>
          <a:ln/>
        </p:spPr>
        <p:txBody>
          <a:bodyPr wrap="square" lIns="0" tIns="0" rIns="0" bIns="0" rtlCol="0" anchor="ctr"/>
          <a:lstStyle/>
          <a:p>
            <a:pPr algn="ctr" indent="0" marL="0">
              <a:buNone/>
            </a:pPr>
            <a:r>
              <a:rPr lang="en-US" sz="1200" b="1" dirty="0">
                <a:solidFill>
                  <a:srgbClr val="0D1F33"/>
                </a:solidFill>
                <a:latin typeface="Courier New" pitchFamily="34" charset="0"/>
                <a:ea typeface="Courier New" pitchFamily="34" charset="-122"/>
                <a:cs typeface="Courier New" pitchFamily="34" charset="-120"/>
              </a:rPr>
              <a:t>2035</a:t>
            </a:r>
            <a:endParaRPr lang="en-US" sz="1200" dirty="0"/>
          </a:p>
        </p:txBody>
      </p:sp>
      <p:sp>
        <p:nvSpPr>
          <p:cNvPr id="69" name="Text 67"/>
          <p:cNvSpPr/>
          <p:nvPr/>
        </p:nvSpPr>
        <p:spPr>
          <a:xfrm>
            <a:off x="9994392" y="2121408"/>
            <a:ext cx="1920240" cy="457200"/>
          </a:xfrm>
          <a:prstGeom prst="rect">
            <a:avLst/>
          </a:prstGeom>
          <a:noFill/>
          <a:ln/>
        </p:spPr>
        <p:txBody>
          <a:bodyPr wrap="square" lIns="0" tIns="0" rIns="0" bIns="0" rtlCol="0" anchor="ctr"/>
          <a:lstStyle/>
          <a:p>
            <a:pPr algn="ctr" indent="0" marL="0">
              <a:buNone/>
            </a:pPr>
            <a:r>
              <a:rPr lang="en-US" sz="900" dirty="0">
                <a:solidFill>
                  <a:srgbClr val="5B6B7F"/>
                </a:solidFill>
                <a:latin typeface="Arial" pitchFamily="34" charset="0"/>
                <a:ea typeface="Arial" pitchFamily="34" charset="-122"/>
                <a:cs typeface="Arial" pitchFamily="34" charset="-120"/>
              </a:rPr>
              <a:t>100% zero-emission new cars</a:t>
            </a:r>
            <a:endParaRPr lang="en-US" sz="900" dirty="0"/>
          </a:p>
        </p:txBody>
      </p:sp>
      <p:sp>
        <p:nvSpPr>
          <p:cNvPr id="70" name="Shape 68"/>
          <p:cNvSpPr/>
          <p:nvPr/>
        </p:nvSpPr>
        <p:spPr>
          <a:xfrm>
            <a:off x="10780776" y="2542032"/>
            <a:ext cx="1133856" cy="219456"/>
          </a:xfrm>
          <a:prstGeom prst="roundRect">
            <a:avLst>
              <a:gd name="adj" fmla="val 50000"/>
            </a:avLst>
          </a:prstGeom>
          <a:solidFill>
            <a:srgbClr val="F59E0B"/>
          </a:solidFill>
          <a:ln/>
        </p:spPr>
      </p:sp>
      <p:sp>
        <p:nvSpPr>
          <p:cNvPr id="71" name="Text 69"/>
          <p:cNvSpPr/>
          <p:nvPr/>
        </p:nvSpPr>
        <p:spPr>
          <a:xfrm>
            <a:off x="10780776" y="2542032"/>
            <a:ext cx="1133856" cy="219456"/>
          </a:xfrm>
          <a:prstGeom prst="rect">
            <a:avLst/>
          </a:prstGeom>
          <a:noFill/>
          <a:ln/>
        </p:spPr>
        <p:txBody>
          <a:bodyPr wrap="square" lIns="0" tIns="0" rIns="0" bIns="0" rtlCol="0" anchor="ctr"/>
          <a:lstStyle/>
          <a:p>
            <a:pPr algn="ctr" indent="0" marL="0">
              <a:buNone/>
            </a:pPr>
            <a:r>
              <a:rPr lang="en-US" sz="750" b="1" dirty="0">
                <a:solidFill>
                  <a:srgbClr val="4A2E05"/>
                </a:solidFill>
                <a:latin typeface="Courier New" pitchFamily="34" charset="0"/>
                <a:ea typeface="Courier New" pitchFamily="34" charset="-122"/>
                <a:cs typeface="Courier New" pitchFamily="34" charset="-120"/>
              </a:rPr>
              <a:t>ADOPTED</a:t>
            </a:r>
            <a:endParaRPr lang="en-US" sz="750" dirty="0"/>
          </a:p>
        </p:txBody>
      </p:sp>
      <p:sp>
        <p:nvSpPr>
          <p:cNvPr id="72" name="Text 70"/>
          <p:cNvSpPr/>
          <p:nvPr/>
        </p:nvSpPr>
        <p:spPr>
          <a:xfrm>
            <a:off x="502920" y="5486400"/>
            <a:ext cx="11155680" cy="868680"/>
          </a:xfrm>
          <a:prstGeom prst="rect">
            <a:avLst/>
          </a:prstGeom>
          <a:noFill/>
          <a:ln/>
        </p:spPr>
        <p:txBody>
          <a:bodyPr wrap="square" lIns="0" tIns="0" rIns="0" bIns="0" rtlCol="0" anchor="ctr"/>
          <a:lstStyle/>
          <a:p>
            <a:pPr indent="0" marL="0">
              <a:buNone/>
            </a:pPr>
            <a:r>
              <a:rPr lang="en-US" sz="1150" b="1" dirty="0">
                <a:solidFill>
                  <a:srgbClr val="0D1F33"/>
                </a:solidFill>
                <a:latin typeface="Arial" pitchFamily="34" charset="0"/>
                <a:ea typeface="Arial" pitchFamily="34" charset="-122"/>
                <a:cs typeface="Arial" pitchFamily="34" charset="-120"/>
              </a:rPr>
              <a:t>Why status matters:  </a:t>
            </a:r>
            <a:pPr indent="0" marL="0">
              <a:buNone/>
            </a:pPr>
            <a:r>
              <a:rPr lang="en-US" sz="1150" dirty="0">
                <a:solidFill>
                  <a:srgbClr val="5B6B7F"/>
                </a:solidFill>
                <a:latin typeface="Arial" pitchFamily="34" charset="0"/>
                <a:ea typeface="Arial" pitchFamily="34" charset="-122"/>
                <a:cs typeface="Arial" pitchFamily="34" charset="-120"/>
              </a:rPr>
              <a:t>only in-force or adopted law can pull a technology’s horizon forward. Proposals are context — the audit caught the ELV recast being treated as committed with the wrong date (25% recycled plastic is ≈2036, not 2031), and US EPA standards are treated as a WEAKENING anchor. The tool now makes that class of mistake impossible.</a:t>
            </a:r>
            <a:endParaRPr lang="en-US" sz="1150" dirty="0"/>
          </a:p>
        </p:txBody>
      </p:sp>
      <p:sp>
        <p:nvSpPr>
          <p:cNvPr id="73" name="Text 71"/>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9/16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353312" cy="329184"/>
          </a:xfrm>
          <a:prstGeom prst="roundRect">
            <a:avLst>
              <a:gd name="adj" fmla="val 50000"/>
            </a:avLst>
          </a:prstGeom>
          <a:solidFill>
            <a:srgbClr val="0D1F33"/>
          </a:solidFill>
          <a:ln/>
        </p:spPr>
      </p:sp>
      <p:sp>
        <p:nvSpPr>
          <p:cNvPr id="3" name="Text 1"/>
          <p:cNvSpPr/>
          <p:nvPr/>
        </p:nvSpPr>
        <p:spPr>
          <a:xfrm>
            <a:off x="502920" y="347472"/>
            <a:ext cx="1353312"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BENCHMARKS</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Who sets the bar in premium off-road — and what to watch</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2743200"/>
                <a:gridCol w="4480560"/>
                <a:gridCol w="3959352"/>
              </a:tblGrid>
              <a:tr h="566928">
                <a:tc>
                  <a:txBody>
                    <a:bodyPr/>
                    <a:lstStyle/>
                    <a:p>
                      <a:pPr indent="0" marL="0">
                        <a:buNone/>
                      </a:pPr>
                      <a:r>
                        <a:rPr lang="en-US" sz="1150" b="1" dirty="0">
                          <a:solidFill>
                            <a:srgbClr val="FFFFFF"/>
                          </a:solidFill>
                          <a:latin typeface="Arial" pitchFamily="34" charset="0"/>
                          <a:ea typeface="Arial" pitchFamily="34" charset="-122"/>
                          <a:cs typeface="Arial" pitchFamily="34" charset="-120"/>
                        </a:rPr>
                        <a:t>Vehicle</a:t>
                      </a:r>
                      <a:endParaRPr lang="en-US" sz="11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0D1F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Signature technology (in production)</a:t>
                      </a:r>
                      <a:endParaRPr lang="en-US" sz="11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0D1F33"/>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to watch next</a:t>
                      </a:r>
                      <a:endParaRPr lang="en-US" sz="11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0D1F33"/>
                    </a:solidFill>
                  </a:tcPr>
                </a:tc>
              </a:tr>
              <a:tr h="566928">
                <a:tc>
                  <a:txBody>
                    <a:bodyPr/>
                    <a:lstStyle/>
                    <a:p>
                      <a:pPr indent="0" marL="0">
                        <a:buNone/>
                      </a:pPr>
                      <a:r>
                        <a:rPr lang="en-US" sz="1050" b="1" dirty="0">
                          <a:solidFill>
                            <a:srgbClr val="0D1F33"/>
                          </a:solidFill>
                          <a:latin typeface="Arial" pitchFamily="34" charset="0"/>
                          <a:ea typeface="Arial" pitchFamily="34" charset="-122"/>
                          <a:cs typeface="Arial" pitchFamily="34" charset="-120"/>
                        </a:rPr>
                        <a:t>Range Rover</a:t>
                      </a:r>
                      <a:endParaRPr lang="en-US" sz="1050" dirty="0">
                        <a:latin typeface="Arial" charset="0"/>
                        <a:ea typeface="Arial" charset="0"/>
                        <a:cs typeface="Arial" charset="0"/>
                      </a:endParaRPr>
                    </a:p>
                    <a:p>
                      <a:pPr indent="0" marL="0">
                        <a:buNone/>
                      </a:pPr>
                      <a:r>
                        <a:rPr lang="en-US" sz="1050" b="1" dirty="0">
                          <a:solidFill>
                            <a:srgbClr val="0D1F33"/>
                          </a:solidFill>
                          <a:latin typeface="Arial" pitchFamily="34" charset="0"/>
                          <a:ea typeface="Arial" pitchFamily="34" charset="-122"/>
                          <a:cs typeface="Arial" pitchFamily="34" charset="-120"/>
                        </a:rPr>
                        <a:t>JLR · 2022</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2F6FB"/>
                    </a:solidFill>
                  </a:tcPr>
                </a:tc>
                <a:tc>
                  <a:txBody>
                    <a:bodyPr/>
                    <a:lstStyle/>
                    <a:p>
                      <a:pPr indent="0" marL="0">
                        <a:buNone/>
                      </a:pPr>
                      <a:r>
                        <a:rPr lang="en-US" sz="1050" dirty="0">
                          <a:solidFill>
                            <a:srgbClr val="0D1F33"/>
                          </a:solidFill>
                          <a:latin typeface="Arial" pitchFamily="34" charset="0"/>
                          <a:ea typeface="Arial" pitchFamily="34" charset="-122"/>
                          <a:cs typeface="Arial" pitchFamily="34" charset="-120"/>
                        </a:rPr>
                        <a:t>Integrated Chassis Control + road preview</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2F6FB"/>
                    </a:solidFill>
                  </a:tcPr>
                </a:tc>
                <a:tc>
                  <a:txBody>
                    <a:bodyPr/>
                    <a:lstStyle/>
                    <a:p>
                      <a:pPr indent="0" marL="0">
                        <a:buNone/>
                      </a:pPr>
                      <a:r>
                        <a:rPr lang="en-US" sz="1000" i="1" dirty="0">
                          <a:solidFill>
                            <a:srgbClr val="5B6B7F"/>
                          </a:solidFill>
                          <a:latin typeface="Arial" pitchFamily="34" charset="0"/>
                          <a:ea typeface="Arial" pitchFamily="34" charset="-122"/>
                          <a:cs typeface="Arial" pitchFamily="34" charset="-120"/>
                        </a:rPr>
                        <a:t>Range Rover Electric: wading/thermal engineering of an 800V flagship</a:t>
                      </a:r>
                      <a:endParaRPr lang="en-US" sz="100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2F6FB"/>
                    </a:solidFill>
                  </a:tcPr>
                </a:tc>
              </a:tr>
              <a:tr h="566928">
                <a:tc>
                  <a:txBody>
                    <a:bodyPr/>
                    <a:lstStyle/>
                    <a:p>
                      <a:pPr indent="0" marL="0">
                        <a:buNone/>
                      </a:pPr>
                      <a:r>
                        <a:rPr lang="en-US" sz="1050" b="1" dirty="0">
                          <a:solidFill>
                            <a:srgbClr val="0D1F33"/>
                          </a:solidFill>
                          <a:latin typeface="Arial" pitchFamily="34" charset="0"/>
                          <a:ea typeface="Arial" pitchFamily="34" charset="-122"/>
                          <a:cs typeface="Arial" pitchFamily="34" charset="-120"/>
                        </a:rPr>
                        <a:t>Defender OCTA</a:t>
                      </a:r>
                      <a:endParaRPr lang="en-US" sz="1050" dirty="0">
                        <a:latin typeface="Arial" charset="0"/>
                        <a:ea typeface="Arial" charset="0"/>
                        <a:cs typeface="Arial" charset="0"/>
                      </a:endParaRPr>
                    </a:p>
                    <a:p>
                      <a:pPr indent="0" marL="0">
                        <a:buNone/>
                      </a:pPr>
                      <a:r>
                        <a:rPr lang="en-US" sz="1050" b="1" dirty="0">
                          <a:solidFill>
                            <a:srgbClr val="0D1F33"/>
                          </a:solidFill>
                          <a:latin typeface="Arial" pitchFamily="34" charset="0"/>
                          <a:ea typeface="Arial" pitchFamily="34" charset="-122"/>
                          <a:cs typeface="Arial" pitchFamily="34" charset="-120"/>
                        </a:rPr>
                        <a:t>JLR · 2024</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FFFFF"/>
                    </a:solidFill>
                  </a:tcPr>
                </a:tc>
                <a:tc>
                  <a:txBody>
                    <a:bodyPr/>
                    <a:lstStyle/>
                    <a:p>
                      <a:pPr indent="0" marL="0">
                        <a:buNone/>
                      </a:pPr>
                      <a:r>
                        <a:rPr lang="en-US" sz="1050" dirty="0">
                          <a:solidFill>
                            <a:srgbClr val="0D1F33"/>
                          </a:solidFill>
                          <a:latin typeface="Arial" pitchFamily="34" charset="0"/>
                          <a:ea typeface="Arial" pitchFamily="34" charset="-122"/>
                          <a:cs typeface="Arial" pitchFamily="34" charset="-120"/>
                        </a:rPr>
                        <a:t>6D Dynamics hydraulic interlinked suspension</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FFFFF"/>
                    </a:solidFill>
                  </a:tcPr>
                </a:tc>
                <a:tc>
                  <a:txBody>
                    <a:bodyPr/>
                    <a:lstStyle/>
                    <a:p>
                      <a:pPr indent="0" marL="0">
                        <a:buNone/>
                      </a:pPr>
                      <a:r>
                        <a:rPr lang="en-US" sz="1000" i="1" dirty="0">
                          <a:solidFill>
                            <a:srgbClr val="5B6B7F"/>
                          </a:solidFill>
                          <a:latin typeface="Arial" pitchFamily="34" charset="0"/>
                          <a:ea typeface="Arial" pitchFamily="34" charset="-122"/>
                          <a:cs typeface="Arial" pitchFamily="34" charset="-120"/>
                        </a:rPr>
                        <a:t>6D-class suspension cascading into volume Defender/Discovery</a:t>
                      </a:r>
                      <a:endParaRPr lang="en-US" sz="100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0D1F33"/>
                          </a:solidFill>
                          <a:latin typeface="Arial" pitchFamily="34" charset="0"/>
                          <a:ea typeface="Arial" pitchFamily="34" charset="-122"/>
                          <a:cs typeface="Arial" pitchFamily="34" charset="-120"/>
                        </a:rPr>
                        <a:t>G 580 with EQ Technology</a:t>
                      </a:r>
                      <a:endParaRPr lang="en-US" sz="1050" dirty="0">
                        <a:latin typeface="Arial" charset="0"/>
                        <a:ea typeface="Arial" charset="0"/>
                        <a:cs typeface="Arial" charset="0"/>
                      </a:endParaRPr>
                    </a:p>
                    <a:p>
                      <a:pPr indent="0" marL="0">
                        <a:buNone/>
                      </a:pPr>
                      <a:r>
                        <a:rPr lang="en-US" sz="1050" b="1" dirty="0">
                          <a:solidFill>
                            <a:srgbClr val="0D1F33"/>
                          </a:solidFill>
                          <a:latin typeface="Arial" pitchFamily="34" charset="0"/>
                          <a:ea typeface="Arial" pitchFamily="34" charset="-122"/>
                          <a:cs typeface="Arial" pitchFamily="34" charset="-120"/>
                        </a:rPr>
                        <a:t>Mercedes-Benz · 2024</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2F6FB"/>
                    </a:solidFill>
                  </a:tcPr>
                </a:tc>
                <a:tc>
                  <a:txBody>
                    <a:bodyPr/>
                    <a:lstStyle/>
                    <a:p>
                      <a:pPr indent="0" marL="0">
                        <a:buNone/>
                      </a:pPr>
                      <a:r>
                        <a:rPr lang="en-US" sz="1050" dirty="0">
                          <a:solidFill>
                            <a:srgbClr val="0D1F33"/>
                          </a:solidFill>
                          <a:latin typeface="Arial" pitchFamily="34" charset="0"/>
                          <a:ea typeface="Arial" pitchFamily="34" charset="-122"/>
                          <a:cs typeface="Arial" pitchFamily="34" charset="-120"/>
                        </a:rPr>
                        <a:t>Four motors + per-wheel 2-speed low range</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2F6FB"/>
                    </a:solidFill>
                  </a:tcPr>
                </a:tc>
                <a:tc>
                  <a:txBody>
                    <a:bodyPr/>
                    <a:lstStyle/>
                    <a:p>
                      <a:pPr indent="0" marL="0">
                        <a:buNone/>
                      </a:pPr>
                      <a:r>
                        <a:rPr lang="en-US" sz="1000" i="1" dirty="0">
                          <a:solidFill>
                            <a:srgbClr val="5B6B7F"/>
                          </a:solidFill>
                          <a:latin typeface="Arial" pitchFamily="34" charset="0"/>
                          <a:ea typeface="Arial" pitchFamily="34" charset="-122"/>
                          <a:cs typeface="Arial" pitchFamily="34" charset="-120"/>
                        </a:rPr>
                        <a:t>Whether virtual lockers win over the mechanical-locks faithful</a:t>
                      </a:r>
                      <a:endParaRPr lang="en-US" sz="100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2F6FB"/>
                    </a:solidFill>
                  </a:tcPr>
                </a:tc>
              </a:tr>
              <a:tr h="566928">
                <a:tc>
                  <a:txBody>
                    <a:bodyPr/>
                    <a:lstStyle/>
                    <a:p>
                      <a:pPr indent="0" marL="0">
                        <a:buNone/>
                      </a:pPr>
                      <a:r>
                        <a:rPr lang="en-US" sz="1050" b="1" dirty="0">
                          <a:solidFill>
                            <a:srgbClr val="0D1F33"/>
                          </a:solidFill>
                          <a:latin typeface="Arial" pitchFamily="34" charset="0"/>
                          <a:ea typeface="Arial" pitchFamily="34" charset="-122"/>
                          <a:cs typeface="Arial" pitchFamily="34" charset="-120"/>
                        </a:rPr>
                        <a:t>Yangwang U8</a:t>
                      </a:r>
                      <a:endParaRPr lang="en-US" sz="1050" dirty="0">
                        <a:latin typeface="Arial" charset="0"/>
                        <a:ea typeface="Arial" charset="0"/>
                        <a:cs typeface="Arial" charset="0"/>
                      </a:endParaRPr>
                    </a:p>
                    <a:p>
                      <a:pPr indent="0" marL="0">
                        <a:buNone/>
                      </a:pPr>
                      <a:r>
                        <a:rPr lang="en-US" sz="1050" b="1" dirty="0">
                          <a:solidFill>
                            <a:srgbClr val="0D1F33"/>
                          </a:solidFill>
                          <a:latin typeface="Arial" pitchFamily="34" charset="0"/>
                          <a:ea typeface="Arial" pitchFamily="34" charset="-122"/>
                          <a:cs typeface="Arial" pitchFamily="34" charset="-120"/>
                        </a:rPr>
                        <a:t>BYD · 2023</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FFFFF"/>
                    </a:solidFill>
                  </a:tcPr>
                </a:tc>
                <a:tc>
                  <a:txBody>
                    <a:bodyPr/>
                    <a:lstStyle/>
                    <a:p>
                      <a:pPr indent="0" marL="0">
                        <a:buNone/>
                      </a:pPr>
                      <a:r>
                        <a:rPr lang="en-US" sz="1050" dirty="0">
                          <a:solidFill>
                            <a:srgbClr val="0D1F33"/>
                          </a:solidFill>
                          <a:latin typeface="Arial" pitchFamily="34" charset="0"/>
                          <a:ea typeface="Arial" pitchFamily="34" charset="-122"/>
                          <a:cs typeface="Arial" pitchFamily="34" charset="-120"/>
                        </a:rPr>
                        <a:t>DiSus-P hydraulic body control (+150mm)</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FFFFF"/>
                    </a:solidFill>
                  </a:tcPr>
                </a:tc>
                <a:tc>
                  <a:txBody>
                    <a:bodyPr/>
                    <a:lstStyle/>
                    <a:p>
                      <a:pPr indent="0" marL="0">
                        <a:buNone/>
                      </a:pPr>
                      <a:r>
                        <a:rPr lang="en-US" sz="1000" i="1" dirty="0">
                          <a:solidFill>
                            <a:srgbClr val="5B6B7F"/>
                          </a:solidFill>
                          <a:latin typeface="Arial" pitchFamily="34" charset="0"/>
                          <a:ea typeface="Arial" pitchFamily="34" charset="-122"/>
                          <a:cs typeface="Arial" pitchFamily="34" charset="-120"/>
                        </a:rPr>
                        <a:t>U8L exports and DiSus trickling into volume BYD</a:t>
                      </a:r>
                      <a:endParaRPr lang="en-US" sz="100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0D1F33"/>
                          </a:solidFill>
                          <a:latin typeface="Arial" pitchFamily="34" charset="0"/>
                          <a:ea typeface="Arial" pitchFamily="34" charset="-122"/>
                          <a:cs typeface="Arial" pitchFamily="34" charset="-120"/>
                        </a:rPr>
                        <a:t>R1S Gen2 Quad</a:t>
                      </a:r>
                      <a:endParaRPr lang="en-US" sz="1050" dirty="0">
                        <a:latin typeface="Arial" charset="0"/>
                        <a:ea typeface="Arial" charset="0"/>
                        <a:cs typeface="Arial" charset="0"/>
                      </a:endParaRPr>
                    </a:p>
                    <a:p>
                      <a:pPr indent="0" marL="0">
                        <a:buNone/>
                      </a:pPr>
                      <a:r>
                        <a:rPr lang="en-US" sz="1050" b="1" dirty="0">
                          <a:solidFill>
                            <a:srgbClr val="0D1F33"/>
                          </a:solidFill>
                          <a:latin typeface="Arial" pitchFamily="34" charset="0"/>
                          <a:ea typeface="Arial" pitchFamily="34" charset="-122"/>
                          <a:cs typeface="Arial" pitchFamily="34" charset="-120"/>
                        </a:rPr>
                        <a:t>Rivian · 2025</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2F6FB"/>
                    </a:solidFill>
                  </a:tcPr>
                </a:tc>
                <a:tc>
                  <a:txBody>
                    <a:bodyPr/>
                    <a:lstStyle/>
                    <a:p>
                      <a:pPr indent="0" marL="0">
                        <a:buNone/>
                      </a:pPr>
                      <a:r>
                        <a:rPr lang="en-US" sz="1050" dirty="0">
                          <a:solidFill>
                            <a:srgbClr val="0D1F33"/>
                          </a:solidFill>
                          <a:latin typeface="Arial" pitchFamily="34" charset="0"/>
                          <a:ea typeface="Arial" pitchFamily="34" charset="-122"/>
                          <a:cs typeface="Arial" pitchFamily="34" charset="-120"/>
                        </a:rPr>
                        <a:t>Quad-motor 1,025hp + Kick Turn (OTA, 2025)</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2F6FB"/>
                    </a:solidFill>
                  </a:tcPr>
                </a:tc>
                <a:tc>
                  <a:txBody>
                    <a:bodyPr/>
                    <a:lstStyle/>
                    <a:p>
                      <a:pPr indent="0" marL="0">
                        <a:buNone/>
                      </a:pPr>
                      <a:r>
                        <a:rPr lang="en-US" sz="1000" i="1" dirty="0">
                          <a:solidFill>
                            <a:srgbClr val="5B6B7F"/>
                          </a:solidFill>
                          <a:latin typeface="Arial" pitchFamily="34" charset="0"/>
                          <a:ea typeface="Arial" pitchFamily="34" charset="-122"/>
                          <a:cs typeface="Arial" pitchFamily="34" charset="-120"/>
                        </a:rPr>
                        <a:t>R2 cost-down of quad-motor capability</a:t>
                      </a:r>
                      <a:endParaRPr lang="en-US" sz="100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2F6FB"/>
                    </a:solidFill>
                  </a:tcPr>
                </a:tc>
              </a:tr>
              <a:tr h="566928">
                <a:tc>
                  <a:txBody>
                    <a:bodyPr/>
                    <a:lstStyle/>
                    <a:p>
                      <a:pPr indent="0" marL="0">
                        <a:buNone/>
                      </a:pPr>
                      <a:r>
                        <a:rPr lang="en-US" sz="1050" b="1" dirty="0">
                          <a:solidFill>
                            <a:srgbClr val="0D1F33"/>
                          </a:solidFill>
                          <a:latin typeface="Arial" pitchFamily="34" charset="0"/>
                          <a:ea typeface="Arial" pitchFamily="34" charset="-122"/>
                          <a:cs typeface="Arial" pitchFamily="34" charset="-120"/>
                        </a:rPr>
                        <a:t>Escalade IQ</a:t>
                      </a:r>
                      <a:endParaRPr lang="en-US" sz="1050" dirty="0">
                        <a:latin typeface="Arial" charset="0"/>
                        <a:ea typeface="Arial" charset="0"/>
                        <a:cs typeface="Arial" charset="0"/>
                      </a:endParaRPr>
                    </a:p>
                    <a:p>
                      <a:pPr indent="0" marL="0">
                        <a:buNone/>
                      </a:pPr>
                      <a:r>
                        <a:rPr lang="en-US" sz="1050" b="1" dirty="0">
                          <a:solidFill>
                            <a:srgbClr val="0D1F33"/>
                          </a:solidFill>
                          <a:latin typeface="Arial" pitchFamily="34" charset="0"/>
                          <a:ea typeface="Arial" pitchFamily="34" charset="-122"/>
                          <a:cs typeface="Arial" pitchFamily="34" charset="-120"/>
                        </a:rPr>
                        <a:t>Cadillac · 2024</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FFFFF"/>
                    </a:solidFill>
                  </a:tcPr>
                </a:tc>
                <a:tc>
                  <a:txBody>
                    <a:bodyPr/>
                    <a:lstStyle/>
                    <a:p>
                      <a:pPr indent="0" marL="0">
                        <a:buNone/>
                      </a:pPr>
                      <a:r>
                        <a:rPr lang="en-US" sz="1050" dirty="0">
                          <a:solidFill>
                            <a:srgbClr val="0D1F33"/>
                          </a:solidFill>
                          <a:latin typeface="Arial" pitchFamily="34" charset="0"/>
                          <a:ea typeface="Arial" pitchFamily="34" charset="-122"/>
                          <a:cs typeface="Arial" pitchFamily="34" charset="-120"/>
                        </a:rPr>
                        <a:t>4-wheel steer + Arrival Mode diagonal drive</a:t>
                      </a:r>
                      <a:endParaRPr lang="en-US" sz="105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FFFFF"/>
                    </a:solidFill>
                  </a:tcPr>
                </a:tc>
                <a:tc>
                  <a:txBody>
                    <a:bodyPr/>
                    <a:lstStyle/>
                    <a:p>
                      <a:pPr indent="0" marL="0">
                        <a:buNone/>
                      </a:pPr>
                      <a:r>
                        <a:rPr lang="en-US" sz="1000" i="1" dirty="0">
                          <a:solidFill>
                            <a:srgbClr val="5B6B7F"/>
                          </a:solidFill>
                          <a:latin typeface="Arial" pitchFamily="34" charset="0"/>
                          <a:ea typeface="Arial" pitchFamily="34" charset="-122"/>
                          <a:cs typeface="Arial" pitchFamily="34" charset="-120"/>
                        </a:rPr>
                        <a:t>Arrival-mode 4WS spreading across Ultium SUVs</a:t>
                      </a:r>
                      <a:endParaRPr lang="en-US" sz="1000" dirty="0">
                        <a:latin typeface="Arial" charset="0"/>
                        <a:ea typeface="Arial" charset="0"/>
                        <a:cs typeface="Arial" charset="0"/>
                      </a:endParaRPr>
                    </a:p>
                  </a:txBody>
                  <a:tcPr marL="73152" marR="73152" marT="73152" marB="73152" anchor="ctr">
                    <a:lnL w="6350" cap="flat" cmpd="sng" algn="ctr">
                      <a:solidFill>
                        <a:srgbClr val="D7E0EA"/>
                      </a:solidFill>
                      <a:prstDash val="solid"/>
                      <a:round/>
                      <a:headEnd type="none" w="med" len="med"/>
                      <a:tailEnd type="none" w="med" len="med"/>
                    </a:lnL>
                    <a:lnR w="6350" cap="flat" cmpd="sng" algn="ctr">
                      <a:solidFill>
                        <a:srgbClr val="D7E0EA"/>
                      </a:solidFill>
                      <a:prstDash val="solid"/>
                      <a:round/>
                      <a:headEnd type="none" w="med" len="med"/>
                      <a:tailEnd type="none" w="med" len="med"/>
                    </a:lnR>
                    <a:lnT w="6350" cap="flat" cmpd="sng" algn="ctr">
                      <a:solidFill>
                        <a:srgbClr val="D7E0EA"/>
                      </a:solidFill>
                      <a:prstDash val="solid"/>
                      <a:round/>
                      <a:headEnd type="none" w="med" len="med"/>
                      <a:tailEnd type="none" w="med" len="med"/>
                    </a:lnT>
                    <a:lnB w="6350" cap="flat" cmpd="sng" algn="ctr">
                      <a:solidFill>
                        <a:srgbClr val="D7E0EA"/>
                      </a:solidFill>
                      <a:prstDash val="solid"/>
                      <a:round/>
                      <a:headEnd type="none" w="med" len="med"/>
                      <a:tailEnd type="none" w="med" len="med"/>
                    </a:lnB>
                    <a:solidFill>
                      <a:srgbClr val="FFFFFF"/>
                    </a:solidFill>
                  </a:tcPr>
                </a:tc>
              </a:tr>
            </a:tbl>
          </a:graphicData>
        </a:graphic>
      </p:graphicFrame>
      <p:sp>
        <p:nvSpPr>
          <p:cNvPr id="6" name="Text 3"/>
          <p:cNvSpPr/>
          <p:nvPr/>
        </p:nvSpPr>
        <p:spPr>
          <a:xfrm>
            <a:off x="502920" y="5897880"/>
            <a:ext cx="11155680" cy="457200"/>
          </a:xfrm>
          <a:prstGeom prst="rect">
            <a:avLst/>
          </a:prstGeom>
          <a:noFill/>
          <a:ln/>
        </p:spPr>
        <p:txBody>
          <a:bodyPr wrap="square" rtlCol="0" anchor="ctr"/>
          <a:lstStyle/>
          <a:p>
            <a:pPr indent="0" marL="0">
              <a:buNone/>
            </a:pPr>
            <a:r>
              <a:rPr lang="en-US" sz="1100" i="1" dirty="0">
                <a:solidFill>
                  <a:srgbClr val="5B6B7F"/>
                </a:solidFill>
                <a:latin typeface="Arial" pitchFamily="34" charset="0"/>
                <a:ea typeface="Arial" pitchFamily="34" charset="-122"/>
                <a:cs typeface="Arial" pitchFamily="34" charset="-120"/>
              </a:rPr>
              <a:t>+6 more in the register: Hummer EV · Lexus GX Overtrail · Cullinan II · Bentayga · AITO M9 · Land Cruiser 250 — shown automatically whenever the Off-Road or Luxury lens is active.</a:t>
            </a:r>
            <a:endParaRPr lang="en-US" sz="1100" dirty="0"/>
          </a:p>
        </p:txBody>
      </p:sp>
      <p:sp>
        <p:nvSpPr>
          <p:cNvPr id="7" name="Text 4"/>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10/16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532534" cy="329184"/>
          </a:xfrm>
          <a:prstGeom prst="roundRect">
            <a:avLst>
              <a:gd name="adj" fmla="val 50000"/>
            </a:avLst>
          </a:prstGeom>
          <a:solidFill>
            <a:srgbClr val="0D1F33"/>
          </a:solidFill>
          <a:ln/>
        </p:spPr>
      </p:sp>
      <p:sp>
        <p:nvSpPr>
          <p:cNvPr id="3" name="Text 1"/>
          <p:cNvSpPr/>
          <p:nvPr/>
        </p:nvSpPr>
        <p:spPr>
          <a:xfrm>
            <a:off x="502920" y="347472"/>
            <a:ext cx="1532534"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CAPABILITIES</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What a single query returns</a:t>
            </a:r>
            <a:endParaRPr lang="en-US" sz="2800" dirty="0"/>
          </a:p>
        </p:txBody>
      </p:sp>
      <p:sp>
        <p:nvSpPr>
          <p:cNvPr id="5" name="Shape 3"/>
          <p:cNvSpPr/>
          <p:nvPr/>
        </p:nvSpPr>
        <p:spPr>
          <a:xfrm>
            <a:off x="502920" y="1554480"/>
            <a:ext cx="5440680" cy="1280160"/>
          </a:xfrm>
          <a:prstGeom prst="roundRect">
            <a:avLst>
              <a:gd name="adj" fmla="val 5000"/>
            </a:avLst>
          </a:prstGeom>
          <a:solidFill>
            <a:srgbClr val="F2F6FB"/>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6" name="Shape 4"/>
          <p:cNvSpPr/>
          <p:nvPr/>
        </p:nvSpPr>
        <p:spPr>
          <a:xfrm>
            <a:off x="685800" y="1773936"/>
            <a:ext cx="530352" cy="530352"/>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807781" y="1895917"/>
            <a:ext cx="286390" cy="286390"/>
          </a:xfrm>
          <a:prstGeom prst="rect">
            <a:avLst/>
          </a:prstGeom>
        </p:spPr>
      </p:pic>
      <p:sp>
        <p:nvSpPr>
          <p:cNvPr id="8" name="Text 5"/>
          <p:cNvSpPr/>
          <p:nvPr/>
        </p:nvSpPr>
        <p:spPr>
          <a:xfrm>
            <a:off x="1371600" y="1664208"/>
            <a:ext cx="4434840" cy="274320"/>
          </a:xfrm>
          <a:prstGeom prst="rect">
            <a:avLst/>
          </a:prstGeom>
          <a:noFill/>
          <a:ln/>
        </p:spPr>
        <p:txBody>
          <a:bodyPr wrap="square" lIns="0" tIns="0" rIns="0" bIns="0" rtlCol="0" anchor="ctr"/>
          <a:lstStyle/>
          <a:p>
            <a:pPr indent="0" marL="0">
              <a:buNone/>
            </a:pPr>
            <a:r>
              <a:rPr lang="en-US" sz="1350" b="1" dirty="0">
                <a:solidFill>
                  <a:srgbClr val="0D1F33"/>
                </a:solidFill>
                <a:latin typeface="Arial" pitchFamily="34" charset="0"/>
                <a:ea typeface="Arial" pitchFamily="34" charset="-122"/>
                <a:cs typeface="Arial" pitchFamily="34" charset="-120"/>
              </a:rPr>
              <a:t>Three horizon lanes</a:t>
            </a:r>
            <a:endParaRPr lang="en-US" sz="1350" dirty="0"/>
          </a:p>
        </p:txBody>
      </p:sp>
      <p:sp>
        <p:nvSpPr>
          <p:cNvPr id="9" name="Text 6"/>
          <p:cNvSpPr/>
          <p:nvPr/>
        </p:nvSpPr>
        <p:spPr>
          <a:xfrm>
            <a:off x="1371600" y="1938528"/>
            <a:ext cx="4434840" cy="841248"/>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Adopt/quote now (–2028) · plan the transition (2029-32) · track, don’t commit (2033+). Law can pull a lane forward — proposals cannot.</a:t>
            </a:r>
            <a:endParaRPr lang="en-US" sz="1050" dirty="0"/>
          </a:p>
        </p:txBody>
      </p:sp>
      <p:sp>
        <p:nvSpPr>
          <p:cNvPr id="10" name="Shape 7"/>
          <p:cNvSpPr/>
          <p:nvPr/>
        </p:nvSpPr>
        <p:spPr>
          <a:xfrm>
            <a:off x="6217920" y="1554480"/>
            <a:ext cx="5440680" cy="1280160"/>
          </a:xfrm>
          <a:prstGeom prst="roundRect">
            <a:avLst>
              <a:gd name="adj" fmla="val 5000"/>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11" name="Shape 8"/>
          <p:cNvSpPr/>
          <p:nvPr/>
        </p:nvSpPr>
        <p:spPr>
          <a:xfrm>
            <a:off x="6400800" y="1773936"/>
            <a:ext cx="530352" cy="530352"/>
          </a:xfrm>
          <a:prstGeom prst="ellipse">
            <a:avLst/>
          </a:prstGeom>
          <a:solidFill>
            <a:srgbClr val="F59E0B"/>
          </a:solidFill>
          <a:ln/>
        </p:spPr>
      </p:sp>
      <p:pic>
        <p:nvPicPr>
          <p:cNvPr id="12" name="Image 1" descr="preencoded.png">    </p:cNvPr>
          <p:cNvPicPr>
            <a:picLocks noChangeAspect="1"/>
          </p:cNvPicPr>
          <p:nvPr/>
        </p:nvPicPr>
        <p:blipFill>
          <a:blip r:embed="rId2"/>
          <a:stretch>
            <a:fillRect/>
          </a:stretch>
        </p:blipFill>
        <p:spPr>
          <a:xfrm>
            <a:off x="6522781" y="1895917"/>
            <a:ext cx="286390" cy="286390"/>
          </a:xfrm>
          <a:prstGeom prst="rect">
            <a:avLst/>
          </a:prstGeom>
        </p:spPr>
      </p:pic>
      <p:sp>
        <p:nvSpPr>
          <p:cNvPr id="13" name="Text 9"/>
          <p:cNvSpPr/>
          <p:nvPr/>
        </p:nvSpPr>
        <p:spPr>
          <a:xfrm>
            <a:off x="7086600" y="1664208"/>
            <a:ext cx="4434840" cy="274320"/>
          </a:xfrm>
          <a:prstGeom prst="rect">
            <a:avLst/>
          </a:prstGeom>
          <a:noFill/>
          <a:ln/>
        </p:spPr>
        <p:txBody>
          <a:bodyPr wrap="square" lIns="0" tIns="0" rIns="0" bIns="0" rtlCol="0" anchor="ctr"/>
          <a:lstStyle/>
          <a:p>
            <a:pPr indent="0" marL="0">
              <a:buNone/>
            </a:pPr>
            <a:r>
              <a:rPr lang="en-US" sz="1350" b="1" dirty="0">
                <a:solidFill>
                  <a:srgbClr val="0D1F33"/>
                </a:solidFill>
                <a:latin typeface="Arial" pitchFamily="34" charset="0"/>
                <a:ea typeface="Arial" pitchFamily="34" charset="-122"/>
                <a:cs typeface="Arial" pitchFamily="34" charset="-120"/>
              </a:rPr>
              <a:t>Adoption &amp; cost trajectories</a:t>
            </a:r>
            <a:endParaRPr lang="en-US" sz="1350" dirty="0"/>
          </a:p>
        </p:txBody>
      </p:sp>
      <p:sp>
        <p:nvSpPr>
          <p:cNvPr id="14" name="Text 10"/>
          <p:cNvSpPr/>
          <p:nvPr/>
        </p:nvSpPr>
        <p:spPr>
          <a:xfrm>
            <a:off x="7086600" y="1938528"/>
            <a:ext cx="4434840" cy="841248"/>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Bass-diffusion adoption and Wright’s-law cost index at +3/+5/+8 years — labelled "modelled, not measured".</a:t>
            </a:r>
            <a:endParaRPr lang="en-US" sz="1050" dirty="0"/>
          </a:p>
        </p:txBody>
      </p:sp>
      <p:sp>
        <p:nvSpPr>
          <p:cNvPr id="15" name="Shape 11"/>
          <p:cNvSpPr/>
          <p:nvPr/>
        </p:nvSpPr>
        <p:spPr>
          <a:xfrm>
            <a:off x="502920" y="2999232"/>
            <a:ext cx="5440680" cy="1280160"/>
          </a:xfrm>
          <a:prstGeom prst="roundRect">
            <a:avLst>
              <a:gd name="adj" fmla="val 5000"/>
            </a:avLst>
          </a:prstGeom>
          <a:solidFill>
            <a:srgbClr val="F2F6FB"/>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16" name="Shape 12"/>
          <p:cNvSpPr/>
          <p:nvPr/>
        </p:nvSpPr>
        <p:spPr>
          <a:xfrm>
            <a:off x="685800" y="3218688"/>
            <a:ext cx="530352" cy="530352"/>
          </a:xfrm>
          <a:prstGeom prst="ellipse">
            <a:avLst/>
          </a:prstGeom>
          <a:solidFill>
            <a:srgbClr val="0D1F33"/>
          </a:solidFill>
          <a:ln/>
        </p:spPr>
      </p:sp>
      <p:pic>
        <p:nvPicPr>
          <p:cNvPr id="17" name="Image 2" descr="preencoded.png">    </p:cNvPr>
          <p:cNvPicPr>
            <a:picLocks noChangeAspect="1"/>
          </p:cNvPicPr>
          <p:nvPr/>
        </p:nvPicPr>
        <p:blipFill>
          <a:blip r:embed="rId3"/>
          <a:stretch>
            <a:fillRect/>
          </a:stretch>
        </p:blipFill>
        <p:spPr>
          <a:xfrm>
            <a:off x="807781" y="3340669"/>
            <a:ext cx="286390" cy="286390"/>
          </a:xfrm>
          <a:prstGeom prst="rect">
            <a:avLst/>
          </a:prstGeom>
        </p:spPr>
      </p:pic>
      <p:sp>
        <p:nvSpPr>
          <p:cNvPr id="18" name="Text 13"/>
          <p:cNvSpPr/>
          <p:nvPr/>
        </p:nvSpPr>
        <p:spPr>
          <a:xfrm>
            <a:off x="1371600" y="3108960"/>
            <a:ext cx="4434840" cy="274320"/>
          </a:xfrm>
          <a:prstGeom prst="rect">
            <a:avLst/>
          </a:prstGeom>
          <a:noFill/>
          <a:ln/>
        </p:spPr>
        <p:txBody>
          <a:bodyPr wrap="square" lIns="0" tIns="0" rIns="0" bIns="0" rtlCol="0" anchor="ctr"/>
          <a:lstStyle/>
          <a:p>
            <a:pPr indent="0" marL="0">
              <a:buNone/>
            </a:pPr>
            <a:r>
              <a:rPr lang="en-US" sz="1350" b="1" dirty="0">
                <a:solidFill>
                  <a:srgbClr val="0D1F33"/>
                </a:solidFill>
                <a:latin typeface="Arial" pitchFamily="34" charset="0"/>
                <a:ea typeface="Arial" pitchFamily="34" charset="-122"/>
                <a:cs typeface="Arial" pitchFamily="34" charset="-120"/>
              </a:rPr>
              <a:t>Crossing years, with honesty</a:t>
            </a:r>
            <a:endParaRPr lang="en-US" sz="1350" dirty="0"/>
          </a:p>
        </p:txBody>
      </p:sp>
      <p:sp>
        <p:nvSpPr>
          <p:cNvPr id="19" name="Text 14"/>
          <p:cNvSpPr/>
          <p:nvPr/>
        </p:nvSpPr>
        <p:spPr>
          <a:xfrm>
            <a:off x="1371600" y="3383280"/>
            <a:ext cx="4434840" cy="841248"/>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When a tech crosses 25%/50% of its segment — with an uncertainty band: ≈2032 (2031–2034). Niche techs honestly "never cross".</a:t>
            </a:r>
            <a:endParaRPr lang="en-US" sz="1050" dirty="0"/>
          </a:p>
        </p:txBody>
      </p:sp>
      <p:sp>
        <p:nvSpPr>
          <p:cNvPr id="20" name="Shape 15"/>
          <p:cNvSpPr/>
          <p:nvPr/>
        </p:nvSpPr>
        <p:spPr>
          <a:xfrm>
            <a:off x="6217920" y="2999232"/>
            <a:ext cx="5440680" cy="1280160"/>
          </a:xfrm>
          <a:prstGeom prst="roundRect">
            <a:avLst>
              <a:gd name="adj" fmla="val 5000"/>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21" name="Shape 16"/>
          <p:cNvSpPr/>
          <p:nvPr/>
        </p:nvSpPr>
        <p:spPr>
          <a:xfrm>
            <a:off x="6400800" y="3218688"/>
            <a:ext cx="530352" cy="530352"/>
          </a:xfrm>
          <a:prstGeom prst="ellipse">
            <a:avLst/>
          </a:prstGeom>
          <a:solidFill>
            <a:srgbClr val="6D28D9"/>
          </a:solidFill>
          <a:ln/>
        </p:spPr>
      </p:sp>
      <p:pic>
        <p:nvPicPr>
          <p:cNvPr id="22" name="Image 3" descr="preencoded.png">    </p:cNvPr>
          <p:cNvPicPr>
            <a:picLocks noChangeAspect="1"/>
          </p:cNvPicPr>
          <p:nvPr/>
        </p:nvPicPr>
        <p:blipFill>
          <a:blip r:embed="rId4"/>
          <a:stretch>
            <a:fillRect/>
          </a:stretch>
        </p:blipFill>
        <p:spPr>
          <a:xfrm>
            <a:off x="6522781" y="3340669"/>
            <a:ext cx="286390" cy="286390"/>
          </a:xfrm>
          <a:prstGeom prst="rect">
            <a:avLst/>
          </a:prstGeom>
        </p:spPr>
      </p:pic>
      <p:sp>
        <p:nvSpPr>
          <p:cNvPr id="23" name="Text 17"/>
          <p:cNvSpPr/>
          <p:nvPr/>
        </p:nvSpPr>
        <p:spPr>
          <a:xfrm>
            <a:off x="7086600" y="3108960"/>
            <a:ext cx="4434840" cy="274320"/>
          </a:xfrm>
          <a:prstGeom prst="rect">
            <a:avLst/>
          </a:prstGeom>
          <a:noFill/>
          <a:ln/>
        </p:spPr>
        <p:txBody>
          <a:bodyPr wrap="square" lIns="0" tIns="0" rIns="0" bIns="0" rtlCol="0" anchor="ctr"/>
          <a:lstStyle/>
          <a:p>
            <a:pPr indent="0" marL="0">
              <a:buNone/>
            </a:pPr>
            <a:r>
              <a:rPr lang="en-US" sz="1350" b="1" dirty="0">
                <a:solidFill>
                  <a:srgbClr val="0D1F33"/>
                </a:solidFill>
                <a:latin typeface="Arial" pitchFamily="34" charset="0"/>
                <a:ea typeface="Arial" pitchFamily="34" charset="-122"/>
                <a:cs typeface="Arial" pitchFamily="34" charset="-120"/>
              </a:rPr>
              <a:t>Momentum &amp; confidence</a:t>
            </a:r>
            <a:endParaRPr lang="en-US" sz="1350" dirty="0"/>
          </a:p>
        </p:txBody>
      </p:sp>
      <p:sp>
        <p:nvSpPr>
          <p:cNvPr id="24" name="Text 18"/>
          <p:cNvSpPr/>
          <p:nvPr/>
        </p:nvSpPr>
        <p:spPr>
          <a:xfrm>
            <a:off x="7086600" y="3383280"/>
            <a:ext cx="4434840" cy="841248"/>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0-100 momentum from maturity, adoption, cost trend, drivers, regulation and evidence; committed / probable / speculative on every card.</a:t>
            </a:r>
            <a:endParaRPr lang="en-US" sz="1050" dirty="0"/>
          </a:p>
        </p:txBody>
      </p:sp>
      <p:sp>
        <p:nvSpPr>
          <p:cNvPr id="25" name="Shape 19"/>
          <p:cNvSpPr/>
          <p:nvPr/>
        </p:nvSpPr>
        <p:spPr>
          <a:xfrm>
            <a:off x="502920" y="4443984"/>
            <a:ext cx="5440680" cy="1280160"/>
          </a:xfrm>
          <a:prstGeom prst="roundRect">
            <a:avLst>
              <a:gd name="adj" fmla="val 5000"/>
            </a:avLst>
          </a:prstGeom>
          <a:solidFill>
            <a:srgbClr val="F2F6FB"/>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26" name="Shape 20"/>
          <p:cNvSpPr/>
          <p:nvPr/>
        </p:nvSpPr>
        <p:spPr>
          <a:xfrm>
            <a:off x="685800" y="4663440"/>
            <a:ext cx="530352" cy="530352"/>
          </a:xfrm>
          <a:prstGeom prst="ellipse">
            <a:avLst/>
          </a:prstGeom>
          <a:solidFill>
            <a:srgbClr val="0D9488"/>
          </a:solidFill>
          <a:ln/>
        </p:spPr>
      </p:sp>
      <p:pic>
        <p:nvPicPr>
          <p:cNvPr id="27" name="Image 4" descr="preencoded.png">    </p:cNvPr>
          <p:cNvPicPr>
            <a:picLocks noChangeAspect="1"/>
          </p:cNvPicPr>
          <p:nvPr/>
        </p:nvPicPr>
        <p:blipFill>
          <a:blip r:embed="rId5"/>
          <a:stretch>
            <a:fillRect/>
          </a:stretch>
        </p:blipFill>
        <p:spPr>
          <a:xfrm>
            <a:off x="807781" y="4785421"/>
            <a:ext cx="286390" cy="286390"/>
          </a:xfrm>
          <a:prstGeom prst="rect">
            <a:avLst/>
          </a:prstGeom>
        </p:spPr>
      </p:pic>
      <p:sp>
        <p:nvSpPr>
          <p:cNvPr id="28" name="Text 21"/>
          <p:cNvSpPr/>
          <p:nvPr/>
        </p:nvSpPr>
        <p:spPr>
          <a:xfrm>
            <a:off x="1371600" y="4553712"/>
            <a:ext cx="4434840" cy="274320"/>
          </a:xfrm>
          <a:prstGeom prst="rect">
            <a:avLst/>
          </a:prstGeom>
          <a:noFill/>
          <a:ln/>
        </p:spPr>
        <p:txBody>
          <a:bodyPr wrap="square" lIns="0" tIns="0" rIns="0" bIns="0" rtlCol="0" anchor="ctr"/>
          <a:lstStyle/>
          <a:p>
            <a:pPr indent="0" marL="0">
              <a:buNone/>
            </a:pPr>
            <a:r>
              <a:rPr lang="en-US" sz="1350" b="1" dirty="0">
                <a:solidFill>
                  <a:srgbClr val="0D1F33"/>
                </a:solidFill>
                <a:latin typeface="Arial" pitchFamily="34" charset="0"/>
                <a:ea typeface="Arial" pitchFamily="34" charset="-122"/>
                <a:cs typeface="Arial" pitchFamily="34" charset="-120"/>
              </a:rPr>
              <a:t>Evidence on demand</a:t>
            </a:r>
            <a:endParaRPr lang="en-US" sz="1350" dirty="0"/>
          </a:p>
        </p:txBody>
      </p:sp>
      <p:sp>
        <p:nvSpPr>
          <p:cNvPr id="29" name="Text 22"/>
          <p:cNvSpPr/>
          <p:nvPr/>
        </p:nvSpPr>
        <p:spPr>
          <a:xfrm>
            <a:off x="1371600" y="4828032"/>
            <a:ext cx="4434840" cy="841248"/>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US patent-filing velocity per technology (accelerating / steady / declining — computed, not opined) plus cite-or-drop AI deep research.</a:t>
            </a:r>
            <a:endParaRPr lang="en-US" sz="1050" dirty="0"/>
          </a:p>
        </p:txBody>
      </p:sp>
      <p:sp>
        <p:nvSpPr>
          <p:cNvPr id="30" name="Shape 23"/>
          <p:cNvSpPr/>
          <p:nvPr/>
        </p:nvSpPr>
        <p:spPr>
          <a:xfrm>
            <a:off x="6217920" y="4443984"/>
            <a:ext cx="5440680" cy="1280160"/>
          </a:xfrm>
          <a:prstGeom prst="roundRect">
            <a:avLst>
              <a:gd name="adj" fmla="val 5000"/>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31" name="Shape 24"/>
          <p:cNvSpPr/>
          <p:nvPr/>
        </p:nvSpPr>
        <p:spPr>
          <a:xfrm>
            <a:off x="6400800" y="4663440"/>
            <a:ext cx="530352" cy="530352"/>
          </a:xfrm>
          <a:prstGeom prst="ellipse">
            <a:avLst/>
          </a:prstGeom>
          <a:solidFill>
            <a:srgbClr val="F59E0B"/>
          </a:solidFill>
          <a:ln/>
        </p:spPr>
      </p:sp>
      <p:pic>
        <p:nvPicPr>
          <p:cNvPr id="32" name="Image 5" descr="preencoded.png">    </p:cNvPr>
          <p:cNvPicPr>
            <a:picLocks noChangeAspect="1"/>
          </p:cNvPicPr>
          <p:nvPr/>
        </p:nvPicPr>
        <p:blipFill>
          <a:blip r:embed="rId6"/>
          <a:stretch>
            <a:fillRect/>
          </a:stretch>
        </p:blipFill>
        <p:spPr>
          <a:xfrm>
            <a:off x="6522781" y="4785421"/>
            <a:ext cx="286390" cy="286390"/>
          </a:xfrm>
          <a:prstGeom prst="rect">
            <a:avLst/>
          </a:prstGeom>
        </p:spPr>
      </p:pic>
      <p:sp>
        <p:nvSpPr>
          <p:cNvPr id="33" name="Text 25"/>
          <p:cNvSpPr/>
          <p:nvPr/>
        </p:nvSpPr>
        <p:spPr>
          <a:xfrm>
            <a:off x="7086600" y="4553712"/>
            <a:ext cx="4434840" cy="274320"/>
          </a:xfrm>
          <a:prstGeom prst="rect">
            <a:avLst/>
          </a:prstGeom>
          <a:noFill/>
          <a:ln/>
        </p:spPr>
        <p:txBody>
          <a:bodyPr wrap="square" lIns="0" tIns="0" rIns="0" bIns="0" rtlCol="0" anchor="ctr"/>
          <a:lstStyle/>
          <a:p>
            <a:pPr indent="0" marL="0">
              <a:buNone/>
            </a:pPr>
            <a:r>
              <a:rPr lang="en-US" sz="1350" b="1" dirty="0">
                <a:solidFill>
                  <a:srgbClr val="0D1F33"/>
                </a:solidFill>
                <a:latin typeface="Arial" pitchFamily="34" charset="0"/>
                <a:ea typeface="Arial" pitchFamily="34" charset="-122"/>
                <a:cs typeface="Arial" pitchFamily="34" charset="-120"/>
              </a:rPr>
              <a:t>Boardroom outputs</a:t>
            </a:r>
            <a:endParaRPr lang="en-US" sz="1350" dirty="0"/>
          </a:p>
        </p:txBody>
      </p:sp>
      <p:sp>
        <p:nvSpPr>
          <p:cNvPr id="34" name="Text 26"/>
          <p:cNvSpPr/>
          <p:nvPr/>
        </p:nvSpPr>
        <p:spPr>
          <a:xfrm>
            <a:off x="7086600" y="4828032"/>
            <a:ext cx="4434840" cy="841248"/>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Expert-panel critique, Prediction Ledger snapshots, and a branded multi-page Foresight Report PDF — one click each.</a:t>
            </a:r>
            <a:endParaRPr lang="en-US" sz="1050" dirty="0"/>
          </a:p>
        </p:txBody>
      </p:sp>
      <p:sp>
        <p:nvSpPr>
          <p:cNvPr id="35" name="Text 27"/>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11/16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532534" cy="329184"/>
          </a:xfrm>
          <a:prstGeom prst="roundRect">
            <a:avLst>
              <a:gd name="adj" fmla="val 50000"/>
            </a:avLst>
          </a:prstGeom>
          <a:solidFill>
            <a:srgbClr val="0D1F33"/>
          </a:solidFill>
          <a:ln/>
        </p:spPr>
      </p:sp>
      <p:sp>
        <p:nvSpPr>
          <p:cNvPr id="3" name="Text 1"/>
          <p:cNvSpPr/>
          <p:nvPr/>
        </p:nvSpPr>
        <p:spPr>
          <a:xfrm>
            <a:off x="502920" y="347472"/>
            <a:ext cx="1532534"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LIVE EXAMPLE</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One query: "BEV HV battery"</a:t>
            </a:r>
            <a:endParaRPr lang="en-US" sz="2800" dirty="0"/>
          </a:p>
        </p:txBody>
      </p:sp>
      <p:sp>
        <p:nvSpPr>
          <p:cNvPr id="5" name="Shape 3"/>
          <p:cNvSpPr/>
          <p:nvPr/>
        </p:nvSpPr>
        <p:spPr>
          <a:xfrm>
            <a:off x="9235440" y="411480"/>
            <a:ext cx="2450592" cy="777240"/>
          </a:xfrm>
          <a:prstGeom prst="roundRect">
            <a:avLst>
              <a:gd name="adj" fmla="val 10588"/>
            </a:avLst>
          </a:prstGeom>
          <a:solidFill>
            <a:srgbClr val="0D1F33"/>
          </a:solidFill>
          <a:ln/>
        </p:spPr>
      </p:sp>
      <p:sp>
        <p:nvSpPr>
          <p:cNvPr id="6" name="Text 4"/>
          <p:cNvSpPr/>
          <p:nvPr/>
        </p:nvSpPr>
        <p:spPr>
          <a:xfrm>
            <a:off x="9418320" y="411480"/>
            <a:ext cx="2194560" cy="777240"/>
          </a:xfrm>
          <a:prstGeom prst="rect">
            <a:avLst/>
          </a:prstGeom>
          <a:noFill/>
          <a:ln/>
        </p:spPr>
        <p:txBody>
          <a:bodyPr wrap="square" lIns="0" tIns="0" rIns="0" bIns="0" rtlCol="0" anchor="ctr"/>
          <a:lstStyle/>
          <a:p>
            <a:pPr indent="0" marL="0">
              <a:buNone/>
            </a:pPr>
            <a:r>
              <a:rPr lang="en-US" sz="2600" b="1" dirty="0">
                <a:solidFill>
                  <a:srgbClr val="F59E0B"/>
                </a:solidFill>
                <a:latin typeface="Arial" pitchFamily="34" charset="0"/>
                <a:ea typeface="Arial" pitchFamily="34" charset="-122"/>
                <a:cs typeface="Arial" pitchFamily="34" charset="-120"/>
              </a:rPr>
              <a:t>22 </a:t>
            </a:r>
            <a:pPr indent="0" marL="0">
              <a:buNone/>
            </a:pPr>
            <a:r>
              <a:rPr lang="en-US" sz="1000" dirty="0">
                <a:solidFill>
                  <a:srgbClr val="D5DEE9"/>
                </a:solidFill>
                <a:latin typeface="Arial" pitchFamily="34" charset="0"/>
                <a:ea typeface="Arial" pitchFamily="34" charset="-122"/>
                <a:cs typeface="Arial" pitchFamily="34" charset="-120"/>
              </a:rPr>
              <a:t>technologies</a:t>
            </a:r>
            <a:endParaRPr lang="en-US" sz="2600" dirty="0"/>
          </a:p>
          <a:p>
            <a:pPr indent="0" marL="0">
              <a:buNone/>
            </a:pPr>
            <a:r>
              <a:rPr lang="en-US" sz="1000" dirty="0">
                <a:solidFill>
                  <a:srgbClr val="D5DEE9"/>
                </a:solidFill>
                <a:latin typeface="Arial" pitchFamily="34" charset="0"/>
                <a:ea typeface="Arial" pitchFamily="34" charset="-122"/>
                <a:cs typeface="Arial" pitchFamily="34" charset="-120"/>
              </a:rPr>
              <a:t>mapped instantly</a:t>
            </a:r>
            <a:endParaRPr lang="en-US" sz="2600" dirty="0"/>
          </a:p>
        </p:txBody>
      </p:sp>
      <p:sp>
        <p:nvSpPr>
          <p:cNvPr id="7" name="Text 5"/>
          <p:cNvSpPr/>
          <p:nvPr/>
        </p:nvSpPr>
        <p:spPr>
          <a:xfrm>
            <a:off x="502920" y="1389888"/>
            <a:ext cx="7315200" cy="274320"/>
          </a:xfrm>
          <a:prstGeom prst="rect">
            <a:avLst/>
          </a:prstGeom>
          <a:noFill/>
          <a:ln/>
        </p:spPr>
        <p:txBody>
          <a:bodyPr wrap="square" lIns="0" tIns="0" rIns="0" bIns="0" rtlCol="0" anchor="ctr"/>
          <a:lstStyle/>
          <a:p>
            <a:pPr indent="0" marL="0">
              <a:buNone/>
            </a:pPr>
            <a:r>
              <a:rPr lang="en-US" sz="1250" b="1" dirty="0">
                <a:solidFill>
                  <a:srgbClr val="0D1F33"/>
                </a:solidFill>
                <a:latin typeface="Arial" pitchFamily="34" charset="0"/>
                <a:ea typeface="Arial" pitchFamily="34" charset="-122"/>
                <a:cs typeface="Arial" pitchFamily="34" charset="-120"/>
              </a:rPr>
              <a:t>Modelled adoption paths — % of applicable segment (computed by the engine)</a:t>
            </a:r>
            <a:endParaRPr lang="en-US" sz="1250" dirty="0"/>
          </a:p>
        </p:txBody>
      </p:sp>
      <p:graphicFrame>
        <p:nvGraphicFramePr>
          <p:cNvPr id="8" name="Chart 0" descr=""/>
          <p:cNvGraphicFramePr/>
          <p:nvPr/>
        </p:nvGraphicFramePr>
        <p:xfrm>
          <a:off x="457200" y="1691640"/>
          <a:ext cx="7223760" cy="40690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001000" y="1389888"/>
            <a:ext cx="3703320" cy="4389120"/>
          </a:xfrm>
          <a:prstGeom prst="roundRect">
            <a:avLst>
              <a:gd name="adj" fmla="val 1728"/>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10" name="Shape 7"/>
          <p:cNvSpPr/>
          <p:nvPr/>
        </p:nvSpPr>
        <p:spPr>
          <a:xfrm>
            <a:off x="8065008" y="1453896"/>
            <a:ext cx="137160" cy="0"/>
          </a:xfrm>
          <a:prstGeom prst="line">
            <a:avLst/>
          </a:prstGeom>
          <a:noFill/>
          <a:ln w="19050">
            <a:solidFill>
              <a:srgbClr val="F59E0B"/>
            </a:solidFill>
            <a:prstDash val="solid"/>
          </a:ln>
        </p:spPr>
      </p:sp>
      <p:sp>
        <p:nvSpPr>
          <p:cNvPr id="11" name="Shape 8"/>
          <p:cNvSpPr/>
          <p:nvPr/>
        </p:nvSpPr>
        <p:spPr>
          <a:xfrm>
            <a:off x="8065008" y="1453896"/>
            <a:ext cx="0" cy="137160"/>
          </a:xfrm>
          <a:prstGeom prst="line">
            <a:avLst/>
          </a:prstGeom>
          <a:noFill/>
          <a:ln w="19050">
            <a:solidFill>
              <a:srgbClr val="F59E0B"/>
            </a:solidFill>
            <a:prstDash val="solid"/>
          </a:ln>
        </p:spPr>
      </p:sp>
      <p:sp>
        <p:nvSpPr>
          <p:cNvPr id="12" name="Shape 9"/>
          <p:cNvSpPr/>
          <p:nvPr/>
        </p:nvSpPr>
        <p:spPr>
          <a:xfrm>
            <a:off x="11503152" y="5715000"/>
            <a:ext cx="137160" cy="0"/>
          </a:xfrm>
          <a:prstGeom prst="line">
            <a:avLst/>
          </a:prstGeom>
          <a:noFill/>
          <a:ln w="19050">
            <a:solidFill>
              <a:srgbClr val="F59E0B"/>
            </a:solidFill>
            <a:prstDash val="solid"/>
          </a:ln>
        </p:spPr>
      </p:sp>
      <p:sp>
        <p:nvSpPr>
          <p:cNvPr id="13" name="Shape 10"/>
          <p:cNvSpPr/>
          <p:nvPr/>
        </p:nvSpPr>
        <p:spPr>
          <a:xfrm>
            <a:off x="11640312" y="5577840"/>
            <a:ext cx="0" cy="137160"/>
          </a:xfrm>
          <a:prstGeom prst="line">
            <a:avLst/>
          </a:prstGeom>
          <a:noFill/>
          <a:ln w="19050">
            <a:solidFill>
              <a:srgbClr val="F59E0B"/>
            </a:solidFill>
            <a:prstDash val="solid"/>
          </a:ln>
        </p:spPr>
      </p:sp>
      <p:sp>
        <p:nvSpPr>
          <p:cNvPr id="14" name="Text 11"/>
          <p:cNvSpPr/>
          <p:nvPr/>
        </p:nvSpPr>
        <p:spPr>
          <a:xfrm>
            <a:off x="8229600" y="1591056"/>
            <a:ext cx="3291840" cy="274320"/>
          </a:xfrm>
          <a:prstGeom prst="rect">
            <a:avLst/>
          </a:prstGeom>
          <a:noFill/>
          <a:ln/>
        </p:spPr>
        <p:txBody>
          <a:bodyPr wrap="square" lIns="0" tIns="0" rIns="0" bIns="0" rtlCol="0" anchor="ctr"/>
          <a:lstStyle/>
          <a:p>
            <a:pPr indent="0" marL="0">
              <a:buNone/>
            </a:pPr>
            <a:r>
              <a:rPr lang="en-US" sz="1400" b="1" dirty="0">
                <a:solidFill>
                  <a:srgbClr val="0D1F33"/>
                </a:solidFill>
                <a:latin typeface="Arial" pitchFamily="34" charset="0"/>
                <a:ea typeface="Arial" pitchFamily="34" charset="-122"/>
                <a:cs typeface="Arial" pitchFamily="34" charset="-120"/>
              </a:rPr>
              <a:t>Headline calls</a:t>
            </a:r>
            <a:endParaRPr lang="en-US" sz="1400" dirty="0"/>
          </a:p>
        </p:txBody>
      </p:sp>
      <p:sp>
        <p:nvSpPr>
          <p:cNvPr id="15" name="Text 12"/>
          <p:cNvSpPr/>
          <p:nvPr/>
        </p:nvSpPr>
        <p:spPr>
          <a:xfrm>
            <a:off x="8229600" y="1956816"/>
            <a:ext cx="3337560" cy="274320"/>
          </a:xfrm>
          <a:prstGeom prst="rect">
            <a:avLst/>
          </a:prstGeom>
          <a:noFill/>
          <a:ln/>
        </p:spPr>
        <p:txBody>
          <a:bodyPr wrap="square" lIns="0" tIns="0" rIns="0" bIns="0" rtlCol="0" anchor="ctr"/>
          <a:lstStyle/>
          <a:p>
            <a:pPr indent="0" marL="0">
              <a:buNone/>
            </a:pPr>
            <a:r>
              <a:rPr lang="en-US" sz="1150" b="1" dirty="0">
                <a:solidFill>
                  <a:srgbClr val="0D1F33"/>
                </a:solidFill>
                <a:latin typeface="Arial" pitchFamily="34" charset="0"/>
                <a:ea typeface="Arial" pitchFamily="34" charset="-122"/>
                <a:cs typeface="Arial" pitchFamily="34" charset="-120"/>
              </a:rPr>
              <a:t>FPC/CCS flexible cell-contacting systems</a:t>
            </a:r>
            <a:endParaRPr lang="en-US" sz="1150" dirty="0"/>
          </a:p>
        </p:txBody>
      </p:sp>
      <p:sp>
        <p:nvSpPr>
          <p:cNvPr id="16" name="Text 13"/>
          <p:cNvSpPr/>
          <p:nvPr/>
        </p:nvSpPr>
        <p:spPr>
          <a:xfrm>
            <a:off x="8229600" y="2203704"/>
            <a:ext cx="3337560" cy="548640"/>
          </a:xfrm>
          <a:prstGeom prst="rect">
            <a:avLst/>
          </a:prstGeom>
          <a:noFill/>
          <a:ln/>
        </p:spPr>
        <p:txBody>
          <a:bodyPr wrap="square" lIns="0" tIns="0" rIns="0" bIns="0" rtlCol="0" anchor="ctr"/>
          <a:lstStyle/>
          <a:p>
            <a:pPr indent="0" marL="0">
              <a:buNone/>
            </a:pPr>
            <a:r>
              <a:rPr lang="en-US" sz="950" dirty="0">
                <a:solidFill>
                  <a:srgbClr val="D97706"/>
                </a:solidFill>
                <a:latin typeface="Courier New" pitchFamily="34" charset="0"/>
                <a:ea typeface="Courier New" pitchFamily="34" charset="-122"/>
                <a:cs typeface="Courier New" pitchFamily="34" charset="-120"/>
              </a:rPr>
              <a:t>momentum 73/100 · COMMITTED</a:t>
            </a:r>
            <a:endParaRPr lang="en-US" sz="950" dirty="0"/>
          </a:p>
          <a:p>
            <a:pPr indent="0" marL="0">
              <a:buNone/>
            </a:pPr>
            <a:r>
              <a:rPr lang="en-US" sz="950" dirty="0">
                <a:solidFill>
                  <a:srgbClr val="5B6B7F"/>
                </a:solidFill>
                <a:latin typeface="Courier New" pitchFamily="34" charset="0"/>
                <a:ea typeface="Courier New" pitchFamily="34" charset="-122"/>
                <a:cs typeface="Courier New" pitchFamily="34" charset="-120"/>
              </a:rPr>
              <a:t>crosses 50% ≈2028 (2027–2028)</a:t>
            </a:r>
            <a:endParaRPr lang="en-US" sz="950" dirty="0"/>
          </a:p>
        </p:txBody>
      </p:sp>
      <p:sp>
        <p:nvSpPr>
          <p:cNvPr id="17" name="Text 14"/>
          <p:cNvSpPr/>
          <p:nvPr/>
        </p:nvSpPr>
        <p:spPr>
          <a:xfrm>
            <a:off x="8229600" y="2999232"/>
            <a:ext cx="3337560" cy="274320"/>
          </a:xfrm>
          <a:prstGeom prst="rect">
            <a:avLst/>
          </a:prstGeom>
          <a:noFill/>
          <a:ln/>
        </p:spPr>
        <p:txBody>
          <a:bodyPr wrap="square" lIns="0" tIns="0" rIns="0" bIns="0" rtlCol="0" anchor="ctr"/>
          <a:lstStyle/>
          <a:p>
            <a:pPr indent="0" marL="0">
              <a:buNone/>
            </a:pPr>
            <a:r>
              <a:rPr lang="en-US" sz="1150" b="1" dirty="0">
                <a:solidFill>
                  <a:srgbClr val="0D1F33"/>
                </a:solidFill>
                <a:latin typeface="Arial" pitchFamily="34" charset="0"/>
                <a:ea typeface="Arial" pitchFamily="34" charset="-122"/>
                <a:cs typeface="Arial" pitchFamily="34" charset="-120"/>
              </a:rPr>
              <a:t>LFP chemistry in C/D-segment packs</a:t>
            </a:r>
            <a:endParaRPr lang="en-US" sz="1150" dirty="0"/>
          </a:p>
        </p:txBody>
      </p:sp>
      <p:sp>
        <p:nvSpPr>
          <p:cNvPr id="18" name="Text 15"/>
          <p:cNvSpPr/>
          <p:nvPr/>
        </p:nvSpPr>
        <p:spPr>
          <a:xfrm>
            <a:off x="8229600" y="3246120"/>
            <a:ext cx="3337560" cy="548640"/>
          </a:xfrm>
          <a:prstGeom prst="rect">
            <a:avLst/>
          </a:prstGeom>
          <a:noFill/>
          <a:ln/>
        </p:spPr>
        <p:txBody>
          <a:bodyPr wrap="square" lIns="0" tIns="0" rIns="0" bIns="0" rtlCol="0" anchor="ctr"/>
          <a:lstStyle/>
          <a:p>
            <a:pPr indent="0" marL="0">
              <a:buNone/>
            </a:pPr>
            <a:r>
              <a:rPr lang="en-US" sz="950" dirty="0">
                <a:solidFill>
                  <a:srgbClr val="D97706"/>
                </a:solidFill>
                <a:latin typeface="Courier New" pitchFamily="34" charset="0"/>
                <a:ea typeface="Courier New" pitchFamily="34" charset="-122"/>
                <a:cs typeface="Courier New" pitchFamily="34" charset="-120"/>
              </a:rPr>
              <a:t>momentum 73/100 · COMMITTED</a:t>
            </a:r>
            <a:endParaRPr lang="en-US" sz="950" dirty="0"/>
          </a:p>
          <a:p>
            <a:pPr indent="0" marL="0">
              <a:buNone/>
            </a:pPr>
            <a:r>
              <a:rPr lang="en-US" sz="950" dirty="0">
                <a:solidFill>
                  <a:srgbClr val="5B6B7F"/>
                </a:solidFill>
                <a:latin typeface="Courier New" pitchFamily="34" charset="0"/>
                <a:ea typeface="Courier New" pitchFamily="34" charset="-122"/>
                <a:cs typeface="Courier New" pitchFamily="34" charset="-120"/>
              </a:rPr>
              <a:t>crosses 50% ≈2027 (2027–2027)</a:t>
            </a:r>
            <a:endParaRPr lang="en-US" sz="950" dirty="0"/>
          </a:p>
        </p:txBody>
      </p:sp>
      <p:sp>
        <p:nvSpPr>
          <p:cNvPr id="19" name="Text 16"/>
          <p:cNvSpPr/>
          <p:nvPr/>
        </p:nvSpPr>
        <p:spPr>
          <a:xfrm>
            <a:off x="8229600" y="4041648"/>
            <a:ext cx="3337560" cy="274320"/>
          </a:xfrm>
          <a:prstGeom prst="rect">
            <a:avLst/>
          </a:prstGeom>
          <a:noFill/>
          <a:ln/>
        </p:spPr>
        <p:txBody>
          <a:bodyPr wrap="square" lIns="0" tIns="0" rIns="0" bIns="0" rtlCol="0" anchor="ctr"/>
          <a:lstStyle/>
          <a:p>
            <a:pPr indent="0" marL="0">
              <a:buNone/>
            </a:pPr>
            <a:r>
              <a:rPr lang="en-US" sz="1150" b="1" dirty="0">
                <a:solidFill>
                  <a:srgbClr val="0D1F33"/>
                </a:solidFill>
                <a:latin typeface="Arial" pitchFamily="34" charset="0"/>
                <a:ea typeface="Arial" pitchFamily="34" charset="-122"/>
                <a:cs typeface="Arial" pitchFamily="34" charset="-120"/>
              </a:rPr>
              <a:t>Cell-to-pack / cell-to-body integration</a:t>
            </a:r>
            <a:endParaRPr lang="en-US" sz="1150" dirty="0"/>
          </a:p>
        </p:txBody>
      </p:sp>
      <p:sp>
        <p:nvSpPr>
          <p:cNvPr id="20" name="Text 17"/>
          <p:cNvSpPr/>
          <p:nvPr/>
        </p:nvSpPr>
        <p:spPr>
          <a:xfrm>
            <a:off x="8229600" y="4288536"/>
            <a:ext cx="3337560" cy="548640"/>
          </a:xfrm>
          <a:prstGeom prst="rect">
            <a:avLst/>
          </a:prstGeom>
          <a:noFill/>
          <a:ln/>
        </p:spPr>
        <p:txBody>
          <a:bodyPr wrap="square" lIns="0" tIns="0" rIns="0" bIns="0" rtlCol="0" anchor="ctr"/>
          <a:lstStyle/>
          <a:p>
            <a:pPr indent="0" marL="0">
              <a:buNone/>
            </a:pPr>
            <a:r>
              <a:rPr lang="en-US" sz="950" dirty="0">
                <a:solidFill>
                  <a:srgbClr val="D97706"/>
                </a:solidFill>
                <a:latin typeface="Courier New" pitchFamily="34" charset="0"/>
                <a:ea typeface="Courier New" pitchFamily="34" charset="-122"/>
                <a:cs typeface="Courier New" pitchFamily="34" charset="-120"/>
              </a:rPr>
              <a:t>momentum 69/100 · COMMITTED</a:t>
            </a:r>
            <a:endParaRPr lang="en-US" sz="950" dirty="0"/>
          </a:p>
          <a:p>
            <a:pPr indent="0" marL="0">
              <a:buNone/>
            </a:pPr>
            <a:r>
              <a:rPr lang="en-US" sz="950" dirty="0">
                <a:solidFill>
                  <a:srgbClr val="5B6B7F"/>
                </a:solidFill>
                <a:latin typeface="Courier New" pitchFamily="34" charset="0"/>
                <a:ea typeface="Courier New" pitchFamily="34" charset="-122"/>
                <a:cs typeface="Courier New" pitchFamily="34" charset="-120"/>
              </a:rPr>
              <a:t>crosses 50% ≈2029 (2028–2029)</a:t>
            </a:r>
            <a:endParaRPr lang="en-US" sz="950" dirty="0"/>
          </a:p>
        </p:txBody>
      </p:sp>
      <p:sp>
        <p:nvSpPr>
          <p:cNvPr id="21" name="Text 18"/>
          <p:cNvSpPr/>
          <p:nvPr/>
        </p:nvSpPr>
        <p:spPr>
          <a:xfrm>
            <a:off x="8229600" y="5074920"/>
            <a:ext cx="3291840" cy="640080"/>
          </a:xfrm>
          <a:prstGeom prst="rect">
            <a:avLst/>
          </a:prstGeom>
          <a:noFill/>
          <a:ln/>
        </p:spPr>
        <p:txBody>
          <a:bodyPr wrap="square" lIns="0" tIns="0" rIns="0" bIns="0" rtlCol="0" anchor="ctr"/>
          <a:lstStyle/>
          <a:p>
            <a:pPr indent="0" marL="0">
              <a:buNone/>
            </a:pPr>
            <a:r>
              <a:rPr lang="en-US" sz="950" i="1" dirty="0">
                <a:solidFill>
                  <a:srgbClr val="5B6B7F"/>
                </a:solidFill>
                <a:latin typeface="Arial" pitchFamily="34" charset="0"/>
                <a:ea typeface="Arial" pitchFamily="34" charset="-122"/>
                <a:cs typeface="Arial" pitchFamily="34" charset="-120"/>
              </a:rPr>
              <a:t>Lanes H1/H2/H3: 17/4/1. Solid-state stays H3 — pilot-scale, $400-800/kWh; treat OEM dates skeptically.</a:t>
            </a:r>
            <a:endParaRPr lang="en-US" sz="950" dirty="0"/>
          </a:p>
        </p:txBody>
      </p:sp>
      <p:sp>
        <p:nvSpPr>
          <p:cNvPr id="22" name="Text 19"/>
          <p:cNvSpPr/>
          <p:nvPr/>
        </p:nvSpPr>
        <p:spPr>
          <a:xfrm>
            <a:off x="502920" y="5989320"/>
            <a:ext cx="11155680" cy="365760"/>
          </a:xfrm>
          <a:prstGeom prst="rect">
            <a:avLst/>
          </a:prstGeom>
          <a:noFill/>
          <a:ln/>
        </p:spPr>
        <p:txBody>
          <a:bodyPr wrap="square" rtlCol="0" anchor="ctr"/>
          <a:lstStyle/>
          <a:p>
            <a:pPr algn="ctr" indent="0" marL="0">
              <a:buNone/>
            </a:pPr>
            <a:r>
              <a:rPr lang="en-US" sz="1250" b="1" i="1" dirty="0">
                <a:solidFill>
                  <a:srgbClr val="0D9488"/>
                </a:solidFill>
                <a:latin typeface="Arial" pitchFamily="34" charset="0"/>
                <a:ea typeface="Arial" pitchFamily="34" charset="-122"/>
                <a:cs typeface="Arial" pitchFamily="34" charset="-120"/>
              </a:rPr>
              <a:t>Every number on this slide came out of the deterministic engine at deck-build time — none were typed in by hand.</a:t>
            </a:r>
            <a:endParaRPr lang="en-US" sz="1250" dirty="0"/>
          </a:p>
        </p:txBody>
      </p:sp>
      <p:sp>
        <p:nvSpPr>
          <p:cNvPr id="23" name="Text 20"/>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12/16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711757" cy="329184"/>
          </a:xfrm>
          <a:prstGeom prst="roundRect">
            <a:avLst>
              <a:gd name="adj" fmla="val 50000"/>
            </a:avLst>
          </a:prstGeom>
          <a:solidFill>
            <a:srgbClr val="0D1F33"/>
          </a:solidFill>
          <a:ln/>
        </p:spPr>
      </p:sp>
      <p:sp>
        <p:nvSpPr>
          <p:cNvPr id="3" name="Text 1"/>
          <p:cNvSpPr/>
          <p:nvPr/>
        </p:nvSpPr>
        <p:spPr>
          <a:xfrm>
            <a:off x="502920" y="347472"/>
            <a:ext cx="1711757"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EVIDENCE LAYER</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Prediction backed by retrieval — and graded afterwards</a:t>
            </a:r>
            <a:endParaRPr lang="en-US" sz="2800" dirty="0"/>
          </a:p>
        </p:txBody>
      </p:sp>
      <p:sp>
        <p:nvSpPr>
          <p:cNvPr id="5" name="Shape 3"/>
          <p:cNvSpPr/>
          <p:nvPr/>
        </p:nvSpPr>
        <p:spPr>
          <a:xfrm>
            <a:off x="502920" y="1554480"/>
            <a:ext cx="5440680" cy="1901952"/>
          </a:xfrm>
          <a:prstGeom prst="roundRect">
            <a:avLst>
              <a:gd name="adj" fmla="val 3365"/>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6" name="Shape 4"/>
          <p:cNvSpPr/>
          <p:nvPr/>
        </p:nvSpPr>
        <p:spPr>
          <a:xfrm>
            <a:off x="502920" y="1554480"/>
            <a:ext cx="5440680" cy="566928"/>
          </a:xfrm>
          <a:prstGeom prst="roundRect">
            <a:avLst>
              <a:gd name="adj" fmla="val 11290"/>
            </a:avLst>
          </a:prstGeom>
          <a:solidFill>
            <a:srgbClr val="0D9488"/>
          </a:solidFill>
          <a:ln/>
        </p:spPr>
      </p:sp>
      <p:sp>
        <p:nvSpPr>
          <p:cNvPr id="7" name="Shape 5"/>
          <p:cNvSpPr/>
          <p:nvPr/>
        </p:nvSpPr>
        <p:spPr>
          <a:xfrm>
            <a:off x="630936" y="1627632"/>
            <a:ext cx="420624" cy="420624"/>
          </a:xfrm>
          <a:prstGeom prst="ellipse">
            <a:avLst/>
          </a:prstGeom>
          <a:solidFill>
            <a:srgbClr val="0D9488"/>
          </a:solidFill>
          <a:ln/>
        </p:spPr>
      </p:sp>
      <p:pic>
        <p:nvPicPr>
          <p:cNvPr id="8" name="Image 0" descr="preencoded.png">    </p:cNvPr>
          <p:cNvPicPr>
            <a:picLocks noChangeAspect="1"/>
          </p:cNvPicPr>
          <p:nvPr/>
        </p:nvPicPr>
        <p:blipFill>
          <a:blip r:embed="rId1"/>
          <a:stretch>
            <a:fillRect/>
          </a:stretch>
        </p:blipFill>
        <p:spPr>
          <a:xfrm>
            <a:off x="715061" y="1711757"/>
            <a:ext cx="252374" cy="252374"/>
          </a:xfrm>
          <a:prstGeom prst="rect">
            <a:avLst/>
          </a:prstGeom>
        </p:spPr>
      </p:pic>
      <p:sp>
        <p:nvSpPr>
          <p:cNvPr id="9" name="Text 6"/>
          <p:cNvSpPr/>
          <p:nvPr/>
        </p:nvSpPr>
        <p:spPr>
          <a:xfrm>
            <a:off x="1188720" y="1554480"/>
            <a:ext cx="4572000" cy="56692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Patent-filing velocity</a:t>
            </a:r>
            <a:endParaRPr lang="en-US" sz="1400" dirty="0"/>
          </a:p>
        </p:txBody>
      </p:sp>
      <p:sp>
        <p:nvSpPr>
          <p:cNvPr id="10" name="Text 7"/>
          <p:cNvSpPr/>
          <p:nvPr/>
        </p:nvSpPr>
        <p:spPr>
          <a:xfrm>
            <a:off x="731520" y="2240280"/>
            <a:ext cx="4983480" cy="114300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US filings per year for each technology, with a computed accelerating / steady / declining label. A rising curve is an observable early signal — not an opinion.</a:t>
            </a:r>
            <a:endParaRPr lang="en-US" sz="1050" dirty="0"/>
          </a:p>
        </p:txBody>
      </p:sp>
      <p:sp>
        <p:nvSpPr>
          <p:cNvPr id="11" name="Shape 8"/>
          <p:cNvSpPr/>
          <p:nvPr/>
        </p:nvSpPr>
        <p:spPr>
          <a:xfrm>
            <a:off x="6217920" y="1554480"/>
            <a:ext cx="5440680" cy="1901952"/>
          </a:xfrm>
          <a:prstGeom prst="roundRect">
            <a:avLst>
              <a:gd name="adj" fmla="val 3365"/>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12" name="Shape 9"/>
          <p:cNvSpPr/>
          <p:nvPr/>
        </p:nvSpPr>
        <p:spPr>
          <a:xfrm>
            <a:off x="6217920" y="1554480"/>
            <a:ext cx="5440680" cy="566928"/>
          </a:xfrm>
          <a:prstGeom prst="roundRect">
            <a:avLst>
              <a:gd name="adj" fmla="val 11290"/>
            </a:avLst>
          </a:prstGeom>
          <a:solidFill>
            <a:srgbClr val="F59E0B"/>
          </a:solidFill>
          <a:ln/>
        </p:spPr>
      </p:sp>
      <p:sp>
        <p:nvSpPr>
          <p:cNvPr id="13" name="Shape 10"/>
          <p:cNvSpPr/>
          <p:nvPr/>
        </p:nvSpPr>
        <p:spPr>
          <a:xfrm>
            <a:off x="6345936" y="1627632"/>
            <a:ext cx="420624" cy="420624"/>
          </a:xfrm>
          <a:prstGeom prst="ellipse">
            <a:avLst/>
          </a:prstGeom>
          <a:solidFill>
            <a:srgbClr val="F59E0B"/>
          </a:solidFill>
          <a:ln/>
        </p:spPr>
      </p:sp>
      <p:pic>
        <p:nvPicPr>
          <p:cNvPr id="14" name="Image 1" descr="preencoded.png">    </p:cNvPr>
          <p:cNvPicPr>
            <a:picLocks noChangeAspect="1"/>
          </p:cNvPicPr>
          <p:nvPr/>
        </p:nvPicPr>
        <p:blipFill>
          <a:blip r:embed="rId2"/>
          <a:stretch>
            <a:fillRect/>
          </a:stretch>
        </p:blipFill>
        <p:spPr>
          <a:xfrm>
            <a:off x="6430061" y="1711757"/>
            <a:ext cx="252374" cy="252374"/>
          </a:xfrm>
          <a:prstGeom prst="rect">
            <a:avLst/>
          </a:prstGeom>
        </p:spPr>
      </p:pic>
      <p:sp>
        <p:nvSpPr>
          <p:cNvPr id="15" name="Text 11"/>
          <p:cNvSpPr/>
          <p:nvPr/>
        </p:nvSpPr>
        <p:spPr>
          <a:xfrm>
            <a:off x="6903720" y="1554480"/>
            <a:ext cx="4572000" cy="56692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Deep research, cite-or-drop</a:t>
            </a:r>
            <a:endParaRPr lang="en-US" sz="1400" dirty="0"/>
          </a:p>
        </p:txBody>
      </p:sp>
      <p:sp>
        <p:nvSpPr>
          <p:cNvPr id="16" name="Text 12"/>
          <p:cNvSpPr/>
          <p:nvPr/>
        </p:nvSpPr>
        <p:spPr>
          <a:xfrm>
            <a:off x="6446520" y="2240280"/>
            <a:ext cx="4983480" cy="114300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Live web + patent retrieval, then AI synthesis where every finding must cite a retrieved source. Uncited claims are dropped in code — and it reports whether evidence supports or challenges the register.</a:t>
            </a:r>
            <a:endParaRPr lang="en-US" sz="1050" dirty="0"/>
          </a:p>
        </p:txBody>
      </p:sp>
      <p:sp>
        <p:nvSpPr>
          <p:cNvPr id="17" name="Shape 13"/>
          <p:cNvSpPr/>
          <p:nvPr/>
        </p:nvSpPr>
        <p:spPr>
          <a:xfrm>
            <a:off x="502920" y="3639312"/>
            <a:ext cx="5440680" cy="1901952"/>
          </a:xfrm>
          <a:prstGeom prst="roundRect">
            <a:avLst>
              <a:gd name="adj" fmla="val 3365"/>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18" name="Shape 14"/>
          <p:cNvSpPr/>
          <p:nvPr/>
        </p:nvSpPr>
        <p:spPr>
          <a:xfrm>
            <a:off x="502920" y="3639312"/>
            <a:ext cx="5440680" cy="566928"/>
          </a:xfrm>
          <a:prstGeom prst="roundRect">
            <a:avLst>
              <a:gd name="adj" fmla="val 11290"/>
            </a:avLst>
          </a:prstGeom>
          <a:solidFill>
            <a:srgbClr val="6D28D9"/>
          </a:solidFill>
          <a:ln/>
        </p:spPr>
      </p:sp>
      <p:sp>
        <p:nvSpPr>
          <p:cNvPr id="19" name="Shape 15"/>
          <p:cNvSpPr/>
          <p:nvPr/>
        </p:nvSpPr>
        <p:spPr>
          <a:xfrm>
            <a:off x="630936" y="3712464"/>
            <a:ext cx="420624" cy="420624"/>
          </a:xfrm>
          <a:prstGeom prst="ellipse">
            <a:avLst/>
          </a:prstGeom>
          <a:solidFill>
            <a:srgbClr val="6D28D9"/>
          </a:solidFill>
          <a:ln/>
        </p:spPr>
      </p:sp>
      <p:pic>
        <p:nvPicPr>
          <p:cNvPr id="20" name="Image 2" descr="preencoded.png">    </p:cNvPr>
          <p:cNvPicPr>
            <a:picLocks noChangeAspect="1"/>
          </p:cNvPicPr>
          <p:nvPr/>
        </p:nvPicPr>
        <p:blipFill>
          <a:blip r:embed="rId3"/>
          <a:stretch>
            <a:fillRect/>
          </a:stretch>
        </p:blipFill>
        <p:spPr>
          <a:xfrm>
            <a:off x="715061" y="3796589"/>
            <a:ext cx="252374" cy="252374"/>
          </a:xfrm>
          <a:prstGeom prst="rect">
            <a:avLst/>
          </a:prstGeom>
        </p:spPr>
      </p:pic>
      <p:sp>
        <p:nvSpPr>
          <p:cNvPr id="21" name="Text 16"/>
          <p:cNvSpPr/>
          <p:nvPr/>
        </p:nvSpPr>
        <p:spPr>
          <a:xfrm>
            <a:off x="1188720" y="3639312"/>
            <a:ext cx="4572000" cy="56692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Expert panel critique</a:t>
            </a:r>
            <a:endParaRPr lang="en-US" sz="1400" dirty="0"/>
          </a:p>
        </p:txBody>
      </p:sp>
      <p:sp>
        <p:nvSpPr>
          <p:cNvPr id="22" name="Text 17"/>
          <p:cNvSpPr/>
          <p:nvPr/>
        </p:nvSpPr>
        <p:spPr>
          <a:xfrm>
            <a:off x="731520" y="4325112"/>
            <a:ext cx="4983480" cy="114300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Three AI sceptics — over-hype historian, supply-chain realist, regulatory analyst — stamp agree / caution / challenge on each card. They critique timing; they cannot change a number.</a:t>
            </a:r>
            <a:endParaRPr lang="en-US" sz="1050" dirty="0"/>
          </a:p>
        </p:txBody>
      </p:sp>
      <p:sp>
        <p:nvSpPr>
          <p:cNvPr id="23" name="Shape 18"/>
          <p:cNvSpPr/>
          <p:nvPr/>
        </p:nvSpPr>
        <p:spPr>
          <a:xfrm>
            <a:off x="6217920" y="3639312"/>
            <a:ext cx="5440680" cy="1901952"/>
          </a:xfrm>
          <a:prstGeom prst="roundRect">
            <a:avLst>
              <a:gd name="adj" fmla="val 3365"/>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24" name="Shape 19"/>
          <p:cNvSpPr/>
          <p:nvPr/>
        </p:nvSpPr>
        <p:spPr>
          <a:xfrm>
            <a:off x="6217920" y="3639312"/>
            <a:ext cx="5440680" cy="566928"/>
          </a:xfrm>
          <a:prstGeom prst="roundRect">
            <a:avLst>
              <a:gd name="adj" fmla="val 11290"/>
            </a:avLst>
          </a:prstGeom>
          <a:solidFill>
            <a:srgbClr val="0D1F33"/>
          </a:solidFill>
          <a:ln/>
        </p:spPr>
      </p:sp>
      <p:sp>
        <p:nvSpPr>
          <p:cNvPr id="25" name="Shape 20"/>
          <p:cNvSpPr/>
          <p:nvPr/>
        </p:nvSpPr>
        <p:spPr>
          <a:xfrm>
            <a:off x="6345936" y="3712464"/>
            <a:ext cx="420624" cy="420624"/>
          </a:xfrm>
          <a:prstGeom prst="ellipse">
            <a:avLst/>
          </a:prstGeom>
          <a:solidFill>
            <a:srgbClr val="0D1F33"/>
          </a:solidFill>
          <a:ln/>
        </p:spPr>
      </p:sp>
      <p:pic>
        <p:nvPicPr>
          <p:cNvPr id="26" name="Image 3" descr="preencoded.png">    </p:cNvPr>
          <p:cNvPicPr>
            <a:picLocks noChangeAspect="1"/>
          </p:cNvPicPr>
          <p:nvPr/>
        </p:nvPicPr>
        <p:blipFill>
          <a:blip r:embed="rId4"/>
          <a:stretch>
            <a:fillRect/>
          </a:stretch>
        </p:blipFill>
        <p:spPr>
          <a:xfrm>
            <a:off x="6430061" y="3796589"/>
            <a:ext cx="252374" cy="252374"/>
          </a:xfrm>
          <a:prstGeom prst="rect">
            <a:avLst/>
          </a:prstGeom>
        </p:spPr>
      </p:pic>
      <p:sp>
        <p:nvSpPr>
          <p:cNvPr id="27" name="Text 21"/>
          <p:cNvSpPr/>
          <p:nvPr/>
        </p:nvSpPr>
        <p:spPr>
          <a:xfrm>
            <a:off x="6903720" y="3639312"/>
            <a:ext cx="4572000" cy="56692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Prediction Ledger</a:t>
            </a:r>
            <a:endParaRPr lang="en-US" sz="1400" dirty="0"/>
          </a:p>
        </p:txBody>
      </p:sp>
      <p:sp>
        <p:nvSpPr>
          <p:cNvPr id="28" name="Text 22"/>
          <p:cNvSpPr/>
          <p:nvPr/>
        </p:nvSpPr>
        <p:spPr>
          <a:xfrm>
            <a:off x="6446520" y="4325112"/>
            <a:ext cx="4983480" cy="114300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Every forecast can be snapshotted. On re-curation the tool scores its own past projections — mean error, shown to us. "A foresight tool that never checks its past predictions is astrology."</a:t>
            </a:r>
            <a:endParaRPr lang="en-US" sz="1050" dirty="0"/>
          </a:p>
        </p:txBody>
      </p:sp>
      <p:sp>
        <p:nvSpPr>
          <p:cNvPr id="29" name="Text 23"/>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13/16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1711757" cy="329184"/>
          </a:xfrm>
          <a:prstGeom prst="roundRect">
            <a:avLst>
              <a:gd name="adj" fmla="val 50000"/>
            </a:avLst>
          </a:prstGeom>
          <a:solidFill>
            <a:srgbClr val="0D1F33"/>
          </a:solidFill>
          <a:ln/>
        </p:spPr>
      </p:sp>
      <p:sp>
        <p:nvSpPr>
          <p:cNvPr id="3" name="Text 1"/>
          <p:cNvSpPr/>
          <p:nvPr/>
        </p:nvSpPr>
        <p:spPr>
          <a:xfrm>
            <a:off x="502920" y="347472"/>
            <a:ext cx="1711757"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BUSINESS VALUE</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What this changes for us</a:t>
            </a:r>
            <a:endParaRPr lang="en-US" sz="2800" dirty="0"/>
          </a:p>
        </p:txBody>
      </p:sp>
      <p:sp>
        <p:nvSpPr>
          <p:cNvPr id="5" name="Shape 3"/>
          <p:cNvSpPr/>
          <p:nvPr/>
        </p:nvSpPr>
        <p:spPr>
          <a:xfrm>
            <a:off x="502920" y="1554480"/>
            <a:ext cx="5440680" cy="1755648"/>
          </a:xfrm>
          <a:prstGeom prst="roundRect">
            <a:avLst>
              <a:gd name="adj" fmla="val 3646"/>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6" name="Shape 4"/>
          <p:cNvSpPr/>
          <p:nvPr/>
        </p:nvSpPr>
        <p:spPr>
          <a:xfrm>
            <a:off x="566928" y="1618488"/>
            <a:ext cx="137160" cy="0"/>
          </a:xfrm>
          <a:prstGeom prst="line">
            <a:avLst/>
          </a:prstGeom>
          <a:noFill/>
          <a:ln w="19050">
            <a:solidFill>
              <a:srgbClr val="F59E0B"/>
            </a:solidFill>
            <a:prstDash val="solid"/>
          </a:ln>
        </p:spPr>
      </p:sp>
      <p:sp>
        <p:nvSpPr>
          <p:cNvPr id="7" name="Shape 5"/>
          <p:cNvSpPr/>
          <p:nvPr/>
        </p:nvSpPr>
        <p:spPr>
          <a:xfrm>
            <a:off x="566928" y="1618488"/>
            <a:ext cx="0" cy="137160"/>
          </a:xfrm>
          <a:prstGeom prst="line">
            <a:avLst/>
          </a:prstGeom>
          <a:noFill/>
          <a:ln w="19050">
            <a:solidFill>
              <a:srgbClr val="F59E0B"/>
            </a:solidFill>
            <a:prstDash val="solid"/>
          </a:ln>
        </p:spPr>
      </p:sp>
      <p:sp>
        <p:nvSpPr>
          <p:cNvPr id="8" name="Shape 6"/>
          <p:cNvSpPr/>
          <p:nvPr/>
        </p:nvSpPr>
        <p:spPr>
          <a:xfrm>
            <a:off x="5742432" y="3246120"/>
            <a:ext cx="137160" cy="0"/>
          </a:xfrm>
          <a:prstGeom prst="line">
            <a:avLst/>
          </a:prstGeom>
          <a:noFill/>
          <a:ln w="19050">
            <a:solidFill>
              <a:srgbClr val="F59E0B"/>
            </a:solidFill>
            <a:prstDash val="solid"/>
          </a:ln>
        </p:spPr>
      </p:sp>
      <p:sp>
        <p:nvSpPr>
          <p:cNvPr id="9" name="Shape 7"/>
          <p:cNvSpPr/>
          <p:nvPr/>
        </p:nvSpPr>
        <p:spPr>
          <a:xfrm>
            <a:off x="5879592" y="3108960"/>
            <a:ext cx="0" cy="137160"/>
          </a:xfrm>
          <a:prstGeom prst="line">
            <a:avLst/>
          </a:prstGeom>
          <a:noFill/>
          <a:ln w="19050">
            <a:solidFill>
              <a:srgbClr val="F59E0B"/>
            </a:solidFill>
            <a:prstDash val="solid"/>
          </a:ln>
        </p:spPr>
      </p:sp>
      <p:sp>
        <p:nvSpPr>
          <p:cNvPr id="10" name="Shape 8"/>
          <p:cNvSpPr/>
          <p:nvPr/>
        </p:nvSpPr>
        <p:spPr>
          <a:xfrm>
            <a:off x="722376" y="1773936"/>
            <a:ext cx="566928" cy="566928"/>
          </a:xfrm>
          <a:prstGeom prst="ellipse">
            <a:avLst/>
          </a:prstGeom>
          <a:solidFill>
            <a:srgbClr val="0D1F33"/>
          </a:solidFill>
          <a:ln/>
        </p:spPr>
      </p:sp>
      <p:pic>
        <p:nvPicPr>
          <p:cNvPr id="11" name="Image 0" descr="preencoded.png">    </p:cNvPr>
          <p:cNvPicPr>
            <a:picLocks noChangeAspect="1"/>
          </p:cNvPicPr>
          <p:nvPr/>
        </p:nvPicPr>
        <p:blipFill>
          <a:blip r:embed="rId1"/>
          <a:stretch>
            <a:fillRect/>
          </a:stretch>
        </p:blipFill>
        <p:spPr>
          <a:xfrm>
            <a:off x="852769" y="1904329"/>
            <a:ext cx="306141" cy="306141"/>
          </a:xfrm>
          <a:prstGeom prst="rect">
            <a:avLst/>
          </a:prstGeom>
        </p:spPr>
      </p:pic>
      <p:sp>
        <p:nvSpPr>
          <p:cNvPr id="12" name="Text 9"/>
          <p:cNvSpPr/>
          <p:nvPr/>
        </p:nvSpPr>
        <p:spPr>
          <a:xfrm>
            <a:off x="1463040" y="1737360"/>
            <a:ext cx="4315968" cy="292608"/>
          </a:xfrm>
          <a:prstGeom prst="rect">
            <a:avLst/>
          </a:prstGeom>
          <a:noFill/>
          <a:ln/>
        </p:spPr>
        <p:txBody>
          <a:bodyPr wrap="square" lIns="0" tIns="0" rIns="0" bIns="0" rtlCol="0" anchor="ctr"/>
          <a:lstStyle/>
          <a:p>
            <a:pPr indent="0" marL="0">
              <a:buNone/>
            </a:pPr>
            <a:r>
              <a:rPr lang="en-US" sz="1450" b="1" dirty="0">
                <a:solidFill>
                  <a:srgbClr val="0D1F33"/>
                </a:solidFill>
                <a:latin typeface="Arial" pitchFamily="34" charset="0"/>
                <a:ea typeface="Arial" pitchFamily="34" charset="-122"/>
                <a:cs typeface="Arial" pitchFamily="34" charset="-120"/>
              </a:rPr>
              <a:t>Sharper sourcing decisions</a:t>
            </a:r>
            <a:endParaRPr lang="en-US" sz="1450" dirty="0"/>
          </a:p>
        </p:txBody>
      </p:sp>
      <p:sp>
        <p:nvSpPr>
          <p:cNvPr id="13" name="Text 10"/>
          <p:cNvSpPr/>
          <p:nvPr/>
        </p:nvSpPr>
        <p:spPr>
          <a:xfrm>
            <a:off x="1463040" y="2048256"/>
            <a:ext cx="4315968" cy="1143000"/>
          </a:xfrm>
          <a:prstGeom prst="rect">
            <a:avLst/>
          </a:prstGeom>
          <a:noFill/>
          <a:ln/>
        </p:spPr>
        <p:txBody>
          <a:bodyPr wrap="square" lIns="0" tIns="0" rIns="0" bIns="0" rtlCol="0" anchor="ctr"/>
          <a:lstStyle/>
          <a:p>
            <a:pPr indent="0" marL="0">
              <a:buNone/>
            </a:pPr>
            <a:r>
              <a:rPr lang="en-US" sz="1100" dirty="0">
                <a:solidFill>
                  <a:srgbClr val="5B6B7F"/>
                </a:solidFill>
                <a:latin typeface="Arial" pitchFamily="34" charset="0"/>
                <a:ea typeface="Arial" pitchFamily="34" charset="-122"/>
                <a:cs typeface="Arial" pitchFamily="34" charset="-120"/>
              </a:rPr>
              <a:t>Check the technology future of a part before the 7-year contract: what replaces it, when, at what cost trajectory — with confidence tiers on every call.</a:t>
            </a:r>
            <a:endParaRPr lang="en-US" sz="1100" dirty="0"/>
          </a:p>
        </p:txBody>
      </p:sp>
      <p:sp>
        <p:nvSpPr>
          <p:cNvPr id="14" name="Shape 11"/>
          <p:cNvSpPr/>
          <p:nvPr/>
        </p:nvSpPr>
        <p:spPr>
          <a:xfrm>
            <a:off x="6217920" y="1554480"/>
            <a:ext cx="5440680" cy="1755648"/>
          </a:xfrm>
          <a:prstGeom prst="roundRect">
            <a:avLst>
              <a:gd name="adj" fmla="val 3646"/>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15" name="Shape 12"/>
          <p:cNvSpPr/>
          <p:nvPr/>
        </p:nvSpPr>
        <p:spPr>
          <a:xfrm>
            <a:off x="6281928" y="1618488"/>
            <a:ext cx="137160" cy="0"/>
          </a:xfrm>
          <a:prstGeom prst="line">
            <a:avLst/>
          </a:prstGeom>
          <a:noFill/>
          <a:ln w="19050">
            <a:solidFill>
              <a:srgbClr val="F59E0B"/>
            </a:solidFill>
            <a:prstDash val="solid"/>
          </a:ln>
        </p:spPr>
      </p:sp>
      <p:sp>
        <p:nvSpPr>
          <p:cNvPr id="16" name="Shape 13"/>
          <p:cNvSpPr/>
          <p:nvPr/>
        </p:nvSpPr>
        <p:spPr>
          <a:xfrm>
            <a:off x="6281928" y="1618488"/>
            <a:ext cx="0" cy="137160"/>
          </a:xfrm>
          <a:prstGeom prst="line">
            <a:avLst/>
          </a:prstGeom>
          <a:noFill/>
          <a:ln w="19050">
            <a:solidFill>
              <a:srgbClr val="F59E0B"/>
            </a:solidFill>
            <a:prstDash val="solid"/>
          </a:ln>
        </p:spPr>
      </p:sp>
      <p:sp>
        <p:nvSpPr>
          <p:cNvPr id="17" name="Shape 14"/>
          <p:cNvSpPr/>
          <p:nvPr/>
        </p:nvSpPr>
        <p:spPr>
          <a:xfrm>
            <a:off x="11457432" y="3246120"/>
            <a:ext cx="137160" cy="0"/>
          </a:xfrm>
          <a:prstGeom prst="line">
            <a:avLst/>
          </a:prstGeom>
          <a:noFill/>
          <a:ln w="19050">
            <a:solidFill>
              <a:srgbClr val="F59E0B"/>
            </a:solidFill>
            <a:prstDash val="solid"/>
          </a:ln>
        </p:spPr>
      </p:sp>
      <p:sp>
        <p:nvSpPr>
          <p:cNvPr id="18" name="Shape 15"/>
          <p:cNvSpPr/>
          <p:nvPr/>
        </p:nvSpPr>
        <p:spPr>
          <a:xfrm>
            <a:off x="11594592" y="3108960"/>
            <a:ext cx="0" cy="137160"/>
          </a:xfrm>
          <a:prstGeom prst="line">
            <a:avLst/>
          </a:prstGeom>
          <a:noFill/>
          <a:ln w="19050">
            <a:solidFill>
              <a:srgbClr val="F59E0B"/>
            </a:solidFill>
            <a:prstDash val="solid"/>
          </a:ln>
        </p:spPr>
      </p:sp>
      <p:sp>
        <p:nvSpPr>
          <p:cNvPr id="19" name="Shape 16"/>
          <p:cNvSpPr/>
          <p:nvPr/>
        </p:nvSpPr>
        <p:spPr>
          <a:xfrm>
            <a:off x="6437376" y="1773936"/>
            <a:ext cx="566928" cy="566928"/>
          </a:xfrm>
          <a:prstGeom prst="ellipse">
            <a:avLst/>
          </a:prstGeom>
          <a:solidFill>
            <a:srgbClr val="F59E0B"/>
          </a:solidFill>
          <a:ln/>
        </p:spPr>
      </p:sp>
      <p:pic>
        <p:nvPicPr>
          <p:cNvPr id="20" name="Image 1" descr="preencoded.png">    </p:cNvPr>
          <p:cNvPicPr>
            <a:picLocks noChangeAspect="1"/>
          </p:cNvPicPr>
          <p:nvPr/>
        </p:nvPicPr>
        <p:blipFill>
          <a:blip r:embed="rId2"/>
          <a:stretch>
            <a:fillRect/>
          </a:stretch>
        </p:blipFill>
        <p:spPr>
          <a:xfrm>
            <a:off x="6567769" y="1904329"/>
            <a:ext cx="306141" cy="306141"/>
          </a:xfrm>
          <a:prstGeom prst="rect">
            <a:avLst/>
          </a:prstGeom>
        </p:spPr>
      </p:pic>
      <p:sp>
        <p:nvSpPr>
          <p:cNvPr id="21" name="Text 17"/>
          <p:cNvSpPr/>
          <p:nvPr/>
        </p:nvSpPr>
        <p:spPr>
          <a:xfrm>
            <a:off x="7178040" y="1737360"/>
            <a:ext cx="4315968" cy="292608"/>
          </a:xfrm>
          <a:prstGeom prst="rect">
            <a:avLst/>
          </a:prstGeom>
          <a:noFill/>
          <a:ln/>
        </p:spPr>
        <p:txBody>
          <a:bodyPr wrap="square" lIns="0" tIns="0" rIns="0" bIns="0" rtlCol="0" anchor="ctr"/>
          <a:lstStyle/>
          <a:p>
            <a:pPr indent="0" marL="0">
              <a:buNone/>
            </a:pPr>
            <a:r>
              <a:rPr lang="en-US" sz="1450" b="1" dirty="0">
                <a:solidFill>
                  <a:srgbClr val="0D1F33"/>
                </a:solidFill>
                <a:latin typeface="Arial" pitchFamily="34" charset="0"/>
                <a:ea typeface="Arial" pitchFamily="34" charset="-122"/>
                <a:cs typeface="Arial" pitchFamily="34" charset="-120"/>
              </a:rPr>
              <a:t>Negotiation leverage</a:t>
            </a:r>
            <a:endParaRPr lang="en-US" sz="1450" dirty="0"/>
          </a:p>
        </p:txBody>
      </p:sp>
      <p:sp>
        <p:nvSpPr>
          <p:cNvPr id="22" name="Text 18"/>
          <p:cNvSpPr/>
          <p:nvPr/>
        </p:nvSpPr>
        <p:spPr>
          <a:xfrm>
            <a:off x="7178040" y="2048256"/>
            <a:ext cx="4315968" cy="1143000"/>
          </a:xfrm>
          <a:prstGeom prst="rect">
            <a:avLst/>
          </a:prstGeom>
          <a:noFill/>
          <a:ln/>
        </p:spPr>
        <p:txBody>
          <a:bodyPr wrap="square" lIns="0" tIns="0" rIns="0" bIns="0" rtlCol="0" anchor="ctr"/>
          <a:lstStyle/>
          <a:p>
            <a:pPr indent="0" marL="0">
              <a:buNone/>
            </a:pPr>
            <a:r>
              <a:rPr lang="en-US" sz="1100" dirty="0">
                <a:solidFill>
                  <a:srgbClr val="5B6B7F"/>
                </a:solidFill>
                <a:latin typeface="Arial" pitchFamily="34" charset="0"/>
                <a:ea typeface="Arial" pitchFamily="34" charset="-122"/>
                <a:cs typeface="Arial" pitchFamily="34" charset="-120"/>
              </a:rPr>
              <a:t>Wright’s-law trajectories say what a part SHOULD cost in 2029-31 — a defensible fact base for LTAs, productivity clauses and make-vs-buy.</a:t>
            </a:r>
            <a:endParaRPr lang="en-US" sz="1100" dirty="0"/>
          </a:p>
        </p:txBody>
      </p:sp>
      <p:sp>
        <p:nvSpPr>
          <p:cNvPr id="23" name="Shape 19"/>
          <p:cNvSpPr/>
          <p:nvPr/>
        </p:nvSpPr>
        <p:spPr>
          <a:xfrm>
            <a:off x="502920" y="3493008"/>
            <a:ext cx="5440680" cy="1755648"/>
          </a:xfrm>
          <a:prstGeom prst="roundRect">
            <a:avLst>
              <a:gd name="adj" fmla="val 3646"/>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24" name="Shape 20"/>
          <p:cNvSpPr/>
          <p:nvPr/>
        </p:nvSpPr>
        <p:spPr>
          <a:xfrm>
            <a:off x="566928" y="3557016"/>
            <a:ext cx="137160" cy="0"/>
          </a:xfrm>
          <a:prstGeom prst="line">
            <a:avLst/>
          </a:prstGeom>
          <a:noFill/>
          <a:ln w="19050">
            <a:solidFill>
              <a:srgbClr val="F59E0B"/>
            </a:solidFill>
            <a:prstDash val="solid"/>
          </a:ln>
        </p:spPr>
      </p:sp>
      <p:sp>
        <p:nvSpPr>
          <p:cNvPr id="25" name="Shape 21"/>
          <p:cNvSpPr/>
          <p:nvPr/>
        </p:nvSpPr>
        <p:spPr>
          <a:xfrm>
            <a:off x="566928" y="3557016"/>
            <a:ext cx="0" cy="137160"/>
          </a:xfrm>
          <a:prstGeom prst="line">
            <a:avLst/>
          </a:prstGeom>
          <a:noFill/>
          <a:ln w="19050">
            <a:solidFill>
              <a:srgbClr val="F59E0B"/>
            </a:solidFill>
            <a:prstDash val="solid"/>
          </a:ln>
        </p:spPr>
      </p:sp>
      <p:sp>
        <p:nvSpPr>
          <p:cNvPr id="26" name="Shape 22"/>
          <p:cNvSpPr/>
          <p:nvPr/>
        </p:nvSpPr>
        <p:spPr>
          <a:xfrm>
            <a:off x="5742432" y="5184648"/>
            <a:ext cx="137160" cy="0"/>
          </a:xfrm>
          <a:prstGeom prst="line">
            <a:avLst/>
          </a:prstGeom>
          <a:noFill/>
          <a:ln w="19050">
            <a:solidFill>
              <a:srgbClr val="F59E0B"/>
            </a:solidFill>
            <a:prstDash val="solid"/>
          </a:ln>
        </p:spPr>
      </p:sp>
      <p:sp>
        <p:nvSpPr>
          <p:cNvPr id="27" name="Shape 23"/>
          <p:cNvSpPr/>
          <p:nvPr/>
        </p:nvSpPr>
        <p:spPr>
          <a:xfrm>
            <a:off x="5879592" y="5047488"/>
            <a:ext cx="0" cy="137160"/>
          </a:xfrm>
          <a:prstGeom prst="line">
            <a:avLst/>
          </a:prstGeom>
          <a:noFill/>
          <a:ln w="19050">
            <a:solidFill>
              <a:srgbClr val="F59E0B"/>
            </a:solidFill>
            <a:prstDash val="solid"/>
          </a:ln>
        </p:spPr>
      </p:sp>
      <p:sp>
        <p:nvSpPr>
          <p:cNvPr id="28" name="Shape 24"/>
          <p:cNvSpPr/>
          <p:nvPr/>
        </p:nvSpPr>
        <p:spPr>
          <a:xfrm>
            <a:off x="722376" y="3712464"/>
            <a:ext cx="566928" cy="566928"/>
          </a:xfrm>
          <a:prstGeom prst="ellipse">
            <a:avLst/>
          </a:prstGeom>
          <a:solidFill>
            <a:srgbClr val="0D9488"/>
          </a:solidFill>
          <a:ln/>
        </p:spPr>
      </p:sp>
      <p:pic>
        <p:nvPicPr>
          <p:cNvPr id="29" name="Image 2" descr="preencoded.png">    </p:cNvPr>
          <p:cNvPicPr>
            <a:picLocks noChangeAspect="1"/>
          </p:cNvPicPr>
          <p:nvPr/>
        </p:nvPicPr>
        <p:blipFill>
          <a:blip r:embed="rId3"/>
          <a:stretch>
            <a:fillRect/>
          </a:stretch>
        </p:blipFill>
        <p:spPr>
          <a:xfrm>
            <a:off x="852769" y="3842857"/>
            <a:ext cx="306141" cy="306141"/>
          </a:xfrm>
          <a:prstGeom prst="rect">
            <a:avLst/>
          </a:prstGeom>
        </p:spPr>
      </p:pic>
      <p:sp>
        <p:nvSpPr>
          <p:cNvPr id="30" name="Text 25"/>
          <p:cNvSpPr/>
          <p:nvPr/>
        </p:nvSpPr>
        <p:spPr>
          <a:xfrm>
            <a:off x="1463040" y="3675888"/>
            <a:ext cx="4315968" cy="292608"/>
          </a:xfrm>
          <a:prstGeom prst="rect">
            <a:avLst/>
          </a:prstGeom>
          <a:noFill/>
          <a:ln/>
        </p:spPr>
        <p:txBody>
          <a:bodyPr wrap="square" lIns="0" tIns="0" rIns="0" bIns="0" rtlCol="0" anchor="ctr"/>
          <a:lstStyle/>
          <a:p>
            <a:pPr indent="0" marL="0">
              <a:buNone/>
            </a:pPr>
            <a:r>
              <a:rPr lang="en-US" sz="1450" b="1" dirty="0">
                <a:solidFill>
                  <a:srgbClr val="0D1F33"/>
                </a:solidFill>
                <a:latin typeface="Arial" pitchFamily="34" charset="0"/>
                <a:ea typeface="Arial" pitchFamily="34" charset="-122"/>
                <a:cs typeface="Arial" pitchFamily="34" charset="-120"/>
              </a:rPr>
              <a:t>Regulatory de-risking</a:t>
            </a:r>
            <a:endParaRPr lang="en-US" sz="1450" dirty="0"/>
          </a:p>
        </p:txBody>
      </p:sp>
      <p:sp>
        <p:nvSpPr>
          <p:cNvPr id="31" name="Text 26"/>
          <p:cNvSpPr/>
          <p:nvPr/>
        </p:nvSpPr>
        <p:spPr>
          <a:xfrm>
            <a:off x="1463040" y="3986784"/>
            <a:ext cx="4315968" cy="1143000"/>
          </a:xfrm>
          <a:prstGeom prst="rect">
            <a:avLst/>
          </a:prstGeom>
          <a:noFill/>
          <a:ln/>
        </p:spPr>
        <p:txBody>
          <a:bodyPr wrap="square" lIns="0" tIns="0" rIns="0" bIns="0" rtlCol="0" anchor="ctr"/>
          <a:lstStyle/>
          <a:p>
            <a:pPr indent="0" marL="0">
              <a:buNone/>
            </a:pPr>
            <a:r>
              <a:rPr lang="en-US" sz="1100" dirty="0">
                <a:solidFill>
                  <a:srgbClr val="5B6B7F"/>
                </a:solidFill>
                <a:latin typeface="Arial" pitchFamily="34" charset="0"/>
                <a:ea typeface="Arial" pitchFamily="34" charset="-122"/>
                <a:cs typeface="Arial" pitchFamily="34" charset="-120"/>
              </a:rPr>
              <a:t>Euro 7, ELV recast, GB 38031 — dated, legally statused, mapped to the exact components they force. Proposals can never masquerade as law.</a:t>
            </a:r>
            <a:endParaRPr lang="en-US" sz="1100" dirty="0"/>
          </a:p>
        </p:txBody>
      </p:sp>
      <p:sp>
        <p:nvSpPr>
          <p:cNvPr id="32" name="Shape 27"/>
          <p:cNvSpPr/>
          <p:nvPr/>
        </p:nvSpPr>
        <p:spPr>
          <a:xfrm>
            <a:off x="6217920" y="3493008"/>
            <a:ext cx="5440680" cy="1755648"/>
          </a:xfrm>
          <a:prstGeom prst="roundRect">
            <a:avLst>
              <a:gd name="adj" fmla="val 3646"/>
            </a:avLst>
          </a:prstGeom>
          <a:solidFill>
            <a:srgbClr val="FFFFFF"/>
          </a:solidFill>
          <a:ln w="9525">
            <a:solidFill>
              <a:srgbClr val="D7E0EA"/>
            </a:solidFill>
            <a:prstDash val="solid"/>
          </a:ln>
          <a:effectLst>
            <a:outerShdw sx="100000" sy="100000" kx="0" ky="0" algn="bl" rotWithShape="0" blurRad="88900" dist="25400" dir="5400000">
              <a:srgbClr val="9FB0C2">
                <a:alpha val="30000"/>
              </a:srgbClr>
            </a:outerShdw>
          </a:effectLst>
        </p:spPr>
      </p:sp>
      <p:sp>
        <p:nvSpPr>
          <p:cNvPr id="33" name="Shape 28"/>
          <p:cNvSpPr/>
          <p:nvPr/>
        </p:nvSpPr>
        <p:spPr>
          <a:xfrm>
            <a:off x="6281928" y="3557016"/>
            <a:ext cx="137160" cy="0"/>
          </a:xfrm>
          <a:prstGeom prst="line">
            <a:avLst/>
          </a:prstGeom>
          <a:noFill/>
          <a:ln w="19050">
            <a:solidFill>
              <a:srgbClr val="F59E0B"/>
            </a:solidFill>
            <a:prstDash val="solid"/>
          </a:ln>
        </p:spPr>
      </p:sp>
      <p:sp>
        <p:nvSpPr>
          <p:cNvPr id="34" name="Shape 29"/>
          <p:cNvSpPr/>
          <p:nvPr/>
        </p:nvSpPr>
        <p:spPr>
          <a:xfrm>
            <a:off x="6281928" y="3557016"/>
            <a:ext cx="0" cy="137160"/>
          </a:xfrm>
          <a:prstGeom prst="line">
            <a:avLst/>
          </a:prstGeom>
          <a:noFill/>
          <a:ln w="19050">
            <a:solidFill>
              <a:srgbClr val="F59E0B"/>
            </a:solidFill>
            <a:prstDash val="solid"/>
          </a:ln>
        </p:spPr>
      </p:sp>
      <p:sp>
        <p:nvSpPr>
          <p:cNvPr id="35" name="Shape 30"/>
          <p:cNvSpPr/>
          <p:nvPr/>
        </p:nvSpPr>
        <p:spPr>
          <a:xfrm>
            <a:off x="11457432" y="5184648"/>
            <a:ext cx="137160" cy="0"/>
          </a:xfrm>
          <a:prstGeom prst="line">
            <a:avLst/>
          </a:prstGeom>
          <a:noFill/>
          <a:ln w="19050">
            <a:solidFill>
              <a:srgbClr val="F59E0B"/>
            </a:solidFill>
            <a:prstDash val="solid"/>
          </a:ln>
        </p:spPr>
      </p:sp>
      <p:sp>
        <p:nvSpPr>
          <p:cNvPr id="36" name="Shape 31"/>
          <p:cNvSpPr/>
          <p:nvPr/>
        </p:nvSpPr>
        <p:spPr>
          <a:xfrm>
            <a:off x="11594592" y="5047488"/>
            <a:ext cx="0" cy="137160"/>
          </a:xfrm>
          <a:prstGeom prst="line">
            <a:avLst/>
          </a:prstGeom>
          <a:noFill/>
          <a:ln w="19050">
            <a:solidFill>
              <a:srgbClr val="F59E0B"/>
            </a:solidFill>
            <a:prstDash val="solid"/>
          </a:ln>
        </p:spPr>
      </p:sp>
      <p:sp>
        <p:nvSpPr>
          <p:cNvPr id="37" name="Shape 32"/>
          <p:cNvSpPr/>
          <p:nvPr/>
        </p:nvSpPr>
        <p:spPr>
          <a:xfrm>
            <a:off x="6437376" y="3712464"/>
            <a:ext cx="566928" cy="566928"/>
          </a:xfrm>
          <a:prstGeom prst="ellipse">
            <a:avLst/>
          </a:prstGeom>
          <a:solidFill>
            <a:srgbClr val="6D28D9"/>
          </a:solidFill>
          <a:ln/>
        </p:spPr>
      </p:sp>
      <p:pic>
        <p:nvPicPr>
          <p:cNvPr id="38" name="Image 3" descr="preencoded.png">    </p:cNvPr>
          <p:cNvPicPr>
            <a:picLocks noChangeAspect="1"/>
          </p:cNvPicPr>
          <p:nvPr/>
        </p:nvPicPr>
        <p:blipFill>
          <a:blip r:embed="rId4"/>
          <a:stretch>
            <a:fillRect/>
          </a:stretch>
        </p:blipFill>
        <p:spPr>
          <a:xfrm>
            <a:off x="6567769" y="3842857"/>
            <a:ext cx="306141" cy="306141"/>
          </a:xfrm>
          <a:prstGeom prst="rect">
            <a:avLst/>
          </a:prstGeom>
        </p:spPr>
      </p:pic>
      <p:sp>
        <p:nvSpPr>
          <p:cNvPr id="39" name="Text 33"/>
          <p:cNvSpPr/>
          <p:nvPr/>
        </p:nvSpPr>
        <p:spPr>
          <a:xfrm>
            <a:off x="7178040" y="3675888"/>
            <a:ext cx="4315968" cy="292608"/>
          </a:xfrm>
          <a:prstGeom prst="rect">
            <a:avLst/>
          </a:prstGeom>
          <a:noFill/>
          <a:ln/>
        </p:spPr>
        <p:txBody>
          <a:bodyPr wrap="square" lIns="0" tIns="0" rIns="0" bIns="0" rtlCol="0" anchor="ctr"/>
          <a:lstStyle/>
          <a:p>
            <a:pPr indent="0" marL="0">
              <a:buNone/>
            </a:pPr>
            <a:r>
              <a:rPr lang="en-US" sz="1450" b="1" dirty="0">
                <a:solidFill>
                  <a:srgbClr val="0D1F33"/>
                </a:solidFill>
                <a:latin typeface="Arial" pitchFamily="34" charset="0"/>
                <a:ea typeface="Arial" pitchFamily="34" charset="-122"/>
                <a:cs typeface="Arial" pitchFamily="34" charset="-120"/>
              </a:rPr>
              <a:t>Segment &amp; competitor radar</a:t>
            </a:r>
            <a:endParaRPr lang="en-US" sz="1450" dirty="0"/>
          </a:p>
        </p:txBody>
      </p:sp>
      <p:sp>
        <p:nvSpPr>
          <p:cNvPr id="40" name="Text 34"/>
          <p:cNvSpPr/>
          <p:nvPr/>
        </p:nvSpPr>
        <p:spPr>
          <a:xfrm>
            <a:off x="7178040" y="3986784"/>
            <a:ext cx="4315968" cy="1143000"/>
          </a:xfrm>
          <a:prstGeom prst="rect">
            <a:avLst/>
          </a:prstGeom>
          <a:noFill/>
          <a:ln/>
        </p:spPr>
        <p:txBody>
          <a:bodyPr wrap="square" lIns="0" tIns="0" rIns="0" bIns="0" rtlCol="0" anchor="ctr"/>
          <a:lstStyle/>
          <a:p>
            <a:pPr indent="0" marL="0">
              <a:buNone/>
            </a:pPr>
            <a:r>
              <a:rPr lang="en-US" sz="1100" dirty="0">
                <a:solidFill>
                  <a:srgbClr val="5B6B7F"/>
                </a:solidFill>
                <a:latin typeface="Arial" pitchFamily="34" charset="0"/>
                <a:ea typeface="Arial" pitchFamily="34" charset="-122"/>
                <a:cs typeface="Arial" pitchFamily="34" charset="-120"/>
              </a:rPr>
              <a:t>Our off-road/luxury battleground benchmarked continuously — Defender OCTA to Yangwang U8 — each with the announced next move to watch.</a:t>
            </a:r>
            <a:endParaRPr lang="en-US" sz="1100" dirty="0"/>
          </a:p>
        </p:txBody>
      </p:sp>
      <p:sp>
        <p:nvSpPr>
          <p:cNvPr id="41" name="Shape 35"/>
          <p:cNvSpPr/>
          <p:nvPr/>
        </p:nvSpPr>
        <p:spPr>
          <a:xfrm>
            <a:off x="2103120" y="5650992"/>
            <a:ext cx="7982712" cy="566928"/>
          </a:xfrm>
          <a:prstGeom prst="roundRect">
            <a:avLst>
              <a:gd name="adj" fmla="val 50000"/>
            </a:avLst>
          </a:prstGeom>
          <a:solidFill>
            <a:srgbClr val="0D1F33"/>
          </a:solidFill>
          <a:ln/>
        </p:spPr>
      </p:sp>
      <p:sp>
        <p:nvSpPr>
          <p:cNvPr id="42" name="Text 36"/>
          <p:cNvSpPr/>
          <p:nvPr/>
        </p:nvSpPr>
        <p:spPr>
          <a:xfrm>
            <a:off x="2103120" y="5650992"/>
            <a:ext cx="7982712" cy="566928"/>
          </a:xfrm>
          <a:prstGeom prst="rect">
            <a:avLst/>
          </a:prstGeom>
          <a:noFill/>
          <a:ln/>
        </p:spPr>
        <p:txBody>
          <a:bodyPr wrap="square" lIns="0" tIns="0" rIns="0" bIns="0" rtlCol="0" anchor="ctr"/>
          <a:lstStyle/>
          <a:p>
            <a:pPr algn="ctr" indent="0" marL="0">
              <a:buNone/>
            </a:pPr>
            <a:r>
              <a:rPr lang="en-US" sz="1300" b="1" dirty="0">
                <a:solidFill>
                  <a:srgbClr val="F59E0B"/>
                </a:solidFill>
                <a:latin typeface="Arial" pitchFamily="34" charset="0"/>
                <a:ea typeface="Arial" pitchFamily="34" charset="-122"/>
                <a:cs typeface="Arial" pitchFamily="34" charset="-120"/>
              </a:rPr>
              <a:t>Minutes, not weeks </a:t>
            </a:r>
            <a:pPr algn="ctr" indent="0" marL="0">
              <a:buNone/>
            </a:pPr>
            <a:r>
              <a:rPr lang="en-US" sz="1300" dirty="0">
                <a:solidFill>
                  <a:srgbClr val="D5DEE9"/>
                </a:solidFill>
                <a:latin typeface="Arial" pitchFamily="34" charset="0"/>
                <a:ea typeface="Arial" pitchFamily="34" charset="-122"/>
                <a:cs typeface="Arial" pitchFamily="34" charset="-120"/>
              </a:rPr>
              <a:t> ·  self-serve, part-level, in our commodity language — for every engineer</a:t>
            </a:r>
            <a:endParaRPr lang="en-US" sz="1300" dirty="0"/>
          </a:p>
        </p:txBody>
      </p:sp>
      <p:sp>
        <p:nvSpPr>
          <p:cNvPr id="43" name="Text 37"/>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14/16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47472"/>
            <a:ext cx="905256" cy="329184"/>
          </a:xfrm>
          <a:prstGeom prst="roundRect">
            <a:avLst>
              <a:gd name="adj" fmla="val 50000"/>
            </a:avLst>
          </a:prstGeom>
          <a:solidFill>
            <a:srgbClr val="0D1F33"/>
          </a:solidFill>
          <a:ln/>
        </p:spPr>
      </p:sp>
      <p:sp>
        <p:nvSpPr>
          <p:cNvPr id="3" name="Text 1"/>
          <p:cNvSpPr/>
          <p:nvPr/>
        </p:nvSpPr>
        <p:spPr>
          <a:xfrm>
            <a:off x="502920" y="347472"/>
            <a:ext cx="905256" cy="329184"/>
          </a:xfrm>
          <a:prstGeom prst="rect">
            <a:avLst/>
          </a:prstGeom>
          <a:noFill/>
          <a:ln/>
        </p:spPr>
        <p:txBody>
          <a:bodyPr wrap="square" lIns="0" tIns="0" rIns="0" bIns="0" rtlCol="0" anchor="ctr"/>
          <a:lstStyle/>
          <a:p>
            <a:pPr algn="ctr" indent="0" marL="0">
              <a:buNone/>
            </a:pPr>
            <a:r>
              <a:rPr lang="en-US" sz="1100" b="1" spc="200" kern="0" dirty="0">
                <a:solidFill>
                  <a:srgbClr val="F59E0B"/>
                </a:solidFill>
                <a:latin typeface="Courier New" pitchFamily="34" charset="0"/>
                <a:ea typeface="Courier New" pitchFamily="34" charset="-122"/>
                <a:cs typeface="Courier New" pitchFamily="34" charset="-120"/>
              </a:rPr>
              <a:t>TRUST</a:t>
            </a:r>
            <a:endParaRPr lang="en-US" sz="1100" dirty="0"/>
          </a:p>
        </p:txBody>
      </p:sp>
      <p:sp>
        <p:nvSpPr>
          <p:cNvPr id="4" name="Text 2"/>
          <p:cNvSpPr/>
          <p:nvPr/>
        </p:nvSpPr>
        <p:spPr>
          <a:xfrm>
            <a:off x="502920" y="749808"/>
            <a:ext cx="11155680" cy="566928"/>
          </a:xfrm>
          <a:prstGeom prst="rect">
            <a:avLst/>
          </a:prstGeom>
          <a:noFill/>
          <a:ln/>
        </p:spPr>
        <p:txBody>
          <a:bodyPr wrap="square" lIns="0" tIns="0" rIns="0" bIns="0" rtlCol="0" anchor="ctr"/>
          <a:lstStyle/>
          <a:p>
            <a:pPr indent="0" marL="0">
              <a:buNone/>
            </a:pPr>
            <a:r>
              <a:rPr lang="en-US" sz="2800" b="1" dirty="0">
                <a:solidFill>
                  <a:srgbClr val="0D1F33"/>
                </a:solidFill>
                <a:latin typeface="Arial" pitchFamily="34" charset="0"/>
                <a:ea typeface="Arial" pitchFamily="34" charset="-122"/>
                <a:cs typeface="Arial" pitchFamily="34" charset="-120"/>
              </a:rPr>
              <a:t>Engineered and audited like a product, not a demo</a:t>
            </a:r>
            <a:endParaRPr lang="en-US" sz="2800" dirty="0"/>
          </a:p>
        </p:txBody>
      </p:sp>
      <p:pic>
        <p:nvPicPr>
          <p:cNvPr id="5" name="Image 0" descr="preencoded.png">    </p:cNvPr>
          <p:cNvPicPr>
            <a:picLocks noChangeAspect="1"/>
          </p:cNvPicPr>
          <p:nvPr/>
        </p:nvPicPr>
        <p:blipFill>
          <a:blip r:embed="rId1"/>
          <a:stretch>
            <a:fillRect/>
          </a:stretch>
        </p:blipFill>
        <p:spPr>
          <a:xfrm>
            <a:off x="548640" y="1572768"/>
            <a:ext cx="329184" cy="329184"/>
          </a:xfrm>
          <a:prstGeom prst="rect">
            <a:avLst/>
          </a:prstGeom>
        </p:spPr>
      </p:pic>
      <p:sp>
        <p:nvSpPr>
          <p:cNvPr id="6" name="Text 3"/>
          <p:cNvSpPr/>
          <p:nvPr/>
        </p:nvSpPr>
        <p:spPr>
          <a:xfrm>
            <a:off x="1024128" y="1517904"/>
            <a:ext cx="5120640" cy="292608"/>
          </a:xfrm>
          <a:prstGeom prst="rect">
            <a:avLst/>
          </a:prstGeom>
          <a:noFill/>
          <a:ln/>
        </p:spPr>
        <p:txBody>
          <a:bodyPr wrap="square" lIns="0" tIns="0" rIns="0" bIns="0" rtlCol="0" anchor="ctr"/>
          <a:lstStyle/>
          <a:p>
            <a:pPr indent="0" marL="0">
              <a:buNone/>
            </a:pPr>
            <a:r>
              <a:rPr lang="en-US" sz="1450" b="1" dirty="0">
                <a:solidFill>
                  <a:srgbClr val="0D1F33"/>
                </a:solidFill>
                <a:latin typeface="Arial" pitchFamily="34" charset="0"/>
                <a:ea typeface="Arial" pitchFamily="34" charset="-122"/>
                <a:cs typeface="Arial" pitchFamily="34" charset="-120"/>
              </a:rPr>
              <a:t>326 automated tests</a:t>
            </a:r>
            <a:endParaRPr lang="en-US" sz="1450" dirty="0"/>
          </a:p>
        </p:txBody>
      </p:sp>
      <p:sp>
        <p:nvSpPr>
          <p:cNvPr id="7" name="Text 4"/>
          <p:cNvSpPr/>
          <p:nvPr/>
        </p:nvSpPr>
        <p:spPr>
          <a:xfrm>
            <a:off x="1024128" y="1801368"/>
            <a:ext cx="5669280" cy="5486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Register integrity, model rules and coverage are CI-enforced — an adoption claim without evidence fails the build.</a:t>
            </a:r>
            <a:endParaRPr lang="en-US" sz="1050" dirty="0"/>
          </a:p>
        </p:txBody>
      </p:sp>
      <p:pic>
        <p:nvPicPr>
          <p:cNvPr id="8" name="Image 1" descr="preencoded.png">    </p:cNvPr>
          <p:cNvPicPr>
            <a:picLocks noChangeAspect="1"/>
          </p:cNvPicPr>
          <p:nvPr/>
        </p:nvPicPr>
        <p:blipFill>
          <a:blip r:embed="rId2"/>
          <a:stretch>
            <a:fillRect/>
          </a:stretch>
        </p:blipFill>
        <p:spPr>
          <a:xfrm>
            <a:off x="548640" y="2432304"/>
            <a:ext cx="329184" cy="329184"/>
          </a:xfrm>
          <a:prstGeom prst="rect">
            <a:avLst/>
          </a:prstGeom>
        </p:spPr>
      </p:pic>
      <p:sp>
        <p:nvSpPr>
          <p:cNvPr id="9" name="Text 5"/>
          <p:cNvSpPr/>
          <p:nvPr/>
        </p:nvSpPr>
        <p:spPr>
          <a:xfrm>
            <a:off x="1024128" y="2377440"/>
            <a:ext cx="5120640" cy="292608"/>
          </a:xfrm>
          <a:prstGeom prst="rect">
            <a:avLst/>
          </a:prstGeom>
          <a:noFill/>
          <a:ln/>
        </p:spPr>
        <p:txBody>
          <a:bodyPr wrap="square" lIns="0" tIns="0" rIns="0" bIns="0" rtlCol="0" anchor="ctr"/>
          <a:lstStyle/>
          <a:p>
            <a:pPr indent="0" marL="0">
              <a:buNone/>
            </a:pPr>
            <a:r>
              <a:rPr lang="en-US" sz="1450" b="1" dirty="0">
                <a:solidFill>
                  <a:srgbClr val="0D1F33"/>
                </a:solidFill>
                <a:latin typeface="Arial" pitchFamily="34" charset="0"/>
                <a:ea typeface="Arial" pitchFamily="34" charset="-122"/>
                <a:cs typeface="Arial" pitchFamily="34" charset="-120"/>
              </a:rPr>
              <a:t>Independently fact-checked</a:t>
            </a:r>
            <a:endParaRPr lang="en-US" sz="1450" dirty="0"/>
          </a:p>
        </p:txBody>
      </p:sp>
      <p:sp>
        <p:nvSpPr>
          <p:cNvPr id="10" name="Text 6"/>
          <p:cNvSpPr/>
          <p:nvPr/>
        </p:nvSpPr>
        <p:spPr>
          <a:xfrm>
            <a:off x="1024128" y="2660904"/>
            <a:ext cx="5669280" cy="5486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A two-chair audit verified the riskiest claims against primary sources; every finding is fixed and test-locked.</a:t>
            </a:r>
            <a:endParaRPr lang="en-US" sz="1050" dirty="0"/>
          </a:p>
        </p:txBody>
      </p:sp>
      <p:pic>
        <p:nvPicPr>
          <p:cNvPr id="11" name="Image 2" descr="preencoded.png">    </p:cNvPr>
          <p:cNvPicPr>
            <a:picLocks noChangeAspect="1"/>
          </p:cNvPicPr>
          <p:nvPr/>
        </p:nvPicPr>
        <p:blipFill>
          <a:blip r:embed="rId3"/>
          <a:stretch>
            <a:fillRect/>
          </a:stretch>
        </p:blipFill>
        <p:spPr>
          <a:xfrm>
            <a:off x="548640" y="3291840"/>
            <a:ext cx="329184" cy="329184"/>
          </a:xfrm>
          <a:prstGeom prst="rect">
            <a:avLst/>
          </a:prstGeom>
        </p:spPr>
      </p:pic>
      <p:sp>
        <p:nvSpPr>
          <p:cNvPr id="12" name="Text 7"/>
          <p:cNvSpPr/>
          <p:nvPr/>
        </p:nvSpPr>
        <p:spPr>
          <a:xfrm>
            <a:off x="1024128" y="3236976"/>
            <a:ext cx="5120640" cy="292608"/>
          </a:xfrm>
          <a:prstGeom prst="rect">
            <a:avLst/>
          </a:prstGeom>
          <a:noFill/>
          <a:ln/>
        </p:spPr>
        <p:txBody>
          <a:bodyPr wrap="square" lIns="0" tIns="0" rIns="0" bIns="0" rtlCol="0" anchor="ctr"/>
          <a:lstStyle/>
          <a:p>
            <a:pPr indent="0" marL="0">
              <a:buNone/>
            </a:pPr>
            <a:r>
              <a:rPr lang="en-US" sz="1450" b="1" dirty="0">
                <a:solidFill>
                  <a:srgbClr val="0D1F33"/>
                </a:solidFill>
                <a:latin typeface="Arial" pitchFamily="34" charset="0"/>
                <a:ea typeface="Arial" pitchFamily="34" charset="-122"/>
                <a:cs typeface="Arial" pitchFamily="34" charset="-120"/>
              </a:rPr>
              <a:t>Honesty architecture</a:t>
            </a:r>
            <a:endParaRPr lang="en-US" sz="1450" dirty="0"/>
          </a:p>
        </p:txBody>
      </p:sp>
      <p:sp>
        <p:nvSpPr>
          <p:cNvPr id="13" name="Text 8"/>
          <p:cNvSpPr/>
          <p:nvPr/>
        </p:nvSpPr>
        <p:spPr>
          <a:xfrm>
            <a:off x="1024128" y="3520440"/>
            <a:ext cx="5669280" cy="5486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Confidence tiers · "modelled" labels · regulation legal status · adoption ceilings · uncertainty bands. It says "I don’t know" rather than guessing.</a:t>
            </a:r>
            <a:endParaRPr lang="en-US" sz="1050" dirty="0"/>
          </a:p>
        </p:txBody>
      </p:sp>
      <p:pic>
        <p:nvPicPr>
          <p:cNvPr id="14" name="Image 3" descr="preencoded.png">    </p:cNvPr>
          <p:cNvPicPr>
            <a:picLocks noChangeAspect="1"/>
          </p:cNvPicPr>
          <p:nvPr/>
        </p:nvPicPr>
        <p:blipFill>
          <a:blip r:embed="rId4"/>
          <a:stretch>
            <a:fillRect/>
          </a:stretch>
        </p:blipFill>
        <p:spPr>
          <a:xfrm>
            <a:off x="548640" y="4151376"/>
            <a:ext cx="329184" cy="329184"/>
          </a:xfrm>
          <a:prstGeom prst="rect">
            <a:avLst/>
          </a:prstGeom>
        </p:spPr>
      </p:pic>
      <p:sp>
        <p:nvSpPr>
          <p:cNvPr id="15" name="Text 9"/>
          <p:cNvSpPr/>
          <p:nvPr/>
        </p:nvSpPr>
        <p:spPr>
          <a:xfrm>
            <a:off x="1024128" y="4096512"/>
            <a:ext cx="5120640" cy="292608"/>
          </a:xfrm>
          <a:prstGeom prst="rect">
            <a:avLst/>
          </a:prstGeom>
          <a:noFill/>
          <a:ln/>
        </p:spPr>
        <p:txBody>
          <a:bodyPr wrap="square" lIns="0" tIns="0" rIns="0" bIns="0" rtlCol="0" anchor="ctr"/>
          <a:lstStyle/>
          <a:p>
            <a:pPr indent="0" marL="0">
              <a:buNone/>
            </a:pPr>
            <a:r>
              <a:rPr lang="en-US" sz="1450" b="1" dirty="0">
                <a:solidFill>
                  <a:srgbClr val="0D1F33"/>
                </a:solidFill>
                <a:latin typeface="Arial" pitchFamily="34" charset="0"/>
                <a:ea typeface="Arial" pitchFamily="34" charset="-122"/>
                <a:cs typeface="Arial" pitchFamily="34" charset="-120"/>
              </a:rPr>
              <a:t>Grounded AI, enforced in code</a:t>
            </a:r>
            <a:endParaRPr lang="en-US" sz="1450" dirty="0"/>
          </a:p>
        </p:txBody>
      </p:sp>
      <p:sp>
        <p:nvSpPr>
          <p:cNvPr id="16" name="Text 10"/>
          <p:cNvSpPr/>
          <p:nvPr/>
        </p:nvSpPr>
        <p:spPr>
          <a:xfrm>
            <a:off x="1024128" y="4379976"/>
            <a:ext cx="5669280" cy="5486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Briefing, panel and research are grounded in engine output; uncited findings are dropped server-side.</a:t>
            </a:r>
            <a:endParaRPr lang="en-US" sz="1050" dirty="0"/>
          </a:p>
        </p:txBody>
      </p:sp>
      <p:pic>
        <p:nvPicPr>
          <p:cNvPr id="17" name="Image 4" descr="preencoded.png">    </p:cNvPr>
          <p:cNvPicPr>
            <a:picLocks noChangeAspect="1"/>
          </p:cNvPicPr>
          <p:nvPr/>
        </p:nvPicPr>
        <p:blipFill>
          <a:blip r:embed="rId5"/>
          <a:stretch>
            <a:fillRect/>
          </a:stretch>
        </p:blipFill>
        <p:spPr>
          <a:xfrm>
            <a:off x="548640" y="5010912"/>
            <a:ext cx="329184" cy="329184"/>
          </a:xfrm>
          <a:prstGeom prst="rect">
            <a:avLst/>
          </a:prstGeom>
        </p:spPr>
      </p:pic>
      <p:sp>
        <p:nvSpPr>
          <p:cNvPr id="18" name="Text 11"/>
          <p:cNvSpPr/>
          <p:nvPr/>
        </p:nvSpPr>
        <p:spPr>
          <a:xfrm>
            <a:off x="1024128" y="4956048"/>
            <a:ext cx="5120640" cy="292608"/>
          </a:xfrm>
          <a:prstGeom prst="rect">
            <a:avLst/>
          </a:prstGeom>
          <a:noFill/>
          <a:ln/>
        </p:spPr>
        <p:txBody>
          <a:bodyPr wrap="square" lIns="0" tIns="0" rIns="0" bIns="0" rtlCol="0" anchor="ctr"/>
          <a:lstStyle/>
          <a:p>
            <a:pPr indent="0" marL="0">
              <a:buNone/>
            </a:pPr>
            <a:r>
              <a:rPr lang="en-US" sz="1450" b="1" dirty="0">
                <a:solidFill>
                  <a:srgbClr val="0D1F33"/>
                </a:solidFill>
                <a:latin typeface="Arial" pitchFamily="34" charset="0"/>
                <a:ea typeface="Arial" pitchFamily="34" charset="-122"/>
                <a:cs typeface="Arial" pitchFamily="34" charset="-120"/>
              </a:rPr>
              <a:t>Self-scoring</a:t>
            </a:r>
            <a:endParaRPr lang="en-US" sz="1450" dirty="0"/>
          </a:p>
        </p:txBody>
      </p:sp>
      <p:sp>
        <p:nvSpPr>
          <p:cNvPr id="19" name="Text 12"/>
          <p:cNvSpPr/>
          <p:nvPr/>
        </p:nvSpPr>
        <p:spPr>
          <a:xfrm>
            <a:off x="1024128" y="5239512"/>
            <a:ext cx="5669280" cy="548640"/>
          </a:xfrm>
          <a:prstGeom prst="rect">
            <a:avLst/>
          </a:prstGeom>
          <a:noFill/>
          <a:ln/>
        </p:spPr>
        <p:txBody>
          <a:bodyPr wrap="square" lIns="0" tIns="0" rIns="0" bIns="0" rtlCol="0" anchor="ctr"/>
          <a:lstStyle/>
          <a:p>
            <a:pPr indent="0" marL="0">
              <a:buNone/>
            </a:pPr>
            <a:r>
              <a:rPr lang="en-US" sz="1050" dirty="0">
                <a:solidFill>
                  <a:srgbClr val="5B6B7F"/>
                </a:solidFill>
                <a:latin typeface="Arial" pitchFamily="34" charset="0"/>
                <a:ea typeface="Arial" pitchFamily="34" charset="-122"/>
                <a:cs typeface="Arial" pitchFamily="34" charset="-120"/>
              </a:rPr>
              <a:t>The Prediction Ledger snapshots forecasts and scores them on re-curation — Tetlock discipline, built in.</a:t>
            </a:r>
            <a:endParaRPr lang="en-US" sz="1050" dirty="0"/>
          </a:p>
        </p:txBody>
      </p:sp>
      <p:sp>
        <p:nvSpPr>
          <p:cNvPr id="20" name="Shape 13"/>
          <p:cNvSpPr/>
          <p:nvPr/>
        </p:nvSpPr>
        <p:spPr>
          <a:xfrm>
            <a:off x="7178040" y="1554480"/>
            <a:ext cx="4507992" cy="4206240"/>
          </a:xfrm>
          <a:prstGeom prst="roundRect">
            <a:avLst>
              <a:gd name="adj" fmla="val 1957"/>
            </a:avLst>
          </a:prstGeom>
          <a:solidFill>
            <a:srgbClr val="0D1F33"/>
          </a:solidFill>
          <a:ln/>
          <a:effectLst>
            <a:outerShdw sx="100000" sy="100000" kx="0" ky="0" algn="bl" rotWithShape="0" blurRad="101600" dist="25400" dir="5400000">
              <a:srgbClr val="9FB0C2">
                <a:alpha val="35000"/>
              </a:srgbClr>
            </a:outerShdw>
          </a:effectLst>
        </p:spPr>
      </p:sp>
      <p:sp>
        <p:nvSpPr>
          <p:cNvPr id="21" name="Shape 14"/>
          <p:cNvSpPr/>
          <p:nvPr/>
        </p:nvSpPr>
        <p:spPr>
          <a:xfrm>
            <a:off x="7296912" y="1673352"/>
            <a:ext cx="137160" cy="0"/>
          </a:xfrm>
          <a:prstGeom prst="line">
            <a:avLst/>
          </a:prstGeom>
          <a:noFill/>
          <a:ln w="19050">
            <a:solidFill>
              <a:srgbClr val="F59E0B"/>
            </a:solidFill>
            <a:prstDash val="solid"/>
          </a:ln>
        </p:spPr>
      </p:sp>
      <p:sp>
        <p:nvSpPr>
          <p:cNvPr id="22" name="Shape 15"/>
          <p:cNvSpPr/>
          <p:nvPr/>
        </p:nvSpPr>
        <p:spPr>
          <a:xfrm>
            <a:off x="7296912" y="1673352"/>
            <a:ext cx="0" cy="137160"/>
          </a:xfrm>
          <a:prstGeom prst="line">
            <a:avLst/>
          </a:prstGeom>
          <a:noFill/>
          <a:ln w="19050">
            <a:solidFill>
              <a:srgbClr val="F59E0B"/>
            </a:solidFill>
            <a:prstDash val="solid"/>
          </a:ln>
        </p:spPr>
      </p:sp>
      <p:sp>
        <p:nvSpPr>
          <p:cNvPr id="23" name="Shape 16"/>
          <p:cNvSpPr/>
          <p:nvPr/>
        </p:nvSpPr>
        <p:spPr>
          <a:xfrm>
            <a:off x="11430000" y="5641848"/>
            <a:ext cx="137160" cy="0"/>
          </a:xfrm>
          <a:prstGeom prst="line">
            <a:avLst/>
          </a:prstGeom>
          <a:noFill/>
          <a:ln w="19050">
            <a:solidFill>
              <a:srgbClr val="F59E0B"/>
            </a:solidFill>
            <a:prstDash val="solid"/>
          </a:ln>
        </p:spPr>
      </p:sp>
      <p:sp>
        <p:nvSpPr>
          <p:cNvPr id="24" name="Shape 17"/>
          <p:cNvSpPr/>
          <p:nvPr/>
        </p:nvSpPr>
        <p:spPr>
          <a:xfrm>
            <a:off x="11567160" y="5504688"/>
            <a:ext cx="0" cy="137160"/>
          </a:xfrm>
          <a:prstGeom prst="line">
            <a:avLst/>
          </a:prstGeom>
          <a:noFill/>
          <a:ln w="19050">
            <a:solidFill>
              <a:srgbClr val="F59E0B"/>
            </a:solidFill>
            <a:prstDash val="solid"/>
          </a:ln>
        </p:spPr>
      </p:sp>
      <p:pic>
        <p:nvPicPr>
          <p:cNvPr id="25" name="Image 5" descr="preencoded.png">    </p:cNvPr>
          <p:cNvPicPr>
            <a:picLocks noChangeAspect="1"/>
          </p:cNvPicPr>
          <p:nvPr/>
        </p:nvPicPr>
        <p:blipFill>
          <a:blip r:embed="rId6"/>
          <a:stretch>
            <a:fillRect/>
          </a:stretch>
        </p:blipFill>
        <p:spPr>
          <a:xfrm>
            <a:off x="7498080" y="1828800"/>
            <a:ext cx="420624" cy="420624"/>
          </a:xfrm>
          <a:prstGeom prst="rect">
            <a:avLst/>
          </a:prstGeom>
        </p:spPr>
      </p:pic>
      <p:sp>
        <p:nvSpPr>
          <p:cNvPr id="26" name="Text 18"/>
          <p:cNvSpPr/>
          <p:nvPr/>
        </p:nvSpPr>
        <p:spPr>
          <a:xfrm>
            <a:off x="8046720" y="1883664"/>
            <a:ext cx="3474720" cy="34747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The test we set ourselves</a:t>
            </a:r>
            <a:endParaRPr lang="en-US" sz="1400" dirty="0"/>
          </a:p>
        </p:txBody>
      </p:sp>
      <p:sp>
        <p:nvSpPr>
          <p:cNvPr id="27" name="Text 19"/>
          <p:cNvSpPr/>
          <p:nvPr/>
        </p:nvSpPr>
        <p:spPr>
          <a:xfrm>
            <a:off x="7498080" y="2450592"/>
            <a:ext cx="3886200" cy="868680"/>
          </a:xfrm>
          <a:prstGeom prst="rect">
            <a:avLst/>
          </a:prstGeom>
          <a:noFill/>
          <a:ln/>
        </p:spPr>
        <p:txBody>
          <a:bodyPr wrap="square" lIns="0" tIns="0" rIns="0" bIns="0" rtlCol="0" anchor="ctr"/>
          <a:lstStyle/>
          <a:p>
            <a:pPr indent="0" marL="0">
              <a:buNone/>
            </a:pPr>
            <a:r>
              <a:rPr lang="en-US" sz="1500" i="1" dirty="0">
                <a:solidFill>
                  <a:srgbClr val="F59E0B"/>
                </a:solidFill>
                <a:latin typeface="Arial" pitchFamily="34" charset="0"/>
                <a:ea typeface="Arial" pitchFamily="34" charset="-122"/>
                <a:cs typeface="Arial" pitchFamily="34" charset="-120"/>
              </a:rPr>
              <a:t>"A foresight tool that never checks its own past predictions is astrology."</a:t>
            </a:r>
            <a:endParaRPr lang="en-US" sz="1500" dirty="0"/>
          </a:p>
        </p:txBody>
      </p:sp>
      <p:sp>
        <p:nvSpPr>
          <p:cNvPr id="28" name="Text 20"/>
          <p:cNvSpPr/>
          <p:nvPr/>
        </p:nvSpPr>
        <p:spPr>
          <a:xfrm>
            <a:off x="7498080" y="3429000"/>
            <a:ext cx="3886200" cy="1371600"/>
          </a:xfrm>
          <a:prstGeom prst="rect">
            <a:avLst/>
          </a:prstGeom>
          <a:noFill/>
          <a:ln/>
        </p:spPr>
        <p:txBody>
          <a:bodyPr wrap="square" lIns="0" tIns="0" rIns="0" bIns="0" rtlCol="0" anchor="ctr"/>
          <a:lstStyle/>
          <a:p>
            <a:pPr indent="0" marL="0">
              <a:buNone/>
            </a:pPr>
            <a:r>
              <a:rPr lang="en-US" sz="1150" dirty="0">
                <a:solidFill>
                  <a:srgbClr val="C7D2DE"/>
                </a:solidFill>
                <a:latin typeface="Arial" pitchFamily="34" charset="0"/>
                <a:ea typeface="Arial" pitchFamily="34" charset="-122"/>
                <a:cs typeface="Arial" pitchFamily="34" charset="-120"/>
              </a:rPr>
              <a:t>Every prediction can be snapshotted. When the register is re-curated, the tool computes exactly how far its old projections were off — and shows us the error. No other tool in this space grades its own homework.</a:t>
            </a:r>
            <a:endParaRPr lang="en-US" sz="1150" dirty="0"/>
          </a:p>
        </p:txBody>
      </p:sp>
      <p:sp>
        <p:nvSpPr>
          <p:cNvPr id="29" name="Text 21"/>
          <p:cNvSpPr/>
          <p:nvPr/>
        </p:nvSpPr>
        <p:spPr>
          <a:xfrm>
            <a:off x="7498080" y="5166360"/>
            <a:ext cx="3886200" cy="274320"/>
          </a:xfrm>
          <a:prstGeom prst="rect">
            <a:avLst/>
          </a:prstGeom>
          <a:noFill/>
          <a:ln/>
        </p:spPr>
        <p:txBody>
          <a:bodyPr wrap="square" lIns="0" tIns="0" rIns="0" bIns="0" rtlCol="0" anchor="ctr"/>
          <a:lstStyle/>
          <a:p>
            <a:pPr indent="0" marL="0">
              <a:buNone/>
            </a:pPr>
            <a:r>
              <a:rPr lang="en-US" sz="1050" b="1" dirty="0">
                <a:solidFill>
                  <a:srgbClr val="0D9488"/>
                </a:solidFill>
                <a:latin typeface="Courier New" pitchFamily="34" charset="0"/>
                <a:ea typeface="Courier New" pitchFamily="34" charset="-122"/>
                <a:cs typeface="Courier New" pitchFamily="34" charset="-120"/>
              </a:rPr>
              <a:t>audited · test-locked · self-scoring</a:t>
            </a:r>
            <a:endParaRPr lang="en-US" sz="1050" dirty="0"/>
          </a:p>
        </p:txBody>
      </p:sp>
      <p:sp>
        <p:nvSpPr>
          <p:cNvPr id="30" name="Text 22"/>
          <p:cNvSpPr/>
          <p:nvPr/>
        </p:nvSpPr>
        <p:spPr>
          <a:xfrm>
            <a:off x="502920" y="6492240"/>
            <a:ext cx="7315200" cy="256032"/>
          </a:xfrm>
          <a:prstGeom prst="rect">
            <a:avLst/>
          </a:prstGeom>
          <a:noFill/>
          <a:ln/>
        </p:spPr>
        <p:txBody>
          <a:bodyPr wrap="square" lIns="0" tIns="0" rIns="0" bIns="0" rtlCol="0" anchor="ctr"/>
          <a:lstStyle/>
          <a:p>
            <a:pPr indent="0" marL="0">
              <a:buNone/>
            </a:pPr>
            <a:r>
              <a:rPr lang="en-US" sz="900" b="1" dirty="0">
                <a:solidFill>
                  <a:srgbClr val="5B6B7F"/>
                </a:solidFill>
                <a:latin typeface="Courier New" pitchFamily="34" charset="0"/>
                <a:ea typeface="Courier New" pitchFamily="34" charset="-122"/>
                <a:cs typeface="Courier New" pitchFamily="34" charset="-120"/>
              </a:rPr>
              <a:t>BrainSpark </a:t>
            </a:r>
            <a:pPr indent="0" marL="0">
              <a:buNone/>
            </a:pPr>
            <a:r>
              <a:rPr lang="en-US" sz="900" b="1" dirty="0">
                <a:solidFill>
                  <a:srgbClr val="F59E0B"/>
                </a:solidFill>
                <a:latin typeface="Courier New" pitchFamily="34" charset="0"/>
                <a:ea typeface="Courier New" pitchFamily="34" charset="-122"/>
                <a:cs typeface="Courier New" pitchFamily="34" charset="-120"/>
              </a:rPr>
              <a:t>Horizon</a:t>
            </a:r>
            <a:pPr indent="0" marL="0">
              <a:buNone/>
            </a:pPr>
            <a:r>
              <a:rPr lang="en-US" sz="900" dirty="0">
                <a:solidFill>
                  <a:srgbClr val="93A3B5"/>
                </a:solidFill>
                <a:latin typeface="Courier New" pitchFamily="34" charset="0"/>
                <a:ea typeface="Courier New" pitchFamily="34" charset="-122"/>
                <a:cs typeface="Courier New" pitchFamily="34" charset="-120"/>
              </a:rPr>
              <a:t>  ·  Technology Foresight Engine  ·  15/16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F33"/>
        </a:solidFill>
      </p:bgPr>
    </p:bg>
    <p:spTree>
      <p:nvGrpSpPr>
        <p:cNvPr id="1" name=""/>
        <p:cNvGrpSpPr/>
        <p:nvPr/>
      </p:nvGrpSpPr>
      <p:grpSpPr>
        <a:xfrm>
          <a:off x="0" y="0"/>
          <a:ext cx="0" cy="0"/>
          <a:chOff x="0" y="0"/>
          <a:chExt cx="0" cy="0"/>
        </a:xfrm>
      </p:grpSpPr>
      <p:sp>
        <p:nvSpPr>
          <p:cNvPr id="2" name="Shape 0"/>
          <p:cNvSpPr/>
          <p:nvPr/>
        </p:nvSpPr>
        <p:spPr>
          <a:xfrm flipH="1">
            <a:off x="-8170164" y="4937760"/>
            <a:ext cx="11247120" cy="1920240"/>
          </a:xfrm>
          <a:prstGeom prst="line">
            <a:avLst/>
          </a:prstGeom>
          <a:noFill/>
          <a:ln w="11430">
            <a:solidFill>
              <a:srgbClr val="F59E0B">
                <a:alpha val="34000"/>
              </a:srgbClr>
            </a:solidFill>
            <a:prstDash val="solid"/>
          </a:ln>
        </p:spPr>
      </p:sp>
      <p:sp>
        <p:nvSpPr>
          <p:cNvPr id="3" name="Shape 1"/>
          <p:cNvSpPr/>
          <p:nvPr/>
        </p:nvSpPr>
        <p:spPr>
          <a:xfrm flipH="1">
            <a:off x="-5792724" y="4937760"/>
            <a:ext cx="9372600" cy="1920240"/>
          </a:xfrm>
          <a:prstGeom prst="line">
            <a:avLst/>
          </a:prstGeom>
          <a:noFill/>
          <a:ln w="11430">
            <a:solidFill>
              <a:srgbClr val="F59E0B">
                <a:alpha val="34000"/>
              </a:srgbClr>
            </a:solidFill>
            <a:prstDash val="solid"/>
          </a:ln>
        </p:spPr>
      </p:sp>
      <p:sp>
        <p:nvSpPr>
          <p:cNvPr id="4" name="Shape 2"/>
          <p:cNvSpPr/>
          <p:nvPr/>
        </p:nvSpPr>
        <p:spPr>
          <a:xfrm flipH="1">
            <a:off x="-3415284" y="4937760"/>
            <a:ext cx="7498080" cy="1920240"/>
          </a:xfrm>
          <a:prstGeom prst="line">
            <a:avLst/>
          </a:prstGeom>
          <a:noFill/>
          <a:ln w="11430">
            <a:solidFill>
              <a:srgbClr val="F59E0B">
                <a:alpha val="34000"/>
              </a:srgbClr>
            </a:solidFill>
            <a:prstDash val="solid"/>
          </a:ln>
        </p:spPr>
      </p:sp>
      <p:sp>
        <p:nvSpPr>
          <p:cNvPr id="5" name="Shape 3"/>
          <p:cNvSpPr/>
          <p:nvPr/>
        </p:nvSpPr>
        <p:spPr>
          <a:xfrm flipH="1">
            <a:off x="-1037844" y="4937760"/>
            <a:ext cx="5623560" cy="1920240"/>
          </a:xfrm>
          <a:prstGeom prst="line">
            <a:avLst/>
          </a:prstGeom>
          <a:noFill/>
          <a:ln w="11430">
            <a:solidFill>
              <a:srgbClr val="F59E0B">
                <a:alpha val="34000"/>
              </a:srgbClr>
            </a:solidFill>
            <a:prstDash val="solid"/>
          </a:ln>
        </p:spPr>
      </p:sp>
      <p:sp>
        <p:nvSpPr>
          <p:cNvPr id="6" name="Shape 4"/>
          <p:cNvSpPr/>
          <p:nvPr/>
        </p:nvSpPr>
        <p:spPr>
          <a:xfrm flipH="1">
            <a:off x="1339596" y="4937760"/>
            <a:ext cx="3749040" cy="1920240"/>
          </a:xfrm>
          <a:prstGeom prst="line">
            <a:avLst/>
          </a:prstGeom>
          <a:noFill/>
          <a:ln w="11430">
            <a:solidFill>
              <a:srgbClr val="F59E0B">
                <a:alpha val="34000"/>
              </a:srgbClr>
            </a:solidFill>
            <a:prstDash val="solid"/>
          </a:ln>
        </p:spPr>
      </p:sp>
      <p:sp>
        <p:nvSpPr>
          <p:cNvPr id="7" name="Shape 5"/>
          <p:cNvSpPr/>
          <p:nvPr/>
        </p:nvSpPr>
        <p:spPr>
          <a:xfrm flipH="1">
            <a:off x="3717036" y="4937760"/>
            <a:ext cx="1874520" cy="1920240"/>
          </a:xfrm>
          <a:prstGeom prst="line">
            <a:avLst/>
          </a:prstGeom>
          <a:noFill/>
          <a:ln w="11430">
            <a:solidFill>
              <a:srgbClr val="F59E0B">
                <a:alpha val="34000"/>
              </a:srgbClr>
            </a:solidFill>
            <a:prstDash val="solid"/>
          </a:ln>
        </p:spPr>
      </p:sp>
      <p:sp>
        <p:nvSpPr>
          <p:cNvPr id="8" name="Shape 6"/>
          <p:cNvSpPr/>
          <p:nvPr/>
        </p:nvSpPr>
        <p:spPr>
          <a:xfrm>
            <a:off x="6094476" y="4937760"/>
            <a:ext cx="0" cy="1920240"/>
          </a:xfrm>
          <a:prstGeom prst="line">
            <a:avLst/>
          </a:prstGeom>
          <a:noFill/>
          <a:ln w="11430">
            <a:solidFill>
              <a:srgbClr val="F59E0B">
                <a:alpha val="34000"/>
              </a:srgbClr>
            </a:solidFill>
            <a:prstDash val="solid"/>
          </a:ln>
        </p:spPr>
      </p:sp>
      <p:sp>
        <p:nvSpPr>
          <p:cNvPr id="9" name="Shape 7"/>
          <p:cNvSpPr/>
          <p:nvPr/>
        </p:nvSpPr>
        <p:spPr>
          <a:xfrm>
            <a:off x="6597396" y="4937760"/>
            <a:ext cx="1874520" cy="1920240"/>
          </a:xfrm>
          <a:prstGeom prst="line">
            <a:avLst/>
          </a:prstGeom>
          <a:noFill/>
          <a:ln w="11430">
            <a:solidFill>
              <a:srgbClr val="F59E0B">
                <a:alpha val="34000"/>
              </a:srgbClr>
            </a:solidFill>
            <a:prstDash val="solid"/>
          </a:ln>
        </p:spPr>
      </p:sp>
      <p:sp>
        <p:nvSpPr>
          <p:cNvPr id="10" name="Shape 8"/>
          <p:cNvSpPr/>
          <p:nvPr/>
        </p:nvSpPr>
        <p:spPr>
          <a:xfrm>
            <a:off x="7100316" y="4937760"/>
            <a:ext cx="3749040" cy="1920240"/>
          </a:xfrm>
          <a:prstGeom prst="line">
            <a:avLst/>
          </a:prstGeom>
          <a:noFill/>
          <a:ln w="11430">
            <a:solidFill>
              <a:srgbClr val="F59E0B">
                <a:alpha val="34000"/>
              </a:srgbClr>
            </a:solidFill>
            <a:prstDash val="solid"/>
          </a:ln>
        </p:spPr>
      </p:sp>
      <p:sp>
        <p:nvSpPr>
          <p:cNvPr id="11" name="Shape 9"/>
          <p:cNvSpPr/>
          <p:nvPr/>
        </p:nvSpPr>
        <p:spPr>
          <a:xfrm>
            <a:off x="7603236" y="4937760"/>
            <a:ext cx="5623560" cy="1920240"/>
          </a:xfrm>
          <a:prstGeom prst="line">
            <a:avLst/>
          </a:prstGeom>
          <a:noFill/>
          <a:ln w="11430">
            <a:solidFill>
              <a:srgbClr val="F59E0B">
                <a:alpha val="34000"/>
              </a:srgbClr>
            </a:solidFill>
            <a:prstDash val="solid"/>
          </a:ln>
        </p:spPr>
      </p:sp>
      <p:sp>
        <p:nvSpPr>
          <p:cNvPr id="12" name="Shape 10"/>
          <p:cNvSpPr/>
          <p:nvPr/>
        </p:nvSpPr>
        <p:spPr>
          <a:xfrm>
            <a:off x="8106156" y="4937760"/>
            <a:ext cx="7498080" cy="1920240"/>
          </a:xfrm>
          <a:prstGeom prst="line">
            <a:avLst/>
          </a:prstGeom>
          <a:noFill/>
          <a:ln w="11430">
            <a:solidFill>
              <a:srgbClr val="F59E0B">
                <a:alpha val="34000"/>
              </a:srgbClr>
            </a:solidFill>
            <a:prstDash val="solid"/>
          </a:ln>
        </p:spPr>
      </p:sp>
      <p:sp>
        <p:nvSpPr>
          <p:cNvPr id="13" name="Shape 11"/>
          <p:cNvSpPr/>
          <p:nvPr/>
        </p:nvSpPr>
        <p:spPr>
          <a:xfrm>
            <a:off x="8609076" y="4937760"/>
            <a:ext cx="9372600" cy="1920240"/>
          </a:xfrm>
          <a:prstGeom prst="line">
            <a:avLst/>
          </a:prstGeom>
          <a:noFill/>
          <a:ln w="11430">
            <a:solidFill>
              <a:srgbClr val="F59E0B">
                <a:alpha val="34000"/>
              </a:srgbClr>
            </a:solidFill>
            <a:prstDash val="solid"/>
          </a:ln>
        </p:spPr>
      </p:sp>
      <p:sp>
        <p:nvSpPr>
          <p:cNvPr id="14" name="Shape 12"/>
          <p:cNvSpPr/>
          <p:nvPr/>
        </p:nvSpPr>
        <p:spPr>
          <a:xfrm>
            <a:off x="9111996" y="4937760"/>
            <a:ext cx="11247120" cy="1920240"/>
          </a:xfrm>
          <a:prstGeom prst="line">
            <a:avLst/>
          </a:prstGeom>
          <a:noFill/>
          <a:ln w="11430">
            <a:solidFill>
              <a:srgbClr val="F59E0B">
                <a:alpha val="34000"/>
              </a:srgbClr>
            </a:solidFill>
            <a:prstDash val="solid"/>
          </a:ln>
        </p:spPr>
      </p:sp>
      <p:sp>
        <p:nvSpPr>
          <p:cNvPr id="15" name="Shape 13"/>
          <p:cNvSpPr/>
          <p:nvPr/>
        </p:nvSpPr>
        <p:spPr>
          <a:xfrm>
            <a:off x="0" y="5065776"/>
            <a:ext cx="12188952" cy="0"/>
          </a:xfrm>
          <a:prstGeom prst="line">
            <a:avLst/>
          </a:prstGeom>
          <a:noFill/>
          <a:ln w="11430">
            <a:solidFill>
              <a:srgbClr val="F59E0B">
                <a:alpha val="24000"/>
              </a:srgbClr>
            </a:solidFill>
            <a:prstDash val="solid"/>
          </a:ln>
        </p:spPr>
      </p:sp>
      <p:sp>
        <p:nvSpPr>
          <p:cNvPr id="16" name="Shape 14"/>
          <p:cNvSpPr/>
          <p:nvPr/>
        </p:nvSpPr>
        <p:spPr>
          <a:xfrm>
            <a:off x="0" y="5248656"/>
            <a:ext cx="12188952" cy="0"/>
          </a:xfrm>
          <a:prstGeom prst="line">
            <a:avLst/>
          </a:prstGeom>
          <a:noFill/>
          <a:ln w="11430">
            <a:solidFill>
              <a:srgbClr val="F59E0B">
                <a:alpha val="24000"/>
              </a:srgbClr>
            </a:solidFill>
            <a:prstDash val="solid"/>
          </a:ln>
        </p:spPr>
      </p:sp>
      <p:sp>
        <p:nvSpPr>
          <p:cNvPr id="17" name="Shape 15"/>
          <p:cNvSpPr/>
          <p:nvPr/>
        </p:nvSpPr>
        <p:spPr>
          <a:xfrm>
            <a:off x="0" y="5504688"/>
            <a:ext cx="12188952" cy="0"/>
          </a:xfrm>
          <a:prstGeom prst="line">
            <a:avLst/>
          </a:prstGeom>
          <a:noFill/>
          <a:ln w="11430">
            <a:solidFill>
              <a:srgbClr val="F59E0B">
                <a:alpha val="24000"/>
              </a:srgbClr>
            </a:solidFill>
            <a:prstDash val="solid"/>
          </a:ln>
        </p:spPr>
      </p:sp>
      <p:sp>
        <p:nvSpPr>
          <p:cNvPr id="18" name="Shape 16"/>
          <p:cNvSpPr/>
          <p:nvPr/>
        </p:nvSpPr>
        <p:spPr>
          <a:xfrm>
            <a:off x="0" y="5852160"/>
            <a:ext cx="12188952" cy="0"/>
          </a:xfrm>
          <a:prstGeom prst="line">
            <a:avLst/>
          </a:prstGeom>
          <a:noFill/>
          <a:ln w="11430">
            <a:solidFill>
              <a:srgbClr val="F59E0B">
                <a:alpha val="24000"/>
              </a:srgbClr>
            </a:solidFill>
            <a:prstDash val="solid"/>
          </a:ln>
        </p:spPr>
      </p:sp>
      <p:sp>
        <p:nvSpPr>
          <p:cNvPr id="19" name="Shape 17"/>
          <p:cNvSpPr/>
          <p:nvPr/>
        </p:nvSpPr>
        <p:spPr>
          <a:xfrm>
            <a:off x="0" y="6309360"/>
            <a:ext cx="12188952" cy="0"/>
          </a:xfrm>
          <a:prstGeom prst="line">
            <a:avLst/>
          </a:prstGeom>
          <a:noFill/>
          <a:ln w="11430">
            <a:solidFill>
              <a:srgbClr val="F59E0B">
                <a:alpha val="24000"/>
              </a:srgbClr>
            </a:solidFill>
            <a:prstDash val="solid"/>
          </a:ln>
        </p:spPr>
      </p:sp>
      <p:sp>
        <p:nvSpPr>
          <p:cNvPr id="20" name="Shape 18"/>
          <p:cNvSpPr/>
          <p:nvPr/>
        </p:nvSpPr>
        <p:spPr>
          <a:xfrm>
            <a:off x="0" y="4937760"/>
            <a:ext cx="12188952" cy="0"/>
          </a:xfrm>
          <a:prstGeom prst="line">
            <a:avLst/>
          </a:prstGeom>
          <a:noFill/>
          <a:ln w="20320">
            <a:solidFill>
              <a:srgbClr val="F59E0B">
                <a:alpha val="78000"/>
              </a:srgbClr>
            </a:solidFill>
            <a:prstDash val="solid"/>
          </a:ln>
        </p:spPr>
      </p:sp>
      <p:sp>
        <p:nvSpPr>
          <p:cNvPr id="21" name="Shape 19"/>
          <p:cNvSpPr/>
          <p:nvPr/>
        </p:nvSpPr>
        <p:spPr>
          <a:xfrm>
            <a:off x="5362956" y="640080"/>
            <a:ext cx="1463040" cy="1463040"/>
          </a:xfrm>
          <a:prstGeom prst="ellipse">
            <a:avLst/>
          </a:prstGeom>
          <a:ln w="12700">
            <a:solidFill>
              <a:srgbClr val="0D9488">
                <a:alpha val="70000"/>
              </a:srgbClr>
            </a:solidFill>
            <a:prstDash val="dash"/>
          </a:ln>
        </p:spPr>
      </p:sp>
      <p:pic>
        <p:nvPicPr>
          <p:cNvPr id="22" name="Image 0" descr="preencoded.png">    </p:cNvPr>
          <p:cNvPicPr>
            <a:picLocks noChangeAspect="1"/>
          </p:cNvPicPr>
          <p:nvPr/>
        </p:nvPicPr>
        <p:blipFill>
          <a:blip r:embed="rId1"/>
          <a:stretch>
            <a:fillRect/>
          </a:stretch>
        </p:blipFill>
        <p:spPr>
          <a:xfrm>
            <a:off x="5783580" y="1060704"/>
            <a:ext cx="621792" cy="621792"/>
          </a:xfrm>
          <a:prstGeom prst="rect">
            <a:avLst/>
          </a:prstGeom>
        </p:spPr>
      </p:pic>
      <p:sp>
        <p:nvSpPr>
          <p:cNvPr id="23" name="Text 20"/>
          <p:cNvSpPr/>
          <p:nvPr/>
        </p:nvSpPr>
        <p:spPr>
          <a:xfrm>
            <a:off x="0" y="2331720"/>
            <a:ext cx="12188952" cy="274320"/>
          </a:xfrm>
          <a:prstGeom prst="rect">
            <a:avLst/>
          </a:prstGeom>
          <a:noFill/>
          <a:ln/>
        </p:spPr>
        <p:txBody>
          <a:bodyPr wrap="square" rtlCol="0" anchor="ctr"/>
          <a:lstStyle/>
          <a:p>
            <a:pPr algn="ctr" indent="0" marL="0">
              <a:buNone/>
            </a:pPr>
            <a:r>
              <a:rPr lang="en-US" sz="1200" b="1" spc="300" kern="0" dirty="0">
                <a:solidFill>
                  <a:srgbClr val="F59E0B"/>
                </a:solidFill>
                <a:latin typeface="Courier New" pitchFamily="34" charset="0"/>
                <a:ea typeface="Courier New" pitchFamily="34" charset="-122"/>
                <a:cs typeface="Courier New" pitchFamily="34" charset="-120"/>
              </a:rPr>
              <a:t>SEE IT LIVE</a:t>
            </a:r>
            <a:endParaRPr lang="en-US" sz="1200" dirty="0"/>
          </a:p>
        </p:txBody>
      </p:sp>
      <p:sp>
        <p:nvSpPr>
          <p:cNvPr id="24" name="Text 21"/>
          <p:cNvSpPr/>
          <p:nvPr/>
        </p:nvSpPr>
        <p:spPr>
          <a:xfrm>
            <a:off x="0" y="2651760"/>
            <a:ext cx="12188952" cy="5486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The future of every part we buy — on demand</a:t>
            </a:r>
            <a:endParaRPr lang="en-US" sz="2800" dirty="0"/>
          </a:p>
        </p:txBody>
      </p:sp>
      <p:sp>
        <p:nvSpPr>
          <p:cNvPr id="25" name="Shape 22"/>
          <p:cNvSpPr/>
          <p:nvPr/>
        </p:nvSpPr>
        <p:spPr>
          <a:xfrm>
            <a:off x="2286000" y="3383280"/>
            <a:ext cx="2468880" cy="868680"/>
          </a:xfrm>
          <a:prstGeom prst="roundRect">
            <a:avLst>
              <a:gd name="adj" fmla="val 9474"/>
            </a:avLst>
          </a:prstGeom>
          <a:solidFill>
            <a:srgbClr val="15304F"/>
          </a:solidFill>
          <a:ln w="9525">
            <a:solidFill>
              <a:srgbClr val="2A4463"/>
            </a:solidFill>
            <a:prstDash val="solid"/>
          </a:ln>
        </p:spPr>
      </p:sp>
      <p:sp>
        <p:nvSpPr>
          <p:cNvPr id="26" name="Text 23"/>
          <p:cNvSpPr/>
          <p:nvPr/>
        </p:nvSpPr>
        <p:spPr>
          <a:xfrm>
            <a:off x="2432304" y="3383280"/>
            <a:ext cx="457200" cy="868680"/>
          </a:xfrm>
          <a:prstGeom prst="rect">
            <a:avLst/>
          </a:prstGeom>
          <a:noFill/>
          <a:ln/>
        </p:spPr>
        <p:txBody>
          <a:bodyPr wrap="square" lIns="0" tIns="0" rIns="0" bIns="0" rtlCol="0" anchor="ctr"/>
          <a:lstStyle/>
          <a:p>
            <a:pPr indent="0" marL="0">
              <a:buNone/>
            </a:pPr>
            <a:r>
              <a:rPr lang="en-US" sz="2200" b="1" dirty="0">
                <a:solidFill>
                  <a:srgbClr val="F59E0B"/>
                </a:solidFill>
                <a:latin typeface="Courier New" pitchFamily="34" charset="0"/>
                <a:ea typeface="Courier New" pitchFamily="34" charset="-122"/>
                <a:cs typeface="Courier New" pitchFamily="34" charset="-120"/>
              </a:rPr>
              <a:t>1</a:t>
            </a:r>
            <a:endParaRPr lang="en-US" sz="2200" dirty="0"/>
          </a:p>
        </p:txBody>
      </p:sp>
      <p:sp>
        <p:nvSpPr>
          <p:cNvPr id="27" name="Text 24"/>
          <p:cNvSpPr/>
          <p:nvPr/>
        </p:nvSpPr>
        <p:spPr>
          <a:xfrm>
            <a:off x="2889504" y="3383280"/>
            <a:ext cx="1828800" cy="868680"/>
          </a:xfrm>
          <a:prstGeom prst="rect">
            <a:avLst/>
          </a:prstGeom>
          <a:noFill/>
          <a:ln/>
        </p:spPr>
        <p:txBody>
          <a:bodyPr wrap="square" lIns="0" tIns="0" rIns="0" bIns="0" rtlCol="0" anchor="ctr"/>
          <a:lstStyle/>
          <a:p>
            <a:pPr indent="0" marL="0">
              <a:buNone/>
            </a:pPr>
            <a:r>
              <a:rPr lang="en-US" sz="1050" dirty="0">
                <a:solidFill>
                  <a:srgbClr val="D5DEE9"/>
                </a:solidFill>
                <a:latin typeface="Arial" pitchFamily="34" charset="0"/>
                <a:ea typeface="Arial" pitchFamily="34" charset="-122"/>
                <a:cs typeface="Arial" pitchFamily="34" charset="-120"/>
              </a:rPr>
              <a:t>Open Horizon</a:t>
            </a:r>
            <a:endParaRPr lang="en-US" sz="1050" dirty="0"/>
          </a:p>
          <a:p>
            <a:pPr indent="0" marL="0">
              <a:buNone/>
            </a:pPr>
            <a:r>
              <a:rPr lang="en-US" sz="1050" dirty="0">
                <a:solidFill>
                  <a:srgbClr val="D5DEE9"/>
                </a:solidFill>
                <a:latin typeface="Arial" pitchFamily="34" charset="0"/>
                <a:ea typeface="Arial" pitchFamily="34" charset="-122"/>
                <a:cs typeface="Arial" pitchFamily="34" charset="-120"/>
              </a:rPr>
              <a:t>Off-Road &amp; Luxury lens</a:t>
            </a:r>
            <a:endParaRPr lang="en-US" sz="1050" dirty="0"/>
          </a:p>
        </p:txBody>
      </p:sp>
      <p:sp>
        <p:nvSpPr>
          <p:cNvPr id="28" name="Shape 25"/>
          <p:cNvSpPr/>
          <p:nvPr/>
        </p:nvSpPr>
        <p:spPr>
          <a:xfrm>
            <a:off x="5029200" y="3383280"/>
            <a:ext cx="2468880" cy="868680"/>
          </a:xfrm>
          <a:prstGeom prst="roundRect">
            <a:avLst>
              <a:gd name="adj" fmla="val 9474"/>
            </a:avLst>
          </a:prstGeom>
          <a:solidFill>
            <a:srgbClr val="15304F"/>
          </a:solidFill>
          <a:ln w="9525">
            <a:solidFill>
              <a:srgbClr val="2A4463"/>
            </a:solidFill>
            <a:prstDash val="solid"/>
          </a:ln>
        </p:spPr>
      </p:sp>
      <p:sp>
        <p:nvSpPr>
          <p:cNvPr id="29" name="Text 26"/>
          <p:cNvSpPr/>
          <p:nvPr/>
        </p:nvSpPr>
        <p:spPr>
          <a:xfrm>
            <a:off x="5175504" y="3383280"/>
            <a:ext cx="457200" cy="868680"/>
          </a:xfrm>
          <a:prstGeom prst="rect">
            <a:avLst/>
          </a:prstGeom>
          <a:noFill/>
          <a:ln/>
        </p:spPr>
        <p:txBody>
          <a:bodyPr wrap="square" lIns="0" tIns="0" rIns="0" bIns="0" rtlCol="0" anchor="ctr"/>
          <a:lstStyle/>
          <a:p>
            <a:pPr indent="0" marL="0">
              <a:buNone/>
            </a:pPr>
            <a:r>
              <a:rPr lang="en-US" sz="2200" b="1" dirty="0">
                <a:solidFill>
                  <a:srgbClr val="F59E0B"/>
                </a:solidFill>
                <a:latin typeface="Courier New" pitchFamily="34" charset="0"/>
                <a:ea typeface="Courier New" pitchFamily="34" charset="-122"/>
                <a:cs typeface="Courier New" pitchFamily="34" charset="-120"/>
              </a:rPr>
              <a:t>2</a:t>
            </a:r>
            <a:endParaRPr lang="en-US" sz="2200" dirty="0"/>
          </a:p>
        </p:txBody>
      </p:sp>
      <p:sp>
        <p:nvSpPr>
          <p:cNvPr id="30" name="Text 27"/>
          <p:cNvSpPr/>
          <p:nvPr/>
        </p:nvSpPr>
        <p:spPr>
          <a:xfrm>
            <a:off x="5632704" y="3383280"/>
            <a:ext cx="1828800" cy="868680"/>
          </a:xfrm>
          <a:prstGeom prst="rect">
            <a:avLst/>
          </a:prstGeom>
          <a:noFill/>
          <a:ln/>
        </p:spPr>
        <p:txBody>
          <a:bodyPr wrap="square" lIns="0" tIns="0" rIns="0" bIns="0" rtlCol="0" anchor="ctr"/>
          <a:lstStyle/>
          <a:p>
            <a:pPr indent="0" marL="0">
              <a:buNone/>
            </a:pPr>
            <a:r>
              <a:rPr lang="en-US" sz="1050" dirty="0">
                <a:solidFill>
                  <a:srgbClr val="D5DEE9"/>
                </a:solidFill>
                <a:latin typeface="Arial" pitchFamily="34" charset="0"/>
                <a:ea typeface="Arial" pitchFamily="34" charset="-122"/>
                <a:cs typeface="Arial" pitchFamily="34" charset="-120"/>
              </a:rPr>
              <a:t>Predict</a:t>
            </a:r>
            <a:endParaRPr lang="en-US" sz="1050" dirty="0"/>
          </a:p>
          <a:p>
            <a:pPr indent="0" marL="0">
              <a:buNone/>
            </a:pPr>
            <a:r>
              <a:rPr lang="en-US" sz="1050" dirty="0">
                <a:solidFill>
                  <a:srgbClr val="D5DEE9"/>
                </a:solidFill>
                <a:latin typeface="Arial" pitchFamily="34" charset="0"/>
                <a:ea typeface="Arial" pitchFamily="34" charset="-122"/>
                <a:cs typeface="Arial" pitchFamily="34" charset="-120"/>
              </a:rPr>
              <a:t>lanes · crossings · benchmarks</a:t>
            </a:r>
            <a:endParaRPr lang="en-US" sz="1050" dirty="0"/>
          </a:p>
        </p:txBody>
      </p:sp>
      <p:sp>
        <p:nvSpPr>
          <p:cNvPr id="31" name="Shape 28"/>
          <p:cNvSpPr/>
          <p:nvPr/>
        </p:nvSpPr>
        <p:spPr>
          <a:xfrm>
            <a:off x="7772400" y="3383280"/>
            <a:ext cx="2468880" cy="868680"/>
          </a:xfrm>
          <a:prstGeom prst="roundRect">
            <a:avLst>
              <a:gd name="adj" fmla="val 9474"/>
            </a:avLst>
          </a:prstGeom>
          <a:solidFill>
            <a:srgbClr val="15304F"/>
          </a:solidFill>
          <a:ln w="9525">
            <a:solidFill>
              <a:srgbClr val="2A4463"/>
            </a:solidFill>
            <a:prstDash val="solid"/>
          </a:ln>
        </p:spPr>
      </p:sp>
      <p:sp>
        <p:nvSpPr>
          <p:cNvPr id="32" name="Text 29"/>
          <p:cNvSpPr/>
          <p:nvPr/>
        </p:nvSpPr>
        <p:spPr>
          <a:xfrm>
            <a:off x="7918704" y="3383280"/>
            <a:ext cx="457200" cy="868680"/>
          </a:xfrm>
          <a:prstGeom prst="rect">
            <a:avLst/>
          </a:prstGeom>
          <a:noFill/>
          <a:ln/>
        </p:spPr>
        <p:txBody>
          <a:bodyPr wrap="square" lIns="0" tIns="0" rIns="0" bIns="0" rtlCol="0" anchor="ctr"/>
          <a:lstStyle/>
          <a:p>
            <a:pPr indent="0" marL="0">
              <a:buNone/>
            </a:pPr>
            <a:r>
              <a:rPr lang="en-US" sz="2200" b="1" dirty="0">
                <a:solidFill>
                  <a:srgbClr val="F59E0B"/>
                </a:solidFill>
                <a:latin typeface="Courier New" pitchFamily="34" charset="0"/>
                <a:ea typeface="Courier New" pitchFamily="34" charset="-122"/>
                <a:cs typeface="Courier New" pitchFamily="34" charset="-120"/>
              </a:rPr>
              <a:t>3</a:t>
            </a:r>
            <a:endParaRPr lang="en-US" sz="2200" dirty="0"/>
          </a:p>
        </p:txBody>
      </p:sp>
      <p:sp>
        <p:nvSpPr>
          <p:cNvPr id="33" name="Text 30"/>
          <p:cNvSpPr/>
          <p:nvPr/>
        </p:nvSpPr>
        <p:spPr>
          <a:xfrm>
            <a:off x="8375904" y="3383280"/>
            <a:ext cx="1828800" cy="868680"/>
          </a:xfrm>
          <a:prstGeom prst="rect">
            <a:avLst/>
          </a:prstGeom>
          <a:noFill/>
          <a:ln/>
        </p:spPr>
        <p:txBody>
          <a:bodyPr wrap="square" lIns="0" tIns="0" rIns="0" bIns="0" rtlCol="0" anchor="ctr"/>
          <a:lstStyle/>
          <a:p>
            <a:pPr indent="0" marL="0">
              <a:buNone/>
            </a:pPr>
            <a:r>
              <a:rPr lang="en-US" sz="1050" dirty="0">
                <a:solidFill>
                  <a:srgbClr val="D5DEE9"/>
                </a:solidFill>
                <a:latin typeface="Arial" pitchFamily="34" charset="0"/>
                <a:ea typeface="Arial" pitchFamily="34" charset="-122"/>
                <a:cs typeface="Arial" pitchFamily="34" charset="-120"/>
              </a:rPr>
              <a:t>Export</a:t>
            </a:r>
            <a:endParaRPr lang="en-US" sz="1050" dirty="0"/>
          </a:p>
          <a:p>
            <a:pPr indent="0" marL="0">
              <a:buNone/>
            </a:pPr>
            <a:r>
              <a:rPr lang="en-US" sz="1050" dirty="0">
                <a:solidFill>
                  <a:srgbClr val="D5DEE9"/>
                </a:solidFill>
                <a:latin typeface="Arial" pitchFamily="34" charset="0"/>
                <a:ea typeface="Arial" pitchFamily="34" charset="-122"/>
                <a:cs typeface="Arial" pitchFamily="34" charset="-120"/>
              </a:rPr>
              <a:t>the Foresight Report PDF</a:t>
            </a:r>
            <a:endParaRPr lang="en-US" sz="1050" dirty="0"/>
          </a:p>
        </p:txBody>
      </p:sp>
      <p:sp>
        <p:nvSpPr>
          <p:cNvPr id="34" name="Text 31"/>
          <p:cNvSpPr/>
          <p:nvPr/>
        </p:nvSpPr>
        <p:spPr>
          <a:xfrm>
            <a:off x="0" y="4434840"/>
            <a:ext cx="12188952" cy="274320"/>
          </a:xfrm>
          <a:prstGeom prst="rect">
            <a:avLst/>
          </a:prstGeom>
          <a:noFill/>
          <a:ln/>
        </p:spPr>
        <p:txBody>
          <a:bodyPr wrap="square" rtlCol="0" anchor="ctr"/>
          <a:lstStyle/>
          <a:p>
            <a:pPr algn="ctr" indent="0" marL="0">
              <a:buNone/>
            </a:pPr>
            <a:r>
              <a:rPr lang="en-US" sz="1250" i="1" dirty="0">
                <a:solidFill>
                  <a:srgbClr val="9FB2C6"/>
                </a:solidFill>
                <a:latin typeface="Arial" pitchFamily="34" charset="0"/>
                <a:ea typeface="Arial" pitchFamily="34" charset="-122"/>
                <a:cs typeface="Arial" pitchFamily="34" charset="-120"/>
              </a:rPr>
              <a:t>Next: pilot with two commodity teams · patent-evidence API key · quarterly re-curation so the ledger starts scoring us</a:t>
            </a:r>
            <a:endParaRPr lang="en-US" sz="1250" dirty="0"/>
          </a:p>
        </p:txBody>
      </p:sp>
      <p:sp>
        <p:nvSpPr>
          <p:cNvPr id="35" name="Text 32"/>
          <p:cNvSpPr/>
          <p:nvPr/>
        </p:nvSpPr>
        <p:spPr>
          <a:xfrm>
            <a:off x="0" y="6355080"/>
            <a:ext cx="12188952" cy="274320"/>
          </a:xfrm>
          <a:prstGeom prst="rect">
            <a:avLst/>
          </a:prstGeom>
          <a:noFill/>
          <a:ln/>
        </p:spPr>
        <p:txBody>
          <a:bodyPr wrap="square" rtlCol="0" anchor="ctr"/>
          <a:lstStyle/>
          <a:p>
            <a:pPr algn="ctr" indent="0" marL="0">
              <a:buNone/>
            </a:pPr>
            <a:r>
              <a:rPr lang="en-US" sz="1050" dirty="0">
                <a:solidFill>
                  <a:srgbClr val="7C8DA3"/>
                </a:solidFill>
                <a:latin typeface="Courier New" pitchFamily="34" charset="0"/>
                <a:ea typeface="Courier New" pitchFamily="34" charset="-122"/>
                <a:cs typeface="Courier New" pitchFamily="34" charset="-120"/>
              </a:rPr>
              <a:t>Avinash Bhosale · BrainSpark Horizon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BrainSpark Horizon — Automotive Technology Foresight Engine</dc:title>
  <dc:subject>PptxGenJS Presentation</dc:subject>
  <dc:creator>Avinash Bhosale</dc:creator>
  <cp:lastModifiedBy>Avinash Bhosale</cp:lastModifiedBy>
  <cp:revision>1</cp:revision>
  <dcterms:created xsi:type="dcterms:W3CDTF">2026-07-25T14:37:06Z</dcterms:created>
  <dcterms:modified xsi:type="dcterms:W3CDTF">2026-07-25T14:37:06Z</dcterms:modified>
</cp:coreProperties>
</file>