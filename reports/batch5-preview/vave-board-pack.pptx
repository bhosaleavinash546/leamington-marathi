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every [bracket]. Use finance's cost figure and your own evidence for the gap. The 8–15% and 3–5% are typical ranges; say so if you use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short. The board needs to know it's a disciplined method with a decision at the end, not a brainstorm.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pilot picker from VAVE for Leaders Module 6 to score candidates. Avoid any product with little design freedom or under two years of life left.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this from the VAVE Programme Business Case spreadsheet (VAVEhub toolkit, template 13). Show finance has checked the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decisions, not a summary. If the board can't commit to all four, agree a date to come back rather than starting without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D5FD6"/>
                </a:solidFill>
                <a:latin typeface="Calibri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31C30"/>
                </a:solidFill>
                <a:latin typeface="Calibri"/>
              </a:rPr>
              <a:t>[£X] a year from products we already make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4D5C78"/>
                </a:solidFill>
                <a:latin typeface="Calibri"/>
              </a:rPr>
              <a:t>[Your company] · VAVE proposal · [date]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355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D5C78"/>
                </a:solidFill>
                <a:latin typeface="Calibri"/>
              </a:rPr>
              <a:t>1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F2F6FD"/>
          </a:solidFill>
          <a:ln>
            <a:solidFill>
              <a:srgbClr val="DF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D5FD6"/>
                </a:solidFill>
                <a:latin typeface="Calibri"/>
              </a:rPr>
              <a:t>[£X 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D5C78"/>
                </a:solidFill>
                <a:latin typeface="Calibri"/>
              </a:rPr>
              <a:t>Product cost base in scope this year (finance)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F2F6FD"/>
          </a:solidFill>
          <a:ln>
            <a:solidFill>
              <a:srgbClr val="DF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EB6834"/>
                </a:solidFill>
                <a:latin typeface="Calibri"/>
              </a:rPr>
              <a:t>[Y%]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43200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D5C78"/>
                </a:solidFill>
                <a:latin typeface="Calibri"/>
              </a:rPr>
              <a:t>Gap between today's cost and what the market allows (allowable cost)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28800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F2F6FD"/>
          </a:solidFill>
          <a:ln>
            <a:solidFill>
              <a:srgbClr val="DF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01168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D5FD6"/>
                </a:solidFill>
                <a:latin typeface="Calibri"/>
              </a:rPr>
              <a:t>8–15%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743200"/>
            <a:ext cx="3017520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D5C78"/>
                </a:solidFill>
                <a:latin typeface="Calibri"/>
              </a:rPr>
              <a:t>Typical first-round saving on the cost studied; 3–5% a year after that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31C30"/>
                </a:solidFill>
                <a:latin typeface="Calibri"/>
              </a:rPr>
              <a:t>•  The gap: [one sentence on margin pressure, a rival's cost or a price drop]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31C30"/>
                </a:solidFill>
                <a:latin typeface="Calibri"/>
              </a:rPr>
              <a:t>•  Most of the cost is decided in design, so purchasing alone can't close it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31C30"/>
                </a:solidFill>
                <a:latin typeface="Calibri"/>
              </a:rPr>
              <a:t>•  Value engineering removes cost that customers don't value, without cutting what they 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D5FD6"/>
                </a:solidFill>
                <a:latin typeface="Calibri"/>
              </a:rPr>
              <a:t>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31C30"/>
                </a:solidFill>
                <a:latin typeface="Calibri"/>
              </a:rPr>
              <a:t>How it works: one product, six phases, about six weeks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4D5C78"/>
                </a:solidFill>
                <a:latin typeface="Calibri"/>
              </a:rPr>
              <a:t>[Your company] · VAVE proposal · [date]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355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D5C78"/>
                </a:solidFill>
                <a:latin typeface="Calibri"/>
              </a:rPr>
              <a:t>2 / 5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920240"/>
            <a:ext cx="1828800" cy="914400"/>
          </a:xfrm>
          <a:prstGeom prst="homePlate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  Information</a:t>
            </a:r>
          </a:p>
        </p:txBody>
      </p:sp>
      <p:sp>
        <p:nvSpPr>
          <p:cNvPr id="8" name="Chevron 7"/>
          <p:cNvSpPr/>
          <p:nvPr/>
        </p:nvSpPr>
        <p:spPr>
          <a:xfrm>
            <a:off x="2423160" y="1920240"/>
            <a:ext cx="1828800" cy="914400"/>
          </a:xfrm>
          <a:prstGeom prst="chevron">
            <a:avLst/>
          </a:prstGeom>
          <a:solidFill>
            <a:srgbClr val="2E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  Function analysis</a:t>
            </a:r>
          </a:p>
        </p:txBody>
      </p:sp>
      <p:sp>
        <p:nvSpPr>
          <p:cNvPr id="9" name="Chevron 8"/>
          <p:cNvSpPr/>
          <p:nvPr/>
        </p:nvSpPr>
        <p:spPr>
          <a:xfrm>
            <a:off x="4297679" y="1920240"/>
            <a:ext cx="1828800" cy="914400"/>
          </a:xfrm>
          <a:prstGeom prst="chevron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  Creative</a:t>
            </a:r>
          </a:p>
        </p:txBody>
      </p:sp>
      <p:sp>
        <p:nvSpPr>
          <p:cNvPr id="10" name="Chevron 9"/>
          <p:cNvSpPr/>
          <p:nvPr/>
        </p:nvSpPr>
        <p:spPr>
          <a:xfrm>
            <a:off x="6172199" y="1920240"/>
            <a:ext cx="1828800" cy="914400"/>
          </a:xfrm>
          <a:prstGeom prst="chevron">
            <a:avLst/>
          </a:prstGeom>
          <a:solidFill>
            <a:srgbClr val="2E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  Evaluation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8046719" y="1920240"/>
            <a:ext cx="1828800" cy="914400"/>
          </a:xfrm>
          <a:prstGeom prst="chevron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  Development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9921240" y="1920240"/>
            <a:ext cx="1828800" cy="914400"/>
          </a:xfrm>
          <a:prstGeom prst="chevron">
            <a:avLst/>
          </a:prstGeom>
          <a:solidFill>
            <a:srgbClr val="2E6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 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918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31C30"/>
                </a:solidFill>
                <a:latin typeface="Calibri"/>
              </a:rPr>
              <a:t>•  A team of 6–10 from design, manufacturing, purchasing, quality and finance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31C30"/>
                </a:solidFill>
                <a:latin typeface="Calibri"/>
              </a:rPr>
              <a:t>•  A trained facilitator runs the method; the team supplies the answers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31C30"/>
                </a:solidFill>
                <a:latin typeface="Calibri"/>
              </a:rPr>
              <a:t>•  Every idea is costed and checked before it reaches you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918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31C30"/>
                </a:solidFill>
                <a:latin typeface="Calibri"/>
              </a:rPr>
              <a:t>•  What you see: a decision meeting with costed proposals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31C30"/>
                </a:solidFill>
                <a:latin typeface="Calibri"/>
              </a:rPr>
              <a:t>•  What you decide: yes, no or more data, with an owner and a date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31C30"/>
                </a:solidFill>
                <a:latin typeface="Calibri"/>
              </a:rPr>
              <a:t>•  What you get: savings reported only when they're in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D5FD6"/>
                </a:solidFill>
                <a:latin typeface="Calibri"/>
              </a:rPr>
              <a:t>THE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31C30"/>
                </a:solidFill>
                <a:latin typeface="Calibri"/>
              </a:rPr>
              <a:t>Our pilot: [product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4D5C78"/>
                </a:solidFill>
                <a:latin typeface="Calibri"/>
              </a:rPr>
              <a:t>[Your company] · VAVE proposal · [date]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355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D5C78"/>
                </a:solidFill>
                <a:latin typeface="Calibri"/>
              </a:rPr>
              <a:t>3 /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67665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64592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Why this product</a:t>
                      </a:r>
                    </a:p>
                  </a:txBody>
                  <a:tcPr>
                    <a:solidFill>
                      <a:srgbClr val="1D5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Score (1–5)</a:t>
                      </a:r>
                    </a:p>
                  </a:txBody>
                  <a:tcPr>
                    <a:solidFill>
                      <a:srgbClr val="1D5FD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1C30"/>
                          </a:solidFill>
                          <a:latin typeface="Calibri"/>
                        </a:rPr>
                        <a:t>Spend: volume × unit cost is big enough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1C30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1C30"/>
                          </a:solidFill>
                          <a:latin typeface="Calibri"/>
                        </a:rPr>
                        <a:t>Design control: we're allowed to change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1C30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1C30"/>
                          </a:solidFill>
                          <a:latin typeface="Calibri"/>
                        </a:rPr>
                        <a:t>Life left: two years or more to collect savings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1C30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1C30"/>
                          </a:solidFill>
                          <a:latin typeface="Calibri"/>
                        </a:rPr>
                        <a:t>Pain: margin pressure or warranty problems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1C30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1C30"/>
                          </a:solidFill>
                          <a:latin typeface="Calibri"/>
                        </a:rPr>
                        <a:t>Data: a costed parts list exists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31C30"/>
                          </a:solidFill>
                          <a:latin typeface="Calibri"/>
                        </a:rPr>
                        <a:t>[ ]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80960" y="1737360"/>
            <a:ext cx="3931920" cy="1463040"/>
          </a:xfrm>
          <a:prstGeom prst="roundRect">
            <a:avLst>
              <a:gd name="adj" fmla="val 8000"/>
            </a:avLst>
          </a:prstGeom>
          <a:solidFill>
            <a:srgbClr val="F2F6FD"/>
          </a:solidFill>
          <a:ln>
            <a:solidFill>
              <a:srgbClr val="DF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1920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D5FD6"/>
                </a:solidFill>
                <a:latin typeface="Calibri"/>
              </a:rPr>
              <a:t>[£A] → [£B]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6517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D5C78"/>
                </a:solidFill>
                <a:latin typeface="Calibri"/>
              </a:rPr>
              <a:t>Starting cost (checked by finance) → target cost per unit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3383280"/>
            <a:ext cx="3931920" cy="1463040"/>
          </a:xfrm>
          <a:prstGeom prst="roundRect">
            <a:avLst>
              <a:gd name="adj" fmla="val 8000"/>
            </a:avLst>
          </a:prstGeom>
          <a:solidFill>
            <a:srgbClr val="F2F6FD"/>
          </a:solidFill>
          <a:ln>
            <a:solidFill>
              <a:srgbClr val="DF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3566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D5FD6"/>
                </a:solidFill>
                <a:latin typeface="Calibri"/>
              </a:rPr>
              <a:t>[dates]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2976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D5C78"/>
                </a:solidFill>
                <a:latin typeface="Calibri"/>
              </a:rPr>
              <a:t>Workshop week and decision meeting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31C30"/>
                </a:solidFill>
                <a:latin typeface="Calibri"/>
              </a:rPr>
              <a:t>•  Team: [names by function] · Facilitator: [name] · Sponsor: [name]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D5FD6"/>
                </a:solidFill>
                <a:latin typeface="Calibri"/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31C30"/>
                </a:solidFill>
                <a:latin typeface="Calibri"/>
              </a:rPr>
              <a:t>The money: [£N] net over three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4D5C78"/>
                </a:solidFill>
                <a:latin typeface="Calibri"/>
              </a:rPr>
              <a:t>[Your company] · VAVE proposal · [date]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355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D5C78"/>
                </a:solidFill>
                <a:latin typeface="Calibri"/>
              </a:rPr>
              <a:t>4 /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73736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737360"/>
                <a:gridCol w="173736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/>
                  </a:txBody>
                  <a:tcPr>
                    <a:solidFill>
                      <a:srgbClr val="1D5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Year 1</a:t>
                      </a:r>
                    </a:p>
                  </a:txBody>
                  <a:tcPr>
                    <a:solidFill>
                      <a:srgbClr val="1D5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Year 2</a:t>
                      </a:r>
                    </a:p>
                  </a:txBody>
                  <a:tcPr>
                    <a:solidFill>
                      <a:srgbClr val="1D5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Year 3</a:t>
                      </a:r>
                    </a:p>
                  </a:txBody>
                  <a:tcPr>
                    <a:solidFill>
                      <a:srgbClr val="1D5F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5F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Savings in production that year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Programme running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Net benefit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2F6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Cumulative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31C30"/>
                          </a:solidFill>
                          <a:latin typeface="Calibri"/>
                        </a:rPr>
                        <a:t>[£ 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754880"/>
            <a:ext cx="3474720" cy="1463040"/>
          </a:xfrm>
          <a:prstGeom prst="roundRect">
            <a:avLst>
              <a:gd name="adj" fmla="val 8000"/>
            </a:avLst>
          </a:prstGeom>
          <a:solidFill>
            <a:srgbClr val="F2F6FD"/>
          </a:solidFill>
          <a:ln>
            <a:solidFill>
              <a:srgbClr val="DF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937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D5FD6"/>
                </a:solidFill>
                <a:latin typeface="Calibri"/>
              </a:rPr>
              <a:t>[x :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669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D5C78"/>
                </a:solidFill>
                <a:latin typeface="Calibri"/>
              </a:rPr>
              <a:t>Return over three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4754880"/>
            <a:ext cx="3474720" cy="1463040"/>
          </a:xfrm>
          <a:prstGeom prst="roundRect">
            <a:avLst>
              <a:gd name="adj" fmla="val 8000"/>
            </a:avLst>
          </a:prstGeom>
          <a:solidFill>
            <a:srgbClr val="F2F6FD"/>
          </a:solidFill>
          <a:ln>
            <a:solidFill>
              <a:srgbClr val="DF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493776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 b="1">
                <a:solidFill>
                  <a:srgbClr val="1D5FD6"/>
                </a:solidFill>
                <a:latin typeface="Calibri"/>
              </a:rPr>
              <a:t>[Year 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5669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4D5C78"/>
                </a:solidFill>
                <a:latin typeface="Calibri"/>
              </a:rPr>
              <a:t>When it pays 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846320"/>
            <a:ext cx="3566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>
                <a:solidFill>
                  <a:srgbClr val="4D5C78"/>
                </a:solidFill>
                <a:latin typeface="Calibri"/>
              </a:rPr>
              <a:t>From the VAVE Programme Business Case spreadsheet.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4D5C78"/>
                </a:solidFill>
                <a:latin typeface="Calibri"/>
              </a:rPr>
              <a:t>Assumptions checked by [finance name].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5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D5FD6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 b="1">
                <a:solidFill>
                  <a:srgbClr val="131C30"/>
                </a:solidFill>
                <a:latin typeface="Calibri"/>
              </a:rPr>
              <a:t>The decisions we need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4D5C78"/>
                </a:solidFill>
                <a:latin typeface="Calibri"/>
              </a:rPr>
              <a:t>[Your company] · VAVE proposal · [date]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92640" y="6355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4D5C78"/>
                </a:solidFill>
                <a:latin typeface="Calibri"/>
              </a:rPr>
              <a:t>5 / 5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37360"/>
            <a:ext cx="685800" cy="6858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1907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31C30"/>
                </a:solidFill>
                <a:latin typeface="Calibri"/>
              </a:rPr>
              <a:t>A sponsor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764792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D5C78"/>
                </a:solidFill>
                <a:latin typeface="Calibri"/>
              </a:rPr>
              <a:t>[name], who will decide at the decision meeting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788920"/>
            <a:ext cx="685800" cy="6858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7063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31C30"/>
                </a:solidFill>
                <a:latin typeface="Calibri"/>
              </a:rP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816351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D5C78"/>
                </a:solidFill>
                <a:latin typeface="Calibri"/>
              </a:rPr>
              <a:t>[n] people freed for the workshop week, [dates]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840479"/>
            <a:ext cx="685800" cy="6858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22191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31C30"/>
                </a:solidFill>
                <a:latin typeface="Calibri"/>
              </a:rPr>
              <a:t>Engineering 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67911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D5C78"/>
                </a:solidFill>
                <a:latin typeface="Calibri"/>
              </a:rPr>
              <a:t>[£ or hours] to put approved ideas into production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892040"/>
            <a:ext cx="685800" cy="685800"/>
          </a:xfrm>
          <a:prstGeom prst="ellipse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73752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 b="1">
                <a:solidFill>
                  <a:srgbClr val="131C30"/>
                </a:solidFill>
                <a:latin typeface="Calibri"/>
              </a:rPr>
              <a:t>A monthly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919472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4D5C78"/>
                </a:solidFill>
                <a:latin typeface="Calibri"/>
              </a:rPr>
              <a:t>30 minutes, chaired by the sponsor, until savings are 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97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5FD6"/>
                </a:solidFill>
                <a:latin typeface="Calibri"/>
              </a:rPr>
              <a:t>What we'll report back: savings in production, checked by finance against the fixed starting cost, every month.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VAVE board pack</dc:title>
  <dc:subject/>
  <dc:creator>VAVEhub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