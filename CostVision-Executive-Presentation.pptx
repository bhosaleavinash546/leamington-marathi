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and thanks for making the time. What you're looking at is CostVision — a should-cost platform I've built to answer one deceptively simple question: what should this part actually cost to make? Not what a supplier quotes, but what the engineering and the economics say it should be. The one principle I want you to hold onto for the whole session is this: the AI never sets a price. It reads the input — a CAD model, a photo of a board, a plain-English description — and it classifies and interprets. Every pound of cost after that is deterministic arithmetic we can trace line by line. That's what makes the number defensible in a negotiation. Across the next few slides I'll show you the breadth — twenty-one commodities, twenty regions — and then the part I'm proudest of: as of this year the tool checks its own homework and learns from real quotes, and I've proven that on five real automotive CAD parts.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I show you the tool, let me be honest about the problem it's solving, because most of us in this room have lived it. A should-cost done by hand takes two to four weeks per part. By the time it lands, the sourcing decision has often already been made. And because everyone builds their model slightly differently, you can't compare one engineer's number to another's — there's no single method, no auditable trail. The stat at the bottom is the one that really matters: roughly eighty percent of a part's cost is locked in at the design stage, but almost all of our cost analysis happens after the design is frozen — when changing anything is expensive. So we discover the cost problem at exactly the point we can no longer cheaply fix it. Everything CostVision does is aimed at pulling that intelligence forward, to the concept phase, where a change is still just a conversation.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here's the whole platform on one slide. I'll come back to several of these in detail, so don't feel you need to read every card. The three I'd point you to first are the entry points, because they're what make it fast. You can describe a part in plain English and the AI builds the model for you. You can upload a CAD file or even a photo, and it measures the geometry and infers the process. Or, if you prefer, you fill in the form yourself. Whichever door you come in, you land on the same engine — twenty-one engineering-grade commodity models underneath. The rest of the cards are the things that make it a real tool rather than a calculator: assembly roll-ups, learning curves for volume pricing, supplier-quote comparison, DFM scoring, twenty regions with automatic currency, and full export. The theme to notice is that the AI is doing the reading and interpreting — the cost maths stays deterministic underneath.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feature that gets the biggest reaction in a live demo, so let me walk the flow on the right. Someone types a description — here, a four-layer PCB with an ENIG finish, ten thousand a year, made in the UK. The AI reads that, fills in the whole model — layer count, finish premium, test method, the NRE spread over the batch — and comes back with four pounds eighteen a board, plus a manufacturability score. The thing I always stress at this point: the AI didn't invent that price. It interpreted the words into engineering inputs, and the deterministic engine did the arithmetic. So every one of those assumptions is visible and editable — nothing is a black box. What it buys you is zero manual form-filling, it works for any commodity, and there's a full audit trail behind every figure. That last point is what makes the number safe to take into a supplier meeting.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automation path, and there's one design decision here I really want to land: the geometry is the ground truth. When you upload a STEP file, a proper CAD kernel measures it — the real volume, the bounding box, the B-rep faces, the holes and pockets. The AI then interprets that measured geometry; it doesn't get to overrule it. If the AI ever suggests a number that contradicts the measured volume or weight, we treat that as a bug and the sanity layer catches it. A quick note for the technically minded, because it matters for deployment: measuring STEP and IGES files needs a heavyweight geometry kernel, and we now ship that inside the deployed container — the build that carries it is verified in our continuous-integration pipeline on every change, so it isn't a 'works on my laptop' story. STL files take a lighter, pure-code fast path. Net effect: geometry to a full should-cost in minutes, ten times faster than doing the routing by hand, with the machine doing the tedious measurement and a human still owning the judgement.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3D CAD viewer, and it's now genuinely engineering-grade — it lives inside CostVision, in the browser, so nobody needs a separate CAD seat just to look at a part. Left to right: full navigation with a view-cube and smooth zoom that no longer shatters on big automotive parts; a display and DFM column that colours faces by type, colours each component of an assembly, and heat-maps draft and wall thickness — those last two are pure manufacturability signals. Then structure and assembly: a proper collapsible tree, section planes, exploded views along any axis, and the ability to move or rotate a single component in isolation. Measurement is exact B-rep, not mesh approximation, and it exports. And the whole thing has SaaS-grade polish — docked tree, draggable tools, a clean icon set. But the punchline is the box on the right: everything the viewer measures is the same geometry that feeds the cost engine, which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to dwell on, because it's the heart of the automation. On the left is exactly what the tool pulls off the CAD model with no human typing anything in — and next to each item, the cost driver it feeds. Volume and weight come straight from the CAD kernel, so the material bucket is exact, not a guess — and weight is just volume times the density of whichever material you pick. The bounding box sizes the machine and the stock. Body count gives you assembly and BOM scope. The hole-and-boss table becomes drilling and boring operations. Wall thickness tells you if a part can even be moulded or cast. Draft analysis flags undercuts that need slides in the tool. Face areas drive machining and paint area. And there's a first-cut cycle-time estimate. On the right is a real worked example — the gear we just costed: two kilos of gear steel, captured automatically, costing about twenty-two pounds ex-works from India, all in sterling. And the box underneath is the guardrail that makes all of this trustworthy in front of a supplier: the AI never sets the price. It classifies; the engine does deterministic arithmetic on the measured geometry, and every rate traces back to the library. That's the difference between a defensible should-cost and a guess.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really just to show that all three entry points — plain English, CAD upload, or manual entry — funnel into the same eight-step flow. I won't read the boxes out; the shape is what matters. The important beat is in the middle: steps three and four, where the AI extracts the features and sequences the operations. That's the part that used to take an experienced cost engineer days, and it's where most of the time saving comes from. Everything after it — the eight-bucket calculation, the insights, the DFM check, the export — is deterministic and fast. So the headline is the first tag at the bottom: minutes, not weeks, but with auditable assumptions the whole way through. Speed without a black box.</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Breadth is the point of this slide. Twenty-one commodities, from CNC machining and casting and forging, through the whole plastics family — injection, blow, extrusion, thermoforming, rotomoulding — into rubber and composites, then electronics: PCB fabrication, assembly, wiring harness, and body-in-white. Why does that matter? Because a real product isn't one process. A door module is stampings plus a harness plus a PCBA plus paint. If your costing tool only does machining, you're stuck the moment the part is plastic. CostVision costs all of them with the same rigour and the same eight-bucket structure, which is exactly what lets the assembly roll-up add them together into one number. And the last tile is the AI agent — the natural-language front door into any of the other twenty.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anyone in the room is going to be sceptical, it's usually about depth — is this a real engineering model, or a spreadsheet with a nice front end? This slide is the answer. Underneath every commodity there's a material database with the real grades and FX-adjusted prices, a machine and rate library you can edit per project and region, and proper routing logic — each operation has a machine, a cycle time, an OEE, a setup, a labour grade. Yield and scrap are modelled, not guessed. Tooling and NRE are amortised over real volume with tool-life curves. The two I'd draw a manager's eye to are benchmarking and the learning curve. Every cost element is checked against published benchmark ranges, so an outlier gets flagged rather than quietly shipped. And Wright's Law lets you project cost as volume grows — which is exactly the conversation you need for a long-term agreement. This is the layer that makes the output defensible rather than just plausible.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features that turn a cost number into commercial leverage. Top left, the learning curve — as volume doubles, cost comes down by a set percentage, so you can quote the cost at year-three volume, not just the prototype cost. Below it, the assembly roll-up I keep coming back to: build a multi-level BOM from any mix of commodities and get a total with the per-component breakdown intact. On the right is the negotiation toolkit. Log a supplier's quote and the tool tells you, in plain terms, 'this supplier is eighteen percent above should-cost,' and hands you the talking points to say so. The tornado chart shows which inputs actually move the number, so you know what to validate before you sit down. And scenarios let you hold baseline, target, and stretch side by side. This is where the tool stops being an estimator and starts being a negotiator's brief.</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thing I was careful about here: the DFM and DFA layer runs after the should-cost, and it never touches the calculation. It reads the finished cost structure and asks manufacturing questions of it. That separation is deliberate — I didn't want a 'design advice' feature quietly nudging the price. What it gives you is a manufacturability score and an assembly-efficiency score out of ten, and then something more useful than a grade: a ranked list of levers with rough savings against each. Automate a high-labour operation, five to twenty percent. Move to a near-net shape, five to fifteen percent on material. Increase volume to dilute the tooling NRE — quick win, low risk. And if you want more than the rule-based read, there's a deep-analysis button that has the AI write the root-cause commentary and a negotiation strategy. So the cost number comes with a 'here's how to make it cheaper' attached — at the concept stage, where it's still free to act on. One important update since the last time I showed you this. Your engineering team told me, quite bluntly, that these findings were too generic — that reading the cost and guessing backwards isn't good enough. They were right. So there's now a second layer underneath this one that opens the 3D model itself and measures every face on the part. Nineteen rules, and every one of them cites a published standard rather than my opinion. It doesn't say 'tooling looks high' — it says which specific faces on the part cannot come out of the die, and you can click one and see it highlighted on the model. That is the difference between a hint and an argument you can take to a supplier.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part made in Poland doesn't just have cheaper labour — it has a different machine rate, different energy cost, a different currency. Getting that right by hand is where manual should-costs quietly go wrong. Here you pick the region and everything reprices at once: the four labour tiers, electricity and gas, machine rates, material prices, and the display currency flips automatically — pick China and you're reading yuan. And because the AI Insights tab estimates the same part across all twenty regions at once, you get instant regional arbitrage: 'this is X in the UK, Y in Mexico, Z in Vietnam' — a make-versus-buy answer backed by rates, not a gut feel. Every rate is editable too, so if you have a real supplier quote or a fresher market price, you drop it in and the model uses 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to slow down on if the room is new to the word 'agentic', because there are really two levels and people run them together. On the left is agentic AI in the everyday sense: the AI takes actions and uses tools, but you started the task and you stay in the loop. You describe a part and it builds the cost model; you upload a CAD file and it reads the geometry and picks the process; you open a part and it drafts the negotiation argument; you ask a question and it answers from our own rate data, with citations. Genuinely useful — but it's waiting for you to ask. On the right is the step that surprises people: autonomous agentic AI, where nobody is at the keyboard. A monitor runs on our server on a schedule, compares what we pay against what things should cost, and opens findings on its own — that's the half a million pounds a year it surfaced unattended in the demo. The self-audit re-checks every estimate for known mistakes and corrects them without being asked; the calibration keeps learning from logged quotes and watching for drift; the agent even re-prioritises its own queue toward the findings that actually convert to cash. The line at the bottom is the one I'd underline: the difference between the two columns is only who starts the action — in both, the human sets the boundaries and every action stays glass-box and auditable. Autonomy here never means the AI quietly sets a price; it means it does the watching for us, and shows its working the moment it finds something worth acting 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I most want to talk you through, because it's what's new this year and it's the honest answer to 'can I trust the number?' Earlier versions of this tool were confident and sometimes wrong. So I built a self-audit — a deterministic layer that re-checks every estimate against a list of mistakes I've actually seen it make. Did it treat a hollow part as a solid casting? Is the machining time longer than it would physically take to finish the part? Does the weight disagree with the CAD? When it finds one of those, it applies a bounded correction and shows its working. Crucially, the AI is never allowed to overrule the measured geometry — the geometry wins. Alongside that, the tool now learns. You can bulk-import your real supplier quotes, and it builds per-segment correction factors and a confidence band, so the estimate gets tighter as your own history grows. And the machine-sizing that used to be hard-coded for a couple of processes is now universal — it picks the right press or tonnage for the part across commodities. The right-hand side is the proof, and I'm deliberately showing you the failures. Five real automotive CAD parts, every one mis-costed on the first pass. A fuel tank that came out at two hundred and seventeen pounds because it was treated as a casting — the audit spotted it's a thin hollow part, re-routed it to blow moulding, and it dropped to twenty-five. A servo horn that priced from a solid billet at three hundred and thirty-three pounds, corrected to six forty on a net shape. A stub axle that was mis-classified until the audit forced it to forged steel. And a seat cross-member that used to crash the engine outright and now runs clean at a pound eleven. Underneath all of it: just over a thousand automated tests, the self-audit on every estimate, and the CAD engine shipping in a container we build-test in CI. That's what lets me stand here and say the number is defensible — it's checked, it's proven, and it's honest about what it got wrong.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make the last slide concrete, here's a spread of real outputs across the commodities on a luxury-SUV programme — every figure came out of the engine, not off a rate card. I won't read the table; I'd rather you notice the pattern in the two right-hand columns. Each part comes with an AI insight that points at the biggest lever and a DFM flag that tells you whether it's clean or needs attention. The machined bracket says process is forty-four percent, go near-net-shape and save eight pounds. The wiring harness says labour is over half, so it's an automation candidate. The sheet-metal door flags that blank nesting is under sixty-five percent. That's the whole pitch in one table: not just a price, but a costed price with a reason and a next action attached to it — consistently, across ten very different processes.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cost number that lives in one engineer's head isn't worth much, so this slide is about getting it out and shared. The Excel export is six sheets — not just the total, but the full build-up: material, every operation, the rate library snapshot, and a traceability sheet that records the assumptions and the AI notes with a version and date. That last sheet is what makes an estimate auditable months later. The PDF is the boardroom version, cover photo to DFM recommendations. And it's genuinely multi-user — scenarios live in a database with proper authentication, so the whole team works off one baseline instead of emailing spreadsheets around and losing track of which version is current. It scales from one engineer to a global team without changing how it works.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translate all of that into the numbers a manager actually cares about. Speed first: what took two to four weeks now takes minutes. That's the seventy-to-ninety percent time reduction, and it means engineers spend their day on decisions instead of spreadsheets. On accuracy, be precise: the engine's arithmetic matches a hand calculation to a hundredth of a percent, but no estimate has yet been compared with a price we actually paid. That comparison is what the Log Actual button builds, part by part, and it is the number to quote once it exists. But the line that pays for the whole thing is negotiation power. When you walk into a supplier meeting with a defensible floor price, a fifteen-to-twenty-five percent reduction is a realistic ask — and the far-right stat makes it concrete: on five hundred million of spend, a three percent improvement is fifteen million pounds. This tool doesn't need to be perfect to pay for itself many times over; it needs to be defensible and fast, and it is both.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where does that leave us. The left column is not a wish list — it's live today. Twenty-one commodities, the AI front doors, and this year's additions: the self-audit on every estimate, learning from your actuals, universal machine-sizing, and the whole thing deployable to the cloud with the CAD engine and a thousand-plus tests behind it. That's a working platform, not a prototype. The right-hand column is honest about what's next. Near-term it's about fitting into your existing systems — PLM and ERP connectors, a cost-target waterfall for programme teams. Further out, the calibration learns automatically from a live actuals feed, it starts generating the RFQ itself, and eventually a digital-twin cost model that updates as the design moves. But I don't want the roadmap to distract from the ask, which is small and concrete. It's at the bottom of the box: a four-to-six week pilot on two or three commodity families, one programme team, measured against real supplier quotes, with the success bar set at finding at least fifteen percent per part. If it clears that bar on your parts, the business case makes itself. That's what I'd like to agree today. Thank you — I'm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738731" y="777240"/>
            <a:ext cx="8714232" cy="3017520"/>
          </a:xfrm>
          <a:prstGeom prst="rect">
            <a:avLst/>
          </a:prstGeom>
          <a:solidFill>
            <a:srgbClr val="1E40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73152"/>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914400"/>
            <a:ext cx="10972800" cy="1280160"/>
          </a:xfrm>
          <a:prstGeom prst="rect">
            <a:avLst/>
          </a:prstGeom>
          <a:noFill/>
        </p:spPr>
        <p:txBody>
          <a:bodyPr wrap="square">
            <a:spAutoFit/>
          </a:bodyPr>
          <a:lstStyle/>
          <a:p>
            <a:pPr algn="ctr"/>
            <a:r>
              <a:rPr sz="7200" b="1" i="0">
                <a:solidFill>
                  <a:srgbClr val="FFFFFF"/>
                </a:solidFill>
                <a:latin typeface="Cambria"/>
              </a:rPr>
              <a:t>CostVision</a:t>
            </a:r>
          </a:p>
        </p:txBody>
      </p:sp>
      <p:sp>
        <p:nvSpPr>
          <p:cNvPr id="6" name="Rectangle 5"/>
          <p:cNvSpPr/>
          <p:nvPr/>
        </p:nvSpPr>
        <p:spPr>
          <a:xfrm>
            <a:off x="4114800" y="2240280"/>
            <a:ext cx="4023360" cy="54864"/>
          </a:xfrm>
          <a:prstGeom prst="rect">
            <a:avLst/>
          </a:prstGeom>
          <a:solidFill>
            <a:srgbClr val="CADC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2331720"/>
            <a:ext cx="10972800" cy="548640"/>
          </a:xfrm>
          <a:prstGeom prst="rect">
            <a:avLst/>
          </a:prstGeom>
          <a:noFill/>
        </p:spPr>
        <p:txBody>
          <a:bodyPr wrap="square">
            <a:spAutoFit/>
          </a:bodyPr>
          <a:lstStyle/>
          <a:p>
            <a:pPr algn="ctr"/>
            <a:r>
              <a:rPr sz="1700" b="0" i="0">
                <a:solidFill>
                  <a:srgbClr val="CADCFC"/>
                </a:solidFill>
              </a:rPr>
              <a:t>AI-Powered Should-Cost Intelligence for Modern Engineering</a:t>
            </a:r>
          </a:p>
        </p:txBody>
      </p:sp>
      <p:sp>
        <p:nvSpPr>
          <p:cNvPr id="8" name="TextBox 7"/>
          <p:cNvSpPr txBox="1"/>
          <p:nvPr/>
        </p:nvSpPr>
        <p:spPr>
          <a:xfrm>
            <a:off x="548640" y="2926080"/>
            <a:ext cx="10972800" cy="411480"/>
          </a:xfrm>
          <a:prstGeom prst="rect">
            <a:avLst/>
          </a:prstGeom>
          <a:noFill/>
        </p:spPr>
        <p:txBody>
          <a:bodyPr wrap="square">
            <a:spAutoFit/>
          </a:bodyPr>
          <a:lstStyle/>
          <a:p>
            <a:pPr algn="ctr"/>
            <a:r>
              <a:rPr sz="1300" b="1" i="0">
                <a:solidFill>
                  <a:srgbClr val="FFFFFF"/>
                </a:solidFill>
              </a:rPr>
              <a:t>Designed &amp; Developed by  Avinash Bhosale</a:t>
            </a:r>
          </a:p>
        </p:txBody>
      </p:sp>
      <p:sp>
        <p:nvSpPr>
          <p:cNvPr id="9" name="TextBox 8"/>
          <p:cNvSpPr txBox="1"/>
          <p:nvPr/>
        </p:nvSpPr>
        <p:spPr>
          <a:xfrm>
            <a:off x="548640" y="3337560"/>
            <a:ext cx="10972800" cy="320040"/>
          </a:xfrm>
          <a:prstGeom prst="rect">
            <a:avLst/>
          </a:prstGeom>
          <a:noFill/>
        </p:spPr>
        <p:txBody>
          <a:bodyPr wrap="square">
            <a:spAutoFit/>
          </a:bodyPr>
          <a:lstStyle/>
          <a:p>
            <a:pPr algn="ctr"/>
            <a:r>
              <a:rPr sz="1000" b="0" i="0">
                <a:solidFill>
                  <a:srgbClr val="8FA3CC"/>
                </a:solidFill>
              </a:rPr>
              <a:t>Cost Engineering &amp; Digital Innovation</a:t>
            </a:r>
          </a:p>
        </p:txBody>
      </p:sp>
      <p:sp>
        <p:nvSpPr>
          <p:cNvPr id="10" name="Rectangle 9"/>
          <p:cNvSpPr/>
          <p:nvPr/>
        </p:nvSpPr>
        <p:spPr>
          <a:xfrm>
            <a:off x="914400" y="4160520"/>
            <a:ext cx="1920240" cy="329184"/>
          </a:xfrm>
          <a:prstGeom prst="rect">
            <a:avLst/>
          </a:prstGeom>
          <a:solidFill>
            <a:srgbClr val="FFFFFF"/>
          </a:solidFill>
          <a:ln w="10160">
            <a:solidFill>
              <a:srgbClr val="2A7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7552" y="4178808"/>
            <a:ext cx="1783080" cy="292608"/>
          </a:xfrm>
          <a:prstGeom prst="rect">
            <a:avLst/>
          </a:prstGeom>
          <a:noFill/>
        </p:spPr>
        <p:txBody>
          <a:bodyPr wrap="square">
            <a:spAutoFit/>
          </a:bodyPr>
          <a:lstStyle/>
          <a:p>
            <a:pPr algn="ctr"/>
            <a:r>
              <a:rPr sz="800" b="1" i="0">
                <a:solidFill>
                  <a:srgbClr val="2A7F50"/>
                </a:solidFill>
              </a:rPr>
              <a:t>21 Commodity Models</a:t>
            </a:r>
          </a:p>
        </p:txBody>
      </p:sp>
      <p:sp>
        <p:nvSpPr>
          <p:cNvPr id="12" name="Rectangle 11"/>
          <p:cNvSpPr/>
          <p:nvPr/>
        </p:nvSpPr>
        <p:spPr>
          <a:xfrm>
            <a:off x="3108960" y="4160520"/>
            <a:ext cx="1920240" cy="329184"/>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182112" y="4178808"/>
            <a:ext cx="1783080" cy="292608"/>
          </a:xfrm>
          <a:prstGeom prst="rect">
            <a:avLst/>
          </a:prstGeom>
          <a:noFill/>
        </p:spPr>
        <p:txBody>
          <a:bodyPr wrap="square">
            <a:spAutoFit/>
          </a:bodyPr>
          <a:lstStyle/>
          <a:p>
            <a:pPr algn="ctr"/>
            <a:r>
              <a:rPr sz="800" b="1" i="0">
                <a:solidFill>
                  <a:srgbClr val="1D6FB8"/>
                </a:solidFill>
              </a:rPr>
              <a:t>AI Agent (NLP)</a:t>
            </a:r>
          </a:p>
        </p:txBody>
      </p:sp>
      <p:sp>
        <p:nvSpPr>
          <p:cNvPr id="14" name="Rectangle 13"/>
          <p:cNvSpPr/>
          <p:nvPr/>
        </p:nvSpPr>
        <p:spPr>
          <a:xfrm>
            <a:off x="5303520" y="4160520"/>
            <a:ext cx="1920240" cy="329184"/>
          </a:xfrm>
          <a:prstGeom prst="rect">
            <a:avLst/>
          </a:prstGeom>
          <a:solidFill>
            <a:srgbClr val="FFFFFF"/>
          </a:solidFill>
          <a:ln w="10160">
            <a:solidFill>
              <a:srgbClr val="6B3F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76672" y="4178808"/>
            <a:ext cx="1783080" cy="292608"/>
          </a:xfrm>
          <a:prstGeom prst="rect">
            <a:avLst/>
          </a:prstGeom>
          <a:noFill/>
        </p:spPr>
        <p:txBody>
          <a:bodyPr wrap="square">
            <a:spAutoFit/>
          </a:bodyPr>
          <a:lstStyle/>
          <a:p>
            <a:pPr algn="ctr"/>
            <a:r>
              <a:rPr sz="800" b="1" i="0">
                <a:solidFill>
                  <a:srgbClr val="6B3FA0"/>
                </a:solidFill>
              </a:rPr>
              <a:t>CAD-to-Cost AI</a:t>
            </a:r>
          </a:p>
        </p:txBody>
      </p:sp>
      <p:sp>
        <p:nvSpPr>
          <p:cNvPr id="16" name="Rectangle 15"/>
          <p:cNvSpPr/>
          <p:nvPr/>
        </p:nvSpPr>
        <p:spPr>
          <a:xfrm>
            <a:off x="7498079" y="4160520"/>
            <a:ext cx="1920240" cy="329184"/>
          </a:xfrm>
          <a:prstGeom prst="rect">
            <a:avLst/>
          </a:prstGeom>
          <a:solidFill>
            <a:srgbClr val="FFFFFF"/>
          </a:solidFill>
          <a:ln w="10160">
            <a:solidFill>
              <a:srgbClr val="9965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71231" y="4178808"/>
            <a:ext cx="1783080" cy="292608"/>
          </a:xfrm>
          <a:prstGeom prst="rect">
            <a:avLst/>
          </a:prstGeom>
          <a:noFill/>
        </p:spPr>
        <p:txBody>
          <a:bodyPr wrap="square">
            <a:spAutoFit/>
          </a:bodyPr>
          <a:lstStyle/>
          <a:p>
            <a:pPr algn="ctr"/>
            <a:r>
              <a:rPr sz="800" b="1" i="0">
                <a:solidFill>
                  <a:srgbClr val="99651A"/>
                </a:solidFill>
              </a:rPr>
              <a:t>DFM / DFA Layer</a:t>
            </a:r>
          </a:p>
        </p:txBody>
      </p:sp>
      <p:sp>
        <p:nvSpPr>
          <p:cNvPr id="18" name="Rectangle 17"/>
          <p:cNvSpPr/>
          <p:nvPr/>
        </p:nvSpPr>
        <p:spPr>
          <a:xfrm>
            <a:off x="9692640" y="4160520"/>
            <a:ext cx="1920240" cy="329184"/>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765792" y="4178808"/>
            <a:ext cx="1783080" cy="292608"/>
          </a:xfrm>
          <a:prstGeom prst="rect">
            <a:avLst/>
          </a:prstGeom>
          <a:noFill/>
        </p:spPr>
        <p:txBody>
          <a:bodyPr wrap="square">
            <a:spAutoFit/>
          </a:bodyPr>
          <a:lstStyle/>
          <a:p>
            <a:pPr algn="ctr"/>
            <a:r>
              <a:rPr sz="800" b="1" i="0">
                <a:solidFill>
                  <a:srgbClr val="1D6FB8"/>
                </a:solidFill>
              </a:rPr>
              <a:t>20 Regions · 10 FX</a:t>
            </a:r>
          </a:p>
        </p:txBody>
      </p:sp>
      <p:sp>
        <p:nvSpPr>
          <p:cNvPr id="20" name="Rectangle 19"/>
          <p:cNvSpPr/>
          <p:nvPr/>
        </p:nvSpPr>
        <p:spPr>
          <a:xfrm>
            <a:off x="1645920" y="4617720"/>
            <a:ext cx="2286000" cy="301752"/>
          </a:xfrm>
          <a:prstGeom prst="rect">
            <a:avLst/>
          </a:prstGeom>
          <a:solidFill>
            <a:srgbClr val="FFFFFF"/>
          </a:solidFill>
          <a:ln w="10160">
            <a:solidFill>
              <a:srgbClr val="2A7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719072" y="4636008"/>
            <a:ext cx="2148840" cy="265176"/>
          </a:xfrm>
          <a:prstGeom prst="rect">
            <a:avLst/>
          </a:prstGeom>
          <a:noFill/>
        </p:spPr>
        <p:txBody>
          <a:bodyPr wrap="square">
            <a:spAutoFit/>
          </a:bodyPr>
          <a:lstStyle/>
          <a:p>
            <a:pPr algn="ctr"/>
            <a:r>
              <a:rPr sz="750" b="1" i="0">
                <a:solidFill>
                  <a:srgbClr val="2A7F50"/>
                </a:solidFill>
              </a:rPr>
              <a:t>Assembly BOM Rollup</a:t>
            </a:r>
          </a:p>
        </p:txBody>
      </p:sp>
      <p:sp>
        <p:nvSpPr>
          <p:cNvPr id="22" name="Rectangle 21"/>
          <p:cNvSpPr/>
          <p:nvPr/>
        </p:nvSpPr>
        <p:spPr>
          <a:xfrm>
            <a:off x="3840480" y="4617720"/>
            <a:ext cx="2286000" cy="301752"/>
          </a:xfrm>
          <a:prstGeom prst="rect">
            <a:avLst/>
          </a:prstGeom>
          <a:solidFill>
            <a:srgbClr val="FFFFFF"/>
          </a:solidFill>
          <a:ln w="10160">
            <a:solidFill>
              <a:srgbClr val="6B3F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913632" y="4636008"/>
            <a:ext cx="2148840" cy="265176"/>
          </a:xfrm>
          <a:prstGeom prst="rect">
            <a:avLst/>
          </a:prstGeom>
          <a:noFill/>
        </p:spPr>
        <p:txBody>
          <a:bodyPr wrap="square">
            <a:spAutoFit/>
          </a:bodyPr>
          <a:lstStyle/>
          <a:p>
            <a:pPr algn="ctr"/>
            <a:r>
              <a:rPr sz="750" b="1" i="0">
                <a:solidFill>
                  <a:srgbClr val="6B3FA0"/>
                </a:solidFill>
              </a:rPr>
              <a:t>Wright's Law Learning Curve</a:t>
            </a:r>
          </a:p>
        </p:txBody>
      </p:sp>
      <p:sp>
        <p:nvSpPr>
          <p:cNvPr id="24" name="Rectangle 23"/>
          <p:cNvSpPr/>
          <p:nvPr/>
        </p:nvSpPr>
        <p:spPr>
          <a:xfrm>
            <a:off x="6309360" y="4617720"/>
            <a:ext cx="2286000" cy="301752"/>
          </a:xfrm>
          <a:prstGeom prst="rect">
            <a:avLst/>
          </a:prstGeom>
          <a:solidFill>
            <a:srgbClr val="FFFFFF"/>
          </a:solidFill>
          <a:ln w="10160">
            <a:solidFill>
              <a:srgbClr val="9965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82512" y="4636008"/>
            <a:ext cx="2148840" cy="265176"/>
          </a:xfrm>
          <a:prstGeom prst="rect">
            <a:avLst/>
          </a:prstGeom>
          <a:noFill/>
        </p:spPr>
        <p:txBody>
          <a:bodyPr wrap="square">
            <a:spAutoFit/>
          </a:bodyPr>
          <a:lstStyle/>
          <a:p>
            <a:pPr algn="ctr"/>
            <a:r>
              <a:rPr sz="750" b="1" i="0">
                <a:solidFill>
                  <a:srgbClr val="99651A"/>
                </a:solidFill>
              </a:rPr>
              <a:t>Supplier Quote Comparison</a:t>
            </a:r>
          </a:p>
        </p:txBody>
      </p:sp>
      <p:sp>
        <p:nvSpPr>
          <p:cNvPr id="26" name="Rectangle 25"/>
          <p:cNvSpPr/>
          <p:nvPr/>
        </p:nvSpPr>
        <p:spPr>
          <a:xfrm>
            <a:off x="8686800" y="4617720"/>
            <a:ext cx="2286000" cy="30175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759952" y="4636008"/>
            <a:ext cx="2148840" cy="265176"/>
          </a:xfrm>
          <a:prstGeom prst="rect">
            <a:avLst/>
          </a:prstGeom>
          <a:noFill/>
        </p:spPr>
        <p:txBody>
          <a:bodyPr wrap="square">
            <a:spAutoFit/>
          </a:bodyPr>
          <a:lstStyle/>
          <a:p>
            <a:pPr algn="ctr"/>
            <a:r>
              <a:rPr sz="750" b="1" i="0">
                <a:solidFill>
                  <a:srgbClr val="1D6FB8"/>
                </a:solidFill>
              </a:rPr>
              <a:t>Cloud Team Sync</a:t>
            </a:r>
          </a:p>
        </p:txBody>
      </p:sp>
      <p:sp>
        <p:nvSpPr>
          <p:cNvPr id="28" name="Rectangle 27"/>
          <p:cNvSpPr/>
          <p:nvPr/>
        </p:nvSpPr>
        <p:spPr>
          <a:xfrm>
            <a:off x="0" y="6446520"/>
            <a:ext cx="12191695" cy="7315"/>
          </a:xfrm>
          <a:prstGeom prst="rect">
            <a:avLst/>
          </a:prstGeom>
          <a:solidFill>
            <a:srgbClr val="1E40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6492240"/>
            <a:ext cx="11460175" cy="320040"/>
          </a:xfrm>
          <a:prstGeom prst="rect">
            <a:avLst/>
          </a:prstGeom>
          <a:noFill/>
        </p:spPr>
        <p:txBody>
          <a:bodyPr wrap="square">
            <a:spAutoFit/>
          </a:bodyPr>
          <a:lstStyle/>
          <a:p>
            <a:pPr algn="ctr"/>
            <a:r>
              <a:rPr sz="750" b="0" i="0">
                <a:solidFill>
                  <a:srgbClr val="8FA3CC"/>
                </a:solidFill>
              </a:rPr>
              <a:t>CONFIDENTIAL — Management Review  |  July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86F7D"/>
                </a:solidFill>
              </a:rPr>
              <a:t>SLIDE 02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THE CHALLENGE</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Why CostVision? Traditional Costing is Broken</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Manual effort, weeks of delay, and supplier dependency cost organisations millions annually.</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86F7D"/>
                </a:solidFill>
              </a:rPr>
              <a:t>CostVision — AI-Powered Should-Cost Intelligence  |  Avinash Bhosale  |  Confidential</a:t>
            </a:r>
          </a:p>
        </p:txBody>
      </p:sp>
      <p:sp>
        <p:nvSpPr>
          <p:cNvPr id="11" name="Rectangle 10"/>
          <p:cNvSpPr/>
          <p:nvPr/>
        </p:nvSpPr>
        <p:spPr>
          <a:xfrm>
            <a:off x="411480" y="1828800"/>
            <a:ext cx="3716426" cy="175107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28800"/>
            <a:ext cx="54864" cy="1751076"/>
          </a:xfrm>
          <a:prstGeom prst="rect">
            <a:avLst/>
          </a:prstGeom>
          <a:solidFill>
            <a:srgbClr val="B03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1920240"/>
            <a:ext cx="3533546" cy="310896"/>
          </a:xfrm>
          <a:prstGeom prst="rect">
            <a:avLst/>
          </a:prstGeom>
          <a:noFill/>
        </p:spPr>
        <p:txBody>
          <a:bodyPr wrap="square">
            <a:spAutoFit/>
          </a:bodyPr>
          <a:lstStyle/>
          <a:p>
            <a:pPr algn="l"/>
            <a:r>
              <a:rPr sz="1050" b="1" i="0">
                <a:solidFill>
                  <a:srgbClr val="16325C"/>
                </a:solidFill>
              </a:rPr>
              <a:t>⏱  Weeks, Not Minutes</a:t>
            </a:r>
          </a:p>
        </p:txBody>
      </p:sp>
      <p:sp>
        <p:nvSpPr>
          <p:cNvPr id="14" name="TextBox 13"/>
          <p:cNvSpPr txBox="1"/>
          <p:nvPr/>
        </p:nvSpPr>
        <p:spPr>
          <a:xfrm>
            <a:off x="539496" y="2212848"/>
            <a:ext cx="3533546" cy="1257300"/>
          </a:xfrm>
          <a:prstGeom prst="rect">
            <a:avLst/>
          </a:prstGeom>
          <a:noFill/>
        </p:spPr>
        <p:txBody>
          <a:bodyPr wrap="square">
            <a:spAutoFit/>
          </a:bodyPr>
          <a:lstStyle/>
          <a:p>
            <a:pPr algn="l"/>
            <a:r>
              <a:rPr sz="950" b="0" i="0">
                <a:solidFill>
                  <a:srgbClr val="3A4356"/>
                </a:solidFill>
              </a:rPr>
              <a:t>Manual should-cost takes 2–4 weeks per part. Sourcing decisions stall. Programme timelines slip.</a:t>
            </a:r>
          </a:p>
        </p:txBody>
      </p:sp>
      <p:sp>
        <p:nvSpPr>
          <p:cNvPr id="15" name="Rectangle 14"/>
          <p:cNvSpPr/>
          <p:nvPr/>
        </p:nvSpPr>
        <p:spPr>
          <a:xfrm>
            <a:off x="4237634" y="1828800"/>
            <a:ext cx="3716426" cy="175107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37634" y="1828800"/>
            <a:ext cx="54864" cy="1751076"/>
          </a:xfrm>
          <a:prstGeom prst="rect">
            <a:avLst/>
          </a:prstGeom>
          <a:solidFill>
            <a:srgbClr val="9965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65650" y="1920240"/>
            <a:ext cx="3533546"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Supplier Dependency</a:t>
            </a:r>
          </a:p>
        </p:txBody>
      </p:sp>
      <p:sp>
        <p:nvSpPr>
          <p:cNvPr id="18" name="TextBox 17"/>
          <p:cNvSpPr txBox="1"/>
          <p:nvPr/>
        </p:nvSpPr>
        <p:spPr>
          <a:xfrm>
            <a:off x="4365650" y="2212848"/>
            <a:ext cx="3533546" cy="1257300"/>
          </a:xfrm>
          <a:prstGeom prst="rect">
            <a:avLst/>
          </a:prstGeom>
          <a:noFill/>
        </p:spPr>
        <p:txBody>
          <a:bodyPr wrap="square">
            <a:spAutoFit/>
          </a:bodyPr>
          <a:lstStyle/>
          <a:p>
            <a:pPr algn="l"/>
            <a:r>
              <a:rPr sz="950" b="0" i="0">
                <a:solidFill>
                  <a:srgbClr val="3A4356"/>
                </a:solidFill>
              </a:rPr>
              <a:t>Without independent cost intelligence, engineers accept quotes at face value — no leverage, no transparency.</a:t>
            </a:r>
          </a:p>
        </p:txBody>
      </p:sp>
      <p:sp>
        <p:nvSpPr>
          <p:cNvPr id="19" name="Rectangle 18"/>
          <p:cNvSpPr/>
          <p:nvPr/>
        </p:nvSpPr>
        <p:spPr>
          <a:xfrm>
            <a:off x="8063788" y="1828800"/>
            <a:ext cx="3716426" cy="175107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63788" y="1828800"/>
            <a:ext cx="54864" cy="1751076"/>
          </a:xfrm>
          <a:prstGeom prst="rect">
            <a:avLst/>
          </a:prstGeom>
          <a:solidFill>
            <a:srgbClr val="B03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91804" y="1920240"/>
            <a:ext cx="3533546"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Inconsistent Methodology</a:t>
            </a:r>
          </a:p>
        </p:txBody>
      </p:sp>
      <p:sp>
        <p:nvSpPr>
          <p:cNvPr id="22" name="TextBox 21"/>
          <p:cNvSpPr txBox="1"/>
          <p:nvPr/>
        </p:nvSpPr>
        <p:spPr>
          <a:xfrm>
            <a:off x="8191804" y="2212848"/>
            <a:ext cx="3533546" cy="1257300"/>
          </a:xfrm>
          <a:prstGeom prst="rect">
            <a:avLst/>
          </a:prstGeom>
          <a:noFill/>
        </p:spPr>
        <p:txBody>
          <a:bodyPr wrap="square">
            <a:spAutoFit/>
          </a:bodyPr>
          <a:lstStyle/>
          <a:p>
            <a:pPr algn="l"/>
            <a:r>
              <a:rPr sz="950" b="0" i="0">
                <a:solidFill>
                  <a:srgbClr val="3A4356"/>
                </a:solidFill>
              </a:rPr>
              <a:t>Every engineer calculates cost differently. No standard model. No auditable assumptions. No cross-team comparability.</a:t>
            </a:r>
          </a:p>
        </p:txBody>
      </p:sp>
      <p:sp>
        <p:nvSpPr>
          <p:cNvPr id="23" name="Rectangle 22"/>
          <p:cNvSpPr/>
          <p:nvPr/>
        </p:nvSpPr>
        <p:spPr>
          <a:xfrm>
            <a:off x="411480" y="3689604"/>
            <a:ext cx="3716426" cy="175107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3689604"/>
            <a:ext cx="54864" cy="1751076"/>
          </a:xfrm>
          <a:prstGeom prst="rect">
            <a:avLst/>
          </a:prstGeom>
          <a:solidFill>
            <a:srgbClr val="9965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9496" y="3781044"/>
            <a:ext cx="3533546"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No Regional Visibility</a:t>
            </a:r>
          </a:p>
        </p:txBody>
      </p:sp>
      <p:sp>
        <p:nvSpPr>
          <p:cNvPr id="26" name="TextBox 25"/>
          <p:cNvSpPr txBox="1"/>
          <p:nvPr/>
        </p:nvSpPr>
        <p:spPr>
          <a:xfrm>
            <a:off x="539496" y="4073652"/>
            <a:ext cx="3533546" cy="1257300"/>
          </a:xfrm>
          <a:prstGeom prst="rect">
            <a:avLst/>
          </a:prstGeom>
          <a:noFill/>
        </p:spPr>
        <p:txBody>
          <a:bodyPr wrap="square">
            <a:spAutoFit/>
          </a:bodyPr>
          <a:lstStyle/>
          <a:p>
            <a:pPr algn="l"/>
            <a:r>
              <a:rPr sz="950" b="0" i="0">
                <a:solidFill>
                  <a:srgbClr val="3A4356"/>
                </a:solidFill>
              </a:rPr>
              <a:t>Labour, machine, material and energy rates vary dramatically by country. Manual adjustment is error-prone.</a:t>
            </a:r>
          </a:p>
        </p:txBody>
      </p:sp>
      <p:sp>
        <p:nvSpPr>
          <p:cNvPr id="27" name="Rectangle 26"/>
          <p:cNvSpPr/>
          <p:nvPr/>
        </p:nvSpPr>
        <p:spPr>
          <a:xfrm>
            <a:off x="4237634" y="3689604"/>
            <a:ext cx="3716426" cy="175107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237634" y="3689604"/>
            <a:ext cx="54864" cy="1751076"/>
          </a:xfrm>
          <a:prstGeom prst="rect">
            <a:avLst/>
          </a:prstGeom>
          <a:solidFill>
            <a:srgbClr val="B03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65650" y="3781044"/>
            <a:ext cx="3533546"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Late-Stage Cost Surprises</a:t>
            </a:r>
          </a:p>
        </p:txBody>
      </p:sp>
      <p:sp>
        <p:nvSpPr>
          <p:cNvPr id="30" name="TextBox 29"/>
          <p:cNvSpPr txBox="1"/>
          <p:nvPr/>
        </p:nvSpPr>
        <p:spPr>
          <a:xfrm>
            <a:off x="4365650" y="4073652"/>
            <a:ext cx="3533546" cy="1257300"/>
          </a:xfrm>
          <a:prstGeom prst="rect">
            <a:avLst/>
          </a:prstGeom>
          <a:noFill/>
        </p:spPr>
        <p:txBody>
          <a:bodyPr wrap="square">
            <a:spAutoFit/>
          </a:bodyPr>
          <a:lstStyle/>
          <a:p>
            <a:pPr algn="l"/>
            <a:r>
              <a:rPr sz="950" b="0" i="0">
                <a:solidFill>
                  <a:srgbClr val="3A4356"/>
                </a:solidFill>
              </a:rPr>
              <a:t>Cost issues discovered at SOP — not at concept. DFM problems missed. Expensive redesigns. Margin erosion at launch.</a:t>
            </a:r>
          </a:p>
        </p:txBody>
      </p:sp>
      <p:sp>
        <p:nvSpPr>
          <p:cNvPr id="31" name="Rectangle 30"/>
          <p:cNvSpPr/>
          <p:nvPr/>
        </p:nvSpPr>
        <p:spPr>
          <a:xfrm>
            <a:off x="8063788" y="3689604"/>
            <a:ext cx="3716426" cy="175107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063788" y="3689604"/>
            <a:ext cx="54864" cy="1751076"/>
          </a:xfrm>
          <a:prstGeom prst="rect">
            <a:avLst/>
          </a:prstGeom>
          <a:solidFill>
            <a:srgbClr val="9965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191804" y="3781044"/>
            <a:ext cx="3533546"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No Supplier Quote Benchmark</a:t>
            </a:r>
          </a:p>
        </p:txBody>
      </p:sp>
      <p:sp>
        <p:nvSpPr>
          <p:cNvPr id="34" name="TextBox 33"/>
          <p:cNvSpPr txBox="1"/>
          <p:nvPr/>
        </p:nvSpPr>
        <p:spPr>
          <a:xfrm>
            <a:off x="8191804" y="4073652"/>
            <a:ext cx="3533546" cy="1257300"/>
          </a:xfrm>
          <a:prstGeom prst="rect">
            <a:avLst/>
          </a:prstGeom>
          <a:noFill/>
        </p:spPr>
        <p:txBody>
          <a:bodyPr wrap="square">
            <a:spAutoFit/>
          </a:bodyPr>
          <a:lstStyle/>
          <a:p>
            <a:pPr algn="l"/>
            <a:r>
              <a:rPr sz="950" b="0" i="0">
                <a:solidFill>
                  <a:srgbClr val="3A4356"/>
                </a:solidFill>
              </a:rPr>
              <a:t>Buyers lack a defensible floor price for negotiation. Supplier margins are opaque and unchallenged.</a:t>
            </a:r>
          </a:p>
        </p:txBody>
      </p:sp>
      <p:sp>
        <p:nvSpPr>
          <p:cNvPr id="35" name="Rectangle 34"/>
          <p:cNvSpPr/>
          <p:nvPr/>
        </p:nvSpPr>
        <p:spPr>
          <a:xfrm>
            <a:off x="411480" y="5568696"/>
            <a:ext cx="11368735" cy="786384"/>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48640" y="5623560"/>
            <a:ext cx="1005840" cy="658368"/>
          </a:xfrm>
          <a:prstGeom prst="rect">
            <a:avLst/>
          </a:prstGeom>
          <a:noFill/>
        </p:spPr>
        <p:txBody>
          <a:bodyPr wrap="none">
            <a:spAutoFit/>
          </a:bodyPr>
          <a:lstStyle/>
          <a:p>
            <a:pPr algn="ctr"/>
            <a:r>
              <a:rPr sz="3600" b="1" i="0">
                <a:solidFill>
                  <a:srgbClr val="99651A"/>
                </a:solidFill>
              </a:rPr>
              <a:t>80%</a:t>
            </a:r>
          </a:p>
        </p:txBody>
      </p:sp>
      <p:sp>
        <p:nvSpPr>
          <p:cNvPr id="37" name="TextBox 36"/>
          <p:cNvSpPr txBox="1"/>
          <p:nvPr/>
        </p:nvSpPr>
        <p:spPr>
          <a:xfrm>
            <a:off x="1645920" y="5696712"/>
            <a:ext cx="9875520" cy="566928"/>
          </a:xfrm>
          <a:prstGeom prst="rect">
            <a:avLst/>
          </a:prstGeom>
          <a:noFill/>
        </p:spPr>
        <p:txBody>
          <a:bodyPr wrap="square">
            <a:spAutoFit/>
          </a:bodyPr>
          <a:lstStyle/>
          <a:p>
            <a:pPr algn="l"/>
            <a:r>
              <a:rPr sz="1000" b="0" i="0">
                <a:solidFill>
                  <a:srgbClr val="3A4356"/>
                </a:solidFill>
              </a:rPr>
              <a:t>of part cost is locked in at the design stage — yet most cost analysis happens after design freeze.  CostVision shifts cost intelligence to where it matters: concept phase.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86F7D"/>
                </a:solidFill>
              </a:rPr>
              <a:t>SLIDE 03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THE SOLUTION</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What is CostVision?</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A world-class should-cost engine with AI at every layer — from natural language input to DFM/DFA output.</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86F7D"/>
                </a:solidFill>
              </a:rPr>
              <a:t>CostVision — AI-Powered Should-Cost Intelligence  |  Avinash Bhosale  |  Confidential</a:t>
            </a:r>
          </a:p>
        </p:txBody>
      </p:sp>
      <p:sp>
        <p:nvSpPr>
          <p:cNvPr id="11" name="Rectangle 10"/>
          <p:cNvSpPr/>
          <p:nvPr/>
        </p:nvSpPr>
        <p:spPr>
          <a:xfrm>
            <a:off x="411480" y="1810512"/>
            <a:ext cx="3749039" cy="132588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10512"/>
            <a:ext cx="54864" cy="1325880"/>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1901952"/>
            <a:ext cx="3566159" cy="310896"/>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AI Agent (Natural Language)</a:t>
            </a:r>
          </a:p>
        </p:txBody>
      </p:sp>
      <p:sp>
        <p:nvSpPr>
          <p:cNvPr id="14" name="TextBox 13"/>
          <p:cNvSpPr txBox="1"/>
          <p:nvPr/>
        </p:nvSpPr>
        <p:spPr>
          <a:xfrm>
            <a:off x="539496" y="2194560"/>
            <a:ext cx="3566159" cy="832104"/>
          </a:xfrm>
          <a:prstGeom prst="rect">
            <a:avLst/>
          </a:prstGeom>
          <a:noFill/>
        </p:spPr>
        <p:txBody>
          <a:bodyPr wrap="square">
            <a:spAutoFit/>
          </a:bodyPr>
          <a:lstStyle/>
          <a:p>
            <a:pPr algn="l"/>
            <a:r>
              <a:rPr sz="850" b="0" i="0">
                <a:solidFill>
                  <a:srgbClr val="3A4356"/>
                </a:solidFill>
              </a:rPr>
              <a:t>Describe a part in plain English. AI auto-builds the complete cost model: material, routing, machines, operations.</a:t>
            </a:r>
          </a:p>
        </p:txBody>
      </p:sp>
      <p:sp>
        <p:nvSpPr>
          <p:cNvPr id="15" name="Rectangle 14"/>
          <p:cNvSpPr/>
          <p:nvPr/>
        </p:nvSpPr>
        <p:spPr>
          <a:xfrm>
            <a:off x="4251959" y="1810512"/>
            <a:ext cx="3749039" cy="132588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51959" y="1810512"/>
            <a:ext cx="54864" cy="1325880"/>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79975" y="1901952"/>
            <a:ext cx="3566159" cy="310896"/>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CAD-to-Cost Automation</a:t>
            </a:r>
          </a:p>
        </p:txBody>
      </p:sp>
      <p:sp>
        <p:nvSpPr>
          <p:cNvPr id="18" name="TextBox 17"/>
          <p:cNvSpPr txBox="1"/>
          <p:nvPr/>
        </p:nvSpPr>
        <p:spPr>
          <a:xfrm>
            <a:off x="4379975" y="2194560"/>
            <a:ext cx="3566159" cy="832104"/>
          </a:xfrm>
          <a:prstGeom prst="rect">
            <a:avLst/>
          </a:prstGeom>
          <a:noFill/>
        </p:spPr>
        <p:txBody>
          <a:bodyPr wrap="square">
            <a:spAutoFit/>
          </a:bodyPr>
          <a:lstStyle/>
          <a:p>
            <a:pPr algn="l"/>
            <a:r>
              <a:rPr sz="850" b="0" i="0">
                <a:solidFill>
                  <a:srgbClr val="3A4356"/>
                </a:solidFill>
              </a:rPr>
              <a:t>Upload STEP / IGES / photo. AI extracts geometry, infers material, selects process model — full cost in minutes.</a:t>
            </a:r>
          </a:p>
        </p:txBody>
      </p:sp>
      <p:sp>
        <p:nvSpPr>
          <p:cNvPr id="19" name="Rectangle 18"/>
          <p:cNvSpPr/>
          <p:nvPr/>
        </p:nvSpPr>
        <p:spPr>
          <a:xfrm>
            <a:off x="8092438" y="1810512"/>
            <a:ext cx="3749039" cy="132588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92438" y="1810512"/>
            <a:ext cx="54864" cy="1325880"/>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0454" y="1901952"/>
            <a:ext cx="3566159" cy="310896"/>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21 Engineering-Grade Cost Models</a:t>
            </a:r>
          </a:p>
        </p:txBody>
      </p:sp>
      <p:sp>
        <p:nvSpPr>
          <p:cNvPr id="22" name="TextBox 21"/>
          <p:cNvSpPr txBox="1"/>
          <p:nvPr/>
        </p:nvSpPr>
        <p:spPr>
          <a:xfrm>
            <a:off x="8220454" y="2194560"/>
            <a:ext cx="3566159" cy="832104"/>
          </a:xfrm>
          <a:prstGeom prst="rect">
            <a:avLst/>
          </a:prstGeom>
          <a:noFill/>
        </p:spPr>
        <p:txBody>
          <a:bodyPr wrap="square">
            <a:spAutoFit/>
          </a:bodyPr>
          <a:lstStyle/>
          <a:p>
            <a:pPr algn="l"/>
            <a:r>
              <a:rPr sz="850" b="0" i="0">
                <a:solidFill>
                  <a:srgbClr val="3A4356"/>
                </a:solidFill>
              </a:rPr>
              <a:t>Physics-based models for every major commodity. Routing logic, yield curves, tooling amortisation — all encoded.</a:t>
            </a:r>
          </a:p>
        </p:txBody>
      </p:sp>
      <p:sp>
        <p:nvSpPr>
          <p:cNvPr id="23" name="Rectangle 22"/>
          <p:cNvSpPr/>
          <p:nvPr/>
        </p:nvSpPr>
        <p:spPr>
          <a:xfrm>
            <a:off x="411480" y="3227832"/>
            <a:ext cx="3749039" cy="132588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3227832"/>
            <a:ext cx="54864" cy="1325880"/>
          </a:xfrm>
          <a:prstGeom prst="rect">
            <a:avLst/>
          </a:prstGeom>
          <a:solidFill>
            <a:srgbClr val="9965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9496" y="3319272"/>
            <a:ext cx="3566159" cy="310896"/>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Assembly BOM Rollup</a:t>
            </a:r>
          </a:p>
        </p:txBody>
      </p:sp>
      <p:sp>
        <p:nvSpPr>
          <p:cNvPr id="26" name="TextBox 25"/>
          <p:cNvSpPr txBox="1"/>
          <p:nvPr/>
        </p:nvSpPr>
        <p:spPr>
          <a:xfrm>
            <a:off x="539496" y="3611880"/>
            <a:ext cx="3566159" cy="832104"/>
          </a:xfrm>
          <a:prstGeom prst="rect">
            <a:avLst/>
          </a:prstGeom>
          <a:noFill/>
        </p:spPr>
        <p:txBody>
          <a:bodyPr wrap="square">
            <a:spAutoFit/>
          </a:bodyPr>
          <a:lstStyle/>
          <a:p>
            <a:pPr algn="l"/>
            <a:r>
              <a:rPr sz="850" b="0" i="0">
                <a:solidFill>
                  <a:srgbClr val="3A4356"/>
                </a:solidFill>
              </a:rPr>
              <a:t>Cost entire assemblies — not just single parts. Multi-level BOM with per-component commodity models.</a:t>
            </a:r>
          </a:p>
        </p:txBody>
      </p:sp>
      <p:sp>
        <p:nvSpPr>
          <p:cNvPr id="27" name="Rectangle 26"/>
          <p:cNvSpPr/>
          <p:nvPr/>
        </p:nvSpPr>
        <p:spPr>
          <a:xfrm>
            <a:off x="4251959" y="3227832"/>
            <a:ext cx="3749039" cy="132588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251959" y="3227832"/>
            <a:ext cx="54864" cy="1325880"/>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79975" y="3319272"/>
            <a:ext cx="3566159" cy="310896"/>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Learning Curve / Wright's Law</a:t>
            </a:r>
          </a:p>
        </p:txBody>
      </p:sp>
      <p:sp>
        <p:nvSpPr>
          <p:cNvPr id="30" name="TextBox 29"/>
          <p:cNvSpPr txBox="1"/>
          <p:nvPr/>
        </p:nvSpPr>
        <p:spPr>
          <a:xfrm>
            <a:off x="4379975" y="3611880"/>
            <a:ext cx="3566159" cy="832104"/>
          </a:xfrm>
          <a:prstGeom prst="rect">
            <a:avLst/>
          </a:prstGeom>
          <a:noFill/>
        </p:spPr>
        <p:txBody>
          <a:bodyPr wrap="square">
            <a:spAutoFit/>
          </a:bodyPr>
          <a:lstStyle/>
          <a:p>
            <a:pPr algn="l"/>
            <a:r>
              <a:rPr sz="850" b="0" i="0">
                <a:solidFill>
                  <a:srgbClr val="3A4356"/>
                </a:solidFill>
              </a:rPr>
              <a:t>Project cost at any volume milestone. Configure learning curve %. Essential for LTA negotiations.</a:t>
            </a:r>
          </a:p>
        </p:txBody>
      </p:sp>
      <p:sp>
        <p:nvSpPr>
          <p:cNvPr id="31" name="Rectangle 30"/>
          <p:cNvSpPr/>
          <p:nvPr/>
        </p:nvSpPr>
        <p:spPr>
          <a:xfrm>
            <a:off x="8092438" y="3227832"/>
            <a:ext cx="3749039" cy="132588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092438" y="3227832"/>
            <a:ext cx="54864" cy="1325880"/>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20454" y="3319272"/>
            <a:ext cx="3566159" cy="310896"/>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Supplier Quote Comparison</a:t>
            </a:r>
          </a:p>
        </p:txBody>
      </p:sp>
      <p:sp>
        <p:nvSpPr>
          <p:cNvPr id="34" name="TextBox 33"/>
          <p:cNvSpPr txBox="1"/>
          <p:nvPr/>
        </p:nvSpPr>
        <p:spPr>
          <a:xfrm>
            <a:off x="8220454" y="3611880"/>
            <a:ext cx="3566159" cy="832104"/>
          </a:xfrm>
          <a:prstGeom prst="rect">
            <a:avLst/>
          </a:prstGeom>
          <a:noFill/>
        </p:spPr>
        <p:txBody>
          <a:bodyPr wrap="square">
            <a:spAutoFit/>
          </a:bodyPr>
          <a:lstStyle/>
          <a:p>
            <a:pPr algn="l"/>
            <a:r>
              <a:rPr sz="850" b="0" i="0">
                <a:solidFill>
                  <a:srgbClr val="3A4356"/>
                </a:solidFill>
              </a:rPr>
              <a:t>Log supplier quotes. Compare vs should-cost instantly. Identify margin gaps. Generate negotiation talking points.</a:t>
            </a:r>
          </a:p>
        </p:txBody>
      </p:sp>
      <p:sp>
        <p:nvSpPr>
          <p:cNvPr id="35" name="Rectangle 34"/>
          <p:cNvSpPr/>
          <p:nvPr/>
        </p:nvSpPr>
        <p:spPr>
          <a:xfrm>
            <a:off x="411480" y="4645152"/>
            <a:ext cx="3749039" cy="132588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11480" y="4645152"/>
            <a:ext cx="54864" cy="1325880"/>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39496" y="4736592"/>
            <a:ext cx="3566159" cy="310896"/>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DFM / DFA Intelligence</a:t>
            </a:r>
          </a:p>
        </p:txBody>
      </p:sp>
      <p:sp>
        <p:nvSpPr>
          <p:cNvPr id="38" name="TextBox 37"/>
          <p:cNvSpPr txBox="1"/>
          <p:nvPr/>
        </p:nvSpPr>
        <p:spPr>
          <a:xfrm>
            <a:off x="539496" y="5029200"/>
            <a:ext cx="3566159" cy="832104"/>
          </a:xfrm>
          <a:prstGeom prst="rect">
            <a:avLst/>
          </a:prstGeom>
          <a:noFill/>
        </p:spPr>
        <p:txBody>
          <a:bodyPr wrap="square">
            <a:spAutoFit/>
          </a:bodyPr>
          <a:lstStyle/>
          <a:p>
            <a:pPr algn="l"/>
            <a:r>
              <a:rPr sz="850" b="0" i="0">
                <a:solidFill>
                  <a:srgbClr val="3A4356"/>
                </a:solidFill>
              </a:rPr>
              <a:t>Bolt-on AI scores manufacturability 1–10. Critical issues, saving potential, actionable recommendations.</a:t>
            </a:r>
          </a:p>
        </p:txBody>
      </p:sp>
      <p:sp>
        <p:nvSpPr>
          <p:cNvPr id="39" name="Rectangle 38"/>
          <p:cNvSpPr/>
          <p:nvPr/>
        </p:nvSpPr>
        <p:spPr>
          <a:xfrm>
            <a:off x="4251959" y="4645152"/>
            <a:ext cx="3749039" cy="132588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251959" y="4645152"/>
            <a:ext cx="54864" cy="1325880"/>
          </a:xfrm>
          <a:prstGeom prst="rect">
            <a:avLst/>
          </a:prstGeom>
          <a:solidFill>
            <a:srgbClr val="9965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379975" y="4736592"/>
            <a:ext cx="3566159" cy="310896"/>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20 Regions · 10 Currencies</a:t>
            </a:r>
          </a:p>
        </p:txBody>
      </p:sp>
      <p:sp>
        <p:nvSpPr>
          <p:cNvPr id="42" name="TextBox 41"/>
          <p:cNvSpPr txBox="1"/>
          <p:nvPr/>
        </p:nvSpPr>
        <p:spPr>
          <a:xfrm>
            <a:off x="4379975" y="5029200"/>
            <a:ext cx="3566159" cy="832104"/>
          </a:xfrm>
          <a:prstGeom prst="rect">
            <a:avLst/>
          </a:prstGeom>
          <a:noFill/>
        </p:spPr>
        <p:txBody>
          <a:bodyPr wrap="square">
            <a:spAutoFit/>
          </a:bodyPr>
          <a:lstStyle/>
          <a:p>
            <a:pPr algn="l"/>
            <a:r>
              <a:rPr sz="850" b="0" i="0">
                <a:solidFill>
                  <a:srgbClr val="3A4356"/>
                </a:solidFill>
              </a:rPr>
              <a:t>Real-time labour, machine, material and energy rates. Currency auto-switches when region is selected.</a:t>
            </a:r>
          </a:p>
        </p:txBody>
      </p:sp>
      <p:sp>
        <p:nvSpPr>
          <p:cNvPr id="43" name="Rectangle 42"/>
          <p:cNvSpPr/>
          <p:nvPr/>
        </p:nvSpPr>
        <p:spPr>
          <a:xfrm>
            <a:off x="8092438" y="4645152"/>
            <a:ext cx="3749039" cy="132588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092438" y="4645152"/>
            <a:ext cx="54864" cy="1325880"/>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20454" y="4736592"/>
            <a:ext cx="3566159" cy="310896"/>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Export, Scenarios &amp; Team Sync</a:t>
            </a:r>
          </a:p>
        </p:txBody>
      </p:sp>
      <p:sp>
        <p:nvSpPr>
          <p:cNvPr id="46" name="TextBox 45"/>
          <p:cNvSpPr txBox="1"/>
          <p:nvPr/>
        </p:nvSpPr>
        <p:spPr>
          <a:xfrm>
            <a:off x="8220454" y="5029200"/>
            <a:ext cx="3566159" cy="832104"/>
          </a:xfrm>
          <a:prstGeom prst="rect">
            <a:avLst/>
          </a:prstGeom>
          <a:noFill/>
        </p:spPr>
        <p:txBody>
          <a:bodyPr wrap="square">
            <a:spAutoFit/>
          </a:bodyPr>
          <a:lstStyle/>
          <a:p>
            <a:pPr algn="l"/>
            <a:r>
              <a:rPr sz="850" b="0" i="0">
                <a:solidFill>
                  <a:srgbClr val="3A4356"/>
                </a:solidFill>
              </a:rPr>
              <a:t>6-sheet Excel, PDF report, A/B/C scenario comparison, tornado sensitivity chart, cloud team sync.</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86F7D"/>
                </a:solidFill>
              </a:rPr>
              <a:t>SLIDE 04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GAME-CHANGING CAPABILITY</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AI Agent — Natural Language Should-Costing</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The fastest path from part concept to full cost breakdown: just describe the part in plain English.</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86F7D"/>
                </a:solidFill>
              </a:rPr>
              <a:t>CostVision — AI-Powered Should-Cost Intelligence  |  Avinash Bhosale  |  Confidential</a:t>
            </a:r>
          </a:p>
        </p:txBody>
      </p:sp>
      <p:sp>
        <p:nvSpPr>
          <p:cNvPr id="11" name="TextBox 10"/>
          <p:cNvSpPr txBox="1"/>
          <p:nvPr/>
        </p:nvSpPr>
        <p:spPr>
          <a:xfrm>
            <a:off x="411480" y="1828800"/>
            <a:ext cx="5303520" cy="274320"/>
          </a:xfrm>
          <a:prstGeom prst="rect">
            <a:avLst/>
          </a:prstGeom>
          <a:noFill/>
        </p:spPr>
        <p:txBody>
          <a:bodyPr wrap="square">
            <a:spAutoFit/>
          </a:bodyPr>
          <a:lstStyle/>
          <a:p>
            <a:pPr algn="l"/>
            <a:r>
              <a:rPr sz="1000" b="1" i="0">
                <a:solidFill>
                  <a:srgbClr val="1D6FB8"/>
                </a:solidFill>
              </a:rPr>
              <a:t>How It Works</a:t>
            </a:r>
          </a:p>
        </p:txBody>
      </p:sp>
      <p:sp>
        <p:nvSpPr>
          <p:cNvPr id="12" name="Rectangle 11"/>
          <p:cNvSpPr/>
          <p:nvPr/>
        </p:nvSpPr>
        <p:spPr>
          <a:xfrm>
            <a:off x="411480" y="2148840"/>
            <a:ext cx="5303520" cy="932688"/>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 y="2148840"/>
            <a:ext cx="54864" cy="932688"/>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9496" y="2221992"/>
            <a:ext cx="5120640" cy="256032"/>
          </a:xfrm>
          <a:prstGeom prst="rect">
            <a:avLst/>
          </a:prstGeom>
          <a:noFill/>
        </p:spPr>
        <p:txBody>
          <a:bodyPr wrap="square">
            <a:spAutoFit/>
          </a:bodyPr>
          <a:lstStyle/>
          <a:p>
            <a:pPr algn="l"/>
            <a:r>
              <a:rPr sz="900" b="1" i="0">
                <a:solidFill>
                  <a:srgbClr val="16325C"/>
                </a:solidFill>
              </a:rPr>
              <a:t>1. Describe</a:t>
            </a:r>
          </a:p>
        </p:txBody>
      </p:sp>
      <p:sp>
        <p:nvSpPr>
          <p:cNvPr id="15" name="TextBox 14"/>
          <p:cNvSpPr txBox="1"/>
          <p:nvPr/>
        </p:nvSpPr>
        <p:spPr>
          <a:xfrm>
            <a:off x="539496" y="2459736"/>
            <a:ext cx="5120640" cy="566928"/>
          </a:xfrm>
          <a:prstGeom prst="rect">
            <a:avLst/>
          </a:prstGeom>
          <a:noFill/>
        </p:spPr>
        <p:txBody>
          <a:bodyPr wrap="square">
            <a:spAutoFit/>
          </a:bodyPr>
          <a:lstStyle/>
          <a:p>
            <a:pPr algn="l"/>
            <a:r>
              <a:rPr sz="800" b="0" i="0">
                <a:solidFill>
                  <a:srgbClr val="3A4356"/>
                </a:solidFill>
              </a:rPr>
              <a:t>Type a part description: 'Aluminium bracket, 6082-T6, approximately 200×100×50mm, 3 machined holes, anodised finish, 5,000/year UK production'</a:t>
            </a:r>
          </a:p>
        </p:txBody>
      </p:sp>
      <p:sp>
        <p:nvSpPr>
          <p:cNvPr id="16" name="Rectangle 15"/>
          <p:cNvSpPr/>
          <p:nvPr/>
        </p:nvSpPr>
        <p:spPr>
          <a:xfrm>
            <a:off x="411480" y="3136392"/>
            <a:ext cx="5303520" cy="932688"/>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3136392"/>
            <a:ext cx="54864" cy="932688"/>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3209544"/>
            <a:ext cx="5120640" cy="256032"/>
          </a:xfrm>
          <a:prstGeom prst="rect">
            <a:avLst/>
          </a:prstGeom>
          <a:noFill/>
        </p:spPr>
        <p:txBody>
          <a:bodyPr wrap="square">
            <a:spAutoFit/>
          </a:bodyPr>
          <a:lstStyle/>
          <a:p>
            <a:pPr algn="l"/>
            <a:r>
              <a:rPr sz="900" b="1" i="0">
                <a:solidFill>
                  <a:srgbClr val="16325C"/>
                </a:solidFill>
              </a:rPr>
              <a:t>2. AI Analyses</a:t>
            </a:r>
          </a:p>
        </p:txBody>
      </p:sp>
      <p:sp>
        <p:nvSpPr>
          <p:cNvPr id="19" name="TextBox 18"/>
          <p:cNvSpPr txBox="1"/>
          <p:nvPr/>
        </p:nvSpPr>
        <p:spPr>
          <a:xfrm>
            <a:off x="539496" y="3447288"/>
            <a:ext cx="5120640" cy="566928"/>
          </a:xfrm>
          <a:prstGeom prst="rect">
            <a:avLst/>
          </a:prstGeom>
          <a:noFill/>
        </p:spPr>
        <p:txBody>
          <a:bodyPr wrap="square">
            <a:spAutoFit/>
          </a:bodyPr>
          <a:lstStyle/>
          <a:p>
            <a:pPr algn="l"/>
            <a:r>
              <a:rPr sz="800" b="0" i="0">
                <a:solidFill>
                  <a:srgbClr val="3A4356"/>
                </a:solidFill>
              </a:rPr>
              <a:t>Claude AI interprets the description, infers geometry, selects the most cost-effective manufacturing route, and chooses appropriate machines and labour grades</a:t>
            </a:r>
          </a:p>
        </p:txBody>
      </p:sp>
      <p:sp>
        <p:nvSpPr>
          <p:cNvPr id="20" name="Rectangle 19"/>
          <p:cNvSpPr/>
          <p:nvPr/>
        </p:nvSpPr>
        <p:spPr>
          <a:xfrm>
            <a:off x="411480" y="4123944"/>
            <a:ext cx="5303520" cy="932688"/>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 y="4123944"/>
            <a:ext cx="54864" cy="932688"/>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9496" y="4197096"/>
            <a:ext cx="5120640" cy="256032"/>
          </a:xfrm>
          <a:prstGeom prst="rect">
            <a:avLst/>
          </a:prstGeom>
          <a:noFill/>
        </p:spPr>
        <p:txBody>
          <a:bodyPr wrap="square">
            <a:spAutoFit/>
          </a:bodyPr>
          <a:lstStyle/>
          <a:p>
            <a:pPr algn="l"/>
            <a:r>
              <a:rPr sz="900" b="1" i="0">
                <a:solidFill>
                  <a:srgbClr val="16325C"/>
                </a:solidFill>
              </a:rPr>
              <a:t>3. Auto-Populate</a:t>
            </a:r>
          </a:p>
        </p:txBody>
      </p:sp>
      <p:sp>
        <p:nvSpPr>
          <p:cNvPr id="23" name="TextBox 22"/>
          <p:cNvSpPr txBox="1"/>
          <p:nvPr/>
        </p:nvSpPr>
        <p:spPr>
          <a:xfrm>
            <a:off x="539496" y="4434840"/>
            <a:ext cx="5120640" cy="566928"/>
          </a:xfrm>
          <a:prstGeom prst="rect">
            <a:avLst/>
          </a:prstGeom>
          <a:noFill/>
        </p:spPr>
        <p:txBody>
          <a:bodyPr wrap="square">
            <a:spAutoFit/>
          </a:bodyPr>
          <a:lstStyle/>
          <a:p>
            <a:pPr algn="l"/>
            <a:r>
              <a:rPr sz="800" b="0" i="0">
                <a:solidFill>
                  <a:srgbClr val="3A4356"/>
                </a:solidFill>
              </a:rPr>
              <a:t>The cost model is automatically populated: material weight, 3 machining operations, cycle times, OEE, tooling NRE — all filled without manual input</a:t>
            </a:r>
          </a:p>
        </p:txBody>
      </p:sp>
      <p:sp>
        <p:nvSpPr>
          <p:cNvPr id="24" name="Rectangle 23"/>
          <p:cNvSpPr/>
          <p:nvPr/>
        </p:nvSpPr>
        <p:spPr>
          <a:xfrm>
            <a:off x="411480" y="5111496"/>
            <a:ext cx="5303520" cy="932688"/>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5111496"/>
            <a:ext cx="54864" cy="932688"/>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9496" y="5184648"/>
            <a:ext cx="5120640" cy="256032"/>
          </a:xfrm>
          <a:prstGeom prst="rect">
            <a:avLst/>
          </a:prstGeom>
          <a:noFill/>
        </p:spPr>
        <p:txBody>
          <a:bodyPr wrap="square">
            <a:spAutoFit/>
          </a:bodyPr>
          <a:lstStyle/>
          <a:p>
            <a:pPr algn="l"/>
            <a:r>
              <a:rPr sz="900" b="1" i="0">
                <a:solidFill>
                  <a:srgbClr val="16325C"/>
                </a:solidFill>
              </a:rPr>
              <a:t>4. Full Result</a:t>
            </a:r>
          </a:p>
        </p:txBody>
      </p:sp>
      <p:sp>
        <p:nvSpPr>
          <p:cNvPr id="27" name="TextBox 26"/>
          <p:cNvSpPr txBox="1"/>
          <p:nvPr/>
        </p:nvSpPr>
        <p:spPr>
          <a:xfrm>
            <a:off x="539496" y="5422392"/>
            <a:ext cx="5120640" cy="566928"/>
          </a:xfrm>
          <a:prstGeom prst="rect">
            <a:avLst/>
          </a:prstGeom>
          <a:noFill/>
        </p:spPr>
        <p:txBody>
          <a:bodyPr wrap="square">
            <a:spAutoFit/>
          </a:bodyPr>
          <a:lstStyle/>
          <a:p>
            <a:pPr algn="l"/>
            <a:r>
              <a:rPr sz="800" b="0" i="0">
                <a:solidFill>
                  <a:srgbClr val="3A4356"/>
                </a:solidFill>
              </a:rPr>
              <a:t>Click Calculate. Full 8-bucket cost breakdown, AI insights, DFM/DFA score, sensitivity analysis, and export — all ready in under 60 seconds</a:t>
            </a:r>
          </a:p>
        </p:txBody>
      </p:sp>
      <p:sp>
        <p:nvSpPr>
          <p:cNvPr id="28" name="Rectangle 27"/>
          <p:cNvSpPr/>
          <p:nvPr/>
        </p:nvSpPr>
        <p:spPr>
          <a:xfrm>
            <a:off x="6035040" y="1828800"/>
            <a:ext cx="5760720" cy="4197096"/>
          </a:xfrm>
          <a:prstGeom prst="rect">
            <a:avLst/>
          </a:prstGeom>
          <a:solidFill>
            <a:srgbClr val="F7F9FC"/>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035040" y="1828800"/>
            <a:ext cx="5760720" cy="32918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163056" y="1892808"/>
            <a:ext cx="5577840" cy="228600"/>
          </a:xfrm>
          <a:prstGeom prst="rect">
            <a:avLst/>
          </a:prstGeom>
          <a:noFill/>
        </p:spPr>
        <p:txBody>
          <a:bodyPr wrap="square">
            <a:spAutoFit/>
          </a:bodyPr>
          <a:lstStyle/>
          <a:p>
            <a:pPr algn="l"/>
            <a:r>
              <a:rPr sz="850" b="1" i="0">
                <a:solidFill>
                  <a:srgbClr val="1D6FB8"/>
                </a:solidFill>
              </a:rPr>
              <a:t>●  CostVision AI Agent</a:t>
            </a:r>
          </a:p>
        </p:txBody>
      </p:sp>
      <p:sp>
        <p:nvSpPr>
          <p:cNvPr id="31" name="Rectangle 30"/>
          <p:cNvSpPr/>
          <p:nvPr/>
        </p:nvSpPr>
        <p:spPr>
          <a:xfrm>
            <a:off x="6163056" y="2231136"/>
            <a:ext cx="5504688" cy="429768"/>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54496" y="2286000"/>
            <a:ext cx="5303520" cy="338328"/>
          </a:xfrm>
          <a:prstGeom prst="rect">
            <a:avLst/>
          </a:prstGeom>
          <a:noFill/>
        </p:spPr>
        <p:txBody>
          <a:bodyPr wrap="square">
            <a:spAutoFit/>
          </a:bodyPr>
          <a:lstStyle/>
          <a:p>
            <a:pPr algn="l"/>
            <a:r>
              <a:rPr sz="750" b="0" i="0">
                <a:solidFill>
                  <a:srgbClr val="3A4356"/>
                </a:solidFill>
              </a:rPr>
              <a:t>You: Describe a 4-layer FR4 PCB, 100×80mm, ENIG finish, flying probe test, 10,000/yr, UK manufacture</a:t>
            </a:r>
          </a:p>
        </p:txBody>
      </p:sp>
      <p:sp>
        <p:nvSpPr>
          <p:cNvPr id="33" name="Rectangle 32"/>
          <p:cNvSpPr/>
          <p:nvPr/>
        </p:nvSpPr>
        <p:spPr>
          <a:xfrm>
            <a:off x="6163056" y="2734056"/>
            <a:ext cx="5504688" cy="1389888"/>
          </a:xfrm>
          <a:prstGeom prst="rect">
            <a:avLst/>
          </a:prstGeom>
          <a:solidFill>
            <a:srgbClr val="E8F1FA"/>
          </a:solidFill>
          <a:ln w="635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54496" y="2788920"/>
            <a:ext cx="5303520" cy="1298448"/>
          </a:xfrm>
          <a:prstGeom prst="rect">
            <a:avLst/>
          </a:prstGeom>
          <a:noFill/>
        </p:spPr>
        <p:txBody>
          <a:bodyPr wrap="square">
            <a:spAutoFit/>
          </a:bodyPr>
          <a:lstStyle/>
          <a:p>
            <a:pPr algn="l"/>
            <a:r>
              <a:rPr sz="750" b="0" i="0">
                <a:solidFill>
                  <a:srgbClr val="16325C"/>
                </a:solidFill>
              </a:rPr>
              <a:t>AI: Got it. Analysing your PCB specification...
• 4-layer FR4 standard, 100×80 mm board
• ENIG surface finish (+22% vs HASL)
• Flying probe electrical test
• UK pricing region applied
• NRE amortised over 10,000 boards</a:t>
            </a:r>
          </a:p>
        </p:txBody>
      </p:sp>
      <p:sp>
        <p:nvSpPr>
          <p:cNvPr id="35" name="Rectangle 34"/>
          <p:cNvSpPr/>
          <p:nvPr/>
        </p:nvSpPr>
        <p:spPr>
          <a:xfrm>
            <a:off x="6163056" y="4197096"/>
            <a:ext cx="5504688" cy="429768"/>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54496" y="4251960"/>
            <a:ext cx="5303520" cy="338328"/>
          </a:xfrm>
          <a:prstGeom prst="rect">
            <a:avLst/>
          </a:prstGeom>
          <a:noFill/>
        </p:spPr>
        <p:txBody>
          <a:bodyPr wrap="square">
            <a:spAutoFit/>
          </a:bodyPr>
          <a:lstStyle/>
          <a:p>
            <a:pPr algn="l"/>
            <a:r>
              <a:rPr sz="750" b="0" i="0">
                <a:solidFill>
                  <a:srgbClr val="3A4356"/>
                </a:solidFill>
              </a:rPr>
              <a:t>You: What is the should-cost?</a:t>
            </a:r>
          </a:p>
        </p:txBody>
      </p:sp>
      <p:sp>
        <p:nvSpPr>
          <p:cNvPr id="37" name="Rectangle 36"/>
          <p:cNvSpPr/>
          <p:nvPr/>
        </p:nvSpPr>
        <p:spPr>
          <a:xfrm>
            <a:off x="6163056" y="4700016"/>
            <a:ext cx="5504688" cy="1197864"/>
          </a:xfrm>
          <a:prstGeom prst="rect">
            <a:avLst/>
          </a:prstGeom>
          <a:solidFill>
            <a:srgbClr val="E8F1FA"/>
          </a:solidFill>
          <a:ln w="635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254496" y="4754880"/>
            <a:ext cx="5303520" cy="1106424"/>
          </a:xfrm>
          <a:prstGeom prst="rect">
            <a:avLst/>
          </a:prstGeom>
          <a:noFill/>
        </p:spPr>
        <p:txBody>
          <a:bodyPr wrap="square">
            <a:spAutoFit/>
          </a:bodyPr>
          <a:lstStyle/>
          <a:p>
            <a:pPr algn="l"/>
            <a:r>
              <a:rPr sz="750" b="0" i="0">
                <a:solidFill>
                  <a:srgbClr val="16325C"/>
                </a:solidFill>
              </a:rPr>
              <a:t>AI: Should-Cost Result: £ 4.18 per board
• PCB Fab (material + process): £ 3.24
• Test (flying probe): £ 0.71
• NRE amortised: £ 0.23
DFM Score: 8.5/10 — Good manufacturability</a:t>
            </a:r>
          </a:p>
        </p:txBody>
      </p:sp>
      <p:sp>
        <p:nvSpPr>
          <p:cNvPr id="39" name="TextBox 38"/>
          <p:cNvSpPr txBox="1"/>
          <p:nvPr/>
        </p:nvSpPr>
        <p:spPr>
          <a:xfrm>
            <a:off x="6035040" y="6135624"/>
            <a:ext cx="868680" cy="201168"/>
          </a:xfrm>
          <a:prstGeom prst="rect">
            <a:avLst/>
          </a:prstGeom>
          <a:noFill/>
        </p:spPr>
        <p:txBody>
          <a:bodyPr wrap="none">
            <a:spAutoFit/>
          </a:bodyPr>
          <a:lstStyle/>
          <a:p>
            <a:pPr algn="l"/>
            <a:r>
              <a:rPr sz="850" b="1" i="0">
                <a:solidFill>
                  <a:srgbClr val="2A7F50"/>
                </a:solidFill>
              </a:rPr>
              <a:t>Key Benefits</a:t>
            </a:r>
          </a:p>
        </p:txBody>
      </p:sp>
      <p:sp>
        <p:nvSpPr>
          <p:cNvPr id="40" name="TextBox 39"/>
          <p:cNvSpPr txBox="1"/>
          <p:nvPr/>
        </p:nvSpPr>
        <p:spPr>
          <a:xfrm>
            <a:off x="6995160" y="6135624"/>
            <a:ext cx="1200150" cy="201168"/>
          </a:xfrm>
          <a:prstGeom prst="rect">
            <a:avLst/>
          </a:prstGeom>
          <a:noFill/>
        </p:spPr>
        <p:txBody>
          <a:bodyPr wrap="none">
            <a:spAutoFit/>
          </a:bodyPr>
          <a:lstStyle/>
          <a:p>
            <a:pPr algn="l"/>
            <a:r>
              <a:rPr sz="750" b="0" i="0">
                <a:solidFill>
                  <a:srgbClr val="3A4356"/>
                </a:solidFill>
                <a:latin typeface="Segoe UI Emoji"/>
              </a:rPr>
              <a:t>⚡</a:t>
            </a:r>
            <a:r>
              <a:rPr sz="750" b="0" i="0">
                <a:solidFill>
                  <a:srgbClr val="3A4356"/>
                </a:solidFill>
              </a:rPr>
              <a:t> Zero form-filling</a:t>
            </a:r>
          </a:p>
        </p:txBody>
      </p:sp>
      <p:sp>
        <p:nvSpPr>
          <p:cNvPr id="41" name="TextBox 40"/>
          <p:cNvSpPr txBox="1"/>
          <p:nvPr/>
        </p:nvSpPr>
        <p:spPr>
          <a:xfrm>
            <a:off x="8195310" y="6135624"/>
            <a:ext cx="1200150" cy="201168"/>
          </a:xfrm>
          <a:prstGeom prst="rect">
            <a:avLst/>
          </a:prstGeom>
          <a:noFill/>
        </p:spPr>
        <p:txBody>
          <a:bodyPr wrap="none">
            <a:spAutoFit/>
          </a:bodyPr>
          <a:lstStyle/>
          <a:p>
            <a:pPr algn="l"/>
            <a:r>
              <a:rPr sz="750" b="0" i="0">
                <a:solidFill>
                  <a:srgbClr val="3A4356"/>
                </a:solidFill>
                <a:latin typeface="Segoe UI Emoji"/>
              </a:rPr>
              <a:t>🎯</a:t>
            </a:r>
            <a:r>
              <a:rPr sz="750" b="0" i="0">
                <a:solidFill>
                  <a:srgbClr val="3A4356"/>
                </a:solidFill>
              </a:rPr>
              <a:t> Any commodity</a:t>
            </a:r>
          </a:p>
        </p:txBody>
      </p:sp>
      <p:sp>
        <p:nvSpPr>
          <p:cNvPr id="42" name="TextBox 41"/>
          <p:cNvSpPr txBox="1"/>
          <p:nvPr/>
        </p:nvSpPr>
        <p:spPr>
          <a:xfrm>
            <a:off x="9395460" y="6135624"/>
            <a:ext cx="1200150" cy="201168"/>
          </a:xfrm>
          <a:prstGeom prst="rect">
            <a:avLst/>
          </a:prstGeom>
          <a:noFill/>
        </p:spPr>
        <p:txBody>
          <a:bodyPr wrap="none">
            <a:spAutoFit/>
          </a:bodyPr>
          <a:lstStyle/>
          <a:p>
            <a:pPr algn="l"/>
            <a:r>
              <a:rPr sz="750" b="0" i="0">
                <a:solidFill>
                  <a:srgbClr val="3A4356"/>
                </a:solidFill>
              </a:rPr>
              <a:t>✓ Assumptions visible</a:t>
            </a:r>
          </a:p>
        </p:txBody>
      </p:sp>
      <p:sp>
        <p:nvSpPr>
          <p:cNvPr id="43" name="TextBox 42"/>
          <p:cNvSpPr txBox="1"/>
          <p:nvPr/>
        </p:nvSpPr>
        <p:spPr>
          <a:xfrm>
            <a:off x="10595610" y="6135624"/>
            <a:ext cx="1200150" cy="201168"/>
          </a:xfrm>
          <a:prstGeom prst="rect">
            <a:avLst/>
          </a:prstGeom>
          <a:noFill/>
        </p:spPr>
        <p:txBody>
          <a:bodyPr wrap="none">
            <a:spAutoFit/>
          </a:bodyPr>
          <a:lstStyle/>
          <a:p>
            <a:pPr algn="l"/>
            <a:r>
              <a:rPr sz="750" b="0" i="0">
                <a:solidFill>
                  <a:srgbClr val="3A4356"/>
                </a:solidFill>
                <a:latin typeface="Segoe UI Emoji"/>
              </a:rPr>
              <a:t>📊</a:t>
            </a:r>
            <a:r>
              <a:rPr sz="750" b="0" i="0">
                <a:solidFill>
                  <a:srgbClr val="3A4356"/>
                </a:solidFill>
              </a:rPr>
              <a:t> Full audit trail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86F7D"/>
                </a:solidFill>
              </a:rPr>
              <a:t>SLIDE 05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AUTOMATION</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CAD-to-Cost: Geometry to Should-Cost Automatically</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Upload a STEP file or part photo — AI extracts features, infers material, and generates a full cost model.</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86F7D"/>
                </a:solidFill>
              </a:rPr>
              <a:t>CostVision — AI-Powered Should-Cost Intelligence  |  Avinash Bhosale  |  Confidential</a:t>
            </a:r>
          </a:p>
        </p:txBody>
      </p:sp>
      <p:sp>
        <p:nvSpPr>
          <p:cNvPr id="11" name="Rectangle 10"/>
          <p:cNvSpPr/>
          <p:nvPr/>
        </p:nvSpPr>
        <p:spPr>
          <a:xfrm>
            <a:off x="411480" y="1810512"/>
            <a:ext cx="1600200" cy="91440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901952"/>
            <a:ext cx="1600200" cy="502920"/>
          </a:xfrm>
          <a:prstGeom prst="rect">
            <a:avLst/>
          </a:prstGeom>
          <a:noFill/>
        </p:spPr>
        <p:txBody>
          <a:bodyPr wrap="square">
            <a:spAutoFit/>
          </a:bodyPr>
          <a:lstStyle/>
          <a:p>
            <a:pPr algn="ctr"/>
            <a:r>
              <a:rPr sz="2200" b="1" i="0">
                <a:solidFill>
                  <a:srgbClr val="1D6FB8"/>
                </a:solidFill>
              </a:rPr>
              <a:t>&lt;0.01%</a:t>
            </a:r>
          </a:p>
        </p:txBody>
      </p:sp>
      <p:sp>
        <p:nvSpPr>
          <p:cNvPr id="13" name="TextBox 12"/>
          <p:cNvSpPr txBox="1"/>
          <p:nvPr/>
        </p:nvSpPr>
        <p:spPr>
          <a:xfrm>
            <a:off x="411480" y="2377440"/>
            <a:ext cx="1600200" cy="347472"/>
          </a:xfrm>
          <a:prstGeom prst="rect">
            <a:avLst/>
          </a:prstGeom>
          <a:noFill/>
        </p:spPr>
        <p:txBody>
          <a:bodyPr wrap="square">
            <a:spAutoFit/>
          </a:bodyPr>
          <a:lstStyle/>
          <a:p>
            <a:pPr algn="ctr"/>
            <a:r>
              <a:rPr sz="800" b="0" i="0">
                <a:solidFill>
                  <a:srgbClr val="3A4356"/>
                </a:solidFill>
              </a:rPr>
              <a:t>Engine vs hand calc, reference part</a:t>
            </a:r>
          </a:p>
        </p:txBody>
      </p:sp>
      <p:sp>
        <p:nvSpPr>
          <p:cNvPr id="14" name="Rectangle 13"/>
          <p:cNvSpPr/>
          <p:nvPr/>
        </p:nvSpPr>
        <p:spPr>
          <a:xfrm>
            <a:off x="2103120" y="1810512"/>
            <a:ext cx="1600200" cy="91440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103120" y="1901952"/>
            <a:ext cx="1600200" cy="502920"/>
          </a:xfrm>
          <a:prstGeom prst="rect">
            <a:avLst/>
          </a:prstGeom>
          <a:noFill/>
        </p:spPr>
        <p:txBody>
          <a:bodyPr wrap="square">
            <a:spAutoFit/>
          </a:bodyPr>
          <a:lstStyle/>
          <a:p>
            <a:pPr algn="ctr"/>
            <a:r>
              <a:rPr sz="2200" b="1" i="0">
                <a:solidFill>
                  <a:srgbClr val="2A7F50"/>
                </a:solidFill>
              </a:rPr>
              <a:t>8</a:t>
            </a:r>
          </a:p>
        </p:txBody>
      </p:sp>
      <p:sp>
        <p:nvSpPr>
          <p:cNvPr id="16" name="TextBox 15"/>
          <p:cNvSpPr txBox="1"/>
          <p:nvPr/>
        </p:nvSpPr>
        <p:spPr>
          <a:xfrm>
            <a:off x="2103120" y="2377440"/>
            <a:ext cx="1600200" cy="347472"/>
          </a:xfrm>
          <a:prstGeom prst="rect">
            <a:avLst/>
          </a:prstGeom>
          <a:noFill/>
        </p:spPr>
        <p:txBody>
          <a:bodyPr wrap="square">
            <a:spAutoFit/>
          </a:bodyPr>
          <a:lstStyle/>
          <a:p>
            <a:pPr algn="ctr"/>
            <a:r>
              <a:rPr sz="800" b="0" i="0">
                <a:solidFill>
                  <a:srgbClr val="3A4356"/>
                </a:solidFill>
              </a:rPr>
              <a:t>Cost buckets, each traced to a rate</a:t>
            </a:r>
          </a:p>
        </p:txBody>
      </p:sp>
      <p:sp>
        <p:nvSpPr>
          <p:cNvPr id="17" name="Rectangle 16"/>
          <p:cNvSpPr/>
          <p:nvPr/>
        </p:nvSpPr>
        <p:spPr>
          <a:xfrm>
            <a:off x="3794760" y="1810512"/>
            <a:ext cx="1600200" cy="91440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794760" y="1901952"/>
            <a:ext cx="1600200" cy="502920"/>
          </a:xfrm>
          <a:prstGeom prst="rect">
            <a:avLst/>
          </a:prstGeom>
          <a:noFill/>
        </p:spPr>
        <p:txBody>
          <a:bodyPr wrap="square">
            <a:spAutoFit/>
          </a:bodyPr>
          <a:lstStyle/>
          <a:p>
            <a:pPr algn="ctr"/>
            <a:r>
              <a:rPr sz="2200" b="1" i="0">
                <a:solidFill>
                  <a:srgbClr val="99651A"/>
                </a:solidFill>
              </a:rPr>
              <a:t>6</a:t>
            </a:r>
          </a:p>
        </p:txBody>
      </p:sp>
      <p:sp>
        <p:nvSpPr>
          <p:cNvPr id="19" name="TextBox 18"/>
          <p:cNvSpPr txBox="1"/>
          <p:nvPr/>
        </p:nvSpPr>
        <p:spPr>
          <a:xfrm>
            <a:off x="3794760" y="2377440"/>
            <a:ext cx="1600200" cy="347472"/>
          </a:xfrm>
          <a:prstGeom prst="rect">
            <a:avLst/>
          </a:prstGeom>
          <a:noFill/>
        </p:spPr>
        <p:txBody>
          <a:bodyPr wrap="square">
            <a:spAutoFit/>
          </a:bodyPr>
          <a:lstStyle/>
          <a:p>
            <a:pPr algn="ctr"/>
            <a:r>
              <a:rPr sz="800" b="0" i="0">
                <a:solidFill>
                  <a:srgbClr val="3A4356"/>
                </a:solidFill>
              </a:rPr>
              <a:t>Real parts pinned in regression</a:t>
            </a:r>
          </a:p>
        </p:txBody>
      </p:sp>
      <p:sp>
        <p:nvSpPr>
          <p:cNvPr id="20" name="Rectangle 19"/>
          <p:cNvSpPr/>
          <p:nvPr/>
        </p:nvSpPr>
        <p:spPr>
          <a:xfrm>
            <a:off x="411480" y="2852928"/>
            <a:ext cx="5486400" cy="34747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 y="2852928"/>
            <a:ext cx="5486400" cy="36576"/>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2889504"/>
            <a:ext cx="5212080" cy="274320"/>
          </a:xfrm>
          <a:prstGeom prst="rect">
            <a:avLst/>
          </a:prstGeom>
          <a:noFill/>
        </p:spPr>
        <p:txBody>
          <a:bodyPr wrap="square">
            <a:spAutoFit/>
          </a:bodyPr>
          <a:lstStyle/>
          <a:p>
            <a:pPr algn="l"/>
            <a:r>
              <a:rPr sz="950" b="1" i="0">
                <a:solidFill>
                  <a:srgbClr val="16325C"/>
                </a:solidFill>
              </a:rPr>
              <a:t>What AI Extracts from CAD / Photo</a:t>
            </a:r>
          </a:p>
        </p:txBody>
      </p:sp>
      <p:sp>
        <p:nvSpPr>
          <p:cNvPr id="23" name="Rectangle 22"/>
          <p:cNvSpPr/>
          <p:nvPr/>
        </p:nvSpPr>
        <p:spPr>
          <a:xfrm>
            <a:off x="594360" y="3319272"/>
            <a:ext cx="54864" cy="54864"/>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8096" y="3200400"/>
            <a:ext cx="4937760" cy="329184"/>
          </a:xfrm>
          <a:prstGeom prst="rect">
            <a:avLst/>
          </a:prstGeom>
          <a:noFill/>
        </p:spPr>
        <p:txBody>
          <a:bodyPr wrap="square">
            <a:spAutoFit/>
          </a:bodyPr>
          <a:lstStyle/>
          <a:p>
            <a:pPr algn="l"/>
            <a:r>
              <a:rPr sz="800" b="0" i="0">
                <a:solidFill>
                  <a:srgbClr val="3A4356"/>
                </a:solidFill>
              </a:rPr>
              <a:t>Part geometry: envelope dimensions, volume, wall thickness, surface area</a:t>
            </a:r>
          </a:p>
        </p:txBody>
      </p:sp>
      <p:sp>
        <p:nvSpPr>
          <p:cNvPr id="25" name="Rectangle 24"/>
          <p:cNvSpPr/>
          <p:nvPr/>
        </p:nvSpPr>
        <p:spPr>
          <a:xfrm>
            <a:off x="594360" y="3630168"/>
            <a:ext cx="54864" cy="54864"/>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8096" y="3511296"/>
            <a:ext cx="4937760" cy="329184"/>
          </a:xfrm>
          <a:prstGeom prst="rect">
            <a:avLst/>
          </a:prstGeom>
          <a:noFill/>
        </p:spPr>
        <p:txBody>
          <a:bodyPr wrap="square">
            <a:spAutoFit/>
          </a:bodyPr>
          <a:lstStyle/>
          <a:p>
            <a:pPr algn="l"/>
            <a:r>
              <a:rPr sz="800" b="0" i="0">
                <a:solidFill>
                  <a:srgbClr val="3A4356"/>
                </a:solidFill>
              </a:rPr>
              <a:t>Feature recognition: holes, pockets, ribs, undercuts, threads, datum features</a:t>
            </a:r>
          </a:p>
        </p:txBody>
      </p:sp>
      <p:sp>
        <p:nvSpPr>
          <p:cNvPr id="27" name="Rectangle 26"/>
          <p:cNvSpPr/>
          <p:nvPr/>
        </p:nvSpPr>
        <p:spPr>
          <a:xfrm>
            <a:off x="594360" y="3941064"/>
            <a:ext cx="54864" cy="54864"/>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3822192"/>
            <a:ext cx="4937760" cy="329184"/>
          </a:xfrm>
          <a:prstGeom prst="rect">
            <a:avLst/>
          </a:prstGeom>
          <a:noFill/>
        </p:spPr>
        <p:txBody>
          <a:bodyPr wrap="square">
            <a:spAutoFit/>
          </a:bodyPr>
          <a:lstStyle/>
          <a:p>
            <a:pPr algn="l"/>
            <a:r>
              <a:rPr sz="800" b="0" i="0">
                <a:solidFill>
                  <a:srgbClr val="3A4356"/>
                </a:solidFill>
              </a:rPr>
              <a:t>Material inference: visual texture &amp; density → grade selection (e.g. Al 6082-T6)</a:t>
            </a:r>
          </a:p>
        </p:txBody>
      </p:sp>
      <p:sp>
        <p:nvSpPr>
          <p:cNvPr id="29" name="Rectangle 28"/>
          <p:cNvSpPr/>
          <p:nvPr/>
        </p:nvSpPr>
        <p:spPr>
          <a:xfrm>
            <a:off x="594360" y="4251960"/>
            <a:ext cx="54864" cy="54864"/>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8096" y="4133088"/>
            <a:ext cx="4937760" cy="329184"/>
          </a:xfrm>
          <a:prstGeom prst="rect">
            <a:avLst/>
          </a:prstGeom>
          <a:noFill/>
        </p:spPr>
        <p:txBody>
          <a:bodyPr wrap="square">
            <a:spAutoFit/>
          </a:bodyPr>
          <a:lstStyle/>
          <a:p>
            <a:pPr algn="l"/>
            <a:r>
              <a:rPr sz="800" b="0" i="0">
                <a:solidFill>
                  <a:srgbClr val="3A4356"/>
                </a:solidFill>
              </a:rPr>
              <a:t>Process selection: geometry → most cost-effective manufacturing route</a:t>
            </a:r>
          </a:p>
        </p:txBody>
      </p:sp>
      <p:sp>
        <p:nvSpPr>
          <p:cNvPr id="31" name="Rectangle 30"/>
          <p:cNvSpPr/>
          <p:nvPr/>
        </p:nvSpPr>
        <p:spPr>
          <a:xfrm>
            <a:off x="594360" y="4562856"/>
            <a:ext cx="54864" cy="54864"/>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8096" y="4443984"/>
            <a:ext cx="4937760" cy="329184"/>
          </a:xfrm>
          <a:prstGeom prst="rect">
            <a:avLst/>
          </a:prstGeom>
          <a:noFill/>
        </p:spPr>
        <p:txBody>
          <a:bodyPr wrap="square">
            <a:spAutoFit/>
          </a:bodyPr>
          <a:lstStyle/>
          <a:p>
            <a:pPr algn="l"/>
            <a:r>
              <a:rPr sz="800" b="0" i="0">
                <a:solidFill>
                  <a:srgbClr val="3A4356"/>
                </a:solidFill>
              </a:rPr>
              <a:t>Cycle time: material removal rate, tool path length, fixture &amp; setup strategy</a:t>
            </a:r>
          </a:p>
        </p:txBody>
      </p:sp>
      <p:sp>
        <p:nvSpPr>
          <p:cNvPr id="33" name="Rectangle 32"/>
          <p:cNvSpPr/>
          <p:nvPr/>
        </p:nvSpPr>
        <p:spPr>
          <a:xfrm>
            <a:off x="594360" y="4873752"/>
            <a:ext cx="54864" cy="54864"/>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68096" y="4754880"/>
            <a:ext cx="4937760" cy="329184"/>
          </a:xfrm>
          <a:prstGeom prst="rect">
            <a:avLst/>
          </a:prstGeom>
          <a:noFill/>
        </p:spPr>
        <p:txBody>
          <a:bodyPr wrap="square">
            <a:spAutoFit/>
          </a:bodyPr>
          <a:lstStyle/>
          <a:p>
            <a:pPr algn="l"/>
            <a:r>
              <a:rPr sz="800" b="0" i="0">
                <a:solidFill>
                  <a:srgbClr val="3A4356"/>
                </a:solidFill>
              </a:rPr>
              <a:t>Complexity: Simple / Moderate / Complex → machine type &amp; OEE selection</a:t>
            </a:r>
          </a:p>
        </p:txBody>
      </p:sp>
      <p:sp>
        <p:nvSpPr>
          <p:cNvPr id="35" name="Rectangle 34"/>
          <p:cNvSpPr/>
          <p:nvPr/>
        </p:nvSpPr>
        <p:spPr>
          <a:xfrm>
            <a:off x="594360" y="5184648"/>
            <a:ext cx="54864" cy="54864"/>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8096" y="5065776"/>
            <a:ext cx="4937760" cy="329184"/>
          </a:xfrm>
          <a:prstGeom prst="rect">
            <a:avLst/>
          </a:prstGeom>
          <a:noFill/>
        </p:spPr>
        <p:txBody>
          <a:bodyPr wrap="square">
            <a:spAutoFit/>
          </a:bodyPr>
          <a:lstStyle/>
          <a:p>
            <a:pPr algn="l"/>
            <a:r>
              <a:rPr sz="800" b="0" i="0">
                <a:solidFill>
                  <a:srgbClr val="3A4356"/>
                </a:solidFill>
              </a:rPr>
              <a:t>DFM pre-check: thin walls, tight radii, undercuts flagged before costing begins</a:t>
            </a:r>
          </a:p>
        </p:txBody>
      </p:sp>
      <p:sp>
        <p:nvSpPr>
          <p:cNvPr id="37" name="Rectangle 36"/>
          <p:cNvSpPr/>
          <p:nvPr/>
        </p:nvSpPr>
        <p:spPr>
          <a:xfrm>
            <a:off x="6263640" y="2852928"/>
            <a:ext cx="5486400" cy="3474720"/>
          </a:xfrm>
          <a:prstGeom prst="rect">
            <a:avLst/>
          </a:prstGeom>
          <a:solidFill>
            <a:srgbClr val="F7F9FC"/>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263640" y="2852928"/>
            <a:ext cx="5486400" cy="36576"/>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00800" y="2926080"/>
            <a:ext cx="5257800" cy="274320"/>
          </a:xfrm>
          <a:prstGeom prst="rect">
            <a:avLst/>
          </a:prstGeom>
          <a:noFill/>
        </p:spPr>
        <p:txBody>
          <a:bodyPr wrap="square">
            <a:spAutoFit/>
          </a:bodyPr>
          <a:lstStyle/>
          <a:p>
            <a:pPr algn="l"/>
            <a:r>
              <a:rPr sz="950" b="1" i="0">
                <a:solidFill>
                  <a:srgbClr val="16325C"/>
                </a:solidFill>
              </a:rPr>
              <a:t>AI Analysis Result — Aluminium Bracket</a:t>
            </a:r>
          </a:p>
        </p:txBody>
      </p:sp>
      <p:sp>
        <p:nvSpPr>
          <p:cNvPr id="40" name="Rectangle 39"/>
          <p:cNvSpPr/>
          <p:nvPr/>
        </p:nvSpPr>
        <p:spPr>
          <a:xfrm>
            <a:off x="6400800" y="3310128"/>
            <a:ext cx="2468880" cy="420624"/>
          </a:xfrm>
          <a:prstGeom prst="rect">
            <a:avLst/>
          </a:prstGeom>
          <a:solidFill>
            <a:srgbClr val="FFFFFF"/>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73952" y="3337560"/>
            <a:ext cx="2322576" cy="164592"/>
          </a:xfrm>
          <a:prstGeom prst="rect">
            <a:avLst/>
          </a:prstGeom>
          <a:noFill/>
        </p:spPr>
        <p:txBody>
          <a:bodyPr wrap="square">
            <a:spAutoFit/>
          </a:bodyPr>
          <a:lstStyle/>
          <a:p>
            <a:pPr algn="l"/>
            <a:r>
              <a:rPr sz="750" b="0" i="0">
                <a:solidFill>
                  <a:srgbClr val="686F7D"/>
                </a:solidFill>
              </a:rPr>
              <a:t>AI Detected Material</a:t>
            </a:r>
          </a:p>
        </p:txBody>
      </p:sp>
      <p:sp>
        <p:nvSpPr>
          <p:cNvPr id="42" name="TextBox 41"/>
          <p:cNvSpPr txBox="1"/>
          <p:nvPr/>
        </p:nvSpPr>
        <p:spPr>
          <a:xfrm>
            <a:off x="6473952" y="3511296"/>
            <a:ext cx="2322576" cy="182880"/>
          </a:xfrm>
          <a:prstGeom prst="rect">
            <a:avLst/>
          </a:prstGeom>
          <a:noFill/>
        </p:spPr>
        <p:txBody>
          <a:bodyPr wrap="square">
            <a:spAutoFit/>
          </a:bodyPr>
          <a:lstStyle/>
          <a:p>
            <a:pPr algn="l"/>
            <a:r>
              <a:rPr sz="850" b="1" i="0">
                <a:solidFill>
                  <a:srgbClr val="1D6FB8"/>
                </a:solidFill>
              </a:rPr>
              <a:t>Al 6082-T6</a:t>
            </a:r>
          </a:p>
        </p:txBody>
      </p:sp>
      <p:sp>
        <p:nvSpPr>
          <p:cNvPr id="43" name="Rectangle 42"/>
          <p:cNvSpPr/>
          <p:nvPr/>
        </p:nvSpPr>
        <p:spPr>
          <a:xfrm>
            <a:off x="9052560" y="3310128"/>
            <a:ext cx="2468880" cy="420624"/>
          </a:xfrm>
          <a:prstGeom prst="rect">
            <a:avLst/>
          </a:prstGeom>
          <a:solidFill>
            <a:srgbClr val="FFFFFF"/>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125712" y="3337560"/>
            <a:ext cx="2322576" cy="164592"/>
          </a:xfrm>
          <a:prstGeom prst="rect">
            <a:avLst/>
          </a:prstGeom>
          <a:noFill/>
        </p:spPr>
        <p:txBody>
          <a:bodyPr wrap="square">
            <a:spAutoFit/>
          </a:bodyPr>
          <a:lstStyle/>
          <a:p>
            <a:pPr algn="l"/>
            <a:r>
              <a:rPr sz="750" b="0" i="0">
                <a:solidFill>
                  <a:srgbClr val="686F7D"/>
                </a:solidFill>
              </a:rPr>
              <a:t>Suggested Process</a:t>
            </a:r>
          </a:p>
        </p:txBody>
      </p:sp>
      <p:sp>
        <p:nvSpPr>
          <p:cNvPr id="45" name="TextBox 44"/>
          <p:cNvSpPr txBox="1"/>
          <p:nvPr/>
        </p:nvSpPr>
        <p:spPr>
          <a:xfrm>
            <a:off x="9125712" y="3511296"/>
            <a:ext cx="2322576" cy="182880"/>
          </a:xfrm>
          <a:prstGeom prst="rect">
            <a:avLst/>
          </a:prstGeom>
          <a:noFill/>
        </p:spPr>
        <p:txBody>
          <a:bodyPr wrap="square">
            <a:spAutoFit/>
          </a:bodyPr>
          <a:lstStyle/>
          <a:p>
            <a:pPr algn="l"/>
            <a:r>
              <a:rPr sz="850" b="1" i="0">
                <a:solidFill>
                  <a:srgbClr val="2A7F50"/>
                </a:solidFill>
              </a:rPr>
              <a:t>3-Axis CNC Milling + Drilling</a:t>
            </a:r>
          </a:p>
        </p:txBody>
      </p:sp>
      <p:sp>
        <p:nvSpPr>
          <p:cNvPr id="46" name="Rectangle 45"/>
          <p:cNvSpPr/>
          <p:nvPr/>
        </p:nvSpPr>
        <p:spPr>
          <a:xfrm>
            <a:off x="6400800" y="3785616"/>
            <a:ext cx="2468880" cy="420624"/>
          </a:xfrm>
          <a:prstGeom prst="rect">
            <a:avLst/>
          </a:prstGeom>
          <a:solidFill>
            <a:srgbClr val="FFFFFF"/>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73952" y="3813048"/>
            <a:ext cx="2322576" cy="164592"/>
          </a:xfrm>
          <a:prstGeom prst="rect">
            <a:avLst/>
          </a:prstGeom>
          <a:noFill/>
        </p:spPr>
        <p:txBody>
          <a:bodyPr wrap="square">
            <a:spAutoFit/>
          </a:bodyPr>
          <a:lstStyle/>
          <a:p>
            <a:pPr algn="l"/>
            <a:r>
              <a:rPr sz="750" b="0" i="0">
                <a:solidFill>
                  <a:srgbClr val="686F7D"/>
                </a:solidFill>
              </a:rPr>
              <a:t>Envelope (L×W×H)</a:t>
            </a:r>
          </a:p>
        </p:txBody>
      </p:sp>
      <p:sp>
        <p:nvSpPr>
          <p:cNvPr id="48" name="TextBox 47"/>
          <p:cNvSpPr txBox="1"/>
          <p:nvPr/>
        </p:nvSpPr>
        <p:spPr>
          <a:xfrm>
            <a:off x="6473952" y="3986784"/>
            <a:ext cx="2322576" cy="182880"/>
          </a:xfrm>
          <a:prstGeom prst="rect">
            <a:avLst/>
          </a:prstGeom>
          <a:noFill/>
        </p:spPr>
        <p:txBody>
          <a:bodyPr wrap="square">
            <a:spAutoFit/>
          </a:bodyPr>
          <a:lstStyle/>
          <a:p>
            <a:pPr algn="l"/>
            <a:r>
              <a:rPr sz="850" b="1" i="0">
                <a:solidFill>
                  <a:srgbClr val="16325C"/>
                </a:solidFill>
              </a:rPr>
              <a:t>220 × 140 × 85 mm</a:t>
            </a:r>
          </a:p>
        </p:txBody>
      </p:sp>
      <p:sp>
        <p:nvSpPr>
          <p:cNvPr id="49" name="Rectangle 48"/>
          <p:cNvSpPr/>
          <p:nvPr/>
        </p:nvSpPr>
        <p:spPr>
          <a:xfrm>
            <a:off x="9052560" y="3785616"/>
            <a:ext cx="2468880" cy="420624"/>
          </a:xfrm>
          <a:prstGeom prst="rect">
            <a:avLst/>
          </a:prstGeom>
          <a:solidFill>
            <a:srgbClr val="FFFFFF"/>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125712" y="3813048"/>
            <a:ext cx="2322576" cy="164592"/>
          </a:xfrm>
          <a:prstGeom prst="rect">
            <a:avLst/>
          </a:prstGeom>
          <a:noFill/>
        </p:spPr>
        <p:txBody>
          <a:bodyPr wrap="square">
            <a:spAutoFit/>
          </a:bodyPr>
          <a:lstStyle/>
          <a:p>
            <a:pPr algn="l"/>
            <a:r>
              <a:rPr sz="750" b="0" i="0">
                <a:solidFill>
                  <a:srgbClr val="686F7D"/>
                </a:solidFill>
              </a:rPr>
              <a:t>Est. Net Weight</a:t>
            </a:r>
          </a:p>
        </p:txBody>
      </p:sp>
      <p:sp>
        <p:nvSpPr>
          <p:cNvPr id="51" name="TextBox 50"/>
          <p:cNvSpPr txBox="1"/>
          <p:nvPr/>
        </p:nvSpPr>
        <p:spPr>
          <a:xfrm>
            <a:off x="9125712" y="3986784"/>
            <a:ext cx="2322576" cy="182880"/>
          </a:xfrm>
          <a:prstGeom prst="rect">
            <a:avLst/>
          </a:prstGeom>
          <a:noFill/>
        </p:spPr>
        <p:txBody>
          <a:bodyPr wrap="square">
            <a:spAutoFit/>
          </a:bodyPr>
          <a:lstStyle/>
          <a:p>
            <a:pPr algn="l"/>
            <a:r>
              <a:rPr sz="850" b="1" i="0">
                <a:solidFill>
                  <a:srgbClr val="16325C"/>
                </a:solidFill>
              </a:rPr>
              <a:t>0.82 kg</a:t>
            </a:r>
          </a:p>
        </p:txBody>
      </p:sp>
      <p:sp>
        <p:nvSpPr>
          <p:cNvPr id="52" name="Rectangle 51"/>
          <p:cNvSpPr/>
          <p:nvPr/>
        </p:nvSpPr>
        <p:spPr>
          <a:xfrm>
            <a:off x="6400800" y="4261104"/>
            <a:ext cx="2468880" cy="420624"/>
          </a:xfrm>
          <a:prstGeom prst="rect">
            <a:avLst/>
          </a:prstGeom>
          <a:solidFill>
            <a:srgbClr val="FFFFFF"/>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473952" y="4288536"/>
            <a:ext cx="2322576" cy="164592"/>
          </a:xfrm>
          <a:prstGeom prst="rect">
            <a:avLst/>
          </a:prstGeom>
          <a:noFill/>
        </p:spPr>
        <p:txBody>
          <a:bodyPr wrap="square">
            <a:spAutoFit/>
          </a:bodyPr>
          <a:lstStyle/>
          <a:p>
            <a:pPr algn="l"/>
            <a:r>
              <a:rPr sz="750" b="0" i="0">
                <a:solidFill>
                  <a:srgbClr val="686F7D"/>
                </a:solidFill>
              </a:rPr>
              <a:t>Complexity</a:t>
            </a:r>
          </a:p>
        </p:txBody>
      </p:sp>
      <p:sp>
        <p:nvSpPr>
          <p:cNvPr id="54" name="TextBox 53"/>
          <p:cNvSpPr txBox="1"/>
          <p:nvPr/>
        </p:nvSpPr>
        <p:spPr>
          <a:xfrm>
            <a:off x="6473952" y="4462272"/>
            <a:ext cx="2322576" cy="182880"/>
          </a:xfrm>
          <a:prstGeom prst="rect">
            <a:avLst/>
          </a:prstGeom>
          <a:noFill/>
        </p:spPr>
        <p:txBody>
          <a:bodyPr wrap="square">
            <a:spAutoFit/>
          </a:bodyPr>
          <a:lstStyle/>
          <a:p>
            <a:pPr algn="l"/>
            <a:r>
              <a:rPr sz="850" b="1" i="0">
                <a:solidFill>
                  <a:srgbClr val="99651A"/>
                </a:solidFill>
              </a:rPr>
              <a:t>Moderate — 3 setups</a:t>
            </a:r>
          </a:p>
        </p:txBody>
      </p:sp>
      <p:sp>
        <p:nvSpPr>
          <p:cNvPr id="55" name="Rectangle 54"/>
          <p:cNvSpPr/>
          <p:nvPr/>
        </p:nvSpPr>
        <p:spPr>
          <a:xfrm>
            <a:off x="9052560" y="4261104"/>
            <a:ext cx="2468880" cy="420624"/>
          </a:xfrm>
          <a:prstGeom prst="rect">
            <a:avLst/>
          </a:prstGeom>
          <a:solidFill>
            <a:srgbClr val="FFFFFF"/>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125712" y="4288536"/>
            <a:ext cx="2322576" cy="164592"/>
          </a:xfrm>
          <a:prstGeom prst="rect">
            <a:avLst/>
          </a:prstGeom>
          <a:noFill/>
        </p:spPr>
        <p:txBody>
          <a:bodyPr wrap="square">
            <a:spAutoFit/>
          </a:bodyPr>
          <a:lstStyle/>
          <a:p>
            <a:pPr algn="l"/>
            <a:r>
              <a:rPr sz="750" b="0" i="0">
                <a:solidFill>
                  <a:srgbClr val="686F7D"/>
                </a:solidFill>
              </a:rPr>
              <a:t>DFM Pre-check</a:t>
            </a:r>
          </a:p>
        </p:txBody>
      </p:sp>
      <p:sp>
        <p:nvSpPr>
          <p:cNvPr id="57" name="TextBox 56"/>
          <p:cNvSpPr txBox="1"/>
          <p:nvPr/>
        </p:nvSpPr>
        <p:spPr>
          <a:xfrm>
            <a:off x="9125712" y="4462272"/>
            <a:ext cx="2322576" cy="182880"/>
          </a:xfrm>
          <a:prstGeom prst="rect">
            <a:avLst/>
          </a:prstGeom>
          <a:noFill/>
        </p:spPr>
        <p:txBody>
          <a:bodyPr wrap="square">
            <a:spAutoFit/>
          </a:bodyPr>
          <a:lstStyle/>
          <a:p>
            <a:pPr algn="l"/>
            <a:r>
              <a:rPr sz="850" b="1" i="0">
                <a:solidFill>
                  <a:srgbClr val="99651A"/>
                </a:solidFill>
              </a:rPr>
              <a:t>1 flag: 3 setups → consolidate</a:t>
            </a:r>
          </a:p>
        </p:txBody>
      </p:sp>
      <p:sp>
        <p:nvSpPr>
          <p:cNvPr id="58" name="Rectangle 57"/>
          <p:cNvSpPr/>
          <p:nvPr/>
        </p:nvSpPr>
        <p:spPr>
          <a:xfrm>
            <a:off x="6400800" y="4754880"/>
            <a:ext cx="5212080" cy="475488"/>
          </a:xfrm>
          <a:prstGeom prst="rect">
            <a:avLst/>
          </a:prstGeom>
          <a:solidFill>
            <a:srgbClr val="FFFFFF"/>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537960" y="4791456"/>
            <a:ext cx="2743200" cy="201168"/>
          </a:xfrm>
          <a:prstGeom prst="rect">
            <a:avLst/>
          </a:prstGeom>
          <a:noFill/>
        </p:spPr>
        <p:txBody>
          <a:bodyPr wrap="square">
            <a:spAutoFit/>
          </a:bodyPr>
          <a:lstStyle/>
          <a:p>
            <a:pPr algn="l"/>
            <a:r>
              <a:rPr sz="800" b="0" i="0">
                <a:solidFill>
                  <a:srgbClr val="3A4356"/>
                </a:solidFill>
              </a:rPr>
              <a:t>Should-Cost Preview</a:t>
            </a:r>
          </a:p>
        </p:txBody>
      </p:sp>
      <p:sp>
        <p:nvSpPr>
          <p:cNvPr id="60" name="TextBox 59"/>
          <p:cNvSpPr txBox="1"/>
          <p:nvPr/>
        </p:nvSpPr>
        <p:spPr>
          <a:xfrm>
            <a:off x="9738360" y="4773168"/>
            <a:ext cx="1737360" cy="274320"/>
          </a:xfrm>
          <a:prstGeom prst="rect">
            <a:avLst/>
          </a:prstGeom>
          <a:noFill/>
        </p:spPr>
        <p:txBody>
          <a:bodyPr wrap="square">
            <a:spAutoFit/>
          </a:bodyPr>
          <a:lstStyle/>
          <a:p>
            <a:pPr algn="r"/>
            <a:r>
              <a:rPr sz="1400" b="1" i="0">
                <a:solidFill>
                  <a:srgbClr val="2A7F50"/>
                </a:solidFill>
              </a:rPr>
              <a:t>£ 28.40</a:t>
            </a:r>
          </a:p>
        </p:txBody>
      </p:sp>
      <p:sp>
        <p:nvSpPr>
          <p:cNvPr id="61" name="Rectangle 60"/>
          <p:cNvSpPr/>
          <p:nvPr/>
        </p:nvSpPr>
        <p:spPr>
          <a:xfrm>
            <a:off x="6400800" y="5285232"/>
            <a:ext cx="1980590" cy="146304"/>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8381390" y="5285232"/>
            <a:ext cx="1667865" cy="146304"/>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10049256" y="5285232"/>
            <a:ext cx="625449" cy="146304"/>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10674705" y="5285232"/>
            <a:ext cx="416966" cy="146304"/>
          </a:xfrm>
          <a:prstGeom prst="rect">
            <a:avLst/>
          </a:prstGeom>
          <a:solidFill>
            <a:srgbClr val="9965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11091672" y="5285232"/>
            <a:ext cx="521208" cy="146304"/>
          </a:xfrm>
          <a:prstGeom prst="rect">
            <a:avLst/>
          </a:prstGeom>
          <a:solidFill>
            <a:srgbClr val="686F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400800" y="5468112"/>
            <a:ext cx="5212080" cy="201168"/>
          </a:xfrm>
          <a:prstGeom prst="rect">
            <a:avLst/>
          </a:prstGeom>
          <a:noFill/>
        </p:spPr>
        <p:txBody>
          <a:bodyPr wrap="square">
            <a:spAutoFit/>
          </a:bodyPr>
          <a:lstStyle/>
          <a:p>
            <a:pPr algn="l"/>
            <a:r>
              <a:rPr sz="750" b="0" i="0">
                <a:solidFill>
                  <a:srgbClr val="686F7D"/>
                </a:solidFill>
              </a:rPr>
              <a:t>■ Mat 38%  ■ Proc 32%  ■ Lab 12%  ■ Tool 8%  ■ OH 10%</a:t>
            </a:r>
          </a:p>
        </p:txBody>
      </p:sp>
      <p:sp>
        <p:nvSpPr>
          <p:cNvPr id="67" name="Rectangle 66"/>
          <p:cNvSpPr/>
          <p:nvPr/>
        </p:nvSpPr>
        <p:spPr>
          <a:xfrm>
            <a:off x="5577840" y="1810512"/>
            <a:ext cx="6172200" cy="91440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577840" y="1810512"/>
            <a:ext cx="54864" cy="914400"/>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5760720" y="1920240"/>
            <a:ext cx="5897880" cy="228600"/>
          </a:xfrm>
          <a:prstGeom prst="rect">
            <a:avLst/>
          </a:prstGeom>
          <a:noFill/>
        </p:spPr>
        <p:txBody>
          <a:bodyPr wrap="square">
            <a:spAutoFit/>
          </a:bodyPr>
          <a:lstStyle/>
          <a:p>
            <a:pPr algn="l"/>
            <a:r>
              <a:rPr sz="900" b="1" i="0">
                <a:solidFill>
                  <a:srgbClr val="16325C"/>
                </a:solidFill>
              </a:rPr>
              <a:t>Supported formats</a:t>
            </a:r>
          </a:p>
        </p:txBody>
      </p:sp>
      <p:sp>
        <p:nvSpPr>
          <p:cNvPr id="70" name="TextBox 69"/>
          <p:cNvSpPr txBox="1"/>
          <p:nvPr/>
        </p:nvSpPr>
        <p:spPr>
          <a:xfrm>
            <a:off x="5760720" y="2194560"/>
            <a:ext cx="5897880" cy="228600"/>
          </a:xfrm>
          <a:prstGeom prst="rect">
            <a:avLst/>
          </a:prstGeom>
          <a:noFill/>
        </p:spPr>
        <p:txBody>
          <a:bodyPr wrap="square">
            <a:spAutoFit/>
          </a:bodyPr>
          <a:lstStyle/>
          <a:p>
            <a:pPr algn="l"/>
            <a:r>
              <a:rPr sz="900" b="1" i="0">
                <a:solidFill>
                  <a:srgbClr val="1D6FB8"/>
                </a:solidFill>
              </a:rPr>
              <a:t>.STEP   .IGES   .STP   .IGS   .STL   .JPG   .PNG   .HEIC</a:t>
            </a:r>
          </a:p>
        </p:txBody>
      </p:sp>
      <p:sp>
        <p:nvSpPr>
          <p:cNvPr id="71" name="TextBox 70"/>
          <p:cNvSpPr txBox="1"/>
          <p:nvPr/>
        </p:nvSpPr>
        <p:spPr>
          <a:xfrm>
            <a:off x="5760720" y="2432304"/>
            <a:ext cx="5897880" cy="228600"/>
          </a:xfrm>
          <a:prstGeom prst="rect">
            <a:avLst/>
          </a:prstGeom>
          <a:noFill/>
        </p:spPr>
        <p:txBody>
          <a:bodyPr wrap="square">
            <a:spAutoFit/>
          </a:bodyPr>
          <a:lstStyle/>
          <a:p>
            <a:pPr algn="l"/>
            <a:r>
              <a:rPr sz="800" b="0" i="0">
                <a:solidFill>
                  <a:srgbClr val="686F7D"/>
                </a:solidFill>
              </a:rPr>
              <a:t>Drag-drop or file picker — CAD geometry measured by a full kernel, photos read by vision.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86F7D"/>
                </a:solidFill>
              </a:rPr>
              <a:t>SLIDE 06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NEW IN 2026 · ENGINEERING-GRADE VIEWER</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3D CAD Viewer — Inspect, Measure &amp; Analyse</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A SaaS-grade CAD viewer built into CostVision — STEP / IGES / STL, in the browser, no separate CAD seat.</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86F7D"/>
                </a:solidFill>
              </a:rPr>
              <a:t>CostVision — AI-Powered Should-Cost Intelligence  |  Avinash Bhosale  |  Confidential</a:t>
            </a:r>
          </a:p>
        </p:txBody>
      </p:sp>
      <p:sp>
        <p:nvSpPr>
          <p:cNvPr id="11" name="Rectangle 10"/>
          <p:cNvSpPr/>
          <p:nvPr/>
        </p:nvSpPr>
        <p:spPr>
          <a:xfrm>
            <a:off x="411480" y="1847088"/>
            <a:ext cx="3639312" cy="1993392"/>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47088"/>
            <a:ext cx="54864" cy="1993392"/>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1938528"/>
            <a:ext cx="3456432" cy="310896"/>
          </a:xfrm>
          <a:prstGeom prst="rect">
            <a:avLst/>
          </a:prstGeom>
          <a:noFill/>
        </p:spPr>
        <p:txBody>
          <a:bodyPr wrap="square">
            <a:spAutoFit/>
          </a:bodyPr>
          <a:lstStyle/>
          <a:p>
            <a:pPr algn="l"/>
            <a:r>
              <a:rPr sz="950" b="1" i="0">
                <a:solidFill>
                  <a:srgbClr val="16325C"/>
                </a:solidFill>
              </a:rPr>
              <a:t>Views &amp; Navigation</a:t>
            </a:r>
          </a:p>
        </p:txBody>
      </p:sp>
      <p:sp>
        <p:nvSpPr>
          <p:cNvPr id="14" name="TextBox 13"/>
          <p:cNvSpPr txBox="1"/>
          <p:nvPr/>
        </p:nvSpPr>
        <p:spPr>
          <a:xfrm>
            <a:off x="539496" y="2231136"/>
            <a:ext cx="3456432" cy="1499616"/>
          </a:xfrm>
          <a:prstGeom prst="rect">
            <a:avLst/>
          </a:prstGeom>
          <a:noFill/>
        </p:spPr>
        <p:txBody>
          <a:bodyPr wrap="square">
            <a:spAutoFit/>
          </a:bodyPr>
          <a:lstStyle/>
          <a:p>
            <a:pPr algn="l"/>
            <a:r>
              <a:rPr sz="850" b="0" i="0">
                <a:solidFill>
                  <a:srgbClr val="3A4356"/>
                </a:solidFill>
              </a:rPr>
              <a:t>Iso / Front / Top / Right, Fit, orientation view-cube, smooth logarithmic-depth zoom (no z-fighting on metre-scale parts), maximize / full-window.</a:t>
            </a:r>
          </a:p>
        </p:txBody>
      </p:sp>
      <p:sp>
        <p:nvSpPr>
          <p:cNvPr id="15" name="Rectangle 14"/>
          <p:cNvSpPr/>
          <p:nvPr/>
        </p:nvSpPr>
        <p:spPr>
          <a:xfrm>
            <a:off x="4270248" y="1847088"/>
            <a:ext cx="3639312" cy="1993392"/>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70248" y="1847088"/>
            <a:ext cx="54864" cy="1993392"/>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98264" y="1938528"/>
            <a:ext cx="3456432" cy="310896"/>
          </a:xfrm>
          <a:prstGeom prst="rect">
            <a:avLst/>
          </a:prstGeom>
          <a:noFill/>
        </p:spPr>
        <p:txBody>
          <a:bodyPr wrap="square">
            <a:spAutoFit/>
          </a:bodyPr>
          <a:lstStyle/>
          <a:p>
            <a:pPr algn="l"/>
            <a:r>
              <a:rPr sz="950" b="1" i="0">
                <a:solidFill>
                  <a:srgbClr val="16325C"/>
                </a:solidFill>
              </a:rPr>
              <a:t>Display &amp; DFM Analysis</a:t>
            </a:r>
          </a:p>
        </p:txBody>
      </p:sp>
      <p:sp>
        <p:nvSpPr>
          <p:cNvPr id="18" name="TextBox 17"/>
          <p:cNvSpPr txBox="1"/>
          <p:nvPr/>
        </p:nvSpPr>
        <p:spPr>
          <a:xfrm>
            <a:off x="4398264" y="2231136"/>
            <a:ext cx="3456432" cy="1499616"/>
          </a:xfrm>
          <a:prstGeom prst="rect">
            <a:avLst/>
          </a:prstGeom>
          <a:noFill/>
        </p:spPr>
        <p:txBody>
          <a:bodyPr wrap="square">
            <a:spAutoFit/>
          </a:bodyPr>
          <a:lstStyle/>
          <a:p>
            <a:pPr algn="l"/>
            <a:r>
              <a:rPr sz="850" b="0" i="0">
                <a:solidFill>
                  <a:srgbClr val="3A4356"/>
                </a:solidFill>
              </a:rPr>
              <a:t>Shaded / wireframe, bounding-box dims, grid toggle, colour-by-face-type, per-component colours + legend, draft &amp; undercut heatmap, wall-thickness heatmap.</a:t>
            </a:r>
          </a:p>
        </p:txBody>
      </p:sp>
      <p:sp>
        <p:nvSpPr>
          <p:cNvPr id="19" name="Rectangle 18"/>
          <p:cNvSpPr/>
          <p:nvPr/>
        </p:nvSpPr>
        <p:spPr>
          <a:xfrm>
            <a:off x="8129016" y="1847088"/>
            <a:ext cx="3639312" cy="1993392"/>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29016" y="1847088"/>
            <a:ext cx="54864" cy="1993392"/>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57032" y="1938528"/>
            <a:ext cx="3456432" cy="310896"/>
          </a:xfrm>
          <a:prstGeom prst="rect">
            <a:avLst/>
          </a:prstGeom>
          <a:noFill/>
        </p:spPr>
        <p:txBody>
          <a:bodyPr wrap="square">
            <a:spAutoFit/>
          </a:bodyPr>
          <a:lstStyle/>
          <a:p>
            <a:pPr algn="l"/>
            <a:r>
              <a:rPr sz="950" b="1" i="0">
                <a:solidFill>
                  <a:srgbClr val="16325C"/>
                </a:solidFill>
              </a:rPr>
              <a:t>Structure &amp; Assembly</a:t>
            </a:r>
          </a:p>
        </p:txBody>
      </p:sp>
      <p:sp>
        <p:nvSpPr>
          <p:cNvPr id="22" name="TextBox 21"/>
          <p:cNvSpPr txBox="1"/>
          <p:nvPr/>
        </p:nvSpPr>
        <p:spPr>
          <a:xfrm>
            <a:off x="8257032" y="2231136"/>
            <a:ext cx="3456432" cy="1499616"/>
          </a:xfrm>
          <a:prstGeom prst="rect">
            <a:avLst/>
          </a:prstGeom>
          <a:noFill/>
        </p:spPr>
        <p:txBody>
          <a:bodyPr wrap="square">
            <a:spAutoFit/>
          </a:bodyPr>
          <a:lstStyle/>
          <a:p>
            <a:pPr algn="l"/>
            <a:r>
              <a:rPr sz="850" b="0" i="0">
                <a:solidFill>
                  <a:srgbClr val="3A4356"/>
                </a:solidFill>
              </a:rPr>
              <a:t>Collapsible model tree (bodies · features · faces), section planes X/Y/Z, exploded view (Radial / X / Y / Z), per-part Move &amp; Rotate — isolated, the rest of the assembly stays put.</a:t>
            </a:r>
          </a:p>
        </p:txBody>
      </p:sp>
      <p:sp>
        <p:nvSpPr>
          <p:cNvPr id="23" name="Rectangle 22"/>
          <p:cNvSpPr/>
          <p:nvPr/>
        </p:nvSpPr>
        <p:spPr>
          <a:xfrm>
            <a:off x="411480" y="4023360"/>
            <a:ext cx="3639312" cy="1993392"/>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4023360"/>
            <a:ext cx="54864" cy="1993392"/>
          </a:xfrm>
          <a:prstGeom prst="rect">
            <a:avLst/>
          </a:prstGeom>
          <a:solidFill>
            <a:srgbClr val="9965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9496" y="4114800"/>
            <a:ext cx="3456432" cy="310896"/>
          </a:xfrm>
          <a:prstGeom prst="rect">
            <a:avLst/>
          </a:prstGeom>
          <a:noFill/>
        </p:spPr>
        <p:txBody>
          <a:bodyPr wrap="square">
            <a:spAutoFit/>
          </a:bodyPr>
          <a:lstStyle/>
          <a:p>
            <a:pPr algn="l"/>
            <a:r>
              <a:rPr sz="950" b="1" i="0">
                <a:solidFill>
                  <a:srgbClr val="16325C"/>
                </a:solidFill>
              </a:rPr>
              <a:t>Measure &amp; Inspect</a:t>
            </a:r>
          </a:p>
        </p:txBody>
      </p:sp>
      <p:sp>
        <p:nvSpPr>
          <p:cNvPr id="26" name="TextBox 25"/>
          <p:cNvSpPr txBox="1"/>
          <p:nvPr/>
        </p:nvSpPr>
        <p:spPr>
          <a:xfrm>
            <a:off x="539496" y="4407408"/>
            <a:ext cx="3456432" cy="1499616"/>
          </a:xfrm>
          <a:prstGeom prst="rect">
            <a:avLst/>
          </a:prstGeom>
          <a:noFill/>
        </p:spPr>
        <p:txBody>
          <a:bodyPr wrap="square">
            <a:spAutoFit/>
          </a:bodyPr>
          <a:lstStyle/>
          <a:p>
            <a:pPr algn="l"/>
            <a:r>
              <a:rPr sz="850" b="0" i="0">
                <a:solidFill>
                  <a:srgbClr val="3A4356"/>
                </a:solidFill>
              </a:rPr>
              <a:t>Distance, radius / diameter, angle, point X/Y/Z, face-to-face perpendicular — exact B-rep readouts, CSV export, snapshot straight into the cost report.</a:t>
            </a:r>
          </a:p>
        </p:txBody>
      </p:sp>
      <p:sp>
        <p:nvSpPr>
          <p:cNvPr id="27" name="Rectangle 26"/>
          <p:cNvSpPr/>
          <p:nvPr/>
        </p:nvSpPr>
        <p:spPr>
          <a:xfrm>
            <a:off x="4270248" y="4023360"/>
            <a:ext cx="3639312" cy="1993392"/>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270248" y="4023360"/>
            <a:ext cx="54864" cy="1993392"/>
          </a:xfrm>
          <a:prstGeom prst="rect">
            <a:avLst/>
          </a:prstGeom>
          <a:solidFill>
            <a:srgbClr val="0D7D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98264" y="4114800"/>
            <a:ext cx="3456432" cy="310896"/>
          </a:xfrm>
          <a:prstGeom prst="rect">
            <a:avLst/>
          </a:prstGeom>
          <a:noFill/>
        </p:spPr>
        <p:txBody>
          <a:bodyPr wrap="square">
            <a:spAutoFit/>
          </a:bodyPr>
          <a:lstStyle/>
          <a:p>
            <a:pPr algn="l"/>
            <a:r>
              <a:rPr sz="950" b="1" i="0">
                <a:solidFill>
                  <a:srgbClr val="16325C"/>
                </a:solidFill>
              </a:rPr>
              <a:t>SaaS-grade UX</a:t>
            </a:r>
          </a:p>
        </p:txBody>
      </p:sp>
      <p:sp>
        <p:nvSpPr>
          <p:cNvPr id="30" name="TextBox 29"/>
          <p:cNvSpPr txBox="1"/>
          <p:nvPr/>
        </p:nvSpPr>
        <p:spPr>
          <a:xfrm>
            <a:off x="4398264" y="4407408"/>
            <a:ext cx="3456432" cy="1499616"/>
          </a:xfrm>
          <a:prstGeom prst="rect">
            <a:avLst/>
          </a:prstGeom>
          <a:noFill/>
        </p:spPr>
        <p:txBody>
          <a:bodyPr wrap="square">
            <a:spAutoFit/>
          </a:bodyPr>
          <a:lstStyle/>
          <a:p>
            <a:pPr algn="l"/>
            <a:r>
              <a:rPr sz="850" b="0" i="0">
                <a:solidFill>
                  <a:srgbClr val="3A4356"/>
                </a:solidFill>
              </a:rPr>
              <a:t>Docked collapsible tree, drag-to-reorder tool groups, slide-away toolbar, professional line-icon set — fits cleanly beside the app sidebar at any width.</a:t>
            </a:r>
          </a:p>
        </p:txBody>
      </p:sp>
      <p:sp>
        <p:nvSpPr>
          <p:cNvPr id="31" name="Rectangle 30"/>
          <p:cNvSpPr/>
          <p:nvPr/>
        </p:nvSpPr>
        <p:spPr>
          <a:xfrm>
            <a:off x="8129016" y="4023360"/>
            <a:ext cx="3639312" cy="1993392"/>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29016" y="4023360"/>
            <a:ext cx="54864" cy="1993392"/>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75320" y="4133088"/>
            <a:ext cx="3419856" cy="274320"/>
          </a:xfrm>
          <a:prstGeom prst="rect">
            <a:avLst/>
          </a:prstGeom>
          <a:noFill/>
        </p:spPr>
        <p:txBody>
          <a:bodyPr wrap="square">
            <a:spAutoFit/>
          </a:bodyPr>
          <a:lstStyle/>
          <a:p>
            <a:pPr algn="l"/>
            <a:r>
              <a:rPr sz="1000" b="1" i="0">
                <a:solidFill>
                  <a:srgbClr val="2A7F50"/>
                </a:solidFill>
              </a:rPr>
              <a:t>One viewer, many jobs</a:t>
            </a:r>
          </a:p>
        </p:txBody>
      </p:sp>
      <p:sp>
        <p:nvSpPr>
          <p:cNvPr id="34" name="TextBox 33"/>
          <p:cNvSpPr txBox="1"/>
          <p:nvPr/>
        </p:nvSpPr>
        <p:spPr>
          <a:xfrm>
            <a:off x="8275320" y="4480560"/>
            <a:ext cx="3419856" cy="1444752"/>
          </a:xfrm>
          <a:prstGeom prst="rect">
            <a:avLst/>
          </a:prstGeom>
          <a:noFill/>
        </p:spPr>
        <p:txBody>
          <a:bodyPr wrap="square">
            <a:spAutoFit/>
          </a:bodyPr>
          <a:lstStyle/>
          <a:p>
            <a:pPr algn="l"/>
            <a:r>
              <a:rPr sz="900" b="0" i="0">
                <a:solidFill>
                  <a:srgbClr val="3A4356"/>
                </a:solidFill>
              </a:rPr>
              <a:t>24 tools · 6 groups
STEP / IGES / STL
Runs in the browser
B-rep-accurate geometry
Everything measured here
feeds the cost engine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86F7D"/>
                </a:solidFill>
              </a:rPr>
              <a:t>SLIDE 07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CAD-TO-COST · ZERO MANUAL ENTRY</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What's Auto-Captured — Fed to the Cost Engine</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Geometry is measured, not typed. AI only classifies material &amp; process; every £ is deterministic and traceable.</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86F7D"/>
                </a:solidFill>
              </a:rPr>
              <a:t>CostVision — AI-Powered Should-Cost Intelligence  |  Avinash Bhosale  |  Confidential</a:t>
            </a:r>
          </a:p>
        </p:txBody>
      </p:sp>
      <p:graphicFrame>
        <p:nvGraphicFramePr>
          <p:cNvPr id="11" name="Table 10"/>
          <p:cNvGraphicFramePr>
            <a:graphicFrameLocks noGrp="1"/>
          </p:cNvGraphicFramePr>
          <p:nvPr/>
        </p:nvGraphicFramePr>
        <p:xfrm>
          <a:off x="411480" y="1874519"/>
          <a:ext cx="6720840" cy="4160520"/>
        </p:xfrm>
        <a:graphic>
          <a:graphicData uri="http://schemas.openxmlformats.org/drawingml/2006/table">
            <a:tbl>
              <a:tblPr firstRow="1" bandRow="1">
                <a:tableStyleId>{5C22544A-7EE6-4342-B048-85BDC9FD1C3A}</a:tableStyleId>
              </a:tblPr>
              <a:tblGrid>
                <a:gridCol w="3794760"/>
                <a:gridCol w="2926080"/>
              </a:tblGrid>
              <a:tr h="416052">
                <a:tc>
                  <a:txBody>
                    <a:bodyPr/>
                    <a:lstStyle/>
                    <a:p>
                      <a:pPr algn="l"/>
                      <a:r>
                        <a:rPr sz="750" b="1">
                          <a:solidFill>
                            <a:srgbClr val="FFFFFF"/>
                          </a:solidFill>
                        </a:rPr>
                        <a:t>Auto-captured from geometry (no typing)</a:t>
                      </a:r>
                    </a:p>
                  </a:txBody>
                  <a:tcPr>
                    <a:solidFill>
                      <a:srgbClr val="16325C"/>
                    </a:solidFill>
                  </a:tcPr>
                </a:tc>
                <a:tc>
                  <a:txBody>
                    <a:bodyPr/>
                    <a:lstStyle/>
                    <a:p>
                      <a:pPr algn="l"/>
                      <a:r>
                        <a:rPr sz="750" b="1">
                          <a:solidFill>
                            <a:srgbClr val="FFFFFF"/>
                          </a:solidFill>
                        </a:rPr>
                        <a:t>→ Feeds this cost driver</a:t>
                      </a:r>
                    </a:p>
                  </a:txBody>
                  <a:tcPr>
                    <a:solidFill>
                      <a:srgbClr val="16325C"/>
                    </a:solidFill>
                  </a:tcPr>
                </a:tc>
              </a:tr>
              <a:tr h="416052">
                <a:tc>
                  <a:txBody>
                    <a:bodyPr/>
                    <a:lstStyle/>
                    <a:p>
                      <a:pPr algn="l"/>
                      <a:r>
                        <a:rPr sz="750" b="1">
                          <a:solidFill>
                            <a:srgbClr val="1D6FB8"/>
                          </a:solidFill>
                        </a:rPr>
                        <a:t>Volume — exact, from the CAD kernel (OCCT)</a:t>
                      </a:r>
                    </a:p>
                  </a:txBody>
                  <a:tcPr>
                    <a:solidFill>
                      <a:srgbClr val="FFFFFF"/>
                    </a:solidFill>
                  </a:tcPr>
                </a:tc>
                <a:tc>
                  <a:txBody>
                    <a:bodyPr/>
                    <a:lstStyle/>
                    <a:p>
                      <a:pPr algn="l"/>
                      <a:r>
                        <a:rPr sz="750">
                          <a:solidFill>
                            <a:srgbClr val="3A4356"/>
                          </a:solidFill>
                        </a:rPr>
                        <a:t>Material mass · stock size</a:t>
                      </a:r>
                    </a:p>
                  </a:txBody>
                  <a:tcPr>
                    <a:solidFill>
                      <a:srgbClr val="FFFFFF"/>
                    </a:solidFill>
                  </a:tcPr>
                </a:tc>
              </a:tr>
              <a:tr h="416052">
                <a:tc>
                  <a:txBody>
                    <a:bodyPr/>
                    <a:lstStyle/>
                    <a:p>
                      <a:pPr algn="l"/>
                      <a:r>
                        <a:rPr sz="750" b="1">
                          <a:solidFill>
                            <a:srgbClr val="1D6FB8"/>
                          </a:solidFill>
                        </a:rPr>
                        <a:t>Weight per material = volume × density</a:t>
                      </a:r>
                    </a:p>
                  </a:txBody>
                  <a:tcPr>
                    <a:solidFill>
                      <a:srgbClr val="F7F9FC"/>
                    </a:solidFill>
                  </a:tcPr>
                </a:tc>
                <a:tc>
                  <a:txBody>
                    <a:bodyPr/>
                    <a:lstStyle/>
                    <a:p>
                      <a:pPr algn="l"/>
                      <a:r>
                        <a:rPr sz="750">
                          <a:solidFill>
                            <a:srgbClr val="3A4356"/>
                          </a:solidFill>
                        </a:rPr>
                        <a:t>Raw-material £  (Al / steel / iron / Cu / Ti)</a:t>
                      </a:r>
                    </a:p>
                  </a:txBody>
                  <a:tcPr>
                    <a:solidFill>
                      <a:srgbClr val="F7F9FC"/>
                    </a:solidFill>
                  </a:tcPr>
                </a:tc>
              </a:tr>
              <a:tr h="416052">
                <a:tc>
                  <a:txBody>
                    <a:bodyPr/>
                    <a:lstStyle/>
                    <a:p>
                      <a:pPr algn="l"/>
                      <a:r>
                        <a:rPr sz="750" b="1">
                          <a:solidFill>
                            <a:srgbClr val="1D6FB8"/>
                          </a:solidFill>
                        </a:rPr>
                        <a:t>Bounding box / envelope</a:t>
                      </a:r>
                    </a:p>
                  </a:txBody>
                  <a:tcPr>
                    <a:solidFill>
                      <a:srgbClr val="FFFFFF"/>
                    </a:solidFill>
                  </a:tcPr>
                </a:tc>
                <a:tc>
                  <a:txBody>
                    <a:bodyPr/>
                    <a:lstStyle/>
                    <a:p>
                      <a:pPr algn="l"/>
                      <a:r>
                        <a:rPr sz="750">
                          <a:solidFill>
                            <a:srgbClr val="3A4356"/>
                          </a:solidFill>
                        </a:rPr>
                        <a:t>Machine sizing · stock · setups</a:t>
                      </a:r>
                    </a:p>
                  </a:txBody>
                  <a:tcPr>
                    <a:solidFill>
                      <a:srgbClr val="FFFFFF"/>
                    </a:solidFill>
                  </a:tcPr>
                </a:tc>
              </a:tr>
              <a:tr h="416052">
                <a:tc>
                  <a:txBody>
                    <a:bodyPr/>
                    <a:lstStyle/>
                    <a:p>
                      <a:pPr algn="l"/>
                      <a:r>
                        <a:rPr sz="750" b="1">
                          <a:solidFill>
                            <a:srgbClr val="1D6FB8"/>
                          </a:solidFill>
                        </a:rPr>
                        <a:t>Body / component count</a:t>
                      </a:r>
                    </a:p>
                  </a:txBody>
                  <a:tcPr>
                    <a:solidFill>
                      <a:srgbClr val="F7F9FC"/>
                    </a:solidFill>
                  </a:tcPr>
                </a:tc>
                <a:tc>
                  <a:txBody>
                    <a:bodyPr/>
                    <a:lstStyle/>
                    <a:p>
                      <a:pPr algn="l"/>
                      <a:r>
                        <a:rPr sz="750">
                          <a:solidFill>
                            <a:srgbClr val="3A4356"/>
                          </a:solidFill>
                        </a:rPr>
                        <a:t>Assembly cost · BOM line count</a:t>
                      </a:r>
                    </a:p>
                  </a:txBody>
                  <a:tcPr>
                    <a:solidFill>
                      <a:srgbClr val="F7F9FC"/>
                    </a:solidFill>
                  </a:tcPr>
                </a:tc>
              </a:tr>
              <a:tr h="416052">
                <a:tc>
                  <a:txBody>
                    <a:bodyPr/>
                    <a:lstStyle/>
                    <a:p>
                      <a:pPr algn="l"/>
                      <a:r>
                        <a:rPr sz="750" b="1">
                          <a:solidFill>
                            <a:srgbClr val="1D6FB8"/>
                          </a:solidFill>
                        </a:rPr>
                        <a:t>Hole &amp; boss table — Ø, depth, count</a:t>
                      </a:r>
                    </a:p>
                  </a:txBody>
                  <a:tcPr>
                    <a:solidFill>
                      <a:srgbClr val="FFFFFF"/>
                    </a:solidFill>
                  </a:tcPr>
                </a:tc>
                <a:tc>
                  <a:txBody>
                    <a:bodyPr/>
                    <a:lstStyle/>
                    <a:p>
                      <a:pPr algn="l"/>
                      <a:r>
                        <a:rPr sz="750">
                          <a:solidFill>
                            <a:srgbClr val="3A4356"/>
                          </a:solidFill>
                        </a:rPr>
                        <a:t>Secondary machining: drill / bore / tap</a:t>
                      </a:r>
                    </a:p>
                  </a:txBody>
                  <a:tcPr>
                    <a:solidFill>
                      <a:srgbClr val="FFFFFF"/>
                    </a:solidFill>
                  </a:tcPr>
                </a:tc>
              </a:tr>
              <a:tr h="416052">
                <a:tc>
                  <a:txBody>
                    <a:bodyPr/>
                    <a:lstStyle/>
                    <a:p>
                      <a:pPr algn="l"/>
                      <a:r>
                        <a:rPr sz="750" b="1">
                          <a:solidFill>
                            <a:srgbClr val="1D6FB8"/>
                          </a:solidFill>
                        </a:rPr>
                        <a:t>Wall thickness — min / mean / heatmap</a:t>
                      </a:r>
                    </a:p>
                  </a:txBody>
                  <a:tcPr>
                    <a:solidFill>
                      <a:srgbClr val="F7F9FC"/>
                    </a:solidFill>
                  </a:tcPr>
                </a:tc>
                <a:tc>
                  <a:txBody>
                    <a:bodyPr/>
                    <a:lstStyle/>
                    <a:p>
                      <a:pPr algn="l"/>
                      <a:r>
                        <a:rPr sz="750">
                          <a:solidFill>
                            <a:srgbClr val="3A4356"/>
                          </a:solidFill>
                        </a:rPr>
                        <a:t>Moulding &amp; casting feasibility · cooling</a:t>
                      </a:r>
                    </a:p>
                  </a:txBody>
                  <a:tcPr>
                    <a:solidFill>
                      <a:srgbClr val="F7F9FC"/>
                    </a:solidFill>
                  </a:tcPr>
                </a:tc>
              </a:tr>
              <a:tr h="416052">
                <a:tc>
                  <a:txBody>
                    <a:bodyPr/>
                    <a:lstStyle/>
                    <a:p>
                      <a:pPr algn="l"/>
                      <a:r>
                        <a:rPr sz="750" b="1">
                          <a:solidFill>
                            <a:srgbClr val="1D6FB8"/>
                          </a:solidFill>
                        </a:rPr>
                        <a:t>Draft &amp; undercut analysis</a:t>
                      </a:r>
                    </a:p>
                  </a:txBody>
                  <a:tcPr>
                    <a:solidFill>
                      <a:srgbClr val="FFFFFF"/>
                    </a:solidFill>
                  </a:tcPr>
                </a:tc>
                <a:tc>
                  <a:txBody>
                    <a:bodyPr/>
                    <a:lstStyle/>
                    <a:p>
                      <a:pPr algn="l"/>
                      <a:r>
                        <a:rPr sz="750">
                          <a:solidFill>
                            <a:srgbClr val="3A4356"/>
                          </a:solidFill>
                        </a:rPr>
                        <a:t>Tooling complexity — slides for undercuts</a:t>
                      </a:r>
                    </a:p>
                  </a:txBody>
                  <a:tcPr>
                    <a:solidFill>
                      <a:srgbClr val="FFFFFF"/>
                    </a:solidFill>
                  </a:tcPr>
                </a:tc>
              </a:tr>
              <a:tr h="416052">
                <a:tc>
                  <a:txBody>
                    <a:bodyPr/>
                    <a:lstStyle/>
                    <a:p>
                      <a:pPr algn="l"/>
                      <a:r>
                        <a:rPr sz="750" b="1">
                          <a:solidFill>
                            <a:srgbClr val="1D6FB8"/>
                          </a:solidFill>
                        </a:rPr>
                        <a:t>Face-type areas (planar / cylindrical)</a:t>
                      </a:r>
                    </a:p>
                  </a:txBody>
                  <a:tcPr>
                    <a:solidFill>
                      <a:srgbClr val="F7F9FC"/>
                    </a:solidFill>
                  </a:tcPr>
                </a:tc>
                <a:tc>
                  <a:txBody>
                    <a:bodyPr/>
                    <a:lstStyle/>
                    <a:p>
                      <a:pPr algn="l"/>
                      <a:r>
                        <a:rPr sz="750">
                          <a:solidFill>
                            <a:srgbClr val="3A4356"/>
                          </a:solidFill>
                        </a:rPr>
                        <a:t>Machining area · paint / coat area</a:t>
                      </a:r>
                    </a:p>
                  </a:txBody>
                  <a:tcPr>
                    <a:solidFill>
                      <a:srgbClr val="F7F9FC"/>
                    </a:solidFill>
                  </a:tcPr>
                </a:tc>
              </a:tr>
              <a:tr h="416052">
                <a:tc>
                  <a:txBody>
                    <a:bodyPr/>
                    <a:lstStyle/>
                    <a:p>
                      <a:pPr algn="l"/>
                      <a:r>
                        <a:rPr sz="750" b="1">
                          <a:solidFill>
                            <a:srgbClr val="1D6FB8"/>
                          </a:solidFill>
                        </a:rPr>
                        <a:t>CNC cycle-time &amp; setup estimate</a:t>
                      </a:r>
                    </a:p>
                  </a:txBody>
                  <a:tcPr>
                    <a:solidFill>
                      <a:srgbClr val="FFFFFF"/>
                    </a:solidFill>
                  </a:tcPr>
                </a:tc>
                <a:tc>
                  <a:txBody>
                    <a:bodyPr/>
                    <a:lstStyle/>
                    <a:p>
                      <a:pPr algn="l"/>
                      <a:r>
                        <a:rPr sz="750">
                          <a:solidFill>
                            <a:srgbClr val="3A4356"/>
                          </a:solidFill>
                        </a:rPr>
                        <a:t>Process-time baseline</a:t>
                      </a:r>
                    </a:p>
                  </a:txBody>
                  <a:tcPr>
                    <a:solidFill>
                      <a:srgbClr val="FFFFFF"/>
                    </a:solidFill>
                  </a:tcPr>
                </a:tc>
              </a:tr>
            </a:tbl>
          </a:graphicData>
        </a:graphic>
      </p:graphicFrame>
      <p:sp>
        <p:nvSpPr>
          <p:cNvPr id="12" name="Rectangle 11"/>
          <p:cNvSpPr/>
          <p:nvPr/>
        </p:nvSpPr>
        <p:spPr>
          <a:xfrm>
            <a:off x="7360920" y="1874519"/>
            <a:ext cx="4434840" cy="2487168"/>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360920" y="1874519"/>
            <a:ext cx="54864" cy="2487168"/>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07224" y="1956816"/>
            <a:ext cx="4197096" cy="274320"/>
          </a:xfrm>
          <a:prstGeom prst="rect">
            <a:avLst/>
          </a:prstGeom>
          <a:noFill/>
        </p:spPr>
        <p:txBody>
          <a:bodyPr wrap="square">
            <a:spAutoFit/>
          </a:bodyPr>
          <a:lstStyle/>
          <a:p>
            <a:pPr algn="l"/>
            <a:r>
              <a:rPr sz="1000" b="1" i="0">
                <a:solidFill>
                  <a:srgbClr val="16325C"/>
                </a:solidFill>
                <a:latin typeface="Segoe UI Emoji"/>
              </a:rPr>
              <a:t>⚙</a:t>
            </a:r>
            <a:r>
              <a:rPr sz="1000" b="1" i="0">
                <a:solidFill>
                  <a:srgbClr val="16325C"/>
                </a:solidFill>
              </a:rPr>
              <a:t>  Worked example — Spur Gear (m3 · z38)</a:t>
            </a:r>
          </a:p>
        </p:txBody>
      </p:sp>
      <p:sp>
        <p:nvSpPr>
          <p:cNvPr id="15" name="TextBox 14"/>
          <p:cNvSpPr txBox="1"/>
          <p:nvPr/>
        </p:nvSpPr>
        <p:spPr>
          <a:xfrm>
            <a:off x="7507224" y="2286000"/>
            <a:ext cx="4197096" cy="2011680"/>
          </a:xfrm>
          <a:prstGeom prst="rect">
            <a:avLst/>
          </a:prstGeom>
          <a:noFill/>
        </p:spPr>
        <p:txBody>
          <a:bodyPr wrap="square">
            <a:spAutoFit/>
          </a:bodyPr>
          <a:lstStyle/>
          <a:p>
            <a:pPr algn="l"/>
            <a:r>
              <a:rPr sz="900" b="0" i="0">
                <a:solidFill>
                  <a:srgbClr val="3A4356"/>
                </a:solidFill>
              </a:rPr>
              <a:t>20MnCr5 case-hardening steel — captured automatically:
   Volume 264.9 cm³   ·   Weight 2.08 kg
   Envelope 120 × 120 × 30 mm   ·   1 body
→ Should-cost, India ex-works (GBP):
   Material £3.36 · Process £11.40 · Labour £1.36
   Overhead £1.95 · Margin £1.83  + heat-treat £1.77
   =  £21.90 / part   (≈ ₹2,398)   ·   £10.53 / kg</a:t>
            </a:r>
          </a:p>
        </p:txBody>
      </p:sp>
      <p:sp>
        <p:nvSpPr>
          <p:cNvPr id="16" name="Rectangle 15"/>
          <p:cNvSpPr/>
          <p:nvPr/>
        </p:nvSpPr>
        <p:spPr>
          <a:xfrm>
            <a:off x="7360920" y="4526280"/>
            <a:ext cx="4434840" cy="1508760"/>
          </a:xfrm>
          <a:prstGeom prst="rect">
            <a:avLst/>
          </a:prstGeom>
          <a:solidFill>
            <a:srgbClr val="FFFFFF"/>
          </a:solidFill>
          <a:ln w="11430">
            <a:solidFill>
              <a:srgbClr val="2A7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60920" y="4526280"/>
            <a:ext cx="54864" cy="1508760"/>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507224" y="4608576"/>
            <a:ext cx="4197096" cy="274320"/>
          </a:xfrm>
          <a:prstGeom prst="rect">
            <a:avLst/>
          </a:prstGeom>
          <a:noFill/>
        </p:spPr>
        <p:txBody>
          <a:bodyPr wrap="square">
            <a:spAutoFit/>
          </a:bodyPr>
          <a:lstStyle/>
          <a:p>
            <a:pPr algn="l"/>
            <a:r>
              <a:rPr sz="1000" b="1" i="0">
                <a:solidFill>
                  <a:srgbClr val="2A7F50"/>
                </a:solidFill>
                <a:latin typeface="Segoe UI Emoji"/>
              </a:rPr>
              <a:t>🔒</a:t>
            </a:r>
            <a:r>
              <a:rPr sz="1000" b="1" i="0">
                <a:solidFill>
                  <a:srgbClr val="2A7F50"/>
                </a:solidFill>
              </a:rPr>
              <a:t>  The golden rule</a:t>
            </a:r>
          </a:p>
        </p:txBody>
      </p:sp>
      <p:sp>
        <p:nvSpPr>
          <p:cNvPr id="19" name="TextBox 18"/>
          <p:cNvSpPr txBox="1"/>
          <p:nvPr/>
        </p:nvSpPr>
        <p:spPr>
          <a:xfrm>
            <a:off x="7507224" y="4937760"/>
            <a:ext cx="4197096" cy="1051560"/>
          </a:xfrm>
          <a:prstGeom prst="rect">
            <a:avLst/>
          </a:prstGeom>
          <a:noFill/>
        </p:spPr>
        <p:txBody>
          <a:bodyPr wrap="square">
            <a:spAutoFit/>
          </a:bodyPr>
          <a:lstStyle/>
          <a:p>
            <a:pPr algn="l"/>
            <a:r>
              <a:rPr sz="900" b="0" i="0">
                <a:solidFill>
                  <a:srgbClr val="3A4356"/>
                </a:solidFill>
              </a:rPr>
              <a:t>AI never sets a price. It only reads and classifies — material family, process route, feature intent. Every number above is deterministic arithmetic in the cost engine, bounded by the measured geometry and traceable to the rate library. That is what makes the output defensible.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86F7D"/>
                </a:solidFill>
              </a:rPr>
              <a:t>SLIDE 08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WORKFLOW</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AI Agent — 8-Step End-to-End Flow</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Three entry points. One intelligent engine. Full cost intelligence in under 5 minutes.</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86F7D"/>
                </a:solidFill>
              </a:rPr>
              <a:t>CostVision — AI-Powered Should-Cost Intelligence  |  Avinash Bhosale  |  Confidential</a:t>
            </a:r>
          </a:p>
        </p:txBody>
      </p:sp>
      <p:sp>
        <p:nvSpPr>
          <p:cNvPr id="11" name="Rectangle 10"/>
          <p:cNvSpPr/>
          <p:nvPr/>
        </p:nvSpPr>
        <p:spPr>
          <a:xfrm>
            <a:off x="411480" y="1810512"/>
            <a:ext cx="11384280" cy="45720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865376"/>
            <a:ext cx="11064240" cy="329184"/>
          </a:xfrm>
          <a:prstGeom prst="rect">
            <a:avLst/>
          </a:prstGeom>
          <a:noFill/>
        </p:spPr>
        <p:txBody>
          <a:bodyPr wrap="square">
            <a:spAutoFit/>
          </a:bodyPr>
          <a:lstStyle/>
          <a:p>
            <a:pPr algn="ctr"/>
            <a:r>
              <a:rPr sz="900" b="0" i="0">
                <a:solidFill>
                  <a:srgbClr val="3A4356"/>
                </a:solidFill>
              </a:rPr>
              <a:t>Entry Point A: </a:t>
            </a:r>
            <a:r>
              <a:rPr sz="900" b="0" i="0">
                <a:solidFill>
                  <a:srgbClr val="3A4356"/>
                </a:solidFill>
                <a:latin typeface="Segoe UI Emoji"/>
              </a:rPr>
              <a:t>🤖</a:t>
            </a:r>
            <a:r>
              <a:rPr sz="900" b="0" i="0">
                <a:solidFill>
                  <a:srgbClr val="3A4356"/>
                </a:solidFill>
              </a:rPr>
              <a:t> AI Agent (plain English description)   |   Entry Point B: </a:t>
            </a:r>
            <a:r>
              <a:rPr sz="900" b="0" i="0">
                <a:solidFill>
                  <a:srgbClr val="3A4356"/>
                </a:solidFill>
                <a:latin typeface="Segoe UI Emoji"/>
              </a:rPr>
              <a:t>📐</a:t>
            </a:r>
            <a:r>
              <a:rPr sz="900" b="0" i="0">
                <a:solidFill>
                  <a:srgbClr val="3A4356"/>
                </a:solidFill>
              </a:rPr>
              <a:t> CAD / Photo Upload   |   Entry Point C: </a:t>
            </a:r>
            <a:r>
              <a:rPr sz="900" b="0" i="0">
                <a:solidFill>
                  <a:srgbClr val="3A4356"/>
                </a:solidFill>
                <a:latin typeface="Segoe UI Emoji"/>
              </a:rPr>
              <a:t>✏️</a:t>
            </a:r>
            <a:r>
              <a:rPr sz="900" b="0" i="0">
                <a:solidFill>
                  <a:srgbClr val="3A4356"/>
                </a:solidFill>
              </a:rPr>
              <a:t> Manual Form Entry</a:t>
            </a:r>
          </a:p>
        </p:txBody>
      </p:sp>
      <p:sp>
        <p:nvSpPr>
          <p:cNvPr id="13" name="Rectangle 12"/>
          <p:cNvSpPr/>
          <p:nvPr/>
        </p:nvSpPr>
        <p:spPr>
          <a:xfrm>
            <a:off x="411480" y="2377440"/>
            <a:ext cx="1384515" cy="34747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11480" y="2377440"/>
            <a:ext cx="1384515" cy="36576"/>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11480" y="2432304"/>
            <a:ext cx="1384515" cy="274320"/>
          </a:xfrm>
          <a:prstGeom prst="rect">
            <a:avLst/>
          </a:prstGeom>
          <a:noFill/>
        </p:spPr>
        <p:txBody>
          <a:bodyPr wrap="square">
            <a:spAutoFit/>
          </a:bodyPr>
          <a:lstStyle/>
          <a:p>
            <a:pPr algn="ctr"/>
            <a:r>
              <a:rPr sz="1000" b="1" i="0">
                <a:solidFill>
                  <a:srgbClr val="1D6FB8"/>
                </a:solidFill>
              </a:rPr>
              <a:t>1</a:t>
            </a:r>
          </a:p>
        </p:txBody>
      </p:sp>
      <p:sp>
        <p:nvSpPr>
          <p:cNvPr id="16" name="TextBox 15"/>
          <p:cNvSpPr txBox="1"/>
          <p:nvPr/>
        </p:nvSpPr>
        <p:spPr>
          <a:xfrm>
            <a:off x="411480" y="2679192"/>
            <a:ext cx="1384515" cy="274320"/>
          </a:xfrm>
          <a:prstGeom prst="rect">
            <a:avLst/>
          </a:prstGeom>
          <a:noFill/>
        </p:spPr>
        <p:txBody>
          <a:bodyPr wrap="square">
            <a:spAutoFit/>
          </a:bodyPr>
          <a:lstStyle/>
          <a:p>
            <a:pPr algn="ctr"/>
            <a:r>
              <a:rPr sz="1400" b="0" i="0">
                <a:solidFill>
                  <a:srgbClr val="16325C"/>
                </a:solidFill>
                <a:latin typeface="Segoe UI Emoji"/>
              </a:rPr>
              <a:t>🏭</a:t>
            </a:r>
          </a:p>
        </p:txBody>
      </p:sp>
      <p:sp>
        <p:nvSpPr>
          <p:cNvPr id="17" name="TextBox 16"/>
          <p:cNvSpPr txBox="1"/>
          <p:nvPr/>
        </p:nvSpPr>
        <p:spPr>
          <a:xfrm>
            <a:off x="466344" y="2944368"/>
            <a:ext cx="1274787" cy="292608"/>
          </a:xfrm>
          <a:prstGeom prst="rect">
            <a:avLst/>
          </a:prstGeom>
          <a:noFill/>
        </p:spPr>
        <p:txBody>
          <a:bodyPr wrap="square">
            <a:spAutoFit/>
          </a:bodyPr>
          <a:lstStyle/>
          <a:p>
            <a:pPr algn="ctr"/>
            <a:r>
              <a:rPr sz="750" b="1" i="0">
                <a:solidFill>
                  <a:srgbClr val="16325C"/>
                </a:solidFill>
              </a:rPr>
              <a:t>Select
Commodity</a:t>
            </a:r>
          </a:p>
        </p:txBody>
      </p:sp>
      <p:sp>
        <p:nvSpPr>
          <p:cNvPr id="18" name="TextBox 17"/>
          <p:cNvSpPr txBox="1"/>
          <p:nvPr/>
        </p:nvSpPr>
        <p:spPr>
          <a:xfrm>
            <a:off x="466344" y="3218688"/>
            <a:ext cx="1274787" cy="2560320"/>
          </a:xfrm>
          <a:prstGeom prst="rect">
            <a:avLst/>
          </a:prstGeom>
          <a:noFill/>
        </p:spPr>
        <p:txBody>
          <a:bodyPr wrap="square">
            <a:spAutoFit/>
          </a:bodyPr>
          <a:lstStyle/>
          <a:p>
            <a:pPr algn="ctr"/>
            <a:r>
              <a:rPr sz="750" b="0" i="0">
                <a:solidFill>
                  <a:srgbClr val="3A4356"/>
                </a:solidFill>
              </a:rPr>
              <a:t>Choose from 21 manufacturing commodities or let AI Agent auto-detect</a:t>
            </a:r>
          </a:p>
        </p:txBody>
      </p:sp>
      <p:sp>
        <p:nvSpPr>
          <p:cNvPr id="19" name="TextBox 18"/>
          <p:cNvSpPr txBox="1"/>
          <p:nvPr/>
        </p:nvSpPr>
        <p:spPr>
          <a:xfrm>
            <a:off x="1649691" y="3931920"/>
            <a:ext cx="228600" cy="274320"/>
          </a:xfrm>
          <a:prstGeom prst="rect">
            <a:avLst/>
          </a:prstGeom>
          <a:noFill/>
        </p:spPr>
        <p:txBody>
          <a:bodyPr wrap="square">
            <a:spAutoFit/>
          </a:bodyPr>
          <a:lstStyle/>
          <a:p>
            <a:pPr algn="l"/>
            <a:r>
              <a:rPr sz="900" b="1" i="0">
                <a:solidFill>
                  <a:srgbClr val="1D6FB8"/>
                </a:solidFill>
              </a:rPr>
              <a:t>→</a:t>
            </a:r>
          </a:p>
        </p:txBody>
      </p:sp>
      <p:sp>
        <p:nvSpPr>
          <p:cNvPr id="20" name="Rectangle 19"/>
          <p:cNvSpPr/>
          <p:nvPr/>
        </p:nvSpPr>
        <p:spPr>
          <a:xfrm>
            <a:off x="1832571" y="2377440"/>
            <a:ext cx="1384515" cy="34747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832571" y="2377440"/>
            <a:ext cx="1384515" cy="36576"/>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832571" y="2432304"/>
            <a:ext cx="1384515" cy="274320"/>
          </a:xfrm>
          <a:prstGeom prst="rect">
            <a:avLst/>
          </a:prstGeom>
          <a:noFill/>
        </p:spPr>
        <p:txBody>
          <a:bodyPr wrap="square">
            <a:spAutoFit/>
          </a:bodyPr>
          <a:lstStyle/>
          <a:p>
            <a:pPr algn="ctr"/>
            <a:r>
              <a:rPr sz="1000" b="1" i="0">
                <a:solidFill>
                  <a:srgbClr val="1D6FB8"/>
                </a:solidFill>
              </a:rPr>
              <a:t>2</a:t>
            </a:r>
          </a:p>
        </p:txBody>
      </p:sp>
      <p:sp>
        <p:nvSpPr>
          <p:cNvPr id="23" name="TextBox 22"/>
          <p:cNvSpPr txBox="1"/>
          <p:nvPr/>
        </p:nvSpPr>
        <p:spPr>
          <a:xfrm>
            <a:off x="1832571" y="2679192"/>
            <a:ext cx="1384515" cy="274320"/>
          </a:xfrm>
          <a:prstGeom prst="rect">
            <a:avLst/>
          </a:prstGeom>
          <a:noFill/>
        </p:spPr>
        <p:txBody>
          <a:bodyPr wrap="square">
            <a:spAutoFit/>
          </a:bodyPr>
          <a:lstStyle/>
          <a:p>
            <a:pPr algn="ctr"/>
            <a:r>
              <a:rPr sz="1400" b="0" i="0">
                <a:solidFill>
                  <a:srgbClr val="16325C"/>
                </a:solidFill>
                <a:latin typeface="Segoe UI Emoji"/>
              </a:rPr>
              <a:t>🤖</a:t>
            </a:r>
          </a:p>
        </p:txBody>
      </p:sp>
      <p:sp>
        <p:nvSpPr>
          <p:cNvPr id="24" name="TextBox 23"/>
          <p:cNvSpPr txBox="1"/>
          <p:nvPr/>
        </p:nvSpPr>
        <p:spPr>
          <a:xfrm>
            <a:off x="1887435" y="2944368"/>
            <a:ext cx="1274787" cy="292608"/>
          </a:xfrm>
          <a:prstGeom prst="rect">
            <a:avLst/>
          </a:prstGeom>
          <a:noFill/>
        </p:spPr>
        <p:txBody>
          <a:bodyPr wrap="square">
            <a:spAutoFit/>
          </a:bodyPr>
          <a:lstStyle/>
          <a:p>
            <a:pPr algn="ctr"/>
            <a:r>
              <a:rPr sz="750" b="1" i="0">
                <a:solidFill>
                  <a:srgbClr val="16325C"/>
                </a:solidFill>
              </a:rPr>
              <a:t>AI Agent /
CAD / Manual</a:t>
            </a:r>
          </a:p>
        </p:txBody>
      </p:sp>
      <p:sp>
        <p:nvSpPr>
          <p:cNvPr id="25" name="TextBox 24"/>
          <p:cNvSpPr txBox="1"/>
          <p:nvPr/>
        </p:nvSpPr>
        <p:spPr>
          <a:xfrm>
            <a:off x="1887435" y="3218688"/>
            <a:ext cx="1274787" cy="2560320"/>
          </a:xfrm>
          <a:prstGeom prst="rect">
            <a:avLst/>
          </a:prstGeom>
          <a:noFill/>
        </p:spPr>
        <p:txBody>
          <a:bodyPr wrap="square">
            <a:spAutoFit/>
          </a:bodyPr>
          <a:lstStyle/>
          <a:p>
            <a:pPr algn="ctr"/>
            <a:r>
              <a:rPr sz="750" b="0" i="0">
                <a:solidFill>
                  <a:srgbClr val="3A4356"/>
                </a:solidFill>
              </a:rPr>
              <a:t>Describe part, upload file, or enter parameters directly</a:t>
            </a:r>
          </a:p>
        </p:txBody>
      </p:sp>
      <p:sp>
        <p:nvSpPr>
          <p:cNvPr id="26" name="TextBox 25"/>
          <p:cNvSpPr txBox="1"/>
          <p:nvPr/>
        </p:nvSpPr>
        <p:spPr>
          <a:xfrm>
            <a:off x="3070783" y="3931920"/>
            <a:ext cx="228600" cy="274320"/>
          </a:xfrm>
          <a:prstGeom prst="rect">
            <a:avLst/>
          </a:prstGeom>
          <a:noFill/>
        </p:spPr>
        <p:txBody>
          <a:bodyPr wrap="square">
            <a:spAutoFit/>
          </a:bodyPr>
          <a:lstStyle/>
          <a:p>
            <a:pPr algn="l"/>
            <a:r>
              <a:rPr sz="900" b="1" i="0">
                <a:solidFill>
                  <a:srgbClr val="1D6FB8"/>
                </a:solidFill>
              </a:rPr>
              <a:t>→</a:t>
            </a:r>
          </a:p>
        </p:txBody>
      </p:sp>
      <p:sp>
        <p:nvSpPr>
          <p:cNvPr id="27" name="Rectangle 26"/>
          <p:cNvSpPr/>
          <p:nvPr/>
        </p:nvSpPr>
        <p:spPr>
          <a:xfrm>
            <a:off x="3253663" y="2377440"/>
            <a:ext cx="1384515" cy="34747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253663" y="2377440"/>
            <a:ext cx="1384515" cy="36576"/>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53663" y="2432304"/>
            <a:ext cx="1384515" cy="274320"/>
          </a:xfrm>
          <a:prstGeom prst="rect">
            <a:avLst/>
          </a:prstGeom>
          <a:noFill/>
        </p:spPr>
        <p:txBody>
          <a:bodyPr wrap="square">
            <a:spAutoFit/>
          </a:bodyPr>
          <a:lstStyle/>
          <a:p>
            <a:pPr algn="ctr"/>
            <a:r>
              <a:rPr sz="1000" b="1" i="0">
                <a:solidFill>
                  <a:srgbClr val="6B3FA0"/>
                </a:solidFill>
              </a:rPr>
              <a:t>3</a:t>
            </a:r>
          </a:p>
        </p:txBody>
      </p:sp>
      <p:sp>
        <p:nvSpPr>
          <p:cNvPr id="30" name="TextBox 29"/>
          <p:cNvSpPr txBox="1"/>
          <p:nvPr/>
        </p:nvSpPr>
        <p:spPr>
          <a:xfrm>
            <a:off x="3253663" y="2679192"/>
            <a:ext cx="1384515" cy="274320"/>
          </a:xfrm>
          <a:prstGeom prst="rect">
            <a:avLst/>
          </a:prstGeom>
          <a:noFill/>
        </p:spPr>
        <p:txBody>
          <a:bodyPr wrap="square">
            <a:spAutoFit/>
          </a:bodyPr>
          <a:lstStyle/>
          <a:p>
            <a:pPr algn="ctr"/>
            <a:r>
              <a:rPr sz="1400" b="0" i="0">
                <a:solidFill>
                  <a:srgbClr val="16325C"/>
                </a:solidFill>
                <a:latin typeface="Segoe UI Emoji"/>
              </a:rPr>
              <a:t>🔍</a:t>
            </a:r>
          </a:p>
        </p:txBody>
      </p:sp>
      <p:sp>
        <p:nvSpPr>
          <p:cNvPr id="31" name="TextBox 30"/>
          <p:cNvSpPr txBox="1"/>
          <p:nvPr/>
        </p:nvSpPr>
        <p:spPr>
          <a:xfrm>
            <a:off x="3308527" y="2944368"/>
            <a:ext cx="1274787" cy="292608"/>
          </a:xfrm>
          <a:prstGeom prst="rect">
            <a:avLst/>
          </a:prstGeom>
          <a:noFill/>
        </p:spPr>
        <p:txBody>
          <a:bodyPr wrap="square">
            <a:spAutoFit/>
          </a:bodyPr>
          <a:lstStyle/>
          <a:p>
            <a:pPr algn="ctr"/>
            <a:r>
              <a:rPr sz="750" b="1" i="0">
                <a:solidFill>
                  <a:srgbClr val="16325C"/>
                </a:solidFill>
              </a:rPr>
              <a:t>AI Feature
Extraction</a:t>
            </a:r>
          </a:p>
        </p:txBody>
      </p:sp>
      <p:sp>
        <p:nvSpPr>
          <p:cNvPr id="32" name="TextBox 31"/>
          <p:cNvSpPr txBox="1"/>
          <p:nvPr/>
        </p:nvSpPr>
        <p:spPr>
          <a:xfrm>
            <a:off x="3308527" y="3218688"/>
            <a:ext cx="1274787" cy="2560320"/>
          </a:xfrm>
          <a:prstGeom prst="rect">
            <a:avLst/>
          </a:prstGeom>
          <a:noFill/>
        </p:spPr>
        <p:txBody>
          <a:bodyPr wrap="square">
            <a:spAutoFit/>
          </a:bodyPr>
          <a:lstStyle/>
          <a:p>
            <a:pPr algn="ctr"/>
            <a:r>
              <a:rPr sz="750" b="0" i="0">
                <a:solidFill>
                  <a:srgbClr val="3A4356"/>
                </a:solidFill>
              </a:rPr>
              <a:t>AI reads geometry, identifies features, infers material &amp; complexity</a:t>
            </a:r>
          </a:p>
        </p:txBody>
      </p:sp>
      <p:sp>
        <p:nvSpPr>
          <p:cNvPr id="33" name="TextBox 32"/>
          <p:cNvSpPr txBox="1"/>
          <p:nvPr/>
        </p:nvSpPr>
        <p:spPr>
          <a:xfrm>
            <a:off x="4491875" y="3931920"/>
            <a:ext cx="228600" cy="274320"/>
          </a:xfrm>
          <a:prstGeom prst="rect">
            <a:avLst/>
          </a:prstGeom>
          <a:noFill/>
        </p:spPr>
        <p:txBody>
          <a:bodyPr wrap="square">
            <a:spAutoFit/>
          </a:bodyPr>
          <a:lstStyle/>
          <a:p>
            <a:pPr algn="l"/>
            <a:r>
              <a:rPr sz="900" b="1" i="0">
                <a:solidFill>
                  <a:srgbClr val="1D6FB8"/>
                </a:solidFill>
              </a:rPr>
              <a:t>→</a:t>
            </a:r>
          </a:p>
        </p:txBody>
      </p:sp>
      <p:sp>
        <p:nvSpPr>
          <p:cNvPr id="34" name="Rectangle 33"/>
          <p:cNvSpPr/>
          <p:nvPr/>
        </p:nvSpPr>
        <p:spPr>
          <a:xfrm>
            <a:off x="4674755" y="2377440"/>
            <a:ext cx="1384515" cy="34747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674755" y="2377440"/>
            <a:ext cx="1384515" cy="36576"/>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674755" y="2432304"/>
            <a:ext cx="1384515" cy="274320"/>
          </a:xfrm>
          <a:prstGeom prst="rect">
            <a:avLst/>
          </a:prstGeom>
          <a:noFill/>
        </p:spPr>
        <p:txBody>
          <a:bodyPr wrap="square">
            <a:spAutoFit/>
          </a:bodyPr>
          <a:lstStyle/>
          <a:p>
            <a:pPr algn="ctr"/>
            <a:r>
              <a:rPr sz="1000" b="1" i="0">
                <a:solidFill>
                  <a:srgbClr val="6B3FA0"/>
                </a:solidFill>
              </a:rPr>
              <a:t>4</a:t>
            </a:r>
          </a:p>
        </p:txBody>
      </p:sp>
      <p:sp>
        <p:nvSpPr>
          <p:cNvPr id="37" name="TextBox 36"/>
          <p:cNvSpPr txBox="1"/>
          <p:nvPr/>
        </p:nvSpPr>
        <p:spPr>
          <a:xfrm>
            <a:off x="4674755" y="2679192"/>
            <a:ext cx="1384515" cy="274320"/>
          </a:xfrm>
          <a:prstGeom prst="rect">
            <a:avLst/>
          </a:prstGeom>
          <a:noFill/>
        </p:spPr>
        <p:txBody>
          <a:bodyPr wrap="square">
            <a:spAutoFit/>
          </a:bodyPr>
          <a:lstStyle/>
          <a:p>
            <a:pPr algn="ctr"/>
            <a:r>
              <a:rPr sz="1400" b="0" i="0">
                <a:solidFill>
                  <a:srgbClr val="16325C"/>
                </a:solidFill>
                <a:latin typeface="Segoe UI Emoji"/>
              </a:rPr>
              <a:t>🛤️</a:t>
            </a:r>
          </a:p>
        </p:txBody>
      </p:sp>
      <p:sp>
        <p:nvSpPr>
          <p:cNvPr id="38" name="TextBox 37"/>
          <p:cNvSpPr txBox="1"/>
          <p:nvPr/>
        </p:nvSpPr>
        <p:spPr>
          <a:xfrm>
            <a:off x="4729619" y="2944368"/>
            <a:ext cx="1274787" cy="292608"/>
          </a:xfrm>
          <a:prstGeom prst="rect">
            <a:avLst/>
          </a:prstGeom>
          <a:noFill/>
        </p:spPr>
        <p:txBody>
          <a:bodyPr wrap="square">
            <a:spAutoFit/>
          </a:bodyPr>
          <a:lstStyle/>
          <a:p>
            <a:pPr algn="ctr"/>
            <a:r>
              <a:rPr sz="750" b="1" i="0">
                <a:solidFill>
                  <a:srgbClr val="16325C"/>
                </a:solidFill>
              </a:rPr>
              <a:t>AI Routing &amp;
Model Select</a:t>
            </a:r>
          </a:p>
        </p:txBody>
      </p:sp>
      <p:sp>
        <p:nvSpPr>
          <p:cNvPr id="39" name="TextBox 38"/>
          <p:cNvSpPr txBox="1"/>
          <p:nvPr/>
        </p:nvSpPr>
        <p:spPr>
          <a:xfrm>
            <a:off x="4729619" y="3218688"/>
            <a:ext cx="1274787" cy="2560320"/>
          </a:xfrm>
          <a:prstGeom prst="rect">
            <a:avLst/>
          </a:prstGeom>
          <a:noFill/>
        </p:spPr>
        <p:txBody>
          <a:bodyPr wrap="square">
            <a:spAutoFit/>
          </a:bodyPr>
          <a:lstStyle/>
          <a:p>
            <a:pPr algn="ctr"/>
            <a:r>
              <a:rPr sz="750" b="0" i="0">
                <a:solidFill>
                  <a:srgbClr val="3A4356"/>
                </a:solidFill>
              </a:rPr>
              <a:t>AI sequences operations, selects machines, labour grades &amp; cycle times</a:t>
            </a:r>
          </a:p>
        </p:txBody>
      </p:sp>
      <p:sp>
        <p:nvSpPr>
          <p:cNvPr id="40" name="TextBox 39"/>
          <p:cNvSpPr txBox="1"/>
          <p:nvPr/>
        </p:nvSpPr>
        <p:spPr>
          <a:xfrm>
            <a:off x="5912967" y="3931920"/>
            <a:ext cx="228600" cy="274320"/>
          </a:xfrm>
          <a:prstGeom prst="rect">
            <a:avLst/>
          </a:prstGeom>
          <a:noFill/>
        </p:spPr>
        <p:txBody>
          <a:bodyPr wrap="square">
            <a:spAutoFit/>
          </a:bodyPr>
          <a:lstStyle/>
          <a:p>
            <a:pPr algn="l"/>
            <a:r>
              <a:rPr sz="900" b="1" i="0">
                <a:solidFill>
                  <a:srgbClr val="1D6FB8"/>
                </a:solidFill>
              </a:rPr>
              <a:t>→</a:t>
            </a:r>
          </a:p>
        </p:txBody>
      </p:sp>
      <p:sp>
        <p:nvSpPr>
          <p:cNvPr id="41" name="Rectangle 40"/>
          <p:cNvSpPr/>
          <p:nvPr/>
        </p:nvSpPr>
        <p:spPr>
          <a:xfrm>
            <a:off x="6095847" y="2377440"/>
            <a:ext cx="1384515" cy="34747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095847" y="2377440"/>
            <a:ext cx="1384515" cy="36576"/>
          </a:xfrm>
          <a:prstGeom prst="rect">
            <a:avLst/>
          </a:prstGeom>
          <a:solidFill>
            <a:srgbClr val="9965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095847" y="2432304"/>
            <a:ext cx="1384515" cy="274320"/>
          </a:xfrm>
          <a:prstGeom prst="rect">
            <a:avLst/>
          </a:prstGeom>
          <a:noFill/>
        </p:spPr>
        <p:txBody>
          <a:bodyPr wrap="square">
            <a:spAutoFit/>
          </a:bodyPr>
          <a:lstStyle/>
          <a:p>
            <a:pPr algn="ctr"/>
            <a:r>
              <a:rPr sz="1000" b="1" i="0">
                <a:solidFill>
                  <a:srgbClr val="99651A"/>
                </a:solidFill>
              </a:rPr>
              <a:t>5</a:t>
            </a:r>
          </a:p>
        </p:txBody>
      </p:sp>
      <p:sp>
        <p:nvSpPr>
          <p:cNvPr id="44" name="TextBox 43"/>
          <p:cNvSpPr txBox="1"/>
          <p:nvPr/>
        </p:nvSpPr>
        <p:spPr>
          <a:xfrm>
            <a:off x="6095847" y="2679192"/>
            <a:ext cx="1384515" cy="274320"/>
          </a:xfrm>
          <a:prstGeom prst="rect">
            <a:avLst/>
          </a:prstGeom>
          <a:noFill/>
        </p:spPr>
        <p:txBody>
          <a:bodyPr wrap="square">
            <a:spAutoFit/>
          </a:bodyPr>
          <a:lstStyle/>
          <a:p>
            <a:pPr algn="ctr"/>
            <a:r>
              <a:rPr sz="1400" b="0" i="0">
                <a:solidFill>
                  <a:srgbClr val="16325C"/>
                </a:solidFill>
                <a:latin typeface="Segoe UI Emoji"/>
              </a:rPr>
              <a:t>⚙️</a:t>
            </a:r>
          </a:p>
        </p:txBody>
      </p:sp>
      <p:sp>
        <p:nvSpPr>
          <p:cNvPr id="45" name="TextBox 44"/>
          <p:cNvSpPr txBox="1"/>
          <p:nvPr/>
        </p:nvSpPr>
        <p:spPr>
          <a:xfrm>
            <a:off x="6150711" y="2944368"/>
            <a:ext cx="1274787" cy="292608"/>
          </a:xfrm>
          <a:prstGeom prst="rect">
            <a:avLst/>
          </a:prstGeom>
          <a:noFill/>
        </p:spPr>
        <p:txBody>
          <a:bodyPr wrap="square">
            <a:spAutoFit/>
          </a:bodyPr>
          <a:lstStyle/>
          <a:p>
            <a:pPr algn="ctr"/>
            <a:r>
              <a:rPr sz="750" b="1" i="0">
                <a:solidFill>
                  <a:srgbClr val="16325C"/>
                </a:solidFill>
              </a:rPr>
              <a:t>Should-Cost
Calculation</a:t>
            </a:r>
          </a:p>
        </p:txBody>
      </p:sp>
      <p:sp>
        <p:nvSpPr>
          <p:cNvPr id="46" name="TextBox 45"/>
          <p:cNvSpPr txBox="1"/>
          <p:nvPr/>
        </p:nvSpPr>
        <p:spPr>
          <a:xfrm>
            <a:off x="6150711" y="3218688"/>
            <a:ext cx="1274787" cy="2560320"/>
          </a:xfrm>
          <a:prstGeom prst="rect">
            <a:avLst/>
          </a:prstGeom>
          <a:noFill/>
        </p:spPr>
        <p:txBody>
          <a:bodyPr wrap="square">
            <a:spAutoFit/>
          </a:bodyPr>
          <a:lstStyle/>
          <a:p>
            <a:pPr algn="ctr"/>
            <a:r>
              <a:rPr sz="750" b="0" i="0">
                <a:solidFill>
                  <a:srgbClr val="3A4356"/>
                </a:solidFill>
              </a:rPr>
              <a:t>8-bucket model: Material+Process+Labour+Tooling+OH+Margin</a:t>
            </a:r>
          </a:p>
        </p:txBody>
      </p:sp>
      <p:sp>
        <p:nvSpPr>
          <p:cNvPr id="47" name="TextBox 46"/>
          <p:cNvSpPr txBox="1"/>
          <p:nvPr/>
        </p:nvSpPr>
        <p:spPr>
          <a:xfrm>
            <a:off x="7334059" y="3931920"/>
            <a:ext cx="228600" cy="274320"/>
          </a:xfrm>
          <a:prstGeom prst="rect">
            <a:avLst/>
          </a:prstGeom>
          <a:noFill/>
        </p:spPr>
        <p:txBody>
          <a:bodyPr wrap="square">
            <a:spAutoFit/>
          </a:bodyPr>
          <a:lstStyle/>
          <a:p>
            <a:pPr algn="l"/>
            <a:r>
              <a:rPr sz="900" b="1" i="0">
                <a:solidFill>
                  <a:srgbClr val="1D6FB8"/>
                </a:solidFill>
              </a:rPr>
              <a:t>→</a:t>
            </a:r>
          </a:p>
        </p:txBody>
      </p:sp>
      <p:sp>
        <p:nvSpPr>
          <p:cNvPr id="48" name="Rectangle 47"/>
          <p:cNvSpPr/>
          <p:nvPr/>
        </p:nvSpPr>
        <p:spPr>
          <a:xfrm>
            <a:off x="7516939" y="2377440"/>
            <a:ext cx="1384515" cy="34747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516939" y="2377440"/>
            <a:ext cx="1384515" cy="36576"/>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516939" y="2432304"/>
            <a:ext cx="1384515" cy="274320"/>
          </a:xfrm>
          <a:prstGeom prst="rect">
            <a:avLst/>
          </a:prstGeom>
          <a:noFill/>
        </p:spPr>
        <p:txBody>
          <a:bodyPr wrap="square">
            <a:spAutoFit/>
          </a:bodyPr>
          <a:lstStyle/>
          <a:p>
            <a:pPr algn="ctr"/>
            <a:r>
              <a:rPr sz="1000" b="1" i="0">
                <a:solidFill>
                  <a:srgbClr val="2A7F50"/>
                </a:solidFill>
              </a:rPr>
              <a:t>6</a:t>
            </a:r>
          </a:p>
        </p:txBody>
      </p:sp>
      <p:sp>
        <p:nvSpPr>
          <p:cNvPr id="51" name="TextBox 50"/>
          <p:cNvSpPr txBox="1"/>
          <p:nvPr/>
        </p:nvSpPr>
        <p:spPr>
          <a:xfrm>
            <a:off x="7516939" y="2679192"/>
            <a:ext cx="1384515" cy="274320"/>
          </a:xfrm>
          <a:prstGeom prst="rect">
            <a:avLst/>
          </a:prstGeom>
          <a:noFill/>
        </p:spPr>
        <p:txBody>
          <a:bodyPr wrap="square">
            <a:spAutoFit/>
          </a:bodyPr>
          <a:lstStyle/>
          <a:p>
            <a:pPr algn="ctr"/>
            <a:r>
              <a:rPr sz="1400" b="0" i="0">
                <a:solidFill>
                  <a:srgbClr val="16325C"/>
                </a:solidFill>
                <a:latin typeface="Segoe UI Emoji"/>
              </a:rPr>
              <a:t>💡</a:t>
            </a:r>
          </a:p>
        </p:txBody>
      </p:sp>
      <p:sp>
        <p:nvSpPr>
          <p:cNvPr id="52" name="TextBox 51"/>
          <p:cNvSpPr txBox="1"/>
          <p:nvPr/>
        </p:nvSpPr>
        <p:spPr>
          <a:xfrm>
            <a:off x="7571803" y="2944368"/>
            <a:ext cx="1274787" cy="292608"/>
          </a:xfrm>
          <a:prstGeom prst="rect">
            <a:avLst/>
          </a:prstGeom>
          <a:noFill/>
        </p:spPr>
        <p:txBody>
          <a:bodyPr wrap="square">
            <a:spAutoFit/>
          </a:bodyPr>
          <a:lstStyle/>
          <a:p>
            <a:pPr algn="ctr"/>
            <a:r>
              <a:rPr sz="750" b="1" i="0">
                <a:solidFill>
                  <a:srgbClr val="16325C"/>
                </a:solidFill>
              </a:rPr>
              <a:t>AI Insights
Generated</a:t>
            </a:r>
          </a:p>
        </p:txBody>
      </p:sp>
      <p:sp>
        <p:nvSpPr>
          <p:cNvPr id="53" name="TextBox 52"/>
          <p:cNvSpPr txBox="1"/>
          <p:nvPr/>
        </p:nvSpPr>
        <p:spPr>
          <a:xfrm>
            <a:off x="7571803" y="3218688"/>
            <a:ext cx="1274787" cy="2560320"/>
          </a:xfrm>
          <a:prstGeom prst="rect">
            <a:avLst/>
          </a:prstGeom>
          <a:noFill/>
        </p:spPr>
        <p:txBody>
          <a:bodyPr wrap="square">
            <a:spAutoFit/>
          </a:bodyPr>
          <a:lstStyle/>
          <a:p>
            <a:pPr algn="ctr"/>
            <a:r>
              <a:rPr sz="750" b="0" i="0">
                <a:solidFill>
                  <a:srgbClr val="3A4356"/>
                </a:solidFill>
              </a:rPr>
              <a:t>Benchmark comparisons, regional cost index, supplier margin analysis</a:t>
            </a:r>
          </a:p>
        </p:txBody>
      </p:sp>
      <p:sp>
        <p:nvSpPr>
          <p:cNvPr id="54" name="TextBox 53"/>
          <p:cNvSpPr txBox="1"/>
          <p:nvPr/>
        </p:nvSpPr>
        <p:spPr>
          <a:xfrm>
            <a:off x="8755151" y="3931920"/>
            <a:ext cx="228600" cy="274320"/>
          </a:xfrm>
          <a:prstGeom prst="rect">
            <a:avLst/>
          </a:prstGeom>
          <a:noFill/>
        </p:spPr>
        <p:txBody>
          <a:bodyPr wrap="square">
            <a:spAutoFit/>
          </a:bodyPr>
          <a:lstStyle/>
          <a:p>
            <a:pPr algn="l"/>
            <a:r>
              <a:rPr sz="900" b="1" i="0">
                <a:solidFill>
                  <a:srgbClr val="1D6FB8"/>
                </a:solidFill>
              </a:rPr>
              <a:t>→</a:t>
            </a:r>
          </a:p>
        </p:txBody>
      </p:sp>
      <p:sp>
        <p:nvSpPr>
          <p:cNvPr id="55" name="Rectangle 54"/>
          <p:cNvSpPr/>
          <p:nvPr/>
        </p:nvSpPr>
        <p:spPr>
          <a:xfrm>
            <a:off x="8938031" y="2377440"/>
            <a:ext cx="1384515" cy="34747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8938031" y="2377440"/>
            <a:ext cx="1384515" cy="36576"/>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938031" y="2432304"/>
            <a:ext cx="1384515" cy="274320"/>
          </a:xfrm>
          <a:prstGeom prst="rect">
            <a:avLst/>
          </a:prstGeom>
          <a:noFill/>
        </p:spPr>
        <p:txBody>
          <a:bodyPr wrap="square">
            <a:spAutoFit/>
          </a:bodyPr>
          <a:lstStyle/>
          <a:p>
            <a:pPr algn="ctr"/>
            <a:r>
              <a:rPr sz="1000" b="1" i="0">
                <a:solidFill>
                  <a:srgbClr val="2A7F50"/>
                </a:solidFill>
              </a:rPr>
              <a:t>7</a:t>
            </a:r>
          </a:p>
        </p:txBody>
      </p:sp>
      <p:sp>
        <p:nvSpPr>
          <p:cNvPr id="58" name="TextBox 57"/>
          <p:cNvSpPr txBox="1"/>
          <p:nvPr/>
        </p:nvSpPr>
        <p:spPr>
          <a:xfrm>
            <a:off x="8938031" y="2679192"/>
            <a:ext cx="1384515" cy="274320"/>
          </a:xfrm>
          <a:prstGeom prst="rect">
            <a:avLst/>
          </a:prstGeom>
          <a:noFill/>
        </p:spPr>
        <p:txBody>
          <a:bodyPr wrap="square">
            <a:spAutoFit/>
          </a:bodyPr>
          <a:lstStyle/>
          <a:p>
            <a:pPr algn="ctr"/>
            <a:r>
              <a:rPr sz="1400" b="0" i="0">
                <a:solidFill>
                  <a:srgbClr val="16325C"/>
                </a:solidFill>
                <a:latin typeface="Segoe UI Emoji"/>
              </a:rPr>
              <a:t>🔬</a:t>
            </a:r>
          </a:p>
        </p:txBody>
      </p:sp>
      <p:sp>
        <p:nvSpPr>
          <p:cNvPr id="59" name="TextBox 58"/>
          <p:cNvSpPr txBox="1"/>
          <p:nvPr/>
        </p:nvSpPr>
        <p:spPr>
          <a:xfrm>
            <a:off x="8992895" y="2944368"/>
            <a:ext cx="1274787" cy="292608"/>
          </a:xfrm>
          <a:prstGeom prst="rect">
            <a:avLst/>
          </a:prstGeom>
          <a:noFill/>
        </p:spPr>
        <p:txBody>
          <a:bodyPr wrap="square">
            <a:spAutoFit/>
          </a:bodyPr>
          <a:lstStyle/>
          <a:p>
            <a:pPr algn="ctr"/>
            <a:r>
              <a:rPr sz="750" b="1" i="0">
                <a:solidFill>
                  <a:srgbClr val="16325C"/>
                </a:solidFill>
              </a:rPr>
              <a:t>DFM / DFA
Analysis</a:t>
            </a:r>
          </a:p>
        </p:txBody>
      </p:sp>
      <p:sp>
        <p:nvSpPr>
          <p:cNvPr id="60" name="TextBox 59"/>
          <p:cNvSpPr txBox="1"/>
          <p:nvPr/>
        </p:nvSpPr>
        <p:spPr>
          <a:xfrm>
            <a:off x="8992895" y="3218688"/>
            <a:ext cx="1274787" cy="2560320"/>
          </a:xfrm>
          <a:prstGeom prst="rect">
            <a:avLst/>
          </a:prstGeom>
          <a:noFill/>
        </p:spPr>
        <p:txBody>
          <a:bodyPr wrap="square">
            <a:spAutoFit/>
          </a:bodyPr>
          <a:lstStyle/>
          <a:p>
            <a:pPr algn="ctr"/>
            <a:r>
              <a:rPr sz="750" b="0" i="0">
                <a:solidFill>
                  <a:srgbClr val="3A4356"/>
                </a:solidFill>
              </a:rPr>
              <a:t>Manufacturability + assembly scores, critical issues, saving potential</a:t>
            </a:r>
          </a:p>
        </p:txBody>
      </p:sp>
      <p:sp>
        <p:nvSpPr>
          <p:cNvPr id="61" name="TextBox 60"/>
          <p:cNvSpPr txBox="1"/>
          <p:nvPr/>
        </p:nvSpPr>
        <p:spPr>
          <a:xfrm>
            <a:off x="10176243" y="3931920"/>
            <a:ext cx="228600" cy="274320"/>
          </a:xfrm>
          <a:prstGeom prst="rect">
            <a:avLst/>
          </a:prstGeom>
          <a:noFill/>
        </p:spPr>
        <p:txBody>
          <a:bodyPr wrap="square">
            <a:spAutoFit/>
          </a:bodyPr>
          <a:lstStyle/>
          <a:p>
            <a:pPr algn="l"/>
            <a:r>
              <a:rPr sz="900" b="1" i="0">
                <a:solidFill>
                  <a:srgbClr val="1D6FB8"/>
                </a:solidFill>
              </a:rPr>
              <a:t>→</a:t>
            </a:r>
          </a:p>
        </p:txBody>
      </p:sp>
      <p:sp>
        <p:nvSpPr>
          <p:cNvPr id="62" name="Rectangle 61"/>
          <p:cNvSpPr/>
          <p:nvPr/>
        </p:nvSpPr>
        <p:spPr>
          <a:xfrm>
            <a:off x="10359123" y="2377440"/>
            <a:ext cx="1384515" cy="34747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10359123" y="2377440"/>
            <a:ext cx="1384515" cy="36576"/>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10359123" y="2432304"/>
            <a:ext cx="1384515" cy="274320"/>
          </a:xfrm>
          <a:prstGeom prst="rect">
            <a:avLst/>
          </a:prstGeom>
          <a:noFill/>
        </p:spPr>
        <p:txBody>
          <a:bodyPr wrap="square">
            <a:spAutoFit/>
          </a:bodyPr>
          <a:lstStyle/>
          <a:p>
            <a:pPr algn="ctr"/>
            <a:r>
              <a:rPr sz="1000" b="1" i="0">
                <a:solidFill>
                  <a:srgbClr val="1D6FB8"/>
                </a:solidFill>
              </a:rPr>
              <a:t>8</a:t>
            </a:r>
          </a:p>
        </p:txBody>
      </p:sp>
      <p:sp>
        <p:nvSpPr>
          <p:cNvPr id="65" name="TextBox 64"/>
          <p:cNvSpPr txBox="1"/>
          <p:nvPr/>
        </p:nvSpPr>
        <p:spPr>
          <a:xfrm>
            <a:off x="10359123" y="2679192"/>
            <a:ext cx="1384515" cy="274320"/>
          </a:xfrm>
          <a:prstGeom prst="rect">
            <a:avLst/>
          </a:prstGeom>
          <a:noFill/>
        </p:spPr>
        <p:txBody>
          <a:bodyPr wrap="square">
            <a:spAutoFit/>
          </a:bodyPr>
          <a:lstStyle/>
          <a:p>
            <a:pPr algn="ctr"/>
            <a:r>
              <a:rPr sz="1400" b="0" i="0">
                <a:solidFill>
                  <a:srgbClr val="16325C"/>
                </a:solidFill>
                <a:latin typeface="Segoe UI Emoji"/>
              </a:rPr>
              <a:t>📤</a:t>
            </a:r>
          </a:p>
        </p:txBody>
      </p:sp>
      <p:sp>
        <p:nvSpPr>
          <p:cNvPr id="66" name="TextBox 65"/>
          <p:cNvSpPr txBox="1"/>
          <p:nvPr/>
        </p:nvSpPr>
        <p:spPr>
          <a:xfrm>
            <a:off x="10413987" y="2944368"/>
            <a:ext cx="1274787" cy="292608"/>
          </a:xfrm>
          <a:prstGeom prst="rect">
            <a:avLst/>
          </a:prstGeom>
          <a:noFill/>
        </p:spPr>
        <p:txBody>
          <a:bodyPr wrap="square">
            <a:spAutoFit/>
          </a:bodyPr>
          <a:lstStyle/>
          <a:p>
            <a:pPr algn="ctr"/>
            <a:r>
              <a:rPr sz="750" b="1" i="0">
                <a:solidFill>
                  <a:srgbClr val="16325C"/>
                </a:solidFill>
              </a:rPr>
              <a:t>Export &amp;
Share</a:t>
            </a:r>
          </a:p>
        </p:txBody>
      </p:sp>
      <p:sp>
        <p:nvSpPr>
          <p:cNvPr id="67" name="TextBox 66"/>
          <p:cNvSpPr txBox="1"/>
          <p:nvPr/>
        </p:nvSpPr>
        <p:spPr>
          <a:xfrm>
            <a:off x="10413987" y="3218688"/>
            <a:ext cx="1274787" cy="2560320"/>
          </a:xfrm>
          <a:prstGeom prst="rect">
            <a:avLst/>
          </a:prstGeom>
          <a:noFill/>
        </p:spPr>
        <p:txBody>
          <a:bodyPr wrap="square">
            <a:spAutoFit/>
          </a:bodyPr>
          <a:lstStyle/>
          <a:p>
            <a:pPr algn="ctr"/>
            <a:r>
              <a:rPr sz="750" b="0" i="0">
                <a:solidFill>
                  <a:srgbClr val="3A4356"/>
                </a:solidFill>
              </a:rPr>
              <a:t>6-sheet Excel, PDF report, scenario save, cloud team sync</a:t>
            </a:r>
          </a:p>
        </p:txBody>
      </p:sp>
      <p:sp>
        <p:nvSpPr>
          <p:cNvPr id="68" name="Rectangle 67"/>
          <p:cNvSpPr/>
          <p:nvPr/>
        </p:nvSpPr>
        <p:spPr>
          <a:xfrm>
            <a:off x="411480" y="5989320"/>
            <a:ext cx="1572768" cy="274320"/>
          </a:xfrm>
          <a:prstGeom prst="rect">
            <a:avLst/>
          </a:prstGeom>
          <a:solidFill>
            <a:srgbClr val="FFFFFF"/>
          </a:solidFill>
          <a:ln w="635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484632" y="6016752"/>
            <a:ext cx="1444752" cy="219456"/>
          </a:xfrm>
          <a:prstGeom prst="rect">
            <a:avLst/>
          </a:prstGeom>
          <a:noFill/>
        </p:spPr>
        <p:txBody>
          <a:bodyPr wrap="square">
            <a:spAutoFit/>
          </a:bodyPr>
          <a:lstStyle/>
          <a:p>
            <a:pPr algn="l"/>
            <a:r>
              <a:rPr sz="750" b="0" i="0">
                <a:solidFill>
                  <a:srgbClr val="1D6FB8"/>
                </a:solidFill>
                <a:latin typeface="Segoe UI Emoji"/>
              </a:rPr>
              <a:t>⚡</a:t>
            </a:r>
            <a:r>
              <a:rPr sz="750" b="0" i="0">
                <a:solidFill>
                  <a:srgbClr val="1D6FB8"/>
                </a:solidFill>
              </a:rPr>
              <a:t> Minutes, not weeks</a:t>
            </a:r>
          </a:p>
        </p:txBody>
      </p:sp>
      <p:sp>
        <p:nvSpPr>
          <p:cNvPr id="70" name="Rectangle 69"/>
          <p:cNvSpPr/>
          <p:nvPr/>
        </p:nvSpPr>
        <p:spPr>
          <a:xfrm>
            <a:off x="2039112" y="5989320"/>
            <a:ext cx="1572768" cy="274320"/>
          </a:xfrm>
          <a:prstGeom prst="rect">
            <a:avLst/>
          </a:prstGeom>
          <a:solidFill>
            <a:srgbClr val="FFFFFF"/>
          </a:solidFill>
          <a:ln w="635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2112264" y="6016752"/>
            <a:ext cx="1444752" cy="219456"/>
          </a:xfrm>
          <a:prstGeom prst="rect">
            <a:avLst/>
          </a:prstGeom>
          <a:noFill/>
        </p:spPr>
        <p:txBody>
          <a:bodyPr wrap="square">
            <a:spAutoFit/>
          </a:bodyPr>
          <a:lstStyle/>
          <a:p>
            <a:pPr algn="l"/>
            <a:r>
              <a:rPr sz="750" b="0" i="0">
                <a:solidFill>
                  <a:srgbClr val="1D6FB8"/>
                </a:solidFill>
              </a:rPr>
              <a:t>✓ Auditable assumptions</a:t>
            </a:r>
          </a:p>
        </p:txBody>
      </p:sp>
      <p:sp>
        <p:nvSpPr>
          <p:cNvPr id="72" name="Rectangle 71"/>
          <p:cNvSpPr/>
          <p:nvPr/>
        </p:nvSpPr>
        <p:spPr>
          <a:xfrm>
            <a:off x="3666744" y="5989320"/>
            <a:ext cx="1572768" cy="274320"/>
          </a:xfrm>
          <a:prstGeom prst="rect">
            <a:avLst/>
          </a:prstGeom>
          <a:solidFill>
            <a:srgbClr val="FFFFFF"/>
          </a:solidFill>
          <a:ln w="635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3739896" y="6016752"/>
            <a:ext cx="1444752" cy="219456"/>
          </a:xfrm>
          <a:prstGeom prst="rect">
            <a:avLst/>
          </a:prstGeom>
          <a:noFill/>
        </p:spPr>
        <p:txBody>
          <a:bodyPr wrap="square">
            <a:spAutoFit/>
          </a:bodyPr>
          <a:lstStyle/>
          <a:p>
            <a:pPr algn="l"/>
            <a:r>
              <a:rPr sz="750" b="0" i="0">
                <a:solidFill>
                  <a:srgbClr val="1D6FB8"/>
                </a:solidFill>
                <a:latin typeface="Segoe UI Emoji"/>
              </a:rPr>
              <a:t>🤖</a:t>
            </a:r>
            <a:r>
              <a:rPr sz="750" b="0" i="0">
                <a:solidFill>
                  <a:srgbClr val="1D6FB8"/>
                </a:solidFill>
              </a:rPr>
              <a:t> Claude AI powered</a:t>
            </a:r>
          </a:p>
        </p:txBody>
      </p:sp>
      <p:sp>
        <p:nvSpPr>
          <p:cNvPr id="74" name="Rectangle 73"/>
          <p:cNvSpPr/>
          <p:nvPr/>
        </p:nvSpPr>
        <p:spPr>
          <a:xfrm>
            <a:off x="5294376" y="5989320"/>
            <a:ext cx="1572768" cy="274320"/>
          </a:xfrm>
          <a:prstGeom prst="rect">
            <a:avLst/>
          </a:prstGeom>
          <a:solidFill>
            <a:srgbClr val="FFFFFF"/>
          </a:solidFill>
          <a:ln w="635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5367528" y="6016752"/>
            <a:ext cx="1444752" cy="219456"/>
          </a:xfrm>
          <a:prstGeom prst="rect">
            <a:avLst/>
          </a:prstGeom>
          <a:noFill/>
        </p:spPr>
        <p:txBody>
          <a:bodyPr wrap="square">
            <a:spAutoFit/>
          </a:bodyPr>
          <a:lstStyle/>
          <a:p>
            <a:pPr algn="l"/>
            <a:r>
              <a:rPr sz="750" b="0" i="0">
                <a:solidFill>
                  <a:srgbClr val="1D6FB8"/>
                </a:solidFill>
                <a:latin typeface="Segoe UI Emoji"/>
              </a:rPr>
              <a:t>🌍</a:t>
            </a:r>
            <a:r>
              <a:rPr sz="750" b="0" i="0">
                <a:solidFill>
                  <a:srgbClr val="1D6FB8"/>
                </a:solidFill>
              </a:rPr>
              <a:t> 20 regions</a:t>
            </a:r>
          </a:p>
        </p:txBody>
      </p:sp>
      <p:sp>
        <p:nvSpPr>
          <p:cNvPr id="76" name="Rectangle 75"/>
          <p:cNvSpPr/>
          <p:nvPr/>
        </p:nvSpPr>
        <p:spPr>
          <a:xfrm>
            <a:off x="6922008" y="5989320"/>
            <a:ext cx="1572768" cy="274320"/>
          </a:xfrm>
          <a:prstGeom prst="rect">
            <a:avLst/>
          </a:prstGeom>
          <a:solidFill>
            <a:srgbClr val="FFFFFF"/>
          </a:solidFill>
          <a:ln w="635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6995160" y="6016752"/>
            <a:ext cx="1444752" cy="219456"/>
          </a:xfrm>
          <a:prstGeom prst="rect">
            <a:avLst/>
          </a:prstGeom>
          <a:noFill/>
        </p:spPr>
        <p:txBody>
          <a:bodyPr wrap="square">
            <a:spAutoFit/>
          </a:bodyPr>
          <a:lstStyle/>
          <a:p>
            <a:pPr algn="l"/>
            <a:r>
              <a:rPr sz="750" b="0" i="0">
                <a:solidFill>
                  <a:srgbClr val="1D6FB8"/>
                </a:solidFill>
                <a:latin typeface="Segoe UI Emoji"/>
              </a:rPr>
              <a:t>📊</a:t>
            </a:r>
            <a:r>
              <a:rPr sz="750" b="0" i="0">
                <a:solidFill>
                  <a:srgbClr val="1D6FB8"/>
                </a:solidFill>
              </a:rPr>
              <a:t> A/B/C scenarios</a:t>
            </a:r>
          </a:p>
        </p:txBody>
      </p:sp>
      <p:sp>
        <p:nvSpPr>
          <p:cNvPr id="78" name="Rectangle 77"/>
          <p:cNvSpPr/>
          <p:nvPr/>
        </p:nvSpPr>
        <p:spPr>
          <a:xfrm>
            <a:off x="8549640" y="5989320"/>
            <a:ext cx="1572768" cy="274320"/>
          </a:xfrm>
          <a:prstGeom prst="rect">
            <a:avLst/>
          </a:prstGeom>
          <a:solidFill>
            <a:srgbClr val="FFFFFF"/>
          </a:solidFill>
          <a:ln w="635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8622792" y="6016752"/>
            <a:ext cx="1444752" cy="219456"/>
          </a:xfrm>
          <a:prstGeom prst="rect">
            <a:avLst/>
          </a:prstGeom>
          <a:noFill/>
        </p:spPr>
        <p:txBody>
          <a:bodyPr wrap="square">
            <a:spAutoFit/>
          </a:bodyPr>
          <a:lstStyle/>
          <a:p>
            <a:pPr algn="l"/>
            <a:r>
              <a:rPr sz="750" b="0" i="0">
                <a:solidFill>
                  <a:srgbClr val="1D6FB8"/>
                </a:solidFill>
                <a:latin typeface="Segoe UI Emoji"/>
              </a:rPr>
              <a:t>📐</a:t>
            </a:r>
            <a:r>
              <a:rPr sz="750" b="0" i="0">
                <a:solidFill>
                  <a:srgbClr val="1D6FB8"/>
                </a:solidFill>
              </a:rPr>
              <a:t> Assembly BOM</a:t>
            </a:r>
          </a:p>
        </p:txBody>
      </p:sp>
      <p:sp>
        <p:nvSpPr>
          <p:cNvPr id="80" name="Rectangle 79"/>
          <p:cNvSpPr/>
          <p:nvPr/>
        </p:nvSpPr>
        <p:spPr>
          <a:xfrm>
            <a:off x="10177272" y="5989320"/>
            <a:ext cx="1572768" cy="274320"/>
          </a:xfrm>
          <a:prstGeom prst="rect">
            <a:avLst/>
          </a:prstGeom>
          <a:solidFill>
            <a:srgbClr val="FFFFFF"/>
          </a:solidFill>
          <a:ln w="635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0250424" y="6016752"/>
            <a:ext cx="1444752" cy="219456"/>
          </a:xfrm>
          <a:prstGeom prst="rect">
            <a:avLst/>
          </a:prstGeom>
          <a:noFill/>
        </p:spPr>
        <p:txBody>
          <a:bodyPr wrap="square">
            <a:spAutoFit/>
          </a:bodyPr>
          <a:lstStyle/>
          <a:p>
            <a:pPr algn="l"/>
            <a:r>
              <a:rPr sz="750" b="0" i="0">
                <a:solidFill>
                  <a:srgbClr val="1D6FB8"/>
                </a:solidFill>
                <a:latin typeface="Segoe UI Emoji"/>
              </a:rPr>
              <a:t>📉</a:t>
            </a:r>
            <a:r>
              <a:rPr sz="750" b="0" i="0">
                <a:solidFill>
                  <a:srgbClr val="1D6FB8"/>
                </a:solidFill>
              </a:rPr>
              <a:t> Learning curve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86F7D"/>
                </a:solidFill>
              </a:rPr>
              <a:t>SLIDE 09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FULL COVERAGE</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21 Manufacturing Commodities — One Platform</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Every major manufacturing process — all modelled to engineering depth with full routing, yield, and tooling logic.</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86F7D"/>
                </a:solidFill>
              </a:rPr>
              <a:t>CostVision — AI-Powered Should-Cost Intelligence  |  Avinash Bhosale  |  Confidential</a:t>
            </a:r>
          </a:p>
        </p:txBody>
      </p:sp>
      <p:sp>
        <p:nvSpPr>
          <p:cNvPr id="11" name="Rectangle 10"/>
          <p:cNvSpPr/>
          <p:nvPr/>
        </p:nvSpPr>
        <p:spPr>
          <a:xfrm>
            <a:off x="411480" y="1810512"/>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975104"/>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13" name="TextBox 12"/>
          <p:cNvSpPr txBox="1"/>
          <p:nvPr/>
        </p:nvSpPr>
        <p:spPr>
          <a:xfrm>
            <a:off x="411480" y="2395728"/>
            <a:ext cx="1573813" cy="237744"/>
          </a:xfrm>
          <a:prstGeom prst="rect">
            <a:avLst/>
          </a:prstGeom>
          <a:noFill/>
        </p:spPr>
        <p:txBody>
          <a:bodyPr wrap="square">
            <a:spAutoFit/>
          </a:bodyPr>
          <a:lstStyle/>
          <a:p>
            <a:pPr algn="ctr"/>
            <a:r>
              <a:rPr sz="900" b="1" i="0">
                <a:solidFill>
                  <a:srgbClr val="16325C"/>
                </a:solidFill>
              </a:rPr>
              <a:t>CNC Machining</a:t>
            </a:r>
          </a:p>
        </p:txBody>
      </p:sp>
      <p:sp>
        <p:nvSpPr>
          <p:cNvPr id="14" name="TextBox 13"/>
          <p:cNvSpPr txBox="1"/>
          <p:nvPr/>
        </p:nvSpPr>
        <p:spPr>
          <a:xfrm>
            <a:off x="411480" y="2670048"/>
            <a:ext cx="1573813" cy="530352"/>
          </a:xfrm>
          <a:prstGeom prst="rect">
            <a:avLst/>
          </a:prstGeom>
          <a:noFill/>
        </p:spPr>
        <p:txBody>
          <a:bodyPr wrap="square">
            <a:spAutoFit/>
          </a:bodyPr>
          <a:lstStyle/>
          <a:p>
            <a:pPr algn="ctr"/>
            <a:r>
              <a:rPr sz="800" b="0" i="0">
                <a:solidFill>
                  <a:srgbClr val="686F7D"/>
                </a:solidFill>
              </a:rPr>
              <a:t>3/4/5-axis, turning, grinding</a:t>
            </a:r>
          </a:p>
        </p:txBody>
      </p:sp>
      <p:sp>
        <p:nvSpPr>
          <p:cNvPr id="15" name="Rectangle 14"/>
          <p:cNvSpPr/>
          <p:nvPr/>
        </p:nvSpPr>
        <p:spPr>
          <a:xfrm>
            <a:off x="2035585" y="1810512"/>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035585" y="1975104"/>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17" name="TextBox 16"/>
          <p:cNvSpPr txBox="1"/>
          <p:nvPr/>
        </p:nvSpPr>
        <p:spPr>
          <a:xfrm>
            <a:off x="2035585" y="2395728"/>
            <a:ext cx="1573813" cy="237744"/>
          </a:xfrm>
          <a:prstGeom prst="rect">
            <a:avLst/>
          </a:prstGeom>
          <a:noFill/>
        </p:spPr>
        <p:txBody>
          <a:bodyPr wrap="square">
            <a:spAutoFit/>
          </a:bodyPr>
          <a:lstStyle/>
          <a:p>
            <a:pPr algn="ctr"/>
            <a:r>
              <a:rPr sz="900" b="1" i="0">
                <a:solidFill>
                  <a:srgbClr val="16325C"/>
                </a:solidFill>
              </a:rPr>
              <a:t>Casting</a:t>
            </a:r>
          </a:p>
        </p:txBody>
      </p:sp>
      <p:sp>
        <p:nvSpPr>
          <p:cNvPr id="18" name="TextBox 17"/>
          <p:cNvSpPr txBox="1"/>
          <p:nvPr/>
        </p:nvSpPr>
        <p:spPr>
          <a:xfrm>
            <a:off x="2035585" y="2670048"/>
            <a:ext cx="1573813" cy="530352"/>
          </a:xfrm>
          <a:prstGeom prst="rect">
            <a:avLst/>
          </a:prstGeom>
          <a:noFill/>
        </p:spPr>
        <p:txBody>
          <a:bodyPr wrap="square">
            <a:spAutoFit/>
          </a:bodyPr>
          <a:lstStyle/>
          <a:p>
            <a:pPr algn="ctr"/>
            <a:r>
              <a:rPr sz="800" b="0" i="0">
                <a:solidFill>
                  <a:srgbClr val="686F7D"/>
                </a:solidFill>
              </a:rPr>
              <a:t>HPDC, gravity, investment, sand</a:t>
            </a:r>
          </a:p>
        </p:txBody>
      </p:sp>
      <p:sp>
        <p:nvSpPr>
          <p:cNvPr id="19" name="Rectangle 18"/>
          <p:cNvSpPr/>
          <p:nvPr/>
        </p:nvSpPr>
        <p:spPr>
          <a:xfrm>
            <a:off x="3659690" y="1810512"/>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9690" y="1975104"/>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21" name="TextBox 20"/>
          <p:cNvSpPr txBox="1"/>
          <p:nvPr/>
        </p:nvSpPr>
        <p:spPr>
          <a:xfrm>
            <a:off x="3659690" y="2395728"/>
            <a:ext cx="1573813" cy="237744"/>
          </a:xfrm>
          <a:prstGeom prst="rect">
            <a:avLst/>
          </a:prstGeom>
          <a:noFill/>
        </p:spPr>
        <p:txBody>
          <a:bodyPr wrap="square">
            <a:spAutoFit/>
          </a:bodyPr>
          <a:lstStyle/>
          <a:p>
            <a:pPr algn="ctr"/>
            <a:r>
              <a:rPr sz="900" b="1" i="0">
                <a:solidFill>
                  <a:srgbClr val="16325C"/>
                </a:solidFill>
              </a:rPr>
              <a:t>Cast + Machine</a:t>
            </a:r>
          </a:p>
        </p:txBody>
      </p:sp>
      <p:sp>
        <p:nvSpPr>
          <p:cNvPr id="22" name="TextBox 21"/>
          <p:cNvSpPr txBox="1"/>
          <p:nvPr/>
        </p:nvSpPr>
        <p:spPr>
          <a:xfrm>
            <a:off x="3659690" y="2670048"/>
            <a:ext cx="1573813" cy="530352"/>
          </a:xfrm>
          <a:prstGeom prst="rect">
            <a:avLst/>
          </a:prstGeom>
          <a:noFill/>
        </p:spPr>
        <p:txBody>
          <a:bodyPr wrap="square">
            <a:spAutoFit/>
          </a:bodyPr>
          <a:lstStyle/>
          <a:p>
            <a:pPr algn="ctr"/>
            <a:r>
              <a:rPr sz="800" b="0" i="0">
                <a:solidFill>
                  <a:srgbClr val="686F7D"/>
                </a:solidFill>
              </a:rPr>
              <a:t>Casting + post-ops + HT</a:t>
            </a:r>
          </a:p>
        </p:txBody>
      </p:sp>
      <p:sp>
        <p:nvSpPr>
          <p:cNvPr id="23" name="Rectangle 22"/>
          <p:cNvSpPr/>
          <p:nvPr/>
        </p:nvSpPr>
        <p:spPr>
          <a:xfrm>
            <a:off x="5283795" y="1810512"/>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283795" y="1975104"/>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25" name="TextBox 24"/>
          <p:cNvSpPr txBox="1"/>
          <p:nvPr/>
        </p:nvSpPr>
        <p:spPr>
          <a:xfrm>
            <a:off x="5283795" y="2395728"/>
            <a:ext cx="1573813" cy="237744"/>
          </a:xfrm>
          <a:prstGeom prst="rect">
            <a:avLst/>
          </a:prstGeom>
          <a:noFill/>
        </p:spPr>
        <p:txBody>
          <a:bodyPr wrap="square">
            <a:spAutoFit/>
          </a:bodyPr>
          <a:lstStyle/>
          <a:p>
            <a:pPr algn="ctr"/>
            <a:r>
              <a:rPr sz="900" b="1" i="0">
                <a:solidFill>
                  <a:srgbClr val="16325C"/>
                </a:solidFill>
              </a:rPr>
              <a:t>Forging</a:t>
            </a:r>
          </a:p>
        </p:txBody>
      </p:sp>
      <p:sp>
        <p:nvSpPr>
          <p:cNvPr id="26" name="TextBox 25"/>
          <p:cNvSpPr txBox="1"/>
          <p:nvPr/>
        </p:nvSpPr>
        <p:spPr>
          <a:xfrm>
            <a:off x="5283795" y="2670048"/>
            <a:ext cx="1573813" cy="530352"/>
          </a:xfrm>
          <a:prstGeom prst="rect">
            <a:avLst/>
          </a:prstGeom>
          <a:noFill/>
        </p:spPr>
        <p:txBody>
          <a:bodyPr wrap="square">
            <a:spAutoFit/>
          </a:bodyPr>
          <a:lstStyle/>
          <a:p>
            <a:pPr algn="ctr"/>
            <a:r>
              <a:rPr sz="800" b="0" i="0">
                <a:solidFill>
                  <a:srgbClr val="686F7D"/>
                </a:solidFill>
              </a:rPr>
              <a:t>Hot, warm, cold die forging</a:t>
            </a:r>
          </a:p>
        </p:txBody>
      </p:sp>
      <p:sp>
        <p:nvSpPr>
          <p:cNvPr id="27" name="Rectangle 26"/>
          <p:cNvSpPr/>
          <p:nvPr/>
        </p:nvSpPr>
        <p:spPr>
          <a:xfrm>
            <a:off x="6907900" y="1810512"/>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07900" y="1975104"/>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29" name="TextBox 28"/>
          <p:cNvSpPr txBox="1"/>
          <p:nvPr/>
        </p:nvSpPr>
        <p:spPr>
          <a:xfrm>
            <a:off x="6907900" y="2395728"/>
            <a:ext cx="1573813" cy="237744"/>
          </a:xfrm>
          <a:prstGeom prst="rect">
            <a:avLst/>
          </a:prstGeom>
          <a:noFill/>
        </p:spPr>
        <p:txBody>
          <a:bodyPr wrap="square">
            <a:spAutoFit/>
          </a:bodyPr>
          <a:lstStyle/>
          <a:p>
            <a:pPr algn="ctr"/>
            <a:r>
              <a:rPr sz="900" b="1" i="0">
                <a:solidFill>
                  <a:srgbClr val="16325C"/>
                </a:solidFill>
              </a:rPr>
              <a:t>Sheet Metal</a:t>
            </a:r>
          </a:p>
        </p:txBody>
      </p:sp>
      <p:sp>
        <p:nvSpPr>
          <p:cNvPr id="30" name="TextBox 29"/>
          <p:cNvSpPr txBox="1"/>
          <p:nvPr/>
        </p:nvSpPr>
        <p:spPr>
          <a:xfrm>
            <a:off x="6907900" y="2670048"/>
            <a:ext cx="1573813" cy="530352"/>
          </a:xfrm>
          <a:prstGeom prst="rect">
            <a:avLst/>
          </a:prstGeom>
          <a:noFill/>
        </p:spPr>
        <p:txBody>
          <a:bodyPr wrap="square">
            <a:spAutoFit/>
          </a:bodyPr>
          <a:lstStyle/>
          <a:p>
            <a:pPr algn="ctr"/>
            <a:r>
              <a:rPr sz="800" b="0" i="0">
                <a:solidFill>
                  <a:srgbClr val="686F7D"/>
                </a:solidFill>
              </a:rPr>
              <a:t>Progressive/transfer die</a:t>
            </a:r>
          </a:p>
        </p:txBody>
      </p:sp>
      <p:sp>
        <p:nvSpPr>
          <p:cNvPr id="31" name="Rectangle 30"/>
          <p:cNvSpPr/>
          <p:nvPr/>
        </p:nvSpPr>
        <p:spPr>
          <a:xfrm>
            <a:off x="8532005" y="1810512"/>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32005" y="1975104"/>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33" name="TextBox 32"/>
          <p:cNvSpPr txBox="1"/>
          <p:nvPr/>
        </p:nvSpPr>
        <p:spPr>
          <a:xfrm>
            <a:off x="8532005" y="2395728"/>
            <a:ext cx="1573813" cy="237744"/>
          </a:xfrm>
          <a:prstGeom prst="rect">
            <a:avLst/>
          </a:prstGeom>
          <a:noFill/>
        </p:spPr>
        <p:txBody>
          <a:bodyPr wrap="square">
            <a:spAutoFit/>
          </a:bodyPr>
          <a:lstStyle/>
          <a:p>
            <a:pPr algn="ctr"/>
            <a:r>
              <a:rPr sz="900" b="1" i="0">
                <a:solidFill>
                  <a:srgbClr val="16325C"/>
                </a:solidFill>
              </a:rPr>
              <a:t>Sheet Metal Fab</a:t>
            </a:r>
          </a:p>
        </p:txBody>
      </p:sp>
      <p:sp>
        <p:nvSpPr>
          <p:cNvPr id="34" name="TextBox 33"/>
          <p:cNvSpPr txBox="1"/>
          <p:nvPr/>
        </p:nvSpPr>
        <p:spPr>
          <a:xfrm>
            <a:off x="8532005" y="2670048"/>
            <a:ext cx="1573813" cy="530352"/>
          </a:xfrm>
          <a:prstGeom prst="rect">
            <a:avLst/>
          </a:prstGeom>
          <a:noFill/>
        </p:spPr>
        <p:txBody>
          <a:bodyPr wrap="square">
            <a:spAutoFit/>
          </a:bodyPr>
          <a:lstStyle/>
          <a:p>
            <a:pPr algn="ctr"/>
            <a:r>
              <a:rPr sz="800" b="0" i="0">
                <a:solidFill>
                  <a:srgbClr val="686F7D"/>
                </a:solidFill>
              </a:rPr>
              <a:t>Laser · punch · press brake · MIG</a:t>
            </a:r>
          </a:p>
        </p:txBody>
      </p:sp>
      <p:sp>
        <p:nvSpPr>
          <p:cNvPr id="35" name="Rectangle 34"/>
          <p:cNvSpPr/>
          <p:nvPr/>
        </p:nvSpPr>
        <p:spPr>
          <a:xfrm>
            <a:off x="10156110" y="1810512"/>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156110" y="1975104"/>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37" name="TextBox 36"/>
          <p:cNvSpPr txBox="1"/>
          <p:nvPr/>
        </p:nvSpPr>
        <p:spPr>
          <a:xfrm>
            <a:off x="10156110" y="2395728"/>
            <a:ext cx="1573813" cy="237744"/>
          </a:xfrm>
          <a:prstGeom prst="rect">
            <a:avLst/>
          </a:prstGeom>
          <a:noFill/>
        </p:spPr>
        <p:txBody>
          <a:bodyPr wrap="square">
            <a:spAutoFit/>
          </a:bodyPr>
          <a:lstStyle/>
          <a:p>
            <a:pPr algn="ctr"/>
            <a:r>
              <a:rPr sz="900" b="1" i="0">
                <a:solidFill>
                  <a:srgbClr val="16325C"/>
                </a:solidFill>
              </a:rPr>
              <a:t>Gear Cutting</a:t>
            </a:r>
          </a:p>
        </p:txBody>
      </p:sp>
      <p:sp>
        <p:nvSpPr>
          <p:cNvPr id="38" name="TextBox 37"/>
          <p:cNvSpPr txBox="1"/>
          <p:nvPr/>
        </p:nvSpPr>
        <p:spPr>
          <a:xfrm>
            <a:off x="10156110" y="2670048"/>
            <a:ext cx="1573813" cy="530352"/>
          </a:xfrm>
          <a:prstGeom prst="rect">
            <a:avLst/>
          </a:prstGeom>
          <a:noFill/>
        </p:spPr>
        <p:txBody>
          <a:bodyPr wrap="square">
            <a:spAutoFit/>
          </a:bodyPr>
          <a:lstStyle/>
          <a:p>
            <a:pPr algn="ctr"/>
            <a:r>
              <a:rPr sz="800" b="0" i="0">
                <a:solidFill>
                  <a:srgbClr val="686F7D"/>
                </a:solidFill>
              </a:rPr>
              <a:t>Hob · shape · skive · broach · grind</a:t>
            </a:r>
          </a:p>
        </p:txBody>
      </p:sp>
      <p:sp>
        <p:nvSpPr>
          <p:cNvPr id="39" name="Rectangle 38"/>
          <p:cNvSpPr/>
          <p:nvPr/>
        </p:nvSpPr>
        <p:spPr>
          <a:xfrm>
            <a:off x="411480" y="3345180"/>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11480" y="3509772"/>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41" name="TextBox 40"/>
          <p:cNvSpPr txBox="1"/>
          <p:nvPr/>
        </p:nvSpPr>
        <p:spPr>
          <a:xfrm>
            <a:off x="411480" y="3930396"/>
            <a:ext cx="1573813" cy="237744"/>
          </a:xfrm>
          <a:prstGeom prst="rect">
            <a:avLst/>
          </a:prstGeom>
          <a:noFill/>
        </p:spPr>
        <p:txBody>
          <a:bodyPr wrap="square">
            <a:spAutoFit/>
          </a:bodyPr>
          <a:lstStyle/>
          <a:p>
            <a:pPr algn="ctr"/>
            <a:r>
              <a:rPr sz="900" b="1" i="0">
                <a:solidFill>
                  <a:srgbClr val="16325C"/>
                </a:solidFill>
              </a:rPr>
              <a:t>Injection Moulding</a:t>
            </a:r>
          </a:p>
        </p:txBody>
      </p:sp>
      <p:sp>
        <p:nvSpPr>
          <p:cNvPr id="42" name="TextBox 41"/>
          <p:cNvSpPr txBox="1"/>
          <p:nvPr/>
        </p:nvSpPr>
        <p:spPr>
          <a:xfrm>
            <a:off x="411480" y="4204716"/>
            <a:ext cx="1573813" cy="530352"/>
          </a:xfrm>
          <a:prstGeom prst="rect">
            <a:avLst/>
          </a:prstGeom>
          <a:noFill/>
        </p:spPr>
        <p:txBody>
          <a:bodyPr wrap="square">
            <a:spAutoFit/>
          </a:bodyPr>
          <a:lstStyle/>
          <a:p>
            <a:pPr algn="ctr"/>
            <a:r>
              <a:rPr sz="800" b="0" i="0">
                <a:solidFill>
                  <a:srgbClr val="686F7D"/>
                </a:solidFill>
              </a:rPr>
              <a:t>Thermoplastics, multi-cavity</a:t>
            </a:r>
          </a:p>
        </p:txBody>
      </p:sp>
      <p:sp>
        <p:nvSpPr>
          <p:cNvPr id="43" name="Rectangle 42"/>
          <p:cNvSpPr/>
          <p:nvPr/>
        </p:nvSpPr>
        <p:spPr>
          <a:xfrm>
            <a:off x="2035585" y="3345180"/>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035585" y="3509772"/>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45" name="TextBox 44"/>
          <p:cNvSpPr txBox="1"/>
          <p:nvPr/>
        </p:nvSpPr>
        <p:spPr>
          <a:xfrm>
            <a:off x="2035585" y="3930396"/>
            <a:ext cx="1573813" cy="237744"/>
          </a:xfrm>
          <a:prstGeom prst="rect">
            <a:avLst/>
          </a:prstGeom>
          <a:noFill/>
        </p:spPr>
        <p:txBody>
          <a:bodyPr wrap="square">
            <a:spAutoFit/>
          </a:bodyPr>
          <a:lstStyle/>
          <a:p>
            <a:pPr algn="ctr"/>
            <a:r>
              <a:rPr sz="900" b="1" i="0">
                <a:solidFill>
                  <a:srgbClr val="16325C"/>
                </a:solidFill>
              </a:rPr>
              <a:t>Blow Moulding</a:t>
            </a:r>
          </a:p>
        </p:txBody>
      </p:sp>
      <p:sp>
        <p:nvSpPr>
          <p:cNvPr id="46" name="TextBox 45"/>
          <p:cNvSpPr txBox="1"/>
          <p:nvPr/>
        </p:nvSpPr>
        <p:spPr>
          <a:xfrm>
            <a:off x="2035585" y="4204716"/>
            <a:ext cx="1573813" cy="530352"/>
          </a:xfrm>
          <a:prstGeom prst="rect">
            <a:avLst/>
          </a:prstGeom>
          <a:noFill/>
        </p:spPr>
        <p:txBody>
          <a:bodyPr wrap="square">
            <a:spAutoFit/>
          </a:bodyPr>
          <a:lstStyle/>
          <a:p>
            <a:pPr algn="ctr"/>
            <a:r>
              <a:rPr sz="800" b="0" i="0">
                <a:solidFill>
                  <a:srgbClr val="686F7D"/>
                </a:solidFill>
              </a:rPr>
              <a:t>HDPE, PET, extrusion blow</a:t>
            </a:r>
          </a:p>
        </p:txBody>
      </p:sp>
      <p:sp>
        <p:nvSpPr>
          <p:cNvPr id="47" name="Rectangle 46"/>
          <p:cNvSpPr/>
          <p:nvPr/>
        </p:nvSpPr>
        <p:spPr>
          <a:xfrm>
            <a:off x="3659690" y="3345180"/>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659690" y="3509772"/>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49" name="TextBox 48"/>
          <p:cNvSpPr txBox="1"/>
          <p:nvPr/>
        </p:nvSpPr>
        <p:spPr>
          <a:xfrm>
            <a:off x="3659690" y="3930396"/>
            <a:ext cx="1573813" cy="237744"/>
          </a:xfrm>
          <a:prstGeom prst="rect">
            <a:avLst/>
          </a:prstGeom>
          <a:noFill/>
        </p:spPr>
        <p:txBody>
          <a:bodyPr wrap="square">
            <a:spAutoFit/>
          </a:bodyPr>
          <a:lstStyle/>
          <a:p>
            <a:pPr algn="ctr"/>
            <a:r>
              <a:rPr sz="900" b="1" i="0">
                <a:solidFill>
                  <a:srgbClr val="16325C"/>
                </a:solidFill>
              </a:rPr>
              <a:t>Extrusion</a:t>
            </a:r>
          </a:p>
        </p:txBody>
      </p:sp>
      <p:sp>
        <p:nvSpPr>
          <p:cNvPr id="50" name="TextBox 49"/>
          <p:cNvSpPr txBox="1"/>
          <p:nvPr/>
        </p:nvSpPr>
        <p:spPr>
          <a:xfrm>
            <a:off x="3659690" y="4204716"/>
            <a:ext cx="1573813" cy="530352"/>
          </a:xfrm>
          <a:prstGeom prst="rect">
            <a:avLst/>
          </a:prstGeom>
          <a:noFill/>
        </p:spPr>
        <p:txBody>
          <a:bodyPr wrap="square">
            <a:spAutoFit/>
          </a:bodyPr>
          <a:lstStyle/>
          <a:p>
            <a:pPr algn="ctr"/>
            <a:r>
              <a:rPr sz="800" b="0" i="0">
                <a:solidFill>
                  <a:srgbClr val="686F7D"/>
                </a:solidFill>
              </a:rPr>
              <a:t>Profile, pipe, sheet, rod</a:t>
            </a:r>
          </a:p>
        </p:txBody>
      </p:sp>
      <p:sp>
        <p:nvSpPr>
          <p:cNvPr id="51" name="Rectangle 50"/>
          <p:cNvSpPr/>
          <p:nvPr/>
        </p:nvSpPr>
        <p:spPr>
          <a:xfrm>
            <a:off x="5283795" y="3345180"/>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283795" y="3509772"/>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53" name="TextBox 52"/>
          <p:cNvSpPr txBox="1"/>
          <p:nvPr/>
        </p:nvSpPr>
        <p:spPr>
          <a:xfrm>
            <a:off x="5283795" y="3930396"/>
            <a:ext cx="1573813" cy="237744"/>
          </a:xfrm>
          <a:prstGeom prst="rect">
            <a:avLst/>
          </a:prstGeom>
          <a:noFill/>
        </p:spPr>
        <p:txBody>
          <a:bodyPr wrap="square">
            <a:spAutoFit/>
          </a:bodyPr>
          <a:lstStyle/>
          <a:p>
            <a:pPr algn="ctr"/>
            <a:r>
              <a:rPr sz="900" b="1" i="0">
                <a:solidFill>
                  <a:srgbClr val="16325C"/>
                </a:solidFill>
              </a:rPr>
              <a:t>Thermoforming</a:t>
            </a:r>
          </a:p>
        </p:txBody>
      </p:sp>
      <p:sp>
        <p:nvSpPr>
          <p:cNvPr id="54" name="TextBox 53"/>
          <p:cNvSpPr txBox="1"/>
          <p:nvPr/>
        </p:nvSpPr>
        <p:spPr>
          <a:xfrm>
            <a:off x="5283795" y="4204716"/>
            <a:ext cx="1573813" cy="530352"/>
          </a:xfrm>
          <a:prstGeom prst="rect">
            <a:avLst/>
          </a:prstGeom>
          <a:noFill/>
        </p:spPr>
        <p:txBody>
          <a:bodyPr wrap="square">
            <a:spAutoFit/>
          </a:bodyPr>
          <a:lstStyle/>
          <a:p>
            <a:pPr algn="ctr"/>
            <a:r>
              <a:rPr sz="800" b="0" i="0">
                <a:solidFill>
                  <a:srgbClr val="686F7D"/>
                </a:solidFill>
              </a:rPr>
              <a:t>Vacuum, pressure, twin-sheet</a:t>
            </a:r>
          </a:p>
        </p:txBody>
      </p:sp>
      <p:sp>
        <p:nvSpPr>
          <p:cNvPr id="55" name="Rectangle 54"/>
          <p:cNvSpPr/>
          <p:nvPr/>
        </p:nvSpPr>
        <p:spPr>
          <a:xfrm>
            <a:off x="6907900" y="3345180"/>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907900" y="3509772"/>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57" name="TextBox 56"/>
          <p:cNvSpPr txBox="1"/>
          <p:nvPr/>
        </p:nvSpPr>
        <p:spPr>
          <a:xfrm>
            <a:off x="6907900" y="3930396"/>
            <a:ext cx="1573813" cy="237744"/>
          </a:xfrm>
          <a:prstGeom prst="rect">
            <a:avLst/>
          </a:prstGeom>
          <a:noFill/>
        </p:spPr>
        <p:txBody>
          <a:bodyPr wrap="square">
            <a:spAutoFit/>
          </a:bodyPr>
          <a:lstStyle/>
          <a:p>
            <a:pPr algn="ctr"/>
            <a:r>
              <a:rPr sz="900" b="1" i="0">
                <a:solidFill>
                  <a:srgbClr val="16325C"/>
                </a:solidFill>
              </a:rPr>
              <a:t>Rotational Moulding</a:t>
            </a:r>
          </a:p>
        </p:txBody>
      </p:sp>
      <p:sp>
        <p:nvSpPr>
          <p:cNvPr id="58" name="TextBox 57"/>
          <p:cNvSpPr txBox="1"/>
          <p:nvPr/>
        </p:nvSpPr>
        <p:spPr>
          <a:xfrm>
            <a:off x="6907900" y="4204716"/>
            <a:ext cx="1573813" cy="530352"/>
          </a:xfrm>
          <a:prstGeom prst="rect">
            <a:avLst/>
          </a:prstGeom>
          <a:noFill/>
        </p:spPr>
        <p:txBody>
          <a:bodyPr wrap="square">
            <a:spAutoFit/>
          </a:bodyPr>
          <a:lstStyle/>
          <a:p>
            <a:pPr algn="ctr"/>
            <a:r>
              <a:rPr sz="800" b="0" i="0">
                <a:solidFill>
                  <a:srgbClr val="686F7D"/>
                </a:solidFill>
              </a:rPr>
              <a:t>Large hollow shapes, LLDPE</a:t>
            </a:r>
          </a:p>
        </p:txBody>
      </p:sp>
      <p:sp>
        <p:nvSpPr>
          <p:cNvPr id="59" name="Rectangle 58"/>
          <p:cNvSpPr/>
          <p:nvPr/>
        </p:nvSpPr>
        <p:spPr>
          <a:xfrm>
            <a:off x="8532005" y="3345180"/>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532005" y="3509772"/>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61" name="TextBox 60"/>
          <p:cNvSpPr txBox="1"/>
          <p:nvPr/>
        </p:nvSpPr>
        <p:spPr>
          <a:xfrm>
            <a:off x="8532005" y="3930396"/>
            <a:ext cx="1573813" cy="237744"/>
          </a:xfrm>
          <a:prstGeom prst="rect">
            <a:avLst/>
          </a:prstGeom>
          <a:noFill/>
        </p:spPr>
        <p:txBody>
          <a:bodyPr wrap="square">
            <a:spAutoFit/>
          </a:bodyPr>
          <a:lstStyle/>
          <a:p>
            <a:pPr algn="ctr"/>
            <a:r>
              <a:rPr sz="900" b="1" i="0">
                <a:solidFill>
                  <a:srgbClr val="16325C"/>
                </a:solidFill>
              </a:rPr>
              <a:t>Rubber Moulding</a:t>
            </a:r>
          </a:p>
        </p:txBody>
      </p:sp>
      <p:sp>
        <p:nvSpPr>
          <p:cNvPr id="62" name="TextBox 61"/>
          <p:cNvSpPr txBox="1"/>
          <p:nvPr/>
        </p:nvSpPr>
        <p:spPr>
          <a:xfrm>
            <a:off x="8532005" y="4204716"/>
            <a:ext cx="1573813" cy="530352"/>
          </a:xfrm>
          <a:prstGeom prst="rect">
            <a:avLst/>
          </a:prstGeom>
          <a:noFill/>
        </p:spPr>
        <p:txBody>
          <a:bodyPr wrap="square">
            <a:spAutoFit/>
          </a:bodyPr>
          <a:lstStyle/>
          <a:p>
            <a:pPr algn="ctr"/>
            <a:r>
              <a:rPr sz="800" b="0" i="0">
                <a:solidFill>
                  <a:srgbClr val="686F7D"/>
                </a:solidFill>
              </a:rPr>
              <a:t>Compression, injection, LSR</a:t>
            </a:r>
          </a:p>
        </p:txBody>
      </p:sp>
      <p:sp>
        <p:nvSpPr>
          <p:cNvPr id="63" name="Rectangle 62"/>
          <p:cNvSpPr/>
          <p:nvPr/>
        </p:nvSpPr>
        <p:spPr>
          <a:xfrm>
            <a:off x="10156110" y="3345180"/>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10156110" y="3509772"/>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65" name="TextBox 64"/>
          <p:cNvSpPr txBox="1"/>
          <p:nvPr/>
        </p:nvSpPr>
        <p:spPr>
          <a:xfrm>
            <a:off x="10156110" y="3930396"/>
            <a:ext cx="1573813" cy="237744"/>
          </a:xfrm>
          <a:prstGeom prst="rect">
            <a:avLst/>
          </a:prstGeom>
          <a:noFill/>
        </p:spPr>
        <p:txBody>
          <a:bodyPr wrap="square">
            <a:spAutoFit/>
          </a:bodyPr>
          <a:lstStyle/>
          <a:p>
            <a:pPr algn="ctr"/>
            <a:r>
              <a:rPr sz="900" b="1" i="0">
                <a:solidFill>
                  <a:srgbClr val="16325C"/>
                </a:solidFill>
              </a:rPr>
              <a:t>Composites</a:t>
            </a:r>
          </a:p>
        </p:txBody>
      </p:sp>
      <p:sp>
        <p:nvSpPr>
          <p:cNvPr id="66" name="TextBox 65"/>
          <p:cNvSpPr txBox="1"/>
          <p:nvPr/>
        </p:nvSpPr>
        <p:spPr>
          <a:xfrm>
            <a:off x="10156110" y="4204716"/>
            <a:ext cx="1573813" cy="530352"/>
          </a:xfrm>
          <a:prstGeom prst="rect">
            <a:avLst/>
          </a:prstGeom>
          <a:noFill/>
        </p:spPr>
        <p:txBody>
          <a:bodyPr wrap="square">
            <a:spAutoFit/>
          </a:bodyPr>
          <a:lstStyle/>
          <a:p>
            <a:pPr algn="ctr"/>
            <a:r>
              <a:rPr sz="800" b="0" i="0">
                <a:solidFill>
                  <a:srgbClr val="686F7D"/>
                </a:solidFill>
              </a:rPr>
              <a:t>CFRP/GFRP, autoclave, RTM, AFP</a:t>
            </a:r>
          </a:p>
        </p:txBody>
      </p:sp>
      <p:sp>
        <p:nvSpPr>
          <p:cNvPr id="67" name="Rectangle 66"/>
          <p:cNvSpPr/>
          <p:nvPr/>
        </p:nvSpPr>
        <p:spPr>
          <a:xfrm>
            <a:off x="411480" y="4879848"/>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411480" y="5044440"/>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69" name="TextBox 68"/>
          <p:cNvSpPr txBox="1"/>
          <p:nvPr/>
        </p:nvSpPr>
        <p:spPr>
          <a:xfrm>
            <a:off x="411480" y="5465064"/>
            <a:ext cx="1573813" cy="237744"/>
          </a:xfrm>
          <a:prstGeom prst="rect">
            <a:avLst/>
          </a:prstGeom>
          <a:noFill/>
        </p:spPr>
        <p:txBody>
          <a:bodyPr wrap="square">
            <a:spAutoFit/>
          </a:bodyPr>
          <a:lstStyle/>
          <a:p>
            <a:pPr algn="ctr"/>
            <a:r>
              <a:rPr sz="900" b="1" i="0">
                <a:solidFill>
                  <a:srgbClr val="16325C"/>
                </a:solidFill>
              </a:rPr>
              <a:t>Painting / Coating</a:t>
            </a:r>
          </a:p>
        </p:txBody>
      </p:sp>
      <p:sp>
        <p:nvSpPr>
          <p:cNvPr id="70" name="TextBox 69"/>
          <p:cNvSpPr txBox="1"/>
          <p:nvPr/>
        </p:nvSpPr>
        <p:spPr>
          <a:xfrm>
            <a:off x="411480" y="5739384"/>
            <a:ext cx="1573813" cy="530352"/>
          </a:xfrm>
          <a:prstGeom prst="rect">
            <a:avLst/>
          </a:prstGeom>
          <a:noFill/>
        </p:spPr>
        <p:txBody>
          <a:bodyPr wrap="square">
            <a:spAutoFit/>
          </a:bodyPr>
          <a:lstStyle/>
          <a:p>
            <a:pPr algn="ctr"/>
            <a:r>
              <a:rPr sz="800" b="0" i="0">
                <a:solidFill>
                  <a:srgbClr val="686F7D"/>
                </a:solidFill>
              </a:rPr>
              <a:t>E-coat, powder, wet, anodise</a:t>
            </a:r>
          </a:p>
        </p:txBody>
      </p:sp>
      <p:sp>
        <p:nvSpPr>
          <p:cNvPr id="71" name="Rectangle 70"/>
          <p:cNvSpPr/>
          <p:nvPr/>
        </p:nvSpPr>
        <p:spPr>
          <a:xfrm>
            <a:off x="2035585" y="4879848"/>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2035585" y="5044440"/>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73" name="TextBox 72"/>
          <p:cNvSpPr txBox="1"/>
          <p:nvPr/>
        </p:nvSpPr>
        <p:spPr>
          <a:xfrm>
            <a:off x="2035585" y="5465064"/>
            <a:ext cx="1573813" cy="237744"/>
          </a:xfrm>
          <a:prstGeom prst="rect">
            <a:avLst/>
          </a:prstGeom>
          <a:noFill/>
        </p:spPr>
        <p:txBody>
          <a:bodyPr wrap="square">
            <a:spAutoFit/>
          </a:bodyPr>
          <a:lstStyle/>
          <a:p>
            <a:pPr algn="ctr"/>
            <a:r>
              <a:rPr sz="900" b="1" i="0">
                <a:solidFill>
                  <a:srgbClr val="16325C"/>
                </a:solidFill>
              </a:rPr>
              <a:t>BIW Assembly</a:t>
            </a:r>
          </a:p>
        </p:txBody>
      </p:sp>
      <p:sp>
        <p:nvSpPr>
          <p:cNvPr id="74" name="TextBox 73"/>
          <p:cNvSpPr txBox="1"/>
          <p:nvPr/>
        </p:nvSpPr>
        <p:spPr>
          <a:xfrm>
            <a:off x="2035585" y="5739384"/>
            <a:ext cx="1573813" cy="530352"/>
          </a:xfrm>
          <a:prstGeom prst="rect">
            <a:avLst/>
          </a:prstGeom>
          <a:noFill/>
        </p:spPr>
        <p:txBody>
          <a:bodyPr wrap="square">
            <a:spAutoFit/>
          </a:bodyPr>
          <a:lstStyle/>
          <a:p>
            <a:pPr algn="ctr"/>
            <a:r>
              <a:rPr sz="800" b="0" i="0">
                <a:solidFill>
                  <a:srgbClr val="686F7D"/>
                </a:solidFill>
              </a:rPr>
              <a:t>Spot weld, MIG, hem, bond</a:t>
            </a:r>
          </a:p>
        </p:txBody>
      </p:sp>
      <p:sp>
        <p:nvSpPr>
          <p:cNvPr id="75" name="Rectangle 74"/>
          <p:cNvSpPr/>
          <p:nvPr/>
        </p:nvSpPr>
        <p:spPr>
          <a:xfrm>
            <a:off x="3659690" y="4879848"/>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3659690" y="5044440"/>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77" name="TextBox 76"/>
          <p:cNvSpPr txBox="1"/>
          <p:nvPr/>
        </p:nvSpPr>
        <p:spPr>
          <a:xfrm>
            <a:off x="3659690" y="5465064"/>
            <a:ext cx="1573813" cy="237744"/>
          </a:xfrm>
          <a:prstGeom prst="rect">
            <a:avLst/>
          </a:prstGeom>
          <a:noFill/>
        </p:spPr>
        <p:txBody>
          <a:bodyPr wrap="square">
            <a:spAutoFit/>
          </a:bodyPr>
          <a:lstStyle/>
          <a:p>
            <a:pPr algn="ctr"/>
            <a:r>
              <a:rPr sz="900" b="1" i="0">
                <a:solidFill>
                  <a:srgbClr val="16325C"/>
                </a:solidFill>
              </a:rPr>
              <a:t>PCB Fabrication</a:t>
            </a:r>
          </a:p>
        </p:txBody>
      </p:sp>
      <p:sp>
        <p:nvSpPr>
          <p:cNvPr id="78" name="TextBox 77"/>
          <p:cNvSpPr txBox="1"/>
          <p:nvPr/>
        </p:nvSpPr>
        <p:spPr>
          <a:xfrm>
            <a:off x="3659690" y="5739384"/>
            <a:ext cx="1573813" cy="530352"/>
          </a:xfrm>
          <a:prstGeom prst="rect">
            <a:avLst/>
          </a:prstGeom>
          <a:noFill/>
        </p:spPr>
        <p:txBody>
          <a:bodyPr wrap="square">
            <a:spAutoFit/>
          </a:bodyPr>
          <a:lstStyle/>
          <a:p>
            <a:pPr algn="ctr"/>
            <a:r>
              <a:rPr sz="800" b="0" i="0">
                <a:solidFill>
                  <a:srgbClr val="686F7D"/>
                </a:solidFill>
              </a:rPr>
              <a:t>2–16L, HDI, rigid-flex, RF/μwave</a:t>
            </a:r>
          </a:p>
        </p:txBody>
      </p:sp>
      <p:sp>
        <p:nvSpPr>
          <p:cNvPr id="79" name="Rectangle 78"/>
          <p:cNvSpPr/>
          <p:nvPr/>
        </p:nvSpPr>
        <p:spPr>
          <a:xfrm>
            <a:off x="5283795" y="4879848"/>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5283795" y="5044440"/>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81" name="TextBox 80"/>
          <p:cNvSpPr txBox="1"/>
          <p:nvPr/>
        </p:nvSpPr>
        <p:spPr>
          <a:xfrm>
            <a:off x="5283795" y="5465064"/>
            <a:ext cx="1573813" cy="237744"/>
          </a:xfrm>
          <a:prstGeom prst="rect">
            <a:avLst/>
          </a:prstGeom>
          <a:noFill/>
        </p:spPr>
        <p:txBody>
          <a:bodyPr wrap="square">
            <a:spAutoFit/>
          </a:bodyPr>
          <a:lstStyle/>
          <a:p>
            <a:pPr algn="ctr"/>
            <a:r>
              <a:rPr sz="900" b="1" i="0">
                <a:solidFill>
                  <a:srgbClr val="16325C"/>
                </a:solidFill>
              </a:rPr>
              <a:t>PCBA / SMD</a:t>
            </a:r>
          </a:p>
        </p:txBody>
      </p:sp>
      <p:sp>
        <p:nvSpPr>
          <p:cNvPr id="82" name="TextBox 81"/>
          <p:cNvSpPr txBox="1"/>
          <p:nvPr/>
        </p:nvSpPr>
        <p:spPr>
          <a:xfrm>
            <a:off x="5283795" y="5739384"/>
            <a:ext cx="1573813" cy="530352"/>
          </a:xfrm>
          <a:prstGeom prst="rect">
            <a:avLst/>
          </a:prstGeom>
          <a:noFill/>
        </p:spPr>
        <p:txBody>
          <a:bodyPr wrap="square">
            <a:spAutoFit/>
          </a:bodyPr>
          <a:lstStyle/>
          <a:p>
            <a:pPr algn="ctr"/>
            <a:r>
              <a:rPr sz="800" b="0" i="0">
                <a:solidFill>
                  <a:srgbClr val="686F7D"/>
                </a:solidFill>
              </a:rPr>
              <a:t>SMT, TH, reflow, conformal coat</a:t>
            </a:r>
          </a:p>
        </p:txBody>
      </p:sp>
      <p:sp>
        <p:nvSpPr>
          <p:cNvPr id="83" name="Rectangle 82"/>
          <p:cNvSpPr/>
          <p:nvPr/>
        </p:nvSpPr>
        <p:spPr>
          <a:xfrm>
            <a:off x="6907900" y="4879848"/>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6907900" y="5044440"/>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85" name="TextBox 84"/>
          <p:cNvSpPr txBox="1"/>
          <p:nvPr/>
        </p:nvSpPr>
        <p:spPr>
          <a:xfrm>
            <a:off x="6907900" y="5465064"/>
            <a:ext cx="1573813" cy="237744"/>
          </a:xfrm>
          <a:prstGeom prst="rect">
            <a:avLst/>
          </a:prstGeom>
          <a:noFill/>
        </p:spPr>
        <p:txBody>
          <a:bodyPr wrap="square">
            <a:spAutoFit/>
          </a:bodyPr>
          <a:lstStyle/>
          <a:p>
            <a:pPr algn="ctr"/>
            <a:r>
              <a:rPr sz="900" b="1" i="0">
                <a:solidFill>
                  <a:srgbClr val="16325C"/>
                </a:solidFill>
              </a:rPr>
              <a:t>Wiring Harness</a:t>
            </a:r>
          </a:p>
        </p:txBody>
      </p:sp>
      <p:sp>
        <p:nvSpPr>
          <p:cNvPr id="86" name="TextBox 85"/>
          <p:cNvSpPr txBox="1"/>
          <p:nvPr/>
        </p:nvSpPr>
        <p:spPr>
          <a:xfrm>
            <a:off x="6907900" y="5739384"/>
            <a:ext cx="1573813" cy="530352"/>
          </a:xfrm>
          <a:prstGeom prst="rect">
            <a:avLst/>
          </a:prstGeom>
          <a:noFill/>
        </p:spPr>
        <p:txBody>
          <a:bodyPr wrap="square">
            <a:spAutoFit/>
          </a:bodyPr>
          <a:lstStyle/>
          <a:p>
            <a:pPr algn="ctr"/>
            <a:r>
              <a:rPr sz="800" b="0" i="0">
                <a:solidFill>
                  <a:srgbClr val="686F7D"/>
                </a:solidFill>
              </a:rPr>
              <a:t>Cut-strip-crimp, test, sub-asm</a:t>
            </a:r>
          </a:p>
        </p:txBody>
      </p:sp>
      <p:sp>
        <p:nvSpPr>
          <p:cNvPr id="87" name="Rectangle 86"/>
          <p:cNvSpPr/>
          <p:nvPr/>
        </p:nvSpPr>
        <p:spPr>
          <a:xfrm>
            <a:off x="8532005" y="4879848"/>
            <a:ext cx="1573813" cy="1475232"/>
          </a:xfrm>
          <a:prstGeom prst="rect">
            <a:avLst/>
          </a:prstGeom>
          <a:solidFill>
            <a:srgbClr val="FFFFFF"/>
          </a:solidFill>
          <a:ln w="10160">
            <a:solidFill>
              <a:srgbClr val="2A7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8532005" y="5044440"/>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89" name="TextBox 88"/>
          <p:cNvSpPr txBox="1"/>
          <p:nvPr/>
        </p:nvSpPr>
        <p:spPr>
          <a:xfrm>
            <a:off x="8532005" y="5465064"/>
            <a:ext cx="1573813" cy="237744"/>
          </a:xfrm>
          <a:prstGeom prst="rect">
            <a:avLst/>
          </a:prstGeom>
          <a:noFill/>
        </p:spPr>
        <p:txBody>
          <a:bodyPr wrap="square">
            <a:spAutoFit/>
          </a:bodyPr>
          <a:lstStyle/>
          <a:p>
            <a:pPr algn="ctr"/>
            <a:r>
              <a:rPr sz="900" b="1" i="0">
                <a:solidFill>
                  <a:srgbClr val="16325C"/>
                </a:solidFill>
              </a:rPr>
              <a:t>Assembly BOM Rollup</a:t>
            </a:r>
          </a:p>
        </p:txBody>
      </p:sp>
      <p:sp>
        <p:nvSpPr>
          <p:cNvPr id="90" name="TextBox 89"/>
          <p:cNvSpPr txBox="1"/>
          <p:nvPr/>
        </p:nvSpPr>
        <p:spPr>
          <a:xfrm>
            <a:off x="8532005" y="5739384"/>
            <a:ext cx="1573813" cy="530352"/>
          </a:xfrm>
          <a:prstGeom prst="rect">
            <a:avLst/>
          </a:prstGeom>
          <a:noFill/>
        </p:spPr>
        <p:txBody>
          <a:bodyPr wrap="square">
            <a:spAutoFit/>
          </a:bodyPr>
          <a:lstStyle/>
          <a:p>
            <a:pPr algn="ctr"/>
            <a:r>
              <a:rPr sz="800" b="0" i="0">
                <a:solidFill>
                  <a:srgbClr val="686F7D"/>
                </a:solidFill>
              </a:rPr>
              <a:t>Multi-part BOM, full cost rollup</a:t>
            </a:r>
          </a:p>
        </p:txBody>
      </p:sp>
      <p:sp>
        <p:nvSpPr>
          <p:cNvPr id="91" name="Rectangle 90"/>
          <p:cNvSpPr/>
          <p:nvPr/>
        </p:nvSpPr>
        <p:spPr>
          <a:xfrm>
            <a:off x="10156110" y="4879848"/>
            <a:ext cx="1573813" cy="1475232"/>
          </a:xfrm>
          <a:prstGeom prst="rect">
            <a:avLst/>
          </a:prstGeom>
          <a:solidFill>
            <a:srgbClr val="FFFFFF"/>
          </a:solidFill>
          <a:ln w="10160">
            <a:solidFill>
              <a:srgbClr val="2A7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10156110" y="5044440"/>
            <a:ext cx="1573813" cy="365760"/>
          </a:xfrm>
          <a:prstGeom prst="rect">
            <a:avLst/>
          </a:prstGeom>
          <a:noFill/>
        </p:spPr>
        <p:txBody>
          <a:bodyPr wrap="square">
            <a:spAutoFit/>
          </a:bodyPr>
          <a:lstStyle/>
          <a:p>
            <a:pPr algn="ctr"/>
            <a:r>
              <a:rPr sz="1700" b="0" i="0">
                <a:solidFill>
                  <a:srgbClr val="16325C"/>
                </a:solidFill>
                <a:latin typeface="Segoe UI Emoji"/>
              </a:rPr>
              <a:t>🤖</a:t>
            </a:r>
          </a:p>
        </p:txBody>
      </p:sp>
      <p:sp>
        <p:nvSpPr>
          <p:cNvPr id="93" name="TextBox 92"/>
          <p:cNvSpPr txBox="1"/>
          <p:nvPr/>
        </p:nvSpPr>
        <p:spPr>
          <a:xfrm>
            <a:off x="10156110" y="5465064"/>
            <a:ext cx="1573813" cy="237744"/>
          </a:xfrm>
          <a:prstGeom prst="rect">
            <a:avLst/>
          </a:prstGeom>
          <a:noFill/>
        </p:spPr>
        <p:txBody>
          <a:bodyPr wrap="square">
            <a:spAutoFit/>
          </a:bodyPr>
          <a:lstStyle/>
          <a:p>
            <a:pPr algn="ctr"/>
            <a:r>
              <a:rPr sz="900" b="1" i="0">
                <a:solidFill>
                  <a:srgbClr val="16325C"/>
                </a:solidFill>
              </a:rPr>
              <a:t>AI Agent</a:t>
            </a:r>
          </a:p>
        </p:txBody>
      </p:sp>
      <p:sp>
        <p:nvSpPr>
          <p:cNvPr id="94" name="TextBox 93"/>
          <p:cNvSpPr txBox="1"/>
          <p:nvPr/>
        </p:nvSpPr>
        <p:spPr>
          <a:xfrm>
            <a:off x="10156110" y="5739384"/>
            <a:ext cx="1573813" cy="530352"/>
          </a:xfrm>
          <a:prstGeom prst="rect">
            <a:avLst/>
          </a:prstGeom>
          <a:noFill/>
        </p:spPr>
        <p:txBody>
          <a:bodyPr wrap="square">
            <a:spAutoFit/>
          </a:bodyPr>
          <a:lstStyle/>
          <a:p>
            <a:pPr algn="ctr"/>
            <a:r>
              <a:rPr sz="800" b="0" i="0">
                <a:solidFill>
                  <a:srgbClr val="686F7D"/>
                </a:solidFill>
              </a:rPr>
              <a:t>Natural language → any commodity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86F7D"/>
                </a:solidFill>
              </a:rPr>
              <a:t>SLIDE 10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ENGINEERING DEPTH</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What Sits Behind Every Number</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Twelve layers, all of them arithmetic you can follow. Nothing is estimated by feel.</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86F7D"/>
                </a:solidFill>
              </a:rPr>
              <a:t>CostVision — AI-Powered Should-Cost Intelligence  |  Avinash Bhosale  |  Confidential</a:t>
            </a:r>
          </a:p>
        </p:txBody>
      </p:sp>
      <p:sp>
        <p:nvSpPr>
          <p:cNvPr id="11" name="Rectangle 10"/>
          <p:cNvSpPr/>
          <p:nvPr/>
        </p:nvSpPr>
        <p:spPr>
          <a:xfrm>
            <a:off x="411480" y="1810512"/>
            <a:ext cx="2773603" cy="145389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10512"/>
            <a:ext cx="54864" cy="1453896"/>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1901952"/>
            <a:ext cx="2590723"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Materials</a:t>
            </a:r>
          </a:p>
        </p:txBody>
      </p:sp>
      <p:sp>
        <p:nvSpPr>
          <p:cNvPr id="14" name="TextBox 13"/>
          <p:cNvSpPr txBox="1"/>
          <p:nvPr/>
        </p:nvSpPr>
        <p:spPr>
          <a:xfrm>
            <a:off x="539496" y="2194560"/>
            <a:ext cx="2590723" cy="960120"/>
          </a:xfrm>
          <a:prstGeom prst="rect">
            <a:avLst/>
          </a:prstGeom>
          <a:noFill/>
        </p:spPr>
        <p:txBody>
          <a:bodyPr wrap="square">
            <a:spAutoFit/>
          </a:bodyPr>
          <a:lstStyle/>
          <a:p>
            <a:pPr algn="l"/>
            <a:r>
              <a:rPr sz="950" b="0" i="0">
                <a:solidFill>
                  <a:srgbClr val="3A4356"/>
                </a:solidFill>
              </a:rPr>
              <a:t>30+ grades — steels, aluminium, plastics, rubber, composites, board laminates. Priced in the local currency.</a:t>
            </a:r>
          </a:p>
        </p:txBody>
      </p:sp>
      <p:sp>
        <p:nvSpPr>
          <p:cNvPr id="15" name="Rectangle 14"/>
          <p:cNvSpPr/>
          <p:nvPr/>
        </p:nvSpPr>
        <p:spPr>
          <a:xfrm>
            <a:off x="3276523" y="1810512"/>
            <a:ext cx="2773603" cy="145389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76523" y="1810512"/>
            <a:ext cx="54864" cy="1453896"/>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404539" y="1901952"/>
            <a:ext cx="2590723"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Machines &amp; Rates</a:t>
            </a:r>
          </a:p>
        </p:txBody>
      </p:sp>
      <p:sp>
        <p:nvSpPr>
          <p:cNvPr id="18" name="TextBox 17"/>
          <p:cNvSpPr txBox="1"/>
          <p:nvPr/>
        </p:nvSpPr>
        <p:spPr>
          <a:xfrm>
            <a:off x="3404539" y="2194560"/>
            <a:ext cx="2590723" cy="960120"/>
          </a:xfrm>
          <a:prstGeom prst="rect">
            <a:avLst/>
          </a:prstGeom>
          <a:noFill/>
        </p:spPr>
        <p:txBody>
          <a:bodyPr wrap="square">
            <a:spAutoFit/>
          </a:bodyPr>
          <a:lstStyle/>
          <a:p>
            <a:pPr algn="l"/>
            <a:r>
              <a:rPr sz="950" b="0" i="0">
                <a:solidFill>
                  <a:srgbClr val="3A4356"/>
                </a:solidFill>
              </a:rPr>
              <a:t>50+ machine types with an hourly rate you can edit per project and per region.</a:t>
            </a:r>
          </a:p>
        </p:txBody>
      </p:sp>
      <p:sp>
        <p:nvSpPr>
          <p:cNvPr id="19" name="Rectangle 18"/>
          <p:cNvSpPr/>
          <p:nvPr/>
        </p:nvSpPr>
        <p:spPr>
          <a:xfrm>
            <a:off x="6141567" y="1810512"/>
            <a:ext cx="2773603" cy="145389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1567" y="1810512"/>
            <a:ext cx="54864" cy="1453896"/>
          </a:xfrm>
          <a:prstGeom prst="rect">
            <a:avLst/>
          </a:prstGeom>
          <a:solidFill>
            <a:srgbClr val="9965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69583" y="1901952"/>
            <a:ext cx="2590723"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Process Routing</a:t>
            </a:r>
          </a:p>
        </p:txBody>
      </p:sp>
      <p:sp>
        <p:nvSpPr>
          <p:cNvPr id="22" name="TextBox 21"/>
          <p:cNvSpPr txBox="1"/>
          <p:nvPr/>
        </p:nvSpPr>
        <p:spPr>
          <a:xfrm>
            <a:off x="6269583" y="2194560"/>
            <a:ext cx="2590723" cy="960120"/>
          </a:xfrm>
          <a:prstGeom prst="rect">
            <a:avLst/>
          </a:prstGeom>
          <a:noFill/>
        </p:spPr>
        <p:txBody>
          <a:bodyPr wrap="square">
            <a:spAutoFit/>
          </a:bodyPr>
          <a:lstStyle/>
          <a:p>
            <a:pPr algn="l"/>
            <a:r>
              <a:rPr sz="950" b="0" i="0">
                <a:solidFill>
                  <a:srgbClr val="3A4356"/>
                </a:solidFill>
              </a:rPr>
              <a:t>The order of operations, and for each one: which machine, how long, who runs it.</a:t>
            </a:r>
          </a:p>
        </p:txBody>
      </p:sp>
      <p:sp>
        <p:nvSpPr>
          <p:cNvPr id="23" name="Rectangle 22"/>
          <p:cNvSpPr/>
          <p:nvPr/>
        </p:nvSpPr>
        <p:spPr>
          <a:xfrm>
            <a:off x="9006611" y="1810512"/>
            <a:ext cx="2773603" cy="145389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006611" y="1810512"/>
            <a:ext cx="54864" cy="1453896"/>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34627" y="1901952"/>
            <a:ext cx="2590723"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Tooling &amp; NRE</a:t>
            </a:r>
          </a:p>
        </p:txBody>
      </p:sp>
      <p:sp>
        <p:nvSpPr>
          <p:cNvPr id="26" name="TextBox 25"/>
          <p:cNvSpPr txBox="1"/>
          <p:nvPr/>
        </p:nvSpPr>
        <p:spPr>
          <a:xfrm>
            <a:off x="9134627" y="2194560"/>
            <a:ext cx="2590723" cy="960120"/>
          </a:xfrm>
          <a:prstGeom prst="rect">
            <a:avLst/>
          </a:prstGeom>
          <a:noFill/>
        </p:spPr>
        <p:txBody>
          <a:bodyPr wrap="square">
            <a:spAutoFit/>
          </a:bodyPr>
          <a:lstStyle/>
          <a:p>
            <a:pPr algn="l"/>
            <a:r>
              <a:rPr sz="950" b="0" i="0">
                <a:solidFill>
                  <a:srgbClr val="3A4356"/>
                </a:solidFill>
              </a:rPr>
              <a:t>Dies, moulds and fixtures spread over the year's volume, with tool life accounted for.</a:t>
            </a:r>
          </a:p>
        </p:txBody>
      </p:sp>
      <p:sp>
        <p:nvSpPr>
          <p:cNvPr id="27" name="Rectangle 26"/>
          <p:cNvSpPr/>
          <p:nvPr/>
        </p:nvSpPr>
        <p:spPr>
          <a:xfrm>
            <a:off x="411480" y="3355848"/>
            <a:ext cx="2773603" cy="145389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3355848"/>
            <a:ext cx="54864" cy="1453896"/>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9496" y="3447288"/>
            <a:ext cx="2590723"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Yield &amp; Scrap</a:t>
            </a:r>
          </a:p>
        </p:txBody>
      </p:sp>
      <p:sp>
        <p:nvSpPr>
          <p:cNvPr id="30" name="TextBox 29"/>
          <p:cNvSpPr txBox="1"/>
          <p:nvPr/>
        </p:nvSpPr>
        <p:spPr>
          <a:xfrm>
            <a:off x="539496" y="3739896"/>
            <a:ext cx="2590723" cy="960120"/>
          </a:xfrm>
          <a:prstGeom prst="rect">
            <a:avLst/>
          </a:prstGeom>
          <a:noFill/>
        </p:spPr>
        <p:txBody>
          <a:bodyPr wrap="square">
            <a:spAutoFit/>
          </a:bodyPr>
          <a:lstStyle/>
          <a:p>
            <a:pPr algn="l"/>
            <a:r>
              <a:rPr sz="950" b="0" i="0">
                <a:solidFill>
                  <a:srgbClr val="3A4356"/>
                </a:solidFill>
              </a:rPr>
              <a:t>What actually comes out good first time, driven by the features that make a part hard to build.</a:t>
            </a:r>
          </a:p>
        </p:txBody>
      </p:sp>
      <p:sp>
        <p:nvSpPr>
          <p:cNvPr id="31" name="Rectangle 30"/>
          <p:cNvSpPr/>
          <p:nvPr/>
        </p:nvSpPr>
        <p:spPr>
          <a:xfrm>
            <a:off x="3276523" y="3355848"/>
            <a:ext cx="2773603" cy="145389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276523" y="3355848"/>
            <a:ext cx="54864" cy="1453896"/>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404539" y="3447288"/>
            <a:ext cx="2590723"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Regional Rates</a:t>
            </a:r>
          </a:p>
        </p:txBody>
      </p:sp>
      <p:sp>
        <p:nvSpPr>
          <p:cNvPr id="34" name="TextBox 33"/>
          <p:cNvSpPr txBox="1"/>
          <p:nvPr/>
        </p:nvSpPr>
        <p:spPr>
          <a:xfrm>
            <a:off x="3404539" y="3739896"/>
            <a:ext cx="2590723" cy="960120"/>
          </a:xfrm>
          <a:prstGeom prst="rect">
            <a:avLst/>
          </a:prstGeom>
          <a:noFill/>
        </p:spPr>
        <p:txBody>
          <a:bodyPr wrap="square">
            <a:spAutoFit/>
          </a:bodyPr>
          <a:lstStyle/>
          <a:p>
            <a:pPr algn="l"/>
            <a:r>
              <a:rPr sz="950" b="0" i="0">
                <a:solidFill>
                  <a:srgbClr val="3A4356"/>
                </a:solidFill>
              </a:rPr>
              <a:t>20 regions, each with its own labour, energy and machine rates.</a:t>
            </a:r>
          </a:p>
        </p:txBody>
      </p:sp>
      <p:sp>
        <p:nvSpPr>
          <p:cNvPr id="35" name="Rectangle 34"/>
          <p:cNvSpPr/>
          <p:nvPr/>
        </p:nvSpPr>
        <p:spPr>
          <a:xfrm>
            <a:off x="6141567" y="3355848"/>
            <a:ext cx="2773603" cy="145389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141567" y="3355848"/>
            <a:ext cx="54864" cy="1453896"/>
          </a:xfrm>
          <a:prstGeom prst="rect">
            <a:avLst/>
          </a:prstGeom>
          <a:solidFill>
            <a:srgbClr val="9965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69583" y="3447288"/>
            <a:ext cx="2590723"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Benchmarks &amp; Sensitivity</a:t>
            </a:r>
          </a:p>
        </p:txBody>
      </p:sp>
      <p:sp>
        <p:nvSpPr>
          <p:cNvPr id="38" name="TextBox 37"/>
          <p:cNvSpPr txBox="1"/>
          <p:nvPr/>
        </p:nvSpPr>
        <p:spPr>
          <a:xfrm>
            <a:off x="6269583" y="3739896"/>
            <a:ext cx="2590723" cy="960120"/>
          </a:xfrm>
          <a:prstGeom prst="rect">
            <a:avLst/>
          </a:prstGeom>
          <a:noFill/>
        </p:spPr>
        <p:txBody>
          <a:bodyPr wrap="square">
            <a:spAutoFit/>
          </a:bodyPr>
          <a:lstStyle/>
          <a:p>
            <a:pPr algn="l"/>
            <a:r>
              <a:rPr sz="950" b="0" i="0">
                <a:solidFill>
                  <a:srgbClr val="3A4356"/>
                </a:solidFill>
              </a:rPr>
              <a:t>Checked against published cost ranges, and ranked by which inputs move the number most.</a:t>
            </a:r>
          </a:p>
        </p:txBody>
      </p:sp>
      <p:sp>
        <p:nvSpPr>
          <p:cNvPr id="39" name="Rectangle 38"/>
          <p:cNvSpPr/>
          <p:nvPr/>
        </p:nvSpPr>
        <p:spPr>
          <a:xfrm>
            <a:off x="9006611" y="3355848"/>
            <a:ext cx="2773603" cy="145389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9006611" y="3355848"/>
            <a:ext cx="54864" cy="1453896"/>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134627" y="3447288"/>
            <a:ext cx="2590723"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Learning Curve</a:t>
            </a:r>
          </a:p>
        </p:txBody>
      </p:sp>
      <p:sp>
        <p:nvSpPr>
          <p:cNvPr id="42" name="TextBox 41"/>
          <p:cNvSpPr txBox="1"/>
          <p:nvPr/>
        </p:nvSpPr>
        <p:spPr>
          <a:xfrm>
            <a:off x="9134627" y="3739896"/>
            <a:ext cx="2590723" cy="960120"/>
          </a:xfrm>
          <a:prstGeom prst="rect">
            <a:avLst/>
          </a:prstGeom>
          <a:noFill/>
        </p:spPr>
        <p:txBody>
          <a:bodyPr wrap="square">
            <a:spAutoFit/>
          </a:bodyPr>
          <a:lstStyle/>
          <a:p>
            <a:pPr algn="l"/>
            <a:r>
              <a:rPr sz="950" b="0" i="0">
                <a:solidFill>
                  <a:srgbClr val="3A4356"/>
                </a:solidFill>
              </a:rPr>
              <a:t>What the part costs as volume builds — the figure you need for a long-term agreement.</a:t>
            </a:r>
          </a:p>
        </p:txBody>
      </p:sp>
      <p:sp>
        <p:nvSpPr>
          <p:cNvPr id="43" name="Rectangle 42"/>
          <p:cNvSpPr/>
          <p:nvPr/>
        </p:nvSpPr>
        <p:spPr>
          <a:xfrm>
            <a:off x="411480" y="4901184"/>
            <a:ext cx="2773603" cy="145389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11480" y="4901184"/>
            <a:ext cx="54864" cy="1453896"/>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39496" y="4992624"/>
            <a:ext cx="2590723"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Quote Comparison</a:t>
            </a:r>
          </a:p>
        </p:txBody>
      </p:sp>
      <p:sp>
        <p:nvSpPr>
          <p:cNvPr id="46" name="TextBox 45"/>
          <p:cNvSpPr txBox="1"/>
          <p:nvPr/>
        </p:nvSpPr>
        <p:spPr>
          <a:xfrm>
            <a:off x="539496" y="5285232"/>
            <a:ext cx="2590723" cy="960120"/>
          </a:xfrm>
          <a:prstGeom prst="rect">
            <a:avLst/>
          </a:prstGeom>
          <a:noFill/>
        </p:spPr>
        <p:txBody>
          <a:bodyPr wrap="square">
            <a:spAutoFit/>
          </a:bodyPr>
          <a:lstStyle/>
          <a:p>
            <a:pPr algn="l"/>
            <a:r>
              <a:rPr sz="950" b="0" i="0">
                <a:solidFill>
                  <a:srgbClr val="3A4356"/>
                </a:solidFill>
              </a:rPr>
              <a:t>Put the supplier's quote next to ours and see the gap, in their currency or yours.</a:t>
            </a:r>
          </a:p>
        </p:txBody>
      </p:sp>
      <p:sp>
        <p:nvSpPr>
          <p:cNvPr id="47" name="Rectangle 46"/>
          <p:cNvSpPr/>
          <p:nvPr/>
        </p:nvSpPr>
        <p:spPr>
          <a:xfrm>
            <a:off x="3276523" y="4901184"/>
            <a:ext cx="2773603" cy="145389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3276523" y="4901184"/>
            <a:ext cx="54864" cy="1453896"/>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404539" y="4992624"/>
            <a:ext cx="2590723"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Stated Assumptions</a:t>
            </a:r>
          </a:p>
        </p:txBody>
      </p:sp>
      <p:sp>
        <p:nvSpPr>
          <p:cNvPr id="50" name="TextBox 49"/>
          <p:cNvSpPr txBox="1"/>
          <p:nvPr/>
        </p:nvSpPr>
        <p:spPr>
          <a:xfrm>
            <a:off x="3404539" y="5285232"/>
            <a:ext cx="2590723" cy="960120"/>
          </a:xfrm>
          <a:prstGeom prst="rect">
            <a:avLst/>
          </a:prstGeom>
          <a:noFill/>
        </p:spPr>
        <p:txBody>
          <a:bodyPr wrap="square">
            <a:spAutoFit/>
          </a:bodyPr>
          <a:lstStyle/>
          <a:p>
            <a:pPr algn="l"/>
            <a:r>
              <a:rPr sz="950" b="0" i="0">
                <a:solidFill>
                  <a:srgbClr val="3A4356"/>
                </a:solidFill>
              </a:rPr>
              <a:t>Where something isn't known, the AI fills it in and says so — every assumption is on the page.</a:t>
            </a:r>
          </a:p>
        </p:txBody>
      </p:sp>
      <p:sp>
        <p:nvSpPr>
          <p:cNvPr id="51" name="Rectangle 50"/>
          <p:cNvSpPr/>
          <p:nvPr/>
        </p:nvSpPr>
        <p:spPr>
          <a:xfrm>
            <a:off x="6141567" y="4901184"/>
            <a:ext cx="2773603" cy="145389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6141567" y="4901184"/>
            <a:ext cx="54864" cy="1453896"/>
          </a:xfrm>
          <a:prstGeom prst="rect">
            <a:avLst/>
          </a:prstGeom>
          <a:solidFill>
            <a:srgbClr val="9965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269583" y="4992624"/>
            <a:ext cx="2590723"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Gear Cutting</a:t>
            </a:r>
          </a:p>
        </p:txBody>
      </p:sp>
      <p:sp>
        <p:nvSpPr>
          <p:cNvPr id="54" name="TextBox 53"/>
          <p:cNvSpPr txBox="1"/>
          <p:nvPr/>
        </p:nvSpPr>
        <p:spPr>
          <a:xfrm>
            <a:off x="6269583" y="5285232"/>
            <a:ext cx="2590723" cy="960120"/>
          </a:xfrm>
          <a:prstGeom prst="rect">
            <a:avLst/>
          </a:prstGeom>
          <a:noFill/>
        </p:spPr>
        <p:txBody>
          <a:bodyPr wrap="square">
            <a:spAutoFit/>
          </a:bodyPr>
          <a:lstStyle/>
          <a:p>
            <a:pPr algn="l"/>
            <a:r>
              <a:rPr sz="950" b="0" i="0">
                <a:solidFill>
                  <a:srgbClr val="3A4356"/>
                </a:solidFill>
              </a:rPr>
              <a:t>Hobbing, shaping, skiving and grinding times worked out from the gear itself, not a rule of thumb.</a:t>
            </a:r>
          </a:p>
        </p:txBody>
      </p:sp>
      <p:sp>
        <p:nvSpPr>
          <p:cNvPr id="55" name="Rectangle 54"/>
          <p:cNvSpPr/>
          <p:nvPr/>
        </p:nvSpPr>
        <p:spPr>
          <a:xfrm>
            <a:off x="9006611" y="4901184"/>
            <a:ext cx="2773603" cy="145389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9006611" y="4901184"/>
            <a:ext cx="54864" cy="1453896"/>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9134627" y="4992624"/>
            <a:ext cx="2590723"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Landed Cost</a:t>
            </a:r>
          </a:p>
        </p:txBody>
      </p:sp>
      <p:sp>
        <p:nvSpPr>
          <p:cNvPr id="58" name="TextBox 57"/>
          <p:cNvSpPr txBox="1"/>
          <p:nvPr/>
        </p:nvSpPr>
        <p:spPr>
          <a:xfrm>
            <a:off x="9134627" y="5285232"/>
            <a:ext cx="2590723" cy="960120"/>
          </a:xfrm>
          <a:prstGeom prst="rect">
            <a:avLst/>
          </a:prstGeom>
          <a:noFill/>
        </p:spPr>
        <p:txBody>
          <a:bodyPr wrap="square">
            <a:spAutoFit/>
          </a:bodyPr>
          <a:lstStyle/>
          <a:p>
            <a:pPr algn="l"/>
            <a:r>
              <a:rPr sz="950" b="0" i="0">
                <a:solidFill>
                  <a:srgbClr val="3A4356"/>
                </a:solidFill>
              </a:rPr>
              <a:t>Duty, carbon levy and shipping terms — the cost at our door, not at the supplier's gate.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86F7D"/>
                </a:solidFill>
              </a:rPr>
              <a:t>SLIDE 11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ADVANCED CAPABILITIES</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Beyond a Cost Number</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Five tools that turn the estimate into something you can negotiate with.</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86F7D"/>
                </a:solidFill>
              </a:rPr>
              <a:t>CostVision — AI-Powered Should-Cost Intelligence  |  Avinash Bhosale  |  Confidential</a:t>
            </a:r>
          </a:p>
        </p:txBody>
      </p:sp>
      <p:sp>
        <p:nvSpPr>
          <p:cNvPr id="11" name="Rectangle 10"/>
          <p:cNvSpPr/>
          <p:nvPr/>
        </p:nvSpPr>
        <p:spPr>
          <a:xfrm>
            <a:off x="411480" y="1828800"/>
            <a:ext cx="5486400" cy="21031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28800"/>
            <a:ext cx="54864" cy="2103120"/>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1920240"/>
            <a:ext cx="5303520" cy="274320"/>
          </a:xfrm>
          <a:prstGeom prst="rect">
            <a:avLst/>
          </a:prstGeom>
          <a:noFill/>
        </p:spPr>
        <p:txBody>
          <a:bodyPr wrap="square">
            <a:spAutoFit/>
          </a:bodyPr>
          <a:lstStyle/>
          <a:p>
            <a:pPr algn="l"/>
            <a:r>
              <a:rPr sz="1000" b="1" i="0">
                <a:solidFill>
                  <a:srgbClr val="16325C"/>
                </a:solidFill>
                <a:latin typeface="Segoe UI Emoji"/>
              </a:rPr>
              <a:t>📉</a:t>
            </a:r>
            <a:r>
              <a:rPr sz="1000" b="1" i="0">
                <a:solidFill>
                  <a:srgbClr val="16325C"/>
                </a:solidFill>
              </a:rPr>
              <a:t> Learning Curve</a:t>
            </a:r>
          </a:p>
        </p:txBody>
      </p:sp>
      <p:sp>
        <p:nvSpPr>
          <p:cNvPr id="14" name="TextBox 13"/>
          <p:cNvSpPr txBox="1"/>
          <p:nvPr/>
        </p:nvSpPr>
        <p:spPr>
          <a:xfrm>
            <a:off x="539496" y="2212848"/>
            <a:ext cx="5303520" cy="1645920"/>
          </a:xfrm>
          <a:prstGeom prst="rect">
            <a:avLst/>
          </a:prstGeom>
          <a:noFill/>
        </p:spPr>
        <p:txBody>
          <a:bodyPr wrap="square">
            <a:spAutoFit/>
          </a:bodyPr>
          <a:lstStyle/>
          <a:p>
            <a:pPr algn="l"/>
            <a:r>
              <a:rPr sz="850" b="0" i="0">
                <a:solidFill>
                  <a:srgbClr val="3A4356"/>
                </a:solidFill>
              </a:rPr>
              <a:t>Cost falls as volume builds. Set the curve, read the cost at any year.
• Quote year-three cost, not prototype cost
• Built for long-term agreements and make-vs-buy</a:t>
            </a:r>
          </a:p>
        </p:txBody>
      </p:sp>
      <p:sp>
        <p:nvSpPr>
          <p:cNvPr id="15" name="Rectangle 14"/>
          <p:cNvSpPr/>
          <p:nvPr/>
        </p:nvSpPr>
        <p:spPr>
          <a:xfrm>
            <a:off x="411480" y="4041648"/>
            <a:ext cx="5486400" cy="21031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4041648"/>
            <a:ext cx="54864" cy="2103120"/>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4133088"/>
            <a:ext cx="5303520" cy="274320"/>
          </a:xfrm>
          <a:prstGeom prst="rect">
            <a:avLst/>
          </a:prstGeom>
          <a:noFill/>
        </p:spPr>
        <p:txBody>
          <a:bodyPr wrap="square">
            <a:spAutoFit/>
          </a:bodyPr>
          <a:lstStyle/>
          <a:p>
            <a:pPr algn="l"/>
            <a:r>
              <a:rPr sz="1000" b="1" i="0">
                <a:solidFill>
                  <a:srgbClr val="16325C"/>
                </a:solidFill>
                <a:latin typeface="Segoe UI Emoji"/>
              </a:rPr>
              <a:t>🧩</a:t>
            </a:r>
            <a:r>
              <a:rPr sz="1000" b="1" i="0">
                <a:solidFill>
                  <a:srgbClr val="16325C"/>
                </a:solidFill>
              </a:rPr>
              <a:t> Assembly Roll-Up</a:t>
            </a:r>
          </a:p>
        </p:txBody>
      </p:sp>
      <p:sp>
        <p:nvSpPr>
          <p:cNvPr id="18" name="TextBox 17"/>
          <p:cNvSpPr txBox="1"/>
          <p:nvPr/>
        </p:nvSpPr>
        <p:spPr>
          <a:xfrm>
            <a:off x="539496" y="4425696"/>
            <a:ext cx="5303520" cy="1645920"/>
          </a:xfrm>
          <a:prstGeom prst="rect">
            <a:avLst/>
          </a:prstGeom>
          <a:noFill/>
        </p:spPr>
        <p:txBody>
          <a:bodyPr wrap="square">
            <a:spAutoFit/>
          </a:bodyPr>
          <a:lstStyle/>
          <a:p>
            <a:pPr algn="l"/>
            <a:r>
              <a:rPr sz="850" b="0" i="0">
                <a:solidFill>
                  <a:srgbClr val="3A4356"/>
                </a:solidFill>
              </a:rPr>
              <a:t>Cost a whole module, not just one part.
• Mix any of the 21 commodities in one build
• Every component keeps its own cost model
• Body + paint + harness + PCBA = one total</a:t>
            </a:r>
          </a:p>
        </p:txBody>
      </p:sp>
      <p:sp>
        <p:nvSpPr>
          <p:cNvPr id="19" name="Rectangle 18"/>
          <p:cNvSpPr/>
          <p:nvPr/>
        </p:nvSpPr>
        <p:spPr>
          <a:xfrm>
            <a:off x="6263640" y="1828800"/>
            <a:ext cx="5486400" cy="1389888"/>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63640" y="1828800"/>
            <a:ext cx="54864" cy="1389888"/>
          </a:xfrm>
          <a:prstGeom prst="rect">
            <a:avLst/>
          </a:prstGeom>
          <a:solidFill>
            <a:srgbClr val="9965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91656" y="1901952"/>
            <a:ext cx="5303520" cy="256032"/>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Quote Comparison</a:t>
            </a:r>
          </a:p>
        </p:txBody>
      </p:sp>
      <p:sp>
        <p:nvSpPr>
          <p:cNvPr id="22" name="TextBox 21"/>
          <p:cNvSpPr txBox="1"/>
          <p:nvPr/>
        </p:nvSpPr>
        <p:spPr>
          <a:xfrm>
            <a:off x="6391656" y="2139696"/>
            <a:ext cx="5303520" cy="978408"/>
          </a:xfrm>
          <a:prstGeom prst="rect">
            <a:avLst/>
          </a:prstGeom>
          <a:noFill/>
        </p:spPr>
        <p:txBody>
          <a:bodyPr wrap="square">
            <a:spAutoFit/>
          </a:bodyPr>
          <a:lstStyle/>
          <a:p>
            <a:pPr algn="l"/>
            <a:r>
              <a:rPr sz="800" b="0" i="0">
                <a:solidFill>
                  <a:srgbClr val="3A4356"/>
                </a:solidFill>
              </a:rPr>
              <a:t>Log the supplier's quote. Any currency, converted for you.
• Tells you the gap in words: "18% above should-cost"
• Gives you the talking points to open with</a:t>
            </a:r>
          </a:p>
        </p:txBody>
      </p:sp>
      <p:sp>
        <p:nvSpPr>
          <p:cNvPr id="23" name="Rectangle 22"/>
          <p:cNvSpPr/>
          <p:nvPr/>
        </p:nvSpPr>
        <p:spPr>
          <a:xfrm>
            <a:off x="6263640" y="3310128"/>
            <a:ext cx="5486400" cy="1389888"/>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63640" y="3310128"/>
            <a:ext cx="54864" cy="1389888"/>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91656" y="3383280"/>
            <a:ext cx="5303520" cy="256032"/>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What Moves the Number</a:t>
            </a:r>
          </a:p>
        </p:txBody>
      </p:sp>
      <p:sp>
        <p:nvSpPr>
          <p:cNvPr id="26" name="TextBox 25"/>
          <p:cNvSpPr txBox="1"/>
          <p:nvPr/>
        </p:nvSpPr>
        <p:spPr>
          <a:xfrm>
            <a:off x="6391656" y="3621024"/>
            <a:ext cx="5303520" cy="978408"/>
          </a:xfrm>
          <a:prstGeom prst="rect">
            <a:avLst/>
          </a:prstGeom>
          <a:noFill/>
        </p:spPr>
        <p:txBody>
          <a:bodyPr wrap="square">
            <a:spAutoFit/>
          </a:bodyPr>
          <a:lstStyle/>
          <a:p>
            <a:pPr algn="l"/>
            <a:r>
              <a:rPr sz="800" b="0" i="0">
                <a:solidFill>
                  <a:srgbClr val="3A4356"/>
                </a:solidFill>
              </a:rPr>
              <a:t>Every driver flexed ±10%, ranked by impact.
• Shows the few inputs worth checking before you negotiate
• Chart exports straight into your supplier pack</a:t>
            </a:r>
          </a:p>
        </p:txBody>
      </p:sp>
      <p:sp>
        <p:nvSpPr>
          <p:cNvPr id="27" name="Rectangle 26"/>
          <p:cNvSpPr/>
          <p:nvPr/>
        </p:nvSpPr>
        <p:spPr>
          <a:xfrm>
            <a:off x="6263640" y="4791456"/>
            <a:ext cx="5486400" cy="1389888"/>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63640" y="4791456"/>
            <a:ext cx="54864" cy="1389888"/>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91656" y="4864608"/>
            <a:ext cx="5303520" cy="256032"/>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Scenarios Side by Side</a:t>
            </a:r>
          </a:p>
        </p:txBody>
      </p:sp>
      <p:sp>
        <p:nvSpPr>
          <p:cNvPr id="30" name="TextBox 29"/>
          <p:cNvSpPr txBox="1"/>
          <p:nvPr/>
        </p:nvSpPr>
        <p:spPr>
          <a:xfrm>
            <a:off x="6391656" y="5102352"/>
            <a:ext cx="5303520" cy="978408"/>
          </a:xfrm>
          <a:prstGeom prst="rect">
            <a:avLst/>
          </a:prstGeom>
          <a:noFill/>
        </p:spPr>
        <p:txBody>
          <a:bodyPr wrap="square">
            <a:spAutoFit/>
          </a:bodyPr>
          <a:lstStyle/>
          <a:p>
            <a:pPr algn="l"/>
            <a:r>
              <a:rPr sz="800" b="0" i="0">
                <a:solidFill>
                  <a:srgbClr val="3A4356"/>
                </a:solidFill>
              </a:rPr>
              <a:t>Baseline, target and stretch on one screen.
• See exactly where the money moved
• Save and share with the team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86F7D"/>
                </a:solidFill>
              </a:rPr>
              <a:t>SLIDE 12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AI INTELLIGENCE LAYER</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DFM / DFA — How to Make the Part Cheaper</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Runs after the cost is settled. It reads the result and advises — it never changes the price.</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86F7D"/>
                </a:solidFill>
              </a:rPr>
              <a:t>CostVision — AI-Powered Should-Cost Intelligence  |  Avinash Bhosale  |  Confidential</a:t>
            </a:r>
          </a:p>
        </p:txBody>
      </p:sp>
      <p:sp>
        <p:nvSpPr>
          <p:cNvPr id="11" name="Rectangle 10"/>
          <p:cNvSpPr/>
          <p:nvPr/>
        </p:nvSpPr>
        <p:spPr>
          <a:xfrm>
            <a:off x="411480" y="1828800"/>
            <a:ext cx="11384280" cy="713232"/>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1883664"/>
            <a:ext cx="3200400" cy="256032"/>
          </a:xfrm>
          <a:prstGeom prst="rect">
            <a:avLst/>
          </a:prstGeom>
          <a:noFill/>
        </p:spPr>
        <p:txBody>
          <a:bodyPr wrap="square">
            <a:spAutoFit/>
          </a:bodyPr>
          <a:lstStyle/>
          <a:p>
            <a:pPr algn="l"/>
            <a:r>
              <a:rPr sz="850" b="1" i="0">
                <a:solidFill>
                  <a:srgbClr val="16325C"/>
                </a:solidFill>
              </a:rPr>
              <a:t>Manufacturability Score (DFM)</a:t>
            </a:r>
          </a:p>
        </p:txBody>
      </p:sp>
      <p:sp>
        <p:nvSpPr>
          <p:cNvPr id="13" name="TextBox 12"/>
          <p:cNvSpPr txBox="1"/>
          <p:nvPr/>
        </p:nvSpPr>
        <p:spPr>
          <a:xfrm>
            <a:off x="594360" y="2139696"/>
            <a:ext cx="1828800" cy="329184"/>
          </a:xfrm>
          <a:prstGeom prst="rect">
            <a:avLst/>
          </a:prstGeom>
          <a:noFill/>
        </p:spPr>
        <p:txBody>
          <a:bodyPr wrap="square">
            <a:spAutoFit/>
          </a:bodyPr>
          <a:lstStyle/>
          <a:p>
            <a:pPr algn="l"/>
            <a:r>
              <a:rPr sz="2000" b="1" i="0">
                <a:solidFill>
                  <a:srgbClr val="2A7F50"/>
                </a:solidFill>
              </a:rPr>
              <a:t>8.5 / 10</a:t>
            </a:r>
          </a:p>
        </p:txBody>
      </p:sp>
      <p:sp>
        <p:nvSpPr>
          <p:cNvPr id="14" name="TextBox 13"/>
          <p:cNvSpPr txBox="1"/>
          <p:nvPr/>
        </p:nvSpPr>
        <p:spPr>
          <a:xfrm>
            <a:off x="4114800" y="1883664"/>
            <a:ext cx="3200400" cy="256032"/>
          </a:xfrm>
          <a:prstGeom prst="rect">
            <a:avLst/>
          </a:prstGeom>
          <a:noFill/>
        </p:spPr>
        <p:txBody>
          <a:bodyPr wrap="square">
            <a:spAutoFit/>
          </a:bodyPr>
          <a:lstStyle/>
          <a:p>
            <a:pPr algn="l"/>
            <a:r>
              <a:rPr sz="850" b="1" i="0">
                <a:solidFill>
                  <a:srgbClr val="16325C"/>
                </a:solidFill>
              </a:rPr>
              <a:t>Assembly Efficiency (DFA)</a:t>
            </a:r>
          </a:p>
        </p:txBody>
      </p:sp>
      <p:sp>
        <p:nvSpPr>
          <p:cNvPr id="15" name="TextBox 14"/>
          <p:cNvSpPr txBox="1"/>
          <p:nvPr/>
        </p:nvSpPr>
        <p:spPr>
          <a:xfrm>
            <a:off x="4114800" y="2139696"/>
            <a:ext cx="1828800" cy="329184"/>
          </a:xfrm>
          <a:prstGeom prst="rect">
            <a:avLst/>
          </a:prstGeom>
          <a:noFill/>
        </p:spPr>
        <p:txBody>
          <a:bodyPr wrap="square">
            <a:spAutoFit/>
          </a:bodyPr>
          <a:lstStyle/>
          <a:p>
            <a:pPr algn="l"/>
            <a:r>
              <a:rPr sz="2000" b="1" i="0">
                <a:solidFill>
                  <a:srgbClr val="99651A"/>
                </a:solidFill>
              </a:rPr>
              <a:t>7.0 / 10</a:t>
            </a:r>
          </a:p>
        </p:txBody>
      </p:sp>
      <p:sp>
        <p:nvSpPr>
          <p:cNvPr id="16" name="TextBox 15"/>
          <p:cNvSpPr txBox="1"/>
          <p:nvPr/>
        </p:nvSpPr>
        <p:spPr>
          <a:xfrm>
            <a:off x="7680960" y="1883664"/>
            <a:ext cx="2286000" cy="256032"/>
          </a:xfrm>
          <a:prstGeom prst="rect">
            <a:avLst/>
          </a:prstGeom>
          <a:noFill/>
        </p:spPr>
        <p:txBody>
          <a:bodyPr wrap="square">
            <a:spAutoFit/>
          </a:bodyPr>
          <a:lstStyle/>
          <a:p>
            <a:pPr algn="l"/>
            <a:r>
              <a:rPr sz="850" b="1" i="0">
                <a:solidFill>
                  <a:srgbClr val="16325C"/>
                </a:solidFill>
              </a:rPr>
              <a:t>Total Potential Saving</a:t>
            </a:r>
          </a:p>
        </p:txBody>
      </p:sp>
      <p:sp>
        <p:nvSpPr>
          <p:cNvPr id="17" name="TextBox 16"/>
          <p:cNvSpPr txBox="1"/>
          <p:nvPr/>
        </p:nvSpPr>
        <p:spPr>
          <a:xfrm>
            <a:off x="7680960" y="2139696"/>
            <a:ext cx="2286000" cy="329184"/>
          </a:xfrm>
          <a:prstGeom prst="rect">
            <a:avLst/>
          </a:prstGeom>
          <a:noFill/>
        </p:spPr>
        <p:txBody>
          <a:bodyPr wrap="square">
            <a:spAutoFit/>
          </a:bodyPr>
          <a:lstStyle/>
          <a:p>
            <a:pPr algn="l"/>
            <a:r>
              <a:rPr sz="2000" b="1" i="0">
                <a:solidFill>
                  <a:srgbClr val="2A7F50"/>
                </a:solidFill>
              </a:rPr>
              <a:t>~19.3%</a:t>
            </a:r>
          </a:p>
        </p:txBody>
      </p:sp>
      <p:sp>
        <p:nvSpPr>
          <p:cNvPr id="18" name="TextBox 17"/>
          <p:cNvSpPr txBox="1"/>
          <p:nvPr/>
        </p:nvSpPr>
        <p:spPr>
          <a:xfrm>
            <a:off x="9875520" y="2011680"/>
            <a:ext cx="1828800" cy="493776"/>
          </a:xfrm>
          <a:prstGeom prst="rect">
            <a:avLst/>
          </a:prstGeom>
          <a:noFill/>
        </p:spPr>
        <p:txBody>
          <a:bodyPr wrap="square">
            <a:spAutoFit/>
          </a:bodyPr>
          <a:lstStyle/>
          <a:p>
            <a:pPr algn="l"/>
            <a:r>
              <a:rPr sz="750" b="0" i="0">
                <a:solidFill>
                  <a:srgbClr val="686F7D"/>
                </a:solidFill>
              </a:rPr>
              <a:t>Scored out of 10  ·  saving is the top three fixes combined</a:t>
            </a:r>
          </a:p>
        </p:txBody>
      </p:sp>
      <p:sp>
        <p:nvSpPr>
          <p:cNvPr id="19" name="Rectangle 18"/>
          <p:cNvSpPr/>
          <p:nvPr/>
        </p:nvSpPr>
        <p:spPr>
          <a:xfrm>
            <a:off x="411480" y="2743200"/>
            <a:ext cx="5486400" cy="175107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2743200"/>
            <a:ext cx="54864" cy="1751076"/>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9496" y="2834640"/>
            <a:ext cx="5303520"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What It Finds — Making the Part</a:t>
            </a:r>
          </a:p>
        </p:txBody>
      </p:sp>
      <p:sp>
        <p:nvSpPr>
          <p:cNvPr id="22" name="TextBox 21"/>
          <p:cNvSpPr txBox="1"/>
          <p:nvPr/>
        </p:nvSpPr>
        <p:spPr>
          <a:xfrm>
            <a:off x="539496" y="3127248"/>
            <a:ext cx="5303520" cy="1257300"/>
          </a:xfrm>
          <a:prstGeom prst="rect">
            <a:avLst/>
          </a:prstGeom>
          <a:noFill/>
        </p:spPr>
        <p:txBody>
          <a:bodyPr wrap="square">
            <a:spAutoFit/>
          </a:bodyPr>
          <a:lstStyle/>
          <a:p>
            <a:pPr algn="l"/>
            <a:r>
              <a:rPr sz="950" b="0" i="0">
                <a:solidFill>
                  <a:srgbClr val="3A4356"/>
                </a:solidFill>
              </a:rPr>
              <a:t>Too much material going to scrap.
Machines running well below what they should.
Tooling, overhead or supplier margin out of line.
Each issue graded critical, major or minor.</a:t>
            </a:r>
          </a:p>
        </p:txBody>
      </p:sp>
      <p:sp>
        <p:nvSpPr>
          <p:cNvPr id="23" name="Rectangle 22"/>
          <p:cNvSpPr/>
          <p:nvPr/>
        </p:nvSpPr>
        <p:spPr>
          <a:xfrm>
            <a:off x="6007608" y="2743200"/>
            <a:ext cx="5486400" cy="175107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007608" y="2743200"/>
            <a:ext cx="54864" cy="1751076"/>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35624" y="2834640"/>
            <a:ext cx="5303520"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What It Finds — Building It</a:t>
            </a:r>
          </a:p>
        </p:txBody>
      </p:sp>
      <p:sp>
        <p:nvSpPr>
          <p:cNvPr id="26" name="TextBox 25"/>
          <p:cNvSpPr txBox="1"/>
          <p:nvPr/>
        </p:nvSpPr>
        <p:spPr>
          <a:xfrm>
            <a:off x="6135624" y="3127248"/>
            <a:ext cx="5303520" cy="1257300"/>
          </a:xfrm>
          <a:prstGeom prst="rect">
            <a:avLst/>
          </a:prstGeom>
          <a:noFill/>
        </p:spPr>
        <p:txBody>
          <a:bodyPr wrap="square">
            <a:spAutoFit/>
          </a:bodyPr>
          <a:lstStyle/>
          <a:p>
            <a:pPr algn="l"/>
            <a:r>
              <a:rPr sz="950" b="0" i="0">
                <a:solidFill>
                  <a:srgbClr val="3A4356"/>
                </a:solidFill>
              </a:rPr>
              <a:t>Assemblies done by hand that a robot could do.
Too many setups — every one adds cost and variation.
Too many different fasteners, so tools keep changing.</a:t>
            </a:r>
          </a:p>
        </p:txBody>
      </p:sp>
      <p:sp>
        <p:nvSpPr>
          <p:cNvPr id="27" name="Rectangle 26"/>
          <p:cNvSpPr/>
          <p:nvPr/>
        </p:nvSpPr>
        <p:spPr>
          <a:xfrm>
            <a:off x="411480" y="4604004"/>
            <a:ext cx="5486400" cy="175107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4604004"/>
            <a:ext cx="54864" cy="1751076"/>
          </a:xfrm>
          <a:prstGeom prst="rect">
            <a:avLst/>
          </a:prstGeom>
          <a:solidFill>
            <a:srgbClr val="9965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9496" y="4695444"/>
            <a:ext cx="5303520"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What to Do About It</a:t>
            </a:r>
          </a:p>
        </p:txBody>
      </p:sp>
      <p:sp>
        <p:nvSpPr>
          <p:cNvPr id="30" name="TextBox 29"/>
          <p:cNvSpPr txBox="1"/>
          <p:nvPr/>
        </p:nvSpPr>
        <p:spPr>
          <a:xfrm>
            <a:off x="539496" y="4988052"/>
            <a:ext cx="5303520" cy="1257300"/>
          </a:xfrm>
          <a:prstGeom prst="rect">
            <a:avLst/>
          </a:prstGeom>
          <a:noFill/>
        </p:spPr>
        <p:txBody>
          <a:bodyPr wrap="square">
            <a:spAutoFit/>
          </a:bodyPr>
          <a:lstStyle/>
          <a:p>
            <a:pPr algn="l"/>
            <a:r>
              <a:rPr sz="950" b="0" i="0">
                <a:solidFill>
                  <a:srgbClr val="3A4356"/>
                </a:solidFill>
              </a:rPr>
              <a:t>Six to eight actions per part, with the saving on each:
Automate the manual operations   5–20%
Move to a near-net shape   5–15%
Raise machine uptime   5–12%
Plus quick wins: more volume, open-book overhead, re-bid.</a:t>
            </a:r>
          </a:p>
        </p:txBody>
      </p:sp>
      <p:sp>
        <p:nvSpPr>
          <p:cNvPr id="31" name="Rectangle 30"/>
          <p:cNvSpPr/>
          <p:nvPr/>
        </p:nvSpPr>
        <p:spPr>
          <a:xfrm>
            <a:off x="6007608" y="4604004"/>
            <a:ext cx="5486400" cy="175107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007608" y="4604004"/>
            <a:ext cx="54864" cy="1751076"/>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35624" y="4695444"/>
            <a:ext cx="5303520"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Ask the AI to Go Deeper</a:t>
            </a:r>
          </a:p>
        </p:txBody>
      </p:sp>
      <p:sp>
        <p:nvSpPr>
          <p:cNvPr id="34" name="TextBox 33"/>
          <p:cNvSpPr txBox="1"/>
          <p:nvPr/>
        </p:nvSpPr>
        <p:spPr>
          <a:xfrm>
            <a:off x="6135624" y="4988052"/>
            <a:ext cx="5303520" cy="1257300"/>
          </a:xfrm>
          <a:prstGeom prst="rect">
            <a:avLst/>
          </a:prstGeom>
          <a:noFill/>
        </p:spPr>
        <p:txBody>
          <a:bodyPr wrap="square">
            <a:spAutoFit/>
          </a:bodyPr>
          <a:lstStyle/>
          <a:p>
            <a:pPr algn="l"/>
            <a:r>
              <a:rPr sz="950" b="0" i="0">
                <a:solidFill>
                  <a:srgbClr val="3A4356"/>
                </a:solidFill>
              </a:rPr>
              <a:t>One click, after the rule-based findings are on screen.
Why the cost sits where it does.
The three things to fix first.
What to say to the supplier, and a different process to consider.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86F7D"/>
                </a:solidFill>
              </a:rPr>
              <a:t>SLIDE 13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GLOBAL COVERAGE</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20 Manufacturing Regions — 10 Currencies</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Select a region and every rate adjusts automatically — labour, machines, energy, material and currency.</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86F7D"/>
                </a:solidFill>
              </a:rPr>
              <a:t>CostVision — AI-Powered Should-Cost Intelligence  |  Avinash Bhosale  |  Confidential</a:t>
            </a:r>
          </a:p>
        </p:txBody>
      </p:sp>
      <p:sp>
        <p:nvSpPr>
          <p:cNvPr id="11" name="Rectangle 10"/>
          <p:cNvSpPr/>
          <p:nvPr/>
        </p:nvSpPr>
        <p:spPr>
          <a:xfrm>
            <a:off x="411480" y="1810512"/>
            <a:ext cx="6858000" cy="4553712"/>
          </a:xfrm>
          <a:prstGeom prst="rect">
            <a:avLst/>
          </a:prstGeom>
          <a:solidFill>
            <a:srgbClr val="F7F9FC"/>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865376"/>
            <a:ext cx="4572000" cy="256032"/>
          </a:xfrm>
          <a:prstGeom prst="rect">
            <a:avLst/>
          </a:prstGeom>
          <a:noFill/>
        </p:spPr>
        <p:txBody>
          <a:bodyPr wrap="square">
            <a:spAutoFit/>
          </a:bodyPr>
          <a:lstStyle/>
          <a:p>
            <a:pPr algn="l"/>
            <a:r>
              <a:rPr sz="900" b="1" i="0">
                <a:solidFill>
                  <a:srgbClr val="16325C"/>
                </a:solidFill>
              </a:rPr>
              <a:t>Key Manufacturing Regions (sample)</a:t>
            </a:r>
          </a:p>
        </p:txBody>
      </p:sp>
      <p:graphicFrame>
        <p:nvGraphicFramePr>
          <p:cNvPr id="13" name="Table 12"/>
          <p:cNvGraphicFramePr>
            <a:graphicFrameLocks noGrp="1"/>
          </p:cNvGraphicFramePr>
          <p:nvPr/>
        </p:nvGraphicFramePr>
        <p:xfrm>
          <a:off x="438912" y="2157984"/>
          <a:ext cx="6400800" cy="4114800"/>
        </p:xfrm>
        <a:graphic>
          <a:graphicData uri="http://schemas.openxmlformats.org/drawingml/2006/table">
            <a:tbl>
              <a:tblPr firstRow="1" bandRow="1">
                <a:tableStyleId>{5C22544A-7EE6-4342-B048-85BDC9FD1C3A}</a:tableStyleId>
              </a:tblPr>
              <a:tblGrid>
                <a:gridCol w="1371600"/>
                <a:gridCol w="822960"/>
                <a:gridCol w="1737360"/>
                <a:gridCol w="2468880"/>
              </a:tblGrid>
              <a:tr h="316523">
                <a:tc>
                  <a:txBody>
                    <a:bodyPr/>
                    <a:lstStyle/>
                    <a:p>
                      <a:pPr algn="l"/>
                      <a:r>
                        <a:rPr sz="750" b="1">
                          <a:solidFill>
                            <a:srgbClr val="FFFFFF"/>
                          </a:solidFill>
                        </a:rPr>
                        <a:t>Region</a:t>
                      </a:r>
                    </a:p>
                  </a:txBody>
                  <a:tcPr>
                    <a:solidFill>
                      <a:srgbClr val="16325C"/>
                    </a:solidFill>
                  </a:tcPr>
                </a:tc>
                <a:tc>
                  <a:txBody>
                    <a:bodyPr/>
                    <a:lstStyle/>
                    <a:p>
                      <a:pPr algn="l"/>
                      <a:r>
                        <a:rPr sz="750" b="1">
                          <a:solidFill>
                            <a:srgbClr val="FFFFFF"/>
                          </a:solidFill>
                        </a:rPr>
                        <a:t>Currency</a:t>
                      </a:r>
                    </a:p>
                  </a:txBody>
                  <a:tcPr>
                    <a:solidFill>
                      <a:srgbClr val="16325C"/>
                    </a:solidFill>
                  </a:tcPr>
                </a:tc>
                <a:tc>
                  <a:txBody>
                    <a:bodyPr/>
                    <a:lstStyle/>
                    <a:p>
                      <a:pPr algn="l"/>
                      <a:r>
                        <a:rPr sz="750" b="1">
                          <a:solidFill>
                            <a:srgbClr val="FFFFFF"/>
                          </a:solidFill>
                        </a:rPr>
                        <a:t>Sample Labour Rate</a:t>
                      </a:r>
                    </a:p>
                  </a:txBody>
                  <a:tcPr>
                    <a:solidFill>
                      <a:srgbClr val="16325C"/>
                    </a:solidFill>
                  </a:tcPr>
                </a:tc>
                <a:tc>
                  <a:txBody>
                    <a:bodyPr/>
                    <a:lstStyle/>
                    <a:p>
                      <a:pPr algn="l"/>
                      <a:r>
                        <a:rPr sz="750" b="1">
                          <a:solidFill>
                            <a:srgbClr val="FFFFFF"/>
                          </a:solidFill>
                        </a:rPr>
                        <a:t>Position</a:t>
                      </a:r>
                    </a:p>
                  </a:txBody>
                  <a:tcPr>
                    <a:solidFill>
                      <a:srgbClr val="16325C"/>
                    </a:solidFill>
                  </a:tcPr>
                </a:tc>
              </a:tr>
              <a:tr h="316523">
                <a:tc>
                  <a:txBody>
                    <a:bodyPr/>
                    <a:lstStyle/>
                    <a:p>
                      <a:pPr algn="l"/>
                      <a:r>
                        <a:rPr sz="750" b="1">
                          <a:solidFill>
                            <a:srgbClr val="1D6FB8"/>
                          </a:solidFill>
                        </a:rPr>
                        <a:t>🇬🇧 UK</a:t>
                      </a:r>
                    </a:p>
                  </a:txBody>
                  <a:tcPr>
                    <a:solidFill>
                      <a:srgbClr val="FFFFFF"/>
                    </a:solidFill>
                  </a:tcPr>
                </a:tc>
                <a:tc>
                  <a:txBody>
                    <a:bodyPr/>
                    <a:lstStyle/>
                    <a:p>
                      <a:pPr algn="l"/>
                      <a:r>
                        <a:rPr sz="750">
                          <a:solidFill>
                            <a:srgbClr val="3A4356"/>
                          </a:solidFill>
                        </a:rPr>
                        <a:t>GBP £</a:t>
                      </a:r>
                    </a:p>
                  </a:txBody>
                  <a:tcPr>
                    <a:solidFill>
                      <a:srgbClr val="FFFFFF"/>
                    </a:solidFill>
                  </a:tcPr>
                </a:tc>
                <a:tc>
                  <a:txBody>
                    <a:bodyPr/>
                    <a:lstStyle/>
                    <a:p>
                      <a:pPr algn="l"/>
                      <a:r>
                        <a:rPr sz="750">
                          <a:solidFill>
                            <a:srgbClr val="3A4356"/>
                          </a:solidFill>
                        </a:rPr>
                        <a:t>Skilled £26/hr</a:t>
                      </a:r>
                    </a:p>
                  </a:txBody>
                  <a:tcPr>
                    <a:solidFill>
                      <a:srgbClr val="FFFFFF"/>
                    </a:solidFill>
                  </a:tcPr>
                </a:tc>
                <a:tc>
                  <a:txBody>
                    <a:bodyPr/>
                    <a:lstStyle/>
                    <a:p>
                      <a:pPr algn="l"/>
                      <a:r>
                        <a:rPr sz="750" b="1">
                          <a:solidFill>
                            <a:srgbClr val="2A7F50"/>
                          </a:solidFill>
                        </a:rPr>
                        <a:t>Industry / Aerospace baseline</a:t>
                      </a:r>
                    </a:p>
                  </a:txBody>
                  <a:tcPr>
                    <a:solidFill>
                      <a:srgbClr val="FFFFFF"/>
                    </a:solidFill>
                  </a:tcPr>
                </a:tc>
              </a:tr>
              <a:tr h="316523">
                <a:tc>
                  <a:txBody>
                    <a:bodyPr/>
                    <a:lstStyle/>
                    <a:p>
                      <a:pPr algn="l"/>
                      <a:r>
                        <a:rPr sz="750" b="1">
                          <a:solidFill>
                            <a:srgbClr val="1D6FB8"/>
                          </a:solidFill>
                        </a:rPr>
                        <a:t>🇩🇪 Germany</a:t>
                      </a:r>
                    </a:p>
                  </a:txBody>
                  <a:tcPr>
                    <a:solidFill>
                      <a:srgbClr val="F7F9FC"/>
                    </a:solidFill>
                  </a:tcPr>
                </a:tc>
                <a:tc>
                  <a:txBody>
                    <a:bodyPr/>
                    <a:lstStyle/>
                    <a:p>
                      <a:pPr algn="l"/>
                      <a:r>
                        <a:rPr sz="750">
                          <a:solidFill>
                            <a:srgbClr val="3A4356"/>
                          </a:solidFill>
                        </a:rPr>
                        <a:t>EUR €</a:t>
                      </a:r>
                    </a:p>
                  </a:txBody>
                  <a:tcPr>
                    <a:solidFill>
                      <a:srgbClr val="F7F9FC"/>
                    </a:solidFill>
                  </a:tcPr>
                </a:tc>
                <a:tc>
                  <a:txBody>
                    <a:bodyPr/>
                    <a:lstStyle/>
                    <a:p>
                      <a:pPr algn="l"/>
                      <a:r>
                        <a:rPr sz="750">
                          <a:solidFill>
                            <a:srgbClr val="3A4356"/>
                          </a:solidFill>
                        </a:rPr>
                        <a:t>Skilled €32/hr</a:t>
                      </a:r>
                    </a:p>
                  </a:txBody>
                  <a:tcPr>
                    <a:solidFill>
                      <a:srgbClr val="F7F9FC"/>
                    </a:solidFill>
                  </a:tcPr>
                </a:tc>
                <a:tc>
                  <a:txBody>
                    <a:bodyPr/>
                    <a:lstStyle/>
                    <a:p>
                      <a:pPr algn="l"/>
                      <a:r>
                        <a:rPr sz="750" b="1">
                          <a:solidFill>
                            <a:srgbClr val="2A7F50"/>
                          </a:solidFill>
                        </a:rPr>
                        <a:t>Premium, high automation</a:t>
                      </a:r>
                    </a:p>
                  </a:txBody>
                  <a:tcPr>
                    <a:solidFill>
                      <a:srgbClr val="F7F9FC"/>
                    </a:solidFill>
                  </a:tcPr>
                </a:tc>
              </a:tr>
              <a:tr h="316523">
                <a:tc>
                  <a:txBody>
                    <a:bodyPr/>
                    <a:lstStyle/>
                    <a:p>
                      <a:pPr algn="l"/>
                      <a:r>
                        <a:rPr sz="750" b="1">
                          <a:solidFill>
                            <a:srgbClr val="1D6FB8"/>
                          </a:solidFill>
                        </a:rPr>
                        <a:t>🇵🇱 Poland</a:t>
                      </a:r>
                    </a:p>
                  </a:txBody>
                  <a:tcPr>
                    <a:solidFill>
                      <a:srgbClr val="FFFFFF"/>
                    </a:solidFill>
                  </a:tcPr>
                </a:tc>
                <a:tc>
                  <a:txBody>
                    <a:bodyPr/>
                    <a:lstStyle/>
                    <a:p>
                      <a:pPr algn="l"/>
                      <a:r>
                        <a:rPr sz="750">
                          <a:solidFill>
                            <a:srgbClr val="3A4356"/>
                          </a:solidFill>
                        </a:rPr>
                        <a:t>EUR €</a:t>
                      </a:r>
                    </a:p>
                  </a:txBody>
                  <a:tcPr>
                    <a:solidFill>
                      <a:srgbClr val="FFFFFF"/>
                    </a:solidFill>
                  </a:tcPr>
                </a:tc>
                <a:tc>
                  <a:txBody>
                    <a:bodyPr/>
                    <a:lstStyle/>
                    <a:p>
                      <a:pPr algn="l"/>
                      <a:r>
                        <a:rPr sz="750">
                          <a:solidFill>
                            <a:srgbClr val="3A4356"/>
                          </a:solidFill>
                        </a:rPr>
                        <a:t>Skilled €11/hr</a:t>
                      </a:r>
                    </a:p>
                  </a:txBody>
                  <a:tcPr>
                    <a:solidFill>
                      <a:srgbClr val="FFFFFF"/>
                    </a:solidFill>
                  </a:tcPr>
                </a:tc>
                <a:tc>
                  <a:txBody>
                    <a:bodyPr/>
                    <a:lstStyle/>
                    <a:p>
                      <a:pPr algn="l"/>
                      <a:r>
                        <a:rPr sz="750" b="1">
                          <a:solidFill>
                            <a:srgbClr val="2A7F50"/>
                          </a:solidFill>
                        </a:rPr>
                        <a:t>Low-cost EU option</a:t>
                      </a:r>
                    </a:p>
                  </a:txBody>
                  <a:tcPr>
                    <a:solidFill>
                      <a:srgbClr val="FFFFFF"/>
                    </a:solidFill>
                  </a:tcPr>
                </a:tc>
              </a:tr>
              <a:tr h="316523">
                <a:tc>
                  <a:txBody>
                    <a:bodyPr/>
                    <a:lstStyle/>
                    <a:p>
                      <a:pPr algn="l"/>
                      <a:r>
                        <a:rPr sz="750" b="1">
                          <a:solidFill>
                            <a:srgbClr val="1D6FB8"/>
                          </a:solidFill>
                        </a:rPr>
                        <a:t>🇷🇴 Romania</a:t>
                      </a:r>
                    </a:p>
                  </a:txBody>
                  <a:tcPr>
                    <a:solidFill>
                      <a:srgbClr val="F7F9FC"/>
                    </a:solidFill>
                  </a:tcPr>
                </a:tc>
                <a:tc>
                  <a:txBody>
                    <a:bodyPr/>
                    <a:lstStyle/>
                    <a:p>
                      <a:pPr algn="l"/>
                      <a:r>
                        <a:rPr sz="750">
                          <a:solidFill>
                            <a:srgbClr val="3A4356"/>
                          </a:solidFill>
                        </a:rPr>
                        <a:t>EUR €</a:t>
                      </a:r>
                    </a:p>
                  </a:txBody>
                  <a:tcPr>
                    <a:solidFill>
                      <a:srgbClr val="F7F9FC"/>
                    </a:solidFill>
                  </a:tcPr>
                </a:tc>
                <a:tc>
                  <a:txBody>
                    <a:bodyPr/>
                    <a:lstStyle/>
                    <a:p>
                      <a:pPr algn="l"/>
                      <a:r>
                        <a:rPr sz="750">
                          <a:solidFill>
                            <a:srgbClr val="3A4356"/>
                          </a:solidFill>
                        </a:rPr>
                        <a:t>Skilled €7/hr</a:t>
                      </a:r>
                    </a:p>
                  </a:txBody>
                  <a:tcPr>
                    <a:solidFill>
                      <a:srgbClr val="F7F9FC"/>
                    </a:solidFill>
                  </a:tcPr>
                </a:tc>
                <a:tc>
                  <a:txBody>
                    <a:bodyPr/>
                    <a:lstStyle/>
                    <a:p>
                      <a:pPr algn="l"/>
                      <a:r>
                        <a:rPr sz="750" b="1">
                          <a:solidFill>
                            <a:srgbClr val="2A7F50"/>
                          </a:solidFill>
                        </a:rPr>
                        <a:t>Ultra-low EU labour</a:t>
                      </a:r>
                    </a:p>
                  </a:txBody>
                  <a:tcPr>
                    <a:solidFill>
                      <a:srgbClr val="F7F9FC"/>
                    </a:solidFill>
                  </a:tcPr>
                </a:tc>
              </a:tr>
              <a:tr h="316523">
                <a:tc>
                  <a:txBody>
                    <a:bodyPr/>
                    <a:lstStyle/>
                    <a:p>
                      <a:pPr algn="l"/>
                      <a:r>
                        <a:rPr sz="750" b="1">
                          <a:solidFill>
                            <a:srgbClr val="1D6FB8"/>
                          </a:solidFill>
                        </a:rPr>
                        <a:t>🇨🇳 China</a:t>
                      </a:r>
                    </a:p>
                  </a:txBody>
                  <a:tcPr>
                    <a:solidFill>
                      <a:srgbClr val="FFFFFF"/>
                    </a:solidFill>
                  </a:tcPr>
                </a:tc>
                <a:tc>
                  <a:txBody>
                    <a:bodyPr/>
                    <a:lstStyle/>
                    <a:p>
                      <a:pPr algn="l"/>
                      <a:r>
                        <a:rPr sz="750">
                          <a:solidFill>
                            <a:srgbClr val="3A4356"/>
                          </a:solidFill>
                        </a:rPr>
                        <a:t>CNY ¥</a:t>
                      </a:r>
                    </a:p>
                  </a:txBody>
                  <a:tcPr>
                    <a:solidFill>
                      <a:srgbClr val="FFFFFF"/>
                    </a:solidFill>
                  </a:tcPr>
                </a:tc>
                <a:tc>
                  <a:txBody>
                    <a:bodyPr/>
                    <a:lstStyle/>
                    <a:p>
                      <a:pPr algn="l"/>
                      <a:r>
                        <a:rPr sz="750">
                          <a:solidFill>
                            <a:srgbClr val="3A4356"/>
                          </a:solidFill>
                        </a:rPr>
                        <a:t>Skilled ¥28/hr</a:t>
                      </a:r>
                    </a:p>
                  </a:txBody>
                  <a:tcPr>
                    <a:solidFill>
                      <a:srgbClr val="FFFFFF"/>
                    </a:solidFill>
                  </a:tcPr>
                </a:tc>
                <a:tc>
                  <a:txBody>
                    <a:bodyPr/>
                    <a:lstStyle/>
                    <a:p>
                      <a:pPr algn="l"/>
                      <a:r>
                        <a:rPr sz="750" b="1">
                          <a:solidFill>
                            <a:srgbClr val="2A7F50"/>
                          </a:solidFill>
                        </a:rPr>
                        <a:t>Global volume manufacturing</a:t>
                      </a:r>
                    </a:p>
                  </a:txBody>
                  <a:tcPr>
                    <a:solidFill>
                      <a:srgbClr val="FFFFFF"/>
                    </a:solidFill>
                  </a:tcPr>
                </a:tc>
              </a:tr>
              <a:tr h="316523">
                <a:tc>
                  <a:txBody>
                    <a:bodyPr/>
                    <a:lstStyle/>
                    <a:p>
                      <a:pPr algn="l"/>
                      <a:r>
                        <a:rPr sz="750" b="1">
                          <a:solidFill>
                            <a:srgbClr val="1D6FB8"/>
                          </a:solidFill>
                        </a:rPr>
                        <a:t>🇮🇳 India</a:t>
                      </a:r>
                    </a:p>
                  </a:txBody>
                  <a:tcPr>
                    <a:solidFill>
                      <a:srgbClr val="F7F9FC"/>
                    </a:solidFill>
                  </a:tcPr>
                </a:tc>
                <a:tc>
                  <a:txBody>
                    <a:bodyPr/>
                    <a:lstStyle/>
                    <a:p>
                      <a:pPr algn="l"/>
                      <a:r>
                        <a:rPr sz="750">
                          <a:solidFill>
                            <a:srgbClr val="3A4356"/>
                          </a:solidFill>
                        </a:rPr>
                        <a:t>INR ₹</a:t>
                      </a:r>
                    </a:p>
                  </a:txBody>
                  <a:tcPr>
                    <a:solidFill>
                      <a:srgbClr val="F7F9FC"/>
                    </a:solidFill>
                  </a:tcPr>
                </a:tc>
                <a:tc>
                  <a:txBody>
                    <a:bodyPr/>
                    <a:lstStyle/>
                    <a:p>
                      <a:pPr algn="l"/>
                      <a:r>
                        <a:rPr sz="750">
                          <a:solidFill>
                            <a:srgbClr val="3A4356"/>
                          </a:solidFill>
                        </a:rPr>
                        <a:t>Skilled ₹320/hr</a:t>
                      </a:r>
                    </a:p>
                  </a:txBody>
                  <a:tcPr>
                    <a:solidFill>
                      <a:srgbClr val="F7F9FC"/>
                    </a:solidFill>
                  </a:tcPr>
                </a:tc>
                <a:tc>
                  <a:txBody>
                    <a:bodyPr/>
                    <a:lstStyle/>
                    <a:p>
                      <a:pPr algn="l"/>
                      <a:r>
                        <a:rPr sz="750" b="1">
                          <a:solidFill>
                            <a:srgbClr val="2A7F50"/>
                          </a:solidFill>
                        </a:rPr>
                        <a:t>Engineering &amp; electronics hub</a:t>
                      </a:r>
                    </a:p>
                  </a:txBody>
                  <a:tcPr>
                    <a:solidFill>
                      <a:srgbClr val="F7F9FC"/>
                    </a:solidFill>
                  </a:tcPr>
                </a:tc>
              </a:tr>
              <a:tr h="316523">
                <a:tc>
                  <a:txBody>
                    <a:bodyPr/>
                    <a:lstStyle/>
                    <a:p>
                      <a:pPr algn="l"/>
                      <a:r>
                        <a:rPr sz="750" b="1">
                          <a:solidFill>
                            <a:srgbClr val="1D6FB8"/>
                          </a:solidFill>
                        </a:rPr>
                        <a:t>🇲🇽 Mexico</a:t>
                      </a:r>
                    </a:p>
                  </a:txBody>
                  <a:tcPr>
                    <a:solidFill>
                      <a:srgbClr val="FFFFFF"/>
                    </a:solidFill>
                  </a:tcPr>
                </a:tc>
                <a:tc>
                  <a:txBody>
                    <a:bodyPr/>
                    <a:lstStyle/>
                    <a:p>
                      <a:pPr algn="l"/>
                      <a:r>
                        <a:rPr sz="750">
                          <a:solidFill>
                            <a:srgbClr val="3A4356"/>
                          </a:solidFill>
                        </a:rPr>
                        <a:t>MXN $</a:t>
                      </a:r>
                    </a:p>
                  </a:txBody>
                  <a:tcPr>
                    <a:solidFill>
                      <a:srgbClr val="FFFFFF"/>
                    </a:solidFill>
                  </a:tcPr>
                </a:tc>
                <a:tc>
                  <a:txBody>
                    <a:bodyPr/>
                    <a:lstStyle/>
                    <a:p>
                      <a:pPr algn="l"/>
                      <a:r>
                        <a:rPr sz="750">
                          <a:solidFill>
                            <a:srgbClr val="3A4356"/>
                          </a:solidFill>
                        </a:rPr>
                        <a:t>Skilled MXN82/hr</a:t>
                      </a:r>
                    </a:p>
                  </a:txBody>
                  <a:tcPr>
                    <a:solidFill>
                      <a:srgbClr val="FFFFFF"/>
                    </a:solidFill>
                  </a:tcPr>
                </a:tc>
                <a:tc>
                  <a:txBody>
                    <a:bodyPr/>
                    <a:lstStyle/>
                    <a:p>
                      <a:pPr algn="l"/>
                      <a:r>
                        <a:rPr sz="750" b="1">
                          <a:solidFill>
                            <a:srgbClr val="2A7F50"/>
                          </a:solidFill>
                        </a:rPr>
                        <a:t>Near-shore for North America</a:t>
                      </a:r>
                    </a:p>
                  </a:txBody>
                  <a:tcPr>
                    <a:solidFill>
                      <a:srgbClr val="FFFFFF"/>
                    </a:solidFill>
                  </a:tcPr>
                </a:tc>
              </a:tr>
              <a:tr h="316523">
                <a:tc>
                  <a:txBody>
                    <a:bodyPr/>
                    <a:lstStyle/>
                    <a:p>
                      <a:pPr algn="l"/>
                      <a:r>
                        <a:rPr sz="750" b="1">
                          <a:solidFill>
                            <a:srgbClr val="1D6FB8"/>
                          </a:solidFill>
                        </a:rPr>
                        <a:t>🇺🇸 USA</a:t>
                      </a:r>
                    </a:p>
                  </a:txBody>
                  <a:tcPr>
                    <a:solidFill>
                      <a:srgbClr val="F7F9FC"/>
                    </a:solidFill>
                  </a:tcPr>
                </a:tc>
                <a:tc>
                  <a:txBody>
                    <a:bodyPr/>
                    <a:lstStyle/>
                    <a:p>
                      <a:pPr algn="l"/>
                      <a:r>
                        <a:rPr sz="750">
                          <a:solidFill>
                            <a:srgbClr val="3A4356"/>
                          </a:solidFill>
                        </a:rPr>
                        <a:t>USD $</a:t>
                      </a:r>
                    </a:p>
                  </a:txBody>
                  <a:tcPr>
                    <a:solidFill>
                      <a:srgbClr val="F7F9FC"/>
                    </a:solidFill>
                  </a:tcPr>
                </a:tc>
                <a:tc>
                  <a:txBody>
                    <a:bodyPr/>
                    <a:lstStyle/>
                    <a:p>
                      <a:pPr algn="l"/>
                      <a:r>
                        <a:rPr sz="750">
                          <a:solidFill>
                            <a:srgbClr val="3A4356"/>
                          </a:solidFill>
                        </a:rPr>
                        <a:t>Skilled $32/hr</a:t>
                      </a:r>
                    </a:p>
                  </a:txBody>
                  <a:tcPr>
                    <a:solidFill>
                      <a:srgbClr val="F7F9FC"/>
                    </a:solidFill>
                  </a:tcPr>
                </a:tc>
                <a:tc>
                  <a:txBody>
                    <a:bodyPr/>
                    <a:lstStyle/>
                    <a:p>
                      <a:pPr algn="l"/>
                      <a:r>
                        <a:rPr sz="750" b="1">
                          <a:solidFill>
                            <a:srgbClr val="2A7F50"/>
                          </a:solidFill>
                        </a:rPr>
                        <a:t>Premium North American rates</a:t>
                      </a:r>
                    </a:p>
                  </a:txBody>
                  <a:tcPr>
                    <a:solidFill>
                      <a:srgbClr val="F7F9FC"/>
                    </a:solidFill>
                  </a:tcPr>
                </a:tc>
              </a:tr>
              <a:tr h="316523">
                <a:tc>
                  <a:txBody>
                    <a:bodyPr/>
                    <a:lstStyle/>
                    <a:p>
                      <a:pPr algn="l"/>
                      <a:r>
                        <a:rPr sz="750" b="1">
                          <a:solidFill>
                            <a:srgbClr val="1D6FB8"/>
                          </a:solidFill>
                        </a:rPr>
                        <a:t>🇹🇭 Thailand</a:t>
                      </a:r>
                    </a:p>
                  </a:txBody>
                  <a:tcPr>
                    <a:solidFill>
                      <a:srgbClr val="FFFFFF"/>
                    </a:solidFill>
                  </a:tcPr>
                </a:tc>
                <a:tc>
                  <a:txBody>
                    <a:bodyPr/>
                    <a:lstStyle/>
                    <a:p>
                      <a:pPr algn="l"/>
                      <a:r>
                        <a:rPr sz="750">
                          <a:solidFill>
                            <a:srgbClr val="3A4356"/>
                          </a:solidFill>
                        </a:rPr>
                        <a:t>THB ฿</a:t>
                      </a:r>
                    </a:p>
                  </a:txBody>
                  <a:tcPr>
                    <a:solidFill>
                      <a:srgbClr val="FFFFFF"/>
                    </a:solidFill>
                  </a:tcPr>
                </a:tc>
                <a:tc>
                  <a:txBody>
                    <a:bodyPr/>
                    <a:lstStyle/>
                    <a:p>
                      <a:pPr algn="l"/>
                      <a:r>
                        <a:rPr sz="750">
                          <a:solidFill>
                            <a:srgbClr val="3A4356"/>
                          </a:solidFill>
                        </a:rPr>
                        <a:t>Skilled ฿180/hr</a:t>
                      </a:r>
                    </a:p>
                  </a:txBody>
                  <a:tcPr>
                    <a:solidFill>
                      <a:srgbClr val="FFFFFF"/>
                    </a:solidFill>
                  </a:tcPr>
                </a:tc>
                <a:tc>
                  <a:txBody>
                    <a:bodyPr/>
                    <a:lstStyle/>
                    <a:p>
                      <a:pPr algn="l"/>
                      <a:r>
                        <a:rPr sz="750" b="1">
                          <a:solidFill>
                            <a:srgbClr val="2A7F50"/>
                          </a:solidFill>
                        </a:rPr>
                        <a:t>Electronics &amp; automotive</a:t>
                      </a:r>
                    </a:p>
                  </a:txBody>
                  <a:tcPr>
                    <a:solidFill>
                      <a:srgbClr val="FFFFFF"/>
                    </a:solidFill>
                  </a:tcPr>
                </a:tc>
              </a:tr>
              <a:tr h="316523">
                <a:tc>
                  <a:txBody>
                    <a:bodyPr/>
                    <a:lstStyle/>
                    <a:p>
                      <a:pPr algn="l"/>
                      <a:r>
                        <a:rPr sz="750" b="1">
                          <a:solidFill>
                            <a:srgbClr val="1D6FB8"/>
                          </a:solidFill>
                        </a:rPr>
                        <a:t>🇻🇳 Vietnam</a:t>
                      </a:r>
                    </a:p>
                  </a:txBody>
                  <a:tcPr>
                    <a:solidFill>
                      <a:srgbClr val="F7F9FC"/>
                    </a:solidFill>
                  </a:tcPr>
                </a:tc>
                <a:tc>
                  <a:txBody>
                    <a:bodyPr/>
                    <a:lstStyle/>
                    <a:p>
                      <a:pPr algn="l"/>
                      <a:r>
                        <a:rPr sz="750">
                          <a:solidFill>
                            <a:srgbClr val="3A4356"/>
                          </a:solidFill>
                        </a:rPr>
                        <a:t>VND ₫</a:t>
                      </a:r>
                    </a:p>
                  </a:txBody>
                  <a:tcPr>
                    <a:solidFill>
                      <a:srgbClr val="F7F9FC"/>
                    </a:solidFill>
                  </a:tcPr>
                </a:tc>
                <a:tc>
                  <a:txBody>
                    <a:bodyPr/>
                    <a:lstStyle/>
                    <a:p>
                      <a:pPr algn="l"/>
                      <a:r>
                        <a:rPr sz="750">
                          <a:solidFill>
                            <a:srgbClr val="3A4356"/>
                          </a:solidFill>
                        </a:rPr>
                        <a:t>Skilled ₫52k/hr</a:t>
                      </a:r>
                    </a:p>
                  </a:txBody>
                  <a:tcPr>
                    <a:solidFill>
                      <a:srgbClr val="F7F9FC"/>
                    </a:solidFill>
                  </a:tcPr>
                </a:tc>
                <a:tc>
                  <a:txBody>
                    <a:bodyPr/>
                    <a:lstStyle/>
                    <a:p>
                      <a:pPr algn="l"/>
                      <a:r>
                        <a:rPr sz="750" b="1">
                          <a:solidFill>
                            <a:srgbClr val="2A7F50"/>
                          </a:solidFill>
                        </a:rPr>
                        <a:t>Lowest-cost electronics hub</a:t>
                      </a:r>
                    </a:p>
                  </a:txBody>
                  <a:tcPr>
                    <a:solidFill>
                      <a:srgbClr val="F7F9FC"/>
                    </a:solidFill>
                  </a:tcPr>
                </a:tc>
              </a:tr>
              <a:tr h="316523">
                <a:tc>
                  <a:txBody>
                    <a:bodyPr/>
                    <a:lstStyle/>
                    <a:p>
                      <a:pPr algn="l"/>
                      <a:r>
                        <a:rPr sz="750" b="1">
                          <a:solidFill>
                            <a:srgbClr val="1D6FB8"/>
                          </a:solidFill>
                        </a:rPr>
                        <a:t>🇧🇷 Brazil</a:t>
                      </a:r>
                    </a:p>
                  </a:txBody>
                  <a:tcPr>
                    <a:solidFill>
                      <a:srgbClr val="FFFFFF"/>
                    </a:solidFill>
                  </a:tcPr>
                </a:tc>
                <a:tc>
                  <a:txBody>
                    <a:bodyPr/>
                    <a:lstStyle/>
                    <a:p>
                      <a:pPr algn="l"/>
                      <a:r>
                        <a:rPr sz="750">
                          <a:solidFill>
                            <a:srgbClr val="3A4356"/>
                          </a:solidFill>
                        </a:rPr>
                        <a:t>BRL R$</a:t>
                      </a:r>
                    </a:p>
                  </a:txBody>
                  <a:tcPr>
                    <a:solidFill>
                      <a:srgbClr val="FFFFFF"/>
                    </a:solidFill>
                  </a:tcPr>
                </a:tc>
                <a:tc>
                  <a:txBody>
                    <a:bodyPr/>
                    <a:lstStyle/>
                    <a:p>
                      <a:pPr algn="l"/>
                      <a:r>
                        <a:rPr sz="750">
                          <a:solidFill>
                            <a:srgbClr val="3A4356"/>
                          </a:solidFill>
                        </a:rPr>
                        <a:t>Skilled R$22/hr</a:t>
                      </a:r>
                    </a:p>
                  </a:txBody>
                  <a:tcPr>
                    <a:solidFill>
                      <a:srgbClr val="FFFFFF"/>
                    </a:solidFill>
                  </a:tcPr>
                </a:tc>
                <a:tc>
                  <a:txBody>
                    <a:bodyPr/>
                    <a:lstStyle/>
                    <a:p>
                      <a:pPr algn="l"/>
                      <a:r>
                        <a:rPr sz="750" b="1">
                          <a:solidFill>
                            <a:srgbClr val="2A7F50"/>
                          </a:solidFill>
                        </a:rPr>
                        <a:t>South America manufacturing</a:t>
                      </a:r>
                    </a:p>
                  </a:txBody>
                  <a:tcPr>
                    <a:solidFill>
                      <a:srgbClr val="FFFFFF"/>
                    </a:solidFill>
                  </a:tcPr>
                </a:tc>
              </a:tr>
              <a:tr h="316524">
                <a:tc>
                  <a:txBody>
                    <a:bodyPr/>
                    <a:lstStyle/>
                    <a:p>
                      <a:pPr algn="l"/>
                      <a:r>
                        <a:rPr sz="750" b="1">
                          <a:solidFill>
                            <a:srgbClr val="1D6FB8"/>
                          </a:solidFill>
                        </a:rPr>
                        <a:t>🇰🇷 S. Korea</a:t>
                      </a:r>
                    </a:p>
                  </a:txBody>
                  <a:tcPr>
                    <a:solidFill>
                      <a:srgbClr val="F7F9FC"/>
                    </a:solidFill>
                  </a:tcPr>
                </a:tc>
                <a:tc>
                  <a:txBody>
                    <a:bodyPr/>
                    <a:lstStyle/>
                    <a:p>
                      <a:pPr algn="l"/>
                      <a:r>
                        <a:rPr sz="750">
                          <a:solidFill>
                            <a:srgbClr val="3A4356"/>
                          </a:solidFill>
                        </a:rPr>
                        <a:t>KRW ₩</a:t>
                      </a:r>
                    </a:p>
                  </a:txBody>
                  <a:tcPr>
                    <a:solidFill>
                      <a:srgbClr val="F7F9FC"/>
                    </a:solidFill>
                  </a:tcPr>
                </a:tc>
                <a:tc>
                  <a:txBody>
                    <a:bodyPr/>
                    <a:lstStyle/>
                    <a:p>
                      <a:pPr algn="l"/>
                      <a:r>
                        <a:rPr sz="750">
                          <a:solidFill>
                            <a:srgbClr val="3A4356"/>
                          </a:solidFill>
                        </a:rPr>
                        <a:t>Skilled ₩22k/hr</a:t>
                      </a:r>
                    </a:p>
                  </a:txBody>
                  <a:tcPr>
                    <a:solidFill>
                      <a:srgbClr val="F7F9FC"/>
                    </a:solidFill>
                  </a:tcPr>
                </a:tc>
                <a:tc>
                  <a:txBody>
                    <a:bodyPr/>
                    <a:lstStyle/>
                    <a:p>
                      <a:pPr algn="l"/>
                      <a:r>
                        <a:rPr sz="750" b="1">
                          <a:solidFill>
                            <a:srgbClr val="2A7F50"/>
                          </a:solidFill>
                        </a:rPr>
                        <a:t>Electronics &amp; automotive</a:t>
                      </a:r>
                    </a:p>
                  </a:txBody>
                  <a:tcPr>
                    <a:solidFill>
                      <a:srgbClr val="F7F9FC"/>
                    </a:solidFill>
                  </a:tcPr>
                </a:tc>
              </a:tr>
            </a:tbl>
          </a:graphicData>
        </a:graphic>
      </p:graphicFrame>
      <p:sp>
        <p:nvSpPr>
          <p:cNvPr id="14" name="Rectangle 13"/>
          <p:cNvSpPr/>
          <p:nvPr/>
        </p:nvSpPr>
        <p:spPr>
          <a:xfrm>
            <a:off x="7498079" y="1810512"/>
            <a:ext cx="4297680" cy="100584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98079" y="1810512"/>
            <a:ext cx="54864" cy="1005840"/>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26095" y="1883664"/>
            <a:ext cx="4114800" cy="256032"/>
          </a:xfrm>
          <a:prstGeom prst="rect">
            <a:avLst/>
          </a:prstGeom>
          <a:noFill/>
        </p:spPr>
        <p:txBody>
          <a:bodyPr wrap="square">
            <a:spAutoFit/>
          </a:bodyPr>
          <a:lstStyle/>
          <a:p>
            <a:pPr algn="l"/>
            <a:r>
              <a:rPr sz="900" b="1" i="0">
                <a:solidFill>
                  <a:srgbClr val="16325C"/>
                </a:solidFill>
              </a:rPr>
              <a:t>Auto-Currency Switch</a:t>
            </a:r>
          </a:p>
        </p:txBody>
      </p:sp>
      <p:sp>
        <p:nvSpPr>
          <p:cNvPr id="17" name="TextBox 16"/>
          <p:cNvSpPr txBox="1"/>
          <p:nvPr/>
        </p:nvSpPr>
        <p:spPr>
          <a:xfrm>
            <a:off x="7626095" y="2121408"/>
            <a:ext cx="4114800" cy="658368"/>
          </a:xfrm>
          <a:prstGeom prst="rect">
            <a:avLst/>
          </a:prstGeom>
          <a:noFill/>
        </p:spPr>
        <p:txBody>
          <a:bodyPr wrap="square">
            <a:spAutoFit/>
          </a:bodyPr>
          <a:lstStyle/>
          <a:p>
            <a:pPr algn="l"/>
            <a:r>
              <a:rPr sz="800" b="0" i="0">
                <a:solidFill>
                  <a:srgbClr val="3A4356"/>
                </a:solidFill>
              </a:rPr>
              <a:t>When you select a manufacturing region (e.g. China), the display currency automatically switches to CNY. No manual FX conversion needed.</a:t>
            </a:r>
          </a:p>
        </p:txBody>
      </p:sp>
      <p:sp>
        <p:nvSpPr>
          <p:cNvPr id="18" name="Rectangle 17"/>
          <p:cNvSpPr/>
          <p:nvPr/>
        </p:nvSpPr>
        <p:spPr>
          <a:xfrm>
            <a:off x="7498079" y="2889504"/>
            <a:ext cx="4297680" cy="100584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498079" y="2889504"/>
            <a:ext cx="54864" cy="1005840"/>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26095" y="2962656"/>
            <a:ext cx="4114800" cy="256032"/>
          </a:xfrm>
          <a:prstGeom prst="rect">
            <a:avLst/>
          </a:prstGeom>
          <a:noFill/>
        </p:spPr>
        <p:txBody>
          <a:bodyPr wrap="square">
            <a:spAutoFit/>
          </a:bodyPr>
          <a:lstStyle/>
          <a:p>
            <a:pPr algn="l"/>
            <a:r>
              <a:rPr sz="900" b="1" i="0">
                <a:solidFill>
                  <a:srgbClr val="16325C"/>
                </a:solidFill>
              </a:rPr>
              <a:t>Full Rate Adjustment</a:t>
            </a:r>
          </a:p>
        </p:txBody>
      </p:sp>
      <p:sp>
        <p:nvSpPr>
          <p:cNvPr id="21" name="TextBox 20"/>
          <p:cNvSpPr txBox="1"/>
          <p:nvPr/>
        </p:nvSpPr>
        <p:spPr>
          <a:xfrm>
            <a:off x="7626095" y="3200400"/>
            <a:ext cx="4114800" cy="658368"/>
          </a:xfrm>
          <a:prstGeom prst="rect">
            <a:avLst/>
          </a:prstGeom>
          <a:noFill/>
        </p:spPr>
        <p:txBody>
          <a:bodyPr wrap="square">
            <a:spAutoFit/>
          </a:bodyPr>
          <a:lstStyle/>
          <a:p>
            <a:pPr algn="l"/>
            <a:r>
              <a:rPr sz="800" b="0" i="0">
                <a:solidFill>
                  <a:srgbClr val="3A4356"/>
                </a:solidFill>
              </a:rPr>
              <a:t>Every rate adjusts: skilled/semi-skilled/engineer/inspector labour, electricity, gas, machine rates, material prices — all recalculated for the selected region.</a:t>
            </a:r>
          </a:p>
        </p:txBody>
      </p:sp>
      <p:sp>
        <p:nvSpPr>
          <p:cNvPr id="22" name="Rectangle 21"/>
          <p:cNvSpPr/>
          <p:nvPr/>
        </p:nvSpPr>
        <p:spPr>
          <a:xfrm>
            <a:off x="7498079" y="3968496"/>
            <a:ext cx="4297680" cy="100584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498079" y="3968496"/>
            <a:ext cx="54864" cy="1005840"/>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26095" y="4041648"/>
            <a:ext cx="4114800" cy="256032"/>
          </a:xfrm>
          <a:prstGeom prst="rect">
            <a:avLst/>
          </a:prstGeom>
          <a:noFill/>
        </p:spPr>
        <p:txBody>
          <a:bodyPr wrap="square">
            <a:spAutoFit/>
          </a:bodyPr>
          <a:lstStyle/>
          <a:p>
            <a:pPr algn="l"/>
            <a:r>
              <a:rPr sz="900" b="1" i="0">
                <a:solidFill>
                  <a:srgbClr val="16325C"/>
                </a:solidFill>
              </a:rPr>
              <a:t>Editable Rate Library</a:t>
            </a:r>
          </a:p>
        </p:txBody>
      </p:sp>
      <p:sp>
        <p:nvSpPr>
          <p:cNvPr id="25" name="TextBox 24"/>
          <p:cNvSpPr txBox="1"/>
          <p:nvPr/>
        </p:nvSpPr>
        <p:spPr>
          <a:xfrm>
            <a:off x="7626095" y="4279392"/>
            <a:ext cx="4114800" cy="658368"/>
          </a:xfrm>
          <a:prstGeom prst="rect">
            <a:avLst/>
          </a:prstGeom>
          <a:noFill/>
        </p:spPr>
        <p:txBody>
          <a:bodyPr wrap="square">
            <a:spAutoFit/>
          </a:bodyPr>
          <a:lstStyle/>
          <a:p>
            <a:pPr algn="l"/>
            <a:r>
              <a:rPr sz="800" b="0" i="0">
                <a:solidFill>
                  <a:srgbClr val="3A4356"/>
                </a:solidFill>
              </a:rPr>
              <a:t>All rates are editable. Override any rate with project-specific data, supplier quotes, or latest market prices. Resets to calibrated baseline at any time.</a:t>
            </a:r>
          </a:p>
        </p:txBody>
      </p:sp>
      <p:sp>
        <p:nvSpPr>
          <p:cNvPr id="26" name="Rectangle 25"/>
          <p:cNvSpPr/>
          <p:nvPr/>
        </p:nvSpPr>
        <p:spPr>
          <a:xfrm>
            <a:off x="7498079" y="5047488"/>
            <a:ext cx="4297680" cy="100584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98079" y="5047488"/>
            <a:ext cx="54864" cy="1005840"/>
          </a:xfrm>
          <a:prstGeom prst="rect">
            <a:avLst/>
          </a:prstGeom>
          <a:solidFill>
            <a:srgbClr val="9965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26095" y="5120640"/>
            <a:ext cx="4114800" cy="256032"/>
          </a:xfrm>
          <a:prstGeom prst="rect">
            <a:avLst/>
          </a:prstGeom>
          <a:noFill/>
        </p:spPr>
        <p:txBody>
          <a:bodyPr wrap="square">
            <a:spAutoFit/>
          </a:bodyPr>
          <a:lstStyle/>
          <a:p>
            <a:pPr algn="l"/>
            <a:r>
              <a:rPr sz="900" b="1" i="0">
                <a:solidFill>
                  <a:srgbClr val="16325C"/>
                </a:solidFill>
              </a:rPr>
              <a:t>Regional Comparison</a:t>
            </a:r>
          </a:p>
        </p:txBody>
      </p:sp>
      <p:sp>
        <p:nvSpPr>
          <p:cNvPr id="29" name="TextBox 28"/>
          <p:cNvSpPr txBox="1"/>
          <p:nvPr/>
        </p:nvSpPr>
        <p:spPr>
          <a:xfrm>
            <a:off x="7626095" y="5358384"/>
            <a:ext cx="4114800" cy="658368"/>
          </a:xfrm>
          <a:prstGeom prst="rect">
            <a:avLst/>
          </a:prstGeom>
          <a:noFill/>
        </p:spPr>
        <p:txBody>
          <a:bodyPr wrap="square">
            <a:spAutoFit/>
          </a:bodyPr>
          <a:lstStyle/>
          <a:p>
            <a:pPr algn="l"/>
            <a:r>
              <a:rPr sz="800" b="0" i="0">
                <a:solidFill>
                  <a:srgbClr val="3A4356"/>
                </a:solidFill>
              </a:rPr>
              <a:t>AI Insights tab shows estimated cost in all 20 regions simultaneously — instant make-vs-buy regional arbitrage analysis for any part.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86F7D"/>
                </a:solidFill>
              </a:rPr>
              <a:t>SLIDE 14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THE CONCEPT · EXPLAINED</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Agentic vs Autonomous Agentic AI — With Examples</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Two levels of "agentic": on the left the AI acts because you asked; on the right it acts on its own, unattended.</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86F7D"/>
                </a:solidFill>
              </a:rPr>
              <a:t>CostVision — AI-Powered Should-Cost Intelligence  |  Avinash Bhosale  |  Confidential</a:t>
            </a:r>
          </a:p>
        </p:txBody>
      </p:sp>
      <p:sp>
        <p:nvSpPr>
          <p:cNvPr id="11" name="Rectangle 10"/>
          <p:cNvSpPr/>
          <p:nvPr/>
        </p:nvSpPr>
        <p:spPr>
          <a:xfrm>
            <a:off x="411480" y="1828800"/>
            <a:ext cx="5532120" cy="402336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28800"/>
            <a:ext cx="54864" cy="4023360"/>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1938528"/>
            <a:ext cx="5212080" cy="310896"/>
          </a:xfrm>
          <a:prstGeom prst="rect">
            <a:avLst/>
          </a:prstGeom>
          <a:noFill/>
        </p:spPr>
        <p:txBody>
          <a:bodyPr wrap="square">
            <a:spAutoFit/>
          </a:bodyPr>
          <a:lstStyle/>
          <a:p>
            <a:pPr algn="l"/>
            <a:r>
              <a:rPr sz="1400" b="1" i="0">
                <a:solidFill>
                  <a:srgbClr val="1D6FB8"/>
                </a:solidFill>
              </a:rPr>
              <a:t>Agentic AI</a:t>
            </a:r>
          </a:p>
        </p:txBody>
      </p:sp>
      <p:sp>
        <p:nvSpPr>
          <p:cNvPr id="14" name="TextBox 13"/>
          <p:cNvSpPr txBox="1"/>
          <p:nvPr/>
        </p:nvSpPr>
        <p:spPr>
          <a:xfrm>
            <a:off x="594360" y="2286000"/>
            <a:ext cx="5212080" cy="274320"/>
          </a:xfrm>
          <a:prstGeom prst="rect">
            <a:avLst/>
          </a:prstGeom>
          <a:noFill/>
        </p:spPr>
        <p:txBody>
          <a:bodyPr wrap="square">
            <a:spAutoFit/>
          </a:bodyPr>
          <a:lstStyle/>
          <a:p>
            <a:pPr algn="l"/>
            <a:r>
              <a:rPr sz="850" b="0" i="1">
                <a:solidFill>
                  <a:srgbClr val="3A4356"/>
                </a:solidFill>
              </a:rPr>
              <a:t>Assisted — you trigger it and stay in the loop; a human approves</a:t>
            </a:r>
          </a:p>
        </p:txBody>
      </p:sp>
      <p:sp>
        <p:nvSpPr>
          <p:cNvPr id="15" name="Rectangle 14"/>
          <p:cNvSpPr/>
          <p:nvPr/>
        </p:nvSpPr>
        <p:spPr>
          <a:xfrm>
            <a:off x="576072" y="2651760"/>
            <a:ext cx="5202936" cy="676656"/>
          </a:xfrm>
          <a:prstGeom prst="rect">
            <a:avLst/>
          </a:prstGeom>
          <a:solidFill>
            <a:srgbClr val="F7F9FC"/>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76072" y="2651760"/>
            <a:ext cx="45720" cy="676656"/>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2715768"/>
            <a:ext cx="5056632" cy="219456"/>
          </a:xfrm>
          <a:prstGeom prst="rect">
            <a:avLst/>
          </a:prstGeom>
          <a:noFill/>
        </p:spPr>
        <p:txBody>
          <a:bodyPr wrap="square">
            <a:spAutoFit/>
          </a:bodyPr>
          <a:lstStyle/>
          <a:p>
            <a:pPr algn="l"/>
            <a:r>
              <a:rPr sz="1000" b="1" i="0">
                <a:solidFill>
                  <a:srgbClr val="16325C"/>
                </a:solidFill>
              </a:rPr>
              <a:t>AI Agent</a:t>
            </a:r>
          </a:p>
        </p:txBody>
      </p:sp>
      <p:sp>
        <p:nvSpPr>
          <p:cNvPr id="18" name="TextBox 17"/>
          <p:cNvSpPr txBox="1"/>
          <p:nvPr/>
        </p:nvSpPr>
        <p:spPr>
          <a:xfrm>
            <a:off x="722376" y="2935224"/>
            <a:ext cx="5056632" cy="347472"/>
          </a:xfrm>
          <a:prstGeom prst="rect">
            <a:avLst/>
          </a:prstGeom>
          <a:noFill/>
        </p:spPr>
        <p:txBody>
          <a:bodyPr wrap="square">
            <a:spAutoFit/>
          </a:bodyPr>
          <a:lstStyle/>
          <a:p>
            <a:pPr algn="l"/>
            <a:r>
              <a:rPr sz="800" b="0" i="0">
                <a:solidFill>
                  <a:srgbClr val="3A4356"/>
                </a:solidFill>
              </a:rPr>
              <a:t>Describe a part in plain English — it builds the full cost model for you.</a:t>
            </a:r>
          </a:p>
        </p:txBody>
      </p:sp>
      <p:sp>
        <p:nvSpPr>
          <p:cNvPr id="19" name="Rectangle 18"/>
          <p:cNvSpPr/>
          <p:nvPr/>
        </p:nvSpPr>
        <p:spPr>
          <a:xfrm>
            <a:off x="576072" y="3419856"/>
            <a:ext cx="5202936" cy="676656"/>
          </a:xfrm>
          <a:prstGeom prst="rect">
            <a:avLst/>
          </a:prstGeom>
          <a:solidFill>
            <a:srgbClr val="F7F9FC"/>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76072" y="3419856"/>
            <a:ext cx="45720" cy="676656"/>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2376" y="3483864"/>
            <a:ext cx="5056632" cy="219456"/>
          </a:xfrm>
          <a:prstGeom prst="rect">
            <a:avLst/>
          </a:prstGeom>
          <a:noFill/>
        </p:spPr>
        <p:txBody>
          <a:bodyPr wrap="square">
            <a:spAutoFit/>
          </a:bodyPr>
          <a:lstStyle/>
          <a:p>
            <a:pPr algn="l"/>
            <a:r>
              <a:rPr sz="1000" b="1" i="0">
                <a:solidFill>
                  <a:srgbClr val="16325C"/>
                </a:solidFill>
              </a:rPr>
              <a:t>CAD / photo → cost</a:t>
            </a:r>
          </a:p>
        </p:txBody>
      </p:sp>
      <p:sp>
        <p:nvSpPr>
          <p:cNvPr id="22" name="TextBox 21"/>
          <p:cNvSpPr txBox="1"/>
          <p:nvPr/>
        </p:nvSpPr>
        <p:spPr>
          <a:xfrm>
            <a:off x="722376" y="3703320"/>
            <a:ext cx="5056632" cy="347472"/>
          </a:xfrm>
          <a:prstGeom prst="rect">
            <a:avLst/>
          </a:prstGeom>
          <a:noFill/>
        </p:spPr>
        <p:txBody>
          <a:bodyPr wrap="square">
            <a:spAutoFit/>
          </a:bodyPr>
          <a:lstStyle/>
          <a:p>
            <a:pPr algn="l"/>
            <a:r>
              <a:rPr sz="800" b="0" i="0">
                <a:solidFill>
                  <a:srgbClr val="3A4356"/>
                </a:solidFill>
              </a:rPr>
              <a:t>Upload a STEP file — it measures geometry and infers material &amp; process.</a:t>
            </a:r>
          </a:p>
        </p:txBody>
      </p:sp>
      <p:sp>
        <p:nvSpPr>
          <p:cNvPr id="23" name="Rectangle 22"/>
          <p:cNvSpPr/>
          <p:nvPr/>
        </p:nvSpPr>
        <p:spPr>
          <a:xfrm>
            <a:off x="576072" y="4187952"/>
            <a:ext cx="5202936" cy="676656"/>
          </a:xfrm>
          <a:prstGeom prst="rect">
            <a:avLst/>
          </a:prstGeom>
          <a:solidFill>
            <a:srgbClr val="F7F9FC"/>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76072" y="4187952"/>
            <a:ext cx="45720" cy="676656"/>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2376" y="4251960"/>
            <a:ext cx="5056632" cy="219456"/>
          </a:xfrm>
          <a:prstGeom prst="rect">
            <a:avLst/>
          </a:prstGeom>
          <a:noFill/>
        </p:spPr>
        <p:txBody>
          <a:bodyPr wrap="square">
            <a:spAutoFit/>
          </a:bodyPr>
          <a:lstStyle/>
          <a:p>
            <a:pPr algn="l"/>
            <a:r>
              <a:rPr sz="1000" b="1" i="0">
                <a:solidFill>
                  <a:srgbClr val="16325C"/>
                </a:solidFill>
              </a:rPr>
              <a:t>Negotiation coach</a:t>
            </a:r>
          </a:p>
        </p:txBody>
      </p:sp>
      <p:sp>
        <p:nvSpPr>
          <p:cNvPr id="26" name="TextBox 25"/>
          <p:cNvSpPr txBox="1"/>
          <p:nvPr/>
        </p:nvSpPr>
        <p:spPr>
          <a:xfrm>
            <a:off x="722376" y="4471416"/>
            <a:ext cx="5056632" cy="347472"/>
          </a:xfrm>
          <a:prstGeom prst="rect">
            <a:avLst/>
          </a:prstGeom>
          <a:noFill/>
        </p:spPr>
        <p:txBody>
          <a:bodyPr wrap="square">
            <a:spAutoFit/>
          </a:bodyPr>
          <a:lstStyle/>
          <a:p>
            <a:pPr algn="l"/>
            <a:r>
              <a:rPr sz="800" b="0" i="0">
                <a:solidFill>
                  <a:srgbClr val="3A4356"/>
                </a:solidFill>
              </a:rPr>
              <a:t>Open a part — it drafts the buyer's counter-argument and target price.</a:t>
            </a:r>
          </a:p>
        </p:txBody>
      </p:sp>
      <p:sp>
        <p:nvSpPr>
          <p:cNvPr id="27" name="Rectangle 26"/>
          <p:cNvSpPr/>
          <p:nvPr/>
        </p:nvSpPr>
        <p:spPr>
          <a:xfrm>
            <a:off x="576072" y="4956048"/>
            <a:ext cx="5202936" cy="676656"/>
          </a:xfrm>
          <a:prstGeom prst="rect">
            <a:avLst/>
          </a:prstGeom>
          <a:solidFill>
            <a:srgbClr val="F7F9FC"/>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76072" y="4956048"/>
            <a:ext cx="45720" cy="676656"/>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2376" y="5020056"/>
            <a:ext cx="5056632" cy="219456"/>
          </a:xfrm>
          <a:prstGeom prst="rect">
            <a:avLst/>
          </a:prstGeom>
          <a:noFill/>
        </p:spPr>
        <p:txBody>
          <a:bodyPr wrap="square">
            <a:spAutoFit/>
          </a:bodyPr>
          <a:lstStyle/>
          <a:p>
            <a:pPr algn="l"/>
            <a:r>
              <a:rPr sz="1000" b="1" i="0">
                <a:solidFill>
                  <a:srgbClr val="16325C"/>
                </a:solidFill>
              </a:rPr>
              <a:t>Rate-data assistant</a:t>
            </a:r>
          </a:p>
        </p:txBody>
      </p:sp>
      <p:sp>
        <p:nvSpPr>
          <p:cNvPr id="30" name="TextBox 29"/>
          <p:cNvSpPr txBox="1"/>
          <p:nvPr/>
        </p:nvSpPr>
        <p:spPr>
          <a:xfrm>
            <a:off x="722376" y="5239512"/>
            <a:ext cx="5056632" cy="347472"/>
          </a:xfrm>
          <a:prstGeom prst="rect">
            <a:avLst/>
          </a:prstGeom>
          <a:noFill/>
        </p:spPr>
        <p:txBody>
          <a:bodyPr wrap="square">
            <a:spAutoFit/>
          </a:bodyPr>
          <a:lstStyle/>
          <a:p>
            <a:pPr algn="l"/>
            <a:r>
              <a:rPr sz="800" b="0" i="0">
                <a:solidFill>
                  <a:srgbClr val="3A4356"/>
                </a:solidFill>
              </a:rPr>
              <a:t>Ask a costing question — it answers from your own rates, with citations.</a:t>
            </a:r>
          </a:p>
        </p:txBody>
      </p:sp>
      <p:sp>
        <p:nvSpPr>
          <p:cNvPr id="31" name="Rectangle 30"/>
          <p:cNvSpPr/>
          <p:nvPr/>
        </p:nvSpPr>
        <p:spPr>
          <a:xfrm>
            <a:off x="6245352" y="1828800"/>
            <a:ext cx="5532120" cy="402336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45352" y="1828800"/>
            <a:ext cx="54864" cy="4023360"/>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28232" y="1938528"/>
            <a:ext cx="5212080" cy="310896"/>
          </a:xfrm>
          <a:prstGeom prst="rect">
            <a:avLst/>
          </a:prstGeom>
          <a:noFill/>
        </p:spPr>
        <p:txBody>
          <a:bodyPr wrap="square">
            <a:spAutoFit/>
          </a:bodyPr>
          <a:lstStyle/>
          <a:p>
            <a:pPr algn="l"/>
            <a:r>
              <a:rPr sz="1400" b="1" i="0">
                <a:solidFill>
                  <a:srgbClr val="6B3FA0"/>
                </a:solidFill>
              </a:rPr>
              <a:t>Autonomous Agentic AI</a:t>
            </a:r>
          </a:p>
        </p:txBody>
      </p:sp>
      <p:sp>
        <p:nvSpPr>
          <p:cNvPr id="34" name="TextBox 33"/>
          <p:cNvSpPr txBox="1"/>
          <p:nvPr/>
        </p:nvSpPr>
        <p:spPr>
          <a:xfrm>
            <a:off x="6428232" y="2286000"/>
            <a:ext cx="5212080" cy="274320"/>
          </a:xfrm>
          <a:prstGeom prst="rect">
            <a:avLst/>
          </a:prstGeom>
          <a:noFill/>
        </p:spPr>
        <p:txBody>
          <a:bodyPr wrap="square">
            <a:spAutoFit/>
          </a:bodyPr>
          <a:lstStyle/>
          <a:p>
            <a:pPr algn="l"/>
            <a:r>
              <a:rPr sz="850" b="0" i="1">
                <a:solidFill>
                  <a:srgbClr val="3A4356"/>
                </a:solidFill>
              </a:rPr>
              <a:t>Self-directed — runs unattended on a schedule, within limits you set</a:t>
            </a:r>
          </a:p>
        </p:txBody>
      </p:sp>
      <p:sp>
        <p:nvSpPr>
          <p:cNvPr id="35" name="Rectangle 34"/>
          <p:cNvSpPr/>
          <p:nvPr/>
        </p:nvSpPr>
        <p:spPr>
          <a:xfrm>
            <a:off x="6409944" y="2651760"/>
            <a:ext cx="5202936" cy="676656"/>
          </a:xfrm>
          <a:prstGeom prst="rect">
            <a:avLst/>
          </a:prstGeom>
          <a:solidFill>
            <a:srgbClr val="F7F9FC"/>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409944" y="2651760"/>
            <a:ext cx="45720" cy="676656"/>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556248" y="2715768"/>
            <a:ext cx="5056632" cy="219456"/>
          </a:xfrm>
          <a:prstGeom prst="rect">
            <a:avLst/>
          </a:prstGeom>
          <a:noFill/>
        </p:spPr>
        <p:txBody>
          <a:bodyPr wrap="square">
            <a:spAutoFit/>
          </a:bodyPr>
          <a:lstStyle/>
          <a:p>
            <a:pPr algn="l"/>
            <a:r>
              <a:rPr sz="1000" b="1" i="0">
                <a:solidFill>
                  <a:srgbClr val="16325C"/>
                </a:solidFill>
              </a:rPr>
              <a:t>Savings monitor</a:t>
            </a:r>
          </a:p>
        </p:txBody>
      </p:sp>
      <p:sp>
        <p:nvSpPr>
          <p:cNvPr id="38" name="TextBox 37"/>
          <p:cNvSpPr txBox="1"/>
          <p:nvPr/>
        </p:nvSpPr>
        <p:spPr>
          <a:xfrm>
            <a:off x="6556248" y="2935224"/>
            <a:ext cx="5056632" cy="347472"/>
          </a:xfrm>
          <a:prstGeom prst="rect">
            <a:avLst/>
          </a:prstGeom>
          <a:noFill/>
        </p:spPr>
        <p:txBody>
          <a:bodyPr wrap="square">
            <a:spAutoFit/>
          </a:bodyPr>
          <a:lstStyle/>
          <a:p>
            <a:pPr algn="l"/>
            <a:r>
              <a:rPr sz="800" b="0" i="0">
                <a:solidFill>
                  <a:srgbClr val="3A4356"/>
                </a:solidFill>
              </a:rPr>
              <a:t>Runs on the server, compares paid vs should-cost, opens findings itself — £0.5M/yr unattended.</a:t>
            </a:r>
          </a:p>
        </p:txBody>
      </p:sp>
      <p:sp>
        <p:nvSpPr>
          <p:cNvPr id="39" name="Rectangle 38"/>
          <p:cNvSpPr/>
          <p:nvPr/>
        </p:nvSpPr>
        <p:spPr>
          <a:xfrm>
            <a:off x="6409944" y="3419856"/>
            <a:ext cx="5202936" cy="676656"/>
          </a:xfrm>
          <a:prstGeom prst="rect">
            <a:avLst/>
          </a:prstGeom>
          <a:solidFill>
            <a:srgbClr val="F7F9FC"/>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409944" y="3419856"/>
            <a:ext cx="45720" cy="676656"/>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56248" y="3483864"/>
            <a:ext cx="5056632" cy="219456"/>
          </a:xfrm>
          <a:prstGeom prst="rect">
            <a:avLst/>
          </a:prstGeom>
          <a:noFill/>
        </p:spPr>
        <p:txBody>
          <a:bodyPr wrap="square">
            <a:spAutoFit/>
          </a:bodyPr>
          <a:lstStyle/>
          <a:p>
            <a:pPr algn="l"/>
            <a:r>
              <a:rPr sz="1000" b="1" i="0">
                <a:solidFill>
                  <a:srgbClr val="16325C"/>
                </a:solidFill>
              </a:rPr>
              <a:t>Self-audit</a:t>
            </a:r>
          </a:p>
        </p:txBody>
      </p:sp>
      <p:sp>
        <p:nvSpPr>
          <p:cNvPr id="42" name="TextBox 41"/>
          <p:cNvSpPr txBox="1"/>
          <p:nvPr/>
        </p:nvSpPr>
        <p:spPr>
          <a:xfrm>
            <a:off x="6556248" y="3703320"/>
            <a:ext cx="5056632" cy="347472"/>
          </a:xfrm>
          <a:prstGeom prst="rect">
            <a:avLst/>
          </a:prstGeom>
          <a:noFill/>
        </p:spPr>
        <p:txBody>
          <a:bodyPr wrap="square">
            <a:spAutoFit/>
          </a:bodyPr>
          <a:lstStyle/>
          <a:p>
            <a:pPr algn="l"/>
            <a:r>
              <a:rPr sz="800" b="0" i="0">
                <a:solidFill>
                  <a:srgbClr val="3A4356"/>
                </a:solidFill>
              </a:rPr>
              <a:t>Re-checks every estimate for known errors and corrects within bounds — unasked.</a:t>
            </a:r>
          </a:p>
        </p:txBody>
      </p:sp>
      <p:sp>
        <p:nvSpPr>
          <p:cNvPr id="43" name="Rectangle 42"/>
          <p:cNvSpPr/>
          <p:nvPr/>
        </p:nvSpPr>
        <p:spPr>
          <a:xfrm>
            <a:off x="6409944" y="4187952"/>
            <a:ext cx="5202936" cy="676656"/>
          </a:xfrm>
          <a:prstGeom prst="rect">
            <a:avLst/>
          </a:prstGeom>
          <a:solidFill>
            <a:srgbClr val="F7F9FC"/>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409944" y="4187952"/>
            <a:ext cx="45720" cy="676656"/>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556248" y="4251960"/>
            <a:ext cx="5056632" cy="219456"/>
          </a:xfrm>
          <a:prstGeom prst="rect">
            <a:avLst/>
          </a:prstGeom>
          <a:noFill/>
        </p:spPr>
        <p:txBody>
          <a:bodyPr wrap="square">
            <a:spAutoFit/>
          </a:bodyPr>
          <a:lstStyle/>
          <a:p>
            <a:pPr algn="l"/>
            <a:r>
              <a:rPr sz="1000" b="1" i="0">
                <a:solidFill>
                  <a:srgbClr val="16325C"/>
                </a:solidFill>
              </a:rPr>
              <a:t>Calibration &amp; drift</a:t>
            </a:r>
          </a:p>
        </p:txBody>
      </p:sp>
      <p:sp>
        <p:nvSpPr>
          <p:cNvPr id="46" name="TextBox 45"/>
          <p:cNvSpPr txBox="1"/>
          <p:nvPr/>
        </p:nvSpPr>
        <p:spPr>
          <a:xfrm>
            <a:off x="6556248" y="4471416"/>
            <a:ext cx="5056632" cy="347472"/>
          </a:xfrm>
          <a:prstGeom prst="rect">
            <a:avLst/>
          </a:prstGeom>
          <a:noFill/>
        </p:spPr>
        <p:txBody>
          <a:bodyPr wrap="square">
            <a:spAutoFit/>
          </a:bodyPr>
          <a:lstStyle/>
          <a:p>
            <a:pPr algn="l"/>
            <a:r>
              <a:rPr sz="800" b="0" i="0">
                <a:solidFill>
                  <a:srgbClr val="3A4356"/>
                </a:solidFill>
              </a:rPr>
              <a:t>Learns from logged quotes, re-derives factors, watches for drift continuously.</a:t>
            </a:r>
          </a:p>
        </p:txBody>
      </p:sp>
      <p:sp>
        <p:nvSpPr>
          <p:cNvPr id="47" name="Rectangle 46"/>
          <p:cNvSpPr/>
          <p:nvPr/>
        </p:nvSpPr>
        <p:spPr>
          <a:xfrm>
            <a:off x="6409944" y="4956048"/>
            <a:ext cx="5202936" cy="676656"/>
          </a:xfrm>
          <a:prstGeom prst="rect">
            <a:avLst/>
          </a:prstGeom>
          <a:solidFill>
            <a:srgbClr val="F7F9FC"/>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409944" y="4956048"/>
            <a:ext cx="45720" cy="676656"/>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556248" y="5020056"/>
            <a:ext cx="5056632" cy="219456"/>
          </a:xfrm>
          <a:prstGeom prst="rect">
            <a:avLst/>
          </a:prstGeom>
          <a:noFill/>
        </p:spPr>
        <p:txBody>
          <a:bodyPr wrap="square">
            <a:spAutoFit/>
          </a:bodyPr>
          <a:lstStyle/>
          <a:p>
            <a:pPr algn="l"/>
            <a:r>
              <a:rPr sz="1000" b="1" i="0">
                <a:solidFill>
                  <a:srgbClr val="16325C"/>
                </a:solidFill>
              </a:rPr>
              <a:t>Outcome-weighted ranking</a:t>
            </a:r>
          </a:p>
        </p:txBody>
      </p:sp>
      <p:sp>
        <p:nvSpPr>
          <p:cNvPr id="50" name="TextBox 49"/>
          <p:cNvSpPr txBox="1"/>
          <p:nvPr/>
        </p:nvSpPr>
        <p:spPr>
          <a:xfrm>
            <a:off x="6556248" y="5239512"/>
            <a:ext cx="5056632" cy="347472"/>
          </a:xfrm>
          <a:prstGeom prst="rect">
            <a:avLst/>
          </a:prstGeom>
          <a:noFill/>
        </p:spPr>
        <p:txBody>
          <a:bodyPr wrap="square">
            <a:spAutoFit/>
          </a:bodyPr>
          <a:lstStyle/>
          <a:p>
            <a:pPr algn="l"/>
            <a:r>
              <a:rPr sz="800" b="0" i="0">
                <a:solidFill>
                  <a:srgbClr val="3A4356"/>
                </a:solidFill>
              </a:rPr>
              <a:t>Learns which findings actually convert and re-prioritises its own queue.</a:t>
            </a:r>
          </a:p>
        </p:txBody>
      </p:sp>
      <p:sp>
        <p:nvSpPr>
          <p:cNvPr id="51" name="Rectangle 50"/>
          <p:cNvSpPr/>
          <p:nvPr/>
        </p:nvSpPr>
        <p:spPr>
          <a:xfrm>
            <a:off x="411480" y="5943600"/>
            <a:ext cx="11384280" cy="457200"/>
          </a:xfrm>
          <a:prstGeom prst="rect">
            <a:avLst/>
          </a:prstGeom>
          <a:solidFill>
            <a:srgbClr val="FFFFFF"/>
          </a:solidFill>
          <a:ln w="7620">
            <a:solidFill>
              <a:srgbClr val="2A7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58368" y="6035040"/>
            <a:ext cx="10972800" cy="292608"/>
          </a:xfrm>
          <a:prstGeom prst="rect">
            <a:avLst/>
          </a:prstGeom>
          <a:noFill/>
        </p:spPr>
        <p:txBody>
          <a:bodyPr wrap="square">
            <a:spAutoFit/>
          </a:bodyPr>
          <a:lstStyle/>
          <a:p>
            <a:pPr algn="l"/>
            <a:r>
              <a:rPr sz="950" b="0" i="0">
                <a:solidFill>
                  <a:srgbClr val="3A4356"/>
                </a:solidFill>
              </a:rPr>
              <a:t>The common thread:  you set the boundaries and every action stays glass-box and auditable — autonomy never means the AI sets a price in secret.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86F7D"/>
                </a:solidFill>
              </a:rPr>
              <a:t>SLIDE 15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NEW IN 2026 · AGENTIC INTELLIGENCE</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The Tool Now Checks Its Own Work — and Learns</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It re-checks every estimate before you see it, and it learns from the quotes you have already had.</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86F7D"/>
                </a:solidFill>
              </a:rPr>
              <a:t>CostVision — AI-Powered Should-Cost Intelligence  |  Avinash Bhosale  |  Confidential</a:t>
            </a:r>
          </a:p>
        </p:txBody>
      </p:sp>
      <p:sp>
        <p:nvSpPr>
          <p:cNvPr id="11" name="Rectangle 10"/>
          <p:cNvSpPr/>
          <p:nvPr/>
        </p:nvSpPr>
        <p:spPr>
          <a:xfrm>
            <a:off x="411480" y="1828800"/>
            <a:ext cx="5074920" cy="14173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28800"/>
            <a:ext cx="54864" cy="1417320"/>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1901952"/>
            <a:ext cx="4892040" cy="256032"/>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It checks its own homework</a:t>
            </a:r>
          </a:p>
        </p:txBody>
      </p:sp>
      <p:sp>
        <p:nvSpPr>
          <p:cNvPr id="14" name="TextBox 13"/>
          <p:cNvSpPr txBox="1"/>
          <p:nvPr/>
        </p:nvSpPr>
        <p:spPr>
          <a:xfrm>
            <a:off x="539496" y="2157984"/>
            <a:ext cx="4892040" cy="996696"/>
          </a:xfrm>
          <a:prstGeom prst="rect">
            <a:avLst/>
          </a:prstGeom>
          <a:noFill/>
        </p:spPr>
        <p:txBody>
          <a:bodyPr wrap="square">
            <a:spAutoFit/>
          </a:bodyPr>
          <a:lstStyle/>
          <a:p>
            <a:pPr algn="l"/>
            <a:r>
              <a:rPr sz="800" b="0" i="0">
                <a:solidFill>
                  <a:srgbClr val="3A4356"/>
                </a:solidFill>
              </a:rPr>
              <a:t>Every estimate is re-checked against the mistakes this tool has actually made before — wrong process, impossible machining time, a weight that disagrees with the CAD. It corrects them and shows its working. The measured geometry always wins over the AI.</a:t>
            </a:r>
          </a:p>
        </p:txBody>
      </p:sp>
      <p:sp>
        <p:nvSpPr>
          <p:cNvPr id="15" name="Rectangle 14"/>
          <p:cNvSpPr/>
          <p:nvPr/>
        </p:nvSpPr>
        <p:spPr>
          <a:xfrm>
            <a:off x="411480" y="3310128"/>
            <a:ext cx="5074920" cy="14173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3310128"/>
            <a:ext cx="54864" cy="1417320"/>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383280"/>
            <a:ext cx="4892040" cy="256032"/>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It learns from your quotes</a:t>
            </a:r>
          </a:p>
        </p:txBody>
      </p:sp>
      <p:sp>
        <p:nvSpPr>
          <p:cNvPr id="18" name="TextBox 17"/>
          <p:cNvSpPr txBox="1"/>
          <p:nvPr/>
        </p:nvSpPr>
        <p:spPr>
          <a:xfrm>
            <a:off x="539496" y="3639312"/>
            <a:ext cx="4892040" cy="996696"/>
          </a:xfrm>
          <a:prstGeom prst="rect">
            <a:avLst/>
          </a:prstGeom>
          <a:noFill/>
        </p:spPr>
        <p:txBody>
          <a:bodyPr wrap="square">
            <a:spAutoFit/>
          </a:bodyPr>
          <a:lstStyle/>
          <a:p>
            <a:pPr algn="l"/>
            <a:r>
              <a:rPr sz="800" b="0" i="0">
                <a:solidFill>
                  <a:srgbClr val="3A4356"/>
                </a:solidFill>
              </a:rPr>
              <a:t>Load the supplier quotes you already have. The engine corrects itself against them, and the estimate gets tighter as your history grows. Every estimate now says how well calibrated it is.</a:t>
            </a:r>
          </a:p>
        </p:txBody>
      </p:sp>
      <p:sp>
        <p:nvSpPr>
          <p:cNvPr id="19" name="Rectangle 18"/>
          <p:cNvSpPr/>
          <p:nvPr/>
        </p:nvSpPr>
        <p:spPr>
          <a:xfrm>
            <a:off x="411480" y="4791456"/>
            <a:ext cx="5074920" cy="14173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4791456"/>
            <a:ext cx="54864" cy="1417320"/>
          </a:xfrm>
          <a:prstGeom prst="rect">
            <a:avLst/>
          </a:prstGeom>
          <a:solidFill>
            <a:srgbClr val="9965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9496" y="4864608"/>
            <a:ext cx="4892040" cy="256032"/>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It picks the right machine</a:t>
            </a:r>
          </a:p>
        </p:txBody>
      </p:sp>
      <p:sp>
        <p:nvSpPr>
          <p:cNvPr id="22" name="TextBox 21"/>
          <p:cNvSpPr txBox="1"/>
          <p:nvPr/>
        </p:nvSpPr>
        <p:spPr>
          <a:xfrm>
            <a:off x="539496" y="5120640"/>
            <a:ext cx="4892040" cy="996696"/>
          </a:xfrm>
          <a:prstGeom prst="rect">
            <a:avLst/>
          </a:prstGeom>
          <a:noFill/>
        </p:spPr>
        <p:txBody>
          <a:bodyPr wrap="square">
            <a:spAutoFit/>
          </a:bodyPr>
          <a:lstStyle/>
          <a:p>
            <a:pPr algn="l"/>
            <a:r>
              <a:rPr sz="800" b="0" i="0">
                <a:solidFill>
                  <a:srgbClr val="3A4356"/>
                </a:solidFill>
              </a:rPr>
              <a:t>One rule now sizes the machine for the part on every commodity — presses, die-casting, moulding, extrusion — instead of a fixed guess per commodity.</a:t>
            </a:r>
          </a:p>
        </p:txBody>
      </p:sp>
      <p:sp>
        <p:nvSpPr>
          <p:cNvPr id="23" name="Rectangle 22"/>
          <p:cNvSpPr/>
          <p:nvPr/>
        </p:nvSpPr>
        <p:spPr>
          <a:xfrm>
            <a:off x="5806440" y="1828800"/>
            <a:ext cx="5989320" cy="36576"/>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06440" y="1920240"/>
            <a:ext cx="5989320" cy="274320"/>
          </a:xfrm>
          <a:prstGeom prst="rect">
            <a:avLst/>
          </a:prstGeom>
          <a:noFill/>
        </p:spPr>
        <p:txBody>
          <a:bodyPr wrap="square">
            <a:spAutoFit/>
          </a:bodyPr>
          <a:lstStyle/>
          <a:p>
            <a:pPr algn="l"/>
            <a:r>
              <a:rPr sz="1000" b="1" i="0">
                <a:solidFill>
                  <a:srgbClr val="2A7F50"/>
                </a:solidFill>
              </a:rPr>
              <a:t>Proven on five real automotive CAD parts</a:t>
            </a:r>
          </a:p>
        </p:txBody>
      </p:sp>
      <p:sp>
        <p:nvSpPr>
          <p:cNvPr id="25" name="TextBox 24"/>
          <p:cNvSpPr txBox="1"/>
          <p:nvPr/>
        </p:nvSpPr>
        <p:spPr>
          <a:xfrm>
            <a:off x="5806440" y="2212848"/>
            <a:ext cx="5989320" cy="256032"/>
          </a:xfrm>
          <a:prstGeom prst="rect">
            <a:avLst/>
          </a:prstGeom>
          <a:noFill/>
        </p:spPr>
        <p:txBody>
          <a:bodyPr wrap="square">
            <a:spAutoFit/>
          </a:bodyPr>
          <a:lstStyle/>
          <a:p>
            <a:pPr algn="l"/>
            <a:r>
              <a:rPr sz="800" b="0" i="0">
                <a:solidFill>
                  <a:srgbClr val="3A4356"/>
                </a:solidFill>
              </a:rPr>
              <a:t>Each was mis-costed on the first pass; the self-audit caught it and corrected it.</a:t>
            </a:r>
          </a:p>
        </p:txBody>
      </p:sp>
      <p:graphicFrame>
        <p:nvGraphicFramePr>
          <p:cNvPr id="26" name="Table 25"/>
          <p:cNvGraphicFramePr>
            <a:graphicFrameLocks noGrp="1"/>
          </p:cNvGraphicFramePr>
          <p:nvPr/>
        </p:nvGraphicFramePr>
        <p:xfrm>
          <a:off x="5806440" y="2542032"/>
          <a:ext cx="5989320" cy="2331720"/>
        </p:xfrm>
        <a:graphic>
          <a:graphicData uri="http://schemas.openxmlformats.org/drawingml/2006/table">
            <a:tbl>
              <a:tblPr firstRow="1" bandRow="1">
                <a:tableStyleId>{5C22544A-7EE6-4342-B048-85BDC9FD1C3A}</a:tableStyleId>
              </a:tblPr>
              <a:tblGrid>
                <a:gridCol w="1417320"/>
                <a:gridCol w="1051560"/>
                <a:gridCol w="1783080"/>
                <a:gridCol w="1737360"/>
              </a:tblGrid>
              <a:tr h="388620">
                <a:tc>
                  <a:txBody>
                    <a:bodyPr/>
                    <a:lstStyle/>
                    <a:p>
                      <a:pPr algn="l"/>
                      <a:r>
                        <a:rPr sz="750" b="1">
                          <a:solidFill>
                            <a:srgbClr val="FFFFFF"/>
                          </a:solidFill>
                        </a:rPr>
                        <a:t>Real Part</a:t>
                      </a:r>
                    </a:p>
                  </a:txBody>
                  <a:tcPr>
                    <a:solidFill>
                      <a:srgbClr val="16325C"/>
                    </a:solidFill>
                  </a:tcPr>
                </a:tc>
                <a:tc>
                  <a:txBody>
                    <a:bodyPr/>
                    <a:lstStyle/>
                    <a:p>
                      <a:pPr algn="l"/>
                      <a:r>
                        <a:rPr sz="750" b="1">
                          <a:solidFill>
                            <a:srgbClr val="FFFFFF"/>
                          </a:solidFill>
                        </a:rPr>
                        <a:t>AI First Pass</a:t>
                      </a:r>
                    </a:p>
                  </a:txBody>
                  <a:tcPr>
                    <a:solidFill>
                      <a:srgbClr val="16325C"/>
                    </a:solidFill>
                  </a:tcPr>
                </a:tc>
                <a:tc>
                  <a:txBody>
                    <a:bodyPr/>
                    <a:lstStyle/>
                    <a:p>
                      <a:pPr algn="l"/>
                      <a:r>
                        <a:rPr sz="750" b="1">
                          <a:solidFill>
                            <a:srgbClr val="FFFFFF"/>
                          </a:solidFill>
                        </a:rPr>
                        <a:t>What Was Wrong</a:t>
                      </a:r>
                    </a:p>
                  </a:txBody>
                  <a:tcPr>
                    <a:solidFill>
                      <a:srgbClr val="16325C"/>
                    </a:solidFill>
                  </a:tcPr>
                </a:tc>
                <a:tc>
                  <a:txBody>
                    <a:bodyPr/>
                    <a:lstStyle/>
                    <a:p>
                      <a:pPr algn="l"/>
                      <a:r>
                        <a:rPr sz="750" b="1">
                          <a:solidFill>
                            <a:srgbClr val="FFFFFF"/>
                          </a:solidFill>
                        </a:rPr>
                        <a:t>Corrected</a:t>
                      </a:r>
                    </a:p>
                  </a:txBody>
                  <a:tcPr>
                    <a:solidFill>
                      <a:srgbClr val="16325C"/>
                    </a:solidFill>
                  </a:tcPr>
                </a:tc>
              </a:tr>
              <a:tr h="388620">
                <a:tc>
                  <a:txBody>
                    <a:bodyPr/>
                    <a:lstStyle/>
                    <a:p>
                      <a:pPr algn="l"/>
                      <a:r>
                        <a:rPr sz="750" b="1">
                          <a:solidFill>
                            <a:srgbClr val="1D6FB8"/>
                          </a:solidFill>
                        </a:rPr>
                        <a:t>Fuel tank</a:t>
                      </a:r>
                    </a:p>
                  </a:txBody>
                  <a:tcPr>
                    <a:solidFill>
                      <a:srgbClr val="FFFFFF"/>
                    </a:solidFill>
                  </a:tcPr>
                </a:tc>
                <a:tc>
                  <a:txBody>
                    <a:bodyPr/>
                    <a:lstStyle/>
                    <a:p>
                      <a:pPr algn="l"/>
                      <a:r>
                        <a:rPr sz="750">
                          <a:solidFill>
                            <a:srgbClr val="3A4356"/>
                          </a:solidFill>
                        </a:rPr>
                        <a:t>£216.97</a:t>
                      </a:r>
                    </a:p>
                  </a:txBody>
                  <a:tcPr>
                    <a:solidFill>
                      <a:srgbClr val="FFFFFF"/>
                    </a:solidFill>
                  </a:tcPr>
                </a:tc>
                <a:tc>
                  <a:txBody>
                    <a:bodyPr/>
                    <a:lstStyle/>
                    <a:p>
                      <a:pPr algn="l"/>
                      <a:r>
                        <a:rPr sz="750">
                          <a:solidFill>
                            <a:srgbClr val="3A4356"/>
                          </a:solidFill>
                        </a:rPr>
                        <a:t>Treated as cast</a:t>
                      </a:r>
                    </a:p>
                  </a:txBody>
                  <a:tcPr>
                    <a:solidFill>
                      <a:srgbClr val="FFFFFF"/>
                    </a:solidFill>
                  </a:tcPr>
                </a:tc>
                <a:tc>
                  <a:txBody>
                    <a:bodyPr/>
                    <a:lstStyle/>
                    <a:p>
                      <a:pPr algn="l"/>
                      <a:r>
                        <a:rPr sz="750" b="1">
                          <a:solidFill>
                            <a:srgbClr val="2A7F50"/>
                          </a:solidFill>
                        </a:rPr>
                        <a:t>£24.62 blow-mould</a:t>
                      </a:r>
                    </a:p>
                  </a:txBody>
                  <a:tcPr>
                    <a:solidFill>
                      <a:srgbClr val="FFFFFF"/>
                    </a:solidFill>
                  </a:tcPr>
                </a:tc>
              </a:tr>
              <a:tr h="388620">
                <a:tc>
                  <a:txBody>
                    <a:bodyPr/>
                    <a:lstStyle/>
                    <a:p>
                      <a:pPr algn="l"/>
                      <a:r>
                        <a:rPr sz="750" b="1">
                          <a:solidFill>
                            <a:srgbClr val="1D6FB8"/>
                          </a:solidFill>
                        </a:rPr>
                        <a:t>Front bumper</a:t>
                      </a:r>
                    </a:p>
                  </a:txBody>
                  <a:tcPr>
                    <a:solidFill>
                      <a:srgbClr val="F7F9FC"/>
                    </a:solidFill>
                  </a:tcPr>
                </a:tc>
                <a:tc>
                  <a:txBody>
                    <a:bodyPr/>
                    <a:lstStyle/>
                    <a:p>
                      <a:pPr algn="l"/>
                      <a:r>
                        <a:rPr sz="750">
                          <a:solidFill>
                            <a:srgbClr val="3A4356"/>
                          </a:solidFill>
                        </a:rPr>
                        <a:t>£29.18</a:t>
                      </a:r>
                    </a:p>
                  </a:txBody>
                  <a:tcPr>
                    <a:solidFill>
                      <a:srgbClr val="F7F9FC"/>
                    </a:solidFill>
                  </a:tcPr>
                </a:tc>
                <a:tc>
                  <a:txBody>
                    <a:bodyPr/>
                    <a:lstStyle/>
                    <a:p>
                      <a:pPr algn="l"/>
                      <a:r>
                        <a:rPr sz="750">
                          <a:solidFill>
                            <a:srgbClr val="3A4356"/>
                          </a:solidFill>
                        </a:rPr>
                        <a:t>Machined, not moulded</a:t>
                      </a:r>
                    </a:p>
                  </a:txBody>
                  <a:tcPr>
                    <a:solidFill>
                      <a:srgbClr val="F7F9FC"/>
                    </a:solidFill>
                  </a:tcPr>
                </a:tc>
                <a:tc>
                  <a:txBody>
                    <a:bodyPr/>
                    <a:lstStyle/>
                    <a:p>
                      <a:pPr algn="l"/>
                      <a:r>
                        <a:rPr sz="750" b="1">
                          <a:solidFill>
                            <a:srgbClr val="2A7F50"/>
                          </a:solidFill>
                        </a:rPr>
                        <a:t>£7.79 injection</a:t>
                      </a:r>
                    </a:p>
                  </a:txBody>
                  <a:tcPr>
                    <a:solidFill>
                      <a:srgbClr val="F7F9FC"/>
                    </a:solidFill>
                  </a:tcPr>
                </a:tc>
              </a:tr>
              <a:tr h="388620">
                <a:tc>
                  <a:txBody>
                    <a:bodyPr/>
                    <a:lstStyle/>
                    <a:p>
                      <a:pPr algn="l"/>
                      <a:r>
                        <a:rPr sz="750" b="1">
                          <a:solidFill>
                            <a:srgbClr val="1D6FB8"/>
                          </a:solidFill>
                        </a:rPr>
                        <a:t>Servo horn</a:t>
                      </a:r>
                    </a:p>
                  </a:txBody>
                  <a:tcPr>
                    <a:solidFill>
                      <a:srgbClr val="FFFFFF"/>
                    </a:solidFill>
                  </a:tcPr>
                </a:tc>
                <a:tc>
                  <a:txBody>
                    <a:bodyPr/>
                    <a:lstStyle/>
                    <a:p>
                      <a:pPr algn="l"/>
                      <a:r>
                        <a:rPr sz="750">
                          <a:solidFill>
                            <a:srgbClr val="3A4356"/>
                          </a:solidFill>
                        </a:rPr>
                        <a:t>£333.00</a:t>
                      </a:r>
                    </a:p>
                  </a:txBody>
                  <a:tcPr>
                    <a:solidFill>
                      <a:srgbClr val="FFFFFF"/>
                    </a:solidFill>
                  </a:tcPr>
                </a:tc>
                <a:tc>
                  <a:txBody>
                    <a:bodyPr/>
                    <a:lstStyle/>
                    <a:p>
                      <a:pPr algn="l"/>
                      <a:r>
                        <a:rPr sz="750">
                          <a:solidFill>
                            <a:srgbClr val="3A4356"/>
                          </a:solidFill>
                        </a:rPr>
                        <a:t>Bulk, not net-shape</a:t>
                      </a:r>
                    </a:p>
                  </a:txBody>
                  <a:tcPr>
                    <a:solidFill>
                      <a:srgbClr val="FFFFFF"/>
                    </a:solidFill>
                  </a:tcPr>
                </a:tc>
                <a:tc>
                  <a:txBody>
                    <a:bodyPr/>
                    <a:lstStyle/>
                    <a:p>
                      <a:pPr algn="l"/>
                      <a:r>
                        <a:rPr sz="750" b="1">
                          <a:solidFill>
                            <a:srgbClr val="2A7F50"/>
                          </a:solidFill>
                        </a:rPr>
                        <a:t>£6.40 net-shape</a:t>
                      </a:r>
                    </a:p>
                  </a:txBody>
                  <a:tcPr>
                    <a:solidFill>
                      <a:srgbClr val="FFFFFF"/>
                    </a:solidFill>
                  </a:tcPr>
                </a:tc>
              </a:tr>
              <a:tr h="388620">
                <a:tc>
                  <a:txBody>
                    <a:bodyPr/>
                    <a:lstStyle/>
                    <a:p>
                      <a:pPr algn="l"/>
                      <a:r>
                        <a:rPr sz="750" b="1">
                          <a:solidFill>
                            <a:srgbClr val="1D6FB8"/>
                          </a:solidFill>
                        </a:rPr>
                        <a:t>Stub axle</a:t>
                      </a:r>
                    </a:p>
                  </a:txBody>
                  <a:tcPr>
                    <a:solidFill>
                      <a:srgbClr val="F7F9FC"/>
                    </a:solidFill>
                  </a:tcPr>
                </a:tc>
                <a:tc>
                  <a:txBody>
                    <a:bodyPr/>
                    <a:lstStyle/>
                    <a:p>
                      <a:pPr algn="l"/>
                      <a:r>
                        <a:rPr sz="750">
                          <a:solidFill>
                            <a:srgbClr val="3A4356"/>
                          </a:solidFill>
                        </a:rPr>
                        <a:t>no result</a:t>
                      </a:r>
                    </a:p>
                  </a:txBody>
                  <a:tcPr>
                    <a:solidFill>
                      <a:srgbClr val="F7F9FC"/>
                    </a:solidFill>
                  </a:tcPr>
                </a:tc>
                <a:tc>
                  <a:txBody>
                    <a:bodyPr/>
                    <a:lstStyle/>
                    <a:p>
                      <a:pPr algn="l"/>
                      <a:r>
                        <a:rPr sz="750">
                          <a:solidFill>
                            <a:srgbClr val="3A4356"/>
                          </a:solidFill>
                        </a:rPr>
                        <a:t>Classed as the wrong process</a:t>
                      </a:r>
                    </a:p>
                  </a:txBody>
                  <a:tcPr>
                    <a:solidFill>
                      <a:srgbClr val="F7F9FC"/>
                    </a:solidFill>
                  </a:tcPr>
                </a:tc>
                <a:tc>
                  <a:txBody>
                    <a:bodyPr/>
                    <a:lstStyle/>
                    <a:p>
                      <a:pPr algn="l"/>
                      <a:r>
                        <a:rPr sz="750" b="1">
                          <a:solidFill>
                            <a:srgbClr val="2A7F50"/>
                          </a:solidFill>
                        </a:rPr>
                        <a:t>Forged steel 8.1 kg</a:t>
                      </a:r>
                    </a:p>
                  </a:txBody>
                  <a:tcPr>
                    <a:solidFill>
                      <a:srgbClr val="F7F9FC"/>
                    </a:solidFill>
                  </a:tcPr>
                </a:tc>
              </a:tr>
              <a:tr h="388620">
                <a:tc>
                  <a:txBody>
                    <a:bodyPr/>
                    <a:lstStyle/>
                    <a:p>
                      <a:pPr algn="l"/>
                      <a:r>
                        <a:rPr sz="750" b="1">
                          <a:solidFill>
                            <a:srgbClr val="1D6FB8"/>
                          </a:solidFill>
                        </a:rPr>
                        <a:t>Seat cross-member</a:t>
                      </a:r>
                    </a:p>
                  </a:txBody>
                  <a:tcPr>
                    <a:solidFill>
                      <a:srgbClr val="FFFFFF"/>
                    </a:solidFill>
                  </a:tcPr>
                </a:tc>
                <a:tc>
                  <a:txBody>
                    <a:bodyPr/>
                    <a:lstStyle/>
                    <a:p>
                      <a:pPr algn="l"/>
                      <a:r>
                        <a:rPr sz="750">
                          <a:solidFill>
                            <a:srgbClr val="3A4356"/>
                          </a:solidFill>
                        </a:rPr>
                        <a:t>no result</a:t>
                      </a:r>
                    </a:p>
                  </a:txBody>
                  <a:tcPr>
                    <a:solidFill>
                      <a:srgbClr val="FFFFFF"/>
                    </a:solidFill>
                  </a:tcPr>
                </a:tc>
                <a:tc>
                  <a:txBody>
                    <a:bodyPr/>
                    <a:lstStyle/>
                    <a:p>
                      <a:pPr algn="l"/>
                      <a:r>
                        <a:rPr sz="750">
                          <a:solidFill>
                            <a:srgbClr val="3A4356"/>
                          </a:solidFill>
                        </a:rPr>
                        <a:t>Machine sizing gap</a:t>
                      </a:r>
                    </a:p>
                  </a:txBody>
                  <a:tcPr>
                    <a:solidFill>
                      <a:srgbClr val="FFFFFF"/>
                    </a:solidFill>
                  </a:tcPr>
                </a:tc>
                <a:tc>
                  <a:txBody>
                    <a:bodyPr/>
                    <a:lstStyle/>
                    <a:p>
                      <a:pPr algn="l"/>
                      <a:r>
                        <a:rPr sz="750" b="1">
                          <a:solidFill>
                            <a:srgbClr val="2A7F50"/>
                          </a:solidFill>
                        </a:rPr>
                        <a:t>£1.11 runs clean</a:t>
                      </a:r>
                    </a:p>
                  </a:txBody>
                  <a:tcPr>
                    <a:solidFill>
                      <a:srgbClr val="FFFFFF"/>
                    </a:solidFill>
                  </a:tcPr>
                </a:tc>
              </a:tr>
            </a:tbl>
          </a:graphicData>
        </a:graphic>
      </p:graphicFrame>
      <p:sp>
        <p:nvSpPr>
          <p:cNvPr id="27" name="Rectangle 26"/>
          <p:cNvSpPr/>
          <p:nvPr/>
        </p:nvSpPr>
        <p:spPr>
          <a:xfrm>
            <a:off x="5806440" y="5029200"/>
            <a:ext cx="5989320" cy="1298448"/>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806440" y="5029200"/>
            <a:ext cx="54864" cy="1298448"/>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952744" y="5102352"/>
            <a:ext cx="5760720" cy="256032"/>
          </a:xfrm>
          <a:prstGeom prst="rect">
            <a:avLst/>
          </a:prstGeom>
          <a:noFill/>
        </p:spPr>
        <p:txBody>
          <a:bodyPr wrap="square">
            <a:spAutoFit/>
          </a:bodyPr>
          <a:lstStyle/>
          <a:p>
            <a:pPr algn="l"/>
            <a:r>
              <a:rPr sz="950" b="1" i="0">
                <a:solidFill>
                  <a:srgbClr val="16325C"/>
                </a:solidFill>
              </a:rPr>
              <a:t>Built to be trusted, not just believed</a:t>
            </a:r>
          </a:p>
        </p:txBody>
      </p:sp>
      <p:sp>
        <p:nvSpPr>
          <p:cNvPr id="30" name="Rectangle 29"/>
          <p:cNvSpPr/>
          <p:nvPr/>
        </p:nvSpPr>
        <p:spPr>
          <a:xfrm>
            <a:off x="5989320" y="5495544"/>
            <a:ext cx="54864" cy="54864"/>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153912" y="5394960"/>
            <a:ext cx="5486400" cy="274320"/>
          </a:xfrm>
          <a:prstGeom prst="rect">
            <a:avLst/>
          </a:prstGeom>
          <a:noFill/>
        </p:spPr>
        <p:txBody>
          <a:bodyPr wrap="square">
            <a:spAutoFit/>
          </a:bodyPr>
          <a:lstStyle/>
          <a:p>
            <a:pPr algn="l"/>
            <a:r>
              <a:rPr sz="800" b="0" i="0">
                <a:solidFill>
                  <a:srgbClr val="3A4356"/>
                </a:solidFill>
              </a:rPr>
              <a:t>1,777 automated tests — if the logic breaks, the build fails, not the demo</a:t>
            </a:r>
          </a:p>
        </p:txBody>
      </p:sp>
      <p:sp>
        <p:nvSpPr>
          <p:cNvPr id="32" name="Rectangle 31"/>
          <p:cNvSpPr/>
          <p:nvPr/>
        </p:nvSpPr>
        <p:spPr>
          <a:xfrm>
            <a:off x="5989320" y="5788152"/>
            <a:ext cx="54864" cy="54864"/>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53912" y="5687568"/>
            <a:ext cx="5486400" cy="274320"/>
          </a:xfrm>
          <a:prstGeom prst="rect">
            <a:avLst/>
          </a:prstGeom>
          <a:noFill/>
        </p:spPr>
        <p:txBody>
          <a:bodyPr wrap="square">
            <a:spAutoFit/>
          </a:bodyPr>
          <a:lstStyle/>
          <a:p>
            <a:pPr algn="l"/>
            <a:r>
              <a:rPr sz="800" b="0" i="0">
                <a:solidFill>
                  <a:srgbClr val="3A4356"/>
                </a:solidFill>
              </a:rPr>
              <a:t>Every estimate is re-checked before you ever see the number</a:t>
            </a:r>
          </a:p>
        </p:txBody>
      </p:sp>
      <p:sp>
        <p:nvSpPr>
          <p:cNvPr id="34" name="Rectangle 33"/>
          <p:cNvSpPr/>
          <p:nvPr/>
        </p:nvSpPr>
        <p:spPr>
          <a:xfrm>
            <a:off x="5989320" y="6080760"/>
            <a:ext cx="54864" cy="54864"/>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53912" y="5980176"/>
            <a:ext cx="5486400" cy="274320"/>
          </a:xfrm>
          <a:prstGeom prst="rect">
            <a:avLst/>
          </a:prstGeom>
          <a:noFill/>
        </p:spPr>
        <p:txBody>
          <a:bodyPr wrap="square">
            <a:spAutoFit/>
          </a:bodyPr>
          <a:lstStyle/>
          <a:p>
            <a:pPr algn="l"/>
            <a:r>
              <a:rPr sz="800" b="0" i="0">
                <a:solidFill>
                  <a:srgbClr val="3A4356"/>
                </a:solidFill>
              </a:rPr>
              <a:t>The CAD engine is tested in the same container we deploy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86F7D"/>
                </a:solidFill>
              </a:rPr>
              <a:t>SLIDE 16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LIVE DEMO DATA</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Real-World Cost Benchmarks — Luxury SUV Programme</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All figures generated by CostVision's should-cost engine. UK manufacturing region, GBP.</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86F7D"/>
                </a:solidFill>
              </a:rPr>
              <a:t>CostVision — AI-Powered Should-Cost Intelligence  |  Avinash Bhosale  |  Confidential</a:t>
            </a:r>
          </a:p>
        </p:txBody>
      </p:sp>
      <p:graphicFrame>
        <p:nvGraphicFramePr>
          <p:cNvPr id="11" name="Table 10"/>
          <p:cNvGraphicFramePr>
            <a:graphicFrameLocks noGrp="1"/>
          </p:cNvGraphicFramePr>
          <p:nvPr/>
        </p:nvGraphicFramePr>
        <p:xfrm>
          <a:off x="411480" y="1810512"/>
          <a:ext cx="9738360" cy="4370832"/>
        </p:xfrm>
        <a:graphic>
          <a:graphicData uri="http://schemas.openxmlformats.org/drawingml/2006/table">
            <a:tbl>
              <a:tblPr firstRow="1" bandRow="1">
                <a:tableStyleId>{5C22544A-7EE6-4342-B048-85BDC9FD1C3A}</a:tableStyleId>
              </a:tblPr>
              <a:tblGrid>
                <a:gridCol w="1280160"/>
                <a:gridCol w="1417320"/>
                <a:gridCol w="1783080"/>
                <a:gridCol w="822960"/>
                <a:gridCol w="2697480"/>
                <a:gridCol w="1737360"/>
              </a:tblGrid>
              <a:tr h="397348">
                <a:tc>
                  <a:txBody>
                    <a:bodyPr/>
                    <a:lstStyle/>
                    <a:p>
                      <a:pPr algn="l"/>
                      <a:r>
                        <a:rPr sz="750" b="1">
                          <a:solidFill>
                            <a:srgbClr val="FFFFFF"/>
                          </a:solidFill>
                        </a:rPr>
                        <a:t>Commodity</a:t>
                      </a:r>
                    </a:p>
                  </a:txBody>
                  <a:tcPr>
                    <a:solidFill>
                      <a:srgbClr val="16325C"/>
                    </a:solidFill>
                  </a:tcPr>
                </a:tc>
                <a:tc>
                  <a:txBody>
                    <a:bodyPr/>
                    <a:lstStyle/>
                    <a:p>
                      <a:pPr algn="l"/>
                      <a:r>
                        <a:rPr sz="750" b="1">
                          <a:solidFill>
                            <a:srgbClr val="FFFFFF"/>
                          </a:solidFill>
                        </a:rPr>
                        <a:t>Demo Part</a:t>
                      </a:r>
                    </a:p>
                  </a:txBody>
                  <a:tcPr>
                    <a:solidFill>
                      <a:srgbClr val="16325C"/>
                    </a:solidFill>
                  </a:tcPr>
                </a:tc>
                <a:tc>
                  <a:txBody>
                    <a:bodyPr/>
                    <a:lstStyle/>
                    <a:p>
                      <a:pPr algn="l"/>
                      <a:r>
                        <a:rPr sz="750" b="1">
                          <a:solidFill>
                            <a:srgbClr val="FFFFFF"/>
                          </a:solidFill>
                        </a:rPr>
                        <a:t>Key Inputs</a:t>
                      </a:r>
                    </a:p>
                  </a:txBody>
                  <a:tcPr>
                    <a:solidFill>
                      <a:srgbClr val="16325C"/>
                    </a:solidFill>
                  </a:tcPr>
                </a:tc>
                <a:tc>
                  <a:txBody>
                    <a:bodyPr/>
                    <a:lstStyle/>
                    <a:p>
                      <a:pPr algn="l"/>
                      <a:r>
                        <a:rPr sz="750" b="1">
                          <a:solidFill>
                            <a:srgbClr val="FFFFFF"/>
                          </a:solidFill>
                        </a:rPr>
                        <a:t>Should-Cost</a:t>
                      </a:r>
                    </a:p>
                  </a:txBody>
                  <a:tcPr>
                    <a:solidFill>
                      <a:srgbClr val="16325C"/>
                    </a:solidFill>
                  </a:tcPr>
                </a:tc>
                <a:tc>
                  <a:txBody>
                    <a:bodyPr/>
                    <a:lstStyle/>
                    <a:p>
                      <a:pPr algn="l"/>
                      <a:r>
                        <a:rPr sz="750" b="1">
                          <a:solidFill>
                            <a:srgbClr val="FFFFFF"/>
                          </a:solidFill>
                        </a:rPr>
                        <a:t>AI Top Insight</a:t>
                      </a:r>
                    </a:p>
                  </a:txBody>
                  <a:tcPr>
                    <a:solidFill>
                      <a:srgbClr val="16325C"/>
                    </a:solidFill>
                  </a:tcPr>
                </a:tc>
                <a:tc>
                  <a:txBody>
                    <a:bodyPr/>
                    <a:lstStyle/>
                    <a:p>
                      <a:pPr algn="l"/>
                      <a:r>
                        <a:rPr sz="750" b="1">
                          <a:solidFill>
                            <a:srgbClr val="FFFFFF"/>
                          </a:solidFill>
                        </a:rPr>
                        <a:t>DFM Flag</a:t>
                      </a:r>
                    </a:p>
                  </a:txBody>
                  <a:tcPr>
                    <a:solidFill>
                      <a:srgbClr val="16325C"/>
                    </a:solidFill>
                  </a:tcPr>
                </a:tc>
              </a:tr>
              <a:tr h="397348">
                <a:tc>
                  <a:txBody>
                    <a:bodyPr/>
                    <a:lstStyle/>
                    <a:p>
                      <a:pPr algn="l"/>
                      <a:r>
                        <a:rPr sz="750" b="1">
                          <a:solidFill>
                            <a:srgbClr val="1D6FB8"/>
                          </a:solidFill>
                        </a:rPr>
                        <a:t>⚙️ Machining</a:t>
                      </a:r>
                    </a:p>
                  </a:txBody>
                  <a:tcPr>
                    <a:solidFill>
                      <a:srgbClr val="FFFFFF"/>
                    </a:solidFill>
                  </a:tcPr>
                </a:tc>
                <a:tc>
                  <a:txBody>
                    <a:bodyPr/>
                    <a:lstStyle/>
                    <a:p>
                      <a:pPr algn="l"/>
                      <a:r>
                        <a:rPr sz="750">
                          <a:solidFill>
                            <a:srgbClr val="3A4356"/>
                          </a:solidFill>
                        </a:rPr>
                        <a:t>Al Gearbox Bracket</a:t>
                      </a:r>
                    </a:p>
                  </a:txBody>
                  <a:tcPr>
                    <a:solidFill>
                      <a:srgbClr val="FFFFFF"/>
                    </a:solidFill>
                  </a:tcPr>
                </a:tc>
                <a:tc>
                  <a:txBody>
                    <a:bodyPr/>
                    <a:lstStyle/>
                    <a:p>
                      <a:pPr algn="l"/>
                      <a:r>
                        <a:rPr sz="750">
                          <a:solidFill>
                            <a:srgbClr val="3A4356"/>
                          </a:solidFill>
                        </a:rPr>
                        <a:t>Al 6082-T6 · 0.85 kg · 3 setups</a:t>
                      </a:r>
                    </a:p>
                  </a:txBody>
                  <a:tcPr>
                    <a:solidFill>
                      <a:srgbClr val="FFFFFF"/>
                    </a:solidFill>
                  </a:tcPr>
                </a:tc>
                <a:tc>
                  <a:txBody>
                    <a:bodyPr/>
                    <a:lstStyle/>
                    <a:p>
                      <a:pPr algn="l"/>
                      <a:r>
                        <a:rPr sz="750" b="1">
                          <a:solidFill>
                            <a:srgbClr val="2A7F50"/>
                          </a:solidFill>
                        </a:rPr>
                        <a:t>£ 28.40</a:t>
                      </a:r>
                    </a:p>
                  </a:txBody>
                  <a:tcPr>
                    <a:solidFill>
                      <a:srgbClr val="FFFFFF"/>
                    </a:solidFill>
                  </a:tcPr>
                </a:tc>
                <a:tc>
                  <a:txBody>
                    <a:bodyPr/>
                    <a:lstStyle/>
                    <a:p>
                      <a:pPr algn="l"/>
                      <a:r>
                        <a:rPr sz="750">
                          <a:solidFill>
                            <a:srgbClr val="3A4356"/>
                          </a:solidFill>
                        </a:rPr>
                        <a:t>Process 44% → near-net-shape saves £8</a:t>
                      </a:r>
                    </a:p>
                  </a:txBody>
                  <a:tcPr>
                    <a:solidFill>
                      <a:srgbClr val="FFFFFF"/>
                    </a:solidFill>
                  </a:tcPr>
                </a:tc>
                <a:tc>
                  <a:txBody>
                    <a:bodyPr/>
                    <a:lstStyle/>
                    <a:p>
                      <a:pPr algn="l"/>
                      <a:r>
                        <a:rPr sz="750">
                          <a:solidFill>
                            <a:srgbClr val="3A4356"/>
                          </a:solidFill>
                        </a:rPr>
                        <a:t>Major: 3 setups → 5-axis</a:t>
                      </a:r>
                    </a:p>
                  </a:txBody>
                  <a:tcPr>
                    <a:solidFill>
                      <a:srgbClr val="FFFFFF"/>
                    </a:solidFill>
                  </a:tcPr>
                </a:tc>
              </a:tr>
              <a:tr h="397348">
                <a:tc>
                  <a:txBody>
                    <a:bodyPr/>
                    <a:lstStyle/>
                    <a:p>
                      <a:pPr algn="l"/>
                      <a:r>
                        <a:rPr sz="750" b="1">
                          <a:solidFill>
                            <a:srgbClr val="1D6FB8"/>
                          </a:solidFill>
                        </a:rPr>
                        <a:t>🪨 HPDC Casting</a:t>
                      </a:r>
                    </a:p>
                  </a:txBody>
                  <a:tcPr>
                    <a:solidFill>
                      <a:srgbClr val="F7F9FC"/>
                    </a:solidFill>
                  </a:tcPr>
                </a:tc>
                <a:tc>
                  <a:txBody>
                    <a:bodyPr/>
                    <a:lstStyle/>
                    <a:p>
                      <a:pPr algn="l"/>
                      <a:r>
                        <a:rPr sz="750">
                          <a:solidFill>
                            <a:srgbClr val="3A4356"/>
                          </a:solidFill>
                        </a:rPr>
                        <a:t>Transmission Housing</a:t>
                      </a:r>
                    </a:p>
                  </a:txBody>
                  <a:tcPr>
                    <a:solidFill>
                      <a:srgbClr val="F7F9FC"/>
                    </a:solidFill>
                  </a:tcPr>
                </a:tc>
                <a:tc>
                  <a:txBody>
                    <a:bodyPr/>
                    <a:lstStyle/>
                    <a:p>
                      <a:pPr algn="l"/>
                      <a:r>
                        <a:rPr sz="750">
                          <a:solidFill>
                            <a:srgbClr val="3A4356"/>
                          </a:solidFill>
                        </a:rPr>
                        <a:t>Al A380 · 3.2 kg · 50k/yr</a:t>
                      </a:r>
                    </a:p>
                  </a:txBody>
                  <a:tcPr>
                    <a:solidFill>
                      <a:srgbClr val="F7F9FC"/>
                    </a:solidFill>
                  </a:tcPr>
                </a:tc>
                <a:tc>
                  <a:txBody>
                    <a:bodyPr/>
                    <a:lstStyle/>
                    <a:p>
                      <a:pPr algn="l"/>
                      <a:r>
                        <a:rPr sz="750" b="1">
                          <a:solidFill>
                            <a:srgbClr val="2A7F50"/>
                          </a:solidFill>
                        </a:rPr>
                        <a:t>£ 18.70</a:t>
                      </a:r>
                    </a:p>
                  </a:txBody>
                  <a:tcPr>
                    <a:solidFill>
                      <a:srgbClr val="F7F9FC"/>
                    </a:solidFill>
                  </a:tcPr>
                </a:tc>
                <a:tc>
                  <a:txBody>
                    <a:bodyPr/>
                    <a:lstStyle/>
                    <a:p>
                      <a:pPr algn="l"/>
                      <a:r>
                        <a:rPr sz="750">
                          <a:solidFill>
                            <a:srgbClr val="3A4356"/>
                          </a:solidFill>
                        </a:rPr>
                        <a:t>Die 9% OK. Margin 21% → negotiate</a:t>
                      </a:r>
                    </a:p>
                  </a:txBody>
                  <a:tcPr>
                    <a:solidFill>
                      <a:srgbClr val="F7F9FC"/>
                    </a:solidFill>
                  </a:tcPr>
                </a:tc>
                <a:tc>
                  <a:txBody>
                    <a:bodyPr/>
                    <a:lstStyle/>
                    <a:p>
                      <a:pPr algn="l"/>
                      <a:r>
                        <a:rPr sz="750">
                          <a:solidFill>
                            <a:srgbClr val="3A4356"/>
                          </a:solidFill>
                        </a:rPr>
                        <a:t>Good — no critical issues</a:t>
                      </a:r>
                    </a:p>
                  </a:txBody>
                  <a:tcPr>
                    <a:solidFill>
                      <a:srgbClr val="F7F9FC"/>
                    </a:solidFill>
                  </a:tcPr>
                </a:tc>
              </a:tr>
              <a:tr h="397348">
                <a:tc>
                  <a:txBody>
                    <a:bodyPr/>
                    <a:lstStyle/>
                    <a:p>
                      <a:pPr algn="l"/>
                      <a:r>
                        <a:rPr sz="750" b="1">
                          <a:solidFill>
                            <a:srgbClr val="1D6FB8"/>
                          </a:solidFill>
                        </a:rPr>
                        <a:t>🪗 Sheet Metal</a:t>
                      </a:r>
                    </a:p>
                  </a:txBody>
                  <a:tcPr>
                    <a:solidFill>
                      <a:srgbClr val="FFFFFF"/>
                    </a:solidFill>
                  </a:tcPr>
                </a:tc>
                <a:tc>
                  <a:txBody>
                    <a:bodyPr/>
                    <a:lstStyle/>
                    <a:p>
                      <a:pPr algn="l"/>
                      <a:r>
                        <a:rPr sz="750">
                          <a:solidFill>
                            <a:srgbClr val="3A4356"/>
                          </a:solidFill>
                        </a:rPr>
                        <a:t>Rear Door Inner</a:t>
                      </a:r>
                    </a:p>
                  </a:txBody>
                  <a:tcPr>
                    <a:solidFill>
                      <a:srgbClr val="FFFFFF"/>
                    </a:solidFill>
                  </a:tcPr>
                </a:tc>
                <a:tc>
                  <a:txBody>
                    <a:bodyPr/>
                    <a:lstStyle/>
                    <a:p>
                      <a:pPr algn="l"/>
                      <a:r>
                        <a:rPr sz="750">
                          <a:solidFill>
                            <a:srgbClr val="3A4356"/>
                          </a:solidFill>
                        </a:rPr>
                        <a:t>DC04 1.2mm · 4.1 kg · 60k/yr</a:t>
                      </a:r>
                    </a:p>
                  </a:txBody>
                  <a:tcPr>
                    <a:solidFill>
                      <a:srgbClr val="FFFFFF"/>
                    </a:solidFill>
                  </a:tcPr>
                </a:tc>
                <a:tc>
                  <a:txBody>
                    <a:bodyPr/>
                    <a:lstStyle/>
                    <a:p>
                      <a:pPr algn="l"/>
                      <a:r>
                        <a:rPr sz="750" b="1">
                          <a:solidFill>
                            <a:srgbClr val="2A7F50"/>
                          </a:solidFill>
                        </a:rPr>
                        <a:t>£ 22.10</a:t>
                      </a:r>
                    </a:p>
                  </a:txBody>
                  <a:tcPr>
                    <a:solidFill>
                      <a:srgbClr val="FFFFFF"/>
                    </a:solidFill>
                  </a:tcPr>
                </a:tc>
                <a:tc>
                  <a:txBody>
                    <a:bodyPr/>
                    <a:lstStyle/>
                    <a:p>
                      <a:pPr algn="l"/>
                      <a:r>
                        <a:rPr sz="750">
                          <a:solidFill>
                            <a:srgbClr val="3A4356"/>
                          </a:solidFill>
                        </a:rPr>
                        <a:t>Blank nesting 64% → improve saves £2.80</a:t>
                      </a:r>
                    </a:p>
                  </a:txBody>
                  <a:tcPr>
                    <a:solidFill>
                      <a:srgbClr val="FFFFFF"/>
                    </a:solidFill>
                  </a:tcPr>
                </a:tc>
                <a:tc>
                  <a:txBody>
                    <a:bodyPr/>
                    <a:lstStyle/>
                    <a:p>
                      <a:pPr algn="l"/>
                      <a:r>
                        <a:rPr sz="750">
                          <a:solidFill>
                            <a:srgbClr val="3A4356"/>
                          </a:solidFill>
                        </a:rPr>
                        <a:t>Critical: nesting &lt;65%</a:t>
                      </a:r>
                    </a:p>
                  </a:txBody>
                  <a:tcPr>
                    <a:solidFill>
                      <a:srgbClr val="FFFFFF"/>
                    </a:solidFill>
                  </a:tcPr>
                </a:tc>
              </a:tr>
              <a:tr h="397348">
                <a:tc>
                  <a:txBody>
                    <a:bodyPr/>
                    <a:lstStyle/>
                    <a:p>
                      <a:pPr algn="l"/>
                      <a:r>
                        <a:rPr sz="750" b="1">
                          <a:solidFill>
                            <a:srgbClr val="1D6FB8"/>
                          </a:solidFill>
                        </a:rPr>
                        <a:t>🏺 Injection</a:t>
                      </a:r>
                    </a:p>
                  </a:txBody>
                  <a:tcPr>
                    <a:solidFill>
                      <a:srgbClr val="F7F9FC"/>
                    </a:solidFill>
                  </a:tcPr>
                </a:tc>
                <a:tc>
                  <a:txBody>
                    <a:bodyPr/>
                    <a:lstStyle/>
                    <a:p>
                      <a:pPr algn="l"/>
                      <a:r>
                        <a:rPr sz="750">
                          <a:solidFill>
                            <a:srgbClr val="3A4356"/>
                          </a:solidFill>
                        </a:rPr>
                        <a:t>PP Bumper Bracket</a:t>
                      </a:r>
                    </a:p>
                  </a:txBody>
                  <a:tcPr>
                    <a:solidFill>
                      <a:srgbClr val="F7F9FC"/>
                    </a:solidFill>
                  </a:tcPr>
                </a:tc>
                <a:tc>
                  <a:txBody>
                    <a:bodyPr/>
                    <a:lstStyle/>
                    <a:p>
                      <a:pPr algn="l"/>
                      <a:r>
                        <a:rPr sz="750">
                          <a:solidFill>
                            <a:srgbClr val="3A4356"/>
                          </a:solidFill>
                        </a:rPr>
                        <a:t>PP-TD20 · 0.42 kg · 100k/yr</a:t>
                      </a:r>
                    </a:p>
                  </a:txBody>
                  <a:tcPr>
                    <a:solidFill>
                      <a:srgbClr val="F7F9FC"/>
                    </a:solidFill>
                  </a:tcPr>
                </a:tc>
                <a:tc>
                  <a:txBody>
                    <a:bodyPr/>
                    <a:lstStyle/>
                    <a:p>
                      <a:pPr algn="l"/>
                      <a:r>
                        <a:rPr sz="750" b="1">
                          <a:solidFill>
                            <a:srgbClr val="2A7F50"/>
                          </a:solidFill>
                        </a:rPr>
                        <a:t>£  3.85</a:t>
                      </a:r>
                    </a:p>
                  </a:txBody>
                  <a:tcPr>
                    <a:solidFill>
                      <a:srgbClr val="F7F9FC"/>
                    </a:solidFill>
                  </a:tcPr>
                </a:tc>
                <a:tc>
                  <a:txBody>
                    <a:bodyPr/>
                    <a:lstStyle/>
                    <a:p>
                      <a:pPr algn="l"/>
                      <a:r>
                        <a:rPr sz="750">
                          <a:solidFill>
                            <a:srgbClr val="3A4356"/>
                          </a:solidFill>
                        </a:rPr>
                        <a:t>Mould 8% — good at this volume</a:t>
                      </a:r>
                    </a:p>
                  </a:txBody>
                  <a:tcPr>
                    <a:solidFill>
                      <a:srgbClr val="F7F9FC"/>
                    </a:solidFill>
                  </a:tcPr>
                </a:tc>
                <a:tc>
                  <a:txBody>
                    <a:bodyPr/>
                    <a:lstStyle/>
                    <a:p>
                      <a:pPr algn="l"/>
                      <a:r>
                        <a:rPr sz="750">
                          <a:solidFill>
                            <a:srgbClr val="3A4356"/>
                          </a:solidFill>
                        </a:rPr>
                        <a:t>Good — runner waste 15%</a:t>
                      </a:r>
                    </a:p>
                  </a:txBody>
                  <a:tcPr>
                    <a:solidFill>
                      <a:srgbClr val="F7F9FC"/>
                    </a:solidFill>
                  </a:tcPr>
                </a:tc>
              </a:tr>
              <a:tr h="397348">
                <a:tc>
                  <a:txBody>
                    <a:bodyPr/>
                    <a:lstStyle/>
                    <a:p>
                      <a:pPr algn="l"/>
                      <a:r>
                        <a:rPr sz="750" b="1">
                          <a:solidFill>
                            <a:srgbClr val="1D6FB8"/>
                          </a:solidFill>
                        </a:rPr>
                        <a:t>🧱 Rubber</a:t>
                      </a:r>
                    </a:p>
                  </a:txBody>
                  <a:tcPr>
                    <a:solidFill>
                      <a:srgbClr val="FFFFFF"/>
                    </a:solidFill>
                  </a:tcPr>
                </a:tc>
                <a:tc>
                  <a:txBody>
                    <a:bodyPr/>
                    <a:lstStyle/>
                    <a:p>
                      <a:pPr algn="l"/>
                      <a:r>
                        <a:rPr sz="750">
                          <a:solidFill>
                            <a:srgbClr val="3A4356"/>
                          </a:solidFill>
                        </a:rPr>
                        <a:t>EPDM Door Seal</a:t>
                      </a:r>
                    </a:p>
                  </a:txBody>
                  <a:tcPr>
                    <a:solidFill>
                      <a:srgbClr val="FFFFFF"/>
                    </a:solidFill>
                  </a:tcPr>
                </a:tc>
                <a:tc>
                  <a:txBody>
                    <a:bodyPr/>
                    <a:lstStyle/>
                    <a:p>
                      <a:pPr algn="l"/>
                      <a:r>
                        <a:rPr sz="750">
                          <a:solidFill>
                            <a:srgbClr val="3A4356"/>
                          </a:solidFill>
                        </a:rPr>
                        <a:t>Extrusion · 2.8m · 85 Shore A</a:t>
                      </a:r>
                    </a:p>
                  </a:txBody>
                  <a:tcPr>
                    <a:solidFill>
                      <a:srgbClr val="FFFFFF"/>
                    </a:solidFill>
                  </a:tcPr>
                </a:tc>
                <a:tc>
                  <a:txBody>
                    <a:bodyPr/>
                    <a:lstStyle/>
                    <a:p>
                      <a:pPr algn="l"/>
                      <a:r>
                        <a:rPr sz="750" b="1">
                          <a:solidFill>
                            <a:srgbClr val="2A7F50"/>
                          </a:solidFill>
                        </a:rPr>
                        <a:t>£  4.10</a:t>
                      </a:r>
                    </a:p>
                  </a:txBody>
                  <a:tcPr>
                    <a:solidFill>
                      <a:srgbClr val="FFFFFF"/>
                    </a:solidFill>
                  </a:tcPr>
                </a:tc>
                <a:tc>
                  <a:txBody>
                    <a:bodyPr/>
                    <a:lstStyle/>
                    <a:p>
                      <a:pPr algn="l"/>
                      <a:r>
                        <a:rPr sz="750">
                          <a:solidFill>
                            <a:srgbClr val="3A4356"/>
                          </a:solidFill>
                        </a:rPr>
                        <a:t>Process 42% — cure cycle dominant</a:t>
                      </a:r>
                    </a:p>
                  </a:txBody>
                  <a:tcPr>
                    <a:solidFill>
                      <a:srgbClr val="FFFFFF"/>
                    </a:solidFill>
                  </a:tcPr>
                </a:tc>
                <a:tc>
                  <a:txBody>
                    <a:bodyPr/>
                    <a:lstStyle/>
                    <a:p>
                      <a:pPr algn="l"/>
                      <a:r>
                        <a:rPr sz="750">
                          <a:solidFill>
                            <a:srgbClr val="3A4356"/>
                          </a:solidFill>
                        </a:rPr>
                        <a:t>Major: cure time optimise</a:t>
                      </a:r>
                    </a:p>
                  </a:txBody>
                  <a:tcPr>
                    <a:solidFill>
                      <a:srgbClr val="FFFFFF"/>
                    </a:solidFill>
                  </a:tcPr>
                </a:tc>
              </a:tr>
              <a:tr h="397348">
                <a:tc>
                  <a:txBody>
                    <a:bodyPr/>
                    <a:lstStyle/>
                    <a:p>
                      <a:pPr algn="l"/>
                      <a:r>
                        <a:rPr sz="750" b="1">
                          <a:solidFill>
                            <a:srgbClr val="1D6FB8"/>
                          </a:solidFill>
                        </a:rPr>
                        <a:t>🖥️ PCB Fab</a:t>
                      </a:r>
                    </a:p>
                  </a:txBody>
                  <a:tcPr>
                    <a:solidFill>
                      <a:srgbClr val="F7F9FC"/>
                    </a:solidFill>
                  </a:tcPr>
                </a:tc>
                <a:tc>
                  <a:txBody>
                    <a:bodyPr/>
                    <a:lstStyle/>
                    <a:p>
                      <a:pPr algn="l"/>
                      <a:r>
                        <a:rPr sz="750">
                          <a:solidFill>
                            <a:srgbClr val="3A4356"/>
                          </a:solidFill>
                        </a:rPr>
                        <a:t>4-Layer FR4 ECU Board</a:t>
                      </a:r>
                    </a:p>
                  </a:txBody>
                  <a:tcPr>
                    <a:solidFill>
                      <a:srgbClr val="F7F9FC"/>
                    </a:solidFill>
                  </a:tcPr>
                </a:tc>
                <a:tc>
                  <a:txBody>
                    <a:bodyPr/>
                    <a:lstStyle/>
                    <a:p>
                      <a:pPr algn="l"/>
                      <a:r>
                        <a:rPr sz="750">
                          <a:solidFill>
                            <a:srgbClr val="3A4356"/>
                          </a:solidFill>
                        </a:rPr>
                        <a:t>100×80mm · ENIG · Flying probe</a:t>
                      </a:r>
                    </a:p>
                  </a:txBody>
                  <a:tcPr>
                    <a:solidFill>
                      <a:srgbClr val="F7F9FC"/>
                    </a:solidFill>
                  </a:tcPr>
                </a:tc>
                <a:tc>
                  <a:txBody>
                    <a:bodyPr/>
                    <a:lstStyle/>
                    <a:p>
                      <a:pPr algn="l"/>
                      <a:r>
                        <a:rPr sz="750" b="1">
                          <a:solidFill>
                            <a:srgbClr val="2A7F50"/>
                          </a:solidFill>
                        </a:rPr>
                        <a:t>£  4.18</a:t>
                      </a:r>
                    </a:p>
                  </a:txBody>
                  <a:tcPr>
                    <a:solidFill>
                      <a:srgbClr val="F7F9FC"/>
                    </a:solidFill>
                  </a:tcPr>
                </a:tc>
                <a:tc>
                  <a:txBody>
                    <a:bodyPr/>
                    <a:lstStyle/>
                    <a:p>
                      <a:pPr algn="l"/>
                      <a:r>
                        <a:rPr sz="750">
                          <a:solidFill>
                            <a:srgbClr val="3A4356"/>
                          </a:solidFill>
                        </a:rPr>
                        <a:t>NRE 6% per board — increase batch</a:t>
                      </a:r>
                    </a:p>
                  </a:txBody>
                  <a:tcPr>
                    <a:solidFill>
                      <a:srgbClr val="F7F9FC"/>
                    </a:solidFill>
                  </a:tcPr>
                </a:tc>
                <a:tc>
                  <a:txBody>
                    <a:bodyPr/>
                    <a:lstStyle/>
                    <a:p>
                      <a:pPr algn="l"/>
                      <a:r>
                        <a:rPr sz="750">
                          <a:solidFill>
                            <a:srgbClr val="3A4356"/>
                          </a:solidFill>
                        </a:rPr>
                        <a:t>Good — standard technology</a:t>
                      </a:r>
                    </a:p>
                  </a:txBody>
                  <a:tcPr>
                    <a:solidFill>
                      <a:srgbClr val="F7F9FC"/>
                    </a:solidFill>
                  </a:tcPr>
                </a:tc>
              </a:tr>
              <a:tr h="397348">
                <a:tc>
                  <a:txBody>
                    <a:bodyPr/>
                    <a:lstStyle/>
                    <a:p>
                      <a:pPr algn="l"/>
                      <a:r>
                        <a:rPr sz="750" b="1">
                          <a:solidFill>
                            <a:srgbClr val="1D6FB8"/>
                          </a:solidFill>
                        </a:rPr>
                        <a:t>🔌 PCBA</a:t>
                      </a:r>
                    </a:p>
                  </a:txBody>
                  <a:tcPr>
                    <a:solidFill>
                      <a:srgbClr val="FFFFFF"/>
                    </a:solidFill>
                  </a:tcPr>
                </a:tc>
                <a:tc>
                  <a:txBody>
                    <a:bodyPr/>
                    <a:lstStyle/>
                    <a:p>
                      <a:pPr algn="l"/>
                      <a:r>
                        <a:rPr sz="750">
                          <a:solidFill>
                            <a:srgbClr val="3A4356"/>
                          </a:solidFill>
                        </a:rPr>
                        <a:t>ECU PCBA 85 comp.</a:t>
                      </a:r>
                    </a:p>
                  </a:txBody>
                  <a:tcPr>
                    <a:solidFill>
                      <a:srgbClr val="FFFFFF"/>
                    </a:solidFill>
                  </a:tcPr>
                </a:tc>
                <a:tc>
                  <a:txBody>
                    <a:bodyPr/>
                    <a:lstStyle/>
                    <a:p>
                      <a:pPr algn="l"/>
                      <a:r>
                        <a:rPr sz="750">
                          <a:solidFill>
                            <a:srgbClr val="3A4356"/>
                          </a:solidFill>
                        </a:rPr>
                        <a:t>SMT + TH · 4 TH joints</a:t>
                      </a:r>
                    </a:p>
                  </a:txBody>
                  <a:tcPr>
                    <a:solidFill>
                      <a:srgbClr val="FFFFFF"/>
                    </a:solidFill>
                  </a:tcPr>
                </a:tc>
                <a:tc>
                  <a:txBody>
                    <a:bodyPr/>
                    <a:lstStyle/>
                    <a:p>
                      <a:pPr algn="l"/>
                      <a:r>
                        <a:rPr sz="750" b="1">
                          <a:solidFill>
                            <a:srgbClr val="2A7F50"/>
                          </a:solidFill>
                        </a:rPr>
                        <a:t>£ 32.60</a:t>
                      </a:r>
                    </a:p>
                  </a:txBody>
                  <a:tcPr>
                    <a:solidFill>
                      <a:srgbClr val="FFFFFF"/>
                    </a:solidFill>
                  </a:tcPr>
                </a:tc>
                <a:tc>
                  <a:txBody>
                    <a:bodyPr/>
                    <a:lstStyle/>
                    <a:p>
                      <a:pPr algn="l"/>
                      <a:r>
                        <a:rPr sz="750">
                          <a:solidFill>
                            <a:srgbClr val="3A4356"/>
                          </a:solidFill>
                        </a:rPr>
                        <a:t>Labour 38% — convert TH to SMT saves £4</a:t>
                      </a:r>
                    </a:p>
                  </a:txBody>
                  <a:tcPr>
                    <a:solidFill>
                      <a:srgbClr val="FFFFFF"/>
                    </a:solidFill>
                  </a:tcPr>
                </a:tc>
                <a:tc>
                  <a:txBody>
                    <a:bodyPr/>
                    <a:lstStyle/>
                    <a:p>
                      <a:pPr algn="l"/>
                      <a:r>
                        <a:rPr sz="750">
                          <a:solidFill>
                            <a:srgbClr val="3A4356"/>
                          </a:solidFill>
                        </a:rPr>
                        <a:t>Major: high TH labour</a:t>
                      </a:r>
                    </a:p>
                  </a:txBody>
                  <a:tcPr>
                    <a:solidFill>
                      <a:srgbClr val="FFFFFF"/>
                    </a:solidFill>
                  </a:tcPr>
                </a:tc>
              </a:tr>
              <a:tr h="397348">
                <a:tc>
                  <a:txBody>
                    <a:bodyPr/>
                    <a:lstStyle/>
                    <a:p>
                      <a:pPr algn="l"/>
                      <a:r>
                        <a:rPr sz="750" b="1">
                          <a:solidFill>
                            <a:srgbClr val="1D6FB8"/>
                          </a:solidFill>
                        </a:rPr>
                        <a:t>🔗 Wiring Harness</a:t>
                      </a:r>
                    </a:p>
                  </a:txBody>
                  <a:tcPr>
                    <a:solidFill>
                      <a:srgbClr val="F7F9FC"/>
                    </a:solidFill>
                  </a:tcPr>
                </a:tc>
                <a:tc>
                  <a:txBody>
                    <a:bodyPr/>
                    <a:lstStyle/>
                    <a:p>
                      <a:pPr algn="l"/>
                      <a:r>
                        <a:rPr sz="750">
                          <a:solidFill>
                            <a:srgbClr val="3A4356"/>
                          </a:solidFill>
                        </a:rPr>
                        <a:t>Door Module Harness</a:t>
                      </a:r>
                    </a:p>
                  </a:txBody>
                  <a:tcPr>
                    <a:solidFill>
                      <a:srgbClr val="F7F9FC"/>
                    </a:solidFill>
                  </a:tcPr>
                </a:tc>
                <a:tc>
                  <a:txBody>
                    <a:bodyPr/>
                    <a:lstStyle/>
                    <a:p>
                      <a:pPr algn="l"/>
                      <a:r>
                        <a:rPr sz="750">
                          <a:solidFill>
                            <a:srgbClr val="3A4356"/>
                          </a:solidFill>
                        </a:rPr>
                        <a:t>24 circuits · 2.1m avg</a:t>
                      </a:r>
                    </a:p>
                  </a:txBody>
                  <a:tcPr>
                    <a:solidFill>
                      <a:srgbClr val="F7F9FC"/>
                    </a:solidFill>
                  </a:tcPr>
                </a:tc>
                <a:tc>
                  <a:txBody>
                    <a:bodyPr/>
                    <a:lstStyle/>
                    <a:p>
                      <a:pPr algn="l"/>
                      <a:r>
                        <a:rPr sz="750" b="1">
                          <a:solidFill>
                            <a:srgbClr val="2A7F50"/>
                          </a:solidFill>
                        </a:rPr>
                        <a:t>£ 11.80</a:t>
                      </a:r>
                    </a:p>
                  </a:txBody>
                  <a:tcPr>
                    <a:solidFill>
                      <a:srgbClr val="F7F9FC"/>
                    </a:solidFill>
                  </a:tcPr>
                </a:tc>
                <a:tc>
                  <a:txBody>
                    <a:bodyPr/>
                    <a:lstStyle/>
                    <a:p>
                      <a:pPr algn="l"/>
                      <a:r>
                        <a:rPr sz="750">
                          <a:solidFill>
                            <a:srgbClr val="3A4356"/>
                          </a:solidFill>
                        </a:rPr>
                        <a:t>Labour 58% — automation saves 20%</a:t>
                      </a:r>
                    </a:p>
                  </a:txBody>
                  <a:tcPr>
                    <a:solidFill>
                      <a:srgbClr val="F7F9FC"/>
                    </a:solidFill>
                  </a:tcPr>
                </a:tc>
                <a:tc>
                  <a:txBody>
                    <a:bodyPr/>
                    <a:lstStyle/>
                    <a:p>
                      <a:pPr algn="l"/>
                      <a:r>
                        <a:rPr sz="750">
                          <a:solidFill>
                            <a:srgbClr val="3A4356"/>
                          </a:solidFill>
                        </a:rPr>
                        <a:t>Critical: labour &gt;50%</a:t>
                      </a:r>
                    </a:p>
                  </a:txBody>
                  <a:tcPr>
                    <a:solidFill>
                      <a:srgbClr val="F7F9FC"/>
                    </a:solidFill>
                  </a:tcPr>
                </a:tc>
              </a:tr>
              <a:tr h="397348">
                <a:tc>
                  <a:txBody>
                    <a:bodyPr/>
                    <a:lstStyle/>
                    <a:p>
                      <a:pPr algn="l"/>
                      <a:r>
                        <a:rPr sz="750" b="1">
                          <a:solidFill>
                            <a:srgbClr val="1D6FB8"/>
                          </a:solidFill>
                        </a:rPr>
                        <a:t>🪢 Composites</a:t>
                      </a:r>
                    </a:p>
                  </a:txBody>
                  <a:tcPr>
                    <a:solidFill>
                      <a:srgbClr val="FFFFFF"/>
                    </a:solidFill>
                  </a:tcPr>
                </a:tc>
                <a:tc>
                  <a:txBody>
                    <a:bodyPr/>
                    <a:lstStyle/>
                    <a:p>
                      <a:pPr algn="l"/>
                      <a:r>
                        <a:rPr sz="750">
                          <a:solidFill>
                            <a:srgbClr val="3A4356"/>
                          </a:solidFill>
                        </a:rPr>
                        <a:t>CFRP Floor Pan</a:t>
                      </a:r>
                    </a:p>
                  </a:txBody>
                  <a:tcPr>
                    <a:solidFill>
                      <a:srgbClr val="FFFFFF"/>
                    </a:solidFill>
                  </a:tcPr>
                </a:tc>
                <a:tc>
                  <a:txBody>
                    <a:bodyPr/>
                    <a:lstStyle/>
                    <a:p>
                      <a:pPr algn="l"/>
                      <a:r>
                        <a:rPr sz="750">
                          <a:solidFill>
                            <a:srgbClr val="3A4356"/>
                          </a:solidFill>
                        </a:rPr>
                        <a:t>Prepreg CFRP · 1.8 kg · autoclave</a:t>
                      </a:r>
                    </a:p>
                  </a:txBody>
                  <a:tcPr>
                    <a:solidFill>
                      <a:srgbClr val="FFFFFF"/>
                    </a:solidFill>
                  </a:tcPr>
                </a:tc>
                <a:tc>
                  <a:txBody>
                    <a:bodyPr/>
                    <a:lstStyle/>
                    <a:p>
                      <a:pPr algn="l"/>
                      <a:r>
                        <a:rPr sz="750" b="1">
                          <a:solidFill>
                            <a:srgbClr val="2A7F50"/>
                          </a:solidFill>
                        </a:rPr>
                        <a:t>£ 185.00</a:t>
                      </a:r>
                    </a:p>
                  </a:txBody>
                  <a:tcPr>
                    <a:solidFill>
                      <a:srgbClr val="FFFFFF"/>
                    </a:solidFill>
                  </a:tcPr>
                </a:tc>
                <a:tc>
                  <a:txBody>
                    <a:bodyPr/>
                    <a:lstStyle/>
                    <a:p>
                      <a:pPr algn="l"/>
                      <a:r>
                        <a:rPr sz="750">
                          <a:solidFill>
                            <a:srgbClr val="3A4356"/>
                          </a:solidFill>
                        </a:rPr>
                        <a:t>Labour 44% — evaluate ATL/AFP</a:t>
                      </a:r>
                    </a:p>
                  </a:txBody>
                  <a:tcPr>
                    <a:solidFill>
                      <a:srgbClr val="FFFFFF"/>
                    </a:solidFill>
                  </a:tcPr>
                </a:tc>
                <a:tc>
                  <a:txBody>
                    <a:bodyPr/>
                    <a:lstStyle/>
                    <a:p>
                      <a:pPr algn="l"/>
                      <a:r>
                        <a:rPr sz="750">
                          <a:solidFill>
                            <a:srgbClr val="3A4356"/>
                          </a:solidFill>
                        </a:rPr>
                        <a:t>Major: manual layup cost</a:t>
                      </a:r>
                    </a:p>
                  </a:txBody>
                  <a:tcPr>
                    <a:solidFill>
                      <a:srgbClr val="FFFFFF"/>
                    </a:solidFill>
                  </a:tcPr>
                </a:tc>
              </a:tr>
              <a:tr h="397352">
                <a:tc>
                  <a:txBody>
                    <a:bodyPr/>
                    <a:lstStyle/>
                    <a:p>
                      <a:pPr algn="l"/>
                      <a:r>
                        <a:rPr sz="750" b="1">
                          <a:solidFill>
                            <a:srgbClr val="1D6FB8"/>
                          </a:solidFill>
                        </a:rPr>
                        <a:t>🔨 Forging</a:t>
                      </a:r>
                    </a:p>
                  </a:txBody>
                  <a:tcPr>
                    <a:solidFill>
                      <a:srgbClr val="F7F9FC"/>
                    </a:solidFill>
                  </a:tcPr>
                </a:tc>
                <a:tc>
                  <a:txBody>
                    <a:bodyPr/>
                    <a:lstStyle/>
                    <a:p>
                      <a:pPr algn="l"/>
                      <a:r>
                        <a:rPr sz="750">
                          <a:solidFill>
                            <a:srgbClr val="3A4356"/>
                          </a:solidFill>
                        </a:rPr>
                        <a:t>Steel Control Arm</a:t>
                      </a:r>
                    </a:p>
                  </a:txBody>
                  <a:tcPr>
                    <a:solidFill>
                      <a:srgbClr val="F7F9FC"/>
                    </a:solidFill>
                  </a:tcPr>
                </a:tc>
                <a:tc>
                  <a:txBody>
                    <a:bodyPr/>
                    <a:lstStyle/>
                    <a:p>
                      <a:pPr algn="l"/>
                      <a:r>
                        <a:rPr sz="750">
                          <a:solidFill>
                            <a:srgbClr val="3A4356"/>
                          </a:solidFill>
                        </a:rPr>
                        <a:t>42CrMo4 · 2.1 kg · 80k/yr</a:t>
                      </a:r>
                    </a:p>
                  </a:txBody>
                  <a:tcPr>
                    <a:solidFill>
                      <a:srgbClr val="F7F9FC"/>
                    </a:solidFill>
                  </a:tcPr>
                </a:tc>
                <a:tc>
                  <a:txBody>
                    <a:bodyPr/>
                    <a:lstStyle/>
                    <a:p>
                      <a:pPr algn="l"/>
                      <a:r>
                        <a:rPr sz="750" b="1">
                          <a:solidFill>
                            <a:srgbClr val="2A7F50"/>
                          </a:solidFill>
                        </a:rPr>
                        <a:t>£  9.20</a:t>
                      </a:r>
                    </a:p>
                  </a:txBody>
                  <a:tcPr>
                    <a:solidFill>
                      <a:srgbClr val="F7F9FC"/>
                    </a:solidFill>
                  </a:tcPr>
                </a:tc>
                <a:tc>
                  <a:txBody>
                    <a:bodyPr/>
                    <a:lstStyle/>
                    <a:p>
                      <a:pPr algn="l"/>
                      <a:r>
                        <a:rPr sz="750">
                          <a:solidFill>
                            <a:srgbClr val="3A4356"/>
                          </a:solidFill>
                        </a:rPr>
                        <a:t>Die 11% — acceptable at volume</a:t>
                      </a:r>
                    </a:p>
                  </a:txBody>
                  <a:tcPr>
                    <a:solidFill>
                      <a:srgbClr val="F7F9FC"/>
                    </a:solidFill>
                  </a:tcPr>
                </a:tc>
                <a:tc>
                  <a:txBody>
                    <a:bodyPr/>
                    <a:lstStyle/>
                    <a:p>
                      <a:pPr algn="l"/>
                      <a:r>
                        <a:rPr sz="750">
                          <a:solidFill>
                            <a:srgbClr val="3A4356"/>
                          </a:solidFill>
                        </a:rPr>
                        <a:t>Good — closed-die efficient</a:t>
                      </a:r>
                    </a:p>
                  </a:txBody>
                  <a:tcPr>
                    <a:solidFill>
                      <a:srgbClr val="F7F9FC"/>
                    </a:solidFill>
                  </a:tcPr>
                </a:tc>
              </a:tr>
            </a:tbl>
          </a:graphicData>
        </a:graphic>
      </p:graphicFrame>
      <p:sp>
        <p:nvSpPr>
          <p:cNvPr id="12" name="Rectangle 11"/>
          <p:cNvSpPr/>
          <p:nvPr/>
        </p:nvSpPr>
        <p:spPr>
          <a:xfrm>
            <a:off x="411480" y="6327648"/>
            <a:ext cx="11384280" cy="329184"/>
          </a:xfrm>
          <a:prstGeom prst="rect">
            <a:avLst/>
          </a:prstGeom>
          <a:solidFill>
            <a:srgbClr val="FFFFFF"/>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6364224"/>
            <a:ext cx="11064240" cy="256032"/>
          </a:xfrm>
          <a:prstGeom prst="rect">
            <a:avLst/>
          </a:prstGeom>
          <a:noFill/>
        </p:spPr>
        <p:txBody>
          <a:bodyPr wrap="square">
            <a:spAutoFit/>
          </a:bodyPr>
          <a:lstStyle/>
          <a:p>
            <a:pPr algn="ctr"/>
            <a:r>
              <a:rPr sz="750" b="0" i="0">
                <a:solidFill>
                  <a:srgbClr val="686F7D"/>
                </a:solidFill>
              </a:rPr>
              <a:t>All costs in GBP  |  AI insights generated per part  |  DFM/DFA score per part  |  Export to 6-sheet Excel or PDF  |  Supplier quote comparison available for each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86F7D"/>
                </a:solidFill>
              </a:rPr>
              <a:t>SLIDE 17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REPORTING &amp; COLLABORATION</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Getting the Number Out of the Room</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Reports people can act on, and one shared baseline for the whole team.</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86F7D"/>
                </a:solidFill>
              </a:rPr>
              <a:t>CostVision — AI-Powered Should-Cost Intelligence  |  Avinash Bhosale  |  Confidential</a:t>
            </a:r>
          </a:p>
        </p:txBody>
      </p:sp>
      <p:sp>
        <p:nvSpPr>
          <p:cNvPr id="11" name="Rectangle 10"/>
          <p:cNvSpPr/>
          <p:nvPr/>
        </p:nvSpPr>
        <p:spPr>
          <a:xfrm>
            <a:off x="411480" y="1810512"/>
            <a:ext cx="3749039" cy="196596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10512"/>
            <a:ext cx="54864" cy="1965960"/>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1901952"/>
            <a:ext cx="3566159" cy="310896"/>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Excel — Six Sheets</a:t>
            </a:r>
          </a:p>
        </p:txBody>
      </p:sp>
      <p:sp>
        <p:nvSpPr>
          <p:cNvPr id="14" name="TextBox 13"/>
          <p:cNvSpPr txBox="1"/>
          <p:nvPr/>
        </p:nvSpPr>
        <p:spPr>
          <a:xfrm>
            <a:off x="539496" y="2194560"/>
            <a:ext cx="3566159" cy="1472184"/>
          </a:xfrm>
          <a:prstGeom prst="rect">
            <a:avLst/>
          </a:prstGeom>
          <a:noFill/>
        </p:spPr>
        <p:txBody>
          <a:bodyPr wrap="square">
            <a:spAutoFit/>
          </a:bodyPr>
          <a:lstStyle/>
          <a:p>
            <a:pPr algn="l"/>
            <a:r>
              <a:rPr sz="850" b="0" i="0">
                <a:solidFill>
                  <a:srgbClr val="3A4356"/>
                </a:solidFill>
              </a:rPr>
              <a:t>The whole build-up, not just the total.
Summary · material · every operation ·
machine rates · labour rates ·
and a sheet recording every assumption.</a:t>
            </a:r>
          </a:p>
        </p:txBody>
      </p:sp>
      <p:sp>
        <p:nvSpPr>
          <p:cNvPr id="15" name="Rectangle 14"/>
          <p:cNvSpPr/>
          <p:nvPr/>
        </p:nvSpPr>
        <p:spPr>
          <a:xfrm>
            <a:off x="4270247" y="1810512"/>
            <a:ext cx="3749039" cy="196596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70247" y="1810512"/>
            <a:ext cx="54864" cy="1965960"/>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98263" y="1901952"/>
            <a:ext cx="3566159" cy="310896"/>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PDF Report</a:t>
            </a:r>
          </a:p>
        </p:txBody>
      </p:sp>
      <p:sp>
        <p:nvSpPr>
          <p:cNvPr id="18" name="TextBox 17"/>
          <p:cNvSpPr txBox="1"/>
          <p:nvPr/>
        </p:nvSpPr>
        <p:spPr>
          <a:xfrm>
            <a:off x="4398263" y="2194560"/>
            <a:ext cx="3566159" cy="1472184"/>
          </a:xfrm>
          <a:prstGeom prst="rect">
            <a:avLst/>
          </a:prstGeom>
          <a:noFill/>
        </p:spPr>
        <p:txBody>
          <a:bodyPr wrap="square">
            <a:spAutoFit/>
          </a:bodyPr>
          <a:lstStyle/>
          <a:p>
            <a:pPr algn="l"/>
            <a:r>
              <a:rPr sz="850" b="0" i="0">
                <a:solidFill>
                  <a:srgbClr val="3A4356"/>
                </a:solidFill>
              </a:rPr>
              <a:t>The version you send out.
Cover with the part photo, the cost summary,
the operation-by-operation build,
and the savings and DFM findings.</a:t>
            </a:r>
          </a:p>
        </p:txBody>
      </p:sp>
      <p:sp>
        <p:nvSpPr>
          <p:cNvPr id="19" name="Rectangle 18"/>
          <p:cNvSpPr/>
          <p:nvPr/>
        </p:nvSpPr>
        <p:spPr>
          <a:xfrm>
            <a:off x="8129014" y="1810512"/>
            <a:ext cx="3749039" cy="196596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29014" y="1810512"/>
            <a:ext cx="54864" cy="1965960"/>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57030" y="1901952"/>
            <a:ext cx="3566159" cy="310896"/>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One Shared Baseline</a:t>
            </a:r>
          </a:p>
        </p:txBody>
      </p:sp>
      <p:sp>
        <p:nvSpPr>
          <p:cNvPr id="22" name="TextBox 21"/>
          <p:cNvSpPr txBox="1"/>
          <p:nvPr/>
        </p:nvSpPr>
        <p:spPr>
          <a:xfrm>
            <a:off x="8257030" y="2194560"/>
            <a:ext cx="3566159" cy="1472184"/>
          </a:xfrm>
          <a:prstGeom prst="rect">
            <a:avLst/>
          </a:prstGeom>
          <a:noFill/>
        </p:spPr>
        <p:txBody>
          <a:bodyPr wrap="square">
            <a:spAutoFit/>
          </a:bodyPr>
          <a:lstStyle/>
          <a:p>
            <a:pPr algn="l"/>
            <a:r>
              <a:rPr sz="850" b="0" i="0">
                <a:solidFill>
                  <a:srgbClr val="3A4356"/>
                </a:solidFill>
              </a:rPr>
              <a:t>Everyone works from the same numbers.
Saved centrally, not on a laptop.
No arguing over which spreadsheet is current.</a:t>
            </a:r>
          </a:p>
        </p:txBody>
      </p:sp>
      <p:sp>
        <p:nvSpPr>
          <p:cNvPr id="23" name="Rectangle 22"/>
          <p:cNvSpPr/>
          <p:nvPr/>
        </p:nvSpPr>
        <p:spPr>
          <a:xfrm>
            <a:off x="411480" y="3886200"/>
            <a:ext cx="3749039" cy="196596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3886200"/>
            <a:ext cx="54864" cy="1965960"/>
          </a:xfrm>
          <a:prstGeom prst="rect">
            <a:avLst/>
          </a:prstGeom>
          <a:solidFill>
            <a:srgbClr val="9965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9496" y="3977640"/>
            <a:ext cx="3566159" cy="310896"/>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Part Photos</a:t>
            </a:r>
          </a:p>
        </p:txBody>
      </p:sp>
      <p:sp>
        <p:nvSpPr>
          <p:cNvPr id="26" name="TextBox 25"/>
          <p:cNvSpPr txBox="1"/>
          <p:nvPr/>
        </p:nvSpPr>
        <p:spPr>
          <a:xfrm>
            <a:off x="539496" y="4270248"/>
            <a:ext cx="3566159" cy="1472184"/>
          </a:xfrm>
          <a:prstGeom prst="rect">
            <a:avLst/>
          </a:prstGeom>
          <a:noFill/>
        </p:spPr>
        <p:txBody>
          <a:bodyPr wrap="square">
            <a:spAutoFit/>
          </a:bodyPr>
          <a:lstStyle/>
          <a:p>
            <a:pPr algn="l"/>
            <a:r>
              <a:rPr sz="850" b="0" i="0">
                <a:solidFill>
                  <a:srgbClr val="3A4356"/>
                </a:solidFill>
              </a:rPr>
              <a:t>Attach a photo to any calculation.
It appears on the report cover — and the
AI can cost from the photo itself.</a:t>
            </a:r>
          </a:p>
        </p:txBody>
      </p:sp>
      <p:sp>
        <p:nvSpPr>
          <p:cNvPr id="27" name="Rectangle 26"/>
          <p:cNvSpPr/>
          <p:nvPr/>
        </p:nvSpPr>
        <p:spPr>
          <a:xfrm>
            <a:off x="4270247" y="3886200"/>
            <a:ext cx="3749039" cy="196596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270247" y="3886200"/>
            <a:ext cx="54864" cy="1965960"/>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98263" y="3977640"/>
            <a:ext cx="3566159" cy="310896"/>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Secure Access</a:t>
            </a:r>
          </a:p>
        </p:txBody>
      </p:sp>
      <p:sp>
        <p:nvSpPr>
          <p:cNvPr id="30" name="TextBox 29"/>
          <p:cNvSpPr txBox="1"/>
          <p:nvPr/>
        </p:nvSpPr>
        <p:spPr>
          <a:xfrm>
            <a:off x="4398263" y="4270248"/>
            <a:ext cx="3566159" cy="1472184"/>
          </a:xfrm>
          <a:prstGeom prst="rect">
            <a:avLst/>
          </a:prstGeom>
          <a:noFill/>
        </p:spPr>
        <p:txBody>
          <a:bodyPr wrap="square">
            <a:spAutoFit/>
          </a:bodyPr>
          <a:lstStyle/>
          <a:p>
            <a:pPr algn="l"/>
            <a:r>
              <a:rPr sz="850" b="0" i="0">
                <a:solidFill>
                  <a:srgbClr val="3A4356"/>
                </a:solidFill>
              </a:rPr>
              <a:t>Enterprise sign-in, as you would expect.
Email verification, password reset,
and sign-in attempts capped.</a:t>
            </a:r>
          </a:p>
        </p:txBody>
      </p:sp>
      <p:sp>
        <p:nvSpPr>
          <p:cNvPr id="31" name="Rectangle 30"/>
          <p:cNvSpPr/>
          <p:nvPr/>
        </p:nvSpPr>
        <p:spPr>
          <a:xfrm>
            <a:off x="8129014" y="3886200"/>
            <a:ext cx="3749039" cy="196596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29014" y="3886200"/>
            <a:ext cx="54864" cy="1965960"/>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57030" y="3977640"/>
            <a:ext cx="3566159" cy="310896"/>
          </a:xfrm>
          <a:prstGeom prst="rect">
            <a:avLst/>
          </a:prstGeom>
          <a:noFill/>
        </p:spPr>
        <p:txBody>
          <a:bodyPr wrap="square">
            <a:spAutoFit/>
          </a:bodyPr>
          <a:lstStyle/>
          <a:p>
            <a:pPr algn="l"/>
            <a:r>
              <a:rPr sz="950" b="1" i="0">
                <a:solidFill>
                  <a:srgbClr val="16325C"/>
                </a:solidFill>
                <a:latin typeface="Segoe UI Emoji"/>
              </a:rPr>
              <a:t>❓</a:t>
            </a:r>
            <a:r>
              <a:rPr sz="950" b="1" i="0">
                <a:solidFill>
                  <a:srgbClr val="16325C"/>
                </a:solidFill>
              </a:rPr>
              <a:t> Built-In Help</a:t>
            </a:r>
          </a:p>
        </p:txBody>
      </p:sp>
      <p:sp>
        <p:nvSpPr>
          <p:cNvPr id="34" name="TextBox 33"/>
          <p:cNvSpPr txBox="1"/>
          <p:nvPr/>
        </p:nvSpPr>
        <p:spPr>
          <a:xfrm>
            <a:off x="8257030" y="4270248"/>
            <a:ext cx="3566159" cy="1472184"/>
          </a:xfrm>
          <a:prstGeom prst="rect">
            <a:avLst/>
          </a:prstGeom>
          <a:noFill/>
        </p:spPr>
        <p:txBody>
          <a:bodyPr wrap="square">
            <a:spAutoFit/>
          </a:bodyPr>
          <a:lstStyle/>
          <a:p>
            <a:pPr algn="l"/>
            <a:r>
              <a:rPr sz="850" b="0" i="0">
                <a:solidFill>
                  <a:srgbClr val="3A4356"/>
                </a:solidFill>
              </a:rPr>
              <a:t>Nobody needs training to start.
Getting started, the AI agent, CAD and photo,
a glossary and troubleshooting — all in the app.</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86F7D"/>
                </a:solidFill>
              </a:rPr>
              <a:t>SLIDE 18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VALUE DELIVERED</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What This Is Worth</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The same claims, in numbers a finance team recognises.</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86F7D"/>
                </a:solidFill>
              </a:rPr>
              <a:t>CostVision — AI-Powered Should-Cost Intelligence  |  Avinash Bhosale  |  Confidential</a:t>
            </a:r>
          </a:p>
        </p:txBody>
      </p:sp>
      <p:sp>
        <p:nvSpPr>
          <p:cNvPr id="11" name="Rectangle 10"/>
          <p:cNvSpPr/>
          <p:nvPr/>
        </p:nvSpPr>
        <p:spPr>
          <a:xfrm>
            <a:off x="411480" y="1810512"/>
            <a:ext cx="2194560" cy="100584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901952"/>
            <a:ext cx="2194560" cy="502920"/>
          </a:xfrm>
          <a:prstGeom prst="rect">
            <a:avLst/>
          </a:prstGeom>
          <a:noFill/>
        </p:spPr>
        <p:txBody>
          <a:bodyPr wrap="square">
            <a:spAutoFit/>
          </a:bodyPr>
          <a:lstStyle/>
          <a:p>
            <a:pPr algn="ctr"/>
            <a:r>
              <a:rPr sz="2800" b="1" i="0">
                <a:solidFill>
                  <a:srgbClr val="1D6FB8"/>
                </a:solidFill>
              </a:rPr>
              <a:t>70–90%</a:t>
            </a:r>
          </a:p>
        </p:txBody>
      </p:sp>
      <p:sp>
        <p:nvSpPr>
          <p:cNvPr id="13" name="TextBox 12"/>
          <p:cNvSpPr txBox="1"/>
          <p:nvPr/>
        </p:nvSpPr>
        <p:spPr>
          <a:xfrm>
            <a:off x="411480" y="2377440"/>
            <a:ext cx="2194560" cy="347472"/>
          </a:xfrm>
          <a:prstGeom prst="rect">
            <a:avLst/>
          </a:prstGeom>
          <a:noFill/>
        </p:spPr>
        <p:txBody>
          <a:bodyPr wrap="square">
            <a:spAutoFit/>
          </a:bodyPr>
          <a:lstStyle/>
          <a:p>
            <a:pPr algn="ctr"/>
            <a:r>
              <a:rPr sz="800" b="0" i="0">
                <a:solidFill>
                  <a:srgbClr val="3A4356"/>
                </a:solidFill>
              </a:rPr>
              <a:t>Reduction in costing time</a:t>
            </a:r>
          </a:p>
        </p:txBody>
      </p:sp>
      <p:sp>
        <p:nvSpPr>
          <p:cNvPr id="14" name="Rectangle 13"/>
          <p:cNvSpPr/>
          <p:nvPr/>
        </p:nvSpPr>
        <p:spPr>
          <a:xfrm>
            <a:off x="2697480" y="1810512"/>
            <a:ext cx="2194560" cy="100584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697480" y="1901952"/>
            <a:ext cx="2194560" cy="502920"/>
          </a:xfrm>
          <a:prstGeom prst="rect">
            <a:avLst/>
          </a:prstGeom>
          <a:noFill/>
        </p:spPr>
        <p:txBody>
          <a:bodyPr wrap="square">
            <a:spAutoFit/>
          </a:bodyPr>
          <a:lstStyle/>
          <a:p>
            <a:pPr algn="ctr"/>
            <a:r>
              <a:rPr sz="2800" b="1" i="0">
                <a:solidFill>
                  <a:srgbClr val="2A7F50"/>
                </a:solidFill>
              </a:rPr>
              <a:t>&lt;0.01%</a:t>
            </a:r>
          </a:p>
        </p:txBody>
      </p:sp>
      <p:sp>
        <p:nvSpPr>
          <p:cNvPr id="16" name="TextBox 15"/>
          <p:cNvSpPr txBox="1"/>
          <p:nvPr/>
        </p:nvSpPr>
        <p:spPr>
          <a:xfrm>
            <a:off x="2697480" y="2377440"/>
            <a:ext cx="2194560" cy="347472"/>
          </a:xfrm>
          <a:prstGeom prst="rect">
            <a:avLst/>
          </a:prstGeom>
          <a:noFill/>
        </p:spPr>
        <p:txBody>
          <a:bodyPr wrap="square">
            <a:spAutoFit/>
          </a:bodyPr>
          <a:lstStyle/>
          <a:p>
            <a:pPr algn="ctr"/>
            <a:r>
              <a:rPr sz="800" b="0" i="0">
                <a:solidFill>
                  <a:srgbClr val="3A4356"/>
                </a:solidFill>
              </a:rPr>
              <a:t>Engine vs hand calc, reference part</a:t>
            </a:r>
          </a:p>
        </p:txBody>
      </p:sp>
      <p:sp>
        <p:nvSpPr>
          <p:cNvPr id="17" name="Rectangle 16"/>
          <p:cNvSpPr/>
          <p:nvPr/>
        </p:nvSpPr>
        <p:spPr>
          <a:xfrm>
            <a:off x="4983480" y="1810512"/>
            <a:ext cx="2194560" cy="100584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983480" y="1901952"/>
            <a:ext cx="2194560" cy="502920"/>
          </a:xfrm>
          <a:prstGeom prst="rect">
            <a:avLst/>
          </a:prstGeom>
          <a:noFill/>
        </p:spPr>
        <p:txBody>
          <a:bodyPr wrap="square">
            <a:spAutoFit/>
          </a:bodyPr>
          <a:lstStyle/>
          <a:p>
            <a:pPr algn="ctr"/>
            <a:r>
              <a:rPr sz="2800" b="1" i="0">
                <a:solidFill>
                  <a:srgbClr val="99651A"/>
                </a:solidFill>
              </a:rPr>
              <a:t>15–25%</a:t>
            </a:r>
          </a:p>
        </p:txBody>
      </p:sp>
      <p:sp>
        <p:nvSpPr>
          <p:cNvPr id="19" name="TextBox 18"/>
          <p:cNvSpPr txBox="1"/>
          <p:nvPr/>
        </p:nvSpPr>
        <p:spPr>
          <a:xfrm>
            <a:off x="4983480" y="2377440"/>
            <a:ext cx="2194560" cy="347472"/>
          </a:xfrm>
          <a:prstGeom prst="rect">
            <a:avLst/>
          </a:prstGeom>
          <a:noFill/>
        </p:spPr>
        <p:txBody>
          <a:bodyPr wrap="square">
            <a:spAutoFit/>
          </a:bodyPr>
          <a:lstStyle/>
          <a:p>
            <a:pPr algn="ctr"/>
            <a:r>
              <a:rPr sz="800" b="0" i="0">
                <a:solidFill>
                  <a:srgbClr val="3A4356"/>
                </a:solidFill>
              </a:rPr>
              <a:t>Typical supplier price reduction</a:t>
            </a:r>
          </a:p>
        </p:txBody>
      </p:sp>
      <p:sp>
        <p:nvSpPr>
          <p:cNvPr id="20" name="Rectangle 19"/>
          <p:cNvSpPr/>
          <p:nvPr/>
        </p:nvSpPr>
        <p:spPr>
          <a:xfrm>
            <a:off x="7269480" y="1810512"/>
            <a:ext cx="2194560" cy="100584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69480" y="1901952"/>
            <a:ext cx="2194560" cy="502920"/>
          </a:xfrm>
          <a:prstGeom prst="rect">
            <a:avLst/>
          </a:prstGeom>
          <a:noFill/>
        </p:spPr>
        <p:txBody>
          <a:bodyPr wrap="square">
            <a:spAutoFit/>
          </a:bodyPr>
          <a:lstStyle/>
          <a:p>
            <a:pPr algn="ctr"/>
            <a:r>
              <a:rPr sz="2800" b="1" i="0">
                <a:solidFill>
                  <a:srgbClr val="6B3FA0"/>
                </a:solidFill>
              </a:rPr>
              <a:t>3×</a:t>
            </a:r>
          </a:p>
        </p:txBody>
      </p:sp>
      <p:sp>
        <p:nvSpPr>
          <p:cNvPr id="22" name="TextBox 21"/>
          <p:cNvSpPr txBox="1"/>
          <p:nvPr/>
        </p:nvSpPr>
        <p:spPr>
          <a:xfrm>
            <a:off x="7269480" y="2377440"/>
            <a:ext cx="2194560" cy="347472"/>
          </a:xfrm>
          <a:prstGeom prst="rect">
            <a:avLst/>
          </a:prstGeom>
          <a:noFill/>
        </p:spPr>
        <p:txBody>
          <a:bodyPr wrap="square">
            <a:spAutoFit/>
          </a:bodyPr>
          <a:lstStyle/>
          <a:p>
            <a:pPr algn="ctr"/>
            <a:r>
              <a:rPr sz="800" b="0" i="0">
                <a:solidFill>
                  <a:srgbClr val="3A4356"/>
                </a:solidFill>
              </a:rPr>
              <a:t>Faster sourcing decisions</a:t>
            </a:r>
          </a:p>
        </p:txBody>
      </p:sp>
      <p:sp>
        <p:nvSpPr>
          <p:cNvPr id="23" name="Rectangle 22"/>
          <p:cNvSpPr/>
          <p:nvPr/>
        </p:nvSpPr>
        <p:spPr>
          <a:xfrm>
            <a:off x="9555480" y="1810512"/>
            <a:ext cx="2194560" cy="100584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555480" y="1901952"/>
            <a:ext cx="2194560" cy="502920"/>
          </a:xfrm>
          <a:prstGeom prst="rect">
            <a:avLst/>
          </a:prstGeom>
          <a:noFill/>
        </p:spPr>
        <p:txBody>
          <a:bodyPr wrap="square">
            <a:spAutoFit/>
          </a:bodyPr>
          <a:lstStyle/>
          <a:p>
            <a:pPr algn="ctr"/>
            <a:r>
              <a:rPr sz="2800" b="1" i="0">
                <a:solidFill>
                  <a:srgbClr val="2A7F50"/>
                </a:solidFill>
              </a:rPr>
              <a:t>£15M</a:t>
            </a:r>
          </a:p>
        </p:txBody>
      </p:sp>
      <p:sp>
        <p:nvSpPr>
          <p:cNvPr id="25" name="TextBox 24"/>
          <p:cNvSpPr txBox="1"/>
          <p:nvPr/>
        </p:nvSpPr>
        <p:spPr>
          <a:xfrm>
            <a:off x="9555480" y="2377440"/>
            <a:ext cx="2194560" cy="347472"/>
          </a:xfrm>
          <a:prstGeom prst="rect">
            <a:avLst/>
          </a:prstGeom>
          <a:noFill/>
        </p:spPr>
        <p:txBody>
          <a:bodyPr wrap="square">
            <a:spAutoFit/>
          </a:bodyPr>
          <a:lstStyle/>
          <a:p>
            <a:pPr algn="ctr"/>
            <a:r>
              <a:rPr sz="800" b="0" i="0">
                <a:solidFill>
                  <a:srgbClr val="3A4356"/>
                </a:solidFill>
              </a:rPr>
              <a:t>On £500M of spend, a 3% improvement</a:t>
            </a:r>
          </a:p>
        </p:txBody>
      </p:sp>
      <p:sp>
        <p:nvSpPr>
          <p:cNvPr id="26" name="Rectangle 25"/>
          <p:cNvSpPr/>
          <p:nvPr/>
        </p:nvSpPr>
        <p:spPr>
          <a:xfrm>
            <a:off x="411480" y="2971800"/>
            <a:ext cx="2773603" cy="16459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11480" y="2971800"/>
            <a:ext cx="54864" cy="1645920"/>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9496" y="3063240"/>
            <a:ext cx="2590723"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Speed</a:t>
            </a:r>
          </a:p>
        </p:txBody>
      </p:sp>
      <p:sp>
        <p:nvSpPr>
          <p:cNvPr id="29" name="TextBox 28"/>
          <p:cNvSpPr txBox="1"/>
          <p:nvPr/>
        </p:nvSpPr>
        <p:spPr>
          <a:xfrm>
            <a:off x="539496" y="3355848"/>
            <a:ext cx="2590723" cy="1152144"/>
          </a:xfrm>
          <a:prstGeom prst="rect">
            <a:avLst/>
          </a:prstGeom>
          <a:noFill/>
        </p:spPr>
        <p:txBody>
          <a:bodyPr wrap="square">
            <a:spAutoFit/>
          </a:bodyPr>
          <a:lstStyle/>
          <a:p>
            <a:pPr algn="l"/>
            <a:r>
              <a:rPr sz="950" b="0" i="0">
                <a:solidFill>
                  <a:srgbClr val="3A4356"/>
                </a:solidFill>
              </a:rPr>
              <a:t>Two to four weeks becomes ten minutes. Engineers spend the day deciding, not building spreadsheets.</a:t>
            </a:r>
          </a:p>
        </p:txBody>
      </p:sp>
      <p:sp>
        <p:nvSpPr>
          <p:cNvPr id="30" name="Rectangle 29"/>
          <p:cNvSpPr/>
          <p:nvPr/>
        </p:nvSpPr>
        <p:spPr>
          <a:xfrm>
            <a:off x="3276523" y="2971800"/>
            <a:ext cx="2773603" cy="16459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276523" y="2971800"/>
            <a:ext cx="54864" cy="1645920"/>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404539" y="3063240"/>
            <a:ext cx="2590723"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Accuracy</a:t>
            </a:r>
          </a:p>
        </p:txBody>
      </p:sp>
      <p:sp>
        <p:nvSpPr>
          <p:cNvPr id="33" name="TextBox 32"/>
          <p:cNvSpPr txBox="1"/>
          <p:nvPr/>
        </p:nvSpPr>
        <p:spPr>
          <a:xfrm>
            <a:off x="3404539" y="3355848"/>
            <a:ext cx="2590723" cy="1152144"/>
          </a:xfrm>
          <a:prstGeom prst="rect">
            <a:avLst/>
          </a:prstGeom>
          <a:noFill/>
        </p:spPr>
        <p:txBody>
          <a:bodyPr wrap="square">
            <a:spAutoFit/>
          </a:bodyPr>
          <a:lstStyle/>
          <a:p>
            <a:pPr algn="l"/>
            <a:r>
              <a:rPr sz="950" b="0" i="0">
                <a:solidFill>
                  <a:srgbClr val="3A4356"/>
                </a:solidFill>
              </a:rPr>
              <a:t>Built from the physics of the process, every rate on record. Accuracy is measured as real prices are logged — not claimed up front.</a:t>
            </a:r>
          </a:p>
        </p:txBody>
      </p:sp>
      <p:sp>
        <p:nvSpPr>
          <p:cNvPr id="34" name="Rectangle 33"/>
          <p:cNvSpPr/>
          <p:nvPr/>
        </p:nvSpPr>
        <p:spPr>
          <a:xfrm>
            <a:off x="6141567" y="2971800"/>
            <a:ext cx="2773603" cy="16459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141567" y="2971800"/>
            <a:ext cx="54864" cy="1645920"/>
          </a:xfrm>
          <a:prstGeom prst="rect">
            <a:avLst/>
          </a:prstGeom>
          <a:solidFill>
            <a:srgbClr val="9965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69583" y="3063240"/>
            <a:ext cx="2590723"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Negotiation</a:t>
            </a:r>
          </a:p>
        </p:txBody>
      </p:sp>
      <p:sp>
        <p:nvSpPr>
          <p:cNvPr id="37" name="TextBox 36"/>
          <p:cNvSpPr txBox="1"/>
          <p:nvPr/>
        </p:nvSpPr>
        <p:spPr>
          <a:xfrm>
            <a:off x="6269583" y="3355848"/>
            <a:ext cx="2590723" cy="1152144"/>
          </a:xfrm>
          <a:prstGeom prst="rect">
            <a:avLst/>
          </a:prstGeom>
          <a:noFill/>
        </p:spPr>
        <p:txBody>
          <a:bodyPr wrap="square">
            <a:spAutoFit/>
          </a:bodyPr>
          <a:lstStyle/>
          <a:p>
            <a:pPr algn="l"/>
            <a:r>
              <a:rPr sz="950" b="0" i="0">
                <a:solidFill>
                  <a:srgbClr val="3A4356"/>
                </a:solidFill>
              </a:rPr>
              <a:t>A floor price you can defend, part by part. Supplier margin becomes visible instead of assumed.</a:t>
            </a:r>
          </a:p>
        </p:txBody>
      </p:sp>
      <p:sp>
        <p:nvSpPr>
          <p:cNvPr id="38" name="Rectangle 37"/>
          <p:cNvSpPr/>
          <p:nvPr/>
        </p:nvSpPr>
        <p:spPr>
          <a:xfrm>
            <a:off x="9006611" y="2971800"/>
            <a:ext cx="2773603" cy="16459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006611" y="2971800"/>
            <a:ext cx="54864" cy="1645920"/>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34627" y="3063240"/>
            <a:ext cx="2590723"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Early Warning</a:t>
            </a:r>
          </a:p>
        </p:txBody>
      </p:sp>
      <p:sp>
        <p:nvSpPr>
          <p:cNvPr id="41" name="TextBox 40"/>
          <p:cNvSpPr txBox="1"/>
          <p:nvPr/>
        </p:nvSpPr>
        <p:spPr>
          <a:xfrm>
            <a:off x="9134627" y="3355848"/>
            <a:ext cx="2590723" cy="1152144"/>
          </a:xfrm>
          <a:prstGeom prst="rect">
            <a:avLst/>
          </a:prstGeom>
          <a:noFill/>
        </p:spPr>
        <p:txBody>
          <a:bodyPr wrap="square">
            <a:spAutoFit/>
          </a:bodyPr>
          <a:lstStyle/>
          <a:p>
            <a:pPr algn="l"/>
            <a:r>
              <a:rPr sz="950" b="0" i="0">
                <a:solidFill>
                  <a:srgbClr val="3A4356"/>
                </a:solidFill>
              </a:rPr>
              <a:t>Most of the cost is fixed at design. Problems surface while changing them is still free.</a:t>
            </a:r>
          </a:p>
        </p:txBody>
      </p:sp>
      <p:sp>
        <p:nvSpPr>
          <p:cNvPr id="42" name="Rectangle 41"/>
          <p:cNvSpPr/>
          <p:nvPr/>
        </p:nvSpPr>
        <p:spPr>
          <a:xfrm>
            <a:off x="411480" y="4709160"/>
            <a:ext cx="2773603" cy="16459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411480" y="4709160"/>
            <a:ext cx="54864" cy="1645920"/>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39496" y="4800600"/>
            <a:ext cx="2590723"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Where to Build It</a:t>
            </a:r>
          </a:p>
        </p:txBody>
      </p:sp>
      <p:sp>
        <p:nvSpPr>
          <p:cNvPr id="45" name="TextBox 44"/>
          <p:cNvSpPr txBox="1"/>
          <p:nvPr/>
        </p:nvSpPr>
        <p:spPr>
          <a:xfrm>
            <a:off x="539496" y="5093208"/>
            <a:ext cx="2590723" cy="1152144"/>
          </a:xfrm>
          <a:prstGeom prst="rect">
            <a:avLst/>
          </a:prstGeom>
          <a:noFill/>
        </p:spPr>
        <p:txBody>
          <a:bodyPr wrap="square">
            <a:spAutoFit/>
          </a:bodyPr>
          <a:lstStyle/>
          <a:p>
            <a:pPr algn="l"/>
            <a:r>
              <a:rPr sz="950" b="0" i="0">
                <a:solidFill>
                  <a:srgbClr val="3A4356"/>
                </a:solidFill>
              </a:rPr>
              <a:t>Compare 20 regions in one click. Make-vs-buy answered with real rates.</a:t>
            </a:r>
          </a:p>
        </p:txBody>
      </p:sp>
      <p:sp>
        <p:nvSpPr>
          <p:cNvPr id="46" name="Rectangle 45"/>
          <p:cNvSpPr/>
          <p:nvPr/>
        </p:nvSpPr>
        <p:spPr>
          <a:xfrm>
            <a:off x="3276523" y="4709160"/>
            <a:ext cx="2773603" cy="16459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3276523" y="4709160"/>
            <a:ext cx="54864" cy="1645920"/>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404539" y="4800600"/>
            <a:ext cx="2590723"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One Method</a:t>
            </a:r>
          </a:p>
        </p:txBody>
      </p:sp>
      <p:sp>
        <p:nvSpPr>
          <p:cNvPr id="49" name="TextBox 48"/>
          <p:cNvSpPr txBox="1"/>
          <p:nvPr/>
        </p:nvSpPr>
        <p:spPr>
          <a:xfrm>
            <a:off x="3404539" y="5093208"/>
            <a:ext cx="2590723" cy="1152144"/>
          </a:xfrm>
          <a:prstGeom prst="rect">
            <a:avLst/>
          </a:prstGeom>
          <a:noFill/>
        </p:spPr>
        <p:txBody>
          <a:bodyPr wrap="square">
            <a:spAutoFit/>
          </a:bodyPr>
          <a:lstStyle/>
          <a:p>
            <a:pPr algn="l"/>
            <a:r>
              <a:rPr sz="950" b="0" i="0">
                <a:solidFill>
                  <a:srgbClr val="3A4356"/>
                </a:solidFill>
              </a:rPr>
              <a:t>The same model everywhere, with every assumption on record. Leadership sees one set of numbers.</a:t>
            </a:r>
          </a:p>
        </p:txBody>
      </p:sp>
      <p:sp>
        <p:nvSpPr>
          <p:cNvPr id="50" name="Rectangle 49"/>
          <p:cNvSpPr/>
          <p:nvPr/>
        </p:nvSpPr>
        <p:spPr>
          <a:xfrm>
            <a:off x="6141567" y="4709160"/>
            <a:ext cx="2773603" cy="16459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141567" y="4709160"/>
            <a:ext cx="54864" cy="1645920"/>
          </a:xfrm>
          <a:prstGeom prst="rect">
            <a:avLst/>
          </a:prstGeom>
          <a:solidFill>
            <a:srgbClr val="9965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269583" y="4800600"/>
            <a:ext cx="2590723"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The Right Volume</a:t>
            </a:r>
          </a:p>
        </p:txBody>
      </p:sp>
      <p:sp>
        <p:nvSpPr>
          <p:cNvPr id="53" name="TextBox 52"/>
          <p:cNvSpPr txBox="1"/>
          <p:nvPr/>
        </p:nvSpPr>
        <p:spPr>
          <a:xfrm>
            <a:off x="6269583" y="5093208"/>
            <a:ext cx="2590723" cy="1152144"/>
          </a:xfrm>
          <a:prstGeom prst="rect">
            <a:avLst/>
          </a:prstGeom>
          <a:noFill/>
        </p:spPr>
        <p:txBody>
          <a:bodyPr wrap="square">
            <a:spAutoFit/>
          </a:bodyPr>
          <a:lstStyle/>
          <a:p>
            <a:pPr algn="l"/>
            <a:r>
              <a:rPr sz="950" b="0" i="0">
                <a:solidFill>
                  <a:srgbClr val="3A4356"/>
                </a:solidFill>
              </a:rPr>
              <a:t>See what the part costs as volume grows, and when a new process starts to pay.</a:t>
            </a:r>
          </a:p>
        </p:txBody>
      </p:sp>
      <p:sp>
        <p:nvSpPr>
          <p:cNvPr id="54" name="Rectangle 53"/>
          <p:cNvSpPr/>
          <p:nvPr/>
        </p:nvSpPr>
        <p:spPr>
          <a:xfrm>
            <a:off x="9006611" y="4709160"/>
            <a:ext cx="2773603" cy="16459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9006611" y="4709160"/>
            <a:ext cx="54864" cy="1645920"/>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134627" y="4800600"/>
            <a:ext cx="2590723" cy="310896"/>
          </a:xfrm>
          <a:prstGeom prst="rect">
            <a:avLst/>
          </a:prstGeom>
          <a:noFill/>
        </p:spPr>
        <p:txBody>
          <a:bodyPr wrap="square">
            <a:spAutoFit/>
          </a:bodyPr>
          <a:lstStyle/>
          <a:p>
            <a:pPr algn="l"/>
            <a:r>
              <a:rPr sz="1050" b="1" i="0">
                <a:solidFill>
                  <a:srgbClr val="16325C"/>
                </a:solidFill>
                <a:latin typeface="Segoe UI Emoji"/>
              </a:rPr>
              <a:t>☁️</a:t>
            </a:r>
            <a:r>
              <a:rPr sz="1050" b="1" i="0">
                <a:solidFill>
                  <a:srgbClr val="16325C"/>
                </a:solidFill>
              </a:rPr>
              <a:t> Shared Knowledge</a:t>
            </a:r>
          </a:p>
        </p:txBody>
      </p:sp>
      <p:sp>
        <p:nvSpPr>
          <p:cNvPr id="57" name="TextBox 56"/>
          <p:cNvSpPr txBox="1"/>
          <p:nvPr/>
        </p:nvSpPr>
        <p:spPr>
          <a:xfrm>
            <a:off x="9134627" y="5093208"/>
            <a:ext cx="2590723" cy="1152144"/>
          </a:xfrm>
          <a:prstGeom prst="rect">
            <a:avLst/>
          </a:prstGeom>
          <a:noFill/>
        </p:spPr>
        <p:txBody>
          <a:bodyPr wrap="square">
            <a:spAutoFit/>
          </a:bodyPr>
          <a:lstStyle/>
          <a:p>
            <a:pPr algn="l"/>
            <a:r>
              <a:rPr sz="950" b="0" i="0">
                <a:solidFill>
                  <a:srgbClr val="3A4356"/>
                </a:solidFill>
              </a:rPr>
              <a:t>One baseline the whole team works from. Cost know-how stays with the business, not one engineer.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86F7D"/>
                </a:solidFill>
              </a:rPr>
              <a:t>SLIDE 19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VISION &amp; NEXT STEPS</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Intelligent, Instant, Integrated — What Comes Next</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CostVision is live today. Here is what comes next — and how to get started.</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86F7D"/>
                </a:solidFill>
              </a:rPr>
              <a:t>CostVision — AI-Powered Should-Cost Intelligence  |  Avinash Bhosale  |  Confidential</a:t>
            </a:r>
          </a:p>
        </p:txBody>
      </p:sp>
      <p:sp>
        <p:nvSpPr>
          <p:cNvPr id="11" name="Rectangle 10"/>
          <p:cNvSpPr/>
          <p:nvPr/>
        </p:nvSpPr>
        <p:spPr>
          <a:xfrm>
            <a:off x="411480" y="1828800"/>
            <a:ext cx="5394960" cy="4498848"/>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28800"/>
            <a:ext cx="5394960" cy="36576"/>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901952"/>
            <a:ext cx="5120640" cy="274320"/>
          </a:xfrm>
          <a:prstGeom prst="rect">
            <a:avLst/>
          </a:prstGeom>
          <a:noFill/>
        </p:spPr>
        <p:txBody>
          <a:bodyPr wrap="square">
            <a:spAutoFit/>
          </a:bodyPr>
          <a:lstStyle/>
          <a:p>
            <a:pPr algn="l"/>
            <a:r>
              <a:rPr sz="950" b="1" i="0">
                <a:solidFill>
                  <a:srgbClr val="2A7F50"/>
                </a:solidFill>
                <a:latin typeface="Segoe UI Emoji"/>
              </a:rPr>
              <a:t>📍</a:t>
            </a:r>
            <a:r>
              <a:rPr sz="950" b="1" i="0">
                <a:solidFill>
                  <a:srgbClr val="2A7F50"/>
                </a:solidFill>
              </a:rPr>
              <a:t> Current Capabilities — Live Today</a:t>
            </a:r>
          </a:p>
        </p:txBody>
      </p:sp>
      <p:sp>
        <p:nvSpPr>
          <p:cNvPr id="14" name="Rectangle 13"/>
          <p:cNvSpPr/>
          <p:nvPr/>
        </p:nvSpPr>
        <p:spPr>
          <a:xfrm>
            <a:off x="594360" y="2368296"/>
            <a:ext cx="54864" cy="54864"/>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8096" y="2231136"/>
            <a:ext cx="4846320" cy="274320"/>
          </a:xfrm>
          <a:prstGeom prst="rect">
            <a:avLst/>
          </a:prstGeom>
          <a:noFill/>
        </p:spPr>
        <p:txBody>
          <a:bodyPr wrap="square">
            <a:spAutoFit/>
          </a:bodyPr>
          <a:lstStyle/>
          <a:p>
            <a:pPr algn="l"/>
            <a:r>
              <a:rPr sz="900" b="0" i="0">
                <a:solidFill>
                  <a:srgbClr val="3A4356"/>
                </a:solidFill>
              </a:rPr>
              <a:t>21 commodities costed to engineering depth</a:t>
            </a:r>
          </a:p>
        </p:txBody>
      </p:sp>
      <p:sp>
        <p:nvSpPr>
          <p:cNvPr id="16" name="Rectangle 15"/>
          <p:cNvSpPr/>
          <p:nvPr/>
        </p:nvSpPr>
        <p:spPr>
          <a:xfrm>
            <a:off x="594360" y="2811272"/>
            <a:ext cx="54864" cy="54864"/>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2674112"/>
            <a:ext cx="4846320" cy="274320"/>
          </a:xfrm>
          <a:prstGeom prst="rect">
            <a:avLst/>
          </a:prstGeom>
          <a:noFill/>
        </p:spPr>
        <p:txBody>
          <a:bodyPr wrap="square">
            <a:spAutoFit/>
          </a:bodyPr>
          <a:lstStyle/>
          <a:p>
            <a:pPr algn="l"/>
            <a:r>
              <a:rPr sz="900" b="0" i="0">
                <a:solidFill>
                  <a:srgbClr val="3A4356"/>
                </a:solidFill>
              </a:rPr>
              <a:t>Describe a part in plain English — the model builds itself</a:t>
            </a:r>
          </a:p>
        </p:txBody>
      </p:sp>
      <p:sp>
        <p:nvSpPr>
          <p:cNvPr id="18" name="Rectangle 17"/>
          <p:cNvSpPr/>
          <p:nvPr/>
        </p:nvSpPr>
        <p:spPr>
          <a:xfrm>
            <a:off x="594360" y="3254248"/>
            <a:ext cx="54864" cy="54864"/>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8096" y="3117088"/>
            <a:ext cx="4846320" cy="274320"/>
          </a:xfrm>
          <a:prstGeom prst="rect">
            <a:avLst/>
          </a:prstGeom>
          <a:noFill/>
        </p:spPr>
        <p:txBody>
          <a:bodyPr wrap="square">
            <a:spAutoFit/>
          </a:bodyPr>
          <a:lstStyle/>
          <a:p>
            <a:pPr algn="l"/>
            <a:r>
              <a:rPr sz="900" b="0" i="0">
                <a:solidFill>
                  <a:srgbClr val="3A4356"/>
                </a:solidFill>
              </a:rPr>
              <a:t>Upload a CAD file or a photo, get a cost in minutes</a:t>
            </a:r>
          </a:p>
        </p:txBody>
      </p:sp>
      <p:sp>
        <p:nvSpPr>
          <p:cNvPr id="20" name="Rectangle 19"/>
          <p:cNvSpPr/>
          <p:nvPr/>
        </p:nvSpPr>
        <p:spPr>
          <a:xfrm>
            <a:off x="594360" y="3697224"/>
            <a:ext cx="54864" cy="54864"/>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8096" y="3560064"/>
            <a:ext cx="4846320" cy="274320"/>
          </a:xfrm>
          <a:prstGeom prst="rect">
            <a:avLst/>
          </a:prstGeom>
          <a:noFill/>
        </p:spPr>
        <p:txBody>
          <a:bodyPr wrap="square">
            <a:spAutoFit/>
          </a:bodyPr>
          <a:lstStyle/>
          <a:p>
            <a:pPr algn="l"/>
            <a:r>
              <a:rPr sz="900" b="0" i="0">
                <a:solidFill>
                  <a:srgbClr val="3A4356"/>
                </a:solidFill>
              </a:rPr>
              <a:t>Every estimate re-checked, and corrected, before you see it</a:t>
            </a:r>
          </a:p>
        </p:txBody>
      </p:sp>
      <p:sp>
        <p:nvSpPr>
          <p:cNvPr id="22" name="Rectangle 21"/>
          <p:cNvSpPr/>
          <p:nvPr/>
        </p:nvSpPr>
        <p:spPr>
          <a:xfrm>
            <a:off x="594360" y="4140200"/>
            <a:ext cx="54864" cy="54864"/>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8096" y="4003040"/>
            <a:ext cx="4846320" cy="274320"/>
          </a:xfrm>
          <a:prstGeom prst="rect">
            <a:avLst/>
          </a:prstGeom>
          <a:noFill/>
        </p:spPr>
        <p:txBody>
          <a:bodyPr wrap="square">
            <a:spAutoFit/>
          </a:bodyPr>
          <a:lstStyle/>
          <a:p>
            <a:pPr algn="l"/>
            <a:r>
              <a:rPr sz="900" b="0" i="0">
                <a:solidFill>
                  <a:srgbClr val="3A4356"/>
                </a:solidFill>
              </a:rPr>
              <a:t>Learns from the supplier quotes you already have</a:t>
            </a:r>
          </a:p>
        </p:txBody>
      </p:sp>
      <p:sp>
        <p:nvSpPr>
          <p:cNvPr id="24" name="Rectangle 23"/>
          <p:cNvSpPr/>
          <p:nvPr/>
        </p:nvSpPr>
        <p:spPr>
          <a:xfrm>
            <a:off x="594360" y="4583176"/>
            <a:ext cx="54864" cy="54864"/>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8096" y="4446016"/>
            <a:ext cx="4846320" cy="274320"/>
          </a:xfrm>
          <a:prstGeom prst="rect">
            <a:avLst/>
          </a:prstGeom>
          <a:noFill/>
        </p:spPr>
        <p:txBody>
          <a:bodyPr wrap="square">
            <a:spAutoFit/>
          </a:bodyPr>
          <a:lstStyle/>
          <a:p>
            <a:pPr algn="l"/>
            <a:r>
              <a:rPr sz="900" b="0" i="0">
                <a:solidFill>
                  <a:srgbClr val="3A4356"/>
                </a:solidFill>
              </a:rPr>
              <a:t>Whole assemblies, not just single parts</a:t>
            </a:r>
          </a:p>
        </p:txBody>
      </p:sp>
      <p:sp>
        <p:nvSpPr>
          <p:cNvPr id="26" name="Rectangle 25"/>
          <p:cNvSpPr/>
          <p:nvPr/>
        </p:nvSpPr>
        <p:spPr>
          <a:xfrm>
            <a:off x="594360" y="5026152"/>
            <a:ext cx="54864" cy="54864"/>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68096" y="4888992"/>
            <a:ext cx="4846320" cy="274320"/>
          </a:xfrm>
          <a:prstGeom prst="rect">
            <a:avLst/>
          </a:prstGeom>
          <a:noFill/>
        </p:spPr>
        <p:txBody>
          <a:bodyPr wrap="square">
            <a:spAutoFit/>
          </a:bodyPr>
          <a:lstStyle/>
          <a:p>
            <a:pPr algn="l"/>
            <a:r>
              <a:rPr sz="900" b="0" i="0">
                <a:solidFill>
                  <a:srgbClr val="3A4356"/>
                </a:solidFill>
              </a:rPr>
              <a:t>Learning curve, quote comparison and scenarios</a:t>
            </a:r>
          </a:p>
        </p:txBody>
      </p:sp>
      <p:sp>
        <p:nvSpPr>
          <p:cNvPr id="28" name="Rectangle 27"/>
          <p:cNvSpPr/>
          <p:nvPr/>
        </p:nvSpPr>
        <p:spPr>
          <a:xfrm>
            <a:off x="594360" y="5469128"/>
            <a:ext cx="54864" cy="54864"/>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68096" y="5331968"/>
            <a:ext cx="4846320" cy="274320"/>
          </a:xfrm>
          <a:prstGeom prst="rect">
            <a:avLst/>
          </a:prstGeom>
          <a:noFill/>
        </p:spPr>
        <p:txBody>
          <a:bodyPr wrap="square">
            <a:spAutoFit/>
          </a:bodyPr>
          <a:lstStyle/>
          <a:p>
            <a:pPr algn="l"/>
            <a:r>
              <a:rPr sz="900" b="0" i="0">
                <a:solidFill>
                  <a:srgbClr val="3A4356"/>
                </a:solidFill>
              </a:rPr>
              <a:t>20 regions and 10 currencies, switched automatically</a:t>
            </a:r>
          </a:p>
        </p:txBody>
      </p:sp>
      <p:sp>
        <p:nvSpPr>
          <p:cNvPr id="30" name="Rectangle 29"/>
          <p:cNvSpPr/>
          <p:nvPr/>
        </p:nvSpPr>
        <p:spPr>
          <a:xfrm>
            <a:off x="594360" y="5912104"/>
            <a:ext cx="54864" cy="54864"/>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68096" y="5774944"/>
            <a:ext cx="4846320" cy="274320"/>
          </a:xfrm>
          <a:prstGeom prst="rect">
            <a:avLst/>
          </a:prstGeom>
          <a:noFill/>
        </p:spPr>
        <p:txBody>
          <a:bodyPr wrap="square">
            <a:spAutoFit/>
          </a:bodyPr>
          <a:lstStyle/>
          <a:p>
            <a:pPr algn="l"/>
            <a:r>
              <a:rPr sz="900" b="0" i="0">
                <a:solidFill>
                  <a:srgbClr val="3A4356"/>
                </a:solidFill>
              </a:rPr>
              <a:t>Excel and PDF reports, shared across the team</a:t>
            </a:r>
          </a:p>
        </p:txBody>
      </p:sp>
      <p:sp>
        <p:nvSpPr>
          <p:cNvPr id="32" name="Rectangle 31"/>
          <p:cNvSpPr/>
          <p:nvPr/>
        </p:nvSpPr>
        <p:spPr>
          <a:xfrm>
            <a:off x="6035040" y="1828800"/>
            <a:ext cx="5760720" cy="969264"/>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035040" y="1828800"/>
            <a:ext cx="54864" cy="969264"/>
          </a:xfrm>
          <a:prstGeom prst="rect">
            <a:avLst/>
          </a:prstGeom>
          <a:solidFill>
            <a:srgbClr val="9965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163056" y="1883664"/>
            <a:ext cx="5577840" cy="256032"/>
          </a:xfrm>
          <a:prstGeom prst="rect">
            <a:avLst/>
          </a:prstGeom>
          <a:noFill/>
        </p:spPr>
        <p:txBody>
          <a:bodyPr wrap="square">
            <a:spAutoFit/>
          </a:bodyPr>
          <a:lstStyle/>
          <a:p>
            <a:pPr algn="l"/>
            <a:r>
              <a:rPr sz="900" b="1" i="0">
                <a:solidFill>
                  <a:srgbClr val="99651A"/>
                </a:solidFill>
              </a:rPr>
              <a:t>Phase 2 — H2 2026</a:t>
            </a:r>
          </a:p>
        </p:txBody>
      </p:sp>
      <p:sp>
        <p:nvSpPr>
          <p:cNvPr id="35" name="TextBox 34"/>
          <p:cNvSpPr txBox="1"/>
          <p:nvPr/>
        </p:nvSpPr>
        <p:spPr>
          <a:xfrm>
            <a:off x="6163056" y="2121408"/>
            <a:ext cx="5577840" cy="658368"/>
          </a:xfrm>
          <a:prstGeom prst="rect">
            <a:avLst/>
          </a:prstGeom>
          <a:noFill/>
        </p:spPr>
        <p:txBody>
          <a:bodyPr wrap="square">
            <a:spAutoFit/>
          </a:bodyPr>
          <a:lstStyle/>
          <a:p>
            <a:pPr algn="l"/>
            <a:r>
              <a:rPr sz="800" b="0" i="0">
                <a:solidFill>
                  <a:srgbClr val="3A4356"/>
                </a:solidFill>
              </a:rPr>
              <a:t>Connect to Teamcenter and SAP
Cost-target dashboard for programme teams
Compare several suppliers side by side</a:t>
            </a:r>
          </a:p>
        </p:txBody>
      </p:sp>
      <p:sp>
        <p:nvSpPr>
          <p:cNvPr id="36" name="Rectangle 35"/>
          <p:cNvSpPr/>
          <p:nvPr/>
        </p:nvSpPr>
        <p:spPr>
          <a:xfrm>
            <a:off x="6035040" y="2871215"/>
            <a:ext cx="5760720" cy="969264"/>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035040" y="2871215"/>
            <a:ext cx="54864" cy="969264"/>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163056" y="2926079"/>
            <a:ext cx="5577840" cy="256032"/>
          </a:xfrm>
          <a:prstGeom prst="rect">
            <a:avLst/>
          </a:prstGeom>
          <a:noFill/>
        </p:spPr>
        <p:txBody>
          <a:bodyPr wrap="square">
            <a:spAutoFit/>
          </a:bodyPr>
          <a:lstStyle/>
          <a:p>
            <a:pPr algn="l"/>
            <a:r>
              <a:rPr sz="900" b="1" i="0">
                <a:solidFill>
                  <a:srgbClr val="6B3FA0"/>
                </a:solidFill>
              </a:rPr>
              <a:t>Phase 3 — 2027</a:t>
            </a:r>
          </a:p>
        </p:txBody>
      </p:sp>
      <p:sp>
        <p:nvSpPr>
          <p:cNvPr id="39" name="TextBox 38"/>
          <p:cNvSpPr txBox="1"/>
          <p:nvPr/>
        </p:nvSpPr>
        <p:spPr>
          <a:xfrm>
            <a:off x="6163056" y="3163823"/>
            <a:ext cx="5577840" cy="658368"/>
          </a:xfrm>
          <a:prstGeom prst="rect">
            <a:avLst/>
          </a:prstGeom>
          <a:noFill/>
        </p:spPr>
        <p:txBody>
          <a:bodyPr wrap="square">
            <a:spAutoFit/>
          </a:bodyPr>
          <a:lstStyle/>
          <a:p>
            <a:pPr algn="l"/>
            <a:r>
              <a:rPr sz="800" b="0" i="0">
                <a:solidFill>
                  <a:srgbClr val="3A4356"/>
                </a:solidFill>
              </a:rPr>
              <a:t>Calibrate itself from live ERP actuals
Draft the RFQ straight from the should-cost
Portfolio view for the leadership team</a:t>
            </a:r>
          </a:p>
        </p:txBody>
      </p:sp>
      <p:sp>
        <p:nvSpPr>
          <p:cNvPr id="40" name="Rectangle 39"/>
          <p:cNvSpPr/>
          <p:nvPr/>
        </p:nvSpPr>
        <p:spPr>
          <a:xfrm>
            <a:off x="6035040" y="3913630"/>
            <a:ext cx="5760720" cy="969264"/>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035040" y="3913630"/>
            <a:ext cx="54864" cy="969264"/>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163056" y="3968494"/>
            <a:ext cx="5577840" cy="256032"/>
          </a:xfrm>
          <a:prstGeom prst="rect">
            <a:avLst/>
          </a:prstGeom>
          <a:noFill/>
        </p:spPr>
        <p:txBody>
          <a:bodyPr wrap="square">
            <a:spAutoFit/>
          </a:bodyPr>
          <a:lstStyle/>
          <a:p>
            <a:pPr algn="l"/>
            <a:r>
              <a:rPr sz="900" b="1" i="0">
                <a:solidFill>
                  <a:srgbClr val="1D6FB8"/>
                </a:solidFill>
              </a:rPr>
              <a:t>Phase 4 — 2027+</a:t>
            </a:r>
          </a:p>
        </p:txBody>
      </p:sp>
      <p:sp>
        <p:nvSpPr>
          <p:cNvPr id="43" name="TextBox 42"/>
          <p:cNvSpPr txBox="1"/>
          <p:nvPr/>
        </p:nvSpPr>
        <p:spPr>
          <a:xfrm>
            <a:off x="6163056" y="4206238"/>
            <a:ext cx="5577840" cy="658368"/>
          </a:xfrm>
          <a:prstGeom prst="rect">
            <a:avLst/>
          </a:prstGeom>
          <a:noFill/>
        </p:spPr>
        <p:txBody>
          <a:bodyPr wrap="square">
            <a:spAutoFit/>
          </a:bodyPr>
          <a:lstStyle/>
          <a:p>
            <a:pPr algn="l"/>
            <a:r>
              <a:rPr sz="800" b="0" i="0">
                <a:solidFill>
                  <a:srgbClr val="3A4356"/>
                </a:solidFill>
              </a:rPr>
              <a:t>Cost that updates as the design changes
AI suggestions for redesigning the part
Supplier risk scoring · mobile app for plant visits</a:t>
            </a:r>
          </a:p>
        </p:txBody>
      </p:sp>
      <p:sp>
        <p:nvSpPr>
          <p:cNvPr id="44" name="Rectangle 43"/>
          <p:cNvSpPr/>
          <p:nvPr/>
        </p:nvSpPr>
        <p:spPr>
          <a:xfrm>
            <a:off x="6035040" y="4956045"/>
            <a:ext cx="5760720" cy="1298448"/>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035040" y="4956045"/>
            <a:ext cx="54864" cy="1298448"/>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163056" y="5029197"/>
            <a:ext cx="5577840" cy="256032"/>
          </a:xfrm>
          <a:prstGeom prst="rect">
            <a:avLst/>
          </a:prstGeom>
          <a:noFill/>
        </p:spPr>
        <p:txBody>
          <a:bodyPr wrap="square">
            <a:spAutoFit/>
          </a:bodyPr>
          <a:lstStyle/>
          <a:p>
            <a:pPr algn="l"/>
            <a:r>
              <a:rPr sz="900" b="1" i="0">
                <a:solidFill>
                  <a:srgbClr val="2A7F50"/>
                </a:solidFill>
                <a:latin typeface="Segoe UI Emoji"/>
              </a:rPr>
              <a:t>🚀</a:t>
            </a:r>
            <a:r>
              <a:rPr sz="900" b="1" i="0">
                <a:solidFill>
                  <a:srgbClr val="2A7F50"/>
                </a:solidFill>
              </a:rPr>
              <a:t>  Pilot Rollout — Next Steps</a:t>
            </a:r>
          </a:p>
        </p:txBody>
      </p:sp>
      <p:sp>
        <p:nvSpPr>
          <p:cNvPr id="47" name="TextBox 46"/>
          <p:cNvSpPr txBox="1"/>
          <p:nvPr/>
        </p:nvSpPr>
        <p:spPr>
          <a:xfrm>
            <a:off x="6163056" y="5303517"/>
            <a:ext cx="5577840" cy="841248"/>
          </a:xfrm>
          <a:prstGeom prst="rect">
            <a:avLst/>
          </a:prstGeom>
          <a:noFill/>
        </p:spPr>
        <p:txBody>
          <a:bodyPr wrap="square">
            <a:spAutoFit/>
          </a:bodyPr>
          <a:lstStyle/>
          <a:p>
            <a:pPr algn="l"/>
            <a:r>
              <a:rPr sz="850" b="0" i="0">
                <a:solidFill>
                  <a:srgbClr val="3A4356"/>
                </a:solidFill>
              </a:rPr>
              <a:t>• Two or three commodities, one programme team
• Four to six weeks, on real parts against real quotes
• We call it a success at 15% price reduction found per part
• Avinash Bhosale — Cost Engineering &amp; Digital Innovation</a:t>
            </a:r>
          </a:p>
        </p:txBody>
      </p:sp>
      <p:sp>
        <p:nvSpPr>
          <p:cNvPr id="48" name="Rectangle 47"/>
          <p:cNvSpPr/>
          <p:nvPr/>
        </p:nvSpPr>
        <p:spPr>
          <a:xfrm>
            <a:off x="411480" y="6473952"/>
            <a:ext cx="11368735" cy="329184"/>
          </a:xfrm>
          <a:prstGeom prst="rect">
            <a:avLst/>
          </a:prstGeom>
          <a:solidFill>
            <a:srgbClr val="FFFFFF"/>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94360" y="6501384"/>
            <a:ext cx="11002975" cy="256032"/>
          </a:xfrm>
          <a:prstGeom prst="rect">
            <a:avLst/>
          </a:prstGeom>
          <a:noFill/>
        </p:spPr>
        <p:txBody>
          <a:bodyPr wrap="square">
            <a:spAutoFit/>
          </a:bodyPr>
          <a:lstStyle/>
          <a:p>
            <a:pPr algn="ctr"/>
            <a:r>
              <a:rPr sz="800" b="0" i="1">
                <a:solidFill>
                  <a:srgbClr val="686F7D"/>
                </a:solidFill>
              </a:rPr>
              <a:t>"Every engineer should have instant access to accurate, defensible should-cost intelligence — at concept stage, across every commodity, in every region."  — Avinash Bhosale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