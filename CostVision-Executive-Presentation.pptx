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for making the time. CostVision answers one question: what should this part cost to make? Not what the supplier quotes, but what the material, the machine time, the labour and the tooling say it should cost. I want to say two things up front, because they shape everything else. First, the AI is switched off in the JLR build. JLR has no AI approval yet, so the tool runs on measurement, rules and arithmetic. Second, even when AI is on, it never sets a price. Every pound is a sum you can trace back to a rate in the library. Over the next slides I'll show you what it covers, which is nineteen manufacturing processes across twenty regions, how the CAD path works, and, just as important, what we have proven and what we haven't proven yet. I'd rather you leave with an accurate picture than an exciting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problem, because most of us have lived it. A should-cost built by hand is slow. It can take weeks, and by the time it lands the sourcing decision has often been made. Each engineer also builds it their own way, so two numbers for the same part are hard to compare, and the assumptions are rarely written down. That makes the number hard to defend in front of a supplier. The figure at the bottom is an industry rule of thumb, not something we measured: most of a part's cost is fixed at the design stage, yet most cost work happens after design freeze. Whether the real figure is seventy or eighty percent, the point stands. We find cost problems when they are expensive to fix. What I want is a number we can defend, earlier, while a change is still just a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tool on one slide. I won't read every card. The top row is how you get a number in. You can upload a CAD file, and the tool measures it and asks you what it can't work out for itself. Or you type the inputs into a form. Both routes land on the same engine, with the same eight cost buckets. Underneath sits the rate library, dated 16 June 2026: 328 materials, 178 machines and 42 labour grades, all editable. The other cards are what make it useful rather than just a calculator: twenty regions, a self-audit and an uncertainty band on every result, quote comparison, design-for-manufacture advice, and exports that match the screen to the penny. The thread running through all of it is simple. The maths is plain arithmetic, and none of it depends on 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clear about AI, because it's usually the first question. The product has an optional AI mode. When it's on, it can read a plain-English description, a drawing or a PCB photo and suggest the inputs: material, process route, features. That's all it does. It never sets a price. The same rules engine does the sum either way, and anything the AI suggests is checked against the measured geometry. At JLR that mode is switched off, because there's no AI approval yet. The code is still there, turned off by a setting, so if approval comes it can be switched on without a rebuild. With it off, the screens that need AI are hidden. If you do reach one, the tool says so plainly instead of asking for a key. The right-hand side shows what that looks like: you're pointed to the CAD upload or the form, and the costing carries on as normal.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path I'd demo first. You upload a STEP, IGES or STL file. A proper geometry kernel, OpenCASCADE, measures it: volume, weight, size, wall thickness, holes and features. Rules turn those measurements into cost inputs. Where the geometry can't decide, for example which process route, which material family, or how many holes are on an STL, the tool asks you rather than guessing. I think that's the right call. An engineer's answer beats a confident guess. Thirteen processes can be costed straight from CAD like this. Extrusion doesn't have CAD rules yet, but its form still costs it. On the right is a real part from our baseline: a steering knuckle, forged steel, thirty-two pounds sixteen at UK rates, split into its buckets. To be clear, that pins what the tool says. It hasn't been compared with a price JLR paid.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3D viewer. It lives inside CostVision, in the browser, so nobody needs a CAD licence just to look at a part. Quickly, left to right. You can move around the part with standard views, a view-cube and a zoom that holds up on large parts. You can colour faces by type, and see a wall-thickness map and a draft and undercut map, which are useful early warnings for moulding and casting. You get a model tree, section planes and an exploded view, and you can move or rotate one body on its own. Measurements come from the exact B-rep, not a mesh, and you can export them to CSV or snapshot them into the report. The main point is the box on the right. The viewer shows the same geometry the cost engine uses. What you see on screen is what gets costed.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exactly what the tool takes from the CAD model without anyone typing it in, and which part of the cost each measurement drives. Volume comes straight from the kernel, and weight is volume times the density of the material you choose, so the material cost starts from a measured number. The bounding box sizes the machine and the stock. The hole and boss table feeds drilling and tapping. Wall thickness decides which routes are even offered. For sheet metal you can add a DXF flat pattern to get the true blank. On the right is a real part from our baseline, a spur gear, module three, thirty-eight teeth. Twenty-five pounds fifty at UK rates, and you can see every bucket. The rule at the bottom is the one I'd underline: no AI in the price. Every figure traces back to the rate library, and that's what makes it defensible.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flow from end to end. At JLR there are two ways in: upload a CAD file, or fill in the form. The third door, describing the part in words, needs AI, so it's switched off. Whichever way you come in, it's the same eight steps. Pick the process, give it the part, let it measure, answer its questions, and it calculates the eight buckets. Then it audits its own result and puts a P10 to P90 band around it, gives you design-for-manufacture advice, and exports. Step four is the one I'd point at. That's where the tool stops and asks rather than guessing. It's a small thing, but it's why I trust the output more than I would a fully automatic answer. And nothing in the chain is a black box.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Breadth matters because a real product isn't one process. A door module is pressings, a harness, a circuit board and paint. So the tool covers nineteen manufacturing processes: machining, casting, forging, gear cutting, sheet metal, the plastics family, rubber, composites, and the electronics side, meaning PCB fabrication, PCB assembly and wiring harness, plus painting and body-in-white assembly. On top of those sit an assembly roll-up and a cost model for automotive software. One honest note on PCB fabrication. That's a bought-in price, taken from fabricators' price tables, so we don't add overhead and margin on top. Adding them would count the supplier's margin twice. Every process uses the same eight cost buckets, and that's what lets the roll-up add them together into one number you can trust.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people are sceptical, it's usually about depth. Is this a real engineering model, or a spreadsheet with a nice screen? This slide is my answer. Underneath every process there's a rate library dated 16 June 2026, with 328 materials, 178 machines and 42 labour grades, all editable. There's proper routing, so each operation has a machine, a time and a person. Tooling is spread over annual volume times programme life. Yield and scrap are modelled. Each result gets a P10 to P90 band from a Monte Carlo run over every cost driver. And there's landed cost, with duty, carbon levy and shipping terms, so you see the cost at our door. None of this is estimated by feel. If you disagree with a number, you can find the rate behind it and change it. That's the conversation I want us to be having.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tools that turn a number into something you can negotiate with. The learning curve shows what the part costs as volume builds, so you can talk about year three, not just the first batch. The assembly roll-up lets you cost a whole module, with each part keeping its own model. On the right, quote comparison puts the supplier's price next to ours, bucket by bucket, and states the gap plainly. That's usually where the useful conversation starts: not the total, but which bucket is out of line. The sensitivity chart flexes each driver by ten percent and ranks them, so you know which few inputs to double-check before a meeting. And scenarios let you hold a baseline, a target and a stretch side by side. None of this is AI. It's the same arithmetic, arranged for a buyer.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design-for-manufacture and assembly layer runs after the cost is settled. It reads the result and advises. It never changes the price, and that separation is deliberate. It scores the part out of ten for making it and for assembling it, lists what it found, grades each issue, and ranks the actions, each with its own saving estimate. I'd treat those estimates as prompts for a conversation, not promises. The engineering team told me the first version was too generic. It read the cost and guessed backwards. They were right. So there's now a second layer that reads the 3D model itself, for castings, forgings, mouldings, machined parts and pressings. It points at the actual faces that cause the problem, and every rule names its source. There's also an optional AI commentary on top, but that's part of the AI mode, so it's switched off at JLR.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part made in Poland doesn't just have cheaper labour. It has different machine rates, different energy, a different currency. Getting all of that right by hand is where manual should-costs quietly go wrong. Here you pick a region and everything resets together: eight labour rates, electricity and gas, machine rates, material prices, and the display currency. The table shows twelve of the twenty regions, with the skilled rate as a pound-per-hour equivalent so you can compare them fairly. These are second-quarter 2026 rates. Every rate is editable, and there's a workbook that converts JLR's own rate card into the tool's format with no macros. And one table shows the same part costed in all twenty regions at once. That's a quick, rate-based way into a make-or-buy discussion, rather than a hunch.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separates what works today from what's waiting. On the left is everything that runs at JLR now, with AI switched off and no internet. CAD to cost on rules. The self-audit on every result. Learning from actuals: you log a real quote or purchase-order price, and after three for a commodity the uncertainty band is corrected by real data. And a monitor that compares logged prices with the should-cost and flags where a supplier sits above it. On the right are the AI features. They're built and they're in the product, but they're switched off: describing a part in words, PCB photo to bill of materials, the assistant and the agent. If JLR approves AI, a setting turns them on. The line at the bottom is the one that doesn't change either way. AI never sets a price.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answer to 'can I trust the number?'. On the left is how the tool checks itself. A self-audit runs on every result, looking for mistakes we have actually seen: the wrong machine size, tooling spread over the wrong volume, a costing that's only material, a cycle time that makes no sense. Every result also carries a P10 to P90 band, so it tells you how unsure it is. And it learns from real prices as you log them. On the right is where we actually are. The engine's arithmetic matches a hand calculation to under a hundredth of a percent. Six real parts are pinned, so any change that moves them fails the build. There are 2,438 automated tests. What we have not done yet is compare an estimate with a price JLR actually paid. That's the next proof, and I don't want to claim it early.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six real production parts in our regression baseline. Each one was measured from its real CAD file and costed through the product's own chain at UK rates: a steering knuckle, two castings, a machined part, a pressed seat bracket and a gear. I'd point you at the right-hand column. The route was answered by an engineer, with the reason written down, like 'safety-critical, so forged'. Those answers are judgements, and you can argue with them. This baseline exists because of a real failure. All our tests once passed while a steering knuckle costed at five pounds forty-three. Every test used clean, synthetic blocks, and the bug only showed up on real geometry. Now a change that moves any of these parts fails the build. But be clear about what it is. It pins what the tool says. It isn't yet a comparison with what JLR paid.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cost that lives in one engineer's head isn't worth much, so this is about getting it out, safely. The Excel export has six sheets: summary, material, operations, machine rates, labour rates and a traceability sheet. The PDF report and the negotiation pack both carry the on-screen total to the penny, so nobody has to reconcile two numbers. For deployment, the JLR version is a Windows folder. You copy it to a locked-down laptop and double-click. No installer, no admin rights, no internet, and it only listens on that laptop unless someone deliberately shares it. Everything that holds data needs a sign-in, and you only see your own saved scenarios. A password reset or 'sign out everywhere' ends every old session. And every page passes an automated WCAG 2.1 AA accessibility check.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careful on this slide. Earlier versions of this deck had big numbers for time saved and price reductions. I've taken them out, because we can't show them yet. What we can show is on the top row. The arithmetic matches a hand calculation to under a hundredth of a percent. Six real parts are pinned. There are 2,438 automated tests. It covers nineteen processes. And the last box is deliberate: so far we have compared no estimates with a price JLR actually paid. That's the number that matters most, and it gets built as actuals are logged. The cards below are the benefits I expect, and you can judge them for yourselves in a pilot: a floor price you can defend, one method across teams, an earlier warning, and a tool that runs safely offline.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does that leave us? The left column is live today, not a wish list. It runs on a laptop, with AI switched off, and it's backed by tests. On the right is where it could go next. First, connecting to the systems we already use, like Teamcenter and SAP, and a cost-target view for programme teams. Then calibrating from live ERP actuals and drafting the RFQ from the should-cost. The last phase includes AI features, and those would only happen if AI is approved. But I don't want the roadmap to distract from the ask, which is small. A four-to-six-week pilot on two or three commodities with one programme team, on real parts, with real quotes and PO prices. We log every actual, so accuracy is measured rather than claimed. That's what I'd like to agree today. 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738731" y="777240"/>
            <a:ext cx="8714232" cy="301752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14400"/>
            <a:ext cx="10972800" cy="1280160"/>
          </a:xfrm>
          <a:prstGeom prst="rect">
            <a:avLst/>
          </a:prstGeom>
          <a:noFill/>
        </p:spPr>
        <p:txBody>
          <a:bodyPr wrap="square">
            <a:spAutoFit/>
          </a:bodyPr>
          <a:lstStyle/>
          <a:p>
            <a:pPr algn="ctr"/>
            <a:r>
              <a:rPr sz="7200" b="1" i="0">
                <a:solidFill>
                  <a:srgbClr val="FFFFFF"/>
                </a:solidFill>
                <a:latin typeface="Cambria"/>
              </a:rPr>
              <a:t>CostVision</a:t>
            </a:r>
          </a:p>
        </p:txBody>
      </p:sp>
      <p:sp>
        <p:nvSpPr>
          <p:cNvPr id="6" name="Rectangle 5"/>
          <p:cNvSpPr/>
          <p:nvPr/>
        </p:nvSpPr>
        <p:spPr>
          <a:xfrm>
            <a:off x="4114800" y="2240280"/>
            <a:ext cx="4023360" cy="548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31720"/>
            <a:ext cx="10972800" cy="548640"/>
          </a:xfrm>
          <a:prstGeom prst="rect">
            <a:avLst/>
          </a:prstGeom>
          <a:noFill/>
        </p:spPr>
        <p:txBody>
          <a:bodyPr wrap="square">
            <a:spAutoFit/>
          </a:bodyPr>
          <a:lstStyle/>
          <a:p>
            <a:pPr algn="ctr"/>
            <a:r>
              <a:rPr sz="1700" b="0" i="0">
                <a:solidFill>
                  <a:srgbClr val="CADCFC"/>
                </a:solidFill>
              </a:rPr>
              <a:t>What a part should cost to make — every number traced to a rate</a:t>
            </a:r>
          </a:p>
        </p:txBody>
      </p:sp>
      <p:sp>
        <p:nvSpPr>
          <p:cNvPr id="8" name="TextBox 7"/>
          <p:cNvSpPr txBox="1"/>
          <p:nvPr/>
        </p:nvSpPr>
        <p:spPr>
          <a:xfrm>
            <a:off x="548640" y="2926080"/>
            <a:ext cx="10972800" cy="411480"/>
          </a:xfrm>
          <a:prstGeom prst="rect">
            <a:avLst/>
          </a:prstGeom>
          <a:noFill/>
        </p:spPr>
        <p:txBody>
          <a:bodyPr wrap="square">
            <a:spAutoFit/>
          </a:bodyPr>
          <a:lstStyle/>
          <a:p>
            <a:pPr algn="ctr"/>
            <a:r>
              <a:rPr sz="1300" b="1" i="0">
                <a:solidFill>
                  <a:srgbClr val="FFFFFF"/>
                </a:solidFill>
              </a:rPr>
              <a:t>Designed &amp; Developed by  Avinash Bhosale</a:t>
            </a:r>
          </a:p>
        </p:txBody>
      </p:sp>
      <p:sp>
        <p:nvSpPr>
          <p:cNvPr id="9" name="TextBox 8"/>
          <p:cNvSpPr txBox="1"/>
          <p:nvPr/>
        </p:nvSpPr>
        <p:spPr>
          <a:xfrm>
            <a:off x="548640" y="3337560"/>
            <a:ext cx="10972800" cy="320040"/>
          </a:xfrm>
          <a:prstGeom prst="rect">
            <a:avLst/>
          </a:prstGeom>
          <a:noFill/>
        </p:spPr>
        <p:txBody>
          <a:bodyPr wrap="square">
            <a:spAutoFit/>
          </a:bodyPr>
          <a:lstStyle/>
          <a:p>
            <a:pPr algn="ctr"/>
            <a:r>
              <a:rPr sz="1000" b="0" i="0">
                <a:solidFill>
                  <a:srgbClr val="8FA3CC"/>
                </a:solidFill>
              </a:rPr>
              <a:t>Cost Engineering &amp; Digital Innovation</a:t>
            </a:r>
          </a:p>
        </p:txBody>
      </p:sp>
      <p:sp>
        <p:nvSpPr>
          <p:cNvPr id="10" name="Rectangle 9"/>
          <p:cNvSpPr/>
          <p:nvPr/>
        </p:nvSpPr>
        <p:spPr>
          <a:xfrm>
            <a:off x="914400" y="4160520"/>
            <a:ext cx="1920240" cy="329184"/>
          </a:xfrm>
          <a:prstGeom prst="rect">
            <a:avLst/>
          </a:prstGeom>
          <a:solidFill>
            <a:srgbClr val="FFFFFF"/>
          </a:solidFill>
          <a:ln w="10160">
            <a:solidFill>
              <a:srgbClr val="2A7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4178808"/>
            <a:ext cx="1783080" cy="292608"/>
          </a:xfrm>
          <a:prstGeom prst="rect">
            <a:avLst/>
          </a:prstGeom>
          <a:noFill/>
        </p:spPr>
        <p:txBody>
          <a:bodyPr wrap="square">
            <a:spAutoFit/>
          </a:bodyPr>
          <a:lstStyle/>
          <a:p>
            <a:pPr algn="ctr"/>
            <a:r>
              <a:rPr sz="800" b="1" i="0">
                <a:solidFill>
                  <a:srgbClr val="2A7F50"/>
                </a:solidFill>
              </a:rPr>
              <a:t>19 Processes</a:t>
            </a:r>
          </a:p>
        </p:txBody>
      </p:sp>
      <p:sp>
        <p:nvSpPr>
          <p:cNvPr id="12" name="Rectangle 11"/>
          <p:cNvSpPr/>
          <p:nvPr/>
        </p:nvSpPr>
        <p:spPr>
          <a:xfrm>
            <a:off x="3108960" y="4160520"/>
            <a:ext cx="1920240" cy="329184"/>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82112" y="4178808"/>
            <a:ext cx="1783080" cy="292608"/>
          </a:xfrm>
          <a:prstGeom prst="rect">
            <a:avLst/>
          </a:prstGeom>
          <a:noFill/>
        </p:spPr>
        <p:txBody>
          <a:bodyPr wrap="square">
            <a:spAutoFit/>
          </a:bodyPr>
          <a:lstStyle/>
          <a:p>
            <a:pPr algn="ctr"/>
            <a:r>
              <a:rPr sz="800" b="1" i="0">
                <a:solidFill>
                  <a:srgbClr val="1D6FB8"/>
                </a:solidFill>
              </a:rPr>
              <a:t>CAD to Cost, on Rules</a:t>
            </a:r>
          </a:p>
        </p:txBody>
      </p:sp>
      <p:sp>
        <p:nvSpPr>
          <p:cNvPr id="14" name="Rectangle 13"/>
          <p:cNvSpPr/>
          <p:nvPr/>
        </p:nvSpPr>
        <p:spPr>
          <a:xfrm>
            <a:off x="5303520" y="4160520"/>
            <a:ext cx="1920240" cy="329184"/>
          </a:xfrm>
          <a:prstGeom prst="rect">
            <a:avLst/>
          </a:prstGeom>
          <a:solidFill>
            <a:srgbClr val="FFFFFF"/>
          </a:solidFill>
          <a:ln w="10160">
            <a:solidFill>
              <a:srgbClr val="6B3F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76672" y="4178808"/>
            <a:ext cx="1783080" cy="292608"/>
          </a:xfrm>
          <a:prstGeom prst="rect">
            <a:avLst/>
          </a:prstGeom>
          <a:noFill/>
        </p:spPr>
        <p:txBody>
          <a:bodyPr wrap="square">
            <a:spAutoFit/>
          </a:bodyPr>
          <a:lstStyle/>
          <a:p>
            <a:pPr algn="ctr"/>
            <a:r>
              <a:rPr sz="800" b="1" i="0">
                <a:solidFill>
                  <a:srgbClr val="6B3FA0"/>
                </a:solidFill>
              </a:rPr>
              <a:t>AI Switched Off at JLR</a:t>
            </a:r>
          </a:p>
        </p:txBody>
      </p:sp>
      <p:sp>
        <p:nvSpPr>
          <p:cNvPr id="16" name="Rectangle 15"/>
          <p:cNvSpPr/>
          <p:nvPr/>
        </p:nvSpPr>
        <p:spPr>
          <a:xfrm>
            <a:off x="7498079" y="4160520"/>
            <a:ext cx="1920240" cy="329184"/>
          </a:xfrm>
          <a:prstGeom prst="rect">
            <a:avLst/>
          </a:prstGeom>
          <a:solidFill>
            <a:srgbClr val="FFFFFF"/>
          </a:solidFill>
          <a:ln w="10160">
            <a:solidFill>
              <a:srgbClr val="9965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4178808"/>
            <a:ext cx="1783080" cy="292608"/>
          </a:xfrm>
          <a:prstGeom prst="rect">
            <a:avLst/>
          </a:prstGeom>
          <a:noFill/>
        </p:spPr>
        <p:txBody>
          <a:bodyPr wrap="square">
            <a:spAutoFit/>
          </a:bodyPr>
          <a:lstStyle/>
          <a:p>
            <a:pPr algn="ctr"/>
            <a:r>
              <a:rPr sz="800" b="1" i="0">
                <a:solidFill>
                  <a:srgbClr val="99651A"/>
                </a:solidFill>
              </a:rPr>
              <a:t>DFM / DFA Advice</a:t>
            </a:r>
          </a:p>
        </p:txBody>
      </p:sp>
      <p:sp>
        <p:nvSpPr>
          <p:cNvPr id="18" name="Rectangle 17"/>
          <p:cNvSpPr/>
          <p:nvPr/>
        </p:nvSpPr>
        <p:spPr>
          <a:xfrm>
            <a:off x="9692640" y="4160520"/>
            <a:ext cx="1920240" cy="329184"/>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65792" y="4178808"/>
            <a:ext cx="1783080" cy="292608"/>
          </a:xfrm>
          <a:prstGeom prst="rect">
            <a:avLst/>
          </a:prstGeom>
          <a:noFill/>
        </p:spPr>
        <p:txBody>
          <a:bodyPr wrap="square">
            <a:spAutoFit/>
          </a:bodyPr>
          <a:lstStyle/>
          <a:p>
            <a:pPr algn="ctr"/>
            <a:r>
              <a:rPr sz="800" b="1" i="0">
                <a:solidFill>
                  <a:srgbClr val="1D6FB8"/>
                </a:solidFill>
              </a:rPr>
              <a:t>20 Regions</a:t>
            </a:r>
          </a:p>
        </p:txBody>
      </p:sp>
      <p:sp>
        <p:nvSpPr>
          <p:cNvPr id="20" name="Rectangle 19"/>
          <p:cNvSpPr/>
          <p:nvPr/>
        </p:nvSpPr>
        <p:spPr>
          <a:xfrm>
            <a:off x="1371600" y="4617720"/>
            <a:ext cx="2286000" cy="301752"/>
          </a:xfrm>
          <a:prstGeom prst="rect">
            <a:avLst/>
          </a:prstGeom>
          <a:solidFill>
            <a:srgbClr val="FFFFFF"/>
          </a:solidFill>
          <a:ln w="10160">
            <a:solidFill>
              <a:srgbClr val="2A7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44752" y="4636008"/>
            <a:ext cx="2148840" cy="265176"/>
          </a:xfrm>
          <a:prstGeom prst="rect">
            <a:avLst/>
          </a:prstGeom>
          <a:noFill/>
        </p:spPr>
        <p:txBody>
          <a:bodyPr wrap="square">
            <a:spAutoFit/>
          </a:bodyPr>
          <a:lstStyle/>
          <a:p>
            <a:pPr algn="ctr"/>
            <a:r>
              <a:rPr sz="750" b="1" i="0">
                <a:solidFill>
                  <a:srgbClr val="2A7F50"/>
                </a:solidFill>
              </a:rPr>
              <a:t>Assembly Roll-Up</a:t>
            </a:r>
          </a:p>
        </p:txBody>
      </p:sp>
      <p:sp>
        <p:nvSpPr>
          <p:cNvPr id="22" name="Rectangle 21"/>
          <p:cNvSpPr/>
          <p:nvPr/>
        </p:nvSpPr>
        <p:spPr>
          <a:xfrm>
            <a:off x="3749039" y="4617720"/>
            <a:ext cx="2286000" cy="301752"/>
          </a:xfrm>
          <a:prstGeom prst="rect">
            <a:avLst/>
          </a:prstGeom>
          <a:solidFill>
            <a:srgbClr val="FFFFFF"/>
          </a:solidFill>
          <a:ln w="10160">
            <a:solidFill>
              <a:srgbClr val="6B3F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22191" y="4636008"/>
            <a:ext cx="2148840" cy="265176"/>
          </a:xfrm>
          <a:prstGeom prst="rect">
            <a:avLst/>
          </a:prstGeom>
          <a:noFill/>
        </p:spPr>
        <p:txBody>
          <a:bodyPr wrap="square">
            <a:spAutoFit/>
          </a:bodyPr>
          <a:lstStyle/>
          <a:p>
            <a:pPr algn="ctr"/>
            <a:r>
              <a:rPr sz="750" b="1" i="0">
                <a:solidFill>
                  <a:srgbClr val="6B3FA0"/>
                </a:solidFill>
              </a:rPr>
              <a:t>Learning Curve</a:t>
            </a:r>
          </a:p>
        </p:txBody>
      </p:sp>
      <p:sp>
        <p:nvSpPr>
          <p:cNvPr id="24" name="Rectangle 23"/>
          <p:cNvSpPr/>
          <p:nvPr/>
        </p:nvSpPr>
        <p:spPr>
          <a:xfrm>
            <a:off x="6126480" y="4617720"/>
            <a:ext cx="2286000" cy="301752"/>
          </a:xfrm>
          <a:prstGeom prst="rect">
            <a:avLst/>
          </a:prstGeom>
          <a:solidFill>
            <a:srgbClr val="FFFFFF"/>
          </a:solidFill>
          <a:ln w="10160">
            <a:solidFill>
              <a:srgbClr val="9965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9632" y="4636008"/>
            <a:ext cx="2148840" cy="265176"/>
          </a:xfrm>
          <a:prstGeom prst="rect">
            <a:avLst/>
          </a:prstGeom>
          <a:noFill/>
        </p:spPr>
        <p:txBody>
          <a:bodyPr wrap="square">
            <a:spAutoFit/>
          </a:bodyPr>
          <a:lstStyle/>
          <a:p>
            <a:pPr algn="ctr"/>
            <a:r>
              <a:rPr sz="750" b="1" i="0">
                <a:solidFill>
                  <a:srgbClr val="99651A"/>
                </a:solidFill>
              </a:rPr>
              <a:t>Supplier Quote Comparison</a:t>
            </a:r>
          </a:p>
        </p:txBody>
      </p:sp>
      <p:sp>
        <p:nvSpPr>
          <p:cNvPr id="26" name="Rectangle 25"/>
          <p:cNvSpPr/>
          <p:nvPr/>
        </p:nvSpPr>
        <p:spPr>
          <a:xfrm>
            <a:off x="8503920" y="4617720"/>
            <a:ext cx="2286000" cy="30175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77072" y="4636008"/>
            <a:ext cx="2148840" cy="265176"/>
          </a:xfrm>
          <a:prstGeom prst="rect">
            <a:avLst/>
          </a:prstGeom>
          <a:noFill/>
        </p:spPr>
        <p:txBody>
          <a:bodyPr wrap="square">
            <a:spAutoFit/>
          </a:bodyPr>
          <a:lstStyle/>
          <a:p>
            <a:pPr algn="ctr"/>
            <a:r>
              <a:rPr sz="750" b="1" i="0">
                <a:solidFill>
                  <a:srgbClr val="1D6FB8"/>
                </a:solidFill>
              </a:rPr>
              <a:t>Windows Laptop, No Internet</a:t>
            </a:r>
          </a:p>
        </p:txBody>
      </p:sp>
      <p:sp>
        <p:nvSpPr>
          <p:cNvPr id="28" name="Rectangle 27"/>
          <p:cNvSpPr/>
          <p:nvPr/>
        </p:nvSpPr>
        <p:spPr>
          <a:xfrm>
            <a:off x="0" y="6446520"/>
            <a:ext cx="12191695" cy="7315"/>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92240"/>
            <a:ext cx="11460175" cy="320040"/>
          </a:xfrm>
          <a:prstGeom prst="rect">
            <a:avLst/>
          </a:prstGeom>
          <a:noFill/>
        </p:spPr>
        <p:txBody>
          <a:bodyPr wrap="square">
            <a:spAutoFit/>
          </a:bodyPr>
          <a:lstStyle/>
          <a:p>
            <a:pPr algn="ctr"/>
            <a:r>
              <a:rPr sz="750" b="0" i="0">
                <a:solidFill>
                  <a:srgbClr val="8FA3CC"/>
                </a:solidFill>
              </a:rPr>
              <a:t>CONFIDENTIAL — Management Review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02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THE CHALLENGE</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Why CostVision? Costing by Hand Is Slow</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Most should-costs are built by hand, one spreadsheet at a time. That is slow, and hard to defend.</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28800"/>
            <a:ext cx="3716426" cy="175107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828800"/>
            <a:ext cx="54864" cy="1751076"/>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 y="1920240"/>
            <a:ext cx="3533546" cy="310896"/>
          </a:xfrm>
          <a:prstGeom prst="rect">
            <a:avLst/>
          </a:prstGeom>
          <a:noFill/>
        </p:spPr>
        <p:txBody>
          <a:bodyPr wrap="square">
            <a:spAutoFit/>
          </a:bodyPr>
          <a:lstStyle/>
          <a:p>
            <a:pPr algn="l"/>
            <a:r>
              <a:rPr sz="1050" b="1" i="0">
                <a:solidFill>
                  <a:srgbClr val="16325C"/>
                </a:solidFill>
              </a:rPr>
              <a:t>Slow</a:t>
            </a:r>
          </a:p>
        </p:txBody>
      </p:sp>
      <p:sp>
        <p:nvSpPr>
          <p:cNvPr id="14" name="TextBox 13"/>
          <p:cNvSpPr txBox="1"/>
          <p:nvPr/>
        </p:nvSpPr>
        <p:spPr>
          <a:xfrm>
            <a:off x="539496" y="2212848"/>
            <a:ext cx="3533546" cy="1257300"/>
          </a:xfrm>
          <a:prstGeom prst="rect">
            <a:avLst/>
          </a:prstGeom>
          <a:noFill/>
        </p:spPr>
        <p:txBody>
          <a:bodyPr wrap="square">
            <a:spAutoFit/>
          </a:bodyPr>
          <a:lstStyle/>
          <a:p>
            <a:pPr algn="l"/>
            <a:r>
              <a:rPr sz="950" b="0" i="0">
                <a:solidFill>
                  <a:srgbClr val="3A4356"/>
                </a:solidFill>
              </a:rPr>
              <a:t>A should-cost built by hand can take weeks. By the time it lands, the sourcing decision is often made.</a:t>
            </a:r>
          </a:p>
        </p:txBody>
      </p:sp>
      <p:sp>
        <p:nvSpPr>
          <p:cNvPr id="15" name="Rectangle 14"/>
          <p:cNvSpPr/>
          <p:nvPr/>
        </p:nvSpPr>
        <p:spPr>
          <a:xfrm>
            <a:off x="4237634" y="1828800"/>
            <a:ext cx="3716426" cy="175107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37634" y="1828800"/>
            <a:ext cx="54864" cy="1751076"/>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5650" y="1920240"/>
            <a:ext cx="3533546" cy="310896"/>
          </a:xfrm>
          <a:prstGeom prst="rect">
            <a:avLst/>
          </a:prstGeom>
          <a:noFill/>
        </p:spPr>
        <p:txBody>
          <a:bodyPr wrap="square">
            <a:spAutoFit/>
          </a:bodyPr>
          <a:lstStyle/>
          <a:p>
            <a:pPr algn="l"/>
            <a:r>
              <a:rPr sz="1050" b="1" i="0">
                <a:solidFill>
                  <a:srgbClr val="16325C"/>
                </a:solidFill>
              </a:rPr>
              <a:t>Quotes Taken on Trust</a:t>
            </a:r>
          </a:p>
        </p:txBody>
      </p:sp>
      <p:sp>
        <p:nvSpPr>
          <p:cNvPr id="18" name="TextBox 17"/>
          <p:cNvSpPr txBox="1"/>
          <p:nvPr/>
        </p:nvSpPr>
        <p:spPr>
          <a:xfrm>
            <a:off x="4365650" y="2212848"/>
            <a:ext cx="3533546" cy="1257300"/>
          </a:xfrm>
          <a:prstGeom prst="rect">
            <a:avLst/>
          </a:prstGeom>
          <a:noFill/>
        </p:spPr>
        <p:txBody>
          <a:bodyPr wrap="square">
            <a:spAutoFit/>
          </a:bodyPr>
          <a:lstStyle/>
          <a:p>
            <a:pPr algn="l"/>
            <a:r>
              <a:rPr sz="950" b="0" i="0">
                <a:solidFill>
                  <a:srgbClr val="3A4356"/>
                </a:solidFill>
              </a:rPr>
              <a:t>Without our own number, a quote is hard to challenge. The supplier's margin stays hidden.</a:t>
            </a:r>
          </a:p>
        </p:txBody>
      </p:sp>
      <p:sp>
        <p:nvSpPr>
          <p:cNvPr id="19" name="Rectangle 18"/>
          <p:cNvSpPr/>
          <p:nvPr/>
        </p:nvSpPr>
        <p:spPr>
          <a:xfrm>
            <a:off x="8063788" y="1828800"/>
            <a:ext cx="3716426" cy="175107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3788" y="1828800"/>
            <a:ext cx="54864" cy="1751076"/>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1804" y="1920240"/>
            <a:ext cx="3533546" cy="310896"/>
          </a:xfrm>
          <a:prstGeom prst="rect">
            <a:avLst/>
          </a:prstGeom>
          <a:noFill/>
        </p:spPr>
        <p:txBody>
          <a:bodyPr wrap="square">
            <a:spAutoFit/>
          </a:bodyPr>
          <a:lstStyle/>
          <a:p>
            <a:pPr algn="l"/>
            <a:r>
              <a:rPr sz="1050" b="1" i="0">
                <a:solidFill>
                  <a:srgbClr val="16325C"/>
                </a:solidFill>
              </a:rPr>
              <a:t>No Common Method</a:t>
            </a:r>
          </a:p>
        </p:txBody>
      </p:sp>
      <p:sp>
        <p:nvSpPr>
          <p:cNvPr id="22" name="TextBox 21"/>
          <p:cNvSpPr txBox="1"/>
          <p:nvPr/>
        </p:nvSpPr>
        <p:spPr>
          <a:xfrm>
            <a:off x="8191804" y="2212848"/>
            <a:ext cx="3533546" cy="1257300"/>
          </a:xfrm>
          <a:prstGeom prst="rect">
            <a:avLst/>
          </a:prstGeom>
          <a:noFill/>
        </p:spPr>
        <p:txBody>
          <a:bodyPr wrap="square">
            <a:spAutoFit/>
          </a:bodyPr>
          <a:lstStyle/>
          <a:p>
            <a:pPr algn="l"/>
            <a:r>
              <a:rPr sz="950" b="0" i="0">
                <a:solidFill>
                  <a:srgbClr val="3A4356"/>
                </a:solidFill>
              </a:rPr>
              <a:t>Each engineer builds the cost a different way. Assumptions are not written down, so numbers cannot be compared.</a:t>
            </a:r>
          </a:p>
        </p:txBody>
      </p:sp>
      <p:sp>
        <p:nvSpPr>
          <p:cNvPr id="23" name="Rectangle 22"/>
          <p:cNvSpPr/>
          <p:nvPr/>
        </p:nvSpPr>
        <p:spPr>
          <a:xfrm>
            <a:off x="411480" y="3689604"/>
            <a:ext cx="3716426" cy="175107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3689604"/>
            <a:ext cx="54864" cy="1751076"/>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 y="3781044"/>
            <a:ext cx="3533546" cy="310896"/>
          </a:xfrm>
          <a:prstGeom prst="rect">
            <a:avLst/>
          </a:prstGeom>
          <a:noFill/>
        </p:spPr>
        <p:txBody>
          <a:bodyPr wrap="square">
            <a:spAutoFit/>
          </a:bodyPr>
          <a:lstStyle/>
          <a:p>
            <a:pPr algn="l"/>
            <a:r>
              <a:rPr sz="1050" b="1" i="0">
                <a:solidFill>
                  <a:srgbClr val="16325C"/>
                </a:solidFill>
              </a:rPr>
              <a:t>Country Rates Are Hard</a:t>
            </a:r>
          </a:p>
        </p:txBody>
      </p:sp>
      <p:sp>
        <p:nvSpPr>
          <p:cNvPr id="26" name="TextBox 25"/>
          <p:cNvSpPr txBox="1"/>
          <p:nvPr/>
        </p:nvSpPr>
        <p:spPr>
          <a:xfrm>
            <a:off x="539496" y="4073652"/>
            <a:ext cx="3533546" cy="1257300"/>
          </a:xfrm>
          <a:prstGeom prst="rect">
            <a:avLst/>
          </a:prstGeom>
          <a:noFill/>
        </p:spPr>
        <p:txBody>
          <a:bodyPr wrap="square">
            <a:spAutoFit/>
          </a:bodyPr>
          <a:lstStyle/>
          <a:p>
            <a:pPr algn="l"/>
            <a:r>
              <a:rPr sz="950" b="0" i="0">
                <a:solidFill>
                  <a:srgbClr val="3A4356"/>
                </a:solidFill>
              </a:rPr>
              <a:t>Labour, machine, energy and material rates differ by country. Adjusting them by hand is easy to get wrong.</a:t>
            </a:r>
          </a:p>
        </p:txBody>
      </p:sp>
      <p:sp>
        <p:nvSpPr>
          <p:cNvPr id="27" name="Rectangle 26"/>
          <p:cNvSpPr/>
          <p:nvPr/>
        </p:nvSpPr>
        <p:spPr>
          <a:xfrm>
            <a:off x="4237634" y="3689604"/>
            <a:ext cx="3716426" cy="175107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37634" y="3689604"/>
            <a:ext cx="54864" cy="1751076"/>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65650" y="3781044"/>
            <a:ext cx="3533546" cy="310896"/>
          </a:xfrm>
          <a:prstGeom prst="rect">
            <a:avLst/>
          </a:prstGeom>
          <a:noFill/>
        </p:spPr>
        <p:txBody>
          <a:bodyPr wrap="square">
            <a:spAutoFit/>
          </a:bodyPr>
          <a:lstStyle/>
          <a:p>
            <a:pPr algn="l"/>
            <a:r>
              <a:rPr sz="1050" b="1" i="0">
                <a:solidFill>
                  <a:srgbClr val="16325C"/>
                </a:solidFill>
              </a:rPr>
              <a:t>Problems Found Late</a:t>
            </a:r>
          </a:p>
        </p:txBody>
      </p:sp>
      <p:sp>
        <p:nvSpPr>
          <p:cNvPr id="30" name="TextBox 29"/>
          <p:cNvSpPr txBox="1"/>
          <p:nvPr/>
        </p:nvSpPr>
        <p:spPr>
          <a:xfrm>
            <a:off x="4365650" y="4073652"/>
            <a:ext cx="3533546" cy="1257300"/>
          </a:xfrm>
          <a:prstGeom prst="rect">
            <a:avLst/>
          </a:prstGeom>
          <a:noFill/>
        </p:spPr>
        <p:txBody>
          <a:bodyPr wrap="square">
            <a:spAutoFit/>
          </a:bodyPr>
          <a:lstStyle/>
          <a:p>
            <a:pPr algn="l"/>
            <a:r>
              <a:rPr sz="950" b="0" i="0">
                <a:solidFill>
                  <a:srgbClr val="3A4356"/>
                </a:solidFill>
              </a:rPr>
              <a:t>Cost problems show up near launch, not at concept. By then a change means new tooling and lost margin.</a:t>
            </a:r>
          </a:p>
        </p:txBody>
      </p:sp>
      <p:sp>
        <p:nvSpPr>
          <p:cNvPr id="31" name="Rectangle 30"/>
          <p:cNvSpPr/>
          <p:nvPr/>
        </p:nvSpPr>
        <p:spPr>
          <a:xfrm>
            <a:off x="8063788" y="3689604"/>
            <a:ext cx="3716426" cy="175107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63788" y="3689604"/>
            <a:ext cx="54864" cy="1751076"/>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91804" y="3781044"/>
            <a:ext cx="3533546" cy="310896"/>
          </a:xfrm>
          <a:prstGeom prst="rect">
            <a:avLst/>
          </a:prstGeom>
          <a:noFill/>
        </p:spPr>
        <p:txBody>
          <a:bodyPr wrap="square">
            <a:spAutoFit/>
          </a:bodyPr>
          <a:lstStyle/>
          <a:p>
            <a:pPr algn="l"/>
            <a:r>
              <a:rPr sz="1050" b="1" i="0">
                <a:solidFill>
                  <a:srgbClr val="16325C"/>
                </a:solidFill>
              </a:rPr>
              <a:t>No Floor Price</a:t>
            </a:r>
          </a:p>
        </p:txBody>
      </p:sp>
      <p:sp>
        <p:nvSpPr>
          <p:cNvPr id="34" name="TextBox 33"/>
          <p:cNvSpPr txBox="1"/>
          <p:nvPr/>
        </p:nvSpPr>
        <p:spPr>
          <a:xfrm>
            <a:off x="8191804" y="4073652"/>
            <a:ext cx="3533546" cy="1257300"/>
          </a:xfrm>
          <a:prstGeom prst="rect">
            <a:avLst/>
          </a:prstGeom>
          <a:noFill/>
        </p:spPr>
        <p:txBody>
          <a:bodyPr wrap="square">
            <a:spAutoFit/>
          </a:bodyPr>
          <a:lstStyle/>
          <a:p>
            <a:pPr algn="l"/>
            <a:r>
              <a:rPr sz="950" b="0" i="0">
                <a:solidFill>
                  <a:srgbClr val="3A4356"/>
                </a:solidFill>
              </a:rPr>
              <a:t>Buyers go into a negotiation without a price they can defend line by line.</a:t>
            </a:r>
          </a:p>
        </p:txBody>
      </p:sp>
      <p:sp>
        <p:nvSpPr>
          <p:cNvPr id="35" name="Rectangle 34"/>
          <p:cNvSpPr/>
          <p:nvPr/>
        </p:nvSpPr>
        <p:spPr>
          <a:xfrm>
            <a:off x="411480" y="5568696"/>
            <a:ext cx="11368735" cy="786384"/>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5660136"/>
            <a:ext cx="1143000" cy="658368"/>
          </a:xfrm>
          <a:prstGeom prst="rect">
            <a:avLst/>
          </a:prstGeom>
          <a:noFill/>
        </p:spPr>
        <p:txBody>
          <a:bodyPr wrap="none">
            <a:spAutoFit/>
          </a:bodyPr>
          <a:lstStyle/>
          <a:p>
            <a:pPr algn="ctr"/>
            <a:r>
              <a:rPr sz="2800" b="1" i="0">
                <a:solidFill>
                  <a:srgbClr val="99651A"/>
                </a:solidFill>
              </a:rPr>
              <a:t>~80%</a:t>
            </a:r>
          </a:p>
        </p:txBody>
      </p:sp>
      <p:sp>
        <p:nvSpPr>
          <p:cNvPr id="37" name="TextBox 36"/>
          <p:cNvSpPr txBox="1"/>
          <p:nvPr/>
        </p:nvSpPr>
        <p:spPr>
          <a:xfrm>
            <a:off x="1737360" y="5696712"/>
            <a:ext cx="9784080" cy="566928"/>
          </a:xfrm>
          <a:prstGeom prst="rect">
            <a:avLst/>
          </a:prstGeom>
          <a:noFill/>
        </p:spPr>
        <p:txBody>
          <a:bodyPr wrap="square">
            <a:spAutoFit/>
          </a:bodyPr>
          <a:lstStyle/>
          <a:p>
            <a:pPr algn="l"/>
            <a:r>
              <a:rPr sz="1000" b="0" i="0">
                <a:solidFill>
                  <a:srgbClr val="3A4356"/>
                </a:solidFill>
              </a:rPr>
              <a:t>Industry rule of thumb, not a CostVision result: most of a part's cost is fixed at the design stage, yet most cost work happens after design freeze. We want a defensible number earlier.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03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THE SOLUTION</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What is CostVision?</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A should-cost engine. Every number is arithmetic you can trace to a rate. It needs no AI.</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10512"/>
            <a:ext cx="3749039" cy="132588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810512"/>
            <a:ext cx="54864" cy="1325880"/>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 y="1901952"/>
            <a:ext cx="3566159" cy="310896"/>
          </a:xfrm>
          <a:prstGeom prst="rect">
            <a:avLst/>
          </a:prstGeom>
          <a:noFill/>
        </p:spPr>
        <p:txBody>
          <a:bodyPr wrap="square">
            <a:spAutoFit/>
          </a:bodyPr>
          <a:lstStyle/>
          <a:p>
            <a:pPr algn="l"/>
            <a:r>
              <a:rPr sz="1050" b="1" i="0">
                <a:solidFill>
                  <a:srgbClr val="16325C"/>
                </a:solidFill>
              </a:rPr>
              <a:t>CAD to Cost</a:t>
            </a:r>
          </a:p>
        </p:txBody>
      </p:sp>
      <p:sp>
        <p:nvSpPr>
          <p:cNvPr id="14" name="TextBox 13"/>
          <p:cNvSpPr txBox="1"/>
          <p:nvPr/>
        </p:nvSpPr>
        <p:spPr>
          <a:xfrm>
            <a:off x="539496" y="2194560"/>
            <a:ext cx="3566159" cy="832104"/>
          </a:xfrm>
          <a:prstGeom prst="rect">
            <a:avLst/>
          </a:prstGeom>
          <a:noFill/>
        </p:spPr>
        <p:txBody>
          <a:bodyPr wrap="square">
            <a:spAutoFit/>
          </a:bodyPr>
          <a:lstStyle/>
          <a:p>
            <a:pPr algn="l"/>
            <a:r>
              <a:rPr sz="950" b="0" i="0">
                <a:solidFill>
                  <a:srgbClr val="3A4356"/>
                </a:solidFill>
              </a:rPr>
              <a:t>Upload STEP, IGES or STL. The tool measures the part, and asks you where the geometry cannot decide.</a:t>
            </a:r>
          </a:p>
        </p:txBody>
      </p:sp>
      <p:sp>
        <p:nvSpPr>
          <p:cNvPr id="15" name="Rectangle 14"/>
          <p:cNvSpPr/>
          <p:nvPr/>
        </p:nvSpPr>
        <p:spPr>
          <a:xfrm>
            <a:off x="4251959" y="1810512"/>
            <a:ext cx="3749039" cy="132588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51959" y="1810512"/>
            <a:ext cx="54864" cy="1325880"/>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9975" y="1901952"/>
            <a:ext cx="3566159" cy="310896"/>
          </a:xfrm>
          <a:prstGeom prst="rect">
            <a:avLst/>
          </a:prstGeom>
          <a:noFill/>
        </p:spPr>
        <p:txBody>
          <a:bodyPr wrap="square">
            <a:spAutoFit/>
          </a:bodyPr>
          <a:lstStyle/>
          <a:p>
            <a:pPr algn="l"/>
            <a:r>
              <a:rPr sz="1050" b="1" i="0">
                <a:solidFill>
                  <a:srgbClr val="16325C"/>
                </a:solidFill>
              </a:rPr>
              <a:t>Form Entry</a:t>
            </a:r>
          </a:p>
        </p:txBody>
      </p:sp>
      <p:sp>
        <p:nvSpPr>
          <p:cNvPr id="18" name="TextBox 17"/>
          <p:cNvSpPr txBox="1"/>
          <p:nvPr/>
        </p:nvSpPr>
        <p:spPr>
          <a:xfrm>
            <a:off x="4379975" y="2194560"/>
            <a:ext cx="3566159" cy="832104"/>
          </a:xfrm>
          <a:prstGeom prst="rect">
            <a:avLst/>
          </a:prstGeom>
          <a:noFill/>
        </p:spPr>
        <p:txBody>
          <a:bodyPr wrap="square">
            <a:spAutoFit/>
          </a:bodyPr>
          <a:lstStyle/>
          <a:p>
            <a:pPr algn="l"/>
            <a:r>
              <a:rPr sz="950" b="0" i="0">
                <a:solidFill>
                  <a:srgbClr val="3A4356"/>
                </a:solidFill>
              </a:rPr>
              <a:t>Type the inputs for any of the 19 processes. Same engine, same eight cost buckets.</a:t>
            </a:r>
          </a:p>
        </p:txBody>
      </p:sp>
      <p:sp>
        <p:nvSpPr>
          <p:cNvPr id="19" name="Rectangle 18"/>
          <p:cNvSpPr/>
          <p:nvPr/>
        </p:nvSpPr>
        <p:spPr>
          <a:xfrm>
            <a:off x="8092438" y="1810512"/>
            <a:ext cx="3749039" cy="132588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92438" y="1810512"/>
            <a:ext cx="54864" cy="132588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0454" y="1901952"/>
            <a:ext cx="3566159" cy="310896"/>
          </a:xfrm>
          <a:prstGeom prst="rect">
            <a:avLst/>
          </a:prstGeom>
          <a:noFill/>
        </p:spPr>
        <p:txBody>
          <a:bodyPr wrap="square">
            <a:spAutoFit/>
          </a:bodyPr>
          <a:lstStyle/>
          <a:p>
            <a:pPr algn="l"/>
            <a:r>
              <a:rPr sz="1050" b="1" i="0">
                <a:solidFill>
                  <a:srgbClr val="16325C"/>
                </a:solidFill>
              </a:rPr>
              <a:t>19 Manufacturing Processes</a:t>
            </a:r>
          </a:p>
        </p:txBody>
      </p:sp>
      <p:sp>
        <p:nvSpPr>
          <p:cNvPr id="22" name="TextBox 21"/>
          <p:cNvSpPr txBox="1"/>
          <p:nvPr/>
        </p:nvSpPr>
        <p:spPr>
          <a:xfrm>
            <a:off x="8220454" y="2194560"/>
            <a:ext cx="3566159" cy="832104"/>
          </a:xfrm>
          <a:prstGeom prst="rect">
            <a:avLst/>
          </a:prstGeom>
          <a:noFill/>
        </p:spPr>
        <p:txBody>
          <a:bodyPr wrap="square">
            <a:spAutoFit/>
          </a:bodyPr>
          <a:lstStyle/>
          <a:p>
            <a:pPr algn="l"/>
            <a:r>
              <a:rPr sz="950" b="0" i="0">
                <a:solidFill>
                  <a:srgbClr val="3A4356"/>
                </a:solidFill>
              </a:rPr>
              <a:t>Machining to wiring harness, plus an assembly roll-up and an automotive software cost model.</a:t>
            </a:r>
          </a:p>
        </p:txBody>
      </p:sp>
      <p:sp>
        <p:nvSpPr>
          <p:cNvPr id="23" name="Rectangle 22"/>
          <p:cNvSpPr/>
          <p:nvPr/>
        </p:nvSpPr>
        <p:spPr>
          <a:xfrm>
            <a:off x="411480" y="3227832"/>
            <a:ext cx="3749039" cy="132588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3227832"/>
            <a:ext cx="54864" cy="1325880"/>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 y="3319272"/>
            <a:ext cx="3566159" cy="310896"/>
          </a:xfrm>
          <a:prstGeom prst="rect">
            <a:avLst/>
          </a:prstGeom>
          <a:noFill/>
        </p:spPr>
        <p:txBody>
          <a:bodyPr wrap="square">
            <a:spAutoFit/>
          </a:bodyPr>
          <a:lstStyle/>
          <a:p>
            <a:pPr algn="l"/>
            <a:r>
              <a:rPr sz="1050" b="1" i="0">
                <a:solidFill>
                  <a:srgbClr val="16325C"/>
                </a:solidFill>
              </a:rPr>
              <a:t>Rate Library</a:t>
            </a:r>
          </a:p>
        </p:txBody>
      </p:sp>
      <p:sp>
        <p:nvSpPr>
          <p:cNvPr id="26" name="TextBox 25"/>
          <p:cNvSpPr txBox="1"/>
          <p:nvPr/>
        </p:nvSpPr>
        <p:spPr>
          <a:xfrm>
            <a:off x="539496" y="3611880"/>
            <a:ext cx="3566159" cy="832104"/>
          </a:xfrm>
          <a:prstGeom prst="rect">
            <a:avLst/>
          </a:prstGeom>
          <a:noFill/>
        </p:spPr>
        <p:txBody>
          <a:bodyPr wrap="square">
            <a:spAutoFit/>
          </a:bodyPr>
          <a:lstStyle/>
          <a:p>
            <a:pPr algn="l"/>
            <a:r>
              <a:rPr sz="950" b="0" i="0">
                <a:solidFill>
                  <a:srgbClr val="3A4356"/>
                </a:solidFill>
              </a:rPr>
              <a:t>Dated 16 June 2026: 328 materials, 178 machines, 42 labour grades. Editable and versioned.</a:t>
            </a:r>
          </a:p>
        </p:txBody>
      </p:sp>
      <p:sp>
        <p:nvSpPr>
          <p:cNvPr id="27" name="Rectangle 26"/>
          <p:cNvSpPr/>
          <p:nvPr/>
        </p:nvSpPr>
        <p:spPr>
          <a:xfrm>
            <a:off x="4251959" y="3227832"/>
            <a:ext cx="3749039" cy="132588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51959" y="3227832"/>
            <a:ext cx="54864" cy="1325880"/>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9975" y="3319272"/>
            <a:ext cx="3566159" cy="310896"/>
          </a:xfrm>
          <a:prstGeom prst="rect">
            <a:avLst/>
          </a:prstGeom>
          <a:noFill/>
        </p:spPr>
        <p:txBody>
          <a:bodyPr wrap="square">
            <a:spAutoFit/>
          </a:bodyPr>
          <a:lstStyle/>
          <a:p>
            <a:pPr algn="l"/>
            <a:r>
              <a:rPr sz="1050" b="1" i="0">
                <a:solidFill>
                  <a:srgbClr val="16325C"/>
                </a:solidFill>
              </a:rPr>
              <a:t>20 Regions</a:t>
            </a:r>
          </a:p>
        </p:txBody>
      </p:sp>
      <p:sp>
        <p:nvSpPr>
          <p:cNvPr id="30" name="TextBox 29"/>
          <p:cNvSpPr txBox="1"/>
          <p:nvPr/>
        </p:nvSpPr>
        <p:spPr>
          <a:xfrm>
            <a:off x="4379975" y="3611880"/>
            <a:ext cx="3566159" cy="832104"/>
          </a:xfrm>
          <a:prstGeom prst="rect">
            <a:avLst/>
          </a:prstGeom>
          <a:noFill/>
        </p:spPr>
        <p:txBody>
          <a:bodyPr wrap="square">
            <a:spAutoFit/>
          </a:bodyPr>
          <a:lstStyle/>
          <a:p>
            <a:pPr algn="l"/>
            <a:r>
              <a:rPr sz="950" b="0" i="0">
                <a:solidFill>
                  <a:srgbClr val="3A4356"/>
                </a:solidFill>
              </a:rPr>
              <a:t>Each with its own labour, energy and machine rates, shown in its own currency.</a:t>
            </a:r>
          </a:p>
        </p:txBody>
      </p:sp>
      <p:sp>
        <p:nvSpPr>
          <p:cNvPr id="31" name="Rectangle 30"/>
          <p:cNvSpPr/>
          <p:nvPr/>
        </p:nvSpPr>
        <p:spPr>
          <a:xfrm>
            <a:off x="8092438" y="3227832"/>
            <a:ext cx="3749039" cy="132588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92438" y="3227832"/>
            <a:ext cx="54864" cy="1325880"/>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0454" y="3319272"/>
            <a:ext cx="3566159" cy="310896"/>
          </a:xfrm>
          <a:prstGeom prst="rect">
            <a:avLst/>
          </a:prstGeom>
          <a:noFill/>
        </p:spPr>
        <p:txBody>
          <a:bodyPr wrap="square">
            <a:spAutoFit/>
          </a:bodyPr>
          <a:lstStyle/>
          <a:p>
            <a:pPr algn="l"/>
            <a:r>
              <a:rPr sz="1050" b="1" i="0">
                <a:solidFill>
                  <a:srgbClr val="16325C"/>
                </a:solidFill>
              </a:rPr>
              <a:t>Checks Its Own Work</a:t>
            </a:r>
          </a:p>
        </p:txBody>
      </p:sp>
      <p:sp>
        <p:nvSpPr>
          <p:cNvPr id="34" name="TextBox 33"/>
          <p:cNvSpPr txBox="1"/>
          <p:nvPr/>
        </p:nvSpPr>
        <p:spPr>
          <a:xfrm>
            <a:off x="8220454" y="3611880"/>
            <a:ext cx="3566159" cy="832104"/>
          </a:xfrm>
          <a:prstGeom prst="rect">
            <a:avLst/>
          </a:prstGeom>
          <a:noFill/>
        </p:spPr>
        <p:txBody>
          <a:bodyPr wrap="square">
            <a:spAutoFit/>
          </a:bodyPr>
          <a:lstStyle/>
          <a:p>
            <a:pPr algn="l"/>
            <a:r>
              <a:rPr sz="950" b="0" i="0">
                <a:solidFill>
                  <a:srgbClr val="3A4356"/>
                </a:solidFill>
              </a:rPr>
              <a:t>A self-audit and a P10–P90 uncertainty band come with every result.</a:t>
            </a:r>
          </a:p>
        </p:txBody>
      </p:sp>
      <p:sp>
        <p:nvSpPr>
          <p:cNvPr id="35" name="Rectangle 34"/>
          <p:cNvSpPr/>
          <p:nvPr/>
        </p:nvSpPr>
        <p:spPr>
          <a:xfrm>
            <a:off x="411480" y="4645152"/>
            <a:ext cx="3749039" cy="132588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1480" y="4645152"/>
            <a:ext cx="54864" cy="132588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9496" y="4736592"/>
            <a:ext cx="3566159" cy="310896"/>
          </a:xfrm>
          <a:prstGeom prst="rect">
            <a:avLst/>
          </a:prstGeom>
          <a:noFill/>
        </p:spPr>
        <p:txBody>
          <a:bodyPr wrap="square">
            <a:spAutoFit/>
          </a:bodyPr>
          <a:lstStyle/>
          <a:p>
            <a:pPr algn="l"/>
            <a:r>
              <a:rPr sz="1050" b="1" i="0">
                <a:solidFill>
                  <a:srgbClr val="16325C"/>
                </a:solidFill>
              </a:rPr>
              <a:t>Supplier Quote Comparison</a:t>
            </a:r>
          </a:p>
        </p:txBody>
      </p:sp>
      <p:sp>
        <p:nvSpPr>
          <p:cNvPr id="38" name="TextBox 37"/>
          <p:cNvSpPr txBox="1"/>
          <p:nvPr/>
        </p:nvSpPr>
        <p:spPr>
          <a:xfrm>
            <a:off x="539496" y="5029200"/>
            <a:ext cx="3566159" cy="832104"/>
          </a:xfrm>
          <a:prstGeom prst="rect">
            <a:avLst/>
          </a:prstGeom>
          <a:noFill/>
        </p:spPr>
        <p:txBody>
          <a:bodyPr wrap="square">
            <a:spAutoFit/>
          </a:bodyPr>
          <a:lstStyle/>
          <a:p>
            <a:pPr algn="l"/>
            <a:r>
              <a:rPr sz="950" b="0" i="0">
                <a:solidFill>
                  <a:srgbClr val="3A4356"/>
                </a:solidFill>
              </a:rPr>
              <a:t>Put a quote next to the should-cost, bucket by bucket, and see where the gap is.</a:t>
            </a:r>
          </a:p>
        </p:txBody>
      </p:sp>
      <p:sp>
        <p:nvSpPr>
          <p:cNvPr id="39" name="Rectangle 38"/>
          <p:cNvSpPr/>
          <p:nvPr/>
        </p:nvSpPr>
        <p:spPr>
          <a:xfrm>
            <a:off x="4251959" y="4645152"/>
            <a:ext cx="3749039" cy="132588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51959" y="4645152"/>
            <a:ext cx="54864" cy="1325880"/>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79975" y="4736592"/>
            <a:ext cx="3566159" cy="310896"/>
          </a:xfrm>
          <a:prstGeom prst="rect">
            <a:avLst/>
          </a:prstGeom>
          <a:noFill/>
        </p:spPr>
        <p:txBody>
          <a:bodyPr wrap="square">
            <a:spAutoFit/>
          </a:bodyPr>
          <a:lstStyle/>
          <a:p>
            <a:pPr algn="l"/>
            <a:r>
              <a:rPr sz="1050" b="1" i="0">
                <a:solidFill>
                  <a:srgbClr val="16325C"/>
                </a:solidFill>
              </a:rPr>
              <a:t>DFM / DFA Advice</a:t>
            </a:r>
          </a:p>
        </p:txBody>
      </p:sp>
      <p:sp>
        <p:nvSpPr>
          <p:cNvPr id="42" name="TextBox 41"/>
          <p:cNvSpPr txBox="1"/>
          <p:nvPr/>
        </p:nvSpPr>
        <p:spPr>
          <a:xfrm>
            <a:off x="4379975" y="5029200"/>
            <a:ext cx="3566159" cy="832104"/>
          </a:xfrm>
          <a:prstGeom prst="rect">
            <a:avLst/>
          </a:prstGeom>
          <a:noFill/>
        </p:spPr>
        <p:txBody>
          <a:bodyPr wrap="square">
            <a:spAutoFit/>
          </a:bodyPr>
          <a:lstStyle/>
          <a:p>
            <a:pPr algn="l"/>
            <a:r>
              <a:rPr sz="950" b="0" i="0">
                <a:solidFill>
                  <a:srgbClr val="3A4356"/>
                </a:solidFill>
              </a:rPr>
              <a:t>Rule-based advice on how to make the part cheaper. It never changes the price.</a:t>
            </a:r>
          </a:p>
        </p:txBody>
      </p:sp>
      <p:sp>
        <p:nvSpPr>
          <p:cNvPr id="43" name="Rectangle 42"/>
          <p:cNvSpPr/>
          <p:nvPr/>
        </p:nvSpPr>
        <p:spPr>
          <a:xfrm>
            <a:off x="8092438" y="4645152"/>
            <a:ext cx="3749039" cy="132588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092438" y="4645152"/>
            <a:ext cx="54864" cy="1325880"/>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0454" y="4736592"/>
            <a:ext cx="3566159" cy="310896"/>
          </a:xfrm>
          <a:prstGeom prst="rect">
            <a:avLst/>
          </a:prstGeom>
          <a:noFill/>
        </p:spPr>
        <p:txBody>
          <a:bodyPr wrap="square">
            <a:spAutoFit/>
          </a:bodyPr>
          <a:lstStyle/>
          <a:p>
            <a:pPr algn="l"/>
            <a:r>
              <a:rPr sz="1050" b="1" i="0">
                <a:solidFill>
                  <a:srgbClr val="16325C"/>
                </a:solidFill>
              </a:rPr>
              <a:t>Exports</a:t>
            </a:r>
          </a:p>
        </p:txBody>
      </p:sp>
      <p:sp>
        <p:nvSpPr>
          <p:cNvPr id="46" name="TextBox 45"/>
          <p:cNvSpPr txBox="1"/>
          <p:nvPr/>
        </p:nvSpPr>
        <p:spPr>
          <a:xfrm>
            <a:off x="8220454" y="5029200"/>
            <a:ext cx="3566159" cy="832104"/>
          </a:xfrm>
          <a:prstGeom prst="rect">
            <a:avLst/>
          </a:prstGeom>
          <a:noFill/>
        </p:spPr>
        <p:txBody>
          <a:bodyPr wrap="square">
            <a:spAutoFit/>
          </a:bodyPr>
          <a:lstStyle/>
          <a:p>
            <a:pPr algn="l"/>
            <a:r>
              <a:rPr sz="950" b="0" i="0">
                <a:solidFill>
                  <a:srgbClr val="3A4356"/>
                </a:solidFill>
              </a:rPr>
              <a:t>6-sheet Excel, PDF report and negotiation pack. Each matches the screen to the penny.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04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OPTIONAL AI MODE · SWITCHED OFF AT JLR</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AI Mode — Built In, Switched Off, Never Sets a Price</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The AI code is in the product but turned off. If AI is ever approved, a setting turns it on — no rebuild.</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TextBox 10"/>
          <p:cNvSpPr txBox="1"/>
          <p:nvPr/>
        </p:nvSpPr>
        <p:spPr>
          <a:xfrm>
            <a:off x="411480" y="1828800"/>
            <a:ext cx="5303520" cy="274320"/>
          </a:xfrm>
          <a:prstGeom prst="rect">
            <a:avLst/>
          </a:prstGeom>
          <a:noFill/>
        </p:spPr>
        <p:txBody>
          <a:bodyPr wrap="square">
            <a:spAutoFit/>
          </a:bodyPr>
          <a:lstStyle/>
          <a:p>
            <a:pPr algn="l"/>
            <a:r>
              <a:rPr sz="1000" b="1" i="0">
                <a:solidFill>
                  <a:srgbClr val="1D6FB8"/>
                </a:solidFill>
              </a:rPr>
              <a:t>How It Works</a:t>
            </a:r>
          </a:p>
        </p:txBody>
      </p:sp>
      <p:sp>
        <p:nvSpPr>
          <p:cNvPr id="12" name="Rectangle 11"/>
          <p:cNvSpPr/>
          <p:nvPr/>
        </p:nvSpPr>
        <p:spPr>
          <a:xfrm>
            <a:off x="411480" y="2148840"/>
            <a:ext cx="5303520" cy="93268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148840"/>
            <a:ext cx="54864" cy="932688"/>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 y="2221992"/>
            <a:ext cx="5120640" cy="256032"/>
          </a:xfrm>
          <a:prstGeom prst="rect">
            <a:avLst/>
          </a:prstGeom>
          <a:noFill/>
        </p:spPr>
        <p:txBody>
          <a:bodyPr wrap="square">
            <a:spAutoFit/>
          </a:bodyPr>
          <a:lstStyle/>
          <a:p>
            <a:pPr algn="l"/>
            <a:r>
              <a:rPr sz="950" b="1" i="0">
                <a:solidFill>
                  <a:srgbClr val="16325C"/>
                </a:solidFill>
              </a:rPr>
              <a:t>1. What it would do (if switched on)</a:t>
            </a:r>
          </a:p>
        </p:txBody>
      </p:sp>
      <p:sp>
        <p:nvSpPr>
          <p:cNvPr id="15" name="TextBox 14"/>
          <p:cNvSpPr txBox="1"/>
          <p:nvPr/>
        </p:nvSpPr>
        <p:spPr>
          <a:xfrm>
            <a:off x="539496" y="2478024"/>
            <a:ext cx="5120640" cy="566928"/>
          </a:xfrm>
          <a:prstGeom prst="rect">
            <a:avLst/>
          </a:prstGeom>
          <a:noFill/>
        </p:spPr>
        <p:txBody>
          <a:bodyPr wrap="square">
            <a:spAutoFit/>
          </a:bodyPr>
          <a:lstStyle/>
          <a:p>
            <a:pPr algn="l"/>
            <a:r>
              <a:rPr sz="900" b="0" i="0">
                <a:solidFill>
                  <a:srgbClr val="3A4356"/>
                </a:solidFill>
              </a:rPr>
              <a:t>Read a plain-English description, a drawing or a PCB photo, and suggest the inputs: material, process route, features.</a:t>
            </a:r>
          </a:p>
        </p:txBody>
      </p:sp>
      <p:sp>
        <p:nvSpPr>
          <p:cNvPr id="16" name="Rectangle 15"/>
          <p:cNvSpPr/>
          <p:nvPr/>
        </p:nvSpPr>
        <p:spPr>
          <a:xfrm>
            <a:off x="411480" y="3136392"/>
            <a:ext cx="5303520" cy="93268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136392"/>
            <a:ext cx="54864" cy="932688"/>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9496" y="3209544"/>
            <a:ext cx="5120640" cy="256032"/>
          </a:xfrm>
          <a:prstGeom prst="rect">
            <a:avLst/>
          </a:prstGeom>
          <a:noFill/>
        </p:spPr>
        <p:txBody>
          <a:bodyPr wrap="square">
            <a:spAutoFit/>
          </a:bodyPr>
          <a:lstStyle/>
          <a:p>
            <a:pPr algn="l"/>
            <a:r>
              <a:rPr sz="950" b="1" i="0">
                <a:solidFill>
                  <a:srgbClr val="16325C"/>
                </a:solidFill>
              </a:rPr>
              <a:t>2. What it never does</a:t>
            </a:r>
          </a:p>
        </p:txBody>
      </p:sp>
      <p:sp>
        <p:nvSpPr>
          <p:cNvPr id="19" name="TextBox 18"/>
          <p:cNvSpPr txBox="1"/>
          <p:nvPr/>
        </p:nvSpPr>
        <p:spPr>
          <a:xfrm>
            <a:off x="539496" y="3465576"/>
            <a:ext cx="5120640" cy="566928"/>
          </a:xfrm>
          <a:prstGeom prst="rect">
            <a:avLst/>
          </a:prstGeom>
          <a:noFill/>
        </p:spPr>
        <p:txBody>
          <a:bodyPr wrap="square">
            <a:spAutoFit/>
          </a:bodyPr>
          <a:lstStyle/>
          <a:p>
            <a:pPr algn="l"/>
            <a:r>
              <a:rPr sz="900" b="0" i="0">
                <a:solidFill>
                  <a:srgbClr val="3A4356"/>
                </a:solidFill>
              </a:rPr>
              <a:t>Set a price. Every pound is calculated by the same rules engine, from the rate library.</a:t>
            </a:r>
          </a:p>
        </p:txBody>
      </p:sp>
      <p:sp>
        <p:nvSpPr>
          <p:cNvPr id="20" name="Rectangle 19"/>
          <p:cNvSpPr/>
          <p:nvPr/>
        </p:nvSpPr>
        <p:spPr>
          <a:xfrm>
            <a:off x="411480" y="4123944"/>
            <a:ext cx="5303520" cy="93268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4123944"/>
            <a:ext cx="54864" cy="932688"/>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6" y="4197096"/>
            <a:ext cx="5120640" cy="256032"/>
          </a:xfrm>
          <a:prstGeom prst="rect">
            <a:avLst/>
          </a:prstGeom>
          <a:noFill/>
        </p:spPr>
        <p:txBody>
          <a:bodyPr wrap="square">
            <a:spAutoFit/>
          </a:bodyPr>
          <a:lstStyle/>
          <a:p>
            <a:pPr algn="l"/>
            <a:r>
              <a:rPr sz="950" b="1" i="0">
                <a:solidFill>
                  <a:srgbClr val="16325C"/>
                </a:solidFill>
              </a:rPr>
              <a:t>3. How it is kept in check</a:t>
            </a:r>
          </a:p>
        </p:txBody>
      </p:sp>
      <p:sp>
        <p:nvSpPr>
          <p:cNvPr id="23" name="TextBox 22"/>
          <p:cNvSpPr txBox="1"/>
          <p:nvPr/>
        </p:nvSpPr>
        <p:spPr>
          <a:xfrm>
            <a:off x="539496" y="4453128"/>
            <a:ext cx="5120640" cy="566928"/>
          </a:xfrm>
          <a:prstGeom prst="rect">
            <a:avLst/>
          </a:prstGeom>
          <a:noFill/>
        </p:spPr>
        <p:txBody>
          <a:bodyPr wrap="square">
            <a:spAutoFit/>
          </a:bodyPr>
          <a:lstStyle/>
          <a:p>
            <a:pPr algn="l"/>
            <a:r>
              <a:rPr sz="900" b="0" i="0">
                <a:solidFill>
                  <a:srgbClr val="3A4356"/>
                </a:solidFill>
              </a:rPr>
              <a:t>Its suggestions are checked against the measured geometry. Every AI route is rate-limited per user.</a:t>
            </a:r>
          </a:p>
        </p:txBody>
      </p:sp>
      <p:sp>
        <p:nvSpPr>
          <p:cNvPr id="24" name="Rectangle 23"/>
          <p:cNvSpPr/>
          <p:nvPr/>
        </p:nvSpPr>
        <p:spPr>
          <a:xfrm>
            <a:off x="411480" y="5111496"/>
            <a:ext cx="5303520" cy="93268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5111496"/>
            <a:ext cx="54864" cy="932688"/>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9496" y="5184648"/>
            <a:ext cx="5120640" cy="256032"/>
          </a:xfrm>
          <a:prstGeom prst="rect">
            <a:avLst/>
          </a:prstGeom>
          <a:noFill/>
        </p:spPr>
        <p:txBody>
          <a:bodyPr wrap="square">
            <a:spAutoFit/>
          </a:bodyPr>
          <a:lstStyle/>
          <a:p>
            <a:pPr algn="l"/>
            <a:r>
              <a:rPr sz="950" b="1" i="0">
                <a:solidFill>
                  <a:srgbClr val="16325C"/>
                </a:solidFill>
              </a:rPr>
              <a:t>4. What JLR sees today</a:t>
            </a:r>
          </a:p>
        </p:txBody>
      </p:sp>
      <p:sp>
        <p:nvSpPr>
          <p:cNvPr id="27" name="TextBox 26"/>
          <p:cNvSpPr txBox="1"/>
          <p:nvPr/>
        </p:nvSpPr>
        <p:spPr>
          <a:xfrm>
            <a:off x="539496" y="5440680"/>
            <a:ext cx="5120640" cy="566928"/>
          </a:xfrm>
          <a:prstGeom prst="rect">
            <a:avLst/>
          </a:prstGeom>
          <a:noFill/>
        </p:spPr>
        <p:txBody>
          <a:bodyPr wrap="square">
            <a:spAutoFit/>
          </a:bodyPr>
          <a:lstStyle/>
          <a:p>
            <a:pPr algn="l"/>
            <a:r>
              <a:rPr sz="900" b="0" i="0">
                <a:solidFill>
                  <a:srgbClr val="3A4356"/>
                </a:solidFill>
              </a:rPr>
              <a:t>Screens that need AI are hidden. If you reach one, the tool says "AI is switched off in this installation".</a:t>
            </a:r>
          </a:p>
        </p:txBody>
      </p:sp>
      <p:sp>
        <p:nvSpPr>
          <p:cNvPr id="28" name="Rectangle 27"/>
          <p:cNvSpPr/>
          <p:nvPr/>
        </p:nvSpPr>
        <p:spPr>
          <a:xfrm>
            <a:off x="6035040" y="1828800"/>
            <a:ext cx="5760720" cy="3429000"/>
          </a:xfrm>
          <a:prstGeom prst="rect">
            <a:avLst/>
          </a:prstGeom>
          <a:solidFill>
            <a:srgbClr val="F7F9FC"/>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035040" y="1828800"/>
            <a:ext cx="5760720"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63056" y="1892808"/>
            <a:ext cx="5577840" cy="228600"/>
          </a:xfrm>
          <a:prstGeom prst="rect">
            <a:avLst/>
          </a:prstGeom>
          <a:noFill/>
        </p:spPr>
        <p:txBody>
          <a:bodyPr wrap="square">
            <a:spAutoFit/>
          </a:bodyPr>
          <a:lstStyle/>
          <a:p>
            <a:pPr algn="l"/>
            <a:r>
              <a:rPr sz="850" b="1" i="0">
                <a:solidFill>
                  <a:srgbClr val="1D6FB8"/>
                </a:solidFill>
              </a:rPr>
              <a:t>●  CostVision — JLR build, AI switched off</a:t>
            </a:r>
          </a:p>
        </p:txBody>
      </p:sp>
      <p:sp>
        <p:nvSpPr>
          <p:cNvPr id="31" name="Rectangle 30"/>
          <p:cNvSpPr/>
          <p:nvPr/>
        </p:nvSpPr>
        <p:spPr>
          <a:xfrm>
            <a:off x="6163056" y="2231136"/>
            <a:ext cx="5504688" cy="42976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54496" y="2286000"/>
            <a:ext cx="5303520" cy="338328"/>
          </a:xfrm>
          <a:prstGeom prst="rect">
            <a:avLst/>
          </a:prstGeom>
          <a:noFill/>
        </p:spPr>
        <p:txBody>
          <a:bodyPr wrap="square">
            <a:spAutoFit/>
          </a:bodyPr>
          <a:lstStyle/>
          <a:p>
            <a:pPr algn="l"/>
            <a:r>
              <a:rPr sz="750" b="0" i="0">
                <a:solidFill>
                  <a:srgbClr val="3A4356"/>
                </a:solidFill>
              </a:rPr>
              <a:t>You: Aluminium bracket, 6082-T6, 200 × 100 × 50 mm, three holes, 5,000 a year, UK</a:t>
            </a:r>
          </a:p>
        </p:txBody>
      </p:sp>
      <p:sp>
        <p:nvSpPr>
          <p:cNvPr id="33" name="Rectangle 32"/>
          <p:cNvSpPr/>
          <p:nvPr/>
        </p:nvSpPr>
        <p:spPr>
          <a:xfrm>
            <a:off x="6163056" y="2734056"/>
            <a:ext cx="5504688" cy="1005840"/>
          </a:xfrm>
          <a:prstGeom prst="rect">
            <a:avLst/>
          </a:prstGeom>
          <a:solidFill>
            <a:srgbClr val="E8F1FA"/>
          </a:solidFill>
          <a:ln w="635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4496" y="2788920"/>
            <a:ext cx="5303520" cy="914400"/>
          </a:xfrm>
          <a:prstGeom prst="rect">
            <a:avLst/>
          </a:prstGeom>
          <a:noFill/>
        </p:spPr>
        <p:txBody>
          <a:bodyPr wrap="square">
            <a:spAutoFit/>
          </a:bodyPr>
          <a:lstStyle/>
          <a:p>
            <a:pPr algn="l"/>
            <a:r>
              <a:rPr sz="750" b="0" i="0">
                <a:solidFill>
                  <a:srgbClr val="16325C"/>
                </a:solidFill>
              </a:rPr>
              <a:t>CostVision: AI is switched off in this installation.
Costing, CAD geometry and the learning loop work without it.
• Upload the STEP file, or
• Fill in the machining form</a:t>
            </a:r>
          </a:p>
        </p:txBody>
      </p:sp>
      <p:sp>
        <p:nvSpPr>
          <p:cNvPr id="35" name="Rectangle 34"/>
          <p:cNvSpPr/>
          <p:nvPr/>
        </p:nvSpPr>
        <p:spPr>
          <a:xfrm>
            <a:off x="6163056" y="3813048"/>
            <a:ext cx="5504688" cy="42976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4496" y="3867912"/>
            <a:ext cx="5303520" cy="338328"/>
          </a:xfrm>
          <a:prstGeom prst="rect">
            <a:avLst/>
          </a:prstGeom>
          <a:noFill/>
        </p:spPr>
        <p:txBody>
          <a:bodyPr wrap="square">
            <a:spAutoFit/>
          </a:bodyPr>
          <a:lstStyle/>
          <a:p>
            <a:pPr algn="l"/>
            <a:r>
              <a:rPr sz="750" b="0" i="0">
                <a:solidFill>
                  <a:srgbClr val="3A4356"/>
                </a:solidFill>
              </a:rPr>
              <a:t>You: Uploads bracket.step</a:t>
            </a:r>
          </a:p>
        </p:txBody>
      </p:sp>
      <p:sp>
        <p:nvSpPr>
          <p:cNvPr id="37" name="Rectangle 36"/>
          <p:cNvSpPr/>
          <p:nvPr/>
        </p:nvSpPr>
        <p:spPr>
          <a:xfrm>
            <a:off x="6163056" y="4315968"/>
            <a:ext cx="5504688" cy="813816"/>
          </a:xfrm>
          <a:prstGeom prst="rect">
            <a:avLst/>
          </a:prstGeom>
          <a:solidFill>
            <a:srgbClr val="E8F1FA"/>
          </a:solidFill>
          <a:ln w="635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54496" y="4370832"/>
            <a:ext cx="5303520" cy="722376"/>
          </a:xfrm>
          <a:prstGeom prst="rect">
            <a:avLst/>
          </a:prstGeom>
          <a:noFill/>
        </p:spPr>
        <p:txBody>
          <a:bodyPr wrap="square">
            <a:spAutoFit/>
          </a:bodyPr>
          <a:lstStyle/>
          <a:p>
            <a:pPr algn="l"/>
            <a:r>
              <a:rPr sz="750" b="0" i="0">
                <a:solidFill>
                  <a:srgbClr val="16325C"/>
                </a:solidFill>
              </a:rPr>
              <a:t>CostVision: Measured: volume, weight, size, walls, holes.
One question: which process route — machining or casting?
Then: cost from the rate library, in eight buckets.</a:t>
            </a:r>
          </a:p>
        </p:txBody>
      </p:sp>
      <p:sp>
        <p:nvSpPr>
          <p:cNvPr id="39" name="TextBox 38"/>
          <p:cNvSpPr txBox="1"/>
          <p:nvPr/>
        </p:nvSpPr>
        <p:spPr>
          <a:xfrm>
            <a:off x="6035040" y="5367528"/>
            <a:ext cx="868680" cy="201168"/>
          </a:xfrm>
          <a:prstGeom prst="rect">
            <a:avLst/>
          </a:prstGeom>
          <a:noFill/>
        </p:spPr>
        <p:txBody>
          <a:bodyPr wrap="none">
            <a:spAutoFit/>
          </a:bodyPr>
          <a:lstStyle/>
          <a:p>
            <a:pPr algn="l"/>
            <a:r>
              <a:rPr sz="850" b="1" i="0">
                <a:solidFill>
                  <a:srgbClr val="2A7F50"/>
                </a:solidFill>
              </a:rPr>
              <a:t>At JLR</a:t>
            </a:r>
          </a:p>
        </p:txBody>
      </p:sp>
      <p:sp>
        <p:nvSpPr>
          <p:cNvPr id="40" name="TextBox 39"/>
          <p:cNvSpPr txBox="1"/>
          <p:nvPr/>
        </p:nvSpPr>
        <p:spPr>
          <a:xfrm>
            <a:off x="6995160" y="5367528"/>
            <a:ext cx="1200150" cy="201168"/>
          </a:xfrm>
          <a:prstGeom prst="rect">
            <a:avLst/>
          </a:prstGeom>
          <a:noFill/>
        </p:spPr>
        <p:txBody>
          <a:bodyPr wrap="none">
            <a:spAutoFit/>
          </a:bodyPr>
          <a:lstStyle/>
          <a:p>
            <a:pPr algn="l"/>
            <a:r>
              <a:rPr sz="750" b="0" i="0">
                <a:solidFill>
                  <a:srgbClr val="3A4356"/>
                </a:solidFill>
              </a:rPr>
              <a:t>No AI, no key</a:t>
            </a:r>
          </a:p>
        </p:txBody>
      </p:sp>
      <p:sp>
        <p:nvSpPr>
          <p:cNvPr id="41" name="TextBox 40"/>
          <p:cNvSpPr txBox="1"/>
          <p:nvPr/>
        </p:nvSpPr>
        <p:spPr>
          <a:xfrm>
            <a:off x="8195310" y="5367528"/>
            <a:ext cx="1200150" cy="201168"/>
          </a:xfrm>
          <a:prstGeom prst="rect">
            <a:avLst/>
          </a:prstGeom>
          <a:noFill/>
        </p:spPr>
        <p:txBody>
          <a:bodyPr wrap="none">
            <a:spAutoFit/>
          </a:bodyPr>
          <a:lstStyle/>
          <a:p>
            <a:pPr algn="l"/>
            <a:r>
              <a:rPr sz="750" b="0" i="0">
                <a:solidFill>
                  <a:srgbClr val="3A4356"/>
                </a:solidFill>
              </a:rPr>
              <a:t>Same engine either way</a:t>
            </a:r>
          </a:p>
        </p:txBody>
      </p:sp>
      <p:sp>
        <p:nvSpPr>
          <p:cNvPr id="42" name="TextBox 41"/>
          <p:cNvSpPr txBox="1"/>
          <p:nvPr/>
        </p:nvSpPr>
        <p:spPr>
          <a:xfrm>
            <a:off x="9395460" y="5367528"/>
            <a:ext cx="1200150" cy="201168"/>
          </a:xfrm>
          <a:prstGeom prst="rect">
            <a:avLst/>
          </a:prstGeom>
          <a:noFill/>
        </p:spPr>
        <p:txBody>
          <a:bodyPr wrap="none">
            <a:spAutoFit/>
          </a:bodyPr>
          <a:lstStyle/>
          <a:p>
            <a:pPr algn="l"/>
            <a:r>
              <a:rPr sz="750" b="0" i="0">
                <a:solidFill>
                  <a:srgbClr val="3A4356"/>
                </a:solidFill>
              </a:rPr>
              <a:t>Works offline</a:t>
            </a:r>
          </a:p>
        </p:txBody>
      </p:sp>
      <p:sp>
        <p:nvSpPr>
          <p:cNvPr id="43" name="TextBox 42"/>
          <p:cNvSpPr txBox="1"/>
          <p:nvPr/>
        </p:nvSpPr>
        <p:spPr>
          <a:xfrm>
            <a:off x="10595610" y="5367528"/>
            <a:ext cx="1200150" cy="201168"/>
          </a:xfrm>
          <a:prstGeom prst="rect">
            <a:avLst/>
          </a:prstGeom>
          <a:noFill/>
        </p:spPr>
        <p:txBody>
          <a:bodyPr wrap="none">
            <a:spAutoFit/>
          </a:bodyPr>
          <a:lstStyle/>
          <a:p>
            <a:pPr algn="l"/>
            <a:r>
              <a:rPr sz="750" b="0" i="0">
                <a:solidFill>
                  <a:srgbClr val="3A4356"/>
                </a:solidFill>
              </a:rPr>
              <a:t>On by a setting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05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CAD TO COST</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CAD to Cost: Measured by the Tool, Checked by You</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The geometry engine measures the part. Rules turn that into cost inputs. You answer what it cannot decide.</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10512"/>
            <a:ext cx="1600200" cy="91440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901952"/>
            <a:ext cx="1600200" cy="502920"/>
          </a:xfrm>
          <a:prstGeom prst="rect">
            <a:avLst/>
          </a:prstGeom>
          <a:noFill/>
        </p:spPr>
        <p:txBody>
          <a:bodyPr wrap="square">
            <a:spAutoFit/>
          </a:bodyPr>
          <a:lstStyle/>
          <a:p>
            <a:pPr algn="ctr"/>
            <a:r>
              <a:rPr sz="2200" b="1" i="0">
                <a:solidFill>
                  <a:srgbClr val="1D6FB8"/>
                </a:solidFill>
              </a:rPr>
              <a:t>&lt;0.01%</a:t>
            </a:r>
          </a:p>
        </p:txBody>
      </p:sp>
      <p:sp>
        <p:nvSpPr>
          <p:cNvPr id="13" name="TextBox 12"/>
          <p:cNvSpPr txBox="1"/>
          <p:nvPr/>
        </p:nvSpPr>
        <p:spPr>
          <a:xfrm>
            <a:off x="411480" y="2377440"/>
            <a:ext cx="1600200" cy="347472"/>
          </a:xfrm>
          <a:prstGeom prst="rect">
            <a:avLst/>
          </a:prstGeom>
          <a:noFill/>
        </p:spPr>
        <p:txBody>
          <a:bodyPr wrap="square">
            <a:spAutoFit/>
          </a:bodyPr>
          <a:lstStyle/>
          <a:p>
            <a:pPr algn="ctr"/>
            <a:r>
              <a:rPr sz="800" b="0" i="0">
                <a:solidFill>
                  <a:srgbClr val="3A4356"/>
                </a:solidFill>
              </a:rPr>
              <a:t>Engine vs hand calc, reference part</a:t>
            </a:r>
          </a:p>
        </p:txBody>
      </p:sp>
      <p:sp>
        <p:nvSpPr>
          <p:cNvPr id="14" name="Rectangle 13"/>
          <p:cNvSpPr/>
          <p:nvPr/>
        </p:nvSpPr>
        <p:spPr>
          <a:xfrm>
            <a:off x="2103120" y="1810512"/>
            <a:ext cx="1600200" cy="91440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1901952"/>
            <a:ext cx="1600200" cy="502920"/>
          </a:xfrm>
          <a:prstGeom prst="rect">
            <a:avLst/>
          </a:prstGeom>
          <a:noFill/>
        </p:spPr>
        <p:txBody>
          <a:bodyPr wrap="square">
            <a:spAutoFit/>
          </a:bodyPr>
          <a:lstStyle/>
          <a:p>
            <a:pPr algn="ctr"/>
            <a:r>
              <a:rPr sz="2200" b="1" i="0">
                <a:solidFill>
                  <a:srgbClr val="2A7F50"/>
                </a:solidFill>
              </a:rPr>
              <a:t>8</a:t>
            </a:r>
          </a:p>
        </p:txBody>
      </p:sp>
      <p:sp>
        <p:nvSpPr>
          <p:cNvPr id="16" name="TextBox 15"/>
          <p:cNvSpPr txBox="1"/>
          <p:nvPr/>
        </p:nvSpPr>
        <p:spPr>
          <a:xfrm>
            <a:off x="2103120" y="2377440"/>
            <a:ext cx="1600200" cy="347472"/>
          </a:xfrm>
          <a:prstGeom prst="rect">
            <a:avLst/>
          </a:prstGeom>
          <a:noFill/>
        </p:spPr>
        <p:txBody>
          <a:bodyPr wrap="square">
            <a:spAutoFit/>
          </a:bodyPr>
          <a:lstStyle/>
          <a:p>
            <a:pPr algn="ctr"/>
            <a:r>
              <a:rPr sz="800" b="0" i="0">
                <a:solidFill>
                  <a:srgbClr val="3A4356"/>
                </a:solidFill>
              </a:rPr>
              <a:t>Cost buckets, each traced to a rate</a:t>
            </a:r>
          </a:p>
        </p:txBody>
      </p:sp>
      <p:sp>
        <p:nvSpPr>
          <p:cNvPr id="17" name="Rectangle 16"/>
          <p:cNvSpPr/>
          <p:nvPr/>
        </p:nvSpPr>
        <p:spPr>
          <a:xfrm>
            <a:off x="3794760" y="1810512"/>
            <a:ext cx="1600200" cy="91440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94760" y="1901952"/>
            <a:ext cx="1600200" cy="502920"/>
          </a:xfrm>
          <a:prstGeom prst="rect">
            <a:avLst/>
          </a:prstGeom>
          <a:noFill/>
        </p:spPr>
        <p:txBody>
          <a:bodyPr wrap="square">
            <a:spAutoFit/>
          </a:bodyPr>
          <a:lstStyle/>
          <a:p>
            <a:pPr algn="ctr"/>
            <a:r>
              <a:rPr sz="2200" b="1" i="0">
                <a:solidFill>
                  <a:srgbClr val="99651A"/>
                </a:solidFill>
              </a:rPr>
              <a:t>6</a:t>
            </a:r>
          </a:p>
        </p:txBody>
      </p:sp>
      <p:sp>
        <p:nvSpPr>
          <p:cNvPr id="19" name="TextBox 18"/>
          <p:cNvSpPr txBox="1"/>
          <p:nvPr/>
        </p:nvSpPr>
        <p:spPr>
          <a:xfrm>
            <a:off x="3794760" y="2377440"/>
            <a:ext cx="1600200" cy="347472"/>
          </a:xfrm>
          <a:prstGeom prst="rect">
            <a:avLst/>
          </a:prstGeom>
          <a:noFill/>
        </p:spPr>
        <p:txBody>
          <a:bodyPr wrap="square">
            <a:spAutoFit/>
          </a:bodyPr>
          <a:lstStyle/>
          <a:p>
            <a:pPr algn="ctr"/>
            <a:r>
              <a:rPr sz="800" b="0" i="0">
                <a:solidFill>
                  <a:srgbClr val="3A4356"/>
                </a:solidFill>
              </a:rPr>
              <a:t>Real parts pinned in regression</a:t>
            </a:r>
          </a:p>
        </p:txBody>
      </p:sp>
      <p:sp>
        <p:nvSpPr>
          <p:cNvPr id="20" name="Rectangle 19"/>
          <p:cNvSpPr/>
          <p:nvPr/>
        </p:nvSpPr>
        <p:spPr>
          <a:xfrm>
            <a:off x="411480" y="2852928"/>
            <a:ext cx="5486400" cy="34747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2852928"/>
            <a:ext cx="5486400" cy="36576"/>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889504"/>
            <a:ext cx="5212080" cy="274320"/>
          </a:xfrm>
          <a:prstGeom prst="rect">
            <a:avLst/>
          </a:prstGeom>
          <a:noFill/>
        </p:spPr>
        <p:txBody>
          <a:bodyPr wrap="square">
            <a:spAutoFit/>
          </a:bodyPr>
          <a:lstStyle/>
          <a:p>
            <a:pPr algn="l"/>
            <a:r>
              <a:rPr sz="950" b="1" i="0">
                <a:solidFill>
                  <a:srgbClr val="16325C"/>
                </a:solidFill>
              </a:rPr>
              <a:t>What the Tool Measures</a:t>
            </a:r>
          </a:p>
        </p:txBody>
      </p:sp>
      <p:sp>
        <p:nvSpPr>
          <p:cNvPr id="23" name="Rectangle 22"/>
          <p:cNvSpPr/>
          <p:nvPr/>
        </p:nvSpPr>
        <p:spPr>
          <a:xfrm>
            <a:off x="594360" y="3364992"/>
            <a:ext cx="54864" cy="5486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246120"/>
            <a:ext cx="4937760" cy="329184"/>
          </a:xfrm>
          <a:prstGeom prst="rect">
            <a:avLst/>
          </a:prstGeom>
          <a:noFill/>
        </p:spPr>
        <p:txBody>
          <a:bodyPr wrap="square">
            <a:spAutoFit/>
          </a:bodyPr>
          <a:lstStyle/>
          <a:p>
            <a:pPr algn="l"/>
            <a:r>
              <a:rPr sz="850" b="0" i="0">
                <a:solidFill>
                  <a:srgbClr val="3A4356"/>
                </a:solidFill>
              </a:rPr>
              <a:t>Volume and weight — weight is volume × the density of the material you pick</a:t>
            </a:r>
          </a:p>
        </p:txBody>
      </p:sp>
      <p:sp>
        <p:nvSpPr>
          <p:cNvPr id="25" name="Rectangle 24"/>
          <p:cNvSpPr/>
          <p:nvPr/>
        </p:nvSpPr>
        <p:spPr>
          <a:xfrm>
            <a:off x="594360" y="3785616"/>
            <a:ext cx="54864" cy="5486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666744"/>
            <a:ext cx="4937760" cy="329184"/>
          </a:xfrm>
          <a:prstGeom prst="rect">
            <a:avLst/>
          </a:prstGeom>
          <a:noFill/>
        </p:spPr>
        <p:txBody>
          <a:bodyPr wrap="square">
            <a:spAutoFit/>
          </a:bodyPr>
          <a:lstStyle/>
          <a:p>
            <a:pPr algn="l"/>
            <a:r>
              <a:rPr sz="850" b="0" i="0">
                <a:solidFill>
                  <a:srgbClr val="3A4356"/>
                </a:solidFill>
              </a:rPr>
              <a:t>Size: bounding box, wall thickness and how much of the box the part fills</a:t>
            </a:r>
          </a:p>
        </p:txBody>
      </p:sp>
      <p:sp>
        <p:nvSpPr>
          <p:cNvPr id="27" name="Rectangle 26"/>
          <p:cNvSpPr/>
          <p:nvPr/>
        </p:nvSpPr>
        <p:spPr>
          <a:xfrm>
            <a:off x="594360" y="4206240"/>
            <a:ext cx="54864" cy="5486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4087368"/>
            <a:ext cx="4937760" cy="329184"/>
          </a:xfrm>
          <a:prstGeom prst="rect">
            <a:avLst/>
          </a:prstGeom>
          <a:noFill/>
        </p:spPr>
        <p:txBody>
          <a:bodyPr wrap="square">
            <a:spAutoFit/>
          </a:bodyPr>
          <a:lstStyle/>
          <a:p>
            <a:pPr algn="l"/>
            <a:r>
              <a:rPr sz="850" b="0" i="0">
                <a:solidFill>
                  <a:srgbClr val="3A4356"/>
                </a:solidFill>
              </a:rPr>
              <a:t>Holes, bosses, threads and other features (from STEP and IGES)</a:t>
            </a:r>
          </a:p>
        </p:txBody>
      </p:sp>
      <p:sp>
        <p:nvSpPr>
          <p:cNvPr id="29" name="Rectangle 28"/>
          <p:cNvSpPr/>
          <p:nvPr/>
        </p:nvSpPr>
        <p:spPr>
          <a:xfrm>
            <a:off x="594360" y="4626864"/>
            <a:ext cx="54864" cy="5486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4507992"/>
            <a:ext cx="4937760" cy="329184"/>
          </a:xfrm>
          <a:prstGeom prst="rect">
            <a:avLst/>
          </a:prstGeom>
          <a:noFill/>
        </p:spPr>
        <p:txBody>
          <a:bodyPr wrap="square">
            <a:spAutoFit/>
          </a:bodyPr>
          <a:lstStyle/>
          <a:p>
            <a:pPr algn="l"/>
            <a:r>
              <a:rPr sz="850" b="0" i="0">
                <a:solidFill>
                  <a:srgbClr val="3A4356"/>
                </a:solidFill>
              </a:rPr>
              <a:t>Face types and areas, for machining and coating</a:t>
            </a:r>
          </a:p>
        </p:txBody>
      </p:sp>
      <p:sp>
        <p:nvSpPr>
          <p:cNvPr id="31" name="Rectangle 30"/>
          <p:cNvSpPr/>
          <p:nvPr/>
        </p:nvSpPr>
        <p:spPr>
          <a:xfrm>
            <a:off x="594360" y="5047488"/>
            <a:ext cx="54864" cy="5486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928616"/>
            <a:ext cx="4937760" cy="329184"/>
          </a:xfrm>
          <a:prstGeom prst="rect">
            <a:avLst/>
          </a:prstGeom>
          <a:noFill/>
        </p:spPr>
        <p:txBody>
          <a:bodyPr wrap="square">
            <a:spAutoFit/>
          </a:bodyPr>
          <a:lstStyle/>
          <a:p>
            <a:pPr algn="l"/>
            <a:r>
              <a:rPr sz="850" b="0" i="0">
                <a:solidFill>
                  <a:srgbClr val="3A4356"/>
                </a:solidFill>
              </a:rPr>
              <a:t>A bottom-up CNC cycle estimate built from the feature table</a:t>
            </a:r>
          </a:p>
        </p:txBody>
      </p:sp>
      <p:sp>
        <p:nvSpPr>
          <p:cNvPr id="33" name="Rectangle 32"/>
          <p:cNvSpPr/>
          <p:nvPr/>
        </p:nvSpPr>
        <p:spPr>
          <a:xfrm>
            <a:off x="594360" y="5468112"/>
            <a:ext cx="54864" cy="5486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5349240"/>
            <a:ext cx="4937760" cy="329184"/>
          </a:xfrm>
          <a:prstGeom prst="rect">
            <a:avLst/>
          </a:prstGeom>
          <a:noFill/>
        </p:spPr>
        <p:txBody>
          <a:bodyPr wrap="square">
            <a:spAutoFit/>
          </a:bodyPr>
          <a:lstStyle/>
          <a:p>
            <a:pPr algn="l"/>
            <a:r>
              <a:rPr sz="850" b="0" i="0">
                <a:solidFill>
                  <a:srgbClr val="3A4356"/>
                </a:solidFill>
              </a:rPr>
              <a:t>Walls over ~6 mm: offered casting, forging or machining — never sheet or moulding</a:t>
            </a:r>
          </a:p>
        </p:txBody>
      </p:sp>
      <p:sp>
        <p:nvSpPr>
          <p:cNvPr id="35" name="Rectangle 34"/>
          <p:cNvSpPr/>
          <p:nvPr/>
        </p:nvSpPr>
        <p:spPr>
          <a:xfrm>
            <a:off x="594360" y="5888736"/>
            <a:ext cx="54864" cy="5486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 y="5769864"/>
            <a:ext cx="4937760" cy="329184"/>
          </a:xfrm>
          <a:prstGeom prst="rect">
            <a:avLst/>
          </a:prstGeom>
          <a:noFill/>
        </p:spPr>
        <p:txBody>
          <a:bodyPr wrap="square">
            <a:spAutoFit/>
          </a:bodyPr>
          <a:lstStyle/>
          <a:p>
            <a:pPr algn="l"/>
            <a:r>
              <a:rPr sz="850" b="0" i="0">
                <a:solidFill>
                  <a:srgbClr val="3A4356"/>
                </a:solidFill>
              </a:rPr>
              <a:t>13 of the 19 processes can be costed straight from CAD this way</a:t>
            </a:r>
          </a:p>
        </p:txBody>
      </p:sp>
      <p:sp>
        <p:nvSpPr>
          <p:cNvPr id="37" name="Rectangle 36"/>
          <p:cNvSpPr/>
          <p:nvPr/>
        </p:nvSpPr>
        <p:spPr>
          <a:xfrm>
            <a:off x="6263640" y="2852928"/>
            <a:ext cx="5486400" cy="3474720"/>
          </a:xfrm>
          <a:prstGeom prst="rect">
            <a:avLst/>
          </a:prstGeom>
          <a:solidFill>
            <a:srgbClr val="F7F9FC"/>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63640" y="2852928"/>
            <a:ext cx="5486400" cy="36576"/>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2926080"/>
            <a:ext cx="5257800" cy="274320"/>
          </a:xfrm>
          <a:prstGeom prst="rect">
            <a:avLst/>
          </a:prstGeom>
          <a:noFill/>
        </p:spPr>
        <p:txBody>
          <a:bodyPr wrap="square">
            <a:spAutoFit/>
          </a:bodyPr>
          <a:lstStyle/>
          <a:p>
            <a:pPr algn="l"/>
            <a:r>
              <a:rPr sz="950" b="1" i="0">
                <a:solidFill>
                  <a:srgbClr val="16325C"/>
                </a:solidFill>
              </a:rPr>
              <a:t>Where the Tool Asks You — and What Comes Out</a:t>
            </a:r>
          </a:p>
        </p:txBody>
      </p:sp>
      <p:sp>
        <p:nvSpPr>
          <p:cNvPr id="40" name="Rectangle 39"/>
          <p:cNvSpPr/>
          <p:nvPr/>
        </p:nvSpPr>
        <p:spPr>
          <a:xfrm>
            <a:off x="6400800" y="3310128"/>
            <a:ext cx="2468880" cy="420624"/>
          </a:xfrm>
          <a:prstGeom prst="rect">
            <a:avLst/>
          </a:prstGeom>
          <a:solidFill>
            <a:srgbClr val="FFFFFF"/>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73952" y="3337560"/>
            <a:ext cx="2322576" cy="164592"/>
          </a:xfrm>
          <a:prstGeom prst="rect">
            <a:avLst/>
          </a:prstGeom>
          <a:noFill/>
        </p:spPr>
        <p:txBody>
          <a:bodyPr wrap="square">
            <a:spAutoFit/>
          </a:bodyPr>
          <a:lstStyle/>
          <a:p>
            <a:pPr algn="l"/>
            <a:r>
              <a:rPr sz="750" b="0" i="0">
                <a:solidFill>
                  <a:srgbClr val="686F7D"/>
                </a:solidFill>
              </a:rPr>
              <a:t>Process route</a:t>
            </a:r>
          </a:p>
        </p:txBody>
      </p:sp>
      <p:sp>
        <p:nvSpPr>
          <p:cNvPr id="42" name="TextBox 41"/>
          <p:cNvSpPr txBox="1"/>
          <p:nvPr/>
        </p:nvSpPr>
        <p:spPr>
          <a:xfrm>
            <a:off x="6473952" y="3511296"/>
            <a:ext cx="2322576" cy="182880"/>
          </a:xfrm>
          <a:prstGeom prst="rect">
            <a:avLst/>
          </a:prstGeom>
          <a:noFill/>
        </p:spPr>
        <p:txBody>
          <a:bodyPr wrap="square">
            <a:spAutoFit/>
          </a:bodyPr>
          <a:lstStyle/>
          <a:p>
            <a:pPr algn="l"/>
            <a:r>
              <a:rPr sz="800" b="1" i="0">
                <a:solidFill>
                  <a:srgbClr val="1D6FB8"/>
                </a:solidFill>
              </a:rPr>
              <a:t>Asked if more than one route fits</a:t>
            </a:r>
          </a:p>
        </p:txBody>
      </p:sp>
      <p:sp>
        <p:nvSpPr>
          <p:cNvPr id="43" name="Rectangle 42"/>
          <p:cNvSpPr/>
          <p:nvPr/>
        </p:nvSpPr>
        <p:spPr>
          <a:xfrm>
            <a:off x="9052560" y="3310128"/>
            <a:ext cx="2468880" cy="420624"/>
          </a:xfrm>
          <a:prstGeom prst="rect">
            <a:avLst/>
          </a:prstGeom>
          <a:solidFill>
            <a:srgbClr val="FFFFFF"/>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25712" y="3337560"/>
            <a:ext cx="2322576" cy="164592"/>
          </a:xfrm>
          <a:prstGeom prst="rect">
            <a:avLst/>
          </a:prstGeom>
          <a:noFill/>
        </p:spPr>
        <p:txBody>
          <a:bodyPr wrap="square">
            <a:spAutoFit/>
          </a:bodyPr>
          <a:lstStyle/>
          <a:p>
            <a:pPr algn="l"/>
            <a:r>
              <a:rPr sz="750" b="0" i="0">
                <a:solidFill>
                  <a:srgbClr val="686F7D"/>
                </a:solidFill>
              </a:rPr>
              <a:t>Material family</a:t>
            </a:r>
          </a:p>
        </p:txBody>
      </p:sp>
      <p:sp>
        <p:nvSpPr>
          <p:cNvPr id="45" name="TextBox 44"/>
          <p:cNvSpPr txBox="1"/>
          <p:nvPr/>
        </p:nvSpPr>
        <p:spPr>
          <a:xfrm>
            <a:off x="9125712" y="3511296"/>
            <a:ext cx="2322576" cy="182880"/>
          </a:xfrm>
          <a:prstGeom prst="rect">
            <a:avLst/>
          </a:prstGeom>
          <a:noFill/>
        </p:spPr>
        <p:txBody>
          <a:bodyPr wrap="square">
            <a:spAutoFit/>
          </a:bodyPr>
          <a:lstStyle/>
          <a:p>
            <a:pPr algn="l"/>
            <a:r>
              <a:rPr sz="800" b="1" i="0">
                <a:solidFill>
                  <a:srgbClr val="1D6FB8"/>
                </a:solidFill>
              </a:rPr>
              <a:t>Asked: steel, aluminium, plastic ...</a:t>
            </a:r>
          </a:p>
        </p:txBody>
      </p:sp>
      <p:sp>
        <p:nvSpPr>
          <p:cNvPr id="46" name="Rectangle 45"/>
          <p:cNvSpPr/>
          <p:nvPr/>
        </p:nvSpPr>
        <p:spPr>
          <a:xfrm>
            <a:off x="6400800" y="3785616"/>
            <a:ext cx="2468880" cy="420624"/>
          </a:xfrm>
          <a:prstGeom prst="rect">
            <a:avLst/>
          </a:prstGeom>
          <a:solidFill>
            <a:srgbClr val="FFFFFF"/>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73952" y="3813048"/>
            <a:ext cx="2322576" cy="164592"/>
          </a:xfrm>
          <a:prstGeom prst="rect">
            <a:avLst/>
          </a:prstGeom>
          <a:noFill/>
        </p:spPr>
        <p:txBody>
          <a:bodyPr wrap="square">
            <a:spAutoFit/>
          </a:bodyPr>
          <a:lstStyle/>
          <a:p>
            <a:pPr algn="l"/>
            <a:r>
              <a:rPr sz="750" b="0" i="0">
                <a:solidFill>
                  <a:srgbClr val="686F7D"/>
                </a:solidFill>
              </a:rPr>
              <a:t>Hole count on an STL</a:t>
            </a:r>
          </a:p>
        </p:txBody>
      </p:sp>
      <p:sp>
        <p:nvSpPr>
          <p:cNvPr id="48" name="TextBox 47"/>
          <p:cNvSpPr txBox="1"/>
          <p:nvPr/>
        </p:nvSpPr>
        <p:spPr>
          <a:xfrm>
            <a:off x="6473952" y="3986784"/>
            <a:ext cx="2322576" cy="182880"/>
          </a:xfrm>
          <a:prstGeom prst="rect">
            <a:avLst/>
          </a:prstGeom>
          <a:noFill/>
        </p:spPr>
        <p:txBody>
          <a:bodyPr wrap="square">
            <a:spAutoFit/>
          </a:bodyPr>
          <a:lstStyle/>
          <a:p>
            <a:pPr algn="l"/>
            <a:r>
              <a:rPr sz="800" b="1" i="0">
                <a:solidFill>
                  <a:srgbClr val="99651A"/>
                </a:solidFill>
              </a:rPr>
              <a:t>Asked: an STL has no feature table</a:t>
            </a:r>
          </a:p>
        </p:txBody>
      </p:sp>
      <p:sp>
        <p:nvSpPr>
          <p:cNvPr id="49" name="Rectangle 48"/>
          <p:cNvSpPr/>
          <p:nvPr/>
        </p:nvSpPr>
        <p:spPr>
          <a:xfrm>
            <a:off x="9052560" y="3785616"/>
            <a:ext cx="2468880" cy="420624"/>
          </a:xfrm>
          <a:prstGeom prst="rect">
            <a:avLst/>
          </a:prstGeom>
          <a:solidFill>
            <a:srgbClr val="FFFFFF"/>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25712" y="3813048"/>
            <a:ext cx="2322576" cy="164592"/>
          </a:xfrm>
          <a:prstGeom prst="rect">
            <a:avLst/>
          </a:prstGeom>
          <a:noFill/>
        </p:spPr>
        <p:txBody>
          <a:bodyPr wrap="square">
            <a:spAutoFit/>
          </a:bodyPr>
          <a:lstStyle/>
          <a:p>
            <a:pPr algn="l"/>
            <a:r>
              <a:rPr sz="750" b="0" i="0">
                <a:solidFill>
                  <a:srgbClr val="686F7D"/>
                </a:solidFill>
              </a:rPr>
              <a:t>Cycle time, machined STL</a:t>
            </a:r>
          </a:p>
        </p:txBody>
      </p:sp>
      <p:sp>
        <p:nvSpPr>
          <p:cNvPr id="51" name="TextBox 50"/>
          <p:cNvSpPr txBox="1"/>
          <p:nvPr/>
        </p:nvSpPr>
        <p:spPr>
          <a:xfrm>
            <a:off x="9125712" y="3986784"/>
            <a:ext cx="2322576" cy="182880"/>
          </a:xfrm>
          <a:prstGeom prst="rect">
            <a:avLst/>
          </a:prstGeom>
          <a:noFill/>
        </p:spPr>
        <p:txBody>
          <a:bodyPr wrap="square">
            <a:spAutoFit/>
          </a:bodyPr>
          <a:lstStyle/>
          <a:p>
            <a:pPr algn="l"/>
            <a:r>
              <a:rPr sz="800" b="1" i="0">
                <a:solidFill>
                  <a:srgbClr val="99651A"/>
                </a:solidFill>
              </a:rPr>
              <a:t>Costing blocked until you type one</a:t>
            </a:r>
          </a:p>
        </p:txBody>
      </p:sp>
      <p:sp>
        <p:nvSpPr>
          <p:cNvPr id="52" name="Rectangle 51"/>
          <p:cNvSpPr/>
          <p:nvPr/>
        </p:nvSpPr>
        <p:spPr>
          <a:xfrm>
            <a:off x="6400800" y="4261104"/>
            <a:ext cx="2468880" cy="420624"/>
          </a:xfrm>
          <a:prstGeom prst="rect">
            <a:avLst/>
          </a:prstGeom>
          <a:solidFill>
            <a:srgbClr val="FFFFFF"/>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73952" y="4288536"/>
            <a:ext cx="2322576" cy="164592"/>
          </a:xfrm>
          <a:prstGeom prst="rect">
            <a:avLst/>
          </a:prstGeom>
          <a:noFill/>
        </p:spPr>
        <p:txBody>
          <a:bodyPr wrap="square">
            <a:spAutoFit/>
          </a:bodyPr>
          <a:lstStyle/>
          <a:p>
            <a:pPr algn="l"/>
            <a:r>
              <a:rPr sz="750" b="0" i="0">
                <a:solidFill>
                  <a:srgbClr val="686F7D"/>
                </a:solidFill>
              </a:rPr>
              <a:t>Service questions</a:t>
            </a:r>
          </a:p>
        </p:txBody>
      </p:sp>
      <p:sp>
        <p:nvSpPr>
          <p:cNvPr id="54" name="TextBox 53"/>
          <p:cNvSpPr txBox="1"/>
          <p:nvPr/>
        </p:nvSpPr>
        <p:spPr>
          <a:xfrm>
            <a:off x="6473952" y="4462272"/>
            <a:ext cx="2322576" cy="182880"/>
          </a:xfrm>
          <a:prstGeom prst="rect">
            <a:avLst/>
          </a:prstGeom>
          <a:noFill/>
        </p:spPr>
        <p:txBody>
          <a:bodyPr wrap="square">
            <a:spAutoFit/>
          </a:bodyPr>
          <a:lstStyle/>
          <a:p>
            <a:pPr algn="l"/>
            <a:r>
              <a:rPr sz="800" b="1" i="0">
                <a:solidFill>
                  <a:srgbClr val="2A7F50"/>
                </a:solidFill>
              </a:rPr>
              <a:t>Pressure-tight? Safety-critical?</a:t>
            </a:r>
          </a:p>
        </p:txBody>
      </p:sp>
      <p:sp>
        <p:nvSpPr>
          <p:cNvPr id="55" name="Rectangle 54"/>
          <p:cNvSpPr/>
          <p:nvPr/>
        </p:nvSpPr>
        <p:spPr>
          <a:xfrm>
            <a:off x="9052560" y="4261104"/>
            <a:ext cx="2468880" cy="420624"/>
          </a:xfrm>
          <a:prstGeom prst="rect">
            <a:avLst/>
          </a:prstGeom>
          <a:solidFill>
            <a:srgbClr val="FFFFFF"/>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25712" y="4288536"/>
            <a:ext cx="2322576" cy="164592"/>
          </a:xfrm>
          <a:prstGeom prst="rect">
            <a:avLst/>
          </a:prstGeom>
          <a:noFill/>
        </p:spPr>
        <p:txBody>
          <a:bodyPr wrap="square">
            <a:spAutoFit/>
          </a:bodyPr>
          <a:lstStyle/>
          <a:p>
            <a:pPr algn="l"/>
            <a:r>
              <a:rPr sz="750" b="0" i="0">
                <a:solidFill>
                  <a:srgbClr val="686F7D"/>
                </a:solidFill>
              </a:rPr>
              <a:t>Sheet-metal blank</a:t>
            </a:r>
          </a:p>
        </p:txBody>
      </p:sp>
      <p:sp>
        <p:nvSpPr>
          <p:cNvPr id="57" name="TextBox 56"/>
          <p:cNvSpPr txBox="1"/>
          <p:nvPr/>
        </p:nvSpPr>
        <p:spPr>
          <a:xfrm>
            <a:off x="9125712" y="4462272"/>
            <a:ext cx="2322576" cy="182880"/>
          </a:xfrm>
          <a:prstGeom prst="rect">
            <a:avLst/>
          </a:prstGeom>
          <a:noFill/>
        </p:spPr>
        <p:txBody>
          <a:bodyPr wrap="square">
            <a:spAutoFit/>
          </a:bodyPr>
          <a:lstStyle/>
          <a:p>
            <a:pPr algn="l"/>
            <a:r>
              <a:rPr sz="800" b="1" i="0">
                <a:solidFill>
                  <a:srgbClr val="2A7F50"/>
                </a:solidFill>
              </a:rPr>
              <a:t>Measured from a DXF flat pattern</a:t>
            </a:r>
          </a:p>
        </p:txBody>
      </p:sp>
      <p:sp>
        <p:nvSpPr>
          <p:cNvPr id="58" name="Rectangle 57"/>
          <p:cNvSpPr/>
          <p:nvPr/>
        </p:nvSpPr>
        <p:spPr>
          <a:xfrm>
            <a:off x="6400800" y="4754880"/>
            <a:ext cx="5212080" cy="475488"/>
          </a:xfrm>
          <a:prstGeom prst="rect">
            <a:avLst/>
          </a:prstGeom>
          <a:solidFill>
            <a:srgbClr val="FFFFFF"/>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37960" y="4791456"/>
            <a:ext cx="3474720" cy="201168"/>
          </a:xfrm>
          <a:prstGeom prst="rect">
            <a:avLst/>
          </a:prstGeom>
          <a:noFill/>
        </p:spPr>
        <p:txBody>
          <a:bodyPr wrap="square">
            <a:spAutoFit/>
          </a:bodyPr>
          <a:lstStyle/>
          <a:p>
            <a:pPr algn="l"/>
            <a:r>
              <a:rPr sz="800" b="0" i="0">
                <a:solidFill>
                  <a:srgbClr val="3A4356"/>
                </a:solidFill>
              </a:rPr>
              <a:t>Real part: steering knuckle, forged steel, UK rates</a:t>
            </a:r>
          </a:p>
        </p:txBody>
      </p:sp>
      <p:sp>
        <p:nvSpPr>
          <p:cNvPr id="60" name="TextBox 59"/>
          <p:cNvSpPr txBox="1"/>
          <p:nvPr/>
        </p:nvSpPr>
        <p:spPr>
          <a:xfrm>
            <a:off x="9738360" y="4773168"/>
            <a:ext cx="1737360" cy="274320"/>
          </a:xfrm>
          <a:prstGeom prst="rect">
            <a:avLst/>
          </a:prstGeom>
          <a:noFill/>
        </p:spPr>
        <p:txBody>
          <a:bodyPr wrap="square">
            <a:spAutoFit/>
          </a:bodyPr>
          <a:lstStyle/>
          <a:p>
            <a:pPr algn="r"/>
            <a:r>
              <a:rPr sz="1400" b="1" i="0">
                <a:solidFill>
                  <a:srgbClr val="2A7F50"/>
                </a:solidFill>
              </a:rPr>
              <a:t>£ 32.16</a:t>
            </a:r>
          </a:p>
        </p:txBody>
      </p:sp>
      <p:sp>
        <p:nvSpPr>
          <p:cNvPr id="61" name="Rectangle 60"/>
          <p:cNvSpPr/>
          <p:nvPr/>
        </p:nvSpPr>
        <p:spPr>
          <a:xfrm>
            <a:off x="6400800" y="5285232"/>
            <a:ext cx="1283172" cy="14630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683972" y="5285232"/>
            <a:ext cx="1696315" cy="146304"/>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380287" y="5285232"/>
            <a:ext cx="1017465" cy="146304"/>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397752" y="5285232"/>
            <a:ext cx="244645" cy="146304"/>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642397" y="5285232"/>
            <a:ext cx="508732" cy="146304"/>
          </a:xfrm>
          <a:prstGeom prst="rect">
            <a:avLst/>
          </a:prstGeom>
          <a:solidFill>
            <a:srgbClr val="68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1151129" y="5285232"/>
            <a:ext cx="385599" cy="146304"/>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1536728" y="5285232"/>
            <a:ext cx="76147" cy="146304"/>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00800" y="5468112"/>
            <a:ext cx="5212080" cy="201168"/>
          </a:xfrm>
          <a:prstGeom prst="rect">
            <a:avLst/>
          </a:prstGeom>
          <a:noFill/>
        </p:spPr>
        <p:txBody>
          <a:bodyPr wrap="square">
            <a:spAutoFit/>
          </a:bodyPr>
          <a:lstStyle/>
          <a:p>
            <a:pPr algn="l"/>
            <a:r>
              <a:rPr sz="750" b="0" i="0">
                <a:solidFill>
                  <a:srgbClr val="686F7D"/>
                </a:solidFill>
              </a:rPr>
              <a:t>■ Mat £7.92  ■ Proc £10.47  ■ Lab £6.28  ■ Tool £1.51  ■ OH £3.14  ■ Margin £2.38  ■ Other £0.47</a:t>
            </a:r>
          </a:p>
        </p:txBody>
      </p:sp>
      <p:sp>
        <p:nvSpPr>
          <p:cNvPr id="69" name="TextBox 68"/>
          <p:cNvSpPr txBox="1"/>
          <p:nvPr/>
        </p:nvSpPr>
        <p:spPr>
          <a:xfrm>
            <a:off x="6400800" y="5760720"/>
            <a:ext cx="5212080" cy="457200"/>
          </a:xfrm>
          <a:prstGeom prst="rect">
            <a:avLst/>
          </a:prstGeom>
          <a:noFill/>
        </p:spPr>
        <p:txBody>
          <a:bodyPr wrap="square">
            <a:spAutoFit/>
          </a:bodyPr>
          <a:lstStyle/>
          <a:p>
            <a:pPr algn="l"/>
            <a:r>
              <a:rPr sz="800" b="0" i="1">
                <a:solidFill>
                  <a:srgbClr val="3A4356"/>
                </a:solidFill>
              </a:rPr>
              <a:t>Pinned in the real-parts baseline. It records what the tool says — it has not been compared with a price JLR paid.</a:t>
            </a:r>
          </a:p>
        </p:txBody>
      </p:sp>
      <p:sp>
        <p:nvSpPr>
          <p:cNvPr id="70" name="Rectangle 69"/>
          <p:cNvSpPr/>
          <p:nvPr/>
        </p:nvSpPr>
        <p:spPr>
          <a:xfrm>
            <a:off x="5577840" y="1810512"/>
            <a:ext cx="6172200" cy="91440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577840" y="1810512"/>
            <a:ext cx="54864" cy="914400"/>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760720" y="1920240"/>
            <a:ext cx="5897880" cy="228600"/>
          </a:xfrm>
          <a:prstGeom prst="rect">
            <a:avLst/>
          </a:prstGeom>
          <a:noFill/>
        </p:spPr>
        <p:txBody>
          <a:bodyPr wrap="square">
            <a:spAutoFit/>
          </a:bodyPr>
          <a:lstStyle/>
          <a:p>
            <a:pPr algn="l"/>
            <a:r>
              <a:rPr sz="900" b="1" i="0">
                <a:solidFill>
                  <a:srgbClr val="16325C"/>
                </a:solidFill>
              </a:rPr>
              <a:t>Supported formats</a:t>
            </a:r>
          </a:p>
        </p:txBody>
      </p:sp>
      <p:sp>
        <p:nvSpPr>
          <p:cNvPr id="73" name="TextBox 72"/>
          <p:cNvSpPr txBox="1"/>
          <p:nvPr/>
        </p:nvSpPr>
        <p:spPr>
          <a:xfrm>
            <a:off x="5760720" y="2194560"/>
            <a:ext cx="5897880" cy="228600"/>
          </a:xfrm>
          <a:prstGeom prst="rect">
            <a:avLst/>
          </a:prstGeom>
          <a:noFill/>
        </p:spPr>
        <p:txBody>
          <a:bodyPr wrap="square">
            <a:spAutoFit/>
          </a:bodyPr>
          <a:lstStyle/>
          <a:p>
            <a:pPr algn="l"/>
            <a:r>
              <a:rPr sz="900" b="1" i="0">
                <a:solidFill>
                  <a:srgbClr val="1D6FB8"/>
                </a:solidFill>
              </a:rPr>
              <a:t>.STEP   .STP   .IGES   .IGS   .STL      + .DXF flat pattern for sheet metal</a:t>
            </a:r>
          </a:p>
        </p:txBody>
      </p:sp>
      <p:sp>
        <p:nvSpPr>
          <p:cNvPr id="74" name="TextBox 73"/>
          <p:cNvSpPr txBox="1"/>
          <p:nvPr/>
        </p:nvSpPr>
        <p:spPr>
          <a:xfrm>
            <a:off x="5760720" y="2432304"/>
            <a:ext cx="5897880" cy="228600"/>
          </a:xfrm>
          <a:prstGeom prst="rect">
            <a:avLst/>
          </a:prstGeom>
          <a:noFill/>
        </p:spPr>
        <p:txBody>
          <a:bodyPr wrap="square">
            <a:spAutoFit/>
          </a:bodyPr>
          <a:lstStyle/>
          <a:p>
            <a:pPr algn="l"/>
            <a:r>
              <a:rPr sz="800" b="0" i="0">
                <a:solidFill>
                  <a:srgbClr val="686F7D"/>
                </a:solidFill>
              </a:rPr>
              <a:t>Measured by the OpenCASCADE geometry kernel. The DXF gives the true blank instead of the bounding box.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06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3D CAD VIEWER</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3D CAD Viewer — Inspect, Measure and Check</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Built into CostVision. STEP, IGES and STL in the browser — no separate CAD licence needed.</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47088"/>
            <a:ext cx="3639312" cy="1993392"/>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847088"/>
            <a:ext cx="54864" cy="1993392"/>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 y="1938528"/>
            <a:ext cx="3456432" cy="310896"/>
          </a:xfrm>
          <a:prstGeom prst="rect">
            <a:avLst/>
          </a:prstGeom>
          <a:noFill/>
        </p:spPr>
        <p:txBody>
          <a:bodyPr wrap="square">
            <a:spAutoFit/>
          </a:bodyPr>
          <a:lstStyle/>
          <a:p>
            <a:pPr algn="l"/>
            <a:r>
              <a:rPr sz="1050" b="1" i="0">
                <a:solidFill>
                  <a:srgbClr val="16325C"/>
                </a:solidFill>
              </a:rPr>
              <a:t>Views &amp; Navigation</a:t>
            </a:r>
          </a:p>
        </p:txBody>
      </p:sp>
      <p:sp>
        <p:nvSpPr>
          <p:cNvPr id="14" name="TextBox 13"/>
          <p:cNvSpPr txBox="1"/>
          <p:nvPr/>
        </p:nvSpPr>
        <p:spPr>
          <a:xfrm>
            <a:off x="539496" y="2231136"/>
            <a:ext cx="3456432" cy="1499616"/>
          </a:xfrm>
          <a:prstGeom prst="rect">
            <a:avLst/>
          </a:prstGeom>
          <a:noFill/>
        </p:spPr>
        <p:txBody>
          <a:bodyPr wrap="square">
            <a:spAutoFit/>
          </a:bodyPr>
          <a:lstStyle/>
          <a:p>
            <a:pPr algn="l"/>
            <a:r>
              <a:rPr sz="950" b="0" i="0">
                <a:solidFill>
                  <a:srgbClr val="3A4356"/>
                </a:solidFill>
              </a:rPr>
              <a:t>Iso, front, top and right views, fit to screen, a view-cube, and a zoom that holds up on large parts. Full-window mode.</a:t>
            </a:r>
          </a:p>
        </p:txBody>
      </p:sp>
      <p:sp>
        <p:nvSpPr>
          <p:cNvPr id="15" name="Rectangle 14"/>
          <p:cNvSpPr/>
          <p:nvPr/>
        </p:nvSpPr>
        <p:spPr>
          <a:xfrm>
            <a:off x="4270248" y="1847088"/>
            <a:ext cx="3639312" cy="1993392"/>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70248" y="1847088"/>
            <a:ext cx="54864" cy="1993392"/>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8264" y="1938528"/>
            <a:ext cx="3456432" cy="310896"/>
          </a:xfrm>
          <a:prstGeom prst="rect">
            <a:avLst/>
          </a:prstGeom>
          <a:noFill/>
        </p:spPr>
        <p:txBody>
          <a:bodyPr wrap="square">
            <a:spAutoFit/>
          </a:bodyPr>
          <a:lstStyle/>
          <a:p>
            <a:pPr algn="l"/>
            <a:r>
              <a:rPr sz="1050" b="1" i="0">
                <a:solidFill>
                  <a:srgbClr val="16325C"/>
                </a:solidFill>
              </a:rPr>
              <a:t>Display &amp; DFM Checks</a:t>
            </a:r>
          </a:p>
        </p:txBody>
      </p:sp>
      <p:sp>
        <p:nvSpPr>
          <p:cNvPr id="18" name="TextBox 17"/>
          <p:cNvSpPr txBox="1"/>
          <p:nvPr/>
        </p:nvSpPr>
        <p:spPr>
          <a:xfrm>
            <a:off x="4398264" y="2231136"/>
            <a:ext cx="3456432" cy="1499616"/>
          </a:xfrm>
          <a:prstGeom prst="rect">
            <a:avLst/>
          </a:prstGeom>
          <a:noFill/>
        </p:spPr>
        <p:txBody>
          <a:bodyPr wrap="square">
            <a:spAutoFit/>
          </a:bodyPr>
          <a:lstStyle/>
          <a:p>
            <a:pPr algn="l"/>
            <a:r>
              <a:rPr sz="950" b="0" i="0">
                <a:solidFill>
                  <a:srgbClr val="3A4356"/>
                </a:solidFill>
              </a:rPr>
              <a:t>Shaded or wireframe, bounding-box sizes, colour by face type, a colour per body with a legend, a draft and undercut map, and a wall-thickness map.</a:t>
            </a:r>
          </a:p>
        </p:txBody>
      </p:sp>
      <p:sp>
        <p:nvSpPr>
          <p:cNvPr id="19" name="Rectangle 18"/>
          <p:cNvSpPr/>
          <p:nvPr/>
        </p:nvSpPr>
        <p:spPr>
          <a:xfrm>
            <a:off x="8129016" y="1847088"/>
            <a:ext cx="3639312" cy="1993392"/>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9016" y="1847088"/>
            <a:ext cx="54864" cy="1993392"/>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7032" y="1938528"/>
            <a:ext cx="3456432" cy="310896"/>
          </a:xfrm>
          <a:prstGeom prst="rect">
            <a:avLst/>
          </a:prstGeom>
          <a:noFill/>
        </p:spPr>
        <p:txBody>
          <a:bodyPr wrap="square">
            <a:spAutoFit/>
          </a:bodyPr>
          <a:lstStyle/>
          <a:p>
            <a:pPr algn="l"/>
            <a:r>
              <a:rPr sz="1050" b="1" i="0">
                <a:solidFill>
                  <a:srgbClr val="16325C"/>
                </a:solidFill>
              </a:rPr>
              <a:t>Structure &amp; Assembly</a:t>
            </a:r>
          </a:p>
        </p:txBody>
      </p:sp>
      <p:sp>
        <p:nvSpPr>
          <p:cNvPr id="22" name="TextBox 21"/>
          <p:cNvSpPr txBox="1"/>
          <p:nvPr/>
        </p:nvSpPr>
        <p:spPr>
          <a:xfrm>
            <a:off x="8257032" y="2231136"/>
            <a:ext cx="3456432" cy="1499616"/>
          </a:xfrm>
          <a:prstGeom prst="rect">
            <a:avLst/>
          </a:prstGeom>
          <a:noFill/>
        </p:spPr>
        <p:txBody>
          <a:bodyPr wrap="square">
            <a:spAutoFit/>
          </a:bodyPr>
          <a:lstStyle/>
          <a:p>
            <a:pPr algn="l"/>
            <a:r>
              <a:rPr sz="950" b="0" i="0">
                <a:solidFill>
                  <a:srgbClr val="3A4356"/>
                </a:solidFill>
              </a:rPr>
              <a:t>Model tree of bodies, features and faces. Section planes on X, Y and Z. Exploded view. Move or rotate one body while the rest stays put.</a:t>
            </a:r>
          </a:p>
        </p:txBody>
      </p:sp>
      <p:sp>
        <p:nvSpPr>
          <p:cNvPr id="23" name="Rectangle 22"/>
          <p:cNvSpPr/>
          <p:nvPr/>
        </p:nvSpPr>
        <p:spPr>
          <a:xfrm>
            <a:off x="411480" y="4023360"/>
            <a:ext cx="3639312" cy="1993392"/>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4023360"/>
            <a:ext cx="54864" cy="1993392"/>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 y="4114800"/>
            <a:ext cx="3456432" cy="310896"/>
          </a:xfrm>
          <a:prstGeom prst="rect">
            <a:avLst/>
          </a:prstGeom>
          <a:noFill/>
        </p:spPr>
        <p:txBody>
          <a:bodyPr wrap="square">
            <a:spAutoFit/>
          </a:bodyPr>
          <a:lstStyle/>
          <a:p>
            <a:pPr algn="l"/>
            <a:r>
              <a:rPr sz="1050" b="1" i="0">
                <a:solidFill>
                  <a:srgbClr val="16325C"/>
                </a:solidFill>
              </a:rPr>
              <a:t>Measure &amp; Inspect</a:t>
            </a:r>
          </a:p>
        </p:txBody>
      </p:sp>
      <p:sp>
        <p:nvSpPr>
          <p:cNvPr id="26" name="TextBox 25"/>
          <p:cNvSpPr txBox="1"/>
          <p:nvPr/>
        </p:nvSpPr>
        <p:spPr>
          <a:xfrm>
            <a:off x="539496" y="4407408"/>
            <a:ext cx="3456432" cy="1499616"/>
          </a:xfrm>
          <a:prstGeom prst="rect">
            <a:avLst/>
          </a:prstGeom>
          <a:noFill/>
        </p:spPr>
        <p:txBody>
          <a:bodyPr wrap="square">
            <a:spAutoFit/>
          </a:bodyPr>
          <a:lstStyle/>
          <a:p>
            <a:pPr algn="l"/>
            <a:r>
              <a:rPr sz="950" b="0" i="0">
                <a:solidFill>
                  <a:srgbClr val="3A4356"/>
                </a:solidFill>
              </a:rPr>
              <a:t>Distance, radius, diameter, angle and point position, read from the exact B-rep. Export to CSV, or snapshot into the report.</a:t>
            </a:r>
          </a:p>
        </p:txBody>
      </p:sp>
      <p:sp>
        <p:nvSpPr>
          <p:cNvPr id="27" name="Rectangle 26"/>
          <p:cNvSpPr/>
          <p:nvPr/>
        </p:nvSpPr>
        <p:spPr>
          <a:xfrm>
            <a:off x="4270248" y="4023360"/>
            <a:ext cx="3639312" cy="1993392"/>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70248" y="4023360"/>
            <a:ext cx="54864" cy="1993392"/>
          </a:xfrm>
          <a:prstGeom prst="rect">
            <a:avLst/>
          </a:prstGeom>
          <a:solidFill>
            <a:srgbClr val="0D7D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98264" y="4114800"/>
            <a:ext cx="3456432" cy="310896"/>
          </a:xfrm>
          <a:prstGeom prst="rect">
            <a:avLst/>
          </a:prstGeom>
          <a:noFill/>
        </p:spPr>
        <p:txBody>
          <a:bodyPr wrap="square">
            <a:spAutoFit/>
          </a:bodyPr>
          <a:lstStyle/>
          <a:p>
            <a:pPr algn="l"/>
            <a:r>
              <a:rPr sz="1050" b="1" i="0">
                <a:solidFill>
                  <a:srgbClr val="16325C"/>
                </a:solidFill>
              </a:rPr>
              <a:t>Fits the Workspace</a:t>
            </a:r>
          </a:p>
        </p:txBody>
      </p:sp>
      <p:sp>
        <p:nvSpPr>
          <p:cNvPr id="30" name="TextBox 29"/>
          <p:cNvSpPr txBox="1"/>
          <p:nvPr/>
        </p:nvSpPr>
        <p:spPr>
          <a:xfrm>
            <a:off x="4398264" y="4407408"/>
            <a:ext cx="3456432" cy="1499616"/>
          </a:xfrm>
          <a:prstGeom prst="rect">
            <a:avLst/>
          </a:prstGeom>
          <a:noFill/>
        </p:spPr>
        <p:txBody>
          <a:bodyPr wrap="square">
            <a:spAutoFit/>
          </a:bodyPr>
          <a:lstStyle/>
          <a:p>
            <a:pPr algn="l"/>
            <a:r>
              <a:rPr sz="950" b="0" i="0">
                <a:solidFill>
                  <a:srgbClr val="3A4356"/>
                </a:solidFill>
              </a:rPr>
              <a:t>A dockable model tree, tool groups you can drag into your own order, and a toolbar that slides away. Works beside the app's sidebar.</a:t>
            </a:r>
          </a:p>
        </p:txBody>
      </p:sp>
      <p:sp>
        <p:nvSpPr>
          <p:cNvPr id="31" name="Rectangle 30"/>
          <p:cNvSpPr/>
          <p:nvPr/>
        </p:nvSpPr>
        <p:spPr>
          <a:xfrm>
            <a:off x="8129016" y="4023360"/>
            <a:ext cx="3639312" cy="1993392"/>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29016" y="4023360"/>
            <a:ext cx="54864" cy="1993392"/>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5320" y="4133088"/>
            <a:ext cx="3419856" cy="274320"/>
          </a:xfrm>
          <a:prstGeom prst="rect">
            <a:avLst/>
          </a:prstGeom>
          <a:noFill/>
        </p:spPr>
        <p:txBody>
          <a:bodyPr wrap="square">
            <a:spAutoFit/>
          </a:bodyPr>
          <a:lstStyle/>
          <a:p>
            <a:pPr algn="l"/>
            <a:r>
              <a:rPr sz="1050" b="1" i="0">
                <a:solidFill>
                  <a:srgbClr val="2A7F50"/>
                </a:solidFill>
              </a:rPr>
              <a:t>One viewer, many jobs</a:t>
            </a:r>
          </a:p>
        </p:txBody>
      </p:sp>
      <p:sp>
        <p:nvSpPr>
          <p:cNvPr id="34" name="TextBox 33"/>
          <p:cNvSpPr txBox="1"/>
          <p:nvPr/>
        </p:nvSpPr>
        <p:spPr>
          <a:xfrm>
            <a:off x="8275320" y="4480560"/>
            <a:ext cx="3419856" cy="1444752"/>
          </a:xfrm>
          <a:prstGeom prst="rect">
            <a:avLst/>
          </a:prstGeom>
          <a:noFill/>
        </p:spPr>
        <p:txBody>
          <a:bodyPr wrap="square">
            <a:spAutoFit/>
          </a:bodyPr>
          <a:lstStyle/>
          <a:p>
            <a:pPr algn="l"/>
            <a:r>
              <a:rPr sz="950" b="0" i="0">
                <a:solidFill>
                  <a:srgbClr val="3A4356"/>
                </a:solidFill>
              </a:rPr>
              <a:t>STEP / IGES / STL
Runs in the browser
Exact B-rep measurements
No extra CAD licence
The same geometry
feeds the cost engine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07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CAD TO COST · MEASURED, NOT TYPED</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What the Tool Measures — and What It Feeds</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Geometry is measured, not typed. Every £ is arithmetic you can trace to the rate library.</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graphicFrame>
        <p:nvGraphicFramePr>
          <p:cNvPr id="11" name="Table 10"/>
          <p:cNvGraphicFramePr>
            <a:graphicFrameLocks noGrp="1"/>
          </p:cNvGraphicFramePr>
          <p:nvPr/>
        </p:nvGraphicFramePr>
        <p:xfrm>
          <a:off x="411480" y="1874519"/>
          <a:ext cx="6720840" cy="4160520"/>
        </p:xfrm>
        <a:graphic>
          <a:graphicData uri="http://schemas.openxmlformats.org/drawingml/2006/table">
            <a:tbl>
              <a:tblPr firstRow="1" bandRow="1">
                <a:tableStyleId>{5C22544A-7EE6-4342-B048-85BDC9FD1C3A}</a:tableStyleId>
              </a:tblPr>
              <a:tblGrid>
                <a:gridCol w="3611880"/>
                <a:gridCol w="3108960"/>
              </a:tblGrid>
              <a:tr h="416052">
                <a:tc>
                  <a:txBody>
                    <a:bodyPr/>
                    <a:lstStyle/>
                    <a:p>
                      <a:pPr algn="l"/>
                      <a:r>
                        <a:rPr sz="750" b="1">
                          <a:solidFill>
                            <a:srgbClr val="FFFFFF"/>
                          </a:solidFill>
                        </a:rPr>
                        <a:t>Measured from the geometry (no typing)</a:t>
                      </a:r>
                    </a:p>
                  </a:txBody>
                  <a:tcPr>
                    <a:solidFill>
                      <a:srgbClr val="16325C"/>
                    </a:solidFill>
                  </a:tcPr>
                </a:tc>
                <a:tc>
                  <a:txBody>
                    <a:bodyPr/>
                    <a:lstStyle/>
                    <a:p>
                      <a:pPr algn="l"/>
                      <a:r>
                        <a:rPr sz="750" b="1">
                          <a:solidFill>
                            <a:srgbClr val="FFFFFF"/>
                          </a:solidFill>
                        </a:rPr>
                        <a:t>→ Feeds this cost driver</a:t>
                      </a:r>
                    </a:p>
                  </a:txBody>
                  <a:tcPr>
                    <a:solidFill>
                      <a:srgbClr val="16325C"/>
                    </a:solidFill>
                  </a:tcPr>
                </a:tc>
              </a:tr>
              <a:tr h="416052">
                <a:tc>
                  <a:txBody>
                    <a:bodyPr/>
                    <a:lstStyle/>
                    <a:p>
                      <a:pPr algn="l"/>
                      <a:r>
                        <a:rPr sz="750" b="1">
                          <a:solidFill>
                            <a:srgbClr val="1D6FB8"/>
                          </a:solidFill>
                        </a:rPr>
                        <a:t>Volume — exact, from the geometry kernel (OpenCASCADE)</a:t>
                      </a:r>
                    </a:p>
                  </a:txBody>
                  <a:tcPr>
                    <a:solidFill>
                      <a:srgbClr val="FFFFFF"/>
                    </a:solidFill>
                  </a:tcPr>
                </a:tc>
                <a:tc>
                  <a:txBody>
                    <a:bodyPr/>
                    <a:lstStyle/>
                    <a:p>
                      <a:pPr algn="l"/>
                      <a:r>
                        <a:rPr sz="750">
                          <a:solidFill>
                            <a:srgbClr val="3A4356"/>
                          </a:solidFill>
                        </a:rPr>
                        <a:t>Material mass · stock size</a:t>
                      </a:r>
                    </a:p>
                  </a:txBody>
                  <a:tcPr>
                    <a:solidFill>
                      <a:srgbClr val="FFFFFF"/>
                    </a:solidFill>
                  </a:tcPr>
                </a:tc>
              </a:tr>
              <a:tr h="416052">
                <a:tc>
                  <a:txBody>
                    <a:bodyPr/>
                    <a:lstStyle/>
                    <a:p>
                      <a:pPr algn="l"/>
                      <a:r>
                        <a:rPr sz="750" b="1">
                          <a:solidFill>
                            <a:srgbClr val="1D6FB8"/>
                          </a:solidFill>
                        </a:rPr>
                        <a:t>Weight = volume × density of the chosen material</a:t>
                      </a:r>
                    </a:p>
                  </a:txBody>
                  <a:tcPr>
                    <a:solidFill>
                      <a:srgbClr val="F7F9FC"/>
                    </a:solidFill>
                  </a:tcPr>
                </a:tc>
                <a:tc>
                  <a:txBody>
                    <a:bodyPr/>
                    <a:lstStyle/>
                    <a:p>
                      <a:pPr algn="l"/>
                      <a:r>
                        <a:rPr sz="750">
                          <a:solidFill>
                            <a:srgbClr val="3A4356"/>
                          </a:solidFill>
                        </a:rPr>
                        <a:t>Raw-material £</a:t>
                      </a:r>
                    </a:p>
                  </a:txBody>
                  <a:tcPr>
                    <a:solidFill>
                      <a:srgbClr val="F7F9FC"/>
                    </a:solidFill>
                  </a:tcPr>
                </a:tc>
              </a:tr>
              <a:tr h="416052">
                <a:tc>
                  <a:txBody>
                    <a:bodyPr/>
                    <a:lstStyle/>
                    <a:p>
                      <a:pPr algn="l"/>
                      <a:r>
                        <a:rPr sz="750" b="1">
                          <a:solidFill>
                            <a:srgbClr val="1D6FB8"/>
                          </a:solidFill>
                        </a:rPr>
                        <a:t>Bounding box / envelope</a:t>
                      </a:r>
                    </a:p>
                  </a:txBody>
                  <a:tcPr>
                    <a:solidFill>
                      <a:srgbClr val="FFFFFF"/>
                    </a:solidFill>
                  </a:tcPr>
                </a:tc>
                <a:tc>
                  <a:txBody>
                    <a:bodyPr/>
                    <a:lstStyle/>
                    <a:p>
                      <a:pPr algn="l"/>
                      <a:r>
                        <a:rPr sz="750">
                          <a:solidFill>
                            <a:srgbClr val="3A4356"/>
                          </a:solidFill>
                        </a:rPr>
                        <a:t>Machine sizing · stock · setups</a:t>
                      </a:r>
                    </a:p>
                  </a:txBody>
                  <a:tcPr>
                    <a:solidFill>
                      <a:srgbClr val="FFFFFF"/>
                    </a:solidFill>
                  </a:tcPr>
                </a:tc>
              </a:tr>
              <a:tr h="416052">
                <a:tc>
                  <a:txBody>
                    <a:bodyPr/>
                    <a:lstStyle/>
                    <a:p>
                      <a:pPr algn="l"/>
                      <a:r>
                        <a:rPr sz="750" b="1">
                          <a:solidFill>
                            <a:srgbClr val="1D6FB8"/>
                          </a:solidFill>
                        </a:rPr>
                        <a:t>Body / component count</a:t>
                      </a:r>
                    </a:p>
                  </a:txBody>
                  <a:tcPr>
                    <a:solidFill>
                      <a:srgbClr val="F7F9FC"/>
                    </a:solidFill>
                  </a:tcPr>
                </a:tc>
                <a:tc>
                  <a:txBody>
                    <a:bodyPr/>
                    <a:lstStyle/>
                    <a:p>
                      <a:pPr algn="l"/>
                      <a:r>
                        <a:rPr sz="750">
                          <a:solidFill>
                            <a:srgbClr val="3A4356"/>
                          </a:solidFill>
                        </a:rPr>
                        <a:t>Assembly scope · BOM line count</a:t>
                      </a:r>
                    </a:p>
                  </a:txBody>
                  <a:tcPr>
                    <a:solidFill>
                      <a:srgbClr val="F7F9FC"/>
                    </a:solidFill>
                  </a:tcPr>
                </a:tc>
              </a:tr>
              <a:tr h="416052">
                <a:tc>
                  <a:txBody>
                    <a:bodyPr/>
                    <a:lstStyle/>
                    <a:p>
                      <a:pPr algn="l"/>
                      <a:r>
                        <a:rPr sz="750" b="1">
                          <a:solidFill>
                            <a:srgbClr val="1D6FB8"/>
                          </a:solidFill>
                        </a:rPr>
                        <a:t>Hole &amp; boss table — Ø, depth, count (STEP / IGES)</a:t>
                      </a:r>
                    </a:p>
                  </a:txBody>
                  <a:tcPr>
                    <a:solidFill>
                      <a:srgbClr val="FFFFFF"/>
                    </a:solidFill>
                  </a:tcPr>
                </a:tc>
                <a:tc>
                  <a:txBody>
                    <a:bodyPr/>
                    <a:lstStyle/>
                    <a:p>
                      <a:pPr algn="l"/>
                      <a:r>
                        <a:rPr sz="750">
                          <a:solidFill>
                            <a:srgbClr val="3A4356"/>
                          </a:solidFill>
                        </a:rPr>
                        <a:t>Secondary machining: drill / bore / tap</a:t>
                      </a:r>
                    </a:p>
                  </a:txBody>
                  <a:tcPr>
                    <a:solidFill>
                      <a:srgbClr val="FFFFFF"/>
                    </a:solidFill>
                  </a:tcPr>
                </a:tc>
              </a:tr>
              <a:tr h="416052">
                <a:tc>
                  <a:txBody>
                    <a:bodyPr/>
                    <a:lstStyle/>
                    <a:p>
                      <a:pPr algn="l"/>
                      <a:r>
                        <a:rPr sz="750" b="1">
                          <a:solidFill>
                            <a:srgbClr val="1D6FB8"/>
                          </a:solidFill>
                        </a:rPr>
                        <a:t>Wall thickness</a:t>
                      </a:r>
                    </a:p>
                  </a:txBody>
                  <a:tcPr>
                    <a:solidFill>
                      <a:srgbClr val="F7F9FC"/>
                    </a:solidFill>
                  </a:tcPr>
                </a:tc>
                <a:tc>
                  <a:txBody>
                    <a:bodyPr/>
                    <a:lstStyle/>
                    <a:p>
                      <a:pPr algn="l"/>
                      <a:r>
                        <a:rPr sz="750">
                          <a:solidFill>
                            <a:srgbClr val="3A4356"/>
                          </a:solidFill>
                        </a:rPr>
                        <a:t>Which routes are offered · moulding and casting feasibility</a:t>
                      </a:r>
                    </a:p>
                  </a:txBody>
                  <a:tcPr>
                    <a:solidFill>
                      <a:srgbClr val="F7F9FC"/>
                    </a:solidFill>
                  </a:tcPr>
                </a:tc>
              </a:tr>
              <a:tr h="416052">
                <a:tc>
                  <a:txBody>
                    <a:bodyPr/>
                    <a:lstStyle/>
                    <a:p>
                      <a:pPr algn="l"/>
                      <a:r>
                        <a:rPr sz="750" b="1">
                          <a:solidFill>
                            <a:srgbClr val="1D6FB8"/>
                          </a:solidFill>
                        </a:rPr>
                        <a:t>Face types and areas (planar / cylindrical)</a:t>
                      </a:r>
                    </a:p>
                  </a:txBody>
                  <a:tcPr>
                    <a:solidFill>
                      <a:srgbClr val="FFFFFF"/>
                    </a:solidFill>
                  </a:tcPr>
                </a:tc>
                <a:tc>
                  <a:txBody>
                    <a:bodyPr/>
                    <a:lstStyle/>
                    <a:p>
                      <a:pPr algn="l"/>
                      <a:r>
                        <a:rPr sz="750">
                          <a:solidFill>
                            <a:srgbClr val="3A4356"/>
                          </a:solidFill>
                        </a:rPr>
                        <a:t>Machining area · paint / coat area</a:t>
                      </a:r>
                    </a:p>
                  </a:txBody>
                  <a:tcPr>
                    <a:solidFill>
                      <a:srgbClr val="FFFFFF"/>
                    </a:solidFill>
                  </a:tcPr>
                </a:tc>
              </a:tr>
              <a:tr h="416052">
                <a:tc>
                  <a:txBody>
                    <a:bodyPr/>
                    <a:lstStyle/>
                    <a:p>
                      <a:pPr algn="l"/>
                      <a:r>
                        <a:rPr sz="750" b="1">
                          <a:solidFill>
                            <a:srgbClr val="1D6FB8"/>
                          </a:solidFill>
                        </a:rPr>
                        <a:t>CNC cycle-time and setup estimate</a:t>
                      </a:r>
                    </a:p>
                  </a:txBody>
                  <a:tcPr>
                    <a:solidFill>
                      <a:srgbClr val="F7F9FC"/>
                    </a:solidFill>
                  </a:tcPr>
                </a:tc>
                <a:tc>
                  <a:txBody>
                    <a:bodyPr/>
                    <a:lstStyle/>
                    <a:p>
                      <a:pPr algn="l"/>
                      <a:r>
                        <a:rPr sz="750">
                          <a:solidFill>
                            <a:srgbClr val="3A4356"/>
                          </a:solidFill>
                        </a:rPr>
                        <a:t>Process-time baseline for machining</a:t>
                      </a:r>
                    </a:p>
                  </a:txBody>
                  <a:tcPr>
                    <a:solidFill>
                      <a:srgbClr val="F7F9FC"/>
                    </a:solidFill>
                  </a:tcPr>
                </a:tc>
              </a:tr>
              <a:tr h="416052">
                <a:tc>
                  <a:txBody>
                    <a:bodyPr/>
                    <a:lstStyle/>
                    <a:p>
                      <a:pPr algn="l"/>
                      <a:r>
                        <a:rPr sz="750" b="1">
                          <a:solidFill>
                            <a:srgbClr val="1D6FB8"/>
                          </a:solidFill>
                        </a:rPr>
                        <a:t>DXF flat pattern (sheet metal, optional)</a:t>
                      </a:r>
                    </a:p>
                  </a:txBody>
                  <a:tcPr>
                    <a:solidFill>
                      <a:srgbClr val="FFFFFF"/>
                    </a:solidFill>
                  </a:tcPr>
                </a:tc>
                <a:tc>
                  <a:txBody>
                    <a:bodyPr/>
                    <a:lstStyle/>
                    <a:p>
                      <a:pPr algn="l"/>
                      <a:r>
                        <a:rPr sz="750">
                          <a:solidFill>
                            <a:srgbClr val="3A4356"/>
                          </a:solidFill>
                        </a:rPr>
                        <a:t>True blank size, instead of the bounding box</a:t>
                      </a:r>
                    </a:p>
                  </a:txBody>
                  <a:tcPr>
                    <a:solidFill>
                      <a:srgbClr val="FFFFFF"/>
                    </a:solidFill>
                  </a:tcPr>
                </a:tc>
              </a:tr>
            </a:tbl>
          </a:graphicData>
        </a:graphic>
      </p:graphicFrame>
      <p:sp>
        <p:nvSpPr>
          <p:cNvPr id="12" name="Rectangle 11"/>
          <p:cNvSpPr/>
          <p:nvPr/>
        </p:nvSpPr>
        <p:spPr>
          <a:xfrm>
            <a:off x="7360920" y="1874519"/>
            <a:ext cx="4434840" cy="248716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1874519"/>
            <a:ext cx="54864" cy="2487168"/>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07224" y="1956816"/>
            <a:ext cx="4197096" cy="274320"/>
          </a:xfrm>
          <a:prstGeom prst="rect">
            <a:avLst/>
          </a:prstGeom>
          <a:noFill/>
        </p:spPr>
        <p:txBody>
          <a:bodyPr wrap="square">
            <a:spAutoFit/>
          </a:bodyPr>
          <a:lstStyle/>
          <a:p>
            <a:pPr algn="l"/>
            <a:r>
              <a:rPr sz="1000" b="1" i="0">
                <a:solidFill>
                  <a:srgbClr val="16325C"/>
                </a:solidFill>
              </a:rPr>
              <a:t>Worked example — Spur Gear (m3 · z38)</a:t>
            </a:r>
          </a:p>
        </p:txBody>
      </p:sp>
      <p:sp>
        <p:nvSpPr>
          <p:cNvPr id="15" name="TextBox 14"/>
          <p:cNvSpPr txBox="1"/>
          <p:nvPr/>
        </p:nvSpPr>
        <p:spPr>
          <a:xfrm>
            <a:off x="7507224" y="2249424"/>
            <a:ext cx="4197096" cy="2057400"/>
          </a:xfrm>
          <a:prstGeom prst="rect">
            <a:avLst/>
          </a:prstGeom>
          <a:noFill/>
        </p:spPr>
        <p:txBody>
          <a:bodyPr wrap="square">
            <a:spAutoFit/>
          </a:bodyPr>
          <a:lstStyle/>
          <a:p>
            <a:pPr algn="l"/>
            <a:r>
              <a:rPr sz="900" b="0" i="0">
                <a:solidFill>
                  <a:srgbClr val="3A4356"/>
                </a:solidFill>
              </a:rPr>
              <a:t>Case-hardening steel, ISO class 8 — measured:
   Volume 266.0 cm³   ·   Steel weight 2.09 kg
   Envelope 120 × 120 × 30 mm   ·   1 body
→ Should-cost, UK rates (pinned in the baseline):
   Material £8.14 · Process £8.04 · Labour £3.61
   Tooling £0.96 · Overhead £2.49 · Margin £1.89
   + packaging and logistics £0.36
   =  £25.50 / part</a:t>
            </a:r>
          </a:p>
        </p:txBody>
      </p:sp>
      <p:sp>
        <p:nvSpPr>
          <p:cNvPr id="16" name="Rectangle 15"/>
          <p:cNvSpPr/>
          <p:nvPr/>
        </p:nvSpPr>
        <p:spPr>
          <a:xfrm>
            <a:off x="7360920" y="4526280"/>
            <a:ext cx="4434840" cy="1508760"/>
          </a:xfrm>
          <a:prstGeom prst="rect">
            <a:avLst/>
          </a:prstGeom>
          <a:solidFill>
            <a:srgbClr val="FFFFFF"/>
          </a:solidFill>
          <a:ln w="11430">
            <a:solidFill>
              <a:srgbClr val="2A7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60920" y="4526280"/>
            <a:ext cx="54864" cy="150876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07224" y="4608576"/>
            <a:ext cx="4197096" cy="274320"/>
          </a:xfrm>
          <a:prstGeom prst="rect">
            <a:avLst/>
          </a:prstGeom>
          <a:noFill/>
        </p:spPr>
        <p:txBody>
          <a:bodyPr wrap="square">
            <a:spAutoFit/>
          </a:bodyPr>
          <a:lstStyle/>
          <a:p>
            <a:pPr algn="l"/>
            <a:r>
              <a:rPr sz="1000" b="1" i="0">
                <a:solidFill>
                  <a:srgbClr val="2A7F50"/>
                </a:solidFill>
              </a:rPr>
              <a:t>The golden rule</a:t>
            </a:r>
          </a:p>
        </p:txBody>
      </p:sp>
      <p:sp>
        <p:nvSpPr>
          <p:cNvPr id="19" name="TextBox 18"/>
          <p:cNvSpPr txBox="1"/>
          <p:nvPr/>
        </p:nvSpPr>
        <p:spPr>
          <a:xfrm>
            <a:off x="7507224" y="4937760"/>
            <a:ext cx="4197096" cy="1051560"/>
          </a:xfrm>
          <a:prstGeom prst="rect">
            <a:avLst/>
          </a:prstGeom>
          <a:noFill/>
        </p:spPr>
        <p:txBody>
          <a:bodyPr wrap="square">
            <a:spAutoFit/>
          </a:bodyPr>
          <a:lstStyle/>
          <a:p>
            <a:pPr algn="l"/>
            <a:r>
              <a:rPr sz="900" b="0" i="0">
                <a:solidFill>
                  <a:srgbClr val="3A4356"/>
                </a:solidFill>
              </a:rPr>
              <a:t>No AI in the price. At JLR the whole chain runs on measurement and rules. Even where AI is switched on, it only reads and classifies. Every number above is arithmetic, bounded by the measured geometry and traceable to the rate library.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08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WORKFLOW</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From Part to Cost — Eight Steps</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Two ways in at JLR: CAD upload or the form. The same engine either way.</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10512"/>
            <a:ext cx="11384280" cy="45720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01952"/>
            <a:ext cx="11064240" cy="329184"/>
          </a:xfrm>
          <a:prstGeom prst="rect">
            <a:avLst/>
          </a:prstGeom>
          <a:noFill/>
        </p:spPr>
        <p:txBody>
          <a:bodyPr wrap="square">
            <a:spAutoFit/>
          </a:bodyPr>
          <a:lstStyle/>
          <a:p>
            <a:pPr algn="ctr"/>
            <a:r>
              <a:rPr sz="950" b="0" i="0">
                <a:solidFill>
                  <a:srgbClr val="3A4356"/>
                </a:solidFill>
              </a:rPr>
              <a:t>Way in A: CAD upload (STEP / IGES / STL)   |   Way in B: Form entry   |   Way in C: Describe the part in words — AI mode, switched off at JLR</a:t>
            </a:r>
          </a:p>
        </p:txBody>
      </p:sp>
      <p:sp>
        <p:nvSpPr>
          <p:cNvPr id="13" name="Rectangle 12"/>
          <p:cNvSpPr/>
          <p:nvPr/>
        </p:nvSpPr>
        <p:spPr>
          <a:xfrm>
            <a:off x="411480" y="2377440"/>
            <a:ext cx="1384515" cy="34747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2377440"/>
            <a:ext cx="1384515" cy="36576"/>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432304"/>
            <a:ext cx="1384515" cy="274320"/>
          </a:xfrm>
          <a:prstGeom prst="rect">
            <a:avLst/>
          </a:prstGeom>
          <a:noFill/>
        </p:spPr>
        <p:txBody>
          <a:bodyPr wrap="square">
            <a:spAutoFit/>
          </a:bodyPr>
          <a:lstStyle/>
          <a:p>
            <a:pPr algn="ctr"/>
            <a:r>
              <a:rPr sz="1000" b="1" i="0">
                <a:solidFill>
                  <a:srgbClr val="1D6FB8"/>
                </a:solidFill>
              </a:rPr>
              <a:t>1</a:t>
            </a:r>
          </a:p>
        </p:txBody>
      </p:sp>
      <p:sp>
        <p:nvSpPr>
          <p:cNvPr id="16" name="TextBox 15"/>
          <p:cNvSpPr txBox="1"/>
          <p:nvPr/>
        </p:nvSpPr>
        <p:spPr>
          <a:xfrm>
            <a:off x="466344" y="2743200"/>
            <a:ext cx="1274787" cy="292608"/>
          </a:xfrm>
          <a:prstGeom prst="rect">
            <a:avLst/>
          </a:prstGeom>
          <a:noFill/>
        </p:spPr>
        <p:txBody>
          <a:bodyPr wrap="square">
            <a:spAutoFit/>
          </a:bodyPr>
          <a:lstStyle/>
          <a:p>
            <a:pPr algn="ctr"/>
            <a:r>
              <a:rPr sz="850" b="1" i="0">
                <a:solidFill>
                  <a:srgbClr val="16325C"/>
                </a:solidFill>
              </a:rPr>
              <a:t>Pick the Process</a:t>
            </a:r>
          </a:p>
        </p:txBody>
      </p:sp>
      <p:sp>
        <p:nvSpPr>
          <p:cNvPr id="17" name="TextBox 16"/>
          <p:cNvSpPr txBox="1"/>
          <p:nvPr/>
        </p:nvSpPr>
        <p:spPr>
          <a:xfrm>
            <a:off x="466344" y="3127248"/>
            <a:ext cx="1274787" cy="2651760"/>
          </a:xfrm>
          <a:prstGeom prst="rect">
            <a:avLst/>
          </a:prstGeom>
          <a:noFill/>
        </p:spPr>
        <p:txBody>
          <a:bodyPr wrap="square">
            <a:spAutoFit/>
          </a:bodyPr>
          <a:lstStyle/>
          <a:p>
            <a:pPr algn="ctr"/>
            <a:r>
              <a:rPr sz="850" b="0" i="0">
                <a:solidFill>
                  <a:srgbClr val="3A4356"/>
                </a:solidFill>
              </a:rPr>
              <a:t>Choose one of the 19 processes, or let the CAD rules offer a route</a:t>
            </a:r>
          </a:p>
        </p:txBody>
      </p:sp>
      <p:sp>
        <p:nvSpPr>
          <p:cNvPr id="18" name="TextBox 17"/>
          <p:cNvSpPr txBox="1"/>
          <p:nvPr/>
        </p:nvSpPr>
        <p:spPr>
          <a:xfrm>
            <a:off x="1649691" y="3931920"/>
            <a:ext cx="228600" cy="274320"/>
          </a:xfrm>
          <a:prstGeom prst="rect">
            <a:avLst/>
          </a:prstGeom>
          <a:noFill/>
        </p:spPr>
        <p:txBody>
          <a:bodyPr wrap="square">
            <a:spAutoFit/>
          </a:bodyPr>
          <a:lstStyle/>
          <a:p>
            <a:pPr algn="l"/>
            <a:r>
              <a:rPr sz="900" b="1" i="0">
                <a:solidFill>
                  <a:srgbClr val="1D6FB8"/>
                </a:solidFill>
              </a:rPr>
              <a:t>→</a:t>
            </a:r>
          </a:p>
        </p:txBody>
      </p:sp>
      <p:sp>
        <p:nvSpPr>
          <p:cNvPr id="19" name="Rectangle 18"/>
          <p:cNvSpPr/>
          <p:nvPr/>
        </p:nvSpPr>
        <p:spPr>
          <a:xfrm>
            <a:off x="1832571" y="2377440"/>
            <a:ext cx="1384515" cy="34747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32571" y="2377440"/>
            <a:ext cx="1384515" cy="36576"/>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32571" y="2432304"/>
            <a:ext cx="1384515" cy="274320"/>
          </a:xfrm>
          <a:prstGeom prst="rect">
            <a:avLst/>
          </a:prstGeom>
          <a:noFill/>
        </p:spPr>
        <p:txBody>
          <a:bodyPr wrap="square">
            <a:spAutoFit/>
          </a:bodyPr>
          <a:lstStyle/>
          <a:p>
            <a:pPr algn="ctr"/>
            <a:r>
              <a:rPr sz="1000" b="1" i="0">
                <a:solidFill>
                  <a:srgbClr val="1D6FB8"/>
                </a:solidFill>
              </a:rPr>
              <a:t>2</a:t>
            </a:r>
          </a:p>
        </p:txBody>
      </p:sp>
      <p:sp>
        <p:nvSpPr>
          <p:cNvPr id="22" name="TextBox 21"/>
          <p:cNvSpPr txBox="1"/>
          <p:nvPr/>
        </p:nvSpPr>
        <p:spPr>
          <a:xfrm>
            <a:off x="1887435" y="2743200"/>
            <a:ext cx="1274787" cy="292608"/>
          </a:xfrm>
          <a:prstGeom prst="rect">
            <a:avLst/>
          </a:prstGeom>
          <a:noFill/>
        </p:spPr>
        <p:txBody>
          <a:bodyPr wrap="square">
            <a:spAutoFit/>
          </a:bodyPr>
          <a:lstStyle/>
          <a:p>
            <a:pPr algn="ctr"/>
            <a:r>
              <a:rPr sz="850" b="1" i="0">
                <a:solidFill>
                  <a:srgbClr val="16325C"/>
                </a:solidFill>
              </a:rPr>
              <a:t>Upload CAD or Fill Form</a:t>
            </a:r>
          </a:p>
        </p:txBody>
      </p:sp>
      <p:sp>
        <p:nvSpPr>
          <p:cNvPr id="23" name="TextBox 22"/>
          <p:cNvSpPr txBox="1"/>
          <p:nvPr/>
        </p:nvSpPr>
        <p:spPr>
          <a:xfrm>
            <a:off x="1887435" y="3127248"/>
            <a:ext cx="1274787" cy="2651760"/>
          </a:xfrm>
          <a:prstGeom prst="rect">
            <a:avLst/>
          </a:prstGeom>
          <a:noFill/>
        </p:spPr>
        <p:txBody>
          <a:bodyPr wrap="square">
            <a:spAutoFit/>
          </a:bodyPr>
          <a:lstStyle/>
          <a:p>
            <a:pPr algn="ctr"/>
            <a:r>
              <a:rPr sz="850" b="0" i="0">
                <a:solidFill>
                  <a:srgbClr val="3A4356"/>
                </a:solidFill>
              </a:rPr>
              <a:t>STEP, IGES or STL — or type the inputs directly</a:t>
            </a:r>
          </a:p>
        </p:txBody>
      </p:sp>
      <p:sp>
        <p:nvSpPr>
          <p:cNvPr id="24" name="TextBox 23"/>
          <p:cNvSpPr txBox="1"/>
          <p:nvPr/>
        </p:nvSpPr>
        <p:spPr>
          <a:xfrm>
            <a:off x="3070783" y="3931920"/>
            <a:ext cx="228600" cy="274320"/>
          </a:xfrm>
          <a:prstGeom prst="rect">
            <a:avLst/>
          </a:prstGeom>
          <a:noFill/>
        </p:spPr>
        <p:txBody>
          <a:bodyPr wrap="square">
            <a:spAutoFit/>
          </a:bodyPr>
          <a:lstStyle/>
          <a:p>
            <a:pPr algn="l"/>
            <a:r>
              <a:rPr sz="900" b="1" i="0">
                <a:solidFill>
                  <a:srgbClr val="1D6FB8"/>
                </a:solidFill>
              </a:rPr>
              <a:t>→</a:t>
            </a:r>
          </a:p>
        </p:txBody>
      </p:sp>
      <p:sp>
        <p:nvSpPr>
          <p:cNvPr id="25" name="Rectangle 24"/>
          <p:cNvSpPr/>
          <p:nvPr/>
        </p:nvSpPr>
        <p:spPr>
          <a:xfrm>
            <a:off x="3253663" y="2377440"/>
            <a:ext cx="1384515" cy="34747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53663" y="2377440"/>
            <a:ext cx="1384515" cy="36576"/>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53663" y="2432304"/>
            <a:ext cx="1384515" cy="274320"/>
          </a:xfrm>
          <a:prstGeom prst="rect">
            <a:avLst/>
          </a:prstGeom>
          <a:noFill/>
        </p:spPr>
        <p:txBody>
          <a:bodyPr wrap="square">
            <a:spAutoFit/>
          </a:bodyPr>
          <a:lstStyle/>
          <a:p>
            <a:pPr algn="ctr"/>
            <a:r>
              <a:rPr sz="1000" b="1" i="0">
                <a:solidFill>
                  <a:srgbClr val="6B3FA0"/>
                </a:solidFill>
              </a:rPr>
              <a:t>3</a:t>
            </a:r>
          </a:p>
        </p:txBody>
      </p:sp>
      <p:sp>
        <p:nvSpPr>
          <p:cNvPr id="28" name="TextBox 27"/>
          <p:cNvSpPr txBox="1"/>
          <p:nvPr/>
        </p:nvSpPr>
        <p:spPr>
          <a:xfrm>
            <a:off x="3308527" y="2743200"/>
            <a:ext cx="1274787" cy="292608"/>
          </a:xfrm>
          <a:prstGeom prst="rect">
            <a:avLst/>
          </a:prstGeom>
          <a:noFill/>
        </p:spPr>
        <p:txBody>
          <a:bodyPr wrap="square">
            <a:spAutoFit/>
          </a:bodyPr>
          <a:lstStyle/>
          <a:p>
            <a:pPr algn="ctr"/>
            <a:r>
              <a:rPr sz="850" b="1" i="0">
                <a:solidFill>
                  <a:srgbClr val="16325C"/>
                </a:solidFill>
              </a:rPr>
              <a:t>Measure the Geometry</a:t>
            </a:r>
          </a:p>
        </p:txBody>
      </p:sp>
      <p:sp>
        <p:nvSpPr>
          <p:cNvPr id="29" name="TextBox 28"/>
          <p:cNvSpPr txBox="1"/>
          <p:nvPr/>
        </p:nvSpPr>
        <p:spPr>
          <a:xfrm>
            <a:off x="3308527" y="3127248"/>
            <a:ext cx="1274787" cy="2651760"/>
          </a:xfrm>
          <a:prstGeom prst="rect">
            <a:avLst/>
          </a:prstGeom>
          <a:noFill/>
        </p:spPr>
        <p:txBody>
          <a:bodyPr wrap="square">
            <a:spAutoFit/>
          </a:bodyPr>
          <a:lstStyle/>
          <a:p>
            <a:pPr algn="ctr"/>
            <a:r>
              <a:rPr sz="850" b="0" i="0">
                <a:solidFill>
                  <a:srgbClr val="3A4356"/>
                </a:solidFill>
              </a:rPr>
              <a:t>Volume, weight, size, walls, holes and features</a:t>
            </a:r>
          </a:p>
        </p:txBody>
      </p:sp>
      <p:sp>
        <p:nvSpPr>
          <p:cNvPr id="30" name="TextBox 29"/>
          <p:cNvSpPr txBox="1"/>
          <p:nvPr/>
        </p:nvSpPr>
        <p:spPr>
          <a:xfrm>
            <a:off x="4491875" y="3931920"/>
            <a:ext cx="228600" cy="274320"/>
          </a:xfrm>
          <a:prstGeom prst="rect">
            <a:avLst/>
          </a:prstGeom>
          <a:noFill/>
        </p:spPr>
        <p:txBody>
          <a:bodyPr wrap="square">
            <a:spAutoFit/>
          </a:bodyPr>
          <a:lstStyle/>
          <a:p>
            <a:pPr algn="l"/>
            <a:r>
              <a:rPr sz="900" b="1" i="0">
                <a:solidFill>
                  <a:srgbClr val="1D6FB8"/>
                </a:solidFill>
              </a:rPr>
              <a:t>→</a:t>
            </a:r>
          </a:p>
        </p:txBody>
      </p:sp>
      <p:sp>
        <p:nvSpPr>
          <p:cNvPr id="31" name="Rectangle 30"/>
          <p:cNvSpPr/>
          <p:nvPr/>
        </p:nvSpPr>
        <p:spPr>
          <a:xfrm>
            <a:off x="4674755" y="2377440"/>
            <a:ext cx="1384515" cy="34747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74755" y="2377440"/>
            <a:ext cx="1384515" cy="36576"/>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74755" y="2432304"/>
            <a:ext cx="1384515" cy="274320"/>
          </a:xfrm>
          <a:prstGeom prst="rect">
            <a:avLst/>
          </a:prstGeom>
          <a:noFill/>
        </p:spPr>
        <p:txBody>
          <a:bodyPr wrap="square">
            <a:spAutoFit/>
          </a:bodyPr>
          <a:lstStyle/>
          <a:p>
            <a:pPr algn="ctr"/>
            <a:r>
              <a:rPr sz="1000" b="1" i="0">
                <a:solidFill>
                  <a:srgbClr val="6B3FA0"/>
                </a:solidFill>
              </a:rPr>
              <a:t>4</a:t>
            </a:r>
          </a:p>
        </p:txBody>
      </p:sp>
      <p:sp>
        <p:nvSpPr>
          <p:cNvPr id="34" name="TextBox 33"/>
          <p:cNvSpPr txBox="1"/>
          <p:nvPr/>
        </p:nvSpPr>
        <p:spPr>
          <a:xfrm>
            <a:off x="4729619" y="2743200"/>
            <a:ext cx="1274787" cy="292608"/>
          </a:xfrm>
          <a:prstGeom prst="rect">
            <a:avLst/>
          </a:prstGeom>
          <a:noFill/>
        </p:spPr>
        <p:txBody>
          <a:bodyPr wrap="square">
            <a:spAutoFit/>
          </a:bodyPr>
          <a:lstStyle/>
          <a:p>
            <a:pPr algn="ctr"/>
            <a:r>
              <a:rPr sz="850" b="1" i="0">
                <a:solidFill>
                  <a:srgbClr val="16325C"/>
                </a:solidFill>
              </a:rPr>
              <a:t>Ask Where Unsure</a:t>
            </a:r>
          </a:p>
        </p:txBody>
      </p:sp>
      <p:sp>
        <p:nvSpPr>
          <p:cNvPr id="35" name="TextBox 34"/>
          <p:cNvSpPr txBox="1"/>
          <p:nvPr/>
        </p:nvSpPr>
        <p:spPr>
          <a:xfrm>
            <a:off x="4729619" y="3127248"/>
            <a:ext cx="1274787" cy="2651760"/>
          </a:xfrm>
          <a:prstGeom prst="rect">
            <a:avLst/>
          </a:prstGeom>
          <a:noFill/>
        </p:spPr>
        <p:txBody>
          <a:bodyPr wrap="square">
            <a:spAutoFit/>
          </a:bodyPr>
          <a:lstStyle/>
          <a:p>
            <a:pPr algn="ctr"/>
            <a:r>
              <a:rPr sz="850" b="0" i="0">
                <a:solidFill>
                  <a:srgbClr val="3A4356"/>
                </a:solidFill>
              </a:rPr>
              <a:t>Route, material family, holes on an STL — the engineer answers</a:t>
            </a:r>
          </a:p>
        </p:txBody>
      </p:sp>
      <p:sp>
        <p:nvSpPr>
          <p:cNvPr id="36" name="TextBox 35"/>
          <p:cNvSpPr txBox="1"/>
          <p:nvPr/>
        </p:nvSpPr>
        <p:spPr>
          <a:xfrm>
            <a:off x="5912967" y="3931920"/>
            <a:ext cx="228600" cy="274320"/>
          </a:xfrm>
          <a:prstGeom prst="rect">
            <a:avLst/>
          </a:prstGeom>
          <a:noFill/>
        </p:spPr>
        <p:txBody>
          <a:bodyPr wrap="square">
            <a:spAutoFit/>
          </a:bodyPr>
          <a:lstStyle/>
          <a:p>
            <a:pPr algn="l"/>
            <a:r>
              <a:rPr sz="900" b="1" i="0">
                <a:solidFill>
                  <a:srgbClr val="1D6FB8"/>
                </a:solidFill>
              </a:rPr>
              <a:t>→</a:t>
            </a:r>
          </a:p>
        </p:txBody>
      </p:sp>
      <p:sp>
        <p:nvSpPr>
          <p:cNvPr id="37" name="Rectangle 36"/>
          <p:cNvSpPr/>
          <p:nvPr/>
        </p:nvSpPr>
        <p:spPr>
          <a:xfrm>
            <a:off x="6095847" y="2377440"/>
            <a:ext cx="1384515" cy="34747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95847" y="2377440"/>
            <a:ext cx="1384515" cy="36576"/>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95847" y="2432304"/>
            <a:ext cx="1384515" cy="274320"/>
          </a:xfrm>
          <a:prstGeom prst="rect">
            <a:avLst/>
          </a:prstGeom>
          <a:noFill/>
        </p:spPr>
        <p:txBody>
          <a:bodyPr wrap="square">
            <a:spAutoFit/>
          </a:bodyPr>
          <a:lstStyle/>
          <a:p>
            <a:pPr algn="ctr"/>
            <a:r>
              <a:rPr sz="1000" b="1" i="0">
                <a:solidFill>
                  <a:srgbClr val="99651A"/>
                </a:solidFill>
              </a:rPr>
              <a:t>5</a:t>
            </a:r>
          </a:p>
        </p:txBody>
      </p:sp>
      <p:sp>
        <p:nvSpPr>
          <p:cNvPr id="40" name="TextBox 39"/>
          <p:cNvSpPr txBox="1"/>
          <p:nvPr/>
        </p:nvSpPr>
        <p:spPr>
          <a:xfrm>
            <a:off x="6150711" y="2743200"/>
            <a:ext cx="1274787" cy="292608"/>
          </a:xfrm>
          <a:prstGeom prst="rect">
            <a:avLst/>
          </a:prstGeom>
          <a:noFill/>
        </p:spPr>
        <p:txBody>
          <a:bodyPr wrap="square">
            <a:spAutoFit/>
          </a:bodyPr>
          <a:lstStyle/>
          <a:p>
            <a:pPr algn="ctr"/>
            <a:r>
              <a:rPr sz="850" b="1" i="0">
                <a:solidFill>
                  <a:srgbClr val="16325C"/>
                </a:solidFill>
              </a:rPr>
              <a:t>Calculate 8 Buckets</a:t>
            </a:r>
          </a:p>
        </p:txBody>
      </p:sp>
      <p:sp>
        <p:nvSpPr>
          <p:cNvPr id="41" name="TextBox 40"/>
          <p:cNvSpPr txBox="1"/>
          <p:nvPr/>
        </p:nvSpPr>
        <p:spPr>
          <a:xfrm>
            <a:off x="6150711" y="3127248"/>
            <a:ext cx="1274787" cy="2651760"/>
          </a:xfrm>
          <a:prstGeom prst="rect">
            <a:avLst/>
          </a:prstGeom>
          <a:noFill/>
        </p:spPr>
        <p:txBody>
          <a:bodyPr wrap="square">
            <a:spAutoFit/>
          </a:bodyPr>
          <a:lstStyle/>
          <a:p>
            <a:pPr algn="ctr"/>
            <a:r>
              <a:rPr sz="850" b="0" i="0">
                <a:solidFill>
                  <a:srgbClr val="3A4356"/>
                </a:solidFill>
              </a:rPr>
              <a:t>Material, process, labour, tooling, packaging, logistics, overhead, margin</a:t>
            </a:r>
          </a:p>
        </p:txBody>
      </p:sp>
      <p:sp>
        <p:nvSpPr>
          <p:cNvPr id="42" name="TextBox 41"/>
          <p:cNvSpPr txBox="1"/>
          <p:nvPr/>
        </p:nvSpPr>
        <p:spPr>
          <a:xfrm>
            <a:off x="7334059" y="3931920"/>
            <a:ext cx="228600" cy="274320"/>
          </a:xfrm>
          <a:prstGeom prst="rect">
            <a:avLst/>
          </a:prstGeom>
          <a:noFill/>
        </p:spPr>
        <p:txBody>
          <a:bodyPr wrap="square">
            <a:spAutoFit/>
          </a:bodyPr>
          <a:lstStyle/>
          <a:p>
            <a:pPr algn="l"/>
            <a:r>
              <a:rPr sz="900" b="1" i="0">
                <a:solidFill>
                  <a:srgbClr val="1D6FB8"/>
                </a:solidFill>
              </a:rPr>
              <a:t>→</a:t>
            </a:r>
          </a:p>
        </p:txBody>
      </p:sp>
      <p:sp>
        <p:nvSpPr>
          <p:cNvPr id="43" name="Rectangle 42"/>
          <p:cNvSpPr/>
          <p:nvPr/>
        </p:nvSpPr>
        <p:spPr>
          <a:xfrm>
            <a:off x="7516939" y="2377440"/>
            <a:ext cx="1384515" cy="34747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16939" y="2377440"/>
            <a:ext cx="1384515" cy="3657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16939" y="2432304"/>
            <a:ext cx="1384515" cy="274320"/>
          </a:xfrm>
          <a:prstGeom prst="rect">
            <a:avLst/>
          </a:prstGeom>
          <a:noFill/>
        </p:spPr>
        <p:txBody>
          <a:bodyPr wrap="square">
            <a:spAutoFit/>
          </a:bodyPr>
          <a:lstStyle/>
          <a:p>
            <a:pPr algn="ctr"/>
            <a:r>
              <a:rPr sz="1000" b="1" i="0">
                <a:solidFill>
                  <a:srgbClr val="2A7F50"/>
                </a:solidFill>
              </a:rPr>
              <a:t>6</a:t>
            </a:r>
          </a:p>
        </p:txBody>
      </p:sp>
      <p:sp>
        <p:nvSpPr>
          <p:cNvPr id="46" name="TextBox 45"/>
          <p:cNvSpPr txBox="1"/>
          <p:nvPr/>
        </p:nvSpPr>
        <p:spPr>
          <a:xfrm>
            <a:off x="7571803" y="2743200"/>
            <a:ext cx="1274787" cy="292608"/>
          </a:xfrm>
          <a:prstGeom prst="rect">
            <a:avLst/>
          </a:prstGeom>
          <a:noFill/>
        </p:spPr>
        <p:txBody>
          <a:bodyPr wrap="square">
            <a:spAutoFit/>
          </a:bodyPr>
          <a:lstStyle/>
          <a:p>
            <a:pPr algn="ctr"/>
            <a:r>
              <a:rPr sz="850" b="1" i="0">
                <a:solidFill>
                  <a:srgbClr val="16325C"/>
                </a:solidFill>
              </a:rPr>
              <a:t>Self-Audit and Band</a:t>
            </a:r>
          </a:p>
        </p:txBody>
      </p:sp>
      <p:sp>
        <p:nvSpPr>
          <p:cNvPr id="47" name="TextBox 46"/>
          <p:cNvSpPr txBox="1"/>
          <p:nvPr/>
        </p:nvSpPr>
        <p:spPr>
          <a:xfrm>
            <a:off x="7571803" y="3127248"/>
            <a:ext cx="1274787" cy="2651760"/>
          </a:xfrm>
          <a:prstGeom prst="rect">
            <a:avLst/>
          </a:prstGeom>
          <a:noFill/>
        </p:spPr>
        <p:txBody>
          <a:bodyPr wrap="square">
            <a:spAutoFit/>
          </a:bodyPr>
          <a:lstStyle/>
          <a:p>
            <a:pPr algn="ctr"/>
            <a:r>
              <a:rPr sz="850" b="0" i="0">
                <a:solidFill>
                  <a:srgbClr val="3A4356"/>
                </a:solidFill>
              </a:rPr>
              <a:t>Flags implausible results. P10–P90 uncertainty band</a:t>
            </a:r>
          </a:p>
        </p:txBody>
      </p:sp>
      <p:sp>
        <p:nvSpPr>
          <p:cNvPr id="48" name="TextBox 47"/>
          <p:cNvSpPr txBox="1"/>
          <p:nvPr/>
        </p:nvSpPr>
        <p:spPr>
          <a:xfrm>
            <a:off x="8755151" y="3931920"/>
            <a:ext cx="228600" cy="274320"/>
          </a:xfrm>
          <a:prstGeom prst="rect">
            <a:avLst/>
          </a:prstGeom>
          <a:noFill/>
        </p:spPr>
        <p:txBody>
          <a:bodyPr wrap="square">
            <a:spAutoFit/>
          </a:bodyPr>
          <a:lstStyle/>
          <a:p>
            <a:pPr algn="l"/>
            <a:r>
              <a:rPr sz="900" b="1" i="0">
                <a:solidFill>
                  <a:srgbClr val="1D6FB8"/>
                </a:solidFill>
              </a:rPr>
              <a:t>→</a:t>
            </a:r>
          </a:p>
        </p:txBody>
      </p:sp>
      <p:sp>
        <p:nvSpPr>
          <p:cNvPr id="49" name="Rectangle 48"/>
          <p:cNvSpPr/>
          <p:nvPr/>
        </p:nvSpPr>
        <p:spPr>
          <a:xfrm>
            <a:off x="8938031" y="2377440"/>
            <a:ext cx="1384515" cy="34747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938031" y="2377440"/>
            <a:ext cx="1384515" cy="3657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938031" y="2432304"/>
            <a:ext cx="1384515" cy="274320"/>
          </a:xfrm>
          <a:prstGeom prst="rect">
            <a:avLst/>
          </a:prstGeom>
          <a:noFill/>
        </p:spPr>
        <p:txBody>
          <a:bodyPr wrap="square">
            <a:spAutoFit/>
          </a:bodyPr>
          <a:lstStyle/>
          <a:p>
            <a:pPr algn="ctr"/>
            <a:r>
              <a:rPr sz="1000" b="1" i="0">
                <a:solidFill>
                  <a:srgbClr val="2A7F50"/>
                </a:solidFill>
              </a:rPr>
              <a:t>7</a:t>
            </a:r>
          </a:p>
        </p:txBody>
      </p:sp>
      <p:sp>
        <p:nvSpPr>
          <p:cNvPr id="52" name="TextBox 51"/>
          <p:cNvSpPr txBox="1"/>
          <p:nvPr/>
        </p:nvSpPr>
        <p:spPr>
          <a:xfrm>
            <a:off x="8992895" y="2743200"/>
            <a:ext cx="1274787" cy="292608"/>
          </a:xfrm>
          <a:prstGeom prst="rect">
            <a:avLst/>
          </a:prstGeom>
          <a:noFill/>
        </p:spPr>
        <p:txBody>
          <a:bodyPr wrap="square">
            <a:spAutoFit/>
          </a:bodyPr>
          <a:lstStyle/>
          <a:p>
            <a:pPr algn="ctr"/>
            <a:r>
              <a:rPr sz="850" b="1" i="0">
                <a:solidFill>
                  <a:srgbClr val="16325C"/>
                </a:solidFill>
              </a:rPr>
              <a:t>DFM / DFA Advice</a:t>
            </a:r>
          </a:p>
        </p:txBody>
      </p:sp>
      <p:sp>
        <p:nvSpPr>
          <p:cNvPr id="53" name="TextBox 52"/>
          <p:cNvSpPr txBox="1"/>
          <p:nvPr/>
        </p:nvSpPr>
        <p:spPr>
          <a:xfrm>
            <a:off x="8992895" y="3127248"/>
            <a:ext cx="1274787" cy="2651760"/>
          </a:xfrm>
          <a:prstGeom prst="rect">
            <a:avLst/>
          </a:prstGeom>
          <a:noFill/>
        </p:spPr>
        <p:txBody>
          <a:bodyPr wrap="square">
            <a:spAutoFit/>
          </a:bodyPr>
          <a:lstStyle/>
          <a:p>
            <a:pPr algn="ctr"/>
            <a:r>
              <a:rPr sz="850" b="0" i="0">
                <a:solidFill>
                  <a:srgbClr val="3A4356"/>
                </a:solidFill>
              </a:rPr>
              <a:t>Ranked ways to make it cheaper. The price does not change</a:t>
            </a:r>
          </a:p>
        </p:txBody>
      </p:sp>
      <p:sp>
        <p:nvSpPr>
          <p:cNvPr id="54" name="TextBox 53"/>
          <p:cNvSpPr txBox="1"/>
          <p:nvPr/>
        </p:nvSpPr>
        <p:spPr>
          <a:xfrm>
            <a:off x="10176243" y="3931920"/>
            <a:ext cx="228600" cy="274320"/>
          </a:xfrm>
          <a:prstGeom prst="rect">
            <a:avLst/>
          </a:prstGeom>
          <a:noFill/>
        </p:spPr>
        <p:txBody>
          <a:bodyPr wrap="square">
            <a:spAutoFit/>
          </a:bodyPr>
          <a:lstStyle/>
          <a:p>
            <a:pPr algn="l"/>
            <a:r>
              <a:rPr sz="900" b="1" i="0">
                <a:solidFill>
                  <a:srgbClr val="1D6FB8"/>
                </a:solidFill>
              </a:rPr>
              <a:t>→</a:t>
            </a:r>
          </a:p>
        </p:txBody>
      </p:sp>
      <p:sp>
        <p:nvSpPr>
          <p:cNvPr id="55" name="Rectangle 54"/>
          <p:cNvSpPr/>
          <p:nvPr/>
        </p:nvSpPr>
        <p:spPr>
          <a:xfrm>
            <a:off x="10359123" y="2377440"/>
            <a:ext cx="1384515" cy="34747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359123" y="2377440"/>
            <a:ext cx="1384515" cy="36576"/>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359123" y="2432304"/>
            <a:ext cx="1384515" cy="274320"/>
          </a:xfrm>
          <a:prstGeom prst="rect">
            <a:avLst/>
          </a:prstGeom>
          <a:noFill/>
        </p:spPr>
        <p:txBody>
          <a:bodyPr wrap="square">
            <a:spAutoFit/>
          </a:bodyPr>
          <a:lstStyle/>
          <a:p>
            <a:pPr algn="ctr"/>
            <a:r>
              <a:rPr sz="1000" b="1" i="0">
                <a:solidFill>
                  <a:srgbClr val="1D6FB8"/>
                </a:solidFill>
              </a:rPr>
              <a:t>8</a:t>
            </a:r>
          </a:p>
        </p:txBody>
      </p:sp>
      <p:sp>
        <p:nvSpPr>
          <p:cNvPr id="58" name="TextBox 57"/>
          <p:cNvSpPr txBox="1"/>
          <p:nvPr/>
        </p:nvSpPr>
        <p:spPr>
          <a:xfrm>
            <a:off x="10413987" y="2743200"/>
            <a:ext cx="1274787" cy="292608"/>
          </a:xfrm>
          <a:prstGeom prst="rect">
            <a:avLst/>
          </a:prstGeom>
          <a:noFill/>
        </p:spPr>
        <p:txBody>
          <a:bodyPr wrap="square">
            <a:spAutoFit/>
          </a:bodyPr>
          <a:lstStyle/>
          <a:p>
            <a:pPr algn="ctr"/>
            <a:r>
              <a:rPr sz="850" b="1" i="0">
                <a:solidFill>
                  <a:srgbClr val="16325C"/>
                </a:solidFill>
              </a:rPr>
              <a:t>Export and Negotiate</a:t>
            </a:r>
          </a:p>
        </p:txBody>
      </p:sp>
      <p:sp>
        <p:nvSpPr>
          <p:cNvPr id="59" name="TextBox 58"/>
          <p:cNvSpPr txBox="1"/>
          <p:nvPr/>
        </p:nvSpPr>
        <p:spPr>
          <a:xfrm>
            <a:off x="10413987" y="3127248"/>
            <a:ext cx="1274787" cy="2651760"/>
          </a:xfrm>
          <a:prstGeom prst="rect">
            <a:avLst/>
          </a:prstGeom>
          <a:noFill/>
        </p:spPr>
        <p:txBody>
          <a:bodyPr wrap="square">
            <a:spAutoFit/>
          </a:bodyPr>
          <a:lstStyle/>
          <a:p>
            <a:pPr algn="ctr"/>
            <a:r>
              <a:rPr sz="850" b="0" i="0">
                <a:solidFill>
                  <a:srgbClr val="3A4356"/>
                </a:solidFill>
              </a:rPr>
              <a:t>6-sheet Excel, PDF report, negotiation pack</a:t>
            </a:r>
          </a:p>
        </p:txBody>
      </p:sp>
      <p:sp>
        <p:nvSpPr>
          <p:cNvPr id="60" name="Rectangle 59"/>
          <p:cNvSpPr/>
          <p:nvPr/>
        </p:nvSpPr>
        <p:spPr>
          <a:xfrm>
            <a:off x="411480" y="5989320"/>
            <a:ext cx="1572768" cy="274320"/>
          </a:xfrm>
          <a:prstGeom prst="rect">
            <a:avLst/>
          </a:prstGeom>
          <a:solidFill>
            <a:srgbClr val="FFFFFF"/>
          </a:solidFill>
          <a:ln w="635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84632" y="6016752"/>
            <a:ext cx="1444752" cy="219456"/>
          </a:xfrm>
          <a:prstGeom prst="rect">
            <a:avLst/>
          </a:prstGeom>
          <a:noFill/>
        </p:spPr>
        <p:txBody>
          <a:bodyPr wrap="square">
            <a:spAutoFit/>
          </a:bodyPr>
          <a:lstStyle/>
          <a:p>
            <a:pPr algn="ctr"/>
            <a:r>
              <a:rPr sz="750" b="0" i="0">
                <a:solidFill>
                  <a:srgbClr val="1D6FB8"/>
                </a:solidFill>
              </a:rPr>
              <a:t>Every step traceable</a:t>
            </a:r>
          </a:p>
        </p:txBody>
      </p:sp>
      <p:sp>
        <p:nvSpPr>
          <p:cNvPr id="62" name="Rectangle 61"/>
          <p:cNvSpPr/>
          <p:nvPr/>
        </p:nvSpPr>
        <p:spPr>
          <a:xfrm>
            <a:off x="2039112" y="5989320"/>
            <a:ext cx="1572768" cy="274320"/>
          </a:xfrm>
          <a:prstGeom prst="rect">
            <a:avLst/>
          </a:prstGeom>
          <a:solidFill>
            <a:srgbClr val="FFFFFF"/>
          </a:solidFill>
          <a:ln w="635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112264" y="6016752"/>
            <a:ext cx="1444752" cy="219456"/>
          </a:xfrm>
          <a:prstGeom prst="rect">
            <a:avLst/>
          </a:prstGeom>
          <a:noFill/>
        </p:spPr>
        <p:txBody>
          <a:bodyPr wrap="square">
            <a:spAutoFit/>
          </a:bodyPr>
          <a:lstStyle/>
          <a:p>
            <a:pPr algn="ctr"/>
            <a:r>
              <a:rPr sz="750" b="0" i="0">
                <a:solidFill>
                  <a:srgbClr val="1D6FB8"/>
                </a:solidFill>
              </a:rPr>
              <a:t>No AI in the price</a:t>
            </a:r>
          </a:p>
        </p:txBody>
      </p:sp>
      <p:sp>
        <p:nvSpPr>
          <p:cNvPr id="64" name="Rectangle 63"/>
          <p:cNvSpPr/>
          <p:nvPr/>
        </p:nvSpPr>
        <p:spPr>
          <a:xfrm>
            <a:off x="3666744" y="5989320"/>
            <a:ext cx="1572768" cy="274320"/>
          </a:xfrm>
          <a:prstGeom prst="rect">
            <a:avLst/>
          </a:prstGeom>
          <a:solidFill>
            <a:srgbClr val="FFFFFF"/>
          </a:solidFill>
          <a:ln w="635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739896" y="6016752"/>
            <a:ext cx="1444752" cy="219456"/>
          </a:xfrm>
          <a:prstGeom prst="rect">
            <a:avLst/>
          </a:prstGeom>
          <a:noFill/>
        </p:spPr>
        <p:txBody>
          <a:bodyPr wrap="square">
            <a:spAutoFit/>
          </a:bodyPr>
          <a:lstStyle/>
          <a:p>
            <a:pPr algn="ctr"/>
            <a:r>
              <a:rPr sz="750" b="0" i="0">
                <a:solidFill>
                  <a:srgbClr val="1D6FB8"/>
                </a:solidFill>
              </a:rPr>
              <a:t>20 regions</a:t>
            </a:r>
          </a:p>
        </p:txBody>
      </p:sp>
      <p:sp>
        <p:nvSpPr>
          <p:cNvPr id="66" name="Rectangle 65"/>
          <p:cNvSpPr/>
          <p:nvPr/>
        </p:nvSpPr>
        <p:spPr>
          <a:xfrm>
            <a:off x="5294376" y="5989320"/>
            <a:ext cx="1572768" cy="274320"/>
          </a:xfrm>
          <a:prstGeom prst="rect">
            <a:avLst/>
          </a:prstGeom>
          <a:solidFill>
            <a:srgbClr val="FFFFFF"/>
          </a:solidFill>
          <a:ln w="635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67528" y="6016752"/>
            <a:ext cx="1444752" cy="219456"/>
          </a:xfrm>
          <a:prstGeom prst="rect">
            <a:avLst/>
          </a:prstGeom>
          <a:noFill/>
        </p:spPr>
        <p:txBody>
          <a:bodyPr wrap="square">
            <a:spAutoFit/>
          </a:bodyPr>
          <a:lstStyle/>
          <a:p>
            <a:pPr algn="ctr"/>
            <a:r>
              <a:rPr sz="750" b="0" i="0">
                <a:solidFill>
                  <a:srgbClr val="1D6FB8"/>
                </a:solidFill>
              </a:rPr>
              <a:t>Scenarios side by side</a:t>
            </a:r>
          </a:p>
        </p:txBody>
      </p:sp>
      <p:sp>
        <p:nvSpPr>
          <p:cNvPr id="68" name="Rectangle 67"/>
          <p:cNvSpPr/>
          <p:nvPr/>
        </p:nvSpPr>
        <p:spPr>
          <a:xfrm>
            <a:off x="6922008" y="5989320"/>
            <a:ext cx="1572768" cy="274320"/>
          </a:xfrm>
          <a:prstGeom prst="rect">
            <a:avLst/>
          </a:prstGeom>
          <a:solidFill>
            <a:srgbClr val="FFFFFF"/>
          </a:solidFill>
          <a:ln w="635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995160" y="6016752"/>
            <a:ext cx="1444752" cy="219456"/>
          </a:xfrm>
          <a:prstGeom prst="rect">
            <a:avLst/>
          </a:prstGeom>
          <a:noFill/>
        </p:spPr>
        <p:txBody>
          <a:bodyPr wrap="square">
            <a:spAutoFit/>
          </a:bodyPr>
          <a:lstStyle/>
          <a:p>
            <a:pPr algn="ctr"/>
            <a:r>
              <a:rPr sz="750" b="0" i="0">
                <a:solidFill>
                  <a:srgbClr val="1D6FB8"/>
                </a:solidFill>
              </a:rPr>
              <a:t>Assembly roll-up</a:t>
            </a:r>
          </a:p>
        </p:txBody>
      </p:sp>
      <p:sp>
        <p:nvSpPr>
          <p:cNvPr id="70" name="Rectangle 69"/>
          <p:cNvSpPr/>
          <p:nvPr/>
        </p:nvSpPr>
        <p:spPr>
          <a:xfrm>
            <a:off x="8549640" y="5989320"/>
            <a:ext cx="1572768" cy="274320"/>
          </a:xfrm>
          <a:prstGeom prst="rect">
            <a:avLst/>
          </a:prstGeom>
          <a:solidFill>
            <a:srgbClr val="FFFFFF"/>
          </a:solidFill>
          <a:ln w="635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622792" y="6016752"/>
            <a:ext cx="1444752" cy="219456"/>
          </a:xfrm>
          <a:prstGeom prst="rect">
            <a:avLst/>
          </a:prstGeom>
          <a:noFill/>
        </p:spPr>
        <p:txBody>
          <a:bodyPr wrap="square">
            <a:spAutoFit/>
          </a:bodyPr>
          <a:lstStyle/>
          <a:p>
            <a:pPr algn="ctr"/>
            <a:r>
              <a:rPr sz="750" b="0" i="0">
                <a:solidFill>
                  <a:srgbClr val="1D6FB8"/>
                </a:solidFill>
              </a:rPr>
              <a:t>Learning curve</a:t>
            </a:r>
          </a:p>
        </p:txBody>
      </p:sp>
      <p:sp>
        <p:nvSpPr>
          <p:cNvPr id="72" name="Rectangle 71"/>
          <p:cNvSpPr/>
          <p:nvPr/>
        </p:nvSpPr>
        <p:spPr>
          <a:xfrm>
            <a:off x="10177272" y="5989320"/>
            <a:ext cx="1572768" cy="274320"/>
          </a:xfrm>
          <a:prstGeom prst="rect">
            <a:avLst/>
          </a:prstGeom>
          <a:solidFill>
            <a:srgbClr val="FFFFFF"/>
          </a:solidFill>
          <a:ln w="635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250424" y="6016752"/>
            <a:ext cx="1444752" cy="219456"/>
          </a:xfrm>
          <a:prstGeom prst="rect">
            <a:avLst/>
          </a:prstGeom>
          <a:noFill/>
        </p:spPr>
        <p:txBody>
          <a:bodyPr wrap="square">
            <a:spAutoFit/>
          </a:bodyPr>
          <a:lstStyle/>
          <a:p>
            <a:pPr algn="ctr"/>
            <a:r>
              <a:rPr sz="750" b="0" i="0">
                <a:solidFill>
                  <a:srgbClr val="1D6FB8"/>
                </a:solidFill>
              </a:rPr>
              <a:t>Runs offline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09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FULL COVERAGE</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19 Manufacturing Processes — One Engine</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Plus an assembly roll-up and an automotive software cost model. The same eight cost buckets for all.</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10512"/>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975104"/>
            <a:ext cx="1573813" cy="365760"/>
          </a:xfrm>
          <a:prstGeom prst="rect">
            <a:avLst/>
          </a:prstGeom>
          <a:noFill/>
        </p:spPr>
        <p:txBody>
          <a:bodyPr wrap="square">
            <a:spAutoFit/>
          </a:bodyPr>
          <a:lstStyle/>
          <a:p>
            <a:pPr algn="ctr"/>
            <a:r>
              <a:rPr sz="1700" b="0" i="0">
                <a:solidFill>
                  <a:srgbClr val="16325C"/>
                </a:solidFill>
              </a:rPr>
              <a:t>01</a:t>
            </a:r>
          </a:p>
        </p:txBody>
      </p:sp>
      <p:sp>
        <p:nvSpPr>
          <p:cNvPr id="13" name="TextBox 12"/>
          <p:cNvSpPr txBox="1"/>
          <p:nvPr/>
        </p:nvSpPr>
        <p:spPr>
          <a:xfrm>
            <a:off x="411480" y="2395728"/>
            <a:ext cx="1573813" cy="237744"/>
          </a:xfrm>
          <a:prstGeom prst="rect">
            <a:avLst/>
          </a:prstGeom>
          <a:noFill/>
        </p:spPr>
        <p:txBody>
          <a:bodyPr wrap="square">
            <a:spAutoFit/>
          </a:bodyPr>
          <a:lstStyle/>
          <a:p>
            <a:pPr algn="ctr"/>
            <a:r>
              <a:rPr sz="900" b="1" i="0">
                <a:solidFill>
                  <a:srgbClr val="16325C"/>
                </a:solidFill>
              </a:rPr>
              <a:t>CNC Machining</a:t>
            </a:r>
          </a:p>
        </p:txBody>
      </p:sp>
      <p:sp>
        <p:nvSpPr>
          <p:cNvPr id="14" name="TextBox 13"/>
          <p:cNvSpPr txBox="1"/>
          <p:nvPr/>
        </p:nvSpPr>
        <p:spPr>
          <a:xfrm>
            <a:off x="411480" y="2670048"/>
            <a:ext cx="1573813" cy="530352"/>
          </a:xfrm>
          <a:prstGeom prst="rect">
            <a:avLst/>
          </a:prstGeom>
          <a:noFill/>
        </p:spPr>
        <p:txBody>
          <a:bodyPr wrap="square">
            <a:spAutoFit/>
          </a:bodyPr>
          <a:lstStyle/>
          <a:p>
            <a:pPr algn="ctr"/>
            <a:r>
              <a:rPr sz="800" b="0" i="0">
                <a:solidFill>
                  <a:srgbClr val="686F7D"/>
                </a:solidFill>
              </a:rPr>
              <a:t>Milling, turning, drilling</a:t>
            </a:r>
          </a:p>
        </p:txBody>
      </p:sp>
      <p:sp>
        <p:nvSpPr>
          <p:cNvPr id="15" name="Rectangle 14"/>
          <p:cNvSpPr/>
          <p:nvPr/>
        </p:nvSpPr>
        <p:spPr>
          <a:xfrm>
            <a:off x="2035585" y="1810512"/>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35585" y="1975104"/>
            <a:ext cx="1573813" cy="365760"/>
          </a:xfrm>
          <a:prstGeom prst="rect">
            <a:avLst/>
          </a:prstGeom>
          <a:noFill/>
        </p:spPr>
        <p:txBody>
          <a:bodyPr wrap="square">
            <a:spAutoFit/>
          </a:bodyPr>
          <a:lstStyle/>
          <a:p>
            <a:pPr algn="ctr"/>
            <a:r>
              <a:rPr sz="1700" b="0" i="0">
                <a:solidFill>
                  <a:srgbClr val="16325C"/>
                </a:solidFill>
              </a:rPr>
              <a:t>02</a:t>
            </a:r>
          </a:p>
        </p:txBody>
      </p:sp>
      <p:sp>
        <p:nvSpPr>
          <p:cNvPr id="17" name="TextBox 16"/>
          <p:cNvSpPr txBox="1"/>
          <p:nvPr/>
        </p:nvSpPr>
        <p:spPr>
          <a:xfrm>
            <a:off x="2035585" y="2395728"/>
            <a:ext cx="1573813" cy="237744"/>
          </a:xfrm>
          <a:prstGeom prst="rect">
            <a:avLst/>
          </a:prstGeom>
          <a:noFill/>
        </p:spPr>
        <p:txBody>
          <a:bodyPr wrap="square">
            <a:spAutoFit/>
          </a:bodyPr>
          <a:lstStyle/>
          <a:p>
            <a:pPr algn="ctr"/>
            <a:r>
              <a:rPr sz="900" b="1" i="0">
                <a:solidFill>
                  <a:srgbClr val="16325C"/>
                </a:solidFill>
              </a:rPr>
              <a:t>Casting</a:t>
            </a:r>
          </a:p>
        </p:txBody>
      </p:sp>
      <p:sp>
        <p:nvSpPr>
          <p:cNvPr id="18" name="TextBox 17"/>
          <p:cNvSpPr txBox="1"/>
          <p:nvPr/>
        </p:nvSpPr>
        <p:spPr>
          <a:xfrm>
            <a:off x="2035585" y="2670048"/>
            <a:ext cx="1573813" cy="530352"/>
          </a:xfrm>
          <a:prstGeom prst="rect">
            <a:avLst/>
          </a:prstGeom>
          <a:noFill/>
        </p:spPr>
        <p:txBody>
          <a:bodyPr wrap="square">
            <a:spAutoFit/>
          </a:bodyPr>
          <a:lstStyle/>
          <a:p>
            <a:pPr algn="ctr"/>
            <a:r>
              <a:rPr sz="800" b="0" i="0">
                <a:solidFill>
                  <a:srgbClr val="686F7D"/>
                </a:solidFill>
              </a:rPr>
              <a:t>HPDC, gravity, investment, sand</a:t>
            </a:r>
          </a:p>
        </p:txBody>
      </p:sp>
      <p:sp>
        <p:nvSpPr>
          <p:cNvPr id="19" name="Rectangle 18"/>
          <p:cNvSpPr/>
          <p:nvPr/>
        </p:nvSpPr>
        <p:spPr>
          <a:xfrm>
            <a:off x="3659690" y="1810512"/>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9690" y="1975104"/>
            <a:ext cx="1573813" cy="365760"/>
          </a:xfrm>
          <a:prstGeom prst="rect">
            <a:avLst/>
          </a:prstGeom>
          <a:noFill/>
        </p:spPr>
        <p:txBody>
          <a:bodyPr wrap="square">
            <a:spAutoFit/>
          </a:bodyPr>
          <a:lstStyle/>
          <a:p>
            <a:pPr algn="ctr"/>
            <a:r>
              <a:rPr sz="1700" b="0" i="0">
                <a:solidFill>
                  <a:srgbClr val="16325C"/>
                </a:solidFill>
              </a:rPr>
              <a:t>03</a:t>
            </a:r>
          </a:p>
        </p:txBody>
      </p:sp>
      <p:sp>
        <p:nvSpPr>
          <p:cNvPr id="21" name="TextBox 20"/>
          <p:cNvSpPr txBox="1"/>
          <p:nvPr/>
        </p:nvSpPr>
        <p:spPr>
          <a:xfrm>
            <a:off x="3659690" y="2395728"/>
            <a:ext cx="1573813" cy="237744"/>
          </a:xfrm>
          <a:prstGeom prst="rect">
            <a:avLst/>
          </a:prstGeom>
          <a:noFill/>
        </p:spPr>
        <p:txBody>
          <a:bodyPr wrap="square">
            <a:spAutoFit/>
          </a:bodyPr>
          <a:lstStyle/>
          <a:p>
            <a:pPr algn="ctr"/>
            <a:r>
              <a:rPr sz="900" b="1" i="0">
                <a:solidFill>
                  <a:srgbClr val="16325C"/>
                </a:solidFill>
              </a:rPr>
              <a:t>Cast + Machine</a:t>
            </a:r>
          </a:p>
        </p:txBody>
      </p:sp>
      <p:sp>
        <p:nvSpPr>
          <p:cNvPr id="22" name="TextBox 21"/>
          <p:cNvSpPr txBox="1"/>
          <p:nvPr/>
        </p:nvSpPr>
        <p:spPr>
          <a:xfrm>
            <a:off x="3659690" y="2670048"/>
            <a:ext cx="1573813" cy="530352"/>
          </a:xfrm>
          <a:prstGeom prst="rect">
            <a:avLst/>
          </a:prstGeom>
          <a:noFill/>
        </p:spPr>
        <p:txBody>
          <a:bodyPr wrap="square">
            <a:spAutoFit/>
          </a:bodyPr>
          <a:lstStyle/>
          <a:p>
            <a:pPr algn="ctr"/>
            <a:r>
              <a:rPr sz="800" b="0" i="0">
                <a:solidFill>
                  <a:srgbClr val="686F7D"/>
                </a:solidFill>
              </a:rPr>
              <a:t>Casting plus finish machining</a:t>
            </a:r>
          </a:p>
        </p:txBody>
      </p:sp>
      <p:sp>
        <p:nvSpPr>
          <p:cNvPr id="23" name="Rectangle 22"/>
          <p:cNvSpPr/>
          <p:nvPr/>
        </p:nvSpPr>
        <p:spPr>
          <a:xfrm>
            <a:off x="5283795" y="1810512"/>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83795" y="1975104"/>
            <a:ext cx="1573813" cy="365760"/>
          </a:xfrm>
          <a:prstGeom prst="rect">
            <a:avLst/>
          </a:prstGeom>
          <a:noFill/>
        </p:spPr>
        <p:txBody>
          <a:bodyPr wrap="square">
            <a:spAutoFit/>
          </a:bodyPr>
          <a:lstStyle/>
          <a:p>
            <a:pPr algn="ctr"/>
            <a:r>
              <a:rPr sz="1700" b="0" i="0">
                <a:solidFill>
                  <a:srgbClr val="16325C"/>
                </a:solidFill>
              </a:rPr>
              <a:t>04</a:t>
            </a:r>
          </a:p>
        </p:txBody>
      </p:sp>
      <p:sp>
        <p:nvSpPr>
          <p:cNvPr id="25" name="TextBox 24"/>
          <p:cNvSpPr txBox="1"/>
          <p:nvPr/>
        </p:nvSpPr>
        <p:spPr>
          <a:xfrm>
            <a:off x="5283795" y="2395728"/>
            <a:ext cx="1573813" cy="237744"/>
          </a:xfrm>
          <a:prstGeom prst="rect">
            <a:avLst/>
          </a:prstGeom>
          <a:noFill/>
        </p:spPr>
        <p:txBody>
          <a:bodyPr wrap="square">
            <a:spAutoFit/>
          </a:bodyPr>
          <a:lstStyle/>
          <a:p>
            <a:pPr algn="ctr"/>
            <a:r>
              <a:rPr sz="900" b="1" i="0">
                <a:solidFill>
                  <a:srgbClr val="16325C"/>
                </a:solidFill>
              </a:rPr>
              <a:t>Forging</a:t>
            </a:r>
          </a:p>
        </p:txBody>
      </p:sp>
      <p:sp>
        <p:nvSpPr>
          <p:cNvPr id="26" name="TextBox 25"/>
          <p:cNvSpPr txBox="1"/>
          <p:nvPr/>
        </p:nvSpPr>
        <p:spPr>
          <a:xfrm>
            <a:off x="5283795" y="2670048"/>
            <a:ext cx="1573813" cy="530352"/>
          </a:xfrm>
          <a:prstGeom prst="rect">
            <a:avLst/>
          </a:prstGeom>
          <a:noFill/>
        </p:spPr>
        <p:txBody>
          <a:bodyPr wrap="square">
            <a:spAutoFit/>
          </a:bodyPr>
          <a:lstStyle/>
          <a:p>
            <a:pPr algn="ctr"/>
            <a:r>
              <a:rPr sz="800" b="0" i="0">
                <a:solidFill>
                  <a:srgbClr val="686F7D"/>
                </a:solidFill>
              </a:rPr>
              <a:t>Hot die forging</a:t>
            </a:r>
          </a:p>
        </p:txBody>
      </p:sp>
      <p:sp>
        <p:nvSpPr>
          <p:cNvPr id="27" name="Rectangle 26"/>
          <p:cNvSpPr/>
          <p:nvPr/>
        </p:nvSpPr>
        <p:spPr>
          <a:xfrm>
            <a:off x="6907900" y="1810512"/>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7900" y="1975104"/>
            <a:ext cx="1573813" cy="365760"/>
          </a:xfrm>
          <a:prstGeom prst="rect">
            <a:avLst/>
          </a:prstGeom>
          <a:noFill/>
        </p:spPr>
        <p:txBody>
          <a:bodyPr wrap="square">
            <a:spAutoFit/>
          </a:bodyPr>
          <a:lstStyle/>
          <a:p>
            <a:pPr algn="ctr"/>
            <a:r>
              <a:rPr sz="1700" b="0" i="0">
                <a:solidFill>
                  <a:srgbClr val="16325C"/>
                </a:solidFill>
              </a:rPr>
              <a:t>05</a:t>
            </a:r>
          </a:p>
        </p:txBody>
      </p:sp>
      <p:sp>
        <p:nvSpPr>
          <p:cNvPr id="29" name="TextBox 28"/>
          <p:cNvSpPr txBox="1"/>
          <p:nvPr/>
        </p:nvSpPr>
        <p:spPr>
          <a:xfrm>
            <a:off x="6907900" y="2395728"/>
            <a:ext cx="1573813" cy="237744"/>
          </a:xfrm>
          <a:prstGeom prst="rect">
            <a:avLst/>
          </a:prstGeom>
          <a:noFill/>
        </p:spPr>
        <p:txBody>
          <a:bodyPr wrap="square">
            <a:spAutoFit/>
          </a:bodyPr>
          <a:lstStyle/>
          <a:p>
            <a:pPr algn="ctr"/>
            <a:r>
              <a:rPr sz="900" b="1" i="0">
                <a:solidFill>
                  <a:srgbClr val="16325C"/>
                </a:solidFill>
              </a:rPr>
              <a:t>Sheet Metal</a:t>
            </a:r>
          </a:p>
        </p:txBody>
      </p:sp>
      <p:sp>
        <p:nvSpPr>
          <p:cNvPr id="30" name="TextBox 29"/>
          <p:cNvSpPr txBox="1"/>
          <p:nvPr/>
        </p:nvSpPr>
        <p:spPr>
          <a:xfrm>
            <a:off x="6907900" y="2670048"/>
            <a:ext cx="1573813" cy="530352"/>
          </a:xfrm>
          <a:prstGeom prst="rect">
            <a:avLst/>
          </a:prstGeom>
          <a:noFill/>
        </p:spPr>
        <p:txBody>
          <a:bodyPr wrap="square">
            <a:spAutoFit/>
          </a:bodyPr>
          <a:lstStyle/>
          <a:p>
            <a:pPr algn="ctr"/>
            <a:r>
              <a:rPr sz="800" b="0" i="0">
                <a:solidFill>
                  <a:srgbClr val="686F7D"/>
                </a:solidFill>
              </a:rPr>
              <a:t>Pressed: progressive / transfer</a:t>
            </a:r>
          </a:p>
        </p:txBody>
      </p:sp>
      <p:sp>
        <p:nvSpPr>
          <p:cNvPr id="31" name="Rectangle 30"/>
          <p:cNvSpPr/>
          <p:nvPr/>
        </p:nvSpPr>
        <p:spPr>
          <a:xfrm>
            <a:off x="8532005" y="1810512"/>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32005" y="1975104"/>
            <a:ext cx="1573813" cy="365760"/>
          </a:xfrm>
          <a:prstGeom prst="rect">
            <a:avLst/>
          </a:prstGeom>
          <a:noFill/>
        </p:spPr>
        <p:txBody>
          <a:bodyPr wrap="square">
            <a:spAutoFit/>
          </a:bodyPr>
          <a:lstStyle/>
          <a:p>
            <a:pPr algn="ctr"/>
            <a:r>
              <a:rPr sz="1700" b="0" i="0">
                <a:solidFill>
                  <a:srgbClr val="16325C"/>
                </a:solidFill>
              </a:rPr>
              <a:t>06</a:t>
            </a:r>
          </a:p>
        </p:txBody>
      </p:sp>
      <p:sp>
        <p:nvSpPr>
          <p:cNvPr id="33" name="TextBox 32"/>
          <p:cNvSpPr txBox="1"/>
          <p:nvPr/>
        </p:nvSpPr>
        <p:spPr>
          <a:xfrm>
            <a:off x="8532005" y="2395728"/>
            <a:ext cx="1573813" cy="237744"/>
          </a:xfrm>
          <a:prstGeom prst="rect">
            <a:avLst/>
          </a:prstGeom>
          <a:noFill/>
        </p:spPr>
        <p:txBody>
          <a:bodyPr wrap="square">
            <a:spAutoFit/>
          </a:bodyPr>
          <a:lstStyle/>
          <a:p>
            <a:pPr algn="ctr"/>
            <a:r>
              <a:rPr sz="900" b="1" i="0">
                <a:solidFill>
                  <a:srgbClr val="16325C"/>
                </a:solidFill>
              </a:rPr>
              <a:t>Sheet Metal Fab</a:t>
            </a:r>
          </a:p>
        </p:txBody>
      </p:sp>
      <p:sp>
        <p:nvSpPr>
          <p:cNvPr id="34" name="TextBox 33"/>
          <p:cNvSpPr txBox="1"/>
          <p:nvPr/>
        </p:nvSpPr>
        <p:spPr>
          <a:xfrm>
            <a:off x="8532005" y="2670048"/>
            <a:ext cx="1573813" cy="530352"/>
          </a:xfrm>
          <a:prstGeom prst="rect">
            <a:avLst/>
          </a:prstGeom>
          <a:noFill/>
        </p:spPr>
        <p:txBody>
          <a:bodyPr wrap="square">
            <a:spAutoFit/>
          </a:bodyPr>
          <a:lstStyle/>
          <a:p>
            <a:pPr algn="ctr"/>
            <a:r>
              <a:rPr sz="800" b="0" i="0">
                <a:solidFill>
                  <a:srgbClr val="686F7D"/>
                </a:solidFill>
              </a:rPr>
              <a:t>Laser · punch · brake · weld</a:t>
            </a:r>
          </a:p>
        </p:txBody>
      </p:sp>
      <p:sp>
        <p:nvSpPr>
          <p:cNvPr id="35" name="Rectangle 34"/>
          <p:cNvSpPr/>
          <p:nvPr/>
        </p:nvSpPr>
        <p:spPr>
          <a:xfrm>
            <a:off x="10156110" y="1810512"/>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56110" y="1975104"/>
            <a:ext cx="1573813" cy="365760"/>
          </a:xfrm>
          <a:prstGeom prst="rect">
            <a:avLst/>
          </a:prstGeom>
          <a:noFill/>
        </p:spPr>
        <p:txBody>
          <a:bodyPr wrap="square">
            <a:spAutoFit/>
          </a:bodyPr>
          <a:lstStyle/>
          <a:p>
            <a:pPr algn="ctr"/>
            <a:r>
              <a:rPr sz="1700" b="0" i="0">
                <a:solidFill>
                  <a:srgbClr val="16325C"/>
                </a:solidFill>
              </a:rPr>
              <a:t>07</a:t>
            </a:r>
          </a:p>
        </p:txBody>
      </p:sp>
      <p:sp>
        <p:nvSpPr>
          <p:cNvPr id="37" name="TextBox 36"/>
          <p:cNvSpPr txBox="1"/>
          <p:nvPr/>
        </p:nvSpPr>
        <p:spPr>
          <a:xfrm>
            <a:off x="10156110" y="2395728"/>
            <a:ext cx="1573813" cy="237744"/>
          </a:xfrm>
          <a:prstGeom prst="rect">
            <a:avLst/>
          </a:prstGeom>
          <a:noFill/>
        </p:spPr>
        <p:txBody>
          <a:bodyPr wrap="square">
            <a:spAutoFit/>
          </a:bodyPr>
          <a:lstStyle/>
          <a:p>
            <a:pPr algn="ctr"/>
            <a:r>
              <a:rPr sz="900" b="1" i="0">
                <a:solidFill>
                  <a:srgbClr val="16325C"/>
                </a:solidFill>
              </a:rPr>
              <a:t>Gear Cutting</a:t>
            </a:r>
          </a:p>
        </p:txBody>
      </p:sp>
      <p:sp>
        <p:nvSpPr>
          <p:cNvPr id="38" name="TextBox 37"/>
          <p:cNvSpPr txBox="1"/>
          <p:nvPr/>
        </p:nvSpPr>
        <p:spPr>
          <a:xfrm>
            <a:off x="10156110" y="2670048"/>
            <a:ext cx="1573813" cy="530352"/>
          </a:xfrm>
          <a:prstGeom prst="rect">
            <a:avLst/>
          </a:prstGeom>
          <a:noFill/>
        </p:spPr>
        <p:txBody>
          <a:bodyPr wrap="square">
            <a:spAutoFit/>
          </a:bodyPr>
          <a:lstStyle/>
          <a:p>
            <a:pPr algn="ctr"/>
            <a:r>
              <a:rPr sz="800" b="0" i="0">
                <a:solidFill>
                  <a:srgbClr val="686F7D"/>
                </a:solidFill>
              </a:rPr>
              <a:t>Hob · shape · skive · grind</a:t>
            </a:r>
          </a:p>
        </p:txBody>
      </p:sp>
      <p:sp>
        <p:nvSpPr>
          <p:cNvPr id="39" name="Rectangle 38"/>
          <p:cNvSpPr/>
          <p:nvPr/>
        </p:nvSpPr>
        <p:spPr>
          <a:xfrm>
            <a:off x="411480" y="3345180"/>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509772"/>
            <a:ext cx="1573813" cy="365760"/>
          </a:xfrm>
          <a:prstGeom prst="rect">
            <a:avLst/>
          </a:prstGeom>
          <a:noFill/>
        </p:spPr>
        <p:txBody>
          <a:bodyPr wrap="square">
            <a:spAutoFit/>
          </a:bodyPr>
          <a:lstStyle/>
          <a:p>
            <a:pPr algn="ctr"/>
            <a:r>
              <a:rPr sz="1700" b="0" i="0">
                <a:solidFill>
                  <a:srgbClr val="16325C"/>
                </a:solidFill>
              </a:rPr>
              <a:t>08</a:t>
            </a:r>
          </a:p>
        </p:txBody>
      </p:sp>
      <p:sp>
        <p:nvSpPr>
          <p:cNvPr id="41" name="TextBox 40"/>
          <p:cNvSpPr txBox="1"/>
          <p:nvPr/>
        </p:nvSpPr>
        <p:spPr>
          <a:xfrm>
            <a:off x="411480" y="3930396"/>
            <a:ext cx="1573813" cy="237744"/>
          </a:xfrm>
          <a:prstGeom prst="rect">
            <a:avLst/>
          </a:prstGeom>
          <a:noFill/>
        </p:spPr>
        <p:txBody>
          <a:bodyPr wrap="square">
            <a:spAutoFit/>
          </a:bodyPr>
          <a:lstStyle/>
          <a:p>
            <a:pPr algn="ctr"/>
            <a:r>
              <a:rPr sz="900" b="1" i="0">
                <a:solidFill>
                  <a:srgbClr val="16325C"/>
                </a:solidFill>
              </a:rPr>
              <a:t>Injection Moulding</a:t>
            </a:r>
          </a:p>
        </p:txBody>
      </p:sp>
      <p:sp>
        <p:nvSpPr>
          <p:cNvPr id="42" name="TextBox 41"/>
          <p:cNvSpPr txBox="1"/>
          <p:nvPr/>
        </p:nvSpPr>
        <p:spPr>
          <a:xfrm>
            <a:off x="411480" y="4204716"/>
            <a:ext cx="1573813" cy="530352"/>
          </a:xfrm>
          <a:prstGeom prst="rect">
            <a:avLst/>
          </a:prstGeom>
          <a:noFill/>
        </p:spPr>
        <p:txBody>
          <a:bodyPr wrap="square">
            <a:spAutoFit/>
          </a:bodyPr>
          <a:lstStyle/>
          <a:p>
            <a:pPr algn="ctr"/>
            <a:r>
              <a:rPr sz="800" b="0" i="0">
                <a:solidFill>
                  <a:srgbClr val="686F7D"/>
                </a:solidFill>
              </a:rPr>
              <a:t>Thermoplastics, multi-cavity</a:t>
            </a:r>
          </a:p>
        </p:txBody>
      </p:sp>
      <p:sp>
        <p:nvSpPr>
          <p:cNvPr id="43" name="Rectangle 42"/>
          <p:cNvSpPr/>
          <p:nvPr/>
        </p:nvSpPr>
        <p:spPr>
          <a:xfrm>
            <a:off x="2035585" y="3345180"/>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035585" y="3509772"/>
            <a:ext cx="1573813" cy="365760"/>
          </a:xfrm>
          <a:prstGeom prst="rect">
            <a:avLst/>
          </a:prstGeom>
          <a:noFill/>
        </p:spPr>
        <p:txBody>
          <a:bodyPr wrap="square">
            <a:spAutoFit/>
          </a:bodyPr>
          <a:lstStyle/>
          <a:p>
            <a:pPr algn="ctr"/>
            <a:r>
              <a:rPr sz="1700" b="0" i="0">
                <a:solidFill>
                  <a:srgbClr val="16325C"/>
                </a:solidFill>
              </a:rPr>
              <a:t>09</a:t>
            </a:r>
          </a:p>
        </p:txBody>
      </p:sp>
      <p:sp>
        <p:nvSpPr>
          <p:cNvPr id="45" name="TextBox 44"/>
          <p:cNvSpPr txBox="1"/>
          <p:nvPr/>
        </p:nvSpPr>
        <p:spPr>
          <a:xfrm>
            <a:off x="2035585" y="3930396"/>
            <a:ext cx="1573813" cy="237744"/>
          </a:xfrm>
          <a:prstGeom prst="rect">
            <a:avLst/>
          </a:prstGeom>
          <a:noFill/>
        </p:spPr>
        <p:txBody>
          <a:bodyPr wrap="square">
            <a:spAutoFit/>
          </a:bodyPr>
          <a:lstStyle/>
          <a:p>
            <a:pPr algn="ctr"/>
            <a:r>
              <a:rPr sz="900" b="1" i="0">
                <a:solidFill>
                  <a:srgbClr val="16325C"/>
                </a:solidFill>
              </a:rPr>
              <a:t>Blow Moulding</a:t>
            </a:r>
          </a:p>
        </p:txBody>
      </p:sp>
      <p:sp>
        <p:nvSpPr>
          <p:cNvPr id="46" name="TextBox 45"/>
          <p:cNvSpPr txBox="1"/>
          <p:nvPr/>
        </p:nvSpPr>
        <p:spPr>
          <a:xfrm>
            <a:off x="2035585" y="4204716"/>
            <a:ext cx="1573813" cy="530352"/>
          </a:xfrm>
          <a:prstGeom prst="rect">
            <a:avLst/>
          </a:prstGeom>
          <a:noFill/>
        </p:spPr>
        <p:txBody>
          <a:bodyPr wrap="square">
            <a:spAutoFit/>
          </a:bodyPr>
          <a:lstStyle/>
          <a:p>
            <a:pPr algn="ctr"/>
            <a:r>
              <a:rPr sz="800" b="0" i="0">
                <a:solidFill>
                  <a:srgbClr val="686F7D"/>
                </a:solidFill>
              </a:rPr>
              <a:t>Hollow parts: tanks, ducts</a:t>
            </a:r>
          </a:p>
        </p:txBody>
      </p:sp>
      <p:sp>
        <p:nvSpPr>
          <p:cNvPr id="47" name="Rectangle 46"/>
          <p:cNvSpPr/>
          <p:nvPr/>
        </p:nvSpPr>
        <p:spPr>
          <a:xfrm>
            <a:off x="3659690" y="3345180"/>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9690" y="3509772"/>
            <a:ext cx="1573813" cy="365760"/>
          </a:xfrm>
          <a:prstGeom prst="rect">
            <a:avLst/>
          </a:prstGeom>
          <a:noFill/>
        </p:spPr>
        <p:txBody>
          <a:bodyPr wrap="square">
            <a:spAutoFit/>
          </a:bodyPr>
          <a:lstStyle/>
          <a:p>
            <a:pPr algn="ctr"/>
            <a:r>
              <a:rPr sz="1700" b="0" i="0">
                <a:solidFill>
                  <a:srgbClr val="16325C"/>
                </a:solidFill>
              </a:rPr>
              <a:t>10</a:t>
            </a:r>
          </a:p>
        </p:txBody>
      </p:sp>
      <p:sp>
        <p:nvSpPr>
          <p:cNvPr id="49" name="TextBox 48"/>
          <p:cNvSpPr txBox="1"/>
          <p:nvPr/>
        </p:nvSpPr>
        <p:spPr>
          <a:xfrm>
            <a:off x="3659690" y="3930396"/>
            <a:ext cx="1573813" cy="237744"/>
          </a:xfrm>
          <a:prstGeom prst="rect">
            <a:avLst/>
          </a:prstGeom>
          <a:noFill/>
        </p:spPr>
        <p:txBody>
          <a:bodyPr wrap="square">
            <a:spAutoFit/>
          </a:bodyPr>
          <a:lstStyle/>
          <a:p>
            <a:pPr algn="ctr"/>
            <a:r>
              <a:rPr sz="900" b="1" i="0">
                <a:solidFill>
                  <a:srgbClr val="16325C"/>
                </a:solidFill>
              </a:rPr>
              <a:t>Extrusion</a:t>
            </a:r>
          </a:p>
        </p:txBody>
      </p:sp>
      <p:sp>
        <p:nvSpPr>
          <p:cNvPr id="50" name="TextBox 49"/>
          <p:cNvSpPr txBox="1"/>
          <p:nvPr/>
        </p:nvSpPr>
        <p:spPr>
          <a:xfrm>
            <a:off x="3659690" y="4204716"/>
            <a:ext cx="1573813" cy="530352"/>
          </a:xfrm>
          <a:prstGeom prst="rect">
            <a:avLst/>
          </a:prstGeom>
          <a:noFill/>
        </p:spPr>
        <p:txBody>
          <a:bodyPr wrap="square">
            <a:spAutoFit/>
          </a:bodyPr>
          <a:lstStyle/>
          <a:p>
            <a:pPr algn="ctr"/>
            <a:r>
              <a:rPr sz="800" b="0" i="0">
                <a:solidFill>
                  <a:srgbClr val="686F7D"/>
                </a:solidFill>
              </a:rPr>
              <a:t>Profile, pipe, tube</a:t>
            </a:r>
          </a:p>
        </p:txBody>
      </p:sp>
      <p:sp>
        <p:nvSpPr>
          <p:cNvPr id="51" name="Rectangle 50"/>
          <p:cNvSpPr/>
          <p:nvPr/>
        </p:nvSpPr>
        <p:spPr>
          <a:xfrm>
            <a:off x="5283795" y="3345180"/>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83795" y="3509772"/>
            <a:ext cx="1573813" cy="365760"/>
          </a:xfrm>
          <a:prstGeom prst="rect">
            <a:avLst/>
          </a:prstGeom>
          <a:noFill/>
        </p:spPr>
        <p:txBody>
          <a:bodyPr wrap="square">
            <a:spAutoFit/>
          </a:bodyPr>
          <a:lstStyle/>
          <a:p>
            <a:pPr algn="ctr"/>
            <a:r>
              <a:rPr sz="1700" b="0" i="0">
                <a:solidFill>
                  <a:srgbClr val="16325C"/>
                </a:solidFill>
              </a:rPr>
              <a:t>11</a:t>
            </a:r>
          </a:p>
        </p:txBody>
      </p:sp>
      <p:sp>
        <p:nvSpPr>
          <p:cNvPr id="53" name="TextBox 52"/>
          <p:cNvSpPr txBox="1"/>
          <p:nvPr/>
        </p:nvSpPr>
        <p:spPr>
          <a:xfrm>
            <a:off x="5283795" y="3930396"/>
            <a:ext cx="1573813" cy="237744"/>
          </a:xfrm>
          <a:prstGeom prst="rect">
            <a:avLst/>
          </a:prstGeom>
          <a:noFill/>
        </p:spPr>
        <p:txBody>
          <a:bodyPr wrap="square">
            <a:spAutoFit/>
          </a:bodyPr>
          <a:lstStyle/>
          <a:p>
            <a:pPr algn="ctr"/>
            <a:r>
              <a:rPr sz="900" b="1" i="0">
                <a:solidFill>
                  <a:srgbClr val="16325C"/>
                </a:solidFill>
              </a:rPr>
              <a:t>Thermoforming</a:t>
            </a:r>
          </a:p>
        </p:txBody>
      </p:sp>
      <p:sp>
        <p:nvSpPr>
          <p:cNvPr id="54" name="TextBox 53"/>
          <p:cNvSpPr txBox="1"/>
          <p:nvPr/>
        </p:nvSpPr>
        <p:spPr>
          <a:xfrm>
            <a:off x="5283795" y="4204716"/>
            <a:ext cx="1573813" cy="530352"/>
          </a:xfrm>
          <a:prstGeom prst="rect">
            <a:avLst/>
          </a:prstGeom>
          <a:noFill/>
        </p:spPr>
        <p:txBody>
          <a:bodyPr wrap="square">
            <a:spAutoFit/>
          </a:bodyPr>
          <a:lstStyle/>
          <a:p>
            <a:pPr algn="ctr"/>
            <a:r>
              <a:rPr sz="800" b="0" i="0">
                <a:solidFill>
                  <a:srgbClr val="686F7D"/>
                </a:solidFill>
              </a:rPr>
              <a:t>Vacuum, pressure, twin-sheet</a:t>
            </a:r>
          </a:p>
        </p:txBody>
      </p:sp>
      <p:sp>
        <p:nvSpPr>
          <p:cNvPr id="55" name="Rectangle 54"/>
          <p:cNvSpPr/>
          <p:nvPr/>
        </p:nvSpPr>
        <p:spPr>
          <a:xfrm>
            <a:off x="6907900" y="3345180"/>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907900" y="3509772"/>
            <a:ext cx="1573813" cy="365760"/>
          </a:xfrm>
          <a:prstGeom prst="rect">
            <a:avLst/>
          </a:prstGeom>
          <a:noFill/>
        </p:spPr>
        <p:txBody>
          <a:bodyPr wrap="square">
            <a:spAutoFit/>
          </a:bodyPr>
          <a:lstStyle/>
          <a:p>
            <a:pPr algn="ctr"/>
            <a:r>
              <a:rPr sz="1700" b="0" i="0">
                <a:solidFill>
                  <a:srgbClr val="16325C"/>
                </a:solidFill>
              </a:rPr>
              <a:t>12</a:t>
            </a:r>
          </a:p>
        </p:txBody>
      </p:sp>
      <p:sp>
        <p:nvSpPr>
          <p:cNvPr id="57" name="TextBox 56"/>
          <p:cNvSpPr txBox="1"/>
          <p:nvPr/>
        </p:nvSpPr>
        <p:spPr>
          <a:xfrm>
            <a:off x="6907900" y="3930396"/>
            <a:ext cx="1573813" cy="237744"/>
          </a:xfrm>
          <a:prstGeom prst="rect">
            <a:avLst/>
          </a:prstGeom>
          <a:noFill/>
        </p:spPr>
        <p:txBody>
          <a:bodyPr wrap="square">
            <a:spAutoFit/>
          </a:bodyPr>
          <a:lstStyle/>
          <a:p>
            <a:pPr algn="ctr"/>
            <a:r>
              <a:rPr sz="900" b="1" i="0">
                <a:solidFill>
                  <a:srgbClr val="16325C"/>
                </a:solidFill>
              </a:rPr>
              <a:t>Rotational Moulding</a:t>
            </a:r>
          </a:p>
        </p:txBody>
      </p:sp>
      <p:sp>
        <p:nvSpPr>
          <p:cNvPr id="58" name="TextBox 57"/>
          <p:cNvSpPr txBox="1"/>
          <p:nvPr/>
        </p:nvSpPr>
        <p:spPr>
          <a:xfrm>
            <a:off x="6907900" y="4204716"/>
            <a:ext cx="1573813" cy="530352"/>
          </a:xfrm>
          <a:prstGeom prst="rect">
            <a:avLst/>
          </a:prstGeom>
          <a:noFill/>
        </p:spPr>
        <p:txBody>
          <a:bodyPr wrap="square">
            <a:spAutoFit/>
          </a:bodyPr>
          <a:lstStyle/>
          <a:p>
            <a:pPr algn="ctr"/>
            <a:r>
              <a:rPr sz="800" b="0" i="0">
                <a:solidFill>
                  <a:srgbClr val="686F7D"/>
                </a:solidFill>
              </a:rPr>
              <a:t>Large hollow shapes</a:t>
            </a:r>
          </a:p>
        </p:txBody>
      </p:sp>
      <p:sp>
        <p:nvSpPr>
          <p:cNvPr id="59" name="Rectangle 58"/>
          <p:cNvSpPr/>
          <p:nvPr/>
        </p:nvSpPr>
        <p:spPr>
          <a:xfrm>
            <a:off x="8532005" y="3345180"/>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32005" y="3509772"/>
            <a:ext cx="1573813" cy="365760"/>
          </a:xfrm>
          <a:prstGeom prst="rect">
            <a:avLst/>
          </a:prstGeom>
          <a:noFill/>
        </p:spPr>
        <p:txBody>
          <a:bodyPr wrap="square">
            <a:spAutoFit/>
          </a:bodyPr>
          <a:lstStyle/>
          <a:p>
            <a:pPr algn="ctr"/>
            <a:r>
              <a:rPr sz="1700" b="0" i="0">
                <a:solidFill>
                  <a:srgbClr val="16325C"/>
                </a:solidFill>
              </a:rPr>
              <a:t>13</a:t>
            </a:r>
          </a:p>
        </p:txBody>
      </p:sp>
      <p:sp>
        <p:nvSpPr>
          <p:cNvPr id="61" name="TextBox 60"/>
          <p:cNvSpPr txBox="1"/>
          <p:nvPr/>
        </p:nvSpPr>
        <p:spPr>
          <a:xfrm>
            <a:off x="8532005" y="3930396"/>
            <a:ext cx="1573813" cy="237744"/>
          </a:xfrm>
          <a:prstGeom prst="rect">
            <a:avLst/>
          </a:prstGeom>
          <a:noFill/>
        </p:spPr>
        <p:txBody>
          <a:bodyPr wrap="square">
            <a:spAutoFit/>
          </a:bodyPr>
          <a:lstStyle/>
          <a:p>
            <a:pPr algn="ctr"/>
            <a:r>
              <a:rPr sz="900" b="1" i="0">
                <a:solidFill>
                  <a:srgbClr val="16325C"/>
                </a:solidFill>
              </a:rPr>
              <a:t>Rubber Moulding</a:t>
            </a:r>
          </a:p>
        </p:txBody>
      </p:sp>
      <p:sp>
        <p:nvSpPr>
          <p:cNvPr id="62" name="TextBox 61"/>
          <p:cNvSpPr txBox="1"/>
          <p:nvPr/>
        </p:nvSpPr>
        <p:spPr>
          <a:xfrm>
            <a:off x="8532005" y="4204716"/>
            <a:ext cx="1573813" cy="530352"/>
          </a:xfrm>
          <a:prstGeom prst="rect">
            <a:avLst/>
          </a:prstGeom>
          <a:noFill/>
        </p:spPr>
        <p:txBody>
          <a:bodyPr wrap="square">
            <a:spAutoFit/>
          </a:bodyPr>
          <a:lstStyle/>
          <a:p>
            <a:pPr algn="ctr"/>
            <a:r>
              <a:rPr sz="800" b="0" i="0">
                <a:solidFill>
                  <a:srgbClr val="686F7D"/>
                </a:solidFill>
              </a:rPr>
              <a:t>Compression, transfer, LSR</a:t>
            </a:r>
          </a:p>
        </p:txBody>
      </p:sp>
      <p:sp>
        <p:nvSpPr>
          <p:cNvPr id="63" name="Rectangle 62"/>
          <p:cNvSpPr/>
          <p:nvPr/>
        </p:nvSpPr>
        <p:spPr>
          <a:xfrm>
            <a:off x="10156110" y="3345180"/>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156110" y="3509772"/>
            <a:ext cx="1573813" cy="365760"/>
          </a:xfrm>
          <a:prstGeom prst="rect">
            <a:avLst/>
          </a:prstGeom>
          <a:noFill/>
        </p:spPr>
        <p:txBody>
          <a:bodyPr wrap="square">
            <a:spAutoFit/>
          </a:bodyPr>
          <a:lstStyle/>
          <a:p>
            <a:pPr algn="ctr"/>
            <a:r>
              <a:rPr sz="1700" b="0" i="0">
                <a:solidFill>
                  <a:srgbClr val="16325C"/>
                </a:solidFill>
              </a:rPr>
              <a:t>14</a:t>
            </a:r>
          </a:p>
        </p:txBody>
      </p:sp>
      <p:sp>
        <p:nvSpPr>
          <p:cNvPr id="65" name="TextBox 64"/>
          <p:cNvSpPr txBox="1"/>
          <p:nvPr/>
        </p:nvSpPr>
        <p:spPr>
          <a:xfrm>
            <a:off x="10156110" y="3930396"/>
            <a:ext cx="1573813" cy="237744"/>
          </a:xfrm>
          <a:prstGeom prst="rect">
            <a:avLst/>
          </a:prstGeom>
          <a:noFill/>
        </p:spPr>
        <p:txBody>
          <a:bodyPr wrap="square">
            <a:spAutoFit/>
          </a:bodyPr>
          <a:lstStyle/>
          <a:p>
            <a:pPr algn="ctr"/>
            <a:r>
              <a:rPr sz="900" b="1" i="0">
                <a:solidFill>
                  <a:srgbClr val="16325C"/>
                </a:solidFill>
              </a:rPr>
              <a:t>Composites</a:t>
            </a:r>
          </a:p>
        </p:txBody>
      </p:sp>
      <p:sp>
        <p:nvSpPr>
          <p:cNvPr id="66" name="TextBox 65"/>
          <p:cNvSpPr txBox="1"/>
          <p:nvPr/>
        </p:nvSpPr>
        <p:spPr>
          <a:xfrm>
            <a:off x="10156110" y="4204716"/>
            <a:ext cx="1573813" cy="530352"/>
          </a:xfrm>
          <a:prstGeom prst="rect">
            <a:avLst/>
          </a:prstGeom>
          <a:noFill/>
        </p:spPr>
        <p:txBody>
          <a:bodyPr wrap="square">
            <a:spAutoFit/>
          </a:bodyPr>
          <a:lstStyle/>
          <a:p>
            <a:pPr algn="ctr"/>
            <a:r>
              <a:rPr sz="800" b="0" i="0">
                <a:solidFill>
                  <a:srgbClr val="686F7D"/>
                </a:solidFill>
              </a:rPr>
              <a:t>Hand lay-up, RTM, autoclave</a:t>
            </a:r>
          </a:p>
        </p:txBody>
      </p:sp>
      <p:sp>
        <p:nvSpPr>
          <p:cNvPr id="67" name="Rectangle 66"/>
          <p:cNvSpPr/>
          <p:nvPr/>
        </p:nvSpPr>
        <p:spPr>
          <a:xfrm>
            <a:off x="411480" y="4879848"/>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11480" y="5044440"/>
            <a:ext cx="1573813" cy="365760"/>
          </a:xfrm>
          <a:prstGeom prst="rect">
            <a:avLst/>
          </a:prstGeom>
          <a:noFill/>
        </p:spPr>
        <p:txBody>
          <a:bodyPr wrap="square">
            <a:spAutoFit/>
          </a:bodyPr>
          <a:lstStyle/>
          <a:p>
            <a:pPr algn="ctr"/>
            <a:r>
              <a:rPr sz="1700" b="0" i="0">
                <a:solidFill>
                  <a:srgbClr val="16325C"/>
                </a:solidFill>
              </a:rPr>
              <a:t>15</a:t>
            </a:r>
          </a:p>
        </p:txBody>
      </p:sp>
      <p:sp>
        <p:nvSpPr>
          <p:cNvPr id="69" name="TextBox 68"/>
          <p:cNvSpPr txBox="1"/>
          <p:nvPr/>
        </p:nvSpPr>
        <p:spPr>
          <a:xfrm>
            <a:off x="411480" y="5465064"/>
            <a:ext cx="1573813" cy="237744"/>
          </a:xfrm>
          <a:prstGeom prst="rect">
            <a:avLst/>
          </a:prstGeom>
          <a:noFill/>
        </p:spPr>
        <p:txBody>
          <a:bodyPr wrap="square">
            <a:spAutoFit/>
          </a:bodyPr>
          <a:lstStyle/>
          <a:p>
            <a:pPr algn="ctr"/>
            <a:r>
              <a:rPr sz="900" b="1" i="0">
                <a:solidFill>
                  <a:srgbClr val="16325C"/>
                </a:solidFill>
              </a:rPr>
              <a:t>Painting / Coating</a:t>
            </a:r>
          </a:p>
        </p:txBody>
      </p:sp>
      <p:sp>
        <p:nvSpPr>
          <p:cNvPr id="70" name="TextBox 69"/>
          <p:cNvSpPr txBox="1"/>
          <p:nvPr/>
        </p:nvSpPr>
        <p:spPr>
          <a:xfrm>
            <a:off x="411480" y="5739384"/>
            <a:ext cx="1573813" cy="530352"/>
          </a:xfrm>
          <a:prstGeom prst="rect">
            <a:avLst/>
          </a:prstGeom>
          <a:noFill/>
        </p:spPr>
        <p:txBody>
          <a:bodyPr wrap="square">
            <a:spAutoFit/>
          </a:bodyPr>
          <a:lstStyle/>
          <a:p>
            <a:pPr algn="ctr"/>
            <a:r>
              <a:rPr sz="800" b="0" i="0">
                <a:solidFill>
                  <a:srgbClr val="686F7D"/>
                </a:solidFill>
              </a:rPr>
              <a:t>E-coat, powder, wet, anodise</a:t>
            </a:r>
          </a:p>
        </p:txBody>
      </p:sp>
      <p:sp>
        <p:nvSpPr>
          <p:cNvPr id="71" name="Rectangle 70"/>
          <p:cNvSpPr/>
          <p:nvPr/>
        </p:nvSpPr>
        <p:spPr>
          <a:xfrm>
            <a:off x="2035585" y="4879848"/>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035585" y="5044440"/>
            <a:ext cx="1573813" cy="365760"/>
          </a:xfrm>
          <a:prstGeom prst="rect">
            <a:avLst/>
          </a:prstGeom>
          <a:noFill/>
        </p:spPr>
        <p:txBody>
          <a:bodyPr wrap="square">
            <a:spAutoFit/>
          </a:bodyPr>
          <a:lstStyle/>
          <a:p>
            <a:pPr algn="ctr"/>
            <a:r>
              <a:rPr sz="1700" b="0" i="0">
                <a:solidFill>
                  <a:srgbClr val="16325C"/>
                </a:solidFill>
              </a:rPr>
              <a:t>16</a:t>
            </a:r>
          </a:p>
        </p:txBody>
      </p:sp>
      <p:sp>
        <p:nvSpPr>
          <p:cNvPr id="73" name="TextBox 72"/>
          <p:cNvSpPr txBox="1"/>
          <p:nvPr/>
        </p:nvSpPr>
        <p:spPr>
          <a:xfrm>
            <a:off x="2035585" y="5465064"/>
            <a:ext cx="1573813" cy="237744"/>
          </a:xfrm>
          <a:prstGeom prst="rect">
            <a:avLst/>
          </a:prstGeom>
          <a:noFill/>
        </p:spPr>
        <p:txBody>
          <a:bodyPr wrap="square">
            <a:spAutoFit/>
          </a:bodyPr>
          <a:lstStyle/>
          <a:p>
            <a:pPr algn="ctr"/>
            <a:r>
              <a:rPr sz="900" b="1" i="0">
                <a:solidFill>
                  <a:srgbClr val="16325C"/>
                </a:solidFill>
              </a:rPr>
              <a:t>BIW Assembly</a:t>
            </a:r>
          </a:p>
        </p:txBody>
      </p:sp>
      <p:sp>
        <p:nvSpPr>
          <p:cNvPr id="74" name="TextBox 73"/>
          <p:cNvSpPr txBox="1"/>
          <p:nvPr/>
        </p:nvSpPr>
        <p:spPr>
          <a:xfrm>
            <a:off x="2035585" y="5739384"/>
            <a:ext cx="1573813" cy="530352"/>
          </a:xfrm>
          <a:prstGeom prst="rect">
            <a:avLst/>
          </a:prstGeom>
          <a:noFill/>
        </p:spPr>
        <p:txBody>
          <a:bodyPr wrap="square">
            <a:spAutoFit/>
          </a:bodyPr>
          <a:lstStyle/>
          <a:p>
            <a:pPr algn="ctr"/>
            <a:r>
              <a:rPr sz="800" b="0" i="0">
                <a:solidFill>
                  <a:srgbClr val="686F7D"/>
                </a:solidFill>
              </a:rPr>
              <a:t>Spot weld, MIG, hem, bond</a:t>
            </a:r>
          </a:p>
        </p:txBody>
      </p:sp>
      <p:sp>
        <p:nvSpPr>
          <p:cNvPr id="75" name="Rectangle 74"/>
          <p:cNvSpPr/>
          <p:nvPr/>
        </p:nvSpPr>
        <p:spPr>
          <a:xfrm>
            <a:off x="3659690" y="4879848"/>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659690" y="5044440"/>
            <a:ext cx="1573813" cy="365760"/>
          </a:xfrm>
          <a:prstGeom prst="rect">
            <a:avLst/>
          </a:prstGeom>
          <a:noFill/>
        </p:spPr>
        <p:txBody>
          <a:bodyPr wrap="square">
            <a:spAutoFit/>
          </a:bodyPr>
          <a:lstStyle/>
          <a:p>
            <a:pPr algn="ctr"/>
            <a:r>
              <a:rPr sz="1700" b="0" i="0">
                <a:solidFill>
                  <a:srgbClr val="16325C"/>
                </a:solidFill>
              </a:rPr>
              <a:t>17</a:t>
            </a:r>
          </a:p>
        </p:txBody>
      </p:sp>
      <p:sp>
        <p:nvSpPr>
          <p:cNvPr id="77" name="TextBox 76"/>
          <p:cNvSpPr txBox="1"/>
          <p:nvPr/>
        </p:nvSpPr>
        <p:spPr>
          <a:xfrm>
            <a:off x="3659690" y="5465064"/>
            <a:ext cx="1573813" cy="237744"/>
          </a:xfrm>
          <a:prstGeom prst="rect">
            <a:avLst/>
          </a:prstGeom>
          <a:noFill/>
        </p:spPr>
        <p:txBody>
          <a:bodyPr wrap="square">
            <a:spAutoFit/>
          </a:bodyPr>
          <a:lstStyle/>
          <a:p>
            <a:pPr algn="ctr"/>
            <a:r>
              <a:rPr sz="900" b="1" i="0">
                <a:solidFill>
                  <a:srgbClr val="16325C"/>
                </a:solidFill>
              </a:rPr>
              <a:t>PCB Fabrication</a:t>
            </a:r>
          </a:p>
        </p:txBody>
      </p:sp>
      <p:sp>
        <p:nvSpPr>
          <p:cNvPr id="78" name="TextBox 77"/>
          <p:cNvSpPr txBox="1"/>
          <p:nvPr/>
        </p:nvSpPr>
        <p:spPr>
          <a:xfrm>
            <a:off x="3659690" y="5739384"/>
            <a:ext cx="1573813" cy="530352"/>
          </a:xfrm>
          <a:prstGeom prst="rect">
            <a:avLst/>
          </a:prstGeom>
          <a:noFill/>
        </p:spPr>
        <p:txBody>
          <a:bodyPr wrap="square">
            <a:spAutoFit/>
          </a:bodyPr>
          <a:lstStyle/>
          <a:p>
            <a:pPr algn="ctr"/>
            <a:r>
              <a:rPr sz="800" b="0" i="0">
                <a:solidFill>
                  <a:srgbClr val="686F7D"/>
                </a:solidFill>
              </a:rPr>
              <a:t>Bought-in price, fabricator tables</a:t>
            </a:r>
          </a:p>
        </p:txBody>
      </p:sp>
      <p:sp>
        <p:nvSpPr>
          <p:cNvPr id="79" name="Rectangle 78"/>
          <p:cNvSpPr/>
          <p:nvPr/>
        </p:nvSpPr>
        <p:spPr>
          <a:xfrm>
            <a:off x="5283795" y="4879848"/>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283795" y="5044440"/>
            <a:ext cx="1573813" cy="365760"/>
          </a:xfrm>
          <a:prstGeom prst="rect">
            <a:avLst/>
          </a:prstGeom>
          <a:noFill/>
        </p:spPr>
        <p:txBody>
          <a:bodyPr wrap="square">
            <a:spAutoFit/>
          </a:bodyPr>
          <a:lstStyle/>
          <a:p>
            <a:pPr algn="ctr"/>
            <a:r>
              <a:rPr sz="1700" b="0" i="0">
                <a:solidFill>
                  <a:srgbClr val="16325C"/>
                </a:solidFill>
              </a:rPr>
              <a:t>18</a:t>
            </a:r>
          </a:p>
        </p:txBody>
      </p:sp>
      <p:sp>
        <p:nvSpPr>
          <p:cNvPr id="81" name="TextBox 80"/>
          <p:cNvSpPr txBox="1"/>
          <p:nvPr/>
        </p:nvSpPr>
        <p:spPr>
          <a:xfrm>
            <a:off x="5283795" y="5465064"/>
            <a:ext cx="1573813" cy="237744"/>
          </a:xfrm>
          <a:prstGeom prst="rect">
            <a:avLst/>
          </a:prstGeom>
          <a:noFill/>
        </p:spPr>
        <p:txBody>
          <a:bodyPr wrap="square">
            <a:spAutoFit/>
          </a:bodyPr>
          <a:lstStyle/>
          <a:p>
            <a:pPr algn="ctr"/>
            <a:r>
              <a:rPr sz="900" b="1" i="0">
                <a:solidFill>
                  <a:srgbClr val="16325C"/>
                </a:solidFill>
              </a:rPr>
              <a:t>PCBA</a:t>
            </a:r>
          </a:p>
        </p:txBody>
      </p:sp>
      <p:sp>
        <p:nvSpPr>
          <p:cNvPr id="82" name="TextBox 81"/>
          <p:cNvSpPr txBox="1"/>
          <p:nvPr/>
        </p:nvSpPr>
        <p:spPr>
          <a:xfrm>
            <a:off x="5283795" y="5739384"/>
            <a:ext cx="1573813" cy="530352"/>
          </a:xfrm>
          <a:prstGeom prst="rect">
            <a:avLst/>
          </a:prstGeom>
          <a:noFill/>
        </p:spPr>
        <p:txBody>
          <a:bodyPr wrap="square">
            <a:spAutoFit/>
          </a:bodyPr>
          <a:lstStyle/>
          <a:p>
            <a:pPr algn="ctr"/>
            <a:r>
              <a:rPr sz="800" b="0" i="0">
                <a:solidFill>
                  <a:srgbClr val="686F7D"/>
                </a:solidFill>
              </a:rPr>
              <a:t>SMT, through-hole, reflow</a:t>
            </a:r>
          </a:p>
        </p:txBody>
      </p:sp>
      <p:sp>
        <p:nvSpPr>
          <p:cNvPr id="83" name="Rectangle 82"/>
          <p:cNvSpPr/>
          <p:nvPr/>
        </p:nvSpPr>
        <p:spPr>
          <a:xfrm>
            <a:off x="6907900" y="4879848"/>
            <a:ext cx="1573813" cy="1475232"/>
          </a:xfrm>
          <a:prstGeom prst="rect">
            <a:avLst/>
          </a:prstGeom>
          <a:solidFill>
            <a:srgbClr val="FFFFFF"/>
          </a:solidFill>
          <a:ln w="10160">
            <a:solidFill>
              <a:srgbClr val="1D6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907900" y="5044440"/>
            <a:ext cx="1573813" cy="365760"/>
          </a:xfrm>
          <a:prstGeom prst="rect">
            <a:avLst/>
          </a:prstGeom>
          <a:noFill/>
        </p:spPr>
        <p:txBody>
          <a:bodyPr wrap="square">
            <a:spAutoFit/>
          </a:bodyPr>
          <a:lstStyle/>
          <a:p>
            <a:pPr algn="ctr"/>
            <a:r>
              <a:rPr sz="1700" b="0" i="0">
                <a:solidFill>
                  <a:srgbClr val="16325C"/>
                </a:solidFill>
              </a:rPr>
              <a:t>19</a:t>
            </a:r>
          </a:p>
        </p:txBody>
      </p:sp>
      <p:sp>
        <p:nvSpPr>
          <p:cNvPr id="85" name="TextBox 84"/>
          <p:cNvSpPr txBox="1"/>
          <p:nvPr/>
        </p:nvSpPr>
        <p:spPr>
          <a:xfrm>
            <a:off x="6907900" y="5465064"/>
            <a:ext cx="1573813" cy="237744"/>
          </a:xfrm>
          <a:prstGeom prst="rect">
            <a:avLst/>
          </a:prstGeom>
          <a:noFill/>
        </p:spPr>
        <p:txBody>
          <a:bodyPr wrap="square">
            <a:spAutoFit/>
          </a:bodyPr>
          <a:lstStyle/>
          <a:p>
            <a:pPr algn="ctr"/>
            <a:r>
              <a:rPr sz="900" b="1" i="0">
                <a:solidFill>
                  <a:srgbClr val="16325C"/>
                </a:solidFill>
              </a:rPr>
              <a:t>Wiring Harness</a:t>
            </a:r>
          </a:p>
        </p:txBody>
      </p:sp>
      <p:sp>
        <p:nvSpPr>
          <p:cNvPr id="86" name="TextBox 85"/>
          <p:cNvSpPr txBox="1"/>
          <p:nvPr/>
        </p:nvSpPr>
        <p:spPr>
          <a:xfrm>
            <a:off x="6907900" y="5739384"/>
            <a:ext cx="1573813" cy="530352"/>
          </a:xfrm>
          <a:prstGeom prst="rect">
            <a:avLst/>
          </a:prstGeom>
          <a:noFill/>
        </p:spPr>
        <p:txBody>
          <a:bodyPr wrap="square">
            <a:spAutoFit/>
          </a:bodyPr>
          <a:lstStyle/>
          <a:p>
            <a:pPr algn="ctr"/>
            <a:r>
              <a:rPr sz="800" b="0" i="0">
                <a:solidFill>
                  <a:srgbClr val="686F7D"/>
                </a:solidFill>
              </a:rPr>
              <a:t>Cut, strip, crimp, test</a:t>
            </a:r>
          </a:p>
        </p:txBody>
      </p:sp>
      <p:sp>
        <p:nvSpPr>
          <p:cNvPr id="87" name="Rectangle 86"/>
          <p:cNvSpPr/>
          <p:nvPr/>
        </p:nvSpPr>
        <p:spPr>
          <a:xfrm>
            <a:off x="8532005" y="4879848"/>
            <a:ext cx="1573813" cy="1475232"/>
          </a:xfrm>
          <a:prstGeom prst="rect">
            <a:avLst/>
          </a:prstGeom>
          <a:solidFill>
            <a:srgbClr val="FFFFFF"/>
          </a:solidFill>
          <a:ln w="10160">
            <a:solidFill>
              <a:srgbClr val="2A7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532005" y="5044440"/>
            <a:ext cx="1573813" cy="365760"/>
          </a:xfrm>
          <a:prstGeom prst="rect">
            <a:avLst/>
          </a:prstGeom>
          <a:noFill/>
        </p:spPr>
        <p:txBody>
          <a:bodyPr wrap="square">
            <a:spAutoFit/>
          </a:bodyPr>
          <a:lstStyle/>
          <a:p>
            <a:pPr algn="ctr"/>
            <a:r>
              <a:rPr sz="1700" b="0" i="0">
                <a:solidFill>
                  <a:srgbClr val="16325C"/>
                </a:solidFill>
              </a:rPr>
              <a:t>20</a:t>
            </a:r>
          </a:p>
        </p:txBody>
      </p:sp>
      <p:sp>
        <p:nvSpPr>
          <p:cNvPr id="89" name="TextBox 88"/>
          <p:cNvSpPr txBox="1"/>
          <p:nvPr/>
        </p:nvSpPr>
        <p:spPr>
          <a:xfrm>
            <a:off x="8532005" y="5465064"/>
            <a:ext cx="1573813" cy="237744"/>
          </a:xfrm>
          <a:prstGeom prst="rect">
            <a:avLst/>
          </a:prstGeom>
          <a:noFill/>
        </p:spPr>
        <p:txBody>
          <a:bodyPr wrap="square">
            <a:spAutoFit/>
          </a:bodyPr>
          <a:lstStyle/>
          <a:p>
            <a:pPr algn="ctr"/>
            <a:r>
              <a:rPr sz="900" b="1" i="0">
                <a:solidFill>
                  <a:srgbClr val="16325C"/>
                </a:solidFill>
              </a:rPr>
              <a:t>Assembly Roll-Up</a:t>
            </a:r>
          </a:p>
        </p:txBody>
      </p:sp>
      <p:sp>
        <p:nvSpPr>
          <p:cNvPr id="90" name="TextBox 89"/>
          <p:cNvSpPr txBox="1"/>
          <p:nvPr/>
        </p:nvSpPr>
        <p:spPr>
          <a:xfrm>
            <a:off x="8532005" y="5739384"/>
            <a:ext cx="1573813" cy="530352"/>
          </a:xfrm>
          <a:prstGeom prst="rect">
            <a:avLst/>
          </a:prstGeom>
          <a:noFill/>
        </p:spPr>
        <p:txBody>
          <a:bodyPr wrap="square">
            <a:spAutoFit/>
          </a:bodyPr>
          <a:lstStyle/>
          <a:p>
            <a:pPr algn="ctr"/>
            <a:r>
              <a:rPr sz="800" b="0" i="0">
                <a:solidFill>
                  <a:srgbClr val="686F7D"/>
                </a:solidFill>
              </a:rPr>
              <a:t>Multi-part BOM, one total</a:t>
            </a:r>
          </a:p>
        </p:txBody>
      </p:sp>
      <p:sp>
        <p:nvSpPr>
          <p:cNvPr id="91" name="Rectangle 90"/>
          <p:cNvSpPr/>
          <p:nvPr/>
        </p:nvSpPr>
        <p:spPr>
          <a:xfrm>
            <a:off x="10156110" y="4879848"/>
            <a:ext cx="1573813" cy="1475232"/>
          </a:xfrm>
          <a:prstGeom prst="rect">
            <a:avLst/>
          </a:prstGeom>
          <a:solidFill>
            <a:srgbClr val="FFFFFF"/>
          </a:solidFill>
          <a:ln w="10160">
            <a:solidFill>
              <a:srgbClr val="2A7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0156110" y="5044440"/>
            <a:ext cx="1573813" cy="365760"/>
          </a:xfrm>
          <a:prstGeom prst="rect">
            <a:avLst/>
          </a:prstGeom>
          <a:noFill/>
        </p:spPr>
        <p:txBody>
          <a:bodyPr wrap="square">
            <a:spAutoFit/>
          </a:bodyPr>
          <a:lstStyle/>
          <a:p>
            <a:pPr algn="ctr"/>
            <a:r>
              <a:rPr sz="1700" b="0" i="0">
                <a:solidFill>
                  <a:srgbClr val="16325C"/>
                </a:solidFill>
              </a:rPr>
              <a:t>21</a:t>
            </a:r>
          </a:p>
        </p:txBody>
      </p:sp>
      <p:sp>
        <p:nvSpPr>
          <p:cNvPr id="93" name="TextBox 92"/>
          <p:cNvSpPr txBox="1"/>
          <p:nvPr/>
        </p:nvSpPr>
        <p:spPr>
          <a:xfrm>
            <a:off x="10156110" y="5465064"/>
            <a:ext cx="1573813" cy="237744"/>
          </a:xfrm>
          <a:prstGeom prst="rect">
            <a:avLst/>
          </a:prstGeom>
          <a:noFill/>
        </p:spPr>
        <p:txBody>
          <a:bodyPr wrap="square">
            <a:spAutoFit/>
          </a:bodyPr>
          <a:lstStyle/>
          <a:p>
            <a:pPr algn="ctr"/>
            <a:r>
              <a:rPr sz="900" b="1" i="0">
                <a:solidFill>
                  <a:srgbClr val="16325C"/>
                </a:solidFill>
              </a:rPr>
              <a:t>Automotive Software</a:t>
            </a:r>
          </a:p>
        </p:txBody>
      </p:sp>
      <p:sp>
        <p:nvSpPr>
          <p:cNvPr id="94" name="TextBox 93"/>
          <p:cNvSpPr txBox="1"/>
          <p:nvPr/>
        </p:nvSpPr>
        <p:spPr>
          <a:xfrm>
            <a:off x="10156110" y="5739384"/>
            <a:ext cx="1573813" cy="530352"/>
          </a:xfrm>
          <a:prstGeom prst="rect">
            <a:avLst/>
          </a:prstGeom>
          <a:noFill/>
        </p:spPr>
        <p:txBody>
          <a:bodyPr wrap="square">
            <a:spAutoFit/>
          </a:bodyPr>
          <a:lstStyle/>
          <a:p>
            <a:pPr algn="ctr"/>
            <a:r>
              <a:rPr sz="800" b="0" i="0">
                <a:solidFill>
                  <a:srgbClr val="686F7D"/>
                </a:solidFill>
              </a:rPr>
              <a:t>49-module cost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10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ENGINEERING DEPTH</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What Sits Behind Every Number</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Twelve layers, all of them arithmetic you can follow. Nothing is estimated by feel.</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10512"/>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810512"/>
            <a:ext cx="54864" cy="1453896"/>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 y="1901952"/>
            <a:ext cx="2590723" cy="310896"/>
          </a:xfrm>
          <a:prstGeom prst="rect">
            <a:avLst/>
          </a:prstGeom>
          <a:noFill/>
        </p:spPr>
        <p:txBody>
          <a:bodyPr wrap="square">
            <a:spAutoFit/>
          </a:bodyPr>
          <a:lstStyle/>
          <a:p>
            <a:pPr algn="l"/>
            <a:r>
              <a:rPr sz="1050" b="1" i="0">
                <a:solidFill>
                  <a:srgbClr val="16325C"/>
                </a:solidFill>
              </a:rPr>
              <a:t>Materials</a:t>
            </a:r>
          </a:p>
        </p:txBody>
      </p:sp>
      <p:sp>
        <p:nvSpPr>
          <p:cNvPr id="14" name="TextBox 13"/>
          <p:cNvSpPr txBox="1"/>
          <p:nvPr/>
        </p:nvSpPr>
        <p:spPr>
          <a:xfrm>
            <a:off x="539496" y="2194560"/>
            <a:ext cx="2590723" cy="960120"/>
          </a:xfrm>
          <a:prstGeom prst="rect">
            <a:avLst/>
          </a:prstGeom>
          <a:noFill/>
        </p:spPr>
        <p:txBody>
          <a:bodyPr wrap="square">
            <a:spAutoFit/>
          </a:bodyPr>
          <a:lstStyle/>
          <a:p>
            <a:pPr algn="l"/>
            <a:r>
              <a:rPr sz="950" b="0" i="0">
                <a:solidFill>
                  <a:srgbClr val="3A4356"/>
                </a:solidFill>
              </a:rPr>
              <a:t>328 materials in the rate library dated 16 June 2026: metals, plastics, rubber, composites, laminates.</a:t>
            </a:r>
          </a:p>
        </p:txBody>
      </p:sp>
      <p:sp>
        <p:nvSpPr>
          <p:cNvPr id="15" name="Rectangle 14"/>
          <p:cNvSpPr/>
          <p:nvPr/>
        </p:nvSpPr>
        <p:spPr>
          <a:xfrm>
            <a:off x="3276523" y="1810512"/>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76523" y="1810512"/>
            <a:ext cx="54864" cy="145389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04539" y="1901952"/>
            <a:ext cx="2590723" cy="310896"/>
          </a:xfrm>
          <a:prstGeom prst="rect">
            <a:avLst/>
          </a:prstGeom>
          <a:noFill/>
        </p:spPr>
        <p:txBody>
          <a:bodyPr wrap="square">
            <a:spAutoFit/>
          </a:bodyPr>
          <a:lstStyle/>
          <a:p>
            <a:pPr algn="l"/>
            <a:r>
              <a:rPr sz="1050" b="1" i="0">
                <a:solidFill>
                  <a:srgbClr val="16325C"/>
                </a:solidFill>
              </a:rPr>
              <a:t>Machines &amp; Labour</a:t>
            </a:r>
          </a:p>
        </p:txBody>
      </p:sp>
      <p:sp>
        <p:nvSpPr>
          <p:cNvPr id="18" name="TextBox 17"/>
          <p:cNvSpPr txBox="1"/>
          <p:nvPr/>
        </p:nvSpPr>
        <p:spPr>
          <a:xfrm>
            <a:off x="3404539" y="2194560"/>
            <a:ext cx="2590723" cy="960120"/>
          </a:xfrm>
          <a:prstGeom prst="rect">
            <a:avLst/>
          </a:prstGeom>
          <a:noFill/>
        </p:spPr>
        <p:txBody>
          <a:bodyPr wrap="square">
            <a:spAutoFit/>
          </a:bodyPr>
          <a:lstStyle/>
          <a:p>
            <a:pPr algn="l"/>
            <a:r>
              <a:rPr sz="950" b="0" i="0">
                <a:solidFill>
                  <a:srgbClr val="3A4356"/>
                </a:solidFill>
              </a:rPr>
              <a:t>178 machines and 42 labour grades, each rate editable per project and per region.</a:t>
            </a:r>
          </a:p>
        </p:txBody>
      </p:sp>
      <p:sp>
        <p:nvSpPr>
          <p:cNvPr id="19" name="Rectangle 18"/>
          <p:cNvSpPr/>
          <p:nvPr/>
        </p:nvSpPr>
        <p:spPr>
          <a:xfrm>
            <a:off x="6141567" y="1810512"/>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1567" y="1810512"/>
            <a:ext cx="54864" cy="1453896"/>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9583" y="1901952"/>
            <a:ext cx="2590723" cy="310896"/>
          </a:xfrm>
          <a:prstGeom prst="rect">
            <a:avLst/>
          </a:prstGeom>
          <a:noFill/>
        </p:spPr>
        <p:txBody>
          <a:bodyPr wrap="square">
            <a:spAutoFit/>
          </a:bodyPr>
          <a:lstStyle/>
          <a:p>
            <a:pPr algn="l"/>
            <a:r>
              <a:rPr sz="1050" b="1" i="0">
                <a:solidFill>
                  <a:srgbClr val="16325C"/>
                </a:solidFill>
              </a:rPr>
              <a:t>Process Routing</a:t>
            </a:r>
          </a:p>
        </p:txBody>
      </p:sp>
      <p:sp>
        <p:nvSpPr>
          <p:cNvPr id="22" name="TextBox 21"/>
          <p:cNvSpPr txBox="1"/>
          <p:nvPr/>
        </p:nvSpPr>
        <p:spPr>
          <a:xfrm>
            <a:off x="6269583" y="2194560"/>
            <a:ext cx="2590723" cy="960120"/>
          </a:xfrm>
          <a:prstGeom prst="rect">
            <a:avLst/>
          </a:prstGeom>
          <a:noFill/>
        </p:spPr>
        <p:txBody>
          <a:bodyPr wrap="square">
            <a:spAutoFit/>
          </a:bodyPr>
          <a:lstStyle/>
          <a:p>
            <a:pPr algn="l"/>
            <a:r>
              <a:rPr sz="950" b="0" i="0">
                <a:solidFill>
                  <a:srgbClr val="3A4356"/>
                </a:solidFill>
              </a:rPr>
              <a:t>The order of operations, and for each one: which machine, how long, who runs it.</a:t>
            </a:r>
          </a:p>
        </p:txBody>
      </p:sp>
      <p:sp>
        <p:nvSpPr>
          <p:cNvPr id="23" name="Rectangle 22"/>
          <p:cNvSpPr/>
          <p:nvPr/>
        </p:nvSpPr>
        <p:spPr>
          <a:xfrm>
            <a:off x="9006611" y="1810512"/>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06611" y="1810512"/>
            <a:ext cx="54864" cy="1453896"/>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34627" y="1901952"/>
            <a:ext cx="2590723" cy="310896"/>
          </a:xfrm>
          <a:prstGeom prst="rect">
            <a:avLst/>
          </a:prstGeom>
          <a:noFill/>
        </p:spPr>
        <p:txBody>
          <a:bodyPr wrap="square">
            <a:spAutoFit/>
          </a:bodyPr>
          <a:lstStyle/>
          <a:p>
            <a:pPr algn="l"/>
            <a:r>
              <a:rPr sz="1050" b="1" i="0">
                <a:solidFill>
                  <a:srgbClr val="16325C"/>
                </a:solidFill>
              </a:rPr>
              <a:t>Tooling &amp; NRE</a:t>
            </a:r>
          </a:p>
        </p:txBody>
      </p:sp>
      <p:sp>
        <p:nvSpPr>
          <p:cNvPr id="26" name="TextBox 25"/>
          <p:cNvSpPr txBox="1"/>
          <p:nvPr/>
        </p:nvSpPr>
        <p:spPr>
          <a:xfrm>
            <a:off x="9134627" y="2194560"/>
            <a:ext cx="2590723" cy="960120"/>
          </a:xfrm>
          <a:prstGeom prst="rect">
            <a:avLst/>
          </a:prstGeom>
          <a:noFill/>
        </p:spPr>
        <p:txBody>
          <a:bodyPr wrap="square">
            <a:spAutoFit/>
          </a:bodyPr>
          <a:lstStyle/>
          <a:p>
            <a:pPr algn="l"/>
            <a:r>
              <a:rPr sz="950" b="0" i="0">
                <a:solidFill>
                  <a:srgbClr val="3A4356"/>
                </a:solidFill>
              </a:rPr>
              <a:t>Dies, moulds and fixtures spread over annual volume × programme life.</a:t>
            </a:r>
          </a:p>
        </p:txBody>
      </p:sp>
      <p:sp>
        <p:nvSpPr>
          <p:cNvPr id="27" name="Rectangle 26"/>
          <p:cNvSpPr/>
          <p:nvPr/>
        </p:nvSpPr>
        <p:spPr>
          <a:xfrm>
            <a:off x="411480" y="3355848"/>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3355848"/>
            <a:ext cx="54864" cy="145389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9496" y="3447288"/>
            <a:ext cx="2590723" cy="310896"/>
          </a:xfrm>
          <a:prstGeom prst="rect">
            <a:avLst/>
          </a:prstGeom>
          <a:noFill/>
        </p:spPr>
        <p:txBody>
          <a:bodyPr wrap="square">
            <a:spAutoFit/>
          </a:bodyPr>
          <a:lstStyle/>
          <a:p>
            <a:pPr algn="l"/>
            <a:r>
              <a:rPr sz="1050" b="1" i="0">
                <a:solidFill>
                  <a:srgbClr val="16325C"/>
                </a:solidFill>
              </a:rPr>
              <a:t>Yield &amp; Scrap</a:t>
            </a:r>
          </a:p>
        </p:txBody>
      </p:sp>
      <p:sp>
        <p:nvSpPr>
          <p:cNvPr id="30" name="TextBox 29"/>
          <p:cNvSpPr txBox="1"/>
          <p:nvPr/>
        </p:nvSpPr>
        <p:spPr>
          <a:xfrm>
            <a:off x="539496" y="3739896"/>
            <a:ext cx="2590723" cy="960120"/>
          </a:xfrm>
          <a:prstGeom prst="rect">
            <a:avLst/>
          </a:prstGeom>
          <a:noFill/>
        </p:spPr>
        <p:txBody>
          <a:bodyPr wrap="square">
            <a:spAutoFit/>
          </a:bodyPr>
          <a:lstStyle/>
          <a:p>
            <a:pPr algn="l"/>
            <a:r>
              <a:rPr sz="950" b="0" i="0">
                <a:solidFill>
                  <a:srgbClr val="3A4356"/>
                </a:solidFill>
              </a:rPr>
              <a:t>What actually comes out good first time, driven by the features that make a part hard to build.</a:t>
            </a:r>
          </a:p>
        </p:txBody>
      </p:sp>
      <p:sp>
        <p:nvSpPr>
          <p:cNvPr id="31" name="Rectangle 30"/>
          <p:cNvSpPr/>
          <p:nvPr/>
        </p:nvSpPr>
        <p:spPr>
          <a:xfrm>
            <a:off x="3276523" y="3355848"/>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76523" y="3355848"/>
            <a:ext cx="54864" cy="1453896"/>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04539" y="3447288"/>
            <a:ext cx="2590723" cy="310896"/>
          </a:xfrm>
          <a:prstGeom prst="rect">
            <a:avLst/>
          </a:prstGeom>
          <a:noFill/>
        </p:spPr>
        <p:txBody>
          <a:bodyPr wrap="square">
            <a:spAutoFit/>
          </a:bodyPr>
          <a:lstStyle/>
          <a:p>
            <a:pPr algn="l"/>
            <a:r>
              <a:rPr sz="1050" b="1" i="0">
                <a:solidFill>
                  <a:srgbClr val="16325C"/>
                </a:solidFill>
              </a:rPr>
              <a:t>Regional Rates</a:t>
            </a:r>
          </a:p>
        </p:txBody>
      </p:sp>
      <p:sp>
        <p:nvSpPr>
          <p:cNvPr id="34" name="TextBox 33"/>
          <p:cNvSpPr txBox="1"/>
          <p:nvPr/>
        </p:nvSpPr>
        <p:spPr>
          <a:xfrm>
            <a:off x="3404539" y="3739896"/>
            <a:ext cx="2590723" cy="960120"/>
          </a:xfrm>
          <a:prstGeom prst="rect">
            <a:avLst/>
          </a:prstGeom>
          <a:noFill/>
        </p:spPr>
        <p:txBody>
          <a:bodyPr wrap="square">
            <a:spAutoFit/>
          </a:bodyPr>
          <a:lstStyle/>
          <a:p>
            <a:pPr algn="l"/>
            <a:r>
              <a:rPr sz="950" b="0" i="0">
                <a:solidFill>
                  <a:srgbClr val="3A4356"/>
                </a:solidFill>
              </a:rPr>
              <a:t>20 regions, each with its own labour, energy and machine rates.</a:t>
            </a:r>
          </a:p>
        </p:txBody>
      </p:sp>
      <p:sp>
        <p:nvSpPr>
          <p:cNvPr id="35" name="Rectangle 34"/>
          <p:cNvSpPr/>
          <p:nvPr/>
        </p:nvSpPr>
        <p:spPr>
          <a:xfrm>
            <a:off x="6141567" y="3355848"/>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41567" y="3355848"/>
            <a:ext cx="54864" cy="1453896"/>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9583" y="3447288"/>
            <a:ext cx="2590723" cy="310896"/>
          </a:xfrm>
          <a:prstGeom prst="rect">
            <a:avLst/>
          </a:prstGeom>
          <a:noFill/>
        </p:spPr>
        <p:txBody>
          <a:bodyPr wrap="square">
            <a:spAutoFit/>
          </a:bodyPr>
          <a:lstStyle/>
          <a:p>
            <a:pPr algn="l"/>
            <a:r>
              <a:rPr sz="1050" b="1" i="0">
                <a:solidFill>
                  <a:srgbClr val="16325C"/>
                </a:solidFill>
              </a:rPr>
              <a:t>Benchmarks &amp; Sensitivity</a:t>
            </a:r>
          </a:p>
        </p:txBody>
      </p:sp>
      <p:sp>
        <p:nvSpPr>
          <p:cNvPr id="38" name="TextBox 37"/>
          <p:cNvSpPr txBox="1"/>
          <p:nvPr/>
        </p:nvSpPr>
        <p:spPr>
          <a:xfrm>
            <a:off x="6269583" y="3739896"/>
            <a:ext cx="2590723" cy="960120"/>
          </a:xfrm>
          <a:prstGeom prst="rect">
            <a:avLst/>
          </a:prstGeom>
          <a:noFill/>
        </p:spPr>
        <p:txBody>
          <a:bodyPr wrap="square">
            <a:spAutoFit/>
          </a:bodyPr>
          <a:lstStyle/>
          <a:p>
            <a:pPr algn="l"/>
            <a:r>
              <a:rPr sz="950" b="0" i="0">
                <a:solidFill>
                  <a:srgbClr val="3A4356"/>
                </a:solidFill>
              </a:rPr>
              <a:t>Checked against typical cost ranges, and ranked by which inputs move the number most.</a:t>
            </a:r>
          </a:p>
        </p:txBody>
      </p:sp>
      <p:sp>
        <p:nvSpPr>
          <p:cNvPr id="39" name="Rectangle 38"/>
          <p:cNvSpPr/>
          <p:nvPr/>
        </p:nvSpPr>
        <p:spPr>
          <a:xfrm>
            <a:off x="9006611" y="3355848"/>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06611" y="3355848"/>
            <a:ext cx="54864" cy="1453896"/>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627" y="3447288"/>
            <a:ext cx="2590723" cy="310896"/>
          </a:xfrm>
          <a:prstGeom prst="rect">
            <a:avLst/>
          </a:prstGeom>
          <a:noFill/>
        </p:spPr>
        <p:txBody>
          <a:bodyPr wrap="square">
            <a:spAutoFit/>
          </a:bodyPr>
          <a:lstStyle/>
          <a:p>
            <a:pPr algn="l"/>
            <a:r>
              <a:rPr sz="1050" b="1" i="0">
                <a:solidFill>
                  <a:srgbClr val="16325C"/>
                </a:solidFill>
              </a:rPr>
              <a:t>Learning Curve</a:t>
            </a:r>
          </a:p>
        </p:txBody>
      </p:sp>
      <p:sp>
        <p:nvSpPr>
          <p:cNvPr id="42" name="TextBox 41"/>
          <p:cNvSpPr txBox="1"/>
          <p:nvPr/>
        </p:nvSpPr>
        <p:spPr>
          <a:xfrm>
            <a:off x="9134627" y="3739896"/>
            <a:ext cx="2590723" cy="960120"/>
          </a:xfrm>
          <a:prstGeom prst="rect">
            <a:avLst/>
          </a:prstGeom>
          <a:noFill/>
        </p:spPr>
        <p:txBody>
          <a:bodyPr wrap="square">
            <a:spAutoFit/>
          </a:bodyPr>
          <a:lstStyle/>
          <a:p>
            <a:pPr algn="l"/>
            <a:r>
              <a:rPr sz="950" b="0" i="0">
                <a:solidFill>
                  <a:srgbClr val="3A4356"/>
                </a:solidFill>
              </a:rPr>
              <a:t>What the part costs as volume builds — the figure you need for a long-term agreement.</a:t>
            </a:r>
          </a:p>
        </p:txBody>
      </p:sp>
      <p:sp>
        <p:nvSpPr>
          <p:cNvPr id="43" name="Rectangle 42"/>
          <p:cNvSpPr/>
          <p:nvPr/>
        </p:nvSpPr>
        <p:spPr>
          <a:xfrm>
            <a:off x="411480" y="4901184"/>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4901184"/>
            <a:ext cx="54864" cy="145389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9496" y="4992624"/>
            <a:ext cx="2590723" cy="310896"/>
          </a:xfrm>
          <a:prstGeom prst="rect">
            <a:avLst/>
          </a:prstGeom>
          <a:noFill/>
        </p:spPr>
        <p:txBody>
          <a:bodyPr wrap="square">
            <a:spAutoFit/>
          </a:bodyPr>
          <a:lstStyle/>
          <a:p>
            <a:pPr algn="l"/>
            <a:r>
              <a:rPr sz="1050" b="1" i="0">
                <a:solidFill>
                  <a:srgbClr val="16325C"/>
                </a:solidFill>
              </a:rPr>
              <a:t>Quote Comparison</a:t>
            </a:r>
          </a:p>
        </p:txBody>
      </p:sp>
      <p:sp>
        <p:nvSpPr>
          <p:cNvPr id="46" name="TextBox 45"/>
          <p:cNvSpPr txBox="1"/>
          <p:nvPr/>
        </p:nvSpPr>
        <p:spPr>
          <a:xfrm>
            <a:off x="539496" y="5285232"/>
            <a:ext cx="2590723" cy="960120"/>
          </a:xfrm>
          <a:prstGeom prst="rect">
            <a:avLst/>
          </a:prstGeom>
          <a:noFill/>
        </p:spPr>
        <p:txBody>
          <a:bodyPr wrap="square">
            <a:spAutoFit/>
          </a:bodyPr>
          <a:lstStyle/>
          <a:p>
            <a:pPr algn="l"/>
            <a:r>
              <a:rPr sz="950" b="0" i="0">
                <a:solidFill>
                  <a:srgbClr val="3A4356"/>
                </a:solidFill>
              </a:rPr>
              <a:t>Put the supplier's quote next to ours, bucket by bucket, in their currency or yours.</a:t>
            </a:r>
          </a:p>
        </p:txBody>
      </p:sp>
      <p:sp>
        <p:nvSpPr>
          <p:cNvPr id="47" name="Rectangle 46"/>
          <p:cNvSpPr/>
          <p:nvPr/>
        </p:nvSpPr>
        <p:spPr>
          <a:xfrm>
            <a:off x="3276523" y="4901184"/>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76523" y="4901184"/>
            <a:ext cx="54864" cy="1453896"/>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04539" y="4992624"/>
            <a:ext cx="2590723" cy="310896"/>
          </a:xfrm>
          <a:prstGeom prst="rect">
            <a:avLst/>
          </a:prstGeom>
          <a:noFill/>
        </p:spPr>
        <p:txBody>
          <a:bodyPr wrap="square">
            <a:spAutoFit/>
          </a:bodyPr>
          <a:lstStyle/>
          <a:p>
            <a:pPr algn="l"/>
            <a:r>
              <a:rPr sz="1050" b="1" i="0">
                <a:solidFill>
                  <a:srgbClr val="16325C"/>
                </a:solidFill>
              </a:rPr>
              <a:t>Uncertainty Band</a:t>
            </a:r>
          </a:p>
        </p:txBody>
      </p:sp>
      <p:sp>
        <p:nvSpPr>
          <p:cNvPr id="50" name="TextBox 49"/>
          <p:cNvSpPr txBox="1"/>
          <p:nvPr/>
        </p:nvSpPr>
        <p:spPr>
          <a:xfrm>
            <a:off x="3404539" y="5285232"/>
            <a:ext cx="2590723" cy="960120"/>
          </a:xfrm>
          <a:prstGeom prst="rect">
            <a:avLst/>
          </a:prstGeom>
          <a:noFill/>
        </p:spPr>
        <p:txBody>
          <a:bodyPr wrap="square">
            <a:spAutoFit/>
          </a:bodyPr>
          <a:lstStyle/>
          <a:p>
            <a:pPr algn="l"/>
            <a:r>
              <a:rPr sz="950" b="0" i="0">
                <a:solidFill>
                  <a:srgbClr val="3A4356"/>
                </a:solidFill>
              </a:rPr>
              <a:t>A P10–P90 range on every result, from a Monte Carlo run over every cost driver.</a:t>
            </a:r>
          </a:p>
        </p:txBody>
      </p:sp>
      <p:sp>
        <p:nvSpPr>
          <p:cNvPr id="51" name="Rectangle 50"/>
          <p:cNvSpPr/>
          <p:nvPr/>
        </p:nvSpPr>
        <p:spPr>
          <a:xfrm>
            <a:off x="6141567" y="4901184"/>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141567" y="4901184"/>
            <a:ext cx="54864" cy="1453896"/>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69583" y="4992624"/>
            <a:ext cx="2590723" cy="310896"/>
          </a:xfrm>
          <a:prstGeom prst="rect">
            <a:avLst/>
          </a:prstGeom>
          <a:noFill/>
        </p:spPr>
        <p:txBody>
          <a:bodyPr wrap="square">
            <a:spAutoFit/>
          </a:bodyPr>
          <a:lstStyle/>
          <a:p>
            <a:pPr algn="l"/>
            <a:r>
              <a:rPr sz="1050" b="1" i="0">
                <a:solidFill>
                  <a:srgbClr val="16325C"/>
                </a:solidFill>
              </a:rPr>
              <a:t>Gear Cutting</a:t>
            </a:r>
          </a:p>
        </p:txBody>
      </p:sp>
      <p:sp>
        <p:nvSpPr>
          <p:cNvPr id="54" name="TextBox 53"/>
          <p:cNvSpPr txBox="1"/>
          <p:nvPr/>
        </p:nvSpPr>
        <p:spPr>
          <a:xfrm>
            <a:off x="6269583" y="5285232"/>
            <a:ext cx="2590723" cy="960120"/>
          </a:xfrm>
          <a:prstGeom prst="rect">
            <a:avLst/>
          </a:prstGeom>
          <a:noFill/>
        </p:spPr>
        <p:txBody>
          <a:bodyPr wrap="square">
            <a:spAutoFit/>
          </a:bodyPr>
          <a:lstStyle/>
          <a:p>
            <a:pPr algn="l"/>
            <a:r>
              <a:rPr sz="950" b="0" i="0">
                <a:solidFill>
                  <a:srgbClr val="3A4356"/>
                </a:solidFill>
              </a:rPr>
              <a:t>Hobbing, shaping, skiving and grinding times worked out from the gear itself.</a:t>
            </a:r>
          </a:p>
        </p:txBody>
      </p:sp>
      <p:sp>
        <p:nvSpPr>
          <p:cNvPr id="55" name="Rectangle 54"/>
          <p:cNvSpPr/>
          <p:nvPr/>
        </p:nvSpPr>
        <p:spPr>
          <a:xfrm>
            <a:off x="9006611" y="4901184"/>
            <a:ext cx="2773603" cy="145389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006611" y="4901184"/>
            <a:ext cx="54864" cy="1453896"/>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34627" y="4992624"/>
            <a:ext cx="2590723" cy="310896"/>
          </a:xfrm>
          <a:prstGeom prst="rect">
            <a:avLst/>
          </a:prstGeom>
          <a:noFill/>
        </p:spPr>
        <p:txBody>
          <a:bodyPr wrap="square">
            <a:spAutoFit/>
          </a:bodyPr>
          <a:lstStyle/>
          <a:p>
            <a:pPr algn="l"/>
            <a:r>
              <a:rPr sz="1050" b="1" i="0">
                <a:solidFill>
                  <a:srgbClr val="16325C"/>
                </a:solidFill>
              </a:rPr>
              <a:t>Landed Cost</a:t>
            </a:r>
          </a:p>
        </p:txBody>
      </p:sp>
      <p:sp>
        <p:nvSpPr>
          <p:cNvPr id="58" name="TextBox 57"/>
          <p:cNvSpPr txBox="1"/>
          <p:nvPr/>
        </p:nvSpPr>
        <p:spPr>
          <a:xfrm>
            <a:off x="9134627" y="5285232"/>
            <a:ext cx="2590723" cy="960120"/>
          </a:xfrm>
          <a:prstGeom prst="rect">
            <a:avLst/>
          </a:prstGeom>
          <a:noFill/>
        </p:spPr>
        <p:txBody>
          <a:bodyPr wrap="square">
            <a:spAutoFit/>
          </a:bodyPr>
          <a:lstStyle/>
          <a:p>
            <a:pPr algn="l"/>
            <a:r>
              <a:rPr sz="950" b="0" i="0">
                <a:solidFill>
                  <a:srgbClr val="3A4356"/>
                </a:solidFill>
              </a:rPr>
              <a:t>Duty, carbon levy and shipping terms — the cost at our door, not at the supplier's gate.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11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ADVANCED CAPABILITIES</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Beyond a Cost Number</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Five tools that turn the estimate into something you can negotiate with.</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28800"/>
            <a:ext cx="5486400" cy="21031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828800"/>
            <a:ext cx="54864" cy="2103120"/>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 y="1920240"/>
            <a:ext cx="5303520" cy="274320"/>
          </a:xfrm>
          <a:prstGeom prst="rect">
            <a:avLst/>
          </a:prstGeom>
          <a:noFill/>
        </p:spPr>
        <p:txBody>
          <a:bodyPr wrap="square">
            <a:spAutoFit/>
          </a:bodyPr>
          <a:lstStyle/>
          <a:p>
            <a:pPr algn="l"/>
            <a:r>
              <a:rPr sz="1050" b="1" i="0">
                <a:solidFill>
                  <a:srgbClr val="16325C"/>
                </a:solidFill>
              </a:rPr>
              <a:t>Learning Curve</a:t>
            </a:r>
          </a:p>
        </p:txBody>
      </p:sp>
      <p:sp>
        <p:nvSpPr>
          <p:cNvPr id="14" name="TextBox 13"/>
          <p:cNvSpPr txBox="1"/>
          <p:nvPr/>
        </p:nvSpPr>
        <p:spPr>
          <a:xfrm>
            <a:off x="539496" y="2212848"/>
            <a:ext cx="5303520" cy="1645920"/>
          </a:xfrm>
          <a:prstGeom prst="rect">
            <a:avLst/>
          </a:prstGeom>
          <a:noFill/>
        </p:spPr>
        <p:txBody>
          <a:bodyPr wrap="square">
            <a:spAutoFit/>
          </a:bodyPr>
          <a:lstStyle/>
          <a:p>
            <a:pPr algn="l"/>
            <a:r>
              <a:rPr sz="950" b="0" i="0">
                <a:solidFill>
                  <a:srgbClr val="3A4356"/>
                </a:solidFill>
              </a:rPr>
              <a:t>Cost falls as volume builds. Set the curve, read the cost at any year.
• Talk about year-three cost, not first-batch cost
• Built for long-term agreements and make-vs-buy</a:t>
            </a:r>
          </a:p>
        </p:txBody>
      </p:sp>
      <p:sp>
        <p:nvSpPr>
          <p:cNvPr id="15" name="Rectangle 14"/>
          <p:cNvSpPr/>
          <p:nvPr/>
        </p:nvSpPr>
        <p:spPr>
          <a:xfrm>
            <a:off x="411480" y="4041648"/>
            <a:ext cx="5486400" cy="21031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4041648"/>
            <a:ext cx="54864" cy="210312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4133088"/>
            <a:ext cx="5303520" cy="274320"/>
          </a:xfrm>
          <a:prstGeom prst="rect">
            <a:avLst/>
          </a:prstGeom>
          <a:noFill/>
        </p:spPr>
        <p:txBody>
          <a:bodyPr wrap="square">
            <a:spAutoFit/>
          </a:bodyPr>
          <a:lstStyle/>
          <a:p>
            <a:pPr algn="l"/>
            <a:r>
              <a:rPr sz="1050" b="1" i="0">
                <a:solidFill>
                  <a:srgbClr val="16325C"/>
                </a:solidFill>
              </a:rPr>
              <a:t>Assembly Roll-Up</a:t>
            </a:r>
          </a:p>
        </p:txBody>
      </p:sp>
      <p:sp>
        <p:nvSpPr>
          <p:cNvPr id="18" name="TextBox 17"/>
          <p:cNvSpPr txBox="1"/>
          <p:nvPr/>
        </p:nvSpPr>
        <p:spPr>
          <a:xfrm>
            <a:off x="539496" y="4425696"/>
            <a:ext cx="5303520" cy="1645920"/>
          </a:xfrm>
          <a:prstGeom prst="rect">
            <a:avLst/>
          </a:prstGeom>
          <a:noFill/>
        </p:spPr>
        <p:txBody>
          <a:bodyPr wrap="square">
            <a:spAutoFit/>
          </a:bodyPr>
          <a:lstStyle/>
          <a:p>
            <a:pPr algn="l"/>
            <a:r>
              <a:rPr sz="950" b="0" i="0">
                <a:solidFill>
                  <a:srgbClr val="3A4356"/>
                </a:solidFill>
              </a:rPr>
              <a:t>Cost a whole module, not just one part.
• Mix any of the 19 processes in one build
• Every component keeps its own cost model
• Body + paint + harness + PCBA = one total</a:t>
            </a:r>
          </a:p>
        </p:txBody>
      </p:sp>
      <p:sp>
        <p:nvSpPr>
          <p:cNvPr id="19" name="Rectangle 18"/>
          <p:cNvSpPr/>
          <p:nvPr/>
        </p:nvSpPr>
        <p:spPr>
          <a:xfrm>
            <a:off x="6263640" y="1828800"/>
            <a:ext cx="5486400" cy="138988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828800"/>
            <a:ext cx="54864" cy="1389888"/>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1901952"/>
            <a:ext cx="5303520" cy="256032"/>
          </a:xfrm>
          <a:prstGeom prst="rect">
            <a:avLst/>
          </a:prstGeom>
          <a:noFill/>
        </p:spPr>
        <p:txBody>
          <a:bodyPr wrap="square">
            <a:spAutoFit/>
          </a:bodyPr>
          <a:lstStyle/>
          <a:p>
            <a:pPr algn="l"/>
            <a:r>
              <a:rPr sz="1000" b="1" i="0">
                <a:solidFill>
                  <a:srgbClr val="16325C"/>
                </a:solidFill>
              </a:rPr>
              <a:t>Quote Comparison</a:t>
            </a:r>
          </a:p>
        </p:txBody>
      </p:sp>
      <p:sp>
        <p:nvSpPr>
          <p:cNvPr id="22" name="TextBox 21"/>
          <p:cNvSpPr txBox="1"/>
          <p:nvPr/>
        </p:nvSpPr>
        <p:spPr>
          <a:xfrm>
            <a:off x="6391656" y="2157984"/>
            <a:ext cx="5303520" cy="978408"/>
          </a:xfrm>
          <a:prstGeom prst="rect">
            <a:avLst/>
          </a:prstGeom>
          <a:noFill/>
        </p:spPr>
        <p:txBody>
          <a:bodyPr wrap="square">
            <a:spAutoFit/>
          </a:bodyPr>
          <a:lstStyle/>
          <a:p>
            <a:pPr algn="l"/>
            <a:r>
              <a:rPr sz="900" b="0" i="0">
                <a:solidFill>
                  <a:srgbClr val="3A4356"/>
                </a:solidFill>
              </a:rPr>
              <a:t>Log the supplier's quote. Any currency, converted for you.
• Compared with the should-cost, bucket by bucket
• The gap stated plainly: "Quote is X% above should-cost"</a:t>
            </a:r>
          </a:p>
        </p:txBody>
      </p:sp>
      <p:sp>
        <p:nvSpPr>
          <p:cNvPr id="23" name="Rectangle 22"/>
          <p:cNvSpPr/>
          <p:nvPr/>
        </p:nvSpPr>
        <p:spPr>
          <a:xfrm>
            <a:off x="6263640" y="3310128"/>
            <a:ext cx="5486400" cy="138988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3310128"/>
            <a:ext cx="54864" cy="1389888"/>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3383280"/>
            <a:ext cx="5303520" cy="256032"/>
          </a:xfrm>
          <a:prstGeom prst="rect">
            <a:avLst/>
          </a:prstGeom>
          <a:noFill/>
        </p:spPr>
        <p:txBody>
          <a:bodyPr wrap="square">
            <a:spAutoFit/>
          </a:bodyPr>
          <a:lstStyle/>
          <a:p>
            <a:pPr algn="l"/>
            <a:r>
              <a:rPr sz="1000" b="1" i="0">
                <a:solidFill>
                  <a:srgbClr val="16325C"/>
                </a:solidFill>
              </a:rPr>
              <a:t>What Moves the Number</a:t>
            </a:r>
          </a:p>
        </p:txBody>
      </p:sp>
      <p:sp>
        <p:nvSpPr>
          <p:cNvPr id="26" name="TextBox 25"/>
          <p:cNvSpPr txBox="1"/>
          <p:nvPr/>
        </p:nvSpPr>
        <p:spPr>
          <a:xfrm>
            <a:off x="6391656" y="3639312"/>
            <a:ext cx="5303520" cy="978408"/>
          </a:xfrm>
          <a:prstGeom prst="rect">
            <a:avLst/>
          </a:prstGeom>
          <a:noFill/>
        </p:spPr>
        <p:txBody>
          <a:bodyPr wrap="square">
            <a:spAutoFit/>
          </a:bodyPr>
          <a:lstStyle/>
          <a:p>
            <a:pPr algn="l"/>
            <a:r>
              <a:rPr sz="900" b="0" i="0">
                <a:solidFill>
                  <a:srgbClr val="3A4356"/>
                </a:solidFill>
              </a:rPr>
              <a:t>Each driver flexed ±10% (by default), ranked by impact.
• Shows the few inputs worth checking before you negotiate</a:t>
            </a:r>
          </a:p>
        </p:txBody>
      </p:sp>
      <p:sp>
        <p:nvSpPr>
          <p:cNvPr id="27" name="Rectangle 26"/>
          <p:cNvSpPr/>
          <p:nvPr/>
        </p:nvSpPr>
        <p:spPr>
          <a:xfrm>
            <a:off x="6263640" y="4791456"/>
            <a:ext cx="5486400" cy="138988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63640" y="4791456"/>
            <a:ext cx="54864" cy="1389888"/>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91656" y="4864608"/>
            <a:ext cx="5303520" cy="256032"/>
          </a:xfrm>
          <a:prstGeom prst="rect">
            <a:avLst/>
          </a:prstGeom>
          <a:noFill/>
        </p:spPr>
        <p:txBody>
          <a:bodyPr wrap="square">
            <a:spAutoFit/>
          </a:bodyPr>
          <a:lstStyle/>
          <a:p>
            <a:pPr algn="l"/>
            <a:r>
              <a:rPr sz="1000" b="1" i="0">
                <a:solidFill>
                  <a:srgbClr val="16325C"/>
                </a:solidFill>
              </a:rPr>
              <a:t>Scenarios Side by Side</a:t>
            </a:r>
          </a:p>
        </p:txBody>
      </p:sp>
      <p:sp>
        <p:nvSpPr>
          <p:cNvPr id="30" name="TextBox 29"/>
          <p:cNvSpPr txBox="1"/>
          <p:nvPr/>
        </p:nvSpPr>
        <p:spPr>
          <a:xfrm>
            <a:off x="6391656" y="5120640"/>
            <a:ext cx="5303520" cy="978408"/>
          </a:xfrm>
          <a:prstGeom prst="rect">
            <a:avLst/>
          </a:prstGeom>
          <a:noFill/>
        </p:spPr>
        <p:txBody>
          <a:bodyPr wrap="square">
            <a:spAutoFit/>
          </a:bodyPr>
          <a:lstStyle/>
          <a:p>
            <a:pPr algn="l"/>
            <a:r>
              <a:rPr sz="900" b="0" i="0">
                <a:solidFill>
                  <a:srgbClr val="3A4356"/>
                </a:solidFill>
              </a:rPr>
              <a:t>Baseline, target and stretch on one screen.
• See exactly where the money moved
• Saved to your account to come back 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12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ADVICE LAYER</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DFM / DFA — How to Make the Part Cheaper</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Runs after the cost is settled. It reads the result and advises — it never changes the price.</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28800"/>
            <a:ext cx="11384280" cy="713232"/>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883664"/>
            <a:ext cx="3200400" cy="256032"/>
          </a:xfrm>
          <a:prstGeom prst="rect">
            <a:avLst/>
          </a:prstGeom>
          <a:noFill/>
        </p:spPr>
        <p:txBody>
          <a:bodyPr wrap="square">
            <a:spAutoFit/>
          </a:bodyPr>
          <a:lstStyle/>
          <a:p>
            <a:pPr algn="l"/>
            <a:r>
              <a:rPr sz="850" b="1" i="0">
                <a:solidFill>
                  <a:srgbClr val="16325C"/>
                </a:solidFill>
              </a:rPr>
              <a:t>Manufacturability Score (DFM)</a:t>
            </a:r>
          </a:p>
        </p:txBody>
      </p:sp>
      <p:sp>
        <p:nvSpPr>
          <p:cNvPr id="13" name="TextBox 12"/>
          <p:cNvSpPr txBox="1"/>
          <p:nvPr/>
        </p:nvSpPr>
        <p:spPr>
          <a:xfrm>
            <a:off x="594360" y="2139696"/>
            <a:ext cx="1828800" cy="329184"/>
          </a:xfrm>
          <a:prstGeom prst="rect">
            <a:avLst/>
          </a:prstGeom>
          <a:noFill/>
        </p:spPr>
        <p:txBody>
          <a:bodyPr wrap="square">
            <a:spAutoFit/>
          </a:bodyPr>
          <a:lstStyle/>
          <a:p>
            <a:pPr algn="l"/>
            <a:r>
              <a:rPr sz="2000" b="1" i="0">
                <a:solidFill>
                  <a:srgbClr val="2A7F50"/>
                </a:solidFill>
              </a:rPr>
              <a:t>1 – 10</a:t>
            </a:r>
          </a:p>
        </p:txBody>
      </p:sp>
      <p:sp>
        <p:nvSpPr>
          <p:cNvPr id="14" name="TextBox 13"/>
          <p:cNvSpPr txBox="1"/>
          <p:nvPr/>
        </p:nvSpPr>
        <p:spPr>
          <a:xfrm>
            <a:off x="4114800" y="1883664"/>
            <a:ext cx="3200400" cy="256032"/>
          </a:xfrm>
          <a:prstGeom prst="rect">
            <a:avLst/>
          </a:prstGeom>
          <a:noFill/>
        </p:spPr>
        <p:txBody>
          <a:bodyPr wrap="square">
            <a:spAutoFit/>
          </a:bodyPr>
          <a:lstStyle/>
          <a:p>
            <a:pPr algn="l"/>
            <a:r>
              <a:rPr sz="850" b="1" i="0">
                <a:solidFill>
                  <a:srgbClr val="16325C"/>
                </a:solidFill>
              </a:rPr>
              <a:t>Assembly Score (DFA)</a:t>
            </a:r>
          </a:p>
        </p:txBody>
      </p:sp>
      <p:sp>
        <p:nvSpPr>
          <p:cNvPr id="15" name="TextBox 14"/>
          <p:cNvSpPr txBox="1"/>
          <p:nvPr/>
        </p:nvSpPr>
        <p:spPr>
          <a:xfrm>
            <a:off x="4114800" y="2139696"/>
            <a:ext cx="1828800" cy="329184"/>
          </a:xfrm>
          <a:prstGeom prst="rect">
            <a:avLst/>
          </a:prstGeom>
          <a:noFill/>
        </p:spPr>
        <p:txBody>
          <a:bodyPr wrap="square">
            <a:spAutoFit/>
          </a:bodyPr>
          <a:lstStyle/>
          <a:p>
            <a:pPr algn="l"/>
            <a:r>
              <a:rPr sz="2000" b="1" i="0">
                <a:solidFill>
                  <a:srgbClr val="99651A"/>
                </a:solidFill>
              </a:rPr>
              <a:t>1 – 10</a:t>
            </a:r>
          </a:p>
        </p:txBody>
      </p:sp>
      <p:sp>
        <p:nvSpPr>
          <p:cNvPr id="16" name="TextBox 15"/>
          <p:cNvSpPr txBox="1"/>
          <p:nvPr/>
        </p:nvSpPr>
        <p:spPr>
          <a:xfrm>
            <a:off x="7680960" y="1883664"/>
            <a:ext cx="2286000" cy="256032"/>
          </a:xfrm>
          <a:prstGeom prst="rect">
            <a:avLst/>
          </a:prstGeom>
          <a:noFill/>
        </p:spPr>
        <p:txBody>
          <a:bodyPr wrap="square">
            <a:spAutoFit/>
          </a:bodyPr>
          <a:lstStyle/>
          <a:p>
            <a:pPr algn="l"/>
            <a:r>
              <a:rPr sz="850" b="1" i="0">
                <a:solidFill>
                  <a:srgbClr val="16325C"/>
                </a:solidFill>
              </a:rPr>
              <a:t>Actions</a:t>
            </a:r>
          </a:p>
        </p:txBody>
      </p:sp>
      <p:sp>
        <p:nvSpPr>
          <p:cNvPr id="17" name="TextBox 16"/>
          <p:cNvSpPr txBox="1"/>
          <p:nvPr/>
        </p:nvSpPr>
        <p:spPr>
          <a:xfrm>
            <a:off x="7680960" y="2139696"/>
            <a:ext cx="2286000" cy="329184"/>
          </a:xfrm>
          <a:prstGeom prst="rect">
            <a:avLst/>
          </a:prstGeom>
          <a:noFill/>
        </p:spPr>
        <p:txBody>
          <a:bodyPr wrap="square">
            <a:spAutoFit/>
          </a:bodyPr>
          <a:lstStyle/>
          <a:p>
            <a:pPr algn="l"/>
            <a:r>
              <a:rPr sz="2000" b="1" i="0">
                <a:solidFill>
                  <a:srgbClr val="2A7F50"/>
                </a:solidFill>
              </a:rPr>
              <a:t>Ranked</a:t>
            </a:r>
          </a:p>
        </p:txBody>
      </p:sp>
      <p:sp>
        <p:nvSpPr>
          <p:cNvPr id="18" name="TextBox 17"/>
          <p:cNvSpPr txBox="1"/>
          <p:nvPr/>
        </p:nvSpPr>
        <p:spPr>
          <a:xfrm>
            <a:off x="9601200" y="1938528"/>
            <a:ext cx="2103120" cy="548640"/>
          </a:xfrm>
          <a:prstGeom prst="rect">
            <a:avLst/>
          </a:prstGeom>
          <a:noFill/>
        </p:spPr>
        <p:txBody>
          <a:bodyPr wrap="square">
            <a:spAutoFit/>
          </a:bodyPr>
          <a:lstStyle/>
          <a:p>
            <a:pPr algn="l"/>
            <a:r>
              <a:rPr sz="750" b="0" i="0">
                <a:solidFill>
                  <a:srgbClr val="686F7D"/>
                </a:solidFill>
              </a:rPr>
              <a:t>Score drops with each issue found  ·  each action carries its own saving estimate</a:t>
            </a:r>
          </a:p>
        </p:txBody>
      </p:sp>
      <p:sp>
        <p:nvSpPr>
          <p:cNvPr id="19" name="Rectangle 18"/>
          <p:cNvSpPr/>
          <p:nvPr/>
        </p:nvSpPr>
        <p:spPr>
          <a:xfrm>
            <a:off x="411480" y="2743200"/>
            <a:ext cx="5486400" cy="175107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2743200"/>
            <a:ext cx="54864" cy="1751076"/>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9496" y="2834640"/>
            <a:ext cx="5303520" cy="310896"/>
          </a:xfrm>
          <a:prstGeom prst="rect">
            <a:avLst/>
          </a:prstGeom>
          <a:noFill/>
        </p:spPr>
        <p:txBody>
          <a:bodyPr wrap="square">
            <a:spAutoFit/>
          </a:bodyPr>
          <a:lstStyle/>
          <a:p>
            <a:pPr algn="l"/>
            <a:r>
              <a:rPr sz="1050" b="1" i="0">
                <a:solidFill>
                  <a:srgbClr val="16325C"/>
                </a:solidFill>
              </a:rPr>
              <a:t>What It Finds — Making the Part</a:t>
            </a:r>
          </a:p>
        </p:txBody>
      </p:sp>
      <p:sp>
        <p:nvSpPr>
          <p:cNvPr id="22" name="TextBox 21"/>
          <p:cNvSpPr txBox="1"/>
          <p:nvPr/>
        </p:nvSpPr>
        <p:spPr>
          <a:xfrm>
            <a:off x="539496" y="3127248"/>
            <a:ext cx="5303520" cy="1257300"/>
          </a:xfrm>
          <a:prstGeom prst="rect">
            <a:avLst/>
          </a:prstGeom>
          <a:noFill/>
        </p:spPr>
        <p:txBody>
          <a:bodyPr wrap="square">
            <a:spAutoFit/>
          </a:bodyPr>
          <a:lstStyle/>
          <a:p>
            <a:pPr algn="l"/>
            <a:r>
              <a:rPr sz="950" b="0" i="0">
                <a:solidFill>
                  <a:srgbClr val="3A4356"/>
                </a:solidFill>
              </a:rPr>
              <a:t>Too much material going to scrap.
Machines running well below what they should.
Tooling, overhead or supplier margin out of line.
Each issue graded critical, major or minor.</a:t>
            </a:r>
          </a:p>
        </p:txBody>
      </p:sp>
      <p:sp>
        <p:nvSpPr>
          <p:cNvPr id="23" name="Rectangle 22"/>
          <p:cNvSpPr/>
          <p:nvPr/>
        </p:nvSpPr>
        <p:spPr>
          <a:xfrm>
            <a:off x="6007608" y="2743200"/>
            <a:ext cx="5486400" cy="175107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07608" y="2743200"/>
            <a:ext cx="54864" cy="175107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35624" y="2834640"/>
            <a:ext cx="5303520" cy="310896"/>
          </a:xfrm>
          <a:prstGeom prst="rect">
            <a:avLst/>
          </a:prstGeom>
          <a:noFill/>
        </p:spPr>
        <p:txBody>
          <a:bodyPr wrap="square">
            <a:spAutoFit/>
          </a:bodyPr>
          <a:lstStyle/>
          <a:p>
            <a:pPr algn="l"/>
            <a:r>
              <a:rPr sz="1050" b="1" i="0">
                <a:solidFill>
                  <a:srgbClr val="16325C"/>
                </a:solidFill>
              </a:rPr>
              <a:t>What It Finds — Building It</a:t>
            </a:r>
          </a:p>
        </p:txBody>
      </p:sp>
      <p:sp>
        <p:nvSpPr>
          <p:cNvPr id="26" name="TextBox 25"/>
          <p:cNvSpPr txBox="1"/>
          <p:nvPr/>
        </p:nvSpPr>
        <p:spPr>
          <a:xfrm>
            <a:off x="6135624" y="3127248"/>
            <a:ext cx="5303520" cy="1257300"/>
          </a:xfrm>
          <a:prstGeom prst="rect">
            <a:avLst/>
          </a:prstGeom>
          <a:noFill/>
        </p:spPr>
        <p:txBody>
          <a:bodyPr wrap="square">
            <a:spAutoFit/>
          </a:bodyPr>
          <a:lstStyle/>
          <a:p>
            <a:pPr algn="l"/>
            <a:r>
              <a:rPr sz="950" b="0" i="0">
                <a:solidFill>
                  <a:srgbClr val="3A4356"/>
                </a:solidFill>
              </a:rPr>
              <a:t>Assembly done by hand that could be automated.
Too many setups — each one adds cost and variation.
Too many different fasteners, so tools keep changing.</a:t>
            </a:r>
          </a:p>
        </p:txBody>
      </p:sp>
      <p:sp>
        <p:nvSpPr>
          <p:cNvPr id="27" name="Rectangle 26"/>
          <p:cNvSpPr/>
          <p:nvPr/>
        </p:nvSpPr>
        <p:spPr>
          <a:xfrm>
            <a:off x="411480" y="4604004"/>
            <a:ext cx="5486400" cy="175107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4604004"/>
            <a:ext cx="54864" cy="1751076"/>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9496" y="4695444"/>
            <a:ext cx="5303520" cy="310896"/>
          </a:xfrm>
          <a:prstGeom prst="rect">
            <a:avLst/>
          </a:prstGeom>
          <a:noFill/>
        </p:spPr>
        <p:txBody>
          <a:bodyPr wrap="square">
            <a:spAutoFit/>
          </a:bodyPr>
          <a:lstStyle/>
          <a:p>
            <a:pPr algn="l"/>
            <a:r>
              <a:rPr sz="1050" b="1" i="0">
                <a:solidFill>
                  <a:srgbClr val="16325C"/>
                </a:solidFill>
              </a:rPr>
              <a:t>What to Do About It</a:t>
            </a:r>
          </a:p>
        </p:txBody>
      </p:sp>
      <p:sp>
        <p:nvSpPr>
          <p:cNvPr id="30" name="TextBox 29"/>
          <p:cNvSpPr txBox="1"/>
          <p:nvPr/>
        </p:nvSpPr>
        <p:spPr>
          <a:xfrm>
            <a:off x="539496" y="4988052"/>
            <a:ext cx="5303520" cy="1257300"/>
          </a:xfrm>
          <a:prstGeom prst="rect">
            <a:avLst/>
          </a:prstGeom>
          <a:noFill/>
        </p:spPr>
        <p:txBody>
          <a:bodyPr wrap="square">
            <a:spAutoFit/>
          </a:bodyPr>
          <a:lstStyle/>
          <a:p>
            <a:pPr algn="l"/>
            <a:r>
              <a:rPr sz="950" b="0" i="0">
                <a:solidFill>
                  <a:srgbClr val="3A4356"/>
                </a:solidFill>
              </a:rPr>
              <a:t>A ranked list of actions, each with its own saving estimate:
Automate the manual operations
Move to a near-net shape
Raise machine uptime
Plus quick wins: more volume, open-book overhead, re-bid.</a:t>
            </a:r>
          </a:p>
        </p:txBody>
      </p:sp>
      <p:sp>
        <p:nvSpPr>
          <p:cNvPr id="31" name="Rectangle 30"/>
          <p:cNvSpPr/>
          <p:nvPr/>
        </p:nvSpPr>
        <p:spPr>
          <a:xfrm>
            <a:off x="6007608" y="4604004"/>
            <a:ext cx="5486400" cy="1751076"/>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07608" y="4604004"/>
            <a:ext cx="54864" cy="1751076"/>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35624" y="4695444"/>
            <a:ext cx="5303520" cy="310896"/>
          </a:xfrm>
          <a:prstGeom prst="rect">
            <a:avLst/>
          </a:prstGeom>
          <a:noFill/>
        </p:spPr>
        <p:txBody>
          <a:bodyPr wrap="square">
            <a:spAutoFit/>
          </a:bodyPr>
          <a:lstStyle/>
          <a:p>
            <a:pPr algn="l"/>
            <a:r>
              <a:rPr sz="1050" b="1" i="0">
                <a:solidFill>
                  <a:srgbClr val="16325C"/>
                </a:solidFill>
              </a:rPr>
              <a:t>Checks on the 3D Model</a:t>
            </a:r>
          </a:p>
        </p:txBody>
      </p:sp>
      <p:sp>
        <p:nvSpPr>
          <p:cNvPr id="34" name="TextBox 33"/>
          <p:cNvSpPr txBox="1"/>
          <p:nvPr/>
        </p:nvSpPr>
        <p:spPr>
          <a:xfrm>
            <a:off x="6135624" y="4988052"/>
            <a:ext cx="5303520" cy="1257300"/>
          </a:xfrm>
          <a:prstGeom prst="rect">
            <a:avLst/>
          </a:prstGeom>
          <a:noFill/>
        </p:spPr>
        <p:txBody>
          <a:bodyPr wrap="square">
            <a:spAutoFit/>
          </a:bodyPr>
          <a:lstStyle/>
          <a:p>
            <a:pPr algn="l"/>
            <a:r>
              <a:rPr sz="950" b="0" i="0">
                <a:solidFill>
                  <a:srgbClr val="3A4356"/>
                </a:solidFill>
              </a:rPr>
              <a:t>A second layer reads the CAD model itself: casting, forging, moulding, machining, sheet metal.
It points at the faces that cause the problem.
Every rule names its source.
A finding is priced only when rates and volume are known.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13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GLOBAL COVERAGE</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20 Manufacturing Regions — Each in Its Own Currency</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Pick a region and every rate resets together — labour, machines, energy, material and currency.</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10512"/>
            <a:ext cx="6858000" cy="4553712"/>
          </a:xfrm>
          <a:prstGeom prst="rect">
            <a:avLst/>
          </a:prstGeom>
          <a:solidFill>
            <a:srgbClr val="F7F9FC"/>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65376"/>
            <a:ext cx="5486400" cy="256032"/>
          </a:xfrm>
          <a:prstGeom prst="rect">
            <a:avLst/>
          </a:prstGeom>
          <a:noFill/>
        </p:spPr>
        <p:txBody>
          <a:bodyPr wrap="square">
            <a:spAutoFit/>
          </a:bodyPr>
          <a:lstStyle/>
          <a:p>
            <a:pPr algn="l"/>
            <a:r>
              <a:rPr sz="900" b="1" i="0">
                <a:solidFill>
                  <a:srgbClr val="16325C"/>
                </a:solidFill>
              </a:rPr>
              <a:t>12 of the 20 regions — skilled labour, 2026 Q2</a:t>
            </a:r>
          </a:p>
        </p:txBody>
      </p:sp>
      <p:graphicFrame>
        <p:nvGraphicFramePr>
          <p:cNvPr id="13" name="Table 12"/>
          <p:cNvGraphicFramePr>
            <a:graphicFrameLocks noGrp="1"/>
          </p:cNvGraphicFramePr>
          <p:nvPr/>
        </p:nvGraphicFramePr>
        <p:xfrm>
          <a:off x="438912" y="2157984"/>
          <a:ext cx="6400800" cy="4114800"/>
        </p:xfrm>
        <a:graphic>
          <a:graphicData uri="http://schemas.openxmlformats.org/drawingml/2006/table">
            <a:tbl>
              <a:tblPr firstRow="1" bandRow="1">
                <a:tableStyleId>{5C22544A-7EE6-4342-B048-85BDC9FD1C3A}</a:tableStyleId>
              </a:tblPr>
              <a:tblGrid>
                <a:gridCol w="1371600"/>
                <a:gridCol w="822960"/>
                <a:gridCol w="2011680"/>
                <a:gridCol w="2194560"/>
              </a:tblGrid>
              <a:tr h="316523">
                <a:tc>
                  <a:txBody>
                    <a:bodyPr/>
                    <a:lstStyle/>
                    <a:p>
                      <a:pPr algn="l"/>
                      <a:r>
                        <a:rPr sz="750" b="1">
                          <a:solidFill>
                            <a:srgbClr val="FFFFFF"/>
                          </a:solidFill>
                        </a:rPr>
                        <a:t>Region</a:t>
                      </a:r>
                    </a:p>
                  </a:txBody>
                  <a:tcPr>
                    <a:solidFill>
                      <a:srgbClr val="16325C"/>
                    </a:solidFill>
                  </a:tcPr>
                </a:tc>
                <a:tc>
                  <a:txBody>
                    <a:bodyPr/>
                    <a:lstStyle/>
                    <a:p>
                      <a:pPr algn="l"/>
                      <a:r>
                        <a:rPr sz="750" b="1">
                          <a:solidFill>
                            <a:srgbClr val="FFFFFF"/>
                          </a:solidFill>
                        </a:rPr>
                        <a:t>Currency</a:t>
                      </a:r>
                    </a:p>
                  </a:txBody>
                  <a:tcPr>
                    <a:solidFill>
                      <a:srgbClr val="16325C"/>
                    </a:solidFill>
                  </a:tcPr>
                </a:tc>
                <a:tc>
                  <a:txBody>
                    <a:bodyPr/>
                    <a:lstStyle/>
                    <a:p>
                      <a:pPr algn="l"/>
                      <a:r>
                        <a:rPr sz="750" b="1">
                          <a:solidFill>
                            <a:srgbClr val="FFFFFF"/>
                          </a:solidFill>
                        </a:rPr>
                        <a:t>Skilled labour (£/hr equiv.)</a:t>
                      </a:r>
                    </a:p>
                  </a:txBody>
                  <a:tcPr>
                    <a:solidFill>
                      <a:srgbClr val="16325C"/>
                    </a:solidFill>
                  </a:tcPr>
                </a:tc>
                <a:tc>
                  <a:txBody>
                    <a:bodyPr/>
                    <a:lstStyle/>
                    <a:p>
                      <a:pPr algn="l"/>
                      <a:r>
                        <a:rPr sz="750" b="1">
                          <a:solidFill>
                            <a:srgbClr val="FFFFFF"/>
                          </a:solidFill>
                        </a:rPr>
                        <a:t>Where</a:t>
                      </a:r>
                    </a:p>
                  </a:txBody>
                  <a:tcPr>
                    <a:solidFill>
                      <a:srgbClr val="16325C"/>
                    </a:solidFill>
                  </a:tcPr>
                </a:tc>
              </a:tr>
              <a:tr h="316523">
                <a:tc>
                  <a:txBody>
                    <a:bodyPr/>
                    <a:lstStyle/>
                    <a:p>
                      <a:pPr algn="l"/>
                      <a:r>
                        <a:rPr sz="750" b="1">
                          <a:solidFill>
                            <a:srgbClr val="1D6FB8"/>
                          </a:solidFill>
                        </a:rPr>
                        <a:t>UK</a:t>
                      </a:r>
                    </a:p>
                  </a:txBody>
                  <a:tcPr>
                    <a:solidFill>
                      <a:srgbClr val="FFFFFF"/>
                    </a:solidFill>
                  </a:tcPr>
                </a:tc>
                <a:tc>
                  <a:txBody>
                    <a:bodyPr/>
                    <a:lstStyle/>
                    <a:p>
                      <a:pPr algn="l"/>
                      <a:r>
                        <a:rPr sz="750">
                          <a:solidFill>
                            <a:srgbClr val="3A4356"/>
                          </a:solidFill>
                        </a:rPr>
                        <a:t>GBP</a:t>
                      </a:r>
                    </a:p>
                  </a:txBody>
                  <a:tcPr>
                    <a:solidFill>
                      <a:srgbClr val="FFFFFF"/>
                    </a:solidFill>
                  </a:tcPr>
                </a:tc>
                <a:tc>
                  <a:txBody>
                    <a:bodyPr/>
                    <a:lstStyle/>
                    <a:p>
                      <a:pPr algn="l"/>
                      <a:r>
                        <a:rPr sz="750" b="1">
                          <a:solidFill>
                            <a:srgbClr val="2A7F50"/>
                          </a:solidFill>
                        </a:rPr>
                        <a:t>£26.00</a:t>
                      </a:r>
                    </a:p>
                  </a:txBody>
                  <a:tcPr>
                    <a:solidFill>
                      <a:srgbClr val="FFFFFF"/>
                    </a:solidFill>
                  </a:tcPr>
                </a:tc>
                <a:tc>
                  <a:txBody>
                    <a:bodyPr/>
                    <a:lstStyle/>
                    <a:p>
                      <a:pPr algn="l"/>
                      <a:r>
                        <a:rPr sz="750" b="0">
                          <a:solidFill>
                            <a:srgbClr val="3A4356"/>
                          </a:solidFill>
                        </a:rPr>
                        <a:t>Base region</a:t>
                      </a:r>
                    </a:p>
                  </a:txBody>
                  <a:tcPr>
                    <a:solidFill>
                      <a:srgbClr val="FFFFFF"/>
                    </a:solidFill>
                  </a:tcPr>
                </a:tc>
              </a:tr>
              <a:tr h="316523">
                <a:tc>
                  <a:txBody>
                    <a:bodyPr/>
                    <a:lstStyle/>
                    <a:p>
                      <a:pPr algn="l"/>
                      <a:r>
                        <a:rPr sz="750" b="1">
                          <a:solidFill>
                            <a:srgbClr val="1D6FB8"/>
                          </a:solidFill>
                        </a:rPr>
                        <a:t>Germany</a:t>
                      </a:r>
                    </a:p>
                  </a:txBody>
                  <a:tcPr>
                    <a:solidFill>
                      <a:srgbClr val="F7F9FC"/>
                    </a:solidFill>
                  </a:tcPr>
                </a:tc>
                <a:tc>
                  <a:txBody>
                    <a:bodyPr/>
                    <a:lstStyle/>
                    <a:p>
                      <a:pPr algn="l"/>
                      <a:r>
                        <a:rPr sz="750">
                          <a:solidFill>
                            <a:srgbClr val="3A4356"/>
                          </a:solidFill>
                        </a:rPr>
                        <a:t>EUR</a:t>
                      </a:r>
                    </a:p>
                  </a:txBody>
                  <a:tcPr>
                    <a:solidFill>
                      <a:srgbClr val="F7F9FC"/>
                    </a:solidFill>
                  </a:tcPr>
                </a:tc>
                <a:tc>
                  <a:txBody>
                    <a:bodyPr/>
                    <a:lstStyle/>
                    <a:p>
                      <a:pPr algn="l"/>
                      <a:r>
                        <a:rPr sz="750" b="1">
                          <a:solidFill>
                            <a:srgbClr val="2A7F50"/>
                          </a:solidFill>
                        </a:rPr>
                        <a:t>£40.50</a:t>
                      </a:r>
                    </a:p>
                  </a:txBody>
                  <a:tcPr>
                    <a:solidFill>
                      <a:srgbClr val="F7F9FC"/>
                    </a:solidFill>
                  </a:tcPr>
                </a:tc>
                <a:tc>
                  <a:txBody>
                    <a:bodyPr/>
                    <a:lstStyle/>
                    <a:p>
                      <a:pPr algn="l"/>
                      <a:r>
                        <a:rPr sz="750" b="0">
                          <a:solidFill>
                            <a:srgbClr val="3A4356"/>
                          </a:solidFill>
                        </a:rPr>
                        <a:t>Western Europe</a:t>
                      </a:r>
                    </a:p>
                  </a:txBody>
                  <a:tcPr>
                    <a:solidFill>
                      <a:srgbClr val="F7F9FC"/>
                    </a:solidFill>
                  </a:tcPr>
                </a:tc>
              </a:tr>
              <a:tr h="316523">
                <a:tc>
                  <a:txBody>
                    <a:bodyPr/>
                    <a:lstStyle/>
                    <a:p>
                      <a:pPr algn="l"/>
                      <a:r>
                        <a:rPr sz="750" b="1">
                          <a:solidFill>
                            <a:srgbClr val="1D6FB8"/>
                          </a:solidFill>
                        </a:rPr>
                        <a:t>Poland</a:t>
                      </a:r>
                    </a:p>
                  </a:txBody>
                  <a:tcPr>
                    <a:solidFill>
                      <a:srgbClr val="FFFFFF"/>
                    </a:solidFill>
                  </a:tcPr>
                </a:tc>
                <a:tc>
                  <a:txBody>
                    <a:bodyPr/>
                    <a:lstStyle/>
                    <a:p>
                      <a:pPr algn="l"/>
                      <a:r>
                        <a:rPr sz="750">
                          <a:solidFill>
                            <a:srgbClr val="3A4356"/>
                          </a:solidFill>
                        </a:rPr>
                        <a:t>PLN</a:t>
                      </a:r>
                    </a:p>
                  </a:txBody>
                  <a:tcPr>
                    <a:solidFill>
                      <a:srgbClr val="FFFFFF"/>
                    </a:solidFill>
                  </a:tcPr>
                </a:tc>
                <a:tc>
                  <a:txBody>
                    <a:bodyPr/>
                    <a:lstStyle/>
                    <a:p>
                      <a:pPr algn="l"/>
                      <a:r>
                        <a:rPr sz="750" b="1">
                          <a:solidFill>
                            <a:srgbClr val="2A7F50"/>
                          </a:solidFill>
                        </a:rPr>
                        <a:t>£12.00</a:t>
                      </a:r>
                    </a:p>
                  </a:txBody>
                  <a:tcPr>
                    <a:solidFill>
                      <a:srgbClr val="FFFFFF"/>
                    </a:solidFill>
                  </a:tcPr>
                </a:tc>
                <a:tc>
                  <a:txBody>
                    <a:bodyPr/>
                    <a:lstStyle/>
                    <a:p>
                      <a:pPr algn="l"/>
                      <a:r>
                        <a:rPr sz="750" b="0">
                          <a:solidFill>
                            <a:srgbClr val="3A4356"/>
                          </a:solidFill>
                        </a:rPr>
                        <a:t>Central Europe</a:t>
                      </a:r>
                    </a:p>
                  </a:txBody>
                  <a:tcPr>
                    <a:solidFill>
                      <a:srgbClr val="FFFFFF"/>
                    </a:solidFill>
                  </a:tcPr>
                </a:tc>
              </a:tr>
              <a:tr h="316523">
                <a:tc>
                  <a:txBody>
                    <a:bodyPr/>
                    <a:lstStyle/>
                    <a:p>
                      <a:pPr algn="l"/>
                      <a:r>
                        <a:rPr sz="750" b="1">
                          <a:solidFill>
                            <a:srgbClr val="1D6FB8"/>
                          </a:solidFill>
                        </a:rPr>
                        <a:t>Romania</a:t>
                      </a:r>
                    </a:p>
                  </a:txBody>
                  <a:tcPr>
                    <a:solidFill>
                      <a:srgbClr val="F7F9FC"/>
                    </a:solidFill>
                  </a:tcPr>
                </a:tc>
                <a:tc>
                  <a:txBody>
                    <a:bodyPr/>
                    <a:lstStyle/>
                    <a:p>
                      <a:pPr algn="l"/>
                      <a:r>
                        <a:rPr sz="750">
                          <a:solidFill>
                            <a:srgbClr val="3A4356"/>
                          </a:solidFill>
                        </a:rPr>
                        <a:t>RON</a:t>
                      </a:r>
                    </a:p>
                  </a:txBody>
                  <a:tcPr>
                    <a:solidFill>
                      <a:srgbClr val="F7F9FC"/>
                    </a:solidFill>
                  </a:tcPr>
                </a:tc>
                <a:tc>
                  <a:txBody>
                    <a:bodyPr/>
                    <a:lstStyle/>
                    <a:p>
                      <a:pPr algn="l"/>
                      <a:r>
                        <a:rPr sz="750" b="1">
                          <a:solidFill>
                            <a:srgbClr val="2A7F50"/>
                          </a:solidFill>
                        </a:rPr>
                        <a:t>£7.50</a:t>
                      </a:r>
                    </a:p>
                  </a:txBody>
                  <a:tcPr>
                    <a:solidFill>
                      <a:srgbClr val="F7F9FC"/>
                    </a:solidFill>
                  </a:tcPr>
                </a:tc>
                <a:tc>
                  <a:txBody>
                    <a:bodyPr/>
                    <a:lstStyle/>
                    <a:p>
                      <a:pPr algn="l"/>
                      <a:r>
                        <a:rPr sz="750" b="0">
                          <a:solidFill>
                            <a:srgbClr val="3A4356"/>
                          </a:solidFill>
                        </a:rPr>
                        <a:t>Eastern Europe</a:t>
                      </a:r>
                    </a:p>
                  </a:txBody>
                  <a:tcPr>
                    <a:solidFill>
                      <a:srgbClr val="F7F9FC"/>
                    </a:solidFill>
                  </a:tcPr>
                </a:tc>
              </a:tr>
              <a:tr h="316523">
                <a:tc>
                  <a:txBody>
                    <a:bodyPr/>
                    <a:lstStyle/>
                    <a:p>
                      <a:pPr algn="l"/>
                      <a:r>
                        <a:rPr sz="750" b="1">
                          <a:solidFill>
                            <a:srgbClr val="1D6FB8"/>
                          </a:solidFill>
                        </a:rPr>
                        <a:t>China</a:t>
                      </a:r>
                    </a:p>
                  </a:txBody>
                  <a:tcPr>
                    <a:solidFill>
                      <a:srgbClr val="FFFFFF"/>
                    </a:solidFill>
                  </a:tcPr>
                </a:tc>
                <a:tc>
                  <a:txBody>
                    <a:bodyPr/>
                    <a:lstStyle/>
                    <a:p>
                      <a:pPr algn="l"/>
                      <a:r>
                        <a:rPr sz="750">
                          <a:solidFill>
                            <a:srgbClr val="3A4356"/>
                          </a:solidFill>
                        </a:rPr>
                        <a:t>CNY</a:t>
                      </a:r>
                    </a:p>
                  </a:txBody>
                  <a:tcPr>
                    <a:solidFill>
                      <a:srgbClr val="FFFFFF"/>
                    </a:solidFill>
                  </a:tcPr>
                </a:tc>
                <a:tc>
                  <a:txBody>
                    <a:bodyPr/>
                    <a:lstStyle/>
                    <a:p>
                      <a:pPr algn="l"/>
                      <a:r>
                        <a:rPr sz="750" b="1">
                          <a:solidFill>
                            <a:srgbClr val="2A7F50"/>
                          </a:solidFill>
                        </a:rPr>
                        <a:t>£7.90</a:t>
                      </a:r>
                    </a:p>
                  </a:txBody>
                  <a:tcPr>
                    <a:solidFill>
                      <a:srgbClr val="FFFFFF"/>
                    </a:solidFill>
                  </a:tcPr>
                </a:tc>
                <a:tc>
                  <a:txBody>
                    <a:bodyPr/>
                    <a:lstStyle/>
                    <a:p>
                      <a:pPr algn="l"/>
                      <a:r>
                        <a:rPr sz="750" b="0">
                          <a:solidFill>
                            <a:srgbClr val="3A4356"/>
                          </a:solidFill>
                        </a:rPr>
                        <a:t>East Asia</a:t>
                      </a:r>
                    </a:p>
                  </a:txBody>
                  <a:tcPr>
                    <a:solidFill>
                      <a:srgbClr val="FFFFFF"/>
                    </a:solidFill>
                  </a:tcPr>
                </a:tc>
              </a:tr>
              <a:tr h="316523">
                <a:tc>
                  <a:txBody>
                    <a:bodyPr/>
                    <a:lstStyle/>
                    <a:p>
                      <a:pPr algn="l"/>
                      <a:r>
                        <a:rPr sz="750" b="1">
                          <a:solidFill>
                            <a:srgbClr val="1D6FB8"/>
                          </a:solidFill>
                        </a:rPr>
                        <a:t>India</a:t>
                      </a:r>
                    </a:p>
                  </a:txBody>
                  <a:tcPr>
                    <a:solidFill>
                      <a:srgbClr val="F7F9FC"/>
                    </a:solidFill>
                  </a:tcPr>
                </a:tc>
                <a:tc>
                  <a:txBody>
                    <a:bodyPr/>
                    <a:lstStyle/>
                    <a:p>
                      <a:pPr algn="l"/>
                      <a:r>
                        <a:rPr sz="750">
                          <a:solidFill>
                            <a:srgbClr val="3A4356"/>
                          </a:solidFill>
                        </a:rPr>
                        <a:t>INR</a:t>
                      </a:r>
                    </a:p>
                  </a:txBody>
                  <a:tcPr>
                    <a:solidFill>
                      <a:srgbClr val="F7F9FC"/>
                    </a:solidFill>
                  </a:tcPr>
                </a:tc>
                <a:tc>
                  <a:txBody>
                    <a:bodyPr/>
                    <a:lstStyle/>
                    <a:p>
                      <a:pPr algn="l"/>
                      <a:r>
                        <a:rPr sz="750" b="1">
                          <a:solidFill>
                            <a:srgbClr val="2A7F50"/>
                          </a:solidFill>
                        </a:rPr>
                        <a:t>£5.10</a:t>
                      </a:r>
                    </a:p>
                  </a:txBody>
                  <a:tcPr>
                    <a:solidFill>
                      <a:srgbClr val="F7F9FC"/>
                    </a:solidFill>
                  </a:tcPr>
                </a:tc>
                <a:tc>
                  <a:txBody>
                    <a:bodyPr/>
                    <a:lstStyle/>
                    <a:p>
                      <a:pPr algn="l"/>
                      <a:r>
                        <a:rPr sz="750" b="0">
                          <a:solidFill>
                            <a:srgbClr val="3A4356"/>
                          </a:solidFill>
                        </a:rPr>
                        <a:t>South Asia</a:t>
                      </a:r>
                    </a:p>
                  </a:txBody>
                  <a:tcPr>
                    <a:solidFill>
                      <a:srgbClr val="F7F9FC"/>
                    </a:solidFill>
                  </a:tcPr>
                </a:tc>
              </a:tr>
              <a:tr h="316523">
                <a:tc>
                  <a:txBody>
                    <a:bodyPr/>
                    <a:lstStyle/>
                    <a:p>
                      <a:pPr algn="l"/>
                      <a:r>
                        <a:rPr sz="750" b="1">
                          <a:solidFill>
                            <a:srgbClr val="1D6FB8"/>
                          </a:solidFill>
                        </a:rPr>
                        <a:t>Mexico</a:t>
                      </a:r>
                    </a:p>
                  </a:txBody>
                  <a:tcPr>
                    <a:solidFill>
                      <a:srgbClr val="FFFFFF"/>
                    </a:solidFill>
                  </a:tcPr>
                </a:tc>
                <a:tc>
                  <a:txBody>
                    <a:bodyPr/>
                    <a:lstStyle/>
                    <a:p>
                      <a:pPr algn="l"/>
                      <a:r>
                        <a:rPr sz="750">
                          <a:solidFill>
                            <a:srgbClr val="3A4356"/>
                          </a:solidFill>
                        </a:rPr>
                        <a:t>MXN</a:t>
                      </a:r>
                    </a:p>
                  </a:txBody>
                  <a:tcPr>
                    <a:solidFill>
                      <a:srgbClr val="FFFFFF"/>
                    </a:solidFill>
                  </a:tcPr>
                </a:tc>
                <a:tc>
                  <a:txBody>
                    <a:bodyPr/>
                    <a:lstStyle/>
                    <a:p>
                      <a:pPr algn="l"/>
                      <a:r>
                        <a:rPr sz="750" b="1">
                          <a:solidFill>
                            <a:srgbClr val="2A7F50"/>
                          </a:solidFill>
                        </a:rPr>
                        <a:t>£7.50</a:t>
                      </a:r>
                    </a:p>
                  </a:txBody>
                  <a:tcPr>
                    <a:solidFill>
                      <a:srgbClr val="FFFFFF"/>
                    </a:solidFill>
                  </a:tcPr>
                </a:tc>
                <a:tc>
                  <a:txBody>
                    <a:bodyPr/>
                    <a:lstStyle/>
                    <a:p>
                      <a:pPr algn="l"/>
                      <a:r>
                        <a:rPr sz="750" b="0">
                          <a:solidFill>
                            <a:srgbClr val="3A4356"/>
                          </a:solidFill>
                        </a:rPr>
                        <a:t>Near-shore for the USA</a:t>
                      </a:r>
                    </a:p>
                  </a:txBody>
                  <a:tcPr>
                    <a:solidFill>
                      <a:srgbClr val="FFFFFF"/>
                    </a:solidFill>
                  </a:tcPr>
                </a:tc>
              </a:tr>
              <a:tr h="316523">
                <a:tc>
                  <a:txBody>
                    <a:bodyPr/>
                    <a:lstStyle/>
                    <a:p>
                      <a:pPr algn="l"/>
                      <a:r>
                        <a:rPr sz="750" b="1">
                          <a:solidFill>
                            <a:srgbClr val="1D6FB8"/>
                          </a:solidFill>
                        </a:rPr>
                        <a:t>USA</a:t>
                      </a:r>
                    </a:p>
                  </a:txBody>
                  <a:tcPr>
                    <a:solidFill>
                      <a:srgbClr val="F7F9FC"/>
                    </a:solidFill>
                  </a:tcPr>
                </a:tc>
                <a:tc>
                  <a:txBody>
                    <a:bodyPr/>
                    <a:lstStyle/>
                    <a:p>
                      <a:pPr algn="l"/>
                      <a:r>
                        <a:rPr sz="750">
                          <a:solidFill>
                            <a:srgbClr val="3A4356"/>
                          </a:solidFill>
                        </a:rPr>
                        <a:t>USD</a:t>
                      </a:r>
                    </a:p>
                  </a:txBody>
                  <a:tcPr>
                    <a:solidFill>
                      <a:srgbClr val="F7F9FC"/>
                    </a:solidFill>
                  </a:tcPr>
                </a:tc>
                <a:tc>
                  <a:txBody>
                    <a:bodyPr/>
                    <a:lstStyle/>
                    <a:p>
                      <a:pPr algn="l"/>
                      <a:r>
                        <a:rPr sz="750" b="1">
                          <a:solidFill>
                            <a:srgbClr val="2A7F50"/>
                          </a:solidFill>
                        </a:rPr>
                        <a:t>£34.00</a:t>
                      </a:r>
                    </a:p>
                  </a:txBody>
                  <a:tcPr>
                    <a:solidFill>
                      <a:srgbClr val="F7F9FC"/>
                    </a:solidFill>
                  </a:tcPr>
                </a:tc>
                <a:tc>
                  <a:txBody>
                    <a:bodyPr/>
                    <a:lstStyle/>
                    <a:p>
                      <a:pPr algn="l"/>
                      <a:r>
                        <a:rPr sz="750" b="0">
                          <a:solidFill>
                            <a:srgbClr val="3A4356"/>
                          </a:solidFill>
                        </a:rPr>
                        <a:t>North America</a:t>
                      </a:r>
                    </a:p>
                  </a:txBody>
                  <a:tcPr>
                    <a:solidFill>
                      <a:srgbClr val="F7F9FC"/>
                    </a:solidFill>
                  </a:tcPr>
                </a:tc>
              </a:tr>
              <a:tr h="316523">
                <a:tc>
                  <a:txBody>
                    <a:bodyPr/>
                    <a:lstStyle/>
                    <a:p>
                      <a:pPr algn="l"/>
                      <a:r>
                        <a:rPr sz="750" b="1">
                          <a:solidFill>
                            <a:srgbClr val="1D6FB8"/>
                          </a:solidFill>
                        </a:rPr>
                        <a:t>Thailand</a:t>
                      </a:r>
                    </a:p>
                  </a:txBody>
                  <a:tcPr>
                    <a:solidFill>
                      <a:srgbClr val="FFFFFF"/>
                    </a:solidFill>
                  </a:tcPr>
                </a:tc>
                <a:tc>
                  <a:txBody>
                    <a:bodyPr/>
                    <a:lstStyle/>
                    <a:p>
                      <a:pPr algn="l"/>
                      <a:r>
                        <a:rPr sz="750">
                          <a:solidFill>
                            <a:srgbClr val="3A4356"/>
                          </a:solidFill>
                        </a:rPr>
                        <a:t>THB</a:t>
                      </a:r>
                    </a:p>
                  </a:txBody>
                  <a:tcPr>
                    <a:solidFill>
                      <a:srgbClr val="FFFFFF"/>
                    </a:solidFill>
                  </a:tcPr>
                </a:tc>
                <a:tc>
                  <a:txBody>
                    <a:bodyPr/>
                    <a:lstStyle/>
                    <a:p>
                      <a:pPr algn="l"/>
                      <a:r>
                        <a:rPr sz="750" b="1">
                          <a:solidFill>
                            <a:srgbClr val="2A7F50"/>
                          </a:solidFill>
                        </a:rPr>
                        <a:t>£5.80</a:t>
                      </a:r>
                    </a:p>
                  </a:txBody>
                  <a:tcPr>
                    <a:solidFill>
                      <a:srgbClr val="FFFFFF"/>
                    </a:solidFill>
                  </a:tcPr>
                </a:tc>
                <a:tc>
                  <a:txBody>
                    <a:bodyPr/>
                    <a:lstStyle/>
                    <a:p>
                      <a:pPr algn="l"/>
                      <a:r>
                        <a:rPr sz="750" b="0">
                          <a:solidFill>
                            <a:srgbClr val="3A4356"/>
                          </a:solidFill>
                        </a:rPr>
                        <a:t>South-east Asia</a:t>
                      </a:r>
                    </a:p>
                  </a:txBody>
                  <a:tcPr>
                    <a:solidFill>
                      <a:srgbClr val="FFFFFF"/>
                    </a:solidFill>
                  </a:tcPr>
                </a:tc>
              </a:tr>
              <a:tr h="316523">
                <a:tc>
                  <a:txBody>
                    <a:bodyPr/>
                    <a:lstStyle/>
                    <a:p>
                      <a:pPr algn="l"/>
                      <a:r>
                        <a:rPr sz="750" b="1">
                          <a:solidFill>
                            <a:srgbClr val="1D6FB8"/>
                          </a:solidFill>
                        </a:rPr>
                        <a:t>Vietnam</a:t>
                      </a:r>
                    </a:p>
                  </a:txBody>
                  <a:tcPr>
                    <a:solidFill>
                      <a:srgbClr val="F7F9FC"/>
                    </a:solidFill>
                  </a:tcPr>
                </a:tc>
                <a:tc>
                  <a:txBody>
                    <a:bodyPr/>
                    <a:lstStyle/>
                    <a:p>
                      <a:pPr algn="l"/>
                      <a:r>
                        <a:rPr sz="750">
                          <a:solidFill>
                            <a:srgbClr val="3A4356"/>
                          </a:solidFill>
                        </a:rPr>
                        <a:t>VND</a:t>
                      </a:r>
                    </a:p>
                  </a:txBody>
                  <a:tcPr>
                    <a:solidFill>
                      <a:srgbClr val="F7F9FC"/>
                    </a:solidFill>
                  </a:tcPr>
                </a:tc>
                <a:tc>
                  <a:txBody>
                    <a:bodyPr/>
                    <a:lstStyle/>
                    <a:p>
                      <a:pPr algn="l"/>
                      <a:r>
                        <a:rPr sz="750" b="1">
                          <a:solidFill>
                            <a:srgbClr val="2A7F50"/>
                          </a:solidFill>
                        </a:rPr>
                        <a:t>£3.80</a:t>
                      </a:r>
                    </a:p>
                  </a:txBody>
                  <a:tcPr>
                    <a:solidFill>
                      <a:srgbClr val="F7F9FC"/>
                    </a:solidFill>
                  </a:tcPr>
                </a:tc>
                <a:tc>
                  <a:txBody>
                    <a:bodyPr/>
                    <a:lstStyle/>
                    <a:p>
                      <a:pPr algn="l"/>
                      <a:r>
                        <a:rPr sz="750" b="0">
                          <a:solidFill>
                            <a:srgbClr val="3A4356"/>
                          </a:solidFill>
                        </a:rPr>
                        <a:t>South-east Asia</a:t>
                      </a:r>
                    </a:p>
                  </a:txBody>
                  <a:tcPr>
                    <a:solidFill>
                      <a:srgbClr val="F7F9FC"/>
                    </a:solidFill>
                  </a:tcPr>
                </a:tc>
              </a:tr>
              <a:tr h="316523">
                <a:tc>
                  <a:txBody>
                    <a:bodyPr/>
                    <a:lstStyle/>
                    <a:p>
                      <a:pPr algn="l"/>
                      <a:r>
                        <a:rPr sz="750" b="1">
                          <a:solidFill>
                            <a:srgbClr val="1D6FB8"/>
                          </a:solidFill>
                        </a:rPr>
                        <a:t>Brazil</a:t>
                      </a:r>
                    </a:p>
                  </a:txBody>
                  <a:tcPr>
                    <a:solidFill>
                      <a:srgbClr val="FFFFFF"/>
                    </a:solidFill>
                  </a:tcPr>
                </a:tc>
                <a:tc>
                  <a:txBody>
                    <a:bodyPr/>
                    <a:lstStyle/>
                    <a:p>
                      <a:pPr algn="l"/>
                      <a:r>
                        <a:rPr sz="750">
                          <a:solidFill>
                            <a:srgbClr val="3A4356"/>
                          </a:solidFill>
                        </a:rPr>
                        <a:t>BRL</a:t>
                      </a:r>
                    </a:p>
                  </a:txBody>
                  <a:tcPr>
                    <a:solidFill>
                      <a:srgbClr val="FFFFFF"/>
                    </a:solidFill>
                  </a:tcPr>
                </a:tc>
                <a:tc>
                  <a:txBody>
                    <a:bodyPr/>
                    <a:lstStyle/>
                    <a:p>
                      <a:pPr algn="l"/>
                      <a:r>
                        <a:rPr sz="750" b="1">
                          <a:solidFill>
                            <a:srgbClr val="2A7F50"/>
                          </a:solidFill>
                        </a:rPr>
                        <a:t>£8.50</a:t>
                      </a:r>
                    </a:p>
                  </a:txBody>
                  <a:tcPr>
                    <a:solidFill>
                      <a:srgbClr val="FFFFFF"/>
                    </a:solidFill>
                  </a:tcPr>
                </a:tc>
                <a:tc>
                  <a:txBody>
                    <a:bodyPr/>
                    <a:lstStyle/>
                    <a:p>
                      <a:pPr algn="l"/>
                      <a:r>
                        <a:rPr sz="750" b="0">
                          <a:solidFill>
                            <a:srgbClr val="3A4356"/>
                          </a:solidFill>
                        </a:rPr>
                        <a:t>South America</a:t>
                      </a:r>
                    </a:p>
                  </a:txBody>
                  <a:tcPr>
                    <a:solidFill>
                      <a:srgbClr val="FFFFFF"/>
                    </a:solidFill>
                  </a:tcPr>
                </a:tc>
              </a:tr>
              <a:tr h="316524">
                <a:tc>
                  <a:txBody>
                    <a:bodyPr/>
                    <a:lstStyle/>
                    <a:p>
                      <a:pPr algn="l"/>
                      <a:r>
                        <a:rPr sz="750" b="1">
                          <a:solidFill>
                            <a:srgbClr val="1D6FB8"/>
                          </a:solidFill>
                        </a:rPr>
                        <a:t>S. Korea</a:t>
                      </a:r>
                    </a:p>
                  </a:txBody>
                  <a:tcPr>
                    <a:solidFill>
                      <a:srgbClr val="F7F9FC"/>
                    </a:solidFill>
                  </a:tcPr>
                </a:tc>
                <a:tc>
                  <a:txBody>
                    <a:bodyPr/>
                    <a:lstStyle/>
                    <a:p>
                      <a:pPr algn="l"/>
                      <a:r>
                        <a:rPr sz="750">
                          <a:solidFill>
                            <a:srgbClr val="3A4356"/>
                          </a:solidFill>
                        </a:rPr>
                        <a:t>KRW</a:t>
                      </a:r>
                    </a:p>
                  </a:txBody>
                  <a:tcPr>
                    <a:solidFill>
                      <a:srgbClr val="F7F9FC"/>
                    </a:solidFill>
                  </a:tcPr>
                </a:tc>
                <a:tc>
                  <a:txBody>
                    <a:bodyPr/>
                    <a:lstStyle/>
                    <a:p>
                      <a:pPr algn="l"/>
                      <a:r>
                        <a:rPr sz="750" b="1">
                          <a:solidFill>
                            <a:srgbClr val="2A7F50"/>
                          </a:solidFill>
                        </a:rPr>
                        <a:t>£22.00</a:t>
                      </a:r>
                    </a:p>
                  </a:txBody>
                  <a:tcPr>
                    <a:solidFill>
                      <a:srgbClr val="F7F9FC"/>
                    </a:solidFill>
                  </a:tcPr>
                </a:tc>
                <a:tc>
                  <a:txBody>
                    <a:bodyPr/>
                    <a:lstStyle/>
                    <a:p>
                      <a:pPr algn="l"/>
                      <a:r>
                        <a:rPr sz="750" b="0">
                          <a:solidFill>
                            <a:srgbClr val="3A4356"/>
                          </a:solidFill>
                        </a:rPr>
                        <a:t>East Asia</a:t>
                      </a:r>
                    </a:p>
                  </a:txBody>
                  <a:tcPr>
                    <a:solidFill>
                      <a:srgbClr val="F7F9FC"/>
                    </a:solidFill>
                  </a:tcPr>
                </a:tc>
              </a:tr>
            </a:tbl>
          </a:graphicData>
        </a:graphic>
      </p:graphicFrame>
      <p:sp>
        <p:nvSpPr>
          <p:cNvPr id="14" name="Rectangle 13"/>
          <p:cNvSpPr/>
          <p:nvPr/>
        </p:nvSpPr>
        <p:spPr>
          <a:xfrm>
            <a:off x="7498079" y="1810512"/>
            <a:ext cx="4297680" cy="100584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79" y="1810512"/>
            <a:ext cx="54864" cy="1005840"/>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6095" y="1883664"/>
            <a:ext cx="4114800" cy="256032"/>
          </a:xfrm>
          <a:prstGeom prst="rect">
            <a:avLst/>
          </a:prstGeom>
          <a:noFill/>
        </p:spPr>
        <p:txBody>
          <a:bodyPr wrap="square">
            <a:spAutoFit/>
          </a:bodyPr>
          <a:lstStyle/>
          <a:p>
            <a:pPr algn="l"/>
            <a:r>
              <a:rPr sz="950" b="1" i="0">
                <a:solidFill>
                  <a:srgbClr val="16325C"/>
                </a:solidFill>
              </a:rPr>
              <a:t>Currency Follows the Region</a:t>
            </a:r>
          </a:p>
        </p:txBody>
      </p:sp>
      <p:sp>
        <p:nvSpPr>
          <p:cNvPr id="17" name="TextBox 16"/>
          <p:cNvSpPr txBox="1"/>
          <p:nvPr/>
        </p:nvSpPr>
        <p:spPr>
          <a:xfrm>
            <a:off x="7626095" y="2139696"/>
            <a:ext cx="4114800" cy="658368"/>
          </a:xfrm>
          <a:prstGeom prst="rect">
            <a:avLst/>
          </a:prstGeom>
          <a:noFill/>
        </p:spPr>
        <p:txBody>
          <a:bodyPr wrap="square">
            <a:spAutoFit/>
          </a:bodyPr>
          <a:lstStyle/>
          <a:p>
            <a:pPr algn="l"/>
            <a:r>
              <a:rPr sz="850" b="0" i="0">
                <a:solidFill>
                  <a:srgbClr val="3A4356"/>
                </a:solidFill>
              </a:rPr>
              <a:t>Pick a region and the display currency switches to its own. Choose a currency by hand and it stays put.</a:t>
            </a:r>
          </a:p>
        </p:txBody>
      </p:sp>
      <p:sp>
        <p:nvSpPr>
          <p:cNvPr id="18" name="Rectangle 17"/>
          <p:cNvSpPr/>
          <p:nvPr/>
        </p:nvSpPr>
        <p:spPr>
          <a:xfrm>
            <a:off x="7498079" y="2889504"/>
            <a:ext cx="4297680" cy="100584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79" y="2889504"/>
            <a:ext cx="54864" cy="100584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5" y="2962656"/>
            <a:ext cx="4114800" cy="256032"/>
          </a:xfrm>
          <a:prstGeom prst="rect">
            <a:avLst/>
          </a:prstGeom>
          <a:noFill/>
        </p:spPr>
        <p:txBody>
          <a:bodyPr wrap="square">
            <a:spAutoFit/>
          </a:bodyPr>
          <a:lstStyle/>
          <a:p>
            <a:pPr algn="l"/>
            <a:r>
              <a:rPr sz="950" b="1" i="0">
                <a:solidFill>
                  <a:srgbClr val="16325C"/>
                </a:solidFill>
              </a:rPr>
              <a:t>Every Rate Resets</a:t>
            </a:r>
          </a:p>
        </p:txBody>
      </p:sp>
      <p:sp>
        <p:nvSpPr>
          <p:cNvPr id="21" name="TextBox 20"/>
          <p:cNvSpPr txBox="1"/>
          <p:nvPr/>
        </p:nvSpPr>
        <p:spPr>
          <a:xfrm>
            <a:off x="7626095" y="3218688"/>
            <a:ext cx="4114800" cy="658368"/>
          </a:xfrm>
          <a:prstGeom prst="rect">
            <a:avLst/>
          </a:prstGeom>
          <a:noFill/>
        </p:spPr>
        <p:txBody>
          <a:bodyPr wrap="square">
            <a:spAutoFit/>
          </a:bodyPr>
          <a:lstStyle/>
          <a:p>
            <a:pPr algn="l"/>
            <a:r>
              <a:rPr sz="850" b="0" i="0">
                <a:solidFill>
                  <a:srgbClr val="3A4356"/>
                </a:solidFill>
              </a:rPr>
              <a:t>Eight labour rates, electricity, gas, machine rates and material prices — all set for the region.</a:t>
            </a:r>
          </a:p>
        </p:txBody>
      </p:sp>
      <p:sp>
        <p:nvSpPr>
          <p:cNvPr id="22" name="Rectangle 21"/>
          <p:cNvSpPr/>
          <p:nvPr/>
        </p:nvSpPr>
        <p:spPr>
          <a:xfrm>
            <a:off x="7498079" y="3968496"/>
            <a:ext cx="4297680" cy="100584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79" y="3968496"/>
            <a:ext cx="54864" cy="1005840"/>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26095" y="4041648"/>
            <a:ext cx="4114800" cy="256032"/>
          </a:xfrm>
          <a:prstGeom prst="rect">
            <a:avLst/>
          </a:prstGeom>
          <a:noFill/>
        </p:spPr>
        <p:txBody>
          <a:bodyPr wrap="square">
            <a:spAutoFit/>
          </a:bodyPr>
          <a:lstStyle/>
          <a:p>
            <a:pPr algn="l"/>
            <a:r>
              <a:rPr sz="950" b="1" i="0">
                <a:solidFill>
                  <a:srgbClr val="16325C"/>
                </a:solidFill>
              </a:rPr>
              <a:t>Editable Rate Library</a:t>
            </a:r>
          </a:p>
        </p:txBody>
      </p:sp>
      <p:sp>
        <p:nvSpPr>
          <p:cNvPr id="25" name="TextBox 24"/>
          <p:cNvSpPr txBox="1"/>
          <p:nvPr/>
        </p:nvSpPr>
        <p:spPr>
          <a:xfrm>
            <a:off x="7626095" y="4297680"/>
            <a:ext cx="4114800" cy="658368"/>
          </a:xfrm>
          <a:prstGeom prst="rect">
            <a:avLst/>
          </a:prstGeom>
          <a:noFill/>
        </p:spPr>
        <p:txBody>
          <a:bodyPr wrap="square">
            <a:spAutoFit/>
          </a:bodyPr>
          <a:lstStyle/>
          <a:p>
            <a:pPr algn="l"/>
            <a:r>
              <a:rPr sz="850" b="0" i="0">
                <a:solidFill>
                  <a:srgbClr val="3A4356"/>
                </a:solidFill>
              </a:rPr>
              <a:t>Version 2.1.0, dated 16 June 2026. Override any rate. JLR's own rate card converts in with a macro-free workbook.</a:t>
            </a:r>
          </a:p>
        </p:txBody>
      </p:sp>
      <p:sp>
        <p:nvSpPr>
          <p:cNvPr id="26" name="Rectangle 25"/>
          <p:cNvSpPr/>
          <p:nvPr/>
        </p:nvSpPr>
        <p:spPr>
          <a:xfrm>
            <a:off x="7498079" y="5047488"/>
            <a:ext cx="4297680" cy="100584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98079" y="5047488"/>
            <a:ext cx="54864" cy="1005840"/>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26095" y="5120640"/>
            <a:ext cx="4114800" cy="256032"/>
          </a:xfrm>
          <a:prstGeom prst="rect">
            <a:avLst/>
          </a:prstGeom>
          <a:noFill/>
        </p:spPr>
        <p:txBody>
          <a:bodyPr wrap="square">
            <a:spAutoFit/>
          </a:bodyPr>
          <a:lstStyle/>
          <a:p>
            <a:pPr algn="l"/>
            <a:r>
              <a:rPr sz="950" b="1" i="0">
                <a:solidFill>
                  <a:srgbClr val="16325C"/>
                </a:solidFill>
              </a:rPr>
              <a:t>All 20 Regions at Once</a:t>
            </a:r>
          </a:p>
        </p:txBody>
      </p:sp>
      <p:sp>
        <p:nvSpPr>
          <p:cNvPr id="29" name="TextBox 28"/>
          <p:cNvSpPr txBox="1"/>
          <p:nvPr/>
        </p:nvSpPr>
        <p:spPr>
          <a:xfrm>
            <a:off x="7626095" y="5376672"/>
            <a:ext cx="4114800" cy="658368"/>
          </a:xfrm>
          <a:prstGeom prst="rect">
            <a:avLst/>
          </a:prstGeom>
          <a:noFill/>
        </p:spPr>
        <p:txBody>
          <a:bodyPr wrap="square">
            <a:spAutoFit/>
          </a:bodyPr>
          <a:lstStyle/>
          <a:p>
            <a:pPr algn="l"/>
            <a:r>
              <a:rPr sz="850" b="0" i="0">
                <a:solidFill>
                  <a:srgbClr val="3A4356"/>
                </a:solidFill>
              </a:rPr>
              <a:t>One table shows the same part costed in every region — a make-vs-buy view built on rates.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14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WHAT RUNS TODAY · WHAT WAITS</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Runs on Rules Today — AI Mode Waits for Approval</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Left: what runs at JLR now, with AI switched off. Right: the optional AI features — built, but turned off.</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28800"/>
            <a:ext cx="5532120" cy="402336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828800"/>
            <a:ext cx="54864" cy="402336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938528"/>
            <a:ext cx="5212080" cy="310896"/>
          </a:xfrm>
          <a:prstGeom prst="rect">
            <a:avLst/>
          </a:prstGeom>
          <a:noFill/>
        </p:spPr>
        <p:txBody>
          <a:bodyPr wrap="square">
            <a:spAutoFit/>
          </a:bodyPr>
          <a:lstStyle/>
          <a:p>
            <a:pPr algn="l"/>
            <a:r>
              <a:rPr sz="1400" b="1" i="0">
                <a:solidFill>
                  <a:srgbClr val="2A7F50"/>
                </a:solidFill>
              </a:rPr>
              <a:t>Runs Today — No AI</a:t>
            </a:r>
          </a:p>
        </p:txBody>
      </p:sp>
      <p:sp>
        <p:nvSpPr>
          <p:cNvPr id="14" name="TextBox 13"/>
          <p:cNvSpPr txBox="1"/>
          <p:nvPr/>
        </p:nvSpPr>
        <p:spPr>
          <a:xfrm>
            <a:off x="594360" y="2286000"/>
            <a:ext cx="5212080" cy="274320"/>
          </a:xfrm>
          <a:prstGeom prst="rect">
            <a:avLst/>
          </a:prstGeom>
          <a:noFill/>
        </p:spPr>
        <p:txBody>
          <a:bodyPr wrap="square">
            <a:spAutoFit/>
          </a:bodyPr>
          <a:lstStyle/>
          <a:p>
            <a:pPr algn="l"/>
            <a:r>
              <a:rPr sz="900" b="0" i="1">
                <a:solidFill>
                  <a:srgbClr val="3A4356"/>
                </a:solidFill>
              </a:rPr>
              <a:t>Rules and arithmetic. Works offline on the laptop.</a:t>
            </a:r>
          </a:p>
        </p:txBody>
      </p:sp>
      <p:sp>
        <p:nvSpPr>
          <p:cNvPr id="15" name="Rectangle 14"/>
          <p:cNvSpPr/>
          <p:nvPr/>
        </p:nvSpPr>
        <p:spPr>
          <a:xfrm>
            <a:off x="576072" y="2651760"/>
            <a:ext cx="5202936" cy="676656"/>
          </a:xfrm>
          <a:prstGeom prst="rect">
            <a:avLst/>
          </a:prstGeom>
          <a:solidFill>
            <a:srgbClr val="F7F9FC"/>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76072" y="2651760"/>
            <a:ext cx="45720" cy="67665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2715768"/>
            <a:ext cx="5056632" cy="219456"/>
          </a:xfrm>
          <a:prstGeom prst="rect">
            <a:avLst/>
          </a:prstGeom>
          <a:noFill/>
        </p:spPr>
        <p:txBody>
          <a:bodyPr wrap="square">
            <a:spAutoFit/>
          </a:bodyPr>
          <a:lstStyle/>
          <a:p>
            <a:pPr algn="l"/>
            <a:r>
              <a:rPr sz="1000" b="1" i="0">
                <a:solidFill>
                  <a:srgbClr val="16325C"/>
                </a:solidFill>
              </a:rPr>
              <a:t>CAD to Cost</a:t>
            </a:r>
          </a:p>
        </p:txBody>
      </p:sp>
      <p:sp>
        <p:nvSpPr>
          <p:cNvPr id="18" name="TextBox 17"/>
          <p:cNvSpPr txBox="1"/>
          <p:nvPr/>
        </p:nvSpPr>
        <p:spPr>
          <a:xfrm>
            <a:off x="722376" y="2935224"/>
            <a:ext cx="5056632" cy="347472"/>
          </a:xfrm>
          <a:prstGeom prst="rect">
            <a:avLst/>
          </a:prstGeom>
          <a:noFill/>
        </p:spPr>
        <p:txBody>
          <a:bodyPr wrap="square">
            <a:spAutoFit/>
          </a:bodyPr>
          <a:lstStyle/>
          <a:p>
            <a:pPr algn="l"/>
            <a:r>
              <a:rPr sz="850" b="0" i="0">
                <a:solidFill>
                  <a:srgbClr val="3A4356"/>
                </a:solidFill>
              </a:rPr>
              <a:t>Measures the part, and asks you where the geometry cannot decide.</a:t>
            </a:r>
          </a:p>
        </p:txBody>
      </p:sp>
      <p:sp>
        <p:nvSpPr>
          <p:cNvPr id="19" name="Rectangle 18"/>
          <p:cNvSpPr/>
          <p:nvPr/>
        </p:nvSpPr>
        <p:spPr>
          <a:xfrm>
            <a:off x="576072" y="3419856"/>
            <a:ext cx="5202936" cy="676656"/>
          </a:xfrm>
          <a:prstGeom prst="rect">
            <a:avLst/>
          </a:prstGeom>
          <a:solidFill>
            <a:srgbClr val="F7F9FC"/>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2" y="3419856"/>
            <a:ext cx="45720" cy="67665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3483864"/>
            <a:ext cx="5056632" cy="219456"/>
          </a:xfrm>
          <a:prstGeom prst="rect">
            <a:avLst/>
          </a:prstGeom>
          <a:noFill/>
        </p:spPr>
        <p:txBody>
          <a:bodyPr wrap="square">
            <a:spAutoFit/>
          </a:bodyPr>
          <a:lstStyle/>
          <a:p>
            <a:pPr algn="l"/>
            <a:r>
              <a:rPr sz="1000" b="1" i="0">
                <a:solidFill>
                  <a:srgbClr val="16325C"/>
                </a:solidFill>
              </a:rPr>
              <a:t>Self-audit</a:t>
            </a:r>
          </a:p>
        </p:txBody>
      </p:sp>
      <p:sp>
        <p:nvSpPr>
          <p:cNvPr id="22" name="TextBox 21"/>
          <p:cNvSpPr txBox="1"/>
          <p:nvPr/>
        </p:nvSpPr>
        <p:spPr>
          <a:xfrm>
            <a:off x="722376" y="3703320"/>
            <a:ext cx="5056632" cy="347472"/>
          </a:xfrm>
          <a:prstGeom prst="rect">
            <a:avLst/>
          </a:prstGeom>
          <a:noFill/>
        </p:spPr>
        <p:txBody>
          <a:bodyPr wrap="square">
            <a:spAutoFit/>
          </a:bodyPr>
          <a:lstStyle/>
          <a:p>
            <a:pPr algn="l"/>
            <a:r>
              <a:rPr sz="850" b="0" i="0">
                <a:solidFill>
                  <a:srgbClr val="3A4356"/>
                </a:solidFill>
              </a:rPr>
              <a:t>Checks every result: wrong machine size, wrong volume for tooling, odd cycle times.</a:t>
            </a:r>
          </a:p>
        </p:txBody>
      </p:sp>
      <p:sp>
        <p:nvSpPr>
          <p:cNvPr id="23" name="Rectangle 22"/>
          <p:cNvSpPr/>
          <p:nvPr/>
        </p:nvSpPr>
        <p:spPr>
          <a:xfrm>
            <a:off x="576072" y="4187952"/>
            <a:ext cx="5202936" cy="676656"/>
          </a:xfrm>
          <a:prstGeom prst="rect">
            <a:avLst/>
          </a:prstGeom>
          <a:solidFill>
            <a:srgbClr val="F7F9FC"/>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76072" y="4187952"/>
            <a:ext cx="45720" cy="67665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4251960"/>
            <a:ext cx="5056632" cy="219456"/>
          </a:xfrm>
          <a:prstGeom prst="rect">
            <a:avLst/>
          </a:prstGeom>
          <a:noFill/>
        </p:spPr>
        <p:txBody>
          <a:bodyPr wrap="square">
            <a:spAutoFit/>
          </a:bodyPr>
          <a:lstStyle/>
          <a:p>
            <a:pPr algn="l"/>
            <a:r>
              <a:rPr sz="1000" b="1" i="0">
                <a:solidFill>
                  <a:srgbClr val="16325C"/>
                </a:solidFill>
              </a:rPr>
              <a:t>Learning from actuals</a:t>
            </a:r>
          </a:p>
        </p:txBody>
      </p:sp>
      <p:sp>
        <p:nvSpPr>
          <p:cNvPr id="26" name="TextBox 25"/>
          <p:cNvSpPr txBox="1"/>
          <p:nvPr/>
        </p:nvSpPr>
        <p:spPr>
          <a:xfrm>
            <a:off x="722376" y="4471416"/>
            <a:ext cx="5056632" cy="347472"/>
          </a:xfrm>
          <a:prstGeom prst="rect">
            <a:avLst/>
          </a:prstGeom>
          <a:noFill/>
        </p:spPr>
        <p:txBody>
          <a:bodyPr wrap="square">
            <a:spAutoFit/>
          </a:bodyPr>
          <a:lstStyle/>
          <a:p>
            <a:pPr algn="l"/>
            <a:r>
              <a:rPr sz="850" b="0" i="0">
                <a:solidFill>
                  <a:srgbClr val="3A4356"/>
                </a:solidFill>
              </a:rPr>
              <a:t>Log a real quote or PO price. After 3 for a commodity, the band is corrected.</a:t>
            </a:r>
          </a:p>
        </p:txBody>
      </p:sp>
      <p:sp>
        <p:nvSpPr>
          <p:cNvPr id="27" name="Rectangle 26"/>
          <p:cNvSpPr/>
          <p:nvPr/>
        </p:nvSpPr>
        <p:spPr>
          <a:xfrm>
            <a:off x="576072" y="4956048"/>
            <a:ext cx="5202936" cy="676656"/>
          </a:xfrm>
          <a:prstGeom prst="rect">
            <a:avLst/>
          </a:prstGeom>
          <a:solidFill>
            <a:srgbClr val="F7F9FC"/>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76072" y="4956048"/>
            <a:ext cx="45720" cy="67665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 y="5020056"/>
            <a:ext cx="5056632" cy="219456"/>
          </a:xfrm>
          <a:prstGeom prst="rect">
            <a:avLst/>
          </a:prstGeom>
          <a:noFill/>
        </p:spPr>
        <p:txBody>
          <a:bodyPr wrap="square">
            <a:spAutoFit/>
          </a:bodyPr>
          <a:lstStyle/>
          <a:p>
            <a:pPr algn="l"/>
            <a:r>
              <a:rPr sz="1000" b="1" i="0">
                <a:solidFill>
                  <a:srgbClr val="16325C"/>
                </a:solidFill>
              </a:rPr>
              <a:t>Supplier price monitor</a:t>
            </a:r>
          </a:p>
        </p:txBody>
      </p:sp>
      <p:sp>
        <p:nvSpPr>
          <p:cNvPr id="30" name="TextBox 29"/>
          <p:cNvSpPr txBox="1"/>
          <p:nvPr/>
        </p:nvSpPr>
        <p:spPr>
          <a:xfrm>
            <a:off x="722376" y="5239512"/>
            <a:ext cx="5056632" cy="347472"/>
          </a:xfrm>
          <a:prstGeom prst="rect">
            <a:avLst/>
          </a:prstGeom>
          <a:noFill/>
        </p:spPr>
        <p:txBody>
          <a:bodyPr wrap="square">
            <a:spAutoFit/>
          </a:bodyPr>
          <a:lstStyle/>
          <a:p>
            <a:pPr algn="l"/>
            <a:r>
              <a:rPr sz="850" b="0" i="0">
                <a:solidFill>
                  <a:srgbClr val="3A4356"/>
                </a:solidFill>
              </a:rPr>
              <a:t>Compares logged prices with the should-cost and flags where a supplier sits above it.</a:t>
            </a:r>
          </a:p>
        </p:txBody>
      </p:sp>
      <p:sp>
        <p:nvSpPr>
          <p:cNvPr id="31" name="Rectangle 30"/>
          <p:cNvSpPr/>
          <p:nvPr/>
        </p:nvSpPr>
        <p:spPr>
          <a:xfrm>
            <a:off x="6245352" y="1828800"/>
            <a:ext cx="5532120" cy="402336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45352" y="1828800"/>
            <a:ext cx="54864" cy="4023360"/>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8232" y="1938528"/>
            <a:ext cx="5212080" cy="310896"/>
          </a:xfrm>
          <a:prstGeom prst="rect">
            <a:avLst/>
          </a:prstGeom>
          <a:noFill/>
        </p:spPr>
        <p:txBody>
          <a:bodyPr wrap="square">
            <a:spAutoFit/>
          </a:bodyPr>
          <a:lstStyle/>
          <a:p>
            <a:pPr algn="l"/>
            <a:r>
              <a:rPr sz="1400" b="1" i="0">
                <a:solidFill>
                  <a:srgbClr val="6B3FA0"/>
                </a:solidFill>
              </a:rPr>
              <a:t>Optional AI Mode — Off at JLR</a:t>
            </a:r>
          </a:p>
        </p:txBody>
      </p:sp>
      <p:sp>
        <p:nvSpPr>
          <p:cNvPr id="34" name="TextBox 33"/>
          <p:cNvSpPr txBox="1"/>
          <p:nvPr/>
        </p:nvSpPr>
        <p:spPr>
          <a:xfrm>
            <a:off x="6428232" y="2286000"/>
            <a:ext cx="5212080" cy="274320"/>
          </a:xfrm>
          <a:prstGeom prst="rect">
            <a:avLst/>
          </a:prstGeom>
          <a:noFill/>
        </p:spPr>
        <p:txBody>
          <a:bodyPr wrap="square">
            <a:spAutoFit/>
          </a:bodyPr>
          <a:lstStyle/>
          <a:p>
            <a:pPr algn="l"/>
            <a:r>
              <a:rPr sz="900" b="0" i="1">
                <a:solidFill>
                  <a:srgbClr val="3A4356"/>
                </a:solidFill>
              </a:rPr>
              <a:t>Needs AI approval. Turned on by a setting, with no rebuild.</a:t>
            </a:r>
          </a:p>
        </p:txBody>
      </p:sp>
      <p:sp>
        <p:nvSpPr>
          <p:cNvPr id="35" name="Rectangle 34"/>
          <p:cNvSpPr/>
          <p:nvPr/>
        </p:nvSpPr>
        <p:spPr>
          <a:xfrm>
            <a:off x="6409944" y="2651760"/>
            <a:ext cx="5202936" cy="676656"/>
          </a:xfrm>
          <a:prstGeom prst="rect">
            <a:avLst/>
          </a:prstGeom>
          <a:solidFill>
            <a:srgbClr val="F7F9FC"/>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9944" y="2651760"/>
            <a:ext cx="45720" cy="676656"/>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56248" y="2715768"/>
            <a:ext cx="5056632" cy="219456"/>
          </a:xfrm>
          <a:prstGeom prst="rect">
            <a:avLst/>
          </a:prstGeom>
          <a:noFill/>
        </p:spPr>
        <p:txBody>
          <a:bodyPr wrap="square">
            <a:spAutoFit/>
          </a:bodyPr>
          <a:lstStyle/>
          <a:p>
            <a:pPr algn="l"/>
            <a:r>
              <a:rPr sz="1000" b="1" i="0">
                <a:solidFill>
                  <a:srgbClr val="16325C"/>
                </a:solidFill>
              </a:rPr>
              <a:t>Describe a part</a:t>
            </a:r>
          </a:p>
        </p:txBody>
      </p:sp>
      <p:sp>
        <p:nvSpPr>
          <p:cNvPr id="38" name="TextBox 37"/>
          <p:cNvSpPr txBox="1"/>
          <p:nvPr/>
        </p:nvSpPr>
        <p:spPr>
          <a:xfrm>
            <a:off x="6556248" y="2935224"/>
            <a:ext cx="5056632" cy="347472"/>
          </a:xfrm>
          <a:prstGeom prst="rect">
            <a:avLst/>
          </a:prstGeom>
          <a:noFill/>
        </p:spPr>
        <p:txBody>
          <a:bodyPr wrap="square">
            <a:spAutoFit/>
          </a:bodyPr>
          <a:lstStyle/>
          <a:p>
            <a:pPr algn="l"/>
            <a:r>
              <a:rPr sz="850" b="0" i="0">
                <a:solidFill>
                  <a:srgbClr val="3A4356"/>
                </a:solidFill>
              </a:rPr>
              <a:t>Type a description and the AI suggests the inputs. The engine still does the sum.</a:t>
            </a:r>
          </a:p>
        </p:txBody>
      </p:sp>
      <p:sp>
        <p:nvSpPr>
          <p:cNvPr id="39" name="Rectangle 38"/>
          <p:cNvSpPr/>
          <p:nvPr/>
        </p:nvSpPr>
        <p:spPr>
          <a:xfrm>
            <a:off x="6409944" y="3419856"/>
            <a:ext cx="5202936" cy="676656"/>
          </a:xfrm>
          <a:prstGeom prst="rect">
            <a:avLst/>
          </a:prstGeom>
          <a:solidFill>
            <a:srgbClr val="F7F9FC"/>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9944" y="3419856"/>
            <a:ext cx="45720" cy="676656"/>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56248" y="3483864"/>
            <a:ext cx="5056632" cy="219456"/>
          </a:xfrm>
          <a:prstGeom prst="rect">
            <a:avLst/>
          </a:prstGeom>
          <a:noFill/>
        </p:spPr>
        <p:txBody>
          <a:bodyPr wrap="square">
            <a:spAutoFit/>
          </a:bodyPr>
          <a:lstStyle/>
          <a:p>
            <a:pPr algn="l"/>
            <a:r>
              <a:rPr sz="1000" b="1" i="0">
                <a:solidFill>
                  <a:srgbClr val="16325C"/>
                </a:solidFill>
              </a:rPr>
              <a:t>PCB photo to BOM</a:t>
            </a:r>
          </a:p>
        </p:txBody>
      </p:sp>
      <p:sp>
        <p:nvSpPr>
          <p:cNvPr id="42" name="TextBox 41"/>
          <p:cNvSpPr txBox="1"/>
          <p:nvPr/>
        </p:nvSpPr>
        <p:spPr>
          <a:xfrm>
            <a:off x="6556248" y="3703320"/>
            <a:ext cx="5056632" cy="347472"/>
          </a:xfrm>
          <a:prstGeom prst="rect">
            <a:avLst/>
          </a:prstGeom>
          <a:noFill/>
        </p:spPr>
        <p:txBody>
          <a:bodyPr wrap="square">
            <a:spAutoFit/>
          </a:bodyPr>
          <a:lstStyle/>
          <a:p>
            <a:pPr algn="l"/>
            <a:r>
              <a:rPr sz="850" b="0" i="0">
                <a:solidFill>
                  <a:srgbClr val="3A4356"/>
                </a:solidFill>
              </a:rPr>
              <a:t>Reads a board photo into a bill of materials, then costs it with the rules.</a:t>
            </a:r>
          </a:p>
        </p:txBody>
      </p:sp>
      <p:sp>
        <p:nvSpPr>
          <p:cNvPr id="43" name="Rectangle 42"/>
          <p:cNvSpPr/>
          <p:nvPr/>
        </p:nvSpPr>
        <p:spPr>
          <a:xfrm>
            <a:off x="6409944" y="4187952"/>
            <a:ext cx="5202936" cy="676656"/>
          </a:xfrm>
          <a:prstGeom prst="rect">
            <a:avLst/>
          </a:prstGeom>
          <a:solidFill>
            <a:srgbClr val="F7F9FC"/>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09944" y="4187952"/>
            <a:ext cx="45720" cy="676656"/>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56248" y="4251960"/>
            <a:ext cx="5056632" cy="219456"/>
          </a:xfrm>
          <a:prstGeom prst="rect">
            <a:avLst/>
          </a:prstGeom>
          <a:noFill/>
        </p:spPr>
        <p:txBody>
          <a:bodyPr wrap="square">
            <a:spAutoFit/>
          </a:bodyPr>
          <a:lstStyle/>
          <a:p>
            <a:pPr algn="l"/>
            <a:r>
              <a:rPr sz="1000" b="1" i="0">
                <a:solidFill>
                  <a:srgbClr val="16325C"/>
                </a:solidFill>
              </a:rPr>
              <a:t>AI assistant</a:t>
            </a:r>
          </a:p>
        </p:txBody>
      </p:sp>
      <p:sp>
        <p:nvSpPr>
          <p:cNvPr id="46" name="TextBox 45"/>
          <p:cNvSpPr txBox="1"/>
          <p:nvPr/>
        </p:nvSpPr>
        <p:spPr>
          <a:xfrm>
            <a:off x="6556248" y="4471416"/>
            <a:ext cx="5056632" cy="347472"/>
          </a:xfrm>
          <a:prstGeom prst="rect">
            <a:avLst/>
          </a:prstGeom>
          <a:noFill/>
        </p:spPr>
        <p:txBody>
          <a:bodyPr wrap="square">
            <a:spAutoFit/>
          </a:bodyPr>
          <a:lstStyle/>
          <a:p>
            <a:pPr algn="l"/>
            <a:r>
              <a:rPr sz="850" b="0" i="0">
                <a:solidFill>
                  <a:srgbClr val="3A4356"/>
                </a:solidFill>
              </a:rPr>
              <a:t>Answers costing questions in plain English.</a:t>
            </a:r>
          </a:p>
        </p:txBody>
      </p:sp>
      <p:sp>
        <p:nvSpPr>
          <p:cNvPr id="47" name="Rectangle 46"/>
          <p:cNvSpPr/>
          <p:nvPr/>
        </p:nvSpPr>
        <p:spPr>
          <a:xfrm>
            <a:off x="6409944" y="4956048"/>
            <a:ext cx="5202936" cy="676656"/>
          </a:xfrm>
          <a:prstGeom prst="rect">
            <a:avLst/>
          </a:prstGeom>
          <a:solidFill>
            <a:srgbClr val="F7F9FC"/>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09944" y="4956048"/>
            <a:ext cx="45720" cy="676656"/>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56248" y="5020056"/>
            <a:ext cx="5056632" cy="219456"/>
          </a:xfrm>
          <a:prstGeom prst="rect">
            <a:avLst/>
          </a:prstGeom>
          <a:noFill/>
        </p:spPr>
        <p:txBody>
          <a:bodyPr wrap="square">
            <a:spAutoFit/>
          </a:bodyPr>
          <a:lstStyle/>
          <a:p>
            <a:pPr algn="l"/>
            <a:r>
              <a:rPr sz="1000" b="1" i="0">
                <a:solidFill>
                  <a:srgbClr val="16325C"/>
                </a:solidFill>
              </a:rPr>
              <a:t>AI agent</a:t>
            </a:r>
          </a:p>
        </p:txBody>
      </p:sp>
      <p:sp>
        <p:nvSpPr>
          <p:cNvPr id="50" name="TextBox 49"/>
          <p:cNvSpPr txBox="1"/>
          <p:nvPr/>
        </p:nvSpPr>
        <p:spPr>
          <a:xfrm>
            <a:off x="6556248" y="5239512"/>
            <a:ext cx="5056632" cy="347472"/>
          </a:xfrm>
          <a:prstGeom prst="rect">
            <a:avLst/>
          </a:prstGeom>
          <a:noFill/>
        </p:spPr>
        <p:txBody>
          <a:bodyPr wrap="square">
            <a:spAutoFit/>
          </a:bodyPr>
          <a:lstStyle/>
          <a:p>
            <a:pPr algn="l"/>
            <a:r>
              <a:rPr sz="850" b="0" i="0">
                <a:solidFill>
                  <a:srgbClr val="3A4356"/>
                </a:solidFill>
              </a:rPr>
              <a:t>Works through a costing task step by step, when asked.</a:t>
            </a:r>
          </a:p>
        </p:txBody>
      </p:sp>
      <p:sp>
        <p:nvSpPr>
          <p:cNvPr id="51" name="Rectangle 50"/>
          <p:cNvSpPr/>
          <p:nvPr/>
        </p:nvSpPr>
        <p:spPr>
          <a:xfrm>
            <a:off x="411480" y="5943600"/>
            <a:ext cx="11384280" cy="457200"/>
          </a:xfrm>
          <a:prstGeom prst="rect">
            <a:avLst/>
          </a:prstGeom>
          <a:solidFill>
            <a:srgbClr val="FFFFFF"/>
          </a:solidFill>
          <a:ln w="7620">
            <a:solidFill>
              <a:srgbClr val="2A7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 y="6035040"/>
            <a:ext cx="10972800" cy="292608"/>
          </a:xfrm>
          <a:prstGeom prst="rect">
            <a:avLst/>
          </a:prstGeom>
          <a:noFill/>
        </p:spPr>
        <p:txBody>
          <a:bodyPr wrap="square">
            <a:spAutoFit/>
          </a:bodyPr>
          <a:lstStyle/>
          <a:p>
            <a:pPr algn="l"/>
            <a:r>
              <a:rPr sz="950" b="0" i="0">
                <a:solidFill>
                  <a:srgbClr val="3A4356"/>
                </a:solidFill>
              </a:rPr>
              <a:t>The common thread:  AI never sets a price, on or off. Every number stays arithmetic you can check.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15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CHECKS AND PROOF</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The Tool Checks Itself — and Says What Is Proven</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It checks every result before you see it, shows how unsure it is, and learns from real prices.</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28800"/>
            <a:ext cx="5074920" cy="14173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828800"/>
            <a:ext cx="54864" cy="141732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 y="1901952"/>
            <a:ext cx="4892040" cy="256032"/>
          </a:xfrm>
          <a:prstGeom prst="rect">
            <a:avLst/>
          </a:prstGeom>
          <a:noFill/>
        </p:spPr>
        <p:txBody>
          <a:bodyPr wrap="square">
            <a:spAutoFit/>
          </a:bodyPr>
          <a:lstStyle/>
          <a:p>
            <a:pPr algn="l"/>
            <a:r>
              <a:rPr sz="1050" b="1" i="0">
                <a:solidFill>
                  <a:srgbClr val="16325C"/>
                </a:solidFill>
              </a:rPr>
              <a:t>It checks its own work</a:t>
            </a:r>
          </a:p>
        </p:txBody>
      </p:sp>
      <p:sp>
        <p:nvSpPr>
          <p:cNvPr id="14" name="TextBox 13"/>
          <p:cNvSpPr txBox="1"/>
          <p:nvPr/>
        </p:nvSpPr>
        <p:spPr>
          <a:xfrm>
            <a:off x="539496" y="2194560"/>
            <a:ext cx="4892040" cy="960120"/>
          </a:xfrm>
          <a:prstGeom prst="rect">
            <a:avLst/>
          </a:prstGeom>
          <a:noFill/>
        </p:spPr>
        <p:txBody>
          <a:bodyPr wrap="square">
            <a:spAutoFit/>
          </a:bodyPr>
          <a:lstStyle/>
          <a:p>
            <a:pPr algn="l"/>
            <a:r>
              <a:rPr sz="950" b="0" i="0">
                <a:solidFill>
                  <a:srgbClr val="3A4356"/>
                </a:solidFill>
              </a:rPr>
              <a:t>A self-audit runs on every result. It flags a wrong machine size, tooling spread over the wrong volume, a material-only costing, implausible cycle times, and more.</a:t>
            </a:r>
          </a:p>
        </p:txBody>
      </p:sp>
      <p:sp>
        <p:nvSpPr>
          <p:cNvPr id="15" name="Rectangle 14"/>
          <p:cNvSpPr/>
          <p:nvPr/>
        </p:nvSpPr>
        <p:spPr>
          <a:xfrm>
            <a:off x="411480" y="3310128"/>
            <a:ext cx="5074920" cy="14173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310128"/>
            <a:ext cx="54864" cy="1417320"/>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3383280"/>
            <a:ext cx="4892040" cy="256032"/>
          </a:xfrm>
          <a:prstGeom prst="rect">
            <a:avLst/>
          </a:prstGeom>
          <a:noFill/>
        </p:spPr>
        <p:txBody>
          <a:bodyPr wrap="square">
            <a:spAutoFit/>
          </a:bodyPr>
          <a:lstStyle/>
          <a:p>
            <a:pPr algn="l"/>
            <a:r>
              <a:rPr sz="1050" b="1" i="0">
                <a:solidFill>
                  <a:srgbClr val="16325C"/>
                </a:solidFill>
              </a:rPr>
              <a:t>It shows how unsure it is</a:t>
            </a:r>
          </a:p>
        </p:txBody>
      </p:sp>
      <p:sp>
        <p:nvSpPr>
          <p:cNvPr id="18" name="TextBox 17"/>
          <p:cNvSpPr txBox="1"/>
          <p:nvPr/>
        </p:nvSpPr>
        <p:spPr>
          <a:xfrm>
            <a:off x="539496" y="3675888"/>
            <a:ext cx="4892040" cy="960120"/>
          </a:xfrm>
          <a:prstGeom prst="rect">
            <a:avLst/>
          </a:prstGeom>
          <a:noFill/>
        </p:spPr>
        <p:txBody>
          <a:bodyPr wrap="square">
            <a:spAutoFit/>
          </a:bodyPr>
          <a:lstStyle/>
          <a:p>
            <a:pPr algn="l"/>
            <a:r>
              <a:rPr sz="950" b="0" i="0">
                <a:solidFill>
                  <a:srgbClr val="3A4356"/>
                </a:solidFill>
              </a:rPr>
              <a:t>Every result carries a P10–P90 band from a Monte Carlo run over every cost driver, including flat material prices.</a:t>
            </a:r>
          </a:p>
        </p:txBody>
      </p:sp>
      <p:sp>
        <p:nvSpPr>
          <p:cNvPr id="19" name="Rectangle 18"/>
          <p:cNvSpPr/>
          <p:nvPr/>
        </p:nvSpPr>
        <p:spPr>
          <a:xfrm>
            <a:off x="411480" y="4791456"/>
            <a:ext cx="5074920" cy="14173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4791456"/>
            <a:ext cx="54864" cy="1417320"/>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9496" y="4864608"/>
            <a:ext cx="4892040" cy="256032"/>
          </a:xfrm>
          <a:prstGeom prst="rect">
            <a:avLst/>
          </a:prstGeom>
          <a:noFill/>
        </p:spPr>
        <p:txBody>
          <a:bodyPr wrap="square">
            <a:spAutoFit/>
          </a:bodyPr>
          <a:lstStyle/>
          <a:p>
            <a:pPr algn="l"/>
            <a:r>
              <a:rPr sz="1050" b="1" i="0">
                <a:solidFill>
                  <a:srgbClr val="16325C"/>
                </a:solidFill>
              </a:rPr>
              <a:t>It learns from real prices</a:t>
            </a:r>
          </a:p>
        </p:txBody>
      </p:sp>
      <p:sp>
        <p:nvSpPr>
          <p:cNvPr id="22" name="TextBox 21"/>
          <p:cNvSpPr txBox="1"/>
          <p:nvPr/>
        </p:nvSpPr>
        <p:spPr>
          <a:xfrm>
            <a:off x="539496" y="5157216"/>
            <a:ext cx="4892040" cy="960120"/>
          </a:xfrm>
          <a:prstGeom prst="rect">
            <a:avLst/>
          </a:prstGeom>
          <a:noFill/>
        </p:spPr>
        <p:txBody>
          <a:bodyPr wrap="square">
            <a:spAutoFit/>
          </a:bodyPr>
          <a:lstStyle/>
          <a:p>
            <a:pPr algn="l"/>
            <a:r>
              <a:rPr sz="950" b="0" i="0">
                <a:solidFill>
                  <a:srgbClr val="3A4356"/>
                </a:solidFill>
              </a:rPr>
              <a:t>Log a real quote or PO price with "Log Actual £". After 3 actuals for a commodity, the band is corrected by real data.</a:t>
            </a:r>
          </a:p>
        </p:txBody>
      </p:sp>
      <p:sp>
        <p:nvSpPr>
          <p:cNvPr id="23" name="Rectangle 22"/>
          <p:cNvSpPr/>
          <p:nvPr/>
        </p:nvSpPr>
        <p:spPr>
          <a:xfrm>
            <a:off x="5806440" y="1828800"/>
            <a:ext cx="5989320" cy="3657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06440" y="1920240"/>
            <a:ext cx="5989320" cy="274320"/>
          </a:xfrm>
          <a:prstGeom prst="rect">
            <a:avLst/>
          </a:prstGeom>
          <a:noFill/>
        </p:spPr>
        <p:txBody>
          <a:bodyPr wrap="square">
            <a:spAutoFit/>
          </a:bodyPr>
          <a:lstStyle/>
          <a:p>
            <a:pPr algn="l"/>
            <a:r>
              <a:rPr sz="1050" b="1" i="0">
                <a:solidFill>
                  <a:srgbClr val="2A7F50"/>
                </a:solidFill>
              </a:rPr>
              <a:t>What is proven — and what is not</a:t>
            </a:r>
          </a:p>
        </p:txBody>
      </p:sp>
      <p:sp>
        <p:nvSpPr>
          <p:cNvPr id="25" name="TextBox 24"/>
          <p:cNvSpPr txBox="1"/>
          <p:nvPr/>
        </p:nvSpPr>
        <p:spPr>
          <a:xfrm>
            <a:off x="5806440" y="2212848"/>
            <a:ext cx="5989320" cy="256032"/>
          </a:xfrm>
          <a:prstGeom prst="rect">
            <a:avLst/>
          </a:prstGeom>
          <a:noFill/>
        </p:spPr>
        <p:txBody>
          <a:bodyPr wrap="square">
            <a:spAutoFit/>
          </a:bodyPr>
          <a:lstStyle/>
          <a:p>
            <a:pPr algn="l"/>
            <a:r>
              <a:rPr sz="850" b="0" i="0">
                <a:solidFill>
                  <a:srgbClr val="3A4356"/>
                </a:solidFill>
              </a:rPr>
              <a:t>Status as of September 2026.</a:t>
            </a:r>
          </a:p>
        </p:txBody>
      </p:sp>
      <p:graphicFrame>
        <p:nvGraphicFramePr>
          <p:cNvPr id="26" name="Table 25"/>
          <p:cNvGraphicFramePr>
            <a:graphicFrameLocks noGrp="1"/>
          </p:cNvGraphicFramePr>
          <p:nvPr/>
        </p:nvGraphicFramePr>
        <p:xfrm>
          <a:off x="5806440" y="2542032"/>
          <a:ext cx="5989320" cy="2194560"/>
        </p:xfrm>
        <a:graphic>
          <a:graphicData uri="http://schemas.openxmlformats.org/drawingml/2006/table">
            <a:tbl>
              <a:tblPr firstRow="1" bandRow="1">
                <a:tableStyleId>{5C22544A-7EE6-4342-B048-85BDC9FD1C3A}</a:tableStyleId>
              </a:tblPr>
              <a:tblGrid>
                <a:gridCol w="1325880"/>
                <a:gridCol w="1600200"/>
                <a:gridCol w="2103120"/>
                <a:gridCol w="960120"/>
              </a:tblGrid>
              <a:tr h="438912">
                <a:tc>
                  <a:txBody>
                    <a:bodyPr/>
                    <a:lstStyle/>
                    <a:p>
                      <a:pPr algn="l"/>
                      <a:r>
                        <a:rPr sz="750" b="1">
                          <a:solidFill>
                            <a:srgbClr val="FFFFFF"/>
                          </a:solidFill>
                        </a:rPr>
                        <a:t>Check</a:t>
                      </a:r>
                    </a:p>
                  </a:txBody>
                  <a:tcPr>
                    <a:solidFill>
                      <a:srgbClr val="16325C"/>
                    </a:solidFill>
                  </a:tcPr>
                </a:tc>
                <a:tc>
                  <a:txBody>
                    <a:bodyPr/>
                    <a:lstStyle/>
                    <a:p>
                      <a:pPr algn="l"/>
                      <a:r>
                        <a:rPr sz="750" b="1">
                          <a:solidFill>
                            <a:srgbClr val="FFFFFF"/>
                          </a:solidFill>
                        </a:rPr>
                        <a:t>Evidence</a:t>
                      </a:r>
                    </a:p>
                  </a:txBody>
                  <a:tcPr>
                    <a:solidFill>
                      <a:srgbClr val="16325C"/>
                    </a:solidFill>
                  </a:tcPr>
                </a:tc>
                <a:tc>
                  <a:txBody>
                    <a:bodyPr/>
                    <a:lstStyle/>
                    <a:p>
                      <a:pPr algn="l"/>
                      <a:r>
                        <a:rPr sz="750" b="1">
                          <a:solidFill>
                            <a:srgbClr val="FFFFFF"/>
                          </a:solidFill>
                        </a:rPr>
                        <a:t>What it shows</a:t>
                      </a:r>
                    </a:p>
                  </a:txBody>
                  <a:tcPr>
                    <a:solidFill>
                      <a:srgbClr val="16325C"/>
                    </a:solidFill>
                  </a:tcPr>
                </a:tc>
                <a:tc>
                  <a:txBody>
                    <a:bodyPr/>
                    <a:lstStyle/>
                    <a:p>
                      <a:pPr algn="l"/>
                      <a:r>
                        <a:rPr sz="750" b="1">
                          <a:solidFill>
                            <a:srgbClr val="FFFFFF"/>
                          </a:solidFill>
                        </a:rPr>
                        <a:t>Status</a:t>
                      </a:r>
                    </a:p>
                  </a:txBody>
                  <a:tcPr>
                    <a:solidFill>
                      <a:srgbClr val="16325C"/>
                    </a:solidFill>
                  </a:tcPr>
                </a:tc>
              </a:tr>
              <a:tr h="438912">
                <a:tc>
                  <a:txBody>
                    <a:bodyPr/>
                    <a:lstStyle/>
                    <a:p>
                      <a:pPr algn="l"/>
                      <a:r>
                        <a:rPr sz="750" b="1">
                          <a:solidFill>
                            <a:srgbClr val="1D6FB8"/>
                          </a:solidFill>
                        </a:rPr>
                        <a:t>Hand calculation</a:t>
                      </a:r>
                    </a:p>
                  </a:txBody>
                  <a:tcPr>
                    <a:solidFill>
                      <a:srgbClr val="FFFFFF"/>
                    </a:solidFill>
                  </a:tcPr>
                </a:tc>
                <a:tc>
                  <a:txBody>
                    <a:bodyPr/>
                    <a:lstStyle/>
                    <a:p>
                      <a:pPr algn="l"/>
                      <a:r>
                        <a:rPr sz="750">
                          <a:solidFill>
                            <a:srgbClr val="3A4356"/>
                          </a:solidFill>
                        </a:rPr>
                        <a:t>Reference bracket, £23.27</a:t>
                      </a:r>
                    </a:p>
                  </a:txBody>
                  <a:tcPr>
                    <a:solidFill>
                      <a:srgbClr val="FFFFFF"/>
                    </a:solidFill>
                  </a:tcPr>
                </a:tc>
                <a:tc>
                  <a:txBody>
                    <a:bodyPr/>
                    <a:lstStyle/>
                    <a:p>
                      <a:pPr algn="l"/>
                      <a:r>
                        <a:rPr sz="750">
                          <a:solidFill>
                            <a:srgbClr val="3A4356"/>
                          </a:solidFill>
                        </a:rPr>
                        <a:t>Engine arithmetic matches to &lt;0.01%</a:t>
                      </a:r>
                    </a:p>
                  </a:txBody>
                  <a:tcPr>
                    <a:solidFill>
                      <a:srgbClr val="FFFFFF"/>
                    </a:solidFill>
                  </a:tcPr>
                </a:tc>
                <a:tc>
                  <a:txBody>
                    <a:bodyPr/>
                    <a:lstStyle/>
                    <a:p>
                      <a:pPr algn="l"/>
                      <a:r>
                        <a:rPr sz="750" b="1">
                          <a:solidFill>
                            <a:srgbClr val="2A7F50"/>
                          </a:solidFill>
                        </a:rPr>
                        <a:t>Proven</a:t>
                      </a:r>
                    </a:p>
                  </a:txBody>
                  <a:tcPr>
                    <a:solidFill>
                      <a:srgbClr val="FFFFFF"/>
                    </a:solidFill>
                  </a:tcPr>
                </a:tc>
              </a:tr>
              <a:tr h="438912">
                <a:tc>
                  <a:txBody>
                    <a:bodyPr/>
                    <a:lstStyle/>
                    <a:p>
                      <a:pPr algn="l"/>
                      <a:r>
                        <a:rPr sz="750" b="1">
                          <a:solidFill>
                            <a:srgbClr val="1D6FB8"/>
                          </a:solidFill>
                        </a:rPr>
                        <a:t>Real-parts baseline</a:t>
                      </a:r>
                    </a:p>
                  </a:txBody>
                  <a:tcPr>
                    <a:solidFill>
                      <a:srgbClr val="F7F9FC"/>
                    </a:solidFill>
                  </a:tcPr>
                </a:tc>
                <a:tc>
                  <a:txBody>
                    <a:bodyPr/>
                    <a:lstStyle/>
                    <a:p>
                      <a:pPr algn="l"/>
                      <a:r>
                        <a:rPr sz="750">
                          <a:solidFill>
                            <a:srgbClr val="3A4356"/>
                          </a:solidFill>
                        </a:rPr>
                        <a:t>6 production parts pinned</a:t>
                      </a:r>
                    </a:p>
                  </a:txBody>
                  <a:tcPr>
                    <a:solidFill>
                      <a:srgbClr val="F7F9FC"/>
                    </a:solidFill>
                  </a:tcPr>
                </a:tc>
                <a:tc>
                  <a:txBody>
                    <a:bodyPr/>
                    <a:lstStyle/>
                    <a:p>
                      <a:pPr algn="l"/>
                      <a:r>
                        <a:rPr sz="750">
                          <a:solidFill>
                            <a:srgbClr val="3A4356"/>
                          </a:solidFill>
                        </a:rPr>
                        <a:t>A change that moves one fails the build</a:t>
                      </a:r>
                    </a:p>
                  </a:txBody>
                  <a:tcPr>
                    <a:solidFill>
                      <a:srgbClr val="F7F9FC"/>
                    </a:solidFill>
                  </a:tcPr>
                </a:tc>
                <a:tc>
                  <a:txBody>
                    <a:bodyPr/>
                    <a:lstStyle/>
                    <a:p>
                      <a:pPr algn="l"/>
                      <a:r>
                        <a:rPr sz="750" b="1">
                          <a:solidFill>
                            <a:srgbClr val="2A7F50"/>
                          </a:solidFill>
                        </a:rPr>
                        <a:t>In place</a:t>
                      </a:r>
                    </a:p>
                  </a:txBody>
                  <a:tcPr>
                    <a:solidFill>
                      <a:srgbClr val="F7F9FC"/>
                    </a:solidFill>
                  </a:tcPr>
                </a:tc>
              </a:tr>
              <a:tr h="438912">
                <a:tc>
                  <a:txBody>
                    <a:bodyPr/>
                    <a:lstStyle/>
                    <a:p>
                      <a:pPr algn="l"/>
                      <a:r>
                        <a:rPr sz="750" b="1">
                          <a:solidFill>
                            <a:srgbClr val="1D6FB8"/>
                          </a:solidFill>
                        </a:rPr>
                        <a:t>Automated tests</a:t>
                      </a:r>
                    </a:p>
                  </a:txBody>
                  <a:tcPr>
                    <a:solidFill>
                      <a:srgbClr val="FFFFFF"/>
                    </a:solidFill>
                  </a:tcPr>
                </a:tc>
                <a:tc>
                  <a:txBody>
                    <a:bodyPr/>
                    <a:lstStyle/>
                    <a:p>
                      <a:pPr algn="l"/>
                      <a:r>
                        <a:rPr sz="750">
                          <a:solidFill>
                            <a:srgbClr val="3A4356"/>
                          </a:solidFill>
                        </a:rPr>
                        <a:t>2,438 tests + browser tests</a:t>
                      </a:r>
                    </a:p>
                  </a:txBody>
                  <a:tcPr>
                    <a:solidFill>
                      <a:srgbClr val="FFFFFF"/>
                    </a:solidFill>
                  </a:tcPr>
                </a:tc>
                <a:tc>
                  <a:txBody>
                    <a:bodyPr/>
                    <a:lstStyle/>
                    <a:p>
                      <a:pPr algn="l"/>
                      <a:r>
                        <a:rPr sz="750">
                          <a:solidFill>
                            <a:srgbClr val="3A4356"/>
                          </a:solidFill>
                        </a:rPr>
                        <a:t>Every commodity, exports, STL, accessibility</a:t>
                      </a:r>
                    </a:p>
                  </a:txBody>
                  <a:tcPr>
                    <a:solidFill>
                      <a:srgbClr val="FFFFFF"/>
                    </a:solidFill>
                  </a:tcPr>
                </a:tc>
                <a:tc>
                  <a:txBody>
                    <a:bodyPr/>
                    <a:lstStyle/>
                    <a:p>
                      <a:pPr algn="l"/>
                      <a:r>
                        <a:rPr sz="750" b="1">
                          <a:solidFill>
                            <a:srgbClr val="2A7F50"/>
                          </a:solidFill>
                        </a:rPr>
                        <a:t>Every run</a:t>
                      </a:r>
                    </a:p>
                  </a:txBody>
                  <a:tcPr>
                    <a:solidFill>
                      <a:srgbClr val="FFFFFF"/>
                    </a:solidFill>
                  </a:tcPr>
                </a:tc>
              </a:tr>
              <a:tr h="438912">
                <a:tc>
                  <a:txBody>
                    <a:bodyPr/>
                    <a:lstStyle/>
                    <a:p>
                      <a:pPr algn="l"/>
                      <a:r>
                        <a:rPr sz="750" b="1">
                          <a:solidFill>
                            <a:srgbClr val="1D6FB8"/>
                          </a:solidFill>
                        </a:rPr>
                        <a:t>JLR-paid prices</a:t>
                      </a:r>
                    </a:p>
                  </a:txBody>
                  <a:tcPr>
                    <a:solidFill>
                      <a:srgbClr val="F7F9FC"/>
                    </a:solidFill>
                  </a:tcPr>
                </a:tc>
                <a:tc>
                  <a:txBody>
                    <a:bodyPr/>
                    <a:lstStyle/>
                    <a:p>
                      <a:pPr algn="l"/>
                      <a:r>
                        <a:rPr sz="750" b="1">
                          <a:solidFill>
                            <a:srgbClr val="B03A2E"/>
                          </a:solidFill>
                        </a:rPr>
                        <a:t>None compared yet</a:t>
                      </a:r>
                    </a:p>
                  </a:txBody>
                  <a:tcPr>
                    <a:solidFill>
                      <a:srgbClr val="F7F9FC"/>
                    </a:solidFill>
                  </a:tcPr>
                </a:tc>
                <a:tc>
                  <a:txBody>
                    <a:bodyPr/>
                    <a:lstStyle/>
                    <a:p>
                      <a:pPr algn="l"/>
                      <a:r>
                        <a:rPr sz="750">
                          <a:solidFill>
                            <a:srgbClr val="3A4356"/>
                          </a:solidFill>
                        </a:rPr>
                        <a:t>Measured as actuals are logged</a:t>
                      </a:r>
                    </a:p>
                  </a:txBody>
                  <a:tcPr>
                    <a:solidFill>
                      <a:srgbClr val="F7F9FC"/>
                    </a:solidFill>
                  </a:tcPr>
                </a:tc>
                <a:tc>
                  <a:txBody>
                    <a:bodyPr/>
                    <a:lstStyle/>
                    <a:p>
                      <a:pPr algn="l"/>
                      <a:r>
                        <a:rPr sz="750" b="1">
                          <a:solidFill>
                            <a:srgbClr val="B03A2E"/>
                          </a:solidFill>
                        </a:rPr>
                        <a:t>Not proven</a:t>
                      </a:r>
                    </a:p>
                  </a:txBody>
                  <a:tcPr>
                    <a:solidFill>
                      <a:srgbClr val="F7F9FC"/>
                    </a:solidFill>
                  </a:tcPr>
                </a:tc>
              </a:tr>
            </a:tbl>
          </a:graphicData>
        </a:graphic>
      </p:graphicFrame>
      <p:sp>
        <p:nvSpPr>
          <p:cNvPr id="27" name="Rectangle 26"/>
          <p:cNvSpPr/>
          <p:nvPr/>
        </p:nvSpPr>
        <p:spPr>
          <a:xfrm>
            <a:off x="5806440" y="5029200"/>
            <a:ext cx="5989320" cy="129844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06440" y="5029200"/>
            <a:ext cx="54864" cy="1298448"/>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52744" y="5102352"/>
            <a:ext cx="5760720" cy="256032"/>
          </a:xfrm>
          <a:prstGeom prst="rect">
            <a:avLst/>
          </a:prstGeom>
          <a:noFill/>
        </p:spPr>
        <p:txBody>
          <a:bodyPr wrap="square">
            <a:spAutoFit/>
          </a:bodyPr>
          <a:lstStyle/>
          <a:p>
            <a:pPr algn="l"/>
            <a:r>
              <a:rPr sz="1000" b="1" i="0">
                <a:solidFill>
                  <a:srgbClr val="16325C"/>
                </a:solidFill>
              </a:rPr>
              <a:t>Built to be checked, not just believed</a:t>
            </a:r>
          </a:p>
        </p:txBody>
      </p:sp>
      <p:sp>
        <p:nvSpPr>
          <p:cNvPr id="30" name="Rectangle 29"/>
          <p:cNvSpPr/>
          <p:nvPr/>
        </p:nvSpPr>
        <p:spPr>
          <a:xfrm>
            <a:off x="5989320" y="5513832"/>
            <a:ext cx="54864" cy="5486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53912" y="5413248"/>
            <a:ext cx="5486400" cy="274320"/>
          </a:xfrm>
          <a:prstGeom prst="rect">
            <a:avLst/>
          </a:prstGeom>
          <a:noFill/>
        </p:spPr>
        <p:txBody>
          <a:bodyPr wrap="square">
            <a:spAutoFit/>
          </a:bodyPr>
          <a:lstStyle/>
          <a:p>
            <a:pPr algn="l"/>
            <a:r>
              <a:rPr sz="900" b="0" i="0">
                <a:solidFill>
                  <a:srgbClr val="3A4356"/>
                </a:solidFill>
              </a:rPr>
              <a:t>2,438 automated tests — if the logic breaks, the build fails</a:t>
            </a:r>
          </a:p>
        </p:txBody>
      </p:sp>
      <p:sp>
        <p:nvSpPr>
          <p:cNvPr id="32" name="Rectangle 31"/>
          <p:cNvSpPr/>
          <p:nvPr/>
        </p:nvSpPr>
        <p:spPr>
          <a:xfrm>
            <a:off x="5989320" y="5806440"/>
            <a:ext cx="54864" cy="5486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53912" y="5705856"/>
            <a:ext cx="5486400" cy="274320"/>
          </a:xfrm>
          <a:prstGeom prst="rect">
            <a:avLst/>
          </a:prstGeom>
          <a:noFill/>
        </p:spPr>
        <p:txBody>
          <a:bodyPr wrap="square">
            <a:spAutoFit/>
          </a:bodyPr>
          <a:lstStyle/>
          <a:p>
            <a:pPr algn="l"/>
            <a:r>
              <a:rPr sz="900" b="0" i="0">
                <a:solidFill>
                  <a:srgbClr val="3A4356"/>
                </a:solidFill>
              </a:rPr>
              <a:t>Browser tests cost every commodity and check accessibility on every run</a:t>
            </a:r>
          </a:p>
        </p:txBody>
      </p:sp>
      <p:sp>
        <p:nvSpPr>
          <p:cNvPr id="34" name="Rectangle 33"/>
          <p:cNvSpPr/>
          <p:nvPr/>
        </p:nvSpPr>
        <p:spPr>
          <a:xfrm>
            <a:off x="5989320" y="6099048"/>
            <a:ext cx="54864" cy="5486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53912" y="5998464"/>
            <a:ext cx="5486400" cy="274320"/>
          </a:xfrm>
          <a:prstGeom prst="rect">
            <a:avLst/>
          </a:prstGeom>
          <a:noFill/>
        </p:spPr>
        <p:txBody>
          <a:bodyPr wrap="square">
            <a:spAutoFit/>
          </a:bodyPr>
          <a:lstStyle/>
          <a:p>
            <a:pPr algn="l"/>
            <a:r>
              <a:rPr sz="900" b="0" i="0">
                <a:solidFill>
                  <a:srgbClr val="3A4356"/>
                </a:solidFill>
              </a:rPr>
              <a:t>The CAD engine is tested inside the image we ship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16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REAL PARTS · REGRESSION BASELINE</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Six Real Production Parts — Pinned in the Build</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Measured from real CAD and costed by the product's own chain, at UK rates. Move one, and the build fails.</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graphicFrame>
        <p:nvGraphicFramePr>
          <p:cNvPr id="11" name="Table 10"/>
          <p:cNvGraphicFramePr>
            <a:graphicFrameLocks noGrp="1"/>
          </p:cNvGraphicFramePr>
          <p:nvPr/>
        </p:nvGraphicFramePr>
        <p:xfrm>
          <a:off x="411480" y="1810512"/>
          <a:ext cx="11384279" cy="3566160"/>
        </p:xfrm>
        <a:graphic>
          <a:graphicData uri="http://schemas.openxmlformats.org/drawingml/2006/table">
            <a:tbl>
              <a:tblPr firstRow="1" bandRow="1">
                <a:tableStyleId>{5C22544A-7EE6-4342-B048-85BDC9FD1C3A}</a:tableStyleId>
              </a:tblPr>
              <a:tblGrid>
                <a:gridCol w="1417320"/>
                <a:gridCol w="1463040"/>
                <a:gridCol w="1691640"/>
                <a:gridCol w="868680"/>
                <a:gridCol w="2194560"/>
                <a:gridCol w="3749039"/>
              </a:tblGrid>
              <a:tr h="509451">
                <a:tc>
                  <a:txBody>
                    <a:bodyPr/>
                    <a:lstStyle/>
                    <a:p>
                      <a:pPr algn="l"/>
                      <a:r>
                        <a:rPr sz="750" b="1">
                          <a:solidFill>
                            <a:srgbClr val="FFFFFF"/>
                          </a:solidFill>
                        </a:rPr>
                        <a:t>Part</a:t>
                      </a:r>
                    </a:p>
                  </a:txBody>
                  <a:tcPr>
                    <a:solidFill>
                      <a:srgbClr val="16325C"/>
                    </a:solidFill>
                  </a:tcPr>
                </a:tc>
                <a:tc>
                  <a:txBody>
                    <a:bodyPr/>
                    <a:lstStyle/>
                    <a:p>
                      <a:pPr algn="l"/>
                      <a:r>
                        <a:rPr sz="750" b="1">
                          <a:solidFill>
                            <a:srgbClr val="FFFFFF"/>
                          </a:solidFill>
                        </a:rPr>
                        <a:t>What it is</a:t>
                      </a:r>
                    </a:p>
                  </a:txBody>
                  <a:tcPr>
                    <a:solidFill>
                      <a:srgbClr val="16325C"/>
                    </a:solidFill>
                  </a:tcPr>
                </a:tc>
                <a:tc>
                  <a:txBody>
                    <a:bodyPr/>
                    <a:lstStyle/>
                    <a:p>
                      <a:pPr algn="l"/>
                      <a:r>
                        <a:rPr sz="750" b="1">
                          <a:solidFill>
                            <a:srgbClr val="FFFFFF"/>
                          </a:solidFill>
                        </a:rPr>
                        <a:t>Route (engineer's answer)</a:t>
                      </a:r>
                    </a:p>
                  </a:txBody>
                  <a:tcPr>
                    <a:solidFill>
                      <a:srgbClr val="16325C"/>
                    </a:solidFill>
                  </a:tcPr>
                </a:tc>
                <a:tc>
                  <a:txBody>
                    <a:bodyPr/>
                    <a:lstStyle/>
                    <a:p>
                      <a:pPr algn="l"/>
                      <a:r>
                        <a:rPr sz="750" b="1">
                          <a:solidFill>
                            <a:srgbClr val="FFFFFF"/>
                          </a:solidFill>
                        </a:rPr>
                        <a:t>Should-cost</a:t>
                      </a:r>
                    </a:p>
                  </a:txBody>
                  <a:tcPr>
                    <a:solidFill>
                      <a:srgbClr val="16325C"/>
                    </a:solidFill>
                  </a:tcPr>
                </a:tc>
                <a:tc>
                  <a:txBody>
                    <a:bodyPr/>
                    <a:lstStyle/>
                    <a:p>
                      <a:pPr algn="l"/>
                      <a:r>
                        <a:rPr sz="750" b="1">
                          <a:solidFill>
                            <a:srgbClr val="FFFFFF"/>
                          </a:solidFill>
                        </a:rPr>
                        <a:t>Measured</a:t>
                      </a:r>
                    </a:p>
                  </a:txBody>
                  <a:tcPr>
                    <a:solidFill>
                      <a:srgbClr val="16325C"/>
                    </a:solidFill>
                  </a:tcPr>
                </a:tc>
                <a:tc>
                  <a:txBody>
                    <a:bodyPr/>
                    <a:lstStyle/>
                    <a:p>
                      <a:pPr algn="l"/>
                      <a:r>
                        <a:rPr sz="750" b="1">
                          <a:solidFill>
                            <a:srgbClr val="FFFFFF"/>
                          </a:solidFill>
                        </a:rPr>
                        <a:t>Why this route</a:t>
                      </a:r>
                    </a:p>
                  </a:txBody>
                  <a:tcPr>
                    <a:solidFill>
                      <a:srgbClr val="16325C"/>
                    </a:solidFill>
                  </a:tcPr>
                </a:tc>
              </a:tr>
              <a:tr h="509451">
                <a:tc>
                  <a:txBody>
                    <a:bodyPr/>
                    <a:lstStyle/>
                    <a:p>
                      <a:pPr algn="l"/>
                      <a:r>
                        <a:rPr sz="750" b="1">
                          <a:solidFill>
                            <a:srgbClr val="1D6FB8"/>
                          </a:solidFill>
                        </a:rPr>
                        <a:t>Steering knuckle</a:t>
                      </a:r>
                    </a:p>
                  </a:txBody>
                  <a:tcPr>
                    <a:solidFill>
                      <a:srgbClr val="FFFFFF"/>
                    </a:solidFill>
                  </a:tcPr>
                </a:tc>
                <a:tc>
                  <a:txBody>
                    <a:bodyPr/>
                    <a:lstStyle/>
                    <a:p>
                      <a:pPr algn="l"/>
                      <a:r>
                        <a:rPr sz="750">
                          <a:solidFill>
                            <a:srgbClr val="3A4356"/>
                          </a:solidFill>
                        </a:rPr>
                        <a:t>Suspension upright, RH</a:t>
                      </a:r>
                    </a:p>
                  </a:txBody>
                  <a:tcPr>
                    <a:solidFill>
                      <a:srgbClr val="FFFFFF"/>
                    </a:solidFill>
                  </a:tcPr>
                </a:tc>
                <a:tc>
                  <a:txBody>
                    <a:bodyPr/>
                    <a:lstStyle/>
                    <a:p>
                      <a:pPr algn="l"/>
                      <a:r>
                        <a:rPr sz="750">
                          <a:solidFill>
                            <a:srgbClr val="3A4356"/>
                          </a:solidFill>
                        </a:rPr>
                        <a:t>Forging, steel</a:t>
                      </a:r>
                    </a:p>
                  </a:txBody>
                  <a:tcPr>
                    <a:solidFill>
                      <a:srgbClr val="FFFFFF"/>
                    </a:solidFill>
                  </a:tcPr>
                </a:tc>
                <a:tc>
                  <a:txBody>
                    <a:bodyPr/>
                    <a:lstStyle/>
                    <a:p>
                      <a:pPr algn="l"/>
                      <a:r>
                        <a:rPr sz="750" b="1">
                          <a:solidFill>
                            <a:srgbClr val="2A7F50"/>
                          </a:solidFill>
                        </a:rPr>
                        <a:t>£ 32.16</a:t>
                      </a:r>
                    </a:p>
                  </a:txBody>
                  <a:tcPr>
                    <a:solidFill>
                      <a:srgbClr val="FFFFFF"/>
                    </a:solidFill>
                  </a:tcPr>
                </a:tc>
                <a:tc>
                  <a:txBody>
                    <a:bodyPr/>
                    <a:lstStyle/>
                    <a:p>
                      <a:pPr algn="l"/>
                      <a:r>
                        <a:rPr sz="750">
                          <a:solidFill>
                            <a:srgbClr val="3A4356"/>
                          </a:solidFill>
                        </a:rPr>
                        <a:t>9.0 mm bulk wall · 6% fill</a:t>
                      </a:r>
                    </a:p>
                  </a:txBody>
                  <a:tcPr>
                    <a:solidFill>
                      <a:srgbClr val="FFFFFF"/>
                    </a:solidFill>
                  </a:tcPr>
                </a:tc>
                <a:tc>
                  <a:txBody>
                    <a:bodyPr/>
                    <a:lstStyle/>
                    <a:p>
                      <a:pPr algn="l"/>
                      <a:r>
                        <a:rPr sz="750">
                          <a:solidFill>
                            <a:srgbClr val="3A4356"/>
                          </a:solidFill>
                        </a:rPr>
                        <a:t>Safety-critical, so forged; bore and faces machined after</a:t>
                      </a:r>
                    </a:p>
                  </a:txBody>
                  <a:tcPr>
                    <a:solidFill>
                      <a:srgbClr val="FFFFFF"/>
                    </a:solidFill>
                  </a:tcPr>
                </a:tc>
              </a:tr>
              <a:tr h="509451">
                <a:tc>
                  <a:txBody>
                    <a:bodyPr/>
                    <a:lstStyle/>
                    <a:p>
                      <a:pPr algn="l"/>
                      <a:r>
                        <a:rPr sz="750" b="1">
                          <a:solidFill>
                            <a:srgbClr val="1D6FB8"/>
                          </a:solidFill>
                        </a:rPr>
                        <a:t>Casting bracket</a:t>
                      </a:r>
                    </a:p>
                  </a:txBody>
                  <a:tcPr>
                    <a:solidFill>
                      <a:srgbClr val="F7F9FC"/>
                    </a:solidFill>
                  </a:tcPr>
                </a:tc>
                <a:tc>
                  <a:txBody>
                    <a:bodyPr/>
                    <a:lstStyle/>
                    <a:p>
                      <a:pPr algn="l"/>
                      <a:r>
                        <a:rPr sz="750">
                          <a:solidFill>
                            <a:srgbClr val="3A4356"/>
                          </a:solidFill>
                        </a:rPr>
                        <a:t>Mounting bracket</a:t>
                      </a:r>
                    </a:p>
                  </a:txBody>
                  <a:tcPr>
                    <a:solidFill>
                      <a:srgbClr val="F7F9FC"/>
                    </a:solidFill>
                  </a:tcPr>
                </a:tc>
                <a:tc>
                  <a:txBody>
                    <a:bodyPr/>
                    <a:lstStyle/>
                    <a:p>
                      <a:pPr algn="l"/>
                      <a:r>
                        <a:rPr sz="750">
                          <a:solidFill>
                            <a:srgbClr val="3A4356"/>
                          </a:solidFill>
                        </a:rPr>
                        <a:t>Cast + machine, steel</a:t>
                      </a:r>
                    </a:p>
                  </a:txBody>
                  <a:tcPr>
                    <a:solidFill>
                      <a:srgbClr val="F7F9FC"/>
                    </a:solidFill>
                  </a:tcPr>
                </a:tc>
                <a:tc>
                  <a:txBody>
                    <a:bodyPr/>
                    <a:lstStyle/>
                    <a:p>
                      <a:pPr algn="l"/>
                      <a:r>
                        <a:rPr sz="750" b="1">
                          <a:solidFill>
                            <a:srgbClr val="2A7F50"/>
                          </a:solidFill>
                        </a:rPr>
                        <a:t>£ 37.61</a:t>
                      </a:r>
                    </a:p>
                  </a:txBody>
                  <a:tcPr>
                    <a:solidFill>
                      <a:srgbClr val="F7F9FC"/>
                    </a:solidFill>
                  </a:tcPr>
                </a:tc>
                <a:tc>
                  <a:txBody>
                    <a:bodyPr/>
                    <a:lstStyle/>
                    <a:p>
                      <a:pPr algn="l"/>
                      <a:r>
                        <a:rPr sz="750">
                          <a:solidFill>
                            <a:srgbClr val="3A4356"/>
                          </a:solidFill>
                        </a:rPr>
                        <a:t>10.2 mm wall · 16% fill · 10 holes</a:t>
                      </a:r>
                    </a:p>
                  </a:txBody>
                  <a:tcPr>
                    <a:solidFill>
                      <a:srgbClr val="F7F9FC"/>
                    </a:solidFill>
                  </a:tcPr>
                </a:tc>
                <a:tc>
                  <a:txBody>
                    <a:bodyPr/>
                    <a:lstStyle/>
                    <a:p>
                      <a:pPr algn="l"/>
                      <a:r>
                        <a:rPr sz="750">
                          <a:solidFill>
                            <a:srgbClr val="3A4356"/>
                          </a:solidFill>
                        </a:rPr>
                        <a:t>Named as a casting; holes and threads to finish</a:t>
                      </a:r>
                    </a:p>
                  </a:txBody>
                  <a:tcPr>
                    <a:solidFill>
                      <a:srgbClr val="F7F9FC"/>
                    </a:solidFill>
                  </a:tcPr>
                </a:tc>
              </a:tr>
              <a:tr h="509451">
                <a:tc>
                  <a:txBody>
                    <a:bodyPr/>
                    <a:lstStyle/>
                    <a:p>
                      <a:pPr algn="l"/>
                      <a:r>
                        <a:rPr sz="750" b="1">
                          <a:solidFill>
                            <a:srgbClr val="1D6FB8"/>
                          </a:solidFill>
                        </a:rPr>
                        <a:t>PRCR002 housing</a:t>
                      </a:r>
                    </a:p>
                  </a:txBody>
                  <a:tcPr>
                    <a:solidFill>
                      <a:srgbClr val="FFFFFF"/>
                    </a:solidFill>
                  </a:tcPr>
                </a:tc>
                <a:tc>
                  <a:txBody>
                    <a:bodyPr/>
                    <a:lstStyle/>
                    <a:p>
                      <a:pPr algn="l"/>
                      <a:r>
                        <a:rPr sz="750">
                          <a:solidFill>
                            <a:srgbClr val="3A4356"/>
                          </a:solidFill>
                        </a:rPr>
                        <a:t>Cast housing, 277 mm</a:t>
                      </a:r>
                    </a:p>
                  </a:txBody>
                  <a:tcPr>
                    <a:solidFill>
                      <a:srgbClr val="FFFFFF"/>
                    </a:solidFill>
                  </a:tcPr>
                </a:tc>
                <a:tc>
                  <a:txBody>
                    <a:bodyPr/>
                    <a:lstStyle/>
                    <a:p>
                      <a:pPr algn="l"/>
                      <a:r>
                        <a:rPr sz="750">
                          <a:solidFill>
                            <a:srgbClr val="3A4356"/>
                          </a:solidFill>
                        </a:rPr>
                        <a:t>Cast + machine, aluminium</a:t>
                      </a:r>
                    </a:p>
                  </a:txBody>
                  <a:tcPr>
                    <a:solidFill>
                      <a:srgbClr val="FFFFFF"/>
                    </a:solidFill>
                  </a:tcPr>
                </a:tc>
                <a:tc>
                  <a:txBody>
                    <a:bodyPr/>
                    <a:lstStyle/>
                    <a:p>
                      <a:pPr algn="l"/>
                      <a:r>
                        <a:rPr sz="750" b="1">
                          <a:solidFill>
                            <a:srgbClr val="2A7F50"/>
                          </a:solidFill>
                        </a:rPr>
                        <a:t>£ 52.67</a:t>
                      </a:r>
                    </a:p>
                  </a:txBody>
                  <a:tcPr>
                    <a:solidFill>
                      <a:srgbClr val="FFFFFF"/>
                    </a:solidFill>
                  </a:tcPr>
                </a:tc>
                <a:tc>
                  <a:txBody>
                    <a:bodyPr/>
                    <a:lstStyle/>
                    <a:p>
                      <a:pPr algn="l"/>
                      <a:r>
                        <a:rPr sz="750">
                          <a:solidFill>
                            <a:srgbClr val="3A4356"/>
                          </a:solidFill>
                        </a:rPr>
                        <a:t>15.1 mm bulk wall · 9% fill</a:t>
                      </a:r>
                    </a:p>
                  </a:txBody>
                  <a:tcPr>
                    <a:solidFill>
                      <a:srgbClr val="FFFFFF"/>
                    </a:solidFill>
                  </a:tcPr>
                </a:tc>
                <a:tc>
                  <a:txBody>
                    <a:bodyPr/>
                    <a:lstStyle/>
                    <a:p>
                      <a:pPr algn="l"/>
                      <a:r>
                        <a:rPr sz="750">
                          <a:solidFill>
                            <a:srgbClr val="3A4356"/>
                          </a:solidFill>
                        </a:rPr>
                        <a:t>Assumed not pressure-tight — if it is, the cost rises</a:t>
                      </a:r>
                    </a:p>
                  </a:txBody>
                  <a:tcPr>
                    <a:solidFill>
                      <a:srgbClr val="FFFFFF"/>
                    </a:solidFill>
                  </a:tcPr>
                </a:tc>
              </a:tr>
              <a:tr h="509451">
                <a:tc>
                  <a:txBody>
                    <a:bodyPr/>
                    <a:lstStyle/>
                    <a:p>
                      <a:pPr algn="l"/>
                      <a:r>
                        <a:rPr sz="750" b="1">
                          <a:solidFill>
                            <a:srgbClr val="1D6FB8"/>
                          </a:solidFill>
                        </a:rPr>
                        <a:t>Part1</a:t>
                      </a:r>
                    </a:p>
                  </a:txBody>
                  <a:tcPr>
                    <a:solidFill>
                      <a:srgbClr val="F7F9FC"/>
                    </a:solidFill>
                  </a:tcPr>
                </a:tc>
                <a:tc>
                  <a:txBody>
                    <a:bodyPr/>
                    <a:lstStyle/>
                    <a:p>
                      <a:pPr algn="l"/>
                      <a:r>
                        <a:rPr sz="750">
                          <a:solidFill>
                            <a:srgbClr val="3A4356"/>
                          </a:solidFill>
                        </a:rPr>
                        <a:t>Machined part, 274 mm</a:t>
                      </a:r>
                    </a:p>
                  </a:txBody>
                  <a:tcPr>
                    <a:solidFill>
                      <a:srgbClr val="F7F9FC"/>
                    </a:solidFill>
                  </a:tcPr>
                </a:tc>
                <a:tc>
                  <a:txBody>
                    <a:bodyPr/>
                    <a:lstStyle/>
                    <a:p>
                      <a:pPr algn="l"/>
                      <a:r>
                        <a:rPr sz="750">
                          <a:solidFill>
                            <a:srgbClr val="3A4356"/>
                          </a:solidFill>
                        </a:rPr>
                        <a:t>Machining, aluminium</a:t>
                      </a:r>
                    </a:p>
                  </a:txBody>
                  <a:tcPr>
                    <a:solidFill>
                      <a:srgbClr val="F7F9FC"/>
                    </a:solidFill>
                  </a:tcPr>
                </a:tc>
                <a:tc>
                  <a:txBody>
                    <a:bodyPr/>
                    <a:lstStyle/>
                    <a:p>
                      <a:pPr algn="l"/>
                      <a:r>
                        <a:rPr sz="750" b="1">
                          <a:solidFill>
                            <a:srgbClr val="2A7F50"/>
                          </a:solidFill>
                        </a:rPr>
                        <a:t>£ 38.93</a:t>
                      </a:r>
                    </a:p>
                  </a:txBody>
                  <a:tcPr>
                    <a:solidFill>
                      <a:srgbClr val="F7F9FC"/>
                    </a:solidFill>
                  </a:tcPr>
                </a:tc>
                <a:tc>
                  <a:txBody>
                    <a:bodyPr/>
                    <a:lstStyle/>
                    <a:p>
                      <a:pPr algn="l"/>
                      <a:r>
                        <a:rPr sz="750">
                          <a:solidFill>
                            <a:srgbClr val="3A4356"/>
                          </a:solidFill>
                        </a:rPr>
                        <a:t>10.4 mm bulk wall · 23% fill</a:t>
                      </a:r>
                    </a:p>
                  </a:txBody>
                  <a:tcPr>
                    <a:solidFill>
                      <a:srgbClr val="F7F9FC"/>
                    </a:solidFill>
                  </a:tcPr>
                </a:tc>
                <a:tc>
                  <a:txBody>
                    <a:bodyPr/>
                    <a:lstStyle/>
                    <a:p>
                      <a:pPr algn="l"/>
                      <a:r>
                        <a:rPr sz="750">
                          <a:solidFill>
                            <a:srgbClr val="3A4356"/>
                          </a:solidFill>
                        </a:rPr>
                        <a:t>Machined from billet at this volume</a:t>
                      </a:r>
                    </a:p>
                  </a:txBody>
                  <a:tcPr>
                    <a:solidFill>
                      <a:srgbClr val="F7F9FC"/>
                    </a:solidFill>
                  </a:tcPr>
                </a:tc>
              </a:tr>
              <a:tr h="509451">
                <a:tc>
                  <a:txBody>
                    <a:bodyPr/>
                    <a:lstStyle/>
                    <a:p>
                      <a:pPr algn="l"/>
                      <a:r>
                        <a:rPr sz="750" b="1">
                          <a:solidFill>
                            <a:srgbClr val="1D6FB8"/>
                          </a:solidFill>
                        </a:rPr>
                        <a:t>Seat locking bracket</a:t>
                      </a:r>
                    </a:p>
                  </a:txBody>
                  <a:tcPr>
                    <a:solidFill>
                      <a:srgbClr val="FFFFFF"/>
                    </a:solidFill>
                  </a:tcPr>
                </a:tc>
                <a:tc>
                  <a:txBody>
                    <a:bodyPr/>
                    <a:lstStyle/>
                    <a:p>
                      <a:pPr algn="l"/>
                      <a:r>
                        <a:rPr sz="750">
                          <a:solidFill>
                            <a:srgbClr val="3A4356"/>
                          </a:solidFill>
                        </a:rPr>
                        <a:t>Pressed bracket</a:t>
                      </a:r>
                    </a:p>
                  </a:txBody>
                  <a:tcPr>
                    <a:solidFill>
                      <a:srgbClr val="FFFFFF"/>
                    </a:solidFill>
                  </a:tcPr>
                </a:tc>
                <a:tc>
                  <a:txBody>
                    <a:bodyPr/>
                    <a:lstStyle/>
                    <a:p>
                      <a:pPr algn="l"/>
                      <a:r>
                        <a:rPr sz="750">
                          <a:solidFill>
                            <a:srgbClr val="3A4356"/>
                          </a:solidFill>
                        </a:rPr>
                        <a:t>Sheet metal, steel</a:t>
                      </a:r>
                    </a:p>
                  </a:txBody>
                  <a:tcPr>
                    <a:solidFill>
                      <a:srgbClr val="FFFFFF"/>
                    </a:solidFill>
                  </a:tcPr>
                </a:tc>
                <a:tc>
                  <a:txBody>
                    <a:bodyPr/>
                    <a:lstStyle/>
                    <a:p>
                      <a:pPr algn="l"/>
                      <a:r>
                        <a:rPr sz="750" b="1">
                          <a:solidFill>
                            <a:srgbClr val="2A7F50"/>
                          </a:solidFill>
                        </a:rPr>
                        <a:t>£  4.96</a:t>
                      </a:r>
                    </a:p>
                  </a:txBody>
                  <a:tcPr>
                    <a:solidFill>
                      <a:srgbClr val="FFFFFF"/>
                    </a:solidFill>
                  </a:tcPr>
                </a:tc>
                <a:tc>
                  <a:txBody>
                    <a:bodyPr/>
                    <a:lstStyle/>
                    <a:p>
                      <a:pPr algn="l"/>
                      <a:r>
                        <a:rPr sz="750">
                          <a:solidFill>
                            <a:srgbClr val="3A4356"/>
                          </a:solidFill>
                        </a:rPr>
                        <a:t>1.55 mm wall · 15 bends · 4% fill</a:t>
                      </a:r>
                    </a:p>
                  </a:txBody>
                  <a:tcPr>
                    <a:solidFill>
                      <a:srgbClr val="FFFFFF"/>
                    </a:solidFill>
                  </a:tcPr>
                </a:tc>
                <a:tc>
                  <a:txBody>
                    <a:bodyPr/>
                    <a:lstStyle/>
                    <a:p>
                      <a:pPr algn="l"/>
                      <a:r>
                        <a:rPr sz="750">
                          <a:solidFill>
                            <a:srgbClr val="3A4356"/>
                          </a:solidFill>
                        </a:rPr>
                        <a:t>The one genuine pressing</a:t>
                      </a:r>
                    </a:p>
                  </a:txBody>
                  <a:tcPr>
                    <a:solidFill>
                      <a:srgbClr val="FFFFFF"/>
                    </a:solidFill>
                  </a:tcPr>
                </a:tc>
              </a:tr>
              <a:tr h="509454">
                <a:tc>
                  <a:txBody>
                    <a:bodyPr/>
                    <a:lstStyle/>
                    <a:p>
                      <a:pPr algn="l"/>
                      <a:r>
                        <a:rPr sz="750" b="1">
                          <a:solidFill>
                            <a:srgbClr val="1D6FB8"/>
                          </a:solidFill>
                        </a:rPr>
                        <a:t>Spur gear m3 z38</a:t>
                      </a:r>
                    </a:p>
                  </a:txBody>
                  <a:tcPr>
                    <a:solidFill>
                      <a:srgbClr val="F7F9FC"/>
                    </a:solidFill>
                  </a:tcPr>
                </a:tc>
                <a:tc>
                  <a:txBody>
                    <a:bodyPr/>
                    <a:lstStyle/>
                    <a:p>
                      <a:pPr algn="l"/>
                      <a:r>
                        <a:rPr sz="750">
                          <a:solidFill>
                            <a:srgbClr val="3A4356"/>
                          </a:solidFill>
                        </a:rPr>
                        <a:t>38 teeth, ISO class 8</a:t>
                      </a:r>
                    </a:p>
                  </a:txBody>
                  <a:tcPr>
                    <a:solidFill>
                      <a:srgbClr val="F7F9FC"/>
                    </a:solidFill>
                  </a:tcPr>
                </a:tc>
                <a:tc>
                  <a:txBody>
                    <a:bodyPr/>
                    <a:lstStyle/>
                    <a:p>
                      <a:pPr algn="l"/>
                      <a:r>
                        <a:rPr sz="750">
                          <a:solidFill>
                            <a:srgbClr val="3A4356"/>
                          </a:solidFill>
                        </a:rPr>
                        <a:t>Gear cutting, steel</a:t>
                      </a:r>
                    </a:p>
                  </a:txBody>
                  <a:tcPr>
                    <a:solidFill>
                      <a:srgbClr val="F7F9FC"/>
                    </a:solidFill>
                  </a:tcPr>
                </a:tc>
                <a:tc>
                  <a:txBody>
                    <a:bodyPr/>
                    <a:lstStyle/>
                    <a:p>
                      <a:pPr algn="l"/>
                      <a:r>
                        <a:rPr sz="750" b="1">
                          <a:solidFill>
                            <a:srgbClr val="2A7F50"/>
                          </a:solidFill>
                        </a:rPr>
                        <a:t>£ 25.50</a:t>
                      </a:r>
                    </a:p>
                  </a:txBody>
                  <a:tcPr>
                    <a:solidFill>
                      <a:srgbClr val="F7F9FC"/>
                    </a:solidFill>
                  </a:tcPr>
                </a:tc>
                <a:tc>
                  <a:txBody>
                    <a:bodyPr/>
                    <a:lstStyle/>
                    <a:p>
                      <a:pPr algn="l"/>
                      <a:r>
                        <a:rPr sz="750">
                          <a:solidFill>
                            <a:srgbClr val="3A4356"/>
                          </a:solidFill>
                        </a:rPr>
                        <a:t>Module 3, teeth counted off the tip</a:t>
                      </a:r>
                    </a:p>
                  </a:txBody>
                  <a:tcPr>
                    <a:solidFill>
                      <a:srgbClr val="F7F9FC"/>
                    </a:solidFill>
                  </a:tcPr>
                </a:tc>
                <a:tc>
                  <a:txBody>
                    <a:bodyPr/>
                    <a:lstStyle/>
                    <a:p>
                      <a:pPr algn="l"/>
                      <a:r>
                        <a:rPr sz="750">
                          <a:solidFill>
                            <a:srgbClr val="3A4356"/>
                          </a:solidFill>
                        </a:rPr>
                        <a:t>Routed by measuring the gear</a:t>
                      </a:r>
                    </a:p>
                  </a:txBody>
                  <a:tcPr>
                    <a:solidFill>
                      <a:srgbClr val="F7F9FC"/>
                    </a:solidFill>
                  </a:tcPr>
                </a:tc>
              </a:tr>
            </a:tbl>
          </a:graphicData>
        </a:graphic>
      </p:graphicFrame>
      <p:sp>
        <p:nvSpPr>
          <p:cNvPr id="12" name="Rectangle 11"/>
          <p:cNvSpPr/>
          <p:nvPr/>
        </p:nvSpPr>
        <p:spPr>
          <a:xfrm>
            <a:off x="411480" y="5669280"/>
            <a:ext cx="11384280" cy="566928"/>
          </a:xfrm>
          <a:prstGeom prst="rect">
            <a:avLst/>
          </a:prstGeom>
          <a:solidFill>
            <a:srgbClr val="FFFFFF"/>
          </a:solidFill>
          <a:ln w="381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815584"/>
            <a:ext cx="11064240" cy="274320"/>
          </a:xfrm>
          <a:prstGeom prst="rect">
            <a:avLst/>
          </a:prstGeom>
          <a:noFill/>
        </p:spPr>
        <p:txBody>
          <a:bodyPr wrap="square">
            <a:spAutoFit/>
          </a:bodyPr>
          <a:lstStyle/>
          <a:p>
            <a:pPr algn="ctr"/>
            <a:r>
              <a:rPr sz="850" b="0" i="0">
                <a:solidFill>
                  <a:srgbClr val="686F7D"/>
                </a:solidFill>
              </a:rPr>
              <a:t>UK region, GBP  |  Answers are stated engineering judgements, so they can be argued with  |  This pins what the tool says — none of these has been compared with a price JLR paid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17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REPORTING &amp; DEPLOYMENT</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Getting the Number Out — Safely</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Reports people can act on, and a tool that is safe on a locked-down laptop.</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10512"/>
            <a:ext cx="3749039" cy="196596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810512"/>
            <a:ext cx="54864" cy="196596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 y="1901952"/>
            <a:ext cx="3566159" cy="310896"/>
          </a:xfrm>
          <a:prstGeom prst="rect">
            <a:avLst/>
          </a:prstGeom>
          <a:noFill/>
        </p:spPr>
        <p:txBody>
          <a:bodyPr wrap="square">
            <a:spAutoFit/>
          </a:bodyPr>
          <a:lstStyle/>
          <a:p>
            <a:pPr algn="l"/>
            <a:r>
              <a:rPr sz="1050" b="1" i="0">
                <a:solidFill>
                  <a:srgbClr val="16325C"/>
                </a:solidFill>
              </a:rPr>
              <a:t>Excel — Six Sheets</a:t>
            </a:r>
          </a:p>
        </p:txBody>
      </p:sp>
      <p:sp>
        <p:nvSpPr>
          <p:cNvPr id="14" name="TextBox 13"/>
          <p:cNvSpPr txBox="1"/>
          <p:nvPr/>
        </p:nvSpPr>
        <p:spPr>
          <a:xfrm>
            <a:off x="539496" y="2194560"/>
            <a:ext cx="3566159" cy="1472184"/>
          </a:xfrm>
          <a:prstGeom prst="rect">
            <a:avLst/>
          </a:prstGeom>
          <a:noFill/>
        </p:spPr>
        <p:txBody>
          <a:bodyPr wrap="square">
            <a:spAutoFit/>
          </a:bodyPr>
          <a:lstStyle/>
          <a:p>
            <a:pPr algn="l"/>
            <a:r>
              <a:rPr sz="950" b="0" i="0">
                <a:solidFill>
                  <a:srgbClr val="3A4356"/>
                </a:solidFill>
              </a:rPr>
              <a:t>The whole build-up, not just the total.
Summary · material · operations ·
machine rates · labour rates ·
and a traceability sheet.</a:t>
            </a:r>
          </a:p>
        </p:txBody>
      </p:sp>
      <p:sp>
        <p:nvSpPr>
          <p:cNvPr id="15" name="Rectangle 14"/>
          <p:cNvSpPr/>
          <p:nvPr/>
        </p:nvSpPr>
        <p:spPr>
          <a:xfrm>
            <a:off x="4270247" y="1810512"/>
            <a:ext cx="3749039" cy="196596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70247" y="1810512"/>
            <a:ext cx="54864" cy="1965960"/>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8263" y="1901952"/>
            <a:ext cx="3566159" cy="310896"/>
          </a:xfrm>
          <a:prstGeom prst="rect">
            <a:avLst/>
          </a:prstGeom>
          <a:noFill/>
        </p:spPr>
        <p:txBody>
          <a:bodyPr wrap="square">
            <a:spAutoFit/>
          </a:bodyPr>
          <a:lstStyle/>
          <a:p>
            <a:pPr algn="l"/>
            <a:r>
              <a:rPr sz="1050" b="1" i="0">
                <a:solidFill>
                  <a:srgbClr val="16325C"/>
                </a:solidFill>
              </a:rPr>
              <a:t>PDF Report and Negotiation Pack</a:t>
            </a:r>
          </a:p>
        </p:txBody>
      </p:sp>
      <p:sp>
        <p:nvSpPr>
          <p:cNvPr id="18" name="TextBox 17"/>
          <p:cNvSpPr txBox="1"/>
          <p:nvPr/>
        </p:nvSpPr>
        <p:spPr>
          <a:xfrm>
            <a:off x="4398263" y="2194560"/>
            <a:ext cx="3566159" cy="1472184"/>
          </a:xfrm>
          <a:prstGeom prst="rect">
            <a:avLst/>
          </a:prstGeom>
          <a:noFill/>
        </p:spPr>
        <p:txBody>
          <a:bodyPr wrap="square">
            <a:spAutoFit/>
          </a:bodyPr>
          <a:lstStyle/>
          <a:p>
            <a:pPr algn="l"/>
            <a:r>
              <a:rPr sz="950" b="0" i="0">
                <a:solidFill>
                  <a:srgbClr val="3A4356"/>
                </a:solidFill>
              </a:rPr>
              <a:t>The versions you send out.
Both carry the on-screen total to the penny.
Files are named &lt;type&gt;-&lt;part&gt;-&lt;date&gt;.</a:t>
            </a:r>
          </a:p>
        </p:txBody>
      </p:sp>
      <p:sp>
        <p:nvSpPr>
          <p:cNvPr id="19" name="Rectangle 18"/>
          <p:cNvSpPr/>
          <p:nvPr/>
        </p:nvSpPr>
        <p:spPr>
          <a:xfrm>
            <a:off x="8129014" y="1810512"/>
            <a:ext cx="3749039" cy="196596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9014" y="1810512"/>
            <a:ext cx="54864" cy="1965960"/>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7030" y="1901952"/>
            <a:ext cx="3566159" cy="310896"/>
          </a:xfrm>
          <a:prstGeom prst="rect">
            <a:avLst/>
          </a:prstGeom>
          <a:noFill/>
        </p:spPr>
        <p:txBody>
          <a:bodyPr wrap="square">
            <a:spAutoFit/>
          </a:bodyPr>
          <a:lstStyle/>
          <a:p>
            <a:pPr algn="l"/>
            <a:r>
              <a:rPr sz="1050" b="1" i="0">
                <a:solidFill>
                  <a:srgbClr val="16325C"/>
                </a:solidFill>
              </a:rPr>
              <a:t>Windows Laptop Package</a:t>
            </a:r>
          </a:p>
        </p:txBody>
      </p:sp>
      <p:sp>
        <p:nvSpPr>
          <p:cNvPr id="22" name="TextBox 21"/>
          <p:cNvSpPr txBox="1"/>
          <p:nvPr/>
        </p:nvSpPr>
        <p:spPr>
          <a:xfrm>
            <a:off x="8257030" y="2194560"/>
            <a:ext cx="3566159" cy="1472184"/>
          </a:xfrm>
          <a:prstGeom prst="rect">
            <a:avLst/>
          </a:prstGeom>
          <a:noFill/>
        </p:spPr>
        <p:txBody>
          <a:bodyPr wrap="square">
            <a:spAutoFit/>
          </a:bodyPr>
          <a:lstStyle/>
          <a:p>
            <a:pPr algn="l"/>
            <a:r>
              <a:rPr sz="950" b="0" i="0">
                <a:solidFill>
                  <a:srgbClr val="3A4356"/>
                </a:solidFill>
              </a:rPr>
              <a:t>Copy a folder, double-click to start.
No installer, no admin rights, no internet.
Listens on the laptop only, unless shared.</a:t>
            </a:r>
          </a:p>
        </p:txBody>
      </p:sp>
      <p:sp>
        <p:nvSpPr>
          <p:cNvPr id="23" name="Rectangle 22"/>
          <p:cNvSpPr/>
          <p:nvPr/>
        </p:nvSpPr>
        <p:spPr>
          <a:xfrm>
            <a:off x="411480" y="3886200"/>
            <a:ext cx="3749039" cy="196596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3886200"/>
            <a:ext cx="54864" cy="1965960"/>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 y="3977640"/>
            <a:ext cx="3566159" cy="310896"/>
          </a:xfrm>
          <a:prstGeom prst="rect">
            <a:avLst/>
          </a:prstGeom>
          <a:noFill/>
        </p:spPr>
        <p:txBody>
          <a:bodyPr wrap="square">
            <a:spAutoFit/>
          </a:bodyPr>
          <a:lstStyle/>
          <a:p>
            <a:pPr algn="l"/>
            <a:r>
              <a:rPr sz="1050" b="1" i="0">
                <a:solidFill>
                  <a:srgbClr val="16325C"/>
                </a:solidFill>
              </a:rPr>
              <a:t>Part Photos</a:t>
            </a:r>
          </a:p>
        </p:txBody>
      </p:sp>
      <p:sp>
        <p:nvSpPr>
          <p:cNvPr id="26" name="TextBox 25"/>
          <p:cNvSpPr txBox="1"/>
          <p:nvPr/>
        </p:nvSpPr>
        <p:spPr>
          <a:xfrm>
            <a:off x="539496" y="4270248"/>
            <a:ext cx="3566159" cy="1472184"/>
          </a:xfrm>
          <a:prstGeom prst="rect">
            <a:avLst/>
          </a:prstGeom>
          <a:noFill/>
        </p:spPr>
        <p:txBody>
          <a:bodyPr wrap="square">
            <a:spAutoFit/>
          </a:bodyPr>
          <a:lstStyle/>
          <a:p>
            <a:pPr algn="l"/>
            <a:r>
              <a:rPr sz="950" b="0" i="0">
                <a:solidFill>
                  <a:srgbClr val="3A4356"/>
                </a:solidFill>
              </a:rPr>
              <a:t>Attach a photo to any calculation.
It appears on the cover of the PDF report,
so everyone knows which part it is.</a:t>
            </a:r>
          </a:p>
        </p:txBody>
      </p:sp>
      <p:sp>
        <p:nvSpPr>
          <p:cNvPr id="27" name="Rectangle 26"/>
          <p:cNvSpPr/>
          <p:nvPr/>
        </p:nvSpPr>
        <p:spPr>
          <a:xfrm>
            <a:off x="4270247" y="3886200"/>
            <a:ext cx="3749039" cy="196596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70247" y="3886200"/>
            <a:ext cx="54864" cy="196596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98263" y="3977640"/>
            <a:ext cx="3566159" cy="310896"/>
          </a:xfrm>
          <a:prstGeom prst="rect">
            <a:avLst/>
          </a:prstGeom>
          <a:noFill/>
        </p:spPr>
        <p:txBody>
          <a:bodyPr wrap="square">
            <a:spAutoFit/>
          </a:bodyPr>
          <a:lstStyle/>
          <a:p>
            <a:pPr algn="l"/>
            <a:r>
              <a:rPr sz="1050" b="1" i="0">
                <a:solidFill>
                  <a:srgbClr val="16325C"/>
                </a:solidFill>
              </a:rPr>
              <a:t>Sign-In and Privacy</a:t>
            </a:r>
          </a:p>
        </p:txBody>
      </p:sp>
      <p:sp>
        <p:nvSpPr>
          <p:cNvPr id="30" name="TextBox 29"/>
          <p:cNvSpPr txBox="1"/>
          <p:nvPr/>
        </p:nvSpPr>
        <p:spPr>
          <a:xfrm>
            <a:off x="4398263" y="4270248"/>
            <a:ext cx="3566159" cy="1472184"/>
          </a:xfrm>
          <a:prstGeom prst="rect">
            <a:avLst/>
          </a:prstGeom>
          <a:noFill/>
        </p:spPr>
        <p:txBody>
          <a:bodyPr wrap="square">
            <a:spAutoFit/>
          </a:bodyPr>
          <a:lstStyle/>
          <a:p>
            <a:pPr algn="l"/>
            <a:r>
              <a:rPr sz="950" b="0" i="0">
                <a:solidFill>
                  <a:srgbClr val="3A4356"/>
                </a:solidFill>
              </a:rPr>
              <a:t>Sign-in on everything that holds data.
You see only your own saved scenarios.
A password reset or "sign out everywhere"
ends every old session.</a:t>
            </a:r>
          </a:p>
        </p:txBody>
      </p:sp>
      <p:sp>
        <p:nvSpPr>
          <p:cNvPr id="31" name="Rectangle 30"/>
          <p:cNvSpPr/>
          <p:nvPr/>
        </p:nvSpPr>
        <p:spPr>
          <a:xfrm>
            <a:off x="8129014" y="3886200"/>
            <a:ext cx="3749039" cy="196596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29014" y="3886200"/>
            <a:ext cx="54864" cy="1965960"/>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57030" y="3977640"/>
            <a:ext cx="3566159" cy="310896"/>
          </a:xfrm>
          <a:prstGeom prst="rect">
            <a:avLst/>
          </a:prstGeom>
          <a:noFill/>
        </p:spPr>
        <p:txBody>
          <a:bodyPr wrap="square">
            <a:spAutoFit/>
          </a:bodyPr>
          <a:lstStyle/>
          <a:p>
            <a:pPr algn="l"/>
            <a:r>
              <a:rPr sz="1050" b="1" i="0">
                <a:solidFill>
                  <a:srgbClr val="16325C"/>
                </a:solidFill>
              </a:rPr>
              <a:t>Help and Accessibility</a:t>
            </a:r>
          </a:p>
        </p:txBody>
      </p:sp>
      <p:sp>
        <p:nvSpPr>
          <p:cNvPr id="34" name="TextBox 33"/>
          <p:cNvSpPr txBox="1"/>
          <p:nvPr/>
        </p:nvSpPr>
        <p:spPr>
          <a:xfrm>
            <a:off x="8257030" y="4270248"/>
            <a:ext cx="3566159" cy="1472184"/>
          </a:xfrm>
          <a:prstGeom prst="rect">
            <a:avLst/>
          </a:prstGeom>
          <a:noFill/>
        </p:spPr>
        <p:txBody>
          <a:bodyPr wrap="square">
            <a:spAutoFit/>
          </a:bodyPr>
          <a:lstStyle/>
          <a:p>
            <a:pPr algn="l"/>
            <a:r>
              <a:rPr sz="950" b="0" i="0">
                <a:solidFill>
                  <a:srgbClr val="3A4356"/>
                </a:solidFill>
              </a:rPr>
              <a:t>Nobody needs training to start.
Getting started, a glossary and
troubleshooting — all in the app.
Every page passes WCAG 2.1 AA (automated).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18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VALUE — HONESTLY STATED</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What We Can Claim Today</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Only what the repository can show. Accuracy against real prices is measured as they are logged.</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10512"/>
            <a:ext cx="2194560" cy="100584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901952"/>
            <a:ext cx="2194560" cy="502920"/>
          </a:xfrm>
          <a:prstGeom prst="rect">
            <a:avLst/>
          </a:prstGeom>
          <a:noFill/>
        </p:spPr>
        <p:txBody>
          <a:bodyPr wrap="square">
            <a:spAutoFit/>
          </a:bodyPr>
          <a:lstStyle/>
          <a:p>
            <a:pPr algn="ctr"/>
            <a:r>
              <a:rPr sz="2800" b="1" i="0">
                <a:solidFill>
                  <a:srgbClr val="2A7F50"/>
                </a:solidFill>
              </a:rPr>
              <a:t>&lt;0.01%</a:t>
            </a:r>
          </a:p>
        </p:txBody>
      </p:sp>
      <p:sp>
        <p:nvSpPr>
          <p:cNvPr id="13" name="TextBox 12"/>
          <p:cNvSpPr txBox="1"/>
          <p:nvPr/>
        </p:nvSpPr>
        <p:spPr>
          <a:xfrm>
            <a:off x="411480" y="2377440"/>
            <a:ext cx="2194560" cy="347472"/>
          </a:xfrm>
          <a:prstGeom prst="rect">
            <a:avLst/>
          </a:prstGeom>
          <a:noFill/>
        </p:spPr>
        <p:txBody>
          <a:bodyPr wrap="square">
            <a:spAutoFit/>
          </a:bodyPr>
          <a:lstStyle/>
          <a:p>
            <a:pPr algn="ctr"/>
            <a:r>
              <a:rPr sz="800" b="0" i="0">
                <a:solidFill>
                  <a:srgbClr val="3A4356"/>
                </a:solidFill>
              </a:rPr>
              <a:t>Engine vs hand calc, reference part</a:t>
            </a:r>
          </a:p>
        </p:txBody>
      </p:sp>
      <p:sp>
        <p:nvSpPr>
          <p:cNvPr id="14" name="Rectangle 13"/>
          <p:cNvSpPr/>
          <p:nvPr/>
        </p:nvSpPr>
        <p:spPr>
          <a:xfrm>
            <a:off x="2697480" y="1810512"/>
            <a:ext cx="2194560" cy="100584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7480" y="1901952"/>
            <a:ext cx="2194560" cy="502920"/>
          </a:xfrm>
          <a:prstGeom prst="rect">
            <a:avLst/>
          </a:prstGeom>
          <a:noFill/>
        </p:spPr>
        <p:txBody>
          <a:bodyPr wrap="square">
            <a:spAutoFit/>
          </a:bodyPr>
          <a:lstStyle/>
          <a:p>
            <a:pPr algn="ctr"/>
            <a:r>
              <a:rPr sz="2800" b="1" i="0">
                <a:solidFill>
                  <a:srgbClr val="1D6FB8"/>
                </a:solidFill>
              </a:rPr>
              <a:t>6</a:t>
            </a:r>
          </a:p>
        </p:txBody>
      </p:sp>
      <p:sp>
        <p:nvSpPr>
          <p:cNvPr id="16" name="TextBox 15"/>
          <p:cNvSpPr txBox="1"/>
          <p:nvPr/>
        </p:nvSpPr>
        <p:spPr>
          <a:xfrm>
            <a:off x="2697480" y="2377440"/>
            <a:ext cx="2194560" cy="347472"/>
          </a:xfrm>
          <a:prstGeom prst="rect">
            <a:avLst/>
          </a:prstGeom>
          <a:noFill/>
        </p:spPr>
        <p:txBody>
          <a:bodyPr wrap="square">
            <a:spAutoFit/>
          </a:bodyPr>
          <a:lstStyle/>
          <a:p>
            <a:pPr algn="ctr"/>
            <a:r>
              <a:rPr sz="800" b="0" i="0">
                <a:solidFill>
                  <a:srgbClr val="3A4356"/>
                </a:solidFill>
              </a:rPr>
              <a:t>Real parts pinned in the build</a:t>
            </a:r>
          </a:p>
        </p:txBody>
      </p:sp>
      <p:sp>
        <p:nvSpPr>
          <p:cNvPr id="17" name="Rectangle 16"/>
          <p:cNvSpPr/>
          <p:nvPr/>
        </p:nvSpPr>
        <p:spPr>
          <a:xfrm>
            <a:off x="4983480" y="1810512"/>
            <a:ext cx="2194560" cy="100584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83480" y="1901952"/>
            <a:ext cx="2194560" cy="502920"/>
          </a:xfrm>
          <a:prstGeom prst="rect">
            <a:avLst/>
          </a:prstGeom>
          <a:noFill/>
        </p:spPr>
        <p:txBody>
          <a:bodyPr wrap="square">
            <a:spAutoFit/>
          </a:bodyPr>
          <a:lstStyle/>
          <a:p>
            <a:pPr algn="ctr"/>
            <a:r>
              <a:rPr sz="2800" b="1" i="0">
                <a:solidFill>
                  <a:srgbClr val="6B3FA0"/>
                </a:solidFill>
              </a:rPr>
              <a:t>2,438</a:t>
            </a:r>
          </a:p>
        </p:txBody>
      </p:sp>
      <p:sp>
        <p:nvSpPr>
          <p:cNvPr id="19" name="TextBox 18"/>
          <p:cNvSpPr txBox="1"/>
          <p:nvPr/>
        </p:nvSpPr>
        <p:spPr>
          <a:xfrm>
            <a:off x="4983480" y="2377440"/>
            <a:ext cx="2194560" cy="347472"/>
          </a:xfrm>
          <a:prstGeom prst="rect">
            <a:avLst/>
          </a:prstGeom>
          <a:noFill/>
        </p:spPr>
        <p:txBody>
          <a:bodyPr wrap="square">
            <a:spAutoFit/>
          </a:bodyPr>
          <a:lstStyle/>
          <a:p>
            <a:pPr algn="ctr"/>
            <a:r>
              <a:rPr sz="800" b="0" i="0">
                <a:solidFill>
                  <a:srgbClr val="3A4356"/>
                </a:solidFill>
              </a:rPr>
              <a:t>Automated tests</a:t>
            </a:r>
          </a:p>
        </p:txBody>
      </p:sp>
      <p:sp>
        <p:nvSpPr>
          <p:cNvPr id="20" name="Rectangle 19"/>
          <p:cNvSpPr/>
          <p:nvPr/>
        </p:nvSpPr>
        <p:spPr>
          <a:xfrm>
            <a:off x="7269480" y="1810512"/>
            <a:ext cx="2194560" cy="100584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9480" y="1901952"/>
            <a:ext cx="2194560" cy="502920"/>
          </a:xfrm>
          <a:prstGeom prst="rect">
            <a:avLst/>
          </a:prstGeom>
          <a:noFill/>
        </p:spPr>
        <p:txBody>
          <a:bodyPr wrap="square">
            <a:spAutoFit/>
          </a:bodyPr>
          <a:lstStyle/>
          <a:p>
            <a:pPr algn="ctr"/>
            <a:r>
              <a:rPr sz="2800" b="1" i="0">
                <a:solidFill>
                  <a:srgbClr val="99651A"/>
                </a:solidFill>
              </a:rPr>
              <a:t>19</a:t>
            </a:r>
          </a:p>
        </p:txBody>
      </p:sp>
      <p:sp>
        <p:nvSpPr>
          <p:cNvPr id="22" name="TextBox 21"/>
          <p:cNvSpPr txBox="1"/>
          <p:nvPr/>
        </p:nvSpPr>
        <p:spPr>
          <a:xfrm>
            <a:off x="7269480" y="2377440"/>
            <a:ext cx="2194560" cy="347472"/>
          </a:xfrm>
          <a:prstGeom prst="rect">
            <a:avLst/>
          </a:prstGeom>
          <a:noFill/>
        </p:spPr>
        <p:txBody>
          <a:bodyPr wrap="square">
            <a:spAutoFit/>
          </a:bodyPr>
          <a:lstStyle/>
          <a:p>
            <a:pPr algn="ctr"/>
            <a:r>
              <a:rPr sz="800" b="0" i="0">
                <a:solidFill>
                  <a:srgbClr val="3A4356"/>
                </a:solidFill>
              </a:rPr>
              <a:t>Manufacturing processes</a:t>
            </a:r>
          </a:p>
        </p:txBody>
      </p:sp>
      <p:sp>
        <p:nvSpPr>
          <p:cNvPr id="23" name="Rectangle 22"/>
          <p:cNvSpPr/>
          <p:nvPr/>
        </p:nvSpPr>
        <p:spPr>
          <a:xfrm>
            <a:off x="9555480" y="1810512"/>
            <a:ext cx="2194560" cy="100584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55480" y="1901952"/>
            <a:ext cx="2194560" cy="502920"/>
          </a:xfrm>
          <a:prstGeom prst="rect">
            <a:avLst/>
          </a:prstGeom>
          <a:noFill/>
        </p:spPr>
        <p:txBody>
          <a:bodyPr wrap="square">
            <a:spAutoFit/>
          </a:bodyPr>
          <a:lstStyle/>
          <a:p>
            <a:pPr algn="ctr"/>
            <a:r>
              <a:rPr sz="2800" b="1" i="0">
                <a:solidFill>
                  <a:srgbClr val="B03A2E"/>
                </a:solidFill>
              </a:rPr>
              <a:t>0</a:t>
            </a:r>
          </a:p>
        </p:txBody>
      </p:sp>
      <p:sp>
        <p:nvSpPr>
          <p:cNvPr id="25" name="TextBox 24"/>
          <p:cNvSpPr txBox="1"/>
          <p:nvPr/>
        </p:nvSpPr>
        <p:spPr>
          <a:xfrm>
            <a:off x="9555480" y="2377440"/>
            <a:ext cx="2194560" cy="347472"/>
          </a:xfrm>
          <a:prstGeom prst="rect">
            <a:avLst/>
          </a:prstGeom>
          <a:noFill/>
        </p:spPr>
        <p:txBody>
          <a:bodyPr wrap="square">
            <a:spAutoFit/>
          </a:bodyPr>
          <a:lstStyle/>
          <a:p>
            <a:pPr algn="ctr"/>
            <a:r>
              <a:rPr sz="800" b="0" i="0">
                <a:solidFill>
                  <a:srgbClr val="3A4356"/>
                </a:solidFill>
              </a:rPr>
              <a:t>Estimates compared with a JLR-paid price, so far</a:t>
            </a:r>
          </a:p>
        </p:txBody>
      </p:sp>
      <p:sp>
        <p:nvSpPr>
          <p:cNvPr id="26" name="Rectangle 25"/>
          <p:cNvSpPr/>
          <p:nvPr/>
        </p:nvSpPr>
        <p:spPr>
          <a:xfrm>
            <a:off x="411480" y="2971800"/>
            <a:ext cx="2773603" cy="16459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2971800"/>
            <a:ext cx="54864" cy="1645920"/>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9496" y="3063240"/>
            <a:ext cx="2590723" cy="310896"/>
          </a:xfrm>
          <a:prstGeom prst="rect">
            <a:avLst/>
          </a:prstGeom>
          <a:noFill/>
        </p:spPr>
        <p:txBody>
          <a:bodyPr wrap="square">
            <a:spAutoFit/>
          </a:bodyPr>
          <a:lstStyle/>
          <a:p>
            <a:pPr algn="l"/>
            <a:r>
              <a:rPr sz="1050" b="1" i="0">
                <a:solidFill>
                  <a:srgbClr val="16325C"/>
                </a:solidFill>
              </a:rPr>
              <a:t>Speed</a:t>
            </a:r>
          </a:p>
        </p:txBody>
      </p:sp>
      <p:sp>
        <p:nvSpPr>
          <p:cNvPr id="29" name="TextBox 28"/>
          <p:cNvSpPr txBox="1"/>
          <p:nvPr/>
        </p:nvSpPr>
        <p:spPr>
          <a:xfrm>
            <a:off x="539496" y="3355848"/>
            <a:ext cx="2590723" cy="1152144"/>
          </a:xfrm>
          <a:prstGeom prst="rect">
            <a:avLst/>
          </a:prstGeom>
          <a:noFill/>
        </p:spPr>
        <p:txBody>
          <a:bodyPr wrap="square">
            <a:spAutoFit/>
          </a:bodyPr>
          <a:lstStyle/>
          <a:p>
            <a:pPr algn="l"/>
            <a:r>
              <a:rPr sz="950" b="0" i="0">
                <a:solidFill>
                  <a:srgbClr val="3A4356"/>
                </a:solidFill>
              </a:rPr>
              <a:t>The engineer answers a few questions instead of building a spreadsheet. We will time it in the pilot.</a:t>
            </a:r>
          </a:p>
        </p:txBody>
      </p:sp>
      <p:sp>
        <p:nvSpPr>
          <p:cNvPr id="30" name="Rectangle 29"/>
          <p:cNvSpPr/>
          <p:nvPr/>
        </p:nvSpPr>
        <p:spPr>
          <a:xfrm>
            <a:off x="3276523" y="2971800"/>
            <a:ext cx="2773603" cy="16459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76523" y="2971800"/>
            <a:ext cx="54864" cy="164592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04539" y="3063240"/>
            <a:ext cx="2590723" cy="310896"/>
          </a:xfrm>
          <a:prstGeom prst="rect">
            <a:avLst/>
          </a:prstGeom>
          <a:noFill/>
        </p:spPr>
        <p:txBody>
          <a:bodyPr wrap="square">
            <a:spAutoFit/>
          </a:bodyPr>
          <a:lstStyle/>
          <a:p>
            <a:pPr algn="l"/>
            <a:r>
              <a:rPr sz="1050" b="1" i="0">
                <a:solidFill>
                  <a:srgbClr val="16325C"/>
                </a:solidFill>
              </a:rPr>
              <a:t>Accuracy</a:t>
            </a:r>
          </a:p>
        </p:txBody>
      </p:sp>
      <p:sp>
        <p:nvSpPr>
          <p:cNvPr id="33" name="TextBox 32"/>
          <p:cNvSpPr txBox="1"/>
          <p:nvPr/>
        </p:nvSpPr>
        <p:spPr>
          <a:xfrm>
            <a:off x="3404539" y="3355848"/>
            <a:ext cx="2590723" cy="1152144"/>
          </a:xfrm>
          <a:prstGeom prst="rect">
            <a:avLst/>
          </a:prstGeom>
          <a:noFill/>
        </p:spPr>
        <p:txBody>
          <a:bodyPr wrap="square">
            <a:spAutoFit/>
          </a:bodyPr>
          <a:lstStyle/>
          <a:p>
            <a:pPr algn="l"/>
            <a:r>
              <a:rPr sz="950" b="0" i="0">
                <a:solidFill>
                  <a:srgbClr val="3A4356"/>
                </a:solidFill>
              </a:rPr>
              <a:t>Arithmetic proven against a hand calc. Accuracy against real prices is measured as they are logged.</a:t>
            </a:r>
          </a:p>
        </p:txBody>
      </p:sp>
      <p:sp>
        <p:nvSpPr>
          <p:cNvPr id="34" name="Rectangle 33"/>
          <p:cNvSpPr/>
          <p:nvPr/>
        </p:nvSpPr>
        <p:spPr>
          <a:xfrm>
            <a:off x="6141567" y="2971800"/>
            <a:ext cx="2773603" cy="16459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41567" y="2971800"/>
            <a:ext cx="54864" cy="1645920"/>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9583" y="3063240"/>
            <a:ext cx="2590723" cy="310896"/>
          </a:xfrm>
          <a:prstGeom prst="rect">
            <a:avLst/>
          </a:prstGeom>
          <a:noFill/>
        </p:spPr>
        <p:txBody>
          <a:bodyPr wrap="square">
            <a:spAutoFit/>
          </a:bodyPr>
          <a:lstStyle/>
          <a:p>
            <a:pPr algn="l"/>
            <a:r>
              <a:rPr sz="1050" b="1" i="0">
                <a:solidFill>
                  <a:srgbClr val="16325C"/>
                </a:solidFill>
              </a:rPr>
              <a:t>Negotiation</a:t>
            </a:r>
          </a:p>
        </p:txBody>
      </p:sp>
      <p:sp>
        <p:nvSpPr>
          <p:cNvPr id="37" name="TextBox 36"/>
          <p:cNvSpPr txBox="1"/>
          <p:nvPr/>
        </p:nvSpPr>
        <p:spPr>
          <a:xfrm>
            <a:off x="6269583" y="3355848"/>
            <a:ext cx="2590723" cy="1152144"/>
          </a:xfrm>
          <a:prstGeom prst="rect">
            <a:avLst/>
          </a:prstGeom>
          <a:noFill/>
        </p:spPr>
        <p:txBody>
          <a:bodyPr wrap="square">
            <a:spAutoFit/>
          </a:bodyPr>
          <a:lstStyle/>
          <a:p>
            <a:pPr algn="l"/>
            <a:r>
              <a:rPr sz="950" b="0" i="0">
                <a:solidFill>
                  <a:srgbClr val="3A4356"/>
                </a:solidFill>
              </a:rPr>
              <a:t>A floor price you can defend, bucket by bucket. Supplier margin becomes visible instead of assumed.</a:t>
            </a:r>
          </a:p>
        </p:txBody>
      </p:sp>
      <p:sp>
        <p:nvSpPr>
          <p:cNvPr id="38" name="Rectangle 37"/>
          <p:cNvSpPr/>
          <p:nvPr/>
        </p:nvSpPr>
        <p:spPr>
          <a:xfrm>
            <a:off x="9006611" y="2971800"/>
            <a:ext cx="2773603" cy="16459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06611" y="2971800"/>
            <a:ext cx="54864" cy="1645920"/>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34627" y="3063240"/>
            <a:ext cx="2590723" cy="310896"/>
          </a:xfrm>
          <a:prstGeom prst="rect">
            <a:avLst/>
          </a:prstGeom>
          <a:noFill/>
        </p:spPr>
        <p:txBody>
          <a:bodyPr wrap="square">
            <a:spAutoFit/>
          </a:bodyPr>
          <a:lstStyle/>
          <a:p>
            <a:pPr algn="l"/>
            <a:r>
              <a:rPr sz="1050" b="1" i="0">
                <a:solidFill>
                  <a:srgbClr val="16325C"/>
                </a:solidFill>
              </a:rPr>
              <a:t>Early Warning</a:t>
            </a:r>
          </a:p>
        </p:txBody>
      </p:sp>
      <p:sp>
        <p:nvSpPr>
          <p:cNvPr id="41" name="TextBox 40"/>
          <p:cNvSpPr txBox="1"/>
          <p:nvPr/>
        </p:nvSpPr>
        <p:spPr>
          <a:xfrm>
            <a:off x="9134627" y="3355848"/>
            <a:ext cx="2590723" cy="1152144"/>
          </a:xfrm>
          <a:prstGeom prst="rect">
            <a:avLst/>
          </a:prstGeom>
          <a:noFill/>
        </p:spPr>
        <p:txBody>
          <a:bodyPr wrap="square">
            <a:spAutoFit/>
          </a:bodyPr>
          <a:lstStyle/>
          <a:p>
            <a:pPr algn="l"/>
            <a:r>
              <a:rPr sz="950" b="0" i="0">
                <a:solidFill>
                  <a:srgbClr val="3A4356"/>
                </a:solidFill>
              </a:rPr>
              <a:t>A cost from CAD at concept stage, while a change is still cheap.</a:t>
            </a:r>
          </a:p>
        </p:txBody>
      </p:sp>
      <p:sp>
        <p:nvSpPr>
          <p:cNvPr id="42" name="Rectangle 41"/>
          <p:cNvSpPr/>
          <p:nvPr/>
        </p:nvSpPr>
        <p:spPr>
          <a:xfrm>
            <a:off x="411480" y="4709160"/>
            <a:ext cx="2773603" cy="16459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11480" y="4709160"/>
            <a:ext cx="54864" cy="164592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9496" y="4800600"/>
            <a:ext cx="2590723" cy="310896"/>
          </a:xfrm>
          <a:prstGeom prst="rect">
            <a:avLst/>
          </a:prstGeom>
          <a:noFill/>
        </p:spPr>
        <p:txBody>
          <a:bodyPr wrap="square">
            <a:spAutoFit/>
          </a:bodyPr>
          <a:lstStyle/>
          <a:p>
            <a:pPr algn="l"/>
            <a:r>
              <a:rPr sz="1050" b="1" i="0">
                <a:solidFill>
                  <a:srgbClr val="16325C"/>
                </a:solidFill>
              </a:rPr>
              <a:t>Where to Build It</a:t>
            </a:r>
          </a:p>
        </p:txBody>
      </p:sp>
      <p:sp>
        <p:nvSpPr>
          <p:cNvPr id="45" name="TextBox 44"/>
          <p:cNvSpPr txBox="1"/>
          <p:nvPr/>
        </p:nvSpPr>
        <p:spPr>
          <a:xfrm>
            <a:off x="539496" y="5093208"/>
            <a:ext cx="2590723" cy="1152144"/>
          </a:xfrm>
          <a:prstGeom prst="rect">
            <a:avLst/>
          </a:prstGeom>
          <a:noFill/>
        </p:spPr>
        <p:txBody>
          <a:bodyPr wrap="square">
            <a:spAutoFit/>
          </a:bodyPr>
          <a:lstStyle/>
          <a:p>
            <a:pPr algn="l"/>
            <a:r>
              <a:rPr sz="950" b="0" i="0">
                <a:solidFill>
                  <a:srgbClr val="3A4356"/>
                </a:solidFill>
              </a:rPr>
              <a:t>Compare 20 regions in one table. Make-vs-buy answered with real rates.</a:t>
            </a:r>
          </a:p>
        </p:txBody>
      </p:sp>
      <p:sp>
        <p:nvSpPr>
          <p:cNvPr id="46" name="Rectangle 45"/>
          <p:cNvSpPr/>
          <p:nvPr/>
        </p:nvSpPr>
        <p:spPr>
          <a:xfrm>
            <a:off x="3276523" y="4709160"/>
            <a:ext cx="2773603" cy="16459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276523" y="4709160"/>
            <a:ext cx="54864" cy="1645920"/>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04539" y="4800600"/>
            <a:ext cx="2590723" cy="310896"/>
          </a:xfrm>
          <a:prstGeom prst="rect">
            <a:avLst/>
          </a:prstGeom>
          <a:noFill/>
        </p:spPr>
        <p:txBody>
          <a:bodyPr wrap="square">
            <a:spAutoFit/>
          </a:bodyPr>
          <a:lstStyle/>
          <a:p>
            <a:pPr algn="l"/>
            <a:r>
              <a:rPr sz="1050" b="1" i="0">
                <a:solidFill>
                  <a:srgbClr val="16325C"/>
                </a:solidFill>
              </a:rPr>
              <a:t>One Method</a:t>
            </a:r>
          </a:p>
        </p:txBody>
      </p:sp>
      <p:sp>
        <p:nvSpPr>
          <p:cNvPr id="49" name="TextBox 48"/>
          <p:cNvSpPr txBox="1"/>
          <p:nvPr/>
        </p:nvSpPr>
        <p:spPr>
          <a:xfrm>
            <a:off x="3404539" y="5093208"/>
            <a:ext cx="2590723" cy="1152144"/>
          </a:xfrm>
          <a:prstGeom prst="rect">
            <a:avLst/>
          </a:prstGeom>
          <a:noFill/>
        </p:spPr>
        <p:txBody>
          <a:bodyPr wrap="square">
            <a:spAutoFit/>
          </a:bodyPr>
          <a:lstStyle/>
          <a:p>
            <a:pPr algn="l"/>
            <a:r>
              <a:rPr sz="950" b="0" i="0">
                <a:solidFill>
                  <a:srgbClr val="3A4356"/>
                </a:solidFill>
              </a:rPr>
              <a:t>The same model everywhere, with every assumption on record.</a:t>
            </a:r>
          </a:p>
        </p:txBody>
      </p:sp>
      <p:sp>
        <p:nvSpPr>
          <p:cNvPr id="50" name="Rectangle 49"/>
          <p:cNvSpPr/>
          <p:nvPr/>
        </p:nvSpPr>
        <p:spPr>
          <a:xfrm>
            <a:off x="6141567" y="4709160"/>
            <a:ext cx="2773603" cy="16459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41567" y="4709160"/>
            <a:ext cx="54864" cy="1645920"/>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69583" y="4800600"/>
            <a:ext cx="2590723" cy="310896"/>
          </a:xfrm>
          <a:prstGeom prst="rect">
            <a:avLst/>
          </a:prstGeom>
          <a:noFill/>
        </p:spPr>
        <p:txBody>
          <a:bodyPr wrap="square">
            <a:spAutoFit/>
          </a:bodyPr>
          <a:lstStyle/>
          <a:p>
            <a:pPr algn="l"/>
            <a:r>
              <a:rPr sz="1050" b="1" i="0">
                <a:solidFill>
                  <a:srgbClr val="16325C"/>
                </a:solidFill>
              </a:rPr>
              <a:t>The Right Volume</a:t>
            </a:r>
          </a:p>
        </p:txBody>
      </p:sp>
      <p:sp>
        <p:nvSpPr>
          <p:cNvPr id="53" name="TextBox 52"/>
          <p:cNvSpPr txBox="1"/>
          <p:nvPr/>
        </p:nvSpPr>
        <p:spPr>
          <a:xfrm>
            <a:off x="6269583" y="5093208"/>
            <a:ext cx="2590723" cy="1152144"/>
          </a:xfrm>
          <a:prstGeom prst="rect">
            <a:avLst/>
          </a:prstGeom>
          <a:noFill/>
        </p:spPr>
        <p:txBody>
          <a:bodyPr wrap="square">
            <a:spAutoFit/>
          </a:bodyPr>
          <a:lstStyle/>
          <a:p>
            <a:pPr algn="l"/>
            <a:r>
              <a:rPr sz="950" b="0" i="0">
                <a:solidFill>
                  <a:srgbClr val="3A4356"/>
                </a:solidFill>
              </a:rPr>
              <a:t>See what the part costs as volume grows, and when a new process starts to pay.</a:t>
            </a:r>
          </a:p>
        </p:txBody>
      </p:sp>
      <p:sp>
        <p:nvSpPr>
          <p:cNvPr id="54" name="Rectangle 53"/>
          <p:cNvSpPr/>
          <p:nvPr/>
        </p:nvSpPr>
        <p:spPr>
          <a:xfrm>
            <a:off x="9006611" y="4709160"/>
            <a:ext cx="2773603" cy="164592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006611" y="4709160"/>
            <a:ext cx="54864" cy="1645920"/>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34627" y="4800600"/>
            <a:ext cx="2590723" cy="310896"/>
          </a:xfrm>
          <a:prstGeom prst="rect">
            <a:avLst/>
          </a:prstGeom>
          <a:noFill/>
        </p:spPr>
        <p:txBody>
          <a:bodyPr wrap="square">
            <a:spAutoFit/>
          </a:bodyPr>
          <a:lstStyle/>
          <a:p>
            <a:pPr algn="l"/>
            <a:r>
              <a:rPr sz="1050" b="1" i="0">
                <a:solidFill>
                  <a:srgbClr val="16325C"/>
                </a:solidFill>
              </a:rPr>
              <a:t>Safe to Run</a:t>
            </a:r>
          </a:p>
        </p:txBody>
      </p:sp>
      <p:sp>
        <p:nvSpPr>
          <p:cNvPr id="57" name="TextBox 56"/>
          <p:cNvSpPr txBox="1"/>
          <p:nvPr/>
        </p:nvSpPr>
        <p:spPr>
          <a:xfrm>
            <a:off x="9134627" y="5093208"/>
            <a:ext cx="2590723" cy="1152144"/>
          </a:xfrm>
          <a:prstGeom prst="rect">
            <a:avLst/>
          </a:prstGeom>
          <a:noFill/>
        </p:spPr>
        <p:txBody>
          <a:bodyPr wrap="square">
            <a:spAutoFit/>
          </a:bodyPr>
          <a:lstStyle/>
          <a:p>
            <a:pPr algn="l"/>
            <a:r>
              <a:rPr sz="950" b="0" i="0">
                <a:solidFill>
                  <a:srgbClr val="3A4356"/>
                </a:solidFill>
              </a:rPr>
              <a:t>A Windows folder on a locked-down laptop. No internet, no admin rights, no 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28016"/>
            <a:ext cx="1828800" cy="320040"/>
          </a:xfrm>
          <a:prstGeom prst="rect">
            <a:avLst/>
          </a:prstGeom>
          <a:noFill/>
        </p:spPr>
        <p:txBody>
          <a:bodyPr wrap="square">
            <a:spAutoFit/>
          </a:bodyPr>
          <a:lstStyle/>
          <a:p>
            <a:pPr algn="l"/>
            <a:r>
              <a:rPr sz="750" b="1" i="0">
                <a:solidFill>
                  <a:srgbClr val="686F7D"/>
                </a:solidFill>
              </a:rPr>
              <a:t>SLIDE 19 / 19</a:t>
            </a:r>
          </a:p>
        </p:txBody>
      </p:sp>
      <p:sp>
        <p:nvSpPr>
          <p:cNvPr id="4" name="TextBox 3"/>
          <p:cNvSpPr txBox="1"/>
          <p:nvPr/>
        </p:nvSpPr>
        <p:spPr>
          <a:xfrm>
            <a:off x="10454335" y="109728"/>
            <a:ext cx="1463040" cy="320040"/>
          </a:xfrm>
          <a:prstGeom prst="rect">
            <a:avLst/>
          </a:prstGeom>
          <a:noFill/>
        </p:spPr>
        <p:txBody>
          <a:bodyPr wrap="square">
            <a:spAutoFit/>
          </a:bodyPr>
          <a:lstStyle/>
          <a:p>
            <a:pPr algn="r"/>
            <a:r>
              <a:rPr sz="1100" b="1" i="0">
                <a:solidFill>
                  <a:srgbClr val="1D6FB8"/>
                </a:solidFill>
              </a:rPr>
              <a:t>CostVision</a:t>
            </a:r>
          </a:p>
        </p:txBody>
      </p:sp>
      <p:sp>
        <p:nvSpPr>
          <p:cNvPr id="5" name="Rectangle 4"/>
          <p:cNvSpPr/>
          <p:nvPr/>
        </p:nvSpPr>
        <p:spPr>
          <a:xfrm>
            <a:off x="0" y="475488"/>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1792"/>
            <a:ext cx="7315200" cy="256032"/>
          </a:xfrm>
          <a:prstGeom prst="rect">
            <a:avLst/>
          </a:prstGeom>
          <a:noFill/>
        </p:spPr>
        <p:txBody>
          <a:bodyPr wrap="square">
            <a:spAutoFit/>
          </a:bodyPr>
          <a:lstStyle/>
          <a:p>
            <a:pPr algn="l"/>
            <a:r>
              <a:rPr sz="800" b="1" i="0">
                <a:solidFill>
                  <a:srgbClr val="1D6FB8"/>
                </a:solidFill>
              </a:rPr>
              <a:t>VISION &amp; NEXT STEPS</a:t>
            </a:r>
          </a:p>
        </p:txBody>
      </p:sp>
      <p:sp>
        <p:nvSpPr>
          <p:cNvPr id="7" name="TextBox 6"/>
          <p:cNvSpPr txBox="1"/>
          <p:nvPr/>
        </p:nvSpPr>
        <p:spPr>
          <a:xfrm>
            <a:off x="457200" y="822960"/>
            <a:ext cx="10972800" cy="548640"/>
          </a:xfrm>
          <a:prstGeom prst="rect">
            <a:avLst/>
          </a:prstGeom>
          <a:noFill/>
        </p:spPr>
        <p:txBody>
          <a:bodyPr wrap="square">
            <a:spAutoFit/>
          </a:bodyPr>
          <a:lstStyle/>
          <a:p>
            <a:pPr algn="l"/>
            <a:r>
              <a:rPr sz="2600" b="1" i="0">
                <a:solidFill>
                  <a:srgbClr val="16325C"/>
                </a:solidFill>
                <a:latin typeface="Cambria"/>
              </a:rPr>
              <a:t>What Comes Next</a:t>
            </a:r>
          </a:p>
        </p:txBody>
      </p:sp>
      <p:sp>
        <p:nvSpPr>
          <p:cNvPr id="8" name="TextBox 7"/>
          <p:cNvSpPr txBox="1"/>
          <p:nvPr/>
        </p:nvSpPr>
        <p:spPr>
          <a:xfrm>
            <a:off x="457200" y="1325880"/>
            <a:ext cx="10972800" cy="347472"/>
          </a:xfrm>
          <a:prstGeom prst="rect">
            <a:avLst/>
          </a:prstGeom>
          <a:noFill/>
        </p:spPr>
        <p:txBody>
          <a:bodyPr wrap="square">
            <a:spAutoFit/>
          </a:bodyPr>
          <a:lstStyle/>
          <a:p>
            <a:pPr algn="l"/>
            <a:r>
              <a:rPr sz="1200" b="0" i="0">
                <a:solidFill>
                  <a:srgbClr val="3A4356"/>
                </a:solidFill>
              </a:rPr>
              <a:t>CostVision runs today. Here is what could come next — and a small first step.</a:t>
            </a:r>
          </a:p>
        </p:txBody>
      </p:sp>
      <p:sp>
        <p:nvSpPr>
          <p:cNvPr id="9" name="Rectangle 8"/>
          <p:cNvSpPr/>
          <p:nvPr/>
        </p:nvSpPr>
        <p:spPr>
          <a:xfrm>
            <a:off x="0" y="6446520"/>
            <a:ext cx="12191695" cy="7315"/>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92240"/>
            <a:ext cx="11460175" cy="320040"/>
          </a:xfrm>
          <a:prstGeom prst="rect">
            <a:avLst/>
          </a:prstGeom>
          <a:noFill/>
        </p:spPr>
        <p:txBody>
          <a:bodyPr wrap="square">
            <a:spAutoFit/>
          </a:bodyPr>
          <a:lstStyle/>
          <a:p>
            <a:pPr algn="ctr"/>
            <a:r>
              <a:rPr sz="750" b="0" i="0">
                <a:solidFill>
                  <a:srgbClr val="686F7D"/>
                </a:solidFill>
              </a:rPr>
              <a:t>CostVision — Should-Cost Engineering  |  Avinash Bhosale  |  Confidential</a:t>
            </a:r>
          </a:p>
        </p:txBody>
      </p:sp>
      <p:sp>
        <p:nvSpPr>
          <p:cNvPr id="11" name="Rectangle 10"/>
          <p:cNvSpPr/>
          <p:nvPr/>
        </p:nvSpPr>
        <p:spPr>
          <a:xfrm>
            <a:off x="411480" y="1828800"/>
            <a:ext cx="5394960" cy="4498848"/>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828800"/>
            <a:ext cx="5394960" cy="36576"/>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901952"/>
            <a:ext cx="5120640" cy="274320"/>
          </a:xfrm>
          <a:prstGeom prst="rect">
            <a:avLst/>
          </a:prstGeom>
          <a:noFill/>
        </p:spPr>
        <p:txBody>
          <a:bodyPr wrap="square">
            <a:spAutoFit/>
          </a:bodyPr>
          <a:lstStyle/>
          <a:p>
            <a:pPr algn="l"/>
            <a:r>
              <a:rPr sz="1050" b="1" i="0">
                <a:solidFill>
                  <a:srgbClr val="2A7F50"/>
                </a:solidFill>
              </a:rPr>
              <a:t>Runs Today</a:t>
            </a:r>
          </a:p>
        </p:txBody>
      </p:sp>
      <p:sp>
        <p:nvSpPr>
          <p:cNvPr id="14" name="Rectangle 13"/>
          <p:cNvSpPr/>
          <p:nvPr/>
        </p:nvSpPr>
        <p:spPr>
          <a:xfrm>
            <a:off x="594360" y="2368296"/>
            <a:ext cx="54864" cy="54864"/>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31136"/>
            <a:ext cx="4846320" cy="274320"/>
          </a:xfrm>
          <a:prstGeom prst="rect">
            <a:avLst/>
          </a:prstGeom>
          <a:noFill/>
        </p:spPr>
        <p:txBody>
          <a:bodyPr wrap="square">
            <a:spAutoFit/>
          </a:bodyPr>
          <a:lstStyle/>
          <a:p>
            <a:pPr algn="l"/>
            <a:r>
              <a:rPr sz="950" b="0" i="0">
                <a:solidFill>
                  <a:srgbClr val="3A4356"/>
                </a:solidFill>
              </a:rPr>
              <a:t>19 manufacturing processes, plus assembly and software</a:t>
            </a:r>
          </a:p>
        </p:txBody>
      </p:sp>
      <p:sp>
        <p:nvSpPr>
          <p:cNvPr id="16" name="Rectangle 15"/>
          <p:cNvSpPr/>
          <p:nvPr/>
        </p:nvSpPr>
        <p:spPr>
          <a:xfrm>
            <a:off x="594360" y="2811272"/>
            <a:ext cx="54864" cy="54864"/>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674112"/>
            <a:ext cx="4846320" cy="274320"/>
          </a:xfrm>
          <a:prstGeom prst="rect">
            <a:avLst/>
          </a:prstGeom>
          <a:noFill/>
        </p:spPr>
        <p:txBody>
          <a:bodyPr wrap="square">
            <a:spAutoFit/>
          </a:bodyPr>
          <a:lstStyle/>
          <a:p>
            <a:pPr algn="l"/>
            <a:r>
              <a:rPr sz="950" b="0" i="0">
                <a:solidFill>
                  <a:srgbClr val="3A4356"/>
                </a:solidFill>
              </a:rPr>
              <a:t>CAD to Cost on rules — asks where the geometry can't decide</a:t>
            </a:r>
          </a:p>
        </p:txBody>
      </p:sp>
      <p:sp>
        <p:nvSpPr>
          <p:cNvPr id="18" name="Rectangle 17"/>
          <p:cNvSpPr/>
          <p:nvPr/>
        </p:nvSpPr>
        <p:spPr>
          <a:xfrm>
            <a:off x="594360" y="3254248"/>
            <a:ext cx="54864" cy="54864"/>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117088"/>
            <a:ext cx="4846320" cy="274320"/>
          </a:xfrm>
          <a:prstGeom prst="rect">
            <a:avLst/>
          </a:prstGeom>
          <a:noFill/>
        </p:spPr>
        <p:txBody>
          <a:bodyPr wrap="square">
            <a:spAutoFit/>
          </a:bodyPr>
          <a:lstStyle/>
          <a:p>
            <a:pPr algn="l"/>
            <a:r>
              <a:rPr sz="950" b="0" i="0">
                <a:solidFill>
                  <a:srgbClr val="3A4356"/>
                </a:solidFill>
              </a:rPr>
              <a:t>Rate library dated 16 June 2026, editable</a:t>
            </a:r>
          </a:p>
        </p:txBody>
      </p:sp>
      <p:sp>
        <p:nvSpPr>
          <p:cNvPr id="20" name="Rectangle 19"/>
          <p:cNvSpPr/>
          <p:nvPr/>
        </p:nvSpPr>
        <p:spPr>
          <a:xfrm>
            <a:off x="594360" y="3697224"/>
            <a:ext cx="54864" cy="54864"/>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3560064"/>
            <a:ext cx="4846320" cy="274320"/>
          </a:xfrm>
          <a:prstGeom prst="rect">
            <a:avLst/>
          </a:prstGeom>
          <a:noFill/>
        </p:spPr>
        <p:txBody>
          <a:bodyPr wrap="square">
            <a:spAutoFit/>
          </a:bodyPr>
          <a:lstStyle/>
          <a:p>
            <a:pPr algn="l"/>
            <a:r>
              <a:rPr sz="950" b="0" i="0">
                <a:solidFill>
                  <a:srgbClr val="3A4356"/>
                </a:solidFill>
              </a:rPr>
              <a:t>Self-audit and a P10–P90 band on every result</a:t>
            </a:r>
          </a:p>
        </p:txBody>
      </p:sp>
      <p:sp>
        <p:nvSpPr>
          <p:cNvPr id="22" name="Rectangle 21"/>
          <p:cNvSpPr/>
          <p:nvPr/>
        </p:nvSpPr>
        <p:spPr>
          <a:xfrm>
            <a:off x="594360" y="4140200"/>
            <a:ext cx="54864" cy="54864"/>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4003040"/>
            <a:ext cx="4846320" cy="274320"/>
          </a:xfrm>
          <a:prstGeom prst="rect">
            <a:avLst/>
          </a:prstGeom>
          <a:noFill/>
        </p:spPr>
        <p:txBody>
          <a:bodyPr wrap="square">
            <a:spAutoFit/>
          </a:bodyPr>
          <a:lstStyle/>
          <a:p>
            <a:pPr algn="l"/>
            <a:r>
              <a:rPr sz="950" b="0" i="0">
                <a:solidFill>
                  <a:srgbClr val="3A4356"/>
                </a:solidFill>
              </a:rPr>
              <a:t>Learns from logged quotes and PO prices</a:t>
            </a:r>
          </a:p>
        </p:txBody>
      </p:sp>
      <p:sp>
        <p:nvSpPr>
          <p:cNvPr id="24" name="Rectangle 23"/>
          <p:cNvSpPr/>
          <p:nvPr/>
        </p:nvSpPr>
        <p:spPr>
          <a:xfrm>
            <a:off x="594360" y="4583176"/>
            <a:ext cx="54864" cy="54864"/>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4446016"/>
            <a:ext cx="4846320" cy="274320"/>
          </a:xfrm>
          <a:prstGeom prst="rect">
            <a:avLst/>
          </a:prstGeom>
          <a:noFill/>
        </p:spPr>
        <p:txBody>
          <a:bodyPr wrap="square">
            <a:spAutoFit/>
          </a:bodyPr>
          <a:lstStyle/>
          <a:p>
            <a:pPr algn="l"/>
            <a:r>
              <a:rPr sz="950" b="0" i="0">
                <a:solidFill>
                  <a:srgbClr val="3A4356"/>
                </a:solidFill>
              </a:rPr>
              <a:t>20 regions, each in its own currency</a:t>
            </a:r>
          </a:p>
        </p:txBody>
      </p:sp>
      <p:sp>
        <p:nvSpPr>
          <p:cNvPr id="26" name="Rectangle 25"/>
          <p:cNvSpPr/>
          <p:nvPr/>
        </p:nvSpPr>
        <p:spPr>
          <a:xfrm>
            <a:off x="594360" y="5026152"/>
            <a:ext cx="54864" cy="54864"/>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4888992"/>
            <a:ext cx="4846320" cy="274320"/>
          </a:xfrm>
          <a:prstGeom prst="rect">
            <a:avLst/>
          </a:prstGeom>
          <a:noFill/>
        </p:spPr>
        <p:txBody>
          <a:bodyPr wrap="square">
            <a:spAutoFit/>
          </a:bodyPr>
          <a:lstStyle/>
          <a:p>
            <a:pPr algn="l"/>
            <a:r>
              <a:rPr sz="950" b="0" i="0">
                <a:solidFill>
                  <a:srgbClr val="3A4356"/>
                </a:solidFill>
              </a:rPr>
              <a:t>Supplier quote comparison and negotiation pack</a:t>
            </a:r>
          </a:p>
        </p:txBody>
      </p:sp>
      <p:sp>
        <p:nvSpPr>
          <p:cNvPr id="28" name="Rectangle 27"/>
          <p:cNvSpPr/>
          <p:nvPr/>
        </p:nvSpPr>
        <p:spPr>
          <a:xfrm>
            <a:off x="594360" y="5469128"/>
            <a:ext cx="54864" cy="54864"/>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 y="5331968"/>
            <a:ext cx="4846320" cy="274320"/>
          </a:xfrm>
          <a:prstGeom prst="rect">
            <a:avLst/>
          </a:prstGeom>
          <a:noFill/>
        </p:spPr>
        <p:txBody>
          <a:bodyPr wrap="square">
            <a:spAutoFit/>
          </a:bodyPr>
          <a:lstStyle/>
          <a:p>
            <a:pPr algn="l"/>
            <a:r>
              <a:rPr sz="950" b="0" i="0">
                <a:solidFill>
                  <a:srgbClr val="3A4356"/>
                </a:solidFill>
              </a:rPr>
              <a:t>Excel and PDF that match the screen to the penny</a:t>
            </a:r>
          </a:p>
        </p:txBody>
      </p:sp>
      <p:sp>
        <p:nvSpPr>
          <p:cNvPr id="30" name="Rectangle 29"/>
          <p:cNvSpPr/>
          <p:nvPr/>
        </p:nvSpPr>
        <p:spPr>
          <a:xfrm>
            <a:off x="594360" y="5912104"/>
            <a:ext cx="54864" cy="54864"/>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5774944"/>
            <a:ext cx="4846320" cy="274320"/>
          </a:xfrm>
          <a:prstGeom prst="rect">
            <a:avLst/>
          </a:prstGeom>
          <a:noFill/>
        </p:spPr>
        <p:txBody>
          <a:bodyPr wrap="square">
            <a:spAutoFit/>
          </a:bodyPr>
          <a:lstStyle/>
          <a:p>
            <a:pPr algn="l"/>
            <a:r>
              <a:rPr sz="950" b="0" i="0">
                <a:solidFill>
                  <a:srgbClr val="3A4356"/>
                </a:solidFill>
              </a:rPr>
              <a:t>Windows laptop package — no internet, no admin</a:t>
            </a:r>
          </a:p>
        </p:txBody>
      </p:sp>
      <p:sp>
        <p:nvSpPr>
          <p:cNvPr id="32" name="Rectangle 31"/>
          <p:cNvSpPr/>
          <p:nvPr/>
        </p:nvSpPr>
        <p:spPr>
          <a:xfrm>
            <a:off x="6035040" y="1828800"/>
            <a:ext cx="5760720" cy="969264"/>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35040" y="1828800"/>
            <a:ext cx="54864" cy="969264"/>
          </a:xfrm>
          <a:prstGeom prst="rect">
            <a:avLst/>
          </a:prstGeom>
          <a:solidFill>
            <a:srgbClr val="996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63056" y="1883664"/>
            <a:ext cx="5577840" cy="256032"/>
          </a:xfrm>
          <a:prstGeom prst="rect">
            <a:avLst/>
          </a:prstGeom>
          <a:noFill/>
        </p:spPr>
        <p:txBody>
          <a:bodyPr wrap="square">
            <a:spAutoFit/>
          </a:bodyPr>
          <a:lstStyle/>
          <a:p>
            <a:pPr algn="l"/>
            <a:r>
              <a:rPr sz="950" b="1" i="0">
                <a:solidFill>
                  <a:srgbClr val="99651A"/>
                </a:solidFill>
              </a:rPr>
              <a:t>Next</a:t>
            </a:r>
          </a:p>
        </p:txBody>
      </p:sp>
      <p:sp>
        <p:nvSpPr>
          <p:cNvPr id="35" name="TextBox 34"/>
          <p:cNvSpPr txBox="1"/>
          <p:nvPr/>
        </p:nvSpPr>
        <p:spPr>
          <a:xfrm>
            <a:off x="6163056" y="2121408"/>
            <a:ext cx="5577840" cy="658368"/>
          </a:xfrm>
          <a:prstGeom prst="rect">
            <a:avLst/>
          </a:prstGeom>
          <a:noFill/>
        </p:spPr>
        <p:txBody>
          <a:bodyPr wrap="square">
            <a:spAutoFit/>
          </a:bodyPr>
          <a:lstStyle/>
          <a:p>
            <a:pPr algn="l"/>
            <a:r>
              <a:rPr sz="850" b="0" i="0">
                <a:solidFill>
                  <a:srgbClr val="3A4356"/>
                </a:solidFill>
              </a:rPr>
              <a:t>Connect to Teamcenter and SAP
Cost-target view for programme teams
Compare several suppliers side by side</a:t>
            </a:r>
          </a:p>
        </p:txBody>
      </p:sp>
      <p:sp>
        <p:nvSpPr>
          <p:cNvPr id="36" name="Rectangle 35"/>
          <p:cNvSpPr/>
          <p:nvPr/>
        </p:nvSpPr>
        <p:spPr>
          <a:xfrm>
            <a:off x="6035040" y="2871215"/>
            <a:ext cx="5760720" cy="969264"/>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35040" y="2871215"/>
            <a:ext cx="54864" cy="969264"/>
          </a:xfrm>
          <a:prstGeom prst="rect">
            <a:avLst/>
          </a:prstGeom>
          <a:solidFill>
            <a:srgbClr val="6B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63056" y="2926079"/>
            <a:ext cx="5577840" cy="256032"/>
          </a:xfrm>
          <a:prstGeom prst="rect">
            <a:avLst/>
          </a:prstGeom>
          <a:noFill/>
        </p:spPr>
        <p:txBody>
          <a:bodyPr wrap="square">
            <a:spAutoFit/>
          </a:bodyPr>
          <a:lstStyle/>
          <a:p>
            <a:pPr algn="l"/>
            <a:r>
              <a:rPr sz="950" b="1" i="0">
                <a:solidFill>
                  <a:srgbClr val="6B3FA0"/>
                </a:solidFill>
              </a:rPr>
              <a:t>Then</a:t>
            </a:r>
          </a:p>
        </p:txBody>
      </p:sp>
      <p:sp>
        <p:nvSpPr>
          <p:cNvPr id="39" name="TextBox 38"/>
          <p:cNvSpPr txBox="1"/>
          <p:nvPr/>
        </p:nvSpPr>
        <p:spPr>
          <a:xfrm>
            <a:off x="6163056" y="3163823"/>
            <a:ext cx="5577840" cy="658368"/>
          </a:xfrm>
          <a:prstGeom prst="rect">
            <a:avLst/>
          </a:prstGeom>
          <a:noFill/>
        </p:spPr>
        <p:txBody>
          <a:bodyPr wrap="square">
            <a:spAutoFit/>
          </a:bodyPr>
          <a:lstStyle/>
          <a:p>
            <a:pPr algn="l"/>
            <a:r>
              <a:rPr sz="850" b="0" i="0">
                <a:solidFill>
                  <a:srgbClr val="3A4356"/>
                </a:solidFill>
              </a:rPr>
              <a:t>Calibrate from live ERP actuals
Draft the RFQ from the should-cost
Portfolio view for leadership</a:t>
            </a:r>
          </a:p>
        </p:txBody>
      </p:sp>
      <p:sp>
        <p:nvSpPr>
          <p:cNvPr id="40" name="Rectangle 39"/>
          <p:cNvSpPr/>
          <p:nvPr/>
        </p:nvSpPr>
        <p:spPr>
          <a:xfrm>
            <a:off x="6035040" y="3913630"/>
            <a:ext cx="5760720" cy="969264"/>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035040" y="3913630"/>
            <a:ext cx="54864" cy="969264"/>
          </a:xfrm>
          <a:prstGeom prst="rect">
            <a:avLst/>
          </a:prstGeom>
          <a:solidFill>
            <a:srgbClr val="1D6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63056" y="3968494"/>
            <a:ext cx="5577840" cy="256032"/>
          </a:xfrm>
          <a:prstGeom prst="rect">
            <a:avLst/>
          </a:prstGeom>
          <a:noFill/>
        </p:spPr>
        <p:txBody>
          <a:bodyPr wrap="square">
            <a:spAutoFit/>
          </a:bodyPr>
          <a:lstStyle/>
          <a:p>
            <a:pPr algn="l"/>
            <a:r>
              <a:rPr sz="950" b="1" i="0">
                <a:solidFill>
                  <a:srgbClr val="1D6FB8"/>
                </a:solidFill>
              </a:rPr>
              <a:t>Later</a:t>
            </a:r>
          </a:p>
        </p:txBody>
      </p:sp>
      <p:sp>
        <p:nvSpPr>
          <p:cNvPr id="43" name="TextBox 42"/>
          <p:cNvSpPr txBox="1"/>
          <p:nvPr/>
        </p:nvSpPr>
        <p:spPr>
          <a:xfrm>
            <a:off x="6163056" y="4206238"/>
            <a:ext cx="5577840" cy="658368"/>
          </a:xfrm>
          <a:prstGeom prst="rect">
            <a:avLst/>
          </a:prstGeom>
          <a:noFill/>
        </p:spPr>
        <p:txBody>
          <a:bodyPr wrap="square">
            <a:spAutoFit/>
          </a:bodyPr>
          <a:lstStyle/>
          <a:p>
            <a:pPr algn="l"/>
            <a:r>
              <a:rPr sz="850" b="0" i="0">
                <a:solidFill>
                  <a:srgbClr val="3A4356"/>
                </a:solidFill>
              </a:rPr>
              <a:t>Cost that updates as the design changes
Redesign suggestions from AI — only if AI is approved
Supplier risk scoring</a:t>
            </a:r>
          </a:p>
        </p:txBody>
      </p:sp>
      <p:sp>
        <p:nvSpPr>
          <p:cNvPr id="44" name="Rectangle 43"/>
          <p:cNvSpPr/>
          <p:nvPr/>
        </p:nvSpPr>
        <p:spPr>
          <a:xfrm>
            <a:off x="6035040" y="4956045"/>
            <a:ext cx="5760720" cy="1371600"/>
          </a:xfrm>
          <a:prstGeom prst="rect">
            <a:avLst/>
          </a:prstGeom>
          <a:solidFill>
            <a:srgbClr val="FFFFFF"/>
          </a:solidFill>
          <a:ln w="635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035040" y="4956045"/>
            <a:ext cx="54864" cy="1371600"/>
          </a:xfrm>
          <a:prstGeom prst="rect">
            <a:avLst/>
          </a:prstGeom>
          <a:solidFill>
            <a:srgbClr val="2A7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63056" y="5029197"/>
            <a:ext cx="5577840" cy="256032"/>
          </a:xfrm>
          <a:prstGeom prst="rect">
            <a:avLst/>
          </a:prstGeom>
          <a:noFill/>
        </p:spPr>
        <p:txBody>
          <a:bodyPr wrap="square">
            <a:spAutoFit/>
          </a:bodyPr>
          <a:lstStyle/>
          <a:p>
            <a:pPr algn="l"/>
            <a:r>
              <a:rPr sz="950" b="1" i="0">
                <a:solidFill>
                  <a:srgbClr val="2A7F50"/>
                </a:solidFill>
              </a:rPr>
              <a:t>Pilot — the Ask</a:t>
            </a:r>
          </a:p>
        </p:txBody>
      </p:sp>
      <p:sp>
        <p:nvSpPr>
          <p:cNvPr id="47" name="TextBox 46"/>
          <p:cNvSpPr txBox="1"/>
          <p:nvPr/>
        </p:nvSpPr>
        <p:spPr>
          <a:xfrm>
            <a:off x="6163056" y="5303517"/>
            <a:ext cx="5577840" cy="960120"/>
          </a:xfrm>
          <a:prstGeom prst="rect">
            <a:avLst/>
          </a:prstGeom>
          <a:noFill/>
        </p:spPr>
        <p:txBody>
          <a:bodyPr wrap="square">
            <a:spAutoFit/>
          </a:bodyPr>
          <a:lstStyle/>
          <a:p>
            <a:pPr algn="l"/>
            <a:r>
              <a:rPr sz="900" b="0" i="0">
                <a:solidFill>
                  <a:srgbClr val="3A4356"/>
                </a:solidFill>
              </a:rPr>
              <a:t>• Two or three commodities, one programme team
• Four to six weeks, on real parts with real quotes and PO prices
• Log every actual, so accuracy is measured, not claimed
• Avinash Bhosale — Cost Engineering &amp; Digital Innovation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