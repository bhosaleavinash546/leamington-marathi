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02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03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04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208776"/>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473952"/>
            <a:ext cx="2651760" cy="228600"/>
          </a:xfrm>
          <a:prstGeom prst="rect">
            <a:avLst/>
          </a:prstGeom>
          <a:noFill/>
        </p:spPr>
        <p:txBody>
          <a:bodyPr wrap="square">
            <a:spAutoFit/>
          </a:bodyPr>
          <a:lstStyle/>
          <a:p>
            <a:pPr algn="l"/>
            <a:r>
              <a:rPr sz="750" b="0" i="0">
                <a:solidFill>
                  <a:srgbClr val="9AA3B8"/>
                </a:solidFill>
              </a:rPr>
              <a:t>⚡ Zero manual form-filling</a:t>
            </a:r>
          </a:p>
        </p:txBody>
      </p:sp>
      <p:sp>
        <p:nvSpPr>
          <p:cNvPr id="41" name="TextBox 40"/>
          <p:cNvSpPr txBox="1"/>
          <p:nvPr/>
        </p:nvSpPr>
        <p:spPr>
          <a:xfrm>
            <a:off x="8869680" y="6473952"/>
            <a:ext cx="2651760" cy="228600"/>
          </a:xfrm>
          <a:prstGeom prst="rect">
            <a:avLst/>
          </a:prstGeom>
          <a:noFill/>
        </p:spPr>
        <p:txBody>
          <a:bodyPr wrap="square">
            <a:spAutoFit/>
          </a:bodyPr>
          <a:lstStyle/>
          <a:p>
            <a:pPr algn="l"/>
            <a:r>
              <a:rPr sz="750" b="0" i="0">
                <a:solidFill>
                  <a:srgbClr val="9AA3B8"/>
                </a:solidFill>
              </a:rPr>
              <a:t>🎯 Works for any commodity</a:t>
            </a:r>
          </a:p>
        </p:txBody>
      </p:sp>
      <p:sp>
        <p:nvSpPr>
          <p:cNvPr id="42" name="TextBox 41"/>
          <p:cNvSpPr txBox="1"/>
          <p:nvPr/>
        </p:nvSpPr>
        <p:spPr>
          <a:xfrm>
            <a:off x="6126480" y="6748272"/>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748272"/>
            <a:ext cx="2651760" cy="228600"/>
          </a:xfrm>
          <a:prstGeom prst="rect">
            <a:avLst/>
          </a:prstGeom>
          <a:noFill/>
        </p:spPr>
        <p:txBody>
          <a:bodyPr wrap="square">
            <a:spAutoFit/>
          </a:bodyPr>
          <a:lstStyle/>
          <a:p>
            <a:pPr algn="l"/>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05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0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0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0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0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0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0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0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06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 AI Agent (plain English description)   |   Entry Point B: 📐 CAD / Photo Upload   |   Entry Point C: ✏️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0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0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0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0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0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0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0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0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rPr>
              <a:t>📉 Learning curve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07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578385" cy="292608"/>
          </a:xfrm>
          <a:prstGeom prst="rect">
            <a:avLst/>
          </a:prstGeom>
          <a:noFill/>
        </p:spPr>
        <p:txBody>
          <a:bodyPr wrap="square">
            <a:spAutoFit/>
          </a:bodyPr>
          <a:lstStyle/>
          <a:p>
            <a:pPr algn="ctr"/>
            <a:r>
              <a:rPr sz="1300" b="0" i="0">
                <a:solidFill>
                  <a:srgbClr val="F0F2F8"/>
                </a:solidFill>
              </a:rPr>
              <a:t>⚙️</a:t>
            </a:r>
          </a:p>
        </p:txBody>
      </p:sp>
      <p:sp>
        <p:nvSpPr>
          <p:cNvPr id="13" name="TextBox 12"/>
          <p:cNvSpPr txBox="1"/>
          <p:nvPr/>
        </p:nvSpPr>
        <p:spPr>
          <a:xfrm>
            <a:off x="411480" y="2157984"/>
            <a:ext cx="1578385" cy="201168"/>
          </a:xfrm>
          <a:prstGeom prst="rect">
            <a:avLst/>
          </a:prstGeom>
          <a:noFill/>
        </p:spPr>
        <p:txBody>
          <a:bodyPr wrap="square">
            <a:spAutoFit/>
          </a:bodyPr>
          <a:lstStyle/>
          <a:p>
            <a:pPr algn="ctr"/>
            <a:r>
              <a:rPr sz="750" b="1" i="0">
                <a:solidFill>
                  <a:srgbClr val="F0F2F8"/>
                </a:solidFill>
              </a:rPr>
              <a:t>CNC Machining</a:t>
            </a:r>
          </a:p>
        </p:txBody>
      </p:sp>
      <p:sp>
        <p:nvSpPr>
          <p:cNvPr id="14" name="TextBox 13"/>
          <p:cNvSpPr txBox="1"/>
          <p:nvPr/>
        </p:nvSpPr>
        <p:spPr>
          <a:xfrm>
            <a:off x="411480" y="2340864"/>
            <a:ext cx="1578385" cy="201168"/>
          </a:xfrm>
          <a:prstGeom prst="rect">
            <a:avLst/>
          </a:prstGeom>
          <a:noFill/>
        </p:spPr>
        <p:txBody>
          <a:bodyPr wrap="square">
            <a:spAutoFit/>
          </a:bodyPr>
          <a:lstStyle/>
          <a:p>
            <a:pPr algn="ctr"/>
            <a:r>
              <a:rPr sz="650" b="0" i="0">
                <a:solidFill>
                  <a:srgbClr val="5A6380"/>
                </a:solidFill>
              </a:rPr>
              <a:t>3/4/5-axis, turning, grinding</a:t>
            </a:r>
          </a:p>
        </p:txBody>
      </p:sp>
      <p:sp>
        <p:nvSpPr>
          <p:cNvPr id="15" name="Rectangle 14"/>
          <p:cNvSpPr/>
          <p:nvPr/>
        </p:nvSpPr>
        <p:spPr>
          <a:xfrm>
            <a:off x="2040157"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0157" y="1865376"/>
            <a:ext cx="1578385" cy="292608"/>
          </a:xfrm>
          <a:prstGeom prst="rect">
            <a:avLst/>
          </a:prstGeom>
          <a:noFill/>
        </p:spPr>
        <p:txBody>
          <a:bodyPr wrap="square">
            <a:spAutoFit/>
          </a:bodyPr>
          <a:lstStyle/>
          <a:p>
            <a:pPr algn="ctr"/>
            <a:r>
              <a:rPr sz="1300" b="0" i="0">
                <a:solidFill>
                  <a:srgbClr val="F0F2F8"/>
                </a:solidFill>
              </a:rPr>
              <a:t>🪨</a:t>
            </a:r>
          </a:p>
        </p:txBody>
      </p:sp>
      <p:sp>
        <p:nvSpPr>
          <p:cNvPr id="17" name="TextBox 16"/>
          <p:cNvSpPr txBox="1"/>
          <p:nvPr/>
        </p:nvSpPr>
        <p:spPr>
          <a:xfrm>
            <a:off x="2040157" y="2157984"/>
            <a:ext cx="1578385" cy="201168"/>
          </a:xfrm>
          <a:prstGeom prst="rect">
            <a:avLst/>
          </a:prstGeom>
          <a:noFill/>
        </p:spPr>
        <p:txBody>
          <a:bodyPr wrap="square">
            <a:spAutoFit/>
          </a:bodyPr>
          <a:lstStyle/>
          <a:p>
            <a:pPr algn="ctr"/>
            <a:r>
              <a:rPr sz="750" b="1" i="0">
                <a:solidFill>
                  <a:srgbClr val="F0F2F8"/>
                </a:solidFill>
              </a:rPr>
              <a:t>Casting</a:t>
            </a:r>
          </a:p>
        </p:txBody>
      </p:sp>
      <p:sp>
        <p:nvSpPr>
          <p:cNvPr id="18" name="TextBox 17"/>
          <p:cNvSpPr txBox="1"/>
          <p:nvPr/>
        </p:nvSpPr>
        <p:spPr>
          <a:xfrm>
            <a:off x="2040157" y="2340864"/>
            <a:ext cx="1578385" cy="201168"/>
          </a:xfrm>
          <a:prstGeom prst="rect">
            <a:avLst/>
          </a:prstGeom>
          <a:noFill/>
        </p:spPr>
        <p:txBody>
          <a:bodyPr wrap="square">
            <a:spAutoFit/>
          </a:bodyPr>
          <a:lstStyle/>
          <a:p>
            <a:pPr algn="ctr"/>
            <a:r>
              <a:rPr sz="650" b="0" i="0">
                <a:solidFill>
                  <a:srgbClr val="5A6380"/>
                </a:solidFill>
              </a:rPr>
              <a:t>HPDC, gravity, investment, sand</a:t>
            </a:r>
          </a:p>
        </p:txBody>
      </p:sp>
      <p:sp>
        <p:nvSpPr>
          <p:cNvPr id="19" name="Rectangle 18"/>
          <p:cNvSpPr/>
          <p:nvPr/>
        </p:nvSpPr>
        <p:spPr>
          <a:xfrm>
            <a:off x="3668834"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68834" y="1865376"/>
            <a:ext cx="1578385" cy="292608"/>
          </a:xfrm>
          <a:prstGeom prst="rect">
            <a:avLst/>
          </a:prstGeom>
          <a:noFill/>
        </p:spPr>
        <p:txBody>
          <a:bodyPr wrap="square">
            <a:spAutoFit/>
          </a:bodyPr>
          <a:lstStyle/>
          <a:p>
            <a:pPr algn="ctr"/>
            <a:r>
              <a:rPr sz="1300" b="0" i="0">
                <a:solidFill>
                  <a:srgbClr val="F0F2F8"/>
                </a:solidFill>
              </a:rPr>
              <a:t>🏗️</a:t>
            </a:r>
          </a:p>
        </p:txBody>
      </p:sp>
      <p:sp>
        <p:nvSpPr>
          <p:cNvPr id="21" name="TextBox 20"/>
          <p:cNvSpPr txBox="1"/>
          <p:nvPr/>
        </p:nvSpPr>
        <p:spPr>
          <a:xfrm>
            <a:off x="3668834" y="2157984"/>
            <a:ext cx="1578385" cy="201168"/>
          </a:xfrm>
          <a:prstGeom prst="rect">
            <a:avLst/>
          </a:prstGeom>
          <a:noFill/>
        </p:spPr>
        <p:txBody>
          <a:bodyPr wrap="square">
            <a:spAutoFit/>
          </a:bodyPr>
          <a:lstStyle/>
          <a:p>
            <a:pPr algn="ctr"/>
            <a:r>
              <a:rPr sz="750" b="1" i="0">
                <a:solidFill>
                  <a:srgbClr val="F0F2F8"/>
                </a:solidFill>
              </a:rPr>
              <a:t>Cast + Machine</a:t>
            </a:r>
          </a:p>
        </p:txBody>
      </p:sp>
      <p:sp>
        <p:nvSpPr>
          <p:cNvPr id="22" name="TextBox 21"/>
          <p:cNvSpPr txBox="1"/>
          <p:nvPr/>
        </p:nvSpPr>
        <p:spPr>
          <a:xfrm>
            <a:off x="3668834" y="2340864"/>
            <a:ext cx="1578385" cy="201168"/>
          </a:xfrm>
          <a:prstGeom prst="rect">
            <a:avLst/>
          </a:prstGeom>
          <a:noFill/>
        </p:spPr>
        <p:txBody>
          <a:bodyPr wrap="square">
            <a:spAutoFit/>
          </a:bodyPr>
          <a:lstStyle/>
          <a:p>
            <a:pPr algn="ctr"/>
            <a:r>
              <a:rPr sz="650" b="0" i="0">
                <a:solidFill>
                  <a:srgbClr val="5A6380"/>
                </a:solidFill>
              </a:rPr>
              <a:t>Casting + post-ops + HT</a:t>
            </a:r>
          </a:p>
        </p:txBody>
      </p:sp>
      <p:sp>
        <p:nvSpPr>
          <p:cNvPr id="23" name="Rectangle 22"/>
          <p:cNvSpPr/>
          <p:nvPr/>
        </p:nvSpPr>
        <p:spPr>
          <a:xfrm>
            <a:off x="5297511"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511" y="1865376"/>
            <a:ext cx="1578385" cy="292608"/>
          </a:xfrm>
          <a:prstGeom prst="rect">
            <a:avLst/>
          </a:prstGeom>
          <a:noFill/>
        </p:spPr>
        <p:txBody>
          <a:bodyPr wrap="square">
            <a:spAutoFit/>
          </a:bodyPr>
          <a:lstStyle/>
          <a:p>
            <a:pPr algn="ctr"/>
            <a:r>
              <a:rPr sz="1300" b="0" i="0">
                <a:solidFill>
                  <a:srgbClr val="F0F2F8"/>
                </a:solidFill>
              </a:rPr>
              <a:t>🔨</a:t>
            </a:r>
          </a:p>
        </p:txBody>
      </p:sp>
      <p:sp>
        <p:nvSpPr>
          <p:cNvPr id="25" name="TextBox 24"/>
          <p:cNvSpPr txBox="1"/>
          <p:nvPr/>
        </p:nvSpPr>
        <p:spPr>
          <a:xfrm>
            <a:off x="5297511" y="2157984"/>
            <a:ext cx="1578385" cy="201168"/>
          </a:xfrm>
          <a:prstGeom prst="rect">
            <a:avLst/>
          </a:prstGeom>
          <a:noFill/>
        </p:spPr>
        <p:txBody>
          <a:bodyPr wrap="square">
            <a:spAutoFit/>
          </a:bodyPr>
          <a:lstStyle/>
          <a:p>
            <a:pPr algn="ctr"/>
            <a:r>
              <a:rPr sz="750" b="1" i="0">
                <a:solidFill>
                  <a:srgbClr val="F0F2F8"/>
                </a:solidFill>
              </a:rPr>
              <a:t>Forging</a:t>
            </a:r>
          </a:p>
        </p:txBody>
      </p:sp>
      <p:sp>
        <p:nvSpPr>
          <p:cNvPr id="26" name="TextBox 25"/>
          <p:cNvSpPr txBox="1"/>
          <p:nvPr/>
        </p:nvSpPr>
        <p:spPr>
          <a:xfrm>
            <a:off x="5297511" y="2340864"/>
            <a:ext cx="1578385" cy="201168"/>
          </a:xfrm>
          <a:prstGeom prst="rect">
            <a:avLst/>
          </a:prstGeom>
          <a:noFill/>
        </p:spPr>
        <p:txBody>
          <a:bodyPr wrap="square">
            <a:spAutoFit/>
          </a:bodyPr>
          <a:lstStyle/>
          <a:p>
            <a:pPr algn="ctr"/>
            <a:r>
              <a:rPr sz="650" b="0" i="0">
                <a:solidFill>
                  <a:srgbClr val="5A6380"/>
                </a:solidFill>
              </a:rPr>
              <a:t>Hot, warm, cold die forging</a:t>
            </a:r>
          </a:p>
        </p:txBody>
      </p:sp>
      <p:sp>
        <p:nvSpPr>
          <p:cNvPr id="27" name="Rectangle 26"/>
          <p:cNvSpPr/>
          <p:nvPr/>
        </p:nvSpPr>
        <p:spPr>
          <a:xfrm>
            <a:off x="6926188"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6188" y="1865376"/>
            <a:ext cx="1578385" cy="292608"/>
          </a:xfrm>
          <a:prstGeom prst="rect">
            <a:avLst/>
          </a:prstGeom>
          <a:noFill/>
        </p:spPr>
        <p:txBody>
          <a:bodyPr wrap="square">
            <a:spAutoFit/>
          </a:bodyPr>
          <a:lstStyle/>
          <a:p>
            <a:pPr algn="ctr"/>
            <a:r>
              <a:rPr sz="1300" b="0" i="0">
                <a:solidFill>
                  <a:srgbClr val="F0F2F8"/>
                </a:solidFill>
              </a:rPr>
              <a:t>🪗</a:t>
            </a:r>
          </a:p>
        </p:txBody>
      </p:sp>
      <p:sp>
        <p:nvSpPr>
          <p:cNvPr id="29" name="TextBox 28"/>
          <p:cNvSpPr txBox="1"/>
          <p:nvPr/>
        </p:nvSpPr>
        <p:spPr>
          <a:xfrm>
            <a:off x="6926188" y="2157984"/>
            <a:ext cx="1578385" cy="201168"/>
          </a:xfrm>
          <a:prstGeom prst="rect">
            <a:avLst/>
          </a:prstGeom>
          <a:noFill/>
        </p:spPr>
        <p:txBody>
          <a:bodyPr wrap="square">
            <a:spAutoFit/>
          </a:bodyPr>
          <a:lstStyle/>
          <a:p>
            <a:pPr algn="ctr"/>
            <a:r>
              <a:rPr sz="750" b="1" i="0">
                <a:solidFill>
                  <a:srgbClr val="F0F2F8"/>
                </a:solidFill>
              </a:rPr>
              <a:t>Sheet Metal</a:t>
            </a:r>
          </a:p>
        </p:txBody>
      </p:sp>
      <p:sp>
        <p:nvSpPr>
          <p:cNvPr id="30" name="TextBox 29"/>
          <p:cNvSpPr txBox="1"/>
          <p:nvPr/>
        </p:nvSpPr>
        <p:spPr>
          <a:xfrm>
            <a:off x="6926188" y="2340864"/>
            <a:ext cx="1578385" cy="201168"/>
          </a:xfrm>
          <a:prstGeom prst="rect">
            <a:avLst/>
          </a:prstGeom>
          <a:noFill/>
        </p:spPr>
        <p:txBody>
          <a:bodyPr wrap="square">
            <a:spAutoFit/>
          </a:bodyPr>
          <a:lstStyle/>
          <a:p>
            <a:pPr algn="ctr"/>
            <a:r>
              <a:rPr sz="650" b="0" i="0">
                <a:solidFill>
                  <a:srgbClr val="5A6380"/>
                </a:solidFill>
              </a:rPr>
              <a:t>Progressive/transfer die</a:t>
            </a:r>
          </a:p>
        </p:txBody>
      </p:sp>
      <p:sp>
        <p:nvSpPr>
          <p:cNvPr id="31" name="Rectangle 30"/>
          <p:cNvSpPr/>
          <p:nvPr/>
        </p:nvSpPr>
        <p:spPr>
          <a:xfrm>
            <a:off x="8554865"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4865" y="1865376"/>
            <a:ext cx="1578385" cy="292608"/>
          </a:xfrm>
          <a:prstGeom prst="rect">
            <a:avLst/>
          </a:prstGeom>
          <a:noFill/>
        </p:spPr>
        <p:txBody>
          <a:bodyPr wrap="square">
            <a:spAutoFit/>
          </a:bodyPr>
          <a:lstStyle/>
          <a:p>
            <a:pPr algn="ctr"/>
            <a:r>
              <a:rPr sz="1300" b="0" i="0">
                <a:solidFill>
                  <a:srgbClr val="F0F2F8"/>
                </a:solidFill>
              </a:rPr>
              <a:t>🔩</a:t>
            </a:r>
          </a:p>
        </p:txBody>
      </p:sp>
      <p:sp>
        <p:nvSpPr>
          <p:cNvPr id="33" name="TextBox 32"/>
          <p:cNvSpPr txBox="1"/>
          <p:nvPr/>
        </p:nvSpPr>
        <p:spPr>
          <a:xfrm>
            <a:off x="8554865" y="2157984"/>
            <a:ext cx="1578385" cy="201168"/>
          </a:xfrm>
          <a:prstGeom prst="rect">
            <a:avLst/>
          </a:prstGeom>
          <a:noFill/>
        </p:spPr>
        <p:txBody>
          <a:bodyPr wrap="square">
            <a:spAutoFit/>
          </a:bodyPr>
          <a:lstStyle/>
          <a:p>
            <a:pPr algn="ctr"/>
            <a:r>
              <a:rPr sz="750" b="1" i="0">
                <a:solidFill>
                  <a:srgbClr val="F0F2F8"/>
                </a:solidFill>
              </a:rPr>
              <a:t>Sheet Metal Fab</a:t>
            </a:r>
          </a:p>
        </p:txBody>
      </p:sp>
      <p:sp>
        <p:nvSpPr>
          <p:cNvPr id="34" name="TextBox 33"/>
          <p:cNvSpPr txBox="1"/>
          <p:nvPr/>
        </p:nvSpPr>
        <p:spPr>
          <a:xfrm>
            <a:off x="8554865" y="2340864"/>
            <a:ext cx="1578385" cy="201168"/>
          </a:xfrm>
          <a:prstGeom prst="rect">
            <a:avLst/>
          </a:prstGeom>
          <a:noFill/>
        </p:spPr>
        <p:txBody>
          <a:bodyPr wrap="square">
            <a:spAutoFit/>
          </a:bodyPr>
          <a:lstStyle/>
          <a:p>
            <a:pPr algn="ctr"/>
            <a:r>
              <a:rPr sz="650" b="0" i="0">
                <a:solidFill>
                  <a:srgbClr val="5A6380"/>
                </a:solidFill>
              </a:rPr>
              <a:t>Laser · punch · press brake · MIG</a:t>
            </a:r>
          </a:p>
        </p:txBody>
      </p:sp>
      <p:sp>
        <p:nvSpPr>
          <p:cNvPr id="35" name="Rectangle 34"/>
          <p:cNvSpPr/>
          <p:nvPr/>
        </p:nvSpPr>
        <p:spPr>
          <a:xfrm>
            <a:off x="10183542"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83542" y="1865376"/>
            <a:ext cx="1578385" cy="292608"/>
          </a:xfrm>
          <a:prstGeom prst="rect">
            <a:avLst/>
          </a:prstGeom>
          <a:noFill/>
        </p:spPr>
        <p:txBody>
          <a:bodyPr wrap="square">
            <a:spAutoFit/>
          </a:bodyPr>
          <a:lstStyle/>
          <a:p>
            <a:pPr algn="ctr"/>
            <a:r>
              <a:rPr sz="1300" b="0" i="0">
                <a:solidFill>
                  <a:srgbClr val="F0F2F8"/>
                </a:solidFill>
              </a:rPr>
              <a:t>🏺</a:t>
            </a:r>
          </a:p>
        </p:txBody>
      </p:sp>
      <p:sp>
        <p:nvSpPr>
          <p:cNvPr id="37" name="TextBox 36"/>
          <p:cNvSpPr txBox="1"/>
          <p:nvPr/>
        </p:nvSpPr>
        <p:spPr>
          <a:xfrm>
            <a:off x="10183542" y="2157984"/>
            <a:ext cx="1578385" cy="201168"/>
          </a:xfrm>
          <a:prstGeom prst="rect">
            <a:avLst/>
          </a:prstGeom>
          <a:noFill/>
        </p:spPr>
        <p:txBody>
          <a:bodyPr wrap="square">
            <a:spAutoFit/>
          </a:bodyPr>
          <a:lstStyle/>
          <a:p>
            <a:pPr algn="ctr"/>
            <a:r>
              <a:rPr sz="750" b="1" i="0">
                <a:solidFill>
                  <a:srgbClr val="F0F2F8"/>
                </a:solidFill>
              </a:rPr>
              <a:t>Injection Moulding</a:t>
            </a:r>
          </a:p>
        </p:txBody>
      </p:sp>
      <p:sp>
        <p:nvSpPr>
          <p:cNvPr id="38" name="TextBox 37"/>
          <p:cNvSpPr txBox="1"/>
          <p:nvPr/>
        </p:nvSpPr>
        <p:spPr>
          <a:xfrm>
            <a:off x="10183542" y="2340864"/>
            <a:ext cx="1578385" cy="201168"/>
          </a:xfrm>
          <a:prstGeom prst="rect">
            <a:avLst/>
          </a:prstGeom>
          <a:noFill/>
        </p:spPr>
        <p:txBody>
          <a:bodyPr wrap="square">
            <a:spAutoFit/>
          </a:bodyPr>
          <a:lstStyle/>
          <a:p>
            <a:pPr algn="ctr"/>
            <a:r>
              <a:rPr sz="650" b="0" i="0">
                <a:solidFill>
                  <a:srgbClr val="5A6380"/>
                </a:solidFill>
              </a:rPr>
              <a:t>Thermoplastics, multi-cavity</a:t>
            </a:r>
          </a:p>
        </p:txBody>
      </p:sp>
      <p:sp>
        <p:nvSpPr>
          <p:cNvPr id="39" name="Rectangle 38"/>
          <p:cNvSpPr/>
          <p:nvPr/>
        </p:nvSpPr>
        <p:spPr>
          <a:xfrm>
            <a:off x="411480"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131820"/>
            <a:ext cx="1578385" cy="292608"/>
          </a:xfrm>
          <a:prstGeom prst="rect">
            <a:avLst/>
          </a:prstGeom>
          <a:noFill/>
        </p:spPr>
        <p:txBody>
          <a:bodyPr wrap="square">
            <a:spAutoFit/>
          </a:bodyPr>
          <a:lstStyle/>
          <a:p>
            <a:pPr algn="ctr"/>
            <a:r>
              <a:rPr sz="1300" b="0" i="0">
                <a:solidFill>
                  <a:srgbClr val="F0F2F8"/>
                </a:solidFill>
              </a:rPr>
              <a:t>🫧</a:t>
            </a:r>
          </a:p>
        </p:txBody>
      </p:sp>
      <p:sp>
        <p:nvSpPr>
          <p:cNvPr id="41" name="TextBox 40"/>
          <p:cNvSpPr txBox="1"/>
          <p:nvPr/>
        </p:nvSpPr>
        <p:spPr>
          <a:xfrm>
            <a:off x="411480" y="3424428"/>
            <a:ext cx="1578385" cy="201168"/>
          </a:xfrm>
          <a:prstGeom prst="rect">
            <a:avLst/>
          </a:prstGeom>
          <a:noFill/>
        </p:spPr>
        <p:txBody>
          <a:bodyPr wrap="square">
            <a:spAutoFit/>
          </a:bodyPr>
          <a:lstStyle/>
          <a:p>
            <a:pPr algn="ctr"/>
            <a:r>
              <a:rPr sz="750" b="1" i="0">
                <a:solidFill>
                  <a:srgbClr val="F0F2F8"/>
                </a:solidFill>
              </a:rPr>
              <a:t>Blow Moulding</a:t>
            </a:r>
          </a:p>
        </p:txBody>
      </p:sp>
      <p:sp>
        <p:nvSpPr>
          <p:cNvPr id="42" name="TextBox 41"/>
          <p:cNvSpPr txBox="1"/>
          <p:nvPr/>
        </p:nvSpPr>
        <p:spPr>
          <a:xfrm>
            <a:off x="411480" y="3607308"/>
            <a:ext cx="1578385" cy="201168"/>
          </a:xfrm>
          <a:prstGeom prst="rect">
            <a:avLst/>
          </a:prstGeom>
          <a:noFill/>
        </p:spPr>
        <p:txBody>
          <a:bodyPr wrap="square">
            <a:spAutoFit/>
          </a:bodyPr>
          <a:lstStyle/>
          <a:p>
            <a:pPr algn="ctr"/>
            <a:r>
              <a:rPr sz="650" b="0" i="0">
                <a:solidFill>
                  <a:srgbClr val="5A6380"/>
                </a:solidFill>
              </a:rPr>
              <a:t>HDPE, PET, extrusion blow</a:t>
            </a:r>
          </a:p>
        </p:txBody>
      </p:sp>
      <p:sp>
        <p:nvSpPr>
          <p:cNvPr id="43" name="Rectangle 42"/>
          <p:cNvSpPr/>
          <p:nvPr/>
        </p:nvSpPr>
        <p:spPr>
          <a:xfrm>
            <a:off x="2040157"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40157" y="3131820"/>
            <a:ext cx="1578385" cy="292608"/>
          </a:xfrm>
          <a:prstGeom prst="rect">
            <a:avLst/>
          </a:prstGeom>
          <a:noFill/>
        </p:spPr>
        <p:txBody>
          <a:bodyPr wrap="square">
            <a:spAutoFit/>
          </a:bodyPr>
          <a:lstStyle/>
          <a:p>
            <a:pPr algn="ctr"/>
            <a:r>
              <a:rPr sz="1300" b="0" i="0">
                <a:solidFill>
                  <a:srgbClr val="F0F2F8"/>
                </a:solidFill>
              </a:rPr>
              <a:t>🔩</a:t>
            </a:r>
          </a:p>
        </p:txBody>
      </p:sp>
      <p:sp>
        <p:nvSpPr>
          <p:cNvPr id="45" name="TextBox 44"/>
          <p:cNvSpPr txBox="1"/>
          <p:nvPr/>
        </p:nvSpPr>
        <p:spPr>
          <a:xfrm>
            <a:off x="2040157" y="3424428"/>
            <a:ext cx="1578385" cy="201168"/>
          </a:xfrm>
          <a:prstGeom prst="rect">
            <a:avLst/>
          </a:prstGeom>
          <a:noFill/>
        </p:spPr>
        <p:txBody>
          <a:bodyPr wrap="square">
            <a:spAutoFit/>
          </a:bodyPr>
          <a:lstStyle/>
          <a:p>
            <a:pPr algn="ctr"/>
            <a:r>
              <a:rPr sz="750" b="1" i="0">
                <a:solidFill>
                  <a:srgbClr val="F0F2F8"/>
                </a:solidFill>
              </a:rPr>
              <a:t>Extrusion</a:t>
            </a:r>
          </a:p>
        </p:txBody>
      </p:sp>
      <p:sp>
        <p:nvSpPr>
          <p:cNvPr id="46" name="TextBox 45"/>
          <p:cNvSpPr txBox="1"/>
          <p:nvPr/>
        </p:nvSpPr>
        <p:spPr>
          <a:xfrm>
            <a:off x="2040157" y="3607308"/>
            <a:ext cx="1578385" cy="201168"/>
          </a:xfrm>
          <a:prstGeom prst="rect">
            <a:avLst/>
          </a:prstGeom>
          <a:noFill/>
        </p:spPr>
        <p:txBody>
          <a:bodyPr wrap="square">
            <a:spAutoFit/>
          </a:bodyPr>
          <a:lstStyle/>
          <a:p>
            <a:pPr algn="ctr"/>
            <a:r>
              <a:rPr sz="650" b="0" i="0">
                <a:solidFill>
                  <a:srgbClr val="5A6380"/>
                </a:solidFill>
              </a:rPr>
              <a:t>Profile, pipe, sheet, rod</a:t>
            </a:r>
          </a:p>
        </p:txBody>
      </p:sp>
      <p:sp>
        <p:nvSpPr>
          <p:cNvPr id="47" name="Rectangle 46"/>
          <p:cNvSpPr/>
          <p:nvPr/>
        </p:nvSpPr>
        <p:spPr>
          <a:xfrm>
            <a:off x="3668834"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68834" y="3131820"/>
            <a:ext cx="1578385" cy="292608"/>
          </a:xfrm>
          <a:prstGeom prst="rect">
            <a:avLst/>
          </a:prstGeom>
          <a:noFill/>
        </p:spPr>
        <p:txBody>
          <a:bodyPr wrap="square">
            <a:spAutoFit/>
          </a:bodyPr>
          <a:lstStyle/>
          <a:p>
            <a:pPr algn="ctr"/>
            <a:r>
              <a:rPr sz="1300" b="0" i="0">
                <a:solidFill>
                  <a:srgbClr val="F0F2F8"/>
                </a:solidFill>
              </a:rPr>
              <a:t>♨️</a:t>
            </a:r>
          </a:p>
        </p:txBody>
      </p:sp>
      <p:sp>
        <p:nvSpPr>
          <p:cNvPr id="49" name="TextBox 48"/>
          <p:cNvSpPr txBox="1"/>
          <p:nvPr/>
        </p:nvSpPr>
        <p:spPr>
          <a:xfrm>
            <a:off x="3668834" y="3424428"/>
            <a:ext cx="1578385" cy="201168"/>
          </a:xfrm>
          <a:prstGeom prst="rect">
            <a:avLst/>
          </a:prstGeom>
          <a:noFill/>
        </p:spPr>
        <p:txBody>
          <a:bodyPr wrap="square">
            <a:spAutoFit/>
          </a:bodyPr>
          <a:lstStyle/>
          <a:p>
            <a:pPr algn="ctr"/>
            <a:r>
              <a:rPr sz="750" b="1" i="0">
                <a:solidFill>
                  <a:srgbClr val="F0F2F8"/>
                </a:solidFill>
              </a:rPr>
              <a:t>Thermoforming</a:t>
            </a:r>
          </a:p>
        </p:txBody>
      </p:sp>
      <p:sp>
        <p:nvSpPr>
          <p:cNvPr id="50" name="TextBox 49"/>
          <p:cNvSpPr txBox="1"/>
          <p:nvPr/>
        </p:nvSpPr>
        <p:spPr>
          <a:xfrm>
            <a:off x="3668834" y="3607308"/>
            <a:ext cx="1578385" cy="201168"/>
          </a:xfrm>
          <a:prstGeom prst="rect">
            <a:avLst/>
          </a:prstGeom>
          <a:noFill/>
        </p:spPr>
        <p:txBody>
          <a:bodyPr wrap="square">
            <a:spAutoFit/>
          </a:bodyPr>
          <a:lstStyle/>
          <a:p>
            <a:pPr algn="ctr"/>
            <a:r>
              <a:rPr sz="650" b="0" i="0">
                <a:solidFill>
                  <a:srgbClr val="5A6380"/>
                </a:solidFill>
              </a:rPr>
              <a:t>Vacuum, pressure, twin-sheet</a:t>
            </a:r>
          </a:p>
        </p:txBody>
      </p:sp>
      <p:sp>
        <p:nvSpPr>
          <p:cNvPr id="51" name="Rectangle 50"/>
          <p:cNvSpPr/>
          <p:nvPr/>
        </p:nvSpPr>
        <p:spPr>
          <a:xfrm>
            <a:off x="5297511"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97511" y="3131820"/>
            <a:ext cx="1578385" cy="292608"/>
          </a:xfrm>
          <a:prstGeom prst="rect">
            <a:avLst/>
          </a:prstGeom>
          <a:noFill/>
        </p:spPr>
        <p:txBody>
          <a:bodyPr wrap="square">
            <a:spAutoFit/>
          </a:bodyPr>
          <a:lstStyle/>
          <a:p>
            <a:pPr algn="ctr"/>
            <a:r>
              <a:rPr sz="1300" b="0" i="0">
                <a:solidFill>
                  <a:srgbClr val="F0F2F8"/>
                </a:solidFill>
              </a:rPr>
              <a:t>🔄</a:t>
            </a:r>
          </a:p>
        </p:txBody>
      </p:sp>
      <p:sp>
        <p:nvSpPr>
          <p:cNvPr id="53" name="TextBox 52"/>
          <p:cNvSpPr txBox="1"/>
          <p:nvPr/>
        </p:nvSpPr>
        <p:spPr>
          <a:xfrm>
            <a:off x="5297511" y="3424428"/>
            <a:ext cx="1578385" cy="201168"/>
          </a:xfrm>
          <a:prstGeom prst="rect">
            <a:avLst/>
          </a:prstGeom>
          <a:noFill/>
        </p:spPr>
        <p:txBody>
          <a:bodyPr wrap="square">
            <a:spAutoFit/>
          </a:bodyPr>
          <a:lstStyle/>
          <a:p>
            <a:pPr algn="ctr"/>
            <a:r>
              <a:rPr sz="750" b="1" i="0">
                <a:solidFill>
                  <a:srgbClr val="F0F2F8"/>
                </a:solidFill>
              </a:rPr>
              <a:t>Rotational Moulding</a:t>
            </a:r>
          </a:p>
        </p:txBody>
      </p:sp>
      <p:sp>
        <p:nvSpPr>
          <p:cNvPr id="54" name="TextBox 53"/>
          <p:cNvSpPr txBox="1"/>
          <p:nvPr/>
        </p:nvSpPr>
        <p:spPr>
          <a:xfrm>
            <a:off x="5297511" y="3607308"/>
            <a:ext cx="1578385" cy="201168"/>
          </a:xfrm>
          <a:prstGeom prst="rect">
            <a:avLst/>
          </a:prstGeom>
          <a:noFill/>
        </p:spPr>
        <p:txBody>
          <a:bodyPr wrap="square">
            <a:spAutoFit/>
          </a:bodyPr>
          <a:lstStyle/>
          <a:p>
            <a:pPr algn="ctr"/>
            <a:r>
              <a:rPr sz="650" b="0" i="0">
                <a:solidFill>
                  <a:srgbClr val="5A6380"/>
                </a:solidFill>
              </a:rPr>
              <a:t>Large hollow shapes, LLDPE</a:t>
            </a:r>
          </a:p>
        </p:txBody>
      </p:sp>
      <p:sp>
        <p:nvSpPr>
          <p:cNvPr id="55" name="Rectangle 54"/>
          <p:cNvSpPr/>
          <p:nvPr/>
        </p:nvSpPr>
        <p:spPr>
          <a:xfrm>
            <a:off x="6926188"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26188" y="3131820"/>
            <a:ext cx="1578385" cy="292608"/>
          </a:xfrm>
          <a:prstGeom prst="rect">
            <a:avLst/>
          </a:prstGeom>
          <a:noFill/>
        </p:spPr>
        <p:txBody>
          <a:bodyPr wrap="square">
            <a:spAutoFit/>
          </a:bodyPr>
          <a:lstStyle/>
          <a:p>
            <a:pPr algn="ctr"/>
            <a:r>
              <a:rPr sz="1300" b="0" i="0">
                <a:solidFill>
                  <a:srgbClr val="F0F2F8"/>
                </a:solidFill>
              </a:rPr>
              <a:t>🧱</a:t>
            </a:r>
          </a:p>
        </p:txBody>
      </p:sp>
      <p:sp>
        <p:nvSpPr>
          <p:cNvPr id="57" name="TextBox 56"/>
          <p:cNvSpPr txBox="1"/>
          <p:nvPr/>
        </p:nvSpPr>
        <p:spPr>
          <a:xfrm>
            <a:off x="6926188" y="3424428"/>
            <a:ext cx="1578385" cy="201168"/>
          </a:xfrm>
          <a:prstGeom prst="rect">
            <a:avLst/>
          </a:prstGeom>
          <a:noFill/>
        </p:spPr>
        <p:txBody>
          <a:bodyPr wrap="square">
            <a:spAutoFit/>
          </a:bodyPr>
          <a:lstStyle/>
          <a:p>
            <a:pPr algn="ctr"/>
            <a:r>
              <a:rPr sz="750" b="1" i="0">
                <a:solidFill>
                  <a:srgbClr val="F0F2F8"/>
                </a:solidFill>
              </a:rPr>
              <a:t>Rubber Moulding</a:t>
            </a:r>
          </a:p>
        </p:txBody>
      </p:sp>
      <p:sp>
        <p:nvSpPr>
          <p:cNvPr id="58" name="TextBox 57"/>
          <p:cNvSpPr txBox="1"/>
          <p:nvPr/>
        </p:nvSpPr>
        <p:spPr>
          <a:xfrm>
            <a:off x="6926188" y="3607308"/>
            <a:ext cx="1578385" cy="201168"/>
          </a:xfrm>
          <a:prstGeom prst="rect">
            <a:avLst/>
          </a:prstGeom>
          <a:noFill/>
        </p:spPr>
        <p:txBody>
          <a:bodyPr wrap="square">
            <a:spAutoFit/>
          </a:bodyPr>
          <a:lstStyle/>
          <a:p>
            <a:pPr algn="ctr"/>
            <a:r>
              <a:rPr sz="650" b="0" i="0">
                <a:solidFill>
                  <a:srgbClr val="5A6380"/>
                </a:solidFill>
              </a:rPr>
              <a:t>Compression, injection, LSR</a:t>
            </a:r>
          </a:p>
        </p:txBody>
      </p:sp>
      <p:sp>
        <p:nvSpPr>
          <p:cNvPr id="59" name="Rectangle 58"/>
          <p:cNvSpPr/>
          <p:nvPr/>
        </p:nvSpPr>
        <p:spPr>
          <a:xfrm>
            <a:off x="8554865"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54865" y="3131820"/>
            <a:ext cx="1578385" cy="292608"/>
          </a:xfrm>
          <a:prstGeom prst="rect">
            <a:avLst/>
          </a:prstGeom>
          <a:noFill/>
        </p:spPr>
        <p:txBody>
          <a:bodyPr wrap="square">
            <a:spAutoFit/>
          </a:bodyPr>
          <a:lstStyle/>
          <a:p>
            <a:pPr algn="ctr"/>
            <a:r>
              <a:rPr sz="1300" b="0" i="0">
                <a:solidFill>
                  <a:srgbClr val="F0F2F8"/>
                </a:solidFill>
              </a:rPr>
              <a:t>🪢</a:t>
            </a:r>
          </a:p>
        </p:txBody>
      </p:sp>
      <p:sp>
        <p:nvSpPr>
          <p:cNvPr id="61" name="TextBox 60"/>
          <p:cNvSpPr txBox="1"/>
          <p:nvPr/>
        </p:nvSpPr>
        <p:spPr>
          <a:xfrm>
            <a:off x="8554865" y="3424428"/>
            <a:ext cx="1578385" cy="201168"/>
          </a:xfrm>
          <a:prstGeom prst="rect">
            <a:avLst/>
          </a:prstGeom>
          <a:noFill/>
        </p:spPr>
        <p:txBody>
          <a:bodyPr wrap="square">
            <a:spAutoFit/>
          </a:bodyPr>
          <a:lstStyle/>
          <a:p>
            <a:pPr algn="ctr"/>
            <a:r>
              <a:rPr sz="750" b="1" i="0">
                <a:solidFill>
                  <a:srgbClr val="F0F2F8"/>
                </a:solidFill>
              </a:rPr>
              <a:t>Composites</a:t>
            </a:r>
          </a:p>
        </p:txBody>
      </p:sp>
      <p:sp>
        <p:nvSpPr>
          <p:cNvPr id="62" name="TextBox 61"/>
          <p:cNvSpPr txBox="1"/>
          <p:nvPr/>
        </p:nvSpPr>
        <p:spPr>
          <a:xfrm>
            <a:off x="8554865" y="3607308"/>
            <a:ext cx="1578385" cy="201168"/>
          </a:xfrm>
          <a:prstGeom prst="rect">
            <a:avLst/>
          </a:prstGeom>
          <a:noFill/>
        </p:spPr>
        <p:txBody>
          <a:bodyPr wrap="square">
            <a:spAutoFit/>
          </a:bodyPr>
          <a:lstStyle/>
          <a:p>
            <a:pPr algn="ctr"/>
            <a:r>
              <a:rPr sz="650" b="0" i="0">
                <a:solidFill>
                  <a:srgbClr val="5A6380"/>
                </a:solidFill>
              </a:rPr>
              <a:t>CFRP/GFRP, autoclave, RTM, AFP</a:t>
            </a:r>
          </a:p>
        </p:txBody>
      </p:sp>
      <p:sp>
        <p:nvSpPr>
          <p:cNvPr id="63" name="Rectangle 62"/>
          <p:cNvSpPr/>
          <p:nvPr/>
        </p:nvSpPr>
        <p:spPr>
          <a:xfrm>
            <a:off x="10183542"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83542" y="3131820"/>
            <a:ext cx="1578385" cy="292608"/>
          </a:xfrm>
          <a:prstGeom prst="rect">
            <a:avLst/>
          </a:prstGeom>
          <a:noFill/>
        </p:spPr>
        <p:txBody>
          <a:bodyPr wrap="square">
            <a:spAutoFit/>
          </a:bodyPr>
          <a:lstStyle/>
          <a:p>
            <a:pPr algn="ctr"/>
            <a:r>
              <a:rPr sz="1300" b="0" i="0">
                <a:solidFill>
                  <a:srgbClr val="F0F2F8"/>
                </a:solidFill>
              </a:rPr>
              <a:t>🎨</a:t>
            </a:r>
          </a:p>
        </p:txBody>
      </p:sp>
      <p:sp>
        <p:nvSpPr>
          <p:cNvPr id="65" name="TextBox 64"/>
          <p:cNvSpPr txBox="1"/>
          <p:nvPr/>
        </p:nvSpPr>
        <p:spPr>
          <a:xfrm>
            <a:off x="10183542" y="3424428"/>
            <a:ext cx="1578385" cy="201168"/>
          </a:xfrm>
          <a:prstGeom prst="rect">
            <a:avLst/>
          </a:prstGeom>
          <a:noFill/>
        </p:spPr>
        <p:txBody>
          <a:bodyPr wrap="square">
            <a:spAutoFit/>
          </a:bodyPr>
          <a:lstStyle/>
          <a:p>
            <a:pPr algn="ctr"/>
            <a:r>
              <a:rPr sz="750" b="1" i="0">
                <a:solidFill>
                  <a:srgbClr val="F0F2F8"/>
                </a:solidFill>
              </a:rPr>
              <a:t>Painting / Coating</a:t>
            </a:r>
          </a:p>
        </p:txBody>
      </p:sp>
      <p:sp>
        <p:nvSpPr>
          <p:cNvPr id="66" name="TextBox 65"/>
          <p:cNvSpPr txBox="1"/>
          <p:nvPr/>
        </p:nvSpPr>
        <p:spPr>
          <a:xfrm>
            <a:off x="10183542" y="3607308"/>
            <a:ext cx="1578385" cy="201168"/>
          </a:xfrm>
          <a:prstGeom prst="rect">
            <a:avLst/>
          </a:prstGeom>
          <a:noFill/>
        </p:spPr>
        <p:txBody>
          <a:bodyPr wrap="square">
            <a:spAutoFit/>
          </a:bodyPr>
          <a:lstStyle/>
          <a:p>
            <a:pPr algn="ctr"/>
            <a:r>
              <a:rPr sz="650" b="0" i="0">
                <a:solidFill>
                  <a:srgbClr val="5A6380"/>
                </a:solidFill>
              </a:rPr>
              <a:t>E-coat, powder, wet, anodise</a:t>
            </a:r>
          </a:p>
        </p:txBody>
      </p:sp>
      <p:sp>
        <p:nvSpPr>
          <p:cNvPr id="67" name="Rectangle 66"/>
          <p:cNvSpPr/>
          <p:nvPr/>
        </p:nvSpPr>
        <p:spPr>
          <a:xfrm>
            <a:off x="411480"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4398264"/>
            <a:ext cx="1578385" cy="292608"/>
          </a:xfrm>
          <a:prstGeom prst="rect">
            <a:avLst/>
          </a:prstGeom>
          <a:noFill/>
        </p:spPr>
        <p:txBody>
          <a:bodyPr wrap="square">
            <a:spAutoFit/>
          </a:bodyPr>
          <a:lstStyle/>
          <a:p>
            <a:pPr algn="ctr"/>
            <a:r>
              <a:rPr sz="1300" b="0" i="0">
                <a:solidFill>
                  <a:srgbClr val="F0F2F8"/>
                </a:solidFill>
              </a:rPr>
              <a:t>🚗</a:t>
            </a:r>
          </a:p>
        </p:txBody>
      </p:sp>
      <p:sp>
        <p:nvSpPr>
          <p:cNvPr id="69" name="TextBox 68"/>
          <p:cNvSpPr txBox="1"/>
          <p:nvPr/>
        </p:nvSpPr>
        <p:spPr>
          <a:xfrm>
            <a:off x="411480" y="4690872"/>
            <a:ext cx="1578385" cy="201168"/>
          </a:xfrm>
          <a:prstGeom prst="rect">
            <a:avLst/>
          </a:prstGeom>
          <a:noFill/>
        </p:spPr>
        <p:txBody>
          <a:bodyPr wrap="square">
            <a:spAutoFit/>
          </a:bodyPr>
          <a:lstStyle/>
          <a:p>
            <a:pPr algn="ctr"/>
            <a:r>
              <a:rPr sz="750" b="1" i="0">
                <a:solidFill>
                  <a:srgbClr val="F0F2F8"/>
                </a:solidFill>
              </a:rPr>
              <a:t>BIW Assembly</a:t>
            </a:r>
          </a:p>
        </p:txBody>
      </p:sp>
      <p:sp>
        <p:nvSpPr>
          <p:cNvPr id="70" name="TextBox 69"/>
          <p:cNvSpPr txBox="1"/>
          <p:nvPr/>
        </p:nvSpPr>
        <p:spPr>
          <a:xfrm>
            <a:off x="411480" y="4873752"/>
            <a:ext cx="1578385" cy="201168"/>
          </a:xfrm>
          <a:prstGeom prst="rect">
            <a:avLst/>
          </a:prstGeom>
          <a:noFill/>
        </p:spPr>
        <p:txBody>
          <a:bodyPr wrap="square">
            <a:spAutoFit/>
          </a:bodyPr>
          <a:lstStyle/>
          <a:p>
            <a:pPr algn="ctr"/>
            <a:r>
              <a:rPr sz="650" b="0" i="0">
                <a:solidFill>
                  <a:srgbClr val="5A6380"/>
                </a:solidFill>
              </a:rPr>
              <a:t>Spot weld, MIG, hem, bond</a:t>
            </a:r>
          </a:p>
        </p:txBody>
      </p:sp>
      <p:sp>
        <p:nvSpPr>
          <p:cNvPr id="71" name="Rectangle 70"/>
          <p:cNvSpPr/>
          <p:nvPr/>
        </p:nvSpPr>
        <p:spPr>
          <a:xfrm>
            <a:off x="2040157"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40157" y="4398264"/>
            <a:ext cx="1578385" cy="292608"/>
          </a:xfrm>
          <a:prstGeom prst="rect">
            <a:avLst/>
          </a:prstGeom>
          <a:noFill/>
        </p:spPr>
        <p:txBody>
          <a:bodyPr wrap="square">
            <a:spAutoFit/>
          </a:bodyPr>
          <a:lstStyle/>
          <a:p>
            <a:pPr algn="ctr"/>
            <a:r>
              <a:rPr sz="1300" b="0" i="0">
                <a:solidFill>
                  <a:srgbClr val="F0F2F8"/>
                </a:solidFill>
              </a:rPr>
              <a:t>🖥️</a:t>
            </a:r>
          </a:p>
        </p:txBody>
      </p:sp>
      <p:sp>
        <p:nvSpPr>
          <p:cNvPr id="73" name="TextBox 72"/>
          <p:cNvSpPr txBox="1"/>
          <p:nvPr/>
        </p:nvSpPr>
        <p:spPr>
          <a:xfrm>
            <a:off x="2040157" y="4690872"/>
            <a:ext cx="1578385" cy="201168"/>
          </a:xfrm>
          <a:prstGeom prst="rect">
            <a:avLst/>
          </a:prstGeom>
          <a:noFill/>
        </p:spPr>
        <p:txBody>
          <a:bodyPr wrap="square">
            <a:spAutoFit/>
          </a:bodyPr>
          <a:lstStyle/>
          <a:p>
            <a:pPr algn="ctr"/>
            <a:r>
              <a:rPr sz="750" b="1" i="0">
                <a:solidFill>
                  <a:srgbClr val="F0F2F8"/>
                </a:solidFill>
              </a:rPr>
              <a:t>PCB Fabrication</a:t>
            </a:r>
          </a:p>
        </p:txBody>
      </p:sp>
      <p:sp>
        <p:nvSpPr>
          <p:cNvPr id="74" name="TextBox 73"/>
          <p:cNvSpPr txBox="1"/>
          <p:nvPr/>
        </p:nvSpPr>
        <p:spPr>
          <a:xfrm>
            <a:off x="2040157" y="4873752"/>
            <a:ext cx="1578385" cy="201168"/>
          </a:xfrm>
          <a:prstGeom prst="rect">
            <a:avLst/>
          </a:prstGeom>
          <a:noFill/>
        </p:spPr>
        <p:txBody>
          <a:bodyPr wrap="square">
            <a:spAutoFit/>
          </a:bodyPr>
          <a:lstStyle/>
          <a:p>
            <a:pPr algn="ctr"/>
            <a:r>
              <a:rPr sz="650" b="0" i="0">
                <a:solidFill>
                  <a:srgbClr val="5A6380"/>
                </a:solidFill>
              </a:rPr>
              <a:t>2–16L, HDI, rigid-flex, RF/μwave</a:t>
            </a:r>
          </a:p>
        </p:txBody>
      </p:sp>
      <p:sp>
        <p:nvSpPr>
          <p:cNvPr id="75" name="Rectangle 74"/>
          <p:cNvSpPr/>
          <p:nvPr/>
        </p:nvSpPr>
        <p:spPr>
          <a:xfrm>
            <a:off x="3668834"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68834" y="4398264"/>
            <a:ext cx="1578385" cy="292608"/>
          </a:xfrm>
          <a:prstGeom prst="rect">
            <a:avLst/>
          </a:prstGeom>
          <a:noFill/>
        </p:spPr>
        <p:txBody>
          <a:bodyPr wrap="square">
            <a:spAutoFit/>
          </a:bodyPr>
          <a:lstStyle/>
          <a:p>
            <a:pPr algn="ctr"/>
            <a:r>
              <a:rPr sz="1300" b="0" i="0">
                <a:solidFill>
                  <a:srgbClr val="F0F2F8"/>
                </a:solidFill>
              </a:rPr>
              <a:t>🔌</a:t>
            </a:r>
          </a:p>
        </p:txBody>
      </p:sp>
      <p:sp>
        <p:nvSpPr>
          <p:cNvPr id="77" name="TextBox 76"/>
          <p:cNvSpPr txBox="1"/>
          <p:nvPr/>
        </p:nvSpPr>
        <p:spPr>
          <a:xfrm>
            <a:off x="3668834" y="4690872"/>
            <a:ext cx="1578385" cy="201168"/>
          </a:xfrm>
          <a:prstGeom prst="rect">
            <a:avLst/>
          </a:prstGeom>
          <a:noFill/>
        </p:spPr>
        <p:txBody>
          <a:bodyPr wrap="square">
            <a:spAutoFit/>
          </a:bodyPr>
          <a:lstStyle/>
          <a:p>
            <a:pPr algn="ctr"/>
            <a:r>
              <a:rPr sz="750" b="1" i="0">
                <a:solidFill>
                  <a:srgbClr val="F0F2F8"/>
                </a:solidFill>
              </a:rPr>
              <a:t>PCBA / SMD</a:t>
            </a:r>
          </a:p>
        </p:txBody>
      </p:sp>
      <p:sp>
        <p:nvSpPr>
          <p:cNvPr id="78" name="TextBox 77"/>
          <p:cNvSpPr txBox="1"/>
          <p:nvPr/>
        </p:nvSpPr>
        <p:spPr>
          <a:xfrm>
            <a:off x="3668834" y="4873752"/>
            <a:ext cx="1578385" cy="201168"/>
          </a:xfrm>
          <a:prstGeom prst="rect">
            <a:avLst/>
          </a:prstGeom>
          <a:noFill/>
        </p:spPr>
        <p:txBody>
          <a:bodyPr wrap="square">
            <a:spAutoFit/>
          </a:bodyPr>
          <a:lstStyle/>
          <a:p>
            <a:pPr algn="ctr"/>
            <a:r>
              <a:rPr sz="650" b="0" i="0">
                <a:solidFill>
                  <a:srgbClr val="5A6380"/>
                </a:solidFill>
              </a:rPr>
              <a:t>SMT, TH, reflow, conformal coat</a:t>
            </a:r>
          </a:p>
        </p:txBody>
      </p:sp>
      <p:sp>
        <p:nvSpPr>
          <p:cNvPr id="79" name="Rectangle 78"/>
          <p:cNvSpPr/>
          <p:nvPr/>
        </p:nvSpPr>
        <p:spPr>
          <a:xfrm>
            <a:off x="5297511"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97511" y="4398264"/>
            <a:ext cx="1578385" cy="292608"/>
          </a:xfrm>
          <a:prstGeom prst="rect">
            <a:avLst/>
          </a:prstGeom>
          <a:noFill/>
        </p:spPr>
        <p:txBody>
          <a:bodyPr wrap="square">
            <a:spAutoFit/>
          </a:bodyPr>
          <a:lstStyle/>
          <a:p>
            <a:pPr algn="ctr"/>
            <a:r>
              <a:rPr sz="1300" b="0" i="0">
                <a:solidFill>
                  <a:srgbClr val="F0F2F8"/>
                </a:solidFill>
              </a:rPr>
              <a:t>🔗</a:t>
            </a:r>
          </a:p>
        </p:txBody>
      </p:sp>
      <p:sp>
        <p:nvSpPr>
          <p:cNvPr id="81" name="TextBox 80"/>
          <p:cNvSpPr txBox="1"/>
          <p:nvPr/>
        </p:nvSpPr>
        <p:spPr>
          <a:xfrm>
            <a:off x="5297511" y="4690872"/>
            <a:ext cx="1578385" cy="201168"/>
          </a:xfrm>
          <a:prstGeom prst="rect">
            <a:avLst/>
          </a:prstGeom>
          <a:noFill/>
        </p:spPr>
        <p:txBody>
          <a:bodyPr wrap="square">
            <a:spAutoFit/>
          </a:bodyPr>
          <a:lstStyle/>
          <a:p>
            <a:pPr algn="ctr"/>
            <a:r>
              <a:rPr sz="750" b="1" i="0">
                <a:solidFill>
                  <a:srgbClr val="F0F2F8"/>
                </a:solidFill>
              </a:rPr>
              <a:t>Wiring Harness</a:t>
            </a:r>
          </a:p>
        </p:txBody>
      </p:sp>
      <p:sp>
        <p:nvSpPr>
          <p:cNvPr id="82" name="TextBox 81"/>
          <p:cNvSpPr txBox="1"/>
          <p:nvPr/>
        </p:nvSpPr>
        <p:spPr>
          <a:xfrm>
            <a:off x="5297511" y="4873752"/>
            <a:ext cx="1578385" cy="201168"/>
          </a:xfrm>
          <a:prstGeom prst="rect">
            <a:avLst/>
          </a:prstGeom>
          <a:noFill/>
        </p:spPr>
        <p:txBody>
          <a:bodyPr wrap="square">
            <a:spAutoFit/>
          </a:bodyPr>
          <a:lstStyle/>
          <a:p>
            <a:pPr algn="ctr"/>
            <a:r>
              <a:rPr sz="650" b="0" i="0">
                <a:solidFill>
                  <a:srgbClr val="5A6380"/>
                </a:solidFill>
              </a:rPr>
              <a:t>Cut-strip-crimp, test, sub-asm</a:t>
            </a:r>
          </a:p>
        </p:txBody>
      </p:sp>
      <p:sp>
        <p:nvSpPr>
          <p:cNvPr id="83" name="Rectangle 82"/>
          <p:cNvSpPr/>
          <p:nvPr/>
        </p:nvSpPr>
        <p:spPr>
          <a:xfrm>
            <a:off x="6926188"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26188" y="4398264"/>
            <a:ext cx="1578385" cy="292608"/>
          </a:xfrm>
          <a:prstGeom prst="rect">
            <a:avLst/>
          </a:prstGeom>
          <a:noFill/>
        </p:spPr>
        <p:txBody>
          <a:bodyPr wrap="square">
            <a:spAutoFit/>
          </a:bodyPr>
          <a:lstStyle/>
          <a:p>
            <a:pPr algn="ctr"/>
            <a:r>
              <a:rPr sz="1300" b="0" i="0">
                <a:solidFill>
                  <a:srgbClr val="F0F2F8"/>
                </a:solidFill>
              </a:rPr>
              <a:t>🔗</a:t>
            </a:r>
          </a:p>
        </p:txBody>
      </p:sp>
      <p:sp>
        <p:nvSpPr>
          <p:cNvPr id="85" name="TextBox 84"/>
          <p:cNvSpPr txBox="1"/>
          <p:nvPr/>
        </p:nvSpPr>
        <p:spPr>
          <a:xfrm>
            <a:off x="6926188" y="4690872"/>
            <a:ext cx="1578385" cy="201168"/>
          </a:xfrm>
          <a:prstGeom prst="rect">
            <a:avLst/>
          </a:prstGeom>
          <a:noFill/>
        </p:spPr>
        <p:txBody>
          <a:bodyPr wrap="square">
            <a:spAutoFit/>
          </a:bodyPr>
          <a:lstStyle/>
          <a:p>
            <a:pPr algn="ctr"/>
            <a:r>
              <a:rPr sz="750" b="1" i="0">
                <a:solidFill>
                  <a:srgbClr val="F0F2F8"/>
                </a:solidFill>
              </a:rPr>
              <a:t>Assembly BOM Rollup</a:t>
            </a:r>
          </a:p>
        </p:txBody>
      </p:sp>
      <p:sp>
        <p:nvSpPr>
          <p:cNvPr id="86" name="TextBox 85"/>
          <p:cNvSpPr txBox="1"/>
          <p:nvPr/>
        </p:nvSpPr>
        <p:spPr>
          <a:xfrm>
            <a:off x="6926188" y="4873752"/>
            <a:ext cx="1578385" cy="201168"/>
          </a:xfrm>
          <a:prstGeom prst="rect">
            <a:avLst/>
          </a:prstGeom>
          <a:noFill/>
        </p:spPr>
        <p:txBody>
          <a:bodyPr wrap="square">
            <a:spAutoFit/>
          </a:bodyPr>
          <a:lstStyle/>
          <a:p>
            <a:pPr algn="ctr"/>
            <a:r>
              <a:rPr sz="650" b="0" i="0">
                <a:solidFill>
                  <a:srgbClr val="5A6380"/>
                </a:solidFill>
              </a:rPr>
              <a:t>Multi-part BOM, full cost rollup</a:t>
            </a:r>
          </a:p>
        </p:txBody>
      </p:sp>
      <p:sp>
        <p:nvSpPr>
          <p:cNvPr id="87" name="Rectangle 86"/>
          <p:cNvSpPr/>
          <p:nvPr/>
        </p:nvSpPr>
        <p:spPr>
          <a:xfrm>
            <a:off x="8554865"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54865" y="4398264"/>
            <a:ext cx="1578385" cy="292608"/>
          </a:xfrm>
          <a:prstGeom prst="rect">
            <a:avLst/>
          </a:prstGeom>
          <a:noFill/>
        </p:spPr>
        <p:txBody>
          <a:bodyPr wrap="square">
            <a:spAutoFit/>
          </a:bodyPr>
          <a:lstStyle/>
          <a:p>
            <a:pPr algn="ctr"/>
            <a:r>
              <a:rPr sz="1300" b="0" i="0">
                <a:solidFill>
                  <a:srgbClr val="F0F2F8"/>
                </a:solidFill>
              </a:rPr>
              <a:t>📉</a:t>
            </a:r>
          </a:p>
        </p:txBody>
      </p:sp>
      <p:sp>
        <p:nvSpPr>
          <p:cNvPr id="89" name="TextBox 88"/>
          <p:cNvSpPr txBox="1"/>
          <p:nvPr/>
        </p:nvSpPr>
        <p:spPr>
          <a:xfrm>
            <a:off x="8554865" y="4690872"/>
            <a:ext cx="1578385" cy="201168"/>
          </a:xfrm>
          <a:prstGeom prst="rect">
            <a:avLst/>
          </a:prstGeom>
          <a:noFill/>
        </p:spPr>
        <p:txBody>
          <a:bodyPr wrap="square">
            <a:spAutoFit/>
          </a:bodyPr>
          <a:lstStyle/>
          <a:p>
            <a:pPr algn="ctr"/>
            <a:r>
              <a:rPr sz="750" b="1" i="0">
                <a:solidFill>
                  <a:srgbClr val="F0F2F8"/>
                </a:solidFill>
              </a:rPr>
              <a:t>Extrusion (Profile)</a:t>
            </a:r>
          </a:p>
        </p:txBody>
      </p:sp>
      <p:sp>
        <p:nvSpPr>
          <p:cNvPr id="90" name="TextBox 89"/>
          <p:cNvSpPr txBox="1"/>
          <p:nvPr/>
        </p:nvSpPr>
        <p:spPr>
          <a:xfrm>
            <a:off x="8554865" y="4873752"/>
            <a:ext cx="1578385" cy="201168"/>
          </a:xfrm>
          <a:prstGeom prst="rect">
            <a:avLst/>
          </a:prstGeom>
          <a:noFill/>
        </p:spPr>
        <p:txBody>
          <a:bodyPr wrap="square">
            <a:spAutoFit/>
          </a:bodyPr>
          <a:lstStyle/>
          <a:p>
            <a:pPr algn="ctr"/>
            <a:r>
              <a:rPr sz="650" b="0" i="0">
                <a:solidFill>
                  <a:srgbClr val="5A6380"/>
                </a:solidFill>
              </a:rPr>
              <a:t>Continuous linear profiles</a:t>
            </a:r>
          </a:p>
        </p:txBody>
      </p:sp>
      <p:sp>
        <p:nvSpPr>
          <p:cNvPr id="91" name="Rectangle 90"/>
          <p:cNvSpPr/>
          <p:nvPr/>
        </p:nvSpPr>
        <p:spPr>
          <a:xfrm>
            <a:off x="10183542"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83542" y="4398264"/>
            <a:ext cx="1578385" cy="292608"/>
          </a:xfrm>
          <a:prstGeom prst="rect">
            <a:avLst/>
          </a:prstGeom>
          <a:noFill/>
        </p:spPr>
        <p:txBody>
          <a:bodyPr wrap="square">
            <a:spAutoFit/>
          </a:bodyPr>
          <a:lstStyle/>
          <a:p>
            <a:pPr algn="ctr"/>
            <a:r>
              <a:rPr sz="1300" b="0" i="0">
                <a:solidFill>
                  <a:srgbClr val="F0F2F8"/>
                </a:solidFill>
              </a:rPr>
              <a:t>🤖</a:t>
            </a:r>
          </a:p>
        </p:txBody>
      </p:sp>
      <p:sp>
        <p:nvSpPr>
          <p:cNvPr id="93" name="TextBox 92"/>
          <p:cNvSpPr txBox="1"/>
          <p:nvPr/>
        </p:nvSpPr>
        <p:spPr>
          <a:xfrm>
            <a:off x="10183542" y="4690872"/>
            <a:ext cx="1578385" cy="201168"/>
          </a:xfrm>
          <a:prstGeom prst="rect">
            <a:avLst/>
          </a:prstGeom>
          <a:noFill/>
        </p:spPr>
        <p:txBody>
          <a:bodyPr wrap="square">
            <a:spAutoFit/>
          </a:bodyPr>
          <a:lstStyle/>
          <a:p>
            <a:pPr algn="ctr"/>
            <a:r>
              <a:rPr sz="750" b="1" i="0">
                <a:solidFill>
                  <a:srgbClr val="F0F2F8"/>
                </a:solidFill>
              </a:rPr>
              <a:t>AI Agent</a:t>
            </a:r>
          </a:p>
        </p:txBody>
      </p:sp>
      <p:sp>
        <p:nvSpPr>
          <p:cNvPr id="94" name="TextBox 93"/>
          <p:cNvSpPr txBox="1"/>
          <p:nvPr/>
        </p:nvSpPr>
        <p:spPr>
          <a:xfrm>
            <a:off x="10183542" y="4873752"/>
            <a:ext cx="1578385" cy="201168"/>
          </a:xfrm>
          <a:prstGeom prst="rect">
            <a:avLst/>
          </a:prstGeom>
          <a:noFill/>
        </p:spPr>
        <p:txBody>
          <a:bodyPr wrap="square">
            <a:spAutoFit/>
          </a:bodyPr>
          <a:lstStyle/>
          <a:p>
            <a:pPr algn="ctr"/>
            <a:r>
              <a:rPr sz="650" b="0" i="0">
                <a:solidFill>
                  <a:srgbClr val="5A6380"/>
                </a:solidFill>
              </a:rPr>
              <a:t>Natural language → any commodity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08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364992" cy="292608"/>
          </a:xfrm>
          <a:prstGeom prst="rect">
            <a:avLst/>
          </a:prstGeom>
          <a:noFill/>
        </p:spPr>
        <p:txBody>
          <a:bodyPr wrap="square">
            <a:spAutoFit/>
          </a:bodyPr>
          <a:lstStyle/>
          <a:p>
            <a:pPr algn="l"/>
            <a:r>
              <a:rPr sz="950" b="1" i="0">
                <a:solidFill>
                  <a:srgbClr val="F0F2F8"/>
                </a:solidFill>
              </a:rPr>
              <a:t>📦 Material Database</a:t>
            </a:r>
          </a:p>
        </p:txBody>
      </p:sp>
      <p:sp>
        <p:nvSpPr>
          <p:cNvPr id="14" name="TextBox 13"/>
          <p:cNvSpPr txBox="1"/>
          <p:nvPr/>
        </p:nvSpPr>
        <p:spPr>
          <a:xfrm>
            <a:off x="539496" y="2157984"/>
            <a:ext cx="3364992"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4050792"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50792"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78808" y="1901952"/>
            <a:ext cx="3364992" cy="292608"/>
          </a:xfrm>
          <a:prstGeom prst="rect">
            <a:avLst/>
          </a:prstGeom>
          <a:noFill/>
        </p:spPr>
        <p:txBody>
          <a:bodyPr wrap="square">
            <a:spAutoFit/>
          </a:bodyPr>
          <a:lstStyle/>
          <a:p>
            <a:pPr algn="l"/>
            <a:r>
              <a:rPr sz="950" b="1" i="0">
                <a:solidFill>
                  <a:srgbClr val="F0F2F8"/>
                </a:solidFill>
              </a:rPr>
              <a:t>⚙️ Machine &amp; Rate Library</a:t>
            </a:r>
          </a:p>
        </p:txBody>
      </p:sp>
      <p:sp>
        <p:nvSpPr>
          <p:cNvPr id="18" name="TextBox 17"/>
          <p:cNvSpPr txBox="1"/>
          <p:nvPr/>
        </p:nvSpPr>
        <p:spPr>
          <a:xfrm>
            <a:off x="4178808" y="2157984"/>
            <a:ext cx="3364992"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7690104"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90104"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1901952"/>
            <a:ext cx="3364992" cy="292608"/>
          </a:xfrm>
          <a:prstGeom prst="rect">
            <a:avLst/>
          </a:prstGeom>
          <a:noFill/>
        </p:spPr>
        <p:txBody>
          <a:bodyPr wrap="square">
            <a:spAutoFit/>
          </a:bodyPr>
          <a:lstStyle/>
          <a:p>
            <a:pPr algn="l"/>
            <a:r>
              <a:rPr sz="950" b="1" i="0">
                <a:solidFill>
                  <a:srgbClr val="F0F2F8"/>
                </a:solidFill>
              </a:rPr>
              <a:t>🛤️ Routing &amp; Process Logic</a:t>
            </a:r>
          </a:p>
        </p:txBody>
      </p:sp>
      <p:sp>
        <p:nvSpPr>
          <p:cNvPr id="22" name="TextBox 21"/>
          <p:cNvSpPr txBox="1"/>
          <p:nvPr/>
        </p:nvSpPr>
        <p:spPr>
          <a:xfrm>
            <a:off x="7818120" y="2157984"/>
            <a:ext cx="3364992"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11329416"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29416"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57432" y="1901952"/>
            <a:ext cx="3364992" cy="292608"/>
          </a:xfrm>
          <a:prstGeom prst="rect">
            <a:avLst/>
          </a:prstGeom>
          <a:noFill/>
        </p:spPr>
        <p:txBody>
          <a:bodyPr wrap="square">
            <a:spAutoFit/>
          </a:bodyPr>
          <a:lstStyle/>
          <a:p>
            <a:pPr algn="l"/>
            <a:r>
              <a:rPr sz="950" b="1" i="0">
                <a:solidFill>
                  <a:srgbClr val="F0F2F8"/>
                </a:solidFill>
              </a:rPr>
              <a:t>🔩 Tooling &amp; NRE Amortisation</a:t>
            </a:r>
          </a:p>
        </p:txBody>
      </p:sp>
      <p:sp>
        <p:nvSpPr>
          <p:cNvPr id="26" name="TextBox 25"/>
          <p:cNvSpPr txBox="1"/>
          <p:nvPr/>
        </p:nvSpPr>
        <p:spPr>
          <a:xfrm>
            <a:off x="11457432" y="2157984"/>
            <a:ext cx="3364992"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3364992" cy="292608"/>
          </a:xfrm>
          <a:prstGeom prst="rect">
            <a:avLst/>
          </a:prstGeom>
          <a:noFill/>
        </p:spPr>
        <p:txBody>
          <a:bodyPr wrap="square">
            <a:spAutoFit/>
          </a:bodyPr>
          <a:lstStyle/>
          <a:p>
            <a:pPr algn="l"/>
            <a:r>
              <a:rPr sz="950" b="1" i="0">
                <a:solidFill>
                  <a:srgbClr val="F0F2F8"/>
                </a:solidFill>
              </a:rPr>
              <a:t>📉 Yield &amp; Scrap Models</a:t>
            </a:r>
          </a:p>
        </p:txBody>
      </p:sp>
      <p:sp>
        <p:nvSpPr>
          <p:cNvPr id="30" name="TextBox 29"/>
          <p:cNvSpPr txBox="1"/>
          <p:nvPr/>
        </p:nvSpPr>
        <p:spPr>
          <a:xfrm>
            <a:off x="539496" y="3419856"/>
            <a:ext cx="3364992"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4050792"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50792"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8808" y="3163824"/>
            <a:ext cx="3364992" cy="292608"/>
          </a:xfrm>
          <a:prstGeom prst="rect">
            <a:avLst/>
          </a:prstGeom>
          <a:noFill/>
        </p:spPr>
        <p:txBody>
          <a:bodyPr wrap="square">
            <a:spAutoFit/>
          </a:bodyPr>
          <a:lstStyle/>
          <a:p>
            <a:pPr algn="l"/>
            <a:r>
              <a:rPr sz="950" b="1" i="0">
                <a:solidFill>
                  <a:srgbClr val="F0F2F8"/>
                </a:solidFill>
              </a:rPr>
              <a:t>🌍 Regional Cost Multipliers</a:t>
            </a:r>
          </a:p>
        </p:txBody>
      </p:sp>
      <p:sp>
        <p:nvSpPr>
          <p:cNvPr id="34" name="TextBox 33"/>
          <p:cNvSpPr txBox="1"/>
          <p:nvPr/>
        </p:nvSpPr>
        <p:spPr>
          <a:xfrm>
            <a:off x="4178808" y="3419856"/>
            <a:ext cx="3364992"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7690104"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90104"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18120" y="3163824"/>
            <a:ext cx="3364992" cy="292608"/>
          </a:xfrm>
          <a:prstGeom prst="rect">
            <a:avLst/>
          </a:prstGeom>
          <a:noFill/>
        </p:spPr>
        <p:txBody>
          <a:bodyPr wrap="square">
            <a:spAutoFit/>
          </a:bodyPr>
          <a:lstStyle/>
          <a:p>
            <a:pPr algn="l"/>
            <a:r>
              <a:rPr sz="950" b="1" i="0">
                <a:solidFill>
                  <a:srgbClr val="F0F2F8"/>
                </a:solidFill>
              </a:rPr>
              <a:t>📊 Benchmarks &amp; Sensitivity</a:t>
            </a:r>
          </a:p>
        </p:txBody>
      </p:sp>
      <p:sp>
        <p:nvSpPr>
          <p:cNvPr id="38" name="TextBox 37"/>
          <p:cNvSpPr txBox="1"/>
          <p:nvPr/>
        </p:nvSpPr>
        <p:spPr>
          <a:xfrm>
            <a:off x="7818120" y="3419856"/>
            <a:ext cx="3364992"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11329416"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29416"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57432" y="3163824"/>
            <a:ext cx="3364992" cy="292608"/>
          </a:xfrm>
          <a:prstGeom prst="rect">
            <a:avLst/>
          </a:prstGeom>
          <a:noFill/>
        </p:spPr>
        <p:txBody>
          <a:bodyPr wrap="square">
            <a:spAutoFit/>
          </a:bodyPr>
          <a:lstStyle/>
          <a:p>
            <a:pPr algn="l"/>
            <a:r>
              <a:rPr sz="950" b="1" i="0">
                <a:solidFill>
                  <a:srgbClr val="F0F2F8"/>
                </a:solidFill>
              </a:rPr>
              <a:t>📉 Learning Curve (Wright's Law)</a:t>
            </a:r>
          </a:p>
        </p:txBody>
      </p:sp>
      <p:sp>
        <p:nvSpPr>
          <p:cNvPr id="42" name="TextBox 41"/>
          <p:cNvSpPr txBox="1"/>
          <p:nvPr/>
        </p:nvSpPr>
        <p:spPr>
          <a:xfrm>
            <a:off x="11457432" y="3419856"/>
            <a:ext cx="3364992"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3364992" cy="292608"/>
          </a:xfrm>
          <a:prstGeom prst="rect">
            <a:avLst/>
          </a:prstGeom>
          <a:noFill/>
        </p:spPr>
        <p:txBody>
          <a:bodyPr wrap="square">
            <a:spAutoFit/>
          </a:bodyPr>
          <a:lstStyle/>
          <a:p>
            <a:pPr algn="l"/>
            <a:r>
              <a:rPr sz="950" b="1" i="0">
                <a:solidFill>
                  <a:srgbClr val="F0F2F8"/>
                </a:solidFill>
              </a:rPr>
              <a:t>💰 Supplier Quote Comparison</a:t>
            </a:r>
          </a:p>
        </p:txBody>
      </p:sp>
      <p:sp>
        <p:nvSpPr>
          <p:cNvPr id="46" name="TextBox 45"/>
          <p:cNvSpPr txBox="1"/>
          <p:nvPr/>
        </p:nvSpPr>
        <p:spPr>
          <a:xfrm>
            <a:off x="539496" y="4681728"/>
            <a:ext cx="3364992"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4050792"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050792"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78808" y="4425696"/>
            <a:ext cx="3364992" cy="292608"/>
          </a:xfrm>
          <a:prstGeom prst="rect">
            <a:avLst/>
          </a:prstGeom>
          <a:noFill/>
        </p:spPr>
        <p:txBody>
          <a:bodyPr wrap="square">
            <a:spAutoFit/>
          </a:bodyPr>
          <a:lstStyle/>
          <a:p>
            <a:pPr algn="l"/>
            <a:r>
              <a:rPr sz="950" b="1" i="0">
                <a:solidFill>
                  <a:srgbClr val="F0F2F8"/>
                </a:solidFill>
              </a:rPr>
              <a:t>🤖 AI-Driven Assumptions</a:t>
            </a:r>
          </a:p>
        </p:txBody>
      </p:sp>
      <p:sp>
        <p:nvSpPr>
          <p:cNvPr id="50" name="TextBox 49"/>
          <p:cNvSpPr txBox="1"/>
          <p:nvPr/>
        </p:nvSpPr>
        <p:spPr>
          <a:xfrm>
            <a:off x="4178808" y="4681728"/>
            <a:ext cx="3364992"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09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10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0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11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12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13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1,005 automated tests across 86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14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15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16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17 / 17</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1,005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