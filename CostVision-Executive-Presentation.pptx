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be precise: the engine's arithmetic matches a hand calculation to a hundredth of a percent, but no estimate has yet been compared with a price we actually paid. That comparison is what the Log Actual button builds, part by part, and it is the number to quote once it exists.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738731" y="777240"/>
            <a:ext cx="8714232" cy="3017520"/>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FFFFFF"/>
                </a:solidFill>
                <a:latin typeface="Cambria"/>
              </a:rPr>
              <a:t>CostVision</a:t>
            </a:r>
          </a:p>
        </p:txBody>
      </p:sp>
      <p:sp>
        <p:nvSpPr>
          <p:cNvPr id="6" name="Rectangle 5"/>
          <p:cNvSpPr/>
          <p:nvPr/>
        </p:nvSpPr>
        <p:spPr>
          <a:xfrm>
            <a:off x="4114800" y="2240280"/>
            <a:ext cx="4023360" cy="5486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CADCFC"/>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FFFFF"/>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8FA3CC"/>
                </a:solidFill>
              </a:rPr>
              <a:t>Cost Engineering &amp; Digital Innovation</a:t>
            </a:r>
          </a:p>
        </p:txBody>
      </p:sp>
      <p:sp>
        <p:nvSpPr>
          <p:cNvPr id="10" name="Rectangle 9"/>
          <p:cNvSpPr/>
          <p:nvPr/>
        </p:nvSpPr>
        <p:spPr>
          <a:xfrm>
            <a:off x="914400" y="4160520"/>
            <a:ext cx="1920240" cy="329184"/>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2E8B57"/>
                </a:solidFill>
              </a:rPr>
              <a:t>21 Commodity Models</a:t>
            </a:r>
          </a:p>
        </p:txBody>
      </p:sp>
      <p:sp>
        <p:nvSpPr>
          <p:cNvPr id="12" name="Rectangle 11"/>
          <p:cNvSpPr/>
          <p:nvPr/>
        </p:nvSpPr>
        <p:spPr>
          <a:xfrm>
            <a:off x="310896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1D6FB8"/>
                </a:solidFill>
              </a:rPr>
              <a:t>AI Agent (NLP)</a:t>
            </a:r>
          </a:p>
        </p:txBody>
      </p:sp>
      <p:sp>
        <p:nvSpPr>
          <p:cNvPr id="14" name="Rectangle 13"/>
          <p:cNvSpPr/>
          <p:nvPr/>
        </p:nvSpPr>
        <p:spPr>
          <a:xfrm>
            <a:off x="5303520" y="4160520"/>
            <a:ext cx="1920240" cy="329184"/>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6B3FA0"/>
                </a:solidFill>
              </a:rPr>
              <a:t>CAD-to-Cost AI</a:t>
            </a:r>
          </a:p>
        </p:txBody>
      </p:sp>
      <p:sp>
        <p:nvSpPr>
          <p:cNvPr id="16" name="Rectangle 15"/>
          <p:cNvSpPr/>
          <p:nvPr/>
        </p:nvSpPr>
        <p:spPr>
          <a:xfrm>
            <a:off x="7498079" y="4160520"/>
            <a:ext cx="1920240" cy="329184"/>
          </a:xfrm>
          <a:prstGeom prst="rect">
            <a:avLst/>
          </a:prstGeom>
          <a:solidFill>
            <a:srgbClr val="FFFFFF"/>
          </a:solidFill>
          <a:ln w="1016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B7791F"/>
                </a:solidFill>
              </a:rPr>
              <a:t>DFM / DFA Layer</a:t>
            </a:r>
          </a:p>
        </p:txBody>
      </p:sp>
      <p:sp>
        <p:nvSpPr>
          <p:cNvPr id="18" name="Rectangle 17"/>
          <p:cNvSpPr/>
          <p:nvPr/>
        </p:nvSpPr>
        <p:spPr>
          <a:xfrm>
            <a:off x="969264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1D6FB8"/>
                </a:solidFill>
              </a:rPr>
              <a:t>20 Regions · 10 FX</a:t>
            </a:r>
          </a:p>
        </p:txBody>
      </p:sp>
      <p:sp>
        <p:nvSpPr>
          <p:cNvPr id="20" name="Rectangle 19"/>
          <p:cNvSpPr/>
          <p:nvPr/>
        </p:nvSpPr>
        <p:spPr>
          <a:xfrm>
            <a:off x="1645920" y="4617720"/>
            <a:ext cx="2286000" cy="30175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2E8B57"/>
                </a:solidFill>
              </a:rPr>
              <a:t>Assembly BOM Rollup</a:t>
            </a:r>
          </a:p>
        </p:txBody>
      </p:sp>
      <p:sp>
        <p:nvSpPr>
          <p:cNvPr id="22" name="Rectangle 21"/>
          <p:cNvSpPr/>
          <p:nvPr/>
        </p:nvSpPr>
        <p:spPr>
          <a:xfrm>
            <a:off x="3840480" y="4617720"/>
            <a:ext cx="2286000" cy="301752"/>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6B3FA0"/>
                </a:solidFill>
              </a:rPr>
              <a:t>Wright's Law Learning Curve</a:t>
            </a:r>
          </a:p>
        </p:txBody>
      </p:sp>
      <p:sp>
        <p:nvSpPr>
          <p:cNvPr id="24" name="Rectangle 23"/>
          <p:cNvSpPr/>
          <p:nvPr/>
        </p:nvSpPr>
        <p:spPr>
          <a:xfrm>
            <a:off x="6309360" y="4617720"/>
            <a:ext cx="2286000" cy="301752"/>
          </a:xfrm>
          <a:prstGeom prst="rect">
            <a:avLst/>
          </a:prstGeom>
          <a:solidFill>
            <a:srgbClr val="FFFFFF"/>
          </a:solidFill>
          <a:ln w="1016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B7791F"/>
                </a:solidFill>
              </a:rPr>
              <a:t>Supplier Quote Comparison</a:t>
            </a:r>
          </a:p>
        </p:txBody>
      </p:sp>
      <p:sp>
        <p:nvSpPr>
          <p:cNvPr id="26" name="Rectangle 25"/>
          <p:cNvSpPr/>
          <p:nvPr/>
        </p:nvSpPr>
        <p:spPr>
          <a:xfrm>
            <a:off x="8686800" y="4617720"/>
            <a:ext cx="2286000" cy="30175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1D6FB8"/>
                </a:solidFill>
              </a:rPr>
              <a:t>Cloud Team Sync</a:t>
            </a:r>
          </a:p>
        </p:txBody>
      </p:sp>
      <p:sp>
        <p:nvSpPr>
          <p:cNvPr id="28" name="Rectangle 27"/>
          <p:cNvSpPr/>
          <p:nvPr/>
        </p:nvSpPr>
        <p:spPr>
          <a:xfrm>
            <a:off x="0" y="6446520"/>
            <a:ext cx="12191695" cy="7315"/>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8FA3CC"/>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33546" cy="310896"/>
          </a:xfrm>
          <a:prstGeom prst="rect">
            <a:avLst/>
          </a:prstGeom>
          <a:noFill/>
        </p:spPr>
        <p:txBody>
          <a:bodyPr wrap="square">
            <a:spAutoFit/>
          </a:bodyPr>
          <a:lstStyle/>
          <a:p>
            <a:pPr algn="l"/>
            <a:r>
              <a:rPr sz="1050" b="1" i="0">
                <a:solidFill>
                  <a:srgbClr val="16325C"/>
                </a:solidFill>
              </a:rPr>
              <a:t>⏱  Weeks, Not Minutes</a:t>
            </a:r>
          </a:p>
        </p:txBody>
      </p:sp>
      <p:sp>
        <p:nvSpPr>
          <p:cNvPr id="14" name="TextBox 13"/>
          <p:cNvSpPr txBox="1"/>
          <p:nvPr/>
        </p:nvSpPr>
        <p:spPr>
          <a:xfrm>
            <a:off x="539496" y="2212848"/>
            <a:ext cx="3533546" cy="1257300"/>
          </a:xfrm>
          <a:prstGeom prst="rect">
            <a:avLst/>
          </a:prstGeom>
          <a:noFill/>
        </p:spPr>
        <p:txBody>
          <a:bodyPr wrap="square">
            <a:spAutoFit/>
          </a:bodyPr>
          <a:lstStyle/>
          <a:p>
            <a:pPr algn="l"/>
            <a:r>
              <a:rPr sz="950" b="0" i="0">
                <a:solidFill>
                  <a:srgbClr val="3A4356"/>
                </a:solidFill>
              </a:rPr>
              <a:t>Manual should-cost takes 2–4 weeks per part. Sourcing decisions stall. Programme timelines slip.</a:t>
            </a:r>
          </a:p>
        </p:txBody>
      </p:sp>
      <p:sp>
        <p:nvSpPr>
          <p:cNvPr id="15" name="Rectangle 14"/>
          <p:cNvSpPr/>
          <p:nvPr/>
        </p:nvSpPr>
        <p:spPr>
          <a:xfrm>
            <a:off x="4237634"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7634" y="1828800"/>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5650"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Supplier Dependency</a:t>
            </a:r>
          </a:p>
        </p:txBody>
      </p:sp>
      <p:sp>
        <p:nvSpPr>
          <p:cNvPr id="18" name="TextBox 17"/>
          <p:cNvSpPr txBox="1"/>
          <p:nvPr/>
        </p:nvSpPr>
        <p:spPr>
          <a:xfrm>
            <a:off x="4365650" y="2212848"/>
            <a:ext cx="3533546" cy="1257300"/>
          </a:xfrm>
          <a:prstGeom prst="rect">
            <a:avLst/>
          </a:prstGeom>
          <a:noFill/>
        </p:spPr>
        <p:txBody>
          <a:bodyPr wrap="square">
            <a:spAutoFit/>
          </a:bodyPr>
          <a:lstStyle/>
          <a:p>
            <a:pPr algn="l"/>
            <a:r>
              <a:rPr sz="950" b="0" i="0">
                <a:solidFill>
                  <a:srgbClr val="3A4356"/>
                </a:solidFill>
              </a:rPr>
              <a:t>Without independent cost intelligence, engineers accept quotes at face value — no leverage, no transparency.</a:t>
            </a:r>
          </a:p>
        </p:txBody>
      </p:sp>
      <p:sp>
        <p:nvSpPr>
          <p:cNvPr id="19" name="Rectangle 18"/>
          <p:cNvSpPr/>
          <p:nvPr/>
        </p:nvSpPr>
        <p:spPr>
          <a:xfrm>
            <a:off x="8063788"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3788"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1804"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Inconsistent Methodology</a:t>
            </a:r>
          </a:p>
        </p:txBody>
      </p:sp>
      <p:sp>
        <p:nvSpPr>
          <p:cNvPr id="22" name="TextBox 21"/>
          <p:cNvSpPr txBox="1"/>
          <p:nvPr/>
        </p:nvSpPr>
        <p:spPr>
          <a:xfrm>
            <a:off x="8191804" y="2212848"/>
            <a:ext cx="3533546" cy="1257300"/>
          </a:xfrm>
          <a:prstGeom prst="rect">
            <a:avLst/>
          </a:prstGeom>
          <a:noFill/>
        </p:spPr>
        <p:txBody>
          <a:bodyPr wrap="square">
            <a:spAutoFit/>
          </a:bodyPr>
          <a:lstStyle/>
          <a:p>
            <a:pPr algn="l"/>
            <a:r>
              <a:rPr sz="950" b="0" i="0">
                <a:solidFill>
                  <a:srgbClr val="3A4356"/>
                </a:solidFill>
              </a:rPr>
              <a:t>Every engineer calculates cost differently. No standard model. No auditable assumptions. No cross-team comparability.</a:t>
            </a:r>
          </a:p>
        </p:txBody>
      </p:sp>
      <p:sp>
        <p:nvSpPr>
          <p:cNvPr id="23" name="Rectangle 22"/>
          <p:cNvSpPr/>
          <p:nvPr/>
        </p:nvSpPr>
        <p:spPr>
          <a:xfrm>
            <a:off x="411480"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896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Regional Visibility</a:t>
            </a:r>
          </a:p>
        </p:txBody>
      </p:sp>
      <p:sp>
        <p:nvSpPr>
          <p:cNvPr id="26" name="TextBox 25"/>
          <p:cNvSpPr txBox="1"/>
          <p:nvPr/>
        </p:nvSpPr>
        <p:spPr>
          <a:xfrm>
            <a:off x="539496" y="4073652"/>
            <a:ext cx="3533546" cy="1257300"/>
          </a:xfrm>
          <a:prstGeom prst="rect">
            <a:avLst/>
          </a:prstGeom>
          <a:noFill/>
        </p:spPr>
        <p:txBody>
          <a:bodyPr wrap="square">
            <a:spAutoFit/>
          </a:bodyPr>
          <a:lstStyle/>
          <a:p>
            <a:pPr algn="l"/>
            <a:r>
              <a:rPr sz="950" b="0" i="0">
                <a:solidFill>
                  <a:srgbClr val="3A4356"/>
                </a:solidFill>
              </a:rPr>
              <a:t>Labour, machine, material and energy rates vary dramatically by country. Manual adjustment is error-prone.</a:t>
            </a:r>
          </a:p>
        </p:txBody>
      </p:sp>
      <p:sp>
        <p:nvSpPr>
          <p:cNvPr id="27" name="Rectangle 26"/>
          <p:cNvSpPr/>
          <p:nvPr/>
        </p:nvSpPr>
        <p:spPr>
          <a:xfrm>
            <a:off x="4237634"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37634" y="3689604"/>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5650"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Late-Stage Cost Surprises</a:t>
            </a:r>
          </a:p>
        </p:txBody>
      </p:sp>
      <p:sp>
        <p:nvSpPr>
          <p:cNvPr id="30" name="TextBox 29"/>
          <p:cNvSpPr txBox="1"/>
          <p:nvPr/>
        </p:nvSpPr>
        <p:spPr>
          <a:xfrm>
            <a:off x="4365650" y="4073652"/>
            <a:ext cx="3533546" cy="1257300"/>
          </a:xfrm>
          <a:prstGeom prst="rect">
            <a:avLst/>
          </a:prstGeom>
          <a:noFill/>
        </p:spPr>
        <p:txBody>
          <a:bodyPr wrap="square">
            <a:spAutoFit/>
          </a:bodyPr>
          <a:lstStyle/>
          <a:p>
            <a:pPr algn="l"/>
            <a:r>
              <a:rPr sz="950" b="0" i="0">
                <a:solidFill>
                  <a:srgbClr val="3A4356"/>
                </a:solidFill>
              </a:rPr>
              <a:t>Cost issues discovered at SOP — not at concept. DFM problems missed. Expensive redesigns. Margin erosion at launch.</a:t>
            </a:r>
          </a:p>
        </p:txBody>
      </p:sp>
      <p:sp>
        <p:nvSpPr>
          <p:cNvPr id="31" name="Rectangle 30"/>
          <p:cNvSpPr/>
          <p:nvPr/>
        </p:nvSpPr>
        <p:spPr>
          <a:xfrm>
            <a:off x="8063788"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3788" y="36896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91804"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Supplier Quote Benchmark</a:t>
            </a:r>
          </a:p>
        </p:txBody>
      </p:sp>
      <p:sp>
        <p:nvSpPr>
          <p:cNvPr id="34" name="TextBox 33"/>
          <p:cNvSpPr txBox="1"/>
          <p:nvPr/>
        </p:nvSpPr>
        <p:spPr>
          <a:xfrm>
            <a:off x="8191804" y="4073652"/>
            <a:ext cx="3533546" cy="1257300"/>
          </a:xfrm>
          <a:prstGeom prst="rect">
            <a:avLst/>
          </a:prstGeom>
          <a:noFill/>
        </p:spPr>
        <p:txBody>
          <a:bodyPr wrap="square">
            <a:spAutoFit/>
          </a:bodyPr>
          <a:lstStyle/>
          <a:p>
            <a:pPr algn="l"/>
            <a:r>
              <a:rPr sz="950" b="0" i="0">
                <a:solidFill>
                  <a:srgbClr val="3A4356"/>
                </a:solidFill>
              </a:rPr>
              <a:t>Buyers lack a defensible floor price for negotiation. Supplier margins are opaque and unchallenged.</a:t>
            </a:r>
          </a:p>
        </p:txBody>
      </p:sp>
      <p:sp>
        <p:nvSpPr>
          <p:cNvPr id="35" name="Rectangle 34"/>
          <p:cNvSpPr/>
          <p:nvPr/>
        </p:nvSpPr>
        <p:spPr>
          <a:xfrm>
            <a:off x="411480" y="5568696"/>
            <a:ext cx="11368735" cy="78638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623560"/>
            <a:ext cx="1005840" cy="658368"/>
          </a:xfrm>
          <a:prstGeom prst="rect">
            <a:avLst/>
          </a:prstGeom>
          <a:noFill/>
        </p:spPr>
        <p:txBody>
          <a:bodyPr wrap="none">
            <a:spAutoFit/>
          </a:bodyPr>
          <a:lstStyle/>
          <a:p>
            <a:pPr algn="ctr"/>
            <a:r>
              <a:rPr sz="3600" b="1" i="0">
                <a:solidFill>
                  <a:srgbClr val="B7791F"/>
                </a:solidFill>
              </a:rPr>
              <a:t>80%</a:t>
            </a:r>
          </a:p>
        </p:txBody>
      </p:sp>
      <p:sp>
        <p:nvSpPr>
          <p:cNvPr id="37" name="TextBox 36"/>
          <p:cNvSpPr txBox="1"/>
          <p:nvPr/>
        </p:nvSpPr>
        <p:spPr>
          <a:xfrm>
            <a:off x="1645920" y="5696712"/>
            <a:ext cx="9875520" cy="566928"/>
          </a:xfrm>
          <a:prstGeom prst="rect">
            <a:avLst/>
          </a:prstGeom>
          <a:noFill/>
        </p:spPr>
        <p:txBody>
          <a:bodyPr wrap="square">
            <a:spAutoFit/>
          </a:bodyPr>
          <a:lstStyle/>
          <a:p>
            <a:pPr algn="l"/>
            <a:r>
              <a:rPr sz="1000" b="0" i="0">
                <a:solidFill>
                  <a:srgbClr val="3A4356"/>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AI Agent (Natural Language)</a:t>
            </a:r>
          </a:p>
        </p:txBody>
      </p:sp>
      <p:sp>
        <p:nvSpPr>
          <p:cNvPr id="14" name="TextBox 13"/>
          <p:cNvSpPr txBox="1"/>
          <p:nvPr/>
        </p:nvSpPr>
        <p:spPr>
          <a:xfrm>
            <a:off x="539496" y="2194560"/>
            <a:ext cx="3566159" cy="832104"/>
          </a:xfrm>
          <a:prstGeom prst="rect">
            <a:avLst/>
          </a:prstGeom>
          <a:noFill/>
        </p:spPr>
        <p:txBody>
          <a:bodyPr wrap="square">
            <a:spAutoFit/>
          </a:bodyPr>
          <a:lstStyle/>
          <a:p>
            <a:pPr algn="l"/>
            <a:r>
              <a:rPr sz="850" b="0" i="0">
                <a:solidFill>
                  <a:srgbClr val="3A4356"/>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CAD-to-Cost Automation</a:t>
            </a:r>
          </a:p>
        </p:txBody>
      </p:sp>
      <p:sp>
        <p:nvSpPr>
          <p:cNvPr id="18" name="TextBox 17"/>
          <p:cNvSpPr txBox="1"/>
          <p:nvPr/>
        </p:nvSpPr>
        <p:spPr>
          <a:xfrm>
            <a:off x="4379975" y="2194560"/>
            <a:ext cx="3566159" cy="832104"/>
          </a:xfrm>
          <a:prstGeom prst="rect">
            <a:avLst/>
          </a:prstGeom>
          <a:noFill/>
        </p:spPr>
        <p:txBody>
          <a:bodyPr wrap="square">
            <a:spAutoFit/>
          </a:bodyPr>
          <a:lstStyle/>
          <a:p>
            <a:pPr algn="l"/>
            <a:r>
              <a:rPr sz="850" b="0" i="0">
                <a:solidFill>
                  <a:srgbClr val="3A4356"/>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21 Engineering-Grade Cost Models</a:t>
            </a:r>
          </a:p>
        </p:txBody>
      </p:sp>
      <p:sp>
        <p:nvSpPr>
          <p:cNvPr id="22" name="TextBox 21"/>
          <p:cNvSpPr txBox="1"/>
          <p:nvPr/>
        </p:nvSpPr>
        <p:spPr>
          <a:xfrm>
            <a:off x="8220454" y="2194560"/>
            <a:ext cx="3566159" cy="832104"/>
          </a:xfrm>
          <a:prstGeom prst="rect">
            <a:avLst/>
          </a:prstGeom>
          <a:noFill/>
        </p:spPr>
        <p:txBody>
          <a:bodyPr wrap="square">
            <a:spAutoFit/>
          </a:bodyPr>
          <a:lstStyle/>
          <a:p>
            <a:pPr algn="l"/>
            <a:r>
              <a:rPr sz="850" b="0" i="0">
                <a:solidFill>
                  <a:srgbClr val="3A4356"/>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Assembly BOM Rollup</a:t>
            </a:r>
          </a:p>
        </p:txBody>
      </p:sp>
      <p:sp>
        <p:nvSpPr>
          <p:cNvPr id="26" name="TextBox 25"/>
          <p:cNvSpPr txBox="1"/>
          <p:nvPr/>
        </p:nvSpPr>
        <p:spPr>
          <a:xfrm>
            <a:off x="539496" y="3611880"/>
            <a:ext cx="3566159" cy="832104"/>
          </a:xfrm>
          <a:prstGeom prst="rect">
            <a:avLst/>
          </a:prstGeom>
          <a:noFill/>
        </p:spPr>
        <p:txBody>
          <a:bodyPr wrap="square">
            <a:spAutoFit/>
          </a:bodyPr>
          <a:lstStyle/>
          <a:p>
            <a:pPr algn="l"/>
            <a:r>
              <a:rPr sz="850" b="0" i="0">
                <a:solidFill>
                  <a:srgbClr val="3A4356"/>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Learning Curve / Wright's Law</a:t>
            </a:r>
          </a:p>
        </p:txBody>
      </p:sp>
      <p:sp>
        <p:nvSpPr>
          <p:cNvPr id="30" name="TextBox 29"/>
          <p:cNvSpPr txBox="1"/>
          <p:nvPr/>
        </p:nvSpPr>
        <p:spPr>
          <a:xfrm>
            <a:off x="4379975" y="3611880"/>
            <a:ext cx="3566159" cy="832104"/>
          </a:xfrm>
          <a:prstGeom prst="rect">
            <a:avLst/>
          </a:prstGeom>
          <a:noFill/>
        </p:spPr>
        <p:txBody>
          <a:bodyPr wrap="square">
            <a:spAutoFit/>
          </a:bodyPr>
          <a:lstStyle/>
          <a:p>
            <a:pPr algn="l"/>
            <a:r>
              <a:rPr sz="850" b="0" i="0">
                <a:solidFill>
                  <a:srgbClr val="3A4356"/>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Supplier Quote Comparison</a:t>
            </a:r>
          </a:p>
        </p:txBody>
      </p:sp>
      <p:sp>
        <p:nvSpPr>
          <p:cNvPr id="34" name="TextBox 33"/>
          <p:cNvSpPr txBox="1"/>
          <p:nvPr/>
        </p:nvSpPr>
        <p:spPr>
          <a:xfrm>
            <a:off x="8220454" y="3611880"/>
            <a:ext cx="3566159" cy="832104"/>
          </a:xfrm>
          <a:prstGeom prst="rect">
            <a:avLst/>
          </a:prstGeom>
          <a:noFill/>
        </p:spPr>
        <p:txBody>
          <a:bodyPr wrap="square">
            <a:spAutoFit/>
          </a:bodyPr>
          <a:lstStyle/>
          <a:p>
            <a:pPr algn="l"/>
            <a:r>
              <a:rPr sz="850" b="0" i="0">
                <a:solidFill>
                  <a:srgbClr val="3A4356"/>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DFM / DFA Intelligence</a:t>
            </a:r>
          </a:p>
        </p:txBody>
      </p:sp>
      <p:sp>
        <p:nvSpPr>
          <p:cNvPr id="38" name="TextBox 37"/>
          <p:cNvSpPr txBox="1"/>
          <p:nvPr/>
        </p:nvSpPr>
        <p:spPr>
          <a:xfrm>
            <a:off x="539496" y="5029200"/>
            <a:ext cx="3566159" cy="832104"/>
          </a:xfrm>
          <a:prstGeom prst="rect">
            <a:avLst/>
          </a:prstGeom>
          <a:noFill/>
        </p:spPr>
        <p:txBody>
          <a:bodyPr wrap="square">
            <a:spAutoFit/>
          </a:bodyPr>
          <a:lstStyle/>
          <a:p>
            <a:pPr algn="l"/>
            <a:r>
              <a:rPr sz="850" b="0" i="0">
                <a:solidFill>
                  <a:srgbClr val="3A4356"/>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20 Regions · 10 Currencies</a:t>
            </a:r>
          </a:p>
        </p:txBody>
      </p:sp>
      <p:sp>
        <p:nvSpPr>
          <p:cNvPr id="42" name="TextBox 41"/>
          <p:cNvSpPr txBox="1"/>
          <p:nvPr/>
        </p:nvSpPr>
        <p:spPr>
          <a:xfrm>
            <a:off x="4379975" y="5029200"/>
            <a:ext cx="3566159" cy="832104"/>
          </a:xfrm>
          <a:prstGeom prst="rect">
            <a:avLst/>
          </a:prstGeom>
          <a:noFill/>
        </p:spPr>
        <p:txBody>
          <a:bodyPr wrap="square">
            <a:spAutoFit/>
          </a:bodyPr>
          <a:lstStyle/>
          <a:p>
            <a:pPr algn="l"/>
            <a:r>
              <a:rPr sz="850" b="0" i="0">
                <a:solidFill>
                  <a:srgbClr val="3A4356"/>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Export, Scenarios &amp; Team Sync</a:t>
            </a:r>
          </a:p>
        </p:txBody>
      </p:sp>
      <p:sp>
        <p:nvSpPr>
          <p:cNvPr id="46" name="TextBox 45"/>
          <p:cNvSpPr txBox="1"/>
          <p:nvPr/>
        </p:nvSpPr>
        <p:spPr>
          <a:xfrm>
            <a:off x="8220454" y="5029200"/>
            <a:ext cx="3566159" cy="832104"/>
          </a:xfrm>
          <a:prstGeom prst="rect">
            <a:avLst/>
          </a:prstGeom>
          <a:noFill/>
        </p:spPr>
        <p:txBody>
          <a:bodyPr wrap="square">
            <a:spAutoFit/>
          </a:bodyPr>
          <a:lstStyle/>
          <a:p>
            <a:pPr algn="l"/>
            <a:r>
              <a:rPr sz="850" b="0" i="0">
                <a:solidFill>
                  <a:srgbClr val="3A4356"/>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1D6FB8"/>
                </a:solidFill>
              </a:rPr>
              <a:t>How It Works</a:t>
            </a:r>
          </a:p>
        </p:txBody>
      </p:sp>
      <p:sp>
        <p:nvSpPr>
          <p:cNvPr id="12" name="Rectangle 11"/>
          <p:cNvSpPr/>
          <p:nvPr/>
        </p:nvSpPr>
        <p:spPr>
          <a:xfrm>
            <a:off x="411480" y="2148840"/>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16325C"/>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3A4356"/>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16325C"/>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3A4356"/>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16325C"/>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3A4356"/>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16325C"/>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3A4356"/>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197096"/>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1D6FB8"/>
                </a:solidFill>
              </a:rPr>
              <a:t>●  CostVision AI Agent</a:t>
            </a:r>
          </a:p>
        </p:txBody>
      </p:sp>
      <p:sp>
        <p:nvSpPr>
          <p:cNvPr id="31" name="Rectangle 30"/>
          <p:cNvSpPr/>
          <p:nvPr/>
        </p:nvSpPr>
        <p:spPr>
          <a:xfrm>
            <a:off x="6163056" y="223113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38328"/>
          </a:xfrm>
          <a:prstGeom prst="rect">
            <a:avLst/>
          </a:prstGeom>
          <a:noFill/>
        </p:spPr>
        <p:txBody>
          <a:bodyPr wrap="square">
            <a:spAutoFit/>
          </a:bodyPr>
          <a:lstStyle/>
          <a:p>
            <a:pPr algn="l"/>
            <a:r>
              <a:rPr sz="750" b="0" i="0">
                <a:solidFill>
                  <a:srgbClr val="3A4356"/>
                </a:solidFill>
              </a:rPr>
              <a:t>You: Describe a 4-layer FR4 PCB, 100×80mm, ENIG finish, flying probe test, 10,000/yr, UK manufacture</a:t>
            </a:r>
          </a:p>
        </p:txBody>
      </p:sp>
      <p:sp>
        <p:nvSpPr>
          <p:cNvPr id="33" name="Rectangle 32"/>
          <p:cNvSpPr/>
          <p:nvPr/>
        </p:nvSpPr>
        <p:spPr>
          <a:xfrm>
            <a:off x="6163056" y="2734056"/>
            <a:ext cx="5504688" cy="1389888"/>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788920"/>
            <a:ext cx="5303520" cy="1298448"/>
          </a:xfrm>
          <a:prstGeom prst="rect">
            <a:avLst/>
          </a:prstGeom>
          <a:noFill/>
        </p:spPr>
        <p:txBody>
          <a:bodyPr wrap="square">
            <a:spAutoFit/>
          </a:bodyPr>
          <a:lstStyle/>
          <a:p>
            <a:pPr algn="l"/>
            <a:r>
              <a:rPr sz="750" b="0" i="0">
                <a:solidFill>
                  <a:srgbClr val="16325C"/>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19709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251960"/>
            <a:ext cx="5303520" cy="338328"/>
          </a:xfrm>
          <a:prstGeom prst="rect">
            <a:avLst/>
          </a:prstGeom>
          <a:noFill/>
        </p:spPr>
        <p:txBody>
          <a:bodyPr wrap="square">
            <a:spAutoFit/>
          </a:bodyPr>
          <a:lstStyle/>
          <a:p>
            <a:pPr algn="l"/>
            <a:r>
              <a:rPr sz="750" b="0" i="0">
                <a:solidFill>
                  <a:srgbClr val="3A4356"/>
                </a:solidFill>
              </a:rPr>
              <a:t>You: What is the should-cost?</a:t>
            </a:r>
          </a:p>
        </p:txBody>
      </p:sp>
      <p:sp>
        <p:nvSpPr>
          <p:cNvPr id="37" name="Rectangle 36"/>
          <p:cNvSpPr/>
          <p:nvPr/>
        </p:nvSpPr>
        <p:spPr>
          <a:xfrm>
            <a:off x="6163056" y="4700016"/>
            <a:ext cx="5504688" cy="1197864"/>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754880"/>
            <a:ext cx="5303520" cy="1106424"/>
          </a:xfrm>
          <a:prstGeom prst="rect">
            <a:avLst/>
          </a:prstGeom>
          <a:noFill/>
        </p:spPr>
        <p:txBody>
          <a:bodyPr wrap="square">
            <a:spAutoFit/>
          </a:bodyPr>
          <a:lstStyle/>
          <a:p>
            <a:pPr algn="l"/>
            <a:r>
              <a:rPr sz="750" b="0" i="0">
                <a:solidFill>
                  <a:srgbClr val="16325C"/>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135624"/>
            <a:ext cx="868680" cy="201168"/>
          </a:xfrm>
          <a:prstGeom prst="rect">
            <a:avLst/>
          </a:prstGeom>
          <a:noFill/>
        </p:spPr>
        <p:txBody>
          <a:bodyPr wrap="none">
            <a:spAutoFit/>
          </a:bodyPr>
          <a:lstStyle/>
          <a:p>
            <a:pPr algn="l"/>
            <a:r>
              <a:rPr sz="850" b="1" i="0">
                <a:solidFill>
                  <a:srgbClr val="2E8B57"/>
                </a:solidFill>
              </a:rPr>
              <a:t>Key Benefits</a:t>
            </a:r>
          </a:p>
        </p:txBody>
      </p:sp>
      <p:sp>
        <p:nvSpPr>
          <p:cNvPr id="40" name="TextBox 39"/>
          <p:cNvSpPr txBox="1"/>
          <p:nvPr/>
        </p:nvSpPr>
        <p:spPr>
          <a:xfrm>
            <a:off x="699516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Zero form-filling</a:t>
            </a:r>
          </a:p>
        </p:txBody>
      </p:sp>
      <p:sp>
        <p:nvSpPr>
          <p:cNvPr id="41" name="TextBox 40"/>
          <p:cNvSpPr txBox="1"/>
          <p:nvPr/>
        </p:nvSpPr>
        <p:spPr>
          <a:xfrm>
            <a:off x="81953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Any commodity</a:t>
            </a:r>
          </a:p>
        </p:txBody>
      </p:sp>
      <p:sp>
        <p:nvSpPr>
          <p:cNvPr id="42" name="TextBox 41"/>
          <p:cNvSpPr txBox="1"/>
          <p:nvPr/>
        </p:nvSpPr>
        <p:spPr>
          <a:xfrm>
            <a:off x="9395460" y="6135624"/>
            <a:ext cx="1200150" cy="201168"/>
          </a:xfrm>
          <a:prstGeom prst="rect">
            <a:avLst/>
          </a:prstGeom>
          <a:noFill/>
        </p:spPr>
        <p:txBody>
          <a:bodyPr wrap="none">
            <a:spAutoFit/>
          </a:bodyPr>
          <a:lstStyle/>
          <a:p>
            <a:pPr algn="l"/>
            <a:r>
              <a:rPr sz="750" b="0" i="0">
                <a:solidFill>
                  <a:srgbClr val="3A4356"/>
                </a:solidFill>
              </a:rPr>
              <a:t>✓ Assumptions visible</a:t>
            </a:r>
          </a:p>
        </p:txBody>
      </p:sp>
      <p:sp>
        <p:nvSpPr>
          <p:cNvPr id="43" name="TextBox 42"/>
          <p:cNvSpPr txBox="1"/>
          <p:nvPr/>
        </p:nvSpPr>
        <p:spPr>
          <a:xfrm>
            <a:off x="105956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600200" cy="502920"/>
          </a:xfrm>
          <a:prstGeom prst="rect">
            <a:avLst/>
          </a:prstGeom>
          <a:noFill/>
        </p:spPr>
        <p:txBody>
          <a:bodyPr wrap="square">
            <a:spAutoFit/>
          </a:bodyPr>
          <a:lstStyle/>
          <a:p>
            <a:pPr algn="ctr"/>
            <a:r>
              <a:rPr sz="2200" b="1" i="0">
                <a:solidFill>
                  <a:srgbClr val="1D6FB8"/>
                </a:solidFill>
              </a:rPr>
              <a:t>&lt;0.01%</a:t>
            </a:r>
          </a:p>
        </p:txBody>
      </p:sp>
      <p:sp>
        <p:nvSpPr>
          <p:cNvPr id="13" name="TextBox 12"/>
          <p:cNvSpPr txBox="1"/>
          <p:nvPr/>
        </p:nvSpPr>
        <p:spPr>
          <a:xfrm>
            <a:off x="411480" y="2377440"/>
            <a:ext cx="1600200" cy="347472"/>
          </a:xfrm>
          <a:prstGeom prst="rect">
            <a:avLst/>
          </a:prstGeom>
          <a:noFill/>
        </p:spPr>
        <p:txBody>
          <a:bodyPr wrap="square">
            <a:spAutoFit/>
          </a:bodyPr>
          <a:lstStyle/>
          <a:p>
            <a:pPr algn="ctr"/>
            <a:r>
              <a:rPr sz="800" b="0" i="0">
                <a:solidFill>
                  <a:srgbClr val="3A4356"/>
                </a:solidFill>
              </a:rPr>
              <a:t>Engine vs hand calc, reference part</a:t>
            </a:r>
          </a:p>
        </p:txBody>
      </p:sp>
      <p:sp>
        <p:nvSpPr>
          <p:cNvPr id="14" name="Rectangle 13"/>
          <p:cNvSpPr/>
          <p:nvPr/>
        </p:nvSpPr>
        <p:spPr>
          <a:xfrm>
            <a:off x="210312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901952"/>
            <a:ext cx="1600200" cy="502920"/>
          </a:xfrm>
          <a:prstGeom prst="rect">
            <a:avLst/>
          </a:prstGeom>
          <a:noFill/>
        </p:spPr>
        <p:txBody>
          <a:bodyPr wrap="square">
            <a:spAutoFit/>
          </a:bodyPr>
          <a:lstStyle/>
          <a:p>
            <a:pPr algn="ctr"/>
            <a:r>
              <a:rPr sz="2200" b="1" i="0">
                <a:solidFill>
                  <a:srgbClr val="2E8B57"/>
                </a:solidFill>
              </a:rPr>
              <a:t>8</a:t>
            </a:r>
          </a:p>
        </p:txBody>
      </p:sp>
      <p:sp>
        <p:nvSpPr>
          <p:cNvPr id="16" name="TextBox 15"/>
          <p:cNvSpPr txBox="1"/>
          <p:nvPr/>
        </p:nvSpPr>
        <p:spPr>
          <a:xfrm>
            <a:off x="2103120" y="2377440"/>
            <a:ext cx="1600200" cy="347472"/>
          </a:xfrm>
          <a:prstGeom prst="rect">
            <a:avLst/>
          </a:prstGeom>
          <a:noFill/>
        </p:spPr>
        <p:txBody>
          <a:bodyPr wrap="square">
            <a:spAutoFit/>
          </a:bodyPr>
          <a:lstStyle/>
          <a:p>
            <a:pPr algn="ctr"/>
            <a:r>
              <a:rPr sz="800" b="0" i="0">
                <a:solidFill>
                  <a:srgbClr val="3A4356"/>
                </a:solidFill>
              </a:rPr>
              <a:t>Cost buckets, each traced to a rate</a:t>
            </a:r>
          </a:p>
        </p:txBody>
      </p:sp>
      <p:sp>
        <p:nvSpPr>
          <p:cNvPr id="17" name="Rectangle 16"/>
          <p:cNvSpPr/>
          <p:nvPr/>
        </p:nvSpPr>
        <p:spPr>
          <a:xfrm>
            <a:off x="379476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1901952"/>
            <a:ext cx="1600200" cy="502920"/>
          </a:xfrm>
          <a:prstGeom prst="rect">
            <a:avLst/>
          </a:prstGeom>
          <a:noFill/>
        </p:spPr>
        <p:txBody>
          <a:bodyPr wrap="square">
            <a:spAutoFit/>
          </a:bodyPr>
          <a:lstStyle/>
          <a:p>
            <a:pPr algn="ctr"/>
            <a:r>
              <a:rPr sz="2200" b="1" i="0">
                <a:solidFill>
                  <a:srgbClr val="B7791F"/>
                </a:solidFill>
              </a:rPr>
              <a:t>6</a:t>
            </a:r>
          </a:p>
        </p:txBody>
      </p:sp>
      <p:sp>
        <p:nvSpPr>
          <p:cNvPr id="19" name="TextBox 18"/>
          <p:cNvSpPr txBox="1"/>
          <p:nvPr/>
        </p:nvSpPr>
        <p:spPr>
          <a:xfrm>
            <a:off x="3794760" y="2377440"/>
            <a:ext cx="1600200" cy="347472"/>
          </a:xfrm>
          <a:prstGeom prst="rect">
            <a:avLst/>
          </a:prstGeom>
          <a:noFill/>
        </p:spPr>
        <p:txBody>
          <a:bodyPr wrap="square">
            <a:spAutoFit/>
          </a:bodyPr>
          <a:lstStyle/>
          <a:p>
            <a:pPr algn="ctr"/>
            <a:r>
              <a:rPr sz="800" b="0" i="0">
                <a:solidFill>
                  <a:srgbClr val="3A4356"/>
                </a:solidFill>
              </a:rPr>
              <a:t>Real parts pinned in regression</a:t>
            </a:r>
          </a:p>
        </p:txBody>
      </p:sp>
      <p:sp>
        <p:nvSpPr>
          <p:cNvPr id="20" name="Rectangle 19"/>
          <p:cNvSpPr/>
          <p:nvPr/>
        </p:nvSpPr>
        <p:spPr>
          <a:xfrm>
            <a:off x="411480" y="2852928"/>
            <a:ext cx="5486400"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16325C"/>
                </a:solidFill>
              </a:rPr>
              <a:t>What AI Extracts from CAD / Photo</a:t>
            </a:r>
          </a:p>
        </p:txBody>
      </p:sp>
      <p:sp>
        <p:nvSpPr>
          <p:cNvPr id="23" name="Rectangle 22"/>
          <p:cNvSpPr/>
          <p:nvPr/>
        </p:nvSpPr>
        <p:spPr>
          <a:xfrm>
            <a:off x="594360" y="331927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3A4356"/>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3A4356"/>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3A4356"/>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3A4356"/>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3A4356"/>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3A4356"/>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3A4356"/>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16325C"/>
                </a:solidFill>
              </a:rPr>
              <a:t>AI Analysis Result — Aluminium Bracket</a:t>
            </a:r>
          </a:p>
        </p:txBody>
      </p:sp>
      <p:sp>
        <p:nvSpPr>
          <p:cNvPr id="40" name="Rectangle 39"/>
          <p:cNvSpPr/>
          <p:nvPr/>
        </p:nvSpPr>
        <p:spPr>
          <a:xfrm>
            <a:off x="640080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6B72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1D6FB8"/>
                </a:solidFill>
              </a:rPr>
              <a:t>Al 6082-T6</a:t>
            </a:r>
          </a:p>
        </p:txBody>
      </p:sp>
      <p:sp>
        <p:nvSpPr>
          <p:cNvPr id="43" name="Rectangle 42"/>
          <p:cNvSpPr/>
          <p:nvPr/>
        </p:nvSpPr>
        <p:spPr>
          <a:xfrm>
            <a:off x="905256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6B72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2E8B57"/>
                </a:solidFill>
              </a:rPr>
              <a:t>3-Axis CNC Milling + Drilling</a:t>
            </a:r>
          </a:p>
        </p:txBody>
      </p:sp>
      <p:sp>
        <p:nvSpPr>
          <p:cNvPr id="46" name="Rectangle 45"/>
          <p:cNvSpPr/>
          <p:nvPr/>
        </p:nvSpPr>
        <p:spPr>
          <a:xfrm>
            <a:off x="640080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6B72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16325C"/>
                </a:solidFill>
              </a:rPr>
              <a:t>220 × 140 × 85 mm</a:t>
            </a:r>
          </a:p>
        </p:txBody>
      </p:sp>
      <p:sp>
        <p:nvSpPr>
          <p:cNvPr id="49" name="Rectangle 48"/>
          <p:cNvSpPr/>
          <p:nvPr/>
        </p:nvSpPr>
        <p:spPr>
          <a:xfrm>
            <a:off x="905256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6B72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16325C"/>
                </a:solidFill>
              </a:rPr>
              <a:t>0.82 kg</a:t>
            </a:r>
          </a:p>
        </p:txBody>
      </p:sp>
      <p:sp>
        <p:nvSpPr>
          <p:cNvPr id="52" name="Rectangle 51"/>
          <p:cNvSpPr/>
          <p:nvPr/>
        </p:nvSpPr>
        <p:spPr>
          <a:xfrm>
            <a:off x="640080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6B72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B7791F"/>
                </a:solidFill>
              </a:rPr>
              <a:t>Moderate — 3 setups</a:t>
            </a:r>
          </a:p>
        </p:txBody>
      </p:sp>
      <p:sp>
        <p:nvSpPr>
          <p:cNvPr id="55" name="Rectangle 54"/>
          <p:cNvSpPr/>
          <p:nvPr/>
        </p:nvSpPr>
        <p:spPr>
          <a:xfrm>
            <a:off x="905256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6B72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B7791F"/>
                </a:solidFill>
              </a:rPr>
              <a:t>1 flag: 3 setups → consolidate</a:t>
            </a:r>
          </a:p>
        </p:txBody>
      </p:sp>
      <p:sp>
        <p:nvSpPr>
          <p:cNvPr id="58" name="Rectangle 57"/>
          <p:cNvSpPr/>
          <p:nvPr/>
        </p:nvSpPr>
        <p:spPr>
          <a:xfrm>
            <a:off x="6400800" y="4754880"/>
            <a:ext cx="5212080" cy="47548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3A4356"/>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2E8B57"/>
                </a:solidFill>
              </a:rPr>
              <a:t>£ 28.40</a:t>
            </a:r>
          </a:p>
        </p:txBody>
      </p:sp>
      <p:sp>
        <p:nvSpPr>
          <p:cNvPr id="61" name="Rectangle 60"/>
          <p:cNvSpPr/>
          <p:nvPr/>
        </p:nvSpPr>
        <p:spPr>
          <a:xfrm>
            <a:off x="6400800" y="5285232"/>
            <a:ext cx="1980590" cy="14630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50" b="0" i="0">
                <a:solidFill>
                  <a:srgbClr val="6B7280"/>
                </a:solidFill>
              </a:rPr>
              <a:t>■ Mat 38%  ■ Proc 32%  ■ Lab 12%  ■ Tool 8%  ■ OH 10%</a:t>
            </a:r>
          </a:p>
        </p:txBody>
      </p:sp>
      <p:sp>
        <p:nvSpPr>
          <p:cNvPr id="67" name="Rectangle 66"/>
          <p:cNvSpPr/>
          <p:nvPr/>
        </p:nvSpPr>
        <p:spPr>
          <a:xfrm>
            <a:off x="5577840" y="1810512"/>
            <a:ext cx="6172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577840" y="1810512"/>
            <a:ext cx="54864" cy="9144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760720" y="1920240"/>
            <a:ext cx="5897880" cy="228600"/>
          </a:xfrm>
          <a:prstGeom prst="rect">
            <a:avLst/>
          </a:prstGeom>
          <a:noFill/>
        </p:spPr>
        <p:txBody>
          <a:bodyPr wrap="square">
            <a:spAutoFit/>
          </a:bodyPr>
          <a:lstStyle/>
          <a:p>
            <a:pPr algn="l"/>
            <a:r>
              <a:rPr sz="900" b="1" i="0">
                <a:solidFill>
                  <a:srgbClr val="16325C"/>
                </a:solidFill>
              </a:rPr>
              <a:t>Supported formats</a:t>
            </a:r>
          </a:p>
        </p:txBody>
      </p:sp>
      <p:sp>
        <p:nvSpPr>
          <p:cNvPr id="70" name="TextBox 69"/>
          <p:cNvSpPr txBox="1"/>
          <p:nvPr/>
        </p:nvSpPr>
        <p:spPr>
          <a:xfrm>
            <a:off x="5760720" y="2194560"/>
            <a:ext cx="5897880" cy="228600"/>
          </a:xfrm>
          <a:prstGeom prst="rect">
            <a:avLst/>
          </a:prstGeom>
          <a:noFill/>
        </p:spPr>
        <p:txBody>
          <a:bodyPr wrap="square">
            <a:spAutoFit/>
          </a:bodyPr>
          <a:lstStyle/>
          <a:p>
            <a:pPr algn="l"/>
            <a:r>
              <a:rPr sz="900" b="1" i="0">
                <a:solidFill>
                  <a:srgbClr val="1D6FB8"/>
                </a:solidFill>
              </a:rPr>
              <a:t>.STEP   .IGES   .STP   .IGS   .STL   .JPG   .PNG   .HEIC</a:t>
            </a:r>
          </a:p>
        </p:txBody>
      </p:sp>
      <p:sp>
        <p:nvSpPr>
          <p:cNvPr id="71" name="TextBox 70"/>
          <p:cNvSpPr txBox="1"/>
          <p:nvPr/>
        </p:nvSpPr>
        <p:spPr>
          <a:xfrm>
            <a:off x="5760720" y="2432304"/>
            <a:ext cx="5897880" cy="228600"/>
          </a:xfrm>
          <a:prstGeom prst="rect">
            <a:avLst/>
          </a:prstGeom>
          <a:noFill/>
        </p:spPr>
        <p:txBody>
          <a:bodyPr wrap="square">
            <a:spAutoFit/>
          </a:bodyPr>
          <a:lstStyle/>
          <a:p>
            <a:pPr algn="l"/>
            <a:r>
              <a:rPr sz="800" b="0" i="0">
                <a:solidFill>
                  <a:srgbClr val="6B7280"/>
                </a:solidFill>
              </a:rPr>
              <a:t>Drag-drop or file picker — CAD geometry measured by a full kernel, photos read by 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310896"/>
          </a:xfrm>
          <a:prstGeom prst="rect">
            <a:avLst/>
          </a:prstGeom>
          <a:noFill/>
        </p:spPr>
        <p:txBody>
          <a:bodyPr wrap="square">
            <a:spAutoFit/>
          </a:bodyPr>
          <a:lstStyle/>
          <a:p>
            <a:pPr algn="l"/>
            <a:r>
              <a:rPr sz="950" b="1" i="0">
                <a:solidFill>
                  <a:srgbClr val="16325C"/>
                </a:solidFill>
              </a:rPr>
              <a:t>Views &amp; Navigation</a:t>
            </a:r>
          </a:p>
        </p:txBody>
      </p:sp>
      <p:sp>
        <p:nvSpPr>
          <p:cNvPr id="14" name="TextBox 13"/>
          <p:cNvSpPr txBox="1"/>
          <p:nvPr/>
        </p:nvSpPr>
        <p:spPr>
          <a:xfrm>
            <a:off x="539496" y="2231136"/>
            <a:ext cx="3456432" cy="1499616"/>
          </a:xfrm>
          <a:prstGeom prst="rect">
            <a:avLst/>
          </a:prstGeom>
          <a:noFill/>
        </p:spPr>
        <p:txBody>
          <a:bodyPr wrap="square">
            <a:spAutoFit/>
          </a:bodyPr>
          <a:lstStyle/>
          <a:p>
            <a:pPr algn="l"/>
            <a:r>
              <a:rPr sz="850" b="0" i="0">
                <a:solidFill>
                  <a:srgbClr val="3A4356"/>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310896"/>
          </a:xfrm>
          <a:prstGeom prst="rect">
            <a:avLst/>
          </a:prstGeom>
          <a:noFill/>
        </p:spPr>
        <p:txBody>
          <a:bodyPr wrap="square">
            <a:spAutoFit/>
          </a:bodyPr>
          <a:lstStyle/>
          <a:p>
            <a:pPr algn="l"/>
            <a:r>
              <a:rPr sz="950" b="1" i="0">
                <a:solidFill>
                  <a:srgbClr val="16325C"/>
                </a:solidFill>
              </a:rPr>
              <a:t>Display &amp; DFM Analysis</a:t>
            </a:r>
          </a:p>
        </p:txBody>
      </p:sp>
      <p:sp>
        <p:nvSpPr>
          <p:cNvPr id="18" name="TextBox 17"/>
          <p:cNvSpPr txBox="1"/>
          <p:nvPr/>
        </p:nvSpPr>
        <p:spPr>
          <a:xfrm>
            <a:off x="4398264" y="2231136"/>
            <a:ext cx="3456432" cy="1499616"/>
          </a:xfrm>
          <a:prstGeom prst="rect">
            <a:avLst/>
          </a:prstGeom>
          <a:noFill/>
        </p:spPr>
        <p:txBody>
          <a:bodyPr wrap="square">
            <a:spAutoFit/>
          </a:bodyPr>
          <a:lstStyle/>
          <a:p>
            <a:pPr algn="l"/>
            <a:r>
              <a:rPr sz="850" b="0" i="0">
                <a:solidFill>
                  <a:srgbClr val="3A4356"/>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310896"/>
          </a:xfrm>
          <a:prstGeom prst="rect">
            <a:avLst/>
          </a:prstGeom>
          <a:noFill/>
        </p:spPr>
        <p:txBody>
          <a:bodyPr wrap="square">
            <a:spAutoFit/>
          </a:bodyPr>
          <a:lstStyle/>
          <a:p>
            <a:pPr algn="l"/>
            <a:r>
              <a:rPr sz="950" b="1" i="0">
                <a:solidFill>
                  <a:srgbClr val="16325C"/>
                </a:solidFill>
              </a:rPr>
              <a:t>Structure &amp; Assembly</a:t>
            </a:r>
          </a:p>
        </p:txBody>
      </p:sp>
      <p:sp>
        <p:nvSpPr>
          <p:cNvPr id="22" name="TextBox 21"/>
          <p:cNvSpPr txBox="1"/>
          <p:nvPr/>
        </p:nvSpPr>
        <p:spPr>
          <a:xfrm>
            <a:off x="8257032" y="2231136"/>
            <a:ext cx="3456432" cy="1499616"/>
          </a:xfrm>
          <a:prstGeom prst="rect">
            <a:avLst/>
          </a:prstGeom>
          <a:noFill/>
        </p:spPr>
        <p:txBody>
          <a:bodyPr wrap="square">
            <a:spAutoFit/>
          </a:bodyPr>
          <a:lstStyle/>
          <a:p>
            <a:pPr algn="l"/>
            <a:r>
              <a:rPr sz="850" b="0" i="0">
                <a:solidFill>
                  <a:srgbClr val="3A4356"/>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310896"/>
          </a:xfrm>
          <a:prstGeom prst="rect">
            <a:avLst/>
          </a:prstGeom>
          <a:noFill/>
        </p:spPr>
        <p:txBody>
          <a:bodyPr wrap="square">
            <a:spAutoFit/>
          </a:bodyPr>
          <a:lstStyle/>
          <a:p>
            <a:pPr algn="l"/>
            <a:r>
              <a:rPr sz="950" b="1" i="0">
                <a:solidFill>
                  <a:srgbClr val="16325C"/>
                </a:solidFill>
              </a:rPr>
              <a:t>Measure &amp; Inspect</a:t>
            </a:r>
          </a:p>
        </p:txBody>
      </p:sp>
      <p:sp>
        <p:nvSpPr>
          <p:cNvPr id="26" name="TextBox 25"/>
          <p:cNvSpPr txBox="1"/>
          <p:nvPr/>
        </p:nvSpPr>
        <p:spPr>
          <a:xfrm>
            <a:off x="539496" y="4407408"/>
            <a:ext cx="3456432" cy="1499616"/>
          </a:xfrm>
          <a:prstGeom prst="rect">
            <a:avLst/>
          </a:prstGeom>
          <a:noFill/>
        </p:spPr>
        <p:txBody>
          <a:bodyPr wrap="square">
            <a:spAutoFit/>
          </a:bodyPr>
          <a:lstStyle/>
          <a:p>
            <a:pPr algn="l"/>
            <a:r>
              <a:rPr sz="850" b="0" i="0">
                <a:solidFill>
                  <a:srgbClr val="3A4356"/>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0E80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310896"/>
          </a:xfrm>
          <a:prstGeom prst="rect">
            <a:avLst/>
          </a:prstGeom>
          <a:noFill/>
        </p:spPr>
        <p:txBody>
          <a:bodyPr wrap="square">
            <a:spAutoFit/>
          </a:bodyPr>
          <a:lstStyle/>
          <a:p>
            <a:pPr algn="l"/>
            <a:r>
              <a:rPr sz="950" b="1" i="0">
                <a:solidFill>
                  <a:srgbClr val="16325C"/>
                </a:solidFill>
              </a:rPr>
              <a:t>SaaS-grade UX</a:t>
            </a:r>
          </a:p>
        </p:txBody>
      </p:sp>
      <p:sp>
        <p:nvSpPr>
          <p:cNvPr id="30" name="TextBox 29"/>
          <p:cNvSpPr txBox="1"/>
          <p:nvPr/>
        </p:nvSpPr>
        <p:spPr>
          <a:xfrm>
            <a:off x="4398264" y="4407408"/>
            <a:ext cx="3456432" cy="1499616"/>
          </a:xfrm>
          <a:prstGeom prst="rect">
            <a:avLst/>
          </a:prstGeom>
          <a:noFill/>
        </p:spPr>
        <p:txBody>
          <a:bodyPr wrap="square">
            <a:spAutoFit/>
          </a:bodyPr>
          <a:lstStyle/>
          <a:p>
            <a:pPr algn="l"/>
            <a:r>
              <a:rPr sz="850" b="0" i="0">
                <a:solidFill>
                  <a:srgbClr val="3A4356"/>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2E8B57"/>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3A4356"/>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FFFFFF"/>
                          </a:solidFill>
                        </a:rPr>
                        <a:t>Auto-captured from geometry (no typing)</a:t>
                      </a:r>
                    </a:p>
                  </a:txBody>
                  <a:tcPr>
                    <a:solidFill>
                      <a:srgbClr val="16325C"/>
                    </a:solidFill>
                  </a:tcPr>
                </a:tc>
                <a:tc>
                  <a:txBody>
                    <a:bodyPr/>
                    <a:lstStyle/>
                    <a:p>
                      <a:pPr algn="l"/>
                      <a:r>
                        <a:rPr sz="750" b="1">
                          <a:solidFill>
                            <a:srgbClr val="FFFFFF"/>
                          </a:solidFill>
                        </a:rPr>
                        <a:t>→ Feeds this cost driver</a:t>
                      </a:r>
                    </a:p>
                  </a:txBody>
                  <a:tcPr>
                    <a:solidFill>
                      <a:srgbClr val="16325C"/>
                    </a:solidFill>
                  </a:tcPr>
                </a:tc>
              </a:tr>
              <a:tr h="416052">
                <a:tc>
                  <a:txBody>
                    <a:bodyPr/>
                    <a:lstStyle/>
                    <a:p>
                      <a:pPr algn="l"/>
                      <a:r>
                        <a:rPr sz="750" b="1">
                          <a:solidFill>
                            <a:srgbClr val="1D6FB8"/>
                          </a:solidFill>
                        </a:rPr>
                        <a:t>Volume — exact, from the CAD kernel (OCCT)</a:t>
                      </a:r>
                    </a:p>
                  </a:txBody>
                  <a:tcPr>
                    <a:solidFill>
                      <a:srgbClr val="FFFFFF"/>
                    </a:solidFill>
                  </a:tcPr>
                </a:tc>
                <a:tc>
                  <a:txBody>
                    <a:bodyPr/>
                    <a:lstStyle/>
                    <a:p>
                      <a:pPr algn="l"/>
                      <a:r>
                        <a:rPr sz="750">
                          <a:solidFill>
                            <a:srgbClr val="3A4356"/>
                          </a:solidFill>
                        </a:rPr>
                        <a:t>Material mass · stock size</a:t>
                      </a:r>
                    </a:p>
                  </a:txBody>
                  <a:tcPr>
                    <a:solidFill>
                      <a:srgbClr val="FFFFFF"/>
                    </a:solidFill>
                  </a:tcPr>
                </a:tc>
              </a:tr>
              <a:tr h="416052">
                <a:tc>
                  <a:txBody>
                    <a:bodyPr/>
                    <a:lstStyle/>
                    <a:p>
                      <a:pPr algn="l"/>
                      <a:r>
                        <a:rPr sz="750" b="1">
                          <a:solidFill>
                            <a:srgbClr val="1D6FB8"/>
                          </a:solidFill>
                        </a:rPr>
                        <a:t>Weight per material = volume × density</a:t>
                      </a:r>
                    </a:p>
                  </a:txBody>
                  <a:tcPr>
                    <a:solidFill>
                      <a:srgbClr val="F7F9FC"/>
                    </a:solidFill>
                  </a:tcPr>
                </a:tc>
                <a:tc>
                  <a:txBody>
                    <a:bodyPr/>
                    <a:lstStyle/>
                    <a:p>
                      <a:pPr algn="l"/>
                      <a:r>
                        <a:rPr sz="750">
                          <a:solidFill>
                            <a:srgbClr val="3A4356"/>
                          </a:solidFill>
                        </a:rPr>
                        <a:t>Raw-material £  (Al / steel / iron / Cu / Ti)</a:t>
                      </a:r>
                    </a:p>
                  </a:txBody>
                  <a:tcPr>
                    <a:solidFill>
                      <a:srgbClr val="F7F9FC"/>
                    </a:solidFill>
                  </a:tcPr>
                </a:tc>
              </a:tr>
              <a:tr h="416052">
                <a:tc>
                  <a:txBody>
                    <a:bodyPr/>
                    <a:lstStyle/>
                    <a:p>
                      <a:pPr algn="l"/>
                      <a:r>
                        <a:rPr sz="750" b="1">
                          <a:solidFill>
                            <a:srgbClr val="1D6FB8"/>
                          </a:solidFill>
                        </a:rPr>
                        <a:t>Bounding box / envelope</a:t>
                      </a:r>
                    </a:p>
                  </a:txBody>
                  <a:tcPr>
                    <a:solidFill>
                      <a:srgbClr val="FFFFFF"/>
                    </a:solidFill>
                  </a:tcPr>
                </a:tc>
                <a:tc>
                  <a:txBody>
                    <a:bodyPr/>
                    <a:lstStyle/>
                    <a:p>
                      <a:pPr algn="l"/>
                      <a:r>
                        <a:rPr sz="750">
                          <a:solidFill>
                            <a:srgbClr val="3A4356"/>
                          </a:solidFill>
                        </a:rPr>
                        <a:t>Machine sizing · stock · setups</a:t>
                      </a:r>
                    </a:p>
                  </a:txBody>
                  <a:tcPr>
                    <a:solidFill>
                      <a:srgbClr val="FFFFFF"/>
                    </a:solidFill>
                  </a:tcPr>
                </a:tc>
              </a:tr>
              <a:tr h="416052">
                <a:tc>
                  <a:txBody>
                    <a:bodyPr/>
                    <a:lstStyle/>
                    <a:p>
                      <a:pPr algn="l"/>
                      <a:r>
                        <a:rPr sz="750" b="1">
                          <a:solidFill>
                            <a:srgbClr val="1D6FB8"/>
                          </a:solidFill>
                        </a:rPr>
                        <a:t>Body / component count</a:t>
                      </a:r>
                    </a:p>
                  </a:txBody>
                  <a:tcPr>
                    <a:solidFill>
                      <a:srgbClr val="F7F9FC"/>
                    </a:solidFill>
                  </a:tcPr>
                </a:tc>
                <a:tc>
                  <a:txBody>
                    <a:bodyPr/>
                    <a:lstStyle/>
                    <a:p>
                      <a:pPr algn="l"/>
                      <a:r>
                        <a:rPr sz="750">
                          <a:solidFill>
                            <a:srgbClr val="3A4356"/>
                          </a:solidFill>
                        </a:rPr>
                        <a:t>Assembly cost · BOM line count</a:t>
                      </a:r>
                    </a:p>
                  </a:txBody>
                  <a:tcPr>
                    <a:solidFill>
                      <a:srgbClr val="F7F9FC"/>
                    </a:solidFill>
                  </a:tcPr>
                </a:tc>
              </a:tr>
              <a:tr h="416052">
                <a:tc>
                  <a:txBody>
                    <a:bodyPr/>
                    <a:lstStyle/>
                    <a:p>
                      <a:pPr algn="l"/>
                      <a:r>
                        <a:rPr sz="750" b="1">
                          <a:solidFill>
                            <a:srgbClr val="1D6FB8"/>
                          </a:solidFill>
                        </a:rPr>
                        <a:t>Hole &amp; boss table — Ø, depth, count</a:t>
                      </a:r>
                    </a:p>
                  </a:txBody>
                  <a:tcPr>
                    <a:solidFill>
                      <a:srgbClr val="FFFFFF"/>
                    </a:solidFill>
                  </a:tcPr>
                </a:tc>
                <a:tc>
                  <a:txBody>
                    <a:bodyPr/>
                    <a:lstStyle/>
                    <a:p>
                      <a:pPr algn="l"/>
                      <a:r>
                        <a:rPr sz="750">
                          <a:solidFill>
                            <a:srgbClr val="3A4356"/>
                          </a:solidFill>
                        </a:rPr>
                        <a:t>Secondary machining: drill / bore / tap</a:t>
                      </a:r>
                    </a:p>
                  </a:txBody>
                  <a:tcPr>
                    <a:solidFill>
                      <a:srgbClr val="FFFFFF"/>
                    </a:solidFill>
                  </a:tcPr>
                </a:tc>
              </a:tr>
              <a:tr h="416052">
                <a:tc>
                  <a:txBody>
                    <a:bodyPr/>
                    <a:lstStyle/>
                    <a:p>
                      <a:pPr algn="l"/>
                      <a:r>
                        <a:rPr sz="750" b="1">
                          <a:solidFill>
                            <a:srgbClr val="1D6FB8"/>
                          </a:solidFill>
                        </a:rPr>
                        <a:t>Wall thickness — min / mean / heatmap</a:t>
                      </a:r>
                    </a:p>
                  </a:txBody>
                  <a:tcPr>
                    <a:solidFill>
                      <a:srgbClr val="F7F9FC"/>
                    </a:solidFill>
                  </a:tcPr>
                </a:tc>
                <a:tc>
                  <a:txBody>
                    <a:bodyPr/>
                    <a:lstStyle/>
                    <a:p>
                      <a:pPr algn="l"/>
                      <a:r>
                        <a:rPr sz="750">
                          <a:solidFill>
                            <a:srgbClr val="3A4356"/>
                          </a:solidFill>
                        </a:rPr>
                        <a:t>Moulding &amp; casting feasibility · cooling</a:t>
                      </a:r>
                    </a:p>
                  </a:txBody>
                  <a:tcPr>
                    <a:solidFill>
                      <a:srgbClr val="F7F9FC"/>
                    </a:solidFill>
                  </a:tcPr>
                </a:tc>
              </a:tr>
              <a:tr h="416052">
                <a:tc>
                  <a:txBody>
                    <a:bodyPr/>
                    <a:lstStyle/>
                    <a:p>
                      <a:pPr algn="l"/>
                      <a:r>
                        <a:rPr sz="750" b="1">
                          <a:solidFill>
                            <a:srgbClr val="1D6FB8"/>
                          </a:solidFill>
                        </a:rPr>
                        <a:t>Draft &amp; undercut analysis</a:t>
                      </a:r>
                    </a:p>
                  </a:txBody>
                  <a:tcPr>
                    <a:solidFill>
                      <a:srgbClr val="FFFFFF"/>
                    </a:solidFill>
                  </a:tcPr>
                </a:tc>
                <a:tc>
                  <a:txBody>
                    <a:bodyPr/>
                    <a:lstStyle/>
                    <a:p>
                      <a:pPr algn="l"/>
                      <a:r>
                        <a:rPr sz="750">
                          <a:solidFill>
                            <a:srgbClr val="3A4356"/>
                          </a:solidFill>
                        </a:rPr>
                        <a:t>Tooling complexity — slides for undercuts</a:t>
                      </a:r>
                    </a:p>
                  </a:txBody>
                  <a:tcPr>
                    <a:solidFill>
                      <a:srgbClr val="FFFFFF"/>
                    </a:solidFill>
                  </a:tcPr>
                </a:tc>
              </a:tr>
              <a:tr h="416052">
                <a:tc>
                  <a:txBody>
                    <a:bodyPr/>
                    <a:lstStyle/>
                    <a:p>
                      <a:pPr algn="l"/>
                      <a:r>
                        <a:rPr sz="750" b="1">
                          <a:solidFill>
                            <a:srgbClr val="1D6FB8"/>
                          </a:solidFill>
                        </a:rPr>
                        <a:t>Face-type areas (planar / cylindrical)</a:t>
                      </a:r>
                    </a:p>
                  </a:txBody>
                  <a:tcPr>
                    <a:solidFill>
                      <a:srgbClr val="F7F9FC"/>
                    </a:solidFill>
                  </a:tcPr>
                </a:tc>
                <a:tc>
                  <a:txBody>
                    <a:bodyPr/>
                    <a:lstStyle/>
                    <a:p>
                      <a:pPr algn="l"/>
                      <a:r>
                        <a:rPr sz="750">
                          <a:solidFill>
                            <a:srgbClr val="3A4356"/>
                          </a:solidFill>
                        </a:rPr>
                        <a:t>Machining area · paint / coat area</a:t>
                      </a:r>
                    </a:p>
                  </a:txBody>
                  <a:tcPr>
                    <a:solidFill>
                      <a:srgbClr val="F7F9FC"/>
                    </a:solidFill>
                  </a:tcPr>
                </a:tc>
              </a:tr>
              <a:tr h="416052">
                <a:tc>
                  <a:txBody>
                    <a:bodyPr/>
                    <a:lstStyle/>
                    <a:p>
                      <a:pPr algn="l"/>
                      <a:r>
                        <a:rPr sz="750" b="1">
                          <a:solidFill>
                            <a:srgbClr val="1D6FB8"/>
                          </a:solidFill>
                        </a:rPr>
                        <a:t>CNC cycle-time &amp; setup estimate</a:t>
                      </a:r>
                    </a:p>
                  </a:txBody>
                  <a:tcPr>
                    <a:solidFill>
                      <a:srgbClr val="FFFFFF"/>
                    </a:solidFill>
                  </a:tcPr>
                </a:tc>
                <a:tc>
                  <a:txBody>
                    <a:bodyPr/>
                    <a:lstStyle/>
                    <a:p>
                      <a:pPr algn="l"/>
                      <a:r>
                        <a:rPr sz="750">
                          <a:solidFill>
                            <a:srgbClr val="3A4356"/>
                          </a:solidFill>
                        </a:rPr>
                        <a:t>Process-time baseline</a:t>
                      </a:r>
                    </a:p>
                  </a:txBody>
                  <a:tcPr>
                    <a:solidFill>
                      <a:srgbClr val="FFFFFF"/>
                    </a:solidFill>
                  </a:tcPr>
                </a:tc>
              </a:tr>
            </a:tbl>
          </a:graphicData>
        </a:graphic>
      </p:graphicFrame>
      <p:sp>
        <p:nvSpPr>
          <p:cNvPr id="12" name="Rectangle 11"/>
          <p:cNvSpPr/>
          <p:nvPr/>
        </p:nvSpPr>
        <p:spPr>
          <a:xfrm>
            <a:off x="7360920" y="1874519"/>
            <a:ext cx="4434840" cy="24871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3A4356"/>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FFFFFF"/>
          </a:solidFill>
          <a:ln w="1143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2E8B57"/>
                </a:solidFill>
                <a:latin typeface="Segoe UI Emoji"/>
              </a:rPr>
              <a:t>🔒</a:t>
            </a:r>
            <a:r>
              <a:rPr sz="1000" b="1" i="0">
                <a:solidFill>
                  <a:srgbClr val="2E8B57"/>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3A4356"/>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3A4356"/>
                </a:solidFill>
              </a:rPr>
              <a:t>Entry Point A: </a:t>
            </a:r>
            <a:r>
              <a:rPr sz="900" b="0" i="0">
                <a:solidFill>
                  <a:srgbClr val="3A4356"/>
                </a:solidFill>
                <a:latin typeface="Segoe UI Emoji"/>
              </a:rPr>
              <a:t>🤖</a:t>
            </a:r>
            <a:r>
              <a:rPr sz="900" b="0" i="0">
                <a:solidFill>
                  <a:srgbClr val="3A4356"/>
                </a:solidFill>
              </a:rPr>
              <a:t> AI Agent (plain English description)   |   Entry Point B: </a:t>
            </a:r>
            <a:r>
              <a:rPr sz="900" b="0" i="0">
                <a:solidFill>
                  <a:srgbClr val="3A4356"/>
                </a:solidFill>
                <a:latin typeface="Segoe UI Emoji"/>
              </a:rPr>
              <a:t>📐</a:t>
            </a:r>
            <a:r>
              <a:rPr sz="900" b="0" i="0">
                <a:solidFill>
                  <a:srgbClr val="3A4356"/>
                </a:solidFill>
              </a:rPr>
              <a:t> CAD / Photo Upload   |   Entry Point C: </a:t>
            </a:r>
            <a:r>
              <a:rPr sz="900" b="0" i="0">
                <a:solidFill>
                  <a:srgbClr val="3A4356"/>
                </a:solidFill>
                <a:latin typeface="Segoe UI Emoji"/>
              </a:rPr>
              <a:t>✏️</a:t>
            </a:r>
            <a:r>
              <a:rPr sz="900" b="0" i="0">
                <a:solidFill>
                  <a:srgbClr val="3A4356"/>
                </a:solidFill>
              </a:rPr>
              <a:t> Manual Form Entry</a:t>
            </a:r>
          </a:p>
        </p:txBody>
      </p:sp>
      <p:sp>
        <p:nvSpPr>
          <p:cNvPr id="13" name="Rectangle 12"/>
          <p:cNvSpPr/>
          <p:nvPr/>
        </p:nvSpPr>
        <p:spPr>
          <a:xfrm>
            <a:off x="411480"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1D6FB8"/>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16325C"/>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50" b="0" i="0">
                <a:solidFill>
                  <a:srgbClr val="3A4356"/>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1D6FB8"/>
                </a:solidFill>
              </a:rPr>
              <a:t>→</a:t>
            </a:r>
          </a:p>
        </p:txBody>
      </p:sp>
      <p:sp>
        <p:nvSpPr>
          <p:cNvPr id="20" name="Rectangle 19"/>
          <p:cNvSpPr/>
          <p:nvPr/>
        </p:nvSpPr>
        <p:spPr>
          <a:xfrm>
            <a:off x="183257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1D6FB8"/>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16325C"/>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50" b="0" i="0">
                <a:solidFill>
                  <a:srgbClr val="3A4356"/>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1D6FB8"/>
                </a:solidFill>
              </a:rPr>
              <a:t>→</a:t>
            </a:r>
          </a:p>
        </p:txBody>
      </p:sp>
      <p:sp>
        <p:nvSpPr>
          <p:cNvPr id="27" name="Rectangle 26"/>
          <p:cNvSpPr/>
          <p:nvPr/>
        </p:nvSpPr>
        <p:spPr>
          <a:xfrm>
            <a:off x="325366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6B3FA0"/>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16325C"/>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50" b="0" i="0">
                <a:solidFill>
                  <a:srgbClr val="3A4356"/>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1D6FB8"/>
                </a:solidFill>
              </a:rPr>
              <a:t>→</a:t>
            </a:r>
          </a:p>
        </p:txBody>
      </p:sp>
      <p:sp>
        <p:nvSpPr>
          <p:cNvPr id="34" name="Rectangle 33"/>
          <p:cNvSpPr/>
          <p:nvPr/>
        </p:nvSpPr>
        <p:spPr>
          <a:xfrm>
            <a:off x="4674755"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6B3FA0"/>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16325C"/>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50" b="0" i="0">
                <a:solidFill>
                  <a:srgbClr val="3A4356"/>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1D6FB8"/>
                </a:solidFill>
              </a:rPr>
              <a:t>→</a:t>
            </a:r>
          </a:p>
        </p:txBody>
      </p:sp>
      <p:sp>
        <p:nvSpPr>
          <p:cNvPr id="41" name="Rectangle 40"/>
          <p:cNvSpPr/>
          <p:nvPr/>
        </p:nvSpPr>
        <p:spPr>
          <a:xfrm>
            <a:off x="6095847"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B7791F"/>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16325C"/>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50" b="0" i="0">
                <a:solidFill>
                  <a:srgbClr val="3A4356"/>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1D6FB8"/>
                </a:solidFill>
              </a:rPr>
              <a:t>→</a:t>
            </a:r>
          </a:p>
        </p:txBody>
      </p:sp>
      <p:sp>
        <p:nvSpPr>
          <p:cNvPr id="48" name="Rectangle 47"/>
          <p:cNvSpPr/>
          <p:nvPr/>
        </p:nvSpPr>
        <p:spPr>
          <a:xfrm>
            <a:off x="7516939"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2E8B57"/>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16325C"/>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50" b="0" i="0">
                <a:solidFill>
                  <a:srgbClr val="3A4356"/>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1D6FB8"/>
                </a:solidFill>
              </a:rPr>
              <a:t>→</a:t>
            </a:r>
          </a:p>
        </p:txBody>
      </p:sp>
      <p:sp>
        <p:nvSpPr>
          <p:cNvPr id="55" name="Rectangle 54"/>
          <p:cNvSpPr/>
          <p:nvPr/>
        </p:nvSpPr>
        <p:spPr>
          <a:xfrm>
            <a:off x="893803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2E8B57"/>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16325C"/>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50" b="0" i="0">
                <a:solidFill>
                  <a:srgbClr val="3A4356"/>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1D6FB8"/>
                </a:solidFill>
              </a:rPr>
              <a:t>→</a:t>
            </a:r>
          </a:p>
        </p:txBody>
      </p:sp>
      <p:sp>
        <p:nvSpPr>
          <p:cNvPr id="62" name="Rectangle 61"/>
          <p:cNvSpPr/>
          <p:nvPr/>
        </p:nvSpPr>
        <p:spPr>
          <a:xfrm>
            <a:off x="1035912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1D6FB8"/>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16325C"/>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50" b="0" i="0">
                <a:solidFill>
                  <a:srgbClr val="3A4356"/>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Minutes, not weeks</a:t>
            </a:r>
          </a:p>
        </p:txBody>
      </p:sp>
      <p:sp>
        <p:nvSpPr>
          <p:cNvPr id="70" name="Rectangle 69"/>
          <p:cNvSpPr/>
          <p:nvPr/>
        </p:nvSpPr>
        <p:spPr>
          <a:xfrm>
            <a:off x="203911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1D6FB8"/>
                </a:solidFill>
              </a:rPr>
              <a:t>✓ Auditable assumptions</a:t>
            </a:r>
          </a:p>
        </p:txBody>
      </p:sp>
      <p:sp>
        <p:nvSpPr>
          <p:cNvPr id="72" name="Rectangle 71"/>
          <p:cNvSpPr/>
          <p:nvPr/>
        </p:nvSpPr>
        <p:spPr>
          <a:xfrm>
            <a:off x="3666744"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Claude AI powered</a:t>
            </a:r>
          </a:p>
        </p:txBody>
      </p:sp>
      <p:sp>
        <p:nvSpPr>
          <p:cNvPr id="74" name="Rectangle 73"/>
          <p:cNvSpPr/>
          <p:nvPr/>
        </p:nvSpPr>
        <p:spPr>
          <a:xfrm>
            <a:off x="5294376"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20 regions</a:t>
            </a:r>
          </a:p>
        </p:txBody>
      </p:sp>
      <p:sp>
        <p:nvSpPr>
          <p:cNvPr id="76" name="Rectangle 75"/>
          <p:cNvSpPr/>
          <p:nvPr/>
        </p:nvSpPr>
        <p:spPr>
          <a:xfrm>
            <a:off x="6922008"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A/B/C scenarios</a:t>
            </a:r>
          </a:p>
        </p:txBody>
      </p:sp>
      <p:sp>
        <p:nvSpPr>
          <p:cNvPr id="78" name="Rectangle 77"/>
          <p:cNvSpPr/>
          <p:nvPr/>
        </p:nvSpPr>
        <p:spPr>
          <a:xfrm>
            <a:off x="854964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Assembly BOM</a:t>
            </a:r>
          </a:p>
        </p:txBody>
      </p:sp>
      <p:sp>
        <p:nvSpPr>
          <p:cNvPr id="80" name="Rectangle 79"/>
          <p:cNvSpPr/>
          <p:nvPr/>
        </p:nvSpPr>
        <p:spPr>
          <a:xfrm>
            <a:off x="1017727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3" name="TextBox 12"/>
          <p:cNvSpPr txBox="1"/>
          <p:nvPr/>
        </p:nvSpPr>
        <p:spPr>
          <a:xfrm>
            <a:off x="411480" y="2395728"/>
            <a:ext cx="1573813" cy="237744"/>
          </a:xfrm>
          <a:prstGeom prst="rect">
            <a:avLst/>
          </a:prstGeom>
          <a:noFill/>
        </p:spPr>
        <p:txBody>
          <a:bodyPr wrap="square">
            <a:spAutoFit/>
          </a:bodyPr>
          <a:lstStyle/>
          <a:p>
            <a:pPr algn="ctr"/>
            <a:r>
              <a:rPr sz="900" b="1" i="0">
                <a:solidFill>
                  <a:srgbClr val="16325C"/>
                </a:solidFill>
              </a:rPr>
              <a:t>CNC Machining</a:t>
            </a:r>
          </a:p>
        </p:txBody>
      </p:sp>
      <p:sp>
        <p:nvSpPr>
          <p:cNvPr id="14" name="TextBox 13"/>
          <p:cNvSpPr txBox="1"/>
          <p:nvPr/>
        </p:nvSpPr>
        <p:spPr>
          <a:xfrm>
            <a:off x="411480" y="2670048"/>
            <a:ext cx="1573813" cy="530352"/>
          </a:xfrm>
          <a:prstGeom prst="rect">
            <a:avLst/>
          </a:prstGeom>
          <a:noFill/>
        </p:spPr>
        <p:txBody>
          <a:bodyPr wrap="square">
            <a:spAutoFit/>
          </a:bodyPr>
          <a:lstStyle/>
          <a:p>
            <a:pPr algn="ctr"/>
            <a:r>
              <a:rPr sz="800" b="0" i="0">
                <a:solidFill>
                  <a:srgbClr val="6B7280"/>
                </a:solidFill>
              </a:rPr>
              <a:t>3/4/5-axis, turning, grinding</a:t>
            </a:r>
          </a:p>
        </p:txBody>
      </p:sp>
      <p:sp>
        <p:nvSpPr>
          <p:cNvPr id="15" name="Rectangle 14"/>
          <p:cNvSpPr/>
          <p:nvPr/>
        </p:nvSpPr>
        <p:spPr>
          <a:xfrm>
            <a:off x="203558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3558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7" name="TextBox 16"/>
          <p:cNvSpPr txBox="1"/>
          <p:nvPr/>
        </p:nvSpPr>
        <p:spPr>
          <a:xfrm>
            <a:off x="2035585" y="2395728"/>
            <a:ext cx="1573813" cy="237744"/>
          </a:xfrm>
          <a:prstGeom prst="rect">
            <a:avLst/>
          </a:prstGeom>
          <a:noFill/>
        </p:spPr>
        <p:txBody>
          <a:bodyPr wrap="square">
            <a:spAutoFit/>
          </a:bodyPr>
          <a:lstStyle/>
          <a:p>
            <a:pPr algn="ctr"/>
            <a:r>
              <a:rPr sz="900" b="1" i="0">
                <a:solidFill>
                  <a:srgbClr val="16325C"/>
                </a:solidFill>
              </a:rPr>
              <a:t>Casting</a:t>
            </a:r>
          </a:p>
        </p:txBody>
      </p:sp>
      <p:sp>
        <p:nvSpPr>
          <p:cNvPr id="18" name="TextBox 17"/>
          <p:cNvSpPr txBox="1"/>
          <p:nvPr/>
        </p:nvSpPr>
        <p:spPr>
          <a:xfrm>
            <a:off x="2035585" y="2670048"/>
            <a:ext cx="1573813" cy="530352"/>
          </a:xfrm>
          <a:prstGeom prst="rect">
            <a:avLst/>
          </a:prstGeom>
          <a:noFill/>
        </p:spPr>
        <p:txBody>
          <a:bodyPr wrap="square">
            <a:spAutoFit/>
          </a:bodyPr>
          <a:lstStyle/>
          <a:p>
            <a:pPr algn="ctr"/>
            <a:r>
              <a:rPr sz="800" b="0" i="0">
                <a:solidFill>
                  <a:srgbClr val="6B7280"/>
                </a:solidFill>
              </a:rPr>
              <a:t>HPDC, gravity, investment, sand</a:t>
            </a:r>
          </a:p>
        </p:txBody>
      </p:sp>
      <p:sp>
        <p:nvSpPr>
          <p:cNvPr id="19" name="Rectangle 18"/>
          <p:cNvSpPr/>
          <p:nvPr/>
        </p:nvSpPr>
        <p:spPr>
          <a:xfrm>
            <a:off x="365969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969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1" name="TextBox 20"/>
          <p:cNvSpPr txBox="1"/>
          <p:nvPr/>
        </p:nvSpPr>
        <p:spPr>
          <a:xfrm>
            <a:off x="3659690" y="2395728"/>
            <a:ext cx="1573813" cy="237744"/>
          </a:xfrm>
          <a:prstGeom prst="rect">
            <a:avLst/>
          </a:prstGeom>
          <a:noFill/>
        </p:spPr>
        <p:txBody>
          <a:bodyPr wrap="square">
            <a:spAutoFit/>
          </a:bodyPr>
          <a:lstStyle/>
          <a:p>
            <a:pPr algn="ctr"/>
            <a:r>
              <a:rPr sz="900" b="1" i="0">
                <a:solidFill>
                  <a:srgbClr val="16325C"/>
                </a:solidFill>
              </a:rPr>
              <a:t>Cast + Machine</a:t>
            </a:r>
          </a:p>
        </p:txBody>
      </p:sp>
      <p:sp>
        <p:nvSpPr>
          <p:cNvPr id="22" name="TextBox 21"/>
          <p:cNvSpPr txBox="1"/>
          <p:nvPr/>
        </p:nvSpPr>
        <p:spPr>
          <a:xfrm>
            <a:off x="3659690" y="2670048"/>
            <a:ext cx="1573813" cy="530352"/>
          </a:xfrm>
          <a:prstGeom prst="rect">
            <a:avLst/>
          </a:prstGeom>
          <a:noFill/>
        </p:spPr>
        <p:txBody>
          <a:bodyPr wrap="square">
            <a:spAutoFit/>
          </a:bodyPr>
          <a:lstStyle/>
          <a:p>
            <a:pPr algn="ctr"/>
            <a:r>
              <a:rPr sz="800" b="0" i="0">
                <a:solidFill>
                  <a:srgbClr val="6B7280"/>
                </a:solidFill>
              </a:rPr>
              <a:t>Casting + post-ops + HT</a:t>
            </a:r>
          </a:p>
        </p:txBody>
      </p:sp>
      <p:sp>
        <p:nvSpPr>
          <p:cNvPr id="23" name="Rectangle 22"/>
          <p:cNvSpPr/>
          <p:nvPr/>
        </p:nvSpPr>
        <p:spPr>
          <a:xfrm>
            <a:off x="528379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8379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5" name="TextBox 24"/>
          <p:cNvSpPr txBox="1"/>
          <p:nvPr/>
        </p:nvSpPr>
        <p:spPr>
          <a:xfrm>
            <a:off x="5283795" y="2395728"/>
            <a:ext cx="1573813" cy="237744"/>
          </a:xfrm>
          <a:prstGeom prst="rect">
            <a:avLst/>
          </a:prstGeom>
          <a:noFill/>
        </p:spPr>
        <p:txBody>
          <a:bodyPr wrap="square">
            <a:spAutoFit/>
          </a:bodyPr>
          <a:lstStyle/>
          <a:p>
            <a:pPr algn="ctr"/>
            <a:r>
              <a:rPr sz="900" b="1" i="0">
                <a:solidFill>
                  <a:srgbClr val="16325C"/>
                </a:solidFill>
              </a:rPr>
              <a:t>Forging</a:t>
            </a:r>
          </a:p>
        </p:txBody>
      </p:sp>
      <p:sp>
        <p:nvSpPr>
          <p:cNvPr id="26" name="TextBox 25"/>
          <p:cNvSpPr txBox="1"/>
          <p:nvPr/>
        </p:nvSpPr>
        <p:spPr>
          <a:xfrm>
            <a:off x="5283795" y="2670048"/>
            <a:ext cx="1573813" cy="530352"/>
          </a:xfrm>
          <a:prstGeom prst="rect">
            <a:avLst/>
          </a:prstGeom>
          <a:noFill/>
        </p:spPr>
        <p:txBody>
          <a:bodyPr wrap="square">
            <a:spAutoFit/>
          </a:bodyPr>
          <a:lstStyle/>
          <a:p>
            <a:pPr algn="ctr"/>
            <a:r>
              <a:rPr sz="800" b="0" i="0">
                <a:solidFill>
                  <a:srgbClr val="6B7280"/>
                </a:solidFill>
              </a:rPr>
              <a:t>Hot, warm, cold die forging</a:t>
            </a:r>
          </a:p>
        </p:txBody>
      </p:sp>
      <p:sp>
        <p:nvSpPr>
          <p:cNvPr id="27" name="Rectangle 26"/>
          <p:cNvSpPr/>
          <p:nvPr/>
        </p:nvSpPr>
        <p:spPr>
          <a:xfrm>
            <a:off x="690790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790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9" name="TextBox 28"/>
          <p:cNvSpPr txBox="1"/>
          <p:nvPr/>
        </p:nvSpPr>
        <p:spPr>
          <a:xfrm>
            <a:off x="6907900" y="2395728"/>
            <a:ext cx="1573813" cy="237744"/>
          </a:xfrm>
          <a:prstGeom prst="rect">
            <a:avLst/>
          </a:prstGeom>
          <a:noFill/>
        </p:spPr>
        <p:txBody>
          <a:bodyPr wrap="square">
            <a:spAutoFit/>
          </a:bodyPr>
          <a:lstStyle/>
          <a:p>
            <a:pPr algn="ctr"/>
            <a:r>
              <a:rPr sz="900" b="1" i="0">
                <a:solidFill>
                  <a:srgbClr val="16325C"/>
                </a:solidFill>
              </a:rPr>
              <a:t>Sheet Metal</a:t>
            </a:r>
          </a:p>
        </p:txBody>
      </p:sp>
      <p:sp>
        <p:nvSpPr>
          <p:cNvPr id="30" name="TextBox 29"/>
          <p:cNvSpPr txBox="1"/>
          <p:nvPr/>
        </p:nvSpPr>
        <p:spPr>
          <a:xfrm>
            <a:off x="6907900" y="2670048"/>
            <a:ext cx="1573813" cy="530352"/>
          </a:xfrm>
          <a:prstGeom prst="rect">
            <a:avLst/>
          </a:prstGeom>
          <a:noFill/>
        </p:spPr>
        <p:txBody>
          <a:bodyPr wrap="square">
            <a:spAutoFit/>
          </a:bodyPr>
          <a:lstStyle/>
          <a:p>
            <a:pPr algn="ctr"/>
            <a:r>
              <a:rPr sz="800" b="0" i="0">
                <a:solidFill>
                  <a:srgbClr val="6B7280"/>
                </a:solidFill>
              </a:rPr>
              <a:t>Progressive/transfer die</a:t>
            </a:r>
          </a:p>
        </p:txBody>
      </p:sp>
      <p:sp>
        <p:nvSpPr>
          <p:cNvPr id="31" name="Rectangle 30"/>
          <p:cNvSpPr/>
          <p:nvPr/>
        </p:nvSpPr>
        <p:spPr>
          <a:xfrm>
            <a:off x="853200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3200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3" name="TextBox 32"/>
          <p:cNvSpPr txBox="1"/>
          <p:nvPr/>
        </p:nvSpPr>
        <p:spPr>
          <a:xfrm>
            <a:off x="8532005" y="2395728"/>
            <a:ext cx="1573813" cy="237744"/>
          </a:xfrm>
          <a:prstGeom prst="rect">
            <a:avLst/>
          </a:prstGeom>
          <a:noFill/>
        </p:spPr>
        <p:txBody>
          <a:bodyPr wrap="square">
            <a:spAutoFit/>
          </a:bodyPr>
          <a:lstStyle/>
          <a:p>
            <a:pPr algn="ctr"/>
            <a:r>
              <a:rPr sz="900" b="1" i="0">
                <a:solidFill>
                  <a:srgbClr val="16325C"/>
                </a:solidFill>
              </a:rPr>
              <a:t>Sheet Metal Fab</a:t>
            </a:r>
          </a:p>
        </p:txBody>
      </p:sp>
      <p:sp>
        <p:nvSpPr>
          <p:cNvPr id="34" name="TextBox 33"/>
          <p:cNvSpPr txBox="1"/>
          <p:nvPr/>
        </p:nvSpPr>
        <p:spPr>
          <a:xfrm>
            <a:off x="8532005" y="2670048"/>
            <a:ext cx="1573813" cy="530352"/>
          </a:xfrm>
          <a:prstGeom prst="rect">
            <a:avLst/>
          </a:prstGeom>
          <a:noFill/>
        </p:spPr>
        <p:txBody>
          <a:bodyPr wrap="square">
            <a:spAutoFit/>
          </a:bodyPr>
          <a:lstStyle/>
          <a:p>
            <a:pPr algn="ctr"/>
            <a:r>
              <a:rPr sz="800" b="0" i="0">
                <a:solidFill>
                  <a:srgbClr val="6B7280"/>
                </a:solidFill>
              </a:rPr>
              <a:t>Laser · punch · press brake · MIG</a:t>
            </a:r>
          </a:p>
        </p:txBody>
      </p:sp>
      <p:sp>
        <p:nvSpPr>
          <p:cNvPr id="35" name="Rectangle 34"/>
          <p:cNvSpPr/>
          <p:nvPr/>
        </p:nvSpPr>
        <p:spPr>
          <a:xfrm>
            <a:off x="1015611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5611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7" name="TextBox 36"/>
          <p:cNvSpPr txBox="1"/>
          <p:nvPr/>
        </p:nvSpPr>
        <p:spPr>
          <a:xfrm>
            <a:off x="10156110" y="2395728"/>
            <a:ext cx="1573813" cy="237744"/>
          </a:xfrm>
          <a:prstGeom prst="rect">
            <a:avLst/>
          </a:prstGeom>
          <a:noFill/>
        </p:spPr>
        <p:txBody>
          <a:bodyPr wrap="square">
            <a:spAutoFit/>
          </a:bodyPr>
          <a:lstStyle/>
          <a:p>
            <a:pPr algn="ctr"/>
            <a:r>
              <a:rPr sz="900" b="1" i="0">
                <a:solidFill>
                  <a:srgbClr val="16325C"/>
                </a:solidFill>
              </a:rPr>
              <a:t>Gear Cutting</a:t>
            </a:r>
          </a:p>
        </p:txBody>
      </p:sp>
      <p:sp>
        <p:nvSpPr>
          <p:cNvPr id="38" name="TextBox 37"/>
          <p:cNvSpPr txBox="1"/>
          <p:nvPr/>
        </p:nvSpPr>
        <p:spPr>
          <a:xfrm>
            <a:off x="10156110" y="2670048"/>
            <a:ext cx="1573813" cy="530352"/>
          </a:xfrm>
          <a:prstGeom prst="rect">
            <a:avLst/>
          </a:prstGeom>
          <a:noFill/>
        </p:spPr>
        <p:txBody>
          <a:bodyPr wrap="square">
            <a:spAutoFit/>
          </a:bodyPr>
          <a:lstStyle/>
          <a:p>
            <a:pPr algn="ctr"/>
            <a:r>
              <a:rPr sz="800" b="0" i="0">
                <a:solidFill>
                  <a:srgbClr val="6B7280"/>
                </a:solidFill>
              </a:rPr>
              <a:t>Hob · shape · skive · broach · grind</a:t>
            </a:r>
          </a:p>
        </p:txBody>
      </p:sp>
      <p:sp>
        <p:nvSpPr>
          <p:cNvPr id="39" name="Rectangle 38"/>
          <p:cNvSpPr/>
          <p:nvPr/>
        </p:nvSpPr>
        <p:spPr>
          <a:xfrm>
            <a:off x="41148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1" name="TextBox 40"/>
          <p:cNvSpPr txBox="1"/>
          <p:nvPr/>
        </p:nvSpPr>
        <p:spPr>
          <a:xfrm>
            <a:off x="411480" y="3930396"/>
            <a:ext cx="1573813" cy="237744"/>
          </a:xfrm>
          <a:prstGeom prst="rect">
            <a:avLst/>
          </a:prstGeom>
          <a:noFill/>
        </p:spPr>
        <p:txBody>
          <a:bodyPr wrap="square">
            <a:spAutoFit/>
          </a:bodyPr>
          <a:lstStyle/>
          <a:p>
            <a:pPr algn="ctr"/>
            <a:r>
              <a:rPr sz="900" b="1" i="0">
                <a:solidFill>
                  <a:srgbClr val="16325C"/>
                </a:solidFill>
              </a:rPr>
              <a:t>Injection Moulding</a:t>
            </a:r>
          </a:p>
        </p:txBody>
      </p:sp>
      <p:sp>
        <p:nvSpPr>
          <p:cNvPr id="42" name="TextBox 41"/>
          <p:cNvSpPr txBox="1"/>
          <p:nvPr/>
        </p:nvSpPr>
        <p:spPr>
          <a:xfrm>
            <a:off x="411480" y="4204716"/>
            <a:ext cx="1573813" cy="530352"/>
          </a:xfrm>
          <a:prstGeom prst="rect">
            <a:avLst/>
          </a:prstGeom>
          <a:noFill/>
        </p:spPr>
        <p:txBody>
          <a:bodyPr wrap="square">
            <a:spAutoFit/>
          </a:bodyPr>
          <a:lstStyle/>
          <a:p>
            <a:pPr algn="ctr"/>
            <a:r>
              <a:rPr sz="800" b="0" i="0">
                <a:solidFill>
                  <a:srgbClr val="6B7280"/>
                </a:solidFill>
              </a:rPr>
              <a:t>Thermoplastics, multi-cavity</a:t>
            </a:r>
          </a:p>
        </p:txBody>
      </p:sp>
      <p:sp>
        <p:nvSpPr>
          <p:cNvPr id="43" name="Rectangle 42"/>
          <p:cNvSpPr/>
          <p:nvPr/>
        </p:nvSpPr>
        <p:spPr>
          <a:xfrm>
            <a:off x="203558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3558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5" name="TextBox 44"/>
          <p:cNvSpPr txBox="1"/>
          <p:nvPr/>
        </p:nvSpPr>
        <p:spPr>
          <a:xfrm>
            <a:off x="2035585" y="3930396"/>
            <a:ext cx="1573813" cy="237744"/>
          </a:xfrm>
          <a:prstGeom prst="rect">
            <a:avLst/>
          </a:prstGeom>
          <a:noFill/>
        </p:spPr>
        <p:txBody>
          <a:bodyPr wrap="square">
            <a:spAutoFit/>
          </a:bodyPr>
          <a:lstStyle/>
          <a:p>
            <a:pPr algn="ctr"/>
            <a:r>
              <a:rPr sz="900" b="1" i="0">
                <a:solidFill>
                  <a:srgbClr val="16325C"/>
                </a:solidFill>
              </a:rPr>
              <a:t>Blow Moulding</a:t>
            </a:r>
          </a:p>
        </p:txBody>
      </p:sp>
      <p:sp>
        <p:nvSpPr>
          <p:cNvPr id="46" name="TextBox 45"/>
          <p:cNvSpPr txBox="1"/>
          <p:nvPr/>
        </p:nvSpPr>
        <p:spPr>
          <a:xfrm>
            <a:off x="2035585" y="4204716"/>
            <a:ext cx="1573813" cy="530352"/>
          </a:xfrm>
          <a:prstGeom prst="rect">
            <a:avLst/>
          </a:prstGeom>
          <a:noFill/>
        </p:spPr>
        <p:txBody>
          <a:bodyPr wrap="square">
            <a:spAutoFit/>
          </a:bodyPr>
          <a:lstStyle/>
          <a:p>
            <a:pPr algn="ctr"/>
            <a:r>
              <a:rPr sz="800" b="0" i="0">
                <a:solidFill>
                  <a:srgbClr val="6B7280"/>
                </a:solidFill>
              </a:rPr>
              <a:t>HDPE, PET, extrusion blow</a:t>
            </a:r>
          </a:p>
        </p:txBody>
      </p:sp>
      <p:sp>
        <p:nvSpPr>
          <p:cNvPr id="47" name="Rectangle 46"/>
          <p:cNvSpPr/>
          <p:nvPr/>
        </p:nvSpPr>
        <p:spPr>
          <a:xfrm>
            <a:off x="365969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969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9" name="TextBox 48"/>
          <p:cNvSpPr txBox="1"/>
          <p:nvPr/>
        </p:nvSpPr>
        <p:spPr>
          <a:xfrm>
            <a:off x="3659690" y="3930396"/>
            <a:ext cx="1573813" cy="237744"/>
          </a:xfrm>
          <a:prstGeom prst="rect">
            <a:avLst/>
          </a:prstGeom>
          <a:noFill/>
        </p:spPr>
        <p:txBody>
          <a:bodyPr wrap="square">
            <a:spAutoFit/>
          </a:bodyPr>
          <a:lstStyle/>
          <a:p>
            <a:pPr algn="ctr"/>
            <a:r>
              <a:rPr sz="900" b="1" i="0">
                <a:solidFill>
                  <a:srgbClr val="16325C"/>
                </a:solidFill>
              </a:rPr>
              <a:t>Extrusion</a:t>
            </a:r>
          </a:p>
        </p:txBody>
      </p:sp>
      <p:sp>
        <p:nvSpPr>
          <p:cNvPr id="50" name="TextBox 49"/>
          <p:cNvSpPr txBox="1"/>
          <p:nvPr/>
        </p:nvSpPr>
        <p:spPr>
          <a:xfrm>
            <a:off x="3659690" y="4204716"/>
            <a:ext cx="1573813" cy="530352"/>
          </a:xfrm>
          <a:prstGeom prst="rect">
            <a:avLst/>
          </a:prstGeom>
          <a:noFill/>
        </p:spPr>
        <p:txBody>
          <a:bodyPr wrap="square">
            <a:spAutoFit/>
          </a:bodyPr>
          <a:lstStyle/>
          <a:p>
            <a:pPr algn="ctr"/>
            <a:r>
              <a:rPr sz="800" b="0" i="0">
                <a:solidFill>
                  <a:srgbClr val="6B7280"/>
                </a:solidFill>
              </a:rPr>
              <a:t>Profile, pipe, sheet, rod</a:t>
            </a:r>
          </a:p>
        </p:txBody>
      </p:sp>
      <p:sp>
        <p:nvSpPr>
          <p:cNvPr id="51" name="Rectangle 50"/>
          <p:cNvSpPr/>
          <p:nvPr/>
        </p:nvSpPr>
        <p:spPr>
          <a:xfrm>
            <a:off x="528379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379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3" name="TextBox 52"/>
          <p:cNvSpPr txBox="1"/>
          <p:nvPr/>
        </p:nvSpPr>
        <p:spPr>
          <a:xfrm>
            <a:off x="5283795" y="3930396"/>
            <a:ext cx="1573813" cy="237744"/>
          </a:xfrm>
          <a:prstGeom prst="rect">
            <a:avLst/>
          </a:prstGeom>
          <a:noFill/>
        </p:spPr>
        <p:txBody>
          <a:bodyPr wrap="square">
            <a:spAutoFit/>
          </a:bodyPr>
          <a:lstStyle/>
          <a:p>
            <a:pPr algn="ctr"/>
            <a:r>
              <a:rPr sz="900" b="1" i="0">
                <a:solidFill>
                  <a:srgbClr val="16325C"/>
                </a:solidFill>
              </a:rPr>
              <a:t>Thermoforming</a:t>
            </a:r>
          </a:p>
        </p:txBody>
      </p:sp>
      <p:sp>
        <p:nvSpPr>
          <p:cNvPr id="54" name="TextBox 53"/>
          <p:cNvSpPr txBox="1"/>
          <p:nvPr/>
        </p:nvSpPr>
        <p:spPr>
          <a:xfrm>
            <a:off x="5283795" y="4204716"/>
            <a:ext cx="1573813" cy="530352"/>
          </a:xfrm>
          <a:prstGeom prst="rect">
            <a:avLst/>
          </a:prstGeom>
          <a:noFill/>
        </p:spPr>
        <p:txBody>
          <a:bodyPr wrap="square">
            <a:spAutoFit/>
          </a:bodyPr>
          <a:lstStyle/>
          <a:p>
            <a:pPr algn="ctr"/>
            <a:r>
              <a:rPr sz="800" b="0" i="0">
                <a:solidFill>
                  <a:srgbClr val="6B7280"/>
                </a:solidFill>
              </a:rPr>
              <a:t>Vacuum, pressure, twin-sheet</a:t>
            </a:r>
          </a:p>
        </p:txBody>
      </p:sp>
      <p:sp>
        <p:nvSpPr>
          <p:cNvPr id="55" name="Rectangle 54"/>
          <p:cNvSpPr/>
          <p:nvPr/>
        </p:nvSpPr>
        <p:spPr>
          <a:xfrm>
            <a:off x="690790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0790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7" name="TextBox 56"/>
          <p:cNvSpPr txBox="1"/>
          <p:nvPr/>
        </p:nvSpPr>
        <p:spPr>
          <a:xfrm>
            <a:off x="6907900" y="3930396"/>
            <a:ext cx="1573813" cy="237744"/>
          </a:xfrm>
          <a:prstGeom prst="rect">
            <a:avLst/>
          </a:prstGeom>
          <a:noFill/>
        </p:spPr>
        <p:txBody>
          <a:bodyPr wrap="square">
            <a:spAutoFit/>
          </a:bodyPr>
          <a:lstStyle/>
          <a:p>
            <a:pPr algn="ctr"/>
            <a:r>
              <a:rPr sz="900" b="1" i="0">
                <a:solidFill>
                  <a:srgbClr val="16325C"/>
                </a:solidFill>
              </a:rPr>
              <a:t>Rotational Moulding</a:t>
            </a:r>
          </a:p>
        </p:txBody>
      </p:sp>
      <p:sp>
        <p:nvSpPr>
          <p:cNvPr id="58" name="TextBox 57"/>
          <p:cNvSpPr txBox="1"/>
          <p:nvPr/>
        </p:nvSpPr>
        <p:spPr>
          <a:xfrm>
            <a:off x="6907900" y="4204716"/>
            <a:ext cx="1573813" cy="530352"/>
          </a:xfrm>
          <a:prstGeom prst="rect">
            <a:avLst/>
          </a:prstGeom>
          <a:noFill/>
        </p:spPr>
        <p:txBody>
          <a:bodyPr wrap="square">
            <a:spAutoFit/>
          </a:bodyPr>
          <a:lstStyle/>
          <a:p>
            <a:pPr algn="ctr"/>
            <a:r>
              <a:rPr sz="800" b="0" i="0">
                <a:solidFill>
                  <a:srgbClr val="6B7280"/>
                </a:solidFill>
              </a:rPr>
              <a:t>Large hollow shapes, LLDPE</a:t>
            </a:r>
          </a:p>
        </p:txBody>
      </p:sp>
      <p:sp>
        <p:nvSpPr>
          <p:cNvPr id="59" name="Rectangle 58"/>
          <p:cNvSpPr/>
          <p:nvPr/>
        </p:nvSpPr>
        <p:spPr>
          <a:xfrm>
            <a:off x="853200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3200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1" name="TextBox 60"/>
          <p:cNvSpPr txBox="1"/>
          <p:nvPr/>
        </p:nvSpPr>
        <p:spPr>
          <a:xfrm>
            <a:off x="8532005" y="3930396"/>
            <a:ext cx="1573813" cy="237744"/>
          </a:xfrm>
          <a:prstGeom prst="rect">
            <a:avLst/>
          </a:prstGeom>
          <a:noFill/>
        </p:spPr>
        <p:txBody>
          <a:bodyPr wrap="square">
            <a:spAutoFit/>
          </a:bodyPr>
          <a:lstStyle/>
          <a:p>
            <a:pPr algn="ctr"/>
            <a:r>
              <a:rPr sz="900" b="1" i="0">
                <a:solidFill>
                  <a:srgbClr val="16325C"/>
                </a:solidFill>
              </a:rPr>
              <a:t>Rubber Moulding</a:t>
            </a:r>
          </a:p>
        </p:txBody>
      </p:sp>
      <p:sp>
        <p:nvSpPr>
          <p:cNvPr id="62" name="TextBox 61"/>
          <p:cNvSpPr txBox="1"/>
          <p:nvPr/>
        </p:nvSpPr>
        <p:spPr>
          <a:xfrm>
            <a:off x="8532005" y="4204716"/>
            <a:ext cx="1573813" cy="530352"/>
          </a:xfrm>
          <a:prstGeom prst="rect">
            <a:avLst/>
          </a:prstGeom>
          <a:noFill/>
        </p:spPr>
        <p:txBody>
          <a:bodyPr wrap="square">
            <a:spAutoFit/>
          </a:bodyPr>
          <a:lstStyle/>
          <a:p>
            <a:pPr algn="ctr"/>
            <a:r>
              <a:rPr sz="800" b="0" i="0">
                <a:solidFill>
                  <a:srgbClr val="6B7280"/>
                </a:solidFill>
              </a:rPr>
              <a:t>Compression, injection, LSR</a:t>
            </a:r>
          </a:p>
        </p:txBody>
      </p:sp>
      <p:sp>
        <p:nvSpPr>
          <p:cNvPr id="63" name="Rectangle 62"/>
          <p:cNvSpPr/>
          <p:nvPr/>
        </p:nvSpPr>
        <p:spPr>
          <a:xfrm>
            <a:off x="1015611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5611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5" name="TextBox 64"/>
          <p:cNvSpPr txBox="1"/>
          <p:nvPr/>
        </p:nvSpPr>
        <p:spPr>
          <a:xfrm>
            <a:off x="10156110" y="3930396"/>
            <a:ext cx="1573813" cy="237744"/>
          </a:xfrm>
          <a:prstGeom prst="rect">
            <a:avLst/>
          </a:prstGeom>
          <a:noFill/>
        </p:spPr>
        <p:txBody>
          <a:bodyPr wrap="square">
            <a:spAutoFit/>
          </a:bodyPr>
          <a:lstStyle/>
          <a:p>
            <a:pPr algn="ctr"/>
            <a:r>
              <a:rPr sz="900" b="1" i="0">
                <a:solidFill>
                  <a:srgbClr val="16325C"/>
                </a:solidFill>
              </a:rPr>
              <a:t>Composites</a:t>
            </a:r>
          </a:p>
        </p:txBody>
      </p:sp>
      <p:sp>
        <p:nvSpPr>
          <p:cNvPr id="66" name="TextBox 65"/>
          <p:cNvSpPr txBox="1"/>
          <p:nvPr/>
        </p:nvSpPr>
        <p:spPr>
          <a:xfrm>
            <a:off x="10156110" y="4204716"/>
            <a:ext cx="1573813" cy="530352"/>
          </a:xfrm>
          <a:prstGeom prst="rect">
            <a:avLst/>
          </a:prstGeom>
          <a:noFill/>
        </p:spPr>
        <p:txBody>
          <a:bodyPr wrap="square">
            <a:spAutoFit/>
          </a:bodyPr>
          <a:lstStyle/>
          <a:p>
            <a:pPr algn="ctr"/>
            <a:r>
              <a:rPr sz="800" b="0" i="0">
                <a:solidFill>
                  <a:srgbClr val="6B7280"/>
                </a:solidFill>
              </a:rPr>
              <a:t>CFRP/GFRP, autoclave, RTM, AFP</a:t>
            </a:r>
          </a:p>
        </p:txBody>
      </p:sp>
      <p:sp>
        <p:nvSpPr>
          <p:cNvPr id="67" name="Rectangle 66"/>
          <p:cNvSpPr/>
          <p:nvPr/>
        </p:nvSpPr>
        <p:spPr>
          <a:xfrm>
            <a:off x="41148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9" name="TextBox 68"/>
          <p:cNvSpPr txBox="1"/>
          <p:nvPr/>
        </p:nvSpPr>
        <p:spPr>
          <a:xfrm>
            <a:off x="411480" y="5465064"/>
            <a:ext cx="1573813" cy="237744"/>
          </a:xfrm>
          <a:prstGeom prst="rect">
            <a:avLst/>
          </a:prstGeom>
          <a:noFill/>
        </p:spPr>
        <p:txBody>
          <a:bodyPr wrap="square">
            <a:spAutoFit/>
          </a:bodyPr>
          <a:lstStyle/>
          <a:p>
            <a:pPr algn="ctr"/>
            <a:r>
              <a:rPr sz="900" b="1" i="0">
                <a:solidFill>
                  <a:srgbClr val="16325C"/>
                </a:solidFill>
              </a:rPr>
              <a:t>Painting / Coating</a:t>
            </a:r>
          </a:p>
        </p:txBody>
      </p:sp>
      <p:sp>
        <p:nvSpPr>
          <p:cNvPr id="70" name="TextBox 69"/>
          <p:cNvSpPr txBox="1"/>
          <p:nvPr/>
        </p:nvSpPr>
        <p:spPr>
          <a:xfrm>
            <a:off x="411480" y="5739384"/>
            <a:ext cx="1573813" cy="530352"/>
          </a:xfrm>
          <a:prstGeom prst="rect">
            <a:avLst/>
          </a:prstGeom>
          <a:noFill/>
        </p:spPr>
        <p:txBody>
          <a:bodyPr wrap="square">
            <a:spAutoFit/>
          </a:bodyPr>
          <a:lstStyle/>
          <a:p>
            <a:pPr algn="ctr"/>
            <a:r>
              <a:rPr sz="800" b="0" i="0">
                <a:solidFill>
                  <a:srgbClr val="6B7280"/>
                </a:solidFill>
              </a:rPr>
              <a:t>E-coat, powder, wet, anodise</a:t>
            </a:r>
          </a:p>
        </p:txBody>
      </p:sp>
      <p:sp>
        <p:nvSpPr>
          <p:cNvPr id="71" name="Rectangle 70"/>
          <p:cNvSpPr/>
          <p:nvPr/>
        </p:nvSpPr>
        <p:spPr>
          <a:xfrm>
            <a:off x="203558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3558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3" name="TextBox 72"/>
          <p:cNvSpPr txBox="1"/>
          <p:nvPr/>
        </p:nvSpPr>
        <p:spPr>
          <a:xfrm>
            <a:off x="2035585" y="5465064"/>
            <a:ext cx="1573813" cy="237744"/>
          </a:xfrm>
          <a:prstGeom prst="rect">
            <a:avLst/>
          </a:prstGeom>
          <a:noFill/>
        </p:spPr>
        <p:txBody>
          <a:bodyPr wrap="square">
            <a:spAutoFit/>
          </a:bodyPr>
          <a:lstStyle/>
          <a:p>
            <a:pPr algn="ctr"/>
            <a:r>
              <a:rPr sz="900" b="1" i="0">
                <a:solidFill>
                  <a:srgbClr val="16325C"/>
                </a:solidFill>
              </a:rPr>
              <a:t>BIW Assembly</a:t>
            </a:r>
          </a:p>
        </p:txBody>
      </p:sp>
      <p:sp>
        <p:nvSpPr>
          <p:cNvPr id="74" name="TextBox 73"/>
          <p:cNvSpPr txBox="1"/>
          <p:nvPr/>
        </p:nvSpPr>
        <p:spPr>
          <a:xfrm>
            <a:off x="2035585" y="5739384"/>
            <a:ext cx="1573813" cy="530352"/>
          </a:xfrm>
          <a:prstGeom prst="rect">
            <a:avLst/>
          </a:prstGeom>
          <a:noFill/>
        </p:spPr>
        <p:txBody>
          <a:bodyPr wrap="square">
            <a:spAutoFit/>
          </a:bodyPr>
          <a:lstStyle/>
          <a:p>
            <a:pPr algn="ctr"/>
            <a:r>
              <a:rPr sz="800" b="0" i="0">
                <a:solidFill>
                  <a:srgbClr val="6B7280"/>
                </a:solidFill>
              </a:rPr>
              <a:t>Spot weld, MIG, hem, bond</a:t>
            </a:r>
          </a:p>
        </p:txBody>
      </p:sp>
      <p:sp>
        <p:nvSpPr>
          <p:cNvPr id="75" name="Rectangle 74"/>
          <p:cNvSpPr/>
          <p:nvPr/>
        </p:nvSpPr>
        <p:spPr>
          <a:xfrm>
            <a:off x="365969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5969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7" name="TextBox 76"/>
          <p:cNvSpPr txBox="1"/>
          <p:nvPr/>
        </p:nvSpPr>
        <p:spPr>
          <a:xfrm>
            <a:off x="3659690" y="5465064"/>
            <a:ext cx="1573813" cy="237744"/>
          </a:xfrm>
          <a:prstGeom prst="rect">
            <a:avLst/>
          </a:prstGeom>
          <a:noFill/>
        </p:spPr>
        <p:txBody>
          <a:bodyPr wrap="square">
            <a:spAutoFit/>
          </a:bodyPr>
          <a:lstStyle/>
          <a:p>
            <a:pPr algn="ctr"/>
            <a:r>
              <a:rPr sz="900" b="1" i="0">
                <a:solidFill>
                  <a:srgbClr val="16325C"/>
                </a:solidFill>
              </a:rPr>
              <a:t>PCB Fabrication</a:t>
            </a:r>
          </a:p>
        </p:txBody>
      </p:sp>
      <p:sp>
        <p:nvSpPr>
          <p:cNvPr id="78" name="TextBox 77"/>
          <p:cNvSpPr txBox="1"/>
          <p:nvPr/>
        </p:nvSpPr>
        <p:spPr>
          <a:xfrm>
            <a:off x="3659690" y="5739384"/>
            <a:ext cx="1573813" cy="530352"/>
          </a:xfrm>
          <a:prstGeom prst="rect">
            <a:avLst/>
          </a:prstGeom>
          <a:noFill/>
        </p:spPr>
        <p:txBody>
          <a:bodyPr wrap="square">
            <a:spAutoFit/>
          </a:bodyPr>
          <a:lstStyle/>
          <a:p>
            <a:pPr algn="ctr"/>
            <a:r>
              <a:rPr sz="800" b="0" i="0">
                <a:solidFill>
                  <a:srgbClr val="6B7280"/>
                </a:solidFill>
              </a:rPr>
              <a:t>2–16L, HDI, rigid-flex, RF/μwave</a:t>
            </a:r>
          </a:p>
        </p:txBody>
      </p:sp>
      <p:sp>
        <p:nvSpPr>
          <p:cNvPr id="79" name="Rectangle 78"/>
          <p:cNvSpPr/>
          <p:nvPr/>
        </p:nvSpPr>
        <p:spPr>
          <a:xfrm>
            <a:off x="528379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8379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1" name="TextBox 80"/>
          <p:cNvSpPr txBox="1"/>
          <p:nvPr/>
        </p:nvSpPr>
        <p:spPr>
          <a:xfrm>
            <a:off x="5283795" y="5465064"/>
            <a:ext cx="1573813" cy="237744"/>
          </a:xfrm>
          <a:prstGeom prst="rect">
            <a:avLst/>
          </a:prstGeom>
          <a:noFill/>
        </p:spPr>
        <p:txBody>
          <a:bodyPr wrap="square">
            <a:spAutoFit/>
          </a:bodyPr>
          <a:lstStyle/>
          <a:p>
            <a:pPr algn="ctr"/>
            <a:r>
              <a:rPr sz="900" b="1" i="0">
                <a:solidFill>
                  <a:srgbClr val="16325C"/>
                </a:solidFill>
              </a:rPr>
              <a:t>PCBA / SMD</a:t>
            </a:r>
          </a:p>
        </p:txBody>
      </p:sp>
      <p:sp>
        <p:nvSpPr>
          <p:cNvPr id="82" name="TextBox 81"/>
          <p:cNvSpPr txBox="1"/>
          <p:nvPr/>
        </p:nvSpPr>
        <p:spPr>
          <a:xfrm>
            <a:off x="5283795" y="5739384"/>
            <a:ext cx="1573813" cy="530352"/>
          </a:xfrm>
          <a:prstGeom prst="rect">
            <a:avLst/>
          </a:prstGeom>
          <a:noFill/>
        </p:spPr>
        <p:txBody>
          <a:bodyPr wrap="square">
            <a:spAutoFit/>
          </a:bodyPr>
          <a:lstStyle/>
          <a:p>
            <a:pPr algn="ctr"/>
            <a:r>
              <a:rPr sz="800" b="0" i="0">
                <a:solidFill>
                  <a:srgbClr val="6B7280"/>
                </a:solidFill>
              </a:rPr>
              <a:t>SMT, TH, reflow, conformal coat</a:t>
            </a:r>
          </a:p>
        </p:txBody>
      </p:sp>
      <p:sp>
        <p:nvSpPr>
          <p:cNvPr id="83" name="Rectangle 82"/>
          <p:cNvSpPr/>
          <p:nvPr/>
        </p:nvSpPr>
        <p:spPr>
          <a:xfrm>
            <a:off x="690790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0790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5" name="TextBox 84"/>
          <p:cNvSpPr txBox="1"/>
          <p:nvPr/>
        </p:nvSpPr>
        <p:spPr>
          <a:xfrm>
            <a:off x="6907900" y="5465064"/>
            <a:ext cx="1573813" cy="237744"/>
          </a:xfrm>
          <a:prstGeom prst="rect">
            <a:avLst/>
          </a:prstGeom>
          <a:noFill/>
        </p:spPr>
        <p:txBody>
          <a:bodyPr wrap="square">
            <a:spAutoFit/>
          </a:bodyPr>
          <a:lstStyle/>
          <a:p>
            <a:pPr algn="ctr"/>
            <a:r>
              <a:rPr sz="900" b="1" i="0">
                <a:solidFill>
                  <a:srgbClr val="16325C"/>
                </a:solidFill>
              </a:rPr>
              <a:t>Wiring Harness</a:t>
            </a:r>
          </a:p>
        </p:txBody>
      </p:sp>
      <p:sp>
        <p:nvSpPr>
          <p:cNvPr id="86" name="TextBox 85"/>
          <p:cNvSpPr txBox="1"/>
          <p:nvPr/>
        </p:nvSpPr>
        <p:spPr>
          <a:xfrm>
            <a:off x="6907900" y="5739384"/>
            <a:ext cx="1573813" cy="530352"/>
          </a:xfrm>
          <a:prstGeom prst="rect">
            <a:avLst/>
          </a:prstGeom>
          <a:noFill/>
        </p:spPr>
        <p:txBody>
          <a:bodyPr wrap="square">
            <a:spAutoFit/>
          </a:bodyPr>
          <a:lstStyle/>
          <a:p>
            <a:pPr algn="ctr"/>
            <a:r>
              <a:rPr sz="800" b="0" i="0">
                <a:solidFill>
                  <a:srgbClr val="6B7280"/>
                </a:solidFill>
              </a:rPr>
              <a:t>Cut-strip-crimp, test, sub-asm</a:t>
            </a:r>
          </a:p>
        </p:txBody>
      </p:sp>
      <p:sp>
        <p:nvSpPr>
          <p:cNvPr id="87" name="Rectangle 86"/>
          <p:cNvSpPr/>
          <p:nvPr/>
        </p:nvSpPr>
        <p:spPr>
          <a:xfrm>
            <a:off x="8532005" y="4879848"/>
            <a:ext cx="1573813" cy="147523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200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9" name="TextBox 88"/>
          <p:cNvSpPr txBox="1"/>
          <p:nvPr/>
        </p:nvSpPr>
        <p:spPr>
          <a:xfrm>
            <a:off x="8532005" y="5465064"/>
            <a:ext cx="1573813" cy="237744"/>
          </a:xfrm>
          <a:prstGeom prst="rect">
            <a:avLst/>
          </a:prstGeom>
          <a:noFill/>
        </p:spPr>
        <p:txBody>
          <a:bodyPr wrap="square">
            <a:spAutoFit/>
          </a:bodyPr>
          <a:lstStyle/>
          <a:p>
            <a:pPr algn="ctr"/>
            <a:r>
              <a:rPr sz="900" b="1" i="0">
                <a:solidFill>
                  <a:srgbClr val="16325C"/>
                </a:solidFill>
              </a:rPr>
              <a:t>Assembly BOM Rollup</a:t>
            </a:r>
          </a:p>
        </p:txBody>
      </p:sp>
      <p:sp>
        <p:nvSpPr>
          <p:cNvPr id="90" name="TextBox 89"/>
          <p:cNvSpPr txBox="1"/>
          <p:nvPr/>
        </p:nvSpPr>
        <p:spPr>
          <a:xfrm>
            <a:off x="8532005" y="5739384"/>
            <a:ext cx="1573813" cy="530352"/>
          </a:xfrm>
          <a:prstGeom prst="rect">
            <a:avLst/>
          </a:prstGeom>
          <a:noFill/>
        </p:spPr>
        <p:txBody>
          <a:bodyPr wrap="square">
            <a:spAutoFit/>
          </a:bodyPr>
          <a:lstStyle/>
          <a:p>
            <a:pPr algn="ctr"/>
            <a:r>
              <a:rPr sz="800" b="0" i="0">
                <a:solidFill>
                  <a:srgbClr val="6B7280"/>
                </a:solidFill>
              </a:rPr>
              <a:t>Multi-part BOM, full cost rollup</a:t>
            </a:r>
          </a:p>
        </p:txBody>
      </p:sp>
      <p:sp>
        <p:nvSpPr>
          <p:cNvPr id="91" name="Rectangle 90"/>
          <p:cNvSpPr/>
          <p:nvPr/>
        </p:nvSpPr>
        <p:spPr>
          <a:xfrm>
            <a:off x="10156110" y="4879848"/>
            <a:ext cx="1573813" cy="147523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5611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93" name="TextBox 92"/>
          <p:cNvSpPr txBox="1"/>
          <p:nvPr/>
        </p:nvSpPr>
        <p:spPr>
          <a:xfrm>
            <a:off x="10156110" y="5465064"/>
            <a:ext cx="1573813" cy="237744"/>
          </a:xfrm>
          <a:prstGeom prst="rect">
            <a:avLst/>
          </a:prstGeom>
          <a:noFill/>
        </p:spPr>
        <p:txBody>
          <a:bodyPr wrap="square">
            <a:spAutoFit/>
          </a:bodyPr>
          <a:lstStyle/>
          <a:p>
            <a:pPr algn="ctr"/>
            <a:r>
              <a:rPr sz="900" b="1" i="0">
                <a:solidFill>
                  <a:srgbClr val="16325C"/>
                </a:solidFill>
              </a:rPr>
              <a:t>AI Agent</a:t>
            </a:r>
          </a:p>
        </p:txBody>
      </p:sp>
      <p:sp>
        <p:nvSpPr>
          <p:cNvPr id="94" name="TextBox 93"/>
          <p:cNvSpPr txBox="1"/>
          <p:nvPr/>
        </p:nvSpPr>
        <p:spPr>
          <a:xfrm>
            <a:off x="10156110" y="5739384"/>
            <a:ext cx="1573813" cy="530352"/>
          </a:xfrm>
          <a:prstGeom prst="rect">
            <a:avLst/>
          </a:prstGeom>
          <a:noFill/>
        </p:spPr>
        <p:txBody>
          <a:bodyPr wrap="square">
            <a:spAutoFit/>
          </a:bodyPr>
          <a:lstStyle/>
          <a:p>
            <a:pPr algn="ctr"/>
            <a:r>
              <a:rPr sz="800" b="0" i="0">
                <a:solidFill>
                  <a:srgbClr val="6B72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10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Sits Behind Every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Twelve layers, all of them arithmetic you can follow. Nothing is estimated by feel.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Materials</a:t>
            </a:r>
          </a:p>
        </p:txBody>
      </p:sp>
      <p:sp>
        <p:nvSpPr>
          <p:cNvPr id="14" name="TextBox 13"/>
          <p:cNvSpPr txBox="1"/>
          <p:nvPr/>
        </p:nvSpPr>
        <p:spPr>
          <a:xfrm>
            <a:off x="539496" y="2194560"/>
            <a:ext cx="2590723" cy="960120"/>
          </a:xfrm>
          <a:prstGeom prst="rect">
            <a:avLst/>
          </a:prstGeom>
          <a:noFill/>
        </p:spPr>
        <p:txBody>
          <a:bodyPr wrap="square">
            <a:spAutoFit/>
          </a:bodyPr>
          <a:lstStyle/>
          <a:p>
            <a:pPr algn="l"/>
            <a:r>
              <a:rPr sz="950" b="0" i="0">
                <a:solidFill>
                  <a:srgbClr val="3A4356"/>
                </a:solidFill>
              </a:rPr>
              <a:t>30+ grades — steels, aluminium, plastics, rubber, composites, board laminates. Priced in the local currency.</a:t>
            </a:r>
          </a:p>
        </p:txBody>
      </p:sp>
      <p:sp>
        <p:nvSpPr>
          <p:cNvPr id="15" name="Rectangle 14"/>
          <p:cNvSpPr/>
          <p:nvPr/>
        </p:nvSpPr>
        <p:spPr>
          <a:xfrm>
            <a:off x="3276523"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Machines &amp; Rates</a:t>
            </a:r>
          </a:p>
        </p:txBody>
      </p:sp>
      <p:sp>
        <p:nvSpPr>
          <p:cNvPr id="18" name="TextBox 17"/>
          <p:cNvSpPr txBox="1"/>
          <p:nvPr/>
        </p:nvSpPr>
        <p:spPr>
          <a:xfrm>
            <a:off x="3404539" y="2194560"/>
            <a:ext cx="2590723" cy="960120"/>
          </a:xfrm>
          <a:prstGeom prst="rect">
            <a:avLst/>
          </a:prstGeom>
          <a:noFill/>
        </p:spPr>
        <p:txBody>
          <a:bodyPr wrap="square">
            <a:spAutoFit/>
          </a:bodyPr>
          <a:lstStyle/>
          <a:p>
            <a:pPr algn="l"/>
            <a:r>
              <a:rPr sz="950" b="0" i="0">
                <a:solidFill>
                  <a:srgbClr val="3A4356"/>
                </a:solidFill>
              </a:rPr>
              <a:t>50+ machine types with an hourly rate you can edit per project and per region.</a:t>
            </a:r>
          </a:p>
        </p:txBody>
      </p:sp>
      <p:sp>
        <p:nvSpPr>
          <p:cNvPr id="19" name="Rectangle 18"/>
          <p:cNvSpPr/>
          <p:nvPr/>
        </p:nvSpPr>
        <p:spPr>
          <a:xfrm>
            <a:off x="6141567"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Process Routing</a:t>
            </a:r>
          </a:p>
        </p:txBody>
      </p:sp>
      <p:sp>
        <p:nvSpPr>
          <p:cNvPr id="22" name="TextBox 21"/>
          <p:cNvSpPr txBox="1"/>
          <p:nvPr/>
        </p:nvSpPr>
        <p:spPr>
          <a:xfrm>
            <a:off x="6269583" y="2194560"/>
            <a:ext cx="2590723" cy="960120"/>
          </a:xfrm>
          <a:prstGeom prst="rect">
            <a:avLst/>
          </a:prstGeom>
          <a:noFill/>
        </p:spPr>
        <p:txBody>
          <a:bodyPr wrap="square">
            <a:spAutoFit/>
          </a:bodyPr>
          <a:lstStyle/>
          <a:p>
            <a:pPr algn="l"/>
            <a:r>
              <a:rPr sz="950" b="0" i="0">
                <a:solidFill>
                  <a:srgbClr val="3A4356"/>
                </a:solidFill>
              </a:rPr>
              <a:t>The order of operations, and for each one: which machine, how long, who runs it.</a:t>
            </a:r>
          </a:p>
        </p:txBody>
      </p:sp>
      <p:sp>
        <p:nvSpPr>
          <p:cNvPr id="23" name="Rectangle 22"/>
          <p:cNvSpPr/>
          <p:nvPr/>
        </p:nvSpPr>
        <p:spPr>
          <a:xfrm>
            <a:off x="9006611"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Tooling &amp; NRE</a:t>
            </a:r>
          </a:p>
        </p:txBody>
      </p:sp>
      <p:sp>
        <p:nvSpPr>
          <p:cNvPr id="26" name="TextBox 25"/>
          <p:cNvSpPr txBox="1"/>
          <p:nvPr/>
        </p:nvSpPr>
        <p:spPr>
          <a:xfrm>
            <a:off x="9134627" y="2194560"/>
            <a:ext cx="2590723" cy="960120"/>
          </a:xfrm>
          <a:prstGeom prst="rect">
            <a:avLst/>
          </a:prstGeom>
          <a:noFill/>
        </p:spPr>
        <p:txBody>
          <a:bodyPr wrap="square">
            <a:spAutoFit/>
          </a:bodyPr>
          <a:lstStyle/>
          <a:p>
            <a:pPr algn="l"/>
            <a:r>
              <a:rPr sz="950" b="0" i="0">
                <a:solidFill>
                  <a:srgbClr val="3A4356"/>
                </a:solidFill>
              </a:rPr>
              <a:t>Dies, moulds and fixtures spread over the year's volume, with tool life accounted for.</a:t>
            </a:r>
          </a:p>
        </p:txBody>
      </p:sp>
      <p:sp>
        <p:nvSpPr>
          <p:cNvPr id="27" name="Rectangle 26"/>
          <p:cNvSpPr/>
          <p:nvPr/>
        </p:nvSpPr>
        <p:spPr>
          <a:xfrm>
            <a:off x="411480"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355848"/>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Yield &amp; Scrap</a:t>
            </a:r>
          </a:p>
        </p:txBody>
      </p:sp>
      <p:sp>
        <p:nvSpPr>
          <p:cNvPr id="30" name="TextBox 29"/>
          <p:cNvSpPr txBox="1"/>
          <p:nvPr/>
        </p:nvSpPr>
        <p:spPr>
          <a:xfrm>
            <a:off x="539496" y="3739896"/>
            <a:ext cx="2590723" cy="960120"/>
          </a:xfrm>
          <a:prstGeom prst="rect">
            <a:avLst/>
          </a:prstGeom>
          <a:noFill/>
        </p:spPr>
        <p:txBody>
          <a:bodyPr wrap="square">
            <a:spAutoFit/>
          </a:bodyPr>
          <a:lstStyle/>
          <a:p>
            <a:pPr algn="l"/>
            <a:r>
              <a:rPr sz="950" b="0" i="0">
                <a:solidFill>
                  <a:srgbClr val="3A4356"/>
                </a:solidFill>
              </a:rPr>
              <a:t>What actually comes out good first time, driven by the features that make a part hard to build.</a:t>
            </a:r>
          </a:p>
        </p:txBody>
      </p:sp>
      <p:sp>
        <p:nvSpPr>
          <p:cNvPr id="31" name="Rectangle 30"/>
          <p:cNvSpPr/>
          <p:nvPr/>
        </p:nvSpPr>
        <p:spPr>
          <a:xfrm>
            <a:off x="3276523"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355848"/>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Regional Rates</a:t>
            </a:r>
          </a:p>
        </p:txBody>
      </p:sp>
      <p:sp>
        <p:nvSpPr>
          <p:cNvPr id="34" name="TextBox 33"/>
          <p:cNvSpPr txBox="1"/>
          <p:nvPr/>
        </p:nvSpPr>
        <p:spPr>
          <a:xfrm>
            <a:off x="3404539" y="3739896"/>
            <a:ext cx="2590723" cy="960120"/>
          </a:xfrm>
          <a:prstGeom prst="rect">
            <a:avLst/>
          </a:prstGeom>
          <a:noFill/>
        </p:spPr>
        <p:txBody>
          <a:bodyPr wrap="square">
            <a:spAutoFit/>
          </a:bodyPr>
          <a:lstStyle/>
          <a:p>
            <a:pPr algn="l"/>
            <a:r>
              <a:rPr sz="950" b="0" i="0">
                <a:solidFill>
                  <a:srgbClr val="3A4356"/>
                </a:solidFill>
              </a:rPr>
              <a:t>20 regions, each with its own labour, energy and machine rates.</a:t>
            </a:r>
          </a:p>
        </p:txBody>
      </p:sp>
      <p:sp>
        <p:nvSpPr>
          <p:cNvPr id="35" name="Rectangle 34"/>
          <p:cNvSpPr/>
          <p:nvPr/>
        </p:nvSpPr>
        <p:spPr>
          <a:xfrm>
            <a:off x="6141567"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355848"/>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Benchmarks &amp; Sensitivity</a:t>
            </a:r>
          </a:p>
        </p:txBody>
      </p:sp>
      <p:sp>
        <p:nvSpPr>
          <p:cNvPr id="38" name="TextBox 37"/>
          <p:cNvSpPr txBox="1"/>
          <p:nvPr/>
        </p:nvSpPr>
        <p:spPr>
          <a:xfrm>
            <a:off x="6269583" y="3739896"/>
            <a:ext cx="2590723" cy="960120"/>
          </a:xfrm>
          <a:prstGeom prst="rect">
            <a:avLst/>
          </a:prstGeom>
          <a:noFill/>
        </p:spPr>
        <p:txBody>
          <a:bodyPr wrap="square">
            <a:spAutoFit/>
          </a:bodyPr>
          <a:lstStyle/>
          <a:p>
            <a:pPr algn="l"/>
            <a:r>
              <a:rPr sz="950" b="0" i="0">
                <a:solidFill>
                  <a:srgbClr val="3A4356"/>
                </a:solidFill>
              </a:rPr>
              <a:t>Checked against published cost ranges, and ranked by which inputs move the number most.</a:t>
            </a:r>
          </a:p>
        </p:txBody>
      </p:sp>
      <p:sp>
        <p:nvSpPr>
          <p:cNvPr id="39" name="Rectangle 38"/>
          <p:cNvSpPr/>
          <p:nvPr/>
        </p:nvSpPr>
        <p:spPr>
          <a:xfrm>
            <a:off x="9006611"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355848"/>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Learning Curve</a:t>
            </a:r>
          </a:p>
        </p:txBody>
      </p:sp>
      <p:sp>
        <p:nvSpPr>
          <p:cNvPr id="42" name="TextBox 41"/>
          <p:cNvSpPr txBox="1"/>
          <p:nvPr/>
        </p:nvSpPr>
        <p:spPr>
          <a:xfrm>
            <a:off x="9134627" y="3739896"/>
            <a:ext cx="2590723" cy="960120"/>
          </a:xfrm>
          <a:prstGeom prst="rect">
            <a:avLst/>
          </a:prstGeom>
          <a:noFill/>
        </p:spPr>
        <p:txBody>
          <a:bodyPr wrap="square">
            <a:spAutoFit/>
          </a:bodyPr>
          <a:lstStyle/>
          <a:p>
            <a:pPr algn="l"/>
            <a:r>
              <a:rPr sz="950" b="0" i="0">
                <a:solidFill>
                  <a:srgbClr val="3A4356"/>
                </a:solidFill>
              </a:rPr>
              <a:t>What the part costs as volume builds — the figure you need for a long-term agreement.</a:t>
            </a:r>
          </a:p>
        </p:txBody>
      </p:sp>
      <p:sp>
        <p:nvSpPr>
          <p:cNvPr id="43" name="Rectangle 42"/>
          <p:cNvSpPr/>
          <p:nvPr/>
        </p:nvSpPr>
        <p:spPr>
          <a:xfrm>
            <a:off x="411480"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901184"/>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Quote Comparison</a:t>
            </a:r>
          </a:p>
        </p:txBody>
      </p:sp>
      <p:sp>
        <p:nvSpPr>
          <p:cNvPr id="46" name="TextBox 45"/>
          <p:cNvSpPr txBox="1"/>
          <p:nvPr/>
        </p:nvSpPr>
        <p:spPr>
          <a:xfrm>
            <a:off x="539496" y="5285232"/>
            <a:ext cx="2590723" cy="960120"/>
          </a:xfrm>
          <a:prstGeom prst="rect">
            <a:avLst/>
          </a:prstGeom>
          <a:noFill/>
        </p:spPr>
        <p:txBody>
          <a:bodyPr wrap="square">
            <a:spAutoFit/>
          </a:bodyPr>
          <a:lstStyle/>
          <a:p>
            <a:pPr algn="l"/>
            <a:r>
              <a:rPr sz="950" b="0" i="0">
                <a:solidFill>
                  <a:srgbClr val="3A4356"/>
                </a:solidFill>
              </a:rPr>
              <a:t>Put the supplier's quote next to ours and see the gap, in their currency or yours.</a:t>
            </a:r>
          </a:p>
        </p:txBody>
      </p:sp>
      <p:sp>
        <p:nvSpPr>
          <p:cNvPr id="47" name="Rectangle 46"/>
          <p:cNvSpPr/>
          <p:nvPr/>
        </p:nvSpPr>
        <p:spPr>
          <a:xfrm>
            <a:off x="3276523"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901184"/>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Stated Assumptions</a:t>
            </a:r>
          </a:p>
        </p:txBody>
      </p:sp>
      <p:sp>
        <p:nvSpPr>
          <p:cNvPr id="50" name="TextBox 49"/>
          <p:cNvSpPr txBox="1"/>
          <p:nvPr/>
        </p:nvSpPr>
        <p:spPr>
          <a:xfrm>
            <a:off x="3404539" y="5285232"/>
            <a:ext cx="2590723" cy="960120"/>
          </a:xfrm>
          <a:prstGeom prst="rect">
            <a:avLst/>
          </a:prstGeom>
          <a:noFill/>
        </p:spPr>
        <p:txBody>
          <a:bodyPr wrap="square">
            <a:spAutoFit/>
          </a:bodyPr>
          <a:lstStyle/>
          <a:p>
            <a:pPr algn="l"/>
            <a:r>
              <a:rPr sz="950" b="0" i="0">
                <a:solidFill>
                  <a:srgbClr val="3A4356"/>
                </a:solidFill>
              </a:rPr>
              <a:t>Where something isn't known, the AI fills it in and says so — every assumption is on the page.</a:t>
            </a:r>
          </a:p>
        </p:txBody>
      </p:sp>
      <p:sp>
        <p:nvSpPr>
          <p:cNvPr id="51" name="Rectangle 50"/>
          <p:cNvSpPr/>
          <p:nvPr/>
        </p:nvSpPr>
        <p:spPr>
          <a:xfrm>
            <a:off x="6141567"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41567" y="4901184"/>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9583"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Gear Cutting</a:t>
            </a:r>
          </a:p>
        </p:txBody>
      </p:sp>
      <p:sp>
        <p:nvSpPr>
          <p:cNvPr id="54" name="TextBox 53"/>
          <p:cNvSpPr txBox="1"/>
          <p:nvPr/>
        </p:nvSpPr>
        <p:spPr>
          <a:xfrm>
            <a:off x="6269583" y="5285232"/>
            <a:ext cx="2590723" cy="960120"/>
          </a:xfrm>
          <a:prstGeom prst="rect">
            <a:avLst/>
          </a:prstGeom>
          <a:noFill/>
        </p:spPr>
        <p:txBody>
          <a:bodyPr wrap="square">
            <a:spAutoFit/>
          </a:bodyPr>
          <a:lstStyle/>
          <a:p>
            <a:pPr algn="l"/>
            <a:r>
              <a:rPr sz="950" b="0" i="0">
                <a:solidFill>
                  <a:srgbClr val="3A4356"/>
                </a:solidFill>
              </a:rPr>
              <a:t>Hobbing, shaping, skiving and grinding times worked out from the gear itself, not a rule of thumb.</a:t>
            </a:r>
          </a:p>
        </p:txBody>
      </p:sp>
      <p:sp>
        <p:nvSpPr>
          <p:cNvPr id="55" name="Rectangle 54"/>
          <p:cNvSpPr/>
          <p:nvPr/>
        </p:nvSpPr>
        <p:spPr>
          <a:xfrm>
            <a:off x="9006611"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611" y="4901184"/>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627"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Landed Cost</a:t>
            </a:r>
          </a:p>
        </p:txBody>
      </p:sp>
      <p:sp>
        <p:nvSpPr>
          <p:cNvPr id="58" name="TextBox 57"/>
          <p:cNvSpPr txBox="1"/>
          <p:nvPr/>
        </p:nvSpPr>
        <p:spPr>
          <a:xfrm>
            <a:off x="9134627" y="5285232"/>
            <a:ext cx="2590723" cy="960120"/>
          </a:xfrm>
          <a:prstGeom prst="rect">
            <a:avLst/>
          </a:prstGeom>
          <a:noFill/>
        </p:spPr>
        <p:txBody>
          <a:bodyPr wrap="square">
            <a:spAutoFit/>
          </a:bodyPr>
          <a:lstStyle/>
          <a:p>
            <a:pPr algn="l"/>
            <a:r>
              <a:rPr sz="950" b="0" i="0">
                <a:solidFill>
                  <a:srgbClr val="3A4356"/>
                </a:solidFill>
              </a:rPr>
              <a:t>Duty, carbon levy and shipping terms — the cost at our door, not at the supplier's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11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Beyond a Cost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Five tools that turn the estimate into something you can negotiate with.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3A4356"/>
                </a:solidFill>
              </a:rPr>
              <a:t>Cost falls as volume builds. Set the curve, read the cost at any year.
• Quote year-three cost, not prototype cost
• Built for long-term agreements and make-vs-buy</a:t>
            </a:r>
          </a:p>
        </p:txBody>
      </p:sp>
      <p:sp>
        <p:nvSpPr>
          <p:cNvPr id="15" name="Rectangle 14"/>
          <p:cNvSpPr/>
          <p:nvPr/>
        </p:nvSpPr>
        <p:spPr>
          <a:xfrm>
            <a:off x="411480" y="4041648"/>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Assembly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3A4356"/>
                </a:solidFill>
              </a:rPr>
              <a:t>Cost a whole module, not just one part.
• Mix any of the 21 commodities in one build
• Every component keeps its own cost model
• Body + paint + harness + PCBA = one total</a:t>
            </a:r>
          </a:p>
        </p:txBody>
      </p:sp>
      <p:sp>
        <p:nvSpPr>
          <p:cNvPr id="19" name="Rectangle 18"/>
          <p:cNvSpPr/>
          <p:nvPr/>
        </p:nvSpPr>
        <p:spPr>
          <a:xfrm>
            <a:off x="6263640" y="1828800"/>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3A4356"/>
                </a:solidFill>
              </a:rPr>
              <a:t>Log the supplier's quote. Any currency, converted for you.
• Tells you the gap in words: "18% above should-cost"
• Gives you the talking points to open with</a:t>
            </a:r>
          </a:p>
        </p:txBody>
      </p:sp>
      <p:sp>
        <p:nvSpPr>
          <p:cNvPr id="23" name="Rectangle 22"/>
          <p:cNvSpPr/>
          <p:nvPr/>
        </p:nvSpPr>
        <p:spPr>
          <a:xfrm>
            <a:off x="6263640" y="3310128"/>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What Moves the Number</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3A4356"/>
                </a:solidFill>
              </a:rPr>
              <a:t>Every driver flexed ±10%, ranked by impact.
• Shows the few inputs worth checking before you negotiate
• Chart exports straight into your supplier pack</a:t>
            </a:r>
          </a:p>
        </p:txBody>
      </p:sp>
      <p:sp>
        <p:nvSpPr>
          <p:cNvPr id="27" name="Rectangle 26"/>
          <p:cNvSpPr/>
          <p:nvPr/>
        </p:nvSpPr>
        <p:spPr>
          <a:xfrm>
            <a:off x="6263640" y="4791456"/>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Scenarios Side by Side</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3A4356"/>
                </a:solidFill>
              </a:rPr>
              <a:t>Baseline, target and stretch on one screen.
• See exactly where the money moved
• Save and share with the team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DFM / DFA — How to Make the Part Cheaper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Runs after the cost is settled. It reads the result and advises — it never changes the price.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16325C"/>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2E8B57"/>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16325C"/>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B7791F"/>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16325C"/>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2E8B57"/>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50" b="0" i="0">
                <a:solidFill>
                  <a:srgbClr val="6B7280"/>
                </a:solidFill>
              </a:rPr>
              <a:t>Scored out of 10  ·  saving is the top three fixes combined</a:t>
            </a:r>
          </a:p>
        </p:txBody>
      </p:sp>
      <p:sp>
        <p:nvSpPr>
          <p:cNvPr id="19" name="Rectangle 18"/>
          <p:cNvSpPr/>
          <p:nvPr/>
        </p:nvSpPr>
        <p:spPr>
          <a:xfrm>
            <a:off x="411480"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7510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It Finds — Making the Part</a:t>
            </a:r>
          </a:p>
        </p:txBody>
      </p:sp>
      <p:sp>
        <p:nvSpPr>
          <p:cNvPr id="22" name="TextBox 21"/>
          <p:cNvSpPr txBox="1"/>
          <p:nvPr/>
        </p:nvSpPr>
        <p:spPr>
          <a:xfrm>
            <a:off x="539496" y="3127248"/>
            <a:ext cx="5303520" cy="1257300"/>
          </a:xfrm>
          <a:prstGeom prst="rect">
            <a:avLst/>
          </a:prstGeom>
          <a:noFill/>
        </p:spPr>
        <p:txBody>
          <a:bodyPr wrap="square">
            <a:spAutoFit/>
          </a:bodyPr>
          <a:lstStyle/>
          <a:p>
            <a:pPr algn="l"/>
            <a:r>
              <a:rPr sz="950" b="0" i="0">
                <a:solidFill>
                  <a:srgbClr val="3A4356"/>
                </a:solidFill>
              </a:rPr>
              <a:t>Too much material going to scrap.
Machines running well below what they should.
Tooling, overhead or supplier margin out of line.
Each issue graded critical, major or minor.</a:t>
            </a:r>
          </a:p>
        </p:txBody>
      </p:sp>
      <p:sp>
        <p:nvSpPr>
          <p:cNvPr id="23" name="Rectangle 22"/>
          <p:cNvSpPr/>
          <p:nvPr/>
        </p:nvSpPr>
        <p:spPr>
          <a:xfrm>
            <a:off x="6007608"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7510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It Finds — Building It</a:t>
            </a:r>
          </a:p>
        </p:txBody>
      </p:sp>
      <p:sp>
        <p:nvSpPr>
          <p:cNvPr id="26" name="TextBox 25"/>
          <p:cNvSpPr txBox="1"/>
          <p:nvPr/>
        </p:nvSpPr>
        <p:spPr>
          <a:xfrm>
            <a:off x="6135624" y="3127248"/>
            <a:ext cx="5303520" cy="1257300"/>
          </a:xfrm>
          <a:prstGeom prst="rect">
            <a:avLst/>
          </a:prstGeom>
          <a:noFill/>
        </p:spPr>
        <p:txBody>
          <a:bodyPr wrap="square">
            <a:spAutoFit/>
          </a:bodyPr>
          <a:lstStyle/>
          <a:p>
            <a:pPr algn="l"/>
            <a:r>
              <a:rPr sz="950" b="0" i="0">
                <a:solidFill>
                  <a:srgbClr val="3A4356"/>
                </a:solidFill>
              </a:rPr>
              <a:t>Assemblies done by hand that a robot could do.
Too many setups — every one adds cost and variation.
Too many different fasteners, so tools keep changing.</a:t>
            </a:r>
          </a:p>
        </p:txBody>
      </p:sp>
      <p:sp>
        <p:nvSpPr>
          <p:cNvPr id="27" name="Rectangle 26"/>
          <p:cNvSpPr/>
          <p:nvPr/>
        </p:nvSpPr>
        <p:spPr>
          <a:xfrm>
            <a:off x="411480"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040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695444"/>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to Do About It</a:t>
            </a:r>
          </a:p>
        </p:txBody>
      </p:sp>
      <p:sp>
        <p:nvSpPr>
          <p:cNvPr id="30" name="TextBox 29"/>
          <p:cNvSpPr txBox="1"/>
          <p:nvPr/>
        </p:nvSpPr>
        <p:spPr>
          <a:xfrm>
            <a:off x="539496" y="4988052"/>
            <a:ext cx="5303520" cy="1257300"/>
          </a:xfrm>
          <a:prstGeom prst="rect">
            <a:avLst/>
          </a:prstGeom>
          <a:noFill/>
        </p:spPr>
        <p:txBody>
          <a:bodyPr wrap="square">
            <a:spAutoFit/>
          </a:bodyPr>
          <a:lstStyle/>
          <a:p>
            <a:pPr algn="l"/>
            <a:r>
              <a:rPr sz="950" b="0" i="0">
                <a:solidFill>
                  <a:srgbClr val="3A4356"/>
                </a:solidFill>
              </a:rPr>
              <a:t>Six to eight actions per part, with the saving on each:
Automate the manual operations   5–20%
Move to a near-net shape   5–15%
Raise machine uptime   5–12%
Plus quick wins: more volume, open-book overhead, re-bid.</a:t>
            </a:r>
          </a:p>
        </p:txBody>
      </p:sp>
      <p:sp>
        <p:nvSpPr>
          <p:cNvPr id="31" name="Rectangle 30"/>
          <p:cNvSpPr/>
          <p:nvPr/>
        </p:nvSpPr>
        <p:spPr>
          <a:xfrm>
            <a:off x="6007608"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04004"/>
            <a:ext cx="54864" cy="17510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695444"/>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Ask the AI to Go Deeper</a:t>
            </a:r>
          </a:p>
        </p:txBody>
      </p:sp>
      <p:sp>
        <p:nvSpPr>
          <p:cNvPr id="34" name="TextBox 33"/>
          <p:cNvSpPr txBox="1"/>
          <p:nvPr/>
        </p:nvSpPr>
        <p:spPr>
          <a:xfrm>
            <a:off x="6135624" y="4988052"/>
            <a:ext cx="5303520" cy="1257300"/>
          </a:xfrm>
          <a:prstGeom prst="rect">
            <a:avLst/>
          </a:prstGeom>
          <a:noFill/>
        </p:spPr>
        <p:txBody>
          <a:bodyPr wrap="square">
            <a:spAutoFit/>
          </a:bodyPr>
          <a:lstStyle/>
          <a:p>
            <a:pPr algn="l"/>
            <a:r>
              <a:rPr sz="950" b="0" i="0">
                <a:solidFill>
                  <a:srgbClr val="3A4356"/>
                </a:solidFill>
              </a:rPr>
              <a:t>One click, after the rule-based findings are on screen.
Why the cost sits where it does.
The three things to fix first.
What to say to the supplier, and a different process to consider.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16325C"/>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FFFFFF"/>
                          </a:solidFill>
                        </a:rPr>
                        <a:t>Region</a:t>
                      </a:r>
                    </a:p>
                  </a:txBody>
                  <a:tcPr>
                    <a:solidFill>
                      <a:srgbClr val="16325C"/>
                    </a:solidFill>
                  </a:tcPr>
                </a:tc>
                <a:tc>
                  <a:txBody>
                    <a:bodyPr/>
                    <a:lstStyle/>
                    <a:p>
                      <a:pPr algn="l"/>
                      <a:r>
                        <a:rPr sz="750" b="1">
                          <a:solidFill>
                            <a:srgbClr val="FFFFFF"/>
                          </a:solidFill>
                        </a:rPr>
                        <a:t>Currency</a:t>
                      </a:r>
                    </a:p>
                  </a:txBody>
                  <a:tcPr>
                    <a:solidFill>
                      <a:srgbClr val="16325C"/>
                    </a:solidFill>
                  </a:tcPr>
                </a:tc>
                <a:tc>
                  <a:txBody>
                    <a:bodyPr/>
                    <a:lstStyle/>
                    <a:p>
                      <a:pPr algn="l"/>
                      <a:r>
                        <a:rPr sz="750" b="1">
                          <a:solidFill>
                            <a:srgbClr val="FFFFFF"/>
                          </a:solidFill>
                        </a:rPr>
                        <a:t>Sample Labour Rate</a:t>
                      </a:r>
                    </a:p>
                  </a:txBody>
                  <a:tcPr>
                    <a:solidFill>
                      <a:srgbClr val="16325C"/>
                    </a:solidFill>
                  </a:tcPr>
                </a:tc>
                <a:tc>
                  <a:txBody>
                    <a:bodyPr/>
                    <a:lstStyle/>
                    <a:p>
                      <a:pPr algn="l"/>
                      <a:r>
                        <a:rPr sz="750" b="1">
                          <a:solidFill>
                            <a:srgbClr val="FFFFFF"/>
                          </a:solidFill>
                        </a:rPr>
                        <a:t>Position</a:t>
                      </a:r>
                    </a:p>
                  </a:txBody>
                  <a:tcPr>
                    <a:solidFill>
                      <a:srgbClr val="16325C"/>
                    </a:solidFill>
                  </a:tcPr>
                </a:tc>
              </a:tr>
              <a:tr h="316523">
                <a:tc>
                  <a:txBody>
                    <a:bodyPr/>
                    <a:lstStyle/>
                    <a:p>
                      <a:pPr algn="l"/>
                      <a:r>
                        <a:rPr sz="750" b="1">
                          <a:solidFill>
                            <a:srgbClr val="1D6FB8"/>
                          </a:solidFill>
                        </a:rPr>
                        <a:t>🇬🇧 UK</a:t>
                      </a:r>
                    </a:p>
                  </a:txBody>
                  <a:tcPr>
                    <a:solidFill>
                      <a:srgbClr val="FFFFFF"/>
                    </a:solidFill>
                  </a:tcPr>
                </a:tc>
                <a:tc>
                  <a:txBody>
                    <a:bodyPr/>
                    <a:lstStyle/>
                    <a:p>
                      <a:pPr algn="l"/>
                      <a:r>
                        <a:rPr sz="750">
                          <a:solidFill>
                            <a:srgbClr val="3A4356"/>
                          </a:solidFill>
                        </a:rPr>
                        <a:t>GBP £</a:t>
                      </a:r>
                    </a:p>
                  </a:txBody>
                  <a:tcPr>
                    <a:solidFill>
                      <a:srgbClr val="FFFFFF"/>
                    </a:solidFill>
                  </a:tcPr>
                </a:tc>
                <a:tc>
                  <a:txBody>
                    <a:bodyPr/>
                    <a:lstStyle/>
                    <a:p>
                      <a:pPr algn="l"/>
                      <a:r>
                        <a:rPr sz="750">
                          <a:solidFill>
                            <a:srgbClr val="3A4356"/>
                          </a:solidFill>
                        </a:rPr>
                        <a:t>Skilled £26/hr</a:t>
                      </a:r>
                    </a:p>
                  </a:txBody>
                  <a:tcPr>
                    <a:solidFill>
                      <a:srgbClr val="FFFFFF"/>
                    </a:solidFill>
                  </a:tcPr>
                </a:tc>
                <a:tc>
                  <a:txBody>
                    <a:bodyPr/>
                    <a:lstStyle/>
                    <a:p>
                      <a:pPr algn="l"/>
                      <a:r>
                        <a:rPr sz="750" b="1">
                          <a:solidFill>
                            <a:srgbClr val="2E8B57"/>
                          </a:solidFill>
                        </a:rPr>
                        <a:t>Industry / Aerospace baseline</a:t>
                      </a:r>
                    </a:p>
                  </a:txBody>
                  <a:tcPr>
                    <a:solidFill>
                      <a:srgbClr val="FFFFFF"/>
                    </a:solidFill>
                  </a:tcPr>
                </a:tc>
              </a:tr>
              <a:tr h="316523">
                <a:tc>
                  <a:txBody>
                    <a:bodyPr/>
                    <a:lstStyle/>
                    <a:p>
                      <a:pPr algn="l"/>
                      <a:r>
                        <a:rPr sz="750" b="1">
                          <a:solidFill>
                            <a:srgbClr val="1D6FB8"/>
                          </a:solidFill>
                        </a:rPr>
                        <a:t>🇩🇪 Germany</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E8B57"/>
                          </a:solidFill>
                        </a:rPr>
                        <a:t>Premium, high automation</a:t>
                      </a:r>
                    </a:p>
                  </a:txBody>
                  <a:tcPr>
                    <a:solidFill>
                      <a:srgbClr val="F7F9FC"/>
                    </a:solidFill>
                  </a:tcPr>
                </a:tc>
              </a:tr>
              <a:tr h="316523">
                <a:tc>
                  <a:txBody>
                    <a:bodyPr/>
                    <a:lstStyle/>
                    <a:p>
                      <a:pPr algn="l"/>
                      <a:r>
                        <a:rPr sz="750" b="1">
                          <a:solidFill>
                            <a:srgbClr val="1D6FB8"/>
                          </a:solidFill>
                        </a:rPr>
                        <a:t>🇵🇱 Poland</a:t>
                      </a:r>
                    </a:p>
                  </a:txBody>
                  <a:tcPr>
                    <a:solidFill>
                      <a:srgbClr val="FFFFFF"/>
                    </a:solidFill>
                  </a:tcPr>
                </a:tc>
                <a:tc>
                  <a:txBody>
                    <a:bodyPr/>
                    <a:lstStyle/>
                    <a:p>
                      <a:pPr algn="l"/>
                      <a:r>
                        <a:rPr sz="750">
                          <a:solidFill>
                            <a:srgbClr val="3A4356"/>
                          </a:solidFill>
                        </a:rPr>
                        <a:t>EUR €</a:t>
                      </a:r>
                    </a:p>
                  </a:txBody>
                  <a:tcPr>
                    <a:solidFill>
                      <a:srgbClr val="FFFFFF"/>
                    </a:solidFill>
                  </a:tcPr>
                </a:tc>
                <a:tc>
                  <a:txBody>
                    <a:bodyPr/>
                    <a:lstStyle/>
                    <a:p>
                      <a:pPr algn="l"/>
                      <a:r>
                        <a:rPr sz="750">
                          <a:solidFill>
                            <a:srgbClr val="3A4356"/>
                          </a:solidFill>
                        </a:rPr>
                        <a:t>Skilled €11/hr</a:t>
                      </a:r>
                    </a:p>
                  </a:txBody>
                  <a:tcPr>
                    <a:solidFill>
                      <a:srgbClr val="FFFFFF"/>
                    </a:solidFill>
                  </a:tcPr>
                </a:tc>
                <a:tc>
                  <a:txBody>
                    <a:bodyPr/>
                    <a:lstStyle/>
                    <a:p>
                      <a:pPr algn="l"/>
                      <a:r>
                        <a:rPr sz="750" b="1">
                          <a:solidFill>
                            <a:srgbClr val="2E8B57"/>
                          </a:solidFill>
                        </a:rPr>
                        <a:t>Low-cost EU option</a:t>
                      </a:r>
                    </a:p>
                  </a:txBody>
                  <a:tcPr>
                    <a:solidFill>
                      <a:srgbClr val="FFFFFF"/>
                    </a:solidFill>
                  </a:tcPr>
                </a:tc>
              </a:tr>
              <a:tr h="316523">
                <a:tc>
                  <a:txBody>
                    <a:bodyPr/>
                    <a:lstStyle/>
                    <a:p>
                      <a:pPr algn="l"/>
                      <a:r>
                        <a:rPr sz="750" b="1">
                          <a:solidFill>
                            <a:srgbClr val="1D6FB8"/>
                          </a:solidFill>
                        </a:rPr>
                        <a:t>🇷🇴 Romania</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€7/hr</a:t>
                      </a:r>
                    </a:p>
                  </a:txBody>
                  <a:tcPr>
                    <a:solidFill>
                      <a:srgbClr val="F7F9FC"/>
                    </a:solidFill>
                  </a:tcPr>
                </a:tc>
                <a:tc>
                  <a:txBody>
                    <a:bodyPr/>
                    <a:lstStyle/>
                    <a:p>
                      <a:pPr algn="l"/>
                      <a:r>
                        <a:rPr sz="750" b="1">
                          <a:solidFill>
                            <a:srgbClr val="2E8B57"/>
                          </a:solidFill>
                        </a:rPr>
                        <a:t>Ultra-low EU labour</a:t>
                      </a:r>
                    </a:p>
                  </a:txBody>
                  <a:tcPr>
                    <a:solidFill>
                      <a:srgbClr val="F7F9FC"/>
                    </a:solidFill>
                  </a:tcPr>
                </a:tc>
              </a:tr>
              <a:tr h="316523">
                <a:tc>
                  <a:txBody>
                    <a:bodyPr/>
                    <a:lstStyle/>
                    <a:p>
                      <a:pPr algn="l"/>
                      <a:r>
                        <a:rPr sz="750" b="1">
                          <a:solidFill>
                            <a:srgbClr val="1D6FB8"/>
                          </a:solidFill>
                        </a:rPr>
                        <a:t>🇨🇳 China</a:t>
                      </a:r>
                    </a:p>
                  </a:txBody>
                  <a:tcPr>
                    <a:solidFill>
                      <a:srgbClr val="FFFFFF"/>
                    </a:solidFill>
                  </a:tcPr>
                </a:tc>
                <a:tc>
                  <a:txBody>
                    <a:bodyPr/>
                    <a:lstStyle/>
                    <a:p>
                      <a:pPr algn="l"/>
                      <a:r>
                        <a:rPr sz="750">
                          <a:solidFill>
                            <a:srgbClr val="3A4356"/>
                          </a:solidFill>
                        </a:rPr>
                        <a:t>CNY ¥</a:t>
                      </a:r>
                    </a:p>
                  </a:txBody>
                  <a:tcPr>
                    <a:solidFill>
                      <a:srgbClr val="FFFFFF"/>
                    </a:solidFill>
                  </a:tcPr>
                </a:tc>
                <a:tc>
                  <a:txBody>
                    <a:bodyPr/>
                    <a:lstStyle/>
                    <a:p>
                      <a:pPr algn="l"/>
                      <a:r>
                        <a:rPr sz="750">
                          <a:solidFill>
                            <a:srgbClr val="3A4356"/>
                          </a:solidFill>
                        </a:rPr>
                        <a:t>Skilled ¥28/hr</a:t>
                      </a:r>
                    </a:p>
                  </a:txBody>
                  <a:tcPr>
                    <a:solidFill>
                      <a:srgbClr val="FFFFFF"/>
                    </a:solidFill>
                  </a:tcPr>
                </a:tc>
                <a:tc>
                  <a:txBody>
                    <a:bodyPr/>
                    <a:lstStyle/>
                    <a:p>
                      <a:pPr algn="l"/>
                      <a:r>
                        <a:rPr sz="750" b="1">
                          <a:solidFill>
                            <a:srgbClr val="2E8B57"/>
                          </a:solidFill>
                        </a:rPr>
                        <a:t>Global volume manufacturing</a:t>
                      </a:r>
                    </a:p>
                  </a:txBody>
                  <a:tcPr>
                    <a:solidFill>
                      <a:srgbClr val="FFFFFF"/>
                    </a:solidFill>
                  </a:tcPr>
                </a:tc>
              </a:tr>
              <a:tr h="316523">
                <a:tc>
                  <a:txBody>
                    <a:bodyPr/>
                    <a:lstStyle/>
                    <a:p>
                      <a:pPr algn="l"/>
                      <a:r>
                        <a:rPr sz="750" b="1">
                          <a:solidFill>
                            <a:srgbClr val="1D6FB8"/>
                          </a:solidFill>
                        </a:rPr>
                        <a:t>🇮🇳 India</a:t>
                      </a:r>
                    </a:p>
                  </a:txBody>
                  <a:tcPr>
                    <a:solidFill>
                      <a:srgbClr val="F7F9FC"/>
                    </a:solidFill>
                  </a:tcPr>
                </a:tc>
                <a:tc>
                  <a:txBody>
                    <a:bodyPr/>
                    <a:lstStyle/>
                    <a:p>
                      <a:pPr algn="l"/>
                      <a:r>
                        <a:rPr sz="750">
                          <a:solidFill>
                            <a:srgbClr val="3A4356"/>
                          </a:solidFill>
                        </a:rPr>
                        <a:t>INR ₹</a:t>
                      </a:r>
                    </a:p>
                  </a:txBody>
                  <a:tcPr>
                    <a:solidFill>
                      <a:srgbClr val="F7F9FC"/>
                    </a:solidFill>
                  </a:tcPr>
                </a:tc>
                <a:tc>
                  <a:txBody>
                    <a:bodyPr/>
                    <a:lstStyle/>
                    <a:p>
                      <a:pPr algn="l"/>
                      <a:r>
                        <a:rPr sz="750">
                          <a:solidFill>
                            <a:srgbClr val="3A4356"/>
                          </a:solidFill>
                        </a:rPr>
                        <a:t>Skilled ₹320/hr</a:t>
                      </a:r>
                    </a:p>
                  </a:txBody>
                  <a:tcPr>
                    <a:solidFill>
                      <a:srgbClr val="F7F9FC"/>
                    </a:solidFill>
                  </a:tcPr>
                </a:tc>
                <a:tc>
                  <a:txBody>
                    <a:bodyPr/>
                    <a:lstStyle/>
                    <a:p>
                      <a:pPr algn="l"/>
                      <a:r>
                        <a:rPr sz="750" b="1">
                          <a:solidFill>
                            <a:srgbClr val="2E8B57"/>
                          </a:solidFill>
                        </a:rPr>
                        <a:t>Engineering &amp; electronics hub</a:t>
                      </a:r>
                    </a:p>
                  </a:txBody>
                  <a:tcPr>
                    <a:solidFill>
                      <a:srgbClr val="F7F9FC"/>
                    </a:solidFill>
                  </a:tcPr>
                </a:tc>
              </a:tr>
              <a:tr h="316523">
                <a:tc>
                  <a:txBody>
                    <a:bodyPr/>
                    <a:lstStyle/>
                    <a:p>
                      <a:pPr algn="l"/>
                      <a:r>
                        <a:rPr sz="750" b="1">
                          <a:solidFill>
                            <a:srgbClr val="1D6FB8"/>
                          </a:solidFill>
                        </a:rPr>
                        <a:t>🇲🇽 Mexico</a:t>
                      </a:r>
                    </a:p>
                  </a:txBody>
                  <a:tcPr>
                    <a:solidFill>
                      <a:srgbClr val="FFFFFF"/>
                    </a:solidFill>
                  </a:tcPr>
                </a:tc>
                <a:tc>
                  <a:txBody>
                    <a:bodyPr/>
                    <a:lstStyle/>
                    <a:p>
                      <a:pPr algn="l"/>
                      <a:r>
                        <a:rPr sz="750">
                          <a:solidFill>
                            <a:srgbClr val="3A4356"/>
                          </a:solidFill>
                        </a:rPr>
                        <a:t>MXN $</a:t>
                      </a:r>
                    </a:p>
                  </a:txBody>
                  <a:tcPr>
                    <a:solidFill>
                      <a:srgbClr val="FFFFFF"/>
                    </a:solidFill>
                  </a:tcPr>
                </a:tc>
                <a:tc>
                  <a:txBody>
                    <a:bodyPr/>
                    <a:lstStyle/>
                    <a:p>
                      <a:pPr algn="l"/>
                      <a:r>
                        <a:rPr sz="750">
                          <a:solidFill>
                            <a:srgbClr val="3A4356"/>
                          </a:solidFill>
                        </a:rPr>
                        <a:t>Skilled MXN82/hr</a:t>
                      </a:r>
                    </a:p>
                  </a:txBody>
                  <a:tcPr>
                    <a:solidFill>
                      <a:srgbClr val="FFFFFF"/>
                    </a:solidFill>
                  </a:tcPr>
                </a:tc>
                <a:tc>
                  <a:txBody>
                    <a:bodyPr/>
                    <a:lstStyle/>
                    <a:p>
                      <a:pPr algn="l"/>
                      <a:r>
                        <a:rPr sz="750" b="1">
                          <a:solidFill>
                            <a:srgbClr val="2E8B57"/>
                          </a:solidFill>
                        </a:rPr>
                        <a:t>Near-shore for North America</a:t>
                      </a:r>
                    </a:p>
                  </a:txBody>
                  <a:tcPr>
                    <a:solidFill>
                      <a:srgbClr val="FFFFFF"/>
                    </a:solidFill>
                  </a:tcPr>
                </a:tc>
              </a:tr>
              <a:tr h="316523">
                <a:tc>
                  <a:txBody>
                    <a:bodyPr/>
                    <a:lstStyle/>
                    <a:p>
                      <a:pPr algn="l"/>
                      <a:r>
                        <a:rPr sz="750" b="1">
                          <a:solidFill>
                            <a:srgbClr val="1D6FB8"/>
                          </a:solidFill>
                        </a:rPr>
                        <a:t>🇺🇸 USA</a:t>
                      </a:r>
                    </a:p>
                  </a:txBody>
                  <a:tcPr>
                    <a:solidFill>
                      <a:srgbClr val="F7F9FC"/>
                    </a:solidFill>
                  </a:tcPr>
                </a:tc>
                <a:tc>
                  <a:txBody>
                    <a:bodyPr/>
                    <a:lstStyle/>
                    <a:p>
                      <a:pPr algn="l"/>
                      <a:r>
                        <a:rPr sz="750">
                          <a:solidFill>
                            <a:srgbClr val="3A4356"/>
                          </a:solidFill>
                        </a:rPr>
                        <a:t>USD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E8B57"/>
                          </a:solidFill>
                        </a:rPr>
                        <a:t>Premium North American rates</a:t>
                      </a:r>
                    </a:p>
                  </a:txBody>
                  <a:tcPr>
                    <a:solidFill>
                      <a:srgbClr val="F7F9FC"/>
                    </a:solidFill>
                  </a:tcPr>
                </a:tc>
              </a:tr>
              <a:tr h="316523">
                <a:tc>
                  <a:txBody>
                    <a:bodyPr/>
                    <a:lstStyle/>
                    <a:p>
                      <a:pPr algn="l"/>
                      <a:r>
                        <a:rPr sz="750" b="1">
                          <a:solidFill>
                            <a:srgbClr val="1D6FB8"/>
                          </a:solidFill>
                        </a:rPr>
                        <a:t>🇹🇭 Thailand</a:t>
                      </a:r>
                    </a:p>
                  </a:txBody>
                  <a:tcPr>
                    <a:solidFill>
                      <a:srgbClr val="FFFFFF"/>
                    </a:solidFill>
                  </a:tcPr>
                </a:tc>
                <a:tc>
                  <a:txBody>
                    <a:bodyPr/>
                    <a:lstStyle/>
                    <a:p>
                      <a:pPr algn="l"/>
                      <a:r>
                        <a:rPr sz="750">
                          <a:solidFill>
                            <a:srgbClr val="3A4356"/>
                          </a:solidFill>
                        </a:rPr>
                        <a:t>THB ฿</a:t>
                      </a:r>
                    </a:p>
                  </a:txBody>
                  <a:tcPr>
                    <a:solidFill>
                      <a:srgbClr val="FFFFFF"/>
                    </a:solidFill>
                  </a:tcPr>
                </a:tc>
                <a:tc>
                  <a:txBody>
                    <a:bodyPr/>
                    <a:lstStyle/>
                    <a:p>
                      <a:pPr algn="l"/>
                      <a:r>
                        <a:rPr sz="750">
                          <a:solidFill>
                            <a:srgbClr val="3A4356"/>
                          </a:solidFill>
                        </a:rPr>
                        <a:t>Skilled ฿180/hr</a:t>
                      </a:r>
                    </a:p>
                  </a:txBody>
                  <a:tcPr>
                    <a:solidFill>
                      <a:srgbClr val="FFFFFF"/>
                    </a:solidFill>
                  </a:tcPr>
                </a:tc>
                <a:tc>
                  <a:txBody>
                    <a:bodyPr/>
                    <a:lstStyle/>
                    <a:p>
                      <a:pPr algn="l"/>
                      <a:r>
                        <a:rPr sz="750" b="1">
                          <a:solidFill>
                            <a:srgbClr val="2E8B57"/>
                          </a:solidFill>
                        </a:rPr>
                        <a:t>Electronics &amp; automotive</a:t>
                      </a:r>
                    </a:p>
                  </a:txBody>
                  <a:tcPr>
                    <a:solidFill>
                      <a:srgbClr val="FFFFFF"/>
                    </a:solidFill>
                  </a:tcPr>
                </a:tc>
              </a:tr>
              <a:tr h="316523">
                <a:tc>
                  <a:txBody>
                    <a:bodyPr/>
                    <a:lstStyle/>
                    <a:p>
                      <a:pPr algn="l"/>
                      <a:r>
                        <a:rPr sz="750" b="1">
                          <a:solidFill>
                            <a:srgbClr val="1D6FB8"/>
                          </a:solidFill>
                        </a:rPr>
                        <a:t>🇻🇳 Vietnam</a:t>
                      </a:r>
                    </a:p>
                  </a:txBody>
                  <a:tcPr>
                    <a:solidFill>
                      <a:srgbClr val="F7F9FC"/>
                    </a:solidFill>
                  </a:tcPr>
                </a:tc>
                <a:tc>
                  <a:txBody>
                    <a:bodyPr/>
                    <a:lstStyle/>
                    <a:p>
                      <a:pPr algn="l"/>
                      <a:r>
                        <a:rPr sz="750">
                          <a:solidFill>
                            <a:srgbClr val="3A4356"/>
                          </a:solidFill>
                        </a:rPr>
                        <a:t>VND ₫</a:t>
                      </a:r>
                    </a:p>
                  </a:txBody>
                  <a:tcPr>
                    <a:solidFill>
                      <a:srgbClr val="F7F9FC"/>
                    </a:solidFill>
                  </a:tcPr>
                </a:tc>
                <a:tc>
                  <a:txBody>
                    <a:bodyPr/>
                    <a:lstStyle/>
                    <a:p>
                      <a:pPr algn="l"/>
                      <a:r>
                        <a:rPr sz="750">
                          <a:solidFill>
                            <a:srgbClr val="3A4356"/>
                          </a:solidFill>
                        </a:rPr>
                        <a:t>Skilled ₫52k/hr</a:t>
                      </a:r>
                    </a:p>
                  </a:txBody>
                  <a:tcPr>
                    <a:solidFill>
                      <a:srgbClr val="F7F9FC"/>
                    </a:solidFill>
                  </a:tcPr>
                </a:tc>
                <a:tc>
                  <a:txBody>
                    <a:bodyPr/>
                    <a:lstStyle/>
                    <a:p>
                      <a:pPr algn="l"/>
                      <a:r>
                        <a:rPr sz="750" b="1">
                          <a:solidFill>
                            <a:srgbClr val="2E8B57"/>
                          </a:solidFill>
                        </a:rPr>
                        <a:t>Lowest-cost electronics hub</a:t>
                      </a:r>
                    </a:p>
                  </a:txBody>
                  <a:tcPr>
                    <a:solidFill>
                      <a:srgbClr val="F7F9FC"/>
                    </a:solidFill>
                  </a:tcPr>
                </a:tc>
              </a:tr>
              <a:tr h="316523">
                <a:tc>
                  <a:txBody>
                    <a:bodyPr/>
                    <a:lstStyle/>
                    <a:p>
                      <a:pPr algn="l"/>
                      <a:r>
                        <a:rPr sz="750" b="1">
                          <a:solidFill>
                            <a:srgbClr val="1D6FB8"/>
                          </a:solidFill>
                        </a:rPr>
                        <a:t>🇧🇷 Brazil</a:t>
                      </a:r>
                    </a:p>
                  </a:txBody>
                  <a:tcPr>
                    <a:solidFill>
                      <a:srgbClr val="FFFFFF"/>
                    </a:solidFill>
                  </a:tcPr>
                </a:tc>
                <a:tc>
                  <a:txBody>
                    <a:bodyPr/>
                    <a:lstStyle/>
                    <a:p>
                      <a:pPr algn="l"/>
                      <a:r>
                        <a:rPr sz="750">
                          <a:solidFill>
                            <a:srgbClr val="3A4356"/>
                          </a:solidFill>
                        </a:rPr>
                        <a:t>BRL R$</a:t>
                      </a:r>
                    </a:p>
                  </a:txBody>
                  <a:tcPr>
                    <a:solidFill>
                      <a:srgbClr val="FFFFFF"/>
                    </a:solidFill>
                  </a:tcPr>
                </a:tc>
                <a:tc>
                  <a:txBody>
                    <a:bodyPr/>
                    <a:lstStyle/>
                    <a:p>
                      <a:pPr algn="l"/>
                      <a:r>
                        <a:rPr sz="750">
                          <a:solidFill>
                            <a:srgbClr val="3A4356"/>
                          </a:solidFill>
                        </a:rPr>
                        <a:t>Skilled R$22/hr</a:t>
                      </a:r>
                    </a:p>
                  </a:txBody>
                  <a:tcPr>
                    <a:solidFill>
                      <a:srgbClr val="FFFFFF"/>
                    </a:solidFill>
                  </a:tcPr>
                </a:tc>
                <a:tc>
                  <a:txBody>
                    <a:bodyPr/>
                    <a:lstStyle/>
                    <a:p>
                      <a:pPr algn="l"/>
                      <a:r>
                        <a:rPr sz="750" b="1">
                          <a:solidFill>
                            <a:srgbClr val="2E8B57"/>
                          </a:solidFill>
                        </a:rPr>
                        <a:t>South America manufacturing</a:t>
                      </a:r>
                    </a:p>
                  </a:txBody>
                  <a:tcPr>
                    <a:solidFill>
                      <a:srgbClr val="FFFFFF"/>
                    </a:solidFill>
                  </a:tcPr>
                </a:tc>
              </a:tr>
              <a:tr h="316524">
                <a:tc>
                  <a:txBody>
                    <a:bodyPr/>
                    <a:lstStyle/>
                    <a:p>
                      <a:pPr algn="l"/>
                      <a:r>
                        <a:rPr sz="750" b="1">
                          <a:solidFill>
                            <a:srgbClr val="1D6FB8"/>
                          </a:solidFill>
                        </a:rPr>
                        <a:t>🇰🇷 S. Korea</a:t>
                      </a:r>
                    </a:p>
                  </a:txBody>
                  <a:tcPr>
                    <a:solidFill>
                      <a:srgbClr val="F7F9FC"/>
                    </a:solidFill>
                  </a:tcPr>
                </a:tc>
                <a:tc>
                  <a:txBody>
                    <a:bodyPr/>
                    <a:lstStyle/>
                    <a:p>
                      <a:pPr algn="l"/>
                      <a:r>
                        <a:rPr sz="750">
                          <a:solidFill>
                            <a:srgbClr val="3A4356"/>
                          </a:solidFill>
                        </a:rPr>
                        <a:t>KRW ₩</a:t>
                      </a:r>
                    </a:p>
                  </a:txBody>
                  <a:tcPr>
                    <a:solidFill>
                      <a:srgbClr val="F7F9FC"/>
                    </a:solidFill>
                  </a:tcPr>
                </a:tc>
                <a:tc>
                  <a:txBody>
                    <a:bodyPr/>
                    <a:lstStyle/>
                    <a:p>
                      <a:pPr algn="l"/>
                      <a:r>
                        <a:rPr sz="750">
                          <a:solidFill>
                            <a:srgbClr val="3A4356"/>
                          </a:solidFill>
                        </a:rPr>
                        <a:t>Skilled ₩22k/hr</a:t>
                      </a:r>
                    </a:p>
                  </a:txBody>
                  <a:tcPr>
                    <a:solidFill>
                      <a:srgbClr val="F7F9FC"/>
                    </a:solidFill>
                  </a:tcPr>
                </a:tc>
                <a:tc>
                  <a:txBody>
                    <a:bodyPr/>
                    <a:lstStyle/>
                    <a:p>
                      <a:pPr algn="l"/>
                      <a:r>
                        <a:rPr sz="750" b="1">
                          <a:solidFill>
                            <a:srgbClr val="2E8B57"/>
                          </a:solidFill>
                        </a:rPr>
                        <a:t>Electronics &amp; automotive</a:t>
                      </a:r>
                    </a:p>
                  </a:txBody>
                  <a:tcPr>
                    <a:solidFill>
                      <a:srgbClr val="F7F9FC"/>
                    </a:solidFill>
                  </a:tcPr>
                </a:tc>
              </a:tr>
            </a:tbl>
          </a:graphicData>
        </a:graphic>
      </p:graphicFrame>
      <p:sp>
        <p:nvSpPr>
          <p:cNvPr id="14" name="Rectangle 13"/>
          <p:cNvSpPr/>
          <p:nvPr/>
        </p:nvSpPr>
        <p:spPr>
          <a:xfrm>
            <a:off x="7498079" y="1810512"/>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16325C"/>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3A4356"/>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16325C"/>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3A4356"/>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16325C"/>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3A4356"/>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16325C"/>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3A4356"/>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1D6FB8"/>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3A4356"/>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16325C"/>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3A4356"/>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16325C"/>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3A4356"/>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16325C"/>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3A4356"/>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16325C"/>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3A4356"/>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6B3FA0"/>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3A4356"/>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16325C"/>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3A4356"/>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16325C"/>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3A4356"/>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16325C"/>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3A4356"/>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16325C"/>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3A4356"/>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FFFFFF"/>
          </a:solidFill>
          <a:ln w="762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3A4356"/>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It re-checks every estimate before you see it, and it learns from the quotes you have already had.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3A4356"/>
                </a:solidFill>
              </a:rPr>
              <a:t>Every estimate is re-checked against the mistakes this tool has actually made before — wrong process, impossible machining time, a weight that disagrees with the CAD. It corrects them and shows its working. The measured geometry always wins over the AI.</a:t>
            </a:r>
          </a:p>
        </p:txBody>
      </p:sp>
      <p:sp>
        <p:nvSpPr>
          <p:cNvPr id="15" name="Rectangle 14"/>
          <p:cNvSpPr/>
          <p:nvPr/>
        </p:nvSpPr>
        <p:spPr>
          <a:xfrm>
            <a:off x="411480" y="3310128"/>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learns from your quotes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3A4356"/>
                </a:solidFill>
              </a:rPr>
              <a:t>Load the supplier quotes you already have. The engine corrects itself against them, and the estimate gets tighter as your history grows. Every estimate now says how well calibrated it is.</a:t>
            </a:r>
          </a:p>
        </p:txBody>
      </p:sp>
      <p:sp>
        <p:nvSpPr>
          <p:cNvPr id="19" name="Rectangle 18"/>
          <p:cNvSpPr/>
          <p:nvPr/>
        </p:nvSpPr>
        <p:spPr>
          <a:xfrm>
            <a:off x="411480" y="4791456"/>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picks the right machine</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3A4356"/>
                </a:solidFill>
              </a:rPr>
              <a:t>One rule now sizes the machine for the part on every commodity — presses, die-casting, moulding, extrusion — instead of a fixed guess per commodity.</a:t>
            </a:r>
          </a:p>
        </p:txBody>
      </p:sp>
      <p:sp>
        <p:nvSpPr>
          <p:cNvPr id="23" name="Rectangle 22"/>
          <p:cNvSpPr/>
          <p:nvPr/>
        </p:nvSpPr>
        <p:spPr>
          <a:xfrm>
            <a:off x="5806440" y="1828800"/>
            <a:ext cx="5989320"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2E8B57"/>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3A4356"/>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FFFFFF"/>
                          </a:solidFill>
                        </a:rPr>
                        <a:t>Real Part</a:t>
                      </a:r>
                    </a:p>
                  </a:txBody>
                  <a:tcPr>
                    <a:solidFill>
                      <a:srgbClr val="16325C"/>
                    </a:solidFill>
                  </a:tcPr>
                </a:tc>
                <a:tc>
                  <a:txBody>
                    <a:bodyPr/>
                    <a:lstStyle/>
                    <a:p>
                      <a:pPr algn="l"/>
                      <a:r>
                        <a:rPr sz="750" b="1">
                          <a:solidFill>
                            <a:srgbClr val="FFFFFF"/>
                          </a:solidFill>
                        </a:rPr>
                        <a:t>AI First Pass</a:t>
                      </a:r>
                    </a:p>
                  </a:txBody>
                  <a:tcPr>
                    <a:solidFill>
                      <a:srgbClr val="16325C"/>
                    </a:solidFill>
                  </a:tcPr>
                </a:tc>
                <a:tc>
                  <a:txBody>
                    <a:bodyPr/>
                    <a:lstStyle/>
                    <a:p>
                      <a:pPr algn="l"/>
                      <a:r>
                        <a:rPr sz="750" b="1">
                          <a:solidFill>
                            <a:srgbClr val="FFFFFF"/>
                          </a:solidFill>
                        </a:rPr>
                        <a:t>What Was Wrong</a:t>
                      </a:r>
                    </a:p>
                  </a:txBody>
                  <a:tcPr>
                    <a:solidFill>
                      <a:srgbClr val="16325C"/>
                    </a:solidFill>
                  </a:tcPr>
                </a:tc>
                <a:tc>
                  <a:txBody>
                    <a:bodyPr/>
                    <a:lstStyle/>
                    <a:p>
                      <a:pPr algn="l"/>
                      <a:r>
                        <a:rPr sz="750" b="1">
                          <a:solidFill>
                            <a:srgbClr val="FFFFFF"/>
                          </a:solidFill>
                        </a:rPr>
                        <a:t>Corrected</a:t>
                      </a:r>
                    </a:p>
                  </a:txBody>
                  <a:tcPr>
                    <a:solidFill>
                      <a:srgbClr val="16325C"/>
                    </a:solidFill>
                  </a:tcPr>
                </a:tc>
              </a:tr>
              <a:tr h="388620">
                <a:tc>
                  <a:txBody>
                    <a:bodyPr/>
                    <a:lstStyle/>
                    <a:p>
                      <a:pPr algn="l"/>
                      <a:r>
                        <a:rPr sz="750" b="1">
                          <a:solidFill>
                            <a:srgbClr val="1D6FB8"/>
                          </a:solidFill>
                        </a:rPr>
                        <a:t>Fuel tank</a:t>
                      </a:r>
                    </a:p>
                  </a:txBody>
                  <a:tcPr>
                    <a:solidFill>
                      <a:srgbClr val="FFFFFF"/>
                    </a:solidFill>
                  </a:tcPr>
                </a:tc>
                <a:tc>
                  <a:txBody>
                    <a:bodyPr/>
                    <a:lstStyle/>
                    <a:p>
                      <a:pPr algn="l"/>
                      <a:r>
                        <a:rPr sz="750">
                          <a:solidFill>
                            <a:srgbClr val="3A4356"/>
                          </a:solidFill>
                        </a:rPr>
                        <a:t>£216.97</a:t>
                      </a:r>
                    </a:p>
                  </a:txBody>
                  <a:tcPr>
                    <a:solidFill>
                      <a:srgbClr val="FFFFFF"/>
                    </a:solidFill>
                  </a:tcPr>
                </a:tc>
                <a:tc>
                  <a:txBody>
                    <a:bodyPr/>
                    <a:lstStyle/>
                    <a:p>
                      <a:pPr algn="l"/>
                      <a:r>
                        <a:rPr sz="750">
                          <a:solidFill>
                            <a:srgbClr val="3A4356"/>
                          </a:solidFill>
                        </a:rPr>
                        <a:t>Treated as cast</a:t>
                      </a:r>
                    </a:p>
                  </a:txBody>
                  <a:tcPr>
                    <a:solidFill>
                      <a:srgbClr val="FFFFFF"/>
                    </a:solidFill>
                  </a:tcPr>
                </a:tc>
                <a:tc>
                  <a:txBody>
                    <a:bodyPr/>
                    <a:lstStyle/>
                    <a:p>
                      <a:pPr algn="l"/>
                      <a:r>
                        <a:rPr sz="750" b="1">
                          <a:solidFill>
                            <a:srgbClr val="2E8B57"/>
                          </a:solidFill>
                        </a:rPr>
                        <a:t>£24.62 blow-mould</a:t>
                      </a:r>
                    </a:p>
                  </a:txBody>
                  <a:tcPr>
                    <a:solidFill>
                      <a:srgbClr val="FFFFFF"/>
                    </a:solidFill>
                  </a:tcPr>
                </a:tc>
              </a:tr>
              <a:tr h="388620">
                <a:tc>
                  <a:txBody>
                    <a:bodyPr/>
                    <a:lstStyle/>
                    <a:p>
                      <a:pPr algn="l"/>
                      <a:r>
                        <a:rPr sz="750" b="1">
                          <a:solidFill>
                            <a:srgbClr val="1D6FB8"/>
                          </a:solidFill>
                        </a:rPr>
                        <a:t>Front bumper</a:t>
                      </a:r>
                    </a:p>
                  </a:txBody>
                  <a:tcPr>
                    <a:solidFill>
                      <a:srgbClr val="F7F9FC"/>
                    </a:solidFill>
                  </a:tcPr>
                </a:tc>
                <a:tc>
                  <a:txBody>
                    <a:bodyPr/>
                    <a:lstStyle/>
                    <a:p>
                      <a:pPr algn="l"/>
                      <a:r>
                        <a:rPr sz="750">
                          <a:solidFill>
                            <a:srgbClr val="3A4356"/>
                          </a:solidFill>
                        </a:rPr>
                        <a:t>£29.18</a:t>
                      </a:r>
                    </a:p>
                  </a:txBody>
                  <a:tcPr>
                    <a:solidFill>
                      <a:srgbClr val="F7F9FC"/>
                    </a:solidFill>
                  </a:tcPr>
                </a:tc>
                <a:tc>
                  <a:txBody>
                    <a:bodyPr/>
                    <a:lstStyle/>
                    <a:p>
                      <a:pPr algn="l"/>
                      <a:r>
                        <a:rPr sz="750">
                          <a:solidFill>
                            <a:srgbClr val="3A4356"/>
                          </a:solidFill>
                        </a:rPr>
                        <a:t>Machined, not moulded</a:t>
                      </a:r>
                    </a:p>
                  </a:txBody>
                  <a:tcPr>
                    <a:solidFill>
                      <a:srgbClr val="F7F9FC"/>
                    </a:solidFill>
                  </a:tcPr>
                </a:tc>
                <a:tc>
                  <a:txBody>
                    <a:bodyPr/>
                    <a:lstStyle/>
                    <a:p>
                      <a:pPr algn="l"/>
                      <a:r>
                        <a:rPr sz="750" b="1">
                          <a:solidFill>
                            <a:srgbClr val="2E8B57"/>
                          </a:solidFill>
                        </a:rPr>
                        <a:t>£7.79 injection</a:t>
                      </a:r>
                    </a:p>
                  </a:txBody>
                  <a:tcPr>
                    <a:solidFill>
                      <a:srgbClr val="F7F9FC"/>
                    </a:solidFill>
                  </a:tcPr>
                </a:tc>
              </a:tr>
              <a:tr h="388620">
                <a:tc>
                  <a:txBody>
                    <a:bodyPr/>
                    <a:lstStyle/>
                    <a:p>
                      <a:pPr algn="l"/>
                      <a:r>
                        <a:rPr sz="750" b="1">
                          <a:solidFill>
                            <a:srgbClr val="1D6FB8"/>
                          </a:solidFill>
                        </a:rPr>
                        <a:t>Servo horn</a:t>
                      </a:r>
                    </a:p>
                  </a:txBody>
                  <a:tcPr>
                    <a:solidFill>
                      <a:srgbClr val="FFFFFF"/>
                    </a:solidFill>
                  </a:tcPr>
                </a:tc>
                <a:tc>
                  <a:txBody>
                    <a:bodyPr/>
                    <a:lstStyle/>
                    <a:p>
                      <a:pPr algn="l"/>
                      <a:r>
                        <a:rPr sz="750">
                          <a:solidFill>
                            <a:srgbClr val="3A4356"/>
                          </a:solidFill>
                        </a:rPr>
                        <a:t>£333.00</a:t>
                      </a:r>
                    </a:p>
                  </a:txBody>
                  <a:tcPr>
                    <a:solidFill>
                      <a:srgbClr val="FFFFFF"/>
                    </a:solidFill>
                  </a:tcPr>
                </a:tc>
                <a:tc>
                  <a:txBody>
                    <a:bodyPr/>
                    <a:lstStyle/>
                    <a:p>
                      <a:pPr algn="l"/>
                      <a:r>
                        <a:rPr sz="750">
                          <a:solidFill>
                            <a:srgbClr val="3A4356"/>
                          </a:solidFill>
                        </a:rPr>
                        <a:t>Bulk, not net-shape</a:t>
                      </a:r>
                    </a:p>
                  </a:txBody>
                  <a:tcPr>
                    <a:solidFill>
                      <a:srgbClr val="FFFFFF"/>
                    </a:solidFill>
                  </a:tcPr>
                </a:tc>
                <a:tc>
                  <a:txBody>
                    <a:bodyPr/>
                    <a:lstStyle/>
                    <a:p>
                      <a:pPr algn="l"/>
                      <a:r>
                        <a:rPr sz="750" b="1">
                          <a:solidFill>
                            <a:srgbClr val="2E8B57"/>
                          </a:solidFill>
                        </a:rPr>
                        <a:t>£6.40 net-shape</a:t>
                      </a:r>
                    </a:p>
                  </a:txBody>
                  <a:tcPr>
                    <a:solidFill>
                      <a:srgbClr val="FFFFFF"/>
                    </a:solidFill>
                  </a:tcPr>
                </a:tc>
              </a:tr>
              <a:tr h="388620">
                <a:tc>
                  <a:txBody>
                    <a:bodyPr/>
                    <a:lstStyle/>
                    <a:p>
                      <a:pPr algn="l"/>
                      <a:r>
                        <a:rPr sz="750" b="1">
                          <a:solidFill>
                            <a:srgbClr val="1D6FB8"/>
                          </a:solidFill>
                        </a:rPr>
                        <a:t>Stub axle</a:t>
                      </a:r>
                    </a:p>
                  </a:txBody>
                  <a:tcPr>
                    <a:solidFill>
                      <a:srgbClr val="F7F9FC"/>
                    </a:solidFill>
                  </a:tcPr>
                </a:tc>
                <a:tc>
                  <a:txBody>
                    <a:bodyPr/>
                    <a:lstStyle/>
                    <a:p>
                      <a:pPr algn="l"/>
                      <a:r>
                        <a:rPr sz="750">
                          <a:solidFill>
                            <a:srgbClr val="3A4356"/>
                          </a:solidFill>
                        </a:rPr>
                        <a:t>no result</a:t>
                      </a:r>
                    </a:p>
                  </a:txBody>
                  <a:tcPr>
                    <a:solidFill>
                      <a:srgbClr val="F7F9FC"/>
                    </a:solidFill>
                  </a:tcPr>
                </a:tc>
                <a:tc>
                  <a:txBody>
                    <a:bodyPr/>
                    <a:lstStyle/>
                    <a:p>
                      <a:pPr algn="l"/>
                      <a:r>
                        <a:rPr sz="750">
                          <a:solidFill>
                            <a:srgbClr val="3A4356"/>
                          </a:solidFill>
                        </a:rPr>
                        <a:t>Classed as the wrong process</a:t>
                      </a:r>
                    </a:p>
                  </a:txBody>
                  <a:tcPr>
                    <a:solidFill>
                      <a:srgbClr val="F7F9FC"/>
                    </a:solidFill>
                  </a:tcPr>
                </a:tc>
                <a:tc>
                  <a:txBody>
                    <a:bodyPr/>
                    <a:lstStyle/>
                    <a:p>
                      <a:pPr algn="l"/>
                      <a:r>
                        <a:rPr sz="750" b="1">
                          <a:solidFill>
                            <a:srgbClr val="2E8B57"/>
                          </a:solidFill>
                        </a:rPr>
                        <a:t>Forged steel 8.1 kg</a:t>
                      </a:r>
                    </a:p>
                  </a:txBody>
                  <a:tcPr>
                    <a:solidFill>
                      <a:srgbClr val="F7F9FC"/>
                    </a:solidFill>
                  </a:tcPr>
                </a:tc>
              </a:tr>
              <a:tr h="388620">
                <a:tc>
                  <a:txBody>
                    <a:bodyPr/>
                    <a:lstStyle/>
                    <a:p>
                      <a:pPr algn="l"/>
                      <a:r>
                        <a:rPr sz="750" b="1">
                          <a:solidFill>
                            <a:srgbClr val="1D6FB8"/>
                          </a:solidFill>
                        </a:rPr>
                        <a:t>Seat cross-member</a:t>
                      </a:r>
                    </a:p>
                  </a:txBody>
                  <a:tcPr>
                    <a:solidFill>
                      <a:srgbClr val="FFFFFF"/>
                    </a:solidFill>
                  </a:tcPr>
                </a:tc>
                <a:tc>
                  <a:txBody>
                    <a:bodyPr/>
                    <a:lstStyle/>
                    <a:p>
                      <a:pPr algn="l"/>
                      <a:r>
                        <a:rPr sz="750">
                          <a:solidFill>
                            <a:srgbClr val="3A4356"/>
                          </a:solidFill>
                        </a:rPr>
                        <a:t>no result</a:t>
                      </a:r>
                    </a:p>
                  </a:txBody>
                  <a:tcPr>
                    <a:solidFill>
                      <a:srgbClr val="FFFFFF"/>
                    </a:solidFill>
                  </a:tcPr>
                </a:tc>
                <a:tc>
                  <a:txBody>
                    <a:bodyPr/>
                    <a:lstStyle/>
                    <a:p>
                      <a:pPr algn="l"/>
                      <a:r>
                        <a:rPr sz="750">
                          <a:solidFill>
                            <a:srgbClr val="3A4356"/>
                          </a:solidFill>
                        </a:rPr>
                        <a:t>Machine sizing gap</a:t>
                      </a:r>
                    </a:p>
                  </a:txBody>
                  <a:tcPr>
                    <a:solidFill>
                      <a:srgbClr val="FFFFFF"/>
                    </a:solidFill>
                  </a:tcPr>
                </a:tc>
                <a:tc>
                  <a:txBody>
                    <a:bodyPr/>
                    <a:lstStyle/>
                    <a:p>
                      <a:pPr algn="l"/>
                      <a:r>
                        <a:rPr sz="750" b="1">
                          <a:solidFill>
                            <a:srgbClr val="2E8B57"/>
                          </a:solidFill>
                        </a:rPr>
                        <a:t>£1.11 runs clean</a:t>
                      </a:r>
                    </a:p>
                  </a:txBody>
                  <a:tcPr>
                    <a:solidFill>
                      <a:srgbClr val="FFFFFF"/>
                    </a:solidFill>
                  </a:tcPr>
                </a:tc>
              </a:tr>
            </a:tbl>
          </a:graphicData>
        </a:graphic>
      </p:graphicFrame>
      <p:sp>
        <p:nvSpPr>
          <p:cNvPr id="27" name="Rectangle 26"/>
          <p:cNvSpPr/>
          <p:nvPr/>
        </p:nvSpPr>
        <p:spPr>
          <a:xfrm>
            <a:off x="5806440" y="5029200"/>
            <a:ext cx="59893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16325C"/>
                </a:solidFill>
              </a:rPr>
              <a:t>Built to be trusted, not just believed</a:t>
            </a:r>
          </a:p>
        </p:txBody>
      </p:sp>
      <p:sp>
        <p:nvSpPr>
          <p:cNvPr id="30" name="Rectangle 29"/>
          <p:cNvSpPr/>
          <p:nvPr/>
        </p:nvSpPr>
        <p:spPr>
          <a:xfrm>
            <a:off x="5989320" y="549554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3A4356"/>
                </a:solidFill>
              </a:rPr>
              <a:t>1,777 automated tests — if the logic breaks, the build fails, not the demo</a:t>
            </a:r>
          </a:p>
        </p:txBody>
      </p:sp>
      <p:sp>
        <p:nvSpPr>
          <p:cNvPr id="32" name="Rectangle 31"/>
          <p:cNvSpPr/>
          <p:nvPr/>
        </p:nvSpPr>
        <p:spPr>
          <a:xfrm>
            <a:off x="5989320" y="57881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3A4356"/>
                </a:solidFill>
              </a:rPr>
              <a:t>Every estimate is re-checked before you ever see the number</a:t>
            </a:r>
          </a:p>
        </p:txBody>
      </p:sp>
      <p:sp>
        <p:nvSpPr>
          <p:cNvPr id="34" name="Rectangle 33"/>
          <p:cNvSpPr/>
          <p:nvPr/>
        </p:nvSpPr>
        <p:spPr>
          <a:xfrm>
            <a:off x="5989320" y="60807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3A4356"/>
                </a:solidFill>
              </a:rPr>
              <a:t>The CAD engine is tested in the same container we deploy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FFFFFF"/>
                          </a:solidFill>
                        </a:rPr>
                        <a:t>Commodity</a:t>
                      </a:r>
                    </a:p>
                  </a:txBody>
                  <a:tcPr>
                    <a:solidFill>
                      <a:srgbClr val="16325C"/>
                    </a:solidFill>
                  </a:tcPr>
                </a:tc>
                <a:tc>
                  <a:txBody>
                    <a:bodyPr/>
                    <a:lstStyle/>
                    <a:p>
                      <a:pPr algn="l"/>
                      <a:r>
                        <a:rPr sz="750" b="1">
                          <a:solidFill>
                            <a:srgbClr val="FFFFFF"/>
                          </a:solidFill>
                        </a:rPr>
                        <a:t>Demo Part</a:t>
                      </a:r>
                    </a:p>
                  </a:txBody>
                  <a:tcPr>
                    <a:solidFill>
                      <a:srgbClr val="16325C"/>
                    </a:solidFill>
                  </a:tcPr>
                </a:tc>
                <a:tc>
                  <a:txBody>
                    <a:bodyPr/>
                    <a:lstStyle/>
                    <a:p>
                      <a:pPr algn="l"/>
                      <a:r>
                        <a:rPr sz="750" b="1">
                          <a:solidFill>
                            <a:srgbClr val="FFFFFF"/>
                          </a:solidFill>
                        </a:rPr>
                        <a:t>Key Inputs</a:t>
                      </a:r>
                    </a:p>
                  </a:txBody>
                  <a:tcPr>
                    <a:solidFill>
                      <a:srgbClr val="16325C"/>
                    </a:solidFill>
                  </a:tcPr>
                </a:tc>
                <a:tc>
                  <a:txBody>
                    <a:bodyPr/>
                    <a:lstStyle/>
                    <a:p>
                      <a:pPr algn="l"/>
                      <a:r>
                        <a:rPr sz="750" b="1">
                          <a:solidFill>
                            <a:srgbClr val="FFFFFF"/>
                          </a:solidFill>
                        </a:rPr>
                        <a:t>Should-Cost</a:t>
                      </a:r>
                    </a:p>
                  </a:txBody>
                  <a:tcPr>
                    <a:solidFill>
                      <a:srgbClr val="16325C"/>
                    </a:solidFill>
                  </a:tcPr>
                </a:tc>
                <a:tc>
                  <a:txBody>
                    <a:bodyPr/>
                    <a:lstStyle/>
                    <a:p>
                      <a:pPr algn="l"/>
                      <a:r>
                        <a:rPr sz="750" b="1">
                          <a:solidFill>
                            <a:srgbClr val="FFFFFF"/>
                          </a:solidFill>
                        </a:rPr>
                        <a:t>AI Top Insight</a:t>
                      </a:r>
                    </a:p>
                  </a:txBody>
                  <a:tcPr>
                    <a:solidFill>
                      <a:srgbClr val="16325C"/>
                    </a:solidFill>
                  </a:tcPr>
                </a:tc>
                <a:tc>
                  <a:txBody>
                    <a:bodyPr/>
                    <a:lstStyle/>
                    <a:p>
                      <a:pPr algn="l"/>
                      <a:r>
                        <a:rPr sz="750" b="1">
                          <a:solidFill>
                            <a:srgbClr val="FFFFFF"/>
                          </a:solidFill>
                        </a:rPr>
                        <a:t>DFM Flag</a:t>
                      </a:r>
                    </a:p>
                  </a:txBody>
                  <a:tcPr>
                    <a:solidFill>
                      <a:srgbClr val="16325C"/>
                    </a:solidFill>
                  </a:tcPr>
                </a:tc>
              </a:tr>
              <a:tr h="397348">
                <a:tc>
                  <a:txBody>
                    <a:bodyPr/>
                    <a:lstStyle/>
                    <a:p>
                      <a:pPr algn="l"/>
                      <a:r>
                        <a:rPr sz="750" b="1">
                          <a:solidFill>
                            <a:srgbClr val="1D6FB8"/>
                          </a:solidFill>
                        </a:rPr>
                        <a:t>⚙️ Machining</a:t>
                      </a:r>
                    </a:p>
                  </a:txBody>
                  <a:tcPr>
                    <a:solidFill>
                      <a:srgbClr val="FFFFFF"/>
                    </a:solidFill>
                  </a:tcPr>
                </a:tc>
                <a:tc>
                  <a:txBody>
                    <a:bodyPr/>
                    <a:lstStyle/>
                    <a:p>
                      <a:pPr algn="l"/>
                      <a:r>
                        <a:rPr sz="750">
                          <a:solidFill>
                            <a:srgbClr val="3A4356"/>
                          </a:solidFill>
                        </a:rPr>
                        <a:t>Al Gearbox Bracket</a:t>
                      </a:r>
                    </a:p>
                  </a:txBody>
                  <a:tcPr>
                    <a:solidFill>
                      <a:srgbClr val="FFFFFF"/>
                    </a:solidFill>
                  </a:tcPr>
                </a:tc>
                <a:tc>
                  <a:txBody>
                    <a:bodyPr/>
                    <a:lstStyle/>
                    <a:p>
                      <a:pPr algn="l"/>
                      <a:r>
                        <a:rPr sz="750">
                          <a:solidFill>
                            <a:srgbClr val="3A4356"/>
                          </a:solidFill>
                        </a:rPr>
                        <a:t>Al 6082-T6 · 0.85 kg · 3 setups</a:t>
                      </a:r>
                    </a:p>
                  </a:txBody>
                  <a:tcPr>
                    <a:solidFill>
                      <a:srgbClr val="FFFFFF"/>
                    </a:solidFill>
                  </a:tcPr>
                </a:tc>
                <a:tc>
                  <a:txBody>
                    <a:bodyPr/>
                    <a:lstStyle/>
                    <a:p>
                      <a:pPr algn="l"/>
                      <a:r>
                        <a:rPr sz="750" b="1">
                          <a:solidFill>
                            <a:srgbClr val="2E8B57"/>
                          </a:solidFill>
                        </a:rPr>
                        <a:t>£ 28.40</a:t>
                      </a:r>
                    </a:p>
                  </a:txBody>
                  <a:tcPr>
                    <a:solidFill>
                      <a:srgbClr val="FFFFFF"/>
                    </a:solidFill>
                  </a:tcPr>
                </a:tc>
                <a:tc>
                  <a:txBody>
                    <a:bodyPr/>
                    <a:lstStyle/>
                    <a:p>
                      <a:pPr algn="l"/>
                      <a:r>
                        <a:rPr sz="750">
                          <a:solidFill>
                            <a:srgbClr val="3A4356"/>
                          </a:solidFill>
                        </a:rPr>
                        <a:t>Process 44% → near-net-shape saves £8</a:t>
                      </a:r>
                    </a:p>
                  </a:txBody>
                  <a:tcPr>
                    <a:solidFill>
                      <a:srgbClr val="FFFFFF"/>
                    </a:solidFill>
                  </a:tcPr>
                </a:tc>
                <a:tc>
                  <a:txBody>
                    <a:bodyPr/>
                    <a:lstStyle/>
                    <a:p>
                      <a:pPr algn="l"/>
                      <a:r>
                        <a:rPr sz="750">
                          <a:solidFill>
                            <a:srgbClr val="3A4356"/>
                          </a:solidFill>
                        </a:rPr>
                        <a:t>Major: 3 setups → 5-axis</a:t>
                      </a:r>
                    </a:p>
                  </a:txBody>
                  <a:tcPr>
                    <a:solidFill>
                      <a:srgbClr val="FFFFFF"/>
                    </a:solidFill>
                  </a:tcPr>
                </a:tc>
              </a:tr>
              <a:tr h="397348">
                <a:tc>
                  <a:txBody>
                    <a:bodyPr/>
                    <a:lstStyle/>
                    <a:p>
                      <a:pPr algn="l"/>
                      <a:r>
                        <a:rPr sz="750" b="1">
                          <a:solidFill>
                            <a:srgbClr val="1D6FB8"/>
                          </a:solidFill>
                        </a:rPr>
                        <a:t>🪨 HPDC Casting</a:t>
                      </a:r>
                    </a:p>
                  </a:txBody>
                  <a:tcPr>
                    <a:solidFill>
                      <a:srgbClr val="F7F9FC"/>
                    </a:solidFill>
                  </a:tcPr>
                </a:tc>
                <a:tc>
                  <a:txBody>
                    <a:bodyPr/>
                    <a:lstStyle/>
                    <a:p>
                      <a:pPr algn="l"/>
                      <a:r>
                        <a:rPr sz="750">
                          <a:solidFill>
                            <a:srgbClr val="3A4356"/>
                          </a:solidFill>
                        </a:rPr>
                        <a:t>Transmission Housing</a:t>
                      </a:r>
                    </a:p>
                  </a:txBody>
                  <a:tcPr>
                    <a:solidFill>
                      <a:srgbClr val="F7F9FC"/>
                    </a:solidFill>
                  </a:tcPr>
                </a:tc>
                <a:tc>
                  <a:txBody>
                    <a:bodyPr/>
                    <a:lstStyle/>
                    <a:p>
                      <a:pPr algn="l"/>
                      <a:r>
                        <a:rPr sz="750">
                          <a:solidFill>
                            <a:srgbClr val="3A4356"/>
                          </a:solidFill>
                        </a:rPr>
                        <a:t>Al A380 · 3.2 kg · 50k/yr</a:t>
                      </a:r>
                    </a:p>
                  </a:txBody>
                  <a:tcPr>
                    <a:solidFill>
                      <a:srgbClr val="F7F9FC"/>
                    </a:solidFill>
                  </a:tcPr>
                </a:tc>
                <a:tc>
                  <a:txBody>
                    <a:bodyPr/>
                    <a:lstStyle/>
                    <a:p>
                      <a:pPr algn="l"/>
                      <a:r>
                        <a:rPr sz="750" b="1">
                          <a:solidFill>
                            <a:srgbClr val="2E8B57"/>
                          </a:solidFill>
                        </a:rPr>
                        <a:t>£ 18.70</a:t>
                      </a:r>
                    </a:p>
                  </a:txBody>
                  <a:tcPr>
                    <a:solidFill>
                      <a:srgbClr val="F7F9FC"/>
                    </a:solidFill>
                  </a:tcPr>
                </a:tc>
                <a:tc>
                  <a:txBody>
                    <a:bodyPr/>
                    <a:lstStyle/>
                    <a:p>
                      <a:pPr algn="l"/>
                      <a:r>
                        <a:rPr sz="750">
                          <a:solidFill>
                            <a:srgbClr val="3A4356"/>
                          </a:solidFill>
                        </a:rPr>
                        <a:t>Die 9% OK. Margin 21% → negotiate</a:t>
                      </a:r>
                    </a:p>
                  </a:txBody>
                  <a:tcPr>
                    <a:solidFill>
                      <a:srgbClr val="F7F9FC"/>
                    </a:solidFill>
                  </a:tcPr>
                </a:tc>
                <a:tc>
                  <a:txBody>
                    <a:bodyPr/>
                    <a:lstStyle/>
                    <a:p>
                      <a:pPr algn="l"/>
                      <a:r>
                        <a:rPr sz="750">
                          <a:solidFill>
                            <a:srgbClr val="3A4356"/>
                          </a:solidFill>
                        </a:rPr>
                        <a:t>Good — no critical issues</a:t>
                      </a:r>
                    </a:p>
                  </a:txBody>
                  <a:tcPr>
                    <a:solidFill>
                      <a:srgbClr val="F7F9FC"/>
                    </a:solidFill>
                  </a:tcPr>
                </a:tc>
              </a:tr>
              <a:tr h="397348">
                <a:tc>
                  <a:txBody>
                    <a:bodyPr/>
                    <a:lstStyle/>
                    <a:p>
                      <a:pPr algn="l"/>
                      <a:r>
                        <a:rPr sz="750" b="1">
                          <a:solidFill>
                            <a:srgbClr val="1D6FB8"/>
                          </a:solidFill>
                        </a:rPr>
                        <a:t>🪗 Sheet Metal</a:t>
                      </a:r>
                    </a:p>
                  </a:txBody>
                  <a:tcPr>
                    <a:solidFill>
                      <a:srgbClr val="FFFFFF"/>
                    </a:solidFill>
                  </a:tcPr>
                </a:tc>
                <a:tc>
                  <a:txBody>
                    <a:bodyPr/>
                    <a:lstStyle/>
                    <a:p>
                      <a:pPr algn="l"/>
                      <a:r>
                        <a:rPr sz="750">
                          <a:solidFill>
                            <a:srgbClr val="3A4356"/>
                          </a:solidFill>
                        </a:rPr>
                        <a:t>Rear Door Inner</a:t>
                      </a:r>
                    </a:p>
                  </a:txBody>
                  <a:tcPr>
                    <a:solidFill>
                      <a:srgbClr val="FFFFFF"/>
                    </a:solidFill>
                  </a:tcPr>
                </a:tc>
                <a:tc>
                  <a:txBody>
                    <a:bodyPr/>
                    <a:lstStyle/>
                    <a:p>
                      <a:pPr algn="l"/>
                      <a:r>
                        <a:rPr sz="750">
                          <a:solidFill>
                            <a:srgbClr val="3A4356"/>
                          </a:solidFill>
                        </a:rPr>
                        <a:t>DC04 1.2mm · 4.1 kg · 60k/yr</a:t>
                      </a:r>
                    </a:p>
                  </a:txBody>
                  <a:tcPr>
                    <a:solidFill>
                      <a:srgbClr val="FFFFFF"/>
                    </a:solidFill>
                  </a:tcPr>
                </a:tc>
                <a:tc>
                  <a:txBody>
                    <a:bodyPr/>
                    <a:lstStyle/>
                    <a:p>
                      <a:pPr algn="l"/>
                      <a:r>
                        <a:rPr sz="750" b="1">
                          <a:solidFill>
                            <a:srgbClr val="2E8B57"/>
                          </a:solidFill>
                        </a:rPr>
                        <a:t>£ 22.10</a:t>
                      </a:r>
                    </a:p>
                  </a:txBody>
                  <a:tcPr>
                    <a:solidFill>
                      <a:srgbClr val="FFFFFF"/>
                    </a:solidFill>
                  </a:tcPr>
                </a:tc>
                <a:tc>
                  <a:txBody>
                    <a:bodyPr/>
                    <a:lstStyle/>
                    <a:p>
                      <a:pPr algn="l"/>
                      <a:r>
                        <a:rPr sz="750">
                          <a:solidFill>
                            <a:srgbClr val="3A4356"/>
                          </a:solidFill>
                        </a:rPr>
                        <a:t>Blank nesting 64% → improve saves £2.80</a:t>
                      </a:r>
                    </a:p>
                  </a:txBody>
                  <a:tcPr>
                    <a:solidFill>
                      <a:srgbClr val="FFFFFF"/>
                    </a:solidFill>
                  </a:tcPr>
                </a:tc>
                <a:tc>
                  <a:txBody>
                    <a:bodyPr/>
                    <a:lstStyle/>
                    <a:p>
                      <a:pPr algn="l"/>
                      <a:r>
                        <a:rPr sz="750">
                          <a:solidFill>
                            <a:srgbClr val="3A4356"/>
                          </a:solidFill>
                        </a:rPr>
                        <a:t>Critical: nesting &lt;65%</a:t>
                      </a:r>
                    </a:p>
                  </a:txBody>
                  <a:tcPr>
                    <a:solidFill>
                      <a:srgbClr val="FFFFFF"/>
                    </a:solidFill>
                  </a:tcPr>
                </a:tc>
              </a:tr>
              <a:tr h="397348">
                <a:tc>
                  <a:txBody>
                    <a:bodyPr/>
                    <a:lstStyle/>
                    <a:p>
                      <a:pPr algn="l"/>
                      <a:r>
                        <a:rPr sz="750" b="1">
                          <a:solidFill>
                            <a:srgbClr val="1D6FB8"/>
                          </a:solidFill>
                        </a:rPr>
                        <a:t>🏺 Injection</a:t>
                      </a:r>
                    </a:p>
                  </a:txBody>
                  <a:tcPr>
                    <a:solidFill>
                      <a:srgbClr val="F7F9FC"/>
                    </a:solidFill>
                  </a:tcPr>
                </a:tc>
                <a:tc>
                  <a:txBody>
                    <a:bodyPr/>
                    <a:lstStyle/>
                    <a:p>
                      <a:pPr algn="l"/>
                      <a:r>
                        <a:rPr sz="750">
                          <a:solidFill>
                            <a:srgbClr val="3A4356"/>
                          </a:solidFill>
                        </a:rPr>
                        <a:t>PP Bumper Bracket</a:t>
                      </a:r>
                    </a:p>
                  </a:txBody>
                  <a:tcPr>
                    <a:solidFill>
                      <a:srgbClr val="F7F9FC"/>
                    </a:solidFill>
                  </a:tcPr>
                </a:tc>
                <a:tc>
                  <a:txBody>
                    <a:bodyPr/>
                    <a:lstStyle/>
                    <a:p>
                      <a:pPr algn="l"/>
                      <a:r>
                        <a:rPr sz="750">
                          <a:solidFill>
                            <a:srgbClr val="3A4356"/>
                          </a:solidFill>
                        </a:rPr>
                        <a:t>PP-TD20 · 0.42 kg · 100k/yr</a:t>
                      </a:r>
                    </a:p>
                  </a:txBody>
                  <a:tcPr>
                    <a:solidFill>
                      <a:srgbClr val="F7F9FC"/>
                    </a:solidFill>
                  </a:tcPr>
                </a:tc>
                <a:tc>
                  <a:txBody>
                    <a:bodyPr/>
                    <a:lstStyle/>
                    <a:p>
                      <a:pPr algn="l"/>
                      <a:r>
                        <a:rPr sz="750" b="1">
                          <a:solidFill>
                            <a:srgbClr val="2E8B57"/>
                          </a:solidFill>
                        </a:rPr>
                        <a:t>£  3.85</a:t>
                      </a:r>
                    </a:p>
                  </a:txBody>
                  <a:tcPr>
                    <a:solidFill>
                      <a:srgbClr val="F7F9FC"/>
                    </a:solidFill>
                  </a:tcPr>
                </a:tc>
                <a:tc>
                  <a:txBody>
                    <a:bodyPr/>
                    <a:lstStyle/>
                    <a:p>
                      <a:pPr algn="l"/>
                      <a:r>
                        <a:rPr sz="750">
                          <a:solidFill>
                            <a:srgbClr val="3A4356"/>
                          </a:solidFill>
                        </a:rPr>
                        <a:t>Mould 8% — good at this volume</a:t>
                      </a:r>
                    </a:p>
                  </a:txBody>
                  <a:tcPr>
                    <a:solidFill>
                      <a:srgbClr val="F7F9FC"/>
                    </a:solidFill>
                  </a:tcPr>
                </a:tc>
                <a:tc>
                  <a:txBody>
                    <a:bodyPr/>
                    <a:lstStyle/>
                    <a:p>
                      <a:pPr algn="l"/>
                      <a:r>
                        <a:rPr sz="750">
                          <a:solidFill>
                            <a:srgbClr val="3A4356"/>
                          </a:solidFill>
                        </a:rPr>
                        <a:t>Good — runner waste 15%</a:t>
                      </a:r>
                    </a:p>
                  </a:txBody>
                  <a:tcPr>
                    <a:solidFill>
                      <a:srgbClr val="F7F9FC"/>
                    </a:solidFill>
                  </a:tcPr>
                </a:tc>
              </a:tr>
              <a:tr h="397348">
                <a:tc>
                  <a:txBody>
                    <a:bodyPr/>
                    <a:lstStyle/>
                    <a:p>
                      <a:pPr algn="l"/>
                      <a:r>
                        <a:rPr sz="750" b="1">
                          <a:solidFill>
                            <a:srgbClr val="1D6FB8"/>
                          </a:solidFill>
                        </a:rPr>
                        <a:t>🧱 Rubber</a:t>
                      </a:r>
                    </a:p>
                  </a:txBody>
                  <a:tcPr>
                    <a:solidFill>
                      <a:srgbClr val="FFFFFF"/>
                    </a:solidFill>
                  </a:tcPr>
                </a:tc>
                <a:tc>
                  <a:txBody>
                    <a:bodyPr/>
                    <a:lstStyle/>
                    <a:p>
                      <a:pPr algn="l"/>
                      <a:r>
                        <a:rPr sz="750">
                          <a:solidFill>
                            <a:srgbClr val="3A4356"/>
                          </a:solidFill>
                        </a:rPr>
                        <a:t>EPDM Door Seal</a:t>
                      </a:r>
                    </a:p>
                  </a:txBody>
                  <a:tcPr>
                    <a:solidFill>
                      <a:srgbClr val="FFFFFF"/>
                    </a:solidFill>
                  </a:tcPr>
                </a:tc>
                <a:tc>
                  <a:txBody>
                    <a:bodyPr/>
                    <a:lstStyle/>
                    <a:p>
                      <a:pPr algn="l"/>
                      <a:r>
                        <a:rPr sz="750">
                          <a:solidFill>
                            <a:srgbClr val="3A4356"/>
                          </a:solidFill>
                        </a:rPr>
                        <a:t>Extrusion · 2.8m · 85 Shore A</a:t>
                      </a:r>
                    </a:p>
                  </a:txBody>
                  <a:tcPr>
                    <a:solidFill>
                      <a:srgbClr val="FFFFFF"/>
                    </a:solidFill>
                  </a:tcPr>
                </a:tc>
                <a:tc>
                  <a:txBody>
                    <a:bodyPr/>
                    <a:lstStyle/>
                    <a:p>
                      <a:pPr algn="l"/>
                      <a:r>
                        <a:rPr sz="750" b="1">
                          <a:solidFill>
                            <a:srgbClr val="2E8B57"/>
                          </a:solidFill>
                        </a:rPr>
                        <a:t>£  4.10</a:t>
                      </a:r>
                    </a:p>
                  </a:txBody>
                  <a:tcPr>
                    <a:solidFill>
                      <a:srgbClr val="FFFFFF"/>
                    </a:solidFill>
                  </a:tcPr>
                </a:tc>
                <a:tc>
                  <a:txBody>
                    <a:bodyPr/>
                    <a:lstStyle/>
                    <a:p>
                      <a:pPr algn="l"/>
                      <a:r>
                        <a:rPr sz="750">
                          <a:solidFill>
                            <a:srgbClr val="3A4356"/>
                          </a:solidFill>
                        </a:rPr>
                        <a:t>Process 42% — cure cycle dominant</a:t>
                      </a:r>
                    </a:p>
                  </a:txBody>
                  <a:tcPr>
                    <a:solidFill>
                      <a:srgbClr val="FFFFFF"/>
                    </a:solidFill>
                  </a:tcPr>
                </a:tc>
                <a:tc>
                  <a:txBody>
                    <a:bodyPr/>
                    <a:lstStyle/>
                    <a:p>
                      <a:pPr algn="l"/>
                      <a:r>
                        <a:rPr sz="750">
                          <a:solidFill>
                            <a:srgbClr val="3A4356"/>
                          </a:solidFill>
                        </a:rPr>
                        <a:t>Major: cure time optimise</a:t>
                      </a:r>
                    </a:p>
                  </a:txBody>
                  <a:tcPr>
                    <a:solidFill>
                      <a:srgbClr val="FFFFFF"/>
                    </a:solidFill>
                  </a:tcPr>
                </a:tc>
              </a:tr>
              <a:tr h="397348">
                <a:tc>
                  <a:txBody>
                    <a:bodyPr/>
                    <a:lstStyle/>
                    <a:p>
                      <a:pPr algn="l"/>
                      <a:r>
                        <a:rPr sz="750" b="1">
                          <a:solidFill>
                            <a:srgbClr val="1D6FB8"/>
                          </a:solidFill>
                        </a:rPr>
                        <a:t>🖥️ PCB Fab</a:t>
                      </a:r>
                    </a:p>
                  </a:txBody>
                  <a:tcPr>
                    <a:solidFill>
                      <a:srgbClr val="F7F9FC"/>
                    </a:solidFill>
                  </a:tcPr>
                </a:tc>
                <a:tc>
                  <a:txBody>
                    <a:bodyPr/>
                    <a:lstStyle/>
                    <a:p>
                      <a:pPr algn="l"/>
                      <a:r>
                        <a:rPr sz="750">
                          <a:solidFill>
                            <a:srgbClr val="3A4356"/>
                          </a:solidFill>
                        </a:rPr>
                        <a:t>4-Layer FR4 ECU Board</a:t>
                      </a:r>
                    </a:p>
                  </a:txBody>
                  <a:tcPr>
                    <a:solidFill>
                      <a:srgbClr val="F7F9FC"/>
                    </a:solidFill>
                  </a:tcPr>
                </a:tc>
                <a:tc>
                  <a:txBody>
                    <a:bodyPr/>
                    <a:lstStyle/>
                    <a:p>
                      <a:pPr algn="l"/>
                      <a:r>
                        <a:rPr sz="750">
                          <a:solidFill>
                            <a:srgbClr val="3A4356"/>
                          </a:solidFill>
                        </a:rPr>
                        <a:t>100×80mm · ENIG · Flying probe</a:t>
                      </a:r>
                    </a:p>
                  </a:txBody>
                  <a:tcPr>
                    <a:solidFill>
                      <a:srgbClr val="F7F9FC"/>
                    </a:solidFill>
                  </a:tcPr>
                </a:tc>
                <a:tc>
                  <a:txBody>
                    <a:bodyPr/>
                    <a:lstStyle/>
                    <a:p>
                      <a:pPr algn="l"/>
                      <a:r>
                        <a:rPr sz="750" b="1">
                          <a:solidFill>
                            <a:srgbClr val="2E8B57"/>
                          </a:solidFill>
                        </a:rPr>
                        <a:t>£  4.18</a:t>
                      </a:r>
                    </a:p>
                  </a:txBody>
                  <a:tcPr>
                    <a:solidFill>
                      <a:srgbClr val="F7F9FC"/>
                    </a:solidFill>
                  </a:tcPr>
                </a:tc>
                <a:tc>
                  <a:txBody>
                    <a:bodyPr/>
                    <a:lstStyle/>
                    <a:p>
                      <a:pPr algn="l"/>
                      <a:r>
                        <a:rPr sz="750">
                          <a:solidFill>
                            <a:srgbClr val="3A4356"/>
                          </a:solidFill>
                        </a:rPr>
                        <a:t>NRE 6% per board — increase batch</a:t>
                      </a:r>
                    </a:p>
                  </a:txBody>
                  <a:tcPr>
                    <a:solidFill>
                      <a:srgbClr val="F7F9FC"/>
                    </a:solidFill>
                  </a:tcPr>
                </a:tc>
                <a:tc>
                  <a:txBody>
                    <a:bodyPr/>
                    <a:lstStyle/>
                    <a:p>
                      <a:pPr algn="l"/>
                      <a:r>
                        <a:rPr sz="750">
                          <a:solidFill>
                            <a:srgbClr val="3A4356"/>
                          </a:solidFill>
                        </a:rPr>
                        <a:t>Good — standard technology</a:t>
                      </a:r>
                    </a:p>
                  </a:txBody>
                  <a:tcPr>
                    <a:solidFill>
                      <a:srgbClr val="F7F9FC"/>
                    </a:solidFill>
                  </a:tcPr>
                </a:tc>
              </a:tr>
              <a:tr h="397348">
                <a:tc>
                  <a:txBody>
                    <a:bodyPr/>
                    <a:lstStyle/>
                    <a:p>
                      <a:pPr algn="l"/>
                      <a:r>
                        <a:rPr sz="750" b="1">
                          <a:solidFill>
                            <a:srgbClr val="1D6FB8"/>
                          </a:solidFill>
                        </a:rPr>
                        <a:t>🔌 PCBA</a:t>
                      </a:r>
                    </a:p>
                  </a:txBody>
                  <a:tcPr>
                    <a:solidFill>
                      <a:srgbClr val="FFFFFF"/>
                    </a:solidFill>
                  </a:tcPr>
                </a:tc>
                <a:tc>
                  <a:txBody>
                    <a:bodyPr/>
                    <a:lstStyle/>
                    <a:p>
                      <a:pPr algn="l"/>
                      <a:r>
                        <a:rPr sz="750">
                          <a:solidFill>
                            <a:srgbClr val="3A4356"/>
                          </a:solidFill>
                        </a:rPr>
                        <a:t>ECU PCBA 85 comp.</a:t>
                      </a:r>
                    </a:p>
                  </a:txBody>
                  <a:tcPr>
                    <a:solidFill>
                      <a:srgbClr val="FFFFFF"/>
                    </a:solidFill>
                  </a:tcPr>
                </a:tc>
                <a:tc>
                  <a:txBody>
                    <a:bodyPr/>
                    <a:lstStyle/>
                    <a:p>
                      <a:pPr algn="l"/>
                      <a:r>
                        <a:rPr sz="750">
                          <a:solidFill>
                            <a:srgbClr val="3A4356"/>
                          </a:solidFill>
                        </a:rPr>
                        <a:t>SMT + TH · 4 TH joints</a:t>
                      </a:r>
                    </a:p>
                  </a:txBody>
                  <a:tcPr>
                    <a:solidFill>
                      <a:srgbClr val="FFFFFF"/>
                    </a:solidFill>
                  </a:tcPr>
                </a:tc>
                <a:tc>
                  <a:txBody>
                    <a:bodyPr/>
                    <a:lstStyle/>
                    <a:p>
                      <a:pPr algn="l"/>
                      <a:r>
                        <a:rPr sz="750" b="1">
                          <a:solidFill>
                            <a:srgbClr val="2E8B57"/>
                          </a:solidFill>
                        </a:rPr>
                        <a:t>£ 32.60</a:t>
                      </a:r>
                    </a:p>
                  </a:txBody>
                  <a:tcPr>
                    <a:solidFill>
                      <a:srgbClr val="FFFFFF"/>
                    </a:solidFill>
                  </a:tcPr>
                </a:tc>
                <a:tc>
                  <a:txBody>
                    <a:bodyPr/>
                    <a:lstStyle/>
                    <a:p>
                      <a:pPr algn="l"/>
                      <a:r>
                        <a:rPr sz="750">
                          <a:solidFill>
                            <a:srgbClr val="3A4356"/>
                          </a:solidFill>
                        </a:rPr>
                        <a:t>Labour 38% — convert TH to SMT saves £4</a:t>
                      </a:r>
                    </a:p>
                  </a:txBody>
                  <a:tcPr>
                    <a:solidFill>
                      <a:srgbClr val="FFFFFF"/>
                    </a:solidFill>
                  </a:tcPr>
                </a:tc>
                <a:tc>
                  <a:txBody>
                    <a:bodyPr/>
                    <a:lstStyle/>
                    <a:p>
                      <a:pPr algn="l"/>
                      <a:r>
                        <a:rPr sz="750">
                          <a:solidFill>
                            <a:srgbClr val="3A4356"/>
                          </a:solidFill>
                        </a:rPr>
                        <a:t>Major: high TH labour</a:t>
                      </a:r>
                    </a:p>
                  </a:txBody>
                  <a:tcPr>
                    <a:solidFill>
                      <a:srgbClr val="FFFFFF"/>
                    </a:solidFill>
                  </a:tcPr>
                </a:tc>
              </a:tr>
              <a:tr h="397348">
                <a:tc>
                  <a:txBody>
                    <a:bodyPr/>
                    <a:lstStyle/>
                    <a:p>
                      <a:pPr algn="l"/>
                      <a:r>
                        <a:rPr sz="750" b="1">
                          <a:solidFill>
                            <a:srgbClr val="1D6FB8"/>
                          </a:solidFill>
                        </a:rPr>
                        <a:t>🔗 Wiring Harness</a:t>
                      </a:r>
                    </a:p>
                  </a:txBody>
                  <a:tcPr>
                    <a:solidFill>
                      <a:srgbClr val="F7F9FC"/>
                    </a:solidFill>
                  </a:tcPr>
                </a:tc>
                <a:tc>
                  <a:txBody>
                    <a:bodyPr/>
                    <a:lstStyle/>
                    <a:p>
                      <a:pPr algn="l"/>
                      <a:r>
                        <a:rPr sz="750">
                          <a:solidFill>
                            <a:srgbClr val="3A4356"/>
                          </a:solidFill>
                        </a:rPr>
                        <a:t>Door Module Harness</a:t>
                      </a:r>
                    </a:p>
                  </a:txBody>
                  <a:tcPr>
                    <a:solidFill>
                      <a:srgbClr val="F7F9FC"/>
                    </a:solidFill>
                  </a:tcPr>
                </a:tc>
                <a:tc>
                  <a:txBody>
                    <a:bodyPr/>
                    <a:lstStyle/>
                    <a:p>
                      <a:pPr algn="l"/>
                      <a:r>
                        <a:rPr sz="750">
                          <a:solidFill>
                            <a:srgbClr val="3A4356"/>
                          </a:solidFill>
                        </a:rPr>
                        <a:t>24 circuits · 2.1m avg</a:t>
                      </a:r>
                    </a:p>
                  </a:txBody>
                  <a:tcPr>
                    <a:solidFill>
                      <a:srgbClr val="F7F9FC"/>
                    </a:solidFill>
                  </a:tcPr>
                </a:tc>
                <a:tc>
                  <a:txBody>
                    <a:bodyPr/>
                    <a:lstStyle/>
                    <a:p>
                      <a:pPr algn="l"/>
                      <a:r>
                        <a:rPr sz="750" b="1">
                          <a:solidFill>
                            <a:srgbClr val="2E8B57"/>
                          </a:solidFill>
                        </a:rPr>
                        <a:t>£ 11.80</a:t>
                      </a:r>
                    </a:p>
                  </a:txBody>
                  <a:tcPr>
                    <a:solidFill>
                      <a:srgbClr val="F7F9FC"/>
                    </a:solidFill>
                  </a:tcPr>
                </a:tc>
                <a:tc>
                  <a:txBody>
                    <a:bodyPr/>
                    <a:lstStyle/>
                    <a:p>
                      <a:pPr algn="l"/>
                      <a:r>
                        <a:rPr sz="750">
                          <a:solidFill>
                            <a:srgbClr val="3A4356"/>
                          </a:solidFill>
                        </a:rPr>
                        <a:t>Labour 58% — automation saves 20%</a:t>
                      </a:r>
                    </a:p>
                  </a:txBody>
                  <a:tcPr>
                    <a:solidFill>
                      <a:srgbClr val="F7F9FC"/>
                    </a:solidFill>
                  </a:tcPr>
                </a:tc>
                <a:tc>
                  <a:txBody>
                    <a:bodyPr/>
                    <a:lstStyle/>
                    <a:p>
                      <a:pPr algn="l"/>
                      <a:r>
                        <a:rPr sz="750">
                          <a:solidFill>
                            <a:srgbClr val="3A4356"/>
                          </a:solidFill>
                        </a:rPr>
                        <a:t>Critical: labour &gt;50%</a:t>
                      </a:r>
                    </a:p>
                  </a:txBody>
                  <a:tcPr>
                    <a:solidFill>
                      <a:srgbClr val="F7F9FC"/>
                    </a:solidFill>
                  </a:tcPr>
                </a:tc>
              </a:tr>
              <a:tr h="397348">
                <a:tc>
                  <a:txBody>
                    <a:bodyPr/>
                    <a:lstStyle/>
                    <a:p>
                      <a:pPr algn="l"/>
                      <a:r>
                        <a:rPr sz="750" b="1">
                          <a:solidFill>
                            <a:srgbClr val="1D6FB8"/>
                          </a:solidFill>
                        </a:rPr>
                        <a:t>🪢 Composites</a:t>
                      </a:r>
                    </a:p>
                  </a:txBody>
                  <a:tcPr>
                    <a:solidFill>
                      <a:srgbClr val="FFFFFF"/>
                    </a:solidFill>
                  </a:tcPr>
                </a:tc>
                <a:tc>
                  <a:txBody>
                    <a:bodyPr/>
                    <a:lstStyle/>
                    <a:p>
                      <a:pPr algn="l"/>
                      <a:r>
                        <a:rPr sz="750">
                          <a:solidFill>
                            <a:srgbClr val="3A4356"/>
                          </a:solidFill>
                        </a:rPr>
                        <a:t>CFRP Floor Pan</a:t>
                      </a:r>
                    </a:p>
                  </a:txBody>
                  <a:tcPr>
                    <a:solidFill>
                      <a:srgbClr val="FFFFFF"/>
                    </a:solidFill>
                  </a:tcPr>
                </a:tc>
                <a:tc>
                  <a:txBody>
                    <a:bodyPr/>
                    <a:lstStyle/>
                    <a:p>
                      <a:pPr algn="l"/>
                      <a:r>
                        <a:rPr sz="750">
                          <a:solidFill>
                            <a:srgbClr val="3A4356"/>
                          </a:solidFill>
                        </a:rPr>
                        <a:t>Prepreg CFRP · 1.8 kg · autoclave</a:t>
                      </a:r>
                    </a:p>
                  </a:txBody>
                  <a:tcPr>
                    <a:solidFill>
                      <a:srgbClr val="FFFFFF"/>
                    </a:solidFill>
                  </a:tcPr>
                </a:tc>
                <a:tc>
                  <a:txBody>
                    <a:bodyPr/>
                    <a:lstStyle/>
                    <a:p>
                      <a:pPr algn="l"/>
                      <a:r>
                        <a:rPr sz="750" b="1">
                          <a:solidFill>
                            <a:srgbClr val="2E8B57"/>
                          </a:solidFill>
                        </a:rPr>
                        <a:t>£ 185.00</a:t>
                      </a:r>
                    </a:p>
                  </a:txBody>
                  <a:tcPr>
                    <a:solidFill>
                      <a:srgbClr val="FFFFFF"/>
                    </a:solidFill>
                  </a:tcPr>
                </a:tc>
                <a:tc>
                  <a:txBody>
                    <a:bodyPr/>
                    <a:lstStyle/>
                    <a:p>
                      <a:pPr algn="l"/>
                      <a:r>
                        <a:rPr sz="750">
                          <a:solidFill>
                            <a:srgbClr val="3A4356"/>
                          </a:solidFill>
                        </a:rPr>
                        <a:t>Labour 44% — evaluate ATL/AFP</a:t>
                      </a:r>
                    </a:p>
                  </a:txBody>
                  <a:tcPr>
                    <a:solidFill>
                      <a:srgbClr val="FFFFFF"/>
                    </a:solidFill>
                  </a:tcPr>
                </a:tc>
                <a:tc>
                  <a:txBody>
                    <a:bodyPr/>
                    <a:lstStyle/>
                    <a:p>
                      <a:pPr algn="l"/>
                      <a:r>
                        <a:rPr sz="750">
                          <a:solidFill>
                            <a:srgbClr val="3A4356"/>
                          </a:solidFill>
                        </a:rPr>
                        <a:t>Major: manual layup cost</a:t>
                      </a:r>
                    </a:p>
                  </a:txBody>
                  <a:tcPr>
                    <a:solidFill>
                      <a:srgbClr val="FFFFFF"/>
                    </a:solidFill>
                  </a:tcPr>
                </a:tc>
              </a:tr>
              <a:tr h="397352">
                <a:tc>
                  <a:txBody>
                    <a:bodyPr/>
                    <a:lstStyle/>
                    <a:p>
                      <a:pPr algn="l"/>
                      <a:r>
                        <a:rPr sz="750" b="1">
                          <a:solidFill>
                            <a:srgbClr val="1D6FB8"/>
                          </a:solidFill>
                        </a:rPr>
                        <a:t>🔨 Forging</a:t>
                      </a:r>
                    </a:p>
                  </a:txBody>
                  <a:tcPr>
                    <a:solidFill>
                      <a:srgbClr val="F7F9FC"/>
                    </a:solidFill>
                  </a:tcPr>
                </a:tc>
                <a:tc>
                  <a:txBody>
                    <a:bodyPr/>
                    <a:lstStyle/>
                    <a:p>
                      <a:pPr algn="l"/>
                      <a:r>
                        <a:rPr sz="750">
                          <a:solidFill>
                            <a:srgbClr val="3A4356"/>
                          </a:solidFill>
                        </a:rPr>
                        <a:t>Steel Control Arm</a:t>
                      </a:r>
                    </a:p>
                  </a:txBody>
                  <a:tcPr>
                    <a:solidFill>
                      <a:srgbClr val="F7F9FC"/>
                    </a:solidFill>
                  </a:tcPr>
                </a:tc>
                <a:tc>
                  <a:txBody>
                    <a:bodyPr/>
                    <a:lstStyle/>
                    <a:p>
                      <a:pPr algn="l"/>
                      <a:r>
                        <a:rPr sz="750">
                          <a:solidFill>
                            <a:srgbClr val="3A4356"/>
                          </a:solidFill>
                        </a:rPr>
                        <a:t>42CrMo4 · 2.1 kg · 80k/yr</a:t>
                      </a:r>
                    </a:p>
                  </a:txBody>
                  <a:tcPr>
                    <a:solidFill>
                      <a:srgbClr val="F7F9FC"/>
                    </a:solidFill>
                  </a:tcPr>
                </a:tc>
                <a:tc>
                  <a:txBody>
                    <a:bodyPr/>
                    <a:lstStyle/>
                    <a:p>
                      <a:pPr algn="l"/>
                      <a:r>
                        <a:rPr sz="750" b="1">
                          <a:solidFill>
                            <a:srgbClr val="2E8B57"/>
                          </a:solidFill>
                        </a:rPr>
                        <a:t>£  9.20</a:t>
                      </a:r>
                    </a:p>
                  </a:txBody>
                  <a:tcPr>
                    <a:solidFill>
                      <a:srgbClr val="F7F9FC"/>
                    </a:solidFill>
                  </a:tcPr>
                </a:tc>
                <a:tc>
                  <a:txBody>
                    <a:bodyPr/>
                    <a:lstStyle/>
                    <a:p>
                      <a:pPr algn="l"/>
                      <a:r>
                        <a:rPr sz="750">
                          <a:solidFill>
                            <a:srgbClr val="3A4356"/>
                          </a:solidFill>
                        </a:rPr>
                        <a:t>Die 11% — acceptable at volume</a:t>
                      </a:r>
                    </a:p>
                  </a:txBody>
                  <a:tcPr>
                    <a:solidFill>
                      <a:srgbClr val="F7F9FC"/>
                    </a:solidFill>
                  </a:tcPr>
                </a:tc>
                <a:tc>
                  <a:txBody>
                    <a:bodyPr/>
                    <a:lstStyle/>
                    <a:p>
                      <a:pPr algn="l"/>
                      <a:r>
                        <a:rPr sz="750">
                          <a:solidFill>
                            <a:srgbClr val="3A4356"/>
                          </a:solidFill>
                        </a:rPr>
                        <a:t>Good — closed-die efficient</a:t>
                      </a:r>
                    </a:p>
                  </a:txBody>
                  <a:tcPr>
                    <a:solidFill>
                      <a:srgbClr val="F7F9FC"/>
                    </a:solidFill>
                  </a:tcPr>
                </a:tc>
              </a:tr>
            </a:tbl>
          </a:graphicData>
        </a:graphic>
      </p:graphicFrame>
      <p:sp>
        <p:nvSpPr>
          <p:cNvPr id="12" name="Rectangle 11"/>
          <p:cNvSpPr/>
          <p:nvPr/>
        </p:nvSpPr>
        <p:spPr>
          <a:xfrm>
            <a:off x="411480" y="6327648"/>
            <a:ext cx="11384280"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6B72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Getting the Number Out of the Room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Reports people can act on, and one shared baseline for the whole team.</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Excel — Six Sheets</a:t>
            </a:r>
          </a:p>
        </p:txBody>
      </p:sp>
      <p:sp>
        <p:nvSpPr>
          <p:cNvPr id="14" name="TextBox 13"/>
          <p:cNvSpPr txBox="1"/>
          <p:nvPr/>
        </p:nvSpPr>
        <p:spPr>
          <a:xfrm>
            <a:off x="539496" y="2194560"/>
            <a:ext cx="3566159" cy="1472184"/>
          </a:xfrm>
          <a:prstGeom prst="rect">
            <a:avLst/>
          </a:prstGeom>
          <a:noFill/>
        </p:spPr>
        <p:txBody>
          <a:bodyPr wrap="square">
            <a:spAutoFit/>
          </a:bodyPr>
          <a:lstStyle/>
          <a:p>
            <a:pPr algn="l"/>
            <a:r>
              <a:rPr sz="850" b="0" i="0">
                <a:solidFill>
                  <a:srgbClr val="3A4356"/>
                </a:solidFill>
              </a:rPr>
              <a:t>The whole build-up, not just the total.
Summary · material · every operation ·
machine rates · labour rates ·
and a sheet recording every assumption.</a:t>
            </a:r>
          </a:p>
        </p:txBody>
      </p:sp>
      <p:sp>
        <p:nvSpPr>
          <p:cNvPr id="15" name="Rectangle 14"/>
          <p:cNvSpPr/>
          <p:nvPr/>
        </p:nvSpPr>
        <p:spPr>
          <a:xfrm>
            <a:off x="4270247"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PDF Report</a:t>
            </a:r>
          </a:p>
        </p:txBody>
      </p:sp>
      <p:sp>
        <p:nvSpPr>
          <p:cNvPr id="18" name="TextBox 17"/>
          <p:cNvSpPr txBox="1"/>
          <p:nvPr/>
        </p:nvSpPr>
        <p:spPr>
          <a:xfrm>
            <a:off x="4398263" y="2194560"/>
            <a:ext cx="3566159" cy="1472184"/>
          </a:xfrm>
          <a:prstGeom prst="rect">
            <a:avLst/>
          </a:prstGeom>
          <a:noFill/>
        </p:spPr>
        <p:txBody>
          <a:bodyPr wrap="square">
            <a:spAutoFit/>
          </a:bodyPr>
          <a:lstStyle/>
          <a:p>
            <a:pPr algn="l"/>
            <a:r>
              <a:rPr sz="850" b="0" i="0">
                <a:solidFill>
                  <a:srgbClr val="3A4356"/>
                </a:solidFill>
              </a:rPr>
              <a:t>The version you send out.
Cover with the part photo, the cost summary,
the operation-by-operation build,
and the savings and DFM findings.</a:t>
            </a:r>
          </a:p>
        </p:txBody>
      </p:sp>
      <p:sp>
        <p:nvSpPr>
          <p:cNvPr id="19" name="Rectangle 18"/>
          <p:cNvSpPr/>
          <p:nvPr/>
        </p:nvSpPr>
        <p:spPr>
          <a:xfrm>
            <a:off x="8129014"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One Shared Baseline</a:t>
            </a:r>
          </a:p>
        </p:txBody>
      </p:sp>
      <p:sp>
        <p:nvSpPr>
          <p:cNvPr id="22" name="TextBox 21"/>
          <p:cNvSpPr txBox="1"/>
          <p:nvPr/>
        </p:nvSpPr>
        <p:spPr>
          <a:xfrm>
            <a:off x="8257030" y="2194560"/>
            <a:ext cx="3566159" cy="1472184"/>
          </a:xfrm>
          <a:prstGeom prst="rect">
            <a:avLst/>
          </a:prstGeom>
          <a:noFill/>
        </p:spPr>
        <p:txBody>
          <a:bodyPr wrap="square">
            <a:spAutoFit/>
          </a:bodyPr>
          <a:lstStyle/>
          <a:p>
            <a:pPr algn="l"/>
            <a:r>
              <a:rPr sz="850" b="0" i="0">
                <a:solidFill>
                  <a:srgbClr val="3A4356"/>
                </a:solidFill>
              </a:rPr>
              <a:t>Everyone works from the same numbers.
Saved centrally, not on a laptop.
No arguing over which spreadsheet is current.</a:t>
            </a:r>
          </a:p>
        </p:txBody>
      </p:sp>
      <p:sp>
        <p:nvSpPr>
          <p:cNvPr id="23" name="Rectangle 22"/>
          <p:cNvSpPr/>
          <p:nvPr/>
        </p:nvSpPr>
        <p:spPr>
          <a:xfrm>
            <a:off x="411480"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Part Photos</a:t>
            </a:r>
          </a:p>
        </p:txBody>
      </p:sp>
      <p:sp>
        <p:nvSpPr>
          <p:cNvPr id="26" name="TextBox 25"/>
          <p:cNvSpPr txBox="1"/>
          <p:nvPr/>
        </p:nvSpPr>
        <p:spPr>
          <a:xfrm>
            <a:off x="539496" y="4270248"/>
            <a:ext cx="3566159" cy="1472184"/>
          </a:xfrm>
          <a:prstGeom prst="rect">
            <a:avLst/>
          </a:prstGeom>
          <a:noFill/>
        </p:spPr>
        <p:txBody>
          <a:bodyPr wrap="square">
            <a:spAutoFit/>
          </a:bodyPr>
          <a:lstStyle/>
          <a:p>
            <a:pPr algn="l"/>
            <a:r>
              <a:rPr sz="850" b="0" i="0">
                <a:solidFill>
                  <a:srgbClr val="3A4356"/>
                </a:solidFill>
              </a:rPr>
              <a:t>Attach a photo to any calculation.
It appears on the report cover — and the
AI can cost from the photo itself.</a:t>
            </a:r>
          </a:p>
        </p:txBody>
      </p:sp>
      <p:sp>
        <p:nvSpPr>
          <p:cNvPr id="27" name="Rectangle 26"/>
          <p:cNvSpPr/>
          <p:nvPr/>
        </p:nvSpPr>
        <p:spPr>
          <a:xfrm>
            <a:off x="4270247"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Secure Access</a:t>
            </a:r>
          </a:p>
        </p:txBody>
      </p:sp>
      <p:sp>
        <p:nvSpPr>
          <p:cNvPr id="30" name="TextBox 29"/>
          <p:cNvSpPr txBox="1"/>
          <p:nvPr/>
        </p:nvSpPr>
        <p:spPr>
          <a:xfrm>
            <a:off x="4398263" y="4270248"/>
            <a:ext cx="3566159" cy="1472184"/>
          </a:xfrm>
          <a:prstGeom prst="rect">
            <a:avLst/>
          </a:prstGeom>
          <a:noFill/>
        </p:spPr>
        <p:txBody>
          <a:bodyPr wrap="square">
            <a:spAutoFit/>
          </a:bodyPr>
          <a:lstStyle/>
          <a:p>
            <a:pPr algn="l"/>
            <a:r>
              <a:rPr sz="850" b="0" i="0">
                <a:solidFill>
                  <a:srgbClr val="3A4356"/>
                </a:solidFill>
              </a:rPr>
              <a:t>Enterprise sign-in, as you would expect.
Email verification, password reset,
and sign-in attempts capped.</a:t>
            </a:r>
          </a:p>
        </p:txBody>
      </p:sp>
      <p:sp>
        <p:nvSpPr>
          <p:cNvPr id="31" name="Rectangle 30"/>
          <p:cNvSpPr/>
          <p:nvPr/>
        </p:nvSpPr>
        <p:spPr>
          <a:xfrm>
            <a:off x="8129014"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Built-In Help</a:t>
            </a:r>
          </a:p>
        </p:txBody>
      </p:sp>
      <p:sp>
        <p:nvSpPr>
          <p:cNvPr id="34" name="TextBox 33"/>
          <p:cNvSpPr txBox="1"/>
          <p:nvPr/>
        </p:nvSpPr>
        <p:spPr>
          <a:xfrm>
            <a:off x="8257030" y="4270248"/>
            <a:ext cx="3566159" cy="1472184"/>
          </a:xfrm>
          <a:prstGeom prst="rect">
            <a:avLst/>
          </a:prstGeom>
          <a:noFill/>
        </p:spPr>
        <p:txBody>
          <a:bodyPr wrap="square">
            <a:spAutoFit/>
          </a:bodyPr>
          <a:lstStyle/>
          <a:p>
            <a:pPr algn="l"/>
            <a:r>
              <a:rPr sz="850" b="0" i="0">
                <a:solidFill>
                  <a:srgbClr val="3A4356"/>
                </a:solidFill>
              </a:rPr>
              <a:t>Nobody needs training to start.
Getting started, the AI agent, CAD and photo,
a glossary and troubleshooting — all in the app.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This Is Worth</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same claims, in numbers a finance team recognises.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1D6FB8"/>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3A4356"/>
                </a:solidFill>
              </a:rPr>
              <a:t>Reduction in costing time</a:t>
            </a:r>
          </a:p>
        </p:txBody>
      </p:sp>
      <p:sp>
        <p:nvSpPr>
          <p:cNvPr id="14" name="Rectangle 13"/>
          <p:cNvSpPr/>
          <p:nvPr/>
        </p:nvSpPr>
        <p:spPr>
          <a:xfrm>
            <a:off x="2697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2E8B57"/>
                </a:solidFill>
              </a:rPr>
              <a:t>&lt;0.01%</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3A4356"/>
                </a:solidFill>
              </a:rPr>
              <a:t>Engine vs hand calc, reference part</a:t>
            </a:r>
          </a:p>
        </p:txBody>
      </p:sp>
      <p:sp>
        <p:nvSpPr>
          <p:cNvPr id="17" name="Rectangle 16"/>
          <p:cNvSpPr/>
          <p:nvPr/>
        </p:nvSpPr>
        <p:spPr>
          <a:xfrm>
            <a:off x="4983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B7791F"/>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3A4356"/>
                </a:solidFill>
              </a:rPr>
              <a:t>Typical supplier price reduction</a:t>
            </a:r>
          </a:p>
        </p:txBody>
      </p:sp>
      <p:sp>
        <p:nvSpPr>
          <p:cNvPr id="20" name="Rectangle 19"/>
          <p:cNvSpPr/>
          <p:nvPr/>
        </p:nvSpPr>
        <p:spPr>
          <a:xfrm>
            <a:off x="7269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6B3FA0"/>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3A4356"/>
                </a:solidFill>
              </a:rPr>
              <a:t>Faster sourcing decisions</a:t>
            </a:r>
          </a:p>
        </p:txBody>
      </p:sp>
      <p:sp>
        <p:nvSpPr>
          <p:cNvPr id="23" name="Rectangle 22"/>
          <p:cNvSpPr/>
          <p:nvPr/>
        </p:nvSpPr>
        <p:spPr>
          <a:xfrm>
            <a:off x="9555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2E8B57"/>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3A4356"/>
                </a:solidFill>
              </a:rPr>
              <a:t>On £500M of spend, a 3% improvement</a:t>
            </a:r>
          </a:p>
        </p:txBody>
      </p:sp>
      <p:sp>
        <p:nvSpPr>
          <p:cNvPr id="26" name="Rectangle 25"/>
          <p:cNvSpPr/>
          <p:nvPr/>
        </p:nvSpPr>
        <p:spPr>
          <a:xfrm>
            <a:off x="411480"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Speed</a:t>
            </a:r>
          </a:p>
        </p:txBody>
      </p:sp>
      <p:sp>
        <p:nvSpPr>
          <p:cNvPr id="29" name="TextBox 28"/>
          <p:cNvSpPr txBox="1"/>
          <p:nvPr/>
        </p:nvSpPr>
        <p:spPr>
          <a:xfrm>
            <a:off x="539496" y="3355848"/>
            <a:ext cx="2590723" cy="1152144"/>
          </a:xfrm>
          <a:prstGeom prst="rect">
            <a:avLst/>
          </a:prstGeom>
          <a:noFill/>
        </p:spPr>
        <p:txBody>
          <a:bodyPr wrap="square">
            <a:spAutoFit/>
          </a:bodyPr>
          <a:lstStyle/>
          <a:p>
            <a:pPr algn="l"/>
            <a:r>
              <a:rPr sz="950" b="0" i="0">
                <a:solidFill>
                  <a:srgbClr val="3A4356"/>
                </a:solidFill>
              </a:rPr>
              <a:t>Two to four weeks becomes ten minutes. Engineers spend the day deciding, not building spreadsheets.</a:t>
            </a:r>
          </a:p>
        </p:txBody>
      </p:sp>
      <p:sp>
        <p:nvSpPr>
          <p:cNvPr id="30" name="Rectangle 29"/>
          <p:cNvSpPr/>
          <p:nvPr/>
        </p:nvSpPr>
        <p:spPr>
          <a:xfrm>
            <a:off x="3276523"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76523" y="2971800"/>
            <a:ext cx="54864" cy="16459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4539"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Accuracy</a:t>
            </a:r>
          </a:p>
        </p:txBody>
      </p:sp>
      <p:sp>
        <p:nvSpPr>
          <p:cNvPr id="33" name="TextBox 32"/>
          <p:cNvSpPr txBox="1"/>
          <p:nvPr/>
        </p:nvSpPr>
        <p:spPr>
          <a:xfrm>
            <a:off x="3404539" y="3355848"/>
            <a:ext cx="2590723" cy="1152144"/>
          </a:xfrm>
          <a:prstGeom prst="rect">
            <a:avLst/>
          </a:prstGeom>
          <a:noFill/>
        </p:spPr>
        <p:txBody>
          <a:bodyPr wrap="square">
            <a:spAutoFit/>
          </a:bodyPr>
          <a:lstStyle/>
          <a:p>
            <a:pPr algn="l"/>
            <a:r>
              <a:rPr sz="950" b="0" i="0">
                <a:solidFill>
                  <a:srgbClr val="3A4356"/>
                </a:solidFill>
              </a:rPr>
              <a:t>Built from the physics of the process, every rate on record. Accuracy is measured as real prices are logged — not claimed up front.</a:t>
            </a:r>
          </a:p>
        </p:txBody>
      </p:sp>
      <p:sp>
        <p:nvSpPr>
          <p:cNvPr id="34" name="Rectangle 33"/>
          <p:cNvSpPr/>
          <p:nvPr/>
        </p:nvSpPr>
        <p:spPr>
          <a:xfrm>
            <a:off x="6141567"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41567" y="2971800"/>
            <a:ext cx="54864" cy="16459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Negotiation</a:t>
            </a:r>
          </a:p>
        </p:txBody>
      </p:sp>
      <p:sp>
        <p:nvSpPr>
          <p:cNvPr id="37" name="TextBox 36"/>
          <p:cNvSpPr txBox="1"/>
          <p:nvPr/>
        </p:nvSpPr>
        <p:spPr>
          <a:xfrm>
            <a:off x="6269583" y="3355848"/>
            <a:ext cx="2590723" cy="1152144"/>
          </a:xfrm>
          <a:prstGeom prst="rect">
            <a:avLst/>
          </a:prstGeom>
          <a:noFill/>
        </p:spPr>
        <p:txBody>
          <a:bodyPr wrap="square">
            <a:spAutoFit/>
          </a:bodyPr>
          <a:lstStyle/>
          <a:p>
            <a:pPr algn="l"/>
            <a:r>
              <a:rPr sz="950" b="0" i="0">
                <a:solidFill>
                  <a:srgbClr val="3A4356"/>
                </a:solidFill>
              </a:rPr>
              <a:t>A floor price you can defend, part by part. Supplier margin becomes visible instead of assumed.</a:t>
            </a:r>
          </a:p>
        </p:txBody>
      </p:sp>
      <p:sp>
        <p:nvSpPr>
          <p:cNvPr id="38" name="Rectangle 37"/>
          <p:cNvSpPr/>
          <p:nvPr/>
        </p:nvSpPr>
        <p:spPr>
          <a:xfrm>
            <a:off x="9006611"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06611" y="297180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627"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Early Warning</a:t>
            </a:r>
          </a:p>
        </p:txBody>
      </p:sp>
      <p:sp>
        <p:nvSpPr>
          <p:cNvPr id="41" name="TextBox 40"/>
          <p:cNvSpPr txBox="1"/>
          <p:nvPr/>
        </p:nvSpPr>
        <p:spPr>
          <a:xfrm>
            <a:off x="9134627" y="3355848"/>
            <a:ext cx="2590723" cy="1152144"/>
          </a:xfrm>
          <a:prstGeom prst="rect">
            <a:avLst/>
          </a:prstGeom>
          <a:noFill/>
        </p:spPr>
        <p:txBody>
          <a:bodyPr wrap="square">
            <a:spAutoFit/>
          </a:bodyPr>
          <a:lstStyle/>
          <a:p>
            <a:pPr algn="l"/>
            <a:r>
              <a:rPr sz="950" b="0" i="0">
                <a:solidFill>
                  <a:srgbClr val="3A4356"/>
                </a:solidFill>
              </a:rPr>
              <a:t>Most of the cost is fixed at design. Problems surface while changing them is still free.</a:t>
            </a:r>
          </a:p>
        </p:txBody>
      </p:sp>
      <p:sp>
        <p:nvSpPr>
          <p:cNvPr id="42" name="Rectangle 41"/>
          <p:cNvSpPr/>
          <p:nvPr/>
        </p:nvSpPr>
        <p:spPr>
          <a:xfrm>
            <a:off x="411480"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709160"/>
            <a:ext cx="54864" cy="16459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Where to Build It</a:t>
            </a:r>
          </a:p>
        </p:txBody>
      </p:sp>
      <p:sp>
        <p:nvSpPr>
          <p:cNvPr id="45" name="TextBox 44"/>
          <p:cNvSpPr txBox="1"/>
          <p:nvPr/>
        </p:nvSpPr>
        <p:spPr>
          <a:xfrm>
            <a:off x="539496" y="5093208"/>
            <a:ext cx="2590723" cy="1152144"/>
          </a:xfrm>
          <a:prstGeom prst="rect">
            <a:avLst/>
          </a:prstGeom>
          <a:noFill/>
        </p:spPr>
        <p:txBody>
          <a:bodyPr wrap="square">
            <a:spAutoFit/>
          </a:bodyPr>
          <a:lstStyle/>
          <a:p>
            <a:pPr algn="l"/>
            <a:r>
              <a:rPr sz="950" b="0" i="0">
                <a:solidFill>
                  <a:srgbClr val="3A4356"/>
                </a:solidFill>
              </a:rPr>
              <a:t>Compare 20 regions in one click. Make-vs-buy answered with real rates.</a:t>
            </a:r>
          </a:p>
        </p:txBody>
      </p:sp>
      <p:sp>
        <p:nvSpPr>
          <p:cNvPr id="46" name="Rectangle 45"/>
          <p:cNvSpPr/>
          <p:nvPr/>
        </p:nvSpPr>
        <p:spPr>
          <a:xfrm>
            <a:off x="3276523"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76523" y="470916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04539"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One Method</a:t>
            </a:r>
          </a:p>
        </p:txBody>
      </p:sp>
      <p:sp>
        <p:nvSpPr>
          <p:cNvPr id="49" name="TextBox 48"/>
          <p:cNvSpPr txBox="1"/>
          <p:nvPr/>
        </p:nvSpPr>
        <p:spPr>
          <a:xfrm>
            <a:off x="3404539" y="5093208"/>
            <a:ext cx="2590723" cy="1152144"/>
          </a:xfrm>
          <a:prstGeom prst="rect">
            <a:avLst/>
          </a:prstGeom>
          <a:noFill/>
        </p:spPr>
        <p:txBody>
          <a:bodyPr wrap="square">
            <a:spAutoFit/>
          </a:bodyPr>
          <a:lstStyle/>
          <a:p>
            <a:pPr algn="l"/>
            <a:r>
              <a:rPr sz="950" b="0" i="0">
                <a:solidFill>
                  <a:srgbClr val="3A4356"/>
                </a:solidFill>
              </a:rPr>
              <a:t>The same model everywhere, with every assumption on record. Leadership sees one set of numbers.</a:t>
            </a:r>
          </a:p>
        </p:txBody>
      </p:sp>
      <p:sp>
        <p:nvSpPr>
          <p:cNvPr id="50" name="Rectangle 49"/>
          <p:cNvSpPr/>
          <p:nvPr/>
        </p:nvSpPr>
        <p:spPr>
          <a:xfrm>
            <a:off x="6141567"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41567" y="4709160"/>
            <a:ext cx="54864" cy="16459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9583"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The Right Volume</a:t>
            </a:r>
          </a:p>
        </p:txBody>
      </p:sp>
      <p:sp>
        <p:nvSpPr>
          <p:cNvPr id="53" name="TextBox 52"/>
          <p:cNvSpPr txBox="1"/>
          <p:nvPr/>
        </p:nvSpPr>
        <p:spPr>
          <a:xfrm>
            <a:off x="6269583" y="5093208"/>
            <a:ext cx="2590723" cy="1152144"/>
          </a:xfrm>
          <a:prstGeom prst="rect">
            <a:avLst/>
          </a:prstGeom>
          <a:noFill/>
        </p:spPr>
        <p:txBody>
          <a:bodyPr wrap="square">
            <a:spAutoFit/>
          </a:bodyPr>
          <a:lstStyle/>
          <a:p>
            <a:pPr algn="l"/>
            <a:r>
              <a:rPr sz="950" b="0" i="0">
                <a:solidFill>
                  <a:srgbClr val="3A4356"/>
                </a:solidFill>
              </a:rPr>
              <a:t>See what the part costs as volume grows, and when a new process starts to pay.</a:t>
            </a:r>
          </a:p>
        </p:txBody>
      </p:sp>
      <p:sp>
        <p:nvSpPr>
          <p:cNvPr id="54" name="Rectangle 53"/>
          <p:cNvSpPr/>
          <p:nvPr/>
        </p:nvSpPr>
        <p:spPr>
          <a:xfrm>
            <a:off x="9006611"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611" y="470916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627"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Shared Knowledge</a:t>
            </a:r>
          </a:p>
        </p:txBody>
      </p:sp>
      <p:sp>
        <p:nvSpPr>
          <p:cNvPr id="57" name="TextBox 56"/>
          <p:cNvSpPr txBox="1"/>
          <p:nvPr/>
        </p:nvSpPr>
        <p:spPr>
          <a:xfrm>
            <a:off x="9134627" y="5093208"/>
            <a:ext cx="2590723" cy="1152144"/>
          </a:xfrm>
          <a:prstGeom prst="rect">
            <a:avLst/>
          </a:prstGeom>
          <a:noFill/>
        </p:spPr>
        <p:txBody>
          <a:bodyPr wrap="square">
            <a:spAutoFit/>
          </a:bodyPr>
          <a:lstStyle/>
          <a:p>
            <a:pPr algn="l"/>
            <a:r>
              <a:rPr sz="950" b="0" i="0">
                <a:solidFill>
                  <a:srgbClr val="3A4356"/>
                </a:solidFill>
              </a:rPr>
              <a:t>One baseline the whole team works from. Cost know-how stays with the business, not one engineer.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2E8B57"/>
                </a:solidFill>
                <a:latin typeface="Segoe UI Emoji"/>
              </a:rPr>
              <a:t>📍</a:t>
            </a:r>
            <a:r>
              <a:rPr sz="950" b="1" i="0">
                <a:solidFill>
                  <a:srgbClr val="2E8B57"/>
                </a:solidFill>
              </a:rPr>
              <a:t> Current Capabilities — Live Today</a:t>
            </a:r>
          </a:p>
        </p:txBody>
      </p:sp>
      <p:sp>
        <p:nvSpPr>
          <p:cNvPr id="14" name="Rectangle 13"/>
          <p:cNvSpPr/>
          <p:nvPr/>
        </p:nvSpPr>
        <p:spPr>
          <a:xfrm>
            <a:off x="594360" y="2368296"/>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900" b="0" i="0">
                <a:solidFill>
                  <a:srgbClr val="3A4356"/>
                </a:solidFill>
              </a:rPr>
              <a:t>21 commodities costed to engineering depth</a:t>
            </a:r>
          </a:p>
        </p:txBody>
      </p:sp>
      <p:sp>
        <p:nvSpPr>
          <p:cNvPr id="16" name="Rectangle 15"/>
          <p:cNvSpPr/>
          <p:nvPr/>
        </p:nvSpPr>
        <p:spPr>
          <a:xfrm>
            <a:off x="594360" y="2811272"/>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674112"/>
            <a:ext cx="4846320" cy="274320"/>
          </a:xfrm>
          <a:prstGeom prst="rect">
            <a:avLst/>
          </a:prstGeom>
          <a:noFill/>
        </p:spPr>
        <p:txBody>
          <a:bodyPr wrap="square">
            <a:spAutoFit/>
          </a:bodyPr>
          <a:lstStyle/>
          <a:p>
            <a:pPr algn="l"/>
            <a:r>
              <a:rPr sz="900" b="0" i="0">
                <a:solidFill>
                  <a:srgbClr val="3A4356"/>
                </a:solidFill>
              </a:rPr>
              <a:t>Describe a part in plain English — the model builds itself</a:t>
            </a:r>
          </a:p>
        </p:txBody>
      </p:sp>
      <p:sp>
        <p:nvSpPr>
          <p:cNvPr id="18" name="Rectangle 17"/>
          <p:cNvSpPr/>
          <p:nvPr/>
        </p:nvSpPr>
        <p:spPr>
          <a:xfrm>
            <a:off x="594360" y="325424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3117088"/>
            <a:ext cx="4846320" cy="274320"/>
          </a:xfrm>
          <a:prstGeom prst="rect">
            <a:avLst/>
          </a:prstGeom>
          <a:noFill/>
        </p:spPr>
        <p:txBody>
          <a:bodyPr wrap="square">
            <a:spAutoFit/>
          </a:bodyPr>
          <a:lstStyle/>
          <a:p>
            <a:pPr algn="l"/>
            <a:r>
              <a:rPr sz="900" b="0" i="0">
                <a:solidFill>
                  <a:srgbClr val="3A4356"/>
                </a:solidFill>
              </a:rPr>
              <a:t>Upload a CAD file or a photo, get a cost in minutes</a:t>
            </a:r>
          </a:p>
        </p:txBody>
      </p:sp>
      <p:sp>
        <p:nvSpPr>
          <p:cNvPr id="20" name="Rectangle 19"/>
          <p:cNvSpPr/>
          <p:nvPr/>
        </p:nvSpPr>
        <p:spPr>
          <a:xfrm>
            <a:off x="594360" y="369722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560064"/>
            <a:ext cx="4846320" cy="274320"/>
          </a:xfrm>
          <a:prstGeom prst="rect">
            <a:avLst/>
          </a:prstGeom>
          <a:noFill/>
        </p:spPr>
        <p:txBody>
          <a:bodyPr wrap="square">
            <a:spAutoFit/>
          </a:bodyPr>
          <a:lstStyle/>
          <a:p>
            <a:pPr algn="l"/>
            <a:r>
              <a:rPr sz="900" b="0" i="0">
                <a:solidFill>
                  <a:srgbClr val="3A4356"/>
                </a:solidFill>
              </a:rPr>
              <a:t>Every estimate re-checked, and corrected, before you see it</a:t>
            </a:r>
          </a:p>
        </p:txBody>
      </p:sp>
      <p:sp>
        <p:nvSpPr>
          <p:cNvPr id="22" name="Rectangle 21"/>
          <p:cNvSpPr/>
          <p:nvPr/>
        </p:nvSpPr>
        <p:spPr>
          <a:xfrm>
            <a:off x="594360" y="4140200"/>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003040"/>
            <a:ext cx="4846320" cy="274320"/>
          </a:xfrm>
          <a:prstGeom prst="rect">
            <a:avLst/>
          </a:prstGeom>
          <a:noFill/>
        </p:spPr>
        <p:txBody>
          <a:bodyPr wrap="square">
            <a:spAutoFit/>
          </a:bodyPr>
          <a:lstStyle/>
          <a:p>
            <a:pPr algn="l"/>
            <a:r>
              <a:rPr sz="900" b="0" i="0">
                <a:solidFill>
                  <a:srgbClr val="3A4356"/>
                </a:solidFill>
              </a:rPr>
              <a:t>Learns from the supplier quotes you already have</a:t>
            </a:r>
          </a:p>
        </p:txBody>
      </p:sp>
      <p:sp>
        <p:nvSpPr>
          <p:cNvPr id="24" name="Rectangle 23"/>
          <p:cNvSpPr/>
          <p:nvPr/>
        </p:nvSpPr>
        <p:spPr>
          <a:xfrm>
            <a:off x="594360" y="4583176"/>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446016"/>
            <a:ext cx="4846320" cy="274320"/>
          </a:xfrm>
          <a:prstGeom prst="rect">
            <a:avLst/>
          </a:prstGeom>
          <a:noFill/>
        </p:spPr>
        <p:txBody>
          <a:bodyPr wrap="square">
            <a:spAutoFit/>
          </a:bodyPr>
          <a:lstStyle/>
          <a:p>
            <a:pPr algn="l"/>
            <a:r>
              <a:rPr sz="900" b="0" i="0">
                <a:solidFill>
                  <a:srgbClr val="3A4356"/>
                </a:solidFill>
              </a:rPr>
              <a:t>Whole assemblies, not just single parts</a:t>
            </a:r>
          </a:p>
        </p:txBody>
      </p:sp>
      <p:sp>
        <p:nvSpPr>
          <p:cNvPr id="26" name="Rectangle 25"/>
          <p:cNvSpPr/>
          <p:nvPr/>
        </p:nvSpPr>
        <p:spPr>
          <a:xfrm>
            <a:off x="594360" y="5026152"/>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888992"/>
            <a:ext cx="4846320" cy="274320"/>
          </a:xfrm>
          <a:prstGeom prst="rect">
            <a:avLst/>
          </a:prstGeom>
          <a:noFill/>
        </p:spPr>
        <p:txBody>
          <a:bodyPr wrap="square">
            <a:spAutoFit/>
          </a:bodyPr>
          <a:lstStyle/>
          <a:p>
            <a:pPr algn="l"/>
            <a:r>
              <a:rPr sz="900" b="0" i="0">
                <a:solidFill>
                  <a:srgbClr val="3A4356"/>
                </a:solidFill>
              </a:rPr>
              <a:t>Learning curve, quote comparison and scenarios</a:t>
            </a:r>
          </a:p>
        </p:txBody>
      </p:sp>
      <p:sp>
        <p:nvSpPr>
          <p:cNvPr id="28" name="Rectangle 27"/>
          <p:cNvSpPr/>
          <p:nvPr/>
        </p:nvSpPr>
        <p:spPr>
          <a:xfrm>
            <a:off x="594360" y="546912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5331968"/>
            <a:ext cx="4846320" cy="274320"/>
          </a:xfrm>
          <a:prstGeom prst="rect">
            <a:avLst/>
          </a:prstGeom>
          <a:noFill/>
        </p:spPr>
        <p:txBody>
          <a:bodyPr wrap="square">
            <a:spAutoFit/>
          </a:bodyPr>
          <a:lstStyle/>
          <a:p>
            <a:pPr algn="l"/>
            <a:r>
              <a:rPr sz="900" b="0" i="0">
                <a:solidFill>
                  <a:srgbClr val="3A4356"/>
                </a:solidFill>
              </a:rPr>
              <a:t>20 regions and 10 currencies, switched automatically</a:t>
            </a:r>
          </a:p>
        </p:txBody>
      </p:sp>
      <p:sp>
        <p:nvSpPr>
          <p:cNvPr id="30" name="Rectangle 29"/>
          <p:cNvSpPr/>
          <p:nvPr/>
        </p:nvSpPr>
        <p:spPr>
          <a:xfrm>
            <a:off x="594360" y="591210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5774944"/>
            <a:ext cx="4846320" cy="274320"/>
          </a:xfrm>
          <a:prstGeom prst="rect">
            <a:avLst/>
          </a:prstGeom>
          <a:noFill/>
        </p:spPr>
        <p:txBody>
          <a:bodyPr wrap="square">
            <a:spAutoFit/>
          </a:bodyPr>
          <a:lstStyle/>
          <a:p>
            <a:pPr algn="l"/>
            <a:r>
              <a:rPr sz="900" b="0" i="0">
                <a:solidFill>
                  <a:srgbClr val="3A4356"/>
                </a:solidFill>
              </a:rPr>
              <a:t>Excel and PDF reports, shared across the team</a:t>
            </a:r>
          </a:p>
        </p:txBody>
      </p:sp>
      <p:sp>
        <p:nvSpPr>
          <p:cNvPr id="32" name="Rectangle 31"/>
          <p:cNvSpPr/>
          <p:nvPr/>
        </p:nvSpPr>
        <p:spPr>
          <a:xfrm>
            <a:off x="6035040" y="182880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35040" y="1828800"/>
            <a:ext cx="54864" cy="969264"/>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3056" y="1883664"/>
            <a:ext cx="5577840" cy="256032"/>
          </a:xfrm>
          <a:prstGeom prst="rect">
            <a:avLst/>
          </a:prstGeom>
          <a:noFill/>
        </p:spPr>
        <p:txBody>
          <a:bodyPr wrap="square">
            <a:spAutoFit/>
          </a:bodyPr>
          <a:lstStyle/>
          <a:p>
            <a:pPr algn="l"/>
            <a:r>
              <a:rPr sz="900" b="1" i="0">
                <a:solidFill>
                  <a:srgbClr val="B7791F"/>
                </a:solidFill>
              </a:rPr>
              <a:t>Phase 2 — H2 2026</a:t>
            </a:r>
          </a:p>
        </p:txBody>
      </p:sp>
      <p:sp>
        <p:nvSpPr>
          <p:cNvPr id="35" name="TextBox 34"/>
          <p:cNvSpPr txBox="1"/>
          <p:nvPr/>
        </p:nvSpPr>
        <p:spPr>
          <a:xfrm>
            <a:off x="6163056" y="2121408"/>
            <a:ext cx="5577840" cy="658368"/>
          </a:xfrm>
          <a:prstGeom prst="rect">
            <a:avLst/>
          </a:prstGeom>
          <a:noFill/>
        </p:spPr>
        <p:txBody>
          <a:bodyPr wrap="square">
            <a:spAutoFit/>
          </a:bodyPr>
          <a:lstStyle/>
          <a:p>
            <a:pPr algn="l"/>
            <a:r>
              <a:rPr sz="800" b="0" i="0">
                <a:solidFill>
                  <a:srgbClr val="3A4356"/>
                </a:solidFill>
              </a:rPr>
              <a:t>Connect to Teamcenter and SAP
Cost-target dashboard for programme teams
Compare several suppliers side by side</a:t>
            </a:r>
          </a:p>
        </p:txBody>
      </p:sp>
      <p:sp>
        <p:nvSpPr>
          <p:cNvPr id="36" name="Rectangle 35"/>
          <p:cNvSpPr/>
          <p:nvPr/>
        </p:nvSpPr>
        <p:spPr>
          <a:xfrm>
            <a:off x="6035040" y="2871215"/>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35040" y="2871215"/>
            <a:ext cx="54864" cy="96926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3056" y="2926079"/>
            <a:ext cx="5577840" cy="256032"/>
          </a:xfrm>
          <a:prstGeom prst="rect">
            <a:avLst/>
          </a:prstGeom>
          <a:noFill/>
        </p:spPr>
        <p:txBody>
          <a:bodyPr wrap="square">
            <a:spAutoFit/>
          </a:bodyPr>
          <a:lstStyle/>
          <a:p>
            <a:pPr algn="l"/>
            <a:r>
              <a:rPr sz="900" b="1" i="0">
                <a:solidFill>
                  <a:srgbClr val="6B3FA0"/>
                </a:solidFill>
              </a:rPr>
              <a:t>Phase 3 — 2027</a:t>
            </a:r>
          </a:p>
        </p:txBody>
      </p:sp>
      <p:sp>
        <p:nvSpPr>
          <p:cNvPr id="39" name="TextBox 38"/>
          <p:cNvSpPr txBox="1"/>
          <p:nvPr/>
        </p:nvSpPr>
        <p:spPr>
          <a:xfrm>
            <a:off x="6163056" y="3163823"/>
            <a:ext cx="5577840" cy="658368"/>
          </a:xfrm>
          <a:prstGeom prst="rect">
            <a:avLst/>
          </a:prstGeom>
          <a:noFill/>
        </p:spPr>
        <p:txBody>
          <a:bodyPr wrap="square">
            <a:spAutoFit/>
          </a:bodyPr>
          <a:lstStyle/>
          <a:p>
            <a:pPr algn="l"/>
            <a:r>
              <a:rPr sz="800" b="0" i="0">
                <a:solidFill>
                  <a:srgbClr val="3A4356"/>
                </a:solidFill>
              </a:rPr>
              <a:t>Calibrate itself from live ERP actuals
Draft the RFQ straight from the should-cost
Portfolio view for the leadership team</a:t>
            </a:r>
          </a:p>
        </p:txBody>
      </p:sp>
      <p:sp>
        <p:nvSpPr>
          <p:cNvPr id="40" name="Rectangle 39"/>
          <p:cNvSpPr/>
          <p:nvPr/>
        </p:nvSpPr>
        <p:spPr>
          <a:xfrm>
            <a:off x="6035040" y="391363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3913630"/>
            <a:ext cx="54864" cy="9692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3968494"/>
            <a:ext cx="5577840" cy="256032"/>
          </a:xfrm>
          <a:prstGeom prst="rect">
            <a:avLst/>
          </a:prstGeom>
          <a:noFill/>
        </p:spPr>
        <p:txBody>
          <a:bodyPr wrap="square">
            <a:spAutoFit/>
          </a:bodyPr>
          <a:lstStyle/>
          <a:p>
            <a:pPr algn="l"/>
            <a:r>
              <a:rPr sz="900" b="1" i="0">
                <a:solidFill>
                  <a:srgbClr val="1D6FB8"/>
                </a:solidFill>
              </a:rPr>
              <a:t>Phase 4 — 2027+</a:t>
            </a:r>
          </a:p>
        </p:txBody>
      </p:sp>
      <p:sp>
        <p:nvSpPr>
          <p:cNvPr id="43" name="TextBox 42"/>
          <p:cNvSpPr txBox="1"/>
          <p:nvPr/>
        </p:nvSpPr>
        <p:spPr>
          <a:xfrm>
            <a:off x="6163056" y="4206238"/>
            <a:ext cx="5577840" cy="658368"/>
          </a:xfrm>
          <a:prstGeom prst="rect">
            <a:avLst/>
          </a:prstGeom>
          <a:noFill/>
        </p:spPr>
        <p:txBody>
          <a:bodyPr wrap="square">
            <a:spAutoFit/>
          </a:bodyPr>
          <a:lstStyle/>
          <a:p>
            <a:pPr algn="l"/>
            <a:r>
              <a:rPr sz="800" b="0" i="0">
                <a:solidFill>
                  <a:srgbClr val="3A4356"/>
                </a:solidFill>
              </a:rPr>
              <a:t>Cost that updates as the design changes
AI suggestions for redesigning the part
Supplier risk scoring · mobile app for plant visits</a:t>
            </a:r>
          </a:p>
        </p:txBody>
      </p:sp>
      <p:sp>
        <p:nvSpPr>
          <p:cNvPr id="44" name="Rectangle 43"/>
          <p:cNvSpPr/>
          <p:nvPr/>
        </p:nvSpPr>
        <p:spPr>
          <a:xfrm>
            <a:off x="6035040" y="4956045"/>
            <a:ext cx="57607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4956045"/>
            <a:ext cx="54864" cy="1298448"/>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5029197"/>
            <a:ext cx="5577840" cy="256032"/>
          </a:xfrm>
          <a:prstGeom prst="rect">
            <a:avLst/>
          </a:prstGeom>
          <a:noFill/>
        </p:spPr>
        <p:txBody>
          <a:bodyPr wrap="square">
            <a:spAutoFit/>
          </a:bodyPr>
          <a:lstStyle/>
          <a:p>
            <a:pPr algn="l"/>
            <a:r>
              <a:rPr sz="900" b="1" i="0">
                <a:solidFill>
                  <a:srgbClr val="2E8B57"/>
                </a:solidFill>
                <a:latin typeface="Segoe UI Emoji"/>
              </a:rPr>
              <a:t>🚀</a:t>
            </a:r>
            <a:r>
              <a:rPr sz="900" b="1" i="0">
                <a:solidFill>
                  <a:srgbClr val="2E8B57"/>
                </a:solidFill>
              </a:rPr>
              <a:t>  Pilot Rollout — Next Steps</a:t>
            </a:r>
          </a:p>
        </p:txBody>
      </p:sp>
      <p:sp>
        <p:nvSpPr>
          <p:cNvPr id="47" name="TextBox 46"/>
          <p:cNvSpPr txBox="1"/>
          <p:nvPr/>
        </p:nvSpPr>
        <p:spPr>
          <a:xfrm>
            <a:off x="6163056" y="5303517"/>
            <a:ext cx="5577840" cy="841248"/>
          </a:xfrm>
          <a:prstGeom prst="rect">
            <a:avLst/>
          </a:prstGeom>
          <a:noFill/>
        </p:spPr>
        <p:txBody>
          <a:bodyPr wrap="square">
            <a:spAutoFit/>
          </a:bodyPr>
          <a:lstStyle/>
          <a:p>
            <a:pPr algn="l"/>
            <a:r>
              <a:rPr sz="850" b="0" i="0">
                <a:solidFill>
                  <a:srgbClr val="3A4356"/>
                </a:solidFill>
              </a:rPr>
              <a:t>• Two or three commodities, one programme team
• Four to six weeks, on real parts against real quotes
• We call it a success at 15% price reduction found per part
• Avinash Bhosale — Cost Engineering &amp; Digital Innovation</a:t>
            </a:r>
          </a:p>
        </p:txBody>
      </p:sp>
      <p:sp>
        <p:nvSpPr>
          <p:cNvPr id="48" name="Rectangle 47"/>
          <p:cNvSpPr/>
          <p:nvPr/>
        </p:nvSpPr>
        <p:spPr>
          <a:xfrm>
            <a:off x="411480" y="6473952"/>
            <a:ext cx="11368735"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6501384"/>
            <a:ext cx="11002975" cy="256032"/>
          </a:xfrm>
          <a:prstGeom prst="rect">
            <a:avLst/>
          </a:prstGeom>
          <a:noFill/>
        </p:spPr>
        <p:txBody>
          <a:bodyPr wrap="square">
            <a:spAutoFit/>
          </a:bodyPr>
          <a:lstStyle/>
          <a:p>
            <a:pPr algn="ctr"/>
            <a:r>
              <a:rPr sz="800" b="0" i="1">
                <a:solidFill>
                  <a:srgbClr val="6B72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