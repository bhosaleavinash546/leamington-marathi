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1371600"/>
            <a:ext cx="8686800" cy="4572000"/>
          </a:xfrm>
          <a:prstGeom prst="rect">
            <a:avLst/>
          </a:prstGeom>
          <a:solidFill>
            <a:srgbClr val="14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240280"/>
            <a:ext cx="402336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9AA3B8"/>
                </a:solidFill>
              </a:rPr>
              <a:t>AI-Powered Should-Cost Intelligence for Modern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F2F8"/>
                </a:solidFill>
              </a:rPr>
              <a:t>Designed &amp; Developed by  Avinash Bhosale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380"/>
                </a:solidFill>
              </a:rPr>
              <a:t>Cost Engineering &amp; Digital Innovation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920240" cy="329184"/>
          </a:xfrm>
          <a:prstGeom prst="rect">
            <a:avLst/>
          </a:prstGeom>
          <a:solidFill>
            <a:srgbClr val="1E233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17880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0B981"/>
                </a:solidFill>
              </a:rPr>
              <a:t>21 Commodity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4160520"/>
            <a:ext cx="1920240" cy="329184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82112" y="417880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F8EF7"/>
                </a:solidFill>
              </a:rPr>
              <a:t>AI Agent (NLP)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4160520"/>
            <a:ext cx="1920240" cy="329184"/>
          </a:xfrm>
          <a:prstGeom prst="rect">
            <a:avLst/>
          </a:prstGeom>
          <a:solidFill>
            <a:srgbClr val="1E2330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6672" y="417880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C3AED"/>
                </a:solidFill>
              </a:rPr>
              <a:t>CAD-to-Cost 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4160520"/>
            <a:ext cx="1920240" cy="329184"/>
          </a:xfrm>
          <a:prstGeom prst="rect">
            <a:avLst/>
          </a:prstGeom>
          <a:solidFill>
            <a:srgbClr val="1E2330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71231" y="417880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DFM / DFA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4160520"/>
            <a:ext cx="1920240" cy="329184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5792" y="417880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F8EF7"/>
                </a:solidFill>
              </a:rPr>
              <a:t>20 Regions · 10 FX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4617720"/>
            <a:ext cx="2286000" cy="301752"/>
          </a:xfrm>
          <a:prstGeom prst="rect">
            <a:avLst/>
          </a:prstGeom>
          <a:solidFill>
            <a:srgbClr val="1E233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19072" y="4636008"/>
            <a:ext cx="21488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0B981"/>
                </a:solidFill>
              </a:rPr>
              <a:t>Assembly BOM Rollup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4617720"/>
            <a:ext cx="2286000" cy="301752"/>
          </a:xfrm>
          <a:prstGeom prst="rect">
            <a:avLst/>
          </a:prstGeom>
          <a:solidFill>
            <a:srgbClr val="1E2330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13632" y="4636008"/>
            <a:ext cx="21488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C3AED"/>
                </a:solidFill>
              </a:rPr>
              <a:t>Wright's Law Learning Curve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617720"/>
            <a:ext cx="2286000" cy="301752"/>
          </a:xfrm>
          <a:prstGeom prst="rect">
            <a:avLst/>
          </a:prstGeom>
          <a:solidFill>
            <a:srgbClr val="1E2330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4636008"/>
            <a:ext cx="21488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59E0B"/>
                </a:solidFill>
              </a:rPr>
              <a:t>Supplier Quote Comparison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4617720"/>
            <a:ext cx="2286000" cy="301752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59952" y="4636008"/>
            <a:ext cx="21488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4F8EF7"/>
                </a:solidFill>
              </a:rPr>
              <a:t>Cloud Team Sync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CONFIDENTIAL — Management Review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Why CostVision? Traditional Costing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Manual effort, weeks of delay, and supplier dependency cost organisations millions annually.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28800"/>
            <a:ext cx="3749039" cy="14630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28800"/>
            <a:ext cx="54864" cy="1463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920240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⏱  Weeks, Not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176272"/>
            <a:ext cx="356615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Manual should-cost takes 2–4 weeks per part. Sourcing decisions stall. Programme timelines slip.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0247" y="1828800"/>
            <a:ext cx="3749039" cy="14630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0247" y="1828800"/>
            <a:ext cx="54864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8263" y="1920240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🔒  Supplier Dependency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8263" y="2176272"/>
            <a:ext cx="356615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Without independent cost intelligence, engineers accept quotes at face value — no leverage, no transparency.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4" y="1828800"/>
            <a:ext cx="3749039" cy="14630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9014" y="1828800"/>
            <a:ext cx="54864" cy="1463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0" y="1920240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📊  Inconsistent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0" y="2176272"/>
            <a:ext cx="356615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Every engineer calculates cost differently. No standard model. No auditable assumptions. No cross-team comparability.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01568"/>
            <a:ext cx="3749039" cy="14630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401568"/>
            <a:ext cx="54864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3493008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🌍  No Regional Visibility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" y="3749040"/>
            <a:ext cx="356615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Labour, machine, material and energy rates vary dramatically by country. Manual adjustment is error-prone.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0247" y="3401568"/>
            <a:ext cx="3749039" cy="14630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7" y="3401568"/>
            <a:ext cx="54864" cy="1463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98263" y="3493008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🎯  Late-Stage Cost Surprises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8263" y="3749040"/>
            <a:ext cx="356615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Cost issues discovered at SOP — not at concept. DFM problems missed. Expensive redesigns. Margin erosion at launch.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9014" y="3401568"/>
            <a:ext cx="3749039" cy="14630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29014" y="3401568"/>
            <a:ext cx="54864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0" y="3493008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💸  No Supplier Quote Benchmark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0" y="3749040"/>
            <a:ext cx="356615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Buyers lack a defensible floor price for negotiation. Supplier margins are opaque and unchallenged.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956048"/>
            <a:ext cx="11384280" cy="74980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992624"/>
            <a:ext cx="1005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9E0B"/>
                </a:solidFill>
              </a:rPr>
              <a:t>80%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04748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AA3B8"/>
                </a:solidFill>
              </a:rPr>
              <a:t>of part cost is locked in at the design stage — yet most cost analysis happens after design freeze.  CostVision shifts cost intelligence to where it matters: concept phase.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What is CostVision?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A world-class should-cost engine with AI at every layer — from natural language input to DFM/DFA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10512"/>
            <a:ext cx="54864" cy="13258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90195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🤖  AI Agent (Natural Language)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15798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Describe a part in plain English. AI auto-builds the complete cost model: material, routing, machines, operations.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81051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59" y="1810512"/>
            <a:ext cx="54864" cy="13258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5" y="190195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📐  CAD-to-Cost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9975" y="215798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Upload STEP / IGES / photo. AI extracts geometry, infers material, selects process model — full cost in minutes.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38" y="181051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38" y="1810512"/>
            <a:ext cx="54864" cy="1325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454" y="190195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🧠  21 Engineering-Grade Cost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4" y="215798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Physics-based models for every major commodity. Routing logic, yield curves, tooling amortisation — all encoded.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22783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227832"/>
            <a:ext cx="54864" cy="1325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331927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🔗  Assembly BOM Rollup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" y="357530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Cost entire assemblies — not just single parts. Multi-level BOM with per-component commodity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59" y="322783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51959" y="3227832"/>
            <a:ext cx="54864" cy="13258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9975" y="331927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📉  Learning Curve / Wright's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9975" y="357530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Project cost at any volume milestone. Configure learning curve %. Essential for LTA negotiations.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38" y="322783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38" y="3227832"/>
            <a:ext cx="54864" cy="13258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454" y="331927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💰  Supplier Quote Comparison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4" y="357530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Log supplier quotes. Compare vs should-cost instantly. Identify margin gaps. Generate negotiation talking points.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4515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4645152"/>
            <a:ext cx="54864" cy="1325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" y="473659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🔬  DFM / DFA Intelligence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499262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Bolt-on AI scores manufacturability 1–10. Critical issues, saving potential, actionable recommendations.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59" y="464515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51959" y="4645152"/>
            <a:ext cx="54864" cy="1325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9975" y="473659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🌍  20 Regions · 10 Currencies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5" y="499262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Real-time labour, machine, material and energy rates. Currency auto-switches when region is selected.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2438" y="4645152"/>
            <a:ext cx="3749039" cy="132588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92438" y="4645152"/>
            <a:ext cx="54864" cy="13258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0454" y="473659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📈  Export, Scenarios &amp; Team Sync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0454" y="4992624"/>
            <a:ext cx="35661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6-sheet Excel, PDF report, A/B/C scenario comparison, tornado sensitivity chart, cloud team sync.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GAME-CHANGING 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AI Agent — Natural Language Should-Costing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The fastest path from part concept to full cost breakdown: just describe the part in plain English.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8288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F8EF7"/>
                </a:solidFill>
              </a:rPr>
              <a:t>How It 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48840"/>
            <a:ext cx="5303520" cy="93268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148840"/>
            <a:ext cx="54864" cy="932688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22199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1. Describe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5973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Type a part description: 'Aluminium bracket, 6082-T6, approximately 200×100×50mm, 3 machined holes, anodised finish, 5,000/year UK production'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136392"/>
            <a:ext cx="5303520" cy="93268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3136392"/>
            <a:ext cx="54864" cy="932688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0954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2. AI Analyses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" y="3447288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Claude AI interprets the description, infers geometry, selects the most cost-effective manufacturing route, and chooses appropriate machines and labour grades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123944"/>
            <a:ext cx="5303520" cy="93268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123944"/>
            <a:ext cx="54864" cy="932688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" y="419709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3. Auto-Populate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" y="443484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The cost model is automatically populated: material weight, 3 machining operations, cycle times, OEE, tooling NRE — all filled without manual input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111496"/>
            <a:ext cx="5303520" cy="93268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5111496"/>
            <a:ext cx="54864" cy="932688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" y="51846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4. Full 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5422392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Click Calculate. Full 8-bucket cost breakdown, AI insights, DFM/DFA score, sensitivity analysis, and export — all ready in under 60 seconds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28800"/>
            <a:ext cx="5760720" cy="4498848"/>
          </a:xfrm>
          <a:prstGeom prst="rect">
            <a:avLst/>
          </a:prstGeom>
          <a:solidFill>
            <a:srgbClr val="161923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1828800"/>
            <a:ext cx="5760720" cy="329184"/>
          </a:xfrm>
          <a:prstGeom prst="rect">
            <a:avLst/>
          </a:prstGeom>
          <a:solidFill>
            <a:srgbClr val="1E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63056" y="1892808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F8EF7"/>
                </a:solidFill>
              </a:rPr>
              <a:t>●  CostVision AI 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63056" y="2231136"/>
            <a:ext cx="5504688" cy="4572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54496" y="22860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AA3B8"/>
                </a:solidFill>
              </a:rPr>
              <a:t>You: Describe a 4-layer FR4 PCB, 100×80mm, ENIG finish, flying probe test, 10,000/yr, UK manufacture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3056" y="2761488"/>
            <a:ext cx="5504688" cy="1463040"/>
          </a:xfrm>
          <a:prstGeom prst="rect">
            <a:avLst/>
          </a:prstGeom>
          <a:solidFill>
            <a:srgbClr val="1A243E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2816352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0F2F8"/>
                </a:solidFill>
              </a:rPr>
              <a:t>AI: Got it. Analysing your PCB specification...
• 4-layer FR4 standard, 100×80 mm board
• ENIG surface finish (+22% vs HASL)
• Flying probe electrical test
• UK pricing region applied
• NRE amortised over 10,000 boards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4297680"/>
            <a:ext cx="5504688" cy="4572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96" y="435254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AA3B8"/>
                </a:solidFill>
              </a:rPr>
              <a:t>You: What is the should-cost?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63056" y="4828032"/>
            <a:ext cx="5504688" cy="1261872"/>
          </a:xfrm>
          <a:prstGeom prst="rect">
            <a:avLst/>
          </a:prstGeom>
          <a:solidFill>
            <a:srgbClr val="1A243E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54496" y="4882896"/>
            <a:ext cx="53035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0F2F8"/>
                </a:solidFill>
              </a:rPr>
              <a:t>AI: Should-Cost Result: £ 4.18 per board
• PCB Fab (material + process): £ 3.24
• Test (flying probe): £ 0.71
• NRE amortised: £ 0.23
DFM Score: 8.5/10 — Good manufacturability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6208776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Key Benefits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6473952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AA3B8"/>
                </a:solidFill>
              </a:rPr>
              <a:t>⚡ Zero manual form-filling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6473952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AA3B8"/>
                </a:solidFill>
              </a:rPr>
              <a:t>🎯 Works for any commodity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6748272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AA3B8"/>
                </a:solidFill>
              </a:rPr>
              <a:t>✓ Validates all AI assumptions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6748272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AA3B8"/>
                </a:solidFill>
              </a:rPr>
              <a:t>📊 Full audit trail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CAD-to-Cost: Geometry to Should-Cost Automatically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Upload a STEP file or part photo — AI extracts features, infers material, and generates a full cost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1828800" cy="9144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0195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4F8EF7"/>
                </a:solidFill>
              </a:rPr>
              <a:t>10×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3774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AA3B8"/>
                </a:solidFill>
              </a:rPr>
              <a:t>Faster than manual costing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23160" y="1810512"/>
            <a:ext cx="1828800" cy="9144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190195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</a:rPr>
              <a:t>±8%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3774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AA3B8"/>
                </a:solidFill>
              </a:rPr>
              <a:t>Typical model accuracy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810512"/>
            <a:ext cx="1828800" cy="9144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90195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3774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AA3B8"/>
                </a:solidFill>
              </a:rPr>
              <a:t>Manual routing steps required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852928"/>
            <a:ext cx="5486400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852928"/>
            <a:ext cx="5486400" cy="36576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88950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What AI Extracts from CAD / Photo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3319272"/>
            <a:ext cx="54864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320040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Part geometry: envelope dimensions, volume, wall thickness, surface area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3630168"/>
            <a:ext cx="54864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1129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Feature recognition: holes, pockets, ribs, undercuts, threads, datum features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3941064"/>
            <a:ext cx="54864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382219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Material inference: visual texture &amp; density → grade selection (e.g. Al 6082-T6)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251960"/>
            <a:ext cx="54864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13308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Process selection: geometry → most cost-effective manufacturing route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4562856"/>
            <a:ext cx="54864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444398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Cycle time: material removal rate, tool path length, fixture &amp; setup strategy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4873752"/>
            <a:ext cx="54864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475488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Complexity: Simple / Moderate / Complex → machine type &amp; OEE selection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5184648"/>
            <a:ext cx="54864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506577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DFM pre-check: thin walls, tight radii, undercuts flagged before costing begins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852928"/>
            <a:ext cx="5486400" cy="3474720"/>
          </a:xfrm>
          <a:prstGeom prst="rect">
            <a:avLst/>
          </a:prstGeom>
          <a:solidFill>
            <a:srgbClr val="161923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852928"/>
            <a:ext cx="548640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2926080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AI Analysis Result — Aluminium Bracket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310128"/>
            <a:ext cx="2468880" cy="420624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3952" y="3337560"/>
            <a:ext cx="23225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6380"/>
                </a:solidFill>
              </a:rPr>
              <a:t>AI Detected Material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3511296"/>
            <a:ext cx="23225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F8EF7"/>
                </a:solidFill>
              </a:rPr>
              <a:t>Al 6082-T6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52560" y="3310128"/>
            <a:ext cx="2468880" cy="420624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25712" y="3337560"/>
            <a:ext cx="23225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6380"/>
                </a:solidFill>
              </a:rPr>
              <a:t>Suggested Process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5712" y="3511296"/>
            <a:ext cx="23225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3-Axis CNC Milling + Drilling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3785616"/>
            <a:ext cx="2468880" cy="420624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52" y="3813048"/>
            <a:ext cx="23225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6380"/>
                </a:solidFill>
              </a:rPr>
              <a:t>Envelope (L×W×H)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3952" y="3986784"/>
            <a:ext cx="23225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F2F8"/>
                </a:solidFill>
              </a:rPr>
              <a:t>220 × 140 × 85 mm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52560" y="3785616"/>
            <a:ext cx="2468880" cy="420624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25712" y="3813048"/>
            <a:ext cx="23225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6380"/>
                </a:solidFill>
              </a:rPr>
              <a:t>Est. Net Weight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5712" y="3986784"/>
            <a:ext cx="23225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F2F8"/>
                </a:solidFill>
              </a:rPr>
              <a:t>0.82 kg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4261104"/>
            <a:ext cx="2468880" cy="420624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4288536"/>
            <a:ext cx="23225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6380"/>
                </a:solidFill>
              </a:rPr>
              <a:t>Complexity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73952" y="4462272"/>
            <a:ext cx="23225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</a:rPr>
              <a:t>Moderate — 3 setups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52560" y="4261104"/>
            <a:ext cx="2468880" cy="420624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25712" y="4288536"/>
            <a:ext cx="23225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6380"/>
                </a:solidFill>
              </a:rPr>
              <a:t>DFM Pre-check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5712" y="4462272"/>
            <a:ext cx="23225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</a:rPr>
              <a:t>1 flag: 3 setups → consolidate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4754880"/>
            <a:ext cx="5212080" cy="475488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7960" y="47914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Should-Cost Preview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38360" y="4773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0B981"/>
                </a:solidFill>
              </a:rPr>
              <a:t>£ 28.40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285232"/>
            <a:ext cx="1980590" cy="14630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381390" y="5285232"/>
            <a:ext cx="1667865" cy="14630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049256" y="5285232"/>
            <a:ext cx="625449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674705" y="5285232"/>
            <a:ext cx="416966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091672" y="5285232"/>
            <a:ext cx="521208" cy="146304"/>
          </a:xfrm>
          <a:prstGeom prst="rect">
            <a:avLst/>
          </a:prstGeom>
          <a:solidFill>
            <a:srgbClr val="5A6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546811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6380"/>
                </a:solidFill>
              </a:rPr>
              <a:t>■ Mat 38%  ■ Proc 32%  ■ Lab 12%  ■ Tool 8%  ■ OH 10%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1938528"/>
            <a:ext cx="6126480" cy="80467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197510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6380"/>
                </a:solidFill>
              </a:rPr>
              <a:t>Supported formats: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20240" y="1993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F8EF7"/>
                </a:solidFill>
              </a:rPr>
              <a:t>.STEP   .IGES   .STP   .IGS   .JPG   .PNG   .HEIC   (drag-drop or file picker)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AI Agent — 8-Step End-to-End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Three entry points. One intelligent engine. Full cost intelligence in under 5 minutes.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11384280" cy="4572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65376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B8"/>
                </a:solidFill>
              </a:rPr>
              <a:t>Entry Point A: 🤖 AI Agent (plain English description)   |   Entry Point B: 📐 CAD / Photo Upload   |   Entry Point C: ✏️ Manual Form Entry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1384515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377440"/>
            <a:ext cx="1384515" cy="36576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432304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F8EF7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679192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2F8"/>
                </a:solidFill>
              </a:rPr>
              <a:t>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" y="2944368"/>
            <a:ext cx="127478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Select
Commodity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" y="3218688"/>
            <a:ext cx="127478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9AA3B8"/>
                </a:solidFill>
              </a:rPr>
              <a:t>Choose from 21 manufacturing commodities or let AI Agent auto-detect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9691" y="39319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8EF7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32571" y="2377440"/>
            <a:ext cx="1384515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32571" y="2377440"/>
            <a:ext cx="1384515" cy="36576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32571" y="2432304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F8EF7"/>
                </a:solidFill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2571" y="2679192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2F8"/>
                </a:solidFill>
              </a:rPr>
              <a:t>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7435" y="2944368"/>
            <a:ext cx="127478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AI Agent /
CAD / Manual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87435" y="3218688"/>
            <a:ext cx="127478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9AA3B8"/>
                </a:solidFill>
              </a:rPr>
              <a:t>Describe part, upload file, or enter parameters directly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0783" y="39319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8EF7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3663" y="2377440"/>
            <a:ext cx="1384515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53663" y="2377440"/>
            <a:ext cx="1384515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53663" y="2432304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C3AED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53663" y="2679192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2F8"/>
                </a:solidFill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08527" y="2944368"/>
            <a:ext cx="127478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AI Feature
Extraction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08527" y="3218688"/>
            <a:ext cx="127478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9AA3B8"/>
                </a:solidFill>
              </a:rPr>
              <a:t>AI reads geometry, identifies features, infers material &amp;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1875" y="39319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8EF7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74755" y="2377440"/>
            <a:ext cx="1384515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74755" y="2377440"/>
            <a:ext cx="1384515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74755" y="2432304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C3AED"/>
                </a:solidFill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4755" y="2679192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2F8"/>
                </a:solidFill>
              </a:rPr>
              <a:t>🛤️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9619" y="2944368"/>
            <a:ext cx="127478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AI Routing &amp;
Model Select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9619" y="3218688"/>
            <a:ext cx="127478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9AA3B8"/>
                </a:solidFill>
              </a:rPr>
              <a:t>AI sequences operations, selects machines, labour grades &amp; cycle times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12967" y="39319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8EF7"/>
                </a:solidFill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5847" y="2377440"/>
            <a:ext cx="1384515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5847" y="2377440"/>
            <a:ext cx="138451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2432304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847" y="2679192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2F8"/>
                </a:solidFill>
              </a:rPr>
              <a:t>⚙️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50711" y="2944368"/>
            <a:ext cx="127478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Should-Cost
Calculation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50711" y="3218688"/>
            <a:ext cx="127478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9AA3B8"/>
                </a:solidFill>
              </a:rPr>
              <a:t>8-bucket model: Material+Process+Labour+Tooling+OH+Margin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34059" y="39319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8EF7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16939" y="2377440"/>
            <a:ext cx="1384515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16939" y="2377440"/>
            <a:ext cx="138451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16939" y="2432304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16939" y="2679192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2F8"/>
                </a:solidFill>
              </a:rPr>
              <a:t>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71803" y="2944368"/>
            <a:ext cx="127478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AI Insights
Generated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71803" y="3218688"/>
            <a:ext cx="127478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9AA3B8"/>
                </a:solidFill>
              </a:rPr>
              <a:t>Benchmark comparisons, regional cost index, supplier margin analysis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5151" y="39319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8EF7"/>
                </a:solidFill>
              </a:rPr>
              <a:t>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8031" y="2377440"/>
            <a:ext cx="1384515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8031" y="2377440"/>
            <a:ext cx="138451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38031" y="2432304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38031" y="2679192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2F8"/>
                </a:solidFill>
              </a:rPr>
              <a:t>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92895" y="2944368"/>
            <a:ext cx="127478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DFM / DFA
Analysis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92895" y="3218688"/>
            <a:ext cx="127478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9AA3B8"/>
                </a:solidFill>
              </a:rPr>
              <a:t>Manufacturability + assembly scores, critical issues, saving potential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76243" y="39319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8EF7"/>
                </a:solidFill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59123" y="2377440"/>
            <a:ext cx="1384515" cy="3474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59123" y="2377440"/>
            <a:ext cx="1384515" cy="36576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359123" y="2432304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F8EF7"/>
                </a:solidFill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59123" y="2679192"/>
            <a:ext cx="13845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2F8"/>
                </a:solidFill>
              </a:rPr>
              <a:t>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13987" y="2944368"/>
            <a:ext cx="127478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Export &amp;
Share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13987" y="3218688"/>
            <a:ext cx="127478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9AA3B8"/>
                </a:solidFill>
              </a:rPr>
              <a:t>6-sheet Excel, PDF report, scenario save, cloud team sync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572768" cy="274320"/>
          </a:xfrm>
          <a:prstGeom prst="rect">
            <a:avLst/>
          </a:prstGeom>
          <a:solidFill>
            <a:srgbClr val="1E2330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4632" y="6016752"/>
            <a:ext cx="1444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F8EF7"/>
                </a:solidFill>
              </a:rPr>
              <a:t>⚡ Minutes, not weeks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39112" y="5989320"/>
            <a:ext cx="1572768" cy="274320"/>
          </a:xfrm>
          <a:prstGeom prst="rect">
            <a:avLst/>
          </a:prstGeom>
          <a:solidFill>
            <a:srgbClr val="1E2330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112264" y="6016752"/>
            <a:ext cx="1444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F8EF7"/>
                </a:solidFill>
              </a:rPr>
              <a:t>✓ Auditable assumptions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66744" y="5989320"/>
            <a:ext cx="1572768" cy="274320"/>
          </a:xfrm>
          <a:prstGeom prst="rect">
            <a:avLst/>
          </a:prstGeom>
          <a:solidFill>
            <a:srgbClr val="1E2330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739896" y="6016752"/>
            <a:ext cx="1444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F8EF7"/>
                </a:solidFill>
              </a:rPr>
              <a:t>🤖 Claude AI powered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94376" y="5989320"/>
            <a:ext cx="1572768" cy="274320"/>
          </a:xfrm>
          <a:prstGeom prst="rect">
            <a:avLst/>
          </a:prstGeom>
          <a:solidFill>
            <a:srgbClr val="1E2330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67528" y="6016752"/>
            <a:ext cx="1444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F8EF7"/>
                </a:solidFill>
              </a:rPr>
              <a:t>🌍 20 regions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22008" y="5989320"/>
            <a:ext cx="1572768" cy="274320"/>
          </a:xfrm>
          <a:prstGeom prst="rect">
            <a:avLst/>
          </a:prstGeom>
          <a:solidFill>
            <a:srgbClr val="1E2330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95160" y="6016752"/>
            <a:ext cx="1444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F8EF7"/>
                </a:solidFill>
              </a:rPr>
              <a:t>📊 A/B/C scenarios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49640" y="5989320"/>
            <a:ext cx="1572768" cy="274320"/>
          </a:xfrm>
          <a:prstGeom prst="rect">
            <a:avLst/>
          </a:prstGeom>
          <a:solidFill>
            <a:srgbClr val="1E2330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622792" y="6016752"/>
            <a:ext cx="1444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F8EF7"/>
                </a:solidFill>
              </a:rPr>
              <a:t>📐 Assembly BOM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77272" y="5989320"/>
            <a:ext cx="1572768" cy="274320"/>
          </a:xfrm>
          <a:prstGeom prst="rect">
            <a:avLst/>
          </a:prstGeom>
          <a:solidFill>
            <a:srgbClr val="1E2330"/>
          </a:solidFill>
          <a:ln w="635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50424" y="6016752"/>
            <a:ext cx="1444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F8EF7"/>
                </a:solidFill>
              </a:rPr>
              <a:t>📉 Learning curve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FULL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21 Manufacturing Commodities — One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Every major manufacturing process — all modelled to engineering depth with full routing, yield, and tooling logic.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65376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⚙️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15798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CNC Machining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4086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3/4/5-axis, turning, grinding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40157" y="1810512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40157" y="1865376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0157" y="215798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Casting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0157" y="234086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HPDC, gravity, investment, sand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68834" y="1810512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8834" y="1865376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🏗️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8834" y="215798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Cast + 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68834" y="234086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Casting + post-ops + 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7511" y="1810512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97511" y="1865376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97511" y="215798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Forging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7511" y="234086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Hot, warm, cold die forging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26188" y="1810512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6188" y="1865376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6188" y="215798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Sheet Metal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6188" y="234086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Progressive/transfer die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54865" y="1810512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4865" y="1865376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4865" y="215798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Sheet Metal Fab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4865" y="234086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Laser · punch · press brake · MIG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83542" y="1810512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83542" y="1865376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3542" y="215798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Injection Moulding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3542" y="2340864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Thermoplastics, multi-cavity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076956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131820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42442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Blow Moulding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360730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HDPE, PET, extrusion blow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40157" y="3076956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0157" y="3131820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40157" y="342442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Extrusion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0157" y="360730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Profile, pipe, sheet, rod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68834" y="3076956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68834" y="3131820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♨️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68834" y="342442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Thermoforming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68834" y="360730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Vacuum, pressure, twin-sheet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7511" y="3076956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97511" y="3131820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7511" y="342442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Rotational Moulding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97511" y="360730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Large hollow shapes, LLDPE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26188" y="3076956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26188" y="3131820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26188" y="342442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Rubber Moulding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26188" y="360730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Compression, injection, LSR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54865" y="3076956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54865" y="3131820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4865" y="342442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Composites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54865" y="360730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CFRP/GFRP, autoclave, RTM, AFP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183542" y="3076956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83542" y="3131820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83542" y="342442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Painting / Coating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83542" y="3607308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E-coat, powder, wet, anodise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4343400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4398264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🚗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" y="469087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BIW Assembly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487375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Spot weld, MIG, hem, bond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40157" y="4343400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40157" y="4398264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🖥️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40157" y="469087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PCB Fabrication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40157" y="487375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2–16L, HDI, rigid-flex, RF/μwave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68834" y="4343400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68834" y="4398264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8834" y="469087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PCBA / SMD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68834" y="487375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SMT, TH, reflow, conformal coat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297511" y="4343400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97511" y="4398264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97511" y="469087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Wiring Harness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97511" y="487375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Cut-strip-crimp, test, sub-asm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6188" y="4343400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26188" y="4398264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26188" y="469087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Assembly BOM Rollup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26188" y="487375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Multi-part BOM, full cost rollup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54865" y="4343400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54865" y="4398264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📉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54865" y="469087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Extrusion (Profile)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54865" y="487375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Continuous linear profiles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83542" y="4343400"/>
            <a:ext cx="1578385" cy="1207008"/>
          </a:xfrm>
          <a:prstGeom prst="rect">
            <a:avLst/>
          </a:prstGeom>
          <a:solidFill>
            <a:srgbClr val="1E233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183542" y="4398264"/>
            <a:ext cx="157838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2F8"/>
                </a:solidFill>
              </a:rPr>
              <a:t>🤖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83542" y="469087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0F2F8"/>
                </a:solidFill>
              </a:rPr>
              <a:t>AI Agent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83542" y="4873752"/>
            <a:ext cx="157838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5A6380"/>
                </a:solidFill>
              </a:rPr>
              <a:t>Natural language → any commodity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ENGINEERING DEPTH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Should-Cost Model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Built on aPriori-calibrated benchmarks, IPC standards, and first-principles manufacturing engineering.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10512"/>
            <a:ext cx="54864" cy="1170432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901952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📦 Material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157984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30+ materials: alloy steels, aluminium grades, engineering plastics, elastomers, composites, PCB laminates, copper alloys. FX-adjusted per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50792" y="1810512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50792" y="1810512"/>
            <a:ext cx="54864" cy="1170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8808" y="1901952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⚙️ Machine &amp; Rate 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2157984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50+ machine types: CNC centres, presses, moulding machines, SMT lines, reflow ovens, test equipment. Hourly rates editable per project and region.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90104" y="1810512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90104" y="1810512"/>
            <a:ext cx="54864" cy="1170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1901952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🛤️ Routing &amp; Process Logic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157984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AI-driven operation sequencing. Each operation: machine ID, cycle time (hr), OEE, setup time, labour grade, overhead allocation.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329416" y="1810512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329416" y="1810512"/>
            <a:ext cx="54864" cy="1170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57432" y="1901952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🔩 Tooling &amp; NRE Amortisation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57432" y="2157984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Dies, moulds, fixtures, PCB NRE — amortised over annual volume with tool life curves for press tools and EDM electrodes.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072384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072384"/>
            <a:ext cx="54864" cy="1170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3163824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📉 Yield &amp; Scrap Models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" y="3419856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First-pass yield from 10 penalty factors: layer count, trace width, via type, HDI structure, impedance control, BGA pitch, alloy grade, section thickness.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50792" y="3072384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50792" y="3072384"/>
            <a:ext cx="54864" cy="1170432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8808" y="3163824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🌍 Regional Cost Multipliers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3419856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20 regions — each with calibrated labour tiers (skilled/semi-skilled/engineer/inspector), energy costs, and machine hour rates.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90104" y="3072384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90104" y="3072384"/>
            <a:ext cx="54864" cy="1170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18120" y="3163824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📊 Benchmarks &amp; Sensitivity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3419856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Every cost element benchmarked vs aPriori/Cleansheet ranges. Tornado chart shows top 10 cost drivers at ±10%. Scenario A/B/C comparison.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329416" y="3072384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329416" y="3072384"/>
            <a:ext cx="54864" cy="1170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57432" y="3163824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📉 Learning Curve (Wright's Law)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57432" y="3419856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Configure 85% (or custom) learning curve to project volume-driven cost reduction. Essential for programme pricing and LTA negotiations.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334256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" y="4334256"/>
            <a:ext cx="54864" cy="1170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9496" y="4425696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💰 Supplier Quote Comparison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9496" y="4681728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Log supplier quotes (name, date, price, currency). Compare vs should-cost instantly — identify margin gaps and overhead inflation.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0792" y="4334256"/>
            <a:ext cx="3547872" cy="11704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050792" y="4334256"/>
            <a:ext cx="54864" cy="1170432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78808" y="4425696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🤖 AI-Driven Assumptions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8808" y="4681728"/>
            <a:ext cx="33649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Where geometry is unknown, Claude AI fills assumptions transparently — material, complexity, process, geometry — with explanation of every decision.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ADVANCED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Advanced Cost Modelling &amp; Intelligence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CostVision goes beyond basic costing — it models commercial reality with precision.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28800"/>
            <a:ext cx="5486400" cy="21031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28800"/>
            <a:ext cx="54864" cy="2103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920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F2F8"/>
                </a:solidFill>
              </a:rPr>
              <a:t>📉 Wright's Law Learning Curve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212848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Configure any learning curve % (default 85%). As volume doubles, cost reduces by the curve %.
• Model programme cost at any volume milestone
• Critical for LTA negotiations and make-vs-buy decisions
• Visualise break-even volume vs manual costing cost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041648"/>
            <a:ext cx="5486400" cy="21031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4041648"/>
            <a:ext cx="54864" cy="2103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41330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F2F8"/>
                </a:solidFill>
              </a:rPr>
              <a:t>🔗 Assembly BOM Rollup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" y="4425696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Build multi-level assemblies from any combination of 21 commodities:
• Add components one-by-one with commodity type, weight, volume
• Each component costed using its own should-cost model
• Roll up to a total assembly cost with full per-component breakdown
• Example: BIW + Painting + Harness + PCBA = full module should-cost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828800"/>
            <a:ext cx="5486400" cy="138988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828800"/>
            <a:ext cx="54864" cy="1389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190195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💰 Supplier Quote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2139696"/>
            <a:ext cx="5303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• Enter supplier name, quote date, price, currency, and FX rate
• CostVision converts to GBP and compares vs should-cost
• Calculates margin gap: 'Supplier is 18% above should-cost'
• Generates data-driven negotiation talking points
• Track multiple suppliers per part for competitive benchmarking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310128"/>
            <a:ext cx="5486400" cy="138988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310128"/>
            <a:ext cx="54864" cy="1389888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1656" y="33832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📊 Sensitivity Analysis (Tornado Chart)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3621024"/>
            <a:ext cx="5303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• ±10% variation applied to each cost driver independently
• Top 10 drivers ranked by impact (tornado chart)
• Identify which inputs most need validation before negotiation
• Export the chart to include in supplier presentations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791456"/>
            <a:ext cx="5486400" cy="138988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4791456"/>
            <a:ext cx="54864" cy="13898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486460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🧪 Scenario A/B/C Comparison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5102352"/>
            <a:ext cx="5303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• Save any configuration as a named scenario
• Compare baseline vs target vs stretch cost side-by-side
• Delta view shows where costs increased or decreased
• Export all scenarios to JSON for team sharing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AI INTELLIGENCE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DFM / DFA — Design for Manufacture &amp; Assembly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A bolt-on AI intelligence layer that runs AFTER the should-cost, without modifying any calculation logic.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28800"/>
            <a:ext cx="11384280" cy="713232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F2F8"/>
                </a:solidFill>
              </a:rPr>
              <a:t>Manufacturability Score (DFM)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396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</a:rPr>
              <a:t>8.5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F2F8"/>
                </a:solidFill>
              </a:rPr>
              <a:t>Assembly Efficiency (DFA)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7.0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836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F2F8"/>
                </a:solidFill>
              </a:rPr>
              <a:t>Total Potential Saving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13969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</a:rPr>
              <a:t>~19.3%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011680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6380"/>
                </a:solidFill>
              </a:rPr>
              <a:t>All scores are 1–10 (10 = perfect)  |  Savings are RSS-combined from top 3 issues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43200"/>
            <a:ext cx="5486400" cy="18288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2743200"/>
            <a:ext cx="54864" cy="182880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" y="283464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DFM Issues — What It Finds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" y="3090672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Critical: Low material utilisation (&lt;60%), OEE &lt;70%, die cost &gt;18%
Major: Below-benchmark OEE (70–80%), high operation count, process cost dominant
Minor: Elevated tooling %, overhead burden &gt;18%, supplier margin &gt;18%
Opportunity: Near-net-shape conversion, volume increase, multi-cavity tooling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07608" y="2743200"/>
            <a:ext cx="5486400" cy="18288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07608" y="2743200"/>
            <a:ext cx="54864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5624" y="283464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DFA Issues — Assembly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3090672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Automation feasibility: labour-dominated assemblies flagged for robot/cobot study
Operation count: multiple setups imply fixturing cost and dimensional variation risk
OEE pacing: low OEE in assembly indicates manual pacing or changeover inefficiency
Fastener standardisation: variety in fastener drives assembly time and tool changes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63440"/>
            <a:ext cx="5486400" cy="18288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4663440"/>
            <a:ext cx="54864" cy="1828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47548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Cost Optimisation Levers (6–8 per part)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" y="5010912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Automate High-Labour Operations — typically 5–20% saving
Near-Net-Shape Material Improvement — 5–15% material cost saving
OEE Improvement (TPM programme) — 5–12% machine cost reduction
Volume Increase to Dilute Tooling NRE — Quick Win, Low Risk
Overhead Rate Negotiation via Open-Book Costing — Quick Win
Competitive RFQ to Reduce Supplier Margin — Quick Win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07608" y="4663440"/>
            <a:ext cx="5486400" cy="182880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07608" y="4663440"/>
            <a:ext cx="54864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24" y="47548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AI Deep Analysis (Claude AI)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24" y="5010912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Click 'Run AI Deep Analysis' after rule-based results are shown
Claude provides: Root cause commentary, Priority top-3 actions
Supplier negotiation strategy with specific talking points
Alternative process recommendations (e.g. casting → HPDC)
Risk assessment: red flags in cost structure needing investigation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GLOBAL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20 Manufacturing Regions — 10 Currencies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Select a region and every rate adjusts automatically — labour, machines, energy, material and currency.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6858000" cy="4553712"/>
          </a:xfrm>
          <a:prstGeom prst="rect">
            <a:avLst/>
          </a:prstGeom>
          <a:solidFill>
            <a:srgbClr val="161923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6537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Key Manufacturing Regions (sample)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38912" y="2157984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"/>
                <a:gridCol w="1737360"/>
                <a:gridCol w="2468880"/>
              </a:tblGrid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Region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Currency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Sample Labour Rate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Position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🇬🇧 UK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GBP £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£26/hr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Industry / Aerospace baseline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🇩🇪 Germany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EUR €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€32/hr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Premium, high automation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🇵🇱 Poland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EUR €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€11/hr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Low-cost EU option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🇷🇴 Romania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EUR €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€7/hr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Ultra-low EU labour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🇨🇳 China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CNY ¥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¥28/hr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Global volume manufacturing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🇮🇳 India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INR ₹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₹320/hr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Engineering &amp; electronics hub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🇲🇽 Mexico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MXN $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MXN82/hr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Near-shore for North America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🇺🇸 USA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USD $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$32/hr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Premium North American rates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🇹🇭 Thailand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THB ฿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฿180/hr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Electronics &amp; automotive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🇻🇳 Vietnam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VND ₫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₫52k/hr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Lowest-cost electronics hub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🇧🇷 Brazil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BRL R$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R$22/hr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South America manufacturing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1652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🇰🇷 S. Korea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KRW ₩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Skilled ₩22k/hr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Electronics &amp; automotive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498079" y="1810512"/>
            <a:ext cx="429768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810512"/>
            <a:ext cx="54864" cy="100584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5" y="1883664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Auto-Currency Switch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6095" y="2121408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When you select a manufacturing region (e.g. China), the display currency automatically switches to CNY. No manual FX conversion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2889504"/>
            <a:ext cx="429768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2889504"/>
            <a:ext cx="54864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5" y="2962656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Full Rate Adjustment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5" y="3200400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Every rate adjusts: skilled/semi-skilled/engineer/inspector labour, electricity, gas, machine rates, material prices — all recalculated for the selected region.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3968496"/>
            <a:ext cx="429768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79" y="3968496"/>
            <a:ext cx="54864" cy="1005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5" y="40416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Editable Rate Library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6095" y="427939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All rates are editable. Override any rate with project-specific data, supplier quotes, or latest market prices. Resets to calibrated baseline at any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79" y="5047488"/>
            <a:ext cx="429768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5047488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6095" y="512064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F2F8"/>
                </a:solidFill>
              </a:rPr>
              <a:t>Regional Comparison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6095" y="5358384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AI Insights tab shows estimated cost in all 20 regions simultaneously — instant make-vs-buy regional arbitrage analysis for any part.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LIVE DEMO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Real-World Cost Benchmarks — Luxury SUV Programme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All figures generated by CostVision's should-cost engine. UK manufacturing region, GBP.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810512"/>
          <a:ext cx="9738360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17320"/>
                <a:gridCol w="1783080"/>
                <a:gridCol w="822960"/>
                <a:gridCol w="2697480"/>
                <a:gridCol w="1737360"/>
              </a:tblGrid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Commodity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Demo Part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Key Inputs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Should-Cost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AI Top Insight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9AA3B8"/>
                          </a:solidFill>
                        </a:rPr>
                        <a:t>DFM Flag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⚙️ Machining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Al Gearbox Bracket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Al 6082-T6 · 0.85 kg · 3 setups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£ 28.40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Process 44% → near-net-shape saves £8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Major: 3 setups → 5-axis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🪨 HPDC Casting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Transmission Housing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Al A380 · 3.2 kg · 50k/yr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£ 18.70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Die 9% OK. Margin 21% → negotiate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Good — no critical issues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🪗 Sheet Metal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Rear Door Inner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DC04 1.2mm · 4.1 kg · 60k/yr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£ 22.10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Blank nesting 64% → improve saves £2.80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Critical: nesting &lt;65%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🏺 Injection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PP Bumper Bracket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PP-TD20 · 0.42 kg · 100k/yr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 3.85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Mould 8% — good at this volume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Good — runner waste 15%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🧱 Rubber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EPDM Door Seal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Extrusion · 2.8m · 85 Shore A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 4.10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Process 42% — cure cycle dominant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Major: cure time optimise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🖥️ PCB Fab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4-Layer FR4 ECU Board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100×80mm · ENIG · Flying probe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 4.18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NRE 6% per board — increase batch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Good — standard technology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🔌 PCBA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ECU PCBA 85 comp.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SMT + TH · 4 TH joints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£ 32.60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Labour 38% — convert TH to SMT saves £4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Major: high TH labour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🔗 Wiring Harness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Door Module Harness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24 circuits · 2.1m avg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£ 11.80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Labour 58% — automation saves 20%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Critical: labour &gt;50%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39734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🪢 Composites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CFRP Floor Pan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Prepreg CFRP · 1.8 kg · autoclave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£ 185.00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Labour 44% — evaluate ATL/AFP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Major: manual layup cost</a:t>
                      </a:r>
                    </a:p>
                  </a:txBody>
                  <a:tcPr>
                    <a:solidFill>
                      <a:srgbClr val="1E2330"/>
                    </a:solidFill>
                  </a:tcPr>
                </a:tc>
              </a:tr>
              <a:tr h="39735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4F8EF7"/>
                          </a:solidFill>
                        </a:rPr>
                        <a:t>🔨 Forging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Steel Control Arm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42CrMo4 · 2.1 kg · 80k/yr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0B981"/>
                          </a:solidFill>
                        </a:rPr>
                        <a:t>£  9.20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Die 11% — acceptable at volume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9AA3B8"/>
                          </a:solidFill>
                        </a:rPr>
                        <a:t>Good — closed-die efficient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6327648"/>
            <a:ext cx="11384280" cy="329184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36422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All costs in GBP  |  AI insights generated per part  |  DFM/DFA score per part  |  Export to 6-sheet Excel or PDF  |  Supplier quote comparison available for each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REPORTING &amp; COLLABORATION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Export, Share &amp; Collaborate — Enterprise 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From individual engineer to global team — CostVision scales to any organisation size.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749039" cy="196596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10512"/>
            <a:ext cx="54864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90195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📊 6-Sheet Excel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157984"/>
            <a:ext cx="356615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Sheet 1: Summary (total cost, breakdown %, region, commodity)
Sheet 2: Material (alloy, weight, utilisation, price)
Sheet 3: Operations (machine, labour, cycle time, OEE per step)
Sheet 4: Machine Rates (rate library snapshot)
Sheet 5: Labour Rates (regional labour tiers)
Sheet 6: Traceability (assumptions, AI notes, version, date)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0247" y="1810512"/>
            <a:ext cx="3749039" cy="196596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0247" y="1810512"/>
            <a:ext cx="54864" cy="196596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8263" y="190195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📄 Professional PDF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8263" y="2157984"/>
            <a:ext cx="356615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Section 1: Cover page with part photo &amp; programme details
Section 2: Cost summary and 8-bucket breakdown chart
Section 3: Detailed operation-by-operation cost build
Section 4: Machine and labour rate build-up table
Section 5: AI insights and saving opportunities
Section 6: DFM/DFA scores, issues and recommendations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4" y="1810512"/>
            <a:ext cx="3749039" cy="196596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9014" y="1810512"/>
            <a:ext cx="54864" cy="1965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0" y="1901952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☁️ Cloud Team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0" y="2157984"/>
            <a:ext cx="356615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Scenarios saved to cloud database (SQLite / PostgreSQL)
All team members see the same cost baseline
Secure JWT authentication + OTP email verification
Full multi-user access — no spreadsheet version conflicts
Import/export scenarios as JSON for offline sharing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86200"/>
            <a:ext cx="3749039" cy="196596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886200"/>
            <a:ext cx="54864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3977640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📸 Part Photo &amp; Visual 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" y="4233672"/>
            <a:ext cx="356615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Upload part photo (JPG / PNG / HEIC) with any calculation
Photo appears on the PDF report cover page
AI Agent accepts photos as input for visual cost estimation
Drag-and-drop or file picker supported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0247" y="3886200"/>
            <a:ext cx="3749039" cy="196596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7" y="3886200"/>
            <a:ext cx="54864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98263" y="3977640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🔑 Enterprise Authentication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8263" y="4233672"/>
            <a:ext cx="356615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JWT token-based authentication with 24hr expiry
OTP email verification for account security
Password reset flow with secure email delivery
Rate limiting: 10 sign-in attempts / 15 min window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9014" y="3886200"/>
            <a:ext cx="3749039" cy="196596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29014" y="3886200"/>
            <a:ext cx="54864" cy="196596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0" y="3977640"/>
            <a:ext cx="35661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❓ Help Centre &amp; Support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0" y="4233672"/>
            <a:ext cx="356615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7-tab Help Centre: Getting Started, AI Agent, CAD &amp; Photo,
Commodities, FAQ (6 items), Glossary (12 terms),
Troubleshooting (5 common issues)
Contact support form built-in to the application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VALUE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Business Impact &amp; Measurable 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Quantified improvements across speed, accuracy, and cost reduction that directly impact the bottom 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219456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0195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4F8EF7"/>
                </a:solidFill>
              </a:rPr>
              <a:t>70–90%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3774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AA3B8"/>
                </a:solidFill>
              </a:rPr>
              <a:t>Reduction in costing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810512"/>
            <a:ext cx="219456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90195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</a:rPr>
              <a:t>±8%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3774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AA3B8"/>
                </a:solidFill>
              </a:rPr>
              <a:t>Typical cost model accuracy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10512"/>
            <a:ext cx="219456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190195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</a:rPr>
              <a:t>15–25%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774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AA3B8"/>
                </a:solidFill>
              </a:rPr>
              <a:t>Supplier price reduction via should-cost intel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1810512"/>
            <a:ext cx="219456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90195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7C3AED"/>
                </a:solidFill>
              </a:rPr>
              <a:t>3×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3774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AA3B8"/>
                </a:solidFill>
              </a:rPr>
              <a:t>Faster sourcing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55480" y="1810512"/>
            <a:ext cx="2194560" cy="100584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90195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</a:rPr>
              <a:t>£15M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3774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AA3B8"/>
                </a:solidFill>
              </a:rPr>
              <a:t>Saving on £500M spend at 3% improvement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971800"/>
            <a:ext cx="2743200" cy="1188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2971800"/>
            <a:ext cx="54864" cy="11887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" y="306324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⚡ Speed — 10× Faster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" y="331927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What took 2–4 weeks now takes 5–10 minutes. Engineers spend time on decisions, not spreadsheets. Faster RFQ responses, faster programme decisions.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6120" y="2971800"/>
            <a:ext cx="2743200" cy="1188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46120" y="2971800"/>
            <a:ext cx="54864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306324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🎯 Accuracy — Not Estimates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74136" y="331927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Physics-based models calibrated to actual shop floor data. ±8% typical accuracy vs actual. Dramatically better than rule-of-thumb or parametric estimates.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2971800"/>
            <a:ext cx="2743200" cy="1188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2971800"/>
            <a:ext cx="54864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306324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💰 Negotiation Power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08776" y="331927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Should-cost models give buyers a defensible floor price for every part. Supplier margins become visible and challengeable with engineering data, not opinion.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15400" y="2971800"/>
            <a:ext cx="2743200" cy="1188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5400" y="2971800"/>
            <a:ext cx="54864" cy="1188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43416" y="306324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📐 DFM at Concept Stage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43416" y="331927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80% of cost is locked at design. DFM/DFA analysis at concept prevents expensive late-stage redesigns. Engineering issues caught when change is free.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251960"/>
            <a:ext cx="2743200" cy="1188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4251960"/>
            <a:ext cx="54864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43434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🌍 Regional Arbitrage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" y="459943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Instantly compare cost across 20 regions. Identify LCC sourcing opportunities. Quantify make-vs-buy with real data — not assumptions.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46120" y="4251960"/>
            <a:ext cx="2743200" cy="1188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46120" y="4251960"/>
            <a:ext cx="54864" cy="11887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74136" y="43434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📊 Standardised Methodology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74136" y="459943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One consistent cost model across all teams, programmes, and regions. Full audit trail for every assumption. Leadership gets a single source of truth.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4251960"/>
            <a:ext cx="2743200" cy="1188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80760" y="4251960"/>
            <a:ext cx="54864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3434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📉 Volume Optimisation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08776" y="459943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Learning curve modelling shows cost reduction with volume. Identify the volume at which a new process becomes cost-competitive.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15400" y="4251960"/>
            <a:ext cx="2743200" cy="1188720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915400" y="4251960"/>
            <a:ext cx="54864" cy="1188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43416" y="43434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F2F8"/>
                </a:solidFill>
              </a:rPr>
              <a:t>☁️ Team Collaboration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43416" y="459943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A3B8"/>
                </a:solidFill>
              </a:rPr>
              <a:t>Cloud sync means all engineers share the same cost baseline. No more conflicting spreadsheets. Cost knowledge is captured, not locked in individuals.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A6380"/>
                </a:solidFill>
              </a:rPr>
              <a:t>SLIDE 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91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F8EF7"/>
                </a:solidFill>
              </a:rPr>
              <a:t>CostVision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F8EF7"/>
                </a:solidFill>
              </a:rPr>
              <a:t>VISION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2F8"/>
                </a:solidFill>
              </a:rPr>
              <a:t>The Future of Cost Engineering is Intelligent, Instant &amp; Integrated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B8"/>
                </a:solidFill>
              </a:rPr>
              <a:t>CostVision is live today. Here is what comes next — and how to get started.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7315"/>
          </a:xfrm>
          <a:prstGeom prst="rect">
            <a:avLst/>
          </a:prstGeom>
          <a:solidFill>
            <a:srgbClr val="2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6380"/>
                </a:solidFill>
              </a:rPr>
              <a:t>CostVision — AI-Powered Should-Cost Intelligence  |  Avinash Bhosale  |  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28800"/>
            <a:ext cx="5394960" cy="449884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28800"/>
            <a:ext cx="53949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</a:rPr>
              <a:t>📍 Current Capabilities — Live Today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350008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2311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21 commodity should-cost models — fully parametric, engineering-grade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2651760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5328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AI Agent — describe a part in plain English, AI builds the cost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2953512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8346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AI CAD Analysis — STEP / photo → geometry → cost in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255264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1363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Assembly BOM Rollup — multi-part, multi-commodity assemblies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557016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43814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Learning Curve (Wright's Law) — volume-cost projection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3858768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73989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Supplier Quote Comparison — log quotes, identify margin gaps instantly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160520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0416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DFM / DFA Intelligence — bolt-on AI layer, 1–10 scores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462272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20 global regions · 10 currencies with live auto-switching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764024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6451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6-sheet Excel export + professional PDF report with part photo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5065776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9469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Scenario A/B/C comparison + tornado sensitivity analysis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5367528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24865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Cloud sync, team sharing &amp; secure JWT authentication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5669280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555040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7-tab Help Centre, Glossary, FAQ and Troubleshooting guide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1828800"/>
            <a:ext cx="5760720" cy="129844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35040" y="1828800"/>
            <a:ext cx="54864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63056" y="19019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Phase 2 — Q3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63056" y="2139696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PLM/ERP integration connectors (Teamcenter, SAP)
Mass-import BOM costing from CSV/Excel
Supplier quotation comparison matrix (multi-supplier)
Cost target waterfall dashboard for programme teams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5040" y="3218688"/>
            <a:ext cx="5760720" cy="129844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35040" y="3218688"/>
            <a:ext cx="54864" cy="12984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63056" y="329184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Phase 3 — Q1 2027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3056" y="3529584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Market price learning engine (auto-update material prices)
Should-cost vs actual variance tracker
Autonomous sourcing RFQ generation from should-cost output
Executive analytics dashboard (portfolio cost view)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4608576"/>
            <a:ext cx="5760720" cy="1298448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4608576"/>
            <a:ext cx="54864" cy="1298448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63056" y="468172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8EF7"/>
                </a:solidFill>
              </a:rPr>
              <a:t>Phase 4 — 2027+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6" y="4919472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Digital Twin cost model (live cost update as design changes)
Generative AI component redesign suggestions
Supplier risk scoring and supply chain resilience index
Mobile app for shop-floor and supplier visits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5998464"/>
            <a:ext cx="5760720" cy="1243584"/>
          </a:xfrm>
          <a:prstGeom prst="rect">
            <a:avLst/>
          </a:prstGeom>
          <a:solidFill>
            <a:srgbClr val="1E2330"/>
          </a:solidFill>
          <a:ln w="635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35040" y="5998464"/>
            <a:ext cx="54864" cy="1243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63056" y="607161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🚀  Pilot Rollout — Next Steps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63056" y="6345936"/>
            <a:ext cx="5577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A3B8"/>
                </a:solidFill>
              </a:rPr>
              <a:t>• Pilot scope: 2–3 commodity families, one programme team
• Duration: 4–6 weeks with real parts vs supplier quotes
• Success metric: ≥15% supplier price reduction identified per part
• Contact: Avinash Bhosale — Cost Engineering &amp; Digital Innovation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6473952"/>
            <a:ext cx="11368735" cy="329184"/>
          </a:xfrm>
          <a:prstGeom prst="rect">
            <a:avLst/>
          </a:prstGeom>
          <a:solidFill>
            <a:srgbClr val="1E2330"/>
          </a:solidFill>
          <a:ln w="3810">
            <a:solidFill>
              <a:srgbClr val="2A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6501384"/>
            <a:ext cx="1100297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A6380"/>
                </a:solidFill>
              </a:rPr>
              <a:t>"Every engineer should have instant access to accurate, defensible should-cost intelligence — at concept stage, across every commodity, in every region."  — Avinash Bhosale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