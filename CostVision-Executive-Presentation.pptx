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E8B57"/>
                </a:solidFill>
              </a:rPr>
              <a:t>21 Commodity Models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AI Agent (NLP)</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CAD-to-Cost AI</a:t>
            </a:r>
          </a:p>
        </p:txBody>
      </p:sp>
      <p:sp>
        <p:nvSpPr>
          <p:cNvPr id="16" name="Rectangle 15"/>
          <p:cNvSpPr/>
          <p:nvPr/>
        </p:nvSpPr>
        <p:spPr>
          <a:xfrm>
            <a:off x="7498079" y="4160520"/>
            <a:ext cx="1920240" cy="329184"/>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B7791F"/>
                </a:solidFill>
              </a:rPr>
              <a:t>DFM / DFA Layer</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 · 10 FX</a:t>
            </a:r>
          </a:p>
        </p:txBody>
      </p:sp>
      <p:sp>
        <p:nvSpPr>
          <p:cNvPr id="20" name="Rectangle 19"/>
          <p:cNvSpPr/>
          <p:nvPr/>
        </p:nvSpPr>
        <p:spPr>
          <a:xfrm>
            <a:off x="1645920" y="4617720"/>
            <a:ext cx="2286000" cy="30175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2E8B57"/>
                </a:solidFill>
              </a:rPr>
              <a:t>Assembly BOM Rollup</a:t>
            </a:r>
          </a:p>
        </p:txBody>
      </p:sp>
      <p:sp>
        <p:nvSpPr>
          <p:cNvPr id="22" name="Rectangle 21"/>
          <p:cNvSpPr/>
          <p:nvPr/>
        </p:nvSpPr>
        <p:spPr>
          <a:xfrm>
            <a:off x="3840480"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6B3FA0"/>
                </a:solidFill>
              </a:rPr>
              <a:t>Wright's Law Learning Curve</a:t>
            </a:r>
          </a:p>
        </p:txBody>
      </p:sp>
      <p:sp>
        <p:nvSpPr>
          <p:cNvPr id="24" name="Rectangle 23"/>
          <p:cNvSpPr/>
          <p:nvPr/>
        </p:nvSpPr>
        <p:spPr>
          <a:xfrm>
            <a:off x="6309360" y="4617720"/>
            <a:ext cx="2286000" cy="301752"/>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B7791F"/>
                </a:solidFill>
              </a:rPr>
              <a:t>Supplier Quote Comparison</a:t>
            </a:r>
          </a:p>
        </p:txBody>
      </p:sp>
      <p:sp>
        <p:nvSpPr>
          <p:cNvPr id="26" name="Rectangle 25"/>
          <p:cNvSpPr/>
          <p:nvPr/>
        </p:nvSpPr>
        <p:spPr>
          <a:xfrm>
            <a:off x="868680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1D6FB8"/>
                </a:solidFill>
              </a:rPr>
              <a:t>Cloud Team Sync</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  Weeks, Not Minutes</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Manual should-cost takes 2–4 weeks per part. Sourcing decisions stall. Programme timelines slip.</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Dependency</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independent cost intelligence, engineers accept quotes at face value — no leverage, no transparency.</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Inconsistent Methodology</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Every engineer calculates cost differently. No standard model. No auditable assumptions. No cross-team comparability.</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Regional Visibility</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material and energy rates vary dramatically by country. Manual adjustment is error-prone.</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Late-Stage Cost Surprises</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issues discovered at SOP — not at concept. DFM problems missed. Expensive redesigns. Margin erosion at launch.</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Supplier Quote Benchmark</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lack a defensible floor price for negotiation. Supplier margins are opaque and unchallenged.</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623560"/>
            <a:ext cx="1005840" cy="658368"/>
          </a:xfrm>
          <a:prstGeom prst="rect">
            <a:avLst/>
          </a:prstGeom>
          <a:noFill/>
        </p:spPr>
        <p:txBody>
          <a:bodyPr wrap="none">
            <a:spAutoFit/>
          </a:bodyPr>
          <a:lstStyle/>
          <a:p>
            <a:pPr algn="ctr"/>
            <a:r>
              <a:rPr sz="3600" b="1" i="0">
                <a:solidFill>
                  <a:srgbClr val="B7791F"/>
                </a:solidFill>
              </a:rPr>
              <a:t>80%</a:t>
            </a:r>
          </a:p>
        </p:txBody>
      </p:sp>
      <p:sp>
        <p:nvSpPr>
          <p:cNvPr id="37" name="TextBox 36"/>
          <p:cNvSpPr txBox="1"/>
          <p:nvPr/>
        </p:nvSpPr>
        <p:spPr>
          <a:xfrm>
            <a:off x="1645920" y="5696712"/>
            <a:ext cx="9875520" cy="566928"/>
          </a:xfrm>
          <a:prstGeom prst="rect">
            <a:avLst/>
          </a:prstGeom>
          <a:noFill/>
        </p:spPr>
        <p:txBody>
          <a:bodyPr wrap="square">
            <a:spAutoFit/>
          </a:bodyPr>
          <a:lstStyle/>
          <a:p>
            <a:pPr algn="l"/>
            <a:r>
              <a:rPr sz="1000" b="0" i="0">
                <a:solidFill>
                  <a:srgbClr val="3A4356"/>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3A4356"/>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3A4356"/>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3A4356"/>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3A4356"/>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3A4356"/>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3A4356"/>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3A4356"/>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3A4356"/>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3A4356"/>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16325C"/>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3A4356"/>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16325C"/>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3A4356"/>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16325C"/>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3A4356"/>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16325C"/>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3A4356"/>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197096"/>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AI Agent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Describe a 4-layer FR4 PCB, 100×80mm, ENIG finish, flying probe test, 10,000/yr, UK manufacture</a:t>
            </a:r>
          </a:p>
        </p:txBody>
      </p:sp>
      <p:sp>
        <p:nvSpPr>
          <p:cNvPr id="33" name="Rectangle 32"/>
          <p:cNvSpPr/>
          <p:nvPr/>
        </p:nvSpPr>
        <p:spPr>
          <a:xfrm>
            <a:off x="6163056" y="2734056"/>
            <a:ext cx="5504688" cy="1389888"/>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1298448"/>
          </a:xfrm>
          <a:prstGeom prst="rect">
            <a:avLst/>
          </a:prstGeom>
          <a:noFill/>
        </p:spPr>
        <p:txBody>
          <a:bodyPr wrap="square">
            <a:spAutoFit/>
          </a:bodyPr>
          <a:lstStyle/>
          <a:p>
            <a:pPr algn="l"/>
            <a:r>
              <a:rPr sz="750" b="0" i="0">
                <a:solidFill>
                  <a:srgbClr val="16325C"/>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19709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251960"/>
            <a:ext cx="5303520" cy="338328"/>
          </a:xfrm>
          <a:prstGeom prst="rect">
            <a:avLst/>
          </a:prstGeom>
          <a:noFill/>
        </p:spPr>
        <p:txBody>
          <a:bodyPr wrap="square">
            <a:spAutoFit/>
          </a:bodyPr>
          <a:lstStyle/>
          <a:p>
            <a:pPr algn="l"/>
            <a:r>
              <a:rPr sz="750" b="0" i="0">
                <a:solidFill>
                  <a:srgbClr val="3A4356"/>
                </a:solidFill>
              </a:rPr>
              <a:t>You: What is the should-cost?</a:t>
            </a:r>
          </a:p>
        </p:txBody>
      </p:sp>
      <p:sp>
        <p:nvSpPr>
          <p:cNvPr id="37" name="Rectangle 36"/>
          <p:cNvSpPr/>
          <p:nvPr/>
        </p:nvSpPr>
        <p:spPr>
          <a:xfrm>
            <a:off x="6163056" y="4700016"/>
            <a:ext cx="5504688" cy="1197864"/>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754880"/>
            <a:ext cx="5303520" cy="1106424"/>
          </a:xfrm>
          <a:prstGeom prst="rect">
            <a:avLst/>
          </a:prstGeom>
          <a:noFill/>
        </p:spPr>
        <p:txBody>
          <a:bodyPr wrap="square">
            <a:spAutoFit/>
          </a:bodyPr>
          <a:lstStyle/>
          <a:p>
            <a:pPr algn="l"/>
            <a:r>
              <a:rPr sz="750" b="0" i="0">
                <a:solidFill>
                  <a:srgbClr val="16325C"/>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135624"/>
            <a:ext cx="868680" cy="201168"/>
          </a:xfrm>
          <a:prstGeom prst="rect">
            <a:avLst/>
          </a:prstGeom>
          <a:noFill/>
        </p:spPr>
        <p:txBody>
          <a:bodyPr wrap="none">
            <a:spAutoFit/>
          </a:bodyPr>
          <a:lstStyle/>
          <a:p>
            <a:pPr algn="l"/>
            <a:r>
              <a:rPr sz="850" b="1" i="0">
                <a:solidFill>
                  <a:srgbClr val="2E8B57"/>
                </a:solidFill>
              </a:rPr>
              <a:t>Key Benefits</a:t>
            </a:r>
          </a:p>
        </p:txBody>
      </p:sp>
      <p:sp>
        <p:nvSpPr>
          <p:cNvPr id="40" name="TextBox 39"/>
          <p:cNvSpPr txBox="1"/>
          <p:nvPr/>
        </p:nvSpPr>
        <p:spPr>
          <a:xfrm>
            <a:off x="699516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Zero form-filling</a:t>
            </a:r>
          </a:p>
        </p:txBody>
      </p:sp>
      <p:sp>
        <p:nvSpPr>
          <p:cNvPr id="41" name="TextBox 40"/>
          <p:cNvSpPr txBox="1"/>
          <p:nvPr/>
        </p:nvSpPr>
        <p:spPr>
          <a:xfrm>
            <a:off x="81953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Any commodity</a:t>
            </a:r>
          </a:p>
        </p:txBody>
      </p:sp>
      <p:sp>
        <p:nvSpPr>
          <p:cNvPr id="42" name="TextBox 41"/>
          <p:cNvSpPr txBox="1"/>
          <p:nvPr/>
        </p:nvSpPr>
        <p:spPr>
          <a:xfrm>
            <a:off x="9395460" y="6135624"/>
            <a:ext cx="1200150" cy="201168"/>
          </a:xfrm>
          <a:prstGeom prst="rect">
            <a:avLst/>
          </a:prstGeom>
          <a:noFill/>
        </p:spPr>
        <p:txBody>
          <a:bodyPr wrap="none">
            <a:spAutoFit/>
          </a:bodyPr>
          <a:lstStyle/>
          <a:p>
            <a:pPr algn="l"/>
            <a:r>
              <a:rPr sz="750" b="0" i="0">
                <a:solidFill>
                  <a:srgbClr val="3A4356"/>
                </a:solidFill>
              </a:rPr>
              <a:t>✓ Assumptions visible</a:t>
            </a:r>
          </a:p>
        </p:txBody>
      </p:sp>
      <p:sp>
        <p:nvSpPr>
          <p:cNvPr id="43" name="TextBox 42"/>
          <p:cNvSpPr txBox="1"/>
          <p:nvPr/>
        </p:nvSpPr>
        <p:spPr>
          <a:xfrm>
            <a:off x="105956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800" b="1" i="0">
                <a:solidFill>
                  <a:srgbClr val="1D6FB8"/>
                </a:solidFill>
              </a:rPr>
              <a:t>10×</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Faster than manual costing</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Typical model accuracy</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800" b="1" i="0">
                <a:solidFill>
                  <a:srgbClr val="B7791F"/>
                </a:solidFill>
              </a:rPr>
              <a:t>0</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Manual routing steps required</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AI Extracts from CAD / Photo</a:t>
            </a:r>
          </a:p>
        </p:txBody>
      </p:sp>
      <p:sp>
        <p:nvSpPr>
          <p:cNvPr id="23" name="Rectangle 22"/>
          <p:cNvSpPr/>
          <p:nvPr/>
        </p:nvSpPr>
        <p:spPr>
          <a:xfrm>
            <a:off x="594360" y="331927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3A4356"/>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3A4356"/>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3A4356"/>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3A4356"/>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3A4356"/>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3A4356"/>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3A4356"/>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AI Analysis Result — Aluminium Bracket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B72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1D6FB8"/>
                </a:solidFill>
              </a:rPr>
              <a:t>Al 6082-T6</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B72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2E8B57"/>
                </a:solidFill>
              </a:rPr>
              <a:t>3-Axis CNC Milling + Drilling</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B72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16325C"/>
                </a:solidFill>
              </a:rPr>
              <a:t>220 × 140 × 85 mm</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B72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16325C"/>
                </a:solidFill>
              </a:rPr>
              <a:t>0.82 kg</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B72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B7791F"/>
                </a:solidFill>
              </a:rPr>
              <a:t>Moderate — 3 setups</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B72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B7791F"/>
                </a:solidFill>
              </a:rPr>
              <a:t>1 flag: 3 setups → consolidate</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3A4356"/>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E8B57"/>
                </a:solidFill>
              </a:rPr>
              <a:t>£ 28.40</a:t>
            </a:r>
          </a:p>
        </p:txBody>
      </p:sp>
      <p:sp>
        <p:nvSpPr>
          <p:cNvPr id="61" name="Rectangle 60"/>
          <p:cNvSpPr/>
          <p:nvPr/>
        </p:nvSpPr>
        <p:spPr>
          <a:xfrm>
            <a:off x="6400800" y="5285232"/>
            <a:ext cx="1980590"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6B7280"/>
                </a:solidFill>
              </a:rPr>
              <a:t>■ Mat 38%  ■ Proc 32%  ■ Lab 12%  ■ Tool 8%  ■ OH 10%</a:t>
            </a:r>
          </a:p>
        </p:txBody>
      </p:sp>
      <p:sp>
        <p:nvSpPr>
          <p:cNvPr id="67" name="Rectangle 66"/>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0" name="TextBox 69"/>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.IGES   .STP   .IGS   .STL   .JPG   .PNG   .HEIC</a:t>
            </a:r>
          </a:p>
        </p:txBody>
      </p:sp>
      <p:sp>
        <p:nvSpPr>
          <p:cNvPr id="71" name="TextBox 70"/>
          <p:cNvSpPr txBox="1"/>
          <p:nvPr/>
        </p:nvSpPr>
        <p:spPr>
          <a:xfrm>
            <a:off x="5760720" y="2432304"/>
            <a:ext cx="5897880" cy="228600"/>
          </a:xfrm>
          <a:prstGeom prst="rect">
            <a:avLst/>
          </a:prstGeom>
          <a:noFill/>
        </p:spPr>
        <p:txBody>
          <a:bodyPr wrap="square">
            <a:spAutoFit/>
          </a:bodyPr>
          <a:lstStyle/>
          <a:p>
            <a:pPr algn="l"/>
            <a:r>
              <a:rPr sz="800" b="0" i="0">
                <a:solidFill>
                  <a:srgbClr val="6B7280"/>
                </a:solidFill>
              </a:rPr>
              <a:t>Drag-drop or file picker — CAD geometry measured by a full kernel, photos read by 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3A4356"/>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16325C"/>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3A4356"/>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3A4356"/>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3A4356"/>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E80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16325C"/>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3A4356"/>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2E8B57"/>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3A4356"/>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FFFFFF"/>
                          </a:solidFill>
                        </a:rPr>
                        <a:t>Auto-captured from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CAD kernel (OCCT)</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per material = volume × density</a:t>
                      </a:r>
                    </a:p>
                  </a:txBody>
                  <a:tcPr>
                    <a:solidFill>
                      <a:srgbClr val="F7F9FC"/>
                    </a:solidFill>
                  </a:tcPr>
                </a:tc>
                <a:tc>
                  <a:txBody>
                    <a:bodyPr/>
                    <a:lstStyle/>
                    <a:p>
                      <a:pPr algn="l"/>
                      <a:r>
                        <a:rPr sz="750">
                          <a:solidFill>
                            <a:srgbClr val="3A4356"/>
                          </a:solidFill>
                        </a:rPr>
                        <a:t>Raw-material £  (Al / steel / iron / Cu / Ti)</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cost · BOM line count</a:t>
                      </a:r>
                    </a:p>
                  </a:txBody>
                  <a:tcPr>
                    <a:solidFill>
                      <a:srgbClr val="F7F9FC"/>
                    </a:solidFill>
                  </a:tcPr>
                </a:tc>
              </a:tr>
              <a:tr h="416052">
                <a:tc>
                  <a:txBody>
                    <a:bodyPr/>
                    <a:lstStyle/>
                    <a:p>
                      <a:pPr algn="l"/>
                      <a:r>
                        <a:rPr sz="750" b="1">
                          <a:solidFill>
                            <a:srgbClr val="1D6FB8"/>
                          </a:solidFill>
                        </a:rPr>
                        <a:t>Hole &amp; boss table — Ø, depth, count</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 — min / mean / heatmap</a:t>
                      </a:r>
                    </a:p>
                  </a:txBody>
                  <a:tcPr>
                    <a:solidFill>
                      <a:srgbClr val="F7F9FC"/>
                    </a:solidFill>
                  </a:tcPr>
                </a:tc>
                <a:tc>
                  <a:txBody>
                    <a:bodyPr/>
                    <a:lstStyle/>
                    <a:p>
                      <a:pPr algn="l"/>
                      <a:r>
                        <a:rPr sz="750">
                          <a:solidFill>
                            <a:srgbClr val="3A4356"/>
                          </a:solidFill>
                        </a:rPr>
                        <a:t>Moulding &amp; casting feasibility · cooling</a:t>
                      </a:r>
                    </a:p>
                  </a:txBody>
                  <a:tcPr>
                    <a:solidFill>
                      <a:srgbClr val="F7F9FC"/>
                    </a:solidFill>
                  </a:tcPr>
                </a:tc>
              </a:tr>
              <a:tr h="416052">
                <a:tc>
                  <a:txBody>
                    <a:bodyPr/>
                    <a:lstStyle/>
                    <a:p>
                      <a:pPr algn="l"/>
                      <a:r>
                        <a:rPr sz="750" b="1">
                          <a:solidFill>
                            <a:srgbClr val="1D6FB8"/>
                          </a:solidFill>
                        </a:rPr>
                        <a:t>Draft &amp; undercut analysis</a:t>
                      </a:r>
                    </a:p>
                  </a:txBody>
                  <a:tcPr>
                    <a:solidFill>
                      <a:srgbClr val="FFFFFF"/>
                    </a:solidFill>
                  </a:tcPr>
                </a:tc>
                <a:tc>
                  <a:txBody>
                    <a:bodyPr/>
                    <a:lstStyle/>
                    <a:p>
                      <a:pPr algn="l"/>
                      <a:r>
                        <a:rPr sz="750">
                          <a:solidFill>
                            <a:srgbClr val="3A4356"/>
                          </a:solidFill>
                        </a:rPr>
                        <a:t>Tooling complexity — slides for undercuts</a:t>
                      </a:r>
                    </a:p>
                  </a:txBody>
                  <a:tcPr>
                    <a:solidFill>
                      <a:srgbClr val="FFFFFF"/>
                    </a:solidFill>
                  </a:tcPr>
                </a:tc>
              </a:tr>
              <a:tr h="416052">
                <a:tc>
                  <a:txBody>
                    <a:bodyPr/>
                    <a:lstStyle/>
                    <a:p>
                      <a:pPr algn="l"/>
                      <a:r>
                        <a:rPr sz="750" b="1">
                          <a:solidFill>
                            <a:srgbClr val="1D6FB8"/>
                          </a:solidFill>
                        </a:rPr>
                        <a:t>Face-type areas (planar / cylindrical)</a:t>
                      </a:r>
                    </a:p>
                  </a:txBody>
                  <a:tcPr>
                    <a:solidFill>
                      <a:srgbClr val="F7F9FC"/>
                    </a:solidFill>
                  </a:tcPr>
                </a:tc>
                <a:tc>
                  <a:txBody>
                    <a:bodyPr/>
                    <a:lstStyle/>
                    <a:p>
                      <a:pPr algn="l"/>
                      <a:r>
                        <a:rPr sz="750">
                          <a:solidFill>
                            <a:srgbClr val="3A4356"/>
                          </a:solidFill>
                        </a:rPr>
                        <a:t>Machining area · paint / coat area</a:t>
                      </a:r>
                    </a:p>
                  </a:txBody>
                  <a:tcPr>
                    <a:solidFill>
                      <a:srgbClr val="F7F9FC"/>
                    </a:solidFill>
                  </a:tcPr>
                </a:tc>
              </a:tr>
              <a:tr h="416052">
                <a:tc>
                  <a:txBody>
                    <a:bodyPr/>
                    <a:lstStyle/>
                    <a:p>
                      <a:pPr algn="l"/>
                      <a:r>
                        <a:rPr sz="750" b="1">
                          <a:solidFill>
                            <a:srgbClr val="1D6FB8"/>
                          </a:solidFill>
                        </a:rPr>
                        <a:t>CNC cycle-time &amp; setup estimate</a:t>
                      </a:r>
                    </a:p>
                  </a:txBody>
                  <a:tcPr>
                    <a:solidFill>
                      <a:srgbClr val="FFFFFF"/>
                    </a:solidFill>
                  </a:tcPr>
                </a:tc>
                <a:tc>
                  <a:txBody>
                    <a:bodyPr/>
                    <a:lstStyle/>
                    <a:p>
                      <a:pPr algn="l"/>
                      <a:r>
                        <a:rPr sz="750">
                          <a:solidFill>
                            <a:srgbClr val="3A4356"/>
                          </a:solidFill>
                        </a:rPr>
                        <a:t>Process-time baseline</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3A4356"/>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FFFFFF"/>
          </a:solidFill>
          <a:ln w="1143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E8B57"/>
                </a:solidFill>
                <a:latin typeface="Segoe UI Emoji"/>
              </a:rPr>
              <a:t>🔒</a:t>
            </a:r>
            <a:r>
              <a:rPr sz="1000" b="1" i="0">
                <a:solidFill>
                  <a:srgbClr val="2E8B57"/>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3A4356"/>
                </a:solidFill>
              </a:rPr>
              <a:t>Entry Point A: </a:t>
            </a:r>
            <a:r>
              <a:rPr sz="900" b="0" i="0">
                <a:solidFill>
                  <a:srgbClr val="3A4356"/>
                </a:solidFill>
                <a:latin typeface="Segoe UI Emoji"/>
              </a:rPr>
              <a:t>🤖</a:t>
            </a:r>
            <a:r>
              <a:rPr sz="900" b="0" i="0">
                <a:solidFill>
                  <a:srgbClr val="3A4356"/>
                </a:solidFill>
              </a:rPr>
              <a:t> AI Agent (plain English description)   |   Entry Point B: </a:t>
            </a:r>
            <a:r>
              <a:rPr sz="900" b="0" i="0">
                <a:solidFill>
                  <a:srgbClr val="3A4356"/>
                </a:solidFill>
                <a:latin typeface="Segoe UI Emoji"/>
              </a:rPr>
              <a:t>📐</a:t>
            </a:r>
            <a:r>
              <a:rPr sz="900" b="0" i="0">
                <a:solidFill>
                  <a:srgbClr val="3A4356"/>
                </a:solidFill>
              </a:rPr>
              <a:t> CAD / Photo Upload   |   Entry Point C: </a:t>
            </a:r>
            <a:r>
              <a:rPr sz="900" b="0" i="0">
                <a:solidFill>
                  <a:srgbClr val="3A4356"/>
                </a:solidFill>
                <a:latin typeface="Segoe UI Emoji"/>
              </a:rPr>
              <a:t>✏️</a:t>
            </a:r>
            <a:r>
              <a:rPr sz="900" b="0" i="0">
                <a:solidFill>
                  <a:srgbClr val="3A4356"/>
                </a:solidFill>
              </a:rPr>
              <a:t> Manual Form Entry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16325C"/>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3A4356"/>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20" name="Rectangle 19"/>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16325C"/>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3A4356"/>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7" name="Rectangle 26"/>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16325C"/>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3A4356"/>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4" name="Rectangle 33"/>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16325C"/>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3A4356"/>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41" name="Rectangle 40"/>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B7791F"/>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16325C"/>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3A4356"/>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8" name="Rectangle 47"/>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2E8B57"/>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16325C"/>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3A4356"/>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2E8B57"/>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16325C"/>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3A4356"/>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62" name="Rectangle 61"/>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16325C"/>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3A4356"/>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Minutes, not weeks</a:t>
            </a:r>
          </a:p>
        </p:txBody>
      </p:sp>
      <p:sp>
        <p:nvSpPr>
          <p:cNvPr id="70" name="Rectangle 69"/>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1D6FB8"/>
                </a:solidFill>
              </a:rPr>
              <a:t>✓ Auditable assumptions</a:t>
            </a:r>
          </a:p>
        </p:txBody>
      </p:sp>
      <p:sp>
        <p:nvSpPr>
          <p:cNvPr id="72" name="Rectangle 71"/>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Claude AI powered</a:t>
            </a:r>
          </a:p>
        </p:txBody>
      </p:sp>
      <p:sp>
        <p:nvSpPr>
          <p:cNvPr id="74" name="Rectangle 73"/>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20 regions</a:t>
            </a:r>
          </a:p>
        </p:txBody>
      </p:sp>
      <p:sp>
        <p:nvSpPr>
          <p:cNvPr id="76" name="Rectangle 75"/>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A/B/C scenarios</a:t>
            </a:r>
          </a:p>
        </p:txBody>
      </p:sp>
      <p:sp>
        <p:nvSpPr>
          <p:cNvPr id="78" name="Rectangle 77"/>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Assembly BOM</a:t>
            </a:r>
          </a:p>
        </p:txBody>
      </p:sp>
      <p:sp>
        <p:nvSpPr>
          <p:cNvPr id="80" name="Rectangle 79"/>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B7280"/>
                </a:solidFill>
              </a:rPr>
              <a:t>3/4/5-axis, turning, grinding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B7280"/>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B7280"/>
                </a:solidFill>
              </a:rPr>
              <a:t>Casting + post-ops + HT</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B7280"/>
                </a:solidFill>
              </a:rPr>
              <a:t>Hot, warm, cold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B7280"/>
                </a:solidFill>
              </a:rPr>
              <a:t>Progressive/transfer die</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B7280"/>
                </a:solidFill>
              </a:rPr>
              <a:t>Laser · punch · press brake · MIG</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B7280"/>
                </a:solidFill>
              </a:rPr>
              <a:t>Hob · shape · skive · broach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B7280"/>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B7280"/>
                </a:solidFill>
              </a:rPr>
              <a:t>HDPE, PET, extrusion blow</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B7280"/>
                </a:solidFill>
              </a:rPr>
              <a:t>Profile, pipe, sheet, rod</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B7280"/>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B7280"/>
                </a:solidFill>
              </a:rPr>
              <a:t>Large hollow shapes, LLDPE</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B7280"/>
                </a:solidFill>
              </a:rPr>
              <a:t>Compression, injection,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B7280"/>
                </a:solidFill>
              </a:rPr>
              <a:t>CFRP/GFRP, autoclave, RTM, AFP</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B7280"/>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B7280"/>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B7280"/>
                </a:solidFill>
              </a:rPr>
              <a:t>2–16L, HDI, rigid-flex, RF/μwave</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B7280"/>
                </a:solidFill>
              </a:rPr>
              <a:t>SMT, TH, reflow, conformal coat</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B7280"/>
                </a:solidFill>
              </a:rPr>
              <a:t>Cut-strip-crimp, test, sub-asm</a:t>
            </a:r>
          </a:p>
        </p:txBody>
      </p:sp>
      <p:sp>
        <p:nvSpPr>
          <p:cNvPr id="87" name="Rectangle 86"/>
          <p:cNvSpPr/>
          <p:nvPr/>
        </p:nvSpPr>
        <p:spPr>
          <a:xfrm>
            <a:off x="8532005"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B7280"/>
                </a:solidFill>
              </a:rPr>
              <a:t>Multi-part BOM, full cost rollup</a:t>
            </a:r>
          </a:p>
        </p:txBody>
      </p:sp>
      <p:sp>
        <p:nvSpPr>
          <p:cNvPr id="91" name="Rectangle 90"/>
          <p:cNvSpPr/>
          <p:nvPr/>
        </p:nvSpPr>
        <p:spPr>
          <a:xfrm>
            <a:off x="10156110"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B72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Material Database</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30+ materials: alloy steels, aluminium grades, engineering plastics, elastomers, composites, PCB laminates, copper alloys. FX-adjusted per region.</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Machine &amp; Rate Library</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50+ machine types: CNC centres, presses, moulding machines, SMT lines, reflow ovens, test equipment. Hourly rates editable per project and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Routing &amp; Process Logic</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AI-driven operation sequencing. Each operation: machine ID, cycle time (hr), OEE, setup time, labour grade, overhead allocation.</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Tooling &amp; NRE Amortisation</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fixtures, PCB NRE — amortised over annual volume with tool life curves for press tools and EDM electrodes.</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Yield &amp; Scrap Models</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First-pass yield from 10 penalty factors: layer count, trace width, via type, HDI structure, impedance control, BGA pitch, alloy grade, section thickness.</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Regional Cost Multipliers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 each with calibrated labour tiers (skilled/semi-skilled/engineer/inspector), energy costs, and machine hour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Every cost element benchmarked vs aPriori/Cleansheet ranges. Tornado chart shows top 10 cost drivers at ±10%. Scenario A/B/C comparison.</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Wright's Law: configure an 85% (or custom) curve to project volume-driven cost reduction. Essential for programme pricing and LTA negotiations.</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Log supplier quotes (name, date, price, currency). Compare vs should-cost instantly — identify margin gaps and overhead inflation.</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AI-Driven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Where geometry is unknown, Claude AI fills assumptions transparently — material, complexity, process, geometry — with explanation of every decision.</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Gear Cutting Kinematics</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power-skiving and grinding cycles derived from gear-train arithmetic rather than rules of thumb. Machine sized on module × diameter × face width.</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Landed Cost &amp; Customs</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on customs value, CBAM carbon border levy, rules of origin and incoterms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3A4356"/>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3A4356"/>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3A4356"/>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3A4356"/>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3A4356"/>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E8B57"/>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B7791F"/>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E8B57"/>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6B72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950" b="1" i="0">
                <a:solidFill>
                  <a:srgbClr val="16325C"/>
                </a:solidFill>
              </a:rPr>
              <a:t>DFM Issues — What It Finds</a:t>
            </a:r>
          </a:p>
        </p:txBody>
      </p:sp>
      <p:sp>
        <p:nvSpPr>
          <p:cNvPr id="22" name="TextBox 21"/>
          <p:cNvSpPr txBox="1"/>
          <p:nvPr/>
        </p:nvSpPr>
        <p:spPr>
          <a:xfrm>
            <a:off x="539496" y="3127248"/>
            <a:ext cx="5303520" cy="1335024"/>
          </a:xfrm>
          <a:prstGeom prst="rect">
            <a:avLst/>
          </a:prstGeom>
          <a:noFill/>
        </p:spPr>
        <p:txBody>
          <a:bodyPr wrap="square">
            <a:spAutoFit/>
          </a:bodyPr>
          <a:lstStyle/>
          <a:p>
            <a:pPr algn="l"/>
            <a:r>
              <a:rPr sz="850" b="0" i="0">
                <a:solidFill>
                  <a:srgbClr val="3A4356"/>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950" b="1" i="0">
                <a:solidFill>
                  <a:srgbClr val="16325C"/>
                </a:solidFill>
              </a:rPr>
              <a:t>DFA Issues — Assembly Intelligence</a:t>
            </a:r>
          </a:p>
        </p:txBody>
      </p:sp>
      <p:sp>
        <p:nvSpPr>
          <p:cNvPr id="26" name="TextBox 25"/>
          <p:cNvSpPr txBox="1"/>
          <p:nvPr/>
        </p:nvSpPr>
        <p:spPr>
          <a:xfrm>
            <a:off x="6135624" y="3127248"/>
            <a:ext cx="5303520" cy="1335024"/>
          </a:xfrm>
          <a:prstGeom prst="rect">
            <a:avLst/>
          </a:prstGeom>
          <a:noFill/>
        </p:spPr>
        <p:txBody>
          <a:bodyPr wrap="square">
            <a:spAutoFit/>
          </a:bodyPr>
          <a:lstStyle/>
          <a:p>
            <a:pPr algn="l"/>
            <a:r>
              <a:rPr sz="850" b="0" i="0">
                <a:solidFill>
                  <a:srgbClr val="3A4356"/>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310896"/>
          </a:xfrm>
          <a:prstGeom prst="rect">
            <a:avLst/>
          </a:prstGeom>
          <a:noFill/>
        </p:spPr>
        <p:txBody>
          <a:bodyPr wrap="square">
            <a:spAutoFit/>
          </a:bodyPr>
          <a:lstStyle/>
          <a:p>
            <a:pPr algn="l"/>
            <a:r>
              <a:rPr sz="950" b="1" i="0">
                <a:solidFill>
                  <a:srgbClr val="16325C"/>
                </a:solidFill>
              </a:rPr>
              <a:t>Cost Optimisation Levers (6–8 per part)</a:t>
            </a:r>
          </a:p>
        </p:txBody>
      </p:sp>
      <p:sp>
        <p:nvSpPr>
          <p:cNvPr id="30" name="TextBox 29"/>
          <p:cNvSpPr txBox="1"/>
          <p:nvPr/>
        </p:nvSpPr>
        <p:spPr>
          <a:xfrm>
            <a:off x="539496" y="5047488"/>
            <a:ext cx="5303520" cy="1335024"/>
          </a:xfrm>
          <a:prstGeom prst="rect">
            <a:avLst/>
          </a:prstGeom>
          <a:noFill/>
        </p:spPr>
        <p:txBody>
          <a:bodyPr wrap="square">
            <a:spAutoFit/>
          </a:bodyPr>
          <a:lstStyle/>
          <a:p>
            <a:pPr algn="l"/>
            <a:r>
              <a:rPr sz="850" b="0" i="0">
                <a:solidFill>
                  <a:srgbClr val="3A4356"/>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310896"/>
          </a:xfrm>
          <a:prstGeom prst="rect">
            <a:avLst/>
          </a:prstGeom>
          <a:noFill/>
        </p:spPr>
        <p:txBody>
          <a:bodyPr wrap="square">
            <a:spAutoFit/>
          </a:bodyPr>
          <a:lstStyle/>
          <a:p>
            <a:pPr algn="l"/>
            <a:r>
              <a:rPr sz="950" b="1" i="0">
                <a:solidFill>
                  <a:srgbClr val="16325C"/>
                </a:solidFill>
              </a:rPr>
              <a:t>AI Deep Analysis (Claude AI)</a:t>
            </a:r>
          </a:p>
        </p:txBody>
      </p:sp>
      <p:sp>
        <p:nvSpPr>
          <p:cNvPr id="34" name="TextBox 33"/>
          <p:cNvSpPr txBox="1"/>
          <p:nvPr/>
        </p:nvSpPr>
        <p:spPr>
          <a:xfrm>
            <a:off x="6135624" y="5047488"/>
            <a:ext cx="5303520" cy="1335024"/>
          </a:xfrm>
          <a:prstGeom prst="rect">
            <a:avLst/>
          </a:prstGeom>
          <a:noFill/>
        </p:spPr>
        <p:txBody>
          <a:bodyPr wrap="square">
            <a:spAutoFit/>
          </a:bodyPr>
          <a:lstStyle/>
          <a:p>
            <a:pPr algn="l"/>
            <a:r>
              <a:rPr sz="850" b="0" i="0">
                <a:solidFill>
                  <a:srgbClr val="3A4356"/>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16325C"/>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Sample Labour Rate</a:t>
                      </a:r>
                    </a:p>
                  </a:txBody>
                  <a:tcPr>
                    <a:solidFill>
                      <a:srgbClr val="16325C"/>
                    </a:solidFill>
                  </a:tcPr>
                </a:tc>
                <a:tc>
                  <a:txBody>
                    <a:bodyPr/>
                    <a:lstStyle/>
                    <a:p>
                      <a:pPr algn="l"/>
                      <a:r>
                        <a:rPr sz="750" b="1">
                          <a:solidFill>
                            <a:srgbClr val="FFFFFF"/>
                          </a:solidFill>
                        </a:rPr>
                        <a:t>Position</a:t>
                      </a:r>
                    </a:p>
                  </a:txBody>
                  <a:tcPr>
                    <a:solidFill>
                      <a:srgbClr val="16325C"/>
                    </a:solidFill>
                  </a:tcPr>
                </a:tc>
              </a:tr>
              <a:tr h="316523">
                <a:tc>
                  <a:txBody>
                    <a:bodyPr/>
                    <a:lstStyle/>
                    <a:p>
                      <a:pPr algn="l"/>
                      <a:r>
                        <a:rPr sz="750" b="1">
                          <a:solidFill>
                            <a:srgbClr val="1D6FB8"/>
                          </a:solidFill>
                        </a:rPr>
                        <a:t>🇬🇧 UK</a:t>
                      </a:r>
                    </a:p>
                  </a:txBody>
                  <a:tcPr>
                    <a:solidFill>
                      <a:srgbClr val="FFFFFF"/>
                    </a:solidFill>
                  </a:tcPr>
                </a:tc>
                <a:tc>
                  <a:txBody>
                    <a:bodyPr/>
                    <a:lstStyle/>
                    <a:p>
                      <a:pPr algn="l"/>
                      <a:r>
                        <a:rPr sz="750">
                          <a:solidFill>
                            <a:srgbClr val="3A4356"/>
                          </a:solidFill>
                        </a:rPr>
                        <a:t>GBP £</a:t>
                      </a:r>
                    </a:p>
                  </a:txBody>
                  <a:tcPr>
                    <a:solidFill>
                      <a:srgbClr val="FFFFFF"/>
                    </a:solidFill>
                  </a:tcPr>
                </a:tc>
                <a:tc>
                  <a:txBody>
                    <a:bodyPr/>
                    <a:lstStyle/>
                    <a:p>
                      <a:pPr algn="l"/>
                      <a:r>
                        <a:rPr sz="750">
                          <a:solidFill>
                            <a:srgbClr val="3A4356"/>
                          </a:solidFill>
                        </a:rPr>
                        <a:t>Skilled £26/hr</a:t>
                      </a:r>
                    </a:p>
                  </a:txBody>
                  <a:tcPr>
                    <a:solidFill>
                      <a:srgbClr val="FFFFFF"/>
                    </a:solidFill>
                  </a:tcPr>
                </a:tc>
                <a:tc>
                  <a:txBody>
                    <a:bodyPr/>
                    <a:lstStyle/>
                    <a:p>
                      <a:pPr algn="l"/>
                      <a:r>
                        <a:rPr sz="750" b="1">
                          <a:solidFill>
                            <a:srgbClr val="2E8B57"/>
                          </a:solidFill>
                        </a:rPr>
                        <a:t>Industry / Aerospace baseline</a:t>
                      </a:r>
                    </a:p>
                  </a:txBody>
                  <a:tcPr>
                    <a:solidFill>
                      <a:srgbClr val="FFFFFF"/>
                    </a:solidFill>
                  </a:tcPr>
                </a:tc>
              </a:tr>
              <a:tr h="316523">
                <a:tc>
                  <a:txBody>
                    <a:bodyPr/>
                    <a:lstStyle/>
                    <a:p>
                      <a:pPr algn="l"/>
                      <a:r>
                        <a:rPr sz="750" b="1">
                          <a:solidFill>
                            <a:srgbClr val="1D6FB8"/>
                          </a:solidFill>
                        </a:rPr>
                        <a:t>🇩🇪 Germany</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high automation</a:t>
                      </a:r>
                    </a:p>
                  </a:txBody>
                  <a:tcPr>
                    <a:solidFill>
                      <a:srgbClr val="F7F9FC"/>
                    </a:solidFill>
                  </a:tcPr>
                </a:tc>
              </a:tr>
              <a:tr h="316523">
                <a:tc>
                  <a:txBody>
                    <a:bodyPr/>
                    <a:lstStyle/>
                    <a:p>
                      <a:pPr algn="l"/>
                      <a:r>
                        <a:rPr sz="750" b="1">
                          <a:solidFill>
                            <a:srgbClr val="1D6FB8"/>
                          </a:solidFill>
                        </a:rPr>
                        <a:t>🇵🇱 Poland</a:t>
                      </a:r>
                    </a:p>
                  </a:txBody>
                  <a:tcPr>
                    <a:solidFill>
                      <a:srgbClr val="FFFFFF"/>
                    </a:solidFill>
                  </a:tcPr>
                </a:tc>
                <a:tc>
                  <a:txBody>
                    <a:bodyPr/>
                    <a:lstStyle/>
                    <a:p>
                      <a:pPr algn="l"/>
                      <a:r>
                        <a:rPr sz="750">
                          <a:solidFill>
                            <a:srgbClr val="3A4356"/>
                          </a:solidFill>
                        </a:rPr>
                        <a:t>EUR €</a:t>
                      </a:r>
                    </a:p>
                  </a:txBody>
                  <a:tcPr>
                    <a:solidFill>
                      <a:srgbClr val="FFFFFF"/>
                    </a:solidFill>
                  </a:tcPr>
                </a:tc>
                <a:tc>
                  <a:txBody>
                    <a:bodyPr/>
                    <a:lstStyle/>
                    <a:p>
                      <a:pPr algn="l"/>
                      <a:r>
                        <a:rPr sz="750">
                          <a:solidFill>
                            <a:srgbClr val="3A4356"/>
                          </a:solidFill>
                        </a:rPr>
                        <a:t>Skilled €11/hr</a:t>
                      </a:r>
                    </a:p>
                  </a:txBody>
                  <a:tcPr>
                    <a:solidFill>
                      <a:srgbClr val="FFFFFF"/>
                    </a:solidFill>
                  </a:tcPr>
                </a:tc>
                <a:tc>
                  <a:txBody>
                    <a:bodyPr/>
                    <a:lstStyle/>
                    <a:p>
                      <a:pPr algn="l"/>
                      <a:r>
                        <a:rPr sz="750" b="1">
                          <a:solidFill>
                            <a:srgbClr val="2E8B57"/>
                          </a:solidFill>
                        </a:rPr>
                        <a:t>Low-cost EU option</a:t>
                      </a:r>
                    </a:p>
                  </a:txBody>
                  <a:tcPr>
                    <a:solidFill>
                      <a:srgbClr val="FFFFFF"/>
                    </a:solidFill>
                  </a:tcPr>
                </a:tc>
              </a:tr>
              <a:tr h="316523">
                <a:tc>
                  <a:txBody>
                    <a:bodyPr/>
                    <a:lstStyle/>
                    <a:p>
                      <a:pPr algn="l"/>
                      <a:r>
                        <a:rPr sz="750" b="1">
                          <a:solidFill>
                            <a:srgbClr val="1D6FB8"/>
                          </a:solidFill>
                        </a:rPr>
                        <a:t>🇷🇴 Romania</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€7/hr</a:t>
                      </a:r>
                    </a:p>
                  </a:txBody>
                  <a:tcPr>
                    <a:solidFill>
                      <a:srgbClr val="F7F9FC"/>
                    </a:solidFill>
                  </a:tcPr>
                </a:tc>
                <a:tc>
                  <a:txBody>
                    <a:bodyPr/>
                    <a:lstStyle/>
                    <a:p>
                      <a:pPr algn="l"/>
                      <a:r>
                        <a:rPr sz="750" b="1">
                          <a:solidFill>
                            <a:srgbClr val="2E8B57"/>
                          </a:solidFill>
                        </a:rPr>
                        <a:t>Ultra-low EU labour</a:t>
                      </a:r>
                    </a:p>
                  </a:txBody>
                  <a:tcPr>
                    <a:solidFill>
                      <a:srgbClr val="F7F9FC"/>
                    </a:solidFill>
                  </a:tcPr>
                </a:tc>
              </a:tr>
              <a:tr h="316523">
                <a:tc>
                  <a:txBody>
                    <a:bodyPr/>
                    <a:lstStyle/>
                    <a:p>
                      <a:pPr algn="l"/>
                      <a:r>
                        <a:rPr sz="750" b="1">
                          <a:solidFill>
                            <a:srgbClr val="1D6FB8"/>
                          </a:solidFill>
                        </a:rPr>
                        <a:t>🇨🇳 China</a:t>
                      </a:r>
                    </a:p>
                  </a:txBody>
                  <a:tcPr>
                    <a:solidFill>
                      <a:srgbClr val="FFFFFF"/>
                    </a:solidFill>
                  </a:tcPr>
                </a:tc>
                <a:tc>
                  <a:txBody>
                    <a:bodyPr/>
                    <a:lstStyle/>
                    <a:p>
                      <a:pPr algn="l"/>
                      <a:r>
                        <a:rPr sz="750">
                          <a:solidFill>
                            <a:srgbClr val="3A4356"/>
                          </a:solidFill>
                        </a:rPr>
                        <a:t>CNY ¥</a:t>
                      </a:r>
                    </a:p>
                  </a:txBody>
                  <a:tcPr>
                    <a:solidFill>
                      <a:srgbClr val="FFFFFF"/>
                    </a:solidFill>
                  </a:tcPr>
                </a:tc>
                <a:tc>
                  <a:txBody>
                    <a:bodyPr/>
                    <a:lstStyle/>
                    <a:p>
                      <a:pPr algn="l"/>
                      <a:r>
                        <a:rPr sz="750">
                          <a:solidFill>
                            <a:srgbClr val="3A4356"/>
                          </a:solidFill>
                        </a:rPr>
                        <a:t>Skilled ¥28/hr</a:t>
                      </a:r>
                    </a:p>
                  </a:txBody>
                  <a:tcPr>
                    <a:solidFill>
                      <a:srgbClr val="FFFFFF"/>
                    </a:solidFill>
                  </a:tcPr>
                </a:tc>
                <a:tc>
                  <a:txBody>
                    <a:bodyPr/>
                    <a:lstStyle/>
                    <a:p>
                      <a:pPr algn="l"/>
                      <a:r>
                        <a:rPr sz="750" b="1">
                          <a:solidFill>
                            <a:srgbClr val="2E8B57"/>
                          </a:solidFill>
                        </a:rPr>
                        <a:t>Global volume manufacturing</a:t>
                      </a:r>
                    </a:p>
                  </a:txBody>
                  <a:tcPr>
                    <a:solidFill>
                      <a:srgbClr val="FFFFFF"/>
                    </a:solidFill>
                  </a:tcPr>
                </a:tc>
              </a:tr>
              <a:tr h="316523">
                <a:tc>
                  <a:txBody>
                    <a:bodyPr/>
                    <a:lstStyle/>
                    <a:p>
                      <a:pPr algn="l"/>
                      <a:r>
                        <a:rPr sz="750" b="1">
                          <a:solidFill>
                            <a:srgbClr val="1D6FB8"/>
                          </a:solidFill>
                        </a:rPr>
                        <a:t>🇮🇳 India</a:t>
                      </a:r>
                    </a:p>
                  </a:txBody>
                  <a:tcPr>
                    <a:solidFill>
                      <a:srgbClr val="F7F9FC"/>
                    </a:solidFill>
                  </a:tcPr>
                </a:tc>
                <a:tc>
                  <a:txBody>
                    <a:bodyPr/>
                    <a:lstStyle/>
                    <a:p>
                      <a:pPr algn="l"/>
                      <a:r>
                        <a:rPr sz="750">
                          <a:solidFill>
                            <a:srgbClr val="3A4356"/>
                          </a:solidFill>
                        </a:rPr>
                        <a:t>INR ₹</a:t>
                      </a:r>
                    </a:p>
                  </a:txBody>
                  <a:tcPr>
                    <a:solidFill>
                      <a:srgbClr val="F7F9FC"/>
                    </a:solidFill>
                  </a:tcPr>
                </a:tc>
                <a:tc>
                  <a:txBody>
                    <a:bodyPr/>
                    <a:lstStyle/>
                    <a:p>
                      <a:pPr algn="l"/>
                      <a:r>
                        <a:rPr sz="750">
                          <a:solidFill>
                            <a:srgbClr val="3A4356"/>
                          </a:solidFill>
                        </a:rPr>
                        <a:t>Skilled ₹320/hr</a:t>
                      </a:r>
                    </a:p>
                  </a:txBody>
                  <a:tcPr>
                    <a:solidFill>
                      <a:srgbClr val="F7F9FC"/>
                    </a:solidFill>
                  </a:tcPr>
                </a:tc>
                <a:tc>
                  <a:txBody>
                    <a:bodyPr/>
                    <a:lstStyle/>
                    <a:p>
                      <a:pPr algn="l"/>
                      <a:r>
                        <a:rPr sz="750" b="1">
                          <a:solidFill>
                            <a:srgbClr val="2E8B57"/>
                          </a:solidFill>
                        </a:rPr>
                        <a:t>Engineering &amp; electronics hub</a:t>
                      </a:r>
                    </a:p>
                  </a:txBody>
                  <a:tcPr>
                    <a:solidFill>
                      <a:srgbClr val="F7F9FC"/>
                    </a:solidFill>
                  </a:tcPr>
                </a:tc>
              </a:tr>
              <a:tr h="316523">
                <a:tc>
                  <a:txBody>
                    <a:bodyPr/>
                    <a:lstStyle/>
                    <a:p>
                      <a:pPr algn="l"/>
                      <a:r>
                        <a:rPr sz="750" b="1">
                          <a:solidFill>
                            <a:srgbClr val="1D6FB8"/>
                          </a:solidFill>
                        </a:rPr>
                        <a:t>🇲🇽 Mexico</a:t>
                      </a:r>
                    </a:p>
                  </a:txBody>
                  <a:tcPr>
                    <a:solidFill>
                      <a:srgbClr val="FFFFFF"/>
                    </a:solidFill>
                  </a:tcPr>
                </a:tc>
                <a:tc>
                  <a:txBody>
                    <a:bodyPr/>
                    <a:lstStyle/>
                    <a:p>
                      <a:pPr algn="l"/>
                      <a:r>
                        <a:rPr sz="750">
                          <a:solidFill>
                            <a:srgbClr val="3A4356"/>
                          </a:solidFill>
                        </a:rPr>
                        <a:t>MXN $</a:t>
                      </a:r>
                    </a:p>
                  </a:txBody>
                  <a:tcPr>
                    <a:solidFill>
                      <a:srgbClr val="FFFFFF"/>
                    </a:solidFill>
                  </a:tcPr>
                </a:tc>
                <a:tc>
                  <a:txBody>
                    <a:bodyPr/>
                    <a:lstStyle/>
                    <a:p>
                      <a:pPr algn="l"/>
                      <a:r>
                        <a:rPr sz="750">
                          <a:solidFill>
                            <a:srgbClr val="3A4356"/>
                          </a:solidFill>
                        </a:rPr>
                        <a:t>Skilled MXN82/hr</a:t>
                      </a:r>
                    </a:p>
                  </a:txBody>
                  <a:tcPr>
                    <a:solidFill>
                      <a:srgbClr val="FFFFFF"/>
                    </a:solidFill>
                  </a:tcPr>
                </a:tc>
                <a:tc>
                  <a:txBody>
                    <a:bodyPr/>
                    <a:lstStyle/>
                    <a:p>
                      <a:pPr algn="l"/>
                      <a:r>
                        <a:rPr sz="750" b="1">
                          <a:solidFill>
                            <a:srgbClr val="2E8B57"/>
                          </a:solidFill>
                        </a:rPr>
                        <a:t>Near-shore for North America</a:t>
                      </a:r>
                    </a:p>
                  </a:txBody>
                  <a:tcPr>
                    <a:solidFill>
                      <a:srgbClr val="FFFFFF"/>
                    </a:solidFill>
                  </a:tcPr>
                </a:tc>
              </a:tr>
              <a:tr h="316523">
                <a:tc>
                  <a:txBody>
                    <a:bodyPr/>
                    <a:lstStyle/>
                    <a:p>
                      <a:pPr algn="l"/>
                      <a:r>
                        <a:rPr sz="750" b="1">
                          <a:solidFill>
                            <a:srgbClr val="1D6FB8"/>
                          </a:solidFill>
                        </a:rPr>
                        <a:t>🇺🇸 USA</a:t>
                      </a:r>
                    </a:p>
                  </a:txBody>
                  <a:tcPr>
                    <a:solidFill>
                      <a:srgbClr val="F7F9FC"/>
                    </a:solidFill>
                  </a:tcPr>
                </a:tc>
                <a:tc>
                  <a:txBody>
                    <a:bodyPr/>
                    <a:lstStyle/>
                    <a:p>
                      <a:pPr algn="l"/>
                      <a:r>
                        <a:rPr sz="750">
                          <a:solidFill>
                            <a:srgbClr val="3A4356"/>
                          </a:solidFill>
                        </a:rPr>
                        <a:t>USD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North American rates</a:t>
                      </a:r>
                    </a:p>
                  </a:txBody>
                  <a:tcPr>
                    <a:solidFill>
                      <a:srgbClr val="F7F9FC"/>
                    </a:solidFill>
                  </a:tcPr>
                </a:tc>
              </a:tr>
              <a:tr h="316523">
                <a:tc>
                  <a:txBody>
                    <a:bodyPr/>
                    <a:lstStyle/>
                    <a:p>
                      <a:pPr algn="l"/>
                      <a:r>
                        <a:rPr sz="750" b="1">
                          <a:solidFill>
                            <a:srgbClr val="1D6FB8"/>
                          </a:solidFill>
                        </a:rPr>
                        <a:t>🇹🇭 Thailand</a:t>
                      </a:r>
                    </a:p>
                  </a:txBody>
                  <a:tcPr>
                    <a:solidFill>
                      <a:srgbClr val="FFFFFF"/>
                    </a:solidFill>
                  </a:tcPr>
                </a:tc>
                <a:tc>
                  <a:txBody>
                    <a:bodyPr/>
                    <a:lstStyle/>
                    <a:p>
                      <a:pPr algn="l"/>
                      <a:r>
                        <a:rPr sz="750">
                          <a:solidFill>
                            <a:srgbClr val="3A4356"/>
                          </a:solidFill>
                        </a:rPr>
                        <a:t>THB ฿</a:t>
                      </a:r>
                    </a:p>
                  </a:txBody>
                  <a:tcPr>
                    <a:solidFill>
                      <a:srgbClr val="FFFFFF"/>
                    </a:solidFill>
                  </a:tcPr>
                </a:tc>
                <a:tc>
                  <a:txBody>
                    <a:bodyPr/>
                    <a:lstStyle/>
                    <a:p>
                      <a:pPr algn="l"/>
                      <a:r>
                        <a:rPr sz="750">
                          <a:solidFill>
                            <a:srgbClr val="3A4356"/>
                          </a:solidFill>
                        </a:rPr>
                        <a:t>Skilled ฿180/hr</a:t>
                      </a:r>
                    </a:p>
                  </a:txBody>
                  <a:tcPr>
                    <a:solidFill>
                      <a:srgbClr val="FFFFFF"/>
                    </a:solidFill>
                  </a:tcPr>
                </a:tc>
                <a:tc>
                  <a:txBody>
                    <a:bodyPr/>
                    <a:lstStyle/>
                    <a:p>
                      <a:pPr algn="l"/>
                      <a:r>
                        <a:rPr sz="750" b="1">
                          <a:solidFill>
                            <a:srgbClr val="2E8B57"/>
                          </a:solidFill>
                        </a:rPr>
                        <a:t>Electronics &amp; automotive</a:t>
                      </a:r>
                    </a:p>
                  </a:txBody>
                  <a:tcPr>
                    <a:solidFill>
                      <a:srgbClr val="FFFFFF"/>
                    </a:solidFill>
                  </a:tcPr>
                </a:tc>
              </a:tr>
              <a:tr h="316523">
                <a:tc>
                  <a:txBody>
                    <a:bodyPr/>
                    <a:lstStyle/>
                    <a:p>
                      <a:pPr algn="l"/>
                      <a:r>
                        <a:rPr sz="750" b="1">
                          <a:solidFill>
                            <a:srgbClr val="1D6FB8"/>
                          </a:solidFill>
                        </a:rPr>
                        <a:t>🇻🇳 Vietnam</a:t>
                      </a:r>
                    </a:p>
                  </a:txBody>
                  <a:tcPr>
                    <a:solidFill>
                      <a:srgbClr val="F7F9FC"/>
                    </a:solidFill>
                  </a:tcPr>
                </a:tc>
                <a:tc>
                  <a:txBody>
                    <a:bodyPr/>
                    <a:lstStyle/>
                    <a:p>
                      <a:pPr algn="l"/>
                      <a:r>
                        <a:rPr sz="750">
                          <a:solidFill>
                            <a:srgbClr val="3A4356"/>
                          </a:solidFill>
                        </a:rPr>
                        <a:t>VND ₫</a:t>
                      </a:r>
                    </a:p>
                  </a:txBody>
                  <a:tcPr>
                    <a:solidFill>
                      <a:srgbClr val="F7F9FC"/>
                    </a:solidFill>
                  </a:tcPr>
                </a:tc>
                <a:tc>
                  <a:txBody>
                    <a:bodyPr/>
                    <a:lstStyle/>
                    <a:p>
                      <a:pPr algn="l"/>
                      <a:r>
                        <a:rPr sz="750">
                          <a:solidFill>
                            <a:srgbClr val="3A4356"/>
                          </a:solidFill>
                        </a:rPr>
                        <a:t>Skilled ₫52k/hr</a:t>
                      </a:r>
                    </a:p>
                  </a:txBody>
                  <a:tcPr>
                    <a:solidFill>
                      <a:srgbClr val="F7F9FC"/>
                    </a:solidFill>
                  </a:tcPr>
                </a:tc>
                <a:tc>
                  <a:txBody>
                    <a:bodyPr/>
                    <a:lstStyle/>
                    <a:p>
                      <a:pPr algn="l"/>
                      <a:r>
                        <a:rPr sz="750" b="1">
                          <a:solidFill>
                            <a:srgbClr val="2E8B57"/>
                          </a:solidFill>
                        </a:rPr>
                        <a:t>Lowest-cost electronics hub</a:t>
                      </a:r>
                    </a:p>
                  </a:txBody>
                  <a:tcPr>
                    <a:solidFill>
                      <a:srgbClr val="F7F9FC"/>
                    </a:solidFill>
                  </a:tcPr>
                </a:tc>
              </a:tr>
              <a:tr h="316523">
                <a:tc>
                  <a:txBody>
                    <a:bodyPr/>
                    <a:lstStyle/>
                    <a:p>
                      <a:pPr algn="l"/>
                      <a:r>
                        <a:rPr sz="750" b="1">
                          <a:solidFill>
                            <a:srgbClr val="1D6FB8"/>
                          </a:solidFill>
                        </a:rPr>
                        <a:t>🇧🇷 Brazil</a:t>
                      </a:r>
                    </a:p>
                  </a:txBody>
                  <a:tcPr>
                    <a:solidFill>
                      <a:srgbClr val="FFFFFF"/>
                    </a:solidFill>
                  </a:tcPr>
                </a:tc>
                <a:tc>
                  <a:txBody>
                    <a:bodyPr/>
                    <a:lstStyle/>
                    <a:p>
                      <a:pPr algn="l"/>
                      <a:r>
                        <a:rPr sz="750">
                          <a:solidFill>
                            <a:srgbClr val="3A4356"/>
                          </a:solidFill>
                        </a:rPr>
                        <a:t>BRL R$</a:t>
                      </a:r>
                    </a:p>
                  </a:txBody>
                  <a:tcPr>
                    <a:solidFill>
                      <a:srgbClr val="FFFFFF"/>
                    </a:solidFill>
                  </a:tcPr>
                </a:tc>
                <a:tc>
                  <a:txBody>
                    <a:bodyPr/>
                    <a:lstStyle/>
                    <a:p>
                      <a:pPr algn="l"/>
                      <a:r>
                        <a:rPr sz="750">
                          <a:solidFill>
                            <a:srgbClr val="3A4356"/>
                          </a:solidFill>
                        </a:rPr>
                        <a:t>Skilled R$22/hr</a:t>
                      </a:r>
                    </a:p>
                  </a:txBody>
                  <a:tcPr>
                    <a:solidFill>
                      <a:srgbClr val="FFFFFF"/>
                    </a:solidFill>
                  </a:tcPr>
                </a:tc>
                <a:tc>
                  <a:txBody>
                    <a:bodyPr/>
                    <a:lstStyle/>
                    <a:p>
                      <a:pPr algn="l"/>
                      <a:r>
                        <a:rPr sz="750" b="1">
                          <a:solidFill>
                            <a:srgbClr val="2E8B57"/>
                          </a:solidFill>
                        </a:rPr>
                        <a:t>South America manufacturing</a:t>
                      </a:r>
                    </a:p>
                  </a:txBody>
                  <a:tcPr>
                    <a:solidFill>
                      <a:srgbClr val="FFFFFF"/>
                    </a:solidFill>
                  </a:tcPr>
                </a:tc>
              </a:tr>
              <a:tr h="316524">
                <a:tc>
                  <a:txBody>
                    <a:bodyPr/>
                    <a:lstStyle/>
                    <a:p>
                      <a:pPr algn="l"/>
                      <a:r>
                        <a:rPr sz="750" b="1">
                          <a:solidFill>
                            <a:srgbClr val="1D6FB8"/>
                          </a:solidFill>
                        </a:rPr>
                        <a:t>🇰🇷 S. Korea</a:t>
                      </a:r>
                    </a:p>
                  </a:txBody>
                  <a:tcPr>
                    <a:solidFill>
                      <a:srgbClr val="F7F9FC"/>
                    </a:solidFill>
                  </a:tcPr>
                </a:tc>
                <a:tc>
                  <a:txBody>
                    <a:bodyPr/>
                    <a:lstStyle/>
                    <a:p>
                      <a:pPr algn="l"/>
                      <a:r>
                        <a:rPr sz="750">
                          <a:solidFill>
                            <a:srgbClr val="3A4356"/>
                          </a:solidFill>
                        </a:rPr>
                        <a:t>KRW ₩</a:t>
                      </a:r>
                    </a:p>
                  </a:txBody>
                  <a:tcPr>
                    <a:solidFill>
                      <a:srgbClr val="F7F9FC"/>
                    </a:solidFill>
                  </a:tcPr>
                </a:tc>
                <a:tc>
                  <a:txBody>
                    <a:bodyPr/>
                    <a:lstStyle/>
                    <a:p>
                      <a:pPr algn="l"/>
                      <a:r>
                        <a:rPr sz="750">
                          <a:solidFill>
                            <a:srgbClr val="3A4356"/>
                          </a:solidFill>
                        </a:rPr>
                        <a:t>Skilled ₩22k/hr</a:t>
                      </a:r>
                    </a:p>
                  </a:txBody>
                  <a:tcPr>
                    <a:solidFill>
                      <a:srgbClr val="F7F9FC"/>
                    </a:solidFill>
                  </a:tcPr>
                </a:tc>
                <a:tc>
                  <a:txBody>
                    <a:bodyPr/>
                    <a:lstStyle/>
                    <a:p>
                      <a:pPr algn="l"/>
                      <a:r>
                        <a:rPr sz="750" b="1">
                          <a:solidFill>
                            <a:srgbClr val="2E8B57"/>
                          </a:solidFill>
                        </a:rPr>
                        <a:t>Electronics &amp; automotive</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16325C"/>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3A4356"/>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16325C"/>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3A4356"/>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16325C"/>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3A4356"/>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16325C"/>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3A4356"/>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1D6FB8"/>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3A4356"/>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3A4356"/>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3A4356"/>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3A4356"/>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3A4356"/>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3A4356"/>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3A4356"/>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3A4356"/>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3A4356"/>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3A4356"/>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FFFFFF"/>
          </a:solidFill>
          <a:ln w="762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3A4356"/>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3A4356"/>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3A4356"/>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2E8B57"/>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3A4356"/>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FFFFFF"/>
                          </a:solidFill>
                        </a:rPr>
                        <a:t>Real Part</a:t>
                      </a:r>
                    </a:p>
                  </a:txBody>
                  <a:tcPr>
                    <a:solidFill>
                      <a:srgbClr val="16325C"/>
                    </a:solidFill>
                  </a:tcPr>
                </a:tc>
                <a:tc>
                  <a:txBody>
                    <a:bodyPr/>
                    <a:lstStyle/>
                    <a:p>
                      <a:pPr algn="l"/>
                      <a:r>
                        <a:rPr sz="750" b="1">
                          <a:solidFill>
                            <a:srgbClr val="FFFFFF"/>
                          </a:solidFill>
                        </a:rPr>
                        <a:t>AI First Pass</a:t>
                      </a:r>
                    </a:p>
                  </a:txBody>
                  <a:tcPr>
                    <a:solidFill>
                      <a:srgbClr val="16325C"/>
                    </a:solidFill>
                  </a:tcPr>
                </a:tc>
                <a:tc>
                  <a:txBody>
                    <a:bodyPr/>
                    <a:lstStyle/>
                    <a:p>
                      <a:pPr algn="l"/>
                      <a:r>
                        <a:rPr sz="750" b="1">
                          <a:solidFill>
                            <a:srgbClr val="FFFFFF"/>
                          </a:solidFill>
                        </a:rPr>
                        <a:t>What Was Wrong</a:t>
                      </a:r>
                    </a:p>
                  </a:txBody>
                  <a:tcPr>
                    <a:solidFill>
                      <a:srgbClr val="16325C"/>
                    </a:solidFill>
                  </a:tcPr>
                </a:tc>
                <a:tc>
                  <a:txBody>
                    <a:bodyPr/>
                    <a:lstStyle/>
                    <a:p>
                      <a:pPr algn="l"/>
                      <a:r>
                        <a:rPr sz="750" b="1">
                          <a:solidFill>
                            <a:srgbClr val="FFFFFF"/>
                          </a:solidFill>
                        </a:rPr>
                        <a:t>Corrected</a:t>
                      </a:r>
                    </a:p>
                  </a:txBody>
                  <a:tcPr>
                    <a:solidFill>
                      <a:srgbClr val="16325C"/>
                    </a:solidFill>
                  </a:tcPr>
                </a:tc>
              </a:tr>
              <a:tr h="388620">
                <a:tc>
                  <a:txBody>
                    <a:bodyPr/>
                    <a:lstStyle/>
                    <a:p>
                      <a:pPr algn="l"/>
                      <a:r>
                        <a:rPr sz="750" b="1">
                          <a:solidFill>
                            <a:srgbClr val="1D6FB8"/>
                          </a:solidFill>
                        </a:rPr>
                        <a:t>Fuel tank</a:t>
                      </a:r>
                    </a:p>
                  </a:txBody>
                  <a:tcPr>
                    <a:solidFill>
                      <a:srgbClr val="FFFFFF"/>
                    </a:solidFill>
                  </a:tcPr>
                </a:tc>
                <a:tc>
                  <a:txBody>
                    <a:bodyPr/>
                    <a:lstStyle/>
                    <a:p>
                      <a:pPr algn="l"/>
                      <a:r>
                        <a:rPr sz="750">
                          <a:solidFill>
                            <a:srgbClr val="3A4356"/>
                          </a:solidFill>
                        </a:rPr>
                        <a:t>£216.97</a:t>
                      </a:r>
                    </a:p>
                  </a:txBody>
                  <a:tcPr>
                    <a:solidFill>
                      <a:srgbClr val="FFFFFF"/>
                    </a:solidFill>
                  </a:tcPr>
                </a:tc>
                <a:tc>
                  <a:txBody>
                    <a:bodyPr/>
                    <a:lstStyle/>
                    <a:p>
                      <a:pPr algn="l"/>
                      <a:r>
                        <a:rPr sz="750">
                          <a:solidFill>
                            <a:srgbClr val="3A4356"/>
                          </a:solidFill>
                        </a:rPr>
                        <a:t>Treated as cast</a:t>
                      </a:r>
                    </a:p>
                  </a:txBody>
                  <a:tcPr>
                    <a:solidFill>
                      <a:srgbClr val="FFFFFF"/>
                    </a:solidFill>
                  </a:tcPr>
                </a:tc>
                <a:tc>
                  <a:txBody>
                    <a:bodyPr/>
                    <a:lstStyle/>
                    <a:p>
                      <a:pPr algn="l"/>
                      <a:r>
                        <a:rPr sz="750" b="1">
                          <a:solidFill>
                            <a:srgbClr val="2E8B57"/>
                          </a:solidFill>
                        </a:rPr>
                        <a:t>£24.62 blow-mould</a:t>
                      </a:r>
                    </a:p>
                  </a:txBody>
                  <a:tcPr>
                    <a:solidFill>
                      <a:srgbClr val="FFFFFF"/>
                    </a:solidFill>
                  </a:tcPr>
                </a:tc>
              </a:tr>
              <a:tr h="388620">
                <a:tc>
                  <a:txBody>
                    <a:bodyPr/>
                    <a:lstStyle/>
                    <a:p>
                      <a:pPr algn="l"/>
                      <a:r>
                        <a:rPr sz="750" b="1">
                          <a:solidFill>
                            <a:srgbClr val="1D6FB8"/>
                          </a:solidFill>
                        </a:rPr>
                        <a:t>Front bumper</a:t>
                      </a:r>
                    </a:p>
                  </a:txBody>
                  <a:tcPr>
                    <a:solidFill>
                      <a:srgbClr val="F7F9FC"/>
                    </a:solidFill>
                  </a:tcPr>
                </a:tc>
                <a:tc>
                  <a:txBody>
                    <a:bodyPr/>
                    <a:lstStyle/>
                    <a:p>
                      <a:pPr algn="l"/>
                      <a:r>
                        <a:rPr sz="750">
                          <a:solidFill>
                            <a:srgbClr val="3A4356"/>
                          </a:solidFill>
                        </a:rPr>
                        <a:t>£29.18</a:t>
                      </a:r>
                    </a:p>
                  </a:txBody>
                  <a:tcPr>
                    <a:solidFill>
                      <a:srgbClr val="F7F9FC"/>
                    </a:solidFill>
                  </a:tcPr>
                </a:tc>
                <a:tc>
                  <a:txBody>
                    <a:bodyPr/>
                    <a:lstStyle/>
                    <a:p>
                      <a:pPr algn="l"/>
                      <a:r>
                        <a:rPr sz="750">
                          <a:solidFill>
                            <a:srgbClr val="3A4356"/>
                          </a:solidFill>
                        </a:rPr>
                        <a:t>Machined, not moulded</a:t>
                      </a:r>
                    </a:p>
                  </a:txBody>
                  <a:tcPr>
                    <a:solidFill>
                      <a:srgbClr val="F7F9FC"/>
                    </a:solidFill>
                  </a:tcPr>
                </a:tc>
                <a:tc>
                  <a:txBody>
                    <a:bodyPr/>
                    <a:lstStyle/>
                    <a:p>
                      <a:pPr algn="l"/>
                      <a:r>
                        <a:rPr sz="750" b="1">
                          <a:solidFill>
                            <a:srgbClr val="2E8B57"/>
                          </a:solidFill>
                        </a:rPr>
                        <a:t>£7.79 injection</a:t>
                      </a:r>
                    </a:p>
                  </a:txBody>
                  <a:tcPr>
                    <a:solidFill>
                      <a:srgbClr val="F7F9FC"/>
                    </a:solidFill>
                  </a:tcPr>
                </a:tc>
              </a:tr>
              <a:tr h="388620">
                <a:tc>
                  <a:txBody>
                    <a:bodyPr/>
                    <a:lstStyle/>
                    <a:p>
                      <a:pPr algn="l"/>
                      <a:r>
                        <a:rPr sz="750" b="1">
                          <a:solidFill>
                            <a:srgbClr val="1D6FB8"/>
                          </a:solidFill>
                        </a:rPr>
                        <a:t>Servo horn</a:t>
                      </a:r>
                    </a:p>
                  </a:txBody>
                  <a:tcPr>
                    <a:solidFill>
                      <a:srgbClr val="FFFFFF"/>
                    </a:solidFill>
                  </a:tcPr>
                </a:tc>
                <a:tc>
                  <a:txBody>
                    <a:bodyPr/>
                    <a:lstStyle/>
                    <a:p>
                      <a:pPr algn="l"/>
                      <a:r>
                        <a:rPr sz="750">
                          <a:solidFill>
                            <a:srgbClr val="3A4356"/>
                          </a:solidFill>
                        </a:rPr>
                        <a:t>£333.00</a:t>
                      </a:r>
                    </a:p>
                  </a:txBody>
                  <a:tcPr>
                    <a:solidFill>
                      <a:srgbClr val="FFFFFF"/>
                    </a:solidFill>
                  </a:tcPr>
                </a:tc>
                <a:tc>
                  <a:txBody>
                    <a:bodyPr/>
                    <a:lstStyle/>
                    <a:p>
                      <a:pPr algn="l"/>
                      <a:r>
                        <a:rPr sz="750">
                          <a:solidFill>
                            <a:srgbClr val="3A4356"/>
                          </a:solidFill>
                        </a:rPr>
                        <a:t>Bulk, not net-shape</a:t>
                      </a:r>
                    </a:p>
                  </a:txBody>
                  <a:tcPr>
                    <a:solidFill>
                      <a:srgbClr val="FFFFFF"/>
                    </a:solidFill>
                  </a:tcPr>
                </a:tc>
                <a:tc>
                  <a:txBody>
                    <a:bodyPr/>
                    <a:lstStyle/>
                    <a:p>
                      <a:pPr algn="l"/>
                      <a:r>
                        <a:rPr sz="750" b="1">
                          <a:solidFill>
                            <a:srgbClr val="2E8B57"/>
                          </a:solidFill>
                        </a:rPr>
                        <a:t>£6.40 net-shape</a:t>
                      </a:r>
                    </a:p>
                  </a:txBody>
                  <a:tcPr>
                    <a:solidFill>
                      <a:srgbClr val="FFFFFF"/>
                    </a:solidFill>
                  </a:tcPr>
                </a:tc>
              </a:tr>
              <a:tr h="388620">
                <a:tc>
                  <a:txBody>
                    <a:bodyPr/>
                    <a:lstStyle/>
                    <a:p>
                      <a:pPr algn="l"/>
                      <a:r>
                        <a:rPr sz="750" b="1">
                          <a:solidFill>
                            <a:srgbClr val="1D6FB8"/>
                          </a:solidFill>
                        </a:rPr>
                        <a:t>Stub axle</a:t>
                      </a:r>
                    </a:p>
                  </a:txBody>
                  <a:tcPr>
                    <a:solidFill>
                      <a:srgbClr val="F7F9FC"/>
                    </a:solidFill>
                  </a:tcPr>
                </a:tc>
                <a:tc>
                  <a:txBody>
                    <a:bodyPr/>
                    <a:lstStyle/>
                    <a:p>
                      <a:pPr algn="l"/>
                      <a:r>
                        <a:rPr sz="750">
                          <a:solidFill>
                            <a:srgbClr val="3A4356"/>
                          </a:solidFill>
                        </a:rPr>
                        <a:t>mis-class</a:t>
                      </a:r>
                    </a:p>
                  </a:txBody>
                  <a:tcPr>
                    <a:solidFill>
                      <a:srgbClr val="F7F9FC"/>
                    </a:solidFill>
                  </a:tcPr>
                </a:tc>
                <a:tc>
                  <a:txBody>
                    <a:bodyPr/>
                    <a:lstStyle/>
                    <a:p>
                      <a:pPr algn="l"/>
                      <a:r>
                        <a:rPr sz="750">
                          <a:solidFill>
                            <a:srgbClr val="3A4356"/>
                          </a:solidFill>
                        </a:rPr>
                        <a:t>Wrong process/weight</a:t>
                      </a:r>
                    </a:p>
                  </a:txBody>
                  <a:tcPr>
                    <a:solidFill>
                      <a:srgbClr val="F7F9FC"/>
                    </a:solidFill>
                  </a:tcPr>
                </a:tc>
                <a:tc>
                  <a:txBody>
                    <a:bodyPr/>
                    <a:lstStyle/>
                    <a:p>
                      <a:pPr algn="l"/>
                      <a:r>
                        <a:rPr sz="750" b="1">
                          <a:solidFill>
                            <a:srgbClr val="2E8B57"/>
                          </a:solidFill>
                        </a:rPr>
                        <a:t>Forged steel 8.1 kg</a:t>
                      </a:r>
                    </a:p>
                  </a:txBody>
                  <a:tcPr>
                    <a:solidFill>
                      <a:srgbClr val="F7F9FC"/>
                    </a:solidFill>
                  </a:tcPr>
                </a:tc>
              </a:tr>
              <a:tr h="388620">
                <a:tc>
                  <a:txBody>
                    <a:bodyPr/>
                    <a:lstStyle/>
                    <a:p>
                      <a:pPr algn="l"/>
                      <a:r>
                        <a:rPr sz="750" b="1">
                          <a:solidFill>
                            <a:srgbClr val="1D6FB8"/>
                          </a:solidFill>
                        </a:rPr>
                        <a:t>Seat cross-member</a:t>
                      </a:r>
                    </a:p>
                  </a:txBody>
                  <a:tcPr>
                    <a:solidFill>
                      <a:srgbClr val="FFFFFF"/>
                    </a:solidFill>
                  </a:tcPr>
                </a:tc>
                <a:tc>
                  <a:txBody>
                    <a:bodyPr/>
                    <a:lstStyle/>
                    <a:p>
                      <a:pPr algn="l"/>
                      <a:r>
                        <a:rPr sz="750">
                          <a:solidFill>
                            <a:srgbClr val="3A4356"/>
                          </a:solidFill>
                        </a:rPr>
                        <a:t>engine crash</a:t>
                      </a:r>
                    </a:p>
                  </a:txBody>
                  <a:tcPr>
                    <a:solidFill>
                      <a:srgbClr val="FFFFFF"/>
                    </a:solidFill>
                  </a:tcPr>
                </a:tc>
                <a:tc>
                  <a:txBody>
                    <a:bodyPr/>
                    <a:lstStyle/>
                    <a:p>
                      <a:pPr algn="l"/>
                      <a:r>
                        <a:rPr sz="750">
                          <a:solidFill>
                            <a:srgbClr val="3A4356"/>
                          </a:solidFill>
                        </a:rPr>
                        <a:t>Sizing gap</a:t>
                      </a:r>
                    </a:p>
                  </a:txBody>
                  <a:tcPr>
                    <a:solidFill>
                      <a:srgbClr val="FFFFFF"/>
                    </a:solidFill>
                  </a:tcPr>
                </a:tc>
                <a:tc>
                  <a:txBody>
                    <a:bodyPr/>
                    <a:lstStyle/>
                    <a:p>
                      <a:pPr algn="l"/>
                      <a:r>
                        <a:rPr sz="750" b="1">
                          <a:solidFill>
                            <a:srgbClr val="2E8B57"/>
                          </a:solidFill>
                        </a:rPr>
                        <a:t>£1.11 runs clean</a:t>
                      </a:r>
                    </a:p>
                  </a:txBody>
                  <a:tcPr>
                    <a:solidFill>
                      <a:srgbClr val="FFFFFF"/>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16325C"/>
                </a:solidFill>
              </a:rPr>
              <a:t>Built to be trusted, not just believed</a:t>
            </a:r>
          </a:p>
        </p:txBody>
      </p:sp>
      <p:sp>
        <p:nvSpPr>
          <p:cNvPr id="30" name="Rectangle 29"/>
          <p:cNvSpPr/>
          <p:nvPr/>
        </p:nvSpPr>
        <p:spPr>
          <a:xfrm>
            <a:off x="5989320" y="549554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3A4356"/>
                </a:solidFill>
              </a:rPr>
              <a:t>1,777 automated tests across 136 suites — a logic regression fails the build, not the demo</a:t>
            </a:r>
          </a:p>
        </p:txBody>
      </p:sp>
      <p:sp>
        <p:nvSpPr>
          <p:cNvPr id="32" name="Rectangle 31"/>
          <p:cNvSpPr/>
          <p:nvPr/>
        </p:nvSpPr>
        <p:spPr>
          <a:xfrm>
            <a:off x="5989320" y="57881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3A4356"/>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3A4356"/>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FFFFFF"/>
                          </a:solidFill>
                        </a:rPr>
                        <a:t>Commodity</a:t>
                      </a:r>
                    </a:p>
                  </a:txBody>
                  <a:tcPr>
                    <a:solidFill>
                      <a:srgbClr val="16325C"/>
                    </a:solidFill>
                  </a:tcPr>
                </a:tc>
                <a:tc>
                  <a:txBody>
                    <a:bodyPr/>
                    <a:lstStyle/>
                    <a:p>
                      <a:pPr algn="l"/>
                      <a:r>
                        <a:rPr sz="750" b="1">
                          <a:solidFill>
                            <a:srgbClr val="FFFFFF"/>
                          </a:solidFill>
                        </a:rPr>
                        <a:t>Demo Part</a:t>
                      </a:r>
                    </a:p>
                  </a:txBody>
                  <a:tcPr>
                    <a:solidFill>
                      <a:srgbClr val="16325C"/>
                    </a:solidFill>
                  </a:tcPr>
                </a:tc>
                <a:tc>
                  <a:txBody>
                    <a:bodyPr/>
                    <a:lstStyle/>
                    <a:p>
                      <a:pPr algn="l"/>
                      <a:r>
                        <a:rPr sz="750" b="1">
                          <a:solidFill>
                            <a:srgbClr val="FFFFFF"/>
                          </a:solidFill>
                        </a:rPr>
                        <a:t>Key Inputs</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AI Top Insight</a:t>
                      </a:r>
                    </a:p>
                  </a:txBody>
                  <a:tcPr>
                    <a:solidFill>
                      <a:srgbClr val="16325C"/>
                    </a:solidFill>
                  </a:tcPr>
                </a:tc>
                <a:tc>
                  <a:txBody>
                    <a:bodyPr/>
                    <a:lstStyle/>
                    <a:p>
                      <a:pPr algn="l"/>
                      <a:r>
                        <a:rPr sz="750" b="1">
                          <a:solidFill>
                            <a:srgbClr val="FFFFFF"/>
                          </a:solidFill>
                        </a:rPr>
                        <a:t>DFM Flag</a:t>
                      </a:r>
                    </a:p>
                  </a:txBody>
                  <a:tcPr>
                    <a:solidFill>
                      <a:srgbClr val="16325C"/>
                    </a:solidFill>
                  </a:tcPr>
                </a:tc>
              </a:tr>
              <a:tr h="397348">
                <a:tc>
                  <a:txBody>
                    <a:bodyPr/>
                    <a:lstStyle/>
                    <a:p>
                      <a:pPr algn="l"/>
                      <a:r>
                        <a:rPr sz="750" b="1">
                          <a:solidFill>
                            <a:srgbClr val="1D6FB8"/>
                          </a:solidFill>
                        </a:rPr>
                        <a:t>⚙️ Machining</a:t>
                      </a:r>
                    </a:p>
                  </a:txBody>
                  <a:tcPr>
                    <a:solidFill>
                      <a:srgbClr val="FFFFFF"/>
                    </a:solidFill>
                  </a:tcPr>
                </a:tc>
                <a:tc>
                  <a:txBody>
                    <a:bodyPr/>
                    <a:lstStyle/>
                    <a:p>
                      <a:pPr algn="l"/>
                      <a:r>
                        <a:rPr sz="750">
                          <a:solidFill>
                            <a:srgbClr val="3A4356"/>
                          </a:solidFill>
                        </a:rPr>
                        <a:t>Al Gearbox Bracket</a:t>
                      </a:r>
                    </a:p>
                  </a:txBody>
                  <a:tcPr>
                    <a:solidFill>
                      <a:srgbClr val="FFFFFF"/>
                    </a:solidFill>
                  </a:tcPr>
                </a:tc>
                <a:tc>
                  <a:txBody>
                    <a:bodyPr/>
                    <a:lstStyle/>
                    <a:p>
                      <a:pPr algn="l"/>
                      <a:r>
                        <a:rPr sz="750">
                          <a:solidFill>
                            <a:srgbClr val="3A4356"/>
                          </a:solidFill>
                        </a:rPr>
                        <a:t>Al 6082-T6 · 0.85 kg · 3 setups</a:t>
                      </a:r>
                    </a:p>
                  </a:txBody>
                  <a:tcPr>
                    <a:solidFill>
                      <a:srgbClr val="FFFFFF"/>
                    </a:solidFill>
                  </a:tcPr>
                </a:tc>
                <a:tc>
                  <a:txBody>
                    <a:bodyPr/>
                    <a:lstStyle/>
                    <a:p>
                      <a:pPr algn="l"/>
                      <a:r>
                        <a:rPr sz="750" b="1">
                          <a:solidFill>
                            <a:srgbClr val="2E8B57"/>
                          </a:solidFill>
                        </a:rPr>
                        <a:t>£ 28.40</a:t>
                      </a:r>
                    </a:p>
                  </a:txBody>
                  <a:tcPr>
                    <a:solidFill>
                      <a:srgbClr val="FFFFFF"/>
                    </a:solidFill>
                  </a:tcPr>
                </a:tc>
                <a:tc>
                  <a:txBody>
                    <a:bodyPr/>
                    <a:lstStyle/>
                    <a:p>
                      <a:pPr algn="l"/>
                      <a:r>
                        <a:rPr sz="750">
                          <a:solidFill>
                            <a:srgbClr val="3A4356"/>
                          </a:solidFill>
                        </a:rPr>
                        <a:t>Process 44% → near-net-shape saves £8</a:t>
                      </a:r>
                    </a:p>
                  </a:txBody>
                  <a:tcPr>
                    <a:solidFill>
                      <a:srgbClr val="FFFFFF"/>
                    </a:solidFill>
                  </a:tcPr>
                </a:tc>
                <a:tc>
                  <a:txBody>
                    <a:bodyPr/>
                    <a:lstStyle/>
                    <a:p>
                      <a:pPr algn="l"/>
                      <a:r>
                        <a:rPr sz="750">
                          <a:solidFill>
                            <a:srgbClr val="3A4356"/>
                          </a:solidFill>
                        </a:rPr>
                        <a:t>Major: 3 setups → 5-axis</a:t>
                      </a:r>
                    </a:p>
                  </a:txBody>
                  <a:tcPr>
                    <a:solidFill>
                      <a:srgbClr val="FFFFFF"/>
                    </a:solidFill>
                  </a:tcPr>
                </a:tc>
              </a:tr>
              <a:tr h="397348">
                <a:tc>
                  <a:txBody>
                    <a:bodyPr/>
                    <a:lstStyle/>
                    <a:p>
                      <a:pPr algn="l"/>
                      <a:r>
                        <a:rPr sz="750" b="1">
                          <a:solidFill>
                            <a:srgbClr val="1D6FB8"/>
                          </a:solidFill>
                        </a:rPr>
                        <a:t>🪨 HPDC Casting</a:t>
                      </a:r>
                    </a:p>
                  </a:txBody>
                  <a:tcPr>
                    <a:solidFill>
                      <a:srgbClr val="F7F9FC"/>
                    </a:solidFill>
                  </a:tcPr>
                </a:tc>
                <a:tc>
                  <a:txBody>
                    <a:bodyPr/>
                    <a:lstStyle/>
                    <a:p>
                      <a:pPr algn="l"/>
                      <a:r>
                        <a:rPr sz="750">
                          <a:solidFill>
                            <a:srgbClr val="3A4356"/>
                          </a:solidFill>
                        </a:rPr>
                        <a:t>Transmission Housing</a:t>
                      </a:r>
                    </a:p>
                  </a:txBody>
                  <a:tcPr>
                    <a:solidFill>
                      <a:srgbClr val="F7F9FC"/>
                    </a:solidFill>
                  </a:tcPr>
                </a:tc>
                <a:tc>
                  <a:txBody>
                    <a:bodyPr/>
                    <a:lstStyle/>
                    <a:p>
                      <a:pPr algn="l"/>
                      <a:r>
                        <a:rPr sz="750">
                          <a:solidFill>
                            <a:srgbClr val="3A4356"/>
                          </a:solidFill>
                        </a:rPr>
                        <a:t>Al A380 · 3.2 kg · 50k/yr</a:t>
                      </a:r>
                    </a:p>
                  </a:txBody>
                  <a:tcPr>
                    <a:solidFill>
                      <a:srgbClr val="F7F9FC"/>
                    </a:solidFill>
                  </a:tcPr>
                </a:tc>
                <a:tc>
                  <a:txBody>
                    <a:bodyPr/>
                    <a:lstStyle/>
                    <a:p>
                      <a:pPr algn="l"/>
                      <a:r>
                        <a:rPr sz="750" b="1">
                          <a:solidFill>
                            <a:srgbClr val="2E8B57"/>
                          </a:solidFill>
                        </a:rPr>
                        <a:t>£ 18.70</a:t>
                      </a:r>
                    </a:p>
                  </a:txBody>
                  <a:tcPr>
                    <a:solidFill>
                      <a:srgbClr val="F7F9FC"/>
                    </a:solidFill>
                  </a:tcPr>
                </a:tc>
                <a:tc>
                  <a:txBody>
                    <a:bodyPr/>
                    <a:lstStyle/>
                    <a:p>
                      <a:pPr algn="l"/>
                      <a:r>
                        <a:rPr sz="750">
                          <a:solidFill>
                            <a:srgbClr val="3A4356"/>
                          </a:solidFill>
                        </a:rPr>
                        <a:t>Die 9% OK. Margin 21% → negotiate</a:t>
                      </a:r>
                    </a:p>
                  </a:txBody>
                  <a:tcPr>
                    <a:solidFill>
                      <a:srgbClr val="F7F9FC"/>
                    </a:solidFill>
                  </a:tcPr>
                </a:tc>
                <a:tc>
                  <a:txBody>
                    <a:bodyPr/>
                    <a:lstStyle/>
                    <a:p>
                      <a:pPr algn="l"/>
                      <a:r>
                        <a:rPr sz="750">
                          <a:solidFill>
                            <a:srgbClr val="3A4356"/>
                          </a:solidFill>
                        </a:rPr>
                        <a:t>Good — no critical issues</a:t>
                      </a:r>
                    </a:p>
                  </a:txBody>
                  <a:tcPr>
                    <a:solidFill>
                      <a:srgbClr val="F7F9FC"/>
                    </a:solidFill>
                  </a:tcPr>
                </a:tc>
              </a:tr>
              <a:tr h="397348">
                <a:tc>
                  <a:txBody>
                    <a:bodyPr/>
                    <a:lstStyle/>
                    <a:p>
                      <a:pPr algn="l"/>
                      <a:r>
                        <a:rPr sz="750" b="1">
                          <a:solidFill>
                            <a:srgbClr val="1D6FB8"/>
                          </a:solidFill>
                        </a:rPr>
                        <a:t>🪗 Sheet Metal</a:t>
                      </a:r>
                    </a:p>
                  </a:txBody>
                  <a:tcPr>
                    <a:solidFill>
                      <a:srgbClr val="FFFFFF"/>
                    </a:solidFill>
                  </a:tcPr>
                </a:tc>
                <a:tc>
                  <a:txBody>
                    <a:bodyPr/>
                    <a:lstStyle/>
                    <a:p>
                      <a:pPr algn="l"/>
                      <a:r>
                        <a:rPr sz="750">
                          <a:solidFill>
                            <a:srgbClr val="3A4356"/>
                          </a:solidFill>
                        </a:rPr>
                        <a:t>Rear Door Inner</a:t>
                      </a:r>
                    </a:p>
                  </a:txBody>
                  <a:tcPr>
                    <a:solidFill>
                      <a:srgbClr val="FFFFFF"/>
                    </a:solidFill>
                  </a:tcPr>
                </a:tc>
                <a:tc>
                  <a:txBody>
                    <a:bodyPr/>
                    <a:lstStyle/>
                    <a:p>
                      <a:pPr algn="l"/>
                      <a:r>
                        <a:rPr sz="750">
                          <a:solidFill>
                            <a:srgbClr val="3A4356"/>
                          </a:solidFill>
                        </a:rPr>
                        <a:t>DC04 1.2mm · 4.1 kg · 60k/yr</a:t>
                      </a:r>
                    </a:p>
                  </a:txBody>
                  <a:tcPr>
                    <a:solidFill>
                      <a:srgbClr val="FFFFFF"/>
                    </a:solidFill>
                  </a:tcPr>
                </a:tc>
                <a:tc>
                  <a:txBody>
                    <a:bodyPr/>
                    <a:lstStyle/>
                    <a:p>
                      <a:pPr algn="l"/>
                      <a:r>
                        <a:rPr sz="750" b="1">
                          <a:solidFill>
                            <a:srgbClr val="2E8B57"/>
                          </a:solidFill>
                        </a:rPr>
                        <a:t>£ 22.10</a:t>
                      </a:r>
                    </a:p>
                  </a:txBody>
                  <a:tcPr>
                    <a:solidFill>
                      <a:srgbClr val="FFFFFF"/>
                    </a:solidFill>
                  </a:tcPr>
                </a:tc>
                <a:tc>
                  <a:txBody>
                    <a:bodyPr/>
                    <a:lstStyle/>
                    <a:p>
                      <a:pPr algn="l"/>
                      <a:r>
                        <a:rPr sz="750">
                          <a:solidFill>
                            <a:srgbClr val="3A4356"/>
                          </a:solidFill>
                        </a:rPr>
                        <a:t>Blank nesting 64% → improve saves £2.80</a:t>
                      </a:r>
                    </a:p>
                  </a:txBody>
                  <a:tcPr>
                    <a:solidFill>
                      <a:srgbClr val="FFFFFF"/>
                    </a:solidFill>
                  </a:tcPr>
                </a:tc>
                <a:tc>
                  <a:txBody>
                    <a:bodyPr/>
                    <a:lstStyle/>
                    <a:p>
                      <a:pPr algn="l"/>
                      <a:r>
                        <a:rPr sz="750">
                          <a:solidFill>
                            <a:srgbClr val="3A4356"/>
                          </a:solidFill>
                        </a:rPr>
                        <a:t>Critical: nesting &lt;65%</a:t>
                      </a:r>
                    </a:p>
                  </a:txBody>
                  <a:tcPr>
                    <a:solidFill>
                      <a:srgbClr val="FFFFFF"/>
                    </a:solidFill>
                  </a:tcPr>
                </a:tc>
              </a:tr>
              <a:tr h="397348">
                <a:tc>
                  <a:txBody>
                    <a:bodyPr/>
                    <a:lstStyle/>
                    <a:p>
                      <a:pPr algn="l"/>
                      <a:r>
                        <a:rPr sz="750" b="1">
                          <a:solidFill>
                            <a:srgbClr val="1D6FB8"/>
                          </a:solidFill>
                        </a:rPr>
                        <a:t>🏺 Injection</a:t>
                      </a:r>
                    </a:p>
                  </a:txBody>
                  <a:tcPr>
                    <a:solidFill>
                      <a:srgbClr val="F7F9FC"/>
                    </a:solidFill>
                  </a:tcPr>
                </a:tc>
                <a:tc>
                  <a:txBody>
                    <a:bodyPr/>
                    <a:lstStyle/>
                    <a:p>
                      <a:pPr algn="l"/>
                      <a:r>
                        <a:rPr sz="750">
                          <a:solidFill>
                            <a:srgbClr val="3A4356"/>
                          </a:solidFill>
                        </a:rPr>
                        <a:t>PP Bumper Bracket</a:t>
                      </a:r>
                    </a:p>
                  </a:txBody>
                  <a:tcPr>
                    <a:solidFill>
                      <a:srgbClr val="F7F9FC"/>
                    </a:solidFill>
                  </a:tcPr>
                </a:tc>
                <a:tc>
                  <a:txBody>
                    <a:bodyPr/>
                    <a:lstStyle/>
                    <a:p>
                      <a:pPr algn="l"/>
                      <a:r>
                        <a:rPr sz="750">
                          <a:solidFill>
                            <a:srgbClr val="3A4356"/>
                          </a:solidFill>
                        </a:rPr>
                        <a:t>PP-TD20 · 0.42 kg · 100k/yr</a:t>
                      </a:r>
                    </a:p>
                  </a:txBody>
                  <a:tcPr>
                    <a:solidFill>
                      <a:srgbClr val="F7F9FC"/>
                    </a:solidFill>
                  </a:tcPr>
                </a:tc>
                <a:tc>
                  <a:txBody>
                    <a:bodyPr/>
                    <a:lstStyle/>
                    <a:p>
                      <a:pPr algn="l"/>
                      <a:r>
                        <a:rPr sz="750" b="1">
                          <a:solidFill>
                            <a:srgbClr val="2E8B57"/>
                          </a:solidFill>
                        </a:rPr>
                        <a:t>£  3.85</a:t>
                      </a:r>
                    </a:p>
                  </a:txBody>
                  <a:tcPr>
                    <a:solidFill>
                      <a:srgbClr val="F7F9FC"/>
                    </a:solidFill>
                  </a:tcPr>
                </a:tc>
                <a:tc>
                  <a:txBody>
                    <a:bodyPr/>
                    <a:lstStyle/>
                    <a:p>
                      <a:pPr algn="l"/>
                      <a:r>
                        <a:rPr sz="750">
                          <a:solidFill>
                            <a:srgbClr val="3A4356"/>
                          </a:solidFill>
                        </a:rPr>
                        <a:t>Mould 8% — good at this volume</a:t>
                      </a:r>
                    </a:p>
                  </a:txBody>
                  <a:tcPr>
                    <a:solidFill>
                      <a:srgbClr val="F7F9FC"/>
                    </a:solidFill>
                  </a:tcPr>
                </a:tc>
                <a:tc>
                  <a:txBody>
                    <a:bodyPr/>
                    <a:lstStyle/>
                    <a:p>
                      <a:pPr algn="l"/>
                      <a:r>
                        <a:rPr sz="750">
                          <a:solidFill>
                            <a:srgbClr val="3A4356"/>
                          </a:solidFill>
                        </a:rPr>
                        <a:t>Good — runner waste 15%</a:t>
                      </a:r>
                    </a:p>
                  </a:txBody>
                  <a:tcPr>
                    <a:solidFill>
                      <a:srgbClr val="F7F9FC"/>
                    </a:solidFill>
                  </a:tcPr>
                </a:tc>
              </a:tr>
              <a:tr h="397348">
                <a:tc>
                  <a:txBody>
                    <a:bodyPr/>
                    <a:lstStyle/>
                    <a:p>
                      <a:pPr algn="l"/>
                      <a:r>
                        <a:rPr sz="750" b="1">
                          <a:solidFill>
                            <a:srgbClr val="1D6FB8"/>
                          </a:solidFill>
                        </a:rPr>
                        <a:t>🧱 Rubber</a:t>
                      </a:r>
                    </a:p>
                  </a:txBody>
                  <a:tcPr>
                    <a:solidFill>
                      <a:srgbClr val="FFFFFF"/>
                    </a:solidFill>
                  </a:tcPr>
                </a:tc>
                <a:tc>
                  <a:txBody>
                    <a:bodyPr/>
                    <a:lstStyle/>
                    <a:p>
                      <a:pPr algn="l"/>
                      <a:r>
                        <a:rPr sz="750">
                          <a:solidFill>
                            <a:srgbClr val="3A4356"/>
                          </a:solidFill>
                        </a:rPr>
                        <a:t>EPDM Door Seal</a:t>
                      </a:r>
                    </a:p>
                  </a:txBody>
                  <a:tcPr>
                    <a:solidFill>
                      <a:srgbClr val="FFFFFF"/>
                    </a:solidFill>
                  </a:tcPr>
                </a:tc>
                <a:tc>
                  <a:txBody>
                    <a:bodyPr/>
                    <a:lstStyle/>
                    <a:p>
                      <a:pPr algn="l"/>
                      <a:r>
                        <a:rPr sz="750">
                          <a:solidFill>
                            <a:srgbClr val="3A4356"/>
                          </a:solidFill>
                        </a:rPr>
                        <a:t>Extrusion · 2.8m · 85 Shore A</a:t>
                      </a:r>
                    </a:p>
                  </a:txBody>
                  <a:tcPr>
                    <a:solidFill>
                      <a:srgbClr val="FFFFFF"/>
                    </a:solidFill>
                  </a:tcPr>
                </a:tc>
                <a:tc>
                  <a:txBody>
                    <a:bodyPr/>
                    <a:lstStyle/>
                    <a:p>
                      <a:pPr algn="l"/>
                      <a:r>
                        <a:rPr sz="750" b="1">
                          <a:solidFill>
                            <a:srgbClr val="2E8B57"/>
                          </a:solidFill>
                        </a:rPr>
                        <a:t>£  4.10</a:t>
                      </a:r>
                    </a:p>
                  </a:txBody>
                  <a:tcPr>
                    <a:solidFill>
                      <a:srgbClr val="FFFFFF"/>
                    </a:solidFill>
                  </a:tcPr>
                </a:tc>
                <a:tc>
                  <a:txBody>
                    <a:bodyPr/>
                    <a:lstStyle/>
                    <a:p>
                      <a:pPr algn="l"/>
                      <a:r>
                        <a:rPr sz="750">
                          <a:solidFill>
                            <a:srgbClr val="3A4356"/>
                          </a:solidFill>
                        </a:rPr>
                        <a:t>Process 42% — cure cycle dominant</a:t>
                      </a:r>
                    </a:p>
                  </a:txBody>
                  <a:tcPr>
                    <a:solidFill>
                      <a:srgbClr val="FFFFFF"/>
                    </a:solidFill>
                  </a:tcPr>
                </a:tc>
                <a:tc>
                  <a:txBody>
                    <a:bodyPr/>
                    <a:lstStyle/>
                    <a:p>
                      <a:pPr algn="l"/>
                      <a:r>
                        <a:rPr sz="750">
                          <a:solidFill>
                            <a:srgbClr val="3A4356"/>
                          </a:solidFill>
                        </a:rPr>
                        <a:t>Major: cure time optimise</a:t>
                      </a:r>
                    </a:p>
                  </a:txBody>
                  <a:tcPr>
                    <a:solidFill>
                      <a:srgbClr val="FFFFFF"/>
                    </a:solidFill>
                  </a:tcPr>
                </a:tc>
              </a:tr>
              <a:tr h="397348">
                <a:tc>
                  <a:txBody>
                    <a:bodyPr/>
                    <a:lstStyle/>
                    <a:p>
                      <a:pPr algn="l"/>
                      <a:r>
                        <a:rPr sz="750" b="1">
                          <a:solidFill>
                            <a:srgbClr val="1D6FB8"/>
                          </a:solidFill>
                        </a:rPr>
                        <a:t>🖥️ PCB Fab</a:t>
                      </a:r>
                    </a:p>
                  </a:txBody>
                  <a:tcPr>
                    <a:solidFill>
                      <a:srgbClr val="F7F9FC"/>
                    </a:solidFill>
                  </a:tcPr>
                </a:tc>
                <a:tc>
                  <a:txBody>
                    <a:bodyPr/>
                    <a:lstStyle/>
                    <a:p>
                      <a:pPr algn="l"/>
                      <a:r>
                        <a:rPr sz="750">
                          <a:solidFill>
                            <a:srgbClr val="3A4356"/>
                          </a:solidFill>
                        </a:rPr>
                        <a:t>4-Layer FR4 ECU Board</a:t>
                      </a:r>
                    </a:p>
                  </a:txBody>
                  <a:tcPr>
                    <a:solidFill>
                      <a:srgbClr val="F7F9FC"/>
                    </a:solidFill>
                  </a:tcPr>
                </a:tc>
                <a:tc>
                  <a:txBody>
                    <a:bodyPr/>
                    <a:lstStyle/>
                    <a:p>
                      <a:pPr algn="l"/>
                      <a:r>
                        <a:rPr sz="750">
                          <a:solidFill>
                            <a:srgbClr val="3A4356"/>
                          </a:solidFill>
                        </a:rPr>
                        <a:t>100×80mm · ENIG · Flying probe</a:t>
                      </a:r>
                    </a:p>
                  </a:txBody>
                  <a:tcPr>
                    <a:solidFill>
                      <a:srgbClr val="F7F9FC"/>
                    </a:solidFill>
                  </a:tcPr>
                </a:tc>
                <a:tc>
                  <a:txBody>
                    <a:bodyPr/>
                    <a:lstStyle/>
                    <a:p>
                      <a:pPr algn="l"/>
                      <a:r>
                        <a:rPr sz="750" b="1">
                          <a:solidFill>
                            <a:srgbClr val="2E8B57"/>
                          </a:solidFill>
                        </a:rPr>
                        <a:t>£  4.18</a:t>
                      </a:r>
                    </a:p>
                  </a:txBody>
                  <a:tcPr>
                    <a:solidFill>
                      <a:srgbClr val="F7F9FC"/>
                    </a:solidFill>
                  </a:tcPr>
                </a:tc>
                <a:tc>
                  <a:txBody>
                    <a:bodyPr/>
                    <a:lstStyle/>
                    <a:p>
                      <a:pPr algn="l"/>
                      <a:r>
                        <a:rPr sz="750">
                          <a:solidFill>
                            <a:srgbClr val="3A4356"/>
                          </a:solidFill>
                        </a:rPr>
                        <a:t>NRE 6% per board — increase batch</a:t>
                      </a:r>
                    </a:p>
                  </a:txBody>
                  <a:tcPr>
                    <a:solidFill>
                      <a:srgbClr val="F7F9FC"/>
                    </a:solidFill>
                  </a:tcPr>
                </a:tc>
                <a:tc>
                  <a:txBody>
                    <a:bodyPr/>
                    <a:lstStyle/>
                    <a:p>
                      <a:pPr algn="l"/>
                      <a:r>
                        <a:rPr sz="750">
                          <a:solidFill>
                            <a:srgbClr val="3A4356"/>
                          </a:solidFill>
                        </a:rPr>
                        <a:t>Good — standard technology</a:t>
                      </a:r>
                    </a:p>
                  </a:txBody>
                  <a:tcPr>
                    <a:solidFill>
                      <a:srgbClr val="F7F9FC"/>
                    </a:solidFill>
                  </a:tcPr>
                </a:tc>
              </a:tr>
              <a:tr h="397348">
                <a:tc>
                  <a:txBody>
                    <a:bodyPr/>
                    <a:lstStyle/>
                    <a:p>
                      <a:pPr algn="l"/>
                      <a:r>
                        <a:rPr sz="750" b="1">
                          <a:solidFill>
                            <a:srgbClr val="1D6FB8"/>
                          </a:solidFill>
                        </a:rPr>
                        <a:t>🔌 PCBA</a:t>
                      </a:r>
                    </a:p>
                  </a:txBody>
                  <a:tcPr>
                    <a:solidFill>
                      <a:srgbClr val="FFFFFF"/>
                    </a:solidFill>
                  </a:tcPr>
                </a:tc>
                <a:tc>
                  <a:txBody>
                    <a:bodyPr/>
                    <a:lstStyle/>
                    <a:p>
                      <a:pPr algn="l"/>
                      <a:r>
                        <a:rPr sz="750">
                          <a:solidFill>
                            <a:srgbClr val="3A4356"/>
                          </a:solidFill>
                        </a:rPr>
                        <a:t>ECU PCBA 85 comp.</a:t>
                      </a:r>
                    </a:p>
                  </a:txBody>
                  <a:tcPr>
                    <a:solidFill>
                      <a:srgbClr val="FFFFFF"/>
                    </a:solidFill>
                  </a:tcPr>
                </a:tc>
                <a:tc>
                  <a:txBody>
                    <a:bodyPr/>
                    <a:lstStyle/>
                    <a:p>
                      <a:pPr algn="l"/>
                      <a:r>
                        <a:rPr sz="750">
                          <a:solidFill>
                            <a:srgbClr val="3A4356"/>
                          </a:solidFill>
                        </a:rPr>
                        <a:t>SMT + TH · 4 TH joints</a:t>
                      </a:r>
                    </a:p>
                  </a:txBody>
                  <a:tcPr>
                    <a:solidFill>
                      <a:srgbClr val="FFFFFF"/>
                    </a:solidFill>
                  </a:tcPr>
                </a:tc>
                <a:tc>
                  <a:txBody>
                    <a:bodyPr/>
                    <a:lstStyle/>
                    <a:p>
                      <a:pPr algn="l"/>
                      <a:r>
                        <a:rPr sz="750" b="1">
                          <a:solidFill>
                            <a:srgbClr val="2E8B57"/>
                          </a:solidFill>
                        </a:rPr>
                        <a:t>£ 32.60</a:t>
                      </a:r>
                    </a:p>
                  </a:txBody>
                  <a:tcPr>
                    <a:solidFill>
                      <a:srgbClr val="FFFFFF"/>
                    </a:solidFill>
                  </a:tcPr>
                </a:tc>
                <a:tc>
                  <a:txBody>
                    <a:bodyPr/>
                    <a:lstStyle/>
                    <a:p>
                      <a:pPr algn="l"/>
                      <a:r>
                        <a:rPr sz="750">
                          <a:solidFill>
                            <a:srgbClr val="3A4356"/>
                          </a:solidFill>
                        </a:rPr>
                        <a:t>Labour 38% — convert TH to SMT saves £4</a:t>
                      </a:r>
                    </a:p>
                  </a:txBody>
                  <a:tcPr>
                    <a:solidFill>
                      <a:srgbClr val="FFFFFF"/>
                    </a:solidFill>
                  </a:tcPr>
                </a:tc>
                <a:tc>
                  <a:txBody>
                    <a:bodyPr/>
                    <a:lstStyle/>
                    <a:p>
                      <a:pPr algn="l"/>
                      <a:r>
                        <a:rPr sz="750">
                          <a:solidFill>
                            <a:srgbClr val="3A4356"/>
                          </a:solidFill>
                        </a:rPr>
                        <a:t>Major: high TH labour</a:t>
                      </a:r>
                    </a:p>
                  </a:txBody>
                  <a:tcPr>
                    <a:solidFill>
                      <a:srgbClr val="FFFFFF"/>
                    </a:solidFill>
                  </a:tcPr>
                </a:tc>
              </a:tr>
              <a:tr h="397348">
                <a:tc>
                  <a:txBody>
                    <a:bodyPr/>
                    <a:lstStyle/>
                    <a:p>
                      <a:pPr algn="l"/>
                      <a:r>
                        <a:rPr sz="750" b="1">
                          <a:solidFill>
                            <a:srgbClr val="1D6FB8"/>
                          </a:solidFill>
                        </a:rPr>
                        <a:t>🔗 Wiring Harness</a:t>
                      </a:r>
                    </a:p>
                  </a:txBody>
                  <a:tcPr>
                    <a:solidFill>
                      <a:srgbClr val="F7F9FC"/>
                    </a:solidFill>
                  </a:tcPr>
                </a:tc>
                <a:tc>
                  <a:txBody>
                    <a:bodyPr/>
                    <a:lstStyle/>
                    <a:p>
                      <a:pPr algn="l"/>
                      <a:r>
                        <a:rPr sz="750">
                          <a:solidFill>
                            <a:srgbClr val="3A4356"/>
                          </a:solidFill>
                        </a:rPr>
                        <a:t>Door Module Harness</a:t>
                      </a:r>
                    </a:p>
                  </a:txBody>
                  <a:tcPr>
                    <a:solidFill>
                      <a:srgbClr val="F7F9FC"/>
                    </a:solidFill>
                  </a:tcPr>
                </a:tc>
                <a:tc>
                  <a:txBody>
                    <a:bodyPr/>
                    <a:lstStyle/>
                    <a:p>
                      <a:pPr algn="l"/>
                      <a:r>
                        <a:rPr sz="750">
                          <a:solidFill>
                            <a:srgbClr val="3A4356"/>
                          </a:solidFill>
                        </a:rPr>
                        <a:t>24 circuits · 2.1m avg</a:t>
                      </a:r>
                    </a:p>
                  </a:txBody>
                  <a:tcPr>
                    <a:solidFill>
                      <a:srgbClr val="F7F9FC"/>
                    </a:solidFill>
                  </a:tcPr>
                </a:tc>
                <a:tc>
                  <a:txBody>
                    <a:bodyPr/>
                    <a:lstStyle/>
                    <a:p>
                      <a:pPr algn="l"/>
                      <a:r>
                        <a:rPr sz="750" b="1">
                          <a:solidFill>
                            <a:srgbClr val="2E8B57"/>
                          </a:solidFill>
                        </a:rPr>
                        <a:t>£ 11.80</a:t>
                      </a:r>
                    </a:p>
                  </a:txBody>
                  <a:tcPr>
                    <a:solidFill>
                      <a:srgbClr val="F7F9FC"/>
                    </a:solidFill>
                  </a:tcPr>
                </a:tc>
                <a:tc>
                  <a:txBody>
                    <a:bodyPr/>
                    <a:lstStyle/>
                    <a:p>
                      <a:pPr algn="l"/>
                      <a:r>
                        <a:rPr sz="750">
                          <a:solidFill>
                            <a:srgbClr val="3A4356"/>
                          </a:solidFill>
                        </a:rPr>
                        <a:t>Labour 58% — automation saves 20%</a:t>
                      </a:r>
                    </a:p>
                  </a:txBody>
                  <a:tcPr>
                    <a:solidFill>
                      <a:srgbClr val="F7F9FC"/>
                    </a:solidFill>
                  </a:tcPr>
                </a:tc>
                <a:tc>
                  <a:txBody>
                    <a:bodyPr/>
                    <a:lstStyle/>
                    <a:p>
                      <a:pPr algn="l"/>
                      <a:r>
                        <a:rPr sz="750">
                          <a:solidFill>
                            <a:srgbClr val="3A4356"/>
                          </a:solidFill>
                        </a:rPr>
                        <a:t>Critical: labour &gt;50%</a:t>
                      </a:r>
                    </a:p>
                  </a:txBody>
                  <a:tcPr>
                    <a:solidFill>
                      <a:srgbClr val="F7F9FC"/>
                    </a:solidFill>
                  </a:tcPr>
                </a:tc>
              </a:tr>
              <a:tr h="397348">
                <a:tc>
                  <a:txBody>
                    <a:bodyPr/>
                    <a:lstStyle/>
                    <a:p>
                      <a:pPr algn="l"/>
                      <a:r>
                        <a:rPr sz="750" b="1">
                          <a:solidFill>
                            <a:srgbClr val="1D6FB8"/>
                          </a:solidFill>
                        </a:rPr>
                        <a:t>🪢 Composites</a:t>
                      </a:r>
                    </a:p>
                  </a:txBody>
                  <a:tcPr>
                    <a:solidFill>
                      <a:srgbClr val="FFFFFF"/>
                    </a:solidFill>
                  </a:tcPr>
                </a:tc>
                <a:tc>
                  <a:txBody>
                    <a:bodyPr/>
                    <a:lstStyle/>
                    <a:p>
                      <a:pPr algn="l"/>
                      <a:r>
                        <a:rPr sz="750">
                          <a:solidFill>
                            <a:srgbClr val="3A4356"/>
                          </a:solidFill>
                        </a:rPr>
                        <a:t>CFRP Floor Pan</a:t>
                      </a:r>
                    </a:p>
                  </a:txBody>
                  <a:tcPr>
                    <a:solidFill>
                      <a:srgbClr val="FFFFFF"/>
                    </a:solidFill>
                  </a:tcPr>
                </a:tc>
                <a:tc>
                  <a:txBody>
                    <a:bodyPr/>
                    <a:lstStyle/>
                    <a:p>
                      <a:pPr algn="l"/>
                      <a:r>
                        <a:rPr sz="750">
                          <a:solidFill>
                            <a:srgbClr val="3A4356"/>
                          </a:solidFill>
                        </a:rPr>
                        <a:t>Prepreg CFRP · 1.8 kg · autoclave</a:t>
                      </a:r>
                    </a:p>
                  </a:txBody>
                  <a:tcPr>
                    <a:solidFill>
                      <a:srgbClr val="FFFFFF"/>
                    </a:solidFill>
                  </a:tcPr>
                </a:tc>
                <a:tc>
                  <a:txBody>
                    <a:bodyPr/>
                    <a:lstStyle/>
                    <a:p>
                      <a:pPr algn="l"/>
                      <a:r>
                        <a:rPr sz="750" b="1">
                          <a:solidFill>
                            <a:srgbClr val="2E8B57"/>
                          </a:solidFill>
                        </a:rPr>
                        <a:t>£ 185.00</a:t>
                      </a:r>
                    </a:p>
                  </a:txBody>
                  <a:tcPr>
                    <a:solidFill>
                      <a:srgbClr val="FFFFFF"/>
                    </a:solidFill>
                  </a:tcPr>
                </a:tc>
                <a:tc>
                  <a:txBody>
                    <a:bodyPr/>
                    <a:lstStyle/>
                    <a:p>
                      <a:pPr algn="l"/>
                      <a:r>
                        <a:rPr sz="750">
                          <a:solidFill>
                            <a:srgbClr val="3A4356"/>
                          </a:solidFill>
                        </a:rPr>
                        <a:t>Labour 44% — evaluate ATL/AFP</a:t>
                      </a:r>
                    </a:p>
                  </a:txBody>
                  <a:tcPr>
                    <a:solidFill>
                      <a:srgbClr val="FFFFFF"/>
                    </a:solidFill>
                  </a:tcPr>
                </a:tc>
                <a:tc>
                  <a:txBody>
                    <a:bodyPr/>
                    <a:lstStyle/>
                    <a:p>
                      <a:pPr algn="l"/>
                      <a:r>
                        <a:rPr sz="750">
                          <a:solidFill>
                            <a:srgbClr val="3A4356"/>
                          </a:solidFill>
                        </a:rPr>
                        <a:t>Major: manual layup cost</a:t>
                      </a:r>
                    </a:p>
                  </a:txBody>
                  <a:tcPr>
                    <a:solidFill>
                      <a:srgbClr val="FFFFFF"/>
                    </a:solidFill>
                  </a:tcPr>
                </a:tc>
              </a:tr>
              <a:tr h="397352">
                <a:tc>
                  <a:txBody>
                    <a:bodyPr/>
                    <a:lstStyle/>
                    <a:p>
                      <a:pPr algn="l"/>
                      <a:r>
                        <a:rPr sz="750" b="1">
                          <a:solidFill>
                            <a:srgbClr val="1D6FB8"/>
                          </a:solidFill>
                        </a:rPr>
                        <a:t>🔨 Forging</a:t>
                      </a:r>
                    </a:p>
                  </a:txBody>
                  <a:tcPr>
                    <a:solidFill>
                      <a:srgbClr val="F7F9FC"/>
                    </a:solidFill>
                  </a:tcPr>
                </a:tc>
                <a:tc>
                  <a:txBody>
                    <a:bodyPr/>
                    <a:lstStyle/>
                    <a:p>
                      <a:pPr algn="l"/>
                      <a:r>
                        <a:rPr sz="750">
                          <a:solidFill>
                            <a:srgbClr val="3A4356"/>
                          </a:solidFill>
                        </a:rPr>
                        <a:t>Steel Control Arm</a:t>
                      </a:r>
                    </a:p>
                  </a:txBody>
                  <a:tcPr>
                    <a:solidFill>
                      <a:srgbClr val="F7F9FC"/>
                    </a:solidFill>
                  </a:tcPr>
                </a:tc>
                <a:tc>
                  <a:txBody>
                    <a:bodyPr/>
                    <a:lstStyle/>
                    <a:p>
                      <a:pPr algn="l"/>
                      <a:r>
                        <a:rPr sz="750">
                          <a:solidFill>
                            <a:srgbClr val="3A4356"/>
                          </a:solidFill>
                        </a:rPr>
                        <a:t>42CrMo4 · 2.1 kg · 80k/yr</a:t>
                      </a:r>
                    </a:p>
                  </a:txBody>
                  <a:tcPr>
                    <a:solidFill>
                      <a:srgbClr val="F7F9FC"/>
                    </a:solidFill>
                  </a:tcPr>
                </a:tc>
                <a:tc>
                  <a:txBody>
                    <a:bodyPr/>
                    <a:lstStyle/>
                    <a:p>
                      <a:pPr algn="l"/>
                      <a:r>
                        <a:rPr sz="750" b="1">
                          <a:solidFill>
                            <a:srgbClr val="2E8B57"/>
                          </a:solidFill>
                        </a:rPr>
                        <a:t>£  9.20</a:t>
                      </a:r>
                    </a:p>
                  </a:txBody>
                  <a:tcPr>
                    <a:solidFill>
                      <a:srgbClr val="F7F9FC"/>
                    </a:solidFill>
                  </a:tcPr>
                </a:tc>
                <a:tc>
                  <a:txBody>
                    <a:bodyPr/>
                    <a:lstStyle/>
                    <a:p>
                      <a:pPr algn="l"/>
                      <a:r>
                        <a:rPr sz="750">
                          <a:solidFill>
                            <a:srgbClr val="3A4356"/>
                          </a:solidFill>
                        </a:rPr>
                        <a:t>Die 11% — acceptable at volume</a:t>
                      </a:r>
                    </a:p>
                  </a:txBody>
                  <a:tcPr>
                    <a:solidFill>
                      <a:srgbClr val="F7F9FC"/>
                    </a:solidFill>
                  </a:tcPr>
                </a:tc>
                <a:tc>
                  <a:txBody>
                    <a:bodyPr/>
                    <a:lstStyle/>
                    <a:p>
                      <a:pPr algn="l"/>
                      <a:r>
                        <a:rPr sz="750">
                          <a:solidFill>
                            <a:srgbClr val="3A4356"/>
                          </a:solidFill>
                        </a:rPr>
                        <a:t>Good — closed-die efficient</a:t>
                      </a:r>
                    </a:p>
                  </a:txBody>
                  <a:tcPr>
                    <a:solidFill>
                      <a:srgbClr val="F7F9FC"/>
                    </a:solidFill>
                  </a:tcPr>
                </a:tc>
              </a:tr>
            </a:tbl>
          </a:graphicData>
        </a:graphic>
      </p:graphicFrame>
      <p:sp>
        <p:nvSpPr>
          <p:cNvPr id="12" name="Rectangle 11"/>
          <p:cNvSpPr/>
          <p:nvPr/>
        </p:nvSpPr>
        <p:spPr>
          <a:xfrm>
            <a:off x="411480" y="6327648"/>
            <a:ext cx="11384280"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6B72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6-Sheet Excel Export</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3A4356"/>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Professional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3A4356"/>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Cloud Team Sync</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3A4356"/>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Part Photo &amp; Visual Docs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3A4356"/>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Enterprise Authentication</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3A4356"/>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Help Centre &amp; Support</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3A4356"/>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1D6FB8"/>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Reduction in costing time</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Typical cost model accuracy</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B7791F"/>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Supplier price reduction via should-cost intel</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6B3FA0"/>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Faster sourcing decisions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2E8B57"/>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Saving on £500M spend at 3% improvement</a:t>
            </a:r>
          </a:p>
        </p:txBody>
      </p:sp>
      <p:sp>
        <p:nvSpPr>
          <p:cNvPr id="26" name="Rectangle 25"/>
          <p:cNvSpPr/>
          <p:nvPr/>
        </p:nvSpPr>
        <p:spPr>
          <a:xfrm>
            <a:off x="411480" y="297180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Speed — 10× Faster</a:t>
            </a:r>
          </a:p>
        </p:txBody>
      </p:sp>
      <p:sp>
        <p:nvSpPr>
          <p:cNvPr id="29" name="TextBox 28"/>
          <p:cNvSpPr txBox="1"/>
          <p:nvPr/>
        </p:nvSpPr>
        <p:spPr>
          <a:xfrm>
            <a:off x="539496" y="3355848"/>
            <a:ext cx="2560320" cy="694944"/>
          </a:xfrm>
          <a:prstGeom prst="rect">
            <a:avLst/>
          </a:prstGeom>
          <a:noFill/>
        </p:spPr>
        <p:txBody>
          <a:bodyPr wrap="square">
            <a:spAutoFit/>
          </a:bodyPr>
          <a:lstStyle/>
          <a:p>
            <a:pPr algn="l"/>
            <a:r>
              <a:rPr sz="850" b="0" i="0">
                <a:solidFill>
                  <a:srgbClr val="3A4356"/>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Accuracy — Not Estimates</a:t>
            </a:r>
          </a:p>
        </p:txBody>
      </p:sp>
      <p:sp>
        <p:nvSpPr>
          <p:cNvPr id="33" name="TextBox 32"/>
          <p:cNvSpPr txBox="1"/>
          <p:nvPr/>
        </p:nvSpPr>
        <p:spPr>
          <a:xfrm>
            <a:off x="3374136" y="3355848"/>
            <a:ext cx="2560320" cy="694944"/>
          </a:xfrm>
          <a:prstGeom prst="rect">
            <a:avLst/>
          </a:prstGeom>
          <a:noFill/>
        </p:spPr>
        <p:txBody>
          <a:bodyPr wrap="square">
            <a:spAutoFit/>
          </a:bodyPr>
          <a:lstStyle/>
          <a:p>
            <a:pPr algn="l"/>
            <a:r>
              <a:rPr sz="850" b="0" i="0">
                <a:solidFill>
                  <a:srgbClr val="3A4356"/>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Negotiation Power</a:t>
            </a:r>
          </a:p>
        </p:txBody>
      </p:sp>
      <p:sp>
        <p:nvSpPr>
          <p:cNvPr id="37" name="TextBox 36"/>
          <p:cNvSpPr txBox="1"/>
          <p:nvPr/>
        </p:nvSpPr>
        <p:spPr>
          <a:xfrm>
            <a:off x="6208776" y="3355848"/>
            <a:ext cx="2560320" cy="694944"/>
          </a:xfrm>
          <a:prstGeom prst="rect">
            <a:avLst/>
          </a:prstGeom>
          <a:noFill/>
        </p:spPr>
        <p:txBody>
          <a:bodyPr wrap="square">
            <a:spAutoFit/>
          </a:bodyPr>
          <a:lstStyle/>
          <a:p>
            <a:pPr algn="l"/>
            <a:r>
              <a:rPr sz="850" b="0" i="0">
                <a:solidFill>
                  <a:srgbClr val="3A4356"/>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at Concept Stage</a:t>
            </a:r>
          </a:p>
        </p:txBody>
      </p:sp>
      <p:sp>
        <p:nvSpPr>
          <p:cNvPr id="41" name="TextBox 40"/>
          <p:cNvSpPr txBox="1"/>
          <p:nvPr/>
        </p:nvSpPr>
        <p:spPr>
          <a:xfrm>
            <a:off x="9043416" y="3355848"/>
            <a:ext cx="2560320" cy="694944"/>
          </a:xfrm>
          <a:prstGeom prst="rect">
            <a:avLst/>
          </a:prstGeom>
          <a:noFill/>
        </p:spPr>
        <p:txBody>
          <a:bodyPr wrap="square">
            <a:spAutoFit/>
          </a:bodyPr>
          <a:lstStyle/>
          <a:p>
            <a:pPr algn="l"/>
            <a:r>
              <a:rPr sz="850" b="0" i="0">
                <a:solidFill>
                  <a:srgbClr val="3A4356"/>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Regional Arbitrage</a:t>
            </a:r>
          </a:p>
        </p:txBody>
      </p:sp>
      <p:sp>
        <p:nvSpPr>
          <p:cNvPr id="45" name="TextBox 44"/>
          <p:cNvSpPr txBox="1"/>
          <p:nvPr/>
        </p:nvSpPr>
        <p:spPr>
          <a:xfrm>
            <a:off x="539496" y="4636008"/>
            <a:ext cx="2560320" cy="694944"/>
          </a:xfrm>
          <a:prstGeom prst="rect">
            <a:avLst/>
          </a:prstGeom>
          <a:noFill/>
        </p:spPr>
        <p:txBody>
          <a:bodyPr wrap="square">
            <a:spAutoFit/>
          </a:bodyPr>
          <a:lstStyle/>
          <a:p>
            <a:pPr algn="l"/>
            <a:r>
              <a:rPr sz="850" b="0" i="0">
                <a:solidFill>
                  <a:srgbClr val="3A4356"/>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Standardised Methodology</a:t>
            </a:r>
          </a:p>
        </p:txBody>
      </p:sp>
      <p:sp>
        <p:nvSpPr>
          <p:cNvPr id="49" name="TextBox 48"/>
          <p:cNvSpPr txBox="1"/>
          <p:nvPr/>
        </p:nvSpPr>
        <p:spPr>
          <a:xfrm>
            <a:off x="3374136" y="4636008"/>
            <a:ext cx="2560320" cy="694944"/>
          </a:xfrm>
          <a:prstGeom prst="rect">
            <a:avLst/>
          </a:prstGeom>
          <a:noFill/>
        </p:spPr>
        <p:txBody>
          <a:bodyPr wrap="square">
            <a:spAutoFit/>
          </a:bodyPr>
          <a:lstStyle/>
          <a:p>
            <a:pPr algn="l"/>
            <a:r>
              <a:rPr sz="850" b="0" i="0">
                <a:solidFill>
                  <a:srgbClr val="3A4356"/>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Volume Optimisation</a:t>
            </a:r>
          </a:p>
        </p:txBody>
      </p:sp>
      <p:sp>
        <p:nvSpPr>
          <p:cNvPr id="53" name="TextBox 52"/>
          <p:cNvSpPr txBox="1"/>
          <p:nvPr/>
        </p:nvSpPr>
        <p:spPr>
          <a:xfrm>
            <a:off x="6208776" y="4636008"/>
            <a:ext cx="2560320" cy="694944"/>
          </a:xfrm>
          <a:prstGeom prst="rect">
            <a:avLst/>
          </a:prstGeom>
          <a:noFill/>
        </p:spPr>
        <p:txBody>
          <a:bodyPr wrap="square">
            <a:spAutoFit/>
          </a:bodyPr>
          <a:lstStyle/>
          <a:p>
            <a:pPr algn="l"/>
            <a:r>
              <a:rPr sz="850" b="0" i="0">
                <a:solidFill>
                  <a:srgbClr val="3A4356"/>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Team Collaboration</a:t>
            </a:r>
          </a:p>
        </p:txBody>
      </p:sp>
      <p:sp>
        <p:nvSpPr>
          <p:cNvPr id="57" name="TextBox 56"/>
          <p:cNvSpPr txBox="1"/>
          <p:nvPr/>
        </p:nvSpPr>
        <p:spPr>
          <a:xfrm>
            <a:off x="9043416" y="4636008"/>
            <a:ext cx="2560320" cy="694944"/>
          </a:xfrm>
          <a:prstGeom prst="rect">
            <a:avLst/>
          </a:prstGeom>
          <a:noFill/>
        </p:spPr>
        <p:txBody>
          <a:bodyPr wrap="square">
            <a:spAutoFit/>
          </a:bodyPr>
          <a:lstStyle/>
          <a:p>
            <a:pPr algn="l"/>
            <a:r>
              <a:rPr sz="850" b="0" i="0">
                <a:solidFill>
                  <a:srgbClr val="3A4356"/>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2E8B57"/>
                </a:solidFill>
                <a:latin typeface="Segoe UI Emoji"/>
              </a:rPr>
              <a:t>📍</a:t>
            </a:r>
            <a:r>
              <a:rPr sz="950" b="1" i="0">
                <a:solidFill>
                  <a:srgbClr val="2E8B57"/>
                </a:solidFill>
              </a:rPr>
              <a:t> Current Capabilities — Live Today</a:t>
            </a:r>
          </a:p>
        </p:txBody>
      </p:sp>
      <p:sp>
        <p:nvSpPr>
          <p:cNvPr id="14" name="Rectangle 13"/>
          <p:cNvSpPr/>
          <p:nvPr/>
        </p:nvSpPr>
        <p:spPr>
          <a:xfrm>
            <a:off x="594360" y="235000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3A4356"/>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3A4356"/>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3A4356"/>
                </a:solidFill>
              </a:rPr>
              <a:t>AI CAD Analysis — STEP / photo → geometry → cost in minutes</a:t>
            </a:r>
          </a:p>
        </p:txBody>
      </p:sp>
      <p:sp>
        <p:nvSpPr>
          <p:cNvPr id="20" name="Rectangle 19"/>
          <p:cNvSpPr/>
          <p:nvPr/>
        </p:nvSpPr>
        <p:spPr>
          <a:xfrm>
            <a:off x="594360" y="328269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3A4356"/>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3A4356"/>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3A4356"/>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3A4356"/>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3A4356"/>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3A4356"/>
                </a:solidFill>
              </a:rPr>
              <a:t>DFM / DFA Intelligence — bolt-on AI layer, 1–10 scores</a:t>
            </a:r>
          </a:p>
        </p:txBody>
      </p:sp>
      <p:sp>
        <p:nvSpPr>
          <p:cNvPr id="32" name="Rectangle 31"/>
          <p:cNvSpPr/>
          <p:nvPr/>
        </p:nvSpPr>
        <p:spPr>
          <a:xfrm>
            <a:off x="594360" y="514807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3A4356"/>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3A4356"/>
                </a:solidFill>
              </a:rPr>
              <a:t>6-sheet Excel + professional PDF report with part photo</a:t>
            </a:r>
          </a:p>
        </p:txBody>
      </p:sp>
      <p:sp>
        <p:nvSpPr>
          <p:cNvPr id="36" name="Rectangle 35"/>
          <p:cNvSpPr/>
          <p:nvPr/>
        </p:nvSpPr>
        <p:spPr>
          <a:xfrm>
            <a:off x="594360" y="576986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3A4356"/>
                </a:solidFill>
              </a:rPr>
              <a:t>Cloud sync, team sharing &amp; secure JWT authentication</a:t>
            </a:r>
          </a:p>
        </p:txBody>
      </p:sp>
      <p:sp>
        <p:nvSpPr>
          <p:cNvPr id="38" name="Rectangle 37"/>
          <p:cNvSpPr/>
          <p:nvPr/>
        </p:nvSpPr>
        <p:spPr>
          <a:xfrm>
            <a:off x="594360" y="608076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3A4356"/>
                </a:solidFill>
              </a:rPr>
              <a:t>1,777 automated tests · CAD engine ships in a CI-verified container</a:t>
            </a:r>
          </a:p>
        </p:txBody>
      </p:sp>
      <p:sp>
        <p:nvSpPr>
          <p:cNvPr id="40" name="Rectangle 39"/>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B7791F"/>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3A4356"/>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6B3FA0"/>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3A4356"/>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1D6FB8"/>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3A4356"/>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2E8B57"/>
                </a:solidFill>
                <a:latin typeface="Segoe UI Emoji"/>
              </a:rPr>
              <a:t>🚀</a:t>
            </a:r>
            <a:r>
              <a:rPr sz="900" b="1" i="0">
                <a:solidFill>
                  <a:srgbClr val="2E8B57"/>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3A4356"/>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6B72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