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Twenty-two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 One important update since the last time I showed you this. Your engineering team told me, quite bluntly, that these findings were too generic — that reading the cost and guessing backwards isn't good enough. They were right. So there's now a second layer underneath this one that opens the 3D model itself and measures every face on the part. Nineteen rules, and every one of them cites a published standard rather than my opinion. It doesn't say 'tooling looks high' — it says which specific faces on the part cannot come out of the die, and you can click one and see it highlighted on the model. That is the difference between a hint and an argument you can take to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D0F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828800" y="1371600"/>
            <a:ext cx="8686800" cy="4572000"/>
          </a:xfrm>
          <a:prstGeom prst="rect">
            <a:avLst/>
          </a:prstGeom>
          <a:solidFill>
            <a:srgbClr val="14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4F8EF7"/>
                </a:solidFill>
              </a:rPr>
              <a:t>CostVision</a:t>
            </a:r>
          </a:p>
        </p:txBody>
      </p:sp>
      <p:sp>
        <p:nvSpPr>
          <p:cNvPr id="6" name="Rectangle 5"/>
          <p:cNvSpPr/>
          <p:nvPr/>
        </p:nvSpPr>
        <p:spPr>
          <a:xfrm>
            <a:off x="4114800" y="2240280"/>
            <a:ext cx="40233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9AA3B8"/>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0F2F8"/>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5A6380"/>
                </a:solidFill>
              </a:rPr>
              <a:t>Cost Engineering &amp; Digital Innovation</a:t>
            </a:r>
          </a:p>
        </p:txBody>
      </p:sp>
      <p:sp>
        <p:nvSpPr>
          <p:cNvPr id="10" name="Rectangle 9"/>
          <p:cNvSpPr/>
          <p:nvPr/>
        </p:nvSpPr>
        <p:spPr>
          <a:xfrm>
            <a:off x="914400" y="4160520"/>
            <a:ext cx="1920240" cy="329184"/>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10B981"/>
                </a:solidFill>
              </a:rPr>
              <a:t>21 Commodity Models</a:t>
            </a:r>
          </a:p>
        </p:txBody>
      </p:sp>
      <p:sp>
        <p:nvSpPr>
          <p:cNvPr id="12" name="Rectangle 11"/>
          <p:cNvSpPr/>
          <p:nvPr/>
        </p:nvSpPr>
        <p:spPr>
          <a:xfrm>
            <a:off x="310896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4F8EF7"/>
                </a:solidFill>
              </a:rPr>
              <a:t>AI Agent (NLP)</a:t>
            </a:r>
          </a:p>
        </p:txBody>
      </p:sp>
      <p:sp>
        <p:nvSpPr>
          <p:cNvPr id="14" name="Rectangle 13"/>
          <p:cNvSpPr/>
          <p:nvPr/>
        </p:nvSpPr>
        <p:spPr>
          <a:xfrm>
            <a:off x="5303520" y="4160520"/>
            <a:ext cx="1920240" cy="329184"/>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7C3AED"/>
                </a:solidFill>
              </a:rPr>
              <a:t>CAD-to-Cost AI</a:t>
            </a:r>
          </a:p>
        </p:txBody>
      </p:sp>
      <p:sp>
        <p:nvSpPr>
          <p:cNvPr id="16" name="Rectangle 15"/>
          <p:cNvSpPr/>
          <p:nvPr/>
        </p:nvSpPr>
        <p:spPr>
          <a:xfrm>
            <a:off x="7498079" y="4160520"/>
            <a:ext cx="1920240" cy="329184"/>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F59E0B"/>
                </a:solidFill>
              </a:rPr>
              <a:t>DFM / DFA Layer</a:t>
            </a:r>
          </a:p>
        </p:txBody>
      </p:sp>
      <p:sp>
        <p:nvSpPr>
          <p:cNvPr id="18" name="Rectangle 17"/>
          <p:cNvSpPr/>
          <p:nvPr/>
        </p:nvSpPr>
        <p:spPr>
          <a:xfrm>
            <a:off x="969264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4F8EF7"/>
                </a:solidFill>
              </a:rPr>
              <a:t>20 Regions · 10 FX</a:t>
            </a:r>
          </a:p>
        </p:txBody>
      </p:sp>
      <p:sp>
        <p:nvSpPr>
          <p:cNvPr id="20" name="Rectangle 19"/>
          <p:cNvSpPr/>
          <p:nvPr/>
        </p:nvSpPr>
        <p:spPr>
          <a:xfrm>
            <a:off x="1645920" y="4617720"/>
            <a:ext cx="2286000" cy="301752"/>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10B981"/>
                </a:solidFill>
              </a:rPr>
              <a:t>Assembly BOM Rollup</a:t>
            </a:r>
          </a:p>
        </p:txBody>
      </p:sp>
      <p:sp>
        <p:nvSpPr>
          <p:cNvPr id="22" name="Rectangle 21"/>
          <p:cNvSpPr/>
          <p:nvPr/>
        </p:nvSpPr>
        <p:spPr>
          <a:xfrm>
            <a:off x="3840480" y="4617720"/>
            <a:ext cx="2286000" cy="301752"/>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7C3AED"/>
                </a:solidFill>
              </a:rPr>
              <a:t>Wright's Law Learning Curve</a:t>
            </a:r>
          </a:p>
        </p:txBody>
      </p:sp>
      <p:sp>
        <p:nvSpPr>
          <p:cNvPr id="24" name="Rectangle 23"/>
          <p:cNvSpPr/>
          <p:nvPr/>
        </p:nvSpPr>
        <p:spPr>
          <a:xfrm>
            <a:off x="6309360" y="4617720"/>
            <a:ext cx="2286000" cy="301752"/>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F59E0B"/>
                </a:solidFill>
              </a:rPr>
              <a:t>Supplier Quote Comparison</a:t>
            </a:r>
          </a:p>
        </p:txBody>
      </p:sp>
      <p:sp>
        <p:nvSpPr>
          <p:cNvPr id="26" name="Rectangle 25"/>
          <p:cNvSpPr/>
          <p:nvPr/>
        </p:nvSpPr>
        <p:spPr>
          <a:xfrm>
            <a:off x="8686800" y="4617720"/>
            <a:ext cx="2286000" cy="30175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4F8EF7"/>
                </a:solidFill>
              </a:rPr>
              <a:t>Cloud Team Sync</a:t>
            </a:r>
          </a:p>
        </p:txBody>
      </p:sp>
      <p:sp>
        <p:nvSpPr>
          <p:cNvPr id="28" name="Rectangle 27"/>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66159" cy="292608"/>
          </a:xfrm>
          <a:prstGeom prst="rect">
            <a:avLst/>
          </a:prstGeom>
          <a:noFill/>
        </p:spPr>
        <p:txBody>
          <a:bodyPr wrap="square">
            <a:spAutoFit/>
          </a:bodyPr>
          <a:lstStyle/>
          <a:p>
            <a:pPr algn="l"/>
            <a:r>
              <a:rPr sz="950" b="1" i="0">
                <a:solidFill>
                  <a:srgbClr val="F0F2F8"/>
                </a:solidFill>
              </a:rPr>
              <a:t>⏱  Weeks, Not Minutes</a:t>
            </a:r>
          </a:p>
        </p:txBody>
      </p:sp>
      <p:sp>
        <p:nvSpPr>
          <p:cNvPr id="14" name="TextBox 13"/>
          <p:cNvSpPr txBox="1"/>
          <p:nvPr/>
        </p:nvSpPr>
        <p:spPr>
          <a:xfrm>
            <a:off x="539496" y="2176272"/>
            <a:ext cx="3566159" cy="1005840"/>
          </a:xfrm>
          <a:prstGeom prst="rect">
            <a:avLst/>
          </a:prstGeom>
          <a:noFill/>
        </p:spPr>
        <p:txBody>
          <a:bodyPr wrap="square">
            <a:spAutoFit/>
          </a:bodyPr>
          <a:lstStyle/>
          <a:p>
            <a:pPr algn="l"/>
            <a:r>
              <a:rPr sz="850" b="0" i="0">
                <a:solidFill>
                  <a:srgbClr val="9AA3B8"/>
                </a:solidFill>
              </a:rPr>
              <a:t>Manual should-cost takes 2–4 weeks per part. Sourcing decisions stall. Programme timelines slip.</a:t>
            </a:r>
          </a:p>
        </p:txBody>
      </p:sp>
      <p:sp>
        <p:nvSpPr>
          <p:cNvPr id="15" name="Rectangle 14"/>
          <p:cNvSpPr/>
          <p:nvPr/>
        </p:nvSpPr>
        <p:spPr>
          <a:xfrm>
            <a:off x="4270247"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28800"/>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202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Dependency</a:t>
            </a:r>
          </a:p>
        </p:txBody>
      </p:sp>
      <p:sp>
        <p:nvSpPr>
          <p:cNvPr id="18" name="TextBox 17"/>
          <p:cNvSpPr txBox="1"/>
          <p:nvPr/>
        </p:nvSpPr>
        <p:spPr>
          <a:xfrm>
            <a:off x="4398263" y="2176272"/>
            <a:ext cx="3566159" cy="1005840"/>
          </a:xfrm>
          <a:prstGeom prst="rect">
            <a:avLst/>
          </a:prstGeom>
          <a:noFill/>
        </p:spPr>
        <p:txBody>
          <a:bodyPr wrap="square">
            <a:spAutoFit/>
          </a:bodyPr>
          <a:lstStyle/>
          <a:p>
            <a:pPr algn="l"/>
            <a:r>
              <a:rPr sz="850" b="0" i="0">
                <a:solidFill>
                  <a:srgbClr val="9AA3B8"/>
                </a:solidFill>
              </a:rPr>
              <a:t>Without independent cost intelligence, engineers accept quotes at face value — no leverage, no transparency.</a:t>
            </a:r>
          </a:p>
        </p:txBody>
      </p:sp>
      <p:sp>
        <p:nvSpPr>
          <p:cNvPr id="19" name="Rectangle 18"/>
          <p:cNvSpPr/>
          <p:nvPr/>
        </p:nvSpPr>
        <p:spPr>
          <a:xfrm>
            <a:off x="8129014"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202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Inconsistent Methodology</a:t>
            </a:r>
          </a:p>
        </p:txBody>
      </p:sp>
      <p:sp>
        <p:nvSpPr>
          <p:cNvPr id="22" name="TextBox 21"/>
          <p:cNvSpPr txBox="1"/>
          <p:nvPr/>
        </p:nvSpPr>
        <p:spPr>
          <a:xfrm>
            <a:off x="8257030" y="2176272"/>
            <a:ext cx="3566159" cy="1005840"/>
          </a:xfrm>
          <a:prstGeom prst="rect">
            <a:avLst/>
          </a:prstGeom>
          <a:noFill/>
        </p:spPr>
        <p:txBody>
          <a:bodyPr wrap="square">
            <a:spAutoFit/>
          </a:bodyPr>
          <a:lstStyle/>
          <a:p>
            <a:pPr algn="l"/>
            <a:r>
              <a:rPr sz="850" b="0" i="0">
                <a:solidFill>
                  <a:srgbClr val="9AA3B8"/>
                </a:solidFill>
              </a:rPr>
              <a:t>Every engineer calculates cost differently. No standard model. No auditable assumptions. No cross-team comparability.</a:t>
            </a:r>
          </a:p>
        </p:txBody>
      </p:sp>
      <p:sp>
        <p:nvSpPr>
          <p:cNvPr id="23" name="Rectangle 22"/>
          <p:cNvSpPr/>
          <p:nvPr/>
        </p:nvSpPr>
        <p:spPr>
          <a:xfrm>
            <a:off x="411480"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493008"/>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No Regional Visibility</a:t>
            </a:r>
          </a:p>
        </p:txBody>
      </p:sp>
      <p:sp>
        <p:nvSpPr>
          <p:cNvPr id="26" name="TextBox 25"/>
          <p:cNvSpPr txBox="1"/>
          <p:nvPr/>
        </p:nvSpPr>
        <p:spPr>
          <a:xfrm>
            <a:off x="539496" y="3749040"/>
            <a:ext cx="3566159" cy="1005840"/>
          </a:xfrm>
          <a:prstGeom prst="rect">
            <a:avLst/>
          </a:prstGeom>
          <a:noFill/>
        </p:spPr>
        <p:txBody>
          <a:bodyPr wrap="square">
            <a:spAutoFit/>
          </a:bodyPr>
          <a:lstStyle/>
          <a:p>
            <a:pPr algn="l"/>
            <a:r>
              <a:rPr sz="850" b="0" i="0">
                <a:solidFill>
                  <a:srgbClr val="9AA3B8"/>
                </a:solidFill>
              </a:rPr>
              <a:t>Labour, machine, material and energy rates vary dramatically by country. Manual adjustment is error-prone.</a:t>
            </a:r>
          </a:p>
        </p:txBody>
      </p:sp>
      <p:sp>
        <p:nvSpPr>
          <p:cNvPr id="27" name="Rectangle 26"/>
          <p:cNvSpPr/>
          <p:nvPr/>
        </p:nvSpPr>
        <p:spPr>
          <a:xfrm>
            <a:off x="4270247"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401568"/>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493008"/>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Late-Stage Cost Surprises</a:t>
            </a:r>
          </a:p>
        </p:txBody>
      </p:sp>
      <p:sp>
        <p:nvSpPr>
          <p:cNvPr id="30" name="TextBox 29"/>
          <p:cNvSpPr txBox="1"/>
          <p:nvPr/>
        </p:nvSpPr>
        <p:spPr>
          <a:xfrm>
            <a:off x="4398263" y="3749040"/>
            <a:ext cx="3566159" cy="1005840"/>
          </a:xfrm>
          <a:prstGeom prst="rect">
            <a:avLst/>
          </a:prstGeom>
          <a:noFill/>
        </p:spPr>
        <p:txBody>
          <a:bodyPr wrap="square">
            <a:spAutoFit/>
          </a:bodyPr>
          <a:lstStyle/>
          <a:p>
            <a:pPr algn="l"/>
            <a:r>
              <a:rPr sz="850" b="0" i="0">
                <a:solidFill>
                  <a:srgbClr val="9AA3B8"/>
                </a:solidFill>
              </a:rPr>
              <a:t>Cost issues discovered at SOP — not at concept. DFM problems missed. Expensive redesigns. Margin erosion at launch.</a:t>
            </a:r>
          </a:p>
        </p:txBody>
      </p:sp>
      <p:sp>
        <p:nvSpPr>
          <p:cNvPr id="31" name="Rectangle 30"/>
          <p:cNvSpPr/>
          <p:nvPr/>
        </p:nvSpPr>
        <p:spPr>
          <a:xfrm>
            <a:off x="8129014"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493008"/>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No Supplier Quote Benchmark</a:t>
            </a:r>
          </a:p>
        </p:txBody>
      </p:sp>
      <p:sp>
        <p:nvSpPr>
          <p:cNvPr id="34" name="TextBox 33"/>
          <p:cNvSpPr txBox="1"/>
          <p:nvPr/>
        </p:nvSpPr>
        <p:spPr>
          <a:xfrm>
            <a:off x="8257030" y="3749040"/>
            <a:ext cx="3566159" cy="1005840"/>
          </a:xfrm>
          <a:prstGeom prst="rect">
            <a:avLst/>
          </a:prstGeom>
          <a:noFill/>
        </p:spPr>
        <p:txBody>
          <a:bodyPr wrap="square">
            <a:spAutoFit/>
          </a:bodyPr>
          <a:lstStyle/>
          <a:p>
            <a:pPr algn="l"/>
            <a:r>
              <a:rPr sz="850" b="0" i="0">
                <a:solidFill>
                  <a:srgbClr val="9AA3B8"/>
                </a:solidFill>
              </a:rPr>
              <a:t>Buyers lack a defensible floor price for negotiation. Supplier margins are opaque and unchallenged.</a:t>
            </a:r>
          </a:p>
        </p:txBody>
      </p:sp>
      <p:sp>
        <p:nvSpPr>
          <p:cNvPr id="35" name="Rectangle 34"/>
          <p:cNvSpPr/>
          <p:nvPr/>
        </p:nvSpPr>
        <p:spPr>
          <a:xfrm>
            <a:off x="411480" y="4956048"/>
            <a:ext cx="11384280" cy="74980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992624"/>
            <a:ext cx="1005840" cy="658368"/>
          </a:xfrm>
          <a:prstGeom prst="rect">
            <a:avLst/>
          </a:prstGeom>
          <a:noFill/>
        </p:spPr>
        <p:txBody>
          <a:bodyPr wrap="square">
            <a:spAutoFit/>
          </a:bodyPr>
          <a:lstStyle/>
          <a:p>
            <a:pPr algn="ctr"/>
            <a:r>
              <a:rPr sz="3600" b="1" i="0">
                <a:solidFill>
                  <a:srgbClr val="F59E0B"/>
                </a:solidFill>
              </a:rPr>
              <a:t>80%</a:t>
            </a:r>
          </a:p>
        </p:txBody>
      </p:sp>
      <p:sp>
        <p:nvSpPr>
          <p:cNvPr id="37" name="TextBox 36"/>
          <p:cNvSpPr txBox="1"/>
          <p:nvPr/>
        </p:nvSpPr>
        <p:spPr>
          <a:xfrm>
            <a:off x="1645920" y="5047488"/>
            <a:ext cx="9875520" cy="566928"/>
          </a:xfrm>
          <a:prstGeom prst="rect">
            <a:avLst/>
          </a:prstGeom>
          <a:noFill/>
        </p:spPr>
        <p:txBody>
          <a:bodyPr wrap="square">
            <a:spAutoFit/>
          </a:bodyPr>
          <a:lstStyle/>
          <a:p>
            <a:pPr algn="l"/>
            <a:r>
              <a:rPr sz="950" b="0" i="0">
                <a:solidFill>
                  <a:srgbClr val="9AA3B8"/>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AI Agent (Natural Language)</a:t>
            </a:r>
          </a:p>
        </p:txBody>
      </p:sp>
      <p:sp>
        <p:nvSpPr>
          <p:cNvPr id="14" name="TextBox 13"/>
          <p:cNvSpPr txBox="1"/>
          <p:nvPr/>
        </p:nvSpPr>
        <p:spPr>
          <a:xfrm>
            <a:off x="539496" y="2157984"/>
            <a:ext cx="3566159" cy="868680"/>
          </a:xfrm>
          <a:prstGeom prst="rect">
            <a:avLst/>
          </a:prstGeom>
          <a:noFill/>
        </p:spPr>
        <p:txBody>
          <a:bodyPr wrap="square">
            <a:spAutoFit/>
          </a:bodyPr>
          <a:lstStyle/>
          <a:p>
            <a:pPr algn="l"/>
            <a:r>
              <a:rPr sz="850" b="0" i="0">
                <a:solidFill>
                  <a:srgbClr val="9AA3B8"/>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CAD-to-Cost Automation</a:t>
            </a:r>
          </a:p>
        </p:txBody>
      </p:sp>
      <p:sp>
        <p:nvSpPr>
          <p:cNvPr id="18" name="TextBox 17"/>
          <p:cNvSpPr txBox="1"/>
          <p:nvPr/>
        </p:nvSpPr>
        <p:spPr>
          <a:xfrm>
            <a:off x="4379975" y="2157984"/>
            <a:ext cx="3566159" cy="868680"/>
          </a:xfrm>
          <a:prstGeom prst="rect">
            <a:avLst/>
          </a:prstGeom>
          <a:noFill/>
        </p:spPr>
        <p:txBody>
          <a:bodyPr wrap="square">
            <a:spAutoFit/>
          </a:bodyPr>
          <a:lstStyle/>
          <a:p>
            <a:pPr algn="l"/>
            <a:r>
              <a:rPr sz="850" b="0" i="0">
                <a:solidFill>
                  <a:srgbClr val="9AA3B8"/>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21 Engineering-Grade Cost Models</a:t>
            </a:r>
          </a:p>
        </p:txBody>
      </p:sp>
      <p:sp>
        <p:nvSpPr>
          <p:cNvPr id="22" name="TextBox 21"/>
          <p:cNvSpPr txBox="1"/>
          <p:nvPr/>
        </p:nvSpPr>
        <p:spPr>
          <a:xfrm>
            <a:off x="8220454" y="2157984"/>
            <a:ext cx="3566159" cy="868680"/>
          </a:xfrm>
          <a:prstGeom prst="rect">
            <a:avLst/>
          </a:prstGeom>
          <a:noFill/>
        </p:spPr>
        <p:txBody>
          <a:bodyPr wrap="square">
            <a:spAutoFit/>
          </a:bodyPr>
          <a:lstStyle/>
          <a:p>
            <a:pPr algn="l"/>
            <a:r>
              <a:rPr sz="850" b="0" i="0">
                <a:solidFill>
                  <a:srgbClr val="9AA3B8"/>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Assembly BOM Rollup</a:t>
            </a:r>
          </a:p>
        </p:txBody>
      </p:sp>
      <p:sp>
        <p:nvSpPr>
          <p:cNvPr id="26" name="TextBox 25"/>
          <p:cNvSpPr txBox="1"/>
          <p:nvPr/>
        </p:nvSpPr>
        <p:spPr>
          <a:xfrm>
            <a:off x="539496" y="3575304"/>
            <a:ext cx="3566159" cy="868680"/>
          </a:xfrm>
          <a:prstGeom prst="rect">
            <a:avLst/>
          </a:prstGeom>
          <a:noFill/>
        </p:spPr>
        <p:txBody>
          <a:bodyPr wrap="square">
            <a:spAutoFit/>
          </a:bodyPr>
          <a:lstStyle/>
          <a:p>
            <a:pPr algn="l"/>
            <a:r>
              <a:rPr sz="850" b="0" i="0">
                <a:solidFill>
                  <a:srgbClr val="9AA3B8"/>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Learning Curve / Wright's Law</a:t>
            </a:r>
          </a:p>
        </p:txBody>
      </p:sp>
      <p:sp>
        <p:nvSpPr>
          <p:cNvPr id="30" name="TextBox 29"/>
          <p:cNvSpPr txBox="1"/>
          <p:nvPr/>
        </p:nvSpPr>
        <p:spPr>
          <a:xfrm>
            <a:off x="4379975" y="3575304"/>
            <a:ext cx="3566159" cy="868680"/>
          </a:xfrm>
          <a:prstGeom prst="rect">
            <a:avLst/>
          </a:prstGeom>
          <a:noFill/>
        </p:spPr>
        <p:txBody>
          <a:bodyPr wrap="square">
            <a:spAutoFit/>
          </a:bodyPr>
          <a:lstStyle/>
          <a:p>
            <a:pPr algn="l"/>
            <a:r>
              <a:rPr sz="850" b="0" i="0">
                <a:solidFill>
                  <a:srgbClr val="9AA3B8"/>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Quote Comparison</a:t>
            </a:r>
          </a:p>
        </p:txBody>
      </p:sp>
      <p:sp>
        <p:nvSpPr>
          <p:cNvPr id="34" name="TextBox 33"/>
          <p:cNvSpPr txBox="1"/>
          <p:nvPr/>
        </p:nvSpPr>
        <p:spPr>
          <a:xfrm>
            <a:off x="8220454" y="3575304"/>
            <a:ext cx="3566159" cy="868680"/>
          </a:xfrm>
          <a:prstGeom prst="rect">
            <a:avLst/>
          </a:prstGeom>
          <a:noFill/>
        </p:spPr>
        <p:txBody>
          <a:bodyPr wrap="square">
            <a:spAutoFit/>
          </a:bodyPr>
          <a:lstStyle/>
          <a:p>
            <a:pPr algn="l"/>
            <a:r>
              <a:rPr sz="850" b="0" i="0">
                <a:solidFill>
                  <a:srgbClr val="9AA3B8"/>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DFM / DFA Intelligence</a:t>
            </a:r>
          </a:p>
        </p:txBody>
      </p:sp>
      <p:sp>
        <p:nvSpPr>
          <p:cNvPr id="38" name="TextBox 37"/>
          <p:cNvSpPr txBox="1"/>
          <p:nvPr/>
        </p:nvSpPr>
        <p:spPr>
          <a:xfrm>
            <a:off x="539496" y="4992624"/>
            <a:ext cx="3566159" cy="868680"/>
          </a:xfrm>
          <a:prstGeom prst="rect">
            <a:avLst/>
          </a:prstGeom>
          <a:noFill/>
        </p:spPr>
        <p:txBody>
          <a:bodyPr wrap="square">
            <a:spAutoFit/>
          </a:bodyPr>
          <a:lstStyle/>
          <a:p>
            <a:pPr algn="l"/>
            <a:r>
              <a:rPr sz="850" b="0" i="0">
                <a:solidFill>
                  <a:srgbClr val="9AA3B8"/>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20 Regions · 10 Currencies</a:t>
            </a:r>
          </a:p>
        </p:txBody>
      </p:sp>
      <p:sp>
        <p:nvSpPr>
          <p:cNvPr id="42" name="TextBox 41"/>
          <p:cNvSpPr txBox="1"/>
          <p:nvPr/>
        </p:nvSpPr>
        <p:spPr>
          <a:xfrm>
            <a:off x="4379975" y="4992624"/>
            <a:ext cx="3566159" cy="868680"/>
          </a:xfrm>
          <a:prstGeom prst="rect">
            <a:avLst/>
          </a:prstGeom>
          <a:noFill/>
        </p:spPr>
        <p:txBody>
          <a:bodyPr wrap="square">
            <a:spAutoFit/>
          </a:bodyPr>
          <a:lstStyle/>
          <a:p>
            <a:pPr algn="l"/>
            <a:r>
              <a:rPr sz="850" b="0" i="0">
                <a:solidFill>
                  <a:srgbClr val="9AA3B8"/>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Export, Scenarios &amp; Team Sync</a:t>
            </a:r>
          </a:p>
        </p:txBody>
      </p:sp>
      <p:sp>
        <p:nvSpPr>
          <p:cNvPr id="46" name="TextBox 45"/>
          <p:cNvSpPr txBox="1"/>
          <p:nvPr/>
        </p:nvSpPr>
        <p:spPr>
          <a:xfrm>
            <a:off x="8220454" y="4992624"/>
            <a:ext cx="3566159" cy="868680"/>
          </a:xfrm>
          <a:prstGeom prst="rect">
            <a:avLst/>
          </a:prstGeom>
          <a:noFill/>
        </p:spPr>
        <p:txBody>
          <a:bodyPr wrap="square">
            <a:spAutoFit/>
          </a:bodyPr>
          <a:lstStyle/>
          <a:p>
            <a:pPr algn="l"/>
            <a:r>
              <a:rPr sz="850" b="0" i="0">
                <a:solidFill>
                  <a:srgbClr val="9AA3B8"/>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4F8EF7"/>
                </a:solidFill>
              </a:rPr>
              <a:t>How It Works</a:t>
            </a:r>
          </a:p>
        </p:txBody>
      </p:sp>
      <p:sp>
        <p:nvSpPr>
          <p:cNvPr id="12" name="Rectangle 11"/>
          <p:cNvSpPr/>
          <p:nvPr/>
        </p:nvSpPr>
        <p:spPr>
          <a:xfrm>
            <a:off x="411480" y="2148840"/>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F0F2F8"/>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9AA3B8"/>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F0F2F8"/>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9AA3B8"/>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F0F2F8"/>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9AA3B8"/>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F0F2F8"/>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9AA3B8"/>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498848"/>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4F8EF7"/>
                </a:solidFill>
              </a:rPr>
              <a:t>●  CostVision AI Agent</a:t>
            </a:r>
          </a:p>
        </p:txBody>
      </p:sp>
      <p:sp>
        <p:nvSpPr>
          <p:cNvPr id="31" name="Rectangle 30"/>
          <p:cNvSpPr/>
          <p:nvPr/>
        </p:nvSpPr>
        <p:spPr>
          <a:xfrm>
            <a:off x="6163056" y="2231136"/>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65760"/>
          </a:xfrm>
          <a:prstGeom prst="rect">
            <a:avLst/>
          </a:prstGeom>
          <a:noFill/>
        </p:spPr>
        <p:txBody>
          <a:bodyPr wrap="square">
            <a:spAutoFit/>
          </a:bodyPr>
          <a:lstStyle/>
          <a:p>
            <a:pPr algn="l"/>
            <a:r>
              <a:rPr sz="750" b="0" i="0">
                <a:solidFill>
                  <a:srgbClr val="9AA3B8"/>
                </a:solidFill>
              </a:rPr>
              <a:t>You: Describe a 4-layer FR4 PCB, 100×80mm, ENIG finish, flying probe test, 10,000/yr, UK manufacture</a:t>
            </a:r>
          </a:p>
        </p:txBody>
      </p:sp>
      <p:sp>
        <p:nvSpPr>
          <p:cNvPr id="33" name="Rectangle 32"/>
          <p:cNvSpPr/>
          <p:nvPr/>
        </p:nvSpPr>
        <p:spPr>
          <a:xfrm>
            <a:off x="6163056" y="2761488"/>
            <a:ext cx="5504688" cy="1463040"/>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816352"/>
            <a:ext cx="5303520" cy="1371600"/>
          </a:xfrm>
          <a:prstGeom prst="rect">
            <a:avLst/>
          </a:prstGeom>
          <a:noFill/>
        </p:spPr>
        <p:txBody>
          <a:bodyPr wrap="square">
            <a:spAutoFit/>
          </a:bodyPr>
          <a:lstStyle/>
          <a:p>
            <a:pPr algn="l"/>
            <a:r>
              <a:rPr sz="750" b="0" i="0">
                <a:solidFill>
                  <a:srgbClr val="F0F2F8"/>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297680"/>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352544"/>
            <a:ext cx="5303520" cy="365760"/>
          </a:xfrm>
          <a:prstGeom prst="rect">
            <a:avLst/>
          </a:prstGeom>
          <a:noFill/>
        </p:spPr>
        <p:txBody>
          <a:bodyPr wrap="square">
            <a:spAutoFit/>
          </a:bodyPr>
          <a:lstStyle/>
          <a:p>
            <a:pPr algn="l"/>
            <a:r>
              <a:rPr sz="750" b="0" i="0">
                <a:solidFill>
                  <a:srgbClr val="9AA3B8"/>
                </a:solidFill>
              </a:rPr>
              <a:t>You: What is the should-cost?</a:t>
            </a:r>
          </a:p>
        </p:txBody>
      </p:sp>
      <p:sp>
        <p:nvSpPr>
          <p:cNvPr id="37" name="Rectangle 36"/>
          <p:cNvSpPr/>
          <p:nvPr/>
        </p:nvSpPr>
        <p:spPr>
          <a:xfrm>
            <a:off x="6163056" y="4828032"/>
            <a:ext cx="5504688" cy="1261872"/>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882896"/>
            <a:ext cx="5303520" cy="1170432"/>
          </a:xfrm>
          <a:prstGeom prst="rect">
            <a:avLst/>
          </a:prstGeom>
          <a:noFill/>
        </p:spPr>
        <p:txBody>
          <a:bodyPr wrap="square">
            <a:spAutoFit/>
          </a:bodyPr>
          <a:lstStyle/>
          <a:p>
            <a:pPr algn="l"/>
            <a:r>
              <a:rPr sz="750" b="0" i="0">
                <a:solidFill>
                  <a:srgbClr val="F0F2F8"/>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5833872"/>
            <a:ext cx="5760720" cy="228600"/>
          </a:xfrm>
          <a:prstGeom prst="rect">
            <a:avLst/>
          </a:prstGeom>
          <a:noFill/>
        </p:spPr>
        <p:txBody>
          <a:bodyPr wrap="square">
            <a:spAutoFit/>
          </a:bodyPr>
          <a:lstStyle/>
          <a:p>
            <a:pPr algn="l"/>
            <a:r>
              <a:rPr sz="850" b="1" i="0">
                <a:solidFill>
                  <a:srgbClr val="10B981"/>
                </a:solidFill>
              </a:rPr>
              <a:t>Key Benefits</a:t>
            </a:r>
          </a:p>
        </p:txBody>
      </p:sp>
      <p:sp>
        <p:nvSpPr>
          <p:cNvPr id="40" name="TextBox 39"/>
          <p:cNvSpPr txBox="1"/>
          <p:nvPr/>
        </p:nvSpPr>
        <p:spPr>
          <a:xfrm>
            <a:off x="6126480" y="6099048"/>
            <a:ext cx="2651760" cy="228600"/>
          </a:xfrm>
          <a:prstGeom prst="rect">
            <a:avLst/>
          </a:prstGeom>
          <a:noFill/>
        </p:spPr>
        <p:txBody>
          <a:bodyPr wrap="square">
            <a:spAutoFit/>
          </a:bodyPr>
          <a:lstStyle/>
          <a:p>
            <a:pPr algn="l"/>
            <a:r>
              <a:rPr sz="750" b="0" i="0">
                <a:solidFill>
                  <a:srgbClr val="9AA3B8"/>
                </a:solidFill>
                <a:latin typeface="Segoe UI Emoji"/>
              </a:rPr>
              <a:t>⚡</a:t>
            </a:r>
            <a:r>
              <a:rPr sz="750" b="0" i="0">
                <a:solidFill>
                  <a:srgbClr val="9AA3B8"/>
                </a:solidFill>
              </a:rPr>
              <a:t> Zero manual form-filling</a:t>
            </a:r>
          </a:p>
        </p:txBody>
      </p:sp>
      <p:sp>
        <p:nvSpPr>
          <p:cNvPr id="41" name="TextBox 40"/>
          <p:cNvSpPr txBox="1"/>
          <p:nvPr/>
        </p:nvSpPr>
        <p:spPr>
          <a:xfrm>
            <a:off x="8869680" y="6099048"/>
            <a:ext cx="2651760" cy="228600"/>
          </a:xfrm>
          <a:prstGeom prst="rect">
            <a:avLst/>
          </a:prstGeom>
          <a:noFill/>
        </p:spPr>
        <p:txBody>
          <a:bodyPr wrap="square">
            <a:spAutoFit/>
          </a:bodyPr>
          <a:lstStyle/>
          <a:p>
            <a:pPr algn="l"/>
            <a:r>
              <a:rPr sz="750" b="0" i="0">
                <a:solidFill>
                  <a:srgbClr val="9AA3B8"/>
                </a:solidFill>
                <a:latin typeface="Segoe UI Emoji"/>
              </a:rPr>
              <a:t>🎯</a:t>
            </a:r>
            <a:r>
              <a:rPr sz="750" b="0" i="0">
                <a:solidFill>
                  <a:srgbClr val="9AA3B8"/>
                </a:solidFill>
              </a:rPr>
              <a:t> Works for any commodity</a:t>
            </a:r>
          </a:p>
        </p:txBody>
      </p:sp>
      <p:sp>
        <p:nvSpPr>
          <p:cNvPr id="42" name="TextBox 41"/>
          <p:cNvSpPr txBox="1"/>
          <p:nvPr/>
        </p:nvSpPr>
        <p:spPr>
          <a:xfrm>
            <a:off x="6126480" y="6373368"/>
            <a:ext cx="2651760" cy="228600"/>
          </a:xfrm>
          <a:prstGeom prst="rect">
            <a:avLst/>
          </a:prstGeom>
          <a:noFill/>
        </p:spPr>
        <p:txBody>
          <a:bodyPr wrap="square">
            <a:spAutoFit/>
          </a:bodyPr>
          <a:lstStyle/>
          <a:p>
            <a:pPr algn="l"/>
            <a:r>
              <a:rPr sz="750" b="0" i="0">
                <a:solidFill>
                  <a:srgbClr val="9AA3B8"/>
                </a:solidFill>
              </a:rPr>
              <a:t>✓ Validates all AI assumptions</a:t>
            </a:r>
          </a:p>
        </p:txBody>
      </p:sp>
      <p:sp>
        <p:nvSpPr>
          <p:cNvPr id="43" name="TextBox 42"/>
          <p:cNvSpPr txBox="1"/>
          <p:nvPr/>
        </p:nvSpPr>
        <p:spPr>
          <a:xfrm>
            <a:off x="8869680" y="6373368"/>
            <a:ext cx="2651760" cy="228600"/>
          </a:xfrm>
          <a:prstGeom prst="rect">
            <a:avLst/>
          </a:prstGeom>
          <a:noFill/>
        </p:spPr>
        <p:txBody>
          <a:bodyPr wrap="square">
            <a:spAutoFit/>
          </a:bodyPr>
          <a:lstStyle/>
          <a:p>
            <a:pPr algn="l"/>
            <a:r>
              <a:rPr sz="750" b="0" i="0">
                <a:solidFill>
                  <a:srgbClr val="9AA3B8"/>
                </a:solidFill>
                <a:latin typeface="Segoe UI Emoji"/>
              </a:rPr>
              <a:t>📊</a:t>
            </a:r>
            <a:r>
              <a:rPr sz="750" b="0" i="0">
                <a:solidFill>
                  <a:srgbClr val="9AA3B8"/>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828800" cy="502920"/>
          </a:xfrm>
          <a:prstGeom prst="rect">
            <a:avLst/>
          </a:prstGeom>
          <a:noFill/>
        </p:spPr>
        <p:txBody>
          <a:bodyPr wrap="square">
            <a:spAutoFit/>
          </a:bodyPr>
          <a:lstStyle/>
          <a:p>
            <a:pPr algn="ctr"/>
            <a:r>
              <a:rPr sz="2800" b="1" i="0">
                <a:solidFill>
                  <a:srgbClr val="4F8EF7"/>
                </a:solidFill>
              </a:rPr>
              <a:t>10×</a:t>
            </a:r>
          </a:p>
        </p:txBody>
      </p:sp>
      <p:sp>
        <p:nvSpPr>
          <p:cNvPr id="13" name="TextBox 12"/>
          <p:cNvSpPr txBox="1"/>
          <p:nvPr/>
        </p:nvSpPr>
        <p:spPr>
          <a:xfrm>
            <a:off x="411480" y="2377440"/>
            <a:ext cx="1828800" cy="347472"/>
          </a:xfrm>
          <a:prstGeom prst="rect">
            <a:avLst/>
          </a:prstGeom>
          <a:noFill/>
        </p:spPr>
        <p:txBody>
          <a:bodyPr wrap="square">
            <a:spAutoFit/>
          </a:bodyPr>
          <a:lstStyle/>
          <a:p>
            <a:pPr algn="ctr"/>
            <a:r>
              <a:rPr sz="800" b="0" i="0">
                <a:solidFill>
                  <a:srgbClr val="9AA3B8"/>
                </a:solidFill>
              </a:rPr>
              <a:t>Faster than manual costing</a:t>
            </a:r>
          </a:p>
        </p:txBody>
      </p:sp>
      <p:sp>
        <p:nvSpPr>
          <p:cNvPr id="14" name="Rectangle 13"/>
          <p:cNvSpPr/>
          <p:nvPr/>
        </p:nvSpPr>
        <p:spPr>
          <a:xfrm>
            <a:off x="242316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1901952"/>
            <a:ext cx="182880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423160" y="2377440"/>
            <a:ext cx="1828800" cy="347472"/>
          </a:xfrm>
          <a:prstGeom prst="rect">
            <a:avLst/>
          </a:prstGeom>
          <a:noFill/>
        </p:spPr>
        <p:txBody>
          <a:bodyPr wrap="square">
            <a:spAutoFit/>
          </a:bodyPr>
          <a:lstStyle/>
          <a:p>
            <a:pPr algn="ctr"/>
            <a:r>
              <a:rPr sz="800" b="0" i="0">
                <a:solidFill>
                  <a:srgbClr val="9AA3B8"/>
                </a:solidFill>
              </a:rPr>
              <a:t>Typical model accuracy</a:t>
            </a:r>
          </a:p>
        </p:txBody>
      </p:sp>
      <p:sp>
        <p:nvSpPr>
          <p:cNvPr id="17" name="Rectangle 16"/>
          <p:cNvSpPr/>
          <p:nvPr/>
        </p:nvSpPr>
        <p:spPr>
          <a:xfrm>
            <a:off x="443484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1901952"/>
            <a:ext cx="1828800" cy="502920"/>
          </a:xfrm>
          <a:prstGeom prst="rect">
            <a:avLst/>
          </a:prstGeom>
          <a:noFill/>
        </p:spPr>
        <p:txBody>
          <a:bodyPr wrap="square">
            <a:spAutoFit/>
          </a:bodyPr>
          <a:lstStyle/>
          <a:p>
            <a:pPr algn="ctr"/>
            <a:r>
              <a:rPr sz="2800" b="1" i="0">
                <a:solidFill>
                  <a:srgbClr val="F59E0B"/>
                </a:solidFill>
              </a:rPr>
              <a:t>0</a:t>
            </a:r>
          </a:p>
        </p:txBody>
      </p:sp>
      <p:sp>
        <p:nvSpPr>
          <p:cNvPr id="19" name="TextBox 18"/>
          <p:cNvSpPr txBox="1"/>
          <p:nvPr/>
        </p:nvSpPr>
        <p:spPr>
          <a:xfrm>
            <a:off x="4434840" y="2377440"/>
            <a:ext cx="1828800" cy="347472"/>
          </a:xfrm>
          <a:prstGeom prst="rect">
            <a:avLst/>
          </a:prstGeom>
          <a:noFill/>
        </p:spPr>
        <p:txBody>
          <a:bodyPr wrap="square">
            <a:spAutoFit/>
          </a:bodyPr>
          <a:lstStyle/>
          <a:p>
            <a:pPr algn="ctr"/>
            <a:r>
              <a:rPr sz="800" b="0" i="0">
                <a:solidFill>
                  <a:srgbClr val="9AA3B8"/>
                </a:solidFill>
              </a:rPr>
              <a:t>Manual routing steps required</a:t>
            </a:r>
          </a:p>
        </p:txBody>
      </p:sp>
      <p:sp>
        <p:nvSpPr>
          <p:cNvPr id="20" name="Rectangle 19"/>
          <p:cNvSpPr/>
          <p:nvPr/>
        </p:nvSpPr>
        <p:spPr>
          <a:xfrm>
            <a:off x="411480" y="2852928"/>
            <a:ext cx="5486400"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F0F2F8"/>
                </a:solidFill>
              </a:rPr>
              <a:t>What AI Extracts from CAD / Photo</a:t>
            </a:r>
          </a:p>
        </p:txBody>
      </p:sp>
      <p:sp>
        <p:nvSpPr>
          <p:cNvPr id="23" name="Rectangle 22"/>
          <p:cNvSpPr/>
          <p:nvPr/>
        </p:nvSpPr>
        <p:spPr>
          <a:xfrm>
            <a:off x="594360" y="331927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9AA3B8"/>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9AA3B8"/>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9AA3B8"/>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9AA3B8"/>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9AA3B8"/>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9AA3B8"/>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9AA3B8"/>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F0F2F8"/>
                </a:solidFill>
              </a:rPr>
              <a:t>AI Analysis Result — Aluminium Bracket</a:t>
            </a:r>
          </a:p>
        </p:txBody>
      </p:sp>
      <p:sp>
        <p:nvSpPr>
          <p:cNvPr id="40" name="Rectangle 39"/>
          <p:cNvSpPr/>
          <p:nvPr/>
        </p:nvSpPr>
        <p:spPr>
          <a:xfrm>
            <a:off x="640080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5A63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4F8EF7"/>
                </a:solidFill>
              </a:rPr>
              <a:t>Al 6082-T6</a:t>
            </a:r>
          </a:p>
        </p:txBody>
      </p:sp>
      <p:sp>
        <p:nvSpPr>
          <p:cNvPr id="43" name="Rectangle 42"/>
          <p:cNvSpPr/>
          <p:nvPr/>
        </p:nvSpPr>
        <p:spPr>
          <a:xfrm>
            <a:off x="905256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5A63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10B981"/>
                </a:solidFill>
              </a:rPr>
              <a:t>3-Axis CNC Milling + Drilling</a:t>
            </a:r>
          </a:p>
        </p:txBody>
      </p:sp>
      <p:sp>
        <p:nvSpPr>
          <p:cNvPr id="46" name="Rectangle 45"/>
          <p:cNvSpPr/>
          <p:nvPr/>
        </p:nvSpPr>
        <p:spPr>
          <a:xfrm>
            <a:off x="640080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5A63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F0F2F8"/>
                </a:solidFill>
              </a:rPr>
              <a:t>220 × 140 × 85 mm</a:t>
            </a:r>
          </a:p>
        </p:txBody>
      </p:sp>
      <p:sp>
        <p:nvSpPr>
          <p:cNvPr id="49" name="Rectangle 48"/>
          <p:cNvSpPr/>
          <p:nvPr/>
        </p:nvSpPr>
        <p:spPr>
          <a:xfrm>
            <a:off x="905256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5A63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F0F2F8"/>
                </a:solidFill>
              </a:rPr>
              <a:t>0.82 kg</a:t>
            </a:r>
          </a:p>
        </p:txBody>
      </p:sp>
      <p:sp>
        <p:nvSpPr>
          <p:cNvPr id="52" name="Rectangle 51"/>
          <p:cNvSpPr/>
          <p:nvPr/>
        </p:nvSpPr>
        <p:spPr>
          <a:xfrm>
            <a:off x="640080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5A63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F59E0B"/>
                </a:solidFill>
              </a:rPr>
              <a:t>Moderate — 3 setups</a:t>
            </a:r>
          </a:p>
        </p:txBody>
      </p:sp>
      <p:sp>
        <p:nvSpPr>
          <p:cNvPr id="55" name="Rectangle 54"/>
          <p:cNvSpPr/>
          <p:nvPr/>
        </p:nvSpPr>
        <p:spPr>
          <a:xfrm>
            <a:off x="905256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5A63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F59E0B"/>
                </a:solidFill>
              </a:rPr>
              <a:t>1 flag: 3 setups → consolidate</a:t>
            </a:r>
          </a:p>
        </p:txBody>
      </p:sp>
      <p:sp>
        <p:nvSpPr>
          <p:cNvPr id="58" name="Rectangle 57"/>
          <p:cNvSpPr/>
          <p:nvPr/>
        </p:nvSpPr>
        <p:spPr>
          <a:xfrm>
            <a:off x="6400800" y="4754880"/>
            <a:ext cx="5212080" cy="475488"/>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9AA3B8"/>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10B981"/>
                </a:solidFill>
              </a:rPr>
              <a:t>£ 28.40</a:t>
            </a:r>
          </a:p>
        </p:txBody>
      </p:sp>
      <p:sp>
        <p:nvSpPr>
          <p:cNvPr id="61" name="Rectangle 60"/>
          <p:cNvSpPr/>
          <p:nvPr/>
        </p:nvSpPr>
        <p:spPr>
          <a:xfrm>
            <a:off x="6400800" y="5285232"/>
            <a:ext cx="1980590" cy="14630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5A6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50" b="0" i="0">
                <a:solidFill>
                  <a:srgbClr val="5A6380"/>
                </a:solidFill>
              </a:rPr>
              <a:t>■ Mat 38%  ■ Proc 32%  ■ Lab 12%  ■ Tool 8%  ■ OH 10%</a:t>
            </a:r>
          </a:p>
        </p:txBody>
      </p:sp>
      <p:sp>
        <p:nvSpPr>
          <p:cNvPr id="67" name="Rectangle 66"/>
          <p:cNvSpPr/>
          <p:nvPr/>
        </p:nvSpPr>
        <p:spPr>
          <a:xfrm>
            <a:off x="411480" y="1938528"/>
            <a:ext cx="6126480" cy="80467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8640" y="1975104"/>
            <a:ext cx="1371600" cy="228600"/>
          </a:xfrm>
          <a:prstGeom prst="rect">
            <a:avLst/>
          </a:prstGeom>
          <a:noFill/>
        </p:spPr>
        <p:txBody>
          <a:bodyPr wrap="square">
            <a:spAutoFit/>
          </a:bodyPr>
          <a:lstStyle/>
          <a:p>
            <a:pPr algn="l"/>
            <a:r>
              <a:rPr sz="800" b="1" i="0">
                <a:solidFill>
                  <a:srgbClr val="5A6380"/>
                </a:solidFill>
              </a:rPr>
              <a:t>Supported formats:</a:t>
            </a:r>
          </a:p>
        </p:txBody>
      </p:sp>
      <p:sp>
        <p:nvSpPr>
          <p:cNvPr id="69" name="TextBox 68"/>
          <p:cNvSpPr txBox="1"/>
          <p:nvPr/>
        </p:nvSpPr>
        <p:spPr>
          <a:xfrm>
            <a:off x="1920240" y="1993392"/>
            <a:ext cx="4572000" cy="228600"/>
          </a:xfrm>
          <a:prstGeom prst="rect">
            <a:avLst/>
          </a:prstGeom>
          <a:noFill/>
        </p:spPr>
        <p:txBody>
          <a:bodyPr wrap="square">
            <a:spAutoFit/>
          </a:bodyPr>
          <a:lstStyle/>
          <a:p>
            <a:pPr algn="l"/>
            <a:r>
              <a:rPr sz="800" b="0" i="0">
                <a:solidFill>
                  <a:srgbClr val="4F8EF7"/>
                </a:solidFill>
              </a:rPr>
              <a:t>.STEP   .IGES   .STP   .IGS   .JPG   .PNG   .HEIC   (drag-drop or file picker)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292608"/>
          </a:xfrm>
          <a:prstGeom prst="rect">
            <a:avLst/>
          </a:prstGeom>
          <a:noFill/>
        </p:spPr>
        <p:txBody>
          <a:bodyPr wrap="square">
            <a:spAutoFit/>
          </a:bodyPr>
          <a:lstStyle/>
          <a:p>
            <a:pPr algn="l"/>
            <a:r>
              <a:rPr sz="950" b="1" i="0">
                <a:solidFill>
                  <a:srgbClr val="F0F2F8"/>
                </a:solidFill>
              </a:rPr>
              <a:t>Views &amp; Navigation</a:t>
            </a:r>
          </a:p>
        </p:txBody>
      </p:sp>
      <p:sp>
        <p:nvSpPr>
          <p:cNvPr id="14" name="TextBox 13"/>
          <p:cNvSpPr txBox="1"/>
          <p:nvPr/>
        </p:nvSpPr>
        <p:spPr>
          <a:xfrm>
            <a:off x="539496" y="2194560"/>
            <a:ext cx="3456432" cy="1536192"/>
          </a:xfrm>
          <a:prstGeom prst="rect">
            <a:avLst/>
          </a:prstGeom>
          <a:noFill/>
        </p:spPr>
        <p:txBody>
          <a:bodyPr wrap="square">
            <a:spAutoFit/>
          </a:bodyPr>
          <a:lstStyle/>
          <a:p>
            <a:pPr algn="l"/>
            <a:r>
              <a:rPr sz="850" b="0" i="0">
                <a:solidFill>
                  <a:srgbClr val="9AA3B8"/>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292608"/>
          </a:xfrm>
          <a:prstGeom prst="rect">
            <a:avLst/>
          </a:prstGeom>
          <a:noFill/>
        </p:spPr>
        <p:txBody>
          <a:bodyPr wrap="square">
            <a:spAutoFit/>
          </a:bodyPr>
          <a:lstStyle/>
          <a:p>
            <a:pPr algn="l"/>
            <a:r>
              <a:rPr sz="950" b="1" i="0">
                <a:solidFill>
                  <a:srgbClr val="F0F2F8"/>
                </a:solidFill>
              </a:rPr>
              <a:t>Display &amp; DFM Analysis</a:t>
            </a:r>
          </a:p>
        </p:txBody>
      </p:sp>
      <p:sp>
        <p:nvSpPr>
          <p:cNvPr id="18" name="TextBox 17"/>
          <p:cNvSpPr txBox="1"/>
          <p:nvPr/>
        </p:nvSpPr>
        <p:spPr>
          <a:xfrm>
            <a:off x="4398264" y="2194560"/>
            <a:ext cx="3456432" cy="1536192"/>
          </a:xfrm>
          <a:prstGeom prst="rect">
            <a:avLst/>
          </a:prstGeom>
          <a:noFill/>
        </p:spPr>
        <p:txBody>
          <a:bodyPr wrap="square">
            <a:spAutoFit/>
          </a:bodyPr>
          <a:lstStyle/>
          <a:p>
            <a:pPr algn="l"/>
            <a:r>
              <a:rPr sz="850" b="0" i="0">
                <a:solidFill>
                  <a:srgbClr val="9AA3B8"/>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292608"/>
          </a:xfrm>
          <a:prstGeom prst="rect">
            <a:avLst/>
          </a:prstGeom>
          <a:noFill/>
        </p:spPr>
        <p:txBody>
          <a:bodyPr wrap="square">
            <a:spAutoFit/>
          </a:bodyPr>
          <a:lstStyle/>
          <a:p>
            <a:pPr algn="l"/>
            <a:r>
              <a:rPr sz="950" b="1" i="0">
                <a:solidFill>
                  <a:srgbClr val="F0F2F8"/>
                </a:solidFill>
              </a:rPr>
              <a:t>Structure &amp; Assembly</a:t>
            </a:r>
          </a:p>
        </p:txBody>
      </p:sp>
      <p:sp>
        <p:nvSpPr>
          <p:cNvPr id="22" name="TextBox 21"/>
          <p:cNvSpPr txBox="1"/>
          <p:nvPr/>
        </p:nvSpPr>
        <p:spPr>
          <a:xfrm>
            <a:off x="8257032" y="2194560"/>
            <a:ext cx="3456432" cy="1536192"/>
          </a:xfrm>
          <a:prstGeom prst="rect">
            <a:avLst/>
          </a:prstGeom>
          <a:noFill/>
        </p:spPr>
        <p:txBody>
          <a:bodyPr wrap="square">
            <a:spAutoFit/>
          </a:bodyPr>
          <a:lstStyle/>
          <a:p>
            <a:pPr algn="l"/>
            <a:r>
              <a:rPr sz="850" b="0" i="0">
                <a:solidFill>
                  <a:srgbClr val="9AA3B8"/>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292608"/>
          </a:xfrm>
          <a:prstGeom prst="rect">
            <a:avLst/>
          </a:prstGeom>
          <a:noFill/>
        </p:spPr>
        <p:txBody>
          <a:bodyPr wrap="square">
            <a:spAutoFit/>
          </a:bodyPr>
          <a:lstStyle/>
          <a:p>
            <a:pPr algn="l"/>
            <a:r>
              <a:rPr sz="950" b="1" i="0">
                <a:solidFill>
                  <a:srgbClr val="F0F2F8"/>
                </a:solidFill>
              </a:rPr>
              <a:t>Measure &amp; Inspect</a:t>
            </a:r>
          </a:p>
        </p:txBody>
      </p:sp>
      <p:sp>
        <p:nvSpPr>
          <p:cNvPr id="26" name="TextBox 25"/>
          <p:cNvSpPr txBox="1"/>
          <p:nvPr/>
        </p:nvSpPr>
        <p:spPr>
          <a:xfrm>
            <a:off x="539496" y="4370832"/>
            <a:ext cx="3456432" cy="1536192"/>
          </a:xfrm>
          <a:prstGeom prst="rect">
            <a:avLst/>
          </a:prstGeom>
          <a:noFill/>
        </p:spPr>
        <p:txBody>
          <a:bodyPr wrap="square">
            <a:spAutoFit/>
          </a:bodyPr>
          <a:lstStyle/>
          <a:p>
            <a:pPr algn="l"/>
            <a:r>
              <a:rPr sz="850" b="0" i="0">
                <a:solidFill>
                  <a:srgbClr val="9AA3B8"/>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22B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292608"/>
          </a:xfrm>
          <a:prstGeom prst="rect">
            <a:avLst/>
          </a:prstGeom>
          <a:noFill/>
        </p:spPr>
        <p:txBody>
          <a:bodyPr wrap="square">
            <a:spAutoFit/>
          </a:bodyPr>
          <a:lstStyle/>
          <a:p>
            <a:pPr algn="l"/>
            <a:r>
              <a:rPr sz="950" b="1" i="0">
                <a:solidFill>
                  <a:srgbClr val="F0F2F8"/>
                </a:solidFill>
              </a:rPr>
              <a:t>SaaS-grade UX</a:t>
            </a:r>
          </a:p>
        </p:txBody>
      </p:sp>
      <p:sp>
        <p:nvSpPr>
          <p:cNvPr id="30" name="TextBox 29"/>
          <p:cNvSpPr txBox="1"/>
          <p:nvPr/>
        </p:nvSpPr>
        <p:spPr>
          <a:xfrm>
            <a:off x="4398264" y="4370832"/>
            <a:ext cx="3456432" cy="1536192"/>
          </a:xfrm>
          <a:prstGeom prst="rect">
            <a:avLst/>
          </a:prstGeom>
          <a:noFill/>
        </p:spPr>
        <p:txBody>
          <a:bodyPr wrap="square">
            <a:spAutoFit/>
          </a:bodyPr>
          <a:lstStyle/>
          <a:p>
            <a:pPr algn="l"/>
            <a:r>
              <a:rPr sz="850" b="0" i="0">
                <a:solidFill>
                  <a:srgbClr val="9AA3B8"/>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10B981"/>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9AA3B8"/>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9AA3B8"/>
                          </a:solidFill>
                        </a:rPr>
                        <a:t>Auto-captured from geometry (no typing)</a:t>
                      </a:r>
                    </a:p>
                  </a:txBody>
                  <a:tcPr>
                    <a:solidFill>
                      <a:srgbClr val="161923"/>
                    </a:solidFill>
                  </a:tcPr>
                </a:tc>
                <a:tc>
                  <a:txBody>
                    <a:bodyPr/>
                    <a:lstStyle/>
                    <a:p>
                      <a:pPr algn="l"/>
                      <a:r>
                        <a:rPr sz="750" b="1">
                          <a:solidFill>
                            <a:srgbClr val="9AA3B8"/>
                          </a:solidFill>
                        </a:rPr>
                        <a:t>→ Feeds this cost driver</a:t>
                      </a:r>
                    </a:p>
                  </a:txBody>
                  <a:tcPr>
                    <a:solidFill>
                      <a:srgbClr val="161923"/>
                    </a:solidFill>
                  </a:tcPr>
                </a:tc>
              </a:tr>
              <a:tr h="416052">
                <a:tc>
                  <a:txBody>
                    <a:bodyPr/>
                    <a:lstStyle/>
                    <a:p>
                      <a:pPr algn="l"/>
                      <a:r>
                        <a:rPr sz="750" b="1">
                          <a:solidFill>
                            <a:srgbClr val="4F8EF7"/>
                          </a:solidFill>
                        </a:rPr>
                        <a:t>Volume — exact, from the CAD kernel (OCCT)</a:t>
                      </a:r>
                    </a:p>
                  </a:txBody>
                  <a:tcPr>
                    <a:solidFill>
                      <a:srgbClr val="1E2330"/>
                    </a:solidFill>
                  </a:tcPr>
                </a:tc>
                <a:tc>
                  <a:txBody>
                    <a:bodyPr/>
                    <a:lstStyle/>
                    <a:p>
                      <a:pPr algn="l"/>
                      <a:r>
                        <a:rPr sz="750">
                          <a:solidFill>
                            <a:srgbClr val="9AA3B8"/>
                          </a:solidFill>
                        </a:rPr>
                        <a:t>Material mass · stock size</a:t>
                      </a:r>
                    </a:p>
                  </a:txBody>
                  <a:tcPr>
                    <a:solidFill>
                      <a:srgbClr val="1E2330"/>
                    </a:solidFill>
                  </a:tcPr>
                </a:tc>
              </a:tr>
              <a:tr h="416052">
                <a:tc>
                  <a:txBody>
                    <a:bodyPr/>
                    <a:lstStyle/>
                    <a:p>
                      <a:pPr algn="l"/>
                      <a:r>
                        <a:rPr sz="750" b="1">
                          <a:solidFill>
                            <a:srgbClr val="4F8EF7"/>
                          </a:solidFill>
                        </a:rPr>
                        <a:t>Weight per material = volume × density</a:t>
                      </a:r>
                    </a:p>
                  </a:txBody>
                  <a:tcPr>
                    <a:solidFill>
                      <a:srgbClr val="161923"/>
                    </a:solidFill>
                  </a:tcPr>
                </a:tc>
                <a:tc>
                  <a:txBody>
                    <a:bodyPr/>
                    <a:lstStyle/>
                    <a:p>
                      <a:pPr algn="l"/>
                      <a:r>
                        <a:rPr sz="750">
                          <a:solidFill>
                            <a:srgbClr val="9AA3B8"/>
                          </a:solidFill>
                        </a:rPr>
                        <a:t>Raw-material £  (Al / steel / iron / Cu / Ti)</a:t>
                      </a:r>
                    </a:p>
                  </a:txBody>
                  <a:tcPr>
                    <a:solidFill>
                      <a:srgbClr val="161923"/>
                    </a:solidFill>
                  </a:tcPr>
                </a:tc>
              </a:tr>
              <a:tr h="416052">
                <a:tc>
                  <a:txBody>
                    <a:bodyPr/>
                    <a:lstStyle/>
                    <a:p>
                      <a:pPr algn="l"/>
                      <a:r>
                        <a:rPr sz="750" b="1">
                          <a:solidFill>
                            <a:srgbClr val="4F8EF7"/>
                          </a:solidFill>
                        </a:rPr>
                        <a:t>Bounding box / envelope</a:t>
                      </a:r>
                    </a:p>
                  </a:txBody>
                  <a:tcPr>
                    <a:solidFill>
                      <a:srgbClr val="1E2330"/>
                    </a:solidFill>
                  </a:tcPr>
                </a:tc>
                <a:tc>
                  <a:txBody>
                    <a:bodyPr/>
                    <a:lstStyle/>
                    <a:p>
                      <a:pPr algn="l"/>
                      <a:r>
                        <a:rPr sz="750">
                          <a:solidFill>
                            <a:srgbClr val="9AA3B8"/>
                          </a:solidFill>
                        </a:rPr>
                        <a:t>Machine sizing · stock · setups</a:t>
                      </a:r>
                    </a:p>
                  </a:txBody>
                  <a:tcPr>
                    <a:solidFill>
                      <a:srgbClr val="1E2330"/>
                    </a:solidFill>
                  </a:tcPr>
                </a:tc>
              </a:tr>
              <a:tr h="416052">
                <a:tc>
                  <a:txBody>
                    <a:bodyPr/>
                    <a:lstStyle/>
                    <a:p>
                      <a:pPr algn="l"/>
                      <a:r>
                        <a:rPr sz="750" b="1">
                          <a:solidFill>
                            <a:srgbClr val="4F8EF7"/>
                          </a:solidFill>
                        </a:rPr>
                        <a:t>Body / component count</a:t>
                      </a:r>
                    </a:p>
                  </a:txBody>
                  <a:tcPr>
                    <a:solidFill>
                      <a:srgbClr val="161923"/>
                    </a:solidFill>
                  </a:tcPr>
                </a:tc>
                <a:tc>
                  <a:txBody>
                    <a:bodyPr/>
                    <a:lstStyle/>
                    <a:p>
                      <a:pPr algn="l"/>
                      <a:r>
                        <a:rPr sz="750">
                          <a:solidFill>
                            <a:srgbClr val="9AA3B8"/>
                          </a:solidFill>
                        </a:rPr>
                        <a:t>Assembly cost · BOM line count</a:t>
                      </a:r>
                    </a:p>
                  </a:txBody>
                  <a:tcPr>
                    <a:solidFill>
                      <a:srgbClr val="161923"/>
                    </a:solidFill>
                  </a:tcPr>
                </a:tc>
              </a:tr>
              <a:tr h="416052">
                <a:tc>
                  <a:txBody>
                    <a:bodyPr/>
                    <a:lstStyle/>
                    <a:p>
                      <a:pPr algn="l"/>
                      <a:r>
                        <a:rPr sz="750" b="1">
                          <a:solidFill>
                            <a:srgbClr val="4F8EF7"/>
                          </a:solidFill>
                        </a:rPr>
                        <a:t>Hole &amp; boss table — Ø, depth, count</a:t>
                      </a:r>
                    </a:p>
                  </a:txBody>
                  <a:tcPr>
                    <a:solidFill>
                      <a:srgbClr val="1E2330"/>
                    </a:solidFill>
                  </a:tcPr>
                </a:tc>
                <a:tc>
                  <a:txBody>
                    <a:bodyPr/>
                    <a:lstStyle/>
                    <a:p>
                      <a:pPr algn="l"/>
                      <a:r>
                        <a:rPr sz="750">
                          <a:solidFill>
                            <a:srgbClr val="9AA3B8"/>
                          </a:solidFill>
                        </a:rPr>
                        <a:t>Secondary machining: drill / bore / tap</a:t>
                      </a:r>
                    </a:p>
                  </a:txBody>
                  <a:tcPr>
                    <a:solidFill>
                      <a:srgbClr val="1E2330"/>
                    </a:solidFill>
                  </a:tcPr>
                </a:tc>
              </a:tr>
              <a:tr h="416052">
                <a:tc>
                  <a:txBody>
                    <a:bodyPr/>
                    <a:lstStyle/>
                    <a:p>
                      <a:pPr algn="l"/>
                      <a:r>
                        <a:rPr sz="750" b="1">
                          <a:solidFill>
                            <a:srgbClr val="4F8EF7"/>
                          </a:solidFill>
                        </a:rPr>
                        <a:t>Wall thickness — min / mean / heatmap</a:t>
                      </a:r>
                    </a:p>
                  </a:txBody>
                  <a:tcPr>
                    <a:solidFill>
                      <a:srgbClr val="161923"/>
                    </a:solidFill>
                  </a:tcPr>
                </a:tc>
                <a:tc>
                  <a:txBody>
                    <a:bodyPr/>
                    <a:lstStyle/>
                    <a:p>
                      <a:pPr algn="l"/>
                      <a:r>
                        <a:rPr sz="750">
                          <a:solidFill>
                            <a:srgbClr val="9AA3B8"/>
                          </a:solidFill>
                        </a:rPr>
                        <a:t>Moulding &amp; casting feasibility · cooling</a:t>
                      </a:r>
                    </a:p>
                  </a:txBody>
                  <a:tcPr>
                    <a:solidFill>
                      <a:srgbClr val="161923"/>
                    </a:solidFill>
                  </a:tcPr>
                </a:tc>
              </a:tr>
              <a:tr h="416052">
                <a:tc>
                  <a:txBody>
                    <a:bodyPr/>
                    <a:lstStyle/>
                    <a:p>
                      <a:pPr algn="l"/>
                      <a:r>
                        <a:rPr sz="750" b="1">
                          <a:solidFill>
                            <a:srgbClr val="4F8EF7"/>
                          </a:solidFill>
                        </a:rPr>
                        <a:t>Draft &amp; undercut analysis</a:t>
                      </a:r>
                    </a:p>
                  </a:txBody>
                  <a:tcPr>
                    <a:solidFill>
                      <a:srgbClr val="1E2330"/>
                    </a:solidFill>
                  </a:tcPr>
                </a:tc>
                <a:tc>
                  <a:txBody>
                    <a:bodyPr/>
                    <a:lstStyle/>
                    <a:p>
                      <a:pPr algn="l"/>
                      <a:r>
                        <a:rPr sz="750">
                          <a:solidFill>
                            <a:srgbClr val="9AA3B8"/>
                          </a:solidFill>
                        </a:rPr>
                        <a:t>Tooling complexity — slides for undercuts</a:t>
                      </a:r>
                    </a:p>
                  </a:txBody>
                  <a:tcPr>
                    <a:solidFill>
                      <a:srgbClr val="1E2330"/>
                    </a:solidFill>
                  </a:tcPr>
                </a:tc>
              </a:tr>
              <a:tr h="416052">
                <a:tc>
                  <a:txBody>
                    <a:bodyPr/>
                    <a:lstStyle/>
                    <a:p>
                      <a:pPr algn="l"/>
                      <a:r>
                        <a:rPr sz="750" b="1">
                          <a:solidFill>
                            <a:srgbClr val="4F8EF7"/>
                          </a:solidFill>
                        </a:rPr>
                        <a:t>Face-type areas (planar / cylindrical)</a:t>
                      </a:r>
                    </a:p>
                  </a:txBody>
                  <a:tcPr>
                    <a:solidFill>
                      <a:srgbClr val="161923"/>
                    </a:solidFill>
                  </a:tcPr>
                </a:tc>
                <a:tc>
                  <a:txBody>
                    <a:bodyPr/>
                    <a:lstStyle/>
                    <a:p>
                      <a:pPr algn="l"/>
                      <a:r>
                        <a:rPr sz="750">
                          <a:solidFill>
                            <a:srgbClr val="9AA3B8"/>
                          </a:solidFill>
                        </a:rPr>
                        <a:t>Machining area · paint / coat area</a:t>
                      </a:r>
                    </a:p>
                  </a:txBody>
                  <a:tcPr>
                    <a:solidFill>
                      <a:srgbClr val="161923"/>
                    </a:solidFill>
                  </a:tcPr>
                </a:tc>
              </a:tr>
              <a:tr h="416052">
                <a:tc>
                  <a:txBody>
                    <a:bodyPr/>
                    <a:lstStyle/>
                    <a:p>
                      <a:pPr algn="l"/>
                      <a:r>
                        <a:rPr sz="750" b="1">
                          <a:solidFill>
                            <a:srgbClr val="4F8EF7"/>
                          </a:solidFill>
                        </a:rPr>
                        <a:t>CNC cycle-time &amp; setup estimate</a:t>
                      </a:r>
                    </a:p>
                  </a:txBody>
                  <a:tcPr>
                    <a:solidFill>
                      <a:srgbClr val="1E2330"/>
                    </a:solidFill>
                  </a:tcPr>
                </a:tc>
                <a:tc>
                  <a:txBody>
                    <a:bodyPr/>
                    <a:lstStyle/>
                    <a:p>
                      <a:pPr algn="l"/>
                      <a:r>
                        <a:rPr sz="750">
                          <a:solidFill>
                            <a:srgbClr val="9AA3B8"/>
                          </a:solidFill>
                        </a:rPr>
                        <a:t>Process-time baseline</a:t>
                      </a:r>
                    </a:p>
                  </a:txBody>
                  <a:tcPr>
                    <a:solidFill>
                      <a:srgbClr val="1E2330"/>
                    </a:solidFill>
                  </a:tcPr>
                </a:tc>
              </a:tr>
            </a:tbl>
          </a:graphicData>
        </a:graphic>
      </p:graphicFrame>
      <p:sp>
        <p:nvSpPr>
          <p:cNvPr id="12" name="Rectangle 11"/>
          <p:cNvSpPr/>
          <p:nvPr/>
        </p:nvSpPr>
        <p:spPr>
          <a:xfrm>
            <a:off x="7360920" y="1874519"/>
            <a:ext cx="4434840" cy="248716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F0F2F8"/>
                </a:solidFill>
                <a:latin typeface="Segoe UI Emoji"/>
              </a:rPr>
              <a:t>⚙</a:t>
            </a:r>
            <a:r>
              <a:rPr sz="1000" b="1" i="0">
                <a:solidFill>
                  <a:srgbClr val="F0F2F8"/>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9AA3B8"/>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1E2330"/>
          </a:solidFill>
          <a:ln w="1143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10B981"/>
                </a:solidFill>
                <a:latin typeface="Segoe UI Emoji"/>
              </a:rPr>
              <a:t>🔒</a:t>
            </a:r>
            <a:r>
              <a:rPr sz="1000" b="1" i="0">
                <a:solidFill>
                  <a:srgbClr val="10B981"/>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9AA3B8"/>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9AA3B8"/>
                </a:solidFill>
              </a:rPr>
              <a:t>Entry Point A: </a:t>
            </a:r>
            <a:r>
              <a:rPr sz="900" b="0" i="0">
                <a:solidFill>
                  <a:srgbClr val="9AA3B8"/>
                </a:solidFill>
                <a:latin typeface="Segoe UI Emoji"/>
              </a:rPr>
              <a:t>🤖</a:t>
            </a:r>
            <a:r>
              <a:rPr sz="900" b="0" i="0">
                <a:solidFill>
                  <a:srgbClr val="9AA3B8"/>
                </a:solidFill>
              </a:rPr>
              <a:t> AI Agent (plain English description)   |   Entry Point B: </a:t>
            </a:r>
            <a:r>
              <a:rPr sz="900" b="0" i="0">
                <a:solidFill>
                  <a:srgbClr val="9AA3B8"/>
                </a:solidFill>
                <a:latin typeface="Segoe UI Emoji"/>
              </a:rPr>
              <a:t>📐</a:t>
            </a:r>
            <a:r>
              <a:rPr sz="900" b="0" i="0">
                <a:solidFill>
                  <a:srgbClr val="9AA3B8"/>
                </a:solidFill>
              </a:rPr>
              <a:t> CAD / Photo Upload   |   Entry Point C: </a:t>
            </a:r>
            <a:r>
              <a:rPr sz="900" b="0" i="0">
                <a:solidFill>
                  <a:srgbClr val="9AA3B8"/>
                </a:solidFill>
                <a:latin typeface="Segoe UI Emoji"/>
              </a:rPr>
              <a:t>✏️</a:t>
            </a:r>
            <a:r>
              <a:rPr sz="900" b="0" i="0">
                <a:solidFill>
                  <a:srgbClr val="9AA3B8"/>
                </a:solidFill>
              </a:rPr>
              <a:t> Manual Form Entry</a:t>
            </a:r>
          </a:p>
        </p:txBody>
      </p:sp>
      <p:sp>
        <p:nvSpPr>
          <p:cNvPr id="13" name="Rectangle 12"/>
          <p:cNvSpPr/>
          <p:nvPr/>
        </p:nvSpPr>
        <p:spPr>
          <a:xfrm>
            <a:off x="411480"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4F8EF7"/>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F0F2F8"/>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50" b="0" i="0">
                <a:solidFill>
                  <a:srgbClr val="9AA3B8"/>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4F8EF7"/>
                </a:solidFill>
              </a:rPr>
              <a:t>→</a:t>
            </a:r>
          </a:p>
        </p:txBody>
      </p:sp>
      <p:sp>
        <p:nvSpPr>
          <p:cNvPr id="20" name="Rectangle 19"/>
          <p:cNvSpPr/>
          <p:nvPr/>
        </p:nvSpPr>
        <p:spPr>
          <a:xfrm>
            <a:off x="183257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4F8EF7"/>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F0F2F8"/>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50" b="0" i="0">
                <a:solidFill>
                  <a:srgbClr val="9AA3B8"/>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4F8EF7"/>
                </a:solidFill>
              </a:rPr>
              <a:t>→</a:t>
            </a:r>
          </a:p>
        </p:txBody>
      </p:sp>
      <p:sp>
        <p:nvSpPr>
          <p:cNvPr id="27" name="Rectangle 26"/>
          <p:cNvSpPr/>
          <p:nvPr/>
        </p:nvSpPr>
        <p:spPr>
          <a:xfrm>
            <a:off x="325366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7C3AED"/>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F0F2F8"/>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50" b="0" i="0">
                <a:solidFill>
                  <a:srgbClr val="9AA3B8"/>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4F8EF7"/>
                </a:solidFill>
              </a:rPr>
              <a:t>→</a:t>
            </a:r>
          </a:p>
        </p:txBody>
      </p:sp>
      <p:sp>
        <p:nvSpPr>
          <p:cNvPr id="34" name="Rectangle 33"/>
          <p:cNvSpPr/>
          <p:nvPr/>
        </p:nvSpPr>
        <p:spPr>
          <a:xfrm>
            <a:off x="4674755"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7C3AED"/>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F0F2F8"/>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50" b="0" i="0">
                <a:solidFill>
                  <a:srgbClr val="9AA3B8"/>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4F8EF7"/>
                </a:solidFill>
              </a:rPr>
              <a:t>→</a:t>
            </a:r>
          </a:p>
        </p:txBody>
      </p:sp>
      <p:sp>
        <p:nvSpPr>
          <p:cNvPr id="41" name="Rectangle 40"/>
          <p:cNvSpPr/>
          <p:nvPr/>
        </p:nvSpPr>
        <p:spPr>
          <a:xfrm>
            <a:off x="6095847"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F59E0B"/>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F0F2F8"/>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50" b="0" i="0">
                <a:solidFill>
                  <a:srgbClr val="9AA3B8"/>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4F8EF7"/>
                </a:solidFill>
              </a:rPr>
              <a:t>→</a:t>
            </a:r>
          </a:p>
        </p:txBody>
      </p:sp>
      <p:sp>
        <p:nvSpPr>
          <p:cNvPr id="48" name="Rectangle 47"/>
          <p:cNvSpPr/>
          <p:nvPr/>
        </p:nvSpPr>
        <p:spPr>
          <a:xfrm>
            <a:off x="7516939"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10B981"/>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F0F2F8"/>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50" b="0" i="0">
                <a:solidFill>
                  <a:srgbClr val="9AA3B8"/>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4F8EF7"/>
                </a:solidFill>
              </a:rPr>
              <a:t>→</a:t>
            </a:r>
          </a:p>
        </p:txBody>
      </p:sp>
      <p:sp>
        <p:nvSpPr>
          <p:cNvPr id="55" name="Rectangle 54"/>
          <p:cNvSpPr/>
          <p:nvPr/>
        </p:nvSpPr>
        <p:spPr>
          <a:xfrm>
            <a:off x="893803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10B981"/>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F0F2F8"/>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50" b="0" i="0">
                <a:solidFill>
                  <a:srgbClr val="9AA3B8"/>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4F8EF7"/>
                </a:solidFill>
              </a:rPr>
              <a:t>→</a:t>
            </a:r>
          </a:p>
        </p:txBody>
      </p:sp>
      <p:sp>
        <p:nvSpPr>
          <p:cNvPr id="62" name="Rectangle 61"/>
          <p:cNvSpPr/>
          <p:nvPr/>
        </p:nvSpPr>
        <p:spPr>
          <a:xfrm>
            <a:off x="1035912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4F8EF7"/>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F0F2F8"/>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50" b="0" i="0">
                <a:solidFill>
                  <a:srgbClr val="9AA3B8"/>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Minutes, not weeks</a:t>
            </a:r>
          </a:p>
        </p:txBody>
      </p:sp>
      <p:sp>
        <p:nvSpPr>
          <p:cNvPr id="70" name="Rectangle 69"/>
          <p:cNvSpPr/>
          <p:nvPr/>
        </p:nvSpPr>
        <p:spPr>
          <a:xfrm>
            <a:off x="203911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4F8EF7"/>
                </a:solidFill>
              </a:rPr>
              <a:t>✓ Auditable assumptions</a:t>
            </a:r>
          </a:p>
        </p:txBody>
      </p:sp>
      <p:sp>
        <p:nvSpPr>
          <p:cNvPr id="72" name="Rectangle 71"/>
          <p:cNvSpPr/>
          <p:nvPr/>
        </p:nvSpPr>
        <p:spPr>
          <a:xfrm>
            <a:off x="3666744"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Claude AI powered</a:t>
            </a:r>
          </a:p>
        </p:txBody>
      </p:sp>
      <p:sp>
        <p:nvSpPr>
          <p:cNvPr id="74" name="Rectangle 73"/>
          <p:cNvSpPr/>
          <p:nvPr/>
        </p:nvSpPr>
        <p:spPr>
          <a:xfrm>
            <a:off x="5294376"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20 regions</a:t>
            </a:r>
          </a:p>
        </p:txBody>
      </p:sp>
      <p:sp>
        <p:nvSpPr>
          <p:cNvPr id="76" name="Rectangle 75"/>
          <p:cNvSpPr/>
          <p:nvPr/>
        </p:nvSpPr>
        <p:spPr>
          <a:xfrm>
            <a:off x="6922008"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A/B/C scenarios</a:t>
            </a:r>
          </a:p>
        </p:txBody>
      </p:sp>
      <p:sp>
        <p:nvSpPr>
          <p:cNvPr id="78" name="Rectangle 77"/>
          <p:cNvSpPr/>
          <p:nvPr/>
        </p:nvSpPr>
        <p:spPr>
          <a:xfrm>
            <a:off x="854964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Assembly BOM</a:t>
            </a:r>
          </a:p>
        </p:txBody>
      </p:sp>
      <p:sp>
        <p:nvSpPr>
          <p:cNvPr id="80" name="Rectangle 79"/>
          <p:cNvSpPr/>
          <p:nvPr/>
        </p:nvSpPr>
        <p:spPr>
          <a:xfrm>
            <a:off x="1017727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22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13" name="TextBox 12"/>
          <p:cNvSpPr txBox="1"/>
          <p:nvPr/>
        </p:nvSpPr>
        <p:spPr>
          <a:xfrm>
            <a:off x="411480" y="2121408"/>
            <a:ext cx="1844497" cy="201168"/>
          </a:xfrm>
          <a:prstGeom prst="rect">
            <a:avLst/>
          </a:prstGeom>
          <a:noFill/>
        </p:spPr>
        <p:txBody>
          <a:bodyPr wrap="square">
            <a:spAutoFit/>
          </a:bodyPr>
          <a:lstStyle/>
          <a:p>
            <a:pPr algn="ctr"/>
            <a:r>
              <a:rPr sz="800" b="1" i="0">
                <a:solidFill>
                  <a:srgbClr val="F0F2F8"/>
                </a:solidFill>
              </a:rPr>
              <a:t>CNC Machining</a:t>
            </a:r>
          </a:p>
        </p:txBody>
      </p:sp>
      <p:sp>
        <p:nvSpPr>
          <p:cNvPr id="14" name="TextBox 13"/>
          <p:cNvSpPr txBox="1"/>
          <p:nvPr/>
        </p:nvSpPr>
        <p:spPr>
          <a:xfrm>
            <a:off x="411480" y="2322576"/>
            <a:ext cx="1844497" cy="457200"/>
          </a:xfrm>
          <a:prstGeom prst="rect">
            <a:avLst/>
          </a:prstGeom>
          <a:noFill/>
        </p:spPr>
        <p:txBody>
          <a:bodyPr wrap="square">
            <a:spAutoFit/>
          </a:bodyPr>
          <a:lstStyle/>
          <a:p>
            <a:pPr algn="ctr"/>
            <a:r>
              <a:rPr sz="750" b="0" i="0">
                <a:solidFill>
                  <a:srgbClr val="5A6380"/>
                </a:solidFill>
              </a:rPr>
              <a:t>3/4/5-axis, turning, grinding</a:t>
            </a:r>
          </a:p>
        </p:txBody>
      </p:sp>
      <p:sp>
        <p:nvSpPr>
          <p:cNvPr id="15" name="Rectangle 14"/>
          <p:cNvSpPr/>
          <p:nvPr/>
        </p:nvSpPr>
        <p:spPr>
          <a:xfrm>
            <a:off x="2306269"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06269"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17" name="TextBox 16"/>
          <p:cNvSpPr txBox="1"/>
          <p:nvPr/>
        </p:nvSpPr>
        <p:spPr>
          <a:xfrm>
            <a:off x="2306269" y="2121408"/>
            <a:ext cx="1844497" cy="201168"/>
          </a:xfrm>
          <a:prstGeom prst="rect">
            <a:avLst/>
          </a:prstGeom>
          <a:noFill/>
        </p:spPr>
        <p:txBody>
          <a:bodyPr wrap="square">
            <a:spAutoFit/>
          </a:bodyPr>
          <a:lstStyle/>
          <a:p>
            <a:pPr algn="ctr"/>
            <a:r>
              <a:rPr sz="800" b="1" i="0">
                <a:solidFill>
                  <a:srgbClr val="F0F2F8"/>
                </a:solidFill>
              </a:rPr>
              <a:t>Casting</a:t>
            </a:r>
          </a:p>
        </p:txBody>
      </p:sp>
      <p:sp>
        <p:nvSpPr>
          <p:cNvPr id="18" name="TextBox 17"/>
          <p:cNvSpPr txBox="1"/>
          <p:nvPr/>
        </p:nvSpPr>
        <p:spPr>
          <a:xfrm>
            <a:off x="2306269" y="2322576"/>
            <a:ext cx="1844497" cy="457200"/>
          </a:xfrm>
          <a:prstGeom prst="rect">
            <a:avLst/>
          </a:prstGeom>
          <a:noFill/>
        </p:spPr>
        <p:txBody>
          <a:bodyPr wrap="square">
            <a:spAutoFit/>
          </a:bodyPr>
          <a:lstStyle/>
          <a:p>
            <a:pPr algn="ctr"/>
            <a:r>
              <a:rPr sz="750" b="0" i="0">
                <a:solidFill>
                  <a:srgbClr val="5A6380"/>
                </a:solidFill>
              </a:rPr>
              <a:t>HPDC, gravity, investment, sand</a:t>
            </a:r>
          </a:p>
        </p:txBody>
      </p:sp>
      <p:sp>
        <p:nvSpPr>
          <p:cNvPr id="19" name="Rectangle 18"/>
          <p:cNvSpPr/>
          <p:nvPr/>
        </p:nvSpPr>
        <p:spPr>
          <a:xfrm>
            <a:off x="4201058"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1058"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21" name="TextBox 20"/>
          <p:cNvSpPr txBox="1"/>
          <p:nvPr/>
        </p:nvSpPr>
        <p:spPr>
          <a:xfrm>
            <a:off x="4201058" y="2121408"/>
            <a:ext cx="1844497" cy="201168"/>
          </a:xfrm>
          <a:prstGeom prst="rect">
            <a:avLst/>
          </a:prstGeom>
          <a:noFill/>
        </p:spPr>
        <p:txBody>
          <a:bodyPr wrap="square">
            <a:spAutoFit/>
          </a:bodyPr>
          <a:lstStyle/>
          <a:p>
            <a:pPr algn="ctr"/>
            <a:r>
              <a:rPr sz="800" b="1" i="0">
                <a:solidFill>
                  <a:srgbClr val="F0F2F8"/>
                </a:solidFill>
              </a:rPr>
              <a:t>Cast + Machine</a:t>
            </a:r>
          </a:p>
        </p:txBody>
      </p:sp>
      <p:sp>
        <p:nvSpPr>
          <p:cNvPr id="22" name="TextBox 21"/>
          <p:cNvSpPr txBox="1"/>
          <p:nvPr/>
        </p:nvSpPr>
        <p:spPr>
          <a:xfrm>
            <a:off x="4201058" y="2322576"/>
            <a:ext cx="1844497" cy="457200"/>
          </a:xfrm>
          <a:prstGeom prst="rect">
            <a:avLst/>
          </a:prstGeom>
          <a:noFill/>
        </p:spPr>
        <p:txBody>
          <a:bodyPr wrap="square">
            <a:spAutoFit/>
          </a:bodyPr>
          <a:lstStyle/>
          <a:p>
            <a:pPr algn="ctr"/>
            <a:r>
              <a:rPr sz="750" b="0" i="0">
                <a:solidFill>
                  <a:srgbClr val="5A6380"/>
                </a:solidFill>
              </a:rPr>
              <a:t>Casting + post-ops + HT</a:t>
            </a:r>
          </a:p>
        </p:txBody>
      </p:sp>
      <p:sp>
        <p:nvSpPr>
          <p:cNvPr id="23" name="Rectangle 22"/>
          <p:cNvSpPr/>
          <p:nvPr/>
        </p:nvSpPr>
        <p:spPr>
          <a:xfrm>
            <a:off x="6095847"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95847"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25" name="TextBox 24"/>
          <p:cNvSpPr txBox="1"/>
          <p:nvPr/>
        </p:nvSpPr>
        <p:spPr>
          <a:xfrm>
            <a:off x="6095847" y="2121408"/>
            <a:ext cx="1844497" cy="201168"/>
          </a:xfrm>
          <a:prstGeom prst="rect">
            <a:avLst/>
          </a:prstGeom>
          <a:noFill/>
        </p:spPr>
        <p:txBody>
          <a:bodyPr wrap="square">
            <a:spAutoFit/>
          </a:bodyPr>
          <a:lstStyle/>
          <a:p>
            <a:pPr algn="ctr"/>
            <a:r>
              <a:rPr sz="800" b="1" i="0">
                <a:solidFill>
                  <a:srgbClr val="F0F2F8"/>
                </a:solidFill>
              </a:rPr>
              <a:t>Forging</a:t>
            </a:r>
          </a:p>
        </p:txBody>
      </p:sp>
      <p:sp>
        <p:nvSpPr>
          <p:cNvPr id="26" name="TextBox 25"/>
          <p:cNvSpPr txBox="1"/>
          <p:nvPr/>
        </p:nvSpPr>
        <p:spPr>
          <a:xfrm>
            <a:off x="6095847" y="2322576"/>
            <a:ext cx="1844497" cy="457200"/>
          </a:xfrm>
          <a:prstGeom prst="rect">
            <a:avLst/>
          </a:prstGeom>
          <a:noFill/>
        </p:spPr>
        <p:txBody>
          <a:bodyPr wrap="square">
            <a:spAutoFit/>
          </a:bodyPr>
          <a:lstStyle/>
          <a:p>
            <a:pPr algn="ctr"/>
            <a:r>
              <a:rPr sz="750" b="0" i="0">
                <a:solidFill>
                  <a:srgbClr val="5A6380"/>
                </a:solidFill>
              </a:rPr>
              <a:t>Hot, warm, cold die forging</a:t>
            </a:r>
          </a:p>
        </p:txBody>
      </p:sp>
      <p:sp>
        <p:nvSpPr>
          <p:cNvPr id="27" name="Rectangle 26"/>
          <p:cNvSpPr/>
          <p:nvPr/>
        </p:nvSpPr>
        <p:spPr>
          <a:xfrm>
            <a:off x="7990636"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90636"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29" name="TextBox 28"/>
          <p:cNvSpPr txBox="1"/>
          <p:nvPr/>
        </p:nvSpPr>
        <p:spPr>
          <a:xfrm>
            <a:off x="7990636" y="2121408"/>
            <a:ext cx="1844497" cy="201168"/>
          </a:xfrm>
          <a:prstGeom prst="rect">
            <a:avLst/>
          </a:prstGeom>
          <a:noFill/>
        </p:spPr>
        <p:txBody>
          <a:bodyPr wrap="square">
            <a:spAutoFit/>
          </a:bodyPr>
          <a:lstStyle/>
          <a:p>
            <a:pPr algn="ctr"/>
            <a:r>
              <a:rPr sz="800" b="1" i="0">
                <a:solidFill>
                  <a:srgbClr val="F0F2F8"/>
                </a:solidFill>
              </a:rPr>
              <a:t>Sheet Metal</a:t>
            </a:r>
          </a:p>
        </p:txBody>
      </p:sp>
      <p:sp>
        <p:nvSpPr>
          <p:cNvPr id="30" name="TextBox 29"/>
          <p:cNvSpPr txBox="1"/>
          <p:nvPr/>
        </p:nvSpPr>
        <p:spPr>
          <a:xfrm>
            <a:off x="7990636" y="2322576"/>
            <a:ext cx="1844497" cy="457200"/>
          </a:xfrm>
          <a:prstGeom prst="rect">
            <a:avLst/>
          </a:prstGeom>
          <a:noFill/>
        </p:spPr>
        <p:txBody>
          <a:bodyPr wrap="square">
            <a:spAutoFit/>
          </a:bodyPr>
          <a:lstStyle/>
          <a:p>
            <a:pPr algn="ctr"/>
            <a:r>
              <a:rPr sz="750" b="0" i="0">
                <a:solidFill>
                  <a:srgbClr val="5A6380"/>
                </a:solidFill>
              </a:rPr>
              <a:t>Progressive/transfer die</a:t>
            </a:r>
          </a:p>
        </p:txBody>
      </p:sp>
      <p:sp>
        <p:nvSpPr>
          <p:cNvPr id="31" name="Rectangle 30"/>
          <p:cNvSpPr/>
          <p:nvPr/>
        </p:nvSpPr>
        <p:spPr>
          <a:xfrm>
            <a:off x="9885425" y="1810512"/>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85425" y="1865376"/>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33" name="TextBox 32"/>
          <p:cNvSpPr txBox="1"/>
          <p:nvPr/>
        </p:nvSpPr>
        <p:spPr>
          <a:xfrm>
            <a:off x="9885425" y="2121408"/>
            <a:ext cx="1844497" cy="201168"/>
          </a:xfrm>
          <a:prstGeom prst="rect">
            <a:avLst/>
          </a:prstGeom>
          <a:noFill/>
        </p:spPr>
        <p:txBody>
          <a:bodyPr wrap="square">
            <a:spAutoFit/>
          </a:bodyPr>
          <a:lstStyle/>
          <a:p>
            <a:pPr algn="ctr"/>
            <a:r>
              <a:rPr sz="800" b="1" i="0">
                <a:solidFill>
                  <a:srgbClr val="F0F2F8"/>
                </a:solidFill>
              </a:rPr>
              <a:t>Sheet Metal Fab</a:t>
            </a:r>
          </a:p>
        </p:txBody>
      </p:sp>
      <p:sp>
        <p:nvSpPr>
          <p:cNvPr id="34" name="TextBox 33"/>
          <p:cNvSpPr txBox="1"/>
          <p:nvPr/>
        </p:nvSpPr>
        <p:spPr>
          <a:xfrm>
            <a:off x="9885425" y="2322576"/>
            <a:ext cx="1844497" cy="457200"/>
          </a:xfrm>
          <a:prstGeom prst="rect">
            <a:avLst/>
          </a:prstGeom>
          <a:noFill/>
        </p:spPr>
        <p:txBody>
          <a:bodyPr wrap="square">
            <a:spAutoFit/>
          </a:bodyPr>
          <a:lstStyle/>
          <a:p>
            <a:pPr algn="ctr"/>
            <a:r>
              <a:rPr sz="750" b="0" i="0">
                <a:solidFill>
                  <a:srgbClr val="5A6380"/>
                </a:solidFill>
              </a:rPr>
              <a:t>Laser · punch · press brake · MIG</a:t>
            </a:r>
          </a:p>
        </p:txBody>
      </p:sp>
      <p:sp>
        <p:nvSpPr>
          <p:cNvPr id="35" name="Rectangle 34"/>
          <p:cNvSpPr/>
          <p:nvPr/>
        </p:nvSpPr>
        <p:spPr>
          <a:xfrm>
            <a:off x="411480"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37" name="TextBox 36"/>
          <p:cNvSpPr txBox="1"/>
          <p:nvPr/>
        </p:nvSpPr>
        <p:spPr>
          <a:xfrm>
            <a:off x="411480" y="3232404"/>
            <a:ext cx="1844497" cy="201168"/>
          </a:xfrm>
          <a:prstGeom prst="rect">
            <a:avLst/>
          </a:prstGeom>
          <a:noFill/>
        </p:spPr>
        <p:txBody>
          <a:bodyPr wrap="square">
            <a:spAutoFit/>
          </a:bodyPr>
          <a:lstStyle/>
          <a:p>
            <a:pPr algn="ctr"/>
            <a:r>
              <a:rPr sz="800" b="1" i="0">
                <a:solidFill>
                  <a:srgbClr val="F0F2F8"/>
                </a:solidFill>
              </a:rPr>
              <a:t>Gear Cutting</a:t>
            </a:r>
          </a:p>
        </p:txBody>
      </p:sp>
      <p:sp>
        <p:nvSpPr>
          <p:cNvPr id="38" name="TextBox 37"/>
          <p:cNvSpPr txBox="1"/>
          <p:nvPr/>
        </p:nvSpPr>
        <p:spPr>
          <a:xfrm>
            <a:off x="411480" y="3433572"/>
            <a:ext cx="1844497" cy="457200"/>
          </a:xfrm>
          <a:prstGeom prst="rect">
            <a:avLst/>
          </a:prstGeom>
          <a:noFill/>
        </p:spPr>
        <p:txBody>
          <a:bodyPr wrap="square">
            <a:spAutoFit/>
          </a:bodyPr>
          <a:lstStyle/>
          <a:p>
            <a:pPr algn="ctr"/>
            <a:r>
              <a:rPr sz="750" b="0" i="0">
                <a:solidFill>
                  <a:srgbClr val="5A6380"/>
                </a:solidFill>
              </a:rPr>
              <a:t>Hob · shape · skive · broach · grind</a:t>
            </a:r>
          </a:p>
        </p:txBody>
      </p:sp>
      <p:sp>
        <p:nvSpPr>
          <p:cNvPr id="39" name="Rectangle 38"/>
          <p:cNvSpPr/>
          <p:nvPr/>
        </p:nvSpPr>
        <p:spPr>
          <a:xfrm>
            <a:off x="2306269"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306269"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41" name="TextBox 40"/>
          <p:cNvSpPr txBox="1"/>
          <p:nvPr/>
        </p:nvSpPr>
        <p:spPr>
          <a:xfrm>
            <a:off x="2306269" y="3232404"/>
            <a:ext cx="1844497" cy="201168"/>
          </a:xfrm>
          <a:prstGeom prst="rect">
            <a:avLst/>
          </a:prstGeom>
          <a:noFill/>
        </p:spPr>
        <p:txBody>
          <a:bodyPr wrap="square">
            <a:spAutoFit/>
          </a:bodyPr>
          <a:lstStyle/>
          <a:p>
            <a:pPr algn="ctr"/>
            <a:r>
              <a:rPr sz="800" b="1" i="0">
                <a:solidFill>
                  <a:srgbClr val="F0F2F8"/>
                </a:solidFill>
              </a:rPr>
              <a:t>Injection Moulding</a:t>
            </a:r>
          </a:p>
        </p:txBody>
      </p:sp>
      <p:sp>
        <p:nvSpPr>
          <p:cNvPr id="42" name="TextBox 41"/>
          <p:cNvSpPr txBox="1"/>
          <p:nvPr/>
        </p:nvSpPr>
        <p:spPr>
          <a:xfrm>
            <a:off x="2306269" y="3433572"/>
            <a:ext cx="1844497" cy="457200"/>
          </a:xfrm>
          <a:prstGeom prst="rect">
            <a:avLst/>
          </a:prstGeom>
          <a:noFill/>
        </p:spPr>
        <p:txBody>
          <a:bodyPr wrap="square">
            <a:spAutoFit/>
          </a:bodyPr>
          <a:lstStyle/>
          <a:p>
            <a:pPr algn="ctr"/>
            <a:r>
              <a:rPr sz="750" b="0" i="0">
                <a:solidFill>
                  <a:srgbClr val="5A6380"/>
                </a:solidFill>
              </a:rPr>
              <a:t>Thermoplastics, multi-cavity</a:t>
            </a:r>
          </a:p>
        </p:txBody>
      </p:sp>
      <p:sp>
        <p:nvSpPr>
          <p:cNvPr id="43" name="Rectangle 42"/>
          <p:cNvSpPr/>
          <p:nvPr/>
        </p:nvSpPr>
        <p:spPr>
          <a:xfrm>
            <a:off x="4201058"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201058"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45" name="TextBox 44"/>
          <p:cNvSpPr txBox="1"/>
          <p:nvPr/>
        </p:nvSpPr>
        <p:spPr>
          <a:xfrm>
            <a:off x="4201058" y="3232404"/>
            <a:ext cx="1844497" cy="201168"/>
          </a:xfrm>
          <a:prstGeom prst="rect">
            <a:avLst/>
          </a:prstGeom>
          <a:noFill/>
        </p:spPr>
        <p:txBody>
          <a:bodyPr wrap="square">
            <a:spAutoFit/>
          </a:bodyPr>
          <a:lstStyle/>
          <a:p>
            <a:pPr algn="ctr"/>
            <a:r>
              <a:rPr sz="800" b="1" i="0">
                <a:solidFill>
                  <a:srgbClr val="F0F2F8"/>
                </a:solidFill>
              </a:rPr>
              <a:t>Blow Moulding</a:t>
            </a:r>
          </a:p>
        </p:txBody>
      </p:sp>
      <p:sp>
        <p:nvSpPr>
          <p:cNvPr id="46" name="TextBox 45"/>
          <p:cNvSpPr txBox="1"/>
          <p:nvPr/>
        </p:nvSpPr>
        <p:spPr>
          <a:xfrm>
            <a:off x="4201058" y="3433572"/>
            <a:ext cx="1844497" cy="457200"/>
          </a:xfrm>
          <a:prstGeom prst="rect">
            <a:avLst/>
          </a:prstGeom>
          <a:noFill/>
        </p:spPr>
        <p:txBody>
          <a:bodyPr wrap="square">
            <a:spAutoFit/>
          </a:bodyPr>
          <a:lstStyle/>
          <a:p>
            <a:pPr algn="ctr"/>
            <a:r>
              <a:rPr sz="750" b="0" i="0">
                <a:solidFill>
                  <a:srgbClr val="5A6380"/>
                </a:solidFill>
              </a:rPr>
              <a:t>HDPE, PET, extrusion blow</a:t>
            </a:r>
          </a:p>
        </p:txBody>
      </p:sp>
      <p:sp>
        <p:nvSpPr>
          <p:cNvPr id="47" name="Rectangle 46"/>
          <p:cNvSpPr/>
          <p:nvPr/>
        </p:nvSpPr>
        <p:spPr>
          <a:xfrm>
            <a:off x="6095847"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95847"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49" name="TextBox 48"/>
          <p:cNvSpPr txBox="1"/>
          <p:nvPr/>
        </p:nvSpPr>
        <p:spPr>
          <a:xfrm>
            <a:off x="6095847" y="3232404"/>
            <a:ext cx="1844497" cy="201168"/>
          </a:xfrm>
          <a:prstGeom prst="rect">
            <a:avLst/>
          </a:prstGeom>
          <a:noFill/>
        </p:spPr>
        <p:txBody>
          <a:bodyPr wrap="square">
            <a:spAutoFit/>
          </a:bodyPr>
          <a:lstStyle/>
          <a:p>
            <a:pPr algn="ctr"/>
            <a:r>
              <a:rPr sz="800" b="1" i="0">
                <a:solidFill>
                  <a:srgbClr val="F0F2F8"/>
                </a:solidFill>
              </a:rPr>
              <a:t>Extrusion</a:t>
            </a:r>
          </a:p>
        </p:txBody>
      </p:sp>
      <p:sp>
        <p:nvSpPr>
          <p:cNvPr id="50" name="TextBox 49"/>
          <p:cNvSpPr txBox="1"/>
          <p:nvPr/>
        </p:nvSpPr>
        <p:spPr>
          <a:xfrm>
            <a:off x="6095847" y="3433572"/>
            <a:ext cx="1844497" cy="457200"/>
          </a:xfrm>
          <a:prstGeom prst="rect">
            <a:avLst/>
          </a:prstGeom>
          <a:noFill/>
        </p:spPr>
        <p:txBody>
          <a:bodyPr wrap="square">
            <a:spAutoFit/>
          </a:bodyPr>
          <a:lstStyle/>
          <a:p>
            <a:pPr algn="ctr"/>
            <a:r>
              <a:rPr sz="750" b="0" i="0">
                <a:solidFill>
                  <a:srgbClr val="5A6380"/>
                </a:solidFill>
              </a:rPr>
              <a:t>Profile, pipe, sheet, rod</a:t>
            </a:r>
          </a:p>
        </p:txBody>
      </p:sp>
      <p:sp>
        <p:nvSpPr>
          <p:cNvPr id="51" name="Rectangle 50"/>
          <p:cNvSpPr/>
          <p:nvPr/>
        </p:nvSpPr>
        <p:spPr>
          <a:xfrm>
            <a:off x="7990636"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990636"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53" name="TextBox 52"/>
          <p:cNvSpPr txBox="1"/>
          <p:nvPr/>
        </p:nvSpPr>
        <p:spPr>
          <a:xfrm>
            <a:off x="7990636" y="3232404"/>
            <a:ext cx="1844497" cy="201168"/>
          </a:xfrm>
          <a:prstGeom prst="rect">
            <a:avLst/>
          </a:prstGeom>
          <a:noFill/>
        </p:spPr>
        <p:txBody>
          <a:bodyPr wrap="square">
            <a:spAutoFit/>
          </a:bodyPr>
          <a:lstStyle/>
          <a:p>
            <a:pPr algn="ctr"/>
            <a:r>
              <a:rPr sz="800" b="1" i="0">
                <a:solidFill>
                  <a:srgbClr val="F0F2F8"/>
                </a:solidFill>
              </a:rPr>
              <a:t>Thermoforming</a:t>
            </a:r>
          </a:p>
        </p:txBody>
      </p:sp>
      <p:sp>
        <p:nvSpPr>
          <p:cNvPr id="54" name="TextBox 53"/>
          <p:cNvSpPr txBox="1"/>
          <p:nvPr/>
        </p:nvSpPr>
        <p:spPr>
          <a:xfrm>
            <a:off x="7990636" y="3433572"/>
            <a:ext cx="1844497" cy="457200"/>
          </a:xfrm>
          <a:prstGeom prst="rect">
            <a:avLst/>
          </a:prstGeom>
          <a:noFill/>
        </p:spPr>
        <p:txBody>
          <a:bodyPr wrap="square">
            <a:spAutoFit/>
          </a:bodyPr>
          <a:lstStyle/>
          <a:p>
            <a:pPr algn="ctr"/>
            <a:r>
              <a:rPr sz="750" b="0" i="0">
                <a:solidFill>
                  <a:srgbClr val="5A6380"/>
                </a:solidFill>
              </a:rPr>
              <a:t>Vacuum, pressure, twin-sheet</a:t>
            </a:r>
          </a:p>
        </p:txBody>
      </p:sp>
      <p:sp>
        <p:nvSpPr>
          <p:cNvPr id="55" name="Rectangle 54"/>
          <p:cNvSpPr/>
          <p:nvPr/>
        </p:nvSpPr>
        <p:spPr>
          <a:xfrm>
            <a:off x="9885425" y="2921508"/>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85425" y="2976372"/>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57" name="TextBox 56"/>
          <p:cNvSpPr txBox="1"/>
          <p:nvPr/>
        </p:nvSpPr>
        <p:spPr>
          <a:xfrm>
            <a:off x="9885425" y="3232404"/>
            <a:ext cx="1844497" cy="201168"/>
          </a:xfrm>
          <a:prstGeom prst="rect">
            <a:avLst/>
          </a:prstGeom>
          <a:noFill/>
        </p:spPr>
        <p:txBody>
          <a:bodyPr wrap="square">
            <a:spAutoFit/>
          </a:bodyPr>
          <a:lstStyle/>
          <a:p>
            <a:pPr algn="ctr"/>
            <a:r>
              <a:rPr sz="800" b="1" i="0">
                <a:solidFill>
                  <a:srgbClr val="F0F2F8"/>
                </a:solidFill>
              </a:rPr>
              <a:t>Rotational Moulding</a:t>
            </a:r>
          </a:p>
        </p:txBody>
      </p:sp>
      <p:sp>
        <p:nvSpPr>
          <p:cNvPr id="58" name="TextBox 57"/>
          <p:cNvSpPr txBox="1"/>
          <p:nvPr/>
        </p:nvSpPr>
        <p:spPr>
          <a:xfrm>
            <a:off x="9885425" y="3433572"/>
            <a:ext cx="1844497" cy="457200"/>
          </a:xfrm>
          <a:prstGeom prst="rect">
            <a:avLst/>
          </a:prstGeom>
          <a:noFill/>
        </p:spPr>
        <p:txBody>
          <a:bodyPr wrap="square">
            <a:spAutoFit/>
          </a:bodyPr>
          <a:lstStyle/>
          <a:p>
            <a:pPr algn="ctr"/>
            <a:r>
              <a:rPr sz="750" b="0" i="0">
                <a:solidFill>
                  <a:srgbClr val="5A6380"/>
                </a:solidFill>
              </a:rPr>
              <a:t>Large hollow shapes, LLDPE</a:t>
            </a:r>
          </a:p>
        </p:txBody>
      </p:sp>
      <p:sp>
        <p:nvSpPr>
          <p:cNvPr id="59" name="Rectangle 58"/>
          <p:cNvSpPr/>
          <p:nvPr/>
        </p:nvSpPr>
        <p:spPr>
          <a:xfrm>
            <a:off x="411480"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61" name="TextBox 60"/>
          <p:cNvSpPr txBox="1"/>
          <p:nvPr/>
        </p:nvSpPr>
        <p:spPr>
          <a:xfrm>
            <a:off x="411480" y="4343400"/>
            <a:ext cx="1844497" cy="201168"/>
          </a:xfrm>
          <a:prstGeom prst="rect">
            <a:avLst/>
          </a:prstGeom>
          <a:noFill/>
        </p:spPr>
        <p:txBody>
          <a:bodyPr wrap="square">
            <a:spAutoFit/>
          </a:bodyPr>
          <a:lstStyle/>
          <a:p>
            <a:pPr algn="ctr"/>
            <a:r>
              <a:rPr sz="800" b="1" i="0">
                <a:solidFill>
                  <a:srgbClr val="F0F2F8"/>
                </a:solidFill>
              </a:rPr>
              <a:t>Rubber Moulding</a:t>
            </a:r>
          </a:p>
        </p:txBody>
      </p:sp>
      <p:sp>
        <p:nvSpPr>
          <p:cNvPr id="62" name="TextBox 61"/>
          <p:cNvSpPr txBox="1"/>
          <p:nvPr/>
        </p:nvSpPr>
        <p:spPr>
          <a:xfrm>
            <a:off x="411480" y="4544568"/>
            <a:ext cx="1844497" cy="457200"/>
          </a:xfrm>
          <a:prstGeom prst="rect">
            <a:avLst/>
          </a:prstGeom>
          <a:noFill/>
        </p:spPr>
        <p:txBody>
          <a:bodyPr wrap="square">
            <a:spAutoFit/>
          </a:bodyPr>
          <a:lstStyle/>
          <a:p>
            <a:pPr algn="ctr"/>
            <a:r>
              <a:rPr sz="750" b="0" i="0">
                <a:solidFill>
                  <a:srgbClr val="5A6380"/>
                </a:solidFill>
              </a:rPr>
              <a:t>Compression, injection, LSR</a:t>
            </a:r>
          </a:p>
        </p:txBody>
      </p:sp>
      <p:sp>
        <p:nvSpPr>
          <p:cNvPr id="63" name="Rectangle 62"/>
          <p:cNvSpPr/>
          <p:nvPr/>
        </p:nvSpPr>
        <p:spPr>
          <a:xfrm>
            <a:off x="2306269"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306269"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65" name="TextBox 64"/>
          <p:cNvSpPr txBox="1"/>
          <p:nvPr/>
        </p:nvSpPr>
        <p:spPr>
          <a:xfrm>
            <a:off x="2306269" y="4343400"/>
            <a:ext cx="1844497" cy="201168"/>
          </a:xfrm>
          <a:prstGeom prst="rect">
            <a:avLst/>
          </a:prstGeom>
          <a:noFill/>
        </p:spPr>
        <p:txBody>
          <a:bodyPr wrap="square">
            <a:spAutoFit/>
          </a:bodyPr>
          <a:lstStyle/>
          <a:p>
            <a:pPr algn="ctr"/>
            <a:r>
              <a:rPr sz="800" b="1" i="0">
                <a:solidFill>
                  <a:srgbClr val="F0F2F8"/>
                </a:solidFill>
              </a:rPr>
              <a:t>Composites</a:t>
            </a:r>
          </a:p>
        </p:txBody>
      </p:sp>
      <p:sp>
        <p:nvSpPr>
          <p:cNvPr id="66" name="TextBox 65"/>
          <p:cNvSpPr txBox="1"/>
          <p:nvPr/>
        </p:nvSpPr>
        <p:spPr>
          <a:xfrm>
            <a:off x="2306269" y="4544568"/>
            <a:ext cx="1844497" cy="457200"/>
          </a:xfrm>
          <a:prstGeom prst="rect">
            <a:avLst/>
          </a:prstGeom>
          <a:noFill/>
        </p:spPr>
        <p:txBody>
          <a:bodyPr wrap="square">
            <a:spAutoFit/>
          </a:bodyPr>
          <a:lstStyle/>
          <a:p>
            <a:pPr algn="ctr"/>
            <a:r>
              <a:rPr sz="750" b="0" i="0">
                <a:solidFill>
                  <a:srgbClr val="5A6380"/>
                </a:solidFill>
              </a:rPr>
              <a:t>CFRP/GFRP, autoclave, RTM, AFP</a:t>
            </a:r>
          </a:p>
        </p:txBody>
      </p:sp>
      <p:sp>
        <p:nvSpPr>
          <p:cNvPr id="67" name="Rectangle 66"/>
          <p:cNvSpPr/>
          <p:nvPr/>
        </p:nvSpPr>
        <p:spPr>
          <a:xfrm>
            <a:off x="4201058"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201058"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69" name="TextBox 68"/>
          <p:cNvSpPr txBox="1"/>
          <p:nvPr/>
        </p:nvSpPr>
        <p:spPr>
          <a:xfrm>
            <a:off x="4201058" y="4343400"/>
            <a:ext cx="1844497" cy="201168"/>
          </a:xfrm>
          <a:prstGeom prst="rect">
            <a:avLst/>
          </a:prstGeom>
          <a:noFill/>
        </p:spPr>
        <p:txBody>
          <a:bodyPr wrap="square">
            <a:spAutoFit/>
          </a:bodyPr>
          <a:lstStyle/>
          <a:p>
            <a:pPr algn="ctr"/>
            <a:r>
              <a:rPr sz="800" b="1" i="0">
                <a:solidFill>
                  <a:srgbClr val="F0F2F8"/>
                </a:solidFill>
              </a:rPr>
              <a:t>Painting / Coating</a:t>
            </a:r>
          </a:p>
        </p:txBody>
      </p:sp>
      <p:sp>
        <p:nvSpPr>
          <p:cNvPr id="70" name="TextBox 69"/>
          <p:cNvSpPr txBox="1"/>
          <p:nvPr/>
        </p:nvSpPr>
        <p:spPr>
          <a:xfrm>
            <a:off x="4201058" y="4544568"/>
            <a:ext cx="1844497" cy="457200"/>
          </a:xfrm>
          <a:prstGeom prst="rect">
            <a:avLst/>
          </a:prstGeom>
          <a:noFill/>
        </p:spPr>
        <p:txBody>
          <a:bodyPr wrap="square">
            <a:spAutoFit/>
          </a:bodyPr>
          <a:lstStyle/>
          <a:p>
            <a:pPr algn="ctr"/>
            <a:r>
              <a:rPr sz="750" b="0" i="0">
                <a:solidFill>
                  <a:srgbClr val="5A6380"/>
                </a:solidFill>
              </a:rPr>
              <a:t>E-coat, powder, wet, anodise</a:t>
            </a:r>
          </a:p>
        </p:txBody>
      </p:sp>
      <p:sp>
        <p:nvSpPr>
          <p:cNvPr id="71" name="Rectangle 70"/>
          <p:cNvSpPr/>
          <p:nvPr/>
        </p:nvSpPr>
        <p:spPr>
          <a:xfrm>
            <a:off x="6095847"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95847"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73" name="TextBox 72"/>
          <p:cNvSpPr txBox="1"/>
          <p:nvPr/>
        </p:nvSpPr>
        <p:spPr>
          <a:xfrm>
            <a:off x="6095847" y="4343400"/>
            <a:ext cx="1844497" cy="201168"/>
          </a:xfrm>
          <a:prstGeom prst="rect">
            <a:avLst/>
          </a:prstGeom>
          <a:noFill/>
        </p:spPr>
        <p:txBody>
          <a:bodyPr wrap="square">
            <a:spAutoFit/>
          </a:bodyPr>
          <a:lstStyle/>
          <a:p>
            <a:pPr algn="ctr"/>
            <a:r>
              <a:rPr sz="800" b="1" i="0">
                <a:solidFill>
                  <a:srgbClr val="F0F2F8"/>
                </a:solidFill>
              </a:rPr>
              <a:t>BIW Assembly</a:t>
            </a:r>
          </a:p>
        </p:txBody>
      </p:sp>
      <p:sp>
        <p:nvSpPr>
          <p:cNvPr id="74" name="TextBox 73"/>
          <p:cNvSpPr txBox="1"/>
          <p:nvPr/>
        </p:nvSpPr>
        <p:spPr>
          <a:xfrm>
            <a:off x="6095847" y="4544568"/>
            <a:ext cx="1844497" cy="457200"/>
          </a:xfrm>
          <a:prstGeom prst="rect">
            <a:avLst/>
          </a:prstGeom>
          <a:noFill/>
        </p:spPr>
        <p:txBody>
          <a:bodyPr wrap="square">
            <a:spAutoFit/>
          </a:bodyPr>
          <a:lstStyle/>
          <a:p>
            <a:pPr algn="ctr"/>
            <a:r>
              <a:rPr sz="750" b="0" i="0">
                <a:solidFill>
                  <a:srgbClr val="5A6380"/>
                </a:solidFill>
              </a:rPr>
              <a:t>Spot weld, MIG, hem, bond</a:t>
            </a:r>
          </a:p>
        </p:txBody>
      </p:sp>
      <p:sp>
        <p:nvSpPr>
          <p:cNvPr id="75" name="Rectangle 74"/>
          <p:cNvSpPr/>
          <p:nvPr/>
        </p:nvSpPr>
        <p:spPr>
          <a:xfrm>
            <a:off x="7990636"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990636"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77" name="TextBox 76"/>
          <p:cNvSpPr txBox="1"/>
          <p:nvPr/>
        </p:nvSpPr>
        <p:spPr>
          <a:xfrm>
            <a:off x="7990636" y="4343400"/>
            <a:ext cx="1844497" cy="201168"/>
          </a:xfrm>
          <a:prstGeom prst="rect">
            <a:avLst/>
          </a:prstGeom>
          <a:noFill/>
        </p:spPr>
        <p:txBody>
          <a:bodyPr wrap="square">
            <a:spAutoFit/>
          </a:bodyPr>
          <a:lstStyle/>
          <a:p>
            <a:pPr algn="ctr"/>
            <a:r>
              <a:rPr sz="800" b="1" i="0">
                <a:solidFill>
                  <a:srgbClr val="F0F2F8"/>
                </a:solidFill>
              </a:rPr>
              <a:t>PCB Fabrication</a:t>
            </a:r>
          </a:p>
        </p:txBody>
      </p:sp>
      <p:sp>
        <p:nvSpPr>
          <p:cNvPr id="78" name="TextBox 77"/>
          <p:cNvSpPr txBox="1"/>
          <p:nvPr/>
        </p:nvSpPr>
        <p:spPr>
          <a:xfrm>
            <a:off x="7990636" y="4544568"/>
            <a:ext cx="1844497" cy="457200"/>
          </a:xfrm>
          <a:prstGeom prst="rect">
            <a:avLst/>
          </a:prstGeom>
          <a:noFill/>
        </p:spPr>
        <p:txBody>
          <a:bodyPr wrap="square">
            <a:spAutoFit/>
          </a:bodyPr>
          <a:lstStyle/>
          <a:p>
            <a:pPr algn="ctr"/>
            <a:r>
              <a:rPr sz="750" b="0" i="0">
                <a:solidFill>
                  <a:srgbClr val="5A6380"/>
                </a:solidFill>
              </a:rPr>
              <a:t>2–16L, HDI, rigid-flex, RF/μwave</a:t>
            </a:r>
          </a:p>
        </p:txBody>
      </p:sp>
      <p:sp>
        <p:nvSpPr>
          <p:cNvPr id="79" name="Rectangle 78"/>
          <p:cNvSpPr/>
          <p:nvPr/>
        </p:nvSpPr>
        <p:spPr>
          <a:xfrm>
            <a:off x="9885425" y="4032504"/>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885425" y="4087368"/>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81" name="TextBox 80"/>
          <p:cNvSpPr txBox="1"/>
          <p:nvPr/>
        </p:nvSpPr>
        <p:spPr>
          <a:xfrm>
            <a:off x="9885425" y="4343400"/>
            <a:ext cx="1844497" cy="201168"/>
          </a:xfrm>
          <a:prstGeom prst="rect">
            <a:avLst/>
          </a:prstGeom>
          <a:noFill/>
        </p:spPr>
        <p:txBody>
          <a:bodyPr wrap="square">
            <a:spAutoFit/>
          </a:bodyPr>
          <a:lstStyle/>
          <a:p>
            <a:pPr algn="ctr"/>
            <a:r>
              <a:rPr sz="800" b="1" i="0">
                <a:solidFill>
                  <a:srgbClr val="F0F2F8"/>
                </a:solidFill>
              </a:rPr>
              <a:t>PCBA / SMD</a:t>
            </a:r>
          </a:p>
        </p:txBody>
      </p:sp>
      <p:sp>
        <p:nvSpPr>
          <p:cNvPr id="82" name="TextBox 81"/>
          <p:cNvSpPr txBox="1"/>
          <p:nvPr/>
        </p:nvSpPr>
        <p:spPr>
          <a:xfrm>
            <a:off x="9885425" y="4544568"/>
            <a:ext cx="1844497" cy="457200"/>
          </a:xfrm>
          <a:prstGeom prst="rect">
            <a:avLst/>
          </a:prstGeom>
          <a:noFill/>
        </p:spPr>
        <p:txBody>
          <a:bodyPr wrap="square">
            <a:spAutoFit/>
          </a:bodyPr>
          <a:lstStyle/>
          <a:p>
            <a:pPr algn="ctr"/>
            <a:r>
              <a:rPr sz="750" b="0" i="0">
                <a:solidFill>
                  <a:srgbClr val="5A6380"/>
                </a:solidFill>
              </a:rPr>
              <a:t>SMT, TH, reflow, conformal coat</a:t>
            </a:r>
          </a:p>
        </p:txBody>
      </p:sp>
      <p:sp>
        <p:nvSpPr>
          <p:cNvPr id="83" name="Rectangle 82"/>
          <p:cNvSpPr/>
          <p:nvPr/>
        </p:nvSpPr>
        <p:spPr>
          <a:xfrm>
            <a:off x="411480" y="5143500"/>
            <a:ext cx="1844497" cy="1051560"/>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11480" y="5198364"/>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85" name="TextBox 84"/>
          <p:cNvSpPr txBox="1"/>
          <p:nvPr/>
        </p:nvSpPr>
        <p:spPr>
          <a:xfrm>
            <a:off x="411480" y="5454396"/>
            <a:ext cx="1844497" cy="201168"/>
          </a:xfrm>
          <a:prstGeom prst="rect">
            <a:avLst/>
          </a:prstGeom>
          <a:noFill/>
        </p:spPr>
        <p:txBody>
          <a:bodyPr wrap="square">
            <a:spAutoFit/>
          </a:bodyPr>
          <a:lstStyle/>
          <a:p>
            <a:pPr algn="ctr"/>
            <a:r>
              <a:rPr sz="800" b="1" i="0">
                <a:solidFill>
                  <a:srgbClr val="F0F2F8"/>
                </a:solidFill>
              </a:rPr>
              <a:t>Wiring Harness</a:t>
            </a:r>
          </a:p>
        </p:txBody>
      </p:sp>
      <p:sp>
        <p:nvSpPr>
          <p:cNvPr id="86" name="TextBox 85"/>
          <p:cNvSpPr txBox="1"/>
          <p:nvPr/>
        </p:nvSpPr>
        <p:spPr>
          <a:xfrm>
            <a:off x="411480" y="5655564"/>
            <a:ext cx="1844497" cy="457200"/>
          </a:xfrm>
          <a:prstGeom prst="rect">
            <a:avLst/>
          </a:prstGeom>
          <a:noFill/>
        </p:spPr>
        <p:txBody>
          <a:bodyPr wrap="square">
            <a:spAutoFit/>
          </a:bodyPr>
          <a:lstStyle/>
          <a:p>
            <a:pPr algn="ctr"/>
            <a:r>
              <a:rPr sz="750" b="0" i="0">
                <a:solidFill>
                  <a:srgbClr val="5A6380"/>
                </a:solidFill>
              </a:rPr>
              <a:t>Cut-strip-crimp, test, sub-asm</a:t>
            </a:r>
          </a:p>
        </p:txBody>
      </p:sp>
      <p:sp>
        <p:nvSpPr>
          <p:cNvPr id="87" name="Rectangle 86"/>
          <p:cNvSpPr/>
          <p:nvPr/>
        </p:nvSpPr>
        <p:spPr>
          <a:xfrm>
            <a:off x="2306269" y="5143500"/>
            <a:ext cx="1844497" cy="1051560"/>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306269" y="5198364"/>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89" name="TextBox 88"/>
          <p:cNvSpPr txBox="1"/>
          <p:nvPr/>
        </p:nvSpPr>
        <p:spPr>
          <a:xfrm>
            <a:off x="2306269" y="5454396"/>
            <a:ext cx="1844497" cy="201168"/>
          </a:xfrm>
          <a:prstGeom prst="rect">
            <a:avLst/>
          </a:prstGeom>
          <a:noFill/>
        </p:spPr>
        <p:txBody>
          <a:bodyPr wrap="square">
            <a:spAutoFit/>
          </a:bodyPr>
          <a:lstStyle/>
          <a:p>
            <a:pPr algn="ctr"/>
            <a:r>
              <a:rPr sz="800" b="1" i="0">
                <a:solidFill>
                  <a:srgbClr val="F0F2F8"/>
                </a:solidFill>
              </a:rPr>
              <a:t>Assembly BOM Rollup</a:t>
            </a:r>
          </a:p>
        </p:txBody>
      </p:sp>
      <p:sp>
        <p:nvSpPr>
          <p:cNvPr id="90" name="TextBox 89"/>
          <p:cNvSpPr txBox="1"/>
          <p:nvPr/>
        </p:nvSpPr>
        <p:spPr>
          <a:xfrm>
            <a:off x="2306269" y="5655564"/>
            <a:ext cx="1844497" cy="457200"/>
          </a:xfrm>
          <a:prstGeom prst="rect">
            <a:avLst/>
          </a:prstGeom>
          <a:noFill/>
        </p:spPr>
        <p:txBody>
          <a:bodyPr wrap="square">
            <a:spAutoFit/>
          </a:bodyPr>
          <a:lstStyle/>
          <a:p>
            <a:pPr algn="ctr"/>
            <a:r>
              <a:rPr sz="750" b="0" i="0">
                <a:solidFill>
                  <a:srgbClr val="5A6380"/>
                </a:solidFill>
              </a:rPr>
              <a:t>Multi-part BOM, full cost rollup</a:t>
            </a:r>
          </a:p>
        </p:txBody>
      </p:sp>
      <p:sp>
        <p:nvSpPr>
          <p:cNvPr id="91" name="Rectangle 90"/>
          <p:cNvSpPr/>
          <p:nvPr/>
        </p:nvSpPr>
        <p:spPr>
          <a:xfrm>
            <a:off x="4201058" y="5143500"/>
            <a:ext cx="1844497" cy="1051560"/>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4201058" y="5198364"/>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93" name="TextBox 92"/>
          <p:cNvSpPr txBox="1"/>
          <p:nvPr/>
        </p:nvSpPr>
        <p:spPr>
          <a:xfrm>
            <a:off x="4201058" y="5454396"/>
            <a:ext cx="1844497" cy="201168"/>
          </a:xfrm>
          <a:prstGeom prst="rect">
            <a:avLst/>
          </a:prstGeom>
          <a:noFill/>
        </p:spPr>
        <p:txBody>
          <a:bodyPr wrap="square">
            <a:spAutoFit/>
          </a:bodyPr>
          <a:lstStyle/>
          <a:p>
            <a:pPr algn="ctr"/>
            <a:r>
              <a:rPr sz="800" b="1" i="0">
                <a:solidFill>
                  <a:srgbClr val="F0F2F8"/>
                </a:solidFill>
              </a:rPr>
              <a:t>Extrusion (Profile)</a:t>
            </a:r>
          </a:p>
        </p:txBody>
      </p:sp>
      <p:sp>
        <p:nvSpPr>
          <p:cNvPr id="94" name="TextBox 93"/>
          <p:cNvSpPr txBox="1"/>
          <p:nvPr/>
        </p:nvSpPr>
        <p:spPr>
          <a:xfrm>
            <a:off x="4201058" y="5655564"/>
            <a:ext cx="1844497" cy="457200"/>
          </a:xfrm>
          <a:prstGeom prst="rect">
            <a:avLst/>
          </a:prstGeom>
          <a:noFill/>
        </p:spPr>
        <p:txBody>
          <a:bodyPr wrap="square">
            <a:spAutoFit/>
          </a:bodyPr>
          <a:lstStyle/>
          <a:p>
            <a:pPr algn="ctr"/>
            <a:r>
              <a:rPr sz="750" b="0" i="0">
                <a:solidFill>
                  <a:srgbClr val="5A6380"/>
                </a:solidFill>
              </a:rPr>
              <a:t>Continuous linear profiles</a:t>
            </a:r>
          </a:p>
        </p:txBody>
      </p:sp>
      <p:sp>
        <p:nvSpPr>
          <p:cNvPr id="95" name="Rectangle 94"/>
          <p:cNvSpPr/>
          <p:nvPr/>
        </p:nvSpPr>
        <p:spPr>
          <a:xfrm>
            <a:off x="6095847" y="5143500"/>
            <a:ext cx="1844497" cy="1051560"/>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095847" y="5198364"/>
            <a:ext cx="1844497" cy="292608"/>
          </a:xfrm>
          <a:prstGeom prst="rect">
            <a:avLst/>
          </a:prstGeom>
          <a:noFill/>
        </p:spPr>
        <p:txBody>
          <a:bodyPr wrap="square">
            <a:spAutoFit/>
          </a:bodyPr>
          <a:lstStyle/>
          <a:p>
            <a:pPr algn="ctr"/>
            <a:r>
              <a:rPr sz="1300" b="0" i="0">
                <a:solidFill>
                  <a:srgbClr val="F0F2F8"/>
                </a:solidFill>
                <a:latin typeface="Segoe UI Emoji"/>
              </a:rPr>
              <a:t>🤖</a:t>
            </a:r>
          </a:p>
        </p:txBody>
      </p:sp>
      <p:sp>
        <p:nvSpPr>
          <p:cNvPr id="97" name="TextBox 96"/>
          <p:cNvSpPr txBox="1"/>
          <p:nvPr/>
        </p:nvSpPr>
        <p:spPr>
          <a:xfrm>
            <a:off x="6095847" y="5454396"/>
            <a:ext cx="1844497" cy="201168"/>
          </a:xfrm>
          <a:prstGeom prst="rect">
            <a:avLst/>
          </a:prstGeom>
          <a:noFill/>
        </p:spPr>
        <p:txBody>
          <a:bodyPr wrap="square">
            <a:spAutoFit/>
          </a:bodyPr>
          <a:lstStyle/>
          <a:p>
            <a:pPr algn="ctr"/>
            <a:r>
              <a:rPr sz="800" b="1" i="0">
                <a:solidFill>
                  <a:srgbClr val="F0F2F8"/>
                </a:solidFill>
              </a:rPr>
              <a:t>AI Agent</a:t>
            </a:r>
          </a:p>
        </p:txBody>
      </p:sp>
      <p:sp>
        <p:nvSpPr>
          <p:cNvPr id="98" name="TextBox 97"/>
          <p:cNvSpPr txBox="1"/>
          <p:nvPr/>
        </p:nvSpPr>
        <p:spPr>
          <a:xfrm>
            <a:off x="6095847" y="5655564"/>
            <a:ext cx="1844497" cy="457200"/>
          </a:xfrm>
          <a:prstGeom prst="rect">
            <a:avLst/>
          </a:prstGeom>
          <a:noFill/>
        </p:spPr>
        <p:txBody>
          <a:bodyPr wrap="square">
            <a:spAutoFit/>
          </a:bodyPr>
          <a:lstStyle/>
          <a:p>
            <a:pPr algn="ctr"/>
            <a:r>
              <a:rPr sz="750" b="0" i="0">
                <a:solidFill>
                  <a:srgbClr val="5A6380"/>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10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Should-Cost Model Architecture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Built on aPriori-calibrated benchmarks, IPC standards, and first-principles manufacturing engineering.</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Material Database</a:t>
            </a:r>
          </a:p>
        </p:txBody>
      </p:sp>
      <p:sp>
        <p:nvSpPr>
          <p:cNvPr id="14" name="TextBox 13"/>
          <p:cNvSpPr txBox="1"/>
          <p:nvPr/>
        </p:nvSpPr>
        <p:spPr>
          <a:xfrm>
            <a:off x="539496" y="2157984"/>
            <a:ext cx="2590723" cy="713232"/>
          </a:xfrm>
          <a:prstGeom prst="rect">
            <a:avLst/>
          </a:prstGeom>
          <a:noFill/>
        </p:spPr>
        <p:txBody>
          <a:bodyPr wrap="square">
            <a:spAutoFit/>
          </a:bodyPr>
          <a:lstStyle/>
          <a:p>
            <a:pPr algn="l"/>
            <a:r>
              <a:rPr sz="850" b="0" i="0">
                <a:solidFill>
                  <a:srgbClr val="9AA3B8"/>
                </a:solidFill>
              </a:rPr>
              <a:t>30+ materials: alloy steels, aluminium grades, engineering plastics, elastomers, composites, PCB laminates, copper alloys. FX-adjusted per region.</a:t>
            </a:r>
          </a:p>
        </p:txBody>
      </p:sp>
      <p:sp>
        <p:nvSpPr>
          <p:cNvPr id="15" name="Rectangle 14"/>
          <p:cNvSpPr/>
          <p:nvPr/>
        </p:nvSpPr>
        <p:spPr>
          <a:xfrm>
            <a:off x="3276523" y="1810512"/>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Machine &amp; Rate Library</a:t>
            </a:r>
          </a:p>
        </p:txBody>
      </p:sp>
      <p:sp>
        <p:nvSpPr>
          <p:cNvPr id="18" name="TextBox 17"/>
          <p:cNvSpPr txBox="1"/>
          <p:nvPr/>
        </p:nvSpPr>
        <p:spPr>
          <a:xfrm>
            <a:off x="3404539" y="2157984"/>
            <a:ext cx="2590723" cy="713232"/>
          </a:xfrm>
          <a:prstGeom prst="rect">
            <a:avLst/>
          </a:prstGeom>
          <a:noFill/>
        </p:spPr>
        <p:txBody>
          <a:bodyPr wrap="square">
            <a:spAutoFit/>
          </a:bodyPr>
          <a:lstStyle/>
          <a:p>
            <a:pPr algn="l"/>
            <a:r>
              <a:rPr sz="850" b="0" i="0">
                <a:solidFill>
                  <a:srgbClr val="9AA3B8"/>
                </a:solidFill>
              </a:rPr>
              <a:t>50+ machine types: CNC centres, presses, moulding machines, SMT lines, reflow ovens, test equipment. Hourly rates editable per project and region.</a:t>
            </a:r>
          </a:p>
        </p:txBody>
      </p:sp>
      <p:sp>
        <p:nvSpPr>
          <p:cNvPr id="19" name="Rectangle 18"/>
          <p:cNvSpPr/>
          <p:nvPr/>
        </p:nvSpPr>
        <p:spPr>
          <a:xfrm>
            <a:off x="6141567" y="1810512"/>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Routing &amp; Process Logic</a:t>
            </a:r>
          </a:p>
        </p:txBody>
      </p:sp>
      <p:sp>
        <p:nvSpPr>
          <p:cNvPr id="22" name="TextBox 21"/>
          <p:cNvSpPr txBox="1"/>
          <p:nvPr/>
        </p:nvSpPr>
        <p:spPr>
          <a:xfrm>
            <a:off x="6269583" y="2157984"/>
            <a:ext cx="2590723" cy="713232"/>
          </a:xfrm>
          <a:prstGeom prst="rect">
            <a:avLst/>
          </a:prstGeom>
          <a:noFill/>
        </p:spPr>
        <p:txBody>
          <a:bodyPr wrap="square">
            <a:spAutoFit/>
          </a:bodyPr>
          <a:lstStyle/>
          <a:p>
            <a:pPr algn="l"/>
            <a:r>
              <a:rPr sz="850" b="0" i="0">
                <a:solidFill>
                  <a:srgbClr val="9AA3B8"/>
                </a:solidFill>
              </a:rPr>
              <a:t>AI-driven operation sequencing. Each operation: machine ID, cycle time (hr), OEE, setup time, labour grade, overhead allocation.</a:t>
            </a:r>
          </a:p>
        </p:txBody>
      </p:sp>
      <p:sp>
        <p:nvSpPr>
          <p:cNvPr id="23" name="Rectangle 22"/>
          <p:cNvSpPr/>
          <p:nvPr/>
        </p:nvSpPr>
        <p:spPr>
          <a:xfrm>
            <a:off x="9006611" y="1810512"/>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Tooling &amp; NRE Amortisation</a:t>
            </a:r>
          </a:p>
        </p:txBody>
      </p:sp>
      <p:sp>
        <p:nvSpPr>
          <p:cNvPr id="26" name="TextBox 25"/>
          <p:cNvSpPr txBox="1"/>
          <p:nvPr/>
        </p:nvSpPr>
        <p:spPr>
          <a:xfrm>
            <a:off x="9134627" y="2157984"/>
            <a:ext cx="2590723" cy="713232"/>
          </a:xfrm>
          <a:prstGeom prst="rect">
            <a:avLst/>
          </a:prstGeom>
          <a:noFill/>
        </p:spPr>
        <p:txBody>
          <a:bodyPr wrap="square">
            <a:spAutoFit/>
          </a:bodyPr>
          <a:lstStyle/>
          <a:p>
            <a:pPr algn="l"/>
            <a:r>
              <a:rPr sz="850" b="0" i="0">
                <a:solidFill>
                  <a:srgbClr val="9AA3B8"/>
                </a:solidFill>
              </a:rPr>
              <a:t>Dies, moulds, fixtures, PCB NRE — amortised over annual volume with tool life curves for press tools and EDM electrodes.</a:t>
            </a:r>
          </a:p>
        </p:txBody>
      </p:sp>
      <p:sp>
        <p:nvSpPr>
          <p:cNvPr id="27" name="Rectangle 26"/>
          <p:cNvSpPr/>
          <p:nvPr/>
        </p:nvSpPr>
        <p:spPr>
          <a:xfrm>
            <a:off x="411480" y="3072384"/>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072384"/>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163824"/>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Yield &amp; Scrap Models</a:t>
            </a:r>
          </a:p>
        </p:txBody>
      </p:sp>
      <p:sp>
        <p:nvSpPr>
          <p:cNvPr id="30" name="TextBox 29"/>
          <p:cNvSpPr txBox="1"/>
          <p:nvPr/>
        </p:nvSpPr>
        <p:spPr>
          <a:xfrm>
            <a:off x="539496" y="3419856"/>
            <a:ext cx="2590723" cy="713232"/>
          </a:xfrm>
          <a:prstGeom prst="rect">
            <a:avLst/>
          </a:prstGeom>
          <a:noFill/>
        </p:spPr>
        <p:txBody>
          <a:bodyPr wrap="square">
            <a:spAutoFit/>
          </a:bodyPr>
          <a:lstStyle/>
          <a:p>
            <a:pPr algn="l"/>
            <a:r>
              <a:rPr sz="850" b="0" i="0">
                <a:solidFill>
                  <a:srgbClr val="9AA3B8"/>
                </a:solidFill>
              </a:rPr>
              <a:t>First-pass yield from 10 penalty factors: layer count, trace width, via type, HDI structure, impedance control, BGA pitch, alloy grade, section thickness.</a:t>
            </a:r>
          </a:p>
        </p:txBody>
      </p:sp>
      <p:sp>
        <p:nvSpPr>
          <p:cNvPr id="31" name="Rectangle 30"/>
          <p:cNvSpPr/>
          <p:nvPr/>
        </p:nvSpPr>
        <p:spPr>
          <a:xfrm>
            <a:off x="3276523" y="3072384"/>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072384"/>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163824"/>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Regional Cost Multipliers</a:t>
            </a:r>
          </a:p>
        </p:txBody>
      </p:sp>
      <p:sp>
        <p:nvSpPr>
          <p:cNvPr id="34" name="TextBox 33"/>
          <p:cNvSpPr txBox="1"/>
          <p:nvPr/>
        </p:nvSpPr>
        <p:spPr>
          <a:xfrm>
            <a:off x="3404539" y="3419856"/>
            <a:ext cx="2590723" cy="713232"/>
          </a:xfrm>
          <a:prstGeom prst="rect">
            <a:avLst/>
          </a:prstGeom>
          <a:noFill/>
        </p:spPr>
        <p:txBody>
          <a:bodyPr wrap="square">
            <a:spAutoFit/>
          </a:bodyPr>
          <a:lstStyle/>
          <a:p>
            <a:pPr algn="l"/>
            <a:r>
              <a:rPr sz="850" b="0" i="0">
                <a:solidFill>
                  <a:srgbClr val="9AA3B8"/>
                </a:solidFill>
              </a:rPr>
              <a:t>20 regions — each with calibrated labour tiers (skilled/semi-skilled/engineer/inspector), energy costs, and machine hour rates.</a:t>
            </a:r>
          </a:p>
        </p:txBody>
      </p:sp>
      <p:sp>
        <p:nvSpPr>
          <p:cNvPr id="35" name="Rectangle 34"/>
          <p:cNvSpPr/>
          <p:nvPr/>
        </p:nvSpPr>
        <p:spPr>
          <a:xfrm>
            <a:off x="6141567" y="3072384"/>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072384"/>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163824"/>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Benchmarks &amp; Sensitivity</a:t>
            </a:r>
          </a:p>
        </p:txBody>
      </p:sp>
      <p:sp>
        <p:nvSpPr>
          <p:cNvPr id="38" name="TextBox 37"/>
          <p:cNvSpPr txBox="1"/>
          <p:nvPr/>
        </p:nvSpPr>
        <p:spPr>
          <a:xfrm>
            <a:off x="6269583" y="3419856"/>
            <a:ext cx="2590723" cy="713232"/>
          </a:xfrm>
          <a:prstGeom prst="rect">
            <a:avLst/>
          </a:prstGeom>
          <a:noFill/>
        </p:spPr>
        <p:txBody>
          <a:bodyPr wrap="square">
            <a:spAutoFit/>
          </a:bodyPr>
          <a:lstStyle/>
          <a:p>
            <a:pPr algn="l"/>
            <a:r>
              <a:rPr sz="850" b="0" i="0">
                <a:solidFill>
                  <a:srgbClr val="9AA3B8"/>
                </a:solidFill>
              </a:rPr>
              <a:t>Every cost element benchmarked vs aPriori/Cleansheet ranges. Tornado chart shows top 10 cost drivers at ±10%. Scenario A/B/C comparison.</a:t>
            </a:r>
          </a:p>
        </p:txBody>
      </p:sp>
      <p:sp>
        <p:nvSpPr>
          <p:cNvPr id="39" name="Rectangle 38"/>
          <p:cNvSpPr/>
          <p:nvPr/>
        </p:nvSpPr>
        <p:spPr>
          <a:xfrm>
            <a:off x="9006611" y="3072384"/>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072384"/>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163824"/>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Learning Curve (Wright's Law)</a:t>
            </a:r>
          </a:p>
        </p:txBody>
      </p:sp>
      <p:sp>
        <p:nvSpPr>
          <p:cNvPr id="42" name="TextBox 41"/>
          <p:cNvSpPr txBox="1"/>
          <p:nvPr/>
        </p:nvSpPr>
        <p:spPr>
          <a:xfrm>
            <a:off x="9134627" y="3419856"/>
            <a:ext cx="2590723" cy="713232"/>
          </a:xfrm>
          <a:prstGeom prst="rect">
            <a:avLst/>
          </a:prstGeom>
          <a:noFill/>
        </p:spPr>
        <p:txBody>
          <a:bodyPr wrap="square">
            <a:spAutoFit/>
          </a:bodyPr>
          <a:lstStyle/>
          <a:p>
            <a:pPr algn="l"/>
            <a:r>
              <a:rPr sz="850" b="0" i="0">
                <a:solidFill>
                  <a:srgbClr val="9AA3B8"/>
                </a:solidFill>
              </a:rPr>
              <a:t>Configure 85% (or custom) learning curve to project volume-driven cost reduction. Essential for programme pricing and LTA negotiations.</a:t>
            </a:r>
          </a:p>
        </p:txBody>
      </p:sp>
      <p:sp>
        <p:nvSpPr>
          <p:cNvPr id="43" name="Rectangle 42"/>
          <p:cNvSpPr/>
          <p:nvPr/>
        </p:nvSpPr>
        <p:spPr>
          <a:xfrm>
            <a:off x="411480" y="4334256"/>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334256"/>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425696"/>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Quote Comparison</a:t>
            </a:r>
          </a:p>
        </p:txBody>
      </p:sp>
      <p:sp>
        <p:nvSpPr>
          <p:cNvPr id="46" name="TextBox 45"/>
          <p:cNvSpPr txBox="1"/>
          <p:nvPr/>
        </p:nvSpPr>
        <p:spPr>
          <a:xfrm>
            <a:off x="539496" y="4681728"/>
            <a:ext cx="2590723" cy="713232"/>
          </a:xfrm>
          <a:prstGeom prst="rect">
            <a:avLst/>
          </a:prstGeom>
          <a:noFill/>
        </p:spPr>
        <p:txBody>
          <a:bodyPr wrap="square">
            <a:spAutoFit/>
          </a:bodyPr>
          <a:lstStyle/>
          <a:p>
            <a:pPr algn="l"/>
            <a:r>
              <a:rPr sz="850" b="0" i="0">
                <a:solidFill>
                  <a:srgbClr val="9AA3B8"/>
                </a:solidFill>
              </a:rPr>
              <a:t>Log supplier quotes (name, date, price, currency). Compare vs should-cost instantly — identify margin gaps and overhead inflation.</a:t>
            </a:r>
          </a:p>
        </p:txBody>
      </p:sp>
      <p:sp>
        <p:nvSpPr>
          <p:cNvPr id="47" name="Rectangle 46"/>
          <p:cNvSpPr/>
          <p:nvPr/>
        </p:nvSpPr>
        <p:spPr>
          <a:xfrm>
            <a:off x="3276523" y="4334256"/>
            <a:ext cx="2773603"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334256"/>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425696"/>
            <a:ext cx="2590723"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AI-Driven Assumptions</a:t>
            </a:r>
          </a:p>
        </p:txBody>
      </p:sp>
      <p:sp>
        <p:nvSpPr>
          <p:cNvPr id="50" name="TextBox 49"/>
          <p:cNvSpPr txBox="1"/>
          <p:nvPr/>
        </p:nvSpPr>
        <p:spPr>
          <a:xfrm>
            <a:off x="3404539" y="4681728"/>
            <a:ext cx="2590723" cy="713232"/>
          </a:xfrm>
          <a:prstGeom prst="rect">
            <a:avLst/>
          </a:prstGeom>
          <a:noFill/>
        </p:spPr>
        <p:txBody>
          <a:bodyPr wrap="square">
            <a:spAutoFit/>
          </a:bodyPr>
          <a:lstStyle/>
          <a:p>
            <a:pPr algn="l"/>
            <a:r>
              <a:rPr sz="850" b="0" i="0">
                <a:solidFill>
                  <a:srgbClr val="9AA3B8"/>
                </a:solidFill>
              </a:rPr>
              <a:t>Where geometry is unknown, Claude AI fills assumptions transparently — material, complexity, process, geometry — with explanation of every decision.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11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Advanced Cost Modelling &amp; Intelligence Features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goes beyond basic costing — it models commercial reality with precision.</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F0F2F8"/>
                </a:solidFill>
                <a:latin typeface="Segoe UI Emoji"/>
              </a:rPr>
              <a:t>📉</a:t>
            </a:r>
            <a:r>
              <a:rPr sz="1000" b="1" i="0">
                <a:solidFill>
                  <a:srgbClr val="F0F2F8"/>
                </a:solidFill>
              </a:rPr>
              <a:t> Wright's Law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9AA3B8"/>
                </a:solidFill>
              </a:rPr>
              <a:t>Configure any learning curve % (default 85%). As volume doubles, cost reduces by the curve %.
• Model programme cost at any volume milestone
• Critical for LTA negotiations and make-vs-buy decisions
• Visualise break-even volume vs manual costing cost</a:t>
            </a:r>
          </a:p>
        </p:txBody>
      </p:sp>
      <p:sp>
        <p:nvSpPr>
          <p:cNvPr id="15" name="Rectangle 14"/>
          <p:cNvSpPr/>
          <p:nvPr/>
        </p:nvSpPr>
        <p:spPr>
          <a:xfrm>
            <a:off x="411480" y="4041648"/>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F0F2F8"/>
                </a:solidFill>
                <a:latin typeface="Segoe UI Emoji"/>
              </a:rPr>
              <a:t>🔗</a:t>
            </a:r>
            <a:r>
              <a:rPr sz="1000" b="1" i="0">
                <a:solidFill>
                  <a:srgbClr val="F0F2F8"/>
                </a:solidFill>
              </a:rPr>
              <a:t> Assembly BOM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9AA3B8"/>
                </a:solidFill>
              </a:rPr>
              <a:t>Build multi-level assemblies from any combination of 22 commodities:
• Add components one-by-one with commodity type, weight, volume
• Each component costed using its own should-cost model
• Roll up to a total assembly cost with full per-component breakdown
• Example: BIW + Painting + Harness + PCBA = full module should-cost</a:t>
            </a:r>
          </a:p>
        </p:txBody>
      </p:sp>
      <p:sp>
        <p:nvSpPr>
          <p:cNvPr id="19" name="Rectangle 18"/>
          <p:cNvSpPr/>
          <p:nvPr/>
        </p:nvSpPr>
        <p:spPr>
          <a:xfrm>
            <a:off x="6263640" y="1828800"/>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9AA3B8"/>
                </a:solidFill>
              </a:rPr>
              <a:t>• Enter supplier name, quote date, price, currency, and FX rate
• CostVision converts to GBP and compares vs should-cost
• Calculates margin gap: 'Supplier is 18% above should-cost'
• Generates data-driven negotiation talking points
• Track multiple suppliers per part for competitive benchmarking</a:t>
            </a:r>
          </a:p>
        </p:txBody>
      </p:sp>
      <p:sp>
        <p:nvSpPr>
          <p:cNvPr id="23" name="Rectangle 22"/>
          <p:cNvSpPr/>
          <p:nvPr/>
        </p:nvSpPr>
        <p:spPr>
          <a:xfrm>
            <a:off x="6263640" y="3310128"/>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Sensitivity Analysis (Tornado Chart)</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9AA3B8"/>
                </a:solidFill>
              </a:rPr>
              <a:t>• ±10% variation applied to each cost driver independently
• Top 10 drivers ranked by impact (tornado chart)
• Identify which inputs most need validation before negotiation
• Export the chart to include in supplier presentations</a:t>
            </a:r>
          </a:p>
        </p:txBody>
      </p:sp>
      <p:sp>
        <p:nvSpPr>
          <p:cNvPr id="27" name="Rectangle 26"/>
          <p:cNvSpPr/>
          <p:nvPr/>
        </p:nvSpPr>
        <p:spPr>
          <a:xfrm>
            <a:off x="6263640" y="4791456"/>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Scenario A/B/C Comparison</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9AA3B8"/>
                </a:solidFill>
              </a:rPr>
              <a:t>• Save any configuration as a named scenario
• Compare baseline vs target vs stretch cost side-by-side
• Delta view shows where costs increased or decreased
• Export all scenarios to JSON for team sharing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DFM / DFA — Design for Manufacture &amp; Assembly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bolt-on AI intelligence layer that runs AFTER the should-cost, without modifying any calculation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F0F2F8"/>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10B981"/>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F0F2F8"/>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F59E0B"/>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F0F2F8"/>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10B981"/>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50" b="0" i="0">
                <a:solidFill>
                  <a:srgbClr val="5A6380"/>
                </a:solidFill>
              </a:rPr>
              <a:t>All scores are 1–10 (10 = perfect)  |  Savings are RSS-combined from top 3 issues</a:t>
            </a:r>
          </a:p>
        </p:txBody>
      </p:sp>
      <p:sp>
        <p:nvSpPr>
          <p:cNvPr id="19" name="Rectangle 18"/>
          <p:cNvSpPr/>
          <p:nvPr/>
        </p:nvSpPr>
        <p:spPr>
          <a:xfrm>
            <a:off x="411480"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82880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292608"/>
          </a:xfrm>
          <a:prstGeom prst="rect">
            <a:avLst/>
          </a:prstGeom>
          <a:noFill/>
        </p:spPr>
        <p:txBody>
          <a:bodyPr wrap="square">
            <a:spAutoFit/>
          </a:bodyPr>
          <a:lstStyle/>
          <a:p>
            <a:pPr algn="l"/>
            <a:r>
              <a:rPr sz="950" b="1" i="0">
                <a:solidFill>
                  <a:srgbClr val="F0F2F8"/>
                </a:solidFill>
              </a:rPr>
              <a:t>DFM Issues — What It Finds</a:t>
            </a:r>
          </a:p>
        </p:txBody>
      </p:sp>
      <p:sp>
        <p:nvSpPr>
          <p:cNvPr id="22" name="TextBox 21"/>
          <p:cNvSpPr txBox="1"/>
          <p:nvPr/>
        </p:nvSpPr>
        <p:spPr>
          <a:xfrm>
            <a:off x="539496" y="3090672"/>
            <a:ext cx="5303520" cy="1371600"/>
          </a:xfrm>
          <a:prstGeom prst="rect">
            <a:avLst/>
          </a:prstGeom>
          <a:noFill/>
        </p:spPr>
        <p:txBody>
          <a:bodyPr wrap="square">
            <a:spAutoFit/>
          </a:bodyPr>
          <a:lstStyle/>
          <a:p>
            <a:pPr algn="l"/>
            <a:r>
              <a:rPr sz="850" b="0" i="0">
                <a:solidFill>
                  <a:srgbClr val="9AA3B8"/>
                </a:solidFill>
              </a:rPr>
              <a:t>Critical: Low material utilisation (&lt;60%), OEE &lt;70%, die cost &gt;18%
Major: Below-benchmark OEE (70–80%), high operation count, process cost dominant
Minor: Elevated tooling %, overhead burden &gt;18%, supplier margin &gt;18%
Opportunity: Near-net-shape conversion, volume increase, multi-cavity tooling</a:t>
            </a:r>
          </a:p>
        </p:txBody>
      </p:sp>
      <p:sp>
        <p:nvSpPr>
          <p:cNvPr id="23" name="Rectangle 22"/>
          <p:cNvSpPr/>
          <p:nvPr/>
        </p:nvSpPr>
        <p:spPr>
          <a:xfrm>
            <a:off x="6007608"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8288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292608"/>
          </a:xfrm>
          <a:prstGeom prst="rect">
            <a:avLst/>
          </a:prstGeom>
          <a:noFill/>
        </p:spPr>
        <p:txBody>
          <a:bodyPr wrap="square">
            <a:spAutoFit/>
          </a:bodyPr>
          <a:lstStyle/>
          <a:p>
            <a:pPr algn="l"/>
            <a:r>
              <a:rPr sz="950" b="1" i="0">
                <a:solidFill>
                  <a:srgbClr val="F0F2F8"/>
                </a:solidFill>
              </a:rPr>
              <a:t>DFA Issues — Assembly Intelligence</a:t>
            </a:r>
          </a:p>
        </p:txBody>
      </p:sp>
      <p:sp>
        <p:nvSpPr>
          <p:cNvPr id="26" name="TextBox 25"/>
          <p:cNvSpPr txBox="1"/>
          <p:nvPr/>
        </p:nvSpPr>
        <p:spPr>
          <a:xfrm>
            <a:off x="6135624" y="3090672"/>
            <a:ext cx="5303520" cy="1371600"/>
          </a:xfrm>
          <a:prstGeom prst="rect">
            <a:avLst/>
          </a:prstGeom>
          <a:noFill/>
        </p:spPr>
        <p:txBody>
          <a:bodyPr wrap="square">
            <a:spAutoFit/>
          </a:bodyPr>
          <a:lstStyle/>
          <a:p>
            <a:pPr algn="l"/>
            <a:r>
              <a:rPr sz="850" b="0" i="0">
                <a:solidFill>
                  <a:srgbClr val="9AA3B8"/>
                </a:solidFill>
              </a:rPr>
              <a:t>Automation feasibility: labour-dominated assemblies flagged for robot/cobot study
Operation count: multiple setups imply fixturing cost and dimensional variation risk
OEE pacing: low OEE in assembly indicates manual pacing or changeover inefficiency
Fastener standardisation: variety in fastener drives assembly time and tool changes</a:t>
            </a:r>
          </a:p>
        </p:txBody>
      </p:sp>
      <p:sp>
        <p:nvSpPr>
          <p:cNvPr id="27" name="Rectangle 26"/>
          <p:cNvSpPr/>
          <p:nvPr/>
        </p:nvSpPr>
        <p:spPr>
          <a:xfrm>
            <a:off x="411480"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63440"/>
            <a:ext cx="54864" cy="18288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754880"/>
            <a:ext cx="5303520" cy="292608"/>
          </a:xfrm>
          <a:prstGeom prst="rect">
            <a:avLst/>
          </a:prstGeom>
          <a:noFill/>
        </p:spPr>
        <p:txBody>
          <a:bodyPr wrap="square">
            <a:spAutoFit/>
          </a:bodyPr>
          <a:lstStyle/>
          <a:p>
            <a:pPr algn="l"/>
            <a:r>
              <a:rPr sz="950" b="1" i="0">
                <a:solidFill>
                  <a:srgbClr val="F0F2F8"/>
                </a:solidFill>
              </a:rPr>
              <a:t>Cost Optimisation Levers (6–8 per part)</a:t>
            </a:r>
          </a:p>
        </p:txBody>
      </p:sp>
      <p:sp>
        <p:nvSpPr>
          <p:cNvPr id="30" name="TextBox 29"/>
          <p:cNvSpPr txBox="1"/>
          <p:nvPr/>
        </p:nvSpPr>
        <p:spPr>
          <a:xfrm>
            <a:off x="539496" y="5010912"/>
            <a:ext cx="5303520" cy="1371600"/>
          </a:xfrm>
          <a:prstGeom prst="rect">
            <a:avLst/>
          </a:prstGeom>
          <a:noFill/>
        </p:spPr>
        <p:txBody>
          <a:bodyPr wrap="square">
            <a:spAutoFit/>
          </a:bodyPr>
          <a:lstStyle/>
          <a:p>
            <a:pPr algn="l"/>
            <a:r>
              <a:rPr sz="850" b="0" i="0">
                <a:solidFill>
                  <a:srgbClr val="9AA3B8"/>
                </a:solidFill>
              </a:rPr>
              <a:t>Automate High-Labour Operations — typically 5–20% saving
Near-Net-Shape Material Improvement — 5–15% material cost saving
OEE Improvement (TPM programme) — 5–12% machine cost reduction
Volume Increase to Dilute Tooling NRE — Quick Win, Low Risk
Overhead Rate Negotiation via Open-Book Costing — Quick Win
Competitive RFQ to Reduce Supplier Margin — Quick Win</a:t>
            </a:r>
          </a:p>
        </p:txBody>
      </p:sp>
      <p:sp>
        <p:nvSpPr>
          <p:cNvPr id="31" name="Rectangle 30"/>
          <p:cNvSpPr/>
          <p:nvPr/>
        </p:nvSpPr>
        <p:spPr>
          <a:xfrm>
            <a:off x="6007608"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63440"/>
            <a:ext cx="54864" cy="18288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754880"/>
            <a:ext cx="5303520" cy="292608"/>
          </a:xfrm>
          <a:prstGeom prst="rect">
            <a:avLst/>
          </a:prstGeom>
          <a:noFill/>
        </p:spPr>
        <p:txBody>
          <a:bodyPr wrap="square">
            <a:spAutoFit/>
          </a:bodyPr>
          <a:lstStyle/>
          <a:p>
            <a:pPr algn="l"/>
            <a:r>
              <a:rPr sz="950" b="1" i="0">
                <a:solidFill>
                  <a:srgbClr val="F0F2F8"/>
                </a:solidFill>
              </a:rPr>
              <a:t>AI Deep Analysis (Claude AI)</a:t>
            </a:r>
          </a:p>
        </p:txBody>
      </p:sp>
      <p:sp>
        <p:nvSpPr>
          <p:cNvPr id="34" name="TextBox 33"/>
          <p:cNvSpPr txBox="1"/>
          <p:nvPr/>
        </p:nvSpPr>
        <p:spPr>
          <a:xfrm>
            <a:off x="6135624" y="5010912"/>
            <a:ext cx="5303520" cy="1371600"/>
          </a:xfrm>
          <a:prstGeom prst="rect">
            <a:avLst/>
          </a:prstGeom>
          <a:noFill/>
        </p:spPr>
        <p:txBody>
          <a:bodyPr wrap="square">
            <a:spAutoFit/>
          </a:bodyPr>
          <a:lstStyle/>
          <a:p>
            <a:pPr algn="l"/>
            <a:r>
              <a:rPr sz="850" b="0" i="0">
                <a:solidFill>
                  <a:srgbClr val="9AA3B8"/>
                </a:solidFill>
              </a:rPr>
              <a:t>Click 'Run AI Deep Analysis' after rule-based results are shown
Claude provides: Root cause commentary, Priority top-3 actions
Supplier negotiation strategy with specific talking points
Alternative process recommendations (e.g. casting → HPDC)
Risk assessment: red flags in cost structure needing investigation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F0F2F8"/>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9AA3B8"/>
                          </a:solidFill>
                        </a:rPr>
                        <a:t>Region</a:t>
                      </a:r>
                    </a:p>
                  </a:txBody>
                  <a:tcPr>
                    <a:solidFill>
                      <a:srgbClr val="161923"/>
                    </a:solidFill>
                  </a:tcPr>
                </a:tc>
                <a:tc>
                  <a:txBody>
                    <a:bodyPr/>
                    <a:lstStyle/>
                    <a:p>
                      <a:pPr algn="l"/>
                      <a:r>
                        <a:rPr sz="750" b="1">
                          <a:solidFill>
                            <a:srgbClr val="9AA3B8"/>
                          </a:solidFill>
                        </a:rPr>
                        <a:t>Currency</a:t>
                      </a:r>
                    </a:p>
                  </a:txBody>
                  <a:tcPr>
                    <a:solidFill>
                      <a:srgbClr val="161923"/>
                    </a:solidFill>
                  </a:tcPr>
                </a:tc>
                <a:tc>
                  <a:txBody>
                    <a:bodyPr/>
                    <a:lstStyle/>
                    <a:p>
                      <a:pPr algn="l"/>
                      <a:r>
                        <a:rPr sz="750" b="1">
                          <a:solidFill>
                            <a:srgbClr val="9AA3B8"/>
                          </a:solidFill>
                        </a:rPr>
                        <a:t>Sample Labour Rate</a:t>
                      </a:r>
                    </a:p>
                  </a:txBody>
                  <a:tcPr>
                    <a:solidFill>
                      <a:srgbClr val="161923"/>
                    </a:solidFill>
                  </a:tcPr>
                </a:tc>
                <a:tc>
                  <a:txBody>
                    <a:bodyPr/>
                    <a:lstStyle/>
                    <a:p>
                      <a:pPr algn="l"/>
                      <a:r>
                        <a:rPr sz="750" b="1">
                          <a:solidFill>
                            <a:srgbClr val="9AA3B8"/>
                          </a:solidFill>
                        </a:rPr>
                        <a:t>Position</a:t>
                      </a:r>
                    </a:p>
                  </a:txBody>
                  <a:tcPr>
                    <a:solidFill>
                      <a:srgbClr val="161923"/>
                    </a:solidFill>
                  </a:tcPr>
                </a:tc>
              </a:tr>
              <a:tr h="316523">
                <a:tc>
                  <a:txBody>
                    <a:bodyPr/>
                    <a:lstStyle/>
                    <a:p>
                      <a:pPr algn="l"/>
                      <a:r>
                        <a:rPr sz="750" b="1">
                          <a:solidFill>
                            <a:srgbClr val="4F8EF7"/>
                          </a:solidFill>
                        </a:rPr>
                        <a:t>🇬🇧 UK</a:t>
                      </a:r>
                    </a:p>
                  </a:txBody>
                  <a:tcPr>
                    <a:solidFill>
                      <a:srgbClr val="1E2330"/>
                    </a:solidFill>
                  </a:tcPr>
                </a:tc>
                <a:tc>
                  <a:txBody>
                    <a:bodyPr/>
                    <a:lstStyle/>
                    <a:p>
                      <a:pPr algn="l"/>
                      <a:r>
                        <a:rPr sz="750">
                          <a:solidFill>
                            <a:srgbClr val="9AA3B8"/>
                          </a:solidFill>
                        </a:rPr>
                        <a:t>GBP £</a:t>
                      </a:r>
                    </a:p>
                  </a:txBody>
                  <a:tcPr>
                    <a:solidFill>
                      <a:srgbClr val="1E2330"/>
                    </a:solidFill>
                  </a:tcPr>
                </a:tc>
                <a:tc>
                  <a:txBody>
                    <a:bodyPr/>
                    <a:lstStyle/>
                    <a:p>
                      <a:pPr algn="l"/>
                      <a:r>
                        <a:rPr sz="750">
                          <a:solidFill>
                            <a:srgbClr val="9AA3B8"/>
                          </a:solidFill>
                        </a:rPr>
                        <a:t>Skilled £26/hr</a:t>
                      </a:r>
                    </a:p>
                  </a:txBody>
                  <a:tcPr>
                    <a:solidFill>
                      <a:srgbClr val="1E2330"/>
                    </a:solidFill>
                  </a:tcPr>
                </a:tc>
                <a:tc>
                  <a:txBody>
                    <a:bodyPr/>
                    <a:lstStyle/>
                    <a:p>
                      <a:pPr algn="l"/>
                      <a:r>
                        <a:rPr sz="750" b="1">
                          <a:solidFill>
                            <a:srgbClr val="10B981"/>
                          </a:solidFill>
                        </a:rPr>
                        <a:t>Industry / Aerospace baseline</a:t>
                      </a:r>
                    </a:p>
                  </a:txBody>
                  <a:tcPr>
                    <a:solidFill>
                      <a:srgbClr val="1E2330"/>
                    </a:solidFill>
                  </a:tcPr>
                </a:tc>
              </a:tr>
              <a:tr h="316523">
                <a:tc>
                  <a:txBody>
                    <a:bodyPr/>
                    <a:lstStyle/>
                    <a:p>
                      <a:pPr algn="l"/>
                      <a:r>
                        <a:rPr sz="750" b="1">
                          <a:solidFill>
                            <a:srgbClr val="4F8EF7"/>
                          </a:solidFill>
                        </a:rPr>
                        <a:t>🇩🇪 Germany</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high automation</a:t>
                      </a:r>
                    </a:p>
                  </a:txBody>
                  <a:tcPr>
                    <a:solidFill>
                      <a:srgbClr val="161923"/>
                    </a:solidFill>
                  </a:tcPr>
                </a:tc>
              </a:tr>
              <a:tr h="316523">
                <a:tc>
                  <a:txBody>
                    <a:bodyPr/>
                    <a:lstStyle/>
                    <a:p>
                      <a:pPr algn="l"/>
                      <a:r>
                        <a:rPr sz="750" b="1">
                          <a:solidFill>
                            <a:srgbClr val="4F8EF7"/>
                          </a:solidFill>
                        </a:rPr>
                        <a:t>🇵🇱 Poland</a:t>
                      </a:r>
                    </a:p>
                  </a:txBody>
                  <a:tcPr>
                    <a:solidFill>
                      <a:srgbClr val="1E2330"/>
                    </a:solidFill>
                  </a:tcPr>
                </a:tc>
                <a:tc>
                  <a:txBody>
                    <a:bodyPr/>
                    <a:lstStyle/>
                    <a:p>
                      <a:pPr algn="l"/>
                      <a:r>
                        <a:rPr sz="750">
                          <a:solidFill>
                            <a:srgbClr val="9AA3B8"/>
                          </a:solidFill>
                        </a:rPr>
                        <a:t>EUR €</a:t>
                      </a:r>
                    </a:p>
                  </a:txBody>
                  <a:tcPr>
                    <a:solidFill>
                      <a:srgbClr val="1E2330"/>
                    </a:solidFill>
                  </a:tcPr>
                </a:tc>
                <a:tc>
                  <a:txBody>
                    <a:bodyPr/>
                    <a:lstStyle/>
                    <a:p>
                      <a:pPr algn="l"/>
                      <a:r>
                        <a:rPr sz="750">
                          <a:solidFill>
                            <a:srgbClr val="9AA3B8"/>
                          </a:solidFill>
                        </a:rPr>
                        <a:t>Skilled €11/hr</a:t>
                      </a:r>
                    </a:p>
                  </a:txBody>
                  <a:tcPr>
                    <a:solidFill>
                      <a:srgbClr val="1E2330"/>
                    </a:solidFill>
                  </a:tcPr>
                </a:tc>
                <a:tc>
                  <a:txBody>
                    <a:bodyPr/>
                    <a:lstStyle/>
                    <a:p>
                      <a:pPr algn="l"/>
                      <a:r>
                        <a:rPr sz="750" b="1">
                          <a:solidFill>
                            <a:srgbClr val="10B981"/>
                          </a:solidFill>
                        </a:rPr>
                        <a:t>Low-cost EU option</a:t>
                      </a:r>
                    </a:p>
                  </a:txBody>
                  <a:tcPr>
                    <a:solidFill>
                      <a:srgbClr val="1E2330"/>
                    </a:solidFill>
                  </a:tcPr>
                </a:tc>
              </a:tr>
              <a:tr h="316523">
                <a:tc>
                  <a:txBody>
                    <a:bodyPr/>
                    <a:lstStyle/>
                    <a:p>
                      <a:pPr algn="l"/>
                      <a:r>
                        <a:rPr sz="750" b="1">
                          <a:solidFill>
                            <a:srgbClr val="4F8EF7"/>
                          </a:solidFill>
                        </a:rPr>
                        <a:t>🇷🇴 Romania</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€7/hr</a:t>
                      </a:r>
                    </a:p>
                  </a:txBody>
                  <a:tcPr>
                    <a:solidFill>
                      <a:srgbClr val="161923"/>
                    </a:solidFill>
                  </a:tcPr>
                </a:tc>
                <a:tc>
                  <a:txBody>
                    <a:bodyPr/>
                    <a:lstStyle/>
                    <a:p>
                      <a:pPr algn="l"/>
                      <a:r>
                        <a:rPr sz="750" b="1">
                          <a:solidFill>
                            <a:srgbClr val="10B981"/>
                          </a:solidFill>
                        </a:rPr>
                        <a:t>Ultra-low EU labour</a:t>
                      </a:r>
                    </a:p>
                  </a:txBody>
                  <a:tcPr>
                    <a:solidFill>
                      <a:srgbClr val="161923"/>
                    </a:solidFill>
                  </a:tcPr>
                </a:tc>
              </a:tr>
              <a:tr h="316523">
                <a:tc>
                  <a:txBody>
                    <a:bodyPr/>
                    <a:lstStyle/>
                    <a:p>
                      <a:pPr algn="l"/>
                      <a:r>
                        <a:rPr sz="750" b="1">
                          <a:solidFill>
                            <a:srgbClr val="4F8EF7"/>
                          </a:solidFill>
                        </a:rPr>
                        <a:t>🇨🇳 China</a:t>
                      </a:r>
                    </a:p>
                  </a:txBody>
                  <a:tcPr>
                    <a:solidFill>
                      <a:srgbClr val="1E2330"/>
                    </a:solidFill>
                  </a:tcPr>
                </a:tc>
                <a:tc>
                  <a:txBody>
                    <a:bodyPr/>
                    <a:lstStyle/>
                    <a:p>
                      <a:pPr algn="l"/>
                      <a:r>
                        <a:rPr sz="750">
                          <a:solidFill>
                            <a:srgbClr val="9AA3B8"/>
                          </a:solidFill>
                        </a:rPr>
                        <a:t>CNY ¥</a:t>
                      </a:r>
                    </a:p>
                  </a:txBody>
                  <a:tcPr>
                    <a:solidFill>
                      <a:srgbClr val="1E2330"/>
                    </a:solidFill>
                  </a:tcPr>
                </a:tc>
                <a:tc>
                  <a:txBody>
                    <a:bodyPr/>
                    <a:lstStyle/>
                    <a:p>
                      <a:pPr algn="l"/>
                      <a:r>
                        <a:rPr sz="750">
                          <a:solidFill>
                            <a:srgbClr val="9AA3B8"/>
                          </a:solidFill>
                        </a:rPr>
                        <a:t>Skilled ¥28/hr</a:t>
                      </a:r>
                    </a:p>
                  </a:txBody>
                  <a:tcPr>
                    <a:solidFill>
                      <a:srgbClr val="1E2330"/>
                    </a:solidFill>
                  </a:tcPr>
                </a:tc>
                <a:tc>
                  <a:txBody>
                    <a:bodyPr/>
                    <a:lstStyle/>
                    <a:p>
                      <a:pPr algn="l"/>
                      <a:r>
                        <a:rPr sz="750" b="1">
                          <a:solidFill>
                            <a:srgbClr val="10B981"/>
                          </a:solidFill>
                        </a:rPr>
                        <a:t>Global volume manufacturing</a:t>
                      </a:r>
                    </a:p>
                  </a:txBody>
                  <a:tcPr>
                    <a:solidFill>
                      <a:srgbClr val="1E2330"/>
                    </a:solidFill>
                  </a:tcPr>
                </a:tc>
              </a:tr>
              <a:tr h="316523">
                <a:tc>
                  <a:txBody>
                    <a:bodyPr/>
                    <a:lstStyle/>
                    <a:p>
                      <a:pPr algn="l"/>
                      <a:r>
                        <a:rPr sz="750" b="1">
                          <a:solidFill>
                            <a:srgbClr val="4F8EF7"/>
                          </a:solidFill>
                        </a:rPr>
                        <a:t>🇮🇳 India</a:t>
                      </a:r>
                    </a:p>
                  </a:txBody>
                  <a:tcPr>
                    <a:solidFill>
                      <a:srgbClr val="161923"/>
                    </a:solidFill>
                  </a:tcPr>
                </a:tc>
                <a:tc>
                  <a:txBody>
                    <a:bodyPr/>
                    <a:lstStyle/>
                    <a:p>
                      <a:pPr algn="l"/>
                      <a:r>
                        <a:rPr sz="750">
                          <a:solidFill>
                            <a:srgbClr val="9AA3B8"/>
                          </a:solidFill>
                        </a:rPr>
                        <a:t>INR ₹</a:t>
                      </a:r>
                    </a:p>
                  </a:txBody>
                  <a:tcPr>
                    <a:solidFill>
                      <a:srgbClr val="161923"/>
                    </a:solidFill>
                  </a:tcPr>
                </a:tc>
                <a:tc>
                  <a:txBody>
                    <a:bodyPr/>
                    <a:lstStyle/>
                    <a:p>
                      <a:pPr algn="l"/>
                      <a:r>
                        <a:rPr sz="750">
                          <a:solidFill>
                            <a:srgbClr val="9AA3B8"/>
                          </a:solidFill>
                        </a:rPr>
                        <a:t>Skilled ₹320/hr</a:t>
                      </a:r>
                    </a:p>
                  </a:txBody>
                  <a:tcPr>
                    <a:solidFill>
                      <a:srgbClr val="161923"/>
                    </a:solidFill>
                  </a:tcPr>
                </a:tc>
                <a:tc>
                  <a:txBody>
                    <a:bodyPr/>
                    <a:lstStyle/>
                    <a:p>
                      <a:pPr algn="l"/>
                      <a:r>
                        <a:rPr sz="750" b="1">
                          <a:solidFill>
                            <a:srgbClr val="10B981"/>
                          </a:solidFill>
                        </a:rPr>
                        <a:t>Engineering &amp; electronics hub</a:t>
                      </a:r>
                    </a:p>
                  </a:txBody>
                  <a:tcPr>
                    <a:solidFill>
                      <a:srgbClr val="161923"/>
                    </a:solidFill>
                  </a:tcPr>
                </a:tc>
              </a:tr>
              <a:tr h="316523">
                <a:tc>
                  <a:txBody>
                    <a:bodyPr/>
                    <a:lstStyle/>
                    <a:p>
                      <a:pPr algn="l"/>
                      <a:r>
                        <a:rPr sz="750" b="1">
                          <a:solidFill>
                            <a:srgbClr val="4F8EF7"/>
                          </a:solidFill>
                        </a:rPr>
                        <a:t>🇲🇽 Mexico</a:t>
                      </a:r>
                    </a:p>
                  </a:txBody>
                  <a:tcPr>
                    <a:solidFill>
                      <a:srgbClr val="1E2330"/>
                    </a:solidFill>
                  </a:tcPr>
                </a:tc>
                <a:tc>
                  <a:txBody>
                    <a:bodyPr/>
                    <a:lstStyle/>
                    <a:p>
                      <a:pPr algn="l"/>
                      <a:r>
                        <a:rPr sz="750">
                          <a:solidFill>
                            <a:srgbClr val="9AA3B8"/>
                          </a:solidFill>
                        </a:rPr>
                        <a:t>MXN $</a:t>
                      </a:r>
                    </a:p>
                  </a:txBody>
                  <a:tcPr>
                    <a:solidFill>
                      <a:srgbClr val="1E2330"/>
                    </a:solidFill>
                  </a:tcPr>
                </a:tc>
                <a:tc>
                  <a:txBody>
                    <a:bodyPr/>
                    <a:lstStyle/>
                    <a:p>
                      <a:pPr algn="l"/>
                      <a:r>
                        <a:rPr sz="750">
                          <a:solidFill>
                            <a:srgbClr val="9AA3B8"/>
                          </a:solidFill>
                        </a:rPr>
                        <a:t>Skilled MXN82/hr</a:t>
                      </a:r>
                    </a:p>
                  </a:txBody>
                  <a:tcPr>
                    <a:solidFill>
                      <a:srgbClr val="1E2330"/>
                    </a:solidFill>
                  </a:tcPr>
                </a:tc>
                <a:tc>
                  <a:txBody>
                    <a:bodyPr/>
                    <a:lstStyle/>
                    <a:p>
                      <a:pPr algn="l"/>
                      <a:r>
                        <a:rPr sz="750" b="1">
                          <a:solidFill>
                            <a:srgbClr val="10B981"/>
                          </a:solidFill>
                        </a:rPr>
                        <a:t>Near-shore for North America</a:t>
                      </a:r>
                    </a:p>
                  </a:txBody>
                  <a:tcPr>
                    <a:solidFill>
                      <a:srgbClr val="1E2330"/>
                    </a:solidFill>
                  </a:tcPr>
                </a:tc>
              </a:tr>
              <a:tr h="316523">
                <a:tc>
                  <a:txBody>
                    <a:bodyPr/>
                    <a:lstStyle/>
                    <a:p>
                      <a:pPr algn="l"/>
                      <a:r>
                        <a:rPr sz="750" b="1">
                          <a:solidFill>
                            <a:srgbClr val="4F8EF7"/>
                          </a:solidFill>
                        </a:rPr>
                        <a:t>🇺🇸 USA</a:t>
                      </a:r>
                    </a:p>
                  </a:txBody>
                  <a:tcPr>
                    <a:solidFill>
                      <a:srgbClr val="161923"/>
                    </a:solidFill>
                  </a:tcPr>
                </a:tc>
                <a:tc>
                  <a:txBody>
                    <a:bodyPr/>
                    <a:lstStyle/>
                    <a:p>
                      <a:pPr algn="l"/>
                      <a:r>
                        <a:rPr sz="750">
                          <a:solidFill>
                            <a:srgbClr val="9AA3B8"/>
                          </a:solidFill>
                        </a:rPr>
                        <a:t>USD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North American rates</a:t>
                      </a:r>
                    </a:p>
                  </a:txBody>
                  <a:tcPr>
                    <a:solidFill>
                      <a:srgbClr val="161923"/>
                    </a:solidFill>
                  </a:tcPr>
                </a:tc>
              </a:tr>
              <a:tr h="316523">
                <a:tc>
                  <a:txBody>
                    <a:bodyPr/>
                    <a:lstStyle/>
                    <a:p>
                      <a:pPr algn="l"/>
                      <a:r>
                        <a:rPr sz="750" b="1">
                          <a:solidFill>
                            <a:srgbClr val="4F8EF7"/>
                          </a:solidFill>
                        </a:rPr>
                        <a:t>🇹🇭 Thailand</a:t>
                      </a:r>
                    </a:p>
                  </a:txBody>
                  <a:tcPr>
                    <a:solidFill>
                      <a:srgbClr val="1E2330"/>
                    </a:solidFill>
                  </a:tcPr>
                </a:tc>
                <a:tc>
                  <a:txBody>
                    <a:bodyPr/>
                    <a:lstStyle/>
                    <a:p>
                      <a:pPr algn="l"/>
                      <a:r>
                        <a:rPr sz="750">
                          <a:solidFill>
                            <a:srgbClr val="9AA3B8"/>
                          </a:solidFill>
                        </a:rPr>
                        <a:t>THB ฿</a:t>
                      </a:r>
                    </a:p>
                  </a:txBody>
                  <a:tcPr>
                    <a:solidFill>
                      <a:srgbClr val="1E2330"/>
                    </a:solidFill>
                  </a:tcPr>
                </a:tc>
                <a:tc>
                  <a:txBody>
                    <a:bodyPr/>
                    <a:lstStyle/>
                    <a:p>
                      <a:pPr algn="l"/>
                      <a:r>
                        <a:rPr sz="750">
                          <a:solidFill>
                            <a:srgbClr val="9AA3B8"/>
                          </a:solidFill>
                        </a:rPr>
                        <a:t>Skilled ฿180/hr</a:t>
                      </a:r>
                    </a:p>
                  </a:txBody>
                  <a:tcPr>
                    <a:solidFill>
                      <a:srgbClr val="1E2330"/>
                    </a:solidFill>
                  </a:tcPr>
                </a:tc>
                <a:tc>
                  <a:txBody>
                    <a:bodyPr/>
                    <a:lstStyle/>
                    <a:p>
                      <a:pPr algn="l"/>
                      <a:r>
                        <a:rPr sz="750" b="1">
                          <a:solidFill>
                            <a:srgbClr val="10B981"/>
                          </a:solidFill>
                        </a:rPr>
                        <a:t>Electronics &amp; automotive</a:t>
                      </a:r>
                    </a:p>
                  </a:txBody>
                  <a:tcPr>
                    <a:solidFill>
                      <a:srgbClr val="1E2330"/>
                    </a:solidFill>
                  </a:tcPr>
                </a:tc>
              </a:tr>
              <a:tr h="316523">
                <a:tc>
                  <a:txBody>
                    <a:bodyPr/>
                    <a:lstStyle/>
                    <a:p>
                      <a:pPr algn="l"/>
                      <a:r>
                        <a:rPr sz="750" b="1">
                          <a:solidFill>
                            <a:srgbClr val="4F8EF7"/>
                          </a:solidFill>
                        </a:rPr>
                        <a:t>🇻🇳 Vietnam</a:t>
                      </a:r>
                    </a:p>
                  </a:txBody>
                  <a:tcPr>
                    <a:solidFill>
                      <a:srgbClr val="161923"/>
                    </a:solidFill>
                  </a:tcPr>
                </a:tc>
                <a:tc>
                  <a:txBody>
                    <a:bodyPr/>
                    <a:lstStyle/>
                    <a:p>
                      <a:pPr algn="l"/>
                      <a:r>
                        <a:rPr sz="750">
                          <a:solidFill>
                            <a:srgbClr val="9AA3B8"/>
                          </a:solidFill>
                        </a:rPr>
                        <a:t>VND ₫</a:t>
                      </a:r>
                    </a:p>
                  </a:txBody>
                  <a:tcPr>
                    <a:solidFill>
                      <a:srgbClr val="161923"/>
                    </a:solidFill>
                  </a:tcPr>
                </a:tc>
                <a:tc>
                  <a:txBody>
                    <a:bodyPr/>
                    <a:lstStyle/>
                    <a:p>
                      <a:pPr algn="l"/>
                      <a:r>
                        <a:rPr sz="750">
                          <a:solidFill>
                            <a:srgbClr val="9AA3B8"/>
                          </a:solidFill>
                        </a:rPr>
                        <a:t>Skilled ₫52k/hr</a:t>
                      </a:r>
                    </a:p>
                  </a:txBody>
                  <a:tcPr>
                    <a:solidFill>
                      <a:srgbClr val="161923"/>
                    </a:solidFill>
                  </a:tcPr>
                </a:tc>
                <a:tc>
                  <a:txBody>
                    <a:bodyPr/>
                    <a:lstStyle/>
                    <a:p>
                      <a:pPr algn="l"/>
                      <a:r>
                        <a:rPr sz="750" b="1">
                          <a:solidFill>
                            <a:srgbClr val="10B981"/>
                          </a:solidFill>
                        </a:rPr>
                        <a:t>Lowest-cost electronics hub</a:t>
                      </a:r>
                    </a:p>
                  </a:txBody>
                  <a:tcPr>
                    <a:solidFill>
                      <a:srgbClr val="161923"/>
                    </a:solidFill>
                  </a:tcPr>
                </a:tc>
              </a:tr>
              <a:tr h="316523">
                <a:tc>
                  <a:txBody>
                    <a:bodyPr/>
                    <a:lstStyle/>
                    <a:p>
                      <a:pPr algn="l"/>
                      <a:r>
                        <a:rPr sz="750" b="1">
                          <a:solidFill>
                            <a:srgbClr val="4F8EF7"/>
                          </a:solidFill>
                        </a:rPr>
                        <a:t>🇧🇷 Brazil</a:t>
                      </a:r>
                    </a:p>
                  </a:txBody>
                  <a:tcPr>
                    <a:solidFill>
                      <a:srgbClr val="1E2330"/>
                    </a:solidFill>
                  </a:tcPr>
                </a:tc>
                <a:tc>
                  <a:txBody>
                    <a:bodyPr/>
                    <a:lstStyle/>
                    <a:p>
                      <a:pPr algn="l"/>
                      <a:r>
                        <a:rPr sz="750">
                          <a:solidFill>
                            <a:srgbClr val="9AA3B8"/>
                          </a:solidFill>
                        </a:rPr>
                        <a:t>BRL R$</a:t>
                      </a:r>
                    </a:p>
                  </a:txBody>
                  <a:tcPr>
                    <a:solidFill>
                      <a:srgbClr val="1E2330"/>
                    </a:solidFill>
                  </a:tcPr>
                </a:tc>
                <a:tc>
                  <a:txBody>
                    <a:bodyPr/>
                    <a:lstStyle/>
                    <a:p>
                      <a:pPr algn="l"/>
                      <a:r>
                        <a:rPr sz="750">
                          <a:solidFill>
                            <a:srgbClr val="9AA3B8"/>
                          </a:solidFill>
                        </a:rPr>
                        <a:t>Skilled R$22/hr</a:t>
                      </a:r>
                    </a:p>
                  </a:txBody>
                  <a:tcPr>
                    <a:solidFill>
                      <a:srgbClr val="1E2330"/>
                    </a:solidFill>
                  </a:tcPr>
                </a:tc>
                <a:tc>
                  <a:txBody>
                    <a:bodyPr/>
                    <a:lstStyle/>
                    <a:p>
                      <a:pPr algn="l"/>
                      <a:r>
                        <a:rPr sz="750" b="1">
                          <a:solidFill>
                            <a:srgbClr val="10B981"/>
                          </a:solidFill>
                        </a:rPr>
                        <a:t>South America manufacturing</a:t>
                      </a:r>
                    </a:p>
                  </a:txBody>
                  <a:tcPr>
                    <a:solidFill>
                      <a:srgbClr val="1E2330"/>
                    </a:solidFill>
                  </a:tcPr>
                </a:tc>
              </a:tr>
              <a:tr h="316524">
                <a:tc>
                  <a:txBody>
                    <a:bodyPr/>
                    <a:lstStyle/>
                    <a:p>
                      <a:pPr algn="l"/>
                      <a:r>
                        <a:rPr sz="750" b="1">
                          <a:solidFill>
                            <a:srgbClr val="4F8EF7"/>
                          </a:solidFill>
                        </a:rPr>
                        <a:t>🇰🇷 S. Korea</a:t>
                      </a:r>
                    </a:p>
                  </a:txBody>
                  <a:tcPr>
                    <a:solidFill>
                      <a:srgbClr val="161923"/>
                    </a:solidFill>
                  </a:tcPr>
                </a:tc>
                <a:tc>
                  <a:txBody>
                    <a:bodyPr/>
                    <a:lstStyle/>
                    <a:p>
                      <a:pPr algn="l"/>
                      <a:r>
                        <a:rPr sz="750">
                          <a:solidFill>
                            <a:srgbClr val="9AA3B8"/>
                          </a:solidFill>
                        </a:rPr>
                        <a:t>KRW ₩</a:t>
                      </a:r>
                    </a:p>
                  </a:txBody>
                  <a:tcPr>
                    <a:solidFill>
                      <a:srgbClr val="161923"/>
                    </a:solidFill>
                  </a:tcPr>
                </a:tc>
                <a:tc>
                  <a:txBody>
                    <a:bodyPr/>
                    <a:lstStyle/>
                    <a:p>
                      <a:pPr algn="l"/>
                      <a:r>
                        <a:rPr sz="750">
                          <a:solidFill>
                            <a:srgbClr val="9AA3B8"/>
                          </a:solidFill>
                        </a:rPr>
                        <a:t>Skilled ₩22k/hr</a:t>
                      </a:r>
                    </a:p>
                  </a:txBody>
                  <a:tcPr>
                    <a:solidFill>
                      <a:srgbClr val="161923"/>
                    </a:solidFill>
                  </a:tcPr>
                </a:tc>
                <a:tc>
                  <a:txBody>
                    <a:bodyPr/>
                    <a:lstStyle/>
                    <a:p>
                      <a:pPr algn="l"/>
                      <a:r>
                        <a:rPr sz="750" b="1">
                          <a:solidFill>
                            <a:srgbClr val="10B981"/>
                          </a:solidFill>
                        </a:rPr>
                        <a:t>Electronics &amp; automotive</a:t>
                      </a:r>
                    </a:p>
                  </a:txBody>
                  <a:tcPr>
                    <a:solidFill>
                      <a:srgbClr val="161923"/>
                    </a:solidFill>
                  </a:tcPr>
                </a:tc>
              </a:tr>
            </a:tbl>
          </a:graphicData>
        </a:graphic>
      </p:graphicFrame>
      <p:sp>
        <p:nvSpPr>
          <p:cNvPr id="14" name="Rectangle 13"/>
          <p:cNvSpPr/>
          <p:nvPr/>
        </p:nvSpPr>
        <p:spPr>
          <a:xfrm>
            <a:off x="7498079" y="1810512"/>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F0F2F8"/>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9AA3B8"/>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F0F2F8"/>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9AA3B8"/>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F0F2F8"/>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9AA3B8"/>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F0F2F8"/>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9AA3B8"/>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4F8EF7"/>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9AA3B8"/>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F0F2F8"/>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9AA3B8"/>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F0F2F8"/>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9AA3B8"/>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F0F2F8"/>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9AA3B8"/>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F0F2F8"/>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9AA3B8"/>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7C3AED"/>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9AA3B8"/>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F0F2F8"/>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9AA3B8"/>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F0F2F8"/>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9AA3B8"/>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F0F2F8"/>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9AA3B8"/>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F0F2F8"/>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9AA3B8"/>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1E2330"/>
          </a:solidFill>
          <a:ln w="762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9AA3B8"/>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deterministic self-audit re-checks every estimate, calibration learns from real quotes, and it is proven on real parts.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Self-Audit —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9AA3B8"/>
                </a:solidFill>
              </a:rPr>
              <a:t>A deterministic layer re-runs every estimate looking for known mistakes: a part classed as the wrong process, machining time over the physical finish envelope, a wall thinner than the geometry allows, weight that disagrees with the CAD. It applies bounded corrections and shows its working — the AI never overrules the measured geometry.</a:t>
            </a:r>
          </a:p>
        </p:txBody>
      </p:sp>
      <p:sp>
        <p:nvSpPr>
          <p:cNvPr id="15" name="Rectangle 14"/>
          <p:cNvSpPr/>
          <p:nvPr/>
        </p:nvSpPr>
        <p:spPr>
          <a:xfrm>
            <a:off x="411480" y="3310128"/>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Calibration &amp; Drift — learns from actuals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9AA3B8"/>
                </a:solidFill>
              </a:rPr>
              <a:t>Bulk-import real supplier quotes as a CSV. The engine learns per-segment correction factors, carries a conformal confidence band, and watches for drift — so the estimate tightens as your own history grows. Calibration status now rides on every single estimate, not a hidden report.</a:t>
            </a:r>
          </a:p>
        </p:txBody>
      </p:sp>
      <p:sp>
        <p:nvSpPr>
          <p:cNvPr id="19" name="Rectangle 18"/>
          <p:cNvSpPr/>
          <p:nvPr/>
        </p:nvSpPr>
        <p:spPr>
          <a:xfrm>
            <a:off x="411480" y="4791456"/>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Universal Machine-Sizing — right press, any commodity</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9AA3B8"/>
                </a:solidFill>
              </a:rPr>
              <a:t>One dispatcher now sizes the machine for the part across commodities — forging presses, stamping presses, HPDC and moulding tonnage, extrusion and more — instead of a single hard-coded tier. Tooling amortises over annual volume everywhere by one universal rule.</a:t>
            </a:r>
          </a:p>
        </p:txBody>
      </p:sp>
      <p:sp>
        <p:nvSpPr>
          <p:cNvPr id="23" name="Rectangle 22"/>
          <p:cNvSpPr/>
          <p:nvPr/>
        </p:nvSpPr>
        <p:spPr>
          <a:xfrm>
            <a:off x="5806440" y="1828800"/>
            <a:ext cx="598932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10B981"/>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9AA3B8"/>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9AA3B8"/>
                          </a:solidFill>
                        </a:rPr>
                        <a:t>Real Part</a:t>
                      </a:r>
                    </a:p>
                  </a:txBody>
                  <a:tcPr>
                    <a:solidFill>
                      <a:srgbClr val="161923"/>
                    </a:solidFill>
                  </a:tcPr>
                </a:tc>
                <a:tc>
                  <a:txBody>
                    <a:bodyPr/>
                    <a:lstStyle/>
                    <a:p>
                      <a:pPr algn="l"/>
                      <a:r>
                        <a:rPr sz="750" b="1">
                          <a:solidFill>
                            <a:srgbClr val="9AA3B8"/>
                          </a:solidFill>
                        </a:rPr>
                        <a:t>AI First Pass</a:t>
                      </a:r>
                    </a:p>
                  </a:txBody>
                  <a:tcPr>
                    <a:solidFill>
                      <a:srgbClr val="161923"/>
                    </a:solidFill>
                  </a:tcPr>
                </a:tc>
                <a:tc>
                  <a:txBody>
                    <a:bodyPr/>
                    <a:lstStyle/>
                    <a:p>
                      <a:pPr algn="l"/>
                      <a:r>
                        <a:rPr sz="750" b="1">
                          <a:solidFill>
                            <a:srgbClr val="9AA3B8"/>
                          </a:solidFill>
                        </a:rPr>
                        <a:t>What Was Wrong</a:t>
                      </a:r>
                    </a:p>
                  </a:txBody>
                  <a:tcPr>
                    <a:solidFill>
                      <a:srgbClr val="161923"/>
                    </a:solidFill>
                  </a:tcPr>
                </a:tc>
                <a:tc>
                  <a:txBody>
                    <a:bodyPr/>
                    <a:lstStyle/>
                    <a:p>
                      <a:pPr algn="l"/>
                      <a:r>
                        <a:rPr sz="750" b="1">
                          <a:solidFill>
                            <a:srgbClr val="9AA3B8"/>
                          </a:solidFill>
                        </a:rPr>
                        <a:t>Corrected</a:t>
                      </a:r>
                    </a:p>
                  </a:txBody>
                  <a:tcPr>
                    <a:solidFill>
                      <a:srgbClr val="161923"/>
                    </a:solidFill>
                  </a:tcPr>
                </a:tc>
              </a:tr>
              <a:tr h="388620">
                <a:tc>
                  <a:txBody>
                    <a:bodyPr/>
                    <a:lstStyle/>
                    <a:p>
                      <a:pPr algn="l"/>
                      <a:r>
                        <a:rPr sz="750" b="1">
                          <a:solidFill>
                            <a:srgbClr val="4F8EF7"/>
                          </a:solidFill>
                        </a:rPr>
                        <a:t>Fuel tank</a:t>
                      </a:r>
                    </a:p>
                  </a:txBody>
                  <a:tcPr>
                    <a:solidFill>
                      <a:srgbClr val="1E2330"/>
                    </a:solidFill>
                  </a:tcPr>
                </a:tc>
                <a:tc>
                  <a:txBody>
                    <a:bodyPr/>
                    <a:lstStyle/>
                    <a:p>
                      <a:pPr algn="l"/>
                      <a:r>
                        <a:rPr sz="750">
                          <a:solidFill>
                            <a:srgbClr val="9AA3B8"/>
                          </a:solidFill>
                        </a:rPr>
                        <a:t>£216.97</a:t>
                      </a:r>
                    </a:p>
                  </a:txBody>
                  <a:tcPr>
                    <a:solidFill>
                      <a:srgbClr val="1E2330"/>
                    </a:solidFill>
                  </a:tcPr>
                </a:tc>
                <a:tc>
                  <a:txBody>
                    <a:bodyPr/>
                    <a:lstStyle/>
                    <a:p>
                      <a:pPr algn="l"/>
                      <a:r>
                        <a:rPr sz="750">
                          <a:solidFill>
                            <a:srgbClr val="9AA3B8"/>
                          </a:solidFill>
                        </a:rPr>
                        <a:t>Treated as cast</a:t>
                      </a:r>
                    </a:p>
                  </a:txBody>
                  <a:tcPr>
                    <a:solidFill>
                      <a:srgbClr val="1E2330"/>
                    </a:solidFill>
                  </a:tcPr>
                </a:tc>
                <a:tc>
                  <a:txBody>
                    <a:bodyPr/>
                    <a:lstStyle/>
                    <a:p>
                      <a:pPr algn="l"/>
                      <a:r>
                        <a:rPr sz="750" b="1">
                          <a:solidFill>
                            <a:srgbClr val="10B981"/>
                          </a:solidFill>
                        </a:rPr>
                        <a:t>£24.62 blow-mould</a:t>
                      </a:r>
                    </a:p>
                  </a:txBody>
                  <a:tcPr>
                    <a:solidFill>
                      <a:srgbClr val="1E2330"/>
                    </a:solidFill>
                  </a:tcPr>
                </a:tc>
              </a:tr>
              <a:tr h="388620">
                <a:tc>
                  <a:txBody>
                    <a:bodyPr/>
                    <a:lstStyle/>
                    <a:p>
                      <a:pPr algn="l"/>
                      <a:r>
                        <a:rPr sz="750" b="1">
                          <a:solidFill>
                            <a:srgbClr val="4F8EF7"/>
                          </a:solidFill>
                        </a:rPr>
                        <a:t>Front bumper</a:t>
                      </a:r>
                    </a:p>
                  </a:txBody>
                  <a:tcPr>
                    <a:solidFill>
                      <a:srgbClr val="161923"/>
                    </a:solidFill>
                  </a:tcPr>
                </a:tc>
                <a:tc>
                  <a:txBody>
                    <a:bodyPr/>
                    <a:lstStyle/>
                    <a:p>
                      <a:pPr algn="l"/>
                      <a:r>
                        <a:rPr sz="750">
                          <a:solidFill>
                            <a:srgbClr val="9AA3B8"/>
                          </a:solidFill>
                        </a:rPr>
                        <a:t>£29.18</a:t>
                      </a:r>
                    </a:p>
                  </a:txBody>
                  <a:tcPr>
                    <a:solidFill>
                      <a:srgbClr val="161923"/>
                    </a:solidFill>
                  </a:tcPr>
                </a:tc>
                <a:tc>
                  <a:txBody>
                    <a:bodyPr/>
                    <a:lstStyle/>
                    <a:p>
                      <a:pPr algn="l"/>
                      <a:r>
                        <a:rPr sz="750">
                          <a:solidFill>
                            <a:srgbClr val="9AA3B8"/>
                          </a:solidFill>
                        </a:rPr>
                        <a:t>Machined, not moulded</a:t>
                      </a:r>
                    </a:p>
                  </a:txBody>
                  <a:tcPr>
                    <a:solidFill>
                      <a:srgbClr val="161923"/>
                    </a:solidFill>
                  </a:tcPr>
                </a:tc>
                <a:tc>
                  <a:txBody>
                    <a:bodyPr/>
                    <a:lstStyle/>
                    <a:p>
                      <a:pPr algn="l"/>
                      <a:r>
                        <a:rPr sz="750" b="1">
                          <a:solidFill>
                            <a:srgbClr val="10B981"/>
                          </a:solidFill>
                        </a:rPr>
                        <a:t>£7.79 injection</a:t>
                      </a:r>
                    </a:p>
                  </a:txBody>
                  <a:tcPr>
                    <a:solidFill>
                      <a:srgbClr val="161923"/>
                    </a:solidFill>
                  </a:tcPr>
                </a:tc>
              </a:tr>
              <a:tr h="388620">
                <a:tc>
                  <a:txBody>
                    <a:bodyPr/>
                    <a:lstStyle/>
                    <a:p>
                      <a:pPr algn="l"/>
                      <a:r>
                        <a:rPr sz="750" b="1">
                          <a:solidFill>
                            <a:srgbClr val="4F8EF7"/>
                          </a:solidFill>
                        </a:rPr>
                        <a:t>Servo horn</a:t>
                      </a:r>
                    </a:p>
                  </a:txBody>
                  <a:tcPr>
                    <a:solidFill>
                      <a:srgbClr val="1E2330"/>
                    </a:solidFill>
                  </a:tcPr>
                </a:tc>
                <a:tc>
                  <a:txBody>
                    <a:bodyPr/>
                    <a:lstStyle/>
                    <a:p>
                      <a:pPr algn="l"/>
                      <a:r>
                        <a:rPr sz="750">
                          <a:solidFill>
                            <a:srgbClr val="9AA3B8"/>
                          </a:solidFill>
                        </a:rPr>
                        <a:t>£333.00</a:t>
                      </a:r>
                    </a:p>
                  </a:txBody>
                  <a:tcPr>
                    <a:solidFill>
                      <a:srgbClr val="1E2330"/>
                    </a:solidFill>
                  </a:tcPr>
                </a:tc>
                <a:tc>
                  <a:txBody>
                    <a:bodyPr/>
                    <a:lstStyle/>
                    <a:p>
                      <a:pPr algn="l"/>
                      <a:r>
                        <a:rPr sz="750">
                          <a:solidFill>
                            <a:srgbClr val="9AA3B8"/>
                          </a:solidFill>
                        </a:rPr>
                        <a:t>Bulk, not net-shape</a:t>
                      </a:r>
                    </a:p>
                  </a:txBody>
                  <a:tcPr>
                    <a:solidFill>
                      <a:srgbClr val="1E2330"/>
                    </a:solidFill>
                  </a:tcPr>
                </a:tc>
                <a:tc>
                  <a:txBody>
                    <a:bodyPr/>
                    <a:lstStyle/>
                    <a:p>
                      <a:pPr algn="l"/>
                      <a:r>
                        <a:rPr sz="750" b="1">
                          <a:solidFill>
                            <a:srgbClr val="10B981"/>
                          </a:solidFill>
                        </a:rPr>
                        <a:t>£6.40 net-shape</a:t>
                      </a:r>
                    </a:p>
                  </a:txBody>
                  <a:tcPr>
                    <a:solidFill>
                      <a:srgbClr val="1E2330"/>
                    </a:solidFill>
                  </a:tcPr>
                </a:tc>
              </a:tr>
              <a:tr h="388620">
                <a:tc>
                  <a:txBody>
                    <a:bodyPr/>
                    <a:lstStyle/>
                    <a:p>
                      <a:pPr algn="l"/>
                      <a:r>
                        <a:rPr sz="750" b="1">
                          <a:solidFill>
                            <a:srgbClr val="4F8EF7"/>
                          </a:solidFill>
                        </a:rPr>
                        <a:t>Stub axle</a:t>
                      </a:r>
                    </a:p>
                  </a:txBody>
                  <a:tcPr>
                    <a:solidFill>
                      <a:srgbClr val="161923"/>
                    </a:solidFill>
                  </a:tcPr>
                </a:tc>
                <a:tc>
                  <a:txBody>
                    <a:bodyPr/>
                    <a:lstStyle/>
                    <a:p>
                      <a:pPr algn="l"/>
                      <a:r>
                        <a:rPr sz="750">
                          <a:solidFill>
                            <a:srgbClr val="9AA3B8"/>
                          </a:solidFill>
                        </a:rPr>
                        <a:t>mis-class</a:t>
                      </a:r>
                    </a:p>
                  </a:txBody>
                  <a:tcPr>
                    <a:solidFill>
                      <a:srgbClr val="161923"/>
                    </a:solidFill>
                  </a:tcPr>
                </a:tc>
                <a:tc>
                  <a:txBody>
                    <a:bodyPr/>
                    <a:lstStyle/>
                    <a:p>
                      <a:pPr algn="l"/>
                      <a:r>
                        <a:rPr sz="750">
                          <a:solidFill>
                            <a:srgbClr val="9AA3B8"/>
                          </a:solidFill>
                        </a:rPr>
                        <a:t>Wrong process/weight</a:t>
                      </a:r>
                    </a:p>
                  </a:txBody>
                  <a:tcPr>
                    <a:solidFill>
                      <a:srgbClr val="161923"/>
                    </a:solidFill>
                  </a:tcPr>
                </a:tc>
                <a:tc>
                  <a:txBody>
                    <a:bodyPr/>
                    <a:lstStyle/>
                    <a:p>
                      <a:pPr algn="l"/>
                      <a:r>
                        <a:rPr sz="750" b="1">
                          <a:solidFill>
                            <a:srgbClr val="10B981"/>
                          </a:solidFill>
                        </a:rPr>
                        <a:t>Forged steel 8.1 kg</a:t>
                      </a:r>
                    </a:p>
                  </a:txBody>
                  <a:tcPr>
                    <a:solidFill>
                      <a:srgbClr val="161923"/>
                    </a:solidFill>
                  </a:tcPr>
                </a:tc>
              </a:tr>
              <a:tr h="388620">
                <a:tc>
                  <a:txBody>
                    <a:bodyPr/>
                    <a:lstStyle/>
                    <a:p>
                      <a:pPr algn="l"/>
                      <a:r>
                        <a:rPr sz="750" b="1">
                          <a:solidFill>
                            <a:srgbClr val="4F8EF7"/>
                          </a:solidFill>
                        </a:rPr>
                        <a:t>Seat cross-member</a:t>
                      </a:r>
                    </a:p>
                  </a:txBody>
                  <a:tcPr>
                    <a:solidFill>
                      <a:srgbClr val="1E2330"/>
                    </a:solidFill>
                  </a:tcPr>
                </a:tc>
                <a:tc>
                  <a:txBody>
                    <a:bodyPr/>
                    <a:lstStyle/>
                    <a:p>
                      <a:pPr algn="l"/>
                      <a:r>
                        <a:rPr sz="750">
                          <a:solidFill>
                            <a:srgbClr val="9AA3B8"/>
                          </a:solidFill>
                        </a:rPr>
                        <a:t>engine crash</a:t>
                      </a:r>
                    </a:p>
                  </a:txBody>
                  <a:tcPr>
                    <a:solidFill>
                      <a:srgbClr val="1E2330"/>
                    </a:solidFill>
                  </a:tcPr>
                </a:tc>
                <a:tc>
                  <a:txBody>
                    <a:bodyPr/>
                    <a:lstStyle/>
                    <a:p>
                      <a:pPr algn="l"/>
                      <a:r>
                        <a:rPr sz="750">
                          <a:solidFill>
                            <a:srgbClr val="9AA3B8"/>
                          </a:solidFill>
                        </a:rPr>
                        <a:t>Sizing gap</a:t>
                      </a:r>
                    </a:p>
                  </a:txBody>
                  <a:tcPr>
                    <a:solidFill>
                      <a:srgbClr val="1E2330"/>
                    </a:solidFill>
                  </a:tcPr>
                </a:tc>
                <a:tc>
                  <a:txBody>
                    <a:bodyPr/>
                    <a:lstStyle/>
                    <a:p>
                      <a:pPr algn="l"/>
                      <a:r>
                        <a:rPr sz="750" b="1">
                          <a:solidFill>
                            <a:srgbClr val="10B981"/>
                          </a:solidFill>
                        </a:rPr>
                        <a:t>£1.11 runs clean</a:t>
                      </a:r>
                    </a:p>
                  </a:txBody>
                  <a:tcPr>
                    <a:solidFill>
                      <a:srgbClr val="1E2330"/>
                    </a:solidFill>
                  </a:tcPr>
                </a:tc>
              </a:tr>
            </a:tbl>
          </a:graphicData>
        </a:graphic>
      </p:graphicFrame>
      <p:sp>
        <p:nvSpPr>
          <p:cNvPr id="27" name="Rectangle 26"/>
          <p:cNvSpPr/>
          <p:nvPr/>
        </p:nvSpPr>
        <p:spPr>
          <a:xfrm>
            <a:off x="5806440" y="5029200"/>
            <a:ext cx="59893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F0F2F8"/>
                </a:solidFill>
              </a:rPr>
              <a:t>Built to be trusted, not just believed</a:t>
            </a:r>
          </a:p>
        </p:txBody>
      </p:sp>
      <p:sp>
        <p:nvSpPr>
          <p:cNvPr id="30" name="Rectangle 29"/>
          <p:cNvSpPr/>
          <p:nvPr/>
        </p:nvSpPr>
        <p:spPr>
          <a:xfrm>
            <a:off x="5989320" y="549554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9AA3B8"/>
                </a:solidFill>
              </a:rPr>
              <a:t>1,777 automated tests across 136 suites — a logic regression fails the build, not the demo</a:t>
            </a:r>
          </a:p>
        </p:txBody>
      </p:sp>
      <p:sp>
        <p:nvSpPr>
          <p:cNvPr id="32" name="Rectangle 31"/>
          <p:cNvSpPr/>
          <p:nvPr/>
        </p:nvSpPr>
        <p:spPr>
          <a:xfrm>
            <a:off x="5989320" y="57881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9AA3B8"/>
                </a:solidFill>
              </a:rPr>
              <a:t>The self-audit re-checks every estimate before you ever see the number</a:t>
            </a:r>
          </a:p>
        </p:txBody>
      </p:sp>
      <p:sp>
        <p:nvSpPr>
          <p:cNvPr id="34" name="Rectangle 33"/>
          <p:cNvSpPr/>
          <p:nvPr/>
        </p:nvSpPr>
        <p:spPr>
          <a:xfrm>
            <a:off x="5989320" y="60807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9AA3B8"/>
                </a:solidFill>
              </a:rPr>
              <a:t>The CAD geometry engine ships inside a container whose build is verified in CI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9AA3B8"/>
                          </a:solidFill>
                        </a:rPr>
                        <a:t>Commodity</a:t>
                      </a:r>
                    </a:p>
                  </a:txBody>
                  <a:tcPr>
                    <a:solidFill>
                      <a:srgbClr val="161923"/>
                    </a:solidFill>
                  </a:tcPr>
                </a:tc>
                <a:tc>
                  <a:txBody>
                    <a:bodyPr/>
                    <a:lstStyle/>
                    <a:p>
                      <a:pPr algn="l"/>
                      <a:r>
                        <a:rPr sz="750" b="1">
                          <a:solidFill>
                            <a:srgbClr val="9AA3B8"/>
                          </a:solidFill>
                        </a:rPr>
                        <a:t>Demo Part</a:t>
                      </a:r>
                    </a:p>
                  </a:txBody>
                  <a:tcPr>
                    <a:solidFill>
                      <a:srgbClr val="161923"/>
                    </a:solidFill>
                  </a:tcPr>
                </a:tc>
                <a:tc>
                  <a:txBody>
                    <a:bodyPr/>
                    <a:lstStyle/>
                    <a:p>
                      <a:pPr algn="l"/>
                      <a:r>
                        <a:rPr sz="750" b="1">
                          <a:solidFill>
                            <a:srgbClr val="9AA3B8"/>
                          </a:solidFill>
                        </a:rPr>
                        <a:t>Key Inputs</a:t>
                      </a:r>
                    </a:p>
                  </a:txBody>
                  <a:tcPr>
                    <a:solidFill>
                      <a:srgbClr val="161923"/>
                    </a:solidFill>
                  </a:tcPr>
                </a:tc>
                <a:tc>
                  <a:txBody>
                    <a:bodyPr/>
                    <a:lstStyle/>
                    <a:p>
                      <a:pPr algn="l"/>
                      <a:r>
                        <a:rPr sz="750" b="1">
                          <a:solidFill>
                            <a:srgbClr val="9AA3B8"/>
                          </a:solidFill>
                        </a:rPr>
                        <a:t>Should-Cost</a:t>
                      </a:r>
                    </a:p>
                  </a:txBody>
                  <a:tcPr>
                    <a:solidFill>
                      <a:srgbClr val="161923"/>
                    </a:solidFill>
                  </a:tcPr>
                </a:tc>
                <a:tc>
                  <a:txBody>
                    <a:bodyPr/>
                    <a:lstStyle/>
                    <a:p>
                      <a:pPr algn="l"/>
                      <a:r>
                        <a:rPr sz="750" b="1">
                          <a:solidFill>
                            <a:srgbClr val="9AA3B8"/>
                          </a:solidFill>
                        </a:rPr>
                        <a:t>AI Top Insight</a:t>
                      </a:r>
                    </a:p>
                  </a:txBody>
                  <a:tcPr>
                    <a:solidFill>
                      <a:srgbClr val="161923"/>
                    </a:solidFill>
                  </a:tcPr>
                </a:tc>
                <a:tc>
                  <a:txBody>
                    <a:bodyPr/>
                    <a:lstStyle/>
                    <a:p>
                      <a:pPr algn="l"/>
                      <a:r>
                        <a:rPr sz="750" b="1">
                          <a:solidFill>
                            <a:srgbClr val="9AA3B8"/>
                          </a:solidFill>
                        </a:rPr>
                        <a:t>DFM Flag</a:t>
                      </a:r>
                    </a:p>
                  </a:txBody>
                  <a:tcPr>
                    <a:solidFill>
                      <a:srgbClr val="161923"/>
                    </a:solidFill>
                  </a:tcPr>
                </a:tc>
              </a:tr>
              <a:tr h="397348">
                <a:tc>
                  <a:txBody>
                    <a:bodyPr/>
                    <a:lstStyle/>
                    <a:p>
                      <a:pPr algn="l"/>
                      <a:r>
                        <a:rPr sz="750" b="1">
                          <a:solidFill>
                            <a:srgbClr val="4F8EF7"/>
                          </a:solidFill>
                        </a:rPr>
                        <a:t>⚙️ Machining</a:t>
                      </a:r>
                    </a:p>
                  </a:txBody>
                  <a:tcPr>
                    <a:solidFill>
                      <a:srgbClr val="1E2330"/>
                    </a:solidFill>
                  </a:tcPr>
                </a:tc>
                <a:tc>
                  <a:txBody>
                    <a:bodyPr/>
                    <a:lstStyle/>
                    <a:p>
                      <a:pPr algn="l"/>
                      <a:r>
                        <a:rPr sz="750">
                          <a:solidFill>
                            <a:srgbClr val="9AA3B8"/>
                          </a:solidFill>
                        </a:rPr>
                        <a:t>Al Gearbox Bracket</a:t>
                      </a:r>
                    </a:p>
                  </a:txBody>
                  <a:tcPr>
                    <a:solidFill>
                      <a:srgbClr val="1E2330"/>
                    </a:solidFill>
                  </a:tcPr>
                </a:tc>
                <a:tc>
                  <a:txBody>
                    <a:bodyPr/>
                    <a:lstStyle/>
                    <a:p>
                      <a:pPr algn="l"/>
                      <a:r>
                        <a:rPr sz="750">
                          <a:solidFill>
                            <a:srgbClr val="9AA3B8"/>
                          </a:solidFill>
                        </a:rPr>
                        <a:t>Al 6082-T6 · 0.85 kg · 3 setups</a:t>
                      </a:r>
                    </a:p>
                  </a:txBody>
                  <a:tcPr>
                    <a:solidFill>
                      <a:srgbClr val="1E2330"/>
                    </a:solidFill>
                  </a:tcPr>
                </a:tc>
                <a:tc>
                  <a:txBody>
                    <a:bodyPr/>
                    <a:lstStyle/>
                    <a:p>
                      <a:pPr algn="l"/>
                      <a:r>
                        <a:rPr sz="750" b="1">
                          <a:solidFill>
                            <a:srgbClr val="10B981"/>
                          </a:solidFill>
                        </a:rPr>
                        <a:t>£ 28.40</a:t>
                      </a:r>
                    </a:p>
                  </a:txBody>
                  <a:tcPr>
                    <a:solidFill>
                      <a:srgbClr val="1E2330"/>
                    </a:solidFill>
                  </a:tcPr>
                </a:tc>
                <a:tc>
                  <a:txBody>
                    <a:bodyPr/>
                    <a:lstStyle/>
                    <a:p>
                      <a:pPr algn="l"/>
                      <a:r>
                        <a:rPr sz="750">
                          <a:solidFill>
                            <a:srgbClr val="9AA3B8"/>
                          </a:solidFill>
                        </a:rPr>
                        <a:t>Process 44% → near-net-shape saves £8</a:t>
                      </a:r>
                    </a:p>
                  </a:txBody>
                  <a:tcPr>
                    <a:solidFill>
                      <a:srgbClr val="1E2330"/>
                    </a:solidFill>
                  </a:tcPr>
                </a:tc>
                <a:tc>
                  <a:txBody>
                    <a:bodyPr/>
                    <a:lstStyle/>
                    <a:p>
                      <a:pPr algn="l"/>
                      <a:r>
                        <a:rPr sz="750">
                          <a:solidFill>
                            <a:srgbClr val="9AA3B8"/>
                          </a:solidFill>
                        </a:rPr>
                        <a:t>Major: 3 setups → 5-axis</a:t>
                      </a:r>
                    </a:p>
                  </a:txBody>
                  <a:tcPr>
                    <a:solidFill>
                      <a:srgbClr val="1E2330"/>
                    </a:solidFill>
                  </a:tcPr>
                </a:tc>
              </a:tr>
              <a:tr h="397348">
                <a:tc>
                  <a:txBody>
                    <a:bodyPr/>
                    <a:lstStyle/>
                    <a:p>
                      <a:pPr algn="l"/>
                      <a:r>
                        <a:rPr sz="750" b="1">
                          <a:solidFill>
                            <a:srgbClr val="4F8EF7"/>
                          </a:solidFill>
                        </a:rPr>
                        <a:t>🪨 HPDC Casting</a:t>
                      </a:r>
                    </a:p>
                  </a:txBody>
                  <a:tcPr>
                    <a:solidFill>
                      <a:srgbClr val="161923"/>
                    </a:solidFill>
                  </a:tcPr>
                </a:tc>
                <a:tc>
                  <a:txBody>
                    <a:bodyPr/>
                    <a:lstStyle/>
                    <a:p>
                      <a:pPr algn="l"/>
                      <a:r>
                        <a:rPr sz="750">
                          <a:solidFill>
                            <a:srgbClr val="9AA3B8"/>
                          </a:solidFill>
                        </a:rPr>
                        <a:t>Transmission Housing</a:t>
                      </a:r>
                    </a:p>
                  </a:txBody>
                  <a:tcPr>
                    <a:solidFill>
                      <a:srgbClr val="161923"/>
                    </a:solidFill>
                  </a:tcPr>
                </a:tc>
                <a:tc>
                  <a:txBody>
                    <a:bodyPr/>
                    <a:lstStyle/>
                    <a:p>
                      <a:pPr algn="l"/>
                      <a:r>
                        <a:rPr sz="750">
                          <a:solidFill>
                            <a:srgbClr val="9AA3B8"/>
                          </a:solidFill>
                        </a:rPr>
                        <a:t>Al A380 · 3.2 kg · 50k/yr</a:t>
                      </a:r>
                    </a:p>
                  </a:txBody>
                  <a:tcPr>
                    <a:solidFill>
                      <a:srgbClr val="161923"/>
                    </a:solidFill>
                  </a:tcPr>
                </a:tc>
                <a:tc>
                  <a:txBody>
                    <a:bodyPr/>
                    <a:lstStyle/>
                    <a:p>
                      <a:pPr algn="l"/>
                      <a:r>
                        <a:rPr sz="750" b="1">
                          <a:solidFill>
                            <a:srgbClr val="10B981"/>
                          </a:solidFill>
                        </a:rPr>
                        <a:t>£ 18.70</a:t>
                      </a:r>
                    </a:p>
                  </a:txBody>
                  <a:tcPr>
                    <a:solidFill>
                      <a:srgbClr val="161923"/>
                    </a:solidFill>
                  </a:tcPr>
                </a:tc>
                <a:tc>
                  <a:txBody>
                    <a:bodyPr/>
                    <a:lstStyle/>
                    <a:p>
                      <a:pPr algn="l"/>
                      <a:r>
                        <a:rPr sz="750">
                          <a:solidFill>
                            <a:srgbClr val="9AA3B8"/>
                          </a:solidFill>
                        </a:rPr>
                        <a:t>Die 9% OK. Margin 21% → negotiate</a:t>
                      </a:r>
                    </a:p>
                  </a:txBody>
                  <a:tcPr>
                    <a:solidFill>
                      <a:srgbClr val="161923"/>
                    </a:solidFill>
                  </a:tcPr>
                </a:tc>
                <a:tc>
                  <a:txBody>
                    <a:bodyPr/>
                    <a:lstStyle/>
                    <a:p>
                      <a:pPr algn="l"/>
                      <a:r>
                        <a:rPr sz="750">
                          <a:solidFill>
                            <a:srgbClr val="9AA3B8"/>
                          </a:solidFill>
                        </a:rPr>
                        <a:t>Good — no critical issues</a:t>
                      </a:r>
                    </a:p>
                  </a:txBody>
                  <a:tcPr>
                    <a:solidFill>
                      <a:srgbClr val="161923"/>
                    </a:solidFill>
                  </a:tcPr>
                </a:tc>
              </a:tr>
              <a:tr h="397348">
                <a:tc>
                  <a:txBody>
                    <a:bodyPr/>
                    <a:lstStyle/>
                    <a:p>
                      <a:pPr algn="l"/>
                      <a:r>
                        <a:rPr sz="750" b="1">
                          <a:solidFill>
                            <a:srgbClr val="4F8EF7"/>
                          </a:solidFill>
                        </a:rPr>
                        <a:t>🪗 Sheet Metal</a:t>
                      </a:r>
                    </a:p>
                  </a:txBody>
                  <a:tcPr>
                    <a:solidFill>
                      <a:srgbClr val="1E2330"/>
                    </a:solidFill>
                  </a:tcPr>
                </a:tc>
                <a:tc>
                  <a:txBody>
                    <a:bodyPr/>
                    <a:lstStyle/>
                    <a:p>
                      <a:pPr algn="l"/>
                      <a:r>
                        <a:rPr sz="750">
                          <a:solidFill>
                            <a:srgbClr val="9AA3B8"/>
                          </a:solidFill>
                        </a:rPr>
                        <a:t>Rear Door Inner</a:t>
                      </a:r>
                    </a:p>
                  </a:txBody>
                  <a:tcPr>
                    <a:solidFill>
                      <a:srgbClr val="1E2330"/>
                    </a:solidFill>
                  </a:tcPr>
                </a:tc>
                <a:tc>
                  <a:txBody>
                    <a:bodyPr/>
                    <a:lstStyle/>
                    <a:p>
                      <a:pPr algn="l"/>
                      <a:r>
                        <a:rPr sz="750">
                          <a:solidFill>
                            <a:srgbClr val="9AA3B8"/>
                          </a:solidFill>
                        </a:rPr>
                        <a:t>DC04 1.2mm · 4.1 kg · 60k/yr</a:t>
                      </a:r>
                    </a:p>
                  </a:txBody>
                  <a:tcPr>
                    <a:solidFill>
                      <a:srgbClr val="1E2330"/>
                    </a:solidFill>
                  </a:tcPr>
                </a:tc>
                <a:tc>
                  <a:txBody>
                    <a:bodyPr/>
                    <a:lstStyle/>
                    <a:p>
                      <a:pPr algn="l"/>
                      <a:r>
                        <a:rPr sz="750" b="1">
                          <a:solidFill>
                            <a:srgbClr val="10B981"/>
                          </a:solidFill>
                        </a:rPr>
                        <a:t>£ 22.10</a:t>
                      </a:r>
                    </a:p>
                  </a:txBody>
                  <a:tcPr>
                    <a:solidFill>
                      <a:srgbClr val="1E2330"/>
                    </a:solidFill>
                  </a:tcPr>
                </a:tc>
                <a:tc>
                  <a:txBody>
                    <a:bodyPr/>
                    <a:lstStyle/>
                    <a:p>
                      <a:pPr algn="l"/>
                      <a:r>
                        <a:rPr sz="750">
                          <a:solidFill>
                            <a:srgbClr val="9AA3B8"/>
                          </a:solidFill>
                        </a:rPr>
                        <a:t>Blank nesting 64% → improve saves £2.80</a:t>
                      </a:r>
                    </a:p>
                  </a:txBody>
                  <a:tcPr>
                    <a:solidFill>
                      <a:srgbClr val="1E2330"/>
                    </a:solidFill>
                  </a:tcPr>
                </a:tc>
                <a:tc>
                  <a:txBody>
                    <a:bodyPr/>
                    <a:lstStyle/>
                    <a:p>
                      <a:pPr algn="l"/>
                      <a:r>
                        <a:rPr sz="750">
                          <a:solidFill>
                            <a:srgbClr val="9AA3B8"/>
                          </a:solidFill>
                        </a:rPr>
                        <a:t>Critical: nesting &lt;65%</a:t>
                      </a:r>
                    </a:p>
                  </a:txBody>
                  <a:tcPr>
                    <a:solidFill>
                      <a:srgbClr val="1E2330"/>
                    </a:solidFill>
                  </a:tcPr>
                </a:tc>
              </a:tr>
              <a:tr h="397348">
                <a:tc>
                  <a:txBody>
                    <a:bodyPr/>
                    <a:lstStyle/>
                    <a:p>
                      <a:pPr algn="l"/>
                      <a:r>
                        <a:rPr sz="750" b="1">
                          <a:solidFill>
                            <a:srgbClr val="4F8EF7"/>
                          </a:solidFill>
                        </a:rPr>
                        <a:t>🏺 Injection</a:t>
                      </a:r>
                    </a:p>
                  </a:txBody>
                  <a:tcPr>
                    <a:solidFill>
                      <a:srgbClr val="161923"/>
                    </a:solidFill>
                  </a:tcPr>
                </a:tc>
                <a:tc>
                  <a:txBody>
                    <a:bodyPr/>
                    <a:lstStyle/>
                    <a:p>
                      <a:pPr algn="l"/>
                      <a:r>
                        <a:rPr sz="750">
                          <a:solidFill>
                            <a:srgbClr val="9AA3B8"/>
                          </a:solidFill>
                        </a:rPr>
                        <a:t>PP Bumper Bracket</a:t>
                      </a:r>
                    </a:p>
                  </a:txBody>
                  <a:tcPr>
                    <a:solidFill>
                      <a:srgbClr val="161923"/>
                    </a:solidFill>
                  </a:tcPr>
                </a:tc>
                <a:tc>
                  <a:txBody>
                    <a:bodyPr/>
                    <a:lstStyle/>
                    <a:p>
                      <a:pPr algn="l"/>
                      <a:r>
                        <a:rPr sz="750">
                          <a:solidFill>
                            <a:srgbClr val="9AA3B8"/>
                          </a:solidFill>
                        </a:rPr>
                        <a:t>PP-TD20 · 0.42 kg · 100k/yr</a:t>
                      </a:r>
                    </a:p>
                  </a:txBody>
                  <a:tcPr>
                    <a:solidFill>
                      <a:srgbClr val="161923"/>
                    </a:solidFill>
                  </a:tcPr>
                </a:tc>
                <a:tc>
                  <a:txBody>
                    <a:bodyPr/>
                    <a:lstStyle/>
                    <a:p>
                      <a:pPr algn="l"/>
                      <a:r>
                        <a:rPr sz="750" b="1">
                          <a:solidFill>
                            <a:srgbClr val="10B981"/>
                          </a:solidFill>
                        </a:rPr>
                        <a:t>£  3.85</a:t>
                      </a:r>
                    </a:p>
                  </a:txBody>
                  <a:tcPr>
                    <a:solidFill>
                      <a:srgbClr val="161923"/>
                    </a:solidFill>
                  </a:tcPr>
                </a:tc>
                <a:tc>
                  <a:txBody>
                    <a:bodyPr/>
                    <a:lstStyle/>
                    <a:p>
                      <a:pPr algn="l"/>
                      <a:r>
                        <a:rPr sz="750">
                          <a:solidFill>
                            <a:srgbClr val="9AA3B8"/>
                          </a:solidFill>
                        </a:rPr>
                        <a:t>Mould 8% — good at this volume</a:t>
                      </a:r>
                    </a:p>
                  </a:txBody>
                  <a:tcPr>
                    <a:solidFill>
                      <a:srgbClr val="161923"/>
                    </a:solidFill>
                  </a:tcPr>
                </a:tc>
                <a:tc>
                  <a:txBody>
                    <a:bodyPr/>
                    <a:lstStyle/>
                    <a:p>
                      <a:pPr algn="l"/>
                      <a:r>
                        <a:rPr sz="750">
                          <a:solidFill>
                            <a:srgbClr val="9AA3B8"/>
                          </a:solidFill>
                        </a:rPr>
                        <a:t>Good — runner waste 15%</a:t>
                      </a:r>
                    </a:p>
                  </a:txBody>
                  <a:tcPr>
                    <a:solidFill>
                      <a:srgbClr val="161923"/>
                    </a:solidFill>
                  </a:tcPr>
                </a:tc>
              </a:tr>
              <a:tr h="397348">
                <a:tc>
                  <a:txBody>
                    <a:bodyPr/>
                    <a:lstStyle/>
                    <a:p>
                      <a:pPr algn="l"/>
                      <a:r>
                        <a:rPr sz="750" b="1">
                          <a:solidFill>
                            <a:srgbClr val="4F8EF7"/>
                          </a:solidFill>
                        </a:rPr>
                        <a:t>🧱 Rubber</a:t>
                      </a:r>
                    </a:p>
                  </a:txBody>
                  <a:tcPr>
                    <a:solidFill>
                      <a:srgbClr val="1E2330"/>
                    </a:solidFill>
                  </a:tcPr>
                </a:tc>
                <a:tc>
                  <a:txBody>
                    <a:bodyPr/>
                    <a:lstStyle/>
                    <a:p>
                      <a:pPr algn="l"/>
                      <a:r>
                        <a:rPr sz="750">
                          <a:solidFill>
                            <a:srgbClr val="9AA3B8"/>
                          </a:solidFill>
                        </a:rPr>
                        <a:t>EPDM Door Seal</a:t>
                      </a:r>
                    </a:p>
                  </a:txBody>
                  <a:tcPr>
                    <a:solidFill>
                      <a:srgbClr val="1E2330"/>
                    </a:solidFill>
                  </a:tcPr>
                </a:tc>
                <a:tc>
                  <a:txBody>
                    <a:bodyPr/>
                    <a:lstStyle/>
                    <a:p>
                      <a:pPr algn="l"/>
                      <a:r>
                        <a:rPr sz="750">
                          <a:solidFill>
                            <a:srgbClr val="9AA3B8"/>
                          </a:solidFill>
                        </a:rPr>
                        <a:t>Extrusion · 2.8m · 85 Shore A</a:t>
                      </a:r>
                    </a:p>
                  </a:txBody>
                  <a:tcPr>
                    <a:solidFill>
                      <a:srgbClr val="1E2330"/>
                    </a:solidFill>
                  </a:tcPr>
                </a:tc>
                <a:tc>
                  <a:txBody>
                    <a:bodyPr/>
                    <a:lstStyle/>
                    <a:p>
                      <a:pPr algn="l"/>
                      <a:r>
                        <a:rPr sz="750" b="1">
                          <a:solidFill>
                            <a:srgbClr val="10B981"/>
                          </a:solidFill>
                        </a:rPr>
                        <a:t>£  4.10</a:t>
                      </a:r>
                    </a:p>
                  </a:txBody>
                  <a:tcPr>
                    <a:solidFill>
                      <a:srgbClr val="1E2330"/>
                    </a:solidFill>
                  </a:tcPr>
                </a:tc>
                <a:tc>
                  <a:txBody>
                    <a:bodyPr/>
                    <a:lstStyle/>
                    <a:p>
                      <a:pPr algn="l"/>
                      <a:r>
                        <a:rPr sz="750">
                          <a:solidFill>
                            <a:srgbClr val="9AA3B8"/>
                          </a:solidFill>
                        </a:rPr>
                        <a:t>Process 42% — cure cycle dominant</a:t>
                      </a:r>
                    </a:p>
                  </a:txBody>
                  <a:tcPr>
                    <a:solidFill>
                      <a:srgbClr val="1E2330"/>
                    </a:solidFill>
                  </a:tcPr>
                </a:tc>
                <a:tc>
                  <a:txBody>
                    <a:bodyPr/>
                    <a:lstStyle/>
                    <a:p>
                      <a:pPr algn="l"/>
                      <a:r>
                        <a:rPr sz="750">
                          <a:solidFill>
                            <a:srgbClr val="9AA3B8"/>
                          </a:solidFill>
                        </a:rPr>
                        <a:t>Major: cure time optimise</a:t>
                      </a:r>
                    </a:p>
                  </a:txBody>
                  <a:tcPr>
                    <a:solidFill>
                      <a:srgbClr val="1E2330"/>
                    </a:solidFill>
                  </a:tcPr>
                </a:tc>
              </a:tr>
              <a:tr h="397348">
                <a:tc>
                  <a:txBody>
                    <a:bodyPr/>
                    <a:lstStyle/>
                    <a:p>
                      <a:pPr algn="l"/>
                      <a:r>
                        <a:rPr sz="750" b="1">
                          <a:solidFill>
                            <a:srgbClr val="4F8EF7"/>
                          </a:solidFill>
                        </a:rPr>
                        <a:t>🖥️ PCB Fab</a:t>
                      </a:r>
                    </a:p>
                  </a:txBody>
                  <a:tcPr>
                    <a:solidFill>
                      <a:srgbClr val="161923"/>
                    </a:solidFill>
                  </a:tcPr>
                </a:tc>
                <a:tc>
                  <a:txBody>
                    <a:bodyPr/>
                    <a:lstStyle/>
                    <a:p>
                      <a:pPr algn="l"/>
                      <a:r>
                        <a:rPr sz="750">
                          <a:solidFill>
                            <a:srgbClr val="9AA3B8"/>
                          </a:solidFill>
                        </a:rPr>
                        <a:t>4-Layer FR4 ECU Board</a:t>
                      </a:r>
                    </a:p>
                  </a:txBody>
                  <a:tcPr>
                    <a:solidFill>
                      <a:srgbClr val="161923"/>
                    </a:solidFill>
                  </a:tcPr>
                </a:tc>
                <a:tc>
                  <a:txBody>
                    <a:bodyPr/>
                    <a:lstStyle/>
                    <a:p>
                      <a:pPr algn="l"/>
                      <a:r>
                        <a:rPr sz="750">
                          <a:solidFill>
                            <a:srgbClr val="9AA3B8"/>
                          </a:solidFill>
                        </a:rPr>
                        <a:t>100×80mm · ENIG · Flying probe</a:t>
                      </a:r>
                    </a:p>
                  </a:txBody>
                  <a:tcPr>
                    <a:solidFill>
                      <a:srgbClr val="161923"/>
                    </a:solidFill>
                  </a:tcPr>
                </a:tc>
                <a:tc>
                  <a:txBody>
                    <a:bodyPr/>
                    <a:lstStyle/>
                    <a:p>
                      <a:pPr algn="l"/>
                      <a:r>
                        <a:rPr sz="750" b="1">
                          <a:solidFill>
                            <a:srgbClr val="10B981"/>
                          </a:solidFill>
                        </a:rPr>
                        <a:t>£  4.18</a:t>
                      </a:r>
                    </a:p>
                  </a:txBody>
                  <a:tcPr>
                    <a:solidFill>
                      <a:srgbClr val="161923"/>
                    </a:solidFill>
                  </a:tcPr>
                </a:tc>
                <a:tc>
                  <a:txBody>
                    <a:bodyPr/>
                    <a:lstStyle/>
                    <a:p>
                      <a:pPr algn="l"/>
                      <a:r>
                        <a:rPr sz="750">
                          <a:solidFill>
                            <a:srgbClr val="9AA3B8"/>
                          </a:solidFill>
                        </a:rPr>
                        <a:t>NRE 6% per board — increase batch</a:t>
                      </a:r>
                    </a:p>
                  </a:txBody>
                  <a:tcPr>
                    <a:solidFill>
                      <a:srgbClr val="161923"/>
                    </a:solidFill>
                  </a:tcPr>
                </a:tc>
                <a:tc>
                  <a:txBody>
                    <a:bodyPr/>
                    <a:lstStyle/>
                    <a:p>
                      <a:pPr algn="l"/>
                      <a:r>
                        <a:rPr sz="750">
                          <a:solidFill>
                            <a:srgbClr val="9AA3B8"/>
                          </a:solidFill>
                        </a:rPr>
                        <a:t>Good — standard technology</a:t>
                      </a:r>
                    </a:p>
                  </a:txBody>
                  <a:tcPr>
                    <a:solidFill>
                      <a:srgbClr val="161923"/>
                    </a:solidFill>
                  </a:tcPr>
                </a:tc>
              </a:tr>
              <a:tr h="397348">
                <a:tc>
                  <a:txBody>
                    <a:bodyPr/>
                    <a:lstStyle/>
                    <a:p>
                      <a:pPr algn="l"/>
                      <a:r>
                        <a:rPr sz="750" b="1">
                          <a:solidFill>
                            <a:srgbClr val="4F8EF7"/>
                          </a:solidFill>
                        </a:rPr>
                        <a:t>🔌 PCBA</a:t>
                      </a:r>
                    </a:p>
                  </a:txBody>
                  <a:tcPr>
                    <a:solidFill>
                      <a:srgbClr val="1E2330"/>
                    </a:solidFill>
                  </a:tcPr>
                </a:tc>
                <a:tc>
                  <a:txBody>
                    <a:bodyPr/>
                    <a:lstStyle/>
                    <a:p>
                      <a:pPr algn="l"/>
                      <a:r>
                        <a:rPr sz="750">
                          <a:solidFill>
                            <a:srgbClr val="9AA3B8"/>
                          </a:solidFill>
                        </a:rPr>
                        <a:t>ECU PCBA 85 comp.</a:t>
                      </a:r>
                    </a:p>
                  </a:txBody>
                  <a:tcPr>
                    <a:solidFill>
                      <a:srgbClr val="1E2330"/>
                    </a:solidFill>
                  </a:tcPr>
                </a:tc>
                <a:tc>
                  <a:txBody>
                    <a:bodyPr/>
                    <a:lstStyle/>
                    <a:p>
                      <a:pPr algn="l"/>
                      <a:r>
                        <a:rPr sz="750">
                          <a:solidFill>
                            <a:srgbClr val="9AA3B8"/>
                          </a:solidFill>
                        </a:rPr>
                        <a:t>SMT + TH · 4 TH joints</a:t>
                      </a:r>
                    </a:p>
                  </a:txBody>
                  <a:tcPr>
                    <a:solidFill>
                      <a:srgbClr val="1E2330"/>
                    </a:solidFill>
                  </a:tcPr>
                </a:tc>
                <a:tc>
                  <a:txBody>
                    <a:bodyPr/>
                    <a:lstStyle/>
                    <a:p>
                      <a:pPr algn="l"/>
                      <a:r>
                        <a:rPr sz="750" b="1">
                          <a:solidFill>
                            <a:srgbClr val="10B981"/>
                          </a:solidFill>
                        </a:rPr>
                        <a:t>£ 32.60</a:t>
                      </a:r>
                    </a:p>
                  </a:txBody>
                  <a:tcPr>
                    <a:solidFill>
                      <a:srgbClr val="1E2330"/>
                    </a:solidFill>
                  </a:tcPr>
                </a:tc>
                <a:tc>
                  <a:txBody>
                    <a:bodyPr/>
                    <a:lstStyle/>
                    <a:p>
                      <a:pPr algn="l"/>
                      <a:r>
                        <a:rPr sz="750">
                          <a:solidFill>
                            <a:srgbClr val="9AA3B8"/>
                          </a:solidFill>
                        </a:rPr>
                        <a:t>Labour 38% — convert TH to SMT saves £4</a:t>
                      </a:r>
                    </a:p>
                  </a:txBody>
                  <a:tcPr>
                    <a:solidFill>
                      <a:srgbClr val="1E2330"/>
                    </a:solidFill>
                  </a:tcPr>
                </a:tc>
                <a:tc>
                  <a:txBody>
                    <a:bodyPr/>
                    <a:lstStyle/>
                    <a:p>
                      <a:pPr algn="l"/>
                      <a:r>
                        <a:rPr sz="750">
                          <a:solidFill>
                            <a:srgbClr val="9AA3B8"/>
                          </a:solidFill>
                        </a:rPr>
                        <a:t>Major: high TH labour</a:t>
                      </a:r>
                    </a:p>
                  </a:txBody>
                  <a:tcPr>
                    <a:solidFill>
                      <a:srgbClr val="1E2330"/>
                    </a:solidFill>
                  </a:tcPr>
                </a:tc>
              </a:tr>
              <a:tr h="397348">
                <a:tc>
                  <a:txBody>
                    <a:bodyPr/>
                    <a:lstStyle/>
                    <a:p>
                      <a:pPr algn="l"/>
                      <a:r>
                        <a:rPr sz="750" b="1">
                          <a:solidFill>
                            <a:srgbClr val="4F8EF7"/>
                          </a:solidFill>
                        </a:rPr>
                        <a:t>🔗 Wiring Harness</a:t>
                      </a:r>
                    </a:p>
                  </a:txBody>
                  <a:tcPr>
                    <a:solidFill>
                      <a:srgbClr val="161923"/>
                    </a:solidFill>
                  </a:tcPr>
                </a:tc>
                <a:tc>
                  <a:txBody>
                    <a:bodyPr/>
                    <a:lstStyle/>
                    <a:p>
                      <a:pPr algn="l"/>
                      <a:r>
                        <a:rPr sz="750">
                          <a:solidFill>
                            <a:srgbClr val="9AA3B8"/>
                          </a:solidFill>
                        </a:rPr>
                        <a:t>Door Module Harness</a:t>
                      </a:r>
                    </a:p>
                  </a:txBody>
                  <a:tcPr>
                    <a:solidFill>
                      <a:srgbClr val="161923"/>
                    </a:solidFill>
                  </a:tcPr>
                </a:tc>
                <a:tc>
                  <a:txBody>
                    <a:bodyPr/>
                    <a:lstStyle/>
                    <a:p>
                      <a:pPr algn="l"/>
                      <a:r>
                        <a:rPr sz="750">
                          <a:solidFill>
                            <a:srgbClr val="9AA3B8"/>
                          </a:solidFill>
                        </a:rPr>
                        <a:t>24 circuits · 2.1m avg</a:t>
                      </a:r>
                    </a:p>
                  </a:txBody>
                  <a:tcPr>
                    <a:solidFill>
                      <a:srgbClr val="161923"/>
                    </a:solidFill>
                  </a:tcPr>
                </a:tc>
                <a:tc>
                  <a:txBody>
                    <a:bodyPr/>
                    <a:lstStyle/>
                    <a:p>
                      <a:pPr algn="l"/>
                      <a:r>
                        <a:rPr sz="750" b="1">
                          <a:solidFill>
                            <a:srgbClr val="10B981"/>
                          </a:solidFill>
                        </a:rPr>
                        <a:t>£ 11.80</a:t>
                      </a:r>
                    </a:p>
                  </a:txBody>
                  <a:tcPr>
                    <a:solidFill>
                      <a:srgbClr val="161923"/>
                    </a:solidFill>
                  </a:tcPr>
                </a:tc>
                <a:tc>
                  <a:txBody>
                    <a:bodyPr/>
                    <a:lstStyle/>
                    <a:p>
                      <a:pPr algn="l"/>
                      <a:r>
                        <a:rPr sz="750">
                          <a:solidFill>
                            <a:srgbClr val="9AA3B8"/>
                          </a:solidFill>
                        </a:rPr>
                        <a:t>Labour 58% — automation saves 20%</a:t>
                      </a:r>
                    </a:p>
                  </a:txBody>
                  <a:tcPr>
                    <a:solidFill>
                      <a:srgbClr val="161923"/>
                    </a:solidFill>
                  </a:tcPr>
                </a:tc>
                <a:tc>
                  <a:txBody>
                    <a:bodyPr/>
                    <a:lstStyle/>
                    <a:p>
                      <a:pPr algn="l"/>
                      <a:r>
                        <a:rPr sz="750">
                          <a:solidFill>
                            <a:srgbClr val="9AA3B8"/>
                          </a:solidFill>
                        </a:rPr>
                        <a:t>Critical: labour &gt;50%</a:t>
                      </a:r>
                    </a:p>
                  </a:txBody>
                  <a:tcPr>
                    <a:solidFill>
                      <a:srgbClr val="161923"/>
                    </a:solidFill>
                  </a:tcPr>
                </a:tc>
              </a:tr>
              <a:tr h="397348">
                <a:tc>
                  <a:txBody>
                    <a:bodyPr/>
                    <a:lstStyle/>
                    <a:p>
                      <a:pPr algn="l"/>
                      <a:r>
                        <a:rPr sz="750" b="1">
                          <a:solidFill>
                            <a:srgbClr val="4F8EF7"/>
                          </a:solidFill>
                        </a:rPr>
                        <a:t>🪢 Composites</a:t>
                      </a:r>
                    </a:p>
                  </a:txBody>
                  <a:tcPr>
                    <a:solidFill>
                      <a:srgbClr val="1E2330"/>
                    </a:solidFill>
                  </a:tcPr>
                </a:tc>
                <a:tc>
                  <a:txBody>
                    <a:bodyPr/>
                    <a:lstStyle/>
                    <a:p>
                      <a:pPr algn="l"/>
                      <a:r>
                        <a:rPr sz="750">
                          <a:solidFill>
                            <a:srgbClr val="9AA3B8"/>
                          </a:solidFill>
                        </a:rPr>
                        <a:t>CFRP Floor Pan</a:t>
                      </a:r>
                    </a:p>
                  </a:txBody>
                  <a:tcPr>
                    <a:solidFill>
                      <a:srgbClr val="1E2330"/>
                    </a:solidFill>
                  </a:tcPr>
                </a:tc>
                <a:tc>
                  <a:txBody>
                    <a:bodyPr/>
                    <a:lstStyle/>
                    <a:p>
                      <a:pPr algn="l"/>
                      <a:r>
                        <a:rPr sz="750">
                          <a:solidFill>
                            <a:srgbClr val="9AA3B8"/>
                          </a:solidFill>
                        </a:rPr>
                        <a:t>Prepreg CFRP · 1.8 kg · autoclave</a:t>
                      </a:r>
                    </a:p>
                  </a:txBody>
                  <a:tcPr>
                    <a:solidFill>
                      <a:srgbClr val="1E2330"/>
                    </a:solidFill>
                  </a:tcPr>
                </a:tc>
                <a:tc>
                  <a:txBody>
                    <a:bodyPr/>
                    <a:lstStyle/>
                    <a:p>
                      <a:pPr algn="l"/>
                      <a:r>
                        <a:rPr sz="750" b="1">
                          <a:solidFill>
                            <a:srgbClr val="10B981"/>
                          </a:solidFill>
                        </a:rPr>
                        <a:t>£ 185.00</a:t>
                      </a:r>
                    </a:p>
                  </a:txBody>
                  <a:tcPr>
                    <a:solidFill>
                      <a:srgbClr val="1E2330"/>
                    </a:solidFill>
                  </a:tcPr>
                </a:tc>
                <a:tc>
                  <a:txBody>
                    <a:bodyPr/>
                    <a:lstStyle/>
                    <a:p>
                      <a:pPr algn="l"/>
                      <a:r>
                        <a:rPr sz="750">
                          <a:solidFill>
                            <a:srgbClr val="9AA3B8"/>
                          </a:solidFill>
                        </a:rPr>
                        <a:t>Labour 44% — evaluate ATL/AFP</a:t>
                      </a:r>
                    </a:p>
                  </a:txBody>
                  <a:tcPr>
                    <a:solidFill>
                      <a:srgbClr val="1E2330"/>
                    </a:solidFill>
                  </a:tcPr>
                </a:tc>
                <a:tc>
                  <a:txBody>
                    <a:bodyPr/>
                    <a:lstStyle/>
                    <a:p>
                      <a:pPr algn="l"/>
                      <a:r>
                        <a:rPr sz="750">
                          <a:solidFill>
                            <a:srgbClr val="9AA3B8"/>
                          </a:solidFill>
                        </a:rPr>
                        <a:t>Major: manual layup cost</a:t>
                      </a:r>
                    </a:p>
                  </a:txBody>
                  <a:tcPr>
                    <a:solidFill>
                      <a:srgbClr val="1E2330"/>
                    </a:solidFill>
                  </a:tcPr>
                </a:tc>
              </a:tr>
              <a:tr h="397352">
                <a:tc>
                  <a:txBody>
                    <a:bodyPr/>
                    <a:lstStyle/>
                    <a:p>
                      <a:pPr algn="l"/>
                      <a:r>
                        <a:rPr sz="750" b="1">
                          <a:solidFill>
                            <a:srgbClr val="4F8EF7"/>
                          </a:solidFill>
                        </a:rPr>
                        <a:t>🔨 Forging</a:t>
                      </a:r>
                    </a:p>
                  </a:txBody>
                  <a:tcPr>
                    <a:solidFill>
                      <a:srgbClr val="161923"/>
                    </a:solidFill>
                  </a:tcPr>
                </a:tc>
                <a:tc>
                  <a:txBody>
                    <a:bodyPr/>
                    <a:lstStyle/>
                    <a:p>
                      <a:pPr algn="l"/>
                      <a:r>
                        <a:rPr sz="750">
                          <a:solidFill>
                            <a:srgbClr val="9AA3B8"/>
                          </a:solidFill>
                        </a:rPr>
                        <a:t>Steel Control Arm</a:t>
                      </a:r>
                    </a:p>
                  </a:txBody>
                  <a:tcPr>
                    <a:solidFill>
                      <a:srgbClr val="161923"/>
                    </a:solidFill>
                  </a:tcPr>
                </a:tc>
                <a:tc>
                  <a:txBody>
                    <a:bodyPr/>
                    <a:lstStyle/>
                    <a:p>
                      <a:pPr algn="l"/>
                      <a:r>
                        <a:rPr sz="750">
                          <a:solidFill>
                            <a:srgbClr val="9AA3B8"/>
                          </a:solidFill>
                        </a:rPr>
                        <a:t>42CrMo4 · 2.1 kg · 80k/yr</a:t>
                      </a:r>
                    </a:p>
                  </a:txBody>
                  <a:tcPr>
                    <a:solidFill>
                      <a:srgbClr val="161923"/>
                    </a:solidFill>
                  </a:tcPr>
                </a:tc>
                <a:tc>
                  <a:txBody>
                    <a:bodyPr/>
                    <a:lstStyle/>
                    <a:p>
                      <a:pPr algn="l"/>
                      <a:r>
                        <a:rPr sz="750" b="1">
                          <a:solidFill>
                            <a:srgbClr val="10B981"/>
                          </a:solidFill>
                        </a:rPr>
                        <a:t>£  9.20</a:t>
                      </a:r>
                    </a:p>
                  </a:txBody>
                  <a:tcPr>
                    <a:solidFill>
                      <a:srgbClr val="161923"/>
                    </a:solidFill>
                  </a:tcPr>
                </a:tc>
                <a:tc>
                  <a:txBody>
                    <a:bodyPr/>
                    <a:lstStyle/>
                    <a:p>
                      <a:pPr algn="l"/>
                      <a:r>
                        <a:rPr sz="750">
                          <a:solidFill>
                            <a:srgbClr val="9AA3B8"/>
                          </a:solidFill>
                        </a:rPr>
                        <a:t>Die 11% — acceptable at volume</a:t>
                      </a:r>
                    </a:p>
                  </a:txBody>
                  <a:tcPr>
                    <a:solidFill>
                      <a:srgbClr val="161923"/>
                    </a:solidFill>
                  </a:tcPr>
                </a:tc>
                <a:tc>
                  <a:txBody>
                    <a:bodyPr/>
                    <a:lstStyle/>
                    <a:p>
                      <a:pPr algn="l"/>
                      <a:r>
                        <a:rPr sz="750">
                          <a:solidFill>
                            <a:srgbClr val="9AA3B8"/>
                          </a:solidFill>
                        </a:rPr>
                        <a:t>Good — closed-die efficient</a:t>
                      </a:r>
                    </a:p>
                  </a:txBody>
                  <a:tcPr>
                    <a:solidFill>
                      <a:srgbClr val="161923"/>
                    </a:solidFill>
                  </a:tcPr>
                </a:tc>
              </a:tr>
            </a:tbl>
          </a:graphicData>
        </a:graphic>
      </p:graphicFrame>
      <p:sp>
        <p:nvSpPr>
          <p:cNvPr id="12" name="Rectangle 11"/>
          <p:cNvSpPr/>
          <p:nvPr/>
        </p:nvSpPr>
        <p:spPr>
          <a:xfrm>
            <a:off x="411480" y="6327648"/>
            <a:ext cx="11384280"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5A6380"/>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Export, Share &amp; Collaborate — Enterprise Ready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From individual engineer to global team — CostVision scales to any organisation size.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6-Sheet Excel Export</a:t>
            </a:r>
          </a:p>
        </p:txBody>
      </p:sp>
      <p:sp>
        <p:nvSpPr>
          <p:cNvPr id="14" name="TextBox 13"/>
          <p:cNvSpPr txBox="1"/>
          <p:nvPr/>
        </p:nvSpPr>
        <p:spPr>
          <a:xfrm>
            <a:off x="539496" y="2157984"/>
            <a:ext cx="3566159" cy="1508760"/>
          </a:xfrm>
          <a:prstGeom prst="rect">
            <a:avLst/>
          </a:prstGeom>
          <a:noFill/>
        </p:spPr>
        <p:txBody>
          <a:bodyPr wrap="square">
            <a:spAutoFit/>
          </a:bodyPr>
          <a:lstStyle/>
          <a:p>
            <a:pPr algn="l"/>
            <a:r>
              <a:rPr sz="850" b="0" i="0">
                <a:solidFill>
                  <a:srgbClr val="9AA3B8"/>
                </a:solidFill>
              </a:rPr>
              <a:t>Sheet 1: Summary (total cost, breakdown %, region, commodity)
Sheet 2: Material (alloy, weight, utilisation, price)
Sheet 3: Operations (machine, labour, cycle time, OEE per step)
Sheet 4: Machine Rates (rate library snapshot)
Sheet 5: Labour Rates (regional labour tiers)
Sheet 6: Traceability (assumptions, AI notes, version, date)</a:t>
            </a:r>
          </a:p>
        </p:txBody>
      </p:sp>
      <p:sp>
        <p:nvSpPr>
          <p:cNvPr id="15" name="Rectangle 14"/>
          <p:cNvSpPr/>
          <p:nvPr/>
        </p:nvSpPr>
        <p:spPr>
          <a:xfrm>
            <a:off x="4270247"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Professional PDF Report</a:t>
            </a:r>
          </a:p>
        </p:txBody>
      </p:sp>
      <p:sp>
        <p:nvSpPr>
          <p:cNvPr id="18" name="TextBox 17"/>
          <p:cNvSpPr txBox="1"/>
          <p:nvPr/>
        </p:nvSpPr>
        <p:spPr>
          <a:xfrm>
            <a:off x="4398263" y="2157984"/>
            <a:ext cx="3566159" cy="1508760"/>
          </a:xfrm>
          <a:prstGeom prst="rect">
            <a:avLst/>
          </a:prstGeom>
          <a:noFill/>
        </p:spPr>
        <p:txBody>
          <a:bodyPr wrap="square">
            <a:spAutoFit/>
          </a:bodyPr>
          <a:lstStyle/>
          <a:p>
            <a:pPr algn="l"/>
            <a:r>
              <a:rPr sz="850" b="0" i="0">
                <a:solidFill>
                  <a:srgbClr val="9AA3B8"/>
                </a:solidFill>
              </a:rPr>
              <a:t>Section 1: Cover page with part photo &amp; programme details
Section 2: Cost summary and 8-bucket breakdown chart
Section 3: Detailed operation-by-operation cost build
Section 4: Machine and labour rate build-up table
Section 5: AI insights and saving opportunities
Section 6: DFM/DFA scores, issues and recommendations</a:t>
            </a:r>
          </a:p>
        </p:txBody>
      </p:sp>
      <p:sp>
        <p:nvSpPr>
          <p:cNvPr id="19" name="Rectangle 18"/>
          <p:cNvSpPr/>
          <p:nvPr/>
        </p:nvSpPr>
        <p:spPr>
          <a:xfrm>
            <a:off x="8129014"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Cloud Team Sync</a:t>
            </a:r>
          </a:p>
        </p:txBody>
      </p:sp>
      <p:sp>
        <p:nvSpPr>
          <p:cNvPr id="22" name="TextBox 21"/>
          <p:cNvSpPr txBox="1"/>
          <p:nvPr/>
        </p:nvSpPr>
        <p:spPr>
          <a:xfrm>
            <a:off x="8257030" y="2157984"/>
            <a:ext cx="3566159" cy="1508760"/>
          </a:xfrm>
          <a:prstGeom prst="rect">
            <a:avLst/>
          </a:prstGeom>
          <a:noFill/>
        </p:spPr>
        <p:txBody>
          <a:bodyPr wrap="square">
            <a:spAutoFit/>
          </a:bodyPr>
          <a:lstStyle/>
          <a:p>
            <a:pPr algn="l"/>
            <a:r>
              <a:rPr sz="850" b="0" i="0">
                <a:solidFill>
                  <a:srgbClr val="9AA3B8"/>
                </a:solidFill>
              </a:rPr>
              <a:t>Scenarios saved to cloud database (SQLite / PostgreSQL)
All team members see the same cost baseline
Secure JWT authentication + OTP email verification
Full multi-user access — no spreadsheet version conflicts
Import/export scenarios as JSON for offline sharing</a:t>
            </a:r>
          </a:p>
        </p:txBody>
      </p:sp>
      <p:sp>
        <p:nvSpPr>
          <p:cNvPr id="23" name="Rectangle 22"/>
          <p:cNvSpPr/>
          <p:nvPr/>
        </p:nvSpPr>
        <p:spPr>
          <a:xfrm>
            <a:off x="411480"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Part Photo &amp; Visual Docs</a:t>
            </a:r>
          </a:p>
        </p:txBody>
      </p:sp>
      <p:sp>
        <p:nvSpPr>
          <p:cNvPr id="26" name="TextBox 25"/>
          <p:cNvSpPr txBox="1"/>
          <p:nvPr/>
        </p:nvSpPr>
        <p:spPr>
          <a:xfrm>
            <a:off x="539496" y="4233672"/>
            <a:ext cx="3566159" cy="1508760"/>
          </a:xfrm>
          <a:prstGeom prst="rect">
            <a:avLst/>
          </a:prstGeom>
          <a:noFill/>
        </p:spPr>
        <p:txBody>
          <a:bodyPr wrap="square">
            <a:spAutoFit/>
          </a:bodyPr>
          <a:lstStyle/>
          <a:p>
            <a:pPr algn="l"/>
            <a:r>
              <a:rPr sz="850" b="0" i="0">
                <a:solidFill>
                  <a:srgbClr val="9AA3B8"/>
                </a:solidFill>
              </a:rPr>
              <a:t>Upload part photo (JPG / PNG / HEIC) with any calculation
Photo appears on the PDF report cover page
AI Agent accepts photos as input for visual cost estimation
Drag-and-drop or file picker supported</a:t>
            </a:r>
          </a:p>
        </p:txBody>
      </p:sp>
      <p:sp>
        <p:nvSpPr>
          <p:cNvPr id="27" name="Rectangle 26"/>
          <p:cNvSpPr/>
          <p:nvPr/>
        </p:nvSpPr>
        <p:spPr>
          <a:xfrm>
            <a:off x="4270247"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Enterprise Authentication</a:t>
            </a:r>
          </a:p>
        </p:txBody>
      </p:sp>
      <p:sp>
        <p:nvSpPr>
          <p:cNvPr id="30" name="TextBox 29"/>
          <p:cNvSpPr txBox="1"/>
          <p:nvPr/>
        </p:nvSpPr>
        <p:spPr>
          <a:xfrm>
            <a:off x="4398263" y="4233672"/>
            <a:ext cx="3566159" cy="1508760"/>
          </a:xfrm>
          <a:prstGeom prst="rect">
            <a:avLst/>
          </a:prstGeom>
          <a:noFill/>
        </p:spPr>
        <p:txBody>
          <a:bodyPr wrap="square">
            <a:spAutoFit/>
          </a:bodyPr>
          <a:lstStyle/>
          <a:p>
            <a:pPr algn="l"/>
            <a:r>
              <a:rPr sz="850" b="0" i="0">
                <a:solidFill>
                  <a:srgbClr val="9AA3B8"/>
                </a:solidFill>
              </a:rPr>
              <a:t>JWT token-based authentication with 24hr expiry
OTP email verification for account security
Password reset flow with secure email delivery
Rate limiting: 10 sign-in attempts / 15 min window</a:t>
            </a:r>
          </a:p>
        </p:txBody>
      </p:sp>
      <p:sp>
        <p:nvSpPr>
          <p:cNvPr id="31" name="Rectangle 30"/>
          <p:cNvSpPr/>
          <p:nvPr/>
        </p:nvSpPr>
        <p:spPr>
          <a:xfrm>
            <a:off x="8129014"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Help Centre &amp; Support</a:t>
            </a:r>
          </a:p>
        </p:txBody>
      </p:sp>
      <p:sp>
        <p:nvSpPr>
          <p:cNvPr id="34" name="TextBox 33"/>
          <p:cNvSpPr txBox="1"/>
          <p:nvPr/>
        </p:nvSpPr>
        <p:spPr>
          <a:xfrm>
            <a:off x="8257030" y="4233672"/>
            <a:ext cx="3566159" cy="1508760"/>
          </a:xfrm>
          <a:prstGeom prst="rect">
            <a:avLst/>
          </a:prstGeom>
          <a:noFill/>
        </p:spPr>
        <p:txBody>
          <a:bodyPr wrap="square">
            <a:spAutoFit/>
          </a:bodyPr>
          <a:lstStyle/>
          <a:p>
            <a:pPr algn="l"/>
            <a:r>
              <a:rPr sz="850" b="0" i="0">
                <a:solidFill>
                  <a:srgbClr val="9AA3B8"/>
                </a:solidFill>
              </a:rPr>
              <a:t>7-tab Help Centre: Getting Started, AI Agent, CAD &amp; Photo,
Commodities, FAQ (6 items), Glossary (12 terms),
Troubleshooting (5 common issues)
Contact support form built-in to the application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Business Impact &amp; Measurable ROI</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Quantified improvements across speed, accuracy, and cost reduction that directly impact the bottom line.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4F8EF7"/>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9AA3B8"/>
                </a:solidFill>
              </a:rPr>
              <a:t>Reduction in costing time</a:t>
            </a:r>
          </a:p>
        </p:txBody>
      </p:sp>
      <p:sp>
        <p:nvSpPr>
          <p:cNvPr id="14" name="Rectangle 13"/>
          <p:cNvSpPr/>
          <p:nvPr/>
        </p:nvSpPr>
        <p:spPr>
          <a:xfrm>
            <a:off x="2697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9AA3B8"/>
                </a:solidFill>
              </a:rPr>
              <a:t>Typical cost model accuracy</a:t>
            </a:r>
          </a:p>
        </p:txBody>
      </p:sp>
      <p:sp>
        <p:nvSpPr>
          <p:cNvPr id="17" name="Rectangle 16"/>
          <p:cNvSpPr/>
          <p:nvPr/>
        </p:nvSpPr>
        <p:spPr>
          <a:xfrm>
            <a:off x="4983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F59E0B"/>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9AA3B8"/>
                </a:solidFill>
              </a:rPr>
              <a:t>Supplier price reduction via should-cost intel</a:t>
            </a:r>
          </a:p>
        </p:txBody>
      </p:sp>
      <p:sp>
        <p:nvSpPr>
          <p:cNvPr id="20" name="Rectangle 19"/>
          <p:cNvSpPr/>
          <p:nvPr/>
        </p:nvSpPr>
        <p:spPr>
          <a:xfrm>
            <a:off x="7269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7C3AED"/>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9AA3B8"/>
                </a:solidFill>
              </a:rPr>
              <a:t>Faster sourcing decisions</a:t>
            </a:r>
          </a:p>
        </p:txBody>
      </p:sp>
      <p:sp>
        <p:nvSpPr>
          <p:cNvPr id="23" name="Rectangle 22"/>
          <p:cNvSpPr/>
          <p:nvPr/>
        </p:nvSpPr>
        <p:spPr>
          <a:xfrm>
            <a:off x="9555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10B981"/>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9AA3B8"/>
                </a:solidFill>
              </a:rPr>
              <a:t>Saving on £500M spend at 3% improvement</a:t>
            </a:r>
          </a:p>
        </p:txBody>
      </p:sp>
      <p:sp>
        <p:nvSpPr>
          <p:cNvPr id="26" name="Rectangle 25"/>
          <p:cNvSpPr/>
          <p:nvPr/>
        </p:nvSpPr>
        <p:spPr>
          <a:xfrm>
            <a:off x="41148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Speed — 10× Faster</a:t>
            </a:r>
          </a:p>
        </p:txBody>
      </p:sp>
      <p:sp>
        <p:nvSpPr>
          <p:cNvPr id="29" name="TextBox 28"/>
          <p:cNvSpPr txBox="1"/>
          <p:nvPr/>
        </p:nvSpPr>
        <p:spPr>
          <a:xfrm>
            <a:off x="539496" y="3319272"/>
            <a:ext cx="2560320" cy="731520"/>
          </a:xfrm>
          <a:prstGeom prst="rect">
            <a:avLst/>
          </a:prstGeom>
          <a:noFill/>
        </p:spPr>
        <p:txBody>
          <a:bodyPr wrap="square">
            <a:spAutoFit/>
          </a:bodyPr>
          <a:lstStyle/>
          <a:p>
            <a:pPr algn="l"/>
            <a:r>
              <a:rPr sz="850" b="0" i="0">
                <a:solidFill>
                  <a:srgbClr val="9AA3B8"/>
                </a:solidFill>
              </a:rPr>
              <a:t>What took 2–4 weeks now takes 5–10 minutes. Engineers spend time on decisions, not spreadsheets. Faster RFQ responses, faster programme decisions.</a:t>
            </a:r>
          </a:p>
        </p:txBody>
      </p:sp>
      <p:sp>
        <p:nvSpPr>
          <p:cNvPr id="30" name="Rectangle 29"/>
          <p:cNvSpPr/>
          <p:nvPr/>
        </p:nvSpPr>
        <p:spPr>
          <a:xfrm>
            <a:off x="324612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6120" y="297180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4136" y="306324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Accuracy — Not Estimates</a:t>
            </a:r>
          </a:p>
        </p:txBody>
      </p:sp>
      <p:sp>
        <p:nvSpPr>
          <p:cNvPr id="33" name="TextBox 32"/>
          <p:cNvSpPr txBox="1"/>
          <p:nvPr/>
        </p:nvSpPr>
        <p:spPr>
          <a:xfrm>
            <a:off x="3374136" y="3319272"/>
            <a:ext cx="2560320" cy="731520"/>
          </a:xfrm>
          <a:prstGeom prst="rect">
            <a:avLst/>
          </a:prstGeom>
          <a:noFill/>
        </p:spPr>
        <p:txBody>
          <a:bodyPr wrap="square">
            <a:spAutoFit/>
          </a:bodyPr>
          <a:lstStyle/>
          <a:p>
            <a:pPr algn="l"/>
            <a:r>
              <a:rPr sz="850" b="0" i="0">
                <a:solidFill>
                  <a:srgbClr val="9AA3B8"/>
                </a:solidFill>
              </a:rPr>
              <a:t>Physics-based models calibrated to actual shop floor data. ±8% typical accuracy vs actual. Dramatically better than rule-of-thumb or parametric estimates.</a:t>
            </a:r>
          </a:p>
        </p:txBody>
      </p:sp>
      <p:sp>
        <p:nvSpPr>
          <p:cNvPr id="34" name="Rectangle 33"/>
          <p:cNvSpPr/>
          <p:nvPr/>
        </p:nvSpPr>
        <p:spPr>
          <a:xfrm>
            <a:off x="608076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80760" y="297180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8776" y="306324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Negotiation Power</a:t>
            </a:r>
          </a:p>
        </p:txBody>
      </p:sp>
      <p:sp>
        <p:nvSpPr>
          <p:cNvPr id="37" name="TextBox 36"/>
          <p:cNvSpPr txBox="1"/>
          <p:nvPr/>
        </p:nvSpPr>
        <p:spPr>
          <a:xfrm>
            <a:off x="6208776" y="3319272"/>
            <a:ext cx="2560320" cy="731520"/>
          </a:xfrm>
          <a:prstGeom prst="rect">
            <a:avLst/>
          </a:prstGeom>
          <a:noFill/>
        </p:spPr>
        <p:txBody>
          <a:bodyPr wrap="square">
            <a:spAutoFit/>
          </a:bodyPr>
          <a:lstStyle/>
          <a:p>
            <a:pPr algn="l"/>
            <a:r>
              <a:rPr sz="850" b="0" i="0">
                <a:solidFill>
                  <a:srgbClr val="9AA3B8"/>
                </a:solidFill>
              </a:rPr>
              <a:t>Should-cost models give buyers a defensible floor price for every part. Supplier margins become visible and challengeable with engineering data, not opinion.</a:t>
            </a:r>
          </a:p>
        </p:txBody>
      </p:sp>
      <p:sp>
        <p:nvSpPr>
          <p:cNvPr id="38" name="Rectangle 37"/>
          <p:cNvSpPr/>
          <p:nvPr/>
        </p:nvSpPr>
        <p:spPr>
          <a:xfrm>
            <a:off x="891540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15400" y="297180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43416" y="306324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DFM at Concept Stage</a:t>
            </a:r>
          </a:p>
        </p:txBody>
      </p:sp>
      <p:sp>
        <p:nvSpPr>
          <p:cNvPr id="41" name="TextBox 40"/>
          <p:cNvSpPr txBox="1"/>
          <p:nvPr/>
        </p:nvSpPr>
        <p:spPr>
          <a:xfrm>
            <a:off x="9043416" y="3319272"/>
            <a:ext cx="2560320" cy="731520"/>
          </a:xfrm>
          <a:prstGeom prst="rect">
            <a:avLst/>
          </a:prstGeom>
          <a:noFill/>
        </p:spPr>
        <p:txBody>
          <a:bodyPr wrap="square">
            <a:spAutoFit/>
          </a:bodyPr>
          <a:lstStyle/>
          <a:p>
            <a:pPr algn="l"/>
            <a:r>
              <a:rPr sz="850" b="0" i="0">
                <a:solidFill>
                  <a:srgbClr val="9AA3B8"/>
                </a:solidFill>
              </a:rPr>
              <a:t>80% of cost is locked at design. DFM/DFA analysis at concept prevents expensive late-stage redesigns. Engineering issues caught when change is free.</a:t>
            </a:r>
          </a:p>
        </p:txBody>
      </p:sp>
      <p:sp>
        <p:nvSpPr>
          <p:cNvPr id="42" name="Rectangle 41"/>
          <p:cNvSpPr/>
          <p:nvPr/>
        </p:nvSpPr>
        <p:spPr>
          <a:xfrm>
            <a:off x="41148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25196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34340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Regional Arbitrage</a:t>
            </a:r>
          </a:p>
        </p:txBody>
      </p:sp>
      <p:sp>
        <p:nvSpPr>
          <p:cNvPr id="45" name="TextBox 44"/>
          <p:cNvSpPr txBox="1"/>
          <p:nvPr/>
        </p:nvSpPr>
        <p:spPr>
          <a:xfrm>
            <a:off x="539496" y="4599432"/>
            <a:ext cx="2560320" cy="731520"/>
          </a:xfrm>
          <a:prstGeom prst="rect">
            <a:avLst/>
          </a:prstGeom>
          <a:noFill/>
        </p:spPr>
        <p:txBody>
          <a:bodyPr wrap="square">
            <a:spAutoFit/>
          </a:bodyPr>
          <a:lstStyle/>
          <a:p>
            <a:pPr algn="l"/>
            <a:r>
              <a:rPr sz="850" b="0" i="0">
                <a:solidFill>
                  <a:srgbClr val="9AA3B8"/>
                </a:solidFill>
              </a:rPr>
              <a:t>Instantly compare cost across 20 regions. Identify LCC sourcing opportunities. Quantify make-vs-buy with real data — not assumptions.</a:t>
            </a:r>
          </a:p>
        </p:txBody>
      </p:sp>
      <p:sp>
        <p:nvSpPr>
          <p:cNvPr id="46" name="Rectangle 45"/>
          <p:cNvSpPr/>
          <p:nvPr/>
        </p:nvSpPr>
        <p:spPr>
          <a:xfrm>
            <a:off x="324612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46120" y="425196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374136" y="434340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Standardised Methodology</a:t>
            </a:r>
          </a:p>
        </p:txBody>
      </p:sp>
      <p:sp>
        <p:nvSpPr>
          <p:cNvPr id="49" name="TextBox 48"/>
          <p:cNvSpPr txBox="1"/>
          <p:nvPr/>
        </p:nvSpPr>
        <p:spPr>
          <a:xfrm>
            <a:off x="3374136" y="4599432"/>
            <a:ext cx="2560320" cy="731520"/>
          </a:xfrm>
          <a:prstGeom prst="rect">
            <a:avLst/>
          </a:prstGeom>
          <a:noFill/>
        </p:spPr>
        <p:txBody>
          <a:bodyPr wrap="square">
            <a:spAutoFit/>
          </a:bodyPr>
          <a:lstStyle/>
          <a:p>
            <a:pPr algn="l"/>
            <a:r>
              <a:rPr sz="850" b="0" i="0">
                <a:solidFill>
                  <a:srgbClr val="9AA3B8"/>
                </a:solidFill>
              </a:rPr>
              <a:t>One consistent cost model across all teams, programmes, and regions. Full audit trail for every assumption. Leadership gets a single source of truth.</a:t>
            </a:r>
          </a:p>
        </p:txBody>
      </p:sp>
      <p:sp>
        <p:nvSpPr>
          <p:cNvPr id="50" name="Rectangle 49"/>
          <p:cNvSpPr/>
          <p:nvPr/>
        </p:nvSpPr>
        <p:spPr>
          <a:xfrm>
            <a:off x="608076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80760" y="425196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08776" y="434340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Volume Optimisation</a:t>
            </a:r>
          </a:p>
        </p:txBody>
      </p:sp>
      <p:sp>
        <p:nvSpPr>
          <p:cNvPr id="53" name="TextBox 52"/>
          <p:cNvSpPr txBox="1"/>
          <p:nvPr/>
        </p:nvSpPr>
        <p:spPr>
          <a:xfrm>
            <a:off x="6208776" y="4599432"/>
            <a:ext cx="2560320" cy="731520"/>
          </a:xfrm>
          <a:prstGeom prst="rect">
            <a:avLst/>
          </a:prstGeom>
          <a:noFill/>
        </p:spPr>
        <p:txBody>
          <a:bodyPr wrap="square">
            <a:spAutoFit/>
          </a:bodyPr>
          <a:lstStyle/>
          <a:p>
            <a:pPr algn="l"/>
            <a:r>
              <a:rPr sz="850" b="0" i="0">
                <a:solidFill>
                  <a:srgbClr val="9AA3B8"/>
                </a:solidFill>
              </a:rPr>
              <a:t>Learning curve modelling shows cost reduction with volume. Identify the volume at which a new process becomes cost-competitive.</a:t>
            </a:r>
          </a:p>
        </p:txBody>
      </p:sp>
      <p:sp>
        <p:nvSpPr>
          <p:cNvPr id="54" name="Rectangle 53"/>
          <p:cNvSpPr/>
          <p:nvPr/>
        </p:nvSpPr>
        <p:spPr>
          <a:xfrm>
            <a:off x="891540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915400" y="425196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43416" y="4343400"/>
            <a:ext cx="2560320" cy="292608"/>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Team Collaboration</a:t>
            </a:r>
          </a:p>
        </p:txBody>
      </p:sp>
      <p:sp>
        <p:nvSpPr>
          <p:cNvPr id="57" name="TextBox 56"/>
          <p:cNvSpPr txBox="1"/>
          <p:nvPr/>
        </p:nvSpPr>
        <p:spPr>
          <a:xfrm>
            <a:off x="9043416" y="4599432"/>
            <a:ext cx="2560320" cy="731520"/>
          </a:xfrm>
          <a:prstGeom prst="rect">
            <a:avLst/>
          </a:prstGeom>
          <a:noFill/>
        </p:spPr>
        <p:txBody>
          <a:bodyPr wrap="square">
            <a:spAutoFit/>
          </a:bodyPr>
          <a:lstStyle/>
          <a:p>
            <a:pPr algn="l"/>
            <a:r>
              <a:rPr sz="850" b="0" i="0">
                <a:solidFill>
                  <a:srgbClr val="9AA3B8"/>
                </a:solidFill>
              </a:rPr>
              <a:t>Cloud sync means all engineers share the same cost baseline. No more conflicting spreadsheets. Cost knowledge is captured, not locked in individuals.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10B981"/>
                </a:solidFill>
                <a:latin typeface="Segoe UI Emoji"/>
              </a:rPr>
              <a:t>📍</a:t>
            </a:r>
            <a:r>
              <a:rPr sz="950" b="1" i="0">
                <a:solidFill>
                  <a:srgbClr val="10B981"/>
                </a:solidFill>
              </a:rPr>
              <a:t> Current Capabilities — Live Today</a:t>
            </a:r>
          </a:p>
        </p:txBody>
      </p:sp>
      <p:sp>
        <p:nvSpPr>
          <p:cNvPr id="14" name="Rectangle 13"/>
          <p:cNvSpPr/>
          <p:nvPr/>
        </p:nvSpPr>
        <p:spPr>
          <a:xfrm>
            <a:off x="594360" y="235000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800" b="0" i="0">
                <a:solidFill>
                  <a:srgbClr val="9AA3B8"/>
                </a:solidFill>
              </a:rPr>
              <a:t>22 commodity should-cost models — fully parametric, engineering-grade</a:t>
            </a:r>
          </a:p>
        </p:txBody>
      </p:sp>
      <p:sp>
        <p:nvSpPr>
          <p:cNvPr id="16" name="Rectangle 15"/>
          <p:cNvSpPr/>
          <p:nvPr/>
        </p:nvSpPr>
        <p:spPr>
          <a:xfrm>
            <a:off x="594360" y="266090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542032"/>
            <a:ext cx="4846320" cy="274320"/>
          </a:xfrm>
          <a:prstGeom prst="rect">
            <a:avLst/>
          </a:prstGeom>
          <a:noFill/>
        </p:spPr>
        <p:txBody>
          <a:bodyPr wrap="square">
            <a:spAutoFit/>
          </a:bodyPr>
          <a:lstStyle/>
          <a:p>
            <a:pPr algn="l"/>
            <a:r>
              <a:rPr sz="800" b="0" i="0">
                <a:solidFill>
                  <a:srgbClr val="9AA3B8"/>
                </a:solidFill>
              </a:rPr>
              <a:t>AI Agent — describe a part in plain English, AI builds the cost model</a:t>
            </a:r>
          </a:p>
        </p:txBody>
      </p:sp>
      <p:sp>
        <p:nvSpPr>
          <p:cNvPr id="18" name="Rectangle 17"/>
          <p:cNvSpPr/>
          <p:nvPr/>
        </p:nvSpPr>
        <p:spPr>
          <a:xfrm>
            <a:off x="594360" y="297180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2852928"/>
            <a:ext cx="4846320" cy="274320"/>
          </a:xfrm>
          <a:prstGeom prst="rect">
            <a:avLst/>
          </a:prstGeom>
          <a:noFill/>
        </p:spPr>
        <p:txBody>
          <a:bodyPr wrap="square">
            <a:spAutoFit/>
          </a:bodyPr>
          <a:lstStyle/>
          <a:p>
            <a:pPr algn="l"/>
            <a:r>
              <a:rPr sz="800" b="0" i="0">
                <a:solidFill>
                  <a:srgbClr val="9AA3B8"/>
                </a:solidFill>
              </a:rPr>
              <a:t>AI CAD Analysis — STEP / photo → geometry → cost in minutes</a:t>
            </a:r>
          </a:p>
        </p:txBody>
      </p:sp>
      <p:sp>
        <p:nvSpPr>
          <p:cNvPr id="20" name="Rectangle 19"/>
          <p:cNvSpPr/>
          <p:nvPr/>
        </p:nvSpPr>
        <p:spPr>
          <a:xfrm>
            <a:off x="594360" y="328269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163824"/>
            <a:ext cx="4846320" cy="274320"/>
          </a:xfrm>
          <a:prstGeom prst="rect">
            <a:avLst/>
          </a:prstGeom>
          <a:noFill/>
        </p:spPr>
        <p:txBody>
          <a:bodyPr wrap="square">
            <a:spAutoFit/>
          </a:bodyPr>
          <a:lstStyle/>
          <a:p>
            <a:pPr algn="l"/>
            <a:r>
              <a:rPr sz="800" b="0" i="0">
                <a:solidFill>
                  <a:srgbClr val="9AA3B8"/>
                </a:solidFill>
              </a:rPr>
              <a:t>Self-audit — re-checks every estimate, corrects known errors, geometry stays truth</a:t>
            </a:r>
          </a:p>
        </p:txBody>
      </p:sp>
      <p:sp>
        <p:nvSpPr>
          <p:cNvPr id="22" name="Rectangle 21"/>
          <p:cNvSpPr/>
          <p:nvPr/>
        </p:nvSpPr>
        <p:spPr>
          <a:xfrm>
            <a:off x="594360" y="359359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3474720"/>
            <a:ext cx="4846320" cy="274320"/>
          </a:xfrm>
          <a:prstGeom prst="rect">
            <a:avLst/>
          </a:prstGeom>
          <a:noFill/>
        </p:spPr>
        <p:txBody>
          <a:bodyPr wrap="square">
            <a:spAutoFit/>
          </a:bodyPr>
          <a:lstStyle/>
          <a:p>
            <a:pPr algn="l"/>
            <a:r>
              <a:rPr sz="800" b="0" i="0">
                <a:solidFill>
                  <a:srgbClr val="9AA3B8"/>
                </a:solidFill>
              </a:rPr>
              <a:t>Learns from actuals — bulk-import quotes, per-segment calibration + drift watch</a:t>
            </a:r>
          </a:p>
        </p:txBody>
      </p:sp>
      <p:sp>
        <p:nvSpPr>
          <p:cNvPr id="24" name="Rectangle 23"/>
          <p:cNvSpPr/>
          <p:nvPr/>
        </p:nvSpPr>
        <p:spPr>
          <a:xfrm>
            <a:off x="594360" y="390448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3785616"/>
            <a:ext cx="4846320" cy="274320"/>
          </a:xfrm>
          <a:prstGeom prst="rect">
            <a:avLst/>
          </a:prstGeom>
          <a:noFill/>
        </p:spPr>
        <p:txBody>
          <a:bodyPr wrap="square">
            <a:spAutoFit/>
          </a:bodyPr>
          <a:lstStyle/>
          <a:p>
            <a:pPr algn="l"/>
            <a:r>
              <a:rPr sz="800" b="0" i="0">
                <a:solidFill>
                  <a:srgbClr val="9AA3B8"/>
                </a:solidFill>
              </a:rPr>
              <a:t>Universal machine-sizing — right press / tonnage picked across all commodities</a:t>
            </a:r>
          </a:p>
        </p:txBody>
      </p:sp>
      <p:sp>
        <p:nvSpPr>
          <p:cNvPr id="26" name="Rectangle 25"/>
          <p:cNvSpPr/>
          <p:nvPr/>
        </p:nvSpPr>
        <p:spPr>
          <a:xfrm>
            <a:off x="594360" y="421538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096512"/>
            <a:ext cx="4846320" cy="274320"/>
          </a:xfrm>
          <a:prstGeom prst="rect">
            <a:avLst/>
          </a:prstGeom>
          <a:noFill/>
        </p:spPr>
        <p:txBody>
          <a:bodyPr wrap="square">
            <a:spAutoFit/>
          </a:bodyPr>
          <a:lstStyle/>
          <a:p>
            <a:pPr algn="l"/>
            <a:r>
              <a:rPr sz="800" b="0" i="0">
                <a:solidFill>
                  <a:srgbClr val="9AA3B8"/>
                </a:solidFill>
              </a:rPr>
              <a:t>Assembly BOM Rollup — multi-part, multi-commodity assemblies</a:t>
            </a:r>
          </a:p>
        </p:txBody>
      </p:sp>
      <p:sp>
        <p:nvSpPr>
          <p:cNvPr id="28" name="Rectangle 27"/>
          <p:cNvSpPr/>
          <p:nvPr/>
        </p:nvSpPr>
        <p:spPr>
          <a:xfrm>
            <a:off x="594360" y="452628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4407408"/>
            <a:ext cx="4846320" cy="274320"/>
          </a:xfrm>
          <a:prstGeom prst="rect">
            <a:avLst/>
          </a:prstGeom>
          <a:noFill/>
        </p:spPr>
        <p:txBody>
          <a:bodyPr wrap="square">
            <a:spAutoFit/>
          </a:bodyPr>
          <a:lstStyle/>
          <a:p>
            <a:pPr algn="l"/>
            <a:r>
              <a:rPr sz="800" b="0" i="0">
                <a:solidFill>
                  <a:srgbClr val="9AA3B8"/>
                </a:solidFill>
              </a:rPr>
              <a:t>Learning Curve (Wright's Law) + Supplier Quote Comparison + A/B/C scenarios</a:t>
            </a:r>
          </a:p>
        </p:txBody>
      </p:sp>
      <p:sp>
        <p:nvSpPr>
          <p:cNvPr id="30" name="Rectangle 29"/>
          <p:cNvSpPr/>
          <p:nvPr/>
        </p:nvSpPr>
        <p:spPr>
          <a:xfrm>
            <a:off x="594360" y="483717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4718304"/>
            <a:ext cx="4846320" cy="274320"/>
          </a:xfrm>
          <a:prstGeom prst="rect">
            <a:avLst/>
          </a:prstGeom>
          <a:noFill/>
        </p:spPr>
        <p:txBody>
          <a:bodyPr wrap="square">
            <a:spAutoFit/>
          </a:bodyPr>
          <a:lstStyle/>
          <a:p>
            <a:pPr algn="l"/>
            <a:r>
              <a:rPr sz="800" b="0" i="0">
                <a:solidFill>
                  <a:srgbClr val="9AA3B8"/>
                </a:solidFill>
              </a:rPr>
              <a:t>DFM / DFA Intelligence — bolt-on AI layer, 1–10 scores</a:t>
            </a:r>
          </a:p>
        </p:txBody>
      </p:sp>
      <p:sp>
        <p:nvSpPr>
          <p:cNvPr id="32" name="Rectangle 31"/>
          <p:cNvSpPr/>
          <p:nvPr/>
        </p:nvSpPr>
        <p:spPr>
          <a:xfrm>
            <a:off x="594360" y="514807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029200"/>
            <a:ext cx="4846320" cy="274320"/>
          </a:xfrm>
          <a:prstGeom prst="rect">
            <a:avLst/>
          </a:prstGeom>
          <a:noFill/>
        </p:spPr>
        <p:txBody>
          <a:bodyPr wrap="square">
            <a:spAutoFit/>
          </a:bodyPr>
          <a:lstStyle/>
          <a:p>
            <a:pPr algn="l"/>
            <a:r>
              <a:rPr sz="800" b="0" i="0">
                <a:solidFill>
                  <a:srgbClr val="9AA3B8"/>
                </a:solidFill>
              </a:rPr>
              <a:t>20 global regions · 10 currencies with live auto-switching</a:t>
            </a:r>
          </a:p>
        </p:txBody>
      </p:sp>
      <p:sp>
        <p:nvSpPr>
          <p:cNvPr id="34" name="Rectangle 33"/>
          <p:cNvSpPr/>
          <p:nvPr/>
        </p:nvSpPr>
        <p:spPr>
          <a:xfrm>
            <a:off x="594360" y="545896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340096"/>
            <a:ext cx="4846320" cy="274320"/>
          </a:xfrm>
          <a:prstGeom prst="rect">
            <a:avLst/>
          </a:prstGeom>
          <a:noFill/>
        </p:spPr>
        <p:txBody>
          <a:bodyPr wrap="square">
            <a:spAutoFit/>
          </a:bodyPr>
          <a:lstStyle/>
          <a:p>
            <a:pPr algn="l"/>
            <a:r>
              <a:rPr sz="800" b="0" i="0">
                <a:solidFill>
                  <a:srgbClr val="9AA3B8"/>
                </a:solidFill>
              </a:rPr>
              <a:t>6-sheet Excel + professional PDF report with part photo</a:t>
            </a:r>
          </a:p>
        </p:txBody>
      </p:sp>
      <p:sp>
        <p:nvSpPr>
          <p:cNvPr id="36" name="Rectangle 35"/>
          <p:cNvSpPr/>
          <p:nvPr/>
        </p:nvSpPr>
        <p:spPr>
          <a:xfrm>
            <a:off x="594360" y="576986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650992"/>
            <a:ext cx="4846320" cy="274320"/>
          </a:xfrm>
          <a:prstGeom prst="rect">
            <a:avLst/>
          </a:prstGeom>
          <a:noFill/>
        </p:spPr>
        <p:txBody>
          <a:bodyPr wrap="square">
            <a:spAutoFit/>
          </a:bodyPr>
          <a:lstStyle/>
          <a:p>
            <a:pPr algn="l"/>
            <a:r>
              <a:rPr sz="800" b="0" i="0">
                <a:solidFill>
                  <a:srgbClr val="9AA3B8"/>
                </a:solidFill>
              </a:rPr>
              <a:t>Cloud sync, team sharing &amp; secure JWT authentication</a:t>
            </a:r>
          </a:p>
        </p:txBody>
      </p:sp>
      <p:sp>
        <p:nvSpPr>
          <p:cNvPr id="38" name="Rectangle 37"/>
          <p:cNvSpPr/>
          <p:nvPr/>
        </p:nvSpPr>
        <p:spPr>
          <a:xfrm>
            <a:off x="594360" y="608076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61888"/>
            <a:ext cx="4846320" cy="274320"/>
          </a:xfrm>
          <a:prstGeom prst="rect">
            <a:avLst/>
          </a:prstGeom>
          <a:noFill/>
        </p:spPr>
        <p:txBody>
          <a:bodyPr wrap="square">
            <a:spAutoFit/>
          </a:bodyPr>
          <a:lstStyle/>
          <a:p>
            <a:pPr algn="l"/>
            <a:r>
              <a:rPr sz="800" b="0" i="0">
                <a:solidFill>
                  <a:srgbClr val="9AA3B8"/>
                </a:solidFill>
              </a:rPr>
              <a:t>1,777 automated tests · CAD engine ships in a CI-verified container</a:t>
            </a:r>
          </a:p>
        </p:txBody>
      </p:sp>
      <p:sp>
        <p:nvSpPr>
          <p:cNvPr id="40" name="Rectangle 39"/>
          <p:cNvSpPr/>
          <p:nvPr/>
        </p:nvSpPr>
        <p:spPr>
          <a:xfrm>
            <a:off x="6035040" y="182880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1828800"/>
            <a:ext cx="54864" cy="9692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1883664"/>
            <a:ext cx="5577840" cy="256032"/>
          </a:xfrm>
          <a:prstGeom prst="rect">
            <a:avLst/>
          </a:prstGeom>
          <a:noFill/>
        </p:spPr>
        <p:txBody>
          <a:bodyPr wrap="square">
            <a:spAutoFit/>
          </a:bodyPr>
          <a:lstStyle/>
          <a:p>
            <a:pPr algn="l"/>
            <a:r>
              <a:rPr sz="900" b="1" i="0">
                <a:solidFill>
                  <a:srgbClr val="F59E0B"/>
                </a:solidFill>
              </a:rPr>
              <a:t>Phase 2 — H2 2026</a:t>
            </a:r>
          </a:p>
        </p:txBody>
      </p:sp>
      <p:sp>
        <p:nvSpPr>
          <p:cNvPr id="43" name="TextBox 42"/>
          <p:cNvSpPr txBox="1"/>
          <p:nvPr/>
        </p:nvSpPr>
        <p:spPr>
          <a:xfrm>
            <a:off x="6163056" y="2121408"/>
            <a:ext cx="5577840" cy="658368"/>
          </a:xfrm>
          <a:prstGeom prst="rect">
            <a:avLst/>
          </a:prstGeom>
          <a:noFill/>
        </p:spPr>
        <p:txBody>
          <a:bodyPr wrap="square">
            <a:spAutoFit/>
          </a:bodyPr>
          <a:lstStyle/>
          <a:p>
            <a:pPr algn="l"/>
            <a:r>
              <a:rPr sz="800" b="0" i="0">
                <a:solidFill>
                  <a:srgbClr val="9AA3B8"/>
                </a:solidFill>
              </a:rPr>
              <a:t>PLM/ERP integration connectors (Teamcenter, SAP)
Cost-target waterfall dashboard for programme teams
Multi-supplier quotation comparison matrix
Harden the Fly.io cloud deploy to multi-tenant</a:t>
            </a:r>
          </a:p>
        </p:txBody>
      </p:sp>
      <p:sp>
        <p:nvSpPr>
          <p:cNvPr id="44" name="Rectangle 43"/>
          <p:cNvSpPr/>
          <p:nvPr/>
        </p:nvSpPr>
        <p:spPr>
          <a:xfrm>
            <a:off x="6035040" y="2871215"/>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2871215"/>
            <a:ext cx="54864" cy="9692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2926079"/>
            <a:ext cx="5577840" cy="256032"/>
          </a:xfrm>
          <a:prstGeom prst="rect">
            <a:avLst/>
          </a:prstGeom>
          <a:noFill/>
        </p:spPr>
        <p:txBody>
          <a:bodyPr wrap="square">
            <a:spAutoFit/>
          </a:bodyPr>
          <a:lstStyle/>
          <a:p>
            <a:pPr algn="l"/>
            <a:r>
              <a:rPr sz="900" b="1" i="0">
                <a:solidFill>
                  <a:srgbClr val="7C3AED"/>
                </a:solidFill>
              </a:rPr>
              <a:t>Phase 3 — 2027</a:t>
            </a:r>
          </a:p>
        </p:txBody>
      </p:sp>
      <p:sp>
        <p:nvSpPr>
          <p:cNvPr id="47" name="TextBox 46"/>
          <p:cNvSpPr txBox="1"/>
          <p:nvPr/>
        </p:nvSpPr>
        <p:spPr>
          <a:xfrm>
            <a:off x="6163056" y="3163823"/>
            <a:ext cx="5577840" cy="658368"/>
          </a:xfrm>
          <a:prstGeom prst="rect">
            <a:avLst/>
          </a:prstGeom>
          <a:noFill/>
        </p:spPr>
        <p:txBody>
          <a:bodyPr wrap="square">
            <a:spAutoFit/>
          </a:bodyPr>
          <a:lstStyle/>
          <a:p>
            <a:pPr algn="l"/>
            <a:r>
              <a:rPr sz="800" b="0" i="0">
                <a:solidFill>
                  <a:srgbClr val="9AA3B8"/>
                </a:solidFill>
              </a:rPr>
              <a:t>Auto-tune calibration from a live ERP actuals feed
Autonomous sourcing RFQ generation from should-cost output
Executive portfolio analytics dashboard
Wider CAD coverage — assemblies and IGES edge cases</a:t>
            </a:r>
          </a:p>
        </p:txBody>
      </p:sp>
      <p:sp>
        <p:nvSpPr>
          <p:cNvPr id="48" name="Rectangle 47"/>
          <p:cNvSpPr/>
          <p:nvPr/>
        </p:nvSpPr>
        <p:spPr>
          <a:xfrm>
            <a:off x="6035040" y="391363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35040" y="3913630"/>
            <a:ext cx="54864" cy="9692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968494"/>
            <a:ext cx="5577840" cy="256032"/>
          </a:xfrm>
          <a:prstGeom prst="rect">
            <a:avLst/>
          </a:prstGeom>
          <a:noFill/>
        </p:spPr>
        <p:txBody>
          <a:bodyPr wrap="square">
            <a:spAutoFit/>
          </a:bodyPr>
          <a:lstStyle/>
          <a:p>
            <a:pPr algn="l"/>
            <a:r>
              <a:rPr sz="900" b="1" i="0">
                <a:solidFill>
                  <a:srgbClr val="4F8EF7"/>
                </a:solidFill>
              </a:rPr>
              <a:t>Phase 4 — 2027+</a:t>
            </a:r>
          </a:p>
        </p:txBody>
      </p:sp>
      <p:sp>
        <p:nvSpPr>
          <p:cNvPr id="51" name="TextBox 50"/>
          <p:cNvSpPr txBox="1"/>
          <p:nvPr/>
        </p:nvSpPr>
        <p:spPr>
          <a:xfrm>
            <a:off x="6163056" y="4206238"/>
            <a:ext cx="5577840" cy="658368"/>
          </a:xfrm>
          <a:prstGeom prst="rect">
            <a:avLst/>
          </a:prstGeom>
          <a:noFill/>
        </p:spPr>
        <p:txBody>
          <a:bodyPr wrap="square">
            <a:spAutoFit/>
          </a:bodyPr>
          <a:lstStyle/>
          <a:p>
            <a:pPr algn="l"/>
            <a:r>
              <a:rPr sz="800" b="0" i="0">
                <a:solidFill>
                  <a:srgbClr val="9AA3B8"/>
                </a:solidFill>
              </a:rPr>
              <a:t>Digital Twin cost model (live update as the design changes)
Generative AI component redesign suggestions
Supplier risk scoring + supply-chain resilience index
Mobile app for shop-floor and supplier visits</a:t>
            </a:r>
          </a:p>
        </p:txBody>
      </p:sp>
      <p:sp>
        <p:nvSpPr>
          <p:cNvPr id="52" name="Rectangle 51"/>
          <p:cNvSpPr/>
          <p:nvPr/>
        </p:nvSpPr>
        <p:spPr>
          <a:xfrm>
            <a:off x="6035040" y="4956045"/>
            <a:ext cx="57607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35040" y="4956045"/>
            <a:ext cx="54864" cy="12984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3056" y="5029197"/>
            <a:ext cx="5577840" cy="256032"/>
          </a:xfrm>
          <a:prstGeom prst="rect">
            <a:avLst/>
          </a:prstGeom>
          <a:noFill/>
        </p:spPr>
        <p:txBody>
          <a:bodyPr wrap="square">
            <a:spAutoFit/>
          </a:bodyPr>
          <a:lstStyle/>
          <a:p>
            <a:pPr algn="l"/>
            <a:r>
              <a:rPr sz="900" b="1" i="0">
                <a:solidFill>
                  <a:srgbClr val="10B981"/>
                </a:solidFill>
                <a:latin typeface="Segoe UI Emoji"/>
              </a:rPr>
              <a:t>🚀</a:t>
            </a:r>
            <a:r>
              <a:rPr sz="900" b="1" i="0">
                <a:solidFill>
                  <a:srgbClr val="10B981"/>
                </a:solidFill>
              </a:rPr>
              <a:t>  Pilot Rollout — Next Steps</a:t>
            </a:r>
          </a:p>
        </p:txBody>
      </p:sp>
      <p:sp>
        <p:nvSpPr>
          <p:cNvPr id="55" name="TextBox 54"/>
          <p:cNvSpPr txBox="1"/>
          <p:nvPr/>
        </p:nvSpPr>
        <p:spPr>
          <a:xfrm>
            <a:off x="6163056" y="5303517"/>
            <a:ext cx="5577840" cy="841248"/>
          </a:xfrm>
          <a:prstGeom prst="rect">
            <a:avLst/>
          </a:prstGeom>
          <a:noFill/>
        </p:spPr>
        <p:txBody>
          <a:bodyPr wrap="square">
            <a:spAutoFit/>
          </a:bodyPr>
          <a:lstStyle/>
          <a:p>
            <a:pPr algn="l"/>
            <a:r>
              <a:rPr sz="800" b="0" i="0">
                <a:solidFill>
                  <a:srgbClr val="9AA3B8"/>
                </a:solidFill>
              </a:rPr>
              <a:t>• Pilot scope: 2–3 commodity families, one programme team
• Duration: 4–6 weeks with real parts vs supplier quotes
• Success metric: ≥15% supplier price reduction identified per part
• Contact: Avinash Bhosale — Cost Engineering &amp; Digital Innovation</a:t>
            </a:r>
          </a:p>
        </p:txBody>
      </p:sp>
      <p:sp>
        <p:nvSpPr>
          <p:cNvPr id="56" name="Rectangle 55"/>
          <p:cNvSpPr/>
          <p:nvPr/>
        </p:nvSpPr>
        <p:spPr>
          <a:xfrm>
            <a:off x="411480" y="6473952"/>
            <a:ext cx="11368735"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6501384"/>
            <a:ext cx="11002975" cy="256032"/>
          </a:xfrm>
          <a:prstGeom prst="rect">
            <a:avLst/>
          </a:prstGeom>
          <a:noFill/>
        </p:spPr>
        <p:txBody>
          <a:bodyPr wrap="square">
            <a:spAutoFit/>
          </a:bodyPr>
          <a:lstStyle/>
          <a:p>
            <a:pPr algn="ctr"/>
            <a:r>
              <a:rPr sz="800" b="0" i="1">
                <a:solidFill>
                  <a:srgbClr val="5A63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