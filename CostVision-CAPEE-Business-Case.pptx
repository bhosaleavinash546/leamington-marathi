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one distinction I want to make before I go through them: five of these work today, one part at a time, in the tool as it stands. The first one does not, and that is why it is the amber tile. A list of parts and their models goes in and every part comes back costed, with a report per part and per basket, without anybody sitting there — that is what Option two builds, and today we cost the parts we have hours for and estimate the rest from a sample. Next to it is the one that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Third along, an RFQ pack goes in and comes back as costed lines, ranked by where the money is, with a first draft of the negotiation brief written for you. Bottom left is the assistant, and I want to be precise about it. It does the setting up: it picks the process route and the machine and fills in what the geometry gives it, and then it comes back to a person with one question rather than a hundred. Next to that is the one our buyers will care about most. Put a supplier's price next to our own build-up and the tool tells you which part of it the gap sits in and what to ask them about it. And the last one turns design-for-cost from a list into a decision: it flags what makes a part expensive and puts a number on each change, ordered by what it saves. The blue strip at the bottom is the sentence I would want people to leave with. The AI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for it, written in kind rather than in pounds, for the reason I gave on the first slide: we have never timed this job and never checked the tool against a price we paid, so a pound figure from me would be a guess. The left column is Option one, and it is short on purpose. The job turns from typing into checking, because the values come off the model. It gives the same answer every time, so parts costed by different engineers are comparable. The time freed goes back into costing more parts with the team we already have. Nobody learns a new tool. And it can start now, because there is no AI in it to approve. The right column is wider because Option two genuinely has more in it. It runs on its own — parts go in and costed reports come out, and a person answers only what the model cannot show. It uses the same method for everything we make, so a plastic clip and a machined bracket are built up the same way and can sit in the same report. It costs electronics from a photograph of the board, which is work we largely cannot do today. It costs software as well: forty-three modules, from powertrain and driver assistance through to the cloud back end, which matters more every programme. Then the second half of that column is the part I would put to purchasing. It shows where a supplier's price differs from our own build-up and which part of the cost the gap sits in. Then it tells us what to do about it: what to go after, what to ask them, and what it is worth over a year. A whole RFQ pack can go in and come back priced and put in order of money. And design changes come back with a price on them rather than as a list of suggestions. The green strip is the sequencing point. Option one's benefits arrive first and we keep them. Option two's depend on the accuracy figure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our own rate book with a change history, and a few things built around the engine.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B7280"/>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What the tool does. Five of these work today, one part at a time — running them over a whole basket is what Option 2 builds.</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This is the one Option 2 builds.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costed BOM</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lip.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person.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ins.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ress.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AI reads, sorts and sets up — the photo, the pack, the drawing, the process route. It never sets a price. The money is worked out by the same fixed rules and the same rate book we use today, so every number can still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062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06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65760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Checking instead of typing</a:t>
            </a:r>
          </a:p>
          <a:p>
            <a:pPr algn="l">
              <a:lnSpc>
                <a:spcPct val="112000"/>
              </a:lnSpc>
              <a:spcAft>
                <a:spcPts val="300"/>
              </a:spcAft>
            </a:pPr>
            <a:r>
              <a:rPr sz="1050" b="0" i="0">
                <a:solidFill>
                  <a:srgbClr val="3A4356"/>
                </a:solidFill>
                <a:latin typeface="Calibri"/>
              </a:rPr>
              <a:t>The values come off the 3D model.</a:t>
            </a:r>
          </a:p>
          <a:p>
            <a:pPr algn="l">
              <a:lnSpc>
                <a:spcPct val="112000"/>
              </a:lnSpc>
              <a:spcAft>
                <a:spcPts val="300"/>
              </a:spcAft>
            </a:pP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p>
          <a:p>
            <a:pPr algn="l">
              <a:lnSpc>
                <a:spcPct val="112000"/>
              </a:lnSpc>
              <a:spcAft>
                <a:spcPts val="300"/>
              </a:spcAft>
            </a:pPr>
            <a:r>
              <a:rPr sz="1050" b="1" i="0">
                <a:solidFill>
                  <a:srgbClr val="1D6FB8"/>
                </a:solidFill>
                <a:latin typeface="Calibri"/>
              </a:rPr>
              <a:t>More parts for the same team</a:t>
            </a:r>
          </a:p>
          <a:p>
            <a:pPr algn="l">
              <a:lnSpc>
                <a:spcPct val="112000"/>
              </a:lnSpc>
              <a:spcAft>
                <a:spcPts val="300"/>
              </a:spcAft>
            </a:pPr>
            <a:r>
              <a:rPr sz="1050" b="0" i="0">
                <a:solidFill>
                  <a:srgbClr val="3A4356"/>
                </a:solidFill>
                <a:latin typeface="Calibri"/>
              </a:rPr>
              <a:t>The time saved goes back into costing.</a:t>
            </a:r>
          </a:p>
          <a:p>
            <a:pPr algn="l">
              <a:lnSpc>
                <a:spcPct val="112000"/>
              </a:lnSpc>
              <a:spcAft>
                <a:spcPts val="300"/>
              </a:spcAft>
            </a:pPr>
          </a:p>
          <a:p>
            <a:pPr algn="l">
              <a:lnSpc>
                <a:spcPct val="112000"/>
              </a:lnSpc>
              <a:spcAft>
                <a:spcPts val="300"/>
              </a:spcAft>
            </a:pPr>
            <a:r>
              <a:rPr sz="1050" b="1" i="0">
                <a:solidFill>
                  <a:srgbClr val="1D6FB8"/>
                </a:solidFill>
                <a:latin typeface="Calibri"/>
              </a:rPr>
              <a:t>Nothing new to learn</a:t>
            </a:r>
          </a:p>
          <a:p>
            <a:pPr algn="l">
              <a:lnSpc>
                <a:spcPct val="112000"/>
              </a:lnSpc>
              <a:spcAft>
                <a:spcPts val="300"/>
              </a:spcAft>
            </a:pPr>
            <a:r>
              <a:rPr sz="1050" b="0" i="0">
                <a:solidFill>
                  <a:srgbClr val="3A4356"/>
                </a:solidFill>
                <a:latin typeface="Calibri"/>
              </a:rPr>
              <a:t>CAPEE does not change.</a:t>
            </a:r>
          </a:p>
          <a:p>
            <a:pPr algn="l">
              <a:lnSpc>
                <a:spcPct val="112000"/>
              </a:lnSpc>
              <a:spcAft>
                <a:spcPts val="300"/>
              </a:spcAft>
            </a:pP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p:txBody>
      </p:sp>
      <p:sp>
        <p:nvSpPr>
          <p:cNvPr id="13" name="Rounded Rectangle 12"/>
          <p:cNvSpPr/>
          <p:nvPr/>
        </p:nvSpPr>
        <p:spPr>
          <a:xfrm>
            <a:off x="4233672" y="1810512"/>
            <a:ext cx="7543800" cy="42062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062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65760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It runs on its own</a:t>
            </a:r>
          </a:p>
          <a:p>
            <a:pPr algn="l">
              <a:lnSpc>
                <a:spcPct val="112000"/>
              </a:lnSpc>
              <a:spcAft>
                <a:spcPts val="300"/>
              </a:spcAft>
            </a:pPr>
            <a:r>
              <a:rPr sz="1050" b="0" i="0">
                <a:solidFill>
                  <a:srgbClr val="3A4356"/>
                </a:solidFill>
                <a:latin typeface="Calibri"/>
              </a:rPr>
              <a:t>Parts go in, costed reports come out. A</a:t>
            </a:r>
          </a:p>
          <a:p>
            <a:pPr algn="l">
              <a:lnSpc>
                <a:spcPct val="112000"/>
              </a:lnSpc>
              <a:spcAft>
                <a:spcPts val="300"/>
              </a:spcAft>
            </a:pPr>
            <a:r>
              <a:rPr sz="1050" b="0" i="0">
                <a:solidFill>
                  <a:srgbClr val="3A4356"/>
                </a:solidFill>
                <a:latin typeface="Calibri"/>
              </a:rPr>
              <a:t>person answers only what the model cannot show.</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A photo of a circuit board gives us the parts</a:t>
            </a:r>
          </a:p>
          <a:p>
            <a:pPr algn="l">
              <a:lnSpc>
                <a:spcPct val="112000"/>
              </a:lnSpc>
              <a:spcAft>
                <a:spcPts val="300"/>
              </a:spcAft>
            </a:pPr>
            <a:r>
              <a:rPr sz="1050" b="0" i="0">
                <a:solidFill>
                  <a:srgbClr val="3A4356"/>
                </a:solidFill>
                <a:latin typeface="Calibri"/>
              </a:rPr>
              <a:t>list, the board spec and a price.</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43 modules, from powertrain and driver</a:t>
            </a:r>
          </a:p>
          <a:p>
            <a:pPr algn="l">
              <a:lnSpc>
                <a:spcPct val="112000"/>
              </a:lnSpc>
              <a:spcAft>
                <a:spcPts val="300"/>
              </a:spcAft>
            </a:pPr>
            <a:r>
              <a:rPr sz="1050" b="0" i="0">
                <a:solidFill>
                  <a:srgbClr val="3A4356"/>
                </a:solidFill>
                <a:latin typeface="Calibri"/>
              </a:rPr>
              <a:t>assistance through to cloud.</a:t>
            </a:r>
          </a:p>
        </p:txBody>
      </p:sp>
      <p:sp>
        <p:nvSpPr>
          <p:cNvPr id="17" name="TextBox 16"/>
          <p:cNvSpPr txBox="1"/>
          <p:nvPr/>
        </p:nvSpPr>
        <p:spPr>
          <a:xfrm>
            <a:off x="8087868" y="2267712"/>
            <a:ext cx="3488436" cy="365760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The line items are pulled out, priced and put</a:t>
            </a:r>
          </a:p>
          <a:p>
            <a:pPr algn="l">
              <a:lnSpc>
                <a:spcPct val="112000"/>
              </a:lnSpc>
              <a:spcAft>
                <a:spcPts val="300"/>
              </a:spcAft>
            </a:pPr>
            <a:r>
              <a:rPr sz="1050" b="0" i="0">
                <a:solidFill>
                  <a:srgbClr val="3A4356"/>
                </a:solidFill>
                <a:latin typeface="Calibri"/>
              </a:rPr>
              <a:t>in order of money.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what</a:t>
            </a:r>
          </a:p>
          <a:p>
            <a:pPr algn="l">
              <a:lnSpc>
                <a:spcPct val="112000"/>
              </a:lnSpc>
              <a:spcAft>
                <a:spcPts val="300"/>
              </a:spcAft>
            </a:pPr>
            <a:r>
              <a:rPr sz="1050" b="0" i="0">
                <a:solidFill>
                  <a:srgbClr val="3A4356"/>
                </a:solidFill>
                <a:latin typeface="Calibri"/>
              </a:rPr>
              <a:t>each change would save.</a:t>
            </a:r>
          </a:p>
        </p:txBody>
      </p:sp>
      <p:sp>
        <p:nvSpPr>
          <p:cNvPr id="18" name="Rounded Rectangle 17"/>
          <p:cNvSpPr/>
          <p:nvPr/>
        </p:nvSpPr>
        <p:spPr>
          <a:xfrm>
            <a:off x="411480" y="6053328"/>
            <a:ext cx="11365992" cy="758952"/>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053328"/>
            <a:ext cx="68580" cy="7589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17220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1" name="TextBox 20"/>
          <p:cNvSpPr txBox="1"/>
          <p:nvPr/>
        </p:nvSpPr>
        <p:spPr>
          <a:xfrm>
            <a:off x="630936" y="6455664"/>
            <a:ext cx="10954512" cy="25603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that Option 1 produces, which is why these are an order and not a choice.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Start the AI approval in parallel, so it is not the thing</a:t>
            </a:r>
          </a:p>
          <a:p>
            <a:pPr algn="l">
              <a:lnSpc>
                <a:spcPct val="112000"/>
              </a:lnSpc>
              <a:spcAft>
                <a:spcPts val="300"/>
              </a:spcAft>
            </a:pPr>
            <a:r>
              <a:rPr sz="1050" b="0" i="0">
                <a:solidFill>
                  <a:srgbClr val="3A4356"/>
                </a:solidFill>
                <a:latin typeface="Calibri"/>
              </a:rPr>
              <a:t>holding us up when the trial finishes.</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