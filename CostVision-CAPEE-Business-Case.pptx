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by saying what we do well, because none of this is a criticism of it. The left-hand card is our should-cost as it runs today. The method is trusted and thorough: a rigorous bottom-up build-up, applied across every commodity we buy, and it is the number we would defend in front of a supplier. Nothing I am about to propose changes that. What I want to talk about is the effort behind it. The setup is hands-on: a person chooses the material, the process and the machine, part by part. The data entry is manual: somebody opens the 3D model and the drawings, reads the geometry and the tolerances, and types them in. And when the economics move, somebody goes back and updates the rates by hand. The line at the bottom of that card is the size of it: between twelve and sixty-nine values typed per part depending on the commodity, and those counts come straight off our own input forms. None of that is wrong. It is just slow, and it is the reason we cost the parts we have time for rather than the parts we would like to. Now the right-hand side, and I want to be straight about why it is empty. I have not put a saving on this slide, because we have never timed this job and we have never compared this tool against a price we have actually paid. Any number I put there would be my estimate dressed up as a measurement. Four of these five are ours and we can get them quickly: how long a part takes, how much of that is reading and typing, how many parts we cost a year, and how many in a basket we never cost at all. Time a handful of parts in one commodity and you have the first two; the others are in our own records and the programme data. The fifth, E, is what the trial measures. Put those numbers in and the three boxes underneath fill themselves in: the hours we spend typing today, the hours we would get back, and how many more parts that time would cost. That is a business case we own rather than one I have handed you. And the green strip is the whole idea in one line: same method, same defensible answer, with the manual work taken out of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smaller of the two and it is deliberately narrow. CAPEE does not move. It still does the costing, on the same screens, with the same maths, and nobody has to learn a new tool. The only thing that changes is where the input comes from. The engineer attaches the 3D model from inside CAPEE. The software measures it on a JLR server with no internet connection, and fixed rules turn those measurements into the values the form wants. The engineer then confirms the handful of things a 3D model genuinely cannot show, and CAPEE costs the part. The green card is what we get for free once the model is attached: weight, size, surface area, wall thickness, the hole and pocket counts, and so on. The amber card is the honest limit. The model cannot tell us what the part is made of. Steel and aluminium look identical in a 3D file and the weight differs by about three times, so somebody answers that, or it comes off the part master. Same for tolerance class, finish and heat treatment. The tool asks rather than guessing. The point of the blue strip is the one I would make to this room: there is no AI in this option at all, so it does not wait on an AI decision. We could start it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spend the most time on, because it is the part of the case that is easy to under-sell. These are six things we cannot do at all at the moment, and every one of them is in the tool today. Top left is the one people expect. A list of parts and their models goes in and every part comes back costed, with a report per part and per basket, without anybody sitting there. Today we cost the parts we have hours for and estimate the rest from a sample. Next to it is the one that usually gets a reaction in the room. You take a photograph of a circuit board and the tool works out what is on it, builds the bill of materials, works out the board specification and costs it. That is a job that takes an electronics buyer a long time and most of us cannot do at all. Third along, an RFQ pack goes in and comes back as costed lines, ranked by where the money is, with a first draft of the negotiation brief written for you. Bottom left is the assistant, and I want to be precise about it. It does the setting up: it picks the process route and the machine and fills in what the geometry gives it, and then it comes back to a person with one question rather than a hundred. Next to that is the one our buyers will care about most. Put a supplier's price next to our own build-up and the tool tells you which part of it the gap sits in and what to ask them about it. And the last one turns design-for-cost from a list into a decision: it flags what makes a part expensive and puts a number on each change, ordered by what it saves. The blue strip at the bottom is the sentence I would want people to leave with. The AI reads and sorts and sets up. It never sets a price. The money is still worked out by the same fixed rules and the same rate book we use now, so every number can be explained line by line, exactly as it can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what we get for it, and I have written it in kind rather than in pounds, for the reason I gave on the first slide: we have never timed this job and never checked the tool against a price we paid, so a pound figure from me would be a guess. Take the left column first. Option one turns the job from typing into checking, because the values come off the model. It gives the same answer every time, so a part costed by one engineer and a part costed by another are comparable, which matters when we put them in front of a supplier. The time that gets freed does not disappear — it goes back into costing more of the basket with the team we already have. Nobody learns a new tool, because CAPEE does not change. And the last one is the practical point for this room: there is no AI in Option one, so it does not wait on an AI approval. We can start it. Now the right column, and these are different in kind rather than bigger. Every part in a basket gets a proper cost instead of a sample scaled up. A basket that takes days of engineer time becomes one run, and I want to be honest that the real work then becomes gathering the part list, the models and our own rate data — the costing stops being the bottleneck. We stop taking an estimate to a supplier and start taking the build-up, plus where their price differs from ours and what to ask them about it. There is work we simply cannot do today: costing electronics from a photograph of the board, and turning an RFQ pack into costed, ranked lines. And design-to-cost stops being a list of suggestions and becomes a decision, because each change has a number against it. The green strip is the sequencing point. Option one's benefits arrive first and we keep them. Option two's depend on the accuracy figure that Option one produces, which is why these are an order rather than a choice.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slide, and it is two things: what changes for the business, and what I want from you. Read the table down the right-hand column. Today we cost the parts we have hours for; with this, every part in the basket gets a proper cost. Today a basket takes days of engineer time; with this it is one run, once we have the data together — and I want to be clear that gathering the part list, the models and our own rate data is the real work, not the computing. The third row is the one I would put to the purchasing side: today we take our estimate to a supplier, and with this we take the build-up, plus where their price differs from it and what to ask them about it. And the last row is what it does for the engineers. They stop typing values in and spend the time answering the questions only a person can answer, and acting on what the tool finds. The two cards are what each option needs, and the difference between them is the reason for doing them in this order. Option one needs a server, a way into CAPEE, and some parts where we know what we paid. Option two needs all of that plus the AI approval, our rate book, and a few things built around the engine. The green strip is the ask and it is deliberately small: one commodity, thirty to fifty parts we have already bought, our own time. In parallel I would start the AI approval, because that is the long pole on Option two and there is no reason to wait for the trial to finish before beginning it. The amber box is me being straight with you twice. The six capabilities I showed you work today, but they work one part at a time — making it run unattended over a basket is real work. And we have still never checked this against a price we have actually paid. That is exactly what the trial is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WHERE WE ARE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Our should-cost today: capable, but hands-on</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already cost parts properly. On the left is that job as it runs today. On the right is what it is worth, in our own numbers.</a:t>
            </a:r>
          </a:p>
        </p:txBody>
      </p:sp>
      <p:sp>
        <p:nvSpPr>
          <p:cNvPr id="10" name="Rounded Rectangle 9"/>
          <p:cNvSpPr/>
          <p:nvPr/>
        </p:nvSpPr>
        <p:spPr>
          <a:xfrm>
            <a:off x="411480" y="1792224"/>
            <a:ext cx="5577840" cy="41148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792224"/>
            <a:ext cx="68580" cy="41148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192024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OUR SHOULD-COST TODAY · capable, but hands-on</a:t>
            </a:r>
          </a:p>
        </p:txBody>
      </p:sp>
      <p:sp>
        <p:nvSpPr>
          <p:cNvPr id="13" name="TextBox 12"/>
          <p:cNvSpPr txBox="1"/>
          <p:nvPr/>
        </p:nvSpPr>
        <p:spPr>
          <a:xfrm>
            <a:off x="612648" y="2231136"/>
            <a:ext cx="5212080" cy="3566160"/>
          </a:xfrm>
          <a:prstGeom prst="rect">
            <a:avLst/>
          </a:prstGeom>
          <a:noFill/>
        </p:spPr>
        <p:txBody>
          <a:bodyPr wrap="square" anchor="t" lIns="0" rIns="0" tIns="0" bIns="0">
            <a:spAutoFit/>
          </a:bodyPr>
          <a:lstStyle/>
          <a:p>
            <a:pPr algn="l">
              <a:lnSpc>
                <a:spcPct val="112000"/>
              </a:lnSpc>
              <a:spcAft>
                <a:spcPts val="300"/>
              </a:spcAft>
            </a:pPr>
            <a:r>
              <a:rPr sz="1050" b="1" i="0">
                <a:solidFill>
                  <a:srgbClr val="2E8B57"/>
                </a:solidFill>
                <a:latin typeface="Calibri"/>
              </a:rPr>
              <a:t>Trusted and thorough</a:t>
            </a:r>
          </a:p>
          <a:p>
            <a:pPr algn="l">
              <a:lnSpc>
                <a:spcPct val="112000"/>
              </a:lnSpc>
              <a:spcAft>
                <a:spcPts val="300"/>
              </a:spcAft>
            </a:pPr>
            <a:r>
              <a:rPr sz="1050" b="0" i="0">
                <a:solidFill>
                  <a:srgbClr val="3A4356"/>
                </a:solidFill>
                <a:latin typeface="Calibri"/>
              </a:rPr>
              <a:t>A rigorous bottom-up method, across every commodity.</a:t>
            </a:r>
          </a:p>
          <a:p>
            <a:pPr algn="l">
              <a:lnSpc>
                <a:spcPct val="112000"/>
              </a:lnSpc>
              <a:spcAft>
                <a:spcPts val="300"/>
              </a:spcAft>
            </a:pPr>
          </a:p>
          <a:p>
            <a:pPr algn="l">
              <a:lnSpc>
                <a:spcPct val="112000"/>
              </a:lnSpc>
              <a:spcAft>
                <a:spcPts val="300"/>
              </a:spcAft>
            </a:pPr>
            <a:r>
              <a:rPr sz="1050" b="1" i="0">
                <a:solidFill>
                  <a:srgbClr val="16325C"/>
                </a:solidFill>
                <a:latin typeface="Calibri"/>
              </a:rPr>
              <a:t>Hands-on setup</a:t>
            </a:r>
          </a:p>
          <a:p>
            <a:pPr algn="l">
              <a:lnSpc>
                <a:spcPct val="112000"/>
              </a:lnSpc>
              <a:spcAft>
                <a:spcPts val="300"/>
              </a:spcAft>
            </a:pPr>
            <a:r>
              <a:rPr sz="1050" b="0" i="0">
                <a:solidFill>
                  <a:srgbClr val="3A4356"/>
                </a:solidFill>
                <a:latin typeface="Calibri"/>
              </a:rPr>
              <a:t>Material, process and machine chosen by a person,</a:t>
            </a:r>
          </a:p>
          <a:p>
            <a:pPr algn="l">
              <a:lnSpc>
                <a:spcPct val="112000"/>
              </a:lnSpc>
              <a:spcAft>
                <a:spcPts val="300"/>
              </a:spcAft>
            </a:pPr>
            <a:r>
              <a:rPr sz="1050" b="0" i="0">
                <a:solidFill>
                  <a:srgbClr val="3A4356"/>
                </a:solidFill>
                <a:latin typeface="Calibri"/>
              </a:rPr>
              <a:t>part by part.</a:t>
            </a:r>
          </a:p>
          <a:p>
            <a:pPr algn="l">
              <a:lnSpc>
                <a:spcPct val="112000"/>
              </a:lnSpc>
              <a:spcAft>
                <a:spcPts val="300"/>
              </a:spcAft>
            </a:pPr>
          </a:p>
          <a:p>
            <a:pPr algn="l">
              <a:lnSpc>
                <a:spcPct val="112000"/>
              </a:lnSpc>
              <a:spcAft>
                <a:spcPts val="300"/>
              </a:spcAft>
            </a:pPr>
            <a:r>
              <a:rPr sz="1050" b="1" i="0">
                <a:solidFill>
                  <a:srgbClr val="16325C"/>
                </a:solidFill>
                <a:latin typeface="Calibri"/>
              </a:rPr>
              <a:t>Manual data entry</a:t>
            </a:r>
          </a:p>
          <a:p>
            <a:pPr algn="l">
              <a:lnSpc>
                <a:spcPct val="112000"/>
              </a:lnSpc>
              <a:spcAft>
                <a:spcPts val="300"/>
              </a:spcAft>
            </a:pPr>
            <a:r>
              <a:rPr sz="1050" b="0" i="0">
                <a:solidFill>
                  <a:srgbClr val="3A4356"/>
                </a:solidFill>
                <a:latin typeface="Calibri"/>
              </a:rPr>
              <a:t>Geometry and tolerances read off the 3D model and the</a:t>
            </a:r>
          </a:p>
          <a:p>
            <a:pPr algn="l">
              <a:lnSpc>
                <a:spcPct val="112000"/>
              </a:lnSpc>
              <a:spcAft>
                <a:spcPts val="300"/>
              </a:spcAft>
            </a:pPr>
            <a:r>
              <a:rPr sz="1050" b="0" i="0">
                <a:solidFill>
                  <a:srgbClr val="3A4356"/>
                </a:solidFill>
                <a:latin typeface="Calibri"/>
              </a:rPr>
              <a:t>drawings, then typed in — 12 to 69 values per part.</a:t>
            </a:r>
          </a:p>
          <a:p>
            <a:pPr algn="l">
              <a:lnSpc>
                <a:spcPct val="112000"/>
              </a:lnSpc>
              <a:spcAft>
                <a:spcPts val="300"/>
              </a:spcAft>
            </a:pPr>
          </a:p>
          <a:p>
            <a:pPr algn="l">
              <a:lnSpc>
                <a:spcPct val="112000"/>
              </a:lnSpc>
              <a:spcAft>
                <a:spcPts val="300"/>
              </a:spcAft>
            </a:pPr>
            <a:r>
              <a:rPr sz="1050" b="1" i="0">
                <a:solidFill>
                  <a:srgbClr val="16325C"/>
                </a:solidFill>
                <a:latin typeface="Calibri"/>
              </a:rPr>
              <a:t>Updated by hand</a:t>
            </a:r>
          </a:p>
          <a:p>
            <a:pPr algn="l">
              <a:lnSpc>
                <a:spcPct val="112000"/>
              </a:lnSpc>
              <a:spcAft>
                <a:spcPts val="300"/>
              </a:spcAft>
            </a:pPr>
            <a:r>
              <a:rPr sz="1050" b="0" i="0">
                <a:solidFill>
                  <a:srgbClr val="3A4356"/>
                </a:solidFill>
                <a:latin typeface="Calibri"/>
              </a:rPr>
              <a:t>Rates and inputs refreshed manually as economics move.</a:t>
            </a:r>
          </a:p>
        </p:txBody>
      </p:sp>
      <p:sp>
        <p:nvSpPr>
          <p:cNvPr id="14" name="TextBox 13"/>
          <p:cNvSpPr txBox="1"/>
          <p:nvPr/>
        </p:nvSpPr>
        <p:spPr>
          <a:xfrm>
            <a:off x="6199632" y="1810512"/>
            <a:ext cx="557784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it is worth: five numbers, four of them ours</a:t>
            </a:r>
          </a:p>
        </p:txBody>
      </p:sp>
      <p:sp>
        <p:nvSpPr>
          <p:cNvPr id="15" name="Rectangle 14"/>
          <p:cNvSpPr/>
          <p:nvPr/>
        </p:nvSpPr>
        <p:spPr>
          <a:xfrm>
            <a:off x="6199632" y="2066543"/>
            <a:ext cx="411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81928" y="2148839"/>
            <a:ext cx="265176" cy="219456"/>
          </a:xfrm>
          <a:prstGeom prst="rect">
            <a:avLst/>
          </a:prstGeom>
          <a:noFill/>
        </p:spPr>
        <p:txBody>
          <a:bodyPr wrap="square" anchor="t" lIns="0" rIns="0" tIns="0" bIns="0">
            <a:spAutoFit/>
          </a:bodyPr>
          <a:lstStyle/>
          <a:p>
            <a:pPr algn="l">
              <a:lnSpc>
                <a:spcPct val="100000"/>
              </a:lnSpc>
              <a:spcAft>
                <a:spcPts val="400"/>
              </a:spcAft>
            </a:pPr>
          </a:p>
        </p:txBody>
      </p:sp>
      <p:sp>
        <p:nvSpPr>
          <p:cNvPr id="17" name="Rectangle 16"/>
          <p:cNvSpPr/>
          <p:nvPr/>
        </p:nvSpPr>
        <p:spPr>
          <a:xfrm>
            <a:off x="6611112" y="2066543"/>
            <a:ext cx="36118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93408" y="2148839"/>
            <a:ext cx="34655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is</a:t>
            </a:r>
          </a:p>
        </p:txBody>
      </p:sp>
      <p:sp>
        <p:nvSpPr>
          <p:cNvPr id="19" name="Rectangle 18"/>
          <p:cNvSpPr/>
          <p:nvPr/>
        </p:nvSpPr>
        <p:spPr>
          <a:xfrm>
            <a:off x="10222992" y="2066543"/>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05288" y="2148839"/>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Our number</a:t>
            </a:r>
          </a:p>
        </p:txBody>
      </p:sp>
      <p:sp>
        <p:nvSpPr>
          <p:cNvPr id="21" name="Rectangle 20"/>
          <p:cNvSpPr/>
          <p:nvPr/>
        </p:nvSpPr>
        <p:spPr>
          <a:xfrm>
            <a:off x="6199632" y="2395727"/>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81928" y="2459735"/>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a:t>
            </a:r>
          </a:p>
        </p:txBody>
      </p:sp>
      <p:sp>
        <p:nvSpPr>
          <p:cNvPr id="23" name="Rectangle 22"/>
          <p:cNvSpPr/>
          <p:nvPr/>
        </p:nvSpPr>
        <p:spPr>
          <a:xfrm>
            <a:off x="6611112" y="2395727"/>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93408" y="2459735"/>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Minutes to cost one part today</a:t>
            </a:r>
          </a:p>
        </p:txBody>
      </p:sp>
      <p:sp>
        <p:nvSpPr>
          <p:cNvPr id="25" name="Rectangle 24"/>
          <p:cNvSpPr/>
          <p:nvPr/>
        </p:nvSpPr>
        <p:spPr>
          <a:xfrm>
            <a:off x="10222992" y="2395727"/>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305288" y="2459735"/>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27" name="Rectangle 26"/>
          <p:cNvSpPr/>
          <p:nvPr/>
        </p:nvSpPr>
        <p:spPr>
          <a:xfrm>
            <a:off x="6199632" y="2706623"/>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81928" y="2770631"/>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B</a:t>
            </a:r>
          </a:p>
        </p:txBody>
      </p:sp>
      <p:sp>
        <p:nvSpPr>
          <p:cNvPr id="29" name="Rectangle 28"/>
          <p:cNvSpPr/>
          <p:nvPr/>
        </p:nvSpPr>
        <p:spPr>
          <a:xfrm>
            <a:off x="6611112" y="2706623"/>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3408" y="2770631"/>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Of those, minutes reading the model and typing</a:t>
            </a:r>
          </a:p>
        </p:txBody>
      </p:sp>
      <p:sp>
        <p:nvSpPr>
          <p:cNvPr id="31" name="Rectangle 30"/>
          <p:cNvSpPr/>
          <p:nvPr/>
        </p:nvSpPr>
        <p:spPr>
          <a:xfrm>
            <a:off x="10222992" y="2706623"/>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305288" y="2770631"/>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3" name="Rectangle 32"/>
          <p:cNvSpPr/>
          <p:nvPr/>
        </p:nvSpPr>
        <p:spPr>
          <a:xfrm>
            <a:off x="6199632" y="3017519"/>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81928" y="3081527"/>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C</a:t>
            </a:r>
          </a:p>
        </p:txBody>
      </p:sp>
      <p:sp>
        <p:nvSpPr>
          <p:cNvPr id="35" name="Rectangle 34"/>
          <p:cNvSpPr/>
          <p:nvPr/>
        </p:nvSpPr>
        <p:spPr>
          <a:xfrm>
            <a:off x="6611112" y="3017519"/>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93408" y="3081527"/>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we cost in a year</a:t>
            </a:r>
          </a:p>
        </p:txBody>
      </p:sp>
      <p:sp>
        <p:nvSpPr>
          <p:cNvPr id="37" name="Rectangle 36"/>
          <p:cNvSpPr/>
          <p:nvPr/>
        </p:nvSpPr>
        <p:spPr>
          <a:xfrm>
            <a:off x="10222992" y="3017519"/>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05288" y="3081527"/>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9" name="Rectangle 38"/>
          <p:cNvSpPr/>
          <p:nvPr/>
        </p:nvSpPr>
        <p:spPr>
          <a:xfrm>
            <a:off x="6199632" y="3328415"/>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81928" y="3392423"/>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D</a:t>
            </a:r>
          </a:p>
        </p:txBody>
      </p:sp>
      <p:sp>
        <p:nvSpPr>
          <p:cNvPr id="41" name="Rectangle 40"/>
          <p:cNvSpPr/>
          <p:nvPr/>
        </p:nvSpPr>
        <p:spPr>
          <a:xfrm>
            <a:off x="6611112" y="3328415"/>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93408" y="3392423"/>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in a basket we never cost individually</a:t>
            </a:r>
          </a:p>
        </p:txBody>
      </p:sp>
      <p:sp>
        <p:nvSpPr>
          <p:cNvPr id="43" name="Rectangle 42"/>
          <p:cNvSpPr/>
          <p:nvPr/>
        </p:nvSpPr>
        <p:spPr>
          <a:xfrm>
            <a:off x="10222992" y="3328415"/>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305288" y="3392423"/>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45" name="Rectangle 44"/>
          <p:cNvSpPr/>
          <p:nvPr/>
        </p:nvSpPr>
        <p:spPr>
          <a:xfrm>
            <a:off x="6199632" y="3639311"/>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81928" y="3703319"/>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E</a:t>
            </a:r>
          </a:p>
        </p:txBody>
      </p:sp>
      <p:sp>
        <p:nvSpPr>
          <p:cNvPr id="47" name="Rectangle 46"/>
          <p:cNvSpPr/>
          <p:nvPr/>
        </p:nvSpPr>
        <p:spPr>
          <a:xfrm>
            <a:off x="6611112" y="3639311"/>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93408" y="3703319"/>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Share of those values the software fills itself</a:t>
            </a:r>
          </a:p>
        </p:txBody>
      </p:sp>
      <p:sp>
        <p:nvSpPr>
          <p:cNvPr id="49" name="Rectangle 48"/>
          <p:cNvSpPr/>
          <p:nvPr/>
        </p:nvSpPr>
        <p:spPr>
          <a:xfrm>
            <a:off x="10222992" y="3639311"/>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05288" y="3703319"/>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2E8B57"/>
                </a:solidFill>
                <a:latin typeface="Calibri"/>
              </a:rPr>
              <a:t>________</a:t>
            </a:r>
          </a:p>
        </p:txBody>
      </p:sp>
      <p:sp>
        <p:nvSpPr>
          <p:cNvPr id="51" name="Rounded Rectangle 50"/>
          <p:cNvSpPr/>
          <p:nvPr/>
        </p:nvSpPr>
        <p:spPr>
          <a:xfrm>
            <a:off x="6199632" y="4206240"/>
            <a:ext cx="5577840"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99632" y="4206240"/>
            <a:ext cx="68580" cy="530352"/>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19088" y="4343400"/>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spent typing today</a:t>
            </a:r>
          </a:p>
        </p:txBody>
      </p:sp>
      <p:sp>
        <p:nvSpPr>
          <p:cNvPr id="54" name="TextBox 53"/>
          <p:cNvSpPr txBox="1"/>
          <p:nvPr/>
        </p:nvSpPr>
        <p:spPr>
          <a:xfrm>
            <a:off x="9646920" y="4325112"/>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B03A2E"/>
                </a:solidFill>
                <a:latin typeface="Calibri"/>
              </a:rPr>
              <a:t>B × C ÷ 60</a:t>
            </a:r>
          </a:p>
        </p:txBody>
      </p:sp>
      <p:sp>
        <p:nvSpPr>
          <p:cNvPr id="55" name="Rounded Rectangle 54"/>
          <p:cNvSpPr/>
          <p:nvPr/>
        </p:nvSpPr>
        <p:spPr>
          <a:xfrm>
            <a:off x="6199632" y="4773168"/>
            <a:ext cx="5577840"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99632" y="4773168"/>
            <a:ext cx="68580" cy="53035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19088" y="4910328"/>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freed a year</a:t>
            </a:r>
          </a:p>
        </p:txBody>
      </p:sp>
      <p:sp>
        <p:nvSpPr>
          <p:cNvPr id="58" name="TextBox 57"/>
          <p:cNvSpPr txBox="1"/>
          <p:nvPr/>
        </p:nvSpPr>
        <p:spPr>
          <a:xfrm>
            <a:off x="9646920" y="4892040"/>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2E8B57"/>
                </a:solidFill>
                <a:latin typeface="Calibri"/>
              </a:rPr>
              <a:t>B × E × C ÷ 60</a:t>
            </a:r>
          </a:p>
        </p:txBody>
      </p:sp>
      <p:sp>
        <p:nvSpPr>
          <p:cNvPr id="59" name="Rounded Rectangle 58"/>
          <p:cNvSpPr/>
          <p:nvPr/>
        </p:nvSpPr>
        <p:spPr>
          <a:xfrm>
            <a:off x="6199632" y="5340096"/>
            <a:ext cx="5577840"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199632" y="5340096"/>
            <a:ext cx="68580"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419088" y="5477256"/>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Extra parts that time would cost</a:t>
            </a:r>
          </a:p>
        </p:txBody>
      </p:sp>
      <p:sp>
        <p:nvSpPr>
          <p:cNvPr id="62" name="TextBox 61"/>
          <p:cNvSpPr txBox="1"/>
          <p:nvPr/>
        </p:nvSpPr>
        <p:spPr>
          <a:xfrm>
            <a:off x="9646920" y="5458968"/>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1D6FB8"/>
                </a:solidFill>
                <a:latin typeface="Calibri"/>
              </a:rPr>
              <a:t>B × E × C ÷ A</a:t>
            </a:r>
          </a:p>
        </p:txBody>
      </p:sp>
      <p:sp>
        <p:nvSpPr>
          <p:cNvPr id="63" name="Rounded Rectangle 62"/>
          <p:cNvSpPr/>
          <p:nvPr/>
        </p:nvSpPr>
        <p:spPr>
          <a:xfrm>
            <a:off x="411480" y="5998464"/>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11480" y="5998464"/>
            <a:ext cx="68580" cy="74980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 y="611733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step forward: the same defensible should-cost, with the manual work automated</a:t>
            </a:r>
          </a:p>
        </p:txBody>
      </p:sp>
      <p:sp>
        <p:nvSpPr>
          <p:cNvPr id="66" name="TextBox 65"/>
          <p:cNvSpPr txBox="1"/>
          <p:nvPr/>
        </p:nvSpPr>
        <p:spPr>
          <a:xfrm>
            <a:off x="630936" y="6400800"/>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Nothing about the method changes. The judgement, the build-up and the numbers we would defend to a supplier all stay as they are. What we are proposing to remove is the typing, and then the limit on how many parts we can get through.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START NOW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automate the data entry, inside CAPEE</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CAPEE keeps doing the costing. The engineer stops typing the input and starts checking it. Reads the 3D model only, so no AI is involved.</a:t>
            </a:r>
          </a:p>
        </p:txBody>
      </p:sp>
      <p:sp>
        <p:nvSpPr>
          <p:cNvPr id="10" name="Rounded Rectangle 9"/>
          <p:cNvSpPr/>
          <p:nvPr/>
        </p:nvSpPr>
        <p:spPr>
          <a:xfrm>
            <a:off x="41148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512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342521" y="2122505"/>
            <a:ext cx="272126" cy="272126"/>
          </a:xfrm>
          <a:prstGeom prst="rect">
            <a:avLst/>
          </a:prstGeom>
        </p:spPr>
      </p:pic>
      <p:sp>
        <p:nvSpPr>
          <p:cNvPr id="14" name="TextBox 13"/>
          <p:cNvSpPr txBox="1"/>
          <p:nvPr/>
        </p:nvSpPr>
        <p:spPr>
          <a:xfrm>
            <a:off x="48463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Attach the 3D model</a:t>
            </a:r>
          </a:p>
        </p:txBody>
      </p:sp>
      <p:sp>
        <p:nvSpPr>
          <p:cNvPr id="15" name="TextBox 14"/>
          <p:cNvSpPr txBox="1"/>
          <p:nvPr/>
        </p:nvSpPr>
        <p:spPr>
          <a:xfrm>
            <a:off x="48463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STEP, IGES or STL, from the CAPEE screen</a:t>
            </a:r>
          </a:p>
        </p:txBody>
      </p:sp>
      <p:sp>
        <p:nvSpPr>
          <p:cNvPr id="16" name="Right Arrow 15"/>
          <p:cNvSpPr/>
          <p:nvPr/>
        </p:nvSpPr>
        <p:spPr>
          <a:xfrm>
            <a:off x="256397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71942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19425"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503065"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650466" y="2122505"/>
            <a:ext cx="272126" cy="272126"/>
          </a:xfrm>
          <a:prstGeom prst="rect">
            <a:avLst/>
          </a:prstGeom>
        </p:spPr>
      </p:pic>
      <p:sp>
        <p:nvSpPr>
          <p:cNvPr id="21" name="TextBox 20"/>
          <p:cNvSpPr txBox="1"/>
          <p:nvPr/>
        </p:nvSpPr>
        <p:spPr>
          <a:xfrm>
            <a:off x="279257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software measures it</a:t>
            </a:r>
          </a:p>
        </p:txBody>
      </p:sp>
      <p:sp>
        <p:nvSpPr>
          <p:cNvPr id="22" name="TextBox 21"/>
          <p:cNvSpPr txBox="1"/>
          <p:nvPr/>
        </p:nvSpPr>
        <p:spPr>
          <a:xfrm>
            <a:off x="279257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a JLR server, with no internet connection</a:t>
            </a:r>
          </a:p>
        </p:txBody>
      </p:sp>
      <p:sp>
        <p:nvSpPr>
          <p:cNvPr id="23" name="Right Arrow 22"/>
          <p:cNvSpPr/>
          <p:nvPr/>
        </p:nvSpPr>
        <p:spPr>
          <a:xfrm>
            <a:off x="487192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737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737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81101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5958411" y="2122505"/>
            <a:ext cx="272126" cy="272126"/>
          </a:xfrm>
          <a:prstGeom prst="rect">
            <a:avLst/>
          </a:prstGeom>
        </p:spPr>
      </p:pic>
      <p:sp>
        <p:nvSpPr>
          <p:cNvPr id="28" name="TextBox 27"/>
          <p:cNvSpPr txBox="1"/>
          <p:nvPr/>
        </p:nvSpPr>
        <p:spPr>
          <a:xfrm>
            <a:off x="510052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values fill in</a:t>
            </a:r>
          </a:p>
        </p:txBody>
      </p:sp>
      <p:sp>
        <p:nvSpPr>
          <p:cNvPr id="29" name="TextBox 28"/>
          <p:cNvSpPr txBox="1"/>
          <p:nvPr/>
        </p:nvSpPr>
        <p:spPr>
          <a:xfrm>
            <a:off x="510052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Fixed rules. Same part, same numbers, always</a:t>
            </a:r>
          </a:p>
        </p:txBody>
      </p:sp>
      <p:sp>
        <p:nvSpPr>
          <p:cNvPr id="30" name="Right Arrow 29"/>
          <p:cNvSpPr/>
          <p:nvPr/>
        </p:nvSpPr>
        <p:spPr>
          <a:xfrm>
            <a:off x="717986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33531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35315" y="1810512"/>
            <a:ext cx="2134209"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18955" y="1975104"/>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erson.png"/>
          <p:cNvPicPr>
            <a:picLocks noChangeAspect="1"/>
          </p:cNvPicPr>
          <p:nvPr/>
        </p:nvPicPr>
        <p:blipFill>
          <a:blip r:embed="rId5"/>
          <a:stretch>
            <a:fillRect/>
          </a:stretch>
        </p:blipFill>
        <p:spPr>
          <a:xfrm>
            <a:off x="8266356" y="2122505"/>
            <a:ext cx="272126" cy="272126"/>
          </a:xfrm>
          <a:prstGeom prst="rect">
            <a:avLst/>
          </a:prstGeom>
        </p:spPr>
      </p:pic>
      <p:sp>
        <p:nvSpPr>
          <p:cNvPr id="35" name="TextBox 34"/>
          <p:cNvSpPr txBox="1"/>
          <p:nvPr/>
        </p:nvSpPr>
        <p:spPr>
          <a:xfrm>
            <a:off x="740846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engineer confirms</a:t>
            </a:r>
          </a:p>
        </p:txBody>
      </p:sp>
      <p:sp>
        <p:nvSpPr>
          <p:cNvPr id="36" name="TextBox 35"/>
          <p:cNvSpPr txBox="1"/>
          <p:nvPr/>
        </p:nvSpPr>
        <p:spPr>
          <a:xfrm>
            <a:off x="740846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what a 3D model cannot show</a:t>
            </a:r>
          </a:p>
        </p:txBody>
      </p:sp>
      <p:sp>
        <p:nvSpPr>
          <p:cNvPr id="37" name="Right Arrow 36"/>
          <p:cNvSpPr/>
          <p:nvPr/>
        </p:nvSpPr>
        <p:spPr>
          <a:xfrm>
            <a:off x="948781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964326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643260" y="1810512"/>
            <a:ext cx="2134209"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426900" y="1975104"/>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10574301" y="2122505"/>
            <a:ext cx="272126" cy="272126"/>
          </a:xfrm>
          <a:prstGeom prst="rect">
            <a:avLst/>
          </a:prstGeom>
        </p:spPr>
      </p:pic>
      <p:sp>
        <p:nvSpPr>
          <p:cNvPr id="42" name="TextBox 41"/>
          <p:cNvSpPr txBox="1"/>
          <p:nvPr/>
        </p:nvSpPr>
        <p:spPr>
          <a:xfrm>
            <a:off x="971641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43" name="TextBox 42"/>
          <p:cNvSpPr txBox="1"/>
          <p:nvPr/>
        </p:nvSpPr>
        <p:spPr>
          <a:xfrm>
            <a:off x="971641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Exactly as it does now. It just gets the numbers</a:t>
            </a:r>
          </a:p>
        </p:txBody>
      </p:sp>
      <p:sp>
        <p:nvSpPr>
          <p:cNvPr id="44" name="Rounded Rectangle 43"/>
          <p:cNvSpPr/>
          <p:nvPr/>
        </p:nvSpPr>
        <p:spPr>
          <a:xfrm>
            <a:off x="411480" y="3675887"/>
            <a:ext cx="5577840" cy="1874519"/>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3675887"/>
            <a:ext cx="68580" cy="1874519"/>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THE 3D MODEL GIVES, WITH NOTHING TYPED</a:t>
            </a:r>
          </a:p>
        </p:txBody>
      </p:sp>
      <p:sp>
        <p:nvSpPr>
          <p:cNvPr id="47" name="TextBox 46"/>
          <p:cNvSpPr txBox="1"/>
          <p:nvPr/>
        </p:nvSpPr>
        <p:spPr>
          <a:xfrm>
            <a:off x="612648"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Weight, volume, overall size, surface area.</a:t>
            </a:r>
          </a:p>
          <a:p>
            <a:pPr algn="l">
              <a:lnSpc>
                <a:spcPct val="112000"/>
              </a:lnSpc>
              <a:spcAft>
                <a:spcPts val="300"/>
              </a:spcAft>
            </a:pPr>
            <a:r>
              <a:rPr sz="1050" b="0" i="0">
                <a:solidFill>
                  <a:srgbClr val="3A4356"/>
                </a:solidFill>
                <a:latin typeface="Calibri"/>
              </a:rPr>
              <a:t>Wall thickness, holes, pockets, bosses, bends,</a:t>
            </a:r>
          </a:p>
          <a:p>
            <a:pPr algn="l">
              <a:lnSpc>
                <a:spcPct val="112000"/>
              </a:lnSpc>
              <a:spcAft>
                <a:spcPts val="300"/>
              </a:spcAft>
            </a:pPr>
            <a:r>
              <a:rPr sz="1050" b="0" i="0">
                <a:solidFill>
                  <a:srgbClr val="3A4356"/>
                </a:solidFill>
                <a:latin typeface="Calibri"/>
              </a:rPr>
              <a:t>gear teeth, draft, machined face count.</a:t>
            </a:r>
          </a:p>
          <a:p>
            <a:pPr algn="l">
              <a:lnSpc>
                <a:spcPct val="112000"/>
              </a:lnSpc>
              <a:spcAft>
                <a:spcPts val="300"/>
              </a:spcAft>
            </a:pPr>
          </a:p>
          <a:p>
            <a:pPr algn="l">
              <a:lnSpc>
                <a:spcPct val="112000"/>
              </a:lnSpc>
              <a:spcAft>
                <a:spcPts val="300"/>
              </a:spcAft>
            </a:pPr>
            <a:r>
              <a:rPr sz="1050" b="1" i="0">
                <a:solidFill>
                  <a:srgbClr val="16325C"/>
                </a:solidFill>
                <a:latin typeface="Calibri"/>
              </a:rPr>
              <a:t>Fixed rules turn those measurements into the</a:t>
            </a:r>
          </a:p>
          <a:p>
            <a:pPr algn="l">
              <a:lnSpc>
                <a:spcPct val="112000"/>
              </a:lnSpc>
              <a:spcAft>
                <a:spcPts val="300"/>
              </a:spcAft>
            </a:pPr>
            <a:r>
              <a:rPr sz="1050" b="1" i="0">
                <a:solidFill>
                  <a:srgbClr val="16325C"/>
                </a:solidFill>
                <a:latin typeface="Calibri"/>
              </a:rPr>
              <a:t>values the CAPEE form asks for.</a:t>
            </a:r>
          </a:p>
        </p:txBody>
      </p:sp>
      <p:sp>
        <p:nvSpPr>
          <p:cNvPr id="48" name="Rounded Rectangle 47"/>
          <p:cNvSpPr/>
          <p:nvPr/>
        </p:nvSpPr>
        <p:spPr>
          <a:xfrm>
            <a:off x="6199632" y="3675887"/>
            <a:ext cx="5577840" cy="1874519"/>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99632" y="3675887"/>
            <a:ext cx="68580" cy="1874519"/>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0"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A PERSON STILL SUPPLIES</a:t>
            </a:r>
          </a:p>
        </p:txBody>
      </p:sp>
      <p:sp>
        <p:nvSpPr>
          <p:cNvPr id="51" name="TextBox 50"/>
          <p:cNvSpPr txBox="1"/>
          <p:nvPr/>
        </p:nvSpPr>
        <p:spPr>
          <a:xfrm>
            <a:off x="6400800"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Which material it is. A 3D model cannot tell steel</a:t>
            </a:r>
          </a:p>
          <a:p>
            <a:pPr algn="l">
              <a:lnSpc>
                <a:spcPct val="112000"/>
              </a:lnSpc>
              <a:spcAft>
                <a:spcPts val="300"/>
              </a:spcAft>
            </a:pPr>
            <a:r>
              <a:rPr sz="1050" b="0" i="0">
                <a:solidFill>
                  <a:srgbClr val="3A4356"/>
                </a:solidFill>
                <a:latin typeface="Calibri"/>
              </a:rPr>
              <a:t>from aluminium, and the same shape weighs about</a:t>
            </a:r>
          </a:p>
          <a:p>
            <a:pPr algn="l">
              <a:lnSpc>
                <a:spcPct val="112000"/>
              </a:lnSpc>
              <a:spcAft>
                <a:spcPts val="300"/>
              </a:spcAft>
            </a:pPr>
            <a:r>
              <a:rPr sz="1050" b="0" i="0">
                <a:solidFill>
                  <a:srgbClr val="3A4356"/>
                </a:solidFill>
                <a:latin typeface="Calibri"/>
              </a:rPr>
              <a:t>three times more in one than the other.</a:t>
            </a:r>
          </a:p>
          <a:p>
            <a:pPr algn="l">
              <a:lnSpc>
                <a:spcPct val="112000"/>
              </a:lnSpc>
              <a:spcAft>
                <a:spcPts val="300"/>
              </a:spcAft>
            </a:pPr>
          </a:p>
          <a:p>
            <a:pPr algn="l">
              <a:lnSpc>
                <a:spcPct val="112000"/>
              </a:lnSpc>
              <a:spcAft>
                <a:spcPts val="300"/>
              </a:spcAft>
            </a:pPr>
            <a:r>
              <a:rPr sz="1050" b="1" i="0">
                <a:solidFill>
                  <a:srgbClr val="16325C"/>
                </a:solidFill>
                <a:latin typeface="Calibri"/>
              </a:rPr>
              <a:t>Tolerance class, finish, heat treatment, coating.</a:t>
            </a:r>
          </a:p>
          <a:p>
            <a:pPr algn="l">
              <a:lnSpc>
                <a:spcPct val="112000"/>
              </a:lnSpc>
              <a:spcAft>
                <a:spcPts val="300"/>
              </a:spcAft>
            </a:pPr>
            <a:r>
              <a:rPr sz="1050" b="1" i="0">
                <a:solidFill>
                  <a:srgbClr val="16325C"/>
                </a:solidFill>
                <a:latin typeface="Calibri"/>
              </a:rPr>
              <a:t>The tool asks. It never guesses and never pre-ticks.</a:t>
            </a:r>
          </a:p>
        </p:txBody>
      </p:sp>
      <p:sp>
        <p:nvSpPr>
          <p:cNvPr id="52" name="Rounded Rectangle 51"/>
          <p:cNvSpPr/>
          <p:nvPr/>
        </p:nvSpPr>
        <p:spPr>
          <a:xfrm>
            <a:off x="411480" y="5641848"/>
            <a:ext cx="11365992" cy="96926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641848"/>
            <a:ext cx="68580" cy="9692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76072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this one can start now</a:t>
            </a:r>
          </a:p>
        </p:txBody>
      </p:sp>
      <p:sp>
        <p:nvSpPr>
          <p:cNvPr id="55" name="TextBox 54"/>
          <p:cNvSpPr txBox="1"/>
          <p:nvPr/>
        </p:nvSpPr>
        <p:spPr>
          <a:xfrm>
            <a:off x="630936" y="6044184"/>
            <a:ext cx="10954512" cy="466344"/>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ordinary engineering software, the same kind of geometry engine that sits inside a CAD package, and the values are filled in by fixed rules. There is no AI in this option, so it needs no AI approval. The file is read on a JLR server and never leaves it, and CAPEE still does the costing on the same screens.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CAPABILITY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CostVision does</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Six things we cannot do at all today. All of them exist in the tool now.</a:t>
            </a:r>
          </a:p>
        </p:txBody>
      </p:sp>
      <p:sp>
        <p:nvSpPr>
          <p:cNvPr id="10" name="Rounded Rectangle 9"/>
          <p:cNvSpPr/>
          <p:nvPr/>
        </p:nvSpPr>
        <p:spPr>
          <a:xfrm>
            <a:off x="411480"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9224" y="206654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g.png"/>
          <p:cNvPicPr>
            <a:picLocks noChangeAspect="1"/>
          </p:cNvPicPr>
          <p:nvPr/>
        </p:nvPicPr>
        <p:blipFill>
          <a:blip r:embed="rId2"/>
          <a:stretch>
            <a:fillRect/>
          </a:stretch>
        </p:blipFill>
        <p:spPr>
          <a:xfrm>
            <a:off x="791870" y="2209190"/>
            <a:ext cx="263348" cy="263348"/>
          </a:xfrm>
          <a:prstGeom prst="rect">
            <a:avLst/>
          </a:prstGeom>
        </p:spPr>
      </p:pic>
      <p:sp>
        <p:nvSpPr>
          <p:cNvPr id="14" name="TextBox 13"/>
          <p:cNvSpPr txBox="1"/>
          <p:nvPr/>
        </p:nvSpPr>
        <p:spPr>
          <a:xfrm>
            <a:off x="649224"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Cost a whole basket, unattended</a:t>
            </a:r>
          </a:p>
        </p:txBody>
      </p:sp>
      <p:sp>
        <p:nvSpPr>
          <p:cNvPr id="15" name="TextBox 14"/>
          <p:cNvSpPr txBox="1"/>
          <p:nvPr/>
        </p:nvSpPr>
        <p:spPr>
          <a:xfrm>
            <a:off x="649224"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A list of parts and their 3D models goes in. Every part is costed and reported without anyone sitting there.</a:t>
            </a:r>
          </a:p>
        </p:txBody>
      </p:sp>
      <p:sp>
        <p:nvSpPr>
          <p:cNvPr id="16" name="Rounded Rectangle 15"/>
          <p:cNvSpPr/>
          <p:nvPr/>
        </p:nvSpPr>
        <p:spPr>
          <a:xfrm>
            <a:off x="4261104"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61104" y="182880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498848" y="206654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ye.png"/>
          <p:cNvPicPr>
            <a:picLocks noChangeAspect="1"/>
          </p:cNvPicPr>
          <p:nvPr/>
        </p:nvPicPr>
        <p:blipFill>
          <a:blip r:embed="rId3"/>
          <a:stretch>
            <a:fillRect/>
          </a:stretch>
        </p:blipFill>
        <p:spPr>
          <a:xfrm>
            <a:off x="4641494" y="2209190"/>
            <a:ext cx="263348" cy="263348"/>
          </a:xfrm>
          <a:prstGeom prst="rect">
            <a:avLst/>
          </a:prstGeom>
        </p:spPr>
      </p:pic>
      <p:sp>
        <p:nvSpPr>
          <p:cNvPr id="20" name="TextBox 19"/>
          <p:cNvSpPr txBox="1"/>
          <p:nvPr/>
        </p:nvSpPr>
        <p:spPr>
          <a:xfrm>
            <a:off x="4498848"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 board photo becomes a costed BOM</a:t>
            </a:r>
          </a:p>
        </p:txBody>
      </p:sp>
      <p:sp>
        <p:nvSpPr>
          <p:cNvPr id="21" name="TextBox 20"/>
          <p:cNvSpPr txBox="1"/>
          <p:nvPr/>
        </p:nvSpPr>
        <p:spPr>
          <a:xfrm>
            <a:off x="4498848"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Take a picture of a circuit board. The tool works out what is on it, builds the bill of materials and the board spec, and costs it.</a:t>
            </a:r>
          </a:p>
        </p:txBody>
      </p:sp>
      <p:sp>
        <p:nvSpPr>
          <p:cNvPr id="22" name="Rounded Rectangle 21"/>
          <p:cNvSpPr/>
          <p:nvPr/>
        </p:nvSpPr>
        <p:spPr>
          <a:xfrm>
            <a:off x="8110728"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10728" y="182880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348472" y="206654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lip.png"/>
          <p:cNvPicPr>
            <a:picLocks noChangeAspect="1"/>
          </p:cNvPicPr>
          <p:nvPr/>
        </p:nvPicPr>
        <p:blipFill>
          <a:blip r:embed="rId4"/>
          <a:stretch>
            <a:fillRect/>
          </a:stretch>
        </p:blipFill>
        <p:spPr>
          <a:xfrm>
            <a:off x="8491118" y="2209190"/>
            <a:ext cx="263348" cy="263348"/>
          </a:xfrm>
          <a:prstGeom prst="rect">
            <a:avLst/>
          </a:prstGeom>
        </p:spPr>
      </p:pic>
      <p:sp>
        <p:nvSpPr>
          <p:cNvPr id="26" name="TextBox 25"/>
          <p:cNvSpPr txBox="1"/>
          <p:nvPr/>
        </p:nvSpPr>
        <p:spPr>
          <a:xfrm>
            <a:off x="8348472"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RFQ pack becomes costed lines</a:t>
            </a:r>
          </a:p>
        </p:txBody>
      </p:sp>
      <p:sp>
        <p:nvSpPr>
          <p:cNvPr id="27" name="TextBox 26"/>
          <p:cNvSpPr txBox="1"/>
          <p:nvPr/>
        </p:nvSpPr>
        <p:spPr>
          <a:xfrm>
            <a:off x="8348472"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The tool pulls the line items out of the pack, costs each one, ranks them by money and drafts the negotiation brief.</a:t>
            </a:r>
          </a:p>
        </p:txBody>
      </p:sp>
      <p:sp>
        <p:nvSpPr>
          <p:cNvPr id="28" name="Rounded Rectangle 27"/>
          <p:cNvSpPr/>
          <p:nvPr/>
        </p:nvSpPr>
        <p:spPr>
          <a:xfrm>
            <a:off x="411480"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49224"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person.png"/>
          <p:cNvPicPr>
            <a:picLocks noChangeAspect="1"/>
          </p:cNvPicPr>
          <p:nvPr/>
        </p:nvPicPr>
        <p:blipFill>
          <a:blip r:embed="rId5"/>
          <a:stretch>
            <a:fillRect/>
          </a:stretch>
        </p:blipFill>
        <p:spPr>
          <a:xfrm>
            <a:off x="791870" y="4175150"/>
            <a:ext cx="263348" cy="263348"/>
          </a:xfrm>
          <a:prstGeom prst="rect">
            <a:avLst/>
          </a:prstGeom>
        </p:spPr>
      </p:pic>
      <p:sp>
        <p:nvSpPr>
          <p:cNvPr id="32" name="TextBox 31"/>
          <p:cNvSpPr txBox="1"/>
          <p:nvPr/>
        </p:nvSpPr>
        <p:spPr>
          <a:xfrm>
            <a:off x="649224"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assistant does the setting up</a:t>
            </a:r>
          </a:p>
        </p:txBody>
      </p:sp>
      <p:sp>
        <p:nvSpPr>
          <p:cNvPr id="33" name="TextBox 32"/>
          <p:cNvSpPr txBox="1"/>
          <p:nvPr/>
        </p:nvSpPr>
        <p:spPr>
          <a:xfrm>
            <a:off x="649224"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picks the process route and the machine and fills in what the geometry gives, then asks one question instead of a hundred.</a:t>
            </a:r>
          </a:p>
        </p:txBody>
      </p:sp>
      <p:sp>
        <p:nvSpPr>
          <p:cNvPr id="34" name="Rounded Rectangle 33"/>
          <p:cNvSpPr/>
          <p:nvPr/>
        </p:nvSpPr>
        <p:spPr>
          <a:xfrm>
            <a:off x="4261104"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61104"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498848"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oins.png"/>
          <p:cNvPicPr>
            <a:picLocks noChangeAspect="1"/>
          </p:cNvPicPr>
          <p:nvPr/>
        </p:nvPicPr>
        <p:blipFill>
          <a:blip r:embed="rId6"/>
          <a:stretch>
            <a:fillRect/>
          </a:stretch>
        </p:blipFill>
        <p:spPr>
          <a:xfrm>
            <a:off x="4641494" y="4175150"/>
            <a:ext cx="263348" cy="263348"/>
          </a:xfrm>
          <a:prstGeom prst="rect">
            <a:avLst/>
          </a:prstGeom>
        </p:spPr>
      </p:pic>
      <p:sp>
        <p:nvSpPr>
          <p:cNvPr id="38" name="TextBox 37"/>
          <p:cNvSpPr txBox="1"/>
          <p:nvPr/>
        </p:nvSpPr>
        <p:spPr>
          <a:xfrm>
            <a:off x="4498848"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Supplier quotes taken apart</a:t>
            </a:r>
          </a:p>
        </p:txBody>
      </p:sp>
      <p:sp>
        <p:nvSpPr>
          <p:cNvPr id="39" name="TextBox 38"/>
          <p:cNvSpPr txBox="1"/>
          <p:nvPr/>
        </p:nvSpPr>
        <p:spPr>
          <a:xfrm>
            <a:off x="4498848"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Put their price next to our own build-up and see which part of it the gap is in, with the questions to put to them.</a:t>
            </a:r>
          </a:p>
        </p:txBody>
      </p:sp>
      <p:sp>
        <p:nvSpPr>
          <p:cNvPr id="40" name="Rounded Rectangle 39"/>
          <p:cNvSpPr/>
          <p:nvPr/>
        </p:nvSpPr>
        <p:spPr>
          <a:xfrm>
            <a:off x="8110728"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110728"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348472"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press.png"/>
          <p:cNvPicPr>
            <a:picLocks noChangeAspect="1"/>
          </p:cNvPicPr>
          <p:nvPr/>
        </p:nvPicPr>
        <p:blipFill>
          <a:blip r:embed="rId7"/>
          <a:stretch>
            <a:fillRect/>
          </a:stretch>
        </p:blipFill>
        <p:spPr>
          <a:xfrm>
            <a:off x="8491118" y="4175150"/>
            <a:ext cx="263348" cy="263348"/>
          </a:xfrm>
          <a:prstGeom prst="rect">
            <a:avLst/>
          </a:prstGeom>
        </p:spPr>
      </p:pic>
      <p:sp>
        <p:nvSpPr>
          <p:cNvPr id="44" name="TextBox 43"/>
          <p:cNvSpPr txBox="1"/>
          <p:nvPr/>
        </p:nvSpPr>
        <p:spPr>
          <a:xfrm>
            <a:off x="8348472"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Design changes priced, not guessed</a:t>
            </a:r>
          </a:p>
        </p:txBody>
      </p:sp>
      <p:sp>
        <p:nvSpPr>
          <p:cNvPr id="45" name="TextBox 44"/>
          <p:cNvSpPr txBox="1"/>
          <p:nvPr/>
        </p:nvSpPr>
        <p:spPr>
          <a:xfrm>
            <a:off x="8348472"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flags what makes a part expensive and puts a number on each change, ranked by the money it would save.</a:t>
            </a:r>
          </a:p>
        </p:txBody>
      </p:sp>
      <p:sp>
        <p:nvSpPr>
          <p:cNvPr id="46" name="Rounded Rectangle 45"/>
          <p:cNvSpPr/>
          <p:nvPr/>
        </p:nvSpPr>
        <p:spPr>
          <a:xfrm>
            <a:off x="411480" y="5779008"/>
            <a:ext cx="11365992" cy="8686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11480" y="5779008"/>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0936" y="589788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All six end in the same engine</a:t>
            </a:r>
          </a:p>
        </p:txBody>
      </p:sp>
      <p:sp>
        <p:nvSpPr>
          <p:cNvPr id="49" name="TextBox 48"/>
          <p:cNvSpPr txBox="1"/>
          <p:nvPr/>
        </p:nvSpPr>
        <p:spPr>
          <a:xfrm>
            <a:off x="630936" y="6181344"/>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AI reads, sorts and sets up — the photo, the pack, the drawing, the process route. It never sets a price. The money is worked out by the same fixed rules and the same rate book we use today, so every number can still be explained line by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BENEFITS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get from each</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Stated in kind, not in pounds. Slide 1 turns these into hours once we fill in our own four numbers.</a:t>
            </a:r>
          </a:p>
        </p:txBody>
      </p:sp>
      <p:sp>
        <p:nvSpPr>
          <p:cNvPr id="10" name="Rounded Rectangle 9"/>
          <p:cNvSpPr/>
          <p:nvPr/>
        </p:nvSpPr>
        <p:spPr>
          <a:xfrm>
            <a:off x="411480" y="1828800"/>
            <a:ext cx="5577840" cy="397763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68580" cy="3977639"/>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195681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automatic input into CAPEE</a:t>
            </a:r>
          </a:p>
        </p:txBody>
      </p:sp>
      <p:sp>
        <p:nvSpPr>
          <p:cNvPr id="13" name="TextBox 12"/>
          <p:cNvSpPr txBox="1"/>
          <p:nvPr/>
        </p:nvSpPr>
        <p:spPr>
          <a:xfrm>
            <a:off x="612648" y="2267712"/>
            <a:ext cx="5212080" cy="3428999"/>
          </a:xfrm>
          <a:prstGeom prst="rect">
            <a:avLst/>
          </a:prstGeom>
          <a:noFill/>
        </p:spPr>
        <p:txBody>
          <a:bodyPr wrap="square" anchor="t" lIns="0" rIns="0" tIns="0" bIns="0">
            <a:spAutoFit/>
          </a:bodyPr>
          <a:lstStyle/>
          <a:p>
            <a:pPr algn="l">
              <a:lnSpc>
                <a:spcPct val="112000"/>
              </a:lnSpc>
              <a:spcAft>
                <a:spcPts val="300"/>
              </a:spcAft>
            </a:pPr>
            <a:r>
              <a:rPr sz="1050" b="1" i="0">
                <a:solidFill>
                  <a:srgbClr val="1D6FB8"/>
                </a:solidFill>
                <a:latin typeface="Calibri"/>
              </a:rPr>
              <a:t>Checking instead of typing</a:t>
            </a:r>
          </a:p>
          <a:p>
            <a:pPr algn="l">
              <a:lnSpc>
                <a:spcPct val="112000"/>
              </a:lnSpc>
              <a:spcAft>
                <a:spcPts val="300"/>
              </a:spcAft>
            </a:pPr>
            <a:r>
              <a:rPr sz="1050" b="0" i="0">
                <a:solidFill>
                  <a:srgbClr val="3A4356"/>
                </a:solidFill>
                <a:latin typeface="Calibri"/>
              </a:rPr>
              <a:t>The values come off the 3D model; the engineer confirms.</a:t>
            </a:r>
          </a:p>
          <a:p>
            <a:pPr algn="l">
              <a:lnSpc>
                <a:spcPct val="112000"/>
              </a:lnSpc>
              <a:spcAft>
                <a:spcPts val="300"/>
              </a:spcAft>
            </a:pPr>
          </a:p>
          <a:p>
            <a:pPr algn="l">
              <a:lnSpc>
                <a:spcPct val="112000"/>
              </a:lnSpc>
              <a:spcAft>
                <a:spcPts val="300"/>
              </a:spcAft>
            </a:pPr>
            <a:r>
              <a:rPr sz="1050" b="1" i="0">
                <a:solidFill>
                  <a:srgbClr val="1D6FB8"/>
                </a:solidFill>
                <a:latin typeface="Calibri"/>
              </a:rPr>
              <a:t>The same answer every time</a:t>
            </a:r>
          </a:p>
          <a:p>
            <a:pPr algn="l">
              <a:lnSpc>
                <a:spcPct val="112000"/>
              </a:lnSpc>
              <a:spcAft>
                <a:spcPts val="300"/>
              </a:spcAft>
            </a:pPr>
            <a:r>
              <a:rPr sz="1050" b="0" i="0">
                <a:solidFill>
                  <a:srgbClr val="3A4356"/>
                </a:solidFill>
                <a:latin typeface="Calibri"/>
              </a:rPr>
              <a:t>One method, applied identically, whoever costs the part.</a:t>
            </a:r>
          </a:p>
          <a:p>
            <a:pPr algn="l">
              <a:lnSpc>
                <a:spcPct val="112000"/>
              </a:lnSpc>
              <a:spcAft>
                <a:spcPts val="300"/>
              </a:spcAft>
            </a:pPr>
          </a:p>
          <a:p>
            <a:pPr algn="l">
              <a:lnSpc>
                <a:spcPct val="112000"/>
              </a:lnSpc>
              <a:spcAft>
                <a:spcPts val="300"/>
              </a:spcAft>
            </a:pPr>
            <a:r>
              <a:rPr sz="1050" b="1" i="0">
                <a:solidFill>
                  <a:srgbClr val="1D6FB8"/>
                </a:solidFill>
                <a:latin typeface="Calibri"/>
              </a:rPr>
              <a:t>More parts costed by the same team</a:t>
            </a:r>
          </a:p>
          <a:p>
            <a:pPr algn="l">
              <a:lnSpc>
                <a:spcPct val="112000"/>
              </a:lnSpc>
              <a:spcAft>
                <a:spcPts val="300"/>
              </a:spcAft>
            </a:pPr>
            <a:r>
              <a:rPr sz="1050" b="0" i="0">
                <a:solidFill>
                  <a:srgbClr val="3A4356"/>
                </a:solidFill>
                <a:latin typeface="Calibri"/>
              </a:rPr>
              <a:t>The time saved goes back into costing more of the basket.</a:t>
            </a:r>
          </a:p>
          <a:p>
            <a:pPr algn="l">
              <a:lnSpc>
                <a:spcPct val="112000"/>
              </a:lnSpc>
              <a:spcAft>
                <a:spcPts val="300"/>
              </a:spcAft>
            </a:pPr>
          </a:p>
          <a:p>
            <a:pPr algn="l">
              <a:lnSpc>
                <a:spcPct val="112000"/>
              </a:lnSpc>
              <a:spcAft>
                <a:spcPts val="300"/>
              </a:spcAft>
            </a:pPr>
            <a:r>
              <a:rPr sz="1050" b="1" i="0">
                <a:solidFill>
                  <a:srgbClr val="1D6FB8"/>
                </a:solidFill>
                <a:latin typeface="Calibri"/>
              </a:rPr>
              <a:t>Nothing new to learn</a:t>
            </a:r>
          </a:p>
          <a:p>
            <a:pPr algn="l">
              <a:lnSpc>
                <a:spcPct val="112000"/>
              </a:lnSpc>
              <a:spcAft>
                <a:spcPts val="300"/>
              </a:spcAft>
            </a:pPr>
            <a:r>
              <a:rPr sz="1050" b="0" i="0">
                <a:solidFill>
                  <a:srgbClr val="3A4356"/>
                </a:solidFill>
                <a:latin typeface="Calibri"/>
              </a:rPr>
              <a:t>CAPEE does not change. Same screens, same way of working.</a:t>
            </a:r>
          </a:p>
          <a:p>
            <a:pPr algn="l">
              <a:lnSpc>
                <a:spcPct val="112000"/>
              </a:lnSpc>
              <a:spcAft>
                <a:spcPts val="300"/>
              </a:spcAft>
            </a:pPr>
          </a:p>
          <a:p>
            <a:pPr algn="l">
              <a:lnSpc>
                <a:spcPct val="112000"/>
              </a:lnSpc>
              <a:spcAft>
                <a:spcPts val="300"/>
              </a:spcAft>
            </a:pPr>
            <a:r>
              <a:rPr sz="1050" b="1" i="0">
                <a:solidFill>
                  <a:srgbClr val="1D6FB8"/>
                </a:solidFill>
                <a:latin typeface="Calibri"/>
              </a:rPr>
              <a:t>It can start now</a:t>
            </a:r>
          </a:p>
          <a:p>
            <a:pPr algn="l">
              <a:lnSpc>
                <a:spcPct val="112000"/>
              </a:lnSpc>
              <a:spcAft>
                <a:spcPts val="300"/>
              </a:spcAft>
            </a:pPr>
            <a:r>
              <a:rPr sz="1050" b="0" i="0">
                <a:solidFill>
                  <a:srgbClr val="3A4356"/>
                </a:solidFill>
                <a:latin typeface="Calibri"/>
              </a:rPr>
              <a:t>No AI involved, so it does not wait on an AI approval.</a:t>
            </a:r>
          </a:p>
        </p:txBody>
      </p:sp>
      <p:sp>
        <p:nvSpPr>
          <p:cNvPr id="14" name="Rounded Rectangle 13"/>
          <p:cNvSpPr/>
          <p:nvPr/>
        </p:nvSpPr>
        <p:spPr>
          <a:xfrm>
            <a:off x="6199632" y="1828800"/>
            <a:ext cx="5577840" cy="397763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1828800"/>
            <a:ext cx="68580" cy="3977639"/>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95681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CostVision end to end</a:t>
            </a:r>
          </a:p>
        </p:txBody>
      </p:sp>
      <p:sp>
        <p:nvSpPr>
          <p:cNvPr id="17" name="TextBox 16"/>
          <p:cNvSpPr txBox="1"/>
          <p:nvPr/>
        </p:nvSpPr>
        <p:spPr>
          <a:xfrm>
            <a:off x="6400800" y="2267712"/>
            <a:ext cx="5212080" cy="3428999"/>
          </a:xfrm>
          <a:prstGeom prst="rect">
            <a:avLst/>
          </a:prstGeom>
          <a:noFill/>
        </p:spPr>
        <p:txBody>
          <a:bodyPr wrap="square" anchor="t" lIns="0" rIns="0" tIns="0" bIns="0">
            <a:spAutoFit/>
          </a:bodyPr>
          <a:lstStyle/>
          <a:p>
            <a:pPr algn="l">
              <a:lnSpc>
                <a:spcPct val="112000"/>
              </a:lnSpc>
              <a:spcAft>
                <a:spcPts val="300"/>
              </a:spcAft>
            </a:pPr>
            <a:r>
              <a:rPr sz="1050" b="1" i="0">
                <a:solidFill>
                  <a:srgbClr val="6B3FA0"/>
                </a:solidFill>
                <a:latin typeface="Calibri"/>
              </a:rPr>
              <a:t>Every part costed, not a sample</a:t>
            </a:r>
          </a:p>
          <a:p>
            <a:pPr algn="l">
              <a:lnSpc>
                <a:spcPct val="112000"/>
              </a:lnSpc>
              <a:spcAft>
                <a:spcPts val="300"/>
              </a:spcAft>
            </a:pPr>
            <a:r>
              <a:rPr sz="1050" b="0" i="0">
                <a:solidFill>
                  <a:srgbClr val="3A4356"/>
                </a:solidFill>
                <a:latin typeface="Calibri"/>
              </a:rPr>
              <a:t>A whole basket priced from its own geometry, in one run.</a:t>
            </a:r>
          </a:p>
          <a:p>
            <a:pPr algn="l">
              <a:lnSpc>
                <a:spcPct val="112000"/>
              </a:lnSpc>
              <a:spcAft>
                <a:spcPts val="300"/>
              </a:spcAft>
            </a:pPr>
          </a:p>
          <a:p>
            <a:pPr algn="l">
              <a:lnSpc>
                <a:spcPct val="112000"/>
              </a:lnSpc>
              <a:spcAft>
                <a:spcPts val="300"/>
              </a:spcAft>
            </a:pPr>
            <a:r>
              <a:rPr sz="1050" b="1" i="0">
                <a:solidFill>
                  <a:srgbClr val="6B3FA0"/>
                </a:solidFill>
                <a:latin typeface="Calibri"/>
              </a:rPr>
              <a:t>Days of work become one run</a:t>
            </a:r>
          </a:p>
          <a:p>
            <a:pPr algn="l">
              <a:lnSpc>
                <a:spcPct val="112000"/>
              </a:lnSpc>
              <a:spcAft>
                <a:spcPts val="300"/>
              </a:spcAft>
            </a:pPr>
            <a:r>
              <a:rPr sz="1050" b="0" i="0">
                <a:solidFill>
                  <a:srgbClr val="3A4356"/>
                </a:solidFill>
                <a:latin typeface="Calibri"/>
              </a:rPr>
              <a:t>Gathering the data is the job; the costing stops being it.</a:t>
            </a:r>
          </a:p>
          <a:p>
            <a:pPr algn="l">
              <a:lnSpc>
                <a:spcPct val="112000"/>
              </a:lnSpc>
              <a:spcAft>
                <a:spcPts val="300"/>
              </a:spcAft>
            </a:pPr>
          </a:p>
          <a:p>
            <a:pPr algn="l">
              <a:lnSpc>
                <a:spcPct val="112000"/>
              </a:lnSpc>
              <a:spcAft>
                <a:spcPts val="300"/>
              </a:spcAft>
            </a:pPr>
            <a:r>
              <a:rPr sz="1050" b="1" i="0">
                <a:solidFill>
                  <a:srgbClr val="6B3FA0"/>
                </a:solidFill>
                <a:latin typeface="Calibri"/>
              </a:rPr>
              <a:t>A stronger position with suppliers</a:t>
            </a:r>
          </a:p>
          <a:p>
            <a:pPr algn="l">
              <a:lnSpc>
                <a:spcPct val="112000"/>
              </a:lnSpc>
              <a:spcAft>
                <a:spcPts val="300"/>
              </a:spcAft>
            </a:pPr>
            <a:r>
              <a:rPr sz="1050" b="0" i="0">
                <a:solidFill>
                  <a:srgbClr val="3A4356"/>
                </a:solidFill>
                <a:latin typeface="Calibri"/>
              </a:rPr>
              <a:t>The build-up, where their price differs, and what to ask.</a:t>
            </a:r>
          </a:p>
          <a:p>
            <a:pPr algn="l">
              <a:lnSpc>
                <a:spcPct val="112000"/>
              </a:lnSpc>
              <a:spcAft>
                <a:spcPts val="300"/>
              </a:spcAft>
            </a:pPr>
          </a:p>
          <a:p>
            <a:pPr algn="l">
              <a:lnSpc>
                <a:spcPct val="112000"/>
              </a:lnSpc>
              <a:spcAft>
                <a:spcPts val="300"/>
              </a:spcAft>
            </a:pPr>
            <a:r>
              <a:rPr sz="1050" b="1" i="0">
                <a:solidFill>
                  <a:srgbClr val="6B3FA0"/>
                </a:solidFill>
                <a:latin typeface="Calibri"/>
              </a:rPr>
              <a:t>Work we cannot do at all today</a:t>
            </a:r>
          </a:p>
          <a:p>
            <a:pPr algn="l">
              <a:lnSpc>
                <a:spcPct val="112000"/>
              </a:lnSpc>
              <a:spcAft>
                <a:spcPts val="300"/>
              </a:spcAft>
            </a:pPr>
            <a:r>
              <a:rPr sz="1050" b="0" i="0">
                <a:solidFill>
                  <a:srgbClr val="3A4356"/>
                </a:solidFill>
                <a:latin typeface="Calibri"/>
              </a:rPr>
              <a:t>Electronics costed from a photo. RFQ packs costed and ranked.</a:t>
            </a:r>
          </a:p>
          <a:p>
            <a:pPr algn="l">
              <a:lnSpc>
                <a:spcPct val="112000"/>
              </a:lnSpc>
              <a:spcAft>
                <a:spcPts val="300"/>
              </a:spcAft>
            </a:pPr>
          </a:p>
          <a:p>
            <a:pPr algn="l">
              <a:lnSpc>
                <a:spcPct val="112000"/>
              </a:lnSpc>
              <a:spcAft>
                <a:spcPts val="300"/>
              </a:spcAft>
            </a:pPr>
            <a:r>
              <a:rPr sz="1050" b="1" i="0">
                <a:solidFill>
                  <a:srgbClr val="6B3FA0"/>
                </a:solidFill>
                <a:latin typeface="Calibri"/>
              </a:rPr>
              <a:t>Design-to-cost becomes a decision</a:t>
            </a:r>
          </a:p>
          <a:p>
            <a:pPr algn="l">
              <a:lnSpc>
                <a:spcPct val="112000"/>
              </a:lnSpc>
              <a:spcAft>
                <a:spcPts val="300"/>
              </a:spcAft>
            </a:pPr>
            <a:r>
              <a:rPr sz="1050" b="0" i="0">
                <a:solidFill>
                  <a:srgbClr val="3A4356"/>
                </a:solidFill>
                <a:latin typeface="Calibri"/>
              </a:rPr>
              <a:t>Changes are priced and ranked, not just listed.</a:t>
            </a:r>
          </a:p>
        </p:txBody>
      </p:sp>
      <p:sp>
        <p:nvSpPr>
          <p:cNvPr id="18" name="Rounded Rectangle 17"/>
          <p:cNvSpPr/>
          <p:nvPr/>
        </p:nvSpPr>
        <p:spPr>
          <a:xfrm>
            <a:off x="411480" y="5897880"/>
            <a:ext cx="11365992" cy="8229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5897880"/>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60167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two build on each other</a:t>
            </a:r>
          </a:p>
        </p:txBody>
      </p:sp>
      <p:sp>
        <p:nvSpPr>
          <p:cNvPr id="21" name="TextBox 20"/>
          <p:cNvSpPr txBox="1"/>
          <p:nvPr/>
        </p:nvSpPr>
        <p:spPr>
          <a:xfrm>
            <a:off x="630936" y="6300216"/>
            <a:ext cx="10954512" cy="3200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1's benefits arrive first and are kept when Option 2 lands. Option 2's rest on the accuracy figure that Option 1 produces, which is the reason for doing them in this order rather than choosing between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changes, and what we are asking for</a:t>
            </a:r>
          </a:p>
        </p:txBody>
      </p:sp>
      <p:sp>
        <p:nvSpPr>
          <p:cNvPr id="9" name="Rectangle 8"/>
          <p:cNvSpPr/>
          <p:nvPr/>
        </p:nvSpPr>
        <p:spPr>
          <a:xfrm>
            <a:off x="411480" y="1600200"/>
            <a:ext cx="3776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682496"/>
            <a:ext cx="3630168"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187952" y="160020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68249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Today</a:t>
            </a:r>
          </a:p>
        </p:txBody>
      </p:sp>
      <p:sp>
        <p:nvSpPr>
          <p:cNvPr id="13" name="Rectangle 12"/>
          <p:cNvSpPr/>
          <p:nvPr/>
        </p:nvSpPr>
        <p:spPr>
          <a:xfrm>
            <a:off x="7982712" y="160020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5008" y="168249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With Option 2</a:t>
            </a:r>
          </a:p>
        </p:txBody>
      </p:sp>
      <p:sp>
        <p:nvSpPr>
          <p:cNvPr id="15" name="Rectangle 14"/>
          <p:cNvSpPr/>
          <p:nvPr/>
        </p:nvSpPr>
        <p:spPr>
          <a:xfrm>
            <a:off x="411480" y="1929384"/>
            <a:ext cx="3776472"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1993392"/>
            <a:ext cx="3630168"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How many parts get a proper cost</a:t>
            </a:r>
          </a:p>
        </p:txBody>
      </p:sp>
      <p:sp>
        <p:nvSpPr>
          <p:cNvPr id="17" name="Rectangle 16"/>
          <p:cNvSpPr/>
          <p:nvPr/>
        </p:nvSpPr>
        <p:spPr>
          <a:xfrm>
            <a:off x="4187952" y="1929384"/>
            <a:ext cx="3794760"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1993392"/>
            <a:ext cx="3648456"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B03A2E"/>
                </a:solidFill>
                <a:latin typeface="Calibri"/>
              </a:rPr>
              <a:t>The ones we have hours for</a:t>
            </a:r>
          </a:p>
        </p:txBody>
      </p:sp>
      <p:sp>
        <p:nvSpPr>
          <p:cNvPr id="19" name="Rectangle 18"/>
          <p:cNvSpPr/>
          <p:nvPr/>
        </p:nvSpPr>
        <p:spPr>
          <a:xfrm>
            <a:off x="7982712" y="1929384"/>
            <a:ext cx="3794760"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65008" y="1993392"/>
            <a:ext cx="3648456" cy="32918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All of them</a:t>
            </a:r>
          </a:p>
        </p:txBody>
      </p:sp>
      <p:sp>
        <p:nvSpPr>
          <p:cNvPr id="21" name="Rectangle 20"/>
          <p:cNvSpPr/>
          <p:nvPr/>
        </p:nvSpPr>
        <p:spPr>
          <a:xfrm>
            <a:off x="411480" y="2350008"/>
            <a:ext cx="3776472"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414016"/>
            <a:ext cx="3630168"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Turnaround on a basket</a:t>
            </a:r>
          </a:p>
        </p:txBody>
      </p:sp>
      <p:sp>
        <p:nvSpPr>
          <p:cNvPr id="23" name="Rectangle 22"/>
          <p:cNvSpPr/>
          <p:nvPr/>
        </p:nvSpPr>
        <p:spPr>
          <a:xfrm>
            <a:off x="4187952" y="2350008"/>
            <a:ext cx="3794760"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2414016"/>
            <a:ext cx="3648456"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B03A2E"/>
                </a:solidFill>
                <a:latin typeface="Calibri"/>
              </a:rPr>
              <a:t>Days of engineer time</a:t>
            </a:r>
          </a:p>
        </p:txBody>
      </p:sp>
      <p:sp>
        <p:nvSpPr>
          <p:cNvPr id="25" name="Rectangle 24"/>
          <p:cNvSpPr/>
          <p:nvPr/>
        </p:nvSpPr>
        <p:spPr>
          <a:xfrm>
            <a:off x="7982712" y="2350008"/>
            <a:ext cx="3794760"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65008" y="2414016"/>
            <a:ext cx="3648456" cy="32918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One run, once the data is together</a:t>
            </a:r>
          </a:p>
        </p:txBody>
      </p:sp>
      <p:sp>
        <p:nvSpPr>
          <p:cNvPr id="27" name="Rectangle 26"/>
          <p:cNvSpPr/>
          <p:nvPr/>
        </p:nvSpPr>
        <p:spPr>
          <a:xfrm>
            <a:off x="411480" y="2770632"/>
            <a:ext cx="3776472"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2834640"/>
            <a:ext cx="3630168"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What we take to a supplier</a:t>
            </a:r>
          </a:p>
        </p:txBody>
      </p:sp>
      <p:sp>
        <p:nvSpPr>
          <p:cNvPr id="29" name="Rectangle 28"/>
          <p:cNvSpPr/>
          <p:nvPr/>
        </p:nvSpPr>
        <p:spPr>
          <a:xfrm>
            <a:off x="4187952" y="2770632"/>
            <a:ext cx="3794760"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2834640"/>
            <a:ext cx="3648456"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Our estimate</a:t>
            </a:r>
          </a:p>
        </p:txBody>
      </p:sp>
      <p:sp>
        <p:nvSpPr>
          <p:cNvPr id="31" name="Rectangle 30"/>
          <p:cNvSpPr/>
          <p:nvPr/>
        </p:nvSpPr>
        <p:spPr>
          <a:xfrm>
            <a:off x="7982712" y="2770632"/>
            <a:ext cx="3794760"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834640"/>
            <a:ext cx="3648456" cy="32918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The build-up, where their price differs, and what to ask</a:t>
            </a:r>
          </a:p>
        </p:txBody>
      </p:sp>
      <p:sp>
        <p:nvSpPr>
          <p:cNvPr id="33" name="Rectangle 32"/>
          <p:cNvSpPr/>
          <p:nvPr/>
        </p:nvSpPr>
        <p:spPr>
          <a:xfrm>
            <a:off x="411480" y="3191256"/>
            <a:ext cx="3776472"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255264"/>
            <a:ext cx="3630168"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Where the engineer spends the time</a:t>
            </a:r>
          </a:p>
        </p:txBody>
      </p:sp>
      <p:sp>
        <p:nvSpPr>
          <p:cNvPr id="35" name="Rectangle 34"/>
          <p:cNvSpPr/>
          <p:nvPr/>
        </p:nvSpPr>
        <p:spPr>
          <a:xfrm>
            <a:off x="4187952" y="3191256"/>
            <a:ext cx="3794760"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70248" y="3255264"/>
            <a:ext cx="3648456"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B03A2E"/>
                </a:solidFill>
                <a:latin typeface="Calibri"/>
              </a:rPr>
              <a:t>Typing values in</a:t>
            </a:r>
          </a:p>
        </p:txBody>
      </p:sp>
      <p:sp>
        <p:nvSpPr>
          <p:cNvPr id="37" name="Rectangle 36"/>
          <p:cNvSpPr/>
          <p:nvPr/>
        </p:nvSpPr>
        <p:spPr>
          <a:xfrm>
            <a:off x="7982712" y="3191256"/>
            <a:ext cx="3794760"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65008" y="3255264"/>
            <a:ext cx="3648456" cy="32918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Answering what only a person can, and acting on what it finds</a:t>
            </a:r>
          </a:p>
        </p:txBody>
      </p:sp>
      <p:sp>
        <p:nvSpPr>
          <p:cNvPr id="39" name="Rounded Rectangle 38"/>
          <p:cNvSpPr/>
          <p:nvPr/>
        </p:nvSpPr>
        <p:spPr>
          <a:xfrm>
            <a:off x="411480" y="3694176"/>
            <a:ext cx="5577840" cy="11887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3694176"/>
            <a:ext cx="68580" cy="11887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382219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NEEDS</a:t>
            </a:r>
          </a:p>
        </p:txBody>
      </p:sp>
      <p:sp>
        <p:nvSpPr>
          <p:cNvPr id="42" name="TextBox 41"/>
          <p:cNvSpPr txBox="1"/>
          <p:nvPr/>
        </p:nvSpPr>
        <p:spPr>
          <a:xfrm>
            <a:off x="612648" y="4133088"/>
            <a:ext cx="5212080" cy="6400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Linux server, and a way to pass numbers into CAPEE</a:t>
            </a:r>
          </a:p>
          <a:p>
            <a:pPr algn="l">
              <a:lnSpc>
                <a:spcPct val="112000"/>
              </a:lnSpc>
              <a:spcAft>
                <a:spcPts val="300"/>
              </a:spcAft>
            </a:pPr>
            <a:r>
              <a:rPr sz="1050" b="0" i="0">
                <a:solidFill>
                  <a:srgbClr val="3A4356"/>
                </a:solidFill>
                <a:latin typeface="Calibri"/>
              </a:rPr>
              <a:t>30 to 50 parts where we know the price we paid</a:t>
            </a:r>
          </a:p>
          <a:p>
            <a:pPr algn="l">
              <a:lnSpc>
                <a:spcPct val="112000"/>
              </a:lnSpc>
              <a:spcAft>
                <a:spcPts val="300"/>
              </a:spcAft>
            </a:pPr>
            <a:r>
              <a:rPr sz="1050" b="0" i="0">
                <a:solidFill>
                  <a:srgbClr val="3A4356"/>
                </a:solidFill>
                <a:latin typeface="Calibri"/>
              </a:rPr>
              <a:t>One commodity and a small team for the trial</a:t>
            </a:r>
          </a:p>
        </p:txBody>
      </p:sp>
      <p:sp>
        <p:nvSpPr>
          <p:cNvPr id="43" name="Rounded Rectangle 42"/>
          <p:cNvSpPr/>
          <p:nvPr/>
        </p:nvSpPr>
        <p:spPr>
          <a:xfrm>
            <a:off x="6199632" y="3694176"/>
            <a:ext cx="5577840" cy="11887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3694176"/>
            <a:ext cx="68580" cy="11887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0" y="382219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NEEDS</a:t>
            </a:r>
          </a:p>
        </p:txBody>
      </p:sp>
      <p:sp>
        <p:nvSpPr>
          <p:cNvPr id="46" name="TextBox 45"/>
          <p:cNvSpPr txBox="1"/>
          <p:nvPr/>
        </p:nvSpPr>
        <p:spPr>
          <a:xfrm>
            <a:off x="6400800" y="4133088"/>
            <a:ext cx="5212080" cy="6400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Everything above, plus approval to use AI</a:t>
            </a:r>
          </a:p>
          <a:p>
            <a:pPr algn="l">
              <a:lnSpc>
                <a:spcPct val="112000"/>
              </a:lnSpc>
              <a:spcAft>
                <a:spcPts val="300"/>
              </a:spcAft>
            </a:pPr>
            <a:r>
              <a:rPr sz="1050" b="0" i="0">
                <a:solidFill>
                  <a:srgbClr val="3A4356"/>
                </a:solidFill>
                <a:latin typeface="Calibri"/>
              </a:rPr>
              <a:t>Our own rate book loaded, with a change history</a:t>
            </a:r>
          </a:p>
          <a:p>
            <a:pPr algn="l">
              <a:lnSpc>
                <a:spcPct val="112000"/>
              </a:lnSpc>
              <a:spcAft>
                <a:spcPts val="300"/>
              </a:spcAft>
            </a:pPr>
            <a:r>
              <a:rPr sz="1050" b="0" i="0">
                <a:solidFill>
                  <a:srgbClr val="3A4356"/>
                </a:solidFill>
                <a:latin typeface="Calibri"/>
              </a:rPr>
              <a:t>A record of every costing, and the run itself built</a:t>
            </a:r>
          </a:p>
        </p:txBody>
      </p:sp>
      <p:sp>
        <p:nvSpPr>
          <p:cNvPr id="47" name="Rounded Rectangle 46"/>
          <p:cNvSpPr/>
          <p:nvPr/>
        </p:nvSpPr>
        <p:spPr>
          <a:xfrm>
            <a:off x="411480" y="4992624"/>
            <a:ext cx="11365992" cy="8229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11480" y="4992624"/>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0936" y="511149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What we are asking for today: approve Option 1 as a trial, and start the AI approval for Option 2</a:t>
            </a:r>
          </a:p>
        </p:txBody>
      </p:sp>
      <p:sp>
        <p:nvSpPr>
          <p:cNvPr id="50" name="TextBox 49"/>
          <p:cNvSpPr txBox="1"/>
          <p:nvPr/>
        </p:nvSpPr>
        <p:spPr>
          <a:xfrm>
            <a:off x="630936" y="5394960"/>
            <a:ext cx="10954512" cy="3200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One commodity, 30 to 50 parts we have already bought, inside CAPEE, using our own time. It gives us the two numbers nobody can state today: how close the tool gets to a price we actually paid, and how much of the input it fills on its own.</a:t>
            </a:r>
          </a:p>
        </p:txBody>
      </p:sp>
      <p:sp>
        <p:nvSpPr>
          <p:cNvPr id="51" name="Rounded Rectangle 50"/>
          <p:cNvSpPr/>
          <p:nvPr/>
        </p:nvSpPr>
        <p:spPr>
          <a:xfrm>
            <a:off x="411480" y="5925312"/>
            <a:ext cx="11365992" cy="804672"/>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11480" y="5925312"/>
            <a:ext cx="68580" cy="80467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0936" y="604418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Two things to be straight about</a:t>
            </a:r>
          </a:p>
        </p:txBody>
      </p:sp>
      <p:sp>
        <p:nvSpPr>
          <p:cNvPr id="54" name="TextBox 53"/>
          <p:cNvSpPr txBox="1"/>
          <p:nvPr/>
        </p:nvSpPr>
        <p:spPr>
          <a:xfrm>
            <a:off x="630936" y="6327648"/>
            <a:ext cx="10954512" cy="301752"/>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Those six capabilities work today one part at a time. Making them run over a whole basket unattended is real work, not a switch. And we have never checked the tool against a price JLR has actually paid — which is exactly what the Option 1 trial settles.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