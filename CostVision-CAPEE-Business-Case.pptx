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all six of them work today. The split on the slide is not what works and what does not — it is what needs an AI service and what does not. The top row needs none at all. It is the fixed rules and our own rate book, so it is the same policy position as Option one. The bottom row reads something a person would otherwise read, so it needs a model, and that is the approval I am asking us to start. Taking the top row first. A list of parts and their three-D models goes in and every part comes back costed, with a report per part and per basket, with nobody sitting there and on our own rates. That one is built and it runs; today we cost the parts we have hours for and estimate the rest from a sample. Next to it is the one our buyers will care about most. Put a supplier's price next to our own build-up and the tool tells you which part of it the gap sits in and what to ask them about it. And the third turns design-for-cost from a list into a decision: it flags what makes a part expensive and puts a number on each change, ordered by what it saves. Now the bottom row. The first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Next along, an RFQ pack goes in and comes back as costed lines, ranked by where the money is, with a first draft of the negotiation brief written for you. And the last is the assistant, and I want to be precise about it. It does the setting up: it picks the process route and the machine and fills in what the geometry gives it, and then it comes back to a person with one question rather than a hundred. The blue strip at the bottom is the sentence I would want people to leave with. Where the AI is used it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for it, written in kind rather than in pounds, for the reason I gave on the first slide: we have never timed this job and never checked the tool against a price we paid, so a pound figure from me would be a guess. The left column is Option one, and it is all about the same thing: the time we spend putting numbers into CAPEE by hand. The typing goes — between twelve and sixty-nine values a part, depending on the commodity, now filled from the model. With nothing typed there is nothing to mistype, so the checking of our own transcription goes with it. It gives the same answer every time, so parts costed by different engineers are comparable. Re-costing becomes nearly free: a new volume or a new set of rates does not mean reading the model again. And the saving is not a one-off — it repeats on every part, so it grows with how many we cost. What is left is the judgement: material, tolerance class, finish and heat treatment, the calls only we can make. That column can start now, because there is no AI in it to approve. And the last line points back at slide one: put our four numbers in and all of that becomes hours. The right column is wider because Option two genuinely has more in it. It runs on its own — parts go in and costed reports come out, and a person answers only what the model cannot show. It uses the same method for everything we make, so a plastic clip and a machined bracket are built up the same way and can sit in the same report. It costs electronics from a photograph of the board, which is work we largely cannot do today. It costs software as well: forty-three modules, from powertrain and driver assistance through to the cloud back end, which matters more every programme. Then the second half of that column is the part I would put to purchasing. It shows where a supplier's price differs from our own build-up and which part of the cost the gap sits in. Then it tells us what to do about it: what to go after, what to ask them, and what it is worth over a year. A whole RFQ pack can go in and come back priced and put in order of money. And design changes come back with a price on them rather than as a list of suggestions. The green strip is the sequencing point. Option one's benefits arrive first and we keep them. Option two's depend on the accuracy figure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The bulk run itself is built — it costs a basket of our own parts unattended, on our own rates.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and our own rate book loaded into the tool. The rest of it is built.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and it has never been run on a JLR laptop.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B7280"/>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All six work today. The top row needs no AI at all; the bottom row needs an AI service, which is the approval to start now.</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on our own rates.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ins.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press.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eye.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BOM</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lip.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erson.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Where the AI is used it reads, sorts and sets up — the photo, the pack, the drawing, the process route. It never sets a price. The money is worked out by the same fixed rules and the same rate book in every one of the six, so every number can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97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The typing goes</a:t>
            </a:r>
          </a:p>
          <a:p>
            <a:pPr algn="l">
              <a:lnSpc>
                <a:spcPct val="112000"/>
              </a:lnSpc>
              <a:spcAft>
                <a:spcPts val="300"/>
              </a:spcAft>
            </a:pPr>
            <a:r>
              <a:rPr sz="1050" b="0" i="0">
                <a:solidFill>
                  <a:srgbClr val="3A4356"/>
                </a:solidFill>
                <a:latin typeface="Calibri"/>
              </a:rPr>
              <a:t>Between 12 and 69 values per part.</a:t>
            </a:r>
          </a:p>
          <a:p>
            <a:pPr algn="l">
              <a:lnSpc>
                <a:spcPct val="112000"/>
              </a:lnSpc>
              <a:spcAft>
                <a:spcPts val="300"/>
              </a:spcAft>
            </a:pPr>
            <a:r>
              <a:rPr sz="1050" b="1" i="0">
                <a:solidFill>
                  <a:srgbClr val="1D6FB8"/>
                </a:solidFill>
                <a:latin typeface="Calibri"/>
              </a:rPr>
              <a:t>Nothing to mistype</a:t>
            </a:r>
          </a:p>
          <a:p>
            <a:pPr algn="l">
              <a:lnSpc>
                <a:spcPct val="112000"/>
              </a:lnSpc>
              <a:spcAft>
                <a:spcPts val="300"/>
              </a:spcAft>
            </a:pPr>
            <a:r>
              <a:rPr sz="1050" b="0" i="0">
                <a:solidFill>
                  <a:srgbClr val="3A4356"/>
                </a:solidFill>
                <a:latin typeface="Calibri"/>
              </a:rPr>
              <a:t>And nothing to re-check afterwards.</a:t>
            </a: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r>
              <a:rPr sz="1050" b="1" i="0">
                <a:solidFill>
                  <a:srgbClr val="1D6FB8"/>
                </a:solidFill>
                <a:latin typeface="Calibri"/>
              </a:rPr>
              <a:t>A re-cost is nearly free</a:t>
            </a:r>
          </a:p>
          <a:p>
            <a:pPr algn="l">
              <a:lnSpc>
                <a:spcPct val="112000"/>
              </a:lnSpc>
              <a:spcAft>
                <a:spcPts val="300"/>
              </a:spcAft>
            </a:pPr>
            <a:r>
              <a:rPr sz="1050" b="0" i="0">
                <a:solidFill>
                  <a:srgbClr val="3A4356"/>
                </a:solidFill>
                <a:latin typeface="Calibri"/>
              </a:rPr>
              <a:t>New volume or rates, no re-reading.</a:t>
            </a:r>
          </a:p>
          <a:p>
            <a:pPr algn="l">
              <a:lnSpc>
                <a:spcPct val="112000"/>
              </a:lnSpc>
              <a:spcAft>
                <a:spcPts val="300"/>
              </a:spcAft>
            </a:pPr>
            <a:r>
              <a:rPr sz="1050" b="1" i="0">
                <a:solidFill>
                  <a:srgbClr val="1D6FB8"/>
                </a:solidFill>
                <a:latin typeface="Calibri"/>
              </a:rPr>
              <a:t>The saving repeats on every part</a:t>
            </a:r>
          </a:p>
          <a:p>
            <a:pPr algn="l">
              <a:lnSpc>
                <a:spcPct val="112000"/>
              </a:lnSpc>
              <a:spcAft>
                <a:spcPts val="300"/>
              </a:spcAft>
            </a:pPr>
            <a:r>
              <a:rPr sz="1050" b="0" i="0">
                <a:solidFill>
                  <a:srgbClr val="3A4356"/>
                </a:solidFill>
                <a:latin typeface="Calibri"/>
              </a:rPr>
              <a:t>It grows with how many we cost.</a:t>
            </a:r>
          </a:p>
          <a:p>
            <a:pPr algn="l">
              <a:lnSpc>
                <a:spcPct val="112000"/>
              </a:lnSpc>
              <a:spcAft>
                <a:spcPts val="300"/>
              </a:spcAft>
            </a:pPr>
            <a:r>
              <a:rPr sz="1050" b="1" i="0">
                <a:solidFill>
                  <a:srgbClr val="1D6FB8"/>
                </a:solidFill>
                <a:latin typeface="Calibri"/>
              </a:rPr>
              <a:t>What is left is the judgement</a:t>
            </a:r>
          </a:p>
          <a:p>
            <a:pPr algn="l">
              <a:lnSpc>
                <a:spcPct val="112000"/>
              </a:lnSpc>
              <a:spcAft>
                <a:spcPts val="300"/>
              </a:spcAft>
            </a:pPr>
            <a:r>
              <a:rPr sz="1050" b="0" i="0">
                <a:solidFill>
                  <a:srgbClr val="3A4356"/>
                </a:solidFill>
                <a:latin typeface="Calibri"/>
              </a:rPr>
              <a:t>Material, tolerance, finish, heat</a:t>
            </a:r>
          </a:p>
          <a:p>
            <a:pPr algn="l">
              <a:lnSpc>
                <a:spcPct val="112000"/>
              </a:lnSpc>
              <a:spcAft>
                <a:spcPts val="300"/>
              </a:spcAft>
            </a:pPr>
            <a:r>
              <a:rPr sz="1050" b="0" i="0">
                <a:solidFill>
                  <a:srgbClr val="3A4356"/>
                </a:solidFill>
                <a:latin typeface="Calibri"/>
              </a:rPr>
              <a:t>treatment — the calls only we can make.</a:t>
            </a: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a:p>
            <a:pPr algn="l">
              <a:lnSpc>
                <a:spcPct val="112000"/>
              </a:lnSpc>
              <a:spcAft>
                <a:spcPts val="300"/>
              </a:spcAft>
            </a:pPr>
          </a:p>
          <a:p>
            <a:pPr algn="l">
              <a:lnSpc>
                <a:spcPct val="112000"/>
              </a:lnSpc>
              <a:spcAft>
                <a:spcPts val="300"/>
              </a:spcAft>
            </a:pPr>
            <a:r>
              <a:rPr sz="1050" b="1" i="0">
                <a:solidFill>
                  <a:srgbClr val="1D6FB8"/>
                </a:solidFill>
                <a:latin typeface="Calibri"/>
              </a:rPr>
              <a:t>Slide 1 turns this into hours.</a:t>
            </a:r>
          </a:p>
        </p:txBody>
      </p:sp>
      <p:sp>
        <p:nvSpPr>
          <p:cNvPr id="13" name="Rounded Rectangle 12"/>
          <p:cNvSpPr/>
          <p:nvPr/>
        </p:nvSpPr>
        <p:spPr>
          <a:xfrm>
            <a:off x="4233672" y="1810512"/>
            <a:ext cx="754380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97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It runs on its own</a:t>
            </a:r>
          </a:p>
          <a:p>
            <a:pPr algn="l">
              <a:lnSpc>
                <a:spcPct val="112000"/>
              </a:lnSpc>
              <a:spcAft>
                <a:spcPts val="300"/>
              </a:spcAft>
            </a:pPr>
            <a:r>
              <a:rPr sz="1050" b="0" i="0">
                <a:solidFill>
                  <a:srgbClr val="3A4356"/>
                </a:solidFill>
                <a:latin typeface="Calibri"/>
              </a:rPr>
              <a:t>Parts go in, costed reports come out. A</a:t>
            </a:r>
          </a:p>
          <a:p>
            <a:pPr algn="l">
              <a:lnSpc>
                <a:spcPct val="112000"/>
              </a:lnSpc>
              <a:spcAft>
                <a:spcPts val="300"/>
              </a:spcAft>
            </a:pPr>
            <a:r>
              <a:rPr sz="1050" b="0" i="0">
                <a:solidFill>
                  <a:srgbClr val="3A4356"/>
                </a:solidFill>
                <a:latin typeface="Calibri"/>
              </a:rPr>
              <a:t>person answers only what the model cannot show.</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A photo of a circuit board gives us the parts</a:t>
            </a:r>
          </a:p>
          <a:p>
            <a:pPr algn="l">
              <a:lnSpc>
                <a:spcPct val="112000"/>
              </a:lnSpc>
              <a:spcAft>
                <a:spcPts val="300"/>
              </a:spcAft>
            </a:pPr>
            <a:r>
              <a:rPr sz="1050" b="0" i="0">
                <a:solidFill>
                  <a:srgbClr val="3A4356"/>
                </a:solidFill>
                <a:latin typeface="Calibri"/>
              </a:rPr>
              <a:t>list, the board spec and a price.</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43 modules, from powertrain and driver</a:t>
            </a:r>
          </a:p>
          <a:p>
            <a:pPr algn="l">
              <a:lnSpc>
                <a:spcPct val="112000"/>
              </a:lnSpc>
              <a:spcAft>
                <a:spcPts val="300"/>
              </a:spcAft>
            </a:pPr>
            <a:r>
              <a:rPr sz="1050" b="0" i="0">
                <a:solidFill>
                  <a:srgbClr val="3A4356"/>
                </a:solidFill>
                <a:latin typeface="Calibri"/>
              </a:rPr>
              <a:t>assistance through to cloud.</a:t>
            </a:r>
          </a:p>
        </p:txBody>
      </p:sp>
      <p:sp>
        <p:nvSpPr>
          <p:cNvPr id="17" name="TextBox 16"/>
          <p:cNvSpPr txBox="1"/>
          <p:nvPr/>
        </p:nvSpPr>
        <p:spPr>
          <a:xfrm>
            <a:off x="8087868"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The line items are pulled out, priced and put</a:t>
            </a:r>
          </a:p>
          <a:p>
            <a:pPr algn="l">
              <a:lnSpc>
                <a:spcPct val="112000"/>
              </a:lnSpc>
              <a:spcAft>
                <a:spcPts val="300"/>
              </a:spcAft>
            </a:pPr>
            <a:r>
              <a:rPr sz="1050" b="0" i="0">
                <a:solidFill>
                  <a:srgbClr val="3A4356"/>
                </a:solidFill>
                <a:latin typeface="Calibri"/>
              </a:rPr>
              <a:t>in order of money.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what</a:t>
            </a:r>
          </a:p>
          <a:p>
            <a:pPr algn="l">
              <a:lnSpc>
                <a:spcPct val="112000"/>
              </a:lnSpc>
              <a:spcAft>
                <a:spcPts val="300"/>
              </a:spcAft>
            </a:pPr>
            <a:r>
              <a:rPr sz="1050" b="0" i="0">
                <a:solidFill>
                  <a:srgbClr val="3A4356"/>
                </a:solidFill>
                <a:latin typeface="Calibri"/>
              </a:rPr>
              <a:t>each change would save.</a:t>
            </a:r>
          </a:p>
        </p:txBody>
      </p:sp>
      <p:sp>
        <p:nvSpPr>
          <p:cNvPr id="18" name="Rounded Rectangle 17"/>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163056"/>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1" name="TextBox 20"/>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Option 1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bulk run is built and runs unattended on our own</a:t>
            </a:r>
          </a:p>
          <a:p>
            <a:pPr algn="l">
              <a:lnSpc>
                <a:spcPct val="112000"/>
              </a:lnSpc>
              <a:spcAft>
                <a:spcPts val="300"/>
              </a:spcAft>
            </a:pPr>
            <a:r>
              <a:rPr sz="1050" b="0" i="0">
                <a:solidFill>
                  <a:srgbClr val="3A4356"/>
                </a:solidFill>
                <a:latin typeface="Calibri"/>
              </a:rPr>
              <a:t>parts. Start the AI approval so it is not what holds us up.</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 — for the</a:t>
            </a:r>
          </a:p>
          <a:p>
            <a:pPr algn="l">
              <a:lnSpc>
                <a:spcPct val="112000"/>
              </a:lnSpc>
              <a:spcAft>
                <a:spcPts val="300"/>
              </a:spcAft>
            </a:pPr>
            <a:r>
              <a:rPr sz="1050" b="0" i="0">
                <a:solidFill>
                  <a:srgbClr val="3A4356"/>
                </a:solidFill>
                <a:latin typeface="Calibri"/>
              </a:rPr>
              <a:t>three on the last slide that read something</a:t>
            </a:r>
          </a:p>
          <a:p>
            <a:pPr algn="l">
              <a:lnSpc>
                <a:spcPct val="112000"/>
              </a:lnSpc>
              <a:spcAft>
                <a:spcPts val="300"/>
              </a:spcAft>
            </a:pPr>
            <a:r>
              <a:rPr sz="1050" b="0" i="0">
                <a:solidFill>
                  <a:srgbClr val="3A4356"/>
                </a:solidFill>
                <a:latin typeface="Calibri"/>
              </a:rPr>
              <a:t>Our own rate book loaded. The rest is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and never yet run on a JLR laptop.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