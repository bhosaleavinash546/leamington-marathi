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Lst>
  <p:sldSz cx="1219169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start with what we do well, because this is not a criticism of it. The left-hand card is our should-cost as it runs today. The method is sound. It is bottom-up, it covers every commodity we buy, and it is the number we would defend to a supplier. Nothing I propose changes that. What I want to talk about is the effort behind it. A person picks the material, the process and the machine, part by part. Somebody opens the 3D model and the drawing, reads off the geometry and the tolerances, and types them in. When prices move, somebody updates the rates by hand. To give a sense of size: on CostVision's own input forms a part needs somewhere between about twelve and seventy values, depending on the commodity. I have not counted CAPEE's screens, so treat that as a guide. None of this is wrong. It is just slow, and it is why we cost the parts we have time for rather than all of them. Now the right-hand side, and why it is empty. I have not put a saving here. We have never timed this job, and the tool has never been compared with a price JLR actually paid. Any number I wrote in would be a guess. Four of these five numbers are ours, and we can get them quickly. Time a handful of parts and we have A and B. C and D are in our own records. E is what the trial measures. Put them in and the three boxes underneath work themselves out: hours spent typing, hours we would get back, and how many more parts that would cost. That makes it our business case, not mine. The green strip is the whole idea: same method, same answer we can defend, with the typing taken out.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smaller of the two, and it is narrow on purpose. CAPEE does not move. It still does the costing, on the same screens, with the same maths, and nobody learns a new tool. The only change is where the input comes from. The engineer attaches the 3D model from CAPEE. CostVision measures it, with no internet connection. That can be on a JLR server, or on a laptop using the Windows package, which needs no installer and no admin rights. Fixed rules turn the measurements into the values the form wants. The engineer confirms the few things a model cannot show, and CAPEE costs the part. The green card is what we get from the model: weight, size, surface area, walls, holes, pockets and so on. The amber card is the honest limit. A 3D file cannot tell steel from aluminium, and the weight differs by about three times. So the tool asks. Same for tolerance, finish and heat treatment. It asks rather than guesses. One more limit: an STL file has no feature table, so for a machined STL the engineer types the cycle time. The measuring and the rules exist today for thirteen commodities. What does not exist yet is the link into CAPEE. The point of the blue strip is simple. There is no AI here at all, so this does not wait for an AI decision. We could start it now.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what CostVision can do beyond Option one. The split is not between what works and what does not. It is between what needs AI and what does not. The top row needs no AI at all, and it runs in the build we have given JLR today. First, a whole basket. A list of parts and their 3D models goes in, and each one is costed on our rates. It is a command-line run today, not a screen. Where the geometry cannot decide something, like the material, it does not guess. It comes back with one question that covers every part it affects. Second, supplier quotes. Put their price next to our build-up and it shows, bucket by bucket, where the gap is and what to ask. Third, design changes. It flags what makes a part expensive and suggests changes with an estimated saving. Now the bottom row. These need the AI mode, and I want to be clear: AI is switched off in the JLR build. The code is there, so it could be turned on later with a setting, but these three screens are hidden until it is. They are a board photo read into a parts list, an RFQ pack read into lines, and an assistant that helps set up a part. With AI on, each user is also rate-limited. The blue strip is the rule I would want you to leave with. Even with AI on, it only reads and sorts. It never sets a price. The money is plain arithmetic on our rate book, so every number can be traced back to a rate.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we get from each option, written in kind rather than in pounds. The reason is the same as on slide one. We have never timed this job, and the tool has never been checked against a price JLR paid. A pound figure from me would be a guess. The left column is Option one, and it is all about typing. The typing goes: roughly twelve to seventy values a part now come from the model. Nothing typed means nothing mistyped. Everyone gets the same answer for the same part. A re-cost at a new volume or new rates is nearly free. The saving repeats on every part. What is left is the judgement: material, tolerance, finish, heat treatment. And there is no AI in it, so it can start now. The right column is wider because Option two does more. A basket can run on its own, and a person answers only what the model cannot show. It uses one method for metal, plastic, rubber, composites, electronics and assemblies: nineteen manufacturing processes in all, across twenty regions. It costs PCB fabrication, PCBA and harnesses from their inputs. Reading a board from a photo needs the AI mode, which is off at JLR. It also has a forty-nine-module software cost model. The second half is for purchasing. It shows where a supplier's price differs from our build-up, bucket by bucket, and what to ask. An RFQ pack can be read in, but again only with AI on. And design changes come with an estimated saving. The green strip is about order. Option one's benefits come first and we keep them. Option two depends on the accuracy figure that Option one produces.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this is the decision. I have split it into what I am asking for today and what I am not. On the left, Option one: approve the trial. One commodity, thirty to fifty parts we have already bought, run inside CAPEE. On the right, Option two: I am not asking you to decide it today. The bulk run is already built, and it needs no AI. What it needs is our own rates. JLR's rate card can be loaded through the Rate Converter workbook, which has no macros. The built-in rate library is dated sixteenth of June 2026, so our own card matters. The two cards underneath say what each option needs. Option one needs somewhere to run the measuring, a way to pass numbers into CAPEE, parts where we know the price we paid, and an engineer for the trial. Option two needs that plus our rates. AI approval is only needed if we later want the photo, RFQ and assistant features. The green strip is why the trial matters. It gives us two numbers nobody can state today: how close the tool gets to a price we paid, and how much of the input it fills itself. Then three plain points. AI is off at JLR, and even when on it never sets a price. Second, the exit. Here is what is proven: the engine matches a hand calculation to under 0.01 percent on a reference part, six real production parts are pinned in a regression test, and there are 2,438 automated tests. What is not proven is accuracy against a price JLR paid. If the trial says it is not close enough, we stop, having spent only our own time. Third, how long. Nobody has sized it. That waits on one answer from IT about how CAPEE is built.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4.png"/><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Rectangle 4"/>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WHERE WE ARE</a:t>
            </a:r>
          </a:p>
        </p:txBody>
      </p:sp>
      <p:sp>
        <p:nvSpPr>
          <p:cNvPr id="7" name="TextBox 6"/>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Our should-cost today: capable, but hands-on</a:t>
            </a:r>
          </a:p>
        </p:txBody>
      </p:sp>
      <p:sp>
        <p:nvSpPr>
          <p:cNvPr id="8" name="TextBox 7"/>
          <p:cNvSpPr txBox="1"/>
          <p:nvPr/>
        </p:nvSpPr>
        <p:spPr>
          <a:xfrm>
            <a:off x="411480" y="1517904"/>
            <a:ext cx="1133856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3A4356"/>
                </a:solidFill>
                <a:latin typeface="Calibri"/>
              </a:rPr>
              <a:t>We already cost parts properly. On the left is that job as it runs today. On the right is what it is worth, in our own numbers.</a:t>
            </a:r>
          </a:p>
        </p:txBody>
      </p:sp>
      <p:sp>
        <p:nvSpPr>
          <p:cNvPr id="9" name="Rounded Rectangle 8"/>
          <p:cNvSpPr/>
          <p:nvPr/>
        </p:nvSpPr>
        <p:spPr>
          <a:xfrm>
            <a:off x="411480" y="1792224"/>
            <a:ext cx="5577840" cy="411480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792224"/>
            <a:ext cx="68580" cy="4114800"/>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920240"/>
            <a:ext cx="5212080" cy="27432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OUR SHOULD-COST TODAY · capable, but hands-on</a:t>
            </a:r>
          </a:p>
        </p:txBody>
      </p:sp>
      <p:sp>
        <p:nvSpPr>
          <p:cNvPr id="12" name="TextBox 11"/>
          <p:cNvSpPr txBox="1"/>
          <p:nvPr/>
        </p:nvSpPr>
        <p:spPr>
          <a:xfrm>
            <a:off x="612648" y="2231136"/>
            <a:ext cx="5212080" cy="3566160"/>
          </a:xfrm>
          <a:prstGeom prst="rect">
            <a:avLst/>
          </a:prstGeom>
          <a:noFill/>
        </p:spPr>
        <p:txBody>
          <a:bodyPr wrap="square" anchor="t" lIns="0" rIns="0" tIns="0" bIns="0">
            <a:spAutoFit/>
          </a:bodyPr>
          <a:lstStyle/>
          <a:p>
            <a:pPr algn="l">
              <a:lnSpc>
                <a:spcPct val="112000"/>
              </a:lnSpc>
              <a:spcAft>
                <a:spcPts val="300"/>
              </a:spcAft>
            </a:pPr>
            <a:r>
              <a:rPr sz="1050" b="1" i="0">
                <a:solidFill>
                  <a:srgbClr val="2A7F50"/>
                </a:solidFill>
                <a:latin typeface="Calibri"/>
              </a:rPr>
              <a:t>Trusted and thorough</a:t>
            </a:r>
          </a:p>
          <a:p>
            <a:pPr algn="l">
              <a:lnSpc>
                <a:spcPct val="112000"/>
              </a:lnSpc>
              <a:spcAft>
                <a:spcPts val="300"/>
              </a:spcAft>
            </a:pPr>
            <a:r>
              <a:rPr sz="1050" b="0" i="0">
                <a:solidFill>
                  <a:srgbClr val="3A4356"/>
                </a:solidFill>
                <a:latin typeface="Calibri"/>
              </a:rPr>
              <a:t>A rigorous bottom-up method, across every commodity.</a:t>
            </a:r>
          </a:p>
          <a:p>
            <a:pPr algn="l">
              <a:lnSpc>
                <a:spcPct val="112000"/>
              </a:lnSpc>
              <a:spcAft>
                <a:spcPts val="300"/>
              </a:spcAft>
            </a:pPr>
          </a:p>
          <a:p>
            <a:pPr algn="l">
              <a:lnSpc>
                <a:spcPct val="112000"/>
              </a:lnSpc>
              <a:spcAft>
                <a:spcPts val="300"/>
              </a:spcAft>
            </a:pPr>
            <a:r>
              <a:rPr sz="1050" b="1" i="0">
                <a:solidFill>
                  <a:srgbClr val="16325C"/>
                </a:solidFill>
                <a:latin typeface="Calibri"/>
              </a:rPr>
              <a:t>Hands-on setup</a:t>
            </a:r>
          </a:p>
          <a:p>
            <a:pPr algn="l">
              <a:lnSpc>
                <a:spcPct val="112000"/>
              </a:lnSpc>
              <a:spcAft>
                <a:spcPts val="300"/>
              </a:spcAft>
            </a:pPr>
            <a:r>
              <a:rPr sz="1050" b="0" i="0">
                <a:solidFill>
                  <a:srgbClr val="3A4356"/>
                </a:solidFill>
                <a:latin typeface="Calibri"/>
              </a:rPr>
              <a:t>Material, process and machine chosen by a person,</a:t>
            </a:r>
          </a:p>
          <a:p>
            <a:pPr algn="l">
              <a:lnSpc>
                <a:spcPct val="112000"/>
              </a:lnSpc>
              <a:spcAft>
                <a:spcPts val="300"/>
              </a:spcAft>
            </a:pPr>
            <a:r>
              <a:rPr sz="1050" b="0" i="0">
                <a:solidFill>
                  <a:srgbClr val="3A4356"/>
                </a:solidFill>
                <a:latin typeface="Calibri"/>
              </a:rPr>
              <a:t>part by part.</a:t>
            </a:r>
          </a:p>
          <a:p>
            <a:pPr algn="l">
              <a:lnSpc>
                <a:spcPct val="112000"/>
              </a:lnSpc>
              <a:spcAft>
                <a:spcPts val="300"/>
              </a:spcAft>
            </a:pPr>
          </a:p>
          <a:p>
            <a:pPr algn="l">
              <a:lnSpc>
                <a:spcPct val="112000"/>
              </a:lnSpc>
              <a:spcAft>
                <a:spcPts val="300"/>
              </a:spcAft>
            </a:pPr>
            <a:r>
              <a:rPr sz="1050" b="1" i="0">
                <a:solidFill>
                  <a:srgbClr val="16325C"/>
                </a:solidFill>
                <a:latin typeface="Calibri"/>
              </a:rPr>
              <a:t>Manual data entry</a:t>
            </a:r>
          </a:p>
          <a:p>
            <a:pPr algn="l">
              <a:lnSpc>
                <a:spcPct val="112000"/>
              </a:lnSpc>
              <a:spcAft>
                <a:spcPts val="300"/>
              </a:spcAft>
            </a:pPr>
            <a:r>
              <a:rPr sz="1050" b="0" i="0">
                <a:solidFill>
                  <a:srgbClr val="3A4356"/>
                </a:solidFill>
                <a:latin typeface="Calibri"/>
              </a:rPr>
              <a:t>Geometry and tolerances read off the 3D model and the</a:t>
            </a:r>
          </a:p>
          <a:p>
            <a:pPr algn="l">
              <a:lnSpc>
                <a:spcPct val="112000"/>
              </a:lnSpc>
              <a:spcAft>
                <a:spcPts val="300"/>
              </a:spcAft>
            </a:pPr>
            <a:r>
              <a:rPr sz="1050" b="0" i="0">
                <a:solidFill>
                  <a:srgbClr val="3A4356"/>
                </a:solidFill>
                <a:latin typeface="Calibri"/>
              </a:rPr>
              <a:t>drawings, then typed in. About 12 to 70 values a part.</a:t>
            </a:r>
          </a:p>
          <a:p>
            <a:pPr algn="l">
              <a:lnSpc>
                <a:spcPct val="112000"/>
              </a:lnSpc>
              <a:spcAft>
                <a:spcPts val="300"/>
              </a:spcAft>
            </a:pPr>
          </a:p>
          <a:p>
            <a:pPr algn="l">
              <a:lnSpc>
                <a:spcPct val="112000"/>
              </a:lnSpc>
              <a:spcAft>
                <a:spcPts val="300"/>
              </a:spcAft>
            </a:pPr>
            <a:r>
              <a:rPr sz="1050" b="1" i="0">
                <a:solidFill>
                  <a:srgbClr val="16325C"/>
                </a:solidFill>
                <a:latin typeface="Calibri"/>
              </a:rPr>
              <a:t>Updated by hand</a:t>
            </a:r>
          </a:p>
          <a:p>
            <a:pPr algn="l">
              <a:lnSpc>
                <a:spcPct val="112000"/>
              </a:lnSpc>
              <a:spcAft>
                <a:spcPts val="300"/>
              </a:spcAft>
            </a:pPr>
            <a:r>
              <a:rPr sz="1050" b="0" i="0">
                <a:solidFill>
                  <a:srgbClr val="3A4356"/>
                </a:solidFill>
                <a:latin typeface="Calibri"/>
              </a:rPr>
              <a:t>Rates and inputs refreshed manually as economics move.</a:t>
            </a:r>
          </a:p>
        </p:txBody>
      </p:sp>
      <p:sp>
        <p:nvSpPr>
          <p:cNvPr id="13" name="TextBox 12"/>
          <p:cNvSpPr txBox="1"/>
          <p:nvPr/>
        </p:nvSpPr>
        <p:spPr>
          <a:xfrm>
            <a:off x="6199632" y="1810512"/>
            <a:ext cx="5577840" cy="274320"/>
          </a:xfrm>
          <a:prstGeom prst="rect">
            <a:avLst/>
          </a:prstGeom>
          <a:noFill/>
        </p:spPr>
        <p:txBody>
          <a:bodyPr wrap="square" anchor="t" lIns="0" rIns="0" tIns="0" bIns="0">
            <a:spAutoFit/>
          </a:bodyPr>
          <a:lstStyle/>
          <a:p>
            <a:pPr algn="l">
              <a:lnSpc>
                <a:spcPct val="100000"/>
              </a:lnSpc>
              <a:spcAft>
                <a:spcPts val="400"/>
              </a:spcAft>
            </a:pPr>
            <a:r>
              <a:rPr sz="1150" b="1" i="0">
                <a:solidFill>
                  <a:srgbClr val="686F7D"/>
                </a:solidFill>
                <a:latin typeface="Calibri"/>
              </a:rPr>
              <a:t>What it is worth: five numbers, four of them ours</a:t>
            </a:r>
          </a:p>
        </p:txBody>
      </p:sp>
      <p:sp>
        <p:nvSpPr>
          <p:cNvPr id="14" name="Rectangle 13"/>
          <p:cNvSpPr/>
          <p:nvPr/>
        </p:nvSpPr>
        <p:spPr>
          <a:xfrm>
            <a:off x="6199632" y="2066543"/>
            <a:ext cx="41148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81928" y="2148839"/>
            <a:ext cx="265176" cy="219456"/>
          </a:xfrm>
          <a:prstGeom prst="rect">
            <a:avLst/>
          </a:prstGeom>
          <a:noFill/>
        </p:spPr>
        <p:txBody>
          <a:bodyPr wrap="square" anchor="t" lIns="0" rIns="0" tIns="0" bIns="0">
            <a:spAutoFit/>
          </a:bodyPr>
          <a:lstStyle/>
          <a:p>
            <a:pPr algn="l">
              <a:lnSpc>
                <a:spcPct val="100000"/>
              </a:lnSpc>
              <a:spcAft>
                <a:spcPts val="400"/>
              </a:spcAft>
            </a:pPr>
          </a:p>
        </p:txBody>
      </p:sp>
      <p:sp>
        <p:nvSpPr>
          <p:cNvPr id="16" name="Rectangle 15"/>
          <p:cNvSpPr/>
          <p:nvPr/>
        </p:nvSpPr>
        <p:spPr>
          <a:xfrm>
            <a:off x="6611112" y="2066543"/>
            <a:ext cx="361188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93408" y="2148839"/>
            <a:ext cx="346557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What it is</a:t>
            </a:r>
          </a:p>
        </p:txBody>
      </p:sp>
      <p:sp>
        <p:nvSpPr>
          <p:cNvPr id="18" name="Rectangle 17"/>
          <p:cNvSpPr/>
          <p:nvPr/>
        </p:nvSpPr>
        <p:spPr>
          <a:xfrm>
            <a:off x="10222992" y="2066543"/>
            <a:ext cx="1554480" cy="329184"/>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05288" y="2148839"/>
            <a:ext cx="1408176" cy="219456"/>
          </a:xfrm>
          <a:prstGeom prst="rect">
            <a:avLst/>
          </a:prstGeom>
          <a:noFill/>
        </p:spPr>
        <p:txBody>
          <a:bodyPr wrap="square" anchor="t" lIns="0" rIns="0" tIns="0" bIns="0">
            <a:spAutoFit/>
          </a:bodyPr>
          <a:lstStyle/>
          <a:p>
            <a:pPr algn="l">
              <a:lnSpc>
                <a:spcPct val="100000"/>
              </a:lnSpc>
              <a:spcAft>
                <a:spcPts val="400"/>
              </a:spcAft>
            </a:pPr>
            <a:r>
              <a:rPr sz="950" b="1" i="0">
                <a:solidFill>
                  <a:srgbClr val="FFFFFF"/>
                </a:solidFill>
                <a:latin typeface="Calibri"/>
              </a:rPr>
              <a:t>Our number</a:t>
            </a:r>
          </a:p>
        </p:txBody>
      </p:sp>
      <p:sp>
        <p:nvSpPr>
          <p:cNvPr id="20" name="Rectangle 19"/>
          <p:cNvSpPr/>
          <p:nvPr/>
        </p:nvSpPr>
        <p:spPr>
          <a:xfrm>
            <a:off x="6199632" y="2395727"/>
            <a:ext cx="411480" cy="31089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81928" y="2459735"/>
            <a:ext cx="265176" cy="219456"/>
          </a:xfrm>
          <a:prstGeom prst="rect">
            <a:avLst/>
          </a:prstGeom>
          <a:noFill/>
        </p:spPr>
        <p:txBody>
          <a:bodyPr wrap="square" anchor="t" lIns="0" rIns="0" tIns="0" bIns="0">
            <a:spAutoFit/>
          </a:bodyPr>
          <a:lstStyle/>
          <a:p>
            <a:pPr algn="l">
              <a:lnSpc>
                <a:spcPct val="100000"/>
              </a:lnSpc>
              <a:spcAft>
                <a:spcPts val="400"/>
              </a:spcAft>
            </a:pPr>
            <a:r>
              <a:rPr sz="980" b="1" i="0">
                <a:solidFill>
                  <a:srgbClr val="16325C"/>
                </a:solidFill>
                <a:latin typeface="Calibri"/>
              </a:rPr>
              <a:t>A</a:t>
            </a:r>
          </a:p>
        </p:txBody>
      </p:sp>
      <p:sp>
        <p:nvSpPr>
          <p:cNvPr id="22" name="Rectangle 21"/>
          <p:cNvSpPr/>
          <p:nvPr/>
        </p:nvSpPr>
        <p:spPr>
          <a:xfrm>
            <a:off x="6611112" y="2395727"/>
            <a:ext cx="3611880" cy="31089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8" y="2459735"/>
            <a:ext cx="3465576" cy="219456"/>
          </a:xfrm>
          <a:prstGeom prst="rect">
            <a:avLst/>
          </a:prstGeom>
          <a:noFill/>
        </p:spPr>
        <p:txBody>
          <a:bodyPr wrap="square" anchor="t" lIns="0" rIns="0" tIns="0" bIns="0">
            <a:spAutoFit/>
          </a:bodyPr>
          <a:lstStyle/>
          <a:p>
            <a:pPr algn="l">
              <a:lnSpc>
                <a:spcPct val="100000"/>
              </a:lnSpc>
              <a:spcAft>
                <a:spcPts val="400"/>
              </a:spcAft>
            </a:pPr>
            <a:r>
              <a:rPr sz="980" b="0" i="0">
                <a:solidFill>
                  <a:srgbClr val="3A4356"/>
                </a:solidFill>
                <a:latin typeface="Calibri"/>
              </a:rPr>
              <a:t>Minutes to cost one part today</a:t>
            </a:r>
          </a:p>
        </p:txBody>
      </p:sp>
      <p:sp>
        <p:nvSpPr>
          <p:cNvPr id="24" name="Rectangle 23"/>
          <p:cNvSpPr/>
          <p:nvPr/>
        </p:nvSpPr>
        <p:spPr>
          <a:xfrm>
            <a:off x="10222992" y="2395727"/>
            <a:ext cx="1554480" cy="31089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05288" y="2459735"/>
            <a:ext cx="1408176" cy="219456"/>
          </a:xfrm>
          <a:prstGeom prst="rect">
            <a:avLst/>
          </a:prstGeom>
          <a:noFill/>
        </p:spPr>
        <p:txBody>
          <a:bodyPr wrap="square" anchor="t" lIns="0" rIns="0" tIns="0" bIns="0">
            <a:spAutoFit/>
          </a:bodyPr>
          <a:lstStyle/>
          <a:p>
            <a:pPr algn="l">
              <a:lnSpc>
                <a:spcPct val="100000"/>
              </a:lnSpc>
              <a:spcAft>
                <a:spcPts val="400"/>
              </a:spcAft>
            </a:pPr>
            <a:r>
              <a:rPr sz="980" b="1" i="0">
                <a:solidFill>
                  <a:srgbClr val="1D6FB8"/>
                </a:solidFill>
                <a:latin typeface="Calibri"/>
              </a:rPr>
              <a:t>________</a:t>
            </a:r>
          </a:p>
        </p:txBody>
      </p:sp>
      <p:sp>
        <p:nvSpPr>
          <p:cNvPr id="26" name="Rectangle 25"/>
          <p:cNvSpPr/>
          <p:nvPr/>
        </p:nvSpPr>
        <p:spPr>
          <a:xfrm>
            <a:off x="6199632" y="2706623"/>
            <a:ext cx="411480" cy="31089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81928" y="2770631"/>
            <a:ext cx="265176" cy="219456"/>
          </a:xfrm>
          <a:prstGeom prst="rect">
            <a:avLst/>
          </a:prstGeom>
          <a:noFill/>
        </p:spPr>
        <p:txBody>
          <a:bodyPr wrap="square" anchor="t" lIns="0" rIns="0" tIns="0" bIns="0">
            <a:spAutoFit/>
          </a:bodyPr>
          <a:lstStyle/>
          <a:p>
            <a:pPr algn="l">
              <a:lnSpc>
                <a:spcPct val="100000"/>
              </a:lnSpc>
              <a:spcAft>
                <a:spcPts val="400"/>
              </a:spcAft>
            </a:pPr>
            <a:r>
              <a:rPr sz="980" b="1" i="0">
                <a:solidFill>
                  <a:srgbClr val="16325C"/>
                </a:solidFill>
                <a:latin typeface="Calibri"/>
              </a:rPr>
              <a:t>B</a:t>
            </a:r>
          </a:p>
        </p:txBody>
      </p:sp>
      <p:sp>
        <p:nvSpPr>
          <p:cNvPr id="28" name="Rectangle 27"/>
          <p:cNvSpPr/>
          <p:nvPr/>
        </p:nvSpPr>
        <p:spPr>
          <a:xfrm>
            <a:off x="6611112" y="2706623"/>
            <a:ext cx="3611880" cy="31089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93408" y="2770631"/>
            <a:ext cx="3465576" cy="219456"/>
          </a:xfrm>
          <a:prstGeom prst="rect">
            <a:avLst/>
          </a:prstGeom>
          <a:noFill/>
        </p:spPr>
        <p:txBody>
          <a:bodyPr wrap="square" anchor="t" lIns="0" rIns="0" tIns="0" bIns="0">
            <a:spAutoFit/>
          </a:bodyPr>
          <a:lstStyle/>
          <a:p>
            <a:pPr algn="l">
              <a:lnSpc>
                <a:spcPct val="100000"/>
              </a:lnSpc>
              <a:spcAft>
                <a:spcPts val="400"/>
              </a:spcAft>
            </a:pPr>
            <a:r>
              <a:rPr sz="980" b="0" i="0">
                <a:solidFill>
                  <a:srgbClr val="3A4356"/>
                </a:solidFill>
                <a:latin typeface="Calibri"/>
              </a:rPr>
              <a:t>Of those, minutes reading the model and typing</a:t>
            </a:r>
          </a:p>
        </p:txBody>
      </p:sp>
      <p:sp>
        <p:nvSpPr>
          <p:cNvPr id="30" name="Rectangle 29"/>
          <p:cNvSpPr/>
          <p:nvPr/>
        </p:nvSpPr>
        <p:spPr>
          <a:xfrm>
            <a:off x="10222992" y="2706623"/>
            <a:ext cx="1554480" cy="31089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05288" y="2770631"/>
            <a:ext cx="1408176" cy="219456"/>
          </a:xfrm>
          <a:prstGeom prst="rect">
            <a:avLst/>
          </a:prstGeom>
          <a:noFill/>
        </p:spPr>
        <p:txBody>
          <a:bodyPr wrap="square" anchor="t" lIns="0" rIns="0" tIns="0" bIns="0">
            <a:spAutoFit/>
          </a:bodyPr>
          <a:lstStyle/>
          <a:p>
            <a:pPr algn="l">
              <a:lnSpc>
                <a:spcPct val="100000"/>
              </a:lnSpc>
              <a:spcAft>
                <a:spcPts val="400"/>
              </a:spcAft>
            </a:pPr>
            <a:r>
              <a:rPr sz="980" b="1" i="0">
                <a:solidFill>
                  <a:srgbClr val="1D6FB8"/>
                </a:solidFill>
                <a:latin typeface="Calibri"/>
              </a:rPr>
              <a:t>________</a:t>
            </a:r>
          </a:p>
        </p:txBody>
      </p:sp>
      <p:sp>
        <p:nvSpPr>
          <p:cNvPr id="32" name="Rectangle 31"/>
          <p:cNvSpPr/>
          <p:nvPr/>
        </p:nvSpPr>
        <p:spPr>
          <a:xfrm>
            <a:off x="6199632" y="3017519"/>
            <a:ext cx="411480" cy="31089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81928" y="3081527"/>
            <a:ext cx="265176" cy="219456"/>
          </a:xfrm>
          <a:prstGeom prst="rect">
            <a:avLst/>
          </a:prstGeom>
          <a:noFill/>
        </p:spPr>
        <p:txBody>
          <a:bodyPr wrap="square" anchor="t" lIns="0" rIns="0" tIns="0" bIns="0">
            <a:spAutoFit/>
          </a:bodyPr>
          <a:lstStyle/>
          <a:p>
            <a:pPr algn="l">
              <a:lnSpc>
                <a:spcPct val="100000"/>
              </a:lnSpc>
              <a:spcAft>
                <a:spcPts val="400"/>
              </a:spcAft>
            </a:pPr>
            <a:r>
              <a:rPr sz="980" b="1" i="0">
                <a:solidFill>
                  <a:srgbClr val="16325C"/>
                </a:solidFill>
                <a:latin typeface="Calibri"/>
              </a:rPr>
              <a:t>C</a:t>
            </a:r>
          </a:p>
        </p:txBody>
      </p:sp>
      <p:sp>
        <p:nvSpPr>
          <p:cNvPr id="34" name="Rectangle 33"/>
          <p:cNvSpPr/>
          <p:nvPr/>
        </p:nvSpPr>
        <p:spPr>
          <a:xfrm>
            <a:off x="6611112" y="3017519"/>
            <a:ext cx="3611880" cy="31089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93408" y="3081527"/>
            <a:ext cx="3465576" cy="219456"/>
          </a:xfrm>
          <a:prstGeom prst="rect">
            <a:avLst/>
          </a:prstGeom>
          <a:noFill/>
        </p:spPr>
        <p:txBody>
          <a:bodyPr wrap="square" anchor="t" lIns="0" rIns="0" tIns="0" bIns="0">
            <a:spAutoFit/>
          </a:bodyPr>
          <a:lstStyle/>
          <a:p>
            <a:pPr algn="l">
              <a:lnSpc>
                <a:spcPct val="100000"/>
              </a:lnSpc>
              <a:spcAft>
                <a:spcPts val="400"/>
              </a:spcAft>
            </a:pPr>
            <a:r>
              <a:rPr sz="980" b="0" i="0">
                <a:solidFill>
                  <a:srgbClr val="3A4356"/>
                </a:solidFill>
                <a:latin typeface="Calibri"/>
              </a:rPr>
              <a:t>Parts we cost in a year</a:t>
            </a:r>
          </a:p>
        </p:txBody>
      </p:sp>
      <p:sp>
        <p:nvSpPr>
          <p:cNvPr id="36" name="Rectangle 35"/>
          <p:cNvSpPr/>
          <p:nvPr/>
        </p:nvSpPr>
        <p:spPr>
          <a:xfrm>
            <a:off x="10222992" y="3017519"/>
            <a:ext cx="1554480" cy="31089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05288" y="3081527"/>
            <a:ext cx="1408176" cy="219456"/>
          </a:xfrm>
          <a:prstGeom prst="rect">
            <a:avLst/>
          </a:prstGeom>
          <a:noFill/>
        </p:spPr>
        <p:txBody>
          <a:bodyPr wrap="square" anchor="t" lIns="0" rIns="0" tIns="0" bIns="0">
            <a:spAutoFit/>
          </a:bodyPr>
          <a:lstStyle/>
          <a:p>
            <a:pPr algn="l">
              <a:lnSpc>
                <a:spcPct val="100000"/>
              </a:lnSpc>
              <a:spcAft>
                <a:spcPts val="400"/>
              </a:spcAft>
            </a:pPr>
            <a:r>
              <a:rPr sz="980" b="1" i="0">
                <a:solidFill>
                  <a:srgbClr val="1D6FB8"/>
                </a:solidFill>
                <a:latin typeface="Calibri"/>
              </a:rPr>
              <a:t>________</a:t>
            </a:r>
          </a:p>
        </p:txBody>
      </p:sp>
      <p:sp>
        <p:nvSpPr>
          <p:cNvPr id="38" name="Rectangle 37"/>
          <p:cNvSpPr/>
          <p:nvPr/>
        </p:nvSpPr>
        <p:spPr>
          <a:xfrm>
            <a:off x="6199632" y="3328415"/>
            <a:ext cx="411480" cy="31089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81928" y="3392423"/>
            <a:ext cx="265176" cy="219456"/>
          </a:xfrm>
          <a:prstGeom prst="rect">
            <a:avLst/>
          </a:prstGeom>
          <a:noFill/>
        </p:spPr>
        <p:txBody>
          <a:bodyPr wrap="square" anchor="t" lIns="0" rIns="0" tIns="0" bIns="0">
            <a:spAutoFit/>
          </a:bodyPr>
          <a:lstStyle/>
          <a:p>
            <a:pPr algn="l">
              <a:lnSpc>
                <a:spcPct val="100000"/>
              </a:lnSpc>
              <a:spcAft>
                <a:spcPts val="400"/>
              </a:spcAft>
            </a:pPr>
            <a:r>
              <a:rPr sz="980" b="1" i="0">
                <a:solidFill>
                  <a:srgbClr val="16325C"/>
                </a:solidFill>
                <a:latin typeface="Calibri"/>
              </a:rPr>
              <a:t>D</a:t>
            </a:r>
          </a:p>
        </p:txBody>
      </p:sp>
      <p:sp>
        <p:nvSpPr>
          <p:cNvPr id="40" name="Rectangle 39"/>
          <p:cNvSpPr/>
          <p:nvPr/>
        </p:nvSpPr>
        <p:spPr>
          <a:xfrm>
            <a:off x="6611112" y="3328415"/>
            <a:ext cx="3611880" cy="31089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93408" y="3392423"/>
            <a:ext cx="3465576" cy="219456"/>
          </a:xfrm>
          <a:prstGeom prst="rect">
            <a:avLst/>
          </a:prstGeom>
          <a:noFill/>
        </p:spPr>
        <p:txBody>
          <a:bodyPr wrap="square" anchor="t" lIns="0" rIns="0" tIns="0" bIns="0">
            <a:spAutoFit/>
          </a:bodyPr>
          <a:lstStyle/>
          <a:p>
            <a:pPr algn="l">
              <a:lnSpc>
                <a:spcPct val="100000"/>
              </a:lnSpc>
              <a:spcAft>
                <a:spcPts val="400"/>
              </a:spcAft>
            </a:pPr>
            <a:r>
              <a:rPr sz="980" b="0" i="0">
                <a:solidFill>
                  <a:srgbClr val="3A4356"/>
                </a:solidFill>
                <a:latin typeface="Calibri"/>
              </a:rPr>
              <a:t>Parts in a basket we never cost individually</a:t>
            </a:r>
          </a:p>
        </p:txBody>
      </p:sp>
      <p:sp>
        <p:nvSpPr>
          <p:cNvPr id="42" name="Rectangle 41"/>
          <p:cNvSpPr/>
          <p:nvPr/>
        </p:nvSpPr>
        <p:spPr>
          <a:xfrm>
            <a:off x="10222992" y="3328415"/>
            <a:ext cx="1554480" cy="310896"/>
          </a:xfrm>
          <a:prstGeom prst="rect">
            <a:avLst/>
          </a:prstGeom>
          <a:solidFill>
            <a:srgbClr val="F4F7FB"/>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305288" y="3392423"/>
            <a:ext cx="1408176" cy="219456"/>
          </a:xfrm>
          <a:prstGeom prst="rect">
            <a:avLst/>
          </a:prstGeom>
          <a:noFill/>
        </p:spPr>
        <p:txBody>
          <a:bodyPr wrap="square" anchor="t" lIns="0" rIns="0" tIns="0" bIns="0">
            <a:spAutoFit/>
          </a:bodyPr>
          <a:lstStyle/>
          <a:p>
            <a:pPr algn="l">
              <a:lnSpc>
                <a:spcPct val="100000"/>
              </a:lnSpc>
              <a:spcAft>
                <a:spcPts val="400"/>
              </a:spcAft>
            </a:pPr>
            <a:r>
              <a:rPr sz="980" b="1" i="0">
                <a:solidFill>
                  <a:srgbClr val="1D6FB8"/>
                </a:solidFill>
                <a:latin typeface="Calibri"/>
              </a:rPr>
              <a:t>________</a:t>
            </a:r>
          </a:p>
        </p:txBody>
      </p:sp>
      <p:sp>
        <p:nvSpPr>
          <p:cNvPr id="44" name="Rectangle 43"/>
          <p:cNvSpPr/>
          <p:nvPr/>
        </p:nvSpPr>
        <p:spPr>
          <a:xfrm>
            <a:off x="6199632" y="3639311"/>
            <a:ext cx="411480" cy="31089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81928" y="3703319"/>
            <a:ext cx="265176" cy="219456"/>
          </a:xfrm>
          <a:prstGeom prst="rect">
            <a:avLst/>
          </a:prstGeom>
          <a:noFill/>
        </p:spPr>
        <p:txBody>
          <a:bodyPr wrap="square" anchor="t" lIns="0" rIns="0" tIns="0" bIns="0">
            <a:spAutoFit/>
          </a:bodyPr>
          <a:lstStyle/>
          <a:p>
            <a:pPr algn="l">
              <a:lnSpc>
                <a:spcPct val="100000"/>
              </a:lnSpc>
              <a:spcAft>
                <a:spcPts val="400"/>
              </a:spcAft>
            </a:pPr>
            <a:r>
              <a:rPr sz="980" b="1" i="0">
                <a:solidFill>
                  <a:srgbClr val="16325C"/>
                </a:solidFill>
                <a:latin typeface="Calibri"/>
              </a:rPr>
              <a:t>E</a:t>
            </a:r>
          </a:p>
        </p:txBody>
      </p:sp>
      <p:sp>
        <p:nvSpPr>
          <p:cNvPr id="46" name="Rectangle 45"/>
          <p:cNvSpPr/>
          <p:nvPr/>
        </p:nvSpPr>
        <p:spPr>
          <a:xfrm>
            <a:off x="6611112" y="3639311"/>
            <a:ext cx="3611880" cy="31089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93408" y="3703319"/>
            <a:ext cx="3465576" cy="219456"/>
          </a:xfrm>
          <a:prstGeom prst="rect">
            <a:avLst/>
          </a:prstGeom>
          <a:noFill/>
        </p:spPr>
        <p:txBody>
          <a:bodyPr wrap="square" anchor="t" lIns="0" rIns="0" tIns="0" bIns="0">
            <a:spAutoFit/>
          </a:bodyPr>
          <a:lstStyle/>
          <a:p>
            <a:pPr algn="l">
              <a:lnSpc>
                <a:spcPct val="100000"/>
              </a:lnSpc>
              <a:spcAft>
                <a:spcPts val="400"/>
              </a:spcAft>
            </a:pPr>
            <a:r>
              <a:rPr sz="980" b="0" i="0">
                <a:solidFill>
                  <a:srgbClr val="3A4356"/>
                </a:solidFill>
                <a:latin typeface="Calibri"/>
              </a:rPr>
              <a:t>Share of those values the software fills itself</a:t>
            </a:r>
          </a:p>
        </p:txBody>
      </p:sp>
      <p:sp>
        <p:nvSpPr>
          <p:cNvPr id="48" name="Rectangle 47"/>
          <p:cNvSpPr/>
          <p:nvPr/>
        </p:nvSpPr>
        <p:spPr>
          <a:xfrm>
            <a:off x="10222992" y="3639311"/>
            <a:ext cx="1554480" cy="310896"/>
          </a:xfrm>
          <a:prstGeom prst="rect">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305288" y="3703319"/>
            <a:ext cx="1408176" cy="219456"/>
          </a:xfrm>
          <a:prstGeom prst="rect">
            <a:avLst/>
          </a:prstGeom>
          <a:noFill/>
        </p:spPr>
        <p:txBody>
          <a:bodyPr wrap="square" anchor="t" lIns="0" rIns="0" tIns="0" bIns="0">
            <a:spAutoFit/>
          </a:bodyPr>
          <a:lstStyle/>
          <a:p>
            <a:pPr algn="l">
              <a:lnSpc>
                <a:spcPct val="100000"/>
              </a:lnSpc>
              <a:spcAft>
                <a:spcPts val="400"/>
              </a:spcAft>
            </a:pPr>
            <a:r>
              <a:rPr sz="980" b="1" i="0">
                <a:solidFill>
                  <a:srgbClr val="2A7F50"/>
                </a:solidFill>
                <a:latin typeface="Calibri"/>
              </a:rPr>
              <a:t>________</a:t>
            </a:r>
          </a:p>
        </p:txBody>
      </p:sp>
      <p:sp>
        <p:nvSpPr>
          <p:cNvPr id="50" name="Rounded Rectangle 49"/>
          <p:cNvSpPr/>
          <p:nvPr/>
        </p:nvSpPr>
        <p:spPr>
          <a:xfrm>
            <a:off x="6199632" y="4059936"/>
            <a:ext cx="5577840" cy="475488"/>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199632" y="4059936"/>
            <a:ext cx="68580" cy="475488"/>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19088" y="4169664"/>
            <a:ext cx="3200400" cy="256032"/>
          </a:xfrm>
          <a:prstGeom prst="rect">
            <a:avLst/>
          </a:prstGeom>
          <a:noFill/>
        </p:spPr>
        <p:txBody>
          <a:bodyPr wrap="square" anchor="t" lIns="0" rIns="0" tIns="0" bIns="0">
            <a:spAutoFit/>
          </a:bodyPr>
          <a:lstStyle/>
          <a:p>
            <a:pPr algn="l">
              <a:lnSpc>
                <a:spcPct val="100000"/>
              </a:lnSpc>
              <a:spcAft>
                <a:spcPts val="400"/>
              </a:spcAft>
            </a:pPr>
            <a:r>
              <a:rPr sz="1050" b="1" i="0">
                <a:solidFill>
                  <a:srgbClr val="16325C"/>
                </a:solidFill>
                <a:latin typeface="Calibri"/>
              </a:rPr>
              <a:t>Hours spent typing today</a:t>
            </a:r>
          </a:p>
        </p:txBody>
      </p:sp>
      <p:sp>
        <p:nvSpPr>
          <p:cNvPr id="53" name="TextBox 52"/>
          <p:cNvSpPr txBox="1"/>
          <p:nvPr/>
        </p:nvSpPr>
        <p:spPr>
          <a:xfrm>
            <a:off x="9646920" y="4151376"/>
            <a:ext cx="2011680" cy="274320"/>
          </a:xfrm>
          <a:prstGeom prst="rect">
            <a:avLst/>
          </a:prstGeom>
          <a:noFill/>
        </p:spPr>
        <p:txBody>
          <a:bodyPr wrap="square" anchor="t" lIns="0" rIns="0" tIns="0" bIns="0">
            <a:spAutoFit/>
          </a:bodyPr>
          <a:lstStyle/>
          <a:p>
            <a:pPr algn="r">
              <a:lnSpc>
                <a:spcPct val="100000"/>
              </a:lnSpc>
              <a:spcAft>
                <a:spcPts val="400"/>
              </a:spcAft>
            </a:pPr>
            <a:r>
              <a:rPr sz="1250" b="1" i="0">
                <a:solidFill>
                  <a:srgbClr val="B03A2E"/>
                </a:solidFill>
                <a:latin typeface="Calibri"/>
              </a:rPr>
              <a:t>B × C ÷ 60</a:t>
            </a:r>
          </a:p>
        </p:txBody>
      </p:sp>
      <p:sp>
        <p:nvSpPr>
          <p:cNvPr id="54" name="Rounded Rectangle 53"/>
          <p:cNvSpPr/>
          <p:nvPr/>
        </p:nvSpPr>
        <p:spPr>
          <a:xfrm>
            <a:off x="6199632" y="4572000"/>
            <a:ext cx="5577840" cy="475488"/>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199632" y="4572000"/>
            <a:ext cx="68580" cy="475488"/>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419088" y="4681728"/>
            <a:ext cx="3200400" cy="256032"/>
          </a:xfrm>
          <a:prstGeom prst="rect">
            <a:avLst/>
          </a:prstGeom>
          <a:noFill/>
        </p:spPr>
        <p:txBody>
          <a:bodyPr wrap="square" anchor="t" lIns="0" rIns="0" tIns="0" bIns="0">
            <a:spAutoFit/>
          </a:bodyPr>
          <a:lstStyle/>
          <a:p>
            <a:pPr algn="l">
              <a:lnSpc>
                <a:spcPct val="100000"/>
              </a:lnSpc>
              <a:spcAft>
                <a:spcPts val="400"/>
              </a:spcAft>
            </a:pPr>
            <a:r>
              <a:rPr sz="1050" b="1" i="0">
                <a:solidFill>
                  <a:srgbClr val="16325C"/>
                </a:solidFill>
                <a:latin typeface="Calibri"/>
              </a:rPr>
              <a:t>Hours freed a year</a:t>
            </a:r>
          </a:p>
        </p:txBody>
      </p:sp>
      <p:sp>
        <p:nvSpPr>
          <p:cNvPr id="57" name="TextBox 56"/>
          <p:cNvSpPr txBox="1"/>
          <p:nvPr/>
        </p:nvSpPr>
        <p:spPr>
          <a:xfrm>
            <a:off x="9646920" y="4663440"/>
            <a:ext cx="2011680" cy="274320"/>
          </a:xfrm>
          <a:prstGeom prst="rect">
            <a:avLst/>
          </a:prstGeom>
          <a:noFill/>
        </p:spPr>
        <p:txBody>
          <a:bodyPr wrap="square" anchor="t" lIns="0" rIns="0" tIns="0" bIns="0">
            <a:spAutoFit/>
          </a:bodyPr>
          <a:lstStyle/>
          <a:p>
            <a:pPr algn="r">
              <a:lnSpc>
                <a:spcPct val="100000"/>
              </a:lnSpc>
              <a:spcAft>
                <a:spcPts val="400"/>
              </a:spcAft>
            </a:pPr>
            <a:r>
              <a:rPr sz="1250" b="1" i="0">
                <a:solidFill>
                  <a:srgbClr val="2A7F50"/>
                </a:solidFill>
                <a:latin typeface="Calibri"/>
              </a:rPr>
              <a:t>B × E × C ÷ 60</a:t>
            </a:r>
          </a:p>
        </p:txBody>
      </p:sp>
      <p:sp>
        <p:nvSpPr>
          <p:cNvPr id="58" name="Rounded Rectangle 57"/>
          <p:cNvSpPr/>
          <p:nvPr/>
        </p:nvSpPr>
        <p:spPr>
          <a:xfrm>
            <a:off x="6199632" y="5084064"/>
            <a:ext cx="5577840" cy="475488"/>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199632" y="5084064"/>
            <a:ext cx="68580" cy="475488"/>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19088" y="5193792"/>
            <a:ext cx="3200400" cy="256032"/>
          </a:xfrm>
          <a:prstGeom prst="rect">
            <a:avLst/>
          </a:prstGeom>
          <a:noFill/>
        </p:spPr>
        <p:txBody>
          <a:bodyPr wrap="square" anchor="t" lIns="0" rIns="0" tIns="0" bIns="0">
            <a:spAutoFit/>
          </a:bodyPr>
          <a:lstStyle/>
          <a:p>
            <a:pPr algn="l">
              <a:lnSpc>
                <a:spcPct val="100000"/>
              </a:lnSpc>
              <a:spcAft>
                <a:spcPts val="400"/>
              </a:spcAft>
            </a:pPr>
            <a:r>
              <a:rPr sz="1050" b="1" i="0">
                <a:solidFill>
                  <a:srgbClr val="16325C"/>
                </a:solidFill>
                <a:latin typeface="Calibri"/>
              </a:rPr>
              <a:t>Extra parts that time would cost</a:t>
            </a:r>
          </a:p>
        </p:txBody>
      </p:sp>
      <p:sp>
        <p:nvSpPr>
          <p:cNvPr id="61" name="TextBox 60"/>
          <p:cNvSpPr txBox="1"/>
          <p:nvPr/>
        </p:nvSpPr>
        <p:spPr>
          <a:xfrm>
            <a:off x="9646920" y="5175504"/>
            <a:ext cx="2011680" cy="274320"/>
          </a:xfrm>
          <a:prstGeom prst="rect">
            <a:avLst/>
          </a:prstGeom>
          <a:noFill/>
        </p:spPr>
        <p:txBody>
          <a:bodyPr wrap="square" anchor="t" lIns="0" rIns="0" tIns="0" bIns="0">
            <a:spAutoFit/>
          </a:bodyPr>
          <a:lstStyle/>
          <a:p>
            <a:pPr algn="r">
              <a:lnSpc>
                <a:spcPct val="100000"/>
              </a:lnSpc>
              <a:spcAft>
                <a:spcPts val="400"/>
              </a:spcAft>
            </a:pPr>
            <a:r>
              <a:rPr sz="1250" b="1" i="0">
                <a:solidFill>
                  <a:srgbClr val="1D6FB8"/>
                </a:solidFill>
                <a:latin typeface="Calibri"/>
              </a:rPr>
              <a:t>B × E × C ÷ A</a:t>
            </a:r>
          </a:p>
        </p:txBody>
      </p:sp>
      <p:sp>
        <p:nvSpPr>
          <p:cNvPr id="62" name="TextBox 61"/>
          <p:cNvSpPr txBox="1"/>
          <p:nvPr/>
        </p:nvSpPr>
        <p:spPr>
          <a:xfrm>
            <a:off x="6199632" y="5596128"/>
            <a:ext cx="5577840" cy="274320"/>
          </a:xfrm>
          <a:prstGeom prst="rect">
            <a:avLst/>
          </a:prstGeom>
          <a:noFill/>
        </p:spPr>
        <p:txBody>
          <a:bodyPr wrap="square" anchor="t" lIns="0" rIns="0" tIns="0" bIns="0">
            <a:spAutoFit/>
          </a:bodyPr>
          <a:lstStyle/>
          <a:p>
            <a:pPr algn="l">
              <a:lnSpc>
                <a:spcPct val="110000"/>
              </a:lnSpc>
              <a:spcAft>
                <a:spcPts val="400"/>
              </a:spcAft>
            </a:pPr>
            <a:r>
              <a:rPr sz="850" b="0" i="0">
                <a:solidFill>
                  <a:srgbClr val="686F7D"/>
                </a:solidFill>
                <a:latin typeface="Calibri"/>
              </a:rPr>
              <a:t>Assumes typing time falls in step with the values the software fills; the trial tests that.</a:t>
            </a:r>
          </a:p>
        </p:txBody>
      </p:sp>
      <p:sp>
        <p:nvSpPr>
          <p:cNvPr id="63" name="Rounded Rectangle 62"/>
          <p:cNvSpPr/>
          <p:nvPr/>
        </p:nvSpPr>
        <p:spPr>
          <a:xfrm>
            <a:off x="411480" y="5998464"/>
            <a:ext cx="11365992" cy="749808"/>
          </a:xfrm>
          <a:prstGeom prst="roundRect">
            <a:avLst>
              <a:gd name="adj" fmla="val 12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11480" y="5998464"/>
            <a:ext cx="68580" cy="749808"/>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0936" y="6117336"/>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2A7F50"/>
                </a:solidFill>
                <a:latin typeface="Calibri"/>
              </a:rPr>
              <a:t>The step forward: the same defensible should-cost, with the manual work automated</a:t>
            </a:r>
          </a:p>
        </p:txBody>
      </p:sp>
      <p:sp>
        <p:nvSpPr>
          <p:cNvPr id="66" name="TextBox 65"/>
          <p:cNvSpPr txBox="1"/>
          <p:nvPr/>
        </p:nvSpPr>
        <p:spPr>
          <a:xfrm>
            <a:off x="630936" y="6400800"/>
            <a:ext cx="10954512" cy="246888"/>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Nothing about the method changes. The judgement, the build-up and the numbers we would defend to a supplier all stay as they are. What we are proposing to remove is the typing, and then the limit on how many parts we can get through.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Rectangle 4"/>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OPTION 1 · START NOW</a:t>
            </a:r>
          </a:p>
        </p:txBody>
      </p:sp>
      <p:sp>
        <p:nvSpPr>
          <p:cNvPr id="7" name="TextBox 6"/>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Option 1: automate the data entry, inside CAPEE</a:t>
            </a:r>
          </a:p>
        </p:txBody>
      </p:sp>
      <p:sp>
        <p:nvSpPr>
          <p:cNvPr id="8" name="TextBox 7"/>
          <p:cNvSpPr txBox="1"/>
          <p:nvPr/>
        </p:nvSpPr>
        <p:spPr>
          <a:xfrm>
            <a:off x="411480" y="1517904"/>
            <a:ext cx="1133856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3A4356"/>
                </a:solidFill>
                <a:latin typeface="Calibri"/>
              </a:rPr>
              <a:t>CAPEE keeps doing the costing. The engineer stops typing the input and starts checking it. It measures the 3D model only, so no AI is involved.</a:t>
            </a:r>
          </a:p>
        </p:txBody>
      </p:sp>
      <p:sp>
        <p:nvSpPr>
          <p:cNvPr id="9" name="Rounded Rectangle 8"/>
          <p:cNvSpPr/>
          <p:nvPr/>
        </p:nvSpPr>
        <p:spPr>
          <a:xfrm>
            <a:off x="411480" y="1810512"/>
            <a:ext cx="2134209" cy="173736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810512"/>
            <a:ext cx="2134209" cy="54864"/>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95120" y="1975104"/>
            <a:ext cx="566928" cy="566928"/>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pload.png"/>
          <p:cNvPicPr>
            <a:picLocks noChangeAspect="1"/>
          </p:cNvPicPr>
          <p:nvPr/>
        </p:nvPicPr>
        <p:blipFill>
          <a:blip r:embed="rId2"/>
          <a:stretch>
            <a:fillRect/>
          </a:stretch>
        </p:blipFill>
        <p:spPr>
          <a:xfrm>
            <a:off x="1342521" y="2122505"/>
            <a:ext cx="272126" cy="272126"/>
          </a:xfrm>
          <a:prstGeom prst="rect">
            <a:avLst/>
          </a:prstGeom>
        </p:spPr>
      </p:pic>
      <p:sp>
        <p:nvSpPr>
          <p:cNvPr id="13" name="TextBox 12"/>
          <p:cNvSpPr txBox="1"/>
          <p:nvPr/>
        </p:nvSpPr>
        <p:spPr>
          <a:xfrm>
            <a:off x="484632" y="2651760"/>
            <a:ext cx="1987905"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Attach the 3D model</a:t>
            </a:r>
          </a:p>
        </p:txBody>
      </p:sp>
      <p:sp>
        <p:nvSpPr>
          <p:cNvPr id="14" name="TextBox 13"/>
          <p:cNvSpPr txBox="1"/>
          <p:nvPr/>
        </p:nvSpPr>
        <p:spPr>
          <a:xfrm>
            <a:off x="484632" y="2980944"/>
            <a:ext cx="1987905" cy="512064"/>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STEP, IGES or STL, from the CAPEE screen</a:t>
            </a:r>
          </a:p>
        </p:txBody>
      </p:sp>
      <p:sp>
        <p:nvSpPr>
          <p:cNvPr id="15" name="Right Arrow 14"/>
          <p:cNvSpPr/>
          <p:nvPr/>
        </p:nvSpPr>
        <p:spPr>
          <a:xfrm>
            <a:off x="2563977" y="2578608"/>
            <a:ext cx="137160" cy="201168"/>
          </a:xfrm>
          <a:prstGeom prst="righ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719425" y="1810512"/>
            <a:ext cx="2134209" cy="173736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19425" y="1810512"/>
            <a:ext cx="2134209" cy="54864"/>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03065" y="1975104"/>
            <a:ext cx="566928" cy="566928"/>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ruler.png"/>
          <p:cNvPicPr>
            <a:picLocks noChangeAspect="1"/>
          </p:cNvPicPr>
          <p:nvPr/>
        </p:nvPicPr>
        <p:blipFill>
          <a:blip r:embed="rId3"/>
          <a:stretch>
            <a:fillRect/>
          </a:stretch>
        </p:blipFill>
        <p:spPr>
          <a:xfrm>
            <a:off x="3650466" y="2122505"/>
            <a:ext cx="272126" cy="272126"/>
          </a:xfrm>
          <a:prstGeom prst="rect">
            <a:avLst/>
          </a:prstGeom>
        </p:spPr>
      </p:pic>
      <p:sp>
        <p:nvSpPr>
          <p:cNvPr id="20" name="TextBox 19"/>
          <p:cNvSpPr txBox="1"/>
          <p:nvPr/>
        </p:nvSpPr>
        <p:spPr>
          <a:xfrm>
            <a:off x="2792577" y="2651760"/>
            <a:ext cx="1987905"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The software measures it</a:t>
            </a:r>
          </a:p>
        </p:txBody>
      </p:sp>
      <p:sp>
        <p:nvSpPr>
          <p:cNvPr id="21" name="TextBox 20"/>
          <p:cNvSpPr txBox="1"/>
          <p:nvPr/>
        </p:nvSpPr>
        <p:spPr>
          <a:xfrm>
            <a:off x="2792577" y="2980944"/>
            <a:ext cx="1987905" cy="512064"/>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On a JLR server or laptop, with no internet</a:t>
            </a:r>
          </a:p>
        </p:txBody>
      </p:sp>
      <p:sp>
        <p:nvSpPr>
          <p:cNvPr id="22" name="Right Arrow 21"/>
          <p:cNvSpPr/>
          <p:nvPr/>
        </p:nvSpPr>
        <p:spPr>
          <a:xfrm>
            <a:off x="4871922" y="2578608"/>
            <a:ext cx="137160" cy="201168"/>
          </a:xfrm>
          <a:prstGeom prst="righ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7370" y="1810512"/>
            <a:ext cx="2134209" cy="173736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7370" y="1810512"/>
            <a:ext cx="2134209" cy="54864"/>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811010" y="1975104"/>
            <a:ext cx="566928" cy="566928"/>
          </a:xfrm>
          <a:prstGeom prst="ellipse">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og.png"/>
          <p:cNvPicPr>
            <a:picLocks noChangeAspect="1"/>
          </p:cNvPicPr>
          <p:nvPr/>
        </p:nvPicPr>
        <p:blipFill>
          <a:blip r:embed="rId4"/>
          <a:stretch>
            <a:fillRect/>
          </a:stretch>
        </p:blipFill>
        <p:spPr>
          <a:xfrm>
            <a:off x="5958411" y="2122505"/>
            <a:ext cx="272126" cy="272126"/>
          </a:xfrm>
          <a:prstGeom prst="rect">
            <a:avLst/>
          </a:prstGeom>
        </p:spPr>
      </p:pic>
      <p:sp>
        <p:nvSpPr>
          <p:cNvPr id="27" name="TextBox 26"/>
          <p:cNvSpPr txBox="1"/>
          <p:nvPr/>
        </p:nvSpPr>
        <p:spPr>
          <a:xfrm>
            <a:off x="5100522" y="2651760"/>
            <a:ext cx="1987905"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The values fill in</a:t>
            </a:r>
          </a:p>
        </p:txBody>
      </p:sp>
      <p:sp>
        <p:nvSpPr>
          <p:cNvPr id="28" name="TextBox 27"/>
          <p:cNvSpPr txBox="1"/>
          <p:nvPr/>
        </p:nvSpPr>
        <p:spPr>
          <a:xfrm>
            <a:off x="5100522" y="2980944"/>
            <a:ext cx="1987905" cy="512064"/>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Fixed rules. Same part, same numbers, always</a:t>
            </a:r>
          </a:p>
        </p:txBody>
      </p:sp>
      <p:sp>
        <p:nvSpPr>
          <p:cNvPr id="29" name="Right Arrow 28"/>
          <p:cNvSpPr/>
          <p:nvPr/>
        </p:nvSpPr>
        <p:spPr>
          <a:xfrm>
            <a:off x="7179867" y="2578608"/>
            <a:ext cx="137160" cy="201168"/>
          </a:xfrm>
          <a:prstGeom prst="righ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335315" y="1810512"/>
            <a:ext cx="2134209" cy="173736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35315" y="1810512"/>
            <a:ext cx="2134209" cy="54864"/>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118955" y="1975104"/>
            <a:ext cx="566928" cy="566928"/>
          </a:xfrm>
          <a:prstGeom prst="ellipse">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person.png"/>
          <p:cNvPicPr>
            <a:picLocks noChangeAspect="1"/>
          </p:cNvPicPr>
          <p:nvPr/>
        </p:nvPicPr>
        <p:blipFill>
          <a:blip r:embed="rId5"/>
          <a:stretch>
            <a:fillRect/>
          </a:stretch>
        </p:blipFill>
        <p:spPr>
          <a:xfrm>
            <a:off x="8266356" y="2122505"/>
            <a:ext cx="272126" cy="272126"/>
          </a:xfrm>
          <a:prstGeom prst="rect">
            <a:avLst/>
          </a:prstGeom>
        </p:spPr>
      </p:pic>
      <p:sp>
        <p:nvSpPr>
          <p:cNvPr id="34" name="TextBox 33"/>
          <p:cNvSpPr txBox="1"/>
          <p:nvPr/>
        </p:nvSpPr>
        <p:spPr>
          <a:xfrm>
            <a:off x="7408467" y="2651760"/>
            <a:ext cx="1987905"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The engineer confirms</a:t>
            </a:r>
          </a:p>
        </p:txBody>
      </p:sp>
      <p:sp>
        <p:nvSpPr>
          <p:cNvPr id="35" name="TextBox 34"/>
          <p:cNvSpPr txBox="1"/>
          <p:nvPr/>
        </p:nvSpPr>
        <p:spPr>
          <a:xfrm>
            <a:off x="7408467" y="2980944"/>
            <a:ext cx="1987905" cy="512064"/>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Only what a 3D model cannot show</a:t>
            </a:r>
          </a:p>
        </p:txBody>
      </p:sp>
      <p:sp>
        <p:nvSpPr>
          <p:cNvPr id="36" name="Right Arrow 35"/>
          <p:cNvSpPr/>
          <p:nvPr/>
        </p:nvSpPr>
        <p:spPr>
          <a:xfrm>
            <a:off x="9487812" y="2578608"/>
            <a:ext cx="137160" cy="201168"/>
          </a:xfrm>
          <a:prstGeom prst="righ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643260" y="1810512"/>
            <a:ext cx="2134209" cy="173736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643260" y="1810512"/>
            <a:ext cx="2134209" cy="54864"/>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426900" y="1975104"/>
            <a:ext cx="566928" cy="566928"/>
          </a:xfrm>
          <a:prstGeom prst="ellipse">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calc.png"/>
          <p:cNvPicPr>
            <a:picLocks noChangeAspect="1"/>
          </p:cNvPicPr>
          <p:nvPr/>
        </p:nvPicPr>
        <p:blipFill>
          <a:blip r:embed="rId6"/>
          <a:stretch>
            <a:fillRect/>
          </a:stretch>
        </p:blipFill>
        <p:spPr>
          <a:xfrm>
            <a:off x="10574301" y="2122505"/>
            <a:ext cx="272126" cy="272126"/>
          </a:xfrm>
          <a:prstGeom prst="rect">
            <a:avLst/>
          </a:prstGeom>
        </p:spPr>
      </p:pic>
      <p:sp>
        <p:nvSpPr>
          <p:cNvPr id="41" name="TextBox 40"/>
          <p:cNvSpPr txBox="1"/>
          <p:nvPr/>
        </p:nvSpPr>
        <p:spPr>
          <a:xfrm>
            <a:off x="9716412" y="2651760"/>
            <a:ext cx="1987905" cy="310896"/>
          </a:xfrm>
          <a:prstGeom prst="rect">
            <a:avLst/>
          </a:prstGeom>
          <a:noFill/>
        </p:spPr>
        <p:txBody>
          <a:bodyPr wrap="square" anchor="t" lIns="0" rIns="0" tIns="0" bIns="0">
            <a:spAutoFit/>
          </a:bodyPr>
          <a:lstStyle/>
          <a:p>
            <a:pPr algn="ctr">
              <a:lnSpc>
                <a:spcPct val="100000"/>
              </a:lnSpc>
              <a:spcAft>
                <a:spcPts val="400"/>
              </a:spcAft>
            </a:pPr>
            <a:r>
              <a:rPr sz="1050" b="1" i="0">
                <a:solidFill>
                  <a:srgbClr val="16325C"/>
                </a:solidFill>
                <a:latin typeface="Calibri"/>
              </a:rPr>
              <a:t>CAPEE costs the part</a:t>
            </a:r>
          </a:p>
        </p:txBody>
      </p:sp>
      <p:sp>
        <p:nvSpPr>
          <p:cNvPr id="42" name="TextBox 41"/>
          <p:cNvSpPr txBox="1"/>
          <p:nvPr/>
        </p:nvSpPr>
        <p:spPr>
          <a:xfrm>
            <a:off x="9716412" y="2980944"/>
            <a:ext cx="1987905" cy="512064"/>
          </a:xfrm>
          <a:prstGeom prst="rect">
            <a:avLst/>
          </a:prstGeom>
          <a:noFill/>
        </p:spPr>
        <p:txBody>
          <a:bodyPr wrap="square" anchor="t" lIns="0" rIns="0" tIns="0" bIns="0">
            <a:spAutoFit/>
          </a:bodyPr>
          <a:lstStyle/>
          <a:p>
            <a:pPr algn="ctr">
              <a:lnSpc>
                <a:spcPct val="110000"/>
              </a:lnSpc>
              <a:spcAft>
                <a:spcPts val="400"/>
              </a:spcAft>
            </a:pPr>
            <a:r>
              <a:rPr sz="880" b="0" i="0">
                <a:solidFill>
                  <a:srgbClr val="3A4356"/>
                </a:solidFill>
                <a:latin typeface="Calibri"/>
              </a:rPr>
              <a:t>Exactly as it does now. It just gets the numbers</a:t>
            </a:r>
          </a:p>
        </p:txBody>
      </p:sp>
      <p:sp>
        <p:nvSpPr>
          <p:cNvPr id="43" name="Rounded Rectangle 42"/>
          <p:cNvSpPr/>
          <p:nvPr/>
        </p:nvSpPr>
        <p:spPr>
          <a:xfrm>
            <a:off x="411480" y="3675887"/>
            <a:ext cx="5577840" cy="1874519"/>
          </a:xfrm>
          <a:prstGeom prst="roundRect">
            <a:avLst>
              <a:gd name="adj" fmla="val 12000"/>
            </a:avLst>
          </a:prstGeom>
          <a:solidFill>
            <a:srgbClr val="EAF6E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11480" y="3675887"/>
            <a:ext cx="68580" cy="1874519"/>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2648" y="3803903"/>
            <a:ext cx="5212080" cy="27432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WHAT THE 3D MODEL GIVES, WITH NOTHING TYPED</a:t>
            </a:r>
          </a:p>
        </p:txBody>
      </p:sp>
      <p:sp>
        <p:nvSpPr>
          <p:cNvPr id="46" name="TextBox 45"/>
          <p:cNvSpPr txBox="1"/>
          <p:nvPr/>
        </p:nvSpPr>
        <p:spPr>
          <a:xfrm>
            <a:off x="612648" y="4114799"/>
            <a:ext cx="5212080" cy="1325879"/>
          </a:xfrm>
          <a:prstGeom prst="rect">
            <a:avLst/>
          </a:prstGeom>
          <a:noFill/>
        </p:spPr>
        <p:txBody>
          <a:bodyPr wrap="square" anchor="t" lIns="0" rIns="0" tIns="0" bIns="0">
            <a:spAutoFit/>
          </a:bodyPr>
          <a:lstStyle/>
          <a:p>
            <a:pPr algn="l">
              <a:lnSpc>
                <a:spcPct val="112000"/>
              </a:lnSpc>
              <a:spcAft>
                <a:spcPts val="300"/>
              </a:spcAft>
            </a:pPr>
            <a:r>
              <a:rPr sz="1050" b="0" i="0">
                <a:solidFill>
                  <a:srgbClr val="3A4356"/>
                </a:solidFill>
                <a:latin typeface="Calibri"/>
              </a:rPr>
              <a:t>Weight, volume, overall size, surface area.</a:t>
            </a:r>
          </a:p>
          <a:p>
            <a:pPr algn="l">
              <a:lnSpc>
                <a:spcPct val="112000"/>
              </a:lnSpc>
              <a:spcAft>
                <a:spcPts val="300"/>
              </a:spcAft>
            </a:pPr>
            <a:r>
              <a:rPr sz="1050" b="0" i="0">
                <a:solidFill>
                  <a:srgbClr val="3A4356"/>
                </a:solidFill>
                <a:latin typeface="Calibri"/>
              </a:rPr>
              <a:t>Wall thickness, holes, pockets, bosses, bends,</a:t>
            </a:r>
          </a:p>
          <a:p>
            <a:pPr algn="l">
              <a:lnSpc>
                <a:spcPct val="112000"/>
              </a:lnSpc>
              <a:spcAft>
                <a:spcPts val="300"/>
              </a:spcAft>
            </a:pPr>
            <a:r>
              <a:rPr sz="1050" b="0" i="0">
                <a:solidFill>
                  <a:srgbClr val="3A4356"/>
                </a:solidFill>
                <a:latin typeface="Calibri"/>
              </a:rPr>
              <a:t>gear teeth, machined faces.</a:t>
            </a:r>
          </a:p>
          <a:p>
            <a:pPr algn="l">
              <a:lnSpc>
                <a:spcPct val="112000"/>
              </a:lnSpc>
              <a:spcAft>
                <a:spcPts val="300"/>
              </a:spcAft>
            </a:pPr>
          </a:p>
          <a:p>
            <a:pPr algn="l">
              <a:lnSpc>
                <a:spcPct val="112000"/>
              </a:lnSpc>
              <a:spcAft>
                <a:spcPts val="300"/>
              </a:spcAft>
            </a:pPr>
            <a:r>
              <a:rPr sz="1050" b="1" i="0">
                <a:solidFill>
                  <a:srgbClr val="16325C"/>
                </a:solidFill>
                <a:latin typeface="Calibri"/>
              </a:rPr>
              <a:t>Fixed rules turn those measurements into the</a:t>
            </a:r>
          </a:p>
          <a:p>
            <a:pPr algn="l">
              <a:lnSpc>
                <a:spcPct val="112000"/>
              </a:lnSpc>
              <a:spcAft>
                <a:spcPts val="300"/>
              </a:spcAft>
            </a:pPr>
            <a:r>
              <a:rPr sz="1050" b="1" i="0">
                <a:solidFill>
                  <a:srgbClr val="16325C"/>
                </a:solidFill>
                <a:latin typeface="Calibri"/>
              </a:rPr>
              <a:t>values the CAPEE form asks for.</a:t>
            </a:r>
          </a:p>
        </p:txBody>
      </p:sp>
      <p:sp>
        <p:nvSpPr>
          <p:cNvPr id="47" name="Rounded Rectangle 46"/>
          <p:cNvSpPr/>
          <p:nvPr/>
        </p:nvSpPr>
        <p:spPr>
          <a:xfrm>
            <a:off x="6199632" y="3675887"/>
            <a:ext cx="5577840" cy="1874519"/>
          </a:xfrm>
          <a:prstGeom prst="roundRect">
            <a:avLst>
              <a:gd name="adj" fmla="val 12000"/>
            </a:avLst>
          </a:prstGeom>
          <a:solidFill>
            <a:srgbClr val="FCF3E3"/>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199632" y="3675887"/>
            <a:ext cx="68580" cy="1874519"/>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00800" y="3803903"/>
            <a:ext cx="5212080" cy="27432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WHAT A PERSON STILL SUPPLIES</a:t>
            </a:r>
          </a:p>
        </p:txBody>
      </p:sp>
      <p:sp>
        <p:nvSpPr>
          <p:cNvPr id="50" name="TextBox 49"/>
          <p:cNvSpPr txBox="1"/>
          <p:nvPr/>
        </p:nvSpPr>
        <p:spPr>
          <a:xfrm>
            <a:off x="6400800" y="4114799"/>
            <a:ext cx="5212080" cy="1325879"/>
          </a:xfrm>
          <a:prstGeom prst="rect">
            <a:avLst/>
          </a:prstGeom>
          <a:noFill/>
        </p:spPr>
        <p:txBody>
          <a:bodyPr wrap="square" anchor="t" lIns="0" rIns="0" tIns="0" bIns="0">
            <a:spAutoFit/>
          </a:bodyPr>
          <a:lstStyle/>
          <a:p>
            <a:pPr algn="l">
              <a:lnSpc>
                <a:spcPct val="112000"/>
              </a:lnSpc>
              <a:spcAft>
                <a:spcPts val="300"/>
              </a:spcAft>
            </a:pPr>
            <a:r>
              <a:rPr sz="1050" b="0" i="0">
                <a:solidFill>
                  <a:srgbClr val="3A4356"/>
                </a:solidFill>
                <a:latin typeface="Calibri"/>
              </a:rPr>
              <a:t>Which material it is. A 3D model cannot tell steel</a:t>
            </a:r>
          </a:p>
          <a:p>
            <a:pPr algn="l">
              <a:lnSpc>
                <a:spcPct val="112000"/>
              </a:lnSpc>
              <a:spcAft>
                <a:spcPts val="300"/>
              </a:spcAft>
            </a:pPr>
            <a:r>
              <a:rPr sz="1050" b="0" i="0">
                <a:solidFill>
                  <a:srgbClr val="3A4356"/>
                </a:solidFill>
                <a:latin typeface="Calibri"/>
              </a:rPr>
              <a:t>from aluminium, and the same shape weighs about</a:t>
            </a:r>
          </a:p>
          <a:p>
            <a:pPr algn="l">
              <a:lnSpc>
                <a:spcPct val="112000"/>
              </a:lnSpc>
              <a:spcAft>
                <a:spcPts val="300"/>
              </a:spcAft>
            </a:pPr>
            <a:r>
              <a:rPr sz="1050" b="0" i="0">
                <a:solidFill>
                  <a:srgbClr val="3A4356"/>
                </a:solidFill>
                <a:latin typeface="Calibri"/>
              </a:rPr>
              <a:t>three times more in one than the other.</a:t>
            </a:r>
          </a:p>
          <a:p>
            <a:pPr algn="l">
              <a:lnSpc>
                <a:spcPct val="112000"/>
              </a:lnSpc>
              <a:spcAft>
                <a:spcPts val="300"/>
              </a:spcAft>
            </a:pPr>
          </a:p>
          <a:p>
            <a:pPr algn="l">
              <a:lnSpc>
                <a:spcPct val="112000"/>
              </a:lnSpc>
              <a:spcAft>
                <a:spcPts val="300"/>
              </a:spcAft>
            </a:pPr>
            <a:r>
              <a:rPr sz="1050" b="1" i="0">
                <a:solidFill>
                  <a:srgbClr val="16325C"/>
                </a:solidFill>
                <a:latin typeface="Calibri"/>
              </a:rPr>
              <a:t>Tolerance class, finish, heat treatment, coating.</a:t>
            </a:r>
          </a:p>
          <a:p>
            <a:pPr algn="l">
              <a:lnSpc>
                <a:spcPct val="112000"/>
              </a:lnSpc>
              <a:spcAft>
                <a:spcPts val="300"/>
              </a:spcAft>
            </a:pPr>
            <a:r>
              <a:rPr sz="1050" b="1" i="0">
                <a:solidFill>
                  <a:srgbClr val="16325C"/>
                </a:solidFill>
                <a:latin typeface="Calibri"/>
              </a:rPr>
              <a:t>The tool asks. It never guesses and never pre-ticks.</a:t>
            </a:r>
          </a:p>
        </p:txBody>
      </p:sp>
      <p:sp>
        <p:nvSpPr>
          <p:cNvPr id="51" name="Rounded Rectangle 50"/>
          <p:cNvSpPr/>
          <p:nvPr/>
        </p:nvSpPr>
        <p:spPr>
          <a:xfrm>
            <a:off x="411480" y="5641848"/>
            <a:ext cx="11365992" cy="969264"/>
          </a:xfrm>
          <a:prstGeom prst="roundRect">
            <a:avLst>
              <a:gd name="adj" fmla="val 12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11480" y="5641848"/>
            <a:ext cx="68580" cy="969264"/>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0936" y="5760720"/>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1D6FB8"/>
                </a:solidFill>
                <a:latin typeface="Calibri"/>
              </a:rPr>
              <a:t>Why this one can start now</a:t>
            </a:r>
          </a:p>
        </p:txBody>
      </p:sp>
      <p:sp>
        <p:nvSpPr>
          <p:cNvPr id="54" name="TextBox 53"/>
          <p:cNvSpPr txBox="1"/>
          <p:nvPr/>
        </p:nvSpPr>
        <p:spPr>
          <a:xfrm>
            <a:off x="630936" y="6044184"/>
            <a:ext cx="10954512" cy="466344"/>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The 3D model is measured by the same kind of geometry engine that sits inside a CAD package. Fixed rules fill in the values. There is no AI in this option, so it needs no AI approval. The file never leaves JLR, and CAPEE still does the costing on the same screens.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Rectangle 4"/>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OPTION 2 · THE CAPABILITY</a:t>
            </a:r>
          </a:p>
        </p:txBody>
      </p:sp>
      <p:sp>
        <p:nvSpPr>
          <p:cNvPr id="7" name="TextBox 6"/>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Option 2: what CostVision does</a:t>
            </a:r>
          </a:p>
        </p:txBody>
      </p:sp>
      <p:sp>
        <p:nvSpPr>
          <p:cNvPr id="8" name="TextBox 7"/>
          <p:cNvSpPr txBox="1"/>
          <p:nvPr/>
        </p:nvSpPr>
        <p:spPr>
          <a:xfrm>
            <a:off x="411480" y="1517904"/>
            <a:ext cx="1133856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3A4356"/>
                </a:solidFill>
                <a:latin typeface="Calibri"/>
              </a:rPr>
              <a:t>The top row runs in the JLR build today, with no AI. The bottom row needs the optional AI mode, which is switched off at JLR.</a:t>
            </a:r>
          </a:p>
        </p:txBody>
      </p:sp>
      <p:sp>
        <p:nvSpPr>
          <p:cNvPr id="9" name="Rounded Rectangle 8"/>
          <p:cNvSpPr/>
          <p:nvPr/>
        </p:nvSpPr>
        <p:spPr>
          <a:xfrm>
            <a:off x="411480" y="1828800"/>
            <a:ext cx="3666744"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828800"/>
            <a:ext cx="3666744" cy="54864"/>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9224" y="2066544"/>
            <a:ext cx="548640" cy="548640"/>
          </a:xfrm>
          <a:prstGeom prst="ellipse">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og.png"/>
          <p:cNvPicPr>
            <a:picLocks noChangeAspect="1"/>
          </p:cNvPicPr>
          <p:nvPr/>
        </p:nvPicPr>
        <p:blipFill>
          <a:blip r:embed="rId2"/>
          <a:stretch>
            <a:fillRect/>
          </a:stretch>
        </p:blipFill>
        <p:spPr>
          <a:xfrm>
            <a:off x="791870" y="2209190"/>
            <a:ext cx="263348" cy="263348"/>
          </a:xfrm>
          <a:prstGeom prst="rect">
            <a:avLst/>
          </a:prstGeom>
        </p:spPr>
      </p:pic>
      <p:sp>
        <p:nvSpPr>
          <p:cNvPr id="13" name="TextBox 12"/>
          <p:cNvSpPr txBox="1"/>
          <p:nvPr/>
        </p:nvSpPr>
        <p:spPr>
          <a:xfrm>
            <a:off x="649224" y="2743200"/>
            <a:ext cx="3209544" cy="310896"/>
          </a:xfrm>
          <a:prstGeom prst="rect">
            <a:avLst/>
          </a:prstGeom>
          <a:noFill/>
        </p:spPr>
        <p:txBody>
          <a:bodyPr wrap="square" anchor="t" lIns="0" rIns="0" tIns="0" bIns="0">
            <a:spAutoFit/>
          </a:bodyPr>
          <a:lstStyle/>
          <a:p>
            <a:pPr algn="l">
              <a:lnSpc>
                <a:spcPct val="100000"/>
              </a:lnSpc>
              <a:spcAft>
                <a:spcPts val="400"/>
              </a:spcAft>
            </a:pPr>
            <a:r>
              <a:rPr sz="1180" b="1" i="0">
                <a:solidFill>
                  <a:srgbClr val="16325C"/>
                </a:solidFill>
                <a:latin typeface="Calibri"/>
              </a:rPr>
              <a:t>Cost a whole basket, unattended</a:t>
            </a:r>
          </a:p>
        </p:txBody>
      </p:sp>
      <p:sp>
        <p:nvSpPr>
          <p:cNvPr id="14" name="TextBox 13"/>
          <p:cNvSpPr txBox="1"/>
          <p:nvPr/>
        </p:nvSpPr>
        <p:spPr>
          <a:xfrm>
            <a:off x="649224" y="3072384"/>
            <a:ext cx="3209544" cy="557783"/>
          </a:xfrm>
          <a:prstGeom prst="rect">
            <a:avLst/>
          </a:prstGeom>
          <a:noFill/>
        </p:spPr>
        <p:txBody>
          <a:bodyPr wrap="square" anchor="t" lIns="0" rIns="0" tIns="0" bIns="0">
            <a:spAutoFit/>
          </a:bodyPr>
          <a:lstStyle/>
          <a:p>
            <a:pPr algn="l">
              <a:lnSpc>
                <a:spcPct val="114000"/>
              </a:lnSpc>
              <a:spcAft>
                <a:spcPts val="400"/>
              </a:spcAft>
            </a:pPr>
            <a:r>
              <a:rPr sz="980" b="0" i="0">
                <a:solidFill>
                  <a:srgbClr val="3A4356"/>
                </a:solidFill>
                <a:latin typeface="Calibri"/>
              </a:rPr>
              <a:t>A list of parts and their 3D models goes in. Each part is costed on our rates. What it cannot decide comes back as one question.</a:t>
            </a:r>
          </a:p>
        </p:txBody>
      </p:sp>
      <p:sp>
        <p:nvSpPr>
          <p:cNvPr id="15" name="Rounded Rectangle 14"/>
          <p:cNvSpPr/>
          <p:nvPr/>
        </p:nvSpPr>
        <p:spPr>
          <a:xfrm>
            <a:off x="4261104" y="1828800"/>
            <a:ext cx="3666744"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61104" y="1828800"/>
            <a:ext cx="3666744" cy="54864"/>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8848" y="2066544"/>
            <a:ext cx="548640" cy="548640"/>
          </a:xfrm>
          <a:prstGeom prst="ellipse">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oins.png"/>
          <p:cNvPicPr>
            <a:picLocks noChangeAspect="1"/>
          </p:cNvPicPr>
          <p:nvPr/>
        </p:nvPicPr>
        <p:blipFill>
          <a:blip r:embed="rId3"/>
          <a:stretch>
            <a:fillRect/>
          </a:stretch>
        </p:blipFill>
        <p:spPr>
          <a:xfrm>
            <a:off x="4641494" y="2209190"/>
            <a:ext cx="263348" cy="263348"/>
          </a:xfrm>
          <a:prstGeom prst="rect">
            <a:avLst/>
          </a:prstGeom>
        </p:spPr>
      </p:pic>
      <p:sp>
        <p:nvSpPr>
          <p:cNvPr id="19" name="TextBox 18"/>
          <p:cNvSpPr txBox="1"/>
          <p:nvPr/>
        </p:nvSpPr>
        <p:spPr>
          <a:xfrm>
            <a:off x="4498848" y="2743200"/>
            <a:ext cx="3209544" cy="310896"/>
          </a:xfrm>
          <a:prstGeom prst="rect">
            <a:avLst/>
          </a:prstGeom>
          <a:noFill/>
        </p:spPr>
        <p:txBody>
          <a:bodyPr wrap="square" anchor="t" lIns="0" rIns="0" tIns="0" bIns="0">
            <a:spAutoFit/>
          </a:bodyPr>
          <a:lstStyle/>
          <a:p>
            <a:pPr algn="l">
              <a:lnSpc>
                <a:spcPct val="100000"/>
              </a:lnSpc>
              <a:spcAft>
                <a:spcPts val="400"/>
              </a:spcAft>
            </a:pPr>
            <a:r>
              <a:rPr sz="1180" b="1" i="0">
                <a:solidFill>
                  <a:srgbClr val="16325C"/>
                </a:solidFill>
                <a:latin typeface="Calibri"/>
              </a:rPr>
              <a:t>Supplier quotes taken apart</a:t>
            </a:r>
          </a:p>
        </p:txBody>
      </p:sp>
      <p:sp>
        <p:nvSpPr>
          <p:cNvPr id="20" name="TextBox 19"/>
          <p:cNvSpPr txBox="1"/>
          <p:nvPr/>
        </p:nvSpPr>
        <p:spPr>
          <a:xfrm>
            <a:off x="4498848" y="3072384"/>
            <a:ext cx="3209544" cy="557783"/>
          </a:xfrm>
          <a:prstGeom prst="rect">
            <a:avLst/>
          </a:prstGeom>
          <a:noFill/>
        </p:spPr>
        <p:txBody>
          <a:bodyPr wrap="square" anchor="t" lIns="0" rIns="0" tIns="0" bIns="0">
            <a:spAutoFit/>
          </a:bodyPr>
          <a:lstStyle/>
          <a:p>
            <a:pPr algn="l">
              <a:lnSpc>
                <a:spcPct val="114000"/>
              </a:lnSpc>
              <a:spcAft>
                <a:spcPts val="400"/>
              </a:spcAft>
            </a:pPr>
            <a:r>
              <a:rPr sz="980" b="0" i="0">
                <a:solidFill>
                  <a:srgbClr val="3A4356"/>
                </a:solidFill>
                <a:latin typeface="Calibri"/>
              </a:rPr>
              <a:t>Put their price next to our own build-up and see which part of it the gap is in, with the questions to put to them.</a:t>
            </a:r>
          </a:p>
        </p:txBody>
      </p:sp>
      <p:sp>
        <p:nvSpPr>
          <p:cNvPr id="21" name="Rounded Rectangle 20"/>
          <p:cNvSpPr/>
          <p:nvPr/>
        </p:nvSpPr>
        <p:spPr>
          <a:xfrm>
            <a:off x="8110728" y="1828800"/>
            <a:ext cx="3666744"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10728" y="1828800"/>
            <a:ext cx="3666744" cy="54864"/>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48472" y="2066544"/>
            <a:ext cx="548640" cy="548640"/>
          </a:xfrm>
          <a:prstGeom prst="ellipse">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press.png"/>
          <p:cNvPicPr>
            <a:picLocks noChangeAspect="1"/>
          </p:cNvPicPr>
          <p:nvPr/>
        </p:nvPicPr>
        <p:blipFill>
          <a:blip r:embed="rId4"/>
          <a:stretch>
            <a:fillRect/>
          </a:stretch>
        </p:blipFill>
        <p:spPr>
          <a:xfrm>
            <a:off x="8491118" y="2209190"/>
            <a:ext cx="263348" cy="263348"/>
          </a:xfrm>
          <a:prstGeom prst="rect">
            <a:avLst/>
          </a:prstGeom>
        </p:spPr>
      </p:pic>
      <p:sp>
        <p:nvSpPr>
          <p:cNvPr id="25" name="TextBox 24"/>
          <p:cNvSpPr txBox="1"/>
          <p:nvPr/>
        </p:nvSpPr>
        <p:spPr>
          <a:xfrm>
            <a:off x="8348472" y="2743200"/>
            <a:ext cx="3209544" cy="310896"/>
          </a:xfrm>
          <a:prstGeom prst="rect">
            <a:avLst/>
          </a:prstGeom>
          <a:noFill/>
        </p:spPr>
        <p:txBody>
          <a:bodyPr wrap="square" anchor="t" lIns="0" rIns="0" tIns="0" bIns="0">
            <a:spAutoFit/>
          </a:bodyPr>
          <a:lstStyle/>
          <a:p>
            <a:pPr algn="l">
              <a:lnSpc>
                <a:spcPct val="100000"/>
              </a:lnSpc>
              <a:spcAft>
                <a:spcPts val="400"/>
              </a:spcAft>
            </a:pPr>
            <a:r>
              <a:rPr sz="1180" b="1" i="0">
                <a:solidFill>
                  <a:srgbClr val="16325C"/>
                </a:solidFill>
                <a:latin typeface="Calibri"/>
              </a:rPr>
              <a:t>Design changes priced, not guessed</a:t>
            </a:r>
          </a:p>
        </p:txBody>
      </p:sp>
      <p:sp>
        <p:nvSpPr>
          <p:cNvPr id="26" name="TextBox 25"/>
          <p:cNvSpPr txBox="1"/>
          <p:nvPr/>
        </p:nvSpPr>
        <p:spPr>
          <a:xfrm>
            <a:off x="8348472" y="3072384"/>
            <a:ext cx="3209544" cy="557783"/>
          </a:xfrm>
          <a:prstGeom prst="rect">
            <a:avLst/>
          </a:prstGeom>
          <a:noFill/>
        </p:spPr>
        <p:txBody>
          <a:bodyPr wrap="square" anchor="t" lIns="0" rIns="0" tIns="0" bIns="0">
            <a:spAutoFit/>
          </a:bodyPr>
          <a:lstStyle/>
          <a:p>
            <a:pPr algn="l">
              <a:lnSpc>
                <a:spcPct val="114000"/>
              </a:lnSpc>
              <a:spcAft>
                <a:spcPts val="400"/>
              </a:spcAft>
            </a:pPr>
            <a:r>
              <a:rPr sz="980" b="0" i="0">
                <a:solidFill>
                  <a:srgbClr val="3A4356"/>
                </a:solidFill>
                <a:latin typeface="Calibri"/>
              </a:rPr>
              <a:t>It flags what makes a part expensive and suggests changes, with an estimated saving on each.</a:t>
            </a:r>
          </a:p>
        </p:txBody>
      </p:sp>
      <p:sp>
        <p:nvSpPr>
          <p:cNvPr id="27" name="Rounded Rectangle 26"/>
          <p:cNvSpPr/>
          <p:nvPr/>
        </p:nvSpPr>
        <p:spPr>
          <a:xfrm>
            <a:off x="411480" y="3794760"/>
            <a:ext cx="3666744"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 y="3794760"/>
            <a:ext cx="3666744" cy="54864"/>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49224" y="4032504"/>
            <a:ext cx="548640" cy="54864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eye.png"/>
          <p:cNvPicPr>
            <a:picLocks noChangeAspect="1"/>
          </p:cNvPicPr>
          <p:nvPr/>
        </p:nvPicPr>
        <p:blipFill>
          <a:blip r:embed="rId5"/>
          <a:stretch>
            <a:fillRect/>
          </a:stretch>
        </p:blipFill>
        <p:spPr>
          <a:xfrm>
            <a:off x="791870" y="4175150"/>
            <a:ext cx="263348" cy="263348"/>
          </a:xfrm>
          <a:prstGeom prst="rect">
            <a:avLst/>
          </a:prstGeom>
        </p:spPr>
      </p:pic>
      <p:sp>
        <p:nvSpPr>
          <p:cNvPr id="31" name="TextBox 30"/>
          <p:cNvSpPr txBox="1"/>
          <p:nvPr/>
        </p:nvSpPr>
        <p:spPr>
          <a:xfrm>
            <a:off x="649224" y="4709160"/>
            <a:ext cx="3209544" cy="310896"/>
          </a:xfrm>
          <a:prstGeom prst="rect">
            <a:avLst/>
          </a:prstGeom>
          <a:noFill/>
        </p:spPr>
        <p:txBody>
          <a:bodyPr wrap="square" anchor="t" lIns="0" rIns="0" tIns="0" bIns="0">
            <a:spAutoFit/>
          </a:bodyPr>
          <a:lstStyle/>
          <a:p>
            <a:pPr algn="l">
              <a:lnSpc>
                <a:spcPct val="100000"/>
              </a:lnSpc>
              <a:spcAft>
                <a:spcPts val="400"/>
              </a:spcAft>
            </a:pPr>
            <a:r>
              <a:rPr sz="1180" b="1" i="0">
                <a:solidFill>
                  <a:srgbClr val="16325C"/>
                </a:solidFill>
                <a:latin typeface="Calibri"/>
              </a:rPr>
              <a:t>A board photo becomes a BOM</a:t>
            </a:r>
          </a:p>
        </p:txBody>
      </p:sp>
      <p:sp>
        <p:nvSpPr>
          <p:cNvPr id="32" name="TextBox 31"/>
          <p:cNvSpPr txBox="1"/>
          <p:nvPr/>
        </p:nvSpPr>
        <p:spPr>
          <a:xfrm>
            <a:off x="649224" y="5038344"/>
            <a:ext cx="3209544" cy="557783"/>
          </a:xfrm>
          <a:prstGeom prst="rect">
            <a:avLst/>
          </a:prstGeom>
          <a:noFill/>
        </p:spPr>
        <p:txBody>
          <a:bodyPr wrap="square" anchor="t" lIns="0" rIns="0" tIns="0" bIns="0">
            <a:spAutoFit/>
          </a:bodyPr>
          <a:lstStyle/>
          <a:p>
            <a:pPr algn="l">
              <a:lnSpc>
                <a:spcPct val="114000"/>
              </a:lnSpc>
              <a:spcAft>
                <a:spcPts val="400"/>
              </a:spcAft>
            </a:pPr>
            <a:r>
              <a:rPr sz="980" b="0" i="0">
                <a:solidFill>
                  <a:srgbClr val="3A4356"/>
                </a:solidFill>
                <a:latin typeface="Calibri"/>
              </a:rPr>
              <a:t>AI mode, off at JLR. A photo of a circuit board is read into a parts list and board spec, then costed by the engine.</a:t>
            </a:r>
          </a:p>
        </p:txBody>
      </p:sp>
      <p:sp>
        <p:nvSpPr>
          <p:cNvPr id="33" name="Rounded Rectangle 32"/>
          <p:cNvSpPr/>
          <p:nvPr/>
        </p:nvSpPr>
        <p:spPr>
          <a:xfrm>
            <a:off x="4261104" y="3794760"/>
            <a:ext cx="3666744"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261104" y="3794760"/>
            <a:ext cx="3666744" cy="54864"/>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498848" y="4032504"/>
            <a:ext cx="548640" cy="54864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clip.png"/>
          <p:cNvPicPr>
            <a:picLocks noChangeAspect="1"/>
          </p:cNvPicPr>
          <p:nvPr/>
        </p:nvPicPr>
        <p:blipFill>
          <a:blip r:embed="rId6"/>
          <a:stretch>
            <a:fillRect/>
          </a:stretch>
        </p:blipFill>
        <p:spPr>
          <a:xfrm>
            <a:off x="4641494" y="4175150"/>
            <a:ext cx="263348" cy="263348"/>
          </a:xfrm>
          <a:prstGeom prst="rect">
            <a:avLst/>
          </a:prstGeom>
        </p:spPr>
      </p:pic>
      <p:sp>
        <p:nvSpPr>
          <p:cNvPr id="37" name="TextBox 36"/>
          <p:cNvSpPr txBox="1"/>
          <p:nvPr/>
        </p:nvSpPr>
        <p:spPr>
          <a:xfrm>
            <a:off x="4498848" y="4709160"/>
            <a:ext cx="3209544" cy="310896"/>
          </a:xfrm>
          <a:prstGeom prst="rect">
            <a:avLst/>
          </a:prstGeom>
          <a:noFill/>
        </p:spPr>
        <p:txBody>
          <a:bodyPr wrap="square" anchor="t" lIns="0" rIns="0" tIns="0" bIns="0">
            <a:spAutoFit/>
          </a:bodyPr>
          <a:lstStyle/>
          <a:p>
            <a:pPr algn="l">
              <a:lnSpc>
                <a:spcPct val="100000"/>
              </a:lnSpc>
              <a:spcAft>
                <a:spcPts val="400"/>
              </a:spcAft>
            </a:pPr>
            <a:r>
              <a:rPr sz="1180" b="1" i="0">
                <a:solidFill>
                  <a:srgbClr val="16325C"/>
                </a:solidFill>
                <a:latin typeface="Calibri"/>
              </a:rPr>
              <a:t>An RFQ pack becomes costed lines</a:t>
            </a:r>
          </a:p>
        </p:txBody>
      </p:sp>
      <p:sp>
        <p:nvSpPr>
          <p:cNvPr id="38" name="TextBox 37"/>
          <p:cNvSpPr txBox="1"/>
          <p:nvPr/>
        </p:nvSpPr>
        <p:spPr>
          <a:xfrm>
            <a:off x="4498848" y="5038344"/>
            <a:ext cx="3209544" cy="557783"/>
          </a:xfrm>
          <a:prstGeom prst="rect">
            <a:avLst/>
          </a:prstGeom>
          <a:noFill/>
        </p:spPr>
        <p:txBody>
          <a:bodyPr wrap="square" anchor="t" lIns="0" rIns="0" tIns="0" bIns="0">
            <a:spAutoFit/>
          </a:bodyPr>
          <a:lstStyle/>
          <a:p>
            <a:pPr algn="l">
              <a:lnSpc>
                <a:spcPct val="114000"/>
              </a:lnSpc>
              <a:spcAft>
                <a:spcPts val="400"/>
              </a:spcAft>
            </a:pPr>
            <a:r>
              <a:rPr sz="980" b="0" i="0">
                <a:solidFill>
                  <a:srgbClr val="3A4356"/>
                </a:solidFill>
                <a:latin typeface="Calibri"/>
              </a:rPr>
              <a:t>AI mode, off at JLR. The line items are read out of the pack, then each one is costed by the engine.</a:t>
            </a:r>
          </a:p>
        </p:txBody>
      </p:sp>
      <p:sp>
        <p:nvSpPr>
          <p:cNvPr id="39" name="Rounded Rectangle 38"/>
          <p:cNvSpPr/>
          <p:nvPr/>
        </p:nvSpPr>
        <p:spPr>
          <a:xfrm>
            <a:off x="8110728" y="3794760"/>
            <a:ext cx="3666744" cy="1874519"/>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110728" y="3794760"/>
            <a:ext cx="3666744" cy="54864"/>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348472" y="4032504"/>
            <a:ext cx="548640" cy="54864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person.png"/>
          <p:cNvPicPr>
            <a:picLocks noChangeAspect="1"/>
          </p:cNvPicPr>
          <p:nvPr/>
        </p:nvPicPr>
        <p:blipFill>
          <a:blip r:embed="rId7"/>
          <a:stretch>
            <a:fillRect/>
          </a:stretch>
        </p:blipFill>
        <p:spPr>
          <a:xfrm>
            <a:off x="8491118" y="4175150"/>
            <a:ext cx="263348" cy="263348"/>
          </a:xfrm>
          <a:prstGeom prst="rect">
            <a:avLst/>
          </a:prstGeom>
        </p:spPr>
      </p:pic>
      <p:sp>
        <p:nvSpPr>
          <p:cNvPr id="43" name="TextBox 42"/>
          <p:cNvSpPr txBox="1"/>
          <p:nvPr/>
        </p:nvSpPr>
        <p:spPr>
          <a:xfrm>
            <a:off x="8348472" y="4709160"/>
            <a:ext cx="3209544" cy="310896"/>
          </a:xfrm>
          <a:prstGeom prst="rect">
            <a:avLst/>
          </a:prstGeom>
          <a:noFill/>
        </p:spPr>
        <p:txBody>
          <a:bodyPr wrap="square" anchor="t" lIns="0" rIns="0" tIns="0" bIns="0">
            <a:spAutoFit/>
          </a:bodyPr>
          <a:lstStyle/>
          <a:p>
            <a:pPr algn="l">
              <a:lnSpc>
                <a:spcPct val="100000"/>
              </a:lnSpc>
              <a:spcAft>
                <a:spcPts val="400"/>
              </a:spcAft>
            </a:pPr>
            <a:r>
              <a:rPr sz="1180" b="1" i="0">
                <a:solidFill>
                  <a:srgbClr val="16325C"/>
                </a:solidFill>
                <a:latin typeface="Calibri"/>
              </a:rPr>
              <a:t>An assistant does the setting up</a:t>
            </a:r>
          </a:p>
        </p:txBody>
      </p:sp>
      <p:sp>
        <p:nvSpPr>
          <p:cNvPr id="44" name="TextBox 43"/>
          <p:cNvSpPr txBox="1"/>
          <p:nvPr/>
        </p:nvSpPr>
        <p:spPr>
          <a:xfrm>
            <a:off x="8348472" y="5038344"/>
            <a:ext cx="3209544" cy="557783"/>
          </a:xfrm>
          <a:prstGeom prst="rect">
            <a:avLst/>
          </a:prstGeom>
          <a:noFill/>
        </p:spPr>
        <p:txBody>
          <a:bodyPr wrap="square" anchor="t" lIns="0" rIns="0" tIns="0" bIns="0">
            <a:spAutoFit/>
          </a:bodyPr>
          <a:lstStyle/>
          <a:p>
            <a:pPr algn="l">
              <a:lnSpc>
                <a:spcPct val="114000"/>
              </a:lnSpc>
              <a:spcAft>
                <a:spcPts val="400"/>
              </a:spcAft>
            </a:pPr>
            <a:r>
              <a:rPr sz="980" b="0" i="0">
                <a:solidFill>
                  <a:srgbClr val="3A4356"/>
                </a:solidFill>
                <a:latin typeface="Calibri"/>
              </a:rPr>
              <a:t>AI mode, off at JLR. It suggests the process route and fills in the form. The engineer checks it and the engine prices it.</a:t>
            </a:r>
          </a:p>
        </p:txBody>
      </p:sp>
      <p:sp>
        <p:nvSpPr>
          <p:cNvPr id="45" name="Rounded Rectangle 44"/>
          <p:cNvSpPr/>
          <p:nvPr/>
        </p:nvSpPr>
        <p:spPr>
          <a:xfrm>
            <a:off x="411480" y="5779008"/>
            <a:ext cx="11365992" cy="868680"/>
          </a:xfrm>
          <a:prstGeom prst="roundRect">
            <a:avLst>
              <a:gd name="adj" fmla="val 12000"/>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11480" y="5779008"/>
            <a:ext cx="68580" cy="86868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0936" y="5897880"/>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1D6FB8"/>
                </a:solidFill>
                <a:latin typeface="Calibri"/>
              </a:rPr>
              <a:t>All six end in the same engine</a:t>
            </a:r>
          </a:p>
        </p:txBody>
      </p:sp>
      <p:sp>
        <p:nvSpPr>
          <p:cNvPr id="48" name="TextBox 47"/>
          <p:cNvSpPr txBox="1"/>
          <p:nvPr/>
        </p:nvSpPr>
        <p:spPr>
          <a:xfrm>
            <a:off x="630936" y="6181344"/>
            <a:ext cx="10954512" cy="365760"/>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Where the AI mode is used, it only reads and sorts. It never sets a price. The money comes from the same fixed rules and the same rate book in all six, so every number can be traced to a rate. With AI off, as at JLR, the top row works exactly the same.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Rectangle 4"/>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THE BENEFITS</a:t>
            </a:r>
          </a:p>
        </p:txBody>
      </p:sp>
      <p:sp>
        <p:nvSpPr>
          <p:cNvPr id="7" name="TextBox 6"/>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What we get from each</a:t>
            </a:r>
          </a:p>
        </p:txBody>
      </p:sp>
      <p:sp>
        <p:nvSpPr>
          <p:cNvPr id="8" name="TextBox 7"/>
          <p:cNvSpPr txBox="1"/>
          <p:nvPr/>
        </p:nvSpPr>
        <p:spPr>
          <a:xfrm>
            <a:off x="411480" y="1517904"/>
            <a:ext cx="11338560" cy="274320"/>
          </a:xfrm>
          <a:prstGeom prst="rect">
            <a:avLst/>
          </a:prstGeom>
          <a:noFill/>
        </p:spPr>
        <p:txBody>
          <a:bodyPr wrap="square" anchor="t" lIns="0" rIns="0" tIns="0" bIns="0">
            <a:spAutoFit/>
          </a:bodyPr>
          <a:lstStyle/>
          <a:p>
            <a:pPr algn="l">
              <a:lnSpc>
                <a:spcPct val="100000"/>
              </a:lnSpc>
              <a:spcAft>
                <a:spcPts val="400"/>
              </a:spcAft>
            </a:pPr>
            <a:r>
              <a:rPr sz="1150" b="0" i="0">
                <a:solidFill>
                  <a:srgbClr val="3A4356"/>
                </a:solidFill>
                <a:latin typeface="Calibri"/>
              </a:rPr>
              <a:t>Stated in kind, not in pounds. Slide 1 turns these into hours once we fill in our own four numbers.</a:t>
            </a:r>
          </a:p>
        </p:txBody>
      </p:sp>
      <p:sp>
        <p:nvSpPr>
          <p:cNvPr id="9" name="Rounded Rectangle 8"/>
          <p:cNvSpPr/>
          <p:nvPr/>
        </p:nvSpPr>
        <p:spPr>
          <a:xfrm>
            <a:off x="411480" y="1810512"/>
            <a:ext cx="3611880" cy="429768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810512"/>
            <a:ext cx="68580" cy="4297680"/>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 y="1938528"/>
            <a:ext cx="3246120" cy="27432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OPTION 1 · input into CAPEE</a:t>
            </a:r>
          </a:p>
        </p:txBody>
      </p:sp>
      <p:sp>
        <p:nvSpPr>
          <p:cNvPr id="12" name="TextBox 11"/>
          <p:cNvSpPr txBox="1"/>
          <p:nvPr/>
        </p:nvSpPr>
        <p:spPr>
          <a:xfrm>
            <a:off x="612648" y="2249424"/>
            <a:ext cx="3246120" cy="3749040"/>
          </a:xfrm>
          <a:prstGeom prst="rect">
            <a:avLst/>
          </a:prstGeom>
          <a:noFill/>
        </p:spPr>
        <p:txBody>
          <a:bodyPr wrap="square" anchor="t" lIns="0" rIns="0" tIns="0" bIns="0">
            <a:spAutoFit/>
          </a:bodyPr>
          <a:lstStyle/>
          <a:p>
            <a:pPr algn="l">
              <a:lnSpc>
                <a:spcPct val="112000"/>
              </a:lnSpc>
              <a:spcAft>
                <a:spcPts val="300"/>
              </a:spcAft>
            </a:pPr>
            <a:r>
              <a:rPr sz="1050" b="1" i="0">
                <a:solidFill>
                  <a:srgbClr val="1D6FB8"/>
                </a:solidFill>
                <a:latin typeface="Calibri"/>
              </a:rPr>
              <a:t>The typing goes</a:t>
            </a:r>
          </a:p>
          <a:p>
            <a:pPr algn="l">
              <a:lnSpc>
                <a:spcPct val="112000"/>
              </a:lnSpc>
              <a:spcAft>
                <a:spcPts val="300"/>
              </a:spcAft>
            </a:pPr>
            <a:r>
              <a:rPr sz="1050" b="0" i="0">
                <a:solidFill>
                  <a:srgbClr val="3A4356"/>
                </a:solidFill>
                <a:latin typeface="Calibri"/>
              </a:rPr>
              <a:t>About 12 to 70 values per part.</a:t>
            </a:r>
          </a:p>
          <a:p>
            <a:pPr algn="l">
              <a:lnSpc>
                <a:spcPct val="112000"/>
              </a:lnSpc>
              <a:spcAft>
                <a:spcPts val="300"/>
              </a:spcAft>
            </a:pPr>
            <a:r>
              <a:rPr sz="1050" b="1" i="0">
                <a:solidFill>
                  <a:srgbClr val="1D6FB8"/>
                </a:solidFill>
                <a:latin typeface="Calibri"/>
              </a:rPr>
              <a:t>Nothing to mistype</a:t>
            </a:r>
          </a:p>
          <a:p>
            <a:pPr algn="l">
              <a:lnSpc>
                <a:spcPct val="112000"/>
              </a:lnSpc>
              <a:spcAft>
                <a:spcPts val="300"/>
              </a:spcAft>
            </a:pPr>
            <a:r>
              <a:rPr sz="1050" b="0" i="0">
                <a:solidFill>
                  <a:srgbClr val="3A4356"/>
                </a:solidFill>
                <a:latin typeface="Calibri"/>
              </a:rPr>
              <a:t>And nothing to re-check afterwards.</a:t>
            </a:r>
          </a:p>
          <a:p>
            <a:pPr algn="l">
              <a:lnSpc>
                <a:spcPct val="112000"/>
              </a:lnSpc>
              <a:spcAft>
                <a:spcPts val="300"/>
              </a:spcAft>
            </a:pPr>
            <a:r>
              <a:rPr sz="1050" b="1" i="0">
                <a:solidFill>
                  <a:srgbClr val="1D6FB8"/>
                </a:solidFill>
                <a:latin typeface="Calibri"/>
              </a:rPr>
              <a:t>The same answer every time</a:t>
            </a:r>
          </a:p>
          <a:p>
            <a:pPr algn="l">
              <a:lnSpc>
                <a:spcPct val="112000"/>
              </a:lnSpc>
              <a:spcAft>
                <a:spcPts val="300"/>
              </a:spcAft>
            </a:pPr>
            <a:r>
              <a:rPr sz="1050" b="0" i="0">
                <a:solidFill>
                  <a:srgbClr val="3A4356"/>
                </a:solidFill>
                <a:latin typeface="Calibri"/>
              </a:rPr>
              <a:t>One method, whoever costs the part.</a:t>
            </a:r>
          </a:p>
          <a:p>
            <a:pPr algn="l">
              <a:lnSpc>
                <a:spcPct val="112000"/>
              </a:lnSpc>
              <a:spcAft>
                <a:spcPts val="300"/>
              </a:spcAft>
            </a:pPr>
            <a:r>
              <a:rPr sz="1050" b="1" i="0">
                <a:solidFill>
                  <a:srgbClr val="1D6FB8"/>
                </a:solidFill>
                <a:latin typeface="Calibri"/>
              </a:rPr>
              <a:t>A re-cost is nearly free</a:t>
            </a:r>
          </a:p>
          <a:p>
            <a:pPr algn="l">
              <a:lnSpc>
                <a:spcPct val="112000"/>
              </a:lnSpc>
              <a:spcAft>
                <a:spcPts val="300"/>
              </a:spcAft>
            </a:pPr>
            <a:r>
              <a:rPr sz="1050" b="0" i="0">
                <a:solidFill>
                  <a:srgbClr val="3A4356"/>
                </a:solidFill>
                <a:latin typeface="Calibri"/>
              </a:rPr>
              <a:t>New volume or rates, no re-reading.</a:t>
            </a:r>
          </a:p>
          <a:p>
            <a:pPr algn="l">
              <a:lnSpc>
                <a:spcPct val="112000"/>
              </a:lnSpc>
              <a:spcAft>
                <a:spcPts val="300"/>
              </a:spcAft>
            </a:pPr>
            <a:r>
              <a:rPr sz="1050" b="1" i="0">
                <a:solidFill>
                  <a:srgbClr val="1D6FB8"/>
                </a:solidFill>
                <a:latin typeface="Calibri"/>
              </a:rPr>
              <a:t>The saving repeats on every part</a:t>
            </a:r>
          </a:p>
          <a:p>
            <a:pPr algn="l">
              <a:lnSpc>
                <a:spcPct val="112000"/>
              </a:lnSpc>
              <a:spcAft>
                <a:spcPts val="300"/>
              </a:spcAft>
            </a:pPr>
            <a:r>
              <a:rPr sz="1050" b="0" i="0">
                <a:solidFill>
                  <a:srgbClr val="3A4356"/>
                </a:solidFill>
                <a:latin typeface="Calibri"/>
              </a:rPr>
              <a:t>It grows with how many we cost.</a:t>
            </a:r>
          </a:p>
          <a:p>
            <a:pPr algn="l">
              <a:lnSpc>
                <a:spcPct val="112000"/>
              </a:lnSpc>
              <a:spcAft>
                <a:spcPts val="300"/>
              </a:spcAft>
            </a:pPr>
            <a:r>
              <a:rPr sz="1050" b="1" i="0">
                <a:solidFill>
                  <a:srgbClr val="1D6FB8"/>
                </a:solidFill>
                <a:latin typeface="Calibri"/>
              </a:rPr>
              <a:t>What is left is the judgement</a:t>
            </a:r>
          </a:p>
          <a:p>
            <a:pPr algn="l">
              <a:lnSpc>
                <a:spcPct val="112000"/>
              </a:lnSpc>
              <a:spcAft>
                <a:spcPts val="300"/>
              </a:spcAft>
            </a:pPr>
            <a:r>
              <a:rPr sz="1050" b="0" i="0">
                <a:solidFill>
                  <a:srgbClr val="3A4356"/>
                </a:solidFill>
                <a:latin typeface="Calibri"/>
              </a:rPr>
              <a:t>Material, tolerance, finish, heat</a:t>
            </a:r>
          </a:p>
          <a:p>
            <a:pPr algn="l">
              <a:lnSpc>
                <a:spcPct val="112000"/>
              </a:lnSpc>
              <a:spcAft>
                <a:spcPts val="300"/>
              </a:spcAft>
            </a:pPr>
            <a:r>
              <a:rPr sz="1050" b="0" i="0">
                <a:solidFill>
                  <a:srgbClr val="3A4356"/>
                </a:solidFill>
                <a:latin typeface="Calibri"/>
              </a:rPr>
              <a:t>treatment — the calls only we can make.</a:t>
            </a:r>
          </a:p>
          <a:p>
            <a:pPr algn="l">
              <a:lnSpc>
                <a:spcPct val="112000"/>
              </a:lnSpc>
              <a:spcAft>
                <a:spcPts val="300"/>
              </a:spcAft>
            </a:pPr>
            <a:r>
              <a:rPr sz="1050" b="1" i="0">
                <a:solidFill>
                  <a:srgbClr val="1D6FB8"/>
                </a:solidFill>
                <a:latin typeface="Calibri"/>
              </a:rPr>
              <a:t>It can start now</a:t>
            </a:r>
          </a:p>
          <a:p>
            <a:pPr algn="l">
              <a:lnSpc>
                <a:spcPct val="112000"/>
              </a:lnSpc>
              <a:spcAft>
                <a:spcPts val="300"/>
              </a:spcAft>
            </a:pPr>
            <a:r>
              <a:rPr sz="1050" b="0" i="0">
                <a:solidFill>
                  <a:srgbClr val="3A4356"/>
                </a:solidFill>
                <a:latin typeface="Calibri"/>
              </a:rPr>
              <a:t>No AI, so no approval to wait for.</a:t>
            </a:r>
          </a:p>
          <a:p>
            <a:pPr algn="l">
              <a:lnSpc>
                <a:spcPct val="112000"/>
              </a:lnSpc>
              <a:spcAft>
                <a:spcPts val="300"/>
              </a:spcAft>
            </a:pPr>
          </a:p>
          <a:p>
            <a:pPr algn="l">
              <a:lnSpc>
                <a:spcPct val="112000"/>
              </a:lnSpc>
              <a:spcAft>
                <a:spcPts val="300"/>
              </a:spcAft>
            </a:pPr>
            <a:r>
              <a:rPr sz="1050" b="1" i="0">
                <a:solidFill>
                  <a:srgbClr val="1D6FB8"/>
                </a:solidFill>
                <a:latin typeface="Calibri"/>
              </a:rPr>
              <a:t>Slide 1 turns this into hours.</a:t>
            </a:r>
          </a:p>
        </p:txBody>
      </p:sp>
      <p:sp>
        <p:nvSpPr>
          <p:cNvPr id="13" name="Rounded Rectangle 12"/>
          <p:cNvSpPr/>
          <p:nvPr/>
        </p:nvSpPr>
        <p:spPr>
          <a:xfrm>
            <a:off x="4233672" y="1810512"/>
            <a:ext cx="7543800" cy="429768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33672" y="1810512"/>
            <a:ext cx="68580" cy="429768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1938528"/>
            <a:ext cx="7178040" cy="27432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OPTION 2 · CostVision end to end</a:t>
            </a:r>
          </a:p>
        </p:txBody>
      </p:sp>
      <p:sp>
        <p:nvSpPr>
          <p:cNvPr id="16" name="TextBox 15"/>
          <p:cNvSpPr txBox="1"/>
          <p:nvPr/>
        </p:nvSpPr>
        <p:spPr>
          <a:xfrm>
            <a:off x="4434840" y="2267712"/>
            <a:ext cx="3488436" cy="3749040"/>
          </a:xfrm>
          <a:prstGeom prst="rect">
            <a:avLst/>
          </a:prstGeom>
          <a:noFill/>
        </p:spPr>
        <p:txBody>
          <a:bodyPr wrap="square" anchor="t" lIns="0" rIns="0" tIns="0" bIns="0">
            <a:spAutoFit/>
          </a:bodyPr>
          <a:lstStyle/>
          <a:p>
            <a:pPr algn="l">
              <a:lnSpc>
                <a:spcPct val="112000"/>
              </a:lnSpc>
              <a:spcAft>
                <a:spcPts val="300"/>
              </a:spcAft>
            </a:pPr>
            <a:r>
              <a:rPr sz="1050" b="1" i="0">
                <a:solidFill>
                  <a:srgbClr val="6B3FA0"/>
                </a:solidFill>
                <a:latin typeface="Calibri"/>
              </a:rPr>
              <a:t>A basket runs on its own</a:t>
            </a:r>
          </a:p>
          <a:p>
            <a:pPr algn="l">
              <a:lnSpc>
                <a:spcPct val="112000"/>
              </a:lnSpc>
              <a:spcAft>
                <a:spcPts val="300"/>
              </a:spcAft>
            </a:pPr>
            <a:r>
              <a:rPr sz="1050" b="0" i="0">
                <a:solidFill>
                  <a:srgbClr val="3A4356"/>
                </a:solidFill>
                <a:latin typeface="Calibri"/>
              </a:rPr>
              <a:t>Parts go in, costed results come out.</a:t>
            </a:r>
          </a:p>
          <a:p>
            <a:pPr algn="l">
              <a:lnSpc>
                <a:spcPct val="112000"/>
              </a:lnSpc>
              <a:spcAft>
                <a:spcPts val="300"/>
              </a:spcAft>
            </a:pPr>
            <a:r>
              <a:rPr sz="1050" b="0" i="0">
                <a:solidFill>
                  <a:srgbClr val="3A4356"/>
                </a:solidFill>
                <a:latin typeface="Calibri"/>
              </a:rPr>
              <a:t>A person answers only the gaps.</a:t>
            </a:r>
          </a:p>
          <a:p>
            <a:pPr algn="l">
              <a:lnSpc>
                <a:spcPct val="112000"/>
              </a:lnSpc>
              <a:spcAft>
                <a:spcPts val="300"/>
              </a:spcAft>
            </a:pPr>
          </a:p>
          <a:p>
            <a:pPr algn="l">
              <a:lnSpc>
                <a:spcPct val="112000"/>
              </a:lnSpc>
              <a:spcAft>
                <a:spcPts val="300"/>
              </a:spcAft>
            </a:pPr>
            <a:r>
              <a:rPr sz="1050" b="1" i="0">
                <a:solidFill>
                  <a:srgbClr val="6B3FA0"/>
                </a:solidFill>
                <a:latin typeface="Calibri"/>
              </a:rPr>
              <a:t>The same method for everything we make</a:t>
            </a:r>
          </a:p>
          <a:p>
            <a:pPr algn="l">
              <a:lnSpc>
                <a:spcPct val="112000"/>
              </a:lnSpc>
              <a:spcAft>
                <a:spcPts val="300"/>
              </a:spcAft>
            </a:pPr>
            <a:r>
              <a:rPr sz="1050" b="0" i="0">
                <a:solidFill>
                  <a:srgbClr val="3A4356"/>
                </a:solidFill>
                <a:latin typeface="Calibri"/>
              </a:rPr>
              <a:t>Metal, plastic, rubber, composites,</a:t>
            </a:r>
          </a:p>
          <a:p>
            <a:pPr algn="l">
              <a:lnSpc>
                <a:spcPct val="112000"/>
              </a:lnSpc>
              <a:spcAft>
                <a:spcPts val="300"/>
              </a:spcAft>
            </a:pPr>
            <a:r>
              <a:rPr sz="1050" b="0" i="0">
                <a:solidFill>
                  <a:srgbClr val="3A4356"/>
                </a:solidFill>
                <a:latin typeface="Calibri"/>
              </a:rPr>
              <a:t>electronics and assemblies.</a:t>
            </a:r>
          </a:p>
          <a:p>
            <a:pPr algn="l">
              <a:lnSpc>
                <a:spcPct val="112000"/>
              </a:lnSpc>
              <a:spcAft>
                <a:spcPts val="300"/>
              </a:spcAft>
            </a:pPr>
          </a:p>
          <a:p>
            <a:pPr algn="l">
              <a:lnSpc>
                <a:spcPct val="112000"/>
              </a:lnSpc>
              <a:spcAft>
                <a:spcPts val="300"/>
              </a:spcAft>
            </a:pPr>
            <a:r>
              <a:rPr sz="1050" b="1" i="0">
                <a:solidFill>
                  <a:srgbClr val="6B3FA0"/>
                </a:solidFill>
                <a:latin typeface="Calibri"/>
              </a:rPr>
              <a:t>We can cost electronics</a:t>
            </a:r>
          </a:p>
          <a:p>
            <a:pPr algn="l">
              <a:lnSpc>
                <a:spcPct val="112000"/>
              </a:lnSpc>
              <a:spcAft>
                <a:spcPts val="300"/>
              </a:spcAft>
            </a:pPr>
            <a:r>
              <a:rPr sz="1050" b="0" i="0">
                <a:solidFill>
                  <a:srgbClr val="3A4356"/>
                </a:solidFill>
                <a:latin typeface="Calibri"/>
              </a:rPr>
              <a:t>PCB fabrication, PCBA and wiring harness.</a:t>
            </a:r>
          </a:p>
          <a:p>
            <a:pPr algn="l">
              <a:lnSpc>
                <a:spcPct val="112000"/>
              </a:lnSpc>
              <a:spcAft>
                <a:spcPts val="300"/>
              </a:spcAft>
            </a:pPr>
            <a:r>
              <a:rPr sz="1050" b="0" i="0">
                <a:solidFill>
                  <a:srgbClr val="3A4356"/>
                </a:solidFill>
                <a:latin typeface="Calibri"/>
              </a:rPr>
              <a:t>A board photo needs the AI mode, off at JLR.</a:t>
            </a:r>
          </a:p>
          <a:p>
            <a:pPr algn="l">
              <a:lnSpc>
                <a:spcPct val="112000"/>
              </a:lnSpc>
              <a:spcAft>
                <a:spcPts val="300"/>
              </a:spcAft>
            </a:pPr>
          </a:p>
          <a:p>
            <a:pPr algn="l">
              <a:lnSpc>
                <a:spcPct val="112000"/>
              </a:lnSpc>
              <a:spcAft>
                <a:spcPts val="300"/>
              </a:spcAft>
            </a:pPr>
            <a:r>
              <a:rPr sz="1050" b="1" i="0">
                <a:solidFill>
                  <a:srgbClr val="6B3FA0"/>
                </a:solidFill>
                <a:latin typeface="Calibri"/>
              </a:rPr>
              <a:t>Software costed too</a:t>
            </a:r>
          </a:p>
          <a:p>
            <a:pPr algn="l">
              <a:lnSpc>
                <a:spcPct val="112000"/>
              </a:lnSpc>
              <a:spcAft>
                <a:spcPts val="300"/>
              </a:spcAft>
            </a:pPr>
            <a:r>
              <a:rPr sz="1050" b="0" i="0">
                <a:solidFill>
                  <a:srgbClr val="3A4356"/>
                </a:solidFill>
                <a:latin typeface="Calibri"/>
              </a:rPr>
              <a:t>A 49-module model, from powertrain and</a:t>
            </a:r>
          </a:p>
          <a:p>
            <a:pPr algn="l">
              <a:lnSpc>
                <a:spcPct val="112000"/>
              </a:lnSpc>
              <a:spcAft>
                <a:spcPts val="300"/>
              </a:spcAft>
            </a:pPr>
            <a:r>
              <a:rPr sz="1050" b="0" i="0">
                <a:solidFill>
                  <a:srgbClr val="3A4356"/>
                </a:solidFill>
                <a:latin typeface="Calibri"/>
              </a:rPr>
              <a:t>driver assistance through to cloud.</a:t>
            </a:r>
          </a:p>
        </p:txBody>
      </p:sp>
      <p:sp>
        <p:nvSpPr>
          <p:cNvPr id="17" name="TextBox 16"/>
          <p:cNvSpPr txBox="1"/>
          <p:nvPr/>
        </p:nvSpPr>
        <p:spPr>
          <a:xfrm>
            <a:off x="8087868" y="2267712"/>
            <a:ext cx="3488436" cy="3749040"/>
          </a:xfrm>
          <a:prstGeom prst="rect">
            <a:avLst/>
          </a:prstGeom>
          <a:noFill/>
        </p:spPr>
        <p:txBody>
          <a:bodyPr wrap="square" anchor="t" lIns="0" rIns="0" tIns="0" bIns="0">
            <a:spAutoFit/>
          </a:bodyPr>
          <a:lstStyle/>
          <a:p>
            <a:pPr algn="l">
              <a:lnSpc>
                <a:spcPct val="112000"/>
              </a:lnSpc>
              <a:spcAft>
                <a:spcPts val="300"/>
              </a:spcAft>
            </a:pPr>
            <a:r>
              <a:rPr sz="1050" b="1" i="0">
                <a:solidFill>
                  <a:srgbClr val="6B3FA0"/>
                </a:solidFill>
                <a:latin typeface="Calibri"/>
              </a:rPr>
              <a:t>Where a supplier price differs</a:t>
            </a:r>
          </a:p>
          <a:p>
            <a:pPr algn="l">
              <a:lnSpc>
                <a:spcPct val="112000"/>
              </a:lnSpc>
              <a:spcAft>
                <a:spcPts val="300"/>
              </a:spcAft>
            </a:pPr>
            <a:r>
              <a:rPr sz="1050" b="0" i="0">
                <a:solidFill>
                  <a:srgbClr val="3A4356"/>
                </a:solidFill>
                <a:latin typeface="Calibri"/>
              </a:rPr>
              <a:t>Their price next to our build-up, with the gap</a:t>
            </a:r>
          </a:p>
          <a:p>
            <a:pPr algn="l">
              <a:lnSpc>
                <a:spcPct val="112000"/>
              </a:lnSpc>
              <a:spcAft>
                <a:spcPts val="300"/>
              </a:spcAft>
            </a:pPr>
            <a:r>
              <a:rPr sz="1050" b="0" i="0">
                <a:solidFill>
                  <a:srgbClr val="3A4356"/>
                </a:solidFill>
                <a:latin typeface="Calibri"/>
              </a:rPr>
              <a:t>shown in each part of the cost.</a:t>
            </a:r>
          </a:p>
          <a:p>
            <a:pPr algn="l">
              <a:lnSpc>
                <a:spcPct val="112000"/>
              </a:lnSpc>
              <a:spcAft>
                <a:spcPts val="300"/>
              </a:spcAft>
            </a:pPr>
          </a:p>
          <a:p>
            <a:pPr algn="l">
              <a:lnSpc>
                <a:spcPct val="112000"/>
              </a:lnSpc>
              <a:spcAft>
                <a:spcPts val="300"/>
              </a:spcAft>
            </a:pPr>
            <a:r>
              <a:rPr sz="1050" b="1" i="0">
                <a:solidFill>
                  <a:srgbClr val="6B3FA0"/>
                </a:solidFill>
                <a:latin typeface="Calibri"/>
              </a:rPr>
              <a:t>And what to do about it</a:t>
            </a:r>
          </a:p>
          <a:p>
            <a:pPr algn="l">
              <a:lnSpc>
                <a:spcPct val="112000"/>
              </a:lnSpc>
              <a:spcAft>
                <a:spcPts val="300"/>
              </a:spcAft>
            </a:pPr>
            <a:r>
              <a:rPr sz="1050" b="0" i="0">
                <a:solidFill>
                  <a:srgbClr val="3A4356"/>
                </a:solidFill>
                <a:latin typeface="Calibri"/>
              </a:rPr>
              <a:t>What to go after, what to ask them, and what</a:t>
            </a:r>
          </a:p>
          <a:p>
            <a:pPr algn="l">
              <a:lnSpc>
                <a:spcPct val="112000"/>
              </a:lnSpc>
              <a:spcAft>
                <a:spcPts val="300"/>
              </a:spcAft>
            </a:pPr>
            <a:r>
              <a:rPr sz="1050" b="0" i="0">
                <a:solidFill>
                  <a:srgbClr val="3A4356"/>
                </a:solidFill>
                <a:latin typeface="Calibri"/>
              </a:rPr>
              <a:t>it is worth over a year.</a:t>
            </a:r>
          </a:p>
          <a:p>
            <a:pPr algn="l">
              <a:lnSpc>
                <a:spcPct val="112000"/>
              </a:lnSpc>
              <a:spcAft>
                <a:spcPts val="300"/>
              </a:spcAft>
            </a:pPr>
          </a:p>
          <a:p>
            <a:pPr algn="l">
              <a:lnSpc>
                <a:spcPct val="112000"/>
              </a:lnSpc>
              <a:spcAft>
                <a:spcPts val="300"/>
              </a:spcAft>
            </a:pPr>
            <a:r>
              <a:rPr sz="1050" b="1" i="0">
                <a:solidFill>
                  <a:srgbClr val="6B3FA0"/>
                </a:solidFill>
                <a:latin typeface="Calibri"/>
              </a:rPr>
              <a:t>A whole RFQ pack costed</a:t>
            </a:r>
          </a:p>
          <a:p>
            <a:pPr algn="l">
              <a:lnSpc>
                <a:spcPct val="112000"/>
              </a:lnSpc>
              <a:spcAft>
                <a:spcPts val="300"/>
              </a:spcAft>
            </a:pPr>
            <a:r>
              <a:rPr sz="1050" b="0" i="0">
                <a:solidFill>
                  <a:srgbClr val="3A4356"/>
                </a:solidFill>
                <a:latin typeface="Calibri"/>
              </a:rPr>
              <a:t>Line items read out and priced. Needs the AI</a:t>
            </a:r>
          </a:p>
          <a:p>
            <a:pPr algn="l">
              <a:lnSpc>
                <a:spcPct val="112000"/>
              </a:lnSpc>
              <a:spcAft>
                <a:spcPts val="300"/>
              </a:spcAft>
            </a:pPr>
            <a:r>
              <a:rPr sz="1050" b="0" i="0">
                <a:solidFill>
                  <a:srgbClr val="3A4356"/>
                </a:solidFill>
                <a:latin typeface="Calibri"/>
              </a:rPr>
              <a:t>mode, which is off at JLR.</a:t>
            </a:r>
          </a:p>
          <a:p>
            <a:pPr algn="l">
              <a:lnSpc>
                <a:spcPct val="112000"/>
              </a:lnSpc>
              <a:spcAft>
                <a:spcPts val="300"/>
              </a:spcAft>
            </a:pPr>
          </a:p>
          <a:p>
            <a:pPr algn="l">
              <a:lnSpc>
                <a:spcPct val="112000"/>
              </a:lnSpc>
              <a:spcAft>
                <a:spcPts val="300"/>
              </a:spcAft>
            </a:pPr>
            <a:r>
              <a:rPr sz="1050" b="1" i="0">
                <a:solidFill>
                  <a:srgbClr val="6B3FA0"/>
                </a:solidFill>
                <a:latin typeface="Calibri"/>
              </a:rPr>
              <a:t>Design changes with a price on them</a:t>
            </a:r>
          </a:p>
          <a:p>
            <a:pPr algn="l">
              <a:lnSpc>
                <a:spcPct val="112000"/>
              </a:lnSpc>
              <a:spcAft>
                <a:spcPts val="300"/>
              </a:spcAft>
            </a:pPr>
            <a:r>
              <a:rPr sz="1050" b="0" i="0">
                <a:solidFill>
                  <a:srgbClr val="3A4356"/>
                </a:solidFill>
                <a:latin typeface="Calibri"/>
              </a:rPr>
              <a:t>What makes the part expensive, and an</a:t>
            </a:r>
          </a:p>
          <a:p>
            <a:pPr algn="l">
              <a:lnSpc>
                <a:spcPct val="112000"/>
              </a:lnSpc>
              <a:spcAft>
                <a:spcPts val="300"/>
              </a:spcAft>
            </a:pPr>
            <a:r>
              <a:rPr sz="1050" b="0" i="0">
                <a:solidFill>
                  <a:srgbClr val="3A4356"/>
                </a:solidFill>
                <a:latin typeface="Calibri"/>
              </a:rPr>
              <a:t>estimated saving for each change.</a:t>
            </a:r>
          </a:p>
        </p:txBody>
      </p:sp>
      <p:sp>
        <p:nvSpPr>
          <p:cNvPr id="18" name="Rounded Rectangle 17"/>
          <p:cNvSpPr/>
          <p:nvPr/>
        </p:nvSpPr>
        <p:spPr>
          <a:xfrm>
            <a:off x="411480" y="6163056"/>
            <a:ext cx="11365992" cy="603504"/>
          </a:xfrm>
          <a:prstGeom prst="roundRect">
            <a:avLst>
              <a:gd name="adj" fmla="val 12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11480" y="6163056"/>
            <a:ext cx="68580" cy="603504"/>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 y="6281928"/>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2A7F50"/>
                </a:solidFill>
                <a:latin typeface="Calibri"/>
              </a:rPr>
              <a:t>The two build on each other</a:t>
            </a:r>
          </a:p>
        </p:txBody>
      </p:sp>
      <p:sp>
        <p:nvSpPr>
          <p:cNvPr id="21" name="TextBox 20"/>
          <p:cNvSpPr txBox="1"/>
          <p:nvPr/>
        </p:nvSpPr>
        <p:spPr>
          <a:xfrm>
            <a:off x="630936" y="6565392"/>
            <a:ext cx="10954512" cy="109728"/>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Option 1's benefits arrive first and are kept when Option 2 lands; Option 2's rest on the accuracy figure Option 1 produces.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20040" y="201168"/>
            <a:ext cx="384048" cy="384048"/>
          </a:xfrm>
          <a:prstGeom prst="roundRect">
            <a:avLst>
              <a:gd name="adj" fmla="val 28000"/>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cv</a:t>
            </a:r>
          </a:p>
        </p:txBody>
      </p:sp>
      <p:sp>
        <p:nvSpPr>
          <p:cNvPr id="4" name="TextBox 3"/>
          <p:cNvSpPr txBox="1"/>
          <p:nvPr/>
        </p:nvSpPr>
        <p:spPr>
          <a:xfrm>
            <a:off x="795528" y="173736"/>
            <a:ext cx="2377440" cy="292608"/>
          </a:xfrm>
          <a:prstGeom prst="rect">
            <a:avLst/>
          </a:prstGeom>
          <a:noFill/>
        </p:spPr>
        <p:txBody>
          <a:bodyPr wrap="square" anchor="t" lIns="0" rIns="0" tIns="0" bIns="0">
            <a:spAutoFit/>
          </a:bodyPr>
          <a:lstStyle/>
          <a:p>
            <a:pPr algn="l">
              <a:lnSpc>
                <a:spcPct val="100000"/>
              </a:lnSpc>
              <a:spcAft>
                <a:spcPts val="400"/>
              </a:spcAft>
            </a:pPr>
            <a:r>
              <a:rPr sz="1800" b="1" i="0">
                <a:solidFill>
                  <a:srgbClr val="1D6FB8"/>
                </a:solidFill>
                <a:latin typeface="Calibri"/>
              </a:rPr>
              <a:t>CostVision</a:t>
            </a:r>
          </a:p>
        </p:txBody>
      </p:sp>
      <p:sp>
        <p:nvSpPr>
          <p:cNvPr id="5" name="Rectangle 4"/>
          <p:cNvSpPr/>
          <p:nvPr/>
        </p:nvSpPr>
        <p:spPr>
          <a:xfrm>
            <a:off x="0" y="713232"/>
            <a:ext cx="12191695" cy="27940"/>
          </a:xfrm>
          <a:prstGeom prst="rect">
            <a:avLst/>
          </a:prstGeom>
          <a:solidFill>
            <a:srgbClr val="1632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868680"/>
            <a:ext cx="10515600" cy="274320"/>
          </a:xfrm>
          <a:prstGeom prst="rect">
            <a:avLst/>
          </a:prstGeom>
          <a:noFill/>
        </p:spPr>
        <p:txBody>
          <a:bodyPr wrap="square" anchor="t" lIns="0" rIns="0" tIns="0" bIns="0">
            <a:spAutoFit/>
          </a:bodyPr>
          <a:lstStyle/>
          <a:p>
            <a:pPr algn="l">
              <a:lnSpc>
                <a:spcPct val="100000"/>
              </a:lnSpc>
              <a:spcAft>
                <a:spcPts val="400"/>
              </a:spcAft>
            </a:pPr>
            <a:r>
              <a:rPr sz="1100" b="1" i="0">
                <a:solidFill>
                  <a:srgbClr val="1D6FB8"/>
                </a:solidFill>
                <a:latin typeface="Calibri"/>
              </a:rPr>
              <a:t>THE DECISION</a:t>
            </a:r>
          </a:p>
        </p:txBody>
      </p:sp>
      <p:sp>
        <p:nvSpPr>
          <p:cNvPr id="7" name="TextBox 6"/>
          <p:cNvSpPr txBox="1"/>
          <p:nvPr/>
        </p:nvSpPr>
        <p:spPr>
          <a:xfrm>
            <a:off x="411480" y="1115568"/>
            <a:ext cx="11338560" cy="548640"/>
          </a:xfrm>
          <a:prstGeom prst="rect">
            <a:avLst/>
          </a:prstGeom>
          <a:noFill/>
        </p:spPr>
        <p:txBody>
          <a:bodyPr wrap="square" anchor="t" lIns="0" rIns="0" tIns="0" bIns="0">
            <a:spAutoFit/>
          </a:bodyPr>
          <a:lstStyle/>
          <a:p>
            <a:pPr algn="l">
              <a:lnSpc>
                <a:spcPct val="100000"/>
              </a:lnSpc>
              <a:spcAft>
                <a:spcPts val="400"/>
              </a:spcAft>
            </a:pPr>
            <a:r>
              <a:rPr sz="2700" b="1" i="0">
                <a:solidFill>
                  <a:srgbClr val="16325C"/>
                </a:solidFill>
                <a:latin typeface="Cambria"/>
              </a:rPr>
              <a:t>What we are asking for</a:t>
            </a:r>
          </a:p>
        </p:txBody>
      </p:sp>
      <p:sp>
        <p:nvSpPr>
          <p:cNvPr id="8" name="Rounded Rectangle 7"/>
          <p:cNvSpPr/>
          <p:nvPr/>
        </p:nvSpPr>
        <p:spPr>
          <a:xfrm>
            <a:off x="411480" y="1572768"/>
            <a:ext cx="5577840" cy="96012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572768"/>
            <a:ext cx="68580" cy="96012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1700784"/>
            <a:ext cx="5212080" cy="27432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OPTION 1 · a decision today</a:t>
            </a:r>
          </a:p>
        </p:txBody>
      </p:sp>
      <p:sp>
        <p:nvSpPr>
          <p:cNvPr id="11" name="TextBox 10"/>
          <p:cNvSpPr txBox="1"/>
          <p:nvPr/>
        </p:nvSpPr>
        <p:spPr>
          <a:xfrm>
            <a:off x="612648" y="2011680"/>
            <a:ext cx="5212080" cy="411480"/>
          </a:xfrm>
          <a:prstGeom prst="rect">
            <a:avLst/>
          </a:prstGeom>
          <a:noFill/>
        </p:spPr>
        <p:txBody>
          <a:bodyPr wrap="square" anchor="t" lIns="0" rIns="0" tIns="0" bIns="0">
            <a:spAutoFit/>
          </a:bodyPr>
          <a:lstStyle/>
          <a:p>
            <a:pPr algn="l">
              <a:lnSpc>
                <a:spcPct val="112000"/>
              </a:lnSpc>
              <a:spcAft>
                <a:spcPts val="300"/>
              </a:spcAft>
            </a:pPr>
            <a:r>
              <a:rPr sz="1050" b="0" i="0">
                <a:solidFill>
                  <a:srgbClr val="3A4356"/>
                </a:solidFill>
                <a:latin typeface="Calibri"/>
              </a:rPr>
              <a:t>Approve the trial. One commodity, 30 to 50 parts we have</a:t>
            </a:r>
          </a:p>
          <a:p>
            <a:pPr algn="l">
              <a:lnSpc>
                <a:spcPct val="112000"/>
              </a:lnSpc>
              <a:spcAft>
                <a:spcPts val="300"/>
              </a:spcAft>
            </a:pPr>
            <a:r>
              <a:rPr sz="1050" b="0" i="0">
                <a:solidFill>
                  <a:srgbClr val="3A4356"/>
                </a:solidFill>
                <a:latin typeface="Calibri"/>
              </a:rPr>
              <a:t>already bought, inside CAPEE.</a:t>
            </a:r>
          </a:p>
        </p:txBody>
      </p:sp>
      <p:sp>
        <p:nvSpPr>
          <p:cNvPr id="12" name="Rounded Rectangle 11"/>
          <p:cNvSpPr/>
          <p:nvPr/>
        </p:nvSpPr>
        <p:spPr>
          <a:xfrm>
            <a:off x="6199632" y="1572768"/>
            <a:ext cx="5577840" cy="960120"/>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572768"/>
            <a:ext cx="68580" cy="96012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700784"/>
            <a:ext cx="5212080" cy="27432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OPTION 2 · no decision today</a:t>
            </a:r>
          </a:p>
        </p:txBody>
      </p:sp>
      <p:sp>
        <p:nvSpPr>
          <p:cNvPr id="15" name="TextBox 14"/>
          <p:cNvSpPr txBox="1"/>
          <p:nvPr/>
        </p:nvSpPr>
        <p:spPr>
          <a:xfrm>
            <a:off x="6400800" y="2011680"/>
            <a:ext cx="5212080" cy="411480"/>
          </a:xfrm>
          <a:prstGeom prst="rect">
            <a:avLst/>
          </a:prstGeom>
          <a:noFill/>
        </p:spPr>
        <p:txBody>
          <a:bodyPr wrap="square" anchor="t" lIns="0" rIns="0" tIns="0" bIns="0">
            <a:spAutoFit/>
          </a:bodyPr>
          <a:lstStyle/>
          <a:p>
            <a:pPr algn="l">
              <a:lnSpc>
                <a:spcPct val="112000"/>
              </a:lnSpc>
              <a:spcAft>
                <a:spcPts val="300"/>
              </a:spcAft>
            </a:pPr>
            <a:r>
              <a:rPr sz="1050" b="0" i="0">
                <a:solidFill>
                  <a:srgbClr val="3A4356"/>
                </a:solidFill>
                <a:latin typeface="Calibri"/>
              </a:rPr>
              <a:t>The bulk run is built and needs no AI. Load our own</a:t>
            </a:r>
          </a:p>
          <a:p>
            <a:pPr algn="l">
              <a:lnSpc>
                <a:spcPct val="112000"/>
              </a:lnSpc>
              <a:spcAft>
                <a:spcPts val="300"/>
              </a:spcAft>
            </a:pPr>
            <a:r>
              <a:rPr sz="1050" b="0" i="0">
                <a:solidFill>
                  <a:srgbClr val="3A4356"/>
                </a:solidFill>
                <a:latin typeface="Calibri"/>
              </a:rPr>
              <a:t>rates and try it on one basket after the trial.</a:t>
            </a:r>
          </a:p>
        </p:txBody>
      </p:sp>
      <p:sp>
        <p:nvSpPr>
          <p:cNvPr id="16" name="Rounded Rectangle 15"/>
          <p:cNvSpPr/>
          <p:nvPr/>
        </p:nvSpPr>
        <p:spPr>
          <a:xfrm>
            <a:off x="411480" y="2642616"/>
            <a:ext cx="5577840" cy="1207008"/>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642616"/>
            <a:ext cx="68580" cy="1207008"/>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2770632"/>
            <a:ext cx="5212080" cy="27432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OPTION 1 NEEDS</a:t>
            </a:r>
          </a:p>
        </p:txBody>
      </p:sp>
      <p:sp>
        <p:nvSpPr>
          <p:cNvPr id="19" name="TextBox 18"/>
          <p:cNvSpPr txBox="1"/>
          <p:nvPr/>
        </p:nvSpPr>
        <p:spPr>
          <a:xfrm>
            <a:off x="612648" y="3081528"/>
            <a:ext cx="5212080" cy="658368"/>
          </a:xfrm>
          <a:prstGeom prst="rect">
            <a:avLst/>
          </a:prstGeom>
          <a:noFill/>
        </p:spPr>
        <p:txBody>
          <a:bodyPr wrap="square" anchor="t" lIns="0" rIns="0" tIns="0" bIns="0">
            <a:spAutoFit/>
          </a:bodyPr>
          <a:lstStyle/>
          <a:p>
            <a:pPr algn="l">
              <a:lnSpc>
                <a:spcPct val="112000"/>
              </a:lnSpc>
              <a:spcAft>
                <a:spcPts val="300"/>
              </a:spcAft>
            </a:pPr>
            <a:r>
              <a:rPr sz="1050" b="0" i="0">
                <a:solidFill>
                  <a:srgbClr val="3A4356"/>
                </a:solidFill>
                <a:latin typeface="Calibri"/>
              </a:rPr>
              <a:t>A server or laptop to measure on, and a way to pass numbers into CAPEE</a:t>
            </a:r>
          </a:p>
          <a:p>
            <a:pPr algn="l">
              <a:lnSpc>
                <a:spcPct val="112000"/>
              </a:lnSpc>
              <a:spcAft>
                <a:spcPts val="300"/>
              </a:spcAft>
            </a:pPr>
            <a:r>
              <a:rPr sz="1050" b="0" i="0">
                <a:solidFill>
                  <a:srgbClr val="3A4356"/>
                </a:solidFill>
                <a:latin typeface="Calibri"/>
              </a:rPr>
              <a:t>30 to 50 parts where we know the price we paid</a:t>
            </a:r>
          </a:p>
          <a:p>
            <a:pPr algn="l">
              <a:lnSpc>
                <a:spcPct val="112000"/>
              </a:lnSpc>
              <a:spcAft>
                <a:spcPts val="300"/>
              </a:spcAft>
            </a:pPr>
            <a:r>
              <a:rPr sz="1050" b="0" i="0">
                <a:solidFill>
                  <a:srgbClr val="3A4356"/>
                </a:solidFill>
                <a:latin typeface="Calibri"/>
              </a:rPr>
              <a:t>An engineer from the commodity team for the trial</a:t>
            </a:r>
          </a:p>
        </p:txBody>
      </p:sp>
      <p:sp>
        <p:nvSpPr>
          <p:cNvPr id="20" name="Rounded Rectangle 19"/>
          <p:cNvSpPr/>
          <p:nvPr/>
        </p:nvSpPr>
        <p:spPr>
          <a:xfrm>
            <a:off x="6199632" y="2642616"/>
            <a:ext cx="5577840" cy="1207008"/>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9632" y="2642616"/>
            <a:ext cx="68580" cy="1207008"/>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770632"/>
            <a:ext cx="5212080" cy="274320"/>
          </a:xfrm>
          <a:prstGeom prst="rect">
            <a:avLst/>
          </a:prstGeom>
          <a:noFill/>
        </p:spPr>
        <p:txBody>
          <a:bodyPr wrap="square" anchor="t" lIns="0" rIns="0" tIns="0" bIns="0">
            <a:spAutoFit/>
          </a:bodyPr>
          <a:lstStyle/>
          <a:p>
            <a:pPr algn="l">
              <a:lnSpc>
                <a:spcPct val="100000"/>
              </a:lnSpc>
              <a:spcAft>
                <a:spcPts val="400"/>
              </a:spcAft>
            </a:pPr>
            <a:r>
              <a:rPr sz="1300" b="1" i="0">
                <a:solidFill>
                  <a:srgbClr val="16325C"/>
                </a:solidFill>
                <a:latin typeface="Calibri"/>
              </a:rPr>
              <a:t>OPTION 2 NEEDS</a:t>
            </a:r>
          </a:p>
        </p:txBody>
      </p:sp>
      <p:sp>
        <p:nvSpPr>
          <p:cNvPr id="23" name="TextBox 22"/>
          <p:cNvSpPr txBox="1"/>
          <p:nvPr/>
        </p:nvSpPr>
        <p:spPr>
          <a:xfrm>
            <a:off x="6400800" y="3081528"/>
            <a:ext cx="5212080" cy="658368"/>
          </a:xfrm>
          <a:prstGeom prst="rect">
            <a:avLst/>
          </a:prstGeom>
          <a:noFill/>
        </p:spPr>
        <p:txBody>
          <a:bodyPr wrap="square" anchor="t" lIns="0" rIns="0" tIns="0" bIns="0">
            <a:spAutoFit/>
          </a:bodyPr>
          <a:lstStyle/>
          <a:p>
            <a:pPr algn="l">
              <a:lnSpc>
                <a:spcPct val="112000"/>
              </a:lnSpc>
              <a:spcAft>
                <a:spcPts val="300"/>
              </a:spcAft>
            </a:pPr>
            <a:r>
              <a:rPr sz="1050" b="0" i="0">
                <a:solidFill>
                  <a:srgbClr val="3A4356"/>
                </a:solidFill>
                <a:latin typeface="Calibri"/>
              </a:rPr>
              <a:t>Everything above, plus our own rate card, loaded</a:t>
            </a:r>
          </a:p>
          <a:p>
            <a:pPr algn="l">
              <a:lnSpc>
                <a:spcPct val="112000"/>
              </a:lnSpc>
              <a:spcAft>
                <a:spcPts val="300"/>
              </a:spcAft>
            </a:pPr>
            <a:r>
              <a:rPr sz="1050" b="0" i="0">
                <a:solidFill>
                  <a:srgbClr val="3A4356"/>
                </a:solidFill>
                <a:latin typeface="Calibri"/>
              </a:rPr>
              <a:t>through the JLR Rate Converter (no macros)</a:t>
            </a:r>
          </a:p>
          <a:p>
            <a:pPr algn="l">
              <a:lnSpc>
                <a:spcPct val="112000"/>
              </a:lnSpc>
              <a:spcAft>
                <a:spcPts val="300"/>
              </a:spcAft>
            </a:pPr>
            <a:r>
              <a:rPr sz="1050" b="0" i="0">
                <a:solidFill>
                  <a:srgbClr val="3A4356"/>
                </a:solidFill>
                <a:latin typeface="Calibri"/>
              </a:rPr>
              <a:t>AI approval only if we want the three AI features</a:t>
            </a:r>
          </a:p>
        </p:txBody>
      </p:sp>
      <p:sp>
        <p:nvSpPr>
          <p:cNvPr id="24" name="Rounded Rectangle 23"/>
          <p:cNvSpPr/>
          <p:nvPr/>
        </p:nvSpPr>
        <p:spPr>
          <a:xfrm>
            <a:off x="411480" y="3959352"/>
            <a:ext cx="11365992" cy="822960"/>
          </a:xfrm>
          <a:prstGeom prst="roundRect">
            <a:avLst>
              <a:gd name="adj" fmla="val 12000"/>
            </a:avLst>
          </a:prstGeom>
          <a:solidFill>
            <a:srgbClr val="EA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 y="3959352"/>
            <a:ext cx="68580" cy="822960"/>
          </a:xfrm>
          <a:prstGeom prst="rect">
            <a:avLst/>
          </a:prstGeom>
          <a:solidFill>
            <a:srgbClr val="2A7F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 y="4078224"/>
            <a:ext cx="10954512" cy="256032"/>
          </a:xfrm>
          <a:prstGeom prst="rect">
            <a:avLst/>
          </a:prstGeom>
          <a:noFill/>
        </p:spPr>
        <p:txBody>
          <a:bodyPr wrap="square" anchor="t" lIns="0" rIns="0" tIns="0" bIns="0">
            <a:spAutoFit/>
          </a:bodyPr>
          <a:lstStyle/>
          <a:p>
            <a:pPr algn="l">
              <a:lnSpc>
                <a:spcPct val="100000"/>
              </a:lnSpc>
              <a:spcAft>
                <a:spcPts val="400"/>
              </a:spcAft>
            </a:pPr>
            <a:r>
              <a:rPr sz="1200" b="1" i="0">
                <a:solidFill>
                  <a:srgbClr val="2A7F50"/>
                </a:solidFill>
                <a:latin typeface="Calibri"/>
              </a:rPr>
              <a:t>What the trial gives us</a:t>
            </a:r>
          </a:p>
        </p:txBody>
      </p:sp>
      <p:sp>
        <p:nvSpPr>
          <p:cNvPr id="27" name="TextBox 26"/>
          <p:cNvSpPr txBox="1"/>
          <p:nvPr/>
        </p:nvSpPr>
        <p:spPr>
          <a:xfrm>
            <a:off x="630936" y="4361688"/>
            <a:ext cx="10954512" cy="320040"/>
          </a:xfrm>
          <a:prstGeom prst="rect">
            <a:avLst/>
          </a:prstGeom>
          <a:noFill/>
        </p:spPr>
        <p:txBody>
          <a:bodyPr wrap="square" anchor="t" lIns="0" rIns="0" tIns="0" bIns="0">
            <a:spAutoFit/>
          </a:bodyPr>
          <a:lstStyle/>
          <a:p>
            <a:pPr algn="l">
              <a:lnSpc>
                <a:spcPct val="114000"/>
              </a:lnSpc>
              <a:spcAft>
                <a:spcPts val="300"/>
              </a:spcAft>
            </a:pPr>
            <a:r>
              <a:rPr sz="1050" b="0" i="0">
                <a:solidFill>
                  <a:srgbClr val="3A4356"/>
                </a:solidFill>
                <a:latin typeface="Calibri"/>
              </a:rPr>
              <a:t>The two numbers nobody in this company can state today: how close the tool gets to a price we actually paid, and how much of the input it fills on its own. Until we have them there is no honest conversation to be had about Option 2.</a:t>
            </a:r>
          </a:p>
        </p:txBody>
      </p:sp>
      <p:sp>
        <p:nvSpPr>
          <p:cNvPr id="28" name="Rounded Rectangle 27"/>
          <p:cNvSpPr/>
          <p:nvPr/>
        </p:nvSpPr>
        <p:spPr>
          <a:xfrm>
            <a:off x="411480" y="4901184"/>
            <a:ext cx="11365992" cy="530352"/>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 y="4901184"/>
            <a:ext cx="68580" cy="530352"/>
          </a:xfrm>
          <a:prstGeom prst="rect">
            <a:avLst/>
          </a:prstGeom>
          <a:solidFill>
            <a:srgbClr val="1D6F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 y="5038344"/>
            <a:ext cx="2651760" cy="256032"/>
          </a:xfrm>
          <a:prstGeom prst="rect">
            <a:avLst/>
          </a:prstGeom>
          <a:noFill/>
        </p:spPr>
        <p:txBody>
          <a:bodyPr wrap="square" anchor="t" lIns="0" rIns="0" tIns="0" bIns="0">
            <a:spAutoFit/>
          </a:bodyPr>
          <a:lstStyle/>
          <a:p>
            <a:pPr algn="l">
              <a:lnSpc>
                <a:spcPct val="100000"/>
              </a:lnSpc>
              <a:spcAft>
                <a:spcPts val="400"/>
              </a:spcAft>
            </a:pPr>
            <a:r>
              <a:rPr sz="1080" b="1" i="0">
                <a:solidFill>
                  <a:srgbClr val="1D6FB8"/>
                </a:solidFill>
                <a:latin typeface="Calibri"/>
              </a:rPr>
              <a:t>The rule that does not bend</a:t>
            </a:r>
          </a:p>
        </p:txBody>
      </p:sp>
      <p:sp>
        <p:nvSpPr>
          <p:cNvPr id="31" name="TextBox 30"/>
          <p:cNvSpPr txBox="1"/>
          <p:nvPr/>
        </p:nvSpPr>
        <p:spPr>
          <a:xfrm>
            <a:off x="3429000" y="5038344"/>
            <a:ext cx="8119872" cy="256032"/>
          </a:xfrm>
          <a:prstGeom prst="rect">
            <a:avLst/>
          </a:prstGeom>
          <a:noFill/>
        </p:spPr>
        <p:txBody>
          <a:bodyPr wrap="square" anchor="t" lIns="0" rIns="0" tIns="0" bIns="0">
            <a:spAutoFit/>
          </a:bodyPr>
          <a:lstStyle/>
          <a:p>
            <a:pPr algn="l">
              <a:lnSpc>
                <a:spcPct val="100000"/>
              </a:lnSpc>
              <a:spcAft>
                <a:spcPts val="400"/>
              </a:spcAft>
            </a:pPr>
            <a:r>
              <a:rPr sz="1019" b="0" i="0">
                <a:solidFill>
                  <a:srgbClr val="3A4356"/>
                </a:solidFill>
                <a:latin typeface="Calibri"/>
              </a:rPr>
              <a:t>AI is off at JLR. Even when on, it never sets a price. The money is plain arithmetic on our rate book.</a:t>
            </a:r>
          </a:p>
        </p:txBody>
      </p:sp>
      <p:sp>
        <p:nvSpPr>
          <p:cNvPr id="32" name="Rounded Rectangle 31"/>
          <p:cNvSpPr/>
          <p:nvPr/>
        </p:nvSpPr>
        <p:spPr>
          <a:xfrm>
            <a:off x="411480" y="5468112"/>
            <a:ext cx="11365992" cy="530352"/>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11480" y="5468112"/>
            <a:ext cx="68580" cy="530352"/>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936" y="5605272"/>
            <a:ext cx="2651760" cy="256032"/>
          </a:xfrm>
          <a:prstGeom prst="rect">
            <a:avLst/>
          </a:prstGeom>
          <a:noFill/>
        </p:spPr>
        <p:txBody>
          <a:bodyPr wrap="square" anchor="t" lIns="0" rIns="0" tIns="0" bIns="0">
            <a:spAutoFit/>
          </a:bodyPr>
          <a:lstStyle/>
          <a:p>
            <a:pPr algn="l">
              <a:lnSpc>
                <a:spcPct val="100000"/>
              </a:lnSpc>
              <a:spcAft>
                <a:spcPts val="400"/>
              </a:spcAft>
            </a:pPr>
            <a:r>
              <a:rPr sz="1080" b="1" i="0">
                <a:solidFill>
                  <a:srgbClr val="99651A"/>
                </a:solidFill>
                <a:latin typeface="Calibri"/>
              </a:rPr>
              <a:t>If the trial disappoints</a:t>
            </a:r>
          </a:p>
        </p:txBody>
      </p:sp>
      <p:sp>
        <p:nvSpPr>
          <p:cNvPr id="35" name="TextBox 34"/>
          <p:cNvSpPr txBox="1"/>
          <p:nvPr/>
        </p:nvSpPr>
        <p:spPr>
          <a:xfrm>
            <a:off x="3429000" y="5605272"/>
            <a:ext cx="8119872" cy="256032"/>
          </a:xfrm>
          <a:prstGeom prst="rect">
            <a:avLst/>
          </a:prstGeom>
          <a:noFill/>
        </p:spPr>
        <p:txBody>
          <a:bodyPr wrap="square" anchor="t" lIns="0" rIns="0" tIns="0" bIns="0">
            <a:spAutoFit/>
          </a:bodyPr>
          <a:lstStyle/>
          <a:p>
            <a:pPr algn="l">
              <a:lnSpc>
                <a:spcPct val="100000"/>
              </a:lnSpc>
              <a:spcAft>
                <a:spcPts val="400"/>
              </a:spcAft>
            </a:pPr>
            <a:r>
              <a:rPr sz="1019" b="0" i="0">
                <a:solidFill>
                  <a:srgbClr val="3A4356"/>
                </a:solidFill>
                <a:latin typeface="Calibri"/>
              </a:rPr>
              <a:t>Never yet checked against a price JLR paid. If the answer is poor, we stop, having spent only our own time.</a:t>
            </a:r>
          </a:p>
        </p:txBody>
      </p:sp>
      <p:sp>
        <p:nvSpPr>
          <p:cNvPr id="36" name="Rounded Rectangle 35"/>
          <p:cNvSpPr/>
          <p:nvPr/>
        </p:nvSpPr>
        <p:spPr>
          <a:xfrm>
            <a:off x="411480" y="6035040"/>
            <a:ext cx="11365992" cy="530352"/>
          </a:xfrm>
          <a:prstGeom prst="roundRect">
            <a:avLst>
              <a:gd name="adj" fmla="val 12000"/>
            </a:avLst>
          </a:prstGeom>
          <a:solidFill>
            <a:srgbClr val="FFFFFF"/>
          </a:solidFill>
          <a:ln w="9525">
            <a:solidFill>
              <a:srgbClr val="DCE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1480" y="6035040"/>
            <a:ext cx="68580" cy="530352"/>
          </a:xfrm>
          <a:prstGeom prst="rect">
            <a:avLst/>
          </a:prstGeom>
          <a:solidFill>
            <a:srgbClr val="9965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 y="6172200"/>
            <a:ext cx="2651760" cy="256032"/>
          </a:xfrm>
          <a:prstGeom prst="rect">
            <a:avLst/>
          </a:prstGeom>
          <a:noFill/>
        </p:spPr>
        <p:txBody>
          <a:bodyPr wrap="square" anchor="t" lIns="0" rIns="0" tIns="0" bIns="0">
            <a:spAutoFit/>
          </a:bodyPr>
          <a:lstStyle/>
          <a:p>
            <a:pPr algn="l">
              <a:lnSpc>
                <a:spcPct val="100000"/>
              </a:lnSpc>
              <a:spcAft>
                <a:spcPts val="400"/>
              </a:spcAft>
            </a:pPr>
            <a:r>
              <a:rPr sz="1080" b="1" i="0">
                <a:solidFill>
                  <a:srgbClr val="99651A"/>
                </a:solidFill>
                <a:latin typeface="Calibri"/>
              </a:rPr>
              <a:t>Nobody has sized this yet</a:t>
            </a:r>
          </a:p>
        </p:txBody>
      </p:sp>
      <p:sp>
        <p:nvSpPr>
          <p:cNvPr id="39" name="TextBox 38"/>
          <p:cNvSpPr txBox="1"/>
          <p:nvPr/>
        </p:nvSpPr>
        <p:spPr>
          <a:xfrm>
            <a:off x="3429000" y="6172200"/>
            <a:ext cx="8119872" cy="256032"/>
          </a:xfrm>
          <a:prstGeom prst="rect">
            <a:avLst/>
          </a:prstGeom>
          <a:noFill/>
        </p:spPr>
        <p:txBody>
          <a:bodyPr wrap="square" anchor="t" lIns="0" rIns="0" tIns="0" bIns="0">
            <a:spAutoFit/>
          </a:bodyPr>
          <a:lstStyle/>
          <a:p>
            <a:pPr algn="l">
              <a:lnSpc>
                <a:spcPct val="100000"/>
              </a:lnSpc>
              <a:spcAft>
                <a:spcPts val="400"/>
              </a:spcAft>
            </a:pPr>
            <a:r>
              <a:rPr sz="1019" b="0" i="0">
                <a:solidFill>
                  <a:srgbClr val="3A4356"/>
                </a:solidFill>
                <a:latin typeface="Calibri"/>
              </a:rPr>
              <a:t>How long it takes waits on one answer from IT about how CAPEE is built. The sizing comes back with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