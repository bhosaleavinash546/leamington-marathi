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what we do well, because the proposal is not a criticism of it. We cost parts properly. The method is bottom-up, it covers every commodity, and it is the number we would defend in front of a supplier. That is worth protecting and nothing I am about to propose changes it. What I want to talk about is the effort. Every one of those costings is set up by hand. A person chooses the material, the process and the machine. A person opens the 3D model and the drawing, reads the geometry and the tolerances, and types them in. Depending on the commodity that is somewhere between twelve and sixty-nine values per part, and those counts come straight off our own input forms. And when the economics move, somebody goes back in and updates the rates by hand. None of that is wrong. It is just slow, and it is why we cost the parts we have time for rather than the parts we would like to. The green strip is the whole idea in one line. Same method, same defensible answer, with the manual work taken out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deliberately narrow. CAPEE does not move. It still does the costing, on the same screens, with the same maths, and nobody has to learn a new tool. The only thing that changes is where the input comes from. The engineer attaches the 3D model from inside CAPEE. The software measures it on a JLR server with no internet connection, and fixed rules turn those measurements into the values the form wants. The engineer then confirms the handful of things a 3D model genuinely cannot show, and CAPEE costs the part. The green card is what we get for free once the model is attached: weight, size, surface area, wall thickness, the hole and pocket counts, and so on. The amber card is the honest limit. The model cannot tell us what the part is made of. Steel and aluminium look identical in a 3D file and the weight differs by about three times, so somebody answers that, or it comes off the part master. Same for tolerance class, finish and heat treatment. The tool asks rather than guessing. The point of the blue strip is the one I would make to this room: there is no AI in this option at all, so it does not wait on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two is a different thing and I want to be clear it is not just Option one at a bigger scale. Take the three rows in turn. The first is the one that changes what we can promise the business. Today we cost the parts we have engineer-hours for, and the rest of a basket gets estimated from a sample or taken from what the supplier last quoted. With this, a list of parts and their models goes in and every single one gets costed from its own geometry, with a report per part and per basket. The second row is where the AI sits, and I want to be precise about what it does and does not do. It does the setting up: it picks the process route and the machine, fills in what the geometry gives it, and comes back to a person with one question rather than a hundred, which then gets applied across every part that question affects. What it does not do is set a price. The money is still worked out by the same fixed rules we use today, so the answer is still one we can defend line by line. The third row is the part I would not want to lose. These are things we cannot do at all at the moment. Put a supplier quote next to our own build-up and the tool tells you which bucket the gap is in and what to ask them about it. On a machined part quoted twenty-eight per cent above our cost it came back with the gap by bucket, the recovery levers and the questions to put to the supplier. Savings ideas get a price on them rather than sitting on a list. It compares ten countries side by side to show where a part should be made. And as we feed it prices we have actually paid, it tightens its own confidence range. The red strip is what has to be in place first, and the first item on it is the AI approval. I have put it there deliberately rather than leaving it for somebody to raise.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and it is two things: what it is worth, and what I want from you. The two cards at the top are what each option needs, and the difference between them is the reason for doing them in this order. Option one needs a server, a way into CAPEE, and some parts where we know what we paid. Option two needs all of that plus the AI approval, our rate book, and a few things built around the engine. Now the table, and I want to be straight about why it is empty. I have not put a saving on this slide, because we have never timed how long this job actually takes us and we have never compared this tool against a price we have paid. Any number I put there would be my estimate dressed up as a measurement, and the first person to ask where it came from would be right to. Four of these five are yours and you can get them in a week. The fifth, E, is what the trial measures. Put your numbers in and the three boxes underneath fill themselves in — hours we spend typing today, hours we would get back, and how many more parts that time would cost. That is a case you own rather than one I have handed you. And the ask is deliberately small. One commodity, thirty to fifty parts we have already bought, our own time. What it buys is the two numbers that make the Option two conversation possible. In parallel I would start the AI approval, because that is the long pole on Option two and there is no reason to wait for the trial to finish before beginning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image" Target="../media/image8.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The method is sound; the effort is manual — 12 to 69 values typed in for every part.</a:t>
            </a:r>
          </a:p>
        </p:txBody>
      </p:sp>
      <p:sp>
        <p:nvSpPr>
          <p:cNvPr id="10" name="Rounded Rectangle 9"/>
          <p:cNvSpPr/>
          <p:nvPr/>
        </p:nvSpPr>
        <p:spPr>
          <a:xfrm>
            <a:off x="411480" y="1883664"/>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83664"/>
            <a:ext cx="68580" cy="868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png"/>
          <p:cNvPicPr>
            <a:picLocks noChangeAspect="1"/>
          </p:cNvPicPr>
          <p:nvPr/>
        </p:nvPicPr>
        <p:blipFill>
          <a:blip r:embed="rId2"/>
          <a:stretch>
            <a:fillRect/>
          </a:stretch>
        </p:blipFill>
        <p:spPr>
          <a:xfrm>
            <a:off x="801014" y="2186330"/>
            <a:ext cx="263348" cy="263348"/>
          </a:xfrm>
          <a:prstGeom prst="rect">
            <a:avLst/>
          </a:prstGeom>
        </p:spPr>
      </p:pic>
      <p:sp>
        <p:nvSpPr>
          <p:cNvPr id="13" name="TextBox 12"/>
          <p:cNvSpPr txBox="1"/>
          <p:nvPr/>
        </p:nvSpPr>
        <p:spPr>
          <a:xfrm>
            <a:off x="1417320" y="2029968"/>
            <a:ext cx="10131552"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Trusted and thorough</a:t>
            </a:r>
          </a:p>
        </p:txBody>
      </p:sp>
      <p:sp>
        <p:nvSpPr>
          <p:cNvPr id="14" name="TextBox 13"/>
          <p:cNvSpPr txBox="1"/>
          <p:nvPr/>
        </p:nvSpPr>
        <p:spPr>
          <a:xfrm>
            <a:off x="1417320" y="2313432"/>
            <a:ext cx="10131552" cy="365760"/>
          </a:xfrm>
          <a:prstGeom prst="rect">
            <a:avLst/>
          </a:prstGeom>
          <a:noFill/>
        </p:spPr>
        <p:txBody>
          <a:bodyPr wrap="square" anchor="t" lIns="0" rIns="0" tIns="0" bIns="0">
            <a:spAutoFit/>
          </a:bodyPr>
          <a:lstStyle/>
          <a:p>
            <a:pPr algn="l">
              <a:lnSpc>
                <a:spcPct val="113000"/>
              </a:lnSpc>
              <a:spcAft>
                <a:spcPts val="400"/>
              </a:spcAft>
            </a:pPr>
            <a:r>
              <a:rPr sz="1019" b="0" i="0">
                <a:solidFill>
                  <a:srgbClr val="3A4356"/>
                </a:solidFill>
                <a:latin typeface="Calibri"/>
              </a:rPr>
              <a:t>A rigorous bottom-up method, applied across every commodity we buy.</a:t>
            </a:r>
          </a:p>
        </p:txBody>
      </p:sp>
      <p:sp>
        <p:nvSpPr>
          <p:cNvPr id="15" name="Rounded Rectangle 14"/>
          <p:cNvSpPr/>
          <p:nvPr/>
        </p:nvSpPr>
        <p:spPr>
          <a:xfrm>
            <a:off x="411480" y="2816352"/>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816352"/>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8368" y="2976372"/>
            <a:ext cx="548640" cy="54864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erson.png"/>
          <p:cNvPicPr>
            <a:picLocks noChangeAspect="1"/>
          </p:cNvPicPr>
          <p:nvPr/>
        </p:nvPicPr>
        <p:blipFill>
          <a:blip r:embed="rId3"/>
          <a:stretch>
            <a:fillRect/>
          </a:stretch>
        </p:blipFill>
        <p:spPr>
          <a:xfrm>
            <a:off x="801014" y="3119018"/>
            <a:ext cx="263348" cy="263348"/>
          </a:xfrm>
          <a:prstGeom prst="rect">
            <a:avLst/>
          </a:prstGeom>
        </p:spPr>
      </p:pic>
      <p:sp>
        <p:nvSpPr>
          <p:cNvPr id="19" name="TextBox 18"/>
          <p:cNvSpPr txBox="1"/>
          <p:nvPr/>
        </p:nvSpPr>
        <p:spPr>
          <a:xfrm>
            <a:off x="1417320" y="2962656"/>
            <a:ext cx="10131552"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Hands-on setup</a:t>
            </a:r>
          </a:p>
        </p:txBody>
      </p:sp>
      <p:sp>
        <p:nvSpPr>
          <p:cNvPr id="20" name="TextBox 19"/>
          <p:cNvSpPr txBox="1"/>
          <p:nvPr/>
        </p:nvSpPr>
        <p:spPr>
          <a:xfrm>
            <a:off x="1417320" y="3246120"/>
            <a:ext cx="10131552" cy="365760"/>
          </a:xfrm>
          <a:prstGeom prst="rect">
            <a:avLst/>
          </a:prstGeom>
          <a:noFill/>
        </p:spPr>
        <p:txBody>
          <a:bodyPr wrap="square" anchor="t" lIns="0" rIns="0" tIns="0" bIns="0">
            <a:spAutoFit/>
          </a:bodyPr>
          <a:lstStyle/>
          <a:p>
            <a:pPr algn="l">
              <a:lnSpc>
                <a:spcPct val="113000"/>
              </a:lnSpc>
              <a:spcAft>
                <a:spcPts val="400"/>
              </a:spcAft>
            </a:pPr>
            <a:r>
              <a:rPr sz="1019" b="0" i="0">
                <a:solidFill>
                  <a:srgbClr val="3A4356"/>
                </a:solidFill>
                <a:latin typeface="Calibri"/>
              </a:rPr>
              <a:t>Material, process and machine are chosen by a person, part by part.</a:t>
            </a:r>
          </a:p>
        </p:txBody>
      </p:sp>
      <p:sp>
        <p:nvSpPr>
          <p:cNvPr id="21" name="Rounded Rectangle 20"/>
          <p:cNvSpPr/>
          <p:nvPr/>
        </p:nvSpPr>
        <p:spPr>
          <a:xfrm>
            <a:off x="411480" y="3749040"/>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749040"/>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58368" y="3909060"/>
            <a:ext cx="548640" cy="54864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lip.png"/>
          <p:cNvPicPr>
            <a:picLocks noChangeAspect="1"/>
          </p:cNvPicPr>
          <p:nvPr/>
        </p:nvPicPr>
        <p:blipFill>
          <a:blip r:embed="rId4"/>
          <a:stretch>
            <a:fillRect/>
          </a:stretch>
        </p:blipFill>
        <p:spPr>
          <a:xfrm>
            <a:off x="801014" y="4051706"/>
            <a:ext cx="263348" cy="263348"/>
          </a:xfrm>
          <a:prstGeom prst="rect">
            <a:avLst/>
          </a:prstGeom>
        </p:spPr>
      </p:pic>
      <p:sp>
        <p:nvSpPr>
          <p:cNvPr id="25" name="TextBox 24"/>
          <p:cNvSpPr txBox="1"/>
          <p:nvPr/>
        </p:nvSpPr>
        <p:spPr>
          <a:xfrm>
            <a:off x="1417320" y="3895344"/>
            <a:ext cx="10131552"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Manual data entry</a:t>
            </a:r>
          </a:p>
        </p:txBody>
      </p:sp>
      <p:sp>
        <p:nvSpPr>
          <p:cNvPr id="26" name="TextBox 25"/>
          <p:cNvSpPr txBox="1"/>
          <p:nvPr/>
        </p:nvSpPr>
        <p:spPr>
          <a:xfrm>
            <a:off x="1417320" y="4178808"/>
            <a:ext cx="10131552" cy="365760"/>
          </a:xfrm>
          <a:prstGeom prst="rect">
            <a:avLst/>
          </a:prstGeom>
          <a:noFill/>
        </p:spPr>
        <p:txBody>
          <a:bodyPr wrap="square" anchor="t" lIns="0" rIns="0" tIns="0" bIns="0">
            <a:spAutoFit/>
          </a:bodyPr>
          <a:lstStyle/>
          <a:p>
            <a:pPr algn="l">
              <a:lnSpc>
                <a:spcPct val="113000"/>
              </a:lnSpc>
              <a:spcAft>
                <a:spcPts val="400"/>
              </a:spcAft>
            </a:pPr>
            <a:r>
              <a:rPr sz="1019" b="0" i="0">
                <a:solidFill>
                  <a:srgbClr val="3A4356"/>
                </a:solidFill>
                <a:latin typeface="Calibri"/>
              </a:rPr>
              <a:t>Geometry and tolerances are read off the 3D model and the drawing, then typed in.</a:t>
            </a:r>
          </a:p>
        </p:txBody>
      </p:sp>
      <p:sp>
        <p:nvSpPr>
          <p:cNvPr id="27" name="Rounded Rectangle 26"/>
          <p:cNvSpPr/>
          <p:nvPr/>
        </p:nvSpPr>
        <p:spPr>
          <a:xfrm>
            <a:off x="411480" y="4681728"/>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81728"/>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58368" y="4841748"/>
            <a:ext cx="548640" cy="54864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lock.png"/>
          <p:cNvPicPr>
            <a:picLocks noChangeAspect="1"/>
          </p:cNvPicPr>
          <p:nvPr/>
        </p:nvPicPr>
        <p:blipFill>
          <a:blip r:embed="rId5"/>
          <a:stretch>
            <a:fillRect/>
          </a:stretch>
        </p:blipFill>
        <p:spPr>
          <a:xfrm>
            <a:off x="801014" y="4984394"/>
            <a:ext cx="263348" cy="263348"/>
          </a:xfrm>
          <a:prstGeom prst="rect">
            <a:avLst/>
          </a:prstGeom>
        </p:spPr>
      </p:pic>
      <p:sp>
        <p:nvSpPr>
          <p:cNvPr id="31" name="TextBox 30"/>
          <p:cNvSpPr txBox="1"/>
          <p:nvPr/>
        </p:nvSpPr>
        <p:spPr>
          <a:xfrm>
            <a:off x="1417320" y="4828032"/>
            <a:ext cx="10131552"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Updated by hand</a:t>
            </a:r>
          </a:p>
        </p:txBody>
      </p:sp>
      <p:sp>
        <p:nvSpPr>
          <p:cNvPr id="32" name="TextBox 31"/>
          <p:cNvSpPr txBox="1"/>
          <p:nvPr/>
        </p:nvSpPr>
        <p:spPr>
          <a:xfrm>
            <a:off x="1417320" y="5111496"/>
            <a:ext cx="10131552" cy="365760"/>
          </a:xfrm>
          <a:prstGeom prst="rect">
            <a:avLst/>
          </a:prstGeom>
          <a:noFill/>
        </p:spPr>
        <p:txBody>
          <a:bodyPr wrap="square" anchor="t" lIns="0" rIns="0" tIns="0" bIns="0">
            <a:spAutoFit/>
          </a:bodyPr>
          <a:lstStyle/>
          <a:p>
            <a:pPr algn="l">
              <a:lnSpc>
                <a:spcPct val="113000"/>
              </a:lnSpc>
              <a:spcAft>
                <a:spcPts val="400"/>
              </a:spcAft>
            </a:pPr>
            <a:r>
              <a:rPr sz="1019" b="0" i="0">
                <a:solidFill>
                  <a:srgbClr val="3A4356"/>
                </a:solidFill>
                <a:latin typeface="Calibri"/>
              </a:rPr>
              <a:t>Rates and inputs are refreshed manually as the economics move.</a:t>
            </a:r>
          </a:p>
        </p:txBody>
      </p:sp>
      <p:sp>
        <p:nvSpPr>
          <p:cNvPr id="33" name="Rounded Rectangle 32"/>
          <p:cNvSpPr/>
          <p:nvPr/>
        </p:nvSpPr>
        <p:spPr>
          <a:xfrm>
            <a:off x="411480" y="5669280"/>
            <a:ext cx="11365992"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5669280"/>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 y="57881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step forward: the same defensible should-cost, with the manual work automated</a:t>
            </a:r>
          </a:p>
        </p:txBody>
      </p:sp>
      <p:sp>
        <p:nvSpPr>
          <p:cNvPr id="36" name="TextBox 35"/>
          <p:cNvSpPr txBox="1"/>
          <p:nvPr/>
        </p:nvSpPr>
        <p:spPr>
          <a:xfrm>
            <a:off x="630936" y="607161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Reads the 3D model only, so no AI is involved.</a:t>
            </a:r>
          </a:p>
        </p:txBody>
      </p:sp>
      <p:sp>
        <p:nvSpPr>
          <p:cNvPr id="10" name="Rounded Rectangle 9"/>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342521" y="2122505"/>
            <a:ext cx="272126" cy="272126"/>
          </a:xfrm>
          <a:prstGeom prst="rect">
            <a:avLst/>
          </a:prstGeom>
        </p:spPr>
      </p:pic>
      <p:sp>
        <p:nvSpPr>
          <p:cNvPr id="14" name="TextBox 13"/>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5" name="TextBox 14"/>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6" name="Right Arrow 15"/>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650466" y="2122505"/>
            <a:ext cx="272126" cy="272126"/>
          </a:xfrm>
          <a:prstGeom prst="rect">
            <a:avLst/>
          </a:prstGeom>
        </p:spPr>
      </p:pic>
      <p:sp>
        <p:nvSpPr>
          <p:cNvPr id="21" name="TextBox 20"/>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2" name="TextBox 21"/>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3" name="Right Arrow 22"/>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5958411" y="2122505"/>
            <a:ext cx="272126" cy="272126"/>
          </a:xfrm>
          <a:prstGeom prst="rect">
            <a:avLst/>
          </a:prstGeom>
        </p:spPr>
      </p:pic>
      <p:sp>
        <p:nvSpPr>
          <p:cNvPr id="28" name="TextBox 27"/>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9" name="TextBox 28"/>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30" name="Right Arrow 29"/>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35315" y="1810512"/>
            <a:ext cx="2134209"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18955" y="1975104"/>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8266356" y="2122505"/>
            <a:ext cx="272126" cy="272126"/>
          </a:xfrm>
          <a:prstGeom prst="rect">
            <a:avLst/>
          </a:prstGeom>
        </p:spPr>
      </p:pic>
      <p:sp>
        <p:nvSpPr>
          <p:cNvPr id="35" name="TextBox 34"/>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6" name="TextBox 35"/>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7" name="Right Arrow 36"/>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643260" y="1810512"/>
            <a:ext cx="2134209"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426900" y="1975104"/>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10574301" y="2122505"/>
            <a:ext cx="272126" cy="272126"/>
          </a:xfrm>
          <a:prstGeom prst="rect">
            <a:avLst/>
          </a:prstGeom>
        </p:spPr>
      </p:pic>
      <p:sp>
        <p:nvSpPr>
          <p:cNvPr id="42" name="TextBox 41"/>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3" name="TextBox 42"/>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4" name="Rounded Rectangle 43"/>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3675887"/>
            <a:ext cx="68580"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7" name="TextBox 46"/>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8" name="Rounded Rectangle 47"/>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99632" y="3675887"/>
            <a:ext cx="68580" cy="1874519"/>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1" name="TextBox 50"/>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2" name="Rounded Rectangle 51"/>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5" name="TextBox 54"/>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ordinary engineering software, the same kind of geometry engine that sits inside a CAD package, and the values are filled in by fixed rules. There is no AI in this option, so it needs no AI approval. The file is read on a JLR server and never leaves it,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should-cost that runs by itself</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This is not Option 1 at a larger scale. It is three things we cannot do at all today.</a:t>
            </a:r>
          </a:p>
        </p:txBody>
      </p:sp>
      <p:sp>
        <p:nvSpPr>
          <p:cNvPr id="10" name="Rounded Rectangle 9"/>
          <p:cNvSpPr/>
          <p:nvPr/>
        </p:nvSpPr>
        <p:spPr>
          <a:xfrm>
            <a:off x="411480" y="1865376"/>
            <a:ext cx="11365992" cy="117043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65376"/>
            <a:ext cx="68580" cy="117043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176272"/>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801014" y="2318918"/>
            <a:ext cx="263348" cy="263348"/>
          </a:xfrm>
          <a:prstGeom prst="rect">
            <a:avLst/>
          </a:prstGeom>
        </p:spPr>
      </p:pic>
      <p:sp>
        <p:nvSpPr>
          <p:cNvPr id="14" name="TextBox 13"/>
          <p:cNvSpPr txBox="1"/>
          <p:nvPr/>
        </p:nvSpPr>
        <p:spPr>
          <a:xfrm>
            <a:off x="1417320" y="2011680"/>
            <a:ext cx="10131552"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Cost the whole basket, not a sample</a:t>
            </a:r>
          </a:p>
        </p:txBody>
      </p:sp>
      <p:sp>
        <p:nvSpPr>
          <p:cNvPr id="15" name="TextBox 14"/>
          <p:cNvSpPr txBox="1"/>
          <p:nvPr/>
        </p:nvSpPr>
        <p:spPr>
          <a:xfrm>
            <a:off x="1417320" y="2295144"/>
            <a:ext cx="10131552" cy="667512"/>
          </a:xfrm>
          <a:prstGeom prst="rect">
            <a:avLst/>
          </a:prstGeom>
          <a:noFill/>
        </p:spPr>
        <p:txBody>
          <a:bodyPr wrap="square" anchor="t" lIns="0" rIns="0" tIns="0" bIns="0">
            <a:spAutoFit/>
          </a:bodyPr>
          <a:lstStyle/>
          <a:p>
            <a:pPr algn="l">
              <a:lnSpc>
                <a:spcPct val="113000"/>
              </a:lnSpc>
              <a:spcAft>
                <a:spcPts val="400"/>
              </a:spcAft>
            </a:pPr>
            <a:r>
              <a:rPr sz="1000" b="0" i="0">
                <a:solidFill>
                  <a:srgbClr val="3A4356"/>
                </a:solidFill>
                <a:latin typeface="Calibri"/>
              </a:rPr>
              <a:t>A list of parts and their 3D models goes in. Every part is costed from its own geometry, and a report comes out for each part and for the basket. Today we cost what we have hours for and estimate the rest from a sample.</a:t>
            </a:r>
          </a:p>
        </p:txBody>
      </p:sp>
      <p:sp>
        <p:nvSpPr>
          <p:cNvPr id="16" name="Rounded Rectangle 15"/>
          <p:cNvSpPr/>
          <p:nvPr/>
        </p:nvSpPr>
        <p:spPr>
          <a:xfrm>
            <a:off x="411480" y="3108960"/>
            <a:ext cx="11365992" cy="117043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08960"/>
            <a:ext cx="68580" cy="117043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419856"/>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g.png"/>
          <p:cNvPicPr>
            <a:picLocks noChangeAspect="1"/>
          </p:cNvPicPr>
          <p:nvPr/>
        </p:nvPicPr>
        <p:blipFill>
          <a:blip r:embed="rId3"/>
          <a:stretch>
            <a:fillRect/>
          </a:stretch>
        </p:blipFill>
        <p:spPr>
          <a:xfrm>
            <a:off x="801014" y="3562502"/>
            <a:ext cx="263348" cy="263348"/>
          </a:xfrm>
          <a:prstGeom prst="rect">
            <a:avLst/>
          </a:prstGeom>
        </p:spPr>
      </p:pic>
      <p:sp>
        <p:nvSpPr>
          <p:cNvPr id="20" name="TextBox 19"/>
          <p:cNvSpPr txBox="1"/>
          <p:nvPr/>
        </p:nvSpPr>
        <p:spPr>
          <a:xfrm>
            <a:off x="1417320" y="3255264"/>
            <a:ext cx="10131552"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An assistant does the setting up</a:t>
            </a:r>
          </a:p>
        </p:txBody>
      </p:sp>
      <p:sp>
        <p:nvSpPr>
          <p:cNvPr id="21" name="TextBox 20"/>
          <p:cNvSpPr txBox="1"/>
          <p:nvPr/>
        </p:nvSpPr>
        <p:spPr>
          <a:xfrm>
            <a:off x="1417320" y="3538728"/>
            <a:ext cx="10131552" cy="667512"/>
          </a:xfrm>
          <a:prstGeom prst="rect">
            <a:avLst/>
          </a:prstGeom>
          <a:noFill/>
        </p:spPr>
        <p:txBody>
          <a:bodyPr wrap="square" anchor="t" lIns="0" rIns="0" tIns="0" bIns="0">
            <a:spAutoFit/>
          </a:bodyPr>
          <a:lstStyle/>
          <a:p>
            <a:pPr algn="l">
              <a:lnSpc>
                <a:spcPct val="113000"/>
              </a:lnSpc>
              <a:spcAft>
                <a:spcPts val="400"/>
              </a:spcAft>
            </a:pPr>
            <a:r>
              <a:rPr sz="1000" b="0" i="0">
                <a:solidFill>
                  <a:srgbClr val="3A4356"/>
                </a:solidFill>
                <a:latin typeface="Calibri"/>
              </a:rPr>
              <a:t>An AI assistant picks the process route and the machine, fills in what the geometry gives, and comes back with one question instead of a hundred — answered once and applied to every part it affects. It never sets a price: the money is worked out by the same fixed rules as today.</a:t>
            </a:r>
          </a:p>
        </p:txBody>
      </p:sp>
      <p:sp>
        <p:nvSpPr>
          <p:cNvPr id="22" name="Rounded Rectangle 21"/>
          <p:cNvSpPr/>
          <p:nvPr/>
        </p:nvSpPr>
        <p:spPr>
          <a:xfrm>
            <a:off x="411480" y="4352544"/>
            <a:ext cx="11365992" cy="117043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352544"/>
            <a:ext cx="68580" cy="11704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66344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801014" y="4806086"/>
            <a:ext cx="263348" cy="263348"/>
          </a:xfrm>
          <a:prstGeom prst="rect">
            <a:avLst/>
          </a:prstGeom>
        </p:spPr>
      </p:pic>
      <p:sp>
        <p:nvSpPr>
          <p:cNvPr id="26" name="TextBox 25"/>
          <p:cNvSpPr txBox="1"/>
          <p:nvPr/>
        </p:nvSpPr>
        <p:spPr>
          <a:xfrm>
            <a:off x="1417320" y="4498848"/>
            <a:ext cx="10131552"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Answers we cannot get today</a:t>
            </a:r>
          </a:p>
        </p:txBody>
      </p:sp>
      <p:sp>
        <p:nvSpPr>
          <p:cNvPr id="27" name="TextBox 26"/>
          <p:cNvSpPr txBox="1"/>
          <p:nvPr/>
        </p:nvSpPr>
        <p:spPr>
          <a:xfrm>
            <a:off x="1417320" y="4782312"/>
            <a:ext cx="10131552" cy="667512"/>
          </a:xfrm>
          <a:prstGeom prst="rect">
            <a:avLst/>
          </a:prstGeom>
          <a:noFill/>
        </p:spPr>
        <p:txBody>
          <a:bodyPr wrap="square" anchor="t" lIns="0" rIns="0" tIns="0" bIns="0">
            <a:spAutoFit/>
          </a:bodyPr>
          <a:lstStyle/>
          <a:p>
            <a:pPr algn="l">
              <a:lnSpc>
                <a:spcPct val="113000"/>
              </a:lnSpc>
              <a:spcAft>
                <a:spcPts val="400"/>
              </a:spcAft>
            </a:pPr>
            <a:r>
              <a:rPr sz="1000" b="0" i="0">
                <a:solidFill>
                  <a:srgbClr val="3A4356"/>
                </a:solidFill>
                <a:latin typeface="Calibri"/>
              </a:rPr>
              <a:t>Put a supplier quote next to our own build-up and see which part of it the gap is in, with the questions to ask them. Savings ideas priced rather than just listed. Where a part should be made, ten countries side by side. What happens if the metal price or the volume moves. And the tool narrows its own range as we feed it prices we have actually paid.</a:t>
            </a:r>
          </a:p>
        </p:txBody>
      </p:sp>
      <p:sp>
        <p:nvSpPr>
          <p:cNvPr id="28" name="Rectangle 27"/>
          <p:cNvSpPr/>
          <p:nvPr/>
        </p:nvSpPr>
        <p:spPr>
          <a:xfrm>
            <a:off x="411480" y="5632704"/>
            <a:ext cx="113659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632704"/>
            <a:ext cx="1371600" cy="56692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632704"/>
            <a:ext cx="13716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FIRST WE NEED</a:t>
            </a:r>
          </a:p>
        </p:txBody>
      </p:sp>
      <p:sp>
        <p:nvSpPr>
          <p:cNvPr id="31" name="TextBox 30"/>
          <p:cNvSpPr txBox="1"/>
          <p:nvPr/>
        </p:nvSpPr>
        <p:spPr>
          <a:xfrm>
            <a:off x="1892808" y="5751576"/>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Approval to use AI</a:t>
            </a:r>
          </a:p>
        </p:txBody>
      </p:sp>
      <p:sp>
        <p:nvSpPr>
          <p:cNvPr id="32" name="Rectangle 31"/>
          <p:cNvSpPr/>
          <p:nvPr/>
        </p:nvSpPr>
        <p:spPr>
          <a:xfrm>
            <a:off x="3781958"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891686" y="5751576"/>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Our own rate book</a:t>
            </a:r>
          </a:p>
        </p:txBody>
      </p:sp>
      <p:sp>
        <p:nvSpPr>
          <p:cNvPr id="34" name="Rectangle 33"/>
          <p:cNvSpPr/>
          <p:nvPr/>
        </p:nvSpPr>
        <p:spPr>
          <a:xfrm>
            <a:off x="5780836"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90564" y="5751576"/>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A history of rate changes</a:t>
            </a:r>
          </a:p>
        </p:txBody>
      </p:sp>
      <p:sp>
        <p:nvSpPr>
          <p:cNvPr id="36" name="Rectangle 35"/>
          <p:cNvSpPr/>
          <p:nvPr/>
        </p:nvSpPr>
        <p:spPr>
          <a:xfrm>
            <a:off x="7779715"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9443" y="5751576"/>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A record of every costing</a:t>
            </a:r>
          </a:p>
        </p:txBody>
      </p:sp>
      <p:sp>
        <p:nvSpPr>
          <p:cNvPr id="38" name="Rectangle 37"/>
          <p:cNvSpPr/>
          <p:nvPr/>
        </p:nvSpPr>
        <p:spPr>
          <a:xfrm>
            <a:off x="9778593"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888321" y="5751576"/>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The run itself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is worth, and what we are asking for</a:t>
            </a:r>
          </a:p>
        </p:txBody>
      </p:sp>
      <p:sp>
        <p:nvSpPr>
          <p:cNvPr id="9" name="Rounded Rectangle 8"/>
          <p:cNvSpPr/>
          <p:nvPr/>
        </p:nvSpPr>
        <p:spPr>
          <a:xfrm>
            <a:off x="411480" y="1554480"/>
            <a:ext cx="5577840" cy="113385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554480"/>
            <a:ext cx="68580" cy="11338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68249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12" name="TextBox 11"/>
          <p:cNvSpPr txBox="1"/>
          <p:nvPr/>
        </p:nvSpPr>
        <p:spPr>
          <a:xfrm>
            <a:off x="612648" y="1993392"/>
            <a:ext cx="5212080" cy="585216"/>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Linux server,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One part type and a small team for the trial</a:t>
            </a:r>
          </a:p>
        </p:txBody>
      </p:sp>
      <p:sp>
        <p:nvSpPr>
          <p:cNvPr id="13" name="Rounded Rectangle 12"/>
          <p:cNvSpPr/>
          <p:nvPr/>
        </p:nvSpPr>
        <p:spPr>
          <a:xfrm>
            <a:off x="6199632" y="1554480"/>
            <a:ext cx="5577840" cy="113385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554480"/>
            <a:ext cx="68580" cy="113385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16" name="TextBox 15"/>
          <p:cNvSpPr txBox="1"/>
          <p:nvPr/>
        </p:nvSpPr>
        <p:spPr>
          <a:xfrm>
            <a:off x="6400800" y="1993392"/>
            <a:ext cx="5212080" cy="585216"/>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approval to use AI</a:t>
            </a:r>
          </a:p>
          <a:p>
            <a:pPr algn="l">
              <a:lnSpc>
                <a:spcPct val="112000"/>
              </a:lnSpc>
              <a:spcAft>
                <a:spcPts val="300"/>
              </a:spcAft>
            </a:pPr>
            <a:r>
              <a:rPr sz="1050" b="0" i="0">
                <a:solidFill>
                  <a:srgbClr val="3A4356"/>
                </a:solidFill>
                <a:latin typeface="Calibri"/>
              </a:rPr>
              <a:t>Our own rate book loaded, with a change history</a:t>
            </a:r>
          </a:p>
          <a:p>
            <a:pPr algn="l">
              <a:lnSpc>
                <a:spcPct val="112000"/>
              </a:lnSpc>
              <a:spcAft>
                <a:spcPts val="300"/>
              </a:spcAft>
            </a:pPr>
            <a:r>
              <a:rPr sz="1050" b="0" i="0">
                <a:solidFill>
                  <a:srgbClr val="3A4356"/>
                </a:solidFill>
                <a:latin typeface="Calibri"/>
              </a:rPr>
              <a:t>A record of every costing, and the run itself built</a:t>
            </a:r>
          </a:p>
        </p:txBody>
      </p:sp>
      <p:sp>
        <p:nvSpPr>
          <p:cNvPr id="17" name="TextBox 16"/>
          <p:cNvSpPr txBox="1"/>
          <p:nvPr/>
        </p:nvSpPr>
        <p:spPr>
          <a:xfrm>
            <a:off x="411480" y="2816352"/>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yours</a:t>
            </a:r>
          </a:p>
        </p:txBody>
      </p:sp>
      <p:sp>
        <p:nvSpPr>
          <p:cNvPr id="18" name="Rectangle 17"/>
          <p:cNvSpPr/>
          <p:nvPr/>
        </p:nvSpPr>
        <p:spPr>
          <a:xfrm>
            <a:off x="411480" y="3090672"/>
            <a:ext cx="4572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3172968"/>
            <a:ext cx="310896" cy="219456"/>
          </a:xfrm>
          <a:prstGeom prst="rect">
            <a:avLst/>
          </a:prstGeom>
          <a:noFill/>
        </p:spPr>
        <p:txBody>
          <a:bodyPr wrap="square" anchor="t" lIns="0" rIns="0" tIns="0" bIns="0">
            <a:spAutoFit/>
          </a:bodyPr>
          <a:lstStyle/>
          <a:p>
            <a:pPr algn="l">
              <a:lnSpc>
                <a:spcPct val="100000"/>
              </a:lnSpc>
              <a:spcAft>
                <a:spcPts val="400"/>
              </a:spcAft>
            </a:pPr>
          </a:p>
        </p:txBody>
      </p:sp>
      <p:sp>
        <p:nvSpPr>
          <p:cNvPr id="20" name="Rectangle 19"/>
          <p:cNvSpPr/>
          <p:nvPr/>
        </p:nvSpPr>
        <p:spPr>
          <a:xfrm>
            <a:off x="868680" y="3090672"/>
            <a:ext cx="48463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 y="3172968"/>
            <a:ext cx="47000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22" name="Rectangle 21"/>
          <p:cNvSpPr/>
          <p:nvPr/>
        </p:nvSpPr>
        <p:spPr>
          <a:xfrm>
            <a:off x="5715000" y="3090672"/>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3172968"/>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4" name="Rectangle 23"/>
          <p:cNvSpPr/>
          <p:nvPr/>
        </p:nvSpPr>
        <p:spPr>
          <a:xfrm>
            <a:off x="7269480" y="3090672"/>
            <a:ext cx="45079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1776" y="3172968"/>
            <a:ext cx="43616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Where it comes from</a:t>
            </a:r>
          </a:p>
        </p:txBody>
      </p:sp>
      <p:sp>
        <p:nvSpPr>
          <p:cNvPr id="26" name="Rectangle 25"/>
          <p:cNvSpPr/>
          <p:nvPr/>
        </p:nvSpPr>
        <p:spPr>
          <a:xfrm>
            <a:off x="411480" y="3419856"/>
            <a:ext cx="45720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483864"/>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a:t>
            </a:r>
          </a:p>
        </p:txBody>
      </p:sp>
      <p:sp>
        <p:nvSpPr>
          <p:cNvPr id="28" name="Rectangle 27"/>
          <p:cNvSpPr/>
          <p:nvPr/>
        </p:nvSpPr>
        <p:spPr>
          <a:xfrm>
            <a:off x="868680" y="3419856"/>
            <a:ext cx="484632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976" y="3483864"/>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Minutes to cost one part today</a:t>
            </a:r>
          </a:p>
        </p:txBody>
      </p:sp>
      <p:sp>
        <p:nvSpPr>
          <p:cNvPr id="30" name="Rectangle 29"/>
          <p:cNvSpPr/>
          <p:nvPr/>
        </p:nvSpPr>
        <p:spPr>
          <a:xfrm>
            <a:off x="5715000" y="3419856"/>
            <a:ext cx="155448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483864"/>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32" name="Rectangle 31"/>
          <p:cNvSpPr/>
          <p:nvPr/>
        </p:nvSpPr>
        <p:spPr>
          <a:xfrm>
            <a:off x="7269480" y="3419856"/>
            <a:ext cx="4507992"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51776" y="3483864"/>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Time a handful of parts. One commodity is enough to start</a:t>
            </a:r>
          </a:p>
        </p:txBody>
      </p:sp>
      <p:sp>
        <p:nvSpPr>
          <p:cNvPr id="34" name="Rectangle 33"/>
          <p:cNvSpPr/>
          <p:nvPr/>
        </p:nvSpPr>
        <p:spPr>
          <a:xfrm>
            <a:off x="411480" y="3703320"/>
            <a:ext cx="45720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767328"/>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B</a:t>
            </a:r>
          </a:p>
        </p:txBody>
      </p:sp>
      <p:sp>
        <p:nvSpPr>
          <p:cNvPr id="36" name="Rectangle 35"/>
          <p:cNvSpPr/>
          <p:nvPr/>
        </p:nvSpPr>
        <p:spPr>
          <a:xfrm>
            <a:off x="868680" y="3703320"/>
            <a:ext cx="484632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0976" y="3767328"/>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Of those, the minutes spent reading the model and typing values in</a:t>
            </a:r>
          </a:p>
        </p:txBody>
      </p:sp>
      <p:sp>
        <p:nvSpPr>
          <p:cNvPr id="38" name="Rectangle 37"/>
          <p:cNvSpPr/>
          <p:nvPr/>
        </p:nvSpPr>
        <p:spPr>
          <a:xfrm>
            <a:off x="5715000" y="3703320"/>
            <a:ext cx="155448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3767328"/>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40" name="Rectangle 39"/>
          <p:cNvSpPr/>
          <p:nvPr/>
        </p:nvSpPr>
        <p:spPr>
          <a:xfrm>
            <a:off x="7269480" y="3703320"/>
            <a:ext cx="4507992"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51776" y="3767328"/>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same exercise, timed separately</a:t>
            </a:r>
          </a:p>
        </p:txBody>
      </p:sp>
      <p:sp>
        <p:nvSpPr>
          <p:cNvPr id="42" name="Rectangle 41"/>
          <p:cNvSpPr/>
          <p:nvPr/>
        </p:nvSpPr>
        <p:spPr>
          <a:xfrm>
            <a:off x="411480" y="3986784"/>
            <a:ext cx="45720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050792"/>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C</a:t>
            </a:r>
          </a:p>
        </p:txBody>
      </p:sp>
      <p:sp>
        <p:nvSpPr>
          <p:cNvPr id="44" name="Rectangle 43"/>
          <p:cNvSpPr/>
          <p:nvPr/>
        </p:nvSpPr>
        <p:spPr>
          <a:xfrm>
            <a:off x="868680" y="3986784"/>
            <a:ext cx="484632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0976" y="4050792"/>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Parts we cost in a year</a:t>
            </a:r>
          </a:p>
        </p:txBody>
      </p:sp>
      <p:sp>
        <p:nvSpPr>
          <p:cNvPr id="46" name="Rectangle 45"/>
          <p:cNvSpPr/>
          <p:nvPr/>
        </p:nvSpPr>
        <p:spPr>
          <a:xfrm>
            <a:off x="5715000" y="3986784"/>
            <a:ext cx="155448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97296" y="4050792"/>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48" name="Rectangle 47"/>
          <p:cNvSpPr/>
          <p:nvPr/>
        </p:nvSpPr>
        <p:spPr>
          <a:xfrm>
            <a:off x="7269480" y="3986784"/>
            <a:ext cx="4507992"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51776" y="4050792"/>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Our own records</a:t>
            </a:r>
          </a:p>
        </p:txBody>
      </p:sp>
      <p:sp>
        <p:nvSpPr>
          <p:cNvPr id="50" name="Rectangle 49"/>
          <p:cNvSpPr/>
          <p:nvPr/>
        </p:nvSpPr>
        <p:spPr>
          <a:xfrm>
            <a:off x="411480" y="4270248"/>
            <a:ext cx="45720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34256"/>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D</a:t>
            </a:r>
          </a:p>
        </p:txBody>
      </p:sp>
      <p:sp>
        <p:nvSpPr>
          <p:cNvPr id="52" name="Rectangle 51"/>
          <p:cNvSpPr/>
          <p:nvPr/>
        </p:nvSpPr>
        <p:spPr>
          <a:xfrm>
            <a:off x="868680" y="4270248"/>
            <a:ext cx="484632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50976" y="4334256"/>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Parts in a typical basket we never cost individually</a:t>
            </a:r>
          </a:p>
        </p:txBody>
      </p:sp>
      <p:sp>
        <p:nvSpPr>
          <p:cNvPr id="54" name="Rectangle 53"/>
          <p:cNvSpPr/>
          <p:nvPr/>
        </p:nvSpPr>
        <p:spPr>
          <a:xfrm>
            <a:off x="5715000" y="4270248"/>
            <a:ext cx="155448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7296" y="4334256"/>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56" name="Rectangle 55"/>
          <p:cNvSpPr/>
          <p:nvPr/>
        </p:nvSpPr>
        <p:spPr>
          <a:xfrm>
            <a:off x="7269480" y="4270248"/>
            <a:ext cx="4507992"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351776" y="4334256"/>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Programme data. This is the ground Option 2 covers</a:t>
            </a:r>
          </a:p>
        </p:txBody>
      </p:sp>
      <p:sp>
        <p:nvSpPr>
          <p:cNvPr id="58" name="Rectangle 57"/>
          <p:cNvSpPr/>
          <p:nvPr/>
        </p:nvSpPr>
        <p:spPr>
          <a:xfrm>
            <a:off x="411480" y="4553712"/>
            <a:ext cx="45720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617720"/>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E</a:t>
            </a:r>
          </a:p>
        </p:txBody>
      </p:sp>
      <p:sp>
        <p:nvSpPr>
          <p:cNvPr id="60" name="Rectangle 59"/>
          <p:cNvSpPr/>
          <p:nvPr/>
        </p:nvSpPr>
        <p:spPr>
          <a:xfrm>
            <a:off x="868680" y="4553712"/>
            <a:ext cx="484632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50976" y="4617720"/>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Share of those values the software fills on its own</a:t>
            </a:r>
          </a:p>
        </p:txBody>
      </p:sp>
      <p:sp>
        <p:nvSpPr>
          <p:cNvPr id="62" name="Rectangle 61"/>
          <p:cNvSpPr/>
          <p:nvPr/>
        </p:nvSpPr>
        <p:spPr>
          <a:xfrm>
            <a:off x="5715000" y="4553712"/>
            <a:ext cx="155448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797296" y="4617720"/>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2E8B57"/>
                </a:solidFill>
                <a:latin typeface="Calibri"/>
              </a:rPr>
              <a:t>________</a:t>
            </a:r>
          </a:p>
        </p:txBody>
      </p:sp>
      <p:sp>
        <p:nvSpPr>
          <p:cNvPr id="64" name="Rectangle 63"/>
          <p:cNvSpPr/>
          <p:nvPr/>
        </p:nvSpPr>
        <p:spPr>
          <a:xfrm>
            <a:off x="7269480" y="4553712"/>
            <a:ext cx="4507992"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51776" y="4617720"/>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trial measures this, per commodity</a:t>
            </a:r>
          </a:p>
        </p:txBody>
      </p:sp>
      <p:sp>
        <p:nvSpPr>
          <p:cNvPr id="66" name="Rounded Rectangle 65"/>
          <p:cNvSpPr/>
          <p:nvPr/>
        </p:nvSpPr>
        <p:spPr>
          <a:xfrm>
            <a:off x="411480" y="4937760"/>
            <a:ext cx="3712463" cy="7315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4937760"/>
            <a:ext cx="3712463" cy="54864"/>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76072" y="5065776"/>
            <a:ext cx="3383279" cy="237744"/>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Hours spent typing today</a:t>
            </a:r>
          </a:p>
        </p:txBody>
      </p:sp>
      <p:sp>
        <p:nvSpPr>
          <p:cNvPr id="69" name="TextBox 68"/>
          <p:cNvSpPr txBox="1"/>
          <p:nvPr/>
        </p:nvSpPr>
        <p:spPr>
          <a:xfrm>
            <a:off x="576072" y="5321808"/>
            <a:ext cx="3383279" cy="274320"/>
          </a:xfrm>
          <a:prstGeom prst="rect">
            <a:avLst/>
          </a:prstGeom>
          <a:noFill/>
        </p:spPr>
        <p:txBody>
          <a:bodyPr wrap="square" anchor="t" lIns="0" rIns="0" tIns="0" bIns="0">
            <a:spAutoFit/>
          </a:bodyPr>
          <a:lstStyle/>
          <a:p>
            <a:pPr algn="l">
              <a:lnSpc>
                <a:spcPct val="100000"/>
              </a:lnSpc>
              <a:spcAft>
                <a:spcPts val="400"/>
              </a:spcAft>
            </a:pPr>
            <a:r>
              <a:rPr sz="1350" b="1" i="0">
                <a:solidFill>
                  <a:srgbClr val="B03A2E"/>
                </a:solidFill>
                <a:latin typeface="Calibri"/>
              </a:rPr>
              <a:t>B × C ÷ 60</a:t>
            </a:r>
          </a:p>
        </p:txBody>
      </p:sp>
      <p:sp>
        <p:nvSpPr>
          <p:cNvPr id="70" name="Rounded Rectangle 69"/>
          <p:cNvSpPr/>
          <p:nvPr/>
        </p:nvSpPr>
        <p:spPr>
          <a:xfrm>
            <a:off x="4238243" y="4937760"/>
            <a:ext cx="3712463" cy="7315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238243" y="4937760"/>
            <a:ext cx="3712463"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402835" y="5065776"/>
            <a:ext cx="3383279" cy="237744"/>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Hours freed a year</a:t>
            </a:r>
          </a:p>
        </p:txBody>
      </p:sp>
      <p:sp>
        <p:nvSpPr>
          <p:cNvPr id="73" name="TextBox 72"/>
          <p:cNvSpPr txBox="1"/>
          <p:nvPr/>
        </p:nvSpPr>
        <p:spPr>
          <a:xfrm>
            <a:off x="4402835" y="5321808"/>
            <a:ext cx="3383279" cy="27432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B × E × C ÷ 60</a:t>
            </a:r>
          </a:p>
        </p:txBody>
      </p:sp>
      <p:sp>
        <p:nvSpPr>
          <p:cNvPr id="74" name="Rounded Rectangle 73"/>
          <p:cNvSpPr/>
          <p:nvPr/>
        </p:nvSpPr>
        <p:spPr>
          <a:xfrm>
            <a:off x="8065006" y="4937760"/>
            <a:ext cx="3712463" cy="7315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065006" y="4937760"/>
            <a:ext cx="3712463"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229598" y="5065776"/>
            <a:ext cx="3383279" cy="237744"/>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Extra parts that time would cost</a:t>
            </a:r>
          </a:p>
        </p:txBody>
      </p:sp>
      <p:sp>
        <p:nvSpPr>
          <p:cNvPr id="77" name="TextBox 76"/>
          <p:cNvSpPr txBox="1"/>
          <p:nvPr/>
        </p:nvSpPr>
        <p:spPr>
          <a:xfrm>
            <a:off x="8229598" y="5321808"/>
            <a:ext cx="3383279" cy="274320"/>
          </a:xfrm>
          <a:prstGeom prst="rect">
            <a:avLst/>
          </a:prstGeom>
          <a:noFill/>
        </p:spPr>
        <p:txBody>
          <a:bodyPr wrap="square" anchor="t" lIns="0" rIns="0" tIns="0" bIns="0">
            <a:spAutoFit/>
          </a:bodyPr>
          <a:lstStyle/>
          <a:p>
            <a:pPr algn="l">
              <a:lnSpc>
                <a:spcPct val="100000"/>
              </a:lnSpc>
              <a:spcAft>
                <a:spcPts val="400"/>
              </a:spcAft>
            </a:pPr>
            <a:r>
              <a:rPr sz="1350" b="1" i="0">
                <a:solidFill>
                  <a:srgbClr val="1D6FB8"/>
                </a:solidFill>
                <a:latin typeface="Calibri"/>
              </a:rPr>
              <a:t>B × E × C ÷ A</a:t>
            </a:r>
          </a:p>
        </p:txBody>
      </p:sp>
      <p:sp>
        <p:nvSpPr>
          <p:cNvPr id="78" name="Rounded Rectangle 77"/>
          <p:cNvSpPr/>
          <p:nvPr/>
        </p:nvSpPr>
        <p:spPr>
          <a:xfrm>
            <a:off x="411480" y="5815584"/>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5815584"/>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593445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we are asking for today: approve Option 1 as a trial, and start the AI approval for Option 2</a:t>
            </a:r>
          </a:p>
        </p:txBody>
      </p:sp>
      <p:sp>
        <p:nvSpPr>
          <p:cNvPr id="81" name="TextBox 80"/>
          <p:cNvSpPr txBox="1"/>
          <p:nvPr/>
        </p:nvSpPr>
        <p:spPr>
          <a:xfrm>
            <a:off x="630936" y="6217920"/>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One commodity, 30 to 50 parts we have already bought, inside CAPEE, using our own time. It gives us the two numbers nobody can state today: how close the tool gets to a price we actually paid, and how much of the input it fills on its 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