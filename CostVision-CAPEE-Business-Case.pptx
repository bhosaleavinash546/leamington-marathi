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
  </p:notesMasterIdLst>
  <p:sldIdLst>
    <p:sldId id="256" r:id="rId7"/>
    <p:sldId id="257" r:id="rId9"/>
    <p:sldId id="258" r:id="rId10"/>
    <p:sldId id="259" r:id="rId11"/>
    <p:sldId id="260" r:id="rId12"/>
  </p:sldIdLst>
  <p:sldSz cx="1219169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want to start by saying what we do well, because none of this is a criticism of it. The left-hand card is our should-cost as it runs today. The method is trusted and thorough: a rigorous bottom-up build-up, applied across every commodity we buy, and it is the number we would defend in front of a supplier. Nothing I am about to propose changes that. What I want to talk about is the effort behind it. The setup is hands-on: a person chooses the material, the process and the machine, part by part. The data entry is manual: somebody opens the 3D model and the drawings, reads the geometry and the tolerances, and types them in. And when the economics move, somebody goes back and updates the rates by hand. The line at the bottom of that card is the size of it: between twelve and sixty-nine values typed per part depending on the commodity, and those counts come straight off our own input forms. None of that is wrong. It is just slow, and it is the reason we cost the parts we have time for rather than the parts we would like to. Now the right-hand side, and I want to be straight about why it is empty. I have not put a saving on this slide, because we have never timed this job and we have never compared this tool against a price we have actually paid. Any number I put there would be my estimate dressed up as a measurement. Four of these five are ours and we can get them quickly: how long a part takes, how much of that is reading and typing, how many parts we cost a year, and how many in a basket we never cost at all. Time a handful of parts in one commodity and you have the first two; the others are in our own records and the programme data. The fifth, E, is what the trial measures. Put those numbers in and the three boxes underneath fill themselves in: the hours we spend typing today, the hours we would get back, and how many more parts that time would cost. That is a business case we own rather than one I have handed you. And the green strip is the whole idea in one line: same method, same defensible answer, with the manual work taken out of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smaller of the two and it is deliberately narrow. CAPEE does not move. It still does the costing, on the same screens, with the same maths, and nobody has to learn a new tool. The only thing that changes is where the input comes from. The engineer attaches the 3D model from inside CAPEE. The software measures it on a JLR server with no internet connection, and fixed rules turn those measurements into the values the form wants. The engineer then confirms the handful of things a 3D model genuinely cannot show, and CAPEE costs the part. The green card is what we get for free once the model is attached: weight, size, surface area, wall thickness, the hole and pocket counts, and so on. The amber card is the honest limit. The model cannot tell us what the part is made of. Steel and aluminium look identical in a 3D file and the weight differs by about three times, so somebody answers that, or it comes off the part master. Same for tolerance class, finish and heat treatment. The tool asks rather than guessing. The point of the blue strip is the one I would make to this room: there is no AI in this option at all, so it does not wait on an AI decision. We could start it now.</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I would spend the most time on, because it is the part of the case that is easy to under-sell. Six things the tool does, and one distinction I want to make before I go through them: five of these work today, one part at a time, in the tool as it stands. The first one does not, and that is why it is the amber tile. A list of parts and their models goes in and every part comes back costed, with a report per part and per basket, without anybody sitting there — that is what Option two builds, and today we cost the parts we have hours for and estimate the rest from a sample. Next to it is the one that usually gets a reaction in the room. You take a photograph of a circuit board and the tool works out what is on it, builds the bill of materials, works out the board specification and costs it. That is a job that takes an electronics buyer a long time and most of us cannot do at all. Third along, an RFQ pack goes in and comes back as costed lines, ranked by where the money is, with a first draft of the negotiation brief written for you. Bottom left is the assistant, and I want to be precise about it. It does the setting up: it picks the process route and the machine and fills in what the geometry gives it, and then it comes back to a person with one question rather than a hundred. Next to that is the one our buyers will care about most. Put a supplier's price next to our own build-up and the tool tells you which part of it the gap sits in and what to ask them about it. And the last one turns design-for-cost from a list into a decision: it flags what makes a part expensive and puts a number on each change, ordered by what it saves. The blue strip at the bottom is the sentence I would want people to leave with. The AI reads and sorts and sets up. It never sets a price. The money is still worked out by the same fixed rules and the same rate book we use now, so every number can be explained line by line, exactly as it can today.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answer to what we get for it, and I have written it in kind rather than in pounds, for the reason I gave on the first slide: we have never timed this job and never checked the tool against a price we paid, so a pound figure from me would be a guess. Take the left column first. Option one turns the job from typing into checking, because the values come off the model. It gives the same answer every time, so a part costed by one engineer and a part costed by another are comparable, which matters when we put them in front of a supplier. The time that gets freed does not disappear — it goes back into costing more of the basket with the team we already have. Nobody learns a new tool, because CAPEE does not change. And the last one is the practical point for this room: there is no AI in Option one, so it does not wait on an AI approval. We can start it. Now the right column, and these are different in kind rather than bigger. Every part in a basket gets a proper cost instead of a sample scaled up. A basket that takes days of engineer time becomes one run, and I want to be honest that the real work then becomes gathering the part list, the models and our own rate data — the costing stops being the bottleneck. We stop taking an estimate to a supplier and start taking the build-up, plus where their price differs from ours and what to ask them about it. There is work we simply cannot do today: costing electronics from a photograph of the board, and turning an RFQ pack into costed, ranked lines. And design-to-cost stops being a list of suggestions and becomes a decision, because each change has a number against it. The green strip is the sequencing point. Option one's benefits arrive first and we keep them. Option two's depend on the accuracy figure that Option one produces, which is why these are an order rather than a choice.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this is the decision, and I have split it into what I want today and what I do not. On the left, Option one: approve the trial. One commodity, thirty to fifty parts we have already bought, run inside CAPEE. On the right, Option two: I am not asking you to decide it. What I am asking is that we start the AI approval alongside the trial, because that is the long pole and there is no sense discovering at the end of the trial that we now have to begin it. The two cards underneath are what each one needs. Option one needs a server, a way to pass numbers into CAPEE, some parts where we know what we paid, and an engineer from the commodity team for the trial. Option two needs all of that plus the AI approval, our own rate book with a change history, and a few things built around the engine. The green strip is what we get out of the trial and it is the reason to do it: two numbers that nobody in this company can state today. How close the tool gets to a price we actually paid, and how much of the input it fills on its own. Until we have those, any conversation about Option two is people trading opinions. Then three short things I want to say plainly rather than have asked. The first is the governance point and it is the one I would repeat if you take nothing else away: the AI reads, sorts and sets up, and it never sets a price. The money comes out of the same fixed rules and the same rate book as today, so every number can be defended line by line exactly as it can now. The second is the exit. We have never compared this against a price we have paid. If the trial says the tool is not close enough, we stop, and what we will have spent is our own engineering time — that is precisely why I am asking for a trial and not a rollout. And the third is the honest answer to how long: nobody has sized it. It waits on one answer from IT about how CAPEE is built, and the sizing comes back with that answer rather than being invented now.</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4.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Rectangle 4"/>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WHERE WE ARE</a:t>
            </a:r>
          </a:p>
        </p:txBody>
      </p:sp>
      <p:sp>
        <p:nvSpPr>
          <p:cNvPr id="7" name="TextBox 6"/>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Our should-cost today: capable, but hands-on</a:t>
            </a:r>
          </a:p>
        </p:txBody>
      </p:sp>
      <p:sp>
        <p:nvSpPr>
          <p:cNvPr id="8" name="TextBox 7"/>
          <p:cNvSpPr txBox="1"/>
          <p:nvPr/>
        </p:nvSpPr>
        <p:spPr>
          <a:xfrm>
            <a:off x="411480" y="1517904"/>
            <a:ext cx="11338560" cy="274320"/>
          </a:xfrm>
          <a:prstGeom prst="rect">
            <a:avLst/>
          </a:prstGeom>
          <a:noFill/>
        </p:spPr>
        <p:txBody>
          <a:bodyPr wrap="square" anchor="t" lIns="0" rIns="0" tIns="0" bIns="0">
            <a:spAutoFit/>
          </a:bodyPr>
          <a:lstStyle/>
          <a:p>
            <a:pPr algn="l">
              <a:lnSpc>
                <a:spcPct val="100000"/>
              </a:lnSpc>
              <a:spcAft>
                <a:spcPts val="400"/>
              </a:spcAft>
            </a:pPr>
            <a:r>
              <a:rPr sz="1150" b="0" i="0">
                <a:solidFill>
                  <a:srgbClr val="3A4356"/>
                </a:solidFill>
                <a:latin typeface="Calibri"/>
              </a:rPr>
              <a:t>We already cost parts properly. On the left is that job as it runs today. On the right is what it is worth, in our own numbers.</a:t>
            </a:r>
          </a:p>
        </p:txBody>
      </p:sp>
      <p:sp>
        <p:nvSpPr>
          <p:cNvPr id="9" name="Rounded Rectangle 8"/>
          <p:cNvSpPr/>
          <p:nvPr/>
        </p:nvSpPr>
        <p:spPr>
          <a:xfrm>
            <a:off x="411480" y="1792224"/>
            <a:ext cx="5577840" cy="411480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792224"/>
            <a:ext cx="68580" cy="41148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2648" y="1920240"/>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OUR SHOULD-COST TODAY · capable, but hands-on</a:t>
            </a:r>
          </a:p>
        </p:txBody>
      </p:sp>
      <p:sp>
        <p:nvSpPr>
          <p:cNvPr id="12" name="TextBox 11"/>
          <p:cNvSpPr txBox="1"/>
          <p:nvPr/>
        </p:nvSpPr>
        <p:spPr>
          <a:xfrm>
            <a:off x="612648" y="2231136"/>
            <a:ext cx="5212080" cy="3566160"/>
          </a:xfrm>
          <a:prstGeom prst="rect">
            <a:avLst/>
          </a:prstGeom>
          <a:noFill/>
        </p:spPr>
        <p:txBody>
          <a:bodyPr wrap="square" anchor="t" lIns="0" rIns="0" tIns="0" bIns="0">
            <a:spAutoFit/>
          </a:bodyPr>
          <a:lstStyle/>
          <a:p>
            <a:pPr algn="l">
              <a:lnSpc>
                <a:spcPct val="112000"/>
              </a:lnSpc>
              <a:spcAft>
                <a:spcPts val="300"/>
              </a:spcAft>
            </a:pPr>
            <a:r>
              <a:rPr sz="1050" b="1" i="0">
                <a:solidFill>
                  <a:srgbClr val="2E8B57"/>
                </a:solidFill>
                <a:latin typeface="Calibri"/>
              </a:rPr>
              <a:t>Trusted and thorough</a:t>
            </a:r>
          </a:p>
          <a:p>
            <a:pPr algn="l">
              <a:lnSpc>
                <a:spcPct val="112000"/>
              </a:lnSpc>
              <a:spcAft>
                <a:spcPts val="300"/>
              </a:spcAft>
            </a:pPr>
            <a:r>
              <a:rPr sz="1050" b="0" i="0">
                <a:solidFill>
                  <a:srgbClr val="3A4356"/>
                </a:solidFill>
                <a:latin typeface="Calibri"/>
              </a:rPr>
              <a:t>A rigorous bottom-up method, across every commodity.</a:t>
            </a:r>
          </a:p>
          <a:p>
            <a:pPr algn="l">
              <a:lnSpc>
                <a:spcPct val="112000"/>
              </a:lnSpc>
              <a:spcAft>
                <a:spcPts val="300"/>
              </a:spcAft>
            </a:pPr>
          </a:p>
          <a:p>
            <a:pPr algn="l">
              <a:lnSpc>
                <a:spcPct val="112000"/>
              </a:lnSpc>
              <a:spcAft>
                <a:spcPts val="300"/>
              </a:spcAft>
            </a:pPr>
            <a:r>
              <a:rPr sz="1050" b="1" i="0">
                <a:solidFill>
                  <a:srgbClr val="16325C"/>
                </a:solidFill>
                <a:latin typeface="Calibri"/>
              </a:rPr>
              <a:t>Hands-on setup</a:t>
            </a:r>
          </a:p>
          <a:p>
            <a:pPr algn="l">
              <a:lnSpc>
                <a:spcPct val="112000"/>
              </a:lnSpc>
              <a:spcAft>
                <a:spcPts val="300"/>
              </a:spcAft>
            </a:pPr>
            <a:r>
              <a:rPr sz="1050" b="0" i="0">
                <a:solidFill>
                  <a:srgbClr val="3A4356"/>
                </a:solidFill>
                <a:latin typeface="Calibri"/>
              </a:rPr>
              <a:t>Material, process and machine chosen by a person,</a:t>
            </a:r>
          </a:p>
          <a:p>
            <a:pPr algn="l">
              <a:lnSpc>
                <a:spcPct val="112000"/>
              </a:lnSpc>
              <a:spcAft>
                <a:spcPts val="300"/>
              </a:spcAft>
            </a:pPr>
            <a:r>
              <a:rPr sz="1050" b="0" i="0">
                <a:solidFill>
                  <a:srgbClr val="3A4356"/>
                </a:solidFill>
                <a:latin typeface="Calibri"/>
              </a:rPr>
              <a:t>part by part.</a:t>
            </a:r>
          </a:p>
          <a:p>
            <a:pPr algn="l">
              <a:lnSpc>
                <a:spcPct val="112000"/>
              </a:lnSpc>
              <a:spcAft>
                <a:spcPts val="300"/>
              </a:spcAft>
            </a:pPr>
          </a:p>
          <a:p>
            <a:pPr algn="l">
              <a:lnSpc>
                <a:spcPct val="112000"/>
              </a:lnSpc>
              <a:spcAft>
                <a:spcPts val="300"/>
              </a:spcAft>
            </a:pPr>
            <a:r>
              <a:rPr sz="1050" b="1" i="0">
                <a:solidFill>
                  <a:srgbClr val="16325C"/>
                </a:solidFill>
                <a:latin typeface="Calibri"/>
              </a:rPr>
              <a:t>Manual data entry</a:t>
            </a:r>
          </a:p>
          <a:p>
            <a:pPr algn="l">
              <a:lnSpc>
                <a:spcPct val="112000"/>
              </a:lnSpc>
              <a:spcAft>
                <a:spcPts val="300"/>
              </a:spcAft>
            </a:pPr>
            <a:r>
              <a:rPr sz="1050" b="0" i="0">
                <a:solidFill>
                  <a:srgbClr val="3A4356"/>
                </a:solidFill>
                <a:latin typeface="Calibri"/>
              </a:rPr>
              <a:t>Geometry and tolerances read off the 3D model and the</a:t>
            </a:r>
          </a:p>
          <a:p>
            <a:pPr algn="l">
              <a:lnSpc>
                <a:spcPct val="112000"/>
              </a:lnSpc>
              <a:spcAft>
                <a:spcPts val="300"/>
              </a:spcAft>
            </a:pPr>
            <a:r>
              <a:rPr sz="1050" b="0" i="0">
                <a:solidFill>
                  <a:srgbClr val="3A4356"/>
                </a:solidFill>
                <a:latin typeface="Calibri"/>
              </a:rPr>
              <a:t>drawings, then typed in — 12 to 69 values per part.</a:t>
            </a:r>
          </a:p>
          <a:p>
            <a:pPr algn="l">
              <a:lnSpc>
                <a:spcPct val="112000"/>
              </a:lnSpc>
              <a:spcAft>
                <a:spcPts val="300"/>
              </a:spcAft>
            </a:pPr>
          </a:p>
          <a:p>
            <a:pPr algn="l">
              <a:lnSpc>
                <a:spcPct val="112000"/>
              </a:lnSpc>
              <a:spcAft>
                <a:spcPts val="300"/>
              </a:spcAft>
            </a:pPr>
            <a:r>
              <a:rPr sz="1050" b="1" i="0">
                <a:solidFill>
                  <a:srgbClr val="16325C"/>
                </a:solidFill>
                <a:latin typeface="Calibri"/>
              </a:rPr>
              <a:t>Updated by hand</a:t>
            </a:r>
          </a:p>
          <a:p>
            <a:pPr algn="l">
              <a:lnSpc>
                <a:spcPct val="112000"/>
              </a:lnSpc>
              <a:spcAft>
                <a:spcPts val="300"/>
              </a:spcAft>
            </a:pPr>
            <a:r>
              <a:rPr sz="1050" b="0" i="0">
                <a:solidFill>
                  <a:srgbClr val="3A4356"/>
                </a:solidFill>
                <a:latin typeface="Calibri"/>
              </a:rPr>
              <a:t>Rates and inputs refreshed manually as economics move.</a:t>
            </a:r>
          </a:p>
        </p:txBody>
      </p:sp>
      <p:sp>
        <p:nvSpPr>
          <p:cNvPr id="13" name="TextBox 12"/>
          <p:cNvSpPr txBox="1"/>
          <p:nvPr/>
        </p:nvSpPr>
        <p:spPr>
          <a:xfrm>
            <a:off x="6199632" y="1810512"/>
            <a:ext cx="5577840" cy="274320"/>
          </a:xfrm>
          <a:prstGeom prst="rect">
            <a:avLst/>
          </a:prstGeom>
          <a:noFill/>
        </p:spPr>
        <p:txBody>
          <a:bodyPr wrap="square" anchor="t" lIns="0" rIns="0" tIns="0" bIns="0">
            <a:spAutoFit/>
          </a:bodyPr>
          <a:lstStyle/>
          <a:p>
            <a:pPr algn="l">
              <a:lnSpc>
                <a:spcPct val="100000"/>
              </a:lnSpc>
              <a:spcAft>
                <a:spcPts val="400"/>
              </a:spcAft>
            </a:pPr>
            <a:r>
              <a:rPr sz="1150" b="1" i="0">
                <a:solidFill>
                  <a:srgbClr val="6B7280"/>
                </a:solidFill>
                <a:latin typeface="Calibri"/>
              </a:rPr>
              <a:t>What it is worth: five numbers, four of them ours</a:t>
            </a:r>
          </a:p>
        </p:txBody>
      </p:sp>
      <p:sp>
        <p:nvSpPr>
          <p:cNvPr id="14" name="Rectangle 13"/>
          <p:cNvSpPr/>
          <p:nvPr/>
        </p:nvSpPr>
        <p:spPr>
          <a:xfrm>
            <a:off x="6199632" y="2066543"/>
            <a:ext cx="41148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81928" y="2148839"/>
            <a:ext cx="265176" cy="219456"/>
          </a:xfrm>
          <a:prstGeom prst="rect">
            <a:avLst/>
          </a:prstGeom>
          <a:noFill/>
        </p:spPr>
        <p:txBody>
          <a:bodyPr wrap="square" anchor="t" lIns="0" rIns="0" tIns="0" bIns="0">
            <a:spAutoFit/>
          </a:bodyPr>
          <a:lstStyle/>
          <a:p>
            <a:pPr algn="l">
              <a:lnSpc>
                <a:spcPct val="100000"/>
              </a:lnSpc>
              <a:spcAft>
                <a:spcPts val="400"/>
              </a:spcAft>
            </a:pPr>
          </a:p>
        </p:txBody>
      </p:sp>
      <p:sp>
        <p:nvSpPr>
          <p:cNvPr id="16" name="Rectangle 15"/>
          <p:cNvSpPr/>
          <p:nvPr/>
        </p:nvSpPr>
        <p:spPr>
          <a:xfrm>
            <a:off x="6611112" y="2066543"/>
            <a:ext cx="361188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93408" y="2148839"/>
            <a:ext cx="346557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What it is</a:t>
            </a:r>
          </a:p>
        </p:txBody>
      </p:sp>
      <p:sp>
        <p:nvSpPr>
          <p:cNvPr id="18" name="Rectangle 17"/>
          <p:cNvSpPr/>
          <p:nvPr/>
        </p:nvSpPr>
        <p:spPr>
          <a:xfrm>
            <a:off x="10222992" y="2066543"/>
            <a:ext cx="155448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305288" y="2148839"/>
            <a:ext cx="140817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Our number</a:t>
            </a:r>
          </a:p>
        </p:txBody>
      </p:sp>
      <p:sp>
        <p:nvSpPr>
          <p:cNvPr id="20" name="Rectangle 19"/>
          <p:cNvSpPr/>
          <p:nvPr/>
        </p:nvSpPr>
        <p:spPr>
          <a:xfrm>
            <a:off x="6199632" y="2395727"/>
            <a:ext cx="411480" cy="31089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81928" y="2459735"/>
            <a:ext cx="265176" cy="219456"/>
          </a:xfrm>
          <a:prstGeom prst="rect">
            <a:avLst/>
          </a:prstGeom>
          <a:noFill/>
        </p:spPr>
        <p:txBody>
          <a:bodyPr wrap="square" anchor="t" lIns="0" rIns="0" tIns="0" bIns="0">
            <a:spAutoFit/>
          </a:bodyPr>
          <a:lstStyle/>
          <a:p>
            <a:pPr algn="l">
              <a:lnSpc>
                <a:spcPct val="100000"/>
              </a:lnSpc>
              <a:spcAft>
                <a:spcPts val="400"/>
              </a:spcAft>
            </a:pPr>
            <a:r>
              <a:rPr sz="980" b="1" i="0">
                <a:solidFill>
                  <a:srgbClr val="16325C"/>
                </a:solidFill>
                <a:latin typeface="Calibri"/>
              </a:rPr>
              <a:t>A</a:t>
            </a:r>
          </a:p>
        </p:txBody>
      </p:sp>
      <p:sp>
        <p:nvSpPr>
          <p:cNvPr id="22" name="Rectangle 21"/>
          <p:cNvSpPr/>
          <p:nvPr/>
        </p:nvSpPr>
        <p:spPr>
          <a:xfrm>
            <a:off x="6611112" y="2395727"/>
            <a:ext cx="3611880" cy="31089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93408" y="2459735"/>
            <a:ext cx="3465576" cy="219456"/>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Minutes to cost one part today</a:t>
            </a:r>
          </a:p>
        </p:txBody>
      </p:sp>
      <p:sp>
        <p:nvSpPr>
          <p:cNvPr id="24" name="Rectangle 23"/>
          <p:cNvSpPr/>
          <p:nvPr/>
        </p:nvSpPr>
        <p:spPr>
          <a:xfrm>
            <a:off x="10222992" y="2395727"/>
            <a:ext cx="1554480" cy="31089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05288" y="2459735"/>
            <a:ext cx="1408176" cy="219456"/>
          </a:xfrm>
          <a:prstGeom prst="rect">
            <a:avLst/>
          </a:prstGeom>
          <a:noFill/>
        </p:spPr>
        <p:txBody>
          <a:bodyPr wrap="square" anchor="t" lIns="0" rIns="0" tIns="0" bIns="0">
            <a:spAutoFit/>
          </a:bodyPr>
          <a:lstStyle/>
          <a:p>
            <a:pPr algn="l">
              <a:lnSpc>
                <a:spcPct val="100000"/>
              </a:lnSpc>
              <a:spcAft>
                <a:spcPts val="400"/>
              </a:spcAft>
            </a:pPr>
            <a:r>
              <a:rPr sz="980" b="1" i="0">
                <a:solidFill>
                  <a:srgbClr val="1D6FB8"/>
                </a:solidFill>
                <a:latin typeface="Calibri"/>
              </a:rPr>
              <a:t>________</a:t>
            </a:r>
          </a:p>
        </p:txBody>
      </p:sp>
      <p:sp>
        <p:nvSpPr>
          <p:cNvPr id="26" name="Rectangle 25"/>
          <p:cNvSpPr/>
          <p:nvPr/>
        </p:nvSpPr>
        <p:spPr>
          <a:xfrm>
            <a:off x="6199632" y="2706623"/>
            <a:ext cx="411480" cy="31089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281928" y="2770631"/>
            <a:ext cx="265176" cy="219456"/>
          </a:xfrm>
          <a:prstGeom prst="rect">
            <a:avLst/>
          </a:prstGeom>
          <a:noFill/>
        </p:spPr>
        <p:txBody>
          <a:bodyPr wrap="square" anchor="t" lIns="0" rIns="0" tIns="0" bIns="0">
            <a:spAutoFit/>
          </a:bodyPr>
          <a:lstStyle/>
          <a:p>
            <a:pPr algn="l">
              <a:lnSpc>
                <a:spcPct val="100000"/>
              </a:lnSpc>
              <a:spcAft>
                <a:spcPts val="400"/>
              </a:spcAft>
            </a:pPr>
            <a:r>
              <a:rPr sz="980" b="1" i="0">
                <a:solidFill>
                  <a:srgbClr val="16325C"/>
                </a:solidFill>
                <a:latin typeface="Calibri"/>
              </a:rPr>
              <a:t>B</a:t>
            </a:r>
          </a:p>
        </p:txBody>
      </p:sp>
      <p:sp>
        <p:nvSpPr>
          <p:cNvPr id="28" name="Rectangle 27"/>
          <p:cNvSpPr/>
          <p:nvPr/>
        </p:nvSpPr>
        <p:spPr>
          <a:xfrm>
            <a:off x="6611112" y="2706623"/>
            <a:ext cx="3611880" cy="31089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693408" y="2770631"/>
            <a:ext cx="3465576" cy="219456"/>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Of those, minutes reading the model and typing</a:t>
            </a:r>
          </a:p>
        </p:txBody>
      </p:sp>
      <p:sp>
        <p:nvSpPr>
          <p:cNvPr id="30" name="Rectangle 29"/>
          <p:cNvSpPr/>
          <p:nvPr/>
        </p:nvSpPr>
        <p:spPr>
          <a:xfrm>
            <a:off x="10222992" y="2706623"/>
            <a:ext cx="1554480" cy="31089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305288" y="2770631"/>
            <a:ext cx="1408176" cy="219456"/>
          </a:xfrm>
          <a:prstGeom prst="rect">
            <a:avLst/>
          </a:prstGeom>
          <a:noFill/>
        </p:spPr>
        <p:txBody>
          <a:bodyPr wrap="square" anchor="t" lIns="0" rIns="0" tIns="0" bIns="0">
            <a:spAutoFit/>
          </a:bodyPr>
          <a:lstStyle/>
          <a:p>
            <a:pPr algn="l">
              <a:lnSpc>
                <a:spcPct val="100000"/>
              </a:lnSpc>
              <a:spcAft>
                <a:spcPts val="400"/>
              </a:spcAft>
            </a:pPr>
            <a:r>
              <a:rPr sz="980" b="1" i="0">
                <a:solidFill>
                  <a:srgbClr val="1D6FB8"/>
                </a:solidFill>
                <a:latin typeface="Calibri"/>
              </a:rPr>
              <a:t>________</a:t>
            </a:r>
          </a:p>
        </p:txBody>
      </p:sp>
      <p:sp>
        <p:nvSpPr>
          <p:cNvPr id="32" name="Rectangle 31"/>
          <p:cNvSpPr/>
          <p:nvPr/>
        </p:nvSpPr>
        <p:spPr>
          <a:xfrm>
            <a:off x="6199632" y="3017519"/>
            <a:ext cx="411480" cy="31089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281928" y="3081527"/>
            <a:ext cx="265176" cy="219456"/>
          </a:xfrm>
          <a:prstGeom prst="rect">
            <a:avLst/>
          </a:prstGeom>
          <a:noFill/>
        </p:spPr>
        <p:txBody>
          <a:bodyPr wrap="square" anchor="t" lIns="0" rIns="0" tIns="0" bIns="0">
            <a:spAutoFit/>
          </a:bodyPr>
          <a:lstStyle/>
          <a:p>
            <a:pPr algn="l">
              <a:lnSpc>
                <a:spcPct val="100000"/>
              </a:lnSpc>
              <a:spcAft>
                <a:spcPts val="400"/>
              </a:spcAft>
            </a:pPr>
            <a:r>
              <a:rPr sz="980" b="1" i="0">
                <a:solidFill>
                  <a:srgbClr val="16325C"/>
                </a:solidFill>
                <a:latin typeface="Calibri"/>
              </a:rPr>
              <a:t>C</a:t>
            </a:r>
          </a:p>
        </p:txBody>
      </p:sp>
      <p:sp>
        <p:nvSpPr>
          <p:cNvPr id="34" name="Rectangle 33"/>
          <p:cNvSpPr/>
          <p:nvPr/>
        </p:nvSpPr>
        <p:spPr>
          <a:xfrm>
            <a:off x="6611112" y="3017519"/>
            <a:ext cx="3611880" cy="31089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693408" y="3081527"/>
            <a:ext cx="3465576" cy="219456"/>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Parts we cost in a year</a:t>
            </a:r>
          </a:p>
        </p:txBody>
      </p:sp>
      <p:sp>
        <p:nvSpPr>
          <p:cNvPr id="36" name="Rectangle 35"/>
          <p:cNvSpPr/>
          <p:nvPr/>
        </p:nvSpPr>
        <p:spPr>
          <a:xfrm>
            <a:off x="10222992" y="3017519"/>
            <a:ext cx="1554480" cy="31089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305288" y="3081527"/>
            <a:ext cx="1408176" cy="219456"/>
          </a:xfrm>
          <a:prstGeom prst="rect">
            <a:avLst/>
          </a:prstGeom>
          <a:noFill/>
        </p:spPr>
        <p:txBody>
          <a:bodyPr wrap="square" anchor="t" lIns="0" rIns="0" tIns="0" bIns="0">
            <a:spAutoFit/>
          </a:bodyPr>
          <a:lstStyle/>
          <a:p>
            <a:pPr algn="l">
              <a:lnSpc>
                <a:spcPct val="100000"/>
              </a:lnSpc>
              <a:spcAft>
                <a:spcPts val="400"/>
              </a:spcAft>
            </a:pPr>
            <a:r>
              <a:rPr sz="980" b="1" i="0">
                <a:solidFill>
                  <a:srgbClr val="1D6FB8"/>
                </a:solidFill>
                <a:latin typeface="Calibri"/>
              </a:rPr>
              <a:t>________</a:t>
            </a:r>
          </a:p>
        </p:txBody>
      </p:sp>
      <p:sp>
        <p:nvSpPr>
          <p:cNvPr id="38" name="Rectangle 37"/>
          <p:cNvSpPr/>
          <p:nvPr/>
        </p:nvSpPr>
        <p:spPr>
          <a:xfrm>
            <a:off x="6199632" y="3328415"/>
            <a:ext cx="411480" cy="31089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281928" y="3392423"/>
            <a:ext cx="265176" cy="219456"/>
          </a:xfrm>
          <a:prstGeom prst="rect">
            <a:avLst/>
          </a:prstGeom>
          <a:noFill/>
        </p:spPr>
        <p:txBody>
          <a:bodyPr wrap="square" anchor="t" lIns="0" rIns="0" tIns="0" bIns="0">
            <a:spAutoFit/>
          </a:bodyPr>
          <a:lstStyle/>
          <a:p>
            <a:pPr algn="l">
              <a:lnSpc>
                <a:spcPct val="100000"/>
              </a:lnSpc>
              <a:spcAft>
                <a:spcPts val="400"/>
              </a:spcAft>
            </a:pPr>
            <a:r>
              <a:rPr sz="980" b="1" i="0">
                <a:solidFill>
                  <a:srgbClr val="16325C"/>
                </a:solidFill>
                <a:latin typeface="Calibri"/>
              </a:rPr>
              <a:t>D</a:t>
            </a:r>
          </a:p>
        </p:txBody>
      </p:sp>
      <p:sp>
        <p:nvSpPr>
          <p:cNvPr id="40" name="Rectangle 39"/>
          <p:cNvSpPr/>
          <p:nvPr/>
        </p:nvSpPr>
        <p:spPr>
          <a:xfrm>
            <a:off x="6611112" y="3328415"/>
            <a:ext cx="3611880" cy="31089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693408" y="3392423"/>
            <a:ext cx="3465576" cy="219456"/>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Parts in a basket we never cost individually</a:t>
            </a:r>
          </a:p>
        </p:txBody>
      </p:sp>
      <p:sp>
        <p:nvSpPr>
          <p:cNvPr id="42" name="Rectangle 41"/>
          <p:cNvSpPr/>
          <p:nvPr/>
        </p:nvSpPr>
        <p:spPr>
          <a:xfrm>
            <a:off x="10222992" y="3328415"/>
            <a:ext cx="1554480" cy="31089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305288" y="3392423"/>
            <a:ext cx="1408176" cy="219456"/>
          </a:xfrm>
          <a:prstGeom prst="rect">
            <a:avLst/>
          </a:prstGeom>
          <a:noFill/>
        </p:spPr>
        <p:txBody>
          <a:bodyPr wrap="square" anchor="t" lIns="0" rIns="0" tIns="0" bIns="0">
            <a:spAutoFit/>
          </a:bodyPr>
          <a:lstStyle/>
          <a:p>
            <a:pPr algn="l">
              <a:lnSpc>
                <a:spcPct val="100000"/>
              </a:lnSpc>
              <a:spcAft>
                <a:spcPts val="400"/>
              </a:spcAft>
            </a:pPr>
            <a:r>
              <a:rPr sz="980" b="1" i="0">
                <a:solidFill>
                  <a:srgbClr val="1D6FB8"/>
                </a:solidFill>
                <a:latin typeface="Calibri"/>
              </a:rPr>
              <a:t>________</a:t>
            </a:r>
          </a:p>
        </p:txBody>
      </p:sp>
      <p:sp>
        <p:nvSpPr>
          <p:cNvPr id="44" name="Rectangle 43"/>
          <p:cNvSpPr/>
          <p:nvPr/>
        </p:nvSpPr>
        <p:spPr>
          <a:xfrm>
            <a:off x="6199632" y="3639311"/>
            <a:ext cx="411480" cy="31089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281928" y="3703319"/>
            <a:ext cx="265176" cy="219456"/>
          </a:xfrm>
          <a:prstGeom prst="rect">
            <a:avLst/>
          </a:prstGeom>
          <a:noFill/>
        </p:spPr>
        <p:txBody>
          <a:bodyPr wrap="square" anchor="t" lIns="0" rIns="0" tIns="0" bIns="0">
            <a:spAutoFit/>
          </a:bodyPr>
          <a:lstStyle/>
          <a:p>
            <a:pPr algn="l">
              <a:lnSpc>
                <a:spcPct val="100000"/>
              </a:lnSpc>
              <a:spcAft>
                <a:spcPts val="400"/>
              </a:spcAft>
            </a:pPr>
            <a:r>
              <a:rPr sz="980" b="1" i="0">
                <a:solidFill>
                  <a:srgbClr val="16325C"/>
                </a:solidFill>
                <a:latin typeface="Calibri"/>
              </a:rPr>
              <a:t>E</a:t>
            </a:r>
          </a:p>
        </p:txBody>
      </p:sp>
      <p:sp>
        <p:nvSpPr>
          <p:cNvPr id="46" name="Rectangle 45"/>
          <p:cNvSpPr/>
          <p:nvPr/>
        </p:nvSpPr>
        <p:spPr>
          <a:xfrm>
            <a:off x="6611112" y="3639311"/>
            <a:ext cx="3611880" cy="31089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693408" y="3703319"/>
            <a:ext cx="3465576" cy="219456"/>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Share of those values the software fills itself</a:t>
            </a:r>
          </a:p>
        </p:txBody>
      </p:sp>
      <p:sp>
        <p:nvSpPr>
          <p:cNvPr id="48" name="Rectangle 47"/>
          <p:cNvSpPr/>
          <p:nvPr/>
        </p:nvSpPr>
        <p:spPr>
          <a:xfrm>
            <a:off x="10222992" y="3639311"/>
            <a:ext cx="1554480" cy="31089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305288" y="3703319"/>
            <a:ext cx="1408176" cy="219456"/>
          </a:xfrm>
          <a:prstGeom prst="rect">
            <a:avLst/>
          </a:prstGeom>
          <a:noFill/>
        </p:spPr>
        <p:txBody>
          <a:bodyPr wrap="square" anchor="t" lIns="0" rIns="0" tIns="0" bIns="0">
            <a:spAutoFit/>
          </a:bodyPr>
          <a:lstStyle/>
          <a:p>
            <a:pPr algn="l">
              <a:lnSpc>
                <a:spcPct val="100000"/>
              </a:lnSpc>
              <a:spcAft>
                <a:spcPts val="400"/>
              </a:spcAft>
            </a:pPr>
            <a:r>
              <a:rPr sz="980" b="1" i="0">
                <a:solidFill>
                  <a:srgbClr val="2E8B57"/>
                </a:solidFill>
                <a:latin typeface="Calibri"/>
              </a:rPr>
              <a:t>________</a:t>
            </a:r>
          </a:p>
        </p:txBody>
      </p:sp>
      <p:sp>
        <p:nvSpPr>
          <p:cNvPr id="50" name="Rounded Rectangle 49"/>
          <p:cNvSpPr/>
          <p:nvPr/>
        </p:nvSpPr>
        <p:spPr>
          <a:xfrm>
            <a:off x="6199632" y="4059936"/>
            <a:ext cx="5577840" cy="475488"/>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6199632" y="4059936"/>
            <a:ext cx="68580" cy="475488"/>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419088" y="4169664"/>
            <a:ext cx="3200400" cy="256032"/>
          </a:xfrm>
          <a:prstGeom prst="rect">
            <a:avLst/>
          </a:prstGeom>
          <a:noFill/>
        </p:spPr>
        <p:txBody>
          <a:bodyPr wrap="square" anchor="t" lIns="0" rIns="0" tIns="0" bIns="0">
            <a:spAutoFit/>
          </a:bodyPr>
          <a:lstStyle/>
          <a:p>
            <a:pPr algn="l">
              <a:lnSpc>
                <a:spcPct val="100000"/>
              </a:lnSpc>
              <a:spcAft>
                <a:spcPts val="400"/>
              </a:spcAft>
            </a:pPr>
            <a:r>
              <a:rPr sz="1050" b="1" i="0">
                <a:solidFill>
                  <a:srgbClr val="16325C"/>
                </a:solidFill>
                <a:latin typeface="Calibri"/>
              </a:rPr>
              <a:t>Hours spent typing today</a:t>
            </a:r>
          </a:p>
        </p:txBody>
      </p:sp>
      <p:sp>
        <p:nvSpPr>
          <p:cNvPr id="53" name="TextBox 52"/>
          <p:cNvSpPr txBox="1"/>
          <p:nvPr/>
        </p:nvSpPr>
        <p:spPr>
          <a:xfrm>
            <a:off x="9646920" y="4151376"/>
            <a:ext cx="2011680" cy="274320"/>
          </a:xfrm>
          <a:prstGeom prst="rect">
            <a:avLst/>
          </a:prstGeom>
          <a:noFill/>
        </p:spPr>
        <p:txBody>
          <a:bodyPr wrap="square" anchor="t" lIns="0" rIns="0" tIns="0" bIns="0">
            <a:spAutoFit/>
          </a:bodyPr>
          <a:lstStyle/>
          <a:p>
            <a:pPr algn="r">
              <a:lnSpc>
                <a:spcPct val="100000"/>
              </a:lnSpc>
              <a:spcAft>
                <a:spcPts val="400"/>
              </a:spcAft>
            </a:pPr>
            <a:r>
              <a:rPr sz="1250" b="1" i="0">
                <a:solidFill>
                  <a:srgbClr val="B03A2E"/>
                </a:solidFill>
                <a:latin typeface="Calibri"/>
              </a:rPr>
              <a:t>B × C ÷ 60</a:t>
            </a:r>
          </a:p>
        </p:txBody>
      </p:sp>
      <p:sp>
        <p:nvSpPr>
          <p:cNvPr id="54" name="Rounded Rectangle 53"/>
          <p:cNvSpPr/>
          <p:nvPr/>
        </p:nvSpPr>
        <p:spPr>
          <a:xfrm>
            <a:off x="6199632" y="4572000"/>
            <a:ext cx="5577840" cy="475488"/>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6199632" y="4572000"/>
            <a:ext cx="68580" cy="475488"/>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419088" y="4681728"/>
            <a:ext cx="3200400" cy="256032"/>
          </a:xfrm>
          <a:prstGeom prst="rect">
            <a:avLst/>
          </a:prstGeom>
          <a:noFill/>
        </p:spPr>
        <p:txBody>
          <a:bodyPr wrap="square" anchor="t" lIns="0" rIns="0" tIns="0" bIns="0">
            <a:spAutoFit/>
          </a:bodyPr>
          <a:lstStyle/>
          <a:p>
            <a:pPr algn="l">
              <a:lnSpc>
                <a:spcPct val="100000"/>
              </a:lnSpc>
              <a:spcAft>
                <a:spcPts val="400"/>
              </a:spcAft>
            </a:pPr>
            <a:r>
              <a:rPr sz="1050" b="1" i="0">
                <a:solidFill>
                  <a:srgbClr val="16325C"/>
                </a:solidFill>
                <a:latin typeface="Calibri"/>
              </a:rPr>
              <a:t>Hours freed a year</a:t>
            </a:r>
          </a:p>
        </p:txBody>
      </p:sp>
      <p:sp>
        <p:nvSpPr>
          <p:cNvPr id="57" name="TextBox 56"/>
          <p:cNvSpPr txBox="1"/>
          <p:nvPr/>
        </p:nvSpPr>
        <p:spPr>
          <a:xfrm>
            <a:off x="9646920" y="4663440"/>
            <a:ext cx="2011680" cy="274320"/>
          </a:xfrm>
          <a:prstGeom prst="rect">
            <a:avLst/>
          </a:prstGeom>
          <a:noFill/>
        </p:spPr>
        <p:txBody>
          <a:bodyPr wrap="square" anchor="t" lIns="0" rIns="0" tIns="0" bIns="0">
            <a:spAutoFit/>
          </a:bodyPr>
          <a:lstStyle/>
          <a:p>
            <a:pPr algn="r">
              <a:lnSpc>
                <a:spcPct val="100000"/>
              </a:lnSpc>
              <a:spcAft>
                <a:spcPts val="400"/>
              </a:spcAft>
            </a:pPr>
            <a:r>
              <a:rPr sz="1250" b="1" i="0">
                <a:solidFill>
                  <a:srgbClr val="2E8B57"/>
                </a:solidFill>
                <a:latin typeface="Calibri"/>
              </a:rPr>
              <a:t>B × E × C ÷ 60</a:t>
            </a:r>
          </a:p>
        </p:txBody>
      </p:sp>
      <p:sp>
        <p:nvSpPr>
          <p:cNvPr id="58" name="Rounded Rectangle 57"/>
          <p:cNvSpPr/>
          <p:nvPr/>
        </p:nvSpPr>
        <p:spPr>
          <a:xfrm>
            <a:off x="6199632" y="5084064"/>
            <a:ext cx="5577840" cy="475488"/>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6199632" y="5084064"/>
            <a:ext cx="68580" cy="475488"/>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419088" y="5193792"/>
            <a:ext cx="3200400" cy="256032"/>
          </a:xfrm>
          <a:prstGeom prst="rect">
            <a:avLst/>
          </a:prstGeom>
          <a:noFill/>
        </p:spPr>
        <p:txBody>
          <a:bodyPr wrap="square" anchor="t" lIns="0" rIns="0" tIns="0" bIns="0">
            <a:spAutoFit/>
          </a:bodyPr>
          <a:lstStyle/>
          <a:p>
            <a:pPr algn="l">
              <a:lnSpc>
                <a:spcPct val="100000"/>
              </a:lnSpc>
              <a:spcAft>
                <a:spcPts val="400"/>
              </a:spcAft>
            </a:pPr>
            <a:r>
              <a:rPr sz="1050" b="1" i="0">
                <a:solidFill>
                  <a:srgbClr val="16325C"/>
                </a:solidFill>
                <a:latin typeface="Calibri"/>
              </a:rPr>
              <a:t>Extra parts that time would cost</a:t>
            </a:r>
          </a:p>
        </p:txBody>
      </p:sp>
      <p:sp>
        <p:nvSpPr>
          <p:cNvPr id="61" name="TextBox 60"/>
          <p:cNvSpPr txBox="1"/>
          <p:nvPr/>
        </p:nvSpPr>
        <p:spPr>
          <a:xfrm>
            <a:off x="9646920" y="5175504"/>
            <a:ext cx="2011680" cy="274320"/>
          </a:xfrm>
          <a:prstGeom prst="rect">
            <a:avLst/>
          </a:prstGeom>
          <a:noFill/>
        </p:spPr>
        <p:txBody>
          <a:bodyPr wrap="square" anchor="t" lIns="0" rIns="0" tIns="0" bIns="0">
            <a:spAutoFit/>
          </a:bodyPr>
          <a:lstStyle/>
          <a:p>
            <a:pPr algn="r">
              <a:lnSpc>
                <a:spcPct val="100000"/>
              </a:lnSpc>
              <a:spcAft>
                <a:spcPts val="400"/>
              </a:spcAft>
            </a:pPr>
            <a:r>
              <a:rPr sz="1250" b="1" i="0">
                <a:solidFill>
                  <a:srgbClr val="1D6FB8"/>
                </a:solidFill>
                <a:latin typeface="Calibri"/>
              </a:rPr>
              <a:t>B × E × C ÷ A</a:t>
            </a:r>
          </a:p>
        </p:txBody>
      </p:sp>
      <p:sp>
        <p:nvSpPr>
          <p:cNvPr id="62" name="TextBox 61"/>
          <p:cNvSpPr txBox="1"/>
          <p:nvPr/>
        </p:nvSpPr>
        <p:spPr>
          <a:xfrm>
            <a:off x="6199632" y="5596128"/>
            <a:ext cx="5577840" cy="274320"/>
          </a:xfrm>
          <a:prstGeom prst="rect">
            <a:avLst/>
          </a:prstGeom>
          <a:noFill/>
        </p:spPr>
        <p:txBody>
          <a:bodyPr wrap="square" anchor="t" lIns="0" rIns="0" tIns="0" bIns="0">
            <a:spAutoFit/>
          </a:bodyPr>
          <a:lstStyle/>
          <a:p>
            <a:pPr algn="l">
              <a:lnSpc>
                <a:spcPct val="110000"/>
              </a:lnSpc>
              <a:spcAft>
                <a:spcPts val="400"/>
              </a:spcAft>
            </a:pPr>
            <a:r>
              <a:rPr sz="850" b="0" i="0">
                <a:solidFill>
                  <a:srgbClr val="6B7280"/>
                </a:solidFill>
                <a:latin typeface="Calibri"/>
              </a:rPr>
              <a:t>Assumes typing time falls in step with the values the software fills; the trial tests that.</a:t>
            </a:r>
          </a:p>
        </p:txBody>
      </p:sp>
      <p:sp>
        <p:nvSpPr>
          <p:cNvPr id="63" name="Rounded Rectangle 62"/>
          <p:cNvSpPr/>
          <p:nvPr/>
        </p:nvSpPr>
        <p:spPr>
          <a:xfrm>
            <a:off x="411480" y="5998464"/>
            <a:ext cx="11365992" cy="749808"/>
          </a:xfrm>
          <a:prstGeom prst="roundRect">
            <a:avLst>
              <a:gd name="adj" fmla="val 12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411480" y="5998464"/>
            <a:ext cx="68580" cy="749808"/>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30936" y="6117336"/>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2E8B57"/>
                </a:solidFill>
                <a:latin typeface="Calibri"/>
              </a:rPr>
              <a:t>The step forward: the same defensible should-cost, with the manual work automated</a:t>
            </a:r>
          </a:p>
        </p:txBody>
      </p:sp>
      <p:sp>
        <p:nvSpPr>
          <p:cNvPr id="66" name="TextBox 65"/>
          <p:cNvSpPr txBox="1"/>
          <p:nvPr/>
        </p:nvSpPr>
        <p:spPr>
          <a:xfrm>
            <a:off x="630936" y="6400800"/>
            <a:ext cx="10954512" cy="246888"/>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Nothing about the method changes. The judgement, the build-up and the numbers we would defend to a supplier all stay as they are. What we are proposing to remove is the typing, and then the limit on how many parts we can get through.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Rectangle 4"/>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OPTION 1 · START NOW</a:t>
            </a:r>
          </a:p>
        </p:txBody>
      </p:sp>
      <p:sp>
        <p:nvSpPr>
          <p:cNvPr id="7" name="TextBox 6"/>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Option 1: automate the data entry, inside CAPEE</a:t>
            </a:r>
          </a:p>
        </p:txBody>
      </p:sp>
      <p:sp>
        <p:nvSpPr>
          <p:cNvPr id="8" name="TextBox 7"/>
          <p:cNvSpPr txBox="1"/>
          <p:nvPr/>
        </p:nvSpPr>
        <p:spPr>
          <a:xfrm>
            <a:off x="411480" y="1517904"/>
            <a:ext cx="11338560" cy="274320"/>
          </a:xfrm>
          <a:prstGeom prst="rect">
            <a:avLst/>
          </a:prstGeom>
          <a:noFill/>
        </p:spPr>
        <p:txBody>
          <a:bodyPr wrap="square" anchor="t" lIns="0" rIns="0" tIns="0" bIns="0">
            <a:spAutoFit/>
          </a:bodyPr>
          <a:lstStyle/>
          <a:p>
            <a:pPr algn="l">
              <a:lnSpc>
                <a:spcPct val="100000"/>
              </a:lnSpc>
              <a:spcAft>
                <a:spcPts val="400"/>
              </a:spcAft>
            </a:pPr>
            <a:r>
              <a:rPr sz="1150" b="0" i="0">
                <a:solidFill>
                  <a:srgbClr val="3A4356"/>
                </a:solidFill>
                <a:latin typeface="Calibri"/>
              </a:rPr>
              <a:t>CAPEE keeps doing the costing. The engineer stops typing the input and starts checking it. Reads the 3D model only, so no AI is involved.</a:t>
            </a:r>
          </a:p>
        </p:txBody>
      </p:sp>
      <p:sp>
        <p:nvSpPr>
          <p:cNvPr id="9" name="Rounded Rectangle 8"/>
          <p:cNvSpPr/>
          <p:nvPr/>
        </p:nvSpPr>
        <p:spPr>
          <a:xfrm>
            <a:off x="411480" y="1810512"/>
            <a:ext cx="2134209" cy="173736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10512"/>
            <a:ext cx="2134209" cy="5486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195120" y="1975104"/>
            <a:ext cx="566928" cy="566928"/>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upload.png"/>
          <p:cNvPicPr>
            <a:picLocks noChangeAspect="1"/>
          </p:cNvPicPr>
          <p:nvPr/>
        </p:nvPicPr>
        <p:blipFill>
          <a:blip r:embed="rId2"/>
          <a:stretch>
            <a:fillRect/>
          </a:stretch>
        </p:blipFill>
        <p:spPr>
          <a:xfrm>
            <a:off x="1342521" y="2122505"/>
            <a:ext cx="272126" cy="272126"/>
          </a:xfrm>
          <a:prstGeom prst="rect">
            <a:avLst/>
          </a:prstGeom>
        </p:spPr>
      </p:pic>
      <p:sp>
        <p:nvSpPr>
          <p:cNvPr id="13" name="TextBox 12"/>
          <p:cNvSpPr txBox="1"/>
          <p:nvPr/>
        </p:nvSpPr>
        <p:spPr>
          <a:xfrm>
            <a:off x="484632" y="2651760"/>
            <a:ext cx="1987905"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Attach the 3D model</a:t>
            </a:r>
          </a:p>
        </p:txBody>
      </p:sp>
      <p:sp>
        <p:nvSpPr>
          <p:cNvPr id="14" name="TextBox 13"/>
          <p:cNvSpPr txBox="1"/>
          <p:nvPr/>
        </p:nvSpPr>
        <p:spPr>
          <a:xfrm>
            <a:off x="484632" y="2980944"/>
            <a:ext cx="1987905" cy="512064"/>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STEP, IGES or STL, from the CAPEE screen</a:t>
            </a:r>
          </a:p>
        </p:txBody>
      </p:sp>
      <p:sp>
        <p:nvSpPr>
          <p:cNvPr id="15" name="Right Arrow 14"/>
          <p:cNvSpPr/>
          <p:nvPr/>
        </p:nvSpPr>
        <p:spPr>
          <a:xfrm>
            <a:off x="2563977" y="2578608"/>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2719425" y="1810512"/>
            <a:ext cx="2134209" cy="173736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719425" y="1810512"/>
            <a:ext cx="2134209" cy="5486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3503065" y="1975104"/>
            <a:ext cx="566928" cy="566928"/>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ruler.png"/>
          <p:cNvPicPr>
            <a:picLocks noChangeAspect="1"/>
          </p:cNvPicPr>
          <p:nvPr/>
        </p:nvPicPr>
        <p:blipFill>
          <a:blip r:embed="rId3"/>
          <a:stretch>
            <a:fillRect/>
          </a:stretch>
        </p:blipFill>
        <p:spPr>
          <a:xfrm>
            <a:off x="3650466" y="2122505"/>
            <a:ext cx="272126" cy="272126"/>
          </a:xfrm>
          <a:prstGeom prst="rect">
            <a:avLst/>
          </a:prstGeom>
        </p:spPr>
      </p:pic>
      <p:sp>
        <p:nvSpPr>
          <p:cNvPr id="20" name="TextBox 19"/>
          <p:cNvSpPr txBox="1"/>
          <p:nvPr/>
        </p:nvSpPr>
        <p:spPr>
          <a:xfrm>
            <a:off x="2792577" y="2651760"/>
            <a:ext cx="1987905"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The software measures it</a:t>
            </a:r>
          </a:p>
        </p:txBody>
      </p:sp>
      <p:sp>
        <p:nvSpPr>
          <p:cNvPr id="21" name="TextBox 20"/>
          <p:cNvSpPr txBox="1"/>
          <p:nvPr/>
        </p:nvSpPr>
        <p:spPr>
          <a:xfrm>
            <a:off x="2792577" y="2980944"/>
            <a:ext cx="1987905" cy="512064"/>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On a JLR server, with no internet connection</a:t>
            </a:r>
          </a:p>
        </p:txBody>
      </p:sp>
      <p:sp>
        <p:nvSpPr>
          <p:cNvPr id="22" name="Right Arrow 21"/>
          <p:cNvSpPr/>
          <p:nvPr/>
        </p:nvSpPr>
        <p:spPr>
          <a:xfrm>
            <a:off x="4871922" y="2578608"/>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7370" y="1810512"/>
            <a:ext cx="2134209" cy="173736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027370" y="1810512"/>
            <a:ext cx="2134209" cy="5486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5811010" y="1975104"/>
            <a:ext cx="566928" cy="566928"/>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cog.png"/>
          <p:cNvPicPr>
            <a:picLocks noChangeAspect="1"/>
          </p:cNvPicPr>
          <p:nvPr/>
        </p:nvPicPr>
        <p:blipFill>
          <a:blip r:embed="rId4"/>
          <a:stretch>
            <a:fillRect/>
          </a:stretch>
        </p:blipFill>
        <p:spPr>
          <a:xfrm>
            <a:off x="5958411" y="2122505"/>
            <a:ext cx="272126" cy="272126"/>
          </a:xfrm>
          <a:prstGeom prst="rect">
            <a:avLst/>
          </a:prstGeom>
        </p:spPr>
      </p:pic>
      <p:sp>
        <p:nvSpPr>
          <p:cNvPr id="27" name="TextBox 26"/>
          <p:cNvSpPr txBox="1"/>
          <p:nvPr/>
        </p:nvSpPr>
        <p:spPr>
          <a:xfrm>
            <a:off x="5100522" y="2651760"/>
            <a:ext cx="1987905"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The values fill in</a:t>
            </a:r>
          </a:p>
        </p:txBody>
      </p:sp>
      <p:sp>
        <p:nvSpPr>
          <p:cNvPr id="28" name="TextBox 27"/>
          <p:cNvSpPr txBox="1"/>
          <p:nvPr/>
        </p:nvSpPr>
        <p:spPr>
          <a:xfrm>
            <a:off x="5100522" y="2980944"/>
            <a:ext cx="1987905" cy="512064"/>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Fixed rules. Same part, same numbers, always</a:t>
            </a:r>
          </a:p>
        </p:txBody>
      </p:sp>
      <p:sp>
        <p:nvSpPr>
          <p:cNvPr id="29" name="Right Arrow 28"/>
          <p:cNvSpPr/>
          <p:nvPr/>
        </p:nvSpPr>
        <p:spPr>
          <a:xfrm>
            <a:off x="7179867" y="2578608"/>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7335315" y="1810512"/>
            <a:ext cx="2134209" cy="173736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335315" y="1810512"/>
            <a:ext cx="2134209" cy="54864"/>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8118955" y="1975104"/>
            <a:ext cx="566928" cy="566928"/>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3" name="Picture 32" descr="person.png"/>
          <p:cNvPicPr>
            <a:picLocks noChangeAspect="1"/>
          </p:cNvPicPr>
          <p:nvPr/>
        </p:nvPicPr>
        <p:blipFill>
          <a:blip r:embed="rId5"/>
          <a:stretch>
            <a:fillRect/>
          </a:stretch>
        </p:blipFill>
        <p:spPr>
          <a:xfrm>
            <a:off x="8266356" y="2122505"/>
            <a:ext cx="272126" cy="272126"/>
          </a:xfrm>
          <a:prstGeom prst="rect">
            <a:avLst/>
          </a:prstGeom>
        </p:spPr>
      </p:pic>
      <p:sp>
        <p:nvSpPr>
          <p:cNvPr id="34" name="TextBox 33"/>
          <p:cNvSpPr txBox="1"/>
          <p:nvPr/>
        </p:nvSpPr>
        <p:spPr>
          <a:xfrm>
            <a:off x="7408467" y="2651760"/>
            <a:ext cx="1987905"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The engineer confirms</a:t>
            </a:r>
          </a:p>
        </p:txBody>
      </p:sp>
      <p:sp>
        <p:nvSpPr>
          <p:cNvPr id="35" name="TextBox 34"/>
          <p:cNvSpPr txBox="1"/>
          <p:nvPr/>
        </p:nvSpPr>
        <p:spPr>
          <a:xfrm>
            <a:off x="7408467" y="2980944"/>
            <a:ext cx="1987905" cy="512064"/>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Only what a 3D model cannot show</a:t>
            </a:r>
          </a:p>
        </p:txBody>
      </p:sp>
      <p:sp>
        <p:nvSpPr>
          <p:cNvPr id="36" name="Right Arrow 35"/>
          <p:cNvSpPr/>
          <p:nvPr/>
        </p:nvSpPr>
        <p:spPr>
          <a:xfrm>
            <a:off x="9487812" y="2578608"/>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9643260" y="1810512"/>
            <a:ext cx="2134209" cy="173736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643260" y="1810512"/>
            <a:ext cx="2134209" cy="54864"/>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0426900" y="1975104"/>
            <a:ext cx="566928" cy="566928"/>
          </a:xfrm>
          <a:prstGeom prst="ellipse">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0" name="Picture 39" descr="calc.png"/>
          <p:cNvPicPr>
            <a:picLocks noChangeAspect="1"/>
          </p:cNvPicPr>
          <p:nvPr/>
        </p:nvPicPr>
        <p:blipFill>
          <a:blip r:embed="rId6"/>
          <a:stretch>
            <a:fillRect/>
          </a:stretch>
        </p:blipFill>
        <p:spPr>
          <a:xfrm>
            <a:off x="10574301" y="2122505"/>
            <a:ext cx="272126" cy="272126"/>
          </a:xfrm>
          <a:prstGeom prst="rect">
            <a:avLst/>
          </a:prstGeom>
        </p:spPr>
      </p:pic>
      <p:sp>
        <p:nvSpPr>
          <p:cNvPr id="41" name="TextBox 40"/>
          <p:cNvSpPr txBox="1"/>
          <p:nvPr/>
        </p:nvSpPr>
        <p:spPr>
          <a:xfrm>
            <a:off x="9716412" y="2651760"/>
            <a:ext cx="1987905"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CAPEE costs the part</a:t>
            </a:r>
          </a:p>
        </p:txBody>
      </p:sp>
      <p:sp>
        <p:nvSpPr>
          <p:cNvPr id="42" name="TextBox 41"/>
          <p:cNvSpPr txBox="1"/>
          <p:nvPr/>
        </p:nvSpPr>
        <p:spPr>
          <a:xfrm>
            <a:off x="9716412" y="2980944"/>
            <a:ext cx="1987905" cy="512064"/>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Exactly as it does now. It just gets the numbers</a:t>
            </a:r>
          </a:p>
        </p:txBody>
      </p:sp>
      <p:sp>
        <p:nvSpPr>
          <p:cNvPr id="43" name="Rounded Rectangle 42"/>
          <p:cNvSpPr/>
          <p:nvPr/>
        </p:nvSpPr>
        <p:spPr>
          <a:xfrm>
            <a:off x="411480" y="3675887"/>
            <a:ext cx="5577840" cy="1874519"/>
          </a:xfrm>
          <a:prstGeom prst="roundRect">
            <a:avLst>
              <a:gd name="adj" fmla="val 12000"/>
            </a:avLst>
          </a:prstGeom>
          <a:solidFill>
            <a:srgbClr val="EAF6E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411480" y="3675887"/>
            <a:ext cx="68580" cy="1874519"/>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12648" y="3803903"/>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WHAT THE 3D MODEL GIVES, WITH NOTHING TYPED</a:t>
            </a:r>
          </a:p>
        </p:txBody>
      </p:sp>
      <p:sp>
        <p:nvSpPr>
          <p:cNvPr id="46" name="TextBox 45"/>
          <p:cNvSpPr txBox="1"/>
          <p:nvPr/>
        </p:nvSpPr>
        <p:spPr>
          <a:xfrm>
            <a:off x="612648" y="4114799"/>
            <a:ext cx="5212080" cy="1325879"/>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Weight, volume, overall size, surface area.</a:t>
            </a:r>
          </a:p>
          <a:p>
            <a:pPr algn="l">
              <a:lnSpc>
                <a:spcPct val="112000"/>
              </a:lnSpc>
              <a:spcAft>
                <a:spcPts val="300"/>
              </a:spcAft>
            </a:pPr>
            <a:r>
              <a:rPr sz="1050" b="0" i="0">
                <a:solidFill>
                  <a:srgbClr val="3A4356"/>
                </a:solidFill>
                <a:latin typeface="Calibri"/>
              </a:rPr>
              <a:t>Wall thickness, holes, pockets, bosses, bends,</a:t>
            </a:r>
          </a:p>
          <a:p>
            <a:pPr algn="l">
              <a:lnSpc>
                <a:spcPct val="112000"/>
              </a:lnSpc>
              <a:spcAft>
                <a:spcPts val="300"/>
              </a:spcAft>
            </a:pPr>
            <a:r>
              <a:rPr sz="1050" b="0" i="0">
                <a:solidFill>
                  <a:srgbClr val="3A4356"/>
                </a:solidFill>
                <a:latin typeface="Calibri"/>
              </a:rPr>
              <a:t>gear teeth, draft, machined face count.</a:t>
            </a:r>
          </a:p>
          <a:p>
            <a:pPr algn="l">
              <a:lnSpc>
                <a:spcPct val="112000"/>
              </a:lnSpc>
              <a:spcAft>
                <a:spcPts val="300"/>
              </a:spcAft>
            </a:pPr>
          </a:p>
          <a:p>
            <a:pPr algn="l">
              <a:lnSpc>
                <a:spcPct val="112000"/>
              </a:lnSpc>
              <a:spcAft>
                <a:spcPts val="300"/>
              </a:spcAft>
            </a:pPr>
            <a:r>
              <a:rPr sz="1050" b="1" i="0">
                <a:solidFill>
                  <a:srgbClr val="16325C"/>
                </a:solidFill>
                <a:latin typeface="Calibri"/>
              </a:rPr>
              <a:t>Fixed rules turn those measurements into the</a:t>
            </a:r>
          </a:p>
          <a:p>
            <a:pPr algn="l">
              <a:lnSpc>
                <a:spcPct val="112000"/>
              </a:lnSpc>
              <a:spcAft>
                <a:spcPts val="300"/>
              </a:spcAft>
            </a:pPr>
            <a:r>
              <a:rPr sz="1050" b="1" i="0">
                <a:solidFill>
                  <a:srgbClr val="16325C"/>
                </a:solidFill>
                <a:latin typeface="Calibri"/>
              </a:rPr>
              <a:t>values the CAPEE form asks for.</a:t>
            </a:r>
          </a:p>
        </p:txBody>
      </p:sp>
      <p:sp>
        <p:nvSpPr>
          <p:cNvPr id="47" name="Rounded Rectangle 46"/>
          <p:cNvSpPr/>
          <p:nvPr/>
        </p:nvSpPr>
        <p:spPr>
          <a:xfrm>
            <a:off x="6199632" y="3675887"/>
            <a:ext cx="5577840" cy="1874519"/>
          </a:xfrm>
          <a:prstGeom prst="roundRect">
            <a:avLst>
              <a:gd name="adj" fmla="val 12000"/>
            </a:avLst>
          </a:prstGeom>
          <a:solidFill>
            <a:srgbClr val="FCF3E3"/>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199632" y="3675887"/>
            <a:ext cx="68580" cy="1874519"/>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400800" y="3803903"/>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WHAT A PERSON STILL SUPPLIES</a:t>
            </a:r>
          </a:p>
        </p:txBody>
      </p:sp>
      <p:sp>
        <p:nvSpPr>
          <p:cNvPr id="50" name="TextBox 49"/>
          <p:cNvSpPr txBox="1"/>
          <p:nvPr/>
        </p:nvSpPr>
        <p:spPr>
          <a:xfrm>
            <a:off x="6400800" y="4114799"/>
            <a:ext cx="5212080" cy="1325879"/>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Which material it is. A 3D model cannot tell steel</a:t>
            </a:r>
          </a:p>
          <a:p>
            <a:pPr algn="l">
              <a:lnSpc>
                <a:spcPct val="112000"/>
              </a:lnSpc>
              <a:spcAft>
                <a:spcPts val="300"/>
              </a:spcAft>
            </a:pPr>
            <a:r>
              <a:rPr sz="1050" b="0" i="0">
                <a:solidFill>
                  <a:srgbClr val="3A4356"/>
                </a:solidFill>
                <a:latin typeface="Calibri"/>
              </a:rPr>
              <a:t>from aluminium, and the same shape weighs about</a:t>
            </a:r>
          </a:p>
          <a:p>
            <a:pPr algn="l">
              <a:lnSpc>
                <a:spcPct val="112000"/>
              </a:lnSpc>
              <a:spcAft>
                <a:spcPts val="300"/>
              </a:spcAft>
            </a:pPr>
            <a:r>
              <a:rPr sz="1050" b="0" i="0">
                <a:solidFill>
                  <a:srgbClr val="3A4356"/>
                </a:solidFill>
                <a:latin typeface="Calibri"/>
              </a:rPr>
              <a:t>three times more in one than the other.</a:t>
            </a:r>
          </a:p>
          <a:p>
            <a:pPr algn="l">
              <a:lnSpc>
                <a:spcPct val="112000"/>
              </a:lnSpc>
              <a:spcAft>
                <a:spcPts val="300"/>
              </a:spcAft>
            </a:pPr>
          </a:p>
          <a:p>
            <a:pPr algn="l">
              <a:lnSpc>
                <a:spcPct val="112000"/>
              </a:lnSpc>
              <a:spcAft>
                <a:spcPts val="300"/>
              </a:spcAft>
            </a:pPr>
            <a:r>
              <a:rPr sz="1050" b="1" i="0">
                <a:solidFill>
                  <a:srgbClr val="16325C"/>
                </a:solidFill>
                <a:latin typeface="Calibri"/>
              </a:rPr>
              <a:t>Tolerance class, finish, heat treatment, coating.</a:t>
            </a:r>
          </a:p>
          <a:p>
            <a:pPr algn="l">
              <a:lnSpc>
                <a:spcPct val="112000"/>
              </a:lnSpc>
              <a:spcAft>
                <a:spcPts val="300"/>
              </a:spcAft>
            </a:pPr>
            <a:r>
              <a:rPr sz="1050" b="1" i="0">
                <a:solidFill>
                  <a:srgbClr val="16325C"/>
                </a:solidFill>
                <a:latin typeface="Calibri"/>
              </a:rPr>
              <a:t>The tool asks. It never guesses and never pre-ticks.</a:t>
            </a:r>
          </a:p>
        </p:txBody>
      </p:sp>
      <p:sp>
        <p:nvSpPr>
          <p:cNvPr id="51" name="Rounded Rectangle 50"/>
          <p:cNvSpPr/>
          <p:nvPr/>
        </p:nvSpPr>
        <p:spPr>
          <a:xfrm>
            <a:off x="411480" y="5641848"/>
            <a:ext cx="11365992" cy="969264"/>
          </a:xfrm>
          <a:prstGeom prst="roundRect">
            <a:avLst>
              <a:gd name="adj" fmla="val 12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411480" y="5641848"/>
            <a:ext cx="68580" cy="96926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30936" y="5760720"/>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1D6FB8"/>
                </a:solidFill>
                <a:latin typeface="Calibri"/>
              </a:rPr>
              <a:t>Why this one can start now</a:t>
            </a:r>
          </a:p>
        </p:txBody>
      </p:sp>
      <p:sp>
        <p:nvSpPr>
          <p:cNvPr id="54" name="TextBox 53"/>
          <p:cNvSpPr txBox="1"/>
          <p:nvPr/>
        </p:nvSpPr>
        <p:spPr>
          <a:xfrm>
            <a:off x="630936" y="6044184"/>
            <a:ext cx="10954512" cy="466344"/>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The 3D model is measured by ordinary engineering software, the same kind of geometry engine that sits inside a CAD package, and the values are filled in by fixed rules. There is no AI in this option, so it needs no AI approval. The file is read on a JLR server and never leaves it, and CAPEE still does the costing on the same screens.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Rectangle 4"/>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OPTION 2 · THE CAPABILITY</a:t>
            </a:r>
          </a:p>
        </p:txBody>
      </p:sp>
      <p:sp>
        <p:nvSpPr>
          <p:cNvPr id="7" name="TextBox 6"/>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Option 2: what CostVision does</a:t>
            </a:r>
          </a:p>
        </p:txBody>
      </p:sp>
      <p:sp>
        <p:nvSpPr>
          <p:cNvPr id="8" name="TextBox 7"/>
          <p:cNvSpPr txBox="1"/>
          <p:nvPr/>
        </p:nvSpPr>
        <p:spPr>
          <a:xfrm>
            <a:off x="411480" y="1517904"/>
            <a:ext cx="11338560" cy="274320"/>
          </a:xfrm>
          <a:prstGeom prst="rect">
            <a:avLst/>
          </a:prstGeom>
          <a:noFill/>
        </p:spPr>
        <p:txBody>
          <a:bodyPr wrap="square" anchor="t" lIns="0" rIns="0" tIns="0" bIns="0">
            <a:spAutoFit/>
          </a:bodyPr>
          <a:lstStyle/>
          <a:p>
            <a:pPr algn="l">
              <a:lnSpc>
                <a:spcPct val="100000"/>
              </a:lnSpc>
              <a:spcAft>
                <a:spcPts val="400"/>
              </a:spcAft>
            </a:pPr>
            <a:r>
              <a:rPr sz="1150" b="0" i="0">
                <a:solidFill>
                  <a:srgbClr val="3A4356"/>
                </a:solidFill>
                <a:latin typeface="Calibri"/>
              </a:rPr>
              <a:t>What the tool does. Five of these work today, one part at a time — running them over a whole basket is what Option 2 builds.</a:t>
            </a:r>
          </a:p>
        </p:txBody>
      </p:sp>
      <p:sp>
        <p:nvSpPr>
          <p:cNvPr id="9" name="Rounded Rectangle 8"/>
          <p:cNvSpPr/>
          <p:nvPr/>
        </p:nvSpPr>
        <p:spPr>
          <a:xfrm>
            <a:off x="411480" y="1828800"/>
            <a:ext cx="3666744"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28800"/>
            <a:ext cx="3666744" cy="54864"/>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9224" y="2066544"/>
            <a:ext cx="548640" cy="54864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og.png"/>
          <p:cNvPicPr>
            <a:picLocks noChangeAspect="1"/>
          </p:cNvPicPr>
          <p:nvPr/>
        </p:nvPicPr>
        <p:blipFill>
          <a:blip r:embed="rId2"/>
          <a:stretch>
            <a:fillRect/>
          </a:stretch>
        </p:blipFill>
        <p:spPr>
          <a:xfrm>
            <a:off x="791870" y="2209190"/>
            <a:ext cx="263348" cy="263348"/>
          </a:xfrm>
          <a:prstGeom prst="rect">
            <a:avLst/>
          </a:prstGeom>
        </p:spPr>
      </p:pic>
      <p:sp>
        <p:nvSpPr>
          <p:cNvPr id="13" name="TextBox 12"/>
          <p:cNvSpPr txBox="1"/>
          <p:nvPr/>
        </p:nvSpPr>
        <p:spPr>
          <a:xfrm>
            <a:off x="649224" y="2743200"/>
            <a:ext cx="3209544" cy="310896"/>
          </a:xfrm>
          <a:prstGeom prst="rect">
            <a:avLst/>
          </a:prstGeom>
          <a:noFill/>
        </p:spPr>
        <p:txBody>
          <a:bodyPr wrap="square" anchor="t" lIns="0" rIns="0" tIns="0" bIns="0">
            <a:spAutoFit/>
          </a:bodyPr>
          <a:lstStyle/>
          <a:p>
            <a:pPr algn="l">
              <a:lnSpc>
                <a:spcPct val="100000"/>
              </a:lnSpc>
              <a:spcAft>
                <a:spcPts val="400"/>
              </a:spcAft>
            </a:pPr>
            <a:r>
              <a:rPr sz="1180" b="1" i="0">
                <a:solidFill>
                  <a:srgbClr val="16325C"/>
                </a:solidFill>
                <a:latin typeface="Calibri"/>
              </a:rPr>
              <a:t>Cost a whole basket, unattended</a:t>
            </a:r>
          </a:p>
        </p:txBody>
      </p:sp>
      <p:sp>
        <p:nvSpPr>
          <p:cNvPr id="14" name="TextBox 13"/>
          <p:cNvSpPr txBox="1"/>
          <p:nvPr/>
        </p:nvSpPr>
        <p:spPr>
          <a:xfrm>
            <a:off x="649224" y="3072384"/>
            <a:ext cx="3209544" cy="557783"/>
          </a:xfrm>
          <a:prstGeom prst="rect">
            <a:avLst/>
          </a:prstGeom>
          <a:noFill/>
        </p:spPr>
        <p:txBody>
          <a:bodyPr wrap="square" anchor="t" lIns="0" rIns="0" tIns="0" bIns="0">
            <a:spAutoFit/>
          </a:bodyPr>
          <a:lstStyle/>
          <a:p>
            <a:pPr algn="l">
              <a:lnSpc>
                <a:spcPct val="114000"/>
              </a:lnSpc>
              <a:spcAft>
                <a:spcPts val="400"/>
              </a:spcAft>
            </a:pPr>
            <a:r>
              <a:rPr sz="980" b="0" i="0">
                <a:solidFill>
                  <a:srgbClr val="3A4356"/>
                </a:solidFill>
                <a:latin typeface="Calibri"/>
              </a:rPr>
              <a:t>A list of parts and their 3D models goes in. Every part costed and reported with nobody sitting there. This is the one Option 2 builds.</a:t>
            </a:r>
          </a:p>
        </p:txBody>
      </p:sp>
      <p:sp>
        <p:nvSpPr>
          <p:cNvPr id="15" name="Rounded Rectangle 14"/>
          <p:cNvSpPr/>
          <p:nvPr/>
        </p:nvSpPr>
        <p:spPr>
          <a:xfrm>
            <a:off x="4261104" y="1828800"/>
            <a:ext cx="3666744"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261104" y="1828800"/>
            <a:ext cx="3666744" cy="54864"/>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4498848" y="2066544"/>
            <a:ext cx="548640" cy="548640"/>
          </a:xfrm>
          <a:prstGeom prst="ellipse">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eye.png"/>
          <p:cNvPicPr>
            <a:picLocks noChangeAspect="1"/>
          </p:cNvPicPr>
          <p:nvPr/>
        </p:nvPicPr>
        <p:blipFill>
          <a:blip r:embed="rId3"/>
          <a:stretch>
            <a:fillRect/>
          </a:stretch>
        </p:blipFill>
        <p:spPr>
          <a:xfrm>
            <a:off x="4641494" y="2209190"/>
            <a:ext cx="263348" cy="263348"/>
          </a:xfrm>
          <a:prstGeom prst="rect">
            <a:avLst/>
          </a:prstGeom>
        </p:spPr>
      </p:pic>
      <p:sp>
        <p:nvSpPr>
          <p:cNvPr id="19" name="TextBox 18"/>
          <p:cNvSpPr txBox="1"/>
          <p:nvPr/>
        </p:nvSpPr>
        <p:spPr>
          <a:xfrm>
            <a:off x="4498848" y="2743200"/>
            <a:ext cx="3209544" cy="310896"/>
          </a:xfrm>
          <a:prstGeom prst="rect">
            <a:avLst/>
          </a:prstGeom>
          <a:noFill/>
        </p:spPr>
        <p:txBody>
          <a:bodyPr wrap="square" anchor="t" lIns="0" rIns="0" tIns="0" bIns="0">
            <a:spAutoFit/>
          </a:bodyPr>
          <a:lstStyle/>
          <a:p>
            <a:pPr algn="l">
              <a:lnSpc>
                <a:spcPct val="100000"/>
              </a:lnSpc>
              <a:spcAft>
                <a:spcPts val="400"/>
              </a:spcAft>
            </a:pPr>
            <a:r>
              <a:rPr sz="1180" b="1" i="0">
                <a:solidFill>
                  <a:srgbClr val="16325C"/>
                </a:solidFill>
                <a:latin typeface="Calibri"/>
              </a:rPr>
              <a:t>A board photo becomes a costed BOM</a:t>
            </a:r>
          </a:p>
        </p:txBody>
      </p:sp>
      <p:sp>
        <p:nvSpPr>
          <p:cNvPr id="20" name="TextBox 19"/>
          <p:cNvSpPr txBox="1"/>
          <p:nvPr/>
        </p:nvSpPr>
        <p:spPr>
          <a:xfrm>
            <a:off x="4498848" y="3072384"/>
            <a:ext cx="3209544" cy="557783"/>
          </a:xfrm>
          <a:prstGeom prst="rect">
            <a:avLst/>
          </a:prstGeom>
          <a:noFill/>
        </p:spPr>
        <p:txBody>
          <a:bodyPr wrap="square" anchor="t" lIns="0" rIns="0" tIns="0" bIns="0">
            <a:spAutoFit/>
          </a:bodyPr>
          <a:lstStyle/>
          <a:p>
            <a:pPr algn="l">
              <a:lnSpc>
                <a:spcPct val="114000"/>
              </a:lnSpc>
              <a:spcAft>
                <a:spcPts val="400"/>
              </a:spcAft>
            </a:pPr>
            <a:r>
              <a:rPr sz="980" b="0" i="0">
                <a:solidFill>
                  <a:srgbClr val="3A4356"/>
                </a:solidFill>
                <a:latin typeface="Calibri"/>
              </a:rPr>
              <a:t>Take a picture of a circuit board. The tool works out what is on it, builds the bill of materials and the board spec, and costs it.</a:t>
            </a:r>
          </a:p>
        </p:txBody>
      </p:sp>
      <p:sp>
        <p:nvSpPr>
          <p:cNvPr id="21" name="Rounded Rectangle 20"/>
          <p:cNvSpPr/>
          <p:nvPr/>
        </p:nvSpPr>
        <p:spPr>
          <a:xfrm>
            <a:off x="8110728" y="1828800"/>
            <a:ext cx="3666744"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110728" y="1828800"/>
            <a:ext cx="3666744" cy="54864"/>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348472" y="2066544"/>
            <a:ext cx="548640" cy="548640"/>
          </a:xfrm>
          <a:prstGeom prst="ellipse">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clip.png"/>
          <p:cNvPicPr>
            <a:picLocks noChangeAspect="1"/>
          </p:cNvPicPr>
          <p:nvPr/>
        </p:nvPicPr>
        <p:blipFill>
          <a:blip r:embed="rId4"/>
          <a:stretch>
            <a:fillRect/>
          </a:stretch>
        </p:blipFill>
        <p:spPr>
          <a:xfrm>
            <a:off x="8491118" y="2209190"/>
            <a:ext cx="263348" cy="263348"/>
          </a:xfrm>
          <a:prstGeom prst="rect">
            <a:avLst/>
          </a:prstGeom>
        </p:spPr>
      </p:pic>
      <p:sp>
        <p:nvSpPr>
          <p:cNvPr id="25" name="TextBox 24"/>
          <p:cNvSpPr txBox="1"/>
          <p:nvPr/>
        </p:nvSpPr>
        <p:spPr>
          <a:xfrm>
            <a:off x="8348472" y="2743200"/>
            <a:ext cx="3209544" cy="310896"/>
          </a:xfrm>
          <a:prstGeom prst="rect">
            <a:avLst/>
          </a:prstGeom>
          <a:noFill/>
        </p:spPr>
        <p:txBody>
          <a:bodyPr wrap="square" anchor="t" lIns="0" rIns="0" tIns="0" bIns="0">
            <a:spAutoFit/>
          </a:bodyPr>
          <a:lstStyle/>
          <a:p>
            <a:pPr algn="l">
              <a:lnSpc>
                <a:spcPct val="100000"/>
              </a:lnSpc>
              <a:spcAft>
                <a:spcPts val="400"/>
              </a:spcAft>
            </a:pPr>
            <a:r>
              <a:rPr sz="1180" b="1" i="0">
                <a:solidFill>
                  <a:srgbClr val="16325C"/>
                </a:solidFill>
                <a:latin typeface="Calibri"/>
              </a:rPr>
              <a:t>An RFQ pack becomes costed lines</a:t>
            </a:r>
          </a:p>
        </p:txBody>
      </p:sp>
      <p:sp>
        <p:nvSpPr>
          <p:cNvPr id="26" name="TextBox 25"/>
          <p:cNvSpPr txBox="1"/>
          <p:nvPr/>
        </p:nvSpPr>
        <p:spPr>
          <a:xfrm>
            <a:off x="8348472" y="3072384"/>
            <a:ext cx="3209544" cy="557783"/>
          </a:xfrm>
          <a:prstGeom prst="rect">
            <a:avLst/>
          </a:prstGeom>
          <a:noFill/>
        </p:spPr>
        <p:txBody>
          <a:bodyPr wrap="square" anchor="t" lIns="0" rIns="0" tIns="0" bIns="0">
            <a:spAutoFit/>
          </a:bodyPr>
          <a:lstStyle/>
          <a:p>
            <a:pPr algn="l">
              <a:lnSpc>
                <a:spcPct val="114000"/>
              </a:lnSpc>
              <a:spcAft>
                <a:spcPts val="400"/>
              </a:spcAft>
            </a:pPr>
            <a:r>
              <a:rPr sz="980" b="0" i="0">
                <a:solidFill>
                  <a:srgbClr val="3A4356"/>
                </a:solidFill>
                <a:latin typeface="Calibri"/>
              </a:rPr>
              <a:t>The tool pulls the line items out of the pack, costs each one, ranks them by money and drafts the negotiation brief.</a:t>
            </a:r>
          </a:p>
        </p:txBody>
      </p:sp>
      <p:sp>
        <p:nvSpPr>
          <p:cNvPr id="27" name="Rounded Rectangle 26"/>
          <p:cNvSpPr/>
          <p:nvPr/>
        </p:nvSpPr>
        <p:spPr>
          <a:xfrm>
            <a:off x="411480" y="3794760"/>
            <a:ext cx="3666744"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11480" y="3794760"/>
            <a:ext cx="3666744" cy="5486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649224" y="4032504"/>
            <a:ext cx="548640" cy="548640"/>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person.png"/>
          <p:cNvPicPr>
            <a:picLocks noChangeAspect="1"/>
          </p:cNvPicPr>
          <p:nvPr/>
        </p:nvPicPr>
        <p:blipFill>
          <a:blip r:embed="rId5"/>
          <a:stretch>
            <a:fillRect/>
          </a:stretch>
        </p:blipFill>
        <p:spPr>
          <a:xfrm>
            <a:off x="791870" y="4175150"/>
            <a:ext cx="263348" cy="263348"/>
          </a:xfrm>
          <a:prstGeom prst="rect">
            <a:avLst/>
          </a:prstGeom>
        </p:spPr>
      </p:pic>
      <p:sp>
        <p:nvSpPr>
          <p:cNvPr id="31" name="TextBox 30"/>
          <p:cNvSpPr txBox="1"/>
          <p:nvPr/>
        </p:nvSpPr>
        <p:spPr>
          <a:xfrm>
            <a:off x="649224" y="4709160"/>
            <a:ext cx="3209544" cy="310896"/>
          </a:xfrm>
          <a:prstGeom prst="rect">
            <a:avLst/>
          </a:prstGeom>
          <a:noFill/>
        </p:spPr>
        <p:txBody>
          <a:bodyPr wrap="square" anchor="t" lIns="0" rIns="0" tIns="0" bIns="0">
            <a:spAutoFit/>
          </a:bodyPr>
          <a:lstStyle/>
          <a:p>
            <a:pPr algn="l">
              <a:lnSpc>
                <a:spcPct val="100000"/>
              </a:lnSpc>
              <a:spcAft>
                <a:spcPts val="400"/>
              </a:spcAft>
            </a:pPr>
            <a:r>
              <a:rPr sz="1180" b="1" i="0">
                <a:solidFill>
                  <a:srgbClr val="16325C"/>
                </a:solidFill>
                <a:latin typeface="Calibri"/>
              </a:rPr>
              <a:t>An assistant does the setting up</a:t>
            </a:r>
          </a:p>
        </p:txBody>
      </p:sp>
      <p:sp>
        <p:nvSpPr>
          <p:cNvPr id="32" name="TextBox 31"/>
          <p:cNvSpPr txBox="1"/>
          <p:nvPr/>
        </p:nvSpPr>
        <p:spPr>
          <a:xfrm>
            <a:off x="649224" y="5038344"/>
            <a:ext cx="3209544" cy="557783"/>
          </a:xfrm>
          <a:prstGeom prst="rect">
            <a:avLst/>
          </a:prstGeom>
          <a:noFill/>
        </p:spPr>
        <p:txBody>
          <a:bodyPr wrap="square" anchor="t" lIns="0" rIns="0" tIns="0" bIns="0">
            <a:spAutoFit/>
          </a:bodyPr>
          <a:lstStyle/>
          <a:p>
            <a:pPr algn="l">
              <a:lnSpc>
                <a:spcPct val="114000"/>
              </a:lnSpc>
              <a:spcAft>
                <a:spcPts val="400"/>
              </a:spcAft>
            </a:pPr>
            <a:r>
              <a:rPr sz="980" b="0" i="0">
                <a:solidFill>
                  <a:srgbClr val="3A4356"/>
                </a:solidFill>
                <a:latin typeface="Calibri"/>
              </a:rPr>
              <a:t>It picks the process route and the machine and fills in what the geometry gives, then asks one question instead of a hundred.</a:t>
            </a:r>
          </a:p>
        </p:txBody>
      </p:sp>
      <p:sp>
        <p:nvSpPr>
          <p:cNvPr id="33" name="Rounded Rectangle 32"/>
          <p:cNvSpPr/>
          <p:nvPr/>
        </p:nvSpPr>
        <p:spPr>
          <a:xfrm>
            <a:off x="4261104" y="3794760"/>
            <a:ext cx="3666744"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261104" y="3794760"/>
            <a:ext cx="3666744" cy="5486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4498848" y="4032504"/>
            <a:ext cx="548640" cy="548640"/>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6" name="Picture 35" descr="coins.png"/>
          <p:cNvPicPr>
            <a:picLocks noChangeAspect="1"/>
          </p:cNvPicPr>
          <p:nvPr/>
        </p:nvPicPr>
        <p:blipFill>
          <a:blip r:embed="rId6"/>
          <a:stretch>
            <a:fillRect/>
          </a:stretch>
        </p:blipFill>
        <p:spPr>
          <a:xfrm>
            <a:off x="4641494" y="4175150"/>
            <a:ext cx="263348" cy="263348"/>
          </a:xfrm>
          <a:prstGeom prst="rect">
            <a:avLst/>
          </a:prstGeom>
        </p:spPr>
      </p:pic>
      <p:sp>
        <p:nvSpPr>
          <p:cNvPr id="37" name="TextBox 36"/>
          <p:cNvSpPr txBox="1"/>
          <p:nvPr/>
        </p:nvSpPr>
        <p:spPr>
          <a:xfrm>
            <a:off x="4498848" y="4709160"/>
            <a:ext cx="3209544" cy="310896"/>
          </a:xfrm>
          <a:prstGeom prst="rect">
            <a:avLst/>
          </a:prstGeom>
          <a:noFill/>
        </p:spPr>
        <p:txBody>
          <a:bodyPr wrap="square" anchor="t" lIns="0" rIns="0" tIns="0" bIns="0">
            <a:spAutoFit/>
          </a:bodyPr>
          <a:lstStyle/>
          <a:p>
            <a:pPr algn="l">
              <a:lnSpc>
                <a:spcPct val="100000"/>
              </a:lnSpc>
              <a:spcAft>
                <a:spcPts val="400"/>
              </a:spcAft>
            </a:pPr>
            <a:r>
              <a:rPr sz="1180" b="1" i="0">
                <a:solidFill>
                  <a:srgbClr val="16325C"/>
                </a:solidFill>
                <a:latin typeface="Calibri"/>
              </a:rPr>
              <a:t>Supplier quotes taken apart</a:t>
            </a:r>
          </a:p>
        </p:txBody>
      </p:sp>
      <p:sp>
        <p:nvSpPr>
          <p:cNvPr id="38" name="TextBox 37"/>
          <p:cNvSpPr txBox="1"/>
          <p:nvPr/>
        </p:nvSpPr>
        <p:spPr>
          <a:xfrm>
            <a:off x="4498848" y="5038344"/>
            <a:ext cx="3209544" cy="557783"/>
          </a:xfrm>
          <a:prstGeom prst="rect">
            <a:avLst/>
          </a:prstGeom>
          <a:noFill/>
        </p:spPr>
        <p:txBody>
          <a:bodyPr wrap="square" anchor="t" lIns="0" rIns="0" tIns="0" bIns="0">
            <a:spAutoFit/>
          </a:bodyPr>
          <a:lstStyle/>
          <a:p>
            <a:pPr algn="l">
              <a:lnSpc>
                <a:spcPct val="114000"/>
              </a:lnSpc>
              <a:spcAft>
                <a:spcPts val="400"/>
              </a:spcAft>
            </a:pPr>
            <a:r>
              <a:rPr sz="980" b="0" i="0">
                <a:solidFill>
                  <a:srgbClr val="3A4356"/>
                </a:solidFill>
                <a:latin typeface="Calibri"/>
              </a:rPr>
              <a:t>Put their price next to our own build-up and see which part of it the gap is in, with the questions to put to them.</a:t>
            </a:r>
          </a:p>
        </p:txBody>
      </p:sp>
      <p:sp>
        <p:nvSpPr>
          <p:cNvPr id="39" name="Rounded Rectangle 38"/>
          <p:cNvSpPr/>
          <p:nvPr/>
        </p:nvSpPr>
        <p:spPr>
          <a:xfrm>
            <a:off x="8110728" y="3794760"/>
            <a:ext cx="3666744"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8110728" y="3794760"/>
            <a:ext cx="3666744" cy="5486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8348472" y="4032504"/>
            <a:ext cx="548640" cy="548640"/>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2" name="Picture 41" descr="press.png"/>
          <p:cNvPicPr>
            <a:picLocks noChangeAspect="1"/>
          </p:cNvPicPr>
          <p:nvPr/>
        </p:nvPicPr>
        <p:blipFill>
          <a:blip r:embed="rId7"/>
          <a:stretch>
            <a:fillRect/>
          </a:stretch>
        </p:blipFill>
        <p:spPr>
          <a:xfrm>
            <a:off x="8491118" y="4175150"/>
            <a:ext cx="263348" cy="263348"/>
          </a:xfrm>
          <a:prstGeom prst="rect">
            <a:avLst/>
          </a:prstGeom>
        </p:spPr>
      </p:pic>
      <p:sp>
        <p:nvSpPr>
          <p:cNvPr id="43" name="TextBox 42"/>
          <p:cNvSpPr txBox="1"/>
          <p:nvPr/>
        </p:nvSpPr>
        <p:spPr>
          <a:xfrm>
            <a:off x="8348472" y="4709160"/>
            <a:ext cx="3209544" cy="310896"/>
          </a:xfrm>
          <a:prstGeom prst="rect">
            <a:avLst/>
          </a:prstGeom>
          <a:noFill/>
        </p:spPr>
        <p:txBody>
          <a:bodyPr wrap="square" anchor="t" lIns="0" rIns="0" tIns="0" bIns="0">
            <a:spAutoFit/>
          </a:bodyPr>
          <a:lstStyle/>
          <a:p>
            <a:pPr algn="l">
              <a:lnSpc>
                <a:spcPct val="100000"/>
              </a:lnSpc>
              <a:spcAft>
                <a:spcPts val="400"/>
              </a:spcAft>
            </a:pPr>
            <a:r>
              <a:rPr sz="1180" b="1" i="0">
                <a:solidFill>
                  <a:srgbClr val="16325C"/>
                </a:solidFill>
                <a:latin typeface="Calibri"/>
              </a:rPr>
              <a:t>Design changes priced, not guessed</a:t>
            </a:r>
          </a:p>
        </p:txBody>
      </p:sp>
      <p:sp>
        <p:nvSpPr>
          <p:cNvPr id="44" name="TextBox 43"/>
          <p:cNvSpPr txBox="1"/>
          <p:nvPr/>
        </p:nvSpPr>
        <p:spPr>
          <a:xfrm>
            <a:off x="8348472" y="5038344"/>
            <a:ext cx="3209544" cy="557783"/>
          </a:xfrm>
          <a:prstGeom prst="rect">
            <a:avLst/>
          </a:prstGeom>
          <a:noFill/>
        </p:spPr>
        <p:txBody>
          <a:bodyPr wrap="square" anchor="t" lIns="0" rIns="0" tIns="0" bIns="0">
            <a:spAutoFit/>
          </a:bodyPr>
          <a:lstStyle/>
          <a:p>
            <a:pPr algn="l">
              <a:lnSpc>
                <a:spcPct val="114000"/>
              </a:lnSpc>
              <a:spcAft>
                <a:spcPts val="400"/>
              </a:spcAft>
            </a:pPr>
            <a:r>
              <a:rPr sz="980" b="0" i="0">
                <a:solidFill>
                  <a:srgbClr val="3A4356"/>
                </a:solidFill>
                <a:latin typeface="Calibri"/>
              </a:rPr>
              <a:t>It flags what makes a part expensive and puts a number on each change, ranked by the money it would save.</a:t>
            </a:r>
          </a:p>
        </p:txBody>
      </p:sp>
      <p:sp>
        <p:nvSpPr>
          <p:cNvPr id="45" name="Rounded Rectangle 44"/>
          <p:cNvSpPr/>
          <p:nvPr/>
        </p:nvSpPr>
        <p:spPr>
          <a:xfrm>
            <a:off x="411480" y="5779008"/>
            <a:ext cx="11365992" cy="868680"/>
          </a:xfrm>
          <a:prstGeom prst="roundRect">
            <a:avLst>
              <a:gd name="adj" fmla="val 12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411480" y="5779008"/>
            <a:ext cx="68580" cy="86868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30936" y="5897880"/>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1D6FB8"/>
                </a:solidFill>
                <a:latin typeface="Calibri"/>
              </a:rPr>
              <a:t>All six end in the same engine</a:t>
            </a:r>
          </a:p>
        </p:txBody>
      </p:sp>
      <p:sp>
        <p:nvSpPr>
          <p:cNvPr id="48" name="TextBox 47"/>
          <p:cNvSpPr txBox="1"/>
          <p:nvPr/>
        </p:nvSpPr>
        <p:spPr>
          <a:xfrm>
            <a:off x="630936" y="6181344"/>
            <a:ext cx="10954512" cy="36576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The AI reads, sorts and sets up — the photo, the pack, the drawing, the process route. It never sets a price. The money is worked out by the same fixed rules and the same rate book we use today, so every number can still be explained line by line.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Rectangle 4"/>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THE BENEFITS</a:t>
            </a:r>
          </a:p>
        </p:txBody>
      </p:sp>
      <p:sp>
        <p:nvSpPr>
          <p:cNvPr id="7" name="TextBox 6"/>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What we get from each</a:t>
            </a:r>
          </a:p>
        </p:txBody>
      </p:sp>
      <p:sp>
        <p:nvSpPr>
          <p:cNvPr id="8" name="TextBox 7"/>
          <p:cNvSpPr txBox="1"/>
          <p:nvPr/>
        </p:nvSpPr>
        <p:spPr>
          <a:xfrm>
            <a:off x="411480" y="1517904"/>
            <a:ext cx="11338560" cy="274320"/>
          </a:xfrm>
          <a:prstGeom prst="rect">
            <a:avLst/>
          </a:prstGeom>
          <a:noFill/>
        </p:spPr>
        <p:txBody>
          <a:bodyPr wrap="square" anchor="t" lIns="0" rIns="0" tIns="0" bIns="0">
            <a:spAutoFit/>
          </a:bodyPr>
          <a:lstStyle/>
          <a:p>
            <a:pPr algn="l">
              <a:lnSpc>
                <a:spcPct val="100000"/>
              </a:lnSpc>
              <a:spcAft>
                <a:spcPts val="400"/>
              </a:spcAft>
            </a:pPr>
            <a:r>
              <a:rPr sz="1150" b="0" i="0">
                <a:solidFill>
                  <a:srgbClr val="3A4356"/>
                </a:solidFill>
                <a:latin typeface="Calibri"/>
              </a:rPr>
              <a:t>Stated in kind, not in pounds. Slide 1 turns these into hours once we fill in our own four numbers.</a:t>
            </a:r>
          </a:p>
        </p:txBody>
      </p:sp>
      <p:sp>
        <p:nvSpPr>
          <p:cNvPr id="9" name="Rounded Rectangle 8"/>
          <p:cNvSpPr/>
          <p:nvPr/>
        </p:nvSpPr>
        <p:spPr>
          <a:xfrm>
            <a:off x="411480" y="1828800"/>
            <a:ext cx="5577840" cy="397763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28800"/>
            <a:ext cx="68580" cy="3977639"/>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2648" y="1956816"/>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OPTION 1 · automatic input into CAPEE</a:t>
            </a:r>
          </a:p>
        </p:txBody>
      </p:sp>
      <p:sp>
        <p:nvSpPr>
          <p:cNvPr id="12" name="TextBox 11"/>
          <p:cNvSpPr txBox="1"/>
          <p:nvPr/>
        </p:nvSpPr>
        <p:spPr>
          <a:xfrm>
            <a:off x="612648" y="2267712"/>
            <a:ext cx="5212080" cy="3428999"/>
          </a:xfrm>
          <a:prstGeom prst="rect">
            <a:avLst/>
          </a:prstGeom>
          <a:noFill/>
        </p:spPr>
        <p:txBody>
          <a:bodyPr wrap="square" anchor="t" lIns="0" rIns="0" tIns="0" bIns="0">
            <a:spAutoFit/>
          </a:bodyPr>
          <a:lstStyle/>
          <a:p>
            <a:pPr algn="l">
              <a:lnSpc>
                <a:spcPct val="112000"/>
              </a:lnSpc>
              <a:spcAft>
                <a:spcPts val="300"/>
              </a:spcAft>
            </a:pPr>
            <a:r>
              <a:rPr sz="1050" b="1" i="0">
                <a:solidFill>
                  <a:srgbClr val="1D6FB8"/>
                </a:solidFill>
                <a:latin typeface="Calibri"/>
              </a:rPr>
              <a:t>Checking instead of typing</a:t>
            </a:r>
          </a:p>
          <a:p>
            <a:pPr algn="l">
              <a:lnSpc>
                <a:spcPct val="112000"/>
              </a:lnSpc>
              <a:spcAft>
                <a:spcPts val="300"/>
              </a:spcAft>
            </a:pPr>
            <a:r>
              <a:rPr sz="1050" b="0" i="0">
                <a:solidFill>
                  <a:srgbClr val="3A4356"/>
                </a:solidFill>
                <a:latin typeface="Calibri"/>
              </a:rPr>
              <a:t>The values come off the 3D model; the engineer confirms.</a:t>
            </a:r>
          </a:p>
          <a:p>
            <a:pPr algn="l">
              <a:lnSpc>
                <a:spcPct val="112000"/>
              </a:lnSpc>
              <a:spcAft>
                <a:spcPts val="300"/>
              </a:spcAft>
            </a:pPr>
          </a:p>
          <a:p>
            <a:pPr algn="l">
              <a:lnSpc>
                <a:spcPct val="112000"/>
              </a:lnSpc>
              <a:spcAft>
                <a:spcPts val="300"/>
              </a:spcAft>
            </a:pPr>
            <a:r>
              <a:rPr sz="1050" b="1" i="0">
                <a:solidFill>
                  <a:srgbClr val="1D6FB8"/>
                </a:solidFill>
                <a:latin typeface="Calibri"/>
              </a:rPr>
              <a:t>The same answer every time</a:t>
            </a:r>
          </a:p>
          <a:p>
            <a:pPr algn="l">
              <a:lnSpc>
                <a:spcPct val="112000"/>
              </a:lnSpc>
              <a:spcAft>
                <a:spcPts val="300"/>
              </a:spcAft>
            </a:pPr>
            <a:r>
              <a:rPr sz="1050" b="0" i="0">
                <a:solidFill>
                  <a:srgbClr val="3A4356"/>
                </a:solidFill>
                <a:latin typeface="Calibri"/>
              </a:rPr>
              <a:t>One method, applied identically, whoever costs the part.</a:t>
            </a:r>
          </a:p>
          <a:p>
            <a:pPr algn="l">
              <a:lnSpc>
                <a:spcPct val="112000"/>
              </a:lnSpc>
              <a:spcAft>
                <a:spcPts val="300"/>
              </a:spcAft>
            </a:pPr>
          </a:p>
          <a:p>
            <a:pPr algn="l">
              <a:lnSpc>
                <a:spcPct val="112000"/>
              </a:lnSpc>
              <a:spcAft>
                <a:spcPts val="300"/>
              </a:spcAft>
            </a:pPr>
            <a:r>
              <a:rPr sz="1050" b="1" i="0">
                <a:solidFill>
                  <a:srgbClr val="1D6FB8"/>
                </a:solidFill>
                <a:latin typeface="Calibri"/>
              </a:rPr>
              <a:t>More parts costed by the same team</a:t>
            </a:r>
          </a:p>
          <a:p>
            <a:pPr algn="l">
              <a:lnSpc>
                <a:spcPct val="112000"/>
              </a:lnSpc>
              <a:spcAft>
                <a:spcPts val="300"/>
              </a:spcAft>
            </a:pPr>
            <a:r>
              <a:rPr sz="1050" b="0" i="0">
                <a:solidFill>
                  <a:srgbClr val="3A4356"/>
                </a:solidFill>
                <a:latin typeface="Calibri"/>
              </a:rPr>
              <a:t>The time saved goes back into costing more of the basket.</a:t>
            </a:r>
          </a:p>
          <a:p>
            <a:pPr algn="l">
              <a:lnSpc>
                <a:spcPct val="112000"/>
              </a:lnSpc>
              <a:spcAft>
                <a:spcPts val="300"/>
              </a:spcAft>
            </a:pPr>
          </a:p>
          <a:p>
            <a:pPr algn="l">
              <a:lnSpc>
                <a:spcPct val="112000"/>
              </a:lnSpc>
              <a:spcAft>
                <a:spcPts val="300"/>
              </a:spcAft>
            </a:pPr>
            <a:r>
              <a:rPr sz="1050" b="1" i="0">
                <a:solidFill>
                  <a:srgbClr val="1D6FB8"/>
                </a:solidFill>
                <a:latin typeface="Calibri"/>
              </a:rPr>
              <a:t>Nothing new to learn</a:t>
            </a:r>
          </a:p>
          <a:p>
            <a:pPr algn="l">
              <a:lnSpc>
                <a:spcPct val="112000"/>
              </a:lnSpc>
              <a:spcAft>
                <a:spcPts val="300"/>
              </a:spcAft>
            </a:pPr>
            <a:r>
              <a:rPr sz="1050" b="0" i="0">
                <a:solidFill>
                  <a:srgbClr val="3A4356"/>
                </a:solidFill>
                <a:latin typeface="Calibri"/>
              </a:rPr>
              <a:t>CAPEE does not change. Same screens, same way of working.</a:t>
            </a:r>
          </a:p>
          <a:p>
            <a:pPr algn="l">
              <a:lnSpc>
                <a:spcPct val="112000"/>
              </a:lnSpc>
              <a:spcAft>
                <a:spcPts val="300"/>
              </a:spcAft>
            </a:pPr>
          </a:p>
          <a:p>
            <a:pPr algn="l">
              <a:lnSpc>
                <a:spcPct val="112000"/>
              </a:lnSpc>
              <a:spcAft>
                <a:spcPts val="300"/>
              </a:spcAft>
            </a:pPr>
            <a:r>
              <a:rPr sz="1050" b="1" i="0">
                <a:solidFill>
                  <a:srgbClr val="1D6FB8"/>
                </a:solidFill>
                <a:latin typeface="Calibri"/>
              </a:rPr>
              <a:t>It can start now</a:t>
            </a:r>
          </a:p>
          <a:p>
            <a:pPr algn="l">
              <a:lnSpc>
                <a:spcPct val="112000"/>
              </a:lnSpc>
              <a:spcAft>
                <a:spcPts val="300"/>
              </a:spcAft>
            </a:pPr>
            <a:r>
              <a:rPr sz="1050" b="0" i="0">
                <a:solidFill>
                  <a:srgbClr val="3A4356"/>
                </a:solidFill>
                <a:latin typeface="Calibri"/>
              </a:rPr>
              <a:t>No AI involved, so it does not wait on an AI approval.</a:t>
            </a:r>
          </a:p>
        </p:txBody>
      </p:sp>
      <p:sp>
        <p:nvSpPr>
          <p:cNvPr id="13" name="Rounded Rectangle 12"/>
          <p:cNvSpPr/>
          <p:nvPr/>
        </p:nvSpPr>
        <p:spPr>
          <a:xfrm>
            <a:off x="6199632" y="1828800"/>
            <a:ext cx="5577840" cy="397763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99632" y="1828800"/>
            <a:ext cx="68580" cy="3977639"/>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0" y="1956816"/>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OPTION 2 · CostVision end to end</a:t>
            </a:r>
          </a:p>
        </p:txBody>
      </p:sp>
      <p:sp>
        <p:nvSpPr>
          <p:cNvPr id="16" name="TextBox 15"/>
          <p:cNvSpPr txBox="1"/>
          <p:nvPr/>
        </p:nvSpPr>
        <p:spPr>
          <a:xfrm>
            <a:off x="6400800" y="2267712"/>
            <a:ext cx="5212080" cy="3428999"/>
          </a:xfrm>
          <a:prstGeom prst="rect">
            <a:avLst/>
          </a:prstGeom>
          <a:noFill/>
        </p:spPr>
        <p:txBody>
          <a:bodyPr wrap="square" anchor="t" lIns="0" rIns="0" tIns="0" bIns="0">
            <a:spAutoFit/>
          </a:bodyPr>
          <a:lstStyle/>
          <a:p>
            <a:pPr algn="l">
              <a:lnSpc>
                <a:spcPct val="112000"/>
              </a:lnSpc>
              <a:spcAft>
                <a:spcPts val="300"/>
              </a:spcAft>
            </a:pPr>
            <a:r>
              <a:rPr sz="1050" b="1" i="0">
                <a:solidFill>
                  <a:srgbClr val="6B3FA0"/>
                </a:solidFill>
                <a:latin typeface="Calibri"/>
              </a:rPr>
              <a:t>Every part costed, not a sample</a:t>
            </a:r>
          </a:p>
          <a:p>
            <a:pPr algn="l">
              <a:lnSpc>
                <a:spcPct val="112000"/>
              </a:lnSpc>
              <a:spcAft>
                <a:spcPts val="300"/>
              </a:spcAft>
            </a:pPr>
            <a:r>
              <a:rPr sz="1050" b="0" i="0">
                <a:solidFill>
                  <a:srgbClr val="3A4356"/>
                </a:solidFill>
                <a:latin typeface="Calibri"/>
              </a:rPr>
              <a:t>A whole basket priced from its own geometry, in one run.</a:t>
            </a:r>
          </a:p>
          <a:p>
            <a:pPr algn="l">
              <a:lnSpc>
                <a:spcPct val="112000"/>
              </a:lnSpc>
              <a:spcAft>
                <a:spcPts val="300"/>
              </a:spcAft>
            </a:pPr>
          </a:p>
          <a:p>
            <a:pPr algn="l">
              <a:lnSpc>
                <a:spcPct val="112000"/>
              </a:lnSpc>
              <a:spcAft>
                <a:spcPts val="300"/>
              </a:spcAft>
            </a:pPr>
            <a:r>
              <a:rPr sz="1050" b="1" i="0">
                <a:solidFill>
                  <a:srgbClr val="6B3FA0"/>
                </a:solidFill>
                <a:latin typeface="Calibri"/>
              </a:rPr>
              <a:t>Days of work become one run</a:t>
            </a:r>
          </a:p>
          <a:p>
            <a:pPr algn="l">
              <a:lnSpc>
                <a:spcPct val="112000"/>
              </a:lnSpc>
              <a:spcAft>
                <a:spcPts val="300"/>
              </a:spcAft>
            </a:pPr>
            <a:r>
              <a:rPr sz="1050" b="0" i="0">
                <a:solidFill>
                  <a:srgbClr val="3A4356"/>
                </a:solidFill>
                <a:latin typeface="Calibri"/>
              </a:rPr>
              <a:t>Gathering the data is the job; the costing stops being it.</a:t>
            </a:r>
          </a:p>
          <a:p>
            <a:pPr algn="l">
              <a:lnSpc>
                <a:spcPct val="112000"/>
              </a:lnSpc>
              <a:spcAft>
                <a:spcPts val="300"/>
              </a:spcAft>
            </a:pPr>
          </a:p>
          <a:p>
            <a:pPr algn="l">
              <a:lnSpc>
                <a:spcPct val="112000"/>
              </a:lnSpc>
              <a:spcAft>
                <a:spcPts val="300"/>
              </a:spcAft>
            </a:pPr>
            <a:r>
              <a:rPr sz="1050" b="1" i="0">
                <a:solidFill>
                  <a:srgbClr val="6B3FA0"/>
                </a:solidFill>
                <a:latin typeface="Calibri"/>
              </a:rPr>
              <a:t>A stronger position with suppliers</a:t>
            </a:r>
          </a:p>
          <a:p>
            <a:pPr algn="l">
              <a:lnSpc>
                <a:spcPct val="112000"/>
              </a:lnSpc>
              <a:spcAft>
                <a:spcPts val="300"/>
              </a:spcAft>
            </a:pPr>
            <a:r>
              <a:rPr sz="1050" b="0" i="0">
                <a:solidFill>
                  <a:srgbClr val="3A4356"/>
                </a:solidFill>
                <a:latin typeface="Calibri"/>
              </a:rPr>
              <a:t>The build-up, where their price differs, and what to ask.</a:t>
            </a:r>
          </a:p>
          <a:p>
            <a:pPr algn="l">
              <a:lnSpc>
                <a:spcPct val="112000"/>
              </a:lnSpc>
              <a:spcAft>
                <a:spcPts val="300"/>
              </a:spcAft>
            </a:pPr>
          </a:p>
          <a:p>
            <a:pPr algn="l">
              <a:lnSpc>
                <a:spcPct val="112000"/>
              </a:lnSpc>
              <a:spcAft>
                <a:spcPts val="300"/>
              </a:spcAft>
            </a:pPr>
            <a:r>
              <a:rPr sz="1050" b="1" i="0">
                <a:solidFill>
                  <a:srgbClr val="6B3FA0"/>
                </a:solidFill>
                <a:latin typeface="Calibri"/>
              </a:rPr>
              <a:t>Work we cannot do at all today</a:t>
            </a:r>
          </a:p>
          <a:p>
            <a:pPr algn="l">
              <a:lnSpc>
                <a:spcPct val="112000"/>
              </a:lnSpc>
              <a:spcAft>
                <a:spcPts val="300"/>
              </a:spcAft>
            </a:pPr>
            <a:r>
              <a:rPr sz="1050" b="0" i="0">
                <a:solidFill>
                  <a:srgbClr val="3A4356"/>
                </a:solidFill>
                <a:latin typeface="Calibri"/>
              </a:rPr>
              <a:t>Electronics costed from a photo. RFQ packs costed and ranked.</a:t>
            </a:r>
          </a:p>
          <a:p>
            <a:pPr algn="l">
              <a:lnSpc>
                <a:spcPct val="112000"/>
              </a:lnSpc>
              <a:spcAft>
                <a:spcPts val="300"/>
              </a:spcAft>
            </a:pPr>
          </a:p>
          <a:p>
            <a:pPr algn="l">
              <a:lnSpc>
                <a:spcPct val="112000"/>
              </a:lnSpc>
              <a:spcAft>
                <a:spcPts val="300"/>
              </a:spcAft>
            </a:pPr>
            <a:r>
              <a:rPr sz="1050" b="1" i="0">
                <a:solidFill>
                  <a:srgbClr val="6B3FA0"/>
                </a:solidFill>
                <a:latin typeface="Calibri"/>
              </a:rPr>
              <a:t>Design-to-cost becomes a decision</a:t>
            </a:r>
          </a:p>
          <a:p>
            <a:pPr algn="l">
              <a:lnSpc>
                <a:spcPct val="112000"/>
              </a:lnSpc>
              <a:spcAft>
                <a:spcPts val="300"/>
              </a:spcAft>
            </a:pPr>
            <a:r>
              <a:rPr sz="1050" b="0" i="0">
                <a:solidFill>
                  <a:srgbClr val="3A4356"/>
                </a:solidFill>
                <a:latin typeface="Calibri"/>
              </a:rPr>
              <a:t>Changes are priced and ranked, not just listed.</a:t>
            </a:r>
          </a:p>
        </p:txBody>
      </p:sp>
      <p:sp>
        <p:nvSpPr>
          <p:cNvPr id="17" name="Rounded Rectangle 16"/>
          <p:cNvSpPr/>
          <p:nvPr/>
        </p:nvSpPr>
        <p:spPr>
          <a:xfrm>
            <a:off x="411480" y="5897880"/>
            <a:ext cx="11365992" cy="822960"/>
          </a:xfrm>
          <a:prstGeom prst="roundRect">
            <a:avLst>
              <a:gd name="adj" fmla="val 12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5897880"/>
            <a:ext cx="68580" cy="82296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0936" y="6016752"/>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2E8B57"/>
                </a:solidFill>
                <a:latin typeface="Calibri"/>
              </a:rPr>
              <a:t>The two build on each other</a:t>
            </a:r>
          </a:p>
        </p:txBody>
      </p:sp>
      <p:sp>
        <p:nvSpPr>
          <p:cNvPr id="20" name="TextBox 19"/>
          <p:cNvSpPr txBox="1"/>
          <p:nvPr/>
        </p:nvSpPr>
        <p:spPr>
          <a:xfrm>
            <a:off x="630936" y="6300216"/>
            <a:ext cx="10954512" cy="32004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Option 1's benefits arrive first and are kept when Option 2 lands. Option 2's rest on the accuracy figure that Option 1 produces, which is the reason for doing them in this order rather than choosing between them.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Rectangle 4"/>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THE DECISION</a:t>
            </a:r>
          </a:p>
        </p:txBody>
      </p:sp>
      <p:sp>
        <p:nvSpPr>
          <p:cNvPr id="7" name="TextBox 6"/>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What we are asking for</a:t>
            </a:r>
          </a:p>
        </p:txBody>
      </p:sp>
      <p:sp>
        <p:nvSpPr>
          <p:cNvPr id="8" name="Rounded Rectangle 7"/>
          <p:cNvSpPr/>
          <p:nvPr/>
        </p:nvSpPr>
        <p:spPr>
          <a:xfrm>
            <a:off x="411480" y="1572768"/>
            <a:ext cx="5577840" cy="96012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572768"/>
            <a:ext cx="68580" cy="96012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2648" y="1700784"/>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OPTION 1 · a decision today</a:t>
            </a:r>
          </a:p>
        </p:txBody>
      </p:sp>
      <p:sp>
        <p:nvSpPr>
          <p:cNvPr id="11" name="TextBox 10"/>
          <p:cNvSpPr txBox="1"/>
          <p:nvPr/>
        </p:nvSpPr>
        <p:spPr>
          <a:xfrm>
            <a:off x="612648" y="2011680"/>
            <a:ext cx="5212080" cy="411480"/>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Approve the trial. One commodity, 30 to 50 parts we have</a:t>
            </a:r>
          </a:p>
          <a:p>
            <a:pPr algn="l">
              <a:lnSpc>
                <a:spcPct val="112000"/>
              </a:lnSpc>
              <a:spcAft>
                <a:spcPts val="300"/>
              </a:spcAft>
            </a:pPr>
            <a:r>
              <a:rPr sz="1050" b="0" i="0">
                <a:solidFill>
                  <a:srgbClr val="3A4356"/>
                </a:solidFill>
                <a:latin typeface="Calibri"/>
              </a:rPr>
              <a:t>already bought, inside CAPEE.</a:t>
            </a:r>
          </a:p>
        </p:txBody>
      </p:sp>
      <p:sp>
        <p:nvSpPr>
          <p:cNvPr id="12" name="Rounded Rectangle 11"/>
          <p:cNvSpPr/>
          <p:nvPr/>
        </p:nvSpPr>
        <p:spPr>
          <a:xfrm>
            <a:off x="6199632" y="1572768"/>
            <a:ext cx="5577840" cy="96012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9632" y="1572768"/>
            <a:ext cx="68580" cy="96012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1700784"/>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OPTION 2 · no decision today</a:t>
            </a:r>
          </a:p>
        </p:txBody>
      </p:sp>
      <p:sp>
        <p:nvSpPr>
          <p:cNvPr id="15" name="TextBox 14"/>
          <p:cNvSpPr txBox="1"/>
          <p:nvPr/>
        </p:nvSpPr>
        <p:spPr>
          <a:xfrm>
            <a:off x="6400800" y="2011680"/>
            <a:ext cx="5212080" cy="411480"/>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Start the AI approval in parallel, so it is not the thing</a:t>
            </a:r>
          </a:p>
          <a:p>
            <a:pPr algn="l">
              <a:lnSpc>
                <a:spcPct val="112000"/>
              </a:lnSpc>
              <a:spcAft>
                <a:spcPts val="300"/>
              </a:spcAft>
            </a:pPr>
            <a:r>
              <a:rPr sz="1050" b="0" i="0">
                <a:solidFill>
                  <a:srgbClr val="3A4356"/>
                </a:solidFill>
                <a:latin typeface="Calibri"/>
              </a:rPr>
              <a:t>holding us up when the trial finishes.</a:t>
            </a:r>
          </a:p>
        </p:txBody>
      </p:sp>
      <p:sp>
        <p:nvSpPr>
          <p:cNvPr id="16" name="Rounded Rectangle 15"/>
          <p:cNvSpPr/>
          <p:nvPr/>
        </p:nvSpPr>
        <p:spPr>
          <a:xfrm>
            <a:off x="411480" y="2642616"/>
            <a:ext cx="5577840" cy="1207008"/>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1480" y="2642616"/>
            <a:ext cx="68580" cy="1207008"/>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2648" y="2770632"/>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OPTION 1 NEEDS</a:t>
            </a:r>
          </a:p>
        </p:txBody>
      </p:sp>
      <p:sp>
        <p:nvSpPr>
          <p:cNvPr id="19" name="TextBox 18"/>
          <p:cNvSpPr txBox="1"/>
          <p:nvPr/>
        </p:nvSpPr>
        <p:spPr>
          <a:xfrm>
            <a:off x="612648" y="3081528"/>
            <a:ext cx="5212080" cy="658368"/>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A Linux server, and a way to pass numbers into CAPEE</a:t>
            </a:r>
          </a:p>
          <a:p>
            <a:pPr algn="l">
              <a:lnSpc>
                <a:spcPct val="112000"/>
              </a:lnSpc>
              <a:spcAft>
                <a:spcPts val="300"/>
              </a:spcAft>
            </a:pPr>
            <a:r>
              <a:rPr sz="1050" b="0" i="0">
                <a:solidFill>
                  <a:srgbClr val="3A4356"/>
                </a:solidFill>
                <a:latin typeface="Calibri"/>
              </a:rPr>
              <a:t>30 to 50 parts where we know the price we paid</a:t>
            </a:r>
          </a:p>
          <a:p>
            <a:pPr algn="l">
              <a:lnSpc>
                <a:spcPct val="112000"/>
              </a:lnSpc>
              <a:spcAft>
                <a:spcPts val="300"/>
              </a:spcAft>
            </a:pPr>
            <a:r>
              <a:rPr sz="1050" b="0" i="0">
                <a:solidFill>
                  <a:srgbClr val="3A4356"/>
                </a:solidFill>
                <a:latin typeface="Calibri"/>
              </a:rPr>
              <a:t>An engineer from the commodity team for the trial</a:t>
            </a:r>
          </a:p>
        </p:txBody>
      </p:sp>
      <p:sp>
        <p:nvSpPr>
          <p:cNvPr id="20" name="Rounded Rectangle 19"/>
          <p:cNvSpPr/>
          <p:nvPr/>
        </p:nvSpPr>
        <p:spPr>
          <a:xfrm>
            <a:off x="6199632" y="2642616"/>
            <a:ext cx="5577840" cy="1207008"/>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9632" y="2642616"/>
            <a:ext cx="68580" cy="1207008"/>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0" y="2770632"/>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OPTION 2 NEEDS</a:t>
            </a:r>
          </a:p>
        </p:txBody>
      </p:sp>
      <p:sp>
        <p:nvSpPr>
          <p:cNvPr id="23" name="TextBox 22"/>
          <p:cNvSpPr txBox="1"/>
          <p:nvPr/>
        </p:nvSpPr>
        <p:spPr>
          <a:xfrm>
            <a:off x="6400800" y="3081528"/>
            <a:ext cx="5212080" cy="658368"/>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Everything above, plus approval to use AI</a:t>
            </a:r>
          </a:p>
          <a:p>
            <a:pPr algn="l">
              <a:lnSpc>
                <a:spcPct val="112000"/>
              </a:lnSpc>
              <a:spcAft>
                <a:spcPts val="300"/>
              </a:spcAft>
            </a:pPr>
            <a:r>
              <a:rPr sz="1050" b="0" i="0">
                <a:solidFill>
                  <a:srgbClr val="3A4356"/>
                </a:solidFill>
                <a:latin typeface="Calibri"/>
              </a:rPr>
              <a:t>Our own rate book loaded, with a change history</a:t>
            </a:r>
          </a:p>
          <a:p>
            <a:pPr algn="l">
              <a:lnSpc>
                <a:spcPct val="112000"/>
              </a:lnSpc>
              <a:spcAft>
                <a:spcPts val="300"/>
              </a:spcAft>
            </a:pPr>
            <a:r>
              <a:rPr sz="1050" b="0" i="0">
                <a:solidFill>
                  <a:srgbClr val="3A4356"/>
                </a:solidFill>
                <a:latin typeface="Calibri"/>
              </a:rPr>
              <a:t>A record of every costing, and the run itself built</a:t>
            </a:r>
          </a:p>
        </p:txBody>
      </p:sp>
      <p:sp>
        <p:nvSpPr>
          <p:cNvPr id="24" name="Rounded Rectangle 23"/>
          <p:cNvSpPr/>
          <p:nvPr/>
        </p:nvSpPr>
        <p:spPr>
          <a:xfrm>
            <a:off x="411480" y="3959352"/>
            <a:ext cx="11365992" cy="822960"/>
          </a:xfrm>
          <a:prstGeom prst="roundRect">
            <a:avLst>
              <a:gd name="adj" fmla="val 12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3959352"/>
            <a:ext cx="68580" cy="82296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0936" y="4078224"/>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2E8B57"/>
                </a:solidFill>
                <a:latin typeface="Calibri"/>
              </a:rPr>
              <a:t>What the trial gives us</a:t>
            </a:r>
          </a:p>
        </p:txBody>
      </p:sp>
      <p:sp>
        <p:nvSpPr>
          <p:cNvPr id="27" name="TextBox 26"/>
          <p:cNvSpPr txBox="1"/>
          <p:nvPr/>
        </p:nvSpPr>
        <p:spPr>
          <a:xfrm>
            <a:off x="630936" y="4361688"/>
            <a:ext cx="10954512" cy="32004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The two numbers nobody in this company can state today: how close the tool gets to a price we actually paid, and how much of the input it fills on its own. Until we have them there is no honest conversation to be had about Option 2.</a:t>
            </a:r>
          </a:p>
        </p:txBody>
      </p:sp>
      <p:sp>
        <p:nvSpPr>
          <p:cNvPr id="28" name="Rounded Rectangle 27"/>
          <p:cNvSpPr/>
          <p:nvPr/>
        </p:nvSpPr>
        <p:spPr>
          <a:xfrm>
            <a:off x="411480" y="4901184"/>
            <a:ext cx="11365992" cy="530352"/>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11480" y="4901184"/>
            <a:ext cx="68580" cy="530352"/>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0936" y="5038344"/>
            <a:ext cx="2651760" cy="256032"/>
          </a:xfrm>
          <a:prstGeom prst="rect">
            <a:avLst/>
          </a:prstGeom>
          <a:noFill/>
        </p:spPr>
        <p:txBody>
          <a:bodyPr wrap="square" anchor="t" lIns="0" rIns="0" tIns="0" bIns="0">
            <a:spAutoFit/>
          </a:bodyPr>
          <a:lstStyle/>
          <a:p>
            <a:pPr algn="l">
              <a:lnSpc>
                <a:spcPct val="100000"/>
              </a:lnSpc>
              <a:spcAft>
                <a:spcPts val="400"/>
              </a:spcAft>
            </a:pPr>
            <a:r>
              <a:rPr sz="1080" b="1" i="0">
                <a:solidFill>
                  <a:srgbClr val="1D6FB8"/>
                </a:solidFill>
                <a:latin typeface="Calibri"/>
              </a:rPr>
              <a:t>The rule that does not bend</a:t>
            </a:r>
          </a:p>
        </p:txBody>
      </p:sp>
      <p:sp>
        <p:nvSpPr>
          <p:cNvPr id="31" name="TextBox 30"/>
          <p:cNvSpPr txBox="1"/>
          <p:nvPr/>
        </p:nvSpPr>
        <p:spPr>
          <a:xfrm>
            <a:off x="3429000" y="5038344"/>
            <a:ext cx="8119872" cy="256032"/>
          </a:xfrm>
          <a:prstGeom prst="rect">
            <a:avLst/>
          </a:prstGeom>
          <a:noFill/>
        </p:spPr>
        <p:txBody>
          <a:bodyPr wrap="square" anchor="t" lIns="0" rIns="0" tIns="0" bIns="0">
            <a:spAutoFit/>
          </a:bodyPr>
          <a:lstStyle/>
          <a:p>
            <a:pPr algn="l">
              <a:lnSpc>
                <a:spcPct val="100000"/>
              </a:lnSpc>
              <a:spcAft>
                <a:spcPts val="400"/>
              </a:spcAft>
            </a:pPr>
            <a:r>
              <a:rPr sz="1019" b="0" i="0">
                <a:solidFill>
                  <a:srgbClr val="3A4356"/>
                </a:solidFill>
                <a:latin typeface="Calibri"/>
              </a:rPr>
              <a:t>The AI reads, sorts and sets up. It never sets a price — the money comes from the same fixed rules we use today.</a:t>
            </a:r>
          </a:p>
        </p:txBody>
      </p:sp>
      <p:sp>
        <p:nvSpPr>
          <p:cNvPr id="32" name="Rounded Rectangle 31"/>
          <p:cNvSpPr/>
          <p:nvPr/>
        </p:nvSpPr>
        <p:spPr>
          <a:xfrm>
            <a:off x="411480" y="5468112"/>
            <a:ext cx="11365992" cy="530352"/>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11480" y="5468112"/>
            <a:ext cx="68580" cy="530352"/>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0936" y="5605272"/>
            <a:ext cx="2651760" cy="256032"/>
          </a:xfrm>
          <a:prstGeom prst="rect">
            <a:avLst/>
          </a:prstGeom>
          <a:noFill/>
        </p:spPr>
        <p:txBody>
          <a:bodyPr wrap="square" anchor="t" lIns="0" rIns="0" tIns="0" bIns="0">
            <a:spAutoFit/>
          </a:bodyPr>
          <a:lstStyle/>
          <a:p>
            <a:pPr algn="l">
              <a:lnSpc>
                <a:spcPct val="100000"/>
              </a:lnSpc>
              <a:spcAft>
                <a:spcPts val="400"/>
              </a:spcAft>
            </a:pPr>
            <a:r>
              <a:rPr sz="1080" b="1" i="0">
                <a:solidFill>
                  <a:srgbClr val="B7791F"/>
                </a:solidFill>
                <a:latin typeface="Calibri"/>
              </a:rPr>
              <a:t>If the trial disappoints</a:t>
            </a:r>
          </a:p>
        </p:txBody>
      </p:sp>
      <p:sp>
        <p:nvSpPr>
          <p:cNvPr id="35" name="TextBox 34"/>
          <p:cNvSpPr txBox="1"/>
          <p:nvPr/>
        </p:nvSpPr>
        <p:spPr>
          <a:xfrm>
            <a:off x="3429000" y="5605272"/>
            <a:ext cx="8119872" cy="256032"/>
          </a:xfrm>
          <a:prstGeom prst="rect">
            <a:avLst/>
          </a:prstGeom>
          <a:noFill/>
        </p:spPr>
        <p:txBody>
          <a:bodyPr wrap="square" anchor="t" lIns="0" rIns="0" tIns="0" bIns="0">
            <a:spAutoFit/>
          </a:bodyPr>
          <a:lstStyle/>
          <a:p>
            <a:pPr algn="l">
              <a:lnSpc>
                <a:spcPct val="100000"/>
              </a:lnSpc>
              <a:spcAft>
                <a:spcPts val="400"/>
              </a:spcAft>
            </a:pPr>
            <a:r>
              <a:rPr sz="1019" b="0" i="0">
                <a:solidFill>
                  <a:srgbClr val="3A4356"/>
                </a:solidFill>
                <a:latin typeface="Calibri"/>
              </a:rPr>
              <a:t>Never checked against a price JLR has paid. If the answer is poor we stop, having spent only our own time.</a:t>
            </a:r>
          </a:p>
        </p:txBody>
      </p:sp>
      <p:sp>
        <p:nvSpPr>
          <p:cNvPr id="36" name="Rounded Rectangle 35"/>
          <p:cNvSpPr/>
          <p:nvPr/>
        </p:nvSpPr>
        <p:spPr>
          <a:xfrm>
            <a:off x="411480" y="6035040"/>
            <a:ext cx="11365992" cy="530352"/>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411480" y="6035040"/>
            <a:ext cx="68580" cy="530352"/>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30936" y="6172200"/>
            <a:ext cx="2651760" cy="256032"/>
          </a:xfrm>
          <a:prstGeom prst="rect">
            <a:avLst/>
          </a:prstGeom>
          <a:noFill/>
        </p:spPr>
        <p:txBody>
          <a:bodyPr wrap="square" anchor="t" lIns="0" rIns="0" tIns="0" bIns="0">
            <a:spAutoFit/>
          </a:bodyPr>
          <a:lstStyle/>
          <a:p>
            <a:pPr algn="l">
              <a:lnSpc>
                <a:spcPct val="100000"/>
              </a:lnSpc>
              <a:spcAft>
                <a:spcPts val="400"/>
              </a:spcAft>
            </a:pPr>
            <a:r>
              <a:rPr sz="1080" b="1" i="0">
                <a:solidFill>
                  <a:srgbClr val="B7791F"/>
                </a:solidFill>
                <a:latin typeface="Calibri"/>
              </a:rPr>
              <a:t>Nobody has sized this yet</a:t>
            </a:r>
          </a:p>
        </p:txBody>
      </p:sp>
      <p:sp>
        <p:nvSpPr>
          <p:cNvPr id="39" name="TextBox 38"/>
          <p:cNvSpPr txBox="1"/>
          <p:nvPr/>
        </p:nvSpPr>
        <p:spPr>
          <a:xfrm>
            <a:off x="3429000" y="6172200"/>
            <a:ext cx="8119872" cy="256032"/>
          </a:xfrm>
          <a:prstGeom prst="rect">
            <a:avLst/>
          </a:prstGeom>
          <a:noFill/>
        </p:spPr>
        <p:txBody>
          <a:bodyPr wrap="square" anchor="t" lIns="0" rIns="0" tIns="0" bIns="0">
            <a:spAutoFit/>
          </a:bodyPr>
          <a:lstStyle/>
          <a:p>
            <a:pPr algn="l">
              <a:lnSpc>
                <a:spcPct val="100000"/>
              </a:lnSpc>
              <a:spcAft>
                <a:spcPts val="400"/>
              </a:spcAft>
            </a:pPr>
            <a:r>
              <a:rPr sz="1019" b="0" i="0">
                <a:solidFill>
                  <a:srgbClr val="3A4356"/>
                </a:solidFill>
                <a:latin typeface="Calibri"/>
              </a:rPr>
              <a:t>How long it takes waits on one answer from IT about how CAPEE is built. The sizing comes back with it.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