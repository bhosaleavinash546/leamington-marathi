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spend the most time on, because it is the part of the case that is easy to under-sell. Six things the tool does, and all six of them work today. The split on the slide is not what works and what does not — it is what needs an AI service and what does not. The top row needs none at all. It is the fixed rules and our own rate book, so it is the same policy position as Option one. The bottom row reads something a person would otherwise read, so it needs a model, and that is the approval I am asking us to start. Taking the top row first. A list of parts and their three-D models goes in and every part comes back costed, with a report per part and per basket, with nobody sitting there and on our own rates. That one is built and it runs; today we cost the parts we have hours for and estimate the rest from a sample. Next to it is the one our buyers will care about most. Put a supplier's price next to our own build-up and the tool tells you which part of it the gap sits in and what to ask them about it. And the third turns design-for-cost from a list into a decision: it flags what makes a part expensive and puts a number on each change, ordered by what it saves. Now the bottom row. The first usually gets a reaction in the room. You take a photograph of a circuit board and the tool works out what is on it, builds the bill of materials, works out the board specification and costs it. That is a job that takes an electronics buyer a long time and most of us cannot do at all. Next along, an RFQ pack goes in and comes back as costed lines, ranked by where the money is, with a first draft of the negotiation brief written for you. And the last is the assistant, and I want to be precise about it. It does the setting up: it picks the process route and the machine and fills in what the geometry gives it, and then it comes back to a person with one question rather than a hundred. The blue strip at the bottom is the sentence I would want people to leave with. Where the AI is used it reads and sorts and sets up. It never sets a price. The money is still worked out by the same fixed rules and the same rate book we use now, so every number can be explained line by line, exactly as it can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get for it, written in kind rather than in pounds, for the reason I gave on the first slide: we have never timed this job and never checked the tool against a price we paid, so a pound figure from me would be a guess. The left column is Option one, and it is all about the same thing: the time we spend putting numbers into CAPEE by hand. The typing goes — between twelve and sixty-nine values a part, depending on the commodity, now filled from the model. With nothing typed there is nothing to mistype, so the checking of our own transcription goes with it. It gives the same answer every time, so parts costed by different engineers are comparable. Re-costing becomes nearly free: a new volume or a new set of rates does not mean reading the model again. And the saving is not a one-off — it repeats on every part, so it grows with how many we cost. What is left is the judgement: material, tolerance class, finish and heat treatment, the calls only we can make. That column can start now, because there is no AI in it to approve. And the last line points back at slide one: put our four numbers in and all of that becomes hours. The right column is wider because Option two genuinely has more in it. It runs on its own — parts go in and costed reports come out, and a person answers only what the model cannot show. It uses the same method for everything we make, so a plastic clip and a machined bracket are built up the same way and can sit in the same report. It costs electronics from a photograph of the board, which is work we largely cannot do today. It costs software as well: forty-three modules, from powertrain and driver assistance through to the cloud back end, which matters more every programme. Then the second half of that column is the part I would put to purchasing. It shows where a supplier's price differs from our own build-up and which part of the cost the gap sits in. Then it tells us what to do about it: what to go after, what to ask them, and what it is worth over a year. A whole RFQ pack can go in and come back priced and put in order of money. And design changes come back with a price on them rather than as a list of suggestions. The green strip is the sequencing point. Option one's benefits arrive first and we keep them. Option two's depend on the accuracy figure Option one produces, which is why these are an order rather than a choice.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decision, and I have split it into what I want today and what I do not. On the left, Option one: approve the trial. One commodity, thirty to fifty parts we have already bought, run inside CAPEE. On the right, Option two: I am not asking you to decide it. The bulk run itself is built — it costs a basket of our own parts unattended, on our own rates. What I am asking is that we start the AI approval alongside the trial, because that is the long pole and there is no sense discovering at the end of the trial that we now have to begin it. The two cards underneath are what each one needs. Option one needs a server, a way to pass numbers into CAPEE, some parts where we know what we paid, and an engineer from the commodity team for the trial. Option two needs all of that, plus the AI approval and our own rate book loaded into the tool. The rest of it is built. The green strip is what we get out of the trial and it is the reason to do it: two numbers that nobody in this company can state today. How close the tool gets to a price we actually paid, and how much of the input it fills on its own. Until we have those, any conversation about Option two is people trading opinions. Then three short things I want to say plainly rather than have asked. The first is the governance point and it is the one I would repeat if you take nothing else away: the AI reads, sorts and sets up, and it never sets a price. The money comes out of the same fixed rules and the same rate book as today, so every number can be defended line by line exactly as it can now. The second is the exit. We have never compared this against a price we have paid, and it has never been run on a JLR laptop. If the trial says the tool is not close enough, we stop, and what we will have spent is our own engineering time — that is precisely why I am asking for a trial and not a rollout. And the third is the honest answer to how long: nobody has sized it. It waits on one answer from IT about how CAPEE is built, and the sizing comes back with that answer rather than being invented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9" name="Rounded Rectangle 8"/>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92224"/>
            <a:ext cx="68580" cy="4114800"/>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2" name="TextBox 11"/>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A7F50"/>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3" name="TextBox 12"/>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86F7D"/>
                </a:solidFill>
                <a:latin typeface="Calibri"/>
              </a:rPr>
              <a:t>What it is worth: five numbers, four of them ours</a:t>
            </a:r>
          </a:p>
        </p:txBody>
      </p:sp>
      <p:sp>
        <p:nvSpPr>
          <p:cNvPr id="14" name="Rectangle 13"/>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6" name="Rectangle 15"/>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8" name="Rectangle 17"/>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0" name="Rectangle 19"/>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2" name="Rectangle 21"/>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4" name="Rectangle 23"/>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6" name="Rectangle 25"/>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8" name="Rectangle 27"/>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0" name="Rectangle 29"/>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2" name="Rectangle 31"/>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4" name="Rectangle 33"/>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6" name="Rectangle 35"/>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8" name="Rectangle 37"/>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0" name="Rectangle 39"/>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2" name="Rectangle 41"/>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4" name="Rectangle 43"/>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6" name="Rectangle 45"/>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8" name="Rectangle 47"/>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A7F50"/>
                </a:solidFill>
                <a:latin typeface="Calibri"/>
              </a:rPr>
              <a:t>________</a:t>
            </a:r>
          </a:p>
        </p:txBody>
      </p:sp>
      <p:sp>
        <p:nvSpPr>
          <p:cNvPr id="50" name="Rounded Rectangle 49"/>
          <p:cNvSpPr/>
          <p:nvPr/>
        </p:nvSpPr>
        <p:spPr>
          <a:xfrm>
            <a:off x="6199632" y="4059936"/>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99632" y="4059936"/>
            <a:ext cx="68580" cy="47548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19088" y="4169664"/>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3" name="TextBox 52"/>
          <p:cNvSpPr txBox="1"/>
          <p:nvPr/>
        </p:nvSpPr>
        <p:spPr>
          <a:xfrm>
            <a:off x="9646920" y="4151376"/>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4" name="Rounded Rectangle 53"/>
          <p:cNvSpPr/>
          <p:nvPr/>
        </p:nvSpPr>
        <p:spPr>
          <a:xfrm>
            <a:off x="6199632" y="4572000"/>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99632" y="4572000"/>
            <a:ext cx="68580" cy="47548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46817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7" name="TextBox 56"/>
          <p:cNvSpPr txBox="1"/>
          <p:nvPr/>
        </p:nvSpPr>
        <p:spPr>
          <a:xfrm>
            <a:off x="9646920" y="46634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A7F50"/>
                </a:solidFill>
                <a:latin typeface="Calibri"/>
              </a:rPr>
              <a:t>B × E × C ÷ 60</a:t>
            </a:r>
          </a:p>
        </p:txBody>
      </p:sp>
      <p:sp>
        <p:nvSpPr>
          <p:cNvPr id="58" name="Rounded Rectangle 57"/>
          <p:cNvSpPr/>
          <p:nvPr/>
        </p:nvSpPr>
        <p:spPr>
          <a:xfrm>
            <a:off x="6199632" y="5084064"/>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99632" y="5084064"/>
            <a:ext cx="68580" cy="4754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19088" y="5193792"/>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1" name="TextBox 60"/>
          <p:cNvSpPr txBox="1"/>
          <p:nvPr/>
        </p:nvSpPr>
        <p:spPr>
          <a:xfrm>
            <a:off x="9646920" y="5175504"/>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2" name="TextBox 61"/>
          <p:cNvSpPr txBox="1"/>
          <p:nvPr/>
        </p:nvSpPr>
        <p:spPr>
          <a:xfrm>
            <a:off x="6199632" y="5596128"/>
            <a:ext cx="5577840" cy="274320"/>
          </a:xfrm>
          <a:prstGeom prst="rect">
            <a:avLst/>
          </a:prstGeom>
          <a:noFill/>
        </p:spPr>
        <p:txBody>
          <a:bodyPr wrap="square" anchor="t" lIns="0" rIns="0" tIns="0" bIns="0">
            <a:spAutoFit/>
          </a:bodyPr>
          <a:lstStyle/>
          <a:p>
            <a:pPr algn="l">
              <a:lnSpc>
                <a:spcPct val="110000"/>
              </a:lnSpc>
              <a:spcAft>
                <a:spcPts val="400"/>
              </a:spcAft>
            </a:pPr>
            <a:r>
              <a:rPr sz="850" b="0" i="0">
                <a:solidFill>
                  <a:srgbClr val="686F7D"/>
                </a:solidFill>
                <a:latin typeface="Calibri"/>
              </a:rPr>
              <a:t>Assumes typing time falls in step with the values the software fills; the trial tests that.</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9" name="Rounded Rectangle 8"/>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pload.png"/>
          <p:cNvPicPr>
            <a:picLocks noChangeAspect="1"/>
          </p:cNvPicPr>
          <p:nvPr/>
        </p:nvPicPr>
        <p:blipFill>
          <a:blip r:embed="rId2"/>
          <a:stretch>
            <a:fillRect/>
          </a:stretch>
        </p:blipFill>
        <p:spPr>
          <a:xfrm>
            <a:off x="1342521" y="2122505"/>
            <a:ext cx="272126" cy="272126"/>
          </a:xfrm>
          <a:prstGeom prst="rect">
            <a:avLst/>
          </a:prstGeom>
        </p:spPr>
      </p:pic>
      <p:sp>
        <p:nvSpPr>
          <p:cNvPr id="13" name="TextBox 12"/>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4" name="TextBox 13"/>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5" name="Right Arrow 14"/>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png"/>
          <p:cNvPicPr>
            <a:picLocks noChangeAspect="1"/>
          </p:cNvPicPr>
          <p:nvPr/>
        </p:nvPicPr>
        <p:blipFill>
          <a:blip r:embed="rId3"/>
          <a:stretch>
            <a:fillRect/>
          </a:stretch>
        </p:blipFill>
        <p:spPr>
          <a:xfrm>
            <a:off x="3650466" y="2122505"/>
            <a:ext cx="272126" cy="272126"/>
          </a:xfrm>
          <a:prstGeom prst="rect">
            <a:avLst/>
          </a:prstGeom>
        </p:spPr>
      </p:pic>
      <p:sp>
        <p:nvSpPr>
          <p:cNvPr id="20" name="TextBox 19"/>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1" name="TextBox 20"/>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2" name="Right Arrow 21"/>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g.png"/>
          <p:cNvPicPr>
            <a:picLocks noChangeAspect="1"/>
          </p:cNvPicPr>
          <p:nvPr/>
        </p:nvPicPr>
        <p:blipFill>
          <a:blip r:embed="rId4"/>
          <a:stretch>
            <a:fillRect/>
          </a:stretch>
        </p:blipFill>
        <p:spPr>
          <a:xfrm>
            <a:off x="5958411" y="2122505"/>
            <a:ext cx="272126" cy="272126"/>
          </a:xfrm>
          <a:prstGeom prst="rect">
            <a:avLst/>
          </a:prstGeom>
        </p:spPr>
      </p:pic>
      <p:sp>
        <p:nvSpPr>
          <p:cNvPr id="27" name="TextBox 26"/>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8" name="TextBox 27"/>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29" name="Right Arrow 28"/>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35315" y="1810512"/>
            <a:ext cx="2134209" cy="54864"/>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18955" y="1975104"/>
            <a:ext cx="566928" cy="566928"/>
          </a:xfrm>
          <a:prstGeom prst="ellipse">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png"/>
          <p:cNvPicPr>
            <a:picLocks noChangeAspect="1"/>
          </p:cNvPicPr>
          <p:nvPr/>
        </p:nvPicPr>
        <p:blipFill>
          <a:blip r:embed="rId5"/>
          <a:stretch>
            <a:fillRect/>
          </a:stretch>
        </p:blipFill>
        <p:spPr>
          <a:xfrm>
            <a:off x="8266356" y="2122505"/>
            <a:ext cx="272126" cy="272126"/>
          </a:xfrm>
          <a:prstGeom prst="rect">
            <a:avLst/>
          </a:prstGeom>
        </p:spPr>
      </p:pic>
      <p:sp>
        <p:nvSpPr>
          <p:cNvPr id="34" name="TextBox 33"/>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5" name="TextBox 34"/>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6" name="Right Arrow 35"/>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43260" y="1810512"/>
            <a:ext cx="2134209"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426900" y="1975104"/>
            <a:ext cx="566928" cy="566928"/>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alc.png"/>
          <p:cNvPicPr>
            <a:picLocks noChangeAspect="1"/>
          </p:cNvPicPr>
          <p:nvPr/>
        </p:nvPicPr>
        <p:blipFill>
          <a:blip r:embed="rId6"/>
          <a:stretch>
            <a:fillRect/>
          </a:stretch>
        </p:blipFill>
        <p:spPr>
          <a:xfrm>
            <a:off x="10574301" y="2122505"/>
            <a:ext cx="272126" cy="272126"/>
          </a:xfrm>
          <a:prstGeom prst="rect">
            <a:avLst/>
          </a:prstGeom>
        </p:spPr>
      </p:pic>
      <p:sp>
        <p:nvSpPr>
          <p:cNvPr id="41" name="TextBox 40"/>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2" name="TextBox 41"/>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3" name="Rounded Rectangle 42"/>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3675887"/>
            <a:ext cx="68580" cy="1874519"/>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6" name="TextBox 45"/>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7" name="Rounded Rectangle 46"/>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3675887"/>
            <a:ext cx="68580" cy="1874519"/>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0" name="TextBox 49"/>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1" name="Rounded Rectangle 50"/>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4" name="TextBox 53"/>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All six work today. The top row needs no AI at all; the bottom row needs an AI service, which is the approval to start now.</a:t>
            </a:r>
          </a:p>
        </p:txBody>
      </p:sp>
      <p:sp>
        <p:nvSpPr>
          <p:cNvPr id="9" name="Rounded Rectangle 8"/>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66744"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066544"/>
            <a:ext cx="548640" cy="548640"/>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g.png"/>
          <p:cNvPicPr>
            <a:picLocks noChangeAspect="1"/>
          </p:cNvPicPr>
          <p:nvPr/>
        </p:nvPicPr>
        <p:blipFill>
          <a:blip r:embed="rId2"/>
          <a:stretch>
            <a:fillRect/>
          </a:stretch>
        </p:blipFill>
        <p:spPr>
          <a:xfrm>
            <a:off x="791870" y="2209190"/>
            <a:ext cx="263348" cy="263348"/>
          </a:xfrm>
          <a:prstGeom prst="rect">
            <a:avLst/>
          </a:prstGeom>
        </p:spPr>
      </p:pic>
      <p:sp>
        <p:nvSpPr>
          <p:cNvPr id="13" name="TextBox 12"/>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4" name="TextBox 13"/>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Every part costed and reported with nobody sitting there, on our own rates.</a:t>
            </a:r>
          </a:p>
        </p:txBody>
      </p:sp>
      <p:sp>
        <p:nvSpPr>
          <p:cNvPr id="15" name="Rounded Rectangle 14"/>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61104" y="1828800"/>
            <a:ext cx="3666744"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8848" y="2066544"/>
            <a:ext cx="548640" cy="548640"/>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ins.png"/>
          <p:cNvPicPr>
            <a:picLocks noChangeAspect="1"/>
          </p:cNvPicPr>
          <p:nvPr/>
        </p:nvPicPr>
        <p:blipFill>
          <a:blip r:embed="rId3"/>
          <a:stretch>
            <a:fillRect/>
          </a:stretch>
        </p:blipFill>
        <p:spPr>
          <a:xfrm>
            <a:off x="4641494" y="2209190"/>
            <a:ext cx="263348" cy="263348"/>
          </a:xfrm>
          <a:prstGeom prst="rect">
            <a:avLst/>
          </a:prstGeom>
        </p:spPr>
      </p:pic>
      <p:sp>
        <p:nvSpPr>
          <p:cNvPr id="19" name="TextBox 18"/>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20" name="TextBox 19"/>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21" name="Rounded Rectangle 20"/>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0728" y="1828800"/>
            <a:ext cx="3666744" cy="5486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48472" y="2066544"/>
            <a:ext cx="548640" cy="548640"/>
          </a:xfrm>
          <a:prstGeom prst="ellipse">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press.png"/>
          <p:cNvPicPr>
            <a:picLocks noChangeAspect="1"/>
          </p:cNvPicPr>
          <p:nvPr/>
        </p:nvPicPr>
        <p:blipFill>
          <a:blip r:embed="rId4"/>
          <a:stretch>
            <a:fillRect/>
          </a:stretch>
        </p:blipFill>
        <p:spPr>
          <a:xfrm>
            <a:off x="8491118" y="2209190"/>
            <a:ext cx="263348" cy="263348"/>
          </a:xfrm>
          <a:prstGeom prst="rect">
            <a:avLst/>
          </a:prstGeom>
        </p:spPr>
      </p:pic>
      <p:sp>
        <p:nvSpPr>
          <p:cNvPr id="25" name="TextBox 24"/>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26" name="TextBox 25"/>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puts a number on each change, ranked by the money it would save.</a:t>
            </a:r>
          </a:p>
        </p:txBody>
      </p:sp>
      <p:sp>
        <p:nvSpPr>
          <p:cNvPr id="27" name="Rounded Rectangle 26"/>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9224"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eye.png"/>
          <p:cNvPicPr>
            <a:picLocks noChangeAspect="1"/>
          </p:cNvPicPr>
          <p:nvPr/>
        </p:nvPicPr>
        <p:blipFill>
          <a:blip r:embed="rId5"/>
          <a:stretch>
            <a:fillRect/>
          </a:stretch>
        </p:blipFill>
        <p:spPr>
          <a:xfrm>
            <a:off x="791870" y="4175150"/>
            <a:ext cx="263348" cy="263348"/>
          </a:xfrm>
          <a:prstGeom prst="rect">
            <a:avLst/>
          </a:prstGeom>
        </p:spPr>
      </p:pic>
      <p:sp>
        <p:nvSpPr>
          <p:cNvPr id="31" name="TextBox 30"/>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BOM</a:t>
            </a:r>
          </a:p>
        </p:txBody>
      </p:sp>
      <p:sp>
        <p:nvSpPr>
          <p:cNvPr id="32" name="TextBox 31"/>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Take a picture of a circuit board. The tool works out what is on it, builds the bill of materials and the board spec, and costs it.</a:t>
            </a:r>
          </a:p>
        </p:txBody>
      </p:sp>
      <p:sp>
        <p:nvSpPr>
          <p:cNvPr id="33" name="Rounded Rectangle 32"/>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1104"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498848"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lip.png"/>
          <p:cNvPicPr>
            <a:picLocks noChangeAspect="1"/>
          </p:cNvPicPr>
          <p:nvPr/>
        </p:nvPicPr>
        <p:blipFill>
          <a:blip r:embed="rId6"/>
          <a:stretch>
            <a:fillRect/>
          </a:stretch>
        </p:blipFill>
        <p:spPr>
          <a:xfrm>
            <a:off x="4641494" y="4175150"/>
            <a:ext cx="263348" cy="263348"/>
          </a:xfrm>
          <a:prstGeom prst="rect">
            <a:avLst/>
          </a:prstGeom>
        </p:spPr>
      </p:pic>
      <p:sp>
        <p:nvSpPr>
          <p:cNvPr id="37" name="TextBox 36"/>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38" name="TextBox 37"/>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The tool pulls the line items out of the pack, costs each one, ranks them by money and drafts the negotiation brief.</a:t>
            </a:r>
          </a:p>
        </p:txBody>
      </p:sp>
      <p:sp>
        <p:nvSpPr>
          <p:cNvPr id="39" name="Rounded Rectangle 38"/>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0728"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348472"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person.png"/>
          <p:cNvPicPr>
            <a:picLocks noChangeAspect="1"/>
          </p:cNvPicPr>
          <p:nvPr/>
        </p:nvPicPr>
        <p:blipFill>
          <a:blip r:embed="rId7"/>
          <a:stretch>
            <a:fillRect/>
          </a:stretch>
        </p:blipFill>
        <p:spPr>
          <a:xfrm>
            <a:off x="8491118" y="4175150"/>
            <a:ext cx="263348" cy="263348"/>
          </a:xfrm>
          <a:prstGeom prst="rect">
            <a:avLst/>
          </a:prstGeom>
        </p:spPr>
      </p:pic>
      <p:sp>
        <p:nvSpPr>
          <p:cNvPr id="43" name="TextBox 42"/>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44" name="TextBox 43"/>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picks the process route and the machine and fills in what the geometry gives, then asks one question instead of a hundred.</a:t>
            </a:r>
          </a:p>
        </p:txBody>
      </p:sp>
      <p:sp>
        <p:nvSpPr>
          <p:cNvPr id="45" name="Rounded Rectangle 44"/>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8" name="TextBox 47"/>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Where the AI is used it reads, sorts and sets up — the photo, the pack, the drawing, the process route. It never sets a price. The money is worked out by the same fixed rules and the same rate book in every one of the six, so every number can be explained line by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BENEFITS</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get from each</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Stated in kind, not in pounds. Slide 1 turns these into hours once we fill in our own four numbers.</a:t>
            </a:r>
          </a:p>
        </p:txBody>
      </p:sp>
      <p:sp>
        <p:nvSpPr>
          <p:cNvPr id="9" name="Rounded Rectangle 8"/>
          <p:cNvSpPr/>
          <p:nvPr/>
        </p:nvSpPr>
        <p:spPr>
          <a:xfrm>
            <a:off x="411480" y="1810512"/>
            <a:ext cx="361188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68580" cy="4297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38528"/>
            <a:ext cx="324612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input into CAPEE</a:t>
            </a:r>
          </a:p>
        </p:txBody>
      </p:sp>
      <p:sp>
        <p:nvSpPr>
          <p:cNvPr id="12" name="TextBox 11"/>
          <p:cNvSpPr txBox="1"/>
          <p:nvPr/>
        </p:nvSpPr>
        <p:spPr>
          <a:xfrm>
            <a:off x="612648" y="2249424"/>
            <a:ext cx="3246120"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1D6FB8"/>
                </a:solidFill>
                <a:latin typeface="Calibri"/>
              </a:rPr>
              <a:t>The typing goes</a:t>
            </a:r>
          </a:p>
          <a:p>
            <a:pPr algn="l">
              <a:lnSpc>
                <a:spcPct val="112000"/>
              </a:lnSpc>
              <a:spcAft>
                <a:spcPts val="300"/>
              </a:spcAft>
            </a:pPr>
            <a:r>
              <a:rPr sz="1050" b="0" i="0">
                <a:solidFill>
                  <a:srgbClr val="3A4356"/>
                </a:solidFill>
                <a:latin typeface="Calibri"/>
              </a:rPr>
              <a:t>Between 12 and 69 values per part.</a:t>
            </a:r>
          </a:p>
          <a:p>
            <a:pPr algn="l">
              <a:lnSpc>
                <a:spcPct val="112000"/>
              </a:lnSpc>
              <a:spcAft>
                <a:spcPts val="300"/>
              </a:spcAft>
            </a:pPr>
            <a:r>
              <a:rPr sz="1050" b="1" i="0">
                <a:solidFill>
                  <a:srgbClr val="1D6FB8"/>
                </a:solidFill>
                <a:latin typeface="Calibri"/>
              </a:rPr>
              <a:t>Nothing to mistype</a:t>
            </a:r>
          </a:p>
          <a:p>
            <a:pPr algn="l">
              <a:lnSpc>
                <a:spcPct val="112000"/>
              </a:lnSpc>
              <a:spcAft>
                <a:spcPts val="300"/>
              </a:spcAft>
            </a:pPr>
            <a:r>
              <a:rPr sz="1050" b="0" i="0">
                <a:solidFill>
                  <a:srgbClr val="3A4356"/>
                </a:solidFill>
                <a:latin typeface="Calibri"/>
              </a:rPr>
              <a:t>And nothing to re-check afterwards.</a:t>
            </a:r>
          </a:p>
          <a:p>
            <a:pPr algn="l">
              <a:lnSpc>
                <a:spcPct val="112000"/>
              </a:lnSpc>
              <a:spcAft>
                <a:spcPts val="300"/>
              </a:spcAft>
            </a:pPr>
            <a:r>
              <a:rPr sz="1050" b="1" i="0">
                <a:solidFill>
                  <a:srgbClr val="1D6FB8"/>
                </a:solidFill>
                <a:latin typeface="Calibri"/>
              </a:rPr>
              <a:t>The same answer every time</a:t>
            </a:r>
          </a:p>
          <a:p>
            <a:pPr algn="l">
              <a:lnSpc>
                <a:spcPct val="112000"/>
              </a:lnSpc>
              <a:spcAft>
                <a:spcPts val="300"/>
              </a:spcAft>
            </a:pPr>
            <a:r>
              <a:rPr sz="1050" b="0" i="0">
                <a:solidFill>
                  <a:srgbClr val="3A4356"/>
                </a:solidFill>
                <a:latin typeface="Calibri"/>
              </a:rPr>
              <a:t>One method, whoever costs the part.</a:t>
            </a:r>
          </a:p>
          <a:p>
            <a:pPr algn="l">
              <a:lnSpc>
                <a:spcPct val="112000"/>
              </a:lnSpc>
              <a:spcAft>
                <a:spcPts val="300"/>
              </a:spcAft>
            </a:pPr>
            <a:r>
              <a:rPr sz="1050" b="1" i="0">
                <a:solidFill>
                  <a:srgbClr val="1D6FB8"/>
                </a:solidFill>
                <a:latin typeface="Calibri"/>
              </a:rPr>
              <a:t>A re-cost is nearly free</a:t>
            </a:r>
          </a:p>
          <a:p>
            <a:pPr algn="l">
              <a:lnSpc>
                <a:spcPct val="112000"/>
              </a:lnSpc>
              <a:spcAft>
                <a:spcPts val="300"/>
              </a:spcAft>
            </a:pPr>
            <a:r>
              <a:rPr sz="1050" b="0" i="0">
                <a:solidFill>
                  <a:srgbClr val="3A4356"/>
                </a:solidFill>
                <a:latin typeface="Calibri"/>
              </a:rPr>
              <a:t>New volume or rates, no re-reading.</a:t>
            </a:r>
          </a:p>
          <a:p>
            <a:pPr algn="l">
              <a:lnSpc>
                <a:spcPct val="112000"/>
              </a:lnSpc>
              <a:spcAft>
                <a:spcPts val="300"/>
              </a:spcAft>
            </a:pPr>
            <a:r>
              <a:rPr sz="1050" b="1" i="0">
                <a:solidFill>
                  <a:srgbClr val="1D6FB8"/>
                </a:solidFill>
                <a:latin typeface="Calibri"/>
              </a:rPr>
              <a:t>The saving repeats on every part</a:t>
            </a:r>
          </a:p>
          <a:p>
            <a:pPr algn="l">
              <a:lnSpc>
                <a:spcPct val="112000"/>
              </a:lnSpc>
              <a:spcAft>
                <a:spcPts val="300"/>
              </a:spcAft>
            </a:pPr>
            <a:r>
              <a:rPr sz="1050" b="0" i="0">
                <a:solidFill>
                  <a:srgbClr val="3A4356"/>
                </a:solidFill>
                <a:latin typeface="Calibri"/>
              </a:rPr>
              <a:t>It grows with how many we cost.</a:t>
            </a:r>
          </a:p>
          <a:p>
            <a:pPr algn="l">
              <a:lnSpc>
                <a:spcPct val="112000"/>
              </a:lnSpc>
              <a:spcAft>
                <a:spcPts val="300"/>
              </a:spcAft>
            </a:pPr>
            <a:r>
              <a:rPr sz="1050" b="1" i="0">
                <a:solidFill>
                  <a:srgbClr val="1D6FB8"/>
                </a:solidFill>
                <a:latin typeface="Calibri"/>
              </a:rPr>
              <a:t>What is left is the judgement</a:t>
            </a:r>
          </a:p>
          <a:p>
            <a:pPr algn="l">
              <a:lnSpc>
                <a:spcPct val="112000"/>
              </a:lnSpc>
              <a:spcAft>
                <a:spcPts val="300"/>
              </a:spcAft>
            </a:pPr>
            <a:r>
              <a:rPr sz="1050" b="0" i="0">
                <a:solidFill>
                  <a:srgbClr val="3A4356"/>
                </a:solidFill>
                <a:latin typeface="Calibri"/>
              </a:rPr>
              <a:t>Material, tolerance, finish, heat</a:t>
            </a:r>
          </a:p>
          <a:p>
            <a:pPr algn="l">
              <a:lnSpc>
                <a:spcPct val="112000"/>
              </a:lnSpc>
              <a:spcAft>
                <a:spcPts val="300"/>
              </a:spcAft>
            </a:pPr>
            <a:r>
              <a:rPr sz="1050" b="0" i="0">
                <a:solidFill>
                  <a:srgbClr val="3A4356"/>
                </a:solidFill>
                <a:latin typeface="Calibri"/>
              </a:rPr>
              <a:t>treatment — the calls only we can make.</a:t>
            </a:r>
          </a:p>
          <a:p>
            <a:pPr algn="l">
              <a:lnSpc>
                <a:spcPct val="112000"/>
              </a:lnSpc>
              <a:spcAft>
                <a:spcPts val="300"/>
              </a:spcAft>
            </a:pPr>
            <a:r>
              <a:rPr sz="1050" b="1" i="0">
                <a:solidFill>
                  <a:srgbClr val="1D6FB8"/>
                </a:solidFill>
                <a:latin typeface="Calibri"/>
              </a:rPr>
              <a:t>It can start now</a:t>
            </a:r>
          </a:p>
          <a:p>
            <a:pPr algn="l">
              <a:lnSpc>
                <a:spcPct val="112000"/>
              </a:lnSpc>
              <a:spcAft>
                <a:spcPts val="300"/>
              </a:spcAft>
            </a:pPr>
            <a:r>
              <a:rPr sz="1050" b="0" i="0">
                <a:solidFill>
                  <a:srgbClr val="3A4356"/>
                </a:solidFill>
                <a:latin typeface="Calibri"/>
              </a:rPr>
              <a:t>No AI, so no approval to wait for.</a:t>
            </a:r>
          </a:p>
          <a:p>
            <a:pPr algn="l">
              <a:lnSpc>
                <a:spcPct val="112000"/>
              </a:lnSpc>
              <a:spcAft>
                <a:spcPts val="300"/>
              </a:spcAft>
            </a:pPr>
          </a:p>
          <a:p>
            <a:pPr algn="l">
              <a:lnSpc>
                <a:spcPct val="112000"/>
              </a:lnSpc>
              <a:spcAft>
                <a:spcPts val="300"/>
              </a:spcAft>
            </a:pPr>
            <a:r>
              <a:rPr sz="1050" b="1" i="0">
                <a:solidFill>
                  <a:srgbClr val="1D6FB8"/>
                </a:solidFill>
                <a:latin typeface="Calibri"/>
              </a:rPr>
              <a:t>Slide 1 turns this into hours.</a:t>
            </a:r>
          </a:p>
        </p:txBody>
      </p:sp>
      <p:sp>
        <p:nvSpPr>
          <p:cNvPr id="13" name="Rounded Rectangle 12"/>
          <p:cNvSpPr/>
          <p:nvPr/>
        </p:nvSpPr>
        <p:spPr>
          <a:xfrm>
            <a:off x="4233672" y="1810512"/>
            <a:ext cx="754380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810512"/>
            <a:ext cx="68580" cy="4297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71780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end to end</a:t>
            </a:r>
          </a:p>
        </p:txBody>
      </p:sp>
      <p:sp>
        <p:nvSpPr>
          <p:cNvPr id="16" name="TextBox 15"/>
          <p:cNvSpPr txBox="1"/>
          <p:nvPr/>
        </p:nvSpPr>
        <p:spPr>
          <a:xfrm>
            <a:off x="4434840"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It runs on its own</a:t>
            </a:r>
          </a:p>
          <a:p>
            <a:pPr algn="l">
              <a:lnSpc>
                <a:spcPct val="112000"/>
              </a:lnSpc>
              <a:spcAft>
                <a:spcPts val="300"/>
              </a:spcAft>
            </a:pPr>
            <a:r>
              <a:rPr sz="1050" b="0" i="0">
                <a:solidFill>
                  <a:srgbClr val="3A4356"/>
                </a:solidFill>
                <a:latin typeface="Calibri"/>
              </a:rPr>
              <a:t>Parts go in, costed reports come out. A</a:t>
            </a:r>
          </a:p>
          <a:p>
            <a:pPr algn="l">
              <a:lnSpc>
                <a:spcPct val="112000"/>
              </a:lnSpc>
              <a:spcAft>
                <a:spcPts val="300"/>
              </a:spcAft>
            </a:pPr>
            <a:r>
              <a:rPr sz="1050" b="0" i="0">
                <a:solidFill>
                  <a:srgbClr val="3A4356"/>
                </a:solidFill>
                <a:latin typeface="Calibri"/>
              </a:rPr>
              <a:t>person answers only what the model cannot show.</a:t>
            </a:r>
          </a:p>
          <a:p>
            <a:pPr algn="l">
              <a:lnSpc>
                <a:spcPct val="112000"/>
              </a:lnSpc>
              <a:spcAft>
                <a:spcPts val="300"/>
              </a:spcAft>
            </a:pPr>
          </a:p>
          <a:p>
            <a:pPr algn="l">
              <a:lnSpc>
                <a:spcPct val="112000"/>
              </a:lnSpc>
              <a:spcAft>
                <a:spcPts val="300"/>
              </a:spcAft>
            </a:pPr>
            <a:r>
              <a:rPr sz="1050" b="1" i="0">
                <a:solidFill>
                  <a:srgbClr val="6B3FA0"/>
                </a:solidFill>
                <a:latin typeface="Calibri"/>
              </a:rPr>
              <a:t>The same method for everything we make</a:t>
            </a:r>
          </a:p>
          <a:p>
            <a:pPr algn="l">
              <a:lnSpc>
                <a:spcPct val="112000"/>
              </a:lnSpc>
              <a:spcAft>
                <a:spcPts val="300"/>
              </a:spcAft>
            </a:pPr>
            <a:r>
              <a:rPr sz="1050" b="0" i="0">
                <a:solidFill>
                  <a:srgbClr val="3A4356"/>
                </a:solidFill>
                <a:latin typeface="Calibri"/>
              </a:rPr>
              <a:t>Metal, plastic, rubber, composites,</a:t>
            </a:r>
          </a:p>
          <a:p>
            <a:pPr algn="l">
              <a:lnSpc>
                <a:spcPct val="112000"/>
              </a:lnSpc>
              <a:spcAft>
                <a:spcPts val="300"/>
              </a:spcAft>
            </a:pPr>
            <a:r>
              <a:rPr sz="1050" b="0" i="0">
                <a:solidFill>
                  <a:srgbClr val="3A4356"/>
                </a:solidFill>
                <a:latin typeface="Calibri"/>
              </a:rPr>
              <a:t>electronics and assemblies.</a:t>
            </a:r>
          </a:p>
          <a:p>
            <a:pPr algn="l">
              <a:lnSpc>
                <a:spcPct val="112000"/>
              </a:lnSpc>
              <a:spcAft>
                <a:spcPts val="300"/>
              </a:spcAft>
            </a:pPr>
          </a:p>
          <a:p>
            <a:pPr algn="l">
              <a:lnSpc>
                <a:spcPct val="112000"/>
              </a:lnSpc>
              <a:spcAft>
                <a:spcPts val="300"/>
              </a:spcAft>
            </a:pPr>
            <a:r>
              <a:rPr sz="1050" b="1" i="0">
                <a:solidFill>
                  <a:srgbClr val="6B3FA0"/>
                </a:solidFill>
                <a:latin typeface="Calibri"/>
              </a:rPr>
              <a:t>We can cost electronics</a:t>
            </a:r>
          </a:p>
          <a:p>
            <a:pPr algn="l">
              <a:lnSpc>
                <a:spcPct val="112000"/>
              </a:lnSpc>
              <a:spcAft>
                <a:spcPts val="300"/>
              </a:spcAft>
            </a:pPr>
            <a:r>
              <a:rPr sz="1050" b="0" i="0">
                <a:solidFill>
                  <a:srgbClr val="3A4356"/>
                </a:solidFill>
                <a:latin typeface="Calibri"/>
              </a:rPr>
              <a:t>A photo of a circuit board gives us the parts</a:t>
            </a:r>
          </a:p>
          <a:p>
            <a:pPr algn="l">
              <a:lnSpc>
                <a:spcPct val="112000"/>
              </a:lnSpc>
              <a:spcAft>
                <a:spcPts val="300"/>
              </a:spcAft>
            </a:pPr>
            <a:r>
              <a:rPr sz="1050" b="0" i="0">
                <a:solidFill>
                  <a:srgbClr val="3A4356"/>
                </a:solidFill>
                <a:latin typeface="Calibri"/>
              </a:rPr>
              <a:t>list, the board spec and a price.</a:t>
            </a:r>
          </a:p>
          <a:p>
            <a:pPr algn="l">
              <a:lnSpc>
                <a:spcPct val="112000"/>
              </a:lnSpc>
              <a:spcAft>
                <a:spcPts val="300"/>
              </a:spcAft>
            </a:pPr>
          </a:p>
          <a:p>
            <a:pPr algn="l">
              <a:lnSpc>
                <a:spcPct val="112000"/>
              </a:lnSpc>
              <a:spcAft>
                <a:spcPts val="300"/>
              </a:spcAft>
            </a:pPr>
            <a:r>
              <a:rPr sz="1050" b="1" i="0">
                <a:solidFill>
                  <a:srgbClr val="6B3FA0"/>
                </a:solidFill>
                <a:latin typeface="Calibri"/>
              </a:rPr>
              <a:t>Software costed too</a:t>
            </a:r>
          </a:p>
          <a:p>
            <a:pPr algn="l">
              <a:lnSpc>
                <a:spcPct val="112000"/>
              </a:lnSpc>
              <a:spcAft>
                <a:spcPts val="300"/>
              </a:spcAft>
            </a:pPr>
            <a:r>
              <a:rPr sz="1050" b="0" i="0">
                <a:solidFill>
                  <a:srgbClr val="3A4356"/>
                </a:solidFill>
                <a:latin typeface="Calibri"/>
              </a:rPr>
              <a:t>43 modules, from powertrain and driver</a:t>
            </a:r>
          </a:p>
          <a:p>
            <a:pPr algn="l">
              <a:lnSpc>
                <a:spcPct val="112000"/>
              </a:lnSpc>
              <a:spcAft>
                <a:spcPts val="300"/>
              </a:spcAft>
            </a:pPr>
            <a:r>
              <a:rPr sz="1050" b="0" i="0">
                <a:solidFill>
                  <a:srgbClr val="3A4356"/>
                </a:solidFill>
                <a:latin typeface="Calibri"/>
              </a:rPr>
              <a:t>assistance through to cloud.</a:t>
            </a:r>
          </a:p>
        </p:txBody>
      </p:sp>
      <p:sp>
        <p:nvSpPr>
          <p:cNvPr id="17" name="TextBox 16"/>
          <p:cNvSpPr txBox="1"/>
          <p:nvPr/>
        </p:nvSpPr>
        <p:spPr>
          <a:xfrm>
            <a:off x="8087868"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Where a supplier price differs</a:t>
            </a:r>
          </a:p>
          <a:p>
            <a:pPr algn="l">
              <a:lnSpc>
                <a:spcPct val="112000"/>
              </a:lnSpc>
              <a:spcAft>
                <a:spcPts val="300"/>
              </a:spcAft>
            </a:pPr>
            <a:r>
              <a:rPr sz="1050" b="0" i="0">
                <a:solidFill>
                  <a:srgbClr val="3A4356"/>
                </a:solidFill>
                <a:latin typeface="Calibri"/>
              </a:rPr>
              <a:t>Their price next to our build-up, with the gap</a:t>
            </a:r>
          </a:p>
          <a:p>
            <a:pPr algn="l">
              <a:lnSpc>
                <a:spcPct val="112000"/>
              </a:lnSpc>
              <a:spcAft>
                <a:spcPts val="300"/>
              </a:spcAft>
            </a:pPr>
            <a:r>
              <a:rPr sz="1050" b="0" i="0">
                <a:solidFill>
                  <a:srgbClr val="3A4356"/>
                </a:solidFill>
                <a:latin typeface="Calibri"/>
              </a:rPr>
              <a:t>shown in each part of the cost.</a:t>
            </a:r>
          </a:p>
          <a:p>
            <a:pPr algn="l">
              <a:lnSpc>
                <a:spcPct val="112000"/>
              </a:lnSpc>
              <a:spcAft>
                <a:spcPts val="300"/>
              </a:spcAft>
            </a:pPr>
          </a:p>
          <a:p>
            <a:pPr algn="l">
              <a:lnSpc>
                <a:spcPct val="112000"/>
              </a:lnSpc>
              <a:spcAft>
                <a:spcPts val="300"/>
              </a:spcAft>
            </a:pPr>
            <a:r>
              <a:rPr sz="1050" b="1" i="0">
                <a:solidFill>
                  <a:srgbClr val="6B3FA0"/>
                </a:solidFill>
                <a:latin typeface="Calibri"/>
              </a:rPr>
              <a:t>And what to do about it</a:t>
            </a:r>
          </a:p>
          <a:p>
            <a:pPr algn="l">
              <a:lnSpc>
                <a:spcPct val="112000"/>
              </a:lnSpc>
              <a:spcAft>
                <a:spcPts val="300"/>
              </a:spcAft>
            </a:pPr>
            <a:r>
              <a:rPr sz="1050" b="0" i="0">
                <a:solidFill>
                  <a:srgbClr val="3A4356"/>
                </a:solidFill>
                <a:latin typeface="Calibri"/>
              </a:rPr>
              <a:t>What to go after, what to ask them, and what</a:t>
            </a:r>
          </a:p>
          <a:p>
            <a:pPr algn="l">
              <a:lnSpc>
                <a:spcPct val="112000"/>
              </a:lnSpc>
              <a:spcAft>
                <a:spcPts val="300"/>
              </a:spcAft>
            </a:pPr>
            <a:r>
              <a:rPr sz="1050" b="0" i="0">
                <a:solidFill>
                  <a:srgbClr val="3A4356"/>
                </a:solidFill>
                <a:latin typeface="Calibri"/>
              </a:rPr>
              <a:t>it is worth over a year.</a:t>
            </a:r>
          </a:p>
          <a:p>
            <a:pPr algn="l">
              <a:lnSpc>
                <a:spcPct val="112000"/>
              </a:lnSpc>
              <a:spcAft>
                <a:spcPts val="300"/>
              </a:spcAft>
            </a:pPr>
          </a:p>
          <a:p>
            <a:pPr algn="l">
              <a:lnSpc>
                <a:spcPct val="112000"/>
              </a:lnSpc>
              <a:spcAft>
                <a:spcPts val="300"/>
              </a:spcAft>
            </a:pPr>
            <a:r>
              <a:rPr sz="1050" b="1" i="0">
                <a:solidFill>
                  <a:srgbClr val="6B3FA0"/>
                </a:solidFill>
                <a:latin typeface="Calibri"/>
              </a:rPr>
              <a:t>A whole RFQ pack costed</a:t>
            </a:r>
          </a:p>
          <a:p>
            <a:pPr algn="l">
              <a:lnSpc>
                <a:spcPct val="112000"/>
              </a:lnSpc>
              <a:spcAft>
                <a:spcPts val="300"/>
              </a:spcAft>
            </a:pPr>
            <a:r>
              <a:rPr sz="1050" b="0" i="0">
                <a:solidFill>
                  <a:srgbClr val="3A4356"/>
                </a:solidFill>
                <a:latin typeface="Calibri"/>
              </a:rPr>
              <a:t>The line items are pulled out, priced and put</a:t>
            </a:r>
          </a:p>
          <a:p>
            <a:pPr algn="l">
              <a:lnSpc>
                <a:spcPct val="112000"/>
              </a:lnSpc>
              <a:spcAft>
                <a:spcPts val="300"/>
              </a:spcAft>
            </a:pPr>
            <a:r>
              <a:rPr sz="1050" b="0" i="0">
                <a:solidFill>
                  <a:srgbClr val="3A4356"/>
                </a:solidFill>
                <a:latin typeface="Calibri"/>
              </a:rPr>
              <a:t>in order of money.</a:t>
            </a:r>
          </a:p>
          <a:p>
            <a:pPr algn="l">
              <a:lnSpc>
                <a:spcPct val="112000"/>
              </a:lnSpc>
              <a:spcAft>
                <a:spcPts val="300"/>
              </a:spcAft>
            </a:pPr>
          </a:p>
          <a:p>
            <a:pPr algn="l">
              <a:lnSpc>
                <a:spcPct val="112000"/>
              </a:lnSpc>
              <a:spcAft>
                <a:spcPts val="300"/>
              </a:spcAft>
            </a:pPr>
            <a:r>
              <a:rPr sz="1050" b="1" i="0">
                <a:solidFill>
                  <a:srgbClr val="6B3FA0"/>
                </a:solidFill>
                <a:latin typeface="Calibri"/>
              </a:rPr>
              <a:t>Design changes with a price on them</a:t>
            </a:r>
          </a:p>
          <a:p>
            <a:pPr algn="l">
              <a:lnSpc>
                <a:spcPct val="112000"/>
              </a:lnSpc>
              <a:spcAft>
                <a:spcPts val="300"/>
              </a:spcAft>
            </a:pPr>
            <a:r>
              <a:rPr sz="1050" b="0" i="0">
                <a:solidFill>
                  <a:srgbClr val="3A4356"/>
                </a:solidFill>
                <a:latin typeface="Calibri"/>
              </a:rPr>
              <a:t>What makes the part expensive, and what</a:t>
            </a:r>
          </a:p>
          <a:p>
            <a:pPr algn="l">
              <a:lnSpc>
                <a:spcPct val="112000"/>
              </a:lnSpc>
              <a:spcAft>
                <a:spcPts val="300"/>
              </a:spcAft>
            </a:pPr>
            <a:r>
              <a:rPr sz="1050" b="0" i="0">
                <a:solidFill>
                  <a:srgbClr val="3A4356"/>
                </a:solidFill>
                <a:latin typeface="Calibri"/>
              </a:rPr>
              <a:t>each change would save.</a:t>
            </a:r>
          </a:p>
        </p:txBody>
      </p:sp>
      <p:sp>
        <p:nvSpPr>
          <p:cNvPr id="18" name="Rounded Rectangle 17"/>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163056"/>
            <a:ext cx="68580" cy="603504"/>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The two build on each other</a:t>
            </a:r>
          </a:p>
        </p:txBody>
      </p:sp>
      <p:sp>
        <p:nvSpPr>
          <p:cNvPr id="21" name="TextBox 20"/>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1's benefits arrive first and are kept when Option 2 lands; Option 2's rest on the accuracy figure Option 1 produces.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8" name="Rounded Rectangle 7"/>
          <p:cNvSpPr/>
          <p:nvPr/>
        </p:nvSpPr>
        <p:spPr>
          <a:xfrm>
            <a:off x="411480"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72768"/>
            <a:ext cx="68580" cy="96012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 decision today</a:t>
            </a:r>
          </a:p>
        </p:txBody>
      </p:sp>
      <p:sp>
        <p:nvSpPr>
          <p:cNvPr id="11" name="TextBox 10"/>
          <p:cNvSpPr txBox="1"/>
          <p:nvPr/>
        </p:nvSpPr>
        <p:spPr>
          <a:xfrm>
            <a:off x="612648"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Approve the trial. One commodity, 30 to 50 parts we have</a:t>
            </a:r>
          </a:p>
          <a:p>
            <a:pPr algn="l">
              <a:lnSpc>
                <a:spcPct val="112000"/>
              </a:lnSpc>
              <a:spcAft>
                <a:spcPts val="300"/>
              </a:spcAft>
            </a:pPr>
            <a:r>
              <a:rPr sz="1050" b="0" i="0">
                <a:solidFill>
                  <a:srgbClr val="3A4356"/>
                </a:solidFill>
                <a:latin typeface="Calibri"/>
              </a:rPr>
              <a:t>already bought, inside CAPEE.</a:t>
            </a:r>
          </a:p>
        </p:txBody>
      </p:sp>
      <p:sp>
        <p:nvSpPr>
          <p:cNvPr id="12" name="Rounded Rectangle 11"/>
          <p:cNvSpPr/>
          <p:nvPr/>
        </p:nvSpPr>
        <p:spPr>
          <a:xfrm>
            <a:off x="6199632"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572768"/>
            <a:ext cx="68580"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no decision today</a:t>
            </a:r>
          </a:p>
        </p:txBody>
      </p:sp>
      <p:sp>
        <p:nvSpPr>
          <p:cNvPr id="15" name="TextBox 14"/>
          <p:cNvSpPr txBox="1"/>
          <p:nvPr/>
        </p:nvSpPr>
        <p:spPr>
          <a:xfrm>
            <a:off x="6400800"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bulk run is built and runs unattended on our own</a:t>
            </a:r>
          </a:p>
          <a:p>
            <a:pPr algn="l">
              <a:lnSpc>
                <a:spcPct val="112000"/>
              </a:lnSpc>
              <a:spcAft>
                <a:spcPts val="300"/>
              </a:spcAft>
            </a:pPr>
            <a:r>
              <a:rPr sz="1050" b="0" i="0">
                <a:solidFill>
                  <a:srgbClr val="3A4356"/>
                </a:solidFill>
                <a:latin typeface="Calibri"/>
              </a:rPr>
              <a:t>parts. Start the AI approval so it is not what holds us up.</a:t>
            </a:r>
          </a:p>
        </p:txBody>
      </p:sp>
      <p:sp>
        <p:nvSpPr>
          <p:cNvPr id="16" name="Rounded Rectangle 15"/>
          <p:cNvSpPr/>
          <p:nvPr/>
        </p:nvSpPr>
        <p:spPr>
          <a:xfrm>
            <a:off x="411480"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642616"/>
            <a:ext cx="68580" cy="12070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9" name="TextBox 18"/>
          <p:cNvSpPr txBox="1"/>
          <p:nvPr/>
        </p:nvSpPr>
        <p:spPr>
          <a:xfrm>
            <a:off x="612648"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server to run the measurement on,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An engineer from the commodity team for the trial</a:t>
            </a:r>
          </a:p>
        </p:txBody>
      </p:sp>
      <p:sp>
        <p:nvSpPr>
          <p:cNvPr id="20" name="Rounded Rectangle 19"/>
          <p:cNvSpPr/>
          <p:nvPr/>
        </p:nvSpPr>
        <p:spPr>
          <a:xfrm>
            <a:off x="6199632"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642616"/>
            <a:ext cx="68580" cy="120700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23" name="TextBox 22"/>
          <p:cNvSpPr txBox="1"/>
          <p:nvPr/>
        </p:nvSpPr>
        <p:spPr>
          <a:xfrm>
            <a:off x="6400800"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 — for the</a:t>
            </a:r>
          </a:p>
          <a:p>
            <a:pPr algn="l">
              <a:lnSpc>
                <a:spcPct val="112000"/>
              </a:lnSpc>
              <a:spcAft>
                <a:spcPts val="300"/>
              </a:spcAft>
            </a:pPr>
            <a:r>
              <a:rPr sz="1050" b="0" i="0">
                <a:solidFill>
                  <a:srgbClr val="3A4356"/>
                </a:solidFill>
                <a:latin typeface="Calibri"/>
              </a:rPr>
              <a:t>three on the last slide that read something</a:t>
            </a:r>
          </a:p>
          <a:p>
            <a:pPr algn="l">
              <a:lnSpc>
                <a:spcPct val="112000"/>
              </a:lnSpc>
              <a:spcAft>
                <a:spcPts val="300"/>
              </a:spcAft>
            </a:pPr>
            <a:r>
              <a:rPr sz="1050" b="0" i="0">
                <a:solidFill>
                  <a:srgbClr val="3A4356"/>
                </a:solidFill>
                <a:latin typeface="Calibri"/>
              </a:rPr>
              <a:t>Our own rate book loaded. The rest is built</a:t>
            </a:r>
          </a:p>
        </p:txBody>
      </p:sp>
      <p:sp>
        <p:nvSpPr>
          <p:cNvPr id="24" name="Rounded Rectangle 23"/>
          <p:cNvSpPr/>
          <p:nvPr/>
        </p:nvSpPr>
        <p:spPr>
          <a:xfrm>
            <a:off x="411480" y="3959352"/>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959352"/>
            <a:ext cx="68580" cy="822960"/>
          </a:xfrm>
          <a:prstGeom prst="rect">
            <a:avLst/>
          </a:prstGeom>
          <a:solidFill>
            <a:srgbClr val="2A7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40782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A7F50"/>
                </a:solidFill>
                <a:latin typeface="Calibri"/>
              </a:rPr>
              <a:t>What the trial gives us</a:t>
            </a:r>
          </a:p>
        </p:txBody>
      </p:sp>
      <p:sp>
        <p:nvSpPr>
          <p:cNvPr id="27" name="TextBox 26"/>
          <p:cNvSpPr txBox="1"/>
          <p:nvPr/>
        </p:nvSpPr>
        <p:spPr>
          <a:xfrm>
            <a:off x="630936" y="4361688"/>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two numbers nobody in this company can state today: how close the tool gets to a price we actually paid, and how much of the input it fills on its own. Until we have them there is no honest conversation to be had about Option 2.</a:t>
            </a:r>
          </a:p>
        </p:txBody>
      </p:sp>
      <p:sp>
        <p:nvSpPr>
          <p:cNvPr id="28" name="Rounded Rectangle 27"/>
          <p:cNvSpPr/>
          <p:nvPr/>
        </p:nvSpPr>
        <p:spPr>
          <a:xfrm>
            <a:off x="411480" y="4901184"/>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4901184"/>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5038344"/>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1D6FB8"/>
                </a:solidFill>
                <a:latin typeface="Calibri"/>
              </a:rPr>
              <a:t>The rule that does not bend</a:t>
            </a:r>
          </a:p>
        </p:txBody>
      </p:sp>
      <p:sp>
        <p:nvSpPr>
          <p:cNvPr id="31" name="TextBox 30"/>
          <p:cNvSpPr txBox="1"/>
          <p:nvPr/>
        </p:nvSpPr>
        <p:spPr>
          <a:xfrm>
            <a:off x="3429000" y="5038344"/>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AI reads, sorts and sets up. It never sets a price — the money comes from the same fixed rules we use today.</a:t>
            </a:r>
          </a:p>
        </p:txBody>
      </p:sp>
      <p:sp>
        <p:nvSpPr>
          <p:cNvPr id="32" name="Rounded Rectangle 31"/>
          <p:cNvSpPr/>
          <p:nvPr/>
        </p:nvSpPr>
        <p:spPr>
          <a:xfrm>
            <a:off x="411480" y="5468112"/>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468112"/>
            <a:ext cx="68580" cy="53035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 y="5605272"/>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99651A"/>
                </a:solidFill>
                <a:latin typeface="Calibri"/>
              </a:rPr>
              <a:t>If the trial disappoints</a:t>
            </a:r>
          </a:p>
        </p:txBody>
      </p:sp>
      <p:sp>
        <p:nvSpPr>
          <p:cNvPr id="35" name="TextBox 34"/>
          <p:cNvSpPr txBox="1"/>
          <p:nvPr/>
        </p:nvSpPr>
        <p:spPr>
          <a:xfrm>
            <a:off x="3429000" y="5605272"/>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Never checked against a price JLR has paid, and never yet run on a JLR laptop. If the answer is poor we stop, having spent only our own time.</a:t>
            </a:r>
          </a:p>
        </p:txBody>
      </p:sp>
      <p:sp>
        <p:nvSpPr>
          <p:cNvPr id="36" name="Rounded Rectangle 35"/>
          <p:cNvSpPr/>
          <p:nvPr/>
        </p:nvSpPr>
        <p:spPr>
          <a:xfrm>
            <a:off x="411480" y="6035040"/>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1480" y="6035040"/>
            <a:ext cx="68580" cy="530352"/>
          </a:xfrm>
          <a:prstGeom prst="rect">
            <a:avLst/>
          </a:prstGeom>
          <a:solidFill>
            <a:srgbClr val="9965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6172200"/>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99651A"/>
                </a:solidFill>
                <a:latin typeface="Calibri"/>
              </a:rPr>
              <a:t>Nobody has sized this yet</a:t>
            </a:r>
          </a:p>
        </p:txBody>
      </p:sp>
      <p:sp>
        <p:nvSpPr>
          <p:cNvPr id="39" name="TextBox 38"/>
          <p:cNvSpPr txBox="1"/>
          <p:nvPr/>
        </p:nvSpPr>
        <p:spPr>
          <a:xfrm>
            <a:off x="3429000" y="6172200"/>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How long it takes waits on one answer from IT about how CAPEE is built. The sizing comes back with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