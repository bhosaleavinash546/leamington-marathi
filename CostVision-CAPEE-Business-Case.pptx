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start with the job itself, because everything after this is about removing part of it. Today an engineer opens the model, reads the drawing and types the numbers into CAPEE. How many numbers depends on the part: twelve boxes for a machined part, sixty-nine for a pressing. Those counts come straight off the CAPEE input forms. The amber box on the right is the point I would not want to lose. The time is real, but the second problem is worse. Two of our engineers costing the same part will not type the same numbers, so we end up with two answers for one part and no way to say which one we would defend to a supplier. Now the table. I have deliberately not put a saving on this slide, because we have never timed this job and I am not going to stand here and invent a number. Four of these five are yours and you can get them quickly. The fifth, E, is what the pilot measures. Put your numbers in and the three boxes at the bottom fill themselves in. That is a business case you own rather than one I have handed you.</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low-hanging fruit and it is deliberately narrow. CAPEE does not move. It still does the costing, on the same screens, with the same maths. What changes is where the input comes from. The engineer attaches the 3D model from inside CAPEE. The engine measures it on a JLR server with no internet connection, and the rules turn those measurements into the values the form wants. Then the engineer confirms the handful of things a solid model genuinely cannot show, and CAPEE costs the part. I want to be explicit about the second sentence in the blue box, because I know AI is not approved here. There is no AI in this option. Reading a drawing would need a language model and I have taken it out entirely. The tool already has a setting that runs on rules alone with no model call, and that is the setting this describes. That is not a compromise, it is safer: with no model in the loop, the whole class of risk where the model says something wrong does not exist. What is left is measurement, arithmetic, and questions. The amber card is the honest limit. Without the drawing, tolerance class, finish and heat treatment still get answered by a person, and so does the material family unless it comes off the part master. The tool asks for them rather than guessing.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 two is a different thing and I want to be clear it is not just Option one at scale. Today we cost the parts we have hours for and the rest of a basket gets sampled or estimated by analogy. Option two costs every part in the basket from its own geometry, in one run, with an engineer answering only what the geometry cannot decide. The middle table is measured, not estimated: forty real production parts took thirty-one seconds on two workers this month, and the five-hundred-part row is that same rate carried forward. The point of it is that the machine time is not the constraint. Getting the part list, the CAD files and our own rate data together is the work. The red strip is the honest part and I would rather you hear it from me. Five things do not exist today. None of them is large. All of them are needed before a bulk run means anything three months later. And the blue box answers the question I expect: no, this does not need AI either. The costing engine and the rules make no model call. An agent is one way to drive a run, but taking the part type and the material off the part master does the same job, and that is the route I would take while AI is not approved.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options on one page. Read down the left column first. Option one changes where CAPEE's input comes from, uses no AI, needs nobody to learn anything, and can be stopped at any point because CAPEE costs the same way whether we do this or not. Option two is a bigger step and it buys us something different: every part in a basket costed from its own geometry instead of a sample scaled up. The row I would point at is the third one, because it is the question I expect first in this room. Option one uses no AI at all. Option two does not need it for the costing either. The green strip is the ask, and it is deliberately small. One part type, thirty to fifty parts we have already bought, our own time. What we get out of it is the two numbers nobody in this company can state today: how close the tool gets to a price we actually paid, and how much of the input it fills on its own. Those are the numbers that make the Option two conversation possible, and without them it is not a conversation worth having. The amber box is the reason I am asking for a pilot rather than a rollout. We have never checked this against a real price. I would rather say that now than be asked it later.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PROBLEM</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it costs us to cost a part today</a:t>
            </a:r>
          </a:p>
        </p:txBody>
      </p:sp>
      <p:sp>
        <p:nvSpPr>
          <p:cNvPr id="9" name="TextBox 8"/>
          <p:cNvSpPr txBox="1"/>
          <p:nvPr/>
        </p:nvSpPr>
        <p:spPr>
          <a:xfrm>
            <a:off x="411480" y="1536192"/>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Every part costed in CAPEE is typed in by hand. Here is that job, and here is what it is worth in your own numbers.</a:t>
            </a:r>
          </a:p>
        </p:txBody>
      </p:sp>
      <p:sp>
        <p:nvSpPr>
          <p:cNvPr id="10" name="Rounded Rectangle 9"/>
          <p:cNvSpPr/>
          <p:nvPr/>
        </p:nvSpPr>
        <p:spPr>
          <a:xfrm>
            <a:off x="411480" y="1847088"/>
            <a:ext cx="5577840" cy="1783080"/>
          </a:xfrm>
          <a:prstGeom prst="roundRect">
            <a:avLst>
              <a:gd name="adj" fmla="val 12000"/>
            </a:avLst>
          </a:prstGeom>
          <a:solidFill>
            <a:srgbClr val="FBECEA"/>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847088"/>
            <a:ext cx="68580" cy="17830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1975104"/>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HOW A PART GETS COSTED TODAY</a:t>
            </a:r>
          </a:p>
        </p:txBody>
      </p:sp>
      <p:sp>
        <p:nvSpPr>
          <p:cNvPr id="13" name="TextBox 12"/>
          <p:cNvSpPr txBox="1"/>
          <p:nvPr/>
        </p:nvSpPr>
        <p:spPr>
          <a:xfrm>
            <a:off x="612648" y="2286000"/>
            <a:ext cx="5212080" cy="123444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The engineer opens the 3D model, reads the drawing,</a:t>
            </a:r>
          </a:p>
          <a:p>
            <a:pPr algn="l">
              <a:lnSpc>
                <a:spcPct val="112000"/>
              </a:lnSpc>
              <a:spcAft>
                <a:spcPts val="300"/>
              </a:spcAft>
            </a:pPr>
            <a:r>
              <a:rPr sz="1050" b="0" i="0">
                <a:solidFill>
                  <a:srgbClr val="3A4356"/>
                </a:solidFill>
                <a:latin typeface="Calibri"/>
              </a:rPr>
              <a:t>and types the numbers into CAPEE by hand.</a:t>
            </a:r>
          </a:p>
          <a:p>
            <a:pPr algn="l">
              <a:lnSpc>
                <a:spcPct val="112000"/>
              </a:lnSpc>
              <a:spcAft>
                <a:spcPts val="300"/>
              </a:spcAft>
            </a:pPr>
          </a:p>
          <a:p>
            <a:pPr algn="l">
              <a:lnSpc>
                <a:spcPct val="112000"/>
              </a:lnSpc>
              <a:spcAft>
                <a:spcPts val="300"/>
              </a:spcAft>
            </a:pPr>
            <a:r>
              <a:rPr sz="1050" b="1" i="0">
                <a:solidFill>
                  <a:srgbClr val="16325C"/>
                </a:solidFill>
                <a:latin typeface="Calibri"/>
              </a:rPr>
              <a:t>Boxes to fill, depending on the part type:</a:t>
            </a:r>
          </a:p>
          <a:p>
            <a:pPr algn="l">
              <a:lnSpc>
                <a:spcPct val="112000"/>
              </a:lnSpc>
              <a:spcAft>
                <a:spcPts val="300"/>
              </a:spcAft>
            </a:pPr>
            <a:r>
              <a:rPr sz="1050" b="0" i="0">
                <a:solidFill>
                  <a:srgbClr val="3A4356"/>
                </a:solidFill>
                <a:latin typeface="Calibri"/>
              </a:rPr>
              <a:t>machined 12 · casting 30 · moulding 39 · pressing 69</a:t>
            </a:r>
          </a:p>
        </p:txBody>
      </p:sp>
      <p:sp>
        <p:nvSpPr>
          <p:cNvPr id="14" name="Rounded Rectangle 13"/>
          <p:cNvSpPr/>
          <p:nvPr/>
        </p:nvSpPr>
        <p:spPr>
          <a:xfrm>
            <a:off x="6199632" y="1847088"/>
            <a:ext cx="5577840" cy="1783080"/>
          </a:xfrm>
          <a:prstGeom prst="roundRect">
            <a:avLst>
              <a:gd name="adj" fmla="val 12000"/>
            </a:avLst>
          </a:prstGeom>
          <a:solidFill>
            <a:srgbClr val="FCF3E3"/>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99632" y="1847088"/>
            <a:ext cx="68580" cy="178308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1975104"/>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WHY IT MATTERS TWICE</a:t>
            </a:r>
          </a:p>
        </p:txBody>
      </p:sp>
      <p:sp>
        <p:nvSpPr>
          <p:cNvPr id="17" name="TextBox 16"/>
          <p:cNvSpPr txBox="1"/>
          <p:nvPr/>
        </p:nvSpPr>
        <p:spPr>
          <a:xfrm>
            <a:off x="6400800" y="2286000"/>
            <a:ext cx="5212080" cy="123444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It takes time, and the time scales with the number of</a:t>
            </a:r>
          </a:p>
          <a:p>
            <a:pPr algn="l">
              <a:lnSpc>
                <a:spcPct val="112000"/>
              </a:lnSpc>
              <a:spcAft>
                <a:spcPts val="300"/>
              </a:spcAft>
            </a:pPr>
            <a:r>
              <a:rPr sz="1050" b="0" i="0">
                <a:solidFill>
                  <a:srgbClr val="3A4356"/>
                </a:solidFill>
                <a:latin typeface="Calibri"/>
              </a:rPr>
              <a:t>parts we want costed. That is the obvious cost.</a:t>
            </a:r>
          </a:p>
          <a:p>
            <a:pPr algn="l">
              <a:lnSpc>
                <a:spcPct val="112000"/>
              </a:lnSpc>
              <a:spcAft>
                <a:spcPts val="300"/>
              </a:spcAft>
            </a:pPr>
          </a:p>
          <a:p>
            <a:pPr algn="l">
              <a:lnSpc>
                <a:spcPct val="112000"/>
              </a:lnSpc>
              <a:spcAft>
                <a:spcPts val="300"/>
              </a:spcAft>
            </a:pPr>
            <a:r>
              <a:rPr sz="1050" b="1" i="0">
                <a:solidFill>
                  <a:srgbClr val="16325C"/>
                </a:solidFill>
                <a:latin typeface="Calibri"/>
              </a:rPr>
              <a:t>Two engineers costing the same part do not type the</a:t>
            </a:r>
          </a:p>
          <a:p>
            <a:pPr algn="l">
              <a:lnSpc>
                <a:spcPct val="112000"/>
              </a:lnSpc>
              <a:spcAft>
                <a:spcPts val="300"/>
              </a:spcAft>
            </a:pPr>
            <a:r>
              <a:rPr sz="1050" b="1" i="0">
                <a:solidFill>
                  <a:srgbClr val="16325C"/>
                </a:solidFill>
                <a:latin typeface="Calibri"/>
              </a:rPr>
              <a:t>same numbers, so one part gets two answers.</a:t>
            </a:r>
          </a:p>
        </p:txBody>
      </p:sp>
      <p:sp>
        <p:nvSpPr>
          <p:cNvPr id="18" name="TextBox 17"/>
          <p:cNvSpPr txBox="1"/>
          <p:nvPr/>
        </p:nvSpPr>
        <p:spPr>
          <a:xfrm>
            <a:off x="411480" y="3703320"/>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What it is worth: five numbers, four of them yours</a:t>
            </a:r>
          </a:p>
        </p:txBody>
      </p:sp>
      <p:sp>
        <p:nvSpPr>
          <p:cNvPr id="19" name="Rectangle 18"/>
          <p:cNvSpPr/>
          <p:nvPr/>
        </p:nvSpPr>
        <p:spPr>
          <a:xfrm>
            <a:off x="411480" y="3977639"/>
            <a:ext cx="4572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3776" y="4059935"/>
            <a:ext cx="310896" cy="219456"/>
          </a:xfrm>
          <a:prstGeom prst="rect">
            <a:avLst/>
          </a:prstGeom>
          <a:noFill/>
        </p:spPr>
        <p:txBody>
          <a:bodyPr wrap="square" anchor="t" lIns="0" rIns="0" tIns="0" bIns="0">
            <a:spAutoFit/>
          </a:bodyPr>
          <a:lstStyle/>
          <a:p>
            <a:pPr algn="l">
              <a:lnSpc>
                <a:spcPct val="100000"/>
              </a:lnSpc>
              <a:spcAft>
                <a:spcPts val="400"/>
              </a:spcAft>
            </a:pPr>
          </a:p>
        </p:txBody>
      </p:sp>
      <p:sp>
        <p:nvSpPr>
          <p:cNvPr id="21" name="Rectangle 20"/>
          <p:cNvSpPr/>
          <p:nvPr/>
        </p:nvSpPr>
        <p:spPr>
          <a:xfrm>
            <a:off x="868680" y="3977639"/>
            <a:ext cx="48463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0976" y="4059935"/>
            <a:ext cx="47000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is</a:t>
            </a:r>
          </a:p>
        </p:txBody>
      </p:sp>
      <p:sp>
        <p:nvSpPr>
          <p:cNvPr id="23" name="Rectangle 22"/>
          <p:cNvSpPr/>
          <p:nvPr/>
        </p:nvSpPr>
        <p:spPr>
          <a:xfrm>
            <a:off x="5715000" y="3977639"/>
            <a:ext cx="15544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97296" y="4059935"/>
            <a:ext cx="14081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JLR's number</a:t>
            </a:r>
          </a:p>
        </p:txBody>
      </p:sp>
      <p:sp>
        <p:nvSpPr>
          <p:cNvPr id="25" name="Rectangle 24"/>
          <p:cNvSpPr/>
          <p:nvPr/>
        </p:nvSpPr>
        <p:spPr>
          <a:xfrm>
            <a:off x="7269480" y="3977639"/>
            <a:ext cx="450799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6" y="4059935"/>
            <a:ext cx="436168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Where it comes from</a:t>
            </a:r>
          </a:p>
        </p:txBody>
      </p:sp>
      <p:sp>
        <p:nvSpPr>
          <p:cNvPr id="27" name="Rectangle 26"/>
          <p:cNvSpPr/>
          <p:nvPr/>
        </p:nvSpPr>
        <p:spPr>
          <a:xfrm>
            <a:off x="411480" y="4306823"/>
            <a:ext cx="457200"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3776" y="4370831"/>
            <a:ext cx="310896" cy="192024"/>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A</a:t>
            </a:r>
          </a:p>
        </p:txBody>
      </p:sp>
      <p:sp>
        <p:nvSpPr>
          <p:cNvPr id="29" name="Rectangle 28"/>
          <p:cNvSpPr/>
          <p:nvPr/>
        </p:nvSpPr>
        <p:spPr>
          <a:xfrm>
            <a:off x="868680" y="4306823"/>
            <a:ext cx="4846320"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0976" y="4370831"/>
            <a:ext cx="4700016" cy="19202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Minutes to cost one part in CAPEE today</a:t>
            </a:r>
          </a:p>
        </p:txBody>
      </p:sp>
      <p:sp>
        <p:nvSpPr>
          <p:cNvPr id="31" name="Rectangle 30"/>
          <p:cNvSpPr/>
          <p:nvPr/>
        </p:nvSpPr>
        <p:spPr>
          <a:xfrm>
            <a:off x="5715000" y="4306823"/>
            <a:ext cx="1554480"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797296" y="4370831"/>
            <a:ext cx="1408176" cy="192024"/>
          </a:xfrm>
          <a:prstGeom prst="rect">
            <a:avLst/>
          </a:prstGeom>
          <a:noFill/>
        </p:spPr>
        <p:txBody>
          <a:bodyPr wrap="square" anchor="t" lIns="0" rIns="0" tIns="0" bIns="0">
            <a:spAutoFit/>
          </a:bodyPr>
          <a:lstStyle/>
          <a:p>
            <a:pPr algn="l">
              <a:lnSpc>
                <a:spcPct val="100000"/>
              </a:lnSpc>
              <a:spcAft>
                <a:spcPts val="400"/>
              </a:spcAft>
            </a:pPr>
            <a:r>
              <a:rPr sz="1019" b="1" i="0">
                <a:solidFill>
                  <a:srgbClr val="1D6FB8"/>
                </a:solidFill>
                <a:latin typeface="Calibri"/>
              </a:rPr>
              <a:t>________</a:t>
            </a:r>
          </a:p>
        </p:txBody>
      </p:sp>
      <p:sp>
        <p:nvSpPr>
          <p:cNvPr id="33" name="Rectangle 32"/>
          <p:cNvSpPr/>
          <p:nvPr/>
        </p:nvSpPr>
        <p:spPr>
          <a:xfrm>
            <a:off x="7269480" y="4306823"/>
            <a:ext cx="4507992"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51776" y="4370831"/>
            <a:ext cx="4361688" cy="19202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Time a handful of parts. One part type is enough to start</a:t>
            </a:r>
          </a:p>
        </p:txBody>
      </p:sp>
      <p:sp>
        <p:nvSpPr>
          <p:cNvPr id="35" name="Rectangle 34"/>
          <p:cNvSpPr/>
          <p:nvPr/>
        </p:nvSpPr>
        <p:spPr>
          <a:xfrm>
            <a:off x="411480" y="4590287"/>
            <a:ext cx="457200" cy="28346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93776" y="4654295"/>
            <a:ext cx="310896" cy="192024"/>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B</a:t>
            </a:r>
          </a:p>
        </p:txBody>
      </p:sp>
      <p:sp>
        <p:nvSpPr>
          <p:cNvPr id="37" name="Rectangle 36"/>
          <p:cNvSpPr/>
          <p:nvPr/>
        </p:nvSpPr>
        <p:spPr>
          <a:xfrm>
            <a:off x="868680" y="4590287"/>
            <a:ext cx="4846320" cy="28346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50976" y="4654295"/>
            <a:ext cx="4700016" cy="19202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Of those, the minutes spent finding and typing the input values</a:t>
            </a:r>
          </a:p>
        </p:txBody>
      </p:sp>
      <p:sp>
        <p:nvSpPr>
          <p:cNvPr id="39" name="Rectangle 38"/>
          <p:cNvSpPr/>
          <p:nvPr/>
        </p:nvSpPr>
        <p:spPr>
          <a:xfrm>
            <a:off x="5715000" y="4590287"/>
            <a:ext cx="1554480" cy="28346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797296" y="4654295"/>
            <a:ext cx="1408176" cy="192024"/>
          </a:xfrm>
          <a:prstGeom prst="rect">
            <a:avLst/>
          </a:prstGeom>
          <a:noFill/>
        </p:spPr>
        <p:txBody>
          <a:bodyPr wrap="square" anchor="t" lIns="0" rIns="0" tIns="0" bIns="0">
            <a:spAutoFit/>
          </a:bodyPr>
          <a:lstStyle/>
          <a:p>
            <a:pPr algn="l">
              <a:lnSpc>
                <a:spcPct val="100000"/>
              </a:lnSpc>
              <a:spcAft>
                <a:spcPts val="400"/>
              </a:spcAft>
            </a:pPr>
            <a:r>
              <a:rPr sz="1019" b="1" i="0">
                <a:solidFill>
                  <a:srgbClr val="1D6FB8"/>
                </a:solidFill>
                <a:latin typeface="Calibri"/>
              </a:rPr>
              <a:t>________</a:t>
            </a:r>
          </a:p>
        </p:txBody>
      </p:sp>
      <p:sp>
        <p:nvSpPr>
          <p:cNvPr id="41" name="Rectangle 40"/>
          <p:cNvSpPr/>
          <p:nvPr/>
        </p:nvSpPr>
        <p:spPr>
          <a:xfrm>
            <a:off x="7269480" y="4590287"/>
            <a:ext cx="4507992" cy="28346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51776" y="4654295"/>
            <a:ext cx="4361688" cy="19202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The same exercise, timed separately</a:t>
            </a:r>
          </a:p>
        </p:txBody>
      </p:sp>
      <p:sp>
        <p:nvSpPr>
          <p:cNvPr id="43" name="Rectangle 42"/>
          <p:cNvSpPr/>
          <p:nvPr/>
        </p:nvSpPr>
        <p:spPr>
          <a:xfrm>
            <a:off x="411480" y="4873751"/>
            <a:ext cx="457200"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93776" y="4937759"/>
            <a:ext cx="310896" cy="192024"/>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C</a:t>
            </a:r>
          </a:p>
        </p:txBody>
      </p:sp>
      <p:sp>
        <p:nvSpPr>
          <p:cNvPr id="45" name="Rectangle 44"/>
          <p:cNvSpPr/>
          <p:nvPr/>
        </p:nvSpPr>
        <p:spPr>
          <a:xfrm>
            <a:off x="868680" y="4873751"/>
            <a:ext cx="4846320"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50976" y="4937759"/>
            <a:ext cx="4700016" cy="19202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Parts costed through CAPEE in a year</a:t>
            </a:r>
          </a:p>
        </p:txBody>
      </p:sp>
      <p:sp>
        <p:nvSpPr>
          <p:cNvPr id="47" name="Rectangle 46"/>
          <p:cNvSpPr/>
          <p:nvPr/>
        </p:nvSpPr>
        <p:spPr>
          <a:xfrm>
            <a:off x="5715000" y="4873751"/>
            <a:ext cx="1554480"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797296" y="4937759"/>
            <a:ext cx="1408176" cy="192024"/>
          </a:xfrm>
          <a:prstGeom prst="rect">
            <a:avLst/>
          </a:prstGeom>
          <a:noFill/>
        </p:spPr>
        <p:txBody>
          <a:bodyPr wrap="square" anchor="t" lIns="0" rIns="0" tIns="0" bIns="0">
            <a:spAutoFit/>
          </a:bodyPr>
          <a:lstStyle/>
          <a:p>
            <a:pPr algn="l">
              <a:lnSpc>
                <a:spcPct val="100000"/>
              </a:lnSpc>
              <a:spcAft>
                <a:spcPts val="400"/>
              </a:spcAft>
            </a:pPr>
            <a:r>
              <a:rPr sz="1019" b="1" i="0">
                <a:solidFill>
                  <a:srgbClr val="1D6FB8"/>
                </a:solidFill>
                <a:latin typeface="Calibri"/>
              </a:rPr>
              <a:t>________</a:t>
            </a:r>
          </a:p>
        </p:txBody>
      </p:sp>
      <p:sp>
        <p:nvSpPr>
          <p:cNvPr id="49" name="Rectangle 48"/>
          <p:cNvSpPr/>
          <p:nvPr/>
        </p:nvSpPr>
        <p:spPr>
          <a:xfrm>
            <a:off x="7269480" y="4873751"/>
            <a:ext cx="4507992"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51776" y="4937759"/>
            <a:ext cx="4361688" cy="19202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CAPEE's own records</a:t>
            </a:r>
          </a:p>
        </p:txBody>
      </p:sp>
      <p:sp>
        <p:nvSpPr>
          <p:cNvPr id="51" name="Rectangle 50"/>
          <p:cNvSpPr/>
          <p:nvPr/>
        </p:nvSpPr>
        <p:spPr>
          <a:xfrm>
            <a:off x="411480" y="5157215"/>
            <a:ext cx="457200" cy="28346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93776" y="5221223"/>
            <a:ext cx="310896" cy="192024"/>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D</a:t>
            </a:r>
          </a:p>
        </p:txBody>
      </p:sp>
      <p:sp>
        <p:nvSpPr>
          <p:cNvPr id="53" name="Rectangle 52"/>
          <p:cNvSpPr/>
          <p:nvPr/>
        </p:nvSpPr>
        <p:spPr>
          <a:xfrm>
            <a:off x="868680" y="5157215"/>
            <a:ext cx="4846320" cy="28346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50976" y="5221223"/>
            <a:ext cx="4700016" cy="19202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Parts in a typical basket that never get costed individually</a:t>
            </a:r>
          </a:p>
        </p:txBody>
      </p:sp>
      <p:sp>
        <p:nvSpPr>
          <p:cNvPr id="55" name="Rectangle 54"/>
          <p:cNvSpPr/>
          <p:nvPr/>
        </p:nvSpPr>
        <p:spPr>
          <a:xfrm>
            <a:off x="5715000" y="5157215"/>
            <a:ext cx="1554480" cy="28346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797296" y="5221223"/>
            <a:ext cx="1408176" cy="192024"/>
          </a:xfrm>
          <a:prstGeom prst="rect">
            <a:avLst/>
          </a:prstGeom>
          <a:noFill/>
        </p:spPr>
        <p:txBody>
          <a:bodyPr wrap="square" anchor="t" lIns="0" rIns="0" tIns="0" bIns="0">
            <a:spAutoFit/>
          </a:bodyPr>
          <a:lstStyle/>
          <a:p>
            <a:pPr algn="l">
              <a:lnSpc>
                <a:spcPct val="100000"/>
              </a:lnSpc>
              <a:spcAft>
                <a:spcPts val="400"/>
              </a:spcAft>
            </a:pPr>
            <a:r>
              <a:rPr sz="1019" b="1" i="0">
                <a:solidFill>
                  <a:srgbClr val="1D6FB8"/>
                </a:solidFill>
                <a:latin typeface="Calibri"/>
              </a:rPr>
              <a:t>________</a:t>
            </a:r>
          </a:p>
        </p:txBody>
      </p:sp>
      <p:sp>
        <p:nvSpPr>
          <p:cNvPr id="57" name="Rectangle 56"/>
          <p:cNvSpPr/>
          <p:nvPr/>
        </p:nvSpPr>
        <p:spPr>
          <a:xfrm>
            <a:off x="7269480" y="5157215"/>
            <a:ext cx="4507992" cy="28346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351776" y="5221223"/>
            <a:ext cx="4361688" cy="19202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Programme data. This is what Option 2 goes after</a:t>
            </a:r>
          </a:p>
        </p:txBody>
      </p:sp>
      <p:sp>
        <p:nvSpPr>
          <p:cNvPr id="59" name="Rectangle 58"/>
          <p:cNvSpPr/>
          <p:nvPr/>
        </p:nvSpPr>
        <p:spPr>
          <a:xfrm>
            <a:off x="411480" y="5440679"/>
            <a:ext cx="457200"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93776" y="5504687"/>
            <a:ext cx="310896" cy="192024"/>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E</a:t>
            </a:r>
          </a:p>
        </p:txBody>
      </p:sp>
      <p:sp>
        <p:nvSpPr>
          <p:cNvPr id="61" name="Rectangle 60"/>
          <p:cNvSpPr/>
          <p:nvPr/>
        </p:nvSpPr>
        <p:spPr>
          <a:xfrm>
            <a:off x="868680" y="5440679"/>
            <a:ext cx="4846320"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50976" y="5504687"/>
            <a:ext cx="4700016" cy="19202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Share of the input boxes the engine fills on its own</a:t>
            </a:r>
          </a:p>
        </p:txBody>
      </p:sp>
      <p:sp>
        <p:nvSpPr>
          <p:cNvPr id="63" name="Rectangle 62"/>
          <p:cNvSpPr/>
          <p:nvPr/>
        </p:nvSpPr>
        <p:spPr>
          <a:xfrm>
            <a:off x="5715000" y="5440679"/>
            <a:ext cx="1554480"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797296" y="5504687"/>
            <a:ext cx="1408176" cy="192024"/>
          </a:xfrm>
          <a:prstGeom prst="rect">
            <a:avLst/>
          </a:prstGeom>
          <a:noFill/>
        </p:spPr>
        <p:txBody>
          <a:bodyPr wrap="square" anchor="t" lIns="0" rIns="0" tIns="0" bIns="0">
            <a:spAutoFit/>
          </a:bodyPr>
          <a:lstStyle/>
          <a:p>
            <a:pPr algn="l">
              <a:lnSpc>
                <a:spcPct val="100000"/>
              </a:lnSpc>
              <a:spcAft>
                <a:spcPts val="400"/>
              </a:spcAft>
            </a:pPr>
            <a:r>
              <a:rPr sz="1019" b="1" i="0">
                <a:solidFill>
                  <a:srgbClr val="2E8B57"/>
                </a:solidFill>
                <a:latin typeface="Calibri"/>
              </a:rPr>
              <a:t>________</a:t>
            </a:r>
          </a:p>
        </p:txBody>
      </p:sp>
      <p:sp>
        <p:nvSpPr>
          <p:cNvPr id="65" name="Rectangle 64"/>
          <p:cNvSpPr/>
          <p:nvPr/>
        </p:nvSpPr>
        <p:spPr>
          <a:xfrm>
            <a:off x="7269480" y="5440679"/>
            <a:ext cx="4507992"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351776" y="5504687"/>
            <a:ext cx="4361688" cy="19202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We measure this in the pilot, per part type</a:t>
            </a:r>
          </a:p>
        </p:txBody>
      </p:sp>
      <p:sp>
        <p:nvSpPr>
          <p:cNvPr id="67" name="Rounded Rectangle 66"/>
          <p:cNvSpPr/>
          <p:nvPr/>
        </p:nvSpPr>
        <p:spPr>
          <a:xfrm>
            <a:off x="411480" y="5806440"/>
            <a:ext cx="3712463" cy="74980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11480" y="5806440"/>
            <a:ext cx="3712463" cy="54864"/>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76072" y="5952744"/>
            <a:ext cx="3383279" cy="237744"/>
          </a:xfrm>
          <a:prstGeom prst="rect">
            <a:avLst/>
          </a:prstGeom>
          <a:noFill/>
        </p:spPr>
        <p:txBody>
          <a:bodyPr wrap="square" anchor="t" lIns="0" rIns="0" tIns="0" bIns="0">
            <a:spAutoFit/>
          </a:bodyPr>
          <a:lstStyle/>
          <a:p>
            <a:pPr algn="l">
              <a:lnSpc>
                <a:spcPct val="100000"/>
              </a:lnSpc>
              <a:spcAft>
                <a:spcPts val="400"/>
              </a:spcAft>
            </a:pPr>
            <a:r>
              <a:rPr sz="1100" b="1" i="0">
                <a:solidFill>
                  <a:srgbClr val="16325C"/>
                </a:solidFill>
                <a:latin typeface="Calibri"/>
              </a:rPr>
              <a:t>Hours spent typing today</a:t>
            </a:r>
          </a:p>
        </p:txBody>
      </p:sp>
      <p:sp>
        <p:nvSpPr>
          <p:cNvPr id="70" name="TextBox 69"/>
          <p:cNvSpPr txBox="1"/>
          <p:nvPr/>
        </p:nvSpPr>
        <p:spPr>
          <a:xfrm>
            <a:off x="576072" y="6217920"/>
            <a:ext cx="3383279" cy="274320"/>
          </a:xfrm>
          <a:prstGeom prst="rect">
            <a:avLst/>
          </a:prstGeom>
          <a:noFill/>
        </p:spPr>
        <p:txBody>
          <a:bodyPr wrap="square" anchor="t" lIns="0" rIns="0" tIns="0" bIns="0">
            <a:spAutoFit/>
          </a:bodyPr>
          <a:lstStyle/>
          <a:p>
            <a:pPr algn="l">
              <a:lnSpc>
                <a:spcPct val="100000"/>
              </a:lnSpc>
              <a:spcAft>
                <a:spcPts val="400"/>
              </a:spcAft>
            </a:pPr>
            <a:r>
              <a:rPr sz="1400" b="1" i="0">
                <a:solidFill>
                  <a:srgbClr val="B03A2E"/>
                </a:solidFill>
                <a:latin typeface="Calibri"/>
              </a:rPr>
              <a:t>B × C ÷ 60</a:t>
            </a:r>
          </a:p>
        </p:txBody>
      </p:sp>
      <p:sp>
        <p:nvSpPr>
          <p:cNvPr id="71" name="Rounded Rectangle 70"/>
          <p:cNvSpPr/>
          <p:nvPr/>
        </p:nvSpPr>
        <p:spPr>
          <a:xfrm>
            <a:off x="4238243" y="5806440"/>
            <a:ext cx="3712463" cy="74980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238243" y="5806440"/>
            <a:ext cx="3712463"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402835" y="5952744"/>
            <a:ext cx="3383279" cy="237744"/>
          </a:xfrm>
          <a:prstGeom prst="rect">
            <a:avLst/>
          </a:prstGeom>
          <a:noFill/>
        </p:spPr>
        <p:txBody>
          <a:bodyPr wrap="square" anchor="t" lIns="0" rIns="0" tIns="0" bIns="0">
            <a:spAutoFit/>
          </a:bodyPr>
          <a:lstStyle/>
          <a:p>
            <a:pPr algn="l">
              <a:lnSpc>
                <a:spcPct val="100000"/>
              </a:lnSpc>
              <a:spcAft>
                <a:spcPts val="400"/>
              </a:spcAft>
            </a:pPr>
            <a:r>
              <a:rPr sz="1100" b="1" i="0">
                <a:solidFill>
                  <a:srgbClr val="16325C"/>
                </a:solidFill>
                <a:latin typeface="Calibri"/>
              </a:rPr>
              <a:t>Hours freed a year</a:t>
            </a:r>
          </a:p>
        </p:txBody>
      </p:sp>
      <p:sp>
        <p:nvSpPr>
          <p:cNvPr id="74" name="TextBox 73"/>
          <p:cNvSpPr txBox="1"/>
          <p:nvPr/>
        </p:nvSpPr>
        <p:spPr>
          <a:xfrm>
            <a:off x="4402835" y="6217920"/>
            <a:ext cx="3383279" cy="274320"/>
          </a:xfrm>
          <a:prstGeom prst="rect">
            <a:avLst/>
          </a:prstGeom>
          <a:noFill/>
        </p:spPr>
        <p:txBody>
          <a:bodyPr wrap="square" anchor="t" lIns="0" rIns="0" tIns="0" bIns="0">
            <a:spAutoFit/>
          </a:bodyPr>
          <a:lstStyle/>
          <a:p>
            <a:pPr algn="l">
              <a:lnSpc>
                <a:spcPct val="100000"/>
              </a:lnSpc>
              <a:spcAft>
                <a:spcPts val="400"/>
              </a:spcAft>
            </a:pPr>
            <a:r>
              <a:rPr sz="1400" b="1" i="0">
                <a:solidFill>
                  <a:srgbClr val="2E8B57"/>
                </a:solidFill>
                <a:latin typeface="Calibri"/>
              </a:rPr>
              <a:t>B × E × C ÷ 60</a:t>
            </a:r>
          </a:p>
        </p:txBody>
      </p:sp>
      <p:sp>
        <p:nvSpPr>
          <p:cNvPr id="75" name="Rounded Rectangle 74"/>
          <p:cNvSpPr/>
          <p:nvPr/>
        </p:nvSpPr>
        <p:spPr>
          <a:xfrm>
            <a:off x="8065006" y="5806440"/>
            <a:ext cx="3712463" cy="74980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8065006" y="5806440"/>
            <a:ext cx="3712463"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229598" y="5952744"/>
            <a:ext cx="3383279" cy="237744"/>
          </a:xfrm>
          <a:prstGeom prst="rect">
            <a:avLst/>
          </a:prstGeom>
          <a:noFill/>
        </p:spPr>
        <p:txBody>
          <a:bodyPr wrap="square" anchor="t" lIns="0" rIns="0" tIns="0" bIns="0">
            <a:spAutoFit/>
          </a:bodyPr>
          <a:lstStyle/>
          <a:p>
            <a:pPr algn="l">
              <a:lnSpc>
                <a:spcPct val="100000"/>
              </a:lnSpc>
              <a:spcAft>
                <a:spcPts val="400"/>
              </a:spcAft>
            </a:pPr>
            <a:r>
              <a:rPr sz="1100" b="1" i="0">
                <a:solidFill>
                  <a:srgbClr val="16325C"/>
                </a:solidFill>
                <a:latin typeface="Calibri"/>
              </a:rPr>
              <a:t>Extra parts that time would cost</a:t>
            </a:r>
          </a:p>
        </p:txBody>
      </p:sp>
      <p:sp>
        <p:nvSpPr>
          <p:cNvPr id="78" name="TextBox 77"/>
          <p:cNvSpPr txBox="1"/>
          <p:nvPr/>
        </p:nvSpPr>
        <p:spPr>
          <a:xfrm>
            <a:off x="8229598" y="6217920"/>
            <a:ext cx="3383279" cy="274320"/>
          </a:xfrm>
          <a:prstGeom prst="rect">
            <a:avLst/>
          </a:prstGeom>
          <a:noFill/>
        </p:spPr>
        <p:txBody>
          <a:bodyPr wrap="square" anchor="t" lIns="0" rIns="0" tIns="0" bIns="0">
            <a:spAutoFit/>
          </a:bodyPr>
          <a:lstStyle/>
          <a:p>
            <a:pPr algn="l">
              <a:lnSpc>
                <a:spcPct val="100000"/>
              </a:lnSpc>
              <a:spcAft>
                <a:spcPts val="400"/>
              </a:spcAft>
            </a:pPr>
            <a:r>
              <a:rPr sz="1400" b="1" i="0">
                <a:solidFill>
                  <a:srgbClr val="1D6FB8"/>
                </a:solidFill>
                <a:latin typeface="Calibri"/>
              </a:rPr>
              <a:t>B × E × C ÷ 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THE PILOT</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fill CAPEE from the 3D model</a:t>
            </a:r>
          </a:p>
        </p:txBody>
      </p:sp>
      <p:sp>
        <p:nvSpPr>
          <p:cNvPr id="9" name="TextBox 8"/>
          <p:cNvSpPr txBox="1"/>
          <p:nvPr/>
        </p:nvSpPr>
        <p:spPr>
          <a:xfrm>
            <a:off x="411480" y="1536192"/>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CAPEE keeps doing the costing. The engineer stops typing the input and starts checking it. No AI anywhere in this option.</a:t>
            </a:r>
          </a:p>
        </p:txBody>
      </p:sp>
      <p:sp>
        <p:nvSpPr>
          <p:cNvPr id="10" name="Rounded Rectangle 9"/>
          <p:cNvSpPr/>
          <p:nvPr/>
        </p:nvSpPr>
        <p:spPr>
          <a:xfrm>
            <a:off x="411480" y="1828800"/>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828800"/>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95120" y="1993392"/>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pload.png"/>
          <p:cNvPicPr>
            <a:picLocks noChangeAspect="1"/>
          </p:cNvPicPr>
          <p:nvPr/>
        </p:nvPicPr>
        <p:blipFill>
          <a:blip r:embed="rId2"/>
          <a:stretch>
            <a:fillRect/>
          </a:stretch>
        </p:blipFill>
        <p:spPr>
          <a:xfrm>
            <a:off x="1342521" y="2140793"/>
            <a:ext cx="272126" cy="272126"/>
          </a:xfrm>
          <a:prstGeom prst="rect">
            <a:avLst/>
          </a:prstGeom>
        </p:spPr>
      </p:pic>
      <p:sp>
        <p:nvSpPr>
          <p:cNvPr id="14" name="TextBox 13"/>
          <p:cNvSpPr txBox="1"/>
          <p:nvPr/>
        </p:nvSpPr>
        <p:spPr>
          <a:xfrm>
            <a:off x="484632" y="2670048"/>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Attach the 3D model</a:t>
            </a:r>
          </a:p>
        </p:txBody>
      </p:sp>
      <p:sp>
        <p:nvSpPr>
          <p:cNvPr id="15" name="TextBox 14"/>
          <p:cNvSpPr txBox="1"/>
          <p:nvPr/>
        </p:nvSpPr>
        <p:spPr>
          <a:xfrm>
            <a:off x="484632" y="2999232"/>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STEP, IGES or STL, from the CAPEE screen</a:t>
            </a:r>
          </a:p>
        </p:txBody>
      </p:sp>
      <p:sp>
        <p:nvSpPr>
          <p:cNvPr id="16" name="Right Arrow 15"/>
          <p:cNvSpPr/>
          <p:nvPr/>
        </p:nvSpPr>
        <p:spPr>
          <a:xfrm>
            <a:off x="2563977" y="2596896"/>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719425" y="1828800"/>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19425" y="1828800"/>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503065" y="1993392"/>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uler.png"/>
          <p:cNvPicPr>
            <a:picLocks noChangeAspect="1"/>
          </p:cNvPicPr>
          <p:nvPr/>
        </p:nvPicPr>
        <p:blipFill>
          <a:blip r:embed="rId3"/>
          <a:stretch>
            <a:fillRect/>
          </a:stretch>
        </p:blipFill>
        <p:spPr>
          <a:xfrm>
            <a:off x="3650466" y="2140793"/>
            <a:ext cx="272126" cy="272126"/>
          </a:xfrm>
          <a:prstGeom prst="rect">
            <a:avLst/>
          </a:prstGeom>
        </p:spPr>
      </p:pic>
      <p:sp>
        <p:nvSpPr>
          <p:cNvPr id="21" name="TextBox 20"/>
          <p:cNvSpPr txBox="1"/>
          <p:nvPr/>
        </p:nvSpPr>
        <p:spPr>
          <a:xfrm>
            <a:off x="2792577" y="2670048"/>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The engine measures it</a:t>
            </a:r>
          </a:p>
        </p:txBody>
      </p:sp>
      <p:sp>
        <p:nvSpPr>
          <p:cNvPr id="22" name="TextBox 21"/>
          <p:cNvSpPr txBox="1"/>
          <p:nvPr/>
        </p:nvSpPr>
        <p:spPr>
          <a:xfrm>
            <a:off x="2792577" y="2999232"/>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 a JLR server, with no internet connection</a:t>
            </a:r>
          </a:p>
        </p:txBody>
      </p:sp>
      <p:sp>
        <p:nvSpPr>
          <p:cNvPr id="23" name="Right Arrow 22"/>
          <p:cNvSpPr/>
          <p:nvPr/>
        </p:nvSpPr>
        <p:spPr>
          <a:xfrm>
            <a:off x="4871922" y="2596896"/>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7370" y="1828800"/>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7370" y="1828800"/>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811010" y="1993392"/>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og.png"/>
          <p:cNvPicPr>
            <a:picLocks noChangeAspect="1"/>
          </p:cNvPicPr>
          <p:nvPr/>
        </p:nvPicPr>
        <p:blipFill>
          <a:blip r:embed="rId4"/>
          <a:stretch>
            <a:fillRect/>
          </a:stretch>
        </p:blipFill>
        <p:spPr>
          <a:xfrm>
            <a:off x="5958411" y="2140793"/>
            <a:ext cx="272126" cy="272126"/>
          </a:xfrm>
          <a:prstGeom prst="rect">
            <a:avLst/>
          </a:prstGeom>
        </p:spPr>
      </p:pic>
      <p:sp>
        <p:nvSpPr>
          <p:cNvPr id="28" name="TextBox 27"/>
          <p:cNvSpPr txBox="1"/>
          <p:nvPr/>
        </p:nvSpPr>
        <p:spPr>
          <a:xfrm>
            <a:off x="5100522" y="2670048"/>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Rules fill the values</a:t>
            </a:r>
          </a:p>
        </p:txBody>
      </p:sp>
      <p:sp>
        <p:nvSpPr>
          <p:cNvPr id="29" name="TextBox 28"/>
          <p:cNvSpPr txBox="1"/>
          <p:nvPr/>
        </p:nvSpPr>
        <p:spPr>
          <a:xfrm>
            <a:off x="5100522" y="2999232"/>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Fixed rules. Same part, same numbers, always</a:t>
            </a:r>
          </a:p>
        </p:txBody>
      </p:sp>
      <p:sp>
        <p:nvSpPr>
          <p:cNvPr id="30" name="Right Arrow 29"/>
          <p:cNvSpPr/>
          <p:nvPr/>
        </p:nvSpPr>
        <p:spPr>
          <a:xfrm>
            <a:off x="7179867" y="2596896"/>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335315" y="1828800"/>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35315" y="1828800"/>
            <a:ext cx="2134209" cy="54864"/>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18955" y="1993392"/>
            <a:ext cx="566928" cy="566928"/>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person.png"/>
          <p:cNvPicPr>
            <a:picLocks noChangeAspect="1"/>
          </p:cNvPicPr>
          <p:nvPr/>
        </p:nvPicPr>
        <p:blipFill>
          <a:blip r:embed="rId5"/>
          <a:stretch>
            <a:fillRect/>
          </a:stretch>
        </p:blipFill>
        <p:spPr>
          <a:xfrm>
            <a:off x="8266356" y="2140793"/>
            <a:ext cx="272126" cy="272126"/>
          </a:xfrm>
          <a:prstGeom prst="rect">
            <a:avLst/>
          </a:prstGeom>
        </p:spPr>
      </p:pic>
      <p:sp>
        <p:nvSpPr>
          <p:cNvPr id="35" name="TextBox 34"/>
          <p:cNvSpPr txBox="1"/>
          <p:nvPr/>
        </p:nvSpPr>
        <p:spPr>
          <a:xfrm>
            <a:off x="7408467" y="2670048"/>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The engineer confirms</a:t>
            </a:r>
          </a:p>
        </p:txBody>
      </p:sp>
      <p:sp>
        <p:nvSpPr>
          <p:cNvPr id="36" name="TextBox 35"/>
          <p:cNvSpPr txBox="1"/>
          <p:nvPr/>
        </p:nvSpPr>
        <p:spPr>
          <a:xfrm>
            <a:off x="7408467" y="2999232"/>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Only what a solid model cannot show</a:t>
            </a:r>
          </a:p>
        </p:txBody>
      </p:sp>
      <p:sp>
        <p:nvSpPr>
          <p:cNvPr id="37" name="Right Arrow 36"/>
          <p:cNvSpPr/>
          <p:nvPr/>
        </p:nvSpPr>
        <p:spPr>
          <a:xfrm>
            <a:off x="9487812" y="2596896"/>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9643260" y="1828800"/>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643260" y="1828800"/>
            <a:ext cx="2134209"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426900" y="1993392"/>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calc.png"/>
          <p:cNvPicPr>
            <a:picLocks noChangeAspect="1"/>
          </p:cNvPicPr>
          <p:nvPr/>
        </p:nvPicPr>
        <p:blipFill>
          <a:blip r:embed="rId6"/>
          <a:stretch>
            <a:fillRect/>
          </a:stretch>
        </p:blipFill>
        <p:spPr>
          <a:xfrm>
            <a:off x="10574301" y="2140793"/>
            <a:ext cx="272126" cy="272126"/>
          </a:xfrm>
          <a:prstGeom prst="rect">
            <a:avLst/>
          </a:prstGeom>
        </p:spPr>
      </p:pic>
      <p:sp>
        <p:nvSpPr>
          <p:cNvPr id="42" name="TextBox 41"/>
          <p:cNvSpPr txBox="1"/>
          <p:nvPr/>
        </p:nvSpPr>
        <p:spPr>
          <a:xfrm>
            <a:off x="9716412" y="2670048"/>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CAPEE costs the part</a:t>
            </a:r>
          </a:p>
        </p:txBody>
      </p:sp>
      <p:sp>
        <p:nvSpPr>
          <p:cNvPr id="43" name="TextBox 42"/>
          <p:cNvSpPr txBox="1"/>
          <p:nvPr/>
        </p:nvSpPr>
        <p:spPr>
          <a:xfrm>
            <a:off x="9716412" y="2999232"/>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Exactly as it does now. It just gets the numbers</a:t>
            </a:r>
          </a:p>
        </p:txBody>
      </p:sp>
      <p:sp>
        <p:nvSpPr>
          <p:cNvPr id="44" name="Rounded Rectangle 43"/>
          <p:cNvSpPr/>
          <p:nvPr/>
        </p:nvSpPr>
        <p:spPr>
          <a:xfrm>
            <a:off x="411480" y="3694176"/>
            <a:ext cx="5577840" cy="1874519"/>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11480" y="3694176"/>
            <a:ext cx="68580" cy="1874519"/>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2648" y="3822192"/>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THE 3D MODEL GIVES, WITH NOTHING TYPED</a:t>
            </a:r>
          </a:p>
        </p:txBody>
      </p:sp>
      <p:sp>
        <p:nvSpPr>
          <p:cNvPr id="47" name="TextBox 46"/>
          <p:cNvSpPr txBox="1"/>
          <p:nvPr/>
        </p:nvSpPr>
        <p:spPr>
          <a:xfrm>
            <a:off x="612648" y="4133088"/>
            <a:ext cx="5212080" cy="1325879"/>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Volume, weight, bounding box, surface area.</a:t>
            </a:r>
          </a:p>
          <a:p>
            <a:pPr algn="l">
              <a:lnSpc>
                <a:spcPct val="112000"/>
              </a:lnSpc>
              <a:spcAft>
                <a:spcPts val="300"/>
              </a:spcAft>
            </a:pPr>
            <a:r>
              <a:rPr sz="1050" b="0" i="0">
                <a:solidFill>
                  <a:srgbClr val="3A4356"/>
                </a:solidFill>
                <a:latin typeface="Calibri"/>
              </a:rPr>
              <a:t>Wall thickness, holes, pockets, bosses, bend count,</a:t>
            </a:r>
          </a:p>
          <a:p>
            <a:pPr algn="l">
              <a:lnSpc>
                <a:spcPct val="112000"/>
              </a:lnSpc>
              <a:spcAft>
                <a:spcPts val="300"/>
              </a:spcAft>
            </a:pPr>
            <a:r>
              <a:rPr sz="1050" b="0" i="0">
                <a:solidFill>
                  <a:srgbClr val="3A4356"/>
                </a:solidFill>
                <a:latin typeface="Calibri"/>
              </a:rPr>
              <a:t>gear teeth, draft, machined face count.</a:t>
            </a:r>
          </a:p>
          <a:p>
            <a:pPr algn="l">
              <a:lnSpc>
                <a:spcPct val="112000"/>
              </a:lnSpc>
              <a:spcAft>
                <a:spcPts val="300"/>
              </a:spcAft>
            </a:pPr>
          </a:p>
          <a:p>
            <a:pPr algn="l">
              <a:lnSpc>
                <a:spcPct val="112000"/>
              </a:lnSpc>
              <a:spcAft>
                <a:spcPts val="300"/>
              </a:spcAft>
            </a:pPr>
            <a:r>
              <a:rPr sz="1050" b="1" i="0">
                <a:solidFill>
                  <a:srgbClr val="16325C"/>
                </a:solidFill>
                <a:latin typeface="Calibri"/>
              </a:rPr>
              <a:t>165 costing rules turn those measurements into</a:t>
            </a:r>
          </a:p>
          <a:p>
            <a:pPr algn="l">
              <a:lnSpc>
                <a:spcPct val="112000"/>
              </a:lnSpc>
              <a:spcAft>
                <a:spcPts val="300"/>
              </a:spcAft>
            </a:pPr>
            <a:r>
              <a:rPr sz="1050" b="1" i="0">
                <a:solidFill>
                  <a:srgbClr val="16325C"/>
                </a:solidFill>
                <a:latin typeface="Calibri"/>
              </a:rPr>
              <a:t>form values. 149 write into a named box.</a:t>
            </a:r>
          </a:p>
        </p:txBody>
      </p:sp>
      <p:sp>
        <p:nvSpPr>
          <p:cNvPr id="48" name="Rounded Rectangle 47"/>
          <p:cNvSpPr/>
          <p:nvPr/>
        </p:nvSpPr>
        <p:spPr>
          <a:xfrm>
            <a:off x="6199632" y="3694176"/>
            <a:ext cx="5577840" cy="1874519"/>
          </a:xfrm>
          <a:prstGeom prst="roundRect">
            <a:avLst>
              <a:gd name="adj" fmla="val 12000"/>
            </a:avLst>
          </a:prstGeom>
          <a:solidFill>
            <a:srgbClr val="FCF3E3"/>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99632" y="3694176"/>
            <a:ext cx="68580" cy="1874519"/>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00800" y="3822192"/>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THE ENGINEER STILL SUPPLIES</a:t>
            </a:r>
          </a:p>
        </p:txBody>
      </p:sp>
      <p:sp>
        <p:nvSpPr>
          <p:cNvPr id="51" name="TextBox 50"/>
          <p:cNvSpPr txBox="1"/>
          <p:nvPr/>
        </p:nvSpPr>
        <p:spPr>
          <a:xfrm>
            <a:off x="6400800" y="4133088"/>
            <a:ext cx="5212080" cy="1325879"/>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Material family. A solid model cannot tell steel from</a:t>
            </a:r>
          </a:p>
          <a:p>
            <a:pPr algn="l">
              <a:lnSpc>
                <a:spcPct val="112000"/>
              </a:lnSpc>
              <a:spcAft>
                <a:spcPts val="300"/>
              </a:spcAft>
            </a:pPr>
            <a:r>
              <a:rPr sz="1050" b="0" i="0">
                <a:solidFill>
                  <a:srgbClr val="3A4356"/>
                </a:solidFill>
                <a:latin typeface="Calibri"/>
              </a:rPr>
              <a:t>aluminium, and the same shape differs threefold in</a:t>
            </a:r>
          </a:p>
          <a:p>
            <a:pPr algn="l">
              <a:lnSpc>
                <a:spcPct val="112000"/>
              </a:lnSpc>
              <a:spcAft>
                <a:spcPts val="300"/>
              </a:spcAft>
            </a:pPr>
            <a:r>
              <a:rPr sz="1050" b="0" i="0">
                <a:solidFill>
                  <a:srgbClr val="3A4356"/>
                </a:solidFill>
                <a:latin typeface="Calibri"/>
              </a:rPr>
              <a:t>weight. It can come from the part master instead.</a:t>
            </a:r>
          </a:p>
          <a:p>
            <a:pPr algn="l">
              <a:lnSpc>
                <a:spcPct val="112000"/>
              </a:lnSpc>
              <a:spcAft>
                <a:spcPts val="300"/>
              </a:spcAft>
            </a:pPr>
          </a:p>
          <a:p>
            <a:pPr algn="l">
              <a:lnSpc>
                <a:spcPct val="112000"/>
              </a:lnSpc>
              <a:spcAft>
                <a:spcPts val="300"/>
              </a:spcAft>
            </a:pPr>
            <a:r>
              <a:rPr sz="1050" b="1" i="0">
                <a:solidFill>
                  <a:srgbClr val="16325C"/>
                </a:solidFill>
                <a:latin typeface="Calibri"/>
              </a:rPr>
              <a:t>Tolerance class, finish, heat treatment, coating.</a:t>
            </a:r>
          </a:p>
          <a:p>
            <a:pPr algn="l">
              <a:lnSpc>
                <a:spcPct val="112000"/>
              </a:lnSpc>
              <a:spcAft>
                <a:spcPts val="300"/>
              </a:spcAft>
            </a:pPr>
            <a:r>
              <a:rPr sz="1050" b="1" i="0">
                <a:solidFill>
                  <a:srgbClr val="16325C"/>
                </a:solidFill>
                <a:latin typeface="Calibri"/>
              </a:rPr>
              <a:t>The tool asks. It never guesses and never pre-ticks.</a:t>
            </a:r>
          </a:p>
        </p:txBody>
      </p:sp>
      <p:sp>
        <p:nvSpPr>
          <p:cNvPr id="52" name="Rounded Rectangle 51"/>
          <p:cNvSpPr/>
          <p:nvPr/>
        </p:nvSpPr>
        <p:spPr>
          <a:xfrm>
            <a:off x="411480" y="5660136"/>
            <a:ext cx="11365992" cy="969264"/>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11480" y="5660136"/>
            <a:ext cx="68580" cy="9692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0936" y="5779008"/>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What it is built from, and what it does not use</a:t>
            </a:r>
          </a:p>
        </p:txBody>
      </p:sp>
      <p:sp>
        <p:nvSpPr>
          <p:cNvPr id="55" name="TextBox 54"/>
          <p:cNvSpPr txBox="1"/>
          <p:nvPr/>
        </p:nvSpPr>
        <p:spPr>
          <a:xfrm>
            <a:off x="630936" y="6062472"/>
            <a:ext cx="10954512" cy="466344"/>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measuring engine is Python with the OpenCASCADE geometry kernel, the open engineering kernel behind FreeCAD and many commercial CAD tools. The rules that turn measurements into form values are ordinary code, not a model. There is no AI in this option and no outbound connection: the 3D file is read on a JLR server and never leaves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THE CAPABILITY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cost the whole basket in one run</a:t>
            </a:r>
          </a:p>
        </p:txBody>
      </p:sp>
      <p:sp>
        <p:nvSpPr>
          <p:cNvPr id="9" name="TextBox 8"/>
          <p:cNvSpPr txBox="1"/>
          <p:nvPr/>
        </p:nvSpPr>
        <p:spPr>
          <a:xfrm>
            <a:off x="411480" y="1536192"/>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This is not a bigger version of Option 1. It is something we cannot do at all today.</a:t>
            </a:r>
          </a:p>
        </p:txBody>
      </p:sp>
      <p:sp>
        <p:nvSpPr>
          <p:cNvPr id="10" name="Rounded Rectangle 9"/>
          <p:cNvSpPr/>
          <p:nvPr/>
        </p:nvSpPr>
        <p:spPr>
          <a:xfrm>
            <a:off x="411480" y="1847088"/>
            <a:ext cx="5577840" cy="1645920"/>
          </a:xfrm>
          <a:prstGeom prst="roundRect">
            <a:avLst>
              <a:gd name="adj" fmla="val 12000"/>
            </a:avLst>
          </a:prstGeom>
          <a:solidFill>
            <a:srgbClr val="FBECEA"/>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847088"/>
            <a:ext cx="68580" cy="164592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1975104"/>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WE DO TODAY</a:t>
            </a:r>
          </a:p>
        </p:txBody>
      </p:sp>
      <p:sp>
        <p:nvSpPr>
          <p:cNvPr id="13" name="TextBox 12"/>
          <p:cNvSpPr txBox="1"/>
          <p:nvPr/>
        </p:nvSpPr>
        <p:spPr>
          <a:xfrm>
            <a:off x="612648" y="2286000"/>
            <a:ext cx="5212080" cy="10972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We cost the parts we have engineer-hours for.</a:t>
            </a:r>
          </a:p>
          <a:p>
            <a:pPr algn="l">
              <a:lnSpc>
                <a:spcPct val="112000"/>
              </a:lnSpc>
              <a:spcAft>
                <a:spcPts val="300"/>
              </a:spcAft>
            </a:pPr>
          </a:p>
          <a:p>
            <a:pPr algn="l">
              <a:lnSpc>
                <a:spcPct val="112000"/>
              </a:lnSpc>
              <a:spcAft>
                <a:spcPts val="300"/>
              </a:spcAft>
            </a:pPr>
            <a:r>
              <a:rPr sz="1050" b="0" i="0">
                <a:solidFill>
                  <a:srgbClr val="3A4356"/>
                </a:solidFill>
                <a:latin typeface="Calibri"/>
              </a:rPr>
              <a:t>The rest of a basket gets sampled, estimated by</a:t>
            </a:r>
          </a:p>
          <a:p>
            <a:pPr algn="l">
              <a:lnSpc>
                <a:spcPct val="112000"/>
              </a:lnSpc>
              <a:spcAft>
                <a:spcPts val="300"/>
              </a:spcAft>
            </a:pPr>
            <a:r>
              <a:rPr sz="1050" b="0" i="0">
                <a:solidFill>
                  <a:srgbClr val="3A4356"/>
                </a:solidFill>
                <a:latin typeface="Calibri"/>
              </a:rPr>
              <a:t>analogy, or taken from the last supplier quote.</a:t>
            </a:r>
          </a:p>
        </p:txBody>
      </p:sp>
      <p:sp>
        <p:nvSpPr>
          <p:cNvPr id="14" name="Rounded Rectangle 13"/>
          <p:cNvSpPr/>
          <p:nvPr/>
        </p:nvSpPr>
        <p:spPr>
          <a:xfrm>
            <a:off x="6199632" y="1847088"/>
            <a:ext cx="5577840" cy="1645920"/>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99632" y="1847088"/>
            <a:ext cx="68580" cy="16459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1975104"/>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OPTION 2 DOES</a:t>
            </a:r>
          </a:p>
        </p:txBody>
      </p:sp>
      <p:sp>
        <p:nvSpPr>
          <p:cNvPr id="17" name="TextBox 16"/>
          <p:cNvSpPr txBox="1"/>
          <p:nvPr/>
        </p:nvSpPr>
        <p:spPr>
          <a:xfrm>
            <a:off x="6400800" y="2286000"/>
            <a:ext cx="5212080" cy="10972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 list of parts and their 3D models goes in. Every</a:t>
            </a:r>
          </a:p>
          <a:p>
            <a:pPr algn="l">
              <a:lnSpc>
                <a:spcPct val="112000"/>
              </a:lnSpc>
              <a:spcAft>
                <a:spcPts val="300"/>
              </a:spcAft>
            </a:pPr>
            <a:r>
              <a:rPr sz="1050" b="0" i="0">
                <a:solidFill>
                  <a:srgbClr val="3A4356"/>
                </a:solidFill>
                <a:latin typeface="Calibri"/>
              </a:rPr>
              <a:t>one is measured, costed and reported in one run.</a:t>
            </a:r>
          </a:p>
          <a:p>
            <a:pPr algn="l">
              <a:lnSpc>
                <a:spcPct val="112000"/>
              </a:lnSpc>
              <a:spcAft>
                <a:spcPts val="300"/>
              </a:spcAft>
            </a:pPr>
          </a:p>
          <a:p>
            <a:pPr algn="l">
              <a:lnSpc>
                <a:spcPct val="112000"/>
              </a:lnSpc>
              <a:spcAft>
                <a:spcPts val="300"/>
              </a:spcAft>
            </a:pPr>
            <a:r>
              <a:rPr sz="1050" b="0" i="0">
                <a:solidFill>
                  <a:srgbClr val="3A4356"/>
                </a:solidFill>
                <a:latin typeface="Calibri"/>
              </a:rPr>
              <a:t>An engineer answers only what the geometry cannot</a:t>
            </a:r>
          </a:p>
          <a:p>
            <a:pPr algn="l">
              <a:lnSpc>
                <a:spcPct val="112000"/>
              </a:lnSpc>
              <a:spcAft>
                <a:spcPts val="300"/>
              </a:spcAft>
            </a:pPr>
            <a:r>
              <a:rPr sz="1050" b="0" i="0">
                <a:solidFill>
                  <a:srgbClr val="3A4356"/>
                </a:solidFill>
                <a:latin typeface="Calibri"/>
              </a:rPr>
              <a:t>decide — once, applied to every part it affects.</a:t>
            </a:r>
          </a:p>
        </p:txBody>
      </p:sp>
      <p:sp>
        <p:nvSpPr>
          <p:cNvPr id="18" name="TextBox 17"/>
          <p:cNvSpPr txBox="1"/>
          <p:nvPr/>
        </p:nvSpPr>
        <p:spPr>
          <a:xfrm>
            <a:off x="411480" y="3593592"/>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How long a run takes. The 40-part row was measured on real production parts; the rest carries that rate forward</a:t>
            </a:r>
          </a:p>
        </p:txBody>
      </p:sp>
      <p:sp>
        <p:nvSpPr>
          <p:cNvPr id="19" name="Rectangle 18"/>
          <p:cNvSpPr/>
          <p:nvPr/>
        </p:nvSpPr>
        <p:spPr>
          <a:xfrm>
            <a:off x="411480" y="3867912"/>
            <a:ext cx="27432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3776" y="3950208"/>
            <a:ext cx="25968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A run of</a:t>
            </a:r>
          </a:p>
        </p:txBody>
      </p:sp>
      <p:sp>
        <p:nvSpPr>
          <p:cNvPr id="21" name="Rectangle 20"/>
          <p:cNvSpPr/>
          <p:nvPr/>
        </p:nvSpPr>
        <p:spPr>
          <a:xfrm>
            <a:off x="3154680" y="3867912"/>
            <a:ext cx="237744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36976" y="3950208"/>
            <a:ext cx="223113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Measured</a:t>
            </a:r>
          </a:p>
        </p:txBody>
      </p:sp>
      <p:sp>
        <p:nvSpPr>
          <p:cNvPr id="23" name="Rectangle 22"/>
          <p:cNvSpPr/>
          <p:nvPr/>
        </p:nvSpPr>
        <p:spPr>
          <a:xfrm>
            <a:off x="5532120" y="3867912"/>
            <a:ext cx="624535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14416" y="3950208"/>
            <a:ext cx="609904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Basis</a:t>
            </a:r>
          </a:p>
        </p:txBody>
      </p:sp>
      <p:sp>
        <p:nvSpPr>
          <p:cNvPr id="25" name="Rectangle 24"/>
          <p:cNvSpPr/>
          <p:nvPr/>
        </p:nvSpPr>
        <p:spPr>
          <a:xfrm>
            <a:off x="411480" y="4197096"/>
            <a:ext cx="2743200" cy="29260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3776" y="4261104"/>
            <a:ext cx="2596896" cy="201168"/>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One part, warm</a:t>
            </a:r>
          </a:p>
        </p:txBody>
      </p:sp>
      <p:sp>
        <p:nvSpPr>
          <p:cNvPr id="27" name="Rectangle 26"/>
          <p:cNvSpPr/>
          <p:nvPr/>
        </p:nvSpPr>
        <p:spPr>
          <a:xfrm>
            <a:off x="3154680" y="4197096"/>
            <a:ext cx="2377440" cy="29260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36976" y="4261104"/>
            <a:ext cx="2231136" cy="201168"/>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0.9 to 3.1 seconds</a:t>
            </a:r>
          </a:p>
        </p:txBody>
      </p:sp>
      <p:sp>
        <p:nvSpPr>
          <p:cNvPr id="29" name="Rectangle 28"/>
          <p:cNvSpPr/>
          <p:nvPr/>
        </p:nvSpPr>
        <p:spPr>
          <a:xfrm>
            <a:off x="5532120" y="4197096"/>
            <a:ext cx="6245352" cy="29260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14416" y="4261104"/>
            <a:ext cx="6099048" cy="201168"/>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Five real production parts, 0.6 MB to 3.0 MB. Bigger file, longer</a:t>
            </a:r>
          </a:p>
        </p:txBody>
      </p:sp>
      <p:sp>
        <p:nvSpPr>
          <p:cNvPr id="31" name="Rectangle 30"/>
          <p:cNvSpPr/>
          <p:nvPr/>
        </p:nvSpPr>
        <p:spPr>
          <a:xfrm>
            <a:off x="411480" y="4489704"/>
            <a:ext cx="2743200" cy="29260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93776" y="4553712"/>
            <a:ext cx="2596896" cy="201168"/>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40 parts</a:t>
            </a:r>
          </a:p>
        </p:txBody>
      </p:sp>
      <p:sp>
        <p:nvSpPr>
          <p:cNvPr id="33" name="Rectangle 32"/>
          <p:cNvSpPr/>
          <p:nvPr/>
        </p:nvSpPr>
        <p:spPr>
          <a:xfrm>
            <a:off x="3154680" y="4489704"/>
            <a:ext cx="2377440" cy="29260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36976" y="4553712"/>
            <a:ext cx="2231136" cy="201168"/>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31 seconds</a:t>
            </a:r>
          </a:p>
        </p:txBody>
      </p:sp>
      <p:sp>
        <p:nvSpPr>
          <p:cNvPr id="35" name="Rectangle 34"/>
          <p:cNvSpPr/>
          <p:nvPr/>
        </p:nvSpPr>
        <p:spPr>
          <a:xfrm>
            <a:off x="5532120" y="4489704"/>
            <a:ext cx="6245352" cy="29260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14416" y="4553712"/>
            <a:ext cx="6099048" cy="201168"/>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Measured. Two workers running in parallel, nothing reused from cache</a:t>
            </a:r>
          </a:p>
        </p:txBody>
      </p:sp>
      <p:sp>
        <p:nvSpPr>
          <p:cNvPr id="37" name="Rectangle 36"/>
          <p:cNvSpPr/>
          <p:nvPr/>
        </p:nvSpPr>
        <p:spPr>
          <a:xfrm>
            <a:off x="411480" y="4782312"/>
            <a:ext cx="2743200" cy="29260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3776" y="4846320"/>
            <a:ext cx="2596896" cy="201168"/>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500 parts</a:t>
            </a:r>
          </a:p>
        </p:txBody>
      </p:sp>
      <p:sp>
        <p:nvSpPr>
          <p:cNvPr id="39" name="Rectangle 38"/>
          <p:cNvSpPr/>
          <p:nvPr/>
        </p:nvSpPr>
        <p:spPr>
          <a:xfrm>
            <a:off x="3154680" y="4782312"/>
            <a:ext cx="2377440" cy="29260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36976" y="4846320"/>
            <a:ext cx="2231136" cy="201168"/>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about 6.5 minutes</a:t>
            </a:r>
          </a:p>
        </p:txBody>
      </p:sp>
      <p:sp>
        <p:nvSpPr>
          <p:cNvPr id="41" name="Rectangle 40"/>
          <p:cNvSpPr/>
          <p:nvPr/>
        </p:nvSpPr>
        <p:spPr>
          <a:xfrm>
            <a:off x="5532120" y="4782312"/>
            <a:ext cx="6245352" cy="29260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614416" y="4846320"/>
            <a:ext cx="6099048" cy="201168"/>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That measured rate carried forward. Roughly half of it on four workers</a:t>
            </a:r>
          </a:p>
        </p:txBody>
      </p:sp>
      <p:sp>
        <p:nvSpPr>
          <p:cNvPr id="43" name="Rectangle 42"/>
          <p:cNvSpPr/>
          <p:nvPr/>
        </p:nvSpPr>
        <p:spPr>
          <a:xfrm>
            <a:off x="411480" y="5193792"/>
            <a:ext cx="11365992"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11480" y="5193792"/>
            <a:ext cx="1371600" cy="566928"/>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11480" y="5193792"/>
            <a:ext cx="137160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54864"/>
          <a:lstStyle/>
          <a:p>
            <a:pPr algn="l"/>
            <a:r>
              <a:rPr sz="1050" b="1">
                <a:solidFill>
                  <a:srgbClr val="FFFFFF"/>
                </a:solidFill>
                <a:latin typeface="Calibri"/>
              </a:rPr>
              <a:t>MUST BE BUILT</a:t>
            </a:r>
          </a:p>
        </p:txBody>
      </p:sp>
      <p:sp>
        <p:nvSpPr>
          <p:cNvPr id="46" name="TextBox 45"/>
          <p:cNvSpPr txBox="1"/>
          <p:nvPr/>
        </p:nvSpPr>
        <p:spPr>
          <a:xfrm>
            <a:off x="1892808" y="5312664"/>
            <a:ext cx="1779422" cy="329184"/>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A history of rate changes</a:t>
            </a:r>
          </a:p>
        </p:txBody>
      </p:sp>
      <p:sp>
        <p:nvSpPr>
          <p:cNvPr id="47" name="Rectangle 46"/>
          <p:cNvSpPr/>
          <p:nvPr/>
        </p:nvSpPr>
        <p:spPr>
          <a:xfrm>
            <a:off x="3781958" y="5248656"/>
            <a:ext cx="9525" cy="457200"/>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91686" y="5312664"/>
            <a:ext cx="1779422" cy="329184"/>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An automatic record of every costing</a:t>
            </a:r>
          </a:p>
        </p:txBody>
      </p:sp>
      <p:sp>
        <p:nvSpPr>
          <p:cNvPr id="49" name="Rectangle 48"/>
          <p:cNvSpPr/>
          <p:nvPr/>
        </p:nvSpPr>
        <p:spPr>
          <a:xfrm>
            <a:off x="5780836" y="5248656"/>
            <a:ext cx="9525" cy="457200"/>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890564" y="5312664"/>
            <a:ext cx="1779422" cy="329184"/>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Region, volume and gear on the run</a:t>
            </a:r>
          </a:p>
        </p:txBody>
      </p:sp>
      <p:sp>
        <p:nvSpPr>
          <p:cNvPr id="51" name="Rectangle 50"/>
          <p:cNvSpPr/>
          <p:nvPr/>
        </p:nvSpPr>
        <p:spPr>
          <a:xfrm>
            <a:off x="7779715" y="5248656"/>
            <a:ext cx="9525" cy="457200"/>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89443" y="5312664"/>
            <a:ext cx="1779422" cy="329184"/>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The safety checks on that route</a:t>
            </a:r>
          </a:p>
        </p:txBody>
      </p:sp>
      <p:sp>
        <p:nvSpPr>
          <p:cNvPr id="53" name="Rectangle 52"/>
          <p:cNvSpPr/>
          <p:nvPr/>
        </p:nvSpPr>
        <p:spPr>
          <a:xfrm>
            <a:off x="9778593" y="5248656"/>
            <a:ext cx="9525" cy="457200"/>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888321" y="5312664"/>
            <a:ext cx="1779422" cy="329184"/>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The run itself</a:t>
            </a:r>
          </a:p>
        </p:txBody>
      </p:sp>
      <p:sp>
        <p:nvSpPr>
          <p:cNvPr id="55" name="Rounded Rectangle 54"/>
          <p:cNvSpPr/>
          <p:nvPr/>
        </p:nvSpPr>
        <p:spPr>
          <a:xfrm>
            <a:off x="411480" y="5852160"/>
            <a:ext cx="11365992" cy="82296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11480" y="5852160"/>
            <a:ext cx="68580" cy="82296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0936" y="597103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The costing itself needs no AI here either</a:t>
            </a:r>
          </a:p>
        </p:txBody>
      </p:sp>
      <p:sp>
        <p:nvSpPr>
          <p:cNvPr id="58" name="TextBox 57"/>
          <p:cNvSpPr txBox="1"/>
          <p:nvPr/>
        </p:nvSpPr>
        <p:spPr>
          <a:xfrm>
            <a:off x="630936" y="6254496"/>
            <a:ext cx="10954512" cy="3200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engine and the rules are the same ones Option 1 uses, and they make no model call. An agent is one way to marshal a run; taking the part type and material family off the part master is the other, and that is the route to take while AI is not approved. What does not exist today is the run itself, and the five things above.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two options, and what we are asking for</a:t>
            </a:r>
          </a:p>
        </p:txBody>
      </p:sp>
      <p:sp>
        <p:nvSpPr>
          <p:cNvPr id="9" name="Rectangle 8"/>
          <p:cNvSpPr/>
          <p:nvPr/>
        </p:nvSpPr>
        <p:spPr>
          <a:xfrm>
            <a:off x="411480" y="1627632"/>
            <a:ext cx="32004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709928"/>
            <a:ext cx="3054096" cy="219456"/>
          </a:xfrm>
          <a:prstGeom prst="rect">
            <a:avLst/>
          </a:prstGeom>
          <a:noFill/>
        </p:spPr>
        <p:txBody>
          <a:bodyPr wrap="square" anchor="t" lIns="0" rIns="0" tIns="0" bIns="0">
            <a:spAutoFit/>
          </a:bodyPr>
          <a:lstStyle/>
          <a:p>
            <a:pPr algn="l">
              <a:lnSpc>
                <a:spcPct val="100000"/>
              </a:lnSpc>
              <a:spcAft>
                <a:spcPts val="400"/>
              </a:spcAft>
            </a:pPr>
          </a:p>
        </p:txBody>
      </p:sp>
      <p:sp>
        <p:nvSpPr>
          <p:cNvPr id="11" name="Rectangle 10"/>
          <p:cNvSpPr/>
          <p:nvPr/>
        </p:nvSpPr>
        <p:spPr>
          <a:xfrm>
            <a:off x="3611880" y="1627632"/>
            <a:ext cx="4078224"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94176" y="1709928"/>
            <a:ext cx="3931920"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OPTION 1 · input into CAPEE</a:t>
            </a:r>
          </a:p>
        </p:txBody>
      </p:sp>
      <p:sp>
        <p:nvSpPr>
          <p:cNvPr id="13" name="Rectangle 12"/>
          <p:cNvSpPr/>
          <p:nvPr/>
        </p:nvSpPr>
        <p:spPr>
          <a:xfrm>
            <a:off x="7690104" y="1627632"/>
            <a:ext cx="4087368"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709928"/>
            <a:ext cx="3941064"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OPTION 2 · bulk costing</a:t>
            </a:r>
          </a:p>
        </p:txBody>
      </p:sp>
      <p:sp>
        <p:nvSpPr>
          <p:cNvPr id="15" name="Rectangle 14"/>
          <p:cNvSpPr/>
          <p:nvPr/>
        </p:nvSpPr>
        <p:spPr>
          <a:xfrm>
            <a:off x="411480" y="1956816"/>
            <a:ext cx="3200400" cy="42062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3776" y="2020824"/>
            <a:ext cx="3054096" cy="32918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What it changes</a:t>
            </a:r>
          </a:p>
        </p:txBody>
      </p:sp>
      <p:sp>
        <p:nvSpPr>
          <p:cNvPr id="17" name="Rectangle 16"/>
          <p:cNvSpPr/>
          <p:nvPr/>
        </p:nvSpPr>
        <p:spPr>
          <a:xfrm>
            <a:off x="3611880" y="1956816"/>
            <a:ext cx="4078224" cy="42062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94176" y="2020824"/>
            <a:ext cx="3931920" cy="329184"/>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The engineer stops typing the input</a:t>
            </a:r>
          </a:p>
        </p:txBody>
      </p:sp>
      <p:sp>
        <p:nvSpPr>
          <p:cNvPr id="19" name="Rectangle 18"/>
          <p:cNvSpPr/>
          <p:nvPr/>
        </p:nvSpPr>
        <p:spPr>
          <a:xfrm>
            <a:off x="7690104" y="1956816"/>
            <a:ext cx="4087368" cy="42062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2020824"/>
            <a:ext cx="3941064" cy="329184"/>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We can cost a whole basket, not a sample</a:t>
            </a:r>
          </a:p>
        </p:txBody>
      </p:sp>
      <p:sp>
        <p:nvSpPr>
          <p:cNvPr id="21" name="Rectangle 20"/>
          <p:cNvSpPr/>
          <p:nvPr/>
        </p:nvSpPr>
        <p:spPr>
          <a:xfrm>
            <a:off x="411480" y="2377440"/>
            <a:ext cx="3200400" cy="42062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3776" y="2441448"/>
            <a:ext cx="3054096" cy="32918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Where the costing happens</a:t>
            </a:r>
          </a:p>
        </p:txBody>
      </p:sp>
      <p:sp>
        <p:nvSpPr>
          <p:cNvPr id="23" name="Rectangle 22"/>
          <p:cNvSpPr/>
          <p:nvPr/>
        </p:nvSpPr>
        <p:spPr>
          <a:xfrm>
            <a:off x="3611880" y="2377440"/>
            <a:ext cx="4078224" cy="42062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94176" y="2441448"/>
            <a:ext cx="3931920" cy="329184"/>
          </a:xfrm>
          <a:prstGeom prst="rect">
            <a:avLst/>
          </a:prstGeom>
          <a:noFill/>
        </p:spPr>
        <p:txBody>
          <a:bodyPr wrap="square" anchor="t" lIns="0" rIns="0" tIns="0" bIns="0">
            <a:spAutoFit/>
          </a:bodyPr>
          <a:lstStyle/>
          <a:p>
            <a:pPr algn="l">
              <a:lnSpc>
                <a:spcPct val="100000"/>
              </a:lnSpc>
              <a:spcAft>
                <a:spcPts val="400"/>
              </a:spcAft>
            </a:pPr>
            <a:r>
              <a:rPr sz="1019" b="1" i="0">
                <a:solidFill>
                  <a:srgbClr val="2E8B57"/>
                </a:solidFill>
                <a:latin typeface="Calibri"/>
              </a:rPr>
              <a:t>CAPEE, same as now</a:t>
            </a:r>
          </a:p>
        </p:txBody>
      </p:sp>
      <p:sp>
        <p:nvSpPr>
          <p:cNvPr id="25" name="Rectangle 24"/>
          <p:cNvSpPr/>
          <p:nvPr/>
        </p:nvSpPr>
        <p:spPr>
          <a:xfrm>
            <a:off x="7690104" y="2377440"/>
            <a:ext cx="4087368" cy="42062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2441448"/>
            <a:ext cx="3941064" cy="329184"/>
          </a:xfrm>
          <a:prstGeom prst="rect">
            <a:avLst/>
          </a:prstGeom>
          <a:noFill/>
        </p:spPr>
        <p:txBody>
          <a:bodyPr wrap="square" anchor="t" lIns="0" rIns="0" tIns="0" bIns="0">
            <a:spAutoFit/>
          </a:bodyPr>
          <a:lstStyle/>
          <a:p>
            <a:pPr algn="l">
              <a:lnSpc>
                <a:spcPct val="100000"/>
              </a:lnSpc>
              <a:spcAft>
                <a:spcPts val="400"/>
              </a:spcAft>
            </a:pPr>
            <a:r>
              <a:rPr sz="1019" b="0" i="0">
                <a:solidFill>
                  <a:srgbClr val="B7791F"/>
                </a:solidFill>
                <a:latin typeface="Calibri"/>
              </a:rPr>
              <a:t>CostVision engine, beside CAPEE</a:t>
            </a:r>
          </a:p>
        </p:txBody>
      </p:sp>
      <p:sp>
        <p:nvSpPr>
          <p:cNvPr id="27" name="Rectangle 26"/>
          <p:cNvSpPr/>
          <p:nvPr/>
        </p:nvSpPr>
        <p:spPr>
          <a:xfrm>
            <a:off x="411480" y="2798064"/>
            <a:ext cx="3200400" cy="42062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3776" y="2862072"/>
            <a:ext cx="3054096" cy="32918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Does it use AI</a:t>
            </a:r>
          </a:p>
        </p:txBody>
      </p:sp>
      <p:sp>
        <p:nvSpPr>
          <p:cNvPr id="29" name="Rectangle 28"/>
          <p:cNvSpPr/>
          <p:nvPr/>
        </p:nvSpPr>
        <p:spPr>
          <a:xfrm>
            <a:off x="3611880" y="2798064"/>
            <a:ext cx="4078224" cy="42062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94176" y="2862072"/>
            <a:ext cx="3931920" cy="329184"/>
          </a:xfrm>
          <a:prstGeom prst="rect">
            <a:avLst/>
          </a:prstGeom>
          <a:noFill/>
        </p:spPr>
        <p:txBody>
          <a:bodyPr wrap="square" anchor="t" lIns="0" rIns="0" tIns="0" bIns="0">
            <a:spAutoFit/>
          </a:bodyPr>
          <a:lstStyle/>
          <a:p>
            <a:pPr algn="l">
              <a:lnSpc>
                <a:spcPct val="100000"/>
              </a:lnSpc>
              <a:spcAft>
                <a:spcPts val="400"/>
              </a:spcAft>
            </a:pPr>
            <a:r>
              <a:rPr sz="1019" b="1" i="0">
                <a:solidFill>
                  <a:srgbClr val="2E8B57"/>
                </a:solidFill>
                <a:latin typeface="Calibri"/>
              </a:rPr>
              <a:t>No. 3D model and fixed rules only</a:t>
            </a:r>
          </a:p>
        </p:txBody>
      </p:sp>
      <p:sp>
        <p:nvSpPr>
          <p:cNvPr id="31" name="Rectangle 30"/>
          <p:cNvSpPr/>
          <p:nvPr/>
        </p:nvSpPr>
        <p:spPr>
          <a:xfrm>
            <a:off x="7690104" y="2798064"/>
            <a:ext cx="4087368" cy="42062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0" y="2862072"/>
            <a:ext cx="3941064" cy="329184"/>
          </a:xfrm>
          <a:prstGeom prst="rect">
            <a:avLst/>
          </a:prstGeom>
          <a:noFill/>
        </p:spPr>
        <p:txBody>
          <a:bodyPr wrap="square" anchor="t" lIns="0" rIns="0" tIns="0" bIns="0">
            <a:spAutoFit/>
          </a:bodyPr>
          <a:lstStyle/>
          <a:p>
            <a:pPr algn="l">
              <a:lnSpc>
                <a:spcPct val="100000"/>
              </a:lnSpc>
              <a:spcAft>
                <a:spcPts val="400"/>
              </a:spcAft>
            </a:pPr>
            <a:r>
              <a:rPr sz="1019" b="1" i="0">
                <a:solidFill>
                  <a:srgbClr val="2E8B57"/>
                </a:solidFill>
                <a:latin typeface="Calibri"/>
              </a:rPr>
              <a:t>Not for the costing. The run can be driven off the part master</a:t>
            </a:r>
          </a:p>
        </p:txBody>
      </p:sp>
      <p:sp>
        <p:nvSpPr>
          <p:cNvPr id="33" name="Rectangle 32"/>
          <p:cNvSpPr/>
          <p:nvPr/>
        </p:nvSpPr>
        <p:spPr>
          <a:xfrm>
            <a:off x="411480" y="3218688"/>
            <a:ext cx="3200400" cy="42062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3282696"/>
            <a:ext cx="3054096" cy="32918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Does anyone learn a new tool</a:t>
            </a:r>
          </a:p>
        </p:txBody>
      </p:sp>
      <p:sp>
        <p:nvSpPr>
          <p:cNvPr id="35" name="Rectangle 34"/>
          <p:cNvSpPr/>
          <p:nvPr/>
        </p:nvSpPr>
        <p:spPr>
          <a:xfrm>
            <a:off x="3611880" y="3218688"/>
            <a:ext cx="4078224" cy="42062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694176" y="3282696"/>
            <a:ext cx="3931920" cy="329184"/>
          </a:xfrm>
          <a:prstGeom prst="rect">
            <a:avLst/>
          </a:prstGeom>
          <a:noFill/>
        </p:spPr>
        <p:txBody>
          <a:bodyPr wrap="square" anchor="t" lIns="0" rIns="0" tIns="0" bIns="0">
            <a:spAutoFit/>
          </a:bodyPr>
          <a:lstStyle/>
          <a:p>
            <a:pPr algn="l">
              <a:lnSpc>
                <a:spcPct val="100000"/>
              </a:lnSpc>
              <a:spcAft>
                <a:spcPts val="400"/>
              </a:spcAft>
            </a:pPr>
            <a:r>
              <a:rPr sz="1019" b="1" i="0">
                <a:solidFill>
                  <a:srgbClr val="2E8B57"/>
                </a:solidFill>
                <a:latin typeface="Calibri"/>
              </a:rPr>
              <a:t>No, the same CAPEE screens</a:t>
            </a:r>
          </a:p>
        </p:txBody>
      </p:sp>
      <p:sp>
        <p:nvSpPr>
          <p:cNvPr id="37" name="Rectangle 36"/>
          <p:cNvSpPr/>
          <p:nvPr/>
        </p:nvSpPr>
        <p:spPr>
          <a:xfrm>
            <a:off x="7690104" y="3218688"/>
            <a:ext cx="4087368" cy="42062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72400" y="3282696"/>
            <a:ext cx="3941064" cy="329184"/>
          </a:xfrm>
          <a:prstGeom prst="rect">
            <a:avLst/>
          </a:prstGeom>
          <a:noFill/>
        </p:spPr>
        <p:txBody>
          <a:bodyPr wrap="square" anchor="t" lIns="0" rIns="0" tIns="0" bIns="0">
            <a:spAutoFit/>
          </a:bodyPr>
          <a:lstStyle/>
          <a:p>
            <a:pPr algn="l">
              <a:lnSpc>
                <a:spcPct val="100000"/>
              </a:lnSpc>
              <a:spcAft>
                <a:spcPts val="400"/>
              </a:spcAft>
            </a:pPr>
            <a:r>
              <a:rPr sz="1019" b="0" i="0">
                <a:solidFill>
                  <a:srgbClr val="B7791F"/>
                </a:solidFill>
                <a:latin typeface="Calibri"/>
              </a:rPr>
              <a:t>A reviewer does, for the results</a:t>
            </a:r>
          </a:p>
        </p:txBody>
      </p:sp>
      <p:sp>
        <p:nvSpPr>
          <p:cNvPr id="39" name="Rectangle 38"/>
          <p:cNvSpPr/>
          <p:nvPr/>
        </p:nvSpPr>
        <p:spPr>
          <a:xfrm>
            <a:off x="411480" y="3639312"/>
            <a:ext cx="3200400" cy="42062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93776" y="3703320"/>
            <a:ext cx="3054096" cy="32918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What it needs from JLR</a:t>
            </a:r>
          </a:p>
        </p:txBody>
      </p:sp>
      <p:sp>
        <p:nvSpPr>
          <p:cNvPr id="41" name="Rectangle 40"/>
          <p:cNvSpPr/>
          <p:nvPr/>
        </p:nvSpPr>
        <p:spPr>
          <a:xfrm>
            <a:off x="3611880" y="3639312"/>
            <a:ext cx="4078224" cy="42062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94176" y="3703320"/>
            <a:ext cx="3931920" cy="329184"/>
          </a:xfrm>
          <a:prstGeom prst="rect">
            <a:avLst/>
          </a:prstGeom>
          <a:noFill/>
        </p:spPr>
        <p:txBody>
          <a:bodyPr wrap="square" anchor="t" lIns="0" rIns="0" tIns="0" bIns="0">
            <a:spAutoFit/>
          </a:bodyPr>
          <a:lstStyle/>
          <a:p>
            <a:pPr algn="l">
              <a:lnSpc>
                <a:spcPct val="100000"/>
              </a:lnSpc>
              <a:spcAft>
                <a:spcPts val="400"/>
              </a:spcAft>
            </a:pPr>
            <a:r>
              <a:rPr sz="1019" b="0" i="0">
                <a:solidFill>
                  <a:srgbClr val="B7791F"/>
                </a:solidFill>
                <a:latin typeface="Calibri"/>
              </a:rPr>
              <a:t>A Linux server, the CAPEE connection, parts with prices we paid</a:t>
            </a:r>
          </a:p>
        </p:txBody>
      </p:sp>
      <p:sp>
        <p:nvSpPr>
          <p:cNvPr id="43" name="Rectangle 42"/>
          <p:cNvSpPr/>
          <p:nvPr/>
        </p:nvSpPr>
        <p:spPr>
          <a:xfrm>
            <a:off x="7690104" y="3639312"/>
            <a:ext cx="4087368" cy="42062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0" y="3703320"/>
            <a:ext cx="3941064" cy="329184"/>
          </a:xfrm>
          <a:prstGeom prst="rect">
            <a:avLst/>
          </a:prstGeom>
          <a:noFill/>
        </p:spPr>
        <p:txBody>
          <a:bodyPr wrap="square" anchor="t" lIns="0" rIns="0" tIns="0" bIns="0">
            <a:spAutoFit/>
          </a:bodyPr>
          <a:lstStyle/>
          <a:p>
            <a:pPr algn="l">
              <a:lnSpc>
                <a:spcPct val="100000"/>
              </a:lnSpc>
              <a:spcAft>
                <a:spcPts val="400"/>
              </a:spcAft>
            </a:pPr>
            <a:r>
              <a:rPr sz="1019" b="0" i="0">
                <a:solidFill>
                  <a:srgbClr val="B03A2E"/>
                </a:solidFill>
                <a:latin typeface="Calibri"/>
              </a:rPr>
              <a:t>Our own rate book, plus the five items built</a:t>
            </a:r>
          </a:p>
        </p:txBody>
      </p:sp>
      <p:sp>
        <p:nvSpPr>
          <p:cNvPr id="45" name="Rectangle 44"/>
          <p:cNvSpPr/>
          <p:nvPr/>
        </p:nvSpPr>
        <p:spPr>
          <a:xfrm>
            <a:off x="411480" y="4059936"/>
            <a:ext cx="3200400" cy="42062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93776" y="4123944"/>
            <a:ext cx="3054096" cy="32918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Can we stop part way</a:t>
            </a:r>
          </a:p>
        </p:txBody>
      </p:sp>
      <p:sp>
        <p:nvSpPr>
          <p:cNvPr id="47" name="Rectangle 46"/>
          <p:cNvSpPr/>
          <p:nvPr/>
        </p:nvSpPr>
        <p:spPr>
          <a:xfrm>
            <a:off x="3611880" y="4059936"/>
            <a:ext cx="4078224" cy="42062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694176" y="4123944"/>
            <a:ext cx="3931920" cy="329184"/>
          </a:xfrm>
          <a:prstGeom prst="rect">
            <a:avLst/>
          </a:prstGeom>
          <a:noFill/>
        </p:spPr>
        <p:txBody>
          <a:bodyPr wrap="square" anchor="t" lIns="0" rIns="0" tIns="0" bIns="0">
            <a:spAutoFit/>
          </a:bodyPr>
          <a:lstStyle/>
          <a:p>
            <a:pPr algn="l">
              <a:lnSpc>
                <a:spcPct val="100000"/>
              </a:lnSpc>
              <a:spcAft>
                <a:spcPts val="400"/>
              </a:spcAft>
            </a:pPr>
            <a:r>
              <a:rPr sz="1019" b="1" i="0">
                <a:solidFill>
                  <a:srgbClr val="2E8B57"/>
                </a:solidFill>
                <a:latin typeface="Calibri"/>
              </a:rPr>
              <a:t>Yes, CAPEE costs the same way either way</a:t>
            </a:r>
          </a:p>
        </p:txBody>
      </p:sp>
      <p:sp>
        <p:nvSpPr>
          <p:cNvPr id="49" name="Rectangle 48"/>
          <p:cNvSpPr/>
          <p:nvPr/>
        </p:nvSpPr>
        <p:spPr>
          <a:xfrm>
            <a:off x="7690104" y="4059936"/>
            <a:ext cx="4087368" cy="42062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772400" y="4123944"/>
            <a:ext cx="3941064" cy="329184"/>
          </a:xfrm>
          <a:prstGeom prst="rect">
            <a:avLst/>
          </a:prstGeom>
          <a:noFill/>
        </p:spPr>
        <p:txBody>
          <a:bodyPr wrap="square" anchor="t" lIns="0" rIns="0" tIns="0" bIns="0">
            <a:spAutoFit/>
          </a:bodyPr>
          <a:lstStyle/>
          <a:p>
            <a:pPr algn="l">
              <a:lnSpc>
                <a:spcPct val="100000"/>
              </a:lnSpc>
              <a:spcAft>
                <a:spcPts val="400"/>
              </a:spcAft>
            </a:pPr>
            <a:r>
              <a:rPr sz="1019" b="1" i="0">
                <a:solidFill>
                  <a:srgbClr val="2E8B57"/>
                </a:solidFill>
                <a:latin typeface="Calibri"/>
              </a:rPr>
              <a:t>Yes, it runs alongside</a:t>
            </a:r>
          </a:p>
        </p:txBody>
      </p:sp>
      <p:sp>
        <p:nvSpPr>
          <p:cNvPr id="51" name="Rectangle 50"/>
          <p:cNvSpPr/>
          <p:nvPr/>
        </p:nvSpPr>
        <p:spPr>
          <a:xfrm>
            <a:off x="411480" y="4480560"/>
            <a:ext cx="3200400" cy="42062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93776" y="4544568"/>
            <a:ext cx="3054096" cy="32918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Is it audit-ready today</a:t>
            </a:r>
          </a:p>
        </p:txBody>
      </p:sp>
      <p:sp>
        <p:nvSpPr>
          <p:cNvPr id="53" name="Rectangle 52"/>
          <p:cNvSpPr/>
          <p:nvPr/>
        </p:nvSpPr>
        <p:spPr>
          <a:xfrm>
            <a:off x="3611880" y="4480560"/>
            <a:ext cx="4078224" cy="42062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694176" y="4544568"/>
            <a:ext cx="3931920" cy="329184"/>
          </a:xfrm>
          <a:prstGeom prst="rect">
            <a:avLst/>
          </a:prstGeom>
          <a:noFill/>
        </p:spPr>
        <p:txBody>
          <a:bodyPr wrap="square" anchor="t" lIns="0" rIns="0" tIns="0" bIns="0">
            <a:spAutoFit/>
          </a:bodyPr>
          <a:lstStyle/>
          <a:p>
            <a:pPr algn="l">
              <a:lnSpc>
                <a:spcPct val="100000"/>
              </a:lnSpc>
              <a:spcAft>
                <a:spcPts val="400"/>
              </a:spcAft>
            </a:pPr>
            <a:r>
              <a:rPr sz="1019" b="1" i="0">
                <a:solidFill>
                  <a:srgbClr val="2E8B57"/>
                </a:solidFill>
                <a:latin typeface="Calibri"/>
              </a:rPr>
              <a:t>Yes, CAPEE keeps the record</a:t>
            </a:r>
          </a:p>
        </p:txBody>
      </p:sp>
      <p:sp>
        <p:nvSpPr>
          <p:cNvPr id="55" name="Rectangle 54"/>
          <p:cNvSpPr/>
          <p:nvPr/>
        </p:nvSpPr>
        <p:spPr>
          <a:xfrm>
            <a:off x="7690104" y="4480560"/>
            <a:ext cx="4087368" cy="42062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772400" y="4544568"/>
            <a:ext cx="3941064" cy="329184"/>
          </a:xfrm>
          <a:prstGeom prst="rect">
            <a:avLst/>
          </a:prstGeom>
          <a:noFill/>
        </p:spPr>
        <p:txBody>
          <a:bodyPr wrap="square" anchor="t" lIns="0" rIns="0" tIns="0" bIns="0">
            <a:spAutoFit/>
          </a:bodyPr>
          <a:lstStyle/>
          <a:p>
            <a:pPr algn="l">
              <a:lnSpc>
                <a:spcPct val="100000"/>
              </a:lnSpc>
              <a:spcAft>
                <a:spcPts val="400"/>
              </a:spcAft>
            </a:pPr>
            <a:r>
              <a:rPr sz="1019" b="1" i="0">
                <a:solidFill>
                  <a:srgbClr val="B03A2E"/>
                </a:solidFill>
                <a:latin typeface="Calibri"/>
              </a:rPr>
              <a:t>No, until rate history and a costing record exist</a:t>
            </a:r>
          </a:p>
        </p:txBody>
      </p:sp>
      <p:sp>
        <p:nvSpPr>
          <p:cNvPr id="57" name="Rounded Rectangle 56"/>
          <p:cNvSpPr/>
          <p:nvPr/>
        </p:nvSpPr>
        <p:spPr>
          <a:xfrm>
            <a:off x="411480" y="4992624"/>
            <a:ext cx="11365992" cy="786384"/>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11480" y="4992624"/>
            <a:ext cx="68580" cy="78638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0936" y="5111496"/>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What we are asking for today: approve Option 1 as a pilot</a:t>
            </a:r>
          </a:p>
        </p:txBody>
      </p:sp>
      <p:sp>
        <p:nvSpPr>
          <p:cNvPr id="60" name="TextBox 59"/>
          <p:cNvSpPr txBox="1"/>
          <p:nvPr/>
        </p:nvSpPr>
        <p:spPr>
          <a:xfrm>
            <a:off x="630936" y="5394960"/>
            <a:ext cx="10954512" cy="283464"/>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One part type, 30 to 50 parts we have already bought, inside CAPEE, costing our own engineering time. It gives us the two numbers nobody can state today: how close the tool gets to a price we actually paid, and how much of the input it fills on its own. Option 2 needs those numbers first.</a:t>
            </a:r>
          </a:p>
        </p:txBody>
      </p:sp>
      <p:sp>
        <p:nvSpPr>
          <p:cNvPr id="61" name="Rounded Rectangle 60"/>
          <p:cNvSpPr/>
          <p:nvPr/>
        </p:nvSpPr>
        <p:spPr>
          <a:xfrm>
            <a:off x="411480" y="5870448"/>
            <a:ext cx="11365992" cy="786384"/>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11480" y="5870448"/>
            <a:ext cx="68580" cy="786384"/>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30936" y="598932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The one thing to know before you decide</a:t>
            </a:r>
          </a:p>
        </p:txBody>
      </p:sp>
      <p:sp>
        <p:nvSpPr>
          <p:cNvPr id="64" name="TextBox 63"/>
          <p:cNvSpPr txBox="1"/>
          <p:nvPr/>
        </p:nvSpPr>
        <p:spPr>
          <a:xfrm>
            <a:off x="630936" y="6272784"/>
            <a:ext cx="10954512" cy="283464"/>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CostVision has never been checked against a price JLR has actually paid. Not one part. That is exactly what the pilot settles, and until it is done nobody can tell you how accurate this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