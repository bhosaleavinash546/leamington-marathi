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none of this is a criticism of it. The left-hand card is our should-cost as it runs today. The method is trusted and thorough: a rigorous bottom-up build-up, applied across every commodity we buy, and it is the number we would defend in front of a supplier. Nothing I am about to propose changes that. What I want to talk about is the effort behind it. The setup is hands-on: a person chooses the material, the process and the machine, part by part. The data entry is manual: somebody opens the 3D model and the drawings, reads the geometry and the tolerances, and types them in. And when the economics move, somebody goes back and updates the rates by hand. The line at the bottom of that card is the size of it: between twelve and sixty-nine values typed per part depending on the commodity, and those counts come straight off our own input forms. None of that is wrong. It is just slow, and it is the reason we cost the parts we have time for rather than the parts we would like to. Now the right-hand side, and I want to be straight about why it is empty. I have not put a saving on this slide, because we have never timed this job and we have never compared this tool against a price we have actually paid. Any number I put there would be my estimate dressed up as a measurement. Four of these five are ours and we can get them quickly: how long a part takes, how much of that is reading and typing, how many parts we cost a year, and how many in a basket we never cost at all. Time a handful of parts in one commodity and you have the first two; the others are in our own records and the programme data. The fifth, E, is what the trial measures. Put those numbers in and the three boxes underneath fill themselves in: the hours we spend typing today, the hours we would get back, and how many more parts that time would cost. That is a business case we own rather than one I have handed you. And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spend the most time on, because it is the part of the case that is easy to under-sell. Six things the tool does, and one distinction I want to make before I go through them: five of these work today, one part at a time, in the tool as it stands. The first one does not, and that is why it is the amber tile. A list of parts and their models goes in and every part comes back costed, with a report per part and per basket, without anybody sitting there — that is what Option two builds, and today we cost the parts we have hours for and estimate the rest from a sample. Next to it is the one that usually gets a reaction in the room. You take a photograph of a circuit board and the tool works out what is on it, builds the bill of materials, works out the board specification and costs it. That is a job that takes an electronics buyer a long time and most of us cannot do at all. Third along, an RFQ pack goes in and comes back as costed lines, ranked by where the money is, with a first draft of the negotiation brief written for you. Bottom left is the assistant, and I want to be precise about it. It does the setting up: it picks the process route and the machine and fills in what the geometry gives it, and then it comes back to a person with one question rather than a hundred. Next to that is the one our buyers will care about most. Put a supplier's price next to our own build-up and the tool tells you which part of it the gap sits in and what to ask them about it. And the last one turns design-for-cost from a list into a decision: it flags what makes a part expensive and puts a number on each change, ordered by what it saves. The blue strip at the bottom is the sentence I would want people to leave with. The AI reads and sorts and sets up. It never sets a price. The money is still worked out by the same fixed rules and the same rate book we use now, so every number can be explained line by line, exactly as it can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get for it, written in kind rather than in pounds, for the reason I gave on the first slide: we have never timed this job and never checked the tool against a price we paid, so a pound figure from me would be a guess. The left column is Option one, and it is all about the same thing: the time we spend putting numbers into CAPEE by hand. The typing goes — between twelve and sixty-nine values a part, depending on the commodity, now filled from the model. With nothing typed there is nothing to mistype, so the checking of our own transcription goes with it. It gives the same answer every time, so parts costed by different engineers are comparable. Re-costing becomes nearly free: a new volume or a new set of rates does not mean reading the model again. And the saving is not a one-off — it repeats on every part, so it grows with how many we cost. What is left is the judgement: material, tolerance class, finish and heat treatment, the calls only we can make. That column can start now, because there is no AI in it to approve. And the last line points back at slide one: put our four numbers in and all of that becomes hours. The right column is wider because Option two genuinely has more in it. It runs on its own — parts go in and costed reports come out, and a person answers only what the model cannot show. It uses the same method for everything we make, so a plastic clip and a machined bracket are built up the same way and can sit in the same report. It costs electronics from a photograph of the board, which is work we largely cannot do today. It costs software as well: forty-three modules, from powertrain and driver assistance through to the cloud back end, which matters more every programme. Then the second half of that column is the part I would put to purchasing. It shows where a supplier's price differs from our own build-up and which part of the cost the gap sits in. Then it tells us what to do about it: what to go after, what to ask them, and what it is worth over a year. A whole RFQ pack can go in and come back priced and put in order of money. And design changes come back with a price on them rather than as a list of suggestions. The green strip is the sequencing point. Option one's benefits arrive first and we keep them. Option two's depend on the accuracy figure Option one produces, which is why these are an order rather than a choice.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decision, and I have split it into what I want today and what I do not. On the left, Option one: approve the trial. One commodity, thirty to fifty parts we have already bought, run inside CAPEE. On the right, Option two: I am not asking you to decide it. What I am asking is that we start the AI approval alongside the trial, because that is the long pole and there is no sense discovering at the end of the trial that we now have to begin it. The two cards underneath are what each one needs. Option one needs a server, a way to pass numbers into CAPEE, some parts where we know what we paid, and an engineer from the commodity team for the trial. Option two needs all of that plus the AI approval, our own rate book with a change history, and a few things built around the engine. The green strip is what we get out of the trial and it is the reason to do it: two numbers that nobody in this company can state today. How close the tool gets to a price we actually paid, and how much of the input it fills on its own. Until we have those, any conversation about Option two is people trading opinions. Then three short things I want to say plainly rather than have asked. The first is the governance point and it is the one I would repeat if you take nothing else away: the AI reads, sorts and sets up, and it never sets a price. The money comes out of the same fixed rules and the same rate book as today, so every number can be defended line by line exactly as it can now. The second is the exit. We have never compared this against a price we have paid. If the trial says the tool is not close enough, we stop, and what we will have spent is our own engineering time — that is precisely why I am asking for a trial and not a rollout. And the third is the honest answer to how long: nobody has sized it. It waits on one answer from IT about how CAPEE is built, and the sizing comes back with that answer rather than being invented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9" name="Rounded Rectangle 8"/>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92224"/>
            <a:ext cx="68580" cy="41148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2" name="TextBox 11"/>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E8B57"/>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 12 to 69 values per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3" name="TextBox 12"/>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ours</a:t>
            </a:r>
          </a:p>
        </p:txBody>
      </p:sp>
      <p:sp>
        <p:nvSpPr>
          <p:cNvPr id="14" name="Rectangle 13"/>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6" name="Rectangle 15"/>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8" name="Rectangle 17"/>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0" name="Rectangle 19"/>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2" name="Rectangle 21"/>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4" name="Rectangle 23"/>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6" name="Rectangle 25"/>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8" name="Rectangle 27"/>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0" name="Rectangle 29"/>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2" name="Rectangle 31"/>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4" name="Rectangle 33"/>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6" name="Rectangle 35"/>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8" name="Rectangle 37"/>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0" name="Rectangle 39"/>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2" name="Rectangle 41"/>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4" name="Rectangle 43"/>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6" name="Rectangle 45"/>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8" name="Rectangle 47"/>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E8B57"/>
                </a:solidFill>
                <a:latin typeface="Calibri"/>
              </a:rPr>
              <a:t>________</a:t>
            </a:r>
          </a:p>
        </p:txBody>
      </p:sp>
      <p:sp>
        <p:nvSpPr>
          <p:cNvPr id="50" name="Rounded Rectangle 49"/>
          <p:cNvSpPr/>
          <p:nvPr/>
        </p:nvSpPr>
        <p:spPr>
          <a:xfrm>
            <a:off x="6199632" y="4059936"/>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99632" y="4059936"/>
            <a:ext cx="68580" cy="47548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19088" y="4169664"/>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3" name="TextBox 52"/>
          <p:cNvSpPr txBox="1"/>
          <p:nvPr/>
        </p:nvSpPr>
        <p:spPr>
          <a:xfrm>
            <a:off x="9646920" y="4151376"/>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4" name="Rounded Rectangle 53"/>
          <p:cNvSpPr/>
          <p:nvPr/>
        </p:nvSpPr>
        <p:spPr>
          <a:xfrm>
            <a:off x="6199632" y="4572000"/>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99632" y="4572000"/>
            <a:ext cx="68580" cy="4754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19088" y="46817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7" name="TextBox 56"/>
          <p:cNvSpPr txBox="1"/>
          <p:nvPr/>
        </p:nvSpPr>
        <p:spPr>
          <a:xfrm>
            <a:off x="9646920" y="46634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E8B57"/>
                </a:solidFill>
                <a:latin typeface="Calibri"/>
              </a:rPr>
              <a:t>B × E × C ÷ 60</a:t>
            </a:r>
          </a:p>
        </p:txBody>
      </p:sp>
      <p:sp>
        <p:nvSpPr>
          <p:cNvPr id="58" name="Rounded Rectangle 57"/>
          <p:cNvSpPr/>
          <p:nvPr/>
        </p:nvSpPr>
        <p:spPr>
          <a:xfrm>
            <a:off x="6199632" y="5084064"/>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99632" y="5084064"/>
            <a:ext cx="68580" cy="4754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19088" y="5193792"/>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1" name="TextBox 60"/>
          <p:cNvSpPr txBox="1"/>
          <p:nvPr/>
        </p:nvSpPr>
        <p:spPr>
          <a:xfrm>
            <a:off x="9646920" y="5175504"/>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2" name="TextBox 61"/>
          <p:cNvSpPr txBox="1"/>
          <p:nvPr/>
        </p:nvSpPr>
        <p:spPr>
          <a:xfrm>
            <a:off x="6199632" y="5596128"/>
            <a:ext cx="5577840" cy="274320"/>
          </a:xfrm>
          <a:prstGeom prst="rect">
            <a:avLst/>
          </a:prstGeom>
          <a:noFill/>
        </p:spPr>
        <p:txBody>
          <a:bodyPr wrap="square" anchor="t" lIns="0" rIns="0" tIns="0" bIns="0">
            <a:spAutoFit/>
          </a:bodyPr>
          <a:lstStyle/>
          <a:p>
            <a:pPr algn="l">
              <a:lnSpc>
                <a:spcPct val="110000"/>
              </a:lnSpc>
              <a:spcAft>
                <a:spcPts val="400"/>
              </a:spcAft>
            </a:pPr>
            <a:r>
              <a:rPr sz="850" b="0" i="0">
                <a:solidFill>
                  <a:srgbClr val="6B7280"/>
                </a:solidFill>
                <a:latin typeface="Calibri"/>
              </a:rPr>
              <a:t>Assumes typing time falls in step with the values the software fills; the trial tests that.</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9" name="Rounded Rectangle 8"/>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pload.png"/>
          <p:cNvPicPr>
            <a:picLocks noChangeAspect="1"/>
          </p:cNvPicPr>
          <p:nvPr/>
        </p:nvPicPr>
        <p:blipFill>
          <a:blip r:embed="rId2"/>
          <a:stretch>
            <a:fillRect/>
          </a:stretch>
        </p:blipFill>
        <p:spPr>
          <a:xfrm>
            <a:off x="1342521" y="2122505"/>
            <a:ext cx="272126" cy="272126"/>
          </a:xfrm>
          <a:prstGeom prst="rect">
            <a:avLst/>
          </a:prstGeom>
        </p:spPr>
      </p:pic>
      <p:sp>
        <p:nvSpPr>
          <p:cNvPr id="13" name="TextBox 12"/>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4" name="TextBox 13"/>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5" name="Right Arrow 14"/>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png"/>
          <p:cNvPicPr>
            <a:picLocks noChangeAspect="1"/>
          </p:cNvPicPr>
          <p:nvPr/>
        </p:nvPicPr>
        <p:blipFill>
          <a:blip r:embed="rId3"/>
          <a:stretch>
            <a:fillRect/>
          </a:stretch>
        </p:blipFill>
        <p:spPr>
          <a:xfrm>
            <a:off x="3650466" y="2122505"/>
            <a:ext cx="272126" cy="272126"/>
          </a:xfrm>
          <a:prstGeom prst="rect">
            <a:avLst/>
          </a:prstGeom>
        </p:spPr>
      </p:pic>
      <p:sp>
        <p:nvSpPr>
          <p:cNvPr id="20" name="TextBox 19"/>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1" name="TextBox 20"/>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2" name="Right Arrow 21"/>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g.png"/>
          <p:cNvPicPr>
            <a:picLocks noChangeAspect="1"/>
          </p:cNvPicPr>
          <p:nvPr/>
        </p:nvPicPr>
        <p:blipFill>
          <a:blip r:embed="rId4"/>
          <a:stretch>
            <a:fillRect/>
          </a:stretch>
        </p:blipFill>
        <p:spPr>
          <a:xfrm>
            <a:off x="5958411" y="2122505"/>
            <a:ext cx="272126" cy="272126"/>
          </a:xfrm>
          <a:prstGeom prst="rect">
            <a:avLst/>
          </a:prstGeom>
        </p:spPr>
      </p:pic>
      <p:sp>
        <p:nvSpPr>
          <p:cNvPr id="27" name="TextBox 26"/>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8" name="TextBox 27"/>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29" name="Right Arrow 28"/>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35315" y="1810512"/>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18955" y="1975104"/>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png"/>
          <p:cNvPicPr>
            <a:picLocks noChangeAspect="1"/>
          </p:cNvPicPr>
          <p:nvPr/>
        </p:nvPicPr>
        <p:blipFill>
          <a:blip r:embed="rId5"/>
          <a:stretch>
            <a:fillRect/>
          </a:stretch>
        </p:blipFill>
        <p:spPr>
          <a:xfrm>
            <a:off x="8266356" y="2122505"/>
            <a:ext cx="272126" cy="272126"/>
          </a:xfrm>
          <a:prstGeom prst="rect">
            <a:avLst/>
          </a:prstGeom>
        </p:spPr>
      </p:pic>
      <p:sp>
        <p:nvSpPr>
          <p:cNvPr id="34" name="TextBox 33"/>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5" name="TextBox 34"/>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6" name="Right Arrow 35"/>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43260" y="1810512"/>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426900" y="1975104"/>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alc.png"/>
          <p:cNvPicPr>
            <a:picLocks noChangeAspect="1"/>
          </p:cNvPicPr>
          <p:nvPr/>
        </p:nvPicPr>
        <p:blipFill>
          <a:blip r:embed="rId6"/>
          <a:stretch>
            <a:fillRect/>
          </a:stretch>
        </p:blipFill>
        <p:spPr>
          <a:xfrm>
            <a:off x="10574301" y="2122505"/>
            <a:ext cx="272126" cy="272126"/>
          </a:xfrm>
          <a:prstGeom prst="rect">
            <a:avLst/>
          </a:prstGeom>
        </p:spPr>
      </p:pic>
      <p:sp>
        <p:nvSpPr>
          <p:cNvPr id="41" name="TextBox 40"/>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2" name="TextBox 41"/>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3" name="Rounded Rectangle 42"/>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3675887"/>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6" name="TextBox 45"/>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7" name="Rounded Rectangle 46"/>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3675887"/>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0" name="TextBox 49"/>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1" name="Rounded Rectangle 50"/>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4" name="TextBox 53"/>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CostVision does</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What the tool does. Five of these work today, one part at a time — running them over a whole basket is what Option 2 builds.</a:t>
            </a:r>
          </a:p>
        </p:txBody>
      </p:sp>
      <p:sp>
        <p:nvSpPr>
          <p:cNvPr id="9" name="Rounded Rectangle 8"/>
          <p:cNvSpPr/>
          <p:nvPr/>
        </p:nvSpPr>
        <p:spPr>
          <a:xfrm>
            <a:off x="411480"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66744"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066544"/>
            <a:ext cx="548640" cy="54864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g.png"/>
          <p:cNvPicPr>
            <a:picLocks noChangeAspect="1"/>
          </p:cNvPicPr>
          <p:nvPr/>
        </p:nvPicPr>
        <p:blipFill>
          <a:blip r:embed="rId2"/>
          <a:stretch>
            <a:fillRect/>
          </a:stretch>
        </p:blipFill>
        <p:spPr>
          <a:xfrm>
            <a:off x="791870" y="2209190"/>
            <a:ext cx="263348" cy="263348"/>
          </a:xfrm>
          <a:prstGeom prst="rect">
            <a:avLst/>
          </a:prstGeom>
        </p:spPr>
      </p:pic>
      <p:sp>
        <p:nvSpPr>
          <p:cNvPr id="13" name="TextBox 12"/>
          <p:cNvSpPr txBox="1"/>
          <p:nvPr/>
        </p:nvSpPr>
        <p:spPr>
          <a:xfrm>
            <a:off x="649224"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Cost a whole basket, unattended</a:t>
            </a:r>
          </a:p>
        </p:txBody>
      </p:sp>
      <p:sp>
        <p:nvSpPr>
          <p:cNvPr id="14" name="TextBox 13"/>
          <p:cNvSpPr txBox="1"/>
          <p:nvPr/>
        </p:nvSpPr>
        <p:spPr>
          <a:xfrm>
            <a:off x="649224"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 list of parts and their 3D models goes in. Every part costed and reported with nobody sitting there. This is the one Option 2 builds.</a:t>
            </a:r>
          </a:p>
        </p:txBody>
      </p:sp>
      <p:sp>
        <p:nvSpPr>
          <p:cNvPr id="15" name="Rounded Rectangle 14"/>
          <p:cNvSpPr/>
          <p:nvPr/>
        </p:nvSpPr>
        <p:spPr>
          <a:xfrm>
            <a:off x="4261104"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61104"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8848"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png"/>
          <p:cNvPicPr>
            <a:picLocks noChangeAspect="1"/>
          </p:cNvPicPr>
          <p:nvPr/>
        </p:nvPicPr>
        <p:blipFill>
          <a:blip r:embed="rId3"/>
          <a:stretch>
            <a:fillRect/>
          </a:stretch>
        </p:blipFill>
        <p:spPr>
          <a:xfrm>
            <a:off x="4641494" y="2209190"/>
            <a:ext cx="263348" cy="263348"/>
          </a:xfrm>
          <a:prstGeom prst="rect">
            <a:avLst/>
          </a:prstGeom>
        </p:spPr>
      </p:pic>
      <p:sp>
        <p:nvSpPr>
          <p:cNvPr id="19" name="TextBox 18"/>
          <p:cNvSpPr txBox="1"/>
          <p:nvPr/>
        </p:nvSpPr>
        <p:spPr>
          <a:xfrm>
            <a:off x="4498848"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 board photo becomes a costed BOM</a:t>
            </a:r>
          </a:p>
        </p:txBody>
      </p:sp>
      <p:sp>
        <p:nvSpPr>
          <p:cNvPr id="20" name="TextBox 19"/>
          <p:cNvSpPr txBox="1"/>
          <p:nvPr/>
        </p:nvSpPr>
        <p:spPr>
          <a:xfrm>
            <a:off x="4498848"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Take a picture of a circuit board. The tool works out what is on it, builds the bill of materials and the board spec, and costs it.</a:t>
            </a:r>
          </a:p>
        </p:txBody>
      </p:sp>
      <p:sp>
        <p:nvSpPr>
          <p:cNvPr id="21" name="Rounded Rectangle 20"/>
          <p:cNvSpPr/>
          <p:nvPr/>
        </p:nvSpPr>
        <p:spPr>
          <a:xfrm>
            <a:off x="8110728"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0728"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48472"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lip.png"/>
          <p:cNvPicPr>
            <a:picLocks noChangeAspect="1"/>
          </p:cNvPicPr>
          <p:nvPr/>
        </p:nvPicPr>
        <p:blipFill>
          <a:blip r:embed="rId4"/>
          <a:stretch>
            <a:fillRect/>
          </a:stretch>
        </p:blipFill>
        <p:spPr>
          <a:xfrm>
            <a:off x="8491118" y="2209190"/>
            <a:ext cx="263348" cy="263348"/>
          </a:xfrm>
          <a:prstGeom prst="rect">
            <a:avLst/>
          </a:prstGeom>
        </p:spPr>
      </p:pic>
      <p:sp>
        <p:nvSpPr>
          <p:cNvPr id="25" name="TextBox 24"/>
          <p:cNvSpPr txBox="1"/>
          <p:nvPr/>
        </p:nvSpPr>
        <p:spPr>
          <a:xfrm>
            <a:off x="8348472"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RFQ pack becomes costed lines</a:t>
            </a:r>
          </a:p>
        </p:txBody>
      </p:sp>
      <p:sp>
        <p:nvSpPr>
          <p:cNvPr id="26" name="TextBox 25"/>
          <p:cNvSpPr txBox="1"/>
          <p:nvPr/>
        </p:nvSpPr>
        <p:spPr>
          <a:xfrm>
            <a:off x="8348472"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The tool pulls the line items out of the pack, costs each one, ranks them by money and drafts the negotiation brief.</a:t>
            </a:r>
          </a:p>
        </p:txBody>
      </p:sp>
      <p:sp>
        <p:nvSpPr>
          <p:cNvPr id="27" name="Rounded Rectangle 26"/>
          <p:cNvSpPr/>
          <p:nvPr/>
        </p:nvSpPr>
        <p:spPr>
          <a:xfrm>
            <a:off x="411480"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9224"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person.png"/>
          <p:cNvPicPr>
            <a:picLocks noChangeAspect="1"/>
          </p:cNvPicPr>
          <p:nvPr/>
        </p:nvPicPr>
        <p:blipFill>
          <a:blip r:embed="rId5"/>
          <a:stretch>
            <a:fillRect/>
          </a:stretch>
        </p:blipFill>
        <p:spPr>
          <a:xfrm>
            <a:off x="791870" y="4175150"/>
            <a:ext cx="263348" cy="263348"/>
          </a:xfrm>
          <a:prstGeom prst="rect">
            <a:avLst/>
          </a:prstGeom>
        </p:spPr>
      </p:pic>
      <p:sp>
        <p:nvSpPr>
          <p:cNvPr id="31" name="TextBox 30"/>
          <p:cNvSpPr txBox="1"/>
          <p:nvPr/>
        </p:nvSpPr>
        <p:spPr>
          <a:xfrm>
            <a:off x="649224"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assistant does the setting up</a:t>
            </a:r>
          </a:p>
        </p:txBody>
      </p:sp>
      <p:sp>
        <p:nvSpPr>
          <p:cNvPr id="32" name="TextBox 31"/>
          <p:cNvSpPr txBox="1"/>
          <p:nvPr/>
        </p:nvSpPr>
        <p:spPr>
          <a:xfrm>
            <a:off x="649224"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picks the process route and the machine and fills in what the geometry gives, then asks one question instead of a hundred.</a:t>
            </a:r>
          </a:p>
        </p:txBody>
      </p:sp>
      <p:sp>
        <p:nvSpPr>
          <p:cNvPr id="33" name="Rounded Rectangle 32"/>
          <p:cNvSpPr/>
          <p:nvPr/>
        </p:nvSpPr>
        <p:spPr>
          <a:xfrm>
            <a:off x="4261104"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1104"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498848"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oins.png"/>
          <p:cNvPicPr>
            <a:picLocks noChangeAspect="1"/>
          </p:cNvPicPr>
          <p:nvPr/>
        </p:nvPicPr>
        <p:blipFill>
          <a:blip r:embed="rId6"/>
          <a:stretch>
            <a:fillRect/>
          </a:stretch>
        </p:blipFill>
        <p:spPr>
          <a:xfrm>
            <a:off x="4641494" y="4175150"/>
            <a:ext cx="263348" cy="263348"/>
          </a:xfrm>
          <a:prstGeom prst="rect">
            <a:avLst/>
          </a:prstGeom>
        </p:spPr>
      </p:pic>
      <p:sp>
        <p:nvSpPr>
          <p:cNvPr id="37" name="TextBox 36"/>
          <p:cNvSpPr txBox="1"/>
          <p:nvPr/>
        </p:nvSpPr>
        <p:spPr>
          <a:xfrm>
            <a:off x="4498848"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Supplier quotes taken apart</a:t>
            </a:r>
          </a:p>
        </p:txBody>
      </p:sp>
      <p:sp>
        <p:nvSpPr>
          <p:cNvPr id="38" name="TextBox 37"/>
          <p:cNvSpPr txBox="1"/>
          <p:nvPr/>
        </p:nvSpPr>
        <p:spPr>
          <a:xfrm>
            <a:off x="4498848"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Put their price next to our own build-up and see which part of it the gap is in, with the questions to put to them.</a:t>
            </a:r>
          </a:p>
        </p:txBody>
      </p:sp>
      <p:sp>
        <p:nvSpPr>
          <p:cNvPr id="39" name="Rounded Rectangle 38"/>
          <p:cNvSpPr/>
          <p:nvPr/>
        </p:nvSpPr>
        <p:spPr>
          <a:xfrm>
            <a:off x="8110728"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0728"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348472"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press.png"/>
          <p:cNvPicPr>
            <a:picLocks noChangeAspect="1"/>
          </p:cNvPicPr>
          <p:nvPr/>
        </p:nvPicPr>
        <p:blipFill>
          <a:blip r:embed="rId7"/>
          <a:stretch>
            <a:fillRect/>
          </a:stretch>
        </p:blipFill>
        <p:spPr>
          <a:xfrm>
            <a:off x="8491118" y="4175150"/>
            <a:ext cx="263348" cy="263348"/>
          </a:xfrm>
          <a:prstGeom prst="rect">
            <a:avLst/>
          </a:prstGeom>
        </p:spPr>
      </p:pic>
      <p:sp>
        <p:nvSpPr>
          <p:cNvPr id="43" name="TextBox 42"/>
          <p:cNvSpPr txBox="1"/>
          <p:nvPr/>
        </p:nvSpPr>
        <p:spPr>
          <a:xfrm>
            <a:off x="8348472"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Design changes priced, not guessed</a:t>
            </a:r>
          </a:p>
        </p:txBody>
      </p:sp>
      <p:sp>
        <p:nvSpPr>
          <p:cNvPr id="44" name="TextBox 43"/>
          <p:cNvSpPr txBox="1"/>
          <p:nvPr/>
        </p:nvSpPr>
        <p:spPr>
          <a:xfrm>
            <a:off x="8348472"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flags what makes a part expensive and puts a number on each change, ranked by the money it would save.</a:t>
            </a:r>
          </a:p>
        </p:txBody>
      </p:sp>
      <p:sp>
        <p:nvSpPr>
          <p:cNvPr id="45" name="Rounded Rectangle 44"/>
          <p:cNvSpPr/>
          <p:nvPr/>
        </p:nvSpPr>
        <p:spPr>
          <a:xfrm>
            <a:off x="411480" y="5779008"/>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1480" y="577900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89788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All six end in the same engine</a:t>
            </a:r>
          </a:p>
        </p:txBody>
      </p:sp>
      <p:sp>
        <p:nvSpPr>
          <p:cNvPr id="48" name="TextBox 47"/>
          <p:cNvSpPr txBox="1"/>
          <p:nvPr/>
        </p:nvSpPr>
        <p:spPr>
          <a:xfrm>
            <a:off x="630936" y="6181344"/>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AI reads, sorts and sets up — the photo, the pack, the drawing, the process route. It never sets a price. The money is worked out by the same fixed rules and the same rate book we use today, so every number can still be explained line by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BENEFITS</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get from each</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Stated in kind, not in pounds. Slide 1 turns these into hours once we fill in our own four numbers.</a:t>
            </a:r>
          </a:p>
        </p:txBody>
      </p:sp>
      <p:sp>
        <p:nvSpPr>
          <p:cNvPr id="9" name="Rounded Rectangle 8"/>
          <p:cNvSpPr/>
          <p:nvPr/>
        </p:nvSpPr>
        <p:spPr>
          <a:xfrm>
            <a:off x="411480" y="1810512"/>
            <a:ext cx="361188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68580" cy="4297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38528"/>
            <a:ext cx="324612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input into CAPEE</a:t>
            </a:r>
          </a:p>
        </p:txBody>
      </p:sp>
      <p:sp>
        <p:nvSpPr>
          <p:cNvPr id="12" name="TextBox 11"/>
          <p:cNvSpPr txBox="1"/>
          <p:nvPr/>
        </p:nvSpPr>
        <p:spPr>
          <a:xfrm>
            <a:off x="612648" y="2249424"/>
            <a:ext cx="3246120"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1D6FB8"/>
                </a:solidFill>
                <a:latin typeface="Calibri"/>
              </a:rPr>
              <a:t>The typing goes</a:t>
            </a:r>
          </a:p>
          <a:p>
            <a:pPr algn="l">
              <a:lnSpc>
                <a:spcPct val="112000"/>
              </a:lnSpc>
              <a:spcAft>
                <a:spcPts val="300"/>
              </a:spcAft>
            </a:pPr>
            <a:r>
              <a:rPr sz="1050" b="0" i="0">
                <a:solidFill>
                  <a:srgbClr val="3A4356"/>
                </a:solidFill>
                <a:latin typeface="Calibri"/>
              </a:rPr>
              <a:t>Between 12 and 69 values per part.</a:t>
            </a:r>
          </a:p>
          <a:p>
            <a:pPr algn="l">
              <a:lnSpc>
                <a:spcPct val="112000"/>
              </a:lnSpc>
              <a:spcAft>
                <a:spcPts val="300"/>
              </a:spcAft>
            </a:pPr>
            <a:r>
              <a:rPr sz="1050" b="1" i="0">
                <a:solidFill>
                  <a:srgbClr val="1D6FB8"/>
                </a:solidFill>
                <a:latin typeface="Calibri"/>
              </a:rPr>
              <a:t>Nothing to mistype</a:t>
            </a:r>
          </a:p>
          <a:p>
            <a:pPr algn="l">
              <a:lnSpc>
                <a:spcPct val="112000"/>
              </a:lnSpc>
              <a:spcAft>
                <a:spcPts val="300"/>
              </a:spcAft>
            </a:pPr>
            <a:r>
              <a:rPr sz="1050" b="0" i="0">
                <a:solidFill>
                  <a:srgbClr val="3A4356"/>
                </a:solidFill>
                <a:latin typeface="Calibri"/>
              </a:rPr>
              <a:t>And nothing to re-check afterwards.</a:t>
            </a:r>
          </a:p>
          <a:p>
            <a:pPr algn="l">
              <a:lnSpc>
                <a:spcPct val="112000"/>
              </a:lnSpc>
              <a:spcAft>
                <a:spcPts val="300"/>
              </a:spcAft>
            </a:pPr>
            <a:r>
              <a:rPr sz="1050" b="1" i="0">
                <a:solidFill>
                  <a:srgbClr val="1D6FB8"/>
                </a:solidFill>
                <a:latin typeface="Calibri"/>
              </a:rPr>
              <a:t>The same answer every time</a:t>
            </a:r>
          </a:p>
          <a:p>
            <a:pPr algn="l">
              <a:lnSpc>
                <a:spcPct val="112000"/>
              </a:lnSpc>
              <a:spcAft>
                <a:spcPts val="300"/>
              </a:spcAft>
            </a:pPr>
            <a:r>
              <a:rPr sz="1050" b="0" i="0">
                <a:solidFill>
                  <a:srgbClr val="3A4356"/>
                </a:solidFill>
                <a:latin typeface="Calibri"/>
              </a:rPr>
              <a:t>One method, whoever costs the part.</a:t>
            </a:r>
          </a:p>
          <a:p>
            <a:pPr algn="l">
              <a:lnSpc>
                <a:spcPct val="112000"/>
              </a:lnSpc>
              <a:spcAft>
                <a:spcPts val="300"/>
              </a:spcAft>
            </a:pPr>
            <a:r>
              <a:rPr sz="1050" b="1" i="0">
                <a:solidFill>
                  <a:srgbClr val="1D6FB8"/>
                </a:solidFill>
                <a:latin typeface="Calibri"/>
              </a:rPr>
              <a:t>A re-cost is nearly free</a:t>
            </a:r>
          </a:p>
          <a:p>
            <a:pPr algn="l">
              <a:lnSpc>
                <a:spcPct val="112000"/>
              </a:lnSpc>
              <a:spcAft>
                <a:spcPts val="300"/>
              </a:spcAft>
            </a:pPr>
            <a:r>
              <a:rPr sz="1050" b="0" i="0">
                <a:solidFill>
                  <a:srgbClr val="3A4356"/>
                </a:solidFill>
                <a:latin typeface="Calibri"/>
              </a:rPr>
              <a:t>New volume or rates, no re-reading.</a:t>
            </a:r>
          </a:p>
          <a:p>
            <a:pPr algn="l">
              <a:lnSpc>
                <a:spcPct val="112000"/>
              </a:lnSpc>
              <a:spcAft>
                <a:spcPts val="300"/>
              </a:spcAft>
            </a:pPr>
            <a:r>
              <a:rPr sz="1050" b="1" i="0">
                <a:solidFill>
                  <a:srgbClr val="1D6FB8"/>
                </a:solidFill>
                <a:latin typeface="Calibri"/>
              </a:rPr>
              <a:t>The saving repeats on every part</a:t>
            </a:r>
          </a:p>
          <a:p>
            <a:pPr algn="l">
              <a:lnSpc>
                <a:spcPct val="112000"/>
              </a:lnSpc>
              <a:spcAft>
                <a:spcPts val="300"/>
              </a:spcAft>
            </a:pPr>
            <a:r>
              <a:rPr sz="1050" b="0" i="0">
                <a:solidFill>
                  <a:srgbClr val="3A4356"/>
                </a:solidFill>
                <a:latin typeface="Calibri"/>
              </a:rPr>
              <a:t>It grows with how many we cost.</a:t>
            </a:r>
          </a:p>
          <a:p>
            <a:pPr algn="l">
              <a:lnSpc>
                <a:spcPct val="112000"/>
              </a:lnSpc>
              <a:spcAft>
                <a:spcPts val="300"/>
              </a:spcAft>
            </a:pPr>
            <a:r>
              <a:rPr sz="1050" b="1" i="0">
                <a:solidFill>
                  <a:srgbClr val="1D6FB8"/>
                </a:solidFill>
                <a:latin typeface="Calibri"/>
              </a:rPr>
              <a:t>What is left is the judgement</a:t>
            </a:r>
          </a:p>
          <a:p>
            <a:pPr algn="l">
              <a:lnSpc>
                <a:spcPct val="112000"/>
              </a:lnSpc>
              <a:spcAft>
                <a:spcPts val="300"/>
              </a:spcAft>
            </a:pPr>
            <a:r>
              <a:rPr sz="1050" b="0" i="0">
                <a:solidFill>
                  <a:srgbClr val="3A4356"/>
                </a:solidFill>
                <a:latin typeface="Calibri"/>
              </a:rPr>
              <a:t>Material, tolerance, finish, heat</a:t>
            </a:r>
          </a:p>
          <a:p>
            <a:pPr algn="l">
              <a:lnSpc>
                <a:spcPct val="112000"/>
              </a:lnSpc>
              <a:spcAft>
                <a:spcPts val="300"/>
              </a:spcAft>
            </a:pPr>
            <a:r>
              <a:rPr sz="1050" b="0" i="0">
                <a:solidFill>
                  <a:srgbClr val="3A4356"/>
                </a:solidFill>
                <a:latin typeface="Calibri"/>
              </a:rPr>
              <a:t>treatment — the calls only we can make.</a:t>
            </a:r>
          </a:p>
          <a:p>
            <a:pPr algn="l">
              <a:lnSpc>
                <a:spcPct val="112000"/>
              </a:lnSpc>
              <a:spcAft>
                <a:spcPts val="300"/>
              </a:spcAft>
            </a:pPr>
            <a:r>
              <a:rPr sz="1050" b="1" i="0">
                <a:solidFill>
                  <a:srgbClr val="1D6FB8"/>
                </a:solidFill>
                <a:latin typeface="Calibri"/>
              </a:rPr>
              <a:t>It can start now</a:t>
            </a:r>
          </a:p>
          <a:p>
            <a:pPr algn="l">
              <a:lnSpc>
                <a:spcPct val="112000"/>
              </a:lnSpc>
              <a:spcAft>
                <a:spcPts val="300"/>
              </a:spcAft>
            </a:pPr>
            <a:r>
              <a:rPr sz="1050" b="0" i="0">
                <a:solidFill>
                  <a:srgbClr val="3A4356"/>
                </a:solidFill>
                <a:latin typeface="Calibri"/>
              </a:rPr>
              <a:t>No AI, so no approval to wait for.</a:t>
            </a:r>
          </a:p>
          <a:p>
            <a:pPr algn="l">
              <a:lnSpc>
                <a:spcPct val="112000"/>
              </a:lnSpc>
              <a:spcAft>
                <a:spcPts val="300"/>
              </a:spcAft>
            </a:pPr>
          </a:p>
          <a:p>
            <a:pPr algn="l">
              <a:lnSpc>
                <a:spcPct val="112000"/>
              </a:lnSpc>
              <a:spcAft>
                <a:spcPts val="300"/>
              </a:spcAft>
            </a:pPr>
            <a:r>
              <a:rPr sz="1050" b="1" i="0">
                <a:solidFill>
                  <a:srgbClr val="1D6FB8"/>
                </a:solidFill>
                <a:latin typeface="Calibri"/>
              </a:rPr>
              <a:t>Slide 1 turns this into hours.</a:t>
            </a:r>
          </a:p>
        </p:txBody>
      </p:sp>
      <p:sp>
        <p:nvSpPr>
          <p:cNvPr id="13" name="Rounded Rectangle 12"/>
          <p:cNvSpPr/>
          <p:nvPr/>
        </p:nvSpPr>
        <p:spPr>
          <a:xfrm>
            <a:off x="4233672" y="1810512"/>
            <a:ext cx="754380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810512"/>
            <a:ext cx="68580" cy="42976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938528"/>
            <a:ext cx="71780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CostVision end to end</a:t>
            </a:r>
          </a:p>
        </p:txBody>
      </p:sp>
      <p:sp>
        <p:nvSpPr>
          <p:cNvPr id="16" name="TextBox 15"/>
          <p:cNvSpPr txBox="1"/>
          <p:nvPr/>
        </p:nvSpPr>
        <p:spPr>
          <a:xfrm>
            <a:off x="4434840"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It runs on its own</a:t>
            </a:r>
          </a:p>
          <a:p>
            <a:pPr algn="l">
              <a:lnSpc>
                <a:spcPct val="112000"/>
              </a:lnSpc>
              <a:spcAft>
                <a:spcPts val="300"/>
              </a:spcAft>
            </a:pPr>
            <a:r>
              <a:rPr sz="1050" b="0" i="0">
                <a:solidFill>
                  <a:srgbClr val="3A4356"/>
                </a:solidFill>
                <a:latin typeface="Calibri"/>
              </a:rPr>
              <a:t>Parts go in, costed reports come out. A</a:t>
            </a:r>
          </a:p>
          <a:p>
            <a:pPr algn="l">
              <a:lnSpc>
                <a:spcPct val="112000"/>
              </a:lnSpc>
              <a:spcAft>
                <a:spcPts val="300"/>
              </a:spcAft>
            </a:pPr>
            <a:r>
              <a:rPr sz="1050" b="0" i="0">
                <a:solidFill>
                  <a:srgbClr val="3A4356"/>
                </a:solidFill>
                <a:latin typeface="Calibri"/>
              </a:rPr>
              <a:t>person answers only what the model cannot show.</a:t>
            </a:r>
          </a:p>
          <a:p>
            <a:pPr algn="l">
              <a:lnSpc>
                <a:spcPct val="112000"/>
              </a:lnSpc>
              <a:spcAft>
                <a:spcPts val="300"/>
              </a:spcAft>
            </a:pPr>
          </a:p>
          <a:p>
            <a:pPr algn="l">
              <a:lnSpc>
                <a:spcPct val="112000"/>
              </a:lnSpc>
              <a:spcAft>
                <a:spcPts val="300"/>
              </a:spcAft>
            </a:pPr>
            <a:r>
              <a:rPr sz="1050" b="1" i="0">
                <a:solidFill>
                  <a:srgbClr val="6B3FA0"/>
                </a:solidFill>
                <a:latin typeface="Calibri"/>
              </a:rPr>
              <a:t>The same method for everything we make</a:t>
            </a:r>
          </a:p>
          <a:p>
            <a:pPr algn="l">
              <a:lnSpc>
                <a:spcPct val="112000"/>
              </a:lnSpc>
              <a:spcAft>
                <a:spcPts val="300"/>
              </a:spcAft>
            </a:pPr>
            <a:r>
              <a:rPr sz="1050" b="0" i="0">
                <a:solidFill>
                  <a:srgbClr val="3A4356"/>
                </a:solidFill>
                <a:latin typeface="Calibri"/>
              </a:rPr>
              <a:t>Metal, plastic, rubber, composites,</a:t>
            </a:r>
          </a:p>
          <a:p>
            <a:pPr algn="l">
              <a:lnSpc>
                <a:spcPct val="112000"/>
              </a:lnSpc>
              <a:spcAft>
                <a:spcPts val="300"/>
              </a:spcAft>
            </a:pPr>
            <a:r>
              <a:rPr sz="1050" b="0" i="0">
                <a:solidFill>
                  <a:srgbClr val="3A4356"/>
                </a:solidFill>
                <a:latin typeface="Calibri"/>
              </a:rPr>
              <a:t>electronics and assemblies.</a:t>
            </a:r>
          </a:p>
          <a:p>
            <a:pPr algn="l">
              <a:lnSpc>
                <a:spcPct val="112000"/>
              </a:lnSpc>
              <a:spcAft>
                <a:spcPts val="300"/>
              </a:spcAft>
            </a:pPr>
          </a:p>
          <a:p>
            <a:pPr algn="l">
              <a:lnSpc>
                <a:spcPct val="112000"/>
              </a:lnSpc>
              <a:spcAft>
                <a:spcPts val="300"/>
              </a:spcAft>
            </a:pPr>
            <a:r>
              <a:rPr sz="1050" b="1" i="0">
                <a:solidFill>
                  <a:srgbClr val="6B3FA0"/>
                </a:solidFill>
                <a:latin typeface="Calibri"/>
              </a:rPr>
              <a:t>We can cost electronics</a:t>
            </a:r>
          </a:p>
          <a:p>
            <a:pPr algn="l">
              <a:lnSpc>
                <a:spcPct val="112000"/>
              </a:lnSpc>
              <a:spcAft>
                <a:spcPts val="300"/>
              </a:spcAft>
            </a:pPr>
            <a:r>
              <a:rPr sz="1050" b="0" i="0">
                <a:solidFill>
                  <a:srgbClr val="3A4356"/>
                </a:solidFill>
                <a:latin typeface="Calibri"/>
              </a:rPr>
              <a:t>A photo of a circuit board gives us the parts</a:t>
            </a:r>
          </a:p>
          <a:p>
            <a:pPr algn="l">
              <a:lnSpc>
                <a:spcPct val="112000"/>
              </a:lnSpc>
              <a:spcAft>
                <a:spcPts val="300"/>
              </a:spcAft>
            </a:pPr>
            <a:r>
              <a:rPr sz="1050" b="0" i="0">
                <a:solidFill>
                  <a:srgbClr val="3A4356"/>
                </a:solidFill>
                <a:latin typeface="Calibri"/>
              </a:rPr>
              <a:t>list, the board spec and a price.</a:t>
            </a:r>
          </a:p>
          <a:p>
            <a:pPr algn="l">
              <a:lnSpc>
                <a:spcPct val="112000"/>
              </a:lnSpc>
              <a:spcAft>
                <a:spcPts val="300"/>
              </a:spcAft>
            </a:pPr>
          </a:p>
          <a:p>
            <a:pPr algn="l">
              <a:lnSpc>
                <a:spcPct val="112000"/>
              </a:lnSpc>
              <a:spcAft>
                <a:spcPts val="300"/>
              </a:spcAft>
            </a:pPr>
            <a:r>
              <a:rPr sz="1050" b="1" i="0">
                <a:solidFill>
                  <a:srgbClr val="6B3FA0"/>
                </a:solidFill>
                <a:latin typeface="Calibri"/>
              </a:rPr>
              <a:t>Software costed too</a:t>
            </a:r>
          </a:p>
          <a:p>
            <a:pPr algn="l">
              <a:lnSpc>
                <a:spcPct val="112000"/>
              </a:lnSpc>
              <a:spcAft>
                <a:spcPts val="300"/>
              </a:spcAft>
            </a:pPr>
            <a:r>
              <a:rPr sz="1050" b="0" i="0">
                <a:solidFill>
                  <a:srgbClr val="3A4356"/>
                </a:solidFill>
                <a:latin typeface="Calibri"/>
              </a:rPr>
              <a:t>43 modules, from powertrain and driver</a:t>
            </a:r>
          </a:p>
          <a:p>
            <a:pPr algn="l">
              <a:lnSpc>
                <a:spcPct val="112000"/>
              </a:lnSpc>
              <a:spcAft>
                <a:spcPts val="300"/>
              </a:spcAft>
            </a:pPr>
            <a:r>
              <a:rPr sz="1050" b="0" i="0">
                <a:solidFill>
                  <a:srgbClr val="3A4356"/>
                </a:solidFill>
                <a:latin typeface="Calibri"/>
              </a:rPr>
              <a:t>assistance through to cloud.</a:t>
            </a:r>
          </a:p>
        </p:txBody>
      </p:sp>
      <p:sp>
        <p:nvSpPr>
          <p:cNvPr id="17" name="TextBox 16"/>
          <p:cNvSpPr txBox="1"/>
          <p:nvPr/>
        </p:nvSpPr>
        <p:spPr>
          <a:xfrm>
            <a:off x="8087868"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Where a supplier price differs</a:t>
            </a:r>
          </a:p>
          <a:p>
            <a:pPr algn="l">
              <a:lnSpc>
                <a:spcPct val="112000"/>
              </a:lnSpc>
              <a:spcAft>
                <a:spcPts val="300"/>
              </a:spcAft>
            </a:pPr>
            <a:r>
              <a:rPr sz="1050" b="0" i="0">
                <a:solidFill>
                  <a:srgbClr val="3A4356"/>
                </a:solidFill>
                <a:latin typeface="Calibri"/>
              </a:rPr>
              <a:t>Their price next to our build-up, with the gap</a:t>
            </a:r>
          </a:p>
          <a:p>
            <a:pPr algn="l">
              <a:lnSpc>
                <a:spcPct val="112000"/>
              </a:lnSpc>
              <a:spcAft>
                <a:spcPts val="300"/>
              </a:spcAft>
            </a:pPr>
            <a:r>
              <a:rPr sz="1050" b="0" i="0">
                <a:solidFill>
                  <a:srgbClr val="3A4356"/>
                </a:solidFill>
                <a:latin typeface="Calibri"/>
              </a:rPr>
              <a:t>shown in each part of the cost.</a:t>
            </a:r>
          </a:p>
          <a:p>
            <a:pPr algn="l">
              <a:lnSpc>
                <a:spcPct val="112000"/>
              </a:lnSpc>
              <a:spcAft>
                <a:spcPts val="300"/>
              </a:spcAft>
            </a:pPr>
          </a:p>
          <a:p>
            <a:pPr algn="l">
              <a:lnSpc>
                <a:spcPct val="112000"/>
              </a:lnSpc>
              <a:spcAft>
                <a:spcPts val="300"/>
              </a:spcAft>
            </a:pPr>
            <a:r>
              <a:rPr sz="1050" b="1" i="0">
                <a:solidFill>
                  <a:srgbClr val="6B3FA0"/>
                </a:solidFill>
                <a:latin typeface="Calibri"/>
              </a:rPr>
              <a:t>And what to do about it</a:t>
            </a:r>
          </a:p>
          <a:p>
            <a:pPr algn="l">
              <a:lnSpc>
                <a:spcPct val="112000"/>
              </a:lnSpc>
              <a:spcAft>
                <a:spcPts val="300"/>
              </a:spcAft>
            </a:pPr>
            <a:r>
              <a:rPr sz="1050" b="0" i="0">
                <a:solidFill>
                  <a:srgbClr val="3A4356"/>
                </a:solidFill>
                <a:latin typeface="Calibri"/>
              </a:rPr>
              <a:t>What to go after, what to ask them, and what</a:t>
            </a:r>
          </a:p>
          <a:p>
            <a:pPr algn="l">
              <a:lnSpc>
                <a:spcPct val="112000"/>
              </a:lnSpc>
              <a:spcAft>
                <a:spcPts val="300"/>
              </a:spcAft>
            </a:pPr>
            <a:r>
              <a:rPr sz="1050" b="0" i="0">
                <a:solidFill>
                  <a:srgbClr val="3A4356"/>
                </a:solidFill>
                <a:latin typeface="Calibri"/>
              </a:rPr>
              <a:t>it is worth over a year.</a:t>
            </a:r>
          </a:p>
          <a:p>
            <a:pPr algn="l">
              <a:lnSpc>
                <a:spcPct val="112000"/>
              </a:lnSpc>
              <a:spcAft>
                <a:spcPts val="300"/>
              </a:spcAft>
            </a:pPr>
          </a:p>
          <a:p>
            <a:pPr algn="l">
              <a:lnSpc>
                <a:spcPct val="112000"/>
              </a:lnSpc>
              <a:spcAft>
                <a:spcPts val="300"/>
              </a:spcAft>
            </a:pPr>
            <a:r>
              <a:rPr sz="1050" b="1" i="0">
                <a:solidFill>
                  <a:srgbClr val="6B3FA0"/>
                </a:solidFill>
                <a:latin typeface="Calibri"/>
              </a:rPr>
              <a:t>A whole RFQ pack costed</a:t>
            </a:r>
          </a:p>
          <a:p>
            <a:pPr algn="l">
              <a:lnSpc>
                <a:spcPct val="112000"/>
              </a:lnSpc>
              <a:spcAft>
                <a:spcPts val="300"/>
              </a:spcAft>
            </a:pPr>
            <a:r>
              <a:rPr sz="1050" b="0" i="0">
                <a:solidFill>
                  <a:srgbClr val="3A4356"/>
                </a:solidFill>
                <a:latin typeface="Calibri"/>
              </a:rPr>
              <a:t>The line items are pulled out, priced and put</a:t>
            </a:r>
          </a:p>
          <a:p>
            <a:pPr algn="l">
              <a:lnSpc>
                <a:spcPct val="112000"/>
              </a:lnSpc>
              <a:spcAft>
                <a:spcPts val="300"/>
              </a:spcAft>
            </a:pPr>
            <a:r>
              <a:rPr sz="1050" b="0" i="0">
                <a:solidFill>
                  <a:srgbClr val="3A4356"/>
                </a:solidFill>
                <a:latin typeface="Calibri"/>
              </a:rPr>
              <a:t>in order of money.</a:t>
            </a:r>
          </a:p>
          <a:p>
            <a:pPr algn="l">
              <a:lnSpc>
                <a:spcPct val="112000"/>
              </a:lnSpc>
              <a:spcAft>
                <a:spcPts val="300"/>
              </a:spcAft>
            </a:pPr>
          </a:p>
          <a:p>
            <a:pPr algn="l">
              <a:lnSpc>
                <a:spcPct val="112000"/>
              </a:lnSpc>
              <a:spcAft>
                <a:spcPts val="300"/>
              </a:spcAft>
            </a:pPr>
            <a:r>
              <a:rPr sz="1050" b="1" i="0">
                <a:solidFill>
                  <a:srgbClr val="6B3FA0"/>
                </a:solidFill>
                <a:latin typeface="Calibri"/>
              </a:rPr>
              <a:t>Design changes with a price on them</a:t>
            </a:r>
          </a:p>
          <a:p>
            <a:pPr algn="l">
              <a:lnSpc>
                <a:spcPct val="112000"/>
              </a:lnSpc>
              <a:spcAft>
                <a:spcPts val="300"/>
              </a:spcAft>
            </a:pPr>
            <a:r>
              <a:rPr sz="1050" b="0" i="0">
                <a:solidFill>
                  <a:srgbClr val="3A4356"/>
                </a:solidFill>
                <a:latin typeface="Calibri"/>
              </a:rPr>
              <a:t>What makes the part expensive, and what</a:t>
            </a:r>
          </a:p>
          <a:p>
            <a:pPr algn="l">
              <a:lnSpc>
                <a:spcPct val="112000"/>
              </a:lnSpc>
              <a:spcAft>
                <a:spcPts val="300"/>
              </a:spcAft>
            </a:pPr>
            <a:r>
              <a:rPr sz="1050" b="0" i="0">
                <a:solidFill>
                  <a:srgbClr val="3A4356"/>
                </a:solidFill>
                <a:latin typeface="Calibri"/>
              </a:rPr>
              <a:t>each change would save.</a:t>
            </a:r>
          </a:p>
        </p:txBody>
      </p:sp>
      <p:sp>
        <p:nvSpPr>
          <p:cNvPr id="18" name="Rounded Rectangle 17"/>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6163056"/>
            <a:ext cx="68580" cy="6035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two build on each other</a:t>
            </a:r>
          </a:p>
        </p:txBody>
      </p:sp>
      <p:sp>
        <p:nvSpPr>
          <p:cNvPr id="21" name="TextBox 20"/>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1's benefits arrive first and are kept when Option 2 lands; Option 2's rest on the accuracy figure Option 1 produces.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8" name="Rounded Rectangle 7"/>
          <p:cNvSpPr/>
          <p:nvPr/>
        </p:nvSpPr>
        <p:spPr>
          <a:xfrm>
            <a:off x="411480"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572768"/>
            <a:ext cx="68580" cy="9601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a decision today</a:t>
            </a:r>
          </a:p>
        </p:txBody>
      </p:sp>
      <p:sp>
        <p:nvSpPr>
          <p:cNvPr id="11" name="TextBox 10"/>
          <p:cNvSpPr txBox="1"/>
          <p:nvPr/>
        </p:nvSpPr>
        <p:spPr>
          <a:xfrm>
            <a:off x="612648"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Approve the trial. One commodity, 30 to 50 parts we have</a:t>
            </a:r>
          </a:p>
          <a:p>
            <a:pPr algn="l">
              <a:lnSpc>
                <a:spcPct val="112000"/>
              </a:lnSpc>
              <a:spcAft>
                <a:spcPts val="300"/>
              </a:spcAft>
            </a:pPr>
            <a:r>
              <a:rPr sz="1050" b="0" i="0">
                <a:solidFill>
                  <a:srgbClr val="3A4356"/>
                </a:solidFill>
                <a:latin typeface="Calibri"/>
              </a:rPr>
              <a:t>already bought, inside CAPEE.</a:t>
            </a:r>
          </a:p>
        </p:txBody>
      </p:sp>
      <p:sp>
        <p:nvSpPr>
          <p:cNvPr id="12" name="Rounded Rectangle 11"/>
          <p:cNvSpPr/>
          <p:nvPr/>
        </p:nvSpPr>
        <p:spPr>
          <a:xfrm>
            <a:off x="6199632"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572768"/>
            <a:ext cx="68580"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no decision today</a:t>
            </a:r>
          </a:p>
        </p:txBody>
      </p:sp>
      <p:sp>
        <p:nvSpPr>
          <p:cNvPr id="15" name="TextBox 14"/>
          <p:cNvSpPr txBox="1"/>
          <p:nvPr/>
        </p:nvSpPr>
        <p:spPr>
          <a:xfrm>
            <a:off x="6400800"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Start the AI approval in parallel, so it is not the thing</a:t>
            </a:r>
          </a:p>
          <a:p>
            <a:pPr algn="l">
              <a:lnSpc>
                <a:spcPct val="112000"/>
              </a:lnSpc>
              <a:spcAft>
                <a:spcPts val="300"/>
              </a:spcAft>
            </a:pPr>
            <a:r>
              <a:rPr sz="1050" b="0" i="0">
                <a:solidFill>
                  <a:srgbClr val="3A4356"/>
                </a:solidFill>
                <a:latin typeface="Calibri"/>
              </a:rPr>
              <a:t>holding us up when the trial finishes.</a:t>
            </a:r>
          </a:p>
        </p:txBody>
      </p:sp>
      <p:sp>
        <p:nvSpPr>
          <p:cNvPr id="16" name="Rounded Rectangle 15"/>
          <p:cNvSpPr/>
          <p:nvPr/>
        </p:nvSpPr>
        <p:spPr>
          <a:xfrm>
            <a:off x="411480"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642616"/>
            <a:ext cx="68580" cy="12070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19" name="TextBox 18"/>
          <p:cNvSpPr txBox="1"/>
          <p:nvPr/>
        </p:nvSpPr>
        <p:spPr>
          <a:xfrm>
            <a:off x="612648"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Linux server,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An engineer from the commodity team for the trial</a:t>
            </a:r>
          </a:p>
        </p:txBody>
      </p:sp>
      <p:sp>
        <p:nvSpPr>
          <p:cNvPr id="20" name="Rounded Rectangle 19"/>
          <p:cNvSpPr/>
          <p:nvPr/>
        </p:nvSpPr>
        <p:spPr>
          <a:xfrm>
            <a:off x="6199632"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2642616"/>
            <a:ext cx="68580" cy="120700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23" name="TextBox 22"/>
          <p:cNvSpPr txBox="1"/>
          <p:nvPr/>
        </p:nvSpPr>
        <p:spPr>
          <a:xfrm>
            <a:off x="6400800"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a:t>
            </a:r>
          </a:p>
          <a:p>
            <a:pPr algn="l">
              <a:lnSpc>
                <a:spcPct val="112000"/>
              </a:lnSpc>
              <a:spcAft>
                <a:spcPts val="300"/>
              </a:spcAft>
            </a:pPr>
            <a:r>
              <a:rPr sz="1050" b="0" i="0">
                <a:solidFill>
                  <a:srgbClr val="3A4356"/>
                </a:solidFill>
                <a:latin typeface="Calibri"/>
              </a:rPr>
              <a:t>Our own rate book loaded, with a change history</a:t>
            </a:r>
          </a:p>
          <a:p>
            <a:pPr algn="l">
              <a:lnSpc>
                <a:spcPct val="112000"/>
              </a:lnSpc>
              <a:spcAft>
                <a:spcPts val="300"/>
              </a:spcAft>
            </a:pPr>
            <a:r>
              <a:rPr sz="1050" b="0" i="0">
                <a:solidFill>
                  <a:srgbClr val="3A4356"/>
                </a:solidFill>
                <a:latin typeface="Calibri"/>
              </a:rPr>
              <a:t>A record of every costing, and the run itself built</a:t>
            </a:r>
          </a:p>
        </p:txBody>
      </p:sp>
      <p:sp>
        <p:nvSpPr>
          <p:cNvPr id="24" name="Rounded Rectangle 23"/>
          <p:cNvSpPr/>
          <p:nvPr/>
        </p:nvSpPr>
        <p:spPr>
          <a:xfrm>
            <a:off x="411480" y="3959352"/>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959352"/>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40782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the trial gives us</a:t>
            </a:r>
          </a:p>
        </p:txBody>
      </p:sp>
      <p:sp>
        <p:nvSpPr>
          <p:cNvPr id="27" name="TextBox 26"/>
          <p:cNvSpPr txBox="1"/>
          <p:nvPr/>
        </p:nvSpPr>
        <p:spPr>
          <a:xfrm>
            <a:off x="630936" y="4361688"/>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two numbers nobody in this company can state today: how close the tool gets to a price we actually paid, and how much of the input it fills on its own. Until we have them there is no honest conversation to be had about Option 2.</a:t>
            </a:r>
          </a:p>
        </p:txBody>
      </p:sp>
      <p:sp>
        <p:nvSpPr>
          <p:cNvPr id="28" name="Rounded Rectangle 27"/>
          <p:cNvSpPr/>
          <p:nvPr/>
        </p:nvSpPr>
        <p:spPr>
          <a:xfrm>
            <a:off x="411480" y="4901184"/>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4901184"/>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5038344"/>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1D6FB8"/>
                </a:solidFill>
                <a:latin typeface="Calibri"/>
              </a:rPr>
              <a:t>The rule that does not bend</a:t>
            </a:r>
          </a:p>
        </p:txBody>
      </p:sp>
      <p:sp>
        <p:nvSpPr>
          <p:cNvPr id="31" name="TextBox 30"/>
          <p:cNvSpPr txBox="1"/>
          <p:nvPr/>
        </p:nvSpPr>
        <p:spPr>
          <a:xfrm>
            <a:off x="3429000" y="5038344"/>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AI reads, sorts and sets up. It never sets a price — the money comes from the same fixed rules we use today.</a:t>
            </a:r>
          </a:p>
        </p:txBody>
      </p:sp>
      <p:sp>
        <p:nvSpPr>
          <p:cNvPr id="32" name="Rounded Rectangle 31"/>
          <p:cNvSpPr/>
          <p:nvPr/>
        </p:nvSpPr>
        <p:spPr>
          <a:xfrm>
            <a:off x="411480" y="5468112"/>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468112"/>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 y="5605272"/>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If the trial disappoints</a:t>
            </a:r>
          </a:p>
        </p:txBody>
      </p:sp>
      <p:sp>
        <p:nvSpPr>
          <p:cNvPr id="35" name="TextBox 34"/>
          <p:cNvSpPr txBox="1"/>
          <p:nvPr/>
        </p:nvSpPr>
        <p:spPr>
          <a:xfrm>
            <a:off x="3429000" y="5605272"/>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Never checked against a price JLR has paid. If the answer is poor we stop, having spent only our own time.</a:t>
            </a:r>
          </a:p>
        </p:txBody>
      </p:sp>
      <p:sp>
        <p:nvSpPr>
          <p:cNvPr id="36" name="Rounded Rectangle 35"/>
          <p:cNvSpPr/>
          <p:nvPr/>
        </p:nvSpPr>
        <p:spPr>
          <a:xfrm>
            <a:off x="411480" y="6035040"/>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11480" y="6035040"/>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6172200"/>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Nobody has sized this yet</a:t>
            </a:r>
          </a:p>
        </p:txBody>
      </p:sp>
      <p:sp>
        <p:nvSpPr>
          <p:cNvPr id="39" name="TextBox 38"/>
          <p:cNvSpPr txBox="1"/>
          <p:nvPr/>
        </p:nvSpPr>
        <p:spPr>
          <a:xfrm>
            <a:off x="3429000" y="6172200"/>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How long it takes waits on one answer from IT about how CAPEE is built. The sizing comes back with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