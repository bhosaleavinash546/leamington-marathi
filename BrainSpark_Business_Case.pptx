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164592"/>
            <a:ext cx="7315200" cy="219456"/>
          </a:xfrm>
          <a:prstGeom prst="rect">
            <a:avLst/>
          </a:prstGeom>
          <a:noFill/>
          <a:ln/>
        </p:spPr>
        <p:txBody>
          <a:bodyPr wrap="square" lIns="0" tIns="0" rIns="0" bIns="0" rtlCol="0" anchor="ctr"/>
          <a:lstStyle/>
          <a:p>
            <a:pPr indent="0" marL="0">
              <a:buNone/>
            </a:pPr>
            <a:r>
              <a:rPr lang="en-US" sz="850" spc="220" kern="0" dirty="0">
                <a:solidFill>
                  <a:srgbClr val="5B6570"/>
                </a:solidFill>
                <a:latin typeface="Arial" pitchFamily="34" charset="0"/>
                <a:ea typeface="Arial" pitchFamily="34" charset="-122"/>
                <a:cs typeface="Arial" pitchFamily="34" charset="-120"/>
              </a:rPr>
              <a:t>IDEA GENERATION BUSINESS CASE</a:t>
            </a:r>
            <a:endParaRPr lang="en-US" sz="850" dirty="0"/>
          </a:p>
        </p:txBody>
      </p:sp>
      <p:sp>
        <p:nvSpPr>
          <p:cNvPr id="3" name="Text 1"/>
          <p:cNvSpPr txBox="1"/>
          <p:nvPr/>
        </p:nvSpPr>
        <p:spPr>
          <a:xfrm>
            <a:off x="384048" y="402336"/>
            <a:ext cx="9601200" cy="347472"/>
          </a:xfrm>
          <a:prstGeom prst="rect">
            <a:avLst/>
          </a:prstGeom>
          <a:noFill/>
          <a:ln/>
        </p:spPr>
        <p:txBody>
          <a:bodyPr wrap="square" lIns="0" tIns="0" rIns="0" bIns="0" rtlCol="0" anchor="ctr"/>
          <a:lstStyle/>
          <a:p>
            <a:pPr indent="0" marL="0">
              <a:buNone/>
            </a:pPr>
            <a:r>
              <a:rPr lang="en-US" sz="1800" spc="140" kern="0" dirty="0">
                <a:solidFill>
                  <a:srgbClr val="1F2328"/>
                </a:solidFill>
                <a:latin typeface="Arial" pitchFamily="34" charset="0"/>
                <a:ea typeface="Arial" pitchFamily="34" charset="-122"/>
                <a:cs typeface="Arial" pitchFamily="34" charset="-120"/>
              </a:rPr>
              <a:t>BrainSpark  –  Cost Reduction Idea Generation</a:t>
            </a:r>
            <a:endParaRPr lang="en-US" sz="1800" dirty="0"/>
          </a:p>
        </p:txBody>
      </p:sp>
      <p:sp>
        <p:nvSpPr>
          <p:cNvPr id="4" name="Shape 2"/>
          <p:cNvSpPr/>
          <p:nvPr/>
        </p:nvSpPr>
        <p:spPr>
          <a:xfrm>
            <a:off x="228600" y="859536"/>
            <a:ext cx="5989320" cy="1508760"/>
          </a:xfrm>
          <a:prstGeom prst="roundRect">
            <a:avLst>
              <a:gd name="adj" fmla="val 5455"/>
            </a:avLst>
          </a:prstGeom>
          <a:solidFill>
            <a:srgbClr val="FBFCFD"/>
          </a:solidFill>
          <a:ln w="9525">
            <a:solidFill>
              <a:srgbClr val="C9D1D9"/>
            </a:solidFill>
            <a:prstDash val="solid"/>
          </a:ln>
        </p:spPr>
      </p:sp>
      <p:sp>
        <p:nvSpPr>
          <p:cNvPr id="5" name="Text 3"/>
          <p:cNvSpPr txBox="1"/>
          <p:nvPr/>
        </p:nvSpPr>
        <p:spPr>
          <a:xfrm>
            <a:off x="438912" y="950976"/>
            <a:ext cx="2377440" cy="219456"/>
          </a:xfrm>
          <a:prstGeom prst="rect">
            <a:avLst/>
          </a:prstGeom>
          <a:noFill/>
          <a:ln/>
        </p:spPr>
        <p:txBody>
          <a:bodyPr wrap="square" lIns="0" tIns="0" rIns="0" bIns="0" rtlCol="0" anchor="t"/>
          <a:lstStyle/>
          <a:p>
            <a:pPr indent="0" marL="0">
              <a:buNone/>
            </a:pPr>
            <a:r>
              <a:rPr lang="en-US" sz="1050" b="1" dirty="0">
                <a:solidFill>
                  <a:srgbClr val="1F2328"/>
                </a:solidFill>
                <a:latin typeface="Arial" pitchFamily="34" charset="0"/>
                <a:ea typeface="Arial" pitchFamily="34" charset="-122"/>
                <a:cs typeface="Arial" pitchFamily="34" charset="-120"/>
              </a:rPr>
              <a:t>Problem Statement</a:t>
            </a:r>
            <a:endParaRPr lang="en-US" sz="1050" dirty="0"/>
          </a:p>
        </p:txBody>
      </p:sp>
      <p:sp>
        <p:nvSpPr>
          <p:cNvPr id="6" name="Text 4"/>
          <p:cNvSpPr txBox="1"/>
          <p:nvPr/>
        </p:nvSpPr>
        <p:spPr>
          <a:xfrm>
            <a:off x="4983480" y="950976"/>
            <a:ext cx="457200" cy="219456"/>
          </a:xfrm>
          <a:prstGeom prst="rect">
            <a:avLst/>
          </a:prstGeom>
          <a:noFill/>
          <a:ln/>
        </p:spPr>
        <p:txBody>
          <a:bodyPr wrap="square" lIns="0" tIns="0" rIns="0" bIns="0" rtlCol="0" anchor="t"/>
          <a:lstStyle/>
          <a:p>
            <a:pPr indent="0" marL="0">
              <a:buNone/>
            </a:pPr>
            <a:r>
              <a:rPr lang="en-US" sz="1000" b="1" dirty="0">
                <a:solidFill>
                  <a:srgbClr val="1F2328"/>
                </a:solidFill>
                <a:latin typeface="Arial" pitchFamily="34" charset="0"/>
                <a:ea typeface="Arial" pitchFamily="34" charset="-122"/>
                <a:cs typeface="Arial" pitchFamily="34" charset="-120"/>
              </a:rPr>
              <a:t>PII:</a:t>
            </a:r>
            <a:endParaRPr lang="en-US" sz="1000" dirty="0"/>
          </a:p>
        </p:txBody>
      </p:sp>
      <p:sp>
        <p:nvSpPr>
          <p:cNvPr id="7" name="Shape 5"/>
          <p:cNvSpPr/>
          <p:nvPr/>
        </p:nvSpPr>
        <p:spPr>
          <a:xfrm>
            <a:off x="5413248" y="914400"/>
            <a:ext cx="219456" cy="219456"/>
          </a:xfrm>
          <a:prstGeom prst="rect">
            <a:avLst/>
          </a:prstGeom>
          <a:solidFill>
            <a:srgbClr val="FFFFFF"/>
          </a:solidFill>
          <a:ln w="15875">
            <a:solidFill>
              <a:srgbClr val="3A4046"/>
            </a:solidFill>
            <a:prstDash val="solid"/>
          </a:ln>
        </p:spPr>
      </p:sp>
      <p:sp>
        <p:nvSpPr>
          <p:cNvPr id="8" name="Text 6"/>
          <p:cNvSpPr txBox="1"/>
          <p:nvPr/>
        </p:nvSpPr>
        <p:spPr>
          <a:xfrm>
            <a:off x="438912" y="1207008"/>
            <a:ext cx="5568696" cy="1143000"/>
          </a:xfrm>
          <a:prstGeom prst="rect">
            <a:avLst/>
          </a:prstGeom>
          <a:noFill/>
          <a:ln/>
        </p:spPr>
        <p:txBody>
          <a:bodyPr wrap="square" lIns="0" tIns="0" rIns="0" bIns="0" rtlCol="0" anchor="t"/>
          <a:lstStyle/>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Cost reduction ideas come out of workshops. Setting one up takes weeks, and what comes out of it depends on who happened to be free that week.</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Most ideas arrive as a single line — "change the material", "delete the bracket". No process named, no grade, no tolerance and no number.</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Nobody knows whether an idea is worth 20p or £2 until someone costs it by hand.</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A programme has thousands of parts. A workshop gets through a few dozen, and whole commodities are skipped because nobody in the room knew them.</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The same ideas come round again on the next programme, because there is no record of what was already tried and what it turned out to be worth.</a:t>
            </a:r>
            <a:endParaRPr lang="en-US" sz="820" dirty="0"/>
          </a:p>
        </p:txBody>
      </p:sp>
      <p:sp>
        <p:nvSpPr>
          <p:cNvPr id="9" name="Shape 7"/>
          <p:cNvSpPr/>
          <p:nvPr/>
        </p:nvSpPr>
        <p:spPr>
          <a:xfrm>
            <a:off x="228600" y="2441448"/>
            <a:ext cx="5989320" cy="1627632"/>
          </a:xfrm>
          <a:prstGeom prst="roundRect">
            <a:avLst>
              <a:gd name="adj" fmla="val 5056"/>
            </a:avLst>
          </a:prstGeom>
          <a:solidFill>
            <a:srgbClr val="FBFCFD"/>
          </a:solidFill>
          <a:ln w="9525">
            <a:solidFill>
              <a:srgbClr val="C9D1D9"/>
            </a:solidFill>
            <a:prstDash val="solid"/>
          </a:ln>
        </p:spPr>
      </p:sp>
      <p:sp>
        <p:nvSpPr>
          <p:cNvPr id="10" name="Text 8"/>
          <p:cNvSpPr txBox="1"/>
          <p:nvPr/>
        </p:nvSpPr>
        <p:spPr>
          <a:xfrm>
            <a:off x="438912" y="2532888"/>
            <a:ext cx="2377440" cy="219456"/>
          </a:xfrm>
          <a:prstGeom prst="rect">
            <a:avLst/>
          </a:prstGeom>
          <a:noFill/>
          <a:ln/>
        </p:spPr>
        <p:txBody>
          <a:bodyPr wrap="square" lIns="0" tIns="0" rIns="0" bIns="0" rtlCol="0" anchor="t"/>
          <a:lstStyle/>
          <a:p>
            <a:pPr indent="0" marL="0">
              <a:buNone/>
            </a:pPr>
            <a:r>
              <a:rPr lang="en-US" sz="1050" b="1" dirty="0">
                <a:solidFill>
                  <a:srgbClr val="1F2328"/>
                </a:solidFill>
                <a:latin typeface="Arial" pitchFamily="34" charset="0"/>
                <a:ea typeface="Arial" pitchFamily="34" charset="-122"/>
                <a:cs typeface="Arial" pitchFamily="34" charset="-120"/>
              </a:rPr>
              <a:t>Current State</a:t>
            </a:r>
            <a:endParaRPr lang="en-US" sz="1050" dirty="0"/>
          </a:p>
        </p:txBody>
      </p:sp>
      <p:sp>
        <p:nvSpPr>
          <p:cNvPr id="11" name="Text 9"/>
          <p:cNvSpPr txBox="1"/>
          <p:nvPr/>
        </p:nvSpPr>
        <p:spPr>
          <a:xfrm>
            <a:off x="438912" y="2788920"/>
            <a:ext cx="5568696" cy="1261872"/>
          </a:xfrm>
          <a:prstGeom prst="rect">
            <a:avLst/>
          </a:prstGeom>
          <a:noFill/>
          <a:ln/>
        </p:spPr>
        <p:txBody>
          <a:bodyPr wrap="square" lIns="0" tIns="0" rIns="0" bIns="0" rtlCol="0" anchor="t"/>
          <a:lstStyle/>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One or two experienced engineers carry most of the idea generation. When they are on other work, or they leave, it stops.</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Before a workshop can run, someone spends days pulling together drawings, BOMs, current piece costs and benchmark data by hand.</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The workshop itself takes eight to fifteen people off the job for one or two days.</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Afterwards the organiser goes back to each person to ask what they actually meant, whether it can be done, and what it might save. Many never reply, and those ideas quietly die.</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Savings are a judgement call rather than a calculation, so Finance discounts them. The number that reaches the plan is never the number on the sheet.</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None of it is written down in a way the next programme can use, so the work is repeated.</a:t>
            </a:r>
            <a:endParaRPr lang="en-US" sz="820" dirty="0"/>
          </a:p>
        </p:txBody>
      </p:sp>
      <p:sp>
        <p:nvSpPr>
          <p:cNvPr id="12" name="Shape 10"/>
          <p:cNvSpPr/>
          <p:nvPr/>
        </p:nvSpPr>
        <p:spPr>
          <a:xfrm>
            <a:off x="228600" y="4142232"/>
            <a:ext cx="5989320" cy="2487168"/>
          </a:xfrm>
          <a:prstGeom prst="roundRect">
            <a:avLst>
              <a:gd name="adj" fmla="val 3309"/>
            </a:avLst>
          </a:prstGeom>
          <a:solidFill>
            <a:srgbClr val="FBFCFD"/>
          </a:solidFill>
          <a:ln w="9525">
            <a:solidFill>
              <a:srgbClr val="C9D1D9"/>
            </a:solidFill>
            <a:prstDash val="solid"/>
          </a:ln>
        </p:spPr>
      </p:sp>
      <p:sp>
        <p:nvSpPr>
          <p:cNvPr id="13" name="Text 11"/>
          <p:cNvSpPr txBox="1"/>
          <p:nvPr/>
        </p:nvSpPr>
        <p:spPr>
          <a:xfrm>
            <a:off x="438912" y="4233672"/>
            <a:ext cx="3108960" cy="219456"/>
          </a:xfrm>
          <a:prstGeom prst="rect">
            <a:avLst/>
          </a:prstGeom>
          <a:noFill/>
          <a:ln/>
        </p:spPr>
        <p:txBody>
          <a:bodyPr wrap="square" lIns="0" tIns="0" rIns="0" bIns="0" rtlCol="0" anchor="t"/>
          <a:lstStyle/>
          <a:p>
            <a:pPr indent="0" marL="0">
              <a:buNone/>
            </a:pPr>
            <a:r>
              <a:rPr lang="en-US" sz="1050" b="1" dirty="0">
                <a:solidFill>
                  <a:srgbClr val="1F2328"/>
                </a:solidFill>
                <a:latin typeface="Arial" pitchFamily="34" charset="0"/>
                <a:ea typeface="Arial" pitchFamily="34" charset="-122"/>
                <a:cs typeface="Arial" pitchFamily="34" charset="-120"/>
              </a:rPr>
              <a:t>Proposed Solution / Model</a:t>
            </a:r>
            <a:endParaRPr lang="en-US" sz="1050" dirty="0"/>
          </a:p>
        </p:txBody>
      </p:sp>
      <p:sp>
        <p:nvSpPr>
          <p:cNvPr id="14" name="Text 12"/>
          <p:cNvSpPr txBox="1"/>
          <p:nvPr/>
        </p:nvSpPr>
        <p:spPr>
          <a:xfrm>
            <a:off x="438912" y="4489704"/>
            <a:ext cx="5568696" cy="2112264"/>
          </a:xfrm>
          <a:prstGeom prst="rect">
            <a:avLst/>
          </a:prstGeom>
          <a:noFill/>
          <a:ln/>
        </p:spPr>
        <p:txBody>
          <a:bodyPr wrap="square" lIns="0" tIns="0" rIns="0" bIns="0" rtlCol="0" anchor="t"/>
          <a:lstStyle/>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Upload the 3D CAD and the 2D drawings for a part or an assembly. The geometry, material, tolerances and finishes are read from the files — nobody types them in.</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Should-Cost builds the piece price from the bottom up: material, cycle time, tooling and overhead. Every idea is then measured against that number instead of against an opinion.</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Prism takes one part and shows where its price really sits — what the design costs, what the specification costs, what the chosen process costs and what the sourcing location costs. That tells you which line of a supplier quote to argue with.</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DFM / DFA Studio reads the model and points out what will be awkward or expensive to make and assemble — thin walls, undercuts, missing draft, too many fasteners — while the design can still be changed.</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Innovation Studio and TRIZ Studio do the idea generation itself: eight structured value engineering methods, plus a method for breaking a cost-versus-performance trade-off rather than accepting it.</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Horizon looks a few years out, so a decision taken now is not overtaken by where the technology is going.</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Ideas come back at four levels — whole assembly, sub-assembly, single part, and the technology itself — each naming the change, the process, the material and what it saves per part, across every commodity from BIW and chassis to battery, interior and harness.</a:t>
            </a:r>
            <a:endParaRPr lang="en-US" sz="820" dirty="0"/>
          </a:p>
          <a:p>
            <a:pPr marL="342900" indent="-342900">
              <a:lnSpc>
                <a:spcPct val="95000"/>
              </a:lnSpc>
              <a:spcAft>
                <a:spcPts val="100"/>
              </a:spcAft>
              <a:buSzPct val="100000"/>
              <a:buChar char="•"/>
            </a:pPr>
            <a:r>
              <a:rPr lang="en-US" sz="820" dirty="0">
                <a:solidFill>
                  <a:srgbClr val="1F2328"/>
                </a:solidFill>
                <a:latin typeface="Arial" pitchFamily="34" charset="0"/>
                <a:ea typeface="Arial" pitchFamily="34" charset="-122"/>
                <a:cs typeface="Arial" pitchFamily="34" charset="-120"/>
              </a:rPr>
              <a:t>The AI writes the idea and the explanation. The saving is always calculated by the cost engine, and every idea says whether the engine confirmed it, contradicted it, or could not check it and why.</a:t>
            </a:r>
            <a:endParaRPr lang="en-US" sz="820" dirty="0"/>
          </a:p>
        </p:txBody>
      </p:sp>
      <p:sp>
        <p:nvSpPr>
          <p:cNvPr id="15" name="Shape 13"/>
          <p:cNvSpPr/>
          <p:nvPr/>
        </p:nvSpPr>
        <p:spPr>
          <a:xfrm>
            <a:off x="6355080" y="859536"/>
            <a:ext cx="2788920" cy="1508760"/>
          </a:xfrm>
          <a:prstGeom prst="roundRect">
            <a:avLst>
              <a:gd name="adj" fmla="val 5455"/>
            </a:avLst>
          </a:prstGeom>
          <a:solidFill>
            <a:srgbClr val="DCE7DC"/>
          </a:solidFill>
          <a:ln w="9525">
            <a:solidFill>
              <a:srgbClr val="B9CDB9"/>
            </a:solidFill>
            <a:prstDash val="solid"/>
          </a:ln>
        </p:spPr>
      </p:sp>
      <p:sp>
        <p:nvSpPr>
          <p:cNvPr id="16" name="Text 14"/>
          <p:cNvSpPr txBox="1"/>
          <p:nvPr/>
        </p:nvSpPr>
        <p:spPr>
          <a:xfrm>
            <a:off x="6537960" y="950976"/>
            <a:ext cx="2377440" cy="219456"/>
          </a:xfrm>
          <a:prstGeom prst="rect">
            <a:avLst/>
          </a:prstGeom>
          <a:noFill/>
          <a:ln/>
        </p:spPr>
        <p:txBody>
          <a:bodyPr wrap="square" lIns="0" tIns="0" rIns="0" bIns="0" rtlCol="0" anchor="t"/>
          <a:lstStyle/>
          <a:p>
            <a:pPr indent="0" marL="0">
              <a:buNone/>
            </a:pPr>
            <a:r>
              <a:rPr lang="en-US" sz="1050" b="1" dirty="0">
                <a:solidFill>
                  <a:srgbClr val="1F2328"/>
                </a:solidFill>
                <a:latin typeface="Arial" pitchFamily="34" charset="0"/>
                <a:ea typeface="Arial" pitchFamily="34" charset="-122"/>
                <a:cs typeface="Arial" pitchFamily="34" charset="-120"/>
              </a:rPr>
              <a:t>Projected ROI</a:t>
            </a:r>
            <a:endParaRPr lang="en-US" sz="1050" dirty="0"/>
          </a:p>
        </p:txBody>
      </p:sp>
      <p:sp>
        <p:nvSpPr>
          <p:cNvPr id="17" name="Text 15"/>
          <p:cNvSpPr txBox="1"/>
          <p:nvPr/>
        </p:nvSpPr>
        <p:spPr>
          <a:xfrm>
            <a:off x="6537960" y="1207008"/>
            <a:ext cx="2423160" cy="1060704"/>
          </a:xfrm>
          <a:prstGeom prst="rect">
            <a:avLst/>
          </a:prstGeom>
          <a:noFill/>
          <a:ln/>
        </p:spPr>
        <p:txBody>
          <a:bodyPr wrap="square" lIns="0" tIns="0" rIns="0" bIns="0" rtlCol="0" anchor="t"/>
          <a:lstStyle/>
          <a:p>
            <a:pPr indent="0" marL="0">
              <a:lnSpc>
                <a:spcPct val="94000"/>
              </a:lnSpc>
              <a:buNone/>
            </a:pPr>
            <a:r>
              <a:rPr lang="en-US" sz="950" dirty="0">
                <a:solidFill>
                  <a:srgbClr val="1F2328"/>
                </a:solidFill>
                <a:latin typeface="Arial" pitchFamily="34" charset="0"/>
                <a:ea typeface="Arial" pitchFamily="34" charset="-122"/>
                <a:cs typeface="Arial" pitchFamily="34" charset="-120"/>
              </a:rPr>
              <a:t>Cost: £</a:t>
            </a:r>
            <a:endParaRPr lang="en-US" sz="950" dirty="0"/>
          </a:p>
          <a:p>
            <a:pPr indent="0" marL="0">
              <a:lnSpc>
                <a:spcPct val="94000"/>
              </a:lnSpc>
              <a:buNone/>
            </a:pPr>
            <a:r>
              <a:rPr lang="en-US" sz="950" dirty="0">
                <a:solidFill>
                  <a:srgbClr val="1F2328"/>
                </a:solidFill>
                <a:latin typeface="Arial" pitchFamily="34" charset="0"/>
                <a:ea typeface="Arial" pitchFamily="34" charset="-122"/>
                <a:cs typeface="Arial" pitchFamily="34" charset="-120"/>
              </a:rPr>
              <a:t>Return:</a:t>
            </a:r>
            <a:endParaRPr lang="en-US" sz="950" dirty="0"/>
          </a:p>
          <a:p>
            <a:pPr indent="0" marL="0">
              <a:lnSpc>
                <a:spcPct val="94000"/>
              </a:lnSpc>
              <a:buNone/>
            </a:pPr>
            <a:r>
              <a:rPr lang="en-US" sz="950" dirty="0">
                <a:solidFill>
                  <a:srgbClr val="1F2328"/>
                </a:solidFill>
                <a:latin typeface="Arial" pitchFamily="34" charset="0"/>
                <a:ea typeface="Arial" pitchFamily="34" charset="-122"/>
                <a:cs typeface="Arial" pitchFamily="34" charset="-120"/>
              </a:rPr>
              <a:t>What is the return based on?</a:t>
            </a:r>
            <a:endParaRPr lang="en-US" sz="950" dirty="0"/>
          </a:p>
          <a:p>
            <a:pPr indent="0" marL="0">
              <a:lnSpc>
                <a:spcPct val="94000"/>
              </a:lnSpc>
              <a:buNone/>
            </a:pPr>
            <a:r>
              <a:rPr lang="en-US" sz="740" i="1" dirty="0">
                <a:solidFill>
                  <a:srgbClr val="5B6570"/>
                </a:solidFill>
                <a:latin typeface="Arial" pitchFamily="34" charset="0"/>
                <a:ea typeface="Arial" pitchFamily="34" charset="-122"/>
                <a:cs typeface="Arial" pitchFamily="34" charset="-120"/>
              </a:rPr>
              <a:t>Engineer hours released × loaded rate, plus the savings the engine confirms × annual volume.</a:t>
            </a:r>
            <a:endParaRPr lang="en-US" sz="950" dirty="0"/>
          </a:p>
        </p:txBody>
      </p:sp>
      <p:sp>
        <p:nvSpPr>
          <p:cNvPr id="18" name="Shape 16"/>
          <p:cNvSpPr/>
          <p:nvPr/>
        </p:nvSpPr>
        <p:spPr>
          <a:xfrm>
            <a:off x="6355080" y="2441448"/>
            <a:ext cx="2788920" cy="420624"/>
          </a:xfrm>
          <a:prstGeom prst="roundRect">
            <a:avLst>
              <a:gd name="adj" fmla="val 19565"/>
            </a:avLst>
          </a:prstGeom>
          <a:solidFill>
            <a:srgbClr val="DEE5F0"/>
          </a:solidFill>
          <a:ln w="9525">
            <a:solidFill>
              <a:srgbClr val="BCC8DC"/>
            </a:solidFill>
            <a:prstDash val="solid"/>
          </a:ln>
        </p:spPr>
      </p:sp>
      <p:sp>
        <p:nvSpPr>
          <p:cNvPr id="19" name="Text 17"/>
          <p:cNvSpPr txBox="1"/>
          <p:nvPr/>
        </p:nvSpPr>
        <p:spPr>
          <a:xfrm>
            <a:off x="6537960" y="2542032"/>
            <a:ext cx="2377440" cy="219456"/>
          </a:xfrm>
          <a:prstGeom prst="rect">
            <a:avLst/>
          </a:prstGeom>
          <a:noFill/>
          <a:ln/>
        </p:spPr>
        <p:txBody>
          <a:bodyPr wrap="square" lIns="0" tIns="0" rIns="0" bIns="0" rtlCol="0" anchor="t"/>
          <a:lstStyle/>
          <a:p>
            <a:pPr indent="0" marL="0">
              <a:buNone/>
            </a:pPr>
            <a:r>
              <a:rPr lang="en-US" sz="1050" b="1" dirty="0">
                <a:solidFill>
                  <a:srgbClr val="1F2328"/>
                </a:solidFill>
                <a:latin typeface="Arial" pitchFamily="34" charset="0"/>
                <a:ea typeface="Arial" pitchFamily="34" charset="-122"/>
                <a:cs typeface="Arial" pitchFamily="34" charset="-120"/>
              </a:rPr>
              <a:t>Time (hrs/week)</a:t>
            </a:r>
            <a:endParaRPr lang="en-US" sz="1050" dirty="0"/>
          </a:p>
        </p:txBody>
      </p:sp>
      <p:sp>
        <p:nvSpPr>
          <p:cNvPr id="20" name="Shape 18"/>
          <p:cNvSpPr/>
          <p:nvPr/>
        </p:nvSpPr>
        <p:spPr>
          <a:xfrm>
            <a:off x="6355080" y="2935224"/>
            <a:ext cx="2788920" cy="3694176"/>
          </a:xfrm>
          <a:prstGeom prst="roundRect">
            <a:avLst>
              <a:gd name="adj" fmla="val 2951"/>
            </a:avLst>
          </a:prstGeom>
          <a:solidFill>
            <a:srgbClr val="DCE7DC"/>
          </a:solidFill>
          <a:ln w="9525">
            <a:solidFill>
              <a:srgbClr val="B9CDB9"/>
            </a:solidFill>
            <a:prstDash val="solid"/>
          </a:ln>
        </p:spPr>
      </p:sp>
      <p:sp>
        <p:nvSpPr>
          <p:cNvPr id="21" name="Text 19"/>
          <p:cNvSpPr txBox="1"/>
          <p:nvPr/>
        </p:nvSpPr>
        <p:spPr>
          <a:xfrm>
            <a:off x="6537960" y="3026664"/>
            <a:ext cx="2377440" cy="219456"/>
          </a:xfrm>
          <a:prstGeom prst="rect">
            <a:avLst/>
          </a:prstGeom>
          <a:noFill/>
          <a:ln/>
        </p:spPr>
        <p:txBody>
          <a:bodyPr wrap="square" lIns="0" tIns="0" rIns="0" bIns="0" rtlCol="0" anchor="t"/>
          <a:lstStyle/>
          <a:p>
            <a:pPr indent="0" marL="0">
              <a:buNone/>
            </a:pPr>
            <a:r>
              <a:rPr lang="en-US" sz="1050" b="1" dirty="0">
                <a:solidFill>
                  <a:srgbClr val="1F2328"/>
                </a:solidFill>
                <a:latin typeface="Arial" pitchFamily="34" charset="0"/>
                <a:ea typeface="Arial" pitchFamily="34" charset="-122"/>
                <a:cs typeface="Arial" pitchFamily="34" charset="-120"/>
              </a:rPr>
              <a:t>Expected Benefits:</a:t>
            </a:r>
            <a:endParaRPr lang="en-US" sz="1050" dirty="0"/>
          </a:p>
        </p:txBody>
      </p:sp>
      <p:sp>
        <p:nvSpPr>
          <p:cNvPr id="22" name="Text 20"/>
          <p:cNvSpPr txBox="1"/>
          <p:nvPr/>
        </p:nvSpPr>
        <p:spPr>
          <a:xfrm>
            <a:off x="6537960" y="3300984"/>
            <a:ext cx="2423160" cy="3255264"/>
          </a:xfrm>
          <a:prstGeom prst="rect">
            <a:avLst/>
          </a:prstGeom>
          <a:noFill/>
          <a:ln/>
        </p:spPr>
        <p:txBody>
          <a:bodyPr wrap="square" lIns="0" tIns="0" rIns="0" bIns="0" rtlCol="0" anchor="t"/>
          <a:lstStyle/>
          <a:p>
            <a:pPr indent="0" marL="0">
              <a:lnSpc>
                <a:spcPct val="94000"/>
              </a:lnSpc>
              <a:buNone/>
            </a:pPr>
            <a:r>
              <a:rPr lang="en-US" sz="820" b="1" dirty="0">
                <a:solidFill>
                  <a:srgbClr val="1F2328"/>
                </a:solidFill>
                <a:latin typeface="Arial" pitchFamily="34" charset="0"/>
                <a:ea typeface="Arial" pitchFamily="34" charset="-122"/>
                <a:cs typeface="Arial" pitchFamily="34" charset="-120"/>
              </a:rPr>
              <a:t>More parts covered.  </a:t>
            </a:r>
            <a:pPr indent="0" marL="0">
              <a:lnSpc>
                <a:spcPct val="94000"/>
              </a:lnSpc>
              <a:spcAft>
                <a:spcPts val="600"/>
              </a:spcAft>
              <a:buNone/>
            </a:pPr>
            <a:r>
              <a:rPr lang="en-US" sz="820" dirty="0">
                <a:solidFill>
                  <a:srgbClr val="1F2328"/>
                </a:solidFill>
                <a:latin typeface="Arial" pitchFamily="34" charset="0"/>
                <a:ea typeface="Arial" pitchFamily="34" charset="-122"/>
                <a:cs typeface="Arial" pitchFamily="34" charset="-120"/>
              </a:rPr>
              <a:t>A programme has thousands of parts. This looks at all of them, not the few a workshop reaches.</a:t>
            </a:r>
            <a:endParaRPr lang="en-US" sz="820" dirty="0"/>
          </a:p>
          <a:p>
            <a:pPr indent="0" marL="0">
              <a:lnSpc>
                <a:spcPct val="94000"/>
              </a:lnSpc>
              <a:buNone/>
            </a:pPr>
            <a:r>
              <a:rPr lang="en-US" sz="820" b="1" dirty="0">
                <a:solidFill>
                  <a:srgbClr val="1F2328"/>
                </a:solidFill>
                <a:latin typeface="Arial" pitchFamily="34" charset="0"/>
                <a:ea typeface="Arial" pitchFamily="34" charset="-122"/>
                <a:cs typeface="Arial" pitchFamily="34" charset="-120"/>
              </a:rPr>
              <a:t>Much faster.  </a:t>
            </a:r>
            <a:pPr indent="0" marL="0">
              <a:lnSpc>
                <a:spcPct val="94000"/>
              </a:lnSpc>
              <a:spcAft>
                <a:spcPts val="600"/>
              </a:spcAft>
              <a:buNone/>
            </a:pPr>
            <a:r>
              <a:rPr lang="en-US" sz="820" dirty="0">
                <a:solidFill>
                  <a:srgbClr val="1F2328"/>
                </a:solidFill>
                <a:latin typeface="Arial" pitchFamily="34" charset="0"/>
                <a:ea typeface="Arial" pitchFamily="34" charset="-122"/>
                <a:cs typeface="Arial" pitchFamily="34" charset="-120"/>
              </a:rPr>
              <a:t>An idea arrives already written up and already costed, so there is nothing to chase afterwards.</a:t>
            </a:r>
            <a:endParaRPr lang="en-US" sz="820" dirty="0"/>
          </a:p>
          <a:p>
            <a:pPr indent="0" marL="0">
              <a:lnSpc>
                <a:spcPct val="94000"/>
              </a:lnSpc>
              <a:buNone/>
            </a:pPr>
            <a:r>
              <a:rPr lang="en-US" sz="820" b="1" dirty="0">
                <a:solidFill>
                  <a:srgbClr val="1F2328"/>
                </a:solidFill>
                <a:latin typeface="Arial" pitchFamily="34" charset="0"/>
                <a:ea typeface="Arial" pitchFamily="34" charset="-122"/>
                <a:cs typeface="Arial" pitchFamily="34" charset="-120"/>
              </a:rPr>
              <a:t>Better ideas.  </a:t>
            </a:r>
            <a:pPr indent="0" marL="0">
              <a:lnSpc>
                <a:spcPct val="94000"/>
              </a:lnSpc>
              <a:spcAft>
                <a:spcPts val="600"/>
              </a:spcAft>
              <a:buNone/>
            </a:pPr>
            <a:r>
              <a:rPr lang="en-US" sz="820" dirty="0">
                <a:solidFill>
                  <a:srgbClr val="1F2328"/>
                </a:solidFill>
                <a:latin typeface="Arial" pitchFamily="34" charset="0"/>
                <a:ea typeface="Arial" pitchFamily="34" charset="-122"/>
                <a:cs typeface="Arial" pitchFamily="34" charset="-120"/>
              </a:rPr>
              <a:t>Each one names the change, the process, the material and the saving per part.</a:t>
            </a:r>
            <a:endParaRPr lang="en-US" sz="820" dirty="0"/>
          </a:p>
          <a:p>
            <a:pPr indent="0" marL="0">
              <a:lnSpc>
                <a:spcPct val="94000"/>
              </a:lnSpc>
              <a:buNone/>
            </a:pPr>
            <a:r>
              <a:rPr lang="en-US" sz="820" b="1" dirty="0">
                <a:solidFill>
                  <a:srgbClr val="1F2328"/>
                </a:solidFill>
                <a:latin typeface="Arial" pitchFamily="34" charset="0"/>
                <a:ea typeface="Arial" pitchFamily="34" charset="-122"/>
                <a:cs typeface="Arial" pitchFamily="34" charset="-120"/>
              </a:rPr>
              <a:t>The same standard every time.  </a:t>
            </a:r>
            <a:pPr indent="0" marL="0">
              <a:lnSpc>
                <a:spcPct val="94000"/>
              </a:lnSpc>
              <a:spcAft>
                <a:spcPts val="600"/>
              </a:spcAft>
              <a:buNone/>
            </a:pPr>
            <a:r>
              <a:rPr lang="en-US" sz="820" dirty="0">
                <a:solidFill>
                  <a:srgbClr val="1F2328"/>
                </a:solidFill>
                <a:latin typeface="Arial" pitchFamily="34" charset="0"/>
                <a:ea typeface="Arial" pitchFamily="34" charset="-122"/>
                <a:cs typeface="Arial" pitchFamily="34" charset="-120"/>
              </a:rPr>
              <a:t>It does not depend on who was available that week.</a:t>
            </a:r>
            <a:endParaRPr lang="en-US" sz="820" dirty="0"/>
          </a:p>
          <a:p>
            <a:pPr indent="0" marL="0">
              <a:lnSpc>
                <a:spcPct val="94000"/>
              </a:lnSpc>
              <a:buNone/>
            </a:pPr>
            <a:r>
              <a:rPr lang="en-US" sz="820" b="1" dirty="0">
                <a:solidFill>
                  <a:srgbClr val="1F2328"/>
                </a:solidFill>
                <a:latin typeface="Arial" pitchFamily="34" charset="0"/>
                <a:ea typeface="Arial" pitchFamily="34" charset="-122"/>
                <a:cs typeface="Arial" pitchFamily="34" charset="-120"/>
              </a:rPr>
              <a:t>Numbers Finance can check.  </a:t>
            </a:r>
            <a:pPr indent="0" marL="0">
              <a:lnSpc>
                <a:spcPct val="94000"/>
              </a:lnSpc>
              <a:spcAft>
                <a:spcPts val="600"/>
              </a:spcAft>
              <a:buNone/>
            </a:pPr>
            <a:r>
              <a:rPr lang="en-US" sz="820" dirty="0">
                <a:solidFill>
                  <a:srgbClr val="1F2328"/>
                </a:solidFill>
                <a:latin typeface="Arial" pitchFamily="34" charset="0"/>
                <a:ea typeface="Arial" pitchFamily="34" charset="-122"/>
                <a:cs typeface="Arial" pitchFamily="34" charset="-120"/>
              </a:rPr>
              <a:t>Every saving is calculated and the working is shown, so less of it gets discounted.</a:t>
            </a:r>
            <a:endParaRPr lang="en-US" sz="820" dirty="0"/>
          </a:p>
          <a:p>
            <a:pPr indent="0" marL="0">
              <a:lnSpc>
                <a:spcPct val="94000"/>
              </a:lnSpc>
              <a:buNone/>
            </a:pPr>
            <a:r>
              <a:rPr lang="en-US" sz="820" b="1" dirty="0">
                <a:solidFill>
                  <a:srgbClr val="1F2328"/>
                </a:solidFill>
                <a:latin typeface="Arial" pitchFamily="34" charset="0"/>
                <a:ea typeface="Arial" pitchFamily="34" charset="-122"/>
                <a:cs typeface="Arial" pitchFamily="34" charset="-120"/>
              </a:rPr>
              <a:t>Nothing is lost.  </a:t>
            </a:r>
            <a:pPr indent="0" marL="0">
              <a:lnSpc>
                <a:spcPct val="94000"/>
              </a:lnSpc>
              <a:spcAft>
                <a:spcPts val="600"/>
              </a:spcAft>
              <a:buNone/>
            </a:pPr>
            <a:r>
              <a:rPr lang="en-US" sz="820" dirty="0">
                <a:solidFill>
                  <a:srgbClr val="1F2328"/>
                </a:solidFill>
                <a:latin typeface="Arial" pitchFamily="34" charset="0"/>
                <a:ea typeface="Arial" pitchFamily="34" charset="-122"/>
                <a:cs typeface="Arial" pitchFamily="34" charset="-120"/>
              </a:rPr>
              <a:t>Ideas, decisions and confirmed savings are kept and reused on the next programme.</a:t>
            </a:r>
            <a:endParaRPr lang="en-US" sz="820" dirty="0"/>
          </a:p>
          <a:p>
            <a:pPr indent="0" marL="0">
              <a:lnSpc>
                <a:spcPct val="94000"/>
              </a:lnSpc>
              <a:buNone/>
            </a:pPr>
            <a:r>
              <a:rPr lang="en-US" sz="820" b="1" dirty="0">
                <a:solidFill>
                  <a:srgbClr val="1F2328"/>
                </a:solidFill>
                <a:latin typeface="Arial" pitchFamily="34" charset="0"/>
                <a:ea typeface="Arial" pitchFamily="34" charset="-122"/>
                <a:cs typeface="Arial" pitchFamily="34" charset="-120"/>
              </a:rPr>
              <a:t>Better use of engineers.  </a:t>
            </a:r>
            <a:pPr indent="0" marL="0">
              <a:lnSpc>
                <a:spcPct val="94000"/>
              </a:lnSpc>
              <a:buNone/>
            </a:pPr>
            <a:r>
              <a:rPr lang="en-US" sz="820" dirty="0">
                <a:solidFill>
                  <a:srgbClr val="1F2328"/>
                </a:solidFill>
                <a:latin typeface="Arial" pitchFamily="34" charset="0"/>
                <a:ea typeface="Arial" pitchFamily="34" charset="-122"/>
                <a:cs typeface="Arial" pitchFamily="34" charset="-120"/>
              </a:rPr>
              <a:t>Their time goes on judging and implementing ideas rather than collecting data.</a:t>
            </a:r>
            <a:endParaRPr lang="en-US" sz="820" dirty="0"/>
          </a:p>
        </p:txBody>
      </p:sp>
      <p:sp>
        <p:nvSpPr>
          <p:cNvPr id="23" name="Shape 21"/>
          <p:cNvSpPr/>
          <p:nvPr/>
        </p:nvSpPr>
        <p:spPr>
          <a:xfrm>
            <a:off x="9281160" y="859536"/>
            <a:ext cx="2679192" cy="1508760"/>
          </a:xfrm>
          <a:prstGeom prst="roundRect">
            <a:avLst>
              <a:gd name="adj" fmla="val 5455"/>
            </a:avLst>
          </a:prstGeom>
          <a:solidFill>
            <a:srgbClr val="FBFCFD"/>
          </a:solidFill>
          <a:ln w="9525">
            <a:solidFill>
              <a:srgbClr val="C9D1D9"/>
            </a:solidFill>
            <a:prstDash val="solid"/>
          </a:ln>
        </p:spPr>
      </p:sp>
      <p:sp>
        <p:nvSpPr>
          <p:cNvPr id="24" name="Text 22"/>
          <p:cNvSpPr txBox="1"/>
          <p:nvPr/>
        </p:nvSpPr>
        <p:spPr>
          <a:xfrm>
            <a:off x="9464040" y="950976"/>
            <a:ext cx="2286000" cy="219456"/>
          </a:xfrm>
          <a:prstGeom prst="rect">
            <a:avLst/>
          </a:prstGeom>
          <a:noFill/>
          <a:ln/>
        </p:spPr>
        <p:txBody>
          <a:bodyPr wrap="square" lIns="0" tIns="0" rIns="0" bIns="0" rtlCol="0" anchor="t"/>
          <a:lstStyle/>
          <a:p>
            <a:pPr indent="0" marL="0">
              <a:buNone/>
            </a:pPr>
            <a:r>
              <a:rPr lang="en-US" sz="1050" b="1" dirty="0">
                <a:solidFill>
                  <a:srgbClr val="1F2328"/>
                </a:solidFill>
                <a:latin typeface="Arial" pitchFamily="34" charset="0"/>
                <a:ea typeface="Arial" pitchFamily="34" charset="-122"/>
                <a:cs typeface="Arial" pitchFamily="34" charset="-120"/>
              </a:rPr>
              <a:t>Key Individuals:</a:t>
            </a:r>
            <a:endParaRPr lang="en-US" sz="1050" dirty="0"/>
          </a:p>
        </p:txBody>
      </p:sp>
      <p:sp>
        <p:nvSpPr>
          <p:cNvPr id="25" name="Text 23"/>
          <p:cNvSpPr txBox="1"/>
          <p:nvPr/>
        </p:nvSpPr>
        <p:spPr>
          <a:xfrm>
            <a:off x="9464040" y="1225296"/>
            <a:ext cx="2313432" cy="475488"/>
          </a:xfrm>
          <a:prstGeom prst="rect">
            <a:avLst/>
          </a:prstGeom>
          <a:noFill/>
          <a:ln/>
        </p:spPr>
        <p:txBody>
          <a:bodyPr wrap="square" lIns="0" tIns="0" rIns="0" bIns="0" rtlCol="0" anchor="t"/>
          <a:lstStyle/>
          <a:p>
            <a:pPr indent="0" marL="0">
              <a:buNone/>
            </a:pPr>
            <a:r>
              <a:rPr lang="en-US" sz="950" dirty="0">
                <a:solidFill>
                  <a:srgbClr val="1F2328"/>
                </a:solidFill>
                <a:latin typeface="Arial" pitchFamily="34" charset="0"/>
                <a:ea typeface="Arial" pitchFamily="34" charset="-122"/>
                <a:cs typeface="Arial" pitchFamily="34" charset="-120"/>
              </a:rPr>
              <a:t>Use Case Submitter:</a:t>
            </a:r>
            <a:endParaRPr lang="en-US" sz="950" dirty="0"/>
          </a:p>
          <a:p>
            <a:pPr indent="0" marL="0">
              <a:buNone/>
            </a:pPr>
            <a:r>
              <a:rPr lang="en-US" sz="950" dirty="0">
                <a:solidFill>
                  <a:srgbClr val="1F2328"/>
                </a:solidFill>
                <a:latin typeface="Arial" pitchFamily="34" charset="0"/>
                <a:ea typeface="Arial" pitchFamily="34" charset="-122"/>
                <a:cs typeface="Arial" pitchFamily="34" charset="-120"/>
              </a:rPr>
              <a:t>LL4 Sponsor:</a:t>
            </a:r>
            <a:endParaRPr lang="en-US" sz="950" dirty="0"/>
          </a:p>
        </p:txBody>
      </p:sp>
      <p:sp>
        <p:nvSpPr>
          <p:cNvPr id="26" name="Text 24"/>
          <p:cNvSpPr txBox="1"/>
          <p:nvPr/>
        </p:nvSpPr>
        <p:spPr>
          <a:xfrm>
            <a:off x="9464040" y="1783080"/>
            <a:ext cx="1691640" cy="402336"/>
          </a:xfrm>
          <a:prstGeom prst="rect">
            <a:avLst/>
          </a:prstGeom>
          <a:noFill/>
          <a:ln/>
        </p:spPr>
        <p:txBody>
          <a:bodyPr wrap="square" lIns="0" tIns="0" rIns="0" bIns="0" rtlCol="0" anchor="t"/>
          <a:lstStyle/>
          <a:p>
            <a:pPr indent="0" marL="0">
              <a:buNone/>
            </a:pPr>
            <a:r>
              <a:rPr lang="en-US" sz="950" dirty="0">
                <a:solidFill>
                  <a:srgbClr val="1F2328"/>
                </a:solidFill>
                <a:latin typeface="Arial" pitchFamily="34" charset="0"/>
                <a:ea typeface="Arial" pitchFamily="34" charset="-122"/>
                <a:cs typeface="Arial" pitchFamily="34" charset="-120"/>
              </a:rPr>
              <a:t>Funding agreed with</a:t>
            </a:r>
            <a:endParaRPr lang="en-US" sz="950" dirty="0"/>
          </a:p>
          <a:p>
            <a:pPr indent="0" marL="0">
              <a:buNone/>
            </a:pPr>
            <a:r>
              <a:rPr lang="en-US" sz="950" dirty="0">
                <a:solidFill>
                  <a:srgbClr val="1F2328"/>
                </a:solidFill>
                <a:latin typeface="Arial" pitchFamily="34" charset="0"/>
                <a:ea typeface="Arial" pitchFamily="34" charset="-122"/>
                <a:cs typeface="Arial" pitchFamily="34" charset="-120"/>
              </a:rPr>
              <a:t>Finance</a:t>
            </a:r>
            <a:endParaRPr lang="en-US" sz="950" dirty="0"/>
          </a:p>
        </p:txBody>
      </p:sp>
      <p:sp>
        <p:nvSpPr>
          <p:cNvPr id="27" name="Shape 25"/>
          <p:cNvSpPr/>
          <p:nvPr/>
        </p:nvSpPr>
        <p:spPr>
          <a:xfrm>
            <a:off x="11430000" y="1837944"/>
            <a:ext cx="219456" cy="219456"/>
          </a:xfrm>
          <a:prstGeom prst="rect">
            <a:avLst/>
          </a:prstGeom>
          <a:solidFill>
            <a:srgbClr val="FFFFFF"/>
          </a:solidFill>
          <a:ln w="15875">
            <a:solidFill>
              <a:srgbClr val="3A4046"/>
            </a:solidFill>
            <a:prstDash val="solid"/>
          </a:ln>
        </p:spPr>
      </p:sp>
      <p:sp>
        <p:nvSpPr>
          <p:cNvPr id="28" name="Shape 26"/>
          <p:cNvSpPr/>
          <p:nvPr/>
        </p:nvSpPr>
        <p:spPr>
          <a:xfrm>
            <a:off x="9281160" y="2441448"/>
            <a:ext cx="2679192" cy="4187952"/>
          </a:xfrm>
          <a:prstGeom prst="roundRect">
            <a:avLst>
              <a:gd name="adj" fmla="val 3072"/>
            </a:avLst>
          </a:prstGeom>
          <a:solidFill>
            <a:srgbClr val="FBFCFD"/>
          </a:solidFill>
          <a:ln w="9525">
            <a:solidFill>
              <a:srgbClr val="C9D1D9"/>
            </a:solidFill>
            <a:prstDash val="solid"/>
          </a:ln>
        </p:spPr>
      </p:sp>
      <p:sp>
        <p:nvSpPr>
          <p:cNvPr id="29" name="Text 27"/>
          <p:cNvSpPr txBox="1"/>
          <p:nvPr/>
        </p:nvSpPr>
        <p:spPr>
          <a:xfrm>
            <a:off x="9464040" y="2532888"/>
            <a:ext cx="2286000" cy="219456"/>
          </a:xfrm>
          <a:prstGeom prst="rect">
            <a:avLst/>
          </a:prstGeom>
          <a:noFill/>
          <a:ln/>
        </p:spPr>
        <p:txBody>
          <a:bodyPr wrap="square" lIns="0" tIns="0" rIns="0" bIns="0" rtlCol="0" anchor="t"/>
          <a:lstStyle/>
          <a:p>
            <a:pPr indent="0" marL="0">
              <a:buNone/>
            </a:pPr>
            <a:r>
              <a:rPr lang="en-US" sz="1050" b="1" dirty="0">
                <a:solidFill>
                  <a:srgbClr val="1F2328"/>
                </a:solidFill>
                <a:latin typeface="Arial" pitchFamily="34" charset="0"/>
                <a:ea typeface="Arial" pitchFamily="34" charset="-122"/>
                <a:cs typeface="Arial" pitchFamily="34" charset="-120"/>
              </a:rPr>
              <a:t>Technical Scoping:</a:t>
            </a:r>
            <a:endParaRPr lang="en-US" sz="1050" dirty="0"/>
          </a:p>
        </p:txBody>
      </p:sp>
      <p:sp>
        <p:nvSpPr>
          <p:cNvPr id="30" name="Text 28"/>
          <p:cNvSpPr txBox="1"/>
          <p:nvPr/>
        </p:nvSpPr>
        <p:spPr>
          <a:xfrm>
            <a:off x="9464040" y="2788920"/>
            <a:ext cx="2313432" cy="3785616"/>
          </a:xfrm>
          <a:prstGeom prst="rect">
            <a:avLst/>
          </a:prstGeom>
          <a:noFill/>
          <a:ln/>
        </p:spPr>
        <p:txBody>
          <a:bodyPr wrap="square" lIns="0" tIns="0" rIns="0" bIns="0" rtlCol="0" anchor="t"/>
          <a:lstStyle/>
          <a:p>
            <a:pPr indent="0" marL="0">
              <a:lnSpc>
                <a:spcPct val="92000"/>
              </a:lnSpc>
              <a:buNone/>
            </a:pPr>
            <a:r>
              <a:rPr lang="en-US" sz="880" dirty="0">
                <a:solidFill>
                  <a:srgbClr val="1F2328"/>
                </a:solidFill>
                <a:latin typeface="Arial" pitchFamily="34" charset="0"/>
                <a:ea typeface="Arial" pitchFamily="34" charset="-122"/>
                <a:cs typeface="Arial" pitchFamily="34" charset="-120"/>
              </a:rPr>
              <a:t>Enabling AI on an existing system?</a:t>
            </a:r>
            <a:endParaRPr lang="en-US" sz="880" dirty="0"/>
          </a:p>
          <a:p>
            <a:pPr indent="0" marL="0">
              <a:lnSpc>
                <a:spcPct val="92000"/>
              </a:lnSpc>
              <a:spcAft>
                <a:spcPts val="800"/>
              </a:spcAft>
              <a:buNone/>
            </a:pPr>
            <a:r>
              <a:rPr lang="en-US" sz="780" dirty="0">
                <a:solidFill>
                  <a:srgbClr val="5B6570"/>
                </a:solidFill>
                <a:latin typeface="Arial" pitchFamily="34" charset="0"/>
                <a:ea typeface="Arial" pitchFamily="34" charset="-122"/>
                <a:cs typeface="Arial" pitchFamily="34" charset="-120"/>
              </a:rPr>
              <a:t>NO — it is a separate application and it is already built and running. It feeds the existing costing systems by export.</a:t>
            </a:r>
            <a:endParaRPr lang="en-US" sz="880" dirty="0"/>
          </a:p>
          <a:p>
            <a:pPr indent="0" marL="0">
              <a:lnSpc>
                <a:spcPct val="92000"/>
              </a:lnSpc>
              <a:spcAft>
                <a:spcPts val="800"/>
              </a:spcAft>
              <a:buNone/>
            </a:pPr>
            <a:r>
              <a:rPr lang="en-US" sz="880" dirty="0">
                <a:solidFill>
                  <a:srgbClr val="1F2328"/>
                </a:solidFill>
                <a:latin typeface="Arial" pitchFamily="34" charset="0"/>
                <a:ea typeface="Arial" pitchFamily="34" charset="-122"/>
                <a:cs typeface="Arial" pitchFamily="34" charset="-120"/>
              </a:rPr>
              <a:t>Model used:  ANTHROPIC Claude</a:t>
            </a:r>
            <a:endParaRPr lang="en-US" sz="880" dirty="0"/>
          </a:p>
          <a:p>
            <a:pPr indent="0" marL="0">
              <a:lnSpc>
                <a:spcPct val="92000"/>
              </a:lnSpc>
              <a:buNone/>
            </a:pPr>
            <a:r>
              <a:rPr lang="en-US" sz="880" dirty="0">
                <a:solidFill>
                  <a:srgbClr val="1F2328"/>
                </a:solidFill>
                <a:latin typeface="Arial" pitchFamily="34" charset="0"/>
                <a:ea typeface="Arial" pitchFamily="34" charset="-122"/>
                <a:cs typeface="Arial" pitchFamily="34" charset="-120"/>
              </a:rPr>
              <a:t>Technical implementation/support required?</a:t>
            </a:r>
            <a:endParaRPr lang="en-US" sz="880" dirty="0"/>
          </a:p>
          <a:p>
            <a:pPr indent="0" marL="0">
              <a:lnSpc>
                <a:spcPct val="92000"/>
              </a:lnSpc>
              <a:spcAft>
                <a:spcPts val="800"/>
              </a:spcAft>
              <a:buNone/>
            </a:pPr>
            <a:r>
              <a:rPr lang="en-US" sz="780" dirty="0">
                <a:solidFill>
                  <a:srgbClr val="5B6570"/>
                </a:solidFill>
                <a:latin typeface="Arial" pitchFamily="34" charset="0"/>
                <a:ea typeface="Arial" pitchFamily="34" charset="-122"/>
                <a:cs typeface="Arial" pitchFamily="34" charset="-120"/>
              </a:rPr>
              <a:t>YES — somewhere to host it, a disk that persists, and an API key. No new hardware.</a:t>
            </a:r>
            <a:endParaRPr lang="en-US" sz="880" dirty="0"/>
          </a:p>
          <a:p>
            <a:pPr indent="0" marL="0">
              <a:lnSpc>
                <a:spcPct val="92000"/>
              </a:lnSpc>
              <a:buNone/>
            </a:pPr>
            <a:r>
              <a:rPr lang="en-US" sz="880" dirty="0">
                <a:solidFill>
                  <a:srgbClr val="1F2328"/>
                </a:solidFill>
                <a:latin typeface="Arial" pitchFamily="34" charset="0"/>
                <a:ea typeface="Arial" pitchFamily="34" charset="-122"/>
                <a:cs typeface="Arial" pitchFamily="34" charset="-120"/>
              </a:rPr>
              <a:t>Data handling:</a:t>
            </a:r>
            <a:endParaRPr lang="en-US" sz="880" dirty="0"/>
          </a:p>
          <a:p>
            <a:pPr indent="0" marL="0">
              <a:lnSpc>
                <a:spcPct val="92000"/>
              </a:lnSpc>
              <a:spcAft>
                <a:spcPts val="800"/>
              </a:spcAft>
              <a:buNone/>
            </a:pPr>
            <a:r>
              <a:rPr lang="en-US" sz="780" dirty="0">
                <a:solidFill>
                  <a:srgbClr val="5B6570"/>
                </a:solidFill>
                <a:latin typeface="Arial" pitchFamily="34" charset="0"/>
                <a:ea typeface="Arial" pitchFamily="34" charset="-122"/>
                <a:cs typeface="Arial" pitchFamily="34" charset="-120"/>
              </a:rPr>
              <a:t>CAD, drawings and cost data stay inside the deployment. Accounts hold a work email address and nothing else.</a:t>
            </a:r>
            <a:endParaRPr lang="en-US" sz="880" dirty="0"/>
          </a:p>
          <a:p>
            <a:pPr indent="0" marL="0">
              <a:lnSpc>
                <a:spcPct val="92000"/>
              </a:lnSpc>
              <a:buNone/>
            </a:pPr>
            <a:r>
              <a:rPr lang="en-US" sz="880" dirty="0">
                <a:solidFill>
                  <a:srgbClr val="1F2328"/>
                </a:solidFill>
                <a:latin typeface="Arial" pitchFamily="34" charset="0"/>
                <a:ea typeface="Arial" pitchFamily="34" charset="-122"/>
                <a:cs typeface="Arial" pitchFamily="34" charset="-120"/>
              </a:rPr>
              <a:t>What a run needs:</a:t>
            </a:r>
            <a:endParaRPr lang="en-US" sz="880" dirty="0"/>
          </a:p>
          <a:p>
            <a:pPr indent="0" marL="0">
              <a:lnSpc>
                <a:spcPct val="92000"/>
              </a:lnSpc>
              <a:spcAft>
                <a:spcPts val="800"/>
              </a:spcAft>
              <a:buNone/>
            </a:pPr>
            <a:r>
              <a:rPr lang="en-US" sz="780" dirty="0">
                <a:solidFill>
                  <a:srgbClr val="5B6570"/>
                </a:solidFill>
                <a:latin typeface="Arial" pitchFamily="34" charset="0"/>
                <a:ea typeface="Arial" pitchFamily="34" charset="-122"/>
                <a:cs typeface="Arial" pitchFamily="34" charset="-120"/>
              </a:rPr>
              <a:t>3D CAD (STEP or native), 2D drawings, annual volume, and the current price or supplier quote where there is one.</a:t>
            </a:r>
            <a:endParaRPr lang="en-US" sz="880" dirty="0"/>
          </a:p>
          <a:p>
            <a:pPr indent="0" marL="0">
              <a:lnSpc>
                <a:spcPct val="92000"/>
              </a:lnSpc>
              <a:buNone/>
            </a:pPr>
            <a:r>
              <a:rPr lang="en-US" sz="880" dirty="0">
                <a:solidFill>
                  <a:srgbClr val="1F2328"/>
                </a:solidFill>
                <a:latin typeface="Arial" pitchFamily="34" charset="0"/>
                <a:ea typeface="Arial" pitchFamily="34" charset="-122"/>
                <a:cs typeface="Arial" pitchFamily="34" charset="-120"/>
              </a:rPr>
              <a:t>What comes out:</a:t>
            </a:r>
            <a:endParaRPr lang="en-US" sz="880" dirty="0"/>
          </a:p>
          <a:p>
            <a:pPr indent="0" marL="0">
              <a:lnSpc>
                <a:spcPct val="92000"/>
              </a:lnSpc>
              <a:spcAft>
                <a:spcPts val="800"/>
              </a:spcAft>
              <a:buNone/>
            </a:pPr>
            <a:r>
              <a:rPr lang="en-US" sz="780" dirty="0">
                <a:solidFill>
                  <a:srgbClr val="5B6570"/>
                </a:solidFill>
                <a:latin typeface="Arial" pitchFamily="34" charset="0"/>
                <a:ea typeface="Arial" pitchFamily="34" charset="-122"/>
                <a:cs typeface="Arial" pitchFamily="34" charset="-120"/>
              </a:rPr>
              <a:t>Excel, PowerPoint and PDF, ready for the programme review.</a:t>
            </a:r>
            <a:endParaRPr lang="en-US" sz="880" dirty="0"/>
          </a:p>
          <a:p>
            <a:pPr indent="0" marL="0">
              <a:lnSpc>
                <a:spcPct val="92000"/>
              </a:lnSpc>
              <a:buNone/>
            </a:pPr>
            <a:r>
              <a:rPr lang="en-US" sz="880" dirty="0">
                <a:solidFill>
                  <a:srgbClr val="1F2328"/>
                </a:solidFill>
                <a:latin typeface="Arial" pitchFamily="34" charset="0"/>
                <a:ea typeface="Arial" pitchFamily="34" charset="-122"/>
                <a:cs typeface="Arial" pitchFamily="34" charset="-120"/>
              </a:rPr>
              <a:t>How to prove it:</a:t>
            </a:r>
            <a:endParaRPr lang="en-US" sz="880" dirty="0"/>
          </a:p>
          <a:p>
            <a:pPr indent="0" marL="0">
              <a:lnSpc>
                <a:spcPct val="92000"/>
              </a:lnSpc>
              <a:buNone/>
            </a:pPr>
            <a:r>
              <a:rPr lang="en-US" sz="780" dirty="0">
                <a:solidFill>
                  <a:srgbClr val="5B6570"/>
                </a:solidFill>
                <a:latin typeface="Arial" pitchFamily="34" charset="0"/>
                <a:ea typeface="Arial" pitchFamily="34" charset="-122"/>
                <a:cs typeface="Arial" pitchFamily="34" charset="-120"/>
              </a:rPr>
              <a:t>Run a set of parts that have already been costed by hand and compare the two, before anything is relied on.</a:t>
            </a:r>
            <a:endParaRPr lang="en-US" sz="8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BrainSpark — AI-Assisted Cost Reduction Idea Generation</dc:title>
  <dc:subject>PptxGenJS Presentation</dc:subject>
  <dc:creator>BrainSpark</dc:creator>
  <cp:lastModifiedBy>BrainSpark</cp:lastModifiedBy>
  <cp:revision>1</cp:revision>
  <dcterms:created xsi:type="dcterms:W3CDTF">2026-09-10T09:24:45Z</dcterms:created>
  <dcterms:modified xsi:type="dcterms:W3CDTF">2026-09-10T09:24:45Z</dcterms:modified>
</cp:coreProperties>
</file>