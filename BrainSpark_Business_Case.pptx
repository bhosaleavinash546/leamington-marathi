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84048" y="18288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20" kern="0" dirty="0">
                <a:solidFill>
                  <a:srgbClr val="5B65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IDEA GENERATION BUSINESS CASE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384048" y="438912"/>
            <a:ext cx="9601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spc="160" kern="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BrainSpark  –  AI-Assisted Cost Reduction Idea Generation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228600" y="932688"/>
            <a:ext cx="5989320" cy="1810512"/>
          </a:xfrm>
          <a:prstGeom prst="roundRect">
            <a:avLst>
              <a:gd name="adj" fmla="val 4545"/>
            </a:avLst>
          </a:prstGeom>
          <a:solidFill>
            <a:srgbClr val="FBFCFD"/>
          </a:solidFill>
          <a:ln w="9525">
            <a:solidFill>
              <a:srgbClr val="C9D1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38912" y="1060704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Statement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983480" y="1060704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PII: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440680" y="1024128"/>
            <a:ext cx="237744" cy="237744"/>
          </a:xfrm>
          <a:prstGeom prst="rect">
            <a:avLst/>
          </a:prstGeom>
          <a:solidFill>
            <a:srgbClr val="FFFFFF"/>
          </a:solidFill>
          <a:ln w="15875">
            <a:solidFill>
              <a:srgbClr val="3A404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38912" y="1371600"/>
            <a:ext cx="553212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95000"/>
              </a:lnSpc>
              <a:spcAft>
                <a:spcPts val="300"/>
              </a:spcAft>
              <a:buSzPct val="100000"/>
              <a:buChar char="•"/>
            </a:pPr>
            <a:r>
              <a:rPr lang="en-US" sz="86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reduction ideas come from workshops. Output depends on who is in the room that week.</a:t>
            </a:r>
            <a:endParaRPr lang="en-US" sz="860" dirty="0"/>
          </a:p>
          <a:p>
            <a:pPr marL="342900" indent="-342900">
              <a:lnSpc>
                <a:spcPct val="95000"/>
              </a:lnSpc>
              <a:spcAft>
                <a:spcPts val="300"/>
              </a:spcAft>
              <a:buSzPct val="100000"/>
              <a:buChar char="•"/>
            </a:pPr>
            <a:r>
              <a:rPr lang="en-US" sz="86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Ideas arrive as one-liners — "change the material", "delete a bracket" — with no process, no part detail and no number.</a:t>
            </a:r>
            <a:endParaRPr lang="en-US" sz="860" dirty="0"/>
          </a:p>
          <a:p>
            <a:pPr marL="342900" indent="-342900">
              <a:lnSpc>
                <a:spcPct val="95000"/>
              </a:lnSpc>
              <a:spcAft>
                <a:spcPts val="300"/>
              </a:spcAft>
              <a:buSzPct val="100000"/>
              <a:buChar char="•"/>
            </a:pPr>
            <a:r>
              <a:rPr lang="en-US" sz="86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Savings are estimated from opinion and experience, so Finance discounts them until someone proves them.</a:t>
            </a:r>
            <a:endParaRPr lang="en-US" sz="860" dirty="0"/>
          </a:p>
          <a:p>
            <a:pPr marL="342900" indent="-342900">
              <a:lnSpc>
                <a:spcPct val="95000"/>
              </a:lnSpc>
              <a:spcAft>
                <a:spcPts val="300"/>
              </a:spcAft>
              <a:buSzPct val="100000"/>
              <a:buChar char="•"/>
            </a:pPr>
            <a:r>
              <a:rPr lang="en-US" sz="86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the parts the attendees happen to know get looked at. Whole commodities are never covered.</a:t>
            </a:r>
            <a:endParaRPr lang="en-US" sz="860" dirty="0"/>
          </a:p>
          <a:p>
            <a:pPr marL="342900" indent="-342900">
              <a:lnSpc>
                <a:spcPct val="95000"/>
              </a:lnSpc>
              <a:spcAft>
                <a:spcPts val="300"/>
              </a:spcAft>
              <a:buSzPct val="100000"/>
              <a:buChar char="•"/>
            </a:pPr>
            <a:r>
              <a:rPr lang="en-US" sz="86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Ideas repeat what the team already knows. Nothing systematically brings in benchmark data or what other industries do.</a:t>
            </a:r>
            <a:endParaRPr lang="en-US" sz="860" dirty="0"/>
          </a:p>
        </p:txBody>
      </p:sp>
      <p:sp>
        <p:nvSpPr>
          <p:cNvPr id="9" name="Shape 7"/>
          <p:cNvSpPr/>
          <p:nvPr/>
        </p:nvSpPr>
        <p:spPr>
          <a:xfrm>
            <a:off x="6355080" y="932688"/>
            <a:ext cx="2788920" cy="1298448"/>
          </a:xfrm>
          <a:prstGeom prst="roundRect">
            <a:avLst>
              <a:gd name="adj" fmla="val 6338"/>
            </a:avLst>
          </a:prstGeom>
          <a:solidFill>
            <a:srgbClr val="DCE7DC"/>
          </a:solidFill>
          <a:ln w="9525">
            <a:solidFill>
              <a:srgbClr val="B9CDB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37960" y="1042416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Projected ROI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6537960" y="1316736"/>
            <a:ext cx="245059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0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Cost: £</a:t>
            </a:r>
            <a:endParaRPr lang="en-US" sz="10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0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Return:</a:t>
            </a:r>
            <a:endParaRPr lang="en-US" sz="10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0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the return based on?</a:t>
            </a:r>
            <a:endParaRPr lang="en-US" sz="10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760" i="1" dirty="0">
                <a:solidFill>
                  <a:srgbClr val="5B65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Engineering hours released × loaded rate, plus confirmed piece-cost saving × annual volume.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55080" y="2313432"/>
            <a:ext cx="2788920" cy="429768"/>
          </a:xfrm>
          <a:prstGeom prst="roundRect">
            <a:avLst>
              <a:gd name="adj" fmla="val 19149"/>
            </a:avLst>
          </a:prstGeom>
          <a:solidFill>
            <a:srgbClr val="DEE5F0"/>
          </a:solidFill>
          <a:ln w="9525">
            <a:solidFill>
              <a:srgbClr val="BCC8D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37960" y="2423160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 (hrs/week)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9281160" y="932688"/>
            <a:ext cx="2679192" cy="1810512"/>
          </a:xfrm>
          <a:prstGeom prst="roundRect">
            <a:avLst>
              <a:gd name="adj" fmla="val 4545"/>
            </a:avLst>
          </a:prstGeom>
          <a:solidFill>
            <a:srgbClr val="FBFCFD"/>
          </a:solidFill>
          <a:ln w="9525">
            <a:solidFill>
              <a:srgbClr val="C9D1D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464040" y="1042416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Individuals: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9464040" y="1335024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Case Submitter: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LL4 Sponsor: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9464040" y="2048256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Funding agreed with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1384280" y="2139696"/>
            <a:ext cx="237744" cy="237744"/>
          </a:xfrm>
          <a:prstGeom prst="rect">
            <a:avLst/>
          </a:prstGeom>
          <a:solidFill>
            <a:srgbClr val="FFFFFF"/>
          </a:solidFill>
          <a:ln w="15875">
            <a:solidFill>
              <a:srgbClr val="3A404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8600" y="2852928"/>
            <a:ext cx="8915400" cy="1499616"/>
          </a:xfrm>
          <a:prstGeom prst="roundRect">
            <a:avLst>
              <a:gd name="adj" fmla="val 5488"/>
            </a:avLst>
          </a:prstGeom>
          <a:solidFill>
            <a:srgbClr val="FBFCFD"/>
          </a:solidFill>
          <a:ln w="9525">
            <a:solidFill>
              <a:srgbClr val="C9D1D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38912" y="2962656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State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438912" y="3255264"/>
            <a:ext cx="850392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95000"/>
              </a:lnSpc>
              <a:spcAft>
                <a:spcPts val="200"/>
              </a:spcAft>
              <a:buSzPct val="100000"/>
              <a:buChar char="•"/>
            </a:pPr>
            <a:r>
              <a:rPr lang="en-US" sz="86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People-dependent and skill-dependent: a handful of experienced engineers carry the ideas. When they are busy or leave, idea flow stops.</a:t>
            </a:r>
            <a:endParaRPr lang="en-US" sz="860" dirty="0"/>
          </a:p>
          <a:p>
            <a:pPr marL="342900" indent="-342900">
              <a:lnSpc>
                <a:spcPct val="95000"/>
              </a:lnSpc>
              <a:spcAft>
                <a:spcPts val="200"/>
              </a:spcAft>
              <a:buSzPct val="100000"/>
              <a:buChar char="•"/>
            </a:pPr>
            <a:r>
              <a:rPr lang="en-US" sz="86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Heavy preparation: drawings, BOMs, cost data and benchmark references are pulled together by hand for days before a workshop can run.</a:t>
            </a:r>
            <a:endParaRPr lang="en-US" sz="860" dirty="0"/>
          </a:p>
          <a:p>
            <a:pPr marL="342900" indent="-342900">
              <a:lnSpc>
                <a:spcPct val="95000"/>
              </a:lnSpc>
              <a:spcAft>
                <a:spcPts val="200"/>
              </a:spcAft>
              <a:buSzPct val="100000"/>
              <a:buChar char="•"/>
            </a:pPr>
            <a:r>
              <a:rPr lang="en-US" sz="86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 and resources: 8–15 people off the job for one to two days, plus preparation before and chasing afterwards.</a:t>
            </a:r>
            <a:endParaRPr lang="en-US" sz="860" dirty="0"/>
          </a:p>
          <a:p>
            <a:pPr marL="342900" indent="-342900">
              <a:lnSpc>
                <a:spcPct val="95000"/>
              </a:lnSpc>
              <a:spcAft>
                <a:spcPts val="200"/>
              </a:spcAft>
              <a:buSzPct val="100000"/>
              <a:buChar char="•"/>
            </a:pPr>
            <a:r>
              <a:rPr lang="en-US" sz="86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Follow-up burden: single-line ideas go back to their author for a description, a feasibility view and a saving estimate. Many are never completed and quietly drop out.</a:t>
            </a:r>
            <a:endParaRPr lang="en-US" sz="860" dirty="0"/>
          </a:p>
          <a:p>
            <a:pPr marL="342900" indent="-342900">
              <a:lnSpc>
                <a:spcPct val="95000"/>
              </a:lnSpc>
              <a:spcAft>
                <a:spcPts val="200"/>
              </a:spcAft>
              <a:buSzPct val="100000"/>
              <a:buChar char="•"/>
            </a:pPr>
            <a:r>
              <a:rPr lang="en-US" sz="86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memory: ideas already proven — or already rejected — on another programme are not visible, so the same ground is covered again.</a:t>
            </a:r>
            <a:endParaRPr lang="en-US" sz="860" dirty="0"/>
          </a:p>
        </p:txBody>
      </p:sp>
      <p:sp>
        <p:nvSpPr>
          <p:cNvPr id="22" name="Shape 20"/>
          <p:cNvSpPr/>
          <p:nvPr/>
        </p:nvSpPr>
        <p:spPr>
          <a:xfrm>
            <a:off x="228600" y="4462272"/>
            <a:ext cx="8915400" cy="2167128"/>
          </a:xfrm>
          <a:prstGeom prst="roundRect">
            <a:avLst>
              <a:gd name="adj" fmla="val 3797"/>
            </a:avLst>
          </a:prstGeom>
          <a:solidFill>
            <a:srgbClr val="FBFCFD"/>
          </a:solidFill>
          <a:ln w="9525">
            <a:solidFill>
              <a:srgbClr val="C9D1D9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38912" y="4572000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Proposed Solution / Model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438912" y="4864608"/>
            <a:ext cx="5074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95000"/>
              </a:lnSpc>
              <a:spcAft>
                <a:spcPts val="200"/>
              </a:spcAft>
              <a:buSzPct val="100000"/>
              <a:buChar char="•"/>
            </a:pPr>
            <a:r>
              <a:rPr lang="en-US" sz="84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Upload the 3D CAD and the 2D drawings. The tool reads geometry, material, tolerances and finishes, and generates ideas at assembly, sub-assembly, part and technology level.</a:t>
            </a:r>
            <a:endParaRPr lang="en-US" sz="840" dirty="0"/>
          </a:p>
          <a:p>
            <a:pPr marL="342900" indent="-342900">
              <a:lnSpc>
                <a:spcPct val="95000"/>
              </a:lnSpc>
              <a:spcAft>
                <a:spcPts val="200"/>
              </a:spcAft>
              <a:buSzPct val="100000"/>
              <a:buChar char="•"/>
            </a:pPr>
            <a:r>
              <a:rPr lang="en-US" sz="84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Ideas cover alternative lower-cost design with benchmark references, alternative materials and manufacturing processes, part and fastener consolidation, tolerance and finish relaxation, and genuinely novel concepts.</a:t>
            </a:r>
            <a:endParaRPr lang="en-US" sz="840" dirty="0"/>
          </a:p>
          <a:p>
            <a:pPr marL="342900" indent="-342900">
              <a:lnSpc>
                <a:spcPct val="95000"/>
              </a:lnSpc>
              <a:spcAft>
                <a:spcPts val="200"/>
              </a:spcAft>
              <a:buSzPct val="100000"/>
              <a:buChar char="•"/>
            </a:pPr>
            <a:r>
              <a:rPr lang="en-US" sz="84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idea is priced by a deterministic should-cost engine and labelled confirmed, contradicted, or not verifiable with the reason. The AI proposes and explains; it never invents a number.</a:t>
            </a:r>
            <a:endParaRPr lang="en-US" sz="840" dirty="0"/>
          </a:p>
          <a:p>
            <a:pPr marL="342900" indent="-342900">
              <a:lnSpc>
                <a:spcPct val="95000"/>
              </a:lnSpc>
              <a:spcAft>
                <a:spcPts val="200"/>
              </a:spcAft>
              <a:buSzPct val="100000"/>
              <a:buChar char="•"/>
            </a:pPr>
            <a:r>
              <a:rPr lang="en-US" sz="84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Covers all automotive commodities: BIW, chassis, powertrain, e-drive, battery, thermal, interior, exterior, electrical / electronic and wiring harness.</a:t>
            </a:r>
            <a:endParaRPr lang="en-US" sz="840" dirty="0"/>
          </a:p>
          <a:p>
            <a:pPr marL="342900" indent="-342900">
              <a:lnSpc>
                <a:spcPct val="95000"/>
              </a:lnSpc>
              <a:spcAft>
                <a:spcPts val="200"/>
              </a:spcAft>
              <a:buSzPct val="100000"/>
              <a:buChar char="•"/>
            </a:pPr>
            <a:r>
              <a:rPr lang="en-US" sz="84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tools built and working across generate, cost, track and learn — listed with their benefits on the next slide.</a:t>
            </a:r>
            <a:endParaRPr lang="en-US" sz="840" dirty="0"/>
          </a:p>
          <a:p>
            <a:pPr marL="342900" indent="-342900">
              <a:lnSpc>
                <a:spcPct val="95000"/>
              </a:lnSpc>
              <a:spcAft>
                <a:spcPts val="200"/>
              </a:spcAft>
              <a:buSzPct val="100000"/>
              <a:buChar char="•"/>
            </a:pPr>
            <a:r>
              <a:rPr lang="en-US" sz="84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per part in minutes, so volume is limited by parts to review, not by people available.</a:t>
            </a:r>
            <a:endParaRPr lang="en-US" sz="840" dirty="0"/>
          </a:p>
        </p:txBody>
      </p:sp>
      <p:sp>
        <p:nvSpPr>
          <p:cNvPr id="25" name="Shape 23"/>
          <p:cNvSpPr/>
          <p:nvPr/>
        </p:nvSpPr>
        <p:spPr>
          <a:xfrm>
            <a:off x="5650992" y="4572000"/>
            <a:ext cx="3364992" cy="2002536"/>
          </a:xfrm>
          <a:prstGeom prst="roundRect">
            <a:avLst>
              <a:gd name="adj" fmla="val 4110"/>
            </a:avLst>
          </a:prstGeom>
          <a:solidFill>
            <a:srgbClr val="DCE7DC"/>
          </a:solidFill>
          <a:ln w="9525">
            <a:solidFill>
              <a:srgbClr val="B9CDB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833872" y="4672584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Benefits: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5833872" y="4956048"/>
            <a:ext cx="3035808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82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Capacity: </a:t>
            </a:r>
            <a:pPr indent="0" marL="0">
              <a:lnSpc>
                <a:spcPct val="92000"/>
              </a:lnSpc>
              <a:spcAft>
                <a:spcPts val="200"/>
              </a:spcAft>
              <a:buNone/>
            </a:pPr>
            <a:r>
              <a:rPr lang="en-US" sz="82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hundreds of parts a programme, not a shortlist.</a:t>
            </a:r>
            <a:endParaRPr lang="en-US" sz="82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82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Speed: </a:t>
            </a:r>
            <a:pPr indent="0" marL="0">
              <a:lnSpc>
                <a:spcPct val="92000"/>
              </a:lnSpc>
              <a:spcAft>
                <a:spcPts val="200"/>
              </a:spcAft>
              <a:buNone/>
            </a:pPr>
            <a:r>
              <a:rPr lang="en-US" sz="82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ideas in minutes, already described and costed — no chase cycle.</a:t>
            </a:r>
            <a:endParaRPr lang="en-US" sz="82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82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Depth: </a:t>
            </a:r>
            <a:pPr indent="0" marL="0">
              <a:lnSpc>
                <a:spcPct val="92000"/>
              </a:lnSpc>
              <a:spcAft>
                <a:spcPts val="200"/>
              </a:spcAft>
              <a:buNone/>
            </a:pPr>
            <a:r>
              <a:rPr lang="en-US" sz="82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process, material, tolerance and a calculated saving on every idea.</a:t>
            </a:r>
            <a:endParaRPr lang="en-US" sz="82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82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Consistency: </a:t>
            </a:r>
            <a:pPr indent="0" marL="0">
              <a:lnSpc>
                <a:spcPct val="92000"/>
              </a:lnSpc>
              <a:spcAft>
                <a:spcPts val="200"/>
              </a:spcAft>
              <a:buNone/>
            </a:pPr>
            <a:r>
              <a:rPr lang="en-US" sz="82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method every time, whoever is available.</a:t>
            </a:r>
            <a:endParaRPr lang="en-US" sz="82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82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Evidence: </a:t>
            </a:r>
            <a:pPr indent="0" marL="0">
              <a:lnSpc>
                <a:spcPct val="92000"/>
              </a:lnSpc>
              <a:spcAft>
                <a:spcPts val="200"/>
              </a:spcAft>
              <a:buNone/>
            </a:pPr>
            <a:r>
              <a:rPr lang="en-US" sz="82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savings come from a cost engine Finance can check.</a:t>
            </a:r>
            <a:endParaRPr lang="en-US" sz="82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82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Retention: </a:t>
            </a:r>
            <a:pPr indent="0" marL="0">
              <a:lnSpc>
                <a:spcPct val="92000"/>
              </a:lnSpc>
              <a:buNone/>
            </a:pPr>
            <a:r>
              <a:rPr lang="en-US" sz="82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ideas, decisions and confirmed savings are kept and reused.</a:t>
            </a:r>
            <a:endParaRPr lang="en-US" sz="820" dirty="0"/>
          </a:p>
        </p:txBody>
      </p:sp>
      <p:sp>
        <p:nvSpPr>
          <p:cNvPr id="28" name="Shape 26"/>
          <p:cNvSpPr/>
          <p:nvPr/>
        </p:nvSpPr>
        <p:spPr>
          <a:xfrm>
            <a:off x="9281160" y="2852928"/>
            <a:ext cx="2679192" cy="3776472"/>
          </a:xfrm>
          <a:prstGeom prst="roundRect">
            <a:avLst>
              <a:gd name="adj" fmla="val 3072"/>
            </a:avLst>
          </a:prstGeom>
          <a:solidFill>
            <a:srgbClr val="FBFCFD"/>
          </a:solidFill>
          <a:ln w="9525">
            <a:solidFill>
              <a:srgbClr val="C9D1D9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464040" y="2962656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Scoping: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9464040" y="3273552"/>
            <a:ext cx="23317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96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Enabling AI on an existing system?</a:t>
            </a:r>
            <a:endParaRPr lang="en-US" sz="960" dirty="0"/>
          </a:p>
          <a:p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840" dirty="0">
                <a:solidFill>
                  <a:srgbClr val="5B65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— built and running as a standalone application. Integrates with existing costing systems by export.</a:t>
            </a:r>
            <a:endParaRPr lang="en-US" sz="960" dirty="0"/>
          </a:p>
          <a:p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96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used:  ANTHROPIC Claude</a:t>
            </a:r>
            <a:endParaRPr lang="en-US" sz="96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96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implementation/support required?</a:t>
            </a:r>
            <a:endParaRPr lang="en-US" sz="960" dirty="0"/>
          </a:p>
          <a:p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840" dirty="0">
                <a:solidFill>
                  <a:srgbClr val="5B65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 — hosting, a deployment volume and an API key. No new hardware.</a:t>
            </a:r>
            <a:endParaRPr lang="en-US" sz="96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96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handling:</a:t>
            </a:r>
            <a:endParaRPr lang="en-US" sz="960" dirty="0"/>
          </a:p>
          <a:p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840" dirty="0">
                <a:solidFill>
                  <a:srgbClr val="5B65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CAD, drawings and cost data stay in the deployment. Accounts hold a work email only.</a:t>
            </a:r>
            <a:endParaRPr lang="en-US" sz="96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96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start a run:</a:t>
            </a:r>
            <a:endParaRPr lang="en-US" sz="960" dirty="0"/>
          </a:p>
          <a:p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840" dirty="0">
                <a:solidFill>
                  <a:srgbClr val="5B65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3D CAD (STEP or native), 2D drawings, annual volume, and the current price or quote where there is one.</a:t>
            </a:r>
            <a:endParaRPr lang="en-US" sz="96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96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Proving it:</a:t>
            </a:r>
            <a:endParaRPr lang="en-US" sz="96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840" dirty="0">
                <a:solidFill>
                  <a:srgbClr val="5B65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a set of parts already costed by hand and compare, before anything is relied on.</a:t>
            </a:r>
            <a:endParaRPr lang="en-US" sz="96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84048" y="18288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20" kern="0" dirty="0">
                <a:solidFill>
                  <a:srgbClr val="5B65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IDEA GENERATION BUSINESS CASE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384048" y="438912"/>
            <a:ext cx="9601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spc="160" kern="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tools built  –  17 working today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228600" y="960120"/>
            <a:ext cx="5760720" cy="2240280"/>
          </a:xfrm>
          <a:prstGeom prst="roundRect">
            <a:avLst>
              <a:gd name="adj" fmla="val 3673"/>
            </a:avLst>
          </a:prstGeom>
          <a:solidFill>
            <a:srgbClr val="FBFCFD"/>
          </a:solidFill>
          <a:ln w="9525">
            <a:solidFill>
              <a:srgbClr val="C9D1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29768" y="1078992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 ideas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29768" y="1399032"/>
            <a:ext cx="5358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Analyze</a:t>
            </a:r>
            <a:pPr indent="0" marL="0">
              <a:buNone/>
            </a:pPr>
            <a:r>
              <a:rPr lang="en-US" sz="880" dirty="0">
                <a:solidFill>
                  <a:srgbClr val="5B65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Costed ideas for any vehicle system in minutes, not a workshop</a:t>
            </a:r>
            <a:endParaRPr lang="en-US" sz="880" dirty="0"/>
          </a:p>
        </p:txBody>
      </p:sp>
      <p:sp>
        <p:nvSpPr>
          <p:cNvPr id="7" name="Shape 5"/>
          <p:cNvSpPr/>
          <p:nvPr/>
        </p:nvSpPr>
        <p:spPr>
          <a:xfrm>
            <a:off x="429768" y="1655978"/>
            <a:ext cx="5358384" cy="0"/>
          </a:xfrm>
          <a:prstGeom prst="line">
            <a:avLst/>
          </a:prstGeom>
          <a:noFill/>
          <a:ln w="6350">
            <a:solidFill>
              <a:srgbClr val="C8CFD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29768" y="1687068"/>
            <a:ext cx="5358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Innovation Studio</a:t>
            </a:r>
            <a:pPr indent="0" marL="0">
              <a:buNone/>
            </a:pPr>
            <a:r>
              <a:rPr lang="en-US" sz="880" dirty="0">
                <a:solidFill>
                  <a:srgbClr val="5B65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Eight structured VA/VE methods run on demand, each idea priced</a:t>
            </a:r>
            <a:endParaRPr lang="en-US" sz="880" dirty="0"/>
          </a:p>
        </p:txBody>
      </p:sp>
      <p:sp>
        <p:nvSpPr>
          <p:cNvPr id="9" name="Shape 7"/>
          <p:cNvSpPr/>
          <p:nvPr/>
        </p:nvSpPr>
        <p:spPr>
          <a:xfrm>
            <a:off x="429768" y="1944014"/>
            <a:ext cx="5358384" cy="0"/>
          </a:xfrm>
          <a:prstGeom prst="line">
            <a:avLst/>
          </a:prstGeom>
          <a:noFill/>
          <a:ln w="6350">
            <a:solidFill>
              <a:srgbClr val="C8CFD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29768" y="1975104"/>
            <a:ext cx="5358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TRIZ Studio</a:t>
            </a:r>
            <a:pPr indent="0" marL="0">
              <a:buNone/>
            </a:pPr>
            <a:r>
              <a:rPr lang="en-US" sz="880" dirty="0">
                <a:solidFill>
                  <a:srgbClr val="5B65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Breaks cost-versus-performance trade-offs instead of accepting them</a:t>
            </a:r>
            <a:endParaRPr lang="en-US" sz="880" dirty="0"/>
          </a:p>
        </p:txBody>
      </p:sp>
      <p:sp>
        <p:nvSpPr>
          <p:cNvPr id="11" name="Shape 9"/>
          <p:cNvSpPr/>
          <p:nvPr/>
        </p:nvSpPr>
        <p:spPr>
          <a:xfrm>
            <a:off x="429768" y="2232050"/>
            <a:ext cx="5358384" cy="0"/>
          </a:xfrm>
          <a:prstGeom prst="line">
            <a:avLst/>
          </a:prstGeom>
          <a:noFill/>
          <a:ln w="6350">
            <a:solidFill>
              <a:srgbClr val="C8CFD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29768" y="2263140"/>
            <a:ext cx="5358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 Studio</a:t>
            </a:r>
            <a:pPr indent="0" marL="0">
              <a:buNone/>
            </a:pPr>
            <a:r>
              <a:rPr lang="en-US" sz="880" dirty="0">
                <a:solidFill>
                  <a:srgbClr val="5B65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Ideas from a part photo or CAD file when no data pack exists</a:t>
            </a:r>
            <a:endParaRPr lang="en-US" sz="880" dirty="0"/>
          </a:p>
        </p:txBody>
      </p:sp>
      <p:sp>
        <p:nvSpPr>
          <p:cNvPr id="13" name="Shape 11"/>
          <p:cNvSpPr/>
          <p:nvPr/>
        </p:nvSpPr>
        <p:spPr>
          <a:xfrm>
            <a:off x="429768" y="2520086"/>
            <a:ext cx="5358384" cy="0"/>
          </a:xfrm>
          <a:prstGeom prst="line">
            <a:avLst/>
          </a:prstGeom>
          <a:noFill/>
          <a:ln w="6350">
            <a:solidFill>
              <a:srgbClr val="C8CFD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29768" y="2551176"/>
            <a:ext cx="5358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 Diff</a:t>
            </a:r>
            <a:pPr indent="0" marL="0">
              <a:buNone/>
            </a:pPr>
            <a:r>
              <a:rPr lang="en-US" sz="880" dirty="0">
                <a:solidFill>
                  <a:srgbClr val="5B65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Finds the cost added by a design change, revision to revision</a:t>
            </a:r>
            <a:endParaRPr lang="en-US" sz="880" dirty="0"/>
          </a:p>
        </p:txBody>
      </p:sp>
      <p:sp>
        <p:nvSpPr>
          <p:cNvPr id="15" name="Shape 13"/>
          <p:cNvSpPr/>
          <p:nvPr/>
        </p:nvSpPr>
        <p:spPr>
          <a:xfrm>
            <a:off x="429768" y="2808122"/>
            <a:ext cx="5358384" cy="0"/>
          </a:xfrm>
          <a:prstGeom prst="line">
            <a:avLst/>
          </a:prstGeom>
          <a:noFill/>
          <a:ln w="6350">
            <a:solidFill>
              <a:srgbClr val="C8CF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29768" y="2839212"/>
            <a:ext cx="5358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Prism</a:t>
            </a:r>
            <a:pPr indent="0" marL="0">
              <a:buNone/>
            </a:pPr>
            <a:r>
              <a:rPr lang="en-US" sz="880" dirty="0">
                <a:solidFill>
                  <a:srgbClr val="5B65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One part in: cost breakdown, quote gap and evidence-backed ideas out</a:t>
            </a:r>
            <a:endParaRPr lang="en-US" sz="880" dirty="0"/>
          </a:p>
        </p:txBody>
      </p:sp>
      <p:sp>
        <p:nvSpPr>
          <p:cNvPr id="17" name="Shape 15"/>
          <p:cNvSpPr/>
          <p:nvPr/>
        </p:nvSpPr>
        <p:spPr>
          <a:xfrm>
            <a:off x="228600" y="3364992"/>
            <a:ext cx="5760720" cy="2240280"/>
          </a:xfrm>
          <a:prstGeom prst="roundRect">
            <a:avLst>
              <a:gd name="adj" fmla="val 3673"/>
            </a:avLst>
          </a:prstGeom>
          <a:solidFill>
            <a:srgbClr val="FBFCFD"/>
          </a:solidFill>
          <a:ln w="9525">
            <a:solidFill>
              <a:srgbClr val="C9D1D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29768" y="3483864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and analyse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429768" y="3803904"/>
            <a:ext cx="5358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Should-Cost</a:t>
            </a:r>
            <a:pPr indent="0" marL="0">
              <a:buNone/>
            </a:pPr>
            <a:r>
              <a:rPr lang="en-US" sz="880" dirty="0">
                <a:solidFill>
                  <a:srgbClr val="5B65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Bottom-up piece price from material, cycle, tooling and overhead</a:t>
            </a:r>
            <a:endParaRPr lang="en-US" sz="880" dirty="0"/>
          </a:p>
        </p:txBody>
      </p:sp>
      <p:sp>
        <p:nvSpPr>
          <p:cNvPr id="20" name="Shape 18"/>
          <p:cNvSpPr/>
          <p:nvPr/>
        </p:nvSpPr>
        <p:spPr>
          <a:xfrm>
            <a:off x="429768" y="4060850"/>
            <a:ext cx="5358384" cy="0"/>
          </a:xfrm>
          <a:prstGeom prst="line">
            <a:avLst/>
          </a:prstGeom>
          <a:noFill/>
          <a:ln w="6350">
            <a:solidFill>
              <a:srgbClr val="C8CFD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29768" y="4091940"/>
            <a:ext cx="5358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 → Cost</a:t>
            </a:r>
            <a:pPr indent="0" marL="0">
              <a:buNone/>
            </a:pPr>
            <a:r>
              <a:rPr lang="en-US" sz="880" dirty="0">
                <a:solidFill>
                  <a:srgbClr val="5B65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Cost driven by the geometry itself, straight from the 3D model</a:t>
            </a:r>
            <a:endParaRPr lang="en-US" sz="880" dirty="0"/>
          </a:p>
        </p:txBody>
      </p:sp>
      <p:sp>
        <p:nvSpPr>
          <p:cNvPr id="22" name="Shape 20"/>
          <p:cNvSpPr/>
          <p:nvPr/>
        </p:nvSpPr>
        <p:spPr>
          <a:xfrm>
            <a:off x="429768" y="4348886"/>
            <a:ext cx="5358384" cy="0"/>
          </a:xfrm>
          <a:prstGeom prst="line">
            <a:avLst/>
          </a:prstGeom>
          <a:noFill/>
          <a:ln w="6350">
            <a:solidFill>
              <a:srgbClr val="C8CFD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29768" y="4379976"/>
            <a:ext cx="5358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PCB → BOM → Cost</a:t>
            </a:r>
            <a:pPr indent="0" marL="0">
              <a:buNone/>
            </a:pPr>
            <a:r>
              <a:rPr lang="en-US" sz="880" dirty="0">
                <a:solidFill>
                  <a:srgbClr val="5B65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Board image to bill of materials to cost, without a teardown</a:t>
            </a:r>
            <a:endParaRPr lang="en-US" sz="880" dirty="0"/>
          </a:p>
        </p:txBody>
      </p:sp>
      <p:sp>
        <p:nvSpPr>
          <p:cNvPr id="24" name="Shape 22"/>
          <p:cNvSpPr/>
          <p:nvPr/>
        </p:nvSpPr>
        <p:spPr>
          <a:xfrm>
            <a:off x="429768" y="4636922"/>
            <a:ext cx="5358384" cy="0"/>
          </a:xfrm>
          <a:prstGeom prst="line">
            <a:avLst/>
          </a:prstGeom>
          <a:noFill/>
          <a:ln w="6350">
            <a:solidFill>
              <a:srgbClr val="C8CFD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29768" y="4668012"/>
            <a:ext cx="5358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BOM Batch</a:t>
            </a:r>
            <a:pPr indent="0" marL="0">
              <a:buNone/>
            </a:pPr>
            <a:r>
              <a:rPr lang="en-US" sz="880" dirty="0">
                <a:solidFill>
                  <a:srgbClr val="5B65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Prices a whole BOM in one run to find where the money sits</a:t>
            </a:r>
            <a:endParaRPr lang="en-US" sz="880" dirty="0"/>
          </a:p>
        </p:txBody>
      </p:sp>
      <p:sp>
        <p:nvSpPr>
          <p:cNvPr id="26" name="Shape 24"/>
          <p:cNvSpPr/>
          <p:nvPr/>
        </p:nvSpPr>
        <p:spPr>
          <a:xfrm>
            <a:off x="429768" y="4924958"/>
            <a:ext cx="5358384" cy="0"/>
          </a:xfrm>
          <a:prstGeom prst="line">
            <a:avLst/>
          </a:prstGeom>
          <a:noFill/>
          <a:ln w="6350">
            <a:solidFill>
              <a:srgbClr val="C8CFD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29768" y="4956048"/>
            <a:ext cx="5358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DFM / DFA Studio</a:t>
            </a:r>
            <a:pPr indent="0" marL="0">
              <a:buNone/>
            </a:pPr>
            <a:r>
              <a:rPr lang="en-US" sz="880" dirty="0">
                <a:solidFill>
                  <a:srgbClr val="5B65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Flags manufacturing and assembly problems while change is still cheap</a:t>
            </a:r>
            <a:endParaRPr lang="en-US" sz="880" dirty="0"/>
          </a:p>
        </p:txBody>
      </p:sp>
      <p:sp>
        <p:nvSpPr>
          <p:cNvPr id="28" name="Shape 26"/>
          <p:cNvSpPr/>
          <p:nvPr/>
        </p:nvSpPr>
        <p:spPr>
          <a:xfrm>
            <a:off x="429768" y="5212994"/>
            <a:ext cx="5358384" cy="0"/>
          </a:xfrm>
          <a:prstGeom prst="line">
            <a:avLst/>
          </a:prstGeom>
          <a:noFill/>
          <a:ln w="6350">
            <a:solidFill>
              <a:srgbClr val="C8CFD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29768" y="5244084"/>
            <a:ext cx="5358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Wiring Harness</a:t>
            </a:r>
            <a:pPr indent="0" marL="0">
              <a:buNone/>
            </a:pPr>
            <a:r>
              <a:rPr lang="en-US" sz="880" dirty="0">
                <a:solidFill>
                  <a:srgbClr val="5B65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Costs copper, connectors and assembly minutes line by line</a:t>
            </a:r>
            <a:endParaRPr lang="en-US" sz="880" dirty="0"/>
          </a:p>
        </p:txBody>
      </p:sp>
      <p:sp>
        <p:nvSpPr>
          <p:cNvPr id="30" name="Shape 28"/>
          <p:cNvSpPr/>
          <p:nvPr/>
        </p:nvSpPr>
        <p:spPr>
          <a:xfrm>
            <a:off x="6172200" y="960120"/>
            <a:ext cx="5760720" cy="1376172"/>
          </a:xfrm>
          <a:prstGeom prst="roundRect">
            <a:avLst>
              <a:gd name="adj" fmla="val 5980"/>
            </a:avLst>
          </a:prstGeom>
          <a:solidFill>
            <a:srgbClr val="FBFCFD"/>
          </a:solidFill>
          <a:ln w="9525">
            <a:solidFill>
              <a:srgbClr val="C9D1D9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373368" y="1078992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and decide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6373368" y="1399032"/>
            <a:ext cx="5358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</a:t>
            </a:r>
            <a:pPr indent="0" marL="0">
              <a:buNone/>
            </a:pPr>
            <a:r>
              <a:rPr lang="en-US" sz="880" dirty="0">
                <a:solidFill>
                  <a:srgbClr val="5B65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Tracks every idea from proposal to a saving finance has confirmed</a:t>
            </a:r>
            <a:endParaRPr lang="en-US" sz="880" dirty="0"/>
          </a:p>
        </p:txBody>
      </p:sp>
      <p:sp>
        <p:nvSpPr>
          <p:cNvPr id="33" name="Shape 31"/>
          <p:cNvSpPr/>
          <p:nvPr/>
        </p:nvSpPr>
        <p:spPr>
          <a:xfrm>
            <a:off x="6373368" y="1655978"/>
            <a:ext cx="5358384" cy="0"/>
          </a:xfrm>
          <a:prstGeom prst="line">
            <a:avLst/>
          </a:prstGeom>
          <a:noFill/>
          <a:ln w="6350">
            <a:solidFill>
              <a:srgbClr val="C8CFD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373368" y="1687068"/>
            <a:ext cx="5358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VAVE Tracker</a:t>
            </a:r>
            <a:pPr indent="0" marL="0">
              <a:buNone/>
            </a:pPr>
            <a:r>
              <a:rPr lang="en-US" sz="880" dirty="0">
                <a:solidFill>
                  <a:srgbClr val="5B65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Keeps approved ideas moving to implementation, with owners and dates</a:t>
            </a:r>
            <a:endParaRPr lang="en-US" sz="880" dirty="0"/>
          </a:p>
        </p:txBody>
      </p:sp>
      <p:sp>
        <p:nvSpPr>
          <p:cNvPr id="35" name="Shape 33"/>
          <p:cNvSpPr/>
          <p:nvPr/>
        </p:nvSpPr>
        <p:spPr>
          <a:xfrm>
            <a:off x="6373368" y="1944014"/>
            <a:ext cx="5358384" cy="0"/>
          </a:xfrm>
          <a:prstGeom prst="line">
            <a:avLst/>
          </a:prstGeom>
          <a:noFill/>
          <a:ln w="6350">
            <a:solidFill>
              <a:srgbClr val="C8CFD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373368" y="1975104"/>
            <a:ext cx="5358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 Marketplace</a:t>
            </a:r>
            <a:pPr indent="0" marL="0">
              <a:buNone/>
            </a:pPr>
            <a:r>
              <a:rPr lang="en-US" sz="880" dirty="0">
                <a:solidFill>
                  <a:srgbClr val="5B65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A reusable library of proven ideas, so nothing is invented twice</a:t>
            </a:r>
            <a:endParaRPr lang="en-US" sz="880" dirty="0"/>
          </a:p>
        </p:txBody>
      </p:sp>
      <p:sp>
        <p:nvSpPr>
          <p:cNvPr id="37" name="Shape 35"/>
          <p:cNvSpPr/>
          <p:nvPr/>
        </p:nvSpPr>
        <p:spPr>
          <a:xfrm>
            <a:off x="6172200" y="2500884"/>
            <a:ext cx="5760720" cy="1088136"/>
          </a:xfrm>
          <a:prstGeom prst="roundRect">
            <a:avLst>
              <a:gd name="adj" fmla="val 7563"/>
            </a:avLst>
          </a:prstGeom>
          <a:solidFill>
            <a:srgbClr val="FBFCFD"/>
          </a:solidFill>
          <a:ln w="9525">
            <a:solidFill>
              <a:srgbClr val="C9D1D9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373368" y="2619756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 and look ahead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6373368" y="2939796"/>
            <a:ext cx="5358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</a:t>
            </a:r>
            <a:pPr indent="0" marL="0">
              <a:buNone/>
            </a:pPr>
            <a:r>
              <a:rPr lang="en-US" sz="880" dirty="0">
                <a:solidFill>
                  <a:srgbClr val="5B65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Shows where a part is heading technically over the next few years</a:t>
            </a:r>
            <a:endParaRPr lang="en-US" sz="880" dirty="0"/>
          </a:p>
        </p:txBody>
      </p:sp>
      <p:sp>
        <p:nvSpPr>
          <p:cNvPr id="40" name="Shape 38"/>
          <p:cNvSpPr/>
          <p:nvPr/>
        </p:nvSpPr>
        <p:spPr>
          <a:xfrm>
            <a:off x="6373368" y="3196742"/>
            <a:ext cx="5358384" cy="0"/>
          </a:xfrm>
          <a:prstGeom prst="line">
            <a:avLst/>
          </a:prstGeom>
          <a:noFill/>
          <a:ln w="6350">
            <a:solidFill>
              <a:srgbClr val="C8CFD6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373368" y="3227832"/>
            <a:ext cx="5358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Trends</a:t>
            </a:r>
            <a:pPr indent="0" marL="0">
              <a:buNone/>
            </a:pPr>
            <a:r>
              <a:rPr lang="en-US" sz="880" dirty="0">
                <a:solidFill>
                  <a:srgbClr val="5B65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Commodity cost trends and the levers that actually move them</a:t>
            </a:r>
            <a:endParaRPr lang="en-US" sz="880" dirty="0"/>
          </a:p>
        </p:txBody>
      </p:sp>
      <p:sp>
        <p:nvSpPr>
          <p:cNvPr id="42" name="Shape 40"/>
          <p:cNvSpPr/>
          <p:nvPr/>
        </p:nvSpPr>
        <p:spPr>
          <a:xfrm>
            <a:off x="6172200" y="3675888"/>
            <a:ext cx="5760720" cy="1481328"/>
          </a:xfrm>
          <a:prstGeom prst="roundRect">
            <a:avLst>
              <a:gd name="adj" fmla="val 5556"/>
            </a:avLst>
          </a:prstGeom>
          <a:solidFill>
            <a:srgbClr val="FBFCFD"/>
          </a:solidFill>
          <a:ln w="9525">
            <a:solidFill>
              <a:srgbClr val="C9D1D9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373368" y="3794760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 run needs, and what comes back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6373368" y="4096512"/>
            <a:ext cx="535838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88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In:  </a:t>
            </a:r>
            <a:pPr indent="0" marL="0">
              <a:lnSpc>
                <a:spcPct val="95000"/>
              </a:lnSpc>
              <a:spcAft>
                <a:spcPts val="400"/>
              </a:spcAft>
              <a:buNone/>
            </a:pPr>
            <a:r>
              <a:rPr lang="en-US" sz="88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3D CAD (STEP or native) and 2D drawings, annual volume, and the current price or supplier quote where there is one.</a:t>
            </a:r>
            <a:endParaRPr lang="en-US" sz="88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88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Out:  </a:t>
            </a:r>
            <a:pPr indent="0" marL="0">
              <a:lnSpc>
                <a:spcPct val="95000"/>
              </a:lnSpc>
              <a:spcAft>
                <a:spcPts val="400"/>
              </a:spcAft>
              <a:buNone/>
            </a:pPr>
            <a:r>
              <a:rPr lang="en-US" sz="88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ideas at assembly, sub-assembly, part and technology level — each with a described change, a process route, a calculated saving and the engine's verdict.</a:t>
            </a:r>
            <a:endParaRPr lang="en-US" sz="88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88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Export:  </a:t>
            </a:r>
            <a:pPr indent="0" marL="0">
              <a:lnSpc>
                <a:spcPct val="95000"/>
              </a:lnSpc>
              <a:buNone/>
            </a:pPr>
            <a:r>
              <a:rPr lang="en-US" sz="88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Excel, PowerPoint and PDF, so the output goes straight into the programme review.</a:t>
            </a:r>
            <a:endParaRPr lang="en-US" sz="880" dirty="0"/>
          </a:p>
        </p:txBody>
      </p:sp>
      <p:sp>
        <p:nvSpPr>
          <p:cNvPr id="45" name="Text 43"/>
          <p:cNvSpPr txBox="1"/>
          <p:nvPr/>
        </p:nvSpPr>
        <p:spPr>
          <a:xfrm>
            <a:off x="228600" y="6455664"/>
            <a:ext cx="1170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i="1" dirty="0">
                <a:solidFill>
                  <a:srgbClr val="5B65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idea any of these tools produces carries the engine's verdict — confirmed, contradicted, or not verifiable with the reason stated.</a:t>
            </a:r>
            <a:endParaRPr lang="en-US" sz="86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BrainSpark — AI-Assisted Cost Reduction Idea Generation</dc:title>
  <dc:subject>PptxGenJS Presentation</dc:subject>
  <dc:creator>BrainSpark</dc:creator>
  <cp:lastModifiedBy>BrainSpark</cp:lastModifiedBy>
  <cp:revision>1</cp:revision>
  <dcterms:created xsi:type="dcterms:W3CDTF">2026-09-10T09:08:14Z</dcterms:created>
  <dcterms:modified xsi:type="dcterms:W3CDTF">2026-09-10T09:08:14Z</dcterms:modified>
</cp:coreProperties>
</file>