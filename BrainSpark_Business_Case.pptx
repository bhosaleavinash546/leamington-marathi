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16459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20" kern="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GENERATION BUSINESS CASE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402336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spc="140" kern="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BrainSpark  –  Cost Reduction Idea Generation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28600" y="859536"/>
            <a:ext cx="5989320" cy="1746504"/>
          </a:xfrm>
          <a:prstGeom prst="roundRect">
            <a:avLst>
              <a:gd name="adj" fmla="val 4712"/>
            </a:avLst>
          </a:prstGeom>
          <a:solidFill>
            <a:srgbClr val="FBFCFD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38912" y="95097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983480" y="9509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PII: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13248" y="914400"/>
            <a:ext cx="219456" cy="219456"/>
          </a:xfrm>
          <a:prstGeom prst="rect">
            <a:avLst/>
          </a:prstGeom>
          <a:solidFill>
            <a:srgbClr val="FFFFFF"/>
          </a:solidFill>
          <a:ln w="15875">
            <a:solidFill>
              <a:srgbClr val="3A404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8912" y="1207008"/>
            <a:ext cx="556869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of the cost is never challenged.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programme carries thousands of parts; a workshop reaches a few dozen, so most of the spend is never looked at.</a:t>
            </a:r>
            <a:endParaRPr lang="en-US" sz="780" dirty="0"/>
          </a:p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cannot be used as written.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come as single lines — "change the material", "delete the bracket" — with no process, grade, tolerance or number, so nobody can act on one without going back to whoever wrote it.</a:t>
            </a:r>
            <a:endParaRPr lang="en-US" sz="780" dirty="0"/>
          </a:p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can be ranked.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knows whether an idea is worth 20p or £2 until an engineer costs it by hand, which can take a day for a single idea.</a:t>
            </a:r>
            <a:endParaRPr lang="en-US" sz="780" dirty="0"/>
          </a:p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discounts what we submit,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savings are a judgement rather than a calculation. The number that reaches the plan is never the number on the sheet.</a:t>
            </a:r>
            <a:endParaRPr lang="en-US" sz="780" dirty="0"/>
          </a:p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work is done twice.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is kept, so ideas already tried — and ideas already rejected — come round again on the next programme.</a:t>
            </a:r>
            <a:endParaRPr lang="en-US" sz="780" dirty="0"/>
          </a:p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does not scale.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programmes and more variants mean more workshops, and there are only so many people who can run them.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228600" y="2642616"/>
            <a:ext cx="5989320" cy="1444752"/>
          </a:xfrm>
          <a:prstGeom prst="roundRect">
            <a:avLst>
              <a:gd name="adj" fmla="val 5696"/>
            </a:avLst>
          </a:prstGeom>
          <a:solidFill>
            <a:srgbClr val="FBFCFD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" y="273405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State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38912" y="2990088"/>
            <a:ext cx="556869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or two people carry it.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number of experienced engineers generate most of the ideas. When they are on other work, or they leave, it stops.</a:t>
            </a:r>
            <a:endParaRPr lang="en-US" sz="780" dirty="0"/>
          </a:p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of preparation first.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Drawings, BOMs, current piece costs and benchmark data are pulled together by hand before a workshop can be held.</a:t>
            </a:r>
            <a:endParaRPr lang="en-US" sz="780" dirty="0"/>
          </a:p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the workshop itself,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taking eight to fifteen people off the job for one or two days, away from their normal work.</a:t>
            </a:r>
            <a:endParaRPr lang="en-US" sz="780" dirty="0"/>
          </a:p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weeks of chasing.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author is asked what they meant, whether it can be done and what it saves. Many never reply, and those ideas quietly die.</a:t>
            </a:r>
            <a:endParaRPr lang="en-US" sz="780" dirty="0"/>
          </a:p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follows the room.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 commodities are skipped because nobody who attended knew them well enough to challenge them.</a:t>
            </a:r>
            <a:endParaRPr lang="en-US" sz="780" dirty="0"/>
          </a:p>
        </p:txBody>
      </p:sp>
      <p:sp>
        <p:nvSpPr>
          <p:cNvPr id="12" name="Shape 10"/>
          <p:cNvSpPr/>
          <p:nvPr/>
        </p:nvSpPr>
        <p:spPr>
          <a:xfrm>
            <a:off x="228600" y="4123944"/>
            <a:ext cx="5989320" cy="2505456"/>
          </a:xfrm>
          <a:prstGeom prst="roundRect">
            <a:avLst>
              <a:gd name="adj" fmla="val 3285"/>
            </a:avLst>
          </a:prstGeom>
          <a:solidFill>
            <a:srgbClr val="FBFCFD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" y="421538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Solution / Model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38912" y="4471416"/>
            <a:ext cx="5568696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the CAD and the drawings.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Geometry, material, tolerances and finishes are read from the files, for a single part or a whole assembly. Nobody types them in.</a:t>
            </a:r>
            <a:endParaRPr lang="en-US" sz="780" dirty="0"/>
          </a:p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Should-Cost sets the baseline.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builds the piece price from the bottom up — material, cycle time, tooling and overhead — so every idea is measured against a number rather than an opinion.</a:t>
            </a:r>
            <a:endParaRPr lang="en-US" sz="780" dirty="0"/>
          </a:p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Prism shows where the price sits.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splits one part into what the design costs, what the specification costs, what the chosen process costs and what the sourcing location costs, so you know which line of a supplier quote to argue with.</a:t>
            </a:r>
            <a:endParaRPr lang="en-US" sz="780" dirty="0"/>
          </a:p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DFM / DFA Studio reads the model,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flagging what will be awkward or expensive to make and assemble — thin walls, undercuts, missing draft, too many fasteners — while the design can still change.</a:t>
            </a:r>
            <a:endParaRPr lang="en-US" sz="780" dirty="0"/>
          </a:p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 Studio and TRIZ Studio generate the ideas;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structured value engineering methods, plus a way of breaking a cost-versus-performance trade-off rather than accepting it. Horizon checks the decision against where the technology is going.</a:t>
            </a:r>
            <a:endParaRPr lang="en-US" sz="780" dirty="0"/>
          </a:p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come at four levels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assembly, sub-assembly, part, technology — each naming the change, the process, the material and the saving per part, across every commodity.</a:t>
            </a:r>
            <a:endParaRPr lang="en-US" sz="780" dirty="0"/>
          </a:p>
          <a:p>
            <a:pPr marL="342900" indent="-342900">
              <a:lnSpc>
                <a:spcPct val="93000"/>
              </a:lnSpc>
              <a:buSzPct val="100000"/>
              <a:buChar char="•"/>
            </a:pPr>
            <a:r>
              <a:rPr lang="en-US" sz="78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saving is always calculated </a:t>
            </a:r>
            <a:pPr indent="0" marL="0">
              <a:lnSpc>
                <a:spcPct val="93000"/>
              </a:lnSpc>
              <a:spcAft>
                <a:spcPts val="50"/>
              </a:spcAft>
              <a:buNone/>
            </a:pPr>
            <a:r>
              <a:rPr lang="en-US" sz="7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cost engine, and every idea says whether it was confirmed, contradicted, or could not be checked and why. The AI writes the idea; it never supplies the number.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355080" y="859536"/>
            <a:ext cx="2788920" cy="1554480"/>
          </a:xfrm>
          <a:prstGeom prst="roundRect">
            <a:avLst>
              <a:gd name="adj" fmla="val 5294"/>
            </a:avLst>
          </a:prstGeom>
          <a:solidFill>
            <a:srgbClr val="DCE7DC"/>
          </a:solidFill>
          <a:ln w="9525">
            <a:solidFill>
              <a:srgbClr val="B9CDB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37960" y="95097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ROI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1207008"/>
            <a:ext cx="24231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Cost: £</a:t>
            </a:r>
            <a:endParaRPr lang="en-US" sz="9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74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Hosting and API usage. No new hardware and no licences.</a:t>
            </a:r>
            <a:endParaRPr lang="en-US" sz="95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Return: £</a:t>
            </a:r>
            <a:endParaRPr lang="en-US" sz="95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return based on?</a:t>
            </a:r>
            <a:endParaRPr lang="en-US" sz="95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720" i="1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 engineer hours released per week × loaded rate × weeks )</a:t>
            </a:r>
            <a:endParaRPr lang="en-US" sz="95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720" i="1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( saving per part the engine confirms × annual volume 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355080" y="2450592"/>
            <a:ext cx="2788920" cy="420624"/>
          </a:xfrm>
          <a:prstGeom prst="roundRect">
            <a:avLst>
              <a:gd name="adj" fmla="val 19565"/>
            </a:avLst>
          </a:prstGeom>
          <a:solidFill>
            <a:srgbClr val="DEE5F0"/>
          </a:solidFill>
          <a:ln w="9525">
            <a:solidFill>
              <a:srgbClr val="BCC8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37960" y="255117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(hrs/week)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355080" y="2907792"/>
            <a:ext cx="2788920" cy="2798064"/>
          </a:xfrm>
          <a:prstGeom prst="roundRect">
            <a:avLst>
              <a:gd name="adj" fmla="val 2951"/>
            </a:avLst>
          </a:prstGeom>
          <a:solidFill>
            <a:srgbClr val="DCE7DC"/>
          </a:solidFill>
          <a:ln w="9525">
            <a:solidFill>
              <a:srgbClr val="B9CDB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37960" y="299923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Benefits: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537960" y="3255264"/>
            <a:ext cx="2423160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82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parts covered.  </a:t>
            </a:r>
            <a:pPr indent="0" marL="0">
              <a:lnSpc>
                <a:spcPct val="94000"/>
              </a:lnSpc>
              <a:spcAft>
                <a:spcPts val="500"/>
              </a:spcAft>
              <a:buNone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programme has thousands of parts. This looks at all of them, not the few a workshop reaches.</a:t>
            </a:r>
            <a:endParaRPr lang="en-US" sz="82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82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Much faster, and usable.  </a:t>
            </a:r>
            <a:pPr indent="0" marL="0">
              <a:lnSpc>
                <a:spcPct val="94000"/>
              </a:lnSpc>
              <a:spcAft>
                <a:spcPts val="500"/>
              </a:spcAft>
              <a:buNone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idea arrives already written up and costed, naming the change, the process, the material and the saving per part. Nothing to chase.</a:t>
            </a:r>
            <a:endParaRPr lang="en-US" sz="82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82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standard every time.  </a:t>
            </a:r>
            <a:pPr indent="0" marL="0">
              <a:lnSpc>
                <a:spcPct val="94000"/>
              </a:lnSpc>
              <a:spcAft>
                <a:spcPts val="500"/>
              </a:spcAft>
              <a:buNone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does not depend on who was available that week.</a:t>
            </a:r>
            <a:endParaRPr lang="en-US" sz="82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82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Finance can check.  </a:t>
            </a:r>
            <a:pPr indent="0" marL="0">
              <a:lnSpc>
                <a:spcPct val="94000"/>
              </a:lnSpc>
              <a:spcAft>
                <a:spcPts val="500"/>
              </a:spcAft>
              <a:buNone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saving is calculated and the working is shown, so less of it gets discounted.</a:t>
            </a:r>
            <a:endParaRPr lang="en-US" sz="82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82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is lost.  </a:t>
            </a:r>
            <a:pPr indent="0" marL="0">
              <a:lnSpc>
                <a:spcPct val="94000"/>
              </a:lnSpc>
              <a:spcAft>
                <a:spcPts val="500"/>
              </a:spcAft>
              <a:buNone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Ideas, decisions and confirmed savings are kept and reused on the next programme.</a:t>
            </a:r>
            <a:endParaRPr lang="en-US" sz="82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82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use of engineers.  </a:t>
            </a:r>
            <a:pPr indent="0" marL="0">
              <a:lnSpc>
                <a:spcPct val="94000"/>
              </a:lnSpc>
              <a:buNone/>
            </a:pPr>
            <a:r>
              <a:rPr lang="en-US" sz="82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time goes on judging and implementing ideas rather than collecting data.</a:t>
            </a:r>
            <a:endParaRPr lang="en-US" sz="820" dirty="0"/>
          </a:p>
        </p:txBody>
      </p:sp>
      <p:sp>
        <p:nvSpPr>
          <p:cNvPr id="23" name="Shape 21"/>
          <p:cNvSpPr/>
          <p:nvPr/>
        </p:nvSpPr>
        <p:spPr>
          <a:xfrm>
            <a:off x="6355080" y="5742432"/>
            <a:ext cx="2788920" cy="886968"/>
          </a:xfrm>
          <a:prstGeom prst="roundRect">
            <a:avLst>
              <a:gd name="adj" fmla="val 9278"/>
            </a:avLst>
          </a:prstGeom>
          <a:solidFill>
            <a:srgbClr val="DCE7DC"/>
          </a:solidFill>
          <a:ln w="9525">
            <a:solidFill>
              <a:srgbClr val="B9CDB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37960" y="5833872"/>
            <a:ext cx="2423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3000"/>
              </a:lnSpc>
              <a:buNone/>
            </a:pPr>
            <a:r>
              <a:rPr lang="en-US" sz="74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measured.  </a:t>
            </a:r>
            <a:pPr indent="0" marL="0">
              <a:lnSpc>
                <a:spcPct val="93000"/>
              </a:lnSpc>
              <a:spcAft>
                <a:spcPts val="300"/>
              </a:spcAft>
              <a:buNone/>
            </a:pPr>
            <a:r>
              <a:rPr lang="en-US" sz="74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against 16 reference parts held back from development: 15 landed inside tolerance, average error 11%.</a:t>
            </a:r>
            <a:endParaRPr lang="en-US" sz="740" dirty="0"/>
          </a:p>
          <a:p>
            <a:pPr indent="0" marL="0">
              <a:lnSpc>
                <a:spcPct val="93000"/>
              </a:lnSpc>
              <a:buNone/>
            </a:pPr>
            <a:r>
              <a:rPr lang="en-US" sz="74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are asking for.  </a:t>
            </a:r>
            <a:pPr indent="0" marL="0">
              <a:lnSpc>
                <a:spcPct val="93000"/>
              </a:lnSpc>
              <a:buNone/>
            </a:pPr>
            <a:r>
              <a:rPr lang="en-US" sz="74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pilot on one part family — about twenty parts already costed by hand, run in parallel and judged by comparing the two sets of numbers.</a:t>
            </a:r>
            <a:endParaRPr lang="en-US" sz="740" dirty="0"/>
          </a:p>
        </p:txBody>
      </p:sp>
      <p:sp>
        <p:nvSpPr>
          <p:cNvPr id="25" name="Shape 23"/>
          <p:cNvSpPr/>
          <p:nvPr/>
        </p:nvSpPr>
        <p:spPr>
          <a:xfrm>
            <a:off x="9281160" y="859536"/>
            <a:ext cx="2679192" cy="1554480"/>
          </a:xfrm>
          <a:prstGeom prst="roundRect">
            <a:avLst>
              <a:gd name="adj" fmla="val 5294"/>
            </a:avLst>
          </a:prstGeom>
          <a:solidFill>
            <a:srgbClr val="FBFCFD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464040" y="9509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Individuals: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9464040" y="1225296"/>
            <a:ext cx="2313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 Submitter: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LL4 Sponsor: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9464040" y="1783080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agreed with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11430000" y="1837944"/>
            <a:ext cx="219456" cy="219456"/>
          </a:xfrm>
          <a:prstGeom prst="rect">
            <a:avLst/>
          </a:prstGeom>
          <a:solidFill>
            <a:srgbClr val="FFFFFF"/>
          </a:solidFill>
          <a:ln w="15875">
            <a:solidFill>
              <a:srgbClr val="3A404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281160" y="2450592"/>
            <a:ext cx="2679192" cy="4178808"/>
          </a:xfrm>
          <a:prstGeom prst="roundRect">
            <a:avLst>
              <a:gd name="adj" fmla="val 3072"/>
            </a:avLst>
          </a:prstGeom>
          <a:solidFill>
            <a:srgbClr val="FBFCFD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464040" y="254203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Scoping: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9464040" y="2798064"/>
            <a:ext cx="2313432" cy="377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Enabling AI on an existing system?</a:t>
            </a:r>
            <a:endParaRPr lang="en-US" sz="880" dirty="0"/>
          </a:p>
          <a:p>
            <a:pPr indent="0" marL="0">
              <a:lnSpc>
                <a:spcPct val="92000"/>
              </a:lnSpc>
              <a:spcAft>
                <a:spcPts val="800"/>
              </a:spcAft>
              <a:buNone/>
            </a:pPr>
            <a:r>
              <a:rPr lang="en-US" sz="7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— a separate application, and it is already built and running.</a:t>
            </a:r>
            <a:endParaRPr lang="en-US" sz="880" dirty="0"/>
          </a:p>
          <a:p>
            <a:pPr indent="0" marL="0">
              <a:lnSpc>
                <a:spcPct val="92000"/>
              </a:lnSpc>
              <a:spcAft>
                <a:spcPts val="800"/>
              </a:spcAft>
              <a:buNone/>
            </a:pPr>
            <a:r>
              <a:rPr lang="en-US" sz="8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used:  ANTHROPIC Claude</a:t>
            </a:r>
            <a:endParaRPr lang="en-US" sz="88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implementation/support required?</a:t>
            </a:r>
            <a:endParaRPr lang="en-US" sz="880" dirty="0"/>
          </a:p>
          <a:p>
            <a:pPr indent="0" marL="0">
              <a:lnSpc>
                <a:spcPct val="92000"/>
              </a:lnSpc>
              <a:spcAft>
                <a:spcPts val="800"/>
              </a:spcAft>
              <a:buNone/>
            </a:pPr>
            <a:r>
              <a:rPr lang="en-US" sz="7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 — somewhere to host it, a disk that persists and an API key. No new hardware.</a:t>
            </a:r>
            <a:endParaRPr lang="en-US" sz="88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handling:</a:t>
            </a:r>
            <a:endParaRPr lang="en-US" sz="880" dirty="0"/>
          </a:p>
          <a:p>
            <a:pPr indent="0" marL="0">
              <a:lnSpc>
                <a:spcPct val="92000"/>
              </a:lnSpc>
              <a:spcAft>
                <a:spcPts val="800"/>
              </a:spcAft>
              <a:buNone/>
            </a:pPr>
            <a:r>
              <a:rPr lang="en-US" sz="7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 and drawing files are processed on the server and never sent out. Text taken from them — part name, dimensions, material, cost figures — goes to the Anthropic API so the ideas can be written, as does a supplier quote if you upload one to be read.</a:t>
            </a:r>
            <a:endParaRPr lang="en-US" sz="88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run needs:</a:t>
            </a:r>
            <a:endParaRPr lang="en-US" sz="880" dirty="0"/>
          </a:p>
          <a:p>
            <a:pPr indent="0" marL="0">
              <a:lnSpc>
                <a:spcPct val="92000"/>
              </a:lnSpc>
              <a:spcAft>
                <a:spcPts val="800"/>
              </a:spcAft>
              <a:buNone/>
            </a:pPr>
            <a:r>
              <a:rPr lang="en-US" sz="7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CAD (STEP or native), 2D drawings, annual volume, and the current price or quote if there is one.</a:t>
            </a:r>
            <a:endParaRPr lang="en-US" sz="88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comes out:</a:t>
            </a:r>
            <a:endParaRPr lang="en-US" sz="880" dirty="0"/>
          </a:p>
          <a:p>
            <a:pPr indent="0" marL="0">
              <a:lnSpc>
                <a:spcPct val="92000"/>
              </a:lnSpc>
              <a:spcAft>
                <a:spcPts val="800"/>
              </a:spcAft>
              <a:buNone/>
            </a:pPr>
            <a:r>
              <a:rPr lang="en-US" sz="7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Excel, PowerPoint and PDF for the review.</a:t>
            </a:r>
            <a:endParaRPr lang="en-US" sz="88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is not:</a:t>
            </a:r>
            <a:endParaRPr lang="en-US" sz="880" dirty="0"/>
          </a:p>
          <a:p>
            <a:pPr indent="0" marL="0">
              <a:lnSpc>
                <a:spcPct val="92000"/>
              </a:lnSpc>
              <a:spcAft>
                <a:spcPts val="800"/>
              </a:spcAft>
              <a:buNone/>
            </a:pPr>
            <a:r>
              <a:rPr lang="en-US" sz="7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does not replace the cost engineer's judgement. It does the data work and the first pass; the decisions stay with the engineer.</a:t>
            </a:r>
            <a:endParaRPr lang="en-US" sz="88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8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prove it:</a:t>
            </a:r>
            <a:endParaRPr lang="en-US" sz="88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5B6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parts already costed by hand and compare, before anything is relied on.</a:t>
            </a:r>
            <a:endParaRPr lang="en-US" sz="8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BrainSpark — AI-Assisted Cost Reduction Idea Generation</dc:title>
  <dc:subject>PptxGenJS Presentation</dc:subject>
  <dc:creator>BrainSpark</dc:creator>
  <cp:lastModifiedBy>BrainSpark</cp:lastModifiedBy>
  <cp:revision>1</cp:revision>
  <dcterms:created xsi:type="dcterms:W3CDTF">2026-09-10T09:46:47Z</dcterms:created>
  <dcterms:modified xsi:type="dcterms:W3CDTF">2026-09-10T09:46:47Z</dcterms:modified>
</cp:coreProperties>
</file>