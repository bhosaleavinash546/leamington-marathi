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Effort</c:v>
                </c:pt>
              </c:strCache>
            </c:strRef>
          </c:tx>
          <c:spPr>
            <a:solidFill>
              <a:srgbClr val="C9D6EC"/>
            </a:solidFill>
          </c:spPr>
          <c:cat>
            <c:strRef>
              <c:f>Sheet1!$A$2:$A$5</c:f>
              <c:strCache>
                <c:ptCount val="4"/>
                <c:pt idx="0">
                  <c:v>Phase 0
Compliant</c:v>
                </c:pt>
                <c:pt idx="1">
                  <c:v>Phase 1
Pilot live</c:v>
                </c:pt>
                <c:pt idx="2">
                  <c:v>Phase 2
Enterprise</c:v>
                </c:pt>
                <c:pt idx="3">
                  <c:v>Phase 3
Scaled</c:v>
                </c:pt>
              </c:strCache>
            </c:strRef>
          </c:cat>
          <c:val>
            <c:numRef>
              <c:f>Sheet1!$B$2:$B$5</c:f>
              <c:numCache>
                <c:formatCode>General</c:formatCode>
                <c:ptCount val="4"/>
                <c:pt idx="0">
                  <c:v>2</c:v>
                </c:pt>
                <c:pt idx="1">
                  <c:v>4</c:v>
                </c:pt>
                <c:pt idx="2">
                  <c:v>5</c:v>
                </c:pt>
                <c:pt idx="3">
                  <c:v>3</c:v>
                </c:pt>
              </c:numCache>
            </c:numRef>
          </c:val>
        </c:ser>
        <c:ser>
          <c:idx val="1"/>
          <c:order val="1"/>
          <c:tx>
            <c:strRef>
              <c:f>Sheet1!$C$1</c:f>
              <c:strCache>
                <c:ptCount val="1"/>
                <c:pt idx="0">
                  <c:v>Value delivered</c:v>
                </c:pt>
              </c:strCache>
            </c:strRef>
          </c:tx>
          <c:spPr>
            <a:solidFill>
              <a:srgbClr val="2A6AF2"/>
            </a:solidFill>
          </c:spPr>
          <c:cat>
            <c:strRef>
              <c:f>Sheet1!$A$2:$A$5</c:f>
              <c:strCache>
                <c:ptCount val="4"/>
                <c:pt idx="0">
                  <c:v>Phase 0
Compliant</c:v>
                </c:pt>
                <c:pt idx="1">
                  <c:v>Phase 1
Pilot live</c:v>
                </c:pt>
                <c:pt idx="2">
                  <c:v>Phase 2
Enterprise</c:v>
                </c:pt>
                <c:pt idx="3">
                  <c:v>Phase 3
Scaled</c:v>
                </c:pt>
              </c:strCache>
            </c:strRef>
          </c:cat>
          <c:val>
            <c:numRef>
              <c:f>Sheet1!$C$2:$C$5</c:f>
              <c:numCache>
                <c:formatCode>General</c:formatCode>
                <c:ptCount val="4"/>
                <c:pt idx="0">
                  <c:v>4</c:v>
                </c:pt>
                <c:pt idx="1">
                  <c:v>8</c:v>
                </c:pt>
                <c:pt idx="2">
                  <c:v>9</c:v>
                </c:pt>
                <c:pt idx="3">
                  <c:v>10</c:v>
                </c:pt>
              </c:numCache>
            </c:numRef>
          </c:val>
        </c:ser>
        <c:gapWidth val="90"/>
        <c:axId val="-2068027336"/>
        <c:axId val="-2113994440"/>
      </c:barChart>
      <c:catAx>
        <c:axId val="-2068027336"/>
        <c:scaling>
          <c:orientation val="minMax"/>
        </c:scaling>
        <c:delete val="0"/>
        <c:axPos val="b"/>
        <c:majorTickMark val="out"/>
        <c:minorTickMark val="none"/>
        <c:tickLblPos val="nextTo"/>
        <c:txPr>
          <a:bodyPr/>
          <a:lstStyle/>
          <a:p>
            <a:pPr>
              <a:defRPr sz="1100">
                <a:latin typeface="Segoe U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latin typeface="Segoe UI"/>
              </a:defRPr>
            </a:pPr>
          </a:p>
        </c:txPr>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Set the frame: this is about taking a tool that already works and deploying it safely inside our own organisation, so our data never leaves the building. Three promises up front — it runs on our own servers, it does not depend on any outside AI service, and security is built in from day one. Keep it reassuring: we are not buying a risky external product; we are bringing something we control in-house.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the audience what the tool actually delivers, in business terms — not features, but outcomes. The key message: it gives us one consistent, defensible cost number, quickly, instead of every engineer or buyer estimating differently in their own spreadsheet. The little funnel on the right shows the simple idea: details go in, a trusted price comes out. This sets up WHY it is worth deploying properly.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'as-is' picture and the most important slide for a security conversation. Left side (green): the good news — the core data already lives on our own server in a single database file, passwords are encrypted, and uploaded photos are never even written to disk. Right side (red): the catch — the AI features currently send data to an outside AI provider. That is exactly what our policy does not allow. Be upfront: this is fixable, and the next slide shows how. Do not hide this; management will trust the plan more because we surfaced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single most important decision simply. Our policy says no external AI apps. The reassuring headline: the actual cost calculations are done entirely by our own maths — they do not need AI. AI is only a convenience layer (a chat helper, reading a photo into a parts list, writing summaries). So we have three clean choices. Recommend starting with Option A (switch AI off) to get compliant and live quickly, then move to Option B (our own in-house AI) later if the team wants those helpers back. Option C if IT already offers an approved internal AI. Emphasise: none of these options block the core value of the tool.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picture left to right in plain language. Our people open the tool in a normal web browser. Their request goes through a secure gateway (this handles encryption, blocks attacks, and limits abuse). Behind it sits the CostVision app, which does the calculations, and our own database, which holds accounts and saved work. Optionally, an in-house AI box and encrypted nightly backups. The big blue box is the key point: everything lives inside our firewall. Nothing has to touch the public internet — and any optional outside feeds can be switched off entirely for a fully sealed, air-gapped install.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reassurance slide for the security-minded. Do not read every box — summarise: a lot of protection is ALREADY built into the tool (the green items — encrypted passwords, private per-user data that we have actually tested, photos never written to disk, and standard attack protection). The blue items are the standard enterprise additions we will layer on for production: logging in with our existing company account and MFA, proper role-based access, encryption end to end, an audit trail feeding IT's monitoring, and reliable backups. Message: this follows normal corporate security practice — no surprises.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told as four simple steps on a timeline. Phase 0 (about a week): make it compliant — switch the AI off or in-house and seal any external feeds. Phase 1 (2–3 weeks): a proper secure install on one server with HTTPS and backups, tried by a small pilot group. Phase 2 (3–4 weeks): plug into our normal company login with MFA and set who can see what. Phase 3: ongoing hardening, a security test, and wider roll-out. The key reassurance at the bottom: we are already live and compliant after Phase 1 — the later phases add polish and scale, not core function, so value arrives early and risk stays 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balanced and honest — management trusts a plan that names its costs. Left: the benefits, led by the one that matters most for this audience — our data stays with us. Then the business wins: consistent numbers, faster quoting, no per-seat external fees, and full control. Right: the honest considerations — it needs a server and IT ownership, the AI question needs a decision, in-house AI would need hardware, and someone must own upkeep and keep the rate data current. Nothing here is a blocker; these are normal ownership costs for any internal system. Presenting both sides builds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visual to make the investment case without spreadsheets. The light bars are the effort in each phase; the blue bars are the value we get. The story the chart tells: value rises faster than effort, and the biggest single jump comes early — when the pilot goes live. After that, each phase keeps adding value for modest extra effort. Bottom line for management: this is a mostly one-time setup with a long-term payoff, and we start getting return almost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clear ask so the meeting ends in a decision, not just discussion. Left: the three decisions we genuinely need from them — the AI approach, who hosts it, and who is in the pilot. Right: the concrete next steps and a realistic target of a live pilot in about four weeks. End on the one-line ask at the bottom: approve Phase 0 and name a pilot group. Reinforce the theme — low cost, low risk, quick to value, and our data stays ours. Then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685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2377440"/>
          </a:xfrm>
          <a:prstGeom prst="rect">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331720"/>
            <a:ext cx="12191695" cy="73152"/>
          </a:xfrm>
          <a:prstGeom prst="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0080"/>
            <a:ext cx="10698480" cy="457200"/>
          </a:xfrm>
          <a:prstGeom prst="rect">
            <a:avLst/>
          </a:prstGeom>
          <a:noFill/>
        </p:spPr>
        <p:txBody>
          <a:bodyPr wrap="square" anchor="t" lIns="50800" rIns="50800" tIns="25400" bIns="25400">
            <a:spAutoFit/>
          </a:bodyPr>
          <a:lstStyle/>
          <a:p>
            <a:pPr algn="l">
              <a:spcBef>
                <a:spcPts val="0"/>
              </a:spcBef>
              <a:spcAft>
                <a:spcPts val="200"/>
              </a:spcAft>
            </a:pPr>
            <a:r>
              <a:rPr sz="1400" b="1">
                <a:solidFill>
                  <a:srgbClr val="2A6AF2"/>
                </a:solidFill>
                <a:latin typeface="Segoe UI"/>
              </a:rPr>
              <a:t>COSTVISION  ·  SHOULD-COST INTELLIGENCE PLATFORM</a:t>
            </a:r>
          </a:p>
        </p:txBody>
      </p:sp>
      <p:sp>
        <p:nvSpPr>
          <p:cNvPr id="7" name="TextBox 6"/>
          <p:cNvSpPr txBox="1"/>
          <p:nvPr/>
        </p:nvSpPr>
        <p:spPr>
          <a:xfrm>
            <a:off x="731520" y="1051560"/>
            <a:ext cx="10698480" cy="1097280"/>
          </a:xfrm>
          <a:prstGeom prst="rect">
            <a:avLst/>
          </a:prstGeom>
          <a:noFill/>
        </p:spPr>
        <p:txBody>
          <a:bodyPr wrap="square" anchor="t" lIns="50800" rIns="50800" tIns="25400" bIns="25400">
            <a:spAutoFit/>
          </a:bodyPr>
          <a:lstStyle/>
          <a:p>
            <a:pPr algn="l">
              <a:spcBef>
                <a:spcPts val="0"/>
              </a:spcBef>
              <a:spcAft>
                <a:spcPts val="200"/>
              </a:spcAft>
            </a:pPr>
            <a:r>
              <a:rPr sz="4000" b="1">
                <a:solidFill>
                  <a:srgbClr val="1F2A44"/>
                </a:solidFill>
                <a:latin typeface="Segoe UI"/>
              </a:rPr>
              <a:t>Bringing CostVision In-House</a:t>
            </a:r>
          </a:p>
        </p:txBody>
      </p:sp>
      <p:sp>
        <p:nvSpPr>
          <p:cNvPr id="8" name="TextBox 7"/>
          <p:cNvSpPr txBox="1"/>
          <p:nvPr/>
        </p:nvSpPr>
        <p:spPr>
          <a:xfrm>
            <a:off x="731520" y="2514600"/>
            <a:ext cx="10698480" cy="548640"/>
          </a:xfrm>
          <a:prstGeom prst="rect">
            <a:avLst/>
          </a:prstGeom>
          <a:noFill/>
        </p:spPr>
        <p:txBody>
          <a:bodyPr wrap="square" anchor="t" lIns="50800" rIns="50800" tIns="25400" bIns="25400">
            <a:spAutoFit/>
          </a:bodyPr>
          <a:lstStyle/>
          <a:p>
            <a:pPr algn="l">
              <a:spcBef>
                <a:spcPts val="0"/>
              </a:spcBef>
              <a:spcAft>
                <a:spcPts val="200"/>
              </a:spcAft>
            </a:pPr>
            <a:r>
              <a:rPr sz="1900" b="0">
                <a:solidFill>
                  <a:srgbClr val="636B7A"/>
                </a:solidFill>
                <a:latin typeface="Segoe UI"/>
              </a:rPr>
              <a:t>A plain-English roadmap to deploy the tool securely inside our organisation</a:t>
            </a:r>
          </a:p>
        </p:txBody>
      </p:sp>
      <p:sp>
        <p:nvSpPr>
          <p:cNvPr id="9" name="Rounded Rectangle 8"/>
          <p:cNvSpPr/>
          <p:nvPr/>
        </p:nvSpPr>
        <p:spPr>
          <a:xfrm>
            <a:off x="731520" y="3566160"/>
            <a:ext cx="3429000" cy="219456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566160"/>
            <a:ext cx="3429000" cy="128016"/>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840480"/>
            <a:ext cx="3017520" cy="548640"/>
          </a:xfrm>
          <a:prstGeom prst="rect">
            <a:avLst/>
          </a:prstGeom>
          <a:noFill/>
        </p:spPr>
        <p:txBody>
          <a:bodyPr wrap="square" anchor="t" lIns="50800" rIns="50800" tIns="25400" bIns="25400">
            <a:spAutoFit/>
          </a:bodyPr>
          <a:lstStyle/>
          <a:p>
            <a:pPr algn="l">
              <a:spcBef>
                <a:spcPts val="0"/>
              </a:spcBef>
              <a:spcAft>
                <a:spcPts val="200"/>
              </a:spcAft>
            </a:pPr>
            <a:r>
              <a:rPr sz="1700" b="1">
                <a:solidFill>
                  <a:srgbClr val="1F2A44"/>
                </a:solidFill>
                <a:latin typeface="Segoe UI"/>
              </a:rPr>
              <a:t>100% On-Premise</a:t>
            </a:r>
          </a:p>
        </p:txBody>
      </p:sp>
      <p:sp>
        <p:nvSpPr>
          <p:cNvPr id="12" name="TextBox 11"/>
          <p:cNvSpPr txBox="1"/>
          <p:nvPr/>
        </p:nvSpPr>
        <p:spPr>
          <a:xfrm>
            <a:off x="960120" y="4434840"/>
            <a:ext cx="3017520" cy="1188720"/>
          </a:xfrm>
          <a:prstGeom prst="rect">
            <a:avLst/>
          </a:prstGeom>
          <a:noFill/>
        </p:spPr>
        <p:txBody>
          <a:bodyPr wrap="square" anchor="t" lIns="50800" rIns="50800" tIns="25400" bIns="25400">
            <a:spAutoFit/>
          </a:bodyPr>
          <a:lstStyle/>
          <a:p>
            <a:pPr algn="l">
              <a:spcBef>
                <a:spcPts val="0"/>
              </a:spcBef>
              <a:spcAft>
                <a:spcPts val="200"/>
              </a:spcAft>
            </a:pPr>
            <a:r>
              <a:rPr sz="1300" b="0">
                <a:solidFill>
                  <a:srgbClr val="636B7A"/>
                </a:solidFill>
                <a:latin typeface="Segoe UI"/>
              </a:rPr>
              <a:t>Runs inside our firewall — our data stays with us</a:t>
            </a:r>
          </a:p>
        </p:txBody>
      </p:sp>
      <p:sp>
        <p:nvSpPr>
          <p:cNvPr id="13" name="Rounded Rectangle 12"/>
          <p:cNvSpPr/>
          <p:nvPr/>
        </p:nvSpPr>
        <p:spPr>
          <a:xfrm>
            <a:off x="4434840" y="3566160"/>
            <a:ext cx="3429000" cy="219456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34840" y="3566160"/>
            <a:ext cx="3429000" cy="128016"/>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840480"/>
            <a:ext cx="3017520" cy="548640"/>
          </a:xfrm>
          <a:prstGeom prst="rect">
            <a:avLst/>
          </a:prstGeom>
          <a:noFill/>
        </p:spPr>
        <p:txBody>
          <a:bodyPr wrap="square" anchor="t" lIns="50800" rIns="50800" tIns="25400" bIns="25400">
            <a:spAutoFit/>
          </a:bodyPr>
          <a:lstStyle/>
          <a:p>
            <a:pPr algn="l">
              <a:spcBef>
                <a:spcPts val="0"/>
              </a:spcBef>
              <a:spcAft>
                <a:spcPts val="200"/>
              </a:spcAft>
            </a:pPr>
            <a:r>
              <a:rPr sz="1700" b="1">
                <a:solidFill>
                  <a:srgbClr val="1F2A44"/>
                </a:solidFill>
                <a:latin typeface="Segoe UI"/>
              </a:rPr>
              <a:t>No External AI</a:t>
            </a:r>
          </a:p>
        </p:txBody>
      </p:sp>
      <p:sp>
        <p:nvSpPr>
          <p:cNvPr id="16" name="TextBox 15"/>
          <p:cNvSpPr txBox="1"/>
          <p:nvPr/>
        </p:nvSpPr>
        <p:spPr>
          <a:xfrm>
            <a:off x="4663440" y="4434840"/>
            <a:ext cx="3017520" cy="1188720"/>
          </a:xfrm>
          <a:prstGeom prst="rect">
            <a:avLst/>
          </a:prstGeom>
          <a:noFill/>
        </p:spPr>
        <p:txBody>
          <a:bodyPr wrap="square" anchor="t" lIns="50800" rIns="50800" tIns="25400" bIns="25400">
            <a:spAutoFit/>
          </a:bodyPr>
          <a:lstStyle/>
          <a:p>
            <a:pPr algn="l">
              <a:spcBef>
                <a:spcPts val="0"/>
              </a:spcBef>
              <a:spcAft>
                <a:spcPts val="200"/>
              </a:spcAft>
            </a:pPr>
            <a:r>
              <a:rPr sz="1300" b="0">
                <a:solidFill>
                  <a:srgbClr val="636B7A"/>
                </a:solidFill>
                <a:latin typeface="Segoe UI"/>
              </a:rPr>
              <a:t>AI can be switched off or kept fully in-house</a:t>
            </a:r>
          </a:p>
        </p:txBody>
      </p:sp>
      <p:sp>
        <p:nvSpPr>
          <p:cNvPr id="17" name="Rounded Rectangle 16"/>
          <p:cNvSpPr/>
          <p:nvPr/>
        </p:nvSpPr>
        <p:spPr>
          <a:xfrm>
            <a:off x="8138160" y="3566160"/>
            <a:ext cx="3429000" cy="219456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3566160"/>
            <a:ext cx="3429000" cy="128016"/>
          </a:xfrm>
          <a:prstGeom prst="roundRect">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840480"/>
            <a:ext cx="3017520" cy="548640"/>
          </a:xfrm>
          <a:prstGeom prst="rect">
            <a:avLst/>
          </a:prstGeom>
          <a:noFill/>
        </p:spPr>
        <p:txBody>
          <a:bodyPr wrap="square" anchor="t" lIns="50800" rIns="50800" tIns="25400" bIns="25400">
            <a:spAutoFit/>
          </a:bodyPr>
          <a:lstStyle/>
          <a:p>
            <a:pPr algn="l">
              <a:spcBef>
                <a:spcPts val="0"/>
              </a:spcBef>
              <a:spcAft>
                <a:spcPts val="200"/>
              </a:spcAft>
            </a:pPr>
            <a:r>
              <a:rPr sz="1700" b="1">
                <a:solidFill>
                  <a:srgbClr val="1F2A44"/>
                </a:solidFill>
                <a:latin typeface="Segoe UI"/>
              </a:rPr>
              <a:t>Secure by Design</a:t>
            </a:r>
          </a:p>
        </p:txBody>
      </p:sp>
      <p:sp>
        <p:nvSpPr>
          <p:cNvPr id="20" name="TextBox 19"/>
          <p:cNvSpPr txBox="1"/>
          <p:nvPr/>
        </p:nvSpPr>
        <p:spPr>
          <a:xfrm>
            <a:off x="8366760" y="4434840"/>
            <a:ext cx="3017520" cy="1188720"/>
          </a:xfrm>
          <a:prstGeom prst="rect">
            <a:avLst/>
          </a:prstGeom>
          <a:noFill/>
        </p:spPr>
        <p:txBody>
          <a:bodyPr wrap="square" anchor="t" lIns="50800" rIns="50800" tIns="25400" bIns="25400">
            <a:spAutoFit/>
          </a:bodyPr>
          <a:lstStyle/>
          <a:p>
            <a:pPr algn="l">
              <a:spcBef>
                <a:spcPts val="0"/>
              </a:spcBef>
              <a:spcAft>
                <a:spcPts val="200"/>
              </a:spcAft>
            </a:pPr>
            <a:r>
              <a:rPr sz="1300" b="0">
                <a:solidFill>
                  <a:srgbClr val="636B7A"/>
                </a:solidFill>
                <a:latin typeface="Segoe UI"/>
              </a:rPr>
              <a:t>Accounts, encryption, and audit built in</a:t>
            </a:r>
          </a:p>
        </p:txBody>
      </p:sp>
      <p:sp>
        <p:nvSpPr>
          <p:cNvPr id="21" name="TextBox 20"/>
          <p:cNvSpPr txBox="1"/>
          <p:nvPr/>
        </p:nvSpPr>
        <p:spPr>
          <a:xfrm>
            <a:off x="731520" y="6126480"/>
            <a:ext cx="10698480" cy="365760"/>
          </a:xfrm>
          <a:prstGeom prst="rect">
            <a:avLst/>
          </a:prstGeom>
          <a:noFill/>
        </p:spPr>
        <p:txBody>
          <a:bodyPr wrap="square" anchor="t" lIns="50800" rIns="50800" tIns="25400" bIns="25400">
            <a:spAutoFit/>
          </a:bodyPr>
          <a:lstStyle/>
          <a:p>
            <a:pPr algn="l">
              <a:spcBef>
                <a:spcPts val="0"/>
              </a:spcBef>
              <a:spcAft>
                <a:spcPts val="200"/>
              </a:spcAft>
            </a:pPr>
            <a:r>
              <a:rPr sz="1200" b="0">
                <a:solidFill>
                  <a:srgbClr val="636B7A"/>
                </a:solidFill>
                <a:latin typeface="Segoe UI"/>
              </a:rPr>
              <a:t>Prepared for management review  ·  Implementation &amp; data-security roadmap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THE CONTEXT</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What CostVision does for us</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02</a:t>
            </a:r>
          </a:p>
        </p:txBody>
      </p:sp>
      <p:sp>
        <p:nvSpPr>
          <p:cNvPr id="7" name="TextBox 6"/>
          <p:cNvSpPr txBox="1"/>
          <p:nvPr/>
        </p:nvSpPr>
        <p:spPr>
          <a:xfrm>
            <a:off x="502920" y="1463040"/>
            <a:ext cx="6583680" cy="822960"/>
          </a:xfrm>
          <a:prstGeom prst="rect">
            <a:avLst/>
          </a:prstGeom>
          <a:noFill/>
        </p:spPr>
        <p:txBody>
          <a:bodyPr wrap="square" anchor="t" lIns="50800" rIns="50800" tIns="25400" bIns="25400">
            <a:spAutoFit/>
          </a:bodyPr>
          <a:lstStyle/>
          <a:p>
            <a:pPr algn="l">
              <a:spcBef>
                <a:spcPts val="0"/>
              </a:spcBef>
              <a:spcAft>
                <a:spcPts val="200"/>
              </a:spcAft>
            </a:pPr>
            <a:r>
              <a:rPr sz="1700" b="1">
                <a:solidFill>
                  <a:srgbClr val="1F2A44"/>
                </a:solidFill>
                <a:latin typeface="Segoe UI"/>
              </a:rPr>
              <a:t>It answers one question, fast and consistently:</a:t>
            </a:r>
          </a:p>
          <a:p>
            <a:pPr algn="l">
              <a:spcBef>
                <a:spcPts val="0"/>
              </a:spcBef>
              <a:spcAft>
                <a:spcPts val="200"/>
              </a:spcAft>
            </a:pPr>
            <a:r>
              <a:rPr sz="1700" b="1">
                <a:solidFill>
                  <a:srgbClr val="2A6AF2"/>
                </a:solidFill>
                <a:latin typeface="Segoe UI"/>
              </a:rPr>
              <a:t>“What should this part or software cost to make?”</a:t>
            </a:r>
          </a:p>
        </p:txBody>
      </p:sp>
      <p:sp>
        <p:nvSpPr>
          <p:cNvPr id="8" name="TextBox 7"/>
          <p:cNvSpPr txBox="1"/>
          <p:nvPr/>
        </p:nvSpPr>
        <p:spPr>
          <a:xfrm>
            <a:off x="502920" y="2468880"/>
            <a:ext cx="6583680" cy="3291840"/>
          </a:xfrm>
          <a:prstGeom prst="rect">
            <a:avLst/>
          </a:prstGeom>
          <a:noFill/>
        </p:spPr>
        <p:txBody>
          <a:bodyPr wrap="square">
            <a:spAutoFit/>
          </a:bodyPr>
          <a:lstStyle/>
          <a:p>
            <a:pPr>
              <a:spcAft>
                <a:spcPts val="1000"/>
              </a:spcAft>
            </a:pPr>
            <a:r>
              <a:rPr sz="1500" b="0">
                <a:solidFill>
                  <a:srgbClr val="1F2A44"/>
                </a:solidFill>
                <a:latin typeface="Segoe UI"/>
              </a:rPr>
              <a:t>•  Prices manufactured parts — machining, casting, sheet metal, moulding, PCB and more</a:t>
            </a:r>
          </a:p>
          <a:p>
            <a:pPr>
              <a:spcAft>
                <a:spcPts val="1000"/>
              </a:spcAft>
            </a:pPr>
            <a:r>
              <a:rPr sz="1500" b="0">
                <a:solidFill>
                  <a:srgbClr val="1F2A44"/>
                </a:solidFill>
                <a:latin typeface="Segoe UI"/>
              </a:rPr>
              <a:t>•  Prices automotive software programmes (the 6-step guided estimator)</a:t>
            </a:r>
          </a:p>
          <a:p>
            <a:pPr>
              <a:spcAft>
                <a:spcPts val="1000"/>
              </a:spcAft>
            </a:pPr>
            <a:r>
              <a:rPr sz="1500" b="0">
                <a:solidFill>
                  <a:srgbClr val="1F2A44"/>
                </a:solidFill>
                <a:latin typeface="Segoe UI"/>
              </a:rPr>
              <a:t>•  Turns a photo of a circuit board into a full, priced parts list</a:t>
            </a:r>
          </a:p>
          <a:p>
            <a:pPr>
              <a:spcAft>
                <a:spcPts val="1000"/>
              </a:spcAft>
            </a:pPr>
            <a:r>
              <a:rPr sz="1500" b="0">
                <a:solidFill>
                  <a:srgbClr val="1F2A44"/>
                </a:solidFill>
                <a:latin typeface="Segoe UI"/>
              </a:rPr>
              <a:t>•  Gives buyers and engineers one consistent, defensible number</a:t>
            </a:r>
          </a:p>
          <a:p>
            <a:pPr>
              <a:spcAft>
                <a:spcPts val="1000"/>
              </a:spcAft>
            </a:pPr>
            <a:r>
              <a:rPr sz="1500" b="0">
                <a:solidFill>
                  <a:srgbClr val="1F2A44"/>
                </a:solidFill>
                <a:latin typeface="Segoe UI"/>
              </a:rPr>
              <a:t>•  Replaces slow spreadsheets and gut-feel estimates</a:t>
            </a:r>
          </a:p>
        </p:txBody>
      </p:sp>
      <p:sp>
        <p:nvSpPr>
          <p:cNvPr id="9" name="Rounded Rectangle 8"/>
          <p:cNvSpPr/>
          <p:nvPr/>
        </p:nvSpPr>
        <p:spPr>
          <a:xfrm>
            <a:off x="7406640" y="1554480"/>
            <a:ext cx="4206240" cy="429768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1737360"/>
            <a:ext cx="4206240" cy="365760"/>
          </a:xfrm>
          <a:prstGeom prst="rect">
            <a:avLst/>
          </a:prstGeom>
          <a:noFill/>
        </p:spPr>
        <p:txBody>
          <a:bodyPr wrap="square" anchor="t" lIns="50800" rIns="50800" tIns="25400" bIns="25400">
            <a:spAutoFit/>
          </a:bodyPr>
          <a:lstStyle/>
          <a:p>
            <a:pPr algn="ctr">
              <a:spcBef>
                <a:spcPts val="0"/>
              </a:spcBef>
              <a:spcAft>
                <a:spcPts val="200"/>
              </a:spcAft>
            </a:pPr>
            <a:r>
              <a:rPr sz="1400" b="1">
                <a:solidFill>
                  <a:srgbClr val="1F2A44"/>
                </a:solidFill>
                <a:latin typeface="Segoe UI"/>
              </a:rPr>
              <a:t>From inputs to a trusted price</a:t>
            </a:r>
          </a:p>
        </p:txBody>
      </p:sp>
      <p:sp>
        <p:nvSpPr>
          <p:cNvPr id="11" name="Rounded Rectangle 10"/>
          <p:cNvSpPr/>
          <p:nvPr/>
        </p:nvSpPr>
        <p:spPr>
          <a:xfrm>
            <a:off x="7863840" y="2286000"/>
            <a:ext cx="3291840" cy="50292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2313432"/>
            <a:ext cx="3291840" cy="466344"/>
          </a:xfrm>
          <a:prstGeom prst="rect">
            <a:avLst/>
          </a:prstGeom>
          <a:noFill/>
        </p:spPr>
        <p:txBody>
          <a:bodyPr wrap="square" anchor="ctr" lIns="50800" rIns="50800" tIns="25400" bIns="25400">
            <a:spAutoFit/>
          </a:bodyPr>
          <a:lstStyle/>
          <a:p>
            <a:pPr algn="ctr">
              <a:spcBef>
                <a:spcPts val="0"/>
              </a:spcBef>
              <a:spcAft>
                <a:spcPts val="200"/>
              </a:spcAft>
            </a:pPr>
            <a:r>
              <a:rPr sz="1300" b="1">
                <a:solidFill>
                  <a:srgbClr val="FFFFFF"/>
                </a:solidFill>
                <a:latin typeface="Segoe UI"/>
              </a:rPr>
              <a:t>Part / software details</a:t>
            </a:r>
          </a:p>
        </p:txBody>
      </p:sp>
      <p:sp>
        <p:nvSpPr>
          <p:cNvPr id="13" name="Down Arrow 12"/>
          <p:cNvSpPr/>
          <p:nvPr/>
        </p:nvSpPr>
        <p:spPr>
          <a:xfrm>
            <a:off x="9372600" y="2798064"/>
            <a:ext cx="274320" cy="310896"/>
          </a:xfrm>
          <a:prstGeom prst="downArrow">
            <a:avLst/>
          </a:prstGeom>
          <a:solidFill>
            <a:srgbClr val="63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63840" y="3154680"/>
            <a:ext cx="3291840" cy="502920"/>
          </a:xfrm>
          <a:prstGeom prst="roundRect">
            <a:avLst/>
          </a:prstGeom>
          <a:solidFill>
            <a:srgbClr val="0E9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182112"/>
            <a:ext cx="3291840" cy="466344"/>
          </a:xfrm>
          <a:prstGeom prst="rect">
            <a:avLst/>
          </a:prstGeom>
          <a:noFill/>
        </p:spPr>
        <p:txBody>
          <a:bodyPr wrap="square" anchor="ctr" lIns="50800" rIns="50800" tIns="25400" bIns="25400">
            <a:spAutoFit/>
          </a:bodyPr>
          <a:lstStyle/>
          <a:p>
            <a:pPr algn="ctr">
              <a:spcBef>
                <a:spcPts val="0"/>
              </a:spcBef>
              <a:spcAft>
                <a:spcPts val="200"/>
              </a:spcAft>
            </a:pPr>
            <a:r>
              <a:rPr sz="1300" b="1">
                <a:solidFill>
                  <a:srgbClr val="FFFFFF"/>
                </a:solidFill>
                <a:latin typeface="Segoe UI"/>
              </a:rPr>
              <a:t>CostVision engine</a:t>
            </a:r>
          </a:p>
        </p:txBody>
      </p:sp>
      <p:sp>
        <p:nvSpPr>
          <p:cNvPr id="16" name="Down Arrow 15"/>
          <p:cNvSpPr/>
          <p:nvPr/>
        </p:nvSpPr>
        <p:spPr>
          <a:xfrm>
            <a:off x="9372600" y="3666744"/>
            <a:ext cx="274320" cy="310896"/>
          </a:xfrm>
          <a:prstGeom prst="downArrow">
            <a:avLst/>
          </a:prstGeom>
          <a:solidFill>
            <a:srgbClr val="63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863840" y="4023360"/>
            <a:ext cx="3291840" cy="50292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4050792"/>
            <a:ext cx="3291840" cy="466344"/>
          </a:xfrm>
          <a:prstGeom prst="rect">
            <a:avLst/>
          </a:prstGeom>
          <a:noFill/>
        </p:spPr>
        <p:txBody>
          <a:bodyPr wrap="square" anchor="ctr" lIns="50800" rIns="50800" tIns="25400" bIns="25400">
            <a:spAutoFit/>
          </a:bodyPr>
          <a:lstStyle/>
          <a:p>
            <a:pPr algn="ctr">
              <a:spcBef>
                <a:spcPts val="0"/>
              </a:spcBef>
              <a:spcAft>
                <a:spcPts val="200"/>
              </a:spcAft>
            </a:pPr>
            <a:r>
              <a:rPr sz="1300" b="1">
                <a:solidFill>
                  <a:srgbClr val="FFFFFF"/>
                </a:solidFill>
                <a:latin typeface="Segoe UI"/>
              </a:rPr>
              <a:t>Cost breakdown + benchmarks</a:t>
            </a:r>
          </a:p>
        </p:txBody>
      </p:sp>
      <p:sp>
        <p:nvSpPr>
          <p:cNvPr id="19" name="Down Arrow 18"/>
          <p:cNvSpPr/>
          <p:nvPr/>
        </p:nvSpPr>
        <p:spPr>
          <a:xfrm>
            <a:off x="9372600" y="4535424"/>
            <a:ext cx="274320" cy="310896"/>
          </a:xfrm>
          <a:prstGeom prst="downArrow">
            <a:avLst/>
          </a:prstGeom>
          <a:solidFill>
            <a:srgbClr val="63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63840" y="4892040"/>
            <a:ext cx="3291840" cy="502920"/>
          </a:xfrm>
          <a:prstGeom prst="roundRect">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4919472"/>
            <a:ext cx="3291840" cy="466344"/>
          </a:xfrm>
          <a:prstGeom prst="rect">
            <a:avLst/>
          </a:prstGeom>
          <a:noFill/>
        </p:spPr>
        <p:txBody>
          <a:bodyPr wrap="square" anchor="ctr" lIns="50800" rIns="50800" tIns="25400" bIns="25400">
            <a:spAutoFit/>
          </a:bodyPr>
          <a:lstStyle/>
          <a:p>
            <a:pPr algn="ctr">
              <a:spcBef>
                <a:spcPts val="0"/>
              </a:spcBef>
              <a:spcAft>
                <a:spcPts val="200"/>
              </a:spcAft>
            </a:pPr>
            <a:r>
              <a:rPr sz="1300" b="1">
                <a:solidFill>
                  <a:srgbClr val="FFFFFF"/>
                </a:solidFill>
                <a:latin typeface="Segoe UI"/>
              </a:rPr>
              <a:t>Decision-ready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TODAY'S SITUATION</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Where our data lives right now</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03</a:t>
            </a:r>
          </a:p>
        </p:txBody>
      </p:sp>
      <p:sp>
        <p:nvSpPr>
          <p:cNvPr id="7" name="Rounded Rectangle 6"/>
          <p:cNvSpPr/>
          <p:nvPr/>
        </p:nvSpPr>
        <p:spPr>
          <a:xfrm>
            <a:off x="502920" y="1554480"/>
            <a:ext cx="5486400" cy="4480560"/>
          </a:xfrm>
          <a:prstGeom prst="roundRect">
            <a:avLst/>
          </a:prstGeom>
          <a:solidFill>
            <a:srgbClr val="ECF7F0"/>
          </a:solidFill>
          <a:ln w="15240">
            <a:solidFill>
              <a:srgbClr val="BF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5029200" cy="457200"/>
          </a:xfrm>
          <a:prstGeom prst="rect">
            <a:avLst/>
          </a:prstGeom>
          <a:noFill/>
        </p:spPr>
        <p:txBody>
          <a:bodyPr wrap="square" anchor="t" lIns="50800" rIns="50800" tIns="25400" bIns="25400">
            <a:spAutoFit/>
          </a:bodyPr>
          <a:lstStyle/>
          <a:p>
            <a:pPr algn="l">
              <a:spcBef>
                <a:spcPts val="0"/>
              </a:spcBef>
              <a:spcAft>
                <a:spcPts val="200"/>
              </a:spcAft>
            </a:pPr>
            <a:r>
              <a:rPr sz="1600" b="1">
                <a:solidFill>
                  <a:srgbClr val="1FA96B"/>
                </a:solidFill>
                <a:latin typeface="Segoe UI"/>
              </a:rPr>
              <a:t>✅  Stays on our own server</a:t>
            </a:r>
          </a:p>
        </p:txBody>
      </p:sp>
      <p:sp>
        <p:nvSpPr>
          <p:cNvPr id="9" name="TextBox 8"/>
          <p:cNvSpPr txBox="1"/>
          <p:nvPr/>
        </p:nvSpPr>
        <p:spPr>
          <a:xfrm>
            <a:off x="731520" y="2331720"/>
            <a:ext cx="5029200" cy="3566160"/>
          </a:xfrm>
          <a:prstGeom prst="rect">
            <a:avLst/>
          </a:prstGeom>
          <a:noFill/>
        </p:spPr>
        <p:txBody>
          <a:bodyPr wrap="square">
            <a:spAutoFit/>
          </a:bodyPr>
          <a:lstStyle/>
          <a:p>
            <a:pPr>
              <a:spcAft>
                <a:spcPts val="900"/>
              </a:spcAft>
            </a:pPr>
            <a:r>
              <a:rPr sz="1350" b="0">
                <a:solidFill>
                  <a:srgbClr val="1F2A44"/>
                </a:solidFill>
                <a:latin typeface="Segoe UI"/>
              </a:rPr>
              <a:t>•  User accounts (passwords are encrypted / hashed)</a:t>
            </a:r>
          </a:p>
          <a:p>
            <a:pPr>
              <a:spcAft>
                <a:spcPts val="900"/>
              </a:spcAft>
            </a:pPr>
            <a:r>
              <a:rPr sz="1350" b="0">
                <a:solidFill>
                  <a:srgbClr val="1F2A44"/>
                </a:solidFill>
                <a:latin typeface="Segoe UI"/>
              </a:rPr>
              <a:t>•  Saved projects &amp; cost scenarios — kept per user</a:t>
            </a:r>
          </a:p>
          <a:p>
            <a:pPr>
              <a:spcAft>
                <a:spcPts val="900"/>
              </a:spcAft>
            </a:pPr>
            <a:r>
              <a:rPr sz="1350" b="0">
                <a:solidFill>
                  <a:srgbClr val="1F2A44"/>
                </a:solidFill>
                <a:latin typeface="Segoe UI"/>
              </a:rPr>
              <a:t>•  Rate library, supplier quotes, parts lists</a:t>
            </a:r>
          </a:p>
          <a:p>
            <a:pPr>
              <a:spcAft>
                <a:spcPts val="900"/>
              </a:spcAft>
            </a:pPr>
            <a:r>
              <a:rPr sz="1350" b="0">
                <a:solidFill>
                  <a:srgbClr val="1F2A44"/>
                </a:solidFill>
                <a:latin typeface="Segoe UI"/>
              </a:rPr>
              <a:t>•  Uploaded board photos are held in memory only — never saved to disk</a:t>
            </a:r>
          </a:p>
        </p:txBody>
      </p:sp>
      <p:sp>
        <p:nvSpPr>
          <p:cNvPr id="10" name="Rounded Rectangle 9"/>
          <p:cNvSpPr/>
          <p:nvPr/>
        </p:nvSpPr>
        <p:spPr>
          <a:xfrm>
            <a:off x="6172200" y="1554480"/>
            <a:ext cx="5486400" cy="4480560"/>
          </a:xfrm>
          <a:prstGeom prst="roundRect">
            <a:avLst/>
          </a:prstGeom>
          <a:solidFill>
            <a:srgbClr val="FDF0EE"/>
          </a:solidFill>
          <a:ln w="15240">
            <a:solidFill>
              <a:srgbClr val="F2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5029200" cy="457200"/>
          </a:xfrm>
          <a:prstGeom prst="rect">
            <a:avLst/>
          </a:prstGeom>
          <a:noFill/>
        </p:spPr>
        <p:txBody>
          <a:bodyPr wrap="square" anchor="t" lIns="50800" rIns="50800" tIns="25400" bIns="25400">
            <a:spAutoFit/>
          </a:bodyPr>
          <a:lstStyle/>
          <a:p>
            <a:pPr algn="l">
              <a:spcBef>
                <a:spcPts val="0"/>
              </a:spcBef>
              <a:spcAft>
                <a:spcPts val="200"/>
              </a:spcAft>
            </a:pPr>
            <a:r>
              <a:rPr sz="1600" b="1">
                <a:solidFill>
                  <a:srgbClr val="D14B4B"/>
                </a:solidFill>
                <a:latin typeface="Segoe UI"/>
              </a:rPr>
              <a:t>⚠️  Currently leaves our network</a:t>
            </a:r>
          </a:p>
        </p:txBody>
      </p:sp>
      <p:sp>
        <p:nvSpPr>
          <p:cNvPr id="12" name="TextBox 11"/>
          <p:cNvSpPr txBox="1"/>
          <p:nvPr/>
        </p:nvSpPr>
        <p:spPr>
          <a:xfrm>
            <a:off x="6400800" y="2331720"/>
            <a:ext cx="5029200" cy="3566160"/>
          </a:xfrm>
          <a:prstGeom prst="rect">
            <a:avLst/>
          </a:prstGeom>
          <a:noFill/>
        </p:spPr>
        <p:txBody>
          <a:bodyPr wrap="square">
            <a:spAutoFit/>
          </a:bodyPr>
          <a:lstStyle/>
          <a:p>
            <a:pPr>
              <a:spcAft>
                <a:spcPts val="900"/>
              </a:spcAft>
            </a:pPr>
            <a:r>
              <a:rPr sz="1350" b="1">
                <a:solidFill>
                  <a:srgbClr val="D14B4B"/>
                </a:solidFill>
                <a:latin typeface="Segoe UI"/>
              </a:rPr>
              <a:t>•  Today the AI features send data to an outside AI service (Anthropic)</a:t>
            </a:r>
          </a:p>
          <a:p>
            <a:pPr>
              <a:spcAft>
                <a:spcPts val="900"/>
              </a:spcAft>
            </a:pPr>
            <a:r>
              <a:rPr sz="1350" b="0">
                <a:solidFill>
                  <a:srgbClr val="1F2A44"/>
                </a:solidFill>
                <a:latin typeface="Segoe UI"/>
              </a:rPr>
              <a:t>•  That includes board photos and cost details sent for AI analysis</a:t>
            </a:r>
          </a:p>
          <a:p>
            <a:pPr>
              <a:spcAft>
                <a:spcPts val="900"/>
              </a:spcAft>
            </a:pPr>
            <a:r>
              <a:rPr sz="1350" b="0">
                <a:solidFill>
                  <a:srgbClr val="1F2A44"/>
                </a:solidFill>
                <a:latin typeface="Segoe UI"/>
              </a:rPr>
              <a:t>•  Optional: live parts-pricing and a news feed also reach the internet</a:t>
            </a:r>
          </a:p>
          <a:p>
            <a:pPr>
              <a:spcAft>
                <a:spcPts val="900"/>
              </a:spcAft>
            </a:pPr>
            <a:r>
              <a:rPr sz="1350" b="0">
                <a:solidFill>
                  <a:srgbClr val="1F2A44"/>
                </a:solidFill>
                <a:latin typeface="Segoe UI"/>
              </a:rPr>
              <a:t>•  This is the one thing we must change before roll-out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THE KEY DECISION</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The AI question — and our options</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04</a:t>
            </a:r>
          </a:p>
        </p:txBody>
      </p:sp>
      <p:sp>
        <p:nvSpPr>
          <p:cNvPr id="7" name="TextBox 6"/>
          <p:cNvSpPr txBox="1"/>
          <p:nvPr/>
        </p:nvSpPr>
        <p:spPr>
          <a:xfrm>
            <a:off x="502920" y="1417320"/>
            <a:ext cx="11155680" cy="457200"/>
          </a:xfrm>
          <a:prstGeom prst="rect">
            <a:avLst/>
          </a:prstGeom>
          <a:noFill/>
        </p:spPr>
        <p:txBody>
          <a:bodyPr wrap="square" anchor="t" lIns="50800" rIns="50800" tIns="25400" bIns="25400">
            <a:spAutoFit/>
          </a:bodyPr>
          <a:lstStyle/>
          <a:p>
            <a:pPr algn="l">
              <a:spcBef>
                <a:spcPts val="0"/>
              </a:spcBef>
              <a:spcAft>
                <a:spcPts val="200"/>
              </a:spcAft>
            </a:pPr>
            <a:r>
              <a:rPr sz="1500" b="1">
                <a:solidFill>
                  <a:srgbClr val="1F2A44"/>
                </a:solidFill>
                <a:latin typeface="Segoe UI"/>
              </a:rPr>
              <a:t>Our rule: no external AI apps. Good news — the cost calculations don't need AI at all. AI is an optional helper.</a:t>
            </a:r>
          </a:p>
        </p:txBody>
      </p:sp>
      <p:sp>
        <p:nvSpPr>
          <p:cNvPr id="8" name="Rounded Rectangle 7"/>
          <p:cNvSpPr/>
          <p:nvPr/>
        </p:nvSpPr>
        <p:spPr>
          <a:xfrm>
            <a:off x="502920" y="2057400"/>
            <a:ext cx="3520440" cy="370332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2057400"/>
            <a:ext cx="3520440" cy="54864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103120"/>
            <a:ext cx="3520440" cy="457200"/>
          </a:xfrm>
          <a:prstGeom prst="rect">
            <a:avLst/>
          </a:prstGeom>
          <a:noFill/>
        </p:spPr>
        <p:txBody>
          <a:bodyPr wrap="square" anchor="ctr" lIns="50800" rIns="50800" tIns="25400" bIns="25400">
            <a:spAutoFit/>
          </a:bodyPr>
          <a:lstStyle/>
          <a:p>
            <a:pPr algn="ctr">
              <a:spcBef>
                <a:spcPts val="0"/>
              </a:spcBef>
              <a:spcAft>
                <a:spcPts val="200"/>
              </a:spcAft>
            </a:pPr>
            <a:r>
              <a:rPr sz="1500" b="1">
                <a:solidFill>
                  <a:srgbClr val="FFFFFF"/>
                </a:solidFill>
                <a:latin typeface="Segoe UI"/>
              </a:rPr>
              <a:t>Option A: Switch AI OFF</a:t>
            </a:r>
          </a:p>
        </p:txBody>
      </p:sp>
      <p:sp>
        <p:nvSpPr>
          <p:cNvPr id="11" name="TextBox 10"/>
          <p:cNvSpPr txBox="1"/>
          <p:nvPr/>
        </p:nvSpPr>
        <p:spPr>
          <a:xfrm>
            <a:off x="731520" y="2743200"/>
            <a:ext cx="3108960" cy="2377440"/>
          </a:xfrm>
          <a:prstGeom prst="rect">
            <a:avLst/>
          </a:prstGeom>
          <a:noFill/>
        </p:spPr>
        <p:txBody>
          <a:bodyPr wrap="square">
            <a:spAutoFit/>
          </a:bodyPr>
          <a:lstStyle/>
          <a:p>
            <a:pPr>
              <a:spcAft>
                <a:spcPts val="800"/>
              </a:spcAft>
            </a:pPr>
            <a:r>
              <a:rPr sz="1300">
                <a:solidFill>
                  <a:srgbClr val="1F2A44"/>
                </a:solidFill>
                <a:latin typeface="Segoe UI"/>
              </a:rPr>
              <a:t>•  Simplest &amp; fully compliant</a:t>
            </a:r>
          </a:p>
          <a:p>
            <a:pPr>
              <a:spcAft>
                <a:spcPts val="800"/>
              </a:spcAft>
            </a:pPr>
            <a:r>
              <a:rPr sz="1300">
                <a:solidFill>
                  <a:srgbClr val="1F2A44"/>
                </a:solidFill>
                <a:latin typeface="Segoe UI"/>
              </a:rPr>
              <a:t>•  All cost engines still work</a:t>
            </a:r>
          </a:p>
          <a:p>
            <a:pPr>
              <a:spcAft>
                <a:spcPts val="800"/>
              </a:spcAft>
            </a:pPr>
            <a:r>
              <a:rPr sz="1300">
                <a:solidFill>
                  <a:srgbClr val="1F2A44"/>
                </a:solidFill>
                <a:latin typeface="Segoe UI"/>
              </a:rPr>
              <a:t>•  Lose: AI chat, photo-to-parts,
AI summaries</a:t>
            </a:r>
          </a:p>
        </p:txBody>
      </p:sp>
      <p:sp>
        <p:nvSpPr>
          <p:cNvPr id="12" name="Rounded Rectangle 11"/>
          <p:cNvSpPr/>
          <p:nvPr/>
        </p:nvSpPr>
        <p:spPr>
          <a:xfrm>
            <a:off x="731520" y="5257800"/>
            <a:ext cx="3063240" cy="384048"/>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285232"/>
            <a:ext cx="3063240" cy="347472"/>
          </a:xfrm>
          <a:prstGeom prst="rect">
            <a:avLst/>
          </a:prstGeom>
          <a:noFill/>
        </p:spPr>
        <p:txBody>
          <a:bodyPr wrap="square" anchor="ctr" lIns="50800" rIns="50800" tIns="25400" bIns="25400">
            <a:spAutoFit/>
          </a:bodyPr>
          <a:lstStyle/>
          <a:p>
            <a:pPr algn="ctr">
              <a:spcBef>
                <a:spcPts val="0"/>
              </a:spcBef>
              <a:spcAft>
                <a:spcPts val="200"/>
              </a:spcAft>
            </a:pPr>
            <a:r>
              <a:rPr sz="1100" b="1">
                <a:solidFill>
                  <a:srgbClr val="FFFFFF"/>
                </a:solidFill>
                <a:latin typeface="Segoe UI"/>
              </a:rPr>
              <a:t>Recommended to start</a:t>
            </a:r>
          </a:p>
        </p:txBody>
      </p:sp>
      <p:sp>
        <p:nvSpPr>
          <p:cNvPr id="14" name="Rounded Rectangle 13"/>
          <p:cNvSpPr/>
          <p:nvPr/>
        </p:nvSpPr>
        <p:spPr>
          <a:xfrm>
            <a:off x="4297680" y="2057400"/>
            <a:ext cx="3520440" cy="370332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97680" y="2057400"/>
            <a:ext cx="3520440" cy="5486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2103120"/>
            <a:ext cx="3520440" cy="457200"/>
          </a:xfrm>
          <a:prstGeom prst="rect">
            <a:avLst/>
          </a:prstGeom>
          <a:noFill/>
        </p:spPr>
        <p:txBody>
          <a:bodyPr wrap="square" anchor="ctr" lIns="50800" rIns="50800" tIns="25400" bIns="25400">
            <a:spAutoFit/>
          </a:bodyPr>
          <a:lstStyle/>
          <a:p>
            <a:pPr algn="ctr">
              <a:spcBef>
                <a:spcPts val="0"/>
              </a:spcBef>
              <a:spcAft>
                <a:spcPts val="200"/>
              </a:spcAft>
            </a:pPr>
            <a:r>
              <a:rPr sz="1500" b="1">
                <a:solidFill>
                  <a:srgbClr val="FFFFFF"/>
                </a:solidFill>
                <a:latin typeface="Segoe UI"/>
              </a:rPr>
              <a:t>Option B: Run AI in-house</a:t>
            </a:r>
          </a:p>
        </p:txBody>
      </p:sp>
      <p:sp>
        <p:nvSpPr>
          <p:cNvPr id="17" name="TextBox 16"/>
          <p:cNvSpPr txBox="1"/>
          <p:nvPr/>
        </p:nvSpPr>
        <p:spPr>
          <a:xfrm>
            <a:off x="4526280" y="2743200"/>
            <a:ext cx="3108960" cy="2377440"/>
          </a:xfrm>
          <a:prstGeom prst="rect">
            <a:avLst/>
          </a:prstGeom>
          <a:noFill/>
        </p:spPr>
        <p:txBody>
          <a:bodyPr wrap="square">
            <a:spAutoFit/>
          </a:bodyPr>
          <a:lstStyle/>
          <a:p>
            <a:pPr>
              <a:spcAft>
                <a:spcPts val="800"/>
              </a:spcAft>
            </a:pPr>
            <a:r>
              <a:rPr sz="1300">
                <a:solidFill>
                  <a:srgbClr val="1F2A44"/>
                </a:solidFill>
                <a:latin typeface="Segoe UI"/>
              </a:rPr>
              <a:t>•  Keep AI, nothing leaves our network</a:t>
            </a:r>
          </a:p>
          <a:p>
            <a:pPr>
              <a:spcAft>
                <a:spcPts val="800"/>
              </a:spcAft>
            </a:pPr>
            <a:r>
              <a:rPr sz="1300">
                <a:solidFill>
                  <a:srgbClr val="1F2A44"/>
                </a:solidFill>
                <a:latin typeface="Segoe UI"/>
              </a:rPr>
              <a:t>•  Needs our own AI server (hardware)</a:t>
            </a:r>
          </a:p>
          <a:p>
            <a:pPr>
              <a:spcAft>
                <a:spcPts val="800"/>
              </a:spcAft>
            </a:pPr>
            <a:r>
              <a:rPr sz="1300">
                <a:solidFill>
                  <a:srgbClr val="1F2A44"/>
                </a:solidFill>
                <a:latin typeface="Segoe UI"/>
              </a:rPr>
              <a:t>•  More setup effort</a:t>
            </a:r>
          </a:p>
        </p:txBody>
      </p:sp>
      <p:sp>
        <p:nvSpPr>
          <p:cNvPr id="18" name="Rounded Rectangle 17"/>
          <p:cNvSpPr/>
          <p:nvPr/>
        </p:nvSpPr>
        <p:spPr>
          <a:xfrm>
            <a:off x="4526280" y="5257800"/>
            <a:ext cx="3063240" cy="384048"/>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5285232"/>
            <a:ext cx="3063240" cy="347472"/>
          </a:xfrm>
          <a:prstGeom prst="rect">
            <a:avLst/>
          </a:prstGeom>
          <a:noFill/>
        </p:spPr>
        <p:txBody>
          <a:bodyPr wrap="square" anchor="ctr" lIns="50800" rIns="50800" tIns="25400" bIns="25400">
            <a:spAutoFit/>
          </a:bodyPr>
          <a:lstStyle/>
          <a:p>
            <a:pPr algn="ctr">
              <a:spcBef>
                <a:spcPts val="0"/>
              </a:spcBef>
              <a:spcAft>
                <a:spcPts val="200"/>
              </a:spcAft>
            </a:pPr>
            <a:r>
              <a:rPr sz="1100" b="1">
                <a:solidFill>
                  <a:srgbClr val="FFFFFF"/>
                </a:solidFill>
                <a:latin typeface="Segoe UI"/>
              </a:rPr>
              <a:t>Best long-term</a:t>
            </a:r>
          </a:p>
        </p:txBody>
      </p:sp>
      <p:sp>
        <p:nvSpPr>
          <p:cNvPr id="20" name="Rounded Rectangle 19"/>
          <p:cNvSpPr/>
          <p:nvPr/>
        </p:nvSpPr>
        <p:spPr>
          <a:xfrm>
            <a:off x="8092440" y="2057400"/>
            <a:ext cx="3520440" cy="370332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92440" y="2057400"/>
            <a:ext cx="3520440" cy="548640"/>
          </a:xfrm>
          <a:prstGeom prst="roundRect">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103120"/>
            <a:ext cx="3520440" cy="457200"/>
          </a:xfrm>
          <a:prstGeom prst="rect">
            <a:avLst/>
          </a:prstGeom>
          <a:noFill/>
        </p:spPr>
        <p:txBody>
          <a:bodyPr wrap="square" anchor="ctr" lIns="50800" rIns="50800" tIns="25400" bIns="25400">
            <a:spAutoFit/>
          </a:bodyPr>
          <a:lstStyle/>
          <a:p>
            <a:pPr algn="ctr">
              <a:spcBef>
                <a:spcPts val="0"/>
              </a:spcBef>
              <a:spcAft>
                <a:spcPts val="200"/>
              </a:spcAft>
            </a:pPr>
            <a:r>
              <a:rPr sz="1500" b="1">
                <a:solidFill>
                  <a:srgbClr val="FFFFFF"/>
                </a:solidFill>
                <a:latin typeface="Segoe UI"/>
              </a:rPr>
              <a:t>Option C: Approved internal AI</a:t>
            </a:r>
          </a:p>
        </p:txBody>
      </p:sp>
      <p:sp>
        <p:nvSpPr>
          <p:cNvPr id="23" name="TextBox 22"/>
          <p:cNvSpPr txBox="1"/>
          <p:nvPr/>
        </p:nvSpPr>
        <p:spPr>
          <a:xfrm>
            <a:off x="8321040" y="2743200"/>
            <a:ext cx="3108960" cy="2377440"/>
          </a:xfrm>
          <a:prstGeom prst="rect">
            <a:avLst/>
          </a:prstGeom>
          <a:noFill/>
        </p:spPr>
        <p:txBody>
          <a:bodyPr wrap="square">
            <a:spAutoFit/>
          </a:bodyPr>
          <a:lstStyle/>
          <a:p>
            <a:pPr>
              <a:spcAft>
                <a:spcPts val="800"/>
              </a:spcAft>
            </a:pPr>
            <a:r>
              <a:rPr sz="1300">
                <a:solidFill>
                  <a:srgbClr val="1F2A44"/>
                </a:solidFill>
                <a:latin typeface="Segoe UI"/>
              </a:rPr>
              <a:t>•  Use a company-approved AI service</a:t>
            </a:r>
          </a:p>
          <a:p>
            <a:pPr>
              <a:spcAft>
                <a:spcPts val="800"/>
              </a:spcAft>
            </a:pPr>
            <a:r>
              <a:rPr sz="1300">
                <a:solidFill>
                  <a:srgbClr val="1F2A44"/>
                </a:solidFill>
                <a:latin typeface="Segoe UI"/>
              </a:rPr>
              <a:t>•  Keeps AI features</a:t>
            </a:r>
          </a:p>
          <a:p>
            <a:pPr>
              <a:spcAft>
                <a:spcPts val="800"/>
              </a:spcAft>
            </a:pPr>
            <a:r>
              <a:rPr sz="1300">
                <a:solidFill>
                  <a:srgbClr val="1F2A44"/>
                </a:solidFill>
                <a:latin typeface="Segoe UI"/>
              </a:rPr>
              <a:t>•  Depends on what IT allows</a:t>
            </a:r>
          </a:p>
        </p:txBody>
      </p:sp>
      <p:sp>
        <p:nvSpPr>
          <p:cNvPr id="24" name="Rounded Rectangle 23"/>
          <p:cNvSpPr/>
          <p:nvPr/>
        </p:nvSpPr>
        <p:spPr>
          <a:xfrm>
            <a:off x="8321040" y="5257800"/>
            <a:ext cx="3063240" cy="384048"/>
          </a:xfrm>
          <a:prstGeom prst="roundRect">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5285232"/>
            <a:ext cx="3063240" cy="347472"/>
          </a:xfrm>
          <a:prstGeom prst="rect">
            <a:avLst/>
          </a:prstGeom>
          <a:noFill/>
        </p:spPr>
        <p:txBody>
          <a:bodyPr wrap="square" anchor="ctr" lIns="50800" rIns="50800" tIns="25400" bIns="25400">
            <a:spAutoFit/>
          </a:bodyPr>
          <a:lstStyle/>
          <a:p>
            <a:pPr algn="ctr">
              <a:spcBef>
                <a:spcPts val="0"/>
              </a:spcBef>
              <a:spcAft>
                <a:spcPts val="200"/>
              </a:spcAft>
            </a:pPr>
            <a:r>
              <a:rPr sz="1100" b="1">
                <a:solidFill>
                  <a:srgbClr val="FFFFFF"/>
                </a:solidFill>
                <a:latin typeface="Segoe UI"/>
              </a:rPr>
              <a:t>If available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THE TARGET SETUP</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How it will run — all inside our walls</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05</a:t>
            </a:r>
          </a:p>
        </p:txBody>
      </p:sp>
      <p:sp>
        <p:nvSpPr>
          <p:cNvPr id="7" name="Rounded Rectangle 6"/>
          <p:cNvSpPr/>
          <p:nvPr/>
        </p:nvSpPr>
        <p:spPr>
          <a:xfrm>
            <a:off x="3063240" y="1417320"/>
            <a:ext cx="8641080" cy="4892040"/>
          </a:xfrm>
          <a:prstGeom prst="roundRect">
            <a:avLst/>
          </a:prstGeom>
          <a:solidFill>
            <a:srgbClr val="EEF4FF"/>
          </a:solidFill>
          <a:ln w="19050">
            <a:solidFill>
              <a:srgbClr val="C7D8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0" y="1481328"/>
            <a:ext cx="8229600" cy="320040"/>
          </a:xfrm>
          <a:prstGeom prst="rect">
            <a:avLst/>
          </a:prstGeom>
          <a:noFill/>
        </p:spPr>
        <p:txBody>
          <a:bodyPr wrap="square" anchor="t" lIns="50800" rIns="50800" tIns="25400" bIns="25400">
            <a:spAutoFit/>
          </a:bodyPr>
          <a:lstStyle/>
          <a:p>
            <a:pPr algn="l">
              <a:spcBef>
                <a:spcPts val="0"/>
              </a:spcBef>
              <a:spcAft>
                <a:spcPts val="200"/>
              </a:spcAft>
            </a:pPr>
            <a:r>
              <a:rPr sz="1250" b="1">
                <a:solidFill>
                  <a:srgbClr val="1D4ED8"/>
                </a:solidFill>
                <a:latin typeface="Segoe UI"/>
              </a:rPr>
              <a:t>🔒  Inside our corporate network / firewall</a:t>
            </a:r>
          </a:p>
        </p:txBody>
      </p:sp>
      <p:sp>
        <p:nvSpPr>
          <p:cNvPr id="9" name="Rounded Rectangle 8"/>
          <p:cNvSpPr/>
          <p:nvPr/>
        </p:nvSpPr>
        <p:spPr>
          <a:xfrm>
            <a:off x="502920" y="2880360"/>
            <a:ext cx="2286000" cy="1097280"/>
          </a:xfrm>
          <a:prstGeom prst="roundRect">
            <a:avLst/>
          </a:prstGeom>
          <a:solidFill>
            <a:srgbClr val="FFFFFF"/>
          </a:solidFill>
          <a:ln w="25400">
            <a:solidFill>
              <a:srgbClr val="636B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80360"/>
            <a:ext cx="146304" cy="1097280"/>
          </a:xfrm>
          <a:prstGeom prst="roundRect">
            <a:avLst/>
          </a:prstGeom>
          <a:solidFill>
            <a:srgbClr val="63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008376"/>
            <a:ext cx="1920240" cy="45720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Team browsers</a:t>
            </a:r>
          </a:p>
        </p:txBody>
      </p:sp>
      <p:sp>
        <p:nvSpPr>
          <p:cNvPr id="12" name="TextBox 11"/>
          <p:cNvSpPr txBox="1"/>
          <p:nvPr/>
        </p:nvSpPr>
        <p:spPr>
          <a:xfrm>
            <a:off x="758952" y="3383280"/>
            <a:ext cx="1920240" cy="45720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Engineers &amp; buyers</a:t>
            </a:r>
          </a:p>
        </p:txBody>
      </p:sp>
      <p:sp>
        <p:nvSpPr>
          <p:cNvPr id="13" name="Rounded Rectangle 12"/>
          <p:cNvSpPr/>
          <p:nvPr/>
        </p:nvSpPr>
        <p:spPr>
          <a:xfrm>
            <a:off x="3383280" y="2880360"/>
            <a:ext cx="2468880" cy="1097280"/>
          </a:xfrm>
          <a:prstGeom prst="roundRect">
            <a:avLst/>
          </a:prstGeom>
          <a:solidFill>
            <a:srgbClr val="FFFFFF"/>
          </a:solidFill>
          <a:ln w="25400">
            <a:solidFill>
              <a:srgbClr val="0E9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83280" y="2880360"/>
            <a:ext cx="146304" cy="1097280"/>
          </a:xfrm>
          <a:prstGeom prst="roundRect">
            <a:avLst/>
          </a:prstGeom>
          <a:solidFill>
            <a:srgbClr val="0E9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9312" y="3008376"/>
            <a:ext cx="2103120" cy="45720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Secure gateway</a:t>
            </a:r>
          </a:p>
        </p:txBody>
      </p:sp>
      <p:sp>
        <p:nvSpPr>
          <p:cNvPr id="16" name="TextBox 15"/>
          <p:cNvSpPr txBox="1"/>
          <p:nvPr/>
        </p:nvSpPr>
        <p:spPr>
          <a:xfrm>
            <a:off x="3639312" y="3383280"/>
            <a:ext cx="2103120" cy="45720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HTTPS + firewall + limits</a:t>
            </a:r>
          </a:p>
        </p:txBody>
      </p:sp>
      <p:sp>
        <p:nvSpPr>
          <p:cNvPr id="17" name="Rounded Rectangle 16"/>
          <p:cNvSpPr/>
          <p:nvPr/>
        </p:nvSpPr>
        <p:spPr>
          <a:xfrm>
            <a:off x="6309360" y="2148840"/>
            <a:ext cx="2468880" cy="1005840"/>
          </a:xfrm>
          <a:prstGeom prst="roundRect">
            <a:avLst/>
          </a:prstGeom>
          <a:solidFill>
            <a:srgbClr val="FFFFFF"/>
          </a:solidFill>
          <a:ln w="25400">
            <a:solidFill>
              <a:srgbClr val="2A6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09360" y="2148840"/>
            <a:ext cx="146304" cy="10058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276856"/>
            <a:ext cx="2103120" cy="45720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CostVision app</a:t>
            </a:r>
          </a:p>
        </p:txBody>
      </p:sp>
      <p:sp>
        <p:nvSpPr>
          <p:cNvPr id="20" name="TextBox 19"/>
          <p:cNvSpPr txBox="1"/>
          <p:nvPr/>
        </p:nvSpPr>
        <p:spPr>
          <a:xfrm>
            <a:off x="6565392" y="2651760"/>
            <a:ext cx="2103120" cy="45720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The tool + calculations</a:t>
            </a:r>
          </a:p>
        </p:txBody>
      </p:sp>
      <p:sp>
        <p:nvSpPr>
          <p:cNvPr id="21" name="Rounded Rectangle 20"/>
          <p:cNvSpPr/>
          <p:nvPr/>
        </p:nvSpPr>
        <p:spPr>
          <a:xfrm>
            <a:off x="6309360" y="3429000"/>
            <a:ext cx="2468880" cy="1005840"/>
          </a:xfrm>
          <a:prstGeom prst="roundRect">
            <a:avLst/>
          </a:prstGeom>
          <a:solidFill>
            <a:srgbClr val="FFFFFF"/>
          </a:solidFill>
          <a:ln w="25400">
            <a:solidFill>
              <a:srgbClr val="1FA9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09360" y="3429000"/>
            <a:ext cx="146304" cy="100584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3557016"/>
            <a:ext cx="2103120" cy="45720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Our database</a:t>
            </a:r>
          </a:p>
        </p:txBody>
      </p:sp>
      <p:sp>
        <p:nvSpPr>
          <p:cNvPr id="24" name="TextBox 23"/>
          <p:cNvSpPr txBox="1"/>
          <p:nvPr/>
        </p:nvSpPr>
        <p:spPr>
          <a:xfrm>
            <a:off x="6565392" y="3931920"/>
            <a:ext cx="2103120" cy="45720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Accounts &amp; saved work</a:t>
            </a:r>
          </a:p>
        </p:txBody>
      </p:sp>
      <p:sp>
        <p:nvSpPr>
          <p:cNvPr id="25" name="Rounded Rectangle 24"/>
          <p:cNvSpPr/>
          <p:nvPr/>
        </p:nvSpPr>
        <p:spPr>
          <a:xfrm>
            <a:off x="9144000" y="2148840"/>
            <a:ext cx="2377440" cy="1005840"/>
          </a:xfrm>
          <a:prstGeom prst="roundRect">
            <a:avLst/>
          </a:prstGeom>
          <a:solidFill>
            <a:srgbClr val="FFFFFF"/>
          </a:solidFill>
          <a:ln w="25400">
            <a:solidFill>
              <a:srgbClr val="7C4D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144000" y="2148840"/>
            <a:ext cx="146304" cy="1005840"/>
          </a:xfrm>
          <a:prstGeom prst="roundRect">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00032" y="2276856"/>
            <a:ext cx="2011680" cy="45720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In-house AI</a:t>
            </a:r>
          </a:p>
        </p:txBody>
      </p:sp>
      <p:sp>
        <p:nvSpPr>
          <p:cNvPr id="28" name="TextBox 27"/>
          <p:cNvSpPr txBox="1"/>
          <p:nvPr/>
        </p:nvSpPr>
        <p:spPr>
          <a:xfrm>
            <a:off x="9400032" y="2651760"/>
            <a:ext cx="2011680" cy="45720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Optional (Option B)</a:t>
            </a:r>
          </a:p>
        </p:txBody>
      </p:sp>
      <p:sp>
        <p:nvSpPr>
          <p:cNvPr id="29" name="Rounded Rectangle 28"/>
          <p:cNvSpPr/>
          <p:nvPr/>
        </p:nvSpPr>
        <p:spPr>
          <a:xfrm>
            <a:off x="9144000" y="3429000"/>
            <a:ext cx="2377440" cy="1005840"/>
          </a:xfrm>
          <a:prstGeom prst="roundRect">
            <a:avLst/>
          </a:prstGeom>
          <a:solidFill>
            <a:srgbClr val="FFFFFF"/>
          </a:solidFill>
          <a:ln w="2540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144000" y="3429000"/>
            <a:ext cx="146304" cy="1005840"/>
          </a:xfrm>
          <a:prstGeom prst="round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00032" y="3557016"/>
            <a:ext cx="2011680" cy="45720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Encrypted backups</a:t>
            </a:r>
          </a:p>
        </p:txBody>
      </p:sp>
      <p:sp>
        <p:nvSpPr>
          <p:cNvPr id="32" name="TextBox 31"/>
          <p:cNvSpPr txBox="1"/>
          <p:nvPr/>
        </p:nvSpPr>
        <p:spPr>
          <a:xfrm>
            <a:off x="9400032" y="3931920"/>
            <a:ext cx="2011680" cy="45720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Nightly, retained</a:t>
            </a:r>
          </a:p>
        </p:txBody>
      </p:sp>
      <p:sp>
        <p:nvSpPr>
          <p:cNvPr id="33" name="Right Arrow 32"/>
          <p:cNvSpPr/>
          <p:nvPr/>
        </p:nvSpPr>
        <p:spPr>
          <a:xfrm>
            <a:off x="2816352" y="3246120"/>
            <a:ext cx="502920" cy="365760"/>
          </a:xfrm>
          <a:prstGeom prst="rightArrow">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ight Arrow 33"/>
          <p:cNvSpPr/>
          <p:nvPr/>
        </p:nvSpPr>
        <p:spPr>
          <a:xfrm>
            <a:off x="5870448" y="3246120"/>
            <a:ext cx="384048" cy="365760"/>
          </a:xfrm>
          <a:prstGeom prst="rightArrow">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ight Arrow 34"/>
          <p:cNvSpPr/>
          <p:nvPr/>
        </p:nvSpPr>
        <p:spPr>
          <a:xfrm>
            <a:off x="7360920" y="2331720"/>
            <a:ext cx="384048" cy="320040"/>
          </a:xfrm>
          <a:prstGeom prst="rightArrow">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Arrow 35"/>
          <p:cNvSpPr/>
          <p:nvPr/>
        </p:nvSpPr>
        <p:spPr>
          <a:xfrm>
            <a:off x="7360920" y="3611880"/>
            <a:ext cx="384048" cy="320040"/>
          </a:xfrm>
          <a:prstGeom prst="rightArrow">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5394960"/>
            <a:ext cx="10972800" cy="731520"/>
          </a:xfrm>
          <a:prstGeom prst="rect">
            <a:avLst/>
          </a:prstGeom>
          <a:noFill/>
        </p:spPr>
        <p:txBody>
          <a:bodyPr wrap="square" anchor="t" lIns="50800" rIns="50800" tIns="25400" bIns="25400">
            <a:spAutoFit/>
          </a:bodyPr>
          <a:lstStyle/>
          <a:p>
            <a:pPr algn="l">
              <a:spcBef>
                <a:spcPts val="0"/>
              </a:spcBef>
              <a:spcAft>
                <a:spcPts val="200"/>
              </a:spcAft>
            </a:pPr>
            <a:r>
              <a:rPr sz="1300" b="0">
                <a:solidFill>
                  <a:srgbClr val="636B7A"/>
                </a:solidFill>
                <a:latin typeface="Segoe UI"/>
              </a:rPr>
              <a:t>Nothing needs the public internet. Optional external feeds (news, live pricing) can be turned off for a fully sealed install.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KEEPING IT SAFE</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How we protect data, accounts &amp; the system</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06</a:t>
            </a:r>
          </a:p>
        </p:txBody>
      </p:sp>
      <p:sp>
        <p:nvSpPr>
          <p:cNvPr id="7" name="TextBox 6"/>
          <p:cNvSpPr txBox="1"/>
          <p:nvPr/>
        </p:nvSpPr>
        <p:spPr>
          <a:xfrm>
            <a:off x="502920" y="1371600"/>
            <a:ext cx="1115568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636B7A"/>
                </a:solidFill>
                <a:latin typeface="Segoe UI"/>
              </a:rPr>
              <a:t>Green = already built in.   Blue = we add for production.</a:t>
            </a:r>
          </a:p>
        </p:txBody>
      </p:sp>
      <p:sp>
        <p:nvSpPr>
          <p:cNvPr id="8" name="Rounded Rectangle 7"/>
          <p:cNvSpPr/>
          <p:nvPr/>
        </p:nvSpPr>
        <p:spPr>
          <a:xfrm>
            <a:off x="502920" y="1874519"/>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874519"/>
            <a:ext cx="118872" cy="123444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9842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Encrypted passwords</a:t>
            </a:r>
          </a:p>
        </p:txBody>
      </p:sp>
      <p:sp>
        <p:nvSpPr>
          <p:cNvPr id="11" name="TextBox 10"/>
          <p:cNvSpPr txBox="1"/>
          <p:nvPr/>
        </p:nvSpPr>
        <p:spPr>
          <a:xfrm>
            <a:off x="758952" y="2377439"/>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Stored scrambled, never in plain text</a:t>
            </a:r>
          </a:p>
        </p:txBody>
      </p:sp>
      <p:sp>
        <p:nvSpPr>
          <p:cNvPr id="12" name="TextBox 11"/>
          <p:cNvSpPr txBox="1"/>
          <p:nvPr/>
        </p:nvSpPr>
        <p:spPr>
          <a:xfrm>
            <a:off x="3108960" y="1965960"/>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1FA96B"/>
                </a:solidFill>
                <a:latin typeface="Segoe UI"/>
              </a:rPr>
              <a:t>Built in</a:t>
            </a:r>
          </a:p>
        </p:txBody>
      </p:sp>
      <p:sp>
        <p:nvSpPr>
          <p:cNvPr id="13" name="Rounded Rectangle 12"/>
          <p:cNvSpPr/>
          <p:nvPr/>
        </p:nvSpPr>
        <p:spPr>
          <a:xfrm>
            <a:off x="4297680" y="1874519"/>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7680" y="1874519"/>
            <a:ext cx="118872" cy="123444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19842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Private per-user data</a:t>
            </a:r>
          </a:p>
        </p:txBody>
      </p:sp>
      <p:sp>
        <p:nvSpPr>
          <p:cNvPr id="16" name="TextBox 15"/>
          <p:cNvSpPr txBox="1"/>
          <p:nvPr/>
        </p:nvSpPr>
        <p:spPr>
          <a:xfrm>
            <a:off x="4553712" y="2377439"/>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You only see your own projects (tested)</a:t>
            </a:r>
          </a:p>
        </p:txBody>
      </p:sp>
      <p:sp>
        <p:nvSpPr>
          <p:cNvPr id="17" name="TextBox 16"/>
          <p:cNvSpPr txBox="1"/>
          <p:nvPr/>
        </p:nvSpPr>
        <p:spPr>
          <a:xfrm>
            <a:off x="6903719" y="1965960"/>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1FA96B"/>
                </a:solidFill>
                <a:latin typeface="Segoe UI"/>
              </a:rPr>
              <a:t>Built in</a:t>
            </a:r>
          </a:p>
        </p:txBody>
      </p:sp>
      <p:sp>
        <p:nvSpPr>
          <p:cNvPr id="18" name="Rounded Rectangle 17"/>
          <p:cNvSpPr/>
          <p:nvPr/>
        </p:nvSpPr>
        <p:spPr>
          <a:xfrm>
            <a:off x="8092440" y="1874519"/>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92440" y="1874519"/>
            <a:ext cx="118872" cy="123444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2" y="19842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Photos not saved to disk</a:t>
            </a:r>
          </a:p>
        </p:txBody>
      </p:sp>
      <p:sp>
        <p:nvSpPr>
          <p:cNvPr id="21" name="TextBox 20"/>
          <p:cNvSpPr txBox="1"/>
          <p:nvPr/>
        </p:nvSpPr>
        <p:spPr>
          <a:xfrm>
            <a:off x="8348472" y="2377439"/>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Board images used in memory only</a:t>
            </a:r>
          </a:p>
        </p:txBody>
      </p:sp>
      <p:sp>
        <p:nvSpPr>
          <p:cNvPr id="22" name="TextBox 21"/>
          <p:cNvSpPr txBox="1"/>
          <p:nvPr/>
        </p:nvSpPr>
        <p:spPr>
          <a:xfrm>
            <a:off x="10698480" y="1965960"/>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1FA96B"/>
                </a:solidFill>
                <a:latin typeface="Segoe UI"/>
              </a:rPr>
              <a:t>Built in</a:t>
            </a:r>
          </a:p>
        </p:txBody>
      </p:sp>
      <p:sp>
        <p:nvSpPr>
          <p:cNvPr id="23" name="Rounded Rectangle 22"/>
          <p:cNvSpPr/>
          <p:nvPr/>
        </p:nvSpPr>
        <p:spPr>
          <a:xfrm>
            <a:off x="502920" y="3246120"/>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246120"/>
            <a:ext cx="118872" cy="123444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33558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Attack protection</a:t>
            </a:r>
          </a:p>
        </p:txBody>
      </p:sp>
      <p:sp>
        <p:nvSpPr>
          <p:cNvPr id="26" name="TextBox 25"/>
          <p:cNvSpPr txBox="1"/>
          <p:nvPr/>
        </p:nvSpPr>
        <p:spPr>
          <a:xfrm>
            <a:off x="758952" y="3749039"/>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Security headers + request rate limits</a:t>
            </a:r>
          </a:p>
        </p:txBody>
      </p:sp>
      <p:sp>
        <p:nvSpPr>
          <p:cNvPr id="27" name="TextBox 26"/>
          <p:cNvSpPr txBox="1"/>
          <p:nvPr/>
        </p:nvSpPr>
        <p:spPr>
          <a:xfrm>
            <a:off x="3108960" y="3337560"/>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1FA96B"/>
                </a:solidFill>
                <a:latin typeface="Segoe UI"/>
              </a:rPr>
              <a:t>Built in</a:t>
            </a:r>
          </a:p>
        </p:txBody>
      </p:sp>
      <p:sp>
        <p:nvSpPr>
          <p:cNvPr id="28" name="Rounded Rectangle 27"/>
          <p:cNvSpPr/>
          <p:nvPr/>
        </p:nvSpPr>
        <p:spPr>
          <a:xfrm>
            <a:off x="4297680" y="3246120"/>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97680" y="3246120"/>
            <a:ext cx="118872" cy="1234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53712" y="33558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Company login (SSO)</a:t>
            </a:r>
          </a:p>
        </p:txBody>
      </p:sp>
      <p:sp>
        <p:nvSpPr>
          <p:cNvPr id="31" name="TextBox 30"/>
          <p:cNvSpPr txBox="1"/>
          <p:nvPr/>
        </p:nvSpPr>
        <p:spPr>
          <a:xfrm>
            <a:off x="4553712" y="3749039"/>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Use our existing corporate sign-in + MFA</a:t>
            </a:r>
          </a:p>
        </p:txBody>
      </p:sp>
      <p:sp>
        <p:nvSpPr>
          <p:cNvPr id="32" name="TextBox 31"/>
          <p:cNvSpPr txBox="1"/>
          <p:nvPr/>
        </p:nvSpPr>
        <p:spPr>
          <a:xfrm>
            <a:off x="6903719" y="3337560"/>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2A6AF2"/>
                </a:solidFill>
                <a:latin typeface="Segoe UI"/>
              </a:rPr>
              <a:t>To add</a:t>
            </a:r>
          </a:p>
        </p:txBody>
      </p:sp>
      <p:sp>
        <p:nvSpPr>
          <p:cNvPr id="33" name="Rounded Rectangle 32"/>
          <p:cNvSpPr/>
          <p:nvPr/>
        </p:nvSpPr>
        <p:spPr>
          <a:xfrm>
            <a:off x="8092440" y="3246120"/>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92440" y="3246120"/>
            <a:ext cx="118872" cy="1234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48472" y="33558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Roles &amp; permissions</a:t>
            </a:r>
          </a:p>
        </p:txBody>
      </p:sp>
      <p:sp>
        <p:nvSpPr>
          <p:cNvPr id="36" name="TextBox 35"/>
          <p:cNvSpPr txBox="1"/>
          <p:nvPr/>
        </p:nvSpPr>
        <p:spPr>
          <a:xfrm>
            <a:off x="8348472" y="3749039"/>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Admin / engineer / viewer access levels</a:t>
            </a:r>
          </a:p>
        </p:txBody>
      </p:sp>
      <p:sp>
        <p:nvSpPr>
          <p:cNvPr id="37" name="TextBox 36"/>
          <p:cNvSpPr txBox="1"/>
          <p:nvPr/>
        </p:nvSpPr>
        <p:spPr>
          <a:xfrm>
            <a:off x="10698480" y="3337560"/>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2A6AF2"/>
                </a:solidFill>
                <a:latin typeface="Segoe UI"/>
              </a:rPr>
              <a:t>To add</a:t>
            </a:r>
          </a:p>
        </p:txBody>
      </p:sp>
      <p:sp>
        <p:nvSpPr>
          <p:cNvPr id="38" name="Rounded Rectangle 37"/>
          <p:cNvSpPr/>
          <p:nvPr/>
        </p:nvSpPr>
        <p:spPr>
          <a:xfrm>
            <a:off x="502920" y="4617720"/>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02920" y="4617720"/>
            <a:ext cx="118872" cy="1234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47274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Encryption everywhere</a:t>
            </a:r>
          </a:p>
        </p:txBody>
      </p:sp>
      <p:sp>
        <p:nvSpPr>
          <p:cNvPr id="41" name="TextBox 40"/>
          <p:cNvSpPr txBox="1"/>
          <p:nvPr/>
        </p:nvSpPr>
        <p:spPr>
          <a:xfrm>
            <a:off x="758952" y="5120640"/>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HTTPS in transit, encrypted storage at rest</a:t>
            </a:r>
          </a:p>
        </p:txBody>
      </p:sp>
      <p:sp>
        <p:nvSpPr>
          <p:cNvPr id="42" name="TextBox 41"/>
          <p:cNvSpPr txBox="1"/>
          <p:nvPr/>
        </p:nvSpPr>
        <p:spPr>
          <a:xfrm>
            <a:off x="3108960" y="4709159"/>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2A6AF2"/>
                </a:solidFill>
                <a:latin typeface="Segoe UI"/>
              </a:rPr>
              <a:t>To add</a:t>
            </a:r>
          </a:p>
        </p:txBody>
      </p:sp>
      <p:sp>
        <p:nvSpPr>
          <p:cNvPr id="43" name="Rounded Rectangle 42"/>
          <p:cNvSpPr/>
          <p:nvPr/>
        </p:nvSpPr>
        <p:spPr>
          <a:xfrm>
            <a:off x="4297680" y="4617720"/>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297680" y="4617720"/>
            <a:ext cx="118872" cy="1234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53712" y="47274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Audit trail</a:t>
            </a:r>
          </a:p>
        </p:txBody>
      </p:sp>
      <p:sp>
        <p:nvSpPr>
          <p:cNvPr id="46" name="TextBox 45"/>
          <p:cNvSpPr txBox="1"/>
          <p:nvPr/>
        </p:nvSpPr>
        <p:spPr>
          <a:xfrm>
            <a:off x="4553712" y="5120640"/>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Record who did what, sent to IT monitoring</a:t>
            </a:r>
          </a:p>
        </p:txBody>
      </p:sp>
      <p:sp>
        <p:nvSpPr>
          <p:cNvPr id="47" name="TextBox 46"/>
          <p:cNvSpPr txBox="1"/>
          <p:nvPr/>
        </p:nvSpPr>
        <p:spPr>
          <a:xfrm>
            <a:off x="6903719" y="4709159"/>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2A6AF2"/>
                </a:solidFill>
                <a:latin typeface="Segoe UI"/>
              </a:rPr>
              <a:t>To add</a:t>
            </a:r>
          </a:p>
        </p:txBody>
      </p:sp>
      <p:sp>
        <p:nvSpPr>
          <p:cNvPr id="48" name="Rounded Rectangle 47"/>
          <p:cNvSpPr/>
          <p:nvPr/>
        </p:nvSpPr>
        <p:spPr>
          <a:xfrm>
            <a:off x="8092440" y="4617720"/>
            <a:ext cx="3657600" cy="1234440"/>
          </a:xfrm>
          <a:prstGeom prst="roundRect">
            <a:avLst/>
          </a:prstGeom>
          <a:solidFill>
            <a:srgbClr val="FFFFFF"/>
          </a:solidFill>
          <a:ln w="1270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8092440" y="4617720"/>
            <a:ext cx="118872" cy="1234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48472" y="4727448"/>
            <a:ext cx="3291840" cy="365760"/>
          </a:xfrm>
          <a:prstGeom prst="rect">
            <a:avLst/>
          </a:prstGeom>
          <a:noFill/>
        </p:spPr>
        <p:txBody>
          <a:bodyPr wrap="square" anchor="t" lIns="50800" rIns="50800" tIns="25400" bIns="25400">
            <a:spAutoFit/>
          </a:bodyPr>
          <a:lstStyle/>
          <a:p>
            <a:pPr algn="l">
              <a:spcBef>
                <a:spcPts val="0"/>
              </a:spcBef>
              <a:spcAft>
                <a:spcPts val="200"/>
              </a:spcAft>
            </a:pPr>
            <a:r>
              <a:rPr sz="1300" b="1">
                <a:solidFill>
                  <a:srgbClr val="1F2A44"/>
                </a:solidFill>
                <a:latin typeface="Segoe UI"/>
              </a:rPr>
              <a:t>Backups &amp; recovery</a:t>
            </a:r>
          </a:p>
        </p:txBody>
      </p:sp>
      <p:sp>
        <p:nvSpPr>
          <p:cNvPr id="51" name="TextBox 50"/>
          <p:cNvSpPr txBox="1"/>
          <p:nvPr/>
        </p:nvSpPr>
        <p:spPr>
          <a:xfrm>
            <a:off x="8348472" y="5120640"/>
            <a:ext cx="3291840" cy="548640"/>
          </a:xfrm>
          <a:prstGeom prst="rect">
            <a:avLst/>
          </a:prstGeom>
          <a:noFill/>
        </p:spPr>
        <p:txBody>
          <a:bodyPr wrap="square" anchor="t" lIns="50800" rIns="50800" tIns="25400" bIns="25400">
            <a:spAutoFit/>
          </a:bodyPr>
          <a:lstStyle/>
          <a:p>
            <a:pPr algn="l">
              <a:spcBef>
                <a:spcPts val="0"/>
              </a:spcBef>
              <a:spcAft>
                <a:spcPts val="200"/>
              </a:spcAft>
            </a:pPr>
            <a:r>
              <a:rPr sz="1080" b="0">
                <a:solidFill>
                  <a:srgbClr val="636B7A"/>
                </a:solidFill>
                <a:latin typeface="Segoe UI"/>
              </a:rPr>
              <a:t>Nightly encrypted backups + restore drills</a:t>
            </a:r>
          </a:p>
        </p:txBody>
      </p:sp>
      <p:sp>
        <p:nvSpPr>
          <p:cNvPr id="52" name="TextBox 51"/>
          <p:cNvSpPr txBox="1"/>
          <p:nvPr/>
        </p:nvSpPr>
        <p:spPr>
          <a:xfrm>
            <a:off x="10698480" y="4709159"/>
            <a:ext cx="914400" cy="274320"/>
          </a:xfrm>
          <a:prstGeom prst="rect">
            <a:avLst/>
          </a:prstGeom>
          <a:noFill/>
        </p:spPr>
        <p:txBody>
          <a:bodyPr wrap="square" anchor="t" lIns="50800" rIns="50800" tIns="25400" bIns="25400">
            <a:spAutoFit/>
          </a:bodyPr>
          <a:lstStyle/>
          <a:p>
            <a:pPr algn="r">
              <a:spcBef>
                <a:spcPts val="0"/>
              </a:spcBef>
              <a:spcAft>
                <a:spcPts val="200"/>
              </a:spcAft>
            </a:pPr>
            <a:r>
              <a:rPr sz="900" b="1">
                <a:solidFill>
                  <a:srgbClr val="2A6AF2"/>
                </a:solidFill>
                <a:latin typeface="Segoe UI"/>
              </a:rPr>
              <a:t>To add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THE PLAN</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Phased roll-out — low risk, step by step</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07</a:t>
            </a:r>
          </a:p>
        </p:txBody>
      </p:sp>
      <p:sp>
        <p:nvSpPr>
          <p:cNvPr id="7" name="Rounded Rectangle 6"/>
          <p:cNvSpPr/>
          <p:nvPr/>
        </p:nvSpPr>
        <p:spPr>
          <a:xfrm>
            <a:off x="822960" y="3246120"/>
            <a:ext cx="10515600" cy="54864"/>
          </a:xfrm>
          <a:prstGeom prst="roundRect">
            <a:avLst/>
          </a:prstGeom>
          <a:solidFill>
            <a:srgbClr val="C7D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48255" y="3127248"/>
            <a:ext cx="292608" cy="292608"/>
          </a:xfrm>
          <a:prstGeom prst="ellipse">
            <a:avLst/>
          </a:prstGeom>
          <a:solidFill>
            <a:srgbClr val="2A6AF2"/>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19" y="1691640"/>
            <a:ext cx="2468880" cy="141732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0119" y="1691640"/>
            <a:ext cx="2468880" cy="109728"/>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1837944"/>
            <a:ext cx="2103120" cy="320040"/>
          </a:xfrm>
          <a:prstGeom prst="rect">
            <a:avLst/>
          </a:prstGeom>
          <a:noFill/>
        </p:spPr>
        <p:txBody>
          <a:bodyPr wrap="square" anchor="t" lIns="50800" rIns="50800" tIns="25400" bIns="25400">
            <a:spAutoFit/>
          </a:bodyPr>
          <a:lstStyle/>
          <a:p>
            <a:pPr algn="l">
              <a:spcBef>
                <a:spcPts val="0"/>
              </a:spcBef>
              <a:spcAft>
                <a:spcPts val="200"/>
              </a:spcAft>
            </a:pPr>
            <a:r>
              <a:rPr sz="1100" b="1">
                <a:solidFill>
                  <a:srgbClr val="2A6AF2"/>
                </a:solidFill>
                <a:latin typeface="Segoe UI"/>
              </a:rPr>
              <a:t>Phase 0  ·  ~1 wk</a:t>
            </a:r>
          </a:p>
        </p:txBody>
      </p:sp>
      <p:sp>
        <p:nvSpPr>
          <p:cNvPr id="12" name="TextBox 11"/>
          <p:cNvSpPr txBox="1"/>
          <p:nvPr/>
        </p:nvSpPr>
        <p:spPr>
          <a:xfrm>
            <a:off x="1143000" y="2148840"/>
            <a:ext cx="2103120" cy="36576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Make it compliant</a:t>
            </a:r>
          </a:p>
        </p:txBody>
      </p:sp>
      <p:sp>
        <p:nvSpPr>
          <p:cNvPr id="13" name="TextBox 12"/>
          <p:cNvSpPr txBox="1"/>
          <p:nvPr/>
        </p:nvSpPr>
        <p:spPr>
          <a:xfrm>
            <a:off x="1143000" y="2532888"/>
            <a:ext cx="2103120" cy="54864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Switch AI to off or in-house; seal external feeds</a:t>
            </a:r>
          </a:p>
        </p:txBody>
      </p:sp>
      <p:sp>
        <p:nvSpPr>
          <p:cNvPr id="14" name="Rounded Rectangle 13"/>
          <p:cNvSpPr/>
          <p:nvPr/>
        </p:nvSpPr>
        <p:spPr>
          <a:xfrm>
            <a:off x="2176272" y="3108960"/>
            <a:ext cx="36576" cy="4572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08575" y="3127248"/>
            <a:ext cx="292608" cy="292608"/>
          </a:xfrm>
          <a:prstGeom prst="ellipse">
            <a:avLst/>
          </a:prstGeom>
          <a:solidFill>
            <a:srgbClr val="0E9EA6"/>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20439" y="3703320"/>
            <a:ext cx="2468880" cy="141732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20439" y="3703320"/>
            <a:ext cx="2468880" cy="109728"/>
          </a:xfrm>
          <a:prstGeom prst="roundRect">
            <a:avLst/>
          </a:prstGeom>
          <a:solidFill>
            <a:srgbClr val="0E9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3319" y="3849624"/>
            <a:ext cx="2103120" cy="320040"/>
          </a:xfrm>
          <a:prstGeom prst="rect">
            <a:avLst/>
          </a:prstGeom>
          <a:noFill/>
        </p:spPr>
        <p:txBody>
          <a:bodyPr wrap="square" anchor="t" lIns="50800" rIns="50800" tIns="25400" bIns="25400">
            <a:spAutoFit/>
          </a:bodyPr>
          <a:lstStyle/>
          <a:p>
            <a:pPr algn="l">
              <a:spcBef>
                <a:spcPts val="0"/>
              </a:spcBef>
              <a:spcAft>
                <a:spcPts val="200"/>
              </a:spcAft>
            </a:pPr>
            <a:r>
              <a:rPr sz="1100" b="1">
                <a:solidFill>
                  <a:srgbClr val="0E9EA6"/>
                </a:solidFill>
                <a:latin typeface="Segoe UI"/>
              </a:rPr>
              <a:t>Phase 1  ·  2–3 wks</a:t>
            </a:r>
          </a:p>
        </p:txBody>
      </p:sp>
      <p:sp>
        <p:nvSpPr>
          <p:cNvPr id="19" name="TextBox 18"/>
          <p:cNvSpPr txBox="1"/>
          <p:nvPr/>
        </p:nvSpPr>
        <p:spPr>
          <a:xfrm>
            <a:off x="3703319" y="4160520"/>
            <a:ext cx="2103120" cy="36576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Secure pilot</a:t>
            </a:r>
          </a:p>
        </p:txBody>
      </p:sp>
      <p:sp>
        <p:nvSpPr>
          <p:cNvPr id="20" name="TextBox 19"/>
          <p:cNvSpPr txBox="1"/>
          <p:nvPr/>
        </p:nvSpPr>
        <p:spPr>
          <a:xfrm>
            <a:off x="3703319" y="4544568"/>
            <a:ext cx="2103120" cy="54864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Install on one server, HTTPS, backups; 3–5 pilot users</a:t>
            </a:r>
          </a:p>
        </p:txBody>
      </p:sp>
      <p:sp>
        <p:nvSpPr>
          <p:cNvPr id="21" name="Rounded Rectangle 20"/>
          <p:cNvSpPr/>
          <p:nvPr/>
        </p:nvSpPr>
        <p:spPr>
          <a:xfrm>
            <a:off x="4736592" y="3291840"/>
            <a:ext cx="36576" cy="411480"/>
          </a:xfrm>
          <a:prstGeom prst="roundRect">
            <a:avLst/>
          </a:prstGeom>
          <a:solidFill>
            <a:srgbClr val="0E9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127248"/>
            <a:ext cx="292608" cy="292608"/>
          </a:xfrm>
          <a:prstGeom prst="ellipse">
            <a:avLst/>
          </a:prstGeom>
          <a:solidFill>
            <a:srgbClr val="1FA96B"/>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080760" y="1691640"/>
            <a:ext cx="2468880" cy="141732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080760" y="1691640"/>
            <a:ext cx="2468880" cy="109728"/>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1837944"/>
            <a:ext cx="2103120" cy="320040"/>
          </a:xfrm>
          <a:prstGeom prst="rect">
            <a:avLst/>
          </a:prstGeom>
          <a:noFill/>
        </p:spPr>
        <p:txBody>
          <a:bodyPr wrap="square" anchor="t" lIns="50800" rIns="50800" tIns="25400" bIns="25400">
            <a:spAutoFit/>
          </a:bodyPr>
          <a:lstStyle/>
          <a:p>
            <a:pPr algn="l">
              <a:spcBef>
                <a:spcPts val="0"/>
              </a:spcBef>
              <a:spcAft>
                <a:spcPts val="200"/>
              </a:spcAft>
            </a:pPr>
            <a:r>
              <a:rPr sz="1100" b="1">
                <a:solidFill>
                  <a:srgbClr val="1FA96B"/>
                </a:solidFill>
                <a:latin typeface="Segoe UI"/>
              </a:rPr>
              <a:t>Phase 2  ·  3–4 wks</a:t>
            </a:r>
          </a:p>
        </p:txBody>
      </p:sp>
      <p:sp>
        <p:nvSpPr>
          <p:cNvPr id="26" name="TextBox 25"/>
          <p:cNvSpPr txBox="1"/>
          <p:nvPr/>
        </p:nvSpPr>
        <p:spPr>
          <a:xfrm>
            <a:off x="6263640" y="2148840"/>
            <a:ext cx="2103120" cy="36576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Company login &amp; roles</a:t>
            </a:r>
          </a:p>
        </p:txBody>
      </p:sp>
      <p:sp>
        <p:nvSpPr>
          <p:cNvPr id="27" name="TextBox 26"/>
          <p:cNvSpPr txBox="1"/>
          <p:nvPr/>
        </p:nvSpPr>
        <p:spPr>
          <a:xfrm>
            <a:off x="6263640" y="2532888"/>
            <a:ext cx="2103120" cy="54864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Corporate sign-on, MFA, access levels, audit log</a:t>
            </a:r>
          </a:p>
        </p:txBody>
      </p:sp>
      <p:sp>
        <p:nvSpPr>
          <p:cNvPr id="28" name="Rounded Rectangle 27"/>
          <p:cNvSpPr/>
          <p:nvPr/>
        </p:nvSpPr>
        <p:spPr>
          <a:xfrm>
            <a:off x="7296912" y="3108960"/>
            <a:ext cx="36576" cy="4572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29215" y="3127248"/>
            <a:ext cx="292608" cy="292608"/>
          </a:xfrm>
          <a:prstGeom prst="ellipse">
            <a:avLst/>
          </a:prstGeom>
          <a:solidFill>
            <a:srgbClr val="7C4DD6"/>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641080" y="3703320"/>
            <a:ext cx="2468880" cy="141732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641080" y="3703320"/>
            <a:ext cx="2468880" cy="109728"/>
          </a:xfrm>
          <a:prstGeom prst="roundRect">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59" y="3849624"/>
            <a:ext cx="2103120" cy="320040"/>
          </a:xfrm>
          <a:prstGeom prst="rect">
            <a:avLst/>
          </a:prstGeom>
          <a:noFill/>
        </p:spPr>
        <p:txBody>
          <a:bodyPr wrap="square" anchor="t" lIns="50800" rIns="50800" tIns="25400" bIns="25400">
            <a:spAutoFit/>
          </a:bodyPr>
          <a:lstStyle/>
          <a:p>
            <a:pPr algn="l">
              <a:spcBef>
                <a:spcPts val="0"/>
              </a:spcBef>
              <a:spcAft>
                <a:spcPts val="200"/>
              </a:spcAft>
            </a:pPr>
            <a:r>
              <a:rPr sz="1100" b="1">
                <a:solidFill>
                  <a:srgbClr val="7C4DD6"/>
                </a:solidFill>
                <a:latin typeface="Segoe UI"/>
              </a:rPr>
              <a:t>Phase 3  ·  Ongoing</a:t>
            </a:r>
          </a:p>
        </p:txBody>
      </p:sp>
      <p:sp>
        <p:nvSpPr>
          <p:cNvPr id="33" name="TextBox 32"/>
          <p:cNvSpPr txBox="1"/>
          <p:nvPr/>
        </p:nvSpPr>
        <p:spPr>
          <a:xfrm>
            <a:off x="8823959" y="4160520"/>
            <a:ext cx="2103120" cy="36576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Scale &amp; harden</a:t>
            </a:r>
          </a:p>
        </p:txBody>
      </p:sp>
      <p:sp>
        <p:nvSpPr>
          <p:cNvPr id="34" name="TextBox 33"/>
          <p:cNvSpPr txBox="1"/>
          <p:nvPr/>
        </p:nvSpPr>
        <p:spPr>
          <a:xfrm>
            <a:off x="8823959" y="4544568"/>
            <a:ext cx="2103120" cy="548640"/>
          </a:xfrm>
          <a:prstGeom prst="rect">
            <a:avLst/>
          </a:prstGeom>
          <a:noFill/>
        </p:spPr>
        <p:txBody>
          <a:bodyPr wrap="square" anchor="t" lIns="50800" rIns="50800" tIns="25400" bIns="25400">
            <a:spAutoFit/>
          </a:bodyPr>
          <a:lstStyle/>
          <a:p>
            <a:pPr algn="l">
              <a:spcBef>
                <a:spcPts val="0"/>
              </a:spcBef>
              <a:spcAft>
                <a:spcPts val="200"/>
              </a:spcAft>
            </a:pPr>
            <a:r>
              <a:rPr sz="1050" b="0">
                <a:solidFill>
                  <a:srgbClr val="636B7A"/>
                </a:solidFill>
                <a:latin typeface="Segoe UI"/>
              </a:rPr>
              <a:t>Security test, wider roll-out, resilience</a:t>
            </a:r>
          </a:p>
        </p:txBody>
      </p:sp>
      <p:sp>
        <p:nvSpPr>
          <p:cNvPr id="35" name="Rounded Rectangle 34"/>
          <p:cNvSpPr/>
          <p:nvPr/>
        </p:nvSpPr>
        <p:spPr>
          <a:xfrm>
            <a:off x="9857232" y="3291840"/>
            <a:ext cx="36576" cy="411480"/>
          </a:xfrm>
          <a:prstGeom prst="roundRect">
            <a:avLst/>
          </a:prstGeom>
          <a:solidFill>
            <a:srgbClr val="7C4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5806440"/>
            <a:ext cx="11155680" cy="548640"/>
          </a:xfrm>
          <a:prstGeom prst="rect">
            <a:avLst/>
          </a:prstGeom>
          <a:noFill/>
        </p:spPr>
        <p:txBody>
          <a:bodyPr wrap="square" anchor="t" lIns="50800" rIns="50800" tIns="25400" bIns="25400">
            <a:spAutoFit/>
          </a:bodyPr>
          <a:lstStyle/>
          <a:p>
            <a:pPr algn="l">
              <a:spcBef>
                <a:spcPts val="0"/>
              </a:spcBef>
              <a:spcAft>
                <a:spcPts val="200"/>
              </a:spcAft>
            </a:pPr>
            <a:r>
              <a:rPr sz="1350" b="1">
                <a:solidFill>
                  <a:srgbClr val="1F2A44"/>
                </a:solidFill>
                <a:latin typeface="Segoe UI"/>
              </a:rPr>
              <a:t>We are live and compliant after Phase 1. Everything after that adds convenience and scale — not core capability.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THE TRADE-OFFS</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Benefits vs. things to consider</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08</a:t>
            </a:r>
          </a:p>
        </p:txBody>
      </p:sp>
      <p:sp>
        <p:nvSpPr>
          <p:cNvPr id="7" name="Rounded Rectangle 6"/>
          <p:cNvSpPr/>
          <p:nvPr/>
        </p:nvSpPr>
        <p:spPr>
          <a:xfrm>
            <a:off x="502920" y="1554480"/>
            <a:ext cx="5486400" cy="4526280"/>
          </a:xfrm>
          <a:prstGeom prst="roundRect">
            <a:avLst/>
          </a:prstGeom>
          <a:solidFill>
            <a:srgbClr val="ECF7F0"/>
          </a:solidFill>
          <a:ln w="15240">
            <a:solidFill>
              <a:srgbClr val="BF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5029200" cy="457200"/>
          </a:xfrm>
          <a:prstGeom prst="rect">
            <a:avLst/>
          </a:prstGeom>
          <a:noFill/>
        </p:spPr>
        <p:txBody>
          <a:bodyPr wrap="square" anchor="t" lIns="50800" rIns="50800" tIns="25400" bIns="25400">
            <a:spAutoFit/>
          </a:bodyPr>
          <a:lstStyle/>
          <a:p>
            <a:pPr algn="l">
              <a:spcBef>
                <a:spcPts val="0"/>
              </a:spcBef>
              <a:spcAft>
                <a:spcPts val="200"/>
              </a:spcAft>
            </a:pPr>
            <a:r>
              <a:rPr sz="1800" b="1">
                <a:solidFill>
                  <a:srgbClr val="1FA96B"/>
                </a:solidFill>
                <a:latin typeface="Segoe UI"/>
              </a:rPr>
              <a:t>✅  Benefits</a:t>
            </a:r>
          </a:p>
        </p:txBody>
      </p:sp>
      <p:sp>
        <p:nvSpPr>
          <p:cNvPr id="9" name="TextBox 8"/>
          <p:cNvSpPr txBox="1"/>
          <p:nvPr/>
        </p:nvSpPr>
        <p:spPr>
          <a:xfrm>
            <a:off x="731520" y="2377440"/>
            <a:ext cx="5029200" cy="3566160"/>
          </a:xfrm>
          <a:prstGeom prst="rect">
            <a:avLst/>
          </a:prstGeom>
          <a:noFill/>
        </p:spPr>
        <p:txBody>
          <a:bodyPr wrap="square">
            <a:spAutoFit/>
          </a:bodyPr>
          <a:lstStyle/>
          <a:p>
            <a:pPr>
              <a:spcAft>
                <a:spcPts val="1100"/>
              </a:spcAft>
            </a:pPr>
            <a:r>
              <a:rPr sz="1350" b="0">
                <a:solidFill>
                  <a:srgbClr val="1F2A44"/>
                </a:solidFill>
                <a:latin typeface="Segoe UI"/>
              </a:rPr>
              <a:t>•  Our data never leaves our network</a:t>
            </a:r>
          </a:p>
          <a:p>
            <a:pPr>
              <a:spcAft>
                <a:spcPts val="1100"/>
              </a:spcAft>
            </a:pPr>
            <a:r>
              <a:rPr sz="1350" b="0">
                <a:solidFill>
                  <a:srgbClr val="1F2A44"/>
                </a:solidFill>
                <a:latin typeface="Segoe UI"/>
              </a:rPr>
              <a:t>•  Consistent, defensible costs across the team</a:t>
            </a:r>
          </a:p>
          <a:p>
            <a:pPr>
              <a:spcAft>
                <a:spcPts val="1100"/>
              </a:spcAft>
            </a:pPr>
            <a:r>
              <a:rPr sz="1350" b="0">
                <a:solidFill>
                  <a:srgbClr val="1F2A44"/>
                </a:solidFill>
                <a:latin typeface="Segoe UI"/>
              </a:rPr>
              <a:t>•  Faster quoting and stronger supplier negotiation</a:t>
            </a:r>
          </a:p>
          <a:p>
            <a:pPr>
              <a:spcAft>
                <a:spcPts val="1100"/>
              </a:spcAft>
            </a:pPr>
            <a:r>
              <a:rPr sz="1350" b="0">
                <a:solidFill>
                  <a:srgbClr val="1F2A44"/>
                </a:solidFill>
                <a:latin typeface="Segoe UI"/>
              </a:rPr>
              <a:t>•  No per-user external software fees</a:t>
            </a:r>
          </a:p>
          <a:p>
            <a:pPr>
              <a:spcAft>
                <a:spcPts val="1100"/>
              </a:spcAft>
            </a:pPr>
            <a:r>
              <a:rPr sz="1350" b="0">
                <a:solidFill>
                  <a:srgbClr val="1F2A44"/>
                </a:solidFill>
                <a:latin typeface="Segoe UI"/>
              </a:rPr>
              <a:t>•  We control updates, access and security</a:t>
            </a:r>
          </a:p>
          <a:p>
            <a:pPr>
              <a:spcAft>
                <a:spcPts val="1100"/>
              </a:spcAft>
            </a:pPr>
            <a:r>
              <a:rPr sz="1350" b="0">
                <a:solidFill>
                  <a:srgbClr val="1F2A44"/>
                </a:solidFill>
                <a:latin typeface="Segoe UI"/>
              </a:rPr>
              <a:t>•  Already tested &amp; reliable (automated checks on every change)</a:t>
            </a:r>
          </a:p>
        </p:txBody>
      </p:sp>
      <p:sp>
        <p:nvSpPr>
          <p:cNvPr id="10" name="Rounded Rectangle 9"/>
          <p:cNvSpPr/>
          <p:nvPr/>
        </p:nvSpPr>
        <p:spPr>
          <a:xfrm>
            <a:off x="6172200" y="1554480"/>
            <a:ext cx="5486400" cy="4526280"/>
          </a:xfrm>
          <a:prstGeom prst="roundRect">
            <a:avLst/>
          </a:prstGeom>
          <a:solidFill>
            <a:srgbClr val="FCF4E9"/>
          </a:solidFill>
          <a:ln w="15240">
            <a:solidFill>
              <a:srgbClr val="F0DD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5029200" cy="457200"/>
          </a:xfrm>
          <a:prstGeom prst="rect">
            <a:avLst/>
          </a:prstGeom>
          <a:noFill/>
        </p:spPr>
        <p:txBody>
          <a:bodyPr wrap="square" anchor="t" lIns="50800" rIns="50800" tIns="25400" bIns="25400">
            <a:spAutoFit/>
          </a:bodyPr>
          <a:lstStyle/>
          <a:p>
            <a:pPr algn="l">
              <a:spcBef>
                <a:spcPts val="0"/>
              </a:spcBef>
              <a:spcAft>
                <a:spcPts val="200"/>
              </a:spcAft>
            </a:pPr>
            <a:r>
              <a:rPr sz="1800" b="1">
                <a:solidFill>
                  <a:srgbClr val="E08A1E"/>
                </a:solidFill>
                <a:latin typeface="Segoe UI"/>
              </a:rPr>
              <a:t>⚠️  Things to consider</a:t>
            </a:r>
          </a:p>
        </p:txBody>
      </p:sp>
      <p:sp>
        <p:nvSpPr>
          <p:cNvPr id="12" name="TextBox 11"/>
          <p:cNvSpPr txBox="1"/>
          <p:nvPr/>
        </p:nvSpPr>
        <p:spPr>
          <a:xfrm>
            <a:off x="6400800" y="2377440"/>
            <a:ext cx="5029200" cy="3566160"/>
          </a:xfrm>
          <a:prstGeom prst="rect">
            <a:avLst/>
          </a:prstGeom>
          <a:noFill/>
        </p:spPr>
        <p:txBody>
          <a:bodyPr wrap="square">
            <a:spAutoFit/>
          </a:bodyPr>
          <a:lstStyle/>
          <a:p>
            <a:pPr>
              <a:spcAft>
                <a:spcPts val="1100"/>
              </a:spcAft>
            </a:pPr>
            <a:r>
              <a:rPr sz="1350" b="0">
                <a:solidFill>
                  <a:srgbClr val="1F2A44"/>
                </a:solidFill>
                <a:latin typeface="Segoe UI"/>
              </a:rPr>
              <a:t>•  Needs a server and IT support to host it</a:t>
            </a:r>
          </a:p>
          <a:p>
            <a:pPr>
              <a:spcAft>
                <a:spcPts val="1100"/>
              </a:spcAft>
            </a:pPr>
            <a:r>
              <a:rPr sz="1350" b="0">
                <a:solidFill>
                  <a:srgbClr val="1F2A44"/>
                </a:solidFill>
                <a:latin typeface="Segoe UI"/>
              </a:rPr>
              <a:t>•  AI helpers need a decision (off, in-house, or approved)</a:t>
            </a:r>
          </a:p>
          <a:p>
            <a:pPr>
              <a:spcAft>
                <a:spcPts val="1100"/>
              </a:spcAft>
            </a:pPr>
            <a:r>
              <a:rPr sz="1350" b="0">
                <a:solidFill>
                  <a:srgbClr val="1F2A44"/>
                </a:solidFill>
                <a:latin typeface="Segoe UI"/>
              </a:rPr>
              <a:t>•  In-house AI (if chosen) needs extra hardware</a:t>
            </a:r>
          </a:p>
          <a:p>
            <a:pPr>
              <a:spcAft>
                <a:spcPts val="1100"/>
              </a:spcAft>
            </a:pPr>
            <a:r>
              <a:rPr sz="1350" b="0">
                <a:solidFill>
                  <a:srgbClr val="1F2A44"/>
                </a:solidFill>
                <a:latin typeface="Segoe UI"/>
              </a:rPr>
              <a:t>•  Someone owns updates, backups &amp; access reviews</a:t>
            </a:r>
          </a:p>
          <a:p>
            <a:pPr>
              <a:spcAft>
                <a:spcPts val="1100"/>
              </a:spcAft>
            </a:pPr>
            <a:r>
              <a:rPr sz="1350" b="0">
                <a:solidFill>
                  <a:srgbClr val="1F2A44"/>
                </a:solidFill>
                <a:latin typeface="Segoe UI"/>
              </a:rPr>
              <a:t>•  Rate data should be reviewed for accuracy over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WHY IT'S WORTH IT</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Effort now vs. value returned</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09</a:t>
            </a:r>
          </a:p>
        </p:txBody>
      </p:sp>
      <p:graphicFrame>
        <p:nvGraphicFramePr>
          <p:cNvPr id="7" name="Chart 6"/>
          <p:cNvGraphicFramePr>
            <a:graphicFrameLocks noGrp="1"/>
          </p:cNvGraphicFramePr>
          <p:nvPr/>
        </p:nvGraphicFramePr>
        <p:xfrm>
          <a:off x="640080" y="1554480"/>
          <a:ext cx="7315200" cy="4480560"/>
        </p:xfrm>
        <a:graphic>
          <a:graphicData uri="http://schemas.openxmlformats.org/drawingml/2006/chart">
            <c:chart xmlns:c="http://schemas.openxmlformats.org/drawingml/2006/chart" r:id="rId2"/>
          </a:graphicData>
        </a:graphic>
      </p:graphicFrame>
      <p:sp>
        <p:nvSpPr>
          <p:cNvPr id="8" name="Rounded Rectangle 7"/>
          <p:cNvSpPr/>
          <p:nvPr/>
        </p:nvSpPr>
        <p:spPr>
          <a:xfrm>
            <a:off x="8229600" y="1737360"/>
            <a:ext cx="3429000" cy="402336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920240"/>
            <a:ext cx="3108960" cy="365760"/>
          </a:xfrm>
          <a:prstGeom prst="rect">
            <a:avLst/>
          </a:prstGeom>
          <a:noFill/>
        </p:spPr>
        <p:txBody>
          <a:bodyPr wrap="square" anchor="t" lIns="50800" rIns="50800" tIns="25400" bIns="25400">
            <a:spAutoFit/>
          </a:bodyPr>
          <a:lstStyle/>
          <a:p>
            <a:pPr algn="l">
              <a:spcBef>
                <a:spcPts val="0"/>
              </a:spcBef>
              <a:spcAft>
                <a:spcPts val="200"/>
              </a:spcAft>
            </a:pPr>
            <a:r>
              <a:rPr sz="1500" b="1">
                <a:solidFill>
                  <a:srgbClr val="1F2A44"/>
                </a:solidFill>
                <a:latin typeface="Segoe UI"/>
              </a:rPr>
              <a:t>Takeaways</a:t>
            </a:r>
          </a:p>
        </p:txBody>
      </p:sp>
      <p:sp>
        <p:nvSpPr>
          <p:cNvPr id="10" name="TextBox 9"/>
          <p:cNvSpPr txBox="1"/>
          <p:nvPr/>
        </p:nvSpPr>
        <p:spPr>
          <a:xfrm>
            <a:off x="8412480" y="2423160"/>
            <a:ext cx="3108960" cy="3200400"/>
          </a:xfrm>
          <a:prstGeom prst="rect">
            <a:avLst/>
          </a:prstGeom>
          <a:noFill/>
        </p:spPr>
        <p:txBody>
          <a:bodyPr wrap="square">
            <a:spAutoFit/>
          </a:bodyPr>
          <a:lstStyle/>
          <a:p>
            <a:pPr>
              <a:spcAft>
                <a:spcPts val="1000"/>
              </a:spcAft>
            </a:pPr>
            <a:r>
              <a:rPr sz="1250" b="1">
                <a:solidFill>
                  <a:srgbClr val="1FA96B"/>
                </a:solidFill>
                <a:latin typeface="Segoe UI"/>
              </a:rPr>
              <a:t>•  Value climbs faster than effort</a:t>
            </a:r>
          </a:p>
          <a:p>
            <a:pPr>
              <a:spcAft>
                <a:spcPts val="1000"/>
              </a:spcAft>
            </a:pPr>
            <a:r>
              <a:rPr sz="1250" b="0">
                <a:solidFill>
                  <a:srgbClr val="1F2A44"/>
                </a:solidFill>
                <a:latin typeface="Segoe UI"/>
              </a:rPr>
              <a:t>•  Biggest jump is early (going live)</a:t>
            </a:r>
          </a:p>
          <a:p>
            <a:pPr>
              <a:spcAft>
                <a:spcPts val="1000"/>
              </a:spcAft>
            </a:pPr>
            <a:r>
              <a:rPr sz="1250" b="0">
                <a:solidFill>
                  <a:srgbClr val="1F2A44"/>
                </a:solidFill>
                <a:latin typeface="Segoe UI"/>
              </a:rPr>
              <a:t>•  Later phases keep adding value at modest effort</a:t>
            </a:r>
          </a:p>
          <a:p>
            <a:pPr>
              <a:spcAft>
                <a:spcPts val="1000"/>
              </a:spcAft>
            </a:pPr>
            <a:r>
              <a:rPr sz="1250" b="0">
                <a:solidFill>
                  <a:srgbClr val="1F2A44"/>
                </a:solidFill>
                <a:latin typeface="Segoe UI"/>
              </a:rPr>
              <a:t>•  One-time setup, long-term payoff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9144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515600" cy="365760"/>
          </a:xfrm>
          <a:prstGeom prst="rect">
            <a:avLst/>
          </a:prstGeom>
          <a:noFill/>
        </p:spPr>
        <p:txBody>
          <a:bodyPr wrap="square" anchor="t" lIns="50800" rIns="50800" tIns="25400" bIns="25400">
            <a:spAutoFit/>
          </a:bodyPr>
          <a:lstStyle/>
          <a:p>
            <a:pPr algn="l">
              <a:spcBef>
                <a:spcPts val="0"/>
              </a:spcBef>
              <a:spcAft>
                <a:spcPts val="200"/>
              </a:spcAft>
            </a:pPr>
            <a:r>
              <a:rPr sz="1200" b="1">
                <a:solidFill>
                  <a:srgbClr val="2A6AF2"/>
                </a:solidFill>
                <a:latin typeface="Segoe UI"/>
              </a:rPr>
              <a:t>WHAT WE NEED FROM YOU</a:t>
            </a:r>
          </a:p>
        </p:txBody>
      </p:sp>
      <p:sp>
        <p:nvSpPr>
          <p:cNvPr id="5" name="TextBox 4"/>
          <p:cNvSpPr txBox="1"/>
          <p:nvPr/>
        </p:nvSpPr>
        <p:spPr>
          <a:xfrm>
            <a:off x="502920" y="530352"/>
            <a:ext cx="10789920" cy="822960"/>
          </a:xfrm>
          <a:prstGeom prst="rect">
            <a:avLst/>
          </a:prstGeom>
          <a:noFill/>
        </p:spPr>
        <p:txBody>
          <a:bodyPr wrap="square" anchor="t" lIns="50800" rIns="50800" tIns="25400" bIns="25400">
            <a:spAutoFit/>
          </a:bodyPr>
          <a:lstStyle/>
          <a:p>
            <a:pPr algn="l">
              <a:spcBef>
                <a:spcPts val="0"/>
              </a:spcBef>
              <a:spcAft>
                <a:spcPts val="200"/>
              </a:spcAft>
            </a:pPr>
            <a:r>
              <a:rPr sz="2700" b="1">
                <a:solidFill>
                  <a:srgbClr val="1F2A44"/>
                </a:solidFill>
                <a:latin typeface="Segoe UI"/>
              </a:rPr>
              <a:t>Decisions &amp; next steps</a:t>
            </a:r>
          </a:p>
        </p:txBody>
      </p:sp>
      <p:sp>
        <p:nvSpPr>
          <p:cNvPr id="6" name="TextBox 5"/>
          <p:cNvSpPr txBox="1"/>
          <p:nvPr/>
        </p:nvSpPr>
        <p:spPr>
          <a:xfrm>
            <a:off x="11430000" y="274320"/>
            <a:ext cx="640080" cy="365760"/>
          </a:xfrm>
          <a:prstGeom prst="rect">
            <a:avLst/>
          </a:prstGeom>
          <a:noFill/>
        </p:spPr>
        <p:txBody>
          <a:bodyPr wrap="square" anchor="t" lIns="50800" rIns="50800" tIns="25400" bIns="25400">
            <a:spAutoFit/>
          </a:bodyPr>
          <a:lstStyle/>
          <a:p>
            <a:pPr algn="r">
              <a:spcBef>
                <a:spcPts val="0"/>
              </a:spcBef>
              <a:spcAft>
                <a:spcPts val="200"/>
              </a:spcAft>
            </a:pPr>
            <a:r>
              <a:rPr sz="1200" b="1">
                <a:solidFill>
                  <a:srgbClr val="636B7A"/>
                </a:solidFill>
                <a:latin typeface="Segoe UI"/>
              </a:rPr>
              <a:t>10</a:t>
            </a:r>
          </a:p>
        </p:txBody>
      </p:sp>
      <p:sp>
        <p:nvSpPr>
          <p:cNvPr id="7" name="Rounded Rectangle 6"/>
          <p:cNvSpPr/>
          <p:nvPr/>
        </p:nvSpPr>
        <p:spPr>
          <a:xfrm>
            <a:off x="502920" y="1554480"/>
            <a:ext cx="5486400" cy="448056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54480"/>
            <a:ext cx="5486400" cy="502920"/>
          </a:xfrm>
          <a:prstGeom prst="roundRect">
            <a:avLst/>
          </a:prstGeom>
          <a:solidFill>
            <a:srgbClr val="2A6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600200"/>
            <a:ext cx="5486400" cy="411480"/>
          </a:xfrm>
          <a:prstGeom prst="rect">
            <a:avLst/>
          </a:prstGeom>
          <a:noFill/>
        </p:spPr>
        <p:txBody>
          <a:bodyPr wrap="square" anchor="ctr" lIns="50800" rIns="50800" tIns="25400" bIns="25400">
            <a:spAutoFit/>
          </a:bodyPr>
          <a:lstStyle/>
          <a:p>
            <a:pPr algn="ctr">
              <a:spcBef>
                <a:spcPts val="0"/>
              </a:spcBef>
              <a:spcAft>
                <a:spcPts val="200"/>
              </a:spcAft>
            </a:pPr>
            <a:r>
              <a:rPr sz="1500" b="1">
                <a:solidFill>
                  <a:srgbClr val="FFFFFF"/>
                </a:solidFill>
                <a:latin typeface="Segoe UI"/>
              </a:rPr>
              <a:t>3 decisions we need</a:t>
            </a:r>
          </a:p>
        </p:txBody>
      </p:sp>
      <p:sp>
        <p:nvSpPr>
          <p:cNvPr id="10" name="TextBox 9"/>
          <p:cNvSpPr txBox="1"/>
          <p:nvPr/>
        </p:nvSpPr>
        <p:spPr>
          <a:xfrm>
            <a:off x="777240" y="2286000"/>
            <a:ext cx="5029200" cy="3566160"/>
          </a:xfrm>
          <a:prstGeom prst="rect">
            <a:avLst/>
          </a:prstGeom>
          <a:noFill/>
        </p:spPr>
        <p:txBody>
          <a:bodyPr wrap="square">
            <a:spAutoFit/>
          </a:bodyPr>
          <a:lstStyle/>
          <a:p>
            <a:pPr>
              <a:spcAft>
                <a:spcPts val="1600"/>
              </a:spcAft>
            </a:pPr>
            <a:r>
              <a:rPr sz="1500" b="1">
                <a:solidFill>
                  <a:srgbClr val="1F2A44"/>
                </a:solidFill>
                <a:latin typeface="Segoe UI"/>
              </a:rPr>
              <a:t>•  1.  AI approach: OFF, in-house, or approved internal?</a:t>
            </a:r>
          </a:p>
          <a:p>
            <a:pPr>
              <a:spcAft>
                <a:spcPts val="1600"/>
              </a:spcAft>
            </a:pPr>
            <a:r>
              <a:rPr sz="1500" b="1">
                <a:solidFill>
                  <a:srgbClr val="1F2A44"/>
                </a:solidFill>
                <a:latin typeface="Segoe UI"/>
              </a:rPr>
              <a:t>•  2.  Who hosts it — which server / IT team owns it?</a:t>
            </a:r>
          </a:p>
          <a:p>
            <a:pPr>
              <a:spcAft>
                <a:spcPts val="1600"/>
              </a:spcAft>
            </a:pPr>
            <a:r>
              <a:rPr sz="1500" b="1">
                <a:solidFill>
                  <a:srgbClr val="1F2A44"/>
                </a:solidFill>
                <a:latin typeface="Segoe UI"/>
              </a:rPr>
              <a:t>•  3.  Pilot group: which 3–5 people go first?</a:t>
            </a:r>
          </a:p>
        </p:txBody>
      </p:sp>
      <p:sp>
        <p:nvSpPr>
          <p:cNvPr id="11" name="Rounded Rectangle 10"/>
          <p:cNvSpPr/>
          <p:nvPr/>
        </p:nvSpPr>
        <p:spPr>
          <a:xfrm>
            <a:off x="6172200" y="1554480"/>
            <a:ext cx="5486400" cy="4480560"/>
          </a:xfrm>
          <a:prstGeom prst="roundRect">
            <a:avLst/>
          </a:prstGeom>
          <a:solidFill>
            <a:srgbClr val="FFFFFF"/>
          </a:solidFill>
          <a:ln w="15240">
            <a:solidFill>
              <a:srgbClr val="D9E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554480"/>
            <a:ext cx="5486400" cy="502920"/>
          </a:xfrm>
          <a:prstGeom prst="roundRect">
            <a:avLst/>
          </a:prstGeom>
          <a:solidFill>
            <a:srgbClr val="1FA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600200"/>
            <a:ext cx="5486400" cy="411480"/>
          </a:xfrm>
          <a:prstGeom prst="rect">
            <a:avLst/>
          </a:prstGeom>
          <a:noFill/>
        </p:spPr>
        <p:txBody>
          <a:bodyPr wrap="square" anchor="ctr" lIns="50800" rIns="50800" tIns="25400" bIns="25400">
            <a:spAutoFit/>
          </a:bodyPr>
          <a:lstStyle/>
          <a:p>
            <a:pPr algn="ctr">
              <a:spcBef>
                <a:spcPts val="0"/>
              </a:spcBef>
              <a:spcAft>
                <a:spcPts val="200"/>
              </a:spcAft>
            </a:pPr>
            <a:r>
              <a:rPr sz="1500" b="1">
                <a:solidFill>
                  <a:srgbClr val="FFFFFF"/>
                </a:solidFill>
                <a:latin typeface="Segoe UI"/>
              </a:rPr>
              <a:t>Immediate next steps</a:t>
            </a:r>
          </a:p>
        </p:txBody>
      </p:sp>
      <p:sp>
        <p:nvSpPr>
          <p:cNvPr id="14" name="TextBox 13"/>
          <p:cNvSpPr txBox="1"/>
          <p:nvPr/>
        </p:nvSpPr>
        <p:spPr>
          <a:xfrm>
            <a:off x="6446520" y="2286000"/>
            <a:ext cx="5029200" cy="3566160"/>
          </a:xfrm>
          <a:prstGeom prst="rect">
            <a:avLst/>
          </a:prstGeom>
          <a:noFill/>
        </p:spPr>
        <p:txBody>
          <a:bodyPr wrap="square">
            <a:spAutoFit/>
          </a:bodyPr>
          <a:lstStyle/>
          <a:p>
            <a:pPr>
              <a:spcAft>
                <a:spcPts val="1300"/>
              </a:spcAft>
            </a:pPr>
            <a:r>
              <a:rPr sz="1400" b="0">
                <a:solidFill>
                  <a:srgbClr val="1F2A44"/>
                </a:solidFill>
                <a:latin typeface="Segoe UI"/>
              </a:rPr>
              <a:t>•  Approve Phase 0 (make it compliant)</a:t>
            </a:r>
          </a:p>
          <a:p>
            <a:pPr>
              <a:spcAft>
                <a:spcPts val="1300"/>
              </a:spcAft>
            </a:pPr>
            <a:r>
              <a:rPr sz="1400" b="0">
                <a:solidFill>
                  <a:srgbClr val="1F2A44"/>
                </a:solidFill>
                <a:latin typeface="Segoe UI"/>
              </a:rPr>
              <a:t>•  IT &amp; security review the plan</a:t>
            </a:r>
          </a:p>
          <a:p>
            <a:pPr>
              <a:spcAft>
                <a:spcPts val="1300"/>
              </a:spcAft>
            </a:pPr>
            <a:r>
              <a:rPr sz="1400" b="0">
                <a:solidFill>
                  <a:srgbClr val="1F2A44"/>
                </a:solidFill>
                <a:latin typeface="Segoe UI"/>
              </a:rPr>
              <a:t>•  Stand up one server for the pilot</a:t>
            </a:r>
          </a:p>
          <a:p>
            <a:pPr>
              <a:spcAft>
                <a:spcPts val="1300"/>
              </a:spcAft>
            </a:pPr>
            <a:r>
              <a:rPr sz="1400" b="0">
                <a:solidFill>
                  <a:srgbClr val="1F2A44"/>
                </a:solidFill>
                <a:latin typeface="Segoe UI"/>
              </a:rPr>
              <a:t>•  Confirm pilot users &amp; success measures</a:t>
            </a:r>
          </a:p>
          <a:p>
            <a:pPr>
              <a:spcAft>
                <a:spcPts val="1300"/>
              </a:spcAft>
            </a:pPr>
            <a:r>
              <a:rPr sz="1400" b="0">
                <a:solidFill>
                  <a:srgbClr val="1F2A44"/>
                </a:solidFill>
                <a:latin typeface="Segoe UI"/>
              </a:rPr>
              <a:t>•  Target: pilot live within ~4 weeks</a:t>
            </a:r>
          </a:p>
        </p:txBody>
      </p:sp>
      <p:sp>
        <p:nvSpPr>
          <p:cNvPr id="15" name="TextBox 14"/>
          <p:cNvSpPr txBox="1"/>
          <p:nvPr/>
        </p:nvSpPr>
        <p:spPr>
          <a:xfrm>
            <a:off x="502920" y="6172200"/>
            <a:ext cx="11155680" cy="457200"/>
          </a:xfrm>
          <a:prstGeom prst="rect">
            <a:avLst/>
          </a:prstGeom>
          <a:noFill/>
        </p:spPr>
        <p:txBody>
          <a:bodyPr wrap="square" anchor="t" lIns="50800" rIns="50800" tIns="25400" bIns="25400">
            <a:spAutoFit/>
          </a:bodyPr>
          <a:lstStyle/>
          <a:p>
            <a:pPr algn="ctr">
              <a:spcBef>
                <a:spcPts val="0"/>
              </a:spcBef>
              <a:spcAft>
                <a:spcPts val="200"/>
              </a:spcAft>
            </a:pPr>
            <a:r>
              <a:rPr sz="1400" b="1">
                <a:solidFill>
                  <a:srgbClr val="1D4ED8"/>
                </a:solidFill>
                <a:latin typeface="Segoe UI"/>
              </a:rPr>
              <a:t>Ask: approval to begin Phase 0 and name a pilot group. Low cost, low risk, quick to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