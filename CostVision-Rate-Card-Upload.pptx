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for IT. The short version: one Excel file, uploaded by an admin.</a:t>
            </a:r>
          </a:p>
          <a:p/>
          <a:p>
            <a:r>
              <a:t>First, who. Only an admin sees these buttons, and the check is on the server, not in the browser. We tried it. An ordinary user calling the upload directly is refused. Admins are named in the server settings, so you decide who they are.</a:t>
            </a:r>
          </a:p>
          <a:p/>
          <a:p>
            <a:r>
              <a:t>Second, the file. You download a template filled with the built-in rates, and put ours in. Or, easier, you paste JLR's own rate card into the Rate Converter workbook. It maps JLR's codes to the tool's, with plain formulas and no macros. The file is checked as it loads. If anything is wrong, the whole file is rejected, not half-loaded. Uploading it switches the tool to our rates, and one click puts the built-in rates back.</a:t>
            </a:r>
          </a:p>
          <a:p/>
          <a:p>
            <a:r>
              <a:t>On the right is the same bracket, costed twice with the same answers. Only the rates changed. Material, labour and machine time moved. Packaging, logistics and tooling did not, because the sheet does not touch them.</a:t>
            </a:r>
          </a:p>
          <a:p/>
          <a:p>
            <a:r>
              <a:t>Last, audit. Each rate book gets an ID from its contents, and old books are kept. So a past costing can be rerun on the rates it used.</a:t>
            </a:r>
          </a:p>
          <a:p/>
          <a:p>
            <a:r>
              <a:t>If nobody uploads anything, nothing breaks. The tool keeps its built-in rates.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3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300"/>
              </a:spcAft>
            </a:pPr>
            <a:r>
              <a:rPr sz="1100" b="1" i="0">
                <a:solidFill>
                  <a:srgbClr val="1D6FB8"/>
                </a:solidFill>
                <a:latin typeface="Calibri"/>
              </a:rPr>
              <a:t>RATE LIBRARY · ADMIN</a:t>
            </a:r>
          </a:p>
        </p:txBody>
      </p:sp>
      <p:sp>
        <p:nvSpPr>
          <p:cNvPr id="7" name="TextBox 6"/>
          <p:cNvSpPr txBox="1"/>
          <p:nvPr/>
        </p:nvSpPr>
        <p:spPr>
          <a:xfrm>
            <a:off x="411480" y="1115568"/>
            <a:ext cx="11338560" cy="457200"/>
          </a:xfrm>
          <a:prstGeom prst="rect">
            <a:avLst/>
          </a:prstGeom>
          <a:noFill/>
        </p:spPr>
        <p:txBody>
          <a:bodyPr wrap="square" anchor="t" lIns="0" rIns="0" tIns="0" bIns="0">
            <a:spAutoFit/>
          </a:bodyPr>
          <a:lstStyle/>
          <a:p>
            <a:pPr algn="l">
              <a:lnSpc>
                <a:spcPct val="100000"/>
              </a:lnSpc>
              <a:spcAft>
                <a:spcPts val="300"/>
              </a:spcAft>
            </a:pPr>
            <a:r>
              <a:rPr sz="2700" b="1" i="0">
                <a:solidFill>
                  <a:srgbClr val="16325C"/>
                </a:solidFill>
                <a:latin typeface="Cambria"/>
              </a:rPr>
              <a:t>Loading our own rate card</a:t>
            </a:r>
          </a:p>
        </p:txBody>
      </p:sp>
      <p:sp>
        <p:nvSpPr>
          <p:cNvPr id="8" name="TextBox 7"/>
          <p:cNvSpPr txBox="1"/>
          <p:nvPr/>
        </p:nvSpPr>
        <p:spPr>
          <a:xfrm>
            <a:off x="411480" y="1572768"/>
            <a:ext cx="11338560" cy="256032"/>
          </a:xfrm>
          <a:prstGeom prst="rect">
            <a:avLst/>
          </a:prstGeom>
          <a:noFill/>
        </p:spPr>
        <p:txBody>
          <a:bodyPr wrap="square" anchor="t" lIns="0" rIns="0" tIns="0" bIns="0">
            <a:spAutoFit/>
          </a:bodyPr>
          <a:lstStyle/>
          <a:p>
            <a:pPr algn="l">
              <a:lnSpc>
                <a:spcPct val="100000"/>
              </a:lnSpc>
              <a:spcAft>
                <a:spcPts val="300"/>
              </a:spcAft>
            </a:pPr>
            <a:r>
              <a:rPr sz="1250" b="0" i="0">
                <a:solidFill>
                  <a:srgbClr val="3A4356"/>
                </a:solidFill>
                <a:latin typeface="Calibri"/>
              </a:rPr>
              <a:t>An admin uploads one Excel file. From that moment every costing uses our rates instead of the ones that ship with the tool.</a:t>
            </a:r>
          </a:p>
        </p:txBody>
      </p:sp>
      <p:sp>
        <p:nvSpPr>
          <p:cNvPr id="9" name="Rectangle 8"/>
          <p:cNvSpPr/>
          <p:nvPr/>
        </p:nvSpPr>
        <p:spPr>
          <a:xfrm>
            <a:off x="411480" y="1975104"/>
            <a:ext cx="2157984" cy="9692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75104"/>
            <a:ext cx="2157984" cy="381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8" y="2093976"/>
            <a:ext cx="274320" cy="182880"/>
          </a:xfrm>
          <a:prstGeom prst="rect">
            <a:avLst/>
          </a:prstGeom>
          <a:noFill/>
        </p:spPr>
        <p:txBody>
          <a:bodyPr wrap="square" anchor="t" lIns="0" rIns="0" tIns="0" bIns="0">
            <a:spAutoFit/>
          </a:bodyPr>
          <a:lstStyle/>
          <a:p>
            <a:pPr algn="l">
              <a:lnSpc>
                <a:spcPct val="100000"/>
              </a:lnSpc>
              <a:spcAft>
                <a:spcPts val="300"/>
              </a:spcAft>
            </a:pPr>
            <a:r>
              <a:rPr sz="1100" b="1" i="0">
                <a:solidFill>
                  <a:srgbClr val="1D6FB8"/>
                </a:solidFill>
                <a:latin typeface="Calibri"/>
              </a:rPr>
              <a:t>1</a:t>
            </a:r>
          </a:p>
        </p:txBody>
      </p:sp>
      <p:sp>
        <p:nvSpPr>
          <p:cNvPr id="12" name="TextBox 11"/>
          <p:cNvSpPr txBox="1"/>
          <p:nvPr/>
        </p:nvSpPr>
        <p:spPr>
          <a:xfrm>
            <a:off x="758952" y="2084832"/>
            <a:ext cx="1700784" cy="201168"/>
          </a:xfrm>
          <a:prstGeom prst="rect">
            <a:avLst/>
          </a:prstGeom>
          <a:noFill/>
        </p:spPr>
        <p:txBody>
          <a:bodyPr wrap="square" anchor="t" lIns="0" rIns="0" tIns="0" bIns="0">
            <a:spAutoFit/>
          </a:bodyPr>
          <a:lstStyle/>
          <a:p>
            <a:pPr algn="l">
              <a:lnSpc>
                <a:spcPct val="100000"/>
              </a:lnSpc>
              <a:spcAft>
                <a:spcPts val="300"/>
              </a:spcAft>
            </a:pPr>
            <a:r>
              <a:rPr sz="1150" b="1" i="0">
                <a:solidFill>
                  <a:srgbClr val="16325C"/>
                </a:solidFill>
                <a:latin typeface="Calibri"/>
              </a:rPr>
              <a:t>Sign in as admin</a:t>
            </a:r>
          </a:p>
        </p:txBody>
      </p:sp>
      <p:sp>
        <p:nvSpPr>
          <p:cNvPr id="13" name="TextBox 12"/>
          <p:cNvSpPr txBox="1"/>
          <p:nvPr/>
        </p:nvSpPr>
        <p:spPr>
          <a:xfrm>
            <a:off x="521208" y="2340864"/>
            <a:ext cx="1938528" cy="530352"/>
          </a:xfrm>
          <a:prstGeom prst="rect">
            <a:avLst/>
          </a:prstGeom>
          <a:noFill/>
        </p:spPr>
        <p:txBody>
          <a:bodyPr wrap="square" anchor="t" lIns="0" rIns="0" tIns="0" bIns="0">
            <a:spAutoFit/>
          </a:bodyPr>
          <a:lstStyle/>
          <a:p>
            <a:pPr algn="l">
              <a:lnSpc>
                <a:spcPct val="106000"/>
              </a:lnSpc>
              <a:spcAft>
                <a:spcPts val="0"/>
              </a:spcAft>
            </a:pPr>
            <a:r>
              <a:rPr sz="919" b="0" i="0">
                <a:solidFill>
                  <a:srgbClr val="3A4356"/>
                </a:solidFill>
                <a:latin typeface="Calibri"/>
              </a:rPr>
              <a:t>Only an admin sees the</a:t>
            </a:r>
          </a:p>
          <a:p>
            <a:pPr algn="l">
              <a:lnSpc>
                <a:spcPct val="106000"/>
              </a:lnSpc>
              <a:spcAft>
                <a:spcPts val="0"/>
              </a:spcAft>
            </a:pPr>
            <a:r>
              <a:rPr sz="919" b="0" i="0">
                <a:solidFill>
                  <a:srgbClr val="3A4356"/>
                </a:solidFill>
                <a:latin typeface="Calibri"/>
              </a:rPr>
              <a:t>buttons. Anyone else gets</a:t>
            </a:r>
          </a:p>
          <a:p>
            <a:pPr algn="l">
              <a:lnSpc>
                <a:spcPct val="106000"/>
              </a:lnSpc>
              <a:spcAft>
                <a:spcPts val="0"/>
              </a:spcAft>
            </a:pPr>
            <a:r>
              <a:rPr sz="919" b="0" i="0">
                <a:solidFill>
                  <a:srgbClr val="3A4356"/>
                </a:solidFill>
                <a:latin typeface="Calibri"/>
              </a:rPr>
              <a:t>refused by the server.</a:t>
            </a:r>
          </a:p>
        </p:txBody>
      </p:sp>
      <p:sp>
        <p:nvSpPr>
          <p:cNvPr id="14" name="Isosceles Triangle 13"/>
          <p:cNvSpPr/>
          <p:nvPr/>
        </p:nvSpPr>
        <p:spPr>
          <a:xfrm rot="5400000">
            <a:off x="2583180" y="2377440"/>
            <a:ext cx="118872" cy="164592"/>
          </a:xfrm>
          <a:prstGeom prst="triangle">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15768" y="1975104"/>
            <a:ext cx="2157984" cy="9692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15768" y="1975104"/>
            <a:ext cx="2157984" cy="381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825496" y="2093976"/>
            <a:ext cx="274320" cy="182880"/>
          </a:xfrm>
          <a:prstGeom prst="rect">
            <a:avLst/>
          </a:prstGeom>
          <a:noFill/>
        </p:spPr>
        <p:txBody>
          <a:bodyPr wrap="square" anchor="t" lIns="0" rIns="0" tIns="0" bIns="0">
            <a:spAutoFit/>
          </a:bodyPr>
          <a:lstStyle/>
          <a:p>
            <a:pPr algn="l">
              <a:lnSpc>
                <a:spcPct val="100000"/>
              </a:lnSpc>
              <a:spcAft>
                <a:spcPts val="300"/>
              </a:spcAft>
            </a:pPr>
            <a:r>
              <a:rPr sz="1100" b="1" i="0">
                <a:solidFill>
                  <a:srgbClr val="1D6FB8"/>
                </a:solidFill>
                <a:latin typeface="Calibri"/>
              </a:rPr>
              <a:t>2</a:t>
            </a:r>
          </a:p>
        </p:txBody>
      </p:sp>
      <p:sp>
        <p:nvSpPr>
          <p:cNvPr id="18" name="TextBox 17"/>
          <p:cNvSpPr txBox="1"/>
          <p:nvPr/>
        </p:nvSpPr>
        <p:spPr>
          <a:xfrm>
            <a:off x="3063240" y="2084832"/>
            <a:ext cx="1700784" cy="201168"/>
          </a:xfrm>
          <a:prstGeom prst="rect">
            <a:avLst/>
          </a:prstGeom>
          <a:noFill/>
        </p:spPr>
        <p:txBody>
          <a:bodyPr wrap="square" anchor="t" lIns="0" rIns="0" tIns="0" bIns="0">
            <a:spAutoFit/>
          </a:bodyPr>
          <a:lstStyle/>
          <a:p>
            <a:pPr algn="l">
              <a:lnSpc>
                <a:spcPct val="100000"/>
              </a:lnSpc>
              <a:spcAft>
                <a:spcPts val="300"/>
              </a:spcAft>
            </a:pPr>
            <a:r>
              <a:rPr sz="1150" b="1" i="0">
                <a:solidFill>
                  <a:srgbClr val="16325C"/>
                </a:solidFill>
                <a:latin typeface="Calibri"/>
              </a:rPr>
              <a:t>Download template</a:t>
            </a:r>
          </a:p>
        </p:txBody>
      </p:sp>
      <p:sp>
        <p:nvSpPr>
          <p:cNvPr id="19" name="TextBox 18"/>
          <p:cNvSpPr txBox="1"/>
          <p:nvPr/>
        </p:nvSpPr>
        <p:spPr>
          <a:xfrm>
            <a:off x="2825496" y="2340864"/>
            <a:ext cx="1938528" cy="530352"/>
          </a:xfrm>
          <a:prstGeom prst="rect">
            <a:avLst/>
          </a:prstGeom>
          <a:noFill/>
        </p:spPr>
        <p:txBody>
          <a:bodyPr wrap="square" anchor="t" lIns="0" rIns="0" tIns="0" bIns="0">
            <a:spAutoFit/>
          </a:bodyPr>
          <a:lstStyle/>
          <a:p>
            <a:pPr algn="l">
              <a:lnSpc>
                <a:spcPct val="106000"/>
              </a:lnSpc>
              <a:spcAft>
                <a:spcPts val="0"/>
              </a:spcAft>
            </a:pPr>
            <a:r>
              <a:rPr sz="919" b="0" i="0">
                <a:solidFill>
                  <a:srgbClr val="3A4356"/>
                </a:solidFill>
                <a:latin typeface="Calibri"/>
              </a:rPr>
              <a:t>An Excel file with every</a:t>
            </a:r>
          </a:p>
          <a:p>
            <a:pPr algn="l">
              <a:lnSpc>
                <a:spcPct val="106000"/>
              </a:lnSpc>
              <a:spcAft>
                <a:spcPts val="0"/>
              </a:spcAft>
            </a:pPr>
            <a:r>
              <a:rPr sz="919" b="0" i="0">
                <a:solidFill>
                  <a:srgbClr val="3A4356"/>
                </a:solidFill>
                <a:latin typeface="Calibri"/>
              </a:rPr>
              <a:t>rate the tool uses, filled</a:t>
            </a:r>
          </a:p>
          <a:p>
            <a:pPr algn="l">
              <a:lnSpc>
                <a:spcPct val="106000"/>
              </a:lnSpc>
              <a:spcAft>
                <a:spcPts val="0"/>
              </a:spcAft>
            </a:pPr>
            <a:r>
              <a:rPr sz="919" b="0" i="0">
                <a:solidFill>
                  <a:srgbClr val="3A4356"/>
                </a:solidFill>
                <a:latin typeface="Calibri"/>
              </a:rPr>
              <a:t>with the built-in values.</a:t>
            </a:r>
          </a:p>
        </p:txBody>
      </p:sp>
      <p:sp>
        <p:nvSpPr>
          <p:cNvPr id="20" name="Isosceles Triangle 19"/>
          <p:cNvSpPr/>
          <p:nvPr/>
        </p:nvSpPr>
        <p:spPr>
          <a:xfrm rot="5400000">
            <a:off x="4887468" y="2377440"/>
            <a:ext cx="118872" cy="164592"/>
          </a:xfrm>
          <a:prstGeom prst="triangle">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0056" y="1975104"/>
            <a:ext cx="2157984" cy="9692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0056" y="1975104"/>
            <a:ext cx="2157984" cy="381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29784" y="2093976"/>
            <a:ext cx="274320" cy="182880"/>
          </a:xfrm>
          <a:prstGeom prst="rect">
            <a:avLst/>
          </a:prstGeom>
          <a:noFill/>
        </p:spPr>
        <p:txBody>
          <a:bodyPr wrap="square" anchor="t" lIns="0" rIns="0" tIns="0" bIns="0">
            <a:spAutoFit/>
          </a:bodyPr>
          <a:lstStyle/>
          <a:p>
            <a:pPr algn="l">
              <a:lnSpc>
                <a:spcPct val="100000"/>
              </a:lnSpc>
              <a:spcAft>
                <a:spcPts val="300"/>
              </a:spcAft>
            </a:pPr>
            <a:r>
              <a:rPr sz="1100" b="1" i="0">
                <a:solidFill>
                  <a:srgbClr val="1D6FB8"/>
                </a:solidFill>
                <a:latin typeface="Calibri"/>
              </a:rPr>
              <a:t>3</a:t>
            </a:r>
          </a:p>
        </p:txBody>
      </p:sp>
      <p:sp>
        <p:nvSpPr>
          <p:cNvPr id="24" name="TextBox 23"/>
          <p:cNvSpPr txBox="1"/>
          <p:nvPr/>
        </p:nvSpPr>
        <p:spPr>
          <a:xfrm>
            <a:off x="5367528" y="2084832"/>
            <a:ext cx="1700784" cy="201168"/>
          </a:xfrm>
          <a:prstGeom prst="rect">
            <a:avLst/>
          </a:prstGeom>
          <a:noFill/>
        </p:spPr>
        <p:txBody>
          <a:bodyPr wrap="square" anchor="t" lIns="0" rIns="0" tIns="0" bIns="0">
            <a:spAutoFit/>
          </a:bodyPr>
          <a:lstStyle/>
          <a:p>
            <a:pPr algn="l">
              <a:lnSpc>
                <a:spcPct val="100000"/>
              </a:lnSpc>
              <a:spcAft>
                <a:spcPts val="300"/>
              </a:spcAft>
            </a:pPr>
            <a:r>
              <a:rPr sz="1150" b="1" i="0">
                <a:solidFill>
                  <a:srgbClr val="16325C"/>
                </a:solidFill>
                <a:latin typeface="Calibri"/>
              </a:rPr>
              <a:t>Put our rates in it</a:t>
            </a:r>
          </a:p>
        </p:txBody>
      </p:sp>
      <p:sp>
        <p:nvSpPr>
          <p:cNvPr id="25" name="TextBox 24"/>
          <p:cNvSpPr txBox="1"/>
          <p:nvPr/>
        </p:nvSpPr>
        <p:spPr>
          <a:xfrm>
            <a:off x="5129784" y="2340864"/>
            <a:ext cx="1938528" cy="530352"/>
          </a:xfrm>
          <a:prstGeom prst="rect">
            <a:avLst/>
          </a:prstGeom>
          <a:noFill/>
        </p:spPr>
        <p:txBody>
          <a:bodyPr wrap="square" anchor="t" lIns="0" rIns="0" tIns="0" bIns="0">
            <a:spAutoFit/>
          </a:bodyPr>
          <a:lstStyle/>
          <a:p>
            <a:pPr algn="l">
              <a:lnSpc>
                <a:spcPct val="106000"/>
              </a:lnSpc>
              <a:spcAft>
                <a:spcPts val="0"/>
              </a:spcAft>
            </a:pPr>
            <a:r>
              <a:rPr sz="919" b="0" i="0">
                <a:solidFill>
                  <a:srgbClr val="3A4356"/>
                </a:solidFill>
                <a:latin typeface="Calibri"/>
              </a:rPr>
              <a:t>Type them in, or paste</a:t>
            </a:r>
          </a:p>
          <a:p>
            <a:pPr algn="l">
              <a:lnSpc>
                <a:spcPct val="106000"/>
              </a:lnSpc>
              <a:spcAft>
                <a:spcPts val="0"/>
              </a:spcAft>
            </a:pPr>
            <a:r>
              <a:rPr sz="919" b="0" i="0">
                <a:solidFill>
                  <a:srgbClr val="3A4356"/>
                </a:solidFill>
                <a:latin typeface="Calibri"/>
              </a:rPr>
              <a:t>JLR's card into the Rate</a:t>
            </a:r>
          </a:p>
          <a:p>
            <a:pPr algn="l">
              <a:lnSpc>
                <a:spcPct val="106000"/>
              </a:lnSpc>
              <a:spcAft>
                <a:spcPts val="0"/>
              </a:spcAft>
            </a:pPr>
            <a:r>
              <a:rPr sz="919" b="0" i="0">
                <a:solidFill>
                  <a:srgbClr val="3A4356"/>
                </a:solidFill>
                <a:latin typeface="Calibri"/>
              </a:rPr>
              <a:t>Converter. No macros.</a:t>
            </a:r>
          </a:p>
        </p:txBody>
      </p:sp>
      <p:sp>
        <p:nvSpPr>
          <p:cNvPr id="26" name="Isosceles Triangle 25"/>
          <p:cNvSpPr/>
          <p:nvPr/>
        </p:nvSpPr>
        <p:spPr>
          <a:xfrm rot="5400000">
            <a:off x="7191756" y="2377440"/>
            <a:ext cx="118872" cy="164592"/>
          </a:xfrm>
          <a:prstGeom prst="triangle">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24344" y="1975104"/>
            <a:ext cx="2157984" cy="9692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24344" y="1975104"/>
            <a:ext cx="2157984" cy="381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34072" y="2093976"/>
            <a:ext cx="274320" cy="182880"/>
          </a:xfrm>
          <a:prstGeom prst="rect">
            <a:avLst/>
          </a:prstGeom>
          <a:noFill/>
        </p:spPr>
        <p:txBody>
          <a:bodyPr wrap="square" anchor="t" lIns="0" rIns="0" tIns="0" bIns="0">
            <a:spAutoFit/>
          </a:bodyPr>
          <a:lstStyle/>
          <a:p>
            <a:pPr algn="l">
              <a:lnSpc>
                <a:spcPct val="100000"/>
              </a:lnSpc>
              <a:spcAft>
                <a:spcPts val="300"/>
              </a:spcAft>
            </a:pPr>
            <a:r>
              <a:rPr sz="1100" b="1" i="0">
                <a:solidFill>
                  <a:srgbClr val="1D6FB8"/>
                </a:solidFill>
                <a:latin typeface="Calibri"/>
              </a:rPr>
              <a:t>4</a:t>
            </a:r>
          </a:p>
        </p:txBody>
      </p:sp>
      <p:sp>
        <p:nvSpPr>
          <p:cNvPr id="30" name="TextBox 29"/>
          <p:cNvSpPr txBox="1"/>
          <p:nvPr/>
        </p:nvSpPr>
        <p:spPr>
          <a:xfrm>
            <a:off x="7671816" y="2084832"/>
            <a:ext cx="1700784" cy="201168"/>
          </a:xfrm>
          <a:prstGeom prst="rect">
            <a:avLst/>
          </a:prstGeom>
          <a:noFill/>
        </p:spPr>
        <p:txBody>
          <a:bodyPr wrap="square" anchor="t" lIns="0" rIns="0" tIns="0" bIns="0">
            <a:spAutoFit/>
          </a:bodyPr>
          <a:lstStyle/>
          <a:p>
            <a:pPr algn="l">
              <a:lnSpc>
                <a:spcPct val="100000"/>
              </a:lnSpc>
              <a:spcAft>
                <a:spcPts val="300"/>
              </a:spcAft>
            </a:pPr>
            <a:r>
              <a:rPr sz="1150" b="1" i="0">
                <a:solidFill>
                  <a:srgbClr val="16325C"/>
                </a:solidFill>
                <a:latin typeface="Calibri"/>
              </a:rPr>
              <a:t>Upload it</a:t>
            </a:r>
          </a:p>
        </p:txBody>
      </p:sp>
      <p:sp>
        <p:nvSpPr>
          <p:cNvPr id="31" name="TextBox 30"/>
          <p:cNvSpPr txBox="1"/>
          <p:nvPr/>
        </p:nvSpPr>
        <p:spPr>
          <a:xfrm>
            <a:off x="7434072" y="2340864"/>
            <a:ext cx="1938528" cy="530352"/>
          </a:xfrm>
          <a:prstGeom prst="rect">
            <a:avLst/>
          </a:prstGeom>
          <a:noFill/>
        </p:spPr>
        <p:txBody>
          <a:bodyPr wrap="square" anchor="t" lIns="0" rIns="0" tIns="0" bIns="0">
            <a:spAutoFit/>
          </a:bodyPr>
          <a:lstStyle/>
          <a:p>
            <a:pPr algn="l">
              <a:lnSpc>
                <a:spcPct val="106000"/>
              </a:lnSpc>
              <a:spcAft>
                <a:spcPts val="0"/>
              </a:spcAft>
            </a:pPr>
            <a:r>
              <a:rPr sz="919" b="0" i="0">
                <a:solidFill>
                  <a:srgbClr val="3A4356"/>
                </a:solidFill>
                <a:latin typeface="Calibri"/>
              </a:rPr>
              <a:t>Checked as it loads. If a</a:t>
            </a:r>
          </a:p>
          <a:p>
            <a:pPr algn="l">
              <a:lnSpc>
                <a:spcPct val="106000"/>
              </a:lnSpc>
              <a:spcAft>
                <a:spcPts val="0"/>
              </a:spcAft>
            </a:pPr>
            <a:r>
              <a:rPr sz="919" b="0" i="0">
                <a:solidFill>
                  <a:srgbClr val="3A4356"/>
                </a:solidFill>
                <a:latin typeface="Calibri"/>
              </a:rPr>
              <a:t>column is wrong it is</a:t>
            </a:r>
          </a:p>
          <a:p>
            <a:pPr algn="l">
              <a:lnSpc>
                <a:spcPct val="106000"/>
              </a:lnSpc>
              <a:spcAft>
                <a:spcPts val="0"/>
              </a:spcAft>
            </a:pPr>
            <a:r>
              <a:rPr sz="919" b="0" i="0">
                <a:solidFill>
                  <a:srgbClr val="3A4356"/>
                </a:solidFill>
                <a:latin typeface="Calibri"/>
              </a:rPr>
              <a:t>rejected, not half-loaded.</a:t>
            </a:r>
          </a:p>
        </p:txBody>
      </p:sp>
      <p:sp>
        <p:nvSpPr>
          <p:cNvPr id="32" name="Isosceles Triangle 31"/>
          <p:cNvSpPr/>
          <p:nvPr/>
        </p:nvSpPr>
        <p:spPr>
          <a:xfrm rot="5400000">
            <a:off x="9496044" y="2377440"/>
            <a:ext cx="118872" cy="164592"/>
          </a:xfrm>
          <a:prstGeom prst="triangle">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628632" y="1975104"/>
            <a:ext cx="2157984" cy="9692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628632" y="1975104"/>
            <a:ext cx="2157984" cy="381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38360" y="2093976"/>
            <a:ext cx="274320" cy="182880"/>
          </a:xfrm>
          <a:prstGeom prst="rect">
            <a:avLst/>
          </a:prstGeom>
          <a:noFill/>
        </p:spPr>
        <p:txBody>
          <a:bodyPr wrap="square" anchor="t" lIns="0" rIns="0" tIns="0" bIns="0">
            <a:spAutoFit/>
          </a:bodyPr>
          <a:lstStyle/>
          <a:p>
            <a:pPr algn="l">
              <a:lnSpc>
                <a:spcPct val="100000"/>
              </a:lnSpc>
              <a:spcAft>
                <a:spcPts val="300"/>
              </a:spcAft>
            </a:pPr>
            <a:r>
              <a:rPr sz="1100" b="1" i="0">
                <a:solidFill>
                  <a:srgbClr val="1D6FB8"/>
                </a:solidFill>
                <a:latin typeface="Calibri"/>
              </a:rPr>
              <a:t>5</a:t>
            </a:r>
          </a:p>
        </p:txBody>
      </p:sp>
      <p:sp>
        <p:nvSpPr>
          <p:cNvPr id="36" name="TextBox 35"/>
          <p:cNvSpPr txBox="1"/>
          <p:nvPr/>
        </p:nvSpPr>
        <p:spPr>
          <a:xfrm>
            <a:off x="9976104" y="2084832"/>
            <a:ext cx="1700784" cy="201168"/>
          </a:xfrm>
          <a:prstGeom prst="rect">
            <a:avLst/>
          </a:prstGeom>
          <a:noFill/>
        </p:spPr>
        <p:txBody>
          <a:bodyPr wrap="square" anchor="t" lIns="0" rIns="0" tIns="0" bIns="0">
            <a:spAutoFit/>
          </a:bodyPr>
          <a:lstStyle/>
          <a:p>
            <a:pPr algn="l">
              <a:lnSpc>
                <a:spcPct val="100000"/>
              </a:lnSpc>
              <a:spcAft>
                <a:spcPts val="300"/>
              </a:spcAft>
            </a:pPr>
            <a:r>
              <a:rPr sz="1150" b="1" i="0">
                <a:solidFill>
                  <a:srgbClr val="16325C"/>
                </a:solidFill>
                <a:latin typeface="Calibri"/>
              </a:rPr>
              <a:t>It goes live</a:t>
            </a:r>
          </a:p>
        </p:txBody>
      </p:sp>
      <p:sp>
        <p:nvSpPr>
          <p:cNvPr id="37" name="TextBox 36"/>
          <p:cNvSpPr txBox="1"/>
          <p:nvPr/>
        </p:nvSpPr>
        <p:spPr>
          <a:xfrm>
            <a:off x="9738360" y="2340864"/>
            <a:ext cx="1938528" cy="530352"/>
          </a:xfrm>
          <a:prstGeom prst="rect">
            <a:avLst/>
          </a:prstGeom>
          <a:noFill/>
        </p:spPr>
        <p:txBody>
          <a:bodyPr wrap="square" anchor="t" lIns="0" rIns="0" tIns="0" bIns="0">
            <a:spAutoFit/>
          </a:bodyPr>
          <a:lstStyle/>
          <a:p>
            <a:pPr algn="l">
              <a:lnSpc>
                <a:spcPct val="106000"/>
              </a:lnSpc>
              <a:spcAft>
                <a:spcPts val="0"/>
              </a:spcAft>
            </a:pPr>
            <a:r>
              <a:rPr sz="919" b="0" i="0">
                <a:solidFill>
                  <a:srgbClr val="3A4356"/>
                </a:solidFill>
                <a:latin typeface="Calibri"/>
              </a:rPr>
              <a:t>The upload switches the</a:t>
            </a:r>
          </a:p>
          <a:p>
            <a:pPr algn="l">
              <a:lnSpc>
                <a:spcPct val="106000"/>
              </a:lnSpc>
              <a:spcAft>
                <a:spcPts val="0"/>
              </a:spcAft>
            </a:pPr>
            <a:r>
              <a:rPr sz="919" b="0" i="0">
                <a:solidFill>
                  <a:srgbClr val="3A4356"/>
                </a:solidFill>
                <a:latin typeface="Calibri"/>
              </a:rPr>
              <a:t>tool to our rates. One</a:t>
            </a:r>
          </a:p>
          <a:p>
            <a:pPr algn="l">
              <a:lnSpc>
                <a:spcPct val="106000"/>
              </a:lnSpc>
              <a:spcAft>
                <a:spcPts val="0"/>
              </a:spcAft>
            </a:pPr>
            <a:r>
              <a:rPr sz="919" b="0" i="0">
                <a:solidFill>
                  <a:srgbClr val="3A4356"/>
                </a:solidFill>
                <a:latin typeface="Calibri"/>
              </a:rPr>
              <a:t>click puts it back.</a:t>
            </a:r>
          </a:p>
        </p:txBody>
      </p:sp>
      <p:sp>
        <p:nvSpPr>
          <p:cNvPr id="38" name="TextBox 37"/>
          <p:cNvSpPr txBox="1"/>
          <p:nvPr/>
        </p:nvSpPr>
        <p:spPr>
          <a:xfrm>
            <a:off x="411480" y="3145536"/>
            <a:ext cx="6949440" cy="219456"/>
          </a:xfrm>
          <a:prstGeom prst="rect">
            <a:avLst/>
          </a:prstGeom>
          <a:noFill/>
        </p:spPr>
        <p:txBody>
          <a:bodyPr wrap="square" anchor="t" lIns="0" rIns="0" tIns="0" bIns="0">
            <a:spAutoFit/>
          </a:bodyPr>
          <a:lstStyle/>
          <a:p>
            <a:pPr algn="l">
              <a:lnSpc>
                <a:spcPct val="100000"/>
              </a:lnSpc>
              <a:spcAft>
                <a:spcPts val="300"/>
              </a:spcAft>
            </a:pPr>
            <a:r>
              <a:rPr sz="1000" b="1" i="0">
                <a:solidFill>
                  <a:srgbClr val="686F7D"/>
                </a:solidFill>
                <a:latin typeface="Calibri"/>
              </a:rPr>
              <a:t>THE ACTUAL SCREEN</a:t>
            </a:r>
          </a:p>
        </p:txBody>
      </p:sp>
      <p:pic>
        <p:nvPicPr>
          <p:cNvPr id="39" name="Picture 38" descr="rate-library-admin.png"/>
          <p:cNvPicPr>
            <a:picLocks noChangeAspect="1"/>
          </p:cNvPicPr>
          <p:nvPr/>
        </p:nvPicPr>
        <p:blipFill>
          <a:blip r:embed="rId2"/>
          <a:stretch>
            <a:fillRect/>
          </a:stretch>
        </p:blipFill>
        <p:spPr>
          <a:xfrm>
            <a:off x="411480" y="3383280"/>
            <a:ext cx="6967728" cy="2020824"/>
          </a:xfrm>
          <a:prstGeom prst="rect">
            <a:avLst/>
          </a:prstGeom>
        </p:spPr>
      </p:pic>
      <p:sp>
        <p:nvSpPr>
          <p:cNvPr id="40" name="Rectangle 39"/>
          <p:cNvSpPr/>
          <p:nvPr/>
        </p:nvSpPr>
        <p:spPr>
          <a:xfrm>
            <a:off x="7607808" y="3145536"/>
            <a:ext cx="4178808" cy="23957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07808" y="3145536"/>
            <a:ext cx="38100" cy="2395728"/>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72400" y="3273552"/>
            <a:ext cx="3849624" cy="219456"/>
          </a:xfrm>
          <a:prstGeom prst="rect">
            <a:avLst/>
          </a:prstGeom>
          <a:noFill/>
        </p:spPr>
        <p:txBody>
          <a:bodyPr wrap="square" anchor="t" lIns="0" rIns="0" tIns="0" bIns="0">
            <a:spAutoFit/>
          </a:bodyPr>
          <a:lstStyle/>
          <a:p>
            <a:pPr algn="l">
              <a:lnSpc>
                <a:spcPct val="100000"/>
              </a:lnSpc>
              <a:spcAft>
                <a:spcPts val="300"/>
              </a:spcAft>
            </a:pPr>
            <a:r>
              <a:rPr sz="1250" b="1" i="0">
                <a:solidFill>
                  <a:srgbClr val="2A7F50"/>
                </a:solidFill>
                <a:latin typeface="Calibri"/>
              </a:rPr>
              <a:t>Does it really use our numbers?</a:t>
            </a:r>
          </a:p>
        </p:txBody>
      </p:sp>
      <p:sp>
        <p:nvSpPr>
          <p:cNvPr id="43" name="TextBox 42"/>
          <p:cNvSpPr txBox="1"/>
          <p:nvPr/>
        </p:nvSpPr>
        <p:spPr>
          <a:xfrm>
            <a:off x="7772400" y="3529584"/>
            <a:ext cx="3849624" cy="310896"/>
          </a:xfrm>
          <a:prstGeom prst="rect">
            <a:avLst/>
          </a:prstGeom>
          <a:noFill/>
        </p:spPr>
        <p:txBody>
          <a:bodyPr wrap="square" anchor="t" lIns="0" rIns="0" tIns="0" bIns="0">
            <a:spAutoFit/>
          </a:bodyPr>
          <a:lstStyle/>
          <a:p>
            <a:pPr algn="l">
              <a:lnSpc>
                <a:spcPct val="100000"/>
              </a:lnSpc>
              <a:spcAft>
                <a:spcPts val="300"/>
              </a:spcAft>
            </a:pPr>
            <a:r>
              <a:rPr sz="1019" b="0" i="0">
                <a:solidFill>
                  <a:srgbClr val="3A4356"/>
                </a:solidFill>
                <a:latin typeface="Calibri"/>
              </a:rPr>
              <a:t>The same bracket, the same answers, costed twice — before the upload and after it.</a:t>
            </a:r>
          </a:p>
        </p:txBody>
      </p:sp>
      <p:sp>
        <p:nvSpPr>
          <p:cNvPr id="44" name="TextBox 43"/>
          <p:cNvSpPr txBox="1"/>
          <p:nvPr/>
        </p:nvSpPr>
        <p:spPr>
          <a:xfrm>
            <a:off x="7827264" y="3931920"/>
            <a:ext cx="1554480" cy="201168"/>
          </a:xfrm>
          <a:prstGeom prst="rect">
            <a:avLst/>
          </a:prstGeom>
          <a:noFill/>
        </p:spPr>
        <p:txBody>
          <a:bodyPr wrap="square" anchor="t" lIns="0" rIns="0" tIns="0" bIns="0">
            <a:spAutoFit/>
          </a:bodyPr>
          <a:lstStyle/>
          <a:p>
            <a:pPr algn="l">
              <a:lnSpc>
                <a:spcPct val="100000"/>
              </a:lnSpc>
              <a:spcAft>
                <a:spcPts val="300"/>
              </a:spcAft>
            </a:pPr>
          </a:p>
        </p:txBody>
      </p:sp>
      <p:sp>
        <p:nvSpPr>
          <p:cNvPr id="45" name="TextBox 44"/>
          <p:cNvSpPr txBox="1"/>
          <p:nvPr/>
        </p:nvSpPr>
        <p:spPr>
          <a:xfrm>
            <a:off x="9436608" y="3931920"/>
            <a:ext cx="914400" cy="201168"/>
          </a:xfrm>
          <a:prstGeom prst="rect">
            <a:avLst/>
          </a:prstGeom>
          <a:noFill/>
        </p:spPr>
        <p:txBody>
          <a:bodyPr wrap="square" anchor="t" lIns="0" rIns="0" tIns="0" bIns="0">
            <a:spAutoFit/>
          </a:bodyPr>
          <a:lstStyle/>
          <a:p>
            <a:pPr algn="r">
              <a:lnSpc>
                <a:spcPct val="100000"/>
              </a:lnSpc>
              <a:spcAft>
                <a:spcPts val="300"/>
              </a:spcAft>
            </a:pPr>
            <a:r>
              <a:rPr sz="1040" b="1" i="0">
                <a:solidFill>
                  <a:srgbClr val="16325C"/>
                </a:solidFill>
                <a:latin typeface="Calibri"/>
              </a:rPr>
              <a:t>Built-in</a:t>
            </a:r>
          </a:p>
        </p:txBody>
      </p:sp>
      <p:sp>
        <p:nvSpPr>
          <p:cNvPr id="46" name="TextBox 45"/>
          <p:cNvSpPr txBox="1"/>
          <p:nvPr/>
        </p:nvSpPr>
        <p:spPr>
          <a:xfrm>
            <a:off x="10442448" y="3931920"/>
            <a:ext cx="1097280" cy="201168"/>
          </a:xfrm>
          <a:prstGeom prst="rect">
            <a:avLst/>
          </a:prstGeom>
          <a:noFill/>
        </p:spPr>
        <p:txBody>
          <a:bodyPr wrap="square" anchor="t" lIns="0" rIns="0" tIns="0" bIns="0">
            <a:spAutoFit/>
          </a:bodyPr>
          <a:lstStyle/>
          <a:p>
            <a:pPr algn="r">
              <a:lnSpc>
                <a:spcPct val="100000"/>
              </a:lnSpc>
              <a:spcAft>
                <a:spcPts val="300"/>
              </a:spcAft>
            </a:pPr>
            <a:r>
              <a:rPr sz="1040" b="1" i="0">
                <a:solidFill>
                  <a:srgbClr val="16325C"/>
                </a:solidFill>
                <a:latin typeface="Calibri"/>
              </a:rPr>
              <a:t>Our sheet</a:t>
            </a:r>
          </a:p>
        </p:txBody>
      </p:sp>
      <p:sp>
        <p:nvSpPr>
          <p:cNvPr id="47" name="TextBox 46"/>
          <p:cNvSpPr txBox="1"/>
          <p:nvPr/>
        </p:nvSpPr>
        <p:spPr>
          <a:xfrm>
            <a:off x="7827264" y="4187952"/>
            <a:ext cx="1554480" cy="201168"/>
          </a:xfrm>
          <a:prstGeom prst="rect">
            <a:avLst/>
          </a:prstGeom>
          <a:noFill/>
        </p:spPr>
        <p:txBody>
          <a:bodyPr wrap="square" anchor="t" lIns="0" rIns="0" tIns="0" bIns="0">
            <a:spAutoFit/>
          </a:bodyPr>
          <a:lstStyle/>
          <a:p>
            <a:pPr algn="l">
              <a:lnSpc>
                <a:spcPct val="100000"/>
              </a:lnSpc>
              <a:spcAft>
                <a:spcPts val="300"/>
              </a:spcAft>
            </a:pPr>
            <a:r>
              <a:rPr sz="1040" b="0" i="0">
                <a:solidFill>
                  <a:srgbClr val="3A4356"/>
                </a:solidFill>
                <a:latin typeface="Calibri"/>
              </a:rPr>
              <a:t>Material</a:t>
            </a:r>
          </a:p>
        </p:txBody>
      </p:sp>
      <p:sp>
        <p:nvSpPr>
          <p:cNvPr id="48" name="TextBox 47"/>
          <p:cNvSpPr txBox="1"/>
          <p:nvPr/>
        </p:nvSpPr>
        <p:spPr>
          <a:xfrm>
            <a:off x="9436608" y="4187952"/>
            <a:ext cx="914400" cy="201168"/>
          </a:xfrm>
          <a:prstGeom prst="rect">
            <a:avLst/>
          </a:prstGeom>
          <a:noFill/>
        </p:spPr>
        <p:txBody>
          <a:bodyPr wrap="square" anchor="t" lIns="0" rIns="0" tIns="0" bIns="0">
            <a:spAutoFit/>
          </a:bodyPr>
          <a:lstStyle/>
          <a:p>
            <a:pPr algn="r">
              <a:lnSpc>
                <a:spcPct val="100000"/>
              </a:lnSpc>
              <a:spcAft>
                <a:spcPts val="300"/>
              </a:spcAft>
            </a:pPr>
            <a:r>
              <a:rPr sz="1040" b="0" i="0">
                <a:solidFill>
                  <a:srgbClr val="686F7D"/>
                </a:solidFill>
                <a:latin typeface="Calibri"/>
              </a:rPr>
              <a:t>£12.79</a:t>
            </a:r>
          </a:p>
        </p:txBody>
      </p:sp>
      <p:sp>
        <p:nvSpPr>
          <p:cNvPr id="49" name="TextBox 48"/>
          <p:cNvSpPr txBox="1"/>
          <p:nvPr/>
        </p:nvSpPr>
        <p:spPr>
          <a:xfrm>
            <a:off x="10442448" y="4187952"/>
            <a:ext cx="1097280" cy="201168"/>
          </a:xfrm>
          <a:prstGeom prst="rect">
            <a:avLst/>
          </a:prstGeom>
          <a:noFill/>
        </p:spPr>
        <p:txBody>
          <a:bodyPr wrap="square" anchor="t" lIns="0" rIns="0" tIns="0" bIns="0">
            <a:spAutoFit/>
          </a:bodyPr>
          <a:lstStyle/>
          <a:p>
            <a:pPr algn="r">
              <a:lnSpc>
                <a:spcPct val="100000"/>
              </a:lnSpc>
              <a:spcAft>
                <a:spcPts val="300"/>
              </a:spcAft>
            </a:pPr>
            <a:r>
              <a:rPr sz="1040" b="0" i="0">
                <a:solidFill>
                  <a:srgbClr val="16325C"/>
                </a:solidFill>
                <a:latin typeface="Calibri"/>
              </a:rPr>
              <a:t>£28.56</a:t>
            </a:r>
          </a:p>
        </p:txBody>
      </p:sp>
      <p:sp>
        <p:nvSpPr>
          <p:cNvPr id="50" name="TextBox 49"/>
          <p:cNvSpPr txBox="1"/>
          <p:nvPr/>
        </p:nvSpPr>
        <p:spPr>
          <a:xfrm>
            <a:off x="7827264" y="4443984"/>
            <a:ext cx="1554480" cy="201168"/>
          </a:xfrm>
          <a:prstGeom prst="rect">
            <a:avLst/>
          </a:prstGeom>
          <a:noFill/>
        </p:spPr>
        <p:txBody>
          <a:bodyPr wrap="square" anchor="t" lIns="0" rIns="0" tIns="0" bIns="0">
            <a:spAutoFit/>
          </a:bodyPr>
          <a:lstStyle/>
          <a:p>
            <a:pPr algn="l">
              <a:lnSpc>
                <a:spcPct val="100000"/>
              </a:lnSpc>
              <a:spcAft>
                <a:spcPts val="300"/>
              </a:spcAft>
            </a:pPr>
            <a:r>
              <a:rPr sz="1040" b="0" i="0">
                <a:solidFill>
                  <a:srgbClr val="3A4356"/>
                </a:solidFill>
                <a:latin typeface="Calibri"/>
              </a:rPr>
              <a:t>Labour</a:t>
            </a:r>
          </a:p>
        </p:txBody>
      </p:sp>
      <p:sp>
        <p:nvSpPr>
          <p:cNvPr id="51" name="TextBox 50"/>
          <p:cNvSpPr txBox="1"/>
          <p:nvPr/>
        </p:nvSpPr>
        <p:spPr>
          <a:xfrm>
            <a:off x="9436608" y="4443984"/>
            <a:ext cx="914400" cy="201168"/>
          </a:xfrm>
          <a:prstGeom prst="rect">
            <a:avLst/>
          </a:prstGeom>
          <a:noFill/>
        </p:spPr>
        <p:txBody>
          <a:bodyPr wrap="square" anchor="t" lIns="0" rIns="0" tIns="0" bIns="0">
            <a:spAutoFit/>
          </a:bodyPr>
          <a:lstStyle/>
          <a:p>
            <a:pPr algn="r">
              <a:lnSpc>
                <a:spcPct val="100000"/>
              </a:lnSpc>
              <a:spcAft>
                <a:spcPts val="300"/>
              </a:spcAft>
            </a:pPr>
            <a:r>
              <a:rPr sz="1040" b="0" i="0">
                <a:solidFill>
                  <a:srgbClr val="686F7D"/>
                </a:solidFill>
                <a:latin typeface="Calibri"/>
              </a:rPr>
              <a:t>£5.36</a:t>
            </a:r>
          </a:p>
        </p:txBody>
      </p:sp>
      <p:sp>
        <p:nvSpPr>
          <p:cNvPr id="52" name="TextBox 51"/>
          <p:cNvSpPr txBox="1"/>
          <p:nvPr/>
        </p:nvSpPr>
        <p:spPr>
          <a:xfrm>
            <a:off x="10442448" y="4443984"/>
            <a:ext cx="1097280" cy="201168"/>
          </a:xfrm>
          <a:prstGeom prst="rect">
            <a:avLst/>
          </a:prstGeom>
          <a:noFill/>
        </p:spPr>
        <p:txBody>
          <a:bodyPr wrap="square" anchor="t" lIns="0" rIns="0" tIns="0" bIns="0">
            <a:spAutoFit/>
          </a:bodyPr>
          <a:lstStyle/>
          <a:p>
            <a:pPr algn="r">
              <a:lnSpc>
                <a:spcPct val="100000"/>
              </a:lnSpc>
              <a:spcAft>
                <a:spcPts val="300"/>
              </a:spcAft>
            </a:pPr>
            <a:r>
              <a:rPr sz="1040" b="0" i="0">
                <a:solidFill>
                  <a:srgbClr val="16325C"/>
                </a:solidFill>
                <a:latin typeface="Calibri"/>
              </a:rPr>
              <a:t>£16.07</a:t>
            </a:r>
          </a:p>
        </p:txBody>
      </p:sp>
      <p:sp>
        <p:nvSpPr>
          <p:cNvPr id="53" name="TextBox 52"/>
          <p:cNvSpPr txBox="1"/>
          <p:nvPr/>
        </p:nvSpPr>
        <p:spPr>
          <a:xfrm>
            <a:off x="7827264" y="4700016"/>
            <a:ext cx="1554480" cy="201168"/>
          </a:xfrm>
          <a:prstGeom prst="rect">
            <a:avLst/>
          </a:prstGeom>
          <a:noFill/>
        </p:spPr>
        <p:txBody>
          <a:bodyPr wrap="square" anchor="t" lIns="0" rIns="0" tIns="0" bIns="0">
            <a:spAutoFit/>
          </a:bodyPr>
          <a:lstStyle/>
          <a:p>
            <a:pPr algn="l">
              <a:lnSpc>
                <a:spcPct val="100000"/>
              </a:lnSpc>
              <a:spcAft>
                <a:spcPts val="300"/>
              </a:spcAft>
            </a:pPr>
            <a:r>
              <a:rPr sz="1040" b="0" i="0">
                <a:solidFill>
                  <a:srgbClr val="3A4356"/>
                </a:solidFill>
                <a:latin typeface="Calibri"/>
              </a:rPr>
              <a:t>Machine time</a:t>
            </a:r>
          </a:p>
        </p:txBody>
      </p:sp>
      <p:sp>
        <p:nvSpPr>
          <p:cNvPr id="54" name="TextBox 53"/>
          <p:cNvSpPr txBox="1"/>
          <p:nvPr/>
        </p:nvSpPr>
        <p:spPr>
          <a:xfrm>
            <a:off x="9436608" y="4700016"/>
            <a:ext cx="914400" cy="201168"/>
          </a:xfrm>
          <a:prstGeom prst="rect">
            <a:avLst/>
          </a:prstGeom>
          <a:noFill/>
        </p:spPr>
        <p:txBody>
          <a:bodyPr wrap="square" anchor="t" lIns="0" rIns="0" tIns="0" bIns="0">
            <a:spAutoFit/>
          </a:bodyPr>
          <a:lstStyle/>
          <a:p>
            <a:pPr algn="r">
              <a:lnSpc>
                <a:spcPct val="100000"/>
              </a:lnSpc>
              <a:spcAft>
                <a:spcPts val="300"/>
              </a:spcAft>
            </a:pPr>
            <a:r>
              <a:rPr sz="1040" b="0" i="0">
                <a:solidFill>
                  <a:srgbClr val="686F7D"/>
                </a:solidFill>
                <a:latin typeface="Calibri"/>
              </a:rPr>
              <a:t>£8.91</a:t>
            </a:r>
          </a:p>
        </p:txBody>
      </p:sp>
      <p:sp>
        <p:nvSpPr>
          <p:cNvPr id="55" name="TextBox 54"/>
          <p:cNvSpPr txBox="1"/>
          <p:nvPr/>
        </p:nvSpPr>
        <p:spPr>
          <a:xfrm>
            <a:off x="10442448" y="4700016"/>
            <a:ext cx="1097280" cy="201168"/>
          </a:xfrm>
          <a:prstGeom prst="rect">
            <a:avLst/>
          </a:prstGeom>
          <a:noFill/>
        </p:spPr>
        <p:txBody>
          <a:bodyPr wrap="square" anchor="t" lIns="0" rIns="0" tIns="0" bIns="0">
            <a:spAutoFit/>
          </a:bodyPr>
          <a:lstStyle/>
          <a:p>
            <a:pPr algn="r">
              <a:lnSpc>
                <a:spcPct val="100000"/>
              </a:lnSpc>
              <a:spcAft>
                <a:spcPts val="300"/>
              </a:spcAft>
            </a:pPr>
            <a:r>
              <a:rPr sz="1040" b="0" i="0">
                <a:solidFill>
                  <a:srgbClr val="16325C"/>
                </a:solidFill>
                <a:latin typeface="Calibri"/>
              </a:rPr>
              <a:t>£13.36</a:t>
            </a:r>
          </a:p>
        </p:txBody>
      </p:sp>
      <p:sp>
        <p:nvSpPr>
          <p:cNvPr id="56" name="Rectangle 55"/>
          <p:cNvSpPr/>
          <p:nvPr/>
        </p:nvSpPr>
        <p:spPr>
          <a:xfrm>
            <a:off x="7772400" y="4928616"/>
            <a:ext cx="3849624" cy="265176"/>
          </a:xfrm>
          <a:prstGeom prst="rect">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827264" y="4956048"/>
            <a:ext cx="1554480" cy="201168"/>
          </a:xfrm>
          <a:prstGeom prst="rect">
            <a:avLst/>
          </a:prstGeom>
          <a:noFill/>
        </p:spPr>
        <p:txBody>
          <a:bodyPr wrap="square" anchor="t" lIns="0" rIns="0" tIns="0" bIns="0">
            <a:spAutoFit/>
          </a:bodyPr>
          <a:lstStyle/>
          <a:p>
            <a:pPr algn="l">
              <a:lnSpc>
                <a:spcPct val="100000"/>
              </a:lnSpc>
              <a:spcAft>
                <a:spcPts val="300"/>
              </a:spcAft>
            </a:pPr>
            <a:r>
              <a:rPr sz="1040" b="1" i="0">
                <a:solidFill>
                  <a:srgbClr val="16325C"/>
                </a:solidFill>
                <a:latin typeface="Calibri"/>
              </a:rPr>
              <a:t>Total</a:t>
            </a:r>
          </a:p>
        </p:txBody>
      </p:sp>
      <p:sp>
        <p:nvSpPr>
          <p:cNvPr id="58" name="TextBox 57"/>
          <p:cNvSpPr txBox="1"/>
          <p:nvPr/>
        </p:nvSpPr>
        <p:spPr>
          <a:xfrm>
            <a:off x="9436608" y="4956048"/>
            <a:ext cx="914400" cy="201168"/>
          </a:xfrm>
          <a:prstGeom prst="rect">
            <a:avLst/>
          </a:prstGeom>
          <a:noFill/>
        </p:spPr>
        <p:txBody>
          <a:bodyPr wrap="square" anchor="t" lIns="0" rIns="0" tIns="0" bIns="0">
            <a:spAutoFit/>
          </a:bodyPr>
          <a:lstStyle/>
          <a:p>
            <a:pPr algn="r">
              <a:lnSpc>
                <a:spcPct val="100000"/>
              </a:lnSpc>
              <a:spcAft>
                <a:spcPts val="300"/>
              </a:spcAft>
            </a:pPr>
            <a:r>
              <a:rPr sz="1040" b="1" i="0">
                <a:solidFill>
                  <a:srgbClr val="16325C"/>
                </a:solidFill>
                <a:latin typeface="Calibri"/>
              </a:rPr>
              <a:t>£33.19</a:t>
            </a:r>
          </a:p>
        </p:txBody>
      </p:sp>
      <p:sp>
        <p:nvSpPr>
          <p:cNvPr id="59" name="TextBox 58"/>
          <p:cNvSpPr txBox="1"/>
          <p:nvPr/>
        </p:nvSpPr>
        <p:spPr>
          <a:xfrm>
            <a:off x="10442448" y="4956048"/>
            <a:ext cx="1097280" cy="201168"/>
          </a:xfrm>
          <a:prstGeom prst="rect">
            <a:avLst/>
          </a:prstGeom>
          <a:noFill/>
        </p:spPr>
        <p:txBody>
          <a:bodyPr wrap="square" anchor="t" lIns="0" rIns="0" tIns="0" bIns="0">
            <a:spAutoFit/>
          </a:bodyPr>
          <a:lstStyle/>
          <a:p>
            <a:pPr algn="r">
              <a:lnSpc>
                <a:spcPct val="100000"/>
              </a:lnSpc>
              <a:spcAft>
                <a:spcPts val="300"/>
              </a:spcAft>
            </a:pPr>
            <a:r>
              <a:rPr sz="1040" b="1" i="0">
                <a:solidFill>
                  <a:srgbClr val="16325C"/>
                </a:solidFill>
                <a:latin typeface="Calibri"/>
              </a:rPr>
              <a:t>£70.60</a:t>
            </a:r>
          </a:p>
        </p:txBody>
      </p:sp>
      <p:sp>
        <p:nvSpPr>
          <p:cNvPr id="60" name="TextBox 59"/>
          <p:cNvSpPr txBox="1"/>
          <p:nvPr/>
        </p:nvSpPr>
        <p:spPr>
          <a:xfrm>
            <a:off x="7772400" y="5248656"/>
            <a:ext cx="3849624" cy="384048"/>
          </a:xfrm>
          <a:prstGeom prst="rect">
            <a:avLst/>
          </a:prstGeom>
          <a:noFill/>
        </p:spPr>
        <p:txBody>
          <a:bodyPr wrap="square" anchor="t" lIns="0" rIns="0" tIns="0" bIns="0">
            <a:spAutoFit/>
          </a:bodyPr>
          <a:lstStyle/>
          <a:p>
            <a:pPr algn="l">
              <a:lnSpc>
                <a:spcPct val="108000"/>
              </a:lnSpc>
              <a:spcAft>
                <a:spcPts val="300"/>
              </a:spcAft>
            </a:pPr>
            <a:r>
              <a:rPr sz="940" b="0" i="1">
                <a:solidFill>
                  <a:srgbClr val="686F7D"/>
                </a:solidFill>
                <a:latin typeface="Calibri"/>
              </a:rPr>
              <a:t>Packaging, logistics and tooling did not move.</a:t>
            </a:r>
          </a:p>
        </p:txBody>
      </p:sp>
      <p:sp>
        <p:nvSpPr>
          <p:cNvPr id="61" name="Rectangle 60"/>
          <p:cNvSpPr/>
          <p:nvPr/>
        </p:nvSpPr>
        <p:spPr>
          <a:xfrm>
            <a:off x="7607808" y="5687568"/>
            <a:ext cx="4178808" cy="768096"/>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772400" y="5797296"/>
            <a:ext cx="3849624" cy="201168"/>
          </a:xfrm>
          <a:prstGeom prst="rect">
            <a:avLst/>
          </a:prstGeom>
          <a:noFill/>
        </p:spPr>
        <p:txBody>
          <a:bodyPr wrap="square" anchor="t" lIns="0" rIns="0" tIns="0" bIns="0">
            <a:spAutoFit/>
          </a:bodyPr>
          <a:lstStyle/>
          <a:p>
            <a:pPr algn="l">
              <a:lnSpc>
                <a:spcPct val="100000"/>
              </a:lnSpc>
              <a:spcAft>
                <a:spcPts val="300"/>
              </a:spcAft>
            </a:pPr>
            <a:r>
              <a:rPr sz="1150" b="1" i="0">
                <a:solidFill>
                  <a:srgbClr val="1D6FB8"/>
                </a:solidFill>
                <a:latin typeface="Calibri"/>
              </a:rPr>
              <a:t>Every rate book is kept, with its own ID</a:t>
            </a:r>
          </a:p>
        </p:txBody>
      </p:sp>
      <p:sp>
        <p:nvSpPr>
          <p:cNvPr id="63" name="TextBox 62"/>
          <p:cNvSpPr txBox="1"/>
          <p:nvPr/>
        </p:nvSpPr>
        <p:spPr>
          <a:xfrm>
            <a:off x="7772400" y="6035040"/>
            <a:ext cx="3849624" cy="365760"/>
          </a:xfrm>
          <a:prstGeom prst="rect">
            <a:avLst/>
          </a:prstGeom>
          <a:noFill/>
        </p:spPr>
        <p:txBody>
          <a:bodyPr wrap="square" anchor="t" lIns="0" rIns="0" tIns="0" bIns="0">
            <a:spAutoFit/>
          </a:bodyPr>
          <a:lstStyle/>
          <a:p>
            <a:pPr algn="l">
              <a:lnSpc>
                <a:spcPct val="108000"/>
              </a:lnSpc>
              <a:spcAft>
                <a:spcPts val="300"/>
              </a:spcAft>
            </a:pPr>
            <a:r>
              <a:rPr sz="940" b="0" i="0">
                <a:solidFill>
                  <a:srgbClr val="3A4356"/>
                </a:solidFill>
                <a:latin typeface="Calibri"/>
              </a:rPr>
              <a:t>Ours is 93d84eb6, built-in is 1398b5ef. Old books are kept, so a past costing can be rerun on its rates.</a:t>
            </a:r>
          </a:p>
        </p:txBody>
      </p:sp>
      <p:sp>
        <p:nvSpPr>
          <p:cNvPr id="64" name="Rectangle 63"/>
          <p:cNvSpPr/>
          <p:nvPr/>
        </p:nvSpPr>
        <p:spPr>
          <a:xfrm>
            <a:off x="411480" y="5687568"/>
            <a:ext cx="6967728" cy="7680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11480" y="5687568"/>
            <a:ext cx="38100" cy="768096"/>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1792" y="5797296"/>
            <a:ext cx="6583680" cy="201168"/>
          </a:xfrm>
          <a:prstGeom prst="rect">
            <a:avLst/>
          </a:prstGeom>
          <a:noFill/>
        </p:spPr>
        <p:txBody>
          <a:bodyPr wrap="square" anchor="t" lIns="0" rIns="0" tIns="0" bIns="0">
            <a:spAutoFit/>
          </a:bodyPr>
          <a:lstStyle/>
          <a:p>
            <a:pPr algn="l">
              <a:lnSpc>
                <a:spcPct val="100000"/>
              </a:lnSpc>
              <a:spcAft>
                <a:spcPts val="300"/>
              </a:spcAft>
            </a:pPr>
            <a:r>
              <a:rPr sz="1150" b="1" i="0">
                <a:solidFill>
                  <a:srgbClr val="99651A"/>
                </a:solidFill>
                <a:latin typeface="Calibri"/>
              </a:rPr>
              <a:t>Who can do this, and what happens if nobody does</a:t>
            </a:r>
          </a:p>
        </p:txBody>
      </p:sp>
      <p:sp>
        <p:nvSpPr>
          <p:cNvPr id="67" name="TextBox 66"/>
          <p:cNvSpPr txBox="1"/>
          <p:nvPr/>
        </p:nvSpPr>
        <p:spPr>
          <a:xfrm>
            <a:off x="621792" y="6035040"/>
            <a:ext cx="6583680" cy="365760"/>
          </a:xfrm>
          <a:prstGeom prst="rect">
            <a:avLst/>
          </a:prstGeom>
          <a:noFill/>
        </p:spPr>
        <p:txBody>
          <a:bodyPr wrap="square" anchor="t" lIns="0" rIns="0" tIns="0" bIns="0">
            <a:spAutoFit/>
          </a:bodyPr>
          <a:lstStyle/>
          <a:p>
            <a:pPr algn="l">
              <a:lnSpc>
                <a:spcPct val="108000"/>
              </a:lnSpc>
              <a:spcAft>
                <a:spcPts val="300"/>
              </a:spcAft>
            </a:pPr>
            <a:r>
              <a:rPr sz="940" b="0" i="0">
                <a:solidFill>
                  <a:srgbClr val="3A4356"/>
                </a:solidFill>
                <a:latin typeface="Calibri"/>
              </a:rPr>
              <a:t>Admins are named in the server settings, and the check is done on the server, not in the browser. With no sheet uploaded the tool keeps its built-in rates, and the panel shows which set is active.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