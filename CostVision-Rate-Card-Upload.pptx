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Lst>
  <p:sldSz cx="1219169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for the IT team, and the short version is that it is one Excel file and two clicks. I will walk the five boxes along the top, and then show you that it actually does what it says.</a:t>
            </a:r>
          </a:p>
          <a:p/>
          <a:p>
            <a:r>
              <a:t>First, who. The buttons on that screen only appear for an admin, and more importantly the check is done on the server, not in the browser — so hiding a button is not the security. We tried it: an ordinary signed-in user calling the upload directly gets refused, and the same call from an admin account goes through. Admins are named in the server settings, so you decide who they are, and the role is read fresh every time rather than being baked into the login token. Take someone's admin off and it takes effect on their next click.</a:t>
            </a:r>
          </a:p>
          <a:p/>
          <a:p>
            <a:r>
              <a:t>Second, the file. You press Download Excel template and you get a workbook with every rate the tool uses, already filled in with what it currently has — so you are editing a real sheet, not filling in a blank one. Material prices per kilo, labour rates per hour, the machine build-ups, energy, exchange rates and the overhead defaults. You put our numbers in the same columns and upload it. It is checked as it loads — if a column is missing or a number is not a number, the whole file is rejected rather than half-loaded, because half a rate book is worse than none.</a:t>
            </a:r>
          </a:p>
          <a:p/>
          <a:p>
            <a:r>
              <a:t>The upload we did loaded three hundred and twenty-eight materials, a hundred and seventy-eight machines and forty-two labour grades. Then one click switches the tool over to it, and one click puts it back.</a:t>
            </a:r>
          </a:p>
          <a:p/>
          <a:p>
            <a:r>
              <a:t>Now the part I would want to see if I were you. The panel on the right is the same bracket costed twice, with the same answers, changing nothing except which rate book is switched on. Thirty-three pounds nineteen on the built-in rates, seventy pounds sixty on ours. Material more than doubles, labour triples, machine time goes up. And look at what did not move — packaging, logistics and tooling are unchanged, because nothing in the sheet touches them. That is the tool reading our file rather than a number being nudged somewhere.</a:t>
            </a:r>
          </a:p>
          <a:p/>
          <a:p>
            <a:r>
              <a:t>Last thing, and it matters for audit. Each sheet gets an ID worked out from its own contents, and every costing records which one it used. So a report from months ago can be traced back to the exact rates behind it, and if someone asks why two costings of the same part differ, the answer is in the record rather than in somebody's memory.</a:t>
            </a:r>
          </a:p>
          <a:p/>
          <a:p>
            <a:r>
              <a:t>If nobody ever uploads anything, nothing breaks — the tool keeps using its own rates and says so on every run. It is never guessing about which numbers it is 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300"/>
              </a:spcAft>
            </a:pPr>
            <a:r>
              <a:rPr sz="1800" b="1" i="0">
                <a:solidFill>
                  <a:srgbClr val="1D6FB8"/>
                </a:solidFill>
                <a:latin typeface="Calibri"/>
              </a:rPr>
              <a:t>CostVision</a:t>
            </a:r>
          </a:p>
        </p:txBody>
      </p:sp>
      <p:sp>
        <p:nvSpPr>
          <p:cNvPr id="5" name="Rectangle 4"/>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300"/>
              </a:spcAft>
            </a:pPr>
            <a:r>
              <a:rPr sz="1100" b="1" i="0">
                <a:solidFill>
                  <a:srgbClr val="1D6FB8"/>
                </a:solidFill>
                <a:latin typeface="Calibri"/>
              </a:rPr>
              <a:t>RATE LIBRARY · ADMIN</a:t>
            </a:r>
          </a:p>
        </p:txBody>
      </p:sp>
      <p:sp>
        <p:nvSpPr>
          <p:cNvPr id="7" name="TextBox 6"/>
          <p:cNvSpPr txBox="1"/>
          <p:nvPr/>
        </p:nvSpPr>
        <p:spPr>
          <a:xfrm>
            <a:off x="411480" y="1115568"/>
            <a:ext cx="11338560" cy="457200"/>
          </a:xfrm>
          <a:prstGeom prst="rect">
            <a:avLst/>
          </a:prstGeom>
          <a:noFill/>
        </p:spPr>
        <p:txBody>
          <a:bodyPr wrap="square" anchor="t" lIns="0" rIns="0" tIns="0" bIns="0">
            <a:spAutoFit/>
          </a:bodyPr>
          <a:lstStyle/>
          <a:p>
            <a:pPr algn="l">
              <a:lnSpc>
                <a:spcPct val="100000"/>
              </a:lnSpc>
              <a:spcAft>
                <a:spcPts val="300"/>
              </a:spcAft>
            </a:pPr>
            <a:r>
              <a:rPr sz="2700" b="1" i="0">
                <a:solidFill>
                  <a:srgbClr val="16325C"/>
                </a:solidFill>
                <a:latin typeface="Cambria"/>
              </a:rPr>
              <a:t>Loading our own rate card</a:t>
            </a:r>
          </a:p>
        </p:txBody>
      </p:sp>
      <p:sp>
        <p:nvSpPr>
          <p:cNvPr id="8" name="TextBox 7"/>
          <p:cNvSpPr txBox="1"/>
          <p:nvPr/>
        </p:nvSpPr>
        <p:spPr>
          <a:xfrm>
            <a:off x="411480" y="1572768"/>
            <a:ext cx="11338560" cy="256032"/>
          </a:xfrm>
          <a:prstGeom prst="rect">
            <a:avLst/>
          </a:prstGeom>
          <a:noFill/>
        </p:spPr>
        <p:txBody>
          <a:bodyPr wrap="square" anchor="t" lIns="0" rIns="0" tIns="0" bIns="0">
            <a:spAutoFit/>
          </a:bodyPr>
          <a:lstStyle/>
          <a:p>
            <a:pPr algn="l">
              <a:lnSpc>
                <a:spcPct val="100000"/>
              </a:lnSpc>
              <a:spcAft>
                <a:spcPts val="300"/>
              </a:spcAft>
            </a:pPr>
            <a:r>
              <a:rPr sz="1250" b="0" i="0">
                <a:solidFill>
                  <a:srgbClr val="3A4356"/>
                </a:solidFill>
                <a:latin typeface="Calibri"/>
              </a:rPr>
              <a:t>An admin uploads one Excel file. From that moment every costing uses our rates instead of the ones that ship with the tool.</a:t>
            </a:r>
          </a:p>
        </p:txBody>
      </p:sp>
      <p:sp>
        <p:nvSpPr>
          <p:cNvPr id="9" name="Rectangle 8"/>
          <p:cNvSpPr/>
          <p:nvPr/>
        </p:nvSpPr>
        <p:spPr>
          <a:xfrm>
            <a:off x="411480" y="1975104"/>
            <a:ext cx="2157984" cy="969264"/>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975104"/>
            <a:ext cx="2157984" cy="381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 y="2093976"/>
            <a:ext cx="274320" cy="182880"/>
          </a:xfrm>
          <a:prstGeom prst="rect">
            <a:avLst/>
          </a:prstGeom>
          <a:noFill/>
        </p:spPr>
        <p:txBody>
          <a:bodyPr wrap="square" anchor="t" lIns="0" rIns="0" tIns="0" bIns="0">
            <a:spAutoFit/>
          </a:bodyPr>
          <a:lstStyle/>
          <a:p>
            <a:pPr algn="l">
              <a:lnSpc>
                <a:spcPct val="100000"/>
              </a:lnSpc>
              <a:spcAft>
                <a:spcPts val="300"/>
              </a:spcAft>
            </a:pPr>
            <a:r>
              <a:rPr sz="1100" b="1" i="0">
                <a:solidFill>
                  <a:srgbClr val="1D6FB8"/>
                </a:solidFill>
                <a:latin typeface="Calibri"/>
              </a:rPr>
              <a:t>1</a:t>
            </a:r>
          </a:p>
        </p:txBody>
      </p:sp>
      <p:sp>
        <p:nvSpPr>
          <p:cNvPr id="12" name="TextBox 11"/>
          <p:cNvSpPr txBox="1"/>
          <p:nvPr/>
        </p:nvSpPr>
        <p:spPr>
          <a:xfrm>
            <a:off x="758952" y="2084832"/>
            <a:ext cx="1700784" cy="201168"/>
          </a:xfrm>
          <a:prstGeom prst="rect">
            <a:avLst/>
          </a:prstGeom>
          <a:noFill/>
        </p:spPr>
        <p:txBody>
          <a:bodyPr wrap="square" anchor="t" lIns="0" rIns="0" tIns="0" bIns="0">
            <a:spAutoFit/>
          </a:bodyPr>
          <a:lstStyle/>
          <a:p>
            <a:pPr algn="l">
              <a:lnSpc>
                <a:spcPct val="100000"/>
              </a:lnSpc>
              <a:spcAft>
                <a:spcPts val="300"/>
              </a:spcAft>
            </a:pPr>
            <a:r>
              <a:rPr sz="1150" b="1" i="0">
                <a:solidFill>
                  <a:srgbClr val="16325C"/>
                </a:solidFill>
                <a:latin typeface="Calibri"/>
              </a:rPr>
              <a:t>Sign in as admin</a:t>
            </a:r>
          </a:p>
        </p:txBody>
      </p:sp>
      <p:sp>
        <p:nvSpPr>
          <p:cNvPr id="13" name="TextBox 12"/>
          <p:cNvSpPr txBox="1"/>
          <p:nvPr/>
        </p:nvSpPr>
        <p:spPr>
          <a:xfrm>
            <a:off x="521208" y="2340864"/>
            <a:ext cx="1938528" cy="530352"/>
          </a:xfrm>
          <a:prstGeom prst="rect">
            <a:avLst/>
          </a:prstGeom>
          <a:noFill/>
        </p:spPr>
        <p:txBody>
          <a:bodyPr wrap="square" anchor="t" lIns="0" rIns="0" tIns="0" bIns="0">
            <a:spAutoFit/>
          </a:bodyPr>
          <a:lstStyle/>
          <a:p>
            <a:pPr algn="l">
              <a:lnSpc>
                <a:spcPct val="106000"/>
              </a:lnSpc>
              <a:spcAft>
                <a:spcPts val="0"/>
              </a:spcAft>
            </a:pPr>
            <a:r>
              <a:rPr sz="919" b="0" i="0">
                <a:solidFill>
                  <a:srgbClr val="3A4356"/>
                </a:solidFill>
                <a:latin typeface="Calibri"/>
              </a:rPr>
              <a:t>Only an admin sees the</a:t>
            </a:r>
          </a:p>
          <a:p>
            <a:pPr algn="l">
              <a:lnSpc>
                <a:spcPct val="106000"/>
              </a:lnSpc>
              <a:spcAft>
                <a:spcPts val="0"/>
              </a:spcAft>
            </a:pPr>
            <a:r>
              <a:rPr sz="919" b="0" i="0">
                <a:solidFill>
                  <a:srgbClr val="3A4356"/>
                </a:solidFill>
                <a:latin typeface="Calibri"/>
              </a:rPr>
              <a:t>buttons. Anyone else gets</a:t>
            </a:r>
          </a:p>
          <a:p>
            <a:pPr algn="l">
              <a:lnSpc>
                <a:spcPct val="106000"/>
              </a:lnSpc>
              <a:spcAft>
                <a:spcPts val="0"/>
              </a:spcAft>
            </a:pPr>
            <a:r>
              <a:rPr sz="919" b="0" i="0">
                <a:solidFill>
                  <a:srgbClr val="3A4356"/>
                </a:solidFill>
                <a:latin typeface="Calibri"/>
              </a:rPr>
              <a:t>refused by the server.</a:t>
            </a:r>
          </a:p>
        </p:txBody>
      </p:sp>
      <p:sp>
        <p:nvSpPr>
          <p:cNvPr id="14" name="Isosceles Triangle 13"/>
          <p:cNvSpPr/>
          <p:nvPr/>
        </p:nvSpPr>
        <p:spPr>
          <a:xfrm rot="5400000">
            <a:off x="2583180" y="2377440"/>
            <a:ext cx="118872" cy="164592"/>
          </a:xfrm>
          <a:prstGeom prst="triangl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15768" y="1975104"/>
            <a:ext cx="2157984" cy="969264"/>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15768" y="1975104"/>
            <a:ext cx="2157984" cy="381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25496" y="2093976"/>
            <a:ext cx="274320" cy="182880"/>
          </a:xfrm>
          <a:prstGeom prst="rect">
            <a:avLst/>
          </a:prstGeom>
          <a:noFill/>
        </p:spPr>
        <p:txBody>
          <a:bodyPr wrap="square" anchor="t" lIns="0" rIns="0" tIns="0" bIns="0">
            <a:spAutoFit/>
          </a:bodyPr>
          <a:lstStyle/>
          <a:p>
            <a:pPr algn="l">
              <a:lnSpc>
                <a:spcPct val="100000"/>
              </a:lnSpc>
              <a:spcAft>
                <a:spcPts val="300"/>
              </a:spcAft>
            </a:pPr>
            <a:r>
              <a:rPr sz="1100" b="1" i="0">
                <a:solidFill>
                  <a:srgbClr val="1D6FB8"/>
                </a:solidFill>
                <a:latin typeface="Calibri"/>
              </a:rPr>
              <a:t>2</a:t>
            </a:r>
          </a:p>
        </p:txBody>
      </p:sp>
      <p:sp>
        <p:nvSpPr>
          <p:cNvPr id="18" name="TextBox 17"/>
          <p:cNvSpPr txBox="1"/>
          <p:nvPr/>
        </p:nvSpPr>
        <p:spPr>
          <a:xfrm>
            <a:off x="3063240" y="2084832"/>
            <a:ext cx="1700784" cy="201168"/>
          </a:xfrm>
          <a:prstGeom prst="rect">
            <a:avLst/>
          </a:prstGeom>
          <a:noFill/>
        </p:spPr>
        <p:txBody>
          <a:bodyPr wrap="square" anchor="t" lIns="0" rIns="0" tIns="0" bIns="0">
            <a:spAutoFit/>
          </a:bodyPr>
          <a:lstStyle/>
          <a:p>
            <a:pPr algn="l">
              <a:lnSpc>
                <a:spcPct val="100000"/>
              </a:lnSpc>
              <a:spcAft>
                <a:spcPts val="300"/>
              </a:spcAft>
            </a:pPr>
            <a:r>
              <a:rPr sz="1150" b="1" i="0">
                <a:solidFill>
                  <a:srgbClr val="16325C"/>
                </a:solidFill>
                <a:latin typeface="Calibri"/>
              </a:rPr>
              <a:t>Download template</a:t>
            </a:r>
          </a:p>
        </p:txBody>
      </p:sp>
      <p:sp>
        <p:nvSpPr>
          <p:cNvPr id="19" name="TextBox 18"/>
          <p:cNvSpPr txBox="1"/>
          <p:nvPr/>
        </p:nvSpPr>
        <p:spPr>
          <a:xfrm>
            <a:off x="2825496" y="2340864"/>
            <a:ext cx="1938528" cy="530352"/>
          </a:xfrm>
          <a:prstGeom prst="rect">
            <a:avLst/>
          </a:prstGeom>
          <a:noFill/>
        </p:spPr>
        <p:txBody>
          <a:bodyPr wrap="square" anchor="t" lIns="0" rIns="0" tIns="0" bIns="0">
            <a:spAutoFit/>
          </a:bodyPr>
          <a:lstStyle/>
          <a:p>
            <a:pPr algn="l">
              <a:lnSpc>
                <a:spcPct val="106000"/>
              </a:lnSpc>
              <a:spcAft>
                <a:spcPts val="0"/>
              </a:spcAft>
            </a:pPr>
            <a:r>
              <a:rPr sz="919" b="0" i="0">
                <a:solidFill>
                  <a:srgbClr val="3A4356"/>
                </a:solidFill>
                <a:latin typeface="Calibri"/>
              </a:rPr>
              <a:t>An Excel file with every</a:t>
            </a:r>
          </a:p>
          <a:p>
            <a:pPr algn="l">
              <a:lnSpc>
                <a:spcPct val="106000"/>
              </a:lnSpc>
              <a:spcAft>
                <a:spcPts val="0"/>
              </a:spcAft>
            </a:pPr>
            <a:r>
              <a:rPr sz="919" b="0" i="0">
                <a:solidFill>
                  <a:srgbClr val="3A4356"/>
                </a:solidFill>
                <a:latin typeface="Calibri"/>
              </a:rPr>
              <a:t>rate the tool uses, filled</a:t>
            </a:r>
          </a:p>
          <a:p>
            <a:pPr algn="l">
              <a:lnSpc>
                <a:spcPct val="106000"/>
              </a:lnSpc>
              <a:spcAft>
                <a:spcPts val="0"/>
              </a:spcAft>
            </a:pPr>
            <a:r>
              <a:rPr sz="919" b="0" i="0">
                <a:solidFill>
                  <a:srgbClr val="3A4356"/>
                </a:solidFill>
                <a:latin typeface="Calibri"/>
              </a:rPr>
              <a:t>with the current values.</a:t>
            </a:r>
          </a:p>
        </p:txBody>
      </p:sp>
      <p:sp>
        <p:nvSpPr>
          <p:cNvPr id="20" name="Isosceles Triangle 19"/>
          <p:cNvSpPr/>
          <p:nvPr/>
        </p:nvSpPr>
        <p:spPr>
          <a:xfrm rot="5400000">
            <a:off x="4887468" y="2377440"/>
            <a:ext cx="118872" cy="164592"/>
          </a:xfrm>
          <a:prstGeom prst="triangl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0056" y="1975104"/>
            <a:ext cx="2157984" cy="969264"/>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0056" y="1975104"/>
            <a:ext cx="2157984" cy="381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29784" y="2093976"/>
            <a:ext cx="274320" cy="182880"/>
          </a:xfrm>
          <a:prstGeom prst="rect">
            <a:avLst/>
          </a:prstGeom>
          <a:noFill/>
        </p:spPr>
        <p:txBody>
          <a:bodyPr wrap="square" anchor="t" lIns="0" rIns="0" tIns="0" bIns="0">
            <a:spAutoFit/>
          </a:bodyPr>
          <a:lstStyle/>
          <a:p>
            <a:pPr algn="l">
              <a:lnSpc>
                <a:spcPct val="100000"/>
              </a:lnSpc>
              <a:spcAft>
                <a:spcPts val="300"/>
              </a:spcAft>
            </a:pPr>
            <a:r>
              <a:rPr sz="1100" b="1" i="0">
                <a:solidFill>
                  <a:srgbClr val="1D6FB8"/>
                </a:solidFill>
                <a:latin typeface="Calibri"/>
              </a:rPr>
              <a:t>3</a:t>
            </a:r>
          </a:p>
        </p:txBody>
      </p:sp>
      <p:sp>
        <p:nvSpPr>
          <p:cNvPr id="24" name="TextBox 23"/>
          <p:cNvSpPr txBox="1"/>
          <p:nvPr/>
        </p:nvSpPr>
        <p:spPr>
          <a:xfrm>
            <a:off x="5367528" y="2084832"/>
            <a:ext cx="1700784" cy="201168"/>
          </a:xfrm>
          <a:prstGeom prst="rect">
            <a:avLst/>
          </a:prstGeom>
          <a:noFill/>
        </p:spPr>
        <p:txBody>
          <a:bodyPr wrap="square" anchor="t" lIns="0" rIns="0" tIns="0" bIns="0">
            <a:spAutoFit/>
          </a:bodyPr>
          <a:lstStyle/>
          <a:p>
            <a:pPr algn="l">
              <a:lnSpc>
                <a:spcPct val="100000"/>
              </a:lnSpc>
              <a:spcAft>
                <a:spcPts val="300"/>
              </a:spcAft>
            </a:pPr>
            <a:r>
              <a:rPr sz="1150" b="1" i="0">
                <a:solidFill>
                  <a:srgbClr val="16325C"/>
                </a:solidFill>
                <a:latin typeface="Calibri"/>
              </a:rPr>
              <a:t>Put our rates in it</a:t>
            </a:r>
          </a:p>
        </p:txBody>
      </p:sp>
      <p:sp>
        <p:nvSpPr>
          <p:cNvPr id="25" name="TextBox 24"/>
          <p:cNvSpPr txBox="1"/>
          <p:nvPr/>
        </p:nvSpPr>
        <p:spPr>
          <a:xfrm>
            <a:off x="5129784" y="2340864"/>
            <a:ext cx="1938528" cy="530352"/>
          </a:xfrm>
          <a:prstGeom prst="rect">
            <a:avLst/>
          </a:prstGeom>
          <a:noFill/>
        </p:spPr>
        <p:txBody>
          <a:bodyPr wrap="square" anchor="t" lIns="0" rIns="0" tIns="0" bIns="0">
            <a:spAutoFit/>
          </a:bodyPr>
          <a:lstStyle/>
          <a:p>
            <a:pPr algn="l">
              <a:lnSpc>
                <a:spcPct val="106000"/>
              </a:lnSpc>
              <a:spcAft>
                <a:spcPts val="0"/>
              </a:spcAft>
            </a:pPr>
            <a:r>
              <a:rPr sz="919" b="0" i="0">
                <a:solidFill>
                  <a:srgbClr val="3A4356"/>
                </a:solidFill>
                <a:latin typeface="Calibri"/>
              </a:rPr>
              <a:t>Material £/kg, labour £/hr,</a:t>
            </a:r>
          </a:p>
          <a:p>
            <a:pPr algn="l">
              <a:lnSpc>
                <a:spcPct val="106000"/>
              </a:lnSpc>
              <a:spcAft>
                <a:spcPts val="0"/>
              </a:spcAft>
            </a:pPr>
            <a:r>
              <a:rPr sz="919" b="0" i="0">
                <a:solidFill>
                  <a:srgbClr val="3A4356"/>
                </a:solidFill>
                <a:latin typeface="Calibri"/>
              </a:rPr>
              <a:t>machine build-ups, energy,</a:t>
            </a:r>
          </a:p>
          <a:p>
            <a:pPr algn="l">
              <a:lnSpc>
                <a:spcPct val="106000"/>
              </a:lnSpc>
              <a:spcAft>
                <a:spcPts val="0"/>
              </a:spcAft>
            </a:pPr>
            <a:r>
              <a:rPr sz="919" b="0" i="0">
                <a:solidFill>
                  <a:srgbClr val="3A4356"/>
                </a:solidFill>
                <a:latin typeface="Calibri"/>
              </a:rPr>
              <a:t>FX, overhead.</a:t>
            </a:r>
          </a:p>
        </p:txBody>
      </p:sp>
      <p:sp>
        <p:nvSpPr>
          <p:cNvPr id="26" name="Isosceles Triangle 25"/>
          <p:cNvSpPr/>
          <p:nvPr/>
        </p:nvSpPr>
        <p:spPr>
          <a:xfrm rot="5400000">
            <a:off x="7191756" y="2377440"/>
            <a:ext cx="118872" cy="164592"/>
          </a:xfrm>
          <a:prstGeom prst="triangl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4344" y="1975104"/>
            <a:ext cx="2157984" cy="969264"/>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4344" y="1975104"/>
            <a:ext cx="2157984" cy="381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34072" y="2093976"/>
            <a:ext cx="274320" cy="182880"/>
          </a:xfrm>
          <a:prstGeom prst="rect">
            <a:avLst/>
          </a:prstGeom>
          <a:noFill/>
        </p:spPr>
        <p:txBody>
          <a:bodyPr wrap="square" anchor="t" lIns="0" rIns="0" tIns="0" bIns="0">
            <a:spAutoFit/>
          </a:bodyPr>
          <a:lstStyle/>
          <a:p>
            <a:pPr algn="l">
              <a:lnSpc>
                <a:spcPct val="100000"/>
              </a:lnSpc>
              <a:spcAft>
                <a:spcPts val="300"/>
              </a:spcAft>
            </a:pPr>
            <a:r>
              <a:rPr sz="1100" b="1" i="0">
                <a:solidFill>
                  <a:srgbClr val="1D6FB8"/>
                </a:solidFill>
                <a:latin typeface="Calibri"/>
              </a:rPr>
              <a:t>4</a:t>
            </a:r>
          </a:p>
        </p:txBody>
      </p:sp>
      <p:sp>
        <p:nvSpPr>
          <p:cNvPr id="30" name="TextBox 29"/>
          <p:cNvSpPr txBox="1"/>
          <p:nvPr/>
        </p:nvSpPr>
        <p:spPr>
          <a:xfrm>
            <a:off x="7671816" y="2084832"/>
            <a:ext cx="1700784" cy="201168"/>
          </a:xfrm>
          <a:prstGeom prst="rect">
            <a:avLst/>
          </a:prstGeom>
          <a:noFill/>
        </p:spPr>
        <p:txBody>
          <a:bodyPr wrap="square" anchor="t" lIns="0" rIns="0" tIns="0" bIns="0">
            <a:spAutoFit/>
          </a:bodyPr>
          <a:lstStyle/>
          <a:p>
            <a:pPr algn="l">
              <a:lnSpc>
                <a:spcPct val="100000"/>
              </a:lnSpc>
              <a:spcAft>
                <a:spcPts val="300"/>
              </a:spcAft>
            </a:pPr>
            <a:r>
              <a:rPr sz="1150" b="1" i="0">
                <a:solidFill>
                  <a:srgbClr val="16325C"/>
                </a:solidFill>
                <a:latin typeface="Calibri"/>
              </a:rPr>
              <a:t>Upload it</a:t>
            </a:r>
          </a:p>
        </p:txBody>
      </p:sp>
      <p:sp>
        <p:nvSpPr>
          <p:cNvPr id="31" name="TextBox 30"/>
          <p:cNvSpPr txBox="1"/>
          <p:nvPr/>
        </p:nvSpPr>
        <p:spPr>
          <a:xfrm>
            <a:off x="7434072" y="2340864"/>
            <a:ext cx="1938528" cy="530352"/>
          </a:xfrm>
          <a:prstGeom prst="rect">
            <a:avLst/>
          </a:prstGeom>
          <a:noFill/>
        </p:spPr>
        <p:txBody>
          <a:bodyPr wrap="square" anchor="t" lIns="0" rIns="0" tIns="0" bIns="0">
            <a:spAutoFit/>
          </a:bodyPr>
          <a:lstStyle/>
          <a:p>
            <a:pPr algn="l">
              <a:lnSpc>
                <a:spcPct val="106000"/>
              </a:lnSpc>
              <a:spcAft>
                <a:spcPts val="0"/>
              </a:spcAft>
            </a:pPr>
            <a:r>
              <a:rPr sz="919" b="0" i="0">
                <a:solidFill>
                  <a:srgbClr val="3A4356"/>
                </a:solidFill>
                <a:latin typeface="Calibri"/>
              </a:rPr>
              <a:t>Checked as it loads. If a</a:t>
            </a:r>
          </a:p>
          <a:p>
            <a:pPr algn="l">
              <a:lnSpc>
                <a:spcPct val="106000"/>
              </a:lnSpc>
              <a:spcAft>
                <a:spcPts val="0"/>
              </a:spcAft>
            </a:pPr>
            <a:r>
              <a:rPr sz="919" b="0" i="0">
                <a:solidFill>
                  <a:srgbClr val="3A4356"/>
                </a:solidFill>
                <a:latin typeface="Calibri"/>
              </a:rPr>
              <a:t>column is wrong it is</a:t>
            </a:r>
          </a:p>
          <a:p>
            <a:pPr algn="l">
              <a:lnSpc>
                <a:spcPct val="106000"/>
              </a:lnSpc>
              <a:spcAft>
                <a:spcPts val="0"/>
              </a:spcAft>
            </a:pPr>
            <a:r>
              <a:rPr sz="919" b="0" i="0">
                <a:solidFill>
                  <a:srgbClr val="3A4356"/>
                </a:solidFill>
                <a:latin typeface="Calibri"/>
              </a:rPr>
              <a:t>rejected, not half-loaded.</a:t>
            </a:r>
          </a:p>
        </p:txBody>
      </p:sp>
      <p:sp>
        <p:nvSpPr>
          <p:cNvPr id="32" name="Isosceles Triangle 31"/>
          <p:cNvSpPr/>
          <p:nvPr/>
        </p:nvSpPr>
        <p:spPr>
          <a:xfrm rot="5400000">
            <a:off x="9496044" y="2377440"/>
            <a:ext cx="118872" cy="164592"/>
          </a:xfrm>
          <a:prstGeom prst="triangl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28632" y="1975104"/>
            <a:ext cx="2157984" cy="969264"/>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28632" y="1975104"/>
            <a:ext cx="2157984" cy="381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38360" y="2093976"/>
            <a:ext cx="274320" cy="182880"/>
          </a:xfrm>
          <a:prstGeom prst="rect">
            <a:avLst/>
          </a:prstGeom>
          <a:noFill/>
        </p:spPr>
        <p:txBody>
          <a:bodyPr wrap="square" anchor="t" lIns="0" rIns="0" tIns="0" bIns="0">
            <a:spAutoFit/>
          </a:bodyPr>
          <a:lstStyle/>
          <a:p>
            <a:pPr algn="l">
              <a:lnSpc>
                <a:spcPct val="100000"/>
              </a:lnSpc>
              <a:spcAft>
                <a:spcPts val="300"/>
              </a:spcAft>
            </a:pPr>
            <a:r>
              <a:rPr sz="1100" b="1" i="0">
                <a:solidFill>
                  <a:srgbClr val="1D6FB8"/>
                </a:solidFill>
                <a:latin typeface="Calibri"/>
              </a:rPr>
              <a:t>5</a:t>
            </a:r>
          </a:p>
        </p:txBody>
      </p:sp>
      <p:sp>
        <p:nvSpPr>
          <p:cNvPr id="36" name="TextBox 35"/>
          <p:cNvSpPr txBox="1"/>
          <p:nvPr/>
        </p:nvSpPr>
        <p:spPr>
          <a:xfrm>
            <a:off x="9976104" y="2084832"/>
            <a:ext cx="1700784" cy="201168"/>
          </a:xfrm>
          <a:prstGeom prst="rect">
            <a:avLst/>
          </a:prstGeom>
          <a:noFill/>
        </p:spPr>
        <p:txBody>
          <a:bodyPr wrap="square" anchor="t" lIns="0" rIns="0" tIns="0" bIns="0">
            <a:spAutoFit/>
          </a:bodyPr>
          <a:lstStyle/>
          <a:p>
            <a:pPr algn="l">
              <a:lnSpc>
                <a:spcPct val="100000"/>
              </a:lnSpc>
              <a:spcAft>
                <a:spcPts val="300"/>
              </a:spcAft>
            </a:pPr>
            <a:r>
              <a:rPr sz="1150" b="1" i="0">
                <a:solidFill>
                  <a:srgbClr val="16325C"/>
                </a:solidFill>
                <a:latin typeface="Calibri"/>
              </a:rPr>
              <a:t>Switch it on</a:t>
            </a:r>
          </a:p>
        </p:txBody>
      </p:sp>
      <p:sp>
        <p:nvSpPr>
          <p:cNvPr id="37" name="TextBox 36"/>
          <p:cNvSpPr txBox="1"/>
          <p:nvPr/>
        </p:nvSpPr>
        <p:spPr>
          <a:xfrm>
            <a:off x="9738360" y="2340864"/>
            <a:ext cx="1938528" cy="530352"/>
          </a:xfrm>
          <a:prstGeom prst="rect">
            <a:avLst/>
          </a:prstGeom>
          <a:noFill/>
        </p:spPr>
        <p:txBody>
          <a:bodyPr wrap="square" anchor="t" lIns="0" rIns="0" tIns="0" bIns="0">
            <a:spAutoFit/>
          </a:bodyPr>
          <a:lstStyle/>
          <a:p>
            <a:pPr algn="l">
              <a:lnSpc>
                <a:spcPct val="106000"/>
              </a:lnSpc>
              <a:spcAft>
                <a:spcPts val="0"/>
              </a:spcAft>
            </a:pPr>
            <a:r>
              <a:rPr sz="919" b="0" i="0">
                <a:solidFill>
                  <a:srgbClr val="3A4356"/>
                </a:solidFill>
                <a:latin typeface="Calibri"/>
              </a:rPr>
              <a:t>One click. The tool now</a:t>
            </a:r>
          </a:p>
          <a:p>
            <a:pPr algn="l">
              <a:lnSpc>
                <a:spcPct val="106000"/>
              </a:lnSpc>
              <a:spcAft>
                <a:spcPts val="0"/>
              </a:spcAft>
            </a:pPr>
            <a:r>
              <a:rPr sz="919" b="0" i="0">
                <a:solidFill>
                  <a:srgbClr val="3A4356"/>
                </a:solidFill>
                <a:latin typeface="Calibri"/>
              </a:rPr>
              <a:t>reads our book. One more</a:t>
            </a:r>
          </a:p>
          <a:p>
            <a:pPr algn="l">
              <a:lnSpc>
                <a:spcPct val="106000"/>
              </a:lnSpc>
              <a:spcAft>
                <a:spcPts val="0"/>
              </a:spcAft>
            </a:pPr>
            <a:r>
              <a:rPr sz="919" b="0" i="0">
                <a:solidFill>
                  <a:srgbClr val="3A4356"/>
                </a:solidFill>
                <a:latin typeface="Calibri"/>
              </a:rPr>
              <a:t>puts it back.</a:t>
            </a:r>
          </a:p>
        </p:txBody>
      </p:sp>
      <p:sp>
        <p:nvSpPr>
          <p:cNvPr id="38" name="TextBox 37"/>
          <p:cNvSpPr txBox="1"/>
          <p:nvPr/>
        </p:nvSpPr>
        <p:spPr>
          <a:xfrm>
            <a:off x="411480" y="3145536"/>
            <a:ext cx="6949440" cy="219456"/>
          </a:xfrm>
          <a:prstGeom prst="rect">
            <a:avLst/>
          </a:prstGeom>
          <a:noFill/>
        </p:spPr>
        <p:txBody>
          <a:bodyPr wrap="square" anchor="t" lIns="0" rIns="0" tIns="0" bIns="0">
            <a:spAutoFit/>
          </a:bodyPr>
          <a:lstStyle/>
          <a:p>
            <a:pPr algn="l">
              <a:lnSpc>
                <a:spcPct val="100000"/>
              </a:lnSpc>
              <a:spcAft>
                <a:spcPts val="300"/>
              </a:spcAft>
            </a:pPr>
            <a:r>
              <a:rPr sz="1000" b="1" i="0">
                <a:solidFill>
                  <a:srgbClr val="686F7D"/>
                </a:solidFill>
                <a:latin typeface="Calibri"/>
              </a:rPr>
              <a:t>THE ACTUAL SCREEN</a:t>
            </a:r>
          </a:p>
        </p:txBody>
      </p:sp>
      <p:pic>
        <p:nvPicPr>
          <p:cNvPr id="39" name="Picture 38" descr="rate-library-admin.png"/>
          <p:cNvPicPr>
            <a:picLocks noChangeAspect="1"/>
          </p:cNvPicPr>
          <p:nvPr/>
        </p:nvPicPr>
        <p:blipFill>
          <a:blip r:embed="rId2"/>
          <a:stretch>
            <a:fillRect/>
          </a:stretch>
        </p:blipFill>
        <p:spPr>
          <a:xfrm>
            <a:off x="411480" y="3383280"/>
            <a:ext cx="6967728" cy="2020824"/>
          </a:xfrm>
          <a:prstGeom prst="rect">
            <a:avLst/>
          </a:prstGeom>
        </p:spPr>
      </p:pic>
      <p:sp>
        <p:nvSpPr>
          <p:cNvPr id="40" name="Rectangle 39"/>
          <p:cNvSpPr/>
          <p:nvPr/>
        </p:nvSpPr>
        <p:spPr>
          <a:xfrm>
            <a:off x="7607808" y="3145536"/>
            <a:ext cx="4178808" cy="2395728"/>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607808" y="3145536"/>
            <a:ext cx="38100" cy="2395728"/>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0" y="3273552"/>
            <a:ext cx="3849624" cy="219456"/>
          </a:xfrm>
          <a:prstGeom prst="rect">
            <a:avLst/>
          </a:prstGeom>
          <a:noFill/>
        </p:spPr>
        <p:txBody>
          <a:bodyPr wrap="square" anchor="t" lIns="0" rIns="0" tIns="0" bIns="0">
            <a:spAutoFit/>
          </a:bodyPr>
          <a:lstStyle/>
          <a:p>
            <a:pPr algn="l">
              <a:lnSpc>
                <a:spcPct val="100000"/>
              </a:lnSpc>
              <a:spcAft>
                <a:spcPts val="300"/>
              </a:spcAft>
            </a:pPr>
            <a:r>
              <a:rPr sz="1250" b="1" i="0">
                <a:solidFill>
                  <a:srgbClr val="2A7F50"/>
                </a:solidFill>
                <a:latin typeface="Calibri"/>
              </a:rPr>
              <a:t>Does it really use our numbers?</a:t>
            </a:r>
          </a:p>
        </p:txBody>
      </p:sp>
      <p:sp>
        <p:nvSpPr>
          <p:cNvPr id="43" name="TextBox 42"/>
          <p:cNvSpPr txBox="1"/>
          <p:nvPr/>
        </p:nvSpPr>
        <p:spPr>
          <a:xfrm>
            <a:off x="7772400" y="3529584"/>
            <a:ext cx="3849624" cy="310896"/>
          </a:xfrm>
          <a:prstGeom prst="rect">
            <a:avLst/>
          </a:prstGeom>
          <a:noFill/>
        </p:spPr>
        <p:txBody>
          <a:bodyPr wrap="square" anchor="t" lIns="0" rIns="0" tIns="0" bIns="0">
            <a:spAutoFit/>
          </a:bodyPr>
          <a:lstStyle/>
          <a:p>
            <a:pPr algn="l">
              <a:lnSpc>
                <a:spcPct val="100000"/>
              </a:lnSpc>
              <a:spcAft>
                <a:spcPts val="300"/>
              </a:spcAft>
            </a:pPr>
            <a:r>
              <a:rPr sz="1019" b="0" i="0">
                <a:solidFill>
                  <a:srgbClr val="3A4356"/>
                </a:solidFill>
                <a:latin typeface="Calibri"/>
              </a:rPr>
              <a:t>The same bracket, the same answers, costed twice — before the upload and after it.</a:t>
            </a:r>
          </a:p>
        </p:txBody>
      </p:sp>
      <p:sp>
        <p:nvSpPr>
          <p:cNvPr id="44" name="TextBox 43"/>
          <p:cNvSpPr txBox="1"/>
          <p:nvPr/>
        </p:nvSpPr>
        <p:spPr>
          <a:xfrm>
            <a:off x="7827264" y="3931920"/>
            <a:ext cx="1554480" cy="201168"/>
          </a:xfrm>
          <a:prstGeom prst="rect">
            <a:avLst/>
          </a:prstGeom>
          <a:noFill/>
        </p:spPr>
        <p:txBody>
          <a:bodyPr wrap="square" anchor="t" lIns="0" rIns="0" tIns="0" bIns="0">
            <a:spAutoFit/>
          </a:bodyPr>
          <a:lstStyle/>
          <a:p>
            <a:pPr algn="l">
              <a:lnSpc>
                <a:spcPct val="100000"/>
              </a:lnSpc>
              <a:spcAft>
                <a:spcPts val="300"/>
              </a:spcAft>
            </a:pPr>
          </a:p>
        </p:txBody>
      </p:sp>
      <p:sp>
        <p:nvSpPr>
          <p:cNvPr id="45" name="TextBox 44"/>
          <p:cNvSpPr txBox="1"/>
          <p:nvPr/>
        </p:nvSpPr>
        <p:spPr>
          <a:xfrm>
            <a:off x="9436608" y="3931920"/>
            <a:ext cx="914400" cy="201168"/>
          </a:xfrm>
          <a:prstGeom prst="rect">
            <a:avLst/>
          </a:prstGeom>
          <a:noFill/>
        </p:spPr>
        <p:txBody>
          <a:bodyPr wrap="square" anchor="t" lIns="0" rIns="0" tIns="0" bIns="0">
            <a:spAutoFit/>
          </a:bodyPr>
          <a:lstStyle/>
          <a:p>
            <a:pPr algn="r">
              <a:lnSpc>
                <a:spcPct val="100000"/>
              </a:lnSpc>
              <a:spcAft>
                <a:spcPts val="300"/>
              </a:spcAft>
            </a:pPr>
            <a:r>
              <a:rPr sz="1040" b="1" i="0">
                <a:solidFill>
                  <a:srgbClr val="16325C"/>
                </a:solidFill>
                <a:latin typeface="Calibri"/>
              </a:rPr>
              <a:t>Built-in</a:t>
            </a:r>
          </a:p>
        </p:txBody>
      </p:sp>
      <p:sp>
        <p:nvSpPr>
          <p:cNvPr id="46" name="TextBox 45"/>
          <p:cNvSpPr txBox="1"/>
          <p:nvPr/>
        </p:nvSpPr>
        <p:spPr>
          <a:xfrm>
            <a:off x="10442448" y="3931920"/>
            <a:ext cx="1097280" cy="201168"/>
          </a:xfrm>
          <a:prstGeom prst="rect">
            <a:avLst/>
          </a:prstGeom>
          <a:noFill/>
        </p:spPr>
        <p:txBody>
          <a:bodyPr wrap="square" anchor="t" lIns="0" rIns="0" tIns="0" bIns="0">
            <a:spAutoFit/>
          </a:bodyPr>
          <a:lstStyle/>
          <a:p>
            <a:pPr algn="r">
              <a:lnSpc>
                <a:spcPct val="100000"/>
              </a:lnSpc>
              <a:spcAft>
                <a:spcPts val="300"/>
              </a:spcAft>
            </a:pPr>
            <a:r>
              <a:rPr sz="1040" b="1" i="0">
                <a:solidFill>
                  <a:srgbClr val="16325C"/>
                </a:solidFill>
                <a:latin typeface="Calibri"/>
              </a:rPr>
              <a:t>Our sheet</a:t>
            </a:r>
          </a:p>
        </p:txBody>
      </p:sp>
      <p:sp>
        <p:nvSpPr>
          <p:cNvPr id="47" name="TextBox 46"/>
          <p:cNvSpPr txBox="1"/>
          <p:nvPr/>
        </p:nvSpPr>
        <p:spPr>
          <a:xfrm>
            <a:off x="7827264" y="4187952"/>
            <a:ext cx="1554480" cy="201168"/>
          </a:xfrm>
          <a:prstGeom prst="rect">
            <a:avLst/>
          </a:prstGeom>
          <a:noFill/>
        </p:spPr>
        <p:txBody>
          <a:bodyPr wrap="square" anchor="t" lIns="0" rIns="0" tIns="0" bIns="0">
            <a:spAutoFit/>
          </a:bodyPr>
          <a:lstStyle/>
          <a:p>
            <a:pPr algn="l">
              <a:lnSpc>
                <a:spcPct val="100000"/>
              </a:lnSpc>
              <a:spcAft>
                <a:spcPts val="300"/>
              </a:spcAft>
            </a:pPr>
            <a:r>
              <a:rPr sz="1040" b="0" i="0">
                <a:solidFill>
                  <a:srgbClr val="3A4356"/>
                </a:solidFill>
                <a:latin typeface="Calibri"/>
              </a:rPr>
              <a:t>Material</a:t>
            </a:r>
          </a:p>
        </p:txBody>
      </p:sp>
      <p:sp>
        <p:nvSpPr>
          <p:cNvPr id="48" name="TextBox 47"/>
          <p:cNvSpPr txBox="1"/>
          <p:nvPr/>
        </p:nvSpPr>
        <p:spPr>
          <a:xfrm>
            <a:off x="9436608" y="4187952"/>
            <a:ext cx="914400" cy="201168"/>
          </a:xfrm>
          <a:prstGeom prst="rect">
            <a:avLst/>
          </a:prstGeom>
          <a:noFill/>
        </p:spPr>
        <p:txBody>
          <a:bodyPr wrap="square" anchor="t" lIns="0" rIns="0" tIns="0" bIns="0">
            <a:spAutoFit/>
          </a:bodyPr>
          <a:lstStyle/>
          <a:p>
            <a:pPr algn="r">
              <a:lnSpc>
                <a:spcPct val="100000"/>
              </a:lnSpc>
              <a:spcAft>
                <a:spcPts val="300"/>
              </a:spcAft>
            </a:pPr>
            <a:r>
              <a:rPr sz="1040" b="0" i="0">
                <a:solidFill>
                  <a:srgbClr val="686F7D"/>
                </a:solidFill>
                <a:latin typeface="Calibri"/>
              </a:rPr>
              <a:t>£12.79</a:t>
            </a:r>
          </a:p>
        </p:txBody>
      </p:sp>
      <p:sp>
        <p:nvSpPr>
          <p:cNvPr id="49" name="TextBox 48"/>
          <p:cNvSpPr txBox="1"/>
          <p:nvPr/>
        </p:nvSpPr>
        <p:spPr>
          <a:xfrm>
            <a:off x="10442448" y="4187952"/>
            <a:ext cx="1097280" cy="201168"/>
          </a:xfrm>
          <a:prstGeom prst="rect">
            <a:avLst/>
          </a:prstGeom>
          <a:noFill/>
        </p:spPr>
        <p:txBody>
          <a:bodyPr wrap="square" anchor="t" lIns="0" rIns="0" tIns="0" bIns="0">
            <a:spAutoFit/>
          </a:bodyPr>
          <a:lstStyle/>
          <a:p>
            <a:pPr algn="r">
              <a:lnSpc>
                <a:spcPct val="100000"/>
              </a:lnSpc>
              <a:spcAft>
                <a:spcPts val="300"/>
              </a:spcAft>
            </a:pPr>
            <a:r>
              <a:rPr sz="1040" b="0" i="0">
                <a:solidFill>
                  <a:srgbClr val="16325C"/>
                </a:solidFill>
                <a:latin typeface="Calibri"/>
              </a:rPr>
              <a:t>£28.56</a:t>
            </a:r>
          </a:p>
        </p:txBody>
      </p:sp>
      <p:sp>
        <p:nvSpPr>
          <p:cNvPr id="50" name="TextBox 49"/>
          <p:cNvSpPr txBox="1"/>
          <p:nvPr/>
        </p:nvSpPr>
        <p:spPr>
          <a:xfrm>
            <a:off x="7827264" y="4443984"/>
            <a:ext cx="1554480" cy="201168"/>
          </a:xfrm>
          <a:prstGeom prst="rect">
            <a:avLst/>
          </a:prstGeom>
          <a:noFill/>
        </p:spPr>
        <p:txBody>
          <a:bodyPr wrap="square" anchor="t" lIns="0" rIns="0" tIns="0" bIns="0">
            <a:spAutoFit/>
          </a:bodyPr>
          <a:lstStyle/>
          <a:p>
            <a:pPr algn="l">
              <a:lnSpc>
                <a:spcPct val="100000"/>
              </a:lnSpc>
              <a:spcAft>
                <a:spcPts val="300"/>
              </a:spcAft>
            </a:pPr>
            <a:r>
              <a:rPr sz="1040" b="0" i="0">
                <a:solidFill>
                  <a:srgbClr val="3A4356"/>
                </a:solidFill>
                <a:latin typeface="Calibri"/>
              </a:rPr>
              <a:t>Labour</a:t>
            </a:r>
          </a:p>
        </p:txBody>
      </p:sp>
      <p:sp>
        <p:nvSpPr>
          <p:cNvPr id="51" name="TextBox 50"/>
          <p:cNvSpPr txBox="1"/>
          <p:nvPr/>
        </p:nvSpPr>
        <p:spPr>
          <a:xfrm>
            <a:off x="9436608" y="4443984"/>
            <a:ext cx="914400" cy="201168"/>
          </a:xfrm>
          <a:prstGeom prst="rect">
            <a:avLst/>
          </a:prstGeom>
          <a:noFill/>
        </p:spPr>
        <p:txBody>
          <a:bodyPr wrap="square" anchor="t" lIns="0" rIns="0" tIns="0" bIns="0">
            <a:spAutoFit/>
          </a:bodyPr>
          <a:lstStyle/>
          <a:p>
            <a:pPr algn="r">
              <a:lnSpc>
                <a:spcPct val="100000"/>
              </a:lnSpc>
              <a:spcAft>
                <a:spcPts val="300"/>
              </a:spcAft>
            </a:pPr>
            <a:r>
              <a:rPr sz="1040" b="0" i="0">
                <a:solidFill>
                  <a:srgbClr val="686F7D"/>
                </a:solidFill>
                <a:latin typeface="Calibri"/>
              </a:rPr>
              <a:t>£5.36</a:t>
            </a:r>
          </a:p>
        </p:txBody>
      </p:sp>
      <p:sp>
        <p:nvSpPr>
          <p:cNvPr id="52" name="TextBox 51"/>
          <p:cNvSpPr txBox="1"/>
          <p:nvPr/>
        </p:nvSpPr>
        <p:spPr>
          <a:xfrm>
            <a:off x="10442448" y="4443984"/>
            <a:ext cx="1097280" cy="201168"/>
          </a:xfrm>
          <a:prstGeom prst="rect">
            <a:avLst/>
          </a:prstGeom>
          <a:noFill/>
        </p:spPr>
        <p:txBody>
          <a:bodyPr wrap="square" anchor="t" lIns="0" rIns="0" tIns="0" bIns="0">
            <a:spAutoFit/>
          </a:bodyPr>
          <a:lstStyle/>
          <a:p>
            <a:pPr algn="r">
              <a:lnSpc>
                <a:spcPct val="100000"/>
              </a:lnSpc>
              <a:spcAft>
                <a:spcPts val="300"/>
              </a:spcAft>
            </a:pPr>
            <a:r>
              <a:rPr sz="1040" b="0" i="0">
                <a:solidFill>
                  <a:srgbClr val="16325C"/>
                </a:solidFill>
                <a:latin typeface="Calibri"/>
              </a:rPr>
              <a:t>£16.07</a:t>
            </a:r>
          </a:p>
        </p:txBody>
      </p:sp>
      <p:sp>
        <p:nvSpPr>
          <p:cNvPr id="53" name="TextBox 52"/>
          <p:cNvSpPr txBox="1"/>
          <p:nvPr/>
        </p:nvSpPr>
        <p:spPr>
          <a:xfrm>
            <a:off x="7827264" y="4700016"/>
            <a:ext cx="1554480" cy="201168"/>
          </a:xfrm>
          <a:prstGeom prst="rect">
            <a:avLst/>
          </a:prstGeom>
          <a:noFill/>
        </p:spPr>
        <p:txBody>
          <a:bodyPr wrap="square" anchor="t" lIns="0" rIns="0" tIns="0" bIns="0">
            <a:spAutoFit/>
          </a:bodyPr>
          <a:lstStyle/>
          <a:p>
            <a:pPr algn="l">
              <a:lnSpc>
                <a:spcPct val="100000"/>
              </a:lnSpc>
              <a:spcAft>
                <a:spcPts val="300"/>
              </a:spcAft>
            </a:pPr>
            <a:r>
              <a:rPr sz="1040" b="0" i="0">
                <a:solidFill>
                  <a:srgbClr val="3A4356"/>
                </a:solidFill>
                <a:latin typeface="Calibri"/>
              </a:rPr>
              <a:t>Machine time</a:t>
            </a:r>
          </a:p>
        </p:txBody>
      </p:sp>
      <p:sp>
        <p:nvSpPr>
          <p:cNvPr id="54" name="TextBox 53"/>
          <p:cNvSpPr txBox="1"/>
          <p:nvPr/>
        </p:nvSpPr>
        <p:spPr>
          <a:xfrm>
            <a:off x="9436608" y="4700016"/>
            <a:ext cx="914400" cy="201168"/>
          </a:xfrm>
          <a:prstGeom prst="rect">
            <a:avLst/>
          </a:prstGeom>
          <a:noFill/>
        </p:spPr>
        <p:txBody>
          <a:bodyPr wrap="square" anchor="t" lIns="0" rIns="0" tIns="0" bIns="0">
            <a:spAutoFit/>
          </a:bodyPr>
          <a:lstStyle/>
          <a:p>
            <a:pPr algn="r">
              <a:lnSpc>
                <a:spcPct val="100000"/>
              </a:lnSpc>
              <a:spcAft>
                <a:spcPts val="300"/>
              </a:spcAft>
            </a:pPr>
            <a:r>
              <a:rPr sz="1040" b="0" i="0">
                <a:solidFill>
                  <a:srgbClr val="686F7D"/>
                </a:solidFill>
                <a:latin typeface="Calibri"/>
              </a:rPr>
              <a:t>£8.91</a:t>
            </a:r>
          </a:p>
        </p:txBody>
      </p:sp>
      <p:sp>
        <p:nvSpPr>
          <p:cNvPr id="55" name="TextBox 54"/>
          <p:cNvSpPr txBox="1"/>
          <p:nvPr/>
        </p:nvSpPr>
        <p:spPr>
          <a:xfrm>
            <a:off x="10442448" y="4700016"/>
            <a:ext cx="1097280" cy="201168"/>
          </a:xfrm>
          <a:prstGeom prst="rect">
            <a:avLst/>
          </a:prstGeom>
          <a:noFill/>
        </p:spPr>
        <p:txBody>
          <a:bodyPr wrap="square" anchor="t" lIns="0" rIns="0" tIns="0" bIns="0">
            <a:spAutoFit/>
          </a:bodyPr>
          <a:lstStyle/>
          <a:p>
            <a:pPr algn="r">
              <a:lnSpc>
                <a:spcPct val="100000"/>
              </a:lnSpc>
              <a:spcAft>
                <a:spcPts val="300"/>
              </a:spcAft>
            </a:pPr>
            <a:r>
              <a:rPr sz="1040" b="0" i="0">
                <a:solidFill>
                  <a:srgbClr val="16325C"/>
                </a:solidFill>
                <a:latin typeface="Calibri"/>
              </a:rPr>
              <a:t>£13.36</a:t>
            </a:r>
          </a:p>
        </p:txBody>
      </p:sp>
      <p:sp>
        <p:nvSpPr>
          <p:cNvPr id="56" name="Rectangle 55"/>
          <p:cNvSpPr/>
          <p:nvPr/>
        </p:nvSpPr>
        <p:spPr>
          <a:xfrm>
            <a:off x="7772400" y="4928616"/>
            <a:ext cx="3849624" cy="265176"/>
          </a:xfrm>
          <a:prstGeom prst="rect">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827264" y="4956048"/>
            <a:ext cx="1554480" cy="201168"/>
          </a:xfrm>
          <a:prstGeom prst="rect">
            <a:avLst/>
          </a:prstGeom>
          <a:noFill/>
        </p:spPr>
        <p:txBody>
          <a:bodyPr wrap="square" anchor="t" lIns="0" rIns="0" tIns="0" bIns="0">
            <a:spAutoFit/>
          </a:bodyPr>
          <a:lstStyle/>
          <a:p>
            <a:pPr algn="l">
              <a:lnSpc>
                <a:spcPct val="100000"/>
              </a:lnSpc>
              <a:spcAft>
                <a:spcPts val="300"/>
              </a:spcAft>
            </a:pPr>
            <a:r>
              <a:rPr sz="1040" b="1" i="0">
                <a:solidFill>
                  <a:srgbClr val="16325C"/>
                </a:solidFill>
                <a:latin typeface="Calibri"/>
              </a:rPr>
              <a:t>Total</a:t>
            </a:r>
          </a:p>
        </p:txBody>
      </p:sp>
      <p:sp>
        <p:nvSpPr>
          <p:cNvPr id="58" name="TextBox 57"/>
          <p:cNvSpPr txBox="1"/>
          <p:nvPr/>
        </p:nvSpPr>
        <p:spPr>
          <a:xfrm>
            <a:off x="9436608" y="4956048"/>
            <a:ext cx="914400" cy="201168"/>
          </a:xfrm>
          <a:prstGeom prst="rect">
            <a:avLst/>
          </a:prstGeom>
          <a:noFill/>
        </p:spPr>
        <p:txBody>
          <a:bodyPr wrap="square" anchor="t" lIns="0" rIns="0" tIns="0" bIns="0">
            <a:spAutoFit/>
          </a:bodyPr>
          <a:lstStyle/>
          <a:p>
            <a:pPr algn="r">
              <a:lnSpc>
                <a:spcPct val="100000"/>
              </a:lnSpc>
              <a:spcAft>
                <a:spcPts val="300"/>
              </a:spcAft>
            </a:pPr>
            <a:r>
              <a:rPr sz="1040" b="1" i="0">
                <a:solidFill>
                  <a:srgbClr val="16325C"/>
                </a:solidFill>
                <a:latin typeface="Calibri"/>
              </a:rPr>
              <a:t>£33.19</a:t>
            </a:r>
          </a:p>
        </p:txBody>
      </p:sp>
      <p:sp>
        <p:nvSpPr>
          <p:cNvPr id="59" name="TextBox 58"/>
          <p:cNvSpPr txBox="1"/>
          <p:nvPr/>
        </p:nvSpPr>
        <p:spPr>
          <a:xfrm>
            <a:off x="10442448" y="4956048"/>
            <a:ext cx="1097280" cy="201168"/>
          </a:xfrm>
          <a:prstGeom prst="rect">
            <a:avLst/>
          </a:prstGeom>
          <a:noFill/>
        </p:spPr>
        <p:txBody>
          <a:bodyPr wrap="square" anchor="t" lIns="0" rIns="0" tIns="0" bIns="0">
            <a:spAutoFit/>
          </a:bodyPr>
          <a:lstStyle/>
          <a:p>
            <a:pPr algn="r">
              <a:lnSpc>
                <a:spcPct val="100000"/>
              </a:lnSpc>
              <a:spcAft>
                <a:spcPts val="300"/>
              </a:spcAft>
            </a:pPr>
            <a:r>
              <a:rPr sz="1040" b="1" i="0">
                <a:solidFill>
                  <a:srgbClr val="16325C"/>
                </a:solidFill>
                <a:latin typeface="Calibri"/>
              </a:rPr>
              <a:t>£70.60</a:t>
            </a:r>
          </a:p>
        </p:txBody>
      </p:sp>
      <p:sp>
        <p:nvSpPr>
          <p:cNvPr id="60" name="TextBox 59"/>
          <p:cNvSpPr txBox="1"/>
          <p:nvPr/>
        </p:nvSpPr>
        <p:spPr>
          <a:xfrm>
            <a:off x="7772400" y="5248656"/>
            <a:ext cx="3849624" cy="384048"/>
          </a:xfrm>
          <a:prstGeom prst="rect">
            <a:avLst/>
          </a:prstGeom>
          <a:noFill/>
        </p:spPr>
        <p:txBody>
          <a:bodyPr wrap="square" anchor="t" lIns="0" rIns="0" tIns="0" bIns="0">
            <a:spAutoFit/>
          </a:bodyPr>
          <a:lstStyle/>
          <a:p>
            <a:pPr algn="l">
              <a:lnSpc>
                <a:spcPct val="108000"/>
              </a:lnSpc>
              <a:spcAft>
                <a:spcPts val="300"/>
              </a:spcAft>
            </a:pPr>
            <a:r>
              <a:rPr sz="940" b="0" i="1">
                <a:solidFill>
                  <a:srgbClr val="686F7D"/>
                </a:solidFill>
                <a:latin typeface="Calibri"/>
              </a:rPr>
              <a:t>Only the buckets a rate feeds moved. Packaging, logistics and tooling did not — nothing in the sheet touches them.</a:t>
            </a:r>
          </a:p>
        </p:txBody>
      </p:sp>
      <p:sp>
        <p:nvSpPr>
          <p:cNvPr id="61" name="Rectangle 60"/>
          <p:cNvSpPr/>
          <p:nvPr/>
        </p:nvSpPr>
        <p:spPr>
          <a:xfrm>
            <a:off x="7607808" y="5687568"/>
            <a:ext cx="4178808" cy="768096"/>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772400" y="5797296"/>
            <a:ext cx="3849624" cy="201168"/>
          </a:xfrm>
          <a:prstGeom prst="rect">
            <a:avLst/>
          </a:prstGeom>
          <a:noFill/>
        </p:spPr>
        <p:txBody>
          <a:bodyPr wrap="square" anchor="t" lIns="0" rIns="0" tIns="0" bIns="0">
            <a:spAutoFit/>
          </a:bodyPr>
          <a:lstStyle/>
          <a:p>
            <a:pPr algn="l">
              <a:lnSpc>
                <a:spcPct val="100000"/>
              </a:lnSpc>
              <a:spcAft>
                <a:spcPts val="300"/>
              </a:spcAft>
            </a:pPr>
            <a:r>
              <a:rPr sz="1150" b="1" i="0">
                <a:solidFill>
                  <a:srgbClr val="1D6FB8"/>
                </a:solidFill>
                <a:latin typeface="Calibri"/>
              </a:rPr>
              <a:t>Every costing records which book it used</a:t>
            </a:r>
          </a:p>
        </p:txBody>
      </p:sp>
      <p:sp>
        <p:nvSpPr>
          <p:cNvPr id="63" name="TextBox 62"/>
          <p:cNvSpPr txBox="1"/>
          <p:nvPr/>
        </p:nvSpPr>
        <p:spPr>
          <a:xfrm>
            <a:off x="7772400" y="6035040"/>
            <a:ext cx="3849624" cy="365760"/>
          </a:xfrm>
          <a:prstGeom prst="rect">
            <a:avLst/>
          </a:prstGeom>
          <a:noFill/>
        </p:spPr>
        <p:txBody>
          <a:bodyPr wrap="square" anchor="t" lIns="0" rIns="0" tIns="0" bIns="0">
            <a:spAutoFit/>
          </a:bodyPr>
          <a:lstStyle/>
          <a:p>
            <a:pPr algn="l">
              <a:lnSpc>
                <a:spcPct val="108000"/>
              </a:lnSpc>
              <a:spcAft>
                <a:spcPts val="300"/>
              </a:spcAft>
            </a:pPr>
            <a:r>
              <a:rPr sz="940" b="0" i="0">
                <a:solidFill>
                  <a:srgbClr val="3A4356"/>
                </a:solidFill>
                <a:latin typeface="Calibri"/>
              </a:rPr>
              <a:t>Each sheet gets an ID from its own contents — ours is 93d84eb6, the built-in one 1398b5ef. A report months old can be traced back to the exact rates behind it.</a:t>
            </a:r>
          </a:p>
        </p:txBody>
      </p:sp>
      <p:sp>
        <p:nvSpPr>
          <p:cNvPr id="64" name="Rectangle 63"/>
          <p:cNvSpPr/>
          <p:nvPr/>
        </p:nvSpPr>
        <p:spPr>
          <a:xfrm>
            <a:off x="411480" y="5687568"/>
            <a:ext cx="6967728" cy="76809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11480" y="5687568"/>
            <a:ext cx="38100" cy="768096"/>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21792" y="5797296"/>
            <a:ext cx="6583680" cy="201168"/>
          </a:xfrm>
          <a:prstGeom prst="rect">
            <a:avLst/>
          </a:prstGeom>
          <a:noFill/>
        </p:spPr>
        <p:txBody>
          <a:bodyPr wrap="square" anchor="t" lIns="0" rIns="0" tIns="0" bIns="0">
            <a:spAutoFit/>
          </a:bodyPr>
          <a:lstStyle/>
          <a:p>
            <a:pPr algn="l">
              <a:lnSpc>
                <a:spcPct val="100000"/>
              </a:lnSpc>
              <a:spcAft>
                <a:spcPts val="300"/>
              </a:spcAft>
            </a:pPr>
            <a:r>
              <a:rPr sz="1150" b="1" i="0">
                <a:solidFill>
                  <a:srgbClr val="99651A"/>
                </a:solidFill>
                <a:latin typeface="Calibri"/>
              </a:rPr>
              <a:t>Who can do this, and what happens if nobody does</a:t>
            </a:r>
          </a:p>
        </p:txBody>
      </p:sp>
      <p:sp>
        <p:nvSpPr>
          <p:cNvPr id="67" name="TextBox 66"/>
          <p:cNvSpPr txBox="1"/>
          <p:nvPr/>
        </p:nvSpPr>
        <p:spPr>
          <a:xfrm>
            <a:off x="621792" y="6035040"/>
            <a:ext cx="6583680" cy="365760"/>
          </a:xfrm>
          <a:prstGeom prst="rect">
            <a:avLst/>
          </a:prstGeom>
          <a:noFill/>
        </p:spPr>
        <p:txBody>
          <a:bodyPr wrap="square" anchor="t" lIns="0" rIns="0" tIns="0" bIns="0">
            <a:spAutoFit/>
          </a:bodyPr>
          <a:lstStyle/>
          <a:p>
            <a:pPr algn="l">
              <a:lnSpc>
                <a:spcPct val="108000"/>
              </a:lnSpc>
              <a:spcAft>
                <a:spcPts val="300"/>
              </a:spcAft>
            </a:pPr>
            <a:r>
              <a:rPr sz="940" b="0" i="0">
                <a:solidFill>
                  <a:srgbClr val="3A4356"/>
                </a:solidFill>
                <a:latin typeface="Calibri"/>
              </a:rPr>
              <a:t>Admins are named in the server settings, and the check is done on the server, not in the browser. With no sheet uploaded the tool keeps using its own rates and says so on every run.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