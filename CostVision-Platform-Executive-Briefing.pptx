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88" r:id="rId39"/>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Before: overhead + margin added on top</c:v>
                </c:pt>
              </c:strCache>
            </c:strRef>
          </c:tx>
          <c:spPr>
            <a:solidFill>
              <a:srgbClr val="8A97A8"/>
            </a:solidFill>
            <a:effectLst/>
          </c:spPr>
          <c:invertIfNegative val="0"/>
          <c:dLbls>
            <c:numFmt formatCode="0.00" sourceLinked="0"/>
            <c:txPr>
              <a:bodyPr/>
              <a:lstStyle/>
              <a:p>
                <a:pPr>
                  <a:defRPr b="1" i="0" strike="noStrike" sz="900" u="none">
                    <a:solidFill>
                      <a:srgbClr val="0F1E3D"/>
                    </a:solidFill>
                    <a:latin typeface="Arial"/>
                  </a:defRPr>
                </a:pPr>
              </a:p>
            </c:txPr>
            <c:showLegendKey val="0"/>
            <c:showVal val="1"/>
            <c:showCatName val="0"/>
            <c:showSerName val="0"/>
            <c:showPercent val="0"/>
            <c:showBubbleSize val="0"/>
            <c:showLeaderLines val="0"/>
          </c:dLbls>
          <c:cat>
            <c:strRef>
              <c:f>Sheet1!$A$2:$A$2</c:f>
              <c:strCache>
                <c:ptCount val="1"/>
                <c:pt idx="0">
                  <c:v>Default board — fab price (£)</c:v>
                </c:pt>
              </c:strCache>
            </c:strRef>
          </c:cat>
          <c:val>
            <c:numRef>
              <c:f>Sheet1!$B$2:$B$2</c:f>
              <c:numCache>
                <c:formatCode>General</c:formatCode>
                <c:ptCount val="1"/>
                <c:pt idx="0">
                  <c:v>100.44</c:v>
                </c:pt>
              </c:numCache>
            </c:numRef>
          </c:val>
        </c:ser>
        <c:ser>
          <c:idx val="1"/>
          <c:order val="1"/>
          <c:tx>
            <c:strRef>
              <c:f>Sheet1!$C$1</c:f>
              <c:strCache>
                <c:ptCount val="1"/>
                <c:pt idx="0">
                  <c:v>Now: bought-in price, nothing added</c:v>
                </c:pt>
              </c:strCache>
            </c:strRef>
          </c:tx>
          <c:spPr>
            <a:solidFill>
              <a:srgbClr val="2563EB"/>
            </a:solidFill>
            <a:effectLst/>
          </c:spPr>
          <c:invertIfNegative val="0"/>
          <c:dLbls>
            <c:numFmt formatCode="0.00" sourceLinked="0"/>
            <c:txPr>
              <a:bodyPr/>
              <a:lstStyle/>
              <a:p>
                <a:pPr>
                  <a:defRPr b="1" i="0" strike="noStrike" sz="900" u="none">
                    <a:solidFill>
                      <a:srgbClr val="0F1E3D"/>
                    </a:solidFill>
                    <a:latin typeface="Arial"/>
                  </a:defRPr>
                </a:pPr>
              </a:p>
            </c:txPr>
            <c:showLegendKey val="0"/>
            <c:showVal val="1"/>
            <c:showCatName val="0"/>
            <c:showSerName val="0"/>
            <c:showPercent val="0"/>
            <c:showBubbleSize val="0"/>
            <c:showLeaderLines val="0"/>
          </c:dLbls>
          <c:cat>
            <c:strRef>
              <c:f>Sheet1!$A$2:$A$2</c:f>
              <c:strCache>
                <c:ptCount val="1"/>
                <c:pt idx="0">
                  <c:v>Default board — fab price (£)</c:v>
                </c:pt>
              </c:strCache>
            </c:strRef>
          </c:cat>
          <c:val>
            <c:numRef>
              <c:f>Sheet1!$C$2:$C$2</c:f>
              <c:numCache>
                <c:formatCode>General</c:formatCode>
                <c:ptCount val="1"/>
                <c:pt idx="0">
                  <c:v>83.08</c:v>
                </c:pt>
              </c:numCache>
            </c:numRef>
          </c:val>
        </c:ser>
        <c:dLbls>
          <c:numFmt formatCode="#,##0" sourceLinked="0"/>
          <c:txPr>
            <a:bodyPr/>
            <a:lstStyle/>
            <a:p>
              <a:pPr>
                <a:defRPr b="1" i="0" strike="noStrike" sz="900" u="none">
                  <a:solidFill>
                    <a:srgbClr val="0F1E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AF2"/>
            </a:solidFill>
            <a:prstDash val="solid"/>
            <a:round/>
          </a:ln>
        </c:spPr>
        <c:txPr>
          <a:bodyPr/>
          <a:lstStyle/>
          <a:p>
            <a:pPr>
              <a:defRPr sz="95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120.0"/>
          <c:min val="0"/>
        </c:scaling>
        <c:delete val="0"/>
        <c:axPos val="l"/>
        <c:majorGridlines>
          <c:spPr>
            <a:ln w="9525" cap="flat">
              <a:solidFill>
                <a:srgbClr val="E4EAF2"/>
              </a:solidFill>
              <a:prstDash val="solid"/>
              <a:round/>
            </a:ln>
          </c:spPr>
        </c:majorGridlines>
        <c:numFmt formatCode="General" sourceLinked="0"/>
        <c:majorTickMark val="out"/>
        <c:minorTickMark val="none"/>
        <c:tickLblPos val="nextTo"/>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20.0"/>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c:v>
                </c:pt>
              </c:strCache>
            </c:strRef>
          </c:tx>
          <c:spPr>
            <a:solidFill>
              <a:srgbClr val="0DA5A0"/>
            </a:solidFill>
            <a:effectLst/>
          </c:spPr>
          <c:invertIfNegative val="0"/>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cat>
            <c:strRef>
              <c:f>Sheet1!$A$2:$A$9</c:f>
              <c:strCache>
                <c:ptCount val="8"/>
                <c:pt idx="0">
                  <c:v>Material</c:v>
                </c:pt>
                <c:pt idx="1">
                  <c:v>Process</c:v>
                </c:pt>
                <c:pt idx="2">
                  <c:v>Labour</c:v>
                </c:pt>
                <c:pt idx="3">
                  <c:v>Tooling</c:v>
                </c:pt>
                <c:pt idx="4">
                  <c:v>Pack</c:v>
                </c:pt>
                <c:pt idx="5">
                  <c:v>Logs</c:v>
                </c:pt>
                <c:pt idx="6">
                  <c:v>O/H</c:v>
                </c:pt>
                <c:pt idx="7">
                  <c:v>Margin</c:v>
                </c:pt>
              </c:strCache>
            </c:strRef>
          </c:cat>
          <c:val>
            <c:numRef>
              <c:f>Sheet1!$B$2:$B$9</c:f>
              <c:numCache>
                <c:formatCode>General</c:formatCode>
                <c:ptCount val="8"/>
                <c:pt idx="0">
                  <c:v>12.56</c:v>
                </c:pt>
                <c:pt idx="1">
                  <c:v>27.98</c:v>
                </c:pt>
                <c:pt idx="2">
                  <c:v>4.59</c:v>
                </c:pt>
                <c:pt idx="3">
                  <c:v>2.18</c:v>
                </c:pt>
                <c:pt idx="4">
                  <c:v>0.6</c:v>
                </c:pt>
                <c:pt idx="5">
                  <c:v>1.1</c:v>
                </c:pt>
                <c:pt idx="6">
                  <c:v>5.68</c:v>
                </c:pt>
                <c:pt idx="7">
                  <c:v>4.92</c:v>
                </c:pt>
              </c:numCache>
            </c:numRef>
          </c:val>
        </c:ser>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AF2"/>
            </a:solidFill>
            <a:prstDash val="solid"/>
            <a:round/>
          </a:ln>
        </c:spPr>
        <c:txPr>
          <a:bodyPr/>
          <a:lstStyle/>
          <a:p>
            <a:pPr>
              <a:defRPr sz="8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30.0"/>
          <c:min val="0"/>
        </c:scaling>
        <c:delete val="0"/>
        <c:axPos val="l"/>
        <c:majorGridlines>
          <c:spPr>
            <a:ln w="9525" cap="flat">
              <a:solidFill>
                <a:srgbClr val="E4EAF2"/>
              </a:solidFill>
              <a:prstDash val="solid"/>
              <a:round/>
            </a:ln>
          </c:spPr>
        </c:majorGridlines>
        <c:numFmt formatCode="General" sourceLinked="0"/>
        <c:majorTickMark val="out"/>
        <c:minorTickMark val="none"/>
        <c:tickLblPos val="nextTo"/>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£/part</c:v>
                </c:pt>
              </c:strCache>
            </c:strRef>
          </c:tx>
          <c:spPr>
            <a:solidFill>
              <a:srgbClr val="E0900C"/>
            </a:solidFill>
            <a:effectLst/>
          </c:spPr>
          <c:invertIfNegative val="0"/>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cat>
            <c:strRef>
              <c:f>Sheet1!$A$2:$A$9</c:f>
              <c:strCache>
                <c:ptCount val="8"/>
                <c:pt idx="0">
                  <c:v>VN</c:v>
                </c:pt>
                <c:pt idx="1">
                  <c:v>IN</c:v>
                </c:pt>
                <c:pt idx="2">
                  <c:v>CN</c:v>
                </c:pt>
                <c:pt idx="3">
                  <c:v>MX</c:v>
                </c:pt>
                <c:pt idx="4">
                  <c:v>PL</c:v>
                </c:pt>
                <c:pt idx="5">
                  <c:v>US</c:v>
                </c:pt>
                <c:pt idx="6">
                  <c:v>UK</c:v>
                </c:pt>
                <c:pt idx="7">
                  <c:v>DE</c:v>
                </c:pt>
              </c:strCache>
            </c:strRef>
          </c:cat>
          <c:val>
            <c:numRef>
              <c:f>Sheet1!$B$2:$B$9</c:f>
              <c:numCache>
                <c:formatCode>General</c:formatCode>
                <c:ptCount val="8"/>
                <c:pt idx="0">
                  <c:v>36.85</c:v>
                </c:pt>
                <c:pt idx="1">
                  <c:v>37.17</c:v>
                </c:pt>
                <c:pt idx="2">
                  <c:v>38.55</c:v>
                </c:pt>
                <c:pt idx="3">
                  <c:v>40.44</c:v>
                </c:pt>
                <c:pt idx="4">
                  <c:v>46.3</c:v>
                </c:pt>
                <c:pt idx="5">
                  <c:v>53.91</c:v>
                </c:pt>
                <c:pt idx="6">
                  <c:v>59.6</c:v>
                </c:pt>
                <c:pt idx="7">
                  <c:v>63.4</c:v>
                </c:pt>
              </c:numCache>
            </c:numRef>
          </c:val>
        </c:ser>
        <c:dLbls>
          <c:numFmt formatCode="0.00" sourceLinked="0"/>
          <c:txPr>
            <a:bodyPr/>
            <a:lstStyle/>
            <a:p>
              <a:pPr>
                <a:defRPr b="1" i="0" strike="noStrike" sz="750" u="none">
                  <a:solidFill>
                    <a:srgbClr val="0F1E3D"/>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AF2"/>
            </a:solidFill>
            <a:prstDash val="solid"/>
            <a:round/>
          </a:ln>
        </c:spPr>
        <c:txPr>
          <a:bodyPr/>
          <a:lstStyle/>
          <a:p>
            <a:pPr>
              <a:defRPr sz="9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70.0"/>
          <c:min val="0"/>
        </c:scaling>
        <c:delete val="0"/>
        <c:axPos val="l"/>
        <c:majorGridlines>
          <c:spPr>
            <a:ln w="9525" cap="flat">
              <a:solidFill>
                <a:srgbClr val="E4EAF2"/>
              </a:solidFill>
              <a:prstDash val="solid"/>
              <a:round/>
            </a:ln>
          </c:spPr>
        </c:majorGridlines>
        <c:numFmt formatCode="General" sourceLinked="0"/>
        <c:majorTickMark val="out"/>
        <c:minorTickMark val="none"/>
        <c:tickLblPos val="nextTo"/>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10.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k lines</c:v>
                </c:pt>
              </c:strCache>
            </c:strRef>
          </c:tx>
          <c:spPr>
            <a:solidFill>
              <a:srgbClr val="4F46E5"/>
            </a:solidFill>
            <a:effectLst/>
          </c:spPr>
          <c:invertIfNegative val="0"/>
          <c:dLbls>
            <c:numFmt formatCode="0.0" sourceLinked="0"/>
            <c:txPr>
              <a:bodyPr/>
              <a:lstStyle/>
              <a:p>
                <a:pPr>
                  <a:defRPr b="1" i="0" strike="noStrike" sz="800" u="none">
                    <a:solidFill>
                      <a:srgbClr val="0F1E3D"/>
                    </a:solidFill>
                    <a:latin typeface="Arial"/>
                  </a:defRPr>
                </a:pPr>
              </a:p>
            </c:txPr>
            <c:showLegendKey val="0"/>
            <c:showVal val="1"/>
            <c:showCatName val="0"/>
            <c:showSerName val="0"/>
            <c:showPercent val="0"/>
            <c:showBubbleSize val="0"/>
            <c:showLeaderLines val="0"/>
          </c:dLbls>
          <c:cat>
            <c:strRef>
              <c:f>Sheet1!$A$2:$A$7</c:f>
              <c:strCache>
                <c:ptCount val="6"/>
                <c:pt idx="0">
                  <c:v>Cost engine</c:v>
                </c:pt>
                <c:pt idx="1">
                  <c:v>Front end / UI</c:v>
                </c:pt>
                <c:pt idx="2">
                  <c:v>Tests</c:v>
                </c:pt>
                <c:pt idx="3">
                  <c:v>Server</c:v>
                </c:pt>
                <c:pt idx="4">
                  <c:v>Styling</c:v>
                </c:pt>
                <c:pt idx="5">
                  <c:v>Geometry (Py)</c:v>
                </c:pt>
              </c:strCache>
            </c:strRef>
          </c:cat>
          <c:val>
            <c:numRef>
              <c:f>Sheet1!$B$2:$B$7</c:f>
              <c:numCache>
                <c:formatCode>General</c:formatCode>
                <c:ptCount val="6"/>
                <c:pt idx="0">
                  <c:v>39.4</c:v>
                </c:pt>
                <c:pt idx="1">
                  <c:v>29.5</c:v>
                </c:pt>
                <c:pt idx="2">
                  <c:v>29.0</c:v>
                </c:pt>
                <c:pt idx="3">
                  <c:v>17.3</c:v>
                </c:pt>
                <c:pt idx="4">
                  <c:v>7.1</c:v>
                </c:pt>
                <c:pt idx="5">
                  <c:v>2.5</c:v>
                </c:pt>
              </c:numCache>
            </c:numRef>
          </c:val>
        </c:ser>
        <c:dLbls>
          <c:numFmt formatCode="0.0" sourceLinked="0"/>
          <c:txPr>
            <a:bodyPr/>
            <a:lstStyle/>
            <a:p>
              <a:pPr>
                <a:defRPr b="1" i="0" strike="noStrike" sz="800" u="none">
                  <a:solidFill>
                    <a:srgbClr val="0F1E3D"/>
                  </a:solidFill>
                  <a:latin typeface="Arial"/>
                </a:defRPr>
              </a:pPr>
            </a:p>
          </c:txPr>
          <c:showLegendKey val="0"/>
          <c:showVal val="1"/>
          <c:showCatName val="0"/>
          <c:showSerName val="0"/>
          <c:showPercent val="0"/>
          <c:showBubbleSize val="0"/>
          <c:showLeaderLines val="0"/>
        </c:dLbls>
        <c:gapWidth val="3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E4EAF2"/>
            </a:solidFill>
            <a:prstDash val="solid"/>
            <a:round/>
          </a:ln>
        </c:spPr>
        <c:txPr>
          <a:bodyPr/>
          <a:lstStyle/>
          <a:p>
            <a:pPr>
              <a:defRPr sz="900" b="0" i="0" u="none" strike="noStrike">
                <a:solidFill>
                  <a:srgbClr val="3E4C63"/>
                </a:solidFill>
                <a:latin typeface="Arial"/>
              </a:defRPr>
            </a:pPr>
            <a:endParaRPr lang="en-US"/>
          </a:p>
        </c:txPr>
        <c:crossAx val="2094734552"/>
        <c:crosses val="autoZero"/>
        <c:auto val="1"/>
        <c:lblAlgn val="ctr"/>
        <c:noMultiLvlLbl val="1"/>
      </c:catAx>
      <c:valAx>
        <c:axId val="2094734552"/>
        <c:scaling>
          <c:orientation val="minMax"/>
          <c:max val="45.0"/>
          <c:min val="0"/>
        </c:scaling>
        <c:delete val="0"/>
        <c:axPos val="b"/>
        <c:majorGridlines>
          <c:spPr>
            <a:ln w="9525" cap="flat">
              <a:solidFill>
                <a:srgbClr val="E4EAF2"/>
              </a:solidFill>
              <a:prstDash val="solid"/>
              <a:round/>
            </a:ln>
          </c:spPr>
        </c:majorGridlines>
        <c:numFmt formatCode="General" sourceLinked="0"/>
        <c:majorTickMark val="out"/>
        <c:minorTickMark val="none"/>
        <c:tickLblPos val="low"/>
        <c:spPr>
          <a:ln w="12700" cap="flat">
            <a:solidFill>
              <a:srgbClr val="E4EAF2"/>
            </a:solidFill>
            <a:prstDash val="solid"/>
            <a:round/>
          </a:ln>
        </c:spPr>
        <c:txPr>
          <a:bodyPr/>
          <a:lstStyle/>
          <a:p>
            <a:pPr>
              <a:defRPr sz="1000" b="0" i="0" u="none" strike="noStrike">
                <a:solidFill>
                  <a:srgbClr val="8A97A8"/>
                </a:solidFill>
                <a:latin typeface="Arial"/>
              </a:defRPr>
            </a:pPr>
            <a:endParaRPr lang="en-US"/>
          </a:p>
        </c:txPr>
        <c:crossAx val="2094734554"/>
        <c:crosses val="autoZero"/>
        <c:crossBetween val="between"/>
        <c:majorUnit val="1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you for your time. This is CostVision. It works out what a part should cost: material, process, labour, tooling, packaging, logistics, overhead and margin. You give it a CAD file, or you type in the inputs, and it builds the cost from real 2026 rates. Every number is plain arithmetic, and you can trace each one back to a rate.</a:t>
            </a:r>
          </a:p>
          <a:p/>
          <a:p>
            <a:r>
              <a:t>I want to be clear about one thing at the start. The version we run at JLR has AI switched off. JLR hasn't approved AI yet, so the AI code is in the product but turned off. Everything I show you today works without it, on a laptop, with no internet. This is version 4.2.</a:t>
            </a:r>
          </a:p>
          <a:p/>
          <a:p>
            <a:r>
              <a:t>I'll go through what it does, what we've proven, and, just as important, what we haven't proven yet.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you only remember one slide, make it this one. Across the top: every cost splits into eight buckets, and each one traces to a rate. It covers nineteen manufacturing processes, plus an assembly roll-up. It prices across twenty regions on real 2026 rates. Thirteen of those processes can be costed straight from a CAD file.</a:t>
            </a:r>
          </a:p>
          <a:p/>
          <a:p>
            <a:r>
              <a:t>The last number is a zero, and I put it there on purpose. So far we haven't compared a single estimate with a price JLR actually paid. The arithmetic is proven. Accuracy against real prices isn't proven yet, and the pilot is how we find out.</a:t>
            </a:r>
          </a:p>
          <a:p/>
          <a:p>
            <a:r>
              <a:t>The four boxes are the four jobs the tool does: estimate, understand, negotiate, and learn. The bottom line is simple. We get one consistent number that anyone can trace, built on our own rates.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plan for the next half hour, with a quick word on why. We already do careful should-costing, and the method is sound. The trouble is the effort. For every part, somebody reads the CAD and the drawings and types the numbers in by hand.</a:t>
            </a:r>
          </a:p>
          <a:p/>
          <a:p>
            <a:r>
              <a:t>CostVision keeps the same method. It measures the CAD for us. When the geometry can't answer something, it asks the engineer instead of guessing. And every part runs on one rate library that has a version number.</a:t>
            </a:r>
          </a:p>
          <a:p/>
          <a:p>
            <a:r>
              <a:t>After this I'll show the whole tool on one slide. Then I'll go deeper on CAD to Cost, and after that electronics, the regional rates, negotiation, and learning from real prices. I'll finish with trust, security and next steps. Please jump in with questions any time.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be fair to what we have today. Our current should-costing is good. It's thorough, it's bottom-up, and it covers every commodity. The honest point is that it takes a lot of hand work. Someone picks the material, the process and the machine. Someone reads the geometry off the CAD and the drawings. And when rates move, someone updates them by hand.</a:t>
            </a:r>
          </a:p>
          <a:p/>
          <a:p>
            <a:r>
              <a:t>CostVision keeps the same method and takes out most of that hand work. It measures the CAD directly. Where the geometry can't decide something, like the process route or the material family, it asks the engineer. It doesn't guess. And rates sit in one library with a version number, so when we load a new set, every part re-prices.</a:t>
            </a:r>
          </a:p>
          <a:p/>
          <a:p>
            <a:r>
              <a:t>So this isn't old against new. It's the same should-cost with less typing, and it leaves our experts more time for judgement.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whole tool on one slide. Read it left to right.</a:t>
            </a:r>
          </a:p>
          <a:p/>
          <a:p>
            <a:r>
              <a:t>On the left are the inputs. That's a CAD file in STEP, IGES or STL, or the inputs you type into a process form. For sheet metal you can add a DXF flat pattern.</a:t>
            </a:r>
          </a:p>
          <a:p/>
          <a:p>
            <a:r>
              <a:t>Next, the tool measures. The geometry engine is OpenCASCADE, a proper CAD kernel. It measures the part and finds the features, then rules turn those measurements into cost inputs. If something can't be decided from the geometry, the engineer gets a question. The optional AI sits in this column too, and at JLR it's switched off.</a:t>
            </a:r>
          </a:p>
          <a:p/>
          <a:p>
            <a:r>
              <a:t>The third column is fixed arithmetic: nineteen processes, twenty regional rate tables, and the tooling spread. On the right are the outputs: the breakdown, a band, a negotiation pack, and exports.</a:t>
            </a:r>
          </a:p>
          <a:p/>
          <a:p>
            <a:r>
              <a:t>The golden rule at the bottom holds even when AI is on. AI never sets a price.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someone asks what CostVision actually does, this slide is the answer. It does four jobs.</a:t>
            </a:r>
          </a:p>
          <a:p/>
          <a:p>
            <a:r>
              <a:t>First, it estimates. That can be from a CAD file, from the PCB forms, or from any of the nineteen process forms, with feature-based machining on top.</a:t>
            </a:r>
          </a:p>
          <a:p/>
          <a:p>
            <a:r>
              <a:t>Second, it helps you understand the part. There's a 3D viewer where you can section and measure. There's the feature table, design-for-manufacture guidance for each process, and a self-audit on every result.</a:t>
            </a:r>
          </a:p>
          <a:p/>
          <a:p>
            <a:r>
              <a:t>Third, it helps you decide and negotiate. You get the quote teardown, twenty regions, what-if scenarios, and an uncertainty band on every number.</a:t>
            </a:r>
          </a:p>
          <a:p/>
          <a:p>
            <a:r>
              <a:t>Fourth, it learns and keeps things governed. There's a shared memory of past cases, learning from logged actual prices, a background monitor, and an audit trail. It all runs on a laptop with sign-in.</a:t>
            </a:r>
          </a:p>
          <a:p/>
          <a:p>
            <a:r>
              <a:t>Most of today sits in the first two columns, because that's where the demo is.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the main part of the talk: CAD to Cost. This is where most of the hand work lives today, so it's where the tool saves the most effort.</a:t>
            </a:r>
          </a:p>
          <a:p/>
          <a:p>
            <a:r>
              <a:t>Over the next few slides I'll show you three things. First, how the tool gets from a 3D model to a should-cost. Second, the checks it runs before any number reaches the price. And third, how we've tested it, including what we haven't tested yet.</a:t>
            </a:r>
          </a:p>
          <a:p/>
          <a:p>
            <a:r>
              <a:t>One point to keep in mind throughout: the geometry is the ground truth. The tool measures the part. The rules work from those measurements. And where the measurements don't settle a question, the engineer does. There's no AI anywhere in this path at JLR.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promise. You drop in a 3D model and you get a should-cost. How it gets there is what makes the number worth trusting.</a:t>
            </a:r>
          </a:p>
          <a:p/>
          <a:p>
            <a:r>
              <a:t>It takes four steps, left to right. First, it measures the real geometry, meaning volume, size and surface area, using OpenCASCADE. Second, it finds the features: holes, pockets, slots and bends. Those become machining steps. That works on STEP and IGES. An STL is just a mesh, so there's no feature table.</a:t>
            </a:r>
          </a:p>
          <a:p/>
          <a:p>
            <a:r>
              <a:t>Third, where the geometry can't decide the route or the material, the tool asks the engineer to choose. Fourth, the fixed eight-bucket engine prices it and gives a band and design guidance.</a:t>
            </a:r>
          </a:p>
          <a:p/>
          <a:p>
            <a:r>
              <a:t>On the bottom bar: for sheet metal, add a DXF flat pattern and the tool uses the measured blank. Reading a 2D drawing needs the AI mode, and that's off at JLR, so we don't rely on it.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the full pipeline, left to right. You upload the model. The geometry engine measures it. Feature recognition finds the holes, pockets, slots and bends. Then the rules turn the measurements into cost inputs, and the engineer answers anything the geometry can't settle. The costing engine prices it. The self-audit checks it. And out comes the should-cost with a band.</a:t>
            </a:r>
          </a:p>
          <a:p/>
          <a:p>
            <a:r>
              <a:t>The step to remember is the self-audit. It checks every result for a wrong machine size, tooling spread over the wrong volume, a material-only costing, a cycle time that doesn't make sense, and more. There's also a hard stop. An STL file has no feature table, so a machined STL would come out with no cycle time. The tool won't price that. It waits until the engineer types one in.</a:t>
            </a:r>
          </a:p>
          <a:p/>
          <a:p>
            <a:r>
              <a:t>So problems get flagged. They don't get silently priced.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what an engineer actually sees on screen.</a:t>
            </a:r>
          </a:p>
          <a:p/>
          <a:p>
            <a:r>
              <a:t>At the top left is the 3D viewer, right in the browser. You can rotate the part, cut a section through it, and measure it. Next to it, the tool works on true B-rep geometry, meaning the real faces and edges of a STEP or IGES model, not just a mesh of triangles. That's how it can tell a pocket from a boss.</a:t>
            </a:r>
          </a:p>
          <a:p/>
          <a:p>
            <a:r>
              <a:t>The feature table lists what it found and feeds each item into the costing as a real step. Machining is costed per feature. Where the route or the material is unclear, you get a question with the choices laid out. And the design-for-manufacture score shows what's driving the cost.</a:t>
            </a:r>
          </a:p>
          <a:p/>
          <a:p>
            <a:r>
              <a:t>The bottom bar is a rule I like. A thick-walled part is never offered sheet metal or moulding. It gets casting, forging, cast and machine, or machining.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People always ask about accuracy, so I'll be precise. It's built in layers.</a:t>
            </a:r>
          </a:p>
          <a:p/>
          <a:p>
            <a:r>
              <a:t>One: the geometry is measured, and the rules work from what's measured. Two: there are guards. Machining time on a near-net casting or forging is capped, and anything the geometry can't decide goes to the engineer as a question. Three: there's no AI in the money. The engine matches a hand calculation of a twenty-three pound twenty-seven machined bracket to under a hundredth of a percent, and it gives the same answer every time. Four: the self-audit runs on every result. Five: every estimate comes with a band, not a single number. Six: six real production parts are pinned in a regression test.</a:t>
            </a:r>
          </a:p>
          <a:p/>
          <a:p>
            <a:r>
              <a:t>Now the honest part. None of this compares an estimate with a price JLR actually paid. That's still to do. We'll measure it as we log actual prices. We aren't claiming it up front.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short section now on electronics. I want to show that the tool isn't only about machined and cast metal parts.</a:t>
            </a:r>
          </a:p>
          <a:p/>
          <a:p>
            <a:r>
              <a:t>There are two processes here. PCB fabrication is making the bare board. PCBA is assembling the components onto it. Both have their own forms, and both run on the same engine and the same rate library as everything else.</a:t>
            </a:r>
          </a:p>
          <a:p/>
          <a:p>
            <a:r>
              <a:t>There's also a feature that reads a photo of a board and builds the bill of materials. That one needs AI. So in the JLR build it's hidden, and I won't be demoing it. I'll say more on the next slide about a recent fix to how the fab price is handled, because it changed the numbers.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electronics in practice. The PCB fab form takes the board type, the size and the layer count, and prices the board from fabricators' price tables. The PCBA form costs the SMT, through-hole and BGA placements. You can import the bill of materials as a CSV file instead of typing every line. And the same board can be priced across all twenty regions.</a:t>
            </a:r>
          </a:p>
          <a:p/>
          <a:p>
            <a:r>
              <a:t>The chart shows a fix we made. A fabricator's price already includes their overhead and margin. The tool used to add overhead and margin on top again, so it counted them twice. Now fab is treated as a bought-in price, with nothing added. On the default board, that took the fab cost from one hundred pounds forty-four down to eighty-three pounds eight.</a:t>
            </a:r>
          </a:p>
          <a:p/>
          <a:p>
            <a:r>
              <a:t>The photo-to-BOM feature needs AI, so it's hidden at JLR.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If a tool only covers one process, it doesn't change how a business works. CostVision covers nineteen manufacturing processes. Each one has its own bottom-up model. It's not one generic formula stretched to fit everything.</a:t>
            </a:r>
          </a:p>
          <a:p/>
          <a:p>
            <a:r>
              <a:t>They're all on screen. Casting, cast and machine, gear cutting, machining, forging, pressed sheet metal and sheet-metal fabrication. Then the moulding family: injection, blow, thermoforming and rotational. Then rubber, composites, extrusion, wiring harness, PCB fab, PCBA, painting, and body-in-white assembly.</a:t>
            </a:r>
          </a:p>
          <a:p/>
          <a:p>
            <a:r>
              <a:t>On top of those there's an assembly roll-up and a separate cost model for automotive software.</a:t>
            </a:r>
          </a:p>
          <a:p/>
          <a:p>
            <a:r>
              <a:t>The key point is on the bottom bar. There's one method underneath all of them: the same eight-bucket stack, material through to margin. So every process is costed the same traceable way, and every part can then be priced across twenty regions. That's the next section.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the global should-cost. The question here is simple: what would this same part cost if it were made somewhere else?</a:t>
            </a:r>
          </a:p>
          <a:p/>
          <a:p>
            <a:r>
              <a:t>The answer uses twenty manufacturing regions. There's the UK and ten other European countries, then Turkey, China, India, Mexico, the United States, Thailand, Vietnam, Brazil and South Korea. Each region has its own labour rates, energy prices and multipliers.</a:t>
            </a:r>
          </a:p>
          <a:p/>
          <a:p>
            <a:r>
              <a:t>There's no AI in any of this. It's the same base cost, re-priced with each region's rates. I'll show you how the model works, then the actual rates on screen, then how we load our own rates, and finally a worked example from the engine itself.</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engine behind "the same part, priced anywhere". It's four fixed steps, and there's no AI in any of them.</a:t>
            </a:r>
          </a:p>
          <a:p/>
          <a:p>
            <a:r>
              <a:t>Step one: we take the base cost, the eight-bucket breakdown, from a CAD model or a process form. Step two: we apply each region's rates for labour by trade, energy, material factors, machine rates, overhead, and the exchange rate. Step three: we add the landed costs, meaning packaging, logistics, duty and shipping. Step four: we get a should-cost for every country, ranked, both ex-works and landed.</a:t>
            </a:r>
          </a:p>
          <a:p/>
          <a:p>
            <a:r>
              <a:t>At the bottom left is what you actually have to provide: the part, once; the regions you care about; and the volume and Incoterm. At the bottom right is everything the model factors in for you. On the next slide you'll see the actual numbers.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is here so nobody has to take the regional numbers on trust. These are the actual rates the tool uses. They come from the rate library dated the sixteenth of June 2026.</a:t>
            </a:r>
          </a:p>
          <a:p/>
          <a:p>
            <a:r>
              <a:t>Read across a row. A skilled operator costs twenty-six pounds an hour in the UK and forty pounds fifty in Germany. In China it's seven ninety, and in Vietnam it's three eighty. Then there's foundry labour, electricity, and three multipliers: machine cost, overhead, and logistics. China's logistics multiplier is one point four five, because the part has to travel.</a:t>
            </a:r>
          </a:p>
          <a:p/>
          <a:p>
            <a:r>
              <a:t>This shows ten of the twenty regions. Behind them sit material factors, exchange rates, gas, packaging and duty. It's one library with a version number, and every costing uses it. So if someone challenges a China number, we can show them exactly which rate drove 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Someone always says, "those aren't our rates." They don't have to be. We can upload our own rates as one Excel workbook, and from then on every costing runs on our numbers.</a:t>
            </a:r>
          </a:p>
          <a:p/>
          <a:p>
            <a:r>
              <a:t>There are six tables, one tab each: materials, machines, labour, energy, exchange rates, and overhead with margin. Uploading is admin-only. An admin uploads, and can switch between company rates and the built-in ones, or reset. Everyone else just costs on whatever set is active, and a badge shows which one that is.</a:t>
            </a:r>
          </a:p>
          <a:p/>
          <a:p>
            <a:r>
              <a:t>The server checks every row. It rejects bad cells and gives an error that names the line. Every row carries an effective date and a confidence level.</a:t>
            </a:r>
          </a:p>
          <a:p/>
          <a:p>
            <a:r>
              <a:t>For JLR there's also a converter workbook. It turns JLR's own rate card into this format, with no macros. Load a new set, and every part re-prices.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a real run of the engine. It comes from the worked-example script in the code, so anyone can re-run it and get the same numbers. The part is a two point eight kilo die-cast aluminium housing, in ADC12, machined afterwards, at sixty thousand a year.</a:t>
            </a:r>
          </a:p>
          <a:p/>
          <a:p>
            <a:r>
              <a:t>The left chart is the UK breakdown. The total is fifty-nine pounds sixty. Process, which here means casting plus machining, is forty-seven percent of that. So this part is mainly about machine time, and less about metal.</a:t>
            </a:r>
          </a:p>
          <a:p/>
          <a:p>
            <a:r>
              <a:t>The right chart shows the same inputs priced in eight regions. Vietnam, India and China come out between about thirty-seven pounds and thirty-eight fifty. The UK is fifty-nine sixty, and Germany is sixty-three forty.</a:t>
            </a:r>
          </a:p>
          <a:p/>
          <a:p>
            <a:r>
              <a:t>This is one example, run on our current rates. It doesn't tell us what a supplier would actually charge. What it shows is how the method works.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Next: Negotiation Intelligence. This is where a should-cost stops being an interesting number and becomes something a buyer can use across the table from a supplier.</a:t>
            </a:r>
          </a:p>
          <a:p/>
          <a:p>
            <a:r>
              <a:t>The idea is simple. We put the supplier's quote next to our should-cost and compare them bucket by bucket. Then the tool shows where the gaps are and what's causing them.</a:t>
            </a:r>
          </a:p>
          <a:p/>
          <a:p>
            <a:r>
              <a:t>I want to be careful here. I'm not going to quote a savings figure. We haven't run this on enough real JLR quotes to claim one. What I'll show you is the mechanism, and the pilot is where we find out what it's worth.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Here's how it works, left to right. We start with our should-cost. We add the supplier's quote, either line by line or from Excel. The tool tears down the gap by driver: material, cycle time, rate and margin. Then it builds a negotiation pack.</a:t>
            </a:r>
          </a:p>
          <a:p/>
          <a:p>
            <a:r>
              <a:t>Across the middle are the facts about it. It compares all eight buckets. The pack comes out as a PDF or PowerPoint. Each lever is ranked by its value per year. And the exported total matches the screen to the penny, so nobody can pick holes in the arithmetic.</a:t>
            </a:r>
          </a:p>
          <a:p/>
          <a:p>
            <a:r>
              <a:t>You'll notice I've taken out the savings percentages. We'll measure those on real quotes.</a:t>
            </a:r>
          </a:p>
          <a:p/>
          <a:p>
            <a:r>
              <a:t>The pack holds the gap table, the driver behind each gap, the ranked levers, and questions ready to send to the supplier. We stop arguing about the total and start talking about the drivers.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is about learning from actual prices, and it's where the tool gets better as we use it.</a:t>
            </a:r>
          </a:p>
          <a:p/>
          <a:p>
            <a:r>
              <a:t>The principle is straightforward. When we get a real quote or a purchase order price for a part we've costed, we log it against the estimate. Over time the tool builds up a record of how its estimates compare with real prices, commodity by commodity.</a:t>
            </a:r>
          </a:p>
          <a:p/>
          <a:p>
            <a:r>
              <a:t>I'll be honest about where we are. That record is empty for JLR today. No estimate has yet been compared with a price JLR actually paid. So this section is about the mechanism, and why logging our historic actuals in the pilot matters so much.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There are four steps here, and together they form a loop.</a:t>
            </a:r>
          </a:p>
          <a:p/>
          <a:p>
            <a:r>
              <a:t>It remembers: each costing can be saved as a case in a shared memory, so the team builds on past work. It recognises: a new part is matched to similar past parts, and the tool shows why it thinks they're similar. It corrects itself: you log a real quote or PO price, and once a commodity has three actuals, the band is adjusted using real data. And it acts: a background monitor re-checks saved parts and flags price gaps and stale estimates. All of this is plain arithmetic. None of it uses AI.</a:t>
            </a:r>
          </a:p>
          <a:p/>
          <a:p>
            <a:r>
              <a:t>Look at the numbers on the bottom. It takes three actuals per commodity before the band learns. Every result carries a P10 to P90 band. And we've compared zero estimates with a JLR-paid price so far. That zero is the reason for the pilot.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four extras go a bit beyond a plain estimate.</a:t>
            </a:r>
          </a:p>
          <a:p/>
          <a:p>
            <a:r>
              <a:t>First, bands set by real data. Once we've logged actual prices, the uncertainty band is corrected by real results, so it rests on evidence rather than on assumptions.</a:t>
            </a:r>
          </a:p>
          <a:p/>
          <a:p>
            <a:r>
              <a:t>Second, the negotiation coach. It knows why a part costs what it does, and it writes the sentence for you. For example, it can say how much a move in the aluminium index changes the price.</a:t>
            </a:r>
          </a:p>
          <a:p/>
          <a:p>
            <a:r>
              <a:t>Third, what-if. You move a commodity price and watch the cost recompute, for one part or for the whole portfolio.</a:t>
            </a:r>
          </a:p>
          <a:p/>
          <a:p>
            <a:r>
              <a:t>Fourth, carbon. Every part gets a carbon dioxide figure next to the pounds, and more RFQs are asking for one.</a:t>
            </a:r>
          </a:p>
          <a:p/>
          <a:p>
            <a:r>
              <a:t>Each of these turns a number into a decision. They're all plain arithmetic on the same breakdown, and none of them uses AI.</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Whenever software touches money, the fair question is "can I trust it?" So here's the direct answer.</a:t>
            </a:r>
          </a:p>
          <a:p/>
          <a:p>
            <a:r>
              <a:t>First, it's open. Every number is plain arithmetic that an engineer can read and defend. At JLR there's no AI in the tool at all.</a:t>
            </a:r>
          </a:p>
          <a:p/>
          <a:p>
            <a:r>
              <a:t>Second, it's measured. The arithmetic matches a hand calculation to under a hundredth of a percent. Accuracy against real prices is a separate question, and we'll measure it as we log actuals.</a:t>
            </a:r>
          </a:p>
          <a:p/>
          <a:p>
            <a:r>
              <a:t>Third, it's honest about uncertainty. There's a band on every result and a flag on anything unchecked.</a:t>
            </a:r>
          </a:p>
          <a:p/>
          <a:p>
            <a:r>
              <a:t>Fourth, it's tested. There are two thousand four hundred and thirty-eight automated tests, plus browser tests that cost every process and check accessibility on every run.</a:t>
            </a:r>
          </a:p>
          <a:p/>
          <a:p>
            <a:r>
              <a:t>The green bar gives the summary, and it includes the gap. What we haven't proven yet is how the tool compares with prices JLR actually paid.</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last slide asked whether you can trust the number today. This one asks whether you can still trust it after six months of changes.</a:t>
            </a:r>
          </a:p>
          <a:p/>
          <a:p>
            <a:r>
              <a:t>There are four checks. One: our golden rule, that AI never sets a price, is written as a test. If anyone connects AI code to the cost engine, the build fails.</a:t>
            </a:r>
          </a:p>
          <a:p/>
          <a:p>
            <a:r>
              <a:t>Two: six real production parts are pinned. There's a steering knuckle, two castings, a pressed seat bracket, a machined part and a gear. If a change moves any of their costs, the build fails, and someone has to explain why. That net exists because a knuckle once costed at five pounds forty-three while every synthetic test passed.</a:t>
            </a:r>
          </a:p>
          <a:p/>
          <a:p>
            <a:r>
              <a:t>Three: there are two thousand four hundred and thirty-eight tests, the self-audit, and screenshot checks of the key screens. Four: there's a band on every result.</a:t>
            </a:r>
          </a:p>
          <a:p/>
          <a:p>
            <a:r>
              <a:t>So quality is checked on every change, not reviewed afterwards.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 want to spend a moment on the work behind this. It isn't a prototype, and it isn't a thin wrapper around a chatbot.</a:t>
            </a:r>
          </a:p>
          <a:p/>
          <a:p>
            <a:r>
              <a:t>It's about a hundred and twenty-eight thousand lines of code. The cost engine alone is around thirty-nine thousand lines, and that's the money arithmetic for nineteen processes and twenty regions. There are around twenty-nine thousand lines of tests, which make up the two thousand four hundred and thirty-eight tests. The geometry engine is OpenCASCADE, called from Python, and it reads STEP, IGES and STL.</a:t>
            </a:r>
          </a:p>
          <a:p/>
          <a:p>
            <a:r>
              <a:t>To be open about it: AI coding tools helped us write the code. The product itself runs with no AI at JLR. The design, the cost models and the checks are ours.</a:t>
            </a:r>
          </a:p>
          <a:p/>
          <a:p>
            <a:r>
              <a:t>Line counts don't prove accuracy, of course. What they show is that this is a real piece of engineering that we own and control.</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Let me put this in business terms. There are four points, and they're all about doing what we already do, with less effort.</a:t>
            </a:r>
          </a:p>
          <a:p/>
          <a:p>
            <a:r>
              <a:t>Speed: there's less keying. The tool measures the CAD and fills in the inputs, so the first traceable number arrives sooner. I'm not going to put a multiple on that. The pilot will tell us.</a:t>
            </a:r>
          </a:p>
          <a:p/>
          <a:p>
            <a:r>
              <a:t>Margin: a line-by-line should-cost lets us challenge each quote by driver, not just by the total.</a:t>
            </a:r>
          </a:p>
          <a:p/>
          <a:p>
            <a:r>
              <a:t>Consistency: there's one method and one rate library for everyone. A junior costs a part the same way a senior does.</a:t>
            </a:r>
          </a:p>
          <a:p/>
          <a:p>
            <a:r>
              <a:t>And the asset: logged actuals and saved cases stay on our own machines, and they grow with use.</a:t>
            </a:r>
          </a:p>
          <a:p/>
          <a:p>
            <a:r>
              <a:t>The net is faster, consistent, traceable numbers, on our own laptops, with no AI and no internet needed. How much money that's worth is for the pilot to measure. I'm not going to guess.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how do we get from a demo to everyday use? The plan is staged and low-risk, and it runs alongside our current tool until we're confident.</a:t>
            </a:r>
          </a:p>
          <a:p/>
          <a:p>
            <a:r>
              <a:t>Phase one is a six-week pilot. We install the laptop package, which is just a folder, so there's no installer and no admin rights. We log our historic actual prices. We cost twenty to thirty live parts. And we set a baseline for accuracy against those actuals. That's where we get the first real accuracy measure.</a:t>
            </a:r>
          </a:p>
          <a:p/>
          <a:p>
            <a:r>
              <a:t>Phase two is scale. We roll it out to costing and sourcing, make logging actuals a habit, connect it to the RFQ process, and review the drift monitor every month.</a:t>
            </a:r>
          </a:p>
          <a:p/>
          <a:p>
            <a:r>
              <a:t>Phase three is embed. Negotiation packs become standard, we add real market price feeds, and we track pounds saved and cycle time.</a:t>
            </a:r>
          </a:p>
          <a:p/>
          <a:p>
            <a:r>
              <a:t>The one dependency is that the learning starts empty, and that's why phase one logs our history first.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room like this, security comes first, so here it is plainly.</a:t>
            </a:r>
          </a:p>
          <a:p/>
          <a:p>
            <a:r>
              <a:t>At JLR the tool runs on a laptop. The Windows package is a folder you copy across and double-click. There's no installer, no admin rights, and no internet needed. By default it only listens on the laptop itself, so nobody else on the network can reach it unless we choose to share it.</a:t>
            </a:r>
          </a:p>
          <a:p/>
          <a:p>
            <a:r>
              <a:t>AI is switched off by a setting. Nothing goes to any AI service. If JLR approves AI later, it can be turned on without a rebuild. But that's a decision for then, not now.</a:t>
            </a:r>
          </a:p>
          <a:p/>
          <a:p>
            <a:r>
              <a:t>You have to sign in to anything that holds data. A password reset, or "sign out everywhere", ends every old session.</a:t>
            </a:r>
          </a:p>
          <a:p/>
          <a:p>
            <a:r>
              <a:t>For a shared server there's a Docker image with the CAD kernel. The dashboard news feed needs internet, but costing never does.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my runbook for the live demo. If I'm short on time, I'll do steps one, three and six.</a:t>
            </a:r>
          </a:p>
          <a:p/>
          <a:p>
            <a:r>
              <a:t>Step one: I upload a STEP model. I'll show you the 3D viewer and the feature table, answer the questions the tool asks, and the should-cost and band appear. Step two: a sheet-metal part with its DXF flat pattern, so you can see the measured blank replace the bounding box. Step three: I switch regions and show the twenty-country spread, with China against Germany.</a:t>
            </a:r>
          </a:p>
          <a:p/>
          <a:p>
            <a:r>
              <a:t>Step four: I'll open the self-audit, so you can see what the tool checked and what it flagged. Step five: I'll paste in a supplier quote and generate the negotiation pack. Step six: I'll export Excel and PDF, show that the totals match the screen to the penny, and log an actual price.</a:t>
            </a:r>
          </a:p>
          <a:p/>
          <a:p>
            <a:r>
              <a:t>The whole demo runs on the laptop, offline.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bring it home: a CAD file goes in, and a traceable should-cost comes out. It's measured, it's explainable, it runs offline, and it's ours. And we're honest about what isn't proven yet.</a:t>
            </a:r>
          </a:p>
          <a:p/>
          <a:p>
            <a:r>
              <a:t>I'm asking for three small decisions. First, approve a six-week pilot on the laptop package, and let us log our historic actual prices. Second, pick a first part family, either a CAD part or a live RFQ. Third, compare the tool's estimates with prices we actually paid. That will be the first real accuracy measure, and I'd rather we find it out together than have me claim it today.</a:t>
            </a:r>
          </a:p>
          <a:p/>
          <a:p>
            <a:r>
              <a:t>Thank you. I'm happy to take questions, or we can open the live system now and cost one of our own parts.</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what the tool actually captures, and where each fact comes from.</a:t>
            </a:r>
          </a:p>
          <a:p/>
          <a:p>
            <a:r>
              <a:t>The geometry engine measures volume, weight, size, wall thickness and draft. That's measured, not estimated. It finds holes, pockets, slots, bosses and bends, and each one becomes a machining step with its own cost line.</a:t>
            </a:r>
          </a:p>
          <a:p/>
          <a:p>
            <a:r>
              <a:t>Number three is the most important point. When the geometry can't decide something, the tool asks. The process route, the material family, a hole count on an STL file: the engineer answers, and the tool doesn't guess.</a:t>
            </a:r>
          </a:p>
          <a:p/>
          <a:p>
            <a:r>
              <a:t>For PCBs, the board type, size and layer count set the fab price. For sheet metal, a DXF flat pattern gives us the real blank size. And every value traces back to its source.</a:t>
            </a:r>
          </a:p>
          <a:p/>
          <a:p>
            <a:r>
              <a:t>The golden rule sits on the right. AI never sets a price, and in the JLR build it's switched off entirely.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8.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chart" Target="../charts/chart3.xml"/><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her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6000"/>
            </a:srgbClr>
          </a:solidFill>
          <a:ln/>
        </p:spPr>
        <p:txBody>
          <a:bodyPr/>
          <a:p/>
        </p:txBody>
      </p:sp>
      <p:sp>
        <p:nvSpPr>
          <p:cNvPr id="5" name="Shape 2"/>
          <p:cNvSpPr/>
          <p:nvPr/>
        </p:nvSpPr>
        <p:spPr>
          <a:xfrm>
            <a:off x="0" y="4572000"/>
            <a:ext cx="12191695" cy="2286000"/>
          </a:xfrm>
          <a:prstGeom prst="rect">
            <a:avLst/>
          </a:prstGeom>
          <a:solidFill>
            <a:srgbClr val="061024">
              <a:alpha val="70000"/>
            </a:srgbClr>
          </a:solidFill>
          <a:ln/>
        </p:spPr>
        <p:txBody>
          <a:bodyPr/>
          <a:p/>
        </p:txBody>
      </p:sp>
      <p:sp>
        <p:nvSpPr>
          <p:cNvPr id="6" name="Shape 3"/>
          <p:cNvSpPr/>
          <p:nvPr/>
        </p:nvSpPr>
        <p:spPr>
          <a:xfrm>
            <a:off x="0" y="0"/>
            <a:ext cx="146304" cy="6858000"/>
          </a:xfrm>
          <a:prstGeom prst="rect">
            <a:avLst/>
          </a:prstGeom>
          <a:solidFill>
            <a:srgbClr val="4F46E5"/>
          </a:solidFill>
          <a:ln/>
        </p:spPr>
        <p:txBody>
          <a:bodyPr/>
          <a:p/>
        </p:txBody>
      </p:sp>
      <p:sp>
        <p:nvSpPr>
          <p:cNvPr id="7" name="Shape 4"/>
          <p:cNvSpPr/>
          <p:nvPr/>
        </p:nvSpPr>
        <p:spPr>
          <a:xfrm>
            <a:off x="0" y="6729984"/>
            <a:ext cx="12191695" cy="128016"/>
          </a:xfrm>
          <a:prstGeom prst="rect">
            <a:avLst/>
          </a:prstGeom>
          <a:solidFill>
            <a:srgbClr val="2563EB"/>
          </a:solidFill>
          <a:ln/>
        </p:spPr>
        <p:txBody>
          <a:bodyPr/>
          <a:p/>
        </p:txBody>
      </p:sp>
      <p:sp>
        <p:nvSpPr>
          <p:cNvPr id="8" name="Shape 5"/>
          <p:cNvSpPr/>
          <p:nvPr/>
        </p:nvSpPr>
        <p:spPr>
          <a:xfrm>
            <a:off x="822960" y="731520"/>
            <a:ext cx="566928" cy="566928"/>
          </a:xfrm>
          <a:prstGeom prst="roundRect">
            <a:avLst>
              <a:gd name="adj" fmla="val 22581"/>
            </a:avLst>
          </a:prstGeom>
          <a:solidFill>
            <a:srgbClr val="4F46E5"/>
          </a:solidFill>
          <a:ln/>
        </p:spPr>
        <p:txBody>
          <a:bodyPr/>
          <a:p/>
        </p:txBody>
      </p:sp>
      <p:sp>
        <p:nvSpPr>
          <p:cNvPr id="9" name="Text 6"/>
          <p:cNvSpPr/>
          <p:nvPr/>
        </p:nvSpPr>
        <p:spPr>
          <a:xfrm>
            <a:off x="822960" y="731520"/>
            <a:ext cx="566928" cy="566928"/>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cv</a:t>
            </a:r>
            <a:endParaRPr lang="en-US" sz="2400" dirty="0"/>
          </a:p>
        </p:txBody>
      </p:sp>
      <p:sp>
        <p:nvSpPr>
          <p:cNvPr id="10" name="Text 7"/>
          <p:cNvSpPr/>
          <p:nvPr/>
        </p:nvSpPr>
        <p:spPr>
          <a:xfrm>
            <a:off x="1508760" y="777240"/>
            <a:ext cx="5486400" cy="457200"/>
          </a:xfrm>
          <a:prstGeom prst="rect">
            <a:avLst/>
          </a:prstGeom>
          <a:noFill/>
          <a:ln/>
        </p:spPr>
        <p:txBody>
          <a:bodyPr wrap="square" lIns="0" tIns="0" rIns="0" bIns="0" rtlCol="0" anchor="t"/>
          <a:lstStyle/>
          <a:p>
            <a:pPr indent="0" marL="0">
              <a:buNone/>
            </a:pPr>
            <a:r>
              <a:rPr lang="en-US" sz="2000" b="1" dirty="0">
                <a:solidFill>
                  <a:srgbClr val="FFFFFF"/>
                </a:solidFill>
                <a:latin typeface="Calibri" pitchFamily="34" charset="0"/>
                <a:ea typeface="Calibri" pitchFamily="34" charset="-122"/>
                <a:cs typeface="Calibri" pitchFamily="34" charset="-120"/>
              </a:rPr>
              <a:t>CostVision</a:t>
            </a:r>
            <a:endParaRPr lang="en-US" sz="2000" dirty="0"/>
          </a:p>
        </p:txBody>
      </p:sp>
      <p:sp>
        <p:nvSpPr>
          <p:cNvPr id="11" name="Text 8"/>
          <p:cNvSpPr/>
          <p:nvPr/>
        </p:nvSpPr>
        <p:spPr>
          <a:xfrm>
            <a:off x="1527048" y="1197864"/>
            <a:ext cx="5486400" cy="274320"/>
          </a:xfrm>
          <a:prstGeom prst="rect">
            <a:avLst/>
          </a:prstGeom>
          <a:noFill/>
          <a:ln/>
        </p:spPr>
        <p:txBody>
          <a:bodyPr wrap="square" lIns="0" tIns="0" rIns="0" bIns="0" rtlCol="0" anchor="t"/>
          <a:lstStyle/>
          <a:p>
            <a:pPr indent="0" marL="0">
              <a:buNone/>
            </a:pPr>
            <a:r>
              <a:rPr lang="en-US" sz="950" spc="250" kern="0" dirty="0">
                <a:solidFill>
                  <a:srgbClr val="A9BEDC"/>
                </a:solidFill>
                <a:latin typeface="Calibri" pitchFamily="34" charset="0"/>
                <a:ea typeface="Calibri" pitchFamily="34" charset="-122"/>
                <a:cs typeface="Calibri" pitchFamily="34" charset="-120"/>
              </a:rPr>
              <a:t>SHOULD-COST  PLATFORM</a:t>
            </a:r>
            <a:endParaRPr lang="en-US" sz="950" dirty="0"/>
          </a:p>
        </p:txBody>
      </p:sp>
      <p:sp>
        <p:nvSpPr>
          <p:cNvPr id="12" name="Text 9"/>
          <p:cNvSpPr/>
          <p:nvPr/>
        </p:nvSpPr>
        <p:spPr>
          <a:xfrm>
            <a:off x="822960" y="2286000"/>
            <a:ext cx="10972800" cy="914400"/>
          </a:xfrm>
          <a:prstGeom prst="rect">
            <a:avLst/>
          </a:prstGeom>
          <a:noFill/>
          <a:ln/>
        </p:spPr>
        <p:txBody>
          <a:bodyPr wrap="square" lIns="0" tIns="0" rIns="0" bIns="0" rtlCol="0" anchor="t"/>
          <a:lstStyle/>
          <a:p>
            <a:pPr indent="0" marL="0">
              <a:buNone/>
            </a:pPr>
            <a:r>
              <a:rPr lang="en-US" sz="5200" b="1" dirty="0">
                <a:solidFill>
                  <a:srgbClr val="FFFFFF"/>
                </a:solidFill>
                <a:latin typeface="Calibri" pitchFamily="34" charset="0"/>
                <a:ea typeface="Calibri" pitchFamily="34" charset="-122"/>
                <a:cs typeface="Calibri" pitchFamily="34" charset="-120"/>
              </a:rPr>
              <a:t>CostVision</a:t>
            </a:r>
            <a:endParaRPr lang="en-US" sz="5200" dirty="0"/>
          </a:p>
        </p:txBody>
      </p:sp>
      <p:sp>
        <p:nvSpPr>
          <p:cNvPr id="13" name="Text 10"/>
          <p:cNvSpPr/>
          <p:nvPr/>
        </p:nvSpPr>
        <p:spPr>
          <a:xfrm>
            <a:off x="859536" y="3310128"/>
            <a:ext cx="10972800" cy="548640"/>
          </a:xfrm>
          <a:prstGeom prst="rect">
            <a:avLst/>
          </a:prstGeom>
          <a:noFill/>
          <a:ln/>
        </p:spPr>
        <p:txBody>
          <a:bodyPr wrap="square" lIns="0" tIns="0" rIns="0" bIns="0" rtlCol="0" anchor="t"/>
          <a:lstStyle/>
          <a:p>
            <a:pPr indent="0" marL="0">
              <a:buNone/>
            </a:pPr>
            <a:r>
              <a:rPr lang="en-US" sz="2300" dirty="0">
                <a:solidFill>
                  <a:srgbClr val="CFE0F5"/>
                </a:solidFill>
                <a:latin typeface="Calibri" pitchFamily="34" charset="0"/>
                <a:ea typeface="Calibri" pitchFamily="34" charset="-122"/>
                <a:cs typeface="Calibri" pitchFamily="34" charset="-120"/>
              </a:rPr>
              <a:t>What a part should cost — and why</a:t>
            </a:r>
            <a:endParaRPr lang="en-US" sz="2300" dirty="0"/>
          </a:p>
        </p:txBody>
      </p:sp>
      <p:sp>
        <p:nvSpPr>
          <p:cNvPr id="14" name="Text 11"/>
          <p:cNvSpPr/>
          <p:nvPr/>
        </p:nvSpPr>
        <p:spPr>
          <a:xfrm>
            <a:off x="859536" y="3977640"/>
            <a:ext cx="10607040" cy="822960"/>
          </a:xfrm>
          <a:prstGeom prst="rect">
            <a:avLst/>
          </a:prstGeom>
          <a:noFill/>
          <a:ln/>
        </p:spPr>
        <p:txBody>
          <a:bodyPr wrap="square" lIns="0" tIns="0" rIns="0" bIns="0" rtlCol="0" anchor="t"/>
          <a:lstStyle/>
          <a:p>
            <a:pPr indent="0" marL="0">
              <a:lnSpc>
                <a:spcPct val="120000"/>
              </a:lnSpc>
              <a:buNone/>
            </a:pPr>
            <a:r>
              <a:rPr lang="en-US" sz="1500" dirty="0">
                <a:solidFill>
                  <a:srgbClr val="AFC4E2"/>
                </a:solidFill>
                <a:latin typeface="Calibri" pitchFamily="34" charset="0"/>
                <a:ea typeface="Calibri" pitchFamily="34" charset="-122"/>
                <a:cs typeface="Calibri" pitchFamily="34" charset="-120"/>
              </a:rPr>
              <a:t>From a CAD file or the inputs an engineer types — to a traceable should-cost,</a:t>
            </a:r>
            <a:endParaRPr lang="en-US" sz="1500" dirty="0"/>
          </a:p>
          <a:p>
            <a:pPr indent="0" marL="0">
              <a:lnSpc>
                <a:spcPct val="120000"/>
              </a:lnSpc>
              <a:buNone/>
            </a:pPr>
            <a:r>
              <a:rPr lang="en-US" sz="1500" dirty="0">
                <a:solidFill>
                  <a:srgbClr val="AFC4E2"/>
                </a:solidFill>
                <a:latin typeface="Calibri" pitchFamily="34" charset="0"/>
                <a:ea typeface="Calibri" pitchFamily="34" charset="-122"/>
                <a:cs typeface="Calibri" pitchFamily="34" charset="-120"/>
              </a:rPr>
              <a:t>built on real 2026 rates. It runs on a laptop with no internet and no AI.</a:t>
            </a:r>
            <a:endParaRPr lang="en-US" sz="1500" dirty="0"/>
          </a:p>
        </p:txBody>
      </p:sp>
      <p:sp>
        <p:nvSpPr>
          <p:cNvPr id="15" name="Shape 12"/>
          <p:cNvSpPr/>
          <p:nvPr/>
        </p:nvSpPr>
        <p:spPr>
          <a:xfrm>
            <a:off x="822960" y="5029200"/>
            <a:ext cx="2542032" cy="457200"/>
          </a:xfrm>
          <a:prstGeom prst="roundRect">
            <a:avLst>
              <a:gd name="adj" fmla="val 50000"/>
            </a:avLst>
          </a:prstGeom>
          <a:solidFill>
            <a:srgbClr val="FFFFFF">
              <a:alpha val="92000"/>
            </a:srgbClr>
          </a:solidFill>
          <a:ln/>
        </p:spPr>
        <p:txBody>
          <a:bodyPr/>
          <a:p/>
        </p:txBody>
      </p:sp>
      <p:sp>
        <p:nvSpPr>
          <p:cNvPr id="16" name="Shape 13"/>
          <p:cNvSpPr/>
          <p:nvPr/>
        </p:nvSpPr>
        <p:spPr>
          <a:xfrm>
            <a:off x="1024128" y="5166360"/>
            <a:ext cx="182880" cy="182880"/>
          </a:xfrm>
          <a:prstGeom prst="ellipse">
            <a:avLst/>
          </a:prstGeom>
          <a:solidFill>
            <a:srgbClr val="2E90FA"/>
          </a:solidFill>
          <a:ln/>
        </p:spPr>
        <p:txBody>
          <a:bodyPr/>
          <a:p/>
        </p:txBody>
      </p:sp>
      <p:sp>
        <p:nvSpPr>
          <p:cNvPr id="17" name="Text 14"/>
          <p:cNvSpPr/>
          <p:nvPr/>
        </p:nvSpPr>
        <p:spPr>
          <a:xfrm>
            <a:off x="12801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CAD → Cost</a:t>
            </a:r>
            <a:endParaRPr lang="en-US" sz="1200" dirty="0"/>
          </a:p>
        </p:txBody>
      </p:sp>
      <p:sp>
        <p:nvSpPr>
          <p:cNvPr id="18" name="Shape 15"/>
          <p:cNvSpPr/>
          <p:nvPr/>
        </p:nvSpPr>
        <p:spPr>
          <a:xfrm>
            <a:off x="3566160" y="5029200"/>
            <a:ext cx="2542032" cy="457200"/>
          </a:xfrm>
          <a:prstGeom prst="roundRect">
            <a:avLst>
              <a:gd name="adj" fmla="val 50000"/>
            </a:avLst>
          </a:prstGeom>
          <a:solidFill>
            <a:srgbClr val="FFFFFF">
              <a:alpha val="92000"/>
            </a:srgbClr>
          </a:solidFill>
          <a:ln/>
        </p:spPr>
        <p:txBody>
          <a:bodyPr/>
          <a:p/>
        </p:txBody>
      </p:sp>
      <p:sp>
        <p:nvSpPr>
          <p:cNvPr id="19" name="Shape 16"/>
          <p:cNvSpPr/>
          <p:nvPr/>
        </p:nvSpPr>
        <p:spPr>
          <a:xfrm>
            <a:off x="3767328" y="5166360"/>
            <a:ext cx="182880" cy="182880"/>
          </a:xfrm>
          <a:prstGeom prst="ellipse">
            <a:avLst/>
          </a:prstGeom>
          <a:solidFill>
            <a:srgbClr val="0E93B0"/>
          </a:solidFill>
          <a:ln/>
        </p:spPr>
        <p:txBody>
          <a:bodyPr/>
          <a:p/>
        </p:txBody>
      </p:sp>
      <p:sp>
        <p:nvSpPr>
          <p:cNvPr id="20" name="Text 17"/>
          <p:cNvSpPr/>
          <p:nvPr/>
        </p:nvSpPr>
        <p:spPr>
          <a:xfrm>
            <a:off x="40233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PCB fab + PCBA</a:t>
            </a:r>
            <a:endParaRPr lang="en-US" sz="1200" dirty="0"/>
          </a:p>
        </p:txBody>
      </p:sp>
      <p:sp>
        <p:nvSpPr>
          <p:cNvPr id="21" name="Shape 18"/>
          <p:cNvSpPr/>
          <p:nvPr/>
        </p:nvSpPr>
        <p:spPr>
          <a:xfrm>
            <a:off x="6309360" y="5029200"/>
            <a:ext cx="2542032" cy="457200"/>
          </a:xfrm>
          <a:prstGeom prst="roundRect">
            <a:avLst>
              <a:gd name="adj" fmla="val 50000"/>
            </a:avLst>
          </a:prstGeom>
          <a:solidFill>
            <a:srgbClr val="FFFFFF">
              <a:alpha val="92000"/>
            </a:srgbClr>
          </a:solidFill>
          <a:ln/>
        </p:spPr>
        <p:txBody>
          <a:bodyPr/>
          <a:p/>
        </p:txBody>
      </p:sp>
      <p:sp>
        <p:nvSpPr>
          <p:cNvPr id="22" name="Shape 19"/>
          <p:cNvSpPr/>
          <p:nvPr/>
        </p:nvSpPr>
        <p:spPr>
          <a:xfrm>
            <a:off x="6510528" y="5166360"/>
            <a:ext cx="182880" cy="182880"/>
          </a:xfrm>
          <a:prstGeom prst="ellipse">
            <a:avLst/>
          </a:prstGeom>
          <a:solidFill>
            <a:srgbClr val="E0900C"/>
          </a:solidFill>
          <a:ln/>
        </p:spPr>
        <p:txBody>
          <a:bodyPr/>
          <a:p/>
        </p:txBody>
      </p:sp>
      <p:sp>
        <p:nvSpPr>
          <p:cNvPr id="23" name="Text 20"/>
          <p:cNvSpPr/>
          <p:nvPr/>
        </p:nvSpPr>
        <p:spPr>
          <a:xfrm>
            <a:off x="67665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19 Processes</a:t>
            </a:r>
            <a:endParaRPr lang="en-US" sz="1200" dirty="0"/>
          </a:p>
        </p:txBody>
      </p:sp>
      <p:sp>
        <p:nvSpPr>
          <p:cNvPr id="24" name="Shape 21"/>
          <p:cNvSpPr/>
          <p:nvPr/>
        </p:nvSpPr>
        <p:spPr>
          <a:xfrm>
            <a:off x="9052560" y="5029200"/>
            <a:ext cx="2542032" cy="457200"/>
          </a:xfrm>
          <a:prstGeom prst="roundRect">
            <a:avLst>
              <a:gd name="adj" fmla="val 50000"/>
            </a:avLst>
          </a:prstGeom>
          <a:solidFill>
            <a:srgbClr val="FFFFFF">
              <a:alpha val="92000"/>
            </a:srgbClr>
          </a:solidFill>
          <a:ln/>
        </p:spPr>
        <p:txBody>
          <a:bodyPr/>
          <a:p/>
        </p:txBody>
      </p:sp>
      <p:sp>
        <p:nvSpPr>
          <p:cNvPr id="25" name="Shape 22"/>
          <p:cNvSpPr/>
          <p:nvPr/>
        </p:nvSpPr>
        <p:spPr>
          <a:xfrm>
            <a:off x="9253728" y="5166360"/>
            <a:ext cx="182880" cy="182880"/>
          </a:xfrm>
          <a:prstGeom prst="ellipse">
            <a:avLst/>
          </a:prstGeom>
          <a:solidFill>
            <a:srgbClr val="0EA472"/>
          </a:solidFill>
          <a:ln/>
        </p:spPr>
        <p:txBody>
          <a:bodyPr/>
          <a:p/>
        </p:txBody>
      </p:sp>
      <p:sp>
        <p:nvSpPr>
          <p:cNvPr id="26" name="Text 23"/>
          <p:cNvSpPr/>
          <p:nvPr/>
        </p:nvSpPr>
        <p:spPr>
          <a:xfrm>
            <a:off x="9509760" y="5029200"/>
            <a:ext cx="2057400" cy="457200"/>
          </a:xfrm>
          <a:prstGeom prst="rect">
            <a:avLst/>
          </a:prstGeom>
          <a:noFill/>
          <a:ln/>
        </p:spPr>
        <p:txBody>
          <a:bodyPr wrap="square" lIns="0" tIns="0" rIns="0" bIns="0" rtlCol="0" anchor="ctr"/>
          <a:lstStyle/>
          <a:p>
            <a:pPr indent="0" marL="0">
              <a:buNone/>
            </a:pPr>
            <a:r>
              <a:rPr lang="en-US" sz="1200" b="1" dirty="0">
                <a:solidFill>
                  <a:srgbClr val="0B1E3B"/>
                </a:solidFill>
                <a:latin typeface="Calibri" pitchFamily="34" charset="0"/>
                <a:ea typeface="Calibri" pitchFamily="34" charset="-122"/>
                <a:cs typeface="Calibri" pitchFamily="34" charset="-120"/>
              </a:rPr>
              <a:t>20 Regions</a:t>
            </a:r>
            <a:endParaRPr lang="en-US" sz="1200" dirty="0"/>
          </a:p>
        </p:txBody>
      </p:sp>
      <p:sp>
        <p:nvSpPr>
          <p:cNvPr id="27" name="Text 24"/>
          <p:cNvSpPr/>
          <p:nvPr/>
        </p:nvSpPr>
        <p:spPr>
          <a:xfrm>
            <a:off x="859536" y="5989320"/>
            <a:ext cx="10789920" cy="365760"/>
          </a:xfrm>
          <a:prstGeom prst="rect">
            <a:avLst/>
          </a:prstGeom>
          <a:noFill/>
          <a:ln/>
        </p:spPr>
        <p:txBody>
          <a:bodyPr wrap="square" lIns="0" tIns="0" rIns="0" bIns="0" rtlCol="0" anchor="t"/>
          <a:lstStyle/>
          <a:p>
            <a:pPr indent="0" marL="0">
              <a:buNone/>
            </a:pPr>
            <a:r>
              <a:rPr lang="en-US" sz="1100" dirty="0">
                <a:solidFill>
                  <a:srgbClr val="8FA6C6"/>
                </a:solidFill>
                <a:latin typeface="Calibri" pitchFamily="34" charset="0"/>
                <a:ea typeface="Calibri" pitchFamily="34" charset="-122"/>
                <a:cs typeface="Calibri" pitchFamily="34" charset="-120"/>
              </a:rPr>
              <a:t>Executive briefing &amp; live demo   ·   September 2026   ·   Version V4.2   ·   AI switched off in the JLR build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AT A GLANCE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Executive summary — the whole platform on one page</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88900" dist="25400" dir="5400000">
              <a:srgbClr val="9DB0CC">
                <a:alpha val="22000"/>
              </a:srgbClr>
            </a:outerShdw>
          </a:effectLst>
        </p:spPr>
        <p:txBody>
          <a:bodyPr/>
          <a:p/>
        </p:txBody>
      </p:sp>
      <p:sp>
        <p:nvSpPr>
          <p:cNvPr id="11" name="Shape 9"/>
          <p:cNvSpPr/>
          <p:nvPr/>
        </p:nvSpPr>
        <p:spPr>
          <a:xfrm>
            <a:off x="548640" y="1600200"/>
            <a:ext cx="82296" cy="1371600"/>
          </a:xfrm>
          <a:prstGeom prst="rect">
            <a:avLst/>
          </a:prstGeom>
          <a:solidFill>
            <a:srgbClr val="2563EB"/>
          </a:solidFill>
          <a:ln/>
        </p:spPr>
        <p:txBody>
          <a:bodyPr/>
          <a:p/>
        </p:txBody>
      </p:sp>
      <p:sp>
        <p:nvSpPr>
          <p:cNvPr id="12" name="Text 10"/>
          <p:cNvSpPr/>
          <p:nvPr/>
        </p:nvSpPr>
        <p:spPr>
          <a:xfrm>
            <a:off x="731520" y="1755648"/>
            <a:ext cx="1783080" cy="502920"/>
          </a:xfrm>
          <a:prstGeom prst="rect">
            <a:avLst/>
          </a:prstGeom>
          <a:noFill/>
          <a:ln/>
        </p:spPr>
        <p:txBody>
          <a:bodyPr wrap="square" lIns="0" tIns="0" rIns="0" bIns="0" rtlCol="0" anchor="t"/>
          <a:lstStyle/>
          <a:p>
            <a:pPr indent="0" marL="0">
              <a:buNone/>
            </a:pPr>
            <a:r>
              <a:rPr lang="en-US" sz="2600" b="1" dirty="0">
                <a:solidFill>
                  <a:srgbClr val="2563EB"/>
                </a:solidFill>
                <a:latin typeface="Calibri" pitchFamily="34" charset="0"/>
                <a:ea typeface="Calibri" pitchFamily="34" charset="-122"/>
                <a:cs typeface="Calibri" pitchFamily="34" charset="-120"/>
              </a:rPr>
              <a:t>8</a:t>
            </a:r>
            <a:endParaRPr lang="en-US" sz="1800" dirty="0"/>
          </a:p>
        </p:txBody>
      </p:sp>
      <p:sp>
        <p:nvSpPr>
          <p:cNvPr id="13" name="Text 11"/>
          <p:cNvSpPr/>
          <p:nvPr/>
        </p:nvSpPr>
        <p:spPr>
          <a:xfrm>
            <a:off x="731520"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cost buckets, each traced to a rate</a:t>
            </a:r>
            <a:endParaRPr lang="en-US" sz="950" dirty="0"/>
          </a:p>
        </p:txBody>
      </p:sp>
      <p:sp>
        <p:nvSpPr>
          <p:cNvPr id="14" name="Shape 12"/>
          <p:cNvSpPr/>
          <p:nvPr/>
        </p:nvSpPr>
        <p:spPr>
          <a:xfrm>
            <a:off x="2724912"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129030000" dist="322580000" dir="324000000000">
              <a:srgbClr val="9DB0CC">
                <a:alpha val="2200000000"/>
              </a:srgbClr>
            </a:outerShdw>
          </a:effectLst>
        </p:spPr>
        <p:txBody>
          <a:bodyPr/>
          <a:p/>
        </p:txBody>
      </p:sp>
      <p:sp>
        <p:nvSpPr>
          <p:cNvPr id="15" name="Shape 13"/>
          <p:cNvSpPr/>
          <p:nvPr/>
        </p:nvSpPr>
        <p:spPr>
          <a:xfrm>
            <a:off x="2724912" y="1600200"/>
            <a:ext cx="82296" cy="1371600"/>
          </a:xfrm>
          <a:prstGeom prst="rect">
            <a:avLst/>
          </a:prstGeom>
          <a:solidFill>
            <a:srgbClr val="E0900C"/>
          </a:solidFill>
          <a:ln/>
        </p:spPr>
        <p:txBody>
          <a:bodyPr/>
          <a:p/>
        </p:txBody>
      </p:sp>
      <p:sp>
        <p:nvSpPr>
          <p:cNvPr id="16" name="Text 14"/>
          <p:cNvSpPr/>
          <p:nvPr/>
        </p:nvSpPr>
        <p:spPr>
          <a:xfrm>
            <a:off x="2907792" y="1755648"/>
            <a:ext cx="1783080" cy="502920"/>
          </a:xfrm>
          <a:prstGeom prst="rect">
            <a:avLst/>
          </a:prstGeom>
          <a:noFill/>
          <a:ln/>
        </p:spPr>
        <p:txBody>
          <a:bodyPr wrap="square" lIns="0" tIns="0" rIns="0" bIns="0" rtlCol="0" anchor="t"/>
          <a:lstStyle/>
          <a:p>
            <a:pPr indent="0" marL="0">
              <a:buNone/>
            </a:pPr>
            <a:r>
              <a:rPr lang="en-US" sz="2600" b="1" dirty="0">
                <a:solidFill>
                  <a:srgbClr val="E0900C"/>
                </a:solidFill>
                <a:latin typeface="Calibri" pitchFamily="34" charset="0"/>
                <a:ea typeface="Calibri" pitchFamily="34" charset="-122"/>
                <a:cs typeface="Calibri" pitchFamily="34" charset="-120"/>
              </a:rPr>
              <a:t>19</a:t>
            </a:r>
            <a:endParaRPr lang="en-US" sz="2600" dirty="0"/>
          </a:p>
        </p:txBody>
      </p:sp>
      <p:sp>
        <p:nvSpPr>
          <p:cNvPr id="17" name="Text 15"/>
          <p:cNvSpPr/>
          <p:nvPr/>
        </p:nvSpPr>
        <p:spPr>
          <a:xfrm>
            <a:off x="2907792"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manufacturing processes, plus assembly roll-up</a:t>
            </a:r>
            <a:endParaRPr lang="en-US" sz="950" dirty="0"/>
          </a:p>
        </p:txBody>
      </p:sp>
      <p:sp>
        <p:nvSpPr>
          <p:cNvPr id="18" name="Shape 16"/>
          <p:cNvSpPr/>
          <p:nvPr/>
        </p:nvSpPr>
        <p:spPr>
          <a:xfrm>
            <a:off x="4901184"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4338681000000" dist="4096766000000" dir="19440000000000000">
              <a:srgbClr val="9DB0CC">
                <a:alpha val="220000000000000"/>
              </a:srgbClr>
            </a:outerShdw>
          </a:effectLst>
        </p:spPr>
        <p:txBody>
          <a:bodyPr/>
          <a:p/>
        </p:txBody>
      </p:sp>
      <p:sp>
        <p:nvSpPr>
          <p:cNvPr id="19" name="Shape 17"/>
          <p:cNvSpPr/>
          <p:nvPr/>
        </p:nvSpPr>
        <p:spPr>
          <a:xfrm>
            <a:off x="4901184" y="1600200"/>
            <a:ext cx="82296" cy="1371600"/>
          </a:xfrm>
          <a:prstGeom prst="rect">
            <a:avLst/>
          </a:prstGeom>
          <a:solidFill>
            <a:srgbClr val="0DA5A0"/>
          </a:solidFill>
          <a:ln/>
        </p:spPr>
        <p:txBody>
          <a:bodyPr/>
          <a:p/>
        </p:txBody>
      </p:sp>
      <p:sp>
        <p:nvSpPr>
          <p:cNvPr id="20" name="Text 18"/>
          <p:cNvSpPr/>
          <p:nvPr/>
        </p:nvSpPr>
        <p:spPr>
          <a:xfrm>
            <a:off x="5084064" y="1755648"/>
            <a:ext cx="1783080" cy="502920"/>
          </a:xfrm>
          <a:prstGeom prst="rect">
            <a:avLst/>
          </a:prstGeom>
          <a:noFill/>
          <a:ln/>
        </p:spPr>
        <p:txBody>
          <a:bodyPr wrap="square" lIns="0" tIns="0" rIns="0" bIns="0" rtlCol="0" anchor="t"/>
          <a:lstStyle/>
          <a:p>
            <a:pPr indent="0" marL="0">
              <a:buNone/>
            </a:pPr>
            <a:r>
              <a:rPr lang="en-US" sz="2600" b="1" dirty="0">
                <a:solidFill>
                  <a:srgbClr val="0DA5A0"/>
                </a:solidFill>
                <a:latin typeface="Calibri" pitchFamily="34" charset="0"/>
                <a:ea typeface="Calibri" pitchFamily="34" charset="-122"/>
                <a:cs typeface="Calibri" pitchFamily="34" charset="-120"/>
              </a:rPr>
              <a:t>20</a:t>
            </a:r>
            <a:endParaRPr lang="en-US" sz="2600" dirty="0"/>
          </a:p>
        </p:txBody>
      </p:sp>
      <p:sp>
        <p:nvSpPr>
          <p:cNvPr id="21" name="Text 19"/>
          <p:cNvSpPr/>
          <p:nvPr/>
        </p:nvSpPr>
        <p:spPr>
          <a:xfrm>
            <a:off x="5084064"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manufacturing regions, real 2026 rates</a:t>
            </a:r>
            <a:endParaRPr lang="en-US" sz="950" dirty="0"/>
          </a:p>
        </p:txBody>
      </p:sp>
      <p:sp>
        <p:nvSpPr>
          <p:cNvPr id="22" name="Shape 20"/>
          <p:cNvSpPr/>
          <p:nvPr/>
        </p:nvSpPr>
        <p:spPr>
          <a:xfrm>
            <a:off x="7077456"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82101248700000000" dist="52028928200000000" dir="1.1664e+21">
              <a:srgbClr val="9DB0CC">
                <a:alpha val="22000000000000000000"/>
              </a:srgbClr>
            </a:outerShdw>
          </a:effectLst>
        </p:spPr>
        <p:txBody>
          <a:bodyPr/>
          <a:p/>
        </p:txBody>
      </p:sp>
      <p:sp>
        <p:nvSpPr>
          <p:cNvPr id="23" name="Shape 21"/>
          <p:cNvSpPr/>
          <p:nvPr/>
        </p:nvSpPr>
        <p:spPr>
          <a:xfrm>
            <a:off x="7077456" y="1600200"/>
            <a:ext cx="82296" cy="1371600"/>
          </a:xfrm>
          <a:prstGeom prst="rect">
            <a:avLst/>
          </a:prstGeom>
          <a:solidFill>
            <a:srgbClr val="0EA472"/>
          </a:solidFill>
          <a:ln/>
        </p:spPr>
        <p:txBody>
          <a:bodyPr/>
          <a:p/>
        </p:txBody>
      </p:sp>
      <p:sp>
        <p:nvSpPr>
          <p:cNvPr id="24" name="Text 22"/>
          <p:cNvSpPr/>
          <p:nvPr/>
        </p:nvSpPr>
        <p:spPr>
          <a:xfrm>
            <a:off x="7260336" y="1755648"/>
            <a:ext cx="1783080" cy="502920"/>
          </a:xfrm>
          <a:prstGeom prst="rect">
            <a:avLst/>
          </a:prstGeom>
          <a:noFill/>
          <a:ln/>
        </p:spPr>
        <p:txBody>
          <a:bodyPr wrap="square" lIns="0" tIns="0" rIns="0" bIns="0" rtlCol="0" anchor="t"/>
          <a:lstStyle/>
          <a:p>
            <a:pPr indent="0" marL="0">
              <a:buNone/>
            </a:pPr>
            <a:r>
              <a:rPr lang="en-US" sz="2600" b="1" dirty="0">
                <a:solidFill>
                  <a:srgbClr val="0EA472"/>
                </a:solidFill>
                <a:latin typeface="Calibri" pitchFamily="34" charset="0"/>
                <a:ea typeface="Calibri" pitchFamily="34" charset="-122"/>
                <a:cs typeface="Calibri" pitchFamily="34" charset="-120"/>
              </a:rPr>
              <a:t>13</a:t>
            </a:r>
            <a:endParaRPr lang="en-US" sz="2600" dirty="0"/>
          </a:p>
        </p:txBody>
      </p:sp>
      <p:sp>
        <p:nvSpPr>
          <p:cNvPr id="25" name="Text 23"/>
          <p:cNvSpPr/>
          <p:nvPr/>
        </p:nvSpPr>
        <p:spPr>
          <a:xfrm>
            <a:off x="7260336"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processes costed straight from CAD</a:t>
            </a:r>
            <a:endParaRPr lang="en-US" sz="950" dirty="0"/>
          </a:p>
        </p:txBody>
      </p:sp>
      <p:sp>
        <p:nvSpPr>
          <p:cNvPr id="26" name="Shape 24"/>
          <p:cNvSpPr/>
          <p:nvPr/>
        </p:nvSpPr>
        <p:spPr>
          <a:xfrm>
            <a:off x="9253728" y="1600200"/>
            <a:ext cx="2103120"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31268585849e+21" dist="660767388140000000000" dir="6.9984e+25">
              <a:srgbClr val="9DB0CC">
                <a:alpha val="2.2e+24"/>
              </a:srgbClr>
            </a:outerShdw>
          </a:effectLst>
        </p:spPr>
        <p:txBody>
          <a:bodyPr/>
          <a:p/>
        </p:txBody>
      </p:sp>
      <p:sp>
        <p:nvSpPr>
          <p:cNvPr id="27" name="Shape 25"/>
          <p:cNvSpPr/>
          <p:nvPr/>
        </p:nvSpPr>
        <p:spPr>
          <a:xfrm>
            <a:off x="9253728" y="1600200"/>
            <a:ext cx="82296" cy="1371600"/>
          </a:xfrm>
          <a:prstGeom prst="rect">
            <a:avLst/>
          </a:prstGeom>
          <a:solidFill>
            <a:srgbClr val="E5484D"/>
          </a:solidFill>
          <a:ln/>
        </p:spPr>
        <p:txBody>
          <a:bodyPr/>
          <a:p/>
        </p:txBody>
      </p:sp>
      <p:sp>
        <p:nvSpPr>
          <p:cNvPr id="28" name="Text 26"/>
          <p:cNvSpPr/>
          <p:nvPr/>
        </p:nvSpPr>
        <p:spPr>
          <a:xfrm>
            <a:off x="9436608" y="1755648"/>
            <a:ext cx="1783080" cy="502920"/>
          </a:xfrm>
          <a:prstGeom prst="rect">
            <a:avLst/>
          </a:prstGeom>
          <a:noFill/>
          <a:ln/>
        </p:spPr>
        <p:txBody>
          <a:bodyPr wrap="square" lIns="0" tIns="0" rIns="0" bIns="0" rtlCol="0" anchor="t"/>
          <a:lstStyle/>
          <a:p>
            <a:pPr indent="0" marL="0">
              <a:buNone/>
            </a:pPr>
            <a:r>
              <a:rPr lang="en-US" sz="2600" b="1" dirty="0">
                <a:solidFill>
                  <a:srgbClr val="E5484D"/>
                </a:solidFill>
                <a:latin typeface="Calibri" pitchFamily="34" charset="0"/>
                <a:ea typeface="Calibri" pitchFamily="34" charset="-122"/>
                <a:cs typeface="Calibri" pitchFamily="34" charset="-120"/>
              </a:rPr>
              <a:t>0</a:t>
            </a:r>
            <a:endParaRPr lang="en-US" sz="1800" dirty="0"/>
          </a:p>
        </p:txBody>
      </p:sp>
      <p:sp>
        <p:nvSpPr>
          <p:cNvPr id="29" name="Text 27"/>
          <p:cNvSpPr/>
          <p:nvPr/>
        </p:nvSpPr>
        <p:spPr>
          <a:xfrm>
            <a:off x="9436608" y="2286000"/>
            <a:ext cx="1783080" cy="594360"/>
          </a:xfrm>
          <a:prstGeom prst="rect">
            <a:avLst/>
          </a:prstGeom>
          <a:noFill/>
          <a:ln/>
        </p:spPr>
        <p:txBody>
          <a:bodyPr wrap="square" lIns="0" tIns="0" rIns="0" bIns="0" rtlCol="0" anchor="t"/>
          <a:lstStyle/>
          <a:p>
            <a:pPr indent="0" marL="0">
              <a:lnSpc>
                <a:spcPct val="105000"/>
              </a:lnSpc>
              <a:buNone/>
            </a:pPr>
            <a:r>
              <a:rPr lang="en-US" sz="950" dirty="0">
                <a:solidFill>
                  <a:srgbClr val="8A97A8"/>
                </a:solidFill>
                <a:latin typeface="Calibri" pitchFamily="34" charset="0"/>
                <a:ea typeface="Calibri" pitchFamily="34" charset="-122"/>
                <a:cs typeface="Calibri" pitchFamily="34" charset="-120"/>
              </a:rPr>
              <a:t>JLR-paid prices compared so far</a:t>
            </a:r>
            <a:endParaRPr lang="en-US" sz="950" dirty="0"/>
          </a:p>
        </p:txBody>
      </p:sp>
      <p:sp>
        <p:nvSpPr>
          <p:cNvPr id="30" name="Shape 28"/>
          <p:cNvSpPr/>
          <p:nvPr/>
        </p:nvSpPr>
        <p:spPr>
          <a:xfrm>
            <a:off x="548640" y="3200400"/>
            <a:ext cx="11091672" cy="868680"/>
          </a:xfrm>
          <a:prstGeom prst="roundRect">
            <a:avLst>
              <a:gd name="adj" fmla="val 7368"/>
            </a:avLst>
          </a:prstGeom>
          <a:solidFill>
            <a:srgbClr val="EAF1FE"/>
          </a:solidFill>
          <a:ln w="12700">
            <a:solidFill>
              <a:srgbClr val="E4EAF2"/>
            </a:solidFill>
            <a:prstDash val="solid"/>
          </a:ln>
        </p:spPr>
        <p:txBody>
          <a:bodyPr/>
          <a:p/>
        </p:txBody>
      </p:sp>
      <p:sp>
        <p:nvSpPr>
          <p:cNvPr id="31" name="Shape 29"/>
          <p:cNvSpPr/>
          <p:nvPr/>
        </p:nvSpPr>
        <p:spPr>
          <a:xfrm>
            <a:off x="548640" y="3200400"/>
            <a:ext cx="82296" cy="868680"/>
          </a:xfrm>
          <a:prstGeom prst="rect">
            <a:avLst/>
          </a:prstGeom>
          <a:solidFill>
            <a:srgbClr val="4F46E5"/>
          </a:solidFill>
          <a:ln/>
        </p:spPr>
        <p:txBody>
          <a:bodyPr/>
          <a:p/>
        </p:txBody>
      </p:sp>
      <p:sp>
        <p:nvSpPr>
          <p:cNvPr id="32" name="Text 30"/>
          <p:cNvSpPr/>
          <p:nvPr/>
        </p:nvSpPr>
        <p:spPr>
          <a:xfrm>
            <a:off x="914400" y="3337560"/>
            <a:ext cx="10378440" cy="640080"/>
          </a:xfrm>
          <a:prstGeom prst="rect">
            <a:avLst/>
          </a:prstGeom>
          <a:noFill/>
          <a:ln/>
        </p:spPr>
        <p:txBody>
          <a:bodyPr wrap="square" lIns="0" tIns="0" rIns="0" bIns="0" rtlCol="0" anchor="t"/>
          <a:lstStyle/>
          <a:p>
            <a:pPr indent="0" marL="0">
              <a:lnSpc>
                <a:spcPct val="120000"/>
              </a:lnSpc>
              <a:buNone/>
            </a:pPr>
            <a:r>
              <a:rPr lang="en-US" sz="1250" b="1" dirty="0">
                <a:solidFill>
                  <a:srgbClr val="0F1E3D"/>
                </a:solidFill>
                <a:latin typeface="Calibri" pitchFamily="34" charset="0"/>
                <a:ea typeface="Calibri" pitchFamily="34" charset="-122"/>
                <a:cs typeface="Calibri" pitchFamily="34" charset="-120"/>
              </a:rPr>
              <a:t>What it is:  </a:t>
            </a:r>
            <a:pPr indent="0" marL="0">
              <a:lnSpc>
                <a:spcPct val="120000"/>
              </a:lnSpc>
              <a:buNone/>
            </a:pPr>
            <a:r>
              <a:rPr lang="en-US" sz="1250" dirty="0">
                <a:solidFill>
                  <a:srgbClr val="3E4C63"/>
                </a:solidFill>
                <a:latin typeface="Calibri" pitchFamily="34" charset="0"/>
                <a:ea typeface="Calibri" pitchFamily="34" charset="-122"/>
                <a:cs typeface="Calibri" pitchFamily="34" charset="-120"/>
              </a:rPr>
              <a:t>one tool that turns a CAD file or typed inputs into a traceable should-cost, prices it across 20 regions, and builds the negotiation pack. The tool measures, calculates and asks. It never guesses a price — and AI is switched off at JLR.</a:t>
            </a:r>
            <a:endParaRPr lang="en-US" sz="1250" dirty="0"/>
          </a:p>
        </p:txBody>
      </p:sp>
      <p:sp>
        <p:nvSpPr>
          <p:cNvPr id="33" name="Shape 31"/>
          <p:cNvSpPr/>
          <p:nvPr/>
        </p:nvSpPr>
        <p:spPr>
          <a:xfrm>
            <a:off x="548640"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2.9371110402823e+25" dist="8.391745829378e+24" dir="4.19904e+30">
              <a:srgbClr val="9DB0CC">
                <a:alpha val="2.2e+29"/>
              </a:srgbClr>
            </a:outerShdw>
          </a:effectLst>
        </p:spPr>
        <p:txBody>
          <a:bodyPr/>
          <a:p/>
        </p:txBody>
      </p:sp>
      <p:sp>
        <p:nvSpPr>
          <p:cNvPr id="34" name="Shape 32"/>
          <p:cNvSpPr/>
          <p:nvPr/>
        </p:nvSpPr>
        <p:spPr>
          <a:xfrm>
            <a:off x="548640" y="4297680"/>
            <a:ext cx="82296" cy="1280160"/>
          </a:xfrm>
          <a:prstGeom prst="rect">
            <a:avLst/>
          </a:prstGeom>
          <a:solidFill>
            <a:srgbClr val="2563EB"/>
          </a:solidFill>
          <a:ln/>
        </p:spPr>
        <p:txBody>
          <a:bodyPr/>
          <a:p/>
        </p:txBody>
      </p:sp>
      <p:sp>
        <p:nvSpPr>
          <p:cNvPr id="35" name="Text 33"/>
          <p:cNvSpPr/>
          <p:nvPr/>
        </p:nvSpPr>
        <p:spPr>
          <a:xfrm>
            <a:off x="768096" y="4462272"/>
            <a:ext cx="2377440" cy="320040"/>
          </a:xfrm>
          <a:prstGeom prst="rect">
            <a:avLst/>
          </a:prstGeom>
          <a:noFill/>
          <a:ln/>
        </p:spPr>
        <p:txBody>
          <a:bodyPr wrap="square" lIns="0" tIns="0" rIns="0" bIns="0" rtlCol="0" anchor="t"/>
          <a:lstStyle/>
          <a:p>
            <a:pPr indent="0" marL="0">
              <a:buNone/>
            </a:pPr>
            <a:r>
              <a:rPr lang="en-US" sz="1300" b="1" spc="50" kern="0" dirty="0">
                <a:solidFill>
                  <a:srgbClr val="2563EB"/>
                </a:solidFill>
                <a:latin typeface="Calibri" pitchFamily="34" charset="0"/>
                <a:ea typeface="Calibri" pitchFamily="34" charset="-122"/>
                <a:cs typeface="Calibri" pitchFamily="34" charset="-120"/>
              </a:rPr>
              <a:t>ESTIMATE</a:t>
            </a:r>
            <a:endParaRPr lang="en-US" sz="1300" dirty="0"/>
          </a:p>
        </p:txBody>
      </p:sp>
      <p:sp>
        <p:nvSpPr>
          <p:cNvPr id="36" name="Text 34"/>
          <p:cNvSpPr/>
          <p:nvPr/>
        </p:nvSpPr>
        <p:spPr>
          <a:xfrm>
            <a:off x="768096"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CAD · PCB · 19 processes</a:t>
            </a:r>
            <a:endParaRPr lang="en-US" sz="1050" dirty="0"/>
          </a:p>
        </p:txBody>
      </p:sp>
      <p:sp>
        <p:nvSpPr>
          <p:cNvPr id="37" name="Shape 35"/>
          <p:cNvSpPr/>
          <p:nvPr/>
        </p:nvSpPr>
        <p:spPr>
          <a:xfrm>
            <a:off x="3319272"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3.730131021158521e+29" dist="1.0657517203310059e+29" dir="2.519424e+35">
              <a:srgbClr val="9DB0CC">
                <a:alpha val="2.2e+34"/>
              </a:srgbClr>
            </a:outerShdw>
          </a:effectLst>
        </p:spPr>
        <p:txBody>
          <a:bodyPr/>
          <a:p/>
        </p:txBody>
      </p:sp>
      <p:sp>
        <p:nvSpPr>
          <p:cNvPr id="38" name="Shape 36"/>
          <p:cNvSpPr/>
          <p:nvPr/>
        </p:nvSpPr>
        <p:spPr>
          <a:xfrm>
            <a:off x="3319272" y="4297680"/>
            <a:ext cx="82296" cy="1280160"/>
          </a:xfrm>
          <a:prstGeom prst="rect">
            <a:avLst/>
          </a:prstGeom>
          <a:solidFill>
            <a:srgbClr val="7C3AED"/>
          </a:solidFill>
          <a:ln/>
        </p:spPr>
        <p:txBody>
          <a:bodyPr/>
          <a:p/>
        </p:txBody>
      </p:sp>
      <p:sp>
        <p:nvSpPr>
          <p:cNvPr id="39" name="Text 37"/>
          <p:cNvSpPr/>
          <p:nvPr/>
        </p:nvSpPr>
        <p:spPr>
          <a:xfrm>
            <a:off x="3538728" y="4462272"/>
            <a:ext cx="2377440" cy="320040"/>
          </a:xfrm>
          <a:prstGeom prst="rect">
            <a:avLst/>
          </a:prstGeom>
          <a:noFill/>
          <a:ln/>
        </p:spPr>
        <p:txBody>
          <a:bodyPr wrap="square" lIns="0" tIns="0" rIns="0" bIns="0" rtlCol="0" anchor="t"/>
          <a:lstStyle/>
          <a:p>
            <a:pPr indent="0" marL="0">
              <a:buNone/>
            </a:pPr>
            <a:r>
              <a:rPr lang="en-US" sz="1300" b="1" spc="50" kern="0" dirty="0">
                <a:solidFill>
                  <a:srgbClr val="7C3AED"/>
                </a:solidFill>
                <a:latin typeface="Calibri" pitchFamily="34" charset="0"/>
                <a:ea typeface="Calibri" pitchFamily="34" charset="-122"/>
                <a:cs typeface="Calibri" pitchFamily="34" charset="-120"/>
              </a:rPr>
              <a:t>UNDERSTAND</a:t>
            </a:r>
            <a:endParaRPr lang="en-US" sz="1300" dirty="0"/>
          </a:p>
        </p:txBody>
      </p:sp>
      <p:sp>
        <p:nvSpPr>
          <p:cNvPr id="40" name="Text 38"/>
          <p:cNvSpPr/>
          <p:nvPr/>
        </p:nvSpPr>
        <p:spPr>
          <a:xfrm>
            <a:off x="3538728"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3D viewer · features · self-audit</a:t>
            </a:r>
            <a:endParaRPr lang="en-US" sz="1050" dirty="0"/>
          </a:p>
        </p:txBody>
      </p:sp>
      <p:sp>
        <p:nvSpPr>
          <p:cNvPr id="41" name="Shape 39"/>
          <p:cNvSpPr/>
          <p:nvPr/>
        </p:nvSpPr>
        <p:spPr>
          <a:xfrm>
            <a:off x="6089904"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4.737266396871321e+33" dist="1.3535046848203775e+33" dir="1.5116544e+40">
              <a:srgbClr val="9DB0CC">
                <a:alpha val="2.2e+39"/>
              </a:srgbClr>
            </a:outerShdw>
          </a:effectLst>
        </p:spPr>
        <p:txBody>
          <a:bodyPr/>
          <a:p/>
        </p:txBody>
      </p:sp>
      <p:sp>
        <p:nvSpPr>
          <p:cNvPr id="42" name="Shape 40"/>
          <p:cNvSpPr/>
          <p:nvPr/>
        </p:nvSpPr>
        <p:spPr>
          <a:xfrm>
            <a:off x="6089904" y="4297680"/>
            <a:ext cx="82296" cy="1280160"/>
          </a:xfrm>
          <a:prstGeom prst="rect">
            <a:avLst/>
          </a:prstGeom>
          <a:solidFill>
            <a:srgbClr val="0DA5A0"/>
          </a:solidFill>
          <a:ln/>
        </p:spPr>
        <p:txBody>
          <a:bodyPr/>
          <a:p/>
        </p:txBody>
      </p:sp>
      <p:sp>
        <p:nvSpPr>
          <p:cNvPr id="43" name="Text 41"/>
          <p:cNvSpPr/>
          <p:nvPr/>
        </p:nvSpPr>
        <p:spPr>
          <a:xfrm>
            <a:off x="6309360" y="4462272"/>
            <a:ext cx="2377440" cy="320040"/>
          </a:xfrm>
          <a:prstGeom prst="rect">
            <a:avLst/>
          </a:prstGeom>
          <a:noFill/>
          <a:ln/>
        </p:spPr>
        <p:txBody>
          <a:bodyPr wrap="square" lIns="0" tIns="0" rIns="0" bIns="0" rtlCol="0" anchor="t"/>
          <a:lstStyle/>
          <a:p>
            <a:pPr indent="0" marL="0">
              <a:buNone/>
            </a:pPr>
            <a:r>
              <a:rPr lang="en-US" sz="1300" b="1" spc="50" kern="0" dirty="0">
                <a:solidFill>
                  <a:srgbClr val="0DA5A0"/>
                </a:solidFill>
                <a:latin typeface="Calibri" pitchFamily="34" charset="0"/>
                <a:ea typeface="Calibri" pitchFamily="34" charset="-122"/>
                <a:cs typeface="Calibri" pitchFamily="34" charset="-120"/>
              </a:rPr>
              <a:t>NEGOTIATE</a:t>
            </a:r>
            <a:endParaRPr lang="en-US" sz="1300" dirty="0"/>
          </a:p>
        </p:txBody>
      </p:sp>
      <p:sp>
        <p:nvSpPr>
          <p:cNvPr id="44" name="Text 42"/>
          <p:cNvSpPr/>
          <p:nvPr/>
        </p:nvSpPr>
        <p:spPr>
          <a:xfrm>
            <a:off x="6309360"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quote teardown · 20 regions</a:t>
            </a:r>
            <a:endParaRPr lang="en-US" sz="1050" dirty="0"/>
          </a:p>
        </p:txBody>
      </p:sp>
      <p:sp>
        <p:nvSpPr>
          <p:cNvPr id="45" name="Shape 43"/>
          <p:cNvSpPr/>
          <p:nvPr/>
        </p:nvSpPr>
        <p:spPr>
          <a:xfrm>
            <a:off x="8860536" y="4297680"/>
            <a:ext cx="2724912" cy="1280160"/>
          </a:xfrm>
          <a:prstGeom prst="roundRect">
            <a:avLst>
              <a:gd name="adj" fmla="val 5000"/>
            </a:avLst>
          </a:prstGeom>
          <a:solidFill>
            <a:srgbClr val="FFFFFF"/>
          </a:solidFill>
          <a:ln w="12700">
            <a:solidFill>
              <a:srgbClr val="E4EAF2"/>
            </a:solidFill>
            <a:prstDash val="solid"/>
          </a:ln>
          <a:effectLst>
            <a:outerShdw sx="100000" sy="100000" kx="0" ky="0" algn="bl" rotWithShape="0" blurRad="6.016328324026578e+37" dist="1.7189509497218795e+37" dir="9.069926400000001e+44">
              <a:srgbClr val="9DB0CC">
                <a:alpha val="2.2e+44"/>
              </a:srgbClr>
            </a:outerShdw>
          </a:effectLst>
        </p:spPr>
        <p:txBody>
          <a:bodyPr/>
          <a:p/>
        </p:txBody>
      </p:sp>
      <p:sp>
        <p:nvSpPr>
          <p:cNvPr id="46" name="Shape 44"/>
          <p:cNvSpPr/>
          <p:nvPr/>
        </p:nvSpPr>
        <p:spPr>
          <a:xfrm>
            <a:off x="8860536" y="4297680"/>
            <a:ext cx="82296" cy="1280160"/>
          </a:xfrm>
          <a:prstGeom prst="rect">
            <a:avLst/>
          </a:prstGeom>
          <a:solidFill>
            <a:srgbClr val="0EA472"/>
          </a:solidFill>
          <a:ln/>
        </p:spPr>
        <p:txBody>
          <a:bodyPr/>
          <a:p/>
        </p:txBody>
      </p:sp>
      <p:sp>
        <p:nvSpPr>
          <p:cNvPr id="47" name="Text 45"/>
          <p:cNvSpPr/>
          <p:nvPr/>
        </p:nvSpPr>
        <p:spPr>
          <a:xfrm>
            <a:off x="9079992" y="4462272"/>
            <a:ext cx="2377440" cy="320040"/>
          </a:xfrm>
          <a:prstGeom prst="rect">
            <a:avLst/>
          </a:prstGeom>
          <a:noFill/>
          <a:ln/>
        </p:spPr>
        <p:txBody>
          <a:bodyPr wrap="square" lIns="0" tIns="0" rIns="0" bIns="0" rtlCol="0" anchor="t"/>
          <a:lstStyle/>
          <a:p>
            <a:pPr indent="0" marL="0">
              <a:buNone/>
            </a:pPr>
            <a:r>
              <a:rPr lang="en-US" sz="1300" b="1" spc="50" kern="0" dirty="0">
                <a:solidFill>
                  <a:srgbClr val="0EA472"/>
                </a:solidFill>
                <a:latin typeface="Calibri" pitchFamily="34" charset="0"/>
                <a:ea typeface="Calibri" pitchFamily="34" charset="-122"/>
                <a:cs typeface="Calibri" pitchFamily="34" charset="-120"/>
              </a:rPr>
              <a:t>LEARN &amp; GOVERN</a:t>
            </a:r>
            <a:endParaRPr lang="en-US" sz="1300" dirty="0"/>
          </a:p>
        </p:txBody>
      </p:sp>
      <p:sp>
        <p:nvSpPr>
          <p:cNvPr id="48" name="Text 46"/>
          <p:cNvSpPr/>
          <p:nvPr/>
        </p:nvSpPr>
        <p:spPr>
          <a:xfrm>
            <a:off x="9079992" y="4828032"/>
            <a:ext cx="2377440" cy="640080"/>
          </a:xfrm>
          <a:prstGeom prst="rect">
            <a:avLst/>
          </a:prstGeom>
          <a:noFill/>
          <a:ln/>
        </p:spPr>
        <p:txBody>
          <a:bodyPr wrap="square" lIns="0" tIns="0" rIns="0" bIns="0" rtlCol="0" anchor="t"/>
          <a:lstStyle/>
          <a:p>
            <a:pPr indent="0" marL="0">
              <a:lnSpc>
                <a:spcPct val="110000"/>
              </a:lnSpc>
              <a:buNone/>
            </a:pPr>
            <a:r>
              <a:rPr lang="en-US" sz="1050" dirty="0">
                <a:solidFill>
                  <a:srgbClr val="3E4C63"/>
                </a:solidFill>
                <a:latin typeface="Calibri" pitchFamily="34" charset="0"/>
                <a:ea typeface="Calibri" pitchFamily="34" charset="-122"/>
                <a:cs typeface="Calibri" pitchFamily="34" charset="-120"/>
              </a:rPr>
              <a:t>log actuals · audit trail · offline</a:t>
            </a:r>
            <a:endParaRPr lang="en-US" sz="1050" dirty="0"/>
          </a:p>
        </p:txBody>
      </p:sp>
      <p:sp>
        <p:nvSpPr>
          <p:cNvPr id="49" name="Shape 47"/>
          <p:cNvSpPr/>
          <p:nvPr/>
        </p:nvSpPr>
        <p:spPr>
          <a:xfrm>
            <a:off x="548640" y="5715000"/>
            <a:ext cx="11091672" cy="457200"/>
          </a:xfrm>
          <a:prstGeom prst="roundRect">
            <a:avLst>
              <a:gd name="adj" fmla="val 14000"/>
            </a:avLst>
          </a:prstGeom>
          <a:solidFill>
            <a:srgbClr val="E7F7F0"/>
          </a:solidFill>
          <a:ln w="12700">
            <a:solidFill>
              <a:srgbClr val="E4EAF2"/>
            </a:solidFill>
            <a:prstDash val="solid"/>
          </a:ln>
        </p:spPr>
        <p:txBody>
          <a:bodyPr/>
          <a:p/>
        </p:txBody>
      </p:sp>
      <p:sp>
        <p:nvSpPr>
          <p:cNvPr id="50" name="Text 48"/>
          <p:cNvSpPr/>
          <p:nvPr/>
        </p:nvSpPr>
        <p:spPr>
          <a:xfrm>
            <a:off x="914400" y="5715000"/>
            <a:ext cx="10332720" cy="457200"/>
          </a:xfrm>
          <a:prstGeom prst="rect">
            <a:avLst/>
          </a:prstGeom>
          <a:noFill/>
          <a:ln/>
        </p:spPr>
        <p:txBody>
          <a:bodyPr wrap="square" lIns="0" tIns="0" rIns="0" bIns="0" rtlCol="0" anchor="ctr"/>
          <a:lstStyle/>
          <a:p>
            <a:pPr indent="0" marL="0">
              <a:buNone/>
            </a:pPr>
            <a:r>
              <a:rPr lang="en-US" sz="1150" b="1" dirty="0">
                <a:solidFill>
                  <a:srgbClr val="0F1E3D"/>
                </a:solidFill>
                <a:latin typeface="Calibri" pitchFamily="34" charset="0"/>
                <a:ea typeface="Calibri" pitchFamily="34" charset="-122"/>
                <a:cs typeface="Calibri" pitchFamily="34" charset="-120"/>
              </a:rPr>
              <a:t>Bottom line:  </a:t>
            </a:r>
            <a:pPr indent="0" marL="0">
              <a:buNone/>
            </a:pPr>
            <a:r>
              <a:rPr lang="en-US" sz="1150" dirty="0">
                <a:solidFill>
                  <a:srgbClr val="3E4C63"/>
                </a:solidFill>
                <a:latin typeface="Calibri" pitchFamily="34" charset="0"/>
                <a:ea typeface="Calibri" pitchFamily="34" charset="-122"/>
                <a:cs typeface="Calibri" pitchFamily="34" charset="-120"/>
              </a:rPr>
              <a:t>one consistent, traceable number on our own rates. The arithmetic is proven; accuracy against prices JLR paid is still to be measured.</a:t>
            </a:r>
            <a:endParaRPr lang="en-US" sz="1150" dirty="0"/>
          </a:p>
        </p:txBody>
      </p:sp>
      <p:sp>
        <p:nvSpPr>
          <p:cNvPr id="51" name="Shape 49"/>
          <p:cNvSpPr/>
          <p:nvPr/>
        </p:nvSpPr>
        <p:spPr>
          <a:xfrm>
            <a:off x="548640" y="6400800"/>
            <a:ext cx="11094415" cy="12802"/>
          </a:xfrm>
          <a:prstGeom prst="rect">
            <a:avLst/>
          </a:prstGeom>
          <a:solidFill>
            <a:srgbClr val="E4EAF2"/>
          </a:solidFill>
          <a:ln/>
        </p:spPr>
        <p:txBody>
          <a:bodyPr/>
          <a:p/>
        </p:txBody>
      </p:sp>
      <p:sp>
        <p:nvSpPr>
          <p:cNvPr id="52" name="Text 5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3" name="Text 5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 / 33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ORIENTATION</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Background &amp; agenda</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00200"/>
            <a:ext cx="11091672" cy="1234440"/>
          </a:xfrm>
          <a:prstGeom prst="roundRect">
            <a:avLst>
              <a:gd name="adj" fmla="val 5185"/>
            </a:avLst>
          </a:prstGeom>
          <a:solidFill>
            <a:srgbClr val="EAF1FE"/>
          </a:solidFill>
          <a:ln w="12700">
            <a:solidFill>
              <a:srgbClr val="E4EAF2"/>
            </a:solidFill>
            <a:prstDash val="solid"/>
          </a:ln>
        </p:spPr>
        <p:txBody>
          <a:bodyPr/>
          <a:p/>
        </p:txBody>
      </p:sp>
      <p:sp>
        <p:nvSpPr>
          <p:cNvPr id="11" name="Shape 9"/>
          <p:cNvSpPr/>
          <p:nvPr/>
        </p:nvSpPr>
        <p:spPr>
          <a:xfrm>
            <a:off x="548640" y="1600200"/>
            <a:ext cx="82296" cy="1234440"/>
          </a:xfrm>
          <a:prstGeom prst="rect">
            <a:avLst/>
          </a:prstGeom>
          <a:solidFill>
            <a:srgbClr val="4F46E5"/>
          </a:solidFill>
          <a:ln/>
        </p:spPr>
        <p:txBody>
          <a:bodyPr/>
          <a:p/>
        </p:txBody>
      </p:sp>
      <p:sp>
        <p:nvSpPr>
          <p:cNvPr id="12" name="Text 10"/>
          <p:cNvSpPr/>
          <p:nvPr/>
        </p:nvSpPr>
        <p:spPr>
          <a:xfrm>
            <a:off x="914400" y="1755648"/>
            <a:ext cx="10378440" cy="960120"/>
          </a:xfrm>
          <a:prstGeom prst="rect">
            <a:avLst/>
          </a:prstGeom>
          <a:noFill/>
          <a:ln/>
        </p:spPr>
        <p:txBody>
          <a:bodyPr wrap="square" lIns="0" tIns="0" rIns="0" bIns="0" rtlCol="0" anchor="t"/>
          <a:lstStyle/>
          <a:p>
            <a:pPr indent="0" marL="0">
              <a:lnSpc>
                <a:spcPct val="116000"/>
              </a:lnSpc>
              <a:buNone/>
            </a:pPr>
            <a:r>
              <a:rPr lang="en-US" sz="1200" b="1" dirty="0">
                <a:solidFill>
                  <a:srgbClr val="0F1E3D"/>
                </a:solidFill>
                <a:latin typeface="Calibri" pitchFamily="34" charset="0"/>
                <a:ea typeface="Calibri" pitchFamily="34" charset="-122"/>
                <a:cs typeface="Calibri" pitchFamily="34" charset="-120"/>
              </a:rPr>
              <a:t>The picture:  </a:t>
            </a:r>
            <a:pPr indent="0" marL="0">
              <a:lnSpc>
                <a:spcPct val="116000"/>
              </a:lnSpc>
              <a:buNone/>
            </a:pPr>
            <a:r>
              <a:rPr lang="en-US" sz="1200" dirty="0">
                <a:solidFill>
                  <a:srgbClr val="3E4C63"/>
                </a:solidFill>
                <a:latin typeface="Calibri" pitchFamily="34" charset="0"/>
                <a:ea typeface="Calibri" pitchFamily="34" charset="-122"/>
                <a:cs typeface="Calibri" pitchFamily="34" charset="-120"/>
              </a:rPr>
              <a:t>we already do careful, bottom-up should-costing. Much of it is manual: every input is keyed in by hand from the CAD and drawings. CostVision keeps the same method. It measures the CAD, asks the engineer what the geometry cannot tell it, and runs every part on one versioned rate library. Same defensible number, with less keying.</a:t>
            </a:r>
            <a:endParaRPr lang="en-US" sz="1200" dirty="0"/>
          </a:p>
        </p:txBody>
      </p:sp>
      <p:sp>
        <p:nvSpPr>
          <p:cNvPr id="13" name="Shape 11"/>
          <p:cNvSpPr/>
          <p:nvPr/>
        </p:nvSpPr>
        <p:spPr>
          <a:xfrm>
            <a:off x="548640" y="3063240"/>
            <a:ext cx="5394960" cy="566928"/>
          </a:xfrm>
          <a:prstGeom prst="roundRect">
            <a:avLst>
              <a:gd name="adj" fmla="val 9677"/>
            </a:avLst>
          </a:prstGeom>
          <a:solidFill>
            <a:srgbClr val="F4F7FB"/>
          </a:solidFill>
          <a:ln w="12700">
            <a:solidFill>
              <a:srgbClr val="E4EAF2"/>
            </a:solidFill>
            <a:prstDash val="solid"/>
          </a:ln>
        </p:spPr>
        <p:txBody>
          <a:bodyPr/>
          <a:p/>
        </p:txBody>
      </p:sp>
      <p:sp>
        <p:nvSpPr>
          <p:cNvPr id="14" name="Shape 12"/>
          <p:cNvSpPr/>
          <p:nvPr/>
        </p:nvSpPr>
        <p:spPr>
          <a:xfrm>
            <a:off x="713232" y="3191256"/>
            <a:ext cx="310896" cy="310896"/>
          </a:xfrm>
          <a:prstGeom prst="ellipse">
            <a:avLst/>
          </a:prstGeom>
          <a:solidFill>
            <a:srgbClr val="2563EB"/>
          </a:solidFill>
          <a:ln/>
          <a:effectLst>
            <a:outerShdw sx="100000" sy="100000" kx="0" ky="0" algn="bl" rotWithShape="0" blurRad="63500" dist="19050" dir="5400000">
              <a:srgbClr val="A7B6CE">
                <a:alpha val="18000"/>
              </a:srgbClr>
            </a:outerShdw>
          </a:effectLst>
        </p:spPr>
        <p:txBody>
          <a:bodyPr/>
          <a:p/>
        </p:txBody>
      </p:sp>
      <p:sp>
        <p:nvSpPr>
          <p:cNvPr id="15" name="Text 13"/>
          <p:cNvSpPr/>
          <p:nvPr/>
        </p:nvSpPr>
        <p:spPr>
          <a:xfrm>
            <a:off x="713232" y="3191256"/>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1</a:t>
            </a:r>
            <a:endParaRPr lang="en-US" sz="1156" dirty="0"/>
          </a:p>
        </p:txBody>
      </p:sp>
      <p:sp>
        <p:nvSpPr>
          <p:cNvPr id="16" name="Text 14"/>
          <p:cNvSpPr/>
          <p:nvPr/>
        </p:nvSpPr>
        <p:spPr>
          <a:xfrm>
            <a:off x="1152144" y="3063240"/>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From manual should-costing to measured</a:t>
            </a:r>
            <a:endParaRPr lang="en-US" sz="1250" dirty="0"/>
          </a:p>
        </p:txBody>
      </p:sp>
      <p:sp>
        <p:nvSpPr>
          <p:cNvPr id="17" name="Shape 15"/>
          <p:cNvSpPr/>
          <p:nvPr/>
        </p:nvSpPr>
        <p:spPr>
          <a:xfrm>
            <a:off x="6245352" y="3063240"/>
            <a:ext cx="5394960" cy="566928"/>
          </a:xfrm>
          <a:prstGeom prst="roundRect">
            <a:avLst>
              <a:gd name="adj" fmla="val 9677"/>
            </a:avLst>
          </a:prstGeom>
          <a:solidFill>
            <a:srgbClr val="FFFFFF"/>
          </a:solidFill>
          <a:ln w="12700">
            <a:solidFill>
              <a:srgbClr val="E4EAF2"/>
            </a:solidFill>
            <a:prstDash val="solid"/>
          </a:ln>
        </p:spPr>
        <p:txBody>
          <a:bodyPr/>
          <a:p/>
        </p:txBody>
      </p:sp>
      <p:sp>
        <p:nvSpPr>
          <p:cNvPr id="18" name="Shape 16"/>
          <p:cNvSpPr/>
          <p:nvPr/>
        </p:nvSpPr>
        <p:spPr>
          <a:xfrm>
            <a:off x="6409944" y="3191256"/>
            <a:ext cx="310896" cy="310896"/>
          </a:xfrm>
          <a:prstGeom prst="ellipse">
            <a:avLst/>
          </a:prstGeom>
          <a:solidFill>
            <a:srgbClr val="2563EB"/>
          </a:solidFill>
          <a:ln/>
          <a:effectLst>
            <a:outerShdw sx="100000" sy="100000" kx="0" ky="0" algn="bl" rotWithShape="0" blurRad="806450000" dist="241935000" dir="324000000000">
              <a:srgbClr val="A7B6CE">
                <a:alpha val="1800000000"/>
              </a:srgbClr>
            </a:outerShdw>
          </a:effectLst>
        </p:spPr>
        <p:txBody>
          <a:bodyPr/>
          <a:p/>
        </p:txBody>
      </p:sp>
      <p:sp>
        <p:nvSpPr>
          <p:cNvPr id="19" name="Text 17"/>
          <p:cNvSpPr/>
          <p:nvPr/>
        </p:nvSpPr>
        <p:spPr>
          <a:xfrm>
            <a:off x="6409944" y="3191256"/>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2</a:t>
            </a:r>
            <a:endParaRPr lang="en-US" sz="1156" dirty="0"/>
          </a:p>
        </p:txBody>
      </p:sp>
      <p:sp>
        <p:nvSpPr>
          <p:cNvPr id="20" name="Text 18"/>
          <p:cNvSpPr/>
          <p:nvPr/>
        </p:nvSpPr>
        <p:spPr>
          <a:xfrm>
            <a:off x="6848856" y="3063240"/>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The platform at a glance</a:t>
            </a:r>
            <a:endParaRPr lang="en-US" sz="1250" dirty="0"/>
          </a:p>
        </p:txBody>
      </p:sp>
      <p:sp>
        <p:nvSpPr>
          <p:cNvPr id="21" name="Shape 19"/>
          <p:cNvSpPr/>
          <p:nvPr/>
        </p:nvSpPr>
        <p:spPr>
          <a:xfrm>
            <a:off x="548640" y="3666744"/>
            <a:ext cx="5394960" cy="566928"/>
          </a:xfrm>
          <a:prstGeom prst="roundRect">
            <a:avLst>
              <a:gd name="adj" fmla="val 9677"/>
            </a:avLst>
          </a:prstGeom>
          <a:solidFill>
            <a:srgbClr val="F4F7FB"/>
          </a:solidFill>
          <a:ln w="12700">
            <a:solidFill>
              <a:srgbClr val="E4EAF2"/>
            </a:solidFill>
            <a:prstDash val="solid"/>
          </a:ln>
        </p:spPr>
        <p:txBody>
          <a:bodyPr/>
          <a:p/>
        </p:txBody>
      </p:sp>
      <p:sp>
        <p:nvSpPr>
          <p:cNvPr id="22" name="Shape 20"/>
          <p:cNvSpPr/>
          <p:nvPr/>
        </p:nvSpPr>
        <p:spPr>
          <a:xfrm>
            <a:off x="713232" y="3794760"/>
            <a:ext cx="310896" cy="310896"/>
          </a:xfrm>
          <a:prstGeom prst="ellipse">
            <a:avLst/>
          </a:prstGeom>
          <a:solidFill>
            <a:srgbClr val="0DA5A0"/>
          </a:solidFill>
          <a:ln/>
          <a:effectLst>
            <a:outerShdw sx="100000" sy="100000" kx="0" ky="0" algn="bl" rotWithShape="0" blurRad="10241915000000" dist="3072574500000" dir="19440000000000000">
              <a:srgbClr val="A7B6CE">
                <a:alpha val="180000000000000"/>
              </a:srgbClr>
            </a:outerShdw>
          </a:effectLst>
        </p:spPr>
        <p:txBody>
          <a:bodyPr/>
          <a:p/>
        </p:txBody>
      </p:sp>
      <p:sp>
        <p:nvSpPr>
          <p:cNvPr id="23" name="Text 21"/>
          <p:cNvSpPr/>
          <p:nvPr/>
        </p:nvSpPr>
        <p:spPr>
          <a:xfrm>
            <a:off x="713232" y="379476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3</a:t>
            </a:r>
            <a:endParaRPr lang="en-US" sz="1156" dirty="0"/>
          </a:p>
        </p:txBody>
      </p:sp>
      <p:sp>
        <p:nvSpPr>
          <p:cNvPr id="24" name="Text 22"/>
          <p:cNvSpPr/>
          <p:nvPr/>
        </p:nvSpPr>
        <p:spPr>
          <a:xfrm>
            <a:off x="1152144" y="3666744"/>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CAD → Cost — workflow and checks</a:t>
            </a:r>
            <a:endParaRPr lang="en-US" sz="1250" dirty="0"/>
          </a:p>
        </p:txBody>
      </p:sp>
      <p:sp>
        <p:nvSpPr>
          <p:cNvPr id="25" name="Shape 23"/>
          <p:cNvSpPr/>
          <p:nvPr/>
        </p:nvSpPr>
        <p:spPr>
          <a:xfrm>
            <a:off x="6245352" y="3666744"/>
            <a:ext cx="5394960" cy="566928"/>
          </a:xfrm>
          <a:prstGeom prst="roundRect">
            <a:avLst>
              <a:gd name="adj" fmla="val 9677"/>
            </a:avLst>
          </a:prstGeom>
          <a:solidFill>
            <a:srgbClr val="FFFFFF"/>
          </a:solidFill>
          <a:ln w="12700">
            <a:solidFill>
              <a:srgbClr val="E4EAF2"/>
            </a:solidFill>
            <a:prstDash val="solid"/>
          </a:ln>
        </p:spPr>
        <p:txBody>
          <a:bodyPr/>
          <a:p/>
        </p:txBody>
      </p:sp>
      <p:sp>
        <p:nvSpPr>
          <p:cNvPr id="26" name="Shape 24"/>
          <p:cNvSpPr/>
          <p:nvPr/>
        </p:nvSpPr>
        <p:spPr>
          <a:xfrm>
            <a:off x="6409944" y="3794760"/>
            <a:ext cx="310896" cy="310896"/>
          </a:xfrm>
          <a:prstGeom prst="ellipse">
            <a:avLst/>
          </a:prstGeom>
          <a:solidFill>
            <a:srgbClr val="0E93B0"/>
          </a:solidFill>
          <a:ln/>
          <a:effectLst>
            <a:outerShdw sx="100000" sy="100000" kx="0" ky="0" algn="bl" rotWithShape="0" blurRad="130072320500000000" dist="39021696150000000" dir="1.1664e+21">
              <a:srgbClr val="A7B6CE">
                <a:alpha val="18000000000000000000"/>
              </a:srgbClr>
            </a:outerShdw>
          </a:effectLst>
        </p:spPr>
        <p:txBody>
          <a:bodyPr/>
          <a:p/>
        </p:txBody>
      </p:sp>
      <p:sp>
        <p:nvSpPr>
          <p:cNvPr id="27" name="Text 25"/>
          <p:cNvSpPr/>
          <p:nvPr/>
        </p:nvSpPr>
        <p:spPr>
          <a:xfrm>
            <a:off x="6409944" y="3794760"/>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4</a:t>
            </a:r>
            <a:endParaRPr lang="en-US" sz="1156" dirty="0"/>
          </a:p>
        </p:txBody>
      </p:sp>
      <p:sp>
        <p:nvSpPr>
          <p:cNvPr id="28" name="Text 26"/>
          <p:cNvSpPr/>
          <p:nvPr/>
        </p:nvSpPr>
        <p:spPr>
          <a:xfrm>
            <a:off x="6848856" y="3666744"/>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Electronics — PCB fab and PCBA</a:t>
            </a:r>
            <a:endParaRPr lang="en-US" sz="1250" dirty="0"/>
          </a:p>
        </p:txBody>
      </p:sp>
      <p:sp>
        <p:nvSpPr>
          <p:cNvPr id="29" name="Shape 27"/>
          <p:cNvSpPr/>
          <p:nvPr/>
        </p:nvSpPr>
        <p:spPr>
          <a:xfrm>
            <a:off x="548640" y="4270248"/>
            <a:ext cx="5394960" cy="566928"/>
          </a:xfrm>
          <a:prstGeom prst="roundRect">
            <a:avLst>
              <a:gd name="adj" fmla="val 9677"/>
            </a:avLst>
          </a:prstGeom>
          <a:solidFill>
            <a:srgbClr val="F4F7FB"/>
          </a:solidFill>
          <a:ln w="12700">
            <a:solidFill>
              <a:srgbClr val="E4EAF2"/>
            </a:solidFill>
            <a:prstDash val="solid"/>
          </a:ln>
        </p:spPr>
        <p:txBody>
          <a:bodyPr/>
          <a:p/>
        </p:txBody>
      </p:sp>
      <p:sp>
        <p:nvSpPr>
          <p:cNvPr id="30" name="Shape 28"/>
          <p:cNvSpPr/>
          <p:nvPr/>
        </p:nvSpPr>
        <p:spPr>
          <a:xfrm>
            <a:off x="713232" y="4398264"/>
            <a:ext cx="310896" cy="310896"/>
          </a:xfrm>
          <a:prstGeom prst="ellipse">
            <a:avLst/>
          </a:prstGeom>
          <a:solidFill>
            <a:srgbClr val="E0900C"/>
          </a:solidFill>
          <a:ln/>
          <a:effectLst>
            <a:outerShdw sx="100000" sy="100000" kx="0" ky="0" algn="bl" rotWithShape="0" blurRad="1.65191847035e+21" dist="495575541105000000000" dir="6.9984e+25">
              <a:srgbClr val="A7B6CE">
                <a:alpha val="1.8e+24"/>
              </a:srgbClr>
            </a:outerShdw>
          </a:effectLst>
        </p:spPr>
        <p:txBody>
          <a:bodyPr/>
          <a:p/>
        </p:txBody>
      </p:sp>
      <p:sp>
        <p:nvSpPr>
          <p:cNvPr id="31" name="Text 29"/>
          <p:cNvSpPr/>
          <p:nvPr/>
        </p:nvSpPr>
        <p:spPr>
          <a:xfrm>
            <a:off x="713232" y="4398264"/>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5</a:t>
            </a:r>
            <a:endParaRPr lang="en-US" sz="1156" dirty="0"/>
          </a:p>
        </p:txBody>
      </p:sp>
      <p:sp>
        <p:nvSpPr>
          <p:cNvPr id="32" name="Text 30"/>
          <p:cNvSpPr/>
          <p:nvPr/>
        </p:nvSpPr>
        <p:spPr>
          <a:xfrm>
            <a:off x="1152144" y="4270248"/>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Global should-cost — processes, rates, regions</a:t>
            </a:r>
            <a:endParaRPr lang="en-US" sz="1250" dirty="0"/>
          </a:p>
        </p:txBody>
      </p:sp>
      <p:sp>
        <p:nvSpPr>
          <p:cNvPr id="33" name="Shape 31"/>
          <p:cNvSpPr/>
          <p:nvPr/>
        </p:nvSpPr>
        <p:spPr>
          <a:xfrm>
            <a:off x="6245352" y="4270248"/>
            <a:ext cx="5394960" cy="566928"/>
          </a:xfrm>
          <a:prstGeom prst="roundRect">
            <a:avLst>
              <a:gd name="adj" fmla="val 9677"/>
            </a:avLst>
          </a:prstGeom>
          <a:solidFill>
            <a:srgbClr val="FFFFFF"/>
          </a:solidFill>
          <a:ln w="12700">
            <a:solidFill>
              <a:srgbClr val="E4EAF2"/>
            </a:solidFill>
            <a:prstDash val="solid"/>
          </a:ln>
        </p:spPr>
        <p:txBody>
          <a:bodyPr/>
          <a:p/>
        </p:txBody>
      </p:sp>
      <p:sp>
        <p:nvSpPr>
          <p:cNvPr id="34" name="Shape 32"/>
          <p:cNvSpPr/>
          <p:nvPr/>
        </p:nvSpPr>
        <p:spPr>
          <a:xfrm>
            <a:off x="6409944" y="4398264"/>
            <a:ext cx="310896" cy="310896"/>
          </a:xfrm>
          <a:prstGeom prst="ellipse">
            <a:avLst/>
          </a:prstGeom>
          <a:solidFill>
            <a:srgbClr val="7C3AED"/>
          </a:solidFill>
          <a:ln/>
          <a:effectLst>
            <a:outerShdw sx="100000" sy="100000" kx="0" ky="0" algn="bl" rotWithShape="0" blurRad="2.0979364573445003e+25" dist="6.2938093720335e+24" dir="4.19904e+30">
              <a:srgbClr val="A7B6CE">
                <a:alpha val="1.8e+29"/>
              </a:srgbClr>
            </a:outerShdw>
          </a:effectLst>
        </p:spPr>
        <p:txBody>
          <a:bodyPr/>
          <a:p/>
        </p:txBody>
      </p:sp>
      <p:sp>
        <p:nvSpPr>
          <p:cNvPr id="35" name="Text 33"/>
          <p:cNvSpPr/>
          <p:nvPr/>
        </p:nvSpPr>
        <p:spPr>
          <a:xfrm>
            <a:off x="6409944" y="4398264"/>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6</a:t>
            </a:r>
            <a:endParaRPr lang="en-US" sz="1156" dirty="0"/>
          </a:p>
        </p:txBody>
      </p:sp>
      <p:sp>
        <p:nvSpPr>
          <p:cNvPr id="36" name="Text 34"/>
          <p:cNvSpPr/>
          <p:nvPr/>
        </p:nvSpPr>
        <p:spPr>
          <a:xfrm>
            <a:off x="6848856" y="4270248"/>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Negotiation Intelligence</a:t>
            </a:r>
            <a:endParaRPr lang="en-US" sz="1250" dirty="0"/>
          </a:p>
        </p:txBody>
      </p:sp>
      <p:sp>
        <p:nvSpPr>
          <p:cNvPr id="37" name="Shape 35"/>
          <p:cNvSpPr/>
          <p:nvPr/>
        </p:nvSpPr>
        <p:spPr>
          <a:xfrm>
            <a:off x="548640" y="4873752"/>
            <a:ext cx="5394960" cy="566928"/>
          </a:xfrm>
          <a:prstGeom prst="roundRect">
            <a:avLst>
              <a:gd name="adj" fmla="val 9677"/>
            </a:avLst>
          </a:prstGeom>
          <a:solidFill>
            <a:srgbClr val="F4F7FB"/>
          </a:solidFill>
          <a:ln w="12700">
            <a:solidFill>
              <a:srgbClr val="E4EAF2"/>
            </a:solidFill>
            <a:prstDash val="solid"/>
          </a:ln>
        </p:spPr>
        <p:txBody>
          <a:bodyPr/>
          <a:p/>
        </p:txBody>
      </p:sp>
      <p:sp>
        <p:nvSpPr>
          <p:cNvPr id="38" name="Shape 36"/>
          <p:cNvSpPr/>
          <p:nvPr/>
        </p:nvSpPr>
        <p:spPr>
          <a:xfrm>
            <a:off x="713232" y="5001768"/>
            <a:ext cx="310896" cy="310896"/>
          </a:xfrm>
          <a:prstGeom prst="ellipse">
            <a:avLst/>
          </a:prstGeom>
          <a:solidFill>
            <a:srgbClr val="4F46E5"/>
          </a:solidFill>
          <a:ln/>
          <a:effectLst>
            <a:outerShdw sx="100000" sy="100000" kx="0" ky="0" algn="bl" rotWithShape="0" blurRad="2.6643793008275154e+29" dist="7.993137902482545e+28" dir="2.519424e+35">
              <a:srgbClr val="A7B6CE">
                <a:alpha val="1.7999999999999998e+34"/>
              </a:srgbClr>
            </a:outerShdw>
          </a:effectLst>
        </p:spPr>
        <p:txBody>
          <a:bodyPr/>
          <a:p/>
        </p:txBody>
      </p:sp>
      <p:sp>
        <p:nvSpPr>
          <p:cNvPr id="39" name="Text 37"/>
          <p:cNvSpPr/>
          <p:nvPr/>
        </p:nvSpPr>
        <p:spPr>
          <a:xfrm>
            <a:off x="713232" y="5001768"/>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7</a:t>
            </a:r>
            <a:endParaRPr lang="en-US" sz="1156" dirty="0"/>
          </a:p>
        </p:txBody>
      </p:sp>
      <p:sp>
        <p:nvSpPr>
          <p:cNvPr id="40" name="Text 38"/>
          <p:cNvSpPr/>
          <p:nvPr/>
        </p:nvSpPr>
        <p:spPr>
          <a:xfrm>
            <a:off x="1152144" y="4873752"/>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Learning from actual prices</a:t>
            </a:r>
            <a:endParaRPr lang="en-US" sz="1250" dirty="0"/>
          </a:p>
        </p:txBody>
      </p:sp>
      <p:sp>
        <p:nvSpPr>
          <p:cNvPr id="41" name="Shape 39"/>
          <p:cNvSpPr/>
          <p:nvPr/>
        </p:nvSpPr>
        <p:spPr>
          <a:xfrm>
            <a:off x="6245352" y="4873752"/>
            <a:ext cx="5394960" cy="566928"/>
          </a:xfrm>
          <a:prstGeom prst="roundRect">
            <a:avLst>
              <a:gd name="adj" fmla="val 9677"/>
            </a:avLst>
          </a:prstGeom>
          <a:solidFill>
            <a:srgbClr val="FFFFFF"/>
          </a:solidFill>
          <a:ln w="12700">
            <a:solidFill>
              <a:srgbClr val="E4EAF2"/>
            </a:solidFill>
            <a:prstDash val="solid"/>
          </a:ln>
        </p:spPr>
        <p:txBody>
          <a:bodyPr/>
          <a:p/>
        </p:txBody>
      </p:sp>
      <p:sp>
        <p:nvSpPr>
          <p:cNvPr id="42" name="Shape 40"/>
          <p:cNvSpPr/>
          <p:nvPr/>
        </p:nvSpPr>
        <p:spPr>
          <a:xfrm>
            <a:off x="6409944" y="5001768"/>
            <a:ext cx="310896" cy="310896"/>
          </a:xfrm>
          <a:prstGeom prst="ellipse">
            <a:avLst/>
          </a:prstGeom>
          <a:solidFill>
            <a:srgbClr val="0EA472"/>
          </a:solidFill>
          <a:ln/>
          <a:effectLst>
            <a:outerShdw sx="100000" sy="100000" kx="0" ky="0" algn="bl" rotWithShape="0" blurRad="3.3837617120509443e+33" dist="1.0151285136152831e+33" dir="1.5116544e+40">
              <a:srgbClr val="A7B6CE">
                <a:alpha val="1.8e+39"/>
              </a:srgbClr>
            </a:outerShdw>
          </a:effectLst>
        </p:spPr>
        <p:txBody>
          <a:bodyPr/>
          <a:p/>
        </p:txBody>
      </p:sp>
      <p:sp>
        <p:nvSpPr>
          <p:cNvPr id="43" name="Text 41"/>
          <p:cNvSpPr/>
          <p:nvPr/>
        </p:nvSpPr>
        <p:spPr>
          <a:xfrm>
            <a:off x="6409944" y="5001768"/>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8</a:t>
            </a:r>
            <a:endParaRPr lang="en-US" sz="1156" dirty="0"/>
          </a:p>
        </p:txBody>
      </p:sp>
      <p:sp>
        <p:nvSpPr>
          <p:cNvPr id="44" name="Text 42"/>
          <p:cNvSpPr/>
          <p:nvPr/>
        </p:nvSpPr>
        <p:spPr>
          <a:xfrm>
            <a:off x="6848856" y="4873752"/>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Trust, testing &amp; data security</a:t>
            </a:r>
            <a:endParaRPr lang="en-US" sz="1250" dirty="0"/>
          </a:p>
        </p:txBody>
      </p:sp>
      <p:sp>
        <p:nvSpPr>
          <p:cNvPr id="45" name="Shape 43"/>
          <p:cNvSpPr/>
          <p:nvPr/>
        </p:nvSpPr>
        <p:spPr>
          <a:xfrm>
            <a:off x="548640" y="5477256"/>
            <a:ext cx="5394960" cy="566928"/>
          </a:xfrm>
          <a:prstGeom prst="roundRect">
            <a:avLst>
              <a:gd name="adj" fmla="val 9677"/>
            </a:avLst>
          </a:prstGeom>
          <a:solidFill>
            <a:srgbClr val="F4F7FB"/>
          </a:solidFill>
          <a:ln w="12700">
            <a:solidFill>
              <a:srgbClr val="E4EAF2"/>
            </a:solidFill>
            <a:prstDash val="solid"/>
          </a:ln>
        </p:spPr>
        <p:txBody>
          <a:bodyPr/>
          <a:p/>
        </p:txBody>
      </p:sp>
      <p:sp>
        <p:nvSpPr>
          <p:cNvPr id="46" name="Shape 44"/>
          <p:cNvSpPr/>
          <p:nvPr/>
        </p:nvSpPr>
        <p:spPr>
          <a:xfrm>
            <a:off x="713232" y="5605272"/>
            <a:ext cx="310896" cy="310896"/>
          </a:xfrm>
          <a:prstGeom prst="ellipse">
            <a:avLst/>
          </a:prstGeom>
          <a:solidFill>
            <a:srgbClr val="2563EB"/>
          </a:solidFill>
          <a:ln/>
          <a:effectLst>
            <a:outerShdw sx="100000" sy="100000" kx="0" ky="0" algn="bl" rotWithShape="0" blurRad="4.297377374304699e+37" dist="1.2892132122914095e+37" dir="9.069926400000001e+44">
              <a:srgbClr val="A7B6CE">
                <a:alpha val="1.8e+44"/>
              </a:srgbClr>
            </a:outerShdw>
          </a:effectLst>
        </p:spPr>
        <p:txBody>
          <a:bodyPr/>
          <a:p/>
        </p:txBody>
      </p:sp>
      <p:sp>
        <p:nvSpPr>
          <p:cNvPr id="47" name="Text 45"/>
          <p:cNvSpPr/>
          <p:nvPr/>
        </p:nvSpPr>
        <p:spPr>
          <a:xfrm>
            <a:off x="713232" y="5605272"/>
            <a:ext cx="310896" cy="310896"/>
          </a:xfrm>
          <a:prstGeom prst="rect">
            <a:avLst/>
          </a:prstGeom>
          <a:noFill/>
          <a:ln/>
        </p:spPr>
        <p:txBody>
          <a:bodyPr wrap="square" lIns="0" tIns="0" rIns="0" bIns="0" rtlCol="0" anchor="ctr"/>
          <a:lstStyle/>
          <a:p>
            <a:pPr algn="ctr" indent="0" marL="0">
              <a:buNone/>
            </a:pPr>
            <a:r>
              <a:rPr lang="en-US" sz="1156" b="1" dirty="0">
                <a:solidFill>
                  <a:srgbClr val="FFFFFF"/>
                </a:solidFill>
                <a:latin typeface="Calibri" pitchFamily="34" charset="0"/>
                <a:ea typeface="Calibri" pitchFamily="34" charset="-122"/>
                <a:cs typeface="Calibri" pitchFamily="34" charset="-120"/>
              </a:rPr>
              <a:t>9</a:t>
            </a:r>
            <a:endParaRPr lang="en-US" sz="1156" dirty="0"/>
          </a:p>
        </p:txBody>
      </p:sp>
      <p:sp>
        <p:nvSpPr>
          <p:cNvPr id="48" name="Text 46"/>
          <p:cNvSpPr/>
          <p:nvPr/>
        </p:nvSpPr>
        <p:spPr>
          <a:xfrm>
            <a:off x="1152144" y="5477256"/>
            <a:ext cx="4663440" cy="566928"/>
          </a:xfrm>
          <a:prstGeom prst="rect">
            <a:avLst/>
          </a:prstGeom>
          <a:noFill/>
          <a:ln/>
        </p:spPr>
        <p:txBody>
          <a:bodyPr wrap="square" lIns="0" tIns="0" rIns="0" bIns="0" rtlCol="0" anchor="ctr"/>
          <a:lstStyle/>
          <a:p>
            <a:pPr indent="0" marL="0">
              <a:buNone/>
            </a:pPr>
            <a:r>
              <a:rPr lang="en-US" sz="1250" b="1" dirty="0">
                <a:solidFill>
                  <a:srgbClr val="0F1E3D"/>
                </a:solidFill>
                <a:latin typeface="Calibri" pitchFamily="34" charset="0"/>
                <a:ea typeface="Calibri" pitchFamily="34" charset="-122"/>
                <a:cs typeface="Calibri" pitchFamily="34" charset="-120"/>
              </a:rPr>
              <a:t>Way forward &amp; live demo</a:t>
            </a:r>
            <a:endParaRPr lang="en-US" sz="1250" dirty="0"/>
          </a:p>
        </p:txBody>
      </p:sp>
      <p:sp>
        <p:nvSpPr>
          <p:cNvPr id="49" name="Shape 47"/>
          <p:cNvSpPr/>
          <p:nvPr/>
        </p:nvSpPr>
        <p:spPr>
          <a:xfrm>
            <a:off x="548640" y="6400800"/>
            <a:ext cx="11094415" cy="12802"/>
          </a:xfrm>
          <a:prstGeom prst="rect">
            <a:avLst/>
          </a:prstGeom>
          <a:solidFill>
            <a:srgbClr val="E4EAF2"/>
          </a:solidFill>
          <a:ln/>
        </p:spPr>
        <p:txBody>
          <a:bodyPr/>
          <a:p/>
        </p:txBody>
      </p:sp>
      <p:sp>
        <p:nvSpPr>
          <p:cNvPr id="50" name="Text 4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1" name="Text 4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 / 33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WHERE WE ARE → WHERE WE GO</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From manual should-costing to measured</a:t>
            </a:r>
            <a:endParaRPr lang="en-US" sz="2400" dirty="0"/>
          </a:p>
        </p:txBody>
      </p:sp>
      <p:sp>
        <p:nvSpPr>
          <p:cNvPr id="9" name="Shape 7"/>
          <p:cNvSpPr/>
          <p:nvPr/>
        </p:nvSpPr>
        <p:spPr>
          <a:xfrm>
            <a:off x="548640" y="1371600"/>
            <a:ext cx="1051560" cy="45720"/>
          </a:xfrm>
          <a:prstGeom prst="rect">
            <a:avLst/>
          </a:prstGeom>
          <a:solidFill>
            <a:srgbClr val="2563EB"/>
          </a:solidFill>
          <a:ln/>
        </p:spPr>
        <p:txBody>
          <a:bodyPr/>
          <a:p/>
        </p:txBody>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We already do careful should-costing. CostVision keeps that method and takes out the hand work.</a:t>
            </a:r>
            <a:endParaRPr lang="en-US" sz="1200" dirty="0"/>
          </a:p>
        </p:txBody>
      </p:sp>
      <p:sp>
        <p:nvSpPr>
          <p:cNvPr id="11" name="Shape 9"/>
          <p:cNvSpPr/>
          <p:nvPr/>
        </p:nvSpPr>
        <p:spPr>
          <a:xfrm>
            <a:off x="548640" y="2057400"/>
            <a:ext cx="5349240" cy="3246120"/>
          </a:xfrm>
          <a:prstGeom prst="roundRect">
            <a:avLst>
              <a:gd name="adj" fmla="val 1972"/>
            </a:avLst>
          </a:prstGeom>
          <a:solidFill>
            <a:srgbClr val="FFFFFF"/>
          </a:solidFill>
          <a:ln w="12700">
            <a:solidFill>
              <a:srgbClr val="E4EAF2"/>
            </a:solidFill>
            <a:prstDash val="solid"/>
          </a:ln>
        </p:spPr>
        <p:txBody>
          <a:bodyPr/>
          <a:p/>
        </p:txBody>
      </p:sp>
      <p:sp>
        <p:nvSpPr>
          <p:cNvPr id="12" name="Shape 10"/>
          <p:cNvSpPr/>
          <p:nvPr/>
        </p:nvSpPr>
        <p:spPr>
          <a:xfrm>
            <a:off x="548640" y="2057400"/>
            <a:ext cx="5349240" cy="457200"/>
          </a:xfrm>
          <a:prstGeom prst="rect">
            <a:avLst/>
          </a:prstGeom>
          <a:solidFill>
            <a:srgbClr val="FEF6E7"/>
          </a:solidFill>
          <a:ln/>
        </p:spPr>
        <p:txBody>
          <a:bodyPr/>
          <a:p/>
        </p:txBody>
      </p:sp>
      <p:sp>
        <p:nvSpPr>
          <p:cNvPr id="13" name="Text 11"/>
          <p:cNvSpPr/>
          <p:nvPr/>
        </p:nvSpPr>
        <p:spPr>
          <a:xfrm>
            <a:off x="822960" y="2057400"/>
            <a:ext cx="4892040" cy="457200"/>
          </a:xfrm>
          <a:prstGeom prst="rect">
            <a:avLst/>
          </a:prstGeom>
          <a:noFill/>
          <a:ln/>
        </p:spPr>
        <p:txBody>
          <a:bodyPr wrap="square" lIns="0" tIns="0" rIns="0" bIns="0" rtlCol="0" anchor="ctr"/>
          <a:lstStyle/>
          <a:p>
            <a:pPr indent="0" marL="0">
              <a:buNone/>
            </a:pPr>
            <a:r>
              <a:rPr lang="en-US" sz="1300" b="1" dirty="0">
                <a:solidFill>
                  <a:srgbClr val="E0900C"/>
                </a:solidFill>
                <a:latin typeface="Calibri" pitchFamily="34" charset="0"/>
                <a:ea typeface="Calibri" pitchFamily="34" charset="-122"/>
                <a:cs typeface="Calibri" pitchFamily="34" charset="-120"/>
              </a:rPr>
              <a:t>OUR SHOULD-COST TODAY  ·  capable, but hands-on</a:t>
            </a:r>
            <a:endParaRPr lang="en-US" sz="1300" dirty="0"/>
          </a:p>
        </p:txBody>
      </p:sp>
      <p:sp>
        <p:nvSpPr>
          <p:cNvPr id="14" name="Shape 12"/>
          <p:cNvSpPr/>
          <p:nvPr/>
        </p:nvSpPr>
        <p:spPr>
          <a:xfrm>
            <a:off x="804672" y="2679192"/>
            <a:ext cx="329184" cy="329184"/>
          </a:xfrm>
          <a:prstGeom prst="ellipse">
            <a:avLst/>
          </a:prstGeom>
          <a:solidFill>
            <a:srgbClr val="FEF6E7"/>
          </a:solidFill>
          <a:ln/>
        </p:spPr>
        <p:txBody>
          <a:bodyPr/>
          <a:p/>
        </p:txBody>
      </p:sp>
      <p:sp>
        <p:nvSpPr>
          <p:cNvPr id="15" name="Text 13"/>
          <p:cNvSpPr/>
          <p:nvPr/>
        </p:nvSpPr>
        <p:spPr>
          <a:xfrm>
            <a:off x="804672" y="2670048"/>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16" name="Text 14"/>
          <p:cNvSpPr/>
          <p:nvPr/>
        </p:nvSpPr>
        <p:spPr>
          <a:xfrm>
            <a:off x="1243584" y="2624328"/>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Trusted &amp; thorough</a:t>
            </a:r>
            <a:endParaRPr lang="en-US" sz="1250" dirty="0"/>
          </a:p>
        </p:txBody>
      </p:sp>
      <p:sp>
        <p:nvSpPr>
          <p:cNvPr id="17" name="Text 15"/>
          <p:cNvSpPr/>
          <p:nvPr/>
        </p:nvSpPr>
        <p:spPr>
          <a:xfrm>
            <a:off x="1243584" y="2935224"/>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a rigorous bottom-up method across every commodity</a:t>
            </a:r>
            <a:endParaRPr lang="en-US" sz="1000" dirty="0"/>
          </a:p>
        </p:txBody>
      </p:sp>
      <p:sp>
        <p:nvSpPr>
          <p:cNvPr id="18" name="Shape 16"/>
          <p:cNvSpPr/>
          <p:nvPr/>
        </p:nvSpPr>
        <p:spPr>
          <a:xfrm>
            <a:off x="804672" y="3337560"/>
            <a:ext cx="329184" cy="329184"/>
          </a:xfrm>
          <a:prstGeom prst="ellipse">
            <a:avLst/>
          </a:prstGeom>
          <a:solidFill>
            <a:srgbClr val="FEF6E7"/>
          </a:solidFill>
          <a:ln/>
        </p:spPr>
        <p:txBody>
          <a:bodyPr/>
          <a:p/>
        </p:txBody>
      </p:sp>
      <p:sp>
        <p:nvSpPr>
          <p:cNvPr id="19" name="Text 17"/>
          <p:cNvSpPr/>
          <p:nvPr/>
        </p:nvSpPr>
        <p:spPr>
          <a:xfrm>
            <a:off x="804672" y="3328416"/>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0" name="Text 18"/>
          <p:cNvSpPr/>
          <p:nvPr/>
        </p:nvSpPr>
        <p:spPr>
          <a:xfrm>
            <a:off x="1243584" y="3282696"/>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Hands-on setup</a:t>
            </a:r>
            <a:endParaRPr lang="en-US" sz="1250" dirty="0"/>
          </a:p>
        </p:txBody>
      </p:sp>
      <p:sp>
        <p:nvSpPr>
          <p:cNvPr id="21" name="Text 19"/>
          <p:cNvSpPr/>
          <p:nvPr/>
        </p:nvSpPr>
        <p:spPr>
          <a:xfrm>
            <a:off x="1243584" y="3593592"/>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material, process &amp; machine selected manually, part by part</a:t>
            </a:r>
            <a:endParaRPr lang="en-US" sz="1000" dirty="0"/>
          </a:p>
        </p:txBody>
      </p:sp>
      <p:sp>
        <p:nvSpPr>
          <p:cNvPr id="22" name="Shape 20"/>
          <p:cNvSpPr/>
          <p:nvPr/>
        </p:nvSpPr>
        <p:spPr>
          <a:xfrm>
            <a:off x="804672" y="3995928"/>
            <a:ext cx="329184" cy="329184"/>
          </a:xfrm>
          <a:prstGeom prst="ellipse">
            <a:avLst/>
          </a:prstGeom>
          <a:solidFill>
            <a:srgbClr val="FEF6E7"/>
          </a:solidFill>
          <a:ln/>
        </p:spPr>
        <p:txBody>
          <a:bodyPr/>
          <a:p/>
        </p:txBody>
      </p:sp>
      <p:sp>
        <p:nvSpPr>
          <p:cNvPr id="23" name="Text 21"/>
          <p:cNvSpPr/>
          <p:nvPr/>
        </p:nvSpPr>
        <p:spPr>
          <a:xfrm>
            <a:off x="804672" y="3986784"/>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243584" y="3941064"/>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Manual data entry</a:t>
            </a:r>
            <a:endParaRPr lang="en-US" sz="1250" dirty="0"/>
          </a:p>
        </p:txBody>
      </p:sp>
      <p:sp>
        <p:nvSpPr>
          <p:cNvPr id="25" name="Text 23"/>
          <p:cNvSpPr/>
          <p:nvPr/>
        </p:nvSpPr>
        <p:spPr>
          <a:xfrm>
            <a:off x="1243584" y="4251960"/>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geometry &amp; tolerances read off 3D CAD and drawings by hand</a:t>
            </a:r>
            <a:endParaRPr lang="en-US" sz="1000" dirty="0"/>
          </a:p>
        </p:txBody>
      </p:sp>
      <p:sp>
        <p:nvSpPr>
          <p:cNvPr id="26" name="Shape 24"/>
          <p:cNvSpPr/>
          <p:nvPr/>
        </p:nvSpPr>
        <p:spPr>
          <a:xfrm>
            <a:off x="804672" y="4654296"/>
            <a:ext cx="329184" cy="329184"/>
          </a:xfrm>
          <a:prstGeom prst="ellipse">
            <a:avLst/>
          </a:prstGeom>
          <a:solidFill>
            <a:srgbClr val="FEF6E7"/>
          </a:solidFill>
          <a:ln/>
        </p:spPr>
        <p:txBody>
          <a:bodyPr/>
          <a:p/>
        </p:txBody>
      </p:sp>
      <p:sp>
        <p:nvSpPr>
          <p:cNvPr id="27" name="Text 25"/>
          <p:cNvSpPr/>
          <p:nvPr/>
        </p:nvSpPr>
        <p:spPr>
          <a:xfrm>
            <a:off x="804672" y="4645152"/>
            <a:ext cx="329184" cy="329184"/>
          </a:xfrm>
          <a:prstGeom prst="rect">
            <a:avLst/>
          </a:prstGeom>
          <a:noFill/>
          <a:ln/>
        </p:spPr>
        <p:txBody>
          <a:bodyPr wrap="square" lIns="0" tIns="0" rIns="0" bIns="0" rtlCol="0" anchor="ctr"/>
          <a:lstStyle/>
          <a:p>
            <a:pPr algn="ctr" indent="0" marL="0">
              <a:buNone/>
            </a:pPr>
            <a:r>
              <a:rPr lang="en-US" sz="900" b="1" dirty="0">
                <a:solidFill>
                  <a:srgbClr val="E0900C"/>
                </a:solidFill>
                <a:latin typeface="Calibri" pitchFamily="34" charset="0"/>
                <a:ea typeface="Calibri" pitchFamily="34" charset="-122"/>
                <a:cs typeface="Calibri" pitchFamily="34" charset="-120"/>
              </a:rPr>
              <a:t>●</a:t>
            </a:r>
            <a:endParaRPr lang="en-US" sz="900" dirty="0"/>
          </a:p>
        </p:txBody>
      </p:sp>
      <p:sp>
        <p:nvSpPr>
          <p:cNvPr id="28" name="Text 26"/>
          <p:cNvSpPr/>
          <p:nvPr/>
        </p:nvSpPr>
        <p:spPr>
          <a:xfrm>
            <a:off x="1243584" y="4599432"/>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Updated by hand</a:t>
            </a:r>
            <a:endParaRPr lang="en-US" sz="1250" dirty="0"/>
          </a:p>
        </p:txBody>
      </p:sp>
      <p:sp>
        <p:nvSpPr>
          <p:cNvPr id="29" name="Text 27"/>
          <p:cNvSpPr/>
          <p:nvPr/>
        </p:nvSpPr>
        <p:spPr>
          <a:xfrm>
            <a:off x="1243584" y="4910328"/>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rates &amp; inputs refreshed manually as economics change</a:t>
            </a:r>
            <a:endParaRPr lang="en-US" sz="1000" dirty="0"/>
          </a:p>
        </p:txBody>
      </p:sp>
      <p:sp>
        <p:nvSpPr>
          <p:cNvPr id="30" name="Shape 28"/>
          <p:cNvSpPr/>
          <p:nvPr/>
        </p:nvSpPr>
        <p:spPr>
          <a:xfrm>
            <a:off x="6291072" y="2057400"/>
            <a:ext cx="5349240" cy="3246120"/>
          </a:xfrm>
          <a:prstGeom prst="roundRect">
            <a:avLst>
              <a:gd name="adj" fmla="val 1972"/>
            </a:avLst>
          </a:prstGeom>
          <a:solidFill>
            <a:srgbClr val="FFFFFF"/>
          </a:solidFill>
          <a:ln w="12700">
            <a:solidFill>
              <a:srgbClr val="E4EAF2"/>
            </a:solidFill>
            <a:prstDash val="solid"/>
          </a:ln>
        </p:spPr>
        <p:txBody>
          <a:bodyPr/>
          <a:p/>
        </p:txBody>
      </p:sp>
      <p:sp>
        <p:nvSpPr>
          <p:cNvPr id="31" name="Shape 29"/>
          <p:cNvSpPr/>
          <p:nvPr/>
        </p:nvSpPr>
        <p:spPr>
          <a:xfrm>
            <a:off x="6291072" y="2057400"/>
            <a:ext cx="5349240" cy="457200"/>
          </a:xfrm>
          <a:prstGeom prst="rect">
            <a:avLst/>
          </a:prstGeom>
          <a:solidFill>
            <a:srgbClr val="E7F7F0"/>
          </a:solidFill>
          <a:ln/>
        </p:spPr>
        <p:txBody>
          <a:bodyPr/>
          <a:p/>
        </p:txBody>
      </p:sp>
      <p:sp>
        <p:nvSpPr>
          <p:cNvPr id="32" name="Text 30"/>
          <p:cNvSpPr/>
          <p:nvPr/>
        </p:nvSpPr>
        <p:spPr>
          <a:xfrm>
            <a:off x="6565392" y="2057400"/>
            <a:ext cx="4892040" cy="457200"/>
          </a:xfrm>
          <a:prstGeom prst="rect">
            <a:avLst/>
          </a:prstGeom>
          <a:noFill/>
          <a:ln/>
        </p:spPr>
        <p:txBody>
          <a:bodyPr wrap="square" lIns="0" tIns="0" rIns="0" bIns="0" rtlCol="0" anchor="ctr"/>
          <a:lstStyle/>
          <a:p>
            <a:pPr indent="0" marL="0">
              <a:buNone/>
            </a:pPr>
            <a:r>
              <a:rPr lang="en-US" sz="1300" b="1" dirty="0">
                <a:solidFill>
                  <a:srgbClr val="0EA472"/>
                </a:solidFill>
                <a:latin typeface="Calibri" pitchFamily="34" charset="0"/>
                <a:ea typeface="Calibri" pitchFamily="34" charset="-122"/>
                <a:cs typeface="Calibri" pitchFamily="34" charset="-120"/>
              </a:rPr>
              <a:t>WITH COSTVISION  ·  measured, then checked</a:t>
            </a:r>
            <a:endParaRPr lang="en-US" sz="1300" dirty="0"/>
          </a:p>
        </p:txBody>
      </p:sp>
      <p:sp>
        <p:nvSpPr>
          <p:cNvPr id="33" name="Shape 31"/>
          <p:cNvSpPr/>
          <p:nvPr/>
        </p:nvSpPr>
        <p:spPr>
          <a:xfrm>
            <a:off x="6547104" y="2679192"/>
            <a:ext cx="329184" cy="329184"/>
          </a:xfrm>
          <a:prstGeom prst="ellipse">
            <a:avLst/>
          </a:prstGeom>
          <a:solidFill>
            <a:srgbClr val="E7F7F0"/>
          </a:solidFill>
          <a:ln/>
        </p:spPr>
        <p:txBody>
          <a:bodyPr/>
          <a:p/>
        </p:txBody>
      </p:sp>
      <p:sp>
        <p:nvSpPr>
          <p:cNvPr id="34" name="Text 32"/>
          <p:cNvSpPr/>
          <p:nvPr/>
        </p:nvSpPr>
        <p:spPr>
          <a:xfrm>
            <a:off x="6547104" y="2670048"/>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35" name="Text 33"/>
          <p:cNvSpPr/>
          <p:nvPr/>
        </p:nvSpPr>
        <p:spPr>
          <a:xfrm>
            <a:off x="6986016" y="2624328"/>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Same method, less keying</a:t>
            </a:r>
            <a:endParaRPr lang="en-US" sz="1250" dirty="0"/>
          </a:p>
        </p:txBody>
      </p:sp>
      <p:sp>
        <p:nvSpPr>
          <p:cNvPr id="36" name="Text 34"/>
          <p:cNvSpPr/>
          <p:nvPr/>
        </p:nvSpPr>
        <p:spPr>
          <a:xfrm>
            <a:off x="6986016" y="2935224"/>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the same bottom-up method — the hand work removed</a:t>
            </a:r>
            <a:endParaRPr lang="en-US" sz="1000" dirty="0"/>
          </a:p>
        </p:txBody>
      </p:sp>
      <p:sp>
        <p:nvSpPr>
          <p:cNvPr id="37" name="Shape 35"/>
          <p:cNvSpPr/>
          <p:nvPr/>
        </p:nvSpPr>
        <p:spPr>
          <a:xfrm>
            <a:off x="6547104" y="3337560"/>
            <a:ext cx="329184" cy="329184"/>
          </a:xfrm>
          <a:prstGeom prst="ellipse">
            <a:avLst/>
          </a:prstGeom>
          <a:solidFill>
            <a:srgbClr val="E7F7F0"/>
          </a:solidFill>
          <a:ln/>
        </p:spPr>
        <p:txBody>
          <a:bodyPr/>
          <a:p/>
        </p:txBody>
      </p:sp>
      <p:sp>
        <p:nvSpPr>
          <p:cNvPr id="38" name="Text 36"/>
          <p:cNvSpPr/>
          <p:nvPr/>
        </p:nvSpPr>
        <p:spPr>
          <a:xfrm>
            <a:off x="6547104" y="3328416"/>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39" name="Text 37"/>
          <p:cNvSpPr/>
          <p:nvPr/>
        </p:nvSpPr>
        <p:spPr>
          <a:xfrm>
            <a:off x="6986016" y="3282696"/>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Measures the CAD</a:t>
            </a:r>
            <a:endParaRPr lang="en-US" sz="1250" dirty="0"/>
          </a:p>
        </p:txBody>
      </p:sp>
      <p:sp>
        <p:nvSpPr>
          <p:cNvPr id="40" name="Text 38"/>
          <p:cNvSpPr/>
          <p:nvPr/>
        </p:nvSpPr>
        <p:spPr>
          <a:xfrm>
            <a:off x="6986016" y="3593592"/>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volume, weight, walls, holes and features measured</a:t>
            </a:r>
            <a:endParaRPr lang="en-US" sz="1000" dirty="0"/>
          </a:p>
        </p:txBody>
      </p:sp>
      <p:sp>
        <p:nvSpPr>
          <p:cNvPr id="41" name="Shape 39"/>
          <p:cNvSpPr/>
          <p:nvPr/>
        </p:nvSpPr>
        <p:spPr>
          <a:xfrm>
            <a:off x="6547104" y="3995928"/>
            <a:ext cx="329184" cy="329184"/>
          </a:xfrm>
          <a:prstGeom prst="ellipse">
            <a:avLst/>
          </a:prstGeom>
          <a:solidFill>
            <a:srgbClr val="E7F7F0"/>
          </a:solidFill>
          <a:ln/>
        </p:spPr>
        <p:txBody>
          <a:bodyPr/>
          <a:p/>
        </p:txBody>
      </p:sp>
      <p:sp>
        <p:nvSpPr>
          <p:cNvPr id="42" name="Text 40"/>
          <p:cNvSpPr/>
          <p:nvPr/>
        </p:nvSpPr>
        <p:spPr>
          <a:xfrm>
            <a:off x="6547104" y="3986784"/>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43" name="Text 41"/>
          <p:cNvSpPr/>
          <p:nvPr/>
        </p:nvSpPr>
        <p:spPr>
          <a:xfrm>
            <a:off x="6986016" y="3941064"/>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Asks, never guesses</a:t>
            </a:r>
            <a:endParaRPr lang="en-US" sz="1250" dirty="0"/>
          </a:p>
        </p:txBody>
      </p:sp>
      <p:sp>
        <p:nvSpPr>
          <p:cNvPr id="44" name="Text 42"/>
          <p:cNvSpPr/>
          <p:nvPr/>
        </p:nvSpPr>
        <p:spPr>
          <a:xfrm>
            <a:off x="6986016" y="4251960"/>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where geometry can't decide, it asks the engineer</a:t>
            </a:r>
            <a:endParaRPr lang="en-US" sz="1000" dirty="0"/>
          </a:p>
        </p:txBody>
      </p:sp>
      <p:sp>
        <p:nvSpPr>
          <p:cNvPr id="45" name="Shape 43"/>
          <p:cNvSpPr/>
          <p:nvPr/>
        </p:nvSpPr>
        <p:spPr>
          <a:xfrm>
            <a:off x="6547104" y="4654296"/>
            <a:ext cx="329184" cy="329184"/>
          </a:xfrm>
          <a:prstGeom prst="ellipse">
            <a:avLst/>
          </a:prstGeom>
          <a:solidFill>
            <a:srgbClr val="E7F7F0"/>
          </a:solidFill>
          <a:ln/>
        </p:spPr>
        <p:txBody>
          <a:bodyPr/>
          <a:p/>
        </p:txBody>
      </p:sp>
      <p:sp>
        <p:nvSpPr>
          <p:cNvPr id="46" name="Text 44"/>
          <p:cNvSpPr/>
          <p:nvPr/>
        </p:nvSpPr>
        <p:spPr>
          <a:xfrm>
            <a:off x="6547104" y="4645152"/>
            <a:ext cx="329184" cy="329184"/>
          </a:xfrm>
          <a:prstGeom prst="rect">
            <a:avLst/>
          </a:prstGeom>
          <a:noFill/>
          <a:ln/>
        </p:spPr>
        <p:txBody>
          <a:bodyPr wrap="square" lIns="0" tIns="0" rIns="0" bIns="0" rtlCol="0" anchor="ctr"/>
          <a:lstStyle/>
          <a:p>
            <a:pPr algn="ctr" indent="0" marL="0">
              <a:buNone/>
            </a:pPr>
            <a:r>
              <a:rPr lang="en-US" sz="1300" b="1" dirty="0">
                <a:solidFill>
                  <a:srgbClr val="0EA472"/>
                </a:solidFill>
                <a:latin typeface="Calibri" pitchFamily="34" charset="0"/>
                <a:ea typeface="Calibri" pitchFamily="34" charset="-122"/>
                <a:cs typeface="Calibri" pitchFamily="34" charset="-120"/>
              </a:rPr>
              <a:t>✓</a:t>
            </a:r>
            <a:endParaRPr lang="en-US" sz="1300" dirty="0"/>
          </a:p>
        </p:txBody>
      </p:sp>
      <p:sp>
        <p:nvSpPr>
          <p:cNvPr id="47" name="Text 45"/>
          <p:cNvSpPr/>
          <p:nvPr/>
        </p:nvSpPr>
        <p:spPr>
          <a:xfrm>
            <a:off x="6986016" y="4599432"/>
            <a:ext cx="4434840" cy="292608"/>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One versioned rate library</a:t>
            </a:r>
            <a:endParaRPr lang="en-US" sz="1250" dirty="0"/>
          </a:p>
        </p:txBody>
      </p:sp>
      <p:sp>
        <p:nvSpPr>
          <p:cNvPr id="48" name="Text 46"/>
          <p:cNvSpPr/>
          <p:nvPr/>
        </p:nvSpPr>
        <p:spPr>
          <a:xfrm>
            <a:off x="6986016" y="4910328"/>
            <a:ext cx="4389120" cy="365760"/>
          </a:xfrm>
          <a:prstGeom prst="rect">
            <a:avLst/>
          </a:prstGeom>
          <a:noFill/>
          <a:ln/>
        </p:spPr>
        <p:txBody>
          <a:bodyPr wrap="square" lIns="0" tIns="0" rIns="0" bIns="0" rtlCol="0" anchor="t"/>
          <a:lstStyle/>
          <a:p>
            <a:pPr indent="0" marL="0">
              <a:buNone/>
            </a:pPr>
            <a:r>
              <a:rPr lang="en-US" sz="1000" dirty="0">
                <a:solidFill>
                  <a:srgbClr val="8A97A8"/>
                </a:solidFill>
                <a:latin typeface="Calibri" pitchFamily="34" charset="0"/>
                <a:ea typeface="Calibri" pitchFamily="34" charset="-122"/>
                <a:cs typeface="Calibri" pitchFamily="34" charset="-120"/>
              </a:rPr>
              <a:t>load new rates once — every part re-prices</a:t>
            </a:r>
            <a:endParaRPr lang="en-US" sz="1000" dirty="0"/>
          </a:p>
        </p:txBody>
      </p:sp>
      <p:sp>
        <p:nvSpPr>
          <p:cNvPr id="49" name="Text 47"/>
          <p:cNvSpPr/>
          <p:nvPr/>
        </p:nvSpPr>
        <p:spPr>
          <a:xfrm>
            <a:off x="5952744" y="3429000"/>
            <a:ext cx="283464" cy="548640"/>
          </a:xfrm>
          <a:prstGeom prst="rect">
            <a:avLst/>
          </a:prstGeom>
          <a:noFill/>
          <a:ln/>
        </p:spPr>
        <p:txBody>
          <a:bodyPr wrap="square" lIns="0" tIns="0" rIns="0" bIns="0" rtlCol="0" anchor="ctr"/>
          <a:lstStyle/>
          <a:p>
            <a:pPr algn="ctr" indent="0" marL="0">
              <a:buNone/>
            </a:pPr>
            <a:r>
              <a:rPr lang="en-US" sz="2600" b="1" dirty="0">
                <a:solidFill>
                  <a:srgbClr val="2563EB"/>
                </a:solidFill>
                <a:latin typeface="Calibri" pitchFamily="34" charset="0"/>
                <a:ea typeface="Calibri" pitchFamily="34" charset="-122"/>
                <a:cs typeface="Calibri" pitchFamily="34" charset="-120"/>
              </a:rPr>
              <a:t>→</a:t>
            </a:r>
            <a:endParaRPr lang="en-US" sz="2600" dirty="0"/>
          </a:p>
        </p:txBody>
      </p:sp>
      <p:sp>
        <p:nvSpPr>
          <p:cNvPr id="50" name="Shape 48"/>
          <p:cNvSpPr/>
          <p:nvPr/>
        </p:nvSpPr>
        <p:spPr>
          <a:xfrm>
            <a:off x="548640" y="5504688"/>
            <a:ext cx="11091672" cy="566928"/>
          </a:xfrm>
          <a:prstGeom prst="roundRect">
            <a:avLst>
              <a:gd name="adj" fmla="val 11290"/>
            </a:avLst>
          </a:prstGeom>
          <a:solidFill>
            <a:srgbClr val="EAF1FE"/>
          </a:solidFill>
          <a:ln w="12700">
            <a:solidFill>
              <a:srgbClr val="E4EAF2"/>
            </a:solidFill>
            <a:prstDash val="solid"/>
          </a:ln>
        </p:spPr>
        <p:txBody>
          <a:bodyPr/>
          <a:p/>
        </p:txBody>
      </p:sp>
      <p:sp>
        <p:nvSpPr>
          <p:cNvPr id="51" name="Text 49"/>
          <p:cNvSpPr/>
          <p:nvPr/>
        </p:nvSpPr>
        <p:spPr>
          <a:xfrm>
            <a:off x="914400" y="5504688"/>
            <a:ext cx="10332720" cy="566928"/>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The step forward:  </a:t>
            </a:r>
            <a:pPr indent="0" marL="0">
              <a:buNone/>
            </a:pPr>
            <a:r>
              <a:rPr lang="en-US" sz="1200" dirty="0">
                <a:solidFill>
                  <a:srgbClr val="3E4C63"/>
                </a:solidFill>
                <a:latin typeface="Calibri" pitchFamily="34" charset="0"/>
                <a:ea typeface="Calibri" pitchFamily="34" charset="-122"/>
                <a:cs typeface="Calibri" pitchFamily="34" charset="-120"/>
              </a:rPr>
              <a:t>the same defensible should-cost with less data entry — so our experts spend their time on judgement, not keying.</a:t>
            </a:r>
            <a:endParaRPr lang="en-US" sz="1200" dirty="0"/>
          </a:p>
        </p:txBody>
      </p:sp>
      <p:sp>
        <p:nvSpPr>
          <p:cNvPr id="52" name="Shape 50"/>
          <p:cNvSpPr/>
          <p:nvPr/>
        </p:nvSpPr>
        <p:spPr>
          <a:xfrm>
            <a:off x="548640" y="6400800"/>
            <a:ext cx="11094415" cy="12802"/>
          </a:xfrm>
          <a:prstGeom prst="rect">
            <a:avLst/>
          </a:prstGeom>
          <a:solidFill>
            <a:srgbClr val="E4EAF2"/>
          </a:solidFill>
          <a:ln/>
        </p:spPr>
        <p:txBody>
          <a:bodyPr/>
          <a:p/>
        </p:txBody>
      </p:sp>
      <p:sp>
        <p:nvSpPr>
          <p:cNvPr id="53" name="Text 5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4" name="Text 5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4 / 33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THE BIG PICTURE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CostVision at a glance — the platform</a:t>
            </a:r>
            <a:endParaRPr lang="en-US" sz="2400" dirty="0"/>
          </a:p>
        </p:txBody>
      </p:sp>
      <p:sp>
        <p:nvSpPr>
          <p:cNvPr id="9" name="Shape 7"/>
          <p:cNvSpPr/>
          <p:nvPr/>
        </p:nvSpPr>
        <p:spPr>
          <a:xfrm>
            <a:off x="548640" y="1371600"/>
            <a:ext cx="1051560" cy="45720"/>
          </a:xfrm>
          <a:prstGeom prst="rect">
            <a:avLst/>
          </a:prstGeom>
          <a:solidFill>
            <a:srgbClr val="2563EB"/>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Engineering input → the tool measures it and asks what it can't tell → fixed rules price it → a traceable result.</a:t>
            </a:r>
            <a:endParaRPr lang="en-US" sz="1250" dirty="0"/>
          </a:p>
        </p:txBody>
      </p:sp>
      <p:sp>
        <p:nvSpPr>
          <p:cNvPr id="11" name="Shape 9"/>
          <p:cNvSpPr/>
          <p:nvPr/>
        </p:nvSpPr>
        <p:spPr>
          <a:xfrm>
            <a:off x="548640"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7.640736971513755e+41" dist="2.183067706146787e+41" dir="5.44195584e+49">
              <a:srgbClr val="9DB0CC">
                <a:alpha val="2.2e+49"/>
              </a:srgbClr>
            </a:outerShdw>
          </a:effectLst>
        </p:spPr>
        <p:txBody>
          <a:bodyPr/>
          <a:p/>
        </p:txBody>
      </p:sp>
      <p:sp>
        <p:nvSpPr>
          <p:cNvPr id="12" name="Shape 10"/>
          <p:cNvSpPr/>
          <p:nvPr/>
        </p:nvSpPr>
        <p:spPr>
          <a:xfrm>
            <a:off x="548640" y="2103120"/>
            <a:ext cx="82296" cy="3291840"/>
          </a:xfrm>
          <a:prstGeom prst="rect">
            <a:avLst/>
          </a:prstGeom>
          <a:solidFill>
            <a:srgbClr val="2E90FA"/>
          </a:solidFill>
          <a:ln/>
        </p:spPr>
        <p:txBody>
          <a:bodyPr/>
          <a:p/>
        </p:txBody>
      </p:sp>
      <p:sp>
        <p:nvSpPr>
          <p:cNvPr id="13" name="Shape 11"/>
          <p:cNvSpPr/>
          <p:nvPr/>
        </p:nvSpPr>
        <p:spPr>
          <a:xfrm>
            <a:off x="804672" y="2359152"/>
            <a:ext cx="457200" cy="457200"/>
          </a:xfrm>
          <a:prstGeom prst="ellipse">
            <a:avLst/>
          </a:prstGeom>
          <a:solidFill>
            <a:srgbClr val="F4F7FB"/>
          </a:solidFill>
          <a:ln/>
        </p:spPr>
        <p:txBody>
          <a:bodyPr/>
          <a:p/>
        </p:txBody>
      </p:sp>
      <p:sp>
        <p:nvSpPr>
          <p:cNvPr id="14" name="Text 12"/>
          <p:cNvSpPr/>
          <p:nvPr/>
        </p:nvSpPr>
        <p:spPr>
          <a:xfrm>
            <a:off x="804672"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15" name="Text 13"/>
          <p:cNvSpPr/>
          <p:nvPr/>
        </p:nvSpPr>
        <p:spPr>
          <a:xfrm>
            <a:off x="1371600" y="2395728"/>
            <a:ext cx="1627632" cy="411480"/>
          </a:xfrm>
          <a:prstGeom prst="rect">
            <a:avLst/>
          </a:prstGeom>
          <a:noFill/>
          <a:ln/>
        </p:spPr>
        <p:txBody>
          <a:bodyPr wrap="square" lIns="0" tIns="0" rIns="0" bIns="0" rtlCol="0" anchor="ctr"/>
          <a:lstStyle/>
          <a:p>
            <a:pPr indent="0" marL="0">
              <a:buNone/>
            </a:pPr>
            <a:r>
              <a:rPr lang="en-US" sz="1250" b="1" dirty="0">
                <a:solidFill>
                  <a:srgbClr val="2E90FA"/>
                </a:solidFill>
                <a:latin typeface="Calibri" pitchFamily="34" charset="0"/>
                <a:ea typeface="Calibri" pitchFamily="34" charset="-122"/>
                <a:cs typeface="Calibri" pitchFamily="34" charset="-120"/>
              </a:rPr>
              <a:t>INPUTS</a:t>
            </a:r>
            <a:endParaRPr lang="en-US" sz="1250" dirty="0"/>
          </a:p>
        </p:txBody>
      </p:sp>
      <p:sp>
        <p:nvSpPr>
          <p:cNvPr id="16" name="Shape 14"/>
          <p:cNvSpPr/>
          <p:nvPr/>
        </p:nvSpPr>
        <p:spPr>
          <a:xfrm>
            <a:off x="822960" y="3108960"/>
            <a:ext cx="82296" cy="82296"/>
          </a:xfrm>
          <a:prstGeom prst="ellipse">
            <a:avLst/>
          </a:prstGeom>
          <a:solidFill>
            <a:srgbClr val="2E90FA"/>
          </a:solidFill>
          <a:ln/>
        </p:spPr>
        <p:txBody>
          <a:bodyPr/>
          <a:p/>
        </p:txBody>
      </p:sp>
      <p:sp>
        <p:nvSpPr>
          <p:cNvPr id="17" name="Text 15"/>
          <p:cNvSpPr/>
          <p:nvPr/>
        </p:nvSpPr>
        <p:spPr>
          <a:xfrm>
            <a:off x="1005840"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3D CAD (STEP · IGES · STL)</a:t>
            </a:r>
            <a:endParaRPr lang="en-US" sz="980" dirty="0"/>
          </a:p>
        </p:txBody>
      </p:sp>
      <p:sp>
        <p:nvSpPr>
          <p:cNvPr id="18" name="Shape 16"/>
          <p:cNvSpPr/>
          <p:nvPr/>
        </p:nvSpPr>
        <p:spPr>
          <a:xfrm>
            <a:off x="822960" y="3547872"/>
            <a:ext cx="82296" cy="82296"/>
          </a:xfrm>
          <a:prstGeom prst="ellipse">
            <a:avLst/>
          </a:prstGeom>
          <a:solidFill>
            <a:srgbClr val="2E90FA"/>
          </a:solidFill>
          <a:ln/>
        </p:spPr>
        <p:txBody>
          <a:bodyPr/>
          <a:p/>
        </p:txBody>
      </p:sp>
      <p:sp>
        <p:nvSpPr>
          <p:cNvPr id="19" name="Text 17"/>
          <p:cNvSpPr/>
          <p:nvPr/>
        </p:nvSpPr>
        <p:spPr>
          <a:xfrm>
            <a:off x="1005840"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Typed inputs per process</a:t>
            </a:r>
            <a:endParaRPr lang="en-US" sz="980" dirty="0"/>
          </a:p>
        </p:txBody>
      </p:sp>
      <p:sp>
        <p:nvSpPr>
          <p:cNvPr id="20" name="Shape 18"/>
          <p:cNvSpPr/>
          <p:nvPr/>
        </p:nvSpPr>
        <p:spPr>
          <a:xfrm>
            <a:off x="822960" y="3986784"/>
            <a:ext cx="82296" cy="82296"/>
          </a:xfrm>
          <a:prstGeom prst="ellipse">
            <a:avLst/>
          </a:prstGeom>
          <a:solidFill>
            <a:srgbClr val="2E90FA"/>
          </a:solidFill>
          <a:ln/>
        </p:spPr>
        <p:txBody>
          <a:bodyPr/>
          <a:p/>
        </p:txBody>
      </p:sp>
      <p:sp>
        <p:nvSpPr>
          <p:cNvPr id="21" name="Text 19"/>
          <p:cNvSpPr/>
          <p:nvPr/>
        </p:nvSpPr>
        <p:spPr>
          <a:xfrm>
            <a:off x="1005840"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DXF flat pattern (sheet)</a:t>
            </a:r>
            <a:endParaRPr lang="en-US" sz="980" dirty="0"/>
          </a:p>
        </p:txBody>
      </p:sp>
      <p:sp>
        <p:nvSpPr>
          <p:cNvPr id="22" name="Shape 20"/>
          <p:cNvSpPr/>
          <p:nvPr/>
        </p:nvSpPr>
        <p:spPr>
          <a:xfrm>
            <a:off x="822960" y="4425696"/>
            <a:ext cx="82296" cy="82296"/>
          </a:xfrm>
          <a:prstGeom prst="ellipse">
            <a:avLst/>
          </a:prstGeom>
          <a:solidFill>
            <a:srgbClr val="2E90FA"/>
          </a:solidFill>
          <a:ln/>
        </p:spPr>
        <p:txBody>
          <a:bodyPr/>
          <a:p/>
        </p:txBody>
      </p:sp>
      <p:sp>
        <p:nvSpPr>
          <p:cNvPr id="23" name="Text 21"/>
          <p:cNvSpPr/>
          <p:nvPr/>
        </p:nvSpPr>
        <p:spPr>
          <a:xfrm>
            <a:off x="1005840"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Supplier quote to compare</a:t>
            </a:r>
            <a:endParaRPr lang="en-US" sz="980" dirty="0"/>
          </a:p>
        </p:txBody>
      </p:sp>
      <p:sp>
        <p:nvSpPr>
          <p:cNvPr id="24" name="Shape 22"/>
          <p:cNvSpPr/>
          <p:nvPr/>
        </p:nvSpPr>
        <p:spPr>
          <a:xfrm>
            <a:off x="822960" y="4864608"/>
            <a:ext cx="82296" cy="82296"/>
          </a:xfrm>
          <a:prstGeom prst="ellipse">
            <a:avLst/>
          </a:prstGeom>
          <a:solidFill>
            <a:srgbClr val="2E90FA"/>
          </a:solidFill>
          <a:ln/>
        </p:spPr>
        <p:txBody>
          <a:bodyPr/>
          <a:p/>
        </p:txBody>
      </p:sp>
      <p:sp>
        <p:nvSpPr>
          <p:cNvPr id="25" name="Text 23"/>
          <p:cNvSpPr/>
          <p:nvPr/>
        </p:nvSpPr>
        <p:spPr>
          <a:xfrm>
            <a:off x="1005840"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Region + annual volume</a:t>
            </a:r>
            <a:endParaRPr lang="en-US" sz="980" dirty="0"/>
          </a:p>
        </p:txBody>
      </p:sp>
      <p:sp>
        <p:nvSpPr>
          <p:cNvPr id="26" name="Text 24"/>
          <p:cNvSpPr/>
          <p:nvPr/>
        </p:nvSpPr>
        <p:spPr>
          <a:xfrm>
            <a:off x="3108960"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27" name="Shape 25"/>
          <p:cNvSpPr/>
          <p:nvPr/>
        </p:nvSpPr>
        <p:spPr>
          <a:xfrm>
            <a:off x="3419856"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9.703735953822469e+45" dist="2.7724959868064195e+45" dir="3.2651735040000005e+54">
              <a:srgbClr val="9DB0CC">
                <a:alpha val="2.2e+54"/>
              </a:srgbClr>
            </a:outerShdw>
          </a:effectLst>
        </p:spPr>
        <p:txBody>
          <a:bodyPr/>
          <a:p/>
        </p:txBody>
      </p:sp>
      <p:sp>
        <p:nvSpPr>
          <p:cNvPr id="28" name="Shape 26"/>
          <p:cNvSpPr/>
          <p:nvPr/>
        </p:nvSpPr>
        <p:spPr>
          <a:xfrm>
            <a:off x="3419856" y="2103120"/>
            <a:ext cx="82296" cy="3291840"/>
          </a:xfrm>
          <a:prstGeom prst="rect">
            <a:avLst/>
          </a:prstGeom>
          <a:solidFill>
            <a:srgbClr val="7C3AED"/>
          </a:solidFill>
          <a:ln/>
        </p:spPr>
        <p:txBody>
          <a:bodyPr/>
          <a:p/>
        </p:txBody>
      </p:sp>
      <p:sp>
        <p:nvSpPr>
          <p:cNvPr id="29" name="Shape 27"/>
          <p:cNvSpPr/>
          <p:nvPr/>
        </p:nvSpPr>
        <p:spPr>
          <a:xfrm>
            <a:off x="3675888" y="2359152"/>
            <a:ext cx="457200" cy="457200"/>
          </a:xfrm>
          <a:prstGeom prst="ellipse">
            <a:avLst/>
          </a:prstGeom>
          <a:solidFill>
            <a:srgbClr val="F3EEFE"/>
          </a:solidFill>
          <a:ln/>
        </p:spPr>
        <p:txBody>
          <a:bodyPr/>
          <a:p/>
        </p:txBody>
      </p:sp>
      <p:sp>
        <p:nvSpPr>
          <p:cNvPr id="30" name="Text 28"/>
          <p:cNvSpPr/>
          <p:nvPr/>
        </p:nvSpPr>
        <p:spPr>
          <a:xfrm>
            <a:off x="3675888"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31" name="Text 29"/>
          <p:cNvSpPr/>
          <p:nvPr/>
        </p:nvSpPr>
        <p:spPr>
          <a:xfrm>
            <a:off x="4242816" y="2395728"/>
            <a:ext cx="1627632" cy="411480"/>
          </a:xfrm>
          <a:prstGeom prst="rect">
            <a:avLst/>
          </a:prstGeom>
          <a:noFill/>
          <a:ln/>
        </p:spPr>
        <p:txBody>
          <a:bodyPr wrap="square" lIns="0" tIns="0" rIns="0" bIns="0" rtlCol="0" anchor="ctr"/>
          <a:lstStyle/>
          <a:p>
            <a:pPr indent="0" marL="0">
              <a:buNone/>
            </a:pPr>
            <a:r>
              <a:rPr lang="en-US" sz="1250" b="1" dirty="0">
                <a:solidFill>
                  <a:srgbClr val="7C3AED"/>
                </a:solidFill>
                <a:latin typeface="Calibri" pitchFamily="34" charset="0"/>
                <a:ea typeface="Calibri" pitchFamily="34" charset="-122"/>
                <a:cs typeface="Calibri" pitchFamily="34" charset="-120"/>
              </a:rPr>
              <a:t>MEASURE &amp; ASK</a:t>
            </a:r>
            <a:endParaRPr lang="en-US" sz="1250" dirty="0"/>
          </a:p>
        </p:txBody>
      </p:sp>
      <p:sp>
        <p:nvSpPr>
          <p:cNvPr id="32" name="Shape 30"/>
          <p:cNvSpPr/>
          <p:nvPr/>
        </p:nvSpPr>
        <p:spPr>
          <a:xfrm>
            <a:off x="3694176" y="3108960"/>
            <a:ext cx="82296" cy="82296"/>
          </a:xfrm>
          <a:prstGeom prst="ellipse">
            <a:avLst/>
          </a:prstGeom>
          <a:solidFill>
            <a:srgbClr val="7C3AED"/>
          </a:solidFill>
          <a:ln/>
        </p:spPr>
        <p:txBody>
          <a:bodyPr/>
          <a:p/>
        </p:txBody>
      </p:sp>
      <p:sp>
        <p:nvSpPr>
          <p:cNvPr id="33" name="Text 31"/>
          <p:cNvSpPr/>
          <p:nvPr/>
        </p:nvSpPr>
        <p:spPr>
          <a:xfrm>
            <a:off x="3877056"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Geometry engine (OpenCASCADE)</a:t>
            </a:r>
            <a:endParaRPr lang="en-US" sz="980" dirty="0"/>
          </a:p>
        </p:txBody>
      </p:sp>
      <p:sp>
        <p:nvSpPr>
          <p:cNvPr id="34" name="Shape 32"/>
          <p:cNvSpPr/>
          <p:nvPr/>
        </p:nvSpPr>
        <p:spPr>
          <a:xfrm>
            <a:off x="3694176" y="3547872"/>
            <a:ext cx="82296" cy="82296"/>
          </a:xfrm>
          <a:prstGeom prst="ellipse">
            <a:avLst/>
          </a:prstGeom>
          <a:solidFill>
            <a:srgbClr val="7C3AED"/>
          </a:solidFill>
          <a:ln/>
        </p:spPr>
        <p:txBody>
          <a:bodyPr/>
          <a:p/>
        </p:txBody>
      </p:sp>
      <p:sp>
        <p:nvSpPr>
          <p:cNvPr id="35" name="Text 33"/>
          <p:cNvSpPr/>
          <p:nvPr/>
        </p:nvSpPr>
        <p:spPr>
          <a:xfrm>
            <a:off x="3877056"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Rules → cost inputs</a:t>
            </a:r>
            <a:endParaRPr lang="en-US" sz="980" dirty="0"/>
          </a:p>
        </p:txBody>
      </p:sp>
      <p:sp>
        <p:nvSpPr>
          <p:cNvPr id="36" name="Shape 34"/>
          <p:cNvSpPr/>
          <p:nvPr/>
        </p:nvSpPr>
        <p:spPr>
          <a:xfrm>
            <a:off x="3694176" y="3986784"/>
            <a:ext cx="82296" cy="82296"/>
          </a:xfrm>
          <a:prstGeom prst="ellipse">
            <a:avLst/>
          </a:prstGeom>
          <a:solidFill>
            <a:srgbClr val="7C3AED"/>
          </a:solidFill>
          <a:ln/>
        </p:spPr>
        <p:txBody>
          <a:bodyPr/>
          <a:p/>
        </p:txBody>
      </p:sp>
      <p:sp>
        <p:nvSpPr>
          <p:cNvPr id="37" name="Text 35"/>
          <p:cNvSpPr/>
          <p:nvPr/>
        </p:nvSpPr>
        <p:spPr>
          <a:xfrm>
            <a:off x="3877056"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Feature table: holes, pockets</a:t>
            </a:r>
            <a:endParaRPr lang="en-US" sz="980" dirty="0"/>
          </a:p>
        </p:txBody>
      </p:sp>
      <p:sp>
        <p:nvSpPr>
          <p:cNvPr id="38" name="Shape 36"/>
          <p:cNvSpPr/>
          <p:nvPr/>
        </p:nvSpPr>
        <p:spPr>
          <a:xfrm>
            <a:off x="3694176" y="4425696"/>
            <a:ext cx="82296" cy="82296"/>
          </a:xfrm>
          <a:prstGeom prst="ellipse">
            <a:avLst/>
          </a:prstGeom>
          <a:solidFill>
            <a:srgbClr val="7C3AED"/>
          </a:solidFill>
          <a:ln/>
        </p:spPr>
        <p:txBody>
          <a:bodyPr/>
          <a:p/>
        </p:txBody>
      </p:sp>
      <p:sp>
        <p:nvSpPr>
          <p:cNvPr id="39" name="Text 37"/>
          <p:cNvSpPr/>
          <p:nvPr/>
        </p:nvSpPr>
        <p:spPr>
          <a:xfrm>
            <a:off x="3877056"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Questions for the engineer</a:t>
            </a:r>
            <a:endParaRPr lang="en-US" sz="980" dirty="0"/>
          </a:p>
        </p:txBody>
      </p:sp>
      <p:sp>
        <p:nvSpPr>
          <p:cNvPr id="40" name="Shape 38"/>
          <p:cNvSpPr/>
          <p:nvPr/>
        </p:nvSpPr>
        <p:spPr>
          <a:xfrm>
            <a:off x="3694176" y="4864608"/>
            <a:ext cx="82296" cy="82296"/>
          </a:xfrm>
          <a:prstGeom prst="ellipse">
            <a:avLst/>
          </a:prstGeom>
          <a:solidFill>
            <a:srgbClr val="7C3AED"/>
          </a:solidFill>
          <a:ln/>
        </p:spPr>
        <p:txBody>
          <a:bodyPr/>
          <a:p/>
        </p:txBody>
      </p:sp>
      <p:sp>
        <p:nvSpPr>
          <p:cNvPr id="41" name="Text 39"/>
          <p:cNvSpPr/>
          <p:nvPr/>
        </p:nvSpPr>
        <p:spPr>
          <a:xfrm>
            <a:off x="3877056"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Optional AI — off at JLR</a:t>
            </a:r>
            <a:endParaRPr lang="en-US" sz="980" dirty="0"/>
          </a:p>
        </p:txBody>
      </p:sp>
      <p:sp>
        <p:nvSpPr>
          <p:cNvPr id="42" name="Text 40"/>
          <p:cNvSpPr/>
          <p:nvPr/>
        </p:nvSpPr>
        <p:spPr>
          <a:xfrm>
            <a:off x="5980176"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43" name="Shape 41"/>
          <p:cNvSpPr/>
          <p:nvPr/>
        </p:nvSpPr>
        <p:spPr>
          <a:xfrm>
            <a:off x="6291072"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1.2323744661354536e+50" dist="3.5210699032441527e+49" dir="1.9591041024000004e+59">
              <a:srgbClr val="9DB0CC">
                <a:alpha val="2.2e+59"/>
              </a:srgbClr>
            </a:outerShdw>
          </a:effectLst>
        </p:spPr>
        <p:txBody>
          <a:bodyPr/>
          <a:p/>
        </p:txBody>
      </p:sp>
      <p:sp>
        <p:nvSpPr>
          <p:cNvPr id="44" name="Shape 42"/>
          <p:cNvSpPr/>
          <p:nvPr/>
        </p:nvSpPr>
        <p:spPr>
          <a:xfrm>
            <a:off x="6291072" y="2103120"/>
            <a:ext cx="82296" cy="3291840"/>
          </a:xfrm>
          <a:prstGeom prst="rect">
            <a:avLst/>
          </a:prstGeom>
          <a:solidFill>
            <a:srgbClr val="0DA5A0"/>
          </a:solidFill>
          <a:ln/>
        </p:spPr>
        <p:txBody>
          <a:bodyPr/>
          <a:p/>
        </p:txBody>
      </p:sp>
      <p:sp>
        <p:nvSpPr>
          <p:cNvPr id="45" name="Shape 43"/>
          <p:cNvSpPr/>
          <p:nvPr/>
        </p:nvSpPr>
        <p:spPr>
          <a:xfrm>
            <a:off x="6547104" y="2359152"/>
            <a:ext cx="457200" cy="457200"/>
          </a:xfrm>
          <a:prstGeom prst="ellipse">
            <a:avLst/>
          </a:prstGeom>
          <a:solidFill>
            <a:srgbClr val="E7F7F0"/>
          </a:solidFill>
          <a:ln/>
        </p:spPr>
        <p:txBody>
          <a:bodyPr/>
          <a:p/>
        </p:txBody>
      </p:sp>
      <p:sp>
        <p:nvSpPr>
          <p:cNvPr id="46" name="Text 44"/>
          <p:cNvSpPr/>
          <p:nvPr/>
        </p:nvSpPr>
        <p:spPr>
          <a:xfrm>
            <a:off x="6547104"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47" name="Text 45"/>
          <p:cNvSpPr/>
          <p:nvPr/>
        </p:nvSpPr>
        <p:spPr>
          <a:xfrm>
            <a:off x="7114032" y="2395728"/>
            <a:ext cx="1627632" cy="411480"/>
          </a:xfrm>
          <a:prstGeom prst="rect">
            <a:avLst/>
          </a:prstGeom>
          <a:noFill/>
          <a:ln/>
        </p:spPr>
        <p:txBody>
          <a:bodyPr wrap="square" lIns="0" tIns="0" rIns="0" bIns="0" rtlCol="0" anchor="ctr"/>
          <a:lstStyle/>
          <a:p>
            <a:pPr indent="0" marL="0">
              <a:buNone/>
            </a:pPr>
            <a:r>
              <a:rPr lang="en-US" sz="1250" b="1" dirty="0">
                <a:solidFill>
                  <a:srgbClr val="0DA5A0"/>
                </a:solidFill>
                <a:latin typeface="Calibri" pitchFamily="34" charset="0"/>
                <a:ea typeface="Calibri" pitchFamily="34" charset="-122"/>
                <a:cs typeface="Calibri" pitchFamily="34" charset="-120"/>
              </a:rPr>
              <a:t>FIXED ARITHMETIC</a:t>
            </a:r>
            <a:endParaRPr lang="en-US" sz="1250" dirty="0"/>
          </a:p>
        </p:txBody>
      </p:sp>
      <p:sp>
        <p:nvSpPr>
          <p:cNvPr id="48" name="Shape 46"/>
          <p:cNvSpPr/>
          <p:nvPr/>
        </p:nvSpPr>
        <p:spPr>
          <a:xfrm>
            <a:off x="6565392" y="3108960"/>
            <a:ext cx="82296" cy="82296"/>
          </a:xfrm>
          <a:prstGeom prst="ellipse">
            <a:avLst/>
          </a:prstGeom>
          <a:solidFill>
            <a:srgbClr val="0DA5A0"/>
          </a:solidFill>
          <a:ln/>
        </p:spPr>
        <p:txBody>
          <a:bodyPr/>
          <a:p/>
        </p:txBody>
      </p:sp>
      <p:sp>
        <p:nvSpPr>
          <p:cNvPr id="49" name="Text 47"/>
          <p:cNvSpPr/>
          <p:nvPr/>
        </p:nvSpPr>
        <p:spPr>
          <a:xfrm>
            <a:off x="6748272"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19 manufacturing processes</a:t>
            </a:r>
            <a:endParaRPr lang="en-US" sz="980" dirty="0"/>
          </a:p>
        </p:txBody>
      </p:sp>
      <p:sp>
        <p:nvSpPr>
          <p:cNvPr id="50" name="Shape 48"/>
          <p:cNvSpPr/>
          <p:nvPr/>
        </p:nvSpPr>
        <p:spPr>
          <a:xfrm>
            <a:off x="6565392" y="3547872"/>
            <a:ext cx="82296" cy="82296"/>
          </a:xfrm>
          <a:prstGeom prst="ellipse">
            <a:avLst/>
          </a:prstGeom>
          <a:solidFill>
            <a:srgbClr val="0DA5A0"/>
          </a:solidFill>
          <a:ln/>
        </p:spPr>
        <p:txBody>
          <a:bodyPr/>
          <a:p/>
        </p:txBody>
      </p:sp>
      <p:sp>
        <p:nvSpPr>
          <p:cNvPr id="51" name="Text 49"/>
          <p:cNvSpPr/>
          <p:nvPr/>
        </p:nvSpPr>
        <p:spPr>
          <a:xfrm>
            <a:off x="6748272"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Feature-based machining</a:t>
            </a:r>
            <a:endParaRPr lang="en-US" sz="980" dirty="0"/>
          </a:p>
        </p:txBody>
      </p:sp>
      <p:sp>
        <p:nvSpPr>
          <p:cNvPr id="52" name="Shape 50"/>
          <p:cNvSpPr/>
          <p:nvPr/>
        </p:nvSpPr>
        <p:spPr>
          <a:xfrm>
            <a:off x="6565392" y="3986784"/>
            <a:ext cx="82296" cy="82296"/>
          </a:xfrm>
          <a:prstGeom prst="ellipse">
            <a:avLst/>
          </a:prstGeom>
          <a:solidFill>
            <a:srgbClr val="0DA5A0"/>
          </a:solidFill>
          <a:ln/>
        </p:spPr>
        <p:txBody>
          <a:bodyPr/>
          <a:p/>
        </p:txBody>
      </p:sp>
      <p:sp>
        <p:nvSpPr>
          <p:cNvPr id="53" name="Text 51"/>
          <p:cNvSpPr/>
          <p:nvPr/>
        </p:nvSpPr>
        <p:spPr>
          <a:xfrm>
            <a:off x="6748272"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20-region rate tables</a:t>
            </a:r>
            <a:endParaRPr lang="en-US" sz="980" dirty="0"/>
          </a:p>
        </p:txBody>
      </p:sp>
      <p:sp>
        <p:nvSpPr>
          <p:cNvPr id="54" name="Shape 52"/>
          <p:cNvSpPr/>
          <p:nvPr/>
        </p:nvSpPr>
        <p:spPr>
          <a:xfrm>
            <a:off x="6565392" y="4425696"/>
            <a:ext cx="82296" cy="82296"/>
          </a:xfrm>
          <a:prstGeom prst="ellipse">
            <a:avLst/>
          </a:prstGeom>
          <a:solidFill>
            <a:srgbClr val="0DA5A0"/>
          </a:solidFill>
          <a:ln/>
        </p:spPr>
        <p:txBody>
          <a:bodyPr/>
          <a:p/>
        </p:txBody>
      </p:sp>
      <p:sp>
        <p:nvSpPr>
          <p:cNvPr id="55" name="Text 53"/>
          <p:cNvSpPr/>
          <p:nvPr/>
        </p:nvSpPr>
        <p:spPr>
          <a:xfrm>
            <a:off x="6748272"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Volume &amp; tooling spread</a:t>
            </a:r>
            <a:endParaRPr lang="en-US" sz="980" dirty="0"/>
          </a:p>
        </p:txBody>
      </p:sp>
      <p:sp>
        <p:nvSpPr>
          <p:cNvPr id="56" name="Shape 54"/>
          <p:cNvSpPr/>
          <p:nvPr/>
        </p:nvSpPr>
        <p:spPr>
          <a:xfrm>
            <a:off x="6565392" y="4864608"/>
            <a:ext cx="82296" cy="82296"/>
          </a:xfrm>
          <a:prstGeom prst="ellipse">
            <a:avLst/>
          </a:prstGeom>
          <a:solidFill>
            <a:srgbClr val="0DA5A0"/>
          </a:solidFill>
          <a:ln/>
        </p:spPr>
        <p:txBody>
          <a:bodyPr/>
          <a:p/>
        </p:txBody>
      </p:sp>
      <p:sp>
        <p:nvSpPr>
          <p:cNvPr id="57" name="Text 55"/>
          <p:cNvSpPr/>
          <p:nvPr/>
        </p:nvSpPr>
        <p:spPr>
          <a:xfrm>
            <a:off x="6748272"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Self-audit &amp; sanity checks</a:t>
            </a:r>
            <a:endParaRPr lang="en-US" sz="980" dirty="0"/>
          </a:p>
        </p:txBody>
      </p:sp>
      <p:sp>
        <p:nvSpPr>
          <p:cNvPr id="58" name="Text 56"/>
          <p:cNvSpPr/>
          <p:nvPr/>
        </p:nvSpPr>
        <p:spPr>
          <a:xfrm>
            <a:off x="8851392" y="3474720"/>
            <a:ext cx="329184"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59" name="Shape 57"/>
          <p:cNvSpPr/>
          <p:nvPr/>
        </p:nvSpPr>
        <p:spPr>
          <a:xfrm>
            <a:off x="9162288" y="2103120"/>
            <a:ext cx="2542032" cy="3291840"/>
          </a:xfrm>
          <a:prstGeom prst="roundRect">
            <a:avLst>
              <a:gd name="adj" fmla="val 2518"/>
            </a:avLst>
          </a:prstGeom>
          <a:solidFill>
            <a:srgbClr val="FFFFFF"/>
          </a:solidFill>
          <a:ln w="12700">
            <a:solidFill>
              <a:srgbClr val="E4EAF2"/>
            </a:solidFill>
            <a:prstDash val="solid"/>
          </a:ln>
          <a:effectLst>
            <a:outerShdw sx="100000" sy="100000" kx="0" ky="0" algn="bl" rotWithShape="0" blurRad="1.5651155719920262e+54" dist="4.471758777120074e+53" dir="1.1754624614400003e+64">
              <a:srgbClr val="9DB0CC">
                <a:alpha val="2.2e+64"/>
              </a:srgbClr>
            </a:outerShdw>
          </a:effectLst>
        </p:spPr>
        <p:txBody>
          <a:bodyPr/>
          <a:p/>
        </p:txBody>
      </p:sp>
      <p:sp>
        <p:nvSpPr>
          <p:cNvPr id="60" name="Shape 58"/>
          <p:cNvSpPr/>
          <p:nvPr/>
        </p:nvSpPr>
        <p:spPr>
          <a:xfrm>
            <a:off x="9162288" y="2103120"/>
            <a:ext cx="82296" cy="3291840"/>
          </a:xfrm>
          <a:prstGeom prst="rect">
            <a:avLst/>
          </a:prstGeom>
          <a:solidFill>
            <a:srgbClr val="0EA472"/>
          </a:solidFill>
          <a:ln/>
        </p:spPr>
        <p:txBody>
          <a:bodyPr/>
          <a:p/>
        </p:txBody>
      </p:sp>
      <p:sp>
        <p:nvSpPr>
          <p:cNvPr id="61" name="Shape 59"/>
          <p:cNvSpPr/>
          <p:nvPr/>
        </p:nvSpPr>
        <p:spPr>
          <a:xfrm>
            <a:off x="9418320" y="2359152"/>
            <a:ext cx="457200" cy="457200"/>
          </a:xfrm>
          <a:prstGeom prst="ellipse">
            <a:avLst/>
          </a:prstGeom>
          <a:solidFill>
            <a:srgbClr val="E7F7F0"/>
          </a:solidFill>
          <a:ln/>
        </p:spPr>
        <p:txBody>
          <a:bodyPr/>
          <a:p/>
        </p:txBody>
      </p:sp>
      <p:sp>
        <p:nvSpPr>
          <p:cNvPr id="62" name="Text 60"/>
          <p:cNvSpPr/>
          <p:nvPr/>
        </p:nvSpPr>
        <p:spPr>
          <a:xfrm>
            <a:off x="9418320" y="2350008"/>
            <a:ext cx="457200" cy="457200"/>
          </a:xfrm>
          <a:prstGeom prst="rect">
            <a:avLst/>
          </a:prstGeom>
          <a:noFill/>
          <a:ln/>
        </p:spPr>
        <p:txBody>
          <a:bodyPr wrap="square" lIns="0" tIns="0" rIns="0" bIns="0" rtlCol="0" anchor="ctr"/>
          <a:lstStyle/>
          <a:p>
            <a:pPr algn="ctr" indent="0" marL="0">
              <a:buNone/>
            </a:pPr>
            <a:endParaRPr lang="en-US" sz="1700" dirty="0"/>
          </a:p>
        </p:txBody>
      </p:sp>
      <p:sp>
        <p:nvSpPr>
          <p:cNvPr id="63" name="Text 61"/>
          <p:cNvSpPr/>
          <p:nvPr/>
        </p:nvSpPr>
        <p:spPr>
          <a:xfrm>
            <a:off x="9985248" y="2395728"/>
            <a:ext cx="1627632" cy="411480"/>
          </a:xfrm>
          <a:prstGeom prst="rect">
            <a:avLst/>
          </a:prstGeom>
          <a:noFill/>
          <a:ln/>
        </p:spPr>
        <p:txBody>
          <a:bodyPr wrap="square" lIns="0" tIns="0" rIns="0" bIns="0" rtlCol="0" anchor="ctr"/>
          <a:lstStyle/>
          <a:p>
            <a:pPr indent="0" marL="0">
              <a:buNone/>
            </a:pPr>
            <a:r>
              <a:rPr lang="en-US" sz="1250" b="1" dirty="0">
                <a:solidFill>
                  <a:srgbClr val="0EA472"/>
                </a:solidFill>
                <a:latin typeface="Calibri" pitchFamily="34" charset="0"/>
                <a:ea typeface="Calibri" pitchFamily="34" charset="-122"/>
                <a:cs typeface="Calibri" pitchFamily="34" charset="-120"/>
              </a:rPr>
              <a:t>OUTPUTS</a:t>
            </a:r>
            <a:endParaRPr lang="en-US" sz="1250" dirty="0"/>
          </a:p>
        </p:txBody>
      </p:sp>
      <p:sp>
        <p:nvSpPr>
          <p:cNvPr id="64" name="Shape 62"/>
          <p:cNvSpPr/>
          <p:nvPr/>
        </p:nvSpPr>
        <p:spPr>
          <a:xfrm>
            <a:off x="9436608" y="3108960"/>
            <a:ext cx="82296" cy="82296"/>
          </a:xfrm>
          <a:prstGeom prst="ellipse">
            <a:avLst/>
          </a:prstGeom>
          <a:solidFill>
            <a:srgbClr val="0EA472"/>
          </a:solidFill>
          <a:ln/>
        </p:spPr>
        <p:txBody>
          <a:bodyPr/>
          <a:p/>
        </p:txBody>
      </p:sp>
      <p:sp>
        <p:nvSpPr>
          <p:cNvPr id="65" name="Text 63"/>
          <p:cNvSpPr/>
          <p:nvPr/>
        </p:nvSpPr>
        <p:spPr>
          <a:xfrm>
            <a:off x="9619488" y="3017520"/>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Costed 8-bucket breakdown</a:t>
            </a:r>
            <a:endParaRPr lang="en-US" sz="980" dirty="0"/>
          </a:p>
        </p:txBody>
      </p:sp>
      <p:sp>
        <p:nvSpPr>
          <p:cNvPr id="66" name="Shape 64"/>
          <p:cNvSpPr/>
          <p:nvPr/>
        </p:nvSpPr>
        <p:spPr>
          <a:xfrm>
            <a:off x="9436608" y="3547872"/>
            <a:ext cx="82296" cy="82296"/>
          </a:xfrm>
          <a:prstGeom prst="ellipse">
            <a:avLst/>
          </a:prstGeom>
          <a:solidFill>
            <a:srgbClr val="0EA472"/>
          </a:solidFill>
          <a:ln/>
        </p:spPr>
        <p:txBody>
          <a:bodyPr/>
          <a:p/>
        </p:txBody>
      </p:sp>
      <p:sp>
        <p:nvSpPr>
          <p:cNvPr id="67" name="Text 65"/>
          <p:cNvSpPr/>
          <p:nvPr/>
        </p:nvSpPr>
        <p:spPr>
          <a:xfrm>
            <a:off x="9619488" y="3456432"/>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Uncertainty band (P10–P90)</a:t>
            </a:r>
            <a:endParaRPr lang="en-US" sz="980" dirty="0"/>
          </a:p>
        </p:txBody>
      </p:sp>
      <p:sp>
        <p:nvSpPr>
          <p:cNvPr id="68" name="Shape 66"/>
          <p:cNvSpPr/>
          <p:nvPr/>
        </p:nvSpPr>
        <p:spPr>
          <a:xfrm>
            <a:off x="9436608" y="3986784"/>
            <a:ext cx="82296" cy="82296"/>
          </a:xfrm>
          <a:prstGeom prst="ellipse">
            <a:avLst/>
          </a:prstGeom>
          <a:solidFill>
            <a:srgbClr val="0EA472"/>
          </a:solidFill>
          <a:ln/>
        </p:spPr>
        <p:txBody>
          <a:bodyPr/>
          <a:p/>
        </p:txBody>
      </p:sp>
      <p:sp>
        <p:nvSpPr>
          <p:cNvPr id="69" name="Text 67"/>
          <p:cNvSpPr/>
          <p:nvPr/>
        </p:nvSpPr>
        <p:spPr>
          <a:xfrm>
            <a:off x="9619488" y="3895344"/>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Negotiation pack</a:t>
            </a:r>
            <a:endParaRPr lang="en-US" sz="980" dirty="0"/>
          </a:p>
        </p:txBody>
      </p:sp>
      <p:sp>
        <p:nvSpPr>
          <p:cNvPr id="70" name="Shape 68"/>
          <p:cNvSpPr/>
          <p:nvPr/>
        </p:nvSpPr>
        <p:spPr>
          <a:xfrm>
            <a:off x="9436608" y="4425696"/>
            <a:ext cx="82296" cy="82296"/>
          </a:xfrm>
          <a:prstGeom prst="ellipse">
            <a:avLst/>
          </a:prstGeom>
          <a:solidFill>
            <a:srgbClr val="0EA472"/>
          </a:solidFill>
          <a:ln/>
        </p:spPr>
        <p:txBody>
          <a:bodyPr/>
          <a:p/>
        </p:txBody>
      </p:sp>
      <p:sp>
        <p:nvSpPr>
          <p:cNvPr id="71" name="Text 69"/>
          <p:cNvSpPr/>
          <p:nvPr/>
        </p:nvSpPr>
        <p:spPr>
          <a:xfrm>
            <a:off x="9619488" y="4334256"/>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Excel · PDF exports</a:t>
            </a:r>
            <a:endParaRPr lang="en-US" sz="980" dirty="0"/>
          </a:p>
        </p:txBody>
      </p:sp>
      <p:sp>
        <p:nvSpPr>
          <p:cNvPr id="72" name="Shape 70"/>
          <p:cNvSpPr/>
          <p:nvPr/>
        </p:nvSpPr>
        <p:spPr>
          <a:xfrm>
            <a:off x="9436608" y="4864608"/>
            <a:ext cx="82296" cy="82296"/>
          </a:xfrm>
          <a:prstGeom prst="ellipse">
            <a:avLst/>
          </a:prstGeom>
          <a:solidFill>
            <a:srgbClr val="0EA472"/>
          </a:solidFill>
          <a:ln/>
        </p:spPr>
        <p:txBody>
          <a:bodyPr/>
          <a:p/>
        </p:txBody>
      </p:sp>
      <p:sp>
        <p:nvSpPr>
          <p:cNvPr id="73" name="Text 71"/>
          <p:cNvSpPr/>
          <p:nvPr/>
        </p:nvSpPr>
        <p:spPr>
          <a:xfrm>
            <a:off x="9619488" y="4773168"/>
            <a:ext cx="1901952"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Carbon (CO₂e) alongside £</a:t>
            </a:r>
            <a:endParaRPr lang="en-US" sz="980" dirty="0"/>
          </a:p>
        </p:txBody>
      </p:sp>
      <p:sp>
        <p:nvSpPr>
          <p:cNvPr id="74" name="Shape 72"/>
          <p:cNvSpPr/>
          <p:nvPr/>
        </p:nvSpPr>
        <p:spPr>
          <a:xfrm>
            <a:off x="548640" y="5623560"/>
            <a:ext cx="11091672" cy="566928"/>
          </a:xfrm>
          <a:prstGeom prst="roundRect">
            <a:avLst>
              <a:gd name="adj" fmla="val 11290"/>
            </a:avLst>
          </a:prstGeom>
          <a:solidFill>
            <a:srgbClr val="F4F7FB"/>
          </a:solidFill>
          <a:ln w="12700">
            <a:solidFill>
              <a:srgbClr val="E4EAF2"/>
            </a:solidFill>
            <a:prstDash val="solid"/>
          </a:ln>
        </p:spPr>
        <p:txBody>
          <a:bodyPr/>
          <a:p/>
        </p:txBody>
      </p:sp>
      <p:sp>
        <p:nvSpPr>
          <p:cNvPr id="75" name="Text 73"/>
          <p:cNvSpPr/>
          <p:nvPr/>
        </p:nvSpPr>
        <p:spPr>
          <a:xfrm>
            <a:off x="914400" y="5623560"/>
            <a:ext cx="10332720" cy="566928"/>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The golden rule:  </a:t>
            </a:r>
            <a:pPr indent="0" marL="0">
              <a:buNone/>
            </a:pPr>
            <a:r>
              <a:rPr lang="en-US" sz="1200" dirty="0">
                <a:solidFill>
                  <a:srgbClr val="3E4C63"/>
                </a:solidFill>
                <a:latin typeface="Calibri" pitchFamily="34" charset="0"/>
                <a:ea typeface="Calibri" pitchFamily="34" charset="-122"/>
                <a:cs typeface="Calibri" pitchFamily="34" charset="-120"/>
              </a:rPr>
              <a:t>AI never sets a price — even when it is switched on. Every pound is plain arithmetic we can trace and defend.</a:t>
            </a:r>
            <a:endParaRPr lang="en-US" sz="1200" dirty="0"/>
          </a:p>
        </p:txBody>
      </p:sp>
      <p:sp>
        <p:nvSpPr>
          <p:cNvPr id="76" name="Shape 74"/>
          <p:cNvSpPr/>
          <p:nvPr/>
        </p:nvSpPr>
        <p:spPr>
          <a:xfrm>
            <a:off x="548640" y="6400800"/>
            <a:ext cx="11094415" cy="12802"/>
          </a:xfrm>
          <a:prstGeom prst="rect">
            <a:avLst/>
          </a:prstGeom>
          <a:solidFill>
            <a:srgbClr val="E4EAF2"/>
          </a:solidFill>
          <a:ln/>
        </p:spPr>
        <p:txBody>
          <a:bodyPr/>
          <a:p/>
        </p:txBody>
      </p:sp>
      <p:sp>
        <p:nvSpPr>
          <p:cNvPr id="77" name="Text 7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8" name="Text 7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5 / 33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WHAT IT DOES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One platform, four jobs — the capability map</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91640"/>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1.9876967764298733e+58" dist="5.679133646942494e+57" dir="7.052774768640002e+68">
              <a:srgbClr val="9DB0CC">
                <a:alpha val="2.2e+69"/>
              </a:srgbClr>
            </a:outerShdw>
          </a:effectLst>
        </p:spPr>
        <p:txBody>
          <a:bodyPr/>
          <a:p/>
        </p:txBody>
      </p:sp>
      <p:sp>
        <p:nvSpPr>
          <p:cNvPr id="11" name="Shape 9"/>
          <p:cNvSpPr/>
          <p:nvPr/>
        </p:nvSpPr>
        <p:spPr>
          <a:xfrm>
            <a:off x="548640" y="1691640"/>
            <a:ext cx="82296" cy="2148840"/>
          </a:xfrm>
          <a:prstGeom prst="rect">
            <a:avLst/>
          </a:prstGeom>
          <a:solidFill>
            <a:srgbClr val="2563EB"/>
          </a:solidFill>
          <a:ln/>
        </p:spPr>
        <p:txBody>
          <a:bodyPr/>
          <a:p/>
        </p:txBody>
      </p:sp>
      <p:sp>
        <p:nvSpPr>
          <p:cNvPr id="12" name="Text 10"/>
          <p:cNvSpPr/>
          <p:nvPr/>
        </p:nvSpPr>
        <p:spPr>
          <a:xfrm>
            <a:off x="822960" y="1856232"/>
            <a:ext cx="4937760" cy="320040"/>
          </a:xfrm>
          <a:prstGeom prst="rect">
            <a:avLst/>
          </a:prstGeom>
          <a:noFill/>
          <a:ln/>
        </p:spPr>
        <p:txBody>
          <a:bodyPr wrap="square" lIns="0" tIns="0" rIns="0" bIns="0" rtlCol="0" anchor="t"/>
          <a:lstStyle/>
          <a:p>
            <a:pPr indent="0" marL="0">
              <a:buNone/>
            </a:pPr>
            <a:r>
              <a:rPr lang="en-US" sz="1350" b="1" spc="50" kern="0" dirty="0">
                <a:solidFill>
                  <a:srgbClr val="2563EB"/>
                </a:solidFill>
                <a:latin typeface="Calibri" pitchFamily="34" charset="0"/>
                <a:ea typeface="Calibri" pitchFamily="34" charset="-122"/>
                <a:cs typeface="Calibri" pitchFamily="34" charset="-120"/>
              </a:rPr>
              <a:t>ESTIMATE</a:t>
            </a:r>
            <a:endParaRPr lang="en-US" sz="1350" dirty="0"/>
          </a:p>
        </p:txBody>
      </p:sp>
      <p:sp>
        <p:nvSpPr>
          <p:cNvPr id="13" name="Shape 11"/>
          <p:cNvSpPr/>
          <p:nvPr/>
        </p:nvSpPr>
        <p:spPr>
          <a:xfrm>
            <a:off x="841248" y="2368296"/>
            <a:ext cx="91440" cy="91440"/>
          </a:xfrm>
          <a:prstGeom prst="ellipse">
            <a:avLst/>
          </a:prstGeom>
          <a:solidFill>
            <a:srgbClr val="2563EB"/>
          </a:solidFill>
          <a:ln/>
        </p:spPr>
        <p:txBody>
          <a:bodyPr/>
          <a:p/>
        </p:txBody>
      </p:sp>
      <p:sp>
        <p:nvSpPr>
          <p:cNvPr id="14" name="Text 12"/>
          <p:cNvSpPr/>
          <p:nvPr/>
        </p:nvSpPr>
        <p:spPr>
          <a:xfrm>
            <a:off x="1024128"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CAD → Cost (3D model)</a:t>
            </a:r>
            <a:endParaRPr lang="en-US" sz="1000" dirty="0"/>
          </a:p>
        </p:txBody>
      </p:sp>
      <p:sp>
        <p:nvSpPr>
          <p:cNvPr id="15" name="Shape 13"/>
          <p:cNvSpPr/>
          <p:nvPr/>
        </p:nvSpPr>
        <p:spPr>
          <a:xfrm>
            <a:off x="3447288" y="2368296"/>
            <a:ext cx="91440" cy="91440"/>
          </a:xfrm>
          <a:prstGeom prst="ellipse">
            <a:avLst/>
          </a:prstGeom>
          <a:solidFill>
            <a:srgbClr val="2563EB"/>
          </a:solidFill>
          <a:ln/>
        </p:spPr>
        <p:txBody>
          <a:bodyPr/>
          <a:p/>
        </p:txBody>
      </p:sp>
      <p:sp>
        <p:nvSpPr>
          <p:cNvPr id="16" name="Text 14"/>
          <p:cNvSpPr/>
          <p:nvPr/>
        </p:nvSpPr>
        <p:spPr>
          <a:xfrm>
            <a:off x="3630168"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PCB fab + PCBA forms</a:t>
            </a:r>
            <a:endParaRPr lang="en-US" sz="1000" dirty="0"/>
          </a:p>
        </p:txBody>
      </p:sp>
      <p:sp>
        <p:nvSpPr>
          <p:cNvPr id="17" name="Shape 15"/>
          <p:cNvSpPr/>
          <p:nvPr/>
        </p:nvSpPr>
        <p:spPr>
          <a:xfrm>
            <a:off x="841248" y="2825496"/>
            <a:ext cx="91440" cy="91440"/>
          </a:xfrm>
          <a:prstGeom prst="ellipse">
            <a:avLst/>
          </a:prstGeom>
          <a:solidFill>
            <a:srgbClr val="2563EB"/>
          </a:solidFill>
          <a:ln/>
        </p:spPr>
        <p:txBody>
          <a:bodyPr/>
          <a:p/>
        </p:txBody>
      </p:sp>
      <p:sp>
        <p:nvSpPr>
          <p:cNvPr id="18" name="Text 16"/>
          <p:cNvSpPr/>
          <p:nvPr/>
        </p:nvSpPr>
        <p:spPr>
          <a:xfrm>
            <a:off x="1024128"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19 manufacturing processes</a:t>
            </a:r>
            <a:endParaRPr lang="en-US" sz="1000" dirty="0"/>
          </a:p>
        </p:txBody>
      </p:sp>
      <p:sp>
        <p:nvSpPr>
          <p:cNvPr id="19" name="Shape 17"/>
          <p:cNvSpPr/>
          <p:nvPr/>
        </p:nvSpPr>
        <p:spPr>
          <a:xfrm>
            <a:off x="3447288" y="2825496"/>
            <a:ext cx="91440" cy="91440"/>
          </a:xfrm>
          <a:prstGeom prst="ellipse">
            <a:avLst/>
          </a:prstGeom>
          <a:solidFill>
            <a:srgbClr val="2563EB"/>
          </a:solidFill>
          <a:ln/>
        </p:spPr>
        <p:txBody>
          <a:bodyPr/>
          <a:p/>
        </p:txBody>
      </p:sp>
      <p:sp>
        <p:nvSpPr>
          <p:cNvPr id="20" name="Text 18"/>
          <p:cNvSpPr/>
          <p:nvPr/>
        </p:nvSpPr>
        <p:spPr>
          <a:xfrm>
            <a:off x="3630168"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Feature-based machining</a:t>
            </a:r>
            <a:endParaRPr lang="en-US" sz="1000" dirty="0"/>
          </a:p>
        </p:txBody>
      </p:sp>
      <p:sp>
        <p:nvSpPr>
          <p:cNvPr id="21" name="Shape 19"/>
          <p:cNvSpPr/>
          <p:nvPr/>
        </p:nvSpPr>
        <p:spPr>
          <a:xfrm>
            <a:off x="841248" y="3227832"/>
            <a:ext cx="91440" cy="91440"/>
          </a:xfrm>
          <a:prstGeom prst="ellipse">
            <a:avLst/>
          </a:prstGeom>
          <a:solidFill>
            <a:srgbClr val="2563EB"/>
          </a:solidFill>
          <a:ln/>
        </p:spPr>
        <p:txBody>
          <a:bodyPr/>
          <a:p/>
        </p:txBody>
      </p:sp>
      <p:sp>
        <p:nvSpPr>
          <p:cNvPr id="22" name="Text 20"/>
          <p:cNvSpPr/>
          <p:nvPr/>
        </p:nvSpPr>
        <p:spPr>
          <a:xfrm>
            <a:off x="1024128" y="3172968"/>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Detailed teardown</a:t>
            </a:r>
            <a:endParaRPr lang="en-US" sz="1000" dirty="0"/>
          </a:p>
        </p:txBody>
      </p:sp>
      <p:sp>
        <p:nvSpPr>
          <p:cNvPr id="23" name="Shape 21"/>
          <p:cNvSpPr/>
          <p:nvPr/>
        </p:nvSpPr>
        <p:spPr>
          <a:xfrm>
            <a:off x="6245352" y="1691640"/>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2.524374906065939e+62" dist="7.212499731616968e+61" dir="4.2316648611840007e+73">
              <a:srgbClr val="9DB0CC">
                <a:alpha val="2.2e+74"/>
              </a:srgbClr>
            </a:outerShdw>
          </a:effectLst>
        </p:spPr>
        <p:txBody>
          <a:bodyPr/>
          <a:p/>
        </p:txBody>
      </p:sp>
      <p:sp>
        <p:nvSpPr>
          <p:cNvPr id="24" name="Shape 22"/>
          <p:cNvSpPr/>
          <p:nvPr/>
        </p:nvSpPr>
        <p:spPr>
          <a:xfrm>
            <a:off x="6245352" y="1691640"/>
            <a:ext cx="82296" cy="2148840"/>
          </a:xfrm>
          <a:prstGeom prst="rect">
            <a:avLst/>
          </a:prstGeom>
          <a:solidFill>
            <a:srgbClr val="7C3AED"/>
          </a:solidFill>
          <a:ln/>
        </p:spPr>
        <p:txBody>
          <a:bodyPr/>
          <a:p/>
        </p:txBody>
      </p:sp>
      <p:sp>
        <p:nvSpPr>
          <p:cNvPr id="25" name="Text 23"/>
          <p:cNvSpPr/>
          <p:nvPr/>
        </p:nvSpPr>
        <p:spPr>
          <a:xfrm>
            <a:off x="6519672" y="1856232"/>
            <a:ext cx="4937760" cy="320040"/>
          </a:xfrm>
          <a:prstGeom prst="rect">
            <a:avLst/>
          </a:prstGeom>
          <a:noFill/>
          <a:ln/>
        </p:spPr>
        <p:txBody>
          <a:bodyPr wrap="square" lIns="0" tIns="0" rIns="0" bIns="0" rtlCol="0" anchor="t"/>
          <a:lstStyle/>
          <a:p>
            <a:pPr indent="0" marL="0">
              <a:buNone/>
            </a:pPr>
            <a:r>
              <a:rPr lang="en-US" sz="1350" b="1" spc="50" kern="0" dirty="0">
                <a:solidFill>
                  <a:srgbClr val="7C3AED"/>
                </a:solidFill>
                <a:latin typeface="Calibri" pitchFamily="34" charset="0"/>
                <a:ea typeface="Calibri" pitchFamily="34" charset="-122"/>
                <a:cs typeface="Calibri" pitchFamily="34" charset="-120"/>
              </a:rPr>
              <a:t>UNDERSTAND</a:t>
            </a:r>
            <a:endParaRPr lang="en-US" sz="1350" dirty="0"/>
          </a:p>
        </p:txBody>
      </p:sp>
      <p:sp>
        <p:nvSpPr>
          <p:cNvPr id="26" name="Shape 24"/>
          <p:cNvSpPr/>
          <p:nvPr/>
        </p:nvSpPr>
        <p:spPr>
          <a:xfrm>
            <a:off x="6537960" y="2368296"/>
            <a:ext cx="91440" cy="91440"/>
          </a:xfrm>
          <a:prstGeom prst="ellipse">
            <a:avLst/>
          </a:prstGeom>
          <a:solidFill>
            <a:srgbClr val="7C3AED"/>
          </a:solidFill>
          <a:ln/>
        </p:spPr>
        <p:txBody>
          <a:bodyPr/>
          <a:p/>
        </p:txBody>
      </p:sp>
      <p:sp>
        <p:nvSpPr>
          <p:cNvPr id="27" name="Text 25"/>
          <p:cNvSpPr/>
          <p:nvPr/>
        </p:nvSpPr>
        <p:spPr>
          <a:xfrm>
            <a:off x="6720840"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3D viewer: section, measure</a:t>
            </a:r>
            <a:endParaRPr lang="en-US" sz="1000" dirty="0"/>
          </a:p>
        </p:txBody>
      </p:sp>
      <p:sp>
        <p:nvSpPr>
          <p:cNvPr id="28" name="Shape 26"/>
          <p:cNvSpPr/>
          <p:nvPr/>
        </p:nvSpPr>
        <p:spPr>
          <a:xfrm>
            <a:off x="9144000" y="2368296"/>
            <a:ext cx="91440" cy="91440"/>
          </a:xfrm>
          <a:prstGeom prst="ellipse">
            <a:avLst/>
          </a:prstGeom>
          <a:solidFill>
            <a:srgbClr val="7C3AED"/>
          </a:solidFill>
          <a:ln/>
        </p:spPr>
        <p:txBody>
          <a:bodyPr/>
          <a:p/>
        </p:txBody>
      </p:sp>
      <p:sp>
        <p:nvSpPr>
          <p:cNvPr id="29" name="Text 27"/>
          <p:cNvSpPr/>
          <p:nvPr/>
        </p:nvSpPr>
        <p:spPr>
          <a:xfrm>
            <a:off x="9326880" y="23134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Geometry feature table</a:t>
            </a:r>
            <a:endParaRPr lang="en-US" sz="1000" dirty="0"/>
          </a:p>
        </p:txBody>
      </p:sp>
      <p:sp>
        <p:nvSpPr>
          <p:cNvPr id="30" name="Shape 28"/>
          <p:cNvSpPr/>
          <p:nvPr/>
        </p:nvSpPr>
        <p:spPr>
          <a:xfrm>
            <a:off x="6537960" y="2825496"/>
            <a:ext cx="91440" cy="91440"/>
          </a:xfrm>
          <a:prstGeom prst="ellipse">
            <a:avLst/>
          </a:prstGeom>
          <a:solidFill>
            <a:srgbClr val="7C3AED"/>
          </a:solidFill>
          <a:ln/>
        </p:spPr>
        <p:txBody>
          <a:bodyPr/>
          <a:p/>
        </p:txBody>
      </p:sp>
      <p:sp>
        <p:nvSpPr>
          <p:cNvPr id="31" name="Text 29"/>
          <p:cNvSpPr/>
          <p:nvPr/>
        </p:nvSpPr>
        <p:spPr>
          <a:xfrm>
            <a:off x="6720840"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DFM guidance per process</a:t>
            </a:r>
            <a:endParaRPr lang="en-US" sz="1000" dirty="0"/>
          </a:p>
        </p:txBody>
      </p:sp>
      <p:sp>
        <p:nvSpPr>
          <p:cNvPr id="32" name="Shape 30"/>
          <p:cNvSpPr/>
          <p:nvPr/>
        </p:nvSpPr>
        <p:spPr>
          <a:xfrm>
            <a:off x="9144000" y="2825496"/>
            <a:ext cx="91440" cy="91440"/>
          </a:xfrm>
          <a:prstGeom prst="ellipse">
            <a:avLst/>
          </a:prstGeom>
          <a:solidFill>
            <a:srgbClr val="7C3AED"/>
          </a:solidFill>
          <a:ln/>
        </p:spPr>
        <p:txBody>
          <a:bodyPr/>
          <a:p/>
        </p:txBody>
      </p:sp>
      <p:sp>
        <p:nvSpPr>
          <p:cNvPr id="33" name="Text 31"/>
          <p:cNvSpPr/>
          <p:nvPr/>
        </p:nvSpPr>
        <p:spPr>
          <a:xfrm>
            <a:off x="9326880" y="2770632"/>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Self-audit on every result</a:t>
            </a:r>
            <a:endParaRPr lang="en-US" sz="1000" dirty="0"/>
          </a:p>
        </p:txBody>
      </p:sp>
      <p:sp>
        <p:nvSpPr>
          <p:cNvPr id="34" name="Shape 32"/>
          <p:cNvSpPr/>
          <p:nvPr/>
        </p:nvSpPr>
        <p:spPr>
          <a:xfrm>
            <a:off x="6537960" y="3227832"/>
            <a:ext cx="91440" cy="91440"/>
          </a:xfrm>
          <a:prstGeom prst="ellipse">
            <a:avLst/>
          </a:prstGeom>
          <a:solidFill>
            <a:srgbClr val="7C3AED"/>
          </a:solidFill>
          <a:ln/>
        </p:spPr>
        <p:txBody>
          <a:bodyPr/>
          <a:p/>
        </p:txBody>
      </p:sp>
      <p:sp>
        <p:nvSpPr>
          <p:cNvPr id="35" name="Text 33"/>
          <p:cNvSpPr/>
          <p:nvPr/>
        </p:nvSpPr>
        <p:spPr>
          <a:xfrm>
            <a:off x="6720840" y="3172968"/>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Carbon co-costing</a:t>
            </a:r>
            <a:endParaRPr lang="en-US" sz="1000" dirty="0"/>
          </a:p>
        </p:txBody>
      </p:sp>
      <p:sp>
        <p:nvSpPr>
          <p:cNvPr id="36" name="Shape 34"/>
          <p:cNvSpPr/>
          <p:nvPr/>
        </p:nvSpPr>
        <p:spPr>
          <a:xfrm>
            <a:off x="548640" y="4096512"/>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3.2059561307037426e+66" dist="9.15987465915355e+65" dir="2.5389989167104004e+78">
              <a:srgbClr val="9DB0CC">
                <a:alpha val="2.2000000000000002e+79"/>
              </a:srgbClr>
            </a:outerShdw>
          </a:effectLst>
        </p:spPr>
        <p:txBody>
          <a:bodyPr/>
          <a:p/>
        </p:txBody>
      </p:sp>
      <p:sp>
        <p:nvSpPr>
          <p:cNvPr id="37" name="Shape 35"/>
          <p:cNvSpPr/>
          <p:nvPr/>
        </p:nvSpPr>
        <p:spPr>
          <a:xfrm>
            <a:off x="548640" y="4096512"/>
            <a:ext cx="82296" cy="2148840"/>
          </a:xfrm>
          <a:prstGeom prst="rect">
            <a:avLst/>
          </a:prstGeom>
          <a:solidFill>
            <a:srgbClr val="0DA5A0"/>
          </a:solidFill>
          <a:ln/>
        </p:spPr>
        <p:txBody>
          <a:bodyPr/>
          <a:p/>
        </p:txBody>
      </p:sp>
      <p:sp>
        <p:nvSpPr>
          <p:cNvPr id="38" name="Text 36"/>
          <p:cNvSpPr/>
          <p:nvPr/>
        </p:nvSpPr>
        <p:spPr>
          <a:xfrm>
            <a:off x="822960" y="4261104"/>
            <a:ext cx="4937760" cy="320040"/>
          </a:xfrm>
          <a:prstGeom prst="rect">
            <a:avLst/>
          </a:prstGeom>
          <a:noFill/>
          <a:ln/>
        </p:spPr>
        <p:txBody>
          <a:bodyPr wrap="square" lIns="0" tIns="0" rIns="0" bIns="0" rtlCol="0" anchor="t"/>
          <a:lstStyle/>
          <a:p>
            <a:pPr indent="0" marL="0">
              <a:buNone/>
            </a:pPr>
            <a:r>
              <a:rPr lang="en-US" sz="1350" b="1" spc="50" kern="0" dirty="0">
                <a:solidFill>
                  <a:srgbClr val="0DA5A0"/>
                </a:solidFill>
                <a:latin typeface="Calibri" pitchFamily="34" charset="0"/>
                <a:ea typeface="Calibri" pitchFamily="34" charset="-122"/>
                <a:cs typeface="Calibri" pitchFamily="34" charset="-120"/>
              </a:rPr>
              <a:t>DECIDE &amp; NEGOTIATE</a:t>
            </a:r>
            <a:endParaRPr lang="en-US" sz="1350" dirty="0"/>
          </a:p>
        </p:txBody>
      </p:sp>
      <p:sp>
        <p:nvSpPr>
          <p:cNvPr id="39" name="Shape 37"/>
          <p:cNvSpPr/>
          <p:nvPr/>
        </p:nvSpPr>
        <p:spPr>
          <a:xfrm>
            <a:off x="841248" y="4773168"/>
            <a:ext cx="91440" cy="91440"/>
          </a:xfrm>
          <a:prstGeom prst="ellipse">
            <a:avLst/>
          </a:prstGeom>
          <a:solidFill>
            <a:srgbClr val="0DA5A0"/>
          </a:solidFill>
          <a:ln/>
        </p:spPr>
        <p:txBody>
          <a:bodyPr/>
          <a:p/>
        </p:txBody>
      </p:sp>
      <p:sp>
        <p:nvSpPr>
          <p:cNvPr id="40" name="Text 38"/>
          <p:cNvSpPr/>
          <p:nvPr/>
        </p:nvSpPr>
        <p:spPr>
          <a:xfrm>
            <a:off x="1024128"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Negotiation Intelligence</a:t>
            </a:r>
            <a:endParaRPr lang="en-US" sz="1000" dirty="0"/>
          </a:p>
        </p:txBody>
      </p:sp>
      <p:sp>
        <p:nvSpPr>
          <p:cNvPr id="41" name="Shape 39"/>
          <p:cNvSpPr/>
          <p:nvPr/>
        </p:nvSpPr>
        <p:spPr>
          <a:xfrm>
            <a:off x="3447288" y="4773168"/>
            <a:ext cx="91440" cy="91440"/>
          </a:xfrm>
          <a:prstGeom prst="ellipse">
            <a:avLst/>
          </a:prstGeom>
          <a:solidFill>
            <a:srgbClr val="0DA5A0"/>
          </a:solidFill>
          <a:ln/>
        </p:spPr>
        <p:txBody>
          <a:bodyPr/>
          <a:p/>
        </p:txBody>
      </p:sp>
      <p:sp>
        <p:nvSpPr>
          <p:cNvPr id="42" name="Text 40"/>
          <p:cNvSpPr/>
          <p:nvPr/>
        </p:nvSpPr>
        <p:spPr>
          <a:xfrm>
            <a:off x="3630168"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20-region should-cost</a:t>
            </a:r>
            <a:endParaRPr lang="en-US" sz="1000" dirty="0"/>
          </a:p>
        </p:txBody>
      </p:sp>
      <p:sp>
        <p:nvSpPr>
          <p:cNvPr id="43" name="Shape 41"/>
          <p:cNvSpPr/>
          <p:nvPr/>
        </p:nvSpPr>
        <p:spPr>
          <a:xfrm>
            <a:off x="841248" y="5230368"/>
            <a:ext cx="91440" cy="91440"/>
          </a:xfrm>
          <a:prstGeom prst="ellipse">
            <a:avLst/>
          </a:prstGeom>
          <a:solidFill>
            <a:srgbClr val="0DA5A0"/>
          </a:solidFill>
          <a:ln/>
        </p:spPr>
        <p:txBody>
          <a:bodyPr/>
          <a:p/>
        </p:txBody>
      </p:sp>
      <p:sp>
        <p:nvSpPr>
          <p:cNvPr id="44" name="Text 42"/>
          <p:cNvSpPr/>
          <p:nvPr/>
        </p:nvSpPr>
        <p:spPr>
          <a:xfrm>
            <a:off x="1024128"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Volume &amp; what-if scenarios</a:t>
            </a:r>
            <a:endParaRPr lang="en-US" sz="1000" dirty="0"/>
          </a:p>
        </p:txBody>
      </p:sp>
      <p:sp>
        <p:nvSpPr>
          <p:cNvPr id="45" name="Shape 43"/>
          <p:cNvSpPr/>
          <p:nvPr/>
        </p:nvSpPr>
        <p:spPr>
          <a:xfrm>
            <a:off x="3447288" y="5230368"/>
            <a:ext cx="91440" cy="91440"/>
          </a:xfrm>
          <a:prstGeom prst="ellipse">
            <a:avLst/>
          </a:prstGeom>
          <a:solidFill>
            <a:srgbClr val="0DA5A0"/>
          </a:solidFill>
          <a:ln/>
        </p:spPr>
        <p:txBody>
          <a:bodyPr/>
          <a:p/>
        </p:txBody>
      </p:sp>
      <p:sp>
        <p:nvSpPr>
          <p:cNvPr id="46" name="Text 44"/>
          <p:cNvSpPr/>
          <p:nvPr/>
        </p:nvSpPr>
        <p:spPr>
          <a:xfrm>
            <a:off x="3630168"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Uncertainty band on every result</a:t>
            </a:r>
            <a:endParaRPr lang="en-US" sz="1000" dirty="0"/>
          </a:p>
        </p:txBody>
      </p:sp>
      <p:sp>
        <p:nvSpPr>
          <p:cNvPr id="47" name="Shape 45"/>
          <p:cNvSpPr/>
          <p:nvPr/>
        </p:nvSpPr>
        <p:spPr>
          <a:xfrm>
            <a:off x="841248" y="5632704"/>
            <a:ext cx="91440" cy="91440"/>
          </a:xfrm>
          <a:prstGeom prst="ellipse">
            <a:avLst/>
          </a:prstGeom>
          <a:solidFill>
            <a:srgbClr val="0DA5A0"/>
          </a:solidFill>
          <a:ln/>
        </p:spPr>
        <p:txBody>
          <a:bodyPr/>
          <a:p/>
        </p:txBody>
      </p:sp>
      <p:sp>
        <p:nvSpPr>
          <p:cNvPr id="48" name="Text 46"/>
          <p:cNvSpPr/>
          <p:nvPr/>
        </p:nvSpPr>
        <p:spPr>
          <a:xfrm>
            <a:off x="1024128" y="5577840"/>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Causal negotiation coach</a:t>
            </a:r>
            <a:endParaRPr lang="en-US" sz="1000" dirty="0"/>
          </a:p>
        </p:txBody>
      </p:sp>
      <p:sp>
        <p:nvSpPr>
          <p:cNvPr id="49" name="Shape 47"/>
          <p:cNvSpPr/>
          <p:nvPr/>
        </p:nvSpPr>
        <p:spPr>
          <a:xfrm>
            <a:off x="6245352" y="4096512"/>
            <a:ext cx="5394960" cy="2148840"/>
          </a:xfrm>
          <a:prstGeom prst="roundRect">
            <a:avLst>
              <a:gd name="adj" fmla="val 2979"/>
            </a:avLst>
          </a:prstGeom>
          <a:solidFill>
            <a:srgbClr val="FFFFFF"/>
          </a:solidFill>
          <a:ln w="12700">
            <a:solidFill>
              <a:srgbClr val="E4EAF2"/>
            </a:solidFill>
            <a:prstDash val="solid"/>
          </a:ln>
          <a:effectLst>
            <a:outerShdw sx="100000" sy="100000" kx="0" ky="0" algn="bl" rotWithShape="0" blurRad="4.071564285993753e+70" dist="1.1633040817125008e+70" dir="1.5233993500262402e+83">
              <a:srgbClr val="9DB0CC">
                <a:alpha val="2.2000000000000003e+84"/>
              </a:srgbClr>
            </a:outerShdw>
          </a:effectLst>
        </p:spPr>
        <p:txBody>
          <a:bodyPr/>
          <a:p/>
        </p:txBody>
      </p:sp>
      <p:sp>
        <p:nvSpPr>
          <p:cNvPr id="50" name="Shape 48"/>
          <p:cNvSpPr/>
          <p:nvPr/>
        </p:nvSpPr>
        <p:spPr>
          <a:xfrm>
            <a:off x="6245352" y="4096512"/>
            <a:ext cx="82296" cy="2148840"/>
          </a:xfrm>
          <a:prstGeom prst="rect">
            <a:avLst/>
          </a:prstGeom>
          <a:solidFill>
            <a:srgbClr val="0EA472"/>
          </a:solidFill>
          <a:ln/>
        </p:spPr>
        <p:txBody>
          <a:bodyPr/>
          <a:p/>
        </p:txBody>
      </p:sp>
      <p:sp>
        <p:nvSpPr>
          <p:cNvPr id="51" name="Text 49"/>
          <p:cNvSpPr/>
          <p:nvPr/>
        </p:nvSpPr>
        <p:spPr>
          <a:xfrm>
            <a:off x="6519672" y="4261104"/>
            <a:ext cx="4937760" cy="320040"/>
          </a:xfrm>
          <a:prstGeom prst="rect">
            <a:avLst/>
          </a:prstGeom>
          <a:noFill/>
          <a:ln/>
        </p:spPr>
        <p:txBody>
          <a:bodyPr wrap="square" lIns="0" tIns="0" rIns="0" bIns="0" rtlCol="0" anchor="t"/>
          <a:lstStyle/>
          <a:p>
            <a:pPr indent="0" marL="0">
              <a:buNone/>
            </a:pPr>
            <a:r>
              <a:rPr lang="en-US" sz="1350" b="1" spc="50" kern="0" dirty="0">
                <a:solidFill>
                  <a:srgbClr val="0EA472"/>
                </a:solidFill>
                <a:latin typeface="Calibri" pitchFamily="34" charset="0"/>
                <a:ea typeface="Calibri" pitchFamily="34" charset="-122"/>
                <a:cs typeface="Calibri" pitchFamily="34" charset="-120"/>
              </a:rPr>
              <a:t>LEARN &amp; GOVERN</a:t>
            </a:r>
            <a:endParaRPr lang="en-US" sz="1350" dirty="0"/>
          </a:p>
        </p:txBody>
      </p:sp>
      <p:sp>
        <p:nvSpPr>
          <p:cNvPr id="52" name="Shape 50"/>
          <p:cNvSpPr/>
          <p:nvPr/>
        </p:nvSpPr>
        <p:spPr>
          <a:xfrm>
            <a:off x="6537960" y="4773168"/>
            <a:ext cx="91440" cy="91440"/>
          </a:xfrm>
          <a:prstGeom prst="ellipse">
            <a:avLst/>
          </a:prstGeom>
          <a:solidFill>
            <a:srgbClr val="0EA472"/>
          </a:solidFill>
          <a:ln/>
        </p:spPr>
        <p:txBody>
          <a:bodyPr/>
          <a:p/>
        </p:txBody>
      </p:sp>
      <p:sp>
        <p:nvSpPr>
          <p:cNvPr id="53" name="Text 51"/>
          <p:cNvSpPr/>
          <p:nvPr/>
        </p:nvSpPr>
        <p:spPr>
          <a:xfrm>
            <a:off x="6720840"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Shared case memory</a:t>
            </a:r>
            <a:endParaRPr lang="en-US" sz="1000" dirty="0"/>
          </a:p>
        </p:txBody>
      </p:sp>
      <p:sp>
        <p:nvSpPr>
          <p:cNvPr id="54" name="Shape 52"/>
          <p:cNvSpPr/>
          <p:nvPr/>
        </p:nvSpPr>
        <p:spPr>
          <a:xfrm>
            <a:off x="9144000" y="4773168"/>
            <a:ext cx="91440" cy="91440"/>
          </a:xfrm>
          <a:prstGeom prst="ellipse">
            <a:avLst/>
          </a:prstGeom>
          <a:solidFill>
            <a:srgbClr val="0EA472"/>
          </a:solidFill>
          <a:ln/>
        </p:spPr>
        <p:txBody>
          <a:bodyPr/>
          <a:p/>
        </p:txBody>
      </p:sp>
      <p:sp>
        <p:nvSpPr>
          <p:cNvPr id="55" name="Text 53"/>
          <p:cNvSpPr/>
          <p:nvPr/>
        </p:nvSpPr>
        <p:spPr>
          <a:xfrm>
            <a:off x="9326880" y="47183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Learning from logged actuals</a:t>
            </a:r>
            <a:endParaRPr lang="en-US" sz="1000" dirty="0"/>
          </a:p>
        </p:txBody>
      </p:sp>
      <p:sp>
        <p:nvSpPr>
          <p:cNvPr id="56" name="Shape 54"/>
          <p:cNvSpPr/>
          <p:nvPr/>
        </p:nvSpPr>
        <p:spPr>
          <a:xfrm>
            <a:off x="6537960" y="5230368"/>
            <a:ext cx="91440" cy="91440"/>
          </a:xfrm>
          <a:prstGeom prst="ellipse">
            <a:avLst/>
          </a:prstGeom>
          <a:solidFill>
            <a:srgbClr val="0EA472"/>
          </a:solidFill>
          <a:ln/>
        </p:spPr>
        <p:txBody>
          <a:bodyPr/>
          <a:p/>
        </p:txBody>
      </p:sp>
      <p:sp>
        <p:nvSpPr>
          <p:cNvPr id="57" name="Text 55"/>
          <p:cNvSpPr/>
          <p:nvPr/>
        </p:nvSpPr>
        <p:spPr>
          <a:xfrm>
            <a:off x="6720840"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Background drift monitor</a:t>
            </a:r>
            <a:endParaRPr lang="en-US" sz="1000" dirty="0"/>
          </a:p>
        </p:txBody>
      </p:sp>
      <p:sp>
        <p:nvSpPr>
          <p:cNvPr id="58" name="Shape 56"/>
          <p:cNvSpPr/>
          <p:nvPr/>
        </p:nvSpPr>
        <p:spPr>
          <a:xfrm>
            <a:off x="9144000" y="5230368"/>
            <a:ext cx="91440" cy="91440"/>
          </a:xfrm>
          <a:prstGeom prst="ellipse">
            <a:avLst/>
          </a:prstGeom>
          <a:solidFill>
            <a:srgbClr val="0EA472"/>
          </a:solidFill>
          <a:ln/>
        </p:spPr>
        <p:txBody>
          <a:bodyPr/>
          <a:p/>
        </p:txBody>
      </p:sp>
      <p:sp>
        <p:nvSpPr>
          <p:cNvPr id="59" name="Text 57"/>
          <p:cNvSpPr/>
          <p:nvPr/>
        </p:nvSpPr>
        <p:spPr>
          <a:xfrm>
            <a:off x="9326880" y="5175504"/>
            <a:ext cx="2377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Full audit trail / provenance</a:t>
            </a:r>
            <a:endParaRPr lang="en-US" sz="1000" dirty="0"/>
          </a:p>
        </p:txBody>
      </p:sp>
      <p:sp>
        <p:nvSpPr>
          <p:cNvPr id="60" name="Shape 58"/>
          <p:cNvSpPr/>
          <p:nvPr/>
        </p:nvSpPr>
        <p:spPr>
          <a:xfrm>
            <a:off x="6537960" y="5632704"/>
            <a:ext cx="91440" cy="91440"/>
          </a:xfrm>
          <a:prstGeom prst="ellipse">
            <a:avLst/>
          </a:prstGeom>
          <a:solidFill>
            <a:srgbClr val="0EA472"/>
          </a:solidFill>
          <a:ln/>
        </p:spPr>
        <p:txBody>
          <a:bodyPr/>
          <a:p/>
        </p:txBody>
      </p:sp>
      <p:sp>
        <p:nvSpPr>
          <p:cNvPr id="61" name="Text 59"/>
          <p:cNvSpPr/>
          <p:nvPr/>
        </p:nvSpPr>
        <p:spPr>
          <a:xfrm>
            <a:off x="6720840" y="5577840"/>
            <a:ext cx="4663440" cy="384048"/>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Offline laptop, sign-in</a:t>
            </a:r>
            <a:endParaRPr lang="en-US" sz="1000" dirty="0"/>
          </a:p>
        </p:txBody>
      </p:sp>
      <p:sp>
        <p:nvSpPr>
          <p:cNvPr id="62" name="Shape 60"/>
          <p:cNvSpPr/>
          <p:nvPr/>
        </p:nvSpPr>
        <p:spPr>
          <a:xfrm>
            <a:off x="548640" y="6400800"/>
            <a:ext cx="11094415" cy="12802"/>
          </a:xfrm>
          <a:prstGeom prst="rect">
            <a:avLst/>
          </a:prstGeom>
          <a:solidFill>
            <a:srgbClr val="E4EAF2"/>
          </a:solidFill>
          <a:ln/>
        </p:spPr>
        <p:txBody>
          <a:bodyPr/>
          <a:p/>
        </p:txBody>
      </p:sp>
      <p:sp>
        <p:nvSpPr>
          <p:cNvPr id="63" name="Text 6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4" name="Text 6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6 / 33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PLATFORM · WHAT THE TOOL CAPTURES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What the tool measures — fed straight to the cost engine</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From a CAD file or a typed form, the tool measures or collects the facts. Fixed rules turn them into cost.</a:t>
            </a:r>
            <a:endParaRPr lang="en-US" sz="1250" dirty="0"/>
          </a:p>
        </p:txBody>
      </p:sp>
      <p:sp>
        <p:nvSpPr>
          <p:cNvPr id="11" name="Shape 9"/>
          <p:cNvSpPr/>
          <p:nvPr/>
        </p:nvSpPr>
        <p:spPr>
          <a:xfrm>
            <a:off x="548640" y="2148840"/>
            <a:ext cx="7040880" cy="548640"/>
          </a:xfrm>
          <a:prstGeom prst="roundRect">
            <a:avLst>
              <a:gd name="adj" fmla="val 8333"/>
            </a:avLst>
          </a:prstGeom>
          <a:solidFill>
            <a:srgbClr val="F4F7FB"/>
          </a:solidFill>
          <a:ln w="12700">
            <a:solidFill>
              <a:srgbClr val="E4EAF2"/>
            </a:solidFill>
            <a:prstDash val="solid"/>
          </a:ln>
        </p:spPr>
        <p:txBody>
          <a:bodyPr/>
          <a:p/>
        </p:txBody>
      </p:sp>
      <p:sp>
        <p:nvSpPr>
          <p:cNvPr id="12" name="Shape 10"/>
          <p:cNvSpPr/>
          <p:nvPr/>
        </p:nvSpPr>
        <p:spPr>
          <a:xfrm>
            <a:off x="694944" y="2249424"/>
            <a:ext cx="347472" cy="347472"/>
          </a:xfrm>
          <a:prstGeom prst="ellipse">
            <a:avLst/>
          </a:prstGeom>
          <a:solidFill>
            <a:srgbClr val="0EA472"/>
          </a:solidFill>
          <a:ln/>
          <a:effectLst>
            <a:outerShdw sx="100000" sy="100000" kx="0" ky="0" algn="bl" rotWithShape="0" blurRad="5.457669265366968e+41" dist="1.6373007796100902e+41" dir="5.44195584e+49">
              <a:srgbClr val="A7B6CE">
                <a:alpha val="1.8e+49"/>
              </a:srgbClr>
            </a:outerShdw>
          </a:effectLst>
        </p:spPr>
        <p:txBody>
          <a:bodyPr/>
          <a:p/>
        </p:txBody>
      </p:sp>
      <p:sp>
        <p:nvSpPr>
          <p:cNvPr id="13" name="Text 11"/>
          <p:cNvSpPr/>
          <p:nvPr/>
        </p:nvSpPr>
        <p:spPr>
          <a:xfrm>
            <a:off x="694944" y="22494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1</a:t>
            </a:r>
            <a:endParaRPr lang="en-US" sz="1292" dirty="0"/>
          </a:p>
        </p:txBody>
      </p:sp>
      <p:sp>
        <p:nvSpPr>
          <p:cNvPr id="14" name="Text 12"/>
          <p:cNvSpPr/>
          <p:nvPr/>
        </p:nvSpPr>
        <p:spPr>
          <a:xfrm>
            <a:off x="1188720" y="21488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CAD geometry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The geometry engine (OpenCASCADE) measures volume, weight, size, wall thickness and draft — the ground truth for material and machine sizing.</a:t>
            </a:r>
            <a:endParaRPr lang="en-US" sz="1060" dirty="0"/>
          </a:p>
        </p:txBody>
      </p:sp>
      <p:sp>
        <p:nvSpPr>
          <p:cNvPr id="15" name="Shape 13"/>
          <p:cNvSpPr/>
          <p:nvPr/>
        </p:nvSpPr>
        <p:spPr>
          <a:xfrm>
            <a:off x="548640" y="2788920"/>
            <a:ext cx="7040880" cy="548640"/>
          </a:xfrm>
          <a:prstGeom prst="roundRect">
            <a:avLst>
              <a:gd name="adj" fmla="val 8333"/>
            </a:avLst>
          </a:prstGeom>
          <a:solidFill>
            <a:srgbClr val="FFFFFF"/>
          </a:solidFill>
          <a:ln w="12700">
            <a:solidFill>
              <a:srgbClr val="E4EAF2"/>
            </a:solidFill>
            <a:prstDash val="solid"/>
          </a:ln>
        </p:spPr>
        <p:txBody>
          <a:bodyPr/>
          <a:p/>
        </p:txBody>
      </p:sp>
      <p:sp>
        <p:nvSpPr>
          <p:cNvPr id="16" name="Shape 14"/>
          <p:cNvSpPr/>
          <p:nvPr/>
        </p:nvSpPr>
        <p:spPr>
          <a:xfrm>
            <a:off x="694944" y="2889504"/>
            <a:ext cx="347472" cy="347472"/>
          </a:xfrm>
          <a:prstGeom prst="ellipse">
            <a:avLst/>
          </a:prstGeom>
          <a:solidFill>
            <a:srgbClr val="0EA472"/>
          </a:solidFill>
          <a:ln/>
          <a:effectLst>
            <a:outerShdw sx="100000" sy="100000" kx="0" ky="0" algn="bl" rotWithShape="0" blurRad="6.93123996701605e+45" dist="2.0793719901048145e+45" dir="3.2651735040000005e+54">
              <a:srgbClr val="A7B6CE">
                <a:alpha val="1.8e+54"/>
              </a:srgbClr>
            </a:outerShdw>
          </a:effectLst>
        </p:spPr>
        <p:txBody>
          <a:bodyPr/>
          <a:p/>
        </p:txBody>
      </p:sp>
      <p:sp>
        <p:nvSpPr>
          <p:cNvPr id="17" name="Text 15"/>
          <p:cNvSpPr/>
          <p:nvPr/>
        </p:nvSpPr>
        <p:spPr>
          <a:xfrm>
            <a:off x="694944" y="288950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2</a:t>
            </a:r>
            <a:endParaRPr lang="en-US" sz="1292" dirty="0"/>
          </a:p>
        </p:txBody>
      </p:sp>
      <p:sp>
        <p:nvSpPr>
          <p:cNvPr id="18" name="Text 16"/>
          <p:cNvSpPr/>
          <p:nvPr/>
        </p:nvSpPr>
        <p:spPr>
          <a:xfrm>
            <a:off x="1188720" y="278892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CAD features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Holes, pockets, slots, bosses and bends are found and counted. Each becomes a machining step with its own cost line.</a:t>
            </a:r>
            <a:endParaRPr lang="en-US" sz="1060" dirty="0"/>
          </a:p>
        </p:txBody>
      </p:sp>
      <p:sp>
        <p:nvSpPr>
          <p:cNvPr id="19" name="Shape 17"/>
          <p:cNvSpPr/>
          <p:nvPr/>
        </p:nvSpPr>
        <p:spPr>
          <a:xfrm>
            <a:off x="548640" y="342900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0" name="Shape 18"/>
          <p:cNvSpPr/>
          <p:nvPr/>
        </p:nvSpPr>
        <p:spPr>
          <a:xfrm>
            <a:off x="694944" y="3529584"/>
            <a:ext cx="347472" cy="347472"/>
          </a:xfrm>
          <a:prstGeom prst="ellipse">
            <a:avLst/>
          </a:prstGeom>
          <a:solidFill>
            <a:srgbClr val="0EA472"/>
          </a:solidFill>
          <a:ln/>
          <a:effectLst>
            <a:outerShdw sx="100000" sy="100000" kx="0" ky="0" algn="bl" rotWithShape="0" blurRad="8.802674758110384e+49" dist="2.640802427433114e+49" dir="1.9591041024000004e+59">
              <a:srgbClr val="A7B6CE">
                <a:alpha val="1.8000000000000001e+59"/>
              </a:srgbClr>
            </a:outerShdw>
          </a:effectLst>
        </p:spPr>
        <p:txBody>
          <a:bodyPr/>
          <a:p/>
        </p:txBody>
      </p:sp>
      <p:sp>
        <p:nvSpPr>
          <p:cNvPr id="21" name="Text 19"/>
          <p:cNvSpPr/>
          <p:nvPr/>
        </p:nvSpPr>
        <p:spPr>
          <a:xfrm>
            <a:off x="694944" y="352958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3</a:t>
            </a:r>
            <a:endParaRPr lang="en-US" sz="1292" dirty="0"/>
          </a:p>
        </p:txBody>
      </p:sp>
      <p:sp>
        <p:nvSpPr>
          <p:cNvPr id="22" name="Text 20"/>
          <p:cNvSpPr/>
          <p:nvPr/>
        </p:nvSpPr>
        <p:spPr>
          <a:xfrm>
            <a:off x="1188720" y="342900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Questions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Where the geometry can't decide — the process route, the material family, a hole count on an STL — the tool asks the engineer instead of guessing.</a:t>
            </a:r>
            <a:endParaRPr lang="en-US" sz="1060" dirty="0"/>
          </a:p>
        </p:txBody>
      </p:sp>
      <p:sp>
        <p:nvSpPr>
          <p:cNvPr id="23" name="Shape 21"/>
          <p:cNvSpPr/>
          <p:nvPr/>
        </p:nvSpPr>
        <p:spPr>
          <a:xfrm>
            <a:off x="548640" y="4069080"/>
            <a:ext cx="7040880" cy="548640"/>
          </a:xfrm>
          <a:prstGeom prst="roundRect">
            <a:avLst>
              <a:gd name="adj" fmla="val 8333"/>
            </a:avLst>
          </a:prstGeom>
          <a:solidFill>
            <a:srgbClr val="FFFFFF"/>
          </a:solidFill>
          <a:ln w="12700">
            <a:solidFill>
              <a:srgbClr val="E4EAF2"/>
            </a:solidFill>
            <a:prstDash val="solid"/>
          </a:ln>
        </p:spPr>
        <p:txBody>
          <a:bodyPr/>
          <a:p/>
        </p:txBody>
      </p:sp>
      <p:sp>
        <p:nvSpPr>
          <p:cNvPr id="24" name="Shape 22"/>
          <p:cNvSpPr/>
          <p:nvPr/>
        </p:nvSpPr>
        <p:spPr>
          <a:xfrm>
            <a:off x="694944" y="4169664"/>
            <a:ext cx="347472" cy="347472"/>
          </a:xfrm>
          <a:prstGeom prst="ellipse">
            <a:avLst/>
          </a:prstGeom>
          <a:solidFill>
            <a:srgbClr val="0EA472"/>
          </a:solidFill>
          <a:ln/>
          <a:effectLst>
            <a:outerShdw sx="100000" sy="100000" kx="0" ky="0" algn="bl" rotWithShape="0" blurRad="1.1179396942800187e+54" dist="3.353819082840055e+53" dir="1.1754624614400003e+64">
              <a:srgbClr val="A7B6CE">
                <a:alpha val="1.8e+64"/>
              </a:srgbClr>
            </a:outerShdw>
          </a:effectLst>
        </p:spPr>
        <p:txBody>
          <a:bodyPr/>
          <a:p/>
        </p:txBody>
      </p:sp>
      <p:sp>
        <p:nvSpPr>
          <p:cNvPr id="25" name="Text 23"/>
          <p:cNvSpPr/>
          <p:nvPr/>
        </p:nvSpPr>
        <p:spPr>
          <a:xfrm>
            <a:off x="694944" y="4169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4</a:t>
            </a:r>
            <a:endParaRPr lang="en-US" sz="1292" dirty="0"/>
          </a:p>
        </p:txBody>
      </p:sp>
      <p:sp>
        <p:nvSpPr>
          <p:cNvPr id="26" name="Text 24"/>
          <p:cNvSpPr/>
          <p:nvPr/>
        </p:nvSpPr>
        <p:spPr>
          <a:xfrm>
            <a:off x="1188720" y="406908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PCB board spec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Board type, size and layer count set the fab price, taken from fabricators' price tables.</a:t>
            </a:r>
            <a:endParaRPr lang="en-US" sz="1060" dirty="0"/>
          </a:p>
        </p:txBody>
      </p:sp>
      <p:sp>
        <p:nvSpPr>
          <p:cNvPr id="27" name="Shape 25"/>
          <p:cNvSpPr/>
          <p:nvPr/>
        </p:nvSpPr>
        <p:spPr>
          <a:xfrm>
            <a:off x="548640" y="470916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8" name="Shape 26"/>
          <p:cNvSpPr/>
          <p:nvPr/>
        </p:nvSpPr>
        <p:spPr>
          <a:xfrm>
            <a:off x="694944" y="4809744"/>
            <a:ext cx="347472" cy="347472"/>
          </a:xfrm>
          <a:prstGeom prst="ellipse">
            <a:avLst/>
          </a:prstGeom>
          <a:solidFill>
            <a:srgbClr val="0EA472"/>
          </a:solidFill>
          <a:ln/>
          <a:effectLst>
            <a:outerShdw sx="100000" sy="100000" kx="0" ky="0" algn="bl" rotWithShape="0" blurRad="1.419783411735624e+58" dist="4.2593502352068695e+57" dir="7.052774768640002e+68">
              <a:srgbClr val="A7B6CE">
                <a:alpha val="1.8e+69"/>
              </a:srgbClr>
            </a:outerShdw>
          </a:effectLst>
        </p:spPr>
        <p:txBody>
          <a:bodyPr/>
          <a:p/>
        </p:txBody>
      </p:sp>
      <p:sp>
        <p:nvSpPr>
          <p:cNvPr id="29" name="Text 27"/>
          <p:cNvSpPr/>
          <p:nvPr/>
        </p:nvSpPr>
        <p:spPr>
          <a:xfrm>
            <a:off x="694944" y="480974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5</a:t>
            </a:r>
            <a:endParaRPr lang="en-US" sz="1292" dirty="0"/>
          </a:p>
        </p:txBody>
      </p:sp>
      <p:sp>
        <p:nvSpPr>
          <p:cNvPr id="30" name="Text 28"/>
          <p:cNvSpPr/>
          <p:nvPr/>
        </p:nvSpPr>
        <p:spPr>
          <a:xfrm>
            <a:off x="1188720" y="470916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Sheet-metal blank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Upload a DXF flat pattern with the STEP, and the measured blank is used instead of the bounding box.</a:t>
            </a:r>
            <a:endParaRPr lang="en-US" sz="1060" dirty="0"/>
          </a:p>
        </p:txBody>
      </p:sp>
      <p:sp>
        <p:nvSpPr>
          <p:cNvPr id="31" name="Shape 29"/>
          <p:cNvSpPr/>
          <p:nvPr/>
        </p:nvSpPr>
        <p:spPr>
          <a:xfrm>
            <a:off x="548640" y="5349240"/>
            <a:ext cx="7040880" cy="548640"/>
          </a:xfrm>
          <a:prstGeom prst="roundRect">
            <a:avLst>
              <a:gd name="adj" fmla="val 8333"/>
            </a:avLst>
          </a:prstGeom>
          <a:solidFill>
            <a:srgbClr val="FFFFFF"/>
          </a:solidFill>
          <a:ln w="12700">
            <a:solidFill>
              <a:srgbClr val="E4EAF2"/>
            </a:solidFill>
            <a:prstDash val="solid"/>
          </a:ln>
        </p:spPr>
        <p:txBody>
          <a:bodyPr/>
          <a:p/>
        </p:txBody>
      </p:sp>
      <p:sp>
        <p:nvSpPr>
          <p:cNvPr id="32" name="Shape 30"/>
          <p:cNvSpPr/>
          <p:nvPr/>
        </p:nvSpPr>
        <p:spPr>
          <a:xfrm>
            <a:off x="694944" y="5449824"/>
            <a:ext cx="347472" cy="347472"/>
          </a:xfrm>
          <a:prstGeom prst="ellipse">
            <a:avLst/>
          </a:prstGeom>
          <a:solidFill>
            <a:srgbClr val="0EA472"/>
          </a:solidFill>
          <a:ln/>
          <a:effectLst>
            <a:outerShdw sx="100000" sy="100000" kx="0" ky="0" algn="bl" rotWithShape="0" blurRad="1.8031249329042424e+62" dist="5.409374798712724e+61" dir="4.2316648611840007e+73">
              <a:srgbClr val="A7B6CE">
                <a:alpha val="1.8000000000000002e+74"/>
              </a:srgbClr>
            </a:outerShdw>
          </a:effectLst>
        </p:spPr>
        <p:txBody>
          <a:bodyPr/>
          <a:p/>
        </p:txBody>
      </p:sp>
      <p:sp>
        <p:nvSpPr>
          <p:cNvPr id="33" name="Text 31"/>
          <p:cNvSpPr/>
          <p:nvPr/>
        </p:nvSpPr>
        <p:spPr>
          <a:xfrm>
            <a:off x="694944" y="54498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6</a:t>
            </a:r>
            <a:endParaRPr lang="en-US" sz="1292" dirty="0"/>
          </a:p>
        </p:txBody>
      </p:sp>
      <p:sp>
        <p:nvSpPr>
          <p:cNvPr id="34" name="Text 32"/>
          <p:cNvSpPr/>
          <p:nvPr/>
        </p:nvSpPr>
        <p:spPr>
          <a:xfrm>
            <a:off x="1188720" y="53492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Traceable facts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Each value traces to where it came from — measured, typed or rate library — and the self-audit flags anything implausible.</a:t>
            </a:r>
            <a:endParaRPr lang="en-US" sz="1060" dirty="0"/>
          </a:p>
        </p:txBody>
      </p:sp>
      <p:sp>
        <p:nvSpPr>
          <p:cNvPr id="35" name="Shape 33"/>
          <p:cNvSpPr/>
          <p:nvPr/>
        </p:nvSpPr>
        <p:spPr>
          <a:xfrm>
            <a:off x="7909560" y="2148840"/>
            <a:ext cx="3733495" cy="3749040"/>
          </a:xfrm>
          <a:prstGeom prst="roundRect">
            <a:avLst>
              <a:gd name="adj" fmla="val 1714"/>
            </a:avLst>
          </a:prstGeom>
          <a:solidFill>
            <a:srgbClr val="E7F7F0"/>
          </a:solidFill>
          <a:ln w="12700">
            <a:solidFill>
              <a:srgbClr val="E4EAF2"/>
            </a:solidFill>
            <a:prstDash val="solid"/>
          </a:ln>
        </p:spPr>
        <p:txBody>
          <a:bodyPr/>
          <a:p/>
        </p:txBody>
      </p:sp>
      <p:sp>
        <p:nvSpPr>
          <p:cNvPr id="36" name="Shape 34"/>
          <p:cNvSpPr/>
          <p:nvPr/>
        </p:nvSpPr>
        <p:spPr>
          <a:xfrm>
            <a:off x="7909560" y="2148840"/>
            <a:ext cx="82296" cy="3749040"/>
          </a:xfrm>
          <a:prstGeom prst="rect">
            <a:avLst/>
          </a:prstGeom>
          <a:solidFill>
            <a:srgbClr val="0EA472"/>
          </a:solidFill>
          <a:ln/>
        </p:spPr>
        <p:txBody>
          <a:bodyPr/>
          <a:p/>
        </p:txBody>
      </p:sp>
      <p:sp>
        <p:nvSpPr>
          <p:cNvPr id="37" name="Text 35"/>
          <p:cNvSpPr/>
          <p:nvPr/>
        </p:nvSpPr>
        <p:spPr>
          <a:xfrm>
            <a:off x="8183880" y="2350008"/>
            <a:ext cx="3276295" cy="320040"/>
          </a:xfrm>
          <a:prstGeom prst="rect">
            <a:avLst/>
          </a:prstGeom>
          <a:noFill/>
          <a:ln/>
        </p:spPr>
        <p:txBody>
          <a:bodyPr wrap="square" lIns="0" tIns="0" rIns="0" bIns="0" rtlCol="0" anchor="t"/>
          <a:lstStyle/>
          <a:p>
            <a:pPr indent="0" marL="0">
              <a:buNone/>
            </a:pPr>
            <a:r>
              <a:rPr lang="en-US" sz="1400" b="1" dirty="0">
                <a:solidFill>
                  <a:srgbClr val="0EA472"/>
                </a:solidFill>
                <a:latin typeface="Calibri" pitchFamily="34" charset="0"/>
                <a:ea typeface="Calibri" pitchFamily="34" charset="-122"/>
                <a:cs typeface="Calibri" pitchFamily="34" charset="-120"/>
              </a:rPr>
              <a:t>The golden rule</a:t>
            </a:r>
            <a:endParaRPr lang="en-US" sz="1400" dirty="0"/>
          </a:p>
        </p:txBody>
      </p:sp>
      <p:sp>
        <p:nvSpPr>
          <p:cNvPr id="38" name="Text 36"/>
          <p:cNvSpPr/>
          <p:nvPr/>
        </p:nvSpPr>
        <p:spPr>
          <a:xfrm>
            <a:off x="8183880" y="2834640"/>
            <a:ext cx="3230575" cy="731520"/>
          </a:xfrm>
          <a:prstGeom prst="rect">
            <a:avLst/>
          </a:prstGeom>
          <a:noFill/>
          <a:ln/>
        </p:spPr>
        <p:txBody>
          <a:bodyPr wrap="square" lIns="0" tIns="0" rIns="0" bIns="0" rtlCol="0" anchor="t"/>
          <a:lstStyle/>
          <a:p>
            <a:pPr indent="0" marL="0">
              <a:lnSpc>
                <a:spcPct val="115000"/>
              </a:lnSpc>
              <a:buNone/>
            </a:pPr>
            <a:r>
              <a:rPr lang="en-US" sz="1250" b="1" dirty="0">
                <a:solidFill>
                  <a:srgbClr val="0F1E3D"/>
                </a:solidFill>
                <a:latin typeface="Calibri" pitchFamily="34" charset="0"/>
                <a:ea typeface="Calibri" pitchFamily="34" charset="-122"/>
                <a:cs typeface="Calibri" pitchFamily="34" charset="-120"/>
              </a:rPr>
              <a:t>AI never sets a price — and at JLR it is switched off.</a:t>
            </a:r>
            <a:endParaRPr lang="en-US" sz="1250" dirty="0"/>
          </a:p>
        </p:txBody>
      </p:sp>
      <p:sp>
        <p:nvSpPr>
          <p:cNvPr id="39" name="Text 37"/>
          <p:cNvSpPr/>
          <p:nvPr/>
        </p:nvSpPr>
        <p:spPr>
          <a:xfrm>
            <a:off x="8183880" y="3749040"/>
            <a:ext cx="3230575" cy="1645920"/>
          </a:xfrm>
          <a:prstGeom prst="rect">
            <a:avLst/>
          </a:prstGeom>
          <a:noFill/>
          <a:ln/>
        </p:spPr>
        <p:txBody>
          <a:bodyPr wrap="square" lIns="0" tIns="0" rIns="0" bIns="0" rtlCol="0" anchor="t"/>
          <a:lstStyle/>
          <a:p>
            <a:pPr indent="0" marL="0">
              <a:lnSpc>
                <a:spcPct val="120000"/>
              </a:lnSpc>
              <a:buNone/>
            </a:pPr>
            <a:r>
              <a:rPr lang="en-US" sz="1150" dirty="0">
                <a:solidFill>
                  <a:srgbClr val="3E4C63"/>
                </a:solidFill>
                <a:latin typeface="Calibri" pitchFamily="34" charset="0"/>
                <a:ea typeface="Calibri" pitchFamily="34" charset="-122"/>
                <a:cs typeface="Calibri" pitchFamily="34" charset="-120"/>
              </a:rPr>
              <a:t>Every £ is plain arithmetic on measured or typed facts, using the rate library — defensible line by line.</a:t>
            </a:r>
            <a:endParaRPr lang="en-US" sz="1150" dirty="0"/>
          </a:p>
        </p:txBody>
      </p:sp>
      <p:sp>
        <p:nvSpPr>
          <p:cNvPr id="40" name="Shape 38"/>
          <p:cNvSpPr/>
          <p:nvPr/>
        </p:nvSpPr>
        <p:spPr>
          <a:xfrm>
            <a:off x="548640" y="6400800"/>
            <a:ext cx="11094415" cy="12802"/>
          </a:xfrm>
          <a:prstGeom prst="rect">
            <a:avLst/>
          </a:prstGeom>
          <a:solidFill>
            <a:srgbClr val="E4EAF2"/>
          </a:solidFill>
          <a:ln/>
        </p:spPr>
        <p:txBody>
          <a:bodyPr/>
          <a:p/>
        </p:txBody>
      </p:sp>
      <p:sp>
        <p:nvSpPr>
          <p:cNvPr id="41" name="Text 3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2" name="Text 4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7 / 33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cad-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txBody>
          <a:bodyPr/>
          <a:p/>
        </p:txBody>
      </p:sp>
      <p:sp>
        <p:nvSpPr>
          <p:cNvPr id="5" name="Shape 2"/>
          <p:cNvSpPr/>
          <p:nvPr/>
        </p:nvSpPr>
        <p:spPr>
          <a:xfrm>
            <a:off x="0" y="3931920"/>
            <a:ext cx="12191695" cy="2926080"/>
          </a:xfrm>
          <a:prstGeom prst="rect">
            <a:avLst/>
          </a:prstGeom>
          <a:solidFill>
            <a:srgbClr val="061024">
              <a:alpha val="80000"/>
            </a:srgbClr>
          </a:solidFill>
          <a:ln/>
        </p:spPr>
        <p:txBody>
          <a:bodyPr/>
          <a:p/>
        </p:txBody>
      </p:sp>
      <p:sp>
        <p:nvSpPr>
          <p:cNvPr id="6" name="Shape 3"/>
          <p:cNvSpPr/>
          <p:nvPr/>
        </p:nvSpPr>
        <p:spPr>
          <a:xfrm>
            <a:off x="0" y="0"/>
            <a:ext cx="146304" cy="6858000"/>
          </a:xfrm>
          <a:prstGeom prst="rect">
            <a:avLst/>
          </a:prstGeom>
          <a:solidFill>
            <a:srgbClr val="0DA5A0"/>
          </a:solidFill>
          <a:ln/>
        </p:spPr>
        <p:txBody>
          <a:bodyPr/>
          <a:p/>
        </p:txBody>
      </p:sp>
      <p:sp>
        <p:nvSpPr>
          <p:cNvPr id="7" name="Shape 4"/>
          <p:cNvSpPr/>
          <p:nvPr/>
        </p:nvSpPr>
        <p:spPr>
          <a:xfrm>
            <a:off x="0" y="6729984"/>
            <a:ext cx="12191695" cy="128016"/>
          </a:xfrm>
          <a:prstGeom prst="rect">
            <a:avLst/>
          </a:prstGeom>
          <a:solidFill>
            <a:srgbClr val="0DA5A0"/>
          </a:solidFill>
          <a:ln/>
        </p:spPr>
        <p:txBody>
          <a:bodyPr/>
          <a:p/>
        </p:txBody>
      </p:sp>
      <p:sp>
        <p:nvSpPr>
          <p:cNvPr id="8" name="Shape 5"/>
          <p:cNvSpPr/>
          <p:nvPr/>
        </p:nvSpPr>
        <p:spPr>
          <a:xfrm>
            <a:off x="548640" y="457200"/>
            <a:ext cx="402336" cy="402336"/>
          </a:xfrm>
          <a:prstGeom prst="roundRect">
            <a:avLst>
              <a:gd name="adj" fmla="val 22727"/>
            </a:avLst>
          </a:prstGeom>
          <a:solidFill>
            <a:srgbClr val="4F46E5"/>
          </a:solidFill>
          <a:ln/>
        </p:spPr>
        <p:txBody>
          <a:bodyPr/>
          <a:p/>
        </p:txBody>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DA5A0"/>
          </a:solidFill>
          <a:ln/>
        </p:spPr>
        <p:txBody>
          <a:bodyPr/>
          <a:p/>
        </p:txBody>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DEEP DIVE</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CAD → Cost</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8 / 33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from a 3D model to a should-cost</a:t>
            </a:r>
            <a:endParaRPr lang="en-US" sz="2400" dirty="0"/>
          </a:p>
        </p:txBody>
      </p:sp>
      <p:sp>
        <p:nvSpPr>
          <p:cNvPr id="9" name="Shape 7"/>
          <p:cNvSpPr/>
          <p:nvPr/>
        </p:nvSpPr>
        <p:spPr>
          <a:xfrm>
            <a:off x="548640" y="1371600"/>
            <a:ext cx="1051560" cy="45720"/>
          </a:xfrm>
          <a:prstGeom prst="rect">
            <a:avLst/>
          </a:prstGeom>
          <a:solidFill>
            <a:srgbClr val="0DA5A0"/>
          </a:solidFill>
          <a:ln/>
        </p:spPr>
        <p:txBody>
          <a:bodyPr/>
          <a:p/>
        </p:txBody>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Drop in a 3D model. CostVision measures the geometry, finds the features, asks what it can't tell, and prices the part.</a:t>
            </a:r>
            <a:endParaRPr lang="en-US" sz="1250" dirty="0"/>
          </a:p>
        </p:txBody>
      </p:sp>
      <p:sp>
        <p:nvSpPr>
          <p:cNvPr id="11" name="Shape 9"/>
          <p:cNvSpPr/>
          <p:nvPr/>
        </p:nvSpPr>
        <p:spPr>
          <a:xfrm>
            <a:off x="548640"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5.170886643212067e+74" dist="1.477396183774876e+74" dir="9.14039610015744e+87">
              <a:srgbClr val="9DB0CC">
                <a:alpha val="2.2000000000000003e+89"/>
              </a:srgbClr>
            </a:outerShdw>
          </a:effectLst>
        </p:spPr>
        <p:txBody>
          <a:bodyPr/>
          <a:p/>
        </p:txBody>
      </p:sp>
      <p:sp>
        <p:nvSpPr>
          <p:cNvPr id="12" name="Shape 10"/>
          <p:cNvSpPr/>
          <p:nvPr/>
        </p:nvSpPr>
        <p:spPr>
          <a:xfrm>
            <a:off x="548640" y="2286000"/>
            <a:ext cx="82296" cy="2834640"/>
          </a:xfrm>
          <a:prstGeom prst="rect">
            <a:avLst/>
          </a:prstGeom>
          <a:solidFill>
            <a:srgbClr val="0DA5A0"/>
          </a:solidFill>
          <a:ln/>
        </p:spPr>
        <p:txBody>
          <a:bodyPr/>
          <a:p/>
        </p:txBody>
      </p:sp>
      <p:sp>
        <p:nvSpPr>
          <p:cNvPr id="13" name="Shape 11"/>
          <p:cNvSpPr/>
          <p:nvPr/>
        </p:nvSpPr>
        <p:spPr>
          <a:xfrm>
            <a:off x="1453896" y="2578608"/>
            <a:ext cx="731520" cy="731520"/>
          </a:xfrm>
          <a:prstGeom prst="ellipse">
            <a:avLst/>
          </a:prstGeom>
          <a:solidFill>
            <a:srgbClr val="E7F7F0"/>
          </a:solidFill>
          <a:ln/>
        </p:spPr>
        <p:txBody>
          <a:bodyPr/>
          <a:p/>
        </p:txBody>
      </p:sp>
      <p:sp>
        <p:nvSpPr>
          <p:cNvPr id="14" name="Text 12"/>
          <p:cNvSpPr/>
          <p:nvPr/>
        </p:nvSpPr>
        <p:spPr>
          <a:xfrm>
            <a:off x="1453896" y="2569464"/>
            <a:ext cx="731520" cy="731520"/>
          </a:xfrm>
          <a:prstGeom prst="rect">
            <a:avLst/>
          </a:prstGeom>
          <a:noFill/>
          <a:ln/>
        </p:spPr>
        <p:txBody>
          <a:bodyPr wrap="square" lIns="0" tIns="0" rIns="0" bIns="0" rtlCol="0" anchor="ctr"/>
          <a:lstStyle/>
          <a:p>
            <a:pPr algn="ctr" indent="0" marL="0">
              <a:buNone/>
            </a:pPr>
            <a:r>
              <a:rPr lang="en-US" sz="2500" b="1" dirty="0">
                <a:solidFill>
                  <a:srgbClr val="0DA5A0"/>
                </a:solidFill>
                <a:latin typeface="Calibri" pitchFamily="34" charset="0"/>
                <a:ea typeface="Calibri" pitchFamily="34" charset="-122"/>
                <a:cs typeface="Calibri" pitchFamily="34" charset="-120"/>
              </a:rPr>
              <a:t>◧</a:t>
            </a:r>
            <a:endParaRPr lang="en-US" sz="2500" dirty="0"/>
          </a:p>
        </p:txBody>
      </p:sp>
      <p:sp>
        <p:nvSpPr>
          <p:cNvPr id="15" name="Text 13"/>
          <p:cNvSpPr/>
          <p:nvPr/>
        </p:nvSpPr>
        <p:spPr>
          <a:xfrm>
            <a:off x="768096"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0DA5A0"/>
                </a:solidFill>
                <a:latin typeface="Calibri" pitchFamily="34" charset="0"/>
                <a:ea typeface="Calibri" pitchFamily="34" charset="-122"/>
                <a:cs typeface="Calibri" pitchFamily="34" charset="-120"/>
              </a:rPr>
              <a:t>Measures the real geometry</a:t>
            </a:r>
            <a:endParaRPr lang="en-US" sz="1300" dirty="0"/>
          </a:p>
        </p:txBody>
      </p:sp>
      <p:sp>
        <p:nvSpPr>
          <p:cNvPr id="16" name="Text 14"/>
          <p:cNvSpPr/>
          <p:nvPr/>
        </p:nvSpPr>
        <p:spPr>
          <a:xfrm>
            <a:off x="786384"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The geometry engine (OpenCASCADE) measures volume, size and surface area from STEP, IGES or STL.</a:t>
            </a:r>
            <a:endParaRPr lang="en-US" sz="1000" dirty="0"/>
          </a:p>
        </p:txBody>
      </p:sp>
      <p:sp>
        <p:nvSpPr>
          <p:cNvPr id="17" name="Shape 15"/>
          <p:cNvSpPr/>
          <p:nvPr/>
        </p:nvSpPr>
        <p:spPr>
          <a:xfrm>
            <a:off x="3419856"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6.567026036879325e+78" dist="1.8762931533940924e+78" dir="5.484237660094465e+92">
              <a:srgbClr val="9DB0CC">
                <a:alpha val="2.2e+94"/>
              </a:srgbClr>
            </a:outerShdw>
          </a:effectLst>
        </p:spPr>
        <p:txBody>
          <a:bodyPr/>
          <a:p/>
        </p:txBody>
      </p:sp>
      <p:sp>
        <p:nvSpPr>
          <p:cNvPr id="18" name="Shape 16"/>
          <p:cNvSpPr/>
          <p:nvPr/>
        </p:nvSpPr>
        <p:spPr>
          <a:xfrm>
            <a:off x="3419856" y="2286000"/>
            <a:ext cx="82296" cy="2834640"/>
          </a:xfrm>
          <a:prstGeom prst="rect">
            <a:avLst/>
          </a:prstGeom>
          <a:solidFill>
            <a:srgbClr val="2563EB"/>
          </a:solidFill>
          <a:ln/>
        </p:spPr>
        <p:txBody>
          <a:bodyPr/>
          <a:p/>
        </p:txBody>
      </p:sp>
      <p:sp>
        <p:nvSpPr>
          <p:cNvPr id="19" name="Shape 17"/>
          <p:cNvSpPr/>
          <p:nvPr/>
        </p:nvSpPr>
        <p:spPr>
          <a:xfrm>
            <a:off x="4325112" y="2578608"/>
            <a:ext cx="731520" cy="731520"/>
          </a:xfrm>
          <a:prstGeom prst="ellipse">
            <a:avLst/>
          </a:prstGeom>
          <a:solidFill>
            <a:srgbClr val="EAF1FE"/>
          </a:solidFill>
          <a:ln/>
        </p:spPr>
        <p:txBody>
          <a:bodyPr/>
          <a:p/>
        </p:txBody>
      </p:sp>
      <p:sp>
        <p:nvSpPr>
          <p:cNvPr id="20" name="Text 18"/>
          <p:cNvSpPr/>
          <p:nvPr/>
        </p:nvSpPr>
        <p:spPr>
          <a:xfrm>
            <a:off x="4325112" y="2569464"/>
            <a:ext cx="731520" cy="731520"/>
          </a:xfrm>
          <a:prstGeom prst="rect">
            <a:avLst/>
          </a:prstGeom>
          <a:noFill/>
          <a:ln/>
        </p:spPr>
        <p:txBody>
          <a:bodyPr wrap="square" lIns="0" tIns="0" rIns="0" bIns="0" rtlCol="0" anchor="ctr"/>
          <a:lstStyle/>
          <a:p>
            <a:pPr algn="ctr" indent="0" marL="0">
              <a:buNone/>
            </a:pPr>
            <a:r>
              <a:rPr lang="en-US" sz="2500" b="1" dirty="0">
                <a:solidFill>
                  <a:srgbClr val="2563EB"/>
                </a:solidFill>
                <a:latin typeface="Calibri" pitchFamily="34" charset="0"/>
                <a:ea typeface="Calibri" pitchFamily="34" charset="-122"/>
                <a:cs typeface="Calibri" pitchFamily="34" charset="-120"/>
              </a:rPr>
              <a:t>◈</a:t>
            </a:r>
            <a:endParaRPr lang="en-US" sz="2500" dirty="0"/>
          </a:p>
        </p:txBody>
      </p:sp>
      <p:sp>
        <p:nvSpPr>
          <p:cNvPr id="21" name="Text 19"/>
          <p:cNvSpPr/>
          <p:nvPr/>
        </p:nvSpPr>
        <p:spPr>
          <a:xfrm>
            <a:off x="3639312"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2563EB"/>
                </a:solidFill>
                <a:latin typeface="Calibri" pitchFamily="34" charset="0"/>
                <a:ea typeface="Calibri" pitchFamily="34" charset="-122"/>
                <a:cs typeface="Calibri" pitchFamily="34" charset="-120"/>
              </a:rPr>
              <a:t>Finds the features</a:t>
            </a:r>
            <a:endParaRPr lang="en-US" sz="1300" dirty="0"/>
          </a:p>
        </p:txBody>
      </p:sp>
      <p:sp>
        <p:nvSpPr>
          <p:cNvPr id="22" name="Text 20"/>
          <p:cNvSpPr/>
          <p:nvPr/>
        </p:nvSpPr>
        <p:spPr>
          <a:xfrm>
            <a:off x="3657600"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Holes, pockets, slots and bends are found in STEP and IGES files and turned into machining steps.</a:t>
            </a:r>
            <a:endParaRPr lang="en-US" sz="1000" dirty="0"/>
          </a:p>
        </p:txBody>
      </p:sp>
      <p:sp>
        <p:nvSpPr>
          <p:cNvPr id="23" name="Shape 21"/>
          <p:cNvSpPr/>
          <p:nvPr/>
        </p:nvSpPr>
        <p:spPr>
          <a:xfrm>
            <a:off x="6291072"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8.340123066836742e+82" dist="2.3828923048104974e+82" dir="3.2905425960566786e+97">
              <a:srgbClr val="9DB0CC">
                <a:alpha val="2.2000000000000003e+99"/>
              </a:srgbClr>
            </a:outerShdw>
          </a:effectLst>
        </p:spPr>
        <p:txBody>
          <a:bodyPr/>
          <a:p/>
        </p:txBody>
      </p:sp>
      <p:sp>
        <p:nvSpPr>
          <p:cNvPr id="24" name="Shape 22"/>
          <p:cNvSpPr/>
          <p:nvPr/>
        </p:nvSpPr>
        <p:spPr>
          <a:xfrm>
            <a:off x="6291072" y="2286000"/>
            <a:ext cx="82296" cy="2834640"/>
          </a:xfrm>
          <a:prstGeom prst="rect">
            <a:avLst/>
          </a:prstGeom>
          <a:solidFill>
            <a:srgbClr val="7C3AED"/>
          </a:solidFill>
          <a:ln/>
        </p:spPr>
        <p:txBody>
          <a:bodyPr/>
          <a:p/>
        </p:txBody>
      </p:sp>
      <p:sp>
        <p:nvSpPr>
          <p:cNvPr id="25" name="Shape 23"/>
          <p:cNvSpPr/>
          <p:nvPr/>
        </p:nvSpPr>
        <p:spPr>
          <a:xfrm>
            <a:off x="7196328" y="2578608"/>
            <a:ext cx="731520" cy="731520"/>
          </a:xfrm>
          <a:prstGeom prst="ellipse">
            <a:avLst/>
          </a:prstGeom>
          <a:solidFill>
            <a:srgbClr val="F3EEFE"/>
          </a:solidFill>
          <a:ln/>
        </p:spPr>
        <p:txBody>
          <a:bodyPr/>
          <a:p/>
        </p:txBody>
      </p:sp>
      <p:sp>
        <p:nvSpPr>
          <p:cNvPr id="26" name="Text 24"/>
          <p:cNvSpPr/>
          <p:nvPr/>
        </p:nvSpPr>
        <p:spPr>
          <a:xfrm>
            <a:off x="7196328" y="2569464"/>
            <a:ext cx="731520" cy="731520"/>
          </a:xfrm>
          <a:prstGeom prst="rect">
            <a:avLst/>
          </a:prstGeom>
          <a:noFill/>
          <a:ln/>
        </p:spPr>
        <p:txBody>
          <a:bodyPr wrap="square" lIns="0" tIns="0" rIns="0" bIns="0" rtlCol="0" anchor="ctr"/>
          <a:lstStyle/>
          <a:p>
            <a:pPr algn="ctr" indent="0" marL="0">
              <a:buNone/>
            </a:pPr>
            <a:r>
              <a:rPr lang="en-US" sz="2500" b="1" dirty="0">
                <a:solidFill>
                  <a:srgbClr val="7C3AED"/>
                </a:solidFill>
                <a:latin typeface="Calibri" pitchFamily="34" charset="0"/>
                <a:ea typeface="Calibri" pitchFamily="34" charset="-122"/>
                <a:cs typeface="Calibri" pitchFamily="34" charset="-120"/>
              </a:rPr>
              <a:t>✦</a:t>
            </a:r>
            <a:endParaRPr lang="en-US" sz="2500" dirty="0"/>
          </a:p>
        </p:txBody>
      </p:sp>
      <p:sp>
        <p:nvSpPr>
          <p:cNvPr id="27" name="Text 25"/>
          <p:cNvSpPr/>
          <p:nvPr/>
        </p:nvSpPr>
        <p:spPr>
          <a:xfrm>
            <a:off x="6510528"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7C3AED"/>
                </a:solidFill>
                <a:latin typeface="Calibri" pitchFamily="34" charset="0"/>
                <a:ea typeface="Calibri" pitchFamily="34" charset="-122"/>
                <a:cs typeface="Calibri" pitchFamily="34" charset="-120"/>
              </a:rPr>
              <a:t>Asks, never guesses</a:t>
            </a:r>
            <a:endParaRPr lang="en-US" sz="1300" dirty="0"/>
          </a:p>
        </p:txBody>
      </p:sp>
      <p:sp>
        <p:nvSpPr>
          <p:cNvPr id="28" name="Text 26"/>
          <p:cNvSpPr/>
          <p:nvPr/>
        </p:nvSpPr>
        <p:spPr>
          <a:xfrm>
            <a:off x="6528816"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Where the geometry can't decide the route or the material, the tool asks the engineer to choose.</a:t>
            </a:r>
            <a:endParaRPr lang="en-US" sz="1000" dirty="0"/>
          </a:p>
        </p:txBody>
      </p:sp>
      <p:sp>
        <p:nvSpPr>
          <p:cNvPr id="29" name="Shape 27"/>
          <p:cNvSpPr/>
          <p:nvPr/>
        </p:nvSpPr>
        <p:spPr>
          <a:xfrm>
            <a:off x="9162288" y="2286000"/>
            <a:ext cx="2542032" cy="2834640"/>
          </a:xfrm>
          <a:prstGeom prst="roundRect">
            <a:avLst>
              <a:gd name="adj" fmla="val 2518"/>
            </a:avLst>
          </a:prstGeom>
          <a:solidFill>
            <a:srgbClr val="FFFFFF"/>
          </a:solidFill>
          <a:ln w="12700">
            <a:solidFill>
              <a:srgbClr val="E4EAF2"/>
            </a:solidFill>
            <a:prstDash val="solid"/>
          </a:ln>
          <a:effectLst>
            <a:outerShdw sx="100000" sy="100000" kx="0" ky="0" algn="bl" rotWithShape="0" blurRad="1.0591956294882662e+87" dist="3.0262732271093317e+86" dir="1.9743255576340073e+102">
              <a:srgbClr val="9DB0CC">
                <a:alpha val="2.2000000000000003e+104"/>
              </a:srgbClr>
            </a:outerShdw>
          </a:effectLst>
        </p:spPr>
        <p:txBody>
          <a:bodyPr/>
          <a:p/>
        </p:txBody>
      </p:sp>
      <p:sp>
        <p:nvSpPr>
          <p:cNvPr id="30" name="Shape 28"/>
          <p:cNvSpPr/>
          <p:nvPr/>
        </p:nvSpPr>
        <p:spPr>
          <a:xfrm>
            <a:off x="9162288" y="2286000"/>
            <a:ext cx="82296" cy="2834640"/>
          </a:xfrm>
          <a:prstGeom prst="rect">
            <a:avLst/>
          </a:prstGeom>
          <a:solidFill>
            <a:srgbClr val="0EA472"/>
          </a:solidFill>
          <a:ln/>
        </p:spPr>
        <p:txBody>
          <a:bodyPr/>
          <a:p/>
        </p:txBody>
      </p:sp>
      <p:sp>
        <p:nvSpPr>
          <p:cNvPr id="31" name="Shape 29"/>
          <p:cNvSpPr/>
          <p:nvPr/>
        </p:nvSpPr>
        <p:spPr>
          <a:xfrm>
            <a:off x="10067544" y="2578608"/>
            <a:ext cx="731520" cy="731520"/>
          </a:xfrm>
          <a:prstGeom prst="ellipse">
            <a:avLst/>
          </a:prstGeom>
          <a:solidFill>
            <a:srgbClr val="E7F7F0"/>
          </a:solidFill>
          <a:ln/>
        </p:spPr>
        <p:txBody>
          <a:bodyPr/>
          <a:p/>
        </p:txBody>
      </p:sp>
      <p:sp>
        <p:nvSpPr>
          <p:cNvPr id="32" name="Text 30"/>
          <p:cNvSpPr/>
          <p:nvPr/>
        </p:nvSpPr>
        <p:spPr>
          <a:xfrm>
            <a:off x="10067544" y="2569464"/>
            <a:ext cx="731520" cy="731520"/>
          </a:xfrm>
          <a:prstGeom prst="rect">
            <a:avLst/>
          </a:prstGeom>
          <a:noFill/>
          <a:ln/>
        </p:spPr>
        <p:txBody>
          <a:bodyPr wrap="square" lIns="0" tIns="0" rIns="0" bIns="0" rtlCol="0" anchor="ctr"/>
          <a:lstStyle/>
          <a:p>
            <a:pPr algn="ctr" indent="0" marL="0">
              <a:buNone/>
            </a:pPr>
            <a:r>
              <a:rPr lang="en-US" sz="2500" b="1" dirty="0">
                <a:solidFill>
                  <a:srgbClr val="0EA472"/>
                </a:solidFill>
                <a:latin typeface="Calibri" pitchFamily="34" charset="0"/>
                <a:ea typeface="Calibri" pitchFamily="34" charset="-122"/>
                <a:cs typeface="Calibri" pitchFamily="34" charset="-120"/>
              </a:rPr>
              <a:t>◆</a:t>
            </a:r>
            <a:endParaRPr lang="en-US" sz="2500" dirty="0"/>
          </a:p>
        </p:txBody>
      </p:sp>
      <p:sp>
        <p:nvSpPr>
          <p:cNvPr id="33" name="Text 31"/>
          <p:cNvSpPr/>
          <p:nvPr/>
        </p:nvSpPr>
        <p:spPr>
          <a:xfrm>
            <a:off x="9381744" y="3493008"/>
            <a:ext cx="2130552" cy="548640"/>
          </a:xfrm>
          <a:prstGeom prst="rect">
            <a:avLst/>
          </a:prstGeom>
          <a:noFill/>
          <a:ln/>
        </p:spPr>
        <p:txBody>
          <a:bodyPr wrap="square" lIns="0" tIns="0" rIns="0" bIns="0" rtlCol="0" anchor="t"/>
          <a:lstStyle/>
          <a:p>
            <a:pPr algn="ctr" indent="0" marL="0">
              <a:lnSpc>
                <a:spcPct val="100000"/>
              </a:lnSpc>
              <a:buNone/>
            </a:pPr>
            <a:r>
              <a:rPr lang="en-US" sz="1300" b="1" dirty="0">
                <a:solidFill>
                  <a:srgbClr val="0EA472"/>
                </a:solidFill>
                <a:latin typeface="Calibri" pitchFamily="34" charset="0"/>
                <a:ea typeface="Calibri" pitchFamily="34" charset="-122"/>
                <a:cs typeface="Calibri" pitchFamily="34" charset="-120"/>
              </a:rPr>
              <a:t>Prices it — and explains</a:t>
            </a:r>
            <a:endParaRPr lang="en-US" sz="1300" dirty="0"/>
          </a:p>
        </p:txBody>
      </p:sp>
      <p:sp>
        <p:nvSpPr>
          <p:cNvPr id="34" name="Text 32"/>
          <p:cNvSpPr/>
          <p:nvPr/>
        </p:nvSpPr>
        <p:spPr>
          <a:xfrm>
            <a:off x="9400032" y="4114800"/>
            <a:ext cx="2084832" cy="91440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fixed 8-bucket engine (material → margin) returns the should-cost with an uncertainty band and DFM guidance.</a:t>
            </a:r>
            <a:endParaRPr lang="en-US" sz="1000" dirty="0"/>
          </a:p>
        </p:txBody>
      </p:sp>
      <p:sp>
        <p:nvSpPr>
          <p:cNvPr id="35" name="Shape 33"/>
          <p:cNvSpPr/>
          <p:nvPr/>
        </p:nvSpPr>
        <p:spPr>
          <a:xfrm>
            <a:off x="548640" y="5303520"/>
            <a:ext cx="11091672" cy="640080"/>
          </a:xfrm>
          <a:prstGeom prst="roundRect">
            <a:avLst>
              <a:gd name="adj" fmla="val 10000"/>
            </a:avLst>
          </a:prstGeom>
          <a:solidFill>
            <a:srgbClr val="FEF6E7"/>
          </a:solidFill>
          <a:ln w="12700">
            <a:solidFill>
              <a:srgbClr val="E4EAF2"/>
            </a:solidFill>
            <a:prstDash val="solid"/>
          </a:ln>
        </p:spPr>
        <p:txBody>
          <a:bodyPr/>
          <a:p/>
        </p:txBody>
      </p:sp>
      <p:sp>
        <p:nvSpPr>
          <p:cNvPr id="36" name="Shape 34"/>
          <p:cNvSpPr/>
          <p:nvPr/>
        </p:nvSpPr>
        <p:spPr>
          <a:xfrm>
            <a:off x="548640" y="5303520"/>
            <a:ext cx="82296" cy="640080"/>
          </a:xfrm>
          <a:prstGeom prst="rect">
            <a:avLst/>
          </a:prstGeom>
          <a:solidFill>
            <a:srgbClr val="E0900C"/>
          </a:solidFill>
          <a:ln/>
        </p:spPr>
        <p:txBody>
          <a:bodyPr/>
          <a:p/>
        </p:txBody>
      </p:sp>
      <p:sp>
        <p:nvSpPr>
          <p:cNvPr id="37" name="Text 35"/>
          <p:cNvSpPr/>
          <p:nvPr/>
        </p:nvSpPr>
        <p:spPr>
          <a:xfrm>
            <a:off x="914400" y="5303520"/>
            <a:ext cx="10332720" cy="640080"/>
          </a:xfrm>
          <a:prstGeom prst="rect">
            <a:avLst/>
          </a:prstGeom>
          <a:noFill/>
          <a:ln/>
        </p:spPr>
        <p:txBody>
          <a:bodyPr wrap="square" lIns="0" tIns="0" rIns="0" bIns="0" rtlCol="0" anchor="ctr"/>
          <a:lstStyle/>
          <a:p>
            <a:pPr indent="0" marL="0">
              <a:lnSpc>
                <a:spcPct val="110000"/>
              </a:lnSpc>
              <a:buNone/>
            </a:pPr>
            <a:r>
              <a:rPr lang="en-US" sz="1100" b="1" dirty="0">
                <a:solidFill>
                  <a:srgbClr val="E0900C"/>
                </a:solidFill>
                <a:latin typeface="Calibri" pitchFamily="34" charset="0"/>
                <a:ea typeface="Calibri" pitchFamily="34" charset="-122"/>
                <a:cs typeface="Calibri" pitchFamily="34" charset="-120"/>
              </a:rPr>
              <a:t>Formats:  </a:t>
            </a:r>
            <a:pPr indent="0" marL="0">
              <a:lnSpc>
                <a:spcPct val="110000"/>
              </a:lnSpc>
              <a:buNone/>
            </a:pPr>
            <a:r>
              <a:rPr lang="en-US" sz="1100" dirty="0">
                <a:solidFill>
                  <a:srgbClr val="3E4C63"/>
                </a:solidFill>
                <a:latin typeface="Calibri" pitchFamily="34" charset="0"/>
                <a:ea typeface="Calibri" pitchFamily="34" charset="-122"/>
                <a:cs typeface="Calibri" pitchFamily="34" charset="-120"/>
              </a:rPr>
              <a:t>STEP · IGES · STL. For sheet metal, add a DXF flat pattern and the measured blank is used. Reading a 2D drawing needs the optional AI mode, which is switched off at JLR.</a:t>
            </a:r>
            <a:endParaRPr lang="en-US" sz="1100" dirty="0"/>
          </a:p>
        </p:txBody>
      </p:sp>
      <p:sp>
        <p:nvSpPr>
          <p:cNvPr id="38" name="Shape 36"/>
          <p:cNvSpPr/>
          <p:nvPr/>
        </p:nvSpPr>
        <p:spPr>
          <a:xfrm>
            <a:off x="548640" y="6400800"/>
            <a:ext cx="11094415" cy="12802"/>
          </a:xfrm>
          <a:prstGeom prst="rect">
            <a:avLst/>
          </a:prstGeom>
          <a:solidFill>
            <a:srgbClr val="E4EAF2"/>
          </a:solidFill>
          <a:ln/>
        </p:spPr>
        <p:txBody>
          <a:bodyPr/>
          <a:p/>
        </p:txBody>
      </p:sp>
      <p:sp>
        <p:nvSpPr>
          <p:cNvPr id="39" name="Text 3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0" name="Text 3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9 / 33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the workflow, end to end</a:t>
            </a:r>
            <a:endParaRPr lang="en-US" sz="2400" dirty="0"/>
          </a:p>
        </p:txBody>
      </p:sp>
      <p:sp>
        <p:nvSpPr>
          <p:cNvPr id="9" name="Shape 7"/>
          <p:cNvSpPr/>
          <p:nvPr/>
        </p:nvSpPr>
        <p:spPr>
          <a:xfrm>
            <a:off x="548640" y="1371600"/>
            <a:ext cx="1051560" cy="45720"/>
          </a:xfrm>
          <a:prstGeom prst="rect">
            <a:avLst/>
          </a:prstGeom>
          <a:solidFill>
            <a:srgbClr val="0DA5A0"/>
          </a:solidFill>
          <a:ln/>
        </p:spPr>
        <p:txBody>
          <a:bodyPr/>
          <a:p/>
        </p:txBody>
      </p:sp>
      <p:sp>
        <p:nvSpPr>
          <p:cNvPr id="10" name="Shape 8"/>
          <p:cNvSpPr/>
          <p:nvPr/>
        </p:nvSpPr>
        <p:spPr>
          <a:xfrm>
            <a:off x="548640"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1.3451784494500981e+91" dist="3.8433669984288512e+90" dir="1.1845953345804043e+107">
              <a:srgbClr val="9DB0CC">
                <a:alpha val="2.2000000000000003e+109"/>
              </a:srgbClr>
            </a:outerShdw>
          </a:effectLst>
        </p:spPr>
        <p:txBody>
          <a:bodyPr/>
          <a:p/>
        </p:txBody>
      </p:sp>
      <p:sp>
        <p:nvSpPr>
          <p:cNvPr id="11" name="Shape 9"/>
          <p:cNvSpPr/>
          <p:nvPr/>
        </p:nvSpPr>
        <p:spPr>
          <a:xfrm>
            <a:off x="548640" y="1783080"/>
            <a:ext cx="1463040" cy="82296"/>
          </a:xfrm>
          <a:prstGeom prst="rect">
            <a:avLst/>
          </a:prstGeom>
          <a:solidFill>
            <a:srgbClr val="2E90FA"/>
          </a:solidFill>
          <a:ln/>
        </p:spPr>
        <p:txBody>
          <a:bodyPr/>
          <a:p/>
        </p:txBody>
      </p:sp>
      <p:sp>
        <p:nvSpPr>
          <p:cNvPr id="12" name="Shape 10"/>
          <p:cNvSpPr/>
          <p:nvPr/>
        </p:nvSpPr>
        <p:spPr>
          <a:xfrm>
            <a:off x="1024128" y="1984248"/>
            <a:ext cx="512064" cy="512064"/>
          </a:xfrm>
          <a:prstGeom prst="ellipse">
            <a:avLst/>
          </a:prstGeom>
          <a:solidFill>
            <a:srgbClr val="F4F7FB"/>
          </a:solidFill>
          <a:ln/>
        </p:spPr>
        <p:txBody>
          <a:bodyPr/>
          <a:p/>
        </p:txBody>
      </p:sp>
      <p:sp>
        <p:nvSpPr>
          <p:cNvPr id="13" name="Text 11"/>
          <p:cNvSpPr/>
          <p:nvPr/>
        </p:nvSpPr>
        <p:spPr>
          <a:xfrm>
            <a:off x="1024128" y="1975104"/>
            <a:ext cx="512064" cy="512064"/>
          </a:xfrm>
          <a:prstGeom prst="rect">
            <a:avLst/>
          </a:prstGeom>
          <a:noFill/>
          <a:ln/>
        </p:spPr>
        <p:txBody>
          <a:bodyPr wrap="square" lIns="0" tIns="0" rIns="0" bIns="0" rtlCol="0" anchor="ctr"/>
          <a:lstStyle/>
          <a:p>
            <a:pPr algn="ctr" indent="0" marL="0">
              <a:buNone/>
            </a:pPr>
            <a:r>
              <a:rPr lang="en-US" sz="1800" b="1" dirty="0">
                <a:solidFill>
                  <a:srgbClr val="2E90FA"/>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640080"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Upload</a:t>
            </a:r>
            <a:endParaRPr lang="en-US" sz="1200" dirty="0"/>
          </a:p>
        </p:txBody>
      </p:sp>
      <p:sp>
        <p:nvSpPr>
          <p:cNvPr id="15" name="Text 13"/>
          <p:cNvSpPr/>
          <p:nvPr/>
        </p:nvSpPr>
        <p:spPr>
          <a:xfrm>
            <a:off x="658368"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3D model (+ DXF for sheet)</a:t>
            </a:r>
            <a:endParaRPr lang="en-US" sz="860" dirty="0"/>
          </a:p>
        </p:txBody>
      </p:sp>
      <p:sp>
        <p:nvSpPr>
          <p:cNvPr id="16" name="Shape 14"/>
          <p:cNvSpPr/>
          <p:nvPr/>
        </p:nvSpPr>
        <p:spPr>
          <a:xfrm>
            <a:off x="2016252" y="2583180"/>
            <a:ext cx="100584" cy="0"/>
          </a:xfrm>
          <a:prstGeom prst="line">
            <a:avLst/>
          </a:prstGeom>
          <a:noFill/>
          <a:ln w="22225">
            <a:solidFill>
              <a:srgbClr val="D4DEEC"/>
            </a:solidFill>
            <a:prstDash val="solid"/>
            <a:headEnd type="none"/>
            <a:tailEnd type="triangle"/>
          </a:ln>
        </p:spPr>
        <p:txBody>
          <a:bodyPr/>
          <a:p/>
        </p:txBody>
      </p:sp>
      <p:sp>
        <p:nvSpPr>
          <p:cNvPr id="17" name="Shape 15"/>
          <p:cNvSpPr/>
          <p:nvPr/>
        </p:nvSpPr>
        <p:spPr>
          <a:xfrm>
            <a:off x="2130552"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1.7083766308016246e+95" dist="4.8810760880046414e+94" dir="7.107572007482426e+111">
              <a:srgbClr val="9DB0CC">
                <a:alpha val="2.2000000000000003e+114"/>
              </a:srgbClr>
            </a:outerShdw>
          </a:effectLst>
        </p:spPr>
        <p:txBody>
          <a:bodyPr/>
          <a:p/>
        </p:txBody>
      </p:sp>
      <p:sp>
        <p:nvSpPr>
          <p:cNvPr id="18" name="Shape 16"/>
          <p:cNvSpPr/>
          <p:nvPr/>
        </p:nvSpPr>
        <p:spPr>
          <a:xfrm>
            <a:off x="2130552" y="1783080"/>
            <a:ext cx="1463040" cy="82296"/>
          </a:xfrm>
          <a:prstGeom prst="rect">
            <a:avLst/>
          </a:prstGeom>
          <a:solidFill>
            <a:srgbClr val="0DA5A0"/>
          </a:solidFill>
          <a:ln/>
        </p:spPr>
        <p:txBody>
          <a:bodyPr/>
          <a:p/>
        </p:txBody>
      </p:sp>
      <p:sp>
        <p:nvSpPr>
          <p:cNvPr id="19" name="Shape 17"/>
          <p:cNvSpPr/>
          <p:nvPr/>
        </p:nvSpPr>
        <p:spPr>
          <a:xfrm>
            <a:off x="2606040" y="1984248"/>
            <a:ext cx="512064" cy="512064"/>
          </a:xfrm>
          <a:prstGeom prst="ellipse">
            <a:avLst/>
          </a:prstGeom>
          <a:solidFill>
            <a:srgbClr val="E7F7F0"/>
          </a:solidFill>
          <a:ln/>
        </p:spPr>
        <p:txBody>
          <a:bodyPr/>
          <a:p/>
        </p:txBody>
      </p:sp>
      <p:sp>
        <p:nvSpPr>
          <p:cNvPr id="20" name="Text 18"/>
          <p:cNvSpPr/>
          <p:nvPr/>
        </p:nvSpPr>
        <p:spPr>
          <a:xfrm>
            <a:off x="2606040" y="1975104"/>
            <a:ext cx="512064" cy="512064"/>
          </a:xfrm>
          <a:prstGeom prst="rect">
            <a:avLst/>
          </a:prstGeom>
          <a:noFill/>
          <a:ln/>
        </p:spPr>
        <p:txBody>
          <a:bodyPr wrap="square" lIns="0" tIns="0" rIns="0" bIns="0" rtlCol="0" anchor="ctr"/>
          <a:lstStyle/>
          <a:p>
            <a:pPr algn="ctr" indent="0" marL="0">
              <a:buNone/>
            </a:pPr>
            <a:r>
              <a:rPr lang="en-US" sz="1800" b="1" dirty="0">
                <a:solidFill>
                  <a:srgbClr val="0DA5A0"/>
                </a:solidFill>
                <a:latin typeface="Calibri" pitchFamily="34" charset="0"/>
                <a:ea typeface="Calibri" pitchFamily="34" charset="-122"/>
                <a:cs typeface="Calibri" pitchFamily="34" charset="-120"/>
              </a:rPr>
              <a:t>◧</a:t>
            </a:r>
            <a:endParaRPr lang="en-US" sz="1800" dirty="0"/>
          </a:p>
        </p:txBody>
      </p:sp>
      <p:sp>
        <p:nvSpPr>
          <p:cNvPr id="21" name="Text 19"/>
          <p:cNvSpPr/>
          <p:nvPr/>
        </p:nvSpPr>
        <p:spPr>
          <a:xfrm>
            <a:off x="2221992"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Measure</a:t>
            </a:r>
            <a:endParaRPr lang="en-US" sz="1200" dirty="0"/>
          </a:p>
        </p:txBody>
      </p:sp>
      <p:sp>
        <p:nvSpPr>
          <p:cNvPr id="22" name="Text 20"/>
          <p:cNvSpPr/>
          <p:nvPr/>
        </p:nvSpPr>
        <p:spPr>
          <a:xfrm>
            <a:off x="2240280"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volume · bbox · surface · faces</a:t>
            </a:r>
            <a:endParaRPr lang="en-US" sz="860" dirty="0"/>
          </a:p>
        </p:txBody>
      </p:sp>
      <p:sp>
        <p:nvSpPr>
          <p:cNvPr id="23" name="Shape 21"/>
          <p:cNvSpPr/>
          <p:nvPr/>
        </p:nvSpPr>
        <p:spPr>
          <a:xfrm>
            <a:off x="3598164" y="2583180"/>
            <a:ext cx="100584" cy="0"/>
          </a:xfrm>
          <a:prstGeom prst="line">
            <a:avLst/>
          </a:prstGeom>
          <a:noFill/>
          <a:ln w="22225">
            <a:solidFill>
              <a:srgbClr val="D4DEEC"/>
            </a:solidFill>
            <a:prstDash val="solid"/>
            <a:headEnd type="none"/>
            <a:tailEnd type="triangle"/>
          </a:ln>
        </p:spPr>
        <p:txBody>
          <a:bodyPr/>
          <a:p/>
        </p:txBody>
      </p:sp>
      <p:sp>
        <p:nvSpPr>
          <p:cNvPr id="24" name="Shape 22"/>
          <p:cNvSpPr/>
          <p:nvPr/>
        </p:nvSpPr>
        <p:spPr>
          <a:xfrm>
            <a:off x="3712464"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2.1696383211180632e+99" dist="6.198966631765894e+98" dir="4.2645432044894554e+116">
              <a:srgbClr val="9DB0CC">
                <a:alpha val="2.2000000000000005e+119"/>
              </a:srgbClr>
            </a:outerShdw>
          </a:effectLst>
        </p:spPr>
        <p:txBody>
          <a:bodyPr/>
          <a:p/>
        </p:txBody>
      </p:sp>
      <p:sp>
        <p:nvSpPr>
          <p:cNvPr id="25" name="Shape 23"/>
          <p:cNvSpPr/>
          <p:nvPr/>
        </p:nvSpPr>
        <p:spPr>
          <a:xfrm>
            <a:off x="3712464" y="1783080"/>
            <a:ext cx="1463040" cy="82296"/>
          </a:xfrm>
          <a:prstGeom prst="rect">
            <a:avLst/>
          </a:prstGeom>
          <a:solidFill>
            <a:srgbClr val="2563EB"/>
          </a:solidFill>
          <a:ln/>
        </p:spPr>
        <p:txBody>
          <a:bodyPr/>
          <a:p/>
        </p:txBody>
      </p:sp>
      <p:sp>
        <p:nvSpPr>
          <p:cNvPr id="26" name="Shape 24"/>
          <p:cNvSpPr/>
          <p:nvPr/>
        </p:nvSpPr>
        <p:spPr>
          <a:xfrm>
            <a:off x="4187952" y="1984248"/>
            <a:ext cx="512064" cy="512064"/>
          </a:xfrm>
          <a:prstGeom prst="ellipse">
            <a:avLst/>
          </a:prstGeom>
          <a:solidFill>
            <a:srgbClr val="EAF1FE"/>
          </a:solidFill>
          <a:ln/>
        </p:spPr>
        <p:txBody>
          <a:bodyPr/>
          <a:p/>
        </p:txBody>
      </p:sp>
      <p:sp>
        <p:nvSpPr>
          <p:cNvPr id="27" name="Text 25"/>
          <p:cNvSpPr/>
          <p:nvPr/>
        </p:nvSpPr>
        <p:spPr>
          <a:xfrm>
            <a:off x="4187952" y="197510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3803904"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Features</a:t>
            </a:r>
            <a:endParaRPr lang="en-US" sz="1200" dirty="0"/>
          </a:p>
        </p:txBody>
      </p:sp>
      <p:sp>
        <p:nvSpPr>
          <p:cNvPr id="29" name="Text 27"/>
          <p:cNvSpPr/>
          <p:nvPr/>
        </p:nvSpPr>
        <p:spPr>
          <a:xfrm>
            <a:off x="3822192"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holes · pockets · slots · bends</a:t>
            </a:r>
            <a:endParaRPr lang="en-US" sz="860" dirty="0"/>
          </a:p>
        </p:txBody>
      </p:sp>
      <p:sp>
        <p:nvSpPr>
          <p:cNvPr id="30" name="Shape 28"/>
          <p:cNvSpPr/>
          <p:nvPr/>
        </p:nvSpPr>
        <p:spPr>
          <a:xfrm>
            <a:off x="5180076" y="2583180"/>
            <a:ext cx="100584" cy="0"/>
          </a:xfrm>
          <a:prstGeom prst="line">
            <a:avLst/>
          </a:prstGeom>
          <a:noFill/>
          <a:ln w="22225">
            <a:solidFill>
              <a:srgbClr val="D4DEEC"/>
            </a:solidFill>
            <a:prstDash val="solid"/>
            <a:headEnd type="none"/>
            <a:tailEnd type="triangle"/>
          </a:ln>
        </p:spPr>
        <p:txBody>
          <a:bodyPr/>
          <a:p/>
        </p:txBody>
      </p:sp>
      <p:sp>
        <p:nvSpPr>
          <p:cNvPr id="31" name="Shape 29"/>
          <p:cNvSpPr/>
          <p:nvPr/>
        </p:nvSpPr>
        <p:spPr>
          <a:xfrm>
            <a:off x="5294376"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2.7554406678199403e+103" dist="7.872687622342685e+102" dir="2.5587259226936733e+121">
              <a:srgbClr val="9DB0CC">
                <a:alpha val="2.2000000000000006e+124"/>
              </a:srgbClr>
            </a:outerShdw>
          </a:effectLst>
        </p:spPr>
        <p:txBody>
          <a:bodyPr/>
          <a:p/>
        </p:txBody>
      </p:sp>
      <p:sp>
        <p:nvSpPr>
          <p:cNvPr id="32" name="Shape 30"/>
          <p:cNvSpPr/>
          <p:nvPr/>
        </p:nvSpPr>
        <p:spPr>
          <a:xfrm>
            <a:off x="5294376" y="1783080"/>
            <a:ext cx="1463040" cy="82296"/>
          </a:xfrm>
          <a:prstGeom prst="rect">
            <a:avLst/>
          </a:prstGeom>
          <a:solidFill>
            <a:srgbClr val="7C3AED"/>
          </a:solidFill>
          <a:ln/>
        </p:spPr>
        <p:txBody>
          <a:bodyPr/>
          <a:p/>
        </p:txBody>
      </p:sp>
      <p:sp>
        <p:nvSpPr>
          <p:cNvPr id="33" name="Shape 31"/>
          <p:cNvSpPr/>
          <p:nvPr/>
        </p:nvSpPr>
        <p:spPr>
          <a:xfrm>
            <a:off x="5769864" y="1984248"/>
            <a:ext cx="512064" cy="512064"/>
          </a:xfrm>
          <a:prstGeom prst="ellipse">
            <a:avLst/>
          </a:prstGeom>
          <a:solidFill>
            <a:srgbClr val="F3EEFE"/>
          </a:solidFill>
          <a:ln/>
        </p:spPr>
        <p:txBody>
          <a:bodyPr/>
          <a:p/>
        </p:txBody>
      </p:sp>
      <p:sp>
        <p:nvSpPr>
          <p:cNvPr id="34" name="Text 32"/>
          <p:cNvSpPr/>
          <p:nvPr/>
        </p:nvSpPr>
        <p:spPr>
          <a:xfrm>
            <a:off x="5769864" y="1975104"/>
            <a:ext cx="512064" cy="512064"/>
          </a:xfrm>
          <a:prstGeom prst="rect">
            <a:avLst/>
          </a:prstGeom>
          <a:noFill/>
          <a:ln/>
        </p:spPr>
        <p:txBody>
          <a:bodyPr wrap="square" lIns="0" tIns="0" rIns="0" bIns="0" rtlCol="0" anchor="ctr"/>
          <a:lstStyle/>
          <a:p>
            <a:pPr algn="ctr" indent="0" marL="0">
              <a:buNone/>
            </a:pPr>
            <a:r>
              <a:rPr lang="en-US" sz="1800" b="1" dirty="0">
                <a:solidFill>
                  <a:srgbClr val="7C3AED"/>
                </a:solidFill>
                <a:latin typeface="Calibri" pitchFamily="34" charset="0"/>
                <a:ea typeface="Calibri" pitchFamily="34" charset="-122"/>
                <a:cs typeface="Calibri" pitchFamily="34" charset="-120"/>
              </a:rPr>
              <a:t>✦</a:t>
            </a:r>
            <a:endParaRPr lang="en-US" sz="1800" dirty="0"/>
          </a:p>
        </p:txBody>
      </p:sp>
      <p:sp>
        <p:nvSpPr>
          <p:cNvPr id="35" name="Text 33"/>
          <p:cNvSpPr/>
          <p:nvPr/>
        </p:nvSpPr>
        <p:spPr>
          <a:xfrm>
            <a:off x="5385816"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Questions</a:t>
            </a:r>
            <a:endParaRPr lang="en-US" sz="1200" dirty="0"/>
          </a:p>
        </p:txBody>
      </p:sp>
      <p:sp>
        <p:nvSpPr>
          <p:cNvPr id="36" name="Text 34"/>
          <p:cNvSpPr/>
          <p:nvPr/>
        </p:nvSpPr>
        <p:spPr>
          <a:xfrm>
            <a:off x="5404104"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rules + engineer answers</a:t>
            </a:r>
            <a:endParaRPr lang="en-US" sz="860" dirty="0"/>
          </a:p>
        </p:txBody>
      </p:sp>
      <p:sp>
        <p:nvSpPr>
          <p:cNvPr id="37" name="Shape 35"/>
          <p:cNvSpPr/>
          <p:nvPr/>
        </p:nvSpPr>
        <p:spPr>
          <a:xfrm>
            <a:off x="6761988" y="2583180"/>
            <a:ext cx="100584" cy="0"/>
          </a:xfrm>
          <a:prstGeom prst="line">
            <a:avLst/>
          </a:prstGeom>
          <a:noFill/>
          <a:ln w="22225">
            <a:solidFill>
              <a:srgbClr val="D4DEEC"/>
            </a:solidFill>
            <a:prstDash val="solid"/>
            <a:headEnd type="none"/>
            <a:tailEnd type="triangle"/>
          </a:ln>
        </p:spPr>
        <p:txBody>
          <a:bodyPr/>
          <a:p/>
        </p:txBody>
      </p:sp>
      <p:sp>
        <p:nvSpPr>
          <p:cNvPr id="38" name="Shape 36"/>
          <p:cNvSpPr/>
          <p:nvPr/>
        </p:nvSpPr>
        <p:spPr>
          <a:xfrm>
            <a:off x="6876288"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3.499409648131324e+107" dist="9.998313280375211e+106" dir="1.535235553616204e+126">
              <a:srgbClr val="9DB0CC">
                <a:alpha val="2.2000000000000006e+129"/>
              </a:srgbClr>
            </a:outerShdw>
          </a:effectLst>
        </p:spPr>
        <p:txBody>
          <a:bodyPr/>
          <a:p/>
        </p:txBody>
      </p:sp>
      <p:sp>
        <p:nvSpPr>
          <p:cNvPr id="39" name="Shape 37"/>
          <p:cNvSpPr/>
          <p:nvPr/>
        </p:nvSpPr>
        <p:spPr>
          <a:xfrm>
            <a:off x="6876288" y="1783080"/>
            <a:ext cx="1463040" cy="82296"/>
          </a:xfrm>
          <a:prstGeom prst="rect">
            <a:avLst/>
          </a:prstGeom>
          <a:solidFill>
            <a:srgbClr val="0E93B0"/>
          </a:solidFill>
          <a:ln/>
        </p:spPr>
        <p:txBody>
          <a:bodyPr/>
          <a:p/>
        </p:txBody>
      </p:sp>
      <p:sp>
        <p:nvSpPr>
          <p:cNvPr id="40" name="Shape 38"/>
          <p:cNvSpPr/>
          <p:nvPr/>
        </p:nvSpPr>
        <p:spPr>
          <a:xfrm>
            <a:off x="7351776" y="1984248"/>
            <a:ext cx="512064" cy="512064"/>
          </a:xfrm>
          <a:prstGeom prst="ellipse">
            <a:avLst/>
          </a:prstGeom>
          <a:solidFill>
            <a:srgbClr val="E8F6FA"/>
          </a:solidFill>
          <a:ln/>
        </p:spPr>
        <p:txBody>
          <a:bodyPr/>
          <a:p/>
        </p:txBody>
      </p:sp>
      <p:sp>
        <p:nvSpPr>
          <p:cNvPr id="41" name="Text 39"/>
          <p:cNvSpPr/>
          <p:nvPr/>
        </p:nvSpPr>
        <p:spPr>
          <a:xfrm>
            <a:off x="7351776" y="1975104"/>
            <a:ext cx="512064" cy="512064"/>
          </a:xfrm>
          <a:prstGeom prst="rect">
            <a:avLst/>
          </a:prstGeom>
          <a:noFill/>
          <a:ln/>
        </p:spPr>
        <p:txBody>
          <a:bodyPr wrap="square" lIns="0" tIns="0" rIns="0" bIns="0" rtlCol="0" anchor="ctr"/>
          <a:lstStyle/>
          <a:p>
            <a:pPr algn="ctr" indent="0" marL="0">
              <a:buNone/>
            </a:pPr>
            <a:r>
              <a:rPr lang="en-US" sz="1800" b="1" dirty="0">
                <a:solidFill>
                  <a:srgbClr val="0E93B0"/>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6967728"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Costing</a:t>
            </a:r>
            <a:endParaRPr lang="en-US" sz="1200" dirty="0"/>
          </a:p>
        </p:txBody>
      </p:sp>
      <p:sp>
        <p:nvSpPr>
          <p:cNvPr id="43" name="Text 41"/>
          <p:cNvSpPr/>
          <p:nvPr/>
        </p:nvSpPr>
        <p:spPr>
          <a:xfrm>
            <a:off x="6986016"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8-bucket stack + machining</a:t>
            </a:r>
            <a:endParaRPr lang="en-US" sz="860" dirty="0"/>
          </a:p>
        </p:txBody>
      </p:sp>
      <p:sp>
        <p:nvSpPr>
          <p:cNvPr id="44" name="Shape 42"/>
          <p:cNvSpPr/>
          <p:nvPr/>
        </p:nvSpPr>
        <p:spPr>
          <a:xfrm>
            <a:off x="8343900" y="2583180"/>
            <a:ext cx="100584" cy="0"/>
          </a:xfrm>
          <a:prstGeom prst="line">
            <a:avLst/>
          </a:prstGeom>
          <a:noFill/>
          <a:ln w="22225">
            <a:solidFill>
              <a:srgbClr val="D4DEEC"/>
            </a:solidFill>
            <a:prstDash val="solid"/>
            <a:headEnd type="none"/>
            <a:tailEnd type="triangle"/>
          </a:ln>
        </p:spPr>
        <p:txBody>
          <a:bodyPr/>
          <a:p/>
        </p:txBody>
      </p:sp>
      <p:sp>
        <p:nvSpPr>
          <p:cNvPr id="45" name="Shape 43"/>
          <p:cNvSpPr/>
          <p:nvPr/>
        </p:nvSpPr>
        <p:spPr>
          <a:xfrm>
            <a:off x="8458200"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4.4442502531267815e+111" dist="1.2697857866076517e+111" dir="9.211413321697224e+130">
              <a:srgbClr val="9DB0CC">
                <a:alpha val="2.2000000000000004e+134"/>
              </a:srgbClr>
            </a:outerShdw>
          </a:effectLst>
        </p:spPr>
        <p:txBody>
          <a:bodyPr/>
          <a:p/>
        </p:txBody>
      </p:sp>
      <p:sp>
        <p:nvSpPr>
          <p:cNvPr id="46" name="Shape 44"/>
          <p:cNvSpPr/>
          <p:nvPr/>
        </p:nvSpPr>
        <p:spPr>
          <a:xfrm>
            <a:off x="8458200" y="1783080"/>
            <a:ext cx="1463040" cy="82296"/>
          </a:xfrm>
          <a:prstGeom prst="rect">
            <a:avLst/>
          </a:prstGeom>
          <a:solidFill>
            <a:srgbClr val="E0900C"/>
          </a:solidFill>
          <a:ln/>
        </p:spPr>
        <p:txBody>
          <a:bodyPr/>
          <a:p/>
        </p:txBody>
      </p:sp>
      <p:sp>
        <p:nvSpPr>
          <p:cNvPr id="47" name="Shape 45"/>
          <p:cNvSpPr/>
          <p:nvPr/>
        </p:nvSpPr>
        <p:spPr>
          <a:xfrm>
            <a:off x="8933688" y="1984248"/>
            <a:ext cx="512064" cy="512064"/>
          </a:xfrm>
          <a:prstGeom prst="ellipse">
            <a:avLst/>
          </a:prstGeom>
          <a:solidFill>
            <a:srgbClr val="FEF6E7"/>
          </a:solidFill>
          <a:ln/>
        </p:spPr>
        <p:txBody>
          <a:bodyPr/>
          <a:p/>
        </p:txBody>
      </p:sp>
      <p:sp>
        <p:nvSpPr>
          <p:cNvPr id="48" name="Text 46"/>
          <p:cNvSpPr/>
          <p:nvPr/>
        </p:nvSpPr>
        <p:spPr>
          <a:xfrm>
            <a:off x="8933688" y="197510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49" name="Text 47"/>
          <p:cNvSpPr/>
          <p:nvPr/>
        </p:nvSpPr>
        <p:spPr>
          <a:xfrm>
            <a:off x="8549640"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Self-audit</a:t>
            </a:r>
            <a:endParaRPr lang="en-US" sz="1200" dirty="0"/>
          </a:p>
        </p:txBody>
      </p:sp>
      <p:sp>
        <p:nvSpPr>
          <p:cNvPr id="50" name="Text 48"/>
          <p:cNvSpPr/>
          <p:nvPr/>
        </p:nvSpPr>
        <p:spPr>
          <a:xfrm>
            <a:off x="8567928"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flags anything implausible</a:t>
            </a:r>
            <a:endParaRPr lang="en-US" sz="860" dirty="0"/>
          </a:p>
        </p:txBody>
      </p:sp>
      <p:sp>
        <p:nvSpPr>
          <p:cNvPr id="51" name="Shape 49"/>
          <p:cNvSpPr/>
          <p:nvPr/>
        </p:nvSpPr>
        <p:spPr>
          <a:xfrm>
            <a:off x="9925812" y="2583180"/>
            <a:ext cx="100584" cy="0"/>
          </a:xfrm>
          <a:prstGeom prst="line">
            <a:avLst/>
          </a:prstGeom>
          <a:noFill/>
          <a:ln w="22225">
            <a:solidFill>
              <a:srgbClr val="D4DEEC"/>
            </a:solidFill>
            <a:prstDash val="solid"/>
            <a:headEnd type="none"/>
            <a:tailEnd type="triangle"/>
          </a:ln>
        </p:spPr>
        <p:txBody>
          <a:bodyPr/>
          <a:p/>
        </p:txBody>
      </p:sp>
      <p:sp>
        <p:nvSpPr>
          <p:cNvPr id="52" name="Shape 50"/>
          <p:cNvSpPr/>
          <p:nvPr/>
        </p:nvSpPr>
        <p:spPr>
          <a:xfrm>
            <a:off x="10040112" y="1783080"/>
            <a:ext cx="1463040" cy="1600200"/>
          </a:xfrm>
          <a:prstGeom prst="roundRect">
            <a:avLst>
              <a:gd name="adj" fmla="val 4375"/>
            </a:avLst>
          </a:prstGeom>
          <a:solidFill>
            <a:srgbClr val="FFFFFF"/>
          </a:solidFill>
          <a:ln w="12700">
            <a:solidFill>
              <a:srgbClr val="E4EAF2"/>
            </a:solidFill>
            <a:prstDash val="solid"/>
          </a:ln>
          <a:effectLst>
            <a:outerShdw sx="100000" sy="100000" kx="0" ky="0" algn="bl" rotWithShape="0" blurRad="5.644197821471012e+115" dist="1.6126279489917177e+115" dir="5.526847993018334e+135">
              <a:srgbClr val="9DB0CC">
                <a:alpha val="2.2000000000000005e+139"/>
              </a:srgbClr>
            </a:outerShdw>
          </a:effectLst>
        </p:spPr>
        <p:txBody>
          <a:bodyPr/>
          <a:p/>
        </p:txBody>
      </p:sp>
      <p:sp>
        <p:nvSpPr>
          <p:cNvPr id="53" name="Shape 51"/>
          <p:cNvSpPr/>
          <p:nvPr/>
        </p:nvSpPr>
        <p:spPr>
          <a:xfrm>
            <a:off x="10040112" y="1783080"/>
            <a:ext cx="1463040" cy="82296"/>
          </a:xfrm>
          <a:prstGeom prst="rect">
            <a:avLst/>
          </a:prstGeom>
          <a:solidFill>
            <a:srgbClr val="0EA472"/>
          </a:solidFill>
          <a:ln/>
        </p:spPr>
        <p:txBody>
          <a:bodyPr/>
          <a:p/>
        </p:txBody>
      </p:sp>
      <p:sp>
        <p:nvSpPr>
          <p:cNvPr id="54" name="Shape 52"/>
          <p:cNvSpPr/>
          <p:nvPr/>
        </p:nvSpPr>
        <p:spPr>
          <a:xfrm>
            <a:off x="10515600" y="1984248"/>
            <a:ext cx="512064" cy="512064"/>
          </a:xfrm>
          <a:prstGeom prst="ellipse">
            <a:avLst/>
          </a:prstGeom>
          <a:solidFill>
            <a:srgbClr val="E7F7F0"/>
          </a:solidFill>
          <a:ln/>
        </p:spPr>
        <p:txBody>
          <a:bodyPr/>
          <a:p/>
        </p:txBody>
      </p:sp>
      <p:sp>
        <p:nvSpPr>
          <p:cNvPr id="55" name="Text 53"/>
          <p:cNvSpPr/>
          <p:nvPr/>
        </p:nvSpPr>
        <p:spPr>
          <a:xfrm>
            <a:off x="10515600" y="197510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56" name="Text 54"/>
          <p:cNvSpPr/>
          <p:nvPr/>
        </p:nvSpPr>
        <p:spPr>
          <a:xfrm>
            <a:off x="10131552" y="2569464"/>
            <a:ext cx="1280160"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Should-cost</a:t>
            </a:r>
            <a:endParaRPr lang="en-US" sz="1200" dirty="0"/>
          </a:p>
        </p:txBody>
      </p:sp>
      <p:sp>
        <p:nvSpPr>
          <p:cNvPr id="57" name="Text 55"/>
          <p:cNvSpPr/>
          <p:nvPr/>
        </p:nvSpPr>
        <p:spPr>
          <a:xfrm>
            <a:off x="10149840" y="2843784"/>
            <a:ext cx="1243584"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breakdown · band · provenance</a:t>
            </a:r>
            <a:endParaRPr lang="en-US" sz="860" dirty="0"/>
          </a:p>
        </p:txBody>
      </p:sp>
      <p:sp>
        <p:nvSpPr>
          <p:cNvPr id="58" name="Shape 56"/>
          <p:cNvSpPr/>
          <p:nvPr/>
        </p:nvSpPr>
        <p:spPr>
          <a:xfrm>
            <a:off x="548640" y="3657600"/>
            <a:ext cx="5074920" cy="457200"/>
          </a:xfrm>
          <a:prstGeom prst="roundRect">
            <a:avLst>
              <a:gd name="adj" fmla="val 20000"/>
            </a:avLst>
          </a:prstGeom>
          <a:solidFill>
            <a:srgbClr val="F3EEFE"/>
          </a:solidFill>
          <a:ln/>
        </p:spPr>
        <p:txBody>
          <a:bodyPr/>
          <a:p/>
        </p:txBody>
      </p:sp>
      <p:sp>
        <p:nvSpPr>
          <p:cNvPr id="59" name="Text 57"/>
          <p:cNvSpPr/>
          <p:nvPr/>
        </p:nvSpPr>
        <p:spPr>
          <a:xfrm>
            <a:off x="548640" y="3657600"/>
            <a:ext cx="5074920" cy="457200"/>
          </a:xfrm>
          <a:prstGeom prst="rect">
            <a:avLst/>
          </a:prstGeom>
          <a:noFill/>
          <a:ln/>
        </p:spPr>
        <p:txBody>
          <a:bodyPr wrap="square" lIns="0" tIns="0" rIns="0" bIns="0" rtlCol="0" anchor="ctr"/>
          <a:lstStyle/>
          <a:p>
            <a:pPr algn="ctr" indent="0" marL="0">
              <a:buNone/>
            </a:pPr>
            <a:r>
              <a:rPr lang="en-US" sz="1100" b="1" dirty="0">
                <a:solidFill>
                  <a:srgbClr val="7C3AED"/>
                </a:solidFill>
                <a:latin typeface="Calibri" pitchFamily="34" charset="0"/>
                <a:ea typeface="Calibri" pitchFamily="34" charset="-122"/>
                <a:cs typeface="Calibri" pitchFamily="34" charset="-120"/>
              </a:rPr>
              <a:t>✦  The tool measures and asks</a:t>
            </a:r>
            <a:endParaRPr lang="en-US" sz="1100" dirty="0"/>
          </a:p>
        </p:txBody>
      </p:sp>
      <p:sp>
        <p:nvSpPr>
          <p:cNvPr id="60" name="Shape 58"/>
          <p:cNvSpPr/>
          <p:nvPr/>
        </p:nvSpPr>
        <p:spPr>
          <a:xfrm>
            <a:off x="5943600" y="3657600"/>
            <a:ext cx="5696712" cy="457200"/>
          </a:xfrm>
          <a:prstGeom prst="roundRect">
            <a:avLst>
              <a:gd name="adj" fmla="val 20000"/>
            </a:avLst>
          </a:prstGeom>
          <a:solidFill>
            <a:srgbClr val="E7F7F0"/>
          </a:solidFill>
          <a:ln/>
        </p:spPr>
        <p:txBody>
          <a:bodyPr/>
          <a:p/>
        </p:txBody>
      </p:sp>
      <p:sp>
        <p:nvSpPr>
          <p:cNvPr id="61" name="Text 59"/>
          <p:cNvSpPr/>
          <p:nvPr/>
        </p:nvSpPr>
        <p:spPr>
          <a:xfrm>
            <a:off x="5943600" y="3657600"/>
            <a:ext cx="5696712" cy="457200"/>
          </a:xfrm>
          <a:prstGeom prst="rect">
            <a:avLst/>
          </a:prstGeom>
          <a:noFill/>
          <a:ln/>
        </p:spPr>
        <p:txBody>
          <a:bodyPr wrap="square" lIns="0" tIns="0" rIns="0" bIns="0" rtlCol="0" anchor="ctr"/>
          <a:lstStyle/>
          <a:p>
            <a:pPr algn="ctr" indent="0" marL="0">
              <a:buNone/>
            </a:pPr>
            <a:r>
              <a:rPr lang="en-US" sz="1100" b="1" dirty="0">
                <a:solidFill>
                  <a:srgbClr val="0EA472"/>
                </a:solidFill>
                <a:latin typeface="Calibri" pitchFamily="34" charset="0"/>
                <a:ea typeface="Calibri" pitchFamily="34" charset="-122"/>
                <a:cs typeface="Calibri" pitchFamily="34" charset="-120"/>
              </a:rPr>
              <a:t>●  Fixed arithmetic sets the price</a:t>
            </a:r>
            <a:endParaRPr lang="en-US" sz="1100" dirty="0"/>
          </a:p>
        </p:txBody>
      </p:sp>
      <p:sp>
        <p:nvSpPr>
          <p:cNvPr id="62" name="Shape 60"/>
          <p:cNvSpPr/>
          <p:nvPr/>
        </p:nvSpPr>
        <p:spPr>
          <a:xfrm>
            <a:off x="548640" y="4297680"/>
            <a:ext cx="11091672" cy="1051560"/>
          </a:xfrm>
          <a:prstGeom prst="roundRect">
            <a:avLst>
              <a:gd name="adj" fmla="val 6087"/>
            </a:avLst>
          </a:prstGeom>
          <a:solidFill>
            <a:srgbClr val="F4F7FB"/>
          </a:solidFill>
          <a:ln w="12700">
            <a:solidFill>
              <a:srgbClr val="E4EAF2"/>
            </a:solidFill>
            <a:prstDash val="solid"/>
          </a:ln>
        </p:spPr>
        <p:txBody>
          <a:bodyPr/>
          <a:p/>
        </p:txBody>
      </p:sp>
      <p:sp>
        <p:nvSpPr>
          <p:cNvPr id="63" name="Shape 61"/>
          <p:cNvSpPr/>
          <p:nvPr/>
        </p:nvSpPr>
        <p:spPr>
          <a:xfrm>
            <a:off x="548640" y="4297680"/>
            <a:ext cx="82296" cy="1051560"/>
          </a:xfrm>
          <a:prstGeom prst="rect">
            <a:avLst/>
          </a:prstGeom>
          <a:solidFill>
            <a:srgbClr val="0DA5A0"/>
          </a:solidFill>
          <a:ln/>
        </p:spPr>
        <p:txBody>
          <a:bodyPr/>
          <a:p/>
        </p:txBody>
      </p:sp>
      <p:sp>
        <p:nvSpPr>
          <p:cNvPr id="64" name="Text 62"/>
          <p:cNvSpPr/>
          <p:nvPr/>
        </p:nvSpPr>
        <p:spPr>
          <a:xfrm>
            <a:off x="914400" y="4434840"/>
            <a:ext cx="10378440" cy="868680"/>
          </a:xfrm>
          <a:prstGeom prst="rect">
            <a:avLst/>
          </a:prstGeom>
          <a:noFill/>
          <a:ln/>
        </p:spPr>
        <p:txBody>
          <a:bodyPr wrap="square" lIns="0" tIns="0" rIns="0" bIns="0" rtlCol="0" anchor="t"/>
          <a:lstStyle/>
          <a:p>
            <a:pPr indent="0" marL="0">
              <a:lnSpc>
                <a:spcPct val="118000"/>
              </a:lnSpc>
              <a:buNone/>
            </a:pPr>
            <a:r>
              <a:rPr lang="en-US" sz="1200" b="1" dirty="0">
                <a:solidFill>
                  <a:srgbClr val="0F1E3D"/>
                </a:solidFill>
                <a:latin typeface="Calibri" pitchFamily="34" charset="0"/>
                <a:ea typeface="Calibri" pitchFamily="34" charset="-122"/>
                <a:cs typeface="Calibri" pitchFamily="34" charset="-120"/>
              </a:rPr>
              <a:t>The safety net is the self-audit.  </a:t>
            </a:r>
            <a:pPr indent="0" marL="0">
              <a:lnSpc>
                <a:spcPct val="118000"/>
              </a:lnSpc>
              <a:buNone/>
            </a:pPr>
            <a:r>
              <a:rPr lang="en-US" sz="1200" dirty="0">
                <a:solidFill>
                  <a:srgbClr val="3E4C63"/>
                </a:solidFill>
                <a:latin typeface="Calibri" pitchFamily="34" charset="0"/>
                <a:ea typeface="Calibri" pitchFamily="34" charset="-122"/>
                <a:cs typeface="Calibri" pitchFamily="34" charset="-120"/>
              </a:rPr>
              <a:t>Every result is checked for a wrong machine size, tooling spread over the wrong volume, an implausible cycle time and more. An STL has no feature table, so a machined STL is blocked until the engineer types a cycle time. Problems are flagged — never silently priced.</a:t>
            </a:r>
            <a:endParaRPr lang="en-US" sz="1200" dirty="0"/>
          </a:p>
        </p:txBody>
      </p:sp>
      <p:sp>
        <p:nvSpPr>
          <p:cNvPr id="65" name="Shape 63"/>
          <p:cNvSpPr/>
          <p:nvPr/>
        </p:nvSpPr>
        <p:spPr>
          <a:xfrm>
            <a:off x="548640" y="6400800"/>
            <a:ext cx="11094415" cy="12802"/>
          </a:xfrm>
          <a:prstGeom prst="rect">
            <a:avLst/>
          </a:prstGeom>
          <a:solidFill>
            <a:srgbClr val="E4EAF2"/>
          </a:solidFill>
          <a:ln/>
        </p:spPr>
        <p:txBody>
          <a:bodyPr/>
          <a:p/>
        </p:txBody>
      </p:sp>
      <p:sp>
        <p:nvSpPr>
          <p:cNvPr id="66" name="Text 64"/>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7" name="Text 65"/>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10 / 33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DEEP DIVE · CAD TO COST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what you see on screen</a:t>
            </a:r>
            <a:endParaRPr lang="en-US" sz="2400" dirty="0"/>
          </a:p>
        </p:txBody>
      </p:sp>
      <p:sp>
        <p:nvSpPr>
          <p:cNvPr id="9" name="Shape 7"/>
          <p:cNvSpPr/>
          <p:nvPr/>
        </p:nvSpPr>
        <p:spPr>
          <a:xfrm>
            <a:off x="548640" y="1371600"/>
            <a:ext cx="1051560" cy="45720"/>
          </a:xfrm>
          <a:prstGeom prst="rect">
            <a:avLst/>
          </a:prstGeom>
          <a:solidFill>
            <a:srgbClr val="7C3AED"/>
          </a:solidFill>
          <a:ln/>
        </p:spPr>
        <p:txBody>
          <a:bodyPr/>
          <a:p/>
        </p:txBody>
      </p:sp>
      <p:sp>
        <p:nvSpPr>
          <p:cNvPr id="10" name="Shape 8"/>
          <p:cNvSpPr/>
          <p:nvPr/>
        </p:nvSpPr>
        <p:spPr>
          <a:xfrm>
            <a:off x="548640"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7.168131233268186e+119" dist="2.0480374952194813e+119" dir="3.3161087958110005e+140">
              <a:srgbClr val="9DB0CC">
                <a:alpha val="2.2000000000000006e+144"/>
              </a:srgbClr>
            </a:outerShdw>
          </a:effectLst>
        </p:spPr>
        <p:txBody>
          <a:bodyPr/>
          <a:p/>
        </p:txBody>
      </p:sp>
      <p:sp>
        <p:nvSpPr>
          <p:cNvPr id="11" name="Shape 9"/>
          <p:cNvSpPr/>
          <p:nvPr/>
        </p:nvSpPr>
        <p:spPr>
          <a:xfrm>
            <a:off x="548640" y="1645920"/>
            <a:ext cx="82296" cy="1737360"/>
          </a:xfrm>
          <a:prstGeom prst="rect">
            <a:avLst/>
          </a:prstGeom>
          <a:solidFill>
            <a:srgbClr val="0DA5A0"/>
          </a:solidFill>
          <a:ln/>
        </p:spPr>
        <p:txBody>
          <a:bodyPr/>
          <a:p/>
        </p:txBody>
      </p:sp>
      <p:sp>
        <p:nvSpPr>
          <p:cNvPr id="12" name="Shape 10"/>
          <p:cNvSpPr/>
          <p:nvPr/>
        </p:nvSpPr>
        <p:spPr>
          <a:xfrm>
            <a:off x="786384" y="1865376"/>
            <a:ext cx="457200" cy="457200"/>
          </a:xfrm>
          <a:prstGeom prst="ellipse">
            <a:avLst/>
          </a:prstGeom>
          <a:solidFill>
            <a:srgbClr val="E7F7F0"/>
          </a:solidFill>
          <a:ln/>
        </p:spPr>
        <p:txBody>
          <a:bodyPr/>
          <a:p/>
        </p:txBody>
      </p:sp>
      <p:sp>
        <p:nvSpPr>
          <p:cNvPr id="13" name="Text 11"/>
          <p:cNvSpPr/>
          <p:nvPr/>
        </p:nvSpPr>
        <p:spPr>
          <a:xfrm>
            <a:off x="786384" y="1856232"/>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335024"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DA5A0"/>
                </a:solidFill>
                <a:latin typeface="Calibri" pitchFamily="34" charset="0"/>
                <a:ea typeface="Calibri" pitchFamily="34" charset="-122"/>
                <a:cs typeface="Calibri" pitchFamily="34" charset="-120"/>
              </a:rPr>
              <a:t>Interactive 3D CAD viewer</a:t>
            </a:r>
            <a:endParaRPr lang="en-US" sz="1250" dirty="0"/>
          </a:p>
        </p:txBody>
      </p:sp>
      <p:sp>
        <p:nvSpPr>
          <p:cNvPr id="15" name="Text 13"/>
          <p:cNvSpPr/>
          <p:nvPr/>
        </p:nvSpPr>
        <p:spPr>
          <a:xfrm>
            <a:off x="804672"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Rotate, section and measure the part in the browser, next to the costing.</a:t>
            </a:r>
            <a:endParaRPr lang="en-US" sz="1000" dirty="0"/>
          </a:p>
        </p:txBody>
      </p:sp>
      <p:sp>
        <p:nvSpPr>
          <p:cNvPr id="16" name="Shape 14"/>
          <p:cNvSpPr/>
          <p:nvPr/>
        </p:nvSpPr>
        <p:spPr>
          <a:xfrm>
            <a:off x="4325112"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9.103526666250596e+123" dist="2.6010076189287412e+123" dir="1.9896652774866004e+145">
              <a:srgbClr val="9DB0CC">
                <a:alpha val="2.2000000000000004e+149"/>
              </a:srgbClr>
            </a:outerShdw>
          </a:effectLst>
        </p:spPr>
        <p:txBody>
          <a:bodyPr/>
          <a:p/>
        </p:txBody>
      </p:sp>
      <p:sp>
        <p:nvSpPr>
          <p:cNvPr id="17" name="Shape 15"/>
          <p:cNvSpPr/>
          <p:nvPr/>
        </p:nvSpPr>
        <p:spPr>
          <a:xfrm>
            <a:off x="4325112" y="1645920"/>
            <a:ext cx="82296" cy="1737360"/>
          </a:xfrm>
          <a:prstGeom prst="rect">
            <a:avLst/>
          </a:prstGeom>
          <a:solidFill>
            <a:srgbClr val="2563EB"/>
          </a:solidFill>
          <a:ln/>
        </p:spPr>
        <p:txBody>
          <a:bodyPr/>
          <a:p/>
        </p:txBody>
      </p:sp>
      <p:sp>
        <p:nvSpPr>
          <p:cNvPr id="18" name="Shape 16"/>
          <p:cNvSpPr/>
          <p:nvPr/>
        </p:nvSpPr>
        <p:spPr>
          <a:xfrm>
            <a:off x="4562856" y="1865376"/>
            <a:ext cx="457200" cy="457200"/>
          </a:xfrm>
          <a:prstGeom prst="ellipse">
            <a:avLst/>
          </a:prstGeom>
          <a:solidFill>
            <a:srgbClr val="EAF1FE"/>
          </a:solidFill>
          <a:ln/>
        </p:spPr>
        <p:txBody>
          <a:bodyPr/>
          <a:p/>
        </p:txBody>
      </p:sp>
      <p:sp>
        <p:nvSpPr>
          <p:cNvPr id="19" name="Text 17"/>
          <p:cNvSpPr/>
          <p:nvPr/>
        </p:nvSpPr>
        <p:spPr>
          <a:xfrm>
            <a:off x="4562856" y="1856232"/>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5111496"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2563EB"/>
                </a:solidFill>
                <a:latin typeface="Calibri" pitchFamily="34" charset="0"/>
                <a:ea typeface="Calibri" pitchFamily="34" charset="-122"/>
                <a:cs typeface="Calibri" pitchFamily="34" charset="-120"/>
              </a:rPr>
              <a:t>True B-rep geometry</a:t>
            </a:r>
            <a:endParaRPr lang="en-US" sz="1250" dirty="0"/>
          </a:p>
        </p:txBody>
      </p:sp>
      <p:sp>
        <p:nvSpPr>
          <p:cNvPr id="21" name="Text 19"/>
          <p:cNvSpPr/>
          <p:nvPr/>
        </p:nvSpPr>
        <p:spPr>
          <a:xfrm>
            <a:off x="4581144"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Works on the real faces and edges of a STEP or IGES model — not just a mesh of triangles.</a:t>
            </a:r>
            <a:endParaRPr lang="en-US" sz="1000" dirty="0"/>
          </a:p>
        </p:txBody>
      </p:sp>
      <p:sp>
        <p:nvSpPr>
          <p:cNvPr id="22" name="Shape 20"/>
          <p:cNvSpPr/>
          <p:nvPr/>
        </p:nvSpPr>
        <p:spPr>
          <a:xfrm>
            <a:off x="8101584" y="1645920"/>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1561478866138256e+128" dist="3.303279676039501e+127" dir="1.1937991664919603e+150">
              <a:srgbClr val="9DB0CC">
                <a:alpha val="2.2000000000000004e+154"/>
              </a:srgbClr>
            </a:outerShdw>
          </a:effectLst>
        </p:spPr>
        <p:txBody>
          <a:bodyPr/>
          <a:p/>
        </p:txBody>
      </p:sp>
      <p:sp>
        <p:nvSpPr>
          <p:cNvPr id="23" name="Shape 21"/>
          <p:cNvSpPr/>
          <p:nvPr/>
        </p:nvSpPr>
        <p:spPr>
          <a:xfrm>
            <a:off x="8101584" y="1645920"/>
            <a:ext cx="82296" cy="1737360"/>
          </a:xfrm>
          <a:prstGeom prst="rect">
            <a:avLst/>
          </a:prstGeom>
          <a:solidFill>
            <a:srgbClr val="7C3AED"/>
          </a:solidFill>
          <a:ln/>
        </p:spPr>
        <p:txBody>
          <a:bodyPr/>
          <a:p/>
        </p:txBody>
      </p:sp>
      <p:sp>
        <p:nvSpPr>
          <p:cNvPr id="24" name="Shape 22"/>
          <p:cNvSpPr/>
          <p:nvPr/>
        </p:nvSpPr>
        <p:spPr>
          <a:xfrm>
            <a:off x="8339328" y="1865376"/>
            <a:ext cx="457200" cy="457200"/>
          </a:xfrm>
          <a:prstGeom prst="ellipse">
            <a:avLst/>
          </a:prstGeom>
          <a:solidFill>
            <a:srgbClr val="F3EEFE"/>
          </a:solidFill>
          <a:ln/>
        </p:spPr>
        <p:txBody>
          <a:bodyPr/>
          <a:p/>
        </p:txBody>
      </p:sp>
      <p:sp>
        <p:nvSpPr>
          <p:cNvPr id="25" name="Text 23"/>
          <p:cNvSpPr/>
          <p:nvPr/>
        </p:nvSpPr>
        <p:spPr>
          <a:xfrm>
            <a:off x="8339328" y="1856232"/>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8887968" y="1901952"/>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7C3AED"/>
                </a:solidFill>
                <a:latin typeface="Calibri" pitchFamily="34" charset="0"/>
                <a:ea typeface="Calibri" pitchFamily="34" charset="-122"/>
                <a:cs typeface="Calibri" pitchFamily="34" charset="-120"/>
              </a:rPr>
              <a:t>Geometry feature table</a:t>
            </a:r>
            <a:endParaRPr lang="en-US" sz="1250" dirty="0"/>
          </a:p>
        </p:txBody>
      </p:sp>
      <p:sp>
        <p:nvSpPr>
          <p:cNvPr id="27" name="Text 25"/>
          <p:cNvSpPr/>
          <p:nvPr/>
        </p:nvSpPr>
        <p:spPr>
          <a:xfrm>
            <a:off x="8357616" y="2487168"/>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Every feature found (hole depths, pockets, slots) is listed and fed into the costing as a real step.</a:t>
            </a:r>
            <a:endParaRPr lang="en-US" sz="1000" dirty="0"/>
          </a:p>
        </p:txBody>
      </p:sp>
      <p:sp>
        <p:nvSpPr>
          <p:cNvPr id="28" name="Shape 26"/>
          <p:cNvSpPr/>
          <p:nvPr/>
        </p:nvSpPr>
        <p:spPr>
          <a:xfrm>
            <a:off x="548640"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4683078159995586e+132" dist="4.195165188570166e+131" dir="7.162794998951762e+154">
              <a:srgbClr val="9DB0CC">
                <a:alpha val="2.2000000000000003e+159"/>
              </a:srgbClr>
            </a:outerShdw>
          </a:effectLst>
        </p:spPr>
        <p:txBody>
          <a:bodyPr/>
          <a:p/>
        </p:txBody>
      </p:sp>
      <p:sp>
        <p:nvSpPr>
          <p:cNvPr id="29" name="Shape 27"/>
          <p:cNvSpPr/>
          <p:nvPr/>
        </p:nvSpPr>
        <p:spPr>
          <a:xfrm>
            <a:off x="548640" y="3602736"/>
            <a:ext cx="82296" cy="1737360"/>
          </a:xfrm>
          <a:prstGeom prst="rect">
            <a:avLst/>
          </a:prstGeom>
          <a:solidFill>
            <a:srgbClr val="0E93B0"/>
          </a:solidFill>
          <a:ln/>
        </p:spPr>
        <p:txBody>
          <a:bodyPr/>
          <a:p/>
        </p:txBody>
      </p:sp>
      <p:sp>
        <p:nvSpPr>
          <p:cNvPr id="30" name="Shape 28"/>
          <p:cNvSpPr/>
          <p:nvPr/>
        </p:nvSpPr>
        <p:spPr>
          <a:xfrm>
            <a:off x="786384" y="3822192"/>
            <a:ext cx="457200" cy="457200"/>
          </a:xfrm>
          <a:prstGeom prst="ellipse">
            <a:avLst/>
          </a:prstGeom>
          <a:solidFill>
            <a:srgbClr val="E8F6FA"/>
          </a:solidFill>
          <a:ln/>
        </p:spPr>
        <p:txBody>
          <a:bodyPr/>
          <a:p/>
        </p:txBody>
      </p:sp>
      <p:sp>
        <p:nvSpPr>
          <p:cNvPr id="31" name="Text 29"/>
          <p:cNvSpPr/>
          <p:nvPr/>
        </p:nvSpPr>
        <p:spPr>
          <a:xfrm>
            <a:off x="786384" y="3813048"/>
            <a:ext cx="457200" cy="457200"/>
          </a:xfrm>
          <a:prstGeom prst="rect">
            <a:avLst/>
          </a:prstGeom>
          <a:noFill/>
          <a:ln/>
        </p:spPr>
        <p:txBody>
          <a:bodyPr wrap="square" lIns="0" tIns="0" rIns="0" bIns="0" rtlCol="0" anchor="ctr"/>
          <a:lstStyle/>
          <a:p>
            <a:pPr algn="ctr" indent="0" marL="0">
              <a:buNone/>
            </a:pPr>
            <a:r>
              <a:rPr lang="en-US" sz="1700" b="1" dirty="0">
                <a:solidFill>
                  <a:srgbClr val="0E93B0"/>
                </a:solidFill>
                <a:latin typeface="Calibri" pitchFamily="34" charset="0"/>
                <a:ea typeface="Calibri" pitchFamily="34" charset="-122"/>
                <a:cs typeface="Calibri" pitchFamily="34" charset="-120"/>
              </a:rPr>
              <a:t>●</a:t>
            </a:r>
            <a:endParaRPr lang="en-US" sz="1700" dirty="0"/>
          </a:p>
        </p:txBody>
      </p:sp>
      <p:sp>
        <p:nvSpPr>
          <p:cNvPr id="32" name="Text 30"/>
          <p:cNvSpPr/>
          <p:nvPr/>
        </p:nvSpPr>
        <p:spPr>
          <a:xfrm>
            <a:off x="1335024"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93B0"/>
                </a:solidFill>
                <a:latin typeface="Calibri" pitchFamily="34" charset="0"/>
                <a:ea typeface="Calibri" pitchFamily="34" charset="-122"/>
                <a:cs typeface="Calibri" pitchFamily="34" charset="-120"/>
              </a:rPr>
              <a:t>Feature-based machining</a:t>
            </a:r>
            <a:endParaRPr lang="en-US" sz="1250" dirty="0"/>
          </a:p>
        </p:txBody>
      </p:sp>
      <p:sp>
        <p:nvSpPr>
          <p:cNvPr id="33" name="Text 31"/>
          <p:cNvSpPr/>
          <p:nvPr/>
        </p:nvSpPr>
        <p:spPr>
          <a:xfrm>
            <a:off x="804672"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Secondary operations are costed per feature and per commodity — facing, drilling, pockets, bends.</a:t>
            </a:r>
            <a:endParaRPr lang="en-US" sz="1000" dirty="0"/>
          </a:p>
        </p:txBody>
      </p:sp>
      <p:sp>
        <p:nvSpPr>
          <p:cNvPr id="34" name="Shape 32"/>
          <p:cNvSpPr/>
          <p:nvPr/>
        </p:nvSpPr>
        <p:spPr>
          <a:xfrm>
            <a:off x="4325112"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1.8647509263194394e+136" dist="5.327859789484111e+135" dir="4.297676999371057e+159">
              <a:srgbClr val="9DB0CC">
                <a:alpha val="2.2000000000000003e+164"/>
              </a:srgbClr>
            </a:outerShdw>
          </a:effectLst>
        </p:spPr>
        <p:txBody>
          <a:bodyPr/>
          <a:p/>
        </p:txBody>
      </p:sp>
      <p:sp>
        <p:nvSpPr>
          <p:cNvPr id="35" name="Shape 33"/>
          <p:cNvSpPr/>
          <p:nvPr/>
        </p:nvSpPr>
        <p:spPr>
          <a:xfrm>
            <a:off x="4325112" y="3602736"/>
            <a:ext cx="82296" cy="1737360"/>
          </a:xfrm>
          <a:prstGeom prst="rect">
            <a:avLst/>
          </a:prstGeom>
          <a:solidFill>
            <a:srgbClr val="E0900C"/>
          </a:solidFill>
          <a:ln/>
        </p:spPr>
        <p:txBody>
          <a:bodyPr/>
          <a:p/>
        </p:txBody>
      </p:sp>
      <p:sp>
        <p:nvSpPr>
          <p:cNvPr id="36" name="Shape 34"/>
          <p:cNvSpPr/>
          <p:nvPr/>
        </p:nvSpPr>
        <p:spPr>
          <a:xfrm>
            <a:off x="4562856" y="3822192"/>
            <a:ext cx="457200" cy="457200"/>
          </a:xfrm>
          <a:prstGeom prst="ellipse">
            <a:avLst/>
          </a:prstGeom>
          <a:solidFill>
            <a:srgbClr val="FEF6E7"/>
          </a:solidFill>
          <a:ln/>
        </p:spPr>
        <p:txBody>
          <a:bodyPr/>
          <a:p/>
        </p:txBody>
      </p:sp>
      <p:sp>
        <p:nvSpPr>
          <p:cNvPr id="37" name="Text 35"/>
          <p:cNvSpPr/>
          <p:nvPr/>
        </p:nvSpPr>
        <p:spPr>
          <a:xfrm>
            <a:off x="4562856" y="3813048"/>
            <a:ext cx="457200" cy="457200"/>
          </a:xfrm>
          <a:prstGeom prst="rect">
            <a:avLst/>
          </a:prstGeom>
          <a:noFill/>
          <a:ln/>
        </p:spPr>
        <p:txBody>
          <a:bodyPr wrap="square" lIns="0" tIns="0" rIns="0" bIns="0" rtlCol="0" anchor="ctr"/>
          <a:lstStyle/>
          <a:p>
            <a:pPr algn="ctr" indent="0" marL="0">
              <a:buNone/>
            </a:pPr>
            <a:r>
              <a:rPr lang="en-US" sz="1700" b="1" dirty="0">
                <a:solidFill>
                  <a:srgbClr val="E0900C"/>
                </a:solidFill>
                <a:latin typeface="Calibri" pitchFamily="34" charset="0"/>
                <a:ea typeface="Calibri" pitchFamily="34" charset="-122"/>
                <a:cs typeface="Calibri" pitchFamily="34" charset="-120"/>
              </a:rPr>
              <a:t>✦</a:t>
            </a:r>
            <a:endParaRPr lang="en-US" sz="1700" dirty="0"/>
          </a:p>
        </p:txBody>
      </p:sp>
      <p:sp>
        <p:nvSpPr>
          <p:cNvPr id="38" name="Text 36"/>
          <p:cNvSpPr/>
          <p:nvPr/>
        </p:nvSpPr>
        <p:spPr>
          <a:xfrm>
            <a:off x="5111496"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E0900C"/>
                </a:solidFill>
                <a:latin typeface="Calibri" pitchFamily="34" charset="0"/>
                <a:ea typeface="Calibri" pitchFamily="34" charset="-122"/>
                <a:cs typeface="Calibri" pitchFamily="34" charset="-120"/>
              </a:rPr>
              <a:t>Questions, not guesses</a:t>
            </a:r>
            <a:endParaRPr lang="en-US" sz="1250" dirty="0"/>
          </a:p>
        </p:txBody>
      </p:sp>
      <p:sp>
        <p:nvSpPr>
          <p:cNvPr id="39" name="Text 37"/>
          <p:cNvSpPr/>
          <p:nvPr/>
        </p:nvSpPr>
        <p:spPr>
          <a:xfrm>
            <a:off x="4581144"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Where the route or material is unclear, the tool shows the choices and the engineer picks.</a:t>
            </a:r>
            <a:endParaRPr lang="en-US" sz="1000" dirty="0"/>
          </a:p>
        </p:txBody>
      </p:sp>
      <p:sp>
        <p:nvSpPr>
          <p:cNvPr id="40" name="Shape 38"/>
          <p:cNvSpPr/>
          <p:nvPr/>
        </p:nvSpPr>
        <p:spPr>
          <a:xfrm>
            <a:off x="8101584" y="3602736"/>
            <a:ext cx="3520440" cy="1737360"/>
          </a:xfrm>
          <a:prstGeom prst="roundRect">
            <a:avLst>
              <a:gd name="adj" fmla="val 3684"/>
            </a:avLst>
          </a:prstGeom>
          <a:solidFill>
            <a:srgbClr val="FFFFFF"/>
          </a:solidFill>
          <a:ln w="12700">
            <a:solidFill>
              <a:srgbClr val="E4EAF2"/>
            </a:solidFill>
            <a:prstDash val="solid"/>
          </a:ln>
          <a:effectLst>
            <a:outerShdw sx="100000" sy="100000" kx="0" ky="0" algn="bl" rotWithShape="0" blurRad="2.368233676425688e+140" dist="6.766381932644821e+139" dir="2.5786061996226343e+164">
              <a:srgbClr val="9DB0CC">
                <a:alpha val="2.2000000000000004e+169"/>
              </a:srgbClr>
            </a:outerShdw>
          </a:effectLst>
        </p:spPr>
        <p:txBody>
          <a:bodyPr/>
          <a:p/>
        </p:txBody>
      </p:sp>
      <p:sp>
        <p:nvSpPr>
          <p:cNvPr id="41" name="Shape 39"/>
          <p:cNvSpPr/>
          <p:nvPr/>
        </p:nvSpPr>
        <p:spPr>
          <a:xfrm>
            <a:off x="8101584" y="3602736"/>
            <a:ext cx="82296" cy="1737360"/>
          </a:xfrm>
          <a:prstGeom prst="rect">
            <a:avLst/>
          </a:prstGeom>
          <a:solidFill>
            <a:srgbClr val="0EA472"/>
          </a:solidFill>
          <a:ln/>
        </p:spPr>
        <p:txBody>
          <a:bodyPr/>
          <a:p/>
        </p:txBody>
      </p:sp>
      <p:sp>
        <p:nvSpPr>
          <p:cNvPr id="42" name="Shape 40"/>
          <p:cNvSpPr/>
          <p:nvPr/>
        </p:nvSpPr>
        <p:spPr>
          <a:xfrm>
            <a:off x="8339328" y="3822192"/>
            <a:ext cx="457200" cy="457200"/>
          </a:xfrm>
          <a:prstGeom prst="ellipse">
            <a:avLst/>
          </a:prstGeom>
          <a:solidFill>
            <a:srgbClr val="E7F7F0"/>
          </a:solidFill>
          <a:ln/>
        </p:spPr>
        <p:txBody>
          <a:bodyPr/>
          <a:p/>
        </p:txBody>
      </p:sp>
      <p:sp>
        <p:nvSpPr>
          <p:cNvPr id="43" name="Text 41"/>
          <p:cNvSpPr/>
          <p:nvPr/>
        </p:nvSpPr>
        <p:spPr>
          <a:xfrm>
            <a:off x="8339328" y="3813048"/>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44" name="Text 42"/>
          <p:cNvSpPr/>
          <p:nvPr/>
        </p:nvSpPr>
        <p:spPr>
          <a:xfrm>
            <a:off x="8887968" y="3858768"/>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A472"/>
                </a:solidFill>
                <a:latin typeface="Calibri" pitchFamily="34" charset="0"/>
                <a:ea typeface="Calibri" pitchFamily="34" charset="-122"/>
                <a:cs typeface="Calibri" pitchFamily="34" charset="-120"/>
              </a:rPr>
              <a:t>DFM &amp; manufacturability</a:t>
            </a:r>
            <a:endParaRPr lang="en-US" sz="1250" dirty="0"/>
          </a:p>
        </p:txBody>
      </p:sp>
      <p:sp>
        <p:nvSpPr>
          <p:cNvPr id="45" name="Text 43"/>
          <p:cNvSpPr/>
          <p:nvPr/>
        </p:nvSpPr>
        <p:spPr>
          <a:xfrm>
            <a:off x="8357616" y="4443984"/>
            <a:ext cx="3063240" cy="822960"/>
          </a:xfrm>
          <a:prstGeom prst="rect">
            <a:avLst/>
          </a:prstGeom>
          <a:noFill/>
          <a:ln/>
        </p:spPr>
        <p:txBody>
          <a:bodyPr wrap="square" lIns="0" tIns="0" rIns="0" bIns="0" rtlCol="0" anchor="t"/>
          <a:lstStyle/>
          <a:p>
            <a:pPr indent="0" marL="0">
              <a:lnSpc>
                <a:spcPct val="114000"/>
              </a:lnSpc>
              <a:buNone/>
            </a:pPr>
            <a:r>
              <a:rPr lang="en-US" sz="1000" dirty="0">
                <a:solidFill>
                  <a:srgbClr val="3E4C63"/>
                </a:solidFill>
                <a:latin typeface="Calibri" pitchFamily="34" charset="0"/>
                <a:ea typeface="Calibri" pitchFamily="34" charset="-122"/>
                <a:cs typeface="Calibri" pitchFamily="34" charset="-120"/>
              </a:rPr>
              <a:t>A manufacturability score plus design-for-manufacture flags that point at what is driving the cost.</a:t>
            </a:r>
            <a:endParaRPr lang="en-US" sz="1000" dirty="0"/>
          </a:p>
        </p:txBody>
      </p:sp>
      <p:sp>
        <p:nvSpPr>
          <p:cNvPr id="46" name="Shape 44"/>
          <p:cNvSpPr/>
          <p:nvPr/>
        </p:nvSpPr>
        <p:spPr>
          <a:xfrm>
            <a:off x="548640" y="5623560"/>
            <a:ext cx="11091672" cy="457200"/>
          </a:xfrm>
          <a:prstGeom prst="roundRect">
            <a:avLst>
              <a:gd name="adj" fmla="val 14000"/>
            </a:avLst>
          </a:prstGeom>
          <a:solidFill>
            <a:srgbClr val="F4F7FB"/>
          </a:solidFill>
          <a:ln w="12700">
            <a:solidFill>
              <a:srgbClr val="E4EAF2"/>
            </a:solidFill>
            <a:prstDash val="solid"/>
          </a:ln>
        </p:spPr>
        <p:txBody>
          <a:bodyPr/>
          <a:p/>
        </p:txBody>
      </p:sp>
      <p:sp>
        <p:nvSpPr>
          <p:cNvPr id="47" name="Text 45"/>
          <p:cNvSpPr/>
          <p:nvPr/>
        </p:nvSpPr>
        <p:spPr>
          <a:xfrm>
            <a:off x="868680" y="5623560"/>
            <a:ext cx="10424160" cy="457200"/>
          </a:xfrm>
          <a:prstGeom prst="rect">
            <a:avLst/>
          </a:prstGeom>
          <a:noFill/>
          <a:ln/>
        </p:spPr>
        <p:txBody>
          <a:bodyPr wrap="square" lIns="0" tIns="0" rIns="0" bIns="0" rtlCol="0" anchor="ctr"/>
          <a:lstStyle/>
          <a:p>
            <a:pPr indent="0" marL="0">
              <a:buNone/>
            </a:pPr>
            <a:r>
              <a:rPr lang="en-US" sz="1100" b="1" i="1" dirty="0">
                <a:solidFill>
                  <a:srgbClr val="0F1E3D"/>
                </a:solidFill>
                <a:latin typeface="Calibri" pitchFamily="34" charset="0"/>
                <a:ea typeface="Calibri" pitchFamily="34" charset="-122"/>
                <a:cs typeface="Calibri" pitchFamily="34" charset="-120"/>
              </a:rPr>
              <a:t>Thick-walled parts:  </a:t>
            </a:r>
            <a:pPr indent="0" marL="0">
              <a:buNone/>
            </a:pPr>
            <a:r>
              <a:rPr lang="en-US" sz="1100" i="1" dirty="0">
                <a:solidFill>
                  <a:srgbClr val="3E4C63"/>
                </a:solidFill>
                <a:latin typeface="Calibri" pitchFamily="34" charset="0"/>
                <a:ea typeface="Calibri" pitchFamily="34" charset="-122"/>
                <a:cs typeface="Calibri" pitchFamily="34" charset="-120"/>
              </a:rPr>
              <a:t>parts with walls over about 6 mm are offered casting, forging, cast + machine or machining — never sheet metal or moulding.</a:t>
            </a:r>
            <a:endParaRPr lang="en-US" sz="1100" dirty="0"/>
          </a:p>
        </p:txBody>
      </p:sp>
      <p:sp>
        <p:nvSpPr>
          <p:cNvPr id="48" name="Shape 46"/>
          <p:cNvSpPr/>
          <p:nvPr/>
        </p:nvSpPr>
        <p:spPr>
          <a:xfrm>
            <a:off x="548640" y="6400800"/>
            <a:ext cx="11094415" cy="12802"/>
          </a:xfrm>
          <a:prstGeom prst="rect">
            <a:avLst/>
          </a:prstGeom>
          <a:solidFill>
            <a:srgbClr val="E4EAF2"/>
          </a:solidFill>
          <a:ln/>
        </p:spPr>
        <p:txBody>
          <a:bodyPr/>
          <a:p/>
        </p:txBody>
      </p:sp>
      <p:sp>
        <p:nvSpPr>
          <p:cNvPr id="49" name="Text 4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0" name="Text 4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11 / 33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DEEP DIVE · CAD TO COST · ACCURACY</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CAD → Cost — how we make it accurate</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54480"/>
            <a:ext cx="11064240" cy="457200"/>
          </a:xfrm>
          <a:prstGeom prst="rect">
            <a:avLst/>
          </a:prstGeom>
          <a:noFill/>
          <a:ln/>
        </p:spPr>
        <p:txBody>
          <a:bodyPr wrap="square" lIns="0" tIns="0" rIns="0" bIns="0" rtlCol="0" anchor="t"/>
          <a:lstStyle/>
          <a:p>
            <a:pPr indent="0" marL="0">
              <a:lnSpc>
                <a:spcPct val="110000"/>
              </a:lnSpc>
              <a:buNone/>
            </a:pPr>
            <a:r>
              <a:rPr lang="en-US" sz="1250" dirty="0">
                <a:solidFill>
                  <a:srgbClr val="3E4C63"/>
                </a:solidFill>
                <a:latin typeface="Calibri" pitchFamily="34" charset="0"/>
                <a:ea typeface="Calibri" pitchFamily="34" charset="-122"/>
                <a:cs typeface="Calibri" pitchFamily="34" charset="-120"/>
              </a:rPr>
              <a:t>Accuracy is built in layers: measured geometry, fixed arithmetic, and checks before anything reaches the price.</a:t>
            </a:r>
            <a:endParaRPr lang="en-US" sz="1250" dirty="0"/>
          </a:p>
        </p:txBody>
      </p:sp>
      <p:sp>
        <p:nvSpPr>
          <p:cNvPr id="11" name="Shape 9"/>
          <p:cNvSpPr/>
          <p:nvPr/>
        </p:nvSpPr>
        <p:spPr>
          <a:xfrm>
            <a:off x="548640" y="2148840"/>
            <a:ext cx="7040880" cy="548640"/>
          </a:xfrm>
          <a:prstGeom prst="roundRect">
            <a:avLst>
              <a:gd name="adj" fmla="val 8333"/>
            </a:avLst>
          </a:prstGeom>
          <a:solidFill>
            <a:srgbClr val="F4F7FB"/>
          </a:solidFill>
          <a:ln w="12700">
            <a:solidFill>
              <a:srgbClr val="E4EAF2"/>
            </a:solidFill>
            <a:prstDash val="solid"/>
          </a:ln>
        </p:spPr>
        <p:txBody>
          <a:bodyPr/>
          <a:p/>
        </p:txBody>
      </p:sp>
      <p:sp>
        <p:nvSpPr>
          <p:cNvPr id="12" name="Shape 10"/>
          <p:cNvSpPr/>
          <p:nvPr/>
        </p:nvSpPr>
        <p:spPr>
          <a:xfrm>
            <a:off x="694944" y="2249424"/>
            <a:ext cx="347472" cy="347472"/>
          </a:xfrm>
          <a:prstGeom prst="ellipse">
            <a:avLst/>
          </a:prstGeom>
          <a:solidFill>
            <a:srgbClr val="0EA472"/>
          </a:solidFill>
          <a:ln/>
          <a:effectLst>
            <a:outerShdw sx="100000" sy="100000" kx="0" ky="0" algn="bl" rotWithShape="0" blurRad="5.457669265366968e+41" dist="1.6373007796100902e+41" dir="5.44195584e+49">
              <a:srgbClr val="A7B6CE">
                <a:alpha val="1.8e+49"/>
              </a:srgbClr>
            </a:outerShdw>
          </a:effectLst>
        </p:spPr>
        <p:txBody>
          <a:bodyPr/>
          <a:p/>
        </p:txBody>
      </p:sp>
      <p:sp>
        <p:nvSpPr>
          <p:cNvPr id="13" name="Text 11"/>
          <p:cNvSpPr/>
          <p:nvPr/>
        </p:nvSpPr>
        <p:spPr>
          <a:xfrm>
            <a:off x="694944" y="22494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1</a:t>
            </a:r>
            <a:endParaRPr lang="en-US" sz="1292" dirty="0"/>
          </a:p>
        </p:txBody>
      </p:sp>
      <p:sp>
        <p:nvSpPr>
          <p:cNvPr id="14" name="Text 12"/>
          <p:cNvSpPr/>
          <p:nvPr/>
        </p:nvSpPr>
        <p:spPr>
          <a:xfrm>
            <a:off x="1188720" y="21488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Measured ground truth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The geometry engine (OpenCASCADE) measures volume, weight and size. The rules work from what is measured.</a:t>
            </a:r>
            <a:endParaRPr lang="en-US" sz="1060" dirty="0"/>
          </a:p>
        </p:txBody>
      </p:sp>
      <p:sp>
        <p:nvSpPr>
          <p:cNvPr id="15" name="Shape 13"/>
          <p:cNvSpPr/>
          <p:nvPr/>
        </p:nvSpPr>
        <p:spPr>
          <a:xfrm>
            <a:off x="548640" y="2788920"/>
            <a:ext cx="7040880" cy="548640"/>
          </a:xfrm>
          <a:prstGeom prst="roundRect">
            <a:avLst>
              <a:gd name="adj" fmla="val 8333"/>
            </a:avLst>
          </a:prstGeom>
          <a:solidFill>
            <a:srgbClr val="FFFFFF"/>
          </a:solidFill>
          <a:ln w="12700">
            <a:solidFill>
              <a:srgbClr val="E4EAF2"/>
            </a:solidFill>
            <a:prstDash val="solid"/>
          </a:ln>
        </p:spPr>
        <p:txBody>
          <a:bodyPr/>
          <a:p/>
        </p:txBody>
      </p:sp>
      <p:sp>
        <p:nvSpPr>
          <p:cNvPr id="16" name="Shape 14"/>
          <p:cNvSpPr/>
          <p:nvPr/>
        </p:nvSpPr>
        <p:spPr>
          <a:xfrm>
            <a:off x="694944" y="2889504"/>
            <a:ext cx="347472" cy="347472"/>
          </a:xfrm>
          <a:prstGeom prst="ellipse">
            <a:avLst/>
          </a:prstGeom>
          <a:solidFill>
            <a:srgbClr val="0EA472"/>
          </a:solidFill>
          <a:ln/>
          <a:effectLst>
            <a:outerShdw sx="100000" sy="100000" kx="0" ky="0" algn="bl" rotWithShape="0" blurRad="6.93123996701605e+45" dist="2.0793719901048145e+45" dir="3.2651735040000005e+54">
              <a:srgbClr val="A7B6CE">
                <a:alpha val="1.8e+54"/>
              </a:srgbClr>
            </a:outerShdw>
          </a:effectLst>
        </p:spPr>
        <p:txBody>
          <a:bodyPr/>
          <a:p/>
        </p:txBody>
      </p:sp>
      <p:sp>
        <p:nvSpPr>
          <p:cNvPr id="17" name="Text 15"/>
          <p:cNvSpPr/>
          <p:nvPr/>
        </p:nvSpPr>
        <p:spPr>
          <a:xfrm>
            <a:off x="694944" y="288950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2</a:t>
            </a:r>
            <a:endParaRPr lang="en-US" sz="1292" dirty="0"/>
          </a:p>
        </p:txBody>
      </p:sp>
      <p:sp>
        <p:nvSpPr>
          <p:cNvPr id="18" name="Text 16"/>
          <p:cNvSpPr/>
          <p:nvPr/>
        </p:nvSpPr>
        <p:spPr>
          <a:xfrm>
            <a:off x="1188720" y="278892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Guards and questions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Machining time on near-net cast or forged parts is capped. Where the geometry can't decide, the engineer is asked.</a:t>
            </a:r>
            <a:endParaRPr lang="en-US" sz="1060" dirty="0"/>
          </a:p>
        </p:txBody>
      </p:sp>
      <p:sp>
        <p:nvSpPr>
          <p:cNvPr id="19" name="Shape 17"/>
          <p:cNvSpPr/>
          <p:nvPr/>
        </p:nvSpPr>
        <p:spPr>
          <a:xfrm>
            <a:off x="548640" y="342900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0" name="Shape 18"/>
          <p:cNvSpPr/>
          <p:nvPr/>
        </p:nvSpPr>
        <p:spPr>
          <a:xfrm>
            <a:off x="694944" y="3529584"/>
            <a:ext cx="347472" cy="347472"/>
          </a:xfrm>
          <a:prstGeom prst="ellipse">
            <a:avLst/>
          </a:prstGeom>
          <a:solidFill>
            <a:srgbClr val="0EA472"/>
          </a:solidFill>
          <a:ln/>
          <a:effectLst>
            <a:outerShdw sx="100000" sy="100000" kx="0" ky="0" algn="bl" rotWithShape="0" blurRad="8.802674758110384e+49" dist="2.640802427433114e+49" dir="1.9591041024000004e+59">
              <a:srgbClr val="A7B6CE">
                <a:alpha val="1.8000000000000001e+59"/>
              </a:srgbClr>
            </a:outerShdw>
          </a:effectLst>
        </p:spPr>
        <p:txBody>
          <a:bodyPr/>
          <a:p/>
        </p:txBody>
      </p:sp>
      <p:sp>
        <p:nvSpPr>
          <p:cNvPr id="21" name="Text 19"/>
          <p:cNvSpPr/>
          <p:nvPr/>
        </p:nvSpPr>
        <p:spPr>
          <a:xfrm>
            <a:off x="694944" y="352958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3</a:t>
            </a:r>
            <a:endParaRPr lang="en-US" sz="1292" dirty="0"/>
          </a:p>
        </p:txBody>
      </p:sp>
      <p:sp>
        <p:nvSpPr>
          <p:cNvPr id="22" name="Text 20"/>
          <p:cNvSpPr/>
          <p:nvPr/>
        </p:nvSpPr>
        <p:spPr>
          <a:xfrm>
            <a:off x="1188720" y="342900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Deterministic 8-bucket engine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No AI in the money. It matches a hand calculation of a £24.34 machined bracket to under 0.01%, and gives the same cost every run.</a:t>
            </a:r>
            <a:endParaRPr lang="en-US" sz="1060" dirty="0"/>
          </a:p>
        </p:txBody>
      </p:sp>
      <p:sp>
        <p:nvSpPr>
          <p:cNvPr id="23" name="Shape 21"/>
          <p:cNvSpPr/>
          <p:nvPr/>
        </p:nvSpPr>
        <p:spPr>
          <a:xfrm>
            <a:off x="548640" y="4069080"/>
            <a:ext cx="7040880" cy="548640"/>
          </a:xfrm>
          <a:prstGeom prst="roundRect">
            <a:avLst>
              <a:gd name="adj" fmla="val 8333"/>
            </a:avLst>
          </a:prstGeom>
          <a:solidFill>
            <a:srgbClr val="FFFFFF"/>
          </a:solidFill>
          <a:ln w="12700">
            <a:solidFill>
              <a:srgbClr val="E4EAF2"/>
            </a:solidFill>
            <a:prstDash val="solid"/>
          </a:ln>
        </p:spPr>
        <p:txBody>
          <a:bodyPr/>
          <a:p/>
        </p:txBody>
      </p:sp>
      <p:sp>
        <p:nvSpPr>
          <p:cNvPr id="24" name="Shape 22"/>
          <p:cNvSpPr/>
          <p:nvPr/>
        </p:nvSpPr>
        <p:spPr>
          <a:xfrm>
            <a:off x="694944" y="4169664"/>
            <a:ext cx="347472" cy="347472"/>
          </a:xfrm>
          <a:prstGeom prst="ellipse">
            <a:avLst/>
          </a:prstGeom>
          <a:solidFill>
            <a:srgbClr val="0EA472"/>
          </a:solidFill>
          <a:ln/>
          <a:effectLst>
            <a:outerShdw sx="100000" sy="100000" kx="0" ky="0" algn="bl" rotWithShape="0" blurRad="1.1179396942800187e+54" dist="3.353819082840055e+53" dir="1.1754624614400003e+64">
              <a:srgbClr val="A7B6CE">
                <a:alpha val="1.8e+64"/>
              </a:srgbClr>
            </a:outerShdw>
          </a:effectLst>
        </p:spPr>
        <p:txBody>
          <a:bodyPr/>
          <a:p/>
        </p:txBody>
      </p:sp>
      <p:sp>
        <p:nvSpPr>
          <p:cNvPr id="25" name="Text 23"/>
          <p:cNvSpPr/>
          <p:nvPr/>
        </p:nvSpPr>
        <p:spPr>
          <a:xfrm>
            <a:off x="694944" y="416966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4</a:t>
            </a:r>
            <a:endParaRPr lang="en-US" sz="1292" dirty="0"/>
          </a:p>
        </p:txBody>
      </p:sp>
      <p:sp>
        <p:nvSpPr>
          <p:cNvPr id="26" name="Text 24"/>
          <p:cNvSpPr/>
          <p:nvPr/>
        </p:nvSpPr>
        <p:spPr>
          <a:xfrm>
            <a:off x="1188720" y="406908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Self-audit on every result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Flags a wrong machine size, tooling spread over the wrong volume, a material-only costing or an implausible cycle time.</a:t>
            </a:r>
            <a:endParaRPr lang="en-US" sz="1060" dirty="0"/>
          </a:p>
        </p:txBody>
      </p:sp>
      <p:sp>
        <p:nvSpPr>
          <p:cNvPr id="27" name="Shape 25"/>
          <p:cNvSpPr/>
          <p:nvPr/>
        </p:nvSpPr>
        <p:spPr>
          <a:xfrm>
            <a:off x="548640" y="4709160"/>
            <a:ext cx="7040880" cy="548640"/>
          </a:xfrm>
          <a:prstGeom prst="roundRect">
            <a:avLst>
              <a:gd name="adj" fmla="val 8333"/>
            </a:avLst>
          </a:prstGeom>
          <a:solidFill>
            <a:srgbClr val="F4F7FB"/>
          </a:solidFill>
          <a:ln w="12700">
            <a:solidFill>
              <a:srgbClr val="E4EAF2"/>
            </a:solidFill>
            <a:prstDash val="solid"/>
          </a:ln>
        </p:spPr>
        <p:txBody>
          <a:bodyPr/>
          <a:p/>
        </p:txBody>
      </p:sp>
      <p:sp>
        <p:nvSpPr>
          <p:cNvPr id="28" name="Shape 26"/>
          <p:cNvSpPr/>
          <p:nvPr/>
        </p:nvSpPr>
        <p:spPr>
          <a:xfrm>
            <a:off x="694944" y="4809744"/>
            <a:ext cx="347472" cy="347472"/>
          </a:xfrm>
          <a:prstGeom prst="ellipse">
            <a:avLst/>
          </a:prstGeom>
          <a:solidFill>
            <a:srgbClr val="0EA472"/>
          </a:solidFill>
          <a:ln/>
          <a:effectLst>
            <a:outerShdw sx="100000" sy="100000" kx="0" ky="0" algn="bl" rotWithShape="0" blurRad="1.419783411735624e+58" dist="4.2593502352068695e+57" dir="7.052774768640002e+68">
              <a:srgbClr val="A7B6CE">
                <a:alpha val="1.8e+69"/>
              </a:srgbClr>
            </a:outerShdw>
          </a:effectLst>
        </p:spPr>
        <p:txBody>
          <a:bodyPr/>
          <a:p/>
        </p:txBody>
      </p:sp>
      <p:sp>
        <p:nvSpPr>
          <p:cNvPr id="29" name="Text 27"/>
          <p:cNvSpPr/>
          <p:nvPr/>
        </p:nvSpPr>
        <p:spPr>
          <a:xfrm>
            <a:off x="694944" y="480974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5</a:t>
            </a:r>
            <a:endParaRPr lang="en-US" sz="1292" dirty="0"/>
          </a:p>
        </p:txBody>
      </p:sp>
      <p:sp>
        <p:nvSpPr>
          <p:cNvPr id="30" name="Text 28"/>
          <p:cNvSpPr/>
          <p:nvPr/>
        </p:nvSpPr>
        <p:spPr>
          <a:xfrm>
            <a:off x="1188720" y="470916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An honest range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Every estimate carries a P10–P90 uncertainty band, not just one number.</a:t>
            </a:r>
            <a:endParaRPr lang="en-US" sz="1060" dirty="0"/>
          </a:p>
        </p:txBody>
      </p:sp>
      <p:sp>
        <p:nvSpPr>
          <p:cNvPr id="31" name="Shape 29"/>
          <p:cNvSpPr/>
          <p:nvPr/>
        </p:nvSpPr>
        <p:spPr>
          <a:xfrm>
            <a:off x="548640" y="5349240"/>
            <a:ext cx="7040880" cy="548640"/>
          </a:xfrm>
          <a:prstGeom prst="roundRect">
            <a:avLst>
              <a:gd name="adj" fmla="val 8333"/>
            </a:avLst>
          </a:prstGeom>
          <a:solidFill>
            <a:srgbClr val="FFFFFF"/>
          </a:solidFill>
          <a:ln w="12700">
            <a:solidFill>
              <a:srgbClr val="E4EAF2"/>
            </a:solidFill>
            <a:prstDash val="solid"/>
          </a:ln>
        </p:spPr>
        <p:txBody>
          <a:bodyPr/>
          <a:p/>
        </p:txBody>
      </p:sp>
      <p:sp>
        <p:nvSpPr>
          <p:cNvPr id="32" name="Shape 30"/>
          <p:cNvSpPr/>
          <p:nvPr/>
        </p:nvSpPr>
        <p:spPr>
          <a:xfrm>
            <a:off x="694944" y="5449824"/>
            <a:ext cx="347472" cy="347472"/>
          </a:xfrm>
          <a:prstGeom prst="ellipse">
            <a:avLst/>
          </a:prstGeom>
          <a:solidFill>
            <a:srgbClr val="0EA472"/>
          </a:solidFill>
          <a:ln/>
          <a:effectLst>
            <a:outerShdw sx="100000" sy="100000" kx="0" ky="0" algn="bl" rotWithShape="0" blurRad="1.8031249329042424e+62" dist="5.409374798712724e+61" dir="4.2316648611840007e+73">
              <a:srgbClr val="A7B6CE">
                <a:alpha val="1.8000000000000002e+74"/>
              </a:srgbClr>
            </a:outerShdw>
          </a:effectLst>
        </p:spPr>
        <p:txBody>
          <a:bodyPr/>
          <a:p/>
        </p:txBody>
      </p:sp>
      <p:sp>
        <p:nvSpPr>
          <p:cNvPr id="33" name="Text 31"/>
          <p:cNvSpPr/>
          <p:nvPr/>
        </p:nvSpPr>
        <p:spPr>
          <a:xfrm>
            <a:off x="694944" y="5449824"/>
            <a:ext cx="347472" cy="347472"/>
          </a:xfrm>
          <a:prstGeom prst="rect">
            <a:avLst/>
          </a:prstGeom>
          <a:noFill/>
          <a:ln/>
        </p:spPr>
        <p:txBody>
          <a:bodyPr wrap="square" lIns="0" tIns="0" rIns="0" bIns="0" rtlCol="0" anchor="ctr"/>
          <a:lstStyle/>
          <a:p>
            <a:pPr algn="ctr" indent="0" marL="0">
              <a:buNone/>
            </a:pPr>
            <a:r>
              <a:rPr lang="en-US" sz="1292" b="1" dirty="0">
                <a:solidFill>
                  <a:srgbClr val="FFFFFF"/>
                </a:solidFill>
                <a:latin typeface="Calibri" pitchFamily="34" charset="0"/>
                <a:ea typeface="Calibri" pitchFamily="34" charset="-122"/>
                <a:cs typeface="Calibri" pitchFamily="34" charset="-120"/>
              </a:rPr>
              <a:t>6</a:t>
            </a:r>
            <a:endParaRPr lang="en-US" sz="1292" dirty="0"/>
          </a:p>
        </p:txBody>
      </p:sp>
      <p:sp>
        <p:nvSpPr>
          <p:cNvPr id="34" name="Text 32"/>
          <p:cNvSpPr/>
          <p:nvPr/>
        </p:nvSpPr>
        <p:spPr>
          <a:xfrm>
            <a:off x="1188720" y="5349240"/>
            <a:ext cx="6217920" cy="548640"/>
          </a:xfrm>
          <a:prstGeom prst="rect">
            <a:avLst/>
          </a:prstGeom>
          <a:noFill/>
          <a:ln/>
        </p:spPr>
        <p:txBody>
          <a:bodyPr wrap="square" lIns="0" tIns="0" rIns="0" bIns="0" rtlCol="0" anchor="ctr"/>
          <a:lstStyle/>
          <a:p>
            <a:pPr indent="0" marL="0">
              <a:lnSpc>
                <a:spcPct val="102000"/>
              </a:lnSpc>
              <a:buNone/>
            </a:pPr>
            <a:r>
              <a:rPr lang="en-US" sz="1060" b="1" dirty="0">
                <a:solidFill>
                  <a:srgbClr val="0F1E3D"/>
                </a:solidFill>
                <a:latin typeface="Calibri" pitchFamily="34" charset="0"/>
                <a:ea typeface="Calibri" pitchFamily="34" charset="-122"/>
                <a:cs typeface="Calibri" pitchFamily="34" charset="-120"/>
              </a:rPr>
              <a:t>Pinned on real parts  —  </a:t>
            </a:r>
            <a:pPr indent="0" marL="0">
              <a:lnSpc>
                <a:spcPct val="102000"/>
              </a:lnSpc>
              <a:buNone/>
            </a:pPr>
            <a:r>
              <a:rPr lang="en-US" sz="1060" dirty="0">
                <a:solidFill>
                  <a:srgbClr val="3E4C63"/>
                </a:solidFill>
                <a:latin typeface="Calibri" pitchFamily="34" charset="0"/>
                <a:ea typeface="Calibri" pitchFamily="34" charset="-122"/>
                <a:cs typeface="Calibri" pitchFamily="34" charset="-120"/>
              </a:rPr>
              <a:t>6 real production parts sit in a regression baseline. None has yet been compared with a price JLR paid.</a:t>
            </a:r>
            <a:endParaRPr lang="en-US" sz="1060" dirty="0"/>
          </a:p>
        </p:txBody>
      </p:sp>
      <p:sp>
        <p:nvSpPr>
          <p:cNvPr id="35" name="Shape 33"/>
          <p:cNvSpPr/>
          <p:nvPr/>
        </p:nvSpPr>
        <p:spPr>
          <a:xfrm>
            <a:off x="7909560" y="2148840"/>
            <a:ext cx="3733495" cy="3749040"/>
          </a:xfrm>
          <a:prstGeom prst="roundRect">
            <a:avLst>
              <a:gd name="adj" fmla="val 1714"/>
            </a:avLst>
          </a:prstGeom>
          <a:solidFill>
            <a:srgbClr val="E7F7F0"/>
          </a:solidFill>
          <a:ln w="12700">
            <a:solidFill>
              <a:srgbClr val="E4EAF2"/>
            </a:solidFill>
            <a:prstDash val="solid"/>
          </a:ln>
        </p:spPr>
        <p:txBody>
          <a:bodyPr/>
          <a:p/>
        </p:txBody>
      </p:sp>
      <p:sp>
        <p:nvSpPr>
          <p:cNvPr id="36" name="Shape 34"/>
          <p:cNvSpPr/>
          <p:nvPr/>
        </p:nvSpPr>
        <p:spPr>
          <a:xfrm>
            <a:off x="7909560" y="2148840"/>
            <a:ext cx="82296" cy="3749040"/>
          </a:xfrm>
          <a:prstGeom prst="rect">
            <a:avLst/>
          </a:prstGeom>
          <a:solidFill>
            <a:srgbClr val="0EA472"/>
          </a:solidFill>
          <a:ln/>
        </p:spPr>
        <p:txBody>
          <a:bodyPr/>
          <a:p/>
        </p:txBody>
      </p:sp>
      <p:sp>
        <p:nvSpPr>
          <p:cNvPr id="37" name="Text 35"/>
          <p:cNvSpPr/>
          <p:nvPr/>
        </p:nvSpPr>
        <p:spPr>
          <a:xfrm>
            <a:off x="8183880" y="2350008"/>
            <a:ext cx="3276295" cy="320040"/>
          </a:xfrm>
          <a:prstGeom prst="rect">
            <a:avLst/>
          </a:prstGeom>
          <a:noFill/>
          <a:ln/>
        </p:spPr>
        <p:txBody>
          <a:bodyPr wrap="square" lIns="0" tIns="0" rIns="0" bIns="0" rtlCol="0" anchor="t"/>
          <a:lstStyle/>
          <a:p>
            <a:pPr indent="0" marL="0">
              <a:buNone/>
            </a:pPr>
            <a:r>
              <a:rPr lang="en-US" sz="1400" b="1" dirty="0">
                <a:solidFill>
                  <a:srgbClr val="0EA472"/>
                </a:solidFill>
                <a:latin typeface="Calibri" pitchFamily="34" charset="0"/>
                <a:ea typeface="Calibri" pitchFamily="34" charset="-122"/>
                <a:cs typeface="Calibri" pitchFamily="34" charset="-120"/>
              </a:rPr>
              <a:t>Why it earns trust</a:t>
            </a:r>
            <a:endParaRPr lang="en-US" sz="1400" dirty="0"/>
          </a:p>
        </p:txBody>
      </p:sp>
      <p:sp>
        <p:nvSpPr>
          <p:cNvPr id="38" name="Text 36"/>
          <p:cNvSpPr/>
          <p:nvPr/>
        </p:nvSpPr>
        <p:spPr>
          <a:xfrm>
            <a:off x="8183880" y="2834640"/>
            <a:ext cx="3230575" cy="731520"/>
          </a:xfrm>
          <a:prstGeom prst="rect">
            <a:avLst/>
          </a:prstGeom>
          <a:noFill/>
          <a:ln/>
        </p:spPr>
        <p:txBody>
          <a:bodyPr wrap="square" lIns="0" tIns="0" rIns="0" bIns="0" rtlCol="0" anchor="t"/>
          <a:lstStyle/>
          <a:p>
            <a:pPr indent="0" marL="0">
              <a:lnSpc>
                <a:spcPct val="115000"/>
              </a:lnSpc>
              <a:buNone/>
            </a:pPr>
            <a:r>
              <a:rPr lang="en-US" sz="1250" b="1" dirty="0">
                <a:solidFill>
                  <a:srgbClr val="0F1E3D"/>
                </a:solidFill>
                <a:latin typeface="Calibri" pitchFamily="34" charset="0"/>
                <a:ea typeface="Calibri" pitchFamily="34" charset="-122"/>
                <a:cs typeface="Calibri" pitchFamily="34" charset="-120"/>
              </a:rPr>
              <a:t>The tool can ask — it never quietly decides the number.</a:t>
            </a:r>
            <a:endParaRPr lang="en-US" sz="1250" dirty="0"/>
          </a:p>
        </p:txBody>
      </p:sp>
      <p:sp>
        <p:nvSpPr>
          <p:cNvPr id="39" name="Text 37"/>
          <p:cNvSpPr/>
          <p:nvPr/>
        </p:nvSpPr>
        <p:spPr>
          <a:xfrm>
            <a:off x="8183880" y="3749040"/>
            <a:ext cx="3230575" cy="1645920"/>
          </a:xfrm>
          <a:prstGeom prst="rect">
            <a:avLst/>
          </a:prstGeom>
          <a:noFill/>
          <a:ln/>
        </p:spPr>
        <p:txBody>
          <a:bodyPr wrap="square" lIns="0" tIns="0" rIns="0" bIns="0" rtlCol="0" anchor="t"/>
          <a:lstStyle/>
          <a:p>
            <a:pPr indent="0" marL="0">
              <a:lnSpc>
                <a:spcPct val="120000"/>
              </a:lnSpc>
              <a:buNone/>
            </a:pPr>
            <a:r>
              <a:rPr lang="en-US" sz="1150" dirty="0">
                <a:solidFill>
                  <a:srgbClr val="3E4C63"/>
                </a:solidFill>
                <a:latin typeface="Calibri" pitchFamily="34" charset="0"/>
                <a:ea typeface="Calibri" pitchFamily="34" charset="-122"/>
                <a:cs typeface="Calibri" pitchFamily="34" charset="-120"/>
              </a:rPr>
              <a:t>Because the geometry is measured and the maths is fixed, a wrong input gets flagged, not baked into a quote. Accuracy against real prices is measured as actuals are logged.</a:t>
            </a:r>
            <a:endParaRPr lang="en-US" sz="1150" dirty="0"/>
          </a:p>
        </p:txBody>
      </p:sp>
      <p:sp>
        <p:nvSpPr>
          <p:cNvPr id="40" name="Shape 38"/>
          <p:cNvSpPr/>
          <p:nvPr/>
        </p:nvSpPr>
        <p:spPr>
          <a:xfrm>
            <a:off x="548640" y="6400800"/>
            <a:ext cx="11094415" cy="12802"/>
          </a:xfrm>
          <a:prstGeom prst="rect">
            <a:avLst/>
          </a:prstGeom>
          <a:solidFill>
            <a:srgbClr val="E4EAF2"/>
          </a:solidFill>
          <a:ln/>
        </p:spPr>
        <p:txBody>
          <a:bodyPr/>
          <a:p/>
        </p:txBody>
      </p:sp>
      <p:sp>
        <p:nvSpPr>
          <p:cNvPr id="41" name="Text 3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2" name="Text 4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12 / 33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pcb-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txBody>
          <a:bodyPr/>
          <a:p/>
        </p:txBody>
      </p:sp>
      <p:sp>
        <p:nvSpPr>
          <p:cNvPr id="5" name="Shape 2"/>
          <p:cNvSpPr/>
          <p:nvPr/>
        </p:nvSpPr>
        <p:spPr>
          <a:xfrm>
            <a:off x="0" y="3931920"/>
            <a:ext cx="12191695" cy="2926080"/>
          </a:xfrm>
          <a:prstGeom prst="rect">
            <a:avLst/>
          </a:prstGeom>
          <a:solidFill>
            <a:srgbClr val="061024">
              <a:alpha val="80000"/>
            </a:srgbClr>
          </a:solidFill>
          <a:ln/>
        </p:spPr>
        <p:txBody>
          <a:bodyPr/>
          <a:p/>
        </p:txBody>
      </p:sp>
      <p:sp>
        <p:nvSpPr>
          <p:cNvPr id="6" name="Shape 3"/>
          <p:cNvSpPr/>
          <p:nvPr/>
        </p:nvSpPr>
        <p:spPr>
          <a:xfrm>
            <a:off x="0" y="0"/>
            <a:ext cx="146304" cy="6858000"/>
          </a:xfrm>
          <a:prstGeom prst="rect">
            <a:avLst/>
          </a:prstGeom>
          <a:solidFill>
            <a:srgbClr val="0E93B0"/>
          </a:solidFill>
          <a:ln/>
        </p:spPr>
        <p:txBody>
          <a:bodyPr/>
          <a:p/>
        </p:txBody>
      </p:sp>
      <p:sp>
        <p:nvSpPr>
          <p:cNvPr id="7" name="Shape 4"/>
          <p:cNvSpPr/>
          <p:nvPr/>
        </p:nvSpPr>
        <p:spPr>
          <a:xfrm>
            <a:off x="0" y="6729984"/>
            <a:ext cx="12191695" cy="128016"/>
          </a:xfrm>
          <a:prstGeom prst="rect">
            <a:avLst/>
          </a:prstGeom>
          <a:solidFill>
            <a:srgbClr val="0E93B0"/>
          </a:solidFill>
          <a:ln/>
        </p:spPr>
        <p:txBody>
          <a:bodyPr/>
          <a:p/>
        </p:txBody>
      </p:sp>
      <p:sp>
        <p:nvSpPr>
          <p:cNvPr id="8" name="Shape 5"/>
          <p:cNvSpPr/>
          <p:nvPr/>
        </p:nvSpPr>
        <p:spPr>
          <a:xfrm>
            <a:off x="548640" y="457200"/>
            <a:ext cx="402336" cy="402336"/>
          </a:xfrm>
          <a:prstGeom prst="roundRect">
            <a:avLst>
              <a:gd name="adj" fmla="val 22727"/>
            </a:avLst>
          </a:prstGeom>
          <a:solidFill>
            <a:srgbClr val="4F46E5"/>
          </a:solidFill>
          <a:ln/>
        </p:spPr>
        <p:txBody>
          <a:bodyPr/>
          <a:p/>
        </p:txBody>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E93B0"/>
          </a:solidFill>
          <a:ln/>
        </p:spPr>
        <p:txBody>
          <a:bodyPr/>
          <a:p/>
        </p:txBody>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ONE MORE INPUT · ELECTRONICS</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PCB fab and PCBA</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13 / 33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93B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93B0"/>
                </a:solidFill>
                <a:latin typeface="Calibri" pitchFamily="34" charset="0"/>
                <a:ea typeface="Calibri" pitchFamily="34" charset="-122"/>
                <a:cs typeface="Calibri" pitchFamily="34" charset="-120"/>
              </a:rPr>
              <a:t>ONE MORE INPUT · ELECTRONICS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Electronics — PCB fab and PCBA</a:t>
            </a:r>
            <a:endParaRPr lang="en-US" sz="2400" dirty="0"/>
          </a:p>
        </p:txBody>
      </p:sp>
      <p:sp>
        <p:nvSpPr>
          <p:cNvPr id="9" name="Shape 7"/>
          <p:cNvSpPr/>
          <p:nvPr/>
        </p:nvSpPr>
        <p:spPr>
          <a:xfrm>
            <a:off x="548640" y="1371600"/>
            <a:ext cx="1051560" cy="45720"/>
          </a:xfrm>
          <a:prstGeom prst="rect">
            <a:avLst/>
          </a:prstGeom>
          <a:solidFill>
            <a:srgbClr val="0E93B0"/>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PCB fab and PCBA have their own forms. The fab price is bought in, from fabricators' price tables.</a:t>
            </a:r>
            <a:endParaRPr lang="en-US" sz="1250" dirty="0"/>
          </a:p>
        </p:txBody>
      </p:sp>
      <p:sp>
        <p:nvSpPr>
          <p:cNvPr id="11" name="Shape 9"/>
          <p:cNvSpPr/>
          <p:nvPr/>
        </p:nvSpPr>
        <p:spPr>
          <a:xfrm>
            <a:off x="548640" y="2011680"/>
            <a:ext cx="5623560" cy="3200400"/>
          </a:xfrm>
          <a:prstGeom prst="roundRect">
            <a:avLst>
              <a:gd name="adj" fmla="val 2000"/>
            </a:avLst>
          </a:prstGeom>
          <a:solidFill>
            <a:srgbClr val="FFFFFF"/>
          </a:solidFill>
          <a:ln w="12700">
            <a:solidFill>
              <a:srgbClr val="E4EAF2"/>
            </a:solidFill>
            <a:prstDash val="solid"/>
          </a:ln>
          <a:effectLst>
            <a:outerShdw sx="100000" sy="100000" kx="0" ky="0" algn="bl" rotWithShape="0" blurRad="3.0076567690606238e+144" dist="8.593305054458923e+143" dir="1.5471637197735807e+169">
              <a:srgbClr val="9DB0CC">
                <a:alpha val="2.2e+174"/>
              </a:srgbClr>
            </a:outerShdw>
          </a:effectLst>
        </p:spPr>
        <p:txBody>
          <a:bodyPr/>
          <a:p/>
        </p:txBody>
      </p:sp>
      <p:graphicFrame>
        <p:nvGraphicFramePr>
          <p:cNvPr id="12" name="Chart 0" descr=""/>
          <p:cNvGraphicFramePr/>
          <p:nvPr/>
        </p:nvGraphicFramePr>
        <p:xfrm>
          <a:off x="731520" y="2194560"/>
          <a:ext cx="5257800" cy="278892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p:nvPr/>
        </p:nvSpPr>
        <p:spPr>
          <a:xfrm>
            <a:off x="731520" y="5230368"/>
            <a:ext cx="5577840" cy="320040"/>
          </a:xfrm>
          <a:prstGeom prst="rect">
            <a:avLst/>
          </a:prstGeom>
          <a:noFill/>
          <a:ln/>
        </p:spPr>
        <p:txBody>
          <a:bodyPr wrap="square" lIns="0" tIns="0" rIns="0" bIns="0" rtlCol="0" anchor="t"/>
          <a:lstStyle/>
          <a:p>
            <a:pPr indent="0" marL="0">
              <a:buNone/>
            </a:pPr>
            <a:r>
              <a:rPr lang="en-US" sz="900" i="1" dirty="0">
                <a:solidFill>
                  <a:srgbClr val="8A97A8"/>
                </a:solidFill>
                <a:latin typeface="Calibri" pitchFamily="34" charset="0"/>
                <a:ea typeface="Calibri" pitchFamily="34" charset="-122"/>
                <a:cs typeface="Calibri" pitchFamily="34" charset="-120"/>
              </a:rPr>
              <a:t>Default board, £ per board. Fab is a bought-in price, so no overhead or margin is added on top.</a:t>
            </a:r>
            <a:endParaRPr lang="en-US" sz="900" dirty="0"/>
          </a:p>
        </p:txBody>
      </p:sp>
      <p:sp>
        <p:nvSpPr>
          <p:cNvPr id="14" name="Shape 11"/>
          <p:cNvSpPr/>
          <p:nvPr/>
        </p:nvSpPr>
        <p:spPr>
          <a:xfrm>
            <a:off x="6355080" y="2011680"/>
            <a:ext cx="5287975" cy="3200400"/>
          </a:xfrm>
          <a:prstGeom prst="roundRect">
            <a:avLst>
              <a:gd name="adj" fmla="val 2000"/>
            </a:avLst>
          </a:prstGeom>
          <a:solidFill>
            <a:srgbClr val="EAF1FE"/>
          </a:solidFill>
          <a:ln w="12700">
            <a:solidFill>
              <a:srgbClr val="E4EAF2"/>
            </a:solidFill>
            <a:prstDash val="solid"/>
          </a:ln>
        </p:spPr>
        <p:txBody>
          <a:bodyPr/>
          <a:p/>
        </p:txBody>
      </p:sp>
      <p:sp>
        <p:nvSpPr>
          <p:cNvPr id="15" name="Text 12"/>
          <p:cNvSpPr/>
          <p:nvPr/>
        </p:nvSpPr>
        <p:spPr>
          <a:xfrm>
            <a:off x="6629400" y="2176272"/>
            <a:ext cx="4830775" cy="320040"/>
          </a:xfrm>
          <a:prstGeom prst="rect">
            <a:avLst/>
          </a:prstGeom>
          <a:noFill/>
          <a:ln/>
        </p:spPr>
        <p:txBody>
          <a:bodyPr wrap="square" lIns="0" tIns="0" rIns="0" bIns="0" rtlCol="0" anchor="t"/>
          <a:lstStyle/>
          <a:p>
            <a:pPr indent="0" marL="0">
              <a:buNone/>
            </a:pPr>
            <a:r>
              <a:rPr lang="en-US" sz="1350" b="1" dirty="0">
                <a:solidFill>
                  <a:srgbClr val="0F1E3D"/>
                </a:solidFill>
                <a:latin typeface="Calibri" pitchFamily="34" charset="0"/>
                <a:ea typeface="Calibri" pitchFamily="34" charset="-122"/>
                <a:cs typeface="Calibri" pitchFamily="34" charset="-120"/>
              </a:rPr>
              <a:t>What it delivers</a:t>
            </a:r>
            <a:endParaRPr lang="en-US" sz="1350" dirty="0"/>
          </a:p>
        </p:txBody>
      </p:sp>
      <p:sp>
        <p:nvSpPr>
          <p:cNvPr id="16" name="Shape 13"/>
          <p:cNvSpPr/>
          <p:nvPr/>
        </p:nvSpPr>
        <p:spPr>
          <a:xfrm>
            <a:off x="6611112" y="2578608"/>
            <a:ext cx="274320" cy="274320"/>
          </a:xfrm>
          <a:prstGeom prst="ellipse">
            <a:avLst/>
          </a:prstGeom>
          <a:solidFill>
            <a:srgbClr val="E8F6FA"/>
          </a:solidFill>
          <a:ln/>
        </p:spPr>
        <p:txBody>
          <a:bodyPr/>
          <a:p/>
        </p:txBody>
      </p:sp>
      <p:sp>
        <p:nvSpPr>
          <p:cNvPr id="17" name="Text 14"/>
          <p:cNvSpPr/>
          <p:nvPr/>
        </p:nvSpPr>
        <p:spPr>
          <a:xfrm>
            <a:off x="6611112" y="2569464"/>
            <a:ext cx="274320" cy="274320"/>
          </a:xfrm>
          <a:prstGeom prst="rect">
            <a:avLst/>
          </a:prstGeom>
          <a:noFill/>
          <a:ln/>
        </p:spPr>
        <p:txBody>
          <a:bodyPr wrap="square" lIns="0" tIns="0" rIns="0" bIns="0" rtlCol="0" anchor="ctr"/>
          <a:lstStyle/>
          <a:p>
            <a:pPr algn="ctr" indent="0" marL="0">
              <a:buNone/>
            </a:pPr>
            <a:r>
              <a:rPr lang="en-US" sz="1000" b="1" dirty="0">
                <a:solidFill>
                  <a:srgbClr val="0E93B0"/>
                </a:solidFill>
                <a:latin typeface="Calibri" pitchFamily="34" charset="0"/>
                <a:ea typeface="Calibri" pitchFamily="34" charset="-122"/>
                <a:cs typeface="Calibri" pitchFamily="34" charset="-120"/>
              </a:rPr>
              <a:t>✓</a:t>
            </a:r>
            <a:endParaRPr lang="en-US" sz="1000" dirty="0"/>
          </a:p>
        </p:txBody>
      </p:sp>
      <p:sp>
        <p:nvSpPr>
          <p:cNvPr id="18" name="Text 15"/>
          <p:cNvSpPr/>
          <p:nvPr/>
        </p:nvSpPr>
        <p:spPr>
          <a:xfrm>
            <a:off x="6976872" y="2560320"/>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PCB fab form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board type, size and layers, priced from fabricators' tables</a:t>
            </a:r>
            <a:endParaRPr lang="en-US" sz="1030" dirty="0"/>
          </a:p>
        </p:txBody>
      </p:sp>
      <p:sp>
        <p:nvSpPr>
          <p:cNvPr id="19" name="Shape 16"/>
          <p:cNvSpPr/>
          <p:nvPr/>
        </p:nvSpPr>
        <p:spPr>
          <a:xfrm>
            <a:off x="6611112" y="3090672"/>
            <a:ext cx="274320" cy="274320"/>
          </a:xfrm>
          <a:prstGeom prst="ellipse">
            <a:avLst/>
          </a:prstGeom>
          <a:solidFill>
            <a:srgbClr val="E7F7F0"/>
          </a:solidFill>
          <a:ln/>
        </p:spPr>
        <p:txBody>
          <a:bodyPr/>
          <a:p/>
        </p:txBody>
      </p:sp>
      <p:sp>
        <p:nvSpPr>
          <p:cNvPr id="20" name="Text 17"/>
          <p:cNvSpPr/>
          <p:nvPr/>
        </p:nvSpPr>
        <p:spPr>
          <a:xfrm>
            <a:off x="6611112" y="3081528"/>
            <a:ext cx="274320" cy="274320"/>
          </a:xfrm>
          <a:prstGeom prst="rect">
            <a:avLst/>
          </a:prstGeom>
          <a:noFill/>
          <a:ln/>
        </p:spPr>
        <p:txBody>
          <a:bodyPr wrap="square" lIns="0" tIns="0" rIns="0" bIns="0" rtlCol="0" anchor="ctr"/>
          <a:lstStyle/>
          <a:p>
            <a:pPr algn="ctr" indent="0" marL="0">
              <a:buNone/>
            </a:pPr>
            <a:r>
              <a:rPr lang="en-US" sz="1000" b="1" dirty="0">
                <a:solidFill>
                  <a:srgbClr val="0EA472"/>
                </a:solidFill>
                <a:latin typeface="Calibri" pitchFamily="34" charset="0"/>
                <a:ea typeface="Calibri" pitchFamily="34" charset="-122"/>
                <a:cs typeface="Calibri" pitchFamily="34" charset="-120"/>
              </a:rPr>
              <a:t>✓</a:t>
            </a:r>
            <a:endParaRPr lang="en-US" sz="1000" dirty="0"/>
          </a:p>
        </p:txBody>
      </p:sp>
      <p:sp>
        <p:nvSpPr>
          <p:cNvPr id="21" name="Text 18"/>
          <p:cNvSpPr/>
          <p:nvPr/>
        </p:nvSpPr>
        <p:spPr>
          <a:xfrm>
            <a:off x="6976872" y="3072384"/>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PCBA form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SMT, through-hole and BGA placements costed by the engine</a:t>
            </a:r>
            <a:endParaRPr lang="en-US" sz="1030" dirty="0"/>
          </a:p>
        </p:txBody>
      </p:sp>
      <p:sp>
        <p:nvSpPr>
          <p:cNvPr id="22" name="Shape 19"/>
          <p:cNvSpPr/>
          <p:nvPr/>
        </p:nvSpPr>
        <p:spPr>
          <a:xfrm>
            <a:off x="6611112" y="3602736"/>
            <a:ext cx="274320" cy="274320"/>
          </a:xfrm>
          <a:prstGeom prst="ellipse">
            <a:avLst/>
          </a:prstGeom>
          <a:solidFill>
            <a:srgbClr val="F3EEFE"/>
          </a:solidFill>
          <a:ln/>
        </p:spPr>
        <p:txBody>
          <a:bodyPr/>
          <a:p/>
        </p:txBody>
      </p:sp>
      <p:sp>
        <p:nvSpPr>
          <p:cNvPr id="23" name="Text 20"/>
          <p:cNvSpPr/>
          <p:nvPr/>
        </p:nvSpPr>
        <p:spPr>
          <a:xfrm>
            <a:off x="6611112" y="3593592"/>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24" name="Text 21"/>
          <p:cNvSpPr/>
          <p:nvPr/>
        </p:nvSpPr>
        <p:spPr>
          <a:xfrm>
            <a:off x="6976872" y="3584448"/>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BOM from a file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import the bill of materials as a CSV instead of typing it</a:t>
            </a:r>
            <a:endParaRPr lang="en-US" sz="1030" dirty="0"/>
          </a:p>
        </p:txBody>
      </p:sp>
      <p:sp>
        <p:nvSpPr>
          <p:cNvPr id="25" name="Shape 22"/>
          <p:cNvSpPr/>
          <p:nvPr/>
        </p:nvSpPr>
        <p:spPr>
          <a:xfrm>
            <a:off x="6611112" y="4114800"/>
            <a:ext cx="274320" cy="274320"/>
          </a:xfrm>
          <a:prstGeom prst="ellipse">
            <a:avLst/>
          </a:prstGeom>
          <a:solidFill>
            <a:srgbClr val="EAF1FE"/>
          </a:solidFill>
          <a:ln/>
        </p:spPr>
        <p:txBody>
          <a:bodyPr/>
          <a:p/>
        </p:txBody>
      </p:sp>
      <p:sp>
        <p:nvSpPr>
          <p:cNvPr id="26" name="Text 23"/>
          <p:cNvSpPr/>
          <p:nvPr/>
        </p:nvSpPr>
        <p:spPr>
          <a:xfrm>
            <a:off x="6611112" y="4105656"/>
            <a:ext cx="27432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27" name="Text 24"/>
          <p:cNvSpPr/>
          <p:nvPr/>
        </p:nvSpPr>
        <p:spPr>
          <a:xfrm>
            <a:off x="6976872" y="4096512"/>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Regional should-cost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the same board priced across the 20 regions</a:t>
            </a:r>
            <a:endParaRPr lang="en-US" sz="1030" dirty="0"/>
          </a:p>
        </p:txBody>
      </p:sp>
      <p:sp>
        <p:nvSpPr>
          <p:cNvPr id="28" name="Shape 25"/>
          <p:cNvSpPr/>
          <p:nvPr/>
        </p:nvSpPr>
        <p:spPr>
          <a:xfrm>
            <a:off x="6611112" y="4626864"/>
            <a:ext cx="274320" cy="274320"/>
          </a:xfrm>
          <a:prstGeom prst="ellipse">
            <a:avLst/>
          </a:prstGeom>
          <a:solidFill>
            <a:srgbClr val="FEF6E7"/>
          </a:solidFill>
          <a:ln/>
        </p:spPr>
        <p:txBody>
          <a:bodyPr/>
          <a:p/>
        </p:txBody>
      </p:sp>
      <p:sp>
        <p:nvSpPr>
          <p:cNvPr id="29" name="Text 26"/>
          <p:cNvSpPr/>
          <p:nvPr/>
        </p:nvSpPr>
        <p:spPr>
          <a:xfrm>
            <a:off x="6611112" y="4617720"/>
            <a:ext cx="274320" cy="274320"/>
          </a:xfrm>
          <a:prstGeom prst="rect">
            <a:avLst/>
          </a:prstGeom>
          <a:noFill/>
          <a:ln/>
        </p:spPr>
        <p:txBody>
          <a:bodyPr wrap="square" lIns="0" tIns="0" rIns="0" bIns="0" rtlCol="0" anchor="ctr"/>
          <a:lstStyle/>
          <a:p>
            <a:pPr algn="ctr" indent="0" marL="0">
              <a:buNone/>
            </a:pPr>
            <a:r>
              <a:rPr lang="en-US" sz="1000" b="1" dirty="0">
                <a:solidFill>
                  <a:srgbClr val="E0900C"/>
                </a:solidFill>
                <a:latin typeface="Calibri" pitchFamily="34" charset="0"/>
                <a:ea typeface="Calibri" pitchFamily="34" charset="-122"/>
                <a:cs typeface="Calibri" pitchFamily="34" charset="-120"/>
              </a:rPr>
              <a:t>✓</a:t>
            </a:r>
            <a:endParaRPr lang="en-US" sz="1000" dirty="0"/>
          </a:p>
        </p:txBody>
      </p:sp>
      <p:sp>
        <p:nvSpPr>
          <p:cNvPr id="30" name="Text 27"/>
          <p:cNvSpPr/>
          <p:nvPr/>
        </p:nvSpPr>
        <p:spPr>
          <a:xfrm>
            <a:off x="6976872" y="4608576"/>
            <a:ext cx="4373575" cy="502920"/>
          </a:xfrm>
          <a:prstGeom prst="rect">
            <a:avLst/>
          </a:prstGeom>
          <a:noFill/>
          <a:ln/>
        </p:spPr>
        <p:txBody>
          <a:bodyPr wrap="square" lIns="0" tIns="0" rIns="0" bIns="0" rtlCol="0" anchor="t"/>
          <a:lstStyle/>
          <a:p>
            <a:pPr indent="0" marL="0">
              <a:lnSpc>
                <a:spcPct val="102000"/>
              </a:lnSpc>
              <a:buNone/>
            </a:pPr>
            <a:r>
              <a:rPr lang="en-US" sz="1030" b="1" dirty="0">
                <a:solidFill>
                  <a:srgbClr val="0F1E3D"/>
                </a:solidFill>
                <a:latin typeface="Calibri" pitchFamily="34" charset="0"/>
                <a:ea typeface="Calibri" pitchFamily="34" charset="-122"/>
                <a:cs typeface="Calibri" pitchFamily="34" charset="-120"/>
              </a:rPr>
              <a:t>Photo → BOM — </a:t>
            </a:r>
            <a:pPr indent="0" marL="0">
              <a:lnSpc>
                <a:spcPct val="102000"/>
              </a:lnSpc>
              <a:buNone/>
            </a:pPr>
            <a:r>
              <a:rPr lang="en-US" sz="1030" dirty="0">
                <a:solidFill>
                  <a:srgbClr val="3E4C63"/>
                </a:solidFill>
                <a:latin typeface="Calibri" pitchFamily="34" charset="0"/>
                <a:ea typeface="Calibri" pitchFamily="34" charset="-122"/>
                <a:cs typeface="Calibri" pitchFamily="34" charset="-120"/>
              </a:rPr>
              <a:t>reads a board photo, but needs AI, so it is hidden at JLR</a:t>
            </a:r>
            <a:endParaRPr lang="en-US" sz="1030" dirty="0"/>
          </a:p>
        </p:txBody>
      </p:sp>
      <p:sp>
        <p:nvSpPr>
          <p:cNvPr id="31" name="Shape 28"/>
          <p:cNvSpPr/>
          <p:nvPr/>
        </p:nvSpPr>
        <p:spPr>
          <a:xfrm>
            <a:off x="548640" y="5394960"/>
            <a:ext cx="11091672" cy="640080"/>
          </a:xfrm>
          <a:prstGeom prst="roundRect">
            <a:avLst>
              <a:gd name="adj" fmla="val 10000"/>
            </a:avLst>
          </a:prstGeom>
          <a:solidFill>
            <a:srgbClr val="E7F7F0"/>
          </a:solidFill>
          <a:ln w="12700">
            <a:solidFill>
              <a:srgbClr val="E4EAF2"/>
            </a:solidFill>
            <a:prstDash val="solid"/>
          </a:ln>
        </p:spPr>
        <p:txBody>
          <a:bodyPr/>
          <a:p/>
        </p:txBody>
      </p:sp>
      <p:sp>
        <p:nvSpPr>
          <p:cNvPr id="32" name="Text 29"/>
          <p:cNvSpPr/>
          <p:nvPr/>
        </p:nvSpPr>
        <p:spPr>
          <a:xfrm>
            <a:off x="914400" y="5394960"/>
            <a:ext cx="10332720" cy="640080"/>
          </a:xfrm>
          <a:prstGeom prst="rect">
            <a:avLst/>
          </a:prstGeom>
          <a:noFill/>
          <a:ln/>
        </p:spPr>
        <p:txBody>
          <a:bodyPr wrap="square" lIns="0" tIns="0" rIns="0" bIns="0" rtlCol="0" anchor="ctr"/>
          <a:lstStyle/>
          <a:p>
            <a:pPr indent="0" marL="0">
              <a:lnSpc>
                <a:spcPct val="108000"/>
              </a:lnSpc>
              <a:buNone/>
            </a:pPr>
            <a:r>
              <a:rPr lang="en-US" sz="1150" b="1" dirty="0">
                <a:solidFill>
                  <a:srgbClr val="0EA472"/>
                </a:solidFill>
                <a:latin typeface="Calibri" pitchFamily="34" charset="0"/>
                <a:ea typeface="Calibri" pitchFamily="34" charset="-122"/>
                <a:cs typeface="Calibri" pitchFamily="34" charset="-120"/>
              </a:rPr>
              <a:t>What changed:  </a:t>
            </a:r>
            <a:pPr indent="0" marL="0">
              <a:lnSpc>
                <a:spcPct val="108000"/>
              </a:lnSpc>
              <a:buNone/>
            </a:pPr>
            <a:r>
              <a:rPr lang="en-US" sz="1150" dirty="0">
                <a:solidFill>
                  <a:srgbClr val="3E4C63"/>
                </a:solidFill>
                <a:latin typeface="Calibri" pitchFamily="34" charset="0"/>
                <a:ea typeface="Calibri" pitchFamily="34" charset="-122"/>
                <a:cs typeface="Calibri" pitchFamily="34" charset="-120"/>
              </a:rPr>
              <a:t>fab used to get overhead and margin added to a price that already includes them. On the default board that took £100.44 down to £83.08.</a:t>
            </a:r>
            <a:endParaRPr lang="en-US" sz="1150" dirty="0"/>
          </a:p>
        </p:txBody>
      </p:sp>
      <p:sp>
        <p:nvSpPr>
          <p:cNvPr id="33" name="Shape 30"/>
          <p:cNvSpPr/>
          <p:nvPr/>
        </p:nvSpPr>
        <p:spPr>
          <a:xfrm>
            <a:off x="548640" y="6400800"/>
            <a:ext cx="11094415" cy="12802"/>
          </a:xfrm>
          <a:prstGeom prst="rect">
            <a:avLst/>
          </a:prstGeom>
          <a:solidFill>
            <a:srgbClr val="E4EAF2"/>
          </a:solidFill>
          <a:ln/>
        </p:spPr>
        <p:txBody>
          <a:bodyPr/>
          <a:p/>
        </p:txBody>
      </p:sp>
      <p:sp>
        <p:nvSpPr>
          <p:cNvPr id="34" name="Text 3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5" name="Text 3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14 / 33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BREADTH</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Estimate anything — 19 manufacturing processes</a:t>
            </a:r>
            <a:endParaRPr lang="en-US" sz="2400" dirty="0"/>
          </a:p>
        </p:txBody>
      </p:sp>
      <p:sp>
        <p:nvSpPr>
          <p:cNvPr id="9" name="Shape 7"/>
          <p:cNvSpPr/>
          <p:nvPr/>
        </p:nvSpPr>
        <p:spPr>
          <a:xfrm>
            <a:off x="548640" y="1371600"/>
            <a:ext cx="1051560" cy="45720"/>
          </a:xfrm>
          <a:prstGeom prst="rect">
            <a:avLst/>
          </a:prstGeom>
          <a:solidFill>
            <a:srgbClr val="E0900C"/>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bottom-up model for each process — not one generic formula stretched over everything.</a:t>
            </a:r>
            <a:endParaRPr lang="en-US" sz="1250" dirty="0"/>
          </a:p>
        </p:txBody>
      </p:sp>
      <p:sp>
        <p:nvSpPr>
          <p:cNvPr id="11" name="Shape 9"/>
          <p:cNvSpPr/>
          <p:nvPr/>
        </p:nvSpPr>
        <p:spPr>
          <a:xfrm>
            <a:off x="548640" y="1874520"/>
            <a:ext cx="3520440" cy="502920"/>
          </a:xfrm>
          <a:prstGeom prst="roundRect">
            <a:avLst>
              <a:gd name="adj" fmla="val 14545"/>
            </a:avLst>
          </a:prstGeom>
          <a:solidFill>
            <a:srgbClr val="EAF1FE"/>
          </a:solidFill>
          <a:ln w="9525">
            <a:solidFill>
              <a:srgbClr val="E4EAF2"/>
            </a:solidFill>
            <a:prstDash val="solid"/>
          </a:ln>
        </p:spPr>
        <p:txBody>
          <a:bodyPr/>
          <a:p/>
        </p:txBody>
      </p:sp>
      <p:sp>
        <p:nvSpPr>
          <p:cNvPr id="12" name="Shape 10"/>
          <p:cNvSpPr/>
          <p:nvPr/>
        </p:nvSpPr>
        <p:spPr>
          <a:xfrm>
            <a:off x="768096" y="2066544"/>
            <a:ext cx="128016" cy="128016"/>
          </a:xfrm>
          <a:prstGeom prst="ellipse">
            <a:avLst/>
          </a:prstGeom>
          <a:solidFill>
            <a:srgbClr val="2563EB"/>
          </a:solidFill>
          <a:ln/>
        </p:spPr>
        <p:txBody>
          <a:bodyPr/>
          <a:p/>
        </p:txBody>
      </p:sp>
      <p:sp>
        <p:nvSpPr>
          <p:cNvPr id="13" name="Text 11"/>
          <p:cNvSpPr/>
          <p:nvPr/>
        </p:nvSpPr>
        <p:spPr>
          <a:xfrm>
            <a:off x="1005840"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Casting  ·  Cast + machine</a:t>
            </a:r>
            <a:endParaRPr lang="en-US" sz="1050" dirty="0"/>
          </a:p>
        </p:txBody>
      </p:sp>
      <p:sp>
        <p:nvSpPr>
          <p:cNvPr id="14" name="Shape 12"/>
          <p:cNvSpPr/>
          <p:nvPr/>
        </p:nvSpPr>
        <p:spPr>
          <a:xfrm>
            <a:off x="4325112" y="1874520"/>
            <a:ext cx="3520440" cy="502920"/>
          </a:xfrm>
          <a:prstGeom prst="roundRect">
            <a:avLst>
              <a:gd name="adj" fmla="val 14545"/>
            </a:avLst>
          </a:prstGeom>
          <a:solidFill>
            <a:srgbClr val="E8F6FA"/>
          </a:solidFill>
          <a:ln w="9525">
            <a:solidFill>
              <a:srgbClr val="E4EAF2"/>
            </a:solidFill>
            <a:prstDash val="solid"/>
          </a:ln>
        </p:spPr>
        <p:txBody>
          <a:bodyPr/>
          <a:p/>
        </p:txBody>
      </p:sp>
      <p:sp>
        <p:nvSpPr>
          <p:cNvPr id="15" name="Shape 13"/>
          <p:cNvSpPr/>
          <p:nvPr/>
        </p:nvSpPr>
        <p:spPr>
          <a:xfrm>
            <a:off x="4544568" y="2066544"/>
            <a:ext cx="128016" cy="128016"/>
          </a:xfrm>
          <a:prstGeom prst="ellipse">
            <a:avLst/>
          </a:prstGeom>
          <a:solidFill>
            <a:srgbClr val="0E93B0"/>
          </a:solidFill>
          <a:ln/>
        </p:spPr>
        <p:txBody>
          <a:bodyPr/>
          <a:p/>
        </p:txBody>
      </p:sp>
      <p:sp>
        <p:nvSpPr>
          <p:cNvPr id="16" name="Text 14"/>
          <p:cNvSpPr/>
          <p:nvPr/>
        </p:nvSpPr>
        <p:spPr>
          <a:xfrm>
            <a:off x="4782312"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Gear cutting</a:t>
            </a:r>
            <a:endParaRPr lang="en-US" sz="1050" dirty="0"/>
          </a:p>
        </p:txBody>
      </p:sp>
      <p:sp>
        <p:nvSpPr>
          <p:cNvPr id="17" name="Shape 15"/>
          <p:cNvSpPr/>
          <p:nvPr/>
        </p:nvSpPr>
        <p:spPr>
          <a:xfrm>
            <a:off x="8101584" y="1874520"/>
            <a:ext cx="3520440" cy="502920"/>
          </a:xfrm>
          <a:prstGeom prst="roundRect">
            <a:avLst>
              <a:gd name="adj" fmla="val 14545"/>
            </a:avLst>
          </a:prstGeom>
          <a:solidFill>
            <a:srgbClr val="E7F7F0"/>
          </a:solidFill>
          <a:ln w="9525">
            <a:solidFill>
              <a:srgbClr val="E4EAF2"/>
            </a:solidFill>
            <a:prstDash val="solid"/>
          </a:ln>
        </p:spPr>
        <p:txBody>
          <a:bodyPr/>
          <a:p/>
        </p:txBody>
      </p:sp>
      <p:sp>
        <p:nvSpPr>
          <p:cNvPr id="18" name="Shape 16"/>
          <p:cNvSpPr/>
          <p:nvPr/>
        </p:nvSpPr>
        <p:spPr>
          <a:xfrm>
            <a:off x="8321040" y="2066544"/>
            <a:ext cx="128016" cy="128016"/>
          </a:xfrm>
          <a:prstGeom prst="ellipse">
            <a:avLst/>
          </a:prstGeom>
          <a:solidFill>
            <a:srgbClr val="0DA5A0"/>
          </a:solidFill>
          <a:ln/>
        </p:spPr>
        <p:txBody>
          <a:bodyPr/>
          <a:p/>
        </p:txBody>
      </p:sp>
      <p:sp>
        <p:nvSpPr>
          <p:cNvPr id="19" name="Text 17"/>
          <p:cNvSpPr/>
          <p:nvPr/>
        </p:nvSpPr>
        <p:spPr>
          <a:xfrm>
            <a:off x="8558784" y="18745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Machining</a:t>
            </a:r>
            <a:endParaRPr lang="en-US" sz="1050" dirty="0"/>
          </a:p>
        </p:txBody>
      </p:sp>
      <p:sp>
        <p:nvSpPr>
          <p:cNvPr id="20" name="Shape 18"/>
          <p:cNvSpPr/>
          <p:nvPr/>
        </p:nvSpPr>
        <p:spPr>
          <a:xfrm>
            <a:off x="548640" y="2514600"/>
            <a:ext cx="3520440" cy="502920"/>
          </a:xfrm>
          <a:prstGeom prst="roundRect">
            <a:avLst>
              <a:gd name="adj" fmla="val 14545"/>
            </a:avLst>
          </a:prstGeom>
          <a:solidFill>
            <a:srgbClr val="EAF1FE"/>
          </a:solidFill>
          <a:ln w="9525">
            <a:solidFill>
              <a:srgbClr val="E4EAF2"/>
            </a:solidFill>
            <a:prstDash val="solid"/>
          </a:ln>
        </p:spPr>
        <p:txBody>
          <a:bodyPr/>
          <a:p/>
        </p:txBody>
      </p:sp>
      <p:sp>
        <p:nvSpPr>
          <p:cNvPr id="21" name="Shape 19"/>
          <p:cNvSpPr/>
          <p:nvPr/>
        </p:nvSpPr>
        <p:spPr>
          <a:xfrm>
            <a:off x="768096" y="2706624"/>
            <a:ext cx="128016" cy="128016"/>
          </a:xfrm>
          <a:prstGeom prst="ellipse">
            <a:avLst/>
          </a:prstGeom>
          <a:solidFill>
            <a:srgbClr val="4F46E5"/>
          </a:solidFill>
          <a:ln/>
        </p:spPr>
        <p:txBody>
          <a:bodyPr/>
          <a:p/>
        </p:txBody>
      </p:sp>
      <p:sp>
        <p:nvSpPr>
          <p:cNvPr id="22" name="Text 20"/>
          <p:cNvSpPr/>
          <p:nvPr/>
        </p:nvSpPr>
        <p:spPr>
          <a:xfrm>
            <a:off x="1005840" y="25146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Forging</a:t>
            </a:r>
            <a:endParaRPr lang="en-US" sz="1050" dirty="0"/>
          </a:p>
        </p:txBody>
      </p:sp>
      <p:sp>
        <p:nvSpPr>
          <p:cNvPr id="23" name="Shape 21"/>
          <p:cNvSpPr/>
          <p:nvPr/>
        </p:nvSpPr>
        <p:spPr>
          <a:xfrm>
            <a:off x="4325112" y="2514600"/>
            <a:ext cx="3520440" cy="502920"/>
          </a:xfrm>
          <a:prstGeom prst="roundRect">
            <a:avLst>
              <a:gd name="adj" fmla="val 14545"/>
            </a:avLst>
          </a:prstGeom>
          <a:solidFill>
            <a:srgbClr val="F4F7FB"/>
          </a:solidFill>
          <a:ln w="9525">
            <a:solidFill>
              <a:srgbClr val="E4EAF2"/>
            </a:solidFill>
            <a:prstDash val="solid"/>
          </a:ln>
        </p:spPr>
        <p:txBody>
          <a:bodyPr/>
          <a:p/>
        </p:txBody>
      </p:sp>
      <p:sp>
        <p:nvSpPr>
          <p:cNvPr id="24" name="Shape 22"/>
          <p:cNvSpPr/>
          <p:nvPr/>
        </p:nvSpPr>
        <p:spPr>
          <a:xfrm>
            <a:off x="4544568" y="2706624"/>
            <a:ext cx="128016" cy="128016"/>
          </a:xfrm>
          <a:prstGeom prst="ellipse">
            <a:avLst/>
          </a:prstGeom>
          <a:solidFill>
            <a:srgbClr val="2E90FA"/>
          </a:solidFill>
          <a:ln/>
        </p:spPr>
        <p:txBody>
          <a:bodyPr/>
          <a:p/>
        </p:txBody>
      </p:sp>
      <p:sp>
        <p:nvSpPr>
          <p:cNvPr id="25" name="Text 23"/>
          <p:cNvSpPr/>
          <p:nvPr/>
        </p:nvSpPr>
        <p:spPr>
          <a:xfrm>
            <a:off x="4782312" y="25146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Sheet metal — pressed</a:t>
            </a:r>
            <a:endParaRPr lang="en-US" sz="1050" dirty="0"/>
          </a:p>
        </p:txBody>
      </p:sp>
      <p:sp>
        <p:nvSpPr>
          <p:cNvPr id="26" name="Shape 24"/>
          <p:cNvSpPr/>
          <p:nvPr/>
        </p:nvSpPr>
        <p:spPr>
          <a:xfrm>
            <a:off x="8101584" y="2514600"/>
            <a:ext cx="3520440" cy="502920"/>
          </a:xfrm>
          <a:prstGeom prst="roundRect">
            <a:avLst>
              <a:gd name="adj" fmla="val 14545"/>
            </a:avLst>
          </a:prstGeom>
          <a:solidFill>
            <a:srgbClr val="F3EEFE"/>
          </a:solidFill>
          <a:ln w="9525">
            <a:solidFill>
              <a:srgbClr val="E4EAF2"/>
            </a:solidFill>
            <a:prstDash val="solid"/>
          </a:ln>
        </p:spPr>
        <p:txBody>
          <a:bodyPr/>
          <a:p/>
        </p:txBody>
      </p:sp>
      <p:sp>
        <p:nvSpPr>
          <p:cNvPr id="27" name="Shape 25"/>
          <p:cNvSpPr/>
          <p:nvPr/>
        </p:nvSpPr>
        <p:spPr>
          <a:xfrm>
            <a:off x="8321040" y="2706624"/>
            <a:ext cx="128016" cy="128016"/>
          </a:xfrm>
          <a:prstGeom prst="ellipse">
            <a:avLst/>
          </a:prstGeom>
          <a:solidFill>
            <a:srgbClr val="7C3AED"/>
          </a:solidFill>
          <a:ln/>
        </p:spPr>
        <p:txBody>
          <a:bodyPr/>
          <a:p/>
        </p:txBody>
      </p:sp>
      <p:sp>
        <p:nvSpPr>
          <p:cNvPr id="28" name="Text 26"/>
          <p:cNvSpPr/>
          <p:nvPr/>
        </p:nvSpPr>
        <p:spPr>
          <a:xfrm>
            <a:off x="8558784" y="251460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Sheet-metal fabrication</a:t>
            </a:r>
            <a:endParaRPr lang="en-US" sz="1050" dirty="0"/>
          </a:p>
        </p:txBody>
      </p:sp>
      <p:sp>
        <p:nvSpPr>
          <p:cNvPr id="29" name="Shape 27"/>
          <p:cNvSpPr/>
          <p:nvPr/>
        </p:nvSpPr>
        <p:spPr>
          <a:xfrm>
            <a:off x="548640" y="3154680"/>
            <a:ext cx="3520440" cy="502920"/>
          </a:xfrm>
          <a:prstGeom prst="roundRect">
            <a:avLst>
              <a:gd name="adj" fmla="val 14545"/>
            </a:avLst>
          </a:prstGeom>
          <a:solidFill>
            <a:srgbClr val="E7F7F0"/>
          </a:solidFill>
          <a:ln w="9525">
            <a:solidFill>
              <a:srgbClr val="E4EAF2"/>
            </a:solidFill>
            <a:prstDash val="solid"/>
          </a:ln>
        </p:spPr>
        <p:txBody>
          <a:bodyPr/>
          <a:p/>
        </p:txBody>
      </p:sp>
      <p:sp>
        <p:nvSpPr>
          <p:cNvPr id="30" name="Shape 28"/>
          <p:cNvSpPr/>
          <p:nvPr/>
        </p:nvSpPr>
        <p:spPr>
          <a:xfrm>
            <a:off x="768096" y="3346704"/>
            <a:ext cx="128016" cy="128016"/>
          </a:xfrm>
          <a:prstGeom prst="ellipse">
            <a:avLst/>
          </a:prstGeom>
          <a:solidFill>
            <a:srgbClr val="0EA472"/>
          </a:solidFill>
          <a:ln/>
        </p:spPr>
        <p:txBody>
          <a:bodyPr/>
          <a:p/>
        </p:txBody>
      </p:sp>
      <p:sp>
        <p:nvSpPr>
          <p:cNvPr id="31" name="Text 29"/>
          <p:cNvSpPr/>
          <p:nvPr/>
        </p:nvSpPr>
        <p:spPr>
          <a:xfrm>
            <a:off x="1005840" y="31546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Injection moulding</a:t>
            </a:r>
            <a:endParaRPr lang="en-US" sz="1050" dirty="0"/>
          </a:p>
        </p:txBody>
      </p:sp>
      <p:sp>
        <p:nvSpPr>
          <p:cNvPr id="32" name="Shape 30"/>
          <p:cNvSpPr/>
          <p:nvPr/>
        </p:nvSpPr>
        <p:spPr>
          <a:xfrm>
            <a:off x="4325112" y="3154680"/>
            <a:ext cx="3520440" cy="502920"/>
          </a:xfrm>
          <a:prstGeom prst="roundRect">
            <a:avLst>
              <a:gd name="adj" fmla="val 14545"/>
            </a:avLst>
          </a:prstGeom>
          <a:solidFill>
            <a:srgbClr val="FEF6E7"/>
          </a:solidFill>
          <a:ln w="9525">
            <a:solidFill>
              <a:srgbClr val="E4EAF2"/>
            </a:solidFill>
            <a:prstDash val="solid"/>
          </a:ln>
        </p:spPr>
        <p:txBody>
          <a:bodyPr/>
          <a:p/>
        </p:txBody>
      </p:sp>
      <p:sp>
        <p:nvSpPr>
          <p:cNvPr id="33" name="Shape 31"/>
          <p:cNvSpPr/>
          <p:nvPr/>
        </p:nvSpPr>
        <p:spPr>
          <a:xfrm>
            <a:off x="4544568" y="3346704"/>
            <a:ext cx="128016" cy="128016"/>
          </a:xfrm>
          <a:prstGeom prst="ellipse">
            <a:avLst/>
          </a:prstGeom>
          <a:solidFill>
            <a:srgbClr val="E0900C"/>
          </a:solidFill>
          <a:ln/>
        </p:spPr>
        <p:txBody>
          <a:bodyPr/>
          <a:p/>
        </p:txBody>
      </p:sp>
      <p:sp>
        <p:nvSpPr>
          <p:cNvPr id="34" name="Text 32"/>
          <p:cNvSpPr/>
          <p:nvPr/>
        </p:nvSpPr>
        <p:spPr>
          <a:xfrm>
            <a:off x="4782312" y="31546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Blow moulding</a:t>
            </a:r>
            <a:endParaRPr lang="en-US" sz="1050" dirty="0"/>
          </a:p>
        </p:txBody>
      </p:sp>
      <p:sp>
        <p:nvSpPr>
          <p:cNvPr id="35" name="Shape 33"/>
          <p:cNvSpPr/>
          <p:nvPr/>
        </p:nvSpPr>
        <p:spPr>
          <a:xfrm>
            <a:off x="8101584" y="3154680"/>
            <a:ext cx="3520440" cy="502920"/>
          </a:xfrm>
          <a:prstGeom prst="roundRect">
            <a:avLst>
              <a:gd name="adj" fmla="val 14545"/>
            </a:avLst>
          </a:prstGeom>
          <a:solidFill>
            <a:srgbClr val="FDECEC"/>
          </a:solidFill>
          <a:ln w="9525">
            <a:solidFill>
              <a:srgbClr val="E4EAF2"/>
            </a:solidFill>
            <a:prstDash val="solid"/>
          </a:ln>
        </p:spPr>
        <p:txBody>
          <a:bodyPr/>
          <a:p/>
        </p:txBody>
      </p:sp>
      <p:sp>
        <p:nvSpPr>
          <p:cNvPr id="36" name="Shape 34"/>
          <p:cNvSpPr/>
          <p:nvPr/>
        </p:nvSpPr>
        <p:spPr>
          <a:xfrm>
            <a:off x="8321040" y="3346704"/>
            <a:ext cx="128016" cy="128016"/>
          </a:xfrm>
          <a:prstGeom prst="ellipse">
            <a:avLst/>
          </a:prstGeom>
          <a:solidFill>
            <a:srgbClr val="E5484D"/>
          </a:solidFill>
          <a:ln/>
        </p:spPr>
        <p:txBody>
          <a:bodyPr/>
          <a:p/>
        </p:txBody>
      </p:sp>
      <p:sp>
        <p:nvSpPr>
          <p:cNvPr id="37" name="Text 35"/>
          <p:cNvSpPr/>
          <p:nvPr/>
        </p:nvSpPr>
        <p:spPr>
          <a:xfrm>
            <a:off x="8558784" y="315468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Thermoforming</a:t>
            </a:r>
            <a:endParaRPr lang="en-US" sz="1050" dirty="0"/>
          </a:p>
        </p:txBody>
      </p:sp>
      <p:sp>
        <p:nvSpPr>
          <p:cNvPr id="38" name="Shape 36"/>
          <p:cNvSpPr/>
          <p:nvPr/>
        </p:nvSpPr>
        <p:spPr>
          <a:xfrm>
            <a:off x="548640" y="3794760"/>
            <a:ext cx="3520440" cy="502920"/>
          </a:xfrm>
          <a:prstGeom prst="roundRect">
            <a:avLst>
              <a:gd name="adj" fmla="val 14545"/>
            </a:avLst>
          </a:prstGeom>
          <a:solidFill>
            <a:srgbClr val="EAF1FE"/>
          </a:solidFill>
          <a:ln w="9525">
            <a:solidFill>
              <a:srgbClr val="E4EAF2"/>
            </a:solidFill>
            <a:prstDash val="solid"/>
          </a:ln>
        </p:spPr>
        <p:txBody>
          <a:bodyPr/>
          <a:p/>
        </p:txBody>
      </p:sp>
      <p:sp>
        <p:nvSpPr>
          <p:cNvPr id="39" name="Shape 37"/>
          <p:cNvSpPr/>
          <p:nvPr/>
        </p:nvSpPr>
        <p:spPr>
          <a:xfrm>
            <a:off x="768096" y="3986784"/>
            <a:ext cx="128016" cy="128016"/>
          </a:xfrm>
          <a:prstGeom prst="ellipse">
            <a:avLst/>
          </a:prstGeom>
          <a:solidFill>
            <a:srgbClr val="2563EB"/>
          </a:solidFill>
          <a:ln/>
        </p:spPr>
        <p:txBody>
          <a:bodyPr/>
          <a:p/>
        </p:txBody>
      </p:sp>
      <p:sp>
        <p:nvSpPr>
          <p:cNvPr id="40" name="Text 38"/>
          <p:cNvSpPr/>
          <p:nvPr/>
        </p:nvSpPr>
        <p:spPr>
          <a:xfrm>
            <a:off x="1005840" y="37947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Rotational moulding</a:t>
            </a:r>
            <a:endParaRPr lang="en-US" sz="1050" dirty="0"/>
          </a:p>
        </p:txBody>
      </p:sp>
      <p:sp>
        <p:nvSpPr>
          <p:cNvPr id="41" name="Shape 39"/>
          <p:cNvSpPr/>
          <p:nvPr/>
        </p:nvSpPr>
        <p:spPr>
          <a:xfrm>
            <a:off x="4325112" y="3794760"/>
            <a:ext cx="3520440" cy="502920"/>
          </a:xfrm>
          <a:prstGeom prst="roundRect">
            <a:avLst>
              <a:gd name="adj" fmla="val 14545"/>
            </a:avLst>
          </a:prstGeom>
          <a:solidFill>
            <a:srgbClr val="E8F6FA"/>
          </a:solidFill>
          <a:ln w="9525">
            <a:solidFill>
              <a:srgbClr val="E4EAF2"/>
            </a:solidFill>
            <a:prstDash val="solid"/>
          </a:ln>
        </p:spPr>
        <p:txBody>
          <a:bodyPr/>
          <a:p/>
        </p:txBody>
      </p:sp>
      <p:sp>
        <p:nvSpPr>
          <p:cNvPr id="42" name="Shape 40"/>
          <p:cNvSpPr/>
          <p:nvPr/>
        </p:nvSpPr>
        <p:spPr>
          <a:xfrm>
            <a:off x="4544568" y="3986784"/>
            <a:ext cx="128016" cy="128016"/>
          </a:xfrm>
          <a:prstGeom prst="ellipse">
            <a:avLst/>
          </a:prstGeom>
          <a:solidFill>
            <a:srgbClr val="0E93B0"/>
          </a:solidFill>
          <a:ln/>
        </p:spPr>
        <p:txBody>
          <a:bodyPr/>
          <a:p/>
        </p:txBody>
      </p:sp>
      <p:sp>
        <p:nvSpPr>
          <p:cNvPr id="43" name="Text 41"/>
          <p:cNvSpPr/>
          <p:nvPr/>
        </p:nvSpPr>
        <p:spPr>
          <a:xfrm>
            <a:off x="4782312" y="37947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Rubber &amp; elastomers</a:t>
            </a:r>
            <a:endParaRPr lang="en-US" sz="1050" dirty="0"/>
          </a:p>
        </p:txBody>
      </p:sp>
      <p:sp>
        <p:nvSpPr>
          <p:cNvPr id="44" name="Shape 42"/>
          <p:cNvSpPr/>
          <p:nvPr/>
        </p:nvSpPr>
        <p:spPr>
          <a:xfrm>
            <a:off x="8101584" y="3794760"/>
            <a:ext cx="3520440" cy="502920"/>
          </a:xfrm>
          <a:prstGeom prst="roundRect">
            <a:avLst>
              <a:gd name="adj" fmla="val 14545"/>
            </a:avLst>
          </a:prstGeom>
          <a:solidFill>
            <a:srgbClr val="E7F7F0"/>
          </a:solidFill>
          <a:ln w="9525">
            <a:solidFill>
              <a:srgbClr val="E4EAF2"/>
            </a:solidFill>
            <a:prstDash val="solid"/>
          </a:ln>
        </p:spPr>
        <p:txBody>
          <a:bodyPr/>
          <a:p/>
        </p:txBody>
      </p:sp>
      <p:sp>
        <p:nvSpPr>
          <p:cNvPr id="45" name="Shape 43"/>
          <p:cNvSpPr/>
          <p:nvPr/>
        </p:nvSpPr>
        <p:spPr>
          <a:xfrm>
            <a:off x="8321040" y="3986784"/>
            <a:ext cx="128016" cy="128016"/>
          </a:xfrm>
          <a:prstGeom prst="ellipse">
            <a:avLst/>
          </a:prstGeom>
          <a:solidFill>
            <a:srgbClr val="0DA5A0"/>
          </a:solidFill>
          <a:ln/>
        </p:spPr>
        <p:txBody>
          <a:bodyPr/>
          <a:p/>
        </p:txBody>
      </p:sp>
      <p:sp>
        <p:nvSpPr>
          <p:cNvPr id="46" name="Text 44"/>
          <p:cNvSpPr/>
          <p:nvPr/>
        </p:nvSpPr>
        <p:spPr>
          <a:xfrm>
            <a:off x="8558784" y="379476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Composites</a:t>
            </a:r>
            <a:endParaRPr lang="en-US" sz="1050" dirty="0"/>
          </a:p>
        </p:txBody>
      </p:sp>
      <p:sp>
        <p:nvSpPr>
          <p:cNvPr id="47" name="Shape 45"/>
          <p:cNvSpPr/>
          <p:nvPr/>
        </p:nvSpPr>
        <p:spPr>
          <a:xfrm>
            <a:off x="548640" y="4434840"/>
            <a:ext cx="3520440" cy="502920"/>
          </a:xfrm>
          <a:prstGeom prst="roundRect">
            <a:avLst>
              <a:gd name="adj" fmla="val 14545"/>
            </a:avLst>
          </a:prstGeom>
          <a:solidFill>
            <a:srgbClr val="EAF1FE"/>
          </a:solidFill>
          <a:ln w="9525">
            <a:solidFill>
              <a:srgbClr val="E4EAF2"/>
            </a:solidFill>
            <a:prstDash val="solid"/>
          </a:ln>
        </p:spPr>
        <p:txBody>
          <a:bodyPr/>
          <a:p/>
        </p:txBody>
      </p:sp>
      <p:sp>
        <p:nvSpPr>
          <p:cNvPr id="48" name="Shape 46"/>
          <p:cNvSpPr/>
          <p:nvPr/>
        </p:nvSpPr>
        <p:spPr>
          <a:xfrm>
            <a:off x="768096" y="4626864"/>
            <a:ext cx="128016" cy="128016"/>
          </a:xfrm>
          <a:prstGeom prst="ellipse">
            <a:avLst/>
          </a:prstGeom>
          <a:solidFill>
            <a:srgbClr val="4F46E5"/>
          </a:solidFill>
          <a:ln/>
        </p:spPr>
        <p:txBody>
          <a:bodyPr/>
          <a:p/>
        </p:txBody>
      </p:sp>
      <p:sp>
        <p:nvSpPr>
          <p:cNvPr id="49" name="Text 47"/>
          <p:cNvSpPr/>
          <p:nvPr/>
        </p:nvSpPr>
        <p:spPr>
          <a:xfrm>
            <a:off x="1005840" y="44348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Extrusion</a:t>
            </a:r>
            <a:endParaRPr lang="en-US" sz="1050" dirty="0"/>
          </a:p>
        </p:txBody>
      </p:sp>
      <p:sp>
        <p:nvSpPr>
          <p:cNvPr id="50" name="Shape 48"/>
          <p:cNvSpPr/>
          <p:nvPr/>
        </p:nvSpPr>
        <p:spPr>
          <a:xfrm>
            <a:off x="4325112" y="4434840"/>
            <a:ext cx="3520440" cy="502920"/>
          </a:xfrm>
          <a:prstGeom prst="roundRect">
            <a:avLst>
              <a:gd name="adj" fmla="val 14545"/>
            </a:avLst>
          </a:prstGeom>
          <a:solidFill>
            <a:srgbClr val="F4F7FB"/>
          </a:solidFill>
          <a:ln w="9525">
            <a:solidFill>
              <a:srgbClr val="E4EAF2"/>
            </a:solidFill>
            <a:prstDash val="solid"/>
          </a:ln>
        </p:spPr>
        <p:txBody>
          <a:bodyPr/>
          <a:p/>
        </p:txBody>
      </p:sp>
      <p:sp>
        <p:nvSpPr>
          <p:cNvPr id="51" name="Shape 49"/>
          <p:cNvSpPr/>
          <p:nvPr/>
        </p:nvSpPr>
        <p:spPr>
          <a:xfrm>
            <a:off x="4544568" y="4626864"/>
            <a:ext cx="128016" cy="128016"/>
          </a:xfrm>
          <a:prstGeom prst="ellipse">
            <a:avLst/>
          </a:prstGeom>
          <a:solidFill>
            <a:srgbClr val="2E90FA"/>
          </a:solidFill>
          <a:ln/>
        </p:spPr>
        <p:txBody>
          <a:bodyPr/>
          <a:p/>
        </p:txBody>
      </p:sp>
      <p:sp>
        <p:nvSpPr>
          <p:cNvPr id="52" name="Text 50"/>
          <p:cNvSpPr/>
          <p:nvPr/>
        </p:nvSpPr>
        <p:spPr>
          <a:xfrm>
            <a:off x="4782312" y="44348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Wiring harness</a:t>
            </a:r>
            <a:endParaRPr lang="en-US" sz="1050" dirty="0"/>
          </a:p>
        </p:txBody>
      </p:sp>
      <p:sp>
        <p:nvSpPr>
          <p:cNvPr id="53" name="Shape 51"/>
          <p:cNvSpPr/>
          <p:nvPr/>
        </p:nvSpPr>
        <p:spPr>
          <a:xfrm>
            <a:off x="8101584" y="4434840"/>
            <a:ext cx="3520440" cy="502920"/>
          </a:xfrm>
          <a:prstGeom prst="roundRect">
            <a:avLst>
              <a:gd name="adj" fmla="val 14545"/>
            </a:avLst>
          </a:prstGeom>
          <a:solidFill>
            <a:srgbClr val="F3EEFE"/>
          </a:solidFill>
          <a:ln w="9525">
            <a:solidFill>
              <a:srgbClr val="E4EAF2"/>
            </a:solidFill>
            <a:prstDash val="solid"/>
          </a:ln>
        </p:spPr>
        <p:txBody>
          <a:bodyPr/>
          <a:p/>
        </p:txBody>
      </p:sp>
      <p:sp>
        <p:nvSpPr>
          <p:cNvPr id="54" name="Shape 52"/>
          <p:cNvSpPr/>
          <p:nvPr/>
        </p:nvSpPr>
        <p:spPr>
          <a:xfrm>
            <a:off x="8321040" y="4626864"/>
            <a:ext cx="128016" cy="128016"/>
          </a:xfrm>
          <a:prstGeom prst="ellipse">
            <a:avLst/>
          </a:prstGeom>
          <a:solidFill>
            <a:srgbClr val="7C3AED"/>
          </a:solidFill>
          <a:ln/>
        </p:spPr>
        <p:txBody>
          <a:bodyPr/>
          <a:p/>
        </p:txBody>
      </p:sp>
      <p:sp>
        <p:nvSpPr>
          <p:cNvPr id="55" name="Text 53"/>
          <p:cNvSpPr/>
          <p:nvPr/>
        </p:nvSpPr>
        <p:spPr>
          <a:xfrm>
            <a:off x="8558784" y="443484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PCB fabrication</a:t>
            </a:r>
            <a:endParaRPr lang="en-US" sz="1050" dirty="0"/>
          </a:p>
        </p:txBody>
      </p:sp>
      <p:sp>
        <p:nvSpPr>
          <p:cNvPr id="56" name="Shape 54"/>
          <p:cNvSpPr/>
          <p:nvPr/>
        </p:nvSpPr>
        <p:spPr>
          <a:xfrm>
            <a:off x="548640" y="5074920"/>
            <a:ext cx="3520440" cy="502920"/>
          </a:xfrm>
          <a:prstGeom prst="roundRect">
            <a:avLst>
              <a:gd name="adj" fmla="val 14545"/>
            </a:avLst>
          </a:prstGeom>
          <a:solidFill>
            <a:srgbClr val="E7F7F0"/>
          </a:solidFill>
          <a:ln w="9525">
            <a:solidFill>
              <a:srgbClr val="E4EAF2"/>
            </a:solidFill>
            <a:prstDash val="solid"/>
          </a:ln>
        </p:spPr>
        <p:txBody>
          <a:bodyPr/>
          <a:p/>
        </p:txBody>
      </p:sp>
      <p:sp>
        <p:nvSpPr>
          <p:cNvPr id="57" name="Shape 55"/>
          <p:cNvSpPr/>
          <p:nvPr/>
        </p:nvSpPr>
        <p:spPr>
          <a:xfrm>
            <a:off x="768096" y="5266944"/>
            <a:ext cx="128016" cy="128016"/>
          </a:xfrm>
          <a:prstGeom prst="ellipse">
            <a:avLst/>
          </a:prstGeom>
          <a:solidFill>
            <a:srgbClr val="0EA472"/>
          </a:solidFill>
          <a:ln/>
        </p:spPr>
        <p:txBody>
          <a:bodyPr/>
          <a:p/>
        </p:txBody>
      </p:sp>
      <p:sp>
        <p:nvSpPr>
          <p:cNvPr id="58" name="Text 56"/>
          <p:cNvSpPr/>
          <p:nvPr/>
        </p:nvSpPr>
        <p:spPr>
          <a:xfrm>
            <a:off x="1005840" y="50749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PCBA — electronics assembly</a:t>
            </a:r>
            <a:endParaRPr lang="en-US" sz="1050" dirty="0"/>
          </a:p>
        </p:txBody>
      </p:sp>
      <p:sp>
        <p:nvSpPr>
          <p:cNvPr id="59" name="Shape 57"/>
          <p:cNvSpPr/>
          <p:nvPr/>
        </p:nvSpPr>
        <p:spPr>
          <a:xfrm>
            <a:off x="4325112" y="5074920"/>
            <a:ext cx="3520440" cy="502920"/>
          </a:xfrm>
          <a:prstGeom prst="roundRect">
            <a:avLst>
              <a:gd name="adj" fmla="val 14545"/>
            </a:avLst>
          </a:prstGeom>
          <a:solidFill>
            <a:srgbClr val="FEF6E7"/>
          </a:solidFill>
          <a:ln w="9525">
            <a:solidFill>
              <a:srgbClr val="E4EAF2"/>
            </a:solidFill>
            <a:prstDash val="solid"/>
          </a:ln>
        </p:spPr>
        <p:txBody>
          <a:bodyPr/>
          <a:p/>
        </p:txBody>
      </p:sp>
      <p:sp>
        <p:nvSpPr>
          <p:cNvPr id="60" name="Shape 58"/>
          <p:cNvSpPr/>
          <p:nvPr/>
        </p:nvSpPr>
        <p:spPr>
          <a:xfrm>
            <a:off x="4544568" y="5266944"/>
            <a:ext cx="128016" cy="128016"/>
          </a:xfrm>
          <a:prstGeom prst="ellipse">
            <a:avLst/>
          </a:prstGeom>
          <a:solidFill>
            <a:srgbClr val="E0900C"/>
          </a:solidFill>
          <a:ln/>
        </p:spPr>
        <p:txBody>
          <a:bodyPr/>
          <a:p/>
        </p:txBody>
      </p:sp>
      <p:sp>
        <p:nvSpPr>
          <p:cNvPr id="61" name="Text 59"/>
          <p:cNvSpPr/>
          <p:nvPr/>
        </p:nvSpPr>
        <p:spPr>
          <a:xfrm>
            <a:off x="4782312" y="50749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Painting</a:t>
            </a:r>
            <a:endParaRPr lang="en-US" sz="1050" dirty="0"/>
          </a:p>
        </p:txBody>
      </p:sp>
      <p:sp>
        <p:nvSpPr>
          <p:cNvPr id="62" name="Shape 60"/>
          <p:cNvSpPr/>
          <p:nvPr/>
        </p:nvSpPr>
        <p:spPr>
          <a:xfrm>
            <a:off x="8101584" y="5074920"/>
            <a:ext cx="3520440" cy="502920"/>
          </a:xfrm>
          <a:prstGeom prst="roundRect">
            <a:avLst>
              <a:gd name="adj" fmla="val 14545"/>
            </a:avLst>
          </a:prstGeom>
          <a:solidFill>
            <a:srgbClr val="FDECEC"/>
          </a:solidFill>
          <a:ln w="9525">
            <a:solidFill>
              <a:srgbClr val="E4EAF2"/>
            </a:solidFill>
            <a:prstDash val="solid"/>
          </a:ln>
        </p:spPr>
        <p:txBody>
          <a:bodyPr/>
          <a:p/>
        </p:txBody>
      </p:sp>
      <p:sp>
        <p:nvSpPr>
          <p:cNvPr id="63" name="Shape 61"/>
          <p:cNvSpPr/>
          <p:nvPr/>
        </p:nvSpPr>
        <p:spPr>
          <a:xfrm>
            <a:off x="8321040" y="5266944"/>
            <a:ext cx="128016" cy="128016"/>
          </a:xfrm>
          <a:prstGeom prst="ellipse">
            <a:avLst/>
          </a:prstGeom>
          <a:solidFill>
            <a:srgbClr val="E5484D"/>
          </a:solidFill>
          <a:ln/>
        </p:spPr>
        <p:txBody>
          <a:bodyPr/>
          <a:p/>
        </p:txBody>
      </p:sp>
      <p:sp>
        <p:nvSpPr>
          <p:cNvPr id="64" name="Text 62"/>
          <p:cNvSpPr/>
          <p:nvPr/>
        </p:nvSpPr>
        <p:spPr>
          <a:xfrm>
            <a:off x="8558784" y="5074920"/>
            <a:ext cx="2926080" cy="502920"/>
          </a:xfrm>
          <a:prstGeom prst="rect">
            <a:avLst/>
          </a:prstGeom>
          <a:noFill/>
          <a:ln/>
        </p:spPr>
        <p:txBody>
          <a:bodyPr wrap="square" lIns="0" tIns="0" rIns="0" bIns="0" rtlCol="0" anchor="ctr"/>
          <a:lstStyle/>
          <a:p>
            <a:pPr indent="0" marL="0">
              <a:buNone/>
            </a:pPr>
            <a:r>
              <a:rPr lang="en-US" sz="1050" b="1" dirty="0">
                <a:solidFill>
                  <a:srgbClr val="0F1E3D"/>
                </a:solidFill>
                <a:latin typeface="Calibri" pitchFamily="34" charset="0"/>
                <a:ea typeface="Calibri" pitchFamily="34" charset="-122"/>
                <a:cs typeface="Calibri" pitchFamily="34" charset="-120"/>
              </a:rPr>
              <a:t>Body-in-white assembly</a:t>
            </a:r>
            <a:endParaRPr lang="en-US" sz="1050" dirty="0"/>
          </a:p>
        </p:txBody>
      </p:sp>
      <p:sp>
        <p:nvSpPr>
          <p:cNvPr id="65" name="Shape 63"/>
          <p:cNvSpPr/>
          <p:nvPr/>
        </p:nvSpPr>
        <p:spPr>
          <a:xfrm>
            <a:off x="548640" y="5742432"/>
            <a:ext cx="11091672" cy="548640"/>
          </a:xfrm>
          <a:prstGeom prst="roundRect">
            <a:avLst>
              <a:gd name="adj" fmla="val 11667"/>
            </a:avLst>
          </a:prstGeom>
          <a:solidFill>
            <a:srgbClr val="F4F7FB"/>
          </a:solidFill>
          <a:ln w="12700">
            <a:solidFill>
              <a:srgbClr val="E4EAF2"/>
            </a:solidFill>
            <a:prstDash val="solid"/>
          </a:ln>
        </p:spPr>
        <p:txBody>
          <a:bodyPr/>
          <a:p/>
        </p:txBody>
      </p:sp>
      <p:sp>
        <p:nvSpPr>
          <p:cNvPr id="66" name="Shape 64"/>
          <p:cNvSpPr/>
          <p:nvPr/>
        </p:nvSpPr>
        <p:spPr>
          <a:xfrm>
            <a:off x="548640" y="5742432"/>
            <a:ext cx="82296" cy="548640"/>
          </a:xfrm>
          <a:prstGeom prst="rect">
            <a:avLst/>
          </a:prstGeom>
          <a:solidFill>
            <a:srgbClr val="E0900C"/>
          </a:solidFill>
          <a:ln/>
        </p:spPr>
        <p:txBody>
          <a:bodyPr/>
          <a:p/>
        </p:txBody>
      </p:sp>
      <p:sp>
        <p:nvSpPr>
          <p:cNvPr id="67" name="Text 65"/>
          <p:cNvSpPr/>
          <p:nvPr/>
        </p:nvSpPr>
        <p:spPr>
          <a:xfrm>
            <a:off x="914400" y="5742432"/>
            <a:ext cx="10332720" cy="548640"/>
          </a:xfrm>
          <a:prstGeom prst="rect">
            <a:avLst/>
          </a:prstGeom>
          <a:noFill/>
          <a:ln/>
        </p:spPr>
        <p:txBody>
          <a:bodyPr wrap="square" lIns="0" tIns="0" rIns="0" bIns="0" rtlCol="0" anchor="ctr"/>
          <a:lstStyle/>
          <a:p>
            <a:pPr indent="0" marL="0">
              <a:lnSpc>
                <a:spcPct val="105000"/>
              </a:lnSpc>
              <a:buNone/>
            </a:pPr>
            <a:r>
              <a:rPr lang="en-US" sz="1150" b="1" dirty="0">
                <a:solidFill>
                  <a:srgbClr val="0F1E3D"/>
                </a:solidFill>
                <a:latin typeface="Calibri" pitchFamily="34" charset="0"/>
                <a:ea typeface="Calibri" pitchFamily="34" charset="-122"/>
                <a:cs typeface="Calibri" pitchFamily="34" charset="-120"/>
              </a:rPr>
              <a:t>One method under all of them:  </a:t>
            </a:r>
            <a:pPr indent="0" marL="0">
              <a:lnSpc>
                <a:spcPct val="105000"/>
              </a:lnSpc>
              <a:buNone/>
            </a:pPr>
            <a:r>
              <a:rPr lang="en-US" sz="1150" dirty="0">
                <a:solidFill>
                  <a:srgbClr val="3E4C63"/>
                </a:solidFill>
                <a:latin typeface="Calibri" pitchFamily="34" charset="0"/>
                <a:ea typeface="Calibri" pitchFamily="34" charset="-122"/>
                <a:cs typeface="Calibri" pitchFamily="34" charset="-120"/>
              </a:rPr>
              <a:t>the same 8-bucket cost stack (material → margin). Plus an assembly roll-up and a software cost model. Every part then prices across 20 regions.</a:t>
            </a:r>
            <a:endParaRPr lang="en-US" sz="1150" dirty="0"/>
          </a:p>
        </p:txBody>
      </p:sp>
      <p:sp>
        <p:nvSpPr>
          <p:cNvPr id="68" name="Shape 66"/>
          <p:cNvSpPr/>
          <p:nvPr/>
        </p:nvSpPr>
        <p:spPr>
          <a:xfrm>
            <a:off x="548640" y="6400800"/>
            <a:ext cx="11094415" cy="12802"/>
          </a:xfrm>
          <a:prstGeom prst="rect">
            <a:avLst/>
          </a:prstGeom>
          <a:solidFill>
            <a:srgbClr val="E4EAF2"/>
          </a:solidFill>
          <a:ln/>
        </p:spPr>
        <p:txBody>
          <a:bodyPr/>
          <a:p/>
        </p:txBody>
      </p:sp>
      <p:sp>
        <p:nvSpPr>
          <p:cNvPr id="69" name="Text 6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0" name="Text 6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15 / 33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globe-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txBody>
          <a:bodyPr/>
          <a:p/>
        </p:txBody>
      </p:sp>
      <p:sp>
        <p:nvSpPr>
          <p:cNvPr id="5" name="Shape 2"/>
          <p:cNvSpPr/>
          <p:nvPr/>
        </p:nvSpPr>
        <p:spPr>
          <a:xfrm>
            <a:off x="0" y="3931920"/>
            <a:ext cx="12191695" cy="2926080"/>
          </a:xfrm>
          <a:prstGeom prst="rect">
            <a:avLst/>
          </a:prstGeom>
          <a:solidFill>
            <a:srgbClr val="061024">
              <a:alpha val="80000"/>
            </a:srgbClr>
          </a:solidFill>
          <a:ln/>
        </p:spPr>
        <p:txBody>
          <a:bodyPr/>
          <a:p/>
        </p:txBody>
      </p:sp>
      <p:sp>
        <p:nvSpPr>
          <p:cNvPr id="6" name="Shape 3"/>
          <p:cNvSpPr/>
          <p:nvPr/>
        </p:nvSpPr>
        <p:spPr>
          <a:xfrm>
            <a:off x="0" y="0"/>
            <a:ext cx="146304" cy="6858000"/>
          </a:xfrm>
          <a:prstGeom prst="rect">
            <a:avLst/>
          </a:prstGeom>
          <a:solidFill>
            <a:srgbClr val="0DA5A0"/>
          </a:solidFill>
          <a:ln/>
        </p:spPr>
        <p:txBody>
          <a:bodyPr/>
          <a:p/>
        </p:txBody>
      </p:sp>
      <p:sp>
        <p:nvSpPr>
          <p:cNvPr id="7" name="Shape 4"/>
          <p:cNvSpPr/>
          <p:nvPr/>
        </p:nvSpPr>
        <p:spPr>
          <a:xfrm>
            <a:off x="0" y="6729984"/>
            <a:ext cx="12191695" cy="128016"/>
          </a:xfrm>
          <a:prstGeom prst="rect">
            <a:avLst/>
          </a:prstGeom>
          <a:solidFill>
            <a:srgbClr val="0DA5A0"/>
          </a:solidFill>
          <a:ln/>
        </p:spPr>
        <p:txBody>
          <a:bodyPr/>
          <a:p/>
        </p:txBody>
      </p:sp>
      <p:sp>
        <p:nvSpPr>
          <p:cNvPr id="8" name="Shape 5"/>
          <p:cNvSpPr/>
          <p:nvPr/>
        </p:nvSpPr>
        <p:spPr>
          <a:xfrm>
            <a:off x="548640" y="457200"/>
            <a:ext cx="402336" cy="402336"/>
          </a:xfrm>
          <a:prstGeom prst="roundRect">
            <a:avLst>
              <a:gd name="adj" fmla="val 22727"/>
            </a:avLst>
          </a:prstGeom>
          <a:solidFill>
            <a:srgbClr val="4F46E5"/>
          </a:solidFill>
          <a:ln/>
        </p:spPr>
        <p:txBody>
          <a:bodyPr/>
          <a:p/>
        </p:txBody>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0DA5A0"/>
          </a:solidFill>
          <a:ln/>
        </p:spPr>
        <p:txBody>
          <a:bodyPr/>
          <a:p/>
        </p:txBody>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DEEP DIVE · SHOULD-COST MODEL</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Global should-cost</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16 / 33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Global should-cost — how the country model works</a:t>
            </a:r>
            <a:endParaRPr lang="en-US" sz="2400" dirty="0"/>
          </a:p>
        </p:txBody>
      </p:sp>
      <p:sp>
        <p:nvSpPr>
          <p:cNvPr id="9" name="Shape 7"/>
          <p:cNvSpPr/>
          <p:nvPr/>
        </p:nvSpPr>
        <p:spPr>
          <a:xfrm>
            <a:off x="548640" y="1371600"/>
            <a:ext cx="1051560" cy="45720"/>
          </a:xfrm>
          <a:prstGeom prst="rect">
            <a:avLst/>
          </a:prstGeom>
          <a:solidFill>
            <a:srgbClr val="0DA5A0"/>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One base cost, re-priced with each region's rates — fixed arithmetic, open to inspection. No AI in the money.</a:t>
            </a:r>
            <a:endParaRPr lang="en-US" sz="1250" dirty="0"/>
          </a:p>
        </p:txBody>
      </p:sp>
      <p:sp>
        <p:nvSpPr>
          <p:cNvPr id="11" name="Shape 9"/>
          <p:cNvSpPr/>
          <p:nvPr/>
        </p:nvSpPr>
        <p:spPr>
          <a:xfrm>
            <a:off x="548640"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3.819724096706992e+148" dist="1.0913497419162833e+148" dir="9.282982318641485e+173">
              <a:srgbClr val="9DB0CC">
                <a:alpha val="2.2000000000000003e+179"/>
              </a:srgbClr>
            </a:outerShdw>
          </a:effectLst>
        </p:spPr>
        <p:txBody>
          <a:bodyPr/>
          <a:p/>
        </p:txBody>
      </p:sp>
      <p:sp>
        <p:nvSpPr>
          <p:cNvPr id="12" name="Shape 10"/>
          <p:cNvSpPr/>
          <p:nvPr/>
        </p:nvSpPr>
        <p:spPr>
          <a:xfrm>
            <a:off x="548640" y="2057400"/>
            <a:ext cx="2487168" cy="82296"/>
          </a:xfrm>
          <a:prstGeom prst="rect">
            <a:avLst/>
          </a:prstGeom>
          <a:solidFill>
            <a:srgbClr val="2563EB"/>
          </a:solidFill>
          <a:ln/>
        </p:spPr>
        <p:txBody>
          <a:bodyPr/>
          <a:p/>
        </p:txBody>
      </p:sp>
      <p:sp>
        <p:nvSpPr>
          <p:cNvPr id="13" name="Shape 11"/>
          <p:cNvSpPr/>
          <p:nvPr/>
        </p:nvSpPr>
        <p:spPr>
          <a:xfrm>
            <a:off x="1536192" y="2258568"/>
            <a:ext cx="512064" cy="512064"/>
          </a:xfrm>
          <a:prstGeom prst="ellipse">
            <a:avLst/>
          </a:prstGeom>
          <a:solidFill>
            <a:srgbClr val="EAF1FE"/>
          </a:solidFill>
          <a:ln/>
        </p:spPr>
        <p:txBody>
          <a:bodyPr/>
          <a:p/>
        </p:txBody>
      </p:sp>
      <p:sp>
        <p:nvSpPr>
          <p:cNvPr id="14" name="Text 12"/>
          <p:cNvSpPr/>
          <p:nvPr/>
        </p:nvSpPr>
        <p:spPr>
          <a:xfrm>
            <a:off x="1536192" y="224942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640080"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Base part cost</a:t>
            </a:r>
            <a:endParaRPr lang="en-US" sz="1200" dirty="0"/>
          </a:p>
        </p:txBody>
      </p:sp>
      <p:sp>
        <p:nvSpPr>
          <p:cNvPr id="16" name="Text 14"/>
          <p:cNvSpPr/>
          <p:nvPr/>
        </p:nvSpPr>
        <p:spPr>
          <a:xfrm>
            <a:off x="658368"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8-bucket, from CAD or a process form</a:t>
            </a:r>
            <a:endParaRPr lang="en-US" sz="860" dirty="0"/>
          </a:p>
        </p:txBody>
      </p:sp>
      <p:sp>
        <p:nvSpPr>
          <p:cNvPr id="17" name="Shape 15"/>
          <p:cNvSpPr/>
          <p:nvPr/>
        </p:nvSpPr>
        <p:spPr>
          <a:xfrm>
            <a:off x="3063240" y="2743200"/>
            <a:ext cx="265176" cy="0"/>
          </a:xfrm>
          <a:prstGeom prst="line">
            <a:avLst/>
          </a:prstGeom>
          <a:noFill/>
          <a:ln w="22225">
            <a:solidFill>
              <a:srgbClr val="D4DEEC"/>
            </a:solidFill>
            <a:prstDash val="solid"/>
            <a:headEnd type="none"/>
            <a:tailEnd type="triangle"/>
          </a:ln>
        </p:spPr>
        <p:txBody>
          <a:bodyPr/>
          <a:p/>
        </p:txBody>
      </p:sp>
      <p:sp>
        <p:nvSpPr>
          <p:cNvPr id="18" name="Shape 16"/>
          <p:cNvSpPr/>
          <p:nvPr/>
        </p:nvSpPr>
        <p:spPr>
          <a:xfrm>
            <a:off x="3355848"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4.85104960281788e+152" dist="1.38601417223368e+152" dir="5.569789391184891e+178">
              <a:srgbClr val="9DB0CC">
                <a:alpha val="2.2000000000000004e+184"/>
              </a:srgbClr>
            </a:outerShdw>
          </a:effectLst>
        </p:spPr>
        <p:txBody>
          <a:bodyPr/>
          <a:p/>
        </p:txBody>
      </p:sp>
      <p:sp>
        <p:nvSpPr>
          <p:cNvPr id="19" name="Shape 17"/>
          <p:cNvSpPr/>
          <p:nvPr/>
        </p:nvSpPr>
        <p:spPr>
          <a:xfrm>
            <a:off x="3355848" y="2057400"/>
            <a:ext cx="2487168" cy="82296"/>
          </a:xfrm>
          <a:prstGeom prst="rect">
            <a:avLst/>
          </a:prstGeom>
          <a:solidFill>
            <a:srgbClr val="0DA5A0"/>
          </a:solidFill>
          <a:ln/>
        </p:spPr>
        <p:txBody>
          <a:bodyPr/>
          <a:p/>
        </p:txBody>
      </p:sp>
      <p:sp>
        <p:nvSpPr>
          <p:cNvPr id="20" name="Shape 18"/>
          <p:cNvSpPr/>
          <p:nvPr/>
        </p:nvSpPr>
        <p:spPr>
          <a:xfrm>
            <a:off x="4343400" y="2258568"/>
            <a:ext cx="512064" cy="512064"/>
          </a:xfrm>
          <a:prstGeom prst="ellipse">
            <a:avLst/>
          </a:prstGeom>
          <a:solidFill>
            <a:srgbClr val="E7F7F0"/>
          </a:solidFill>
          <a:ln/>
        </p:spPr>
        <p:txBody>
          <a:bodyPr/>
          <a:p/>
        </p:txBody>
      </p:sp>
      <p:sp>
        <p:nvSpPr>
          <p:cNvPr id="21" name="Text 19"/>
          <p:cNvSpPr/>
          <p:nvPr/>
        </p:nvSpPr>
        <p:spPr>
          <a:xfrm>
            <a:off x="4343400" y="2249424"/>
            <a:ext cx="512064" cy="512064"/>
          </a:xfrm>
          <a:prstGeom prst="rect">
            <a:avLst/>
          </a:prstGeom>
          <a:noFill/>
          <a:ln/>
        </p:spPr>
        <p:txBody>
          <a:bodyPr wrap="square" lIns="0" tIns="0" rIns="0" bIns="0" rtlCol="0" anchor="ctr"/>
          <a:lstStyle/>
          <a:p>
            <a:pPr algn="ctr" indent="0" marL="0">
              <a:buNone/>
            </a:pPr>
            <a:r>
              <a:rPr lang="en-US" sz="1800" b="1" dirty="0">
                <a:solidFill>
                  <a:srgbClr val="0DA5A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3447288"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 Regional rates</a:t>
            </a:r>
            <a:endParaRPr lang="en-US" sz="1200" dirty="0"/>
          </a:p>
        </p:txBody>
      </p:sp>
      <p:sp>
        <p:nvSpPr>
          <p:cNvPr id="23" name="Text 21"/>
          <p:cNvSpPr/>
          <p:nvPr/>
        </p:nvSpPr>
        <p:spPr>
          <a:xfrm>
            <a:off x="3465576"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labour · energy · material · machine · overhead · FX</a:t>
            </a:r>
            <a:endParaRPr lang="en-US" sz="860" dirty="0"/>
          </a:p>
        </p:txBody>
      </p:sp>
      <p:sp>
        <p:nvSpPr>
          <p:cNvPr id="24" name="Shape 22"/>
          <p:cNvSpPr/>
          <p:nvPr/>
        </p:nvSpPr>
        <p:spPr>
          <a:xfrm>
            <a:off x="5870448" y="2743200"/>
            <a:ext cx="265176" cy="0"/>
          </a:xfrm>
          <a:prstGeom prst="line">
            <a:avLst/>
          </a:prstGeom>
          <a:noFill/>
          <a:ln w="22225">
            <a:solidFill>
              <a:srgbClr val="D4DEEC"/>
            </a:solidFill>
            <a:prstDash val="solid"/>
            <a:headEnd type="none"/>
            <a:tailEnd type="triangle"/>
          </a:ln>
        </p:spPr>
        <p:txBody>
          <a:bodyPr/>
          <a:p/>
        </p:txBody>
      </p:sp>
      <p:sp>
        <p:nvSpPr>
          <p:cNvPr id="25" name="Shape 23"/>
          <p:cNvSpPr/>
          <p:nvPr/>
        </p:nvSpPr>
        <p:spPr>
          <a:xfrm>
            <a:off x="6163056"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6.160832995578707e+156" dist="1.7602379987367734e+156" dir="3.3418736347109347e+183">
              <a:srgbClr val="9DB0CC">
                <a:alpha val="2.2000000000000003e+189"/>
              </a:srgbClr>
            </a:outerShdw>
          </a:effectLst>
        </p:spPr>
        <p:txBody>
          <a:bodyPr/>
          <a:p/>
        </p:txBody>
      </p:sp>
      <p:sp>
        <p:nvSpPr>
          <p:cNvPr id="26" name="Shape 24"/>
          <p:cNvSpPr/>
          <p:nvPr/>
        </p:nvSpPr>
        <p:spPr>
          <a:xfrm>
            <a:off x="6163056" y="2057400"/>
            <a:ext cx="2487168" cy="82296"/>
          </a:xfrm>
          <a:prstGeom prst="rect">
            <a:avLst/>
          </a:prstGeom>
          <a:solidFill>
            <a:srgbClr val="E0900C"/>
          </a:solidFill>
          <a:ln/>
        </p:spPr>
        <p:txBody>
          <a:bodyPr/>
          <a:p/>
        </p:txBody>
      </p:sp>
      <p:sp>
        <p:nvSpPr>
          <p:cNvPr id="27" name="Shape 25"/>
          <p:cNvSpPr/>
          <p:nvPr/>
        </p:nvSpPr>
        <p:spPr>
          <a:xfrm>
            <a:off x="7150608" y="2258568"/>
            <a:ext cx="512064" cy="512064"/>
          </a:xfrm>
          <a:prstGeom prst="ellipse">
            <a:avLst/>
          </a:prstGeom>
          <a:solidFill>
            <a:srgbClr val="FEF6E7"/>
          </a:solidFill>
          <a:ln/>
        </p:spPr>
        <p:txBody>
          <a:bodyPr/>
          <a:p/>
        </p:txBody>
      </p:sp>
      <p:sp>
        <p:nvSpPr>
          <p:cNvPr id="28" name="Text 26"/>
          <p:cNvSpPr/>
          <p:nvPr/>
        </p:nvSpPr>
        <p:spPr>
          <a:xfrm>
            <a:off x="7150608" y="224942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6254496"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 Landed adders</a:t>
            </a:r>
            <a:endParaRPr lang="en-US" sz="1200" dirty="0"/>
          </a:p>
        </p:txBody>
      </p:sp>
      <p:sp>
        <p:nvSpPr>
          <p:cNvPr id="30" name="Text 28"/>
          <p:cNvSpPr/>
          <p:nvPr/>
        </p:nvSpPr>
        <p:spPr>
          <a:xfrm>
            <a:off x="6272784"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packaging · logistics · duty · shipping</a:t>
            </a:r>
            <a:endParaRPr lang="en-US" sz="860" dirty="0"/>
          </a:p>
        </p:txBody>
      </p:sp>
      <p:sp>
        <p:nvSpPr>
          <p:cNvPr id="31" name="Shape 29"/>
          <p:cNvSpPr/>
          <p:nvPr/>
        </p:nvSpPr>
        <p:spPr>
          <a:xfrm>
            <a:off x="8677656" y="2743200"/>
            <a:ext cx="265176" cy="0"/>
          </a:xfrm>
          <a:prstGeom prst="line">
            <a:avLst/>
          </a:prstGeom>
          <a:noFill/>
          <a:ln w="22225">
            <a:solidFill>
              <a:srgbClr val="D4DEEC"/>
            </a:solidFill>
            <a:prstDash val="solid"/>
            <a:headEnd type="none"/>
            <a:tailEnd type="triangle"/>
          </a:ln>
        </p:spPr>
        <p:txBody>
          <a:bodyPr/>
          <a:p/>
        </p:txBody>
      </p:sp>
      <p:sp>
        <p:nvSpPr>
          <p:cNvPr id="32" name="Shape 30"/>
          <p:cNvSpPr/>
          <p:nvPr/>
        </p:nvSpPr>
        <p:spPr>
          <a:xfrm>
            <a:off x="8970264" y="205740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7.824257904384958e+160" dist="2.235502258395702e+160" dir="2.0051241808265608e+188">
              <a:srgbClr val="9DB0CC">
                <a:alpha val="2.2000000000000004e+194"/>
              </a:srgbClr>
            </a:outerShdw>
          </a:effectLst>
        </p:spPr>
        <p:txBody>
          <a:bodyPr/>
          <a:p/>
        </p:txBody>
      </p:sp>
      <p:sp>
        <p:nvSpPr>
          <p:cNvPr id="33" name="Shape 31"/>
          <p:cNvSpPr/>
          <p:nvPr/>
        </p:nvSpPr>
        <p:spPr>
          <a:xfrm>
            <a:off x="8970264" y="2057400"/>
            <a:ext cx="2487168" cy="82296"/>
          </a:xfrm>
          <a:prstGeom prst="rect">
            <a:avLst/>
          </a:prstGeom>
          <a:solidFill>
            <a:srgbClr val="0EA472"/>
          </a:solidFill>
          <a:ln/>
        </p:spPr>
        <p:txBody>
          <a:bodyPr/>
          <a:p/>
        </p:txBody>
      </p:sp>
      <p:sp>
        <p:nvSpPr>
          <p:cNvPr id="34" name="Shape 32"/>
          <p:cNvSpPr/>
          <p:nvPr/>
        </p:nvSpPr>
        <p:spPr>
          <a:xfrm>
            <a:off x="9957816" y="2258568"/>
            <a:ext cx="512064" cy="512064"/>
          </a:xfrm>
          <a:prstGeom prst="ellipse">
            <a:avLst/>
          </a:prstGeom>
          <a:solidFill>
            <a:srgbClr val="E7F7F0"/>
          </a:solidFill>
          <a:ln/>
        </p:spPr>
        <p:txBody>
          <a:bodyPr/>
          <a:p/>
        </p:txBody>
      </p:sp>
      <p:sp>
        <p:nvSpPr>
          <p:cNvPr id="35" name="Text 33"/>
          <p:cNvSpPr/>
          <p:nvPr/>
        </p:nvSpPr>
        <p:spPr>
          <a:xfrm>
            <a:off x="9957816" y="224942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9061704" y="284378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Region should-cost</a:t>
            </a:r>
            <a:endParaRPr lang="en-US" sz="1200" dirty="0"/>
          </a:p>
        </p:txBody>
      </p:sp>
      <p:sp>
        <p:nvSpPr>
          <p:cNvPr id="37" name="Text 35"/>
          <p:cNvSpPr/>
          <p:nvPr/>
        </p:nvSpPr>
        <p:spPr>
          <a:xfrm>
            <a:off x="9079992" y="311810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ranked, ex-works &amp; landed, per country</a:t>
            </a:r>
            <a:endParaRPr lang="en-US" sz="860" dirty="0"/>
          </a:p>
        </p:txBody>
      </p:sp>
      <p:sp>
        <p:nvSpPr>
          <p:cNvPr id="38" name="Shape 36"/>
          <p:cNvSpPr/>
          <p:nvPr/>
        </p:nvSpPr>
        <p:spPr>
          <a:xfrm>
            <a:off x="548640" y="3749040"/>
            <a:ext cx="5394960" cy="2103120"/>
          </a:xfrm>
          <a:prstGeom prst="roundRect">
            <a:avLst>
              <a:gd name="adj" fmla="val 3043"/>
            </a:avLst>
          </a:prstGeom>
          <a:solidFill>
            <a:srgbClr val="FFFFFF"/>
          </a:solidFill>
          <a:ln w="12700">
            <a:solidFill>
              <a:srgbClr val="E4EAF2"/>
            </a:solidFill>
            <a:prstDash val="solid"/>
          </a:ln>
          <a:effectLst>
            <a:outerShdw sx="100000" sy="100000" kx="0" ky="0" algn="bl" rotWithShape="0" blurRad="9.936807538568897e+164" dist="2.8390878681625417e+164" dir="1.2030745084959364e+193">
              <a:srgbClr val="9DB0CC">
                <a:alpha val="2.2000000000000006e+199"/>
              </a:srgbClr>
            </a:outerShdw>
          </a:effectLst>
        </p:spPr>
        <p:txBody>
          <a:bodyPr/>
          <a:p/>
        </p:txBody>
      </p:sp>
      <p:sp>
        <p:nvSpPr>
          <p:cNvPr id="39" name="Shape 37"/>
          <p:cNvSpPr/>
          <p:nvPr/>
        </p:nvSpPr>
        <p:spPr>
          <a:xfrm>
            <a:off x="548640" y="3749040"/>
            <a:ext cx="82296" cy="2103120"/>
          </a:xfrm>
          <a:prstGeom prst="rect">
            <a:avLst/>
          </a:prstGeom>
          <a:solidFill>
            <a:srgbClr val="2563EB"/>
          </a:solidFill>
          <a:ln/>
        </p:spPr>
        <p:txBody>
          <a:bodyPr/>
          <a:p/>
        </p:txBody>
      </p:sp>
      <p:sp>
        <p:nvSpPr>
          <p:cNvPr id="40" name="Text 38"/>
          <p:cNvSpPr/>
          <p:nvPr/>
        </p:nvSpPr>
        <p:spPr>
          <a:xfrm>
            <a:off x="822960" y="3913632"/>
            <a:ext cx="4937760" cy="320040"/>
          </a:xfrm>
          <a:prstGeom prst="rect">
            <a:avLst/>
          </a:prstGeom>
          <a:noFill/>
          <a:ln/>
        </p:spPr>
        <p:txBody>
          <a:bodyPr wrap="square" lIns="0" tIns="0" rIns="0" bIns="0" rtlCol="0" anchor="t"/>
          <a:lstStyle/>
          <a:p>
            <a:pPr indent="0" marL="0">
              <a:buNone/>
            </a:pPr>
            <a:r>
              <a:rPr lang="en-US" sz="1350" b="1" dirty="0">
                <a:solidFill>
                  <a:srgbClr val="2563EB"/>
                </a:solidFill>
                <a:latin typeface="Calibri" pitchFamily="34" charset="0"/>
                <a:ea typeface="Calibri" pitchFamily="34" charset="-122"/>
                <a:cs typeface="Calibri" pitchFamily="34" charset="-120"/>
              </a:rPr>
              <a:t>What we give it</a:t>
            </a:r>
            <a:endParaRPr lang="en-US" sz="1350" dirty="0"/>
          </a:p>
        </p:txBody>
      </p:sp>
      <p:sp>
        <p:nvSpPr>
          <p:cNvPr id="41" name="Shape 39"/>
          <p:cNvSpPr/>
          <p:nvPr/>
        </p:nvSpPr>
        <p:spPr>
          <a:xfrm>
            <a:off x="822960" y="4315968"/>
            <a:ext cx="292608" cy="292608"/>
          </a:xfrm>
          <a:prstGeom prst="ellipse">
            <a:avLst/>
          </a:prstGeom>
          <a:solidFill>
            <a:srgbClr val="EAF1FE"/>
          </a:solidFill>
          <a:ln/>
        </p:spPr>
        <p:txBody>
          <a:bodyPr/>
          <a:p/>
        </p:txBody>
      </p:sp>
      <p:sp>
        <p:nvSpPr>
          <p:cNvPr id="42" name="Text 40"/>
          <p:cNvSpPr/>
          <p:nvPr/>
        </p:nvSpPr>
        <p:spPr>
          <a:xfrm>
            <a:off x="822960" y="430682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3" name="Text 41"/>
          <p:cNvSpPr/>
          <p:nvPr/>
        </p:nvSpPr>
        <p:spPr>
          <a:xfrm>
            <a:off x="1207008" y="431596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The part — </a:t>
            </a:r>
            <a:pPr indent="0" marL="0">
              <a:buNone/>
            </a:pPr>
            <a:r>
              <a:rPr lang="en-US" sz="1080" dirty="0">
                <a:solidFill>
                  <a:srgbClr val="3E4C63"/>
                </a:solidFill>
                <a:latin typeface="Calibri" pitchFamily="34" charset="0"/>
                <a:ea typeface="Calibri" pitchFamily="34" charset="-122"/>
                <a:cs typeface="Calibri" pitchFamily="34" charset="-120"/>
              </a:rPr>
              <a:t>once — from a CAD model or a process form</a:t>
            </a:r>
            <a:endParaRPr lang="en-US" sz="1080" dirty="0"/>
          </a:p>
        </p:txBody>
      </p:sp>
      <p:sp>
        <p:nvSpPr>
          <p:cNvPr id="44" name="Shape 42"/>
          <p:cNvSpPr/>
          <p:nvPr/>
        </p:nvSpPr>
        <p:spPr>
          <a:xfrm>
            <a:off x="822960" y="4818888"/>
            <a:ext cx="292608" cy="292608"/>
          </a:xfrm>
          <a:prstGeom prst="ellipse">
            <a:avLst/>
          </a:prstGeom>
          <a:solidFill>
            <a:srgbClr val="EAF1FE"/>
          </a:solidFill>
          <a:ln/>
        </p:spPr>
        <p:txBody>
          <a:bodyPr/>
          <a:p/>
        </p:txBody>
      </p:sp>
      <p:sp>
        <p:nvSpPr>
          <p:cNvPr id="45" name="Text 43"/>
          <p:cNvSpPr/>
          <p:nvPr/>
        </p:nvSpPr>
        <p:spPr>
          <a:xfrm>
            <a:off x="822960" y="480974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6" name="Text 44"/>
          <p:cNvSpPr/>
          <p:nvPr/>
        </p:nvSpPr>
        <p:spPr>
          <a:xfrm>
            <a:off x="1207008" y="481888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The regions — </a:t>
            </a:r>
            <a:pPr indent="0" marL="0">
              <a:buNone/>
            </a:pPr>
            <a:r>
              <a:rPr lang="en-US" sz="1080" dirty="0">
                <a:solidFill>
                  <a:srgbClr val="3E4C63"/>
                </a:solidFill>
                <a:latin typeface="Calibri" pitchFamily="34" charset="0"/>
                <a:ea typeface="Calibri" pitchFamily="34" charset="-122"/>
                <a:cs typeface="Calibri" pitchFamily="34" charset="-120"/>
              </a:rPr>
              <a:t>pick any of the 20, or compare them all</a:t>
            </a:r>
            <a:endParaRPr lang="en-US" sz="1080" dirty="0"/>
          </a:p>
        </p:txBody>
      </p:sp>
      <p:sp>
        <p:nvSpPr>
          <p:cNvPr id="47" name="Shape 45"/>
          <p:cNvSpPr/>
          <p:nvPr/>
        </p:nvSpPr>
        <p:spPr>
          <a:xfrm>
            <a:off x="822960" y="5321808"/>
            <a:ext cx="292608" cy="292608"/>
          </a:xfrm>
          <a:prstGeom prst="ellipse">
            <a:avLst/>
          </a:prstGeom>
          <a:solidFill>
            <a:srgbClr val="EAF1FE"/>
          </a:solidFill>
          <a:ln/>
        </p:spPr>
        <p:txBody>
          <a:bodyPr/>
          <a:p/>
        </p:txBody>
      </p:sp>
      <p:sp>
        <p:nvSpPr>
          <p:cNvPr id="48" name="Text 46"/>
          <p:cNvSpPr/>
          <p:nvPr/>
        </p:nvSpPr>
        <p:spPr>
          <a:xfrm>
            <a:off x="822960" y="5312664"/>
            <a:ext cx="292608" cy="292608"/>
          </a:xfrm>
          <a:prstGeom prst="rect">
            <a:avLst/>
          </a:prstGeom>
          <a:noFill/>
          <a:ln/>
        </p:spPr>
        <p:txBody>
          <a:bodyPr wrap="square" lIns="0" tIns="0" rIns="0" bIns="0" rtlCol="0" anchor="ctr"/>
          <a:lstStyle/>
          <a:p>
            <a:pPr algn="ctr" indent="0" marL="0">
              <a:buNone/>
            </a:pPr>
            <a:r>
              <a:rPr lang="en-US" sz="1100" b="1" dirty="0">
                <a:solidFill>
                  <a:srgbClr val="2563EB"/>
                </a:solidFill>
                <a:latin typeface="Calibri" pitchFamily="34" charset="0"/>
                <a:ea typeface="Calibri" pitchFamily="34" charset="-122"/>
                <a:cs typeface="Calibri" pitchFamily="34" charset="-120"/>
              </a:rPr>
              <a:t>✓</a:t>
            </a:r>
            <a:endParaRPr lang="en-US" sz="1100" dirty="0"/>
          </a:p>
        </p:txBody>
      </p:sp>
      <p:sp>
        <p:nvSpPr>
          <p:cNvPr id="49" name="Text 47"/>
          <p:cNvSpPr/>
          <p:nvPr/>
        </p:nvSpPr>
        <p:spPr>
          <a:xfrm>
            <a:off x="1207008" y="5321808"/>
            <a:ext cx="4480560" cy="457200"/>
          </a:xfrm>
          <a:prstGeom prst="rect">
            <a:avLst/>
          </a:prstGeom>
          <a:noFill/>
          <a:ln/>
        </p:spPr>
        <p:txBody>
          <a:bodyPr wrap="square" lIns="0" tIns="0" rIns="0" bIns="0" rtlCol="0" anchor="ctr"/>
          <a:lstStyle/>
          <a:p>
            <a:pPr indent="0" marL="0">
              <a:buNone/>
            </a:pPr>
            <a:r>
              <a:rPr lang="en-US" sz="1080" b="1" dirty="0">
                <a:solidFill>
                  <a:srgbClr val="0F1E3D"/>
                </a:solidFill>
                <a:latin typeface="Calibri" pitchFamily="34" charset="0"/>
                <a:ea typeface="Calibri" pitchFamily="34" charset="-122"/>
                <a:cs typeface="Calibri" pitchFamily="34" charset="-120"/>
              </a:rPr>
              <a:t>Volume &amp; Incoterm — </a:t>
            </a:r>
            <a:pPr indent="0" marL="0">
              <a:buNone/>
            </a:pPr>
            <a:r>
              <a:rPr lang="en-US" sz="1080" dirty="0">
                <a:solidFill>
                  <a:srgbClr val="3E4C63"/>
                </a:solidFill>
                <a:latin typeface="Calibri" pitchFamily="34" charset="0"/>
                <a:ea typeface="Calibri" pitchFamily="34" charset="-122"/>
                <a:cs typeface="Calibri" pitchFamily="34" charset="-120"/>
              </a:rPr>
              <a:t>sets tooling spread and landed vs ex-works</a:t>
            </a:r>
            <a:endParaRPr lang="en-US" sz="1080" dirty="0"/>
          </a:p>
        </p:txBody>
      </p:sp>
      <p:sp>
        <p:nvSpPr>
          <p:cNvPr id="50" name="Shape 48"/>
          <p:cNvSpPr/>
          <p:nvPr/>
        </p:nvSpPr>
        <p:spPr>
          <a:xfrm>
            <a:off x="6245352" y="3749040"/>
            <a:ext cx="5394960" cy="2103120"/>
          </a:xfrm>
          <a:prstGeom prst="roundRect">
            <a:avLst>
              <a:gd name="adj" fmla="val 3043"/>
            </a:avLst>
          </a:prstGeom>
          <a:solidFill>
            <a:srgbClr val="E7F7F0"/>
          </a:solidFill>
          <a:ln w="12700">
            <a:solidFill>
              <a:srgbClr val="E4EAF2"/>
            </a:solidFill>
            <a:prstDash val="solid"/>
          </a:ln>
        </p:spPr>
        <p:txBody>
          <a:bodyPr/>
          <a:p/>
        </p:txBody>
      </p:sp>
      <p:sp>
        <p:nvSpPr>
          <p:cNvPr id="51" name="Shape 49"/>
          <p:cNvSpPr/>
          <p:nvPr/>
        </p:nvSpPr>
        <p:spPr>
          <a:xfrm>
            <a:off x="6245352" y="3749040"/>
            <a:ext cx="82296" cy="2103120"/>
          </a:xfrm>
          <a:prstGeom prst="rect">
            <a:avLst/>
          </a:prstGeom>
          <a:solidFill>
            <a:srgbClr val="0DA5A0"/>
          </a:solidFill>
          <a:ln/>
        </p:spPr>
        <p:txBody>
          <a:bodyPr/>
          <a:p/>
        </p:txBody>
      </p:sp>
      <p:sp>
        <p:nvSpPr>
          <p:cNvPr id="52" name="Text 50"/>
          <p:cNvSpPr/>
          <p:nvPr/>
        </p:nvSpPr>
        <p:spPr>
          <a:xfrm>
            <a:off x="6519672" y="3913632"/>
            <a:ext cx="4937760" cy="320040"/>
          </a:xfrm>
          <a:prstGeom prst="rect">
            <a:avLst/>
          </a:prstGeom>
          <a:noFill/>
          <a:ln/>
        </p:spPr>
        <p:txBody>
          <a:bodyPr wrap="square" lIns="0" tIns="0" rIns="0" bIns="0" rtlCol="0" anchor="t"/>
          <a:lstStyle/>
          <a:p>
            <a:pPr indent="0" marL="0">
              <a:buNone/>
            </a:pPr>
            <a:r>
              <a:rPr lang="en-US" sz="1350" b="1" dirty="0">
                <a:solidFill>
                  <a:srgbClr val="0DA5A0"/>
                </a:solidFill>
                <a:latin typeface="Calibri" pitchFamily="34" charset="0"/>
                <a:ea typeface="Calibri" pitchFamily="34" charset="-122"/>
                <a:cs typeface="Calibri" pitchFamily="34" charset="-120"/>
              </a:rPr>
              <a:t>What is factored in, per region</a:t>
            </a:r>
            <a:endParaRPr lang="en-US" sz="1350" dirty="0"/>
          </a:p>
        </p:txBody>
      </p:sp>
      <p:sp>
        <p:nvSpPr>
          <p:cNvPr id="53" name="Shape 51"/>
          <p:cNvSpPr/>
          <p:nvPr/>
        </p:nvSpPr>
        <p:spPr>
          <a:xfrm>
            <a:off x="6519672" y="4370832"/>
            <a:ext cx="91440" cy="91440"/>
          </a:xfrm>
          <a:prstGeom prst="ellipse">
            <a:avLst/>
          </a:prstGeom>
          <a:solidFill>
            <a:srgbClr val="0DA5A0"/>
          </a:solidFill>
          <a:ln/>
        </p:spPr>
        <p:txBody>
          <a:bodyPr/>
          <a:p/>
        </p:txBody>
      </p:sp>
      <p:sp>
        <p:nvSpPr>
          <p:cNvPr id="54" name="Text 52"/>
          <p:cNvSpPr/>
          <p:nvPr/>
        </p:nvSpPr>
        <p:spPr>
          <a:xfrm>
            <a:off x="6702552" y="4315968"/>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Labour by trade (£/hr)</a:t>
            </a:r>
            <a:endParaRPr lang="en-US" sz="1000" dirty="0"/>
          </a:p>
        </p:txBody>
      </p:sp>
      <p:sp>
        <p:nvSpPr>
          <p:cNvPr id="55" name="Shape 53"/>
          <p:cNvSpPr/>
          <p:nvPr/>
        </p:nvSpPr>
        <p:spPr>
          <a:xfrm>
            <a:off x="9125712" y="4370832"/>
            <a:ext cx="91440" cy="91440"/>
          </a:xfrm>
          <a:prstGeom prst="ellipse">
            <a:avLst/>
          </a:prstGeom>
          <a:solidFill>
            <a:srgbClr val="0DA5A0"/>
          </a:solidFill>
          <a:ln/>
        </p:spPr>
        <p:txBody>
          <a:bodyPr/>
          <a:p/>
        </p:txBody>
      </p:sp>
      <p:sp>
        <p:nvSpPr>
          <p:cNvPr id="56" name="Text 54"/>
          <p:cNvSpPr/>
          <p:nvPr/>
        </p:nvSpPr>
        <p:spPr>
          <a:xfrm>
            <a:off x="9308592" y="4315968"/>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Energy — elec &amp; gas (£/kWh)</a:t>
            </a:r>
            <a:endParaRPr lang="en-US" sz="1000" dirty="0"/>
          </a:p>
        </p:txBody>
      </p:sp>
      <p:sp>
        <p:nvSpPr>
          <p:cNvPr id="57" name="Shape 55"/>
          <p:cNvSpPr/>
          <p:nvPr/>
        </p:nvSpPr>
        <p:spPr>
          <a:xfrm>
            <a:off x="6519672" y="4754880"/>
            <a:ext cx="91440" cy="91440"/>
          </a:xfrm>
          <a:prstGeom prst="ellipse">
            <a:avLst/>
          </a:prstGeom>
          <a:solidFill>
            <a:srgbClr val="0DA5A0"/>
          </a:solidFill>
          <a:ln/>
        </p:spPr>
        <p:txBody>
          <a:bodyPr/>
          <a:p/>
        </p:txBody>
      </p:sp>
      <p:sp>
        <p:nvSpPr>
          <p:cNvPr id="58" name="Text 56"/>
          <p:cNvSpPr/>
          <p:nvPr/>
        </p:nvSpPr>
        <p:spPr>
          <a:xfrm>
            <a:off x="6702552" y="4700016"/>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Material factors (resin &amp; metal)</a:t>
            </a:r>
            <a:endParaRPr lang="en-US" sz="1000" dirty="0"/>
          </a:p>
        </p:txBody>
      </p:sp>
      <p:sp>
        <p:nvSpPr>
          <p:cNvPr id="59" name="Shape 57"/>
          <p:cNvSpPr/>
          <p:nvPr/>
        </p:nvSpPr>
        <p:spPr>
          <a:xfrm>
            <a:off x="9125712" y="4754880"/>
            <a:ext cx="91440" cy="91440"/>
          </a:xfrm>
          <a:prstGeom prst="ellipse">
            <a:avLst/>
          </a:prstGeom>
          <a:solidFill>
            <a:srgbClr val="0DA5A0"/>
          </a:solidFill>
          <a:ln/>
        </p:spPr>
        <p:txBody>
          <a:bodyPr/>
          <a:p/>
        </p:txBody>
      </p:sp>
      <p:sp>
        <p:nvSpPr>
          <p:cNvPr id="60" name="Text 58"/>
          <p:cNvSpPr/>
          <p:nvPr/>
        </p:nvSpPr>
        <p:spPr>
          <a:xfrm>
            <a:off x="9308592" y="4700016"/>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Machine-rate multiplier</a:t>
            </a:r>
            <a:endParaRPr lang="en-US" sz="1000" dirty="0"/>
          </a:p>
        </p:txBody>
      </p:sp>
      <p:sp>
        <p:nvSpPr>
          <p:cNvPr id="61" name="Shape 59"/>
          <p:cNvSpPr/>
          <p:nvPr/>
        </p:nvSpPr>
        <p:spPr>
          <a:xfrm>
            <a:off x="6519672" y="5138928"/>
            <a:ext cx="91440" cy="91440"/>
          </a:xfrm>
          <a:prstGeom prst="ellipse">
            <a:avLst/>
          </a:prstGeom>
          <a:solidFill>
            <a:srgbClr val="0DA5A0"/>
          </a:solidFill>
          <a:ln/>
        </p:spPr>
        <p:txBody>
          <a:bodyPr/>
          <a:p/>
        </p:txBody>
      </p:sp>
      <p:sp>
        <p:nvSpPr>
          <p:cNvPr id="62" name="Text 60"/>
          <p:cNvSpPr/>
          <p:nvPr/>
        </p:nvSpPr>
        <p:spPr>
          <a:xfrm>
            <a:off x="6702552" y="5084064"/>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Overhead multiplier</a:t>
            </a:r>
            <a:endParaRPr lang="en-US" sz="1000" dirty="0"/>
          </a:p>
        </p:txBody>
      </p:sp>
      <p:sp>
        <p:nvSpPr>
          <p:cNvPr id="63" name="Shape 61"/>
          <p:cNvSpPr/>
          <p:nvPr/>
        </p:nvSpPr>
        <p:spPr>
          <a:xfrm>
            <a:off x="9125712" y="5138928"/>
            <a:ext cx="91440" cy="91440"/>
          </a:xfrm>
          <a:prstGeom prst="ellipse">
            <a:avLst/>
          </a:prstGeom>
          <a:solidFill>
            <a:srgbClr val="0DA5A0"/>
          </a:solidFill>
          <a:ln/>
        </p:spPr>
        <p:txBody>
          <a:bodyPr/>
          <a:p/>
        </p:txBody>
      </p:sp>
      <p:sp>
        <p:nvSpPr>
          <p:cNvPr id="64" name="Text 62"/>
          <p:cNvSpPr/>
          <p:nvPr/>
        </p:nvSpPr>
        <p:spPr>
          <a:xfrm>
            <a:off x="9308592" y="5084064"/>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Packaging &amp; logistics</a:t>
            </a:r>
            <a:endParaRPr lang="en-US" sz="1000" dirty="0"/>
          </a:p>
        </p:txBody>
      </p:sp>
      <p:sp>
        <p:nvSpPr>
          <p:cNvPr id="65" name="Shape 63"/>
          <p:cNvSpPr/>
          <p:nvPr/>
        </p:nvSpPr>
        <p:spPr>
          <a:xfrm>
            <a:off x="6519672" y="5522976"/>
            <a:ext cx="91440" cy="91440"/>
          </a:xfrm>
          <a:prstGeom prst="ellipse">
            <a:avLst/>
          </a:prstGeom>
          <a:solidFill>
            <a:srgbClr val="0DA5A0"/>
          </a:solidFill>
          <a:ln/>
        </p:spPr>
        <p:txBody>
          <a:bodyPr/>
          <a:p/>
        </p:txBody>
      </p:sp>
      <p:sp>
        <p:nvSpPr>
          <p:cNvPr id="66" name="Text 64"/>
          <p:cNvSpPr/>
          <p:nvPr/>
        </p:nvSpPr>
        <p:spPr>
          <a:xfrm>
            <a:off x="6702552" y="5468112"/>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FX to GBP</a:t>
            </a:r>
            <a:endParaRPr lang="en-US" sz="1000" dirty="0"/>
          </a:p>
        </p:txBody>
      </p:sp>
      <p:sp>
        <p:nvSpPr>
          <p:cNvPr id="67" name="Shape 65"/>
          <p:cNvSpPr/>
          <p:nvPr/>
        </p:nvSpPr>
        <p:spPr>
          <a:xfrm>
            <a:off x="9125712" y="5522976"/>
            <a:ext cx="91440" cy="91440"/>
          </a:xfrm>
          <a:prstGeom prst="ellipse">
            <a:avLst/>
          </a:prstGeom>
          <a:solidFill>
            <a:srgbClr val="0DA5A0"/>
          </a:solidFill>
          <a:ln/>
        </p:spPr>
        <p:txBody>
          <a:bodyPr/>
          <a:p/>
        </p:txBody>
      </p:sp>
      <p:sp>
        <p:nvSpPr>
          <p:cNvPr id="68" name="Text 66"/>
          <p:cNvSpPr/>
          <p:nvPr/>
        </p:nvSpPr>
        <p:spPr>
          <a:xfrm>
            <a:off x="9308592" y="5468112"/>
            <a:ext cx="2377440" cy="365760"/>
          </a:xfrm>
          <a:prstGeom prst="rect">
            <a:avLst/>
          </a:prstGeom>
          <a:noFill/>
          <a:ln/>
        </p:spPr>
        <p:txBody>
          <a:bodyPr wrap="square" lIns="0" tIns="0" rIns="0" bIns="0" rtlCol="0" anchor="ctr"/>
          <a:lstStyle/>
          <a:p>
            <a:pPr indent="0" marL="0">
              <a:buNone/>
            </a:pPr>
            <a:r>
              <a:rPr lang="en-US" sz="1000" dirty="0">
                <a:solidFill>
                  <a:srgbClr val="3E4C63"/>
                </a:solidFill>
                <a:latin typeface="Calibri" pitchFamily="34" charset="0"/>
                <a:ea typeface="Calibri" pitchFamily="34" charset="-122"/>
                <a:cs typeface="Calibri" pitchFamily="34" charset="-120"/>
              </a:rPr>
              <a:t>Duty &amp; shipping adders</a:t>
            </a:r>
            <a:endParaRPr lang="en-US" sz="1000" dirty="0"/>
          </a:p>
        </p:txBody>
      </p:sp>
      <p:sp>
        <p:nvSpPr>
          <p:cNvPr id="69" name="Shape 67"/>
          <p:cNvSpPr/>
          <p:nvPr/>
        </p:nvSpPr>
        <p:spPr>
          <a:xfrm>
            <a:off x="548640" y="6400800"/>
            <a:ext cx="11094415" cy="12802"/>
          </a:xfrm>
          <a:prstGeom prst="rect">
            <a:avLst/>
          </a:prstGeom>
          <a:solidFill>
            <a:srgbClr val="E4EAF2"/>
          </a:solidFill>
          <a:ln/>
        </p:spPr>
        <p:txBody>
          <a:bodyPr/>
          <a:p/>
        </p:txBody>
      </p:sp>
      <p:sp>
        <p:nvSpPr>
          <p:cNvPr id="70" name="Text 6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1" name="Text 6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17 / 33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The actual rates — full transparency, no black box</a:t>
            </a:r>
            <a:endParaRPr lang="en-US" sz="2400" dirty="0"/>
          </a:p>
        </p:txBody>
      </p:sp>
      <p:sp>
        <p:nvSpPr>
          <p:cNvPr id="9" name="Shape 7"/>
          <p:cNvSpPr/>
          <p:nvPr/>
        </p:nvSpPr>
        <p:spPr>
          <a:xfrm>
            <a:off x="548640" y="1371600"/>
            <a:ext cx="1051560" cy="45720"/>
          </a:xfrm>
          <a:prstGeom prst="rect">
            <a:avLst/>
          </a:prstGeom>
          <a:solidFill>
            <a:srgbClr val="E0900C"/>
          </a:solidFill>
          <a:ln/>
        </p:spPr>
        <p:txBody>
          <a:bodyPr/>
          <a:p/>
        </p:txBody>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These are the 2026-Q2 rates every costing uses — labour, energy and the regional multipliers. Nothing is hidden.</a:t>
            </a:r>
            <a:endParaRPr lang="en-US" sz="1200" dirty="0"/>
          </a:p>
        </p:txBody>
      </p:sp>
      <p:sp>
        <p:nvSpPr>
          <p:cNvPr id="11" name="Shape 9"/>
          <p:cNvSpPr/>
          <p:nvPr/>
        </p:nvSpPr>
        <p:spPr>
          <a:xfrm>
            <a:off x="548640" y="1965960"/>
            <a:ext cx="11091672" cy="329184"/>
          </a:xfrm>
          <a:prstGeom prst="roundRect">
            <a:avLst>
              <a:gd name="adj" fmla="val 11111"/>
            </a:avLst>
          </a:prstGeom>
          <a:solidFill>
            <a:srgbClr val="0F1E3D"/>
          </a:solidFill>
          <a:ln/>
        </p:spPr>
        <p:txBody>
          <a:bodyPr/>
          <a:p/>
        </p:txBody>
      </p:sp>
      <p:sp>
        <p:nvSpPr>
          <p:cNvPr id="12" name="Text 10"/>
          <p:cNvSpPr/>
          <p:nvPr/>
        </p:nvSpPr>
        <p:spPr>
          <a:xfrm>
            <a:off x="658368" y="1965960"/>
            <a:ext cx="2011680" cy="329184"/>
          </a:xfrm>
          <a:prstGeom prst="rect">
            <a:avLst/>
          </a:prstGeom>
          <a:noFill/>
          <a:ln/>
        </p:spPr>
        <p:txBody>
          <a:bodyPr wrap="square" lIns="0" tIns="0" rIns="0" bIns="0" rtlCol="0" anchor="ctr"/>
          <a:lstStyle/>
          <a:p>
            <a:pPr algn="l" indent="0" marL="0">
              <a:buNone/>
            </a:pPr>
            <a:r>
              <a:rPr lang="en-US" sz="950" b="1" dirty="0">
                <a:solidFill>
                  <a:srgbClr val="FFFFFF"/>
                </a:solidFill>
                <a:latin typeface="Calibri" pitchFamily="34" charset="0"/>
                <a:ea typeface="Calibri" pitchFamily="34" charset="-122"/>
                <a:cs typeface="Calibri" pitchFamily="34" charset="-120"/>
              </a:rPr>
              <a:t>Region</a:t>
            </a:r>
            <a:endParaRPr lang="en-US" sz="950" dirty="0"/>
          </a:p>
        </p:txBody>
      </p:sp>
      <p:sp>
        <p:nvSpPr>
          <p:cNvPr id="13" name="Text 11"/>
          <p:cNvSpPr/>
          <p:nvPr/>
        </p:nvSpPr>
        <p:spPr>
          <a:xfrm>
            <a:off x="2807208" y="1965960"/>
            <a:ext cx="14630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Skilled £/hr</a:t>
            </a:r>
            <a:endParaRPr lang="en-US" sz="950" dirty="0"/>
          </a:p>
        </p:txBody>
      </p:sp>
      <p:sp>
        <p:nvSpPr>
          <p:cNvPr id="14" name="Text 12"/>
          <p:cNvSpPr/>
          <p:nvPr/>
        </p:nvSpPr>
        <p:spPr>
          <a:xfrm>
            <a:off x="4407408" y="1965960"/>
            <a:ext cx="141732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Foundry £/hr</a:t>
            </a:r>
            <a:endParaRPr lang="en-US" sz="950" dirty="0"/>
          </a:p>
        </p:txBody>
      </p:sp>
      <p:sp>
        <p:nvSpPr>
          <p:cNvPr id="15" name="Text 13"/>
          <p:cNvSpPr/>
          <p:nvPr/>
        </p:nvSpPr>
        <p:spPr>
          <a:xfrm>
            <a:off x="5961888" y="1965960"/>
            <a:ext cx="128016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Elec £/kWh</a:t>
            </a:r>
            <a:endParaRPr lang="en-US" sz="950" dirty="0"/>
          </a:p>
        </p:txBody>
      </p:sp>
      <p:sp>
        <p:nvSpPr>
          <p:cNvPr id="16" name="Text 14"/>
          <p:cNvSpPr/>
          <p:nvPr/>
        </p:nvSpPr>
        <p:spPr>
          <a:xfrm>
            <a:off x="7379208" y="1965960"/>
            <a:ext cx="123444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Machine ×</a:t>
            </a:r>
            <a:endParaRPr lang="en-US" sz="950" dirty="0"/>
          </a:p>
        </p:txBody>
      </p:sp>
      <p:sp>
        <p:nvSpPr>
          <p:cNvPr id="17" name="Text 15"/>
          <p:cNvSpPr/>
          <p:nvPr/>
        </p:nvSpPr>
        <p:spPr>
          <a:xfrm>
            <a:off x="8750808" y="1965960"/>
            <a:ext cx="1325880"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Overhead ×</a:t>
            </a:r>
            <a:endParaRPr lang="en-US" sz="950" dirty="0"/>
          </a:p>
        </p:txBody>
      </p:sp>
      <p:sp>
        <p:nvSpPr>
          <p:cNvPr id="18" name="Text 16"/>
          <p:cNvSpPr/>
          <p:nvPr/>
        </p:nvSpPr>
        <p:spPr>
          <a:xfrm>
            <a:off x="10213848" y="1965960"/>
            <a:ext cx="1344168" cy="329184"/>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Logistics ×</a:t>
            </a:r>
            <a:endParaRPr lang="en-US" sz="950" dirty="0"/>
          </a:p>
        </p:txBody>
      </p:sp>
      <p:sp>
        <p:nvSpPr>
          <p:cNvPr id="19" name="Shape 17"/>
          <p:cNvSpPr/>
          <p:nvPr/>
        </p:nvSpPr>
        <p:spPr>
          <a:xfrm>
            <a:off x="548640" y="2295144"/>
            <a:ext cx="11091672" cy="329184"/>
          </a:xfrm>
          <a:prstGeom prst="rect">
            <a:avLst/>
          </a:prstGeom>
          <a:solidFill>
            <a:srgbClr val="F4F7FB"/>
          </a:solidFill>
          <a:ln/>
        </p:spPr>
        <p:txBody>
          <a:bodyPr/>
          <a:p/>
        </p:txBody>
      </p:sp>
      <p:sp>
        <p:nvSpPr>
          <p:cNvPr id="20" name="Text 18"/>
          <p:cNvSpPr/>
          <p:nvPr/>
        </p:nvSpPr>
        <p:spPr>
          <a:xfrm>
            <a:off x="658368" y="2295144"/>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United Kingdom</a:t>
            </a:r>
            <a:endParaRPr lang="en-US" sz="930" dirty="0"/>
          </a:p>
        </p:txBody>
      </p:sp>
      <p:sp>
        <p:nvSpPr>
          <p:cNvPr id="21" name="Text 19"/>
          <p:cNvSpPr/>
          <p:nvPr/>
        </p:nvSpPr>
        <p:spPr>
          <a:xfrm>
            <a:off x="2807208" y="2295144"/>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26.00</a:t>
            </a:r>
            <a:endParaRPr lang="en-US" sz="930" dirty="0"/>
          </a:p>
        </p:txBody>
      </p:sp>
      <p:sp>
        <p:nvSpPr>
          <p:cNvPr id="22" name="Text 20"/>
          <p:cNvSpPr/>
          <p:nvPr/>
        </p:nvSpPr>
        <p:spPr>
          <a:xfrm>
            <a:off x="4407408" y="2295144"/>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18.50</a:t>
            </a:r>
            <a:endParaRPr lang="en-US" sz="930" dirty="0"/>
          </a:p>
        </p:txBody>
      </p:sp>
      <p:sp>
        <p:nvSpPr>
          <p:cNvPr id="23" name="Text 21"/>
          <p:cNvSpPr/>
          <p:nvPr/>
        </p:nvSpPr>
        <p:spPr>
          <a:xfrm>
            <a:off x="5961888" y="2295144"/>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0.23</a:t>
            </a:r>
            <a:endParaRPr lang="en-US" sz="930" dirty="0"/>
          </a:p>
        </p:txBody>
      </p:sp>
      <p:sp>
        <p:nvSpPr>
          <p:cNvPr id="24" name="Text 22"/>
          <p:cNvSpPr/>
          <p:nvPr/>
        </p:nvSpPr>
        <p:spPr>
          <a:xfrm>
            <a:off x="7379208" y="2295144"/>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5" name="Text 23"/>
          <p:cNvSpPr/>
          <p:nvPr/>
        </p:nvSpPr>
        <p:spPr>
          <a:xfrm>
            <a:off x="8750808" y="2295144"/>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6" name="Text 24"/>
          <p:cNvSpPr/>
          <p:nvPr/>
        </p:nvSpPr>
        <p:spPr>
          <a:xfrm>
            <a:off x="10213848" y="2295144"/>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1.00</a:t>
            </a:r>
            <a:endParaRPr lang="en-US" sz="930" dirty="0"/>
          </a:p>
        </p:txBody>
      </p:sp>
      <p:sp>
        <p:nvSpPr>
          <p:cNvPr id="27" name="Shape 25"/>
          <p:cNvSpPr/>
          <p:nvPr/>
        </p:nvSpPr>
        <p:spPr>
          <a:xfrm>
            <a:off x="548640" y="2624328"/>
            <a:ext cx="11091672" cy="329184"/>
          </a:xfrm>
          <a:prstGeom prst="rect">
            <a:avLst/>
          </a:prstGeom>
          <a:solidFill>
            <a:srgbClr val="FFFFFF"/>
          </a:solidFill>
          <a:ln/>
        </p:spPr>
        <p:txBody>
          <a:bodyPr/>
          <a:p/>
        </p:txBody>
      </p:sp>
      <p:sp>
        <p:nvSpPr>
          <p:cNvPr id="28" name="Text 26"/>
          <p:cNvSpPr/>
          <p:nvPr/>
        </p:nvSpPr>
        <p:spPr>
          <a:xfrm>
            <a:off x="658368" y="2624328"/>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Germany</a:t>
            </a:r>
            <a:endParaRPr lang="en-US" sz="930" dirty="0"/>
          </a:p>
        </p:txBody>
      </p:sp>
      <p:sp>
        <p:nvSpPr>
          <p:cNvPr id="29" name="Text 27"/>
          <p:cNvSpPr/>
          <p:nvPr/>
        </p:nvSpPr>
        <p:spPr>
          <a:xfrm>
            <a:off x="2807208" y="2624328"/>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40.50</a:t>
            </a:r>
            <a:endParaRPr lang="en-US" sz="930" dirty="0"/>
          </a:p>
        </p:txBody>
      </p:sp>
      <p:sp>
        <p:nvSpPr>
          <p:cNvPr id="30" name="Text 28"/>
          <p:cNvSpPr/>
          <p:nvPr/>
        </p:nvSpPr>
        <p:spPr>
          <a:xfrm>
            <a:off x="4407408" y="2624328"/>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28.00</a:t>
            </a:r>
            <a:endParaRPr lang="en-US" sz="930" dirty="0"/>
          </a:p>
        </p:txBody>
      </p:sp>
      <p:sp>
        <p:nvSpPr>
          <p:cNvPr id="31" name="Text 29"/>
          <p:cNvSpPr/>
          <p:nvPr/>
        </p:nvSpPr>
        <p:spPr>
          <a:xfrm>
            <a:off x="5961888" y="2624328"/>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0.20</a:t>
            </a:r>
            <a:endParaRPr lang="en-US" sz="930" dirty="0"/>
          </a:p>
        </p:txBody>
      </p:sp>
      <p:sp>
        <p:nvSpPr>
          <p:cNvPr id="32" name="Text 30"/>
          <p:cNvSpPr/>
          <p:nvPr/>
        </p:nvSpPr>
        <p:spPr>
          <a:xfrm>
            <a:off x="7379208" y="2624328"/>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1.05</a:t>
            </a:r>
            <a:endParaRPr lang="en-US" sz="930" dirty="0"/>
          </a:p>
        </p:txBody>
      </p:sp>
      <p:sp>
        <p:nvSpPr>
          <p:cNvPr id="33" name="Text 31"/>
          <p:cNvSpPr/>
          <p:nvPr/>
        </p:nvSpPr>
        <p:spPr>
          <a:xfrm>
            <a:off x="8750808" y="2624328"/>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1.10</a:t>
            </a:r>
            <a:endParaRPr lang="en-US" sz="930" dirty="0"/>
          </a:p>
        </p:txBody>
      </p:sp>
      <p:sp>
        <p:nvSpPr>
          <p:cNvPr id="34" name="Text 32"/>
          <p:cNvSpPr/>
          <p:nvPr/>
        </p:nvSpPr>
        <p:spPr>
          <a:xfrm>
            <a:off x="10213848" y="2624328"/>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1.15</a:t>
            </a:r>
            <a:endParaRPr lang="en-US" sz="930" dirty="0"/>
          </a:p>
        </p:txBody>
      </p:sp>
      <p:sp>
        <p:nvSpPr>
          <p:cNvPr id="35" name="Shape 33"/>
          <p:cNvSpPr/>
          <p:nvPr/>
        </p:nvSpPr>
        <p:spPr>
          <a:xfrm>
            <a:off x="548640" y="2953512"/>
            <a:ext cx="11091672" cy="329184"/>
          </a:xfrm>
          <a:prstGeom prst="rect">
            <a:avLst/>
          </a:prstGeom>
          <a:solidFill>
            <a:srgbClr val="F4F7FB"/>
          </a:solidFill>
          <a:ln/>
        </p:spPr>
        <p:txBody>
          <a:bodyPr/>
          <a:p/>
        </p:txBody>
      </p:sp>
      <p:sp>
        <p:nvSpPr>
          <p:cNvPr id="36" name="Text 34"/>
          <p:cNvSpPr/>
          <p:nvPr/>
        </p:nvSpPr>
        <p:spPr>
          <a:xfrm>
            <a:off x="658368" y="2953512"/>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United States</a:t>
            </a:r>
            <a:endParaRPr lang="en-US" sz="930" dirty="0"/>
          </a:p>
        </p:txBody>
      </p:sp>
      <p:sp>
        <p:nvSpPr>
          <p:cNvPr id="37" name="Text 35"/>
          <p:cNvSpPr/>
          <p:nvPr/>
        </p:nvSpPr>
        <p:spPr>
          <a:xfrm>
            <a:off x="2807208" y="2953512"/>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34.00</a:t>
            </a:r>
            <a:endParaRPr lang="en-US" sz="930" dirty="0"/>
          </a:p>
        </p:txBody>
      </p:sp>
      <p:sp>
        <p:nvSpPr>
          <p:cNvPr id="38" name="Text 36"/>
          <p:cNvSpPr/>
          <p:nvPr/>
        </p:nvSpPr>
        <p:spPr>
          <a:xfrm>
            <a:off x="4407408" y="2953512"/>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24.00</a:t>
            </a:r>
            <a:endParaRPr lang="en-US" sz="930" dirty="0"/>
          </a:p>
        </p:txBody>
      </p:sp>
      <p:sp>
        <p:nvSpPr>
          <p:cNvPr id="39" name="Text 37"/>
          <p:cNvSpPr/>
          <p:nvPr/>
        </p:nvSpPr>
        <p:spPr>
          <a:xfrm>
            <a:off x="5961888" y="2953512"/>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0.10</a:t>
            </a:r>
            <a:endParaRPr lang="en-US" sz="930" dirty="0"/>
          </a:p>
        </p:txBody>
      </p:sp>
      <p:sp>
        <p:nvSpPr>
          <p:cNvPr id="40" name="Text 38"/>
          <p:cNvSpPr/>
          <p:nvPr/>
        </p:nvSpPr>
        <p:spPr>
          <a:xfrm>
            <a:off x="7379208" y="2953512"/>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0.85</a:t>
            </a:r>
            <a:endParaRPr lang="en-US" sz="930" dirty="0"/>
          </a:p>
        </p:txBody>
      </p:sp>
      <p:sp>
        <p:nvSpPr>
          <p:cNvPr id="41" name="Text 39"/>
          <p:cNvSpPr/>
          <p:nvPr/>
        </p:nvSpPr>
        <p:spPr>
          <a:xfrm>
            <a:off x="8750808" y="2953512"/>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0.95</a:t>
            </a:r>
            <a:endParaRPr lang="en-US" sz="930" dirty="0"/>
          </a:p>
        </p:txBody>
      </p:sp>
      <p:sp>
        <p:nvSpPr>
          <p:cNvPr id="42" name="Text 40"/>
          <p:cNvSpPr/>
          <p:nvPr/>
        </p:nvSpPr>
        <p:spPr>
          <a:xfrm>
            <a:off x="10213848" y="2953512"/>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1.25</a:t>
            </a:r>
            <a:endParaRPr lang="en-US" sz="930" dirty="0"/>
          </a:p>
        </p:txBody>
      </p:sp>
      <p:sp>
        <p:nvSpPr>
          <p:cNvPr id="43" name="Shape 41"/>
          <p:cNvSpPr/>
          <p:nvPr/>
        </p:nvSpPr>
        <p:spPr>
          <a:xfrm>
            <a:off x="548640" y="3282696"/>
            <a:ext cx="11091672" cy="329184"/>
          </a:xfrm>
          <a:prstGeom prst="rect">
            <a:avLst/>
          </a:prstGeom>
          <a:solidFill>
            <a:srgbClr val="FFFFFF"/>
          </a:solidFill>
          <a:ln/>
        </p:spPr>
        <p:txBody>
          <a:bodyPr/>
          <a:p/>
        </p:txBody>
      </p:sp>
      <p:sp>
        <p:nvSpPr>
          <p:cNvPr id="44" name="Text 42"/>
          <p:cNvSpPr/>
          <p:nvPr/>
        </p:nvSpPr>
        <p:spPr>
          <a:xfrm>
            <a:off x="658368" y="3282696"/>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Poland</a:t>
            </a:r>
            <a:endParaRPr lang="en-US" sz="930" dirty="0"/>
          </a:p>
        </p:txBody>
      </p:sp>
      <p:sp>
        <p:nvSpPr>
          <p:cNvPr id="45" name="Text 43"/>
          <p:cNvSpPr/>
          <p:nvPr/>
        </p:nvSpPr>
        <p:spPr>
          <a:xfrm>
            <a:off x="2807208" y="3282696"/>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12.00</a:t>
            </a:r>
            <a:endParaRPr lang="en-US" sz="930" dirty="0"/>
          </a:p>
        </p:txBody>
      </p:sp>
      <p:sp>
        <p:nvSpPr>
          <p:cNvPr id="46" name="Text 44"/>
          <p:cNvSpPr/>
          <p:nvPr/>
        </p:nvSpPr>
        <p:spPr>
          <a:xfrm>
            <a:off x="4407408" y="3282696"/>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8.00</a:t>
            </a:r>
            <a:endParaRPr lang="en-US" sz="930" dirty="0"/>
          </a:p>
        </p:txBody>
      </p:sp>
      <p:sp>
        <p:nvSpPr>
          <p:cNvPr id="47" name="Text 45"/>
          <p:cNvSpPr/>
          <p:nvPr/>
        </p:nvSpPr>
        <p:spPr>
          <a:xfrm>
            <a:off x="5961888" y="3282696"/>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0.14</a:t>
            </a:r>
            <a:endParaRPr lang="en-US" sz="930" dirty="0"/>
          </a:p>
        </p:txBody>
      </p:sp>
      <p:sp>
        <p:nvSpPr>
          <p:cNvPr id="48" name="Text 46"/>
          <p:cNvSpPr/>
          <p:nvPr/>
        </p:nvSpPr>
        <p:spPr>
          <a:xfrm>
            <a:off x="7379208" y="3282696"/>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0.72</a:t>
            </a:r>
            <a:endParaRPr lang="en-US" sz="930" dirty="0"/>
          </a:p>
        </p:txBody>
      </p:sp>
      <p:sp>
        <p:nvSpPr>
          <p:cNvPr id="49" name="Text 47"/>
          <p:cNvSpPr/>
          <p:nvPr/>
        </p:nvSpPr>
        <p:spPr>
          <a:xfrm>
            <a:off x="8750808" y="3282696"/>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0.85</a:t>
            </a:r>
            <a:endParaRPr lang="en-US" sz="930" dirty="0"/>
          </a:p>
        </p:txBody>
      </p:sp>
      <p:sp>
        <p:nvSpPr>
          <p:cNvPr id="50" name="Text 48"/>
          <p:cNvSpPr/>
          <p:nvPr/>
        </p:nvSpPr>
        <p:spPr>
          <a:xfrm>
            <a:off x="10213848" y="3282696"/>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a:t>
            </a:r>
            <a:endParaRPr lang="en-US" sz="930" dirty="0"/>
          </a:p>
        </p:txBody>
      </p:sp>
      <p:sp>
        <p:nvSpPr>
          <p:cNvPr id="51" name="Shape 49"/>
          <p:cNvSpPr/>
          <p:nvPr/>
        </p:nvSpPr>
        <p:spPr>
          <a:xfrm>
            <a:off x="548640" y="3611880"/>
            <a:ext cx="11091672" cy="329184"/>
          </a:xfrm>
          <a:prstGeom prst="rect">
            <a:avLst/>
          </a:prstGeom>
          <a:solidFill>
            <a:srgbClr val="F4F7FB"/>
          </a:solidFill>
          <a:ln/>
        </p:spPr>
        <p:txBody>
          <a:bodyPr/>
          <a:p/>
        </p:txBody>
      </p:sp>
      <p:sp>
        <p:nvSpPr>
          <p:cNvPr id="52" name="Text 50"/>
          <p:cNvSpPr/>
          <p:nvPr/>
        </p:nvSpPr>
        <p:spPr>
          <a:xfrm>
            <a:off x="658368" y="3611880"/>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Czech Rep.</a:t>
            </a:r>
            <a:endParaRPr lang="en-US" sz="930" dirty="0"/>
          </a:p>
        </p:txBody>
      </p:sp>
      <p:sp>
        <p:nvSpPr>
          <p:cNvPr id="53" name="Text 51"/>
          <p:cNvSpPr/>
          <p:nvPr/>
        </p:nvSpPr>
        <p:spPr>
          <a:xfrm>
            <a:off x="2807208" y="3611880"/>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13.00</a:t>
            </a:r>
            <a:endParaRPr lang="en-US" sz="930" dirty="0"/>
          </a:p>
        </p:txBody>
      </p:sp>
      <p:sp>
        <p:nvSpPr>
          <p:cNvPr id="54" name="Text 52"/>
          <p:cNvSpPr/>
          <p:nvPr/>
        </p:nvSpPr>
        <p:spPr>
          <a:xfrm>
            <a:off x="4407408" y="3611880"/>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9.50</a:t>
            </a:r>
            <a:endParaRPr lang="en-US" sz="930" dirty="0"/>
          </a:p>
        </p:txBody>
      </p:sp>
      <p:sp>
        <p:nvSpPr>
          <p:cNvPr id="55" name="Text 53"/>
          <p:cNvSpPr/>
          <p:nvPr/>
        </p:nvSpPr>
        <p:spPr>
          <a:xfrm>
            <a:off x="5961888" y="3611880"/>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0.13</a:t>
            </a:r>
            <a:endParaRPr lang="en-US" sz="930" dirty="0"/>
          </a:p>
        </p:txBody>
      </p:sp>
      <p:sp>
        <p:nvSpPr>
          <p:cNvPr id="56" name="Text 54"/>
          <p:cNvSpPr/>
          <p:nvPr/>
        </p:nvSpPr>
        <p:spPr>
          <a:xfrm>
            <a:off x="7379208" y="3611880"/>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0.74</a:t>
            </a:r>
            <a:endParaRPr lang="en-US" sz="930" dirty="0"/>
          </a:p>
        </p:txBody>
      </p:sp>
      <p:sp>
        <p:nvSpPr>
          <p:cNvPr id="57" name="Text 55"/>
          <p:cNvSpPr/>
          <p:nvPr/>
        </p:nvSpPr>
        <p:spPr>
          <a:xfrm>
            <a:off x="8750808" y="3611880"/>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0.87</a:t>
            </a:r>
            <a:endParaRPr lang="en-US" sz="930" dirty="0"/>
          </a:p>
        </p:txBody>
      </p:sp>
      <p:sp>
        <p:nvSpPr>
          <p:cNvPr id="58" name="Text 56"/>
          <p:cNvSpPr/>
          <p:nvPr/>
        </p:nvSpPr>
        <p:spPr>
          <a:xfrm>
            <a:off x="10213848" y="3611880"/>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1.20</a:t>
            </a:r>
            <a:endParaRPr lang="en-US" sz="930" dirty="0"/>
          </a:p>
        </p:txBody>
      </p:sp>
      <p:sp>
        <p:nvSpPr>
          <p:cNvPr id="59" name="Shape 57"/>
          <p:cNvSpPr/>
          <p:nvPr/>
        </p:nvSpPr>
        <p:spPr>
          <a:xfrm>
            <a:off x="548640" y="3941064"/>
            <a:ext cx="11091672" cy="329184"/>
          </a:xfrm>
          <a:prstGeom prst="rect">
            <a:avLst/>
          </a:prstGeom>
          <a:solidFill>
            <a:srgbClr val="FFFFFF"/>
          </a:solidFill>
          <a:ln/>
        </p:spPr>
        <p:txBody>
          <a:bodyPr/>
          <a:p/>
        </p:txBody>
      </p:sp>
      <p:sp>
        <p:nvSpPr>
          <p:cNvPr id="60" name="Text 58"/>
          <p:cNvSpPr/>
          <p:nvPr/>
        </p:nvSpPr>
        <p:spPr>
          <a:xfrm>
            <a:off x="658368" y="3941064"/>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Mexico</a:t>
            </a:r>
            <a:endParaRPr lang="en-US" sz="930" dirty="0"/>
          </a:p>
        </p:txBody>
      </p:sp>
      <p:sp>
        <p:nvSpPr>
          <p:cNvPr id="61" name="Text 59"/>
          <p:cNvSpPr/>
          <p:nvPr/>
        </p:nvSpPr>
        <p:spPr>
          <a:xfrm>
            <a:off x="2807208" y="3941064"/>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7.50</a:t>
            </a:r>
            <a:endParaRPr lang="en-US" sz="930" dirty="0"/>
          </a:p>
        </p:txBody>
      </p:sp>
      <p:sp>
        <p:nvSpPr>
          <p:cNvPr id="62" name="Text 60"/>
          <p:cNvSpPr/>
          <p:nvPr/>
        </p:nvSpPr>
        <p:spPr>
          <a:xfrm>
            <a:off x="4407408" y="3941064"/>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4.80</a:t>
            </a:r>
            <a:endParaRPr lang="en-US" sz="930" dirty="0"/>
          </a:p>
        </p:txBody>
      </p:sp>
      <p:sp>
        <p:nvSpPr>
          <p:cNvPr id="63" name="Text 61"/>
          <p:cNvSpPr/>
          <p:nvPr/>
        </p:nvSpPr>
        <p:spPr>
          <a:xfrm>
            <a:off x="5961888" y="3941064"/>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0.08</a:t>
            </a:r>
            <a:endParaRPr lang="en-US" sz="930" dirty="0"/>
          </a:p>
        </p:txBody>
      </p:sp>
      <p:sp>
        <p:nvSpPr>
          <p:cNvPr id="64" name="Text 62"/>
          <p:cNvSpPr/>
          <p:nvPr/>
        </p:nvSpPr>
        <p:spPr>
          <a:xfrm>
            <a:off x="7379208" y="3941064"/>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0.60</a:t>
            </a:r>
            <a:endParaRPr lang="en-US" sz="930" dirty="0"/>
          </a:p>
        </p:txBody>
      </p:sp>
      <p:sp>
        <p:nvSpPr>
          <p:cNvPr id="65" name="Text 63"/>
          <p:cNvSpPr/>
          <p:nvPr/>
        </p:nvSpPr>
        <p:spPr>
          <a:xfrm>
            <a:off x="8750808" y="3941064"/>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0.78</a:t>
            </a:r>
            <a:endParaRPr lang="en-US" sz="930" dirty="0"/>
          </a:p>
        </p:txBody>
      </p:sp>
      <p:sp>
        <p:nvSpPr>
          <p:cNvPr id="66" name="Text 64"/>
          <p:cNvSpPr/>
          <p:nvPr/>
        </p:nvSpPr>
        <p:spPr>
          <a:xfrm>
            <a:off x="10213848" y="3941064"/>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1.35</a:t>
            </a:r>
            <a:endParaRPr lang="en-US" sz="930" dirty="0"/>
          </a:p>
        </p:txBody>
      </p:sp>
      <p:sp>
        <p:nvSpPr>
          <p:cNvPr id="67" name="Shape 65"/>
          <p:cNvSpPr/>
          <p:nvPr/>
        </p:nvSpPr>
        <p:spPr>
          <a:xfrm>
            <a:off x="548640" y="4270248"/>
            <a:ext cx="11091672" cy="329184"/>
          </a:xfrm>
          <a:prstGeom prst="rect">
            <a:avLst/>
          </a:prstGeom>
          <a:solidFill>
            <a:srgbClr val="F4F7FB"/>
          </a:solidFill>
          <a:ln/>
        </p:spPr>
        <p:txBody>
          <a:bodyPr/>
          <a:p/>
        </p:txBody>
      </p:sp>
      <p:sp>
        <p:nvSpPr>
          <p:cNvPr id="68" name="Text 66"/>
          <p:cNvSpPr/>
          <p:nvPr/>
        </p:nvSpPr>
        <p:spPr>
          <a:xfrm>
            <a:off x="658368" y="4270248"/>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Turkey</a:t>
            </a:r>
            <a:endParaRPr lang="en-US" sz="930" dirty="0"/>
          </a:p>
        </p:txBody>
      </p:sp>
      <p:sp>
        <p:nvSpPr>
          <p:cNvPr id="69" name="Text 67"/>
          <p:cNvSpPr/>
          <p:nvPr/>
        </p:nvSpPr>
        <p:spPr>
          <a:xfrm>
            <a:off x="2807208" y="4270248"/>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6.50</a:t>
            </a:r>
            <a:endParaRPr lang="en-US" sz="930" dirty="0"/>
          </a:p>
        </p:txBody>
      </p:sp>
      <p:sp>
        <p:nvSpPr>
          <p:cNvPr id="70" name="Text 68"/>
          <p:cNvSpPr/>
          <p:nvPr/>
        </p:nvSpPr>
        <p:spPr>
          <a:xfrm>
            <a:off x="4407408" y="4270248"/>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4.80</a:t>
            </a:r>
            <a:endParaRPr lang="en-US" sz="930" dirty="0"/>
          </a:p>
        </p:txBody>
      </p:sp>
      <p:sp>
        <p:nvSpPr>
          <p:cNvPr id="71" name="Text 69"/>
          <p:cNvSpPr/>
          <p:nvPr/>
        </p:nvSpPr>
        <p:spPr>
          <a:xfrm>
            <a:off x="5961888" y="4270248"/>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0.09</a:t>
            </a:r>
            <a:endParaRPr lang="en-US" sz="930" dirty="0"/>
          </a:p>
        </p:txBody>
      </p:sp>
      <p:sp>
        <p:nvSpPr>
          <p:cNvPr id="72" name="Text 70"/>
          <p:cNvSpPr/>
          <p:nvPr/>
        </p:nvSpPr>
        <p:spPr>
          <a:xfrm>
            <a:off x="7379208" y="4270248"/>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0.60</a:t>
            </a:r>
            <a:endParaRPr lang="en-US" sz="930" dirty="0"/>
          </a:p>
        </p:txBody>
      </p:sp>
      <p:sp>
        <p:nvSpPr>
          <p:cNvPr id="73" name="Text 71"/>
          <p:cNvSpPr/>
          <p:nvPr/>
        </p:nvSpPr>
        <p:spPr>
          <a:xfrm>
            <a:off x="8750808" y="4270248"/>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0.78</a:t>
            </a:r>
            <a:endParaRPr lang="en-US" sz="930" dirty="0"/>
          </a:p>
        </p:txBody>
      </p:sp>
      <p:sp>
        <p:nvSpPr>
          <p:cNvPr id="74" name="Text 72"/>
          <p:cNvSpPr/>
          <p:nvPr/>
        </p:nvSpPr>
        <p:spPr>
          <a:xfrm>
            <a:off x="10213848" y="4270248"/>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1.30</a:t>
            </a:r>
            <a:endParaRPr lang="en-US" sz="930" dirty="0"/>
          </a:p>
        </p:txBody>
      </p:sp>
      <p:sp>
        <p:nvSpPr>
          <p:cNvPr id="75" name="Shape 73"/>
          <p:cNvSpPr/>
          <p:nvPr/>
        </p:nvSpPr>
        <p:spPr>
          <a:xfrm>
            <a:off x="548640" y="4599432"/>
            <a:ext cx="11091672" cy="329184"/>
          </a:xfrm>
          <a:prstGeom prst="rect">
            <a:avLst/>
          </a:prstGeom>
          <a:solidFill>
            <a:srgbClr val="FFFFFF"/>
          </a:solidFill>
          <a:ln/>
        </p:spPr>
        <p:txBody>
          <a:bodyPr/>
          <a:p/>
        </p:txBody>
      </p:sp>
      <p:sp>
        <p:nvSpPr>
          <p:cNvPr id="76" name="Text 74"/>
          <p:cNvSpPr/>
          <p:nvPr/>
        </p:nvSpPr>
        <p:spPr>
          <a:xfrm>
            <a:off x="658368" y="4599432"/>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China</a:t>
            </a:r>
            <a:endParaRPr lang="en-US" sz="930" dirty="0"/>
          </a:p>
        </p:txBody>
      </p:sp>
      <p:sp>
        <p:nvSpPr>
          <p:cNvPr id="77" name="Text 75"/>
          <p:cNvSpPr/>
          <p:nvPr/>
        </p:nvSpPr>
        <p:spPr>
          <a:xfrm>
            <a:off x="2807208" y="4599432"/>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7.90</a:t>
            </a:r>
            <a:endParaRPr lang="en-US" sz="930" dirty="0"/>
          </a:p>
        </p:txBody>
      </p:sp>
      <p:sp>
        <p:nvSpPr>
          <p:cNvPr id="78" name="Text 76"/>
          <p:cNvSpPr/>
          <p:nvPr/>
        </p:nvSpPr>
        <p:spPr>
          <a:xfrm>
            <a:off x="4407408" y="4599432"/>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5.00</a:t>
            </a:r>
            <a:endParaRPr lang="en-US" sz="930" dirty="0"/>
          </a:p>
        </p:txBody>
      </p:sp>
      <p:sp>
        <p:nvSpPr>
          <p:cNvPr id="79" name="Text 77"/>
          <p:cNvSpPr/>
          <p:nvPr/>
        </p:nvSpPr>
        <p:spPr>
          <a:xfrm>
            <a:off x="5961888" y="4599432"/>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0.07</a:t>
            </a:r>
            <a:endParaRPr lang="en-US" sz="930" dirty="0"/>
          </a:p>
        </p:txBody>
      </p:sp>
      <p:sp>
        <p:nvSpPr>
          <p:cNvPr id="80" name="Text 78"/>
          <p:cNvSpPr/>
          <p:nvPr/>
        </p:nvSpPr>
        <p:spPr>
          <a:xfrm>
            <a:off x="7379208" y="4599432"/>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0.55</a:t>
            </a:r>
            <a:endParaRPr lang="en-US" sz="930" dirty="0"/>
          </a:p>
        </p:txBody>
      </p:sp>
      <p:sp>
        <p:nvSpPr>
          <p:cNvPr id="81" name="Text 79"/>
          <p:cNvSpPr/>
          <p:nvPr/>
        </p:nvSpPr>
        <p:spPr>
          <a:xfrm>
            <a:off x="8750808" y="4599432"/>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0.75</a:t>
            </a:r>
            <a:endParaRPr lang="en-US" sz="930" dirty="0"/>
          </a:p>
        </p:txBody>
      </p:sp>
      <p:sp>
        <p:nvSpPr>
          <p:cNvPr id="82" name="Text 80"/>
          <p:cNvSpPr/>
          <p:nvPr/>
        </p:nvSpPr>
        <p:spPr>
          <a:xfrm>
            <a:off x="10213848" y="4599432"/>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1.45</a:t>
            </a:r>
            <a:endParaRPr lang="en-US" sz="930" dirty="0"/>
          </a:p>
        </p:txBody>
      </p:sp>
      <p:sp>
        <p:nvSpPr>
          <p:cNvPr id="83" name="Shape 81"/>
          <p:cNvSpPr/>
          <p:nvPr/>
        </p:nvSpPr>
        <p:spPr>
          <a:xfrm>
            <a:off x="548640" y="4928616"/>
            <a:ext cx="11091672" cy="329184"/>
          </a:xfrm>
          <a:prstGeom prst="rect">
            <a:avLst/>
          </a:prstGeom>
          <a:solidFill>
            <a:srgbClr val="F4F7FB"/>
          </a:solidFill>
          <a:ln/>
        </p:spPr>
        <p:txBody>
          <a:bodyPr/>
          <a:p/>
        </p:txBody>
      </p:sp>
      <p:sp>
        <p:nvSpPr>
          <p:cNvPr id="84" name="Text 82"/>
          <p:cNvSpPr/>
          <p:nvPr/>
        </p:nvSpPr>
        <p:spPr>
          <a:xfrm>
            <a:off x="658368" y="4928616"/>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India</a:t>
            </a:r>
            <a:endParaRPr lang="en-US" sz="930" dirty="0"/>
          </a:p>
        </p:txBody>
      </p:sp>
      <p:sp>
        <p:nvSpPr>
          <p:cNvPr id="85" name="Text 83"/>
          <p:cNvSpPr/>
          <p:nvPr/>
        </p:nvSpPr>
        <p:spPr>
          <a:xfrm>
            <a:off x="2807208" y="4928616"/>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5.10</a:t>
            </a:r>
            <a:endParaRPr lang="en-US" sz="930" dirty="0"/>
          </a:p>
        </p:txBody>
      </p:sp>
      <p:sp>
        <p:nvSpPr>
          <p:cNvPr id="86" name="Text 84"/>
          <p:cNvSpPr/>
          <p:nvPr/>
        </p:nvSpPr>
        <p:spPr>
          <a:xfrm>
            <a:off x="4407408" y="4928616"/>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3.00</a:t>
            </a:r>
            <a:endParaRPr lang="en-US" sz="930" dirty="0"/>
          </a:p>
        </p:txBody>
      </p:sp>
      <p:sp>
        <p:nvSpPr>
          <p:cNvPr id="87" name="Text 85"/>
          <p:cNvSpPr/>
          <p:nvPr/>
        </p:nvSpPr>
        <p:spPr>
          <a:xfrm>
            <a:off x="5961888" y="4928616"/>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0.07</a:t>
            </a:r>
            <a:endParaRPr lang="en-US" sz="930" dirty="0"/>
          </a:p>
        </p:txBody>
      </p:sp>
      <p:sp>
        <p:nvSpPr>
          <p:cNvPr id="88" name="Text 86"/>
          <p:cNvSpPr/>
          <p:nvPr/>
        </p:nvSpPr>
        <p:spPr>
          <a:xfrm>
            <a:off x="7379208" y="4928616"/>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0.52</a:t>
            </a:r>
            <a:endParaRPr lang="en-US" sz="930" dirty="0"/>
          </a:p>
        </p:txBody>
      </p:sp>
      <p:sp>
        <p:nvSpPr>
          <p:cNvPr id="89" name="Text 87"/>
          <p:cNvSpPr/>
          <p:nvPr/>
        </p:nvSpPr>
        <p:spPr>
          <a:xfrm>
            <a:off x="8750808" y="4928616"/>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0.72</a:t>
            </a:r>
            <a:endParaRPr lang="en-US" sz="930" dirty="0"/>
          </a:p>
        </p:txBody>
      </p:sp>
      <p:sp>
        <p:nvSpPr>
          <p:cNvPr id="90" name="Text 88"/>
          <p:cNvSpPr/>
          <p:nvPr/>
        </p:nvSpPr>
        <p:spPr>
          <a:xfrm>
            <a:off x="10213848" y="4928616"/>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1.50</a:t>
            </a:r>
            <a:endParaRPr lang="en-US" sz="930" dirty="0"/>
          </a:p>
        </p:txBody>
      </p:sp>
      <p:sp>
        <p:nvSpPr>
          <p:cNvPr id="91" name="Shape 89"/>
          <p:cNvSpPr/>
          <p:nvPr/>
        </p:nvSpPr>
        <p:spPr>
          <a:xfrm>
            <a:off x="548640" y="5257800"/>
            <a:ext cx="11091672" cy="329184"/>
          </a:xfrm>
          <a:prstGeom prst="rect">
            <a:avLst/>
          </a:prstGeom>
          <a:solidFill>
            <a:srgbClr val="FFFFFF"/>
          </a:solidFill>
          <a:ln/>
        </p:spPr>
        <p:txBody>
          <a:bodyPr/>
          <a:p/>
        </p:txBody>
      </p:sp>
      <p:sp>
        <p:nvSpPr>
          <p:cNvPr id="92" name="Text 90"/>
          <p:cNvSpPr/>
          <p:nvPr/>
        </p:nvSpPr>
        <p:spPr>
          <a:xfrm>
            <a:off x="658368" y="5257800"/>
            <a:ext cx="2011680" cy="329184"/>
          </a:xfrm>
          <a:prstGeom prst="rect">
            <a:avLst/>
          </a:prstGeom>
          <a:noFill/>
          <a:ln/>
        </p:spPr>
        <p:txBody>
          <a:bodyPr wrap="square" lIns="0" tIns="0" rIns="0" bIns="0" rtlCol="0" anchor="ctr"/>
          <a:lstStyle/>
          <a:p>
            <a:pPr algn="l" indent="0" marL="0">
              <a:buNone/>
            </a:pPr>
            <a:r>
              <a:rPr lang="en-US" sz="930" b="1" dirty="0">
                <a:solidFill>
                  <a:srgbClr val="0F1E3D"/>
                </a:solidFill>
                <a:latin typeface="Calibri" pitchFamily="34" charset="0"/>
                <a:ea typeface="Calibri" pitchFamily="34" charset="-122"/>
                <a:cs typeface="Calibri" pitchFamily="34" charset="-120"/>
              </a:rPr>
              <a:t>Vietnam</a:t>
            </a:r>
            <a:endParaRPr lang="en-US" sz="930" dirty="0"/>
          </a:p>
        </p:txBody>
      </p:sp>
      <p:sp>
        <p:nvSpPr>
          <p:cNvPr id="93" name="Text 91"/>
          <p:cNvSpPr/>
          <p:nvPr/>
        </p:nvSpPr>
        <p:spPr>
          <a:xfrm>
            <a:off x="2807208" y="5257800"/>
            <a:ext cx="14630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3.80</a:t>
            </a:r>
            <a:endParaRPr lang="en-US" sz="930" dirty="0"/>
          </a:p>
        </p:txBody>
      </p:sp>
      <p:sp>
        <p:nvSpPr>
          <p:cNvPr id="94" name="Text 92"/>
          <p:cNvSpPr/>
          <p:nvPr/>
        </p:nvSpPr>
        <p:spPr>
          <a:xfrm>
            <a:off x="4407408" y="5257800"/>
            <a:ext cx="141732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2.50</a:t>
            </a:r>
            <a:endParaRPr lang="en-US" sz="930" dirty="0"/>
          </a:p>
        </p:txBody>
      </p:sp>
      <p:sp>
        <p:nvSpPr>
          <p:cNvPr id="95" name="Text 93"/>
          <p:cNvSpPr/>
          <p:nvPr/>
        </p:nvSpPr>
        <p:spPr>
          <a:xfrm>
            <a:off x="5961888" y="5257800"/>
            <a:ext cx="128016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0.06</a:t>
            </a:r>
            <a:endParaRPr lang="en-US" sz="930" dirty="0"/>
          </a:p>
        </p:txBody>
      </p:sp>
      <p:sp>
        <p:nvSpPr>
          <p:cNvPr id="96" name="Text 94"/>
          <p:cNvSpPr/>
          <p:nvPr/>
        </p:nvSpPr>
        <p:spPr>
          <a:xfrm>
            <a:off x="7379208" y="5257800"/>
            <a:ext cx="123444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0.52</a:t>
            </a:r>
            <a:endParaRPr lang="en-US" sz="930" dirty="0"/>
          </a:p>
        </p:txBody>
      </p:sp>
      <p:sp>
        <p:nvSpPr>
          <p:cNvPr id="97" name="Text 95"/>
          <p:cNvSpPr/>
          <p:nvPr/>
        </p:nvSpPr>
        <p:spPr>
          <a:xfrm>
            <a:off x="8750808" y="5257800"/>
            <a:ext cx="1325880"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0.70</a:t>
            </a:r>
            <a:endParaRPr lang="en-US" sz="930" dirty="0"/>
          </a:p>
        </p:txBody>
      </p:sp>
      <p:sp>
        <p:nvSpPr>
          <p:cNvPr id="98" name="Text 96"/>
          <p:cNvSpPr/>
          <p:nvPr/>
        </p:nvSpPr>
        <p:spPr>
          <a:xfrm>
            <a:off x="10213848" y="5257800"/>
            <a:ext cx="1344168" cy="329184"/>
          </a:xfrm>
          <a:prstGeom prst="rect">
            <a:avLst/>
          </a:prstGeom>
          <a:noFill/>
          <a:ln/>
        </p:spPr>
        <p:txBody>
          <a:bodyPr wrap="square" lIns="0" tIns="0" rIns="0" bIns="0" rtlCol="0" anchor="ctr"/>
          <a:lstStyle/>
          <a:p>
            <a:pPr algn="ctr" indent="0" marL="0">
              <a:buNone/>
            </a:pPr>
            <a:r>
              <a:rPr lang="en-US" sz="930" dirty="0">
                <a:solidFill>
                  <a:srgbClr val="3E4C63"/>
                </a:solidFill>
                <a:latin typeface="Calibri" pitchFamily="34" charset="0"/>
                <a:ea typeface="Calibri" pitchFamily="34" charset="-122"/>
                <a:cs typeface="Calibri" pitchFamily="34" charset="-120"/>
              </a:rPr>
              <a:t>1.50</a:t>
            </a:r>
            <a:endParaRPr lang="en-US" sz="930" dirty="0"/>
          </a:p>
        </p:txBody>
      </p:sp>
      <p:sp>
        <p:nvSpPr>
          <p:cNvPr id="99" name="Shape 97"/>
          <p:cNvSpPr/>
          <p:nvPr/>
        </p:nvSpPr>
        <p:spPr>
          <a:xfrm>
            <a:off x="548640" y="5696712"/>
            <a:ext cx="11091672" cy="566928"/>
          </a:xfrm>
          <a:prstGeom prst="roundRect">
            <a:avLst>
              <a:gd name="adj" fmla="val 11290"/>
            </a:avLst>
          </a:prstGeom>
          <a:solidFill>
            <a:srgbClr val="FEF6E7"/>
          </a:solidFill>
          <a:ln w="12700">
            <a:solidFill>
              <a:srgbClr val="E4EAF2"/>
            </a:solidFill>
            <a:prstDash val="solid"/>
          </a:ln>
        </p:spPr>
        <p:txBody>
          <a:bodyPr/>
          <a:p/>
        </p:txBody>
      </p:sp>
      <p:sp>
        <p:nvSpPr>
          <p:cNvPr id="100" name="Shape 98"/>
          <p:cNvSpPr/>
          <p:nvPr/>
        </p:nvSpPr>
        <p:spPr>
          <a:xfrm>
            <a:off x="548640" y="5696712"/>
            <a:ext cx="82296" cy="566928"/>
          </a:xfrm>
          <a:prstGeom prst="rect">
            <a:avLst/>
          </a:prstGeom>
          <a:solidFill>
            <a:srgbClr val="E0900C"/>
          </a:solidFill>
          <a:ln/>
        </p:spPr>
        <p:txBody>
          <a:bodyPr/>
          <a:p/>
        </p:txBody>
      </p:sp>
      <p:sp>
        <p:nvSpPr>
          <p:cNvPr id="101" name="Text 99"/>
          <p:cNvSpPr/>
          <p:nvPr/>
        </p:nvSpPr>
        <p:spPr>
          <a:xfrm>
            <a:off x="914400" y="5696712"/>
            <a:ext cx="10332720" cy="566928"/>
          </a:xfrm>
          <a:prstGeom prst="rect">
            <a:avLst/>
          </a:prstGeom>
          <a:noFill/>
          <a:ln/>
        </p:spPr>
        <p:txBody>
          <a:bodyPr wrap="square" lIns="0" tIns="0" rIns="0" bIns="0" rtlCol="0" anchor="ctr"/>
          <a:lstStyle/>
          <a:p>
            <a:pPr indent="0" marL="0">
              <a:lnSpc>
                <a:spcPct val="105000"/>
              </a:lnSpc>
              <a:buNone/>
            </a:pPr>
            <a:r>
              <a:rPr lang="en-US" sz="1050" b="1" dirty="0">
                <a:solidFill>
                  <a:srgbClr val="0F1E3D"/>
                </a:solidFill>
                <a:latin typeface="Calibri" pitchFamily="34" charset="0"/>
                <a:ea typeface="Calibri" pitchFamily="34" charset="-122"/>
                <a:cs typeface="Calibri" pitchFamily="34" charset="-120"/>
              </a:rPr>
              <a:t>Showing 10 of 20 regions.  </a:t>
            </a:r>
            <a:pPr indent="0" marL="0">
              <a:lnSpc>
                <a:spcPct val="105000"/>
              </a:lnSpc>
              <a:buNone/>
            </a:pPr>
            <a:r>
              <a:rPr lang="en-US" sz="1050" dirty="0">
                <a:solidFill>
                  <a:srgbClr val="3E4C63"/>
                </a:solidFill>
                <a:latin typeface="Calibri" pitchFamily="34" charset="0"/>
                <a:ea typeface="Calibri" pitchFamily="34" charset="-122"/>
                <a:cs typeface="Calibri" pitchFamily="34" charset="-120"/>
              </a:rPr>
              <a:t>From the rate library dated 16 June 2026. Material factors, FX, gas, packaging and duty sit behind these — one versioned library, used by every costing.</a:t>
            </a:r>
            <a:endParaRPr lang="en-US" sz="1050" dirty="0"/>
          </a:p>
        </p:txBody>
      </p:sp>
      <p:sp>
        <p:nvSpPr>
          <p:cNvPr id="102" name="Shape 100"/>
          <p:cNvSpPr/>
          <p:nvPr/>
        </p:nvSpPr>
        <p:spPr>
          <a:xfrm>
            <a:off x="548640" y="6400800"/>
            <a:ext cx="11094415" cy="12802"/>
          </a:xfrm>
          <a:prstGeom prst="rect">
            <a:avLst/>
          </a:prstGeom>
          <a:solidFill>
            <a:srgbClr val="E4EAF2"/>
          </a:solidFill>
          <a:ln/>
        </p:spPr>
        <p:txBody>
          <a:bodyPr/>
          <a:p/>
        </p:txBody>
      </p:sp>
      <p:sp>
        <p:nvSpPr>
          <p:cNvPr id="103" name="Text 101"/>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104" name="Text 102"/>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18 / 33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E0900C"/>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E0900C"/>
                </a:solidFill>
                <a:latin typeface="Calibri" pitchFamily="34" charset="0"/>
                <a:ea typeface="Calibri" pitchFamily="34" charset="-122"/>
                <a:cs typeface="Calibri" pitchFamily="34" charset="-120"/>
              </a:rPr>
              <a:t>DEEP DIVE · SHOULD-COST MODEL</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Bring our own rates — our rates, our numbers</a:t>
            </a:r>
            <a:endParaRPr lang="en-US" sz="2400" dirty="0"/>
          </a:p>
        </p:txBody>
      </p:sp>
      <p:sp>
        <p:nvSpPr>
          <p:cNvPr id="9" name="Shape 7"/>
          <p:cNvSpPr/>
          <p:nvPr/>
        </p:nvSpPr>
        <p:spPr>
          <a:xfrm>
            <a:off x="548640" y="1371600"/>
            <a:ext cx="1051560" cy="45720"/>
          </a:xfrm>
          <a:prstGeom prst="rect">
            <a:avLst/>
          </a:prstGeom>
          <a:solidFill>
            <a:srgbClr val="E0900C"/>
          </a:solidFill>
          <a:ln/>
        </p:spPr>
        <p:txBody>
          <a:bodyPr/>
          <a:p/>
        </p:txBody>
      </p:sp>
      <p:sp>
        <p:nvSpPr>
          <p:cNvPr id="10" name="Text 8"/>
          <p:cNvSpPr/>
          <p:nvPr/>
        </p:nvSpPr>
        <p:spPr>
          <a:xfrm>
            <a:off x="548640" y="1481328"/>
            <a:ext cx="11091672" cy="384048"/>
          </a:xfrm>
          <a:prstGeom prst="rect">
            <a:avLst/>
          </a:prstGeom>
          <a:noFill/>
          <a:ln/>
        </p:spPr>
        <p:txBody>
          <a:bodyPr wrap="square" lIns="0" tIns="0" rIns="0" bIns="0" rtlCol="0" anchor="t"/>
          <a:lstStyle/>
          <a:p>
            <a:pPr indent="0" marL="0">
              <a:lnSpc>
                <a:spcPct val="105000"/>
              </a:lnSpc>
              <a:buNone/>
            </a:pPr>
            <a:r>
              <a:rPr lang="en-US" sz="1200" dirty="0">
                <a:solidFill>
                  <a:srgbClr val="3E4C63"/>
                </a:solidFill>
                <a:latin typeface="Calibri" pitchFamily="34" charset="0"/>
                <a:ea typeface="Calibri" pitchFamily="34" charset="-122"/>
                <a:cs typeface="Calibri" pitchFamily="34" charset="-120"/>
              </a:rPr>
              <a:t>Upload our own cost rates as one Excel workbook. Every costing then runs on our numbers — checked on upload, versioned and traceable.</a:t>
            </a:r>
            <a:endParaRPr lang="en-US" sz="1200" dirty="0"/>
          </a:p>
        </p:txBody>
      </p:sp>
      <p:sp>
        <p:nvSpPr>
          <p:cNvPr id="11" name="Shape 9"/>
          <p:cNvSpPr/>
          <p:nvPr/>
        </p:nvSpPr>
        <p:spPr>
          <a:xfrm>
            <a:off x="548640"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26197455739825e+169" dist="3.605641592566428e+168" dir="7.218447050975619e+197">
              <a:srgbClr val="9DB0CC">
                <a:alpha val="2.2000000000000007e+204"/>
              </a:srgbClr>
            </a:outerShdw>
          </a:effectLst>
        </p:spPr>
        <p:txBody>
          <a:bodyPr/>
          <a:p/>
        </p:txBody>
      </p:sp>
      <p:sp>
        <p:nvSpPr>
          <p:cNvPr id="12" name="Shape 10"/>
          <p:cNvSpPr/>
          <p:nvPr/>
        </p:nvSpPr>
        <p:spPr>
          <a:xfrm>
            <a:off x="548640" y="1938528"/>
            <a:ext cx="82296" cy="1371600"/>
          </a:xfrm>
          <a:prstGeom prst="rect">
            <a:avLst/>
          </a:prstGeom>
          <a:solidFill>
            <a:srgbClr val="2563EB"/>
          </a:solidFill>
          <a:ln/>
        </p:spPr>
        <p:txBody>
          <a:bodyPr/>
          <a:p/>
        </p:txBody>
      </p:sp>
      <p:sp>
        <p:nvSpPr>
          <p:cNvPr id="13" name="Text 11"/>
          <p:cNvSpPr/>
          <p:nvPr/>
        </p:nvSpPr>
        <p:spPr>
          <a:xfrm>
            <a:off x="731520" y="2084832"/>
            <a:ext cx="1495044" cy="274320"/>
          </a:xfrm>
          <a:prstGeom prst="rect">
            <a:avLst/>
          </a:prstGeom>
          <a:noFill/>
          <a:ln/>
        </p:spPr>
        <p:txBody>
          <a:bodyPr wrap="square" lIns="0" tIns="0" rIns="0" bIns="0" rtlCol="0" anchor="t"/>
          <a:lstStyle/>
          <a:p>
            <a:pPr indent="0" marL="0">
              <a:buNone/>
            </a:pPr>
            <a:r>
              <a:rPr lang="en-US" sz="1250" b="1" dirty="0">
                <a:solidFill>
                  <a:srgbClr val="2563EB"/>
                </a:solidFill>
                <a:latin typeface="Calibri" pitchFamily="34" charset="0"/>
                <a:ea typeface="Calibri" pitchFamily="34" charset="-122"/>
                <a:cs typeface="Calibri" pitchFamily="34" charset="-120"/>
              </a:rPr>
              <a:t>Materials</a:t>
            </a:r>
            <a:endParaRPr lang="en-US" sz="1250" dirty="0"/>
          </a:p>
        </p:txBody>
      </p:sp>
      <p:sp>
        <p:nvSpPr>
          <p:cNvPr id="14" name="Text 12"/>
          <p:cNvSpPr/>
          <p:nvPr/>
        </p:nvSpPr>
        <p:spPr>
          <a:xfrm>
            <a:off x="731520"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£/kg, scrap-recovery £/kg, density, region — with effective date</a:t>
            </a:r>
            <a:endParaRPr lang="en-US" sz="830" dirty="0"/>
          </a:p>
        </p:txBody>
      </p:sp>
      <p:sp>
        <p:nvSpPr>
          <p:cNvPr id="15" name="Shape 13"/>
          <p:cNvSpPr/>
          <p:nvPr/>
        </p:nvSpPr>
        <p:spPr>
          <a:xfrm>
            <a:off x="2409444"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6027076878957775e+173" dist="4.579164822559364e+172" dir="4.3310682305853715e+202">
              <a:srgbClr val="9DB0CC">
                <a:alpha val="2.2000000000000006e+209"/>
              </a:srgbClr>
            </a:outerShdw>
          </a:effectLst>
        </p:spPr>
        <p:txBody>
          <a:bodyPr/>
          <a:p/>
        </p:txBody>
      </p:sp>
      <p:sp>
        <p:nvSpPr>
          <p:cNvPr id="16" name="Shape 14"/>
          <p:cNvSpPr/>
          <p:nvPr/>
        </p:nvSpPr>
        <p:spPr>
          <a:xfrm>
            <a:off x="2409444" y="1938528"/>
            <a:ext cx="82296" cy="1371600"/>
          </a:xfrm>
          <a:prstGeom prst="rect">
            <a:avLst/>
          </a:prstGeom>
          <a:solidFill>
            <a:srgbClr val="4F46E5"/>
          </a:solidFill>
          <a:ln/>
        </p:spPr>
        <p:txBody>
          <a:bodyPr/>
          <a:p/>
        </p:txBody>
      </p:sp>
      <p:sp>
        <p:nvSpPr>
          <p:cNvPr id="17" name="Text 15"/>
          <p:cNvSpPr/>
          <p:nvPr/>
        </p:nvSpPr>
        <p:spPr>
          <a:xfrm>
            <a:off x="2592324" y="2084832"/>
            <a:ext cx="1495044" cy="274320"/>
          </a:xfrm>
          <a:prstGeom prst="rect">
            <a:avLst/>
          </a:prstGeom>
          <a:noFill/>
          <a:ln/>
        </p:spPr>
        <p:txBody>
          <a:bodyPr wrap="square" lIns="0" tIns="0" rIns="0" bIns="0" rtlCol="0" anchor="t"/>
          <a:lstStyle/>
          <a:p>
            <a:pPr indent="0" marL="0">
              <a:buNone/>
            </a:pPr>
            <a:r>
              <a:rPr lang="en-US" sz="1250" b="1" dirty="0">
                <a:solidFill>
                  <a:srgbClr val="4F46E5"/>
                </a:solidFill>
                <a:latin typeface="Calibri" pitchFamily="34" charset="0"/>
                <a:ea typeface="Calibri" pitchFamily="34" charset="-122"/>
                <a:cs typeface="Calibri" pitchFamily="34" charset="-120"/>
              </a:rPr>
              <a:t>Machines</a:t>
            </a:r>
            <a:endParaRPr lang="en-US" sz="1250" dirty="0"/>
          </a:p>
        </p:txBody>
      </p:sp>
      <p:sp>
        <p:nvSpPr>
          <p:cNvPr id="18" name="Text 16"/>
          <p:cNvSpPr/>
          <p:nvPr/>
        </p:nvSpPr>
        <p:spPr>
          <a:xfrm>
            <a:off x="2592324"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Full rate build-up (deprec., maint., energy, floor, finance, hours, utilisation) → £/hr</a:t>
            </a:r>
            <a:endParaRPr lang="en-US" sz="830" dirty="0"/>
          </a:p>
        </p:txBody>
      </p:sp>
      <p:sp>
        <p:nvSpPr>
          <p:cNvPr id="19" name="Shape 17"/>
          <p:cNvSpPr/>
          <p:nvPr/>
        </p:nvSpPr>
        <p:spPr>
          <a:xfrm>
            <a:off x="4270248"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0354387636276376e+177" dist="5.815539324650392e+176" dir="2.598640938351223e+207">
              <a:srgbClr val="9DB0CC">
                <a:alpha val="2.2000000000000007e+214"/>
              </a:srgbClr>
            </a:outerShdw>
          </a:effectLst>
        </p:spPr>
        <p:txBody>
          <a:bodyPr/>
          <a:p/>
        </p:txBody>
      </p:sp>
      <p:sp>
        <p:nvSpPr>
          <p:cNvPr id="20" name="Shape 18"/>
          <p:cNvSpPr/>
          <p:nvPr/>
        </p:nvSpPr>
        <p:spPr>
          <a:xfrm>
            <a:off x="4270248" y="1938528"/>
            <a:ext cx="82296" cy="1371600"/>
          </a:xfrm>
          <a:prstGeom prst="rect">
            <a:avLst/>
          </a:prstGeom>
          <a:solidFill>
            <a:srgbClr val="0DA5A0"/>
          </a:solidFill>
          <a:ln/>
        </p:spPr>
        <p:txBody>
          <a:bodyPr/>
          <a:p/>
        </p:txBody>
      </p:sp>
      <p:sp>
        <p:nvSpPr>
          <p:cNvPr id="21" name="Text 19"/>
          <p:cNvSpPr/>
          <p:nvPr/>
        </p:nvSpPr>
        <p:spPr>
          <a:xfrm>
            <a:off x="4453128" y="2084832"/>
            <a:ext cx="1495044" cy="274320"/>
          </a:xfrm>
          <a:prstGeom prst="rect">
            <a:avLst/>
          </a:prstGeom>
          <a:noFill/>
          <a:ln/>
        </p:spPr>
        <p:txBody>
          <a:bodyPr wrap="square" lIns="0" tIns="0" rIns="0" bIns="0" rtlCol="0" anchor="t"/>
          <a:lstStyle/>
          <a:p>
            <a:pPr indent="0" marL="0">
              <a:buNone/>
            </a:pPr>
            <a:r>
              <a:rPr lang="en-US" sz="1250" b="1" dirty="0">
                <a:solidFill>
                  <a:srgbClr val="0DA5A0"/>
                </a:solidFill>
                <a:latin typeface="Calibri" pitchFamily="34" charset="0"/>
                <a:ea typeface="Calibri" pitchFamily="34" charset="-122"/>
                <a:cs typeface="Calibri" pitchFamily="34" charset="-120"/>
              </a:rPr>
              <a:t>Labour</a:t>
            </a:r>
            <a:endParaRPr lang="en-US" sz="1250" dirty="0"/>
          </a:p>
        </p:txBody>
      </p:sp>
      <p:sp>
        <p:nvSpPr>
          <p:cNvPr id="22" name="Text 20"/>
          <p:cNvSpPr/>
          <p:nvPr/>
        </p:nvSpPr>
        <p:spPr>
          <a:xfrm>
            <a:off x="4453128"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Fully-loaded £/hr by region and skill level</a:t>
            </a:r>
            <a:endParaRPr lang="en-US" sz="830" dirty="0"/>
          </a:p>
        </p:txBody>
      </p:sp>
      <p:sp>
        <p:nvSpPr>
          <p:cNvPr id="23" name="Shape 21"/>
          <p:cNvSpPr/>
          <p:nvPr/>
        </p:nvSpPr>
        <p:spPr>
          <a:xfrm>
            <a:off x="6131052"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5850072298071e+181" dist="7.385734942305998e+180" dir="1.5591845630107338e+212">
              <a:srgbClr val="9DB0CC">
                <a:alpha val="2.2000000000000008e+219"/>
              </a:srgbClr>
            </a:outerShdw>
          </a:effectLst>
        </p:spPr>
        <p:txBody>
          <a:bodyPr/>
          <a:p/>
        </p:txBody>
      </p:sp>
      <p:sp>
        <p:nvSpPr>
          <p:cNvPr id="24" name="Shape 22"/>
          <p:cNvSpPr/>
          <p:nvPr/>
        </p:nvSpPr>
        <p:spPr>
          <a:xfrm>
            <a:off x="6131052" y="1938528"/>
            <a:ext cx="82296" cy="1371600"/>
          </a:xfrm>
          <a:prstGeom prst="rect">
            <a:avLst/>
          </a:prstGeom>
          <a:solidFill>
            <a:srgbClr val="E0900C"/>
          </a:solidFill>
          <a:ln/>
        </p:spPr>
        <p:txBody>
          <a:bodyPr/>
          <a:p/>
        </p:txBody>
      </p:sp>
      <p:sp>
        <p:nvSpPr>
          <p:cNvPr id="25" name="Text 23"/>
          <p:cNvSpPr/>
          <p:nvPr/>
        </p:nvSpPr>
        <p:spPr>
          <a:xfrm>
            <a:off x="6313932" y="2084832"/>
            <a:ext cx="1495044" cy="274320"/>
          </a:xfrm>
          <a:prstGeom prst="rect">
            <a:avLst/>
          </a:prstGeom>
          <a:noFill/>
          <a:ln/>
        </p:spPr>
        <p:txBody>
          <a:bodyPr wrap="square" lIns="0" tIns="0" rIns="0" bIns="0" rtlCol="0" anchor="t"/>
          <a:lstStyle/>
          <a:p>
            <a:pPr indent="0" marL="0">
              <a:buNone/>
            </a:pPr>
            <a:r>
              <a:rPr lang="en-US" sz="1250" b="1" dirty="0">
                <a:solidFill>
                  <a:srgbClr val="E0900C"/>
                </a:solidFill>
                <a:latin typeface="Calibri" pitchFamily="34" charset="0"/>
                <a:ea typeface="Calibri" pitchFamily="34" charset="-122"/>
                <a:cs typeface="Calibri" pitchFamily="34" charset="-120"/>
              </a:rPr>
              <a:t>Energy</a:t>
            </a:r>
            <a:endParaRPr lang="en-US" sz="1250" dirty="0"/>
          </a:p>
        </p:txBody>
      </p:sp>
      <p:sp>
        <p:nvSpPr>
          <p:cNvPr id="26" name="Text 24"/>
          <p:cNvSpPr/>
          <p:nvPr/>
        </p:nvSpPr>
        <p:spPr>
          <a:xfrm>
            <a:off x="6313932"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Electricity &amp; gas £/kWh by region</a:t>
            </a:r>
            <a:endParaRPr lang="en-US" sz="830" dirty="0"/>
          </a:p>
        </p:txBody>
      </p:sp>
      <p:sp>
        <p:nvSpPr>
          <p:cNvPr id="27" name="Shape 25"/>
          <p:cNvSpPr/>
          <p:nvPr/>
        </p:nvSpPr>
        <p:spPr>
          <a:xfrm>
            <a:off x="7991856"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3.282959181855017e+185" dist="9.379883376728618e+184" dir="9.355107378064403e+216">
              <a:srgbClr val="9DB0CC">
                <a:alpha val="2.200000000000001e+224"/>
              </a:srgbClr>
            </a:outerShdw>
          </a:effectLst>
        </p:spPr>
        <p:txBody>
          <a:bodyPr/>
          <a:p/>
        </p:txBody>
      </p:sp>
      <p:sp>
        <p:nvSpPr>
          <p:cNvPr id="28" name="Shape 26"/>
          <p:cNvSpPr/>
          <p:nvPr/>
        </p:nvSpPr>
        <p:spPr>
          <a:xfrm>
            <a:off x="7991856" y="1938528"/>
            <a:ext cx="82296" cy="1371600"/>
          </a:xfrm>
          <a:prstGeom prst="rect">
            <a:avLst/>
          </a:prstGeom>
          <a:solidFill>
            <a:srgbClr val="0E93B0"/>
          </a:solidFill>
          <a:ln/>
        </p:spPr>
        <p:txBody>
          <a:bodyPr/>
          <a:p/>
        </p:txBody>
      </p:sp>
      <p:sp>
        <p:nvSpPr>
          <p:cNvPr id="29" name="Text 27"/>
          <p:cNvSpPr/>
          <p:nvPr/>
        </p:nvSpPr>
        <p:spPr>
          <a:xfrm>
            <a:off x="8174736" y="2084832"/>
            <a:ext cx="1495044" cy="274320"/>
          </a:xfrm>
          <a:prstGeom prst="rect">
            <a:avLst/>
          </a:prstGeom>
          <a:noFill/>
          <a:ln/>
        </p:spPr>
        <p:txBody>
          <a:bodyPr wrap="square" lIns="0" tIns="0" rIns="0" bIns="0" rtlCol="0" anchor="t"/>
          <a:lstStyle/>
          <a:p>
            <a:pPr indent="0" marL="0">
              <a:buNone/>
            </a:pPr>
            <a:r>
              <a:rPr lang="en-US" sz="1250" b="1" dirty="0">
                <a:solidFill>
                  <a:srgbClr val="0E93B0"/>
                </a:solidFill>
                <a:latin typeface="Calibri" pitchFamily="34" charset="0"/>
                <a:ea typeface="Calibri" pitchFamily="34" charset="-122"/>
                <a:cs typeface="Calibri" pitchFamily="34" charset="-120"/>
              </a:rPr>
              <a:t>FX</a:t>
            </a:r>
            <a:endParaRPr lang="en-US" sz="1250" dirty="0"/>
          </a:p>
        </p:txBody>
      </p:sp>
      <p:sp>
        <p:nvSpPr>
          <p:cNvPr id="30" name="Text 28"/>
          <p:cNvSpPr/>
          <p:nvPr/>
        </p:nvSpPr>
        <p:spPr>
          <a:xfrm>
            <a:off x="8174736"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Currency pairs and exchange rates</a:t>
            </a:r>
            <a:endParaRPr lang="en-US" sz="830" dirty="0"/>
          </a:p>
        </p:txBody>
      </p:sp>
      <p:sp>
        <p:nvSpPr>
          <p:cNvPr id="31" name="Shape 29"/>
          <p:cNvSpPr/>
          <p:nvPr/>
        </p:nvSpPr>
        <p:spPr>
          <a:xfrm>
            <a:off x="9852660" y="1938528"/>
            <a:ext cx="1787652"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4.1693581609558713e+189" dist="1.1912451888445345e+189" dir="5.613064426838642e+221">
              <a:srgbClr val="9DB0CC">
                <a:alpha val="2.2000000000000008e+229"/>
              </a:srgbClr>
            </a:outerShdw>
          </a:effectLst>
        </p:spPr>
        <p:txBody>
          <a:bodyPr/>
          <a:p/>
        </p:txBody>
      </p:sp>
      <p:sp>
        <p:nvSpPr>
          <p:cNvPr id="32" name="Shape 30"/>
          <p:cNvSpPr/>
          <p:nvPr/>
        </p:nvSpPr>
        <p:spPr>
          <a:xfrm>
            <a:off x="9852660" y="1938528"/>
            <a:ext cx="82296" cy="1371600"/>
          </a:xfrm>
          <a:prstGeom prst="rect">
            <a:avLst/>
          </a:prstGeom>
          <a:solidFill>
            <a:srgbClr val="7C3AED"/>
          </a:solidFill>
          <a:ln/>
        </p:spPr>
        <p:txBody>
          <a:bodyPr/>
          <a:p/>
        </p:txBody>
      </p:sp>
      <p:sp>
        <p:nvSpPr>
          <p:cNvPr id="33" name="Text 31"/>
          <p:cNvSpPr/>
          <p:nvPr/>
        </p:nvSpPr>
        <p:spPr>
          <a:xfrm>
            <a:off x="10035540" y="2084832"/>
            <a:ext cx="1495044" cy="274320"/>
          </a:xfrm>
          <a:prstGeom prst="rect">
            <a:avLst/>
          </a:prstGeom>
          <a:noFill/>
          <a:ln/>
        </p:spPr>
        <p:txBody>
          <a:bodyPr wrap="square" lIns="0" tIns="0" rIns="0" bIns="0" rtlCol="0" anchor="t"/>
          <a:lstStyle/>
          <a:p>
            <a:pPr indent="0" marL="0">
              <a:buNone/>
            </a:pPr>
            <a:r>
              <a:rPr lang="en-US" sz="1250" b="1" dirty="0">
                <a:solidFill>
                  <a:srgbClr val="7C3AED"/>
                </a:solidFill>
                <a:latin typeface="Calibri" pitchFamily="34" charset="0"/>
                <a:ea typeface="Calibri" pitchFamily="34" charset="-122"/>
                <a:cs typeface="Calibri" pitchFamily="34" charset="-120"/>
              </a:rPr>
              <a:t>Overhead</a:t>
            </a:r>
            <a:endParaRPr lang="en-US" sz="1250" dirty="0"/>
          </a:p>
        </p:txBody>
      </p:sp>
      <p:sp>
        <p:nvSpPr>
          <p:cNvPr id="34" name="Text 32"/>
          <p:cNvSpPr/>
          <p:nvPr/>
        </p:nvSpPr>
        <p:spPr>
          <a:xfrm>
            <a:off x="10035540" y="2414016"/>
            <a:ext cx="1476756" cy="822960"/>
          </a:xfrm>
          <a:prstGeom prst="rect">
            <a:avLst/>
          </a:prstGeom>
          <a:noFill/>
          <a:ln/>
        </p:spPr>
        <p:txBody>
          <a:bodyPr wrap="square" lIns="0" tIns="0" rIns="0" bIns="0" rtlCol="0" anchor="t"/>
          <a:lstStyle/>
          <a:p>
            <a:pPr indent="0" marL="0">
              <a:lnSpc>
                <a:spcPct val="105000"/>
              </a:lnSpc>
              <a:buNone/>
            </a:pPr>
            <a:r>
              <a:rPr lang="en-US" sz="830" dirty="0">
                <a:solidFill>
                  <a:srgbClr val="3E4C63"/>
                </a:solidFill>
                <a:latin typeface="Calibri" pitchFamily="34" charset="0"/>
                <a:ea typeface="Calibri" pitchFamily="34" charset="-122"/>
                <a:cs typeface="Calibri" pitchFamily="34" charset="-120"/>
              </a:rPr>
              <a:t>Overhead % and margin % by commodity and supplier tier</a:t>
            </a:r>
            <a:endParaRPr lang="en-US" sz="830" dirty="0"/>
          </a:p>
        </p:txBody>
      </p:sp>
      <p:sp>
        <p:nvSpPr>
          <p:cNvPr id="35" name="Text 33"/>
          <p:cNvSpPr/>
          <p:nvPr/>
        </p:nvSpPr>
        <p:spPr>
          <a:xfrm>
            <a:off x="548640" y="3355848"/>
            <a:ext cx="11091672" cy="237744"/>
          </a:xfrm>
          <a:prstGeom prst="rect">
            <a:avLst/>
          </a:prstGeom>
          <a:noFill/>
          <a:ln/>
        </p:spPr>
        <p:txBody>
          <a:bodyPr wrap="square" lIns="0" tIns="0" rIns="0" bIns="0" rtlCol="0" anchor="t"/>
          <a:lstStyle/>
          <a:p>
            <a:pPr indent="0" marL="0">
              <a:buNone/>
            </a:pPr>
            <a:r>
              <a:rPr lang="en-US" sz="930" i="1" dirty="0">
                <a:solidFill>
                  <a:srgbClr val="8A97A8"/>
                </a:solidFill>
                <a:latin typeface="Calibri" pitchFamily="34" charset="0"/>
                <a:ea typeface="Calibri" pitchFamily="34" charset="-122"/>
                <a:cs typeface="Calibri" pitchFamily="34" charset="-120"/>
              </a:rPr>
              <a:t>Six rate tables — one tab each in the template.</a:t>
            </a:r>
            <a:endParaRPr lang="en-US" sz="930" dirty="0"/>
          </a:p>
        </p:txBody>
      </p:sp>
      <p:sp>
        <p:nvSpPr>
          <p:cNvPr id="36" name="Shape 34"/>
          <p:cNvSpPr/>
          <p:nvPr/>
        </p:nvSpPr>
        <p:spPr>
          <a:xfrm>
            <a:off x="548640"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5.295084864413956e+193" dist="1.5128813898325588e+193" dir="3.367838656103185e+226">
              <a:srgbClr val="9DB0CC">
                <a:alpha val="2.2000000000000008e+234"/>
              </a:srgbClr>
            </a:outerShdw>
          </a:effectLst>
        </p:spPr>
        <p:txBody>
          <a:bodyPr/>
          <a:p/>
        </p:txBody>
      </p:sp>
      <p:sp>
        <p:nvSpPr>
          <p:cNvPr id="37" name="Shape 35"/>
          <p:cNvSpPr/>
          <p:nvPr/>
        </p:nvSpPr>
        <p:spPr>
          <a:xfrm>
            <a:off x="548640" y="3474720"/>
            <a:ext cx="82296" cy="1463040"/>
          </a:xfrm>
          <a:prstGeom prst="rect">
            <a:avLst/>
          </a:prstGeom>
          <a:solidFill>
            <a:srgbClr val="7C3AED"/>
          </a:solidFill>
          <a:ln/>
        </p:spPr>
        <p:txBody>
          <a:bodyPr/>
          <a:p/>
        </p:txBody>
      </p:sp>
      <p:sp>
        <p:nvSpPr>
          <p:cNvPr id="38" name="Text 36"/>
          <p:cNvSpPr/>
          <p:nvPr/>
        </p:nvSpPr>
        <p:spPr>
          <a:xfrm>
            <a:off x="768096" y="3639312"/>
            <a:ext cx="3252216" cy="274320"/>
          </a:xfrm>
          <a:prstGeom prst="rect">
            <a:avLst/>
          </a:prstGeom>
          <a:noFill/>
          <a:ln/>
        </p:spPr>
        <p:txBody>
          <a:bodyPr wrap="square" lIns="0" tIns="0" rIns="0" bIns="0" rtlCol="0" anchor="t"/>
          <a:lstStyle/>
          <a:p>
            <a:pPr indent="0" marL="0">
              <a:buNone/>
            </a:pPr>
            <a:r>
              <a:rPr lang="en-US" sz="1200" b="1" spc="40" kern="0" dirty="0">
                <a:solidFill>
                  <a:srgbClr val="7C3AED"/>
                </a:solidFill>
                <a:latin typeface="Calibri" pitchFamily="34" charset="0"/>
                <a:ea typeface="Calibri" pitchFamily="34" charset="-122"/>
                <a:cs typeface="Calibri" pitchFamily="34" charset="-120"/>
              </a:rPr>
              <a:t>WHO CAN UPLOAD</a:t>
            </a:r>
            <a:endParaRPr lang="en-US" sz="1200" dirty="0"/>
          </a:p>
        </p:txBody>
      </p:sp>
      <p:sp>
        <p:nvSpPr>
          <p:cNvPr id="39" name="Text 37"/>
          <p:cNvSpPr/>
          <p:nvPr/>
        </p:nvSpPr>
        <p:spPr>
          <a:xfrm>
            <a:off x="768096"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Admin-gated. </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Admins upload, switch company ↔ built-in, or reset. Everyone else costs on the active set — a badge shows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“Company rates active”</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or built-in defaults.</a:t>
            </a:r>
            <a:endParaRPr lang="en-US" sz="960" dirty="0"/>
          </a:p>
        </p:txBody>
      </p:sp>
      <p:sp>
        <p:nvSpPr>
          <p:cNvPr id="40" name="Shape 38"/>
          <p:cNvSpPr/>
          <p:nvPr/>
        </p:nvSpPr>
        <p:spPr>
          <a:xfrm>
            <a:off x="4285488"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6.724757777805725e+197" dist="1.9213593650873497e+197" dir="2.020703193661911e+231">
              <a:srgbClr val="9DB0CC">
                <a:alpha val="2.200000000000001e+239"/>
              </a:srgbClr>
            </a:outerShdw>
          </a:effectLst>
        </p:spPr>
        <p:txBody>
          <a:bodyPr/>
          <a:p/>
        </p:txBody>
      </p:sp>
      <p:sp>
        <p:nvSpPr>
          <p:cNvPr id="41" name="Shape 39"/>
          <p:cNvSpPr/>
          <p:nvPr/>
        </p:nvSpPr>
        <p:spPr>
          <a:xfrm>
            <a:off x="4285488" y="3474720"/>
            <a:ext cx="82296" cy="1463040"/>
          </a:xfrm>
          <a:prstGeom prst="rect">
            <a:avLst/>
          </a:prstGeom>
          <a:solidFill>
            <a:srgbClr val="2563EB"/>
          </a:solidFill>
          <a:ln/>
        </p:spPr>
        <p:txBody>
          <a:bodyPr/>
          <a:p/>
        </p:txBody>
      </p:sp>
      <p:sp>
        <p:nvSpPr>
          <p:cNvPr id="42" name="Text 40"/>
          <p:cNvSpPr/>
          <p:nvPr/>
        </p:nvSpPr>
        <p:spPr>
          <a:xfrm>
            <a:off x="4504944" y="3639312"/>
            <a:ext cx="3252216" cy="274320"/>
          </a:xfrm>
          <a:prstGeom prst="rect">
            <a:avLst/>
          </a:prstGeom>
          <a:noFill/>
          <a:ln/>
        </p:spPr>
        <p:txBody>
          <a:bodyPr wrap="square" lIns="0" tIns="0" rIns="0" bIns="0" rtlCol="0" anchor="t"/>
          <a:lstStyle/>
          <a:p>
            <a:pPr indent="0" marL="0">
              <a:buNone/>
            </a:pPr>
            <a:r>
              <a:rPr lang="en-US" sz="1200" b="1" spc="40" kern="0" dirty="0">
                <a:solidFill>
                  <a:srgbClr val="2563EB"/>
                </a:solidFill>
                <a:latin typeface="Calibri" pitchFamily="34" charset="0"/>
                <a:ea typeface="Calibri" pitchFamily="34" charset="-122"/>
                <a:cs typeface="Calibri" pitchFamily="34" charset="-120"/>
              </a:rPr>
              <a:t>THE EXCEL TEMPLATE</a:t>
            </a:r>
            <a:endParaRPr lang="en-US" sz="1200" dirty="0"/>
          </a:p>
        </p:txBody>
      </p:sp>
      <p:sp>
        <p:nvSpPr>
          <p:cNvPr id="43" name="Text 41"/>
          <p:cNvSpPr/>
          <p:nvPr/>
        </p:nvSpPr>
        <p:spPr>
          <a:xfrm>
            <a:off x="4504944"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One workbook, a tab per table. </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Download, fill, upload. The server checks every row and rejects bad cells with line-level errors. Each row carries an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effective date and confidence.</a:t>
            </a:r>
            <a:endParaRPr lang="en-US" sz="960" dirty="0"/>
          </a:p>
        </p:txBody>
      </p:sp>
      <p:sp>
        <p:nvSpPr>
          <p:cNvPr id="44" name="Shape 42"/>
          <p:cNvSpPr/>
          <p:nvPr/>
        </p:nvSpPr>
        <p:spPr>
          <a:xfrm>
            <a:off x="8022336" y="3474720"/>
            <a:ext cx="3617976" cy="1463040"/>
          </a:xfrm>
          <a:prstGeom prst="roundRect">
            <a:avLst>
              <a:gd name="adj" fmla="val 4375"/>
            </a:avLst>
          </a:prstGeom>
          <a:solidFill>
            <a:srgbClr val="FFFFFF"/>
          </a:solidFill>
          <a:ln w="12700">
            <a:solidFill>
              <a:srgbClr val="E4EAF2"/>
            </a:solidFill>
            <a:prstDash val="solid"/>
          </a:ln>
          <a:effectLst>
            <a:outerShdw sx="100000" sy="100000" kx="0" ky="0" algn="bl" rotWithShape="0" blurRad="8.54044237781327e+201" dist="2.440126393660934e+201" dir="1.2124219161971466e+236">
              <a:srgbClr val="9DB0CC">
                <a:alpha val="2.200000000000001e+244"/>
              </a:srgbClr>
            </a:outerShdw>
          </a:effectLst>
        </p:spPr>
        <p:txBody>
          <a:bodyPr/>
          <a:p/>
        </p:txBody>
      </p:sp>
      <p:sp>
        <p:nvSpPr>
          <p:cNvPr id="45" name="Shape 43"/>
          <p:cNvSpPr/>
          <p:nvPr/>
        </p:nvSpPr>
        <p:spPr>
          <a:xfrm>
            <a:off x="8022336" y="3474720"/>
            <a:ext cx="82296" cy="1463040"/>
          </a:xfrm>
          <a:prstGeom prst="rect">
            <a:avLst/>
          </a:prstGeom>
          <a:solidFill>
            <a:srgbClr val="0EA472"/>
          </a:solidFill>
          <a:ln/>
        </p:spPr>
        <p:txBody>
          <a:bodyPr/>
          <a:p/>
        </p:txBody>
      </p:sp>
      <p:sp>
        <p:nvSpPr>
          <p:cNvPr id="46" name="Text 44"/>
          <p:cNvSpPr/>
          <p:nvPr/>
        </p:nvSpPr>
        <p:spPr>
          <a:xfrm>
            <a:off x="8241792" y="3639312"/>
            <a:ext cx="3252216" cy="274320"/>
          </a:xfrm>
          <a:prstGeom prst="rect">
            <a:avLst/>
          </a:prstGeom>
          <a:noFill/>
          <a:ln/>
        </p:spPr>
        <p:txBody>
          <a:bodyPr wrap="square" lIns="0" tIns="0" rIns="0" bIns="0" rtlCol="0" anchor="t"/>
          <a:lstStyle/>
          <a:p>
            <a:pPr indent="0" marL="0">
              <a:buNone/>
            </a:pPr>
            <a:r>
              <a:rPr lang="en-US" sz="1200" b="1" spc="40" kern="0" dirty="0">
                <a:solidFill>
                  <a:srgbClr val="0EA472"/>
                </a:solidFill>
                <a:latin typeface="Calibri" pitchFamily="34" charset="0"/>
                <a:ea typeface="Calibri" pitchFamily="34" charset="-122"/>
                <a:cs typeface="Calibri" pitchFamily="34" charset="-120"/>
              </a:rPr>
              <a:t>UPDATE IN ONE CLICK</a:t>
            </a:r>
            <a:endParaRPr lang="en-US" sz="1200" dirty="0"/>
          </a:p>
        </p:txBody>
      </p:sp>
      <p:sp>
        <p:nvSpPr>
          <p:cNvPr id="47" name="Text 45"/>
          <p:cNvSpPr/>
          <p:nvPr/>
        </p:nvSpPr>
        <p:spPr>
          <a:xfrm>
            <a:off x="8241792" y="3986784"/>
            <a:ext cx="3215640" cy="859536"/>
          </a:xfrm>
          <a:prstGeom prst="rect">
            <a:avLst/>
          </a:prstGeom>
          <a:noFill/>
          <a:ln/>
        </p:spPr>
        <p:txBody>
          <a:bodyPr wrap="square" lIns="0" tIns="0" rIns="0" bIns="0" rtlCol="0" anchor="t"/>
          <a:lstStyle/>
          <a:p>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Load a new dated rate set</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and activate it — every part re-prices. The library is </a:t>
            </a:r>
            <a:pPr indent="0" marL="0">
              <a:lnSpc>
                <a:spcPct val="112000"/>
              </a:lnSpc>
              <a:buNone/>
            </a:pPr>
            <a:r>
              <a:rPr lang="en-US" sz="960" b="1" dirty="0">
                <a:solidFill>
                  <a:srgbClr val="0F1E3D"/>
                </a:solidFill>
                <a:latin typeface="Calibri" pitchFamily="34" charset="0"/>
                <a:ea typeface="Calibri" pitchFamily="34" charset="-122"/>
                <a:cs typeface="Calibri" pitchFamily="34" charset="-120"/>
              </a:rPr>
              <a:t>versioned</a:t>
            </a:r>
            <a:pPr indent="0" marL="0">
              <a:lnSpc>
                <a:spcPct val="112000"/>
              </a:lnSpc>
              <a:buNone/>
            </a:pPr>
            <a:r>
              <a:rPr lang="en-US" sz="960" dirty="0">
                <a:solidFill>
                  <a:srgbClr val="3E4C63"/>
                </a:solidFill>
                <a:latin typeface="Calibri" pitchFamily="34" charset="0"/>
                <a:ea typeface="Calibri" pitchFamily="34" charset="-122"/>
                <a:cs typeface="Calibri" pitchFamily="34" charset="-120"/>
              </a:rPr>
              <a:t>, and saved scenarios record which rate version they used.</a:t>
            </a:r>
            <a:endParaRPr lang="en-US" sz="960" dirty="0"/>
          </a:p>
        </p:txBody>
      </p:sp>
      <p:sp>
        <p:nvSpPr>
          <p:cNvPr id="48" name="Shape 46"/>
          <p:cNvSpPr/>
          <p:nvPr/>
        </p:nvSpPr>
        <p:spPr>
          <a:xfrm>
            <a:off x="548640" y="5138928"/>
            <a:ext cx="11091672" cy="841248"/>
          </a:xfrm>
          <a:prstGeom prst="roundRect">
            <a:avLst>
              <a:gd name="adj" fmla="val 7609"/>
            </a:avLst>
          </a:prstGeom>
          <a:solidFill>
            <a:srgbClr val="FEF6E7"/>
          </a:solidFill>
          <a:ln w="12700">
            <a:solidFill>
              <a:srgbClr val="E4EAF2"/>
            </a:solidFill>
            <a:prstDash val="solid"/>
          </a:ln>
        </p:spPr>
        <p:txBody>
          <a:bodyPr/>
          <a:p/>
        </p:txBody>
      </p:sp>
      <p:sp>
        <p:nvSpPr>
          <p:cNvPr id="49" name="Shape 47"/>
          <p:cNvSpPr/>
          <p:nvPr/>
        </p:nvSpPr>
        <p:spPr>
          <a:xfrm>
            <a:off x="548640" y="5138928"/>
            <a:ext cx="82296" cy="841248"/>
          </a:xfrm>
          <a:prstGeom prst="rect">
            <a:avLst/>
          </a:prstGeom>
          <a:solidFill>
            <a:srgbClr val="E0900C"/>
          </a:solidFill>
          <a:ln/>
        </p:spPr>
        <p:txBody>
          <a:bodyPr/>
          <a:p/>
        </p:txBody>
      </p:sp>
      <p:sp>
        <p:nvSpPr>
          <p:cNvPr id="50" name="Text 48"/>
          <p:cNvSpPr/>
          <p:nvPr/>
        </p:nvSpPr>
        <p:spPr>
          <a:xfrm>
            <a:off x="914400" y="5138928"/>
            <a:ext cx="10332720" cy="841248"/>
          </a:xfrm>
          <a:prstGeom prst="rect">
            <a:avLst/>
          </a:prstGeom>
          <a:noFill/>
          <a:ln/>
        </p:spPr>
        <p:txBody>
          <a:bodyPr wrap="square" lIns="0" tIns="0" rIns="0" bIns="0" rtlCol="0" anchor="ctr"/>
          <a:lstStyle/>
          <a:p>
            <a:pPr indent="0" marL="0">
              <a:lnSpc>
                <a:spcPct val="108000"/>
              </a:lnSpc>
              <a:buNone/>
            </a:pPr>
            <a:r>
              <a:rPr lang="en-US" sz="1120" b="1" dirty="0">
                <a:solidFill>
                  <a:srgbClr val="0F1E3D"/>
                </a:solidFill>
                <a:latin typeface="Calibri" pitchFamily="34" charset="0"/>
                <a:ea typeface="Calibri" pitchFamily="34" charset="-122"/>
                <a:cs typeface="Calibri" pitchFamily="34" charset="-120"/>
              </a:rPr>
              <a:t>Our rates, our numbers.  </a:t>
            </a:r>
            <a:pPr indent="0" marL="0">
              <a:lnSpc>
                <a:spcPct val="108000"/>
              </a:lnSpc>
              <a:buNone/>
            </a:pPr>
            <a:r>
              <a:rPr lang="en-US" sz="1120" dirty="0">
                <a:solidFill>
                  <a:srgbClr val="3E4C63"/>
                </a:solidFill>
                <a:latin typeface="Calibri" pitchFamily="34" charset="0"/>
                <a:ea typeface="Calibri" pitchFamily="34" charset="-122"/>
                <a:cs typeface="Calibri" pitchFamily="34" charset="-120"/>
              </a:rPr>
              <a:t>The JLR Rate Converter workbook turns JLR's own rate card into this format, with no macros. Checked on the way in, versioned, and used by every costing.</a:t>
            </a:r>
            <a:endParaRPr lang="en-US" sz="1120" dirty="0"/>
          </a:p>
        </p:txBody>
      </p:sp>
      <p:sp>
        <p:nvSpPr>
          <p:cNvPr id="51" name="Shape 49"/>
          <p:cNvSpPr/>
          <p:nvPr/>
        </p:nvSpPr>
        <p:spPr>
          <a:xfrm>
            <a:off x="548640" y="6400800"/>
            <a:ext cx="11094415" cy="12802"/>
          </a:xfrm>
          <a:prstGeom prst="rect">
            <a:avLst/>
          </a:prstGeom>
          <a:solidFill>
            <a:srgbClr val="E4EAF2"/>
          </a:solidFill>
          <a:ln/>
        </p:spPr>
        <p:txBody>
          <a:bodyPr/>
          <a:p/>
        </p:txBody>
      </p:sp>
      <p:sp>
        <p:nvSpPr>
          <p:cNvPr id="52" name="Text 5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3" name="Text 5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19 / 33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DEEP DIVE · WORKED EXAMPLE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Worked example — die-cast housing, priced everywhere</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36192"/>
            <a:ext cx="11064240" cy="365760"/>
          </a:xfrm>
          <a:prstGeom prst="rect">
            <a:avLst/>
          </a:prstGeom>
          <a:noFill/>
          <a:ln/>
        </p:spPr>
        <p:txBody>
          <a:bodyPr wrap="square" lIns="0" tIns="0" rIns="0" bIns="0" rtlCol="0" anchor="t"/>
          <a:lstStyle/>
          <a:p>
            <a:pPr indent="0" marL="0">
              <a:buNone/>
            </a:pPr>
            <a:r>
              <a:rPr lang="en-US" sz="1200" dirty="0">
                <a:solidFill>
                  <a:srgbClr val="3E4C63"/>
                </a:solidFill>
                <a:latin typeface="Calibri" pitchFamily="34" charset="0"/>
                <a:ea typeface="Calibri" pitchFamily="34" charset="-122"/>
                <a:cs typeface="Calibri" pitchFamily="34" charset="-120"/>
              </a:rPr>
              <a:t>A 2.8 kg die-cast and machined aluminium housing (ADC12, 60,000 a year), run through the engine — UK breakdown and the regional spread.</a:t>
            </a:r>
            <a:endParaRPr lang="en-US" sz="1200" dirty="0"/>
          </a:p>
        </p:txBody>
      </p:sp>
      <p:sp>
        <p:nvSpPr>
          <p:cNvPr id="11" name="Shape 9"/>
          <p:cNvSpPr/>
          <p:nvPr/>
        </p:nvSpPr>
        <p:spPr>
          <a:xfrm>
            <a:off x="548640" y="2011680"/>
            <a:ext cx="5394960" cy="2880360"/>
          </a:xfrm>
          <a:prstGeom prst="roundRect">
            <a:avLst>
              <a:gd name="adj" fmla="val 2222"/>
            </a:avLst>
          </a:prstGeom>
          <a:solidFill>
            <a:srgbClr val="FFFFFF"/>
          </a:solidFill>
          <a:ln w="12700">
            <a:solidFill>
              <a:srgbClr val="E4EAF2"/>
            </a:solidFill>
            <a:prstDash val="solid"/>
          </a:ln>
          <a:effectLst>
            <a:outerShdw sx="100000" sy="100000" kx="0" ky="0" algn="bl" rotWithShape="0" blurRad="1.0846361819822852e+206" dist="3.0989605199493864e+205" dir="7.27453149718288e+240">
              <a:srgbClr val="9DB0CC">
                <a:alpha val="2.200000000000001e+249"/>
              </a:srgbClr>
            </a:outerShdw>
          </a:effectLst>
        </p:spPr>
        <p:txBody>
          <a:bodyPr/>
          <a:p/>
        </p:txBody>
      </p:sp>
      <p:sp>
        <p:nvSpPr>
          <p:cNvPr id="12" name="Text 10"/>
          <p:cNvSpPr/>
          <p:nvPr/>
        </p:nvSpPr>
        <p:spPr>
          <a:xfrm>
            <a:off x="822960" y="2148840"/>
            <a:ext cx="5029200"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UK cost stack — £/part</a:t>
            </a:r>
            <a:endParaRPr lang="en-US" sz="1250" dirty="0"/>
          </a:p>
        </p:txBody>
      </p:sp>
      <p:graphicFrame>
        <p:nvGraphicFramePr>
          <p:cNvPr id="13" name="Chart 0" descr=""/>
          <p:cNvGraphicFramePr/>
          <p:nvPr/>
        </p:nvGraphicFramePr>
        <p:xfrm>
          <a:off x="731520" y="2468880"/>
          <a:ext cx="5029200" cy="2148840"/>
        </p:xfrm>
        <a:graphic xmlns:a="http://schemas.openxmlformats.org/drawingml/2006/main">
          <a:graphicData uri="http://schemas.openxmlformats.org/drawingml/2006/chart">
            <c:chart xmlns:c="http://schemas.openxmlformats.org/drawingml/2006/chart" r:id="rId1"/>
          </a:graphicData>
        </a:graphic>
      </p:graphicFrame>
      <p:sp>
        <p:nvSpPr>
          <p:cNvPr id="14" name="Text 11"/>
          <p:cNvSpPr/>
          <p:nvPr/>
        </p:nvSpPr>
        <p:spPr>
          <a:xfrm>
            <a:off x="822960" y="4617720"/>
            <a:ext cx="5029200" cy="274320"/>
          </a:xfrm>
          <a:prstGeom prst="rect">
            <a:avLst/>
          </a:prstGeom>
          <a:noFill/>
          <a:ln/>
        </p:spPr>
        <p:txBody>
          <a:bodyPr wrap="square" lIns="0" tIns="0" rIns="0" bIns="0" rtlCol="0" anchor="t"/>
          <a:lstStyle/>
          <a:p>
            <a:pPr indent="0" marL="0">
              <a:buNone/>
            </a:pPr>
            <a:r>
              <a:rPr lang="en-US" sz="950" i="1" dirty="0">
                <a:solidFill>
                  <a:srgbClr val="8A97A8"/>
                </a:solidFill>
                <a:latin typeface="Calibri" pitchFamily="34" charset="0"/>
                <a:ea typeface="Calibri" pitchFamily="34" charset="-122"/>
                <a:cs typeface="Calibri" pitchFamily="34" charset="-120"/>
              </a:rPr>
              <a:t>Total £59.60/part · process (casting + machining) is 47% — the main driver.</a:t>
            </a:r>
            <a:endParaRPr lang="en-US" sz="950" dirty="0"/>
          </a:p>
        </p:txBody>
      </p:sp>
      <p:sp>
        <p:nvSpPr>
          <p:cNvPr id="15" name="Shape 12"/>
          <p:cNvSpPr/>
          <p:nvPr/>
        </p:nvSpPr>
        <p:spPr>
          <a:xfrm>
            <a:off x="6245352" y="2011680"/>
            <a:ext cx="5397703" cy="2880360"/>
          </a:xfrm>
          <a:prstGeom prst="roundRect">
            <a:avLst>
              <a:gd name="adj" fmla="val 2222"/>
            </a:avLst>
          </a:prstGeom>
          <a:solidFill>
            <a:srgbClr val="EAF1FE"/>
          </a:solidFill>
          <a:ln w="12700">
            <a:solidFill>
              <a:srgbClr val="E4EAF2"/>
            </a:solidFill>
            <a:prstDash val="solid"/>
          </a:ln>
        </p:spPr>
        <p:txBody>
          <a:bodyPr/>
          <a:p/>
        </p:txBody>
      </p:sp>
      <p:sp>
        <p:nvSpPr>
          <p:cNvPr id="16" name="Text 13"/>
          <p:cNvSpPr/>
          <p:nvPr/>
        </p:nvSpPr>
        <p:spPr>
          <a:xfrm>
            <a:off x="6519672" y="2148840"/>
            <a:ext cx="4940503"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Should-cost £/part by region</a:t>
            </a:r>
            <a:endParaRPr lang="en-US" sz="1250" dirty="0"/>
          </a:p>
        </p:txBody>
      </p:sp>
      <p:graphicFrame>
        <p:nvGraphicFramePr>
          <p:cNvPr id="17" name="Chart 1" descr=""/>
          <p:cNvGraphicFramePr/>
          <p:nvPr/>
        </p:nvGraphicFramePr>
        <p:xfrm>
          <a:off x="6428232" y="2468880"/>
          <a:ext cx="4986223" cy="2148840"/>
        </p:xfrm>
        <a:graphic xmlns:a="http://schemas.openxmlformats.org/drawingml/2006/main">
          <a:graphicData uri="http://schemas.openxmlformats.org/drawingml/2006/chart">
            <c:chart xmlns:c="http://schemas.openxmlformats.org/drawingml/2006/chart" r:id="rId2"/>
          </a:graphicData>
        </a:graphic>
      </p:graphicFrame>
      <p:sp>
        <p:nvSpPr>
          <p:cNvPr id="18" name="Text 14"/>
          <p:cNvSpPr/>
          <p:nvPr/>
        </p:nvSpPr>
        <p:spPr>
          <a:xfrm>
            <a:off x="6519672" y="4617720"/>
            <a:ext cx="4940503" cy="274320"/>
          </a:xfrm>
          <a:prstGeom prst="rect">
            <a:avLst/>
          </a:prstGeom>
          <a:noFill/>
          <a:ln/>
        </p:spPr>
        <p:txBody>
          <a:bodyPr wrap="square" lIns="0" tIns="0" rIns="0" bIns="0" rtlCol="0" anchor="t"/>
          <a:lstStyle/>
          <a:p>
            <a:pPr indent="0" marL="0">
              <a:buNone/>
            </a:pPr>
            <a:r>
              <a:rPr lang="en-US" sz="950" i="1" dirty="0">
                <a:solidFill>
                  <a:srgbClr val="8A97A8"/>
                </a:solidFill>
                <a:latin typeface="Calibri" pitchFamily="34" charset="0"/>
                <a:ea typeface="Calibri" pitchFamily="34" charset="-122"/>
                <a:cs typeface="Calibri" pitchFamily="34" charset="-120"/>
              </a:rPr>
              <a:t>Same inputs, each region's rates. Source: the worked-example script.</a:t>
            </a:r>
            <a:endParaRPr lang="en-US" sz="950" dirty="0"/>
          </a:p>
        </p:txBody>
      </p:sp>
      <p:sp>
        <p:nvSpPr>
          <p:cNvPr id="19" name="Shape 15"/>
          <p:cNvSpPr/>
          <p:nvPr/>
        </p:nvSpPr>
        <p:spPr>
          <a:xfrm>
            <a:off x="548640" y="5074920"/>
            <a:ext cx="11091672" cy="960120"/>
          </a:xfrm>
          <a:prstGeom prst="roundRect">
            <a:avLst>
              <a:gd name="adj" fmla="val 6667"/>
            </a:avLst>
          </a:prstGeom>
          <a:solidFill>
            <a:srgbClr val="E7F7F0"/>
          </a:solidFill>
          <a:ln w="12700">
            <a:solidFill>
              <a:srgbClr val="E4EAF2"/>
            </a:solidFill>
            <a:prstDash val="solid"/>
          </a:ln>
        </p:spPr>
        <p:txBody>
          <a:bodyPr/>
          <a:p/>
        </p:txBody>
      </p:sp>
      <p:sp>
        <p:nvSpPr>
          <p:cNvPr id="20" name="Shape 16"/>
          <p:cNvSpPr/>
          <p:nvPr/>
        </p:nvSpPr>
        <p:spPr>
          <a:xfrm>
            <a:off x="548640" y="5074920"/>
            <a:ext cx="82296" cy="960120"/>
          </a:xfrm>
          <a:prstGeom prst="rect">
            <a:avLst/>
          </a:prstGeom>
          <a:solidFill>
            <a:srgbClr val="0EA472"/>
          </a:solidFill>
          <a:ln/>
        </p:spPr>
        <p:txBody>
          <a:bodyPr/>
          <a:p/>
        </p:txBody>
      </p:sp>
      <p:sp>
        <p:nvSpPr>
          <p:cNvPr id="21" name="Text 17"/>
          <p:cNvSpPr/>
          <p:nvPr/>
        </p:nvSpPr>
        <p:spPr>
          <a:xfrm>
            <a:off x="914400" y="5193792"/>
            <a:ext cx="7315200" cy="274320"/>
          </a:xfrm>
          <a:prstGeom prst="rect">
            <a:avLst/>
          </a:prstGeom>
          <a:noFill/>
          <a:ln/>
        </p:spPr>
        <p:txBody>
          <a:bodyPr wrap="square" lIns="0" tIns="0" rIns="0" bIns="0" rtlCol="0" anchor="t"/>
          <a:lstStyle/>
          <a:p>
            <a:pPr indent="0" marL="0">
              <a:buNone/>
            </a:pPr>
            <a:r>
              <a:rPr lang="en-US" sz="1250" b="1" dirty="0">
                <a:solidFill>
                  <a:srgbClr val="0EA472"/>
                </a:solidFill>
                <a:latin typeface="Calibri" pitchFamily="34" charset="0"/>
                <a:ea typeface="Calibri" pitchFamily="34" charset="-122"/>
                <a:cs typeface="Calibri" pitchFamily="34" charset="-120"/>
              </a:rPr>
              <a:t>⟳  Always current — one versioned rate library</a:t>
            </a:r>
            <a:endParaRPr lang="en-US" sz="1250" dirty="0"/>
          </a:p>
        </p:txBody>
      </p:sp>
      <p:sp>
        <p:nvSpPr>
          <p:cNvPr id="22" name="Text 18"/>
          <p:cNvSpPr/>
          <p:nvPr/>
        </p:nvSpPr>
        <p:spPr>
          <a:xfrm>
            <a:off x="914400" y="5468112"/>
            <a:ext cx="10378440" cy="548640"/>
          </a:xfrm>
          <a:prstGeom prst="rect">
            <a:avLst/>
          </a:prstGeom>
          <a:noFill/>
          <a:ln/>
        </p:spPr>
        <p:txBody>
          <a:bodyPr wrap="square" lIns="0" tIns="0" rIns="0" bIns="0" rtlCol="0" anchor="t"/>
          <a:lstStyle/>
          <a:p>
            <a:pPr indent="0" marL="0">
              <a:lnSpc>
                <a:spcPct val="110000"/>
              </a:lnSpc>
              <a:buNone/>
            </a:pPr>
            <a:r>
              <a:rPr lang="en-US" sz="1080" dirty="0">
                <a:solidFill>
                  <a:srgbClr val="3E4C63"/>
                </a:solidFill>
                <a:latin typeface="Calibri" pitchFamily="34" charset="0"/>
                <a:ea typeface="Calibri" pitchFamily="34" charset="-122"/>
                <a:cs typeface="Calibri" pitchFamily="34" charset="-120"/>
              </a:rPr>
              <a:t>Material factors, labour, energy and overhead all live in one versioned rate library. </a:t>
            </a:r>
            <a:pPr indent="0" marL="0">
              <a:lnSpc>
                <a:spcPct val="110000"/>
              </a:lnSpc>
              <a:buNone/>
            </a:pPr>
            <a:r>
              <a:rPr lang="en-US" sz="1080" b="1" dirty="0">
                <a:solidFill>
                  <a:srgbClr val="0F1E3D"/>
                </a:solidFill>
                <a:latin typeface="Calibri" pitchFamily="34" charset="0"/>
                <a:ea typeface="Calibri" pitchFamily="34" charset="-122"/>
                <a:cs typeface="Calibri" pitchFamily="34" charset="-120"/>
              </a:rPr>
              <a:t>Load a new, dated rate set and every part re-prices. </a:t>
            </a:r>
            <a:pPr indent="0" marL="0">
              <a:lnSpc>
                <a:spcPct val="110000"/>
              </a:lnSpc>
              <a:buNone/>
            </a:pPr>
            <a:r>
              <a:rPr lang="en-US" sz="1080" dirty="0">
                <a:solidFill>
                  <a:srgbClr val="3E4C63"/>
                </a:solidFill>
                <a:latin typeface="Calibri" pitchFamily="34" charset="0"/>
                <a:ea typeface="Calibri" pitchFamily="34" charset="-122"/>
                <a:cs typeface="Calibri" pitchFamily="34" charset="-120"/>
              </a:rPr>
              <a:t>No re-keying and no stale spreadsheets.</a:t>
            </a:r>
            <a:endParaRPr lang="en-US" sz="1080" dirty="0"/>
          </a:p>
        </p:txBody>
      </p:sp>
      <p:sp>
        <p:nvSpPr>
          <p:cNvPr id="23" name="Shape 19"/>
          <p:cNvSpPr/>
          <p:nvPr/>
        </p:nvSpPr>
        <p:spPr>
          <a:xfrm>
            <a:off x="548640" y="6400800"/>
            <a:ext cx="11094415" cy="12802"/>
          </a:xfrm>
          <a:prstGeom prst="rect">
            <a:avLst/>
          </a:prstGeom>
          <a:solidFill>
            <a:srgbClr val="E4EAF2"/>
          </a:solidFill>
          <a:ln/>
        </p:spPr>
        <p:txBody>
          <a:bodyPr/>
          <a:p/>
        </p:txBody>
      </p:sp>
      <p:sp>
        <p:nvSpPr>
          <p:cNvPr id="24" name="Text 20"/>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25" name="Text 2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20 / 33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neg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txBody>
          <a:bodyPr/>
          <a:p/>
        </p:txBody>
      </p:sp>
      <p:sp>
        <p:nvSpPr>
          <p:cNvPr id="5" name="Shape 2"/>
          <p:cNvSpPr/>
          <p:nvPr/>
        </p:nvSpPr>
        <p:spPr>
          <a:xfrm>
            <a:off x="0" y="3931920"/>
            <a:ext cx="12191695" cy="2926080"/>
          </a:xfrm>
          <a:prstGeom prst="rect">
            <a:avLst/>
          </a:prstGeom>
          <a:solidFill>
            <a:srgbClr val="061024">
              <a:alpha val="80000"/>
            </a:srgbClr>
          </a:solidFill>
          <a:ln/>
        </p:spPr>
        <p:txBody>
          <a:bodyPr/>
          <a:p/>
        </p:txBody>
      </p:sp>
      <p:sp>
        <p:nvSpPr>
          <p:cNvPr id="6" name="Shape 3"/>
          <p:cNvSpPr/>
          <p:nvPr/>
        </p:nvSpPr>
        <p:spPr>
          <a:xfrm>
            <a:off x="0" y="0"/>
            <a:ext cx="146304" cy="6858000"/>
          </a:xfrm>
          <a:prstGeom prst="rect">
            <a:avLst/>
          </a:prstGeom>
          <a:solidFill>
            <a:srgbClr val="7C3AED"/>
          </a:solidFill>
          <a:ln/>
        </p:spPr>
        <p:txBody>
          <a:bodyPr/>
          <a:p/>
        </p:txBody>
      </p:sp>
      <p:sp>
        <p:nvSpPr>
          <p:cNvPr id="7" name="Shape 4"/>
          <p:cNvSpPr/>
          <p:nvPr/>
        </p:nvSpPr>
        <p:spPr>
          <a:xfrm>
            <a:off x="0" y="6729984"/>
            <a:ext cx="12191695" cy="128016"/>
          </a:xfrm>
          <a:prstGeom prst="rect">
            <a:avLst/>
          </a:prstGeom>
          <a:solidFill>
            <a:srgbClr val="7C3AED"/>
          </a:solidFill>
          <a:ln/>
        </p:spPr>
        <p:txBody>
          <a:bodyPr/>
          <a:p/>
        </p:txBody>
      </p:sp>
      <p:sp>
        <p:nvSpPr>
          <p:cNvPr id="8" name="Shape 5"/>
          <p:cNvSpPr/>
          <p:nvPr/>
        </p:nvSpPr>
        <p:spPr>
          <a:xfrm>
            <a:off x="548640" y="457200"/>
            <a:ext cx="402336" cy="402336"/>
          </a:xfrm>
          <a:prstGeom prst="roundRect">
            <a:avLst>
              <a:gd name="adj" fmla="val 22727"/>
            </a:avLst>
          </a:prstGeom>
          <a:solidFill>
            <a:srgbClr val="4F46E5"/>
          </a:solidFill>
          <a:ln/>
        </p:spPr>
        <p:txBody>
          <a:bodyPr/>
          <a:p/>
        </p:txBody>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7C3AED"/>
          </a:solidFill>
          <a:ln/>
        </p:spPr>
        <p:txBody>
          <a:bodyPr/>
          <a:p/>
        </p:txBody>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DECIDE &amp; NEGOTIATE</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Negotiation Intelligence</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21 / 33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DECIDE &amp; NEGOTIATE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Negotiation Intelligence — should-cost vs the quote</a:t>
            </a:r>
            <a:endParaRPr lang="en-US" sz="2400" dirty="0"/>
          </a:p>
        </p:txBody>
      </p:sp>
      <p:sp>
        <p:nvSpPr>
          <p:cNvPr id="9" name="Shape 7"/>
          <p:cNvSpPr/>
          <p:nvPr/>
        </p:nvSpPr>
        <p:spPr>
          <a:xfrm>
            <a:off x="548640" y="1371600"/>
            <a:ext cx="1051560" cy="45720"/>
          </a:xfrm>
          <a:prstGeom prst="rect">
            <a:avLst/>
          </a:prstGeom>
          <a:solidFill>
            <a:srgbClr val="7C3AED"/>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should-cost is useful. A should-cost that helps us win back money in a negotiation is the point.</a:t>
            </a:r>
            <a:endParaRPr lang="en-US" sz="1250" dirty="0"/>
          </a:p>
        </p:txBody>
      </p:sp>
      <p:sp>
        <p:nvSpPr>
          <p:cNvPr id="11" name="Shape 9"/>
          <p:cNvSpPr/>
          <p:nvPr/>
        </p:nvSpPr>
        <p:spPr>
          <a:xfrm>
            <a:off x="548640"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3774879511175023e+210" dist="3.9356798603357206e+209" dir="4.364718898309728e+245">
              <a:srgbClr val="9DB0CC">
                <a:alpha val="2.200000000000001e+254"/>
              </a:srgbClr>
            </a:outerShdw>
          </a:effectLst>
        </p:spPr>
        <p:txBody>
          <a:bodyPr/>
          <a:p/>
        </p:txBody>
      </p:sp>
      <p:sp>
        <p:nvSpPr>
          <p:cNvPr id="12" name="Shape 10"/>
          <p:cNvSpPr/>
          <p:nvPr/>
        </p:nvSpPr>
        <p:spPr>
          <a:xfrm>
            <a:off x="548640" y="2103120"/>
            <a:ext cx="2487168" cy="82296"/>
          </a:xfrm>
          <a:prstGeom prst="rect">
            <a:avLst/>
          </a:prstGeom>
          <a:solidFill>
            <a:srgbClr val="2563EB"/>
          </a:solidFill>
          <a:ln/>
        </p:spPr>
        <p:txBody>
          <a:bodyPr/>
          <a:p/>
        </p:txBody>
      </p:sp>
      <p:sp>
        <p:nvSpPr>
          <p:cNvPr id="13" name="Shape 11"/>
          <p:cNvSpPr/>
          <p:nvPr/>
        </p:nvSpPr>
        <p:spPr>
          <a:xfrm>
            <a:off x="1536192" y="2304288"/>
            <a:ext cx="512064" cy="512064"/>
          </a:xfrm>
          <a:prstGeom prst="ellipse">
            <a:avLst/>
          </a:prstGeom>
          <a:solidFill>
            <a:srgbClr val="EAF1FE"/>
          </a:solidFill>
          <a:ln/>
        </p:spPr>
        <p:txBody>
          <a:bodyPr/>
          <a:p/>
        </p:txBody>
      </p:sp>
      <p:sp>
        <p:nvSpPr>
          <p:cNvPr id="14" name="Text 12"/>
          <p:cNvSpPr/>
          <p:nvPr/>
        </p:nvSpPr>
        <p:spPr>
          <a:xfrm>
            <a:off x="1536192" y="2295144"/>
            <a:ext cx="512064" cy="512064"/>
          </a:xfrm>
          <a:prstGeom prst="rect">
            <a:avLst/>
          </a:prstGeom>
          <a:noFill/>
          <a:ln/>
        </p:spPr>
        <p:txBody>
          <a:bodyPr wrap="square" lIns="0" tIns="0" rIns="0" bIns="0" rtlCol="0" anchor="ctr"/>
          <a:lstStyle/>
          <a:p>
            <a:pPr algn="ctr" indent="0" marL="0">
              <a:buNone/>
            </a:pPr>
            <a:r>
              <a:rPr lang="en-US" sz="1800" b="1" dirty="0">
                <a:solidFill>
                  <a:srgbClr val="2563EB"/>
                </a:solidFill>
                <a:latin typeface="Calibri" pitchFamily="34" charset="0"/>
                <a:ea typeface="Calibri" pitchFamily="34" charset="-122"/>
                <a:cs typeface="Calibri" pitchFamily="34" charset="-120"/>
              </a:rPr>
              <a:t>◆</a:t>
            </a:r>
            <a:endParaRPr lang="en-US" sz="1800" dirty="0"/>
          </a:p>
        </p:txBody>
      </p:sp>
      <p:sp>
        <p:nvSpPr>
          <p:cNvPr id="15" name="Text 13"/>
          <p:cNvSpPr/>
          <p:nvPr/>
        </p:nvSpPr>
        <p:spPr>
          <a:xfrm>
            <a:off x="640080"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Should-cost</a:t>
            </a:r>
            <a:endParaRPr lang="en-US" sz="1200" dirty="0"/>
          </a:p>
        </p:txBody>
      </p:sp>
      <p:sp>
        <p:nvSpPr>
          <p:cNvPr id="16" name="Text 14"/>
          <p:cNvSpPr/>
          <p:nvPr/>
        </p:nvSpPr>
        <p:spPr>
          <a:xfrm>
            <a:off x="658368"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our costed breakdown</a:t>
            </a:r>
            <a:endParaRPr lang="en-US" sz="860" dirty="0"/>
          </a:p>
        </p:txBody>
      </p:sp>
      <p:sp>
        <p:nvSpPr>
          <p:cNvPr id="17" name="Shape 15"/>
          <p:cNvSpPr/>
          <p:nvPr/>
        </p:nvSpPr>
        <p:spPr>
          <a:xfrm>
            <a:off x="3063240" y="2788920"/>
            <a:ext cx="265176" cy="0"/>
          </a:xfrm>
          <a:prstGeom prst="line">
            <a:avLst/>
          </a:prstGeom>
          <a:noFill/>
          <a:ln w="22225">
            <a:solidFill>
              <a:srgbClr val="D4DEEC"/>
            </a:solidFill>
            <a:prstDash val="solid"/>
            <a:headEnd type="none"/>
            <a:tailEnd type="triangle"/>
          </a:ln>
        </p:spPr>
        <p:txBody>
          <a:bodyPr/>
          <a:p/>
        </p:txBody>
      </p:sp>
      <p:sp>
        <p:nvSpPr>
          <p:cNvPr id="18" name="Shape 16"/>
          <p:cNvSpPr/>
          <p:nvPr/>
        </p:nvSpPr>
        <p:spPr>
          <a:xfrm>
            <a:off x="3355848"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1.7494096979192279e+214" dist="4.9983134226263654e+213" dir="2.6188313389858368e+250">
              <a:srgbClr val="9DB0CC">
                <a:alpha val="2.200000000000001e+259"/>
              </a:srgbClr>
            </a:outerShdw>
          </a:effectLst>
        </p:spPr>
        <p:txBody>
          <a:bodyPr/>
          <a:p/>
        </p:txBody>
      </p:sp>
      <p:sp>
        <p:nvSpPr>
          <p:cNvPr id="19" name="Shape 17"/>
          <p:cNvSpPr/>
          <p:nvPr/>
        </p:nvSpPr>
        <p:spPr>
          <a:xfrm>
            <a:off x="3355848" y="2103120"/>
            <a:ext cx="2487168" cy="82296"/>
          </a:xfrm>
          <a:prstGeom prst="rect">
            <a:avLst/>
          </a:prstGeom>
          <a:solidFill>
            <a:srgbClr val="0E93B0"/>
          </a:solidFill>
          <a:ln/>
        </p:spPr>
        <p:txBody>
          <a:bodyPr/>
          <a:p/>
        </p:txBody>
      </p:sp>
      <p:sp>
        <p:nvSpPr>
          <p:cNvPr id="20" name="Shape 18"/>
          <p:cNvSpPr/>
          <p:nvPr/>
        </p:nvSpPr>
        <p:spPr>
          <a:xfrm>
            <a:off x="4343400" y="2304288"/>
            <a:ext cx="512064" cy="512064"/>
          </a:xfrm>
          <a:prstGeom prst="ellipse">
            <a:avLst/>
          </a:prstGeom>
          <a:solidFill>
            <a:srgbClr val="E8F6FA"/>
          </a:solidFill>
          <a:ln/>
        </p:spPr>
        <p:txBody>
          <a:bodyPr/>
          <a:p/>
        </p:txBody>
      </p:sp>
      <p:sp>
        <p:nvSpPr>
          <p:cNvPr id="21" name="Text 19"/>
          <p:cNvSpPr/>
          <p:nvPr/>
        </p:nvSpPr>
        <p:spPr>
          <a:xfrm>
            <a:off x="4343400" y="2295144"/>
            <a:ext cx="512064" cy="512064"/>
          </a:xfrm>
          <a:prstGeom prst="rect">
            <a:avLst/>
          </a:prstGeom>
          <a:noFill/>
          <a:ln/>
        </p:spPr>
        <p:txBody>
          <a:bodyPr wrap="square" lIns="0" tIns="0" rIns="0" bIns="0" rtlCol="0" anchor="ctr"/>
          <a:lstStyle/>
          <a:p>
            <a:pPr algn="ctr" indent="0" marL="0">
              <a:buNone/>
            </a:pPr>
            <a:r>
              <a:rPr lang="en-US" sz="1800" b="1" dirty="0">
                <a:solidFill>
                  <a:srgbClr val="0E93B0"/>
                </a:solidFill>
                <a:latin typeface="Calibri" pitchFamily="34" charset="0"/>
                <a:ea typeface="Calibri" pitchFamily="34" charset="-122"/>
                <a:cs typeface="Calibri" pitchFamily="34" charset="-120"/>
              </a:rPr>
              <a:t>▤</a:t>
            </a:r>
            <a:endParaRPr lang="en-US" sz="1800" dirty="0"/>
          </a:p>
        </p:txBody>
      </p:sp>
      <p:sp>
        <p:nvSpPr>
          <p:cNvPr id="22" name="Text 20"/>
          <p:cNvSpPr/>
          <p:nvPr/>
        </p:nvSpPr>
        <p:spPr>
          <a:xfrm>
            <a:off x="3447288"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Supplier quote in</a:t>
            </a:r>
            <a:endParaRPr lang="en-US" sz="1200" dirty="0"/>
          </a:p>
        </p:txBody>
      </p:sp>
      <p:sp>
        <p:nvSpPr>
          <p:cNvPr id="23" name="Text 21"/>
          <p:cNvSpPr/>
          <p:nvPr/>
        </p:nvSpPr>
        <p:spPr>
          <a:xfrm>
            <a:off x="3465576"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Excel or line-by-line</a:t>
            </a:r>
            <a:endParaRPr lang="en-US" sz="860" dirty="0"/>
          </a:p>
        </p:txBody>
      </p:sp>
      <p:sp>
        <p:nvSpPr>
          <p:cNvPr id="24" name="Shape 22"/>
          <p:cNvSpPr/>
          <p:nvPr/>
        </p:nvSpPr>
        <p:spPr>
          <a:xfrm>
            <a:off x="5870448" y="2788920"/>
            <a:ext cx="265176" cy="0"/>
          </a:xfrm>
          <a:prstGeom prst="line">
            <a:avLst/>
          </a:prstGeom>
          <a:noFill/>
          <a:ln w="22225">
            <a:solidFill>
              <a:srgbClr val="D4DEEC"/>
            </a:solidFill>
            <a:prstDash val="solid"/>
            <a:headEnd type="none"/>
            <a:tailEnd type="triangle"/>
          </a:ln>
        </p:spPr>
        <p:txBody>
          <a:bodyPr/>
          <a:p/>
        </p:txBody>
      </p:sp>
      <p:sp>
        <p:nvSpPr>
          <p:cNvPr id="25" name="Shape 23"/>
          <p:cNvSpPr/>
          <p:nvPr/>
        </p:nvSpPr>
        <p:spPr>
          <a:xfrm>
            <a:off x="6163056"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2217503163574194e+218" dist="6.347858046735484e+217" dir="1.571298803391502e+255">
              <a:srgbClr val="9DB0CC">
                <a:alpha val="2.200000000000001e+264"/>
              </a:srgbClr>
            </a:outerShdw>
          </a:effectLst>
        </p:spPr>
        <p:txBody>
          <a:bodyPr/>
          <a:p/>
        </p:txBody>
      </p:sp>
      <p:sp>
        <p:nvSpPr>
          <p:cNvPr id="26" name="Shape 24"/>
          <p:cNvSpPr/>
          <p:nvPr/>
        </p:nvSpPr>
        <p:spPr>
          <a:xfrm>
            <a:off x="6163056" y="2103120"/>
            <a:ext cx="2487168" cy="82296"/>
          </a:xfrm>
          <a:prstGeom prst="rect">
            <a:avLst/>
          </a:prstGeom>
          <a:solidFill>
            <a:srgbClr val="E0900C"/>
          </a:solidFill>
          <a:ln/>
        </p:spPr>
        <p:txBody>
          <a:bodyPr/>
          <a:p/>
        </p:txBody>
      </p:sp>
      <p:sp>
        <p:nvSpPr>
          <p:cNvPr id="27" name="Shape 25"/>
          <p:cNvSpPr/>
          <p:nvPr/>
        </p:nvSpPr>
        <p:spPr>
          <a:xfrm>
            <a:off x="7150608" y="2304288"/>
            <a:ext cx="512064" cy="512064"/>
          </a:xfrm>
          <a:prstGeom prst="ellipse">
            <a:avLst/>
          </a:prstGeom>
          <a:solidFill>
            <a:srgbClr val="FEF6E7"/>
          </a:solidFill>
          <a:ln/>
        </p:spPr>
        <p:txBody>
          <a:bodyPr/>
          <a:p/>
        </p:txBody>
      </p:sp>
      <p:sp>
        <p:nvSpPr>
          <p:cNvPr id="28" name="Text 26"/>
          <p:cNvSpPr/>
          <p:nvPr/>
        </p:nvSpPr>
        <p:spPr>
          <a:xfrm>
            <a:off x="7150608" y="2295144"/>
            <a:ext cx="512064" cy="512064"/>
          </a:xfrm>
          <a:prstGeom prst="rect">
            <a:avLst/>
          </a:prstGeom>
          <a:noFill/>
          <a:ln/>
        </p:spPr>
        <p:txBody>
          <a:bodyPr wrap="square" lIns="0" tIns="0" rIns="0" bIns="0" rtlCol="0" anchor="ctr"/>
          <a:lstStyle/>
          <a:p>
            <a:pPr algn="ctr" indent="0" marL="0">
              <a:buNone/>
            </a:pPr>
            <a:r>
              <a:rPr lang="en-US" sz="1800" b="1" dirty="0">
                <a:solidFill>
                  <a:srgbClr val="E0900C"/>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6254496"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Gap teardown</a:t>
            </a:r>
            <a:endParaRPr lang="en-US" sz="1200" dirty="0"/>
          </a:p>
        </p:txBody>
      </p:sp>
      <p:sp>
        <p:nvSpPr>
          <p:cNvPr id="30" name="Text 28"/>
          <p:cNvSpPr/>
          <p:nvPr/>
        </p:nvSpPr>
        <p:spPr>
          <a:xfrm>
            <a:off x="6272784"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by driver: material, cycle, rate, margin</a:t>
            </a:r>
            <a:endParaRPr lang="en-US" sz="860" dirty="0"/>
          </a:p>
        </p:txBody>
      </p:sp>
      <p:sp>
        <p:nvSpPr>
          <p:cNvPr id="31" name="Shape 29"/>
          <p:cNvSpPr/>
          <p:nvPr/>
        </p:nvSpPr>
        <p:spPr>
          <a:xfrm>
            <a:off x="8677656" y="2788920"/>
            <a:ext cx="265176" cy="0"/>
          </a:xfrm>
          <a:prstGeom prst="line">
            <a:avLst/>
          </a:prstGeom>
          <a:noFill/>
          <a:ln w="22225">
            <a:solidFill>
              <a:srgbClr val="D4DEEC"/>
            </a:solidFill>
            <a:prstDash val="solid"/>
            <a:headEnd type="none"/>
            <a:tailEnd type="triangle"/>
          </a:ln>
        </p:spPr>
        <p:txBody>
          <a:bodyPr/>
          <a:p/>
        </p:txBody>
      </p:sp>
      <p:sp>
        <p:nvSpPr>
          <p:cNvPr id="32" name="Shape 30"/>
          <p:cNvSpPr/>
          <p:nvPr/>
        </p:nvSpPr>
        <p:spPr>
          <a:xfrm>
            <a:off x="8970264" y="2103120"/>
            <a:ext cx="2487168" cy="1371600"/>
          </a:xfrm>
          <a:prstGeom prst="roundRect">
            <a:avLst>
              <a:gd name="adj" fmla="val 4667"/>
            </a:avLst>
          </a:prstGeom>
          <a:solidFill>
            <a:srgbClr val="FFFFFF"/>
          </a:solidFill>
          <a:ln w="12700">
            <a:solidFill>
              <a:srgbClr val="E4EAF2"/>
            </a:solidFill>
            <a:prstDash val="solid"/>
          </a:ln>
          <a:effectLst>
            <a:outerShdw sx="100000" sy="100000" kx="0" ky="0" algn="bl" rotWithShape="0" blurRad="2.8216229017739227e+222" dist="8.061779719354066e+221" dir="9.427792820349012e+259">
              <a:srgbClr val="9DB0CC">
                <a:alpha val="2.2000000000000007e+269"/>
              </a:srgbClr>
            </a:outerShdw>
          </a:effectLst>
        </p:spPr>
        <p:txBody>
          <a:bodyPr/>
          <a:p/>
        </p:txBody>
      </p:sp>
      <p:sp>
        <p:nvSpPr>
          <p:cNvPr id="33" name="Shape 31"/>
          <p:cNvSpPr/>
          <p:nvPr/>
        </p:nvSpPr>
        <p:spPr>
          <a:xfrm>
            <a:off x="8970264" y="2103120"/>
            <a:ext cx="2487168" cy="82296"/>
          </a:xfrm>
          <a:prstGeom prst="rect">
            <a:avLst/>
          </a:prstGeom>
          <a:solidFill>
            <a:srgbClr val="0EA472"/>
          </a:solidFill>
          <a:ln/>
        </p:spPr>
        <p:txBody>
          <a:bodyPr/>
          <a:p/>
        </p:txBody>
      </p:sp>
      <p:sp>
        <p:nvSpPr>
          <p:cNvPr id="34" name="Shape 32"/>
          <p:cNvSpPr/>
          <p:nvPr/>
        </p:nvSpPr>
        <p:spPr>
          <a:xfrm>
            <a:off x="9957816" y="2304288"/>
            <a:ext cx="512064" cy="512064"/>
          </a:xfrm>
          <a:prstGeom prst="ellipse">
            <a:avLst/>
          </a:prstGeom>
          <a:solidFill>
            <a:srgbClr val="E7F7F0"/>
          </a:solidFill>
          <a:ln/>
        </p:spPr>
        <p:txBody>
          <a:bodyPr/>
          <a:p/>
        </p:txBody>
      </p:sp>
      <p:sp>
        <p:nvSpPr>
          <p:cNvPr id="35" name="Text 33"/>
          <p:cNvSpPr/>
          <p:nvPr/>
        </p:nvSpPr>
        <p:spPr>
          <a:xfrm>
            <a:off x="9957816" y="2295144"/>
            <a:ext cx="512064" cy="512064"/>
          </a:xfrm>
          <a:prstGeom prst="rect">
            <a:avLst/>
          </a:prstGeom>
          <a:noFill/>
          <a:ln/>
        </p:spPr>
        <p:txBody>
          <a:bodyPr wrap="square" lIns="0" tIns="0" rIns="0" bIns="0" rtlCol="0" anchor="ctr"/>
          <a:lstStyle/>
          <a:p>
            <a:pPr algn="ctr" indent="0" marL="0">
              <a:buNone/>
            </a:pPr>
            <a:r>
              <a:rPr lang="en-US" sz="1800" b="1" dirty="0">
                <a:solidFill>
                  <a:srgbClr val="0EA472"/>
                </a:solidFill>
                <a:latin typeface="Calibri" pitchFamily="34" charset="0"/>
                <a:ea typeface="Calibri" pitchFamily="34" charset="-122"/>
                <a:cs typeface="Calibri" pitchFamily="34" charset="-120"/>
              </a:rPr>
              <a:t>◈</a:t>
            </a:r>
            <a:endParaRPr lang="en-US" sz="1800" dirty="0"/>
          </a:p>
        </p:txBody>
      </p:sp>
      <p:sp>
        <p:nvSpPr>
          <p:cNvPr id="36" name="Text 34"/>
          <p:cNvSpPr/>
          <p:nvPr/>
        </p:nvSpPr>
        <p:spPr>
          <a:xfrm>
            <a:off x="9061704" y="2889504"/>
            <a:ext cx="2304288" cy="274320"/>
          </a:xfrm>
          <a:prstGeom prst="rect">
            <a:avLst/>
          </a:prstGeom>
          <a:noFill/>
          <a:ln/>
        </p:spPr>
        <p:txBody>
          <a:bodyPr wrap="square" lIns="0" tIns="0" rIns="0" bIns="0" rtlCol="0" anchor="t"/>
          <a:lstStyle/>
          <a:p>
            <a:pPr algn="ctr" indent="0" marL="0">
              <a:buNone/>
            </a:pPr>
            <a:r>
              <a:rPr lang="en-US" sz="1200" b="1" dirty="0">
                <a:solidFill>
                  <a:srgbClr val="0F1E3D"/>
                </a:solidFill>
                <a:latin typeface="Calibri" pitchFamily="34" charset="0"/>
                <a:ea typeface="Calibri" pitchFamily="34" charset="-122"/>
                <a:cs typeface="Calibri" pitchFamily="34" charset="-120"/>
              </a:rPr>
              <a:t>Negotiation pack</a:t>
            </a:r>
            <a:endParaRPr lang="en-US" sz="1200" dirty="0"/>
          </a:p>
        </p:txBody>
      </p:sp>
      <p:sp>
        <p:nvSpPr>
          <p:cNvPr id="37" name="Text 35"/>
          <p:cNvSpPr/>
          <p:nvPr/>
        </p:nvSpPr>
        <p:spPr>
          <a:xfrm>
            <a:off x="9079992" y="3163824"/>
            <a:ext cx="2267712" cy="548640"/>
          </a:xfrm>
          <a:prstGeom prst="rect">
            <a:avLst/>
          </a:prstGeom>
          <a:noFill/>
          <a:ln/>
        </p:spPr>
        <p:txBody>
          <a:bodyPr wrap="square" lIns="0" tIns="0" rIns="0" bIns="0" rtlCol="0" anchor="t"/>
          <a:lstStyle/>
          <a:p>
            <a:pPr algn="ctr" indent="0" marL="0">
              <a:lnSpc>
                <a:spcPct val="102000"/>
              </a:lnSpc>
              <a:buNone/>
            </a:pPr>
            <a:r>
              <a:rPr lang="en-US" sz="860" dirty="0">
                <a:solidFill>
                  <a:srgbClr val="8A97A8"/>
                </a:solidFill>
                <a:latin typeface="Calibri" pitchFamily="34" charset="0"/>
                <a:ea typeface="Calibri" pitchFamily="34" charset="-122"/>
                <a:cs typeface="Calibri" pitchFamily="34" charset="-120"/>
              </a:rPr>
              <a:t>levers ranked by £, questions, closing plays</a:t>
            </a:r>
            <a:endParaRPr lang="en-US" sz="860" dirty="0"/>
          </a:p>
        </p:txBody>
      </p:sp>
      <p:sp>
        <p:nvSpPr>
          <p:cNvPr id="38" name="Shape 36"/>
          <p:cNvSpPr/>
          <p:nvPr/>
        </p:nvSpPr>
        <p:spPr>
          <a:xfrm>
            <a:off x="548640"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39" name="Shape 37"/>
          <p:cNvSpPr/>
          <p:nvPr/>
        </p:nvSpPr>
        <p:spPr>
          <a:xfrm>
            <a:off x="548640" y="3794760"/>
            <a:ext cx="73152" cy="960120"/>
          </a:xfrm>
          <a:prstGeom prst="rect">
            <a:avLst/>
          </a:prstGeom>
          <a:solidFill>
            <a:srgbClr val="E5484D"/>
          </a:solidFill>
          <a:ln/>
        </p:spPr>
        <p:txBody>
          <a:bodyPr/>
          <a:p/>
        </p:txBody>
      </p:sp>
      <p:sp>
        <p:nvSpPr>
          <p:cNvPr id="40" name="Text 38"/>
          <p:cNvSpPr/>
          <p:nvPr/>
        </p:nvSpPr>
        <p:spPr>
          <a:xfrm>
            <a:off x="768096" y="3922776"/>
            <a:ext cx="2377440" cy="457200"/>
          </a:xfrm>
          <a:prstGeom prst="rect">
            <a:avLst/>
          </a:prstGeom>
          <a:noFill/>
          <a:ln/>
        </p:spPr>
        <p:txBody>
          <a:bodyPr wrap="square" lIns="0" tIns="0" rIns="0" bIns="0" rtlCol="0" anchor="t"/>
          <a:lstStyle/>
          <a:p>
            <a:pPr indent="0" marL="0">
              <a:buNone/>
            </a:pPr>
            <a:r>
              <a:rPr lang="en-US" sz="2000" b="1" dirty="0">
                <a:solidFill>
                  <a:srgbClr val="E5484D"/>
                </a:solidFill>
                <a:latin typeface="Calibri" pitchFamily="34" charset="0"/>
                <a:ea typeface="Calibri" pitchFamily="34" charset="-122"/>
                <a:cs typeface="Calibri" pitchFamily="34" charset="-120"/>
              </a:rPr>
              <a:t>8</a:t>
            </a:r>
            <a:endParaRPr lang="en-US" sz="2000" dirty="0"/>
          </a:p>
        </p:txBody>
      </p:sp>
      <p:sp>
        <p:nvSpPr>
          <p:cNvPr id="41" name="Text 39"/>
          <p:cNvSpPr/>
          <p:nvPr/>
        </p:nvSpPr>
        <p:spPr>
          <a:xfrm>
            <a:off x="768096"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cost buckets compared, quote vs should-cost</a:t>
            </a:r>
            <a:endParaRPr lang="en-US" sz="900" dirty="0"/>
          </a:p>
        </p:txBody>
      </p:sp>
      <p:sp>
        <p:nvSpPr>
          <p:cNvPr id="42" name="Shape 40"/>
          <p:cNvSpPr/>
          <p:nvPr/>
        </p:nvSpPr>
        <p:spPr>
          <a:xfrm>
            <a:off x="3319272"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43" name="Shape 41"/>
          <p:cNvSpPr/>
          <p:nvPr/>
        </p:nvSpPr>
        <p:spPr>
          <a:xfrm>
            <a:off x="3319272" y="3794760"/>
            <a:ext cx="73152" cy="960120"/>
          </a:xfrm>
          <a:prstGeom prst="rect">
            <a:avLst/>
          </a:prstGeom>
          <a:solidFill>
            <a:srgbClr val="E0900C"/>
          </a:solidFill>
          <a:ln/>
        </p:spPr>
        <p:txBody>
          <a:bodyPr/>
          <a:p/>
        </p:txBody>
      </p:sp>
      <p:sp>
        <p:nvSpPr>
          <p:cNvPr id="44" name="Text 42"/>
          <p:cNvSpPr/>
          <p:nvPr/>
        </p:nvSpPr>
        <p:spPr>
          <a:xfrm>
            <a:off x="3538728" y="3922776"/>
            <a:ext cx="2377440" cy="457200"/>
          </a:xfrm>
          <a:prstGeom prst="rect">
            <a:avLst/>
          </a:prstGeom>
          <a:noFill/>
          <a:ln/>
        </p:spPr>
        <p:txBody>
          <a:bodyPr wrap="square" lIns="0" tIns="0" rIns="0" bIns="0" rtlCol="0" anchor="t"/>
          <a:lstStyle/>
          <a:p>
            <a:pPr indent="0" marL="0">
              <a:buNone/>
            </a:pPr>
            <a:r>
              <a:rPr lang="en-US" sz="2000" b="1" dirty="0">
                <a:solidFill>
                  <a:srgbClr val="E0900C"/>
                </a:solidFill>
                <a:latin typeface="Calibri" pitchFamily="34" charset="0"/>
                <a:ea typeface="Calibri" pitchFamily="34" charset="-122"/>
                <a:cs typeface="Calibri" pitchFamily="34" charset="-120"/>
              </a:rPr>
              <a:t>PDF</a:t>
            </a:r>
            <a:endParaRPr lang="en-US" sz="2000" dirty="0"/>
          </a:p>
        </p:txBody>
      </p:sp>
      <p:sp>
        <p:nvSpPr>
          <p:cNvPr id="45" name="Text 43"/>
          <p:cNvSpPr/>
          <p:nvPr/>
        </p:nvSpPr>
        <p:spPr>
          <a:xfrm>
            <a:off x="3538728"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or PowerPoint negotiation pack</a:t>
            </a:r>
            <a:endParaRPr lang="en-US" sz="900" dirty="0"/>
          </a:p>
        </p:txBody>
      </p:sp>
      <p:sp>
        <p:nvSpPr>
          <p:cNvPr id="46" name="Shape 44"/>
          <p:cNvSpPr/>
          <p:nvPr/>
        </p:nvSpPr>
        <p:spPr>
          <a:xfrm>
            <a:off x="6089904"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47" name="Shape 45"/>
          <p:cNvSpPr/>
          <p:nvPr/>
        </p:nvSpPr>
        <p:spPr>
          <a:xfrm>
            <a:off x="6089904" y="3794760"/>
            <a:ext cx="73152" cy="960120"/>
          </a:xfrm>
          <a:prstGeom prst="rect">
            <a:avLst/>
          </a:prstGeom>
          <a:solidFill>
            <a:srgbClr val="0EA472"/>
          </a:solidFill>
          <a:ln/>
        </p:spPr>
        <p:txBody>
          <a:bodyPr/>
          <a:p/>
        </p:txBody>
      </p:sp>
      <p:sp>
        <p:nvSpPr>
          <p:cNvPr id="48" name="Text 46"/>
          <p:cNvSpPr/>
          <p:nvPr/>
        </p:nvSpPr>
        <p:spPr>
          <a:xfrm>
            <a:off x="6309360" y="3922776"/>
            <a:ext cx="2377440" cy="457200"/>
          </a:xfrm>
          <a:prstGeom prst="rect">
            <a:avLst/>
          </a:prstGeom>
          <a:noFill/>
          <a:ln/>
        </p:spPr>
        <p:txBody>
          <a:bodyPr wrap="square" lIns="0" tIns="0" rIns="0" bIns="0" rtlCol="0" anchor="t"/>
          <a:lstStyle/>
          <a:p>
            <a:pPr indent="0" marL="0">
              <a:buNone/>
            </a:pPr>
            <a:r>
              <a:rPr lang="en-US" sz="2000" b="1" dirty="0">
                <a:solidFill>
                  <a:srgbClr val="0EA472"/>
                </a:solidFill>
                <a:latin typeface="Calibri" pitchFamily="34" charset="0"/>
                <a:ea typeface="Calibri" pitchFamily="34" charset="-122"/>
                <a:cs typeface="Calibri" pitchFamily="34" charset="-120"/>
              </a:rPr>
              <a:t>£/yr</a:t>
            </a:r>
            <a:endParaRPr lang="en-US" sz="2000" dirty="0"/>
          </a:p>
        </p:txBody>
      </p:sp>
      <p:sp>
        <p:nvSpPr>
          <p:cNvPr id="49" name="Text 47"/>
          <p:cNvSpPr/>
          <p:nvPr/>
        </p:nvSpPr>
        <p:spPr>
          <a:xfrm>
            <a:off x="6309360"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each lever ranked by its annual value</a:t>
            </a:r>
            <a:endParaRPr lang="en-US" sz="900" dirty="0"/>
          </a:p>
        </p:txBody>
      </p:sp>
      <p:sp>
        <p:nvSpPr>
          <p:cNvPr id="50" name="Shape 48"/>
          <p:cNvSpPr/>
          <p:nvPr/>
        </p:nvSpPr>
        <p:spPr>
          <a:xfrm>
            <a:off x="8860536" y="3794760"/>
            <a:ext cx="2724912" cy="960120"/>
          </a:xfrm>
          <a:prstGeom prst="roundRect">
            <a:avLst>
              <a:gd name="adj" fmla="val 5714"/>
            </a:avLst>
          </a:prstGeom>
          <a:solidFill>
            <a:srgbClr val="F4F7FB"/>
          </a:solidFill>
          <a:ln w="12700">
            <a:solidFill>
              <a:srgbClr val="E4EAF2"/>
            </a:solidFill>
            <a:prstDash val="solid"/>
          </a:ln>
        </p:spPr>
        <p:txBody>
          <a:bodyPr/>
          <a:p/>
        </p:txBody>
      </p:sp>
      <p:sp>
        <p:nvSpPr>
          <p:cNvPr id="51" name="Shape 49"/>
          <p:cNvSpPr/>
          <p:nvPr/>
        </p:nvSpPr>
        <p:spPr>
          <a:xfrm>
            <a:off x="8860536" y="3794760"/>
            <a:ext cx="73152" cy="960120"/>
          </a:xfrm>
          <a:prstGeom prst="rect">
            <a:avLst/>
          </a:prstGeom>
          <a:solidFill>
            <a:srgbClr val="7C3AED"/>
          </a:solidFill>
          <a:ln/>
        </p:spPr>
        <p:txBody>
          <a:bodyPr/>
          <a:p/>
        </p:txBody>
      </p:sp>
      <p:sp>
        <p:nvSpPr>
          <p:cNvPr id="52" name="Text 50"/>
          <p:cNvSpPr/>
          <p:nvPr/>
        </p:nvSpPr>
        <p:spPr>
          <a:xfrm>
            <a:off x="9079992" y="3922776"/>
            <a:ext cx="2377440" cy="457200"/>
          </a:xfrm>
          <a:prstGeom prst="rect">
            <a:avLst/>
          </a:prstGeom>
          <a:noFill/>
          <a:ln/>
        </p:spPr>
        <p:txBody>
          <a:bodyPr wrap="square" lIns="0" tIns="0" rIns="0" bIns="0" rtlCol="0" anchor="t"/>
          <a:lstStyle/>
          <a:p>
            <a:pPr indent="0" marL="0">
              <a:buNone/>
            </a:pPr>
            <a:r>
              <a:rPr lang="en-US" sz="2000" b="1" dirty="0">
                <a:solidFill>
                  <a:srgbClr val="7C3AED"/>
                </a:solidFill>
                <a:latin typeface="Calibri" pitchFamily="34" charset="0"/>
                <a:ea typeface="Calibri" pitchFamily="34" charset="-122"/>
                <a:cs typeface="Calibri" pitchFamily="34" charset="-120"/>
              </a:rPr>
              <a:t>To the penny</a:t>
            </a:r>
            <a:endParaRPr lang="en-US" sz="2000" dirty="0"/>
          </a:p>
        </p:txBody>
      </p:sp>
      <p:sp>
        <p:nvSpPr>
          <p:cNvPr id="53" name="Text 51"/>
          <p:cNvSpPr/>
          <p:nvPr/>
        </p:nvSpPr>
        <p:spPr>
          <a:xfrm>
            <a:off x="9079992" y="4343400"/>
            <a:ext cx="2377440" cy="365760"/>
          </a:xfrm>
          <a:prstGeom prst="rect">
            <a:avLst/>
          </a:prstGeom>
          <a:noFill/>
          <a:ln/>
        </p:spPr>
        <p:txBody>
          <a:bodyPr wrap="square" lIns="0" tIns="0" rIns="0" bIns="0" rtlCol="0" anchor="t"/>
          <a:lstStyle/>
          <a:p>
            <a:pPr indent="0" marL="0">
              <a:lnSpc>
                <a:spcPct val="100000"/>
              </a:lnSpc>
              <a:buNone/>
            </a:pPr>
            <a:r>
              <a:rPr lang="en-US" sz="900" dirty="0">
                <a:solidFill>
                  <a:srgbClr val="8A97A8"/>
                </a:solidFill>
                <a:latin typeface="Calibri" pitchFamily="34" charset="0"/>
                <a:ea typeface="Calibri" pitchFamily="34" charset="-122"/>
                <a:cs typeface="Calibri" pitchFamily="34" charset="-120"/>
              </a:rPr>
              <a:t>exports carry the on-screen total</a:t>
            </a:r>
            <a:endParaRPr lang="en-US" sz="900" dirty="0"/>
          </a:p>
        </p:txBody>
      </p:sp>
      <p:sp>
        <p:nvSpPr>
          <p:cNvPr id="54" name="Text 52"/>
          <p:cNvSpPr/>
          <p:nvPr/>
        </p:nvSpPr>
        <p:spPr>
          <a:xfrm>
            <a:off x="566928" y="4782312"/>
            <a:ext cx="10972800" cy="182880"/>
          </a:xfrm>
          <a:prstGeom prst="rect">
            <a:avLst/>
          </a:prstGeom>
          <a:noFill/>
          <a:ln/>
        </p:spPr>
        <p:txBody>
          <a:bodyPr wrap="square" lIns="0" tIns="0" rIns="0" bIns="0" rtlCol="0" anchor="t"/>
          <a:lstStyle/>
          <a:p>
            <a:pPr indent="0" marL="0">
              <a:buNone/>
            </a:pPr>
            <a:r>
              <a:rPr lang="en-US" sz="850" i="1" dirty="0">
                <a:solidFill>
                  <a:srgbClr val="8A97A8"/>
                </a:solidFill>
                <a:latin typeface="Calibri" pitchFamily="34" charset="0"/>
                <a:ea typeface="Calibri" pitchFamily="34" charset="-122"/>
                <a:cs typeface="Calibri" pitchFamily="34" charset="-120"/>
              </a:rPr>
              <a:t>No savings figure is claimed here — the teardown is run on real supplier quotes.</a:t>
            </a:r>
            <a:endParaRPr lang="en-US" sz="850" dirty="0"/>
          </a:p>
        </p:txBody>
      </p:sp>
      <p:sp>
        <p:nvSpPr>
          <p:cNvPr id="55" name="Shape 53"/>
          <p:cNvSpPr/>
          <p:nvPr/>
        </p:nvSpPr>
        <p:spPr>
          <a:xfrm>
            <a:off x="548640" y="5010912"/>
            <a:ext cx="11091672" cy="914400"/>
          </a:xfrm>
          <a:prstGeom prst="roundRect">
            <a:avLst>
              <a:gd name="adj" fmla="val 7000"/>
            </a:avLst>
          </a:prstGeom>
          <a:solidFill>
            <a:srgbClr val="F3EEFE"/>
          </a:solidFill>
          <a:ln w="12700">
            <a:solidFill>
              <a:srgbClr val="E4EAF2"/>
            </a:solidFill>
            <a:prstDash val="solid"/>
          </a:ln>
        </p:spPr>
        <p:txBody>
          <a:bodyPr/>
          <a:p/>
        </p:txBody>
      </p:sp>
      <p:sp>
        <p:nvSpPr>
          <p:cNvPr id="56" name="Shape 54"/>
          <p:cNvSpPr/>
          <p:nvPr/>
        </p:nvSpPr>
        <p:spPr>
          <a:xfrm>
            <a:off x="548640" y="5010912"/>
            <a:ext cx="82296" cy="914400"/>
          </a:xfrm>
          <a:prstGeom prst="rect">
            <a:avLst/>
          </a:prstGeom>
          <a:solidFill>
            <a:srgbClr val="7C3AED"/>
          </a:solidFill>
          <a:ln/>
        </p:spPr>
        <p:txBody>
          <a:bodyPr/>
          <a:p/>
        </p:txBody>
      </p:sp>
      <p:sp>
        <p:nvSpPr>
          <p:cNvPr id="57" name="Text 55"/>
          <p:cNvSpPr/>
          <p:nvPr/>
        </p:nvSpPr>
        <p:spPr>
          <a:xfrm>
            <a:off x="914400" y="5120640"/>
            <a:ext cx="10378440" cy="731520"/>
          </a:xfrm>
          <a:prstGeom prst="rect">
            <a:avLst/>
          </a:prstGeom>
          <a:noFill/>
          <a:ln/>
        </p:spPr>
        <p:txBody>
          <a:bodyPr wrap="square" lIns="0" tIns="0" rIns="0" bIns="0" rtlCol="0" anchor="t"/>
          <a:lstStyle/>
          <a:p>
            <a:pPr indent="0" marL="0">
              <a:lnSpc>
                <a:spcPct val="115000"/>
              </a:lnSpc>
              <a:buNone/>
            </a:pPr>
            <a:r>
              <a:rPr lang="en-US" sz="1150" b="1" dirty="0">
                <a:solidFill>
                  <a:srgbClr val="0F1E3D"/>
                </a:solidFill>
                <a:latin typeface="Calibri" pitchFamily="34" charset="0"/>
                <a:ea typeface="Calibri" pitchFamily="34" charset="-122"/>
                <a:cs typeface="Calibri" pitchFamily="34" charset="-120"/>
              </a:rPr>
              <a:t>The pack contains:  </a:t>
            </a:r>
            <a:pPr indent="0" marL="0">
              <a:lnSpc>
                <a:spcPct val="115000"/>
              </a:lnSpc>
              <a:buNone/>
            </a:pPr>
            <a:r>
              <a:rPr lang="en-US" sz="1150" dirty="0">
                <a:solidFill>
                  <a:srgbClr val="3E4C63"/>
                </a:solidFill>
                <a:latin typeface="Calibri" pitchFamily="34" charset="0"/>
                <a:ea typeface="Calibri" pitchFamily="34" charset="-122"/>
                <a:cs typeface="Calibri" pitchFamily="34" charset="-120"/>
              </a:rPr>
              <a:t>a line-by-line gap table, which driver causes each gap, levers ranked by £/yr, ready-to-send supplier questions, and a PDF or PowerPoint export. We stop arguing about the total and start negotiating the drivers.</a:t>
            </a:r>
            <a:endParaRPr lang="en-US" sz="1150" dirty="0"/>
          </a:p>
        </p:txBody>
      </p:sp>
      <p:sp>
        <p:nvSpPr>
          <p:cNvPr id="58" name="Shape 56"/>
          <p:cNvSpPr/>
          <p:nvPr/>
        </p:nvSpPr>
        <p:spPr>
          <a:xfrm>
            <a:off x="548640" y="6400800"/>
            <a:ext cx="11094415" cy="12802"/>
          </a:xfrm>
          <a:prstGeom prst="rect">
            <a:avLst/>
          </a:prstGeom>
          <a:solidFill>
            <a:srgbClr val="E4EAF2"/>
          </a:solidFill>
          <a:ln/>
        </p:spPr>
        <p:txBody>
          <a:bodyPr/>
          <a:p/>
        </p:txBody>
      </p:sp>
      <p:sp>
        <p:nvSpPr>
          <p:cNvPr id="59" name="Text 5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0" name="Text 5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22 / 33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agent-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58000"/>
            </a:srgbClr>
          </a:solidFill>
          <a:ln/>
        </p:spPr>
        <p:txBody>
          <a:bodyPr/>
          <a:p/>
        </p:txBody>
      </p:sp>
      <p:sp>
        <p:nvSpPr>
          <p:cNvPr id="5" name="Shape 2"/>
          <p:cNvSpPr/>
          <p:nvPr/>
        </p:nvSpPr>
        <p:spPr>
          <a:xfrm>
            <a:off x="0" y="3931920"/>
            <a:ext cx="12191695" cy="2926080"/>
          </a:xfrm>
          <a:prstGeom prst="rect">
            <a:avLst/>
          </a:prstGeom>
          <a:solidFill>
            <a:srgbClr val="061024">
              <a:alpha val="80000"/>
            </a:srgbClr>
          </a:solidFill>
          <a:ln/>
        </p:spPr>
        <p:txBody>
          <a:bodyPr/>
          <a:p/>
        </p:txBody>
      </p:sp>
      <p:sp>
        <p:nvSpPr>
          <p:cNvPr id="6" name="Shape 3"/>
          <p:cNvSpPr/>
          <p:nvPr/>
        </p:nvSpPr>
        <p:spPr>
          <a:xfrm>
            <a:off x="0" y="0"/>
            <a:ext cx="146304" cy="6858000"/>
          </a:xfrm>
          <a:prstGeom prst="rect">
            <a:avLst/>
          </a:prstGeom>
          <a:solidFill>
            <a:srgbClr val="4F46E5"/>
          </a:solidFill>
          <a:ln/>
        </p:spPr>
        <p:txBody>
          <a:bodyPr/>
          <a:p/>
        </p:txBody>
      </p:sp>
      <p:sp>
        <p:nvSpPr>
          <p:cNvPr id="7" name="Shape 4"/>
          <p:cNvSpPr/>
          <p:nvPr/>
        </p:nvSpPr>
        <p:spPr>
          <a:xfrm>
            <a:off x="0" y="6729984"/>
            <a:ext cx="12191695" cy="128016"/>
          </a:xfrm>
          <a:prstGeom prst="rect">
            <a:avLst/>
          </a:prstGeom>
          <a:solidFill>
            <a:srgbClr val="4F46E5"/>
          </a:solidFill>
          <a:ln/>
        </p:spPr>
        <p:txBody>
          <a:bodyPr/>
          <a:p/>
        </p:txBody>
      </p:sp>
      <p:sp>
        <p:nvSpPr>
          <p:cNvPr id="8" name="Shape 5"/>
          <p:cNvSpPr/>
          <p:nvPr/>
        </p:nvSpPr>
        <p:spPr>
          <a:xfrm>
            <a:off x="548640" y="457200"/>
            <a:ext cx="402336" cy="402336"/>
          </a:xfrm>
          <a:prstGeom prst="roundRect">
            <a:avLst>
              <a:gd name="adj" fmla="val 22727"/>
            </a:avLst>
          </a:prstGeom>
          <a:solidFill>
            <a:srgbClr val="4F46E5"/>
          </a:solidFill>
          <a:ln/>
        </p:spPr>
        <p:txBody>
          <a:bodyPr/>
          <a:p/>
        </p:txBody>
      </p:sp>
      <p:sp>
        <p:nvSpPr>
          <p:cNvPr id="9" name="Text 6"/>
          <p:cNvSpPr/>
          <p:nvPr/>
        </p:nvSpPr>
        <p:spPr>
          <a:xfrm>
            <a:off x="548640" y="457200"/>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cv</a:t>
            </a:r>
            <a:endParaRPr lang="en-US" sz="1600" dirty="0"/>
          </a:p>
        </p:txBody>
      </p:sp>
      <p:sp>
        <p:nvSpPr>
          <p:cNvPr id="10" name="Text 7"/>
          <p:cNvSpPr/>
          <p:nvPr/>
        </p:nvSpPr>
        <p:spPr>
          <a:xfrm>
            <a:off x="1097280" y="475488"/>
            <a:ext cx="3657600" cy="38404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CostVision</a:t>
            </a:r>
            <a:endParaRPr lang="en-US" sz="1400" dirty="0"/>
          </a:p>
        </p:txBody>
      </p:sp>
      <p:sp>
        <p:nvSpPr>
          <p:cNvPr id="11" name="Shape 8"/>
          <p:cNvSpPr/>
          <p:nvPr/>
        </p:nvSpPr>
        <p:spPr>
          <a:xfrm>
            <a:off x="548640" y="4553712"/>
            <a:ext cx="658368" cy="82296"/>
          </a:xfrm>
          <a:prstGeom prst="rect">
            <a:avLst/>
          </a:prstGeom>
          <a:solidFill>
            <a:srgbClr val="4F46E5"/>
          </a:solidFill>
          <a:ln/>
        </p:spPr>
        <p:txBody>
          <a:bodyPr/>
          <a:p/>
        </p:txBody>
      </p:sp>
      <p:sp>
        <p:nvSpPr>
          <p:cNvPr id="12" name="Text 9"/>
          <p:cNvSpPr/>
          <p:nvPr/>
        </p:nvSpPr>
        <p:spPr>
          <a:xfrm>
            <a:off x="548640" y="4187952"/>
            <a:ext cx="9144000" cy="274320"/>
          </a:xfrm>
          <a:prstGeom prst="rect">
            <a:avLst/>
          </a:prstGeom>
          <a:noFill/>
          <a:ln/>
        </p:spPr>
        <p:txBody>
          <a:bodyPr wrap="square" lIns="0" tIns="0" rIns="0" bIns="0" rtlCol="0" anchor="t"/>
          <a:lstStyle/>
          <a:p>
            <a:pPr indent="0" marL="0">
              <a:buNone/>
            </a:pPr>
            <a:r>
              <a:rPr lang="en-US" sz="1300" b="1" spc="200" kern="0" dirty="0">
                <a:solidFill>
                  <a:srgbClr val="CFE0F5"/>
                </a:solidFill>
                <a:latin typeface="Calibri" pitchFamily="34" charset="0"/>
                <a:ea typeface="Calibri" pitchFamily="34" charset="-122"/>
                <a:cs typeface="Calibri" pitchFamily="34" charset="-120"/>
              </a:rPr>
              <a:t>LEARN &amp; GOVERN</a:t>
            </a:r>
            <a:endParaRPr lang="en-US" sz="1300" dirty="0"/>
          </a:p>
        </p:txBody>
      </p:sp>
      <p:sp>
        <p:nvSpPr>
          <p:cNvPr id="13" name="Text 10"/>
          <p:cNvSpPr/>
          <p:nvPr/>
        </p:nvSpPr>
        <p:spPr>
          <a:xfrm>
            <a:off x="548640" y="4736592"/>
            <a:ext cx="10607040" cy="1280160"/>
          </a:xfrm>
          <a:prstGeom prst="rect">
            <a:avLst/>
          </a:prstGeom>
          <a:noFill/>
          <a:ln/>
        </p:spPr>
        <p:txBody>
          <a:bodyPr wrap="square" lIns="0" tIns="0" rIns="0" bIns="0" rtlCol="0" anchor="t"/>
          <a:lstStyle/>
          <a:p>
            <a:pPr indent="0" marL="0">
              <a:lnSpc>
                <a:spcPct val="102000"/>
              </a:lnSpc>
              <a:buNone/>
            </a:pPr>
            <a:r>
              <a:rPr lang="en-US" sz="3800" b="1" dirty="0">
                <a:solidFill>
                  <a:srgbClr val="FFFFFF"/>
                </a:solidFill>
                <a:latin typeface="Calibri" pitchFamily="34" charset="0"/>
                <a:ea typeface="Calibri" pitchFamily="34" charset="-122"/>
                <a:cs typeface="Calibri" pitchFamily="34" charset="-120"/>
              </a:rPr>
              <a:t>Learning from actuals</a:t>
            </a:r>
            <a:endParaRPr lang="en-US" sz="3800" dirty="0"/>
          </a:p>
        </p:txBody>
      </p:sp>
      <p:sp>
        <p:nvSpPr>
          <p:cNvPr id="14" name="Text 11"/>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AFC4E2"/>
                </a:solidFill>
                <a:latin typeface="Calibri" pitchFamily="34" charset="0"/>
                <a:ea typeface="Calibri" pitchFamily="34" charset="-122"/>
                <a:cs typeface="Calibri" pitchFamily="34" charset="-120"/>
              </a:rPr>
              <a:t>23 / 33</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LEARN &amp; GOVERN</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Learning from actuals — it remembers and corrects</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Shape 8"/>
          <p:cNvSpPr/>
          <p:nvPr/>
        </p:nvSpPr>
        <p:spPr>
          <a:xfrm>
            <a:off x="548640"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3.5834610852528816e+226" dist="1.0238460243579663e+226" dir="5.656675692209407e+264">
              <a:srgbClr val="9DB0CC">
                <a:alpha val="2.200000000000001e+274"/>
              </a:srgbClr>
            </a:outerShdw>
          </a:effectLst>
        </p:spPr>
        <p:txBody>
          <a:bodyPr/>
          <a:p/>
        </p:txBody>
      </p:sp>
      <p:sp>
        <p:nvSpPr>
          <p:cNvPr id="11" name="Shape 9"/>
          <p:cNvSpPr/>
          <p:nvPr/>
        </p:nvSpPr>
        <p:spPr>
          <a:xfrm>
            <a:off x="548640" y="1691640"/>
            <a:ext cx="82296" cy="2423160"/>
          </a:xfrm>
          <a:prstGeom prst="rect">
            <a:avLst/>
          </a:prstGeom>
          <a:solidFill>
            <a:srgbClr val="2563EB"/>
          </a:solidFill>
          <a:ln/>
        </p:spPr>
        <p:txBody>
          <a:bodyPr/>
          <a:p/>
        </p:txBody>
      </p:sp>
      <p:sp>
        <p:nvSpPr>
          <p:cNvPr id="12" name="Shape 10"/>
          <p:cNvSpPr/>
          <p:nvPr/>
        </p:nvSpPr>
        <p:spPr>
          <a:xfrm>
            <a:off x="1472184" y="1947672"/>
            <a:ext cx="694944" cy="694944"/>
          </a:xfrm>
          <a:prstGeom prst="ellipse">
            <a:avLst/>
          </a:prstGeom>
          <a:solidFill>
            <a:srgbClr val="EAF1FE"/>
          </a:solidFill>
          <a:ln/>
        </p:spPr>
        <p:txBody>
          <a:bodyPr/>
          <a:p/>
        </p:txBody>
      </p:sp>
      <p:sp>
        <p:nvSpPr>
          <p:cNvPr id="13" name="Text 11"/>
          <p:cNvSpPr/>
          <p:nvPr/>
        </p:nvSpPr>
        <p:spPr>
          <a:xfrm>
            <a:off x="1472184" y="1938528"/>
            <a:ext cx="694944" cy="694944"/>
          </a:xfrm>
          <a:prstGeom prst="rect">
            <a:avLst/>
          </a:prstGeom>
          <a:noFill/>
          <a:ln/>
        </p:spPr>
        <p:txBody>
          <a:bodyPr wrap="square" lIns="0" tIns="0" rIns="0" bIns="0" rtlCol="0" anchor="ctr"/>
          <a:lstStyle/>
          <a:p>
            <a:pPr algn="ctr" indent="0" marL="0">
              <a:buNone/>
            </a:pPr>
            <a:r>
              <a:rPr lang="en-US" sz="2400" b="1" dirty="0">
                <a:solidFill>
                  <a:srgbClr val="2563EB"/>
                </a:solidFill>
                <a:latin typeface="Calibri" pitchFamily="34" charset="0"/>
                <a:ea typeface="Calibri" pitchFamily="34" charset="-122"/>
                <a:cs typeface="Calibri" pitchFamily="34" charset="-120"/>
              </a:rPr>
              <a:t>▤</a:t>
            </a:r>
            <a:endParaRPr lang="en-US" sz="2400" dirty="0"/>
          </a:p>
        </p:txBody>
      </p:sp>
      <p:sp>
        <p:nvSpPr>
          <p:cNvPr id="14" name="Text 12"/>
          <p:cNvSpPr/>
          <p:nvPr/>
        </p:nvSpPr>
        <p:spPr>
          <a:xfrm>
            <a:off x="768096" y="2788920"/>
            <a:ext cx="2130552" cy="320040"/>
          </a:xfrm>
          <a:prstGeom prst="rect">
            <a:avLst/>
          </a:prstGeom>
          <a:noFill/>
          <a:ln/>
        </p:spPr>
        <p:txBody>
          <a:bodyPr wrap="square" lIns="0" tIns="0" rIns="0" bIns="0" rtlCol="0" anchor="t"/>
          <a:lstStyle/>
          <a:p>
            <a:pPr algn="ctr" indent="0" marL="0">
              <a:buNone/>
            </a:pPr>
            <a:r>
              <a:rPr lang="en-US" sz="1500" b="1" dirty="0">
                <a:solidFill>
                  <a:srgbClr val="2563EB"/>
                </a:solidFill>
                <a:latin typeface="Calibri" pitchFamily="34" charset="0"/>
                <a:ea typeface="Calibri" pitchFamily="34" charset="-122"/>
                <a:cs typeface="Calibri" pitchFamily="34" charset="-120"/>
              </a:rPr>
              <a:t>Remembers</a:t>
            </a:r>
            <a:endParaRPr lang="en-US" sz="1500" dirty="0"/>
          </a:p>
        </p:txBody>
      </p:sp>
      <p:sp>
        <p:nvSpPr>
          <p:cNvPr id="15" name="Text 13"/>
          <p:cNvSpPr/>
          <p:nvPr/>
        </p:nvSpPr>
        <p:spPr>
          <a:xfrm>
            <a:off x="786384"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Each costing can be saved as a case in a shared memory, so the team builds on past work.</a:t>
            </a:r>
            <a:endParaRPr lang="en-US" sz="1000" dirty="0"/>
          </a:p>
        </p:txBody>
      </p:sp>
      <p:sp>
        <p:nvSpPr>
          <p:cNvPr id="16" name="Text 14"/>
          <p:cNvSpPr/>
          <p:nvPr/>
        </p:nvSpPr>
        <p:spPr>
          <a:xfrm>
            <a:off x="3108960"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3419856"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4.550995578271159e+230" dist="1.3002844509346172e+230" dir="3.3940054153256444e+269">
              <a:srgbClr val="9DB0CC">
                <a:alpha val="2.200000000000001e+279"/>
              </a:srgbClr>
            </a:outerShdw>
          </a:effectLst>
        </p:spPr>
        <p:txBody>
          <a:bodyPr/>
          <a:p/>
        </p:txBody>
      </p:sp>
      <p:sp>
        <p:nvSpPr>
          <p:cNvPr id="18" name="Shape 16"/>
          <p:cNvSpPr/>
          <p:nvPr/>
        </p:nvSpPr>
        <p:spPr>
          <a:xfrm>
            <a:off x="3419856" y="1691640"/>
            <a:ext cx="82296" cy="2423160"/>
          </a:xfrm>
          <a:prstGeom prst="rect">
            <a:avLst/>
          </a:prstGeom>
          <a:solidFill>
            <a:srgbClr val="0E93B0"/>
          </a:solidFill>
          <a:ln/>
        </p:spPr>
        <p:txBody>
          <a:bodyPr/>
          <a:p/>
        </p:txBody>
      </p:sp>
      <p:sp>
        <p:nvSpPr>
          <p:cNvPr id="19" name="Shape 17"/>
          <p:cNvSpPr/>
          <p:nvPr/>
        </p:nvSpPr>
        <p:spPr>
          <a:xfrm>
            <a:off x="4343400" y="1947672"/>
            <a:ext cx="694944" cy="694944"/>
          </a:xfrm>
          <a:prstGeom prst="ellipse">
            <a:avLst/>
          </a:prstGeom>
          <a:solidFill>
            <a:srgbClr val="E8F6FA"/>
          </a:solidFill>
          <a:ln/>
        </p:spPr>
        <p:txBody>
          <a:bodyPr/>
          <a:p/>
        </p:txBody>
      </p:sp>
      <p:sp>
        <p:nvSpPr>
          <p:cNvPr id="20" name="Text 18"/>
          <p:cNvSpPr/>
          <p:nvPr/>
        </p:nvSpPr>
        <p:spPr>
          <a:xfrm>
            <a:off x="4343400" y="1938528"/>
            <a:ext cx="694944" cy="694944"/>
          </a:xfrm>
          <a:prstGeom prst="rect">
            <a:avLst/>
          </a:prstGeom>
          <a:noFill/>
          <a:ln/>
        </p:spPr>
        <p:txBody>
          <a:bodyPr wrap="square" lIns="0" tIns="0" rIns="0" bIns="0" rtlCol="0" anchor="ctr"/>
          <a:lstStyle/>
          <a:p>
            <a:pPr algn="ctr" indent="0" marL="0">
              <a:buNone/>
            </a:pPr>
            <a:r>
              <a:rPr lang="en-US" sz="2400" b="1" dirty="0">
                <a:solidFill>
                  <a:srgbClr val="0E93B0"/>
                </a:solidFill>
                <a:latin typeface="Calibri" pitchFamily="34" charset="0"/>
                <a:ea typeface="Calibri" pitchFamily="34" charset="-122"/>
                <a:cs typeface="Calibri" pitchFamily="34" charset="-120"/>
              </a:rPr>
              <a:t>◎</a:t>
            </a:r>
            <a:endParaRPr lang="en-US" sz="2400" dirty="0"/>
          </a:p>
        </p:txBody>
      </p:sp>
      <p:sp>
        <p:nvSpPr>
          <p:cNvPr id="21" name="Text 19"/>
          <p:cNvSpPr/>
          <p:nvPr/>
        </p:nvSpPr>
        <p:spPr>
          <a:xfrm>
            <a:off x="3639312" y="2788920"/>
            <a:ext cx="2130552" cy="320040"/>
          </a:xfrm>
          <a:prstGeom prst="rect">
            <a:avLst/>
          </a:prstGeom>
          <a:noFill/>
          <a:ln/>
        </p:spPr>
        <p:txBody>
          <a:bodyPr wrap="square" lIns="0" tIns="0" rIns="0" bIns="0" rtlCol="0" anchor="t"/>
          <a:lstStyle/>
          <a:p>
            <a:pPr algn="ctr" indent="0" marL="0">
              <a:buNone/>
            </a:pPr>
            <a:r>
              <a:rPr lang="en-US" sz="1500" b="1" dirty="0">
                <a:solidFill>
                  <a:srgbClr val="0E93B0"/>
                </a:solidFill>
                <a:latin typeface="Calibri" pitchFamily="34" charset="0"/>
                <a:ea typeface="Calibri" pitchFamily="34" charset="-122"/>
                <a:cs typeface="Calibri" pitchFamily="34" charset="-120"/>
              </a:rPr>
              <a:t>Recognises</a:t>
            </a:r>
            <a:endParaRPr lang="en-US" sz="1500" dirty="0"/>
          </a:p>
        </p:txBody>
      </p:sp>
      <p:sp>
        <p:nvSpPr>
          <p:cNvPr id="22" name="Text 20"/>
          <p:cNvSpPr/>
          <p:nvPr/>
        </p:nvSpPr>
        <p:spPr>
          <a:xfrm>
            <a:off x="3657600"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new part is matched to similar past parts, with the reasons shown.</a:t>
            </a:r>
            <a:endParaRPr lang="en-US" sz="1000" dirty="0"/>
          </a:p>
        </p:txBody>
      </p:sp>
      <p:sp>
        <p:nvSpPr>
          <p:cNvPr id="23" name="Text 21"/>
          <p:cNvSpPr/>
          <p:nvPr/>
        </p:nvSpPr>
        <p:spPr>
          <a:xfrm>
            <a:off x="5980176"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24" name="Shape 22"/>
          <p:cNvSpPr/>
          <p:nvPr/>
        </p:nvSpPr>
        <p:spPr>
          <a:xfrm>
            <a:off x="6291072"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5.7797643844043726e+234" dist="1.6513612526869638e+234" dir="2.0364032491953868e+274">
              <a:srgbClr val="9DB0CC">
                <a:alpha val="2.200000000000001e+284"/>
              </a:srgbClr>
            </a:outerShdw>
          </a:effectLst>
        </p:spPr>
        <p:txBody>
          <a:bodyPr/>
          <a:p/>
        </p:txBody>
      </p:sp>
      <p:sp>
        <p:nvSpPr>
          <p:cNvPr id="25" name="Shape 23"/>
          <p:cNvSpPr/>
          <p:nvPr/>
        </p:nvSpPr>
        <p:spPr>
          <a:xfrm>
            <a:off x="6291072" y="1691640"/>
            <a:ext cx="82296" cy="2423160"/>
          </a:xfrm>
          <a:prstGeom prst="rect">
            <a:avLst/>
          </a:prstGeom>
          <a:solidFill>
            <a:srgbClr val="7C3AED"/>
          </a:solidFill>
          <a:ln/>
        </p:spPr>
        <p:txBody>
          <a:bodyPr/>
          <a:p/>
        </p:txBody>
      </p:sp>
      <p:sp>
        <p:nvSpPr>
          <p:cNvPr id="26" name="Shape 24"/>
          <p:cNvSpPr/>
          <p:nvPr/>
        </p:nvSpPr>
        <p:spPr>
          <a:xfrm>
            <a:off x="7214616" y="1947672"/>
            <a:ext cx="694944" cy="694944"/>
          </a:xfrm>
          <a:prstGeom prst="ellipse">
            <a:avLst/>
          </a:prstGeom>
          <a:solidFill>
            <a:srgbClr val="F3EEFE"/>
          </a:solidFill>
          <a:ln/>
        </p:spPr>
        <p:txBody>
          <a:bodyPr/>
          <a:p/>
        </p:txBody>
      </p:sp>
      <p:sp>
        <p:nvSpPr>
          <p:cNvPr id="27" name="Text 25"/>
          <p:cNvSpPr/>
          <p:nvPr/>
        </p:nvSpPr>
        <p:spPr>
          <a:xfrm>
            <a:off x="7214616" y="1938528"/>
            <a:ext cx="694944" cy="694944"/>
          </a:xfrm>
          <a:prstGeom prst="rect">
            <a:avLst/>
          </a:prstGeom>
          <a:noFill/>
          <a:ln/>
        </p:spPr>
        <p:txBody>
          <a:bodyPr wrap="square" lIns="0" tIns="0" rIns="0" bIns="0" rtlCol="0" anchor="ctr"/>
          <a:lstStyle/>
          <a:p>
            <a:pPr algn="ctr" indent="0" marL="0">
              <a:buNone/>
            </a:pPr>
            <a:r>
              <a:rPr lang="en-US" sz="2400" b="1" dirty="0">
                <a:solidFill>
                  <a:srgbClr val="7C3AED"/>
                </a:solidFill>
                <a:latin typeface="Calibri" pitchFamily="34" charset="0"/>
                <a:ea typeface="Calibri" pitchFamily="34" charset="-122"/>
                <a:cs typeface="Calibri" pitchFamily="34" charset="-120"/>
              </a:rPr>
              <a:t>⟳</a:t>
            </a:r>
            <a:endParaRPr lang="en-US" sz="2400" dirty="0"/>
          </a:p>
        </p:txBody>
      </p:sp>
      <p:sp>
        <p:nvSpPr>
          <p:cNvPr id="28" name="Text 26"/>
          <p:cNvSpPr/>
          <p:nvPr/>
        </p:nvSpPr>
        <p:spPr>
          <a:xfrm>
            <a:off x="6510528" y="2788920"/>
            <a:ext cx="2130552" cy="320040"/>
          </a:xfrm>
          <a:prstGeom prst="rect">
            <a:avLst/>
          </a:prstGeom>
          <a:noFill/>
          <a:ln/>
        </p:spPr>
        <p:txBody>
          <a:bodyPr wrap="square" lIns="0" tIns="0" rIns="0" bIns="0" rtlCol="0" anchor="t"/>
          <a:lstStyle/>
          <a:p>
            <a:pPr algn="ctr" indent="0" marL="0">
              <a:buNone/>
            </a:pPr>
            <a:r>
              <a:rPr lang="en-US" sz="1500" b="1" dirty="0">
                <a:solidFill>
                  <a:srgbClr val="7C3AED"/>
                </a:solidFill>
                <a:latin typeface="Calibri" pitchFamily="34" charset="0"/>
                <a:ea typeface="Calibri" pitchFamily="34" charset="-122"/>
                <a:cs typeface="Calibri" pitchFamily="34" charset="-120"/>
              </a:rPr>
              <a:t>Self-corrects</a:t>
            </a:r>
            <a:endParaRPr lang="en-US" sz="1500" dirty="0"/>
          </a:p>
        </p:txBody>
      </p:sp>
      <p:sp>
        <p:nvSpPr>
          <p:cNvPr id="29" name="Text 27"/>
          <p:cNvSpPr/>
          <p:nvPr/>
        </p:nvSpPr>
        <p:spPr>
          <a:xfrm>
            <a:off x="6528816"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Log a real quote or PO price. After 3 actuals for a commodity, the band is corrected by real data.</a:t>
            </a:r>
            <a:endParaRPr lang="en-US" sz="1000" dirty="0"/>
          </a:p>
        </p:txBody>
      </p:sp>
      <p:sp>
        <p:nvSpPr>
          <p:cNvPr id="30" name="Text 28"/>
          <p:cNvSpPr/>
          <p:nvPr/>
        </p:nvSpPr>
        <p:spPr>
          <a:xfrm>
            <a:off x="8851392" y="2560320"/>
            <a:ext cx="329184" cy="548640"/>
          </a:xfrm>
          <a:prstGeom prst="rect">
            <a:avLst/>
          </a:prstGeom>
          <a:noFill/>
          <a:ln/>
        </p:spPr>
        <p:txBody>
          <a:bodyPr wrap="square" lIns="0" tIns="0" rIns="0" bIns="0" rtlCol="0" anchor="ctr"/>
          <a:lstStyle/>
          <a:p>
            <a:pPr algn="ctr" indent="0" marL="0">
              <a:buNone/>
            </a:pPr>
            <a:r>
              <a:rPr lang="en-US" sz="2000" b="1" dirty="0">
                <a:solidFill>
                  <a:srgbClr val="4F46E5"/>
                </a:solidFill>
                <a:latin typeface="Calibri" pitchFamily="34" charset="0"/>
                <a:ea typeface="Calibri" pitchFamily="34" charset="-122"/>
                <a:cs typeface="Calibri" pitchFamily="34" charset="-120"/>
              </a:rPr>
              <a:t>→</a:t>
            </a:r>
            <a:endParaRPr lang="en-US" sz="2000" dirty="0"/>
          </a:p>
        </p:txBody>
      </p:sp>
      <p:sp>
        <p:nvSpPr>
          <p:cNvPr id="31" name="Shape 29"/>
          <p:cNvSpPr/>
          <p:nvPr/>
        </p:nvSpPr>
        <p:spPr>
          <a:xfrm>
            <a:off x="9162288" y="1691640"/>
            <a:ext cx="2542032" cy="2423160"/>
          </a:xfrm>
          <a:prstGeom prst="roundRect">
            <a:avLst>
              <a:gd name="adj" fmla="val 2642"/>
            </a:avLst>
          </a:prstGeom>
          <a:solidFill>
            <a:srgbClr val="FFFFFF"/>
          </a:solidFill>
          <a:ln w="12700">
            <a:solidFill>
              <a:srgbClr val="E4EAF2"/>
            </a:solidFill>
            <a:prstDash val="solid"/>
          </a:ln>
          <a:effectLst>
            <a:outerShdw sx="100000" sy="100000" kx="0" ky="0" algn="bl" rotWithShape="0" blurRad="7.340300768193554e+238" dist="2.097228790912444e+238" dir="1.221841949517232e+279">
              <a:srgbClr val="9DB0CC">
                <a:alpha val="2.200000000000001e+289"/>
              </a:srgbClr>
            </a:outerShdw>
          </a:effectLst>
        </p:spPr>
        <p:txBody>
          <a:bodyPr/>
          <a:p/>
        </p:txBody>
      </p:sp>
      <p:sp>
        <p:nvSpPr>
          <p:cNvPr id="32" name="Shape 30"/>
          <p:cNvSpPr/>
          <p:nvPr/>
        </p:nvSpPr>
        <p:spPr>
          <a:xfrm>
            <a:off x="9162288" y="1691640"/>
            <a:ext cx="82296" cy="2423160"/>
          </a:xfrm>
          <a:prstGeom prst="rect">
            <a:avLst/>
          </a:prstGeom>
          <a:solidFill>
            <a:srgbClr val="0EA472"/>
          </a:solidFill>
          <a:ln/>
        </p:spPr>
        <p:txBody>
          <a:bodyPr/>
          <a:p/>
        </p:txBody>
      </p:sp>
      <p:sp>
        <p:nvSpPr>
          <p:cNvPr id="33" name="Shape 31"/>
          <p:cNvSpPr/>
          <p:nvPr/>
        </p:nvSpPr>
        <p:spPr>
          <a:xfrm>
            <a:off x="10085832" y="1947672"/>
            <a:ext cx="694944" cy="694944"/>
          </a:xfrm>
          <a:prstGeom prst="ellipse">
            <a:avLst/>
          </a:prstGeom>
          <a:solidFill>
            <a:srgbClr val="E7F7F0"/>
          </a:solidFill>
          <a:ln/>
        </p:spPr>
        <p:txBody>
          <a:bodyPr/>
          <a:p/>
        </p:txBody>
      </p:sp>
      <p:sp>
        <p:nvSpPr>
          <p:cNvPr id="34" name="Text 32"/>
          <p:cNvSpPr/>
          <p:nvPr/>
        </p:nvSpPr>
        <p:spPr>
          <a:xfrm>
            <a:off x="10085832" y="1938528"/>
            <a:ext cx="694944" cy="694944"/>
          </a:xfrm>
          <a:prstGeom prst="rect">
            <a:avLst/>
          </a:prstGeom>
          <a:noFill/>
          <a:ln/>
        </p:spPr>
        <p:txBody>
          <a:bodyPr wrap="square" lIns="0" tIns="0" rIns="0" bIns="0" rtlCol="0" anchor="ctr"/>
          <a:lstStyle/>
          <a:p>
            <a:pPr algn="ctr" indent="0" marL="0">
              <a:buNone/>
            </a:pPr>
            <a:r>
              <a:rPr lang="en-US" sz="2400" b="1" dirty="0">
                <a:solidFill>
                  <a:srgbClr val="0EA472"/>
                </a:solidFill>
                <a:latin typeface="Calibri" pitchFamily="34" charset="0"/>
                <a:ea typeface="Calibri" pitchFamily="34" charset="-122"/>
                <a:cs typeface="Calibri" pitchFamily="34" charset="-120"/>
              </a:rPr>
              <a:t>➤</a:t>
            </a:r>
            <a:endParaRPr lang="en-US" sz="2400" dirty="0"/>
          </a:p>
        </p:txBody>
      </p:sp>
      <p:sp>
        <p:nvSpPr>
          <p:cNvPr id="35" name="Text 33"/>
          <p:cNvSpPr/>
          <p:nvPr/>
        </p:nvSpPr>
        <p:spPr>
          <a:xfrm>
            <a:off x="9381744" y="2788920"/>
            <a:ext cx="2130552" cy="320040"/>
          </a:xfrm>
          <a:prstGeom prst="rect">
            <a:avLst/>
          </a:prstGeom>
          <a:noFill/>
          <a:ln/>
        </p:spPr>
        <p:txBody>
          <a:bodyPr wrap="square" lIns="0" tIns="0" rIns="0" bIns="0" rtlCol="0" anchor="t"/>
          <a:lstStyle/>
          <a:p>
            <a:pPr algn="ctr" indent="0" marL="0">
              <a:buNone/>
            </a:pPr>
            <a:r>
              <a:rPr lang="en-US" sz="1500" b="1" dirty="0">
                <a:solidFill>
                  <a:srgbClr val="0EA472"/>
                </a:solidFill>
                <a:latin typeface="Calibri" pitchFamily="34" charset="0"/>
                <a:ea typeface="Calibri" pitchFamily="34" charset="-122"/>
                <a:cs typeface="Calibri" pitchFamily="34" charset="-120"/>
              </a:rPr>
              <a:t>Acts</a:t>
            </a:r>
            <a:endParaRPr lang="en-US" sz="1500" dirty="0"/>
          </a:p>
        </p:txBody>
      </p:sp>
      <p:sp>
        <p:nvSpPr>
          <p:cNvPr id="36" name="Text 34"/>
          <p:cNvSpPr/>
          <p:nvPr/>
        </p:nvSpPr>
        <p:spPr>
          <a:xfrm>
            <a:off x="9400032" y="3172968"/>
            <a:ext cx="2084832" cy="868680"/>
          </a:xfrm>
          <a:prstGeom prst="rect">
            <a:avLst/>
          </a:prstGeom>
          <a:noFill/>
          <a:ln/>
        </p:spPr>
        <p:txBody>
          <a:bodyPr wrap="square" lIns="0" tIns="0" rIns="0" bIns="0" rtlCol="0" anchor="t"/>
          <a:lstStyle/>
          <a:p>
            <a:pPr algn="ctr" indent="0" marL="0">
              <a:lnSpc>
                <a:spcPct val="114000"/>
              </a:lnSpc>
              <a:buNone/>
            </a:pPr>
            <a:r>
              <a:rPr lang="en-US" sz="1000" dirty="0">
                <a:solidFill>
                  <a:srgbClr val="3E4C63"/>
                </a:solidFill>
                <a:latin typeface="Calibri" pitchFamily="34" charset="0"/>
                <a:ea typeface="Calibri" pitchFamily="34" charset="-122"/>
                <a:cs typeface="Calibri" pitchFamily="34" charset="-120"/>
              </a:rPr>
              <a:t>A background monitor re-checks saved parts and flags price gaps and stale estimates. No AI.</a:t>
            </a:r>
            <a:endParaRPr lang="en-US" sz="1000" dirty="0"/>
          </a:p>
        </p:txBody>
      </p:sp>
      <p:sp>
        <p:nvSpPr>
          <p:cNvPr id="37" name="Shape 35"/>
          <p:cNvSpPr/>
          <p:nvPr/>
        </p:nvSpPr>
        <p:spPr>
          <a:xfrm>
            <a:off x="548640"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38" name="Shape 36"/>
          <p:cNvSpPr/>
          <p:nvPr/>
        </p:nvSpPr>
        <p:spPr>
          <a:xfrm>
            <a:off x="548640" y="4343400"/>
            <a:ext cx="73152" cy="1051560"/>
          </a:xfrm>
          <a:prstGeom prst="rect">
            <a:avLst/>
          </a:prstGeom>
          <a:solidFill>
            <a:srgbClr val="0EA472"/>
          </a:solidFill>
          <a:ln/>
        </p:spPr>
        <p:txBody>
          <a:bodyPr/>
          <a:p/>
        </p:txBody>
      </p:sp>
      <p:sp>
        <p:nvSpPr>
          <p:cNvPr id="39" name="Text 37"/>
          <p:cNvSpPr/>
          <p:nvPr/>
        </p:nvSpPr>
        <p:spPr>
          <a:xfrm>
            <a:off x="786384" y="4489704"/>
            <a:ext cx="3291840" cy="457200"/>
          </a:xfrm>
          <a:prstGeom prst="rect">
            <a:avLst/>
          </a:prstGeom>
          <a:noFill/>
          <a:ln/>
        </p:spPr>
        <p:txBody>
          <a:bodyPr wrap="square" lIns="0" tIns="0" rIns="0" bIns="0" rtlCol="0" anchor="t"/>
          <a:lstStyle/>
          <a:p>
            <a:pPr indent="0" marL="0">
              <a:buNone/>
            </a:pPr>
            <a:r>
              <a:rPr lang="en-US" sz="2200" b="1" dirty="0">
                <a:solidFill>
                  <a:srgbClr val="0EA472"/>
                </a:solidFill>
                <a:latin typeface="Calibri" pitchFamily="34" charset="0"/>
                <a:ea typeface="Calibri" pitchFamily="34" charset="-122"/>
                <a:cs typeface="Calibri" pitchFamily="34" charset="-120"/>
              </a:rPr>
              <a:t>3</a:t>
            </a:r>
            <a:endParaRPr lang="en-US" sz="2200" dirty="0"/>
          </a:p>
        </p:txBody>
      </p:sp>
      <p:sp>
        <p:nvSpPr>
          <p:cNvPr id="40" name="Text 38"/>
          <p:cNvSpPr/>
          <p:nvPr/>
        </p:nvSpPr>
        <p:spPr>
          <a:xfrm>
            <a:off x="786384"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actuals per commodity before the band is corrected</a:t>
            </a:r>
            <a:endParaRPr lang="en-US" sz="950" dirty="0"/>
          </a:p>
        </p:txBody>
      </p:sp>
      <p:sp>
        <p:nvSpPr>
          <p:cNvPr id="41" name="Shape 39"/>
          <p:cNvSpPr/>
          <p:nvPr/>
        </p:nvSpPr>
        <p:spPr>
          <a:xfrm>
            <a:off x="4261104"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42" name="Shape 40"/>
          <p:cNvSpPr/>
          <p:nvPr/>
        </p:nvSpPr>
        <p:spPr>
          <a:xfrm>
            <a:off x="4261104" y="4343400"/>
            <a:ext cx="73152" cy="1051560"/>
          </a:xfrm>
          <a:prstGeom prst="rect">
            <a:avLst/>
          </a:prstGeom>
          <a:solidFill>
            <a:srgbClr val="E5484D"/>
          </a:solidFill>
          <a:ln/>
        </p:spPr>
        <p:txBody>
          <a:bodyPr/>
          <a:p/>
        </p:txBody>
      </p:sp>
      <p:sp>
        <p:nvSpPr>
          <p:cNvPr id="43" name="Text 41"/>
          <p:cNvSpPr/>
          <p:nvPr/>
        </p:nvSpPr>
        <p:spPr>
          <a:xfrm>
            <a:off x="4498848" y="4489704"/>
            <a:ext cx="3291840" cy="457200"/>
          </a:xfrm>
          <a:prstGeom prst="rect">
            <a:avLst/>
          </a:prstGeom>
          <a:noFill/>
          <a:ln/>
        </p:spPr>
        <p:txBody>
          <a:bodyPr wrap="square" lIns="0" tIns="0" rIns="0" bIns="0" rtlCol="0" anchor="t"/>
          <a:lstStyle/>
          <a:p>
            <a:pPr indent="0" marL="0">
              <a:buNone/>
            </a:pPr>
            <a:r>
              <a:rPr lang="en-US" sz="2200" b="1" dirty="0">
                <a:solidFill>
                  <a:srgbClr val="E5484D"/>
                </a:solidFill>
                <a:latin typeface="Calibri" pitchFamily="34" charset="0"/>
                <a:ea typeface="Calibri" pitchFamily="34" charset="-122"/>
                <a:cs typeface="Calibri" pitchFamily="34" charset="-120"/>
              </a:rPr>
              <a:t>P10–P90</a:t>
            </a:r>
            <a:endParaRPr lang="en-US" sz="2200" dirty="0"/>
          </a:p>
        </p:txBody>
      </p:sp>
      <p:sp>
        <p:nvSpPr>
          <p:cNvPr id="44" name="Text 42"/>
          <p:cNvSpPr/>
          <p:nvPr/>
        </p:nvSpPr>
        <p:spPr>
          <a:xfrm>
            <a:off x="4498848"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uncertainty band on every result</a:t>
            </a:r>
            <a:endParaRPr lang="en-US" sz="950" dirty="0"/>
          </a:p>
        </p:txBody>
      </p:sp>
      <p:sp>
        <p:nvSpPr>
          <p:cNvPr id="45" name="Shape 43"/>
          <p:cNvSpPr/>
          <p:nvPr/>
        </p:nvSpPr>
        <p:spPr>
          <a:xfrm>
            <a:off x="7973568" y="4343400"/>
            <a:ext cx="3657600" cy="1051560"/>
          </a:xfrm>
          <a:prstGeom prst="roundRect">
            <a:avLst>
              <a:gd name="adj" fmla="val 5217"/>
            </a:avLst>
          </a:prstGeom>
          <a:solidFill>
            <a:srgbClr val="F4F7FB"/>
          </a:solidFill>
          <a:ln w="12700">
            <a:solidFill>
              <a:srgbClr val="E4EAF2"/>
            </a:solidFill>
            <a:prstDash val="solid"/>
          </a:ln>
        </p:spPr>
        <p:txBody>
          <a:bodyPr/>
          <a:p/>
        </p:txBody>
      </p:sp>
      <p:sp>
        <p:nvSpPr>
          <p:cNvPr id="46" name="Shape 44"/>
          <p:cNvSpPr/>
          <p:nvPr/>
        </p:nvSpPr>
        <p:spPr>
          <a:xfrm>
            <a:off x="7973568" y="4343400"/>
            <a:ext cx="73152" cy="1051560"/>
          </a:xfrm>
          <a:prstGeom prst="rect">
            <a:avLst/>
          </a:prstGeom>
          <a:solidFill>
            <a:srgbClr val="0E93B0"/>
          </a:solidFill>
          <a:ln/>
        </p:spPr>
        <p:txBody>
          <a:bodyPr/>
          <a:p/>
        </p:txBody>
      </p:sp>
      <p:sp>
        <p:nvSpPr>
          <p:cNvPr id="47" name="Text 45"/>
          <p:cNvSpPr/>
          <p:nvPr/>
        </p:nvSpPr>
        <p:spPr>
          <a:xfrm>
            <a:off x="8211312" y="4489704"/>
            <a:ext cx="3291840" cy="457200"/>
          </a:xfrm>
          <a:prstGeom prst="rect">
            <a:avLst/>
          </a:prstGeom>
          <a:noFill/>
          <a:ln/>
        </p:spPr>
        <p:txBody>
          <a:bodyPr wrap="square" lIns="0" tIns="0" rIns="0" bIns="0" rtlCol="0" anchor="t"/>
          <a:lstStyle/>
          <a:p>
            <a:pPr indent="0" marL="0">
              <a:buNone/>
            </a:pPr>
            <a:r>
              <a:rPr lang="en-US" sz="2200" b="1" dirty="0">
                <a:solidFill>
                  <a:srgbClr val="0E93B0"/>
                </a:solidFill>
                <a:latin typeface="Calibri" pitchFamily="34" charset="0"/>
                <a:ea typeface="Calibri" pitchFamily="34" charset="-122"/>
                <a:cs typeface="Calibri" pitchFamily="34" charset="-120"/>
              </a:rPr>
              <a:t>0</a:t>
            </a:r>
            <a:endParaRPr lang="en-US" sz="2200" dirty="0"/>
          </a:p>
        </p:txBody>
      </p:sp>
      <p:sp>
        <p:nvSpPr>
          <p:cNvPr id="48" name="Text 46"/>
          <p:cNvSpPr/>
          <p:nvPr/>
        </p:nvSpPr>
        <p:spPr>
          <a:xfrm>
            <a:off x="8211312" y="4928616"/>
            <a:ext cx="3200400" cy="365760"/>
          </a:xfrm>
          <a:prstGeom prst="rect">
            <a:avLst/>
          </a:prstGeom>
          <a:noFill/>
          <a:ln/>
        </p:spPr>
        <p:txBody>
          <a:bodyPr wrap="square" lIns="0" tIns="0" rIns="0" bIns="0" rtlCol="0" anchor="t"/>
          <a:lstStyle/>
          <a:p>
            <a:pPr indent="0" marL="0">
              <a:lnSpc>
                <a:spcPct val="100000"/>
              </a:lnSpc>
              <a:buNone/>
            </a:pPr>
            <a:r>
              <a:rPr lang="en-US" sz="950" dirty="0">
                <a:solidFill>
                  <a:srgbClr val="8A97A8"/>
                </a:solidFill>
                <a:latin typeface="Calibri" pitchFamily="34" charset="0"/>
                <a:ea typeface="Calibri" pitchFamily="34" charset="-122"/>
                <a:cs typeface="Calibri" pitchFamily="34" charset="-120"/>
              </a:rPr>
              <a:t>estimates compared with a JLR-paid price so far</a:t>
            </a:r>
            <a:endParaRPr lang="en-US" sz="950" dirty="0"/>
          </a:p>
        </p:txBody>
      </p:sp>
      <p:sp>
        <p:nvSpPr>
          <p:cNvPr id="49" name="Shape 47"/>
          <p:cNvSpPr/>
          <p:nvPr/>
        </p:nvSpPr>
        <p:spPr>
          <a:xfrm>
            <a:off x="548640" y="6400800"/>
            <a:ext cx="11094415" cy="12802"/>
          </a:xfrm>
          <a:prstGeom prst="rect">
            <a:avLst/>
          </a:prstGeom>
          <a:solidFill>
            <a:srgbClr val="E4EAF2"/>
          </a:solidFill>
          <a:ln/>
        </p:spPr>
        <p:txBody>
          <a:bodyPr/>
          <a:p/>
        </p:txBody>
      </p:sp>
      <p:sp>
        <p:nvSpPr>
          <p:cNvPr id="50" name="Text 48"/>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1" name="Text 49"/>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24 / 33</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93B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93B0"/>
                </a:solidFill>
                <a:latin typeface="Calibri" pitchFamily="34" charset="0"/>
                <a:ea typeface="Calibri" pitchFamily="34" charset="-122"/>
                <a:cs typeface="Calibri" pitchFamily="34" charset="-120"/>
              </a:rPr>
              <a:t>NEW IN 2026</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Beyond the estimate — four extra tools</a:t>
            </a:r>
            <a:endParaRPr lang="en-US" sz="2400" dirty="0"/>
          </a:p>
        </p:txBody>
      </p:sp>
      <p:sp>
        <p:nvSpPr>
          <p:cNvPr id="9" name="Shape 7"/>
          <p:cNvSpPr/>
          <p:nvPr/>
        </p:nvSpPr>
        <p:spPr>
          <a:xfrm>
            <a:off x="548640" y="1371600"/>
            <a:ext cx="1051560" cy="45720"/>
          </a:xfrm>
          <a:prstGeom prst="rect">
            <a:avLst/>
          </a:prstGeom>
          <a:solidFill>
            <a:srgbClr val="0E93B0"/>
          </a:solidFill>
          <a:ln/>
        </p:spPr>
        <p:txBody>
          <a:bodyPr/>
          <a:p/>
        </p:txBody>
      </p:sp>
      <p:sp>
        <p:nvSpPr>
          <p:cNvPr id="10" name="Shape 8"/>
          <p:cNvSpPr/>
          <p:nvPr/>
        </p:nvSpPr>
        <p:spPr>
          <a:xfrm>
            <a:off x="548640" y="16916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9.322181975605814e+242" dist="2.663480564458804e+242" dir="7.331051697103393e+283">
              <a:srgbClr val="9DB0CC">
                <a:alpha val="2.200000000000001e+294"/>
              </a:srgbClr>
            </a:outerShdw>
          </a:effectLst>
        </p:spPr>
        <p:txBody>
          <a:bodyPr/>
          <a:p/>
        </p:txBody>
      </p:sp>
      <p:sp>
        <p:nvSpPr>
          <p:cNvPr id="11" name="Shape 9"/>
          <p:cNvSpPr/>
          <p:nvPr/>
        </p:nvSpPr>
        <p:spPr>
          <a:xfrm>
            <a:off x="548640" y="1691640"/>
            <a:ext cx="82296" cy="1874520"/>
          </a:xfrm>
          <a:prstGeom prst="rect">
            <a:avLst/>
          </a:prstGeom>
          <a:solidFill>
            <a:srgbClr val="2563EB"/>
          </a:solidFill>
          <a:ln/>
        </p:spPr>
        <p:txBody>
          <a:bodyPr/>
          <a:p/>
        </p:txBody>
      </p:sp>
      <p:sp>
        <p:nvSpPr>
          <p:cNvPr id="12" name="Shape 10"/>
          <p:cNvSpPr/>
          <p:nvPr/>
        </p:nvSpPr>
        <p:spPr>
          <a:xfrm>
            <a:off x="822960" y="1965960"/>
            <a:ext cx="548640" cy="548640"/>
          </a:xfrm>
          <a:prstGeom prst="ellipse">
            <a:avLst/>
          </a:prstGeom>
          <a:solidFill>
            <a:srgbClr val="EAF1FE"/>
          </a:solidFill>
          <a:ln/>
        </p:spPr>
        <p:txBody>
          <a:bodyPr/>
          <a:p/>
        </p:txBody>
      </p:sp>
      <p:sp>
        <p:nvSpPr>
          <p:cNvPr id="13" name="Text 11"/>
          <p:cNvSpPr/>
          <p:nvPr/>
        </p:nvSpPr>
        <p:spPr>
          <a:xfrm>
            <a:off x="822960" y="1956816"/>
            <a:ext cx="548640" cy="54864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517904" y="20025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2563EB"/>
                </a:solidFill>
                <a:latin typeface="Calibri" pitchFamily="34" charset="0"/>
                <a:ea typeface="Calibri" pitchFamily="34" charset="-122"/>
                <a:cs typeface="Calibri" pitchFamily="34" charset="-120"/>
              </a:rPr>
              <a:t>Bands set by real data</a:t>
            </a:r>
            <a:endParaRPr lang="en-US" sz="1450" dirty="0"/>
          </a:p>
        </p:txBody>
      </p:sp>
      <p:sp>
        <p:nvSpPr>
          <p:cNvPr id="15" name="Text 13"/>
          <p:cNvSpPr/>
          <p:nvPr/>
        </p:nvSpPr>
        <p:spPr>
          <a:xfrm>
            <a:off x="841248" y="26517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Once actuals are logged, the uncertainty band is corrected by real results — evidence, not assertion.</a:t>
            </a:r>
            <a:endParaRPr lang="en-US" sz="1100" dirty="0"/>
          </a:p>
        </p:txBody>
      </p:sp>
      <p:sp>
        <p:nvSpPr>
          <p:cNvPr id="16" name="Shape 14"/>
          <p:cNvSpPr/>
          <p:nvPr/>
        </p:nvSpPr>
        <p:spPr>
          <a:xfrm>
            <a:off x="6217920" y="16916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1839171109019383e+247" dist="3.3826203168626813e+246" dir="4.3986310182620354e+288">
              <a:srgbClr val="9DB0CC">
                <a:alpha val="2.200000000000001e+299"/>
              </a:srgbClr>
            </a:outerShdw>
          </a:effectLst>
        </p:spPr>
        <p:txBody>
          <a:bodyPr/>
          <a:p/>
        </p:txBody>
      </p:sp>
      <p:sp>
        <p:nvSpPr>
          <p:cNvPr id="17" name="Shape 15"/>
          <p:cNvSpPr/>
          <p:nvPr/>
        </p:nvSpPr>
        <p:spPr>
          <a:xfrm>
            <a:off x="6217920" y="1691640"/>
            <a:ext cx="82296" cy="1874520"/>
          </a:xfrm>
          <a:prstGeom prst="rect">
            <a:avLst/>
          </a:prstGeom>
          <a:solidFill>
            <a:srgbClr val="7C3AED"/>
          </a:solidFill>
          <a:ln/>
        </p:spPr>
        <p:txBody>
          <a:bodyPr/>
          <a:p/>
        </p:txBody>
      </p:sp>
      <p:sp>
        <p:nvSpPr>
          <p:cNvPr id="18" name="Shape 16"/>
          <p:cNvSpPr/>
          <p:nvPr/>
        </p:nvSpPr>
        <p:spPr>
          <a:xfrm>
            <a:off x="6492240" y="1965960"/>
            <a:ext cx="548640" cy="548640"/>
          </a:xfrm>
          <a:prstGeom prst="ellipse">
            <a:avLst/>
          </a:prstGeom>
          <a:solidFill>
            <a:srgbClr val="F3EEFE"/>
          </a:solidFill>
          <a:ln/>
        </p:spPr>
        <p:txBody>
          <a:bodyPr/>
          <a:p/>
        </p:txBody>
      </p:sp>
      <p:sp>
        <p:nvSpPr>
          <p:cNvPr id="19" name="Text 17"/>
          <p:cNvSpPr/>
          <p:nvPr/>
        </p:nvSpPr>
        <p:spPr>
          <a:xfrm>
            <a:off x="6492240" y="1956816"/>
            <a:ext cx="548640" cy="548640"/>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187184" y="20025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7C3AED"/>
                </a:solidFill>
                <a:latin typeface="Calibri" pitchFamily="34" charset="0"/>
                <a:ea typeface="Calibri" pitchFamily="34" charset="-122"/>
                <a:cs typeface="Calibri" pitchFamily="34" charset="-120"/>
              </a:rPr>
              <a:t>Causal negotiation coach</a:t>
            </a:r>
            <a:endParaRPr lang="en-US" sz="1450" dirty="0"/>
          </a:p>
        </p:txBody>
      </p:sp>
      <p:sp>
        <p:nvSpPr>
          <p:cNvPr id="21" name="Text 19"/>
          <p:cNvSpPr/>
          <p:nvPr/>
        </p:nvSpPr>
        <p:spPr>
          <a:xfrm>
            <a:off x="6510528" y="26517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Shows why a part costs what it does and writes the sentence — for example, what a move in the aluminium index does to the price.</a:t>
            </a:r>
            <a:endParaRPr lang="en-US" sz="1100" dirty="0"/>
          </a:p>
        </p:txBody>
      </p:sp>
      <p:sp>
        <p:nvSpPr>
          <p:cNvPr id="22" name="Shape 20"/>
          <p:cNvSpPr/>
          <p:nvPr/>
        </p:nvSpPr>
        <p:spPr>
          <a:xfrm>
            <a:off x="548640" y="37490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5035747308454617e+251" dist="4.295927802415605e+250" dir="2.6391786109572213e+293">
              <a:srgbClr val="9DB0CC">
                <a:alpha val="2.200000000000001e+304"/>
              </a:srgbClr>
            </a:outerShdw>
          </a:effectLst>
        </p:spPr>
        <p:txBody>
          <a:bodyPr/>
          <a:p/>
        </p:txBody>
      </p:sp>
      <p:sp>
        <p:nvSpPr>
          <p:cNvPr id="23" name="Shape 21"/>
          <p:cNvSpPr/>
          <p:nvPr/>
        </p:nvSpPr>
        <p:spPr>
          <a:xfrm>
            <a:off x="548640" y="3749040"/>
            <a:ext cx="82296" cy="1874520"/>
          </a:xfrm>
          <a:prstGeom prst="rect">
            <a:avLst/>
          </a:prstGeom>
          <a:solidFill>
            <a:srgbClr val="E0900C"/>
          </a:solidFill>
          <a:ln/>
        </p:spPr>
        <p:txBody>
          <a:bodyPr/>
          <a:p/>
        </p:txBody>
      </p:sp>
      <p:sp>
        <p:nvSpPr>
          <p:cNvPr id="24" name="Shape 22"/>
          <p:cNvSpPr/>
          <p:nvPr/>
        </p:nvSpPr>
        <p:spPr>
          <a:xfrm>
            <a:off x="822960" y="4023360"/>
            <a:ext cx="548640" cy="548640"/>
          </a:xfrm>
          <a:prstGeom prst="ellipse">
            <a:avLst/>
          </a:prstGeom>
          <a:solidFill>
            <a:srgbClr val="FEF6E7"/>
          </a:solidFill>
          <a:ln/>
        </p:spPr>
        <p:txBody>
          <a:bodyPr/>
          <a:p/>
        </p:txBody>
      </p:sp>
      <p:sp>
        <p:nvSpPr>
          <p:cNvPr id="25" name="Text 23"/>
          <p:cNvSpPr/>
          <p:nvPr/>
        </p:nvSpPr>
        <p:spPr>
          <a:xfrm>
            <a:off x="822960" y="4014216"/>
            <a:ext cx="548640" cy="548640"/>
          </a:xfrm>
          <a:prstGeom prst="rect">
            <a:avLst/>
          </a:prstGeom>
          <a:noFill/>
          <a:ln/>
        </p:spPr>
        <p:txBody>
          <a:bodyPr wrap="square" lIns="0" tIns="0" rIns="0" bIns="0" rtlCol="0" anchor="ctr"/>
          <a:lstStyle/>
          <a:p>
            <a:pPr algn="ctr" indent="0" marL="0">
              <a:buNone/>
            </a:pPr>
            <a:r>
              <a:rPr lang="en-US" sz="2000" b="1" dirty="0">
                <a:solidFill>
                  <a:srgbClr val="E0900C"/>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1517904" y="40599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E0900C"/>
                </a:solidFill>
                <a:latin typeface="Calibri" pitchFamily="34" charset="0"/>
                <a:ea typeface="Calibri" pitchFamily="34" charset="-122"/>
                <a:cs typeface="Calibri" pitchFamily="34" charset="-120"/>
              </a:rPr>
              <a:t>What-if scenario engine</a:t>
            </a:r>
            <a:endParaRPr lang="en-US" sz="1450" dirty="0"/>
          </a:p>
        </p:txBody>
      </p:sp>
      <p:sp>
        <p:nvSpPr>
          <p:cNvPr id="27" name="Text 25"/>
          <p:cNvSpPr/>
          <p:nvPr/>
        </p:nvSpPr>
        <p:spPr>
          <a:xfrm>
            <a:off x="841248" y="47091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Move a commodity price and see the cost recompute — for one part or the whole portfolio.</a:t>
            </a:r>
            <a:endParaRPr lang="en-US" sz="1100" dirty="0"/>
          </a:p>
        </p:txBody>
      </p:sp>
      <p:sp>
        <p:nvSpPr>
          <p:cNvPr id="28" name="Shape 26"/>
          <p:cNvSpPr/>
          <p:nvPr/>
        </p:nvSpPr>
        <p:spPr>
          <a:xfrm>
            <a:off x="6217920" y="3749040"/>
            <a:ext cx="5422392" cy="1874520"/>
          </a:xfrm>
          <a:prstGeom prst="roundRect">
            <a:avLst>
              <a:gd name="adj" fmla="val 3415"/>
            </a:avLst>
          </a:prstGeom>
          <a:solidFill>
            <a:srgbClr val="FFFFFF"/>
          </a:solidFill>
          <a:ln w="12700">
            <a:solidFill>
              <a:srgbClr val="E4EAF2"/>
            </a:solidFill>
            <a:prstDash val="solid"/>
          </a:ln>
          <a:effectLst>
            <a:outerShdw sx="100000" sy="100000" kx="0" ky="0" algn="bl" rotWithShape="0" blurRad="1.9095399081737364e+255" dist="5.455828309067819e+254" dir="1.5835071665743328e+298">
              <a:srgbClr val="9DB0CC">
                <a:alpha val="Infinity"/>
              </a:srgbClr>
            </a:outerShdw>
          </a:effectLst>
        </p:spPr>
        <p:txBody>
          <a:bodyPr/>
          <a:p/>
        </p:txBody>
      </p:sp>
      <p:sp>
        <p:nvSpPr>
          <p:cNvPr id="29" name="Shape 27"/>
          <p:cNvSpPr/>
          <p:nvPr/>
        </p:nvSpPr>
        <p:spPr>
          <a:xfrm>
            <a:off x="6217920" y="3749040"/>
            <a:ext cx="82296" cy="1874520"/>
          </a:xfrm>
          <a:prstGeom prst="rect">
            <a:avLst/>
          </a:prstGeom>
          <a:solidFill>
            <a:srgbClr val="0EA472"/>
          </a:solidFill>
          <a:ln/>
        </p:spPr>
        <p:txBody>
          <a:bodyPr/>
          <a:p/>
        </p:txBody>
      </p:sp>
      <p:sp>
        <p:nvSpPr>
          <p:cNvPr id="30" name="Shape 28"/>
          <p:cNvSpPr/>
          <p:nvPr/>
        </p:nvSpPr>
        <p:spPr>
          <a:xfrm>
            <a:off x="6492240" y="4023360"/>
            <a:ext cx="548640" cy="548640"/>
          </a:xfrm>
          <a:prstGeom prst="ellipse">
            <a:avLst/>
          </a:prstGeom>
          <a:solidFill>
            <a:srgbClr val="E7F7F0"/>
          </a:solidFill>
          <a:ln/>
        </p:spPr>
        <p:txBody>
          <a:bodyPr/>
          <a:p/>
        </p:txBody>
      </p:sp>
      <p:sp>
        <p:nvSpPr>
          <p:cNvPr id="31" name="Text 29"/>
          <p:cNvSpPr/>
          <p:nvPr/>
        </p:nvSpPr>
        <p:spPr>
          <a:xfrm>
            <a:off x="6492240" y="4014216"/>
            <a:ext cx="548640" cy="548640"/>
          </a:xfrm>
          <a:prstGeom prst="rect">
            <a:avLst/>
          </a:prstGeom>
          <a:noFill/>
          <a:ln/>
        </p:spPr>
        <p:txBody>
          <a:bodyPr wrap="square" lIns="0" tIns="0" rIns="0" bIns="0" rtlCol="0" anchor="ctr"/>
          <a:lstStyle/>
          <a:p>
            <a:pPr algn="ctr" indent="0" marL="0">
              <a:buNone/>
            </a:pPr>
            <a:r>
              <a:rPr lang="en-US" sz="2000" b="1" dirty="0">
                <a:solidFill>
                  <a:srgbClr val="0EA472"/>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7187184" y="4059936"/>
            <a:ext cx="4297680" cy="411480"/>
          </a:xfrm>
          <a:prstGeom prst="rect">
            <a:avLst/>
          </a:prstGeom>
          <a:noFill/>
          <a:ln/>
        </p:spPr>
        <p:txBody>
          <a:bodyPr wrap="square" lIns="0" tIns="0" rIns="0" bIns="0" rtlCol="0" anchor="ctr"/>
          <a:lstStyle/>
          <a:p>
            <a:pPr indent="0" marL="0">
              <a:lnSpc>
                <a:spcPct val="95000"/>
              </a:lnSpc>
              <a:buNone/>
            </a:pPr>
            <a:r>
              <a:rPr lang="en-US" sz="1450" b="1" dirty="0">
                <a:solidFill>
                  <a:srgbClr val="0EA472"/>
                </a:solidFill>
                <a:latin typeface="Calibri" pitchFamily="34" charset="0"/>
                <a:ea typeface="Calibri" pitchFamily="34" charset="-122"/>
                <a:cs typeface="Calibri" pitchFamily="34" charset="-120"/>
              </a:rPr>
              <a:t>Carbon co-costing</a:t>
            </a:r>
            <a:endParaRPr lang="en-US" sz="1450" dirty="0"/>
          </a:p>
        </p:txBody>
      </p:sp>
      <p:sp>
        <p:nvSpPr>
          <p:cNvPr id="33" name="Text 31"/>
          <p:cNvSpPr/>
          <p:nvPr/>
        </p:nvSpPr>
        <p:spPr>
          <a:xfrm>
            <a:off x="6510528" y="4709160"/>
            <a:ext cx="5029200" cy="822960"/>
          </a:xfrm>
          <a:prstGeom prst="rect">
            <a:avLst/>
          </a:prstGeom>
          <a:noFill/>
          <a:ln/>
        </p:spPr>
        <p:txBody>
          <a:bodyPr wrap="square" lIns="0" tIns="0" rIns="0" bIns="0" rtlCol="0" anchor="t"/>
          <a:lstStyle/>
          <a:p>
            <a:pPr indent="0" marL="0">
              <a:lnSpc>
                <a:spcPct val="116000"/>
              </a:lnSpc>
              <a:buNone/>
            </a:pPr>
            <a:r>
              <a:rPr lang="en-US" sz="1100" dirty="0">
                <a:solidFill>
                  <a:srgbClr val="3E4C63"/>
                </a:solidFill>
                <a:latin typeface="Calibri" pitchFamily="34" charset="0"/>
                <a:ea typeface="Calibri" pitchFamily="34" charset="-122"/>
                <a:cs typeface="Calibri" pitchFamily="34" charset="-120"/>
              </a:rPr>
              <a:t>Every part gets a CO₂e figure alongside the £ — more and more RFQs ask for one.</a:t>
            </a:r>
            <a:endParaRPr lang="en-US" sz="1100" dirty="0"/>
          </a:p>
        </p:txBody>
      </p:sp>
      <p:sp>
        <p:nvSpPr>
          <p:cNvPr id="34" name="Shape 32"/>
          <p:cNvSpPr/>
          <p:nvPr/>
        </p:nvSpPr>
        <p:spPr>
          <a:xfrm>
            <a:off x="548640" y="5669280"/>
            <a:ext cx="11091672" cy="457200"/>
          </a:xfrm>
          <a:prstGeom prst="roundRect">
            <a:avLst>
              <a:gd name="adj" fmla="val 14000"/>
            </a:avLst>
          </a:prstGeom>
          <a:solidFill>
            <a:srgbClr val="F4F7FB"/>
          </a:solidFill>
          <a:ln w="12700">
            <a:solidFill>
              <a:srgbClr val="E4EAF2"/>
            </a:solidFill>
            <a:prstDash val="solid"/>
          </a:ln>
        </p:spPr>
        <p:txBody>
          <a:bodyPr/>
          <a:p/>
        </p:txBody>
      </p:sp>
      <p:sp>
        <p:nvSpPr>
          <p:cNvPr id="35" name="Text 33"/>
          <p:cNvSpPr/>
          <p:nvPr/>
        </p:nvSpPr>
        <p:spPr>
          <a:xfrm>
            <a:off x="868680" y="5669280"/>
            <a:ext cx="10424160" cy="457200"/>
          </a:xfrm>
          <a:prstGeom prst="rect">
            <a:avLst/>
          </a:prstGeom>
          <a:noFill/>
          <a:ln/>
        </p:spPr>
        <p:txBody>
          <a:bodyPr wrap="square" lIns="0" tIns="0" rIns="0" bIns="0" rtlCol="0" anchor="ctr"/>
          <a:lstStyle/>
          <a:p>
            <a:pPr indent="0" marL="0">
              <a:buNone/>
            </a:pPr>
            <a:r>
              <a:rPr lang="en-US" sz="1150" i="1" dirty="0">
                <a:solidFill>
                  <a:srgbClr val="8A97A8"/>
                </a:solidFill>
                <a:latin typeface="Calibri" pitchFamily="34" charset="0"/>
                <a:ea typeface="Calibri" pitchFamily="34" charset="-122"/>
                <a:cs typeface="Calibri" pitchFamily="34" charset="-120"/>
              </a:rPr>
              <a:t>Each of these turns a number into a decision — a range we can defend, a negotiating sentence, a risk seen early, a carbon figure.</a:t>
            </a:r>
            <a:endParaRPr lang="en-US" sz="1150" dirty="0"/>
          </a:p>
        </p:txBody>
      </p:sp>
      <p:sp>
        <p:nvSpPr>
          <p:cNvPr id="36" name="Shape 34"/>
          <p:cNvSpPr/>
          <p:nvPr/>
        </p:nvSpPr>
        <p:spPr>
          <a:xfrm>
            <a:off x="548640" y="6400800"/>
            <a:ext cx="11094415" cy="12802"/>
          </a:xfrm>
          <a:prstGeom prst="rect">
            <a:avLst/>
          </a:prstGeom>
          <a:solidFill>
            <a:srgbClr val="E4EAF2"/>
          </a:solidFill>
          <a:ln/>
        </p:spPr>
        <p:txBody>
          <a:bodyPr/>
          <a:p/>
        </p:txBody>
      </p:sp>
      <p:sp>
        <p:nvSpPr>
          <p:cNvPr id="37" name="Text 3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8" name="Text 3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25 / 33</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ACCURACY &amp; TRUST</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Trust by design — open, measured, tested</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Shape 8"/>
          <p:cNvSpPr/>
          <p:nvPr/>
        </p:nvSpPr>
        <p:spPr>
          <a:xfrm>
            <a:off x="548640" y="16916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2.425115683380645e+259" dist="6.928901952516129e+258" dir="9.501042999445996e+302">
              <a:srgbClr val="9DB0CC">
                <a:alpha val="Infinity"/>
              </a:srgbClr>
            </a:outerShdw>
          </a:effectLst>
        </p:spPr>
        <p:txBody>
          <a:bodyPr/>
          <a:p/>
        </p:txBody>
      </p:sp>
      <p:sp>
        <p:nvSpPr>
          <p:cNvPr id="11" name="Shape 9"/>
          <p:cNvSpPr/>
          <p:nvPr/>
        </p:nvSpPr>
        <p:spPr>
          <a:xfrm>
            <a:off x="548640" y="1691640"/>
            <a:ext cx="82296" cy="1417320"/>
          </a:xfrm>
          <a:prstGeom prst="rect">
            <a:avLst/>
          </a:prstGeom>
          <a:solidFill>
            <a:srgbClr val="2563EB"/>
          </a:solidFill>
          <a:ln/>
        </p:spPr>
        <p:txBody>
          <a:bodyPr/>
          <a:p/>
        </p:txBody>
      </p:sp>
      <p:sp>
        <p:nvSpPr>
          <p:cNvPr id="12" name="Shape 10"/>
          <p:cNvSpPr/>
          <p:nvPr/>
        </p:nvSpPr>
        <p:spPr>
          <a:xfrm>
            <a:off x="804672" y="1911096"/>
            <a:ext cx="457200" cy="457200"/>
          </a:xfrm>
          <a:prstGeom prst="ellipse">
            <a:avLst/>
          </a:prstGeom>
          <a:solidFill>
            <a:srgbClr val="EAF1FE"/>
          </a:solidFill>
          <a:ln/>
        </p:spPr>
        <p:txBody>
          <a:bodyPr/>
          <a:p/>
        </p:txBody>
      </p:sp>
      <p:sp>
        <p:nvSpPr>
          <p:cNvPr id="13" name="Text 11"/>
          <p:cNvSpPr/>
          <p:nvPr/>
        </p:nvSpPr>
        <p:spPr>
          <a:xfrm>
            <a:off x="804672" y="1901952"/>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14" name="Text 12"/>
          <p:cNvSpPr/>
          <p:nvPr/>
        </p:nvSpPr>
        <p:spPr>
          <a:xfrm>
            <a:off x="1335024" y="1947672"/>
            <a:ext cx="4389120" cy="457200"/>
          </a:xfrm>
          <a:prstGeom prst="rect">
            <a:avLst/>
          </a:prstGeom>
          <a:noFill/>
          <a:ln/>
        </p:spPr>
        <p:txBody>
          <a:bodyPr wrap="square" lIns="0" tIns="0" rIns="0" bIns="0" rtlCol="0" anchor="ctr"/>
          <a:lstStyle/>
          <a:p>
            <a:pPr indent="0" marL="0">
              <a:buNone/>
            </a:pPr>
            <a:r>
              <a:rPr lang="en-US" sz="1350" b="1" dirty="0">
                <a:solidFill>
                  <a:srgbClr val="2563EB"/>
                </a:solidFill>
                <a:latin typeface="Calibri" pitchFamily="34" charset="0"/>
                <a:ea typeface="Calibri" pitchFamily="34" charset="-122"/>
                <a:cs typeface="Calibri" pitchFamily="34" charset="-120"/>
              </a:rPr>
              <a:t>Glass-box, never black-box</a:t>
            </a:r>
            <a:endParaRPr lang="en-US" sz="1350" dirty="0"/>
          </a:p>
        </p:txBody>
      </p:sp>
      <p:sp>
        <p:nvSpPr>
          <p:cNvPr id="15" name="Text 13"/>
          <p:cNvSpPr/>
          <p:nvPr/>
        </p:nvSpPr>
        <p:spPr>
          <a:xfrm>
            <a:off x="822960" y="24414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Every number is plain arithmetic an engineer can read and defend. At JLR there is no AI in the tool at all.</a:t>
            </a:r>
            <a:endParaRPr lang="en-US" sz="1050" dirty="0"/>
          </a:p>
        </p:txBody>
      </p:sp>
      <p:sp>
        <p:nvSpPr>
          <p:cNvPr id="16" name="Shape 14"/>
          <p:cNvSpPr/>
          <p:nvPr/>
        </p:nvSpPr>
        <p:spPr>
          <a:xfrm>
            <a:off x="6217920" y="16916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3.079896917893419e+263" dist="8.799705479695485e+262" dir="5.700625799667598e+307">
              <a:srgbClr val="9DB0CC">
                <a:alpha val="Infinity"/>
              </a:srgbClr>
            </a:outerShdw>
          </a:effectLst>
        </p:spPr>
        <p:txBody>
          <a:bodyPr/>
          <a:p/>
        </p:txBody>
      </p:sp>
      <p:sp>
        <p:nvSpPr>
          <p:cNvPr id="17" name="Shape 15"/>
          <p:cNvSpPr/>
          <p:nvPr/>
        </p:nvSpPr>
        <p:spPr>
          <a:xfrm>
            <a:off x="6217920" y="1691640"/>
            <a:ext cx="82296" cy="1417320"/>
          </a:xfrm>
          <a:prstGeom prst="rect">
            <a:avLst/>
          </a:prstGeom>
          <a:solidFill>
            <a:srgbClr val="0DA5A0"/>
          </a:solidFill>
          <a:ln/>
        </p:spPr>
        <p:txBody>
          <a:bodyPr/>
          <a:p/>
        </p:txBody>
      </p:sp>
      <p:sp>
        <p:nvSpPr>
          <p:cNvPr id="18" name="Shape 16"/>
          <p:cNvSpPr/>
          <p:nvPr/>
        </p:nvSpPr>
        <p:spPr>
          <a:xfrm>
            <a:off x="6473952" y="1911096"/>
            <a:ext cx="457200" cy="457200"/>
          </a:xfrm>
          <a:prstGeom prst="ellipse">
            <a:avLst/>
          </a:prstGeom>
          <a:solidFill>
            <a:srgbClr val="E7F7F0"/>
          </a:solidFill>
          <a:ln/>
        </p:spPr>
        <p:txBody>
          <a:bodyPr/>
          <a:p/>
        </p:txBody>
      </p:sp>
      <p:sp>
        <p:nvSpPr>
          <p:cNvPr id="19" name="Text 17"/>
          <p:cNvSpPr/>
          <p:nvPr/>
        </p:nvSpPr>
        <p:spPr>
          <a:xfrm>
            <a:off x="6473952" y="1901952"/>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20" name="Text 18"/>
          <p:cNvSpPr/>
          <p:nvPr/>
        </p:nvSpPr>
        <p:spPr>
          <a:xfrm>
            <a:off x="7004304" y="1947672"/>
            <a:ext cx="4389120" cy="457200"/>
          </a:xfrm>
          <a:prstGeom prst="rect">
            <a:avLst/>
          </a:prstGeom>
          <a:noFill/>
          <a:ln/>
        </p:spPr>
        <p:txBody>
          <a:bodyPr wrap="square" lIns="0" tIns="0" rIns="0" bIns="0" rtlCol="0" anchor="ctr"/>
          <a:lstStyle/>
          <a:p>
            <a:pPr indent="0" marL="0">
              <a:buNone/>
            </a:pPr>
            <a:r>
              <a:rPr lang="en-US" sz="1350" b="1" dirty="0">
                <a:solidFill>
                  <a:srgbClr val="0DA5A0"/>
                </a:solidFill>
                <a:latin typeface="Calibri" pitchFamily="34" charset="0"/>
                <a:ea typeface="Calibri" pitchFamily="34" charset="-122"/>
                <a:cs typeface="Calibri" pitchFamily="34" charset="-120"/>
              </a:rPr>
              <a:t>Measured, not asserted</a:t>
            </a:r>
            <a:endParaRPr lang="en-US" sz="1350" dirty="0"/>
          </a:p>
        </p:txBody>
      </p:sp>
      <p:sp>
        <p:nvSpPr>
          <p:cNvPr id="21" name="Text 19"/>
          <p:cNvSpPr/>
          <p:nvPr/>
        </p:nvSpPr>
        <p:spPr>
          <a:xfrm>
            <a:off x="6492240" y="24414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The arithmetic matches a hand calculation to under 0.01%. Accuracy against real prices is measured as actuals are logged.</a:t>
            </a:r>
            <a:endParaRPr lang="en-US" sz="1050" dirty="0"/>
          </a:p>
        </p:txBody>
      </p:sp>
      <p:sp>
        <p:nvSpPr>
          <p:cNvPr id="22" name="Shape 20"/>
          <p:cNvSpPr/>
          <p:nvPr/>
        </p:nvSpPr>
        <p:spPr>
          <a:xfrm>
            <a:off x="548640" y="32918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3.9114690857246423e+267" dist="1.1175625959213265e+267" dir="Infinity">
              <a:srgbClr val="9DB0CC">
                <a:alpha val="Infinity"/>
              </a:srgbClr>
            </a:outerShdw>
          </a:effectLst>
        </p:spPr>
        <p:txBody>
          <a:bodyPr/>
          <a:p/>
        </p:txBody>
      </p:sp>
      <p:sp>
        <p:nvSpPr>
          <p:cNvPr id="23" name="Shape 21"/>
          <p:cNvSpPr/>
          <p:nvPr/>
        </p:nvSpPr>
        <p:spPr>
          <a:xfrm>
            <a:off x="548640" y="3291840"/>
            <a:ext cx="82296" cy="1417320"/>
          </a:xfrm>
          <a:prstGeom prst="rect">
            <a:avLst/>
          </a:prstGeom>
          <a:solidFill>
            <a:srgbClr val="7C3AED"/>
          </a:solidFill>
          <a:ln/>
        </p:spPr>
        <p:txBody>
          <a:bodyPr/>
          <a:p/>
        </p:txBody>
      </p:sp>
      <p:sp>
        <p:nvSpPr>
          <p:cNvPr id="24" name="Shape 22"/>
          <p:cNvSpPr/>
          <p:nvPr/>
        </p:nvSpPr>
        <p:spPr>
          <a:xfrm>
            <a:off x="804672" y="3511296"/>
            <a:ext cx="457200" cy="457200"/>
          </a:xfrm>
          <a:prstGeom prst="ellipse">
            <a:avLst/>
          </a:prstGeom>
          <a:solidFill>
            <a:srgbClr val="F3EEFE"/>
          </a:solidFill>
          <a:ln/>
        </p:spPr>
        <p:txBody>
          <a:bodyPr/>
          <a:p/>
        </p:txBody>
      </p:sp>
      <p:sp>
        <p:nvSpPr>
          <p:cNvPr id="25" name="Text 23"/>
          <p:cNvSpPr/>
          <p:nvPr/>
        </p:nvSpPr>
        <p:spPr>
          <a:xfrm>
            <a:off x="804672" y="3502152"/>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1335024" y="3547872"/>
            <a:ext cx="4389120" cy="457200"/>
          </a:xfrm>
          <a:prstGeom prst="rect">
            <a:avLst/>
          </a:prstGeom>
          <a:noFill/>
          <a:ln/>
        </p:spPr>
        <p:txBody>
          <a:bodyPr wrap="square" lIns="0" tIns="0" rIns="0" bIns="0" rtlCol="0" anchor="ctr"/>
          <a:lstStyle/>
          <a:p>
            <a:pPr indent="0" marL="0">
              <a:buNone/>
            </a:pPr>
            <a:r>
              <a:rPr lang="en-US" sz="1350" b="1" dirty="0">
                <a:solidFill>
                  <a:srgbClr val="7C3AED"/>
                </a:solidFill>
                <a:latin typeface="Calibri" pitchFamily="34" charset="0"/>
                <a:ea typeface="Calibri" pitchFamily="34" charset="-122"/>
                <a:cs typeface="Calibri" pitchFamily="34" charset="-120"/>
              </a:rPr>
              <a:t>Honest about uncertainty</a:t>
            </a:r>
            <a:endParaRPr lang="en-US" sz="1350" dirty="0"/>
          </a:p>
        </p:txBody>
      </p:sp>
      <p:sp>
        <p:nvSpPr>
          <p:cNvPr id="27" name="Text 25"/>
          <p:cNvSpPr/>
          <p:nvPr/>
        </p:nvSpPr>
        <p:spPr>
          <a:xfrm>
            <a:off x="822960" y="40416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An uncertainty band and clear flags on anything unchecked — never a false single number.</a:t>
            </a:r>
            <a:endParaRPr lang="en-US" sz="1050" dirty="0"/>
          </a:p>
        </p:txBody>
      </p:sp>
      <p:sp>
        <p:nvSpPr>
          <p:cNvPr id="28" name="Shape 26"/>
          <p:cNvSpPr/>
          <p:nvPr/>
        </p:nvSpPr>
        <p:spPr>
          <a:xfrm>
            <a:off x="6217920" y="3291840"/>
            <a:ext cx="5422392" cy="1417320"/>
          </a:xfrm>
          <a:prstGeom prst="roundRect">
            <a:avLst>
              <a:gd name="adj" fmla="val 4516"/>
            </a:avLst>
          </a:prstGeom>
          <a:solidFill>
            <a:srgbClr val="FFFFFF"/>
          </a:solidFill>
          <a:ln w="12700">
            <a:solidFill>
              <a:srgbClr val="E4EAF2"/>
            </a:solidFill>
            <a:prstDash val="solid"/>
          </a:ln>
          <a:effectLst>
            <a:outerShdw sx="100000" sy="100000" kx="0" ky="0" algn="bl" rotWithShape="0" blurRad="4.9675657388702955e+271" dist="1.4193044968200846e+271" dir="Infinity">
              <a:srgbClr val="9DB0CC">
                <a:alpha val="Infinity"/>
              </a:srgbClr>
            </a:outerShdw>
          </a:effectLst>
        </p:spPr>
        <p:txBody>
          <a:bodyPr/>
          <a:p/>
        </p:txBody>
      </p:sp>
      <p:sp>
        <p:nvSpPr>
          <p:cNvPr id="29" name="Shape 27"/>
          <p:cNvSpPr/>
          <p:nvPr/>
        </p:nvSpPr>
        <p:spPr>
          <a:xfrm>
            <a:off x="6217920" y="3291840"/>
            <a:ext cx="82296" cy="1417320"/>
          </a:xfrm>
          <a:prstGeom prst="rect">
            <a:avLst/>
          </a:prstGeom>
          <a:solidFill>
            <a:srgbClr val="0EA472"/>
          </a:solidFill>
          <a:ln/>
        </p:spPr>
        <p:txBody>
          <a:bodyPr/>
          <a:p/>
        </p:txBody>
      </p:sp>
      <p:sp>
        <p:nvSpPr>
          <p:cNvPr id="30" name="Shape 28"/>
          <p:cNvSpPr/>
          <p:nvPr/>
        </p:nvSpPr>
        <p:spPr>
          <a:xfrm>
            <a:off x="6473952" y="3511296"/>
            <a:ext cx="457200" cy="457200"/>
          </a:xfrm>
          <a:prstGeom prst="ellipse">
            <a:avLst/>
          </a:prstGeom>
          <a:solidFill>
            <a:srgbClr val="E7F7F0"/>
          </a:solidFill>
          <a:ln/>
        </p:spPr>
        <p:txBody>
          <a:bodyPr/>
          <a:p/>
        </p:txBody>
      </p:sp>
      <p:sp>
        <p:nvSpPr>
          <p:cNvPr id="31" name="Text 29"/>
          <p:cNvSpPr/>
          <p:nvPr/>
        </p:nvSpPr>
        <p:spPr>
          <a:xfrm>
            <a:off x="6473952" y="3502152"/>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32" name="Text 30"/>
          <p:cNvSpPr/>
          <p:nvPr/>
        </p:nvSpPr>
        <p:spPr>
          <a:xfrm>
            <a:off x="7004304" y="3547872"/>
            <a:ext cx="4389120" cy="457200"/>
          </a:xfrm>
          <a:prstGeom prst="rect">
            <a:avLst/>
          </a:prstGeom>
          <a:noFill/>
          <a:ln/>
        </p:spPr>
        <p:txBody>
          <a:bodyPr wrap="square" lIns="0" tIns="0" rIns="0" bIns="0" rtlCol="0" anchor="ctr"/>
          <a:lstStyle/>
          <a:p>
            <a:pPr indent="0" marL="0">
              <a:buNone/>
            </a:pPr>
            <a:r>
              <a:rPr lang="en-US" sz="1350" b="1" dirty="0">
                <a:solidFill>
                  <a:srgbClr val="0EA472"/>
                </a:solidFill>
                <a:latin typeface="Calibri" pitchFamily="34" charset="0"/>
                <a:ea typeface="Calibri" pitchFamily="34" charset="-122"/>
                <a:cs typeface="Calibri" pitchFamily="34" charset="-120"/>
              </a:rPr>
              <a:t>Tested on every change</a:t>
            </a:r>
            <a:endParaRPr lang="en-US" sz="1350" dirty="0"/>
          </a:p>
        </p:txBody>
      </p:sp>
      <p:sp>
        <p:nvSpPr>
          <p:cNvPr id="33" name="Text 31"/>
          <p:cNvSpPr/>
          <p:nvPr/>
        </p:nvSpPr>
        <p:spPr>
          <a:xfrm>
            <a:off x="6492240" y="4041648"/>
            <a:ext cx="4983480" cy="594360"/>
          </a:xfrm>
          <a:prstGeom prst="rect">
            <a:avLst/>
          </a:prstGeom>
          <a:noFill/>
          <a:ln/>
        </p:spPr>
        <p:txBody>
          <a:bodyPr wrap="square" lIns="0" tIns="0" rIns="0" bIns="0" rtlCol="0" anchor="t"/>
          <a:lstStyle/>
          <a:p>
            <a:pPr indent="0" marL="0">
              <a:lnSpc>
                <a:spcPct val="112000"/>
              </a:lnSpc>
              <a:buNone/>
            </a:pPr>
            <a:r>
              <a:rPr lang="en-US" sz="1050" dirty="0">
                <a:solidFill>
                  <a:srgbClr val="3E4C63"/>
                </a:solidFill>
                <a:latin typeface="Calibri" pitchFamily="34" charset="0"/>
                <a:ea typeface="Calibri" pitchFamily="34" charset="-122"/>
                <a:cs typeface="Calibri" pitchFamily="34" charset="-120"/>
              </a:rPr>
              <a:t>2,438 automated tests, plus browser tests that cost every process and check accessibility (WCAG 2.1 AA).</a:t>
            </a:r>
            <a:endParaRPr lang="en-US" sz="1050" dirty="0"/>
          </a:p>
        </p:txBody>
      </p:sp>
      <p:sp>
        <p:nvSpPr>
          <p:cNvPr id="34" name="Shape 32"/>
          <p:cNvSpPr/>
          <p:nvPr/>
        </p:nvSpPr>
        <p:spPr>
          <a:xfrm>
            <a:off x="548640" y="5029200"/>
            <a:ext cx="11091672" cy="914400"/>
          </a:xfrm>
          <a:prstGeom prst="roundRect">
            <a:avLst>
              <a:gd name="adj" fmla="val 7000"/>
            </a:avLst>
          </a:prstGeom>
          <a:solidFill>
            <a:srgbClr val="E7F7F0"/>
          </a:solidFill>
          <a:ln w="12700">
            <a:solidFill>
              <a:srgbClr val="E4EAF2"/>
            </a:solidFill>
            <a:prstDash val="solid"/>
          </a:ln>
        </p:spPr>
        <p:txBody>
          <a:bodyPr/>
          <a:p/>
        </p:txBody>
      </p:sp>
      <p:sp>
        <p:nvSpPr>
          <p:cNvPr id="35" name="Shape 33"/>
          <p:cNvSpPr/>
          <p:nvPr/>
        </p:nvSpPr>
        <p:spPr>
          <a:xfrm>
            <a:off x="548640" y="5029200"/>
            <a:ext cx="82296" cy="914400"/>
          </a:xfrm>
          <a:prstGeom prst="rect">
            <a:avLst/>
          </a:prstGeom>
          <a:solidFill>
            <a:srgbClr val="0EA472"/>
          </a:solidFill>
          <a:ln/>
        </p:spPr>
        <p:txBody>
          <a:bodyPr/>
          <a:p/>
        </p:txBody>
      </p:sp>
      <p:sp>
        <p:nvSpPr>
          <p:cNvPr id="36" name="Text 34"/>
          <p:cNvSpPr/>
          <p:nvPr/>
        </p:nvSpPr>
        <p:spPr>
          <a:xfrm>
            <a:off x="914400" y="5166360"/>
            <a:ext cx="10378440" cy="685800"/>
          </a:xfrm>
          <a:prstGeom prst="rect">
            <a:avLst/>
          </a:prstGeom>
          <a:noFill/>
          <a:ln/>
        </p:spPr>
        <p:txBody>
          <a:bodyPr wrap="square" lIns="0" tIns="0" rIns="0" bIns="0" rtlCol="0" anchor="t"/>
          <a:lstStyle/>
          <a:p>
            <a:pPr indent="0" marL="0">
              <a:lnSpc>
                <a:spcPct val="118000"/>
              </a:lnSpc>
              <a:buNone/>
            </a:pPr>
            <a:r>
              <a:rPr lang="en-US" sz="1200" b="1" dirty="0">
                <a:solidFill>
                  <a:srgbClr val="0F1E3D"/>
                </a:solidFill>
                <a:latin typeface="Calibri" pitchFamily="34" charset="0"/>
                <a:ea typeface="Calibri" pitchFamily="34" charset="-122"/>
                <a:cs typeface="Calibri" pitchFamily="34" charset="-120"/>
              </a:rPr>
              <a:t>The through-line:  </a:t>
            </a:r>
            <a:pPr indent="0" marL="0">
              <a:lnSpc>
                <a:spcPct val="118000"/>
              </a:lnSpc>
              <a:buNone/>
            </a:pPr>
            <a:r>
              <a:rPr lang="en-US" sz="1200" dirty="0">
                <a:solidFill>
                  <a:srgbClr val="3E4C63"/>
                </a:solidFill>
                <a:latin typeface="Calibri" pitchFamily="34" charset="0"/>
                <a:ea typeface="Calibri" pitchFamily="34" charset="-122"/>
                <a:cs typeface="Calibri" pitchFamily="34" charset="-120"/>
              </a:rPr>
              <a:t>the tool measures and asks; fixed arithmetic does the money; every number is traceable and tested. Not proven yet: a comparison with prices JLR actually paid.</a:t>
            </a:r>
            <a:endParaRPr lang="en-US" sz="1200" dirty="0"/>
          </a:p>
        </p:txBody>
      </p:sp>
      <p:sp>
        <p:nvSpPr>
          <p:cNvPr id="37" name="Shape 35"/>
          <p:cNvSpPr/>
          <p:nvPr/>
        </p:nvSpPr>
        <p:spPr>
          <a:xfrm>
            <a:off x="548640" y="6400800"/>
            <a:ext cx="11094415" cy="12802"/>
          </a:xfrm>
          <a:prstGeom prst="rect">
            <a:avLst/>
          </a:prstGeom>
          <a:solidFill>
            <a:srgbClr val="E4EAF2"/>
          </a:solidFill>
          <a:ln/>
        </p:spPr>
        <p:txBody>
          <a:bodyPr/>
          <a:p/>
        </p:txBody>
      </p:sp>
      <p:sp>
        <p:nvSpPr>
          <p:cNvPr id="38" name="Text 36"/>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9" name="Text 37"/>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26 / 33</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ACCURACY &amp; TRUST · CONTINUOUS</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Built to stay right — quality that’s enforced, not promised</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36192"/>
            <a:ext cx="11064240" cy="384048"/>
          </a:xfrm>
          <a:prstGeom prst="rect">
            <a:avLst/>
          </a:prstGeom>
          <a:noFill/>
          <a:ln/>
        </p:spPr>
        <p:txBody>
          <a:bodyPr wrap="square" lIns="0" tIns="0" rIns="0" bIns="0" rtlCol="0" anchor="t"/>
          <a:lstStyle/>
          <a:p>
            <a:pPr indent="0" marL="0">
              <a:lnSpc>
                <a:spcPct val="105000"/>
              </a:lnSpc>
              <a:buNone/>
            </a:pPr>
            <a:r>
              <a:rPr lang="en-US" sz="1200" dirty="0">
                <a:solidFill>
                  <a:srgbClr val="3E4C63"/>
                </a:solidFill>
                <a:latin typeface="Calibri" pitchFamily="34" charset="0"/>
                <a:ea typeface="Calibri" pitchFamily="34" charset="-122"/>
                <a:cs typeface="Calibri" pitchFamily="34" charset="-120"/>
              </a:rPr>
              <a:t>Being right once is not enough. These checks run on every change, so the tool stays defensible as it grows.</a:t>
            </a:r>
            <a:endParaRPr lang="en-US" sz="1200" dirty="0"/>
          </a:p>
        </p:txBody>
      </p:sp>
      <p:sp>
        <p:nvSpPr>
          <p:cNvPr id="11" name="Shape 9"/>
          <p:cNvSpPr/>
          <p:nvPr/>
        </p:nvSpPr>
        <p:spPr>
          <a:xfrm>
            <a:off x="548640" y="2084832"/>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6.308808488365275e+275" dist="1.8025167109615074e+275" dir="Infinity">
              <a:srgbClr val="9DB0CC">
                <a:alpha val="Infinity"/>
              </a:srgbClr>
            </a:outerShdw>
          </a:effectLst>
        </p:spPr>
        <p:txBody>
          <a:bodyPr/>
          <a:p/>
        </p:txBody>
      </p:sp>
      <p:sp>
        <p:nvSpPr>
          <p:cNvPr id="12" name="Shape 10"/>
          <p:cNvSpPr/>
          <p:nvPr/>
        </p:nvSpPr>
        <p:spPr>
          <a:xfrm>
            <a:off x="548640" y="2084832"/>
            <a:ext cx="82296" cy="1335024"/>
          </a:xfrm>
          <a:prstGeom prst="rect">
            <a:avLst/>
          </a:prstGeom>
          <a:solidFill>
            <a:srgbClr val="2563EB"/>
          </a:solidFill>
          <a:ln/>
        </p:spPr>
        <p:txBody>
          <a:bodyPr/>
          <a:p/>
        </p:txBody>
      </p:sp>
      <p:sp>
        <p:nvSpPr>
          <p:cNvPr id="13" name="Shape 11"/>
          <p:cNvSpPr/>
          <p:nvPr/>
        </p:nvSpPr>
        <p:spPr>
          <a:xfrm>
            <a:off x="804672" y="2286000"/>
            <a:ext cx="457200" cy="457200"/>
          </a:xfrm>
          <a:prstGeom prst="ellipse">
            <a:avLst/>
          </a:prstGeom>
          <a:solidFill>
            <a:srgbClr val="EAF1FE"/>
          </a:solidFill>
          <a:ln/>
        </p:spPr>
        <p:txBody>
          <a:bodyPr/>
          <a:p/>
        </p:txBody>
      </p:sp>
      <p:sp>
        <p:nvSpPr>
          <p:cNvPr id="14" name="Text 12"/>
          <p:cNvSpPr/>
          <p:nvPr/>
        </p:nvSpPr>
        <p:spPr>
          <a:xfrm>
            <a:off x="804672" y="2276856"/>
            <a:ext cx="457200" cy="457200"/>
          </a:xfrm>
          <a:prstGeom prst="rect">
            <a:avLst/>
          </a:prstGeom>
          <a:noFill/>
          <a:ln/>
        </p:spPr>
        <p:txBody>
          <a:bodyPr wrap="square" lIns="0" tIns="0" rIns="0" bIns="0" rtlCol="0" anchor="ctr"/>
          <a:lstStyle/>
          <a:p>
            <a:pPr algn="ctr" indent="0" marL="0">
              <a:buNone/>
            </a:pPr>
            <a:r>
              <a:rPr lang="en-US" sz="1700" b="1" dirty="0">
                <a:solidFill>
                  <a:srgbClr val="2563EB"/>
                </a:solidFill>
                <a:latin typeface="Calibri" pitchFamily="34" charset="0"/>
                <a:ea typeface="Calibri" pitchFamily="34" charset="-122"/>
                <a:cs typeface="Calibri" pitchFamily="34" charset="-120"/>
              </a:rPr>
              <a:t>◆</a:t>
            </a:r>
            <a:endParaRPr lang="en-US" sz="1700" dirty="0"/>
          </a:p>
        </p:txBody>
      </p:sp>
      <p:sp>
        <p:nvSpPr>
          <p:cNvPr id="15" name="Text 13"/>
          <p:cNvSpPr/>
          <p:nvPr/>
        </p:nvSpPr>
        <p:spPr>
          <a:xfrm>
            <a:off x="1335024" y="2322576"/>
            <a:ext cx="4434840" cy="457200"/>
          </a:xfrm>
          <a:prstGeom prst="rect">
            <a:avLst/>
          </a:prstGeom>
          <a:noFill/>
          <a:ln/>
        </p:spPr>
        <p:txBody>
          <a:bodyPr wrap="square" lIns="0" tIns="0" rIns="0" bIns="0" rtlCol="0" anchor="ctr"/>
          <a:lstStyle/>
          <a:p>
            <a:pPr indent="0" marL="0">
              <a:buNone/>
            </a:pPr>
            <a:r>
              <a:rPr lang="en-US" sz="1300" b="1" dirty="0">
                <a:solidFill>
                  <a:srgbClr val="2563EB"/>
                </a:solidFill>
                <a:latin typeface="Calibri" pitchFamily="34" charset="0"/>
                <a:ea typeface="Calibri" pitchFamily="34" charset="-122"/>
                <a:cs typeface="Calibri" pitchFamily="34" charset="-120"/>
              </a:rPr>
              <a:t>The golden rule, machine-checked</a:t>
            </a:r>
            <a:endParaRPr lang="en-US" sz="1300" dirty="0"/>
          </a:p>
        </p:txBody>
      </p:sp>
      <p:sp>
        <p:nvSpPr>
          <p:cNvPr id="16" name="Text 14"/>
          <p:cNvSpPr/>
          <p:nvPr/>
        </p:nvSpPr>
        <p:spPr>
          <a:xfrm>
            <a:off x="822960" y="2798064"/>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“AI never sets a price” is a test: if any AI code reaches the cost engine, the build fails.</a:t>
            </a:r>
            <a:endParaRPr lang="en-US" sz="1000" dirty="0"/>
          </a:p>
        </p:txBody>
      </p:sp>
      <p:sp>
        <p:nvSpPr>
          <p:cNvPr id="17" name="Shape 15"/>
          <p:cNvSpPr/>
          <p:nvPr/>
        </p:nvSpPr>
        <p:spPr>
          <a:xfrm>
            <a:off x="6217920" y="2084832"/>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8.012186780223899e+279" dist="2.2891962229211143e+279" dir="Infinity">
              <a:srgbClr val="9DB0CC">
                <a:alpha val="Infinity"/>
              </a:srgbClr>
            </a:outerShdw>
          </a:effectLst>
        </p:spPr>
        <p:txBody>
          <a:bodyPr/>
          <a:p/>
        </p:txBody>
      </p:sp>
      <p:sp>
        <p:nvSpPr>
          <p:cNvPr id="18" name="Shape 16"/>
          <p:cNvSpPr/>
          <p:nvPr/>
        </p:nvSpPr>
        <p:spPr>
          <a:xfrm>
            <a:off x="6217920" y="2084832"/>
            <a:ext cx="82296" cy="1335024"/>
          </a:xfrm>
          <a:prstGeom prst="rect">
            <a:avLst/>
          </a:prstGeom>
          <a:solidFill>
            <a:srgbClr val="0DA5A0"/>
          </a:solidFill>
          <a:ln/>
        </p:spPr>
        <p:txBody>
          <a:bodyPr/>
          <a:p/>
        </p:txBody>
      </p:sp>
      <p:sp>
        <p:nvSpPr>
          <p:cNvPr id="19" name="Shape 17"/>
          <p:cNvSpPr/>
          <p:nvPr/>
        </p:nvSpPr>
        <p:spPr>
          <a:xfrm>
            <a:off x="6473952" y="2286000"/>
            <a:ext cx="457200" cy="457200"/>
          </a:xfrm>
          <a:prstGeom prst="ellipse">
            <a:avLst/>
          </a:prstGeom>
          <a:solidFill>
            <a:srgbClr val="E7F7F0"/>
          </a:solidFill>
          <a:ln/>
        </p:spPr>
        <p:txBody>
          <a:bodyPr/>
          <a:p/>
        </p:txBody>
      </p:sp>
      <p:sp>
        <p:nvSpPr>
          <p:cNvPr id="20" name="Text 18"/>
          <p:cNvSpPr/>
          <p:nvPr/>
        </p:nvSpPr>
        <p:spPr>
          <a:xfrm>
            <a:off x="6473952" y="2276856"/>
            <a:ext cx="457200" cy="457200"/>
          </a:xfrm>
          <a:prstGeom prst="rect">
            <a:avLst/>
          </a:prstGeom>
          <a:noFill/>
          <a:ln/>
        </p:spPr>
        <p:txBody>
          <a:bodyPr wrap="square" lIns="0" tIns="0" rIns="0" bIns="0" rtlCol="0" anchor="ctr"/>
          <a:lstStyle/>
          <a:p>
            <a:pPr algn="ctr" indent="0" marL="0">
              <a:buNone/>
            </a:pPr>
            <a:r>
              <a:rPr lang="en-US" sz="1700" b="1" dirty="0">
                <a:solidFill>
                  <a:srgbClr val="0DA5A0"/>
                </a:solidFill>
                <a:latin typeface="Calibri" pitchFamily="34" charset="0"/>
                <a:ea typeface="Calibri" pitchFamily="34" charset="-122"/>
                <a:cs typeface="Calibri" pitchFamily="34" charset="-120"/>
              </a:rPr>
              <a:t>◎</a:t>
            </a:r>
            <a:endParaRPr lang="en-US" sz="1700" dirty="0"/>
          </a:p>
        </p:txBody>
      </p:sp>
      <p:sp>
        <p:nvSpPr>
          <p:cNvPr id="21" name="Text 19"/>
          <p:cNvSpPr/>
          <p:nvPr/>
        </p:nvSpPr>
        <p:spPr>
          <a:xfrm>
            <a:off x="7004304" y="2322576"/>
            <a:ext cx="4434840" cy="457200"/>
          </a:xfrm>
          <a:prstGeom prst="rect">
            <a:avLst/>
          </a:prstGeom>
          <a:noFill/>
          <a:ln/>
        </p:spPr>
        <p:txBody>
          <a:bodyPr wrap="square" lIns="0" tIns="0" rIns="0" bIns="0" rtlCol="0" anchor="ctr"/>
          <a:lstStyle/>
          <a:p>
            <a:pPr indent="0" marL="0">
              <a:buNone/>
            </a:pPr>
            <a:r>
              <a:rPr lang="en-US" sz="1300" b="1" dirty="0">
                <a:solidFill>
                  <a:srgbClr val="0DA5A0"/>
                </a:solidFill>
                <a:latin typeface="Calibri" pitchFamily="34" charset="0"/>
                <a:ea typeface="Calibri" pitchFamily="34" charset="-122"/>
                <a:cs typeface="Calibri" pitchFamily="34" charset="-120"/>
              </a:rPr>
              <a:t>Real parts pinned every build</a:t>
            </a:r>
            <a:endParaRPr lang="en-US" sz="1300" dirty="0"/>
          </a:p>
        </p:txBody>
      </p:sp>
      <p:sp>
        <p:nvSpPr>
          <p:cNvPr id="22" name="Text 20"/>
          <p:cNvSpPr/>
          <p:nvPr/>
        </p:nvSpPr>
        <p:spPr>
          <a:xfrm>
            <a:off x="6492240" y="2798064"/>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6 real production parts — a knuckle, two castings, a pressed bracket, a machined part, a gear. If any cost moves, the build fails.</a:t>
            </a:r>
            <a:endParaRPr lang="en-US" sz="1000" dirty="0"/>
          </a:p>
        </p:txBody>
      </p:sp>
      <p:sp>
        <p:nvSpPr>
          <p:cNvPr id="23" name="Shape 21"/>
          <p:cNvSpPr/>
          <p:nvPr/>
        </p:nvSpPr>
        <p:spPr>
          <a:xfrm>
            <a:off x="548640" y="3566160"/>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1.0175477210884352e+284" dist="2.9072792031098153e+283" dir="Infinity">
              <a:srgbClr val="9DB0CC">
                <a:alpha val="Infinity"/>
              </a:srgbClr>
            </a:outerShdw>
          </a:effectLst>
        </p:spPr>
        <p:txBody>
          <a:bodyPr/>
          <a:p/>
        </p:txBody>
      </p:sp>
      <p:sp>
        <p:nvSpPr>
          <p:cNvPr id="24" name="Shape 22"/>
          <p:cNvSpPr/>
          <p:nvPr/>
        </p:nvSpPr>
        <p:spPr>
          <a:xfrm>
            <a:off x="548640" y="3566160"/>
            <a:ext cx="82296" cy="1335024"/>
          </a:xfrm>
          <a:prstGeom prst="rect">
            <a:avLst/>
          </a:prstGeom>
          <a:solidFill>
            <a:srgbClr val="0EA472"/>
          </a:solidFill>
          <a:ln/>
        </p:spPr>
        <p:txBody>
          <a:bodyPr/>
          <a:p/>
        </p:txBody>
      </p:sp>
      <p:sp>
        <p:nvSpPr>
          <p:cNvPr id="25" name="Shape 23"/>
          <p:cNvSpPr/>
          <p:nvPr/>
        </p:nvSpPr>
        <p:spPr>
          <a:xfrm>
            <a:off x="804672" y="3767328"/>
            <a:ext cx="457200" cy="457200"/>
          </a:xfrm>
          <a:prstGeom prst="ellipse">
            <a:avLst/>
          </a:prstGeom>
          <a:solidFill>
            <a:srgbClr val="E7F7F0"/>
          </a:solidFill>
          <a:ln/>
        </p:spPr>
        <p:txBody>
          <a:bodyPr/>
          <a:p/>
        </p:txBody>
      </p:sp>
      <p:sp>
        <p:nvSpPr>
          <p:cNvPr id="26" name="Text 24"/>
          <p:cNvSpPr/>
          <p:nvPr/>
        </p:nvSpPr>
        <p:spPr>
          <a:xfrm>
            <a:off x="804672" y="3758184"/>
            <a:ext cx="457200" cy="457200"/>
          </a:xfrm>
          <a:prstGeom prst="rect">
            <a:avLst/>
          </a:prstGeom>
          <a:noFill/>
          <a:ln/>
        </p:spPr>
        <p:txBody>
          <a:bodyPr wrap="square" lIns="0" tIns="0" rIns="0" bIns="0" rtlCol="0" anchor="ctr"/>
          <a:lstStyle/>
          <a:p>
            <a:pPr algn="ctr" indent="0" marL="0">
              <a:buNone/>
            </a:pPr>
            <a:r>
              <a:rPr lang="en-US" sz="1700" b="1" dirty="0">
                <a:solidFill>
                  <a:srgbClr val="0EA472"/>
                </a:solidFill>
                <a:latin typeface="Calibri" pitchFamily="34" charset="0"/>
                <a:ea typeface="Calibri" pitchFamily="34" charset="-122"/>
                <a:cs typeface="Calibri" pitchFamily="34" charset="-120"/>
              </a:rPr>
              <a:t>✓</a:t>
            </a:r>
            <a:endParaRPr lang="en-US" sz="1700" dirty="0"/>
          </a:p>
        </p:txBody>
      </p:sp>
      <p:sp>
        <p:nvSpPr>
          <p:cNvPr id="27" name="Text 25"/>
          <p:cNvSpPr/>
          <p:nvPr/>
        </p:nvSpPr>
        <p:spPr>
          <a:xfrm>
            <a:off x="1335024" y="3803904"/>
            <a:ext cx="4434840" cy="457200"/>
          </a:xfrm>
          <a:prstGeom prst="rect">
            <a:avLst/>
          </a:prstGeom>
          <a:noFill/>
          <a:ln/>
        </p:spPr>
        <p:txBody>
          <a:bodyPr wrap="square" lIns="0" tIns="0" rIns="0" bIns="0" rtlCol="0" anchor="ctr"/>
          <a:lstStyle/>
          <a:p>
            <a:pPr indent="0" marL="0">
              <a:buNone/>
            </a:pPr>
            <a:r>
              <a:rPr lang="en-US" sz="1300" b="1" dirty="0">
                <a:solidFill>
                  <a:srgbClr val="0EA472"/>
                </a:solidFill>
                <a:latin typeface="Calibri" pitchFamily="34" charset="0"/>
                <a:ea typeface="Calibri" pitchFamily="34" charset="-122"/>
                <a:cs typeface="Calibri" pitchFamily="34" charset="-120"/>
              </a:rPr>
              <a:t>Every change guarded</a:t>
            </a:r>
            <a:endParaRPr lang="en-US" sz="1300" dirty="0"/>
          </a:p>
        </p:txBody>
      </p:sp>
      <p:sp>
        <p:nvSpPr>
          <p:cNvPr id="28" name="Text 26"/>
          <p:cNvSpPr/>
          <p:nvPr/>
        </p:nvSpPr>
        <p:spPr>
          <a:xfrm>
            <a:off x="822960" y="4279392"/>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2,438 automated tests, a self-audit on every estimate, and screenshot checks of key screens.</a:t>
            </a:r>
            <a:endParaRPr lang="en-US" sz="1000" dirty="0"/>
          </a:p>
        </p:txBody>
      </p:sp>
      <p:sp>
        <p:nvSpPr>
          <p:cNvPr id="29" name="Shape 27"/>
          <p:cNvSpPr/>
          <p:nvPr/>
        </p:nvSpPr>
        <p:spPr>
          <a:xfrm>
            <a:off x="6217920" y="3566160"/>
            <a:ext cx="5422392" cy="1335024"/>
          </a:xfrm>
          <a:prstGeom prst="roundRect">
            <a:avLst>
              <a:gd name="adj" fmla="val 4795"/>
            </a:avLst>
          </a:prstGeom>
          <a:solidFill>
            <a:srgbClr val="FFFFFF"/>
          </a:solidFill>
          <a:ln w="12700">
            <a:solidFill>
              <a:srgbClr val="E4EAF2"/>
            </a:solidFill>
            <a:prstDash val="solid"/>
          </a:ln>
          <a:effectLst>
            <a:outerShdw sx="100000" sy="100000" kx="0" ky="0" algn="bl" rotWithShape="0" blurRad="1.2922856057823127e+288" dist="3.6922445879494656e+287" dir="Infinity">
              <a:srgbClr val="9DB0CC">
                <a:alpha val="Infinity"/>
              </a:srgbClr>
            </a:outerShdw>
          </a:effectLst>
        </p:spPr>
        <p:txBody>
          <a:bodyPr/>
          <a:p/>
        </p:txBody>
      </p:sp>
      <p:sp>
        <p:nvSpPr>
          <p:cNvPr id="30" name="Shape 28"/>
          <p:cNvSpPr/>
          <p:nvPr/>
        </p:nvSpPr>
        <p:spPr>
          <a:xfrm>
            <a:off x="6217920" y="3566160"/>
            <a:ext cx="82296" cy="1335024"/>
          </a:xfrm>
          <a:prstGeom prst="rect">
            <a:avLst/>
          </a:prstGeom>
          <a:solidFill>
            <a:srgbClr val="7C3AED"/>
          </a:solidFill>
          <a:ln/>
        </p:spPr>
        <p:txBody>
          <a:bodyPr/>
          <a:p/>
        </p:txBody>
      </p:sp>
      <p:sp>
        <p:nvSpPr>
          <p:cNvPr id="31" name="Shape 29"/>
          <p:cNvSpPr/>
          <p:nvPr/>
        </p:nvSpPr>
        <p:spPr>
          <a:xfrm>
            <a:off x="6473952" y="3767328"/>
            <a:ext cx="457200" cy="457200"/>
          </a:xfrm>
          <a:prstGeom prst="ellipse">
            <a:avLst/>
          </a:prstGeom>
          <a:solidFill>
            <a:srgbClr val="F3EEFE"/>
          </a:solidFill>
          <a:ln/>
        </p:spPr>
        <p:txBody>
          <a:bodyPr/>
          <a:p/>
        </p:txBody>
      </p:sp>
      <p:sp>
        <p:nvSpPr>
          <p:cNvPr id="32" name="Text 30"/>
          <p:cNvSpPr/>
          <p:nvPr/>
        </p:nvSpPr>
        <p:spPr>
          <a:xfrm>
            <a:off x="6473952" y="3758184"/>
            <a:ext cx="457200" cy="457200"/>
          </a:xfrm>
          <a:prstGeom prst="rect">
            <a:avLst/>
          </a:prstGeom>
          <a:noFill/>
          <a:ln/>
        </p:spPr>
        <p:txBody>
          <a:bodyPr wrap="square" lIns="0" tIns="0" rIns="0" bIns="0" rtlCol="0" anchor="ctr"/>
          <a:lstStyle/>
          <a:p>
            <a:pPr algn="ctr" indent="0" marL="0">
              <a:buNone/>
            </a:pPr>
            <a:r>
              <a:rPr lang="en-US" sz="1700" b="1" dirty="0">
                <a:solidFill>
                  <a:srgbClr val="7C3AED"/>
                </a:solidFill>
                <a:latin typeface="Calibri" pitchFamily="34" charset="0"/>
                <a:ea typeface="Calibri" pitchFamily="34" charset="-122"/>
                <a:cs typeface="Calibri" pitchFamily="34" charset="-120"/>
              </a:rPr>
              <a:t>◈</a:t>
            </a:r>
            <a:endParaRPr lang="en-US" sz="1700" dirty="0"/>
          </a:p>
        </p:txBody>
      </p:sp>
      <p:sp>
        <p:nvSpPr>
          <p:cNvPr id="33" name="Text 31"/>
          <p:cNvSpPr/>
          <p:nvPr/>
        </p:nvSpPr>
        <p:spPr>
          <a:xfrm>
            <a:off x="7004304" y="3803904"/>
            <a:ext cx="4434840" cy="457200"/>
          </a:xfrm>
          <a:prstGeom prst="rect">
            <a:avLst/>
          </a:prstGeom>
          <a:noFill/>
          <a:ln/>
        </p:spPr>
        <p:txBody>
          <a:bodyPr wrap="square" lIns="0" tIns="0" rIns="0" bIns="0" rtlCol="0" anchor="ctr"/>
          <a:lstStyle/>
          <a:p>
            <a:pPr indent="0" marL="0">
              <a:buNone/>
            </a:pPr>
            <a:r>
              <a:rPr lang="en-US" sz="1300" b="1" dirty="0">
                <a:solidFill>
                  <a:srgbClr val="7C3AED"/>
                </a:solidFill>
                <a:latin typeface="Calibri" pitchFamily="34" charset="0"/>
                <a:ea typeface="Calibri" pitchFamily="34" charset="-122"/>
                <a:cs typeface="Calibri" pitchFamily="34" charset="-120"/>
              </a:rPr>
              <a:t>Confidence on every number</a:t>
            </a:r>
            <a:endParaRPr lang="en-US" sz="1300" dirty="0"/>
          </a:p>
        </p:txBody>
      </p:sp>
      <p:sp>
        <p:nvSpPr>
          <p:cNvPr id="34" name="Text 32"/>
          <p:cNvSpPr/>
          <p:nvPr/>
        </p:nvSpPr>
        <p:spPr>
          <a:xfrm>
            <a:off x="6492240" y="4279392"/>
            <a:ext cx="4983480" cy="548640"/>
          </a:xfrm>
          <a:prstGeom prst="rect">
            <a:avLst/>
          </a:prstGeom>
          <a:noFill/>
          <a:ln/>
        </p:spPr>
        <p:txBody>
          <a:bodyPr wrap="square" lIns="0" tIns="0" rIns="0" bIns="0" rtlCol="0" anchor="t"/>
          <a:lstStyle/>
          <a:p>
            <a:pPr indent="0" marL="0">
              <a:lnSpc>
                <a:spcPct val="110000"/>
              </a:lnSpc>
              <a:buNone/>
            </a:pPr>
            <a:r>
              <a:rPr lang="en-US" sz="1000" dirty="0">
                <a:solidFill>
                  <a:srgbClr val="3E4C63"/>
                </a:solidFill>
                <a:latin typeface="Calibri" pitchFamily="34" charset="0"/>
                <a:ea typeface="Calibri" pitchFamily="34" charset="-122"/>
                <a:cs typeface="Calibri" pitchFamily="34" charset="-120"/>
              </a:rPr>
              <a:t>Each should-cost shows a P10–P90 band — an honest range, never a false single figure.</a:t>
            </a:r>
            <a:endParaRPr lang="en-US" sz="1000" dirty="0"/>
          </a:p>
        </p:txBody>
      </p:sp>
      <p:sp>
        <p:nvSpPr>
          <p:cNvPr id="35" name="Shape 33"/>
          <p:cNvSpPr/>
          <p:nvPr/>
        </p:nvSpPr>
        <p:spPr>
          <a:xfrm>
            <a:off x="548640" y="5138928"/>
            <a:ext cx="11091672" cy="841248"/>
          </a:xfrm>
          <a:prstGeom prst="roundRect">
            <a:avLst>
              <a:gd name="adj" fmla="val 7609"/>
            </a:avLst>
          </a:prstGeom>
          <a:solidFill>
            <a:srgbClr val="E7F7F0"/>
          </a:solidFill>
          <a:ln w="12700">
            <a:solidFill>
              <a:srgbClr val="E4EAF2"/>
            </a:solidFill>
            <a:prstDash val="solid"/>
          </a:ln>
        </p:spPr>
        <p:txBody>
          <a:bodyPr/>
          <a:p/>
        </p:txBody>
      </p:sp>
      <p:sp>
        <p:nvSpPr>
          <p:cNvPr id="36" name="Shape 34"/>
          <p:cNvSpPr/>
          <p:nvPr/>
        </p:nvSpPr>
        <p:spPr>
          <a:xfrm>
            <a:off x="548640" y="5138928"/>
            <a:ext cx="82296" cy="841248"/>
          </a:xfrm>
          <a:prstGeom prst="rect">
            <a:avLst/>
          </a:prstGeom>
          <a:solidFill>
            <a:srgbClr val="0EA472"/>
          </a:solidFill>
          <a:ln/>
        </p:spPr>
        <p:txBody>
          <a:bodyPr/>
          <a:p/>
        </p:txBody>
      </p:sp>
      <p:sp>
        <p:nvSpPr>
          <p:cNvPr id="37" name="Text 35"/>
          <p:cNvSpPr/>
          <p:nvPr/>
        </p:nvSpPr>
        <p:spPr>
          <a:xfrm>
            <a:off x="914400" y="5138928"/>
            <a:ext cx="10332720" cy="841248"/>
          </a:xfrm>
          <a:prstGeom prst="rect">
            <a:avLst/>
          </a:prstGeom>
          <a:noFill/>
          <a:ln/>
        </p:spPr>
        <p:txBody>
          <a:bodyPr wrap="square" lIns="0" tIns="0" rIns="0" bIns="0" rtlCol="0" anchor="ctr"/>
          <a:lstStyle/>
          <a:p>
            <a:pPr indent="0" marL="0">
              <a:lnSpc>
                <a:spcPct val="108000"/>
              </a:lnSpc>
              <a:buNone/>
            </a:pPr>
            <a:r>
              <a:rPr lang="en-US" sz="1150" b="1" dirty="0">
                <a:solidFill>
                  <a:srgbClr val="0F1E3D"/>
                </a:solidFill>
                <a:latin typeface="Calibri" pitchFamily="34" charset="0"/>
                <a:ea typeface="Calibri" pitchFamily="34" charset="-122"/>
                <a:cs typeface="Calibri" pitchFamily="34" charset="-120"/>
              </a:rPr>
              <a:t>Bottom line:  </a:t>
            </a:r>
            <a:pPr indent="0" marL="0">
              <a:lnSpc>
                <a:spcPct val="108000"/>
              </a:lnSpc>
              <a:buNone/>
            </a:pPr>
            <a:r>
              <a:rPr lang="en-US" sz="1150" dirty="0">
                <a:solidFill>
                  <a:srgbClr val="3E4C63"/>
                </a:solidFill>
                <a:latin typeface="Calibri" pitchFamily="34" charset="0"/>
                <a:ea typeface="Calibri" pitchFamily="34" charset="-122"/>
                <a:cs typeface="Calibri" pitchFamily="34" charset="-120"/>
              </a:rPr>
              <a:t>the number we put in front of a supplier is defensible by construction. Quality is checked on every commit, not reviewed afterwards.</a:t>
            </a:r>
            <a:endParaRPr lang="en-US" sz="1150" dirty="0"/>
          </a:p>
        </p:txBody>
      </p:sp>
      <p:sp>
        <p:nvSpPr>
          <p:cNvPr id="38" name="Shape 36"/>
          <p:cNvSpPr/>
          <p:nvPr/>
        </p:nvSpPr>
        <p:spPr>
          <a:xfrm>
            <a:off x="548640" y="6400800"/>
            <a:ext cx="11094415" cy="12802"/>
          </a:xfrm>
          <a:prstGeom prst="rect">
            <a:avLst/>
          </a:prstGeom>
          <a:solidFill>
            <a:srgbClr val="E4EAF2"/>
          </a:solidFill>
          <a:ln/>
        </p:spPr>
        <p:txBody>
          <a:bodyPr/>
          <a:p/>
        </p:txBody>
      </p:sp>
      <p:sp>
        <p:nvSpPr>
          <p:cNvPr id="39" name="Text 37"/>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0" name="Text 38"/>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27 / 33</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4F46E5"/>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4F46E5"/>
                </a:solidFill>
                <a:latin typeface="Calibri" pitchFamily="34" charset="0"/>
                <a:ea typeface="Calibri" pitchFamily="34" charset="-122"/>
                <a:cs typeface="Calibri" pitchFamily="34" charset="-120"/>
              </a:rPr>
              <a:t>EFFORT &amp; CRAFTSMANSHIP</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The engineering behind it — a real, in-house asset</a:t>
            </a:r>
            <a:endParaRPr lang="en-US" sz="2400" dirty="0"/>
          </a:p>
        </p:txBody>
      </p:sp>
      <p:sp>
        <p:nvSpPr>
          <p:cNvPr id="9" name="Shape 7"/>
          <p:cNvSpPr/>
          <p:nvPr/>
        </p:nvSpPr>
        <p:spPr>
          <a:xfrm>
            <a:off x="548640" y="1371600"/>
            <a:ext cx="1051560" cy="45720"/>
          </a:xfrm>
          <a:prstGeom prst="rect">
            <a:avLst/>
          </a:prstGeom>
          <a:solidFill>
            <a:srgbClr val="4F46E5"/>
          </a:solidFill>
          <a:ln/>
        </p:spPr>
        <p:txBody>
          <a:bodyPr/>
          <a:p/>
        </p:txBody>
      </p:sp>
      <p:sp>
        <p:nvSpPr>
          <p:cNvPr id="10" name="Text 8"/>
          <p:cNvSpPr/>
          <p:nvPr/>
        </p:nvSpPr>
        <p:spPr>
          <a:xfrm>
            <a:off x="548640" y="1554480"/>
            <a:ext cx="11064240" cy="320040"/>
          </a:xfrm>
          <a:prstGeom prst="rect">
            <a:avLst/>
          </a:prstGeom>
          <a:noFill/>
          <a:ln/>
        </p:spPr>
        <p:txBody>
          <a:bodyPr wrap="square" lIns="0" tIns="0" rIns="0" bIns="0" rtlCol="0" anchor="t"/>
          <a:lstStyle/>
          <a:p>
            <a:pPr indent="0" marL="0">
              <a:buNone/>
            </a:pPr>
            <a:r>
              <a:rPr lang="en-US" sz="1150" dirty="0">
                <a:solidFill>
                  <a:srgbClr val="3E4C63"/>
                </a:solidFill>
                <a:latin typeface="Calibri" pitchFamily="34" charset="0"/>
                <a:ea typeface="Calibri" pitchFamily="34" charset="-122"/>
                <a:cs typeface="Calibri" pitchFamily="34" charset="-120"/>
              </a:rPr>
              <a:t>Not a prototype and not a chatbot wrapper — a tested, full-stack tool built in-house.</a:t>
            </a:r>
            <a:endParaRPr lang="en-US" sz="1150" dirty="0"/>
          </a:p>
        </p:txBody>
      </p:sp>
      <p:sp>
        <p:nvSpPr>
          <p:cNvPr id="11" name="Shape 9"/>
          <p:cNvSpPr/>
          <p:nvPr/>
        </p:nvSpPr>
        <p:spPr>
          <a:xfrm>
            <a:off x="548640"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1.6412027193435371e+292" dist="4.6891506266958215e+291" dir="Infinity">
              <a:srgbClr val="9DB0CC">
                <a:alpha val="Infinity"/>
              </a:srgbClr>
            </a:outerShdw>
          </a:effectLst>
        </p:spPr>
        <p:txBody>
          <a:bodyPr/>
          <a:p/>
        </p:txBody>
      </p:sp>
      <p:sp>
        <p:nvSpPr>
          <p:cNvPr id="12" name="Shape 10"/>
          <p:cNvSpPr/>
          <p:nvPr/>
        </p:nvSpPr>
        <p:spPr>
          <a:xfrm>
            <a:off x="548640" y="1874520"/>
            <a:ext cx="82296" cy="1143000"/>
          </a:xfrm>
          <a:prstGeom prst="rect">
            <a:avLst/>
          </a:prstGeom>
          <a:solidFill>
            <a:srgbClr val="4F46E5"/>
          </a:solidFill>
          <a:ln/>
        </p:spPr>
        <p:txBody>
          <a:bodyPr/>
          <a:p/>
        </p:txBody>
      </p:sp>
      <p:sp>
        <p:nvSpPr>
          <p:cNvPr id="13" name="Text 11"/>
          <p:cNvSpPr/>
          <p:nvPr/>
        </p:nvSpPr>
        <p:spPr>
          <a:xfrm>
            <a:off x="768096" y="2011680"/>
            <a:ext cx="2359152" cy="502920"/>
          </a:xfrm>
          <a:prstGeom prst="rect">
            <a:avLst/>
          </a:prstGeom>
          <a:noFill/>
          <a:ln/>
        </p:spPr>
        <p:txBody>
          <a:bodyPr wrap="square" lIns="0" tIns="0" rIns="0" bIns="0" rtlCol="0" anchor="t"/>
          <a:lstStyle/>
          <a:p>
            <a:pPr indent="0" marL="0">
              <a:buNone/>
            </a:pPr>
            <a:r>
              <a:rPr lang="en-US" sz="2300" b="1" dirty="0">
                <a:solidFill>
                  <a:srgbClr val="4F46E5"/>
                </a:solidFill>
                <a:latin typeface="Calibri" pitchFamily="34" charset="0"/>
                <a:ea typeface="Calibri" pitchFamily="34" charset="-122"/>
                <a:cs typeface="Calibri" pitchFamily="34" charset="-120"/>
              </a:rPr>
              <a:t>100,000+</a:t>
            </a:r>
            <a:endParaRPr lang="en-US" sz="2300" dirty="0"/>
          </a:p>
        </p:txBody>
      </p:sp>
      <p:sp>
        <p:nvSpPr>
          <p:cNvPr id="14" name="Text 12"/>
          <p:cNvSpPr/>
          <p:nvPr/>
        </p:nvSpPr>
        <p:spPr>
          <a:xfrm>
            <a:off x="768096"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lines of code, built in-house</a:t>
            </a:r>
            <a:endParaRPr lang="en-US" sz="1000" dirty="0"/>
          </a:p>
        </p:txBody>
      </p:sp>
      <p:sp>
        <p:nvSpPr>
          <p:cNvPr id="15" name="Shape 13"/>
          <p:cNvSpPr/>
          <p:nvPr/>
        </p:nvSpPr>
        <p:spPr>
          <a:xfrm>
            <a:off x="3319272"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2.0843274535662923e+296" dist="5.955221295903693e+295" dir="Infinity">
              <a:srgbClr val="9DB0CC">
                <a:alpha val="Infinity"/>
              </a:srgbClr>
            </a:outerShdw>
          </a:effectLst>
        </p:spPr>
        <p:txBody>
          <a:bodyPr/>
          <a:p/>
        </p:txBody>
      </p:sp>
      <p:sp>
        <p:nvSpPr>
          <p:cNvPr id="16" name="Shape 14"/>
          <p:cNvSpPr/>
          <p:nvPr/>
        </p:nvSpPr>
        <p:spPr>
          <a:xfrm>
            <a:off x="3319272" y="1874520"/>
            <a:ext cx="82296" cy="1143000"/>
          </a:xfrm>
          <a:prstGeom prst="rect">
            <a:avLst/>
          </a:prstGeom>
          <a:solidFill>
            <a:srgbClr val="0EA472"/>
          </a:solidFill>
          <a:ln/>
        </p:spPr>
        <p:txBody>
          <a:bodyPr/>
          <a:p/>
        </p:txBody>
      </p:sp>
      <p:sp>
        <p:nvSpPr>
          <p:cNvPr id="17" name="Text 15"/>
          <p:cNvSpPr/>
          <p:nvPr/>
        </p:nvSpPr>
        <p:spPr>
          <a:xfrm>
            <a:off x="3538728" y="2011680"/>
            <a:ext cx="2359152" cy="502920"/>
          </a:xfrm>
          <a:prstGeom prst="rect">
            <a:avLst/>
          </a:prstGeom>
          <a:noFill/>
          <a:ln/>
        </p:spPr>
        <p:txBody>
          <a:bodyPr wrap="square" lIns="0" tIns="0" rIns="0" bIns="0" rtlCol="0" anchor="t"/>
          <a:lstStyle/>
          <a:p>
            <a:pPr indent="0" marL="0">
              <a:buNone/>
            </a:pPr>
            <a:r>
              <a:rPr lang="en-US" sz="2300" b="1" dirty="0">
                <a:solidFill>
                  <a:srgbClr val="0EA472"/>
                </a:solidFill>
                <a:latin typeface="Calibri" pitchFamily="34" charset="0"/>
                <a:ea typeface="Calibri" pitchFamily="34" charset="-122"/>
                <a:cs typeface="Calibri" pitchFamily="34" charset="-120"/>
              </a:rPr>
              <a:t>2,438</a:t>
            </a:r>
            <a:endParaRPr lang="en-US" sz="2300" dirty="0"/>
          </a:p>
        </p:txBody>
      </p:sp>
      <p:sp>
        <p:nvSpPr>
          <p:cNvPr id="18" name="Text 16"/>
          <p:cNvSpPr/>
          <p:nvPr/>
        </p:nvSpPr>
        <p:spPr>
          <a:xfrm>
            <a:off x="3538728"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automated tests</a:t>
            </a:r>
            <a:endParaRPr lang="en-US" sz="1000" dirty="0"/>
          </a:p>
        </p:txBody>
      </p:sp>
      <p:sp>
        <p:nvSpPr>
          <p:cNvPr id="19" name="Shape 17"/>
          <p:cNvSpPr/>
          <p:nvPr/>
        </p:nvSpPr>
        <p:spPr>
          <a:xfrm>
            <a:off x="6089904"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2.647095866029191e+300" dist="7.56313104579769e+299" dir="Infinity">
              <a:srgbClr val="9DB0CC">
                <a:alpha val="Infinity"/>
              </a:srgbClr>
            </a:outerShdw>
          </a:effectLst>
        </p:spPr>
        <p:txBody>
          <a:bodyPr/>
          <a:p/>
        </p:txBody>
      </p:sp>
      <p:sp>
        <p:nvSpPr>
          <p:cNvPr id="20" name="Shape 18"/>
          <p:cNvSpPr/>
          <p:nvPr/>
        </p:nvSpPr>
        <p:spPr>
          <a:xfrm>
            <a:off x="6089904" y="1874520"/>
            <a:ext cx="82296" cy="1143000"/>
          </a:xfrm>
          <a:prstGeom prst="rect">
            <a:avLst/>
          </a:prstGeom>
          <a:solidFill>
            <a:srgbClr val="E0900C"/>
          </a:solidFill>
          <a:ln/>
        </p:spPr>
        <p:txBody>
          <a:bodyPr/>
          <a:p/>
        </p:txBody>
      </p:sp>
      <p:sp>
        <p:nvSpPr>
          <p:cNvPr id="21" name="Text 19"/>
          <p:cNvSpPr/>
          <p:nvPr/>
        </p:nvSpPr>
        <p:spPr>
          <a:xfrm>
            <a:off x="6309360" y="2011680"/>
            <a:ext cx="2359152" cy="502920"/>
          </a:xfrm>
          <a:prstGeom prst="rect">
            <a:avLst/>
          </a:prstGeom>
          <a:noFill/>
          <a:ln/>
        </p:spPr>
        <p:txBody>
          <a:bodyPr wrap="square" lIns="0" tIns="0" rIns="0" bIns="0" rtlCol="0" anchor="t"/>
          <a:lstStyle/>
          <a:p>
            <a:pPr indent="0" marL="0">
              <a:buNone/>
            </a:pPr>
            <a:r>
              <a:rPr lang="en-US" sz="2300" b="1" dirty="0">
                <a:solidFill>
                  <a:srgbClr val="E0900C"/>
                </a:solidFill>
                <a:latin typeface="Calibri" pitchFamily="34" charset="0"/>
                <a:ea typeface="Calibri" pitchFamily="34" charset="-122"/>
                <a:cs typeface="Calibri" pitchFamily="34" charset="-120"/>
              </a:rPr>
              <a:t>19</a:t>
            </a:r>
            <a:endParaRPr lang="en-US" sz="2300" dirty="0"/>
          </a:p>
        </p:txBody>
      </p:sp>
      <p:sp>
        <p:nvSpPr>
          <p:cNvPr id="22" name="Text 20"/>
          <p:cNvSpPr/>
          <p:nvPr/>
        </p:nvSpPr>
        <p:spPr>
          <a:xfrm>
            <a:off x="6309360"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manufacturing processes</a:t>
            </a:r>
            <a:endParaRPr lang="en-US" sz="1000" dirty="0"/>
          </a:p>
        </p:txBody>
      </p:sp>
      <p:sp>
        <p:nvSpPr>
          <p:cNvPr id="23" name="Shape 21"/>
          <p:cNvSpPr/>
          <p:nvPr/>
        </p:nvSpPr>
        <p:spPr>
          <a:xfrm>
            <a:off x="8860536" y="1874520"/>
            <a:ext cx="2724912" cy="1143000"/>
          </a:xfrm>
          <a:prstGeom prst="roundRect">
            <a:avLst>
              <a:gd name="adj" fmla="val 5600"/>
            </a:avLst>
          </a:prstGeom>
          <a:solidFill>
            <a:srgbClr val="FFFFFF"/>
          </a:solidFill>
          <a:ln w="12700">
            <a:solidFill>
              <a:srgbClr val="E4EAF2"/>
            </a:solidFill>
            <a:prstDash val="solid"/>
          </a:ln>
          <a:effectLst>
            <a:outerShdw sx="100000" sy="100000" kx="0" ky="0" algn="bl" rotWithShape="0" blurRad="3.3618117498570727e+304" dist="9.605176428163068e+303" dir="Infinity">
              <a:srgbClr val="9DB0CC">
                <a:alpha val="Infinity"/>
              </a:srgbClr>
            </a:outerShdw>
          </a:effectLst>
        </p:spPr>
        <p:txBody>
          <a:bodyPr/>
          <a:p/>
        </p:txBody>
      </p:sp>
      <p:sp>
        <p:nvSpPr>
          <p:cNvPr id="24" name="Shape 22"/>
          <p:cNvSpPr/>
          <p:nvPr/>
        </p:nvSpPr>
        <p:spPr>
          <a:xfrm>
            <a:off x="8860536" y="1874520"/>
            <a:ext cx="82296" cy="1143000"/>
          </a:xfrm>
          <a:prstGeom prst="rect">
            <a:avLst/>
          </a:prstGeom>
          <a:solidFill>
            <a:srgbClr val="0E93B0"/>
          </a:solidFill>
          <a:ln/>
        </p:spPr>
        <p:txBody>
          <a:bodyPr/>
          <a:p/>
        </p:txBody>
      </p:sp>
      <p:sp>
        <p:nvSpPr>
          <p:cNvPr id="25" name="Text 23"/>
          <p:cNvSpPr/>
          <p:nvPr/>
        </p:nvSpPr>
        <p:spPr>
          <a:xfrm>
            <a:off x="9079992" y="2011680"/>
            <a:ext cx="2359152" cy="502920"/>
          </a:xfrm>
          <a:prstGeom prst="rect">
            <a:avLst/>
          </a:prstGeom>
          <a:noFill/>
          <a:ln/>
        </p:spPr>
        <p:txBody>
          <a:bodyPr wrap="square" lIns="0" tIns="0" rIns="0" bIns="0" rtlCol="0" anchor="t"/>
          <a:lstStyle/>
          <a:p>
            <a:pPr indent="0" marL="0">
              <a:buNone/>
            </a:pPr>
            <a:r>
              <a:rPr lang="en-US" sz="2300" b="1" dirty="0">
                <a:solidFill>
                  <a:srgbClr val="0E93B0"/>
                </a:solidFill>
                <a:latin typeface="Calibri" pitchFamily="34" charset="0"/>
                <a:ea typeface="Calibri" pitchFamily="34" charset="-122"/>
                <a:cs typeface="Calibri" pitchFamily="34" charset="-120"/>
              </a:rPr>
              <a:t>6</a:t>
            </a:r>
            <a:endParaRPr lang="en-US" sz="2300" dirty="0"/>
          </a:p>
        </p:txBody>
      </p:sp>
      <p:sp>
        <p:nvSpPr>
          <p:cNvPr id="26" name="Text 24"/>
          <p:cNvSpPr/>
          <p:nvPr/>
        </p:nvSpPr>
        <p:spPr>
          <a:xfrm>
            <a:off x="9079992" y="2505456"/>
            <a:ext cx="2359152" cy="411480"/>
          </a:xfrm>
          <a:prstGeom prst="rect">
            <a:avLst/>
          </a:prstGeom>
          <a:noFill/>
          <a:ln/>
        </p:spPr>
        <p:txBody>
          <a:bodyPr wrap="square" lIns="0" tIns="0" rIns="0" bIns="0" rtlCol="0" anchor="t"/>
          <a:lstStyle/>
          <a:p>
            <a:pPr indent="0" marL="0">
              <a:lnSpc>
                <a:spcPct val="105000"/>
              </a:lnSpc>
              <a:buNone/>
            </a:pPr>
            <a:r>
              <a:rPr lang="en-US" sz="1000" dirty="0">
                <a:solidFill>
                  <a:srgbClr val="8A97A8"/>
                </a:solidFill>
                <a:latin typeface="Calibri" pitchFamily="34" charset="0"/>
                <a:ea typeface="Calibri" pitchFamily="34" charset="-122"/>
                <a:cs typeface="Calibri" pitchFamily="34" charset="-120"/>
              </a:rPr>
              <a:t>real parts pinned in the baseline</a:t>
            </a:r>
            <a:endParaRPr lang="en-US" sz="1000" dirty="0"/>
          </a:p>
        </p:txBody>
      </p:sp>
      <p:sp>
        <p:nvSpPr>
          <p:cNvPr id="27" name="Shape 25"/>
          <p:cNvSpPr/>
          <p:nvPr/>
        </p:nvSpPr>
        <p:spPr>
          <a:xfrm>
            <a:off x="548640" y="3200400"/>
            <a:ext cx="6035040" cy="2395728"/>
          </a:xfrm>
          <a:prstGeom prst="roundRect">
            <a:avLst>
              <a:gd name="adj" fmla="val 2672"/>
            </a:avLst>
          </a:prstGeom>
          <a:solidFill>
            <a:srgbClr val="FFFFFF"/>
          </a:solidFill>
          <a:ln w="12700">
            <a:solidFill>
              <a:srgbClr val="E4EAF2"/>
            </a:solidFill>
            <a:prstDash val="solid"/>
          </a:ln>
          <a:effectLst>
            <a:outerShdw sx="100000" sy="100000" kx="0" ky="0" algn="bl" rotWithShape="0" blurRad="Infinity" dist="1.2198574063767096e+308" dir="Infinity">
              <a:srgbClr val="9DB0CC">
                <a:alpha val="Infinity"/>
              </a:srgbClr>
            </a:outerShdw>
          </a:effectLst>
        </p:spPr>
        <p:txBody>
          <a:bodyPr/>
          <a:p/>
        </p:txBody>
      </p:sp>
      <p:sp>
        <p:nvSpPr>
          <p:cNvPr id="28" name="Text 26"/>
          <p:cNvSpPr/>
          <p:nvPr/>
        </p:nvSpPr>
        <p:spPr>
          <a:xfrm>
            <a:off x="822960" y="3319272"/>
            <a:ext cx="5669280"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Where the code lives — thousands of lines</a:t>
            </a:r>
            <a:endParaRPr lang="en-US" sz="1250" dirty="0"/>
          </a:p>
        </p:txBody>
      </p:sp>
      <p:graphicFrame>
        <p:nvGraphicFramePr>
          <p:cNvPr id="29" name="Chart 0" descr=""/>
          <p:cNvGraphicFramePr/>
          <p:nvPr/>
        </p:nvGraphicFramePr>
        <p:xfrm>
          <a:off x="685800" y="3639312"/>
          <a:ext cx="5760720" cy="1847088"/>
        </p:xfrm>
        <a:graphic xmlns:a="http://schemas.openxmlformats.org/drawingml/2006/main">
          <a:graphicData uri="http://schemas.openxmlformats.org/drawingml/2006/chart">
            <c:chart xmlns:c="http://schemas.openxmlformats.org/drawingml/2006/chart" r:id="rId1"/>
          </a:graphicData>
        </a:graphic>
      </p:graphicFrame>
      <p:sp>
        <p:nvSpPr>
          <p:cNvPr id="30" name="Shape 27"/>
          <p:cNvSpPr/>
          <p:nvPr/>
        </p:nvSpPr>
        <p:spPr>
          <a:xfrm>
            <a:off x="6858000" y="3200400"/>
            <a:ext cx="4785055" cy="2395728"/>
          </a:xfrm>
          <a:prstGeom prst="roundRect">
            <a:avLst>
              <a:gd name="adj" fmla="val 2672"/>
            </a:avLst>
          </a:prstGeom>
          <a:solidFill>
            <a:srgbClr val="EAF1FE"/>
          </a:solidFill>
          <a:ln w="12700">
            <a:solidFill>
              <a:srgbClr val="E4EAF2"/>
            </a:solidFill>
            <a:prstDash val="solid"/>
          </a:ln>
        </p:spPr>
        <p:txBody>
          <a:bodyPr/>
          <a:p/>
        </p:txBody>
      </p:sp>
      <p:sp>
        <p:nvSpPr>
          <p:cNvPr id="31" name="Text 28"/>
          <p:cNvSpPr/>
          <p:nvPr/>
        </p:nvSpPr>
        <p:spPr>
          <a:xfrm>
            <a:off x="7132320" y="3319272"/>
            <a:ext cx="4327855" cy="274320"/>
          </a:xfrm>
          <a:prstGeom prst="rect">
            <a:avLst/>
          </a:prstGeom>
          <a:noFill/>
          <a:ln/>
        </p:spPr>
        <p:txBody>
          <a:bodyPr wrap="square" lIns="0" tIns="0" rIns="0" bIns="0" rtlCol="0" anchor="t"/>
          <a:lstStyle/>
          <a:p>
            <a:pPr indent="0" marL="0">
              <a:buNone/>
            </a:pPr>
            <a:r>
              <a:rPr lang="en-US" sz="1250" b="1" dirty="0">
                <a:solidFill>
                  <a:srgbClr val="0F1E3D"/>
                </a:solidFill>
                <a:latin typeface="Calibri" pitchFamily="34" charset="0"/>
                <a:ea typeface="Calibri" pitchFamily="34" charset="-122"/>
                <a:cs typeface="Calibri" pitchFamily="34" charset="-120"/>
              </a:rPr>
              <a:t>What that represents</a:t>
            </a:r>
            <a:endParaRPr lang="en-US" sz="1250" dirty="0"/>
          </a:p>
        </p:txBody>
      </p:sp>
      <p:sp>
        <p:nvSpPr>
          <p:cNvPr id="32" name="Shape 29"/>
          <p:cNvSpPr/>
          <p:nvPr/>
        </p:nvSpPr>
        <p:spPr>
          <a:xfrm>
            <a:off x="7114032" y="3721608"/>
            <a:ext cx="274320" cy="274320"/>
          </a:xfrm>
          <a:prstGeom prst="ellipse">
            <a:avLst/>
          </a:prstGeom>
          <a:solidFill>
            <a:srgbClr val="FEF6E7"/>
          </a:solidFill>
          <a:ln/>
        </p:spPr>
        <p:txBody>
          <a:bodyPr/>
          <a:p/>
        </p:txBody>
      </p:sp>
      <p:sp>
        <p:nvSpPr>
          <p:cNvPr id="33" name="Text 30"/>
          <p:cNvSpPr/>
          <p:nvPr/>
        </p:nvSpPr>
        <p:spPr>
          <a:xfrm>
            <a:off x="7114032" y="3712464"/>
            <a:ext cx="274320" cy="274320"/>
          </a:xfrm>
          <a:prstGeom prst="rect">
            <a:avLst/>
          </a:prstGeom>
          <a:noFill/>
          <a:ln/>
        </p:spPr>
        <p:txBody>
          <a:bodyPr wrap="square" lIns="0" tIns="0" rIns="0" bIns="0" rtlCol="0" anchor="ctr"/>
          <a:lstStyle/>
          <a:p>
            <a:pPr algn="ctr" indent="0" marL="0">
              <a:buNone/>
            </a:pPr>
            <a:r>
              <a:rPr lang="en-US" sz="1000" b="1" dirty="0">
                <a:solidFill>
                  <a:srgbClr val="E0900C"/>
                </a:solidFill>
                <a:latin typeface="Calibri" pitchFamily="34" charset="0"/>
                <a:ea typeface="Calibri" pitchFamily="34" charset="-122"/>
                <a:cs typeface="Calibri" pitchFamily="34" charset="-120"/>
              </a:rPr>
              <a:t>◆</a:t>
            </a:r>
            <a:endParaRPr lang="en-US" sz="1000" dirty="0"/>
          </a:p>
        </p:txBody>
      </p:sp>
      <p:sp>
        <p:nvSpPr>
          <p:cNvPr id="34" name="Text 31"/>
          <p:cNvSpPr/>
          <p:nvPr/>
        </p:nvSpPr>
        <p:spPr>
          <a:xfrm>
            <a:off x="7479792" y="37033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A ~39,000-line cost engine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the traceable money maths: 19 processes, 20 regions</a:t>
            </a:r>
            <a:endParaRPr lang="en-US" sz="960" dirty="0"/>
          </a:p>
        </p:txBody>
      </p:sp>
      <p:sp>
        <p:nvSpPr>
          <p:cNvPr id="35" name="Shape 32"/>
          <p:cNvSpPr/>
          <p:nvPr/>
        </p:nvSpPr>
        <p:spPr>
          <a:xfrm>
            <a:off x="7114032" y="4178808"/>
            <a:ext cx="274320" cy="274320"/>
          </a:xfrm>
          <a:prstGeom prst="ellipse">
            <a:avLst/>
          </a:prstGeom>
          <a:solidFill>
            <a:srgbClr val="E7F7F0"/>
          </a:solidFill>
          <a:ln/>
        </p:spPr>
        <p:txBody>
          <a:bodyPr/>
          <a:p/>
        </p:txBody>
      </p:sp>
      <p:sp>
        <p:nvSpPr>
          <p:cNvPr id="36" name="Text 33"/>
          <p:cNvSpPr/>
          <p:nvPr/>
        </p:nvSpPr>
        <p:spPr>
          <a:xfrm>
            <a:off x="7114032" y="4169664"/>
            <a:ext cx="274320" cy="274320"/>
          </a:xfrm>
          <a:prstGeom prst="rect">
            <a:avLst/>
          </a:prstGeom>
          <a:noFill/>
          <a:ln/>
        </p:spPr>
        <p:txBody>
          <a:bodyPr wrap="square" lIns="0" tIns="0" rIns="0" bIns="0" rtlCol="0" anchor="ctr"/>
          <a:lstStyle/>
          <a:p>
            <a:pPr algn="ctr" indent="0" marL="0">
              <a:buNone/>
            </a:pPr>
            <a:r>
              <a:rPr lang="en-US" sz="1000" b="1" dirty="0">
                <a:solidFill>
                  <a:srgbClr val="0DA5A0"/>
                </a:solidFill>
                <a:latin typeface="Calibri" pitchFamily="34" charset="0"/>
                <a:ea typeface="Calibri" pitchFamily="34" charset="-122"/>
                <a:cs typeface="Calibri" pitchFamily="34" charset="-120"/>
              </a:rPr>
              <a:t>◆</a:t>
            </a:r>
            <a:endParaRPr lang="en-US" sz="1000" dirty="0"/>
          </a:p>
        </p:txBody>
      </p:sp>
      <p:sp>
        <p:nvSpPr>
          <p:cNvPr id="37" name="Text 34"/>
          <p:cNvSpPr/>
          <p:nvPr/>
        </p:nvSpPr>
        <p:spPr>
          <a:xfrm>
            <a:off x="7479792" y="41605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A real geometry kernel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OpenCASCADE in Python reads STEP, IGES and STL</a:t>
            </a:r>
            <a:endParaRPr lang="en-US" sz="960" dirty="0"/>
          </a:p>
        </p:txBody>
      </p:sp>
      <p:sp>
        <p:nvSpPr>
          <p:cNvPr id="38" name="Shape 35"/>
          <p:cNvSpPr/>
          <p:nvPr/>
        </p:nvSpPr>
        <p:spPr>
          <a:xfrm>
            <a:off x="7114032" y="4636008"/>
            <a:ext cx="274320" cy="274320"/>
          </a:xfrm>
          <a:prstGeom prst="ellipse">
            <a:avLst/>
          </a:prstGeom>
          <a:solidFill>
            <a:srgbClr val="EAF1FE"/>
          </a:solidFill>
          <a:ln/>
        </p:spPr>
        <p:txBody>
          <a:bodyPr/>
          <a:p/>
        </p:txBody>
      </p:sp>
      <p:sp>
        <p:nvSpPr>
          <p:cNvPr id="39" name="Text 36"/>
          <p:cNvSpPr/>
          <p:nvPr/>
        </p:nvSpPr>
        <p:spPr>
          <a:xfrm>
            <a:off x="7114032" y="4626864"/>
            <a:ext cx="274320" cy="274320"/>
          </a:xfrm>
          <a:prstGeom prst="rect">
            <a:avLst/>
          </a:prstGeom>
          <a:noFill/>
          <a:ln/>
        </p:spPr>
        <p:txBody>
          <a:bodyPr wrap="square" lIns="0" tIns="0" rIns="0" bIns="0" rtlCol="0" anchor="ctr"/>
          <a:lstStyle/>
          <a:p>
            <a:pPr algn="ctr" indent="0" marL="0">
              <a:buNone/>
            </a:pPr>
            <a:r>
              <a:rPr lang="en-US" sz="1000" b="1" dirty="0">
                <a:solidFill>
                  <a:srgbClr val="2563EB"/>
                </a:solidFill>
                <a:latin typeface="Calibri" pitchFamily="34" charset="0"/>
                <a:ea typeface="Calibri" pitchFamily="34" charset="-122"/>
                <a:cs typeface="Calibri" pitchFamily="34" charset="-120"/>
              </a:rPr>
              <a:t>◆</a:t>
            </a:r>
            <a:endParaRPr lang="en-US" sz="1000" dirty="0"/>
          </a:p>
        </p:txBody>
      </p:sp>
      <p:sp>
        <p:nvSpPr>
          <p:cNvPr id="40" name="Text 37"/>
          <p:cNvSpPr/>
          <p:nvPr/>
        </p:nvSpPr>
        <p:spPr>
          <a:xfrm>
            <a:off x="7479792" y="46177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Full-stack, end to end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TypeScript server and UI, Three.js 3D, SQLite, Python</a:t>
            </a:r>
            <a:endParaRPr lang="en-US" sz="960" dirty="0"/>
          </a:p>
        </p:txBody>
      </p:sp>
      <p:sp>
        <p:nvSpPr>
          <p:cNvPr id="41" name="Shape 38"/>
          <p:cNvSpPr/>
          <p:nvPr/>
        </p:nvSpPr>
        <p:spPr>
          <a:xfrm>
            <a:off x="7114032" y="5093208"/>
            <a:ext cx="274320" cy="274320"/>
          </a:xfrm>
          <a:prstGeom prst="ellipse">
            <a:avLst/>
          </a:prstGeom>
          <a:solidFill>
            <a:srgbClr val="E7F7F0"/>
          </a:solidFill>
          <a:ln/>
        </p:spPr>
        <p:txBody>
          <a:bodyPr/>
          <a:p/>
        </p:txBody>
      </p:sp>
      <p:sp>
        <p:nvSpPr>
          <p:cNvPr id="42" name="Text 39"/>
          <p:cNvSpPr/>
          <p:nvPr/>
        </p:nvSpPr>
        <p:spPr>
          <a:xfrm>
            <a:off x="7114032" y="5084064"/>
            <a:ext cx="274320" cy="274320"/>
          </a:xfrm>
          <a:prstGeom prst="rect">
            <a:avLst/>
          </a:prstGeom>
          <a:noFill/>
          <a:ln/>
        </p:spPr>
        <p:txBody>
          <a:bodyPr wrap="square" lIns="0" tIns="0" rIns="0" bIns="0" rtlCol="0" anchor="ctr"/>
          <a:lstStyle/>
          <a:p>
            <a:pPr algn="ctr" indent="0" marL="0">
              <a:buNone/>
            </a:pPr>
            <a:r>
              <a:rPr lang="en-US" sz="1000" b="1" dirty="0">
                <a:solidFill>
                  <a:srgbClr val="0EA472"/>
                </a:solidFill>
                <a:latin typeface="Calibri" pitchFamily="34" charset="0"/>
                <a:ea typeface="Calibri" pitchFamily="34" charset="-122"/>
                <a:cs typeface="Calibri" pitchFamily="34" charset="-120"/>
              </a:rPr>
              <a:t>◆</a:t>
            </a:r>
            <a:endParaRPr lang="en-US" sz="1000" dirty="0"/>
          </a:p>
        </p:txBody>
      </p:sp>
      <p:sp>
        <p:nvSpPr>
          <p:cNvPr id="43" name="Text 40"/>
          <p:cNvSpPr/>
          <p:nvPr/>
        </p:nvSpPr>
        <p:spPr>
          <a:xfrm>
            <a:off x="7479792" y="5074920"/>
            <a:ext cx="3916375" cy="457200"/>
          </a:xfrm>
          <a:prstGeom prst="rect">
            <a:avLst/>
          </a:prstGeom>
          <a:noFill/>
          <a:ln/>
        </p:spPr>
        <p:txBody>
          <a:bodyPr wrap="square" lIns="0" tIns="0" rIns="0" bIns="0" rtlCol="0" anchor="t"/>
          <a:lstStyle/>
          <a:p>
            <a:pPr indent="0" marL="0">
              <a:lnSpc>
                <a:spcPct val="100000"/>
              </a:lnSpc>
              <a:buNone/>
            </a:pPr>
            <a:r>
              <a:rPr lang="en-US" sz="960" b="1" dirty="0">
                <a:solidFill>
                  <a:srgbClr val="0F1E3D"/>
                </a:solidFill>
                <a:latin typeface="Calibri" pitchFamily="34" charset="0"/>
                <a:ea typeface="Calibri" pitchFamily="34" charset="-122"/>
                <a:cs typeface="Calibri" pitchFamily="34" charset="-120"/>
              </a:rPr>
              <a:t>Quality built in — </a:t>
            </a:r>
            <a:pPr indent="0" marL="0">
              <a:lnSpc>
                <a:spcPct val="100000"/>
              </a:lnSpc>
              <a:buNone/>
            </a:pPr>
            <a:r>
              <a:rPr lang="en-US" sz="960" dirty="0">
                <a:solidFill>
                  <a:srgbClr val="3E4C63"/>
                </a:solidFill>
                <a:latin typeface="Calibri" pitchFamily="34" charset="0"/>
                <a:ea typeface="Calibri" pitchFamily="34" charset="-122"/>
                <a:cs typeface="Calibri" pitchFamily="34" charset="-120"/>
              </a:rPr>
              <a:t>~29,000 lines of tests; 2,438 tests run on every change</a:t>
            </a:r>
            <a:endParaRPr lang="en-US" sz="960" dirty="0"/>
          </a:p>
        </p:txBody>
      </p:sp>
      <p:sp>
        <p:nvSpPr>
          <p:cNvPr id="44" name="Shape 41"/>
          <p:cNvSpPr/>
          <p:nvPr/>
        </p:nvSpPr>
        <p:spPr>
          <a:xfrm>
            <a:off x="548640" y="5742432"/>
            <a:ext cx="11091672" cy="457200"/>
          </a:xfrm>
          <a:prstGeom prst="roundRect">
            <a:avLst>
              <a:gd name="adj" fmla="val 14000"/>
            </a:avLst>
          </a:prstGeom>
          <a:solidFill>
            <a:srgbClr val="E7F7F0"/>
          </a:solidFill>
          <a:ln w="12700">
            <a:solidFill>
              <a:srgbClr val="E4EAF2"/>
            </a:solidFill>
            <a:prstDash val="solid"/>
          </a:ln>
        </p:spPr>
        <p:txBody>
          <a:bodyPr/>
          <a:p/>
        </p:txBody>
      </p:sp>
      <p:sp>
        <p:nvSpPr>
          <p:cNvPr id="45" name="Shape 42"/>
          <p:cNvSpPr/>
          <p:nvPr/>
        </p:nvSpPr>
        <p:spPr>
          <a:xfrm>
            <a:off x="548640" y="5742432"/>
            <a:ext cx="82296" cy="457200"/>
          </a:xfrm>
          <a:prstGeom prst="rect">
            <a:avLst/>
          </a:prstGeom>
          <a:solidFill>
            <a:srgbClr val="4F46E5"/>
          </a:solidFill>
          <a:ln/>
        </p:spPr>
        <p:txBody>
          <a:bodyPr/>
          <a:p/>
        </p:txBody>
      </p:sp>
      <p:sp>
        <p:nvSpPr>
          <p:cNvPr id="46" name="Text 43"/>
          <p:cNvSpPr/>
          <p:nvPr/>
        </p:nvSpPr>
        <p:spPr>
          <a:xfrm>
            <a:off x="914400" y="5742432"/>
            <a:ext cx="10332720" cy="457200"/>
          </a:xfrm>
          <a:prstGeom prst="rect">
            <a:avLst/>
          </a:prstGeom>
          <a:noFill/>
          <a:ln/>
        </p:spPr>
        <p:txBody>
          <a:bodyPr wrap="square" lIns="0" tIns="0" rIns="0" bIns="0" rtlCol="0" anchor="ctr"/>
          <a:lstStyle/>
          <a:p>
            <a:pPr indent="0" marL="0">
              <a:buNone/>
            </a:pPr>
            <a:r>
              <a:rPr lang="en-US" sz="1100" b="1" dirty="0">
                <a:solidFill>
                  <a:srgbClr val="0F1E3D"/>
                </a:solidFill>
                <a:latin typeface="Calibri" pitchFamily="34" charset="0"/>
                <a:ea typeface="Calibri" pitchFamily="34" charset="-122"/>
                <a:cs typeface="Calibri" pitchFamily="34" charset="-120"/>
              </a:rPr>
              <a:t>The point:  </a:t>
            </a:r>
            <a:pPr indent="0" marL="0">
              <a:buNone/>
            </a:pPr>
            <a:r>
              <a:rPr lang="en-US" sz="1100" dirty="0">
                <a:solidFill>
                  <a:srgbClr val="3E4C63"/>
                </a:solidFill>
                <a:latin typeface="Calibri" pitchFamily="34" charset="0"/>
                <a:ea typeface="Calibri" pitchFamily="34" charset="-122"/>
                <a:cs typeface="Calibri" pitchFamily="34" charset="-120"/>
              </a:rPr>
              <a:t>this engineering, and the cost knowledge built into it, is a company asset we own and control.</a:t>
            </a:r>
            <a:endParaRPr lang="en-US" sz="1100" dirty="0"/>
          </a:p>
        </p:txBody>
      </p:sp>
      <p:sp>
        <p:nvSpPr>
          <p:cNvPr id="47" name="Shape 44"/>
          <p:cNvSpPr/>
          <p:nvPr/>
        </p:nvSpPr>
        <p:spPr>
          <a:xfrm>
            <a:off x="548640" y="6400800"/>
            <a:ext cx="11094415" cy="12802"/>
          </a:xfrm>
          <a:prstGeom prst="rect">
            <a:avLst/>
          </a:prstGeom>
          <a:solidFill>
            <a:srgbClr val="E4EAF2"/>
          </a:solidFill>
          <a:ln/>
        </p:spPr>
        <p:txBody>
          <a:bodyPr/>
          <a:p/>
        </p:txBody>
      </p:sp>
      <p:sp>
        <p:nvSpPr>
          <p:cNvPr id="48" name="Text 4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49" name="Text 4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28 / 33</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2563EB"/>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2563EB"/>
                </a:solidFill>
                <a:latin typeface="Calibri" pitchFamily="34" charset="0"/>
                <a:ea typeface="Calibri" pitchFamily="34" charset="-122"/>
                <a:cs typeface="Calibri" pitchFamily="34" charset="-120"/>
              </a:rPr>
              <a:t>VALUE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What this means for the business</a:t>
            </a:r>
            <a:endParaRPr lang="en-US" sz="2400" dirty="0"/>
          </a:p>
        </p:txBody>
      </p:sp>
      <p:sp>
        <p:nvSpPr>
          <p:cNvPr id="9" name="Shape 7"/>
          <p:cNvSpPr/>
          <p:nvPr/>
        </p:nvSpPr>
        <p:spPr>
          <a:xfrm>
            <a:off x="548640" y="1371600"/>
            <a:ext cx="1051560" cy="45720"/>
          </a:xfrm>
          <a:prstGeom prst="rect">
            <a:avLst/>
          </a:prstGeom>
          <a:solidFill>
            <a:srgbClr val="2563EB"/>
          </a:solidFill>
          <a:ln/>
        </p:spPr>
        <p:txBody>
          <a:bodyPr/>
          <a:p/>
        </p:txBody>
      </p:sp>
      <p:sp>
        <p:nvSpPr>
          <p:cNvPr id="10" name="Shape 8"/>
          <p:cNvSpPr/>
          <p:nvPr/>
        </p:nvSpPr>
        <p:spPr>
          <a:xfrm>
            <a:off x="548640" y="169164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1" name="Shape 9"/>
          <p:cNvSpPr/>
          <p:nvPr/>
        </p:nvSpPr>
        <p:spPr>
          <a:xfrm>
            <a:off x="548640" y="1691640"/>
            <a:ext cx="82296" cy="1783080"/>
          </a:xfrm>
          <a:prstGeom prst="rect">
            <a:avLst/>
          </a:prstGeom>
          <a:solidFill>
            <a:srgbClr val="2563EB"/>
          </a:solidFill>
          <a:ln/>
        </p:spPr>
        <p:txBody>
          <a:bodyPr/>
          <a:p/>
        </p:txBody>
      </p:sp>
      <p:sp>
        <p:nvSpPr>
          <p:cNvPr id="12" name="Shape 10"/>
          <p:cNvSpPr/>
          <p:nvPr/>
        </p:nvSpPr>
        <p:spPr>
          <a:xfrm>
            <a:off x="822960" y="1965960"/>
            <a:ext cx="548640" cy="548640"/>
          </a:xfrm>
          <a:prstGeom prst="ellipse">
            <a:avLst/>
          </a:prstGeom>
          <a:solidFill>
            <a:srgbClr val="EAF1FE"/>
          </a:solidFill>
          <a:ln/>
        </p:spPr>
        <p:txBody>
          <a:bodyPr/>
          <a:p/>
        </p:txBody>
      </p:sp>
      <p:sp>
        <p:nvSpPr>
          <p:cNvPr id="13" name="Text 11"/>
          <p:cNvSpPr/>
          <p:nvPr/>
        </p:nvSpPr>
        <p:spPr>
          <a:xfrm>
            <a:off x="822960" y="1956816"/>
            <a:ext cx="548640" cy="548640"/>
          </a:xfrm>
          <a:prstGeom prst="rect">
            <a:avLst/>
          </a:prstGeom>
          <a:noFill/>
          <a:ln/>
        </p:spPr>
        <p:txBody>
          <a:bodyPr wrap="square" lIns="0" tIns="0" rIns="0" bIns="0" rtlCol="0" anchor="ctr"/>
          <a:lstStyle/>
          <a:p>
            <a:pPr algn="ctr" indent="0" marL="0">
              <a:buNone/>
            </a:pPr>
            <a:r>
              <a:rPr lang="en-US" sz="2000" b="1" dirty="0">
                <a:solidFill>
                  <a:srgbClr val="2563EB"/>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517904" y="2002536"/>
            <a:ext cx="4297680" cy="365760"/>
          </a:xfrm>
          <a:prstGeom prst="rect">
            <a:avLst/>
          </a:prstGeom>
          <a:noFill/>
          <a:ln/>
        </p:spPr>
        <p:txBody>
          <a:bodyPr wrap="square" lIns="0" tIns="0" rIns="0" bIns="0" rtlCol="0" anchor="ctr"/>
          <a:lstStyle/>
          <a:p>
            <a:pPr indent="0" marL="0">
              <a:buNone/>
            </a:pPr>
            <a:r>
              <a:rPr lang="en-US" sz="1550" b="1" dirty="0">
                <a:solidFill>
                  <a:srgbClr val="2563EB"/>
                </a:solidFill>
                <a:latin typeface="Calibri" pitchFamily="34" charset="0"/>
                <a:ea typeface="Calibri" pitchFamily="34" charset="-122"/>
                <a:cs typeface="Calibri" pitchFamily="34" charset="-120"/>
              </a:rPr>
              <a:t>Speed</a:t>
            </a:r>
            <a:endParaRPr lang="en-US" sz="1550" dirty="0"/>
          </a:p>
        </p:txBody>
      </p:sp>
      <p:sp>
        <p:nvSpPr>
          <p:cNvPr id="15" name="Text 13"/>
          <p:cNvSpPr/>
          <p:nvPr/>
        </p:nvSpPr>
        <p:spPr>
          <a:xfrm>
            <a:off x="841248" y="260604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Less keying. The tool measures the CAD and fills the inputs, so the first traceable number comes sooner.</a:t>
            </a:r>
            <a:endParaRPr lang="en-US" sz="1150" dirty="0"/>
          </a:p>
        </p:txBody>
      </p:sp>
      <p:sp>
        <p:nvSpPr>
          <p:cNvPr id="16" name="Shape 14"/>
          <p:cNvSpPr/>
          <p:nvPr/>
        </p:nvSpPr>
        <p:spPr>
          <a:xfrm>
            <a:off x="6217920" y="169164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7" name="Shape 15"/>
          <p:cNvSpPr/>
          <p:nvPr/>
        </p:nvSpPr>
        <p:spPr>
          <a:xfrm>
            <a:off x="6217920" y="1691640"/>
            <a:ext cx="82296" cy="1783080"/>
          </a:xfrm>
          <a:prstGeom prst="rect">
            <a:avLst/>
          </a:prstGeom>
          <a:solidFill>
            <a:srgbClr val="0EA472"/>
          </a:solidFill>
          <a:ln/>
        </p:spPr>
        <p:txBody>
          <a:bodyPr/>
          <a:p/>
        </p:txBody>
      </p:sp>
      <p:sp>
        <p:nvSpPr>
          <p:cNvPr id="18" name="Shape 16"/>
          <p:cNvSpPr/>
          <p:nvPr/>
        </p:nvSpPr>
        <p:spPr>
          <a:xfrm>
            <a:off x="6492240" y="1965960"/>
            <a:ext cx="548640" cy="548640"/>
          </a:xfrm>
          <a:prstGeom prst="ellipse">
            <a:avLst/>
          </a:prstGeom>
          <a:solidFill>
            <a:srgbClr val="E7F7F0"/>
          </a:solidFill>
          <a:ln/>
        </p:spPr>
        <p:txBody>
          <a:bodyPr/>
          <a:p/>
        </p:txBody>
      </p:sp>
      <p:sp>
        <p:nvSpPr>
          <p:cNvPr id="19" name="Text 17"/>
          <p:cNvSpPr/>
          <p:nvPr/>
        </p:nvSpPr>
        <p:spPr>
          <a:xfrm>
            <a:off x="6492240" y="1956816"/>
            <a:ext cx="548640" cy="548640"/>
          </a:xfrm>
          <a:prstGeom prst="rect">
            <a:avLst/>
          </a:prstGeom>
          <a:noFill/>
          <a:ln/>
        </p:spPr>
        <p:txBody>
          <a:bodyPr wrap="square" lIns="0" tIns="0" rIns="0" bIns="0" rtlCol="0" anchor="ctr"/>
          <a:lstStyle/>
          <a:p>
            <a:pPr algn="ctr" indent="0" marL="0">
              <a:buNone/>
            </a:pPr>
            <a:r>
              <a:rPr lang="en-US" sz="2000" b="1" dirty="0">
                <a:solidFill>
                  <a:srgbClr val="0EA472"/>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187184" y="2002536"/>
            <a:ext cx="4297680" cy="365760"/>
          </a:xfrm>
          <a:prstGeom prst="rect">
            <a:avLst/>
          </a:prstGeom>
          <a:noFill/>
          <a:ln/>
        </p:spPr>
        <p:txBody>
          <a:bodyPr wrap="square" lIns="0" tIns="0" rIns="0" bIns="0" rtlCol="0" anchor="ctr"/>
          <a:lstStyle/>
          <a:p>
            <a:pPr indent="0" marL="0">
              <a:buNone/>
            </a:pPr>
            <a:r>
              <a:rPr lang="en-US" sz="1550" b="1" dirty="0">
                <a:solidFill>
                  <a:srgbClr val="0EA472"/>
                </a:solidFill>
                <a:latin typeface="Calibri" pitchFamily="34" charset="0"/>
                <a:ea typeface="Calibri" pitchFamily="34" charset="-122"/>
                <a:cs typeface="Calibri" pitchFamily="34" charset="-120"/>
              </a:rPr>
              <a:t>Margin recovery</a:t>
            </a:r>
            <a:endParaRPr lang="en-US" sz="1550" dirty="0"/>
          </a:p>
        </p:txBody>
      </p:sp>
      <p:sp>
        <p:nvSpPr>
          <p:cNvPr id="21" name="Text 19"/>
          <p:cNvSpPr/>
          <p:nvPr/>
        </p:nvSpPr>
        <p:spPr>
          <a:xfrm>
            <a:off x="6510528" y="260604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Line-by-line should-cost lets us challenge each quote by driver, not by total.</a:t>
            </a:r>
            <a:endParaRPr lang="en-US" sz="1150" dirty="0"/>
          </a:p>
        </p:txBody>
      </p:sp>
      <p:sp>
        <p:nvSpPr>
          <p:cNvPr id="22" name="Shape 20"/>
          <p:cNvSpPr/>
          <p:nvPr/>
        </p:nvSpPr>
        <p:spPr>
          <a:xfrm>
            <a:off x="548640" y="365760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23" name="Shape 21"/>
          <p:cNvSpPr/>
          <p:nvPr/>
        </p:nvSpPr>
        <p:spPr>
          <a:xfrm>
            <a:off x="548640" y="3657600"/>
            <a:ext cx="82296" cy="1783080"/>
          </a:xfrm>
          <a:prstGeom prst="rect">
            <a:avLst/>
          </a:prstGeom>
          <a:solidFill>
            <a:srgbClr val="7C3AED"/>
          </a:solidFill>
          <a:ln/>
        </p:spPr>
        <p:txBody>
          <a:bodyPr/>
          <a:p/>
        </p:txBody>
      </p:sp>
      <p:sp>
        <p:nvSpPr>
          <p:cNvPr id="24" name="Shape 22"/>
          <p:cNvSpPr/>
          <p:nvPr/>
        </p:nvSpPr>
        <p:spPr>
          <a:xfrm>
            <a:off x="822960" y="3931920"/>
            <a:ext cx="548640" cy="548640"/>
          </a:xfrm>
          <a:prstGeom prst="ellipse">
            <a:avLst/>
          </a:prstGeom>
          <a:solidFill>
            <a:srgbClr val="F3EEFE"/>
          </a:solidFill>
          <a:ln/>
        </p:spPr>
        <p:txBody>
          <a:bodyPr/>
          <a:p/>
        </p:txBody>
      </p:sp>
      <p:sp>
        <p:nvSpPr>
          <p:cNvPr id="25" name="Text 23"/>
          <p:cNvSpPr/>
          <p:nvPr/>
        </p:nvSpPr>
        <p:spPr>
          <a:xfrm>
            <a:off x="822960" y="3922776"/>
            <a:ext cx="548640" cy="548640"/>
          </a:xfrm>
          <a:prstGeom prst="rect">
            <a:avLst/>
          </a:prstGeom>
          <a:noFill/>
          <a:ln/>
        </p:spPr>
        <p:txBody>
          <a:bodyPr wrap="square" lIns="0" tIns="0" rIns="0" bIns="0" rtlCol="0" anchor="ctr"/>
          <a:lstStyle/>
          <a:p>
            <a:pPr algn="ctr" indent="0" marL="0">
              <a:buNone/>
            </a:pPr>
            <a:r>
              <a:rPr lang="en-US" sz="2000" b="1" dirty="0">
                <a:solidFill>
                  <a:srgbClr val="7C3AED"/>
                </a:solidFill>
                <a:latin typeface="Calibri" pitchFamily="34" charset="0"/>
                <a:ea typeface="Calibri" pitchFamily="34" charset="-122"/>
                <a:cs typeface="Calibri" pitchFamily="34" charset="-120"/>
              </a:rPr>
              <a:t>◎</a:t>
            </a:r>
            <a:endParaRPr lang="en-US" sz="2000" dirty="0"/>
          </a:p>
        </p:txBody>
      </p:sp>
      <p:sp>
        <p:nvSpPr>
          <p:cNvPr id="26" name="Text 24"/>
          <p:cNvSpPr/>
          <p:nvPr/>
        </p:nvSpPr>
        <p:spPr>
          <a:xfrm>
            <a:off x="1517904" y="3968496"/>
            <a:ext cx="4297680" cy="365760"/>
          </a:xfrm>
          <a:prstGeom prst="rect">
            <a:avLst/>
          </a:prstGeom>
          <a:noFill/>
          <a:ln/>
        </p:spPr>
        <p:txBody>
          <a:bodyPr wrap="square" lIns="0" tIns="0" rIns="0" bIns="0" rtlCol="0" anchor="ctr"/>
          <a:lstStyle/>
          <a:p>
            <a:pPr indent="0" marL="0">
              <a:buNone/>
            </a:pPr>
            <a:r>
              <a:rPr lang="en-US" sz="1550" b="1" dirty="0">
                <a:solidFill>
                  <a:srgbClr val="7C3AED"/>
                </a:solidFill>
                <a:latin typeface="Calibri" pitchFamily="34" charset="0"/>
                <a:ea typeface="Calibri" pitchFamily="34" charset="-122"/>
                <a:cs typeface="Calibri" pitchFamily="34" charset="-120"/>
              </a:rPr>
              <a:t>Consistency &amp; speed-to-competence</a:t>
            </a:r>
            <a:endParaRPr lang="en-US" sz="1550" dirty="0"/>
          </a:p>
        </p:txBody>
      </p:sp>
      <p:sp>
        <p:nvSpPr>
          <p:cNvPr id="27" name="Text 25"/>
          <p:cNvSpPr/>
          <p:nvPr/>
        </p:nvSpPr>
        <p:spPr>
          <a:xfrm>
            <a:off x="841248" y="457200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One method and one rate library for everyone. Juniors cost the way seniors do.</a:t>
            </a:r>
            <a:endParaRPr lang="en-US" sz="1150" dirty="0"/>
          </a:p>
        </p:txBody>
      </p:sp>
      <p:sp>
        <p:nvSpPr>
          <p:cNvPr id="28" name="Shape 26"/>
          <p:cNvSpPr/>
          <p:nvPr/>
        </p:nvSpPr>
        <p:spPr>
          <a:xfrm>
            <a:off x="6217920" y="3657600"/>
            <a:ext cx="5422392" cy="1783080"/>
          </a:xfrm>
          <a:prstGeom prst="roundRect">
            <a:avLst>
              <a:gd name="adj" fmla="val 35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29" name="Shape 27"/>
          <p:cNvSpPr/>
          <p:nvPr/>
        </p:nvSpPr>
        <p:spPr>
          <a:xfrm>
            <a:off x="6217920" y="3657600"/>
            <a:ext cx="82296" cy="1783080"/>
          </a:xfrm>
          <a:prstGeom prst="rect">
            <a:avLst/>
          </a:prstGeom>
          <a:solidFill>
            <a:srgbClr val="E0900C"/>
          </a:solidFill>
          <a:ln/>
        </p:spPr>
        <p:txBody>
          <a:bodyPr/>
          <a:p/>
        </p:txBody>
      </p:sp>
      <p:sp>
        <p:nvSpPr>
          <p:cNvPr id="30" name="Shape 28"/>
          <p:cNvSpPr/>
          <p:nvPr/>
        </p:nvSpPr>
        <p:spPr>
          <a:xfrm>
            <a:off x="6492240" y="3931920"/>
            <a:ext cx="548640" cy="548640"/>
          </a:xfrm>
          <a:prstGeom prst="ellipse">
            <a:avLst/>
          </a:prstGeom>
          <a:solidFill>
            <a:srgbClr val="FEF6E7"/>
          </a:solidFill>
          <a:ln/>
        </p:spPr>
        <p:txBody>
          <a:bodyPr/>
          <a:p/>
        </p:txBody>
      </p:sp>
      <p:sp>
        <p:nvSpPr>
          <p:cNvPr id="31" name="Text 29"/>
          <p:cNvSpPr/>
          <p:nvPr/>
        </p:nvSpPr>
        <p:spPr>
          <a:xfrm>
            <a:off x="6492240" y="3922776"/>
            <a:ext cx="548640" cy="548640"/>
          </a:xfrm>
          <a:prstGeom prst="rect">
            <a:avLst/>
          </a:prstGeom>
          <a:noFill/>
          <a:ln/>
        </p:spPr>
        <p:txBody>
          <a:bodyPr wrap="square" lIns="0" tIns="0" rIns="0" bIns="0" rtlCol="0" anchor="ctr"/>
          <a:lstStyle/>
          <a:p>
            <a:pPr algn="ctr" indent="0" marL="0">
              <a:buNone/>
            </a:pPr>
            <a:r>
              <a:rPr lang="en-US" sz="2000" b="1" dirty="0">
                <a:solidFill>
                  <a:srgbClr val="E0900C"/>
                </a:solidFill>
                <a:latin typeface="Calibri" pitchFamily="34" charset="0"/>
                <a:ea typeface="Calibri" pitchFamily="34" charset="-122"/>
                <a:cs typeface="Calibri" pitchFamily="34" charset="-120"/>
              </a:rPr>
              <a:t>◆</a:t>
            </a:r>
            <a:endParaRPr lang="en-US" sz="2000" dirty="0"/>
          </a:p>
        </p:txBody>
      </p:sp>
      <p:sp>
        <p:nvSpPr>
          <p:cNvPr id="32" name="Text 30"/>
          <p:cNvSpPr/>
          <p:nvPr/>
        </p:nvSpPr>
        <p:spPr>
          <a:xfrm>
            <a:off x="7187184" y="3968496"/>
            <a:ext cx="4297680" cy="365760"/>
          </a:xfrm>
          <a:prstGeom prst="rect">
            <a:avLst/>
          </a:prstGeom>
          <a:noFill/>
          <a:ln/>
        </p:spPr>
        <p:txBody>
          <a:bodyPr wrap="square" lIns="0" tIns="0" rIns="0" bIns="0" rtlCol="0" anchor="ctr"/>
          <a:lstStyle/>
          <a:p>
            <a:pPr indent="0" marL="0">
              <a:buNone/>
            </a:pPr>
            <a:r>
              <a:rPr lang="en-US" sz="1550" b="1" dirty="0">
                <a:solidFill>
                  <a:srgbClr val="E0900C"/>
                </a:solidFill>
                <a:latin typeface="Calibri" pitchFamily="34" charset="0"/>
                <a:ea typeface="Calibri" pitchFamily="34" charset="-122"/>
                <a:cs typeface="Calibri" pitchFamily="34" charset="-120"/>
              </a:rPr>
              <a:t>A compounding asset</a:t>
            </a:r>
            <a:endParaRPr lang="en-US" sz="1550" dirty="0"/>
          </a:p>
        </p:txBody>
      </p:sp>
      <p:sp>
        <p:nvSpPr>
          <p:cNvPr id="33" name="Text 31"/>
          <p:cNvSpPr/>
          <p:nvPr/>
        </p:nvSpPr>
        <p:spPr>
          <a:xfrm>
            <a:off x="6510528" y="4572000"/>
            <a:ext cx="5029200" cy="777240"/>
          </a:xfrm>
          <a:prstGeom prst="rect">
            <a:avLst/>
          </a:prstGeom>
          <a:noFill/>
          <a:ln/>
        </p:spPr>
        <p:txBody>
          <a:bodyPr wrap="square" lIns="0" tIns="0" rIns="0" bIns="0" rtlCol="0" anchor="t"/>
          <a:lstStyle/>
          <a:p>
            <a:pPr indent="0" marL="0">
              <a:lnSpc>
                <a:spcPct val="116000"/>
              </a:lnSpc>
              <a:buNone/>
            </a:pPr>
            <a:r>
              <a:rPr lang="en-US" sz="1150" dirty="0">
                <a:solidFill>
                  <a:srgbClr val="3E4C63"/>
                </a:solidFill>
                <a:latin typeface="Calibri" pitchFamily="34" charset="0"/>
                <a:ea typeface="Calibri" pitchFamily="34" charset="-122"/>
                <a:cs typeface="Calibri" pitchFamily="34" charset="-120"/>
              </a:rPr>
              <a:t>Logged actuals and saved cases stay on our own machines, and grow with use.</a:t>
            </a:r>
            <a:endParaRPr lang="en-US" sz="1150" dirty="0"/>
          </a:p>
        </p:txBody>
      </p:sp>
      <p:sp>
        <p:nvSpPr>
          <p:cNvPr id="34" name="Shape 32"/>
          <p:cNvSpPr/>
          <p:nvPr/>
        </p:nvSpPr>
        <p:spPr>
          <a:xfrm>
            <a:off x="548640" y="5669280"/>
            <a:ext cx="11091672" cy="457200"/>
          </a:xfrm>
          <a:prstGeom prst="roundRect">
            <a:avLst>
              <a:gd name="adj" fmla="val 14000"/>
            </a:avLst>
          </a:prstGeom>
          <a:solidFill>
            <a:srgbClr val="EAF1FE"/>
          </a:solidFill>
          <a:ln w="12700">
            <a:solidFill>
              <a:srgbClr val="E4EAF2"/>
            </a:solidFill>
            <a:prstDash val="solid"/>
          </a:ln>
        </p:spPr>
        <p:txBody>
          <a:bodyPr/>
          <a:p/>
        </p:txBody>
      </p:sp>
      <p:sp>
        <p:nvSpPr>
          <p:cNvPr id="35" name="Text 33"/>
          <p:cNvSpPr/>
          <p:nvPr/>
        </p:nvSpPr>
        <p:spPr>
          <a:xfrm>
            <a:off x="914400" y="5669280"/>
            <a:ext cx="10332720" cy="457200"/>
          </a:xfrm>
          <a:prstGeom prst="rect">
            <a:avLst/>
          </a:prstGeom>
          <a:noFill/>
          <a:ln/>
        </p:spPr>
        <p:txBody>
          <a:bodyPr wrap="square" lIns="0" tIns="0" rIns="0" bIns="0" rtlCol="0" anchor="ctr"/>
          <a:lstStyle/>
          <a:p>
            <a:pPr indent="0" marL="0">
              <a:buNone/>
            </a:pPr>
            <a:r>
              <a:rPr lang="en-US" sz="1200" b="1" dirty="0">
                <a:solidFill>
                  <a:srgbClr val="0F1E3D"/>
                </a:solidFill>
                <a:latin typeface="Calibri" pitchFamily="34" charset="0"/>
                <a:ea typeface="Calibri" pitchFamily="34" charset="-122"/>
                <a:cs typeface="Calibri" pitchFamily="34" charset="-120"/>
              </a:rPr>
              <a:t>Net:  </a:t>
            </a:r>
            <a:pPr indent="0" marL="0">
              <a:buNone/>
            </a:pPr>
            <a:r>
              <a:rPr lang="en-US" sz="1200" dirty="0">
                <a:solidFill>
                  <a:srgbClr val="3E4C63"/>
                </a:solidFill>
                <a:latin typeface="Calibri" pitchFamily="34" charset="0"/>
                <a:ea typeface="Calibri" pitchFamily="34" charset="-122"/>
                <a:cs typeface="Calibri" pitchFamily="34" charset="-120"/>
              </a:rPr>
              <a:t>faster, consistent, traceable numbers — on our own laptops, with no AI and no internet needed. The savings are for the pilot to measure.</a:t>
            </a:r>
            <a:endParaRPr lang="en-US" sz="1200" dirty="0"/>
          </a:p>
        </p:txBody>
      </p:sp>
      <p:sp>
        <p:nvSpPr>
          <p:cNvPr id="36" name="Shape 34"/>
          <p:cNvSpPr/>
          <p:nvPr/>
        </p:nvSpPr>
        <p:spPr>
          <a:xfrm>
            <a:off x="548640" y="6400800"/>
            <a:ext cx="11094415" cy="12802"/>
          </a:xfrm>
          <a:prstGeom prst="rect">
            <a:avLst/>
          </a:prstGeom>
          <a:solidFill>
            <a:srgbClr val="E4EAF2"/>
          </a:solidFill>
          <a:ln/>
        </p:spPr>
        <p:txBody>
          <a:bodyPr/>
          <a:p/>
        </p:txBody>
      </p:sp>
      <p:sp>
        <p:nvSpPr>
          <p:cNvPr id="37" name="Text 3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38" name="Text 3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29 / 33</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DA5A0"/>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DA5A0"/>
                </a:solidFill>
                <a:latin typeface="Calibri" pitchFamily="34" charset="0"/>
                <a:ea typeface="Calibri" pitchFamily="34" charset="-122"/>
                <a:cs typeface="Calibri" pitchFamily="34" charset="-120"/>
              </a:rPr>
              <a:t>ROADMAP</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Way forward — the implementation blueprint</a:t>
            </a:r>
            <a:endParaRPr lang="en-US" sz="2400" dirty="0"/>
          </a:p>
        </p:txBody>
      </p:sp>
      <p:sp>
        <p:nvSpPr>
          <p:cNvPr id="9" name="Shape 7"/>
          <p:cNvSpPr/>
          <p:nvPr/>
        </p:nvSpPr>
        <p:spPr>
          <a:xfrm>
            <a:off x="548640" y="1371600"/>
            <a:ext cx="1051560" cy="45720"/>
          </a:xfrm>
          <a:prstGeom prst="rect">
            <a:avLst/>
          </a:prstGeom>
          <a:solidFill>
            <a:srgbClr val="0DA5A0"/>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low-risk, staged rollout — prove it on a pilot, scale to the team, then embed it in how we quote and negotiate.</a:t>
            </a:r>
            <a:endParaRPr lang="en-US" sz="1250" dirty="0"/>
          </a:p>
        </p:txBody>
      </p:sp>
      <p:sp>
        <p:nvSpPr>
          <p:cNvPr id="11" name="Shape 9"/>
          <p:cNvSpPr/>
          <p:nvPr/>
        </p:nvSpPr>
        <p:spPr>
          <a:xfrm>
            <a:off x="548640"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2" name="Shape 10"/>
          <p:cNvSpPr/>
          <p:nvPr/>
        </p:nvSpPr>
        <p:spPr>
          <a:xfrm>
            <a:off x="548640" y="2103120"/>
            <a:ext cx="82296" cy="3063240"/>
          </a:xfrm>
          <a:prstGeom prst="rect">
            <a:avLst/>
          </a:prstGeom>
          <a:solidFill>
            <a:srgbClr val="2563EB"/>
          </a:solidFill>
          <a:ln/>
        </p:spPr>
        <p:txBody>
          <a:bodyPr/>
          <a:p/>
        </p:txBody>
      </p:sp>
      <p:sp>
        <p:nvSpPr>
          <p:cNvPr id="13" name="Text 11"/>
          <p:cNvSpPr/>
          <p:nvPr/>
        </p:nvSpPr>
        <p:spPr>
          <a:xfrm>
            <a:off x="804672" y="2322576"/>
            <a:ext cx="3063240" cy="365760"/>
          </a:xfrm>
          <a:prstGeom prst="rect">
            <a:avLst/>
          </a:prstGeom>
          <a:noFill/>
          <a:ln/>
        </p:spPr>
        <p:txBody>
          <a:bodyPr wrap="square" lIns="0" tIns="0" rIns="0" bIns="0" rtlCol="0" anchor="t"/>
          <a:lstStyle/>
          <a:p>
            <a:pPr indent="0" marL="0">
              <a:buNone/>
            </a:pPr>
            <a:r>
              <a:rPr lang="en-US" sz="1450" b="1" dirty="0">
                <a:solidFill>
                  <a:srgbClr val="2563EB"/>
                </a:solidFill>
                <a:latin typeface="Calibri" pitchFamily="34" charset="0"/>
                <a:ea typeface="Calibri" pitchFamily="34" charset="-122"/>
                <a:cs typeface="Calibri" pitchFamily="34" charset="-120"/>
              </a:rPr>
              <a:t>Phase 1 — Pilot</a:t>
            </a:r>
            <a:endParaRPr lang="en-US" sz="1450" dirty="0"/>
          </a:p>
        </p:txBody>
      </p:sp>
      <p:sp>
        <p:nvSpPr>
          <p:cNvPr id="14" name="Shape 12"/>
          <p:cNvSpPr/>
          <p:nvPr/>
        </p:nvSpPr>
        <p:spPr>
          <a:xfrm>
            <a:off x="804672" y="2761488"/>
            <a:ext cx="1463040" cy="310896"/>
          </a:xfrm>
          <a:prstGeom prst="roundRect">
            <a:avLst>
              <a:gd name="adj" fmla="val 47059"/>
            </a:avLst>
          </a:prstGeom>
          <a:solidFill>
            <a:srgbClr val="EAF1FE"/>
          </a:solidFill>
          <a:ln/>
        </p:spPr>
        <p:txBody>
          <a:bodyPr/>
          <a:p/>
        </p:txBody>
      </p:sp>
      <p:sp>
        <p:nvSpPr>
          <p:cNvPr id="15" name="Text 13"/>
          <p:cNvSpPr/>
          <p:nvPr/>
        </p:nvSpPr>
        <p:spPr>
          <a:xfrm>
            <a:off x="804672" y="2761488"/>
            <a:ext cx="1463040" cy="310896"/>
          </a:xfrm>
          <a:prstGeom prst="rect">
            <a:avLst/>
          </a:prstGeom>
          <a:noFill/>
          <a:ln/>
        </p:spPr>
        <p:txBody>
          <a:bodyPr wrap="square" lIns="0" tIns="0" rIns="0" bIns="0" rtlCol="0" anchor="ctr"/>
          <a:lstStyle/>
          <a:p>
            <a:pPr algn="ctr" indent="0" marL="0">
              <a:buNone/>
            </a:pPr>
            <a:r>
              <a:rPr lang="en-US" sz="950" b="1" dirty="0">
                <a:solidFill>
                  <a:srgbClr val="2563EB"/>
                </a:solidFill>
                <a:latin typeface="Calibri" pitchFamily="34" charset="0"/>
                <a:ea typeface="Calibri" pitchFamily="34" charset="-122"/>
                <a:cs typeface="Calibri" pitchFamily="34" charset="-120"/>
              </a:rPr>
              <a:t>Weeks 0–6</a:t>
            </a:r>
            <a:endParaRPr lang="en-US" sz="950" dirty="0"/>
          </a:p>
        </p:txBody>
      </p:sp>
      <p:sp>
        <p:nvSpPr>
          <p:cNvPr id="16" name="Shape 14"/>
          <p:cNvSpPr/>
          <p:nvPr/>
        </p:nvSpPr>
        <p:spPr>
          <a:xfrm>
            <a:off x="822960" y="3291840"/>
            <a:ext cx="256032" cy="256032"/>
          </a:xfrm>
          <a:prstGeom prst="ellipse">
            <a:avLst/>
          </a:prstGeom>
          <a:solidFill>
            <a:srgbClr val="EAF1FE"/>
          </a:solidFill>
          <a:ln/>
        </p:spPr>
        <p:txBody>
          <a:bodyPr/>
          <a:p/>
        </p:txBody>
      </p:sp>
      <p:sp>
        <p:nvSpPr>
          <p:cNvPr id="17" name="Text 15"/>
          <p:cNvSpPr/>
          <p:nvPr/>
        </p:nvSpPr>
        <p:spPr>
          <a:xfrm>
            <a:off x="822960" y="32826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18" name="Text 16"/>
          <p:cNvSpPr/>
          <p:nvPr/>
        </p:nvSpPr>
        <p:spPr>
          <a:xfrm>
            <a:off x="1170432"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Install the laptop package</a:t>
            </a:r>
            <a:endParaRPr lang="en-US" sz="1030" dirty="0"/>
          </a:p>
        </p:txBody>
      </p:sp>
      <p:sp>
        <p:nvSpPr>
          <p:cNvPr id="19" name="Shape 17"/>
          <p:cNvSpPr/>
          <p:nvPr/>
        </p:nvSpPr>
        <p:spPr>
          <a:xfrm>
            <a:off x="822960" y="3749040"/>
            <a:ext cx="256032" cy="256032"/>
          </a:xfrm>
          <a:prstGeom prst="ellipse">
            <a:avLst/>
          </a:prstGeom>
          <a:solidFill>
            <a:srgbClr val="EAF1FE"/>
          </a:solidFill>
          <a:ln/>
        </p:spPr>
        <p:txBody>
          <a:bodyPr/>
          <a:p/>
        </p:txBody>
      </p:sp>
      <p:sp>
        <p:nvSpPr>
          <p:cNvPr id="20" name="Text 18"/>
          <p:cNvSpPr/>
          <p:nvPr/>
        </p:nvSpPr>
        <p:spPr>
          <a:xfrm>
            <a:off x="822960" y="37398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1" name="Text 19"/>
          <p:cNvSpPr/>
          <p:nvPr/>
        </p:nvSpPr>
        <p:spPr>
          <a:xfrm>
            <a:off x="1170432"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Log historic actuals</a:t>
            </a:r>
            <a:endParaRPr lang="en-US" sz="1030" dirty="0"/>
          </a:p>
        </p:txBody>
      </p:sp>
      <p:sp>
        <p:nvSpPr>
          <p:cNvPr id="22" name="Shape 20"/>
          <p:cNvSpPr/>
          <p:nvPr/>
        </p:nvSpPr>
        <p:spPr>
          <a:xfrm>
            <a:off x="822960" y="4206240"/>
            <a:ext cx="256032" cy="256032"/>
          </a:xfrm>
          <a:prstGeom prst="ellipse">
            <a:avLst/>
          </a:prstGeom>
          <a:solidFill>
            <a:srgbClr val="EAF1FE"/>
          </a:solidFill>
          <a:ln/>
        </p:spPr>
        <p:txBody>
          <a:bodyPr/>
          <a:p/>
        </p:txBody>
      </p:sp>
      <p:sp>
        <p:nvSpPr>
          <p:cNvPr id="23" name="Text 21"/>
          <p:cNvSpPr/>
          <p:nvPr/>
        </p:nvSpPr>
        <p:spPr>
          <a:xfrm>
            <a:off x="822960" y="41970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4" name="Text 22"/>
          <p:cNvSpPr/>
          <p:nvPr/>
        </p:nvSpPr>
        <p:spPr>
          <a:xfrm>
            <a:off x="1170432"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Cost 20–30 live parts</a:t>
            </a:r>
            <a:endParaRPr lang="en-US" sz="1030" dirty="0"/>
          </a:p>
        </p:txBody>
      </p:sp>
      <p:sp>
        <p:nvSpPr>
          <p:cNvPr id="25" name="Shape 23"/>
          <p:cNvSpPr/>
          <p:nvPr/>
        </p:nvSpPr>
        <p:spPr>
          <a:xfrm>
            <a:off x="822960" y="4663440"/>
            <a:ext cx="256032" cy="256032"/>
          </a:xfrm>
          <a:prstGeom prst="ellipse">
            <a:avLst/>
          </a:prstGeom>
          <a:solidFill>
            <a:srgbClr val="EAF1FE"/>
          </a:solidFill>
          <a:ln/>
        </p:spPr>
        <p:txBody>
          <a:bodyPr/>
          <a:p/>
        </p:txBody>
      </p:sp>
      <p:sp>
        <p:nvSpPr>
          <p:cNvPr id="26" name="Text 24"/>
          <p:cNvSpPr/>
          <p:nvPr/>
        </p:nvSpPr>
        <p:spPr>
          <a:xfrm>
            <a:off x="822960" y="4654296"/>
            <a:ext cx="256032" cy="256032"/>
          </a:xfrm>
          <a:prstGeom prst="rect">
            <a:avLst/>
          </a:prstGeom>
          <a:noFill/>
          <a:ln/>
        </p:spPr>
        <p:txBody>
          <a:bodyPr wrap="square" lIns="0" tIns="0" rIns="0" bIns="0" rtlCol="0" anchor="ctr"/>
          <a:lstStyle/>
          <a:p>
            <a:pPr algn="ctr" indent="0" marL="0">
              <a:buNone/>
            </a:pPr>
            <a:r>
              <a:rPr lang="en-US" sz="900" b="1" dirty="0">
                <a:solidFill>
                  <a:srgbClr val="2563EB"/>
                </a:solidFill>
                <a:latin typeface="Calibri" pitchFamily="34" charset="0"/>
                <a:ea typeface="Calibri" pitchFamily="34" charset="-122"/>
                <a:cs typeface="Calibri" pitchFamily="34" charset="-120"/>
              </a:rPr>
              <a:t>✓</a:t>
            </a:r>
            <a:endParaRPr lang="en-US" sz="900" dirty="0"/>
          </a:p>
        </p:txBody>
      </p:sp>
      <p:sp>
        <p:nvSpPr>
          <p:cNvPr id="27" name="Text 25"/>
          <p:cNvSpPr/>
          <p:nvPr/>
        </p:nvSpPr>
        <p:spPr>
          <a:xfrm>
            <a:off x="1170432"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Baseline accuracy vs actuals</a:t>
            </a:r>
            <a:endParaRPr lang="en-US" sz="1030" dirty="0"/>
          </a:p>
        </p:txBody>
      </p:sp>
      <p:sp>
        <p:nvSpPr>
          <p:cNvPr id="28" name="Text 26"/>
          <p:cNvSpPr/>
          <p:nvPr/>
        </p:nvSpPr>
        <p:spPr>
          <a:xfrm>
            <a:off x="4078224" y="3383280"/>
            <a:ext cx="256032"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4325112"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30" name="Shape 28"/>
          <p:cNvSpPr/>
          <p:nvPr/>
        </p:nvSpPr>
        <p:spPr>
          <a:xfrm>
            <a:off x="4325112" y="2103120"/>
            <a:ext cx="82296" cy="3063240"/>
          </a:xfrm>
          <a:prstGeom prst="rect">
            <a:avLst/>
          </a:prstGeom>
          <a:solidFill>
            <a:srgbClr val="7C3AED"/>
          </a:solidFill>
          <a:ln/>
        </p:spPr>
        <p:txBody>
          <a:bodyPr/>
          <a:p/>
        </p:txBody>
      </p:sp>
      <p:sp>
        <p:nvSpPr>
          <p:cNvPr id="31" name="Text 29"/>
          <p:cNvSpPr/>
          <p:nvPr/>
        </p:nvSpPr>
        <p:spPr>
          <a:xfrm>
            <a:off x="4581144" y="2322576"/>
            <a:ext cx="3063240" cy="365760"/>
          </a:xfrm>
          <a:prstGeom prst="rect">
            <a:avLst/>
          </a:prstGeom>
          <a:noFill/>
          <a:ln/>
        </p:spPr>
        <p:txBody>
          <a:bodyPr wrap="square" lIns="0" tIns="0" rIns="0" bIns="0" rtlCol="0" anchor="t"/>
          <a:lstStyle/>
          <a:p>
            <a:pPr indent="0" marL="0">
              <a:buNone/>
            </a:pPr>
            <a:r>
              <a:rPr lang="en-US" sz="1450" b="1" dirty="0">
                <a:solidFill>
                  <a:srgbClr val="7C3AED"/>
                </a:solidFill>
                <a:latin typeface="Calibri" pitchFamily="34" charset="0"/>
                <a:ea typeface="Calibri" pitchFamily="34" charset="-122"/>
                <a:cs typeface="Calibri" pitchFamily="34" charset="-120"/>
              </a:rPr>
              <a:t>Phase 2 — Scale</a:t>
            </a:r>
            <a:endParaRPr lang="en-US" sz="1450" dirty="0"/>
          </a:p>
        </p:txBody>
      </p:sp>
      <p:sp>
        <p:nvSpPr>
          <p:cNvPr id="32" name="Shape 30"/>
          <p:cNvSpPr/>
          <p:nvPr/>
        </p:nvSpPr>
        <p:spPr>
          <a:xfrm>
            <a:off x="4581144" y="2761488"/>
            <a:ext cx="1463040" cy="310896"/>
          </a:xfrm>
          <a:prstGeom prst="roundRect">
            <a:avLst>
              <a:gd name="adj" fmla="val 47059"/>
            </a:avLst>
          </a:prstGeom>
          <a:solidFill>
            <a:srgbClr val="F3EEFE"/>
          </a:solidFill>
          <a:ln/>
        </p:spPr>
        <p:txBody>
          <a:bodyPr/>
          <a:p/>
        </p:txBody>
      </p:sp>
      <p:sp>
        <p:nvSpPr>
          <p:cNvPr id="33" name="Text 31"/>
          <p:cNvSpPr/>
          <p:nvPr/>
        </p:nvSpPr>
        <p:spPr>
          <a:xfrm>
            <a:off x="4581144" y="2761488"/>
            <a:ext cx="1463040" cy="310896"/>
          </a:xfrm>
          <a:prstGeom prst="rect">
            <a:avLst/>
          </a:prstGeom>
          <a:noFill/>
          <a:ln/>
        </p:spPr>
        <p:txBody>
          <a:bodyPr wrap="square" lIns="0" tIns="0" rIns="0" bIns="0" rtlCol="0" anchor="ctr"/>
          <a:lstStyle/>
          <a:p>
            <a:pPr algn="ctr" indent="0" marL="0">
              <a:buNone/>
            </a:pPr>
            <a:r>
              <a:rPr lang="en-US" sz="950" b="1" dirty="0">
                <a:solidFill>
                  <a:srgbClr val="7C3AED"/>
                </a:solidFill>
                <a:latin typeface="Calibri" pitchFamily="34" charset="0"/>
                <a:ea typeface="Calibri" pitchFamily="34" charset="-122"/>
                <a:cs typeface="Calibri" pitchFamily="34" charset="-120"/>
              </a:rPr>
              <a:t>Weeks 6–16</a:t>
            </a:r>
            <a:endParaRPr lang="en-US" sz="950" dirty="0"/>
          </a:p>
        </p:txBody>
      </p:sp>
      <p:sp>
        <p:nvSpPr>
          <p:cNvPr id="34" name="Shape 32"/>
          <p:cNvSpPr/>
          <p:nvPr/>
        </p:nvSpPr>
        <p:spPr>
          <a:xfrm>
            <a:off x="4599432" y="3291840"/>
            <a:ext cx="256032" cy="256032"/>
          </a:xfrm>
          <a:prstGeom prst="ellipse">
            <a:avLst/>
          </a:prstGeom>
          <a:solidFill>
            <a:srgbClr val="F3EEFE"/>
          </a:solidFill>
          <a:ln/>
        </p:spPr>
        <p:txBody>
          <a:bodyPr/>
          <a:p/>
        </p:txBody>
      </p:sp>
      <p:sp>
        <p:nvSpPr>
          <p:cNvPr id="35" name="Text 33"/>
          <p:cNvSpPr/>
          <p:nvPr/>
        </p:nvSpPr>
        <p:spPr>
          <a:xfrm>
            <a:off x="4599432" y="32826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36" name="Text 34"/>
          <p:cNvSpPr/>
          <p:nvPr/>
        </p:nvSpPr>
        <p:spPr>
          <a:xfrm>
            <a:off x="4946904"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Roll out to costing &amp; sourcing</a:t>
            </a:r>
            <a:endParaRPr lang="en-US" sz="1030" dirty="0"/>
          </a:p>
        </p:txBody>
      </p:sp>
      <p:sp>
        <p:nvSpPr>
          <p:cNvPr id="37" name="Shape 35"/>
          <p:cNvSpPr/>
          <p:nvPr/>
        </p:nvSpPr>
        <p:spPr>
          <a:xfrm>
            <a:off x="4599432" y="3749040"/>
            <a:ext cx="256032" cy="256032"/>
          </a:xfrm>
          <a:prstGeom prst="ellipse">
            <a:avLst/>
          </a:prstGeom>
          <a:solidFill>
            <a:srgbClr val="F3EEFE"/>
          </a:solidFill>
          <a:ln/>
        </p:spPr>
        <p:txBody>
          <a:bodyPr/>
          <a:p/>
        </p:txBody>
      </p:sp>
      <p:sp>
        <p:nvSpPr>
          <p:cNvPr id="38" name="Text 36"/>
          <p:cNvSpPr/>
          <p:nvPr/>
        </p:nvSpPr>
        <p:spPr>
          <a:xfrm>
            <a:off x="4599432" y="37398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39" name="Text 37"/>
          <p:cNvSpPr/>
          <p:nvPr/>
        </p:nvSpPr>
        <p:spPr>
          <a:xfrm>
            <a:off x="4946904"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"Log Actual £" as routine</a:t>
            </a:r>
            <a:endParaRPr lang="en-US" sz="1030" dirty="0"/>
          </a:p>
        </p:txBody>
      </p:sp>
      <p:sp>
        <p:nvSpPr>
          <p:cNvPr id="40" name="Shape 38"/>
          <p:cNvSpPr/>
          <p:nvPr/>
        </p:nvSpPr>
        <p:spPr>
          <a:xfrm>
            <a:off x="4599432" y="4206240"/>
            <a:ext cx="256032" cy="256032"/>
          </a:xfrm>
          <a:prstGeom prst="ellipse">
            <a:avLst/>
          </a:prstGeom>
          <a:solidFill>
            <a:srgbClr val="F3EEFE"/>
          </a:solidFill>
          <a:ln/>
        </p:spPr>
        <p:txBody>
          <a:bodyPr/>
          <a:p/>
        </p:txBody>
      </p:sp>
      <p:sp>
        <p:nvSpPr>
          <p:cNvPr id="41" name="Text 39"/>
          <p:cNvSpPr/>
          <p:nvPr/>
        </p:nvSpPr>
        <p:spPr>
          <a:xfrm>
            <a:off x="4599432" y="41970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42" name="Text 40"/>
          <p:cNvSpPr/>
          <p:nvPr/>
        </p:nvSpPr>
        <p:spPr>
          <a:xfrm>
            <a:off x="4946904"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Wire into RFQ workflow</a:t>
            </a:r>
            <a:endParaRPr lang="en-US" sz="1030" dirty="0"/>
          </a:p>
        </p:txBody>
      </p:sp>
      <p:sp>
        <p:nvSpPr>
          <p:cNvPr id="43" name="Shape 41"/>
          <p:cNvSpPr/>
          <p:nvPr/>
        </p:nvSpPr>
        <p:spPr>
          <a:xfrm>
            <a:off x="4599432" y="4663440"/>
            <a:ext cx="256032" cy="256032"/>
          </a:xfrm>
          <a:prstGeom prst="ellipse">
            <a:avLst/>
          </a:prstGeom>
          <a:solidFill>
            <a:srgbClr val="F3EEFE"/>
          </a:solidFill>
          <a:ln/>
        </p:spPr>
        <p:txBody>
          <a:bodyPr/>
          <a:p/>
        </p:txBody>
      </p:sp>
      <p:sp>
        <p:nvSpPr>
          <p:cNvPr id="44" name="Text 42"/>
          <p:cNvSpPr/>
          <p:nvPr/>
        </p:nvSpPr>
        <p:spPr>
          <a:xfrm>
            <a:off x="4599432" y="4654296"/>
            <a:ext cx="256032" cy="256032"/>
          </a:xfrm>
          <a:prstGeom prst="rect">
            <a:avLst/>
          </a:prstGeom>
          <a:noFill/>
          <a:ln/>
        </p:spPr>
        <p:txBody>
          <a:bodyPr wrap="square" lIns="0" tIns="0" rIns="0" bIns="0" rtlCol="0" anchor="ctr"/>
          <a:lstStyle/>
          <a:p>
            <a:pPr algn="ctr" indent="0" marL="0">
              <a:buNone/>
            </a:pPr>
            <a:r>
              <a:rPr lang="en-US" sz="900" b="1" dirty="0">
                <a:solidFill>
                  <a:srgbClr val="7C3AED"/>
                </a:solidFill>
                <a:latin typeface="Calibri" pitchFamily="34" charset="0"/>
                <a:ea typeface="Calibri" pitchFamily="34" charset="-122"/>
                <a:cs typeface="Calibri" pitchFamily="34" charset="-120"/>
              </a:rPr>
              <a:t>✓</a:t>
            </a:r>
            <a:endParaRPr lang="en-US" sz="900" dirty="0"/>
          </a:p>
        </p:txBody>
      </p:sp>
      <p:sp>
        <p:nvSpPr>
          <p:cNvPr id="45" name="Text 43"/>
          <p:cNvSpPr/>
          <p:nvPr/>
        </p:nvSpPr>
        <p:spPr>
          <a:xfrm>
            <a:off x="4946904"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Monthly drift-monitor review</a:t>
            </a:r>
            <a:endParaRPr lang="en-US" sz="1030" dirty="0"/>
          </a:p>
        </p:txBody>
      </p:sp>
      <p:sp>
        <p:nvSpPr>
          <p:cNvPr id="46" name="Text 44"/>
          <p:cNvSpPr/>
          <p:nvPr/>
        </p:nvSpPr>
        <p:spPr>
          <a:xfrm>
            <a:off x="7854696" y="3383280"/>
            <a:ext cx="256032" cy="548640"/>
          </a:xfrm>
          <a:prstGeom prst="rect">
            <a:avLst/>
          </a:prstGeom>
          <a:noFill/>
          <a:ln/>
        </p:spPr>
        <p:txBody>
          <a:bodyPr wrap="square" lIns="0" tIns="0" rIns="0" bIns="0" rtlCol="0" anchor="ctr"/>
          <a:lstStyle/>
          <a:p>
            <a:pPr algn="ctr" indent="0" marL="0">
              <a:buNone/>
            </a:pPr>
            <a:r>
              <a:rPr lang="en-US" sz="2000" b="1" dirty="0">
                <a:solidFill>
                  <a:srgbClr val="8A97A8"/>
                </a:solidFill>
                <a:latin typeface="Calibri" pitchFamily="34" charset="0"/>
                <a:ea typeface="Calibri" pitchFamily="34" charset="-122"/>
                <a:cs typeface="Calibri" pitchFamily="34" charset="-120"/>
              </a:rPr>
              <a:t>→</a:t>
            </a:r>
            <a:endParaRPr lang="en-US" sz="2000" dirty="0"/>
          </a:p>
        </p:txBody>
      </p:sp>
      <p:sp>
        <p:nvSpPr>
          <p:cNvPr id="47" name="Shape 45"/>
          <p:cNvSpPr/>
          <p:nvPr/>
        </p:nvSpPr>
        <p:spPr>
          <a:xfrm>
            <a:off x="8101584" y="2103120"/>
            <a:ext cx="3520440" cy="3063240"/>
          </a:xfrm>
          <a:prstGeom prst="roundRect">
            <a:avLst>
              <a:gd name="adj" fmla="val 209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48" name="Shape 46"/>
          <p:cNvSpPr/>
          <p:nvPr/>
        </p:nvSpPr>
        <p:spPr>
          <a:xfrm>
            <a:off x="8101584" y="2103120"/>
            <a:ext cx="82296" cy="3063240"/>
          </a:xfrm>
          <a:prstGeom prst="rect">
            <a:avLst/>
          </a:prstGeom>
          <a:solidFill>
            <a:srgbClr val="0EA472"/>
          </a:solidFill>
          <a:ln/>
        </p:spPr>
        <p:txBody>
          <a:bodyPr/>
          <a:p/>
        </p:txBody>
      </p:sp>
      <p:sp>
        <p:nvSpPr>
          <p:cNvPr id="49" name="Text 47"/>
          <p:cNvSpPr/>
          <p:nvPr/>
        </p:nvSpPr>
        <p:spPr>
          <a:xfrm>
            <a:off x="8357616" y="2322576"/>
            <a:ext cx="3063240" cy="365760"/>
          </a:xfrm>
          <a:prstGeom prst="rect">
            <a:avLst/>
          </a:prstGeom>
          <a:noFill/>
          <a:ln/>
        </p:spPr>
        <p:txBody>
          <a:bodyPr wrap="square" lIns="0" tIns="0" rIns="0" bIns="0" rtlCol="0" anchor="t"/>
          <a:lstStyle/>
          <a:p>
            <a:pPr indent="0" marL="0">
              <a:buNone/>
            </a:pPr>
            <a:r>
              <a:rPr lang="en-US" sz="1450" b="1" dirty="0">
                <a:solidFill>
                  <a:srgbClr val="0EA472"/>
                </a:solidFill>
                <a:latin typeface="Calibri" pitchFamily="34" charset="0"/>
                <a:ea typeface="Calibri" pitchFamily="34" charset="-122"/>
                <a:cs typeface="Calibri" pitchFamily="34" charset="-120"/>
              </a:rPr>
              <a:t>Phase 3 — Embed</a:t>
            </a:r>
            <a:endParaRPr lang="en-US" sz="1450" dirty="0"/>
          </a:p>
        </p:txBody>
      </p:sp>
      <p:sp>
        <p:nvSpPr>
          <p:cNvPr id="50" name="Shape 48"/>
          <p:cNvSpPr/>
          <p:nvPr/>
        </p:nvSpPr>
        <p:spPr>
          <a:xfrm>
            <a:off x="8357616" y="2761488"/>
            <a:ext cx="1463040" cy="310896"/>
          </a:xfrm>
          <a:prstGeom prst="roundRect">
            <a:avLst>
              <a:gd name="adj" fmla="val 47059"/>
            </a:avLst>
          </a:prstGeom>
          <a:solidFill>
            <a:srgbClr val="E7F7F0"/>
          </a:solidFill>
          <a:ln/>
        </p:spPr>
        <p:txBody>
          <a:bodyPr/>
          <a:p/>
        </p:txBody>
      </p:sp>
      <p:sp>
        <p:nvSpPr>
          <p:cNvPr id="51" name="Text 49"/>
          <p:cNvSpPr/>
          <p:nvPr/>
        </p:nvSpPr>
        <p:spPr>
          <a:xfrm>
            <a:off x="8357616" y="2761488"/>
            <a:ext cx="1463040" cy="310896"/>
          </a:xfrm>
          <a:prstGeom prst="rect">
            <a:avLst/>
          </a:prstGeom>
          <a:noFill/>
          <a:ln/>
        </p:spPr>
        <p:txBody>
          <a:bodyPr wrap="square" lIns="0" tIns="0" rIns="0" bIns="0" rtlCol="0" anchor="ctr"/>
          <a:lstStyle/>
          <a:p>
            <a:pPr algn="ctr" indent="0" marL="0">
              <a:buNone/>
            </a:pPr>
            <a:r>
              <a:rPr lang="en-US" sz="950" b="1" dirty="0">
                <a:solidFill>
                  <a:srgbClr val="0EA472"/>
                </a:solidFill>
                <a:latin typeface="Calibri" pitchFamily="34" charset="0"/>
                <a:ea typeface="Calibri" pitchFamily="34" charset="-122"/>
                <a:cs typeface="Calibri" pitchFamily="34" charset="-120"/>
              </a:rPr>
              <a:t>Quarter 2+</a:t>
            </a:r>
            <a:endParaRPr lang="en-US" sz="950" dirty="0"/>
          </a:p>
        </p:txBody>
      </p:sp>
      <p:sp>
        <p:nvSpPr>
          <p:cNvPr id="52" name="Shape 50"/>
          <p:cNvSpPr/>
          <p:nvPr/>
        </p:nvSpPr>
        <p:spPr>
          <a:xfrm>
            <a:off x="8375904" y="3291840"/>
            <a:ext cx="256032" cy="256032"/>
          </a:xfrm>
          <a:prstGeom prst="ellipse">
            <a:avLst/>
          </a:prstGeom>
          <a:solidFill>
            <a:srgbClr val="E7F7F0"/>
          </a:solidFill>
          <a:ln/>
        </p:spPr>
        <p:txBody>
          <a:bodyPr/>
          <a:p/>
        </p:txBody>
      </p:sp>
      <p:sp>
        <p:nvSpPr>
          <p:cNvPr id="53" name="Text 51"/>
          <p:cNvSpPr/>
          <p:nvPr/>
        </p:nvSpPr>
        <p:spPr>
          <a:xfrm>
            <a:off x="8375904" y="32826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54" name="Text 52"/>
          <p:cNvSpPr/>
          <p:nvPr/>
        </p:nvSpPr>
        <p:spPr>
          <a:xfrm>
            <a:off x="8723376" y="32735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Negotiation packs as standard</a:t>
            </a:r>
            <a:endParaRPr lang="en-US" sz="1030" dirty="0"/>
          </a:p>
        </p:txBody>
      </p:sp>
      <p:sp>
        <p:nvSpPr>
          <p:cNvPr id="55" name="Shape 53"/>
          <p:cNvSpPr/>
          <p:nvPr/>
        </p:nvSpPr>
        <p:spPr>
          <a:xfrm>
            <a:off x="8375904" y="3749040"/>
            <a:ext cx="256032" cy="256032"/>
          </a:xfrm>
          <a:prstGeom prst="ellipse">
            <a:avLst/>
          </a:prstGeom>
          <a:solidFill>
            <a:srgbClr val="E7F7F0"/>
          </a:solidFill>
          <a:ln/>
        </p:spPr>
        <p:txBody>
          <a:bodyPr/>
          <a:p/>
        </p:txBody>
      </p:sp>
      <p:sp>
        <p:nvSpPr>
          <p:cNvPr id="56" name="Text 54"/>
          <p:cNvSpPr/>
          <p:nvPr/>
        </p:nvSpPr>
        <p:spPr>
          <a:xfrm>
            <a:off x="8375904" y="37398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57" name="Text 55"/>
          <p:cNvSpPr/>
          <p:nvPr/>
        </p:nvSpPr>
        <p:spPr>
          <a:xfrm>
            <a:off x="8723376" y="37307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Portfolio what-if &amp; risk</a:t>
            </a:r>
            <a:endParaRPr lang="en-US" sz="1030" dirty="0"/>
          </a:p>
        </p:txBody>
      </p:sp>
      <p:sp>
        <p:nvSpPr>
          <p:cNvPr id="58" name="Shape 56"/>
          <p:cNvSpPr/>
          <p:nvPr/>
        </p:nvSpPr>
        <p:spPr>
          <a:xfrm>
            <a:off x="8375904" y="4206240"/>
            <a:ext cx="256032" cy="256032"/>
          </a:xfrm>
          <a:prstGeom prst="ellipse">
            <a:avLst/>
          </a:prstGeom>
          <a:solidFill>
            <a:srgbClr val="E7F7F0"/>
          </a:solidFill>
          <a:ln/>
        </p:spPr>
        <p:txBody>
          <a:bodyPr/>
          <a:p/>
        </p:txBody>
      </p:sp>
      <p:sp>
        <p:nvSpPr>
          <p:cNvPr id="59" name="Text 57"/>
          <p:cNvSpPr/>
          <p:nvPr/>
        </p:nvSpPr>
        <p:spPr>
          <a:xfrm>
            <a:off x="8375904" y="41970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60" name="Text 58"/>
          <p:cNvSpPr/>
          <p:nvPr/>
        </p:nvSpPr>
        <p:spPr>
          <a:xfrm>
            <a:off x="8723376" y="41879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Real market price feeds</a:t>
            </a:r>
            <a:endParaRPr lang="en-US" sz="1030" dirty="0"/>
          </a:p>
        </p:txBody>
      </p:sp>
      <p:sp>
        <p:nvSpPr>
          <p:cNvPr id="61" name="Shape 59"/>
          <p:cNvSpPr/>
          <p:nvPr/>
        </p:nvSpPr>
        <p:spPr>
          <a:xfrm>
            <a:off x="8375904" y="4663440"/>
            <a:ext cx="256032" cy="256032"/>
          </a:xfrm>
          <a:prstGeom prst="ellipse">
            <a:avLst/>
          </a:prstGeom>
          <a:solidFill>
            <a:srgbClr val="E7F7F0"/>
          </a:solidFill>
          <a:ln/>
        </p:spPr>
        <p:txBody>
          <a:bodyPr/>
          <a:p/>
        </p:txBody>
      </p:sp>
      <p:sp>
        <p:nvSpPr>
          <p:cNvPr id="62" name="Text 60"/>
          <p:cNvSpPr/>
          <p:nvPr/>
        </p:nvSpPr>
        <p:spPr>
          <a:xfrm>
            <a:off x="8375904" y="4654296"/>
            <a:ext cx="256032" cy="256032"/>
          </a:xfrm>
          <a:prstGeom prst="rect">
            <a:avLst/>
          </a:prstGeom>
          <a:noFill/>
          <a:ln/>
        </p:spPr>
        <p:txBody>
          <a:bodyPr wrap="square" lIns="0" tIns="0" rIns="0" bIns="0" rtlCol="0" anchor="ctr"/>
          <a:lstStyle/>
          <a:p>
            <a:pPr algn="ctr" indent="0" marL="0">
              <a:buNone/>
            </a:pPr>
            <a:r>
              <a:rPr lang="en-US" sz="900" b="1" dirty="0">
                <a:solidFill>
                  <a:srgbClr val="0EA472"/>
                </a:solidFill>
                <a:latin typeface="Calibri" pitchFamily="34" charset="0"/>
                <a:ea typeface="Calibri" pitchFamily="34" charset="-122"/>
                <a:cs typeface="Calibri" pitchFamily="34" charset="-120"/>
              </a:rPr>
              <a:t>✓</a:t>
            </a:r>
            <a:endParaRPr lang="en-US" sz="900" dirty="0"/>
          </a:p>
        </p:txBody>
      </p:sp>
      <p:sp>
        <p:nvSpPr>
          <p:cNvPr id="63" name="Text 61"/>
          <p:cNvSpPr/>
          <p:nvPr/>
        </p:nvSpPr>
        <p:spPr>
          <a:xfrm>
            <a:off x="8723376" y="4645152"/>
            <a:ext cx="2651760" cy="411480"/>
          </a:xfrm>
          <a:prstGeom prst="rect">
            <a:avLst/>
          </a:prstGeom>
          <a:noFill/>
          <a:ln/>
        </p:spPr>
        <p:txBody>
          <a:bodyPr wrap="square" lIns="0" tIns="0" rIns="0" bIns="0" rtlCol="0" anchor="ctr"/>
          <a:lstStyle/>
          <a:p>
            <a:pPr indent="0" marL="0">
              <a:buNone/>
            </a:pPr>
            <a:r>
              <a:rPr lang="en-US" sz="1030" dirty="0">
                <a:solidFill>
                  <a:srgbClr val="3E4C63"/>
                </a:solidFill>
                <a:latin typeface="Calibri" pitchFamily="34" charset="0"/>
                <a:ea typeface="Calibri" pitchFamily="34" charset="-122"/>
                <a:cs typeface="Calibri" pitchFamily="34" charset="-120"/>
              </a:rPr>
              <a:t>KPI: £ saved &amp; cycle-time</a:t>
            </a:r>
            <a:endParaRPr lang="en-US" sz="1030" dirty="0"/>
          </a:p>
        </p:txBody>
      </p:sp>
      <p:sp>
        <p:nvSpPr>
          <p:cNvPr id="64" name="Shape 62"/>
          <p:cNvSpPr/>
          <p:nvPr/>
        </p:nvSpPr>
        <p:spPr>
          <a:xfrm>
            <a:off x="548640" y="5349240"/>
            <a:ext cx="11091672" cy="548640"/>
          </a:xfrm>
          <a:prstGeom prst="roundRect">
            <a:avLst>
              <a:gd name="adj" fmla="val 11667"/>
            </a:avLst>
          </a:prstGeom>
          <a:solidFill>
            <a:srgbClr val="E7F7F0"/>
          </a:solidFill>
          <a:ln w="12700">
            <a:solidFill>
              <a:srgbClr val="E4EAF2"/>
            </a:solidFill>
            <a:prstDash val="solid"/>
          </a:ln>
        </p:spPr>
        <p:txBody>
          <a:bodyPr/>
          <a:p/>
        </p:txBody>
      </p:sp>
      <p:sp>
        <p:nvSpPr>
          <p:cNvPr id="65" name="Text 63"/>
          <p:cNvSpPr/>
          <p:nvPr/>
        </p:nvSpPr>
        <p:spPr>
          <a:xfrm>
            <a:off x="914400" y="5349240"/>
            <a:ext cx="10332720" cy="548640"/>
          </a:xfrm>
          <a:prstGeom prst="rect">
            <a:avLst/>
          </a:prstGeom>
          <a:noFill/>
          <a:ln/>
        </p:spPr>
        <p:txBody>
          <a:bodyPr wrap="square" lIns="0" tIns="0" rIns="0" bIns="0" rtlCol="0" anchor="ctr"/>
          <a:lstStyle/>
          <a:p>
            <a:pPr indent="0" marL="0">
              <a:buNone/>
            </a:pPr>
            <a:r>
              <a:rPr lang="en-US" sz="1150" b="1" dirty="0">
                <a:solidFill>
                  <a:srgbClr val="0F1E3D"/>
                </a:solidFill>
                <a:latin typeface="Calibri" pitchFamily="34" charset="0"/>
                <a:ea typeface="Calibri" pitchFamily="34" charset="-122"/>
                <a:cs typeface="Calibri" pitchFamily="34" charset="-120"/>
              </a:rPr>
              <a:t>The one dependency, stated honestly:  </a:t>
            </a:r>
            <a:pPr indent="0" marL="0">
              <a:buNone/>
            </a:pPr>
            <a:r>
              <a:rPr lang="en-US" sz="1150" dirty="0">
                <a:solidFill>
                  <a:srgbClr val="3E4C63"/>
                </a:solidFill>
                <a:latin typeface="Calibri" pitchFamily="34" charset="0"/>
                <a:ea typeface="Calibri" pitchFamily="34" charset="-122"/>
                <a:cs typeface="Calibri" pitchFamily="34" charset="-120"/>
              </a:rPr>
              <a:t>the learning starts empty and grows with use. Logging our historic actuals in Phase 1 gives it a real start — and the first true accuracy measure.</a:t>
            </a:r>
            <a:endParaRPr lang="en-US" sz="1150" dirty="0"/>
          </a:p>
        </p:txBody>
      </p:sp>
      <p:sp>
        <p:nvSpPr>
          <p:cNvPr id="66" name="Shape 64"/>
          <p:cNvSpPr/>
          <p:nvPr/>
        </p:nvSpPr>
        <p:spPr>
          <a:xfrm>
            <a:off x="548640" y="6400800"/>
            <a:ext cx="11094415" cy="12802"/>
          </a:xfrm>
          <a:prstGeom prst="rect">
            <a:avLst/>
          </a:prstGeom>
          <a:solidFill>
            <a:srgbClr val="E4EAF2"/>
          </a:solidFill>
          <a:ln/>
        </p:spPr>
        <p:txBody>
          <a:bodyPr/>
          <a:p/>
        </p:txBody>
      </p:sp>
      <p:sp>
        <p:nvSpPr>
          <p:cNvPr id="67" name="Text 65"/>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68" name="Text 66"/>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30 / 33</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0EA472"/>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0EA472"/>
                </a:solidFill>
                <a:latin typeface="Calibri" pitchFamily="34" charset="0"/>
                <a:ea typeface="Calibri" pitchFamily="34" charset="-122"/>
                <a:cs typeface="Calibri" pitchFamily="34" charset="-120"/>
              </a:rPr>
              <a:t>GOVERNANCE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Data security &amp; deployment</a:t>
            </a:r>
            <a:endParaRPr lang="en-US" sz="2400" dirty="0"/>
          </a:p>
        </p:txBody>
      </p:sp>
      <p:sp>
        <p:nvSpPr>
          <p:cNvPr id="9" name="Shape 7"/>
          <p:cNvSpPr/>
          <p:nvPr/>
        </p:nvSpPr>
        <p:spPr>
          <a:xfrm>
            <a:off x="548640" y="1371600"/>
            <a:ext cx="1051560" cy="45720"/>
          </a:xfrm>
          <a:prstGeom prst="rect">
            <a:avLst/>
          </a:prstGeom>
          <a:solidFill>
            <a:srgbClr val="0EA472"/>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Our data, our machines, our IP — and no AI in the JLR build.</a:t>
            </a:r>
            <a:endParaRPr lang="en-US" sz="1250" dirty="0"/>
          </a:p>
        </p:txBody>
      </p:sp>
      <p:sp>
        <p:nvSpPr>
          <p:cNvPr id="11" name="Shape 9"/>
          <p:cNvSpPr/>
          <p:nvPr/>
        </p:nvSpPr>
        <p:spPr>
          <a:xfrm>
            <a:off x="548640"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2" name="Shape 10"/>
          <p:cNvSpPr/>
          <p:nvPr/>
        </p:nvSpPr>
        <p:spPr>
          <a:xfrm>
            <a:off x="548640" y="1874520"/>
            <a:ext cx="82296" cy="1600200"/>
          </a:xfrm>
          <a:prstGeom prst="rect">
            <a:avLst/>
          </a:prstGeom>
          <a:solidFill>
            <a:srgbClr val="0EA472"/>
          </a:solidFill>
          <a:ln/>
        </p:spPr>
        <p:txBody>
          <a:bodyPr/>
          <a:p/>
        </p:txBody>
      </p:sp>
      <p:sp>
        <p:nvSpPr>
          <p:cNvPr id="13" name="Shape 11"/>
          <p:cNvSpPr/>
          <p:nvPr/>
        </p:nvSpPr>
        <p:spPr>
          <a:xfrm>
            <a:off x="786384" y="2075688"/>
            <a:ext cx="457200" cy="457200"/>
          </a:xfrm>
          <a:prstGeom prst="ellipse">
            <a:avLst/>
          </a:prstGeom>
          <a:solidFill>
            <a:srgbClr val="E7F7F0"/>
          </a:solidFill>
          <a:ln/>
        </p:spPr>
        <p:txBody>
          <a:bodyPr/>
          <a:p/>
        </p:txBody>
      </p:sp>
      <p:sp>
        <p:nvSpPr>
          <p:cNvPr id="14" name="Text 12"/>
          <p:cNvSpPr/>
          <p:nvPr/>
        </p:nvSpPr>
        <p:spPr>
          <a:xfrm>
            <a:off x="786384" y="2066544"/>
            <a:ext cx="457200" cy="457200"/>
          </a:xfrm>
          <a:prstGeom prst="rect">
            <a:avLst/>
          </a:prstGeom>
          <a:noFill/>
          <a:ln/>
        </p:spPr>
        <p:txBody>
          <a:bodyPr wrap="square" lIns="0" tIns="0" rIns="0" bIns="0" rtlCol="0" anchor="ctr"/>
          <a:lstStyle/>
          <a:p>
            <a:pPr algn="ctr" indent="0" marL="0">
              <a:buNone/>
            </a:pPr>
            <a:r>
              <a:rPr lang="en-US" sz="1600" b="1" dirty="0">
                <a:solidFill>
                  <a:srgbClr val="0EA472"/>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335024"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A472"/>
                </a:solidFill>
                <a:latin typeface="Calibri" pitchFamily="34" charset="0"/>
                <a:ea typeface="Calibri" pitchFamily="34" charset="-122"/>
                <a:cs typeface="Calibri" pitchFamily="34" charset="-120"/>
              </a:rPr>
              <a:t>Runs on a laptop</a:t>
            </a:r>
            <a:endParaRPr lang="en-US" sz="1250" dirty="0"/>
          </a:p>
        </p:txBody>
      </p:sp>
      <p:sp>
        <p:nvSpPr>
          <p:cNvPr id="16" name="Text 14"/>
          <p:cNvSpPr/>
          <p:nvPr/>
        </p:nvSpPr>
        <p:spPr>
          <a:xfrm>
            <a:off x="804672"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The Windows package runs from a folder: no installer, no admin rights, no internet.</a:t>
            </a:r>
            <a:endParaRPr lang="en-US" sz="950" dirty="0"/>
          </a:p>
        </p:txBody>
      </p:sp>
      <p:sp>
        <p:nvSpPr>
          <p:cNvPr id="17" name="Shape 15"/>
          <p:cNvSpPr/>
          <p:nvPr/>
        </p:nvSpPr>
        <p:spPr>
          <a:xfrm>
            <a:off x="4325112"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18" name="Shape 16"/>
          <p:cNvSpPr/>
          <p:nvPr/>
        </p:nvSpPr>
        <p:spPr>
          <a:xfrm>
            <a:off x="4325112" y="1874520"/>
            <a:ext cx="82296" cy="1600200"/>
          </a:xfrm>
          <a:prstGeom prst="rect">
            <a:avLst/>
          </a:prstGeom>
          <a:solidFill>
            <a:srgbClr val="2563EB"/>
          </a:solidFill>
          <a:ln/>
        </p:spPr>
        <p:txBody>
          <a:bodyPr/>
          <a:p/>
        </p:txBody>
      </p:sp>
      <p:sp>
        <p:nvSpPr>
          <p:cNvPr id="19" name="Shape 17"/>
          <p:cNvSpPr/>
          <p:nvPr/>
        </p:nvSpPr>
        <p:spPr>
          <a:xfrm>
            <a:off x="4562856" y="2075688"/>
            <a:ext cx="457200" cy="457200"/>
          </a:xfrm>
          <a:prstGeom prst="ellipse">
            <a:avLst/>
          </a:prstGeom>
          <a:solidFill>
            <a:srgbClr val="EAF1FE"/>
          </a:solidFill>
          <a:ln/>
        </p:spPr>
        <p:txBody>
          <a:bodyPr/>
          <a:p/>
        </p:txBody>
      </p:sp>
      <p:sp>
        <p:nvSpPr>
          <p:cNvPr id="20" name="Text 18"/>
          <p:cNvSpPr/>
          <p:nvPr/>
        </p:nvSpPr>
        <p:spPr>
          <a:xfrm>
            <a:off x="4562856" y="2066544"/>
            <a:ext cx="457200" cy="457200"/>
          </a:xfrm>
          <a:prstGeom prst="rect">
            <a:avLst/>
          </a:prstGeom>
          <a:noFill/>
          <a:ln/>
        </p:spPr>
        <p:txBody>
          <a:bodyPr wrap="square" lIns="0" tIns="0" rIns="0" bIns="0" rtlCol="0" anchor="ctr"/>
          <a:lstStyle/>
          <a:p>
            <a:pPr algn="ctr" indent="0" marL="0">
              <a:buNone/>
            </a:pPr>
            <a:r>
              <a:rPr lang="en-US" sz="1600" b="1" dirty="0">
                <a:solidFill>
                  <a:srgbClr val="2563EB"/>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5111496"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2563EB"/>
                </a:solidFill>
                <a:latin typeface="Calibri" pitchFamily="34" charset="0"/>
                <a:ea typeface="Calibri" pitchFamily="34" charset="-122"/>
                <a:cs typeface="Calibri" pitchFamily="34" charset="-120"/>
              </a:rPr>
              <a:t>Local only by default</a:t>
            </a:r>
            <a:endParaRPr lang="en-US" sz="1250" dirty="0"/>
          </a:p>
        </p:txBody>
      </p:sp>
      <p:sp>
        <p:nvSpPr>
          <p:cNvPr id="22" name="Text 20"/>
          <p:cNvSpPr/>
          <p:nvPr/>
        </p:nvSpPr>
        <p:spPr>
          <a:xfrm>
            <a:off x="4581144"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It listens on the laptop only (127.0.0.1) unless it is deliberately shared.</a:t>
            </a:r>
            <a:endParaRPr lang="en-US" sz="950" dirty="0"/>
          </a:p>
        </p:txBody>
      </p:sp>
      <p:sp>
        <p:nvSpPr>
          <p:cNvPr id="23" name="Shape 21"/>
          <p:cNvSpPr/>
          <p:nvPr/>
        </p:nvSpPr>
        <p:spPr>
          <a:xfrm>
            <a:off x="8101584" y="187452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24" name="Shape 22"/>
          <p:cNvSpPr/>
          <p:nvPr/>
        </p:nvSpPr>
        <p:spPr>
          <a:xfrm>
            <a:off x="8101584" y="1874520"/>
            <a:ext cx="82296" cy="1600200"/>
          </a:xfrm>
          <a:prstGeom prst="rect">
            <a:avLst/>
          </a:prstGeom>
          <a:solidFill>
            <a:srgbClr val="7C3AED"/>
          </a:solidFill>
          <a:ln/>
        </p:spPr>
        <p:txBody>
          <a:bodyPr/>
          <a:p/>
        </p:txBody>
      </p:sp>
      <p:sp>
        <p:nvSpPr>
          <p:cNvPr id="25" name="Shape 23"/>
          <p:cNvSpPr/>
          <p:nvPr/>
        </p:nvSpPr>
        <p:spPr>
          <a:xfrm>
            <a:off x="8339328" y="2075688"/>
            <a:ext cx="457200" cy="457200"/>
          </a:xfrm>
          <a:prstGeom prst="ellipse">
            <a:avLst/>
          </a:prstGeom>
          <a:solidFill>
            <a:srgbClr val="F3EEFE"/>
          </a:solidFill>
          <a:ln/>
        </p:spPr>
        <p:txBody>
          <a:bodyPr/>
          <a:p/>
        </p:txBody>
      </p:sp>
      <p:sp>
        <p:nvSpPr>
          <p:cNvPr id="26" name="Text 24"/>
          <p:cNvSpPr/>
          <p:nvPr/>
        </p:nvSpPr>
        <p:spPr>
          <a:xfrm>
            <a:off x="8339328" y="2066544"/>
            <a:ext cx="457200" cy="457200"/>
          </a:xfrm>
          <a:prstGeom prst="rect">
            <a:avLst/>
          </a:prstGeom>
          <a:noFill/>
          <a:ln/>
        </p:spPr>
        <p:txBody>
          <a:bodyPr wrap="square" lIns="0" tIns="0" rIns="0" bIns="0" rtlCol="0" anchor="ctr"/>
          <a:lstStyle/>
          <a:p>
            <a:pPr algn="ctr" indent="0" marL="0">
              <a:buNone/>
            </a:pPr>
            <a:r>
              <a:rPr lang="en-US" sz="1600" b="1" dirty="0">
                <a:solidFill>
                  <a:srgbClr val="7C3AED"/>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8887968" y="211226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7C3AED"/>
                </a:solidFill>
                <a:latin typeface="Calibri" pitchFamily="34" charset="0"/>
                <a:ea typeface="Calibri" pitchFamily="34" charset="-122"/>
                <a:cs typeface="Calibri" pitchFamily="34" charset="-120"/>
              </a:rPr>
              <a:t>AI switched off</a:t>
            </a:r>
            <a:endParaRPr lang="en-US" sz="1250" dirty="0"/>
          </a:p>
        </p:txBody>
      </p:sp>
      <p:sp>
        <p:nvSpPr>
          <p:cNvPr id="28" name="Text 26"/>
          <p:cNvSpPr/>
          <p:nvPr/>
        </p:nvSpPr>
        <p:spPr>
          <a:xfrm>
            <a:off x="8357616" y="265176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Nothing goes to an AI service. AI can be turned on later by a setting, only with approval.</a:t>
            </a:r>
            <a:endParaRPr lang="en-US" sz="950" dirty="0"/>
          </a:p>
        </p:txBody>
      </p:sp>
      <p:sp>
        <p:nvSpPr>
          <p:cNvPr id="29" name="Shape 27"/>
          <p:cNvSpPr/>
          <p:nvPr/>
        </p:nvSpPr>
        <p:spPr>
          <a:xfrm>
            <a:off x="548640"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30" name="Shape 28"/>
          <p:cNvSpPr/>
          <p:nvPr/>
        </p:nvSpPr>
        <p:spPr>
          <a:xfrm>
            <a:off x="548640" y="3657600"/>
            <a:ext cx="82296" cy="1600200"/>
          </a:xfrm>
          <a:prstGeom prst="rect">
            <a:avLst/>
          </a:prstGeom>
          <a:solidFill>
            <a:srgbClr val="0E93B0"/>
          </a:solidFill>
          <a:ln/>
        </p:spPr>
        <p:txBody>
          <a:bodyPr/>
          <a:p/>
        </p:txBody>
      </p:sp>
      <p:sp>
        <p:nvSpPr>
          <p:cNvPr id="31" name="Shape 29"/>
          <p:cNvSpPr/>
          <p:nvPr/>
        </p:nvSpPr>
        <p:spPr>
          <a:xfrm>
            <a:off x="786384" y="3858768"/>
            <a:ext cx="457200" cy="457200"/>
          </a:xfrm>
          <a:prstGeom prst="ellipse">
            <a:avLst/>
          </a:prstGeom>
          <a:solidFill>
            <a:srgbClr val="E8F6FA"/>
          </a:solidFill>
          <a:ln/>
        </p:spPr>
        <p:txBody>
          <a:bodyPr/>
          <a:p/>
        </p:txBody>
      </p:sp>
      <p:sp>
        <p:nvSpPr>
          <p:cNvPr id="32" name="Text 30"/>
          <p:cNvSpPr/>
          <p:nvPr/>
        </p:nvSpPr>
        <p:spPr>
          <a:xfrm>
            <a:off x="786384" y="3849624"/>
            <a:ext cx="457200" cy="457200"/>
          </a:xfrm>
          <a:prstGeom prst="rect">
            <a:avLst/>
          </a:prstGeom>
          <a:noFill/>
          <a:ln/>
        </p:spPr>
        <p:txBody>
          <a:bodyPr wrap="square" lIns="0" tIns="0" rIns="0" bIns="0" rtlCol="0" anchor="ctr"/>
          <a:lstStyle/>
          <a:p>
            <a:pPr algn="ctr" indent="0" marL="0">
              <a:buNone/>
            </a:pPr>
            <a:r>
              <a:rPr lang="en-US" sz="1600" b="1" dirty="0">
                <a:solidFill>
                  <a:srgbClr val="0E93B0"/>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1335024"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E93B0"/>
                </a:solidFill>
                <a:latin typeface="Calibri" pitchFamily="34" charset="0"/>
                <a:ea typeface="Calibri" pitchFamily="34" charset="-122"/>
                <a:cs typeface="Calibri" pitchFamily="34" charset="-120"/>
              </a:rPr>
              <a:t>Full audit trail</a:t>
            </a:r>
            <a:endParaRPr lang="en-US" sz="1250" dirty="0"/>
          </a:p>
        </p:txBody>
      </p:sp>
      <p:sp>
        <p:nvSpPr>
          <p:cNvPr id="34" name="Text 32"/>
          <p:cNvSpPr/>
          <p:nvPr/>
        </p:nvSpPr>
        <p:spPr>
          <a:xfrm>
            <a:off x="804672"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Every number traces to a rate. The Excel export has a traceability sheet.</a:t>
            </a:r>
            <a:endParaRPr lang="en-US" sz="950" dirty="0"/>
          </a:p>
        </p:txBody>
      </p:sp>
      <p:sp>
        <p:nvSpPr>
          <p:cNvPr id="35" name="Shape 33"/>
          <p:cNvSpPr/>
          <p:nvPr/>
        </p:nvSpPr>
        <p:spPr>
          <a:xfrm>
            <a:off x="4325112"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36" name="Shape 34"/>
          <p:cNvSpPr/>
          <p:nvPr/>
        </p:nvSpPr>
        <p:spPr>
          <a:xfrm>
            <a:off x="4325112" y="3657600"/>
            <a:ext cx="82296" cy="1600200"/>
          </a:xfrm>
          <a:prstGeom prst="rect">
            <a:avLst/>
          </a:prstGeom>
          <a:solidFill>
            <a:srgbClr val="E0900C"/>
          </a:solidFill>
          <a:ln/>
        </p:spPr>
        <p:txBody>
          <a:bodyPr/>
          <a:p/>
        </p:txBody>
      </p:sp>
      <p:sp>
        <p:nvSpPr>
          <p:cNvPr id="37" name="Shape 35"/>
          <p:cNvSpPr/>
          <p:nvPr/>
        </p:nvSpPr>
        <p:spPr>
          <a:xfrm>
            <a:off x="4562856" y="3858768"/>
            <a:ext cx="457200" cy="457200"/>
          </a:xfrm>
          <a:prstGeom prst="ellipse">
            <a:avLst/>
          </a:prstGeom>
          <a:solidFill>
            <a:srgbClr val="FEF6E7"/>
          </a:solidFill>
          <a:ln/>
        </p:spPr>
        <p:txBody>
          <a:bodyPr/>
          <a:p/>
        </p:txBody>
      </p:sp>
      <p:sp>
        <p:nvSpPr>
          <p:cNvPr id="38" name="Text 36"/>
          <p:cNvSpPr/>
          <p:nvPr/>
        </p:nvSpPr>
        <p:spPr>
          <a:xfrm>
            <a:off x="4562856" y="3849624"/>
            <a:ext cx="457200" cy="457200"/>
          </a:xfrm>
          <a:prstGeom prst="rect">
            <a:avLst/>
          </a:prstGeom>
          <a:noFill/>
          <a:ln/>
        </p:spPr>
        <p:txBody>
          <a:bodyPr wrap="square" lIns="0" tIns="0" rIns="0" bIns="0" rtlCol="0" anchor="ctr"/>
          <a:lstStyle/>
          <a:p>
            <a:pPr algn="ctr" indent="0" marL="0">
              <a:buNone/>
            </a:pPr>
            <a:r>
              <a:rPr lang="en-US" sz="1600" b="1" dirty="0">
                <a:solidFill>
                  <a:srgbClr val="E0900C"/>
                </a:solidFill>
                <a:latin typeface="Calibri" pitchFamily="34" charset="0"/>
                <a:ea typeface="Calibri" pitchFamily="34" charset="-122"/>
                <a:cs typeface="Calibri" pitchFamily="34" charset="-120"/>
              </a:rPr>
              <a:t>◎</a:t>
            </a:r>
            <a:endParaRPr lang="en-US" sz="1600" dirty="0"/>
          </a:p>
        </p:txBody>
      </p:sp>
      <p:sp>
        <p:nvSpPr>
          <p:cNvPr id="39" name="Text 37"/>
          <p:cNvSpPr/>
          <p:nvPr/>
        </p:nvSpPr>
        <p:spPr>
          <a:xfrm>
            <a:off x="5111496"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E0900C"/>
                </a:solidFill>
                <a:latin typeface="Calibri" pitchFamily="34" charset="0"/>
                <a:ea typeface="Calibri" pitchFamily="34" charset="-122"/>
                <a:cs typeface="Calibri" pitchFamily="34" charset="-120"/>
              </a:rPr>
              <a:t>Our IP, not a vendor's</a:t>
            </a:r>
            <a:endParaRPr lang="en-US" sz="1250" dirty="0"/>
          </a:p>
        </p:txBody>
      </p:sp>
      <p:sp>
        <p:nvSpPr>
          <p:cNvPr id="40" name="Text 38"/>
          <p:cNvSpPr/>
          <p:nvPr/>
        </p:nvSpPr>
        <p:spPr>
          <a:xfrm>
            <a:off x="4581144"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The costing knowledge we build up is a company asset. It does not leave with a subscription.</a:t>
            </a:r>
            <a:endParaRPr lang="en-US" sz="950" dirty="0"/>
          </a:p>
        </p:txBody>
      </p:sp>
      <p:sp>
        <p:nvSpPr>
          <p:cNvPr id="41" name="Shape 39"/>
          <p:cNvSpPr/>
          <p:nvPr/>
        </p:nvSpPr>
        <p:spPr>
          <a:xfrm>
            <a:off x="8101584" y="3657600"/>
            <a:ext cx="3520440" cy="1600200"/>
          </a:xfrm>
          <a:prstGeom prst="roundRect">
            <a:avLst>
              <a:gd name="adj" fmla="val 4000"/>
            </a:avLst>
          </a:prstGeom>
          <a:solidFill>
            <a:srgbClr val="FFFFFF"/>
          </a:solidFill>
          <a:ln w="12700">
            <a:solidFill>
              <a:srgbClr val="E4EAF2"/>
            </a:solidFill>
            <a:prstDash val="solid"/>
          </a:ln>
          <a:effectLst>
            <a:outerShdw sx="100000" sy="100000" kx="0" ky="0" algn="bl" rotWithShape="0" blurRad="Infinity" dist="Infinity" dir="Infinity">
              <a:srgbClr val="9DB0CC">
                <a:alpha val="Infinity"/>
              </a:srgbClr>
            </a:outerShdw>
          </a:effectLst>
        </p:spPr>
        <p:txBody>
          <a:bodyPr/>
          <a:p/>
        </p:txBody>
      </p:sp>
      <p:sp>
        <p:nvSpPr>
          <p:cNvPr id="42" name="Shape 40"/>
          <p:cNvSpPr/>
          <p:nvPr/>
        </p:nvSpPr>
        <p:spPr>
          <a:xfrm>
            <a:off x="8101584" y="3657600"/>
            <a:ext cx="82296" cy="1600200"/>
          </a:xfrm>
          <a:prstGeom prst="rect">
            <a:avLst/>
          </a:prstGeom>
          <a:solidFill>
            <a:srgbClr val="0DA5A0"/>
          </a:solidFill>
          <a:ln/>
        </p:spPr>
        <p:txBody>
          <a:bodyPr/>
          <a:p/>
        </p:txBody>
      </p:sp>
      <p:sp>
        <p:nvSpPr>
          <p:cNvPr id="43" name="Shape 41"/>
          <p:cNvSpPr/>
          <p:nvPr/>
        </p:nvSpPr>
        <p:spPr>
          <a:xfrm>
            <a:off x="8339328" y="3858768"/>
            <a:ext cx="457200" cy="457200"/>
          </a:xfrm>
          <a:prstGeom prst="ellipse">
            <a:avLst/>
          </a:prstGeom>
          <a:solidFill>
            <a:srgbClr val="E7F7F0"/>
          </a:solidFill>
          <a:ln/>
        </p:spPr>
        <p:txBody>
          <a:bodyPr/>
          <a:p/>
        </p:txBody>
      </p:sp>
      <p:sp>
        <p:nvSpPr>
          <p:cNvPr id="44" name="Text 42"/>
          <p:cNvSpPr/>
          <p:nvPr/>
        </p:nvSpPr>
        <p:spPr>
          <a:xfrm>
            <a:off x="8339328" y="3849624"/>
            <a:ext cx="457200" cy="457200"/>
          </a:xfrm>
          <a:prstGeom prst="rect">
            <a:avLst/>
          </a:prstGeom>
          <a:noFill/>
          <a:ln/>
        </p:spPr>
        <p:txBody>
          <a:bodyPr wrap="square" lIns="0" tIns="0" rIns="0" bIns="0" rtlCol="0" anchor="ctr"/>
          <a:lstStyle/>
          <a:p>
            <a:pPr algn="ctr" indent="0" marL="0">
              <a:buNone/>
            </a:pPr>
            <a:r>
              <a:rPr lang="en-US" sz="1600" b="1" dirty="0">
                <a:solidFill>
                  <a:srgbClr val="0DA5A0"/>
                </a:solidFill>
                <a:latin typeface="Calibri" pitchFamily="34" charset="0"/>
                <a:ea typeface="Calibri" pitchFamily="34" charset="-122"/>
                <a:cs typeface="Calibri" pitchFamily="34" charset="-120"/>
              </a:rPr>
              <a:t>✓</a:t>
            </a:r>
            <a:endParaRPr lang="en-US" sz="1600" dirty="0"/>
          </a:p>
        </p:txBody>
      </p:sp>
      <p:sp>
        <p:nvSpPr>
          <p:cNvPr id="45" name="Text 43"/>
          <p:cNvSpPr/>
          <p:nvPr/>
        </p:nvSpPr>
        <p:spPr>
          <a:xfrm>
            <a:off x="8887968" y="3895344"/>
            <a:ext cx="2606040" cy="457200"/>
          </a:xfrm>
          <a:prstGeom prst="rect">
            <a:avLst/>
          </a:prstGeom>
          <a:noFill/>
          <a:ln/>
        </p:spPr>
        <p:txBody>
          <a:bodyPr wrap="square" lIns="0" tIns="0" rIns="0" bIns="0" rtlCol="0" anchor="ctr"/>
          <a:lstStyle/>
          <a:p>
            <a:pPr indent="0" marL="0">
              <a:lnSpc>
                <a:spcPct val="95000"/>
              </a:lnSpc>
              <a:buNone/>
            </a:pPr>
            <a:r>
              <a:rPr lang="en-US" sz="1250" b="1" dirty="0">
                <a:solidFill>
                  <a:srgbClr val="0DA5A0"/>
                </a:solidFill>
                <a:latin typeface="Calibri" pitchFamily="34" charset="0"/>
                <a:ea typeface="Calibri" pitchFamily="34" charset="-122"/>
                <a:cs typeface="Calibri" pitchFamily="34" charset="-120"/>
              </a:rPr>
              <a:t>Sign-in and sessions</a:t>
            </a:r>
            <a:endParaRPr lang="en-US" sz="1250" dirty="0"/>
          </a:p>
        </p:txBody>
      </p:sp>
      <p:sp>
        <p:nvSpPr>
          <p:cNvPr id="46" name="Text 44"/>
          <p:cNvSpPr/>
          <p:nvPr/>
        </p:nvSpPr>
        <p:spPr>
          <a:xfrm>
            <a:off x="8357616" y="4434840"/>
            <a:ext cx="3063240" cy="777240"/>
          </a:xfrm>
          <a:prstGeom prst="rect">
            <a:avLst/>
          </a:prstGeom>
          <a:noFill/>
          <a:ln/>
        </p:spPr>
        <p:txBody>
          <a:bodyPr wrap="square" lIns="0" tIns="0" rIns="0" bIns="0" rtlCol="0" anchor="t"/>
          <a:lstStyle/>
          <a:p>
            <a:pPr indent="0" marL="0">
              <a:lnSpc>
                <a:spcPct val="112000"/>
              </a:lnSpc>
              <a:buNone/>
            </a:pPr>
            <a:r>
              <a:rPr lang="en-US" sz="950" dirty="0">
                <a:solidFill>
                  <a:srgbClr val="3E4C63"/>
                </a:solidFill>
                <a:latin typeface="Calibri" pitchFamily="34" charset="0"/>
                <a:ea typeface="Calibri" pitchFamily="34" charset="-122"/>
                <a:cs typeface="Calibri" pitchFamily="34" charset="-120"/>
              </a:rPr>
              <a:t>Sign-in on everything that holds data. A password reset ends every old session.</a:t>
            </a:r>
            <a:endParaRPr lang="en-US" sz="950" dirty="0"/>
          </a:p>
        </p:txBody>
      </p:sp>
      <p:sp>
        <p:nvSpPr>
          <p:cNvPr id="47" name="Shape 45"/>
          <p:cNvSpPr/>
          <p:nvPr/>
        </p:nvSpPr>
        <p:spPr>
          <a:xfrm>
            <a:off x="548640" y="5367528"/>
            <a:ext cx="11091672" cy="502920"/>
          </a:xfrm>
          <a:prstGeom prst="roundRect">
            <a:avLst>
              <a:gd name="adj" fmla="val 12727"/>
            </a:avLst>
          </a:prstGeom>
          <a:solidFill>
            <a:srgbClr val="E7F7F0"/>
          </a:solidFill>
          <a:ln w="12700">
            <a:solidFill>
              <a:srgbClr val="E4EAF2"/>
            </a:solidFill>
            <a:prstDash val="solid"/>
          </a:ln>
        </p:spPr>
        <p:txBody>
          <a:bodyPr/>
          <a:p/>
        </p:txBody>
      </p:sp>
      <p:sp>
        <p:nvSpPr>
          <p:cNvPr id="48" name="Shape 46"/>
          <p:cNvSpPr/>
          <p:nvPr/>
        </p:nvSpPr>
        <p:spPr>
          <a:xfrm>
            <a:off x="548640" y="5367528"/>
            <a:ext cx="82296" cy="502920"/>
          </a:xfrm>
          <a:prstGeom prst="rect">
            <a:avLst/>
          </a:prstGeom>
          <a:solidFill>
            <a:srgbClr val="0EA472"/>
          </a:solidFill>
          <a:ln/>
        </p:spPr>
        <p:txBody>
          <a:bodyPr/>
          <a:p/>
        </p:txBody>
      </p:sp>
      <p:sp>
        <p:nvSpPr>
          <p:cNvPr id="49" name="Text 47"/>
          <p:cNvSpPr/>
          <p:nvPr/>
        </p:nvSpPr>
        <p:spPr>
          <a:xfrm>
            <a:off x="914400" y="5367528"/>
            <a:ext cx="10332720" cy="502920"/>
          </a:xfrm>
          <a:prstGeom prst="rect">
            <a:avLst/>
          </a:prstGeom>
          <a:noFill/>
          <a:ln/>
        </p:spPr>
        <p:txBody>
          <a:bodyPr wrap="square" lIns="0" tIns="0" rIns="0" bIns="0" rtlCol="0" anchor="ctr"/>
          <a:lstStyle/>
          <a:p>
            <a:pPr indent="0" marL="0">
              <a:lnSpc>
                <a:spcPct val="105000"/>
              </a:lnSpc>
              <a:buNone/>
            </a:pPr>
            <a:r>
              <a:rPr lang="en-US" sz="1050" b="1" dirty="0">
                <a:solidFill>
                  <a:srgbClr val="0F1E3D"/>
                </a:solidFill>
                <a:latin typeface="Calibri" pitchFamily="34" charset="0"/>
                <a:ea typeface="Calibri" pitchFamily="34" charset="-122"/>
                <a:cs typeface="Calibri" pitchFamily="34" charset="-120"/>
              </a:rPr>
              <a:t>What leaves the building:  </a:t>
            </a:r>
            <a:pPr indent="0" marL="0">
              <a:lnSpc>
                <a:spcPct val="105000"/>
              </a:lnSpc>
              <a:buNone/>
            </a:pPr>
            <a:r>
              <a:rPr lang="en-US" sz="1050" dirty="0">
                <a:solidFill>
                  <a:srgbClr val="3E4C63"/>
                </a:solidFill>
                <a:latin typeface="Calibri" pitchFamily="34" charset="0"/>
                <a:ea typeface="Calibri" pitchFamily="34" charset="-122"/>
                <a:cs typeface="Calibri" pitchFamily="34" charset="-120"/>
              </a:rPr>
              <a:t>no costing data, in the JLR build. For a shared server there is a Docker image with the CAD kernel. Dashboard news needs internet; costing does not.</a:t>
            </a:r>
            <a:endParaRPr lang="en-US" sz="1050" dirty="0"/>
          </a:p>
        </p:txBody>
      </p:sp>
      <p:sp>
        <p:nvSpPr>
          <p:cNvPr id="50" name="Shape 48"/>
          <p:cNvSpPr/>
          <p:nvPr/>
        </p:nvSpPr>
        <p:spPr>
          <a:xfrm>
            <a:off x="548640" y="6400800"/>
            <a:ext cx="11094415" cy="12802"/>
          </a:xfrm>
          <a:prstGeom prst="rect">
            <a:avLst/>
          </a:prstGeom>
          <a:solidFill>
            <a:srgbClr val="E4EAF2"/>
          </a:solidFill>
          <a:ln/>
        </p:spPr>
        <p:txBody>
          <a:bodyPr/>
          <a:p/>
        </p:txBody>
      </p:sp>
      <p:sp>
        <p:nvSpPr>
          <p:cNvPr id="51" name="Text 49"/>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52" name="Text 50"/>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31 / 33</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BFC"/>
          </a:solidFill>
          <a:ln/>
        </p:spPr>
        <p:txBody>
          <a:bodyPr/>
          <a:p/>
        </p:txBody>
      </p:sp>
      <p:sp>
        <p:nvSpPr>
          <p:cNvPr id="3" name="Shape 1"/>
          <p:cNvSpPr/>
          <p:nvPr/>
        </p:nvSpPr>
        <p:spPr>
          <a:xfrm>
            <a:off x="10088575" y="384048"/>
            <a:ext cx="310896" cy="310896"/>
          </a:xfrm>
          <a:prstGeom prst="roundRect">
            <a:avLst>
              <a:gd name="adj" fmla="val 29412"/>
            </a:avLst>
          </a:prstGeom>
          <a:solidFill>
            <a:srgbClr val="4F46E5"/>
          </a:solidFill>
          <a:ln/>
        </p:spPr>
        <p:txBody>
          <a:bodyPr/>
          <a:p/>
        </p:txBody>
      </p:sp>
      <p:sp>
        <p:nvSpPr>
          <p:cNvPr id="4" name="Text 2"/>
          <p:cNvSpPr/>
          <p:nvPr/>
        </p:nvSpPr>
        <p:spPr>
          <a:xfrm>
            <a:off x="10088575" y="3840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cv</a:t>
            </a:r>
            <a:endParaRPr lang="en-US" sz="1300" dirty="0"/>
          </a:p>
        </p:txBody>
      </p:sp>
      <p:sp>
        <p:nvSpPr>
          <p:cNvPr id="5" name="Text 3"/>
          <p:cNvSpPr/>
          <p:nvPr/>
        </p:nvSpPr>
        <p:spPr>
          <a:xfrm>
            <a:off x="10454335" y="365760"/>
            <a:ext cx="1234440" cy="365760"/>
          </a:xfrm>
          <a:prstGeom prst="rect">
            <a:avLst/>
          </a:prstGeom>
          <a:noFill/>
          <a:ln/>
        </p:spPr>
        <p:txBody>
          <a:bodyPr wrap="square" lIns="0" tIns="0" rIns="0" bIns="0" rtlCol="0" anchor="ctr"/>
          <a:lstStyle/>
          <a:p>
            <a:pPr indent="0" marL="0">
              <a:buNone/>
            </a:pPr>
            <a:r>
              <a:rPr lang="en-US" sz="1400" b="1" dirty="0">
                <a:solidFill>
                  <a:srgbClr val="2563EB"/>
                </a:solidFill>
                <a:latin typeface="Calibri" pitchFamily="34" charset="0"/>
                <a:ea typeface="Calibri" pitchFamily="34" charset="-122"/>
                <a:cs typeface="Calibri" pitchFamily="34" charset="-120"/>
              </a:rPr>
              <a:t>CostVision</a:t>
            </a:r>
            <a:endParaRPr lang="en-US" sz="1400" dirty="0"/>
          </a:p>
        </p:txBody>
      </p:sp>
      <p:sp>
        <p:nvSpPr>
          <p:cNvPr id="6" name="Shape 4"/>
          <p:cNvSpPr/>
          <p:nvPr/>
        </p:nvSpPr>
        <p:spPr>
          <a:xfrm>
            <a:off x="548640" y="530352"/>
            <a:ext cx="201168" cy="201168"/>
          </a:xfrm>
          <a:prstGeom prst="rect">
            <a:avLst/>
          </a:prstGeom>
          <a:solidFill>
            <a:srgbClr val="7C3AED"/>
          </a:solidFill>
          <a:ln/>
        </p:spPr>
        <p:txBody>
          <a:bodyPr/>
          <a:p/>
        </p:txBody>
      </p:sp>
      <p:sp>
        <p:nvSpPr>
          <p:cNvPr id="7" name="Text 5"/>
          <p:cNvSpPr/>
          <p:nvPr/>
        </p:nvSpPr>
        <p:spPr>
          <a:xfrm>
            <a:off x="859536" y="502920"/>
            <a:ext cx="9144000" cy="256032"/>
          </a:xfrm>
          <a:prstGeom prst="rect">
            <a:avLst/>
          </a:prstGeom>
          <a:noFill/>
          <a:ln/>
        </p:spPr>
        <p:txBody>
          <a:bodyPr wrap="square" lIns="0" tIns="0" rIns="0" bIns="0" rtlCol="0" anchor="ctr"/>
          <a:lstStyle/>
          <a:p>
            <a:pPr indent="0" marL="0">
              <a:buNone/>
            </a:pPr>
            <a:r>
              <a:rPr lang="en-US" sz="1100" b="1" spc="120" kern="0" dirty="0">
                <a:solidFill>
                  <a:srgbClr val="7C3AED"/>
                </a:solidFill>
                <a:latin typeface="Calibri" pitchFamily="34" charset="0"/>
                <a:ea typeface="Calibri" pitchFamily="34" charset="-122"/>
                <a:cs typeface="Calibri" pitchFamily="34" charset="-120"/>
              </a:rPr>
              <a:t>DEMO · PRESENTER CUE</a:t>
            </a:r>
            <a:endParaRPr lang="en-US" sz="1100" dirty="0"/>
          </a:p>
        </p:txBody>
      </p:sp>
      <p:sp>
        <p:nvSpPr>
          <p:cNvPr id="8" name="Text 6"/>
          <p:cNvSpPr/>
          <p:nvPr/>
        </p:nvSpPr>
        <p:spPr>
          <a:xfrm>
            <a:off x="548640" y="822960"/>
            <a:ext cx="11064240" cy="548640"/>
          </a:xfrm>
          <a:prstGeom prst="rect">
            <a:avLst/>
          </a:prstGeom>
          <a:noFill/>
          <a:ln/>
        </p:spPr>
        <p:txBody>
          <a:bodyPr wrap="square" lIns="0" tIns="0" rIns="0" bIns="0" rtlCol="0" anchor="t"/>
          <a:lstStyle/>
          <a:p>
            <a:pPr indent="0" marL="0">
              <a:buNone/>
            </a:pPr>
            <a:r>
              <a:rPr lang="en-US" sz="2400" b="1" dirty="0">
                <a:solidFill>
                  <a:srgbClr val="0F1E3D"/>
                </a:solidFill>
                <a:latin typeface="Calibri" pitchFamily="34" charset="0"/>
                <a:ea typeface="Calibri" pitchFamily="34" charset="-122"/>
                <a:cs typeface="Calibri" pitchFamily="34" charset="-120"/>
              </a:rPr>
              <a:t>Live demo — the 5-minute flow</a:t>
            </a:r>
            <a:endParaRPr lang="en-US" sz="2400" dirty="0"/>
          </a:p>
        </p:txBody>
      </p:sp>
      <p:sp>
        <p:nvSpPr>
          <p:cNvPr id="9" name="Shape 7"/>
          <p:cNvSpPr/>
          <p:nvPr/>
        </p:nvSpPr>
        <p:spPr>
          <a:xfrm>
            <a:off x="548640" y="1371600"/>
            <a:ext cx="1051560" cy="45720"/>
          </a:xfrm>
          <a:prstGeom prst="rect">
            <a:avLst/>
          </a:prstGeom>
          <a:solidFill>
            <a:srgbClr val="7C3AED"/>
          </a:solidFill>
          <a:ln/>
        </p:spPr>
        <p:txBody>
          <a:bodyPr/>
          <a:p/>
        </p:txBody>
      </p:sp>
      <p:sp>
        <p:nvSpPr>
          <p:cNvPr id="10" name="Text 8"/>
          <p:cNvSpPr/>
          <p:nvPr/>
        </p:nvSpPr>
        <p:spPr>
          <a:xfrm>
            <a:off x="548640" y="1554480"/>
            <a:ext cx="11064240" cy="365760"/>
          </a:xfrm>
          <a:prstGeom prst="rect">
            <a:avLst/>
          </a:prstGeom>
          <a:noFill/>
          <a:ln/>
        </p:spPr>
        <p:txBody>
          <a:bodyPr wrap="square" lIns="0" tIns="0" rIns="0" bIns="0" rtlCol="0" anchor="t"/>
          <a:lstStyle/>
          <a:p>
            <a:pPr indent="0" marL="0">
              <a:buNone/>
            </a:pPr>
            <a:r>
              <a:rPr lang="en-US" sz="1250" dirty="0">
                <a:solidFill>
                  <a:srgbClr val="3E4C63"/>
                </a:solidFill>
                <a:latin typeface="Calibri" pitchFamily="34" charset="0"/>
                <a:ea typeface="Calibri" pitchFamily="34" charset="-122"/>
                <a:cs typeface="Calibri" pitchFamily="34" charset="-120"/>
              </a:rPr>
              <a:t>A short path through the live system — click order, what to show, and what to point out.</a:t>
            </a:r>
            <a:endParaRPr lang="en-US" sz="1250" dirty="0"/>
          </a:p>
        </p:txBody>
      </p:sp>
      <p:sp>
        <p:nvSpPr>
          <p:cNvPr id="11" name="Shape 9"/>
          <p:cNvSpPr/>
          <p:nvPr/>
        </p:nvSpPr>
        <p:spPr>
          <a:xfrm>
            <a:off x="548640" y="2057400"/>
            <a:ext cx="7315200" cy="512064"/>
          </a:xfrm>
          <a:prstGeom prst="roundRect">
            <a:avLst>
              <a:gd name="adj" fmla="val 8929"/>
            </a:avLst>
          </a:prstGeom>
          <a:solidFill>
            <a:srgbClr val="F4F7FB"/>
          </a:solidFill>
          <a:ln w="12700">
            <a:solidFill>
              <a:srgbClr val="E4EAF2"/>
            </a:solidFill>
            <a:prstDash val="solid"/>
          </a:ln>
        </p:spPr>
        <p:txBody>
          <a:bodyPr/>
          <a:p/>
        </p:txBody>
      </p:sp>
      <p:sp>
        <p:nvSpPr>
          <p:cNvPr id="12" name="Shape 10"/>
          <p:cNvSpPr/>
          <p:nvPr/>
        </p:nvSpPr>
        <p:spPr>
          <a:xfrm>
            <a:off x="548640" y="2057400"/>
            <a:ext cx="73152" cy="512064"/>
          </a:xfrm>
          <a:prstGeom prst="rect">
            <a:avLst/>
          </a:prstGeom>
          <a:solidFill>
            <a:srgbClr val="0DA5A0"/>
          </a:solidFill>
          <a:ln/>
        </p:spPr>
        <p:txBody>
          <a:bodyPr/>
          <a:p/>
        </p:txBody>
      </p:sp>
      <p:sp>
        <p:nvSpPr>
          <p:cNvPr id="13" name="Shape 11"/>
          <p:cNvSpPr/>
          <p:nvPr/>
        </p:nvSpPr>
        <p:spPr>
          <a:xfrm>
            <a:off x="694944" y="2148840"/>
            <a:ext cx="329184" cy="329184"/>
          </a:xfrm>
          <a:prstGeom prst="ellipse">
            <a:avLst/>
          </a:prstGeom>
          <a:solidFill>
            <a:srgbClr val="0DA5A0"/>
          </a:solidFill>
          <a:ln/>
          <a:effectLst>
            <a:outerShdw sx="100000" sy="100000" kx="0" ky="0" algn="bl" rotWithShape="0" blurRad="2.289968664788388e+66" dist="6.86990599436516e+65" dir="2.5389989167104004e+78">
              <a:srgbClr val="A7B6CE">
                <a:alpha val="1.8000000000000003e+79"/>
              </a:srgbClr>
            </a:outerShdw>
          </a:effectLst>
        </p:spPr>
        <p:txBody>
          <a:bodyPr/>
          <a:p/>
        </p:txBody>
      </p:sp>
      <p:sp>
        <p:nvSpPr>
          <p:cNvPr id="14" name="Text 12"/>
          <p:cNvSpPr/>
          <p:nvPr/>
        </p:nvSpPr>
        <p:spPr>
          <a:xfrm>
            <a:off x="694944" y="2148840"/>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1</a:t>
            </a:r>
            <a:endParaRPr lang="en-US" sz="1224" dirty="0"/>
          </a:p>
        </p:txBody>
      </p:sp>
      <p:sp>
        <p:nvSpPr>
          <p:cNvPr id="15" name="Text 13"/>
          <p:cNvSpPr/>
          <p:nvPr/>
        </p:nvSpPr>
        <p:spPr>
          <a:xfrm>
            <a:off x="1152144" y="2057400"/>
            <a:ext cx="1645920" cy="512064"/>
          </a:xfrm>
          <a:prstGeom prst="rect">
            <a:avLst/>
          </a:prstGeom>
          <a:noFill/>
          <a:ln/>
        </p:spPr>
        <p:txBody>
          <a:bodyPr wrap="square" lIns="0" tIns="0" rIns="0" bIns="0" rtlCol="0" anchor="ctr"/>
          <a:lstStyle/>
          <a:p>
            <a:pPr indent="0" marL="0">
              <a:buNone/>
            </a:pPr>
            <a:r>
              <a:rPr lang="en-US" sz="1150" b="1" dirty="0">
                <a:solidFill>
                  <a:srgbClr val="0DA5A0"/>
                </a:solidFill>
                <a:latin typeface="Calibri" pitchFamily="34" charset="0"/>
                <a:ea typeface="Calibri" pitchFamily="34" charset="-122"/>
                <a:cs typeface="Calibri" pitchFamily="34" charset="-120"/>
              </a:rPr>
              <a:t>CAD → Cost</a:t>
            </a:r>
            <a:endParaRPr lang="en-US" sz="1150" dirty="0"/>
          </a:p>
        </p:txBody>
      </p:sp>
      <p:sp>
        <p:nvSpPr>
          <p:cNvPr id="16" name="Text 14"/>
          <p:cNvSpPr/>
          <p:nvPr/>
        </p:nvSpPr>
        <p:spPr>
          <a:xfrm>
            <a:off x="2834640" y="2084832"/>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Upload a STEP model → show the 3D viewer and feature table → answer the questions</a:t>
            </a:r>
            <a:endParaRPr lang="en-US" sz="900" dirty="0"/>
          </a:p>
        </p:txBody>
      </p:sp>
      <p:sp>
        <p:nvSpPr>
          <p:cNvPr id="17" name="Text 15"/>
          <p:cNvSpPr/>
          <p:nvPr/>
        </p:nvSpPr>
        <p:spPr>
          <a:xfrm>
            <a:off x="6080760" y="2084832"/>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should-cost and uncertainty band appear</a:t>
            </a:r>
            <a:endParaRPr lang="en-US" sz="850" dirty="0"/>
          </a:p>
        </p:txBody>
      </p:sp>
      <p:sp>
        <p:nvSpPr>
          <p:cNvPr id="18" name="Shape 16"/>
          <p:cNvSpPr/>
          <p:nvPr/>
        </p:nvSpPr>
        <p:spPr>
          <a:xfrm>
            <a:off x="548640" y="2660904"/>
            <a:ext cx="7315200" cy="512064"/>
          </a:xfrm>
          <a:prstGeom prst="roundRect">
            <a:avLst>
              <a:gd name="adj" fmla="val 8929"/>
            </a:avLst>
          </a:prstGeom>
          <a:solidFill>
            <a:srgbClr val="FFFFFF"/>
          </a:solidFill>
          <a:ln w="12700">
            <a:solidFill>
              <a:srgbClr val="E4EAF2"/>
            </a:solidFill>
            <a:prstDash val="solid"/>
          </a:ln>
        </p:spPr>
        <p:txBody>
          <a:bodyPr/>
          <a:p/>
        </p:txBody>
      </p:sp>
      <p:sp>
        <p:nvSpPr>
          <p:cNvPr id="19" name="Shape 17"/>
          <p:cNvSpPr/>
          <p:nvPr/>
        </p:nvSpPr>
        <p:spPr>
          <a:xfrm>
            <a:off x="548640" y="2660904"/>
            <a:ext cx="73152" cy="512064"/>
          </a:xfrm>
          <a:prstGeom prst="rect">
            <a:avLst/>
          </a:prstGeom>
          <a:solidFill>
            <a:srgbClr val="2563EB"/>
          </a:solidFill>
          <a:ln/>
        </p:spPr>
        <p:txBody>
          <a:bodyPr/>
          <a:p/>
        </p:txBody>
      </p:sp>
      <p:sp>
        <p:nvSpPr>
          <p:cNvPr id="20" name="Shape 18"/>
          <p:cNvSpPr/>
          <p:nvPr/>
        </p:nvSpPr>
        <p:spPr>
          <a:xfrm>
            <a:off x="694944" y="2752344"/>
            <a:ext cx="329184" cy="329184"/>
          </a:xfrm>
          <a:prstGeom prst="ellipse">
            <a:avLst/>
          </a:prstGeom>
          <a:solidFill>
            <a:srgbClr val="2563EB"/>
          </a:solidFill>
          <a:ln/>
          <a:effectLst>
            <a:outerShdw sx="100000" sy="100000" kx="0" ky="0" algn="bl" rotWithShape="0" blurRad="2.908260204281253e+70" dist="8.724780612843754e+69" dir="1.5233993500262402e+83">
              <a:srgbClr val="A7B6CE">
                <a:alpha val="1.8000000000000004e+84"/>
              </a:srgbClr>
            </a:outerShdw>
          </a:effectLst>
        </p:spPr>
        <p:txBody>
          <a:bodyPr/>
          <a:p/>
        </p:txBody>
      </p:sp>
      <p:sp>
        <p:nvSpPr>
          <p:cNvPr id="21" name="Text 19"/>
          <p:cNvSpPr/>
          <p:nvPr/>
        </p:nvSpPr>
        <p:spPr>
          <a:xfrm>
            <a:off x="694944" y="2752344"/>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2</a:t>
            </a:r>
            <a:endParaRPr lang="en-US" sz="1224" dirty="0"/>
          </a:p>
        </p:txBody>
      </p:sp>
      <p:sp>
        <p:nvSpPr>
          <p:cNvPr id="22" name="Text 20"/>
          <p:cNvSpPr/>
          <p:nvPr/>
        </p:nvSpPr>
        <p:spPr>
          <a:xfrm>
            <a:off x="1152144" y="2660904"/>
            <a:ext cx="1645920" cy="512064"/>
          </a:xfrm>
          <a:prstGeom prst="rect">
            <a:avLst/>
          </a:prstGeom>
          <a:noFill/>
          <a:ln/>
        </p:spPr>
        <p:txBody>
          <a:bodyPr wrap="square" lIns="0" tIns="0" rIns="0" bIns="0" rtlCol="0" anchor="ctr"/>
          <a:lstStyle/>
          <a:p>
            <a:pPr indent="0" marL="0">
              <a:buNone/>
            </a:pPr>
            <a:r>
              <a:rPr lang="en-US" sz="1150" b="1" dirty="0">
                <a:solidFill>
                  <a:srgbClr val="2563EB"/>
                </a:solidFill>
                <a:latin typeface="Calibri" pitchFamily="34" charset="0"/>
                <a:ea typeface="Calibri" pitchFamily="34" charset="-122"/>
                <a:cs typeface="Calibri" pitchFamily="34" charset="-120"/>
              </a:rPr>
              <a:t>Sheet metal + DXF</a:t>
            </a:r>
            <a:endParaRPr lang="en-US" sz="1150" dirty="0"/>
          </a:p>
        </p:txBody>
      </p:sp>
      <p:sp>
        <p:nvSpPr>
          <p:cNvPr id="23" name="Text 21"/>
          <p:cNvSpPr/>
          <p:nvPr/>
        </p:nvSpPr>
        <p:spPr>
          <a:xfrm>
            <a:off x="2834640" y="2688336"/>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Upload a STEP with its DXF flat pattern</a:t>
            </a:r>
            <a:endParaRPr lang="en-US" sz="900" dirty="0"/>
          </a:p>
        </p:txBody>
      </p:sp>
      <p:sp>
        <p:nvSpPr>
          <p:cNvPr id="24" name="Text 22"/>
          <p:cNvSpPr/>
          <p:nvPr/>
        </p:nvSpPr>
        <p:spPr>
          <a:xfrm>
            <a:off x="6080760" y="2688336"/>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measured blank replaces the bounding box</a:t>
            </a:r>
            <a:endParaRPr lang="en-US" sz="850" dirty="0"/>
          </a:p>
        </p:txBody>
      </p:sp>
      <p:sp>
        <p:nvSpPr>
          <p:cNvPr id="25" name="Shape 23"/>
          <p:cNvSpPr/>
          <p:nvPr/>
        </p:nvSpPr>
        <p:spPr>
          <a:xfrm>
            <a:off x="548640" y="3264408"/>
            <a:ext cx="7315200" cy="512064"/>
          </a:xfrm>
          <a:prstGeom prst="roundRect">
            <a:avLst>
              <a:gd name="adj" fmla="val 8929"/>
            </a:avLst>
          </a:prstGeom>
          <a:solidFill>
            <a:srgbClr val="F4F7FB"/>
          </a:solidFill>
          <a:ln w="12700">
            <a:solidFill>
              <a:srgbClr val="E4EAF2"/>
            </a:solidFill>
            <a:prstDash val="solid"/>
          </a:ln>
        </p:spPr>
        <p:txBody>
          <a:bodyPr/>
          <a:p/>
        </p:txBody>
      </p:sp>
      <p:sp>
        <p:nvSpPr>
          <p:cNvPr id="26" name="Shape 24"/>
          <p:cNvSpPr/>
          <p:nvPr/>
        </p:nvSpPr>
        <p:spPr>
          <a:xfrm>
            <a:off x="548640" y="3264408"/>
            <a:ext cx="73152" cy="512064"/>
          </a:xfrm>
          <a:prstGeom prst="rect">
            <a:avLst/>
          </a:prstGeom>
          <a:solidFill>
            <a:srgbClr val="E0900C"/>
          </a:solidFill>
          <a:ln/>
        </p:spPr>
        <p:txBody>
          <a:bodyPr/>
          <a:p/>
        </p:txBody>
      </p:sp>
      <p:sp>
        <p:nvSpPr>
          <p:cNvPr id="27" name="Shape 25"/>
          <p:cNvSpPr/>
          <p:nvPr/>
        </p:nvSpPr>
        <p:spPr>
          <a:xfrm>
            <a:off x="694944" y="3355848"/>
            <a:ext cx="329184" cy="329184"/>
          </a:xfrm>
          <a:prstGeom prst="ellipse">
            <a:avLst/>
          </a:prstGeom>
          <a:solidFill>
            <a:srgbClr val="E0900C"/>
          </a:solidFill>
          <a:ln/>
          <a:effectLst>
            <a:outerShdw sx="100000" sy="100000" kx="0" ky="0" algn="bl" rotWithShape="0" blurRad="3.693490459437191e+74" dist="1.1080471378311567e+74" dir="9.14039610015744e+87">
              <a:srgbClr val="A7B6CE">
                <a:alpha val="1.8000000000000005e+89"/>
              </a:srgbClr>
            </a:outerShdw>
          </a:effectLst>
        </p:spPr>
        <p:txBody>
          <a:bodyPr/>
          <a:p/>
        </p:txBody>
      </p:sp>
      <p:sp>
        <p:nvSpPr>
          <p:cNvPr id="28" name="Text 26"/>
          <p:cNvSpPr/>
          <p:nvPr/>
        </p:nvSpPr>
        <p:spPr>
          <a:xfrm>
            <a:off x="694944" y="3355848"/>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3</a:t>
            </a:r>
            <a:endParaRPr lang="en-US" sz="1224" dirty="0"/>
          </a:p>
        </p:txBody>
      </p:sp>
      <p:sp>
        <p:nvSpPr>
          <p:cNvPr id="29" name="Text 27"/>
          <p:cNvSpPr/>
          <p:nvPr/>
        </p:nvSpPr>
        <p:spPr>
          <a:xfrm>
            <a:off x="1152144" y="3264408"/>
            <a:ext cx="1645920" cy="512064"/>
          </a:xfrm>
          <a:prstGeom prst="rect">
            <a:avLst/>
          </a:prstGeom>
          <a:noFill/>
          <a:ln/>
        </p:spPr>
        <p:txBody>
          <a:bodyPr wrap="square" lIns="0" tIns="0" rIns="0" bIns="0" rtlCol="0" anchor="ctr"/>
          <a:lstStyle/>
          <a:p>
            <a:pPr indent="0" marL="0">
              <a:buNone/>
            </a:pPr>
            <a:r>
              <a:rPr lang="en-US" sz="1150" b="1" dirty="0">
                <a:solidFill>
                  <a:srgbClr val="E0900C"/>
                </a:solidFill>
                <a:latin typeface="Calibri" pitchFamily="34" charset="0"/>
                <a:ea typeface="Calibri" pitchFamily="34" charset="-122"/>
                <a:cs typeface="Calibri" pitchFamily="34" charset="-120"/>
              </a:rPr>
              <a:t>Compare countries</a:t>
            </a:r>
            <a:endParaRPr lang="en-US" sz="1150" dirty="0"/>
          </a:p>
        </p:txBody>
      </p:sp>
      <p:sp>
        <p:nvSpPr>
          <p:cNvPr id="30" name="Text 28"/>
          <p:cNvSpPr/>
          <p:nvPr/>
        </p:nvSpPr>
        <p:spPr>
          <a:xfrm>
            <a:off x="2834640" y="3291840"/>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Switch the region selector / open the comparison</a:t>
            </a:r>
            <a:endParaRPr lang="en-US" sz="900" dirty="0"/>
          </a:p>
        </p:txBody>
      </p:sp>
      <p:sp>
        <p:nvSpPr>
          <p:cNvPr id="31" name="Text 29"/>
          <p:cNvSpPr/>
          <p:nvPr/>
        </p:nvSpPr>
        <p:spPr>
          <a:xfrm>
            <a:off x="6080760" y="3291840"/>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20-region spread — China vs Germany — in one click</a:t>
            </a:r>
            <a:endParaRPr lang="en-US" sz="850" dirty="0"/>
          </a:p>
        </p:txBody>
      </p:sp>
      <p:sp>
        <p:nvSpPr>
          <p:cNvPr id="32" name="Shape 30"/>
          <p:cNvSpPr/>
          <p:nvPr/>
        </p:nvSpPr>
        <p:spPr>
          <a:xfrm>
            <a:off x="548640" y="3867912"/>
            <a:ext cx="7315200" cy="512064"/>
          </a:xfrm>
          <a:prstGeom prst="roundRect">
            <a:avLst>
              <a:gd name="adj" fmla="val 8929"/>
            </a:avLst>
          </a:prstGeom>
          <a:solidFill>
            <a:srgbClr val="FFFFFF"/>
          </a:solidFill>
          <a:ln w="12700">
            <a:solidFill>
              <a:srgbClr val="E4EAF2"/>
            </a:solidFill>
            <a:prstDash val="solid"/>
          </a:ln>
        </p:spPr>
        <p:txBody>
          <a:bodyPr/>
          <a:p/>
        </p:txBody>
      </p:sp>
      <p:sp>
        <p:nvSpPr>
          <p:cNvPr id="33" name="Shape 31"/>
          <p:cNvSpPr/>
          <p:nvPr/>
        </p:nvSpPr>
        <p:spPr>
          <a:xfrm>
            <a:off x="548640" y="3867912"/>
            <a:ext cx="73152" cy="512064"/>
          </a:xfrm>
          <a:prstGeom prst="rect">
            <a:avLst/>
          </a:prstGeom>
          <a:solidFill>
            <a:srgbClr val="0E93B0"/>
          </a:solidFill>
          <a:ln/>
        </p:spPr>
        <p:txBody>
          <a:bodyPr/>
          <a:p/>
        </p:txBody>
      </p:sp>
      <p:sp>
        <p:nvSpPr>
          <p:cNvPr id="34" name="Shape 32"/>
          <p:cNvSpPr/>
          <p:nvPr/>
        </p:nvSpPr>
        <p:spPr>
          <a:xfrm>
            <a:off x="694944" y="3959352"/>
            <a:ext cx="329184" cy="329184"/>
          </a:xfrm>
          <a:prstGeom prst="ellipse">
            <a:avLst/>
          </a:prstGeom>
          <a:solidFill>
            <a:srgbClr val="0E93B0"/>
          </a:solidFill>
          <a:ln/>
          <a:effectLst>
            <a:outerShdw sx="100000" sy="100000" kx="0" ky="0" algn="bl" rotWithShape="0" blurRad="4.690732883485232e+78" dist="1.407219865045569e+78" dir="5.484237660094465e+92">
              <a:srgbClr val="A7B6CE">
                <a:alpha val="1.8000000000000007e+94"/>
              </a:srgbClr>
            </a:outerShdw>
          </a:effectLst>
        </p:spPr>
        <p:txBody>
          <a:bodyPr/>
          <a:p/>
        </p:txBody>
      </p:sp>
      <p:sp>
        <p:nvSpPr>
          <p:cNvPr id="35" name="Text 33"/>
          <p:cNvSpPr/>
          <p:nvPr/>
        </p:nvSpPr>
        <p:spPr>
          <a:xfrm>
            <a:off x="694944" y="3959352"/>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4</a:t>
            </a:r>
            <a:endParaRPr lang="en-US" sz="1224" dirty="0"/>
          </a:p>
        </p:txBody>
      </p:sp>
      <p:sp>
        <p:nvSpPr>
          <p:cNvPr id="36" name="Text 34"/>
          <p:cNvSpPr/>
          <p:nvPr/>
        </p:nvSpPr>
        <p:spPr>
          <a:xfrm>
            <a:off x="1152144" y="3867912"/>
            <a:ext cx="1645920" cy="512064"/>
          </a:xfrm>
          <a:prstGeom prst="rect">
            <a:avLst/>
          </a:prstGeom>
          <a:noFill/>
          <a:ln/>
        </p:spPr>
        <p:txBody>
          <a:bodyPr wrap="square" lIns="0" tIns="0" rIns="0" bIns="0" rtlCol="0" anchor="ctr"/>
          <a:lstStyle/>
          <a:p>
            <a:pPr indent="0" marL="0">
              <a:buNone/>
            </a:pPr>
            <a:r>
              <a:rPr lang="en-US" sz="1150" b="1" dirty="0">
                <a:solidFill>
                  <a:srgbClr val="0E93B0"/>
                </a:solidFill>
                <a:latin typeface="Calibri" pitchFamily="34" charset="0"/>
                <a:ea typeface="Calibri" pitchFamily="34" charset="-122"/>
                <a:cs typeface="Calibri" pitchFamily="34" charset="-120"/>
              </a:rPr>
              <a:t>Self-audit</a:t>
            </a:r>
            <a:endParaRPr lang="en-US" sz="1150" dirty="0"/>
          </a:p>
        </p:txBody>
      </p:sp>
      <p:sp>
        <p:nvSpPr>
          <p:cNvPr id="37" name="Text 35"/>
          <p:cNvSpPr/>
          <p:nvPr/>
        </p:nvSpPr>
        <p:spPr>
          <a:xfrm>
            <a:off x="2834640" y="3895344"/>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Open the self-audit on the result</a:t>
            </a:r>
            <a:endParaRPr lang="en-US" sz="900" dirty="0"/>
          </a:p>
        </p:txBody>
      </p:sp>
      <p:sp>
        <p:nvSpPr>
          <p:cNvPr id="38" name="Text 36"/>
          <p:cNvSpPr/>
          <p:nvPr/>
        </p:nvSpPr>
        <p:spPr>
          <a:xfrm>
            <a:off x="6080760" y="3895344"/>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what the tool checked, and what it flagged</a:t>
            </a:r>
            <a:endParaRPr lang="en-US" sz="850" dirty="0"/>
          </a:p>
        </p:txBody>
      </p:sp>
      <p:sp>
        <p:nvSpPr>
          <p:cNvPr id="39" name="Shape 37"/>
          <p:cNvSpPr/>
          <p:nvPr/>
        </p:nvSpPr>
        <p:spPr>
          <a:xfrm>
            <a:off x="548640" y="4471416"/>
            <a:ext cx="7315200" cy="512064"/>
          </a:xfrm>
          <a:prstGeom prst="roundRect">
            <a:avLst>
              <a:gd name="adj" fmla="val 8929"/>
            </a:avLst>
          </a:prstGeom>
          <a:solidFill>
            <a:srgbClr val="F4F7FB"/>
          </a:solidFill>
          <a:ln w="12700">
            <a:solidFill>
              <a:srgbClr val="E4EAF2"/>
            </a:solidFill>
            <a:prstDash val="solid"/>
          </a:ln>
        </p:spPr>
        <p:txBody>
          <a:bodyPr/>
          <a:p/>
        </p:txBody>
      </p:sp>
      <p:sp>
        <p:nvSpPr>
          <p:cNvPr id="40" name="Shape 38"/>
          <p:cNvSpPr/>
          <p:nvPr/>
        </p:nvSpPr>
        <p:spPr>
          <a:xfrm>
            <a:off x="548640" y="4471416"/>
            <a:ext cx="73152" cy="512064"/>
          </a:xfrm>
          <a:prstGeom prst="rect">
            <a:avLst/>
          </a:prstGeom>
          <a:solidFill>
            <a:srgbClr val="7C3AED"/>
          </a:solidFill>
          <a:ln/>
        </p:spPr>
        <p:txBody>
          <a:bodyPr/>
          <a:p/>
        </p:txBody>
      </p:sp>
      <p:sp>
        <p:nvSpPr>
          <p:cNvPr id="41" name="Shape 39"/>
          <p:cNvSpPr/>
          <p:nvPr/>
        </p:nvSpPr>
        <p:spPr>
          <a:xfrm>
            <a:off x="694944" y="4562856"/>
            <a:ext cx="329184" cy="329184"/>
          </a:xfrm>
          <a:prstGeom prst="ellipse">
            <a:avLst/>
          </a:prstGeom>
          <a:solidFill>
            <a:srgbClr val="7C3AED"/>
          </a:solidFill>
          <a:ln/>
          <a:effectLst>
            <a:outerShdw sx="100000" sy="100000" kx="0" ky="0" algn="bl" rotWithShape="0" blurRad="5.957230762026245e+82" dist="1.7871692286078725e+82" dir="3.2905425960566786e+97">
              <a:srgbClr val="A7B6CE">
                <a:alpha val="1.8000000000000008e+99"/>
              </a:srgbClr>
            </a:outerShdw>
          </a:effectLst>
        </p:spPr>
        <p:txBody>
          <a:bodyPr/>
          <a:p/>
        </p:txBody>
      </p:sp>
      <p:sp>
        <p:nvSpPr>
          <p:cNvPr id="42" name="Text 40"/>
          <p:cNvSpPr/>
          <p:nvPr/>
        </p:nvSpPr>
        <p:spPr>
          <a:xfrm>
            <a:off x="694944" y="4562856"/>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5</a:t>
            </a:r>
            <a:endParaRPr lang="en-US" sz="1224" dirty="0"/>
          </a:p>
        </p:txBody>
      </p:sp>
      <p:sp>
        <p:nvSpPr>
          <p:cNvPr id="43" name="Text 41"/>
          <p:cNvSpPr/>
          <p:nvPr/>
        </p:nvSpPr>
        <p:spPr>
          <a:xfrm>
            <a:off x="1152144" y="4471416"/>
            <a:ext cx="1645920" cy="512064"/>
          </a:xfrm>
          <a:prstGeom prst="rect">
            <a:avLst/>
          </a:prstGeom>
          <a:noFill/>
          <a:ln/>
        </p:spPr>
        <p:txBody>
          <a:bodyPr wrap="square" lIns="0" tIns="0" rIns="0" bIns="0" rtlCol="0" anchor="ctr"/>
          <a:lstStyle/>
          <a:p>
            <a:pPr indent="0" marL="0">
              <a:buNone/>
            </a:pPr>
            <a:r>
              <a:rPr lang="en-US" sz="1150" b="1" dirty="0">
                <a:solidFill>
                  <a:srgbClr val="7C3AED"/>
                </a:solidFill>
                <a:latin typeface="Calibri" pitchFamily="34" charset="0"/>
                <a:ea typeface="Calibri" pitchFamily="34" charset="-122"/>
                <a:cs typeface="Calibri" pitchFamily="34" charset="-120"/>
              </a:rPr>
              <a:t>Negotiation</a:t>
            </a:r>
            <a:endParaRPr lang="en-US" sz="1150" dirty="0"/>
          </a:p>
        </p:txBody>
      </p:sp>
      <p:sp>
        <p:nvSpPr>
          <p:cNvPr id="44" name="Text 42"/>
          <p:cNvSpPr/>
          <p:nvPr/>
        </p:nvSpPr>
        <p:spPr>
          <a:xfrm>
            <a:off x="2834640" y="4498848"/>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Paste a supplier quote → generate pack</a:t>
            </a:r>
            <a:endParaRPr lang="en-US" sz="900" dirty="0"/>
          </a:p>
        </p:txBody>
      </p:sp>
      <p:sp>
        <p:nvSpPr>
          <p:cNvPr id="45" name="Text 43"/>
          <p:cNvSpPr/>
          <p:nvPr/>
        </p:nvSpPr>
        <p:spPr>
          <a:xfrm>
            <a:off x="6080760" y="4498848"/>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gap teardown by driver + ready-to-send questions</a:t>
            </a:r>
            <a:endParaRPr lang="en-US" sz="850" dirty="0"/>
          </a:p>
        </p:txBody>
      </p:sp>
      <p:sp>
        <p:nvSpPr>
          <p:cNvPr id="46" name="Shape 44"/>
          <p:cNvSpPr/>
          <p:nvPr/>
        </p:nvSpPr>
        <p:spPr>
          <a:xfrm>
            <a:off x="548640" y="5074920"/>
            <a:ext cx="7315200" cy="512064"/>
          </a:xfrm>
          <a:prstGeom prst="roundRect">
            <a:avLst>
              <a:gd name="adj" fmla="val 8929"/>
            </a:avLst>
          </a:prstGeom>
          <a:solidFill>
            <a:srgbClr val="FFFFFF"/>
          </a:solidFill>
          <a:ln w="12700">
            <a:solidFill>
              <a:srgbClr val="E4EAF2"/>
            </a:solidFill>
            <a:prstDash val="solid"/>
          </a:ln>
        </p:spPr>
        <p:txBody>
          <a:bodyPr/>
          <a:p/>
        </p:txBody>
      </p:sp>
      <p:sp>
        <p:nvSpPr>
          <p:cNvPr id="47" name="Shape 45"/>
          <p:cNvSpPr/>
          <p:nvPr/>
        </p:nvSpPr>
        <p:spPr>
          <a:xfrm>
            <a:off x="548640" y="5074920"/>
            <a:ext cx="73152" cy="512064"/>
          </a:xfrm>
          <a:prstGeom prst="rect">
            <a:avLst/>
          </a:prstGeom>
          <a:solidFill>
            <a:srgbClr val="E5484D"/>
          </a:solidFill>
          <a:ln/>
        </p:spPr>
        <p:txBody>
          <a:bodyPr/>
          <a:p/>
        </p:txBody>
      </p:sp>
      <p:sp>
        <p:nvSpPr>
          <p:cNvPr id="48" name="Shape 46"/>
          <p:cNvSpPr/>
          <p:nvPr/>
        </p:nvSpPr>
        <p:spPr>
          <a:xfrm>
            <a:off x="694944" y="5166360"/>
            <a:ext cx="329184" cy="329184"/>
          </a:xfrm>
          <a:prstGeom prst="ellipse">
            <a:avLst/>
          </a:prstGeom>
          <a:solidFill>
            <a:srgbClr val="E5484D"/>
          </a:solidFill>
          <a:ln/>
          <a:effectLst>
            <a:outerShdw sx="100000" sy="100000" kx="0" ky="0" algn="bl" rotWithShape="0" blurRad="7.565683067773332e+86" dist="2.269704920331998e+86" dir="1.9743255576340073e+102">
              <a:srgbClr val="A7B6CE">
                <a:alpha val="1.800000000000001e+104"/>
              </a:srgbClr>
            </a:outerShdw>
          </a:effectLst>
        </p:spPr>
        <p:txBody>
          <a:bodyPr/>
          <a:p/>
        </p:txBody>
      </p:sp>
      <p:sp>
        <p:nvSpPr>
          <p:cNvPr id="49" name="Text 47"/>
          <p:cNvSpPr/>
          <p:nvPr/>
        </p:nvSpPr>
        <p:spPr>
          <a:xfrm>
            <a:off x="694944" y="5166360"/>
            <a:ext cx="329184" cy="329184"/>
          </a:xfrm>
          <a:prstGeom prst="rect">
            <a:avLst/>
          </a:prstGeom>
          <a:noFill/>
          <a:ln/>
        </p:spPr>
        <p:txBody>
          <a:bodyPr wrap="square" lIns="0" tIns="0" rIns="0" bIns="0" rtlCol="0" anchor="ctr"/>
          <a:lstStyle/>
          <a:p>
            <a:pPr algn="ctr" indent="0" marL="0">
              <a:buNone/>
            </a:pPr>
            <a:r>
              <a:rPr lang="en-US" sz="1224" b="1" dirty="0">
                <a:solidFill>
                  <a:srgbClr val="FFFFFF"/>
                </a:solidFill>
                <a:latin typeface="Calibri" pitchFamily="34" charset="0"/>
                <a:ea typeface="Calibri" pitchFamily="34" charset="-122"/>
                <a:cs typeface="Calibri" pitchFamily="34" charset="-120"/>
              </a:rPr>
              <a:t>6</a:t>
            </a:r>
            <a:endParaRPr lang="en-US" sz="1224" dirty="0"/>
          </a:p>
        </p:txBody>
      </p:sp>
      <p:sp>
        <p:nvSpPr>
          <p:cNvPr id="50" name="Text 48"/>
          <p:cNvSpPr/>
          <p:nvPr/>
        </p:nvSpPr>
        <p:spPr>
          <a:xfrm>
            <a:off x="1152144" y="5074920"/>
            <a:ext cx="1645920" cy="512064"/>
          </a:xfrm>
          <a:prstGeom prst="rect">
            <a:avLst/>
          </a:prstGeom>
          <a:noFill/>
          <a:ln/>
        </p:spPr>
        <p:txBody>
          <a:bodyPr wrap="square" lIns="0" tIns="0" rIns="0" bIns="0" rtlCol="0" anchor="ctr"/>
          <a:lstStyle/>
          <a:p>
            <a:pPr indent="0" marL="0">
              <a:buNone/>
            </a:pPr>
            <a:r>
              <a:rPr lang="en-US" sz="1150" b="1" dirty="0">
                <a:solidFill>
                  <a:srgbClr val="E5484D"/>
                </a:solidFill>
                <a:latin typeface="Calibri" pitchFamily="34" charset="0"/>
                <a:ea typeface="Calibri" pitchFamily="34" charset="-122"/>
                <a:cs typeface="Calibri" pitchFamily="34" charset="-120"/>
              </a:rPr>
              <a:t>Export + log actual</a:t>
            </a:r>
            <a:endParaRPr lang="en-US" sz="1150" dirty="0"/>
          </a:p>
        </p:txBody>
      </p:sp>
      <p:sp>
        <p:nvSpPr>
          <p:cNvPr id="51" name="Text 49"/>
          <p:cNvSpPr/>
          <p:nvPr/>
        </p:nvSpPr>
        <p:spPr>
          <a:xfrm>
            <a:off x="2834640" y="5102352"/>
            <a:ext cx="3200400" cy="475488"/>
          </a:xfrm>
          <a:prstGeom prst="rect">
            <a:avLst/>
          </a:prstGeom>
          <a:noFill/>
          <a:ln/>
        </p:spPr>
        <p:txBody>
          <a:bodyPr wrap="square" lIns="0" tIns="0" rIns="0" bIns="0" rtlCol="0" anchor="ctr"/>
          <a:lstStyle/>
          <a:p>
            <a:pPr indent="0" marL="0">
              <a:lnSpc>
                <a:spcPct val="98000"/>
              </a:lnSpc>
              <a:buNone/>
            </a:pPr>
            <a:r>
              <a:rPr lang="en-US" sz="900" dirty="0">
                <a:solidFill>
                  <a:srgbClr val="3E4C63"/>
                </a:solidFill>
                <a:latin typeface="Calibri" pitchFamily="34" charset="0"/>
                <a:ea typeface="Calibri" pitchFamily="34" charset="-122"/>
                <a:cs typeface="Calibri" pitchFamily="34" charset="-120"/>
              </a:rPr>
              <a:t>Export Excel and PDF, then “Log Actual £”</a:t>
            </a:r>
            <a:endParaRPr lang="en-US" sz="900" dirty="0"/>
          </a:p>
        </p:txBody>
      </p:sp>
      <p:sp>
        <p:nvSpPr>
          <p:cNvPr id="52" name="Text 50"/>
          <p:cNvSpPr/>
          <p:nvPr/>
        </p:nvSpPr>
        <p:spPr>
          <a:xfrm>
            <a:off x="6080760" y="5102352"/>
            <a:ext cx="1737360" cy="475488"/>
          </a:xfrm>
          <a:prstGeom prst="rect">
            <a:avLst/>
          </a:prstGeom>
          <a:noFill/>
          <a:ln/>
        </p:spPr>
        <p:txBody>
          <a:bodyPr wrap="square" lIns="0" tIns="0" rIns="0" bIns="0" rtlCol="0" anchor="ctr"/>
          <a:lstStyle/>
          <a:p>
            <a:pPr indent="0" marL="0">
              <a:lnSpc>
                <a:spcPct val="98000"/>
              </a:lnSpc>
              <a:buNone/>
            </a:pPr>
            <a:r>
              <a:rPr lang="en-US" sz="850" i="1" dirty="0">
                <a:solidFill>
                  <a:srgbClr val="8A97A8"/>
                </a:solidFill>
                <a:latin typeface="Calibri" pitchFamily="34" charset="0"/>
                <a:ea typeface="Calibri" pitchFamily="34" charset="-122"/>
                <a:cs typeface="Calibri" pitchFamily="34" charset="-120"/>
              </a:rPr>
              <a:t>→ the files match the screen to the penny</a:t>
            </a:r>
            <a:endParaRPr lang="en-US" sz="850" dirty="0"/>
          </a:p>
        </p:txBody>
      </p:sp>
      <p:sp>
        <p:nvSpPr>
          <p:cNvPr id="53" name="Shape 51"/>
          <p:cNvSpPr/>
          <p:nvPr/>
        </p:nvSpPr>
        <p:spPr>
          <a:xfrm>
            <a:off x="8165592" y="2057400"/>
            <a:ext cx="3477463" cy="3529584"/>
          </a:xfrm>
          <a:prstGeom prst="roundRect">
            <a:avLst>
              <a:gd name="adj" fmla="val 1841"/>
            </a:avLst>
          </a:prstGeom>
          <a:solidFill>
            <a:srgbClr val="F3EEFE"/>
          </a:solidFill>
          <a:ln w="12700">
            <a:solidFill>
              <a:srgbClr val="E4EAF2"/>
            </a:solidFill>
            <a:prstDash val="solid"/>
          </a:ln>
        </p:spPr>
        <p:txBody>
          <a:bodyPr/>
          <a:p/>
        </p:txBody>
      </p:sp>
      <p:sp>
        <p:nvSpPr>
          <p:cNvPr id="54" name="Shape 52"/>
          <p:cNvSpPr/>
          <p:nvPr/>
        </p:nvSpPr>
        <p:spPr>
          <a:xfrm>
            <a:off x="8165592" y="2057400"/>
            <a:ext cx="82296" cy="3529584"/>
          </a:xfrm>
          <a:prstGeom prst="rect">
            <a:avLst/>
          </a:prstGeom>
          <a:solidFill>
            <a:srgbClr val="7C3AED"/>
          </a:solidFill>
          <a:ln/>
        </p:spPr>
        <p:txBody>
          <a:bodyPr/>
          <a:p/>
        </p:txBody>
      </p:sp>
      <p:sp>
        <p:nvSpPr>
          <p:cNvPr id="55" name="Text 53"/>
          <p:cNvSpPr/>
          <p:nvPr/>
        </p:nvSpPr>
        <p:spPr>
          <a:xfrm>
            <a:off x="8421624" y="2221992"/>
            <a:ext cx="3020263" cy="320040"/>
          </a:xfrm>
          <a:prstGeom prst="rect">
            <a:avLst/>
          </a:prstGeom>
          <a:noFill/>
          <a:ln/>
        </p:spPr>
        <p:txBody>
          <a:bodyPr wrap="square" lIns="0" tIns="0" rIns="0" bIns="0" rtlCol="0" anchor="t"/>
          <a:lstStyle/>
          <a:p>
            <a:pPr indent="0" marL="0">
              <a:buNone/>
            </a:pPr>
            <a:r>
              <a:rPr lang="en-US" sz="1300" b="1" dirty="0">
                <a:solidFill>
                  <a:srgbClr val="7C3AED"/>
                </a:solidFill>
                <a:latin typeface="Calibri" pitchFamily="34" charset="0"/>
                <a:ea typeface="Calibri" pitchFamily="34" charset="-122"/>
                <a:cs typeface="Calibri" pitchFamily="34" charset="-120"/>
              </a:rPr>
              <a:t>Before we start</a:t>
            </a:r>
            <a:endParaRPr lang="en-US" sz="1300" dirty="0"/>
          </a:p>
        </p:txBody>
      </p:sp>
      <p:sp>
        <p:nvSpPr>
          <p:cNvPr id="56" name="Shape 54"/>
          <p:cNvSpPr/>
          <p:nvPr/>
        </p:nvSpPr>
        <p:spPr>
          <a:xfrm>
            <a:off x="8403336" y="2624328"/>
            <a:ext cx="274320" cy="274320"/>
          </a:xfrm>
          <a:prstGeom prst="ellipse">
            <a:avLst/>
          </a:prstGeom>
          <a:solidFill>
            <a:srgbClr val="F3EEFE"/>
          </a:solidFill>
          <a:ln/>
        </p:spPr>
        <p:txBody>
          <a:bodyPr/>
          <a:p/>
        </p:txBody>
      </p:sp>
      <p:sp>
        <p:nvSpPr>
          <p:cNvPr id="57" name="Text 55"/>
          <p:cNvSpPr/>
          <p:nvPr/>
        </p:nvSpPr>
        <p:spPr>
          <a:xfrm>
            <a:off x="8403336" y="26151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58" name="Text 56"/>
          <p:cNvSpPr/>
          <p:nvPr/>
        </p:nvSpPr>
        <p:spPr>
          <a:xfrm>
            <a:off x="8750808" y="26060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sample STEP part loaded</a:t>
            </a:r>
            <a:endParaRPr lang="en-US" sz="980" dirty="0"/>
          </a:p>
        </p:txBody>
      </p:sp>
      <p:sp>
        <p:nvSpPr>
          <p:cNvPr id="59" name="Shape 57"/>
          <p:cNvSpPr/>
          <p:nvPr/>
        </p:nvSpPr>
        <p:spPr>
          <a:xfrm>
            <a:off x="8403336" y="3081528"/>
            <a:ext cx="274320" cy="274320"/>
          </a:xfrm>
          <a:prstGeom prst="ellipse">
            <a:avLst/>
          </a:prstGeom>
          <a:solidFill>
            <a:srgbClr val="F3EEFE"/>
          </a:solidFill>
          <a:ln/>
        </p:spPr>
        <p:txBody>
          <a:bodyPr/>
          <a:p/>
        </p:txBody>
      </p:sp>
      <p:sp>
        <p:nvSpPr>
          <p:cNvPr id="60" name="Text 58"/>
          <p:cNvSpPr/>
          <p:nvPr/>
        </p:nvSpPr>
        <p:spPr>
          <a:xfrm>
            <a:off x="8403336" y="30723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1" name="Text 59"/>
          <p:cNvSpPr/>
          <p:nvPr/>
        </p:nvSpPr>
        <p:spPr>
          <a:xfrm>
            <a:off x="8750808" y="30632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STEP + DXF sheet part</a:t>
            </a:r>
            <a:endParaRPr lang="en-US" sz="980" dirty="0"/>
          </a:p>
        </p:txBody>
      </p:sp>
      <p:sp>
        <p:nvSpPr>
          <p:cNvPr id="62" name="Shape 60"/>
          <p:cNvSpPr/>
          <p:nvPr/>
        </p:nvSpPr>
        <p:spPr>
          <a:xfrm>
            <a:off x="8403336" y="3538728"/>
            <a:ext cx="274320" cy="274320"/>
          </a:xfrm>
          <a:prstGeom prst="ellipse">
            <a:avLst/>
          </a:prstGeom>
          <a:solidFill>
            <a:srgbClr val="F3EEFE"/>
          </a:solidFill>
          <a:ln/>
        </p:spPr>
        <p:txBody>
          <a:bodyPr/>
          <a:p/>
        </p:txBody>
      </p:sp>
      <p:sp>
        <p:nvSpPr>
          <p:cNvPr id="63" name="Text 61"/>
          <p:cNvSpPr/>
          <p:nvPr/>
        </p:nvSpPr>
        <p:spPr>
          <a:xfrm>
            <a:off x="8403336" y="35295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4" name="Text 62"/>
          <p:cNvSpPr/>
          <p:nvPr/>
        </p:nvSpPr>
        <p:spPr>
          <a:xfrm>
            <a:off x="8750808" y="35204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Our own rate set loaded</a:t>
            </a:r>
            <a:endParaRPr lang="en-US" sz="980" dirty="0"/>
          </a:p>
        </p:txBody>
      </p:sp>
      <p:sp>
        <p:nvSpPr>
          <p:cNvPr id="65" name="Shape 63"/>
          <p:cNvSpPr/>
          <p:nvPr/>
        </p:nvSpPr>
        <p:spPr>
          <a:xfrm>
            <a:off x="8403336" y="3995928"/>
            <a:ext cx="274320" cy="274320"/>
          </a:xfrm>
          <a:prstGeom prst="ellipse">
            <a:avLst/>
          </a:prstGeom>
          <a:solidFill>
            <a:srgbClr val="F3EEFE"/>
          </a:solidFill>
          <a:ln/>
        </p:spPr>
        <p:txBody>
          <a:bodyPr/>
          <a:p/>
        </p:txBody>
      </p:sp>
      <p:sp>
        <p:nvSpPr>
          <p:cNvPr id="66" name="Text 64"/>
          <p:cNvSpPr/>
          <p:nvPr/>
        </p:nvSpPr>
        <p:spPr>
          <a:xfrm>
            <a:off x="8403336" y="39867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67" name="Text 65"/>
          <p:cNvSpPr/>
          <p:nvPr/>
        </p:nvSpPr>
        <p:spPr>
          <a:xfrm>
            <a:off x="8750808" y="39776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supplier quote to paste</a:t>
            </a:r>
            <a:endParaRPr lang="en-US" sz="980" dirty="0"/>
          </a:p>
        </p:txBody>
      </p:sp>
      <p:sp>
        <p:nvSpPr>
          <p:cNvPr id="68" name="Shape 66"/>
          <p:cNvSpPr/>
          <p:nvPr/>
        </p:nvSpPr>
        <p:spPr>
          <a:xfrm>
            <a:off x="8403336" y="4453128"/>
            <a:ext cx="274320" cy="274320"/>
          </a:xfrm>
          <a:prstGeom prst="ellipse">
            <a:avLst/>
          </a:prstGeom>
          <a:solidFill>
            <a:srgbClr val="F3EEFE"/>
          </a:solidFill>
          <a:ln/>
        </p:spPr>
        <p:txBody>
          <a:bodyPr/>
          <a:p/>
        </p:txBody>
      </p:sp>
      <p:sp>
        <p:nvSpPr>
          <p:cNvPr id="69" name="Text 67"/>
          <p:cNvSpPr/>
          <p:nvPr/>
        </p:nvSpPr>
        <p:spPr>
          <a:xfrm>
            <a:off x="8403336" y="44439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70" name="Text 68"/>
          <p:cNvSpPr/>
          <p:nvPr/>
        </p:nvSpPr>
        <p:spPr>
          <a:xfrm>
            <a:off x="8750808" y="44348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A few actuals logged</a:t>
            </a:r>
            <a:endParaRPr lang="en-US" sz="980" dirty="0"/>
          </a:p>
        </p:txBody>
      </p:sp>
      <p:sp>
        <p:nvSpPr>
          <p:cNvPr id="71" name="Shape 69"/>
          <p:cNvSpPr/>
          <p:nvPr/>
        </p:nvSpPr>
        <p:spPr>
          <a:xfrm>
            <a:off x="8403336" y="4910328"/>
            <a:ext cx="274320" cy="274320"/>
          </a:xfrm>
          <a:prstGeom prst="ellipse">
            <a:avLst/>
          </a:prstGeom>
          <a:solidFill>
            <a:srgbClr val="F3EEFE"/>
          </a:solidFill>
          <a:ln/>
        </p:spPr>
        <p:txBody>
          <a:bodyPr/>
          <a:p/>
        </p:txBody>
      </p:sp>
      <p:sp>
        <p:nvSpPr>
          <p:cNvPr id="72" name="Text 70"/>
          <p:cNvSpPr/>
          <p:nvPr/>
        </p:nvSpPr>
        <p:spPr>
          <a:xfrm>
            <a:off x="8403336" y="4901184"/>
            <a:ext cx="274320" cy="274320"/>
          </a:xfrm>
          <a:prstGeom prst="rect">
            <a:avLst/>
          </a:prstGeom>
          <a:noFill/>
          <a:ln/>
        </p:spPr>
        <p:txBody>
          <a:bodyPr wrap="square" lIns="0" tIns="0" rIns="0" bIns="0" rtlCol="0" anchor="ctr"/>
          <a:lstStyle/>
          <a:p>
            <a:pPr algn="ctr" indent="0" marL="0">
              <a:buNone/>
            </a:pPr>
            <a:r>
              <a:rPr lang="en-US" sz="1000" b="1" dirty="0">
                <a:solidFill>
                  <a:srgbClr val="7C3AED"/>
                </a:solidFill>
                <a:latin typeface="Calibri" pitchFamily="34" charset="0"/>
                <a:ea typeface="Calibri" pitchFamily="34" charset="-122"/>
                <a:cs typeface="Calibri" pitchFamily="34" charset="-120"/>
              </a:rPr>
              <a:t>✓</a:t>
            </a:r>
            <a:endParaRPr lang="en-US" sz="1000" dirty="0"/>
          </a:p>
        </p:txBody>
      </p:sp>
      <p:sp>
        <p:nvSpPr>
          <p:cNvPr id="73" name="Text 71"/>
          <p:cNvSpPr/>
          <p:nvPr/>
        </p:nvSpPr>
        <p:spPr>
          <a:xfrm>
            <a:off x="8750808" y="4892040"/>
            <a:ext cx="2654503" cy="384048"/>
          </a:xfrm>
          <a:prstGeom prst="rect">
            <a:avLst/>
          </a:prstGeom>
          <a:noFill/>
          <a:ln/>
        </p:spPr>
        <p:txBody>
          <a:bodyPr wrap="square" lIns="0" tIns="0" rIns="0" bIns="0" rtlCol="0" anchor="ctr"/>
          <a:lstStyle/>
          <a:p>
            <a:pPr indent="0" marL="0">
              <a:buNone/>
            </a:pPr>
            <a:r>
              <a:rPr lang="en-US" sz="980" dirty="0">
                <a:solidFill>
                  <a:srgbClr val="3E4C63"/>
                </a:solidFill>
                <a:latin typeface="Calibri" pitchFamily="34" charset="0"/>
                <a:ea typeface="Calibri" pitchFamily="34" charset="-122"/>
                <a:cs typeface="Calibri" pitchFamily="34" charset="-120"/>
              </a:rPr>
              <a:t>Run it offline</a:t>
            </a:r>
            <a:endParaRPr lang="en-US" sz="980" dirty="0"/>
          </a:p>
        </p:txBody>
      </p:sp>
      <p:sp>
        <p:nvSpPr>
          <p:cNvPr id="74" name="Text 72"/>
          <p:cNvSpPr/>
          <p:nvPr/>
        </p:nvSpPr>
        <p:spPr>
          <a:xfrm>
            <a:off x="8421624" y="5312664"/>
            <a:ext cx="3020263" cy="320040"/>
          </a:xfrm>
          <a:prstGeom prst="rect">
            <a:avLst/>
          </a:prstGeom>
          <a:noFill/>
          <a:ln/>
        </p:spPr>
        <p:txBody>
          <a:bodyPr wrap="square" lIns="0" tIns="0" rIns="0" bIns="0" rtlCol="0" anchor="t"/>
          <a:lstStyle/>
          <a:p>
            <a:pPr indent="0" marL="0">
              <a:buNone/>
            </a:pPr>
            <a:r>
              <a:rPr lang="en-US" sz="950" b="1" i="1" dirty="0">
                <a:solidFill>
                  <a:srgbClr val="0F1E3D"/>
                </a:solidFill>
                <a:latin typeface="Calibri" pitchFamily="34" charset="0"/>
                <a:ea typeface="Calibri" pitchFamily="34" charset="-122"/>
                <a:cs typeface="Calibri" pitchFamily="34" charset="-120"/>
              </a:rPr>
              <a:t>Short on time? Do steps 1, 3 and 6.</a:t>
            </a:r>
            <a:endParaRPr lang="en-US" sz="950" dirty="0"/>
          </a:p>
        </p:txBody>
      </p:sp>
      <p:sp>
        <p:nvSpPr>
          <p:cNvPr id="75" name="Shape 73"/>
          <p:cNvSpPr/>
          <p:nvPr/>
        </p:nvSpPr>
        <p:spPr>
          <a:xfrm>
            <a:off x="548640" y="6400800"/>
            <a:ext cx="11094415" cy="12802"/>
          </a:xfrm>
          <a:prstGeom prst="rect">
            <a:avLst/>
          </a:prstGeom>
          <a:solidFill>
            <a:srgbClr val="E4EAF2"/>
          </a:solidFill>
          <a:ln/>
        </p:spPr>
        <p:txBody>
          <a:bodyPr/>
          <a:p/>
        </p:txBody>
      </p:sp>
      <p:sp>
        <p:nvSpPr>
          <p:cNvPr id="76" name="Text 74"/>
          <p:cNvSpPr/>
          <p:nvPr/>
        </p:nvSpPr>
        <p:spPr>
          <a:xfrm>
            <a:off x="548640" y="6473952"/>
            <a:ext cx="5486400" cy="256032"/>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CostVision  ·  Executive Briefing</a:t>
            </a:r>
            <a:endParaRPr lang="en-US" sz="850" dirty="0"/>
          </a:p>
        </p:txBody>
      </p:sp>
      <p:sp>
        <p:nvSpPr>
          <p:cNvPr id="77" name="Text 75"/>
          <p:cNvSpPr/>
          <p:nvPr/>
        </p:nvSpPr>
        <p:spPr>
          <a:xfrm>
            <a:off x="10728655" y="6473952"/>
            <a:ext cx="914400" cy="256032"/>
          </a:xfrm>
          <a:prstGeom prst="rect">
            <a:avLst/>
          </a:prstGeom>
          <a:noFill/>
          <a:ln/>
        </p:spPr>
        <p:txBody>
          <a:bodyPr wrap="square" lIns="0" tIns="0" rIns="0" bIns="0" rtlCol="0" anchor="ctr"/>
          <a:lstStyle/>
          <a:p>
            <a:pPr algn="r" indent="0" marL="0">
              <a:buNone/>
            </a:pPr>
            <a:r>
              <a:rPr lang="en-US" sz="850" dirty="0">
                <a:solidFill>
                  <a:srgbClr val="8A97A8"/>
                </a:solidFill>
                <a:latin typeface="Calibri" pitchFamily="34" charset="0"/>
                <a:ea typeface="Calibri" pitchFamily="34" charset="-122"/>
                <a:cs typeface="Calibri" pitchFamily="34" charset="-120"/>
              </a:rPr>
              <a:t>32 / 33</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E3B"/>
          </a:solidFill>
          <a:ln/>
        </p:spPr>
        <p:txBody>
          <a:bodyPr/>
          <a:p/>
        </p:txBody>
      </p:sp>
      <p:pic>
        <p:nvPicPr>
          <p:cNvPr id="3" name="Image 0" descr="/tmp/claude-0/-home-user-leamington-marathi/8bf32d1a-7485-5bd6-9947-7843ee6c5644/scratchpad/art/hero-photo.png">    </p:cNvPr>
          <p:cNvPicPr>
            <a:picLocks noChangeAspect="1"/>
          </p:cNvPicPr>
          <p:nvPr/>
        </p:nvPicPr>
        <p:blipFill>
          <a:blip r:embed="rId1"/>
          <a:stretch>
            <a:fillRect/>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061024">
              <a:alpha val="74000"/>
            </a:srgbClr>
          </a:solidFill>
          <a:ln/>
        </p:spPr>
        <p:txBody>
          <a:bodyPr/>
          <a:p/>
        </p:txBody>
      </p:sp>
      <p:sp>
        <p:nvSpPr>
          <p:cNvPr id="5" name="Shape 2"/>
          <p:cNvSpPr/>
          <p:nvPr/>
        </p:nvSpPr>
        <p:spPr>
          <a:xfrm>
            <a:off x="0" y="3566160"/>
            <a:ext cx="12191695" cy="3291840"/>
          </a:xfrm>
          <a:prstGeom prst="rect">
            <a:avLst/>
          </a:prstGeom>
          <a:solidFill>
            <a:srgbClr val="061024">
              <a:alpha val="84000"/>
            </a:srgbClr>
          </a:solidFill>
          <a:ln/>
        </p:spPr>
        <p:txBody>
          <a:bodyPr/>
          <a:p/>
        </p:txBody>
      </p:sp>
      <p:sp>
        <p:nvSpPr>
          <p:cNvPr id="6" name="Shape 3"/>
          <p:cNvSpPr/>
          <p:nvPr/>
        </p:nvSpPr>
        <p:spPr>
          <a:xfrm>
            <a:off x="0" y="0"/>
            <a:ext cx="146304" cy="6858000"/>
          </a:xfrm>
          <a:prstGeom prst="rect">
            <a:avLst/>
          </a:prstGeom>
          <a:solidFill>
            <a:srgbClr val="4F46E5"/>
          </a:solidFill>
          <a:ln/>
        </p:spPr>
        <p:txBody>
          <a:bodyPr/>
          <a:p/>
        </p:txBody>
      </p:sp>
      <p:sp>
        <p:nvSpPr>
          <p:cNvPr id="7" name="Shape 4"/>
          <p:cNvSpPr/>
          <p:nvPr/>
        </p:nvSpPr>
        <p:spPr>
          <a:xfrm>
            <a:off x="0" y="6729984"/>
            <a:ext cx="12191695" cy="128016"/>
          </a:xfrm>
          <a:prstGeom prst="rect">
            <a:avLst/>
          </a:prstGeom>
          <a:solidFill>
            <a:srgbClr val="2563EB"/>
          </a:solidFill>
          <a:ln/>
        </p:spPr>
        <p:txBody>
          <a:bodyPr/>
          <a:p/>
        </p:txBody>
      </p:sp>
      <p:sp>
        <p:nvSpPr>
          <p:cNvPr id="8" name="Shape 5"/>
          <p:cNvSpPr/>
          <p:nvPr/>
        </p:nvSpPr>
        <p:spPr>
          <a:xfrm>
            <a:off x="822960" y="640080"/>
            <a:ext cx="457200" cy="457200"/>
          </a:xfrm>
          <a:prstGeom prst="roundRect">
            <a:avLst>
              <a:gd name="adj" fmla="val 24000"/>
            </a:avLst>
          </a:prstGeom>
          <a:solidFill>
            <a:srgbClr val="4F46E5"/>
          </a:solidFill>
          <a:ln/>
        </p:spPr>
        <p:txBody>
          <a:bodyPr/>
          <a:p/>
        </p:txBody>
      </p:sp>
      <p:sp>
        <p:nvSpPr>
          <p:cNvPr id="9" name="Text 6"/>
          <p:cNvSpPr/>
          <p:nvPr/>
        </p:nvSpPr>
        <p:spPr>
          <a:xfrm>
            <a:off x="822960" y="64008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cv</a:t>
            </a:r>
            <a:endParaRPr lang="en-US" sz="1900" dirty="0"/>
          </a:p>
        </p:txBody>
      </p:sp>
      <p:sp>
        <p:nvSpPr>
          <p:cNvPr id="10" name="Text 7"/>
          <p:cNvSpPr/>
          <p:nvPr/>
        </p:nvSpPr>
        <p:spPr>
          <a:xfrm>
            <a:off x="1417320" y="658368"/>
            <a:ext cx="5486400" cy="41148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CostVision</a:t>
            </a:r>
            <a:endParaRPr lang="en-US" sz="1700" dirty="0"/>
          </a:p>
        </p:txBody>
      </p:sp>
      <p:sp>
        <p:nvSpPr>
          <p:cNvPr id="11" name="Text 8"/>
          <p:cNvSpPr/>
          <p:nvPr/>
        </p:nvSpPr>
        <p:spPr>
          <a:xfrm>
            <a:off x="822960" y="1828800"/>
            <a:ext cx="10789920" cy="1463040"/>
          </a:xfrm>
          <a:prstGeom prst="rect">
            <a:avLst/>
          </a:prstGeom>
          <a:noFill/>
          <a:ln/>
        </p:spPr>
        <p:txBody>
          <a:bodyPr wrap="square" lIns="0" tIns="0" rIns="0" bIns="0" rtlCol="0" anchor="t"/>
          <a:lstStyle/>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A CAD file in.</a:t>
            </a:r>
            <a:endParaRPr lang="en-US" sz="3400" dirty="0"/>
          </a:p>
          <a:p>
            <a:pPr indent="0" marL="0">
              <a:lnSpc>
                <a:spcPct val="106000"/>
              </a:lnSpc>
              <a:buNone/>
            </a:pPr>
            <a:r>
              <a:rPr lang="en-US" sz="3400" b="1" dirty="0">
                <a:solidFill>
                  <a:srgbClr val="FFFFFF"/>
                </a:solidFill>
                <a:latin typeface="Calibri" pitchFamily="34" charset="0"/>
                <a:ea typeface="Calibri" pitchFamily="34" charset="-122"/>
                <a:cs typeface="Calibri" pitchFamily="34" charset="-120"/>
              </a:rPr>
              <a:t>A traceable should-cost out.</a:t>
            </a:r>
            <a:endParaRPr lang="en-US" sz="3400" dirty="0"/>
          </a:p>
        </p:txBody>
      </p:sp>
      <p:sp>
        <p:nvSpPr>
          <p:cNvPr id="12" name="Text 9"/>
          <p:cNvSpPr/>
          <p:nvPr/>
        </p:nvSpPr>
        <p:spPr>
          <a:xfrm>
            <a:off x="850392" y="3429000"/>
            <a:ext cx="10972800" cy="457200"/>
          </a:xfrm>
          <a:prstGeom prst="rect">
            <a:avLst/>
          </a:prstGeom>
          <a:noFill/>
          <a:ln/>
        </p:spPr>
        <p:txBody>
          <a:bodyPr wrap="square" lIns="0" tIns="0" rIns="0" bIns="0" rtlCol="0" anchor="t"/>
          <a:lstStyle/>
          <a:p>
            <a:pPr indent="0" marL="0">
              <a:buNone/>
            </a:pPr>
            <a:r>
              <a:rPr lang="en-US" sz="1600" dirty="0">
                <a:solidFill>
                  <a:srgbClr val="CFE0F5"/>
                </a:solidFill>
                <a:latin typeface="Calibri" pitchFamily="34" charset="0"/>
                <a:ea typeface="Calibri" pitchFamily="34" charset="-122"/>
                <a:cs typeface="Calibri" pitchFamily="34" charset="-120"/>
              </a:rPr>
              <a:t>Measured · explainable · offline · ours — and honest about what is not yet proven.</a:t>
            </a:r>
            <a:endParaRPr lang="en-US" sz="1600" dirty="0"/>
          </a:p>
        </p:txBody>
      </p:sp>
      <p:sp>
        <p:nvSpPr>
          <p:cNvPr id="13" name="Text 10"/>
          <p:cNvSpPr/>
          <p:nvPr/>
        </p:nvSpPr>
        <p:spPr>
          <a:xfrm>
            <a:off x="850392" y="3840480"/>
            <a:ext cx="10058400" cy="274320"/>
          </a:xfrm>
          <a:prstGeom prst="rect">
            <a:avLst/>
          </a:prstGeom>
          <a:noFill/>
          <a:ln/>
        </p:spPr>
        <p:txBody>
          <a:bodyPr wrap="square" lIns="0" tIns="0" rIns="0" bIns="0" rtlCol="0" anchor="t"/>
          <a:lstStyle/>
          <a:p>
            <a:pPr indent="0" marL="0">
              <a:buNone/>
            </a:pPr>
            <a:r>
              <a:rPr lang="en-US" sz="1100" b="1" spc="150" kern="0" dirty="0">
                <a:solidFill>
                  <a:srgbClr val="8FB0D8"/>
                </a:solidFill>
                <a:latin typeface="Calibri" pitchFamily="34" charset="0"/>
                <a:ea typeface="Calibri" pitchFamily="34" charset="-122"/>
                <a:cs typeface="Calibri" pitchFamily="34" charset="-120"/>
              </a:rPr>
              <a:t>THE ASK — THREE SMALL DECISIONS</a:t>
            </a:r>
            <a:endParaRPr lang="en-US" sz="1100" dirty="0"/>
          </a:p>
        </p:txBody>
      </p:sp>
      <p:sp>
        <p:nvSpPr>
          <p:cNvPr id="14" name="Shape 11"/>
          <p:cNvSpPr/>
          <p:nvPr/>
        </p:nvSpPr>
        <p:spPr>
          <a:xfrm>
            <a:off x="822960" y="4206240"/>
            <a:ext cx="3383280" cy="1280160"/>
          </a:xfrm>
          <a:prstGeom prst="roundRect">
            <a:avLst>
              <a:gd name="adj" fmla="val 5714"/>
            </a:avLst>
          </a:prstGeom>
          <a:solidFill>
            <a:srgbClr val="FFFFFF">
              <a:alpha val="94000"/>
            </a:srgbClr>
          </a:solidFill>
          <a:ln/>
        </p:spPr>
        <p:txBody>
          <a:bodyPr/>
          <a:p/>
        </p:txBody>
      </p:sp>
      <p:sp>
        <p:nvSpPr>
          <p:cNvPr id="15" name="Shape 12"/>
          <p:cNvSpPr/>
          <p:nvPr/>
        </p:nvSpPr>
        <p:spPr>
          <a:xfrm>
            <a:off x="1097280" y="4434840"/>
            <a:ext cx="402336" cy="402336"/>
          </a:xfrm>
          <a:prstGeom prst="ellipse">
            <a:avLst/>
          </a:prstGeom>
          <a:solidFill>
            <a:srgbClr val="2E90FA"/>
          </a:solidFill>
          <a:ln/>
          <a:effectLst>
            <a:outerShdw sx="100000" sy="100000" kx="0" ky="0" algn="bl" rotWithShape="0" blurRad="9.608417496072131e+90" dist="2.8825252488216374e+90" dir="1.1845953345804043e+107">
              <a:srgbClr val="A7B6CE">
                <a:alpha val="1.800000000000001e+109"/>
              </a:srgbClr>
            </a:outerShdw>
          </a:effectLst>
        </p:spPr>
        <p:txBody>
          <a:bodyPr/>
          <a:p/>
        </p:txBody>
      </p:sp>
      <p:sp>
        <p:nvSpPr>
          <p:cNvPr id="16" name="Text 13"/>
          <p:cNvSpPr/>
          <p:nvPr/>
        </p:nvSpPr>
        <p:spPr>
          <a:xfrm>
            <a:off x="109728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1</a:t>
            </a:r>
            <a:endParaRPr lang="en-US" sz="1496" dirty="0"/>
          </a:p>
        </p:txBody>
      </p:sp>
      <p:sp>
        <p:nvSpPr>
          <p:cNvPr id="17" name="Text 14"/>
          <p:cNvSpPr/>
          <p:nvPr/>
        </p:nvSpPr>
        <p:spPr>
          <a:xfrm>
            <a:off x="160934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Approve a 6-week pilot</a:t>
            </a:r>
            <a:endParaRPr lang="en-US" sz="1200" dirty="0"/>
          </a:p>
        </p:txBody>
      </p:sp>
      <p:sp>
        <p:nvSpPr>
          <p:cNvPr id="18" name="Text 15"/>
          <p:cNvSpPr/>
          <p:nvPr/>
        </p:nvSpPr>
        <p:spPr>
          <a:xfrm>
            <a:off x="109728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on the laptop; log our historic actuals</a:t>
            </a:r>
            <a:endParaRPr lang="en-US" sz="950" dirty="0"/>
          </a:p>
        </p:txBody>
      </p:sp>
      <p:sp>
        <p:nvSpPr>
          <p:cNvPr id="19" name="Shape 16"/>
          <p:cNvSpPr/>
          <p:nvPr/>
        </p:nvSpPr>
        <p:spPr>
          <a:xfrm>
            <a:off x="4434840" y="4206240"/>
            <a:ext cx="3383280" cy="1280160"/>
          </a:xfrm>
          <a:prstGeom prst="roundRect">
            <a:avLst>
              <a:gd name="adj" fmla="val 5714"/>
            </a:avLst>
          </a:prstGeom>
          <a:solidFill>
            <a:srgbClr val="FFFFFF">
              <a:alpha val="94000"/>
            </a:srgbClr>
          </a:solidFill>
          <a:ln/>
        </p:spPr>
        <p:txBody>
          <a:bodyPr/>
          <a:p/>
        </p:txBody>
      </p:sp>
      <p:sp>
        <p:nvSpPr>
          <p:cNvPr id="20" name="Shape 17"/>
          <p:cNvSpPr/>
          <p:nvPr/>
        </p:nvSpPr>
        <p:spPr>
          <a:xfrm>
            <a:off x="4709160" y="4434840"/>
            <a:ext cx="402336" cy="402336"/>
          </a:xfrm>
          <a:prstGeom prst="ellipse">
            <a:avLst/>
          </a:prstGeom>
          <a:solidFill>
            <a:srgbClr val="2E90FA"/>
          </a:solidFill>
          <a:ln/>
          <a:effectLst>
            <a:outerShdw sx="100000" sy="100000" kx="0" ky="0" algn="bl" rotWithShape="0" blurRad="1.2202690220011606e+95" dist="3.6608070660034796e+94" dir="7.107572007482426e+111">
              <a:srgbClr val="A7B6CE">
                <a:alpha val="1.800000000000001e+114"/>
              </a:srgbClr>
            </a:outerShdw>
          </a:effectLst>
        </p:spPr>
        <p:txBody>
          <a:bodyPr/>
          <a:p/>
        </p:txBody>
      </p:sp>
      <p:sp>
        <p:nvSpPr>
          <p:cNvPr id="21" name="Text 18"/>
          <p:cNvSpPr/>
          <p:nvPr/>
        </p:nvSpPr>
        <p:spPr>
          <a:xfrm>
            <a:off x="470916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2</a:t>
            </a:r>
            <a:endParaRPr lang="en-US" sz="1496" dirty="0"/>
          </a:p>
        </p:txBody>
      </p:sp>
      <p:sp>
        <p:nvSpPr>
          <p:cNvPr id="22" name="Text 19"/>
          <p:cNvSpPr/>
          <p:nvPr/>
        </p:nvSpPr>
        <p:spPr>
          <a:xfrm>
            <a:off x="522122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Pick a first part family</a:t>
            </a:r>
            <a:endParaRPr lang="en-US" sz="1200" dirty="0"/>
          </a:p>
        </p:txBody>
      </p:sp>
      <p:sp>
        <p:nvSpPr>
          <p:cNvPr id="23" name="Text 20"/>
          <p:cNvSpPr/>
          <p:nvPr/>
        </p:nvSpPr>
        <p:spPr>
          <a:xfrm>
            <a:off x="470916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a CAD part or a live RFQ</a:t>
            </a:r>
            <a:endParaRPr lang="en-US" sz="950" dirty="0"/>
          </a:p>
        </p:txBody>
      </p:sp>
      <p:sp>
        <p:nvSpPr>
          <p:cNvPr id="24" name="Shape 21"/>
          <p:cNvSpPr/>
          <p:nvPr/>
        </p:nvSpPr>
        <p:spPr>
          <a:xfrm>
            <a:off x="8046720" y="4206240"/>
            <a:ext cx="3383280" cy="1280160"/>
          </a:xfrm>
          <a:prstGeom prst="roundRect">
            <a:avLst>
              <a:gd name="adj" fmla="val 5714"/>
            </a:avLst>
          </a:prstGeom>
          <a:solidFill>
            <a:srgbClr val="FFFFFF">
              <a:alpha val="94000"/>
            </a:srgbClr>
          </a:solidFill>
          <a:ln/>
        </p:spPr>
        <p:txBody>
          <a:bodyPr/>
          <a:p/>
        </p:txBody>
      </p:sp>
      <p:sp>
        <p:nvSpPr>
          <p:cNvPr id="25" name="Shape 22"/>
          <p:cNvSpPr/>
          <p:nvPr/>
        </p:nvSpPr>
        <p:spPr>
          <a:xfrm>
            <a:off x="8321040" y="4434840"/>
            <a:ext cx="402336" cy="402336"/>
          </a:xfrm>
          <a:prstGeom prst="ellipse">
            <a:avLst/>
          </a:prstGeom>
          <a:solidFill>
            <a:srgbClr val="2E90FA"/>
          </a:solidFill>
          <a:ln/>
          <a:effectLst>
            <a:outerShdw sx="100000" sy="100000" kx="0" ky="0" algn="bl" rotWithShape="0" blurRad="1.549741657941474e+99" dist="4.649224973824419e+98" dir="4.2645432044894554e+116">
              <a:srgbClr val="A7B6CE">
                <a:alpha val="1.800000000000001e+119"/>
              </a:srgbClr>
            </a:outerShdw>
          </a:effectLst>
        </p:spPr>
        <p:txBody>
          <a:bodyPr/>
          <a:p/>
        </p:txBody>
      </p:sp>
      <p:sp>
        <p:nvSpPr>
          <p:cNvPr id="26" name="Text 23"/>
          <p:cNvSpPr/>
          <p:nvPr/>
        </p:nvSpPr>
        <p:spPr>
          <a:xfrm>
            <a:off x="8321040" y="4434840"/>
            <a:ext cx="402336" cy="402336"/>
          </a:xfrm>
          <a:prstGeom prst="rect">
            <a:avLst/>
          </a:prstGeom>
          <a:noFill/>
          <a:ln/>
        </p:spPr>
        <p:txBody>
          <a:bodyPr wrap="square" lIns="0" tIns="0" rIns="0" bIns="0" rtlCol="0" anchor="ctr"/>
          <a:lstStyle/>
          <a:p>
            <a:pPr algn="ctr" indent="0" marL="0">
              <a:buNone/>
            </a:pPr>
            <a:r>
              <a:rPr lang="en-US" sz="1496" b="1" dirty="0">
                <a:solidFill>
                  <a:srgbClr val="FFFFFF"/>
                </a:solidFill>
                <a:latin typeface="Calibri" pitchFamily="34" charset="0"/>
                <a:ea typeface="Calibri" pitchFamily="34" charset="-122"/>
                <a:cs typeface="Calibri" pitchFamily="34" charset="-120"/>
              </a:rPr>
              <a:t>3</a:t>
            </a:r>
            <a:endParaRPr lang="en-US" sz="1496" dirty="0"/>
          </a:p>
        </p:txBody>
      </p:sp>
      <p:sp>
        <p:nvSpPr>
          <p:cNvPr id="27" name="Text 24"/>
          <p:cNvSpPr/>
          <p:nvPr/>
        </p:nvSpPr>
        <p:spPr>
          <a:xfrm>
            <a:off x="8833104" y="4434840"/>
            <a:ext cx="2468880" cy="457200"/>
          </a:xfrm>
          <a:prstGeom prst="rect">
            <a:avLst/>
          </a:prstGeom>
          <a:noFill/>
          <a:ln/>
        </p:spPr>
        <p:txBody>
          <a:bodyPr wrap="square" lIns="0" tIns="0" rIns="0" bIns="0"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Compare with prices paid</a:t>
            </a:r>
            <a:endParaRPr lang="en-US" sz="1200" dirty="0"/>
          </a:p>
        </p:txBody>
      </p:sp>
      <p:sp>
        <p:nvSpPr>
          <p:cNvPr id="28" name="Text 25"/>
          <p:cNvSpPr/>
          <p:nvPr/>
        </p:nvSpPr>
        <p:spPr>
          <a:xfrm>
            <a:off x="8321040" y="5029200"/>
            <a:ext cx="2926080" cy="365760"/>
          </a:xfrm>
          <a:prstGeom prst="rect">
            <a:avLst/>
          </a:prstGeom>
          <a:noFill/>
          <a:ln/>
        </p:spPr>
        <p:txBody>
          <a:bodyPr wrap="square" lIns="0" tIns="0" rIns="0" bIns="0" rtlCol="0" anchor="t"/>
          <a:lstStyle/>
          <a:p>
            <a:pPr indent="0" marL="0">
              <a:lnSpc>
                <a:spcPct val="105000"/>
              </a:lnSpc>
              <a:buNone/>
            </a:pPr>
            <a:r>
              <a:rPr lang="en-US" sz="950" dirty="0">
                <a:solidFill>
                  <a:srgbClr val="AFC4E2"/>
                </a:solidFill>
                <a:latin typeface="Calibri" pitchFamily="34" charset="0"/>
                <a:ea typeface="Calibri" pitchFamily="34" charset="-122"/>
                <a:cs typeface="Calibri" pitchFamily="34" charset="-120"/>
              </a:rPr>
              <a:t>the first real accuracy measure</a:t>
            </a:r>
            <a:endParaRPr lang="en-US" sz="950" dirty="0"/>
          </a:p>
        </p:txBody>
      </p:sp>
      <p:sp>
        <p:nvSpPr>
          <p:cNvPr id="29" name="Text 26"/>
          <p:cNvSpPr/>
          <p:nvPr/>
        </p:nvSpPr>
        <p:spPr>
          <a:xfrm>
            <a:off x="850392" y="5989320"/>
            <a:ext cx="10972800" cy="365760"/>
          </a:xfrm>
          <a:prstGeom prst="rect">
            <a:avLst/>
          </a:prstGeom>
          <a:noFill/>
          <a:ln/>
        </p:spPr>
        <p:txBody>
          <a:bodyPr wrap="square" lIns="0" tIns="0" rIns="0" bIns="0" rtlCol="0" anchor="t"/>
          <a:lstStyle/>
          <a:p>
            <a:pPr indent="0" marL="0">
              <a:buNone/>
            </a:pPr>
            <a:r>
              <a:rPr lang="en-US" sz="1200" dirty="0">
                <a:solidFill>
                  <a:srgbClr val="8FA6C6"/>
                </a:solidFill>
                <a:latin typeface="Calibri" pitchFamily="34" charset="0"/>
                <a:ea typeface="Calibri" pitchFamily="34" charset="-122"/>
                <a:cs typeface="Calibri" pitchFamily="34" charset="-120"/>
              </a:rPr>
              <a:t>Thank you  ·  happy to take questions, or run the live system now</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CostVision — AI Cost Intelligence Platform</dc:title>
  <dc:subject>PptxGenJS Presentation</dc:subject>
  <dc:creator>CostVision</dc:creator>
  <cp:lastModifiedBy>CostVision</cp:lastModifiedBy>
  <cp:revision>1</cp:revision>
  <dcterms:created xsi:type="dcterms:W3CDTF">2026-07-21T12:38:07Z</dcterms:created>
  <dcterms:modified xsi:type="dcterms:W3CDTF">2026-07-21T12:38:07Z</dcterms:modified>
</cp:coreProperties>
</file>