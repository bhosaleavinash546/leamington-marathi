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E0900C"/>
            </a:solidFill>
            <a:effectLst/>
          </c:spPr>
          <c:invertIfNegative val="0"/>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CZ</c:v>
                  </c:pt>
                  <c:pt idx="6">
                    <c:v>DE</c:v>
                  </c:pt>
                  <c:pt idx="7">
                    <c:v>US</c:v>
                  </c:pt>
                </c:lvl>
              </c:multiLvlStrCache>
            </c:multiLvlStrRef>
          </c:cat>
          <c:val>
            <c:numRef>
              <c:f>Sheet1!$B$2:$B$9</c:f>
              <c:numCache>
                <c:formatCode>General</c:formatCode>
                <c:ptCount val="8"/>
                <c:pt idx="0">
                  <c:v>37</c:v>
                </c:pt>
                <c:pt idx="1">
                  <c:v>39</c:v>
                </c:pt>
                <c:pt idx="2">
                  <c:v>40</c:v>
                </c:pt>
                <c:pt idx="3">
                  <c:v>43</c:v>
                </c:pt>
                <c:pt idx="4">
                  <c:v>45</c:v>
                </c:pt>
                <c:pt idx="5">
                  <c:v>46</c:v>
                </c:pt>
                <c:pt idx="6">
                  <c:v>55</c:v>
                </c:pt>
                <c:pt idx="7">
                  <c:v>56</c:v>
                </c:pt>
              </c:numCache>
            </c:numRef>
          </c:val>
        </c:ser>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In one sentence: it turns an engineering input — a CAD model, a photo of a circuit board, even a plain-English description — into a defensible, auditable should-cost, in minutes rather than weeks. And unlike a spreadsheet, it learns from every real quote we feed it. Today I'll walk the whole platform, go deep on CAD-to-Cost, show the AI under the hood, and finish with how we'd roll it out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The problem we all live with: costing is slow, it depends on who does it, and it's inconsistent — and the expertise walks out the door when a senior engineer retires. CostVision is our answer to that. I'll start with the problem in a bit more depth, then give you the whole platform on one slide. Then we go deep where it matters most — CAD-to-Cost — before touring the other capabilities, and I'll close on trust, security, and exactly how we'd roll this out. Feel free to hold questions to the end, or jump in — whichever you prefer.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name the pain, because everyone in this room has felt it. Today, getting a defensible cost means a two-to-six week RFQ cycle, and what comes back is a single number with no breakdown — so when you want to challenge it, you can't. Worse, the answer depends on who did the estimate; two engineers give you two numbers. And the deepest problem of all: that expertise lives in people's heads and leaves when they do. CostVision flips all four. Minutes not weeks. A full breakdown you can interrogate. One consistent answer from a deterministic engine. And knowledge that compounds instead of evaporating. That's the shift — and everything that follows is how we deliver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Twenty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twenty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it takes standard CAD formats, no BOM or drawings required. The model IS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fourteen countries,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Machining, casting including high-pressure die-casting, sheet metal and stamping, forging, injection and blow moulding, thermoforming, rubber, composites, extrusion, harnesses, PCB and PCBA, painting, body-in-white assembly. And every one of those can be costed across twenty manufacturing regions, using real labour, energy and overhead rates — so you see the China-to-Germany spread from a single input, volume-corrected and landed-cost aware. That chart is illustrative, but every analysis computes exactly that spread for your part. This is what turns a costing tool into a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Speed: weeks of RFQ cycle collapse into minutes, so the first defensible number is on the table while the meeting is still happening. Margin: line-level should-cost lets you challenge every quote by driver — and remember, the agent alone surfaced around half a million pounds a year in a demo, unattended. Consistency and speed-to-competence: one answer for everyone, and juniors costing like seniors from day one. And the strategic one — a compounding asset: this becomes proprietary costing intelligence on our own servers. It grows with use, and a competitor can buy the same software but never our accumulated data. Net: faster quotes, better margins, consistent numbers, an asset that appreciates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Phase one, the pilot — six weeks: stand it up on-premise, seed the memory with our historic quotes, cost twenty or thirty live parts, and baseline the accuracy against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CostVision runs on-premise: the knowledge base and every analysis stay on our own servers and never leave the building. The AI provider key lives server-side only — the browser never sees it, and all AI calls proxy through our own server. It supports private routing and can run air-gapped for the most sensitive programmes. Every number carries provenance and every analysis is logged, so it's fully auditable. Critically, the accumulated intelligence is OUR IP — it doesn't walk out the door with a subscription. And access is role-based, on our own identity and infrastructure, under our governance. In short: your data, your infrastructure, your IP — which is exactly the posture a costing platform touching commercial pricing has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515600" cy="365760"/>
          </a:xfrm>
          <a:prstGeom prst="rect">
            <a:avLst/>
          </a:prstGeom>
          <a:noFill/>
          <a:ln/>
        </p:spPr>
        <p:txBody>
          <a:bodyPr wrap="square" lIns="0" tIns="0" rIns="0" bIns="0" rtlCol="0" anchor="t"/>
          <a:lstStyle/>
          <a:p>
            <a:pPr indent="0" marL="0">
              <a:buNone/>
            </a:pPr>
            <a:r>
              <a:rPr lang="en-US" sz="1150" dirty="0">
                <a:solidFill>
                  <a:srgbClr val="8FA6C6"/>
                </a:solidFill>
                <a:latin typeface="Calibri" pitchFamily="34" charset="0"/>
                <a:ea typeface="Calibri" pitchFamily="34" charset="-122"/>
                <a:cs typeface="Calibri" pitchFamily="34" charset="-120"/>
              </a:rPr>
              <a:t>Executive briefing &amp; live demo   ·   July 2026   ·   All figures verified from live system runs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22000"/>
              </a:lnSpc>
              <a:buNone/>
            </a:pPr>
            <a:r>
              <a:rPr lang="en-US" sz="1250" b="1" dirty="0">
                <a:solidFill>
                  <a:srgbClr val="0F1E3D"/>
                </a:solidFill>
                <a:latin typeface="Calibri" pitchFamily="34" charset="0"/>
                <a:ea typeface="Calibri" pitchFamily="34" charset="-122"/>
                <a:cs typeface="Calibri" pitchFamily="34" charset="-120"/>
              </a:rPr>
              <a:t>The picture:  </a:t>
            </a:r>
            <a:pPr indent="0" marL="0">
              <a:lnSpc>
                <a:spcPct val="122000"/>
              </a:lnSpc>
              <a:buNone/>
            </a:pPr>
            <a:r>
              <a:rPr lang="en-US" sz="1250" dirty="0">
                <a:solidFill>
                  <a:srgbClr val="3E4C63"/>
                </a:solidFill>
                <a:latin typeface="Calibri" pitchFamily="34" charset="0"/>
                <a:ea typeface="Calibri" pitchFamily="34" charset="-122"/>
                <a:cs typeface="Calibri" pitchFamily="34" charset="-120"/>
              </a:rPr>
              <a:t>cost estimating today is slow, expert-dependent and inconsistent — quotes take weeks, there is no line-of-sight into what a part should cost, and hard-won judgement leaves when people do. CostVision is our answer: one AI platform that costs any part from any input, explains every number, and turns should-cost into negotiating power — while the knowledge compounds as a company asset.</a:t>
            </a:r>
            <a:endParaRPr lang="en-US" sz="125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E5484D"/>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Why CostVision — the problem today</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Estimate anything, anywhere — engines &amp; regions</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 implementation blueprint</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19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5484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5484D"/>
                </a:solidFill>
                <a:latin typeface="Calibri" pitchFamily="34" charset="0"/>
                <a:ea typeface="Calibri" pitchFamily="34" charset="-122"/>
                <a:cs typeface="Calibri" pitchFamily="34" charset="-120"/>
              </a:rPr>
              <a:t>THE OPPORTUNITY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Why CostVision — the problem today</a:t>
            </a:r>
            <a:endParaRPr lang="en-US" sz="2400" dirty="0"/>
          </a:p>
        </p:txBody>
      </p:sp>
      <p:sp>
        <p:nvSpPr>
          <p:cNvPr id="9" name="Shape 7"/>
          <p:cNvSpPr/>
          <p:nvPr/>
        </p:nvSpPr>
        <p:spPr>
          <a:xfrm>
            <a:off x="548640" y="1371600"/>
            <a:ext cx="1051560" cy="45720"/>
          </a:xfrm>
          <a:prstGeom prst="rect">
            <a:avLst/>
          </a:prstGeom>
          <a:solidFill>
            <a:srgbClr val="E5484D"/>
          </a:solidFill>
          <a:ln/>
        </p:spPr>
      </p:sp>
      <p:sp>
        <p:nvSpPr>
          <p:cNvPr id="10" name="Shape 8"/>
          <p:cNvSpPr/>
          <p:nvPr/>
        </p:nvSpPr>
        <p:spPr>
          <a:xfrm>
            <a:off x="548640" y="1600200"/>
            <a:ext cx="5349240" cy="3657600"/>
          </a:xfrm>
          <a:prstGeom prst="roundRect">
            <a:avLst>
              <a:gd name="adj" fmla="val 1750"/>
            </a:avLst>
          </a:prstGeom>
          <a:solidFill>
            <a:srgbClr val="FFFFFF"/>
          </a:solidFill>
          <a:ln w="12700">
            <a:solidFill>
              <a:srgbClr val="E4EAF2"/>
            </a:solidFill>
            <a:prstDash val="solid"/>
          </a:ln>
        </p:spPr>
      </p:sp>
      <p:sp>
        <p:nvSpPr>
          <p:cNvPr id="11" name="Shape 9"/>
          <p:cNvSpPr/>
          <p:nvPr/>
        </p:nvSpPr>
        <p:spPr>
          <a:xfrm>
            <a:off x="548640" y="1600200"/>
            <a:ext cx="5349240" cy="457200"/>
          </a:xfrm>
          <a:prstGeom prst="rect">
            <a:avLst/>
          </a:prstGeom>
          <a:solidFill>
            <a:srgbClr val="FDECEC"/>
          </a:solidFill>
          <a:ln/>
        </p:spPr>
      </p:sp>
      <p:sp>
        <p:nvSpPr>
          <p:cNvPr id="12" name="Text 10"/>
          <p:cNvSpPr/>
          <p:nvPr/>
        </p:nvSpPr>
        <p:spPr>
          <a:xfrm>
            <a:off x="822960" y="1600200"/>
            <a:ext cx="4892040" cy="457200"/>
          </a:xfrm>
          <a:prstGeom prst="rect">
            <a:avLst/>
          </a:prstGeom>
          <a:noFill/>
          <a:ln/>
        </p:spPr>
        <p:txBody>
          <a:bodyPr wrap="square" lIns="0" tIns="0" rIns="0" bIns="0" rtlCol="0" anchor="ctr"/>
          <a:lstStyle/>
          <a:p>
            <a:pPr indent="0" marL="0">
              <a:buNone/>
            </a:pPr>
            <a:r>
              <a:rPr lang="en-US" sz="1300" b="1" dirty="0">
                <a:solidFill>
                  <a:srgbClr val="E5484D"/>
                </a:solidFill>
                <a:latin typeface="Calibri" pitchFamily="34" charset="0"/>
                <a:ea typeface="Calibri" pitchFamily="34" charset="-122"/>
                <a:cs typeface="Calibri" pitchFamily="34" charset="-120"/>
              </a:rPr>
              <a:t>TODAY</a:t>
            </a:r>
            <a:endParaRPr lang="en-US" sz="1300" dirty="0"/>
          </a:p>
        </p:txBody>
      </p:sp>
      <p:sp>
        <p:nvSpPr>
          <p:cNvPr id="13" name="Shape 11"/>
          <p:cNvSpPr/>
          <p:nvPr/>
        </p:nvSpPr>
        <p:spPr>
          <a:xfrm>
            <a:off x="804672" y="2240280"/>
            <a:ext cx="329184" cy="329184"/>
          </a:xfrm>
          <a:prstGeom prst="ellipse">
            <a:avLst/>
          </a:prstGeom>
          <a:solidFill>
            <a:srgbClr val="FDECEC"/>
          </a:solidFill>
          <a:ln/>
        </p:spPr>
      </p:sp>
      <p:sp>
        <p:nvSpPr>
          <p:cNvPr id="14" name="Text 12"/>
          <p:cNvSpPr/>
          <p:nvPr/>
        </p:nvSpPr>
        <p:spPr>
          <a:xfrm>
            <a:off x="804672" y="223113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1243584" y="218541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Weeks to a number</a:t>
            </a:r>
            <a:endParaRPr lang="en-US" sz="1250" dirty="0"/>
          </a:p>
        </p:txBody>
      </p:sp>
      <p:sp>
        <p:nvSpPr>
          <p:cNvPr id="16" name="Text 14"/>
          <p:cNvSpPr/>
          <p:nvPr/>
        </p:nvSpPr>
        <p:spPr>
          <a:xfrm>
            <a:off x="1243584" y="249631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2–6 week RFQ cycles just to learn a price</a:t>
            </a:r>
            <a:endParaRPr lang="en-US" sz="1000" dirty="0"/>
          </a:p>
        </p:txBody>
      </p:sp>
      <p:sp>
        <p:nvSpPr>
          <p:cNvPr id="17" name="Shape 15"/>
          <p:cNvSpPr/>
          <p:nvPr/>
        </p:nvSpPr>
        <p:spPr>
          <a:xfrm>
            <a:off x="804672" y="2971800"/>
            <a:ext cx="329184" cy="329184"/>
          </a:xfrm>
          <a:prstGeom prst="ellipse">
            <a:avLst/>
          </a:prstGeom>
          <a:solidFill>
            <a:srgbClr val="FDECEC"/>
          </a:solidFill>
          <a:ln/>
        </p:spPr>
      </p:sp>
      <p:sp>
        <p:nvSpPr>
          <p:cNvPr id="18" name="Text 16"/>
          <p:cNvSpPr/>
          <p:nvPr/>
        </p:nvSpPr>
        <p:spPr>
          <a:xfrm>
            <a:off x="804672" y="296265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19" name="Text 17"/>
          <p:cNvSpPr/>
          <p:nvPr/>
        </p:nvSpPr>
        <p:spPr>
          <a:xfrm>
            <a:off x="1243584" y="291693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 price, no breakdown</a:t>
            </a:r>
            <a:endParaRPr lang="en-US" sz="1250" dirty="0"/>
          </a:p>
        </p:txBody>
      </p:sp>
      <p:sp>
        <p:nvSpPr>
          <p:cNvPr id="20" name="Text 18"/>
          <p:cNvSpPr/>
          <p:nvPr/>
        </p:nvSpPr>
        <p:spPr>
          <a:xfrm>
            <a:off x="1243584" y="322783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no line-of-sight into material vs process vs margin</a:t>
            </a:r>
            <a:endParaRPr lang="en-US" sz="1000" dirty="0"/>
          </a:p>
        </p:txBody>
      </p:sp>
      <p:sp>
        <p:nvSpPr>
          <p:cNvPr id="21" name="Shape 19"/>
          <p:cNvSpPr/>
          <p:nvPr/>
        </p:nvSpPr>
        <p:spPr>
          <a:xfrm>
            <a:off x="804672" y="3703320"/>
            <a:ext cx="329184" cy="329184"/>
          </a:xfrm>
          <a:prstGeom prst="ellipse">
            <a:avLst/>
          </a:prstGeom>
          <a:solidFill>
            <a:srgbClr val="FDECEC"/>
          </a:solidFill>
          <a:ln/>
        </p:spPr>
      </p:sp>
      <p:sp>
        <p:nvSpPr>
          <p:cNvPr id="22" name="Text 20"/>
          <p:cNvSpPr/>
          <p:nvPr/>
        </p:nvSpPr>
        <p:spPr>
          <a:xfrm>
            <a:off x="804672" y="369417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43584" y="364845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Depends on who did it</a:t>
            </a:r>
            <a:endParaRPr lang="en-US" sz="1250" dirty="0"/>
          </a:p>
        </p:txBody>
      </p:sp>
      <p:sp>
        <p:nvSpPr>
          <p:cNvPr id="24" name="Text 22"/>
          <p:cNvSpPr/>
          <p:nvPr/>
        </p:nvSpPr>
        <p:spPr>
          <a:xfrm>
            <a:off x="1243584" y="395935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two estimators, two answers — no single source of truth</a:t>
            </a:r>
            <a:endParaRPr lang="en-US" sz="1000" dirty="0"/>
          </a:p>
        </p:txBody>
      </p:sp>
      <p:sp>
        <p:nvSpPr>
          <p:cNvPr id="25" name="Shape 23"/>
          <p:cNvSpPr/>
          <p:nvPr/>
        </p:nvSpPr>
        <p:spPr>
          <a:xfrm>
            <a:off x="804672" y="4434840"/>
            <a:ext cx="329184" cy="329184"/>
          </a:xfrm>
          <a:prstGeom prst="ellipse">
            <a:avLst/>
          </a:prstGeom>
          <a:solidFill>
            <a:srgbClr val="FDECEC"/>
          </a:solidFill>
          <a:ln/>
        </p:spPr>
      </p:sp>
      <p:sp>
        <p:nvSpPr>
          <p:cNvPr id="26" name="Text 24"/>
          <p:cNvSpPr/>
          <p:nvPr/>
        </p:nvSpPr>
        <p:spPr>
          <a:xfrm>
            <a:off x="804672" y="442569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37997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Knowledge walks out</a:t>
            </a:r>
            <a:endParaRPr lang="en-US" sz="1250" dirty="0"/>
          </a:p>
        </p:txBody>
      </p:sp>
      <p:sp>
        <p:nvSpPr>
          <p:cNvPr id="28" name="Text 26"/>
          <p:cNvSpPr/>
          <p:nvPr/>
        </p:nvSpPr>
        <p:spPr>
          <a:xfrm>
            <a:off x="1243584" y="469087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senior judgement leaves when people do</a:t>
            </a:r>
            <a:endParaRPr lang="en-US" sz="1000" dirty="0"/>
          </a:p>
        </p:txBody>
      </p:sp>
      <p:sp>
        <p:nvSpPr>
          <p:cNvPr id="29" name="Shape 27"/>
          <p:cNvSpPr/>
          <p:nvPr/>
        </p:nvSpPr>
        <p:spPr>
          <a:xfrm>
            <a:off x="6291072" y="1600200"/>
            <a:ext cx="5349240" cy="3657600"/>
          </a:xfrm>
          <a:prstGeom prst="roundRect">
            <a:avLst>
              <a:gd name="adj" fmla="val 1750"/>
            </a:avLst>
          </a:prstGeom>
          <a:solidFill>
            <a:srgbClr val="FFFFFF"/>
          </a:solidFill>
          <a:ln w="12700">
            <a:solidFill>
              <a:srgbClr val="E4EAF2"/>
            </a:solidFill>
            <a:prstDash val="solid"/>
          </a:ln>
        </p:spPr>
      </p:sp>
      <p:sp>
        <p:nvSpPr>
          <p:cNvPr id="30" name="Shape 28"/>
          <p:cNvSpPr/>
          <p:nvPr/>
        </p:nvSpPr>
        <p:spPr>
          <a:xfrm>
            <a:off x="6291072" y="1600200"/>
            <a:ext cx="5349240" cy="457200"/>
          </a:xfrm>
          <a:prstGeom prst="rect">
            <a:avLst/>
          </a:prstGeom>
          <a:solidFill>
            <a:srgbClr val="E7F7F0"/>
          </a:solidFill>
          <a:ln/>
        </p:spPr>
      </p:sp>
      <p:sp>
        <p:nvSpPr>
          <p:cNvPr id="31" name="Text 29"/>
          <p:cNvSpPr/>
          <p:nvPr/>
        </p:nvSpPr>
        <p:spPr>
          <a:xfrm>
            <a:off x="6565392" y="16002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a:t>
            </a:r>
            <a:endParaRPr lang="en-US" sz="1300" dirty="0"/>
          </a:p>
        </p:txBody>
      </p:sp>
      <p:sp>
        <p:nvSpPr>
          <p:cNvPr id="32" name="Shape 30"/>
          <p:cNvSpPr/>
          <p:nvPr/>
        </p:nvSpPr>
        <p:spPr>
          <a:xfrm>
            <a:off x="6547104" y="2240280"/>
            <a:ext cx="329184" cy="329184"/>
          </a:xfrm>
          <a:prstGeom prst="ellipse">
            <a:avLst/>
          </a:prstGeom>
          <a:solidFill>
            <a:srgbClr val="E7F7F0"/>
          </a:solidFill>
          <a:ln/>
        </p:spPr>
      </p:sp>
      <p:sp>
        <p:nvSpPr>
          <p:cNvPr id="33" name="Text 31"/>
          <p:cNvSpPr/>
          <p:nvPr/>
        </p:nvSpPr>
        <p:spPr>
          <a:xfrm>
            <a:off x="6547104" y="223113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6986016" y="218541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Minutes to a number</a:t>
            </a:r>
            <a:endParaRPr lang="en-US" sz="1250" dirty="0"/>
          </a:p>
        </p:txBody>
      </p:sp>
      <p:sp>
        <p:nvSpPr>
          <p:cNvPr id="35" name="Text 33"/>
          <p:cNvSpPr/>
          <p:nvPr/>
        </p:nvSpPr>
        <p:spPr>
          <a:xfrm>
            <a:off x="6986016" y="249631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CAD, photo or description → costed in minutes</a:t>
            </a:r>
            <a:endParaRPr lang="en-US" sz="1000" dirty="0"/>
          </a:p>
        </p:txBody>
      </p:sp>
      <p:sp>
        <p:nvSpPr>
          <p:cNvPr id="36" name="Shape 34"/>
          <p:cNvSpPr/>
          <p:nvPr/>
        </p:nvSpPr>
        <p:spPr>
          <a:xfrm>
            <a:off x="6547104" y="2971800"/>
            <a:ext cx="329184" cy="329184"/>
          </a:xfrm>
          <a:prstGeom prst="ellipse">
            <a:avLst/>
          </a:prstGeom>
          <a:solidFill>
            <a:srgbClr val="E7F7F0"/>
          </a:solidFill>
          <a:ln/>
        </p:spPr>
      </p:sp>
      <p:sp>
        <p:nvSpPr>
          <p:cNvPr id="37" name="Text 35"/>
          <p:cNvSpPr/>
          <p:nvPr/>
        </p:nvSpPr>
        <p:spPr>
          <a:xfrm>
            <a:off x="6547104" y="296265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6986016" y="291693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Full breakdown</a:t>
            </a:r>
            <a:endParaRPr lang="en-US" sz="1250" dirty="0"/>
          </a:p>
        </p:txBody>
      </p:sp>
      <p:sp>
        <p:nvSpPr>
          <p:cNvPr id="39" name="Text 37"/>
          <p:cNvSpPr/>
          <p:nvPr/>
        </p:nvSpPr>
        <p:spPr>
          <a:xfrm>
            <a:off x="6986016" y="322783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every £ traced to material, process, region, margin</a:t>
            </a:r>
            <a:endParaRPr lang="en-US" sz="1000" dirty="0"/>
          </a:p>
        </p:txBody>
      </p:sp>
      <p:sp>
        <p:nvSpPr>
          <p:cNvPr id="40" name="Shape 38"/>
          <p:cNvSpPr/>
          <p:nvPr/>
        </p:nvSpPr>
        <p:spPr>
          <a:xfrm>
            <a:off x="6547104" y="3703320"/>
            <a:ext cx="329184" cy="329184"/>
          </a:xfrm>
          <a:prstGeom prst="ellipse">
            <a:avLst/>
          </a:prstGeom>
          <a:solidFill>
            <a:srgbClr val="E7F7F0"/>
          </a:solidFill>
          <a:ln/>
        </p:spPr>
      </p:sp>
      <p:sp>
        <p:nvSpPr>
          <p:cNvPr id="41" name="Text 39"/>
          <p:cNvSpPr/>
          <p:nvPr/>
        </p:nvSpPr>
        <p:spPr>
          <a:xfrm>
            <a:off x="6547104" y="369417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6986016" y="364845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consistent answer</a:t>
            </a:r>
            <a:endParaRPr lang="en-US" sz="1250" dirty="0"/>
          </a:p>
        </p:txBody>
      </p:sp>
      <p:sp>
        <p:nvSpPr>
          <p:cNvPr id="43" name="Text 41"/>
          <p:cNvSpPr/>
          <p:nvPr/>
        </p:nvSpPr>
        <p:spPr>
          <a:xfrm>
            <a:off x="6986016" y="395935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deterministic engine — same part, same cost, every time</a:t>
            </a:r>
            <a:endParaRPr lang="en-US" sz="1000" dirty="0"/>
          </a:p>
        </p:txBody>
      </p:sp>
      <p:sp>
        <p:nvSpPr>
          <p:cNvPr id="44" name="Shape 42"/>
          <p:cNvSpPr/>
          <p:nvPr/>
        </p:nvSpPr>
        <p:spPr>
          <a:xfrm>
            <a:off x="6547104" y="4434840"/>
            <a:ext cx="329184" cy="329184"/>
          </a:xfrm>
          <a:prstGeom prst="ellipse">
            <a:avLst/>
          </a:prstGeom>
          <a:solidFill>
            <a:srgbClr val="E7F7F0"/>
          </a:solidFill>
          <a:ln/>
        </p:spPr>
      </p:sp>
      <p:sp>
        <p:nvSpPr>
          <p:cNvPr id="45" name="Text 43"/>
          <p:cNvSpPr/>
          <p:nvPr/>
        </p:nvSpPr>
        <p:spPr>
          <a:xfrm>
            <a:off x="6547104" y="442569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6" name="Text 44"/>
          <p:cNvSpPr/>
          <p:nvPr/>
        </p:nvSpPr>
        <p:spPr>
          <a:xfrm>
            <a:off x="6986016" y="437997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Knowledge compounds</a:t>
            </a:r>
            <a:endParaRPr lang="en-US" sz="1250" dirty="0"/>
          </a:p>
        </p:txBody>
      </p:sp>
      <p:sp>
        <p:nvSpPr>
          <p:cNvPr id="47" name="Text 45"/>
          <p:cNvSpPr/>
          <p:nvPr/>
        </p:nvSpPr>
        <p:spPr>
          <a:xfrm>
            <a:off x="6986016" y="469087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every analysis &amp; quote becomes a company asset</a:t>
            </a:r>
            <a:endParaRPr lang="en-US" sz="1000" dirty="0"/>
          </a:p>
        </p:txBody>
      </p:sp>
      <p:sp>
        <p:nvSpPr>
          <p:cNvPr id="48" name="Text 46"/>
          <p:cNvSpPr/>
          <p:nvPr/>
        </p:nvSpPr>
        <p:spPr>
          <a:xfrm>
            <a:off x="5952744" y="3154680"/>
            <a:ext cx="283464" cy="548640"/>
          </a:xfrm>
          <a:prstGeom prst="rect">
            <a:avLst/>
          </a:prstGeom>
          <a:noFill/>
          <a:ln/>
        </p:spPr>
        <p:txBody>
          <a:bodyPr wrap="square" lIns="0" tIns="0" rIns="0" bIns="0" rtlCol="0" anchor="ctr"/>
          <a:lstStyle/>
          <a:p>
            <a:pPr algn="ctr" indent="0" marL="0">
              <a:buNone/>
            </a:pPr>
            <a:r>
              <a:rPr lang="en-US" sz="2600" b="1" dirty="0">
                <a:solidFill>
                  <a:srgbClr val="0EA472"/>
                </a:solidFill>
                <a:latin typeface="Calibri" pitchFamily="34" charset="0"/>
                <a:ea typeface="Calibri" pitchFamily="34" charset="-122"/>
                <a:cs typeface="Calibri" pitchFamily="34" charset="-120"/>
              </a:rPr>
              <a:t>→</a:t>
            </a:r>
            <a:endParaRPr lang="en-US" sz="2600" dirty="0"/>
          </a:p>
        </p:txBody>
      </p:sp>
      <p:sp>
        <p:nvSpPr>
          <p:cNvPr id="49" name="Shape 47"/>
          <p:cNvSpPr/>
          <p:nvPr/>
        </p:nvSpPr>
        <p:spPr>
          <a:xfrm>
            <a:off x="548640" y="5486400"/>
            <a:ext cx="11091672" cy="566928"/>
          </a:xfrm>
          <a:prstGeom prst="roundRect">
            <a:avLst>
              <a:gd name="adj" fmla="val 11290"/>
            </a:avLst>
          </a:prstGeom>
          <a:solidFill>
            <a:srgbClr val="EAF1FE"/>
          </a:solidFill>
          <a:ln w="12700">
            <a:solidFill>
              <a:srgbClr val="E4EAF2"/>
            </a:solidFill>
            <a:prstDash val="solid"/>
          </a:ln>
        </p:spPr>
      </p:sp>
      <p:sp>
        <p:nvSpPr>
          <p:cNvPr id="50" name="Text 48"/>
          <p:cNvSpPr/>
          <p:nvPr/>
        </p:nvSpPr>
        <p:spPr>
          <a:xfrm>
            <a:off x="914400" y="548640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shift:  </a:t>
            </a:r>
            <a:pPr indent="0" marL="0">
              <a:buNone/>
            </a:pPr>
            <a:r>
              <a:rPr lang="en-US" sz="1200" dirty="0">
                <a:solidFill>
                  <a:srgbClr val="3E4C63"/>
                </a:solidFill>
                <a:latin typeface="Calibri" pitchFamily="34" charset="0"/>
                <a:ea typeface="Calibri" pitchFamily="34" charset="-122"/>
                <a:cs typeface="Calibri" pitchFamily="34" charset="-120"/>
              </a:rPr>
              <a:t>from a slow, opaque, person-dependent process to a fast, transparent, self-improving one — the same board or part, costed the same way, every time, by anyone on the team.</a:t>
            </a:r>
            <a:endParaRPr lang="en-US" sz="120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19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19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19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502920"/>
          </a:xfrm>
          <a:prstGeom prst="roundRect">
            <a:avLst>
              <a:gd name="adj" fmla="val 12727"/>
            </a:avLst>
          </a:prstGeom>
          <a:solidFill>
            <a:srgbClr val="E7F7F0"/>
          </a:solidFill>
          <a:ln w="12700">
            <a:solidFill>
              <a:srgbClr val="E4EAF2"/>
            </a:solidFill>
            <a:prstDash val="solid"/>
          </a:ln>
        </p:spPr>
      </p:sp>
      <p:sp>
        <p:nvSpPr>
          <p:cNvPr id="36" name="Text 34"/>
          <p:cNvSpPr/>
          <p:nvPr/>
        </p:nvSpPr>
        <p:spPr>
          <a:xfrm>
            <a:off x="914400" y="5303520"/>
            <a:ext cx="10332720" cy="50292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Supported today:  </a:t>
            </a:r>
            <a:pPr indent="0" marL="0">
              <a:buNone/>
            </a:pPr>
            <a:r>
              <a:rPr lang="en-US" sz="1150" dirty="0">
                <a:solidFill>
                  <a:srgbClr val="3E4C63"/>
                </a:solidFill>
                <a:latin typeface="Calibri" pitchFamily="34" charset="0"/>
                <a:ea typeface="Calibri" pitchFamily="34" charset="-122"/>
                <a:cs typeface="Calibri" pitchFamily="34" charset="-120"/>
              </a:rPr>
              <a:t>STEP · IGES · STL.  No BOM, no drawings, no manual keying — the model is the input.</a:t>
            </a:r>
            <a:endParaRPr lang="en-US" sz="115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19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STEP · IGES · STL</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19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19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19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19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 · ENGINES &amp; REGIONS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anywhere</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Shape 8"/>
          <p:cNvSpPr/>
          <p:nvPr/>
        </p:nvSpPr>
        <p:spPr>
          <a:xfrm>
            <a:off x="548640" y="1645920"/>
            <a:ext cx="5486400" cy="4160520"/>
          </a:xfrm>
          <a:prstGeom prst="roundRect">
            <a:avLst>
              <a:gd name="adj" fmla="val 1538"/>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11" name="Shape 9"/>
          <p:cNvSpPr/>
          <p:nvPr/>
        </p:nvSpPr>
        <p:spPr>
          <a:xfrm>
            <a:off x="548640" y="1645920"/>
            <a:ext cx="82296" cy="4160520"/>
          </a:xfrm>
          <a:prstGeom prst="rect">
            <a:avLst/>
          </a:prstGeom>
          <a:solidFill>
            <a:srgbClr val="E0900C"/>
          </a:solidFill>
          <a:ln/>
        </p:spPr>
      </p:sp>
      <p:sp>
        <p:nvSpPr>
          <p:cNvPr id="12" name="Text 10"/>
          <p:cNvSpPr/>
          <p:nvPr/>
        </p:nvSpPr>
        <p:spPr>
          <a:xfrm>
            <a:off x="841248" y="1828800"/>
            <a:ext cx="5029200"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19 commodity cost engines</a:t>
            </a:r>
            <a:endParaRPr lang="en-US" sz="1450" dirty="0"/>
          </a:p>
        </p:txBody>
      </p:sp>
      <p:sp>
        <p:nvSpPr>
          <p:cNvPr id="13" name="Text 11"/>
          <p:cNvSpPr/>
          <p:nvPr/>
        </p:nvSpPr>
        <p:spPr>
          <a:xfrm>
            <a:off x="841248" y="2212848"/>
            <a:ext cx="5029200" cy="457200"/>
          </a:xfrm>
          <a:prstGeom prst="rect">
            <a:avLst/>
          </a:prstGeom>
          <a:noFill/>
          <a:ln/>
        </p:spPr>
        <p:txBody>
          <a:bodyPr wrap="square" lIns="0" tIns="0" rIns="0" bIns="0" rtlCol="0" anchor="t"/>
          <a:lstStyle/>
          <a:p>
            <a:pPr indent="0" marL="0">
              <a:lnSpc>
                <a:spcPct val="110000"/>
              </a:lnSpc>
              <a:buNone/>
            </a:pPr>
            <a:r>
              <a:rPr lang="en-US" sz="1050" dirty="0">
                <a:solidFill>
                  <a:srgbClr val="8A97A8"/>
                </a:solidFill>
                <a:latin typeface="Calibri" pitchFamily="34" charset="0"/>
                <a:ea typeface="Calibri" pitchFamily="34" charset="-122"/>
                <a:cs typeface="Calibri" pitchFamily="34" charset="-120"/>
              </a:rPr>
              <a:t>Purpose-built, bottom-up models — not one generic formula stretched over everything.</a:t>
            </a:r>
            <a:endParaRPr lang="en-US" sz="1050" dirty="0"/>
          </a:p>
        </p:txBody>
      </p:sp>
      <p:sp>
        <p:nvSpPr>
          <p:cNvPr id="14" name="Shape 12"/>
          <p:cNvSpPr/>
          <p:nvPr/>
        </p:nvSpPr>
        <p:spPr>
          <a:xfrm>
            <a:off x="841248" y="2697480"/>
            <a:ext cx="2468880" cy="457200"/>
          </a:xfrm>
          <a:prstGeom prst="roundRect">
            <a:avLst>
              <a:gd name="adj" fmla="val 16000"/>
            </a:avLst>
          </a:prstGeom>
          <a:solidFill>
            <a:srgbClr val="EAF1FE"/>
          </a:solidFill>
          <a:ln/>
        </p:spPr>
      </p:sp>
      <p:sp>
        <p:nvSpPr>
          <p:cNvPr id="15" name="Shape 13"/>
          <p:cNvSpPr/>
          <p:nvPr/>
        </p:nvSpPr>
        <p:spPr>
          <a:xfrm>
            <a:off x="987552" y="2871216"/>
            <a:ext cx="118872" cy="118872"/>
          </a:xfrm>
          <a:prstGeom prst="ellipse">
            <a:avLst/>
          </a:prstGeom>
          <a:solidFill>
            <a:srgbClr val="2563EB"/>
          </a:solidFill>
          <a:ln/>
        </p:spPr>
      </p:sp>
      <p:sp>
        <p:nvSpPr>
          <p:cNvPr id="16" name="Text 14"/>
          <p:cNvSpPr/>
          <p:nvPr/>
        </p:nvSpPr>
        <p:spPr>
          <a:xfrm>
            <a:off x="120700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Machining &amp; casting</a:t>
            </a:r>
            <a:endParaRPr lang="en-US" sz="950" dirty="0"/>
          </a:p>
        </p:txBody>
      </p:sp>
      <p:sp>
        <p:nvSpPr>
          <p:cNvPr id="17" name="Shape 15"/>
          <p:cNvSpPr/>
          <p:nvPr/>
        </p:nvSpPr>
        <p:spPr>
          <a:xfrm>
            <a:off x="3447288" y="2697480"/>
            <a:ext cx="2468880" cy="457200"/>
          </a:xfrm>
          <a:prstGeom prst="roundRect">
            <a:avLst>
              <a:gd name="adj" fmla="val 16000"/>
            </a:avLst>
          </a:prstGeom>
          <a:solidFill>
            <a:srgbClr val="E8F6FA"/>
          </a:solidFill>
          <a:ln/>
        </p:spPr>
      </p:sp>
      <p:sp>
        <p:nvSpPr>
          <p:cNvPr id="18" name="Shape 16"/>
          <p:cNvSpPr/>
          <p:nvPr/>
        </p:nvSpPr>
        <p:spPr>
          <a:xfrm>
            <a:off x="3593592" y="2871216"/>
            <a:ext cx="118872" cy="118872"/>
          </a:xfrm>
          <a:prstGeom prst="ellipse">
            <a:avLst/>
          </a:prstGeom>
          <a:solidFill>
            <a:srgbClr val="0E93B0"/>
          </a:solidFill>
          <a:ln/>
        </p:spPr>
      </p:sp>
      <p:sp>
        <p:nvSpPr>
          <p:cNvPr id="19" name="Text 17"/>
          <p:cNvSpPr/>
          <p:nvPr/>
        </p:nvSpPr>
        <p:spPr>
          <a:xfrm>
            <a:off x="381304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Sheet metal &amp; stamping</a:t>
            </a:r>
            <a:endParaRPr lang="en-US" sz="950" dirty="0"/>
          </a:p>
        </p:txBody>
      </p:sp>
      <p:sp>
        <p:nvSpPr>
          <p:cNvPr id="20" name="Shape 18"/>
          <p:cNvSpPr/>
          <p:nvPr/>
        </p:nvSpPr>
        <p:spPr>
          <a:xfrm>
            <a:off x="841248" y="3300984"/>
            <a:ext cx="2468880" cy="457200"/>
          </a:xfrm>
          <a:prstGeom prst="roundRect">
            <a:avLst>
              <a:gd name="adj" fmla="val 16000"/>
            </a:avLst>
          </a:prstGeom>
          <a:solidFill>
            <a:srgbClr val="E7F7F0"/>
          </a:solidFill>
          <a:ln/>
        </p:spPr>
      </p:sp>
      <p:sp>
        <p:nvSpPr>
          <p:cNvPr id="21" name="Shape 19"/>
          <p:cNvSpPr/>
          <p:nvPr/>
        </p:nvSpPr>
        <p:spPr>
          <a:xfrm>
            <a:off x="987552" y="3474720"/>
            <a:ext cx="118872" cy="118872"/>
          </a:xfrm>
          <a:prstGeom prst="ellipse">
            <a:avLst/>
          </a:prstGeom>
          <a:solidFill>
            <a:srgbClr val="0DA5A0"/>
          </a:solidFill>
          <a:ln/>
        </p:spPr>
      </p:sp>
      <p:sp>
        <p:nvSpPr>
          <p:cNvPr id="22" name="Text 20"/>
          <p:cNvSpPr/>
          <p:nvPr/>
        </p:nvSpPr>
        <p:spPr>
          <a:xfrm>
            <a:off x="120700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Forging</a:t>
            </a:r>
            <a:endParaRPr lang="en-US" sz="950" dirty="0"/>
          </a:p>
        </p:txBody>
      </p:sp>
      <p:sp>
        <p:nvSpPr>
          <p:cNvPr id="23" name="Shape 21"/>
          <p:cNvSpPr/>
          <p:nvPr/>
        </p:nvSpPr>
        <p:spPr>
          <a:xfrm>
            <a:off x="3447288" y="3300984"/>
            <a:ext cx="2468880" cy="457200"/>
          </a:xfrm>
          <a:prstGeom prst="roundRect">
            <a:avLst>
              <a:gd name="adj" fmla="val 16000"/>
            </a:avLst>
          </a:prstGeom>
          <a:solidFill>
            <a:srgbClr val="F3EEFE"/>
          </a:solidFill>
          <a:ln/>
        </p:spPr>
      </p:sp>
      <p:sp>
        <p:nvSpPr>
          <p:cNvPr id="24" name="Shape 22"/>
          <p:cNvSpPr/>
          <p:nvPr/>
        </p:nvSpPr>
        <p:spPr>
          <a:xfrm>
            <a:off x="3593592" y="3474720"/>
            <a:ext cx="118872" cy="118872"/>
          </a:xfrm>
          <a:prstGeom prst="ellipse">
            <a:avLst/>
          </a:prstGeom>
          <a:solidFill>
            <a:srgbClr val="7C3AED"/>
          </a:solidFill>
          <a:ln/>
        </p:spPr>
      </p:sp>
      <p:sp>
        <p:nvSpPr>
          <p:cNvPr id="25" name="Text 23"/>
          <p:cNvSpPr/>
          <p:nvPr/>
        </p:nvSpPr>
        <p:spPr>
          <a:xfrm>
            <a:off x="381304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Injection &amp; blow moulding</a:t>
            </a:r>
            <a:endParaRPr lang="en-US" sz="950" dirty="0"/>
          </a:p>
        </p:txBody>
      </p:sp>
      <p:sp>
        <p:nvSpPr>
          <p:cNvPr id="26" name="Shape 24"/>
          <p:cNvSpPr/>
          <p:nvPr/>
        </p:nvSpPr>
        <p:spPr>
          <a:xfrm>
            <a:off x="841248" y="3904488"/>
            <a:ext cx="2468880" cy="457200"/>
          </a:xfrm>
          <a:prstGeom prst="roundRect">
            <a:avLst>
              <a:gd name="adj" fmla="val 16000"/>
            </a:avLst>
          </a:prstGeom>
          <a:solidFill>
            <a:srgbClr val="EAF1FE"/>
          </a:solidFill>
          <a:ln/>
        </p:spPr>
      </p:sp>
      <p:sp>
        <p:nvSpPr>
          <p:cNvPr id="27" name="Shape 25"/>
          <p:cNvSpPr/>
          <p:nvPr/>
        </p:nvSpPr>
        <p:spPr>
          <a:xfrm>
            <a:off x="987552" y="4078224"/>
            <a:ext cx="118872" cy="118872"/>
          </a:xfrm>
          <a:prstGeom prst="ellipse">
            <a:avLst/>
          </a:prstGeom>
          <a:solidFill>
            <a:srgbClr val="4F46E5"/>
          </a:solidFill>
          <a:ln/>
        </p:spPr>
      </p:sp>
      <p:sp>
        <p:nvSpPr>
          <p:cNvPr id="28" name="Text 26"/>
          <p:cNvSpPr/>
          <p:nvPr/>
        </p:nvSpPr>
        <p:spPr>
          <a:xfrm>
            <a:off x="120700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Extrusion &amp; thermoforming</a:t>
            </a:r>
            <a:endParaRPr lang="en-US" sz="950" dirty="0"/>
          </a:p>
        </p:txBody>
      </p:sp>
      <p:sp>
        <p:nvSpPr>
          <p:cNvPr id="29" name="Shape 27"/>
          <p:cNvSpPr/>
          <p:nvPr/>
        </p:nvSpPr>
        <p:spPr>
          <a:xfrm>
            <a:off x="3447288" y="3904488"/>
            <a:ext cx="2468880" cy="457200"/>
          </a:xfrm>
          <a:prstGeom prst="roundRect">
            <a:avLst>
              <a:gd name="adj" fmla="val 16000"/>
            </a:avLst>
          </a:prstGeom>
          <a:solidFill>
            <a:srgbClr val="E7F7F0"/>
          </a:solidFill>
          <a:ln/>
        </p:spPr>
      </p:sp>
      <p:sp>
        <p:nvSpPr>
          <p:cNvPr id="30" name="Shape 28"/>
          <p:cNvSpPr/>
          <p:nvPr/>
        </p:nvSpPr>
        <p:spPr>
          <a:xfrm>
            <a:off x="3593592" y="4078224"/>
            <a:ext cx="118872" cy="118872"/>
          </a:xfrm>
          <a:prstGeom prst="ellipse">
            <a:avLst/>
          </a:prstGeom>
          <a:solidFill>
            <a:srgbClr val="0EA472"/>
          </a:solidFill>
          <a:ln/>
        </p:spPr>
      </p:sp>
      <p:sp>
        <p:nvSpPr>
          <p:cNvPr id="31" name="Text 29"/>
          <p:cNvSpPr/>
          <p:nvPr/>
        </p:nvSpPr>
        <p:spPr>
          <a:xfrm>
            <a:off x="381304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Rubber &amp; composites</a:t>
            </a:r>
            <a:endParaRPr lang="en-US" sz="950" dirty="0"/>
          </a:p>
        </p:txBody>
      </p:sp>
      <p:sp>
        <p:nvSpPr>
          <p:cNvPr id="32" name="Shape 30"/>
          <p:cNvSpPr/>
          <p:nvPr/>
        </p:nvSpPr>
        <p:spPr>
          <a:xfrm>
            <a:off x="841248" y="4507992"/>
            <a:ext cx="2468880" cy="457200"/>
          </a:xfrm>
          <a:prstGeom prst="roundRect">
            <a:avLst>
              <a:gd name="adj" fmla="val 16000"/>
            </a:avLst>
          </a:prstGeom>
          <a:solidFill>
            <a:srgbClr val="FEF6E7"/>
          </a:solidFill>
          <a:ln/>
        </p:spPr>
      </p:sp>
      <p:sp>
        <p:nvSpPr>
          <p:cNvPr id="33" name="Shape 31"/>
          <p:cNvSpPr/>
          <p:nvPr/>
        </p:nvSpPr>
        <p:spPr>
          <a:xfrm>
            <a:off x="987552" y="4681728"/>
            <a:ext cx="118872" cy="118872"/>
          </a:xfrm>
          <a:prstGeom prst="ellipse">
            <a:avLst/>
          </a:prstGeom>
          <a:solidFill>
            <a:srgbClr val="E0900C"/>
          </a:solidFill>
          <a:ln/>
        </p:spPr>
      </p:sp>
      <p:sp>
        <p:nvSpPr>
          <p:cNvPr id="34" name="Text 32"/>
          <p:cNvSpPr/>
          <p:nvPr/>
        </p:nvSpPr>
        <p:spPr>
          <a:xfrm>
            <a:off x="120700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PCB &amp; PCBA electronics</a:t>
            </a:r>
            <a:endParaRPr lang="en-US" sz="950" dirty="0"/>
          </a:p>
        </p:txBody>
      </p:sp>
      <p:sp>
        <p:nvSpPr>
          <p:cNvPr id="35" name="Shape 33"/>
          <p:cNvSpPr/>
          <p:nvPr/>
        </p:nvSpPr>
        <p:spPr>
          <a:xfrm>
            <a:off x="3447288" y="4507992"/>
            <a:ext cx="2468880" cy="457200"/>
          </a:xfrm>
          <a:prstGeom prst="roundRect">
            <a:avLst>
              <a:gd name="adj" fmla="val 16000"/>
            </a:avLst>
          </a:prstGeom>
          <a:solidFill>
            <a:srgbClr val="FDECEC"/>
          </a:solidFill>
          <a:ln/>
        </p:spPr>
      </p:sp>
      <p:sp>
        <p:nvSpPr>
          <p:cNvPr id="36" name="Shape 34"/>
          <p:cNvSpPr/>
          <p:nvPr/>
        </p:nvSpPr>
        <p:spPr>
          <a:xfrm>
            <a:off x="3593592" y="4681728"/>
            <a:ext cx="118872" cy="118872"/>
          </a:xfrm>
          <a:prstGeom prst="ellipse">
            <a:avLst/>
          </a:prstGeom>
          <a:solidFill>
            <a:srgbClr val="E5484D"/>
          </a:solidFill>
          <a:ln/>
        </p:spPr>
      </p:sp>
      <p:sp>
        <p:nvSpPr>
          <p:cNvPr id="37" name="Text 35"/>
          <p:cNvSpPr/>
          <p:nvPr/>
        </p:nvSpPr>
        <p:spPr>
          <a:xfrm>
            <a:off x="381304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Wiring harness &amp; assembly</a:t>
            </a:r>
            <a:endParaRPr lang="en-US" sz="950" dirty="0"/>
          </a:p>
        </p:txBody>
      </p:sp>
      <p:sp>
        <p:nvSpPr>
          <p:cNvPr id="38" name="Shape 36"/>
          <p:cNvSpPr/>
          <p:nvPr/>
        </p:nvSpPr>
        <p:spPr>
          <a:xfrm>
            <a:off x="841248" y="5111496"/>
            <a:ext cx="2468880" cy="457200"/>
          </a:xfrm>
          <a:prstGeom prst="roundRect">
            <a:avLst>
              <a:gd name="adj" fmla="val 16000"/>
            </a:avLst>
          </a:prstGeom>
          <a:solidFill>
            <a:srgbClr val="F4F7FB"/>
          </a:solidFill>
          <a:ln/>
        </p:spPr>
      </p:sp>
      <p:sp>
        <p:nvSpPr>
          <p:cNvPr id="39" name="Shape 37"/>
          <p:cNvSpPr/>
          <p:nvPr/>
        </p:nvSpPr>
        <p:spPr>
          <a:xfrm>
            <a:off x="987552" y="5285232"/>
            <a:ext cx="118872" cy="118872"/>
          </a:xfrm>
          <a:prstGeom prst="ellipse">
            <a:avLst/>
          </a:prstGeom>
          <a:solidFill>
            <a:srgbClr val="2E90FA"/>
          </a:solidFill>
          <a:ln/>
        </p:spPr>
      </p:sp>
      <p:sp>
        <p:nvSpPr>
          <p:cNvPr id="40" name="Text 38"/>
          <p:cNvSpPr/>
          <p:nvPr/>
        </p:nvSpPr>
        <p:spPr>
          <a:xfrm>
            <a:off x="120700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Painting &amp; surface finish</a:t>
            </a:r>
            <a:endParaRPr lang="en-US" sz="950" dirty="0"/>
          </a:p>
        </p:txBody>
      </p:sp>
      <p:sp>
        <p:nvSpPr>
          <p:cNvPr id="41" name="Shape 39"/>
          <p:cNvSpPr/>
          <p:nvPr/>
        </p:nvSpPr>
        <p:spPr>
          <a:xfrm>
            <a:off x="3447288" y="5111496"/>
            <a:ext cx="2468880" cy="457200"/>
          </a:xfrm>
          <a:prstGeom prst="roundRect">
            <a:avLst>
              <a:gd name="adj" fmla="val 16000"/>
            </a:avLst>
          </a:prstGeom>
          <a:solidFill>
            <a:srgbClr val="F4F7FB"/>
          </a:solidFill>
          <a:ln/>
        </p:spPr>
      </p:sp>
      <p:sp>
        <p:nvSpPr>
          <p:cNvPr id="42" name="Shape 40"/>
          <p:cNvSpPr/>
          <p:nvPr/>
        </p:nvSpPr>
        <p:spPr>
          <a:xfrm>
            <a:off x="3593592" y="5285232"/>
            <a:ext cx="118872" cy="118872"/>
          </a:xfrm>
          <a:prstGeom prst="ellipse">
            <a:avLst/>
          </a:prstGeom>
          <a:solidFill>
            <a:srgbClr val="8A97A8"/>
          </a:solidFill>
          <a:ln/>
        </p:spPr>
      </p:sp>
      <p:sp>
        <p:nvSpPr>
          <p:cNvPr id="43" name="Text 41"/>
          <p:cNvSpPr/>
          <p:nvPr/>
        </p:nvSpPr>
        <p:spPr>
          <a:xfrm>
            <a:off x="381304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Automotive software</a:t>
            </a:r>
            <a:endParaRPr lang="en-US" sz="950" dirty="0"/>
          </a:p>
        </p:txBody>
      </p:sp>
      <p:sp>
        <p:nvSpPr>
          <p:cNvPr id="44" name="Shape 42"/>
          <p:cNvSpPr/>
          <p:nvPr/>
        </p:nvSpPr>
        <p:spPr>
          <a:xfrm>
            <a:off x="6355080" y="1645920"/>
            <a:ext cx="5287975" cy="4160520"/>
          </a:xfrm>
          <a:prstGeom prst="roundRect">
            <a:avLst>
              <a:gd name="adj" fmla="val 1538"/>
            </a:avLst>
          </a:prstGeom>
          <a:solidFill>
            <a:srgbClr val="EAF1FE"/>
          </a:solidFill>
          <a:ln w="12700">
            <a:solidFill>
              <a:srgbClr val="E4EAF2"/>
            </a:solidFill>
            <a:prstDash val="solid"/>
          </a:ln>
        </p:spPr>
      </p:sp>
      <p:sp>
        <p:nvSpPr>
          <p:cNvPr id="45" name="Text 43"/>
          <p:cNvSpPr/>
          <p:nvPr/>
        </p:nvSpPr>
        <p:spPr>
          <a:xfrm>
            <a:off x="6647688" y="1828800"/>
            <a:ext cx="4830775"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Global should-cost — 20 regions</a:t>
            </a:r>
            <a:endParaRPr lang="en-US" sz="1450" dirty="0"/>
          </a:p>
        </p:txBody>
      </p:sp>
      <p:sp>
        <p:nvSpPr>
          <p:cNvPr id="46" name="Text 44"/>
          <p:cNvSpPr/>
          <p:nvPr/>
        </p:nvSpPr>
        <p:spPr>
          <a:xfrm>
            <a:off x="6647688" y="2212848"/>
            <a:ext cx="4739335" cy="548640"/>
          </a:xfrm>
          <a:prstGeom prst="rect">
            <a:avLst/>
          </a:prstGeom>
          <a:noFill/>
          <a:ln/>
        </p:spPr>
        <p:txBody>
          <a:bodyPr wrap="square" lIns="0" tIns="0" rIns="0" bIns="0" rtlCol="0" anchor="t"/>
          <a:lstStyle/>
          <a:p>
            <a:pPr indent="0" marL="0">
              <a:lnSpc>
                <a:spcPct val="112000"/>
              </a:lnSpc>
              <a:buNone/>
            </a:pPr>
            <a:r>
              <a:rPr lang="en-US" sz="1050" dirty="0">
                <a:solidFill>
                  <a:srgbClr val="8A97A8"/>
                </a:solidFill>
                <a:latin typeface="Calibri" pitchFamily="34" charset="0"/>
                <a:ea typeface="Calibri" pitchFamily="34" charset="-122"/>
                <a:cs typeface="Calibri" pitchFamily="34" charset="-120"/>
              </a:rPr>
              <a:t>The same part, priced with real labour, energy and overhead rates per region — landed-cost aware, volume-corrected.</a:t>
            </a:r>
            <a:endParaRPr lang="en-US" sz="1050" dirty="0"/>
          </a:p>
        </p:txBody>
      </p:sp>
      <p:graphicFrame>
        <p:nvGraphicFramePr>
          <p:cNvPr id="47" name="Chart 0" descr=""/>
          <p:cNvGraphicFramePr/>
          <p:nvPr/>
        </p:nvGraphicFramePr>
        <p:xfrm>
          <a:off x="6537960" y="2880360"/>
          <a:ext cx="4876495" cy="18288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p:nvPr/>
        </p:nvSpPr>
        <p:spPr>
          <a:xfrm>
            <a:off x="6647688" y="4892040"/>
            <a:ext cx="4739335" cy="640080"/>
          </a:xfrm>
          <a:prstGeom prst="rect">
            <a:avLst/>
          </a:prstGeom>
          <a:noFill/>
          <a:ln/>
        </p:spPr>
        <p:txBody>
          <a:bodyPr wrap="square" lIns="0" tIns="0" rIns="0" bIns="0" rtlCol="0" anchor="t"/>
          <a:lstStyle/>
          <a:p>
            <a:pPr indent="0" marL="0">
              <a:lnSpc>
                <a:spcPct val="110000"/>
              </a:lnSpc>
              <a:buNone/>
            </a:pPr>
            <a:r>
              <a:rPr lang="en-US" sz="950" i="1" dirty="0">
                <a:solidFill>
                  <a:srgbClr val="8A97A8"/>
                </a:solidFill>
                <a:latin typeface="Calibri" pitchFamily="34" charset="0"/>
                <a:ea typeface="Calibri" pitchFamily="34" charset="-122"/>
                <a:cs typeface="Calibri" pitchFamily="34" charset="-120"/>
              </a:rPr>
              <a:t>Illustrative — every analysis computes this spread for your part, with volume curves and lead-time &amp; quality indices.</a:t>
            </a:r>
            <a:endParaRPr lang="en-US" sz="950" dirty="0"/>
          </a:p>
        </p:txBody>
      </p:sp>
      <p:sp>
        <p:nvSpPr>
          <p:cNvPr id="49" name="Shape 46"/>
          <p:cNvSpPr/>
          <p:nvPr/>
        </p:nvSpPr>
        <p:spPr>
          <a:xfrm>
            <a:off x="548640" y="6400800"/>
            <a:ext cx="11094415" cy="12802"/>
          </a:xfrm>
          <a:prstGeom prst="rect">
            <a:avLst/>
          </a:prstGeom>
          <a:solidFill>
            <a:srgbClr val="E4EAF2"/>
          </a:solidFill>
          <a:ln/>
        </p:spPr>
      </p:sp>
      <p:sp>
        <p:nvSpPr>
          <p:cNvPr id="50"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19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Shape 52"/>
          <p:cNvSpPr/>
          <p:nvPr/>
        </p:nvSpPr>
        <p:spPr>
          <a:xfrm>
            <a:off x="548640" y="4983480"/>
            <a:ext cx="11091672" cy="914400"/>
          </a:xfrm>
          <a:prstGeom prst="roundRect">
            <a:avLst>
              <a:gd name="adj" fmla="val 7000"/>
            </a:avLst>
          </a:prstGeom>
          <a:solidFill>
            <a:srgbClr val="F3EEFE"/>
          </a:solidFill>
          <a:ln w="12700">
            <a:solidFill>
              <a:srgbClr val="E4EAF2"/>
            </a:solidFill>
            <a:prstDash val="solid"/>
          </a:ln>
        </p:spPr>
      </p:sp>
      <p:sp>
        <p:nvSpPr>
          <p:cNvPr id="55" name="Shape 53"/>
          <p:cNvSpPr/>
          <p:nvPr/>
        </p:nvSpPr>
        <p:spPr>
          <a:xfrm>
            <a:off x="548640" y="4983480"/>
            <a:ext cx="82296" cy="914400"/>
          </a:xfrm>
          <a:prstGeom prst="rect">
            <a:avLst/>
          </a:prstGeom>
          <a:solidFill>
            <a:srgbClr val="7C3AED"/>
          </a:solidFill>
          <a:ln/>
        </p:spPr>
      </p:sp>
      <p:sp>
        <p:nvSpPr>
          <p:cNvPr id="56" name="Text 54"/>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7" name="Shape 55"/>
          <p:cNvSpPr/>
          <p:nvPr/>
        </p:nvSpPr>
        <p:spPr>
          <a:xfrm>
            <a:off x="548640" y="6400800"/>
            <a:ext cx="11094415" cy="12802"/>
          </a:xfrm>
          <a:prstGeom prst="rect">
            <a:avLst/>
          </a:prstGeom>
          <a:solidFill>
            <a:srgbClr val="E4EAF2"/>
          </a:solidFill>
          <a:ln/>
        </p:spPr>
      </p:sp>
      <p:sp>
        <p:nvSpPr>
          <p:cNvPr id="58" name="Text 5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9" name="Text 5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19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19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19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19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19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19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1965960"/>
            <a:ext cx="82296" cy="1737360"/>
          </a:xfrm>
          <a:prstGeom prst="rect">
            <a:avLst/>
          </a:prstGeom>
          <a:solidFill>
            <a:srgbClr val="0EA472"/>
          </a:solidFill>
          <a:ln/>
        </p:spPr>
      </p:sp>
      <p:sp>
        <p:nvSpPr>
          <p:cNvPr id="13" name="Shape 11"/>
          <p:cNvSpPr/>
          <p:nvPr/>
        </p:nvSpPr>
        <p:spPr>
          <a:xfrm>
            <a:off x="786384" y="2185416"/>
            <a:ext cx="457200" cy="457200"/>
          </a:xfrm>
          <a:prstGeom prst="ellipse">
            <a:avLst/>
          </a:prstGeom>
          <a:solidFill>
            <a:srgbClr val="E7F7F0"/>
          </a:solidFill>
          <a:ln/>
        </p:spPr>
      </p:sp>
      <p:sp>
        <p:nvSpPr>
          <p:cNvPr id="14" name="Text 12"/>
          <p:cNvSpPr/>
          <p:nvPr/>
        </p:nvSpPr>
        <p:spPr>
          <a:xfrm>
            <a:off x="786384" y="2176272"/>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Runs inside our own walls — the knowledge base and every analysis stay on our servers and never leave.</a:t>
            </a:r>
            <a:endParaRPr lang="en-US" sz="980" dirty="0"/>
          </a:p>
        </p:txBody>
      </p:sp>
      <p:sp>
        <p:nvSpPr>
          <p:cNvPr id="17" name="Shape 15"/>
          <p:cNvSpPr/>
          <p:nvPr/>
        </p:nvSpPr>
        <p:spPr>
          <a:xfrm>
            <a:off x="4325112"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8" name="Shape 16"/>
          <p:cNvSpPr/>
          <p:nvPr/>
        </p:nvSpPr>
        <p:spPr>
          <a:xfrm>
            <a:off x="4325112" y="1965960"/>
            <a:ext cx="82296" cy="1737360"/>
          </a:xfrm>
          <a:prstGeom prst="rect">
            <a:avLst/>
          </a:prstGeom>
          <a:solidFill>
            <a:srgbClr val="2563EB"/>
          </a:solidFill>
          <a:ln/>
        </p:spPr>
      </p:sp>
      <p:sp>
        <p:nvSpPr>
          <p:cNvPr id="19" name="Shape 17"/>
          <p:cNvSpPr/>
          <p:nvPr/>
        </p:nvSpPr>
        <p:spPr>
          <a:xfrm>
            <a:off x="4562856" y="2185416"/>
            <a:ext cx="457200" cy="457200"/>
          </a:xfrm>
          <a:prstGeom prst="ellipse">
            <a:avLst/>
          </a:prstGeom>
          <a:solidFill>
            <a:srgbClr val="EAF1FE"/>
          </a:solidFill>
          <a:ln/>
        </p:spPr>
      </p:sp>
      <p:sp>
        <p:nvSpPr>
          <p:cNvPr id="20" name="Text 18"/>
          <p:cNvSpPr/>
          <p:nvPr/>
        </p:nvSpPr>
        <p:spPr>
          <a:xfrm>
            <a:off x="4562856" y="2176272"/>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AI provider key lives server-side (.env) — the browser never sees it. All AI calls proxy through our server.</a:t>
            </a:r>
            <a:endParaRPr lang="en-US" sz="980" dirty="0"/>
          </a:p>
        </p:txBody>
      </p:sp>
      <p:sp>
        <p:nvSpPr>
          <p:cNvPr id="23" name="Shape 21"/>
          <p:cNvSpPr/>
          <p:nvPr/>
        </p:nvSpPr>
        <p:spPr>
          <a:xfrm>
            <a:off x="8101584"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4" name="Shape 22"/>
          <p:cNvSpPr/>
          <p:nvPr/>
        </p:nvSpPr>
        <p:spPr>
          <a:xfrm>
            <a:off x="8101584" y="1965960"/>
            <a:ext cx="82296" cy="1737360"/>
          </a:xfrm>
          <a:prstGeom prst="rect">
            <a:avLst/>
          </a:prstGeom>
          <a:solidFill>
            <a:srgbClr val="7C3AED"/>
          </a:solidFill>
          <a:ln/>
        </p:spPr>
      </p:sp>
      <p:sp>
        <p:nvSpPr>
          <p:cNvPr id="25" name="Shape 23"/>
          <p:cNvSpPr/>
          <p:nvPr/>
        </p:nvSpPr>
        <p:spPr>
          <a:xfrm>
            <a:off x="8339328" y="2185416"/>
            <a:ext cx="457200" cy="457200"/>
          </a:xfrm>
          <a:prstGeom prst="ellipse">
            <a:avLst/>
          </a:prstGeom>
          <a:solidFill>
            <a:srgbClr val="F3EEFE"/>
          </a:solidFill>
          <a:ln/>
        </p:spPr>
      </p:sp>
      <p:sp>
        <p:nvSpPr>
          <p:cNvPr id="26" name="Text 24"/>
          <p:cNvSpPr/>
          <p:nvPr/>
        </p:nvSpPr>
        <p:spPr>
          <a:xfrm>
            <a:off x="8339328" y="2176272"/>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Supports private routing (ANTHROPIC_BASE_URL) and air-gapped operation for the most sensitive programmes.</a:t>
            </a:r>
            <a:endParaRPr lang="en-US" sz="980" dirty="0"/>
          </a:p>
        </p:txBody>
      </p:sp>
      <p:sp>
        <p:nvSpPr>
          <p:cNvPr id="29" name="Shape 27"/>
          <p:cNvSpPr/>
          <p:nvPr/>
        </p:nvSpPr>
        <p:spPr>
          <a:xfrm>
            <a:off x="548640"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0" name="Shape 28"/>
          <p:cNvSpPr/>
          <p:nvPr/>
        </p:nvSpPr>
        <p:spPr>
          <a:xfrm>
            <a:off x="548640" y="3904488"/>
            <a:ext cx="82296" cy="1737360"/>
          </a:xfrm>
          <a:prstGeom prst="rect">
            <a:avLst/>
          </a:prstGeom>
          <a:solidFill>
            <a:srgbClr val="0E93B0"/>
          </a:solidFill>
          <a:ln/>
        </p:spPr>
      </p:sp>
      <p:sp>
        <p:nvSpPr>
          <p:cNvPr id="31" name="Shape 29"/>
          <p:cNvSpPr/>
          <p:nvPr/>
        </p:nvSpPr>
        <p:spPr>
          <a:xfrm>
            <a:off x="786384" y="4123944"/>
            <a:ext cx="457200" cy="457200"/>
          </a:xfrm>
          <a:prstGeom prst="ellipse">
            <a:avLst/>
          </a:prstGeom>
          <a:solidFill>
            <a:srgbClr val="E8F6FA"/>
          </a:solidFill>
          <a:ln/>
        </p:spPr>
      </p:sp>
      <p:sp>
        <p:nvSpPr>
          <p:cNvPr id="32" name="Text 30"/>
          <p:cNvSpPr/>
          <p:nvPr/>
        </p:nvSpPr>
        <p:spPr>
          <a:xfrm>
            <a:off x="786384" y="4114800"/>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80" dirty="0"/>
          </a:p>
        </p:txBody>
      </p:sp>
      <p:sp>
        <p:nvSpPr>
          <p:cNvPr id="35" name="Shape 33"/>
          <p:cNvSpPr/>
          <p:nvPr/>
        </p:nvSpPr>
        <p:spPr>
          <a:xfrm>
            <a:off x="4325112"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36" name="Shape 34"/>
          <p:cNvSpPr/>
          <p:nvPr/>
        </p:nvSpPr>
        <p:spPr>
          <a:xfrm>
            <a:off x="4325112" y="3904488"/>
            <a:ext cx="82296" cy="1737360"/>
          </a:xfrm>
          <a:prstGeom prst="rect">
            <a:avLst/>
          </a:prstGeom>
          <a:solidFill>
            <a:srgbClr val="E0900C"/>
          </a:solidFill>
          <a:ln/>
        </p:spPr>
      </p:sp>
      <p:sp>
        <p:nvSpPr>
          <p:cNvPr id="37" name="Shape 35"/>
          <p:cNvSpPr/>
          <p:nvPr/>
        </p:nvSpPr>
        <p:spPr>
          <a:xfrm>
            <a:off x="4562856" y="4123944"/>
            <a:ext cx="457200" cy="457200"/>
          </a:xfrm>
          <a:prstGeom prst="ellipse">
            <a:avLst/>
          </a:prstGeom>
          <a:solidFill>
            <a:srgbClr val="FEF6E7"/>
          </a:solidFill>
          <a:ln/>
        </p:spPr>
      </p:sp>
      <p:sp>
        <p:nvSpPr>
          <p:cNvPr id="38" name="Text 36"/>
          <p:cNvSpPr/>
          <p:nvPr/>
        </p:nvSpPr>
        <p:spPr>
          <a:xfrm>
            <a:off x="4562856" y="4114800"/>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80" dirty="0"/>
          </a:p>
        </p:txBody>
      </p:sp>
      <p:sp>
        <p:nvSpPr>
          <p:cNvPr id="41" name="Shape 39"/>
          <p:cNvSpPr/>
          <p:nvPr/>
        </p:nvSpPr>
        <p:spPr>
          <a:xfrm>
            <a:off x="8101584"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42" name="Shape 40"/>
          <p:cNvSpPr/>
          <p:nvPr/>
        </p:nvSpPr>
        <p:spPr>
          <a:xfrm>
            <a:off x="8101584" y="3904488"/>
            <a:ext cx="82296" cy="1737360"/>
          </a:xfrm>
          <a:prstGeom prst="rect">
            <a:avLst/>
          </a:prstGeom>
          <a:solidFill>
            <a:srgbClr val="0DA5A0"/>
          </a:solidFill>
          <a:ln/>
        </p:spPr>
      </p:sp>
      <p:sp>
        <p:nvSpPr>
          <p:cNvPr id="43" name="Shape 41"/>
          <p:cNvSpPr/>
          <p:nvPr/>
        </p:nvSpPr>
        <p:spPr>
          <a:xfrm>
            <a:off x="8339328" y="4123944"/>
            <a:ext cx="457200" cy="457200"/>
          </a:xfrm>
          <a:prstGeom prst="ellipse">
            <a:avLst/>
          </a:prstGeom>
          <a:solidFill>
            <a:srgbClr val="E7F7F0"/>
          </a:solidFill>
          <a:ln/>
        </p:spPr>
      </p:sp>
      <p:sp>
        <p:nvSpPr>
          <p:cNvPr id="44" name="Text 42"/>
          <p:cNvSpPr/>
          <p:nvPr/>
        </p:nvSpPr>
        <p:spPr>
          <a:xfrm>
            <a:off x="8339328" y="4114800"/>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80" dirty="0"/>
          </a:p>
        </p:txBody>
      </p:sp>
      <p:sp>
        <p:nvSpPr>
          <p:cNvPr id="47" name="Shape 45"/>
          <p:cNvSpPr/>
          <p:nvPr/>
        </p:nvSpPr>
        <p:spPr>
          <a:xfrm>
            <a:off x="548640" y="6400800"/>
            <a:ext cx="11094415" cy="12802"/>
          </a:xfrm>
          <a:prstGeom prst="rect">
            <a:avLst/>
          </a:prstGeom>
          <a:solidFill>
            <a:srgbClr val="E4EAF2"/>
          </a:solidFill>
          <a:ln/>
        </p:spPr>
      </p:sp>
      <p:sp>
        <p:nvSpPr>
          <p:cNvPr id="48" name="Text 4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19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2.908260204281253e+70" dist="8.724780612843754e+69" dir="1.5233993500262402e+83">
              <a:srgbClr val="A7B6CE">
                <a:alpha val="1.8000000000000004e+8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3.693490459437191e+74" dist="1.1080471378311567e+74" dir="9.14039610015744e+87">
              <a:srgbClr val="A7B6CE">
                <a:alpha val="1.8000000000000005e+8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2026-07-20T11:30:41Z</dcterms:created>
  <dcterms:modified xsi:type="dcterms:W3CDTF">2026-07-20T11:30:41Z</dcterms:modified>
</cp:coreProperties>
</file>