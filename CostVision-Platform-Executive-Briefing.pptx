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you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give you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you select the material, the process, the machine, and you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you, it suggests the material and process with a confidence score you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you.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a 3D model alone is enough to get a defensible number, and if you attach the 2D drawing it reads the tolerances and GD&amp;T to sharpen the estimate further. The more you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anyone who says ‘your rates aren’t our rates.’ They don’t have to be. You can upload your own cost-rate database as one Excel workbook, and from that moment every costing runs on your numbers. Six categories, one tab each: materials with price per kilo and scrap recovery; the full machine-rate build-up that computes an hourly rate; fully-loaded labour by region and skill; energy; FX; and overhead and margin by commodity and tier. Who can do it? It’s admin-gated — an administrator uploads and can switch between your company rates and our built-in defaults, or reset; everyone else simply costs on whatever’s active, and a badge tells them which. The template is quick: download, fill, upload — and the server checks every row and rejects bad cells with a clear error, so you can’t silently corrupt the library. Every row is dated and carries a confidence flag. And updating is a single click: load a new dated rate set, activate it, and the whole portfolio re-prices — no re-keying. It’s versioned, so you can keep this-year versus last-year and see if an old scenario was costed on stale rates. Bottom line: your rates, validated, versioned and auditable, used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four-ninety-one is about twenty-three percent under the UK. But here's the sophistication your buyers will love — landed, once you add logistics and duty, that narrows to about twelve percent. The tool shows you both, so you don't chase a saving that shipping eats. And now the bit that fixes a real pain: you don't rebuild these should-costs by hand when your rates change. Material factors, labour, energy and overhead all live in one versioned rate library. Upload an updated, dated rate set once, and every part re-prices in a click. No more stale spreadsheets, no re-keying — the numbers reflect the latest rates you've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nine hundred and seventeen automated tests across seventy-nine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Your data, your infrastructure, your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you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you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your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548640" y="251460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768096" y="2706624"/>
            <a:ext cx="128016" cy="128016"/>
          </a:xfrm>
          <a:prstGeom prst="ellipse">
            <a:avLst/>
          </a:prstGeom>
          <a:solidFill>
            <a:srgbClr val="4F46E5"/>
          </a:solidFill>
          <a:ln/>
        </p:spPr>
      </p:sp>
      <p:sp>
        <p:nvSpPr>
          <p:cNvPr id="22" name="Text 20"/>
          <p:cNvSpPr/>
          <p:nvPr/>
        </p:nvSpPr>
        <p:spPr>
          <a:xfrm>
            <a:off x="1005840"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4325112" y="251460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4544568" y="2706624"/>
            <a:ext cx="128016" cy="128016"/>
          </a:xfrm>
          <a:prstGeom prst="ellipse">
            <a:avLst/>
          </a:prstGeom>
          <a:solidFill>
            <a:srgbClr val="2E90FA"/>
          </a:solidFill>
          <a:ln/>
        </p:spPr>
      </p:sp>
      <p:sp>
        <p:nvSpPr>
          <p:cNvPr id="25" name="Text 23"/>
          <p:cNvSpPr/>
          <p:nvPr/>
        </p:nvSpPr>
        <p:spPr>
          <a:xfrm>
            <a:off x="4782312"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8101584" y="25146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8321040" y="2706624"/>
            <a:ext cx="128016" cy="128016"/>
          </a:xfrm>
          <a:prstGeom prst="ellipse">
            <a:avLst/>
          </a:prstGeom>
          <a:solidFill>
            <a:srgbClr val="7C3AED"/>
          </a:solidFill>
          <a:ln/>
        </p:spPr>
      </p:sp>
      <p:sp>
        <p:nvSpPr>
          <p:cNvPr id="28" name="Text 26"/>
          <p:cNvSpPr/>
          <p:nvPr/>
        </p:nvSpPr>
        <p:spPr>
          <a:xfrm>
            <a:off x="8558784" y="25146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548640" y="315468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768096" y="3346704"/>
            <a:ext cx="128016" cy="128016"/>
          </a:xfrm>
          <a:prstGeom prst="ellipse">
            <a:avLst/>
          </a:prstGeom>
          <a:solidFill>
            <a:srgbClr val="0EA472"/>
          </a:solidFill>
          <a:ln/>
        </p:spPr>
      </p:sp>
      <p:sp>
        <p:nvSpPr>
          <p:cNvPr id="31" name="Text 29"/>
          <p:cNvSpPr/>
          <p:nvPr/>
        </p:nvSpPr>
        <p:spPr>
          <a:xfrm>
            <a:off x="1005840"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4325112" y="315468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4544568" y="3346704"/>
            <a:ext cx="128016" cy="128016"/>
          </a:xfrm>
          <a:prstGeom prst="ellipse">
            <a:avLst/>
          </a:prstGeom>
          <a:solidFill>
            <a:srgbClr val="E0900C"/>
          </a:solidFill>
          <a:ln/>
        </p:spPr>
      </p:sp>
      <p:sp>
        <p:nvSpPr>
          <p:cNvPr id="34" name="Text 32"/>
          <p:cNvSpPr/>
          <p:nvPr/>
        </p:nvSpPr>
        <p:spPr>
          <a:xfrm>
            <a:off x="4782312"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8101584" y="315468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8321040" y="3346704"/>
            <a:ext cx="128016" cy="128016"/>
          </a:xfrm>
          <a:prstGeom prst="ellipse">
            <a:avLst/>
          </a:prstGeom>
          <a:solidFill>
            <a:srgbClr val="E5484D"/>
          </a:solidFill>
          <a:ln/>
        </p:spPr>
      </p:sp>
      <p:sp>
        <p:nvSpPr>
          <p:cNvPr id="37" name="Text 35"/>
          <p:cNvSpPr/>
          <p:nvPr/>
        </p:nvSpPr>
        <p:spPr>
          <a:xfrm>
            <a:off x="8558784" y="31546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548640" y="379476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768096" y="3986784"/>
            <a:ext cx="128016" cy="128016"/>
          </a:xfrm>
          <a:prstGeom prst="ellipse">
            <a:avLst/>
          </a:prstGeom>
          <a:solidFill>
            <a:srgbClr val="2563EB"/>
          </a:solidFill>
          <a:ln/>
        </p:spPr>
      </p:sp>
      <p:sp>
        <p:nvSpPr>
          <p:cNvPr id="40" name="Text 38"/>
          <p:cNvSpPr/>
          <p:nvPr/>
        </p:nvSpPr>
        <p:spPr>
          <a:xfrm>
            <a:off x="1005840"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4325112" y="379476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4544568" y="3986784"/>
            <a:ext cx="128016" cy="128016"/>
          </a:xfrm>
          <a:prstGeom prst="ellipse">
            <a:avLst/>
          </a:prstGeom>
          <a:solidFill>
            <a:srgbClr val="0E93B0"/>
          </a:solidFill>
          <a:ln/>
        </p:spPr>
      </p:sp>
      <p:sp>
        <p:nvSpPr>
          <p:cNvPr id="43" name="Text 41"/>
          <p:cNvSpPr/>
          <p:nvPr/>
        </p:nvSpPr>
        <p:spPr>
          <a:xfrm>
            <a:off x="4782312"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8101584" y="379476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8321040" y="3986784"/>
            <a:ext cx="128016" cy="128016"/>
          </a:xfrm>
          <a:prstGeom prst="ellipse">
            <a:avLst/>
          </a:prstGeom>
          <a:solidFill>
            <a:srgbClr val="0DA5A0"/>
          </a:solidFill>
          <a:ln/>
        </p:spPr>
      </p:sp>
      <p:sp>
        <p:nvSpPr>
          <p:cNvPr id="46" name="Text 44"/>
          <p:cNvSpPr/>
          <p:nvPr/>
        </p:nvSpPr>
        <p:spPr>
          <a:xfrm>
            <a:off x="8558784" y="37947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548640" y="443484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768096" y="4626864"/>
            <a:ext cx="128016" cy="128016"/>
          </a:xfrm>
          <a:prstGeom prst="ellipse">
            <a:avLst/>
          </a:prstGeom>
          <a:solidFill>
            <a:srgbClr val="4F46E5"/>
          </a:solidFill>
          <a:ln/>
        </p:spPr>
      </p:sp>
      <p:sp>
        <p:nvSpPr>
          <p:cNvPr id="49" name="Text 47"/>
          <p:cNvSpPr/>
          <p:nvPr/>
        </p:nvSpPr>
        <p:spPr>
          <a:xfrm>
            <a:off x="1005840"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4325112" y="443484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4544568" y="4626864"/>
            <a:ext cx="128016" cy="128016"/>
          </a:xfrm>
          <a:prstGeom prst="ellipse">
            <a:avLst/>
          </a:prstGeom>
          <a:solidFill>
            <a:srgbClr val="2E90FA"/>
          </a:solidFill>
          <a:ln/>
        </p:spPr>
      </p:sp>
      <p:sp>
        <p:nvSpPr>
          <p:cNvPr id="52" name="Text 50"/>
          <p:cNvSpPr/>
          <p:nvPr/>
        </p:nvSpPr>
        <p:spPr>
          <a:xfrm>
            <a:off x="4782312"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8101584" y="443484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8321040" y="4626864"/>
            <a:ext cx="128016" cy="128016"/>
          </a:xfrm>
          <a:prstGeom prst="ellipse">
            <a:avLst/>
          </a:prstGeom>
          <a:solidFill>
            <a:srgbClr val="7C3AED"/>
          </a:solidFill>
          <a:ln/>
        </p:spPr>
      </p:sp>
      <p:sp>
        <p:nvSpPr>
          <p:cNvPr id="55" name="Text 53"/>
          <p:cNvSpPr/>
          <p:nvPr/>
        </p:nvSpPr>
        <p:spPr>
          <a:xfrm>
            <a:off x="8558784" y="44348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548640" y="50749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768096" y="5266944"/>
            <a:ext cx="128016" cy="128016"/>
          </a:xfrm>
          <a:prstGeom prst="ellipse">
            <a:avLst/>
          </a:prstGeom>
          <a:solidFill>
            <a:srgbClr val="0EA472"/>
          </a:solidFill>
          <a:ln/>
        </p:spPr>
      </p:sp>
      <p:sp>
        <p:nvSpPr>
          <p:cNvPr id="58" name="Text 56"/>
          <p:cNvSpPr/>
          <p:nvPr/>
        </p:nvSpPr>
        <p:spPr>
          <a:xfrm>
            <a:off x="1005840"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4325112" y="50749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4544568" y="5266944"/>
            <a:ext cx="128016" cy="128016"/>
          </a:xfrm>
          <a:prstGeom prst="ellipse">
            <a:avLst/>
          </a:prstGeom>
          <a:solidFill>
            <a:srgbClr val="E0900C"/>
          </a:solidFill>
          <a:ln/>
        </p:spPr>
      </p:sp>
      <p:sp>
        <p:nvSpPr>
          <p:cNvPr id="61" name="Text 59"/>
          <p:cNvSpPr/>
          <p:nvPr/>
        </p:nvSpPr>
        <p:spPr>
          <a:xfrm>
            <a:off x="4782312"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8101584" y="507492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8321040" y="5266944"/>
            <a:ext cx="128016" cy="128016"/>
          </a:xfrm>
          <a:prstGeom prst="ellipse">
            <a:avLst/>
          </a:prstGeom>
          <a:solidFill>
            <a:srgbClr val="E5484D"/>
          </a:solidFill>
          <a:ln/>
        </p:spPr>
      </p:sp>
      <p:sp>
        <p:nvSpPr>
          <p:cNvPr id="64" name="Text 62"/>
          <p:cNvSpPr/>
          <p:nvPr/>
        </p:nvSpPr>
        <p:spPr>
          <a:xfrm>
            <a:off x="8558784" y="50749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your own rate database — your rates, your numbers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your organisation’s own cost rates as one Excel workbook. Every costing then runs on your numbers — validated on upload, versioned, and fully auditable. No black box, no lock-in to our defaults.</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Shape 10"/>
          <p:cNvSpPr/>
          <p:nvPr/>
        </p:nvSpPr>
        <p:spPr>
          <a:xfrm>
            <a:off x="548640" y="1938528"/>
            <a:ext cx="82296" cy="1371600"/>
          </a:xfrm>
          <a:prstGeom prst="rect">
            <a:avLst/>
          </a:prstGeom>
          <a:solidFill>
            <a:srgbClr val="2563EB"/>
          </a:solidFill>
          <a:ln/>
        </p:spPr>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6" name="Shape 14"/>
          <p:cNvSpPr/>
          <p:nvPr/>
        </p:nvSpPr>
        <p:spPr>
          <a:xfrm>
            <a:off x="2409444" y="1938528"/>
            <a:ext cx="82296" cy="1371600"/>
          </a:xfrm>
          <a:prstGeom prst="rect">
            <a:avLst/>
          </a:prstGeom>
          <a:solidFill>
            <a:srgbClr val="4F46E5"/>
          </a:solidFill>
          <a:ln/>
        </p:spPr>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20" name="Shape 18"/>
          <p:cNvSpPr/>
          <p:nvPr/>
        </p:nvSpPr>
        <p:spPr>
          <a:xfrm>
            <a:off x="4270248" y="1938528"/>
            <a:ext cx="82296" cy="1371600"/>
          </a:xfrm>
          <a:prstGeom prst="rect">
            <a:avLst/>
          </a:prstGeom>
          <a:solidFill>
            <a:srgbClr val="0DA5A0"/>
          </a:solidFill>
          <a:ln/>
        </p:spPr>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4" name="Shape 22"/>
          <p:cNvSpPr/>
          <p:nvPr/>
        </p:nvSpPr>
        <p:spPr>
          <a:xfrm>
            <a:off x="6131052" y="1938528"/>
            <a:ext cx="82296" cy="1371600"/>
          </a:xfrm>
          <a:prstGeom prst="rect">
            <a:avLst/>
          </a:prstGeom>
          <a:solidFill>
            <a:srgbClr val="E0900C"/>
          </a:solidFill>
          <a:ln/>
        </p:spPr>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8" name="Shape 26"/>
          <p:cNvSpPr/>
          <p:nvPr/>
        </p:nvSpPr>
        <p:spPr>
          <a:xfrm>
            <a:off x="7991856" y="1938528"/>
            <a:ext cx="82296" cy="1371600"/>
          </a:xfrm>
          <a:prstGeom prst="rect">
            <a:avLst/>
          </a:prstGeom>
          <a:solidFill>
            <a:srgbClr val="0E93B0"/>
          </a:solidFill>
          <a:ln/>
        </p:spPr>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2" name="Shape 30"/>
          <p:cNvSpPr/>
          <p:nvPr/>
        </p:nvSpPr>
        <p:spPr>
          <a:xfrm>
            <a:off x="9852660" y="1938528"/>
            <a:ext cx="82296" cy="1371600"/>
          </a:xfrm>
          <a:prstGeom prst="rect">
            <a:avLst/>
          </a:prstGeom>
          <a:solidFill>
            <a:srgbClr val="7C3AED"/>
          </a:solidFill>
          <a:ln/>
        </p:spPr>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37" name="Shape 35"/>
          <p:cNvSpPr/>
          <p:nvPr/>
        </p:nvSpPr>
        <p:spPr>
          <a:xfrm>
            <a:off x="548640" y="3474720"/>
            <a:ext cx="82296" cy="1463040"/>
          </a:xfrm>
          <a:prstGeom prst="rect">
            <a:avLst/>
          </a:prstGeom>
          <a:solidFill>
            <a:srgbClr val="7C3AED"/>
          </a:solidFill>
          <a:ln/>
        </p:spPr>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vs built-in. One consistent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41" name="Shape 39"/>
          <p:cNvSpPr/>
          <p:nvPr/>
        </p:nvSpPr>
        <p:spPr>
          <a:xfrm>
            <a:off x="4285488" y="3474720"/>
            <a:ext cx="82296" cy="1463040"/>
          </a:xfrm>
          <a:prstGeom prst="rect">
            <a:avLst/>
          </a:prstGeom>
          <a:solidFill>
            <a:srgbClr val="2563EB"/>
          </a:solidFill>
          <a:ln/>
        </p:spPr>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 fill → upload. The server validates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45" name="Shape 43"/>
          <p:cNvSpPr/>
          <p:nvPr/>
        </p:nvSpPr>
        <p:spPr>
          <a:xfrm>
            <a:off x="8022336" y="3474720"/>
            <a:ext cx="82296" cy="1463040"/>
          </a:xfrm>
          <a:prstGeom prst="rect">
            <a:avLst/>
          </a:prstGeom>
          <a:solidFill>
            <a:srgbClr val="0EA472"/>
          </a:solidFill>
          <a:ln/>
        </p:spPr>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 the whole portfolio re-prices in a click.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so you keep current vs old vintages and scenarios flag if costed on an older version.</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sp>
      <p:sp>
        <p:nvSpPr>
          <p:cNvPr id="49" name="Shape 47"/>
          <p:cNvSpPr/>
          <p:nvPr/>
        </p:nvSpPr>
        <p:spPr>
          <a:xfrm>
            <a:off x="548640" y="5138928"/>
            <a:ext cx="82296" cy="841248"/>
          </a:xfrm>
          <a:prstGeom prst="rect">
            <a:avLst/>
          </a:prstGeom>
          <a:solidFill>
            <a:srgbClr val="E0900C"/>
          </a:solidFill>
          <a:ln/>
        </p:spPr>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Your rates, your defensible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Quick to load (download → fill → upload), validated on the way in, versioned and auditable — and every costing across the platform immediately uses them.</a:t>
            </a:r>
            <a:endParaRPr lang="en-US" sz="112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ex-works, narrowing to −12%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 not scattered across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Upload an updated, dated rate set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Keeping should-costs current with the latest economics is a single upload, not a manual rebuild.</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your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917</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79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~9,700 lines of tests, 917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Your data, your infrastructure, your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2026-07-21T07:44:28Z</dcterms:created>
  <dcterms:modified xsi:type="dcterms:W3CDTF">2026-07-21T07:44:28Z</dcterms:modified>
</cp:coreProperties>
</file>