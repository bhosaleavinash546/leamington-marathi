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4.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Manual (engineer)</c:v>
                </c:pt>
              </c:strCache>
            </c:strRef>
          </c:tx>
          <c:spPr>
            <a:solidFill>
              <a:srgbClr val="8A97A8"/>
            </a:solidFill>
            <a:effectLst/>
          </c:spPr>
          <c:invertIfNegative val="0"/>
          <c:dLbls>
            <c:numFmt formatCode="#,##0" sourceLinked="0"/>
            <c:txPr>
              <a:bodyPr/>
              <a:lstStyle/>
              <a:p>
                <a:pPr>
                  <a:defRPr b="1" i="0" strike="noStrike" sz="900" u="none">
                    <a:solidFill>
                      <a:srgbClr val="0F1E3D"/>
                    </a:solidFill>
                    <a:latin typeface="Arial"/>
                  </a:defRPr>
                </a:pPr>
              </a:p>
            </c:txPr>
            <c:showLegendKey val="0"/>
            <c:showVal val="1"/>
            <c:showCatName val="0"/>
            <c:showSerName val="0"/>
            <c:showPercent val="0"/>
            <c:showBubbleSize val="0"/>
            <c:showLeaderLines val="0"/>
          </c:dLbls>
          <c:cat>
            <c:multiLvlStrRef>
              <c:f>Sheet1!$A$2:$A$4</c:f>
              <c:multiLvlStrCache>
                <c:ptCount val="3"/>
                <c:lvl>
                  <c:pt idx="0">
                    <c:v>Components</c:v>
                  </c:pt>
                  <c:pt idx="1">
                    <c:v>Fab + assembly</c:v>
                  </c:pt>
                  <c:pt idx="2">
                    <c:v>Total / board</c:v>
                  </c:pt>
                </c:lvl>
              </c:multiLvlStrCache>
            </c:multiLvlStrRef>
          </c:cat>
          <c:val>
            <c:numRef>
              <c:f>Sheet1!$B$2:$B$4</c:f>
              <c:numCache>
                <c:formatCode>General</c:formatCode>
                <c:ptCount val="3"/>
                <c:pt idx="0">
                  <c:v>62</c:v>
                </c:pt>
                <c:pt idx="1">
                  <c:v>10</c:v>
                </c:pt>
                <c:pt idx="2">
                  <c:v>73</c:v>
                </c:pt>
              </c:numCache>
            </c:numRef>
          </c:val>
        </c:ser>
        <c:ser>
          <c:idx val="1"/>
          <c:order val="1"/>
          <c:tx>
            <c:strRef>
              <c:f>Sheet1!$C$1</c:f>
              <c:strCache>
                <c:ptCount val="1"/>
                <c:pt idx="0">
                  <c:v>AI (from photo)</c:v>
                </c:pt>
              </c:strCache>
            </c:strRef>
          </c:tx>
          <c:spPr>
            <a:solidFill>
              <a:srgbClr val="2563EB"/>
            </a:solidFill>
            <a:effectLst/>
          </c:spPr>
          <c:invertIfNegative val="0"/>
          <c:dLbls>
            <c:numFmt formatCode="#,##0" sourceLinked="0"/>
            <c:txPr>
              <a:bodyPr/>
              <a:lstStyle/>
              <a:p>
                <a:pPr>
                  <a:defRPr b="1" i="0" strike="noStrike" sz="900" u="none">
                    <a:solidFill>
                      <a:srgbClr val="0F1E3D"/>
                    </a:solidFill>
                    <a:latin typeface="Arial"/>
                  </a:defRPr>
                </a:pPr>
              </a:p>
            </c:txPr>
            <c:showLegendKey val="0"/>
            <c:showVal val="1"/>
            <c:showCatName val="0"/>
            <c:showSerName val="0"/>
            <c:showPercent val="0"/>
            <c:showBubbleSize val="0"/>
            <c:showLeaderLines val="0"/>
          </c:dLbls>
          <c:cat>
            <c:multiLvlStrRef>
              <c:f>Sheet1!$A$2:$A$4</c:f>
              <c:multiLvlStrCache>
                <c:ptCount val="3"/>
                <c:lvl>
                  <c:pt idx="0">
                    <c:v>Components</c:v>
                  </c:pt>
                  <c:pt idx="1">
                    <c:v>Fab + assembly</c:v>
                  </c:pt>
                  <c:pt idx="2">
                    <c:v>Total / board</c:v>
                  </c:pt>
                </c:lvl>
              </c:multiLvlStrCache>
            </c:multiLvlStrRef>
          </c:cat>
          <c:val>
            <c:numRef>
              <c:f>Sheet1!$C$2:$C$4</c:f>
              <c:numCache>
                <c:formatCode>General</c:formatCode>
                <c:ptCount val="3"/>
                <c:pt idx="0">
                  <c:v>62.29</c:v>
                </c:pt>
                <c:pt idx="1">
                  <c:v>6.82</c:v>
                </c:pt>
                <c:pt idx="2">
                  <c:v>69.11</c:v>
                </c:pt>
              </c:numCache>
            </c:numRef>
          </c:val>
        </c:ser>
        <c:dLbls>
          <c:numFmt formatCode="#,##0" sourceLinked="0"/>
          <c:txPr>
            <a:bodyPr/>
            <a:lstStyle/>
            <a:p>
              <a:pPr>
                <a:defRPr b="1" i="0" strike="noStrike" sz="900" u="none">
                  <a:solidFill>
                    <a:srgbClr val="0F1E3D"/>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4EAF2"/>
            </a:solidFill>
            <a:prstDash val="solid"/>
            <a:round/>
          </a:ln>
        </c:spPr>
        <c:txPr>
          <a:bodyPr/>
          <a:lstStyle/>
          <a:p>
            <a:pPr>
              <a:defRPr sz="950" b="0" i="0" u="none" strike="noStrike">
                <a:solidFill>
                  <a:srgbClr val="3E4C63"/>
                </a:solidFill>
                <a:latin typeface="Arial"/>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4EAF2"/>
              </a:solidFill>
              <a:prstDash val="solid"/>
              <a:round/>
            </a:ln>
          </c:spPr>
        </c:majorGridlines>
        <c:numFmt formatCode="General" sourceLinked="0"/>
        <c:majorTickMark val="out"/>
        <c:minorTickMark val="none"/>
        <c:tickLblPos val="nextTo"/>
        <c:spPr>
          <a:ln w="12700" cap="flat">
            <a:solidFill>
              <a:srgbClr val="E4EAF2"/>
            </a:solidFill>
            <a:prstDash val="solid"/>
            <a:round/>
          </a:ln>
        </c:spPr>
        <c:txPr>
          <a:bodyPr/>
          <a:lstStyle/>
          <a:p>
            <a:pPr>
              <a:defRPr sz="1000" b="0" i="0" u="none" strike="noStrike">
                <a:solidFill>
                  <a:srgbClr val="8A97A8"/>
                </a:solidFill>
                <a:latin typeface="Arial"/>
              </a:defRPr>
            </a:pPr>
            <a:endParaRPr lang="en-US"/>
          </a:p>
        </c:txPr>
        <c:crossAx val="2094734554"/>
        <c:crosses val="autoZero"/>
        <c:crossBetween val="between"/>
        <c:majorUnit val="20"/>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£/part</c:v>
                </c:pt>
              </c:strCache>
            </c:strRef>
          </c:tx>
          <c:spPr>
            <a:solidFill>
              <a:srgbClr val="0DA5A0"/>
            </a:solidFill>
            <a:effectLst/>
          </c:spPr>
          <c:invertIfNegative val="0"/>
          <c:dLbls>
            <c:numFmt formatCode="0.00" sourceLinked="0"/>
            <c:txPr>
              <a:bodyPr/>
              <a:lstStyle/>
              <a:p>
                <a:pPr>
                  <a:defRPr b="1" i="0" strike="noStrike" sz="750" u="none">
                    <a:solidFill>
                      <a:srgbClr val="0F1E3D"/>
                    </a:solidFill>
                    <a:latin typeface="Arial"/>
                  </a:defRPr>
                </a:pPr>
              </a:p>
            </c:txPr>
            <c:showLegendKey val="0"/>
            <c:showVal val="1"/>
            <c:showCatName val="0"/>
            <c:showSerName val="0"/>
            <c:showPercent val="0"/>
            <c:showBubbleSize val="0"/>
            <c:showLeaderLines val="0"/>
          </c:dLbls>
          <c:cat>
            <c:multiLvlStrRef>
              <c:f>Sheet1!$A$2:$A$9</c:f>
              <c:multiLvlStrCache>
                <c:ptCount val="8"/>
                <c:lvl>
                  <c:pt idx="0">
                    <c:v>Material</c:v>
                  </c:pt>
                  <c:pt idx="1">
                    <c:v>Process</c:v>
                  </c:pt>
                  <c:pt idx="2">
                    <c:v>Labour</c:v>
                  </c:pt>
                  <c:pt idx="3">
                    <c:v>Tooling</c:v>
                  </c:pt>
                  <c:pt idx="4">
                    <c:v>Pack</c:v>
                  </c:pt>
                  <c:pt idx="5">
                    <c:v>Logs</c:v>
                  </c:pt>
                  <c:pt idx="6">
                    <c:v>O/H</c:v>
                  </c:pt>
                  <c:pt idx="7">
                    <c:v>Margin</c:v>
                  </c:pt>
                </c:lvl>
              </c:multiLvlStrCache>
            </c:multiLvlStrRef>
          </c:cat>
          <c:val>
            <c:numRef>
              <c:f>Sheet1!$B$2:$B$9</c:f>
              <c:numCache>
                <c:formatCode>General</c:formatCode>
                <c:ptCount val="8"/>
                <c:pt idx="0">
                  <c:v>4.36</c:v>
                </c:pt>
                <c:pt idx="1">
                  <c:v>0.64</c:v>
                </c:pt>
                <c:pt idx="2">
                  <c:v>0.18</c:v>
                </c:pt>
                <c:pt idx="3">
                  <c:v>0.6</c:v>
                </c:pt>
                <c:pt idx="4">
                  <c:v>0.05</c:v>
                </c:pt>
                <c:pt idx="5">
                  <c:v>0.1</c:v>
                </c:pt>
                <c:pt idx="6">
                  <c:v>0.58</c:v>
                </c:pt>
                <c:pt idx="7">
                  <c:v>0.46</c:v>
                </c:pt>
              </c:numCache>
            </c:numRef>
          </c:val>
        </c:ser>
        <c:dLbls>
          <c:numFmt formatCode="0.00" sourceLinked="0"/>
          <c:txPr>
            <a:bodyPr/>
            <a:lstStyle/>
            <a:p>
              <a:pPr>
                <a:defRPr b="1" i="0" strike="noStrike" sz="750" u="none">
                  <a:solidFill>
                    <a:srgbClr val="0F1E3D"/>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4EAF2"/>
            </a:solidFill>
            <a:prstDash val="solid"/>
            <a:round/>
          </a:ln>
        </c:spPr>
        <c:txPr>
          <a:bodyPr/>
          <a:lstStyle/>
          <a:p>
            <a:pPr>
              <a:defRPr sz="800" b="0" i="0" u="none" strike="noStrike">
                <a:solidFill>
                  <a:srgbClr val="3E4C63"/>
                </a:solidFill>
                <a:latin typeface="Arial"/>
              </a:defRPr>
            </a:pPr>
            <a:endParaRPr lang="en-US"/>
          </a:p>
        </c:txPr>
        <c:crossAx val="2094734552"/>
        <c:crosses val="autoZero"/>
        <c:auto val="1"/>
        <c:lblAlgn val="ctr"/>
        <c:noMultiLvlLbl val="1"/>
      </c:catAx>
      <c:valAx>
        <c:axId val="2094734552"/>
        <c:scaling>
          <c:orientation val="minMax"/>
          <c:max val="5"/>
          <c:min val="0"/>
        </c:scaling>
        <c:delete val="0"/>
        <c:axPos val="l"/>
        <c:majorGridlines>
          <c:spPr>
            <a:ln w="9525" cap="flat">
              <a:solidFill>
                <a:srgbClr val="E4EAF2"/>
              </a:solidFill>
              <a:prstDash val="solid"/>
              <a:round/>
            </a:ln>
          </c:spPr>
        </c:majorGridlines>
        <c:numFmt formatCode="General" sourceLinked="0"/>
        <c:majorTickMark val="out"/>
        <c:minorTickMark val="none"/>
        <c:tickLblPos val="nextTo"/>
        <c:spPr>
          <a:ln w="12700" cap="flat">
            <a:solidFill>
              <a:srgbClr val="E4EAF2"/>
            </a:solidFill>
            <a:prstDash val="solid"/>
            <a:round/>
          </a:ln>
        </c:spPr>
        <c:txPr>
          <a:bodyPr/>
          <a:lstStyle/>
          <a:p>
            <a:pPr>
              <a:defRPr sz="1000" b="0" i="0" u="none" strike="noStrike">
                <a:solidFill>
                  <a:srgbClr val="8A97A8"/>
                </a:solidFill>
                <a:latin typeface="Arial"/>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£/part (ex-works)</c:v>
                </c:pt>
              </c:strCache>
            </c:strRef>
          </c:tx>
          <c:spPr>
            <a:solidFill>
              <a:srgbClr val="E0900C"/>
            </a:solidFill>
            <a:effectLst/>
          </c:spPr>
          <c:invertIfNegative val="0"/>
          <c:dLbls>
            <c:numFmt formatCode="0.00" sourceLinked="0"/>
            <c:txPr>
              <a:bodyPr/>
              <a:lstStyle/>
              <a:p>
                <a:pPr>
                  <a:defRPr b="1" i="0" strike="noStrike" sz="750" u="none">
                    <a:solidFill>
                      <a:srgbClr val="0F1E3D"/>
                    </a:solidFill>
                    <a:latin typeface="Arial"/>
                  </a:defRPr>
                </a:pPr>
              </a:p>
            </c:txPr>
            <c:showLegendKey val="0"/>
            <c:showVal val="1"/>
            <c:showCatName val="0"/>
            <c:showSerName val="0"/>
            <c:showPercent val="0"/>
            <c:showBubbleSize val="0"/>
            <c:showLeaderLines val="0"/>
          </c:dLbls>
          <c:cat>
            <c:multiLvlStrRef>
              <c:f>Sheet1!$A$2:$A$9</c:f>
              <c:multiLvlStrCache>
                <c:ptCount val="8"/>
                <c:lvl>
                  <c:pt idx="0">
                    <c:v>CN</c:v>
                  </c:pt>
                  <c:pt idx="1">
                    <c:v>IN</c:v>
                  </c:pt>
                  <c:pt idx="2">
                    <c:v>VN</c:v>
                  </c:pt>
                  <c:pt idx="3">
                    <c:v>MX</c:v>
                  </c:pt>
                  <c:pt idx="4">
                    <c:v>PL</c:v>
                  </c:pt>
                  <c:pt idx="5">
                    <c:v>US</c:v>
                  </c:pt>
                  <c:pt idx="6">
                    <c:v>UK</c:v>
                  </c:pt>
                  <c:pt idx="7">
                    <c:v>DE</c:v>
                  </c:pt>
                </c:lvl>
              </c:multiLvlStrCache>
            </c:multiLvlStrRef>
          </c:cat>
          <c:val>
            <c:numRef>
              <c:f>Sheet1!$B$2:$B$9</c:f>
              <c:numCache>
                <c:formatCode>General</c:formatCode>
                <c:ptCount val="8"/>
                <c:pt idx="0">
                  <c:v>4.91</c:v>
                </c:pt>
                <c:pt idx="1">
                  <c:v>4.93</c:v>
                </c:pt>
                <c:pt idx="2">
                  <c:v>5.1</c:v>
                </c:pt>
                <c:pt idx="3">
                  <c:v>5.32</c:v>
                </c:pt>
                <c:pt idx="4">
                  <c:v>5.64</c:v>
                </c:pt>
                <c:pt idx="5">
                  <c:v>6.19</c:v>
                </c:pt>
                <c:pt idx="6">
                  <c:v>6.36</c:v>
                </c:pt>
                <c:pt idx="7">
                  <c:v>6.75</c:v>
                </c:pt>
              </c:numCache>
            </c:numRef>
          </c:val>
        </c:ser>
        <c:dLbls>
          <c:numFmt formatCode="0.00" sourceLinked="0"/>
          <c:txPr>
            <a:bodyPr/>
            <a:lstStyle/>
            <a:p>
              <a:pPr>
                <a:defRPr b="1" i="0" strike="noStrike" sz="750" u="none">
                  <a:solidFill>
                    <a:srgbClr val="0F1E3D"/>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4EAF2"/>
            </a:solidFill>
            <a:prstDash val="solid"/>
            <a:round/>
          </a:ln>
        </c:spPr>
        <c:txPr>
          <a:bodyPr/>
          <a:lstStyle/>
          <a:p>
            <a:pPr>
              <a:defRPr sz="900" b="0" i="0" u="none" strike="noStrike">
                <a:solidFill>
                  <a:srgbClr val="3E4C63"/>
                </a:solidFill>
                <a:latin typeface="Arial"/>
              </a:defRPr>
            </a:pPr>
            <a:endParaRPr lang="en-US"/>
          </a:p>
        </c:txPr>
        <c:crossAx val="2094734552"/>
        <c:crosses val="autoZero"/>
        <c:auto val="1"/>
        <c:lblAlgn val="ctr"/>
        <c:noMultiLvlLbl val="1"/>
      </c:catAx>
      <c:valAx>
        <c:axId val="2094734552"/>
        <c:scaling>
          <c:orientation val="minMax"/>
          <c:max val="8"/>
          <c:min val="0"/>
        </c:scaling>
        <c:delete val="0"/>
        <c:axPos val="l"/>
        <c:majorGridlines>
          <c:spPr>
            <a:ln w="9525" cap="flat">
              <a:solidFill>
                <a:srgbClr val="E4EAF2"/>
              </a:solidFill>
              <a:prstDash val="solid"/>
              <a:round/>
            </a:ln>
          </c:spPr>
        </c:majorGridlines>
        <c:numFmt formatCode="General" sourceLinked="0"/>
        <c:majorTickMark val="out"/>
        <c:minorTickMark val="none"/>
        <c:tickLblPos val="nextTo"/>
        <c:spPr>
          <a:ln w="12700" cap="flat">
            <a:solidFill>
              <a:srgbClr val="E4EAF2"/>
            </a:solidFill>
            <a:prstDash val="solid"/>
            <a:round/>
          </a:ln>
        </c:spPr>
        <c:txPr>
          <a:bodyPr/>
          <a:lstStyle/>
          <a:p>
            <a:pPr>
              <a:defRPr sz="1000" b="0" i="0" u="none" strike="noStrike">
                <a:solidFill>
                  <a:srgbClr val="8A97A8"/>
                </a:solidFill>
                <a:latin typeface="Arial"/>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k lines</c:v>
                </c:pt>
              </c:strCache>
            </c:strRef>
          </c:tx>
          <c:spPr>
            <a:solidFill>
              <a:srgbClr val="4F46E5"/>
            </a:solidFill>
            <a:effectLst/>
          </c:spPr>
          <c:invertIfNegative val="0"/>
          <c:dLbls>
            <c:numFmt formatCode="0.0" sourceLinked="0"/>
            <c:txPr>
              <a:bodyPr/>
              <a:lstStyle/>
              <a:p>
                <a:pPr>
                  <a:defRPr b="1" i="0" strike="noStrike" sz="800" u="none">
                    <a:solidFill>
                      <a:srgbClr val="0F1E3D"/>
                    </a:solidFill>
                    <a:latin typeface="Arial"/>
                  </a:defRPr>
                </a:pPr>
              </a:p>
            </c:txPr>
            <c:showLegendKey val="0"/>
            <c:showVal val="1"/>
            <c:showCatName val="0"/>
            <c:showSerName val="0"/>
            <c:showPercent val="0"/>
            <c:showBubbleSize val="0"/>
            <c:showLeaderLines val="0"/>
          </c:dLbls>
          <c:cat>
            <c:multiLvlStrRef>
              <c:f>Sheet1!$A$2:$A$7</c:f>
              <c:multiLvlStrCache>
                <c:ptCount val="6"/>
                <c:lvl>
                  <c:pt idx="0">
                    <c:v>Frontend / UI</c:v>
                  </c:pt>
                  <c:pt idx="1">
                    <c:v>Cost engines</c:v>
                  </c:pt>
                  <c:pt idx="2">
                    <c:v>Backend API</c:v>
                  </c:pt>
                  <c:pt idx="3">
                    <c:v>Tests</c:v>
                  </c:pt>
                  <c:pt idx="4">
                    <c:v>Styling</c:v>
                  </c:pt>
                  <c:pt idx="5">
                    <c:v>CAD engine (Py)</c:v>
                  </c:pt>
                </c:lvl>
              </c:multiLvlStrCache>
            </c:multiLvlStrRef>
          </c:cat>
          <c:val>
            <c:numRef>
              <c:f>Sheet1!$B$2:$B$7</c:f>
              <c:numCache>
                <c:formatCode>General</c:formatCode>
                <c:ptCount val="6"/>
                <c:pt idx="0">
                  <c:v>28.1</c:v>
                </c:pt>
                <c:pt idx="1">
                  <c:v>16</c:v>
                </c:pt>
                <c:pt idx="2">
                  <c:v>13</c:v>
                </c:pt>
                <c:pt idx="3">
                  <c:v>9.7</c:v>
                </c:pt>
                <c:pt idx="4">
                  <c:v>6.5</c:v>
                </c:pt>
                <c:pt idx="5">
                  <c:v>1.2</c:v>
                </c:pt>
              </c:numCache>
            </c:numRef>
          </c:val>
        </c:ser>
        <c:dLbls>
          <c:numFmt formatCode="0.0" sourceLinked="0"/>
          <c:txPr>
            <a:bodyPr/>
            <a:lstStyle/>
            <a:p>
              <a:pPr>
                <a:defRPr b="1" i="0" strike="noStrike" sz="800" u="none">
                  <a:solidFill>
                    <a:srgbClr val="0F1E3D"/>
                  </a:solidFill>
                  <a:latin typeface="Arial"/>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E4EAF2"/>
            </a:solidFill>
            <a:prstDash val="solid"/>
            <a:round/>
          </a:ln>
        </c:spPr>
        <c:txPr>
          <a:bodyPr/>
          <a:lstStyle/>
          <a:p>
            <a:pPr>
              <a:defRPr sz="900" b="0" i="0" u="none" strike="noStrike">
                <a:solidFill>
                  <a:srgbClr val="3E4C63"/>
                </a:solidFill>
                <a:latin typeface="Arial"/>
              </a:defRPr>
            </a:pPr>
            <a:endParaRPr lang="en-US"/>
          </a:p>
        </c:txPr>
        <c:crossAx val="2094734552"/>
        <c:crosses val="autoZero"/>
        <c:auto val="1"/>
        <c:lblAlgn val="ctr"/>
        <c:noMultiLvlLbl val="1"/>
      </c:catAx>
      <c:valAx>
        <c:axId val="2094734552"/>
        <c:scaling>
          <c:orientation val="minMax"/>
          <c:max val="30"/>
          <c:min val="0"/>
        </c:scaling>
        <c:delete val="0"/>
        <c:axPos val="b"/>
        <c:majorGridlines>
          <c:spPr>
            <a:ln w="9525" cap="flat">
              <a:solidFill>
                <a:srgbClr val="E4EAF2"/>
              </a:solidFill>
              <a:prstDash val="solid"/>
              <a:round/>
            </a:ln>
          </c:spPr>
        </c:majorGridlines>
        <c:numFmt formatCode="General" sourceLinked="0"/>
        <c:majorTickMark val="out"/>
        <c:minorTickMark val="none"/>
        <c:tickLblPos val="low"/>
        <c:spPr>
          <a:ln w="12700" cap="flat">
            <a:solidFill>
              <a:srgbClr val="E4EAF2"/>
            </a:solidFill>
            <a:prstDash val="solid"/>
            <a:round/>
          </a:ln>
        </c:spPr>
        <c:txPr>
          <a:bodyPr/>
          <a:lstStyle/>
          <a:p>
            <a:pPr>
              <a:defRPr sz="1000" b="0" i="0" u="none" strike="noStrike">
                <a:solidFill>
                  <a:srgbClr val="8A97A8"/>
                </a:solidFill>
                <a:latin typeface="Arial"/>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and thank you for the time. What you're about to see is CostVision — our own AI cost-intelligence platform. Here's the one-line framing for today: we already do rigorous should-costing across every commodity — CostVision takes that same trusted method and automates the manual work with AI. Instead of selecting every input and keying geometry off the CAD and drawings by hand, it reads the model, suggests material and process for you to confirm, and returns a defensible, auditable should-cost in minutes. And unlike a static tool, it learns from every real quote. Today I'll walk the whole platform, go deep on CAD-to-Cost — where the automation is most visible — show the AI under the hood, and finish with how we'd roll it out alongside what we have and keep the data secure. Everything I show is from live runs — no mock-ups.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dive in, here's the entire story on one page — if you only take away this slide, you'll have the gist. Keep the framing in mind: this is our proven should-cost method, automated and made intelligent. Five numbers up top: it costs a part in minutes, not the hours of manual setup we spend today; it carries nineteen commodity engines and twenty real-rate regions; in a live test it landed within about five percent of a hand-built estimate; and the autonomous agent found half a million pounds a year with nobody at the keyboard. Underneath: what it is — one platform that reads any input, prices it globally, hands you the negotiation, and learns as it goes. The four boxes are the four jobs it does. And the bottom line for this room: faster quotes, better margins, one consistent number, and an intelligence asset that's ours and compounds. Everything after this is detail and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shape of the next thirty minutes, and a one-paragraph 'why' before we dive in. Let me set the framing carefully, because it matters: we already do proper should-costing. We have an internal tool that covers every commodity with a rigorous, bottom-up method — that's a real asset and it works. The one thing it asks of us is a lot of manual effort: selecting every input and reading the geometry off the CAD and drawings by hand, part by part. So this isn't a story about a broken system — it's about taking that same trusted method and automating the hands-on parts with AI. I'll start there, then give you the whole platform on one slide, go deep on CAD-to-Cost where the automation is most visible, tour the other capabilities, and close on trust, security and how we'd roll it out alongside what we have today. Jump in any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clear up front: we're not fixing something broken. Our internal should-cost tool is genuinely good — it's thorough, it's bottom-up, and it covers every commodity. The team has built real rigour into it. The honest observation is simply that it's hands-on: for every part you select the material, the process, the machine, and you key in the geometry and tolerances by hand from the 3D CAD and the drawings — the classic should-costing method. And when economics move, someone updates the rates manually. CostVision doesn't throw any of that away. It keeps the exact same defensible method — and automates the hands-on parts with AI: it reads the CAD and the drawings for you, it suggests the material and process with a confidence score you confirm, and it keeps the rates current on its own. So the shift isn't 'old versus new' — it's the same trusted should-cost, with the manual effort taken out, so our experts spend their time on judgement and decisions instead of data entry. That's the whole story of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platform on one slide, and I'd ask you to remember the shape: four columns, left to right. On the left, inputs — and notice how forgiving they are: a CAD model, a photo, a sentence, an RFQ, whatever you have. Next, the AI layer: it reads and understands that input — the vision models, the reasoning, the memory. Then the crucial column — deterministic engines. This is where the money maths happens, and there is no AI in it. Nineteen commodity engines, real country rates, feature-based costing. And on the right, outputs: a full breakdown, a confidence range, a negotiation pack, exports, even a carbon figure. The golden rule at the bottom is the one to internalise: the AI understands the input, but it never sets the price. Every pound is auditable arithmetic. That's what makes this defensible.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someone asks 'what does CostVision actually do,' this is the answer — four jobs. It ESTIMATES: from a CAD model, a board photo, or any of nineteen commodity engines. It UNDERSTANDS: the 3D viewer with B-rep intelligence, the feature table, the assistant that answers from our own data. It helps you DECIDE and NEGOTIATE: should-cost across twenty regions, what-if scenarios, and a coach that hands you the argument. And it LEARNS and stays GOVERNED: it remembers, self-corrects, hunts for savings on its own — and every number is auditable and stays inside our walls. I'll spend most of today in the first two columns, because that's where the demo lives, but keep this map in mind — it's the whole surface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heart of the demo — CAD-to-Cost — and this is exactly where the manual effort lives today. In our current method, an engineer opens the CAD, measures it, reads the tolerances off the drawing, and keys all of that in before selecting a process. CostVision does those steps for you. The promise is simple: drop in a 3D model, get a should-cost. But how it does that is what earns trust. Four moves, left to right. First, it reads the REAL geometry — we run a genuine geometry kernel that measures volume, bounding box and surface area. That's measured ground truth, not the AI guessing. Second, it recognises the manufacturing features — the holes, pockets, slots, bends — and turns them into actual machining operations. Third, the AI proposes a material and a process route, each with a confidence score, and you can override. Fourth, a deterministic engine prices it and explains the number with a confidence band and design-for-manufacture guidance. And note the bottom line — a 3D model alone is enough to get a defensible number, and if you attach the 2D drawing it reads the tolerances and GD&amp;T to sharpen the estimate further. The more you give it, the tighter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pipeline end to end — follow it left to right. You upload the model. The geometry engine measures it — real volume, bounding box, surface area, faces. Feature recognition finds the holes, pockets, slots and bends. The AI suggests a material and process, with a confidence score. The deterministic engine prices material, machining and non-recurring cost. Then — and this is the step I want you to remember — a sanity check compares every AI-suggested number against the measured geometry. Finally you get a full should-cost with a confidence band and provenance on every line. The colour split matters: purple is where AI understands the model; green is where deterministic maths sets the price. And the safety net at the bottom is the whole game — because we have measured ground truth, a hallucinated dimension gets flagged, not silently priced. That's what makes a CAD estimate you can actually defend.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AI intelligence layered on top of the geometry — the part that makes engineers lean in. Start top-left: a real interactive 3D viewer in the browser — rotate, section, measure, and the highlights link a face on the model to a line in the cost. Underneath that: B-rep face intelligence. This matters — it understands the boundary representation, the actual faces and edges and how they relate, not just a mesh of triangles. That's what lets it recognise a pocket as a pocket. The feature table lists every detected feature and feeds it straight into the costing as a real operation — no manual keying. Feature-based machining then costs each secondary operation per feature and per commodity. The AI suggests material and process with a confidence score you can override. And the manufacturability score tells the designer what's driving cost — so this isn't just an estimate, it's design feedback.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Accuracy is the question senior teams always ask about AI, so let me be precise about how we earn it — it's engineered in layers. One: measured ground truth — the geometry kernel measures the part, so the AI is checked against physics, not trusted. Two: bounded sanity checks — if the AI's volume drifts more than twenty-five percent from the measured value it's flagged, over fifty percent it's rejected, and weight is cross-checked against density. Three, and this is the one I love telling engineers: the money maths is deterministic, and it reproduces a hand-calculated benchmark part — twenty-three pounds twenty-seven — to within one-hundredth of a percent. That's not a claim, it's a unit test. Four: provenance — every figure traces to its source with a confidence grade. Five: a confidence band, never a false single number. Six: it's been demonstrated on real automotive parts through the live system. I'll be straight with you — we don't quote a single headline 'X percent accurate on CAD' number, because honestly that depends on your parts and your rates, and we'd rather prove it on your data in the pilot. The box on the right is the takeaway: the AI can suggest, but it can never quietly decide the number. A wrong guess gets flagged, not baked into a quote.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philosophy, different input — electronics. Photograph a circuit board, and in about sixty seconds you get a costed, flagged bill of materials. The chart is a real result: the same automotive ECU, costed by an engineer bottom-up in half a day versus the AI from one photo — sixty-nine pounds against seventy-three, within about five percent, in a minute. On the right is what it delivers: a full BOM from the photo, an honest split between what's confirmed and what needs verifying, guardrails so a mis-read chip can't blow up the total, should-cost across regions, and it even infers the ISO 26262 safety class. There's a full deep-dive deck on just this feature if you want it — today it's one slide to show the platform isn't only about CAD.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Breadth matters, because a tool that only does one commodity doesn't change how a business works. CostVision ships nineteen commodity engines — and these are purpose-built, bottom-up models, not one generic formula stretched over everything. Casting in all its forms including high-pressure die-casting, machining, forging, sheet-metal stamping and fabrication, the full moulding family — injection, blow, thermoforming, rotational — rubber, composites, extrusion, wiring harness, PCB and PCBA, painting, and body-in-white assembly. The important point is the one on the bottom bar: there's a single, consistent method underneath all of them — the same eight-bucket cost stack, material through margin, with feature-based machining on top — so every commodity is costed the same auditable way. And then the same part prices across twenty regions, which is exactly where we're going next. This is what turns a costing tool into a portfolio and sourcing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engine behind 'the same part, priced anywhere.' It's four deterministic steps, no AI in the money. Step one: we take the base part cost — the eight-bucket breakdown, whether it came from CAD or a commodity form. Step two: we multiply through each region's real rate library — labour by trade, energy, material factors, machine rate, overhead, and the exchange rate. Step three: we add the landed pieces — packaging, logistics, duty, shipping. Step four: out comes a should-cost for every country, ranked, both ex-works and landed. And notice what you actually have to give it, bottom-left: the part once, the regions you care about, and a volume. Everything on the bottom-right is what the model factors in for you, per region — and on the next slide I'll show you those exact numbers, because transparency is the whole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builds confidence, so let me slow right down. Everything the model uses is on the table — these are the real, current rates, not a mystery multiplier. Read across: a skilled operator is twenty-six pounds an hour in the UK, forty in Germany, but under eight in China and under four in Vietnam. Foundry labour, industrial electricity, and then the multipliers that capture machine cost, overhead structure and logistics distance. Germany's overhead runs ten percent above the UK; China's is twenty-five percent below; but China's logistics multiplier is one-point-four-five because the part has to travel. This is ten of the twenty regions — behind them sit material factors, exchange rates, gas, packaging and duty. The key message: it's one versioned library, used by every costing, fully auditable. When someone challenges a China number, you can show them exactly which rate drove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make it concrete with a real part, priced by the real engine — a simple one-point-two kilo aluminium die-casting, ADC12, two cavities on an eight-hundred-tonne machine. Left chart, the UK cost stack: the total is six pounds ninety-six, and look — material is sixty-three percent of it. That tells a sourcing team instantly that this part is a material game, not a labour game. Right chart, the same part ex-works across regions: China at four-ninety-one is about twenty-three percent under the UK. But here's the sophistication your buyers will love — landed, once you add logistics and duty, that narrows to about twelve percent. The tool shows you both, so you don't chase a saving that shipping eats. And now the bit that fixes a real pain: you do not manually update these should-costs when metal moves or rates change. Metal prices refresh automatically from a live feed; the rate library is versioned in one place. Update once, and every part re-prices in a click. No more stale spreadsheets, no re-keying — the numbers are always current.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cost intelligence becomes money. A should-cost on its own is interesting; a should-cost that wins a negotiation is the product. Follow the flow: our should-cost on the left, drop in the supplier's quote, and the engine tears down the gap by driver — material, cycle time, rate, margin — then hands you a negotiation pack. The stats are illustrative but real in shape: quotes typically run about fifteen percent over should-cost, and on one part family that was ninety-one thousand pounds a year, with the single biggest lever — raw material — worth thirty-seven thousand. The pack gives you the gap table, the driver decomposition, the levers ranked by pounds, the exact questions to ask, and a one-click export. You stop arguing about the headline number and start negotiating the drivers. That's a winnable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makes CostVision more than a calculator — it's agentic. Four verbs, and they form a loop. It REMEMBERS every analysis as a case, shared across the team, so a junior inherits senior judgement on day one. It RECOGNISES a new part against that memory and shows why. It SELF-CORRECTS — log a real quote and it measures its own error, then corrects future estimates. And it ACTS — a background agent re-checks every part and flags overpayment by itself. The numbers are verified: error fell thirty-six-fold after learning from just three quotes; the agent surfaced half a million pounds a year, unattended; recognition hit ninety-nine percent. There's a dedicated deck on the agentic layer — today, this is the headline: the tool gets smarter every time you use it, and that intelligence is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newer capabilities that lift this above a normal estimator. Conformal confidence bands — instead of asserting a precision, it states an observed fact with a statistical guarantee: ninety percent of your real quotes landed within plus-or-minus six-and-a-half percent. That's evidence a buyer can defend. The causal coach knows WHY a part costs what it does and writes the negotiating sentence for you — every one percent move in aluminium shifts the price by eleven pence. The what-if engine lets you move a commodity and watch the price recompute, for one part or the whole portfolio, so sourcing gets ahead of the market. And carbon co-costing puts a CO2 figure next to every pound, which customers increasingly demand. Each of these turns a number into a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Whenever AI touches money, the honest question is 'can I trust it?' — so let me answer it head-on. First, it's glass-box: every learned or derived number stays auditable, a value an engineer can read and defend. The AI narrates and explains; it never sets the price in secret. Second, accuracy is measured — against real geometry and real quotes — and reported openly, before and after. Third, it's honest about uncertainty: confidence bands and clear flags, never a false single number. And fourth, it's production-grade: nine hundred and seventeen automated tests, exercised on the live system. The through-line of the entire platform is on that green bar: AI does the understanding, deterministic maths does the money, every number is traceable and tested. That's what lets you put a CostVision number in front of a supplier — or in front of this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spend a moment on the effort behind this, because it speaks to how seriously we should take it as an asset. This is not a prototype, and it is emphatically not a thin wrapper around a chatbot. It's about seventy-five thousand lines of custom code — of which roughly fifty-eight thousand is core product logic — backed by nine hundred and seventeen automated tests across seventy-nine suites. I'll be transparent about how it was built, because it's actually part of the story: it was engineered in-house and accelerated with AI-assisted development — which is fitting, given what the tool itself does. The design, the domain knowledge, the cost models and the validation are ours; AI helped us build it faster. The chart shows where the code lives: a large front-end and 3D viewer, a sixteen-thousand-line deterministic cost engine that is the real IP — the auditable money maths for nineteen commodities and twenty regions — a full backend API, and a genuine Python geometry kernel running OCCT that reads STEP, IGES and STL files. Five languages and runtimes working as one integrated system. Two takeaways. First, the quality is engineered in — nearly ten thousand lines of tests mean it doesn't silently regress. Second, the strategic point: this depth of engineering, and the cost knowledge baked into it, is precisely why the intelligence is a durable, proprietary asset we own — not a subscription someone else can switch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translate all of that into business language — four points, and notice they're all about doing what we already do, better and faster. Speed: the hours of manual setup per part collapse into minutes, so the first defensible number is on the table while the meeting is still happening — and our engineers are freed from data entry to spend time on judgement. Margin: line-level should-cost lets us challenge every quote by driver — and the agent alone surfaced around half a million pounds a year in a demo, unattended. Consistency and speed-to-competence: one answer for everyone, and a junior costs like a senior from day one because the method and the memory are shared. And the strategic one — a compounding asset: this becomes proprietary costing intelligence on our own servers. It grows with use, and a competitor can buy software but never our accumulated data. Net: faster quotes, better margins, consistent numbers, and our experts focused on decisions — at no extra licence cost, on our own infrastructure.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how do we get from a demo to business-as-usual? A staged, low-risk blueprint — and importantly, it runs alongside our current tool, not instead of it, until we're confident. Phase one, the pilot — six weeks: stand it up on-premise, seed the memory with our historic quotes, cost twenty or thirty live parts, and baseline the accuracy against both our current method and real actuals so we prove it on our own data. Phase two, scale — roll it out to costing and sourcing, make 'Log Actual £' a routine habit, wire it into the RFQ workflow, and review the agent's findings monthly. Phase three, embed — negotiation packs become standard, portfolio what-if and risk go live, we connect real market feeds, and we track the KPI that matters: pounds saved and cycle-time cut. And I'll be honest about the one dependency: the intelligence starts empty and grows with use — which is exactly why Phase one seeds it, so it starts smart, not from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 room like this, security isn't a footnote — so here it is head-on, and precisely. CostVision runs on-premise: the knowledge base and every analysis are stored on our own servers, and no vendor ever retains our data. Let me be exact about what does leave the building, because someone will ask: the only thing that goes out is the AI inference request itself — the prompt for a given analysis — and it goes through our own server to the model endpoint, where it is not retained. For the most sensitive programmes we can route that privately or run fully air-gapped, and then nothing leaves at all — the deterministic core still works. The key lives server-side; the browser never sees it. Every number carries provenance and is logged, so it's auditable. And critically, the accumulated intelligence is OUR IP — it doesn't walk out with a subscription. Your data, your infrastructure, your 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my runbook for the live demo — and if I'm short on time I'll do steps one, three and six. I'll start with CAD-to-Cost: upload a STEP model, show the 3D viewer and the feature table so you see it's reading real geometry, then hit Calculate — the should-cost and confidence band come back in under a minute. Then I'll attach a 2D drawing and re-run, so you watch the tolerances tighten the estimate live. Step three, I'll switch regions and show the twenty-country spread in one click — China against Germany. Then something different — I'll drop a photo of a circuit board and watch a full BOM build itself. Step five, I'll paste in a supplier quote and generate the negotiation pack. And I'll finish on the agent's findings panel — half a million pounds it found on its own. That's the note to end on. The checklist on the right is what I've got staged so nothing stalls — including cached runs as a fallback if the network is slow.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bring it home. Any input in — a CAD model, a photo, a description — and a defensible, self-improving should-cost out. Fast, explainable, self-improving, secure, and entirely ours. If you're persuaded, the ask is three small, low-risk decisions: approve a six-week on-premise pilot and let us seed it with our historic quotes; pick a first part family — a CAD part, a board, or a live RFQ — for us to cost; and put the agent's monthly findings on the sourcing agenda, because it's already finding money. Do those three things and we start compounding value from day one. Thank you — I'm happy to take questions, or better yet, let's open the live system and cost something of yours right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1E3B"/>
          </a:solidFill>
          <a:ln/>
        </p:spPr>
      </p:sp>
      <p:sp>
        <p:nvSpPr>
          <p:cNvPr id="3" name="Shape 1"/>
          <p:cNvSpPr/>
          <p:nvPr/>
        </p:nvSpPr>
        <p:spPr>
          <a:xfrm>
            <a:off x="0" y="0"/>
            <a:ext cx="12191695" cy="6858000"/>
          </a:xfrm>
          <a:prstGeom prst="rect">
            <a:avLst/>
          </a:prstGeom>
          <a:solidFill>
            <a:srgbClr val="4F46E5">
              <a:alpha val="12000"/>
            </a:srgbClr>
          </a:solidFill>
          <a:ln/>
        </p:spPr>
      </p:sp>
      <p:sp>
        <p:nvSpPr>
          <p:cNvPr id="4" name="Shape 2"/>
          <p:cNvSpPr/>
          <p:nvPr/>
        </p:nvSpPr>
        <p:spPr>
          <a:xfrm>
            <a:off x="0" y="0"/>
            <a:ext cx="146304" cy="6858000"/>
          </a:xfrm>
          <a:prstGeom prst="rect">
            <a:avLst/>
          </a:prstGeom>
          <a:solidFill>
            <a:srgbClr val="4F46E5"/>
          </a:solidFill>
          <a:ln/>
        </p:spPr>
      </p:sp>
      <p:sp>
        <p:nvSpPr>
          <p:cNvPr id="5" name="Shape 3"/>
          <p:cNvSpPr/>
          <p:nvPr/>
        </p:nvSpPr>
        <p:spPr>
          <a:xfrm>
            <a:off x="0" y="6729984"/>
            <a:ext cx="12191695" cy="128016"/>
          </a:xfrm>
          <a:prstGeom prst="rect">
            <a:avLst/>
          </a:prstGeom>
          <a:solidFill>
            <a:srgbClr val="2563EB"/>
          </a:solidFill>
          <a:ln/>
        </p:spPr>
      </p:sp>
      <p:sp>
        <p:nvSpPr>
          <p:cNvPr id="6" name="Shape 4"/>
          <p:cNvSpPr/>
          <p:nvPr/>
        </p:nvSpPr>
        <p:spPr>
          <a:xfrm>
            <a:off x="822960" y="731520"/>
            <a:ext cx="566928" cy="566928"/>
          </a:xfrm>
          <a:prstGeom prst="roundRect">
            <a:avLst>
              <a:gd name="adj" fmla="val 22581"/>
            </a:avLst>
          </a:prstGeom>
          <a:solidFill>
            <a:srgbClr val="4F46E5"/>
          </a:solidFill>
          <a:ln/>
        </p:spPr>
      </p:sp>
      <p:sp>
        <p:nvSpPr>
          <p:cNvPr id="7" name="Text 5"/>
          <p:cNvSpPr/>
          <p:nvPr/>
        </p:nvSpPr>
        <p:spPr>
          <a:xfrm>
            <a:off x="822960" y="731520"/>
            <a:ext cx="566928" cy="566928"/>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cv</a:t>
            </a:r>
            <a:endParaRPr lang="en-US" sz="2400" dirty="0"/>
          </a:p>
        </p:txBody>
      </p:sp>
      <p:sp>
        <p:nvSpPr>
          <p:cNvPr id="8" name="Text 6"/>
          <p:cNvSpPr/>
          <p:nvPr/>
        </p:nvSpPr>
        <p:spPr>
          <a:xfrm>
            <a:off x="1508760" y="777240"/>
            <a:ext cx="5486400" cy="457200"/>
          </a:xfrm>
          <a:prstGeom prst="rect">
            <a:avLst/>
          </a:prstGeom>
          <a:noFill/>
          <a:ln/>
        </p:spPr>
        <p:txBody>
          <a:bodyPr wrap="square" lIns="0" tIns="0" rIns="0" bIns="0" rtlCol="0" anchor="t"/>
          <a:lstStyle/>
          <a:p>
            <a:pPr indent="0" marL="0">
              <a:buNone/>
            </a:pPr>
            <a:r>
              <a:rPr lang="en-US" sz="2000" b="1" dirty="0">
                <a:solidFill>
                  <a:srgbClr val="FFFFFF"/>
                </a:solidFill>
                <a:latin typeface="Calibri" pitchFamily="34" charset="0"/>
                <a:ea typeface="Calibri" pitchFamily="34" charset="-122"/>
                <a:cs typeface="Calibri" pitchFamily="34" charset="-120"/>
              </a:rPr>
              <a:t>CostVision</a:t>
            </a:r>
            <a:endParaRPr lang="en-US" sz="2000" dirty="0"/>
          </a:p>
        </p:txBody>
      </p:sp>
      <p:sp>
        <p:nvSpPr>
          <p:cNvPr id="9" name="Text 7"/>
          <p:cNvSpPr/>
          <p:nvPr/>
        </p:nvSpPr>
        <p:spPr>
          <a:xfrm>
            <a:off x="1527048" y="1197864"/>
            <a:ext cx="5486400" cy="274320"/>
          </a:xfrm>
          <a:prstGeom prst="rect">
            <a:avLst/>
          </a:prstGeom>
          <a:noFill/>
          <a:ln/>
        </p:spPr>
        <p:txBody>
          <a:bodyPr wrap="square" lIns="0" tIns="0" rIns="0" bIns="0" rtlCol="0" anchor="t"/>
          <a:lstStyle/>
          <a:p>
            <a:pPr indent="0" marL="0">
              <a:buNone/>
            </a:pPr>
            <a:r>
              <a:rPr lang="en-US" sz="950" spc="250" kern="0" dirty="0">
                <a:solidFill>
                  <a:srgbClr val="A9BEDC"/>
                </a:solidFill>
                <a:latin typeface="Calibri" pitchFamily="34" charset="0"/>
                <a:ea typeface="Calibri" pitchFamily="34" charset="-122"/>
                <a:cs typeface="Calibri" pitchFamily="34" charset="-120"/>
              </a:rPr>
              <a:t>AI  COST  INTELLIGENCE</a:t>
            </a:r>
            <a:endParaRPr lang="en-US" sz="950" dirty="0"/>
          </a:p>
        </p:txBody>
      </p:sp>
      <p:sp>
        <p:nvSpPr>
          <p:cNvPr id="10" name="Text 8"/>
          <p:cNvSpPr/>
          <p:nvPr/>
        </p:nvSpPr>
        <p:spPr>
          <a:xfrm>
            <a:off x="822960" y="2286000"/>
            <a:ext cx="10972800" cy="914400"/>
          </a:xfrm>
          <a:prstGeom prst="rect">
            <a:avLst/>
          </a:prstGeom>
          <a:noFill/>
          <a:ln/>
        </p:spPr>
        <p:txBody>
          <a:bodyPr wrap="square" lIns="0" tIns="0" rIns="0" bIns="0" rtlCol="0" anchor="t"/>
          <a:lstStyle/>
          <a:p>
            <a:pPr indent="0" marL="0">
              <a:buNone/>
            </a:pPr>
            <a:r>
              <a:rPr lang="en-US" sz="5200" b="1" dirty="0">
                <a:solidFill>
                  <a:srgbClr val="FFFFFF"/>
                </a:solidFill>
                <a:latin typeface="Calibri" pitchFamily="34" charset="0"/>
                <a:ea typeface="Calibri" pitchFamily="34" charset="-122"/>
                <a:cs typeface="Calibri" pitchFamily="34" charset="-120"/>
              </a:rPr>
              <a:t>CostVision</a:t>
            </a:r>
            <a:endParaRPr lang="en-US" sz="5200" dirty="0"/>
          </a:p>
        </p:txBody>
      </p:sp>
      <p:sp>
        <p:nvSpPr>
          <p:cNvPr id="11" name="Text 9"/>
          <p:cNvSpPr/>
          <p:nvPr/>
        </p:nvSpPr>
        <p:spPr>
          <a:xfrm>
            <a:off x="859536" y="3310128"/>
            <a:ext cx="10972800" cy="548640"/>
          </a:xfrm>
          <a:prstGeom prst="rect">
            <a:avLst/>
          </a:prstGeom>
          <a:noFill/>
          <a:ln/>
        </p:spPr>
        <p:txBody>
          <a:bodyPr wrap="square" lIns="0" tIns="0" rIns="0" bIns="0" rtlCol="0" anchor="t"/>
          <a:lstStyle/>
          <a:p>
            <a:pPr indent="0" marL="0">
              <a:buNone/>
            </a:pPr>
            <a:r>
              <a:rPr lang="en-US" sz="2300" dirty="0">
                <a:solidFill>
                  <a:srgbClr val="CFE0F5"/>
                </a:solidFill>
                <a:latin typeface="Calibri" pitchFamily="34" charset="0"/>
                <a:ea typeface="Calibri" pitchFamily="34" charset="-122"/>
                <a:cs typeface="Calibri" pitchFamily="34" charset="-120"/>
              </a:rPr>
              <a:t>The AI cost-intelligence platform</a:t>
            </a:r>
            <a:endParaRPr lang="en-US" sz="2300" dirty="0"/>
          </a:p>
        </p:txBody>
      </p:sp>
      <p:sp>
        <p:nvSpPr>
          <p:cNvPr id="12" name="Text 10"/>
          <p:cNvSpPr/>
          <p:nvPr/>
        </p:nvSpPr>
        <p:spPr>
          <a:xfrm>
            <a:off x="859536" y="3977640"/>
            <a:ext cx="10607040" cy="822960"/>
          </a:xfrm>
          <a:prstGeom prst="rect">
            <a:avLst/>
          </a:prstGeom>
          <a:noFill/>
          <a:ln/>
        </p:spPr>
        <p:txBody>
          <a:bodyPr wrap="square" lIns="0" tIns="0" rIns="0" bIns="0" rtlCol="0" anchor="t"/>
          <a:lstStyle/>
          <a:p>
            <a:pPr indent="0" marL="0">
              <a:lnSpc>
                <a:spcPct val="120000"/>
              </a:lnSpc>
              <a:buNone/>
            </a:pPr>
            <a:r>
              <a:rPr lang="en-US" sz="1500" dirty="0">
                <a:solidFill>
                  <a:srgbClr val="AFC4E2"/>
                </a:solidFill>
                <a:latin typeface="Calibri" pitchFamily="34" charset="0"/>
                <a:ea typeface="Calibri" pitchFamily="34" charset="-122"/>
                <a:cs typeface="Calibri" pitchFamily="34" charset="-120"/>
              </a:rPr>
              <a:t>From a CAD model, a board photo or a plain description — to a defensible, auditable,</a:t>
            </a:r>
            <a:endParaRPr lang="en-US" sz="1500" dirty="0"/>
          </a:p>
          <a:p>
            <a:pPr indent="0" marL="0">
              <a:lnSpc>
                <a:spcPct val="120000"/>
              </a:lnSpc>
              <a:buNone/>
            </a:pPr>
            <a:r>
              <a:rPr lang="en-US" sz="1500" dirty="0">
                <a:solidFill>
                  <a:srgbClr val="AFC4E2"/>
                </a:solidFill>
                <a:latin typeface="Calibri" pitchFamily="34" charset="0"/>
                <a:ea typeface="Calibri" pitchFamily="34" charset="-122"/>
                <a:cs typeface="Calibri" pitchFamily="34" charset="-120"/>
              </a:rPr>
              <a:t>negotiation-ready should-cost, in minutes. And it gets smarter with every real quote.</a:t>
            </a:r>
            <a:endParaRPr lang="en-US" sz="1500" dirty="0"/>
          </a:p>
        </p:txBody>
      </p:sp>
      <p:sp>
        <p:nvSpPr>
          <p:cNvPr id="13" name="Shape 11"/>
          <p:cNvSpPr/>
          <p:nvPr/>
        </p:nvSpPr>
        <p:spPr>
          <a:xfrm>
            <a:off x="822960" y="5029200"/>
            <a:ext cx="2542032" cy="457200"/>
          </a:xfrm>
          <a:prstGeom prst="roundRect">
            <a:avLst>
              <a:gd name="adj" fmla="val 50000"/>
            </a:avLst>
          </a:prstGeom>
          <a:solidFill>
            <a:srgbClr val="FFFFFF">
              <a:alpha val="92000"/>
            </a:srgbClr>
          </a:solidFill>
          <a:ln/>
        </p:spPr>
      </p:sp>
      <p:sp>
        <p:nvSpPr>
          <p:cNvPr id="14" name="Shape 12"/>
          <p:cNvSpPr/>
          <p:nvPr/>
        </p:nvSpPr>
        <p:spPr>
          <a:xfrm>
            <a:off x="1024128" y="5166360"/>
            <a:ext cx="182880" cy="182880"/>
          </a:xfrm>
          <a:prstGeom prst="ellipse">
            <a:avLst/>
          </a:prstGeom>
          <a:solidFill>
            <a:srgbClr val="2E90FA"/>
          </a:solidFill>
          <a:ln/>
        </p:spPr>
      </p:sp>
      <p:sp>
        <p:nvSpPr>
          <p:cNvPr id="15" name="Text 13"/>
          <p:cNvSpPr/>
          <p:nvPr/>
        </p:nvSpPr>
        <p:spPr>
          <a:xfrm>
            <a:off x="1280160" y="5029200"/>
            <a:ext cx="2057400" cy="457200"/>
          </a:xfrm>
          <a:prstGeom prst="rect">
            <a:avLst/>
          </a:prstGeom>
          <a:noFill/>
          <a:ln/>
        </p:spPr>
        <p:txBody>
          <a:bodyPr wrap="square" lIns="0" tIns="0" rIns="0" bIns="0" rtlCol="0" anchor="ctr"/>
          <a:lstStyle/>
          <a:p>
            <a:pPr indent="0" marL="0">
              <a:buNone/>
            </a:pPr>
            <a:r>
              <a:rPr lang="en-US" sz="1200" b="1" dirty="0">
                <a:solidFill>
                  <a:srgbClr val="0B1E3B"/>
                </a:solidFill>
                <a:latin typeface="Calibri" pitchFamily="34" charset="0"/>
                <a:ea typeface="Calibri" pitchFamily="34" charset="-122"/>
                <a:cs typeface="Calibri" pitchFamily="34" charset="-120"/>
              </a:rPr>
              <a:t>CAD → Cost</a:t>
            </a:r>
            <a:endParaRPr lang="en-US" sz="1200" dirty="0"/>
          </a:p>
        </p:txBody>
      </p:sp>
      <p:sp>
        <p:nvSpPr>
          <p:cNvPr id="16" name="Shape 14"/>
          <p:cNvSpPr/>
          <p:nvPr/>
        </p:nvSpPr>
        <p:spPr>
          <a:xfrm>
            <a:off x="3566160" y="5029200"/>
            <a:ext cx="2542032" cy="457200"/>
          </a:xfrm>
          <a:prstGeom prst="roundRect">
            <a:avLst>
              <a:gd name="adj" fmla="val 50000"/>
            </a:avLst>
          </a:prstGeom>
          <a:solidFill>
            <a:srgbClr val="FFFFFF">
              <a:alpha val="92000"/>
            </a:srgbClr>
          </a:solidFill>
          <a:ln/>
        </p:spPr>
      </p:sp>
      <p:sp>
        <p:nvSpPr>
          <p:cNvPr id="17" name="Shape 15"/>
          <p:cNvSpPr/>
          <p:nvPr/>
        </p:nvSpPr>
        <p:spPr>
          <a:xfrm>
            <a:off x="3767328" y="5166360"/>
            <a:ext cx="182880" cy="182880"/>
          </a:xfrm>
          <a:prstGeom prst="ellipse">
            <a:avLst/>
          </a:prstGeom>
          <a:solidFill>
            <a:srgbClr val="0E93B0"/>
          </a:solidFill>
          <a:ln/>
        </p:spPr>
      </p:sp>
      <p:sp>
        <p:nvSpPr>
          <p:cNvPr id="18" name="Text 16"/>
          <p:cNvSpPr/>
          <p:nvPr/>
        </p:nvSpPr>
        <p:spPr>
          <a:xfrm>
            <a:off x="4023360" y="5029200"/>
            <a:ext cx="2057400" cy="457200"/>
          </a:xfrm>
          <a:prstGeom prst="rect">
            <a:avLst/>
          </a:prstGeom>
          <a:noFill/>
          <a:ln/>
        </p:spPr>
        <p:txBody>
          <a:bodyPr wrap="square" lIns="0" tIns="0" rIns="0" bIns="0" rtlCol="0" anchor="ctr"/>
          <a:lstStyle/>
          <a:p>
            <a:pPr indent="0" marL="0">
              <a:buNone/>
            </a:pPr>
            <a:r>
              <a:rPr lang="en-US" sz="1200" b="1" dirty="0">
                <a:solidFill>
                  <a:srgbClr val="0B1E3B"/>
                </a:solidFill>
                <a:latin typeface="Calibri" pitchFamily="34" charset="0"/>
                <a:ea typeface="Calibri" pitchFamily="34" charset="-122"/>
                <a:cs typeface="Calibri" pitchFamily="34" charset="-120"/>
              </a:rPr>
              <a:t>PCB Image → BOM</a:t>
            </a:r>
            <a:endParaRPr lang="en-US" sz="1200" dirty="0"/>
          </a:p>
        </p:txBody>
      </p:sp>
      <p:sp>
        <p:nvSpPr>
          <p:cNvPr id="19" name="Shape 17"/>
          <p:cNvSpPr/>
          <p:nvPr/>
        </p:nvSpPr>
        <p:spPr>
          <a:xfrm>
            <a:off x="6309360" y="5029200"/>
            <a:ext cx="2542032" cy="457200"/>
          </a:xfrm>
          <a:prstGeom prst="roundRect">
            <a:avLst>
              <a:gd name="adj" fmla="val 50000"/>
            </a:avLst>
          </a:prstGeom>
          <a:solidFill>
            <a:srgbClr val="FFFFFF">
              <a:alpha val="92000"/>
            </a:srgbClr>
          </a:solidFill>
          <a:ln/>
        </p:spPr>
      </p:sp>
      <p:sp>
        <p:nvSpPr>
          <p:cNvPr id="20" name="Shape 18"/>
          <p:cNvSpPr/>
          <p:nvPr/>
        </p:nvSpPr>
        <p:spPr>
          <a:xfrm>
            <a:off x="6510528" y="5166360"/>
            <a:ext cx="182880" cy="182880"/>
          </a:xfrm>
          <a:prstGeom prst="ellipse">
            <a:avLst/>
          </a:prstGeom>
          <a:solidFill>
            <a:srgbClr val="E0900C"/>
          </a:solidFill>
          <a:ln/>
        </p:spPr>
      </p:sp>
      <p:sp>
        <p:nvSpPr>
          <p:cNvPr id="21" name="Text 19"/>
          <p:cNvSpPr/>
          <p:nvPr/>
        </p:nvSpPr>
        <p:spPr>
          <a:xfrm>
            <a:off x="6766560" y="5029200"/>
            <a:ext cx="2057400" cy="457200"/>
          </a:xfrm>
          <a:prstGeom prst="rect">
            <a:avLst/>
          </a:prstGeom>
          <a:noFill/>
          <a:ln/>
        </p:spPr>
        <p:txBody>
          <a:bodyPr wrap="square" lIns="0" tIns="0" rIns="0" bIns="0" rtlCol="0" anchor="ctr"/>
          <a:lstStyle/>
          <a:p>
            <a:pPr indent="0" marL="0">
              <a:buNone/>
            </a:pPr>
            <a:r>
              <a:rPr lang="en-US" sz="1200" b="1" dirty="0">
                <a:solidFill>
                  <a:srgbClr val="0B1E3B"/>
                </a:solidFill>
                <a:latin typeface="Calibri" pitchFamily="34" charset="0"/>
                <a:ea typeface="Calibri" pitchFamily="34" charset="-122"/>
                <a:cs typeface="Calibri" pitchFamily="34" charset="-120"/>
              </a:rPr>
              <a:t>19 Commodity Engines</a:t>
            </a:r>
            <a:endParaRPr lang="en-US" sz="1200" dirty="0"/>
          </a:p>
        </p:txBody>
      </p:sp>
      <p:sp>
        <p:nvSpPr>
          <p:cNvPr id="22" name="Shape 20"/>
          <p:cNvSpPr/>
          <p:nvPr/>
        </p:nvSpPr>
        <p:spPr>
          <a:xfrm>
            <a:off x="9052560" y="5029200"/>
            <a:ext cx="2542032" cy="457200"/>
          </a:xfrm>
          <a:prstGeom prst="roundRect">
            <a:avLst>
              <a:gd name="adj" fmla="val 50000"/>
            </a:avLst>
          </a:prstGeom>
          <a:solidFill>
            <a:srgbClr val="FFFFFF">
              <a:alpha val="92000"/>
            </a:srgbClr>
          </a:solidFill>
          <a:ln/>
        </p:spPr>
      </p:sp>
      <p:sp>
        <p:nvSpPr>
          <p:cNvPr id="23" name="Shape 21"/>
          <p:cNvSpPr/>
          <p:nvPr/>
        </p:nvSpPr>
        <p:spPr>
          <a:xfrm>
            <a:off x="9253728" y="5166360"/>
            <a:ext cx="182880" cy="182880"/>
          </a:xfrm>
          <a:prstGeom prst="ellipse">
            <a:avLst/>
          </a:prstGeom>
          <a:solidFill>
            <a:srgbClr val="0EA472"/>
          </a:solidFill>
          <a:ln/>
        </p:spPr>
      </p:sp>
      <p:sp>
        <p:nvSpPr>
          <p:cNvPr id="24" name="Text 22"/>
          <p:cNvSpPr/>
          <p:nvPr/>
        </p:nvSpPr>
        <p:spPr>
          <a:xfrm>
            <a:off x="9509760" y="5029200"/>
            <a:ext cx="2057400" cy="457200"/>
          </a:xfrm>
          <a:prstGeom prst="rect">
            <a:avLst/>
          </a:prstGeom>
          <a:noFill/>
          <a:ln/>
        </p:spPr>
        <p:txBody>
          <a:bodyPr wrap="square" lIns="0" tIns="0" rIns="0" bIns="0" rtlCol="0" anchor="ctr"/>
          <a:lstStyle/>
          <a:p>
            <a:pPr indent="0" marL="0">
              <a:buNone/>
            </a:pPr>
            <a:r>
              <a:rPr lang="en-US" sz="1200" b="1" dirty="0">
                <a:solidFill>
                  <a:srgbClr val="0B1E3B"/>
                </a:solidFill>
                <a:latin typeface="Calibri" pitchFamily="34" charset="0"/>
                <a:ea typeface="Calibri" pitchFamily="34" charset="-122"/>
                <a:cs typeface="Calibri" pitchFamily="34" charset="-120"/>
              </a:rPr>
              <a:t>Agentic AI</a:t>
            </a:r>
            <a:endParaRPr lang="en-US" sz="1200" dirty="0"/>
          </a:p>
        </p:txBody>
      </p:sp>
      <p:sp>
        <p:nvSpPr>
          <p:cNvPr id="25" name="Text 23"/>
          <p:cNvSpPr/>
          <p:nvPr/>
        </p:nvSpPr>
        <p:spPr>
          <a:xfrm>
            <a:off x="859536" y="5989320"/>
            <a:ext cx="10789920" cy="365760"/>
          </a:xfrm>
          <a:prstGeom prst="rect">
            <a:avLst/>
          </a:prstGeom>
          <a:noFill/>
          <a:ln/>
        </p:spPr>
        <p:txBody>
          <a:bodyPr wrap="square" lIns="0" tIns="0" rIns="0" bIns="0" rtlCol="0" anchor="t"/>
          <a:lstStyle/>
          <a:p>
            <a:pPr indent="0" marL="0">
              <a:buNone/>
            </a:pPr>
            <a:r>
              <a:rPr lang="en-US" sz="1100" dirty="0">
                <a:solidFill>
                  <a:srgbClr val="8FA6C6"/>
                </a:solidFill>
                <a:latin typeface="Calibri" pitchFamily="34" charset="0"/>
                <a:ea typeface="Calibri" pitchFamily="34" charset="-122"/>
                <a:cs typeface="Calibri" pitchFamily="34" charset="-120"/>
              </a:rPr>
              <a:t>Executive briefing &amp; live demo   ·   July 2026   ·   Key figures verified from live runs; illustrative values marked</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4F46E5"/>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4F46E5"/>
                </a:solidFill>
                <a:latin typeface="Calibri" pitchFamily="34" charset="0"/>
                <a:ea typeface="Calibri" pitchFamily="34" charset="-122"/>
                <a:cs typeface="Calibri" pitchFamily="34" charset="-120"/>
              </a:rPr>
              <a:t>AT A GLANCE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Executive summary — the whole platform on one page</a:t>
            </a:r>
            <a:endParaRPr lang="en-US" sz="2400" dirty="0"/>
          </a:p>
        </p:txBody>
      </p:sp>
      <p:sp>
        <p:nvSpPr>
          <p:cNvPr id="9" name="Shape 7"/>
          <p:cNvSpPr/>
          <p:nvPr/>
        </p:nvSpPr>
        <p:spPr>
          <a:xfrm>
            <a:off x="548640" y="1371600"/>
            <a:ext cx="1051560" cy="45720"/>
          </a:xfrm>
          <a:prstGeom prst="rect">
            <a:avLst/>
          </a:prstGeom>
          <a:solidFill>
            <a:srgbClr val="4F46E5"/>
          </a:solidFill>
          <a:ln/>
        </p:spPr>
      </p:sp>
      <p:sp>
        <p:nvSpPr>
          <p:cNvPr id="10" name="Shape 8"/>
          <p:cNvSpPr/>
          <p:nvPr/>
        </p:nvSpPr>
        <p:spPr>
          <a:xfrm>
            <a:off x="548640" y="1600200"/>
            <a:ext cx="2103120"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88900" dist="25400" dir="5400000">
              <a:srgbClr val="9DB0CC">
                <a:alpha val="22000"/>
              </a:srgbClr>
            </a:outerShdw>
          </a:effectLst>
        </p:spPr>
      </p:sp>
      <p:sp>
        <p:nvSpPr>
          <p:cNvPr id="11" name="Shape 9"/>
          <p:cNvSpPr/>
          <p:nvPr/>
        </p:nvSpPr>
        <p:spPr>
          <a:xfrm>
            <a:off x="548640" y="1600200"/>
            <a:ext cx="82296" cy="1371600"/>
          </a:xfrm>
          <a:prstGeom prst="rect">
            <a:avLst/>
          </a:prstGeom>
          <a:solidFill>
            <a:srgbClr val="2563EB"/>
          </a:solidFill>
          <a:ln/>
        </p:spPr>
      </p:sp>
      <p:sp>
        <p:nvSpPr>
          <p:cNvPr id="12" name="Text 10"/>
          <p:cNvSpPr/>
          <p:nvPr/>
        </p:nvSpPr>
        <p:spPr>
          <a:xfrm>
            <a:off x="731520" y="1755648"/>
            <a:ext cx="1783080" cy="502920"/>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Minutes</a:t>
            </a:r>
            <a:endParaRPr lang="en-US" sz="1800" dirty="0"/>
          </a:p>
        </p:txBody>
      </p:sp>
      <p:sp>
        <p:nvSpPr>
          <p:cNvPr id="13" name="Text 11"/>
          <p:cNvSpPr/>
          <p:nvPr/>
        </p:nvSpPr>
        <p:spPr>
          <a:xfrm>
            <a:off x="731520" y="2286000"/>
            <a:ext cx="1783080" cy="594360"/>
          </a:xfrm>
          <a:prstGeom prst="rect">
            <a:avLst/>
          </a:prstGeom>
          <a:noFill/>
          <a:ln/>
        </p:spPr>
        <p:txBody>
          <a:bodyPr wrap="square" lIns="0" tIns="0" rIns="0" bIns="0" rtlCol="0" anchor="t"/>
          <a:lstStyle/>
          <a:p>
            <a:pPr indent="0" marL="0">
              <a:lnSpc>
                <a:spcPct val="105000"/>
              </a:lnSpc>
              <a:buNone/>
            </a:pPr>
            <a:r>
              <a:rPr lang="en-US" sz="950" dirty="0">
                <a:solidFill>
                  <a:srgbClr val="8A97A8"/>
                </a:solidFill>
                <a:latin typeface="Calibri" pitchFamily="34" charset="0"/>
                <a:ea typeface="Calibri" pitchFamily="34" charset="-122"/>
                <a:cs typeface="Calibri" pitchFamily="34" charset="-120"/>
              </a:rPr>
              <a:t>not weeks — to a defensible cost</a:t>
            </a:r>
            <a:endParaRPr lang="en-US" sz="950" dirty="0"/>
          </a:p>
        </p:txBody>
      </p:sp>
      <p:sp>
        <p:nvSpPr>
          <p:cNvPr id="14" name="Shape 12"/>
          <p:cNvSpPr/>
          <p:nvPr/>
        </p:nvSpPr>
        <p:spPr>
          <a:xfrm>
            <a:off x="2724912" y="1600200"/>
            <a:ext cx="2103120"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1129030000" dist="322580000" dir="324000000000">
              <a:srgbClr val="9DB0CC">
                <a:alpha val="2200000000"/>
              </a:srgbClr>
            </a:outerShdw>
          </a:effectLst>
        </p:spPr>
      </p:sp>
      <p:sp>
        <p:nvSpPr>
          <p:cNvPr id="15" name="Shape 13"/>
          <p:cNvSpPr/>
          <p:nvPr/>
        </p:nvSpPr>
        <p:spPr>
          <a:xfrm>
            <a:off x="2724912" y="1600200"/>
            <a:ext cx="82296" cy="1371600"/>
          </a:xfrm>
          <a:prstGeom prst="rect">
            <a:avLst/>
          </a:prstGeom>
          <a:solidFill>
            <a:srgbClr val="E0900C"/>
          </a:solidFill>
          <a:ln/>
        </p:spPr>
      </p:sp>
      <p:sp>
        <p:nvSpPr>
          <p:cNvPr id="16" name="Text 14"/>
          <p:cNvSpPr/>
          <p:nvPr/>
        </p:nvSpPr>
        <p:spPr>
          <a:xfrm>
            <a:off x="2907792" y="1755648"/>
            <a:ext cx="1783080" cy="502920"/>
          </a:xfrm>
          <a:prstGeom prst="rect">
            <a:avLst/>
          </a:prstGeom>
          <a:noFill/>
          <a:ln/>
        </p:spPr>
        <p:txBody>
          <a:bodyPr wrap="square" lIns="0" tIns="0" rIns="0" bIns="0" rtlCol="0" anchor="t"/>
          <a:lstStyle/>
          <a:p>
            <a:pPr indent="0" marL="0">
              <a:buNone/>
            </a:pPr>
            <a:r>
              <a:rPr lang="en-US" sz="2600" b="1" dirty="0">
                <a:solidFill>
                  <a:srgbClr val="E0900C"/>
                </a:solidFill>
                <a:latin typeface="Calibri" pitchFamily="34" charset="0"/>
                <a:ea typeface="Calibri" pitchFamily="34" charset="-122"/>
                <a:cs typeface="Calibri" pitchFamily="34" charset="-120"/>
              </a:rPr>
              <a:t>19</a:t>
            </a:r>
            <a:endParaRPr lang="en-US" sz="2600" dirty="0"/>
          </a:p>
        </p:txBody>
      </p:sp>
      <p:sp>
        <p:nvSpPr>
          <p:cNvPr id="17" name="Text 15"/>
          <p:cNvSpPr/>
          <p:nvPr/>
        </p:nvSpPr>
        <p:spPr>
          <a:xfrm>
            <a:off x="2907792" y="2286000"/>
            <a:ext cx="1783080" cy="594360"/>
          </a:xfrm>
          <a:prstGeom prst="rect">
            <a:avLst/>
          </a:prstGeom>
          <a:noFill/>
          <a:ln/>
        </p:spPr>
        <p:txBody>
          <a:bodyPr wrap="square" lIns="0" tIns="0" rIns="0" bIns="0" rtlCol="0" anchor="t"/>
          <a:lstStyle/>
          <a:p>
            <a:pPr indent="0" marL="0">
              <a:lnSpc>
                <a:spcPct val="105000"/>
              </a:lnSpc>
              <a:buNone/>
            </a:pPr>
            <a:r>
              <a:rPr lang="en-US" sz="950" dirty="0">
                <a:solidFill>
                  <a:srgbClr val="8A97A8"/>
                </a:solidFill>
                <a:latin typeface="Calibri" pitchFamily="34" charset="0"/>
                <a:ea typeface="Calibri" pitchFamily="34" charset="-122"/>
                <a:cs typeface="Calibri" pitchFamily="34" charset="-120"/>
              </a:rPr>
              <a:t>commodity cost engines</a:t>
            </a:r>
            <a:endParaRPr lang="en-US" sz="950" dirty="0"/>
          </a:p>
        </p:txBody>
      </p:sp>
      <p:sp>
        <p:nvSpPr>
          <p:cNvPr id="18" name="Shape 16"/>
          <p:cNvSpPr/>
          <p:nvPr/>
        </p:nvSpPr>
        <p:spPr>
          <a:xfrm>
            <a:off x="4901184" y="1600200"/>
            <a:ext cx="2103120"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14338681000000" dist="4096766000000" dir="19440000000000000">
              <a:srgbClr val="9DB0CC">
                <a:alpha val="220000000000000"/>
              </a:srgbClr>
            </a:outerShdw>
          </a:effectLst>
        </p:spPr>
      </p:sp>
      <p:sp>
        <p:nvSpPr>
          <p:cNvPr id="19" name="Shape 17"/>
          <p:cNvSpPr/>
          <p:nvPr/>
        </p:nvSpPr>
        <p:spPr>
          <a:xfrm>
            <a:off x="4901184" y="1600200"/>
            <a:ext cx="82296" cy="1371600"/>
          </a:xfrm>
          <a:prstGeom prst="rect">
            <a:avLst/>
          </a:prstGeom>
          <a:solidFill>
            <a:srgbClr val="0DA5A0"/>
          </a:solidFill>
          <a:ln/>
        </p:spPr>
      </p:sp>
      <p:sp>
        <p:nvSpPr>
          <p:cNvPr id="20" name="Text 18"/>
          <p:cNvSpPr/>
          <p:nvPr/>
        </p:nvSpPr>
        <p:spPr>
          <a:xfrm>
            <a:off x="5084064" y="1755648"/>
            <a:ext cx="1783080" cy="502920"/>
          </a:xfrm>
          <a:prstGeom prst="rect">
            <a:avLst/>
          </a:prstGeom>
          <a:noFill/>
          <a:ln/>
        </p:spPr>
        <p:txBody>
          <a:bodyPr wrap="square" lIns="0" tIns="0" rIns="0" bIns="0" rtlCol="0" anchor="t"/>
          <a:lstStyle/>
          <a:p>
            <a:pPr indent="0" marL="0">
              <a:buNone/>
            </a:pPr>
            <a:r>
              <a:rPr lang="en-US" sz="2600" b="1" dirty="0">
                <a:solidFill>
                  <a:srgbClr val="0DA5A0"/>
                </a:solidFill>
                <a:latin typeface="Calibri" pitchFamily="34" charset="0"/>
                <a:ea typeface="Calibri" pitchFamily="34" charset="-122"/>
                <a:cs typeface="Calibri" pitchFamily="34" charset="-120"/>
              </a:rPr>
              <a:t>20</a:t>
            </a:r>
            <a:endParaRPr lang="en-US" sz="2600" dirty="0"/>
          </a:p>
        </p:txBody>
      </p:sp>
      <p:sp>
        <p:nvSpPr>
          <p:cNvPr id="21" name="Text 19"/>
          <p:cNvSpPr/>
          <p:nvPr/>
        </p:nvSpPr>
        <p:spPr>
          <a:xfrm>
            <a:off x="5084064" y="2286000"/>
            <a:ext cx="1783080" cy="594360"/>
          </a:xfrm>
          <a:prstGeom prst="rect">
            <a:avLst/>
          </a:prstGeom>
          <a:noFill/>
          <a:ln/>
        </p:spPr>
        <p:txBody>
          <a:bodyPr wrap="square" lIns="0" tIns="0" rIns="0" bIns="0" rtlCol="0" anchor="t"/>
          <a:lstStyle/>
          <a:p>
            <a:pPr indent="0" marL="0">
              <a:lnSpc>
                <a:spcPct val="105000"/>
              </a:lnSpc>
              <a:buNone/>
            </a:pPr>
            <a:r>
              <a:rPr lang="en-US" sz="950" dirty="0">
                <a:solidFill>
                  <a:srgbClr val="8A97A8"/>
                </a:solidFill>
                <a:latin typeface="Calibri" pitchFamily="34" charset="0"/>
                <a:ea typeface="Calibri" pitchFamily="34" charset="-122"/>
                <a:cs typeface="Calibri" pitchFamily="34" charset="-120"/>
              </a:rPr>
              <a:t>manufacturing regions, real rates</a:t>
            </a:r>
            <a:endParaRPr lang="en-US" sz="950" dirty="0"/>
          </a:p>
        </p:txBody>
      </p:sp>
      <p:sp>
        <p:nvSpPr>
          <p:cNvPr id="22" name="Shape 20"/>
          <p:cNvSpPr/>
          <p:nvPr/>
        </p:nvSpPr>
        <p:spPr>
          <a:xfrm>
            <a:off x="7077456" y="1600200"/>
            <a:ext cx="2103120"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182101248700000000" dist="52028928200000000" dir="1.1664e+21">
              <a:srgbClr val="9DB0CC">
                <a:alpha val="22000000000000000000"/>
              </a:srgbClr>
            </a:outerShdw>
          </a:effectLst>
        </p:spPr>
      </p:sp>
      <p:sp>
        <p:nvSpPr>
          <p:cNvPr id="23" name="Shape 21"/>
          <p:cNvSpPr/>
          <p:nvPr/>
        </p:nvSpPr>
        <p:spPr>
          <a:xfrm>
            <a:off x="7077456" y="1600200"/>
            <a:ext cx="82296" cy="1371600"/>
          </a:xfrm>
          <a:prstGeom prst="rect">
            <a:avLst/>
          </a:prstGeom>
          <a:solidFill>
            <a:srgbClr val="0EA472"/>
          </a:solidFill>
          <a:ln/>
        </p:spPr>
      </p:sp>
      <p:sp>
        <p:nvSpPr>
          <p:cNvPr id="24" name="Text 22"/>
          <p:cNvSpPr/>
          <p:nvPr/>
        </p:nvSpPr>
        <p:spPr>
          <a:xfrm>
            <a:off x="7260336" y="1755648"/>
            <a:ext cx="1783080" cy="502920"/>
          </a:xfrm>
          <a:prstGeom prst="rect">
            <a:avLst/>
          </a:prstGeom>
          <a:noFill/>
          <a:ln/>
        </p:spPr>
        <p:txBody>
          <a:bodyPr wrap="square" lIns="0" tIns="0" rIns="0" bIns="0" rtlCol="0" anchor="t"/>
          <a:lstStyle/>
          <a:p>
            <a:pPr indent="0" marL="0">
              <a:buNone/>
            </a:pPr>
            <a:r>
              <a:rPr lang="en-US" sz="2600" b="1" dirty="0">
                <a:solidFill>
                  <a:srgbClr val="0EA472"/>
                </a:solidFill>
                <a:latin typeface="Calibri" pitchFamily="34" charset="0"/>
                <a:ea typeface="Calibri" pitchFamily="34" charset="-122"/>
                <a:cs typeface="Calibri" pitchFamily="34" charset="-120"/>
              </a:rPr>
              <a:t>~5%</a:t>
            </a:r>
            <a:endParaRPr lang="en-US" sz="2600" dirty="0"/>
          </a:p>
        </p:txBody>
      </p:sp>
      <p:sp>
        <p:nvSpPr>
          <p:cNvPr id="25" name="Text 23"/>
          <p:cNvSpPr/>
          <p:nvPr/>
        </p:nvSpPr>
        <p:spPr>
          <a:xfrm>
            <a:off x="7260336" y="2286000"/>
            <a:ext cx="1783080" cy="594360"/>
          </a:xfrm>
          <a:prstGeom prst="rect">
            <a:avLst/>
          </a:prstGeom>
          <a:noFill/>
          <a:ln/>
        </p:spPr>
        <p:txBody>
          <a:bodyPr wrap="square" lIns="0" tIns="0" rIns="0" bIns="0" rtlCol="0" anchor="t"/>
          <a:lstStyle/>
          <a:p>
            <a:pPr indent="0" marL="0">
              <a:lnSpc>
                <a:spcPct val="105000"/>
              </a:lnSpc>
              <a:buNone/>
            </a:pPr>
            <a:r>
              <a:rPr lang="en-US" sz="950" dirty="0">
                <a:solidFill>
                  <a:srgbClr val="8A97A8"/>
                </a:solidFill>
                <a:latin typeface="Calibri" pitchFamily="34" charset="0"/>
                <a:ea typeface="Calibri" pitchFamily="34" charset="-122"/>
                <a:cs typeface="Calibri" pitchFamily="34" charset="-120"/>
              </a:rPr>
              <a:t>vs manual on the live PCB example</a:t>
            </a:r>
            <a:endParaRPr lang="en-US" sz="950" dirty="0"/>
          </a:p>
        </p:txBody>
      </p:sp>
      <p:sp>
        <p:nvSpPr>
          <p:cNvPr id="26" name="Shape 24"/>
          <p:cNvSpPr/>
          <p:nvPr/>
        </p:nvSpPr>
        <p:spPr>
          <a:xfrm>
            <a:off x="9253728" y="1600200"/>
            <a:ext cx="2103120"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2.31268585849e+21" dist="660767388140000000000" dir="6.9984e+25">
              <a:srgbClr val="9DB0CC">
                <a:alpha val="2.2e+24"/>
              </a:srgbClr>
            </a:outerShdw>
          </a:effectLst>
        </p:spPr>
      </p:sp>
      <p:sp>
        <p:nvSpPr>
          <p:cNvPr id="27" name="Shape 25"/>
          <p:cNvSpPr/>
          <p:nvPr/>
        </p:nvSpPr>
        <p:spPr>
          <a:xfrm>
            <a:off x="9253728" y="1600200"/>
            <a:ext cx="82296" cy="1371600"/>
          </a:xfrm>
          <a:prstGeom prst="rect">
            <a:avLst/>
          </a:prstGeom>
          <a:solidFill>
            <a:srgbClr val="E5484D"/>
          </a:solidFill>
          <a:ln/>
        </p:spPr>
      </p:sp>
      <p:sp>
        <p:nvSpPr>
          <p:cNvPr id="28" name="Text 26"/>
          <p:cNvSpPr/>
          <p:nvPr/>
        </p:nvSpPr>
        <p:spPr>
          <a:xfrm>
            <a:off x="9436608" y="1755648"/>
            <a:ext cx="1783080" cy="502920"/>
          </a:xfrm>
          <a:prstGeom prst="rect">
            <a:avLst/>
          </a:prstGeom>
          <a:noFill/>
          <a:ln/>
        </p:spPr>
        <p:txBody>
          <a:bodyPr wrap="square" lIns="0" tIns="0" rIns="0" bIns="0" rtlCol="0" anchor="t"/>
          <a:lstStyle/>
          <a:p>
            <a:pPr indent="0" marL="0">
              <a:buNone/>
            </a:pPr>
            <a:r>
              <a:rPr lang="en-US" sz="1800" b="1" dirty="0">
                <a:solidFill>
                  <a:srgbClr val="E5484D"/>
                </a:solidFill>
                <a:latin typeface="Calibri" pitchFamily="34" charset="0"/>
                <a:ea typeface="Calibri" pitchFamily="34" charset="-122"/>
                <a:cs typeface="Calibri" pitchFamily="34" charset="-120"/>
              </a:rPr>
              <a:t>£512k/yr</a:t>
            </a:r>
            <a:endParaRPr lang="en-US" sz="1800" dirty="0"/>
          </a:p>
        </p:txBody>
      </p:sp>
      <p:sp>
        <p:nvSpPr>
          <p:cNvPr id="29" name="Text 27"/>
          <p:cNvSpPr/>
          <p:nvPr/>
        </p:nvSpPr>
        <p:spPr>
          <a:xfrm>
            <a:off x="9436608" y="2286000"/>
            <a:ext cx="1783080" cy="594360"/>
          </a:xfrm>
          <a:prstGeom prst="rect">
            <a:avLst/>
          </a:prstGeom>
          <a:noFill/>
          <a:ln/>
        </p:spPr>
        <p:txBody>
          <a:bodyPr wrap="square" lIns="0" tIns="0" rIns="0" bIns="0" rtlCol="0" anchor="t"/>
          <a:lstStyle/>
          <a:p>
            <a:pPr indent="0" marL="0">
              <a:lnSpc>
                <a:spcPct val="105000"/>
              </a:lnSpc>
              <a:buNone/>
            </a:pPr>
            <a:r>
              <a:rPr lang="en-US" sz="950" dirty="0">
                <a:solidFill>
                  <a:srgbClr val="8A97A8"/>
                </a:solidFill>
                <a:latin typeface="Calibri" pitchFamily="34" charset="0"/>
                <a:ea typeface="Calibri" pitchFamily="34" charset="-122"/>
                <a:cs typeface="Calibri" pitchFamily="34" charset="-120"/>
              </a:rPr>
              <a:t>found by the agent (demo, unattended)</a:t>
            </a:r>
            <a:endParaRPr lang="en-US" sz="950" dirty="0"/>
          </a:p>
        </p:txBody>
      </p:sp>
      <p:sp>
        <p:nvSpPr>
          <p:cNvPr id="30" name="Shape 28"/>
          <p:cNvSpPr/>
          <p:nvPr/>
        </p:nvSpPr>
        <p:spPr>
          <a:xfrm>
            <a:off x="548640" y="3200400"/>
            <a:ext cx="11091672" cy="868680"/>
          </a:xfrm>
          <a:prstGeom prst="roundRect">
            <a:avLst>
              <a:gd name="adj" fmla="val 7368"/>
            </a:avLst>
          </a:prstGeom>
          <a:solidFill>
            <a:srgbClr val="EAF1FE"/>
          </a:solidFill>
          <a:ln w="12700">
            <a:solidFill>
              <a:srgbClr val="E4EAF2"/>
            </a:solidFill>
            <a:prstDash val="solid"/>
          </a:ln>
        </p:spPr>
      </p:sp>
      <p:sp>
        <p:nvSpPr>
          <p:cNvPr id="31" name="Shape 29"/>
          <p:cNvSpPr/>
          <p:nvPr/>
        </p:nvSpPr>
        <p:spPr>
          <a:xfrm>
            <a:off x="548640" y="3200400"/>
            <a:ext cx="82296" cy="868680"/>
          </a:xfrm>
          <a:prstGeom prst="rect">
            <a:avLst/>
          </a:prstGeom>
          <a:solidFill>
            <a:srgbClr val="4F46E5"/>
          </a:solidFill>
          <a:ln/>
        </p:spPr>
      </p:sp>
      <p:sp>
        <p:nvSpPr>
          <p:cNvPr id="32" name="Text 30"/>
          <p:cNvSpPr/>
          <p:nvPr/>
        </p:nvSpPr>
        <p:spPr>
          <a:xfrm>
            <a:off x="914400" y="3337560"/>
            <a:ext cx="10378440" cy="640080"/>
          </a:xfrm>
          <a:prstGeom prst="rect">
            <a:avLst/>
          </a:prstGeom>
          <a:noFill/>
          <a:ln/>
        </p:spPr>
        <p:txBody>
          <a:bodyPr wrap="square" lIns="0" tIns="0" rIns="0" bIns="0" rtlCol="0" anchor="t"/>
          <a:lstStyle/>
          <a:p>
            <a:pPr indent="0" marL="0">
              <a:lnSpc>
                <a:spcPct val="120000"/>
              </a:lnSpc>
              <a:buNone/>
            </a:pPr>
            <a:r>
              <a:rPr lang="en-US" sz="1250" b="1" dirty="0">
                <a:solidFill>
                  <a:srgbClr val="0F1E3D"/>
                </a:solidFill>
                <a:latin typeface="Calibri" pitchFamily="34" charset="0"/>
                <a:ea typeface="Calibri" pitchFamily="34" charset="-122"/>
                <a:cs typeface="Calibri" pitchFamily="34" charset="-120"/>
              </a:rPr>
              <a:t>What it is:  </a:t>
            </a:r>
            <a:pPr indent="0" marL="0">
              <a:lnSpc>
                <a:spcPct val="120000"/>
              </a:lnSpc>
              <a:buNone/>
            </a:pPr>
            <a:r>
              <a:rPr lang="en-US" sz="1250" dirty="0">
                <a:solidFill>
                  <a:srgbClr val="3E4C63"/>
                </a:solidFill>
                <a:latin typeface="Calibri" pitchFamily="34" charset="0"/>
                <a:ea typeface="Calibri" pitchFamily="34" charset="-122"/>
                <a:cs typeface="Calibri" pitchFamily="34" charset="-120"/>
              </a:rPr>
              <a:t>one AI platform that turns any engineering input — a CAD model, a board photo, a description — into a defensible, auditable should-cost in minutes, prices it across 20 regions, hands you the negotiation, and learns from every real quote. AI understands the input; deterministic maths sets every price.</a:t>
            </a:r>
            <a:endParaRPr lang="en-US" sz="1250" dirty="0"/>
          </a:p>
        </p:txBody>
      </p:sp>
      <p:sp>
        <p:nvSpPr>
          <p:cNvPr id="33" name="Shape 31"/>
          <p:cNvSpPr/>
          <p:nvPr/>
        </p:nvSpPr>
        <p:spPr>
          <a:xfrm>
            <a:off x="548640" y="4297680"/>
            <a:ext cx="2724912" cy="1280160"/>
          </a:xfrm>
          <a:prstGeom prst="roundRect">
            <a:avLst>
              <a:gd name="adj" fmla="val 5000"/>
            </a:avLst>
          </a:prstGeom>
          <a:solidFill>
            <a:srgbClr val="FFFFFF"/>
          </a:solidFill>
          <a:ln w="12700">
            <a:solidFill>
              <a:srgbClr val="E4EAF2"/>
            </a:solidFill>
            <a:prstDash val="solid"/>
          </a:ln>
          <a:effectLst>
            <a:outerShdw sx="100000" sy="100000" kx="0" ky="0" algn="bl" rotWithShape="0" blurRad="2.9371110402823e+25" dist="8.391745829378e+24" dir="4.19904e+30">
              <a:srgbClr val="9DB0CC">
                <a:alpha val="2.2e+29"/>
              </a:srgbClr>
            </a:outerShdw>
          </a:effectLst>
        </p:spPr>
      </p:sp>
      <p:sp>
        <p:nvSpPr>
          <p:cNvPr id="34" name="Shape 32"/>
          <p:cNvSpPr/>
          <p:nvPr/>
        </p:nvSpPr>
        <p:spPr>
          <a:xfrm>
            <a:off x="548640" y="4297680"/>
            <a:ext cx="82296" cy="1280160"/>
          </a:xfrm>
          <a:prstGeom prst="rect">
            <a:avLst/>
          </a:prstGeom>
          <a:solidFill>
            <a:srgbClr val="2563EB"/>
          </a:solidFill>
          <a:ln/>
        </p:spPr>
      </p:sp>
      <p:sp>
        <p:nvSpPr>
          <p:cNvPr id="35" name="Text 33"/>
          <p:cNvSpPr/>
          <p:nvPr/>
        </p:nvSpPr>
        <p:spPr>
          <a:xfrm>
            <a:off x="768096" y="4462272"/>
            <a:ext cx="2377440" cy="320040"/>
          </a:xfrm>
          <a:prstGeom prst="rect">
            <a:avLst/>
          </a:prstGeom>
          <a:noFill/>
          <a:ln/>
        </p:spPr>
        <p:txBody>
          <a:bodyPr wrap="square" lIns="0" tIns="0" rIns="0" bIns="0" rtlCol="0" anchor="t"/>
          <a:lstStyle/>
          <a:p>
            <a:pPr indent="0" marL="0">
              <a:buNone/>
            </a:pPr>
            <a:r>
              <a:rPr lang="en-US" sz="1300" b="1" spc="50" kern="0" dirty="0">
                <a:solidFill>
                  <a:srgbClr val="2563EB"/>
                </a:solidFill>
                <a:latin typeface="Calibri" pitchFamily="34" charset="0"/>
                <a:ea typeface="Calibri" pitchFamily="34" charset="-122"/>
                <a:cs typeface="Calibri" pitchFamily="34" charset="-120"/>
              </a:rPr>
              <a:t>ESTIMATE</a:t>
            </a:r>
            <a:endParaRPr lang="en-US" sz="1300" dirty="0"/>
          </a:p>
        </p:txBody>
      </p:sp>
      <p:sp>
        <p:nvSpPr>
          <p:cNvPr id="36" name="Text 34"/>
          <p:cNvSpPr/>
          <p:nvPr/>
        </p:nvSpPr>
        <p:spPr>
          <a:xfrm>
            <a:off x="768096" y="4828032"/>
            <a:ext cx="2377440" cy="640080"/>
          </a:xfrm>
          <a:prstGeom prst="rect">
            <a:avLst/>
          </a:prstGeom>
          <a:noFill/>
          <a:ln/>
        </p:spPr>
        <p:txBody>
          <a:bodyPr wrap="square" lIns="0" tIns="0" rIns="0" bIns="0" rtlCol="0" anchor="t"/>
          <a:lstStyle/>
          <a:p>
            <a:pPr indent="0" marL="0">
              <a:lnSpc>
                <a:spcPct val="110000"/>
              </a:lnSpc>
              <a:buNone/>
            </a:pPr>
            <a:r>
              <a:rPr lang="en-US" sz="1050" dirty="0">
                <a:solidFill>
                  <a:srgbClr val="3E4C63"/>
                </a:solidFill>
                <a:latin typeface="Calibri" pitchFamily="34" charset="0"/>
                <a:ea typeface="Calibri" pitchFamily="34" charset="-122"/>
                <a:cs typeface="Calibri" pitchFamily="34" charset="-120"/>
              </a:rPr>
              <a:t>CAD · PCB · 19 engines</a:t>
            </a:r>
            <a:endParaRPr lang="en-US" sz="1050" dirty="0"/>
          </a:p>
        </p:txBody>
      </p:sp>
      <p:sp>
        <p:nvSpPr>
          <p:cNvPr id="37" name="Shape 35"/>
          <p:cNvSpPr/>
          <p:nvPr/>
        </p:nvSpPr>
        <p:spPr>
          <a:xfrm>
            <a:off x="3319272" y="4297680"/>
            <a:ext cx="2724912" cy="1280160"/>
          </a:xfrm>
          <a:prstGeom prst="roundRect">
            <a:avLst>
              <a:gd name="adj" fmla="val 5000"/>
            </a:avLst>
          </a:prstGeom>
          <a:solidFill>
            <a:srgbClr val="FFFFFF"/>
          </a:solidFill>
          <a:ln w="12700">
            <a:solidFill>
              <a:srgbClr val="E4EAF2"/>
            </a:solidFill>
            <a:prstDash val="solid"/>
          </a:ln>
          <a:effectLst>
            <a:outerShdw sx="100000" sy="100000" kx="0" ky="0" algn="bl" rotWithShape="0" blurRad="3.730131021158521e+29" dist="1.0657517203310059e+29" dir="2.519424e+35">
              <a:srgbClr val="9DB0CC">
                <a:alpha val="2.2e+34"/>
              </a:srgbClr>
            </a:outerShdw>
          </a:effectLst>
        </p:spPr>
      </p:sp>
      <p:sp>
        <p:nvSpPr>
          <p:cNvPr id="38" name="Shape 36"/>
          <p:cNvSpPr/>
          <p:nvPr/>
        </p:nvSpPr>
        <p:spPr>
          <a:xfrm>
            <a:off x="3319272" y="4297680"/>
            <a:ext cx="82296" cy="1280160"/>
          </a:xfrm>
          <a:prstGeom prst="rect">
            <a:avLst/>
          </a:prstGeom>
          <a:solidFill>
            <a:srgbClr val="7C3AED"/>
          </a:solidFill>
          <a:ln/>
        </p:spPr>
      </p:sp>
      <p:sp>
        <p:nvSpPr>
          <p:cNvPr id="39" name="Text 37"/>
          <p:cNvSpPr/>
          <p:nvPr/>
        </p:nvSpPr>
        <p:spPr>
          <a:xfrm>
            <a:off x="3538728" y="4462272"/>
            <a:ext cx="2377440" cy="320040"/>
          </a:xfrm>
          <a:prstGeom prst="rect">
            <a:avLst/>
          </a:prstGeom>
          <a:noFill/>
          <a:ln/>
        </p:spPr>
        <p:txBody>
          <a:bodyPr wrap="square" lIns="0" tIns="0" rIns="0" bIns="0" rtlCol="0" anchor="t"/>
          <a:lstStyle/>
          <a:p>
            <a:pPr indent="0" marL="0">
              <a:buNone/>
            </a:pPr>
            <a:r>
              <a:rPr lang="en-US" sz="1300" b="1" spc="50" kern="0" dirty="0">
                <a:solidFill>
                  <a:srgbClr val="7C3AED"/>
                </a:solidFill>
                <a:latin typeface="Calibri" pitchFamily="34" charset="0"/>
                <a:ea typeface="Calibri" pitchFamily="34" charset="-122"/>
                <a:cs typeface="Calibri" pitchFamily="34" charset="-120"/>
              </a:rPr>
              <a:t>UNDERSTAND</a:t>
            </a:r>
            <a:endParaRPr lang="en-US" sz="1300" dirty="0"/>
          </a:p>
        </p:txBody>
      </p:sp>
      <p:sp>
        <p:nvSpPr>
          <p:cNvPr id="40" name="Text 38"/>
          <p:cNvSpPr/>
          <p:nvPr/>
        </p:nvSpPr>
        <p:spPr>
          <a:xfrm>
            <a:off x="3538728" y="4828032"/>
            <a:ext cx="2377440" cy="640080"/>
          </a:xfrm>
          <a:prstGeom prst="rect">
            <a:avLst/>
          </a:prstGeom>
          <a:noFill/>
          <a:ln/>
        </p:spPr>
        <p:txBody>
          <a:bodyPr wrap="square" lIns="0" tIns="0" rIns="0" bIns="0" rtlCol="0" anchor="t"/>
          <a:lstStyle/>
          <a:p>
            <a:pPr indent="0" marL="0">
              <a:lnSpc>
                <a:spcPct val="110000"/>
              </a:lnSpc>
              <a:buNone/>
            </a:pPr>
            <a:r>
              <a:rPr lang="en-US" sz="1050" dirty="0">
                <a:solidFill>
                  <a:srgbClr val="3E4C63"/>
                </a:solidFill>
                <a:latin typeface="Calibri" pitchFamily="34" charset="0"/>
                <a:ea typeface="Calibri" pitchFamily="34" charset="-122"/>
                <a:cs typeface="Calibri" pitchFamily="34" charset="-120"/>
              </a:rPr>
              <a:t>3D · B-rep · assistant</a:t>
            </a:r>
            <a:endParaRPr lang="en-US" sz="1050" dirty="0"/>
          </a:p>
        </p:txBody>
      </p:sp>
      <p:sp>
        <p:nvSpPr>
          <p:cNvPr id="41" name="Shape 39"/>
          <p:cNvSpPr/>
          <p:nvPr/>
        </p:nvSpPr>
        <p:spPr>
          <a:xfrm>
            <a:off x="6089904" y="4297680"/>
            <a:ext cx="2724912" cy="1280160"/>
          </a:xfrm>
          <a:prstGeom prst="roundRect">
            <a:avLst>
              <a:gd name="adj" fmla="val 5000"/>
            </a:avLst>
          </a:prstGeom>
          <a:solidFill>
            <a:srgbClr val="FFFFFF"/>
          </a:solidFill>
          <a:ln w="12700">
            <a:solidFill>
              <a:srgbClr val="E4EAF2"/>
            </a:solidFill>
            <a:prstDash val="solid"/>
          </a:ln>
          <a:effectLst>
            <a:outerShdw sx="100000" sy="100000" kx="0" ky="0" algn="bl" rotWithShape="0" blurRad="4.737266396871321e+33" dist="1.3535046848203775e+33" dir="1.5116544e+40">
              <a:srgbClr val="9DB0CC">
                <a:alpha val="2.2e+39"/>
              </a:srgbClr>
            </a:outerShdw>
          </a:effectLst>
        </p:spPr>
      </p:sp>
      <p:sp>
        <p:nvSpPr>
          <p:cNvPr id="42" name="Shape 40"/>
          <p:cNvSpPr/>
          <p:nvPr/>
        </p:nvSpPr>
        <p:spPr>
          <a:xfrm>
            <a:off x="6089904" y="4297680"/>
            <a:ext cx="82296" cy="1280160"/>
          </a:xfrm>
          <a:prstGeom prst="rect">
            <a:avLst/>
          </a:prstGeom>
          <a:solidFill>
            <a:srgbClr val="0DA5A0"/>
          </a:solidFill>
          <a:ln/>
        </p:spPr>
      </p:sp>
      <p:sp>
        <p:nvSpPr>
          <p:cNvPr id="43" name="Text 41"/>
          <p:cNvSpPr/>
          <p:nvPr/>
        </p:nvSpPr>
        <p:spPr>
          <a:xfrm>
            <a:off x="6309360" y="4462272"/>
            <a:ext cx="2377440" cy="320040"/>
          </a:xfrm>
          <a:prstGeom prst="rect">
            <a:avLst/>
          </a:prstGeom>
          <a:noFill/>
          <a:ln/>
        </p:spPr>
        <p:txBody>
          <a:bodyPr wrap="square" lIns="0" tIns="0" rIns="0" bIns="0" rtlCol="0" anchor="t"/>
          <a:lstStyle/>
          <a:p>
            <a:pPr indent="0" marL="0">
              <a:buNone/>
            </a:pPr>
            <a:r>
              <a:rPr lang="en-US" sz="1300" b="1" spc="50" kern="0" dirty="0">
                <a:solidFill>
                  <a:srgbClr val="0DA5A0"/>
                </a:solidFill>
                <a:latin typeface="Calibri" pitchFamily="34" charset="0"/>
                <a:ea typeface="Calibri" pitchFamily="34" charset="-122"/>
                <a:cs typeface="Calibri" pitchFamily="34" charset="-120"/>
              </a:rPr>
              <a:t>NEGOTIATE</a:t>
            </a:r>
            <a:endParaRPr lang="en-US" sz="1300" dirty="0"/>
          </a:p>
        </p:txBody>
      </p:sp>
      <p:sp>
        <p:nvSpPr>
          <p:cNvPr id="44" name="Text 42"/>
          <p:cNvSpPr/>
          <p:nvPr/>
        </p:nvSpPr>
        <p:spPr>
          <a:xfrm>
            <a:off x="6309360" y="4828032"/>
            <a:ext cx="2377440" cy="640080"/>
          </a:xfrm>
          <a:prstGeom prst="rect">
            <a:avLst/>
          </a:prstGeom>
          <a:noFill/>
          <a:ln/>
        </p:spPr>
        <p:txBody>
          <a:bodyPr wrap="square" lIns="0" tIns="0" rIns="0" bIns="0" rtlCol="0" anchor="t"/>
          <a:lstStyle/>
          <a:p>
            <a:pPr indent="0" marL="0">
              <a:lnSpc>
                <a:spcPct val="110000"/>
              </a:lnSpc>
              <a:buNone/>
            </a:pPr>
            <a:r>
              <a:rPr lang="en-US" sz="1050" dirty="0">
                <a:solidFill>
                  <a:srgbClr val="3E4C63"/>
                </a:solidFill>
                <a:latin typeface="Calibri" pitchFamily="34" charset="0"/>
                <a:ea typeface="Calibri" pitchFamily="34" charset="-122"/>
                <a:cs typeface="Calibri" pitchFamily="34" charset="-120"/>
              </a:rPr>
              <a:t>teardown · 20-region · what-if</a:t>
            </a:r>
            <a:endParaRPr lang="en-US" sz="1050" dirty="0"/>
          </a:p>
        </p:txBody>
      </p:sp>
      <p:sp>
        <p:nvSpPr>
          <p:cNvPr id="45" name="Shape 43"/>
          <p:cNvSpPr/>
          <p:nvPr/>
        </p:nvSpPr>
        <p:spPr>
          <a:xfrm>
            <a:off x="8860536" y="4297680"/>
            <a:ext cx="2724912" cy="1280160"/>
          </a:xfrm>
          <a:prstGeom prst="roundRect">
            <a:avLst>
              <a:gd name="adj" fmla="val 5000"/>
            </a:avLst>
          </a:prstGeom>
          <a:solidFill>
            <a:srgbClr val="FFFFFF"/>
          </a:solidFill>
          <a:ln w="12700">
            <a:solidFill>
              <a:srgbClr val="E4EAF2"/>
            </a:solidFill>
            <a:prstDash val="solid"/>
          </a:ln>
          <a:effectLst>
            <a:outerShdw sx="100000" sy="100000" kx="0" ky="0" algn="bl" rotWithShape="0" blurRad="6.016328324026578e+37" dist="1.7189509497218795e+37" dir="9.069926400000001e+44">
              <a:srgbClr val="9DB0CC">
                <a:alpha val="2.2e+44"/>
              </a:srgbClr>
            </a:outerShdw>
          </a:effectLst>
        </p:spPr>
      </p:sp>
      <p:sp>
        <p:nvSpPr>
          <p:cNvPr id="46" name="Shape 44"/>
          <p:cNvSpPr/>
          <p:nvPr/>
        </p:nvSpPr>
        <p:spPr>
          <a:xfrm>
            <a:off x="8860536" y="4297680"/>
            <a:ext cx="82296" cy="1280160"/>
          </a:xfrm>
          <a:prstGeom prst="rect">
            <a:avLst/>
          </a:prstGeom>
          <a:solidFill>
            <a:srgbClr val="0EA472"/>
          </a:solidFill>
          <a:ln/>
        </p:spPr>
      </p:sp>
      <p:sp>
        <p:nvSpPr>
          <p:cNvPr id="47" name="Text 45"/>
          <p:cNvSpPr/>
          <p:nvPr/>
        </p:nvSpPr>
        <p:spPr>
          <a:xfrm>
            <a:off x="9079992" y="4462272"/>
            <a:ext cx="2377440" cy="320040"/>
          </a:xfrm>
          <a:prstGeom prst="rect">
            <a:avLst/>
          </a:prstGeom>
          <a:noFill/>
          <a:ln/>
        </p:spPr>
        <p:txBody>
          <a:bodyPr wrap="square" lIns="0" tIns="0" rIns="0" bIns="0" rtlCol="0" anchor="t"/>
          <a:lstStyle/>
          <a:p>
            <a:pPr indent="0" marL="0">
              <a:buNone/>
            </a:pPr>
            <a:r>
              <a:rPr lang="en-US" sz="1300" b="1" spc="50" kern="0" dirty="0">
                <a:solidFill>
                  <a:srgbClr val="0EA472"/>
                </a:solidFill>
                <a:latin typeface="Calibri" pitchFamily="34" charset="0"/>
                <a:ea typeface="Calibri" pitchFamily="34" charset="-122"/>
                <a:cs typeface="Calibri" pitchFamily="34" charset="-120"/>
              </a:rPr>
              <a:t>LEARN &amp; GOVERN</a:t>
            </a:r>
            <a:endParaRPr lang="en-US" sz="1300" dirty="0"/>
          </a:p>
        </p:txBody>
      </p:sp>
      <p:sp>
        <p:nvSpPr>
          <p:cNvPr id="48" name="Text 46"/>
          <p:cNvSpPr/>
          <p:nvPr/>
        </p:nvSpPr>
        <p:spPr>
          <a:xfrm>
            <a:off x="9079992" y="4828032"/>
            <a:ext cx="2377440" cy="640080"/>
          </a:xfrm>
          <a:prstGeom prst="rect">
            <a:avLst/>
          </a:prstGeom>
          <a:noFill/>
          <a:ln/>
        </p:spPr>
        <p:txBody>
          <a:bodyPr wrap="square" lIns="0" tIns="0" rIns="0" bIns="0" rtlCol="0" anchor="t"/>
          <a:lstStyle/>
          <a:p>
            <a:pPr indent="0" marL="0">
              <a:lnSpc>
                <a:spcPct val="110000"/>
              </a:lnSpc>
              <a:buNone/>
            </a:pPr>
            <a:r>
              <a:rPr lang="en-US" sz="1050" dirty="0">
                <a:solidFill>
                  <a:srgbClr val="3E4C63"/>
                </a:solidFill>
                <a:latin typeface="Calibri" pitchFamily="34" charset="0"/>
                <a:ea typeface="Calibri" pitchFamily="34" charset="-122"/>
                <a:cs typeface="Calibri" pitchFamily="34" charset="-120"/>
              </a:rPr>
              <a:t>agentic · glass-box · on-prem</a:t>
            </a:r>
            <a:endParaRPr lang="en-US" sz="1050" dirty="0"/>
          </a:p>
        </p:txBody>
      </p:sp>
      <p:sp>
        <p:nvSpPr>
          <p:cNvPr id="49" name="Shape 47"/>
          <p:cNvSpPr/>
          <p:nvPr/>
        </p:nvSpPr>
        <p:spPr>
          <a:xfrm>
            <a:off x="548640" y="5715000"/>
            <a:ext cx="11091672" cy="457200"/>
          </a:xfrm>
          <a:prstGeom prst="roundRect">
            <a:avLst>
              <a:gd name="adj" fmla="val 14000"/>
            </a:avLst>
          </a:prstGeom>
          <a:solidFill>
            <a:srgbClr val="E7F7F0"/>
          </a:solidFill>
          <a:ln w="12700">
            <a:solidFill>
              <a:srgbClr val="E4EAF2"/>
            </a:solidFill>
            <a:prstDash val="solid"/>
          </a:ln>
        </p:spPr>
      </p:sp>
      <p:sp>
        <p:nvSpPr>
          <p:cNvPr id="50" name="Text 48"/>
          <p:cNvSpPr/>
          <p:nvPr/>
        </p:nvSpPr>
        <p:spPr>
          <a:xfrm>
            <a:off x="914400" y="5715000"/>
            <a:ext cx="10332720" cy="457200"/>
          </a:xfrm>
          <a:prstGeom prst="rect">
            <a:avLst/>
          </a:prstGeom>
          <a:noFill/>
          <a:ln/>
        </p:spPr>
        <p:txBody>
          <a:bodyPr wrap="square" lIns="0" tIns="0" rIns="0" bIns="0" rtlCol="0" anchor="ctr"/>
          <a:lstStyle/>
          <a:p>
            <a:pPr indent="0" marL="0">
              <a:buNone/>
            </a:pPr>
            <a:r>
              <a:rPr lang="en-US" sz="1150" b="1" dirty="0">
                <a:solidFill>
                  <a:srgbClr val="0F1E3D"/>
                </a:solidFill>
                <a:latin typeface="Calibri" pitchFamily="34" charset="0"/>
                <a:ea typeface="Calibri" pitchFamily="34" charset="-122"/>
                <a:cs typeface="Calibri" pitchFamily="34" charset="-120"/>
              </a:rPr>
              <a:t>Bottom line:  </a:t>
            </a:r>
            <a:pPr indent="0" marL="0">
              <a:buNone/>
            </a:pPr>
            <a:r>
              <a:rPr lang="en-US" sz="1150" dirty="0">
                <a:solidFill>
                  <a:srgbClr val="3E4C63"/>
                </a:solidFill>
                <a:latin typeface="Calibri" pitchFamily="34" charset="0"/>
                <a:ea typeface="Calibri" pitchFamily="34" charset="-122"/>
                <a:cs typeface="Calibri" pitchFamily="34" charset="-120"/>
              </a:rPr>
              <a:t>faster quotes, better margins, one consistent number — and a proprietary cost-intelligence asset that compounds, on our own infrastructure.</a:t>
            </a:r>
            <a:endParaRPr lang="en-US" sz="1150" dirty="0"/>
          </a:p>
        </p:txBody>
      </p:sp>
      <p:sp>
        <p:nvSpPr>
          <p:cNvPr id="51" name="Shape 49"/>
          <p:cNvSpPr/>
          <p:nvPr/>
        </p:nvSpPr>
        <p:spPr>
          <a:xfrm>
            <a:off x="548640" y="6400800"/>
            <a:ext cx="11094415" cy="12802"/>
          </a:xfrm>
          <a:prstGeom prst="rect">
            <a:avLst/>
          </a:prstGeom>
          <a:solidFill>
            <a:srgbClr val="E4EAF2"/>
          </a:solidFill>
          <a:ln/>
        </p:spPr>
      </p:sp>
      <p:sp>
        <p:nvSpPr>
          <p:cNvPr id="52" name="Text 50"/>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3" name="Text 51"/>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 / 25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4F46E5"/>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4F46E5"/>
                </a:solidFill>
                <a:latin typeface="Calibri" pitchFamily="34" charset="0"/>
                <a:ea typeface="Calibri" pitchFamily="34" charset="-122"/>
                <a:cs typeface="Calibri" pitchFamily="34" charset="-120"/>
              </a:rPr>
              <a:t>ORIENTATION</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Background &amp; agenda</a:t>
            </a:r>
            <a:endParaRPr lang="en-US" sz="2400" dirty="0"/>
          </a:p>
        </p:txBody>
      </p:sp>
      <p:sp>
        <p:nvSpPr>
          <p:cNvPr id="9" name="Shape 7"/>
          <p:cNvSpPr/>
          <p:nvPr/>
        </p:nvSpPr>
        <p:spPr>
          <a:xfrm>
            <a:off x="548640" y="1371600"/>
            <a:ext cx="1051560" cy="45720"/>
          </a:xfrm>
          <a:prstGeom prst="rect">
            <a:avLst/>
          </a:prstGeom>
          <a:solidFill>
            <a:srgbClr val="4F46E5"/>
          </a:solidFill>
          <a:ln/>
        </p:spPr>
      </p:sp>
      <p:sp>
        <p:nvSpPr>
          <p:cNvPr id="10" name="Shape 8"/>
          <p:cNvSpPr/>
          <p:nvPr/>
        </p:nvSpPr>
        <p:spPr>
          <a:xfrm>
            <a:off x="548640" y="1600200"/>
            <a:ext cx="11091672" cy="1234440"/>
          </a:xfrm>
          <a:prstGeom prst="roundRect">
            <a:avLst>
              <a:gd name="adj" fmla="val 5185"/>
            </a:avLst>
          </a:prstGeom>
          <a:solidFill>
            <a:srgbClr val="EAF1FE"/>
          </a:solidFill>
          <a:ln w="12700">
            <a:solidFill>
              <a:srgbClr val="E4EAF2"/>
            </a:solidFill>
            <a:prstDash val="solid"/>
          </a:ln>
        </p:spPr>
      </p:sp>
      <p:sp>
        <p:nvSpPr>
          <p:cNvPr id="11" name="Shape 9"/>
          <p:cNvSpPr/>
          <p:nvPr/>
        </p:nvSpPr>
        <p:spPr>
          <a:xfrm>
            <a:off x="548640" y="1600200"/>
            <a:ext cx="82296" cy="1234440"/>
          </a:xfrm>
          <a:prstGeom prst="rect">
            <a:avLst/>
          </a:prstGeom>
          <a:solidFill>
            <a:srgbClr val="4F46E5"/>
          </a:solidFill>
          <a:ln/>
        </p:spPr>
      </p:sp>
      <p:sp>
        <p:nvSpPr>
          <p:cNvPr id="12" name="Text 10"/>
          <p:cNvSpPr/>
          <p:nvPr/>
        </p:nvSpPr>
        <p:spPr>
          <a:xfrm>
            <a:off x="914400" y="1755648"/>
            <a:ext cx="10378440" cy="960120"/>
          </a:xfrm>
          <a:prstGeom prst="rect">
            <a:avLst/>
          </a:prstGeom>
          <a:noFill/>
          <a:ln/>
        </p:spPr>
        <p:txBody>
          <a:bodyPr wrap="square" lIns="0" tIns="0" rIns="0" bIns="0" rtlCol="0" anchor="t"/>
          <a:lstStyle/>
          <a:p>
            <a:pPr indent="0" marL="0">
              <a:lnSpc>
                <a:spcPct val="116000"/>
              </a:lnSpc>
              <a:buNone/>
            </a:pPr>
            <a:r>
              <a:rPr lang="en-US" sz="1200" b="1" dirty="0">
                <a:solidFill>
                  <a:srgbClr val="0F1E3D"/>
                </a:solidFill>
                <a:latin typeface="Calibri" pitchFamily="34" charset="0"/>
                <a:ea typeface="Calibri" pitchFamily="34" charset="-122"/>
                <a:cs typeface="Calibri" pitchFamily="34" charset="-120"/>
              </a:rPr>
              <a:t>The picture:  </a:t>
            </a:r>
            <a:pPr indent="0" marL="0">
              <a:lnSpc>
                <a:spcPct val="116000"/>
              </a:lnSpc>
              <a:buNone/>
            </a:pPr>
            <a:r>
              <a:rPr lang="en-US" sz="1200" dirty="0">
                <a:solidFill>
                  <a:srgbClr val="3E4C63"/>
                </a:solidFill>
                <a:latin typeface="Calibri" pitchFamily="34" charset="0"/>
                <a:ea typeface="Calibri" pitchFamily="34" charset="-122"/>
                <a:cs typeface="Calibri" pitchFamily="34" charset="-120"/>
              </a:rPr>
              <a:t>we already run rigorous should-costing across every commodity with our internal tool — a proven, bottom-up method. Today it is hands-on: every input is selected and keyed in by hand from the 3D CAD and drawings. CostVision is the next step — it keeps that trusted method and automates the manual work with an AI layer: reading the CAD, suggesting material &amp; process, and keeping rates current. Same defensible number, in minutes — and the knowledge compounds as a company asset.</a:t>
            </a:r>
            <a:endParaRPr lang="en-US" sz="1200" dirty="0"/>
          </a:p>
        </p:txBody>
      </p:sp>
      <p:sp>
        <p:nvSpPr>
          <p:cNvPr id="13" name="Shape 11"/>
          <p:cNvSpPr/>
          <p:nvPr/>
        </p:nvSpPr>
        <p:spPr>
          <a:xfrm>
            <a:off x="548640" y="3063240"/>
            <a:ext cx="5394960" cy="566928"/>
          </a:xfrm>
          <a:prstGeom prst="roundRect">
            <a:avLst>
              <a:gd name="adj" fmla="val 9677"/>
            </a:avLst>
          </a:prstGeom>
          <a:solidFill>
            <a:srgbClr val="F4F7FB"/>
          </a:solidFill>
          <a:ln w="12700">
            <a:solidFill>
              <a:srgbClr val="E4EAF2"/>
            </a:solidFill>
            <a:prstDash val="solid"/>
          </a:ln>
        </p:spPr>
      </p:sp>
      <p:sp>
        <p:nvSpPr>
          <p:cNvPr id="14" name="Shape 12"/>
          <p:cNvSpPr/>
          <p:nvPr/>
        </p:nvSpPr>
        <p:spPr>
          <a:xfrm>
            <a:off x="713232" y="3191256"/>
            <a:ext cx="310896" cy="310896"/>
          </a:xfrm>
          <a:prstGeom prst="ellipse">
            <a:avLst/>
          </a:prstGeom>
          <a:solidFill>
            <a:srgbClr val="2563EB"/>
          </a:solidFill>
          <a:ln/>
          <a:effectLst>
            <a:outerShdw sx="100000" sy="100000" kx="0" ky="0" algn="bl" rotWithShape="0" blurRad="63500" dist="19050" dir="5400000">
              <a:srgbClr val="A7B6CE">
                <a:alpha val="18000"/>
              </a:srgbClr>
            </a:outerShdw>
          </a:effectLst>
        </p:spPr>
      </p:sp>
      <p:sp>
        <p:nvSpPr>
          <p:cNvPr id="15" name="Text 13"/>
          <p:cNvSpPr/>
          <p:nvPr/>
        </p:nvSpPr>
        <p:spPr>
          <a:xfrm>
            <a:off x="713232" y="3191256"/>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1</a:t>
            </a:r>
            <a:endParaRPr lang="en-US" sz="1156" dirty="0"/>
          </a:p>
        </p:txBody>
      </p:sp>
      <p:sp>
        <p:nvSpPr>
          <p:cNvPr id="16" name="Text 14"/>
          <p:cNvSpPr/>
          <p:nvPr/>
        </p:nvSpPr>
        <p:spPr>
          <a:xfrm>
            <a:off x="1152144" y="3063240"/>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From manual should-costing to AI-assisted</a:t>
            </a:r>
            <a:endParaRPr lang="en-US" sz="1250" dirty="0"/>
          </a:p>
        </p:txBody>
      </p:sp>
      <p:sp>
        <p:nvSpPr>
          <p:cNvPr id="17" name="Shape 15"/>
          <p:cNvSpPr/>
          <p:nvPr/>
        </p:nvSpPr>
        <p:spPr>
          <a:xfrm>
            <a:off x="6245352" y="3063240"/>
            <a:ext cx="5394960" cy="566928"/>
          </a:xfrm>
          <a:prstGeom prst="roundRect">
            <a:avLst>
              <a:gd name="adj" fmla="val 9677"/>
            </a:avLst>
          </a:prstGeom>
          <a:solidFill>
            <a:srgbClr val="FFFFFF"/>
          </a:solidFill>
          <a:ln w="12700">
            <a:solidFill>
              <a:srgbClr val="E4EAF2"/>
            </a:solidFill>
            <a:prstDash val="solid"/>
          </a:ln>
        </p:spPr>
      </p:sp>
      <p:sp>
        <p:nvSpPr>
          <p:cNvPr id="18" name="Shape 16"/>
          <p:cNvSpPr/>
          <p:nvPr/>
        </p:nvSpPr>
        <p:spPr>
          <a:xfrm>
            <a:off x="6409944" y="3191256"/>
            <a:ext cx="310896" cy="310896"/>
          </a:xfrm>
          <a:prstGeom prst="ellipse">
            <a:avLst/>
          </a:prstGeom>
          <a:solidFill>
            <a:srgbClr val="2563EB"/>
          </a:solidFill>
          <a:ln/>
          <a:effectLst>
            <a:outerShdw sx="100000" sy="100000" kx="0" ky="0" algn="bl" rotWithShape="0" blurRad="806450000" dist="241935000" dir="324000000000">
              <a:srgbClr val="A7B6CE">
                <a:alpha val="1800000000"/>
              </a:srgbClr>
            </a:outerShdw>
          </a:effectLst>
        </p:spPr>
      </p:sp>
      <p:sp>
        <p:nvSpPr>
          <p:cNvPr id="19" name="Text 17"/>
          <p:cNvSpPr/>
          <p:nvPr/>
        </p:nvSpPr>
        <p:spPr>
          <a:xfrm>
            <a:off x="6409944" y="3191256"/>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2</a:t>
            </a:r>
            <a:endParaRPr lang="en-US" sz="1156" dirty="0"/>
          </a:p>
        </p:txBody>
      </p:sp>
      <p:sp>
        <p:nvSpPr>
          <p:cNvPr id="20" name="Text 18"/>
          <p:cNvSpPr/>
          <p:nvPr/>
        </p:nvSpPr>
        <p:spPr>
          <a:xfrm>
            <a:off x="6848856" y="3063240"/>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The platform at a glance</a:t>
            </a:r>
            <a:endParaRPr lang="en-US" sz="1250" dirty="0"/>
          </a:p>
        </p:txBody>
      </p:sp>
      <p:sp>
        <p:nvSpPr>
          <p:cNvPr id="21" name="Shape 19"/>
          <p:cNvSpPr/>
          <p:nvPr/>
        </p:nvSpPr>
        <p:spPr>
          <a:xfrm>
            <a:off x="548640" y="3666744"/>
            <a:ext cx="5394960" cy="566928"/>
          </a:xfrm>
          <a:prstGeom prst="roundRect">
            <a:avLst>
              <a:gd name="adj" fmla="val 9677"/>
            </a:avLst>
          </a:prstGeom>
          <a:solidFill>
            <a:srgbClr val="F4F7FB"/>
          </a:solidFill>
          <a:ln w="12700">
            <a:solidFill>
              <a:srgbClr val="E4EAF2"/>
            </a:solidFill>
            <a:prstDash val="solid"/>
          </a:ln>
        </p:spPr>
      </p:sp>
      <p:sp>
        <p:nvSpPr>
          <p:cNvPr id="22" name="Shape 20"/>
          <p:cNvSpPr/>
          <p:nvPr/>
        </p:nvSpPr>
        <p:spPr>
          <a:xfrm>
            <a:off x="713232" y="3794760"/>
            <a:ext cx="310896" cy="310896"/>
          </a:xfrm>
          <a:prstGeom prst="ellipse">
            <a:avLst/>
          </a:prstGeom>
          <a:solidFill>
            <a:srgbClr val="0DA5A0"/>
          </a:solidFill>
          <a:ln/>
          <a:effectLst>
            <a:outerShdw sx="100000" sy="100000" kx="0" ky="0" algn="bl" rotWithShape="0" blurRad="10241915000000" dist="3072574500000" dir="19440000000000000">
              <a:srgbClr val="A7B6CE">
                <a:alpha val="180000000000000"/>
              </a:srgbClr>
            </a:outerShdw>
          </a:effectLst>
        </p:spPr>
      </p:sp>
      <p:sp>
        <p:nvSpPr>
          <p:cNvPr id="23" name="Text 21"/>
          <p:cNvSpPr/>
          <p:nvPr/>
        </p:nvSpPr>
        <p:spPr>
          <a:xfrm>
            <a:off x="713232" y="3794760"/>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3</a:t>
            </a:r>
            <a:endParaRPr lang="en-US" sz="1156" dirty="0"/>
          </a:p>
        </p:txBody>
      </p:sp>
      <p:sp>
        <p:nvSpPr>
          <p:cNvPr id="24" name="Text 22"/>
          <p:cNvSpPr/>
          <p:nvPr/>
        </p:nvSpPr>
        <p:spPr>
          <a:xfrm>
            <a:off x="1152144" y="3666744"/>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CAD → Cost — workflow, AI &amp; accuracy</a:t>
            </a:r>
            <a:endParaRPr lang="en-US" sz="1250" dirty="0"/>
          </a:p>
        </p:txBody>
      </p:sp>
      <p:sp>
        <p:nvSpPr>
          <p:cNvPr id="25" name="Shape 23"/>
          <p:cNvSpPr/>
          <p:nvPr/>
        </p:nvSpPr>
        <p:spPr>
          <a:xfrm>
            <a:off x="6245352" y="3666744"/>
            <a:ext cx="5394960" cy="566928"/>
          </a:xfrm>
          <a:prstGeom prst="roundRect">
            <a:avLst>
              <a:gd name="adj" fmla="val 9677"/>
            </a:avLst>
          </a:prstGeom>
          <a:solidFill>
            <a:srgbClr val="FFFFFF"/>
          </a:solidFill>
          <a:ln w="12700">
            <a:solidFill>
              <a:srgbClr val="E4EAF2"/>
            </a:solidFill>
            <a:prstDash val="solid"/>
          </a:ln>
        </p:spPr>
      </p:sp>
      <p:sp>
        <p:nvSpPr>
          <p:cNvPr id="26" name="Shape 24"/>
          <p:cNvSpPr/>
          <p:nvPr/>
        </p:nvSpPr>
        <p:spPr>
          <a:xfrm>
            <a:off x="6409944" y="3794760"/>
            <a:ext cx="310896" cy="310896"/>
          </a:xfrm>
          <a:prstGeom prst="ellipse">
            <a:avLst/>
          </a:prstGeom>
          <a:solidFill>
            <a:srgbClr val="0E93B0"/>
          </a:solidFill>
          <a:ln/>
          <a:effectLst>
            <a:outerShdw sx="100000" sy="100000" kx="0" ky="0" algn="bl" rotWithShape="0" blurRad="130072320500000000" dist="39021696150000000" dir="1.1664e+21">
              <a:srgbClr val="A7B6CE">
                <a:alpha val="18000000000000000000"/>
              </a:srgbClr>
            </a:outerShdw>
          </a:effectLst>
        </p:spPr>
      </p:sp>
      <p:sp>
        <p:nvSpPr>
          <p:cNvPr id="27" name="Text 25"/>
          <p:cNvSpPr/>
          <p:nvPr/>
        </p:nvSpPr>
        <p:spPr>
          <a:xfrm>
            <a:off x="6409944" y="3794760"/>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4</a:t>
            </a:r>
            <a:endParaRPr lang="en-US" sz="1156" dirty="0"/>
          </a:p>
        </p:txBody>
      </p:sp>
      <p:sp>
        <p:nvSpPr>
          <p:cNvPr id="28" name="Text 26"/>
          <p:cNvSpPr/>
          <p:nvPr/>
        </p:nvSpPr>
        <p:spPr>
          <a:xfrm>
            <a:off x="6848856" y="3666744"/>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PCB Image → BOM → should-cost</a:t>
            </a:r>
            <a:endParaRPr lang="en-US" sz="1250" dirty="0"/>
          </a:p>
        </p:txBody>
      </p:sp>
      <p:sp>
        <p:nvSpPr>
          <p:cNvPr id="29" name="Shape 27"/>
          <p:cNvSpPr/>
          <p:nvPr/>
        </p:nvSpPr>
        <p:spPr>
          <a:xfrm>
            <a:off x="548640" y="4270248"/>
            <a:ext cx="5394960" cy="566928"/>
          </a:xfrm>
          <a:prstGeom prst="roundRect">
            <a:avLst>
              <a:gd name="adj" fmla="val 9677"/>
            </a:avLst>
          </a:prstGeom>
          <a:solidFill>
            <a:srgbClr val="F4F7FB"/>
          </a:solidFill>
          <a:ln w="12700">
            <a:solidFill>
              <a:srgbClr val="E4EAF2"/>
            </a:solidFill>
            <a:prstDash val="solid"/>
          </a:ln>
        </p:spPr>
      </p:sp>
      <p:sp>
        <p:nvSpPr>
          <p:cNvPr id="30" name="Shape 28"/>
          <p:cNvSpPr/>
          <p:nvPr/>
        </p:nvSpPr>
        <p:spPr>
          <a:xfrm>
            <a:off x="713232" y="4398264"/>
            <a:ext cx="310896" cy="310896"/>
          </a:xfrm>
          <a:prstGeom prst="ellipse">
            <a:avLst/>
          </a:prstGeom>
          <a:solidFill>
            <a:srgbClr val="E0900C"/>
          </a:solidFill>
          <a:ln/>
          <a:effectLst>
            <a:outerShdw sx="100000" sy="100000" kx="0" ky="0" algn="bl" rotWithShape="0" blurRad="1.65191847035e+21" dist="495575541105000000000" dir="6.9984e+25">
              <a:srgbClr val="A7B6CE">
                <a:alpha val="1.8e+24"/>
              </a:srgbClr>
            </a:outerShdw>
          </a:effectLst>
        </p:spPr>
      </p:sp>
      <p:sp>
        <p:nvSpPr>
          <p:cNvPr id="31" name="Text 29"/>
          <p:cNvSpPr/>
          <p:nvPr/>
        </p:nvSpPr>
        <p:spPr>
          <a:xfrm>
            <a:off x="713232" y="4398264"/>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5</a:t>
            </a:r>
            <a:endParaRPr lang="en-US" sz="1156" dirty="0"/>
          </a:p>
        </p:txBody>
      </p:sp>
      <p:sp>
        <p:nvSpPr>
          <p:cNvPr id="32" name="Text 30"/>
          <p:cNvSpPr/>
          <p:nvPr/>
        </p:nvSpPr>
        <p:spPr>
          <a:xfrm>
            <a:off x="1152144" y="4270248"/>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Global should-cost — engines, rates &amp; transparency</a:t>
            </a:r>
            <a:endParaRPr lang="en-US" sz="1250" dirty="0"/>
          </a:p>
        </p:txBody>
      </p:sp>
      <p:sp>
        <p:nvSpPr>
          <p:cNvPr id="33" name="Shape 31"/>
          <p:cNvSpPr/>
          <p:nvPr/>
        </p:nvSpPr>
        <p:spPr>
          <a:xfrm>
            <a:off x="6245352" y="4270248"/>
            <a:ext cx="5394960" cy="566928"/>
          </a:xfrm>
          <a:prstGeom prst="roundRect">
            <a:avLst>
              <a:gd name="adj" fmla="val 9677"/>
            </a:avLst>
          </a:prstGeom>
          <a:solidFill>
            <a:srgbClr val="FFFFFF"/>
          </a:solidFill>
          <a:ln w="12700">
            <a:solidFill>
              <a:srgbClr val="E4EAF2"/>
            </a:solidFill>
            <a:prstDash val="solid"/>
          </a:ln>
        </p:spPr>
      </p:sp>
      <p:sp>
        <p:nvSpPr>
          <p:cNvPr id="34" name="Shape 32"/>
          <p:cNvSpPr/>
          <p:nvPr/>
        </p:nvSpPr>
        <p:spPr>
          <a:xfrm>
            <a:off x="6409944" y="4398264"/>
            <a:ext cx="310896" cy="310896"/>
          </a:xfrm>
          <a:prstGeom prst="ellipse">
            <a:avLst/>
          </a:prstGeom>
          <a:solidFill>
            <a:srgbClr val="7C3AED"/>
          </a:solidFill>
          <a:ln/>
          <a:effectLst>
            <a:outerShdw sx="100000" sy="100000" kx="0" ky="0" algn="bl" rotWithShape="0" blurRad="2.0979364573445003e+25" dist="6.2938093720335e+24" dir="4.19904e+30">
              <a:srgbClr val="A7B6CE">
                <a:alpha val="1.8e+29"/>
              </a:srgbClr>
            </a:outerShdw>
          </a:effectLst>
        </p:spPr>
      </p:sp>
      <p:sp>
        <p:nvSpPr>
          <p:cNvPr id="35" name="Text 33"/>
          <p:cNvSpPr/>
          <p:nvPr/>
        </p:nvSpPr>
        <p:spPr>
          <a:xfrm>
            <a:off x="6409944" y="4398264"/>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6</a:t>
            </a:r>
            <a:endParaRPr lang="en-US" sz="1156" dirty="0"/>
          </a:p>
        </p:txBody>
      </p:sp>
      <p:sp>
        <p:nvSpPr>
          <p:cNvPr id="36" name="Text 34"/>
          <p:cNvSpPr/>
          <p:nvPr/>
        </p:nvSpPr>
        <p:spPr>
          <a:xfrm>
            <a:off x="6848856" y="4270248"/>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Negotiation Intelligence</a:t>
            </a:r>
            <a:endParaRPr lang="en-US" sz="1250" dirty="0"/>
          </a:p>
        </p:txBody>
      </p:sp>
      <p:sp>
        <p:nvSpPr>
          <p:cNvPr id="37" name="Shape 35"/>
          <p:cNvSpPr/>
          <p:nvPr/>
        </p:nvSpPr>
        <p:spPr>
          <a:xfrm>
            <a:off x="548640" y="4873752"/>
            <a:ext cx="5394960" cy="566928"/>
          </a:xfrm>
          <a:prstGeom prst="roundRect">
            <a:avLst>
              <a:gd name="adj" fmla="val 9677"/>
            </a:avLst>
          </a:prstGeom>
          <a:solidFill>
            <a:srgbClr val="F4F7FB"/>
          </a:solidFill>
          <a:ln w="12700">
            <a:solidFill>
              <a:srgbClr val="E4EAF2"/>
            </a:solidFill>
            <a:prstDash val="solid"/>
          </a:ln>
        </p:spPr>
      </p:sp>
      <p:sp>
        <p:nvSpPr>
          <p:cNvPr id="38" name="Shape 36"/>
          <p:cNvSpPr/>
          <p:nvPr/>
        </p:nvSpPr>
        <p:spPr>
          <a:xfrm>
            <a:off x="713232" y="5001768"/>
            <a:ext cx="310896" cy="310896"/>
          </a:xfrm>
          <a:prstGeom prst="ellipse">
            <a:avLst/>
          </a:prstGeom>
          <a:solidFill>
            <a:srgbClr val="4F46E5"/>
          </a:solidFill>
          <a:ln/>
          <a:effectLst>
            <a:outerShdw sx="100000" sy="100000" kx="0" ky="0" algn="bl" rotWithShape="0" blurRad="2.6643793008275154e+29" dist="7.993137902482545e+28" dir="2.519424e+35">
              <a:srgbClr val="A7B6CE">
                <a:alpha val="1.7999999999999998e+34"/>
              </a:srgbClr>
            </a:outerShdw>
          </a:effectLst>
        </p:spPr>
      </p:sp>
      <p:sp>
        <p:nvSpPr>
          <p:cNvPr id="39" name="Text 37"/>
          <p:cNvSpPr/>
          <p:nvPr/>
        </p:nvSpPr>
        <p:spPr>
          <a:xfrm>
            <a:off x="713232" y="5001768"/>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7</a:t>
            </a:r>
            <a:endParaRPr lang="en-US" sz="1156" dirty="0"/>
          </a:p>
        </p:txBody>
      </p:sp>
      <p:sp>
        <p:nvSpPr>
          <p:cNvPr id="40" name="Text 38"/>
          <p:cNvSpPr/>
          <p:nvPr/>
        </p:nvSpPr>
        <p:spPr>
          <a:xfrm>
            <a:off x="1152144" y="4873752"/>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Agentic &amp; advanced AI</a:t>
            </a:r>
            <a:endParaRPr lang="en-US" sz="1250" dirty="0"/>
          </a:p>
        </p:txBody>
      </p:sp>
      <p:sp>
        <p:nvSpPr>
          <p:cNvPr id="41" name="Shape 39"/>
          <p:cNvSpPr/>
          <p:nvPr/>
        </p:nvSpPr>
        <p:spPr>
          <a:xfrm>
            <a:off x="6245352" y="4873752"/>
            <a:ext cx="5394960" cy="566928"/>
          </a:xfrm>
          <a:prstGeom prst="roundRect">
            <a:avLst>
              <a:gd name="adj" fmla="val 9677"/>
            </a:avLst>
          </a:prstGeom>
          <a:solidFill>
            <a:srgbClr val="FFFFFF"/>
          </a:solidFill>
          <a:ln w="12700">
            <a:solidFill>
              <a:srgbClr val="E4EAF2"/>
            </a:solidFill>
            <a:prstDash val="solid"/>
          </a:ln>
        </p:spPr>
      </p:sp>
      <p:sp>
        <p:nvSpPr>
          <p:cNvPr id="42" name="Shape 40"/>
          <p:cNvSpPr/>
          <p:nvPr/>
        </p:nvSpPr>
        <p:spPr>
          <a:xfrm>
            <a:off x="6409944" y="5001768"/>
            <a:ext cx="310896" cy="310896"/>
          </a:xfrm>
          <a:prstGeom prst="ellipse">
            <a:avLst/>
          </a:prstGeom>
          <a:solidFill>
            <a:srgbClr val="0EA472"/>
          </a:solidFill>
          <a:ln/>
          <a:effectLst>
            <a:outerShdw sx="100000" sy="100000" kx="0" ky="0" algn="bl" rotWithShape="0" blurRad="3.3837617120509443e+33" dist="1.0151285136152831e+33" dir="1.5116544e+40">
              <a:srgbClr val="A7B6CE">
                <a:alpha val="1.8e+39"/>
              </a:srgbClr>
            </a:outerShdw>
          </a:effectLst>
        </p:spPr>
      </p:sp>
      <p:sp>
        <p:nvSpPr>
          <p:cNvPr id="43" name="Text 41"/>
          <p:cNvSpPr/>
          <p:nvPr/>
        </p:nvSpPr>
        <p:spPr>
          <a:xfrm>
            <a:off x="6409944" y="5001768"/>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8</a:t>
            </a:r>
            <a:endParaRPr lang="en-US" sz="1156" dirty="0"/>
          </a:p>
        </p:txBody>
      </p:sp>
      <p:sp>
        <p:nvSpPr>
          <p:cNvPr id="44" name="Text 42"/>
          <p:cNvSpPr/>
          <p:nvPr/>
        </p:nvSpPr>
        <p:spPr>
          <a:xfrm>
            <a:off x="6848856" y="4873752"/>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Trust, accuracy &amp; data security</a:t>
            </a:r>
            <a:endParaRPr lang="en-US" sz="1250" dirty="0"/>
          </a:p>
        </p:txBody>
      </p:sp>
      <p:sp>
        <p:nvSpPr>
          <p:cNvPr id="45" name="Shape 43"/>
          <p:cNvSpPr/>
          <p:nvPr/>
        </p:nvSpPr>
        <p:spPr>
          <a:xfrm>
            <a:off x="548640" y="5477256"/>
            <a:ext cx="5394960" cy="566928"/>
          </a:xfrm>
          <a:prstGeom prst="roundRect">
            <a:avLst>
              <a:gd name="adj" fmla="val 9677"/>
            </a:avLst>
          </a:prstGeom>
          <a:solidFill>
            <a:srgbClr val="F4F7FB"/>
          </a:solidFill>
          <a:ln w="12700">
            <a:solidFill>
              <a:srgbClr val="E4EAF2"/>
            </a:solidFill>
            <a:prstDash val="solid"/>
          </a:ln>
        </p:spPr>
      </p:sp>
      <p:sp>
        <p:nvSpPr>
          <p:cNvPr id="46" name="Shape 44"/>
          <p:cNvSpPr/>
          <p:nvPr/>
        </p:nvSpPr>
        <p:spPr>
          <a:xfrm>
            <a:off x="713232" y="5605272"/>
            <a:ext cx="310896" cy="310896"/>
          </a:xfrm>
          <a:prstGeom prst="ellipse">
            <a:avLst/>
          </a:prstGeom>
          <a:solidFill>
            <a:srgbClr val="2563EB"/>
          </a:solidFill>
          <a:ln/>
          <a:effectLst>
            <a:outerShdw sx="100000" sy="100000" kx="0" ky="0" algn="bl" rotWithShape="0" blurRad="4.297377374304699e+37" dist="1.2892132122914095e+37" dir="9.069926400000001e+44">
              <a:srgbClr val="A7B6CE">
                <a:alpha val="1.8e+44"/>
              </a:srgbClr>
            </a:outerShdw>
          </a:effectLst>
        </p:spPr>
      </p:sp>
      <p:sp>
        <p:nvSpPr>
          <p:cNvPr id="47" name="Text 45"/>
          <p:cNvSpPr/>
          <p:nvPr/>
        </p:nvSpPr>
        <p:spPr>
          <a:xfrm>
            <a:off x="713232" y="5605272"/>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9</a:t>
            </a:r>
            <a:endParaRPr lang="en-US" sz="1156" dirty="0"/>
          </a:p>
        </p:txBody>
      </p:sp>
      <p:sp>
        <p:nvSpPr>
          <p:cNvPr id="48" name="Text 46"/>
          <p:cNvSpPr/>
          <p:nvPr/>
        </p:nvSpPr>
        <p:spPr>
          <a:xfrm>
            <a:off x="1152144" y="5477256"/>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Way forward, blueprint &amp; live demo</a:t>
            </a:r>
            <a:endParaRPr lang="en-US" sz="1250" dirty="0"/>
          </a:p>
        </p:txBody>
      </p:sp>
      <p:sp>
        <p:nvSpPr>
          <p:cNvPr id="49" name="Shape 47"/>
          <p:cNvSpPr/>
          <p:nvPr/>
        </p:nvSpPr>
        <p:spPr>
          <a:xfrm>
            <a:off x="548640" y="6400800"/>
            <a:ext cx="11094415" cy="12802"/>
          </a:xfrm>
          <a:prstGeom prst="rect">
            <a:avLst/>
          </a:prstGeom>
          <a:solidFill>
            <a:srgbClr val="E4EAF2"/>
          </a:solidFill>
          <a:ln/>
        </p:spPr>
      </p:sp>
      <p:sp>
        <p:nvSpPr>
          <p:cNvPr id="50" name="Text 48"/>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1" name="Text 4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3 / 25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2563EB"/>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2563EB"/>
                </a:solidFill>
                <a:latin typeface="Calibri" pitchFamily="34" charset="0"/>
                <a:ea typeface="Calibri" pitchFamily="34" charset="-122"/>
                <a:cs typeface="Calibri" pitchFamily="34" charset="-120"/>
              </a:rPr>
              <a:t>WHERE WE ARE → WHERE WE GO</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From manual should-costing to AI-assisted</a:t>
            </a:r>
            <a:endParaRPr lang="en-US" sz="2400" dirty="0"/>
          </a:p>
        </p:txBody>
      </p:sp>
      <p:sp>
        <p:nvSpPr>
          <p:cNvPr id="9" name="Shape 7"/>
          <p:cNvSpPr/>
          <p:nvPr/>
        </p:nvSpPr>
        <p:spPr>
          <a:xfrm>
            <a:off x="548640" y="1371600"/>
            <a:ext cx="1051560" cy="45720"/>
          </a:xfrm>
          <a:prstGeom prst="rect">
            <a:avLst/>
          </a:prstGeom>
          <a:solidFill>
            <a:srgbClr val="2563EB"/>
          </a:solidFill>
          <a:ln/>
        </p:spPr>
      </p:sp>
      <p:sp>
        <p:nvSpPr>
          <p:cNvPr id="10" name="Text 8"/>
          <p:cNvSpPr/>
          <p:nvPr/>
        </p:nvSpPr>
        <p:spPr>
          <a:xfrm>
            <a:off x="548640" y="1536192"/>
            <a:ext cx="11064240" cy="365760"/>
          </a:xfrm>
          <a:prstGeom prst="rect">
            <a:avLst/>
          </a:prstGeom>
          <a:noFill/>
          <a:ln/>
        </p:spPr>
        <p:txBody>
          <a:bodyPr wrap="square" lIns="0" tIns="0" rIns="0" bIns="0" rtlCol="0" anchor="t"/>
          <a:lstStyle/>
          <a:p>
            <a:pPr indent="0" marL="0">
              <a:buNone/>
            </a:pPr>
            <a:r>
              <a:rPr lang="en-US" sz="1200" dirty="0">
                <a:solidFill>
                  <a:srgbClr val="3E4C63"/>
                </a:solidFill>
                <a:latin typeface="Calibri" pitchFamily="34" charset="0"/>
                <a:ea typeface="Calibri" pitchFamily="34" charset="-122"/>
                <a:cs typeface="Calibri" pitchFamily="34" charset="-120"/>
              </a:rPr>
              <a:t>We already do rigorous should-costing across every commodity. CostVision keeps that method — and automates the hands-on steps with AI.</a:t>
            </a:r>
            <a:endParaRPr lang="en-US" sz="1200" dirty="0"/>
          </a:p>
        </p:txBody>
      </p:sp>
      <p:sp>
        <p:nvSpPr>
          <p:cNvPr id="11" name="Shape 9"/>
          <p:cNvSpPr/>
          <p:nvPr/>
        </p:nvSpPr>
        <p:spPr>
          <a:xfrm>
            <a:off x="548640" y="2057400"/>
            <a:ext cx="5349240" cy="3246120"/>
          </a:xfrm>
          <a:prstGeom prst="roundRect">
            <a:avLst>
              <a:gd name="adj" fmla="val 1972"/>
            </a:avLst>
          </a:prstGeom>
          <a:solidFill>
            <a:srgbClr val="FFFFFF"/>
          </a:solidFill>
          <a:ln w="12700">
            <a:solidFill>
              <a:srgbClr val="E4EAF2"/>
            </a:solidFill>
            <a:prstDash val="solid"/>
          </a:ln>
        </p:spPr>
      </p:sp>
      <p:sp>
        <p:nvSpPr>
          <p:cNvPr id="12" name="Shape 10"/>
          <p:cNvSpPr/>
          <p:nvPr/>
        </p:nvSpPr>
        <p:spPr>
          <a:xfrm>
            <a:off x="548640" y="2057400"/>
            <a:ext cx="5349240" cy="457200"/>
          </a:xfrm>
          <a:prstGeom prst="rect">
            <a:avLst/>
          </a:prstGeom>
          <a:solidFill>
            <a:srgbClr val="FEF6E7"/>
          </a:solidFill>
          <a:ln/>
        </p:spPr>
      </p:sp>
      <p:sp>
        <p:nvSpPr>
          <p:cNvPr id="13" name="Text 11"/>
          <p:cNvSpPr/>
          <p:nvPr/>
        </p:nvSpPr>
        <p:spPr>
          <a:xfrm>
            <a:off x="822960" y="2057400"/>
            <a:ext cx="4892040" cy="457200"/>
          </a:xfrm>
          <a:prstGeom prst="rect">
            <a:avLst/>
          </a:prstGeom>
          <a:noFill/>
          <a:ln/>
        </p:spPr>
        <p:txBody>
          <a:bodyPr wrap="square" lIns="0" tIns="0" rIns="0" bIns="0" rtlCol="0" anchor="ctr"/>
          <a:lstStyle/>
          <a:p>
            <a:pPr indent="0" marL="0">
              <a:buNone/>
            </a:pPr>
            <a:r>
              <a:rPr lang="en-US" sz="1300" b="1" dirty="0">
                <a:solidFill>
                  <a:srgbClr val="E0900C"/>
                </a:solidFill>
                <a:latin typeface="Calibri" pitchFamily="34" charset="0"/>
                <a:ea typeface="Calibri" pitchFamily="34" charset="-122"/>
                <a:cs typeface="Calibri" pitchFamily="34" charset="-120"/>
              </a:rPr>
              <a:t>OUR SHOULD-COST TODAY  ·  capable, but hands-on</a:t>
            </a:r>
            <a:endParaRPr lang="en-US" sz="1300" dirty="0"/>
          </a:p>
        </p:txBody>
      </p:sp>
      <p:sp>
        <p:nvSpPr>
          <p:cNvPr id="14" name="Shape 12"/>
          <p:cNvSpPr/>
          <p:nvPr/>
        </p:nvSpPr>
        <p:spPr>
          <a:xfrm>
            <a:off x="804672" y="2679192"/>
            <a:ext cx="329184" cy="329184"/>
          </a:xfrm>
          <a:prstGeom prst="ellipse">
            <a:avLst/>
          </a:prstGeom>
          <a:solidFill>
            <a:srgbClr val="FEF6E7"/>
          </a:solidFill>
          <a:ln/>
        </p:spPr>
      </p:sp>
      <p:sp>
        <p:nvSpPr>
          <p:cNvPr id="15" name="Text 13"/>
          <p:cNvSpPr/>
          <p:nvPr/>
        </p:nvSpPr>
        <p:spPr>
          <a:xfrm>
            <a:off x="804672" y="2670048"/>
            <a:ext cx="329184" cy="329184"/>
          </a:xfrm>
          <a:prstGeom prst="rect">
            <a:avLst/>
          </a:prstGeom>
          <a:noFill/>
          <a:ln/>
        </p:spPr>
        <p:txBody>
          <a:bodyPr wrap="square" lIns="0" tIns="0" rIns="0" bIns="0" rtlCol="0" anchor="ctr"/>
          <a:lstStyle/>
          <a:p>
            <a:pPr algn="ctr" indent="0" marL="0">
              <a:buNone/>
            </a:pPr>
            <a:r>
              <a:rPr lang="en-US" sz="900" b="1" dirty="0">
                <a:solidFill>
                  <a:srgbClr val="E0900C"/>
                </a:solidFill>
                <a:latin typeface="Calibri" pitchFamily="34" charset="0"/>
                <a:ea typeface="Calibri" pitchFamily="34" charset="-122"/>
                <a:cs typeface="Calibri" pitchFamily="34" charset="-120"/>
              </a:rPr>
              <a:t>●</a:t>
            </a:r>
            <a:endParaRPr lang="en-US" sz="900" dirty="0"/>
          </a:p>
        </p:txBody>
      </p:sp>
      <p:sp>
        <p:nvSpPr>
          <p:cNvPr id="16" name="Text 14"/>
          <p:cNvSpPr/>
          <p:nvPr/>
        </p:nvSpPr>
        <p:spPr>
          <a:xfrm>
            <a:off x="1243584" y="2624328"/>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Trusted &amp; thorough</a:t>
            </a:r>
            <a:endParaRPr lang="en-US" sz="1250" dirty="0"/>
          </a:p>
        </p:txBody>
      </p:sp>
      <p:sp>
        <p:nvSpPr>
          <p:cNvPr id="17" name="Text 15"/>
          <p:cNvSpPr/>
          <p:nvPr/>
        </p:nvSpPr>
        <p:spPr>
          <a:xfrm>
            <a:off x="1243584" y="2935224"/>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a rigorous bottom-up method across every commodity</a:t>
            </a:r>
            <a:endParaRPr lang="en-US" sz="1000" dirty="0"/>
          </a:p>
        </p:txBody>
      </p:sp>
      <p:sp>
        <p:nvSpPr>
          <p:cNvPr id="18" name="Shape 16"/>
          <p:cNvSpPr/>
          <p:nvPr/>
        </p:nvSpPr>
        <p:spPr>
          <a:xfrm>
            <a:off x="804672" y="3337560"/>
            <a:ext cx="329184" cy="329184"/>
          </a:xfrm>
          <a:prstGeom prst="ellipse">
            <a:avLst/>
          </a:prstGeom>
          <a:solidFill>
            <a:srgbClr val="FEF6E7"/>
          </a:solidFill>
          <a:ln/>
        </p:spPr>
      </p:sp>
      <p:sp>
        <p:nvSpPr>
          <p:cNvPr id="19" name="Text 17"/>
          <p:cNvSpPr/>
          <p:nvPr/>
        </p:nvSpPr>
        <p:spPr>
          <a:xfrm>
            <a:off x="804672" y="3328416"/>
            <a:ext cx="329184" cy="329184"/>
          </a:xfrm>
          <a:prstGeom prst="rect">
            <a:avLst/>
          </a:prstGeom>
          <a:noFill/>
          <a:ln/>
        </p:spPr>
        <p:txBody>
          <a:bodyPr wrap="square" lIns="0" tIns="0" rIns="0" bIns="0" rtlCol="0" anchor="ctr"/>
          <a:lstStyle/>
          <a:p>
            <a:pPr algn="ctr" indent="0" marL="0">
              <a:buNone/>
            </a:pPr>
            <a:r>
              <a:rPr lang="en-US" sz="900" b="1" dirty="0">
                <a:solidFill>
                  <a:srgbClr val="E0900C"/>
                </a:solidFill>
                <a:latin typeface="Calibri" pitchFamily="34" charset="0"/>
                <a:ea typeface="Calibri" pitchFamily="34" charset="-122"/>
                <a:cs typeface="Calibri" pitchFamily="34" charset="-120"/>
              </a:rPr>
              <a:t>●</a:t>
            </a:r>
            <a:endParaRPr lang="en-US" sz="900" dirty="0"/>
          </a:p>
        </p:txBody>
      </p:sp>
      <p:sp>
        <p:nvSpPr>
          <p:cNvPr id="20" name="Text 18"/>
          <p:cNvSpPr/>
          <p:nvPr/>
        </p:nvSpPr>
        <p:spPr>
          <a:xfrm>
            <a:off x="1243584" y="3282696"/>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Hands-on setup</a:t>
            </a:r>
            <a:endParaRPr lang="en-US" sz="1250" dirty="0"/>
          </a:p>
        </p:txBody>
      </p:sp>
      <p:sp>
        <p:nvSpPr>
          <p:cNvPr id="21" name="Text 19"/>
          <p:cNvSpPr/>
          <p:nvPr/>
        </p:nvSpPr>
        <p:spPr>
          <a:xfrm>
            <a:off x="1243584" y="3593592"/>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material, process &amp; machine selected manually, part by part</a:t>
            </a:r>
            <a:endParaRPr lang="en-US" sz="1000" dirty="0"/>
          </a:p>
        </p:txBody>
      </p:sp>
      <p:sp>
        <p:nvSpPr>
          <p:cNvPr id="22" name="Shape 20"/>
          <p:cNvSpPr/>
          <p:nvPr/>
        </p:nvSpPr>
        <p:spPr>
          <a:xfrm>
            <a:off x="804672" y="3995928"/>
            <a:ext cx="329184" cy="329184"/>
          </a:xfrm>
          <a:prstGeom prst="ellipse">
            <a:avLst/>
          </a:prstGeom>
          <a:solidFill>
            <a:srgbClr val="FEF6E7"/>
          </a:solidFill>
          <a:ln/>
        </p:spPr>
      </p:sp>
      <p:sp>
        <p:nvSpPr>
          <p:cNvPr id="23" name="Text 21"/>
          <p:cNvSpPr/>
          <p:nvPr/>
        </p:nvSpPr>
        <p:spPr>
          <a:xfrm>
            <a:off x="804672" y="3986784"/>
            <a:ext cx="329184" cy="329184"/>
          </a:xfrm>
          <a:prstGeom prst="rect">
            <a:avLst/>
          </a:prstGeom>
          <a:noFill/>
          <a:ln/>
        </p:spPr>
        <p:txBody>
          <a:bodyPr wrap="square" lIns="0" tIns="0" rIns="0" bIns="0" rtlCol="0" anchor="ctr"/>
          <a:lstStyle/>
          <a:p>
            <a:pPr algn="ctr" indent="0" marL="0">
              <a:buNone/>
            </a:pPr>
            <a:r>
              <a:rPr lang="en-US" sz="900" b="1" dirty="0">
                <a:solidFill>
                  <a:srgbClr val="E0900C"/>
                </a:solidFill>
                <a:latin typeface="Calibri" pitchFamily="34" charset="0"/>
                <a:ea typeface="Calibri" pitchFamily="34" charset="-122"/>
                <a:cs typeface="Calibri" pitchFamily="34" charset="-120"/>
              </a:rPr>
              <a:t>●</a:t>
            </a:r>
            <a:endParaRPr lang="en-US" sz="900" dirty="0"/>
          </a:p>
        </p:txBody>
      </p:sp>
      <p:sp>
        <p:nvSpPr>
          <p:cNvPr id="24" name="Text 22"/>
          <p:cNvSpPr/>
          <p:nvPr/>
        </p:nvSpPr>
        <p:spPr>
          <a:xfrm>
            <a:off x="1243584" y="3941064"/>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Manual data entry</a:t>
            </a:r>
            <a:endParaRPr lang="en-US" sz="1250" dirty="0"/>
          </a:p>
        </p:txBody>
      </p:sp>
      <p:sp>
        <p:nvSpPr>
          <p:cNvPr id="25" name="Text 23"/>
          <p:cNvSpPr/>
          <p:nvPr/>
        </p:nvSpPr>
        <p:spPr>
          <a:xfrm>
            <a:off x="1243584" y="4251960"/>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geometry &amp; tolerances read off 3D CAD and drawings by hand</a:t>
            </a:r>
            <a:endParaRPr lang="en-US" sz="1000" dirty="0"/>
          </a:p>
        </p:txBody>
      </p:sp>
      <p:sp>
        <p:nvSpPr>
          <p:cNvPr id="26" name="Shape 24"/>
          <p:cNvSpPr/>
          <p:nvPr/>
        </p:nvSpPr>
        <p:spPr>
          <a:xfrm>
            <a:off x="804672" y="4654296"/>
            <a:ext cx="329184" cy="329184"/>
          </a:xfrm>
          <a:prstGeom prst="ellipse">
            <a:avLst/>
          </a:prstGeom>
          <a:solidFill>
            <a:srgbClr val="FEF6E7"/>
          </a:solidFill>
          <a:ln/>
        </p:spPr>
      </p:sp>
      <p:sp>
        <p:nvSpPr>
          <p:cNvPr id="27" name="Text 25"/>
          <p:cNvSpPr/>
          <p:nvPr/>
        </p:nvSpPr>
        <p:spPr>
          <a:xfrm>
            <a:off x="804672" y="4645152"/>
            <a:ext cx="329184" cy="329184"/>
          </a:xfrm>
          <a:prstGeom prst="rect">
            <a:avLst/>
          </a:prstGeom>
          <a:noFill/>
          <a:ln/>
        </p:spPr>
        <p:txBody>
          <a:bodyPr wrap="square" lIns="0" tIns="0" rIns="0" bIns="0" rtlCol="0" anchor="ctr"/>
          <a:lstStyle/>
          <a:p>
            <a:pPr algn="ctr" indent="0" marL="0">
              <a:buNone/>
            </a:pPr>
            <a:r>
              <a:rPr lang="en-US" sz="900" b="1" dirty="0">
                <a:solidFill>
                  <a:srgbClr val="E0900C"/>
                </a:solidFill>
                <a:latin typeface="Calibri" pitchFamily="34" charset="0"/>
                <a:ea typeface="Calibri" pitchFamily="34" charset="-122"/>
                <a:cs typeface="Calibri" pitchFamily="34" charset="-120"/>
              </a:rPr>
              <a:t>●</a:t>
            </a:r>
            <a:endParaRPr lang="en-US" sz="900" dirty="0"/>
          </a:p>
        </p:txBody>
      </p:sp>
      <p:sp>
        <p:nvSpPr>
          <p:cNvPr id="28" name="Text 26"/>
          <p:cNvSpPr/>
          <p:nvPr/>
        </p:nvSpPr>
        <p:spPr>
          <a:xfrm>
            <a:off x="1243584" y="4599432"/>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Updated by hand</a:t>
            </a:r>
            <a:endParaRPr lang="en-US" sz="1250" dirty="0"/>
          </a:p>
        </p:txBody>
      </p:sp>
      <p:sp>
        <p:nvSpPr>
          <p:cNvPr id="29" name="Text 27"/>
          <p:cNvSpPr/>
          <p:nvPr/>
        </p:nvSpPr>
        <p:spPr>
          <a:xfrm>
            <a:off x="1243584" y="4910328"/>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rates &amp; inputs refreshed manually as economics change</a:t>
            </a:r>
            <a:endParaRPr lang="en-US" sz="1000" dirty="0"/>
          </a:p>
        </p:txBody>
      </p:sp>
      <p:sp>
        <p:nvSpPr>
          <p:cNvPr id="30" name="Shape 28"/>
          <p:cNvSpPr/>
          <p:nvPr/>
        </p:nvSpPr>
        <p:spPr>
          <a:xfrm>
            <a:off x="6291072" y="2057400"/>
            <a:ext cx="5349240" cy="3246120"/>
          </a:xfrm>
          <a:prstGeom prst="roundRect">
            <a:avLst>
              <a:gd name="adj" fmla="val 1972"/>
            </a:avLst>
          </a:prstGeom>
          <a:solidFill>
            <a:srgbClr val="FFFFFF"/>
          </a:solidFill>
          <a:ln w="12700">
            <a:solidFill>
              <a:srgbClr val="E4EAF2"/>
            </a:solidFill>
            <a:prstDash val="solid"/>
          </a:ln>
        </p:spPr>
      </p:sp>
      <p:sp>
        <p:nvSpPr>
          <p:cNvPr id="31" name="Shape 29"/>
          <p:cNvSpPr/>
          <p:nvPr/>
        </p:nvSpPr>
        <p:spPr>
          <a:xfrm>
            <a:off x="6291072" y="2057400"/>
            <a:ext cx="5349240" cy="457200"/>
          </a:xfrm>
          <a:prstGeom prst="rect">
            <a:avLst/>
          </a:prstGeom>
          <a:solidFill>
            <a:srgbClr val="E7F7F0"/>
          </a:solidFill>
          <a:ln/>
        </p:spPr>
      </p:sp>
      <p:sp>
        <p:nvSpPr>
          <p:cNvPr id="32" name="Text 30"/>
          <p:cNvSpPr/>
          <p:nvPr/>
        </p:nvSpPr>
        <p:spPr>
          <a:xfrm>
            <a:off x="6565392" y="2057400"/>
            <a:ext cx="4892040" cy="457200"/>
          </a:xfrm>
          <a:prstGeom prst="rect">
            <a:avLst/>
          </a:prstGeom>
          <a:noFill/>
          <a:ln/>
        </p:spPr>
        <p:txBody>
          <a:bodyPr wrap="square" lIns="0" tIns="0" rIns="0" bIns="0" rtlCol="0" anchor="ctr"/>
          <a:lstStyle/>
          <a:p>
            <a:pPr indent="0" marL="0">
              <a:buNone/>
            </a:pPr>
            <a:r>
              <a:rPr lang="en-US" sz="1300" b="1" dirty="0">
                <a:solidFill>
                  <a:srgbClr val="0EA472"/>
                </a:solidFill>
                <a:latin typeface="Calibri" pitchFamily="34" charset="0"/>
                <a:ea typeface="Calibri" pitchFamily="34" charset="-122"/>
                <a:cs typeface="Calibri" pitchFamily="34" charset="-120"/>
              </a:rPr>
              <a:t>WITH COSTVISION  ·  automated &amp; AI-assisted</a:t>
            </a:r>
            <a:endParaRPr lang="en-US" sz="1300" dirty="0"/>
          </a:p>
        </p:txBody>
      </p:sp>
      <p:sp>
        <p:nvSpPr>
          <p:cNvPr id="33" name="Shape 31"/>
          <p:cNvSpPr/>
          <p:nvPr/>
        </p:nvSpPr>
        <p:spPr>
          <a:xfrm>
            <a:off x="6547104" y="2679192"/>
            <a:ext cx="329184" cy="329184"/>
          </a:xfrm>
          <a:prstGeom prst="ellipse">
            <a:avLst/>
          </a:prstGeom>
          <a:solidFill>
            <a:srgbClr val="E7F7F0"/>
          </a:solidFill>
          <a:ln/>
        </p:spPr>
      </p:sp>
      <p:sp>
        <p:nvSpPr>
          <p:cNvPr id="34" name="Text 32"/>
          <p:cNvSpPr/>
          <p:nvPr/>
        </p:nvSpPr>
        <p:spPr>
          <a:xfrm>
            <a:off x="6547104" y="2670048"/>
            <a:ext cx="329184" cy="329184"/>
          </a:xfrm>
          <a:prstGeom prst="rect">
            <a:avLst/>
          </a:prstGeom>
          <a:noFill/>
          <a:ln/>
        </p:spPr>
        <p:txBody>
          <a:bodyPr wrap="square" lIns="0" tIns="0" rIns="0" bIns="0" rtlCol="0" anchor="ctr"/>
          <a:lstStyle/>
          <a:p>
            <a:pPr algn="ctr" indent="0" marL="0">
              <a:buNone/>
            </a:pPr>
            <a:r>
              <a:rPr lang="en-US" sz="1300" b="1" dirty="0">
                <a:solidFill>
                  <a:srgbClr val="0EA472"/>
                </a:solidFill>
                <a:latin typeface="Calibri" pitchFamily="34" charset="0"/>
                <a:ea typeface="Calibri" pitchFamily="34" charset="-122"/>
                <a:cs typeface="Calibri" pitchFamily="34" charset="-120"/>
              </a:rPr>
              <a:t>✓</a:t>
            </a:r>
            <a:endParaRPr lang="en-US" sz="1300" dirty="0"/>
          </a:p>
        </p:txBody>
      </p:sp>
      <p:sp>
        <p:nvSpPr>
          <p:cNvPr id="35" name="Text 33"/>
          <p:cNvSpPr/>
          <p:nvPr/>
        </p:nvSpPr>
        <p:spPr>
          <a:xfrm>
            <a:off x="6986016" y="2624328"/>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Same rigour, automated</a:t>
            </a:r>
            <a:endParaRPr lang="en-US" sz="1250" dirty="0"/>
          </a:p>
        </p:txBody>
      </p:sp>
      <p:sp>
        <p:nvSpPr>
          <p:cNvPr id="36" name="Text 34"/>
          <p:cNvSpPr/>
          <p:nvPr/>
        </p:nvSpPr>
        <p:spPr>
          <a:xfrm>
            <a:off x="6986016" y="2935224"/>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the deterministic method you trust — the manual steps removed</a:t>
            </a:r>
            <a:endParaRPr lang="en-US" sz="1000" dirty="0"/>
          </a:p>
        </p:txBody>
      </p:sp>
      <p:sp>
        <p:nvSpPr>
          <p:cNvPr id="37" name="Shape 35"/>
          <p:cNvSpPr/>
          <p:nvPr/>
        </p:nvSpPr>
        <p:spPr>
          <a:xfrm>
            <a:off x="6547104" y="3337560"/>
            <a:ext cx="329184" cy="329184"/>
          </a:xfrm>
          <a:prstGeom prst="ellipse">
            <a:avLst/>
          </a:prstGeom>
          <a:solidFill>
            <a:srgbClr val="E7F7F0"/>
          </a:solidFill>
          <a:ln/>
        </p:spPr>
      </p:sp>
      <p:sp>
        <p:nvSpPr>
          <p:cNvPr id="38" name="Text 36"/>
          <p:cNvSpPr/>
          <p:nvPr/>
        </p:nvSpPr>
        <p:spPr>
          <a:xfrm>
            <a:off x="6547104" y="3328416"/>
            <a:ext cx="329184" cy="329184"/>
          </a:xfrm>
          <a:prstGeom prst="rect">
            <a:avLst/>
          </a:prstGeom>
          <a:noFill/>
          <a:ln/>
        </p:spPr>
        <p:txBody>
          <a:bodyPr wrap="square" lIns="0" tIns="0" rIns="0" bIns="0" rtlCol="0" anchor="ctr"/>
          <a:lstStyle/>
          <a:p>
            <a:pPr algn="ctr" indent="0" marL="0">
              <a:buNone/>
            </a:pPr>
            <a:r>
              <a:rPr lang="en-US" sz="1300" b="1" dirty="0">
                <a:solidFill>
                  <a:srgbClr val="0EA472"/>
                </a:solidFill>
                <a:latin typeface="Calibri" pitchFamily="34" charset="0"/>
                <a:ea typeface="Calibri" pitchFamily="34" charset="-122"/>
                <a:cs typeface="Calibri" pitchFamily="34" charset="-120"/>
              </a:rPr>
              <a:t>✓</a:t>
            </a:r>
            <a:endParaRPr lang="en-US" sz="1300" dirty="0"/>
          </a:p>
        </p:txBody>
      </p:sp>
      <p:sp>
        <p:nvSpPr>
          <p:cNvPr id="39" name="Text 37"/>
          <p:cNvSpPr/>
          <p:nvPr/>
        </p:nvSpPr>
        <p:spPr>
          <a:xfrm>
            <a:off x="6986016" y="3282696"/>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Reads CAD &amp; drawings</a:t>
            </a:r>
            <a:endParaRPr lang="en-US" sz="1250" dirty="0"/>
          </a:p>
        </p:txBody>
      </p:sp>
      <p:sp>
        <p:nvSpPr>
          <p:cNvPr id="40" name="Text 38"/>
          <p:cNvSpPr/>
          <p:nvPr/>
        </p:nvSpPr>
        <p:spPr>
          <a:xfrm>
            <a:off x="6986016" y="3593592"/>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geometry, features &amp; tolerances extracted automatically</a:t>
            </a:r>
            <a:endParaRPr lang="en-US" sz="1000" dirty="0"/>
          </a:p>
        </p:txBody>
      </p:sp>
      <p:sp>
        <p:nvSpPr>
          <p:cNvPr id="41" name="Shape 39"/>
          <p:cNvSpPr/>
          <p:nvPr/>
        </p:nvSpPr>
        <p:spPr>
          <a:xfrm>
            <a:off x="6547104" y="3995928"/>
            <a:ext cx="329184" cy="329184"/>
          </a:xfrm>
          <a:prstGeom prst="ellipse">
            <a:avLst/>
          </a:prstGeom>
          <a:solidFill>
            <a:srgbClr val="E7F7F0"/>
          </a:solidFill>
          <a:ln/>
        </p:spPr>
      </p:sp>
      <p:sp>
        <p:nvSpPr>
          <p:cNvPr id="42" name="Text 40"/>
          <p:cNvSpPr/>
          <p:nvPr/>
        </p:nvSpPr>
        <p:spPr>
          <a:xfrm>
            <a:off x="6547104" y="3986784"/>
            <a:ext cx="329184" cy="329184"/>
          </a:xfrm>
          <a:prstGeom prst="rect">
            <a:avLst/>
          </a:prstGeom>
          <a:noFill/>
          <a:ln/>
        </p:spPr>
        <p:txBody>
          <a:bodyPr wrap="square" lIns="0" tIns="0" rIns="0" bIns="0" rtlCol="0" anchor="ctr"/>
          <a:lstStyle/>
          <a:p>
            <a:pPr algn="ctr" indent="0" marL="0">
              <a:buNone/>
            </a:pPr>
            <a:r>
              <a:rPr lang="en-US" sz="1300" b="1" dirty="0">
                <a:solidFill>
                  <a:srgbClr val="0EA472"/>
                </a:solidFill>
                <a:latin typeface="Calibri" pitchFamily="34" charset="0"/>
                <a:ea typeface="Calibri" pitchFamily="34" charset="-122"/>
                <a:cs typeface="Calibri" pitchFamily="34" charset="-120"/>
              </a:rPr>
              <a:t>✓</a:t>
            </a:r>
            <a:endParaRPr lang="en-US" sz="1300" dirty="0"/>
          </a:p>
        </p:txBody>
      </p:sp>
      <p:sp>
        <p:nvSpPr>
          <p:cNvPr id="43" name="Text 41"/>
          <p:cNvSpPr/>
          <p:nvPr/>
        </p:nvSpPr>
        <p:spPr>
          <a:xfrm>
            <a:off x="6986016" y="3941064"/>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AI suggests, you decide</a:t>
            </a:r>
            <a:endParaRPr lang="en-US" sz="1250" dirty="0"/>
          </a:p>
        </p:txBody>
      </p:sp>
      <p:sp>
        <p:nvSpPr>
          <p:cNvPr id="44" name="Text 42"/>
          <p:cNvSpPr/>
          <p:nvPr/>
        </p:nvSpPr>
        <p:spPr>
          <a:xfrm>
            <a:off x="6986016" y="4251960"/>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material &amp; process proposed with a confidence score to confirm</a:t>
            </a:r>
            <a:endParaRPr lang="en-US" sz="1000" dirty="0"/>
          </a:p>
        </p:txBody>
      </p:sp>
      <p:sp>
        <p:nvSpPr>
          <p:cNvPr id="45" name="Shape 43"/>
          <p:cNvSpPr/>
          <p:nvPr/>
        </p:nvSpPr>
        <p:spPr>
          <a:xfrm>
            <a:off x="6547104" y="4654296"/>
            <a:ext cx="329184" cy="329184"/>
          </a:xfrm>
          <a:prstGeom prst="ellipse">
            <a:avLst/>
          </a:prstGeom>
          <a:solidFill>
            <a:srgbClr val="E7F7F0"/>
          </a:solidFill>
          <a:ln/>
        </p:spPr>
      </p:sp>
      <p:sp>
        <p:nvSpPr>
          <p:cNvPr id="46" name="Text 44"/>
          <p:cNvSpPr/>
          <p:nvPr/>
        </p:nvSpPr>
        <p:spPr>
          <a:xfrm>
            <a:off x="6547104" y="4645152"/>
            <a:ext cx="329184" cy="329184"/>
          </a:xfrm>
          <a:prstGeom prst="rect">
            <a:avLst/>
          </a:prstGeom>
          <a:noFill/>
          <a:ln/>
        </p:spPr>
        <p:txBody>
          <a:bodyPr wrap="square" lIns="0" tIns="0" rIns="0" bIns="0" rtlCol="0" anchor="ctr"/>
          <a:lstStyle/>
          <a:p>
            <a:pPr algn="ctr" indent="0" marL="0">
              <a:buNone/>
            </a:pPr>
            <a:r>
              <a:rPr lang="en-US" sz="1300" b="1" dirty="0">
                <a:solidFill>
                  <a:srgbClr val="0EA472"/>
                </a:solidFill>
                <a:latin typeface="Calibri" pitchFamily="34" charset="0"/>
                <a:ea typeface="Calibri" pitchFamily="34" charset="-122"/>
                <a:cs typeface="Calibri" pitchFamily="34" charset="-120"/>
              </a:rPr>
              <a:t>✓</a:t>
            </a:r>
            <a:endParaRPr lang="en-US" sz="1300" dirty="0"/>
          </a:p>
        </p:txBody>
      </p:sp>
      <p:sp>
        <p:nvSpPr>
          <p:cNvPr id="47" name="Text 45"/>
          <p:cNvSpPr/>
          <p:nvPr/>
        </p:nvSpPr>
        <p:spPr>
          <a:xfrm>
            <a:off x="6986016" y="4599432"/>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Always current</a:t>
            </a:r>
            <a:endParaRPr lang="en-US" sz="1250" dirty="0"/>
          </a:p>
        </p:txBody>
      </p:sp>
      <p:sp>
        <p:nvSpPr>
          <p:cNvPr id="48" name="Text 46"/>
          <p:cNvSpPr/>
          <p:nvPr/>
        </p:nvSpPr>
        <p:spPr>
          <a:xfrm>
            <a:off x="6986016" y="4910328"/>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rates auto-refresh — update once, every part re-prices</a:t>
            </a:r>
            <a:endParaRPr lang="en-US" sz="1000" dirty="0"/>
          </a:p>
        </p:txBody>
      </p:sp>
      <p:sp>
        <p:nvSpPr>
          <p:cNvPr id="49" name="Text 47"/>
          <p:cNvSpPr/>
          <p:nvPr/>
        </p:nvSpPr>
        <p:spPr>
          <a:xfrm>
            <a:off x="5952744" y="3429000"/>
            <a:ext cx="283464" cy="548640"/>
          </a:xfrm>
          <a:prstGeom prst="rect">
            <a:avLst/>
          </a:prstGeom>
          <a:noFill/>
          <a:ln/>
        </p:spPr>
        <p:txBody>
          <a:bodyPr wrap="square" lIns="0" tIns="0" rIns="0" bIns="0" rtlCol="0" anchor="ctr"/>
          <a:lstStyle/>
          <a:p>
            <a:pPr algn="ctr" indent="0" marL="0">
              <a:buNone/>
            </a:pPr>
            <a:r>
              <a:rPr lang="en-US" sz="2600" b="1" dirty="0">
                <a:solidFill>
                  <a:srgbClr val="2563EB"/>
                </a:solidFill>
                <a:latin typeface="Calibri" pitchFamily="34" charset="0"/>
                <a:ea typeface="Calibri" pitchFamily="34" charset="-122"/>
                <a:cs typeface="Calibri" pitchFamily="34" charset="-120"/>
              </a:rPr>
              <a:t>→</a:t>
            </a:r>
            <a:endParaRPr lang="en-US" sz="2600" dirty="0"/>
          </a:p>
        </p:txBody>
      </p:sp>
      <p:sp>
        <p:nvSpPr>
          <p:cNvPr id="50" name="Shape 48"/>
          <p:cNvSpPr/>
          <p:nvPr/>
        </p:nvSpPr>
        <p:spPr>
          <a:xfrm>
            <a:off x="548640" y="5504688"/>
            <a:ext cx="11091672" cy="566928"/>
          </a:xfrm>
          <a:prstGeom prst="roundRect">
            <a:avLst>
              <a:gd name="adj" fmla="val 11290"/>
            </a:avLst>
          </a:prstGeom>
          <a:solidFill>
            <a:srgbClr val="EAF1FE"/>
          </a:solidFill>
          <a:ln w="12700">
            <a:solidFill>
              <a:srgbClr val="E4EAF2"/>
            </a:solidFill>
            <a:prstDash val="solid"/>
          </a:ln>
        </p:spPr>
      </p:sp>
      <p:sp>
        <p:nvSpPr>
          <p:cNvPr id="51" name="Text 49"/>
          <p:cNvSpPr/>
          <p:nvPr/>
        </p:nvSpPr>
        <p:spPr>
          <a:xfrm>
            <a:off x="914400" y="5504688"/>
            <a:ext cx="10332720" cy="566928"/>
          </a:xfrm>
          <a:prstGeom prst="rect">
            <a:avLst/>
          </a:prstGeom>
          <a:noFill/>
          <a:ln/>
        </p:spPr>
        <p:txBody>
          <a:bodyPr wrap="square" lIns="0" tIns="0" rIns="0" bIns="0" rtlCol="0" anchor="ctr"/>
          <a:lstStyle/>
          <a:p>
            <a:pPr indent="0" marL="0">
              <a:buNone/>
            </a:pPr>
            <a:r>
              <a:rPr lang="en-US" sz="1200" b="1" dirty="0">
                <a:solidFill>
                  <a:srgbClr val="0F1E3D"/>
                </a:solidFill>
                <a:latin typeface="Calibri" pitchFamily="34" charset="0"/>
                <a:ea typeface="Calibri" pitchFamily="34" charset="-122"/>
                <a:cs typeface="Calibri" pitchFamily="34" charset="-120"/>
              </a:rPr>
              <a:t>The step forward:  </a:t>
            </a:r>
            <a:pPr indent="0" marL="0">
              <a:buNone/>
            </a:pPr>
            <a:r>
              <a:rPr lang="en-US" sz="1200" dirty="0">
                <a:solidFill>
                  <a:srgbClr val="3E4C63"/>
                </a:solidFill>
                <a:latin typeface="Calibri" pitchFamily="34" charset="0"/>
                <a:ea typeface="Calibri" pitchFamily="34" charset="-122"/>
                <a:cs typeface="Calibri" pitchFamily="34" charset="-120"/>
              </a:rPr>
              <a:t>the same defensible should-cost, with the manual work automated and AI-assisted — so your experts spend their time on decisions, not data entry.</a:t>
            </a:r>
            <a:endParaRPr lang="en-US" sz="1200" dirty="0"/>
          </a:p>
        </p:txBody>
      </p:sp>
      <p:sp>
        <p:nvSpPr>
          <p:cNvPr id="52" name="Shape 50"/>
          <p:cNvSpPr/>
          <p:nvPr/>
        </p:nvSpPr>
        <p:spPr>
          <a:xfrm>
            <a:off x="548640" y="6400800"/>
            <a:ext cx="11094415" cy="12802"/>
          </a:xfrm>
          <a:prstGeom prst="rect">
            <a:avLst/>
          </a:prstGeom>
          <a:solidFill>
            <a:srgbClr val="E4EAF2"/>
          </a:solidFill>
          <a:ln/>
        </p:spPr>
      </p:sp>
      <p:sp>
        <p:nvSpPr>
          <p:cNvPr id="53" name="Text 51"/>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4" name="Text 52"/>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4 / 25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2563EB"/>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2563EB"/>
                </a:solidFill>
                <a:latin typeface="Calibri" pitchFamily="34" charset="0"/>
                <a:ea typeface="Calibri" pitchFamily="34" charset="-122"/>
                <a:cs typeface="Calibri" pitchFamily="34" charset="-120"/>
              </a:rPr>
              <a:t>THE BIG PICTURE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CostVision at a glance — the platform</a:t>
            </a:r>
            <a:endParaRPr lang="en-US" sz="2400" dirty="0"/>
          </a:p>
        </p:txBody>
      </p:sp>
      <p:sp>
        <p:nvSpPr>
          <p:cNvPr id="9" name="Shape 7"/>
          <p:cNvSpPr/>
          <p:nvPr/>
        </p:nvSpPr>
        <p:spPr>
          <a:xfrm>
            <a:off x="548640" y="1371600"/>
            <a:ext cx="1051560" cy="45720"/>
          </a:xfrm>
          <a:prstGeom prst="rect">
            <a:avLst/>
          </a:prstGeom>
          <a:solidFill>
            <a:srgbClr val="2563EB"/>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Any engineering input → AI understands it → deterministic engines price it → you get a defensible, negotiation-ready result.</a:t>
            </a:r>
            <a:endParaRPr lang="en-US" sz="1250" dirty="0"/>
          </a:p>
        </p:txBody>
      </p:sp>
      <p:sp>
        <p:nvSpPr>
          <p:cNvPr id="11" name="Shape 9"/>
          <p:cNvSpPr/>
          <p:nvPr/>
        </p:nvSpPr>
        <p:spPr>
          <a:xfrm>
            <a:off x="548640" y="2103120"/>
            <a:ext cx="2542032" cy="3291840"/>
          </a:xfrm>
          <a:prstGeom prst="roundRect">
            <a:avLst>
              <a:gd name="adj" fmla="val 2518"/>
            </a:avLst>
          </a:prstGeom>
          <a:solidFill>
            <a:srgbClr val="FFFFFF"/>
          </a:solidFill>
          <a:ln w="12700">
            <a:solidFill>
              <a:srgbClr val="E4EAF2"/>
            </a:solidFill>
            <a:prstDash val="solid"/>
          </a:ln>
          <a:effectLst>
            <a:outerShdw sx="100000" sy="100000" kx="0" ky="0" algn="bl" rotWithShape="0" blurRad="7.640736971513755e+41" dist="2.183067706146787e+41" dir="5.44195584e+49">
              <a:srgbClr val="9DB0CC">
                <a:alpha val="2.2e+49"/>
              </a:srgbClr>
            </a:outerShdw>
          </a:effectLst>
        </p:spPr>
      </p:sp>
      <p:sp>
        <p:nvSpPr>
          <p:cNvPr id="12" name="Shape 10"/>
          <p:cNvSpPr/>
          <p:nvPr/>
        </p:nvSpPr>
        <p:spPr>
          <a:xfrm>
            <a:off x="548640" y="2103120"/>
            <a:ext cx="82296" cy="3291840"/>
          </a:xfrm>
          <a:prstGeom prst="rect">
            <a:avLst/>
          </a:prstGeom>
          <a:solidFill>
            <a:srgbClr val="2E90FA"/>
          </a:solidFill>
          <a:ln/>
        </p:spPr>
      </p:sp>
      <p:sp>
        <p:nvSpPr>
          <p:cNvPr id="13" name="Shape 11"/>
          <p:cNvSpPr/>
          <p:nvPr/>
        </p:nvSpPr>
        <p:spPr>
          <a:xfrm>
            <a:off x="804672" y="2359152"/>
            <a:ext cx="457200" cy="457200"/>
          </a:xfrm>
          <a:prstGeom prst="ellipse">
            <a:avLst/>
          </a:prstGeom>
          <a:solidFill>
            <a:srgbClr val="F4F7FB"/>
          </a:solidFill>
          <a:ln/>
        </p:spPr>
      </p:sp>
      <p:sp>
        <p:nvSpPr>
          <p:cNvPr id="14" name="Text 12"/>
          <p:cNvSpPr/>
          <p:nvPr/>
        </p:nvSpPr>
        <p:spPr>
          <a:xfrm>
            <a:off x="804672" y="2350008"/>
            <a:ext cx="457200" cy="457200"/>
          </a:xfrm>
          <a:prstGeom prst="rect">
            <a:avLst/>
          </a:prstGeom>
          <a:noFill/>
          <a:ln/>
        </p:spPr>
        <p:txBody>
          <a:bodyPr wrap="square" lIns="0" tIns="0" rIns="0" bIns="0" rtlCol="0" anchor="ctr"/>
          <a:lstStyle/>
          <a:p>
            <a:pPr algn="ctr" indent="0" marL="0">
              <a:buNone/>
            </a:pPr>
            <a:endParaRPr lang="en-US" sz="1700" dirty="0"/>
          </a:p>
        </p:txBody>
      </p:sp>
      <p:sp>
        <p:nvSpPr>
          <p:cNvPr id="15" name="Text 13"/>
          <p:cNvSpPr/>
          <p:nvPr/>
        </p:nvSpPr>
        <p:spPr>
          <a:xfrm>
            <a:off x="1371600" y="2395728"/>
            <a:ext cx="1627632" cy="411480"/>
          </a:xfrm>
          <a:prstGeom prst="rect">
            <a:avLst/>
          </a:prstGeom>
          <a:noFill/>
          <a:ln/>
        </p:spPr>
        <p:txBody>
          <a:bodyPr wrap="square" lIns="0" tIns="0" rIns="0" bIns="0" rtlCol="0" anchor="ctr"/>
          <a:lstStyle/>
          <a:p>
            <a:pPr indent="0" marL="0">
              <a:buNone/>
            </a:pPr>
            <a:r>
              <a:rPr lang="en-US" sz="1250" b="1" dirty="0">
                <a:solidFill>
                  <a:srgbClr val="2E90FA"/>
                </a:solidFill>
                <a:latin typeface="Calibri" pitchFamily="34" charset="0"/>
                <a:ea typeface="Calibri" pitchFamily="34" charset="-122"/>
                <a:cs typeface="Calibri" pitchFamily="34" charset="-120"/>
              </a:rPr>
              <a:t>INPUTS</a:t>
            </a:r>
            <a:endParaRPr lang="en-US" sz="1250" dirty="0"/>
          </a:p>
        </p:txBody>
      </p:sp>
      <p:sp>
        <p:nvSpPr>
          <p:cNvPr id="16" name="Shape 14"/>
          <p:cNvSpPr/>
          <p:nvPr/>
        </p:nvSpPr>
        <p:spPr>
          <a:xfrm>
            <a:off x="822960" y="3108960"/>
            <a:ext cx="82296" cy="82296"/>
          </a:xfrm>
          <a:prstGeom prst="ellipse">
            <a:avLst/>
          </a:prstGeom>
          <a:solidFill>
            <a:srgbClr val="2E90FA"/>
          </a:solidFill>
          <a:ln/>
        </p:spPr>
      </p:sp>
      <p:sp>
        <p:nvSpPr>
          <p:cNvPr id="17" name="Text 15"/>
          <p:cNvSpPr/>
          <p:nvPr/>
        </p:nvSpPr>
        <p:spPr>
          <a:xfrm>
            <a:off x="1005840" y="3017520"/>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3D CAD model</a:t>
            </a:r>
            <a:endParaRPr lang="en-US" sz="980" dirty="0"/>
          </a:p>
        </p:txBody>
      </p:sp>
      <p:sp>
        <p:nvSpPr>
          <p:cNvPr id="18" name="Shape 16"/>
          <p:cNvSpPr/>
          <p:nvPr/>
        </p:nvSpPr>
        <p:spPr>
          <a:xfrm>
            <a:off x="822960" y="3547872"/>
            <a:ext cx="82296" cy="82296"/>
          </a:xfrm>
          <a:prstGeom prst="ellipse">
            <a:avLst/>
          </a:prstGeom>
          <a:solidFill>
            <a:srgbClr val="2E90FA"/>
          </a:solidFill>
          <a:ln/>
        </p:spPr>
      </p:sp>
      <p:sp>
        <p:nvSpPr>
          <p:cNvPr id="19" name="Text 17"/>
          <p:cNvSpPr/>
          <p:nvPr/>
        </p:nvSpPr>
        <p:spPr>
          <a:xfrm>
            <a:off x="1005840" y="3456432"/>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PCB board photo</a:t>
            </a:r>
            <a:endParaRPr lang="en-US" sz="980" dirty="0"/>
          </a:p>
        </p:txBody>
      </p:sp>
      <p:sp>
        <p:nvSpPr>
          <p:cNvPr id="20" name="Shape 18"/>
          <p:cNvSpPr/>
          <p:nvPr/>
        </p:nvSpPr>
        <p:spPr>
          <a:xfrm>
            <a:off x="822960" y="3986784"/>
            <a:ext cx="82296" cy="82296"/>
          </a:xfrm>
          <a:prstGeom prst="ellipse">
            <a:avLst/>
          </a:prstGeom>
          <a:solidFill>
            <a:srgbClr val="2E90FA"/>
          </a:solidFill>
          <a:ln/>
        </p:spPr>
      </p:sp>
      <p:sp>
        <p:nvSpPr>
          <p:cNvPr id="21" name="Text 19"/>
          <p:cNvSpPr/>
          <p:nvPr/>
        </p:nvSpPr>
        <p:spPr>
          <a:xfrm>
            <a:off x="1005840" y="3895344"/>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Plain-text description</a:t>
            </a:r>
            <a:endParaRPr lang="en-US" sz="980" dirty="0"/>
          </a:p>
        </p:txBody>
      </p:sp>
      <p:sp>
        <p:nvSpPr>
          <p:cNvPr id="22" name="Shape 20"/>
          <p:cNvSpPr/>
          <p:nvPr/>
        </p:nvSpPr>
        <p:spPr>
          <a:xfrm>
            <a:off x="822960" y="4425696"/>
            <a:ext cx="82296" cy="82296"/>
          </a:xfrm>
          <a:prstGeom prst="ellipse">
            <a:avLst/>
          </a:prstGeom>
          <a:solidFill>
            <a:srgbClr val="2E90FA"/>
          </a:solidFill>
          <a:ln/>
        </p:spPr>
      </p:sp>
      <p:sp>
        <p:nvSpPr>
          <p:cNvPr id="23" name="Text 21"/>
          <p:cNvSpPr/>
          <p:nvPr/>
        </p:nvSpPr>
        <p:spPr>
          <a:xfrm>
            <a:off x="1005840" y="4334256"/>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RFQ package / BOM</a:t>
            </a:r>
            <a:endParaRPr lang="en-US" sz="980" dirty="0"/>
          </a:p>
        </p:txBody>
      </p:sp>
      <p:sp>
        <p:nvSpPr>
          <p:cNvPr id="24" name="Shape 22"/>
          <p:cNvSpPr/>
          <p:nvPr/>
        </p:nvSpPr>
        <p:spPr>
          <a:xfrm>
            <a:off x="822960" y="4864608"/>
            <a:ext cx="82296" cy="82296"/>
          </a:xfrm>
          <a:prstGeom prst="ellipse">
            <a:avLst/>
          </a:prstGeom>
          <a:solidFill>
            <a:srgbClr val="2E90FA"/>
          </a:solidFill>
          <a:ln/>
        </p:spPr>
      </p:sp>
      <p:sp>
        <p:nvSpPr>
          <p:cNvPr id="25" name="Text 23"/>
          <p:cNvSpPr/>
          <p:nvPr/>
        </p:nvSpPr>
        <p:spPr>
          <a:xfrm>
            <a:off x="1005840" y="4773168"/>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Manufacturing country + volume</a:t>
            </a:r>
            <a:endParaRPr lang="en-US" sz="980" dirty="0"/>
          </a:p>
        </p:txBody>
      </p:sp>
      <p:sp>
        <p:nvSpPr>
          <p:cNvPr id="26" name="Text 24"/>
          <p:cNvSpPr/>
          <p:nvPr/>
        </p:nvSpPr>
        <p:spPr>
          <a:xfrm>
            <a:off x="3108960" y="3474720"/>
            <a:ext cx="329184" cy="548640"/>
          </a:xfrm>
          <a:prstGeom prst="rect">
            <a:avLst/>
          </a:prstGeom>
          <a:noFill/>
          <a:ln/>
        </p:spPr>
        <p:txBody>
          <a:bodyPr wrap="square" lIns="0" tIns="0" rIns="0" bIns="0" rtlCol="0" anchor="ctr"/>
          <a:lstStyle/>
          <a:p>
            <a:pPr algn="ctr" indent="0" marL="0">
              <a:buNone/>
            </a:pPr>
            <a:r>
              <a:rPr lang="en-US" sz="2000" b="1" dirty="0">
                <a:solidFill>
                  <a:srgbClr val="8A97A8"/>
                </a:solidFill>
                <a:latin typeface="Calibri" pitchFamily="34" charset="0"/>
                <a:ea typeface="Calibri" pitchFamily="34" charset="-122"/>
                <a:cs typeface="Calibri" pitchFamily="34" charset="-120"/>
              </a:rPr>
              <a:t>→</a:t>
            </a:r>
            <a:endParaRPr lang="en-US" sz="2000" dirty="0"/>
          </a:p>
        </p:txBody>
      </p:sp>
      <p:sp>
        <p:nvSpPr>
          <p:cNvPr id="27" name="Shape 25"/>
          <p:cNvSpPr/>
          <p:nvPr/>
        </p:nvSpPr>
        <p:spPr>
          <a:xfrm>
            <a:off x="3419856" y="2103120"/>
            <a:ext cx="2542032" cy="3291840"/>
          </a:xfrm>
          <a:prstGeom prst="roundRect">
            <a:avLst>
              <a:gd name="adj" fmla="val 2518"/>
            </a:avLst>
          </a:prstGeom>
          <a:solidFill>
            <a:srgbClr val="FFFFFF"/>
          </a:solidFill>
          <a:ln w="12700">
            <a:solidFill>
              <a:srgbClr val="E4EAF2"/>
            </a:solidFill>
            <a:prstDash val="solid"/>
          </a:ln>
          <a:effectLst>
            <a:outerShdw sx="100000" sy="100000" kx="0" ky="0" algn="bl" rotWithShape="0" blurRad="9.703735953822469e+45" dist="2.7724959868064195e+45" dir="3.2651735040000005e+54">
              <a:srgbClr val="9DB0CC">
                <a:alpha val="2.2e+54"/>
              </a:srgbClr>
            </a:outerShdw>
          </a:effectLst>
        </p:spPr>
      </p:sp>
      <p:sp>
        <p:nvSpPr>
          <p:cNvPr id="28" name="Shape 26"/>
          <p:cNvSpPr/>
          <p:nvPr/>
        </p:nvSpPr>
        <p:spPr>
          <a:xfrm>
            <a:off x="3419856" y="2103120"/>
            <a:ext cx="82296" cy="3291840"/>
          </a:xfrm>
          <a:prstGeom prst="rect">
            <a:avLst/>
          </a:prstGeom>
          <a:solidFill>
            <a:srgbClr val="7C3AED"/>
          </a:solidFill>
          <a:ln/>
        </p:spPr>
      </p:sp>
      <p:sp>
        <p:nvSpPr>
          <p:cNvPr id="29" name="Shape 27"/>
          <p:cNvSpPr/>
          <p:nvPr/>
        </p:nvSpPr>
        <p:spPr>
          <a:xfrm>
            <a:off x="3675888" y="2359152"/>
            <a:ext cx="457200" cy="457200"/>
          </a:xfrm>
          <a:prstGeom prst="ellipse">
            <a:avLst/>
          </a:prstGeom>
          <a:solidFill>
            <a:srgbClr val="F3EEFE"/>
          </a:solidFill>
          <a:ln/>
        </p:spPr>
      </p:sp>
      <p:sp>
        <p:nvSpPr>
          <p:cNvPr id="30" name="Text 28"/>
          <p:cNvSpPr/>
          <p:nvPr/>
        </p:nvSpPr>
        <p:spPr>
          <a:xfrm>
            <a:off x="3675888" y="2350008"/>
            <a:ext cx="457200" cy="457200"/>
          </a:xfrm>
          <a:prstGeom prst="rect">
            <a:avLst/>
          </a:prstGeom>
          <a:noFill/>
          <a:ln/>
        </p:spPr>
        <p:txBody>
          <a:bodyPr wrap="square" lIns="0" tIns="0" rIns="0" bIns="0" rtlCol="0" anchor="ctr"/>
          <a:lstStyle/>
          <a:p>
            <a:pPr algn="ctr" indent="0" marL="0">
              <a:buNone/>
            </a:pPr>
            <a:endParaRPr lang="en-US" sz="1700" dirty="0"/>
          </a:p>
        </p:txBody>
      </p:sp>
      <p:sp>
        <p:nvSpPr>
          <p:cNvPr id="31" name="Text 29"/>
          <p:cNvSpPr/>
          <p:nvPr/>
        </p:nvSpPr>
        <p:spPr>
          <a:xfrm>
            <a:off x="4242816" y="2395728"/>
            <a:ext cx="1627632" cy="411480"/>
          </a:xfrm>
          <a:prstGeom prst="rect">
            <a:avLst/>
          </a:prstGeom>
          <a:noFill/>
          <a:ln/>
        </p:spPr>
        <p:txBody>
          <a:bodyPr wrap="square" lIns="0" tIns="0" rIns="0" bIns="0" rtlCol="0" anchor="ctr"/>
          <a:lstStyle/>
          <a:p>
            <a:pPr indent="0" marL="0">
              <a:buNone/>
            </a:pPr>
            <a:r>
              <a:rPr lang="en-US" sz="1250" b="1" dirty="0">
                <a:solidFill>
                  <a:srgbClr val="7C3AED"/>
                </a:solidFill>
                <a:latin typeface="Calibri" pitchFamily="34" charset="0"/>
                <a:ea typeface="Calibri" pitchFamily="34" charset="-122"/>
                <a:cs typeface="Calibri" pitchFamily="34" charset="-120"/>
              </a:rPr>
              <a:t>AI LAYER</a:t>
            </a:r>
            <a:endParaRPr lang="en-US" sz="1250" dirty="0"/>
          </a:p>
        </p:txBody>
      </p:sp>
      <p:sp>
        <p:nvSpPr>
          <p:cNvPr id="32" name="Shape 30"/>
          <p:cNvSpPr/>
          <p:nvPr/>
        </p:nvSpPr>
        <p:spPr>
          <a:xfrm>
            <a:off x="3694176" y="3108960"/>
            <a:ext cx="82296" cy="82296"/>
          </a:xfrm>
          <a:prstGeom prst="ellipse">
            <a:avLst/>
          </a:prstGeom>
          <a:solidFill>
            <a:srgbClr val="7C3AED"/>
          </a:solidFill>
          <a:ln/>
        </p:spPr>
      </p:sp>
      <p:sp>
        <p:nvSpPr>
          <p:cNvPr id="33" name="Text 31"/>
          <p:cNvSpPr/>
          <p:nvPr/>
        </p:nvSpPr>
        <p:spPr>
          <a:xfrm>
            <a:off x="3877056" y="3017520"/>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Vision extraction (board &amp; CAD)</a:t>
            </a:r>
            <a:endParaRPr lang="en-US" sz="980" dirty="0"/>
          </a:p>
        </p:txBody>
      </p:sp>
      <p:sp>
        <p:nvSpPr>
          <p:cNvPr id="34" name="Shape 32"/>
          <p:cNvSpPr/>
          <p:nvPr/>
        </p:nvSpPr>
        <p:spPr>
          <a:xfrm>
            <a:off x="3694176" y="3547872"/>
            <a:ext cx="82296" cy="82296"/>
          </a:xfrm>
          <a:prstGeom prst="ellipse">
            <a:avLst/>
          </a:prstGeom>
          <a:solidFill>
            <a:srgbClr val="7C3AED"/>
          </a:solidFill>
          <a:ln/>
        </p:spPr>
      </p:sp>
      <p:sp>
        <p:nvSpPr>
          <p:cNvPr id="35" name="Text 33"/>
          <p:cNvSpPr/>
          <p:nvPr/>
        </p:nvSpPr>
        <p:spPr>
          <a:xfrm>
            <a:off x="3877056" y="3456432"/>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Reasoning &amp; classification</a:t>
            </a:r>
            <a:endParaRPr lang="en-US" sz="980" dirty="0"/>
          </a:p>
        </p:txBody>
      </p:sp>
      <p:sp>
        <p:nvSpPr>
          <p:cNvPr id="36" name="Shape 34"/>
          <p:cNvSpPr/>
          <p:nvPr/>
        </p:nvSpPr>
        <p:spPr>
          <a:xfrm>
            <a:off x="3694176" y="3986784"/>
            <a:ext cx="82296" cy="82296"/>
          </a:xfrm>
          <a:prstGeom prst="ellipse">
            <a:avLst/>
          </a:prstGeom>
          <a:solidFill>
            <a:srgbClr val="7C3AED"/>
          </a:solidFill>
          <a:ln/>
        </p:spPr>
      </p:sp>
      <p:sp>
        <p:nvSpPr>
          <p:cNvPr id="37" name="Text 35"/>
          <p:cNvSpPr/>
          <p:nvPr/>
        </p:nvSpPr>
        <p:spPr>
          <a:xfrm>
            <a:off x="3877056" y="3895344"/>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Feature recognition</a:t>
            </a:r>
            <a:endParaRPr lang="en-US" sz="980" dirty="0"/>
          </a:p>
        </p:txBody>
      </p:sp>
      <p:sp>
        <p:nvSpPr>
          <p:cNvPr id="38" name="Shape 36"/>
          <p:cNvSpPr/>
          <p:nvPr/>
        </p:nvSpPr>
        <p:spPr>
          <a:xfrm>
            <a:off x="3694176" y="4425696"/>
            <a:ext cx="82296" cy="82296"/>
          </a:xfrm>
          <a:prstGeom prst="ellipse">
            <a:avLst/>
          </a:prstGeom>
          <a:solidFill>
            <a:srgbClr val="7C3AED"/>
          </a:solidFill>
          <a:ln/>
        </p:spPr>
      </p:sp>
      <p:sp>
        <p:nvSpPr>
          <p:cNvPr id="39" name="Text 37"/>
          <p:cNvSpPr/>
          <p:nvPr/>
        </p:nvSpPr>
        <p:spPr>
          <a:xfrm>
            <a:off x="3877056" y="4334256"/>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Agentic memory &amp; recall</a:t>
            </a:r>
            <a:endParaRPr lang="en-US" sz="980" dirty="0"/>
          </a:p>
        </p:txBody>
      </p:sp>
      <p:sp>
        <p:nvSpPr>
          <p:cNvPr id="40" name="Shape 38"/>
          <p:cNvSpPr/>
          <p:nvPr/>
        </p:nvSpPr>
        <p:spPr>
          <a:xfrm>
            <a:off x="3694176" y="4864608"/>
            <a:ext cx="82296" cy="82296"/>
          </a:xfrm>
          <a:prstGeom prst="ellipse">
            <a:avLst/>
          </a:prstGeom>
          <a:solidFill>
            <a:srgbClr val="7C3AED"/>
          </a:solidFill>
          <a:ln/>
        </p:spPr>
      </p:sp>
      <p:sp>
        <p:nvSpPr>
          <p:cNvPr id="41" name="Text 39"/>
          <p:cNvSpPr/>
          <p:nvPr/>
        </p:nvSpPr>
        <p:spPr>
          <a:xfrm>
            <a:off x="3877056" y="4773168"/>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Grounded assistant</a:t>
            </a:r>
            <a:endParaRPr lang="en-US" sz="980" dirty="0"/>
          </a:p>
        </p:txBody>
      </p:sp>
      <p:sp>
        <p:nvSpPr>
          <p:cNvPr id="42" name="Text 40"/>
          <p:cNvSpPr/>
          <p:nvPr/>
        </p:nvSpPr>
        <p:spPr>
          <a:xfrm>
            <a:off x="5980176" y="3474720"/>
            <a:ext cx="329184" cy="548640"/>
          </a:xfrm>
          <a:prstGeom prst="rect">
            <a:avLst/>
          </a:prstGeom>
          <a:noFill/>
          <a:ln/>
        </p:spPr>
        <p:txBody>
          <a:bodyPr wrap="square" lIns="0" tIns="0" rIns="0" bIns="0" rtlCol="0" anchor="ctr"/>
          <a:lstStyle/>
          <a:p>
            <a:pPr algn="ctr" indent="0" marL="0">
              <a:buNone/>
            </a:pPr>
            <a:r>
              <a:rPr lang="en-US" sz="2000" b="1" dirty="0">
                <a:solidFill>
                  <a:srgbClr val="8A97A8"/>
                </a:solidFill>
                <a:latin typeface="Calibri" pitchFamily="34" charset="0"/>
                <a:ea typeface="Calibri" pitchFamily="34" charset="-122"/>
                <a:cs typeface="Calibri" pitchFamily="34" charset="-120"/>
              </a:rPr>
              <a:t>→</a:t>
            </a:r>
            <a:endParaRPr lang="en-US" sz="2000" dirty="0"/>
          </a:p>
        </p:txBody>
      </p:sp>
      <p:sp>
        <p:nvSpPr>
          <p:cNvPr id="43" name="Shape 41"/>
          <p:cNvSpPr/>
          <p:nvPr/>
        </p:nvSpPr>
        <p:spPr>
          <a:xfrm>
            <a:off x="6291072" y="2103120"/>
            <a:ext cx="2542032" cy="3291840"/>
          </a:xfrm>
          <a:prstGeom prst="roundRect">
            <a:avLst>
              <a:gd name="adj" fmla="val 2518"/>
            </a:avLst>
          </a:prstGeom>
          <a:solidFill>
            <a:srgbClr val="FFFFFF"/>
          </a:solidFill>
          <a:ln w="12700">
            <a:solidFill>
              <a:srgbClr val="E4EAF2"/>
            </a:solidFill>
            <a:prstDash val="solid"/>
          </a:ln>
          <a:effectLst>
            <a:outerShdw sx="100000" sy="100000" kx="0" ky="0" algn="bl" rotWithShape="0" blurRad="1.2323744661354536e+50" dist="3.5210699032441527e+49" dir="1.9591041024000004e+59">
              <a:srgbClr val="9DB0CC">
                <a:alpha val="2.2e+59"/>
              </a:srgbClr>
            </a:outerShdw>
          </a:effectLst>
        </p:spPr>
      </p:sp>
      <p:sp>
        <p:nvSpPr>
          <p:cNvPr id="44" name="Shape 42"/>
          <p:cNvSpPr/>
          <p:nvPr/>
        </p:nvSpPr>
        <p:spPr>
          <a:xfrm>
            <a:off x="6291072" y="2103120"/>
            <a:ext cx="82296" cy="3291840"/>
          </a:xfrm>
          <a:prstGeom prst="rect">
            <a:avLst/>
          </a:prstGeom>
          <a:solidFill>
            <a:srgbClr val="0DA5A0"/>
          </a:solidFill>
          <a:ln/>
        </p:spPr>
      </p:sp>
      <p:sp>
        <p:nvSpPr>
          <p:cNvPr id="45" name="Shape 43"/>
          <p:cNvSpPr/>
          <p:nvPr/>
        </p:nvSpPr>
        <p:spPr>
          <a:xfrm>
            <a:off x="6547104" y="2359152"/>
            <a:ext cx="457200" cy="457200"/>
          </a:xfrm>
          <a:prstGeom prst="ellipse">
            <a:avLst/>
          </a:prstGeom>
          <a:solidFill>
            <a:srgbClr val="E7F7F0"/>
          </a:solidFill>
          <a:ln/>
        </p:spPr>
      </p:sp>
      <p:sp>
        <p:nvSpPr>
          <p:cNvPr id="46" name="Text 44"/>
          <p:cNvSpPr/>
          <p:nvPr/>
        </p:nvSpPr>
        <p:spPr>
          <a:xfrm>
            <a:off x="6547104" y="2350008"/>
            <a:ext cx="457200" cy="457200"/>
          </a:xfrm>
          <a:prstGeom prst="rect">
            <a:avLst/>
          </a:prstGeom>
          <a:noFill/>
          <a:ln/>
        </p:spPr>
        <p:txBody>
          <a:bodyPr wrap="square" lIns="0" tIns="0" rIns="0" bIns="0" rtlCol="0" anchor="ctr"/>
          <a:lstStyle/>
          <a:p>
            <a:pPr algn="ctr" indent="0" marL="0">
              <a:buNone/>
            </a:pPr>
            <a:endParaRPr lang="en-US" sz="1700" dirty="0"/>
          </a:p>
        </p:txBody>
      </p:sp>
      <p:sp>
        <p:nvSpPr>
          <p:cNvPr id="47" name="Text 45"/>
          <p:cNvSpPr/>
          <p:nvPr/>
        </p:nvSpPr>
        <p:spPr>
          <a:xfrm>
            <a:off x="7114032" y="2395728"/>
            <a:ext cx="1627632" cy="411480"/>
          </a:xfrm>
          <a:prstGeom prst="rect">
            <a:avLst/>
          </a:prstGeom>
          <a:noFill/>
          <a:ln/>
        </p:spPr>
        <p:txBody>
          <a:bodyPr wrap="square" lIns="0" tIns="0" rIns="0" bIns="0" rtlCol="0" anchor="ctr"/>
          <a:lstStyle/>
          <a:p>
            <a:pPr indent="0" marL="0">
              <a:buNone/>
            </a:pPr>
            <a:r>
              <a:rPr lang="en-US" sz="1250" b="1" dirty="0">
                <a:solidFill>
                  <a:srgbClr val="0DA5A0"/>
                </a:solidFill>
                <a:latin typeface="Calibri" pitchFamily="34" charset="0"/>
                <a:ea typeface="Calibri" pitchFamily="34" charset="-122"/>
                <a:cs typeface="Calibri" pitchFamily="34" charset="-120"/>
              </a:rPr>
              <a:t>DETERMINISTIC ENGINES</a:t>
            </a:r>
            <a:endParaRPr lang="en-US" sz="1250" dirty="0"/>
          </a:p>
        </p:txBody>
      </p:sp>
      <p:sp>
        <p:nvSpPr>
          <p:cNvPr id="48" name="Shape 46"/>
          <p:cNvSpPr/>
          <p:nvPr/>
        </p:nvSpPr>
        <p:spPr>
          <a:xfrm>
            <a:off x="6565392" y="3108960"/>
            <a:ext cx="82296" cy="82296"/>
          </a:xfrm>
          <a:prstGeom prst="ellipse">
            <a:avLst/>
          </a:prstGeom>
          <a:solidFill>
            <a:srgbClr val="0DA5A0"/>
          </a:solidFill>
          <a:ln/>
        </p:spPr>
      </p:sp>
      <p:sp>
        <p:nvSpPr>
          <p:cNvPr id="49" name="Text 47"/>
          <p:cNvSpPr/>
          <p:nvPr/>
        </p:nvSpPr>
        <p:spPr>
          <a:xfrm>
            <a:off x="6748272" y="3017520"/>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19 commodity cost engines</a:t>
            </a:r>
            <a:endParaRPr lang="en-US" sz="980" dirty="0"/>
          </a:p>
        </p:txBody>
      </p:sp>
      <p:sp>
        <p:nvSpPr>
          <p:cNvPr id="50" name="Shape 48"/>
          <p:cNvSpPr/>
          <p:nvPr/>
        </p:nvSpPr>
        <p:spPr>
          <a:xfrm>
            <a:off x="6565392" y="3547872"/>
            <a:ext cx="82296" cy="82296"/>
          </a:xfrm>
          <a:prstGeom prst="ellipse">
            <a:avLst/>
          </a:prstGeom>
          <a:solidFill>
            <a:srgbClr val="0DA5A0"/>
          </a:solidFill>
          <a:ln/>
        </p:spPr>
      </p:sp>
      <p:sp>
        <p:nvSpPr>
          <p:cNvPr id="51" name="Text 49"/>
          <p:cNvSpPr/>
          <p:nvPr/>
        </p:nvSpPr>
        <p:spPr>
          <a:xfrm>
            <a:off x="6748272" y="3456432"/>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Feature-based machining</a:t>
            </a:r>
            <a:endParaRPr lang="en-US" sz="980" dirty="0"/>
          </a:p>
        </p:txBody>
      </p:sp>
      <p:sp>
        <p:nvSpPr>
          <p:cNvPr id="52" name="Shape 50"/>
          <p:cNvSpPr/>
          <p:nvPr/>
        </p:nvSpPr>
        <p:spPr>
          <a:xfrm>
            <a:off x="6565392" y="3986784"/>
            <a:ext cx="82296" cy="82296"/>
          </a:xfrm>
          <a:prstGeom prst="ellipse">
            <a:avLst/>
          </a:prstGeom>
          <a:solidFill>
            <a:srgbClr val="0DA5A0"/>
          </a:solidFill>
          <a:ln/>
        </p:spPr>
      </p:sp>
      <p:sp>
        <p:nvSpPr>
          <p:cNvPr id="53" name="Text 51"/>
          <p:cNvSpPr/>
          <p:nvPr/>
        </p:nvSpPr>
        <p:spPr>
          <a:xfrm>
            <a:off x="6748272" y="3895344"/>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20-region rate tables</a:t>
            </a:r>
            <a:endParaRPr lang="en-US" sz="980" dirty="0"/>
          </a:p>
        </p:txBody>
      </p:sp>
      <p:sp>
        <p:nvSpPr>
          <p:cNvPr id="54" name="Shape 52"/>
          <p:cNvSpPr/>
          <p:nvPr/>
        </p:nvSpPr>
        <p:spPr>
          <a:xfrm>
            <a:off x="6565392" y="4425696"/>
            <a:ext cx="82296" cy="82296"/>
          </a:xfrm>
          <a:prstGeom prst="ellipse">
            <a:avLst/>
          </a:prstGeom>
          <a:solidFill>
            <a:srgbClr val="0DA5A0"/>
          </a:solidFill>
          <a:ln/>
        </p:spPr>
      </p:sp>
      <p:sp>
        <p:nvSpPr>
          <p:cNvPr id="55" name="Text 53"/>
          <p:cNvSpPr/>
          <p:nvPr/>
        </p:nvSpPr>
        <p:spPr>
          <a:xfrm>
            <a:off x="6748272" y="4334256"/>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Volume &amp; NRE models</a:t>
            </a:r>
            <a:endParaRPr lang="en-US" sz="980" dirty="0"/>
          </a:p>
        </p:txBody>
      </p:sp>
      <p:sp>
        <p:nvSpPr>
          <p:cNvPr id="56" name="Shape 54"/>
          <p:cNvSpPr/>
          <p:nvPr/>
        </p:nvSpPr>
        <p:spPr>
          <a:xfrm>
            <a:off x="6565392" y="4864608"/>
            <a:ext cx="82296" cy="82296"/>
          </a:xfrm>
          <a:prstGeom prst="ellipse">
            <a:avLst/>
          </a:prstGeom>
          <a:solidFill>
            <a:srgbClr val="0DA5A0"/>
          </a:solidFill>
          <a:ln/>
        </p:spPr>
      </p:sp>
      <p:sp>
        <p:nvSpPr>
          <p:cNvPr id="57" name="Text 55"/>
          <p:cNvSpPr/>
          <p:nvPr/>
        </p:nvSpPr>
        <p:spPr>
          <a:xfrm>
            <a:off x="6748272" y="4773168"/>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Sanity &amp; confidence</a:t>
            </a:r>
            <a:endParaRPr lang="en-US" sz="980" dirty="0"/>
          </a:p>
        </p:txBody>
      </p:sp>
      <p:sp>
        <p:nvSpPr>
          <p:cNvPr id="58" name="Text 56"/>
          <p:cNvSpPr/>
          <p:nvPr/>
        </p:nvSpPr>
        <p:spPr>
          <a:xfrm>
            <a:off x="8851392" y="3474720"/>
            <a:ext cx="329184" cy="548640"/>
          </a:xfrm>
          <a:prstGeom prst="rect">
            <a:avLst/>
          </a:prstGeom>
          <a:noFill/>
          <a:ln/>
        </p:spPr>
        <p:txBody>
          <a:bodyPr wrap="square" lIns="0" tIns="0" rIns="0" bIns="0" rtlCol="0" anchor="ctr"/>
          <a:lstStyle/>
          <a:p>
            <a:pPr algn="ctr" indent="0" marL="0">
              <a:buNone/>
            </a:pPr>
            <a:r>
              <a:rPr lang="en-US" sz="2000" b="1" dirty="0">
                <a:solidFill>
                  <a:srgbClr val="8A97A8"/>
                </a:solidFill>
                <a:latin typeface="Calibri" pitchFamily="34" charset="0"/>
                <a:ea typeface="Calibri" pitchFamily="34" charset="-122"/>
                <a:cs typeface="Calibri" pitchFamily="34" charset="-120"/>
              </a:rPr>
              <a:t>→</a:t>
            </a:r>
            <a:endParaRPr lang="en-US" sz="2000" dirty="0"/>
          </a:p>
        </p:txBody>
      </p:sp>
      <p:sp>
        <p:nvSpPr>
          <p:cNvPr id="59" name="Shape 57"/>
          <p:cNvSpPr/>
          <p:nvPr/>
        </p:nvSpPr>
        <p:spPr>
          <a:xfrm>
            <a:off x="9162288" y="2103120"/>
            <a:ext cx="2542032" cy="3291840"/>
          </a:xfrm>
          <a:prstGeom prst="roundRect">
            <a:avLst>
              <a:gd name="adj" fmla="val 2518"/>
            </a:avLst>
          </a:prstGeom>
          <a:solidFill>
            <a:srgbClr val="FFFFFF"/>
          </a:solidFill>
          <a:ln w="12700">
            <a:solidFill>
              <a:srgbClr val="E4EAF2"/>
            </a:solidFill>
            <a:prstDash val="solid"/>
          </a:ln>
          <a:effectLst>
            <a:outerShdw sx="100000" sy="100000" kx="0" ky="0" algn="bl" rotWithShape="0" blurRad="1.5651155719920262e+54" dist="4.471758777120074e+53" dir="1.1754624614400003e+64">
              <a:srgbClr val="9DB0CC">
                <a:alpha val="2.2e+64"/>
              </a:srgbClr>
            </a:outerShdw>
          </a:effectLst>
        </p:spPr>
      </p:sp>
      <p:sp>
        <p:nvSpPr>
          <p:cNvPr id="60" name="Shape 58"/>
          <p:cNvSpPr/>
          <p:nvPr/>
        </p:nvSpPr>
        <p:spPr>
          <a:xfrm>
            <a:off x="9162288" y="2103120"/>
            <a:ext cx="82296" cy="3291840"/>
          </a:xfrm>
          <a:prstGeom prst="rect">
            <a:avLst/>
          </a:prstGeom>
          <a:solidFill>
            <a:srgbClr val="0EA472"/>
          </a:solidFill>
          <a:ln/>
        </p:spPr>
      </p:sp>
      <p:sp>
        <p:nvSpPr>
          <p:cNvPr id="61" name="Shape 59"/>
          <p:cNvSpPr/>
          <p:nvPr/>
        </p:nvSpPr>
        <p:spPr>
          <a:xfrm>
            <a:off x="9418320" y="2359152"/>
            <a:ext cx="457200" cy="457200"/>
          </a:xfrm>
          <a:prstGeom prst="ellipse">
            <a:avLst/>
          </a:prstGeom>
          <a:solidFill>
            <a:srgbClr val="E7F7F0"/>
          </a:solidFill>
          <a:ln/>
        </p:spPr>
      </p:sp>
      <p:sp>
        <p:nvSpPr>
          <p:cNvPr id="62" name="Text 60"/>
          <p:cNvSpPr/>
          <p:nvPr/>
        </p:nvSpPr>
        <p:spPr>
          <a:xfrm>
            <a:off x="9418320" y="2350008"/>
            <a:ext cx="457200" cy="457200"/>
          </a:xfrm>
          <a:prstGeom prst="rect">
            <a:avLst/>
          </a:prstGeom>
          <a:noFill/>
          <a:ln/>
        </p:spPr>
        <p:txBody>
          <a:bodyPr wrap="square" lIns="0" tIns="0" rIns="0" bIns="0" rtlCol="0" anchor="ctr"/>
          <a:lstStyle/>
          <a:p>
            <a:pPr algn="ctr" indent="0" marL="0">
              <a:buNone/>
            </a:pPr>
            <a:endParaRPr lang="en-US" sz="1700" dirty="0"/>
          </a:p>
        </p:txBody>
      </p:sp>
      <p:sp>
        <p:nvSpPr>
          <p:cNvPr id="63" name="Text 61"/>
          <p:cNvSpPr/>
          <p:nvPr/>
        </p:nvSpPr>
        <p:spPr>
          <a:xfrm>
            <a:off x="9985248" y="2395728"/>
            <a:ext cx="1627632" cy="411480"/>
          </a:xfrm>
          <a:prstGeom prst="rect">
            <a:avLst/>
          </a:prstGeom>
          <a:noFill/>
          <a:ln/>
        </p:spPr>
        <p:txBody>
          <a:bodyPr wrap="square" lIns="0" tIns="0" rIns="0" bIns="0" rtlCol="0" anchor="ctr"/>
          <a:lstStyle/>
          <a:p>
            <a:pPr indent="0" marL="0">
              <a:buNone/>
            </a:pPr>
            <a:r>
              <a:rPr lang="en-US" sz="1250" b="1" dirty="0">
                <a:solidFill>
                  <a:srgbClr val="0EA472"/>
                </a:solidFill>
                <a:latin typeface="Calibri" pitchFamily="34" charset="0"/>
                <a:ea typeface="Calibri" pitchFamily="34" charset="-122"/>
                <a:cs typeface="Calibri" pitchFamily="34" charset="-120"/>
              </a:rPr>
              <a:t>OUTPUTS</a:t>
            </a:r>
            <a:endParaRPr lang="en-US" sz="1250" dirty="0"/>
          </a:p>
        </p:txBody>
      </p:sp>
      <p:sp>
        <p:nvSpPr>
          <p:cNvPr id="64" name="Shape 62"/>
          <p:cNvSpPr/>
          <p:nvPr/>
        </p:nvSpPr>
        <p:spPr>
          <a:xfrm>
            <a:off x="9436608" y="3108960"/>
            <a:ext cx="82296" cy="82296"/>
          </a:xfrm>
          <a:prstGeom prst="ellipse">
            <a:avLst/>
          </a:prstGeom>
          <a:solidFill>
            <a:srgbClr val="0EA472"/>
          </a:solidFill>
          <a:ln/>
        </p:spPr>
      </p:sp>
      <p:sp>
        <p:nvSpPr>
          <p:cNvPr id="65" name="Text 63"/>
          <p:cNvSpPr/>
          <p:nvPr/>
        </p:nvSpPr>
        <p:spPr>
          <a:xfrm>
            <a:off x="9619488" y="3017520"/>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Costed breakdown + should-cost</a:t>
            </a:r>
            <a:endParaRPr lang="en-US" sz="980" dirty="0"/>
          </a:p>
        </p:txBody>
      </p:sp>
      <p:sp>
        <p:nvSpPr>
          <p:cNvPr id="66" name="Shape 64"/>
          <p:cNvSpPr/>
          <p:nvPr/>
        </p:nvSpPr>
        <p:spPr>
          <a:xfrm>
            <a:off x="9436608" y="3547872"/>
            <a:ext cx="82296" cy="82296"/>
          </a:xfrm>
          <a:prstGeom prst="ellipse">
            <a:avLst/>
          </a:prstGeom>
          <a:solidFill>
            <a:srgbClr val="0EA472"/>
          </a:solidFill>
          <a:ln/>
        </p:spPr>
      </p:sp>
      <p:sp>
        <p:nvSpPr>
          <p:cNvPr id="67" name="Text 65"/>
          <p:cNvSpPr/>
          <p:nvPr/>
        </p:nvSpPr>
        <p:spPr>
          <a:xfrm>
            <a:off x="9619488" y="3456432"/>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Confidence band (P10–P90)</a:t>
            </a:r>
            <a:endParaRPr lang="en-US" sz="980" dirty="0"/>
          </a:p>
        </p:txBody>
      </p:sp>
      <p:sp>
        <p:nvSpPr>
          <p:cNvPr id="68" name="Shape 66"/>
          <p:cNvSpPr/>
          <p:nvPr/>
        </p:nvSpPr>
        <p:spPr>
          <a:xfrm>
            <a:off x="9436608" y="3986784"/>
            <a:ext cx="82296" cy="82296"/>
          </a:xfrm>
          <a:prstGeom prst="ellipse">
            <a:avLst/>
          </a:prstGeom>
          <a:solidFill>
            <a:srgbClr val="0EA472"/>
          </a:solidFill>
          <a:ln/>
        </p:spPr>
      </p:sp>
      <p:sp>
        <p:nvSpPr>
          <p:cNvPr id="69" name="Text 67"/>
          <p:cNvSpPr/>
          <p:nvPr/>
        </p:nvSpPr>
        <p:spPr>
          <a:xfrm>
            <a:off x="9619488" y="3895344"/>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Negotiation pack</a:t>
            </a:r>
            <a:endParaRPr lang="en-US" sz="980" dirty="0"/>
          </a:p>
        </p:txBody>
      </p:sp>
      <p:sp>
        <p:nvSpPr>
          <p:cNvPr id="70" name="Shape 68"/>
          <p:cNvSpPr/>
          <p:nvPr/>
        </p:nvSpPr>
        <p:spPr>
          <a:xfrm>
            <a:off x="9436608" y="4425696"/>
            <a:ext cx="82296" cy="82296"/>
          </a:xfrm>
          <a:prstGeom prst="ellipse">
            <a:avLst/>
          </a:prstGeom>
          <a:solidFill>
            <a:srgbClr val="0EA472"/>
          </a:solidFill>
          <a:ln/>
        </p:spPr>
      </p:sp>
      <p:sp>
        <p:nvSpPr>
          <p:cNvPr id="71" name="Text 69"/>
          <p:cNvSpPr/>
          <p:nvPr/>
        </p:nvSpPr>
        <p:spPr>
          <a:xfrm>
            <a:off x="9619488" y="4334256"/>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Excel · PDF · PowerPoint</a:t>
            </a:r>
            <a:endParaRPr lang="en-US" sz="980" dirty="0"/>
          </a:p>
        </p:txBody>
      </p:sp>
      <p:sp>
        <p:nvSpPr>
          <p:cNvPr id="72" name="Shape 70"/>
          <p:cNvSpPr/>
          <p:nvPr/>
        </p:nvSpPr>
        <p:spPr>
          <a:xfrm>
            <a:off x="9436608" y="4864608"/>
            <a:ext cx="82296" cy="82296"/>
          </a:xfrm>
          <a:prstGeom prst="ellipse">
            <a:avLst/>
          </a:prstGeom>
          <a:solidFill>
            <a:srgbClr val="0EA472"/>
          </a:solidFill>
          <a:ln/>
        </p:spPr>
      </p:sp>
      <p:sp>
        <p:nvSpPr>
          <p:cNvPr id="73" name="Text 71"/>
          <p:cNvSpPr/>
          <p:nvPr/>
        </p:nvSpPr>
        <p:spPr>
          <a:xfrm>
            <a:off x="9619488" y="4773168"/>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Carbon (CO₂e) alongside £</a:t>
            </a:r>
            <a:endParaRPr lang="en-US" sz="980" dirty="0"/>
          </a:p>
        </p:txBody>
      </p:sp>
      <p:sp>
        <p:nvSpPr>
          <p:cNvPr id="74" name="Shape 72"/>
          <p:cNvSpPr/>
          <p:nvPr/>
        </p:nvSpPr>
        <p:spPr>
          <a:xfrm>
            <a:off x="548640" y="5623560"/>
            <a:ext cx="11091672" cy="566928"/>
          </a:xfrm>
          <a:prstGeom prst="roundRect">
            <a:avLst>
              <a:gd name="adj" fmla="val 11290"/>
            </a:avLst>
          </a:prstGeom>
          <a:solidFill>
            <a:srgbClr val="F4F7FB"/>
          </a:solidFill>
          <a:ln w="12700">
            <a:solidFill>
              <a:srgbClr val="E4EAF2"/>
            </a:solidFill>
            <a:prstDash val="solid"/>
          </a:ln>
        </p:spPr>
      </p:sp>
      <p:sp>
        <p:nvSpPr>
          <p:cNvPr id="75" name="Text 73"/>
          <p:cNvSpPr/>
          <p:nvPr/>
        </p:nvSpPr>
        <p:spPr>
          <a:xfrm>
            <a:off x="914400" y="5623560"/>
            <a:ext cx="10332720" cy="566928"/>
          </a:xfrm>
          <a:prstGeom prst="rect">
            <a:avLst/>
          </a:prstGeom>
          <a:noFill/>
          <a:ln/>
        </p:spPr>
        <p:txBody>
          <a:bodyPr wrap="square" lIns="0" tIns="0" rIns="0" bIns="0" rtlCol="0" anchor="ctr"/>
          <a:lstStyle/>
          <a:p>
            <a:pPr indent="0" marL="0">
              <a:buNone/>
            </a:pPr>
            <a:r>
              <a:rPr lang="en-US" sz="1200" b="1" dirty="0">
                <a:solidFill>
                  <a:srgbClr val="0F1E3D"/>
                </a:solidFill>
                <a:latin typeface="Calibri" pitchFamily="34" charset="0"/>
                <a:ea typeface="Calibri" pitchFamily="34" charset="-122"/>
                <a:cs typeface="Calibri" pitchFamily="34" charset="-120"/>
              </a:rPr>
              <a:t>The golden rule:  </a:t>
            </a:r>
            <a:pPr indent="0" marL="0">
              <a:buNone/>
            </a:pPr>
            <a:r>
              <a:rPr lang="en-US" sz="1200" dirty="0">
                <a:solidFill>
                  <a:srgbClr val="3E4C63"/>
                </a:solidFill>
                <a:latin typeface="Calibri" pitchFamily="34" charset="0"/>
                <a:ea typeface="Calibri" pitchFamily="34" charset="-122"/>
                <a:cs typeface="Calibri" pitchFamily="34" charset="-120"/>
              </a:rPr>
              <a:t>AI only ever understands the input. It never sets the price — every pound is deterministic, auditable arithmetic you can trace and defend.</a:t>
            </a:r>
            <a:endParaRPr lang="en-US" sz="1200" dirty="0"/>
          </a:p>
        </p:txBody>
      </p:sp>
      <p:sp>
        <p:nvSpPr>
          <p:cNvPr id="76" name="Shape 74"/>
          <p:cNvSpPr/>
          <p:nvPr/>
        </p:nvSpPr>
        <p:spPr>
          <a:xfrm>
            <a:off x="548640" y="6400800"/>
            <a:ext cx="11094415" cy="12802"/>
          </a:xfrm>
          <a:prstGeom prst="rect">
            <a:avLst/>
          </a:prstGeom>
          <a:solidFill>
            <a:srgbClr val="E4EAF2"/>
          </a:solidFill>
          <a:ln/>
        </p:spPr>
      </p:sp>
      <p:sp>
        <p:nvSpPr>
          <p:cNvPr id="77" name="Text 75"/>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78" name="Text 76"/>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5 / 25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4F46E5"/>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4F46E5"/>
                </a:solidFill>
                <a:latin typeface="Calibri" pitchFamily="34" charset="0"/>
                <a:ea typeface="Calibri" pitchFamily="34" charset="-122"/>
                <a:cs typeface="Calibri" pitchFamily="34" charset="-120"/>
              </a:rPr>
              <a:t>WHAT IT DOES</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One platform, four jobs — the capability map</a:t>
            </a:r>
            <a:endParaRPr lang="en-US" sz="2400" dirty="0"/>
          </a:p>
        </p:txBody>
      </p:sp>
      <p:sp>
        <p:nvSpPr>
          <p:cNvPr id="9" name="Shape 7"/>
          <p:cNvSpPr/>
          <p:nvPr/>
        </p:nvSpPr>
        <p:spPr>
          <a:xfrm>
            <a:off x="548640" y="1371600"/>
            <a:ext cx="1051560" cy="45720"/>
          </a:xfrm>
          <a:prstGeom prst="rect">
            <a:avLst/>
          </a:prstGeom>
          <a:solidFill>
            <a:srgbClr val="4F46E5"/>
          </a:solidFill>
          <a:ln/>
        </p:spPr>
      </p:sp>
      <p:sp>
        <p:nvSpPr>
          <p:cNvPr id="10" name="Shape 8"/>
          <p:cNvSpPr/>
          <p:nvPr/>
        </p:nvSpPr>
        <p:spPr>
          <a:xfrm>
            <a:off x="548640" y="1691640"/>
            <a:ext cx="5394960" cy="2148840"/>
          </a:xfrm>
          <a:prstGeom prst="roundRect">
            <a:avLst>
              <a:gd name="adj" fmla="val 2979"/>
            </a:avLst>
          </a:prstGeom>
          <a:solidFill>
            <a:srgbClr val="FFFFFF"/>
          </a:solidFill>
          <a:ln w="12700">
            <a:solidFill>
              <a:srgbClr val="E4EAF2"/>
            </a:solidFill>
            <a:prstDash val="solid"/>
          </a:ln>
          <a:effectLst>
            <a:outerShdw sx="100000" sy="100000" kx="0" ky="0" algn="bl" rotWithShape="0" blurRad="1.9876967764298733e+58" dist="5.679133646942494e+57" dir="7.052774768640002e+68">
              <a:srgbClr val="9DB0CC">
                <a:alpha val="2.2e+69"/>
              </a:srgbClr>
            </a:outerShdw>
          </a:effectLst>
        </p:spPr>
      </p:sp>
      <p:sp>
        <p:nvSpPr>
          <p:cNvPr id="11" name="Shape 9"/>
          <p:cNvSpPr/>
          <p:nvPr/>
        </p:nvSpPr>
        <p:spPr>
          <a:xfrm>
            <a:off x="548640" y="1691640"/>
            <a:ext cx="82296" cy="2148840"/>
          </a:xfrm>
          <a:prstGeom prst="rect">
            <a:avLst/>
          </a:prstGeom>
          <a:solidFill>
            <a:srgbClr val="2563EB"/>
          </a:solidFill>
          <a:ln/>
        </p:spPr>
      </p:sp>
      <p:sp>
        <p:nvSpPr>
          <p:cNvPr id="12" name="Text 10"/>
          <p:cNvSpPr/>
          <p:nvPr/>
        </p:nvSpPr>
        <p:spPr>
          <a:xfrm>
            <a:off x="822960" y="1856232"/>
            <a:ext cx="4937760" cy="320040"/>
          </a:xfrm>
          <a:prstGeom prst="rect">
            <a:avLst/>
          </a:prstGeom>
          <a:noFill/>
          <a:ln/>
        </p:spPr>
        <p:txBody>
          <a:bodyPr wrap="square" lIns="0" tIns="0" rIns="0" bIns="0" rtlCol="0" anchor="t"/>
          <a:lstStyle/>
          <a:p>
            <a:pPr indent="0" marL="0">
              <a:buNone/>
            </a:pPr>
            <a:r>
              <a:rPr lang="en-US" sz="1350" b="1" spc="50" kern="0" dirty="0">
                <a:solidFill>
                  <a:srgbClr val="2563EB"/>
                </a:solidFill>
                <a:latin typeface="Calibri" pitchFamily="34" charset="0"/>
                <a:ea typeface="Calibri" pitchFamily="34" charset="-122"/>
                <a:cs typeface="Calibri" pitchFamily="34" charset="-120"/>
              </a:rPr>
              <a:t>ESTIMATE</a:t>
            </a:r>
            <a:endParaRPr lang="en-US" sz="1350" dirty="0"/>
          </a:p>
        </p:txBody>
      </p:sp>
      <p:sp>
        <p:nvSpPr>
          <p:cNvPr id="13" name="Shape 11"/>
          <p:cNvSpPr/>
          <p:nvPr/>
        </p:nvSpPr>
        <p:spPr>
          <a:xfrm>
            <a:off x="841248" y="2368296"/>
            <a:ext cx="91440" cy="91440"/>
          </a:xfrm>
          <a:prstGeom prst="ellipse">
            <a:avLst/>
          </a:prstGeom>
          <a:solidFill>
            <a:srgbClr val="2563EB"/>
          </a:solidFill>
          <a:ln/>
        </p:spPr>
      </p:sp>
      <p:sp>
        <p:nvSpPr>
          <p:cNvPr id="14" name="Text 12"/>
          <p:cNvSpPr/>
          <p:nvPr/>
        </p:nvSpPr>
        <p:spPr>
          <a:xfrm>
            <a:off x="1024128" y="23134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CAD → Cost (3D model)</a:t>
            </a:r>
            <a:endParaRPr lang="en-US" sz="1000" dirty="0"/>
          </a:p>
        </p:txBody>
      </p:sp>
      <p:sp>
        <p:nvSpPr>
          <p:cNvPr id="15" name="Shape 13"/>
          <p:cNvSpPr/>
          <p:nvPr/>
        </p:nvSpPr>
        <p:spPr>
          <a:xfrm>
            <a:off x="3447288" y="2368296"/>
            <a:ext cx="91440" cy="91440"/>
          </a:xfrm>
          <a:prstGeom prst="ellipse">
            <a:avLst/>
          </a:prstGeom>
          <a:solidFill>
            <a:srgbClr val="2563EB"/>
          </a:solidFill>
          <a:ln/>
        </p:spPr>
      </p:sp>
      <p:sp>
        <p:nvSpPr>
          <p:cNvPr id="16" name="Text 14"/>
          <p:cNvSpPr/>
          <p:nvPr/>
        </p:nvSpPr>
        <p:spPr>
          <a:xfrm>
            <a:off x="3630168" y="23134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PCB Image → BOM</a:t>
            </a:r>
            <a:endParaRPr lang="en-US" sz="1000" dirty="0"/>
          </a:p>
        </p:txBody>
      </p:sp>
      <p:sp>
        <p:nvSpPr>
          <p:cNvPr id="17" name="Shape 15"/>
          <p:cNvSpPr/>
          <p:nvPr/>
        </p:nvSpPr>
        <p:spPr>
          <a:xfrm>
            <a:off x="841248" y="2825496"/>
            <a:ext cx="91440" cy="91440"/>
          </a:xfrm>
          <a:prstGeom prst="ellipse">
            <a:avLst/>
          </a:prstGeom>
          <a:solidFill>
            <a:srgbClr val="2563EB"/>
          </a:solidFill>
          <a:ln/>
        </p:spPr>
      </p:sp>
      <p:sp>
        <p:nvSpPr>
          <p:cNvPr id="18" name="Text 16"/>
          <p:cNvSpPr/>
          <p:nvPr/>
        </p:nvSpPr>
        <p:spPr>
          <a:xfrm>
            <a:off x="1024128" y="27706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19 commodity cost engines</a:t>
            </a:r>
            <a:endParaRPr lang="en-US" sz="1000" dirty="0"/>
          </a:p>
        </p:txBody>
      </p:sp>
      <p:sp>
        <p:nvSpPr>
          <p:cNvPr id="19" name="Shape 17"/>
          <p:cNvSpPr/>
          <p:nvPr/>
        </p:nvSpPr>
        <p:spPr>
          <a:xfrm>
            <a:off x="3447288" y="2825496"/>
            <a:ext cx="91440" cy="91440"/>
          </a:xfrm>
          <a:prstGeom prst="ellipse">
            <a:avLst/>
          </a:prstGeom>
          <a:solidFill>
            <a:srgbClr val="2563EB"/>
          </a:solidFill>
          <a:ln/>
        </p:spPr>
      </p:sp>
      <p:sp>
        <p:nvSpPr>
          <p:cNvPr id="20" name="Text 18"/>
          <p:cNvSpPr/>
          <p:nvPr/>
        </p:nvSpPr>
        <p:spPr>
          <a:xfrm>
            <a:off x="3630168" y="27706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Feature-based machining</a:t>
            </a:r>
            <a:endParaRPr lang="en-US" sz="1000" dirty="0"/>
          </a:p>
        </p:txBody>
      </p:sp>
      <p:sp>
        <p:nvSpPr>
          <p:cNvPr id="21" name="Shape 19"/>
          <p:cNvSpPr/>
          <p:nvPr/>
        </p:nvSpPr>
        <p:spPr>
          <a:xfrm>
            <a:off x="841248" y="3227832"/>
            <a:ext cx="91440" cy="91440"/>
          </a:xfrm>
          <a:prstGeom prst="ellipse">
            <a:avLst/>
          </a:prstGeom>
          <a:solidFill>
            <a:srgbClr val="2563EB"/>
          </a:solidFill>
          <a:ln/>
        </p:spPr>
      </p:sp>
      <p:sp>
        <p:nvSpPr>
          <p:cNvPr id="22" name="Text 20"/>
          <p:cNvSpPr/>
          <p:nvPr/>
        </p:nvSpPr>
        <p:spPr>
          <a:xfrm>
            <a:off x="1024128" y="3172968"/>
            <a:ext cx="4663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Detailed teardown</a:t>
            </a:r>
            <a:endParaRPr lang="en-US" sz="1000" dirty="0"/>
          </a:p>
        </p:txBody>
      </p:sp>
      <p:sp>
        <p:nvSpPr>
          <p:cNvPr id="23" name="Shape 21"/>
          <p:cNvSpPr/>
          <p:nvPr/>
        </p:nvSpPr>
        <p:spPr>
          <a:xfrm>
            <a:off x="6245352" y="1691640"/>
            <a:ext cx="5394960" cy="2148840"/>
          </a:xfrm>
          <a:prstGeom prst="roundRect">
            <a:avLst>
              <a:gd name="adj" fmla="val 2979"/>
            </a:avLst>
          </a:prstGeom>
          <a:solidFill>
            <a:srgbClr val="FFFFFF"/>
          </a:solidFill>
          <a:ln w="12700">
            <a:solidFill>
              <a:srgbClr val="E4EAF2"/>
            </a:solidFill>
            <a:prstDash val="solid"/>
          </a:ln>
          <a:effectLst>
            <a:outerShdw sx="100000" sy="100000" kx="0" ky="0" algn="bl" rotWithShape="0" blurRad="2.524374906065939e+62" dist="7.212499731616968e+61" dir="4.2316648611840007e+73">
              <a:srgbClr val="9DB0CC">
                <a:alpha val="2.2e+74"/>
              </a:srgbClr>
            </a:outerShdw>
          </a:effectLst>
        </p:spPr>
      </p:sp>
      <p:sp>
        <p:nvSpPr>
          <p:cNvPr id="24" name="Shape 22"/>
          <p:cNvSpPr/>
          <p:nvPr/>
        </p:nvSpPr>
        <p:spPr>
          <a:xfrm>
            <a:off x="6245352" y="1691640"/>
            <a:ext cx="82296" cy="2148840"/>
          </a:xfrm>
          <a:prstGeom prst="rect">
            <a:avLst/>
          </a:prstGeom>
          <a:solidFill>
            <a:srgbClr val="7C3AED"/>
          </a:solidFill>
          <a:ln/>
        </p:spPr>
      </p:sp>
      <p:sp>
        <p:nvSpPr>
          <p:cNvPr id="25" name="Text 23"/>
          <p:cNvSpPr/>
          <p:nvPr/>
        </p:nvSpPr>
        <p:spPr>
          <a:xfrm>
            <a:off x="6519672" y="1856232"/>
            <a:ext cx="4937760" cy="320040"/>
          </a:xfrm>
          <a:prstGeom prst="rect">
            <a:avLst/>
          </a:prstGeom>
          <a:noFill/>
          <a:ln/>
        </p:spPr>
        <p:txBody>
          <a:bodyPr wrap="square" lIns="0" tIns="0" rIns="0" bIns="0" rtlCol="0" anchor="t"/>
          <a:lstStyle/>
          <a:p>
            <a:pPr indent="0" marL="0">
              <a:buNone/>
            </a:pPr>
            <a:r>
              <a:rPr lang="en-US" sz="1350" b="1" spc="50" kern="0" dirty="0">
                <a:solidFill>
                  <a:srgbClr val="7C3AED"/>
                </a:solidFill>
                <a:latin typeface="Calibri" pitchFamily="34" charset="0"/>
                <a:ea typeface="Calibri" pitchFamily="34" charset="-122"/>
                <a:cs typeface="Calibri" pitchFamily="34" charset="-120"/>
              </a:rPr>
              <a:t>UNDERSTAND</a:t>
            </a:r>
            <a:endParaRPr lang="en-US" sz="1350" dirty="0"/>
          </a:p>
        </p:txBody>
      </p:sp>
      <p:sp>
        <p:nvSpPr>
          <p:cNvPr id="26" name="Shape 24"/>
          <p:cNvSpPr/>
          <p:nvPr/>
        </p:nvSpPr>
        <p:spPr>
          <a:xfrm>
            <a:off x="6537960" y="2368296"/>
            <a:ext cx="91440" cy="91440"/>
          </a:xfrm>
          <a:prstGeom prst="ellipse">
            <a:avLst/>
          </a:prstGeom>
          <a:solidFill>
            <a:srgbClr val="7C3AED"/>
          </a:solidFill>
          <a:ln/>
        </p:spPr>
      </p:sp>
      <p:sp>
        <p:nvSpPr>
          <p:cNvPr id="27" name="Text 25"/>
          <p:cNvSpPr/>
          <p:nvPr/>
        </p:nvSpPr>
        <p:spPr>
          <a:xfrm>
            <a:off x="6720840" y="23134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3D CAD viewer + B-rep AI</a:t>
            </a:r>
            <a:endParaRPr lang="en-US" sz="1000" dirty="0"/>
          </a:p>
        </p:txBody>
      </p:sp>
      <p:sp>
        <p:nvSpPr>
          <p:cNvPr id="28" name="Shape 26"/>
          <p:cNvSpPr/>
          <p:nvPr/>
        </p:nvSpPr>
        <p:spPr>
          <a:xfrm>
            <a:off x="9144000" y="2368296"/>
            <a:ext cx="91440" cy="91440"/>
          </a:xfrm>
          <a:prstGeom prst="ellipse">
            <a:avLst/>
          </a:prstGeom>
          <a:solidFill>
            <a:srgbClr val="7C3AED"/>
          </a:solidFill>
          <a:ln/>
        </p:spPr>
      </p:sp>
      <p:sp>
        <p:nvSpPr>
          <p:cNvPr id="29" name="Text 27"/>
          <p:cNvSpPr/>
          <p:nvPr/>
        </p:nvSpPr>
        <p:spPr>
          <a:xfrm>
            <a:off x="9326880" y="23134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Geometry feature table</a:t>
            </a:r>
            <a:endParaRPr lang="en-US" sz="1000" dirty="0"/>
          </a:p>
        </p:txBody>
      </p:sp>
      <p:sp>
        <p:nvSpPr>
          <p:cNvPr id="30" name="Shape 28"/>
          <p:cNvSpPr/>
          <p:nvPr/>
        </p:nvSpPr>
        <p:spPr>
          <a:xfrm>
            <a:off x="6537960" y="2825496"/>
            <a:ext cx="91440" cy="91440"/>
          </a:xfrm>
          <a:prstGeom prst="ellipse">
            <a:avLst/>
          </a:prstGeom>
          <a:solidFill>
            <a:srgbClr val="7C3AED"/>
          </a:solidFill>
          <a:ln/>
        </p:spPr>
      </p:sp>
      <p:sp>
        <p:nvSpPr>
          <p:cNvPr id="31" name="Text 29"/>
          <p:cNvSpPr/>
          <p:nvPr/>
        </p:nvSpPr>
        <p:spPr>
          <a:xfrm>
            <a:off x="6720840" y="27706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Grounded AI assistant</a:t>
            </a:r>
            <a:endParaRPr lang="en-US" sz="1000" dirty="0"/>
          </a:p>
        </p:txBody>
      </p:sp>
      <p:sp>
        <p:nvSpPr>
          <p:cNvPr id="32" name="Shape 30"/>
          <p:cNvSpPr/>
          <p:nvPr/>
        </p:nvSpPr>
        <p:spPr>
          <a:xfrm>
            <a:off x="9144000" y="2825496"/>
            <a:ext cx="91440" cy="91440"/>
          </a:xfrm>
          <a:prstGeom prst="ellipse">
            <a:avLst/>
          </a:prstGeom>
          <a:solidFill>
            <a:srgbClr val="7C3AED"/>
          </a:solidFill>
          <a:ln/>
        </p:spPr>
      </p:sp>
      <p:sp>
        <p:nvSpPr>
          <p:cNvPr id="33" name="Text 31"/>
          <p:cNvSpPr/>
          <p:nvPr/>
        </p:nvSpPr>
        <p:spPr>
          <a:xfrm>
            <a:off x="9326880" y="27706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RFQ analyst</a:t>
            </a:r>
            <a:endParaRPr lang="en-US" sz="1000" dirty="0"/>
          </a:p>
        </p:txBody>
      </p:sp>
      <p:sp>
        <p:nvSpPr>
          <p:cNvPr id="34" name="Shape 32"/>
          <p:cNvSpPr/>
          <p:nvPr/>
        </p:nvSpPr>
        <p:spPr>
          <a:xfrm>
            <a:off x="6537960" y="3227832"/>
            <a:ext cx="91440" cy="91440"/>
          </a:xfrm>
          <a:prstGeom prst="ellipse">
            <a:avLst/>
          </a:prstGeom>
          <a:solidFill>
            <a:srgbClr val="7C3AED"/>
          </a:solidFill>
          <a:ln/>
        </p:spPr>
      </p:sp>
      <p:sp>
        <p:nvSpPr>
          <p:cNvPr id="35" name="Text 33"/>
          <p:cNvSpPr/>
          <p:nvPr/>
        </p:nvSpPr>
        <p:spPr>
          <a:xfrm>
            <a:off x="6720840" y="3172968"/>
            <a:ext cx="4663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Carbon co-costing</a:t>
            </a:r>
            <a:endParaRPr lang="en-US" sz="1000" dirty="0"/>
          </a:p>
        </p:txBody>
      </p:sp>
      <p:sp>
        <p:nvSpPr>
          <p:cNvPr id="36" name="Shape 34"/>
          <p:cNvSpPr/>
          <p:nvPr/>
        </p:nvSpPr>
        <p:spPr>
          <a:xfrm>
            <a:off x="548640" y="4096512"/>
            <a:ext cx="5394960" cy="2148840"/>
          </a:xfrm>
          <a:prstGeom prst="roundRect">
            <a:avLst>
              <a:gd name="adj" fmla="val 2979"/>
            </a:avLst>
          </a:prstGeom>
          <a:solidFill>
            <a:srgbClr val="FFFFFF"/>
          </a:solidFill>
          <a:ln w="12700">
            <a:solidFill>
              <a:srgbClr val="E4EAF2"/>
            </a:solidFill>
            <a:prstDash val="solid"/>
          </a:ln>
          <a:effectLst>
            <a:outerShdw sx="100000" sy="100000" kx="0" ky="0" algn="bl" rotWithShape="0" blurRad="3.2059561307037426e+66" dist="9.15987465915355e+65" dir="2.5389989167104004e+78">
              <a:srgbClr val="9DB0CC">
                <a:alpha val="2.2000000000000002e+79"/>
              </a:srgbClr>
            </a:outerShdw>
          </a:effectLst>
        </p:spPr>
      </p:sp>
      <p:sp>
        <p:nvSpPr>
          <p:cNvPr id="37" name="Shape 35"/>
          <p:cNvSpPr/>
          <p:nvPr/>
        </p:nvSpPr>
        <p:spPr>
          <a:xfrm>
            <a:off x="548640" y="4096512"/>
            <a:ext cx="82296" cy="2148840"/>
          </a:xfrm>
          <a:prstGeom prst="rect">
            <a:avLst/>
          </a:prstGeom>
          <a:solidFill>
            <a:srgbClr val="0DA5A0"/>
          </a:solidFill>
          <a:ln/>
        </p:spPr>
      </p:sp>
      <p:sp>
        <p:nvSpPr>
          <p:cNvPr id="38" name="Text 36"/>
          <p:cNvSpPr/>
          <p:nvPr/>
        </p:nvSpPr>
        <p:spPr>
          <a:xfrm>
            <a:off x="822960" y="4261104"/>
            <a:ext cx="4937760" cy="320040"/>
          </a:xfrm>
          <a:prstGeom prst="rect">
            <a:avLst/>
          </a:prstGeom>
          <a:noFill/>
          <a:ln/>
        </p:spPr>
        <p:txBody>
          <a:bodyPr wrap="square" lIns="0" tIns="0" rIns="0" bIns="0" rtlCol="0" anchor="t"/>
          <a:lstStyle/>
          <a:p>
            <a:pPr indent="0" marL="0">
              <a:buNone/>
            </a:pPr>
            <a:r>
              <a:rPr lang="en-US" sz="1350" b="1" spc="50" kern="0" dirty="0">
                <a:solidFill>
                  <a:srgbClr val="0DA5A0"/>
                </a:solidFill>
                <a:latin typeface="Calibri" pitchFamily="34" charset="0"/>
                <a:ea typeface="Calibri" pitchFamily="34" charset="-122"/>
                <a:cs typeface="Calibri" pitchFamily="34" charset="-120"/>
              </a:rPr>
              <a:t>DECIDE &amp; NEGOTIATE</a:t>
            </a:r>
            <a:endParaRPr lang="en-US" sz="1350" dirty="0"/>
          </a:p>
        </p:txBody>
      </p:sp>
      <p:sp>
        <p:nvSpPr>
          <p:cNvPr id="39" name="Shape 37"/>
          <p:cNvSpPr/>
          <p:nvPr/>
        </p:nvSpPr>
        <p:spPr>
          <a:xfrm>
            <a:off x="841248" y="4773168"/>
            <a:ext cx="91440" cy="91440"/>
          </a:xfrm>
          <a:prstGeom prst="ellipse">
            <a:avLst/>
          </a:prstGeom>
          <a:solidFill>
            <a:srgbClr val="0DA5A0"/>
          </a:solidFill>
          <a:ln/>
        </p:spPr>
      </p:sp>
      <p:sp>
        <p:nvSpPr>
          <p:cNvPr id="40" name="Text 38"/>
          <p:cNvSpPr/>
          <p:nvPr/>
        </p:nvSpPr>
        <p:spPr>
          <a:xfrm>
            <a:off x="1024128" y="47183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Negotiation Intelligence</a:t>
            </a:r>
            <a:endParaRPr lang="en-US" sz="1000" dirty="0"/>
          </a:p>
        </p:txBody>
      </p:sp>
      <p:sp>
        <p:nvSpPr>
          <p:cNvPr id="41" name="Shape 39"/>
          <p:cNvSpPr/>
          <p:nvPr/>
        </p:nvSpPr>
        <p:spPr>
          <a:xfrm>
            <a:off x="3447288" y="4773168"/>
            <a:ext cx="91440" cy="91440"/>
          </a:xfrm>
          <a:prstGeom prst="ellipse">
            <a:avLst/>
          </a:prstGeom>
          <a:solidFill>
            <a:srgbClr val="0DA5A0"/>
          </a:solidFill>
          <a:ln/>
        </p:spPr>
      </p:sp>
      <p:sp>
        <p:nvSpPr>
          <p:cNvPr id="42" name="Text 40"/>
          <p:cNvSpPr/>
          <p:nvPr/>
        </p:nvSpPr>
        <p:spPr>
          <a:xfrm>
            <a:off x="3630168" y="47183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20-region should-cost</a:t>
            </a:r>
            <a:endParaRPr lang="en-US" sz="1000" dirty="0"/>
          </a:p>
        </p:txBody>
      </p:sp>
      <p:sp>
        <p:nvSpPr>
          <p:cNvPr id="43" name="Shape 41"/>
          <p:cNvSpPr/>
          <p:nvPr/>
        </p:nvSpPr>
        <p:spPr>
          <a:xfrm>
            <a:off x="841248" y="5230368"/>
            <a:ext cx="91440" cy="91440"/>
          </a:xfrm>
          <a:prstGeom prst="ellipse">
            <a:avLst/>
          </a:prstGeom>
          <a:solidFill>
            <a:srgbClr val="0DA5A0"/>
          </a:solidFill>
          <a:ln/>
        </p:spPr>
      </p:sp>
      <p:sp>
        <p:nvSpPr>
          <p:cNvPr id="44" name="Text 42"/>
          <p:cNvSpPr/>
          <p:nvPr/>
        </p:nvSpPr>
        <p:spPr>
          <a:xfrm>
            <a:off x="1024128" y="51755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Volume &amp; what-if scenarios</a:t>
            </a:r>
            <a:endParaRPr lang="en-US" sz="1000" dirty="0"/>
          </a:p>
        </p:txBody>
      </p:sp>
      <p:sp>
        <p:nvSpPr>
          <p:cNvPr id="45" name="Shape 43"/>
          <p:cNvSpPr/>
          <p:nvPr/>
        </p:nvSpPr>
        <p:spPr>
          <a:xfrm>
            <a:off x="3447288" y="5230368"/>
            <a:ext cx="91440" cy="91440"/>
          </a:xfrm>
          <a:prstGeom prst="ellipse">
            <a:avLst/>
          </a:prstGeom>
          <a:solidFill>
            <a:srgbClr val="0DA5A0"/>
          </a:solidFill>
          <a:ln/>
        </p:spPr>
      </p:sp>
      <p:sp>
        <p:nvSpPr>
          <p:cNvPr id="46" name="Text 44"/>
          <p:cNvSpPr/>
          <p:nvPr/>
        </p:nvSpPr>
        <p:spPr>
          <a:xfrm>
            <a:off x="3630168" y="51755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Conformal confidence bands</a:t>
            </a:r>
            <a:endParaRPr lang="en-US" sz="1000" dirty="0"/>
          </a:p>
        </p:txBody>
      </p:sp>
      <p:sp>
        <p:nvSpPr>
          <p:cNvPr id="47" name="Shape 45"/>
          <p:cNvSpPr/>
          <p:nvPr/>
        </p:nvSpPr>
        <p:spPr>
          <a:xfrm>
            <a:off x="841248" y="5632704"/>
            <a:ext cx="91440" cy="91440"/>
          </a:xfrm>
          <a:prstGeom prst="ellipse">
            <a:avLst/>
          </a:prstGeom>
          <a:solidFill>
            <a:srgbClr val="0DA5A0"/>
          </a:solidFill>
          <a:ln/>
        </p:spPr>
      </p:sp>
      <p:sp>
        <p:nvSpPr>
          <p:cNvPr id="48" name="Text 46"/>
          <p:cNvSpPr/>
          <p:nvPr/>
        </p:nvSpPr>
        <p:spPr>
          <a:xfrm>
            <a:off x="1024128" y="5577840"/>
            <a:ext cx="4663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Causal negotiation coach</a:t>
            </a:r>
            <a:endParaRPr lang="en-US" sz="1000" dirty="0"/>
          </a:p>
        </p:txBody>
      </p:sp>
      <p:sp>
        <p:nvSpPr>
          <p:cNvPr id="49" name="Shape 47"/>
          <p:cNvSpPr/>
          <p:nvPr/>
        </p:nvSpPr>
        <p:spPr>
          <a:xfrm>
            <a:off x="6245352" y="4096512"/>
            <a:ext cx="5394960" cy="2148840"/>
          </a:xfrm>
          <a:prstGeom prst="roundRect">
            <a:avLst>
              <a:gd name="adj" fmla="val 2979"/>
            </a:avLst>
          </a:prstGeom>
          <a:solidFill>
            <a:srgbClr val="FFFFFF"/>
          </a:solidFill>
          <a:ln w="12700">
            <a:solidFill>
              <a:srgbClr val="E4EAF2"/>
            </a:solidFill>
            <a:prstDash val="solid"/>
          </a:ln>
          <a:effectLst>
            <a:outerShdw sx="100000" sy="100000" kx="0" ky="0" algn="bl" rotWithShape="0" blurRad="4.071564285993753e+70" dist="1.1633040817125008e+70" dir="1.5233993500262402e+83">
              <a:srgbClr val="9DB0CC">
                <a:alpha val="2.2000000000000003e+84"/>
              </a:srgbClr>
            </a:outerShdw>
          </a:effectLst>
        </p:spPr>
      </p:sp>
      <p:sp>
        <p:nvSpPr>
          <p:cNvPr id="50" name="Shape 48"/>
          <p:cNvSpPr/>
          <p:nvPr/>
        </p:nvSpPr>
        <p:spPr>
          <a:xfrm>
            <a:off x="6245352" y="4096512"/>
            <a:ext cx="82296" cy="2148840"/>
          </a:xfrm>
          <a:prstGeom prst="rect">
            <a:avLst/>
          </a:prstGeom>
          <a:solidFill>
            <a:srgbClr val="0EA472"/>
          </a:solidFill>
          <a:ln/>
        </p:spPr>
      </p:sp>
      <p:sp>
        <p:nvSpPr>
          <p:cNvPr id="51" name="Text 49"/>
          <p:cNvSpPr/>
          <p:nvPr/>
        </p:nvSpPr>
        <p:spPr>
          <a:xfrm>
            <a:off x="6519672" y="4261104"/>
            <a:ext cx="4937760" cy="320040"/>
          </a:xfrm>
          <a:prstGeom prst="rect">
            <a:avLst/>
          </a:prstGeom>
          <a:noFill/>
          <a:ln/>
        </p:spPr>
        <p:txBody>
          <a:bodyPr wrap="square" lIns="0" tIns="0" rIns="0" bIns="0" rtlCol="0" anchor="t"/>
          <a:lstStyle/>
          <a:p>
            <a:pPr indent="0" marL="0">
              <a:buNone/>
            </a:pPr>
            <a:r>
              <a:rPr lang="en-US" sz="1350" b="1" spc="50" kern="0" dirty="0">
                <a:solidFill>
                  <a:srgbClr val="0EA472"/>
                </a:solidFill>
                <a:latin typeface="Calibri" pitchFamily="34" charset="0"/>
                <a:ea typeface="Calibri" pitchFamily="34" charset="-122"/>
                <a:cs typeface="Calibri" pitchFamily="34" charset="-120"/>
              </a:rPr>
              <a:t>LEARN &amp; GOVERN</a:t>
            </a:r>
            <a:endParaRPr lang="en-US" sz="1350" dirty="0"/>
          </a:p>
        </p:txBody>
      </p:sp>
      <p:sp>
        <p:nvSpPr>
          <p:cNvPr id="52" name="Shape 50"/>
          <p:cNvSpPr/>
          <p:nvPr/>
        </p:nvSpPr>
        <p:spPr>
          <a:xfrm>
            <a:off x="6537960" y="4773168"/>
            <a:ext cx="91440" cy="91440"/>
          </a:xfrm>
          <a:prstGeom prst="ellipse">
            <a:avLst/>
          </a:prstGeom>
          <a:solidFill>
            <a:srgbClr val="0EA472"/>
          </a:solidFill>
          <a:ln/>
        </p:spPr>
      </p:sp>
      <p:sp>
        <p:nvSpPr>
          <p:cNvPr id="53" name="Text 51"/>
          <p:cNvSpPr/>
          <p:nvPr/>
        </p:nvSpPr>
        <p:spPr>
          <a:xfrm>
            <a:off x="6720840" y="47183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Agentic memory &amp; recall</a:t>
            </a:r>
            <a:endParaRPr lang="en-US" sz="1000" dirty="0"/>
          </a:p>
        </p:txBody>
      </p:sp>
      <p:sp>
        <p:nvSpPr>
          <p:cNvPr id="54" name="Shape 52"/>
          <p:cNvSpPr/>
          <p:nvPr/>
        </p:nvSpPr>
        <p:spPr>
          <a:xfrm>
            <a:off x="9144000" y="4773168"/>
            <a:ext cx="91440" cy="91440"/>
          </a:xfrm>
          <a:prstGeom prst="ellipse">
            <a:avLst/>
          </a:prstGeom>
          <a:solidFill>
            <a:srgbClr val="0EA472"/>
          </a:solidFill>
          <a:ln/>
        </p:spPr>
      </p:sp>
      <p:sp>
        <p:nvSpPr>
          <p:cNvPr id="55" name="Text 53"/>
          <p:cNvSpPr/>
          <p:nvPr/>
        </p:nvSpPr>
        <p:spPr>
          <a:xfrm>
            <a:off x="9326880" y="47183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Self-correction from quotes</a:t>
            </a:r>
            <a:endParaRPr lang="en-US" sz="1000" dirty="0"/>
          </a:p>
        </p:txBody>
      </p:sp>
      <p:sp>
        <p:nvSpPr>
          <p:cNvPr id="56" name="Shape 54"/>
          <p:cNvSpPr/>
          <p:nvPr/>
        </p:nvSpPr>
        <p:spPr>
          <a:xfrm>
            <a:off x="6537960" y="5230368"/>
            <a:ext cx="91440" cy="91440"/>
          </a:xfrm>
          <a:prstGeom prst="ellipse">
            <a:avLst/>
          </a:prstGeom>
          <a:solidFill>
            <a:srgbClr val="0EA472"/>
          </a:solidFill>
          <a:ln/>
        </p:spPr>
      </p:sp>
      <p:sp>
        <p:nvSpPr>
          <p:cNvPr id="57" name="Text 55"/>
          <p:cNvSpPr/>
          <p:nvPr/>
        </p:nvSpPr>
        <p:spPr>
          <a:xfrm>
            <a:off x="6720840" y="51755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Autonomous savings agent</a:t>
            </a:r>
            <a:endParaRPr lang="en-US" sz="1000" dirty="0"/>
          </a:p>
        </p:txBody>
      </p:sp>
      <p:sp>
        <p:nvSpPr>
          <p:cNvPr id="58" name="Shape 56"/>
          <p:cNvSpPr/>
          <p:nvPr/>
        </p:nvSpPr>
        <p:spPr>
          <a:xfrm>
            <a:off x="9144000" y="5230368"/>
            <a:ext cx="91440" cy="91440"/>
          </a:xfrm>
          <a:prstGeom prst="ellipse">
            <a:avLst/>
          </a:prstGeom>
          <a:solidFill>
            <a:srgbClr val="0EA472"/>
          </a:solidFill>
          <a:ln/>
        </p:spPr>
      </p:sp>
      <p:sp>
        <p:nvSpPr>
          <p:cNvPr id="59" name="Text 57"/>
          <p:cNvSpPr/>
          <p:nvPr/>
        </p:nvSpPr>
        <p:spPr>
          <a:xfrm>
            <a:off x="9326880" y="51755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Full audit trail / provenance</a:t>
            </a:r>
            <a:endParaRPr lang="en-US" sz="1000" dirty="0"/>
          </a:p>
        </p:txBody>
      </p:sp>
      <p:sp>
        <p:nvSpPr>
          <p:cNvPr id="60" name="Shape 58"/>
          <p:cNvSpPr/>
          <p:nvPr/>
        </p:nvSpPr>
        <p:spPr>
          <a:xfrm>
            <a:off x="6537960" y="5632704"/>
            <a:ext cx="91440" cy="91440"/>
          </a:xfrm>
          <a:prstGeom prst="ellipse">
            <a:avLst/>
          </a:prstGeom>
          <a:solidFill>
            <a:srgbClr val="0EA472"/>
          </a:solidFill>
          <a:ln/>
        </p:spPr>
      </p:sp>
      <p:sp>
        <p:nvSpPr>
          <p:cNvPr id="61" name="Text 59"/>
          <p:cNvSpPr/>
          <p:nvPr/>
        </p:nvSpPr>
        <p:spPr>
          <a:xfrm>
            <a:off x="6720840" y="5577840"/>
            <a:ext cx="4663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On-premise &amp; secure</a:t>
            </a:r>
            <a:endParaRPr lang="en-US" sz="1000" dirty="0"/>
          </a:p>
        </p:txBody>
      </p:sp>
      <p:sp>
        <p:nvSpPr>
          <p:cNvPr id="62" name="Shape 60"/>
          <p:cNvSpPr/>
          <p:nvPr/>
        </p:nvSpPr>
        <p:spPr>
          <a:xfrm>
            <a:off x="548640" y="6400800"/>
            <a:ext cx="11094415" cy="12802"/>
          </a:xfrm>
          <a:prstGeom prst="rect">
            <a:avLst/>
          </a:prstGeom>
          <a:solidFill>
            <a:srgbClr val="E4EAF2"/>
          </a:solidFill>
          <a:ln/>
        </p:spPr>
      </p:sp>
      <p:sp>
        <p:nvSpPr>
          <p:cNvPr id="63" name="Text 61"/>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64" name="Text 62"/>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6 / 25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DA5A0"/>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DA5A0"/>
                </a:solidFill>
                <a:latin typeface="Calibri" pitchFamily="34" charset="0"/>
                <a:ea typeface="Calibri" pitchFamily="34" charset="-122"/>
                <a:cs typeface="Calibri" pitchFamily="34" charset="-120"/>
              </a:rPr>
              <a:t>DEEP DIVE · CAD TO COST</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CAD → Cost — from a 3D model to a should-cost</a:t>
            </a:r>
            <a:endParaRPr lang="en-US" sz="2400" dirty="0"/>
          </a:p>
        </p:txBody>
      </p:sp>
      <p:sp>
        <p:nvSpPr>
          <p:cNvPr id="9" name="Shape 7"/>
          <p:cNvSpPr/>
          <p:nvPr/>
        </p:nvSpPr>
        <p:spPr>
          <a:xfrm>
            <a:off x="548640" y="1371600"/>
            <a:ext cx="1051560" cy="45720"/>
          </a:xfrm>
          <a:prstGeom prst="rect">
            <a:avLst/>
          </a:prstGeom>
          <a:solidFill>
            <a:srgbClr val="0DA5A0"/>
          </a:solidFill>
          <a:ln/>
        </p:spPr>
      </p:sp>
      <p:sp>
        <p:nvSpPr>
          <p:cNvPr id="10" name="Text 8"/>
          <p:cNvSpPr/>
          <p:nvPr/>
        </p:nvSpPr>
        <p:spPr>
          <a:xfrm>
            <a:off x="548640" y="1554480"/>
            <a:ext cx="11064240" cy="457200"/>
          </a:xfrm>
          <a:prstGeom prst="rect">
            <a:avLst/>
          </a:prstGeom>
          <a:noFill/>
          <a:ln/>
        </p:spPr>
        <p:txBody>
          <a:bodyPr wrap="square" lIns="0" tIns="0" rIns="0" bIns="0" rtlCol="0" anchor="t"/>
          <a:lstStyle/>
          <a:p>
            <a:pPr indent="0" marL="0">
              <a:lnSpc>
                <a:spcPct val="110000"/>
              </a:lnSpc>
              <a:buNone/>
            </a:pPr>
            <a:r>
              <a:rPr lang="en-US" sz="1250" dirty="0">
                <a:solidFill>
                  <a:srgbClr val="3E4C63"/>
                </a:solidFill>
                <a:latin typeface="Calibri" pitchFamily="34" charset="0"/>
                <a:ea typeface="Calibri" pitchFamily="34" charset="-122"/>
                <a:cs typeface="Calibri" pitchFamily="34" charset="-120"/>
              </a:rPr>
              <a:t>Drop in a 3D model and CostVision reads the geometry, recognises the manufacturing features, and prices the part — with every number traced back to the model.</a:t>
            </a:r>
            <a:endParaRPr lang="en-US" sz="1250" dirty="0"/>
          </a:p>
        </p:txBody>
      </p:sp>
      <p:sp>
        <p:nvSpPr>
          <p:cNvPr id="11" name="Shape 9"/>
          <p:cNvSpPr/>
          <p:nvPr/>
        </p:nvSpPr>
        <p:spPr>
          <a:xfrm>
            <a:off x="548640" y="2286000"/>
            <a:ext cx="2542032" cy="2834640"/>
          </a:xfrm>
          <a:prstGeom prst="roundRect">
            <a:avLst>
              <a:gd name="adj" fmla="val 2518"/>
            </a:avLst>
          </a:prstGeom>
          <a:solidFill>
            <a:srgbClr val="FFFFFF"/>
          </a:solidFill>
          <a:ln w="12700">
            <a:solidFill>
              <a:srgbClr val="E4EAF2"/>
            </a:solidFill>
            <a:prstDash val="solid"/>
          </a:ln>
          <a:effectLst>
            <a:outerShdw sx="100000" sy="100000" kx="0" ky="0" algn="bl" rotWithShape="0" blurRad="5.170886643212067e+74" dist="1.477396183774876e+74" dir="9.14039610015744e+87">
              <a:srgbClr val="9DB0CC">
                <a:alpha val="2.2000000000000003e+89"/>
              </a:srgbClr>
            </a:outerShdw>
          </a:effectLst>
        </p:spPr>
      </p:sp>
      <p:sp>
        <p:nvSpPr>
          <p:cNvPr id="12" name="Shape 10"/>
          <p:cNvSpPr/>
          <p:nvPr/>
        </p:nvSpPr>
        <p:spPr>
          <a:xfrm>
            <a:off x="548640" y="2286000"/>
            <a:ext cx="82296" cy="2834640"/>
          </a:xfrm>
          <a:prstGeom prst="rect">
            <a:avLst/>
          </a:prstGeom>
          <a:solidFill>
            <a:srgbClr val="0DA5A0"/>
          </a:solidFill>
          <a:ln/>
        </p:spPr>
      </p:sp>
      <p:sp>
        <p:nvSpPr>
          <p:cNvPr id="13" name="Shape 11"/>
          <p:cNvSpPr/>
          <p:nvPr/>
        </p:nvSpPr>
        <p:spPr>
          <a:xfrm>
            <a:off x="1453896" y="2578608"/>
            <a:ext cx="731520" cy="731520"/>
          </a:xfrm>
          <a:prstGeom prst="ellipse">
            <a:avLst/>
          </a:prstGeom>
          <a:solidFill>
            <a:srgbClr val="E7F7F0"/>
          </a:solidFill>
          <a:ln/>
        </p:spPr>
      </p:sp>
      <p:sp>
        <p:nvSpPr>
          <p:cNvPr id="14" name="Text 12"/>
          <p:cNvSpPr/>
          <p:nvPr/>
        </p:nvSpPr>
        <p:spPr>
          <a:xfrm>
            <a:off x="1453896" y="2569464"/>
            <a:ext cx="731520" cy="731520"/>
          </a:xfrm>
          <a:prstGeom prst="rect">
            <a:avLst/>
          </a:prstGeom>
          <a:noFill/>
          <a:ln/>
        </p:spPr>
        <p:txBody>
          <a:bodyPr wrap="square" lIns="0" tIns="0" rIns="0" bIns="0" rtlCol="0" anchor="ctr"/>
          <a:lstStyle/>
          <a:p>
            <a:pPr algn="ctr" indent="0" marL="0">
              <a:buNone/>
            </a:pPr>
            <a:r>
              <a:rPr lang="en-US" sz="2500" b="1" dirty="0">
                <a:solidFill>
                  <a:srgbClr val="0DA5A0"/>
                </a:solidFill>
                <a:latin typeface="Calibri" pitchFamily="34" charset="0"/>
                <a:ea typeface="Calibri" pitchFamily="34" charset="-122"/>
                <a:cs typeface="Calibri" pitchFamily="34" charset="-120"/>
              </a:rPr>
              <a:t>◧</a:t>
            </a:r>
            <a:endParaRPr lang="en-US" sz="2500" dirty="0"/>
          </a:p>
        </p:txBody>
      </p:sp>
      <p:sp>
        <p:nvSpPr>
          <p:cNvPr id="15" name="Text 13"/>
          <p:cNvSpPr/>
          <p:nvPr/>
        </p:nvSpPr>
        <p:spPr>
          <a:xfrm>
            <a:off x="768096" y="3493008"/>
            <a:ext cx="2130552" cy="548640"/>
          </a:xfrm>
          <a:prstGeom prst="rect">
            <a:avLst/>
          </a:prstGeom>
          <a:noFill/>
          <a:ln/>
        </p:spPr>
        <p:txBody>
          <a:bodyPr wrap="square" lIns="0" tIns="0" rIns="0" bIns="0" rtlCol="0" anchor="t"/>
          <a:lstStyle/>
          <a:p>
            <a:pPr algn="ctr" indent="0" marL="0">
              <a:lnSpc>
                <a:spcPct val="100000"/>
              </a:lnSpc>
              <a:buNone/>
            </a:pPr>
            <a:r>
              <a:rPr lang="en-US" sz="1300" b="1" dirty="0">
                <a:solidFill>
                  <a:srgbClr val="0DA5A0"/>
                </a:solidFill>
                <a:latin typeface="Calibri" pitchFamily="34" charset="0"/>
                <a:ea typeface="Calibri" pitchFamily="34" charset="-122"/>
                <a:cs typeface="Calibri" pitchFamily="34" charset="-120"/>
              </a:rPr>
              <a:t>Reads the real geometry</a:t>
            </a:r>
            <a:endParaRPr lang="en-US" sz="1300" dirty="0"/>
          </a:p>
        </p:txBody>
      </p:sp>
      <p:sp>
        <p:nvSpPr>
          <p:cNvPr id="16" name="Text 14"/>
          <p:cNvSpPr/>
          <p:nvPr/>
        </p:nvSpPr>
        <p:spPr>
          <a:xfrm>
            <a:off x="786384" y="4114800"/>
            <a:ext cx="2084832" cy="91440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A true geometry engine (OCCT / STL) measures volume, bounding box and surface area — measured ground truth, not a guess.</a:t>
            </a:r>
            <a:endParaRPr lang="en-US" sz="1000" dirty="0"/>
          </a:p>
        </p:txBody>
      </p:sp>
      <p:sp>
        <p:nvSpPr>
          <p:cNvPr id="17" name="Shape 15"/>
          <p:cNvSpPr/>
          <p:nvPr/>
        </p:nvSpPr>
        <p:spPr>
          <a:xfrm>
            <a:off x="3419856" y="2286000"/>
            <a:ext cx="2542032" cy="2834640"/>
          </a:xfrm>
          <a:prstGeom prst="roundRect">
            <a:avLst>
              <a:gd name="adj" fmla="val 2518"/>
            </a:avLst>
          </a:prstGeom>
          <a:solidFill>
            <a:srgbClr val="FFFFFF"/>
          </a:solidFill>
          <a:ln w="12700">
            <a:solidFill>
              <a:srgbClr val="E4EAF2"/>
            </a:solidFill>
            <a:prstDash val="solid"/>
          </a:ln>
          <a:effectLst>
            <a:outerShdw sx="100000" sy="100000" kx="0" ky="0" algn="bl" rotWithShape="0" blurRad="6.567026036879325e+78" dist="1.8762931533940924e+78" dir="5.484237660094465e+92">
              <a:srgbClr val="9DB0CC">
                <a:alpha val="2.2e+94"/>
              </a:srgbClr>
            </a:outerShdw>
          </a:effectLst>
        </p:spPr>
      </p:sp>
      <p:sp>
        <p:nvSpPr>
          <p:cNvPr id="18" name="Shape 16"/>
          <p:cNvSpPr/>
          <p:nvPr/>
        </p:nvSpPr>
        <p:spPr>
          <a:xfrm>
            <a:off x="3419856" y="2286000"/>
            <a:ext cx="82296" cy="2834640"/>
          </a:xfrm>
          <a:prstGeom prst="rect">
            <a:avLst/>
          </a:prstGeom>
          <a:solidFill>
            <a:srgbClr val="2563EB"/>
          </a:solidFill>
          <a:ln/>
        </p:spPr>
      </p:sp>
      <p:sp>
        <p:nvSpPr>
          <p:cNvPr id="19" name="Shape 17"/>
          <p:cNvSpPr/>
          <p:nvPr/>
        </p:nvSpPr>
        <p:spPr>
          <a:xfrm>
            <a:off x="4325112" y="2578608"/>
            <a:ext cx="731520" cy="731520"/>
          </a:xfrm>
          <a:prstGeom prst="ellipse">
            <a:avLst/>
          </a:prstGeom>
          <a:solidFill>
            <a:srgbClr val="EAF1FE"/>
          </a:solidFill>
          <a:ln/>
        </p:spPr>
      </p:sp>
      <p:sp>
        <p:nvSpPr>
          <p:cNvPr id="20" name="Text 18"/>
          <p:cNvSpPr/>
          <p:nvPr/>
        </p:nvSpPr>
        <p:spPr>
          <a:xfrm>
            <a:off x="4325112" y="2569464"/>
            <a:ext cx="731520" cy="731520"/>
          </a:xfrm>
          <a:prstGeom prst="rect">
            <a:avLst/>
          </a:prstGeom>
          <a:noFill/>
          <a:ln/>
        </p:spPr>
        <p:txBody>
          <a:bodyPr wrap="square" lIns="0" tIns="0" rIns="0" bIns="0" rtlCol="0" anchor="ctr"/>
          <a:lstStyle/>
          <a:p>
            <a:pPr algn="ctr" indent="0" marL="0">
              <a:buNone/>
            </a:pPr>
            <a:r>
              <a:rPr lang="en-US" sz="2500" b="1" dirty="0">
                <a:solidFill>
                  <a:srgbClr val="2563EB"/>
                </a:solidFill>
                <a:latin typeface="Calibri" pitchFamily="34" charset="0"/>
                <a:ea typeface="Calibri" pitchFamily="34" charset="-122"/>
                <a:cs typeface="Calibri" pitchFamily="34" charset="-120"/>
              </a:rPr>
              <a:t>◈</a:t>
            </a:r>
            <a:endParaRPr lang="en-US" sz="2500" dirty="0"/>
          </a:p>
        </p:txBody>
      </p:sp>
      <p:sp>
        <p:nvSpPr>
          <p:cNvPr id="21" name="Text 19"/>
          <p:cNvSpPr/>
          <p:nvPr/>
        </p:nvSpPr>
        <p:spPr>
          <a:xfrm>
            <a:off x="3639312" y="3493008"/>
            <a:ext cx="2130552" cy="548640"/>
          </a:xfrm>
          <a:prstGeom prst="rect">
            <a:avLst/>
          </a:prstGeom>
          <a:noFill/>
          <a:ln/>
        </p:spPr>
        <p:txBody>
          <a:bodyPr wrap="square" lIns="0" tIns="0" rIns="0" bIns="0" rtlCol="0" anchor="t"/>
          <a:lstStyle/>
          <a:p>
            <a:pPr algn="ctr" indent="0" marL="0">
              <a:lnSpc>
                <a:spcPct val="100000"/>
              </a:lnSpc>
              <a:buNone/>
            </a:pPr>
            <a:r>
              <a:rPr lang="en-US" sz="1300" b="1" dirty="0">
                <a:solidFill>
                  <a:srgbClr val="2563EB"/>
                </a:solidFill>
                <a:latin typeface="Calibri" pitchFamily="34" charset="0"/>
                <a:ea typeface="Calibri" pitchFamily="34" charset="-122"/>
                <a:cs typeface="Calibri" pitchFamily="34" charset="-120"/>
              </a:rPr>
              <a:t>Recognises features</a:t>
            </a:r>
            <a:endParaRPr lang="en-US" sz="1300" dirty="0"/>
          </a:p>
        </p:txBody>
      </p:sp>
      <p:sp>
        <p:nvSpPr>
          <p:cNvPr id="22" name="Text 20"/>
          <p:cNvSpPr/>
          <p:nvPr/>
        </p:nvSpPr>
        <p:spPr>
          <a:xfrm>
            <a:off x="3657600" y="4114800"/>
            <a:ext cx="2084832" cy="91440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Holes, pockets, slots, bends and faces are detected and turned into machining operations automatically.</a:t>
            </a:r>
            <a:endParaRPr lang="en-US" sz="1000" dirty="0"/>
          </a:p>
        </p:txBody>
      </p:sp>
      <p:sp>
        <p:nvSpPr>
          <p:cNvPr id="23" name="Shape 21"/>
          <p:cNvSpPr/>
          <p:nvPr/>
        </p:nvSpPr>
        <p:spPr>
          <a:xfrm>
            <a:off x="6291072" y="2286000"/>
            <a:ext cx="2542032" cy="2834640"/>
          </a:xfrm>
          <a:prstGeom prst="roundRect">
            <a:avLst>
              <a:gd name="adj" fmla="val 2518"/>
            </a:avLst>
          </a:prstGeom>
          <a:solidFill>
            <a:srgbClr val="FFFFFF"/>
          </a:solidFill>
          <a:ln w="12700">
            <a:solidFill>
              <a:srgbClr val="E4EAF2"/>
            </a:solidFill>
            <a:prstDash val="solid"/>
          </a:ln>
          <a:effectLst>
            <a:outerShdw sx="100000" sy="100000" kx="0" ky="0" algn="bl" rotWithShape="0" blurRad="8.340123066836742e+82" dist="2.3828923048104974e+82" dir="3.2905425960566786e+97">
              <a:srgbClr val="9DB0CC">
                <a:alpha val="2.2000000000000003e+99"/>
              </a:srgbClr>
            </a:outerShdw>
          </a:effectLst>
        </p:spPr>
      </p:sp>
      <p:sp>
        <p:nvSpPr>
          <p:cNvPr id="24" name="Shape 22"/>
          <p:cNvSpPr/>
          <p:nvPr/>
        </p:nvSpPr>
        <p:spPr>
          <a:xfrm>
            <a:off x="6291072" y="2286000"/>
            <a:ext cx="82296" cy="2834640"/>
          </a:xfrm>
          <a:prstGeom prst="rect">
            <a:avLst/>
          </a:prstGeom>
          <a:solidFill>
            <a:srgbClr val="7C3AED"/>
          </a:solidFill>
          <a:ln/>
        </p:spPr>
      </p:sp>
      <p:sp>
        <p:nvSpPr>
          <p:cNvPr id="25" name="Shape 23"/>
          <p:cNvSpPr/>
          <p:nvPr/>
        </p:nvSpPr>
        <p:spPr>
          <a:xfrm>
            <a:off x="7196328" y="2578608"/>
            <a:ext cx="731520" cy="731520"/>
          </a:xfrm>
          <a:prstGeom prst="ellipse">
            <a:avLst/>
          </a:prstGeom>
          <a:solidFill>
            <a:srgbClr val="F3EEFE"/>
          </a:solidFill>
          <a:ln/>
        </p:spPr>
      </p:sp>
      <p:sp>
        <p:nvSpPr>
          <p:cNvPr id="26" name="Text 24"/>
          <p:cNvSpPr/>
          <p:nvPr/>
        </p:nvSpPr>
        <p:spPr>
          <a:xfrm>
            <a:off x="7196328" y="2569464"/>
            <a:ext cx="731520" cy="731520"/>
          </a:xfrm>
          <a:prstGeom prst="rect">
            <a:avLst/>
          </a:prstGeom>
          <a:noFill/>
          <a:ln/>
        </p:spPr>
        <p:txBody>
          <a:bodyPr wrap="square" lIns="0" tIns="0" rIns="0" bIns="0" rtlCol="0" anchor="ctr"/>
          <a:lstStyle/>
          <a:p>
            <a:pPr algn="ctr" indent="0" marL="0">
              <a:buNone/>
            </a:pPr>
            <a:r>
              <a:rPr lang="en-US" sz="2500" b="1" dirty="0">
                <a:solidFill>
                  <a:srgbClr val="7C3AED"/>
                </a:solidFill>
                <a:latin typeface="Calibri" pitchFamily="34" charset="0"/>
                <a:ea typeface="Calibri" pitchFamily="34" charset="-122"/>
                <a:cs typeface="Calibri" pitchFamily="34" charset="-120"/>
              </a:rPr>
              <a:t>✦</a:t>
            </a:r>
            <a:endParaRPr lang="en-US" sz="2500" dirty="0"/>
          </a:p>
        </p:txBody>
      </p:sp>
      <p:sp>
        <p:nvSpPr>
          <p:cNvPr id="27" name="Text 25"/>
          <p:cNvSpPr/>
          <p:nvPr/>
        </p:nvSpPr>
        <p:spPr>
          <a:xfrm>
            <a:off x="6510528" y="3493008"/>
            <a:ext cx="2130552" cy="548640"/>
          </a:xfrm>
          <a:prstGeom prst="rect">
            <a:avLst/>
          </a:prstGeom>
          <a:noFill/>
          <a:ln/>
        </p:spPr>
        <p:txBody>
          <a:bodyPr wrap="square" lIns="0" tIns="0" rIns="0" bIns="0" rtlCol="0" anchor="t"/>
          <a:lstStyle/>
          <a:p>
            <a:pPr algn="ctr" indent="0" marL="0">
              <a:lnSpc>
                <a:spcPct val="100000"/>
              </a:lnSpc>
              <a:buNone/>
            </a:pPr>
            <a:r>
              <a:rPr lang="en-US" sz="1300" b="1" dirty="0">
                <a:solidFill>
                  <a:srgbClr val="7C3AED"/>
                </a:solidFill>
                <a:latin typeface="Calibri" pitchFamily="34" charset="0"/>
                <a:ea typeface="Calibri" pitchFamily="34" charset="-122"/>
                <a:cs typeface="Calibri" pitchFamily="34" charset="-120"/>
              </a:rPr>
              <a:t>Suggests material &amp; process</a:t>
            </a:r>
            <a:endParaRPr lang="en-US" sz="1300" dirty="0"/>
          </a:p>
        </p:txBody>
      </p:sp>
      <p:sp>
        <p:nvSpPr>
          <p:cNvPr id="28" name="Text 26"/>
          <p:cNvSpPr/>
          <p:nvPr/>
        </p:nvSpPr>
        <p:spPr>
          <a:xfrm>
            <a:off x="6528816" y="4114800"/>
            <a:ext cx="2084832" cy="91440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AI proposes the material family and process route with a confidence score — you stay in control.</a:t>
            </a:r>
            <a:endParaRPr lang="en-US" sz="1000" dirty="0"/>
          </a:p>
        </p:txBody>
      </p:sp>
      <p:sp>
        <p:nvSpPr>
          <p:cNvPr id="29" name="Shape 27"/>
          <p:cNvSpPr/>
          <p:nvPr/>
        </p:nvSpPr>
        <p:spPr>
          <a:xfrm>
            <a:off x="9162288" y="2286000"/>
            <a:ext cx="2542032" cy="2834640"/>
          </a:xfrm>
          <a:prstGeom prst="roundRect">
            <a:avLst>
              <a:gd name="adj" fmla="val 2518"/>
            </a:avLst>
          </a:prstGeom>
          <a:solidFill>
            <a:srgbClr val="FFFFFF"/>
          </a:solidFill>
          <a:ln w="12700">
            <a:solidFill>
              <a:srgbClr val="E4EAF2"/>
            </a:solidFill>
            <a:prstDash val="solid"/>
          </a:ln>
          <a:effectLst>
            <a:outerShdw sx="100000" sy="100000" kx="0" ky="0" algn="bl" rotWithShape="0" blurRad="1.0591956294882662e+87" dist="3.0262732271093317e+86" dir="1.9743255576340073e+102">
              <a:srgbClr val="9DB0CC">
                <a:alpha val="2.2000000000000003e+104"/>
              </a:srgbClr>
            </a:outerShdw>
          </a:effectLst>
        </p:spPr>
      </p:sp>
      <p:sp>
        <p:nvSpPr>
          <p:cNvPr id="30" name="Shape 28"/>
          <p:cNvSpPr/>
          <p:nvPr/>
        </p:nvSpPr>
        <p:spPr>
          <a:xfrm>
            <a:off x="9162288" y="2286000"/>
            <a:ext cx="82296" cy="2834640"/>
          </a:xfrm>
          <a:prstGeom prst="rect">
            <a:avLst/>
          </a:prstGeom>
          <a:solidFill>
            <a:srgbClr val="0EA472"/>
          </a:solidFill>
          <a:ln/>
        </p:spPr>
      </p:sp>
      <p:sp>
        <p:nvSpPr>
          <p:cNvPr id="31" name="Shape 29"/>
          <p:cNvSpPr/>
          <p:nvPr/>
        </p:nvSpPr>
        <p:spPr>
          <a:xfrm>
            <a:off x="10067544" y="2578608"/>
            <a:ext cx="731520" cy="731520"/>
          </a:xfrm>
          <a:prstGeom prst="ellipse">
            <a:avLst/>
          </a:prstGeom>
          <a:solidFill>
            <a:srgbClr val="E7F7F0"/>
          </a:solidFill>
          <a:ln/>
        </p:spPr>
      </p:sp>
      <p:sp>
        <p:nvSpPr>
          <p:cNvPr id="32" name="Text 30"/>
          <p:cNvSpPr/>
          <p:nvPr/>
        </p:nvSpPr>
        <p:spPr>
          <a:xfrm>
            <a:off x="10067544" y="2569464"/>
            <a:ext cx="731520" cy="731520"/>
          </a:xfrm>
          <a:prstGeom prst="rect">
            <a:avLst/>
          </a:prstGeom>
          <a:noFill/>
          <a:ln/>
        </p:spPr>
        <p:txBody>
          <a:bodyPr wrap="square" lIns="0" tIns="0" rIns="0" bIns="0" rtlCol="0" anchor="ctr"/>
          <a:lstStyle/>
          <a:p>
            <a:pPr algn="ctr" indent="0" marL="0">
              <a:buNone/>
            </a:pPr>
            <a:r>
              <a:rPr lang="en-US" sz="2500" b="1" dirty="0">
                <a:solidFill>
                  <a:srgbClr val="0EA472"/>
                </a:solidFill>
                <a:latin typeface="Calibri" pitchFamily="34" charset="0"/>
                <a:ea typeface="Calibri" pitchFamily="34" charset="-122"/>
                <a:cs typeface="Calibri" pitchFamily="34" charset="-120"/>
              </a:rPr>
              <a:t>◆</a:t>
            </a:r>
            <a:endParaRPr lang="en-US" sz="2500" dirty="0"/>
          </a:p>
        </p:txBody>
      </p:sp>
      <p:sp>
        <p:nvSpPr>
          <p:cNvPr id="33" name="Text 31"/>
          <p:cNvSpPr/>
          <p:nvPr/>
        </p:nvSpPr>
        <p:spPr>
          <a:xfrm>
            <a:off x="9381744" y="3493008"/>
            <a:ext cx="2130552" cy="548640"/>
          </a:xfrm>
          <a:prstGeom prst="rect">
            <a:avLst/>
          </a:prstGeom>
          <a:noFill/>
          <a:ln/>
        </p:spPr>
        <p:txBody>
          <a:bodyPr wrap="square" lIns="0" tIns="0" rIns="0" bIns="0" rtlCol="0" anchor="t"/>
          <a:lstStyle/>
          <a:p>
            <a:pPr algn="ctr" indent="0" marL="0">
              <a:lnSpc>
                <a:spcPct val="100000"/>
              </a:lnSpc>
              <a:buNone/>
            </a:pPr>
            <a:r>
              <a:rPr lang="en-US" sz="1300" b="1" dirty="0">
                <a:solidFill>
                  <a:srgbClr val="0EA472"/>
                </a:solidFill>
                <a:latin typeface="Calibri" pitchFamily="34" charset="0"/>
                <a:ea typeface="Calibri" pitchFamily="34" charset="-122"/>
                <a:cs typeface="Calibri" pitchFamily="34" charset="-120"/>
              </a:rPr>
              <a:t>Prices it — and explains</a:t>
            </a:r>
            <a:endParaRPr lang="en-US" sz="1300" dirty="0"/>
          </a:p>
        </p:txBody>
      </p:sp>
      <p:sp>
        <p:nvSpPr>
          <p:cNvPr id="34" name="Text 32"/>
          <p:cNvSpPr/>
          <p:nvPr/>
        </p:nvSpPr>
        <p:spPr>
          <a:xfrm>
            <a:off x="9400032" y="4114800"/>
            <a:ext cx="2084832" cy="91440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A deterministic 8-bucket engine (material → margin) returns a full should-cost with a confidence band and DFM guidance.</a:t>
            </a:r>
            <a:endParaRPr lang="en-US" sz="1000" dirty="0"/>
          </a:p>
        </p:txBody>
      </p:sp>
      <p:sp>
        <p:nvSpPr>
          <p:cNvPr id="35" name="Shape 33"/>
          <p:cNvSpPr/>
          <p:nvPr/>
        </p:nvSpPr>
        <p:spPr>
          <a:xfrm>
            <a:off x="548640" y="5303520"/>
            <a:ext cx="11091672" cy="640080"/>
          </a:xfrm>
          <a:prstGeom prst="roundRect">
            <a:avLst>
              <a:gd name="adj" fmla="val 10000"/>
            </a:avLst>
          </a:prstGeom>
          <a:solidFill>
            <a:srgbClr val="FEF6E7"/>
          </a:solidFill>
          <a:ln w="12700">
            <a:solidFill>
              <a:srgbClr val="E4EAF2"/>
            </a:solidFill>
            <a:prstDash val="solid"/>
          </a:ln>
        </p:spPr>
      </p:sp>
      <p:sp>
        <p:nvSpPr>
          <p:cNvPr id="36" name="Shape 34"/>
          <p:cNvSpPr/>
          <p:nvPr/>
        </p:nvSpPr>
        <p:spPr>
          <a:xfrm>
            <a:off x="548640" y="5303520"/>
            <a:ext cx="82296" cy="640080"/>
          </a:xfrm>
          <a:prstGeom prst="rect">
            <a:avLst/>
          </a:prstGeom>
          <a:solidFill>
            <a:srgbClr val="E0900C"/>
          </a:solidFill>
          <a:ln/>
        </p:spPr>
      </p:sp>
      <p:sp>
        <p:nvSpPr>
          <p:cNvPr id="37" name="Text 35"/>
          <p:cNvSpPr/>
          <p:nvPr/>
        </p:nvSpPr>
        <p:spPr>
          <a:xfrm>
            <a:off x="914400" y="5303520"/>
            <a:ext cx="10332720" cy="640080"/>
          </a:xfrm>
          <a:prstGeom prst="rect">
            <a:avLst/>
          </a:prstGeom>
          <a:noFill/>
          <a:ln/>
        </p:spPr>
        <p:txBody>
          <a:bodyPr wrap="square" lIns="0" tIns="0" rIns="0" bIns="0" rtlCol="0" anchor="ctr"/>
          <a:lstStyle/>
          <a:p>
            <a:pPr indent="0" marL="0">
              <a:lnSpc>
                <a:spcPct val="110000"/>
              </a:lnSpc>
              <a:buNone/>
            </a:pPr>
            <a:r>
              <a:rPr lang="en-US" sz="1100" b="1" dirty="0">
                <a:solidFill>
                  <a:srgbClr val="E0900C"/>
                </a:solidFill>
                <a:latin typeface="Calibri" pitchFamily="34" charset="0"/>
                <a:ea typeface="Calibri" pitchFamily="34" charset="-122"/>
                <a:cs typeface="Calibri" pitchFamily="34" charset="-120"/>
              </a:rPr>
              <a:t>Add a 2D drawing to sharpen it:  </a:t>
            </a:r>
            <a:pPr indent="0" marL="0">
              <a:lnSpc>
                <a:spcPct val="110000"/>
              </a:lnSpc>
              <a:buNone/>
            </a:pPr>
            <a:r>
              <a:rPr lang="en-US" sz="1100" dirty="0">
                <a:solidFill>
                  <a:srgbClr val="3E4C63"/>
                </a:solidFill>
                <a:latin typeface="Calibri" pitchFamily="34" charset="0"/>
                <a:ea typeface="Calibri" pitchFamily="34" charset="-122"/>
                <a:cs typeface="Calibri" pitchFamily="34" charset="-120"/>
              </a:rPr>
              <a:t>attach the engineering-drawing PDF and the AI reads the tolerances &amp; GD&amp;T — tight tolerances pull in grinding/reaming and better surface finish, so the process route and the cost get more accurate. Formats: STEP · IGES · STL, plus an optional 2D drawing.</a:t>
            </a:r>
            <a:endParaRPr lang="en-US" sz="1100" dirty="0"/>
          </a:p>
        </p:txBody>
      </p:sp>
      <p:sp>
        <p:nvSpPr>
          <p:cNvPr id="38" name="Shape 36"/>
          <p:cNvSpPr/>
          <p:nvPr/>
        </p:nvSpPr>
        <p:spPr>
          <a:xfrm>
            <a:off x="548640" y="6400800"/>
            <a:ext cx="11094415" cy="12802"/>
          </a:xfrm>
          <a:prstGeom prst="rect">
            <a:avLst/>
          </a:prstGeom>
          <a:solidFill>
            <a:srgbClr val="E4EAF2"/>
          </a:solidFill>
          <a:ln/>
        </p:spPr>
      </p:sp>
      <p:sp>
        <p:nvSpPr>
          <p:cNvPr id="39" name="Text 37"/>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40" name="Text 38"/>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7 / 25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DA5A0"/>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DA5A0"/>
                </a:solidFill>
                <a:latin typeface="Calibri" pitchFamily="34" charset="0"/>
                <a:ea typeface="Calibri" pitchFamily="34" charset="-122"/>
                <a:cs typeface="Calibri" pitchFamily="34" charset="-120"/>
              </a:rPr>
              <a:t>DEEP DIVE · CAD TO COST</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CAD → Cost — the workflow, end to end</a:t>
            </a:r>
            <a:endParaRPr lang="en-US" sz="2400" dirty="0"/>
          </a:p>
        </p:txBody>
      </p:sp>
      <p:sp>
        <p:nvSpPr>
          <p:cNvPr id="9" name="Shape 7"/>
          <p:cNvSpPr/>
          <p:nvPr/>
        </p:nvSpPr>
        <p:spPr>
          <a:xfrm>
            <a:off x="548640" y="1371600"/>
            <a:ext cx="1051560" cy="45720"/>
          </a:xfrm>
          <a:prstGeom prst="rect">
            <a:avLst/>
          </a:prstGeom>
          <a:solidFill>
            <a:srgbClr val="0DA5A0"/>
          </a:solidFill>
          <a:ln/>
        </p:spPr>
      </p:sp>
      <p:sp>
        <p:nvSpPr>
          <p:cNvPr id="10" name="Shape 8"/>
          <p:cNvSpPr/>
          <p:nvPr/>
        </p:nvSpPr>
        <p:spPr>
          <a:xfrm>
            <a:off x="548640"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1.3451784494500981e+91" dist="3.8433669984288512e+90" dir="1.1845953345804043e+107">
              <a:srgbClr val="9DB0CC">
                <a:alpha val="2.2000000000000003e+109"/>
              </a:srgbClr>
            </a:outerShdw>
          </a:effectLst>
        </p:spPr>
      </p:sp>
      <p:sp>
        <p:nvSpPr>
          <p:cNvPr id="11" name="Shape 9"/>
          <p:cNvSpPr/>
          <p:nvPr/>
        </p:nvSpPr>
        <p:spPr>
          <a:xfrm>
            <a:off x="548640" y="1783080"/>
            <a:ext cx="1463040" cy="82296"/>
          </a:xfrm>
          <a:prstGeom prst="rect">
            <a:avLst/>
          </a:prstGeom>
          <a:solidFill>
            <a:srgbClr val="2E90FA"/>
          </a:solidFill>
          <a:ln/>
        </p:spPr>
      </p:sp>
      <p:sp>
        <p:nvSpPr>
          <p:cNvPr id="12" name="Shape 10"/>
          <p:cNvSpPr/>
          <p:nvPr/>
        </p:nvSpPr>
        <p:spPr>
          <a:xfrm>
            <a:off x="1024128" y="1984248"/>
            <a:ext cx="512064" cy="512064"/>
          </a:xfrm>
          <a:prstGeom prst="ellipse">
            <a:avLst/>
          </a:prstGeom>
          <a:solidFill>
            <a:srgbClr val="F4F7FB"/>
          </a:solidFill>
          <a:ln/>
        </p:spPr>
      </p:sp>
      <p:sp>
        <p:nvSpPr>
          <p:cNvPr id="13" name="Text 11"/>
          <p:cNvSpPr/>
          <p:nvPr/>
        </p:nvSpPr>
        <p:spPr>
          <a:xfrm>
            <a:off x="1024128" y="1975104"/>
            <a:ext cx="512064" cy="512064"/>
          </a:xfrm>
          <a:prstGeom prst="rect">
            <a:avLst/>
          </a:prstGeom>
          <a:noFill/>
          <a:ln/>
        </p:spPr>
        <p:txBody>
          <a:bodyPr wrap="square" lIns="0" tIns="0" rIns="0" bIns="0" rtlCol="0" anchor="ctr"/>
          <a:lstStyle/>
          <a:p>
            <a:pPr algn="ctr" indent="0" marL="0">
              <a:buNone/>
            </a:pPr>
            <a:r>
              <a:rPr lang="en-US" sz="1800" b="1" dirty="0">
                <a:solidFill>
                  <a:srgbClr val="2E90FA"/>
                </a:solidFill>
                <a:latin typeface="Calibri" pitchFamily="34" charset="0"/>
                <a:ea typeface="Calibri" pitchFamily="34" charset="-122"/>
                <a:cs typeface="Calibri" pitchFamily="34" charset="-120"/>
              </a:rPr>
              <a:t>▲</a:t>
            </a:r>
            <a:endParaRPr lang="en-US" sz="1800" dirty="0"/>
          </a:p>
        </p:txBody>
      </p:sp>
      <p:sp>
        <p:nvSpPr>
          <p:cNvPr id="14" name="Text 12"/>
          <p:cNvSpPr/>
          <p:nvPr/>
        </p:nvSpPr>
        <p:spPr>
          <a:xfrm>
            <a:off x="640080"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Upload</a:t>
            </a:r>
            <a:endParaRPr lang="en-US" sz="1200" dirty="0"/>
          </a:p>
        </p:txBody>
      </p:sp>
      <p:sp>
        <p:nvSpPr>
          <p:cNvPr id="15" name="Text 13"/>
          <p:cNvSpPr/>
          <p:nvPr/>
        </p:nvSpPr>
        <p:spPr>
          <a:xfrm>
            <a:off x="658368"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3D model + optional 2D drawing</a:t>
            </a:r>
            <a:endParaRPr lang="en-US" sz="860" dirty="0"/>
          </a:p>
        </p:txBody>
      </p:sp>
      <p:sp>
        <p:nvSpPr>
          <p:cNvPr id="16" name="Shape 14"/>
          <p:cNvSpPr/>
          <p:nvPr/>
        </p:nvSpPr>
        <p:spPr>
          <a:xfrm>
            <a:off x="2016252" y="2583180"/>
            <a:ext cx="100584" cy="0"/>
          </a:xfrm>
          <a:prstGeom prst="line">
            <a:avLst/>
          </a:prstGeom>
          <a:noFill/>
          <a:ln w="22225">
            <a:solidFill>
              <a:srgbClr val="D4DEEC"/>
            </a:solidFill>
            <a:prstDash val="solid"/>
            <a:headEnd type="none"/>
            <a:tailEnd type="triangle"/>
          </a:ln>
        </p:spPr>
      </p:sp>
      <p:sp>
        <p:nvSpPr>
          <p:cNvPr id="17" name="Shape 15"/>
          <p:cNvSpPr/>
          <p:nvPr/>
        </p:nvSpPr>
        <p:spPr>
          <a:xfrm>
            <a:off x="2130552"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1.7083766308016246e+95" dist="4.8810760880046414e+94" dir="7.107572007482426e+111">
              <a:srgbClr val="9DB0CC">
                <a:alpha val="2.2000000000000003e+114"/>
              </a:srgbClr>
            </a:outerShdw>
          </a:effectLst>
        </p:spPr>
      </p:sp>
      <p:sp>
        <p:nvSpPr>
          <p:cNvPr id="18" name="Shape 16"/>
          <p:cNvSpPr/>
          <p:nvPr/>
        </p:nvSpPr>
        <p:spPr>
          <a:xfrm>
            <a:off x="2130552" y="1783080"/>
            <a:ext cx="1463040" cy="82296"/>
          </a:xfrm>
          <a:prstGeom prst="rect">
            <a:avLst/>
          </a:prstGeom>
          <a:solidFill>
            <a:srgbClr val="0DA5A0"/>
          </a:solidFill>
          <a:ln/>
        </p:spPr>
      </p:sp>
      <p:sp>
        <p:nvSpPr>
          <p:cNvPr id="19" name="Shape 17"/>
          <p:cNvSpPr/>
          <p:nvPr/>
        </p:nvSpPr>
        <p:spPr>
          <a:xfrm>
            <a:off x="2606040" y="1984248"/>
            <a:ext cx="512064" cy="512064"/>
          </a:xfrm>
          <a:prstGeom prst="ellipse">
            <a:avLst/>
          </a:prstGeom>
          <a:solidFill>
            <a:srgbClr val="E7F7F0"/>
          </a:solidFill>
          <a:ln/>
        </p:spPr>
      </p:sp>
      <p:sp>
        <p:nvSpPr>
          <p:cNvPr id="20" name="Text 18"/>
          <p:cNvSpPr/>
          <p:nvPr/>
        </p:nvSpPr>
        <p:spPr>
          <a:xfrm>
            <a:off x="2606040" y="1975104"/>
            <a:ext cx="512064" cy="512064"/>
          </a:xfrm>
          <a:prstGeom prst="rect">
            <a:avLst/>
          </a:prstGeom>
          <a:noFill/>
          <a:ln/>
        </p:spPr>
        <p:txBody>
          <a:bodyPr wrap="square" lIns="0" tIns="0" rIns="0" bIns="0" rtlCol="0" anchor="ctr"/>
          <a:lstStyle/>
          <a:p>
            <a:pPr algn="ctr" indent="0" marL="0">
              <a:buNone/>
            </a:pPr>
            <a:r>
              <a:rPr lang="en-US" sz="1800" b="1" dirty="0">
                <a:solidFill>
                  <a:srgbClr val="0DA5A0"/>
                </a:solidFill>
                <a:latin typeface="Calibri" pitchFamily="34" charset="0"/>
                <a:ea typeface="Calibri" pitchFamily="34" charset="-122"/>
                <a:cs typeface="Calibri" pitchFamily="34" charset="-120"/>
              </a:rPr>
              <a:t>◧</a:t>
            </a:r>
            <a:endParaRPr lang="en-US" sz="1800" dirty="0"/>
          </a:p>
        </p:txBody>
      </p:sp>
      <p:sp>
        <p:nvSpPr>
          <p:cNvPr id="21" name="Text 19"/>
          <p:cNvSpPr/>
          <p:nvPr/>
        </p:nvSpPr>
        <p:spPr>
          <a:xfrm>
            <a:off x="2221992"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Geometry engine</a:t>
            </a:r>
            <a:endParaRPr lang="en-US" sz="1200" dirty="0"/>
          </a:p>
        </p:txBody>
      </p:sp>
      <p:sp>
        <p:nvSpPr>
          <p:cNvPr id="22" name="Text 20"/>
          <p:cNvSpPr/>
          <p:nvPr/>
        </p:nvSpPr>
        <p:spPr>
          <a:xfrm>
            <a:off x="2240280"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volume · bbox · surface · faces</a:t>
            </a:r>
            <a:endParaRPr lang="en-US" sz="860" dirty="0"/>
          </a:p>
        </p:txBody>
      </p:sp>
      <p:sp>
        <p:nvSpPr>
          <p:cNvPr id="23" name="Shape 21"/>
          <p:cNvSpPr/>
          <p:nvPr/>
        </p:nvSpPr>
        <p:spPr>
          <a:xfrm>
            <a:off x="3598164" y="2583180"/>
            <a:ext cx="100584" cy="0"/>
          </a:xfrm>
          <a:prstGeom prst="line">
            <a:avLst/>
          </a:prstGeom>
          <a:noFill/>
          <a:ln w="22225">
            <a:solidFill>
              <a:srgbClr val="D4DEEC"/>
            </a:solidFill>
            <a:prstDash val="solid"/>
            <a:headEnd type="none"/>
            <a:tailEnd type="triangle"/>
          </a:ln>
        </p:spPr>
      </p:sp>
      <p:sp>
        <p:nvSpPr>
          <p:cNvPr id="24" name="Shape 22"/>
          <p:cNvSpPr/>
          <p:nvPr/>
        </p:nvSpPr>
        <p:spPr>
          <a:xfrm>
            <a:off x="3712464"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2.1696383211180632e+99" dist="6.198966631765894e+98" dir="4.2645432044894554e+116">
              <a:srgbClr val="9DB0CC">
                <a:alpha val="2.2000000000000005e+119"/>
              </a:srgbClr>
            </a:outerShdw>
          </a:effectLst>
        </p:spPr>
      </p:sp>
      <p:sp>
        <p:nvSpPr>
          <p:cNvPr id="25" name="Shape 23"/>
          <p:cNvSpPr/>
          <p:nvPr/>
        </p:nvSpPr>
        <p:spPr>
          <a:xfrm>
            <a:off x="3712464" y="1783080"/>
            <a:ext cx="1463040" cy="82296"/>
          </a:xfrm>
          <a:prstGeom prst="rect">
            <a:avLst/>
          </a:prstGeom>
          <a:solidFill>
            <a:srgbClr val="2563EB"/>
          </a:solidFill>
          <a:ln/>
        </p:spPr>
      </p:sp>
      <p:sp>
        <p:nvSpPr>
          <p:cNvPr id="26" name="Shape 24"/>
          <p:cNvSpPr/>
          <p:nvPr/>
        </p:nvSpPr>
        <p:spPr>
          <a:xfrm>
            <a:off x="4187952" y="1984248"/>
            <a:ext cx="512064" cy="512064"/>
          </a:xfrm>
          <a:prstGeom prst="ellipse">
            <a:avLst/>
          </a:prstGeom>
          <a:solidFill>
            <a:srgbClr val="EAF1FE"/>
          </a:solidFill>
          <a:ln/>
        </p:spPr>
      </p:sp>
      <p:sp>
        <p:nvSpPr>
          <p:cNvPr id="27" name="Text 25"/>
          <p:cNvSpPr/>
          <p:nvPr/>
        </p:nvSpPr>
        <p:spPr>
          <a:xfrm>
            <a:off x="4187952" y="1975104"/>
            <a:ext cx="512064" cy="512064"/>
          </a:xfrm>
          <a:prstGeom prst="rect">
            <a:avLst/>
          </a:prstGeom>
          <a:noFill/>
          <a:ln/>
        </p:spPr>
        <p:txBody>
          <a:bodyPr wrap="square" lIns="0" tIns="0" rIns="0" bIns="0" rtlCol="0" anchor="ctr"/>
          <a:lstStyle/>
          <a:p>
            <a:pPr algn="ctr" indent="0" marL="0">
              <a:buNone/>
            </a:pPr>
            <a:r>
              <a:rPr lang="en-US" sz="1800" b="1" dirty="0">
                <a:solidFill>
                  <a:srgbClr val="2563EB"/>
                </a:solidFill>
                <a:latin typeface="Calibri" pitchFamily="34" charset="0"/>
                <a:ea typeface="Calibri" pitchFamily="34" charset="-122"/>
                <a:cs typeface="Calibri" pitchFamily="34" charset="-120"/>
              </a:rPr>
              <a:t>◈</a:t>
            </a:r>
            <a:endParaRPr lang="en-US" sz="1800" dirty="0"/>
          </a:p>
        </p:txBody>
      </p:sp>
      <p:sp>
        <p:nvSpPr>
          <p:cNvPr id="28" name="Text 26"/>
          <p:cNvSpPr/>
          <p:nvPr/>
        </p:nvSpPr>
        <p:spPr>
          <a:xfrm>
            <a:off x="3803904"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Feature recognition</a:t>
            </a:r>
            <a:endParaRPr lang="en-US" sz="1200" dirty="0"/>
          </a:p>
        </p:txBody>
      </p:sp>
      <p:sp>
        <p:nvSpPr>
          <p:cNvPr id="29" name="Text 27"/>
          <p:cNvSpPr/>
          <p:nvPr/>
        </p:nvSpPr>
        <p:spPr>
          <a:xfrm>
            <a:off x="3822192"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holes · pockets · slots · bends</a:t>
            </a:r>
            <a:endParaRPr lang="en-US" sz="860" dirty="0"/>
          </a:p>
        </p:txBody>
      </p:sp>
      <p:sp>
        <p:nvSpPr>
          <p:cNvPr id="30" name="Shape 28"/>
          <p:cNvSpPr/>
          <p:nvPr/>
        </p:nvSpPr>
        <p:spPr>
          <a:xfrm>
            <a:off x="5180076" y="2583180"/>
            <a:ext cx="100584" cy="0"/>
          </a:xfrm>
          <a:prstGeom prst="line">
            <a:avLst/>
          </a:prstGeom>
          <a:noFill/>
          <a:ln w="22225">
            <a:solidFill>
              <a:srgbClr val="D4DEEC"/>
            </a:solidFill>
            <a:prstDash val="solid"/>
            <a:headEnd type="none"/>
            <a:tailEnd type="triangle"/>
          </a:ln>
        </p:spPr>
      </p:sp>
      <p:sp>
        <p:nvSpPr>
          <p:cNvPr id="31" name="Shape 29"/>
          <p:cNvSpPr/>
          <p:nvPr/>
        </p:nvSpPr>
        <p:spPr>
          <a:xfrm>
            <a:off x="5294376"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2.7554406678199403e+103" dist="7.872687622342685e+102" dir="2.5587259226936733e+121">
              <a:srgbClr val="9DB0CC">
                <a:alpha val="2.2000000000000006e+124"/>
              </a:srgbClr>
            </a:outerShdw>
          </a:effectLst>
        </p:spPr>
      </p:sp>
      <p:sp>
        <p:nvSpPr>
          <p:cNvPr id="32" name="Shape 30"/>
          <p:cNvSpPr/>
          <p:nvPr/>
        </p:nvSpPr>
        <p:spPr>
          <a:xfrm>
            <a:off x="5294376" y="1783080"/>
            <a:ext cx="1463040" cy="82296"/>
          </a:xfrm>
          <a:prstGeom prst="rect">
            <a:avLst/>
          </a:prstGeom>
          <a:solidFill>
            <a:srgbClr val="7C3AED"/>
          </a:solidFill>
          <a:ln/>
        </p:spPr>
      </p:sp>
      <p:sp>
        <p:nvSpPr>
          <p:cNvPr id="33" name="Shape 31"/>
          <p:cNvSpPr/>
          <p:nvPr/>
        </p:nvSpPr>
        <p:spPr>
          <a:xfrm>
            <a:off x="5769864" y="1984248"/>
            <a:ext cx="512064" cy="512064"/>
          </a:xfrm>
          <a:prstGeom prst="ellipse">
            <a:avLst/>
          </a:prstGeom>
          <a:solidFill>
            <a:srgbClr val="F3EEFE"/>
          </a:solidFill>
          <a:ln/>
        </p:spPr>
      </p:sp>
      <p:sp>
        <p:nvSpPr>
          <p:cNvPr id="34" name="Text 32"/>
          <p:cNvSpPr/>
          <p:nvPr/>
        </p:nvSpPr>
        <p:spPr>
          <a:xfrm>
            <a:off x="5769864" y="1975104"/>
            <a:ext cx="512064" cy="512064"/>
          </a:xfrm>
          <a:prstGeom prst="rect">
            <a:avLst/>
          </a:prstGeom>
          <a:noFill/>
          <a:ln/>
        </p:spPr>
        <p:txBody>
          <a:bodyPr wrap="square" lIns="0" tIns="0" rIns="0" bIns="0" rtlCol="0" anchor="ctr"/>
          <a:lstStyle/>
          <a:p>
            <a:pPr algn="ctr" indent="0" marL="0">
              <a:buNone/>
            </a:pPr>
            <a:r>
              <a:rPr lang="en-US" sz="1800" b="1" dirty="0">
                <a:solidFill>
                  <a:srgbClr val="7C3AED"/>
                </a:solidFill>
                <a:latin typeface="Calibri" pitchFamily="34" charset="0"/>
                <a:ea typeface="Calibri" pitchFamily="34" charset="-122"/>
                <a:cs typeface="Calibri" pitchFamily="34" charset="-120"/>
              </a:rPr>
              <a:t>✦</a:t>
            </a:r>
            <a:endParaRPr lang="en-US" sz="1800" dirty="0"/>
          </a:p>
        </p:txBody>
      </p:sp>
      <p:sp>
        <p:nvSpPr>
          <p:cNvPr id="35" name="Text 33"/>
          <p:cNvSpPr/>
          <p:nvPr/>
        </p:nvSpPr>
        <p:spPr>
          <a:xfrm>
            <a:off x="5385816"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AI analysis</a:t>
            </a:r>
            <a:endParaRPr lang="en-US" sz="1200" dirty="0"/>
          </a:p>
        </p:txBody>
      </p:sp>
      <p:sp>
        <p:nvSpPr>
          <p:cNvPr id="36" name="Text 34"/>
          <p:cNvSpPr/>
          <p:nvPr/>
        </p:nvSpPr>
        <p:spPr>
          <a:xfrm>
            <a:off x="5404104"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Haiku classifies · Sonnet analyses</a:t>
            </a:r>
            <a:endParaRPr lang="en-US" sz="860" dirty="0"/>
          </a:p>
        </p:txBody>
      </p:sp>
      <p:sp>
        <p:nvSpPr>
          <p:cNvPr id="37" name="Shape 35"/>
          <p:cNvSpPr/>
          <p:nvPr/>
        </p:nvSpPr>
        <p:spPr>
          <a:xfrm>
            <a:off x="6761988" y="2583180"/>
            <a:ext cx="100584" cy="0"/>
          </a:xfrm>
          <a:prstGeom prst="line">
            <a:avLst/>
          </a:prstGeom>
          <a:noFill/>
          <a:ln w="22225">
            <a:solidFill>
              <a:srgbClr val="D4DEEC"/>
            </a:solidFill>
            <a:prstDash val="solid"/>
            <a:headEnd type="none"/>
            <a:tailEnd type="triangle"/>
          </a:ln>
        </p:spPr>
      </p:sp>
      <p:sp>
        <p:nvSpPr>
          <p:cNvPr id="38" name="Shape 36"/>
          <p:cNvSpPr/>
          <p:nvPr/>
        </p:nvSpPr>
        <p:spPr>
          <a:xfrm>
            <a:off x="6876288"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3.499409648131324e+107" dist="9.998313280375211e+106" dir="1.535235553616204e+126">
              <a:srgbClr val="9DB0CC">
                <a:alpha val="2.2000000000000006e+129"/>
              </a:srgbClr>
            </a:outerShdw>
          </a:effectLst>
        </p:spPr>
      </p:sp>
      <p:sp>
        <p:nvSpPr>
          <p:cNvPr id="39" name="Shape 37"/>
          <p:cNvSpPr/>
          <p:nvPr/>
        </p:nvSpPr>
        <p:spPr>
          <a:xfrm>
            <a:off x="6876288" y="1783080"/>
            <a:ext cx="1463040" cy="82296"/>
          </a:xfrm>
          <a:prstGeom prst="rect">
            <a:avLst/>
          </a:prstGeom>
          <a:solidFill>
            <a:srgbClr val="0E93B0"/>
          </a:solidFill>
          <a:ln/>
        </p:spPr>
      </p:sp>
      <p:sp>
        <p:nvSpPr>
          <p:cNvPr id="40" name="Shape 38"/>
          <p:cNvSpPr/>
          <p:nvPr/>
        </p:nvSpPr>
        <p:spPr>
          <a:xfrm>
            <a:off x="7351776" y="1984248"/>
            <a:ext cx="512064" cy="512064"/>
          </a:xfrm>
          <a:prstGeom prst="ellipse">
            <a:avLst/>
          </a:prstGeom>
          <a:solidFill>
            <a:srgbClr val="E8F6FA"/>
          </a:solidFill>
          <a:ln/>
        </p:spPr>
      </p:sp>
      <p:sp>
        <p:nvSpPr>
          <p:cNvPr id="41" name="Text 39"/>
          <p:cNvSpPr/>
          <p:nvPr/>
        </p:nvSpPr>
        <p:spPr>
          <a:xfrm>
            <a:off x="7351776" y="1975104"/>
            <a:ext cx="512064" cy="512064"/>
          </a:xfrm>
          <a:prstGeom prst="rect">
            <a:avLst/>
          </a:prstGeom>
          <a:noFill/>
          <a:ln/>
        </p:spPr>
        <p:txBody>
          <a:bodyPr wrap="square" lIns="0" tIns="0" rIns="0" bIns="0" rtlCol="0" anchor="ctr"/>
          <a:lstStyle/>
          <a:p>
            <a:pPr algn="ctr" indent="0" marL="0">
              <a:buNone/>
            </a:pPr>
            <a:r>
              <a:rPr lang="en-US" sz="1800" b="1" dirty="0">
                <a:solidFill>
                  <a:srgbClr val="0E93B0"/>
                </a:solidFill>
                <a:latin typeface="Calibri" pitchFamily="34" charset="0"/>
                <a:ea typeface="Calibri" pitchFamily="34" charset="-122"/>
                <a:cs typeface="Calibri" pitchFamily="34" charset="-120"/>
              </a:rPr>
              <a:t>⚙</a:t>
            </a:r>
            <a:endParaRPr lang="en-US" sz="1800" dirty="0"/>
          </a:p>
        </p:txBody>
      </p:sp>
      <p:sp>
        <p:nvSpPr>
          <p:cNvPr id="42" name="Text 40"/>
          <p:cNvSpPr/>
          <p:nvPr/>
        </p:nvSpPr>
        <p:spPr>
          <a:xfrm>
            <a:off x="6967728"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Costing engine</a:t>
            </a:r>
            <a:endParaRPr lang="en-US" sz="1200" dirty="0"/>
          </a:p>
        </p:txBody>
      </p:sp>
      <p:sp>
        <p:nvSpPr>
          <p:cNvPr id="43" name="Text 41"/>
          <p:cNvSpPr/>
          <p:nvPr/>
        </p:nvSpPr>
        <p:spPr>
          <a:xfrm>
            <a:off x="6986016"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8-bucket stack + machining</a:t>
            </a:r>
            <a:endParaRPr lang="en-US" sz="860" dirty="0"/>
          </a:p>
        </p:txBody>
      </p:sp>
      <p:sp>
        <p:nvSpPr>
          <p:cNvPr id="44" name="Shape 42"/>
          <p:cNvSpPr/>
          <p:nvPr/>
        </p:nvSpPr>
        <p:spPr>
          <a:xfrm>
            <a:off x="8343900" y="2583180"/>
            <a:ext cx="100584" cy="0"/>
          </a:xfrm>
          <a:prstGeom prst="line">
            <a:avLst/>
          </a:prstGeom>
          <a:noFill/>
          <a:ln w="22225">
            <a:solidFill>
              <a:srgbClr val="D4DEEC"/>
            </a:solidFill>
            <a:prstDash val="solid"/>
            <a:headEnd type="none"/>
            <a:tailEnd type="triangle"/>
          </a:ln>
        </p:spPr>
      </p:sp>
      <p:sp>
        <p:nvSpPr>
          <p:cNvPr id="45" name="Shape 43"/>
          <p:cNvSpPr/>
          <p:nvPr/>
        </p:nvSpPr>
        <p:spPr>
          <a:xfrm>
            <a:off x="8458200"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4.4442502531267815e+111" dist="1.2697857866076517e+111" dir="9.211413321697224e+130">
              <a:srgbClr val="9DB0CC">
                <a:alpha val="2.2000000000000004e+134"/>
              </a:srgbClr>
            </a:outerShdw>
          </a:effectLst>
        </p:spPr>
      </p:sp>
      <p:sp>
        <p:nvSpPr>
          <p:cNvPr id="46" name="Shape 44"/>
          <p:cNvSpPr/>
          <p:nvPr/>
        </p:nvSpPr>
        <p:spPr>
          <a:xfrm>
            <a:off x="8458200" y="1783080"/>
            <a:ext cx="1463040" cy="82296"/>
          </a:xfrm>
          <a:prstGeom prst="rect">
            <a:avLst/>
          </a:prstGeom>
          <a:solidFill>
            <a:srgbClr val="E0900C"/>
          </a:solidFill>
          <a:ln/>
        </p:spPr>
      </p:sp>
      <p:sp>
        <p:nvSpPr>
          <p:cNvPr id="47" name="Shape 45"/>
          <p:cNvSpPr/>
          <p:nvPr/>
        </p:nvSpPr>
        <p:spPr>
          <a:xfrm>
            <a:off x="8933688" y="1984248"/>
            <a:ext cx="512064" cy="512064"/>
          </a:xfrm>
          <a:prstGeom prst="ellipse">
            <a:avLst/>
          </a:prstGeom>
          <a:solidFill>
            <a:srgbClr val="FEF6E7"/>
          </a:solidFill>
          <a:ln/>
        </p:spPr>
      </p:sp>
      <p:sp>
        <p:nvSpPr>
          <p:cNvPr id="48" name="Text 46"/>
          <p:cNvSpPr/>
          <p:nvPr/>
        </p:nvSpPr>
        <p:spPr>
          <a:xfrm>
            <a:off x="8933688" y="1975104"/>
            <a:ext cx="512064" cy="512064"/>
          </a:xfrm>
          <a:prstGeom prst="rect">
            <a:avLst/>
          </a:prstGeom>
          <a:noFill/>
          <a:ln/>
        </p:spPr>
        <p:txBody>
          <a:bodyPr wrap="square" lIns="0" tIns="0" rIns="0" bIns="0" rtlCol="0" anchor="ctr"/>
          <a:lstStyle/>
          <a:p>
            <a:pPr algn="ctr" indent="0" marL="0">
              <a:buNone/>
            </a:pPr>
            <a:r>
              <a:rPr lang="en-US" sz="1800" b="1" dirty="0">
                <a:solidFill>
                  <a:srgbClr val="E0900C"/>
                </a:solidFill>
                <a:latin typeface="Calibri" pitchFamily="34" charset="0"/>
                <a:ea typeface="Calibri" pitchFamily="34" charset="-122"/>
                <a:cs typeface="Calibri" pitchFamily="34" charset="-120"/>
              </a:rPr>
              <a:t>✓</a:t>
            </a:r>
            <a:endParaRPr lang="en-US" sz="1800" dirty="0"/>
          </a:p>
        </p:txBody>
      </p:sp>
      <p:sp>
        <p:nvSpPr>
          <p:cNvPr id="49" name="Text 47"/>
          <p:cNvSpPr/>
          <p:nvPr/>
        </p:nvSpPr>
        <p:spPr>
          <a:xfrm>
            <a:off x="8549640"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Sanity check</a:t>
            </a:r>
            <a:endParaRPr lang="en-US" sz="1200" dirty="0"/>
          </a:p>
        </p:txBody>
      </p:sp>
      <p:sp>
        <p:nvSpPr>
          <p:cNvPr id="50" name="Text 48"/>
          <p:cNvSpPr/>
          <p:nvPr/>
        </p:nvSpPr>
        <p:spPr>
          <a:xfrm>
            <a:off x="8567928"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AI claims vs measured truth</a:t>
            </a:r>
            <a:endParaRPr lang="en-US" sz="860" dirty="0"/>
          </a:p>
        </p:txBody>
      </p:sp>
      <p:sp>
        <p:nvSpPr>
          <p:cNvPr id="51" name="Shape 49"/>
          <p:cNvSpPr/>
          <p:nvPr/>
        </p:nvSpPr>
        <p:spPr>
          <a:xfrm>
            <a:off x="9925812" y="2583180"/>
            <a:ext cx="100584" cy="0"/>
          </a:xfrm>
          <a:prstGeom prst="line">
            <a:avLst/>
          </a:prstGeom>
          <a:noFill/>
          <a:ln w="22225">
            <a:solidFill>
              <a:srgbClr val="D4DEEC"/>
            </a:solidFill>
            <a:prstDash val="solid"/>
            <a:headEnd type="none"/>
            <a:tailEnd type="triangle"/>
          </a:ln>
        </p:spPr>
      </p:sp>
      <p:sp>
        <p:nvSpPr>
          <p:cNvPr id="52" name="Shape 50"/>
          <p:cNvSpPr/>
          <p:nvPr/>
        </p:nvSpPr>
        <p:spPr>
          <a:xfrm>
            <a:off x="10040112"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5.644197821471012e+115" dist="1.6126279489917177e+115" dir="5.526847993018334e+135">
              <a:srgbClr val="9DB0CC">
                <a:alpha val="2.2000000000000005e+139"/>
              </a:srgbClr>
            </a:outerShdw>
          </a:effectLst>
        </p:spPr>
      </p:sp>
      <p:sp>
        <p:nvSpPr>
          <p:cNvPr id="53" name="Shape 51"/>
          <p:cNvSpPr/>
          <p:nvPr/>
        </p:nvSpPr>
        <p:spPr>
          <a:xfrm>
            <a:off x="10040112" y="1783080"/>
            <a:ext cx="1463040" cy="82296"/>
          </a:xfrm>
          <a:prstGeom prst="rect">
            <a:avLst/>
          </a:prstGeom>
          <a:solidFill>
            <a:srgbClr val="0EA472"/>
          </a:solidFill>
          <a:ln/>
        </p:spPr>
      </p:sp>
      <p:sp>
        <p:nvSpPr>
          <p:cNvPr id="54" name="Shape 52"/>
          <p:cNvSpPr/>
          <p:nvPr/>
        </p:nvSpPr>
        <p:spPr>
          <a:xfrm>
            <a:off x="10515600" y="1984248"/>
            <a:ext cx="512064" cy="512064"/>
          </a:xfrm>
          <a:prstGeom prst="ellipse">
            <a:avLst/>
          </a:prstGeom>
          <a:solidFill>
            <a:srgbClr val="E7F7F0"/>
          </a:solidFill>
          <a:ln/>
        </p:spPr>
      </p:sp>
      <p:sp>
        <p:nvSpPr>
          <p:cNvPr id="55" name="Text 53"/>
          <p:cNvSpPr/>
          <p:nvPr/>
        </p:nvSpPr>
        <p:spPr>
          <a:xfrm>
            <a:off x="10515600" y="1975104"/>
            <a:ext cx="512064" cy="512064"/>
          </a:xfrm>
          <a:prstGeom prst="rect">
            <a:avLst/>
          </a:prstGeom>
          <a:noFill/>
          <a:ln/>
        </p:spPr>
        <p:txBody>
          <a:bodyPr wrap="square" lIns="0" tIns="0" rIns="0" bIns="0" rtlCol="0" anchor="ctr"/>
          <a:lstStyle/>
          <a:p>
            <a:pPr algn="ctr" indent="0" marL="0">
              <a:buNone/>
            </a:pPr>
            <a:r>
              <a:rPr lang="en-US" sz="1800" b="1" dirty="0">
                <a:solidFill>
                  <a:srgbClr val="0EA472"/>
                </a:solidFill>
                <a:latin typeface="Calibri" pitchFamily="34" charset="0"/>
                <a:ea typeface="Calibri" pitchFamily="34" charset="-122"/>
                <a:cs typeface="Calibri" pitchFamily="34" charset="-120"/>
              </a:rPr>
              <a:t>◆</a:t>
            </a:r>
            <a:endParaRPr lang="en-US" sz="1800" dirty="0"/>
          </a:p>
        </p:txBody>
      </p:sp>
      <p:sp>
        <p:nvSpPr>
          <p:cNvPr id="56" name="Text 54"/>
          <p:cNvSpPr/>
          <p:nvPr/>
        </p:nvSpPr>
        <p:spPr>
          <a:xfrm>
            <a:off x="10131552"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Should-cost</a:t>
            </a:r>
            <a:endParaRPr lang="en-US" sz="1200" dirty="0"/>
          </a:p>
        </p:txBody>
      </p:sp>
      <p:sp>
        <p:nvSpPr>
          <p:cNvPr id="57" name="Text 55"/>
          <p:cNvSpPr/>
          <p:nvPr/>
        </p:nvSpPr>
        <p:spPr>
          <a:xfrm>
            <a:off x="10149840"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breakdown · band · provenance</a:t>
            </a:r>
            <a:endParaRPr lang="en-US" sz="860" dirty="0"/>
          </a:p>
        </p:txBody>
      </p:sp>
      <p:sp>
        <p:nvSpPr>
          <p:cNvPr id="58" name="Shape 56"/>
          <p:cNvSpPr/>
          <p:nvPr/>
        </p:nvSpPr>
        <p:spPr>
          <a:xfrm>
            <a:off x="548640" y="3657600"/>
            <a:ext cx="5074920" cy="457200"/>
          </a:xfrm>
          <a:prstGeom prst="roundRect">
            <a:avLst>
              <a:gd name="adj" fmla="val 20000"/>
            </a:avLst>
          </a:prstGeom>
          <a:solidFill>
            <a:srgbClr val="F3EEFE"/>
          </a:solidFill>
          <a:ln/>
        </p:spPr>
      </p:sp>
      <p:sp>
        <p:nvSpPr>
          <p:cNvPr id="59" name="Text 57"/>
          <p:cNvSpPr/>
          <p:nvPr/>
        </p:nvSpPr>
        <p:spPr>
          <a:xfrm>
            <a:off x="548640" y="3657600"/>
            <a:ext cx="5074920" cy="457200"/>
          </a:xfrm>
          <a:prstGeom prst="rect">
            <a:avLst/>
          </a:prstGeom>
          <a:noFill/>
          <a:ln/>
        </p:spPr>
        <p:txBody>
          <a:bodyPr wrap="square" lIns="0" tIns="0" rIns="0" bIns="0" rtlCol="0" anchor="ctr"/>
          <a:lstStyle/>
          <a:p>
            <a:pPr algn="ctr" indent="0" marL="0">
              <a:buNone/>
            </a:pPr>
            <a:r>
              <a:rPr lang="en-US" sz="1100" b="1" dirty="0">
                <a:solidFill>
                  <a:srgbClr val="7C3AED"/>
                </a:solidFill>
                <a:latin typeface="Calibri" pitchFamily="34" charset="0"/>
                <a:ea typeface="Calibri" pitchFamily="34" charset="-122"/>
                <a:cs typeface="Calibri" pitchFamily="34" charset="-120"/>
              </a:rPr>
              <a:t>✦  AI understands the model</a:t>
            </a:r>
            <a:endParaRPr lang="en-US" sz="1100" dirty="0"/>
          </a:p>
        </p:txBody>
      </p:sp>
      <p:sp>
        <p:nvSpPr>
          <p:cNvPr id="60" name="Shape 58"/>
          <p:cNvSpPr/>
          <p:nvPr/>
        </p:nvSpPr>
        <p:spPr>
          <a:xfrm>
            <a:off x="5943600" y="3657600"/>
            <a:ext cx="5696712" cy="457200"/>
          </a:xfrm>
          <a:prstGeom prst="roundRect">
            <a:avLst>
              <a:gd name="adj" fmla="val 20000"/>
            </a:avLst>
          </a:prstGeom>
          <a:solidFill>
            <a:srgbClr val="E7F7F0"/>
          </a:solidFill>
          <a:ln/>
        </p:spPr>
      </p:sp>
      <p:sp>
        <p:nvSpPr>
          <p:cNvPr id="61" name="Text 59"/>
          <p:cNvSpPr/>
          <p:nvPr/>
        </p:nvSpPr>
        <p:spPr>
          <a:xfrm>
            <a:off x="5943600" y="3657600"/>
            <a:ext cx="5696712" cy="457200"/>
          </a:xfrm>
          <a:prstGeom prst="rect">
            <a:avLst/>
          </a:prstGeom>
          <a:noFill/>
          <a:ln/>
        </p:spPr>
        <p:txBody>
          <a:bodyPr wrap="square" lIns="0" tIns="0" rIns="0" bIns="0" rtlCol="0" anchor="ctr"/>
          <a:lstStyle/>
          <a:p>
            <a:pPr algn="ctr" indent="0" marL="0">
              <a:buNone/>
            </a:pPr>
            <a:r>
              <a:rPr lang="en-US" sz="1100" b="1" dirty="0">
                <a:solidFill>
                  <a:srgbClr val="0EA472"/>
                </a:solidFill>
                <a:latin typeface="Calibri" pitchFamily="34" charset="0"/>
                <a:ea typeface="Calibri" pitchFamily="34" charset="-122"/>
                <a:cs typeface="Calibri" pitchFamily="34" charset="-120"/>
              </a:rPr>
              <a:t>⚙  Deterministic maths sets the price</a:t>
            </a:r>
            <a:endParaRPr lang="en-US" sz="1100" dirty="0"/>
          </a:p>
        </p:txBody>
      </p:sp>
      <p:sp>
        <p:nvSpPr>
          <p:cNvPr id="62" name="Shape 60"/>
          <p:cNvSpPr/>
          <p:nvPr/>
        </p:nvSpPr>
        <p:spPr>
          <a:xfrm>
            <a:off x="548640" y="4297680"/>
            <a:ext cx="11091672" cy="1051560"/>
          </a:xfrm>
          <a:prstGeom prst="roundRect">
            <a:avLst>
              <a:gd name="adj" fmla="val 6087"/>
            </a:avLst>
          </a:prstGeom>
          <a:solidFill>
            <a:srgbClr val="F4F7FB"/>
          </a:solidFill>
          <a:ln w="12700">
            <a:solidFill>
              <a:srgbClr val="E4EAF2"/>
            </a:solidFill>
            <a:prstDash val="solid"/>
          </a:ln>
        </p:spPr>
      </p:sp>
      <p:sp>
        <p:nvSpPr>
          <p:cNvPr id="63" name="Shape 61"/>
          <p:cNvSpPr/>
          <p:nvPr/>
        </p:nvSpPr>
        <p:spPr>
          <a:xfrm>
            <a:off x="548640" y="4297680"/>
            <a:ext cx="82296" cy="1051560"/>
          </a:xfrm>
          <a:prstGeom prst="rect">
            <a:avLst/>
          </a:prstGeom>
          <a:solidFill>
            <a:srgbClr val="0DA5A0"/>
          </a:solidFill>
          <a:ln/>
        </p:spPr>
      </p:sp>
      <p:sp>
        <p:nvSpPr>
          <p:cNvPr id="64" name="Text 62"/>
          <p:cNvSpPr/>
          <p:nvPr/>
        </p:nvSpPr>
        <p:spPr>
          <a:xfrm>
            <a:off x="914400" y="4434840"/>
            <a:ext cx="10378440" cy="868680"/>
          </a:xfrm>
          <a:prstGeom prst="rect">
            <a:avLst/>
          </a:prstGeom>
          <a:noFill/>
          <a:ln/>
        </p:spPr>
        <p:txBody>
          <a:bodyPr wrap="square" lIns="0" tIns="0" rIns="0" bIns="0" rtlCol="0" anchor="t"/>
          <a:lstStyle/>
          <a:p>
            <a:pPr indent="0" marL="0">
              <a:lnSpc>
                <a:spcPct val="118000"/>
              </a:lnSpc>
              <a:buNone/>
            </a:pPr>
            <a:r>
              <a:rPr lang="en-US" sz="1200" b="1" dirty="0">
                <a:solidFill>
                  <a:srgbClr val="0F1E3D"/>
                </a:solidFill>
                <a:latin typeface="Calibri" pitchFamily="34" charset="0"/>
                <a:ea typeface="Calibri" pitchFamily="34" charset="-122"/>
                <a:cs typeface="Calibri" pitchFamily="34" charset="-120"/>
              </a:rPr>
              <a:t>The safety net is the sanity check.  </a:t>
            </a:r>
            <a:pPr indent="0" marL="0">
              <a:lnSpc>
                <a:spcPct val="118000"/>
              </a:lnSpc>
              <a:buNone/>
            </a:pPr>
            <a:r>
              <a:rPr lang="en-US" sz="1200" dirty="0">
                <a:solidFill>
                  <a:srgbClr val="3E4C63"/>
                </a:solidFill>
                <a:latin typeface="Calibri" pitchFamily="34" charset="0"/>
                <a:ea typeface="Calibri" pitchFamily="34" charset="-122"/>
                <a:cs typeface="Calibri" pitchFamily="34" charset="-120"/>
              </a:rPr>
              <a:t>Because the geometry engine gives us measured volume, weight and area, every AI-suggested number is cross-checked against physical reality before it reaches the cost. A hallucinated dimension or an impossible weight is flagged — not silently priced. That single step is why the output is defensible.</a:t>
            </a:r>
            <a:endParaRPr lang="en-US" sz="1200" dirty="0"/>
          </a:p>
        </p:txBody>
      </p:sp>
      <p:sp>
        <p:nvSpPr>
          <p:cNvPr id="65" name="Shape 63"/>
          <p:cNvSpPr/>
          <p:nvPr/>
        </p:nvSpPr>
        <p:spPr>
          <a:xfrm>
            <a:off x="548640" y="6400800"/>
            <a:ext cx="11094415" cy="12802"/>
          </a:xfrm>
          <a:prstGeom prst="rect">
            <a:avLst/>
          </a:prstGeom>
          <a:solidFill>
            <a:srgbClr val="E4EAF2"/>
          </a:solidFill>
          <a:ln/>
        </p:spPr>
      </p:sp>
      <p:sp>
        <p:nvSpPr>
          <p:cNvPr id="66" name="Text 64"/>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67" name="Text 65"/>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8 / 25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7C3AED"/>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7C3AED"/>
                </a:solidFill>
                <a:latin typeface="Calibri" pitchFamily="34" charset="0"/>
                <a:ea typeface="Calibri" pitchFamily="34" charset="-122"/>
                <a:cs typeface="Calibri" pitchFamily="34" charset="-120"/>
              </a:rPr>
              <a:t>DEEP DIVE · CAD TO COST</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CAD → Cost — the AI capabilities</a:t>
            </a:r>
            <a:endParaRPr lang="en-US" sz="2400" dirty="0"/>
          </a:p>
        </p:txBody>
      </p:sp>
      <p:sp>
        <p:nvSpPr>
          <p:cNvPr id="9" name="Shape 7"/>
          <p:cNvSpPr/>
          <p:nvPr/>
        </p:nvSpPr>
        <p:spPr>
          <a:xfrm>
            <a:off x="548640" y="1371600"/>
            <a:ext cx="1051560" cy="45720"/>
          </a:xfrm>
          <a:prstGeom prst="rect">
            <a:avLst/>
          </a:prstGeom>
          <a:solidFill>
            <a:srgbClr val="7C3AED"/>
          </a:solidFill>
          <a:ln/>
        </p:spPr>
      </p:sp>
      <p:sp>
        <p:nvSpPr>
          <p:cNvPr id="10" name="Shape 8"/>
          <p:cNvSpPr/>
          <p:nvPr/>
        </p:nvSpPr>
        <p:spPr>
          <a:xfrm>
            <a:off x="548640" y="1645920"/>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7.168131233268186e+119" dist="2.0480374952194813e+119" dir="3.3161087958110005e+140">
              <a:srgbClr val="9DB0CC">
                <a:alpha val="2.2000000000000006e+144"/>
              </a:srgbClr>
            </a:outerShdw>
          </a:effectLst>
        </p:spPr>
      </p:sp>
      <p:sp>
        <p:nvSpPr>
          <p:cNvPr id="11" name="Shape 9"/>
          <p:cNvSpPr/>
          <p:nvPr/>
        </p:nvSpPr>
        <p:spPr>
          <a:xfrm>
            <a:off x="548640" y="1645920"/>
            <a:ext cx="82296" cy="1737360"/>
          </a:xfrm>
          <a:prstGeom prst="rect">
            <a:avLst/>
          </a:prstGeom>
          <a:solidFill>
            <a:srgbClr val="0DA5A0"/>
          </a:solidFill>
          <a:ln/>
        </p:spPr>
      </p:sp>
      <p:sp>
        <p:nvSpPr>
          <p:cNvPr id="12" name="Shape 10"/>
          <p:cNvSpPr/>
          <p:nvPr/>
        </p:nvSpPr>
        <p:spPr>
          <a:xfrm>
            <a:off x="786384" y="1865376"/>
            <a:ext cx="457200" cy="457200"/>
          </a:xfrm>
          <a:prstGeom prst="ellipse">
            <a:avLst/>
          </a:prstGeom>
          <a:solidFill>
            <a:srgbClr val="E7F7F0"/>
          </a:solidFill>
          <a:ln/>
        </p:spPr>
      </p:sp>
      <p:sp>
        <p:nvSpPr>
          <p:cNvPr id="13" name="Text 11"/>
          <p:cNvSpPr/>
          <p:nvPr/>
        </p:nvSpPr>
        <p:spPr>
          <a:xfrm>
            <a:off x="786384" y="1856232"/>
            <a:ext cx="457200" cy="457200"/>
          </a:xfrm>
          <a:prstGeom prst="rect">
            <a:avLst/>
          </a:prstGeom>
          <a:noFill/>
          <a:ln/>
        </p:spPr>
        <p:txBody>
          <a:bodyPr wrap="square" lIns="0" tIns="0" rIns="0" bIns="0" rtlCol="0" anchor="ctr"/>
          <a:lstStyle/>
          <a:p>
            <a:pPr algn="ctr" indent="0" marL="0">
              <a:buNone/>
            </a:pPr>
            <a:r>
              <a:rPr lang="en-US" sz="1700" b="1" dirty="0">
                <a:solidFill>
                  <a:srgbClr val="0DA5A0"/>
                </a:solidFill>
                <a:latin typeface="Calibri" pitchFamily="34" charset="0"/>
                <a:ea typeface="Calibri" pitchFamily="34" charset="-122"/>
                <a:cs typeface="Calibri" pitchFamily="34" charset="-120"/>
              </a:rPr>
              <a:t>◧</a:t>
            </a:r>
            <a:endParaRPr lang="en-US" sz="1700" dirty="0"/>
          </a:p>
        </p:txBody>
      </p:sp>
      <p:sp>
        <p:nvSpPr>
          <p:cNvPr id="14" name="Text 12"/>
          <p:cNvSpPr/>
          <p:nvPr/>
        </p:nvSpPr>
        <p:spPr>
          <a:xfrm>
            <a:off x="1335024" y="1901952"/>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DA5A0"/>
                </a:solidFill>
                <a:latin typeface="Calibri" pitchFamily="34" charset="0"/>
                <a:ea typeface="Calibri" pitchFamily="34" charset="-122"/>
                <a:cs typeface="Calibri" pitchFamily="34" charset="-120"/>
              </a:rPr>
              <a:t>Interactive 3D CAD viewer</a:t>
            </a:r>
            <a:endParaRPr lang="en-US" sz="1250" dirty="0"/>
          </a:p>
        </p:txBody>
      </p:sp>
      <p:sp>
        <p:nvSpPr>
          <p:cNvPr id="15" name="Text 13"/>
          <p:cNvSpPr/>
          <p:nvPr/>
        </p:nvSpPr>
        <p:spPr>
          <a:xfrm>
            <a:off x="804672" y="2487168"/>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Rotate, section and measure the part in the browser — with on-model highlights that link geometry to cost.</a:t>
            </a:r>
            <a:endParaRPr lang="en-US" sz="1000" dirty="0"/>
          </a:p>
        </p:txBody>
      </p:sp>
      <p:sp>
        <p:nvSpPr>
          <p:cNvPr id="16" name="Shape 14"/>
          <p:cNvSpPr/>
          <p:nvPr/>
        </p:nvSpPr>
        <p:spPr>
          <a:xfrm>
            <a:off x="4325112" y="1645920"/>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9.103526666250596e+123" dist="2.6010076189287412e+123" dir="1.9896652774866004e+145">
              <a:srgbClr val="9DB0CC">
                <a:alpha val="2.2000000000000004e+149"/>
              </a:srgbClr>
            </a:outerShdw>
          </a:effectLst>
        </p:spPr>
      </p:sp>
      <p:sp>
        <p:nvSpPr>
          <p:cNvPr id="17" name="Shape 15"/>
          <p:cNvSpPr/>
          <p:nvPr/>
        </p:nvSpPr>
        <p:spPr>
          <a:xfrm>
            <a:off x="4325112" y="1645920"/>
            <a:ext cx="82296" cy="1737360"/>
          </a:xfrm>
          <a:prstGeom prst="rect">
            <a:avLst/>
          </a:prstGeom>
          <a:solidFill>
            <a:srgbClr val="2563EB"/>
          </a:solidFill>
          <a:ln/>
        </p:spPr>
      </p:sp>
      <p:sp>
        <p:nvSpPr>
          <p:cNvPr id="18" name="Shape 16"/>
          <p:cNvSpPr/>
          <p:nvPr/>
        </p:nvSpPr>
        <p:spPr>
          <a:xfrm>
            <a:off x="4562856" y="1865376"/>
            <a:ext cx="457200" cy="457200"/>
          </a:xfrm>
          <a:prstGeom prst="ellipse">
            <a:avLst/>
          </a:prstGeom>
          <a:solidFill>
            <a:srgbClr val="EAF1FE"/>
          </a:solidFill>
          <a:ln/>
        </p:spPr>
      </p:sp>
      <p:sp>
        <p:nvSpPr>
          <p:cNvPr id="19" name="Text 17"/>
          <p:cNvSpPr/>
          <p:nvPr/>
        </p:nvSpPr>
        <p:spPr>
          <a:xfrm>
            <a:off x="4562856" y="1856232"/>
            <a:ext cx="457200" cy="457200"/>
          </a:xfrm>
          <a:prstGeom prst="rect">
            <a:avLst/>
          </a:prstGeom>
          <a:noFill/>
          <a:ln/>
        </p:spPr>
        <p:txBody>
          <a:bodyPr wrap="square" lIns="0" tIns="0" rIns="0" bIns="0" rtlCol="0" anchor="ctr"/>
          <a:lstStyle/>
          <a:p>
            <a:pPr algn="ctr" indent="0" marL="0">
              <a:buNone/>
            </a:pPr>
            <a:r>
              <a:rPr lang="en-US" sz="1700" b="1" dirty="0">
                <a:solidFill>
                  <a:srgbClr val="2563EB"/>
                </a:solidFill>
                <a:latin typeface="Calibri" pitchFamily="34" charset="0"/>
                <a:ea typeface="Calibri" pitchFamily="34" charset="-122"/>
                <a:cs typeface="Calibri" pitchFamily="34" charset="-120"/>
              </a:rPr>
              <a:t>◈</a:t>
            </a:r>
            <a:endParaRPr lang="en-US" sz="1700" dirty="0"/>
          </a:p>
        </p:txBody>
      </p:sp>
      <p:sp>
        <p:nvSpPr>
          <p:cNvPr id="20" name="Text 18"/>
          <p:cNvSpPr/>
          <p:nvPr/>
        </p:nvSpPr>
        <p:spPr>
          <a:xfrm>
            <a:off x="5111496" y="1901952"/>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2563EB"/>
                </a:solidFill>
                <a:latin typeface="Calibri" pitchFamily="34" charset="0"/>
                <a:ea typeface="Calibri" pitchFamily="34" charset="-122"/>
                <a:cs typeface="Calibri" pitchFamily="34" charset="-120"/>
              </a:rPr>
              <a:t>B-rep face intelligence</a:t>
            </a:r>
            <a:endParaRPr lang="en-US" sz="1250" dirty="0"/>
          </a:p>
        </p:txBody>
      </p:sp>
      <p:sp>
        <p:nvSpPr>
          <p:cNvPr id="21" name="Text 19"/>
          <p:cNvSpPr/>
          <p:nvPr/>
        </p:nvSpPr>
        <p:spPr>
          <a:xfrm>
            <a:off x="4581144" y="2487168"/>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Understands the boundary representation — faces, edges and their relationships — not just a triangle soup.</a:t>
            </a:r>
            <a:endParaRPr lang="en-US" sz="1000" dirty="0"/>
          </a:p>
        </p:txBody>
      </p:sp>
      <p:sp>
        <p:nvSpPr>
          <p:cNvPr id="22" name="Shape 20"/>
          <p:cNvSpPr/>
          <p:nvPr/>
        </p:nvSpPr>
        <p:spPr>
          <a:xfrm>
            <a:off x="8101584" y="1645920"/>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1.1561478866138256e+128" dist="3.303279676039501e+127" dir="1.1937991664919603e+150">
              <a:srgbClr val="9DB0CC">
                <a:alpha val="2.2000000000000004e+154"/>
              </a:srgbClr>
            </a:outerShdw>
          </a:effectLst>
        </p:spPr>
      </p:sp>
      <p:sp>
        <p:nvSpPr>
          <p:cNvPr id="23" name="Shape 21"/>
          <p:cNvSpPr/>
          <p:nvPr/>
        </p:nvSpPr>
        <p:spPr>
          <a:xfrm>
            <a:off x="8101584" y="1645920"/>
            <a:ext cx="82296" cy="1737360"/>
          </a:xfrm>
          <a:prstGeom prst="rect">
            <a:avLst/>
          </a:prstGeom>
          <a:solidFill>
            <a:srgbClr val="7C3AED"/>
          </a:solidFill>
          <a:ln/>
        </p:spPr>
      </p:sp>
      <p:sp>
        <p:nvSpPr>
          <p:cNvPr id="24" name="Shape 22"/>
          <p:cNvSpPr/>
          <p:nvPr/>
        </p:nvSpPr>
        <p:spPr>
          <a:xfrm>
            <a:off x="8339328" y="1865376"/>
            <a:ext cx="457200" cy="457200"/>
          </a:xfrm>
          <a:prstGeom prst="ellipse">
            <a:avLst/>
          </a:prstGeom>
          <a:solidFill>
            <a:srgbClr val="F3EEFE"/>
          </a:solidFill>
          <a:ln/>
        </p:spPr>
      </p:sp>
      <p:sp>
        <p:nvSpPr>
          <p:cNvPr id="25" name="Text 23"/>
          <p:cNvSpPr/>
          <p:nvPr/>
        </p:nvSpPr>
        <p:spPr>
          <a:xfrm>
            <a:off x="8339328" y="1856232"/>
            <a:ext cx="457200" cy="457200"/>
          </a:xfrm>
          <a:prstGeom prst="rect">
            <a:avLst/>
          </a:prstGeom>
          <a:noFill/>
          <a:ln/>
        </p:spPr>
        <p:txBody>
          <a:bodyPr wrap="square" lIns="0" tIns="0" rIns="0" bIns="0" rtlCol="0" anchor="ctr"/>
          <a:lstStyle/>
          <a:p>
            <a:pPr algn="ctr" indent="0" marL="0">
              <a:buNone/>
            </a:pPr>
            <a:r>
              <a:rPr lang="en-US" sz="1700" b="1" dirty="0">
                <a:solidFill>
                  <a:srgbClr val="7C3AED"/>
                </a:solidFill>
                <a:latin typeface="Calibri" pitchFamily="34" charset="0"/>
                <a:ea typeface="Calibri" pitchFamily="34" charset="-122"/>
                <a:cs typeface="Calibri" pitchFamily="34" charset="-120"/>
              </a:rPr>
              <a:t>▦</a:t>
            </a:r>
            <a:endParaRPr lang="en-US" sz="1700" dirty="0"/>
          </a:p>
        </p:txBody>
      </p:sp>
      <p:sp>
        <p:nvSpPr>
          <p:cNvPr id="26" name="Text 24"/>
          <p:cNvSpPr/>
          <p:nvPr/>
        </p:nvSpPr>
        <p:spPr>
          <a:xfrm>
            <a:off x="8887968" y="1901952"/>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7C3AED"/>
                </a:solidFill>
                <a:latin typeface="Calibri" pitchFamily="34" charset="0"/>
                <a:ea typeface="Calibri" pitchFamily="34" charset="-122"/>
                <a:cs typeface="Calibri" pitchFamily="34" charset="-120"/>
              </a:rPr>
              <a:t>Geometry feature table</a:t>
            </a:r>
            <a:endParaRPr lang="en-US" sz="1250" dirty="0"/>
          </a:p>
        </p:txBody>
      </p:sp>
      <p:sp>
        <p:nvSpPr>
          <p:cNvPr id="27" name="Text 25"/>
          <p:cNvSpPr/>
          <p:nvPr/>
        </p:nvSpPr>
        <p:spPr>
          <a:xfrm>
            <a:off x="8357616" y="2487168"/>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Every detected feature (hole depths, pockets, slots) listed and auto-fed into the costing as real operations.</a:t>
            </a:r>
            <a:endParaRPr lang="en-US" sz="1000" dirty="0"/>
          </a:p>
        </p:txBody>
      </p:sp>
      <p:sp>
        <p:nvSpPr>
          <p:cNvPr id="28" name="Shape 26"/>
          <p:cNvSpPr/>
          <p:nvPr/>
        </p:nvSpPr>
        <p:spPr>
          <a:xfrm>
            <a:off x="548640" y="3602736"/>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1.4683078159995586e+132" dist="4.195165188570166e+131" dir="7.162794998951762e+154">
              <a:srgbClr val="9DB0CC">
                <a:alpha val="2.2000000000000003e+159"/>
              </a:srgbClr>
            </a:outerShdw>
          </a:effectLst>
        </p:spPr>
      </p:sp>
      <p:sp>
        <p:nvSpPr>
          <p:cNvPr id="29" name="Shape 27"/>
          <p:cNvSpPr/>
          <p:nvPr/>
        </p:nvSpPr>
        <p:spPr>
          <a:xfrm>
            <a:off x="548640" y="3602736"/>
            <a:ext cx="82296" cy="1737360"/>
          </a:xfrm>
          <a:prstGeom prst="rect">
            <a:avLst/>
          </a:prstGeom>
          <a:solidFill>
            <a:srgbClr val="0E93B0"/>
          </a:solidFill>
          <a:ln/>
        </p:spPr>
      </p:sp>
      <p:sp>
        <p:nvSpPr>
          <p:cNvPr id="30" name="Shape 28"/>
          <p:cNvSpPr/>
          <p:nvPr/>
        </p:nvSpPr>
        <p:spPr>
          <a:xfrm>
            <a:off x="786384" y="3822192"/>
            <a:ext cx="457200" cy="457200"/>
          </a:xfrm>
          <a:prstGeom prst="ellipse">
            <a:avLst/>
          </a:prstGeom>
          <a:solidFill>
            <a:srgbClr val="E8F6FA"/>
          </a:solidFill>
          <a:ln/>
        </p:spPr>
      </p:sp>
      <p:sp>
        <p:nvSpPr>
          <p:cNvPr id="31" name="Text 29"/>
          <p:cNvSpPr/>
          <p:nvPr/>
        </p:nvSpPr>
        <p:spPr>
          <a:xfrm>
            <a:off x="786384" y="3813048"/>
            <a:ext cx="457200" cy="457200"/>
          </a:xfrm>
          <a:prstGeom prst="rect">
            <a:avLst/>
          </a:prstGeom>
          <a:noFill/>
          <a:ln/>
        </p:spPr>
        <p:txBody>
          <a:bodyPr wrap="square" lIns="0" tIns="0" rIns="0" bIns="0" rtlCol="0" anchor="ctr"/>
          <a:lstStyle/>
          <a:p>
            <a:pPr algn="ctr" indent="0" marL="0">
              <a:buNone/>
            </a:pPr>
            <a:r>
              <a:rPr lang="en-US" sz="1700" b="1" dirty="0">
                <a:solidFill>
                  <a:srgbClr val="0E93B0"/>
                </a:solidFill>
                <a:latin typeface="Calibri" pitchFamily="34" charset="0"/>
                <a:ea typeface="Calibri" pitchFamily="34" charset="-122"/>
                <a:cs typeface="Calibri" pitchFamily="34" charset="-120"/>
              </a:rPr>
              <a:t>⚙</a:t>
            </a:r>
            <a:endParaRPr lang="en-US" sz="1700" dirty="0"/>
          </a:p>
        </p:txBody>
      </p:sp>
      <p:sp>
        <p:nvSpPr>
          <p:cNvPr id="32" name="Text 30"/>
          <p:cNvSpPr/>
          <p:nvPr/>
        </p:nvSpPr>
        <p:spPr>
          <a:xfrm>
            <a:off x="1335024" y="3858768"/>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E93B0"/>
                </a:solidFill>
                <a:latin typeface="Calibri" pitchFamily="34" charset="0"/>
                <a:ea typeface="Calibri" pitchFamily="34" charset="-122"/>
                <a:cs typeface="Calibri" pitchFamily="34" charset="-120"/>
              </a:rPr>
              <a:t>Feature-based machining</a:t>
            </a:r>
            <a:endParaRPr lang="en-US" sz="1250" dirty="0"/>
          </a:p>
        </p:txBody>
      </p:sp>
      <p:sp>
        <p:nvSpPr>
          <p:cNvPr id="33" name="Text 31"/>
          <p:cNvSpPr/>
          <p:nvPr/>
        </p:nvSpPr>
        <p:spPr>
          <a:xfrm>
            <a:off x="804672" y="4443984"/>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Secondary operations are costed per feature and per commodity — facing, drilling, pockets, bends.</a:t>
            </a:r>
            <a:endParaRPr lang="en-US" sz="1000" dirty="0"/>
          </a:p>
        </p:txBody>
      </p:sp>
      <p:sp>
        <p:nvSpPr>
          <p:cNvPr id="34" name="Shape 32"/>
          <p:cNvSpPr/>
          <p:nvPr/>
        </p:nvSpPr>
        <p:spPr>
          <a:xfrm>
            <a:off x="4325112" y="3602736"/>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1.8647509263194394e+136" dist="5.327859789484111e+135" dir="4.297676999371057e+159">
              <a:srgbClr val="9DB0CC">
                <a:alpha val="2.2000000000000003e+164"/>
              </a:srgbClr>
            </a:outerShdw>
          </a:effectLst>
        </p:spPr>
      </p:sp>
      <p:sp>
        <p:nvSpPr>
          <p:cNvPr id="35" name="Shape 33"/>
          <p:cNvSpPr/>
          <p:nvPr/>
        </p:nvSpPr>
        <p:spPr>
          <a:xfrm>
            <a:off x="4325112" y="3602736"/>
            <a:ext cx="82296" cy="1737360"/>
          </a:xfrm>
          <a:prstGeom prst="rect">
            <a:avLst/>
          </a:prstGeom>
          <a:solidFill>
            <a:srgbClr val="E0900C"/>
          </a:solidFill>
          <a:ln/>
        </p:spPr>
      </p:sp>
      <p:sp>
        <p:nvSpPr>
          <p:cNvPr id="36" name="Shape 34"/>
          <p:cNvSpPr/>
          <p:nvPr/>
        </p:nvSpPr>
        <p:spPr>
          <a:xfrm>
            <a:off x="4562856" y="3822192"/>
            <a:ext cx="457200" cy="457200"/>
          </a:xfrm>
          <a:prstGeom prst="ellipse">
            <a:avLst/>
          </a:prstGeom>
          <a:solidFill>
            <a:srgbClr val="FEF6E7"/>
          </a:solidFill>
          <a:ln/>
        </p:spPr>
      </p:sp>
      <p:sp>
        <p:nvSpPr>
          <p:cNvPr id="37" name="Text 35"/>
          <p:cNvSpPr/>
          <p:nvPr/>
        </p:nvSpPr>
        <p:spPr>
          <a:xfrm>
            <a:off x="4562856" y="3813048"/>
            <a:ext cx="457200" cy="457200"/>
          </a:xfrm>
          <a:prstGeom prst="rect">
            <a:avLst/>
          </a:prstGeom>
          <a:noFill/>
          <a:ln/>
        </p:spPr>
        <p:txBody>
          <a:bodyPr wrap="square" lIns="0" tIns="0" rIns="0" bIns="0" rtlCol="0" anchor="ctr"/>
          <a:lstStyle/>
          <a:p>
            <a:pPr algn="ctr" indent="0" marL="0">
              <a:buNone/>
            </a:pPr>
            <a:r>
              <a:rPr lang="en-US" sz="1700" b="1" dirty="0">
                <a:solidFill>
                  <a:srgbClr val="E0900C"/>
                </a:solidFill>
                <a:latin typeface="Calibri" pitchFamily="34" charset="0"/>
                <a:ea typeface="Calibri" pitchFamily="34" charset="-122"/>
                <a:cs typeface="Calibri" pitchFamily="34" charset="-120"/>
              </a:rPr>
              <a:t>✦</a:t>
            </a:r>
            <a:endParaRPr lang="en-US" sz="1700" dirty="0"/>
          </a:p>
        </p:txBody>
      </p:sp>
      <p:sp>
        <p:nvSpPr>
          <p:cNvPr id="38" name="Text 36"/>
          <p:cNvSpPr/>
          <p:nvPr/>
        </p:nvSpPr>
        <p:spPr>
          <a:xfrm>
            <a:off x="5111496" y="3858768"/>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E0900C"/>
                </a:solidFill>
                <a:latin typeface="Calibri" pitchFamily="34" charset="0"/>
                <a:ea typeface="Calibri" pitchFamily="34" charset="-122"/>
                <a:cs typeface="Calibri" pitchFamily="34" charset="-120"/>
              </a:rPr>
              <a:t>AI material &amp; process advice</a:t>
            </a:r>
            <a:endParaRPr lang="en-US" sz="1250" dirty="0"/>
          </a:p>
        </p:txBody>
      </p:sp>
      <p:sp>
        <p:nvSpPr>
          <p:cNvPr id="39" name="Text 37"/>
          <p:cNvSpPr/>
          <p:nvPr/>
        </p:nvSpPr>
        <p:spPr>
          <a:xfrm>
            <a:off x="4581144" y="4443984"/>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Suggested material family and process route, each with an explicit confidence score you can accept or override.</a:t>
            </a:r>
            <a:endParaRPr lang="en-US" sz="1000" dirty="0"/>
          </a:p>
        </p:txBody>
      </p:sp>
      <p:sp>
        <p:nvSpPr>
          <p:cNvPr id="40" name="Shape 38"/>
          <p:cNvSpPr/>
          <p:nvPr/>
        </p:nvSpPr>
        <p:spPr>
          <a:xfrm>
            <a:off x="8101584" y="3602736"/>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2.368233676425688e+140" dist="6.766381932644821e+139" dir="2.5786061996226343e+164">
              <a:srgbClr val="9DB0CC">
                <a:alpha val="2.2000000000000004e+169"/>
              </a:srgbClr>
            </a:outerShdw>
          </a:effectLst>
        </p:spPr>
      </p:sp>
      <p:sp>
        <p:nvSpPr>
          <p:cNvPr id="41" name="Shape 39"/>
          <p:cNvSpPr/>
          <p:nvPr/>
        </p:nvSpPr>
        <p:spPr>
          <a:xfrm>
            <a:off x="8101584" y="3602736"/>
            <a:ext cx="82296" cy="1737360"/>
          </a:xfrm>
          <a:prstGeom prst="rect">
            <a:avLst/>
          </a:prstGeom>
          <a:solidFill>
            <a:srgbClr val="0EA472"/>
          </a:solidFill>
          <a:ln/>
        </p:spPr>
      </p:sp>
      <p:sp>
        <p:nvSpPr>
          <p:cNvPr id="42" name="Shape 40"/>
          <p:cNvSpPr/>
          <p:nvPr/>
        </p:nvSpPr>
        <p:spPr>
          <a:xfrm>
            <a:off x="8339328" y="3822192"/>
            <a:ext cx="457200" cy="457200"/>
          </a:xfrm>
          <a:prstGeom prst="ellipse">
            <a:avLst/>
          </a:prstGeom>
          <a:solidFill>
            <a:srgbClr val="E7F7F0"/>
          </a:solidFill>
          <a:ln/>
        </p:spPr>
      </p:sp>
      <p:sp>
        <p:nvSpPr>
          <p:cNvPr id="43" name="Text 41"/>
          <p:cNvSpPr/>
          <p:nvPr/>
        </p:nvSpPr>
        <p:spPr>
          <a:xfrm>
            <a:off x="8339328" y="3813048"/>
            <a:ext cx="457200" cy="457200"/>
          </a:xfrm>
          <a:prstGeom prst="rect">
            <a:avLst/>
          </a:prstGeom>
          <a:noFill/>
          <a:ln/>
        </p:spPr>
        <p:txBody>
          <a:bodyPr wrap="square" lIns="0" tIns="0" rIns="0" bIns="0" rtlCol="0" anchor="ctr"/>
          <a:lstStyle/>
          <a:p>
            <a:pPr algn="ctr" indent="0" marL="0">
              <a:buNone/>
            </a:pPr>
            <a:r>
              <a:rPr lang="en-US" sz="1700" b="1" dirty="0">
                <a:solidFill>
                  <a:srgbClr val="0EA472"/>
                </a:solidFill>
                <a:latin typeface="Calibri" pitchFamily="34" charset="0"/>
                <a:ea typeface="Calibri" pitchFamily="34" charset="-122"/>
                <a:cs typeface="Calibri" pitchFamily="34" charset="-120"/>
              </a:rPr>
              <a:t>◆</a:t>
            </a:r>
            <a:endParaRPr lang="en-US" sz="1700" dirty="0"/>
          </a:p>
        </p:txBody>
      </p:sp>
      <p:sp>
        <p:nvSpPr>
          <p:cNvPr id="44" name="Text 42"/>
          <p:cNvSpPr/>
          <p:nvPr/>
        </p:nvSpPr>
        <p:spPr>
          <a:xfrm>
            <a:off x="8887968" y="3858768"/>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EA472"/>
                </a:solidFill>
                <a:latin typeface="Calibri" pitchFamily="34" charset="0"/>
                <a:ea typeface="Calibri" pitchFamily="34" charset="-122"/>
                <a:cs typeface="Calibri" pitchFamily="34" charset="-120"/>
              </a:rPr>
              <a:t>DFM &amp; manufacturability</a:t>
            </a:r>
            <a:endParaRPr lang="en-US" sz="1250" dirty="0"/>
          </a:p>
        </p:txBody>
      </p:sp>
      <p:sp>
        <p:nvSpPr>
          <p:cNvPr id="45" name="Text 43"/>
          <p:cNvSpPr/>
          <p:nvPr/>
        </p:nvSpPr>
        <p:spPr>
          <a:xfrm>
            <a:off x="8357616" y="4443984"/>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A manufacturability score plus design-for-manufacture flags that point at what is driving the cost.</a:t>
            </a:r>
            <a:endParaRPr lang="en-US" sz="1000" dirty="0"/>
          </a:p>
        </p:txBody>
      </p:sp>
      <p:sp>
        <p:nvSpPr>
          <p:cNvPr id="46" name="Shape 44"/>
          <p:cNvSpPr/>
          <p:nvPr/>
        </p:nvSpPr>
        <p:spPr>
          <a:xfrm>
            <a:off x="548640" y="5623560"/>
            <a:ext cx="11091672" cy="457200"/>
          </a:xfrm>
          <a:prstGeom prst="roundRect">
            <a:avLst>
              <a:gd name="adj" fmla="val 14000"/>
            </a:avLst>
          </a:prstGeom>
          <a:solidFill>
            <a:srgbClr val="F4F7FB"/>
          </a:solidFill>
          <a:ln w="12700">
            <a:solidFill>
              <a:srgbClr val="E4EAF2"/>
            </a:solidFill>
            <a:prstDash val="solid"/>
          </a:ln>
        </p:spPr>
      </p:sp>
      <p:sp>
        <p:nvSpPr>
          <p:cNvPr id="47" name="Text 45"/>
          <p:cNvSpPr/>
          <p:nvPr/>
        </p:nvSpPr>
        <p:spPr>
          <a:xfrm>
            <a:off x="868680" y="5623560"/>
            <a:ext cx="10424160" cy="457200"/>
          </a:xfrm>
          <a:prstGeom prst="rect">
            <a:avLst/>
          </a:prstGeom>
          <a:noFill/>
          <a:ln/>
        </p:spPr>
        <p:txBody>
          <a:bodyPr wrap="square" lIns="0" tIns="0" rIns="0" bIns="0" rtlCol="0" anchor="ctr"/>
          <a:lstStyle/>
          <a:p>
            <a:pPr indent="0" marL="0">
              <a:buNone/>
            </a:pPr>
            <a:r>
              <a:rPr lang="en-US" sz="1100" b="1" i="1" dirty="0">
                <a:solidFill>
                  <a:srgbClr val="0F1E3D"/>
                </a:solidFill>
                <a:latin typeface="Calibri" pitchFamily="34" charset="0"/>
                <a:ea typeface="Calibri" pitchFamily="34" charset="-122"/>
                <a:cs typeface="Calibri" pitchFamily="34" charset="-120"/>
              </a:rPr>
              <a:t>Model tiers:  </a:t>
            </a:r>
            <a:pPr indent="0" marL="0">
              <a:buNone/>
            </a:pPr>
            <a:r>
              <a:rPr lang="en-US" sz="1100" i="1" dirty="0">
                <a:solidFill>
                  <a:srgbClr val="3E4C63"/>
                </a:solidFill>
                <a:latin typeface="Calibri" pitchFamily="34" charset="0"/>
                <a:ea typeface="Calibri" pitchFamily="34" charset="-122"/>
                <a:cs typeface="Calibri" pitchFamily="34" charset="-120"/>
              </a:rPr>
              <a:t>Haiku classifies the commodity · Sonnet 5 runs the specialist analysis · Opus 4.8 on the "deep analysis" toggle for the hardest parts.</a:t>
            </a:r>
            <a:endParaRPr lang="en-US" sz="1100" dirty="0"/>
          </a:p>
        </p:txBody>
      </p:sp>
      <p:sp>
        <p:nvSpPr>
          <p:cNvPr id="48" name="Shape 46"/>
          <p:cNvSpPr/>
          <p:nvPr/>
        </p:nvSpPr>
        <p:spPr>
          <a:xfrm>
            <a:off x="548640" y="6400800"/>
            <a:ext cx="11094415" cy="12802"/>
          </a:xfrm>
          <a:prstGeom prst="rect">
            <a:avLst/>
          </a:prstGeom>
          <a:solidFill>
            <a:srgbClr val="E4EAF2"/>
          </a:solidFill>
          <a:ln/>
        </p:spPr>
      </p:sp>
      <p:sp>
        <p:nvSpPr>
          <p:cNvPr id="49" name="Text 47"/>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0" name="Text 48"/>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9 / 25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A472"/>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A472"/>
                </a:solidFill>
                <a:latin typeface="Calibri" pitchFamily="34" charset="0"/>
                <a:ea typeface="Calibri" pitchFamily="34" charset="-122"/>
                <a:cs typeface="Calibri" pitchFamily="34" charset="-120"/>
              </a:rPr>
              <a:t>DEEP DIVE · CAD TO COST · ACCURACY</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CAD → Cost — how we make it accurate</a:t>
            </a:r>
            <a:endParaRPr lang="en-US" sz="2400" dirty="0"/>
          </a:p>
        </p:txBody>
      </p:sp>
      <p:sp>
        <p:nvSpPr>
          <p:cNvPr id="9" name="Shape 7"/>
          <p:cNvSpPr/>
          <p:nvPr/>
        </p:nvSpPr>
        <p:spPr>
          <a:xfrm>
            <a:off x="548640" y="1371600"/>
            <a:ext cx="1051560" cy="45720"/>
          </a:xfrm>
          <a:prstGeom prst="rect">
            <a:avLst/>
          </a:prstGeom>
          <a:solidFill>
            <a:srgbClr val="0EA472"/>
          </a:solidFill>
          <a:ln/>
        </p:spPr>
      </p:sp>
      <p:sp>
        <p:nvSpPr>
          <p:cNvPr id="10" name="Text 8"/>
          <p:cNvSpPr/>
          <p:nvPr/>
        </p:nvSpPr>
        <p:spPr>
          <a:xfrm>
            <a:off x="548640" y="1554480"/>
            <a:ext cx="11064240" cy="457200"/>
          </a:xfrm>
          <a:prstGeom prst="rect">
            <a:avLst/>
          </a:prstGeom>
          <a:noFill/>
          <a:ln/>
        </p:spPr>
        <p:txBody>
          <a:bodyPr wrap="square" lIns="0" tIns="0" rIns="0" bIns="0" rtlCol="0" anchor="t"/>
          <a:lstStyle/>
          <a:p>
            <a:pPr indent="0" marL="0">
              <a:lnSpc>
                <a:spcPct val="110000"/>
              </a:lnSpc>
              <a:buNone/>
            </a:pPr>
            <a:r>
              <a:rPr lang="en-US" sz="1250" dirty="0">
                <a:solidFill>
                  <a:srgbClr val="3E4C63"/>
                </a:solidFill>
                <a:latin typeface="Calibri" pitchFamily="34" charset="0"/>
                <a:ea typeface="Calibri" pitchFamily="34" charset="-122"/>
                <a:cs typeface="Calibri" pitchFamily="34" charset="-120"/>
              </a:rPr>
              <a:t>Accuracy is engineered in layers — measured truth, deterministic maths, and a check on every AI claim before it can touch the price.</a:t>
            </a:r>
            <a:endParaRPr lang="en-US" sz="1250" dirty="0"/>
          </a:p>
        </p:txBody>
      </p:sp>
      <p:sp>
        <p:nvSpPr>
          <p:cNvPr id="11" name="Shape 9"/>
          <p:cNvSpPr/>
          <p:nvPr/>
        </p:nvSpPr>
        <p:spPr>
          <a:xfrm>
            <a:off x="548640" y="2148840"/>
            <a:ext cx="7040880" cy="548640"/>
          </a:xfrm>
          <a:prstGeom prst="roundRect">
            <a:avLst>
              <a:gd name="adj" fmla="val 8333"/>
            </a:avLst>
          </a:prstGeom>
          <a:solidFill>
            <a:srgbClr val="F4F7FB"/>
          </a:solidFill>
          <a:ln w="12700">
            <a:solidFill>
              <a:srgbClr val="E4EAF2"/>
            </a:solidFill>
            <a:prstDash val="solid"/>
          </a:ln>
        </p:spPr>
      </p:sp>
      <p:sp>
        <p:nvSpPr>
          <p:cNvPr id="12" name="Shape 10"/>
          <p:cNvSpPr/>
          <p:nvPr/>
        </p:nvSpPr>
        <p:spPr>
          <a:xfrm>
            <a:off x="694944" y="2249424"/>
            <a:ext cx="347472" cy="347472"/>
          </a:xfrm>
          <a:prstGeom prst="ellipse">
            <a:avLst/>
          </a:prstGeom>
          <a:solidFill>
            <a:srgbClr val="0EA472"/>
          </a:solidFill>
          <a:ln/>
          <a:effectLst>
            <a:outerShdw sx="100000" sy="100000" kx="0" ky="0" algn="bl" rotWithShape="0" blurRad="5.457669265366968e+41" dist="1.6373007796100902e+41" dir="5.44195584e+49">
              <a:srgbClr val="A7B6CE">
                <a:alpha val="1.8e+49"/>
              </a:srgbClr>
            </a:outerShdw>
          </a:effectLst>
        </p:spPr>
      </p:sp>
      <p:sp>
        <p:nvSpPr>
          <p:cNvPr id="13" name="Text 11"/>
          <p:cNvSpPr/>
          <p:nvPr/>
        </p:nvSpPr>
        <p:spPr>
          <a:xfrm>
            <a:off x="694944" y="224942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1</a:t>
            </a:r>
            <a:endParaRPr lang="en-US" sz="1292" dirty="0"/>
          </a:p>
        </p:txBody>
      </p:sp>
      <p:sp>
        <p:nvSpPr>
          <p:cNvPr id="14" name="Text 12"/>
          <p:cNvSpPr/>
          <p:nvPr/>
        </p:nvSpPr>
        <p:spPr>
          <a:xfrm>
            <a:off x="1188720" y="214884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Measured ground truth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A true geometry engine (OCCT) measures volume, weight and area — the AI is checked against physics, not trusted blindly.</a:t>
            </a:r>
            <a:endParaRPr lang="en-US" sz="1060" dirty="0"/>
          </a:p>
        </p:txBody>
      </p:sp>
      <p:sp>
        <p:nvSpPr>
          <p:cNvPr id="15" name="Shape 13"/>
          <p:cNvSpPr/>
          <p:nvPr/>
        </p:nvSpPr>
        <p:spPr>
          <a:xfrm>
            <a:off x="548640" y="2788920"/>
            <a:ext cx="7040880" cy="548640"/>
          </a:xfrm>
          <a:prstGeom prst="roundRect">
            <a:avLst>
              <a:gd name="adj" fmla="val 8333"/>
            </a:avLst>
          </a:prstGeom>
          <a:solidFill>
            <a:srgbClr val="FFFFFF"/>
          </a:solidFill>
          <a:ln w="12700">
            <a:solidFill>
              <a:srgbClr val="E4EAF2"/>
            </a:solidFill>
            <a:prstDash val="solid"/>
          </a:ln>
        </p:spPr>
      </p:sp>
      <p:sp>
        <p:nvSpPr>
          <p:cNvPr id="16" name="Shape 14"/>
          <p:cNvSpPr/>
          <p:nvPr/>
        </p:nvSpPr>
        <p:spPr>
          <a:xfrm>
            <a:off x="694944" y="2889504"/>
            <a:ext cx="347472" cy="347472"/>
          </a:xfrm>
          <a:prstGeom prst="ellipse">
            <a:avLst/>
          </a:prstGeom>
          <a:solidFill>
            <a:srgbClr val="0EA472"/>
          </a:solidFill>
          <a:ln/>
          <a:effectLst>
            <a:outerShdw sx="100000" sy="100000" kx="0" ky="0" algn="bl" rotWithShape="0" blurRad="6.93123996701605e+45" dist="2.0793719901048145e+45" dir="3.2651735040000005e+54">
              <a:srgbClr val="A7B6CE">
                <a:alpha val="1.8e+54"/>
              </a:srgbClr>
            </a:outerShdw>
          </a:effectLst>
        </p:spPr>
      </p:sp>
      <p:sp>
        <p:nvSpPr>
          <p:cNvPr id="17" name="Text 15"/>
          <p:cNvSpPr/>
          <p:nvPr/>
        </p:nvSpPr>
        <p:spPr>
          <a:xfrm>
            <a:off x="694944" y="288950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2</a:t>
            </a:r>
            <a:endParaRPr lang="en-US" sz="1292" dirty="0"/>
          </a:p>
        </p:txBody>
      </p:sp>
      <p:sp>
        <p:nvSpPr>
          <p:cNvPr id="18" name="Text 16"/>
          <p:cNvSpPr/>
          <p:nvPr/>
        </p:nvSpPr>
        <p:spPr>
          <a:xfrm>
            <a:off x="1188720" y="278892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Bounded sanity checks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Volume drift over 25% is flagged and over 50% rejected; weight is cross-checked against measured density — hallucinations never reach the cost.</a:t>
            </a:r>
            <a:endParaRPr lang="en-US" sz="1060" dirty="0"/>
          </a:p>
        </p:txBody>
      </p:sp>
      <p:sp>
        <p:nvSpPr>
          <p:cNvPr id="19" name="Shape 17"/>
          <p:cNvSpPr/>
          <p:nvPr/>
        </p:nvSpPr>
        <p:spPr>
          <a:xfrm>
            <a:off x="548640" y="3429000"/>
            <a:ext cx="7040880" cy="548640"/>
          </a:xfrm>
          <a:prstGeom prst="roundRect">
            <a:avLst>
              <a:gd name="adj" fmla="val 8333"/>
            </a:avLst>
          </a:prstGeom>
          <a:solidFill>
            <a:srgbClr val="F4F7FB"/>
          </a:solidFill>
          <a:ln w="12700">
            <a:solidFill>
              <a:srgbClr val="E4EAF2"/>
            </a:solidFill>
            <a:prstDash val="solid"/>
          </a:ln>
        </p:spPr>
      </p:sp>
      <p:sp>
        <p:nvSpPr>
          <p:cNvPr id="20" name="Shape 18"/>
          <p:cNvSpPr/>
          <p:nvPr/>
        </p:nvSpPr>
        <p:spPr>
          <a:xfrm>
            <a:off x="694944" y="3529584"/>
            <a:ext cx="347472" cy="347472"/>
          </a:xfrm>
          <a:prstGeom prst="ellipse">
            <a:avLst/>
          </a:prstGeom>
          <a:solidFill>
            <a:srgbClr val="0EA472"/>
          </a:solidFill>
          <a:ln/>
          <a:effectLst>
            <a:outerShdw sx="100000" sy="100000" kx="0" ky="0" algn="bl" rotWithShape="0" blurRad="8.802674758110384e+49" dist="2.640802427433114e+49" dir="1.9591041024000004e+59">
              <a:srgbClr val="A7B6CE">
                <a:alpha val="1.8000000000000001e+59"/>
              </a:srgbClr>
            </a:outerShdw>
          </a:effectLst>
        </p:spPr>
      </p:sp>
      <p:sp>
        <p:nvSpPr>
          <p:cNvPr id="21" name="Text 19"/>
          <p:cNvSpPr/>
          <p:nvPr/>
        </p:nvSpPr>
        <p:spPr>
          <a:xfrm>
            <a:off x="694944" y="352958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3</a:t>
            </a:r>
            <a:endParaRPr lang="en-US" sz="1292" dirty="0"/>
          </a:p>
        </p:txBody>
      </p:sp>
      <p:sp>
        <p:nvSpPr>
          <p:cNvPr id="22" name="Text 20"/>
          <p:cNvSpPr/>
          <p:nvPr/>
        </p:nvSpPr>
        <p:spPr>
          <a:xfrm>
            <a:off x="1188720" y="342900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Deterministic 8-bucket engine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No AI in the money maths — it reproduces a hand-calculated £23.27 benchmark part to within 0.01%, and returns the same cost every run.</a:t>
            </a:r>
            <a:endParaRPr lang="en-US" sz="1060" dirty="0"/>
          </a:p>
        </p:txBody>
      </p:sp>
      <p:sp>
        <p:nvSpPr>
          <p:cNvPr id="23" name="Shape 21"/>
          <p:cNvSpPr/>
          <p:nvPr/>
        </p:nvSpPr>
        <p:spPr>
          <a:xfrm>
            <a:off x="548640" y="4069080"/>
            <a:ext cx="7040880" cy="548640"/>
          </a:xfrm>
          <a:prstGeom prst="roundRect">
            <a:avLst>
              <a:gd name="adj" fmla="val 8333"/>
            </a:avLst>
          </a:prstGeom>
          <a:solidFill>
            <a:srgbClr val="FFFFFF"/>
          </a:solidFill>
          <a:ln w="12700">
            <a:solidFill>
              <a:srgbClr val="E4EAF2"/>
            </a:solidFill>
            <a:prstDash val="solid"/>
          </a:ln>
        </p:spPr>
      </p:sp>
      <p:sp>
        <p:nvSpPr>
          <p:cNvPr id="24" name="Shape 22"/>
          <p:cNvSpPr/>
          <p:nvPr/>
        </p:nvSpPr>
        <p:spPr>
          <a:xfrm>
            <a:off x="694944" y="4169664"/>
            <a:ext cx="347472" cy="347472"/>
          </a:xfrm>
          <a:prstGeom prst="ellipse">
            <a:avLst/>
          </a:prstGeom>
          <a:solidFill>
            <a:srgbClr val="0EA472"/>
          </a:solidFill>
          <a:ln/>
          <a:effectLst>
            <a:outerShdw sx="100000" sy="100000" kx="0" ky="0" algn="bl" rotWithShape="0" blurRad="1.1179396942800187e+54" dist="3.353819082840055e+53" dir="1.1754624614400003e+64">
              <a:srgbClr val="A7B6CE">
                <a:alpha val="1.8e+64"/>
              </a:srgbClr>
            </a:outerShdw>
          </a:effectLst>
        </p:spPr>
      </p:sp>
      <p:sp>
        <p:nvSpPr>
          <p:cNvPr id="25" name="Text 23"/>
          <p:cNvSpPr/>
          <p:nvPr/>
        </p:nvSpPr>
        <p:spPr>
          <a:xfrm>
            <a:off x="694944" y="416966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4</a:t>
            </a:r>
            <a:endParaRPr lang="en-US" sz="1292" dirty="0"/>
          </a:p>
        </p:txBody>
      </p:sp>
      <p:sp>
        <p:nvSpPr>
          <p:cNvPr id="26" name="Text 24"/>
          <p:cNvSpPr/>
          <p:nvPr/>
        </p:nvSpPr>
        <p:spPr>
          <a:xfrm>
            <a:off x="1188720" y="406908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Provenance on every number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Each figure traces to its source — geometry, rate table or AI suggestion — with a High/Medium/Low confidence, defensible line by line.</a:t>
            </a:r>
            <a:endParaRPr lang="en-US" sz="1060" dirty="0"/>
          </a:p>
        </p:txBody>
      </p:sp>
      <p:sp>
        <p:nvSpPr>
          <p:cNvPr id="27" name="Shape 25"/>
          <p:cNvSpPr/>
          <p:nvPr/>
        </p:nvSpPr>
        <p:spPr>
          <a:xfrm>
            <a:off x="548640" y="4709160"/>
            <a:ext cx="7040880" cy="548640"/>
          </a:xfrm>
          <a:prstGeom prst="roundRect">
            <a:avLst>
              <a:gd name="adj" fmla="val 8333"/>
            </a:avLst>
          </a:prstGeom>
          <a:solidFill>
            <a:srgbClr val="F4F7FB"/>
          </a:solidFill>
          <a:ln w="12700">
            <a:solidFill>
              <a:srgbClr val="E4EAF2"/>
            </a:solidFill>
            <a:prstDash val="solid"/>
          </a:ln>
        </p:spPr>
      </p:sp>
      <p:sp>
        <p:nvSpPr>
          <p:cNvPr id="28" name="Shape 26"/>
          <p:cNvSpPr/>
          <p:nvPr/>
        </p:nvSpPr>
        <p:spPr>
          <a:xfrm>
            <a:off x="694944" y="4809744"/>
            <a:ext cx="347472" cy="347472"/>
          </a:xfrm>
          <a:prstGeom prst="ellipse">
            <a:avLst/>
          </a:prstGeom>
          <a:solidFill>
            <a:srgbClr val="0EA472"/>
          </a:solidFill>
          <a:ln/>
          <a:effectLst>
            <a:outerShdw sx="100000" sy="100000" kx="0" ky="0" algn="bl" rotWithShape="0" blurRad="1.419783411735624e+58" dist="4.2593502352068695e+57" dir="7.052774768640002e+68">
              <a:srgbClr val="A7B6CE">
                <a:alpha val="1.8e+69"/>
              </a:srgbClr>
            </a:outerShdw>
          </a:effectLst>
        </p:spPr>
      </p:sp>
      <p:sp>
        <p:nvSpPr>
          <p:cNvPr id="29" name="Text 27"/>
          <p:cNvSpPr/>
          <p:nvPr/>
        </p:nvSpPr>
        <p:spPr>
          <a:xfrm>
            <a:off x="694944" y="480974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5</a:t>
            </a:r>
            <a:endParaRPr lang="en-US" sz="1292" dirty="0"/>
          </a:p>
        </p:txBody>
      </p:sp>
      <p:sp>
        <p:nvSpPr>
          <p:cNvPr id="30" name="Text 28"/>
          <p:cNvSpPr/>
          <p:nvPr/>
        </p:nvSpPr>
        <p:spPr>
          <a:xfrm>
            <a:off x="1188720" y="470916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Confidence, not false precision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Every estimate carries a low–mid–high band and a manufacturability score, never a fake single number.</a:t>
            </a:r>
            <a:endParaRPr lang="en-US" sz="1060" dirty="0"/>
          </a:p>
        </p:txBody>
      </p:sp>
      <p:sp>
        <p:nvSpPr>
          <p:cNvPr id="31" name="Shape 29"/>
          <p:cNvSpPr/>
          <p:nvPr/>
        </p:nvSpPr>
        <p:spPr>
          <a:xfrm>
            <a:off x="548640" y="5349240"/>
            <a:ext cx="7040880" cy="548640"/>
          </a:xfrm>
          <a:prstGeom prst="roundRect">
            <a:avLst>
              <a:gd name="adj" fmla="val 8333"/>
            </a:avLst>
          </a:prstGeom>
          <a:solidFill>
            <a:srgbClr val="FFFFFF"/>
          </a:solidFill>
          <a:ln w="12700">
            <a:solidFill>
              <a:srgbClr val="E4EAF2"/>
            </a:solidFill>
            <a:prstDash val="solid"/>
          </a:ln>
        </p:spPr>
      </p:sp>
      <p:sp>
        <p:nvSpPr>
          <p:cNvPr id="32" name="Shape 30"/>
          <p:cNvSpPr/>
          <p:nvPr/>
        </p:nvSpPr>
        <p:spPr>
          <a:xfrm>
            <a:off x="694944" y="5449824"/>
            <a:ext cx="347472" cy="347472"/>
          </a:xfrm>
          <a:prstGeom prst="ellipse">
            <a:avLst/>
          </a:prstGeom>
          <a:solidFill>
            <a:srgbClr val="0EA472"/>
          </a:solidFill>
          <a:ln/>
          <a:effectLst>
            <a:outerShdw sx="100000" sy="100000" kx="0" ky="0" algn="bl" rotWithShape="0" blurRad="1.8031249329042424e+62" dist="5.409374798712724e+61" dir="4.2316648611840007e+73">
              <a:srgbClr val="A7B6CE">
                <a:alpha val="1.8000000000000002e+74"/>
              </a:srgbClr>
            </a:outerShdw>
          </a:effectLst>
        </p:spPr>
      </p:sp>
      <p:sp>
        <p:nvSpPr>
          <p:cNvPr id="33" name="Text 31"/>
          <p:cNvSpPr/>
          <p:nvPr/>
        </p:nvSpPr>
        <p:spPr>
          <a:xfrm>
            <a:off x="694944" y="544982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6</a:t>
            </a:r>
            <a:endParaRPr lang="en-US" sz="1292" dirty="0"/>
          </a:p>
        </p:txBody>
      </p:sp>
      <p:sp>
        <p:nvSpPr>
          <p:cNvPr id="34" name="Text 32"/>
          <p:cNvSpPr/>
          <p:nvPr/>
        </p:nvSpPr>
        <p:spPr>
          <a:xfrm>
            <a:off x="1188720" y="534924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Proven on real parts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Demonstrated end-to-end on real automotive parts — from a Tata Altroz bumper to premium-SUV components — through the live system.</a:t>
            </a:r>
            <a:endParaRPr lang="en-US" sz="1060" dirty="0"/>
          </a:p>
        </p:txBody>
      </p:sp>
      <p:sp>
        <p:nvSpPr>
          <p:cNvPr id="35" name="Shape 33"/>
          <p:cNvSpPr/>
          <p:nvPr/>
        </p:nvSpPr>
        <p:spPr>
          <a:xfrm>
            <a:off x="7909560" y="2148840"/>
            <a:ext cx="3733495" cy="3749040"/>
          </a:xfrm>
          <a:prstGeom prst="roundRect">
            <a:avLst>
              <a:gd name="adj" fmla="val 1714"/>
            </a:avLst>
          </a:prstGeom>
          <a:solidFill>
            <a:srgbClr val="E7F7F0"/>
          </a:solidFill>
          <a:ln w="12700">
            <a:solidFill>
              <a:srgbClr val="E4EAF2"/>
            </a:solidFill>
            <a:prstDash val="solid"/>
          </a:ln>
        </p:spPr>
      </p:sp>
      <p:sp>
        <p:nvSpPr>
          <p:cNvPr id="36" name="Shape 34"/>
          <p:cNvSpPr/>
          <p:nvPr/>
        </p:nvSpPr>
        <p:spPr>
          <a:xfrm>
            <a:off x="7909560" y="2148840"/>
            <a:ext cx="82296" cy="3749040"/>
          </a:xfrm>
          <a:prstGeom prst="rect">
            <a:avLst/>
          </a:prstGeom>
          <a:solidFill>
            <a:srgbClr val="0EA472"/>
          </a:solidFill>
          <a:ln/>
        </p:spPr>
      </p:sp>
      <p:sp>
        <p:nvSpPr>
          <p:cNvPr id="37" name="Text 35"/>
          <p:cNvSpPr/>
          <p:nvPr/>
        </p:nvSpPr>
        <p:spPr>
          <a:xfrm>
            <a:off x="8183880" y="2350008"/>
            <a:ext cx="3276295" cy="320040"/>
          </a:xfrm>
          <a:prstGeom prst="rect">
            <a:avLst/>
          </a:prstGeom>
          <a:noFill/>
          <a:ln/>
        </p:spPr>
        <p:txBody>
          <a:bodyPr wrap="square" lIns="0" tIns="0" rIns="0" bIns="0" rtlCol="0" anchor="t"/>
          <a:lstStyle/>
          <a:p>
            <a:pPr indent="0" marL="0">
              <a:buNone/>
            </a:pPr>
            <a:r>
              <a:rPr lang="en-US" sz="1400" b="1" dirty="0">
                <a:solidFill>
                  <a:srgbClr val="0EA472"/>
                </a:solidFill>
                <a:latin typeface="Calibri" pitchFamily="34" charset="0"/>
                <a:ea typeface="Calibri" pitchFamily="34" charset="-122"/>
                <a:cs typeface="Calibri" pitchFamily="34" charset="-120"/>
              </a:rPr>
              <a:t>Why it earns trust</a:t>
            </a:r>
            <a:endParaRPr lang="en-US" sz="1400" dirty="0"/>
          </a:p>
        </p:txBody>
      </p:sp>
      <p:sp>
        <p:nvSpPr>
          <p:cNvPr id="38" name="Text 36"/>
          <p:cNvSpPr/>
          <p:nvPr/>
        </p:nvSpPr>
        <p:spPr>
          <a:xfrm>
            <a:off x="8183880" y="2834640"/>
            <a:ext cx="3230575" cy="731520"/>
          </a:xfrm>
          <a:prstGeom prst="rect">
            <a:avLst/>
          </a:prstGeom>
          <a:noFill/>
          <a:ln/>
        </p:spPr>
        <p:txBody>
          <a:bodyPr wrap="square" lIns="0" tIns="0" rIns="0" bIns="0" rtlCol="0" anchor="t"/>
          <a:lstStyle/>
          <a:p>
            <a:pPr indent="0" marL="0">
              <a:lnSpc>
                <a:spcPct val="115000"/>
              </a:lnSpc>
              <a:buNone/>
            </a:pPr>
            <a:r>
              <a:rPr lang="en-US" sz="1250" b="1" dirty="0">
                <a:solidFill>
                  <a:srgbClr val="0F1E3D"/>
                </a:solidFill>
                <a:latin typeface="Calibri" pitchFamily="34" charset="0"/>
                <a:ea typeface="Calibri" pitchFamily="34" charset="-122"/>
                <a:cs typeface="Calibri" pitchFamily="34" charset="-120"/>
              </a:rPr>
              <a:t>The AI can suggest — it can never quietly decide the number.</a:t>
            </a:r>
            <a:endParaRPr lang="en-US" sz="1250" dirty="0"/>
          </a:p>
        </p:txBody>
      </p:sp>
      <p:sp>
        <p:nvSpPr>
          <p:cNvPr id="39" name="Text 37"/>
          <p:cNvSpPr/>
          <p:nvPr/>
        </p:nvSpPr>
        <p:spPr>
          <a:xfrm>
            <a:off x="8183880" y="3749040"/>
            <a:ext cx="3230575" cy="1645920"/>
          </a:xfrm>
          <a:prstGeom prst="rect">
            <a:avLst/>
          </a:prstGeom>
          <a:noFill/>
          <a:ln/>
        </p:spPr>
        <p:txBody>
          <a:bodyPr wrap="square" lIns="0" tIns="0" rIns="0" bIns="0" rtlCol="0" anchor="t"/>
          <a:lstStyle/>
          <a:p>
            <a:pPr indent="0" marL="0">
              <a:lnSpc>
                <a:spcPct val="120000"/>
              </a:lnSpc>
              <a:buNone/>
            </a:pPr>
            <a:r>
              <a:rPr lang="en-US" sz="1150" dirty="0">
                <a:solidFill>
                  <a:srgbClr val="3E4C63"/>
                </a:solidFill>
                <a:latin typeface="Calibri" pitchFamily="34" charset="0"/>
                <a:ea typeface="Calibri" pitchFamily="34" charset="-122"/>
                <a:cs typeface="Calibri" pitchFamily="34" charset="-120"/>
              </a:rPr>
              <a:t>Because the geometry is measured and the maths is deterministic, a wrong guess gets caught and flagged, not baked into a quote. That is the difference between a demo and a number you can put in front of a supplier.</a:t>
            </a:r>
            <a:endParaRPr lang="en-US" sz="1150" dirty="0"/>
          </a:p>
        </p:txBody>
      </p:sp>
      <p:sp>
        <p:nvSpPr>
          <p:cNvPr id="40" name="Shape 38"/>
          <p:cNvSpPr/>
          <p:nvPr/>
        </p:nvSpPr>
        <p:spPr>
          <a:xfrm>
            <a:off x="548640" y="6400800"/>
            <a:ext cx="11094415" cy="12802"/>
          </a:xfrm>
          <a:prstGeom prst="rect">
            <a:avLst/>
          </a:prstGeom>
          <a:solidFill>
            <a:srgbClr val="E4EAF2"/>
          </a:solidFill>
          <a:ln/>
        </p:spPr>
      </p:sp>
      <p:sp>
        <p:nvSpPr>
          <p:cNvPr id="41" name="Text 39"/>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42" name="Text 40"/>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10 / 25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93B0"/>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93B0"/>
                </a:solidFill>
                <a:latin typeface="Calibri" pitchFamily="34" charset="0"/>
                <a:ea typeface="Calibri" pitchFamily="34" charset="-122"/>
                <a:cs typeface="Calibri" pitchFamily="34" charset="-120"/>
              </a:rPr>
              <a:t>ONE MORE INPUT · ELECTRONICS</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PCB photo → BOM → should-cost</a:t>
            </a:r>
            <a:endParaRPr lang="en-US" sz="2400" dirty="0"/>
          </a:p>
        </p:txBody>
      </p:sp>
      <p:sp>
        <p:nvSpPr>
          <p:cNvPr id="9" name="Shape 7"/>
          <p:cNvSpPr/>
          <p:nvPr/>
        </p:nvSpPr>
        <p:spPr>
          <a:xfrm>
            <a:off x="548640" y="1371600"/>
            <a:ext cx="1051560" cy="45720"/>
          </a:xfrm>
          <a:prstGeom prst="rect">
            <a:avLst/>
          </a:prstGeom>
          <a:solidFill>
            <a:srgbClr val="0E93B0"/>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The same idea for electronics: photograph a circuit board and get a costed, flagged bill of materials in ~60 seconds.</a:t>
            </a:r>
            <a:endParaRPr lang="en-US" sz="1250" dirty="0"/>
          </a:p>
        </p:txBody>
      </p:sp>
      <p:sp>
        <p:nvSpPr>
          <p:cNvPr id="11" name="Shape 9"/>
          <p:cNvSpPr/>
          <p:nvPr/>
        </p:nvSpPr>
        <p:spPr>
          <a:xfrm>
            <a:off x="548640" y="2011680"/>
            <a:ext cx="5623560" cy="3200400"/>
          </a:xfrm>
          <a:prstGeom prst="roundRect">
            <a:avLst>
              <a:gd name="adj" fmla="val 2000"/>
            </a:avLst>
          </a:prstGeom>
          <a:solidFill>
            <a:srgbClr val="FFFFFF"/>
          </a:solidFill>
          <a:ln w="12700">
            <a:solidFill>
              <a:srgbClr val="E4EAF2"/>
            </a:solidFill>
            <a:prstDash val="solid"/>
          </a:ln>
          <a:effectLst>
            <a:outerShdw sx="100000" sy="100000" kx="0" ky="0" algn="bl" rotWithShape="0" blurRad="3.0076567690606238e+144" dist="8.593305054458923e+143" dir="1.5471637197735807e+169">
              <a:srgbClr val="9DB0CC">
                <a:alpha val="2.2e+174"/>
              </a:srgbClr>
            </a:outerShdw>
          </a:effectLst>
        </p:spPr>
      </p:sp>
      <p:graphicFrame>
        <p:nvGraphicFramePr>
          <p:cNvPr id="12" name="Chart 0" descr=""/>
          <p:cNvGraphicFramePr/>
          <p:nvPr/>
        </p:nvGraphicFramePr>
        <p:xfrm>
          <a:off x="731520" y="2194560"/>
          <a:ext cx="5257800" cy="2788920"/>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p:nvPr/>
        </p:nvSpPr>
        <p:spPr>
          <a:xfrm>
            <a:off x="731520" y="5230368"/>
            <a:ext cx="5577840" cy="320040"/>
          </a:xfrm>
          <a:prstGeom prst="rect">
            <a:avLst/>
          </a:prstGeom>
          <a:noFill/>
          <a:ln/>
        </p:spPr>
        <p:txBody>
          <a:bodyPr wrap="square" lIns="0" tIns="0" rIns="0" bIns="0" rtlCol="0" anchor="t"/>
          <a:lstStyle/>
          <a:p>
            <a:pPr indent="0" marL="0">
              <a:buNone/>
            </a:pPr>
            <a:r>
              <a:rPr lang="en-US" sz="900" i="1" dirty="0">
                <a:solidFill>
                  <a:srgbClr val="8A97A8"/>
                </a:solidFill>
                <a:latin typeface="Calibri" pitchFamily="34" charset="0"/>
                <a:ea typeface="Calibri" pitchFamily="34" charset="-122"/>
                <a:cs typeface="Calibri" pitchFamily="34" charset="-120"/>
              </a:rPr>
              <a:t>Real automotive ECU, China @ 10k/yr — AI within ~5% of a half-day manual estimate, in ~60 s.</a:t>
            </a:r>
            <a:endParaRPr lang="en-US" sz="900" dirty="0"/>
          </a:p>
        </p:txBody>
      </p:sp>
      <p:sp>
        <p:nvSpPr>
          <p:cNvPr id="14" name="Shape 11"/>
          <p:cNvSpPr/>
          <p:nvPr/>
        </p:nvSpPr>
        <p:spPr>
          <a:xfrm>
            <a:off x="6355080" y="2011680"/>
            <a:ext cx="5287975" cy="3200400"/>
          </a:xfrm>
          <a:prstGeom prst="roundRect">
            <a:avLst>
              <a:gd name="adj" fmla="val 2000"/>
            </a:avLst>
          </a:prstGeom>
          <a:solidFill>
            <a:srgbClr val="EAF1FE"/>
          </a:solidFill>
          <a:ln w="12700">
            <a:solidFill>
              <a:srgbClr val="E4EAF2"/>
            </a:solidFill>
            <a:prstDash val="solid"/>
          </a:ln>
        </p:spPr>
      </p:sp>
      <p:sp>
        <p:nvSpPr>
          <p:cNvPr id="15" name="Text 12"/>
          <p:cNvSpPr/>
          <p:nvPr/>
        </p:nvSpPr>
        <p:spPr>
          <a:xfrm>
            <a:off x="6629400" y="2176272"/>
            <a:ext cx="4830775" cy="320040"/>
          </a:xfrm>
          <a:prstGeom prst="rect">
            <a:avLst/>
          </a:prstGeom>
          <a:noFill/>
          <a:ln/>
        </p:spPr>
        <p:txBody>
          <a:bodyPr wrap="square" lIns="0" tIns="0" rIns="0" bIns="0" rtlCol="0" anchor="t"/>
          <a:lstStyle/>
          <a:p>
            <a:pPr indent="0" marL="0">
              <a:buNone/>
            </a:pPr>
            <a:r>
              <a:rPr lang="en-US" sz="1350" b="1" dirty="0">
                <a:solidFill>
                  <a:srgbClr val="0F1E3D"/>
                </a:solidFill>
                <a:latin typeface="Calibri" pitchFamily="34" charset="0"/>
                <a:ea typeface="Calibri" pitchFamily="34" charset="-122"/>
                <a:cs typeface="Calibri" pitchFamily="34" charset="-120"/>
              </a:rPr>
              <a:t>What it delivers</a:t>
            </a:r>
            <a:endParaRPr lang="en-US" sz="1350" dirty="0"/>
          </a:p>
        </p:txBody>
      </p:sp>
      <p:sp>
        <p:nvSpPr>
          <p:cNvPr id="16" name="Shape 13"/>
          <p:cNvSpPr/>
          <p:nvPr/>
        </p:nvSpPr>
        <p:spPr>
          <a:xfrm>
            <a:off x="6611112" y="2578608"/>
            <a:ext cx="274320" cy="274320"/>
          </a:xfrm>
          <a:prstGeom prst="ellipse">
            <a:avLst/>
          </a:prstGeom>
          <a:solidFill>
            <a:srgbClr val="E8F6FA"/>
          </a:solidFill>
          <a:ln/>
        </p:spPr>
      </p:sp>
      <p:sp>
        <p:nvSpPr>
          <p:cNvPr id="17" name="Text 14"/>
          <p:cNvSpPr/>
          <p:nvPr/>
        </p:nvSpPr>
        <p:spPr>
          <a:xfrm>
            <a:off x="6611112" y="2569464"/>
            <a:ext cx="274320" cy="274320"/>
          </a:xfrm>
          <a:prstGeom prst="rect">
            <a:avLst/>
          </a:prstGeom>
          <a:noFill/>
          <a:ln/>
        </p:spPr>
        <p:txBody>
          <a:bodyPr wrap="square" lIns="0" tIns="0" rIns="0" bIns="0" rtlCol="0" anchor="ctr"/>
          <a:lstStyle/>
          <a:p>
            <a:pPr algn="ctr" indent="0" marL="0">
              <a:buNone/>
            </a:pPr>
            <a:r>
              <a:rPr lang="en-US" sz="1000" b="1" dirty="0">
                <a:solidFill>
                  <a:srgbClr val="0E93B0"/>
                </a:solidFill>
                <a:latin typeface="Calibri" pitchFamily="34" charset="0"/>
                <a:ea typeface="Calibri" pitchFamily="34" charset="-122"/>
                <a:cs typeface="Calibri" pitchFamily="34" charset="-120"/>
              </a:rPr>
              <a:t>✓</a:t>
            </a:r>
            <a:endParaRPr lang="en-US" sz="1000" dirty="0"/>
          </a:p>
        </p:txBody>
      </p:sp>
      <p:sp>
        <p:nvSpPr>
          <p:cNvPr id="18" name="Text 15"/>
          <p:cNvSpPr/>
          <p:nvPr/>
        </p:nvSpPr>
        <p:spPr>
          <a:xfrm>
            <a:off x="6976872" y="2560320"/>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Full BOM from a photo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every component identified, OCR of IC markings</a:t>
            </a:r>
            <a:endParaRPr lang="en-US" sz="1030" dirty="0"/>
          </a:p>
        </p:txBody>
      </p:sp>
      <p:sp>
        <p:nvSpPr>
          <p:cNvPr id="19" name="Shape 16"/>
          <p:cNvSpPr/>
          <p:nvPr/>
        </p:nvSpPr>
        <p:spPr>
          <a:xfrm>
            <a:off x="6611112" y="3090672"/>
            <a:ext cx="274320" cy="274320"/>
          </a:xfrm>
          <a:prstGeom prst="ellipse">
            <a:avLst/>
          </a:prstGeom>
          <a:solidFill>
            <a:srgbClr val="E7F7F0"/>
          </a:solidFill>
          <a:ln/>
        </p:spPr>
      </p:sp>
      <p:sp>
        <p:nvSpPr>
          <p:cNvPr id="20" name="Text 17"/>
          <p:cNvSpPr/>
          <p:nvPr/>
        </p:nvSpPr>
        <p:spPr>
          <a:xfrm>
            <a:off x="6611112" y="3081528"/>
            <a:ext cx="274320" cy="274320"/>
          </a:xfrm>
          <a:prstGeom prst="rect">
            <a:avLst/>
          </a:prstGeom>
          <a:noFill/>
          <a:ln/>
        </p:spPr>
        <p:txBody>
          <a:bodyPr wrap="square" lIns="0" tIns="0" rIns="0" bIns="0" rtlCol="0" anchor="ctr"/>
          <a:lstStyle/>
          <a:p>
            <a:pPr algn="ctr" indent="0" marL="0">
              <a:buNone/>
            </a:pPr>
            <a:r>
              <a:rPr lang="en-US" sz="1000" b="1" dirty="0">
                <a:solidFill>
                  <a:srgbClr val="0EA472"/>
                </a:solidFill>
                <a:latin typeface="Calibri" pitchFamily="34" charset="0"/>
                <a:ea typeface="Calibri" pitchFamily="34" charset="-122"/>
                <a:cs typeface="Calibri" pitchFamily="34" charset="-120"/>
              </a:rPr>
              <a:t>✓</a:t>
            </a:r>
            <a:endParaRPr lang="en-US" sz="1000" dirty="0"/>
          </a:p>
        </p:txBody>
      </p:sp>
      <p:sp>
        <p:nvSpPr>
          <p:cNvPr id="21" name="Text 18"/>
          <p:cNvSpPr/>
          <p:nvPr/>
        </p:nvSpPr>
        <p:spPr>
          <a:xfrm>
            <a:off x="6976872" y="3072384"/>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Confirmed vs to-verify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headline splits the £ you can trust from the £ to firm up</a:t>
            </a:r>
            <a:endParaRPr lang="en-US" sz="1030" dirty="0"/>
          </a:p>
        </p:txBody>
      </p:sp>
      <p:sp>
        <p:nvSpPr>
          <p:cNvPr id="22" name="Shape 19"/>
          <p:cNvSpPr/>
          <p:nvPr/>
        </p:nvSpPr>
        <p:spPr>
          <a:xfrm>
            <a:off x="6611112" y="3602736"/>
            <a:ext cx="274320" cy="274320"/>
          </a:xfrm>
          <a:prstGeom prst="ellipse">
            <a:avLst/>
          </a:prstGeom>
          <a:solidFill>
            <a:srgbClr val="F3EEFE"/>
          </a:solidFill>
          <a:ln/>
        </p:spPr>
      </p:sp>
      <p:sp>
        <p:nvSpPr>
          <p:cNvPr id="23" name="Text 20"/>
          <p:cNvSpPr/>
          <p:nvPr/>
        </p:nvSpPr>
        <p:spPr>
          <a:xfrm>
            <a:off x="6611112" y="3593592"/>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24" name="Text 21"/>
          <p:cNvSpPr/>
          <p:nvPr/>
        </p:nvSpPr>
        <p:spPr>
          <a:xfrm>
            <a:off x="6976872" y="3584448"/>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Guardrails on misreads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a mis-read part is capped &amp; flagged, never left to dominate</a:t>
            </a:r>
            <a:endParaRPr lang="en-US" sz="1030" dirty="0"/>
          </a:p>
        </p:txBody>
      </p:sp>
      <p:sp>
        <p:nvSpPr>
          <p:cNvPr id="25" name="Shape 22"/>
          <p:cNvSpPr/>
          <p:nvPr/>
        </p:nvSpPr>
        <p:spPr>
          <a:xfrm>
            <a:off x="6611112" y="4114800"/>
            <a:ext cx="274320" cy="274320"/>
          </a:xfrm>
          <a:prstGeom prst="ellipse">
            <a:avLst/>
          </a:prstGeom>
          <a:solidFill>
            <a:srgbClr val="EAF1FE"/>
          </a:solidFill>
          <a:ln/>
        </p:spPr>
      </p:sp>
      <p:sp>
        <p:nvSpPr>
          <p:cNvPr id="26" name="Text 23"/>
          <p:cNvSpPr/>
          <p:nvPr/>
        </p:nvSpPr>
        <p:spPr>
          <a:xfrm>
            <a:off x="6611112" y="4105656"/>
            <a:ext cx="274320" cy="274320"/>
          </a:xfrm>
          <a:prstGeom prst="rect">
            <a:avLst/>
          </a:prstGeom>
          <a:noFill/>
          <a:ln/>
        </p:spPr>
        <p:txBody>
          <a:bodyPr wrap="square" lIns="0" tIns="0" rIns="0" bIns="0" rtlCol="0" anchor="ctr"/>
          <a:lstStyle/>
          <a:p>
            <a:pPr algn="ctr" indent="0" marL="0">
              <a:buNone/>
            </a:pPr>
            <a:r>
              <a:rPr lang="en-US" sz="1000" b="1" dirty="0">
                <a:solidFill>
                  <a:srgbClr val="2563EB"/>
                </a:solidFill>
                <a:latin typeface="Calibri" pitchFamily="34" charset="0"/>
                <a:ea typeface="Calibri" pitchFamily="34" charset="-122"/>
                <a:cs typeface="Calibri" pitchFamily="34" charset="-120"/>
              </a:rPr>
              <a:t>✓</a:t>
            </a:r>
            <a:endParaRPr lang="en-US" sz="1000" dirty="0"/>
          </a:p>
        </p:txBody>
      </p:sp>
      <p:sp>
        <p:nvSpPr>
          <p:cNvPr id="27" name="Text 24"/>
          <p:cNvSpPr/>
          <p:nvPr/>
        </p:nvSpPr>
        <p:spPr>
          <a:xfrm>
            <a:off x="6976872" y="4096512"/>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Regional should-cost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fab + assembly + BOM priced across regions</a:t>
            </a:r>
            <a:endParaRPr lang="en-US" sz="1030" dirty="0"/>
          </a:p>
        </p:txBody>
      </p:sp>
      <p:sp>
        <p:nvSpPr>
          <p:cNvPr id="28" name="Shape 25"/>
          <p:cNvSpPr/>
          <p:nvPr/>
        </p:nvSpPr>
        <p:spPr>
          <a:xfrm>
            <a:off x="6611112" y="4626864"/>
            <a:ext cx="274320" cy="274320"/>
          </a:xfrm>
          <a:prstGeom prst="ellipse">
            <a:avLst/>
          </a:prstGeom>
          <a:solidFill>
            <a:srgbClr val="FEF6E7"/>
          </a:solidFill>
          <a:ln/>
        </p:spPr>
      </p:sp>
      <p:sp>
        <p:nvSpPr>
          <p:cNvPr id="29" name="Text 26"/>
          <p:cNvSpPr/>
          <p:nvPr/>
        </p:nvSpPr>
        <p:spPr>
          <a:xfrm>
            <a:off x="6611112" y="4617720"/>
            <a:ext cx="274320" cy="274320"/>
          </a:xfrm>
          <a:prstGeom prst="rect">
            <a:avLst/>
          </a:prstGeom>
          <a:noFill/>
          <a:ln/>
        </p:spPr>
        <p:txBody>
          <a:bodyPr wrap="square" lIns="0" tIns="0" rIns="0" bIns="0" rtlCol="0" anchor="ctr"/>
          <a:lstStyle/>
          <a:p>
            <a:pPr algn="ctr" indent="0" marL="0">
              <a:buNone/>
            </a:pPr>
            <a:r>
              <a:rPr lang="en-US" sz="1000" b="1" dirty="0">
                <a:solidFill>
                  <a:srgbClr val="E0900C"/>
                </a:solidFill>
                <a:latin typeface="Calibri" pitchFamily="34" charset="0"/>
                <a:ea typeface="Calibri" pitchFamily="34" charset="-122"/>
                <a:cs typeface="Calibri" pitchFamily="34" charset="-120"/>
              </a:rPr>
              <a:t>✓</a:t>
            </a:r>
            <a:endParaRPr lang="en-US" sz="1000" dirty="0"/>
          </a:p>
        </p:txBody>
      </p:sp>
      <p:sp>
        <p:nvSpPr>
          <p:cNvPr id="30" name="Text 27"/>
          <p:cNvSpPr/>
          <p:nvPr/>
        </p:nvSpPr>
        <p:spPr>
          <a:xfrm>
            <a:off x="6976872" y="4608576"/>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ASIL &amp; compliance aware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ISO 26262 safety class inferred automatically</a:t>
            </a:r>
            <a:endParaRPr lang="en-US" sz="1030" dirty="0"/>
          </a:p>
        </p:txBody>
      </p:sp>
      <p:sp>
        <p:nvSpPr>
          <p:cNvPr id="31" name="Shape 28"/>
          <p:cNvSpPr/>
          <p:nvPr/>
        </p:nvSpPr>
        <p:spPr>
          <a:xfrm>
            <a:off x="548640" y="5394960"/>
            <a:ext cx="11091672" cy="640080"/>
          </a:xfrm>
          <a:prstGeom prst="roundRect">
            <a:avLst>
              <a:gd name="adj" fmla="val 10000"/>
            </a:avLst>
          </a:prstGeom>
          <a:solidFill>
            <a:srgbClr val="E7F7F0"/>
          </a:solidFill>
          <a:ln w="12700">
            <a:solidFill>
              <a:srgbClr val="E4EAF2"/>
            </a:solidFill>
            <a:prstDash val="solid"/>
          </a:ln>
        </p:spPr>
      </p:sp>
      <p:sp>
        <p:nvSpPr>
          <p:cNvPr id="32" name="Text 29"/>
          <p:cNvSpPr/>
          <p:nvPr/>
        </p:nvSpPr>
        <p:spPr>
          <a:xfrm>
            <a:off x="914400" y="5394960"/>
            <a:ext cx="10332720" cy="640080"/>
          </a:xfrm>
          <a:prstGeom prst="rect">
            <a:avLst/>
          </a:prstGeom>
          <a:noFill/>
          <a:ln/>
        </p:spPr>
        <p:txBody>
          <a:bodyPr wrap="square" lIns="0" tIns="0" rIns="0" bIns="0" rtlCol="0" anchor="ctr"/>
          <a:lstStyle/>
          <a:p>
            <a:pPr indent="0" marL="0">
              <a:lnSpc>
                <a:spcPct val="108000"/>
              </a:lnSpc>
              <a:buNone/>
            </a:pPr>
            <a:r>
              <a:rPr lang="en-US" sz="1150" b="1" dirty="0">
                <a:solidFill>
                  <a:srgbClr val="0EA472"/>
                </a:solidFill>
                <a:latin typeface="Calibri" pitchFamily="34" charset="0"/>
                <a:ea typeface="Calibri" pitchFamily="34" charset="-122"/>
                <a:cs typeface="Calibri" pitchFamily="34" charset="-120"/>
              </a:rPr>
              <a:t>Verified live:  </a:t>
            </a:r>
            <a:pPr indent="0" marL="0">
              <a:lnSpc>
                <a:spcPct val="108000"/>
              </a:lnSpc>
              <a:buNone/>
            </a:pPr>
            <a:r>
              <a:rPr lang="en-US" sz="1150" dirty="0">
                <a:solidFill>
                  <a:srgbClr val="3E4C63"/>
                </a:solidFill>
                <a:latin typeface="Calibri" pitchFamily="34" charset="0"/>
                <a:ea typeface="Calibri" pitchFamily="34" charset="-122"/>
                <a:cs typeface="Calibri" pitchFamily="34" charset="-120"/>
              </a:rPr>
              <a:t>that ECU came back ASIL-B, 23 BOM lines, £69.11/board — within ~5% of a manual estimate, in ~60 seconds. A full deep-dive deck exists for this feature.</a:t>
            </a:r>
            <a:endParaRPr lang="en-US" sz="1150" dirty="0"/>
          </a:p>
        </p:txBody>
      </p:sp>
      <p:sp>
        <p:nvSpPr>
          <p:cNvPr id="33" name="Shape 30"/>
          <p:cNvSpPr/>
          <p:nvPr/>
        </p:nvSpPr>
        <p:spPr>
          <a:xfrm>
            <a:off x="548640" y="6400800"/>
            <a:ext cx="11094415" cy="12802"/>
          </a:xfrm>
          <a:prstGeom prst="rect">
            <a:avLst/>
          </a:prstGeom>
          <a:solidFill>
            <a:srgbClr val="E4EAF2"/>
          </a:solidFill>
          <a:ln/>
        </p:spPr>
      </p:sp>
      <p:sp>
        <p:nvSpPr>
          <p:cNvPr id="34" name="Text 31"/>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35" name="Text 32"/>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11 / 25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E0900C"/>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E0900C"/>
                </a:solidFill>
                <a:latin typeface="Calibri" pitchFamily="34" charset="0"/>
                <a:ea typeface="Calibri" pitchFamily="34" charset="-122"/>
                <a:cs typeface="Calibri" pitchFamily="34" charset="-120"/>
              </a:rPr>
              <a:t>BREADTH</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Estimate anything — 19 commodity engines</a:t>
            </a:r>
            <a:endParaRPr lang="en-US" sz="2400" dirty="0"/>
          </a:p>
        </p:txBody>
      </p:sp>
      <p:sp>
        <p:nvSpPr>
          <p:cNvPr id="9" name="Shape 7"/>
          <p:cNvSpPr/>
          <p:nvPr/>
        </p:nvSpPr>
        <p:spPr>
          <a:xfrm>
            <a:off x="548640" y="1371600"/>
            <a:ext cx="1051560" cy="45720"/>
          </a:xfrm>
          <a:prstGeom prst="rect">
            <a:avLst/>
          </a:prstGeom>
          <a:solidFill>
            <a:srgbClr val="E0900C"/>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Purpose-built, bottom-up models for the whole part portfolio — not one generic formula stretched over everything.</a:t>
            </a:r>
            <a:endParaRPr lang="en-US" sz="1250" dirty="0"/>
          </a:p>
        </p:txBody>
      </p:sp>
      <p:sp>
        <p:nvSpPr>
          <p:cNvPr id="11" name="Shape 9"/>
          <p:cNvSpPr/>
          <p:nvPr/>
        </p:nvSpPr>
        <p:spPr>
          <a:xfrm>
            <a:off x="548640" y="1874520"/>
            <a:ext cx="3520440" cy="502920"/>
          </a:xfrm>
          <a:prstGeom prst="roundRect">
            <a:avLst>
              <a:gd name="adj" fmla="val 14545"/>
            </a:avLst>
          </a:prstGeom>
          <a:solidFill>
            <a:srgbClr val="EAF1FE"/>
          </a:solidFill>
          <a:ln w="9525">
            <a:solidFill>
              <a:srgbClr val="E4EAF2"/>
            </a:solidFill>
            <a:prstDash val="solid"/>
          </a:ln>
        </p:spPr>
      </p:sp>
      <p:sp>
        <p:nvSpPr>
          <p:cNvPr id="12" name="Shape 10"/>
          <p:cNvSpPr/>
          <p:nvPr/>
        </p:nvSpPr>
        <p:spPr>
          <a:xfrm>
            <a:off x="768096" y="2066544"/>
            <a:ext cx="128016" cy="128016"/>
          </a:xfrm>
          <a:prstGeom prst="ellipse">
            <a:avLst/>
          </a:prstGeom>
          <a:solidFill>
            <a:srgbClr val="2563EB"/>
          </a:solidFill>
          <a:ln/>
        </p:spPr>
      </p:sp>
      <p:sp>
        <p:nvSpPr>
          <p:cNvPr id="13" name="Text 11"/>
          <p:cNvSpPr/>
          <p:nvPr/>
        </p:nvSpPr>
        <p:spPr>
          <a:xfrm>
            <a:off x="1005840" y="187452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Casting — sand / gravity / investment</a:t>
            </a:r>
            <a:endParaRPr lang="en-US" sz="1050" dirty="0"/>
          </a:p>
        </p:txBody>
      </p:sp>
      <p:sp>
        <p:nvSpPr>
          <p:cNvPr id="14" name="Shape 12"/>
          <p:cNvSpPr/>
          <p:nvPr/>
        </p:nvSpPr>
        <p:spPr>
          <a:xfrm>
            <a:off x="4325112" y="1874520"/>
            <a:ext cx="3520440" cy="502920"/>
          </a:xfrm>
          <a:prstGeom prst="roundRect">
            <a:avLst>
              <a:gd name="adj" fmla="val 14545"/>
            </a:avLst>
          </a:prstGeom>
          <a:solidFill>
            <a:srgbClr val="E8F6FA"/>
          </a:solidFill>
          <a:ln w="9525">
            <a:solidFill>
              <a:srgbClr val="E4EAF2"/>
            </a:solidFill>
            <a:prstDash val="solid"/>
          </a:ln>
        </p:spPr>
      </p:sp>
      <p:sp>
        <p:nvSpPr>
          <p:cNvPr id="15" name="Shape 13"/>
          <p:cNvSpPr/>
          <p:nvPr/>
        </p:nvSpPr>
        <p:spPr>
          <a:xfrm>
            <a:off x="4544568" y="2066544"/>
            <a:ext cx="128016" cy="128016"/>
          </a:xfrm>
          <a:prstGeom prst="ellipse">
            <a:avLst/>
          </a:prstGeom>
          <a:solidFill>
            <a:srgbClr val="0E93B0"/>
          </a:solidFill>
          <a:ln/>
        </p:spPr>
      </p:sp>
      <p:sp>
        <p:nvSpPr>
          <p:cNvPr id="16" name="Text 14"/>
          <p:cNvSpPr/>
          <p:nvPr/>
        </p:nvSpPr>
        <p:spPr>
          <a:xfrm>
            <a:off x="4782312" y="187452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HPDC die-casting</a:t>
            </a:r>
            <a:endParaRPr lang="en-US" sz="1050" dirty="0"/>
          </a:p>
        </p:txBody>
      </p:sp>
      <p:sp>
        <p:nvSpPr>
          <p:cNvPr id="17" name="Shape 15"/>
          <p:cNvSpPr/>
          <p:nvPr/>
        </p:nvSpPr>
        <p:spPr>
          <a:xfrm>
            <a:off x="8101584" y="1874520"/>
            <a:ext cx="3520440" cy="502920"/>
          </a:xfrm>
          <a:prstGeom prst="roundRect">
            <a:avLst>
              <a:gd name="adj" fmla="val 14545"/>
            </a:avLst>
          </a:prstGeom>
          <a:solidFill>
            <a:srgbClr val="E7F7F0"/>
          </a:solidFill>
          <a:ln w="9525">
            <a:solidFill>
              <a:srgbClr val="E4EAF2"/>
            </a:solidFill>
            <a:prstDash val="solid"/>
          </a:ln>
        </p:spPr>
      </p:sp>
      <p:sp>
        <p:nvSpPr>
          <p:cNvPr id="18" name="Shape 16"/>
          <p:cNvSpPr/>
          <p:nvPr/>
        </p:nvSpPr>
        <p:spPr>
          <a:xfrm>
            <a:off x="8321040" y="2066544"/>
            <a:ext cx="128016" cy="128016"/>
          </a:xfrm>
          <a:prstGeom prst="ellipse">
            <a:avLst/>
          </a:prstGeom>
          <a:solidFill>
            <a:srgbClr val="0DA5A0"/>
          </a:solidFill>
          <a:ln/>
        </p:spPr>
      </p:sp>
      <p:sp>
        <p:nvSpPr>
          <p:cNvPr id="19" name="Text 17"/>
          <p:cNvSpPr/>
          <p:nvPr/>
        </p:nvSpPr>
        <p:spPr>
          <a:xfrm>
            <a:off x="8558784" y="187452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CNC machining</a:t>
            </a:r>
            <a:endParaRPr lang="en-US" sz="1050" dirty="0"/>
          </a:p>
        </p:txBody>
      </p:sp>
      <p:sp>
        <p:nvSpPr>
          <p:cNvPr id="20" name="Shape 18"/>
          <p:cNvSpPr/>
          <p:nvPr/>
        </p:nvSpPr>
        <p:spPr>
          <a:xfrm>
            <a:off x="548640" y="2514600"/>
            <a:ext cx="3520440" cy="502920"/>
          </a:xfrm>
          <a:prstGeom prst="roundRect">
            <a:avLst>
              <a:gd name="adj" fmla="val 14545"/>
            </a:avLst>
          </a:prstGeom>
          <a:solidFill>
            <a:srgbClr val="EAF1FE"/>
          </a:solidFill>
          <a:ln w="9525">
            <a:solidFill>
              <a:srgbClr val="E4EAF2"/>
            </a:solidFill>
            <a:prstDash val="solid"/>
          </a:ln>
        </p:spPr>
      </p:sp>
      <p:sp>
        <p:nvSpPr>
          <p:cNvPr id="21" name="Shape 19"/>
          <p:cNvSpPr/>
          <p:nvPr/>
        </p:nvSpPr>
        <p:spPr>
          <a:xfrm>
            <a:off x="768096" y="2706624"/>
            <a:ext cx="128016" cy="128016"/>
          </a:xfrm>
          <a:prstGeom prst="ellipse">
            <a:avLst/>
          </a:prstGeom>
          <a:solidFill>
            <a:srgbClr val="4F46E5"/>
          </a:solidFill>
          <a:ln/>
        </p:spPr>
      </p:sp>
      <p:sp>
        <p:nvSpPr>
          <p:cNvPr id="22" name="Text 20"/>
          <p:cNvSpPr/>
          <p:nvPr/>
        </p:nvSpPr>
        <p:spPr>
          <a:xfrm>
            <a:off x="1005840" y="251460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Forging</a:t>
            </a:r>
            <a:endParaRPr lang="en-US" sz="1050" dirty="0"/>
          </a:p>
        </p:txBody>
      </p:sp>
      <p:sp>
        <p:nvSpPr>
          <p:cNvPr id="23" name="Shape 21"/>
          <p:cNvSpPr/>
          <p:nvPr/>
        </p:nvSpPr>
        <p:spPr>
          <a:xfrm>
            <a:off x="4325112" y="2514600"/>
            <a:ext cx="3520440" cy="502920"/>
          </a:xfrm>
          <a:prstGeom prst="roundRect">
            <a:avLst>
              <a:gd name="adj" fmla="val 14545"/>
            </a:avLst>
          </a:prstGeom>
          <a:solidFill>
            <a:srgbClr val="F4F7FB"/>
          </a:solidFill>
          <a:ln w="9525">
            <a:solidFill>
              <a:srgbClr val="E4EAF2"/>
            </a:solidFill>
            <a:prstDash val="solid"/>
          </a:ln>
        </p:spPr>
      </p:sp>
      <p:sp>
        <p:nvSpPr>
          <p:cNvPr id="24" name="Shape 22"/>
          <p:cNvSpPr/>
          <p:nvPr/>
        </p:nvSpPr>
        <p:spPr>
          <a:xfrm>
            <a:off x="4544568" y="2706624"/>
            <a:ext cx="128016" cy="128016"/>
          </a:xfrm>
          <a:prstGeom prst="ellipse">
            <a:avLst/>
          </a:prstGeom>
          <a:solidFill>
            <a:srgbClr val="2E90FA"/>
          </a:solidFill>
          <a:ln/>
        </p:spPr>
      </p:sp>
      <p:sp>
        <p:nvSpPr>
          <p:cNvPr id="25" name="Text 23"/>
          <p:cNvSpPr/>
          <p:nvPr/>
        </p:nvSpPr>
        <p:spPr>
          <a:xfrm>
            <a:off x="4782312" y="251460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Sheet metal — stamping</a:t>
            </a:r>
            <a:endParaRPr lang="en-US" sz="1050" dirty="0"/>
          </a:p>
        </p:txBody>
      </p:sp>
      <p:sp>
        <p:nvSpPr>
          <p:cNvPr id="26" name="Shape 24"/>
          <p:cNvSpPr/>
          <p:nvPr/>
        </p:nvSpPr>
        <p:spPr>
          <a:xfrm>
            <a:off x="8101584" y="2514600"/>
            <a:ext cx="3520440" cy="502920"/>
          </a:xfrm>
          <a:prstGeom prst="roundRect">
            <a:avLst>
              <a:gd name="adj" fmla="val 14545"/>
            </a:avLst>
          </a:prstGeom>
          <a:solidFill>
            <a:srgbClr val="F3EEFE"/>
          </a:solidFill>
          <a:ln w="9525">
            <a:solidFill>
              <a:srgbClr val="E4EAF2"/>
            </a:solidFill>
            <a:prstDash val="solid"/>
          </a:ln>
        </p:spPr>
      </p:sp>
      <p:sp>
        <p:nvSpPr>
          <p:cNvPr id="27" name="Shape 25"/>
          <p:cNvSpPr/>
          <p:nvPr/>
        </p:nvSpPr>
        <p:spPr>
          <a:xfrm>
            <a:off x="8321040" y="2706624"/>
            <a:ext cx="128016" cy="128016"/>
          </a:xfrm>
          <a:prstGeom prst="ellipse">
            <a:avLst/>
          </a:prstGeom>
          <a:solidFill>
            <a:srgbClr val="7C3AED"/>
          </a:solidFill>
          <a:ln/>
        </p:spPr>
      </p:sp>
      <p:sp>
        <p:nvSpPr>
          <p:cNvPr id="28" name="Text 26"/>
          <p:cNvSpPr/>
          <p:nvPr/>
        </p:nvSpPr>
        <p:spPr>
          <a:xfrm>
            <a:off x="8558784" y="251460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Sheet-metal fabrication</a:t>
            </a:r>
            <a:endParaRPr lang="en-US" sz="1050" dirty="0"/>
          </a:p>
        </p:txBody>
      </p:sp>
      <p:sp>
        <p:nvSpPr>
          <p:cNvPr id="29" name="Shape 27"/>
          <p:cNvSpPr/>
          <p:nvPr/>
        </p:nvSpPr>
        <p:spPr>
          <a:xfrm>
            <a:off x="548640" y="3154680"/>
            <a:ext cx="3520440" cy="502920"/>
          </a:xfrm>
          <a:prstGeom prst="roundRect">
            <a:avLst>
              <a:gd name="adj" fmla="val 14545"/>
            </a:avLst>
          </a:prstGeom>
          <a:solidFill>
            <a:srgbClr val="E7F7F0"/>
          </a:solidFill>
          <a:ln w="9525">
            <a:solidFill>
              <a:srgbClr val="E4EAF2"/>
            </a:solidFill>
            <a:prstDash val="solid"/>
          </a:ln>
        </p:spPr>
      </p:sp>
      <p:sp>
        <p:nvSpPr>
          <p:cNvPr id="30" name="Shape 28"/>
          <p:cNvSpPr/>
          <p:nvPr/>
        </p:nvSpPr>
        <p:spPr>
          <a:xfrm>
            <a:off x="768096" y="3346704"/>
            <a:ext cx="128016" cy="128016"/>
          </a:xfrm>
          <a:prstGeom prst="ellipse">
            <a:avLst/>
          </a:prstGeom>
          <a:solidFill>
            <a:srgbClr val="0EA472"/>
          </a:solidFill>
          <a:ln/>
        </p:spPr>
      </p:sp>
      <p:sp>
        <p:nvSpPr>
          <p:cNvPr id="31" name="Text 29"/>
          <p:cNvSpPr/>
          <p:nvPr/>
        </p:nvSpPr>
        <p:spPr>
          <a:xfrm>
            <a:off x="1005840" y="315468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Injection moulding</a:t>
            </a:r>
            <a:endParaRPr lang="en-US" sz="1050" dirty="0"/>
          </a:p>
        </p:txBody>
      </p:sp>
      <p:sp>
        <p:nvSpPr>
          <p:cNvPr id="32" name="Shape 30"/>
          <p:cNvSpPr/>
          <p:nvPr/>
        </p:nvSpPr>
        <p:spPr>
          <a:xfrm>
            <a:off x="4325112" y="3154680"/>
            <a:ext cx="3520440" cy="502920"/>
          </a:xfrm>
          <a:prstGeom prst="roundRect">
            <a:avLst>
              <a:gd name="adj" fmla="val 14545"/>
            </a:avLst>
          </a:prstGeom>
          <a:solidFill>
            <a:srgbClr val="FEF6E7"/>
          </a:solidFill>
          <a:ln w="9525">
            <a:solidFill>
              <a:srgbClr val="E4EAF2"/>
            </a:solidFill>
            <a:prstDash val="solid"/>
          </a:ln>
        </p:spPr>
      </p:sp>
      <p:sp>
        <p:nvSpPr>
          <p:cNvPr id="33" name="Shape 31"/>
          <p:cNvSpPr/>
          <p:nvPr/>
        </p:nvSpPr>
        <p:spPr>
          <a:xfrm>
            <a:off x="4544568" y="3346704"/>
            <a:ext cx="128016" cy="128016"/>
          </a:xfrm>
          <a:prstGeom prst="ellipse">
            <a:avLst/>
          </a:prstGeom>
          <a:solidFill>
            <a:srgbClr val="E0900C"/>
          </a:solidFill>
          <a:ln/>
        </p:spPr>
      </p:sp>
      <p:sp>
        <p:nvSpPr>
          <p:cNvPr id="34" name="Text 32"/>
          <p:cNvSpPr/>
          <p:nvPr/>
        </p:nvSpPr>
        <p:spPr>
          <a:xfrm>
            <a:off x="4782312" y="315468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Blow moulding</a:t>
            </a:r>
            <a:endParaRPr lang="en-US" sz="1050" dirty="0"/>
          </a:p>
        </p:txBody>
      </p:sp>
      <p:sp>
        <p:nvSpPr>
          <p:cNvPr id="35" name="Shape 33"/>
          <p:cNvSpPr/>
          <p:nvPr/>
        </p:nvSpPr>
        <p:spPr>
          <a:xfrm>
            <a:off x="8101584" y="3154680"/>
            <a:ext cx="3520440" cy="502920"/>
          </a:xfrm>
          <a:prstGeom prst="roundRect">
            <a:avLst>
              <a:gd name="adj" fmla="val 14545"/>
            </a:avLst>
          </a:prstGeom>
          <a:solidFill>
            <a:srgbClr val="FDECEC"/>
          </a:solidFill>
          <a:ln w="9525">
            <a:solidFill>
              <a:srgbClr val="E4EAF2"/>
            </a:solidFill>
            <a:prstDash val="solid"/>
          </a:ln>
        </p:spPr>
      </p:sp>
      <p:sp>
        <p:nvSpPr>
          <p:cNvPr id="36" name="Shape 34"/>
          <p:cNvSpPr/>
          <p:nvPr/>
        </p:nvSpPr>
        <p:spPr>
          <a:xfrm>
            <a:off x="8321040" y="3346704"/>
            <a:ext cx="128016" cy="128016"/>
          </a:xfrm>
          <a:prstGeom prst="ellipse">
            <a:avLst/>
          </a:prstGeom>
          <a:solidFill>
            <a:srgbClr val="E5484D"/>
          </a:solidFill>
          <a:ln/>
        </p:spPr>
      </p:sp>
      <p:sp>
        <p:nvSpPr>
          <p:cNvPr id="37" name="Text 35"/>
          <p:cNvSpPr/>
          <p:nvPr/>
        </p:nvSpPr>
        <p:spPr>
          <a:xfrm>
            <a:off x="8558784" y="315468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Thermoforming</a:t>
            </a:r>
            <a:endParaRPr lang="en-US" sz="1050" dirty="0"/>
          </a:p>
        </p:txBody>
      </p:sp>
      <p:sp>
        <p:nvSpPr>
          <p:cNvPr id="38" name="Shape 36"/>
          <p:cNvSpPr/>
          <p:nvPr/>
        </p:nvSpPr>
        <p:spPr>
          <a:xfrm>
            <a:off x="548640" y="3794760"/>
            <a:ext cx="3520440" cy="502920"/>
          </a:xfrm>
          <a:prstGeom prst="roundRect">
            <a:avLst>
              <a:gd name="adj" fmla="val 14545"/>
            </a:avLst>
          </a:prstGeom>
          <a:solidFill>
            <a:srgbClr val="EAF1FE"/>
          </a:solidFill>
          <a:ln w="9525">
            <a:solidFill>
              <a:srgbClr val="E4EAF2"/>
            </a:solidFill>
            <a:prstDash val="solid"/>
          </a:ln>
        </p:spPr>
      </p:sp>
      <p:sp>
        <p:nvSpPr>
          <p:cNvPr id="39" name="Shape 37"/>
          <p:cNvSpPr/>
          <p:nvPr/>
        </p:nvSpPr>
        <p:spPr>
          <a:xfrm>
            <a:off x="768096" y="3986784"/>
            <a:ext cx="128016" cy="128016"/>
          </a:xfrm>
          <a:prstGeom prst="ellipse">
            <a:avLst/>
          </a:prstGeom>
          <a:solidFill>
            <a:srgbClr val="2563EB"/>
          </a:solidFill>
          <a:ln/>
        </p:spPr>
      </p:sp>
      <p:sp>
        <p:nvSpPr>
          <p:cNvPr id="40" name="Text 38"/>
          <p:cNvSpPr/>
          <p:nvPr/>
        </p:nvSpPr>
        <p:spPr>
          <a:xfrm>
            <a:off x="1005840" y="379476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Rotational moulding</a:t>
            </a:r>
            <a:endParaRPr lang="en-US" sz="1050" dirty="0"/>
          </a:p>
        </p:txBody>
      </p:sp>
      <p:sp>
        <p:nvSpPr>
          <p:cNvPr id="41" name="Shape 39"/>
          <p:cNvSpPr/>
          <p:nvPr/>
        </p:nvSpPr>
        <p:spPr>
          <a:xfrm>
            <a:off x="4325112" y="3794760"/>
            <a:ext cx="3520440" cy="502920"/>
          </a:xfrm>
          <a:prstGeom prst="roundRect">
            <a:avLst>
              <a:gd name="adj" fmla="val 14545"/>
            </a:avLst>
          </a:prstGeom>
          <a:solidFill>
            <a:srgbClr val="E8F6FA"/>
          </a:solidFill>
          <a:ln w="9525">
            <a:solidFill>
              <a:srgbClr val="E4EAF2"/>
            </a:solidFill>
            <a:prstDash val="solid"/>
          </a:ln>
        </p:spPr>
      </p:sp>
      <p:sp>
        <p:nvSpPr>
          <p:cNvPr id="42" name="Shape 40"/>
          <p:cNvSpPr/>
          <p:nvPr/>
        </p:nvSpPr>
        <p:spPr>
          <a:xfrm>
            <a:off x="4544568" y="3986784"/>
            <a:ext cx="128016" cy="128016"/>
          </a:xfrm>
          <a:prstGeom prst="ellipse">
            <a:avLst/>
          </a:prstGeom>
          <a:solidFill>
            <a:srgbClr val="0E93B0"/>
          </a:solidFill>
          <a:ln/>
        </p:spPr>
      </p:sp>
      <p:sp>
        <p:nvSpPr>
          <p:cNvPr id="43" name="Text 41"/>
          <p:cNvSpPr/>
          <p:nvPr/>
        </p:nvSpPr>
        <p:spPr>
          <a:xfrm>
            <a:off x="4782312" y="379476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Rubber &amp; elastomers</a:t>
            </a:r>
            <a:endParaRPr lang="en-US" sz="1050" dirty="0"/>
          </a:p>
        </p:txBody>
      </p:sp>
      <p:sp>
        <p:nvSpPr>
          <p:cNvPr id="44" name="Shape 42"/>
          <p:cNvSpPr/>
          <p:nvPr/>
        </p:nvSpPr>
        <p:spPr>
          <a:xfrm>
            <a:off x="8101584" y="3794760"/>
            <a:ext cx="3520440" cy="502920"/>
          </a:xfrm>
          <a:prstGeom prst="roundRect">
            <a:avLst>
              <a:gd name="adj" fmla="val 14545"/>
            </a:avLst>
          </a:prstGeom>
          <a:solidFill>
            <a:srgbClr val="E7F7F0"/>
          </a:solidFill>
          <a:ln w="9525">
            <a:solidFill>
              <a:srgbClr val="E4EAF2"/>
            </a:solidFill>
            <a:prstDash val="solid"/>
          </a:ln>
        </p:spPr>
      </p:sp>
      <p:sp>
        <p:nvSpPr>
          <p:cNvPr id="45" name="Shape 43"/>
          <p:cNvSpPr/>
          <p:nvPr/>
        </p:nvSpPr>
        <p:spPr>
          <a:xfrm>
            <a:off x="8321040" y="3986784"/>
            <a:ext cx="128016" cy="128016"/>
          </a:xfrm>
          <a:prstGeom prst="ellipse">
            <a:avLst/>
          </a:prstGeom>
          <a:solidFill>
            <a:srgbClr val="0DA5A0"/>
          </a:solidFill>
          <a:ln/>
        </p:spPr>
      </p:sp>
      <p:sp>
        <p:nvSpPr>
          <p:cNvPr id="46" name="Text 44"/>
          <p:cNvSpPr/>
          <p:nvPr/>
        </p:nvSpPr>
        <p:spPr>
          <a:xfrm>
            <a:off x="8558784" y="379476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Composites</a:t>
            </a:r>
            <a:endParaRPr lang="en-US" sz="1050" dirty="0"/>
          </a:p>
        </p:txBody>
      </p:sp>
      <p:sp>
        <p:nvSpPr>
          <p:cNvPr id="47" name="Shape 45"/>
          <p:cNvSpPr/>
          <p:nvPr/>
        </p:nvSpPr>
        <p:spPr>
          <a:xfrm>
            <a:off x="548640" y="4434840"/>
            <a:ext cx="3520440" cy="502920"/>
          </a:xfrm>
          <a:prstGeom prst="roundRect">
            <a:avLst>
              <a:gd name="adj" fmla="val 14545"/>
            </a:avLst>
          </a:prstGeom>
          <a:solidFill>
            <a:srgbClr val="EAF1FE"/>
          </a:solidFill>
          <a:ln w="9525">
            <a:solidFill>
              <a:srgbClr val="E4EAF2"/>
            </a:solidFill>
            <a:prstDash val="solid"/>
          </a:ln>
        </p:spPr>
      </p:sp>
      <p:sp>
        <p:nvSpPr>
          <p:cNvPr id="48" name="Shape 46"/>
          <p:cNvSpPr/>
          <p:nvPr/>
        </p:nvSpPr>
        <p:spPr>
          <a:xfrm>
            <a:off x="768096" y="4626864"/>
            <a:ext cx="128016" cy="128016"/>
          </a:xfrm>
          <a:prstGeom prst="ellipse">
            <a:avLst/>
          </a:prstGeom>
          <a:solidFill>
            <a:srgbClr val="4F46E5"/>
          </a:solidFill>
          <a:ln/>
        </p:spPr>
      </p:sp>
      <p:sp>
        <p:nvSpPr>
          <p:cNvPr id="49" name="Text 47"/>
          <p:cNvSpPr/>
          <p:nvPr/>
        </p:nvSpPr>
        <p:spPr>
          <a:xfrm>
            <a:off x="1005840" y="443484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Extrusion</a:t>
            </a:r>
            <a:endParaRPr lang="en-US" sz="1050" dirty="0"/>
          </a:p>
        </p:txBody>
      </p:sp>
      <p:sp>
        <p:nvSpPr>
          <p:cNvPr id="50" name="Shape 48"/>
          <p:cNvSpPr/>
          <p:nvPr/>
        </p:nvSpPr>
        <p:spPr>
          <a:xfrm>
            <a:off x="4325112" y="4434840"/>
            <a:ext cx="3520440" cy="502920"/>
          </a:xfrm>
          <a:prstGeom prst="roundRect">
            <a:avLst>
              <a:gd name="adj" fmla="val 14545"/>
            </a:avLst>
          </a:prstGeom>
          <a:solidFill>
            <a:srgbClr val="F4F7FB"/>
          </a:solidFill>
          <a:ln w="9525">
            <a:solidFill>
              <a:srgbClr val="E4EAF2"/>
            </a:solidFill>
            <a:prstDash val="solid"/>
          </a:ln>
        </p:spPr>
      </p:sp>
      <p:sp>
        <p:nvSpPr>
          <p:cNvPr id="51" name="Shape 49"/>
          <p:cNvSpPr/>
          <p:nvPr/>
        </p:nvSpPr>
        <p:spPr>
          <a:xfrm>
            <a:off x="4544568" y="4626864"/>
            <a:ext cx="128016" cy="128016"/>
          </a:xfrm>
          <a:prstGeom prst="ellipse">
            <a:avLst/>
          </a:prstGeom>
          <a:solidFill>
            <a:srgbClr val="2E90FA"/>
          </a:solidFill>
          <a:ln/>
        </p:spPr>
      </p:sp>
      <p:sp>
        <p:nvSpPr>
          <p:cNvPr id="52" name="Text 50"/>
          <p:cNvSpPr/>
          <p:nvPr/>
        </p:nvSpPr>
        <p:spPr>
          <a:xfrm>
            <a:off x="4782312" y="443484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Wiring harness</a:t>
            </a:r>
            <a:endParaRPr lang="en-US" sz="1050" dirty="0"/>
          </a:p>
        </p:txBody>
      </p:sp>
      <p:sp>
        <p:nvSpPr>
          <p:cNvPr id="53" name="Shape 51"/>
          <p:cNvSpPr/>
          <p:nvPr/>
        </p:nvSpPr>
        <p:spPr>
          <a:xfrm>
            <a:off x="8101584" y="4434840"/>
            <a:ext cx="3520440" cy="502920"/>
          </a:xfrm>
          <a:prstGeom prst="roundRect">
            <a:avLst>
              <a:gd name="adj" fmla="val 14545"/>
            </a:avLst>
          </a:prstGeom>
          <a:solidFill>
            <a:srgbClr val="F3EEFE"/>
          </a:solidFill>
          <a:ln w="9525">
            <a:solidFill>
              <a:srgbClr val="E4EAF2"/>
            </a:solidFill>
            <a:prstDash val="solid"/>
          </a:ln>
        </p:spPr>
      </p:sp>
      <p:sp>
        <p:nvSpPr>
          <p:cNvPr id="54" name="Shape 52"/>
          <p:cNvSpPr/>
          <p:nvPr/>
        </p:nvSpPr>
        <p:spPr>
          <a:xfrm>
            <a:off x="8321040" y="4626864"/>
            <a:ext cx="128016" cy="128016"/>
          </a:xfrm>
          <a:prstGeom prst="ellipse">
            <a:avLst/>
          </a:prstGeom>
          <a:solidFill>
            <a:srgbClr val="7C3AED"/>
          </a:solidFill>
          <a:ln/>
        </p:spPr>
      </p:sp>
      <p:sp>
        <p:nvSpPr>
          <p:cNvPr id="55" name="Text 53"/>
          <p:cNvSpPr/>
          <p:nvPr/>
        </p:nvSpPr>
        <p:spPr>
          <a:xfrm>
            <a:off x="8558784" y="443484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PCB fabrication</a:t>
            </a:r>
            <a:endParaRPr lang="en-US" sz="1050" dirty="0"/>
          </a:p>
        </p:txBody>
      </p:sp>
      <p:sp>
        <p:nvSpPr>
          <p:cNvPr id="56" name="Shape 54"/>
          <p:cNvSpPr/>
          <p:nvPr/>
        </p:nvSpPr>
        <p:spPr>
          <a:xfrm>
            <a:off x="548640" y="5074920"/>
            <a:ext cx="3520440" cy="502920"/>
          </a:xfrm>
          <a:prstGeom prst="roundRect">
            <a:avLst>
              <a:gd name="adj" fmla="val 14545"/>
            </a:avLst>
          </a:prstGeom>
          <a:solidFill>
            <a:srgbClr val="E7F7F0"/>
          </a:solidFill>
          <a:ln w="9525">
            <a:solidFill>
              <a:srgbClr val="E4EAF2"/>
            </a:solidFill>
            <a:prstDash val="solid"/>
          </a:ln>
        </p:spPr>
      </p:sp>
      <p:sp>
        <p:nvSpPr>
          <p:cNvPr id="57" name="Shape 55"/>
          <p:cNvSpPr/>
          <p:nvPr/>
        </p:nvSpPr>
        <p:spPr>
          <a:xfrm>
            <a:off x="768096" y="5266944"/>
            <a:ext cx="128016" cy="128016"/>
          </a:xfrm>
          <a:prstGeom prst="ellipse">
            <a:avLst/>
          </a:prstGeom>
          <a:solidFill>
            <a:srgbClr val="0EA472"/>
          </a:solidFill>
          <a:ln/>
        </p:spPr>
      </p:sp>
      <p:sp>
        <p:nvSpPr>
          <p:cNvPr id="58" name="Text 56"/>
          <p:cNvSpPr/>
          <p:nvPr/>
        </p:nvSpPr>
        <p:spPr>
          <a:xfrm>
            <a:off x="1005840" y="507492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PCBA — electronics assembly</a:t>
            </a:r>
            <a:endParaRPr lang="en-US" sz="1050" dirty="0"/>
          </a:p>
        </p:txBody>
      </p:sp>
      <p:sp>
        <p:nvSpPr>
          <p:cNvPr id="59" name="Shape 57"/>
          <p:cNvSpPr/>
          <p:nvPr/>
        </p:nvSpPr>
        <p:spPr>
          <a:xfrm>
            <a:off x="4325112" y="5074920"/>
            <a:ext cx="3520440" cy="502920"/>
          </a:xfrm>
          <a:prstGeom prst="roundRect">
            <a:avLst>
              <a:gd name="adj" fmla="val 14545"/>
            </a:avLst>
          </a:prstGeom>
          <a:solidFill>
            <a:srgbClr val="FEF6E7"/>
          </a:solidFill>
          <a:ln w="9525">
            <a:solidFill>
              <a:srgbClr val="E4EAF2"/>
            </a:solidFill>
            <a:prstDash val="solid"/>
          </a:ln>
        </p:spPr>
      </p:sp>
      <p:sp>
        <p:nvSpPr>
          <p:cNvPr id="60" name="Shape 58"/>
          <p:cNvSpPr/>
          <p:nvPr/>
        </p:nvSpPr>
        <p:spPr>
          <a:xfrm>
            <a:off x="4544568" y="5266944"/>
            <a:ext cx="128016" cy="128016"/>
          </a:xfrm>
          <a:prstGeom prst="ellipse">
            <a:avLst/>
          </a:prstGeom>
          <a:solidFill>
            <a:srgbClr val="E0900C"/>
          </a:solidFill>
          <a:ln/>
        </p:spPr>
      </p:sp>
      <p:sp>
        <p:nvSpPr>
          <p:cNvPr id="61" name="Text 59"/>
          <p:cNvSpPr/>
          <p:nvPr/>
        </p:nvSpPr>
        <p:spPr>
          <a:xfrm>
            <a:off x="4782312" y="507492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Painting &amp; surface finish</a:t>
            </a:r>
            <a:endParaRPr lang="en-US" sz="1050" dirty="0"/>
          </a:p>
        </p:txBody>
      </p:sp>
      <p:sp>
        <p:nvSpPr>
          <p:cNvPr id="62" name="Shape 60"/>
          <p:cNvSpPr/>
          <p:nvPr/>
        </p:nvSpPr>
        <p:spPr>
          <a:xfrm>
            <a:off x="8101584" y="5074920"/>
            <a:ext cx="3520440" cy="502920"/>
          </a:xfrm>
          <a:prstGeom prst="roundRect">
            <a:avLst>
              <a:gd name="adj" fmla="val 14545"/>
            </a:avLst>
          </a:prstGeom>
          <a:solidFill>
            <a:srgbClr val="FDECEC"/>
          </a:solidFill>
          <a:ln w="9525">
            <a:solidFill>
              <a:srgbClr val="E4EAF2"/>
            </a:solidFill>
            <a:prstDash val="solid"/>
          </a:ln>
        </p:spPr>
      </p:sp>
      <p:sp>
        <p:nvSpPr>
          <p:cNvPr id="63" name="Shape 61"/>
          <p:cNvSpPr/>
          <p:nvPr/>
        </p:nvSpPr>
        <p:spPr>
          <a:xfrm>
            <a:off x="8321040" y="5266944"/>
            <a:ext cx="128016" cy="128016"/>
          </a:xfrm>
          <a:prstGeom prst="ellipse">
            <a:avLst/>
          </a:prstGeom>
          <a:solidFill>
            <a:srgbClr val="E5484D"/>
          </a:solidFill>
          <a:ln/>
        </p:spPr>
      </p:sp>
      <p:sp>
        <p:nvSpPr>
          <p:cNvPr id="64" name="Text 62"/>
          <p:cNvSpPr/>
          <p:nvPr/>
        </p:nvSpPr>
        <p:spPr>
          <a:xfrm>
            <a:off x="8558784" y="507492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Body-in-white assembly</a:t>
            </a:r>
            <a:endParaRPr lang="en-US" sz="1050" dirty="0"/>
          </a:p>
        </p:txBody>
      </p:sp>
      <p:sp>
        <p:nvSpPr>
          <p:cNvPr id="65" name="Shape 63"/>
          <p:cNvSpPr/>
          <p:nvPr/>
        </p:nvSpPr>
        <p:spPr>
          <a:xfrm>
            <a:off x="548640" y="5742432"/>
            <a:ext cx="11091672" cy="548640"/>
          </a:xfrm>
          <a:prstGeom prst="roundRect">
            <a:avLst>
              <a:gd name="adj" fmla="val 11667"/>
            </a:avLst>
          </a:prstGeom>
          <a:solidFill>
            <a:srgbClr val="F4F7FB"/>
          </a:solidFill>
          <a:ln w="12700">
            <a:solidFill>
              <a:srgbClr val="E4EAF2"/>
            </a:solidFill>
            <a:prstDash val="solid"/>
          </a:ln>
        </p:spPr>
      </p:sp>
      <p:sp>
        <p:nvSpPr>
          <p:cNvPr id="66" name="Shape 64"/>
          <p:cNvSpPr/>
          <p:nvPr/>
        </p:nvSpPr>
        <p:spPr>
          <a:xfrm>
            <a:off x="548640" y="5742432"/>
            <a:ext cx="82296" cy="548640"/>
          </a:xfrm>
          <a:prstGeom prst="rect">
            <a:avLst/>
          </a:prstGeom>
          <a:solidFill>
            <a:srgbClr val="E0900C"/>
          </a:solidFill>
          <a:ln/>
        </p:spPr>
      </p:sp>
      <p:sp>
        <p:nvSpPr>
          <p:cNvPr id="67" name="Text 65"/>
          <p:cNvSpPr/>
          <p:nvPr/>
        </p:nvSpPr>
        <p:spPr>
          <a:xfrm>
            <a:off x="914400" y="5742432"/>
            <a:ext cx="10332720" cy="548640"/>
          </a:xfrm>
          <a:prstGeom prst="rect">
            <a:avLst/>
          </a:prstGeom>
          <a:noFill/>
          <a:ln/>
        </p:spPr>
        <p:txBody>
          <a:bodyPr wrap="square" lIns="0" tIns="0" rIns="0" bIns="0" rtlCol="0" anchor="ctr"/>
          <a:lstStyle/>
          <a:p>
            <a:pPr indent="0" marL="0">
              <a:lnSpc>
                <a:spcPct val="105000"/>
              </a:lnSpc>
              <a:buNone/>
            </a:pPr>
            <a:r>
              <a:rPr lang="en-US" sz="1150" b="1" dirty="0">
                <a:solidFill>
                  <a:srgbClr val="0F1E3D"/>
                </a:solidFill>
                <a:latin typeface="Calibri" pitchFamily="34" charset="0"/>
                <a:ea typeface="Calibri" pitchFamily="34" charset="-122"/>
                <a:cs typeface="Calibri" pitchFamily="34" charset="-120"/>
              </a:rPr>
              <a:t>One method under all of them:  </a:t>
            </a:r>
            <a:pPr indent="0" marL="0">
              <a:lnSpc>
                <a:spcPct val="105000"/>
              </a:lnSpc>
              <a:buNone/>
            </a:pPr>
            <a:r>
              <a:rPr lang="en-US" sz="1150" dirty="0">
                <a:solidFill>
                  <a:srgbClr val="3E4C63"/>
                </a:solidFill>
                <a:latin typeface="Calibri" pitchFamily="34" charset="0"/>
                <a:ea typeface="Calibri" pitchFamily="34" charset="-122"/>
                <a:cs typeface="Calibri" pitchFamily="34" charset="-120"/>
              </a:rPr>
              <a:t>the same auditable 8-bucket cost stack (material → margin) with feature-based machining on top. The same part then prices across 20 regions — that's the next section.</a:t>
            </a:r>
            <a:endParaRPr lang="en-US" sz="1150" dirty="0"/>
          </a:p>
        </p:txBody>
      </p:sp>
      <p:sp>
        <p:nvSpPr>
          <p:cNvPr id="68" name="Shape 66"/>
          <p:cNvSpPr/>
          <p:nvPr/>
        </p:nvSpPr>
        <p:spPr>
          <a:xfrm>
            <a:off x="548640" y="6400800"/>
            <a:ext cx="11094415" cy="12802"/>
          </a:xfrm>
          <a:prstGeom prst="rect">
            <a:avLst/>
          </a:prstGeom>
          <a:solidFill>
            <a:srgbClr val="E4EAF2"/>
          </a:solidFill>
          <a:ln/>
        </p:spPr>
      </p:sp>
      <p:sp>
        <p:nvSpPr>
          <p:cNvPr id="69" name="Text 67"/>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70" name="Text 68"/>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12 / 25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DA5A0"/>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DA5A0"/>
                </a:solidFill>
                <a:latin typeface="Calibri" pitchFamily="34" charset="0"/>
                <a:ea typeface="Calibri" pitchFamily="34" charset="-122"/>
                <a:cs typeface="Calibri" pitchFamily="34" charset="-120"/>
              </a:rPr>
              <a:t>DEEP DIVE · SHOULD-COST MODEL</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Global should-cost — how the country model works</a:t>
            </a:r>
            <a:endParaRPr lang="en-US" sz="2400" dirty="0"/>
          </a:p>
        </p:txBody>
      </p:sp>
      <p:sp>
        <p:nvSpPr>
          <p:cNvPr id="9" name="Shape 7"/>
          <p:cNvSpPr/>
          <p:nvPr/>
        </p:nvSpPr>
        <p:spPr>
          <a:xfrm>
            <a:off x="548640" y="1371600"/>
            <a:ext cx="1051560" cy="45720"/>
          </a:xfrm>
          <a:prstGeom prst="rect">
            <a:avLst/>
          </a:prstGeom>
          <a:solidFill>
            <a:srgbClr val="0DA5A0"/>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One base cost, re-priced with each region's real economics — deterministic, transparent and landed-cost aware. No AI in the money.</a:t>
            </a:r>
            <a:endParaRPr lang="en-US" sz="1250" dirty="0"/>
          </a:p>
        </p:txBody>
      </p:sp>
      <p:sp>
        <p:nvSpPr>
          <p:cNvPr id="11" name="Shape 9"/>
          <p:cNvSpPr/>
          <p:nvPr/>
        </p:nvSpPr>
        <p:spPr>
          <a:xfrm>
            <a:off x="548640" y="205740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3.819724096706992e+148" dist="1.0913497419162833e+148" dir="9.282982318641485e+173">
              <a:srgbClr val="9DB0CC">
                <a:alpha val="2.2000000000000003e+179"/>
              </a:srgbClr>
            </a:outerShdw>
          </a:effectLst>
        </p:spPr>
      </p:sp>
      <p:sp>
        <p:nvSpPr>
          <p:cNvPr id="12" name="Shape 10"/>
          <p:cNvSpPr/>
          <p:nvPr/>
        </p:nvSpPr>
        <p:spPr>
          <a:xfrm>
            <a:off x="548640" y="2057400"/>
            <a:ext cx="2487168" cy="82296"/>
          </a:xfrm>
          <a:prstGeom prst="rect">
            <a:avLst/>
          </a:prstGeom>
          <a:solidFill>
            <a:srgbClr val="2563EB"/>
          </a:solidFill>
          <a:ln/>
        </p:spPr>
      </p:sp>
      <p:sp>
        <p:nvSpPr>
          <p:cNvPr id="13" name="Shape 11"/>
          <p:cNvSpPr/>
          <p:nvPr/>
        </p:nvSpPr>
        <p:spPr>
          <a:xfrm>
            <a:off x="1536192" y="2258568"/>
            <a:ext cx="512064" cy="512064"/>
          </a:xfrm>
          <a:prstGeom prst="ellipse">
            <a:avLst/>
          </a:prstGeom>
          <a:solidFill>
            <a:srgbClr val="EAF1FE"/>
          </a:solidFill>
          <a:ln/>
        </p:spPr>
      </p:sp>
      <p:sp>
        <p:nvSpPr>
          <p:cNvPr id="14" name="Text 12"/>
          <p:cNvSpPr/>
          <p:nvPr/>
        </p:nvSpPr>
        <p:spPr>
          <a:xfrm>
            <a:off x="1536192" y="2249424"/>
            <a:ext cx="512064" cy="512064"/>
          </a:xfrm>
          <a:prstGeom prst="rect">
            <a:avLst/>
          </a:prstGeom>
          <a:noFill/>
          <a:ln/>
        </p:spPr>
        <p:txBody>
          <a:bodyPr wrap="square" lIns="0" tIns="0" rIns="0" bIns="0" rtlCol="0" anchor="ctr"/>
          <a:lstStyle/>
          <a:p>
            <a:pPr algn="ctr" indent="0" marL="0">
              <a:buNone/>
            </a:pPr>
            <a:r>
              <a:rPr lang="en-US" sz="1800" b="1" dirty="0">
                <a:solidFill>
                  <a:srgbClr val="2563EB"/>
                </a:solidFill>
                <a:latin typeface="Calibri" pitchFamily="34" charset="0"/>
                <a:ea typeface="Calibri" pitchFamily="34" charset="-122"/>
                <a:cs typeface="Calibri" pitchFamily="34" charset="-120"/>
              </a:rPr>
              <a:t>◆</a:t>
            </a:r>
            <a:endParaRPr lang="en-US" sz="1800" dirty="0"/>
          </a:p>
        </p:txBody>
      </p:sp>
      <p:sp>
        <p:nvSpPr>
          <p:cNvPr id="15" name="Text 13"/>
          <p:cNvSpPr/>
          <p:nvPr/>
        </p:nvSpPr>
        <p:spPr>
          <a:xfrm>
            <a:off x="640080" y="284378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Base part cost</a:t>
            </a:r>
            <a:endParaRPr lang="en-US" sz="1200" dirty="0"/>
          </a:p>
        </p:txBody>
      </p:sp>
      <p:sp>
        <p:nvSpPr>
          <p:cNvPr id="16" name="Text 14"/>
          <p:cNvSpPr/>
          <p:nvPr/>
        </p:nvSpPr>
        <p:spPr>
          <a:xfrm>
            <a:off x="658368" y="311810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8-bucket, from CAD or a commodity engine</a:t>
            </a:r>
            <a:endParaRPr lang="en-US" sz="860" dirty="0"/>
          </a:p>
        </p:txBody>
      </p:sp>
      <p:sp>
        <p:nvSpPr>
          <p:cNvPr id="17" name="Shape 15"/>
          <p:cNvSpPr/>
          <p:nvPr/>
        </p:nvSpPr>
        <p:spPr>
          <a:xfrm>
            <a:off x="3063240" y="2743200"/>
            <a:ext cx="265176" cy="0"/>
          </a:xfrm>
          <a:prstGeom prst="line">
            <a:avLst/>
          </a:prstGeom>
          <a:noFill/>
          <a:ln w="22225">
            <a:solidFill>
              <a:srgbClr val="D4DEEC"/>
            </a:solidFill>
            <a:prstDash val="solid"/>
            <a:headEnd type="none"/>
            <a:tailEnd type="triangle"/>
          </a:ln>
        </p:spPr>
      </p:sp>
      <p:sp>
        <p:nvSpPr>
          <p:cNvPr id="18" name="Shape 16"/>
          <p:cNvSpPr/>
          <p:nvPr/>
        </p:nvSpPr>
        <p:spPr>
          <a:xfrm>
            <a:off x="3355848" y="205740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4.85104960281788e+152" dist="1.38601417223368e+152" dir="5.569789391184891e+178">
              <a:srgbClr val="9DB0CC">
                <a:alpha val="2.2000000000000004e+184"/>
              </a:srgbClr>
            </a:outerShdw>
          </a:effectLst>
        </p:spPr>
      </p:sp>
      <p:sp>
        <p:nvSpPr>
          <p:cNvPr id="19" name="Shape 17"/>
          <p:cNvSpPr/>
          <p:nvPr/>
        </p:nvSpPr>
        <p:spPr>
          <a:xfrm>
            <a:off x="3355848" y="2057400"/>
            <a:ext cx="2487168" cy="82296"/>
          </a:xfrm>
          <a:prstGeom prst="rect">
            <a:avLst/>
          </a:prstGeom>
          <a:solidFill>
            <a:srgbClr val="0DA5A0"/>
          </a:solidFill>
          <a:ln/>
        </p:spPr>
      </p:sp>
      <p:sp>
        <p:nvSpPr>
          <p:cNvPr id="20" name="Shape 18"/>
          <p:cNvSpPr/>
          <p:nvPr/>
        </p:nvSpPr>
        <p:spPr>
          <a:xfrm>
            <a:off x="4343400" y="2258568"/>
            <a:ext cx="512064" cy="512064"/>
          </a:xfrm>
          <a:prstGeom prst="ellipse">
            <a:avLst/>
          </a:prstGeom>
          <a:solidFill>
            <a:srgbClr val="E7F7F0"/>
          </a:solidFill>
          <a:ln/>
        </p:spPr>
      </p:sp>
      <p:sp>
        <p:nvSpPr>
          <p:cNvPr id="21" name="Text 19"/>
          <p:cNvSpPr/>
          <p:nvPr/>
        </p:nvSpPr>
        <p:spPr>
          <a:xfrm>
            <a:off x="4343400" y="2249424"/>
            <a:ext cx="512064" cy="512064"/>
          </a:xfrm>
          <a:prstGeom prst="rect">
            <a:avLst/>
          </a:prstGeom>
          <a:noFill/>
          <a:ln/>
        </p:spPr>
        <p:txBody>
          <a:bodyPr wrap="square" lIns="0" tIns="0" rIns="0" bIns="0" rtlCol="0" anchor="ctr"/>
          <a:lstStyle/>
          <a:p>
            <a:pPr algn="ctr" indent="0" marL="0">
              <a:buNone/>
            </a:pPr>
            <a:r>
              <a:rPr lang="en-US" sz="1800" b="1" dirty="0">
                <a:solidFill>
                  <a:srgbClr val="0DA5A0"/>
                </a:solidFill>
                <a:latin typeface="Calibri" pitchFamily="34" charset="0"/>
                <a:ea typeface="Calibri" pitchFamily="34" charset="-122"/>
                <a:cs typeface="Calibri" pitchFamily="34" charset="-120"/>
              </a:rPr>
              <a:t>⚙</a:t>
            </a:r>
            <a:endParaRPr lang="en-US" sz="1800" dirty="0"/>
          </a:p>
        </p:txBody>
      </p:sp>
      <p:sp>
        <p:nvSpPr>
          <p:cNvPr id="22" name="Text 20"/>
          <p:cNvSpPr/>
          <p:nvPr/>
        </p:nvSpPr>
        <p:spPr>
          <a:xfrm>
            <a:off x="3447288" y="284378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 Regional rates</a:t>
            </a:r>
            <a:endParaRPr lang="en-US" sz="1200" dirty="0"/>
          </a:p>
        </p:txBody>
      </p:sp>
      <p:sp>
        <p:nvSpPr>
          <p:cNvPr id="23" name="Text 21"/>
          <p:cNvSpPr/>
          <p:nvPr/>
        </p:nvSpPr>
        <p:spPr>
          <a:xfrm>
            <a:off x="3465576" y="311810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labour · energy · material · machine · overhead · FX</a:t>
            </a:r>
            <a:endParaRPr lang="en-US" sz="860" dirty="0"/>
          </a:p>
        </p:txBody>
      </p:sp>
      <p:sp>
        <p:nvSpPr>
          <p:cNvPr id="24" name="Shape 22"/>
          <p:cNvSpPr/>
          <p:nvPr/>
        </p:nvSpPr>
        <p:spPr>
          <a:xfrm>
            <a:off x="5870448" y="2743200"/>
            <a:ext cx="265176" cy="0"/>
          </a:xfrm>
          <a:prstGeom prst="line">
            <a:avLst/>
          </a:prstGeom>
          <a:noFill/>
          <a:ln w="22225">
            <a:solidFill>
              <a:srgbClr val="D4DEEC"/>
            </a:solidFill>
            <a:prstDash val="solid"/>
            <a:headEnd type="none"/>
            <a:tailEnd type="triangle"/>
          </a:ln>
        </p:spPr>
      </p:sp>
      <p:sp>
        <p:nvSpPr>
          <p:cNvPr id="25" name="Shape 23"/>
          <p:cNvSpPr/>
          <p:nvPr/>
        </p:nvSpPr>
        <p:spPr>
          <a:xfrm>
            <a:off x="6163056" y="205740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6.160832995578707e+156" dist="1.7602379987367734e+156" dir="3.3418736347109347e+183">
              <a:srgbClr val="9DB0CC">
                <a:alpha val="2.2000000000000003e+189"/>
              </a:srgbClr>
            </a:outerShdw>
          </a:effectLst>
        </p:spPr>
      </p:sp>
      <p:sp>
        <p:nvSpPr>
          <p:cNvPr id="26" name="Shape 24"/>
          <p:cNvSpPr/>
          <p:nvPr/>
        </p:nvSpPr>
        <p:spPr>
          <a:xfrm>
            <a:off x="6163056" y="2057400"/>
            <a:ext cx="2487168" cy="82296"/>
          </a:xfrm>
          <a:prstGeom prst="rect">
            <a:avLst/>
          </a:prstGeom>
          <a:solidFill>
            <a:srgbClr val="E0900C"/>
          </a:solidFill>
          <a:ln/>
        </p:spPr>
      </p:sp>
      <p:sp>
        <p:nvSpPr>
          <p:cNvPr id="27" name="Shape 25"/>
          <p:cNvSpPr/>
          <p:nvPr/>
        </p:nvSpPr>
        <p:spPr>
          <a:xfrm>
            <a:off x="7150608" y="2258568"/>
            <a:ext cx="512064" cy="512064"/>
          </a:xfrm>
          <a:prstGeom prst="ellipse">
            <a:avLst/>
          </a:prstGeom>
          <a:solidFill>
            <a:srgbClr val="FEF6E7"/>
          </a:solidFill>
          <a:ln/>
        </p:spPr>
      </p:sp>
      <p:sp>
        <p:nvSpPr>
          <p:cNvPr id="28" name="Text 26"/>
          <p:cNvSpPr/>
          <p:nvPr/>
        </p:nvSpPr>
        <p:spPr>
          <a:xfrm>
            <a:off x="7150608" y="2249424"/>
            <a:ext cx="512064" cy="512064"/>
          </a:xfrm>
          <a:prstGeom prst="rect">
            <a:avLst/>
          </a:prstGeom>
          <a:noFill/>
          <a:ln/>
        </p:spPr>
        <p:txBody>
          <a:bodyPr wrap="square" lIns="0" tIns="0" rIns="0" bIns="0" rtlCol="0" anchor="ctr"/>
          <a:lstStyle/>
          <a:p>
            <a:pPr algn="ctr" indent="0" marL="0">
              <a:buNone/>
            </a:pPr>
            <a:r>
              <a:rPr lang="en-US" sz="1800" b="1" dirty="0">
                <a:solidFill>
                  <a:srgbClr val="E0900C"/>
                </a:solidFill>
                <a:latin typeface="Calibri" pitchFamily="34" charset="0"/>
                <a:ea typeface="Calibri" pitchFamily="34" charset="-122"/>
                <a:cs typeface="Calibri" pitchFamily="34" charset="-120"/>
              </a:rPr>
              <a:t>▲</a:t>
            </a:r>
            <a:endParaRPr lang="en-US" sz="1800" dirty="0"/>
          </a:p>
        </p:txBody>
      </p:sp>
      <p:sp>
        <p:nvSpPr>
          <p:cNvPr id="29" name="Text 27"/>
          <p:cNvSpPr/>
          <p:nvPr/>
        </p:nvSpPr>
        <p:spPr>
          <a:xfrm>
            <a:off x="6254496" y="284378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 Landed adders</a:t>
            </a:r>
            <a:endParaRPr lang="en-US" sz="1200" dirty="0"/>
          </a:p>
        </p:txBody>
      </p:sp>
      <p:sp>
        <p:nvSpPr>
          <p:cNvPr id="30" name="Text 28"/>
          <p:cNvSpPr/>
          <p:nvPr/>
        </p:nvSpPr>
        <p:spPr>
          <a:xfrm>
            <a:off x="6272784" y="311810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packaging · logistics · duty · shipping</a:t>
            </a:r>
            <a:endParaRPr lang="en-US" sz="860" dirty="0"/>
          </a:p>
        </p:txBody>
      </p:sp>
      <p:sp>
        <p:nvSpPr>
          <p:cNvPr id="31" name="Shape 29"/>
          <p:cNvSpPr/>
          <p:nvPr/>
        </p:nvSpPr>
        <p:spPr>
          <a:xfrm>
            <a:off x="8677656" y="2743200"/>
            <a:ext cx="265176" cy="0"/>
          </a:xfrm>
          <a:prstGeom prst="line">
            <a:avLst/>
          </a:prstGeom>
          <a:noFill/>
          <a:ln w="22225">
            <a:solidFill>
              <a:srgbClr val="D4DEEC"/>
            </a:solidFill>
            <a:prstDash val="solid"/>
            <a:headEnd type="none"/>
            <a:tailEnd type="triangle"/>
          </a:ln>
        </p:spPr>
      </p:sp>
      <p:sp>
        <p:nvSpPr>
          <p:cNvPr id="32" name="Shape 30"/>
          <p:cNvSpPr/>
          <p:nvPr/>
        </p:nvSpPr>
        <p:spPr>
          <a:xfrm>
            <a:off x="8970264" y="205740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7.824257904384958e+160" dist="2.235502258395702e+160" dir="2.0051241808265608e+188">
              <a:srgbClr val="9DB0CC">
                <a:alpha val="2.2000000000000004e+194"/>
              </a:srgbClr>
            </a:outerShdw>
          </a:effectLst>
        </p:spPr>
      </p:sp>
      <p:sp>
        <p:nvSpPr>
          <p:cNvPr id="33" name="Shape 31"/>
          <p:cNvSpPr/>
          <p:nvPr/>
        </p:nvSpPr>
        <p:spPr>
          <a:xfrm>
            <a:off x="8970264" y="2057400"/>
            <a:ext cx="2487168" cy="82296"/>
          </a:xfrm>
          <a:prstGeom prst="rect">
            <a:avLst/>
          </a:prstGeom>
          <a:solidFill>
            <a:srgbClr val="0EA472"/>
          </a:solidFill>
          <a:ln/>
        </p:spPr>
      </p:sp>
      <p:sp>
        <p:nvSpPr>
          <p:cNvPr id="34" name="Shape 32"/>
          <p:cNvSpPr/>
          <p:nvPr/>
        </p:nvSpPr>
        <p:spPr>
          <a:xfrm>
            <a:off x="9957816" y="2258568"/>
            <a:ext cx="512064" cy="512064"/>
          </a:xfrm>
          <a:prstGeom prst="ellipse">
            <a:avLst/>
          </a:prstGeom>
          <a:solidFill>
            <a:srgbClr val="E7F7F0"/>
          </a:solidFill>
          <a:ln/>
        </p:spPr>
      </p:sp>
      <p:sp>
        <p:nvSpPr>
          <p:cNvPr id="35" name="Text 33"/>
          <p:cNvSpPr/>
          <p:nvPr/>
        </p:nvSpPr>
        <p:spPr>
          <a:xfrm>
            <a:off x="9957816" y="2249424"/>
            <a:ext cx="512064" cy="512064"/>
          </a:xfrm>
          <a:prstGeom prst="rect">
            <a:avLst/>
          </a:prstGeom>
          <a:noFill/>
          <a:ln/>
        </p:spPr>
        <p:txBody>
          <a:bodyPr wrap="square" lIns="0" tIns="0" rIns="0" bIns="0" rtlCol="0" anchor="ctr"/>
          <a:lstStyle/>
          <a:p>
            <a:pPr algn="ctr" indent="0" marL="0">
              <a:buNone/>
            </a:pPr>
            <a:r>
              <a:rPr lang="en-US" sz="1800" b="1" dirty="0">
                <a:solidFill>
                  <a:srgbClr val="0EA472"/>
                </a:solidFill>
                <a:latin typeface="Calibri" pitchFamily="34" charset="0"/>
                <a:ea typeface="Calibri" pitchFamily="34" charset="-122"/>
                <a:cs typeface="Calibri" pitchFamily="34" charset="-120"/>
              </a:rPr>
              <a:t>◈</a:t>
            </a:r>
            <a:endParaRPr lang="en-US" sz="1800" dirty="0"/>
          </a:p>
        </p:txBody>
      </p:sp>
      <p:sp>
        <p:nvSpPr>
          <p:cNvPr id="36" name="Text 34"/>
          <p:cNvSpPr/>
          <p:nvPr/>
        </p:nvSpPr>
        <p:spPr>
          <a:xfrm>
            <a:off x="9061704" y="284378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Region should-cost</a:t>
            </a:r>
            <a:endParaRPr lang="en-US" sz="1200" dirty="0"/>
          </a:p>
        </p:txBody>
      </p:sp>
      <p:sp>
        <p:nvSpPr>
          <p:cNvPr id="37" name="Text 35"/>
          <p:cNvSpPr/>
          <p:nvPr/>
        </p:nvSpPr>
        <p:spPr>
          <a:xfrm>
            <a:off x="9079992" y="311810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ranked, ex-works &amp; landed, per country</a:t>
            </a:r>
            <a:endParaRPr lang="en-US" sz="860" dirty="0"/>
          </a:p>
        </p:txBody>
      </p:sp>
      <p:sp>
        <p:nvSpPr>
          <p:cNvPr id="38" name="Shape 36"/>
          <p:cNvSpPr/>
          <p:nvPr/>
        </p:nvSpPr>
        <p:spPr>
          <a:xfrm>
            <a:off x="548640" y="3749040"/>
            <a:ext cx="5394960" cy="2103120"/>
          </a:xfrm>
          <a:prstGeom prst="roundRect">
            <a:avLst>
              <a:gd name="adj" fmla="val 3043"/>
            </a:avLst>
          </a:prstGeom>
          <a:solidFill>
            <a:srgbClr val="FFFFFF"/>
          </a:solidFill>
          <a:ln w="12700">
            <a:solidFill>
              <a:srgbClr val="E4EAF2"/>
            </a:solidFill>
            <a:prstDash val="solid"/>
          </a:ln>
          <a:effectLst>
            <a:outerShdw sx="100000" sy="100000" kx="0" ky="0" algn="bl" rotWithShape="0" blurRad="9.936807538568897e+164" dist="2.8390878681625417e+164" dir="1.2030745084959364e+193">
              <a:srgbClr val="9DB0CC">
                <a:alpha val="2.2000000000000006e+199"/>
              </a:srgbClr>
            </a:outerShdw>
          </a:effectLst>
        </p:spPr>
      </p:sp>
      <p:sp>
        <p:nvSpPr>
          <p:cNvPr id="39" name="Shape 37"/>
          <p:cNvSpPr/>
          <p:nvPr/>
        </p:nvSpPr>
        <p:spPr>
          <a:xfrm>
            <a:off x="548640" y="3749040"/>
            <a:ext cx="82296" cy="2103120"/>
          </a:xfrm>
          <a:prstGeom prst="rect">
            <a:avLst/>
          </a:prstGeom>
          <a:solidFill>
            <a:srgbClr val="2563EB"/>
          </a:solidFill>
          <a:ln/>
        </p:spPr>
      </p:sp>
      <p:sp>
        <p:nvSpPr>
          <p:cNvPr id="40" name="Text 38"/>
          <p:cNvSpPr/>
          <p:nvPr/>
        </p:nvSpPr>
        <p:spPr>
          <a:xfrm>
            <a:off x="822960" y="3913632"/>
            <a:ext cx="4937760" cy="320040"/>
          </a:xfrm>
          <a:prstGeom prst="rect">
            <a:avLst/>
          </a:prstGeom>
          <a:noFill/>
          <a:ln/>
        </p:spPr>
        <p:txBody>
          <a:bodyPr wrap="square" lIns="0" tIns="0" rIns="0" bIns="0" rtlCol="0" anchor="t"/>
          <a:lstStyle/>
          <a:p>
            <a:pPr indent="0" marL="0">
              <a:buNone/>
            </a:pPr>
            <a:r>
              <a:rPr lang="en-US" sz="1350" b="1" dirty="0">
                <a:solidFill>
                  <a:srgbClr val="2563EB"/>
                </a:solidFill>
                <a:latin typeface="Calibri" pitchFamily="34" charset="0"/>
                <a:ea typeface="Calibri" pitchFamily="34" charset="-122"/>
                <a:cs typeface="Calibri" pitchFamily="34" charset="-120"/>
              </a:rPr>
              <a:t>What you give it</a:t>
            </a:r>
            <a:endParaRPr lang="en-US" sz="1350" dirty="0"/>
          </a:p>
        </p:txBody>
      </p:sp>
      <p:sp>
        <p:nvSpPr>
          <p:cNvPr id="41" name="Shape 39"/>
          <p:cNvSpPr/>
          <p:nvPr/>
        </p:nvSpPr>
        <p:spPr>
          <a:xfrm>
            <a:off x="822960" y="4315968"/>
            <a:ext cx="292608" cy="292608"/>
          </a:xfrm>
          <a:prstGeom prst="ellipse">
            <a:avLst/>
          </a:prstGeom>
          <a:solidFill>
            <a:srgbClr val="EAF1FE"/>
          </a:solidFill>
          <a:ln/>
        </p:spPr>
      </p:sp>
      <p:sp>
        <p:nvSpPr>
          <p:cNvPr id="42" name="Text 40"/>
          <p:cNvSpPr/>
          <p:nvPr/>
        </p:nvSpPr>
        <p:spPr>
          <a:xfrm>
            <a:off x="822960" y="4306824"/>
            <a:ext cx="292608" cy="292608"/>
          </a:xfrm>
          <a:prstGeom prst="rect">
            <a:avLst/>
          </a:prstGeom>
          <a:noFill/>
          <a:ln/>
        </p:spPr>
        <p:txBody>
          <a:bodyPr wrap="square" lIns="0" tIns="0" rIns="0" bIns="0" rtlCol="0" anchor="ctr"/>
          <a:lstStyle/>
          <a:p>
            <a:pPr algn="ctr" indent="0" marL="0">
              <a:buNone/>
            </a:pPr>
            <a:r>
              <a:rPr lang="en-US" sz="1100" b="1" dirty="0">
                <a:solidFill>
                  <a:srgbClr val="2563EB"/>
                </a:solidFill>
                <a:latin typeface="Calibri" pitchFamily="34" charset="0"/>
                <a:ea typeface="Calibri" pitchFamily="34" charset="-122"/>
                <a:cs typeface="Calibri" pitchFamily="34" charset="-120"/>
              </a:rPr>
              <a:t>✓</a:t>
            </a:r>
            <a:endParaRPr lang="en-US" sz="1100" dirty="0"/>
          </a:p>
        </p:txBody>
      </p:sp>
      <p:sp>
        <p:nvSpPr>
          <p:cNvPr id="43" name="Text 41"/>
          <p:cNvSpPr/>
          <p:nvPr/>
        </p:nvSpPr>
        <p:spPr>
          <a:xfrm>
            <a:off x="1207008" y="4315968"/>
            <a:ext cx="4480560" cy="457200"/>
          </a:xfrm>
          <a:prstGeom prst="rect">
            <a:avLst/>
          </a:prstGeom>
          <a:noFill/>
          <a:ln/>
        </p:spPr>
        <p:txBody>
          <a:bodyPr wrap="square" lIns="0" tIns="0" rIns="0" bIns="0" rtlCol="0" anchor="ctr"/>
          <a:lstStyle/>
          <a:p>
            <a:pPr indent="0" marL="0">
              <a:buNone/>
            </a:pPr>
            <a:r>
              <a:rPr lang="en-US" sz="1080" b="1" dirty="0">
                <a:solidFill>
                  <a:srgbClr val="0F1E3D"/>
                </a:solidFill>
                <a:latin typeface="Calibri" pitchFamily="34" charset="0"/>
                <a:ea typeface="Calibri" pitchFamily="34" charset="-122"/>
                <a:cs typeface="Calibri" pitchFamily="34" charset="-120"/>
              </a:rPr>
              <a:t>The part — </a:t>
            </a:r>
            <a:pPr indent="0" marL="0">
              <a:buNone/>
            </a:pPr>
            <a:r>
              <a:rPr lang="en-US" sz="1080" dirty="0">
                <a:solidFill>
                  <a:srgbClr val="3E4C63"/>
                </a:solidFill>
                <a:latin typeface="Calibri" pitchFamily="34" charset="0"/>
                <a:ea typeface="Calibri" pitchFamily="34" charset="-122"/>
                <a:cs typeface="Calibri" pitchFamily="34" charset="-120"/>
              </a:rPr>
              <a:t>once — from a CAD model, a photo, or a commodity form</a:t>
            </a:r>
            <a:endParaRPr lang="en-US" sz="1080" dirty="0"/>
          </a:p>
        </p:txBody>
      </p:sp>
      <p:sp>
        <p:nvSpPr>
          <p:cNvPr id="44" name="Shape 42"/>
          <p:cNvSpPr/>
          <p:nvPr/>
        </p:nvSpPr>
        <p:spPr>
          <a:xfrm>
            <a:off x="822960" y="4818888"/>
            <a:ext cx="292608" cy="292608"/>
          </a:xfrm>
          <a:prstGeom prst="ellipse">
            <a:avLst/>
          </a:prstGeom>
          <a:solidFill>
            <a:srgbClr val="EAF1FE"/>
          </a:solidFill>
          <a:ln/>
        </p:spPr>
      </p:sp>
      <p:sp>
        <p:nvSpPr>
          <p:cNvPr id="45" name="Text 43"/>
          <p:cNvSpPr/>
          <p:nvPr/>
        </p:nvSpPr>
        <p:spPr>
          <a:xfrm>
            <a:off x="822960" y="4809744"/>
            <a:ext cx="292608" cy="292608"/>
          </a:xfrm>
          <a:prstGeom prst="rect">
            <a:avLst/>
          </a:prstGeom>
          <a:noFill/>
          <a:ln/>
        </p:spPr>
        <p:txBody>
          <a:bodyPr wrap="square" lIns="0" tIns="0" rIns="0" bIns="0" rtlCol="0" anchor="ctr"/>
          <a:lstStyle/>
          <a:p>
            <a:pPr algn="ctr" indent="0" marL="0">
              <a:buNone/>
            </a:pPr>
            <a:r>
              <a:rPr lang="en-US" sz="1100" b="1" dirty="0">
                <a:solidFill>
                  <a:srgbClr val="2563EB"/>
                </a:solidFill>
                <a:latin typeface="Calibri" pitchFamily="34" charset="0"/>
                <a:ea typeface="Calibri" pitchFamily="34" charset="-122"/>
                <a:cs typeface="Calibri" pitchFamily="34" charset="-120"/>
              </a:rPr>
              <a:t>✓</a:t>
            </a:r>
            <a:endParaRPr lang="en-US" sz="1100" dirty="0"/>
          </a:p>
        </p:txBody>
      </p:sp>
      <p:sp>
        <p:nvSpPr>
          <p:cNvPr id="46" name="Text 44"/>
          <p:cNvSpPr/>
          <p:nvPr/>
        </p:nvSpPr>
        <p:spPr>
          <a:xfrm>
            <a:off x="1207008" y="4818888"/>
            <a:ext cx="4480560" cy="457200"/>
          </a:xfrm>
          <a:prstGeom prst="rect">
            <a:avLst/>
          </a:prstGeom>
          <a:noFill/>
          <a:ln/>
        </p:spPr>
        <p:txBody>
          <a:bodyPr wrap="square" lIns="0" tIns="0" rIns="0" bIns="0" rtlCol="0" anchor="ctr"/>
          <a:lstStyle/>
          <a:p>
            <a:pPr indent="0" marL="0">
              <a:buNone/>
            </a:pPr>
            <a:r>
              <a:rPr lang="en-US" sz="1080" b="1" dirty="0">
                <a:solidFill>
                  <a:srgbClr val="0F1E3D"/>
                </a:solidFill>
                <a:latin typeface="Calibri" pitchFamily="34" charset="0"/>
                <a:ea typeface="Calibri" pitchFamily="34" charset="-122"/>
                <a:cs typeface="Calibri" pitchFamily="34" charset="-120"/>
              </a:rPr>
              <a:t>The regions — </a:t>
            </a:r>
            <a:pPr indent="0" marL="0">
              <a:buNone/>
            </a:pPr>
            <a:r>
              <a:rPr lang="en-US" sz="1080" dirty="0">
                <a:solidFill>
                  <a:srgbClr val="3E4C63"/>
                </a:solidFill>
                <a:latin typeface="Calibri" pitchFamily="34" charset="0"/>
                <a:ea typeface="Calibri" pitchFamily="34" charset="-122"/>
                <a:cs typeface="Calibri" pitchFamily="34" charset="-120"/>
              </a:rPr>
              <a:t>pick any of the 20, or compare them all</a:t>
            </a:r>
            <a:endParaRPr lang="en-US" sz="1080" dirty="0"/>
          </a:p>
        </p:txBody>
      </p:sp>
      <p:sp>
        <p:nvSpPr>
          <p:cNvPr id="47" name="Shape 45"/>
          <p:cNvSpPr/>
          <p:nvPr/>
        </p:nvSpPr>
        <p:spPr>
          <a:xfrm>
            <a:off x="822960" y="5321808"/>
            <a:ext cx="292608" cy="292608"/>
          </a:xfrm>
          <a:prstGeom prst="ellipse">
            <a:avLst/>
          </a:prstGeom>
          <a:solidFill>
            <a:srgbClr val="EAF1FE"/>
          </a:solidFill>
          <a:ln/>
        </p:spPr>
      </p:sp>
      <p:sp>
        <p:nvSpPr>
          <p:cNvPr id="48" name="Text 46"/>
          <p:cNvSpPr/>
          <p:nvPr/>
        </p:nvSpPr>
        <p:spPr>
          <a:xfrm>
            <a:off x="822960" y="5312664"/>
            <a:ext cx="292608" cy="292608"/>
          </a:xfrm>
          <a:prstGeom prst="rect">
            <a:avLst/>
          </a:prstGeom>
          <a:noFill/>
          <a:ln/>
        </p:spPr>
        <p:txBody>
          <a:bodyPr wrap="square" lIns="0" tIns="0" rIns="0" bIns="0" rtlCol="0" anchor="ctr"/>
          <a:lstStyle/>
          <a:p>
            <a:pPr algn="ctr" indent="0" marL="0">
              <a:buNone/>
            </a:pPr>
            <a:r>
              <a:rPr lang="en-US" sz="1100" b="1" dirty="0">
                <a:solidFill>
                  <a:srgbClr val="2563EB"/>
                </a:solidFill>
                <a:latin typeface="Calibri" pitchFamily="34" charset="0"/>
                <a:ea typeface="Calibri" pitchFamily="34" charset="-122"/>
                <a:cs typeface="Calibri" pitchFamily="34" charset="-120"/>
              </a:rPr>
              <a:t>✓</a:t>
            </a:r>
            <a:endParaRPr lang="en-US" sz="1100" dirty="0"/>
          </a:p>
        </p:txBody>
      </p:sp>
      <p:sp>
        <p:nvSpPr>
          <p:cNvPr id="49" name="Text 47"/>
          <p:cNvSpPr/>
          <p:nvPr/>
        </p:nvSpPr>
        <p:spPr>
          <a:xfrm>
            <a:off x="1207008" y="5321808"/>
            <a:ext cx="4480560" cy="457200"/>
          </a:xfrm>
          <a:prstGeom prst="rect">
            <a:avLst/>
          </a:prstGeom>
          <a:noFill/>
          <a:ln/>
        </p:spPr>
        <p:txBody>
          <a:bodyPr wrap="square" lIns="0" tIns="0" rIns="0" bIns="0" rtlCol="0" anchor="ctr"/>
          <a:lstStyle/>
          <a:p>
            <a:pPr indent="0" marL="0">
              <a:buNone/>
            </a:pPr>
            <a:r>
              <a:rPr lang="en-US" sz="1080" b="1" dirty="0">
                <a:solidFill>
                  <a:srgbClr val="0F1E3D"/>
                </a:solidFill>
                <a:latin typeface="Calibri" pitchFamily="34" charset="0"/>
                <a:ea typeface="Calibri" pitchFamily="34" charset="-122"/>
                <a:cs typeface="Calibri" pitchFamily="34" charset="-120"/>
              </a:rPr>
              <a:t>Volume &amp; Incoterm — </a:t>
            </a:r>
            <a:pPr indent="0" marL="0">
              <a:buNone/>
            </a:pPr>
            <a:r>
              <a:rPr lang="en-US" sz="1080" dirty="0">
                <a:solidFill>
                  <a:srgbClr val="3E4C63"/>
                </a:solidFill>
                <a:latin typeface="Calibri" pitchFamily="34" charset="0"/>
                <a:ea typeface="Calibri" pitchFamily="34" charset="-122"/>
                <a:cs typeface="Calibri" pitchFamily="34" charset="-120"/>
              </a:rPr>
              <a:t>drives volume curve and landed vs ex-works</a:t>
            </a:r>
            <a:endParaRPr lang="en-US" sz="1080" dirty="0"/>
          </a:p>
        </p:txBody>
      </p:sp>
      <p:sp>
        <p:nvSpPr>
          <p:cNvPr id="50" name="Shape 48"/>
          <p:cNvSpPr/>
          <p:nvPr/>
        </p:nvSpPr>
        <p:spPr>
          <a:xfrm>
            <a:off x="6245352" y="3749040"/>
            <a:ext cx="5394960" cy="2103120"/>
          </a:xfrm>
          <a:prstGeom prst="roundRect">
            <a:avLst>
              <a:gd name="adj" fmla="val 3043"/>
            </a:avLst>
          </a:prstGeom>
          <a:solidFill>
            <a:srgbClr val="E7F7F0"/>
          </a:solidFill>
          <a:ln w="12700">
            <a:solidFill>
              <a:srgbClr val="E4EAF2"/>
            </a:solidFill>
            <a:prstDash val="solid"/>
          </a:ln>
        </p:spPr>
      </p:sp>
      <p:sp>
        <p:nvSpPr>
          <p:cNvPr id="51" name="Shape 49"/>
          <p:cNvSpPr/>
          <p:nvPr/>
        </p:nvSpPr>
        <p:spPr>
          <a:xfrm>
            <a:off x="6245352" y="3749040"/>
            <a:ext cx="82296" cy="2103120"/>
          </a:xfrm>
          <a:prstGeom prst="rect">
            <a:avLst/>
          </a:prstGeom>
          <a:solidFill>
            <a:srgbClr val="0DA5A0"/>
          </a:solidFill>
          <a:ln/>
        </p:spPr>
      </p:sp>
      <p:sp>
        <p:nvSpPr>
          <p:cNvPr id="52" name="Text 50"/>
          <p:cNvSpPr/>
          <p:nvPr/>
        </p:nvSpPr>
        <p:spPr>
          <a:xfrm>
            <a:off x="6519672" y="3913632"/>
            <a:ext cx="4937760" cy="320040"/>
          </a:xfrm>
          <a:prstGeom prst="rect">
            <a:avLst/>
          </a:prstGeom>
          <a:noFill/>
          <a:ln/>
        </p:spPr>
        <p:txBody>
          <a:bodyPr wrap="square" lIns="0" tIns="0" rIns="0" bIns="0" rtlCol="0" anchor="t"/>
          <a:lstStyle/>
          <a:p>
            <a:pPr indent="0" marL="0">
              <a:buNone/>
            </a:pPr>
            <a:r>
              <a:rPr lang="en-US" sz="1350" b="1" dirty="0">
                <a:solidFill>
                  <a:srgbClr val="0DA5A0"/>
                </a:solidFill>
                <a:latin typeface="Calibri" pitchFamily="34" charset="0"/>
                <a:ea typeface="Calibri" pitchFamily="34" charset="-122"/>
                <a:cs typeface="Calibri" pitchFamily="34" charset="-120"/>
              </a:rPr>
              <a:t>What is factored in, per region</a:t>
            </a:r>
            <a:endParaRPr lang="en-US" sz="1350" dirty="0"/>
          </a:p>
        </p:txBody>
      </p:sp>
      <p:sp>
        <p:nvSpPr>
          <p:cNvPr id="53" name="Shape 51"/>
          <p:cNvSpPr/>
          <p:nvPr/>
        </p:nvSpPr>
        <p:spPr>
          <a:xfrm>
            <a:off x="6519672" y="4370832"/>
            <a:ext cx="91440" cy="91440"/>
          </a:xfrm>
          <a:prstGeom prst="ellipse">
            <a:avLst/>
          </a:prstGeom>
          <a:solidFill>
            <a:srgbClr val="0DA5A0"/>
          </a:solidFill>
          <a:ln/>
        </p:spPr>
      </p:sp>
      <p:sp>
        <p:nvSpPr>
          <p:cNvPr id="54" name="Text 52"/>
          <p:cNvSpPr/>
          <p:nvPr/>
        </p:nvSpPr>
        <p:spPr>
          <a:xfrm>
            <a:off x="6702552" y="4315968"/>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Labour by trade (£/hr)</a:t>
            </a:r>
            <a:endParaRPr lang="en-US" sz="1000" dirty="0"/>
          </a:p>
        </p:txBody>
      </p:sp>
      <p:sp>
        <p:nvSpPr>
          <p:cNvPr id="55" name="Shape 53"/>
          <p:cNvSpPr/>
          <p:nvPr/>
        </p:nvSpPr>
        <p:spPr>
          <a:xfrm>
            <a:off x="9125712" y="4370832"/>
            <a:ext cx="91440" cy="91440"/>
          </a:xfrm>
          <a:prstGeom prst="ellipse">
            <a:avLst/>
          </a:prstGeom>
          <a:solidFill>
            <a:srgbClr val="0DA5A0"/>
          </a:solidFill>
          <a:ln/>
        </p:spPr>
      </p:sp>
      <p:sp>
        <p:nvSpPr>
          <p:cNvPr id="56" name="Text 54"/>
          <p:cNvSpPr/>
          <p:nvPr/>
        </p:nvSpPr>
        <p:spPr>
          <a:xfrm>
            <a:off x="9308592" y="4315968"/>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Energy — elec &amp; gas (£/kWh)</a:t>
            </a:r>
            <a:endParaRPr lang="en-US" sz="1000" dirty="0"/>
          </a:p>
        </p:txBody>
      </p:sp>
      <p:sp>
        <p:nvSpPr>
          <p:cNvPr id="57" name="Shape 55"/>
          <p:cNvSpPr/>
          <p:nvPr/>
        </p:nvSpPr>
        <p:spPr>
          <a:xfrm>
            <a:off x="6519672" y="4754880"/>
            <a:ext cx="91440" cy="91440"/>
          </a:xfrm>
          <a:prstGeom prst="ellipse">
            <a:avLst/>
          </a:prstGeom>
          <a:solidFill>
            <a:srgbClr val="0DA5A0"/>
          </a:solidFill>
          <a:ln/>
        </p:spPr>
      </p:sp>
      <p:sp>
        <p:nvSpPr>
          <p:cNvPr id="58" name="Text 56"/>
          <p:cNvSpPr/>
          <p:nvPr/>
        </p:nvSpPr>
        <p:spPr>
          <a:xfrm>
            <a:off x="6702552" y="4700016"/>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Material factors (resin &amp; metal)</a:t>
            </a:r>
            <a:endParaRPr lang="en-US" sz="1000" dirty="0"/>
          </a:p>
        </p:txBody>
      </p:sp>
      <p:sp>
        <p:nvSpPr>
          <p:cNvPr id="59" name="Shape 57"/>
          <p:cNvSpPr/>
          <p:nvPr/>
        </p:nvSpPr>
        <p:spPr>
          <a:xfrm>
            <a:off x="9125712" y="4754880"/>
            <a:ext cx="91440" cy="91440"/>
          </a:xfrm>
          <a:prstGeom prst="ellipse">
            <a:avLst/>
          </a:prstGeom>
          <a:solidFill>
            <a:srgbClr val="0DA5A0"/>
          </a:solidFill>
          <a:ln/>
        </p:spPr>
      </p:sp>
      <p:sp>
        <p:nvSpPr>
          <p:cNvPr id="60" name="Text 58"/>
          <p:cNvSpPr/>
          <p:nvPr/>
        </p:nvSpPr>
        <p:spPr>
          <a:xfrm>
            <a:off x="9308592" y="4700016"/>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Machine-rate multiplier</a:t>
            </a:r>
            <a:endParaRPr lang="en-US" sz="1000" dirty="0"/>
          </a:p>
        </p:txBody>
      </p:sp>
      <p:sp>
        <p:nvSpPr>
          <p:cNvPr id="61" name="Shape 59"/>
          <p:cNvSpPr/>
          <p:nvPr/>
        </p:nvSpPr>
        <p:spPr>
          <a:xfrm>
            <a:off x="6519672" y="5138928"/>
            <a:ext cx="91440" cy="91440"/>
          </a:xfrm>
          <a:prstGeom prst="ellipse">
            <a:avLst/>
          </a:prstGeom>
          <a:solidFill>
            <a:srgbClr val="0DA5A0"/>
          </a:solidFill>
          <a:ln/>
        </p:spPr>
      </p:sp>
      <p:sp>
        <p:nvSpPr>
          <p:cNvPr id="62" name="Text 60"/>
          <p:cNvSpPr/>
          <p:nvPr/>
        </p:nvSpPr>
        <p:spPr>
          <a:xfrm>
            <a:off x="6702552" y="5084064"/>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Overhead multiplier</a:t>
            </a:r>
            <a:endParaRPr lang="en-US" sz="1000" dirty="0"/>
          </a:p>
        </p:txBody>
      </p:sp>
      <p:sp>
        <p:nvSpPr>
          <p:cNvPr id="63" name="Shape 61"/>
          <p:cNvSpPr/>
          <p:nvPr/>
        </p:nvSpPr>
        <p:spPr>
          <a:xfrm>
            <a:off x="9125712" y="5138928"/>
            <a:ext cx="91440" cy="91440"/>
          </a:xfrm>
          <a:prstGeom prst="ellipse">
            <a:avLst/>
          </a:prstGeom>
          <a:solidFill>
            <a:srgbClr val="0DA5A0"/>
          </a:solidFill>
          <a:ln/>
        </p:spPr>
      </p:sp>
      <p:sp>
        <p:nvSpPr>
          <p:cNvPr id="64" name="Text 62"/>
          <p:cNvSpPr/>
          <p:nvPr/>
        </p:nvSpPr>
        <p:spPr>
          <a:xfrm>
            <a:off x="9308592" y="5084064"/>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Packaging &amp; logistics</a:t>
            </a:r>
            <a:endParaRPr lang="en-US" sz="1000" dirty="0"/>
          </a:p>
        </p:txBody>
      </p:sp>
      <p:sp>
        <p:nvSpPr>
          <p:cNvPr id="65" name="Shape 63"/>
          <p:cNvSpPr/>
          <p:nvPr/>
        </p:nvSpPr>
        <p:spPr>
          <a:xfrm>
            <a:off x="6519672" y="5522976"/>
            <a:ext cx="91440" cy="91440"/>
          </a:xfrm>
          <a:prstGeom prst="ellipse">
            <a:avLst/>
          </a:prstGeom>
          <a:solidFill>
            <a:srgbClr val="0DA5A0"/>
          </a:solidFill>
          <a:ln/>
        </p:spPr>
      </p:sp>
      <p:sp>
        <p:nvSpPr>
          <p:cNvPr id="66" name="Text 64"/>
          <p:cNvSpPr/>
          <p:nvPr/>
        </p:nvSpPr>
        <p:spPr>
          <a:xfrm>
            <a:off x="6702552" y="5468112"/>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FX to GBP</a:t>
            </a:r>
            <a:endParaRPr lang="en-US" sz="1000" dirty="0"/>
          </a:p>
        </p:txBody>
      </p:sp>
      <p:sp>
        <p:nvSpPr>
          <p:cNvPr id="67" name="Shape 65"/>
          <p:cNvSpPr/>
          <p:nvPr/>
        </p:nvSpPr>
        <p:spPr>
          <a:xfrm>
            <a:off x="9125712" y="5522976"/>
            <a:ext cx="91440" cy="91440"/>
          </a:xfrm>
          <a:prstGeom prst="ellipse">
            <a:avLst/>
          </a:prstGeom>
          <a:solidFill>
            <a:srgbClr val="0DA5A0"/>
          </a:solidFill>
          <a:ln/>
        </p:spPr>
      </p:sp>
      <p:sp>
        <p:nvSpPr>
          <p:cNvPr id="68" name="Text 66"/>
          <p:cNvSpPr/>
          <p:nvPr/>
        </p:nvSpPr>
        <p:spPr>
          <a:xfrm>
            <a:off x="9308592" y="5468112"/>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Duty &amp; shipping adders</a:t>
            </a:r>
            <a:endParaRPr lang="en-US" sz="1000" dirty="0"/>
          </a:p>
        </p:txBody>
      </p:sp>
      <p:sp>
        <p:nvSpPr>
          <p:cNvPr id="69" name="Shape 67"/>
          <p:cNvSpPr/>
          <p:nvPr/>
        </p:nvSpPr>
        <p:spPr>
          <a:xfrm>
            <a:off x="548640" y="6400800"/>
            <a:ext cx="11094415" cy="12802"/>
          </a:xfrm>
          <a:prstGeom prst="rect">
            <a:avLst/>
          </a:prstGeom>
          <a:solidFill>
            <a:srgbClr val="E4EAF2"/>
          </a:solidFill>
          <a:ln/>
        </p:spPr>
      </p:sp>
      <p:sp>
        <p:nvSpPr>
          <p:cNvPr id="70" name="Text 68"/>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71" name="Text 6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13 / 25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E0900C"/>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E0900C"/>
                </a:solidFill>
                <a:latin typeface="Calibri" pitchFamily="34" charset="0"/>
                <a:ea typeface="Calibri" pitchFamily="34" charset="-122"/>
                <a:cs typeface="Calibri" pitchFamily="34" charset="-120"/>
              </a:rPr>
              <a:t>DEEP DIVE · SHOULD-COST MODEL</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The actual rates — full transparency, no black box</a:t>
            </a:r>
            <a:endParaRPr lang="en-US" sz="2400" dirty="0"/>
          </a:p>
        </p:txBody>
      </p:sp>
      <p:sp>
        <p:nvSpPr>
          <p:cNvPr id="9" name="Shape 7"/>
          <p:cNvSpPr/>
          <p:nvPr/>
        </p:nvSpPr>
        <p:spPr>
          <a:xfrm>
            <a:off x="548640" y="1371600"/>
            <a:ext cx="1051560" cy="45720"/>
          </a:xfrm>
          <a:prstGeom prst="rect">
            <a:avLst/>
          </a:prstGeom>
          <a:solidFill>
            <a:srgbClr val="E0900C"/>
          </a:solidFill>
          <a:ln/>
        </p:spPr>
      </p:sp>
      <p:sp>
        <p:nvSpPr>
          <p:cNvPr id="10" name="Text 8"/>
          <p:cNvSpPr/>
          <p:nvPr/>
        </p:nvSpPr>
        <p:spPr>
          <a:xfrm>
            <a:off x="548640" y="1536192"/>
            <a:ext cx="11064240" cy="365760"/>
          </a:xfrm>
          <a:prstGeom prst="rect">
            <a:avLst/>
          </a:prstGeom>
          <a:noFill/>
          <a:ln/>
        </p:spPr>
        <p:txBody>
          <a:bodyPr wrap="square" lIns="0" tIns="0" rIns="0" bIns="0" rtlCol="0" anchor="t"/>
          <a:lstStyle/>
          <a:p>
            <a:pPr indent="0" marL="0">
              <a:buNone/>
            </a:pPr>
            <a:r>
              <a:rPr lang="en-US" sz="1200" dirty="0">
                <a:solidFill>
                  <a:srgbClr val="3E4C63"/>
                </a:solidFill>
                <a:latin typeface="Calibri" pitchFamily="34" charset="0"/>
                <a:ea typeface="Calibri" pitchFamily="34" charset="-122"/>
                <a:cs typeface="Calibri" pitchFamily="34" charset="-120"/>
              </a:rPr>
              <a:t>These are the real 2026-Q2 rates every costing uses — labour, energy and the regional multipliers. Nothing is hidden or hand-waved.</a:t>
            </a:r>
            <a:endParaRPr lang="en-US" sz="1200" dirty="0"/>
          </a:p>
        </p:txBody>
      </p:sp>
      <p:sp>
        <p:nvSpPr>
          <p:cNvPr id="11" name="Shape 9"/>
          <p:cNvSpPr/>
          <p:nvPr/>
        </p:nvSpPr>
        <p:spPr>
          <a:xfrm>
            <a:off x="548640" y="1965960"/>
            <a:ext cx="11091672" cy="329184"/>
          </a:xfrm>
          <a:prstGeom prst="roundRect">
            <a:avLst>
              <a:gd name="adj" fmla="val 11111"/>
            </a:avLst>
          </a:prstGeom>
          <a:solidFill>
            <a:srgbClr val="0F1E3D"/>
          </a:solidFill>
          <a:ln/>
        </p:spPr>
      </p:sp>
      <p:sp>
        <p:nvSpPr>
          <p:cNvPr id="12" name="Text 10"/>
          <p:cNvSpPr/>
          <p:nvPr/>
        </p:nvSpPr>
        <p:spPr>
          <a:xfrm>
            <a:off x="658368" y="1965960"/>
            <a:ext cx="2011680" cy="329184"/>
          </a:xfrm>
          <a:prstGeom prst="rect">
            <a:avLst/>
          </a:prstGeom>
          <a:noFill/>
          <a:ln/>
        </p:spPr>
        <p:txBody>
          <a:bodyPr wrap="square" lIns="0" tIns="0" rIns="0" bIns="0"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Region</a:t>
            </a:r>
            <a:endParaRPr lang="en-US" sz="950" dirty="0"/>
          </a:p>
        </p:txBody>
      </p:sp>
      <p:sp>
        <p:nvSpPr>
          <p:cNvPr id="13" name="Text 11"/>
          <p:cNvSpPr/>
          <p:nvPr/>
        </p:nvSpPr>
        <p:spPr>
          <a:xfrm>
            <a:off x="2807208" y="1965960"/>
            <a:ext cx="1463040"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Skilled £/hr</a:t>
            </a:r>
            <a:endParaRPr lang="en-US" sz="950" dirty="0"/>
          </a:p>
        </p:txBody>
      </p:sp>
      <p:sp>
        <p:nvSpPr>
          <p:cNvPr id="14" name="Text 12"/>
          <p:cNvSpPr/>
          <p:nvPr/>
        </p:nvSpPr>
        <p:spPr>
          <a:xfrm>
            <a:off x="4407408" y="1965960"/>
            <a:ext cx="1417320"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Foundry £/hr</a:t>
            </a:r>
            <a:endParaRPr lang="en-US" sz="950" dirty="0"/>
          </a:p>
        </p:txBody>
      </p:sp>
      <p:sp>
        <p:nvSpPr>
          <p:cNvPr id="15" name="Text 13"/>
          <p:cNvSpPr/>
          <p:nvPr/>
        </p:nvSpPr>
        <p:spPr>
          <a:xfrm>
            <a:off x="5961888" y="1965960"/>
            <a:ext cx="1280160"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Elec £/kWh</a:t>
            </a:r>
            <a:endParaRPr lang="en-US" sz="950" dirty="0"/>
          </a:p>
        </p:txBody>
      </p:sp>
      <p:sp>
        <p:nvSpPr>
          <p:cNvPr id="16" name="Text 14"/>
          <p:cNvSpPr/>
          <p:nvPr/>
        </p:nvSpPr>
        <p:spPr>
          <a:xfrm>
            <a:off x="7379208" y="1965960"/>
            <a:ext cx="1234440"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Machine ×</a:t>
            </a:r>
            <a:endParaRPr lang="en-US" sz="950" dirty="0"/>
          </a:p>
        </p:txBody>
      </p:sp>
      <p:sp>
        <p:nvSpPr>
          <p:cNvPr id="17" name="Text 15"/>
          <p:cNvSpPr/>
          <p:nvPr/>
        </p:nvSpPr>
        <p:spPr>
          <a:xfrm>
            <a:off x="8750808" y="1965960"/>
            <a:ext cx="1325880"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Overhead ×</a:t>
            </a:r>
            <a:endParaRPr lang="en-US" sz="950" dirty="0"/>
          </a:p>
        </p:txBody>
      </p:sp>
      <p:sp>
        <p:nvSpPr>
          <p:cNvPr id="18" name="Text 16"/>
          <p:cNvSpPr/>
          <p:nvPr/>
        </p:nvSpPr>
        <p:spPr>
          <a:xfrm>
            <a:off x="10213848" y="1965960"/>
            <a:ext cx="1344168"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Logistics ×</a:t>
            </a:r>
            <a:endParaRPr lang="en-US" sz="950" dirty="0"/>
          </a:p>
        </p:txBody>
      </p:sp>
      <p:sp>
        <p:nvSpPr>
          <p:cNvPr id="19" name="Shape 17"/>
          <p:cNvSpPr/>
          <p:nvPr/>
        </p:nvSpPr>
        <p:spPr>
          <a:xfrm>
            <a:off x="548640" y="2295144"/>
            <a:ext cx="11091672" cy="329184"/>
          </a:xfrm>
          <a:prstGeom prst="rect">
            <a:avLst/>
          </a:prstGeom>
          <a:solidFill>
            <a:srgbClr val="F4F7FB"/>
          </a:solidFill>
          <a:ln/>
        </p:spPr>
      </p:sp>
      <p:sp>
        <p:nvSpPr>
          <p:cNvPr id="20" name="Text 18"/>
          <p:cNvSpPr/>
          <p:nvPr/>
        </p:nvSpPr>
        <p:spPr>
          <a:xfrm>
            <a:off x="658368" y="2295144"/>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United Kingdom</a:t>
            </a:r>
            <a:endParaRPr lang="en-US" sz="930" dirty="0"/>
          </a:p>
        </p:txBody>
      </p:sp>
      <p:sp>
        <p:nvSpPr>
          <p:cNvPr id="21" name="Text 19"/>
          <p:cNvSpPr/>
          <p:nvPr/>
        </p:nvSpPr>
        <p:spPr>
          <a:xfrm>
            <a:off x="2807208" y="2295144"/>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26.00</a:t>
            </a:r>
            <a:endParaRPr lang="en-US" sz="930" dirty="0"/>
          </a:p>
        </p:txBody>
      </p:sp>
      <p:sp>
        <p:nvSpPr>
          <p:cNvPr id="22" name="Text 20"/>
          <p:cNvSpPr/>
          <p:nvPr/>
        </p:nvSpPr>
        <p:spPr>
          <a:xfrm>
            <a:off x="4407408" y="2295144"/>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18.50</a:t>
            </a:r>
            <a:endParaRPr lang="en-US" sz="930" dirty="0"/>
          </a:p>
        </p:txBody>
      </p:sp>
      <p:sp>
        <p:nvSpPr>
          <p:cNvPr id="23" name="Text 21"/>
          <p:cNvSpPr/>
          <p:nvPr/>
        </p:nvSpPr>
        <p:spPr>
          <a:xfrm>
            <a:off x="5961888" y="2295144"/>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0.23</a:t>
            </a:r>
            <a:endParaRPr lang="en-US" sz="930" dirty="0"/>
          </a:p>
        </p:txBody>
      </p:sp>
      <p:sp>
        <p:nvSpPr>
          <p:cNvPr id="24" name="Text 22"/>
          <p:cNvSpPr/>
          <p:nvPr/>
        </p:nvSpPr>
        <p:spPr>
          <a:xfrm>
            <a:off x="7379208" y="2295144"/>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1.00</a:t>
            </a:r>
            <a:endParaRPr lang="en-US" sz="930" dirty="0"/>
          </a:p>
        </p:txBody>
      </p:sp>
      <p:sp>
        <p:nvSpPr>
          <p:cNvPr id="25" name="Text 23"/>
          <p:cNvSpPr/>
          <p:nvPr/>
        </p:nvSpPr>
        <p:spPr>
          <a:xfrm>
            <a:off x="8750808" y="2295144"/>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1.00</a:t>
            </a:r>
            <a:endParaRPr lang="en-US" sz="930" dirty="0"/>
          </a:p>
        </p:txBody>
      </p:sp>
      <p:sp>
        <p:nvSpPr>
          <p:cNvPr id="26" name="Text 24"/>
          <p:cNvSpPr/>
          <p:nvPr/>
        </p:nvSpPr>
        <p:spPr>
          <a:xfrm>
            <a:off x="10213848" y="2295144"/>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1.00</a:t>
            </a:r>
            <a:endParaRPr lang="en-US" sz="930" dirty="0"/>
          </a:p>
        </p:txBody>
      </p:sp>
      <p:sp>
        <p:nvSpPr>
          <p:cNvPr id="27" name="Shape 25"/>
          <p:cNvSpPr/>
          <p:nvPr/>
        </p:nvSpPr>
        <p:spPr>
          <a:xfrm>
            <a:off x="548640" y="2624328"/>
            <a:ext cx="11091672" cy="329184"/>
          </a:xfrm>
          <a:prstGeom prst="rect">
            <a:avLst/>
          </a:prstGeom>
          <a:solidFill>
            <a:srgbClr val="FFFFFF"/>
          </a:solidFill>
          <a:ln/>
        </p:spPr>
      </p:sp>
      <p:sp>
        <p:nvSpPr>
          <p:cNvPr id="28" name="Text 26"/>
          <p:cNvSpPr/>
          <p:nvPr/>
        </p:nvSpPr>
        <p:spPr>
          <a:xfrm>
            <a:off x="658368" y="2624328"/>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Germany</a:t>
            </a:r>
            <a:endParaRPr lang="en-US" sz="930" dirty="0"/>
          </a:p>
        </p:txBody>
      </p:sp>
      <p:sp>
        <p:nvSpPr>
          <p:cNvPr id="29" name="Text 27"/>
          <p:cNvSpPr/>
          <p:nvPr/>
        </p:nvSpPr>
        <p:spPr>
          <a:xfrm>
            <a:off x="2807208" y="2624328"/>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40.50</a:t>
            </a:r>
            <a:endParaRPr lang="en-US" sz="930" dirty="0"/>
          </a:p>
        </p:txBody>
      </p:sp>
      <p:sp>
        <p:nvSpPr>
          <p:cNvPr id="30" name="Text 28"/>
          <p:cNvSpPr/>
          <p:nvPr/>
        </p:nvSpPr>
        <p:spPr>
          <a:xfrm>
            <a:off x="4407408" y="2624328"/>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28.00</a:t>
            </a:r>
            <a:endParaRPr lang="en-US" sz="930" dirty="0"/>
          </a:p>
        </p:txBody>
      </p:sp>
      <p:sp>
        <p:nvSpPr>
          <p:cNvPr id="31" name="Text 29"/>
          <p:cNvSpPr/>
          <p:nvPr/>
        </p:nvSpPr>
        <p:spPr>
          <a:xfrm>
            <a:off x="5961888" y="2624328"/>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0.20</a:t>
            </a:r>
            <a:endParaRPr lang="en-US" sz="930" dirty="0"/>
          </a:p>
        </p:txBody>
      </p:sp>
      <p:sp>
        <p:nvSpPr>
          <p:cNvPr id="32" name="Text 30"/>
          <p:cNvSpPr/>
          <p:nvPr/>
        </p:nvSpPr>
        <p:spPr>
          <a:xfrm>
            <a:off x="7379208" y="2624328"/>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1.05</a:t>
            </a:r>
            <a:endParaRPr lang="en-US" sz="930" dirty="0"/>
          </a:p>
        </p:txBody>
      </p:sp>
      <p:sp>
        <p:nvSpPr>
          <p:cNvPr id="33" name="Text 31"/>
          <p:cNvSpPr/>
          <p:nvPr/>
        </p:nvSpPr>
        <p:spPr>
          <a:xfrm>
            <a:off x="8750808" y="2624328"/>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1.10</a:t>
            </a:r>
            <a:endParaRPr lang="en-US" sz="930" dirty="0"/>
          </a:p>
        </p:txBody>
      </p:sp>
      <p:sp>
        <p:nvSpPr>
          <p:cNvPr id="34" name="Text 32"/>
          <p:cNvSpPr/>
          <p:nvPr/>
        </p:nvSpPr>
        <p:spPr>
          <a:xfrm>
            <a:off x="10213848" y="2624328"/>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1.15</a:t>
            </a:r>
            <a:endParaRPr lang="en-US" sz="930" dirty="0"/>
          </a:p>
        </p:txBody>
      </p:sp>
      <p:sp>
        <p:nvSpPr>
          <p:cNvPr id="35" name="Shape 33"/>
          <p:cNvSpPr/>
          <p:nvPr/>
        </p:nvSpPr>
        <p:spPr>
          <a:xfrm>
            <a:off x="548640" y="2953512"/>
            <a:ext cx="11091672" cy="329184"/>
          </a:xfrm>
          <a:prstGeom prst="rect">
            <a:avLst/>
          </a:prstGeom>
          <a:solidFill>
            <a:srgbClr val="F4F7FB"/>
          </a:solidFill>
          <a:ln/>
        </p:spPr>
      </p:sp>
      <p:sp>
        <p:nvSpPr>
          <p:cNvPr id="36" name="Text 34"/>
          <p:cNvSpPr/>
          <p:nvPr/>
        </p:nvSpPr>
        <p:spPr>
          <a:xfrm>
            <a:off x="658368" y="2953512"/>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United States</a:t>
            </a:r>
            <a:endParaRPr lang="en-US" sz="930" dirty="0"/>
          </a:p>
        </p:txBody>
      </p:sp>
      <p:sp>
        <p:nvSpPr>
          <p:cNvPr id="37" name="Text 35"/>
          <p:cNvSpPr/>
          <p:nvPr/>
        </p:nvSpPr>
        <p:spPr>
          <a:xfrm>
            <a:off x="2807208" y="2953512"/>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34.00</a:t>
            </a:r>
            <a:endParaRPr lang="en-US" sz="930" dirty="0"/>
          </a:p>
        </p:txBody>
      </p:sp>
      <p:sp>
        <p:nvSpPr>
          <p:cNvPr id="38" name="Text 36"/>
          <p:cNvSpPr/>
          <p:nvPr/>
        </p:nvSpPr>
        <p:spPr>
          <a:xfrm>
            <a:off x="4407408" y="2953512"/>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24.00</a:t>
            </a:r>
            <a:endParaRPr lang="en-US" sz="930" dirty="0"/>
          </a:p>
        </p:txBody>
      </p:sp>
      <p:sp>
        <p:nvSpPr>
          <p:cNvPr id="39" name="Text 37"/>
          <p:cNvSpPr/>
          <p:nvPr/>
        </p:nvSpPr>
        <p:spPr>
          <a:xfrm>
            <a:off x="5961888" y="2953512"/>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0.10</a:t>
            </a:r>
            <a:endParaRPr lang="en-US" sz="930" dirty="0"/>
          </a:p>
        </p:txBody>
      </p:sp>
      <p:sp>
        <p:nvSpPr>
          <p:cNvPr id="40" name="Text 38"/>
          <p:cNvSpPr/>
          <p:nvPr/>
        </p:nvSpPr>
        <p:spPr>
          <a:xfrm>
            <a:off x="7379208" y="2953512"/>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0.85</a:t>
            </a:r>
            <a:endParaRPr lang="en-US" sz="930" dirty="0"/>
          </a:p>
        </p:txBody>
      </p:sp>
      <p:sp>
        <p:nvSpPr>
          <p:cNvPr id="41" name="Text 39"/>
          <p:cNvSpPr/>
          <p:nvPr/>
        </p:nvSpPr>
        <p:spPr>
          <a:xfrm>
            <a:off x="8750808" y="2953512"/>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0.95</a:t>
            </a:r>
            <a:endParaRPr lang="en-US" sz="930" dirty="0"/>
          </a:p>
        </p:txBody>
      </p:sp>
      <p:sp>
        <p:nvSpPr>
          <p:cNvPr id="42" name="Text 40"/>
          <p:cNvSpPr/>
          <p:nvPr/>
        </p:nvSpPr>
        <p:spPr>
          <a:xfrm>
            <a:off x="10213848" y="2953512"/>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1.25</a:t>
            </a:r>
            <a:endParaRPr lang="en-US" sz="930" dirty="0"/>
          </a:p>
        </p:txBody>
      </p:sp>
      <p:sp>
        <p:nvSpPr>
          <p:cNvPr id="43" name="Shape 41"/>
          <p:cNvSpPr/>
          <p:nvPr/>
        </p:nvSpPr>
        <p:spPr>
          <a:xfrm>
            <a:off x="548640" y="3282696"/>
            <a:ext cx="11091672" cy="329184"/>
          </a:xfrm>
          <a:prstGeom prst="rect">
            <a:avLst/>
          </a:prstGeom>
          <a:solidFill>
            <a:srgbClr val="FFFFFF"/>
          </a:solidFill>
          <a:ln/>
        </p:spPr>
      </p:sp>
      <p:sp>
        <p:nvSpPr>
          <p:cNvPr id="44" name="Text 42"/>
          <p:cNvSpPr/>
          <p:nvPr/>
        </p:nvSpPr>
        <p:spPr>
          <a:xfrm>
            <a:off x="658368" y="3282696"/>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Poland</a:t>
            </a:r>
            <a:endParaRPr lang="en-US" sz="930" dirty="0"/>
          </a:p>
        </p:txBody>
      </p:sp>
      <p:sp>
        <p:nvSpPr>
          <p:cNvPr id="45" name="Text 43"/>
          <p:cNvSpPr/>
          <p:nvPr/>
        </p:nvSpPr>
        <p:spPr>
          <a:xfrm>
            <a:off x="2807208" y="3282696"/>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12.00</a:t>
            </a:r>
            <a:endParaRPr lang="en-US" sz="930" dirty="0"/>
          </a:p>
        </p:txBody>
      </p:sp>
      <p:sp>
        <p:nvSpPr>
          <p:cNvPr id="46" name="Text 44"/>
          <p:cNvSpPr/>
          <p:nvPr/>
        </p:nvSpPr>
        <p:spPr>
          <a:xfrm>
            <a:off x="4407408" y="3282696"/>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8.00</a:t>
            </a:r>
            <a:endParaRPr lang="en-US" sz="930" dirty="0"/>
          </a:p>
        </p:txBody>
      </p:sp>
      <p:sp>
        <p:nvSpPr>
          <p:cNvPr id="47" name="Text 45"/>
          <p:cNvSpPr/>
          <p:nvPr/>
        </p:nvSpPr>
        <p:spPr>
          <a:xfrm>
            <a:off x="5961888" y="3282696"/>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0.14</a:t>
            </a:r>
            <a:endParaRPr lang="en-US" sz="930" dirty="0"/>
          </a:p>
        </p:txBody>
      </p:sp>
      <p:sp>
        <p:nvSpPr>
          <p:cNvPr id="48" name="Text 46"/>
          <p:cNvSpPr/>
          <p:nvPr/>
        </p:nvSpPr>
        <p:spPr>
          <a:xfrm>
            <a:off x="7379208" y="3282696"/>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0.72</a:t>
            </a:r>
            <a:endParaRPr lang="en-US" sz="930" dirty="0"/>
          </a:p>
        </p:txBody>
      </p:sp>
      <p:sp>
        <p:nvSpPr>
          <p:cNvPr id="49" name="Text 47"/>
          <p:cNvSpPr/>
          <p:nvPr/>
        </p:nvSpPr>
        <p:spPr>
          <a:xfrm>
            <a:off x="8750808" y="3282696"/>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0.85</a:t>
            </a:r>
            <a:endParaRPr lang="en-US" sz="930" dirty="0"/>
          </a:p>
        </p:txBody>
      </p:sp>
      <p:sp>
        <p:nvSpPr>
          <p:cNvPr id="50" name="Text 48"/>
          <p:cNvSpPr/>
          <p:nvPr/>
        </p:nvSpPr>
        <p:spPr>
          <a:xfrm>
            <a:off x="10213848" y="3282696"/>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1.20</a:t>
            </a:r>
            <a:endParaRPr lang="en-US" sz="930" dirty="0"/>
          </a:p>
        </p:txBody>
      </p:sp>
      <p:sp>
        <p:nvSpPr>
          <p:cNvPr id="51" name="Shape 49"/>
          <p:cNvSpPr/>
          <p:nvPr/>
        </p:nvSpPr>
        <p:spPr>
          <a:xfrm>
            <a:off x="548640" y="3611880"/>
            <a:ext cx="11091672" cy="329184"/>
          </a:xfrm>
          <a:prstGeom prst="rect">
            <a:avLst/>
          </a:prstGeom>
          <a:solidFill>
            <a:srgbClr val="F4F7FB"/>
          </a:solidFill>
          <a:ln/>
        </p:spPr>
      </p:sp>
      <p:sp>
        <p:nvSpPr>
          <p:cNvPr id="52" name="Text 50"/>
          <p:cNvSpPr/>
          <p:nvPr/>
        </p:nvSpPr>
        <p:spPr>
          <a:xfrm>
            <a:off x="658368" y="3611880"/>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Czech Rep.</a:t>
            </a:r>
            <a:endParaRPr lang="en-US" sz="930" dirty="0"/>
          </a:p>
        </p:txBody>
      </p:sp>
      <p:sp>
        <p:nvSpPr>
          <p:cNvPr id="53" name="Text 51"/>
          <p:cNvSpPr/>
          <p:nvPr/>
        </p:nvSpPr>
        <p:spPr>
          <a:xfrm>
            <a:off x="2807208" y="3611880"/>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13.00</a:t>
            </a:r>
            <a:endParaRPr lang="en-US" sz="930" dirty="0"/>
          </a:p>
        </p:txBody>
      </p:sp>
      <p:sp>
        <p:nvSpPr>
          <p:cNvPr id="54" name="Text 52"/>
          <p:cNvSpPr/>
          <p:nvPr/>
        </p:nvSpPr>
        <p:spPr>
          <a:xfrm>
            <a:off x="4407408" y="3611880"/>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9.50</a:t>
            </a:r>
            <a:endParaRPr lang="en-US" sz="930" dirty="0"/>
          </a:p>
        </p:txBody>
      </p:sp>
      <p:sp>
        <p:nvSpPr>
          <p:cNvPr id="55" name="Text 53"/>
          <p:cNvSpPr/>
          <p:nvPr/>
        </p:nvSpPr>
        <p:spPr>
          <a:xfrm>
            <a:off x="5961888" y="3611880"/>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0.13</a:t>
            </a:r>
            <a:endParaRPr lang="en-US" sz="930" dirty="0"/>
          </a:p>
        </p:txBody>
      </p:sp>
      <p:sp>
        <p:nvSpPr>
          <p:cNvPr id="56" name="Text 54"/>
          <p:cNvSpPr/>
          <p:nvPr/>
        </p:nvSpPr>
        <p:spPr>
          <a:xfrm>
            <a:off x="7379208" y="3611880"/>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0.74</a:t>
            </a:r>
            <a:endParaRPr lang="en-US" sz="930" dirty="0"/>
          </a:p>
        </p:txBody>
      </p:sp>
      <p:sp>
        <p:nvSpPr>
          <p:cNvPr id="57" name="Text 55"/>
          <p:cNvSpPr/>
          <p:nvPr/>
        </p:nvSpPr>
        <p:spPr>
          <a:xfrm>
            <a:off x="8750808" y="3611880"/>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0.87</a:t>
            </a:r>
            <a:endParaRPr lang="en-US" sz="930" dirty="0"/>
          </a:p>
        </p:txBody>
      </p:sp>
      <p:sp>
        <p:nvSpPr>
          <p:cNvPr id="58" name="Text 56"/>
          <p:cNvSpPr/>
          <p:nvPr/>
        </p:nvSpPr>
        <p:spPr>
          <a:xfrm>
            <a:off x="10213848" y="3611880"/>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1.20</a:t>
            </a:r>
            <a:endParaRPr lang="en-US" sz="930" dirty="0"/>
          </a:p>
        </p:txBody>
      </p:sp>
      <p:sp>
        <p:nvSpPr>
          <p:cNvPr id="59" name="Shape 57"/>
          <p:cNvSpPr/>
          <p:nvPr/>
        </p:nvSpPr>
        <p:spPr>
          <a:xfrm>
            <a:off x="548640" y="3941064"/>
            <a:ext cx="11091672" cy="329184"/>
          </a:xfrm>
          <a:prstGeom prst="rect">
            <a:avLst/>
          </a:prstGeom>
          <a:solidFill>
            <a:srgbClr val="FFFFFF"/>
          </a:solidFill>
          <a:ln/>
        </p:spPr>
      </p:sp>
      <p:sp>
        <p:nvSpPr>
          <p:cNvPr id="60" name="Text 58"/>
          <p:cNvSpPr/>
          <p:nvPr/>
        </p:nvSpPr>
        <p:spPr>
          <a:xfrm>
            <a:off x="658368" y="3941064"/>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Mexico</a:t>
            </a:r>
            <a:endParaRPr lang="en-US" sz="930" dirty="0"/>
          </a:p>
        </p:txBody>
      </p:sp>
      <p:sp>
        <p:nvSpPr>
          <p:cNvPr id="61" name="Text 59"/>
          <p:cNvSpPr/>
          <p:nvPr/>
        </p:nvSpPr>
        <p:spPr>
          <a:xfrm>
            <a:off x="2807208" y="3941064"/>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7.50</a:t>
            </a:r>
            <a:endParaRPr lang="en-US" sz="930" dirty="0"/>
          </a:p>
        </p:txBody>
      </p:sp>
      <p:sp>
        <p:nvSpPr>
          <p:cNvPr id="62" name="Text 60"/>
          <p:cNvSpPr/>
          <p:nvPr/>
        </p:nvSpPr>
        <p:spPr>
          <a:xfrm>
            <a:off x="4407408" y="3941064"/>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4.80</a:t>
            </a:r>
            <a:endParaRPr lang="en-US" sz="930" dirty="0"/>
          </a:p>
        </p:txBody>
      </p:sp>
      <p:sp>
        <p:nvSpPr>
          <p:cNvPr id="63" name="Text 61"/>
          <p:cNvSpPr/>
          <p:nvPr/>
        </p:nvSpPr>
        <p:spPr>
          <a:xfrm>
            <a:off x="5961888" y="3941064"/>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0.08</a:t>
            </a:r>
            <a:endParaRPr lang="en-US" sz="930" dirty="0"/>
          </a:p>
        </p:txBody>
      </p:sp>
      <p:sp>
        <p:nvSpPr>
          <p:cNvPr id="64" name="Text 62"/>
          <p:cNvSpPr/>
          <p:nvPr/>
        </p:nvSpPr>
        <p:spPr>
          <a:xfrm>
            <a:off x="7379208" y="3941064"/>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0.60</a:t>
            </a:r>
            <a:endParaRPr lang="en-US" sz="930" dirty="0"/>
          </a:p>
        </p:txBody>
      </p:sp>
      <p:sp>
        <p:nvSpPr>
          <p:cNvPr id="65" name="Text 63"/>
          <p:cNvSpPr/>
          <p:nvPr/>
        </p:nvSpPr>
        <p:spPr>
          <a:xfrm>
            <a:off x="8750808" y="3941064"/>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0.78</a:t>
            </a:r>
            <a:endParaRPr lang="en-US" sz="930" dirty="0"/>
          </a:p>
        </p:txBody>
      </p:sp>
      <p:sp>
        <p:nvSpPr>
          <p:cNvPr id="66" name="Text 64"/>
          <p:cNvSpPr/>
          <p:nvPr/>
        </p:nvSpPr>
        <p:spPr>
          <a:xfrm>
            <a:off x="10213848" y="3941064"/>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1.35</a:t>
            </a:r>
            <a:endParaRPr lang="en-US" sz="930" dirty="0"/>
          </a:p>
        </p:txBody>
      </p:sp>
      <p:sp>
        <p:nvSpPr>
          <p:cNvPr id="67" name="Shape 65"/>
          <p:cNvSpPr/>
          <p:nvPr/>
        </p:nvSpPr>
        <p:spPr>
          <a:xfrm>
            <a:off x="548640" y="4270248"/>
            <a:ext cx="11091672" cy="329184"/>
          </a:xfrm>
          <a:prstGeom prst="rect">
            <a:avLst/>
          </a:prstGeom>
          <a:solidFill>
            <a:srgbClr val="F4F7FB"/>
          </a:solidFill>
          <a:ln/>
        </p:spPr>
      </p:sp>
      <p:sp>
        <p:nvSpPr>
          <p:cNvPr id="68" name="Text 66"/>
          <p:cNvSpPr/>
          <p:nvPr/>
        </p:nvSpPr>
        <p:spPr>
          <a:xfrm>
            <a:off x="658368" y="4270248"/>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Turkey</a:t>
            </a:r>
            <a:endParaRPr lang="en-US" sz="930" dirty="0"/>
          </a:p>
        </p:txBody>
      </p:sp>
      <p:sp>
        <p:nvSpPr>
          <p:cNvPr id="69" name="Text 67"/>
          <p:cNvSpPr/>
          <p:nvPr/>
        </p:nvSpPr>
        <p:spPr>
          <a:xfrm>
            <a:off x="2807208" y="4270248"/>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6.50</a:t>
            </a:r>
            <a:endParaRPr lang="en-US" sz="930" dirty="0"/>
          </a:p>
        </p:txBody>
      </p:sp>
      <p:sp>
        <p:nvSpPr>
          <p:cNvPr id="70" name="Text 68"/>
          <p:cNvSpPr/>
          <p:nvPr/>
        </p:nvSpPr>
        <p:spPr>
          <a:xfrm>
            <a:off x="4407408" y="4270248"/>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4.80</a:t>
            </a:r>
            <a:endParaRPr lang="en-US" sz="930" dirty="0"/>
          </a:p>
        </p:txBody>
      </p:sp>
      <p:sp>
        <p:nvSpPr>
          <p:cNvPr id="71" name="Text 69"/>
          <p:cNvSpPr/>
          <p:nvPr/>
        </p:nvSpPr>
        <p:spPr>
          <a:xfrm>
            <a:off x="5961888" y="4270248"/>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0.09</a:t>
            </a:r>
            <a:endParaRPr lang="en-US" sz="930" dirty="0"/>
          </a:p>
        </p:txBody>
      </p:sp>
      <p:sp>
        <p:nvSpPr>
          <p:cNvPr id="72" name="Text 70"/>
          <p:cNvSpPr/>
          <p:nvPr/>
        </p:nvSpPr>
        <p:spPr>
          <a:xfrm>
            <a:off x="7379208" y="4270248"/>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0.60</a:t>
            </a:r>
            <a:endParaRPr lang="en-US" sz="930" dirty="0"/>
          </a:p>
        </p:txBody>
      </p:sp>
      <p:sp>
        <p:nvSpPr>
          <p:cNvPr id="73" name="Text 71"/>
          <p:cNvSpPr/>
          <p:nvPr/>
        </p:nvSpPr>
        <p:spPr>
          <a:xfrm>
            <a:off x="8750808" y="4270248"/>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0.78</a:t>
            </a:r>
            <a:endParaRPr lang="en-US" sz="930" dirty="0"/>
          </a:p>
        </p:txBody>
      </p:sp>
      <p:sp>
        <p:nvSpPr>
          <p:cNvPr id="74" name="Text 72"/>
          <p:cNvSpPr/>
          <p:nvPr/>
        </p:nvSpPr>
        <p:spPr>
          <a:xfrm>
            <a:off x="10213848" y="4270248"/>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1.30</a:t>
            </a:r>
            <a:endParaRPr lang="en-US" sz="930" dirty="0"/>
          </a:p>
        </p:txBody>
      </p:sp>
      <p:sp>
        <p:nvSpPr>
          <p:cNvPr id="75" name="Shape 73"/>
          <p:cNvSpPr/>
          <p:nvPr/>
        </p:nvSpPr>
        <p:spPr>
          <a:xfrm>
            <a:off x="548640" y="4599432"/>
            <a:ext cx="11091672" cy="329184"/>
          </a:xfrm>
          <a:prstGeom prst="rect">
            <a:avLst/>
          </a:prstGeom>
          <a:solidFill>
            <a:srgbClr val="FFFFFF"/>
          </a:solidFill>
          <a:ln/>
        </p:spPr>
      </p:sp>
      <p:sp>
        <p:nvSpPr>
          <p:cNvPr id="76" name="Text 74"/>
          <p:cNvSpPr/>
          <p:nvPr/>
        </p:nvSpPr>
        <p:spPr>
          <a:xfrm>
            <a:off x="658368" y="4599432"/>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China</a:t>
            </a:r>
            <a:endParaRPr lang="en-US" sz="930" dirty="0"/>
          </a:p>
        </p:txBody>
      </p:sp>
      <p:sp>
        <p:nvSpPr>
          <p:cNvPr id="77" name="Text 75"/>
          <p:cNvSpPr/>
          <p:nvPr/>
        </p:nvSpPr>
        <p:spPr>
          <a:xfrm>
            <a:off x="2807208" y="4599432"/>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7.90</a:t>
            </a:r>
            <a:endParaRPr lang="en-US" sz="930" dirty="0"/>
          </a:p>
        </p:txBody>
      </p:sp>
      <p:sp>
        <p:nvSpPr>
          <p:cNvPr id="78" name="Text 76"/>
          <p:cNvSpPr/>
          <p:nvPr/>
        </p:nvSpPr>
        <p:spPr>
          <a:xfrm>
            <a:off x="4407408" y="4599432"/>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5.00</a:t>
            </a:r>
            <a:endParaRPr lang="en-US" sz="930" dirty="0"/>
          </a:p>
        </p:txBody>
      </p:sp>
      <p:sp>
        <p:nvSpPr>
          <p:cNvPr id="79" name="Text 77"/>
          <p:cNvSpPr/>
          <p:nvPr/>
        </p:nvSpPr>
        <p:spPr>
          <a:xfrm>
            <a:off x="5961888" y="4599432"/>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0.07</a:t>
            </a:r>
            <a:endParaRPr lang="en-US" sz="930" dirty="0"/>
          </a:p>
        </p:txBody>
      </p:sp>
      <p:sp>
        <p:nvSpPr>
          <p:cNvPr id="80" name="Text 78"/>
          <p:cNvSpPr/>
          <p:nvPr/>
        </p:nvSpPr>
        <p:spPr>
          <a:xfrm>
            <a:off x="7379208" y="4599432"/>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0.55</a:t>
            </a:r>
            <a:endParaRPr lang="en-US" sz="930" dirty="0"/>
          </a:p>
        </p:txBody>
      </p:sp>
      <p:sp>
        <p:nvSpPr>
          <p:cNvPr id="81" name="Text 79"/>
          <p:cNvSpPr/>
          <p:nvPr/>
        </p:nvSpPr>
        <p:spPr>
          <a:xfrm>
            <a:off x="8750808" y="4599432"/>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0.75</a:t>
            </a:r>
            <a:endParaRPr lang="en-US" sz="930" dirty="0"/>
          </a:p>
        </p:txBody>
      </p:sp>
      <p:sp>
        <p:nvSpPr>
          <p:cNvPr id="82" name="Text 80"/>
          <p:cNvSpPr/>
          <p:nvPr/>
        </p:nvSpPr>
        <p:spPr>
          <a:xfrm>
            <a:off x="10213848" y="4599432"/>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1.45</a:t>
            </a:r>
            <a:endParaRPr lang="en-US" sz="930" dirty="0"/>
          </a:p>
        </p:txBody>
      </p:sp>
      <p:sp>
        <p:nvSpPr>
          <p:cNvPr id="83" name="Shape 81"/>
          <p:cNvSpPr/>
          <p:nvPr/>
        </p:nvSpPr>
        <p:spPr>
          <a:xfrm>
            <a:off x="548640" y="4928616"/>
            <a:ext cx="11091672" cy="329184"/>
          </a:xfrm>
          <a:prstGeom prst="rect">
            <a:avLst/>
          </a:prstGeom>
          <a:solidFill>
            <a:srgbClr val="F4F7FB"/>
          </a:solidFill>
          <a:ln/>
        </p:spPr>
      </p:sp>
      <p:sp>
        <p:nvSpPr>
          <p:cNvPr id="84" name="Text 82"/>
          <p:cNvSpPr/>
          <p:nvPr/>
        </p:nvSpPr>
        <p:spPr>
          <a:xfrm>
            <a:off x="658368" y="4928616"/>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India</a:t>
            </a:r>
            <a:endParaRPr lang="en-US" sz="930" dirty="0"/>
          </a:p>
        </p:txBody>
      </p:sp>
      <p:sp>
        <p:nvSpPr>
          <p:cNvPr id="85" name="Text 83"/>
          <p:cNvSpPr/>
          <p:nvPr/>
        </p:nvSpPr>
        <p:spPr>
          <a:xfrm>
            <a:off x="2807208" y="4928616"/>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5.10</a:t>
            </a:r>
            <a:endParaRPr lang="en-US" sz="930" dirty="0"/>
          </a:p>
        </p:txBody>
      </p:sp>
      <p:sp>
        <p:nvSpPr>
          <p:cNvPr id="86" name="Text 84"/>
          <p:cNvSpPr/>
          <p:nvPr/>
        </p:nvSpPr>
        <p:spPr>
          <a:xfrm>
            <a:off x="4407408" y="4928616"/>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3.00</a:t>
            </a:r>
            <a:endParaRPr lang="en-US" sz="930" dirty="0"/>
          </a:p>
        </p:txBody>
      </p:sp>
      <p:sp>
        <p:nvSpPr>
          <p:cNvPr id="87" name="Text 85"/>
          <p:cNvSpPr/>
          <p:nvPr/>
        </p:nvSpPr>
        <p:spPr>
          <a:xfrm>
            <a:off x="5961888" y="4928616"/>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0.07</a:t>
            </a:r>
            <a:endParaRPr lang="en-US" sz="930" dirty="0"/>
          </a:p>
        </p:txBody>
      </p:sp>
      <p:sp>
        <p:nvSpPr>
          <p:cNvPr id="88" name="Text 86"/>
          <p:cNvSpPr/>
          <p:nvPr/>
        </p:nvSpPr>
        <p:spPr>
          <a:xfrm>
            <a:off x="7379208" y="4928616"/>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0.52</a:t>
            </a:r>
            <a:endParaRPr lang="en-US" sz="930" dirty="0"/>
          </a:p>
        </p:txBody>
      </p:sp>
      <p:sp>
        <p:nvSpPr>
          <p:cNvPr id="89" name="Text 87"/>
          <p:cNvSpPr/>
          <p:nvPr/>
        </p:nvSpPr>
        <p:spPr>
          <a:xfrm>
            <a:off x="8750808" y="4928616"/>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0.72</a:t>
            </a:r>
            <a:endParaRPr lang="en-US" sz="930" dirty="0"/>
          </a:p>
        </p:txBody>
      </p:sp>
      <p:sp>
        <p:nvSpPr>
          <p:cNvPr id="90" name="Text 88"/>
          <p:cNvSpPr/>
          <p:nvPr/>
        </p:nvSpPr>
        <p:spPr>
          <a:xfrm>
            <a:off x="10213848" y="4928616"/>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1.50</a:t>
            </a:r>
            <a:endParaRPr lang="en-US" sz="930" dirty="0"/>
          </a:p>
        </p:txBody>
      </p:sp>
      <p:sp>
        <p:nvSpPr>
          <p:cNvPr id="91" name="Shape 89"/>
          <p:cNvSpPr/>
          <p:nvPr/>
        </p:nvSpPr>
        <p:spPr>
          <a:xfrm>
            <a:off x="548640" y="5257800"/>
            <a:ext cx="11091672" cy="329184"/>
          </a:xfrm>
          <a:prstGeom prst="rect">
            <a:avLst/>
          </a:prstGeom>
          <a:solidFill>
            <a:srgbClr val="FFFFFF"/>
          </a:solidFill>
          <a:ln/>
        </p:spPr>
      </p:sp>
      <p:sp>
        <p:nvSpPr>
          <p:cNvPr id="92" name="Text 90"/>
          <p:cNvSpPr/>
          <p:nvPr/>
        </p:nvSpPr>
        <p:spPr>
          <a:xfrm>
            <a:off x="658368" y="5257800"/>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Vietnam</a:t>
            </a:r>
            <a:endParaRPr lang="en-US" sz="930" dirty="0"/>
          </a:p>
        </p:txBody>
      </p:sp>
      <p:sp>
        <p:nvSpPr>
          <p:cNvPr id="93" name="Text 91"/>
          <p:cNvSpPr/>
          <p:nvPr/>
        </p:nvSpPr>
        <p:spPr>
          <a:xfrm>
            <a:off x="2807208" y="5257800"/>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3.80</a:t>
            </a:r>
            <a:endParaRPr lang="en-US" sz="930" dirty="0"/>
          </a:p>
        </p:txBody>
      </p:sp>
      <p:sp>
        <p:nvSpPr>
          <p:cNvPr id="94" name="Text 92"/>
          <p:cNvSpPr/>
          <p:nvPr/>
        </p:nvSpPr>
        <p:spPr>
          <a:xfrm>
            <a:off x="4407408" y="5257800"/>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2.50</a:t>
            </a:r>
            <a:endParaRPr lang="en-US" sz="930" dirty="0"/>
          </a:p>
        </p:txBody>
      </p:sp>
      <p:sp>
        <p:nvSpPr>
          <p:cNvPr id="95" name="Text 93"/>
          <p:cNvSpPr/>
          <p:nvPr/>
        </p:nvSpPr>
        <p:spPr>
          <a:xfrm>
            <a:off x="5961888" y="5257800"/>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0.06</a:t>
            </a:r>
            <a:endParaRPr lang="en-US" sz="930" dirty="0"/>
          </a:p>
        </p:txBody>
      </p:sp>
      <p:sp>
        <p:nvSpPr>
          <p:cNvPr id="96" name="Text 94"/>
          <p:cNvSpPr/>
          <p:nvPr/>
        </p:nvSpPr>
        <p:spPr>
          <a:xfrm>
            <a:off x="7379208" y="5257800"/>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0.52</a:t>
            </a:r>
            <a:endParaRPr lang="en-US" sz="930" dirty="0"/>
          </a:p>
        </p:txBody>
      </p:sp>
      <p:sp>
        <p:nvSpPr>
          <p:cNvPr id="97" name="Text 95"/>
          <p:cNvSpPr/>
          <p:nvPr/>
        </p:nvSpPr>
        <p:spPr>
          <a:xfrm>
            <a:off x="8750808" y="5257800"/>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0.70</a:t>
            </a:r>
            <a:endParaRPr lang="en-US" sz="930" dirty="0"/>
          </a:p>
        </p:txBody>
      </p:sp>
      <p:sp>
        <p:nvSpPr>
          <p:cNvPr id="98" name="Text 96"/>
          <p:cNvSpPr/>
          <p:nvPr/>
        </p:nvSpPr>
        <p:spPr>
          <a:xfrm>
            <a:off x="10213848" y="5257800"/>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1.50</a:t>
            </a:r>
            <a:endParaRPr lang="en-US" sz="930" dirty="0"/>
          </a:p>
        </p:txBody>
      </p:sp>
      <p:sp>
        <p:nvSpPr>
          <p:cNvPr id="99" name="Shape 97"/>
          <p:cNvSpPr/>
          <p:nvPr/>
        </p:nvSpPr>
        <p:spPr>
          <a:xfrm>
            <a:off x="548640" y="5696712"/>
            <a:ext cx="11091672" cy="566928"/>
          </a:xfrm>
          <a:prstGeom prst="roundRect">
            <a:avLst>
              <a:gd name="adj" fmla="val 11290"/>
            </a:avLst>
          </a:prstGeom>
          <a:solidFill>
            <a:srgbClr val="FEF6E7"/>
          </a:solidFill>
          <a:ln w="12700">
            <a:solidFill>
              <a:srgbClr val="E4EAF2"/>
            </a:solidFill>
            <a:prstDash val="solid"/>
          </a:ln>
        </p:spPr>
      </p:sp>
      <p:sp>
        <p:nvSpPr>
          <p:cNvPr id="100" name="Shape 98"/>
          <p:cNvSpPr/>
          <p:nvPr/>
        </p:nvSpPr>
        <p:spPr>
          <a:xfrm>
            <a:off x="548640" y="5696712"/>
            <a:ext cx="82296" cy="566928"/>
          </a:xfrm>
          <a:prstGeom prst="rect">
            <a:avLst/>
          </a:prstGeom>
          <a:solidFill>
            <a:srgbClr val="E0900C"/>
          </a:solidFill>
          <a:ln/>
        </p:spPr>
      </p:sp>
      <p:sp>
        <p:nvSpPr>
          <p:cNvPr id="101" name="Text 99"/>
          <p:cNvSpPr/>
          <p:nvPr/>
        </p:nvSpPr>
        <p:spPr>
          <a:xfrm>
            <a:off x="914400" y="5696712"/>
            <a:ext cx="10332720" cy="566928"/>
          </a:xfrm>
          <a:prstGeom prst="rect">
            <a:avLst/>
          </a:prstGeom>
          <a:noFill/>
          <a:ln/>
        </p:spPr>
        <p:txBody>
          <a:bodyPr wrap="square" lIns="0" tIns="0" rIns="0" bIns="0" rtlCol="0" anchor="ctr"/>
          <a:lstStyle/>
          <a:p>
            <a:pPr indent="0" marL="0">
              <a:lnSpc>
                <a:spcPct val="105000"/>
              </a:lnSpc>
              <a:buNone/>
            </a:pPr>
            <a:r>
              <a:rPr lang="en-US" sz="1050" b="1" dirty="0">
                <a:solidFill>
                  <a:srgbClr val="0F1E3D"/>
                </a:solidFill>
                <a:latin typeface="Calibri" pitchFamily="34" charset="0"/>
                <a:ea typeface="Calibri" pitchFamily="34" charset="-122"/>
                <a:cs typeface="Calibri" pitchFamily="34" charset="-120"/>
              </a:rPr>
              <a:t>Showing 10 of 20 regions.  </a:t>
            </a:r>
            <a:pPr indent="0" marL="0">
              <a:lnSpc>
                <a:spcPct val="105000"/>
              </a:lnSpc>
              <a:buNone/>
            </a:pPr>
            <a:r>
              <a:rPr lang="en-US" sz="1050" dirty="0">
                <a:solidFill>
                  <a:srgbClr val="3E4C63"/>
                </a:solidFill>
                <a:latin typeface="Calibri" pitchFamily="34" charset="0"/>
                <a:ea typeface="Calibri" pitchFamily="34" charset="-122"/>
                <a:cs typeface="Calibri" pitchFamily="34" charset="-120"/>
              </a:rPr>
              <a:t>Sourced from IPC / industry rate data. Material factors, FX, energy-gas, packaging and duty adders sit behind these too — one versioned library, used by every single costing.</a:t>
            </a:r>
            <a:endParaRPr lang="en-US" sz="1050" dirty="0"/>
          </a:p>
        </p:txBody>
      </p:sp>
      <p:sp>
        <p:nvSpPr>
          <p:cNvPr id="102" name="Shape 100"/>
          <p:cNvSpPr/>
          <p:nvPr/>
        </p:nvSpPr>
        <p:spPr>
          <a:xfrm>
            <a:off x="548640" y="6400800"/>
            <a:ext cx="11094415" cy="12802"/>
          </a:xfrm>
          <a:prstGeom prst="rect">
            <a:avLst/>
          </a:prstGeom>
          <a:solidFill>
            <a:srgbClr val="E4EAF2"/>
          </a:solidFill>
          <a:ln/>
        </p:spPr>
      </p:sp>
      <p:sp>
        <p:nvSpPr>
          <p:cNvPr id="103" name="Text 101"/>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104" name="Text 102"/>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14 / 25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A472"/>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A472"/>
                </a:solidFill>
                <a:latin typeface="Calibri" pitchFamily="34" charset="0"/>
                <a:ea typeface="Calibri" pitchFamily="34" charset="-122"/>
                <a:cs typeface="Calibri" pitchFamily="34" charset="-120"/>
              </a:rPr>
              <a:t>DEEP DIVE · LIVE EXAMPLE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Live example — Aluminium HPDC casting, priced everywhere</a:t>
            </a:r>
            <a:endParaRPr lang="en-US" sz="2400" dirty="0"/>
          </a:p>
        </p:txBody>
      </p:sp>
      <p:sp>
        <p:nvSpPr>
          <p:cNvPr id="9" name="Shape 7"/>
          <p:cNvSpPr/>
          <p:nvPr/>
        </p:nvSpPr>
        <p:spPr>
          <a:xfrm>
            <a:off x="548640" y="1371600"/>
            <a:ext cx="1051560" cy="45720"/>
          </a:xfrm>
          <a:prstGeom prst="rect">
            <a:avLst/>
          </a:prstGeom>
          <a:solidFill>
            <a:srgbClr val="0EA472"/>
          </a:solidFill>
          <a:ln/>
        </p:spPr>
      </p:sp>
      <p:sp>
        <p:nvSpPr>
          <p:cNvPr id="10" name="Text 8"/>
          <p:cNvSpPr/>
          <p:nvPr/>
        </p:nvSpPr>
        <p:spPr>
          <a:xfrm>
            <a:off x="548640" y="1536192"/>
            <a:ext cx="11064240" cy="365760"/>
          </a:xfrm>
          <a:prstGeom prst="rect">
            <a:avLst/>
          </a:prstGeom>
          <a:noFill/>
          <a:ln/>
        </p:spPr>
        <p:txBody>
          <a:bodyPr wrap="square" lIns="0" tIns="0" rIns="0" bIns="0" rtlCol="0" anchor="t"/>
          <a:lstStyle/>
          <a:p>
            <a:pPr indent="0" marL="0">
              <a:buNone/>
            </a:pPr>
            <a:r>
              <a:rPr lang="en-US" sz="1200" dirty="0">
                <a:solidFill>
                  <a:srgbClr val="3E4C63"/>
                </a:solidFill>
                <a:latin typeface="Calibri" pitchFamily="34" charset="0"/>
                <a:ea typeface="Calibri" pitchFamily="34" charset="-122"/>
                <a:cs typeface="Calibri" pitchFamily="34" charset="-120"/>
              </a:rPr>
              <a:t>A simple 1.2 kg ADC12 aluminium die-casting (2-cavity, 800T), run through the real engine — UK breakdown and the regional spread.</a:t>
            </a:r>
            <a:endParaRPr lang="en-US" sz="1200" dirty="0"/>
          </a:p>
        </p:txBody>
      </p:sp>
      <p:sp>
        <p:nvSpPr>
          <p:cNvPr id="11" name="Shape 9"/>
          <p:cNvSpPr/>
          <p:nvPr/>
        </p:nvSpPr>
        <p:spPr>
          <a:xfrm>
            <a:off x="548640" y="2011680"/>
            <a:ext cx="5394960" cy="2880360"/>
          </a:xfrm>
          <a:prstGeom prst="roundRect">
            <a:avLst>
              <a:gd name="adj" fmla="val 2222"/>
            </a:avLst>
          </a:prstGeom>
          <a:solidFill>
            <a:srgbClr val="FFFFFF"/>
          </a:solidFill>
          <a:ln w="12700">
            <a:solidFill>
              <a:srgbClr val="E4EAF2"/>
            </a:solidFill>
            <a:prstDash val="solid"/>
          </a:ln>
          <a:effectLst>
            <a:outerShdw sx="100000" sy="100000" kx="0" ky="0" algn="bl" rotWithShape="0" blurRad="1.26197455739825e+169" dist="3.605641592566428e+168" dir="7.218447050975619e+197">
              <a:srgbClr val="9DB0CC">
                <a:alpha val="2.2000000000000007e+204"/>
              </a:srgbClr>
            </a:outerShdw>
          </a:effectLst>
        </p:spPr>
      </p:sp>
      <p:sp>
        <p:nvSpPr>
          <p:cNvPr id="12" name="Text 10"/>
          <p:cNvSpPr/>
          <p:nvPr/>
        </p:nvSpPr>
        <p:spPr>
          <a:xfrm>
            <a:off x="822960" y="2148840"/>
            <a:ext cx="5029200" cy="274320"/>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UK cost stack — £/part</a:t>
            </a:r>
            <a:endParaRPr lang="en-US" sz="1250" dirty="0"/>
          </a:p>
        </p:txBody>
      </p:sp>
      <p:graphicFrame>
        <p:nvGraphicFramePr>
          <p:cNvPr id="13" name="Chart 0" descr=""/>
          <p:cNvGraphicFramePr/>
          <p:nvPr/>
        </p:nvGraphicFramePr>
        <p:xfrm>
          <a:off x="731520" y="2468880"/>
          <a:ext cx="5029200" cy="2148840"/>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p:nvPr/>
        </p:nvSpPr>
        <p:spPr>
          <a:xfrm>
            <a:off x="822960" y="4617720"/>
            <a:ext cx="5029200" cy="274320"/>
          </a:xfrm>
          <a:prstGeom prst="rect">
            <a:avLst/>
          </a:prstGeom>
          <a:noFill/>
          <a:ln/>
        </p:spPr>
        <p:txBody>
          <a:bodyPr wrap="square" lIns="0" tIns="0" rIns="0" bIns="0" rtlCol="0" anchor="t"/>
          <a:lstStyle/>
          <a:p>
            <a:pPr indent="0" marL="0">
              <a:buNone/>
            </a:pPr>
            <a:r>
              <a:rPr lang="en-US" sz="950" i="1" dirty="0">
                <a:solidFill>
                  <a:srgbClr val="8A97A8"/>
                </a:solidFill>
                <a:latin typeface="Calibri" pitchFamily="34" charset="0"/>
                <a:ea typeface="Calibri" pitchFamily="34" charset="-122"/>
                <a:cs typeface="Calibri" pitchFamily="34" charset="-120"/>
              </a:rPr>
              <a:t>Total £6.96/part · material is 63% — the true driver.</a:t>
            </a:r>
            <a:endParaRPr lang="en-US" sz="950" dirty="0"/>
          </a:p>
        </p:txBody>
      </p:sp>
      <p:sp>
        <p:nvSpPr>
          <p:cNvPr id="15" name="Shape 12"/>
          <p:cNvSpPr/>
          <p:nvPr/>
        </p:nvSpPr>
        <p:spPr>
          <a:xfrm>
            <a:off x="6245352" y="2011680"/>
            <a:ext cx="5397703" cy="2880360"/>
          </a:xfrm>
          <a:prstGeom prst="roundRect">
            <a:avLst>
              <a:gd name="adj" fmla="val 2222"/>
            </a:avLst>
          </a:prstGeom>
          <a:solidFill>
            <a:srgbClr val="EAF1FE"/>
          </a:solidFill>
          <a:ln w="12700">
            <a:solidFill>
              <a:srgbClr val="E4EAF2"/>
            </a:solidFill>
            <a:prstDash val="solid"/>
          </a:ln>
        </p:spPr>
      </p:sp>
      <p:sp>
        <p:nvSpPr>
          <p:cNvPr id="16" name="Text 13"/>
          <p:cNvSpPr/>
          <p:nvPr/>
        </p:nvSpPr>
        <p:spPr>
          <a:xfrm>
            <a:off x="6519672" y="2148840"/>
            <a:ext cx="4940503" cy="274320"/>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Ex-works £/part by region</a:t>
            </a:r>
            <a:endParaRPr lang="en-US" sz="1250" dirty="0"/>
          </a:p>
        </p:txBody>
      </p:sp>
      <p:graphicFrame>
        <p:nvGraphicFramePr>
          <p:cNvPr id="17" name="Chart 1" descr=""/>
          <p:cNvGraphicFramePr/>
          <p:nvPr/>
        </p:nvGraphicFramePr>
        <p:xfrm>
          <a:off x="6428232" y="2468880"/>
          <a:ext cx="4986223" cy="2148840"/>
        </p:xfrm>
        <a:graphic xmlns:a="http://schemas.openxmlformats.org/drawingml/2006/main">
          <a:graphicData uri="http://schemas.openxmlformats.org/drawingml/2006/chart">
            <c:chart xmlns:c="http://schemas.openxmlformats.org/drawingml/2006/chart" r:id="rId2"/>
          </a:graphicData>
        </a:graphic>
      </p:graphicFrame>
      <p:sp>
        <p:nvSpPr>
          <p:cNvPr id="18" name="Text 14"/>
          <p:cNvSpPr/>
          <p:nvPr/>
        </p:nvSpPr>
        <p:spPr>
          <a:xfrm>
            <a:off x="6519672" y="4617720"/>
            <a:ext cx="4940503" cy="274320"/>
          </a:xfrm>
          <a:prstGeom prst="rect">
            <a:avLst/>
          </a:prstGeom>
          <a:noFill/>
          <a:ln/>
        </p:spPr>
        <p:txBody>
          <a:bodyPr wrap="square" lIns="0" tIns="0" rIns="0" bIns="0" rtlCol="0" anchor="t"/>
          <a:lstStyle/>
          <a:p>
            <a:pPr indent="0" marL="0">
              <a:buNone/>
            </a:pPr>
            <a:r>
              <a:rPr lang="en-US" sz="950" i="1" dirty="0">
                <a:solidFill>
                  <a:srgbClr val="8A97A8"/>
                </a:solidFill>
                <a:latin typeface="Calibri" pitchFamily="34" charset="0"/>
                <a:ea typeface="Calibri" pitchFamily="34" charset="-122"/>
                <a:cs typeface="Calibri" pitchFamily="34" charset="-120"/>
              </a:rPr>
              <a:t>China −23% ex-works, narrowing to −12% landed once logistics &amp; duty are added — the model shows both.</a:t>
            </a:r>
            <a:endParaRPr lang="en-US" sz="950" dirty="0"/>
          </a:p>
        </p:txBody>
      </p:sp>
      <p:sp>
        <p:nvSpPr>
          <p:cNvPr id="19" name="Shape 15"/>
          <p:cNvSpPr/>
          <p:nvPr/>
        </p:nvSpPr>
        <p:spPr>
          <a:xfrm>
            <a:off x="548640" y="5074920"/>
            <a:ext cx="11091672" cy="960120"/>
          </a:xfrm>
          <a:prstGeom prst="roundRect">
            <a:avLst>
              <a:gd name="adj" fmla="val 6667"/>
            </a:avLst>
          </a:prstGeom>
          <a:solidFill>
            <a:srgbClr val="E7F7F0"/>
          </a:solidFill>
          <a:ln w="12700">
            <a:solidFill>
              <a:srgbClr val="E4EAF2"/>
            </a:solidFill>
            <a:prstDash val="solid"/>
          </a:ln>
        </p:spPr>
      </p:sp>
      <p:sp>
        <p:nvSpPr>
          <p:cNvPr id="20" name="Shape 16"/>
          <p:cNvSpPr/>
          <p:nvPr/>
        </p:nvSpPr>
        <p:spPr>
          <a:xfrm>
            <a:off x="548640" y="5074920"/>
            <a:ext cx="82296" cy="960120"/>
          </a:xfrm>
          <a:prstGeom prst="rect">
            <a:avLst/>
          </a:prstGeom>
          <a:solidFill>
            <a:srgbClr val="0EA472"/>
          </a:solidFill>
          <a:ln/>
        </p:spPr>
      </p:sp>
      <p:sp>
        <p:nvSpPr>
          <p:cNvPr id="21" name="Text 17"/>
          <p:cNvSpPr/>
          <p:nvPr/>
        </p:nvSpPr>
        <p:spPr>
          <a:xfrm>
            <a:off x="914400" y="5193792"/>
            <a:ext cx="5486400" cy="274320"/>
          </a:xfrm>
          <a:prstGeom prst="rect">
            <a:avLst/>
          </a:prstGeom>
          <a:noFill/>
          <a:ln/>
        </p:spPr>
        <p:txBody>
          <a:bodyPr wrap="square" lIns="0" tIns="0" rIns="0" bIns="0" rtlCol="0" anchor="t"/>
          <a:lstStyle/>
          <a:p>
            <a:pPr indent="0" marL="0">
              <a:buNone/>
            </a:pPr>
            <a:r>
              <a:rPr lang="en-US" sz="1250" b="1" dirty="0">
                <a:solidFill>
                  <a:srgbClr val="0EA472"/>
                </a:solidFill>
                <a:latin typeface="Calibri" pitchFamily="34" charset="0"/>
                <a:ea typeface="Calibri" pitchFamily="34" charset="-122"/>
                <a:cs typeface="Calibri" pitchFamily="34" charset="-120"/>
              </a:rPr>
              <a:t>⟳  Always current — zero manual re-costing</a:t>
            </a:r>
            <a:endParaRPr lang="en-US" sz="1250" dirty="0"/>
          </a:p>
        </p:txBody>
      </p:sp>
      <p:sp>
        <p:nvSpPr>
          <p:cNvPr id="22" name="Text 18"/>
          <p:cNvSpPr/>
          <p:nvPr/>
        </p:nvSpPr>
        <p:spPr>
          <a:xfrm>
            <a:off x="914400" y="5468112"/>
            <a:ext cx="10378440" cy="548640"/>
          </a:xfrm>
          <a:prstGeom prst="rect">
            <a:avLst/>
          </a:prstGeom>
          <a:noFill/>
          <a:ln/>
        </p:spPr>
        <p:txBody>
          <a:bodyPr wrap="square" lIns="0" tIns="0" rIns="0" bIns="0" rtlCol="0" anchor="t"/>
          <a:lstStyle/>
          <a:p>
            <a:pPr indent="0" marL="0">
              <a:lnSpc>
                <a:spcPct val="110000"/>
              </a:lnSpc>
              <a:buNone/>
            </a:pPr>
            <a:r>
              <a:rPr lang="en-US" sz="1080" dirty="0">
                <a:solidFill>
                  <a:srgbClr val="3E4C63"/>
                </a:solidFill>
                <a:latin typeface="Calibri" pitchFamily="34" charset="0"/>
                <a:ea typeface="Calibri" pitchFamily="34" charset="-122"/>
                <a:cs typeface="Calibri" pitchFamily="34" charset="-120"/>
              </a:rPr>
              <a:t>Metal prices refresh automatically from a live commodity feed; labour, energy and overhead live in one versioned rate library. </a:t>
            </a:r>
            <a:pPr indent="0" marL="0">
              <a:lnSpc>
                <a:spcPct val="110000"/>
              </a:lnSpc>
              <a:buNone/>
            </a:pPr>
            <a:r>
              <a:rPr lang="en-US" sz="1080" b="1" dirty="0">
                <a:solidFill>
                  <a:srgbClr val="0F1E3D"/>
                </a:solidFill>
                <a:latin typeface="Calibri" pitchFamily="34" charset="0"/>
                <a:ea typeface="Calibri" pitchFamily="34" charset="-122"/>
                <a:cs typeface="Calibri" pitchFamily="34" charset="-120"/>
              </a:rPr>
              <a:t>Update the rates once and every part re-prices — one click, no re-keying, no stale spreadsheets. </a:t>
            </a:r>
            <a:pPr indent="0" marL="0">
              <a:lnSpc>
                <a:spcPct val="110000"/>
              </a:lnSpc>
              <a:buNone/>
            </a:pPr>
            <a:r>
              <a:rPr lang="en-US" sz="1080" dirty="0">
                <a:solidFill>
                  <a:srgbClr val="3E4C63"/>
                </a:solidFill>
                <a:latin typeface="Calibri" pitchFamily="34" charset="0"/>
                <a:ea typeface="Calibri" pitchFamily="34" charset="-122"/>
                <a:cs typeface="Calibri" pitchFamily="34" charset="-120"/>
              </a:rPr>
              <a:t>The pain of manually updating each should-cost for the latest economics is gone.</a:t>
            </a:r>
            <a:endParaRPr lang="en-US" sz="1080" dirty="0"/>
          </a:p>
        </p:txBody>
      </p:sp>
      <p:sp>
        <p:nvSpPr>
          <p:cNvPr id="23" name="Shape 19"/>
          <p:cNvSpPr/>
          <p:nvPr/>
        </p:nvSpPr>
        <p:spPr>
          <a:xfrm>
            <a:off x="548640" y="6400800"/>
            <a:ext cx="11094415" cy="12802"/>
          </a:xfrm>
          <a:prstGeom prst="rect">
            <a:avLst/>
          </a:prstGeom>
          <a:solidFill>
            <a:srgbClr val="E4EAF2"/>
          </a:solidFill>
          <a:ln/>
        </p:spPr>
      </p:sp>
      <p:sp>
        <p:nvSpPr>
          <p:cNvPr id="24" name="Text 20"/>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25" name="Text 21"/>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15 / 25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7C3AED"/>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7C3AED"/>
                </a:solidFill>
                <a:latin typeface="Calibri" pitchFamily="34" charset="0"/>
                <a:ea typeface="Calibri" pitchFamily="34" charset="-122"/>
                <a:cs typeface="Calibri" pitchFamily="34" charset="-120"/>
              </a:rPr>
              <a:t>DECIDE &amp; NEGOTIATE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Negotiation Intelligence — turn should-cost into savings</a:t>
            </a:r>
            <a:endParaRPr lang="en-US" sz="2400" dirty="0"/>
          </a:p>
        </p:txBody>
      </p:sp>
      <p:sp>
        <p:nvSpPr>
          <p:cNvPr id="9" name="Shape 7"/>
          <p:cNvSpPr/>
          <p:nvPr/>
        </p:nvSpPr>
        <p:spPr>
          <a:xfrm>
            <a:off x="548640" y="1371600"/>
            <a:ext cx="1051560" cy="45720"/>
          </a:xfrm>
          <a:prstGeom prst="rect">
            <a:avLst/>
          </a:prstGeom>
          <a:solidFill>
            <a:srgbClr val="7C3AED"/>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A should-cost is useful. A should-cost that walks into a negotiation and wins money back is the product.</a:t>
            </a:r>
            <a:endParaRPr lang="en-US" sz="1250" dirty="0"/>
          </a:p>
        </p:txBody>
      </p:sp>
      <p:sp>
        <p:nvSpPr>
          <p:cNvPr id="11" name="Shape 9"/>
          <p:cNvSpPr/>
          <p:nvPr/>
        </p:nvSpPr>
        <p:spPr>
          <a:xfrm>
            <a:off x="548640" y="210312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1.6027076878957775e+173" dist="4.579164822559364e+172" dir="4.3310682305853715e+202">
              <a:srgbClr val="9DB0CC">
                <a:alpha val="2.2000000000000006e+209"/>
              </a:srgbClr>
            </a:outerShdw>
          </a:effectLst>
        </p:spPr>
      </p:sp>
      <p:sp>
        <p:nvSpPr>
          <p:cNvPr id="12" name="Shape 10"/>
          <p:cNvSpPr/>
          <p:nvPr/>
        </p:nvSpPr>
        <p:spPr>
          <a:xfrm>
            <a:off x="548640" y="2103120"/>
            <a:ext cx="2487168" cy="82296"/>
          </a:xfrm>
          <a:prstGeom prst="rect">
            <a:avLst/>
          </a:prstGeom>
          <a:solidFill>
            <a:srgbClr val="2563EB"/>
          </a:solidFill>
          <a:ln/>
        </p:spPr>
      </p:sp>
      <p:sp>
        <p:nvSpPr>
          <p:cNvPr id="13" name="Shape 11"/>
          <p:cNvSpPr/>
          <p:nvPr/>
        </p:nvSpPr>
        <p:spPr>
          <a:xfrm>
            <a:off x="1536192" y="2304288"/>
            <a:ext cx="512064" cy="512064"/>
          </a:xfrm>
          <a:prstGeom prst="ellipse">
            <a:avLst/>
          </a:prstGeom>
          <a:solidFill>
            <a:srgbClr val="EAF1FE"/>
          </a:solidFill>
          <a:ln/>
        </p:spPr>
      </p:sp>
      <p:sp>
        <p:nvSpPr>
          <p:cNvPr id="14" name="Text 12"/>
          <p:cNvSpPr/>
          <p:nvPr/>
        </p:nvSpPr>
        <p:spPr>
          <a:xfrm>
            <a:off x="1536192" y="2295144"/>
            <a:ext cx="512064" cy="512064"/>
          </a:xfrm>
          <a:prstGeom prst="rect">
            <a:avLst/>
          </a:prstGeom>
          <a:noFill/>
          <a:ln/>
        </p:spPr>
        <p:txBody>
          <a:bodyPr wrap="square" lIns="0" tIns="0" rIns="0" bIns="0" rtlCol="0" anchor="ctr"/>
          <a:lstStyle/>
          <a:p>
            <a:pPr algn="ctr" indent="0" marL="0">
              <a:buNone/>
            </a:pPr>
            <a:r>
              <a:rPr lang="en-US" sz="1800" b="1" dirty="0">
                <a:solidFill>
                  <a:srgbClr val="2563EB"/>
                </a:solidFill>
                <a:latin typeface="Calibri" pitchFamily="34" charset="0"/>
                <a:ea typeface="Calibri" pitchFamily="34" charset="-122"/>
                <a:cs typeface="Calibri" pitchFamily="34" charset="-120"/>
              </a:rPr>
              <a:t>◆</a:t>
            </a:r>
            <a:endParaRPr lang="en-US" sz="1800" dirty="0"/>
          </a:p>
        </p:txBody>
      </p:sp>
      <p:sp>
        <p:nvSpPr>
          <p:cNvPr id="15" name="Text 13"/>
          <p:cNvSpPr/>
          <p:nvPr/>
        </p:nvSpPr>
        <p:spPr>
          <a:xfrm>
            <a:off x="640080" y="288950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Should-cost</a:t>
            </a:r>
            <a:endParaRPr lang="en-US" sz="1200" dirty="0"/>
          </a:p>
        </p:txBody>
      </p:sp>
      <p:sp>
        <p:nvSpPr>
          <p:cNvPr id="16" name="Text 14"/>
          <p:cNvSpPr/>
          <p:nvPr/>
        </p:nvSpPr>
        <p:spPr>
          <a:xfrm>
            <a:off x="658368" y="316382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our costed breakdown</a:t>
            </a:r>
            <a:endParaRPr lang="en-US" sz="860" dirty="0"/>
          </a:p>
        </p:txBody>
      </p:sp>
      <p:sp>
        <p:nvSpPr>
          <p:cNvPr id="17" name="Shape 15"/>
          <p:cNvSpPr/>
          <p:nvPr/>
        </p:nvSpPr>
        <p:spPr>
          <a:xfrm>
            <a:off x="3063240" y="2788920"/>
            <a:ext cx="265176" cy="0"/>
          </a:xfrm>
          <a:prstGeom prst="line">
            <a:avLst/>
          </a:prstGeom>
          <a:noFill/>
          <a:ln w="22225">
            <a:solidFill>
              <a:srgbClr val="D4DEEC"/>
            </a:solidFill>
            <a:prstDash val="solid"/>
            <a:headEnd type="none"/>
            <a:tailEnd type="triangle"/>
          </a:ln>
        </p:spPr>
      </p:sp>
      <p:sp>
        <p:nvSpPr>
          <p:cNvPr id="18" name="Shape 16"/>
          <p:cNvSpPr/>
          <p:nvPr/>
        </p:nvSpPr>
        <p:spPr>
          <a:xfrm>
            <a:off x="3355848" y="210312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2.0354387636276376e+177" dist="5.815539324650392e+176" dir="2.598640938351223e+207">
              <a:srgbClr val="9DB0CC">
                <a:alpha val="2.2000000000000007e+214"/>
              </a:srgbClr>
            </a:outerShdw>
          </a:effectLst>
        </p:spPr>
      </p:sp>
      <p:sp>
        <p:nvSpPr>
          <p:cNvPr id="19" name="Shape 17"/>
          <p:cNvSpPr/>
          <p:nvPr/>
        </p:nvSpPr>
        <p:spPr>
          <a:xfrm>
            <a:off x="3355848" y="2103120"/>
            <a:ext cx="2487168" cy="82296"/>
          </a:xfrm>
          <a:prstGeom prst="rect">
            <a:avLst/>
          </a:prstGeom>
          <a:solidFill>
            <a:srgbClr val="0E93B0"/>
          </a:solidFill>
          <a:ln/>
        </p:spPr>
      </p:sp>
      <p:sp>
        <p:nvSpPr>
          <p:cNvPr id="20" name="Shape 18"/>
          <p:cNvSpPr/>
          <p:nvPr/>
        </p:nvSpPr>
        <p:spPr>
          <a:xfrm>
            <a:off x="4343400" y="2304288"/>
            <a:ext cx="512064" cy="512064"/>
          </a:xfrm>
          <a:prstGeom prst="ellipse">
            <a:avLst/>
          </a:prstGeom>
          <a:solidFill>
            <a:srgbClr val="E8F6FA"/>
          </a:solidFill>
          <a:ln/>
        </p:spPr>
      </p:sp>
      <p:sp>
        <p:nvSpPr>
          <p:cNvPr id="21" name="Text 19"/>
          <p:cNvSpPr/>
          <p:nvPr/>
        </p:nvSpPr>
        <p:spPr>
          <a:xfrm>
            <a:off x="4343400" y="2295144"/>
            <a:ext cx="512064" cy="512064"/>
          </a:xfrm>
          <a:prstGeom prst="rect">
            <a:avLst/>
          </a:prstGeom>
          <a:noFill/>
          <a:ln/>
        </p:spPr>
        <p:txBody>
          <a:bodyPr wrap="square" lIns="0" tIns="0" rIns="0" bIns="0" rtlCol="0" anchor="ctr"/>
          <a:lstStyle/>
          <a:p>
            <a:pPr algn="ctr" indent="0" marL="0">
              <a:buNone/>
            </a:pPr>
            <a:r>
              <a:rPr lang="en-US" sz="1800" b="1" dirty="0">
                <a:solidFill>
                  <a:srgbClr val="0E93B0"/>
                </a:solidFill>
                <a:latin typeface="Calibri" pitchFamily="34" charset="0"/>
                <a:ea typeface="Calibri" pitchFamily="34" charset="-122"/>
                <a:cs typeface="Calibri" pitchFamily="34" charset="-120"/>
              </a:rPr>
              <a:t>▤</a:t>
            </a:r>
            <a:endParaRPr lang="en-US" sz="1800" dirty="0"/>
          </a:p>
        </p:txBody>
      </p:sp>
      <p:sp>
        <p:nvSpPr>
          <p:cNvPr id="22" name="Text 20"/>
          <p:cNvSpPr/>
          <p:nvPr/>
        </p:nvSpPr>
        <p:spPr>
          <a:xfrm>
            <a:off x="3447288" y="288950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Supplier quote in</a:t>
            </a:r>
            <a:endParaRPr lang="en-US" sz="1200" dirty="0"/>
          </a:p>
        </p:txBody>
      </p:sp>
      <p:sp>
        <p:nvSpPr>
          <p:cNvPr id="23" name="Text 21"/>
          <p:cNvSpPr/>
          <p:nvPr/>
        </p:nvSpPr>
        <p:spPr>
          <a:xfrm>
            <a:off x="3465576" y="316382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Excel or line-by-line</a:t>
            </a:r>
            <a:endParaRPr lang="en-US" sz="860" dirty="0"/>
          </a:p>
        </p:txBody>
      </p:sp>
      <p:sp>
        <p:nvSpPr>
          <p:cNvPr id="24" name="Shape 22"/>
          <p:cNvSpPr/>
          <p:nvPr/>
        </p:nvSpPr>
        <p:spPr>
          <a:xfrm>
            <a:off x="5870448" y="2788920"/>
            <a:ext cx="265176" cy="0"/>
          </a:xfrm>
          <a:prstGeom prst="line">
            <a:avLst/>
          </a:prstGeom>
          <a:noFill/>
          <a:ln w="22225">
            <a:solidFill>
              <a:srgbClr val="D4DEEC"/>
            </a:solidFill>
            <a:prstDash val="solid"/>
            <a:headEnd type="none"/>
            <a:tailEnd type="triangle"/>
          </a:ln>
        </p:spPr>
      </p:sp>
      <p:sp>
        <p:nvSpPr>
          <p:cNvPr id="25" name="Shape 23"/>
          <p:cNvSpPr/>
          <p:nvPr/>
        </p:nvSpPr>
        <p:spPr>
          <a:xfrm>
            <a:off x="6163056" y="210312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2.5850072298071e+181" dist="7.385734942305998e+180" dir="1.5591845630107338e+212">
              <a:srgbClr val="9DB0CC">
                <a:alpha val="2.2000000000000008e+219"/>
              </a:srgbClr>
            </a:outerShdw>
          </a:effectLst>
        </p:spPr>
      </p:sp>
      <p:sp>
        <p:nvSpPr>
          <p:cNvPr id="26" name="Shape 24"/>
          <p:cNvSpPr/>
          <p:nvPr/>
        </p:nvSpPr>
        <p:spPr>
          <a:xfrm>
            <a:off x="6163056" y="2103120"/>
            <a:ext cx="2487168" cy="82296"/>
          </a:xfrm>
          <a:prstGeom prst="rect">
            <a:avLst/>
          </a:prstGeom>
          <a:solidFill>
            <a:srgbClr val="E0900C"/>
          </a:solidFill>
          <a:ln/>
        </p:spPr>
      </p:sp>
      <p:sp>
        <p:nvSpPr>
          <p:cNvPr id="27" name="Shape 25"/>
          <p:cNvSpPr/>
          <p:nvPr/>
        </p:nvSpPr>
        <p:spPr>
          <a:xfrm>
            <a:off x="7150608" y="2304288"/>
            <a:ext cx="512064" cy="512064"/>
          </a:xfrm>
          <a:prstGeom prst="ellipse">
            <a:avLst/>
          </a:prstGeom>
          <a:solidFill>
            <a:srgbClr val="FEF6E7"/>
          </a:solidFill>
          <a:ln/>
        </p:spPr>
      </p:sp>
      <p:sp>
        <p:nvSpPr>
          <p:cNvPr id="28" name="Text 26"/>
          <p:cNvSpPr/>
          <p:nvPr/>
        </p:nvSpPr>
        <p:spPr>
          <a:xfrm>
            <a:off x="7150608" y="2295144"/>
            <a:ext cx="512064" cy="512064"/>
          </a:xfrm>
          <a:prstGeom prst="rect">
            <a:avLst/>
          </a:prstGeom>
          <a:noFill/>
          <a:ln/>
        </p:spPr>
        <p:txBody>
          <a:bodyPr wrap="square" lIns="0" tIns="0" rIns="0" bIns="0" rtlCol="0" anchor="ctr"/>
          <a:lstStyle/>
          <a:p>
            <a:pPr algn="ctr" indent="0" marL="0">
              <a:buNone/>
            </a:pPr>
            <a:r>
              <a:rPr lang="en-US" sz="1800" b="1" dirty="0">
                <a:solidFill>
                  <a:srgbClr val="E0900C"/>
                </a:solidFill>
                <a:latin typeface="Calibri" pitchFamily="34" charset="0"/>
                <a:ea typeface="Calibri" pitchFamily="34" charset="-122"/>
                <a:cs typeface="Calibri" pitchFamily="34" charset="-120"/>
              </a:rPr>
              <a:t>⚙</a:t>
            </a:r>
            <a:endParaRPr lang="en-US" sz="1800" dirty="0"/>
          </a:p>
        </p:txBody>
      </p:sp>
      <p:sp>
        <p:nvSpPr>
          <p:cNvPr id="29" name="Text 27"/>
          <p:cNvSpPr/>
          <p:nvPr/>
        </p:nvSpPr>
        <p:spPr>
          <a:xfrm>
            <a:off x="6254496" y="288950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Gap teardown</a:t>
            </a:r>
            <a:endParaRPr lang="en-US" sz="1200" dirty="0"/>
          </a:p>
        </p:txBody>
      </p:sp>
      <p:sp>
        <p:nvSpPr>
          <p:cNvPr id="30" name="Text 28"/>
          <p:cNvSpPr/>
          <p:nvPr/>
        </p:nvSpPr>
        <p:spPr>
          <a:xfrm>
            <a:off x="6272784" y="316382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by driver: material, cycle, rate, margin</a:t>
            </a:r>
            <a:endParaRPr lang="en-US" sz="860" dirty="0"/>
          </a:p>
        </p:txBody>
      </p:sp>
      <p:sp>
        <p:nvSpPr>
          <p:cNvPr id="31" name="Shape 29"/>
          <p:cNvSpPr/>
          <p:nvPr/>
        </p:nvSpPr>
        <p:spPr>
          <a:xfrm>
            <a:off x="8677656" y="2788920"/>
            <a:ext cx="265176" cy="0"/>
          </a:xfrm>
          <a:prstGeom prst="line">
            <a:avLst/>
          </a:prstGeom>
          <a:noFill/>
          <a:ln w="22225">
            <a:solidFill>
              <a:srgbClr val="D4DEEC"/>
            </a:solidFill>
            <a:prstDash val="solid"/>
            <a:headEnd type="none"/>
            <a:tailEnd type="triangle"/>
          </a:ln>
        </p:spPr>
      </p:sp>
      <p:sp>
        <p:nvSpPr>
          <p:cNvPr id="32" name="Shape 30"/>
          <p:cNvSpPr/>
          <p:nvPr/>
        </p:nvSpPr>
        <p:spPr>
          <a:xfrm>
            <a:off x="8970264" y="210312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3.282959181855017e+185" dist="9.379883376728618e+184" dir="9.355107378064403e+216">
              <a:srgbClr val="9DB0CC">
                <a:alpha val="2.200000000000001e+224"/>
              </a:srgbClr>
            </a:outerShdw>
          </a:effectLst>
        </p:spPr>
      </p:sp>
      <p:sp>
        <p:nvSpPr>
          <p:cNvPr id="33" name="Shape 31"/>
          <p:cNvSpPr/>
          <p:nvPr/>
        </p:nvSpPr>
        <p:spPr>
          <a:xfrm>
            <a:off x="8970264" y="2103120"/>
            <a:ext cx="2487168" cy="82296"/>
          </a:xfrm>
          <a:prstGeom prst="rect">
            <a:avLst/>
          </a:prstGeom>
          <a:solidFill>
            <a:srgbClr val="0EA472"/>
          </a:solidFill>
          <a:ln/>
        </p:spPr>
      </p:sp>
      <p:sp>
        <p:nvSpPr>
          <p:cNvPr id="34" name="Shape 32"/>
          <p:cNvSpPr/>
          <p:nvPr/>
        </p:nvSpPr>
        <p:spPr>
          <a:xfrm>
            <a:off x="9957816" y="2304288"/>
            <a:ext cx="512064" cy="512064"/>
          </a:xfrm>
          <a:prstGeom prst="ellipse">
            <a:avLst/>
          </a:prstGeom>
          <a:solidFill>
            <a:srgbClr val="E7F7F0"/>
          </a:solidFill>
          <a:ln/>
        </p:spPr>
      </p:sp>
      <p:sp>
        <p:nvSpPr>
          <p:cNvPr id="35" name="Text 33"/>
          <p:cNvSpPr/>
          <p:nvPr/>
        </p:nvSpPr>
        <p:spPr>
          <a:xfrm>
            <a:off x="9957816" y="2295144"/>
            <a:ext cx="512064" cy="512064"/>
          </a:xfrm>
          <a:prstGeom prst="rect">
            <a:avLst/>
          </a:prstGeom>
          <a:noFill/>
          <a:ln/>
        </p:spPr>
        <p:txBody>
          <a:bodyPr wrap="square" lIns="0" tIns="0" rIns="0" bIns="0" rtlCol="0" anchor="ctr"/>
          <a:lstStyle/>
          <a:p>
            <a:pPr algn="ctr" indent="0" marL="0">
              <a:buNone/>
            </a:pPr>
            <a:r>
              <a:rPr lang="en-US" sz="1800" b="1" dirty="0">
                <a:solidFill>
                  <a:srgbClr val="0EA472"/>
                </a:solidFill>
                <a:latin typeface="Calibri" pitchFamily="34" charset="0"/>
                <a:ea typeface="Calibri" pitchFamily="34" charset="-122"/>
                <a:cs typeface="Calibri" pitchFamily="34" charset="-120"/>
              </a:rPr>
              <a:t>◈</a:t>
            </a:r>
            <a:endParaRPr lang="en-US" sz="1800" dirty="0"/>
          </a:p>
        </p:txBody>
      </p:sp>
      <p:sp>
        <p:nvSpPr>
          <p:cNvPr id="36" name="Text 34"/>
          <p:cNvSpPr/>
          <p:nvPr/>
        </p:nvSpPr>
        <p:spPr>
          <a:xfrm>
            <a:off x="9061704" y="288950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Negotiation pack</a:t>
            </a:r>
            <a:endParaRPr lang="en-US" sz="1200" dirty="0"/>
          </a:p>
        </p:txBody>
      </p:sp>
      <p:sp>
        <p:nvSpPr>
          <p:cNvPr id="37" name="Text 35"/>
          <p:cNvSpPr/>
          <p:nvPr/>
        </p:nvSpPr>
        <p:spPr>
          <a:xfrm>
            <a:off x="9079992" y="316382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levers ranked by £, questions, closing plays</a:t>
            </a:r>
            <a:endParaRPr lang="en-US" sz="860" dirty="0"/>
          </a:p>
        </p:txBody>
      </p:sp>
      <p:sp>
        <p:nvSpPr>
          <p:cNvPr id="38" name="Shape 36"/>
          <p:cNvSpPr/>
          <p:nvPr/>
        </p:nvSpPr>
        <p:spPr>
          <a:xfrm>
            <a:off x="548640" y="3794760"/>
            <a:ext cx="2724912" cy="960120"/>
          </a:xfrm>
          <a:prstGeom prst="roundRect">
            <a:avLst>
              <a:gd name="adj" fmla="val 5714"/>
            </a:avLst>
          </a:prstGeom>
          <a:solidFill>
            <a:srgbClr val="F4F7FB"/>
          </a:solidFill>
          <a:ln w="12700">
            <a:solidFill>
              <a:srgbClr val="E4EAF2"/>
            </a:solidFill>
            <a:prstDash val="solid"/>
          </a:ln>
        </p:spPr>
      </p:sp>
      <p:sp>
        <p:nvSpPr>
          <p:cNvPr id="39" name="Shape 37"/>
          <p:cNvSpPr/>
          <p:nvPr/>
        </p:nvSpPr>
        <p:spPr>
          <a:xfrm>
            <a:off x="548640" y="3794760"/>
            <a:ext cx="73152" cy="960120"/>
          </a:xfrm>
          <a:prstGeom prst="rect">
            <a:avLst/>
          </a:prstGeom>
          <a:solidFill>
            <a:srgbClr val="E5484D"/>
          </a:solidFill>
          <a:ln/>
        </p:spPr>
      </p:sp>
      <p:sp>
        <p:nvSpPr>
          <p:cNvPr id="40" name="Text 38"/>
          <p:cNvSpPr/>
          <p:nvPr/>
        </p:nvSpPr>
        <p:spPr>
          <a:xfrm>
            <a:off x="768096" y="3922776"/>
            <a:ext cx="2377440" cy="457200"/>
          </a:xfrm>
          <a:prstGeom prst="rect">
            <a:avLst/>
          </a:prstGeom>
          <a:noFill/>
          <a:ln/>
        </p:spPr>
        <p:txBody>
          <a:bodyPr wrap="square" lIns="0" tIns="0" rIns="0" bIns="0" rtlCol="0" anchor="t"/>
          <a:lstStyle/>
          <a:p>
            <a:pPr indent="0" marL="0">
              <a:buNone/>
            </a:pPr>
            <a:r>
              <a:rPr lang="en-US" sz="2000" b="1" dirty="0">
                <a:solidFill>
                  <a:srgbClr val="E5484D"/>
                </a:solidFill>
                <a:latin typeface="Calibri" pitchFamily="34" charset="0"/>
                <a:ea typeface="Calibri" pitchFamily="34" charset="-122"/>
                <a:cs typeface="Calibri" pitchFamily="34" charset="-120"/>
              </a:rPr>
              <a:t>+15.1%</a:t>
            </a:r>
            <a:endParaRPr lang="en-US" sz="2000" dirty="0"/>
          </a:p>
        </p:txBody>
      </p:sp>
      <p:sp>
        <p:nvSpPr>
          <p:cNvPr id="41" name="Text 39"/>
          <p:cNvSpPr/>
          <p:nvPr/>
        </p:nvSpPr>
        <p:spPr>
          <a:xfrm>
            <a:off x="768096" y="4343400"/>
            <a:ext cx="2377440" cy="365760"/>
          </a:xfrm>
          <a:prstGeom prst="rect">
            <a:avLst/>
          </a:prstGeom>
          <a:noFill/>
          <a:ln/>
        </p:spPr>
        <p:txBody>
          <a:bodyPr wrap="square" lIns="0" tIns="0" rIns="0" bIns="0" rtlCol="0" anchor="t"/>
          <a:lstStyle/>
          <a:p>
            <a:pPr indent="0" marL="0">
              <a:lnSpc>
                <a:spcPct val="100000"/>
              </a:lnSpc>
              <a:buNone/>
            </a:pPr>
            <a:r>
              <a:rPr lang="en-US" sz="900" dirty="0">
                <a:solidFill>
                  <a:srgbClr val="8A97A8"/>
                </a:solidFill>
                <a:latin typeface="Calibri" pitchFamily="34" charset="0"/>
                <a:ea typeface="Calibri" pitchFamily="34" charset="-122"/>
                <a:cs typeface="Calibri" pitchFamily="34" charset="-120"/>
              </a:rPr>
              <a:t>typical quote variance vs should-cost</a:t>
            </a:r>
            <a:endParaRPr lang="en-US" sz="900" dirty="0"/>
          </a:p>
        </p:txBody>
      </p:sp>
      <p:sp>
        <p:nvSpPr>
          <p:cNvPr id="42" name="Shape 40"/>
          <p:cNvSpPr/>
          <p:nvPr/>
        </p:nvSpPr>
        <p:spPr>
          <a:xfrm>
            <a:off x="3319272" y="3794760"/>
            <a:ext cx="2724912" cy="960120"/>
          </a:xfrm>
          <a:prstGeom prst="roundRect">
            <a:avLst>
              <a:gd name="adj" fmla="val 5714"/>
            </a:avLst>
          </a:prstGeom>
          <a:solidFill>
            <a:srgbClr val="F4F7FB"/>
          </a:solidFill>
          <a:ln w="12700">
            <a:solidFill>
              <a:srgbClr val="E4EAF2"/>
            </a:solidFill>
            <a:prstDash val="solid"/>
          </a:ln>
        </p:spPr>
      </p:sp>
      <p:sp>
        <p:nvSpPr>
          <p:cNvPr id="43" name="Shape 41"/>
          <p:cNvSpPr/>
          <p:nvPr/>
        </p:nvSpPr>
        <p:spPr>
          <a:xfrm>
            <a:off x="3319272" y="3794760"/>
            <a:ext cx="73152" cy="960120"/>
          </a:xfrm>
          <a:prstGeom prst="rect">
            <a:avLst/>
          </a:prstGeom>
          <a:solidFill>
            <a:srgbClr val="E0900C"/>
          </a:solidFill>
          <a:ln/>
        </p:spPr>
      </p:sp>
      <p:sp>
        <p:nvSpPr>
          <p:cNvPr id="44" name="Text 42"/>
          <p:cNvSpPr/>
          <p:nvPr/>
        </p:nvSpPr>
        <p:spPr>
          <a:xfrm>
            <a:off x="3538728" y="3922776"/>
            <a:ext cx="2377440" cy="457200"/>
          </a:xfrm>
          <a:prstGeom prst="rect">
            <a:avLst/>
          </a:prstGeom>
          <a:noFill/>
          <a:ln/>
        </p:spPr>
        <p:txBody>
          <a:bodyPr wrap="square" lIns="0" tIns="0" rIns="0" bIns="0" rtlCol="0" anchor="t"/>
          <a:lstStyle/>
          <a:p>
            <a:pPr indent="0" marL="0">
              <a:buNone/>
            </a:pPr>
            <a:r>
              <a:rPr lang="en-US" sz="2000" b="1" dirty="0">
                <a:solidFill>
                  <a:srgbClr val="E0900C"/>
                </a:solidFill>
                <a:latin typeface="Calibri" pitchFamily="34" charset="0"/>
                <a:ea typeface="Calibri" pitchFamily="34" charset="-122"/>
                <a:cs typeface="Calibri" pitchFamily="34" charset="-120"/>
              </a:rPr>
              <a:t>£3.82</a:t>
            </a:r>
            <a:endParaRPr lang="en-US" sz="2000" dirty="0"/>
          </a:p>
        </p:txBody>
      </p:sp>
      <p:sp>
        <p:nvSpPr>
          <p:cNvPr id="45" name="Text 43"/>
          <p:cNvSpPr/>
          <p:nvPr/>
        </p:nvSpPr>
        <p:spPr>
          <a:xfrm>
            <a:off x="3538728" y="4343400"/>
            <a:ext cx="2377440" cy="365760"/>
          </a:xfrm>
          <a:prstGeom prst="rect">
            <a:avLst/>
          </a:prstGeom>
          <a:noFill/>
          <a:ln/>
        </p:spPr>
        <p:txBody>
          <a:bodyPr wrap="square" lIns="0" tIns="0" rIns="0" bIns="0" rtlCol="0" anchor="t"/>
          <a:lstStyle/>
          <a:p>
            <a:pPr indent="0" marL="0">
              <a:lnSpc>
                <a:spcPct val="100000"/>
              </a:lnSpc>
              <a:buNone/>
            </a:pPr>
            <a:r>
              <a:rPr lang="en-US" sz="900" dirty="0">
                <a:solidFill>
                  <a:srgbClr val="8A97A8"/>
                </a:solidFill>
                <a:latin typeface="Calibri" pitchFamily="34" charset="0"/>
                <a:ea typeface="Calibri" pitchFamily="34" charset="-122"/>
                <a:cs typeface="Calibri" pitchFamily="34" charset="-120"/>
              </a:rPr>
              <a:t>avg recoverable gap per part</a:t>
            </a:r>
            <a:endParaRPr lang="en-US" sz="900" dirty="0"/>
          </a:p>
        </p:txBody>
      </p:sp>
      <p:sp>
        <p:nvSpPr>
          <p:cNvPr id="46" name="Shape 44"/>
          <p:cNvSpPr/>
          <p:nvPr/>
        </p:nvSpPr>
        <p:spPr>
          <a:xfrm>
            <a:off x="6089904" y="3794760"/>
            <a:ext cx="2724912" cy="960120"/>
          </a:xfrm>
          <a:prstGeom prst="roundRect">
            <a:avLst>
              <a:gd name="adj" fmla="val 5714"/>
            </a:avLst>
          </a:prstGeom>
          <a:solidFill>
            <a:srgbClr val="F4F7FB"/>
          </a:solidFill>
          <a:ln w="12700">
            <a:solidFill>
              <a:srgbClr val="E4EAF2"/>
            </a:solidFill>
            <a:prstDash val="solid"/>
          </a:ln>
        </p:spPr>
      </p:sp>
      <p:sp>
        <p:nvSpPr>
          <p:cNvPr id="47" name="Shape 45"/>
          <p:cNvSpPr/>
          <p:nvPr/>
        </p:nvSpPr>
        <p:spPr>
          <a:xfrm>
            <a:off x="6089904" y="3794760"/>
            <a:ext cx="73152" cy="960120"/>
          </a:xfrm>
          <a:prstGeom prst="rect">
            <a:avLst/>
          </a:prstGeom>
          <a:solidFill>
            <a:srgbClr val="0EA472"/>
          </a:solidFill>
          <a:ln/>
        </p:spPr>
      </p:sp>
      <p:sp>
        <p:nvSpPr>
          <p:cNvPr id="48" name="Text 46"/>
          <p:cNvSpPr/>
          <p:nvPr/>
        </p:nvSpPr>
        <p:spPr>
          <a:xfrm>
            <a:off x="6309360" y="3922776"/>
            <a:ext cx="2377440" cy="457200"/>
          </a:xfrm>
          <a:prstGeom prst="rect">
            <a:avLst/>
          </a:prstGeom>
          <a:noFill/>
          <a:ln/>
        </p:spPr>
        <p:txBody>
          <a:bodyPr wrap="square" lIns="0" tIns="0" rIns="0" bIns="0" rtlCol="0" anchor="t"/>
          <a:lstStyle/>
          <a:p>
            <a:pPr indent="0" marL="0">
              <a:buNone/>
            </a:pPr>
            <a:r>
              <a:rPr lang="en-US" sz="2000" b="1" dirty="0">
                <a:solidFill>
                  <a:srgbClr val="0EA472"/>
                </a:solidFill>
                <a:latin typeface="Calibri" pitchFamily="34" charset="0"/>
                <a:ea typeface="Calibri" pitchFamily="34" charset="-122"/>
                <a:cs typeface="Calibri" pitchFamily="34" charset="-120"/>
              </a:rPr>
              <a:t>£91,680</a:t>
            </a:r>
            <a:endParaRPr lang="en-US" sz="2000" dirty="0"/>
          </a:p>
        </p:txBody>
      </p:sp>
      <p:sp>
        <p:nvSpPr>
          <p:cNvPr id="49" name="Text 47"/>
          <p:cNvSpPr/>
          <p:nvPr/>
        </p:nvSpPr>
        <p:spPr>
          <a:xfrm>
            <a:off x="6309360" y="4343400"/>
            <a:ext cx="2377440" cy="365760"/>
          </a:xfrm>
          <a:prstGeom prst="rect">
            <a:avLst/>
          </a:prstGeom>
          <a:noFill/>
          <a:ln/>
        </p:spPr>
        <p:txBody>
          <a:bodyPr wrap="square" lIns="0" tIns="0" rIns="0" bIns="0" rtlCol="0" anchor="t"/>
          <a:lstStyle/>
          <a:p>
            <a:pPr indent="0" marL="0">
              <a:lnSpc>
                <a:spcPct val="100000"/>
              </a:lnSpc>
              <a:buNone/>
            </a:pPr>
            <a:r>
              <a:rPr lang="en-US" sz="900" dirty="0">
                <a:solidFill>
                  <a:srgbClr val="8A97A8"/>
                </a:solidFill>
                <a:latin typeface="Calibri" pitchFamily="34" charset="0"/>
                <a:ea typeface="Calibri" pitchFamily="34" charset="-122"/>
                <a:cs typeface="Calibri" pitchFamily="34" charset="-120"/>
              </a:rPr>
              <a:t>annual impact on one part family</a:t>
            </a:r>
            <a:endParaRPr lang="en-US" sz="900" dirty="0"/>
          </a:p>
        </p:txBody>
      </p:sp>
      <p:sp>
        <p:nvSpPr>
          <p:cNvPr id="50" name="Shape 48"/>
          <p:cNvSpPr/>
          <p:nvPr/>
        </p:nvSpPr>
        <p:spPr>
          <a:xfrm>
            <a:off x="8860536" y="3794760"/>
            <a:ext cx="2724912" cy="960120"/>
          </a:xfrm>
          <a:prstGeom prst="roundRect">
            <a:avLst>
              <a:gd name="adj" fmla="val 5714"/>
            </a:avLst>
          </a:prstGeom>
          <a:solidFill>
            <a:srgbClr val="F4F7FB"/>
          </a:solidFill>
          <a:ln w="12700">
            <a:solidFill>
              <a:srgbClr val="E4EAF2"/>
            </a:solidFill>
            <a:prstDash val="solid"/>
          </a:ln>
        </p:spPr>
      </p:sp>
      <p:sp>
        <p:nvSpPr>
          <p:cNvPr id="51" name="Shape 49"/>
          <p:cNvSpPr/>
          <p:nvPr/>
        </p:nvSpPr>
        <p:spPr>
          <a:xfrm>
            <a:off x="8860536" y="3794760"/>
            <a:ext cx="73152" cy="960120"/>
          </a:xfrm>
          <a:prstGeom prst="rect">
            <a:avLst/>
          </a:prstGeom>
          <a:solidFill>
            <a:srgbClr val="7C3AED"/>
          </a:solidFill>
          <a:ln/>
        </p:spPr>
      </p:sp>
      <p:sp>
        <p:nvSpPr>
          <p:cNvPr id="52" name="Text 50"/>
          <p:cNvSpPr/>
          <p:nvPr/>
        </p:nvSpPr>
        <p:spPr>
          <a:xfrm>
            <a:off x="9079992" y="3922776"/>
            <a:ext cx="2377440" cy="457200"/>
          </a:xfrm>
          <a:prstGeom prst="rect">
            <a:avLst/>
          </a:prstGeom>
          <a:noFill/>
          <a:ln/>
        </p:spPr>
        <p:txBody>
          <a:bodyPr wrap="square" lIns="0" tIns="0" rIns="0" bIns="0" rtlCol="0" anchor="t"/>
          <a:lstStyle/>
          <a:p>
            <a:pPr indent="0" marL="0">
              <a:buNone/>
            </a:pPr>
            <a:r>
              <a:rPr lang="en-US" sz="2000" b="1" dirty="0">
                <a:solidFill>
                  <a:srgbClr val="7C3AED"/>
                </a:solidFill>
                <a:latin typeface="Calibri" pitchFamily="34" charset="0"/>
                <a:ea typeface="Calibri" pitchFamily="34" charset="-122"/>
                <a:cs typeface="Calibri" pitchFamily="34" charset="-120"/>
              </a:rPr>
              <a:t>£37,920</a:t>
            </a:r>
            <a:endParaRPr lang="en-US" sz="2000" dirty="0"/>
          </a:p>
        </p:txBody>
      </p:sp>
      <p:sp>
        <p:nvSpPr>
          <p:cNvPr id="53" name="Text 51"/>
          <p:cNvSpPr/>
          <p:nvPr/>
        </p:nvSpPr>
        <p:spPr>
          <a:xfrm>
            <a:off x="9079992" y="4343400"/>
            <a:ext cx="2377440" cy="365760"/>
          </a:xfrm>
          <a:prstGeom prst="rect">
            <a:avLst/>
          </a:prstGeom>
          <a:noFill/>
          <a:ln/>
        </p:spPr>
        <p:txBody>
          <a:bodyPr wrap="square" lIns="0" tIns="0" rIns="0" bIns="0" rtlCol="0" anchor="t"/>
          <a:lstStyle/>
          <a:p>
            <a:pPr indent="0" marL="0">
              <a:lnSpc>
                <a:spcPct val="100000"/>
              </a:lnSpc>
              <a:buNone/>
            </a:pPr>
            <a:r>
              <a:rPr lang="en-US" sz="900" dirty="0">
                <a:solidFill>
                  <a:srgbClr val="8A97A8"/>
                </a:solidFill>
                <a:latin typeface="Calibri" pitchFamily="34" charset="0"/>
                <a:ea typeface="Calibri" pitchFamily="34" charset="-122"/>
                <a:cs typeface="Calibri" pitchFamily="34" charset="-120"/>
              </a:rPr>
              <a:t>top single lever — raw material</a:t>
            </a:r>
            <a:endParaRPr lang="en-US" sz="900" dirty="0"/>
          </a:p>
        </p:txBody>
      </p:sp>
      <p:sp>
        <p:nvSpPr>
          <p:cNvPr id="54" name="Text 52"/>
          <p:cNvSpPr/>
          <p:nvPr/>
        </p:nvSpPr>
        <p:spPr>
          <a:xfrm>
            <a:off x="566928" y="4782312"/>
            <a:ext cx="10972800" cy="182880"/>
          </a:xfrm>
          <a:prstGeom prst="rect">
            <a:avLst/>
          </a:prstGeom>
          <a:noFill/>
          <a:ln/>
        </p:spPr>
        <p:txBody>
          <a:bodyPr wrap="square" lIns="0" tIns="0" rIns="0" bIns="0" rtlCol="0" anchor="t"/>
          <a:lstStyle/>
          <a:p>
            <a:pPr indent="0" marL="0">
              <a:buNone/>
            </a:pPr>
            <a:r>
              <a:rPr lang="en-US" sz="850" i="1" dirty="0">
                <a:solidFill>
                  <a:srgbClr val="8A97A8"/>
                </a:solidFill>
                <a:latin typeface="Calibri" pitchFamily="34" charset="0"/>
                <a:ea typeface="Calibri" pitchFamily="34" charset="-122"/>
                <a:cs typeface="Calibri" pitchFamily="34" charset="-120"/>
              </a:rPr>
              <a:t>Illustrative figures — the same teardown runs on your real supplier quotes.</a:t>
            </a:r>
            <a:endParaRPr lang="en-US" sz="850" dirty="0"/>
          </a:p>
        </p:txBody>
      </p:sp>
      <p:sp>
        <p:nvSpPr>
          <p:cNvPr id="55" name="Shape 53"/>
          <p:cNvSpPr/>
          <p:nvPr/>
        </p:nvSpPr>
        <p:spPr>
          <a:xfrm>
            <a:off x="548640" y="5010912"/>
            <a:ext cx="11091672" cy="914400"/>
          </a:xfrm>
          <a:prstGeom prst="roundRect">
            <a:avLst>
              <a:gd name="adj" fmla="val 7000"/>
            </a:avLst>
          </a:prstGeom>
          <a:solidFill>
            <a:srgbClr val="F3EEFE"/>
          </a:solidFill>
          <a:ln w="12700">
            <a:solidFill>
              <a:srgbClr val="E4EAF2"/>
            </a:solidFill>
            <a:prstDash val="solid"/>
          </a:ln>
        </p:spPr>
      </p:sp>
      <p:sp>
        <p:nvSpPr>
          <p:cNvPr id="56" name="Shape 54"/>
          <p:cNvSpPr/>
          <p:nvPr/>
        </p:nvSpPr>
        <p:spPr>
          <a:xfrm>
            <a:off x="548640" y="5010912"/>
            <a:ext cx="82296" cy="914400"/>
          </a:xfrm>
          <a:prstGeom prst="rect">
            <a:avLst/>
          </a:prstGeom>
          <a:solidFill>
            <a:srgbClr val="7C3AED"/>
          </a:solidFill>
          <a:ln/>
        </p:spPr>
      </p:sp>
      <p:sp>
        <p:nvSpPr>
          <p:cNvPr id="57" name="Text 55"/>
          <p:cNvSpPr/>
          <p:nvPr/>
        </p:nvSpPr>
        <p:spPr>
          <a:xfrm>
            <a:off x="914400" y="5120640"/>
            <a:ext cx="10378440" cy="731520"/>
          </a:xfrm>
          <a:prstGeom prst="rect">
            <a:avLst/>
          </a:prstGeom>
          <a:noFill/>
          <a:ln/>
        </p:spPr>
        <p:txBody>
          <a:bodyPr wrap="square" lIns="0" tIns="0" rIns="0" bIns="0" rtlCol="0" anchor="t"/>
          <a:lstStyle/>
          <a:p>
            <a:pPr indent="0" marL="0">
              <a:lnSpc>
                <a:spcPct val="115000"/>
              </a:lnSpc>
              <a:buNone/>
            </a:pPr>
            <a:r>
              <a:rPr lang="en-US" sz="1150" b="1" dirty="0">
                <a:solidFill>
                  <a:srgbClr val="0F1E3D"/>
                </a:solidFill>
                <a:latin typeface="Calibri" pitchFamily="34" charset="0"/>
                <a:ea typeface="Calibri" pitchFamily="34" charset="-122"/>
                <a:cs typeface="Calibri" pitchFamily="34" charset="-120"/>
              </a:rPr>
              <a:t>The pack contains:  </a:t>
            </a:r>
            <a:pPr indent="0" marL="0">
              <a:lnSpc>
                <a:spcPct val="115000"/>
              </a:lnSpc>
              <a:buNone/>
            </a:pPr>
            <a:r>
              <a:rPr lang="en-US" sz="1150" dirty="0">
                <a:solidFill>
                  <a:srgbClr val="3E4C63"/>
                </a:solidFill>
                <a:latin typeface="Calibri" pitchFamily="34" charset="0"/>
                <a:ea typeface="Calibri" pitchFamily="34" charset="-122"/>
                <a:cs typeface="Calibri" pitchFamily="34" charset="-120"/>
              </a:rPr>
              <a:t>a line-by-line gap table, cost-driver decomposition (which parameter drives each gap), recovery levers ranked by £/yr, ready-to-send supplier questions, and a one-click PDF &amp; PowerPoint. You stop arguing about the total and start negotiating the drivers.</a:t>
            </a:r>
            <a:endParaRPr lang="en-US" sz="1150" dirty="0"/>
          </a:p>
        </p:txBody>
      </p:sp>
      <p:sp>
        <p:nvSpPr>
          <p:cNvPr id="58" name="Shape 56"/>
          <p:cNvSpPr/>
          <p:nvPr/>
        </p:nvSpPr>
        <p:spPr>
          <a:xfrm>
            <a:off x="548640" y="6400800"/>
            <a:ext cx="11094415" cy="12802"/>
          </a:xfrm>
          <a:prstGeom prst="rect">
            <a:avLst/>
          </a:prstGeom>
          <a:solidFill>
            <a:srgbClr val="E4EAF2"/>
          </a:solidFill>
          <a:ln/>
        </p:spPr>
      </p:sp>
      <p:sp>
        <p:nvSpPr>
          <p:cNvPr id="59" name="Text 57"/>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60" name="Text 58"/>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16 / 25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4F46E5"/>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4F46E5"/>
                </a:solidFill>
                <a:latin typeface="Calibri" pitchFamily="34" charset="0"/>
                <a:ea typeface="Calibri" pitchFamily="34" charset="-122"/>
                <a:cs typeface="Calibri" pitchFamily="34" charset="-120"/>
              </a:rPr>
              <a:t>LEARN &amp; GOVERN</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Agentic AI — it learns, remembers and acts</a:t>
            </a:r>
            <a:endParaRPr lang="en-US" sz="2400" dirty="0"/>
          </a:p>
        </p:txBody>
      </p:sp>
      <p:sp>
        <p:nvSpPr>
          <p:cNvPr id="9" name="Shape 7"/>
          <p:cNvSpPr/>
          <p:nvPr/>
        </p:nvSpPr>
        <p:spPr>
          <a:xfrm>
            <a:off x="548640" y="1371600"/>
            <a:ext cx="1051560" cy="45720"/>
          </a:xfrm>
          <a:prstGeom prst="rect">
            <a:avLst/>
          </a:prstGeom>
          <a:solidFill>
            <a:srgbClr val="4F46E5"/>
          </a:solidFill>
          <a:ln/>
        </p:spPr>
      </p:sp>
      <p:sp>
        <p:nvSpPr>
          <p:cNvPr id="10" name="Shape 8"/>
          <p:cNvSpPr/>
          <p:nvPr/>
        </p:nvSpPr>
        <p:spPr>
          <a:xfrm>
            <a:off x="548640" y="1691640"/>
            <a:ext cx="2542032" cy="2423160"/>
          </a:xfrm>
          <a:prstGeom prst="roundRect">
            <a:avLst>
              <a:gd name="adj" fmla="val 2642"/>
            </a:avLst>
          </a:prstGeom>
          <a:solidFill>
            <a:srgbClr val="FFFFFF"/>
          </a:solidFill>
          <a:ln w="12700">
            <a:solidFill>
              <a:srgbClr val="E4EAF2"/>
            </a:solidFill>
            <a:prstDash val="solid"/>
          </a:ln>
          <a:effectLst>
            <a:outerShdw sx="100000" sy="100000" kx="0" ky="0" algn="bl" rotWithShape="0" blurRad="4.1693581609558713e+189" dist="1.1912451888445345e+189" dir="5.613064426838642e+221">
              <a:srgbClr val="9DB0CC">
                <a:alpha val="2.2000000000000008e+229"/>
              </a:srgbClr>
            </a:outerShdw>
          </a:effectLst>
        </p:spPr>
      </p:sp>
      <p:sp>
        <p:nvSpPr>
          <p:cNvPr id="11" name="Shape 9"/>
          <p:cNvSpPr/>
          <p:nvPr/>
        </p:nvSpPr>
        <p:spPr>
          <a:xfrm>
            <a:off x="548640" y="1691640"/>
            <a:ext cx="82296" cy="2423160"/>
          </a:xfrm>
          <a:prstGeom prst="rect">
            <a:avLst/>
          </a:prstGeom>
          <a:solidFill>
            <a:srgbClr val="2563EB"/>
          </a:solidFill>
          <a:ln/>
        </p:spPr>
      </p:sp>
      <p:sp>
        <p:nvSpPr>
          <p:cNvPr id="12" name="Shape 10"/>
          <p:cNvSpPr/>
          <p:nvPr/>
        </p:nvSpPr>
        <p:spPr>
          <a:xfrm>
            <a:off x="1472184" y="1947672"/>
            <a:ext cx="694944" cy="694944"/>
          </a:xfrm>
          <a:prstGeom prst="ellipse">
            <a:avLst/>
          </a:prstGeom>
          <a:solidFill>
            <a:srgbClr val="EAF1FE"/>
          </a:solidFill>
          <a:ln/>
        </p:spPr>
      </p:sp>
      <p:sp>
        <p:nvSpPr>
          <p:cNvPr id="13" name="Text 11"/>
          <p:cNvSpPr/>
          <p:nvPr/>
        </p:nvSpPr>
        <p:spPr>
          <a:xfrm>
            <a:off x="1472184" y="1938528"/>
            <a:ext cx="694944" cy="694944"/>
          </a:xfrm>
          <a:prstGeom prst="rect">
            <a:avLst/>
          </a:prstGeom>
          <a:noFill/>
          <a:ln/>
        </p:spPr>
        <p:txBody>
          <a:bodyPr wrap="square" lIns="0" tIns="0" rIns="0" bIns="0" rtlCol="0" anchor="ctr"/>
          <a:lstStyle/>
          <a:p>
            <a:pPr algn="ctr" indent="0" marL="0">
              <a:buNone/>
            </a:pPr>
            <a:r>
              <a:rPr lang="en-US" sz="2400" b="1" dirty="0">
                <a:solidFill>
                  <a:srgbClr val="2563EB"/>
                </a:solidFill>
                <a:latin typeface="Calibri" pitchFamily="34" charset="0"/>
                <a:ea typeface="Calibri" pitchFamily="34" charset="-122"/>
                <a:cs typeface="Calibri" pitchFamily="34" charset="-120"/>
              </a:rPr>
              <a:t>▤</a:t>
            </a:r>
            <a:endParaRPr lang="en-US" sz="2400" dirty="0"/>
          </a:p>
        </p:txBody>
      </p:sp>
      <p:sp>
        <p:nvSpPr>
          <p:cNvPr id="14" name="Text 12"/>
          <p:cNvSpPr/>
          <p:nvPr/>
        </p:nvSpPr>
        <p:spPr>
          <a:xfrm>
            <a:off x="768096" y="2788920"/>
            <a:ext cx="2130552" cy="320040"/>
          </a:xfrm>
          <a:prstGeom prst="rect">
            <a:avLst/>
          </a:prstGeom>
          <a:noFill/>
          <a:ln/>
        </p:spPr>
        <p:txBody>
          <a:bodyPr wrap="square" lIns="0" tIns="0" rIns="0" bIns="0" rtlCol="0" anchor="t"/>
          <a:lstStyle/>
          <a:p>
            <a:pPr algn="ctr" indent="0" marL="0">
              <a:buNone/>
            </a:pPr>
            <a:r>
              <a:rPr lang="en-US" sz="1500" b="1" dirty="0">
                <a:solidFill>
                  <a:srgbClr val="2563EB"/>
                </a:solidFill>
                <a:latin typeface="Calibri" pitchFamily="34" charset="0"/>
                <a:ea typeface="Calibri" pitchFamily="34" charset="-122"/>
                <a:cs typeface="Calibri" pitchFamily="34" charset="-120"/>
              </a:rPr>
              <a:t>Remembers</a:t>
            </a:r>
            <a:endParaRPr lang="en-US" sz="1500" dirty="0"/>
          </a:p>
        </p:txBody>
      </p:sp>
      <p:sp>
        <p:nvSpPr>
          <p:cNvPr id="15" name="Text 13"/>
          <p:cNvSpPr/>
          <p:nvPr/>
        </p:nvSpPr>
        <p:spPr>
          <a:xfrm>
            <a:off x="786384" y="3172968"/>
            <a:ext cx="2084832" cy="86868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Every analysis is saved as a case — shared across the team, so juniors inherit senior judgement.</a:t>
            </a:r>
            <a:endParaRPr lang="en-US" sz="1000" dirty="0"/>
          </a:p>
        </p:txBody>
      </p:sp>
      <p:sp>
        <p:nvSpPr>
          <p:cNvPr id="16" name="Text 14"/>
          <p:cNvSpPr/>
          <p:nvPr/>
        </p:nvSpPr>
        <p:spPr>
          <a:xfrm>
            <a:off x="3108960" y="2560320"/>
            <a:ext cx="329184" cy="548640"/>
          </a:xfrm>
          <a:prstGeom prst="rect">
            <a:avLst/>
          </a:prstGeom>
          <a:noFill/>
          <a:ln/>
        </p:spPr>
        <p:txBody>
          <a:bodyPr wrap="square" lIns="0" tIns="0" rIns="0" bIns="0" rtlCol="0" anchor="ctr"/>
          <a:lstStyle/>
          <a:p>
            <a:pPr algn="ctr" indent="0" marL="0">
              <a:buNone/>
            </a:pPr>
            <a:r>
              <a:rPr lang="en-US" sz="2000" b="1" dirty="0">
                <a:solidFill>
                  <a:srgbClr val="4F46E5"/>
                </a:solidFill>
                <a:latin typeface="Calibri" pitchFamily="34" charset="0"/>
                <a:ea typeface="Calibri" pitchFamily="34" charset="-122"/>
                <a:cs typeface="Calibri" pitchFamily="34" charset="-120"/>
              </a:rPr>
              <a:t>→</a:t>
            </a:r>
            <a:endParaRPr lang="en-US" sz="2000" dirty="0"/>
          </a:p>
        </p:txBody>
      </p:sp>
      <p:sp>
        <p:nvSpPr>
          <p:cNvPr id="17" name="Shape 15"/>
          <p:cNvSpPr/>
          <p:nvPr/>
        </p:nvSpPr>
        <p:spPr>
          <a:xfrm>
            <a:off x="3419856" y="1691640"/>
            <a:ext cx="2542032" cy="2423160"/>
          </a:xfrm>
          <a:prstGeom prst="roundRect">
            <a:avLst>
              <a:gd name="adj" fmla="val 2642"/>
            </a:avLst>
          </a:prstGeom>
          <a:solidFill>
            <a:srgbClr val="FFFFFF"/>
          </a:solidFill>
          <a:ln w="12700">
            <a:solidFill>
              <a:srgbClr val="E4EAF2"/>
            </a:solidFill>
            <a:prstDash val="solid"/>
          </a:ln>
          <a:effectLst>
            <a:outerShdw sx="100000" sy="100000" kx="0" ky="0" algn="bl" rotWithShape="0" blurRad="5.295084864413956e+193" dist="1.5128813898325588e+193" dir="3.367838656103185e+226">
              <a:srgbClr val="9DB0CC">
                <a:alpha val="2.2000000000000008e+234"/>
              </a:srgbClr>
            </a:outerShdw>
          </a:effectLst>
        </p:spPr>
      </p:sp>
      <p:sp>
        <p:nvSpPr>
          <p:cNvPr id="18" name="Shape 16"/>
          <p:cNvSpPr/>
          <p:nvPr/>
        </p:nvSpPr>
        <p:spPr>
          <a:xfrm>
            <a:off x="3419856" y="1691640"/>
            <a:ext cx="82296" cy="2423160"/>
          </a:xfrm>
          <a:prstGeom prst="rect">
            <a:avLst/>
          </a:prstGeom>
          <a:solidFill>
            <a:srgbClr val="0E93B0"/>
          </a:solidFill>
          <a:ln/>
        </p:spPr>
      </p:sp>
      <p:sp>
        <p:nvSpPr>
          <p:cNvPr id="19" name="Shape 17"/>
          <p:cNvSpPr/>
          <p:nvPr/>
        </p:nvSpPr>
        <p:spPr>
          <a:xfrm>
            <a:off x="4343400" y="1947672"/>
            <a:ext cx="694944" cy="694944"/>
          </a:xfrm>
          <a:prstGeom prst="ellipse">
            <a:avLst/>
          </a:prstGeom>
          <a:solidFill>
            <a:srgbClr val="E8F6FA"/>
          </a:solidFill>
          <a:ln/>
        </p:spPr>
      </p:sp>
      <p:sp>
        <p:nvSpPr>
          <p:cNvPr id="20" name="Text 18"/>
          <p:cNvSpPr/>
          <p:nvPr/>
        </p:nvSpPr>
        <p:spPr>
          <a:xfrm>
            <a:off x="4343400" y="1938528"/>
            <a:ext cx="694944" cy="694944"/>
          </a:xfrm>
          <a:prstGeom prst="rect">
            <a:avLst/>
          </a:prstGeom>
          <a:noFill/>
          <a:ln/>
        </p:spPr>
        <p:txBody>
          <a:bodyPr wrap="square" lIns="0" tIns="0" rIns="0" bIns="0" rtlCol="0" anchor="ctr"/>
          <a:lstStyle/>
          <a:p>
            <a:pPr algn="ctr" indent="0" marL="0">
              <a:buNone/>
            </a:pPr>
            <a:r>
              <a:rPr lang="en-US" sz="2400" b="1" dirty="0">
                <a:solidFill>
                  <a:srgbClr val="0E93B0"/>
                </a:solidFill>
                <a:latin typeface="Calibri" pitchFamily="34" charset="0"/>
                <a:ea typeface="Calibri" pitchFamily="34" charset="-122"/>
                <a:cs typeface="Calibri" pitchFamily="34" charset="-120"/>
              </a:rPr>
              <a:t>◎</a:t>
            </a:r>
            <a:endParaRPr lang="en-US" sz="2400" dirty="0"/>
          </a:p>
        </p:txBody>
      </p:sp>
      <p:sp>
        <p:nvSpPr>
          <p:cNvPr id="21" name="Text 19"/>
          <p:cNvSpPr/>
          <p:nvPr/>
        </p:nvSpPr>
        <p:spPr>
          <a:xfrm>
            <a:off x="3639312" y="2788920"/>
            <a:ext cx="2130552" cy="320040"/>
          </a:xfrm>
          <a:prstGeom prst="rect">
            <a:avLst/>
          </a:prstGeom>
          <a:noFill/>
          <a:ln/>
        </p:spPr>
        <p:txBody>
          <a:bodyPr wrap="square" lIns="0" tIns="0" rIns="0" bIns="0" rtlCol="0" anchor="t"/>
          <a:lstStyle/>
          <a:p>
            <a:pPr algn="ctr" indent="0" marL="0">
              <a:buNone/>
            </a:pPr>
            <a:r>
              <a:rPr lang="en-US" sz="1500" b="1" dirty="0">
                <a:solidFill>
                  <a:srgbClr val="0E93B0"/>
                </a:solidFill>
                <a:latin typeface="Calibri" pitchFamily="34" charset="0"/>
                <a:ea typeface="Calibri" pitchFamily="34" charset="-122"/>
                <a:cs typeface="Calibri" pitchFamily="34" charset="-120"/>
              </a:rPr>
              <a:t>Recognises</a:t>
            </a:r>
            <a:endParaRPr lang="en-US" sz="1500" dirty="0"/>
          </a:p>
        </p:txBody>
      </p:sp>
      <p:sp>
        <p:nvSpPr>
          <p:cNvPr id="22" name="Text 20"/>
          <p:cNvSpPr/>
          <p:nvPr/>
        </p:nvSpPr>
        <p:spPr>
          <a:xfrm>
            <a:off x="3657600" y="3172968"/>
            <a:ext cx="2084832" cy="86868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A new part is instantly matched to similar past parts, with the reasons shown.</a:t>
            </a:r>
            <a:endParaRPr lang="en-US" sz="1000" dirty="0"/>
          </a:p>
        </p:txBody>
      </p:sp>
      <p:sp>
        <p:nvSpPr>
          <p:cNvPr id="23" name="Text 21"/>
          <p:cNvSpPr/>
          <p:nvPr/>
        </p:nvSpPr>
        <p:spPr>
          <a:xfrm>
            <a:off x="5980176" y="2560320"/>
            <a:ext cx="329184" cy="548640"/>
          </a:xfrm>
          <a:prstGeom prst="rect">
            <a:avLst/>
          </a:prstGeom>
          <a:noFill/>
          <a:ln/>
        </p:spPr>
        <p:txBody>
          <a:bodyPr wrap="square" lIns="0" tIns="0" rIns="0" bIns="0" rtlCol="0" anchor="ctr"/>
          <a:lstStyle/>
          <a:p>
            <a:pPr algn="ctr" indent="0" marL="0">
              <a:buNone/>
            </a:pPr>
            <a:r>
              <a:rPr lang="en-US" sz="2000" b="1" dirty="0">
                <a:solidFill>
                  <a:srgbClr val="4F46E5"/>
                </a:solidFill>
                <a:latin typeface="Calibri" pitchFamily="34" charset="0"/>
                <a:ea typeface="Calibri" pitchFamily="34" charset="-122"/>
                <a:cs typeface="Calibri" pitchFamily="34" charset="-120"/>
              </a:rPr>
              <a:t>→</a:t>
            </a:r>
            <a:endParaRPr lang="en-US" sz="2000" dirty="0"/>
          </a:p>
        </p:txBody>
      </p:sp>
      <p:sp>
        <p:nvSpPr>
          <p:cNvPr id="24" name="Shape 22"/>
          <p:cNvSpPr/>
          <p:nvPr/>
        </p:nvSpPr>
        <p:spPr>
          <a:xfrm>
            <a:off x="6291072" y="1691640"/>
            <a:ext cx="2542032" cy="2423160"/>
          </a:xfrm>
          <a:prstGeom prst="roundRect">
            <a:avLst>
              <a:gd name="adj" fmla="val 2642"/>
            </a:avLst>
          </a:prstGeom>
          <a:solidFill>
            <a:srgbClr val="FFFFFF"/>
          </a:solidFill>
          <a:ln w="12700">
            <a:solidFill>
              <a:srgbClr val="E4EAF2"/>
            </a:solidFill>
            <a:prstDash val="solid"/>
          </a:ln>
          <a:effectLst>
            <a:outerShdw sx="100000" sy="100000" kx="0" ky="0" algn="bl" rotWithShape="0" blurRad="6.724757777805725e+197" dist="1.9213593650873497e+197" dir="2.020703193661911e+231">
              <a:srgbClr val="9DB0CC">
                <a:alpha val="2.200000000000001e+239"/>
              </a:srgbClr>
            </a:outerShdw>
          </a:effectLst>
        </p:spPr>
      </p:sp>
      <p:sp>
        <p:nvSpPr>
          <p:cNvPr id="25" name="Shape 23"/>
          <p:cNvSpPr/>
          <p:nvPr/>
        </p:nvSpPr>
        <p:spPr>
          <a:xfrm>
            <a:off x="6291072" y="1691640"/>
            <a:ext cx="82296" cy="2423160"/>
          </a:xfrm>
          <a:prstGeom prst="rect">
            <a:avLst/>
          </a:prstGeom>
          <a:solidFill>
            <a:srgbClr val="7C3AED"/>
          </a:solidFill>
          <a:ln/>
        </p:spPr>
      </p:sp>
      <p:sp>
        <p:nvSpPr>
          <p:cNvPr id="26" name="Shape 24"/>
          <p:cNvSpPr/>
          <p:nvPr/>
        </p:nvSpPr>
        <p:spPr>
          <a:xfrm>
            <a:off x="7214616" y="1947672"/>
            <a:ext cx="694944" cy="694944"/>
          </a:xfrm>
          <a:prstGeom prst="ellipse">
            <a:avLst/>
          </a:prstGeom>
          <a:solidFill>
            <a:srgbClr val="F3EEFE"/>
          </a:solidFill>
          <a:ln/>
        </p:spPr>
      </p:sp>
      <p:sp>
        <p:nvSpPr>
          <p:cNvPr id="27" name="Text 25"/>
          <p:cNvSpPr/>
          <p:nvPr/>
        </p:nvSpPr>
        <p:spPr>
          <a:xfrm>
            <a:off x="7214616" y="1938528"/>
            <a:ext cx="694944" cy="694944"/>
          </a:xfrm>
          <a:prstGeom prst="rect">
            <a:avLst/>
          </a:prstGeom>
          <a:noFill/>
          <a:ln/>
        </p:spPr>
        <p:txBody>
          <a:bodyPr wrap="square" lIns="0" tIns="0" rIns="0" bIns="0" rtlCol="0" anchor="ctr"/>
          <a:lstStyle/>
          <a:p>
            <a:pPr algn="ctr" indent="0" marL="0">
              <a:buNone/>
            </a:pPr>
            <a:r>
              <a:rPr lang="en-US" sz="2400" b="1" dirty="0">
                <a:solidFill>
                  <a:srgbClr val="7C3AED"/>
                </a:solidFill>
                <a:latin typeface="Calibri" pitchFamily="34" charset="0"/>
                <a:ea typeface="Calibri" pitchFamily="34" charset="-122"/>
                <a:cs typeface="Calibri" pitchFamily="34" charset="-120"/>
              </a:rPr>
              <a:t>⟳</a:t>
            </a:r>
            <a:endParaRPr lang="en-US" sz="2400" dirty="0"/>
          </a:p>
        </p:txBody>
      </p:sp>
      <p:sp>
        <p:nvSpPr>
          <p:cNvPr id="28" name="Text 26"/>
          <p:cNvSpPr/>
          <p:nvPr/>
        </p:nvSpPr>
        <p:spPr>
          <a:xfrm>
            <a:off x="6510528" y="2788920"/>
            <a:ext cx="2130552" cy="320040"/>
          </a:xfrm>
          <a:prstGeom prst="rect">
            <a:avLst/>
          </a:prstGeom>
          <a:noFill/>
          <a:ln/>
        </p:spPr>
        <p:txBody>
          <a:bodyPr wrap="square" lIns="0" tIns="0" rIns="0" bIns="0" rtlCol="0" anchor="t"/>
          <a:lstStyle/>
          <a:p>
            <a:pPr algn="ctr" indent="0" marL="0">
              <a:buNone/>
            </a:pPr>
            <a:r>
              <a:rPr lang="en-US" sz="1500" b="1" dirty="0">
                <a:solidFill>
                  <a:srgbClr val="7C3AED"/>
                </a:solidFill>
                <a:latin typeface="Calibri" pitchFamily="34" charset="0"/>
                <a:ea typeface="Calibri" pitchFamily="34" charset="-122"/>
                <a:cs typeface="Calibri" pitchFamily="34" charset="-120"/>
              </a:rPr>
              <a:t>Self-corrects</a:t>
            </a:r>
            <a:endParaRPr lang="en-US" sz="1500" dirty="0"/>
          </a:p>
        </p:txBody>
      </p:sp>
      <p:sp>
        <p:nvSpPr>
          <p:cNvPr id="29" name="Text 27"/>
          <p:cNvSpPr/>
          <p:nvPr/>
        </p:nvSpPr>
        <p:spPr>
          <a:xfrm>
            <a:off x="6528816" y="3172968"/>
            <a:ext cx="2084832" cy="86868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Log a real quote and it measures its own error, then corrects future estimates per category.</a:t>
            </a:r>
            <a:endParaRPr lang="en-US" sz="1000" dirty="0"/>
          </a:p>
        </p:txBody>
      </p:sp>
      <p:sp>
        <p:nvSpPr>
          <p:cNvPr id="30" name="Text 28"/>
          <p:cNvSpPr/>
          <p:nvPr/>
        </p:nvSpPr>
        <p:spPr>
          <a:xfrm>
            <a:off x="8851392" y="2560320"/>
            <a:ext cx="329184" cy="548640"/>
          </a:xfrm>
          <a:prstGeom prst="rect">
            <a:avLst/>
          </a:prstGeom>
          <a:noFill/>
          <a:ln/>
        </p:spPr>
        <p:txBody>
          <a:bodyPr wrap="square" lIns="0" tIns="0" rIns="0" bIns="0" rtlCol="0" anchor="ctr"/>
          <a:lstStyle/>
          <a:p>
            <a:pPr algn="ctr" indent="0" marL="0">
              <a:buNone/>
            </a:pPr>
            <a:r>
              <a:rPr lang="en-US" sz="2000" b="1" dirty="0">
                <a:solidFill>
                  <a:srgbClr val="4F46E5"/>
                </a:solidFill>
                <a:latin typeface="Calibri" pitchFamily="34" charset="0"/>
                <a:ea typeface="Calibri" pitchFamily="34" charset="-122"/>
                <a:cs typeface="Calibri" pitchFamily="34" charset="-120"/>
              </a:rPr>
              <a:t>→</a:t>
            </a:r>
            <a:endParaRPr lang="en-US" sz="2000" dirty="0"/>
          </a:p>
        </p:txBody>
      </p:sp>
      <p:sp>
        <p:nvSpPr>
          <p:cNvPr id="31" name="Shape 29"/>
          <p:cNvSpPr/>
          <p:nvPr/>
        </p:nvSpPr>
        <p:spPr>
          <a:xfrm>
            <a:off x="9162288" y="1691640"/>
            <a:ext cx="2542032" cy="2423160"/>
          </a:xfrm>
          <a:prstGeom prst="roundRect">
            <a:avLst>
              <a:gd name="adj" fmla="val 2642"/>
            </a:avLst>
          </a:prstGeom>
          <a:solidFill>
            <a:srgbClr val="FFFFFF"/>
          </a:solidFill>
          <a:ln w="12700">
            <a:solidFill>
              <a:srgbClr val="E4EAF2"/>
            </a:solidFill>
            <a:prstDash val="solid"/>
          </a:ln>
          <a:effectLst>
            <a:outerShdw sx="100000" sy="100000" kx="0" ky="0" algn="bl" rotWithShape="0" blurRad="8.54044237781327e+201" dist="2.440126393660934e+201" dir="1.2124219161971466e+236">
              <a:srgbClr val="9DB0CC">
                <a:alpha val="2.200000000000001e+244"/>
              </a:srgbClr>
            </a:outerShdw>
          </a:effectLst>
        </p:spPr>
      </p:sp>
      <p:sp>
        <p:nvSpPr>
          <p:cNvPr id="32" name="Shape 30"/>
          <p:cNvSpPr/>
          <p:nvPr/>
        </p:nvSpPr>
        <p:spPr>
          <a:xfrm>
            <a:off x="9162288" y="1691640"/>
            <a:ext cx="82296" cy="2423160"/>
          </a:xfrm>
          <a:prstGeom prst="rect">
            <a:avLst/>
          </a:prstGeom>
          <a:solidFill>
            <a:srgbClr val="0EA472"/>
          </a:solidFill>
          <a:ln/>
        </p:spPr>
      </p:sp>
      <p:sp>
        <p:nvSpPr>
          <p:cNvPr id="33" name="Shape 31"/>
          <p:cNvSpPr/>
          <p:nvPr/>
        </p:nvSpPr>
        <p:spPr>
          <a:xfrm>
            <a:off x="10085832" y="1947672"/>
            <a:ext cx="694944" cy="694944"/>
          </a:xfrm>
          <a:prstGeom prst="ellipse">
            <a:avLst/>
          </a:prstGeom>
          <a:solidFill>
            <a:srgbClr val="E7F7F0"/>
          </a:solidFill>
          <a:ln/>
        </p:spPr>
      </p:sp>
      <p:sp>
        <p:nvSpPr>
          <p:cNvPr id="34" name="Text 32"/>
          <p:cNvSpPr/>
          <p:nvPr/>
        </p:nvSpPr>
        <p:spPr>
          <a:xfrm>
            <a:off x="10085832" y="1938528"/>
            <a:ext cx="694944" cy="694944"/>
          </a:xfrm>
          <a:prstGeom prst="rect">
            <a:avLst/>
          </a:prstGeom>
          <a:noFill/>
          <a:ln/>
        </p:spPr>
        <p:txBody>
          <a:bodyPr wrap="square" lIns="0" tIns="0" rIns="0" bIns="0" rtlCol="0" anchor="ctr"/>
          <a:lstStyle/>
          <a:p>
            <a:pPr algn="ctr" indent="0" marL="0">
              <a:buNone/>
            </a:pPr>
            <a:r>
              <a:rPr lang="en-US" sz="2400" b="1" dirty="0">
                <a:solidFill>
                  <a:srgbClr val="0EA472"/>
                </a:solidFill>
                <a:latin typeface="Calibri" pitchFamily="34" charset="0"/>
                <a:ea typeface="Calibri" pitchFamily="34" charset="-122"/>
                <a:cs typeface="Calibri" pitchFamily="34" charset="-120"/>
              </a:rPr>
              <a:t>➤</a:t>
            </a:r>
            <a:endParaRPr lang="en-US" sz="2400" dirty="0"/>
          </a:p>
        </p:txBody>
      </p:sp>
      <p:sp>
        <p:nvSpPr>
          <p:cNvPr id="35" name="Text 33"/>
          <p:cNvSpPr/>
          <p:nvPr/>
        </p:nvSpPr>
        <p:spPr>
          <a:xfrm>
            <a:off x="9381744" y="2788920"/>
            <a:ext cx="2130552" cy="320040"/>
          </a:xfrm>
          <a:prstGeom prst="rect">
            <a:avLst/>
          </a:prstGeom>
          <a:noFill/>
          <a:ln/>
        </p:spPr>
        <p:txBody>
          <a:bodyPr wrap="square" lIns="0" tIns="0" rIns="0" bIns="0" rtlCol="0" anchor="t"/>
          <a:lstStyle/>
          <a:p>
            <a:pPr algn="ctr" indent="0" marL="0">
              <a:buNone/>
            </a:pPr>
            <a:r>
              <a:rPr lang="en-US" sz="1500" b="1" dirty="0">
                <a:solidFill>
                  <a:srgbClr val="0EA472"/>
                </a:solidFill>
                <a:latin typeface="Calibri" pitchFamily="34" charset="0"/>
                <a:ea typeface="Calibri" pitchFamily="34" charset="-122"/>
                <a:cs typeface="Calibri" pitchFamily="34" charset="-120"/>
              </a:rPr>
              <a:t>Acts</a:t>
            </a:r>
            <a:endParaRPr lang="en-US" sz="1500" dirty="0"/>
          </a:p>
        </p:txBody>
      </p:sp>
      <p:sp>
        <p:nvSpPr>
          <p:cNvPr id="36" name="Text 34"/>
          <p:cNvSpPr/>
          <p:nvPr/>
        </p:nvSpPr>
        <p:spPr>
          <a:xfrm>
            <a:off x="9400032" y="3172968"/>
            <a:ext cx="2084832" cy="86868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A background agent re-checks every part and flags overpayment &amp; risk on its own.</a:t>
            </a:r>
            <a:endParaRPr lang="en-US" sz="1000" dirty="0"/>
          </a:p>
        </p:txBody>
      </p:sp>
      <p:sp>
        <p:nvSpPr>
          <p:cNvPr id="37" name="Shape 35"/>
          <p:cNvSpPr/>
          <p:nvPr/>
        </p:nvSpPr>
        <p:spPr>
          <a:xfrm>
            <a:off x="548640" y="4343400"/>
            <a:ext cx="3657600" cy="1051560"/>
          </a:xfrm>
          <a:prstGeom prst="roundRect">
            <a:avLst>
              <a:gd name="adj" fmla="val 5217"/>
            </a:avLst>
          </a:prstGeom>
          <a:solidFill>
            <a:srgbClr val="F4F7FB"/>
          </a:solidFill>
          <a:ln w="12700">
            <a:solidFill>
              <a:srgbClr val="E4EAF2"/>
            </a:solidFill>
            <a:prstDash val="solid"/>
          </a:ln>
        </p:spPr>
      </p:sp>
      <p:sp>
        <p:nvSpPr>
          <p:cNvPr id="38" name="Shape 36"/>
          <p:cNvSpPr/>
          <p:nvPr/>
        </p:nvSpPr>
        <p:spPr>
          <a:xfrm>
            <a:off x="548640" y="4343400"/>
            <a:ext cx="73152" cy="1051560"/>
          </a:xfrm>
          <a:prstGeom prst="rect">
            <a:avLst/>
          </a:prstGeom>
          <a:solidFill>
            <a:srgbClr val="0EA472"/>
          </a:solidFill>
          <a:ln/>
        </p:spPr>
      </p:sp>
      <p:sp>
        <p:nvSpPr>
          <p:cNvPr id="39" name="Text 37"/>
          <p:cNvSpPr/>
          <p:nvPr/>
        </p:nvSpPr>
        <p:spPr>
          <a:xfrm>
            <a:off x="786384" y="4489704"/>
            <a:ext cx="3291840" cy="457200"/>
          </a:xfrm>
          <a:prstGeom prst="rect">
            <a:avLst/>
          </a:prstGeom>
          <a:noFill/>
          <a:ln/>
        </p:spPr>
        <p:txBody>
          <a:bodyPr wrap="square" lIns="0" tIns="0" rIns="0" bIns="0" rtlCol="0" anchor="t"/>
          <a:lstStyle/>
          <a:p>
            <a:pPr indent="0" marL="0">
              <a:buNone/>
            </a:pPr>
            <a:r>
              <a:rPr lang="en-US" sz="2200" b="1" dirty="0">
                <a:solidFill>
                  <a:srgbClr val="0EA472"/>
                </a:solidFill>
                <a:latin typeface="Calibri" pitchFamily="34" charset="0"/>
                <a:ea typeface="Calibri" pitchFamily="34" charset="-122"/>
                <a:cs typeface="Calibri" pitchFamily="34" charset="-120"/>
              </a:rPr>
              <a:t>36×</a:t>
            </a:r>
            <a:endParaRPr lang="en-US" sz="2200" dirty="0"/>
          </a:p>
        </p:txBody>
      </p:sp>
      <p:sp>
        <p:nvSpPr>
          <p:cNvPr id="40" name="Text 38"/>
          <p:cNvSpPr/>
          <p:nvPr/>
        </p:nvSpPr>
        <p:spPr>
          <a:xfrm>
            <a:off x="786384" y="4928616"/>
            <a:ext cx="3200400" cy="365760"/>
          </a:xfrm>
          <a:prstGeom prst="rect">
            <a:avLst/>
          </a:prstGeom>
          <a:noFill/>
          <a:ln/>
        </p:spPr>
        <p:txBody>
          <a:bodyPr wrap="square" lIns="0" tIns="0" rIns="0" bIns="0" rtlCol="0" anchor="t"/>
          <a:lstStyle/>
          <a:p>
            <a:pPr indent="0" marL="0">
              <a:lnSpc>
                <a:spcPct val="100000"/>
              </a:lnSpc>
              <a:buNone/>
            </a:pPr>
            <a:r>
              <a:rPr lang="en-US" sz="950" dirty="0">
                <a:solidFill>
                  <a:srgbClr val="8A97A8"/>
                </a:solidFill>
                <a:latin typeface="Calibri" pitchFamily="34" charset="0"/>
                <a:ea typeface="Calibri" pitchFamily="34" charset="-122"/>
                <a:cs typeface="Calibri" pitchFamily="34" charset="-120"/>
              </a:rPr>
              <a:t>error reduction after learning from 3 real quotes</a:t>
            </a:r>
            <a:endParaRPr lang="en-US" sz="950" dirty="0"/>
          </a:p>
        </p:txBody>
      </p:sp>
      <p:sp>
        <p:nvSpPr>
          <p:cNvPr id="41" name="Shape 39"/>
          <p:cNvSpPr/>
          <p:nvPr/>
        </p:nvSpPr>
        <p:spPr>
          <a:xfrm>
            <a:off x="4261104" y="4343400"/>
            <a:ext cx="3657600" cy="1051560"/>
          </a:xfrm>
          <a:prstGeom prst="roundRect">
            <a:avLst>
              <a:gd name="adj" fmla="val 5217"/>
            </a:avLst>
          </a:prstGeom>
          <a:solidFill>
            <a:srgbClr val="F4F7FB"/>
          </a:solidFill>
          <a:ln w="12700">
            <a:solidFill>
              <a:srgbClr val="E4EAF2"/>
            </a:solidFill>
            <a:prstDash val="solid"/>
          </a:ln>
        </p:spPr>
      </p:sp>
      <p:sp>
        <p:nvSpPr>
          <p:cNvPr id="42" name="Shape 40"/>
          <p:cNvSpPr/>
          <p:nvPr/>
        </p:nvSpPr>
        <p:spPr>
          <a:xfrm>
            <a:off x="4261104" y="4343400"/>
            <a:ext cx="73152" cy="1051560"/>
          </a:xfrm>
          <a:prstGeom prst="rect">
            <a:avLst/>
          </a:prstGeom>
          <a:solidFill>
            <a:srgbClr val="E5484D"/>
          </a:solidFill>
          <a:ln/>
        </p:spPr>
      </p:sp>
      <p:sp>
        <p:nvSpPr>
          <p:cNvPr id="43" name="Text 41"/>
          <p:cNvSpPr/>
          <p:nvPr/>
        </p:nvSpPr>
        <p:spPr>
          <a:xfrm>
            <a:off x="4498848" y="4489704"/>
            <a:ext cx="3291840" cy="457200"/>
          </a:xfrm>
          <a:prstGeom prst="rect">
            <a:avLst/>
          </a:prstGeom>
          <a:noFill/>
          <a:ln/>
        </p:spPr>
        <p:txBody>
          <a:bodyPr wrap="square" lIns="0" tIns="0" rIns="0" bIns="0" rtlCol="0" anchor="t"/>
          <a:lstStyle/>
          <a:p>
            <a:pPr indent="0" marL="0">
              <a:buNone/>
            </a:pPr>
            <a:r>
              <a:rPr lang="en-US" sz="2200" b="1" dirty="0">
                <a:solidFill>
                  <a:srgbClr val="E5484D"/>
                </a:solidFill>
                <a:latin typeface="Calibri" pitchFamily="34" charset="0"/>
                <a:ea typeface="Calibri" pitchFamily="34" charset="-122"/>
                <a:cs typeface="Calibri" pitchFamily="34" charset="-120"/>
              </a:rPr>
              <a:t>£512k/yr</a:t>
            </a:r>
            <a:endParaRPr lang="en-US" sz="2200" dirty="0"/>
          </a:p>
        </p:txBody>
      </p:sp>
      <p:sp>
        <p:nvSpPr>
          <p:cNvPr id="44" name="Text 42"/>
          <p:cNvSpPr/>
          <p:nvPr/>
        </p:nvSpPr>
        <p:spPr>
          <a:xfrm>
            <a:off x="4498848" y="4928616"/>
            <a:ext cx="3200400" cy="365760"/>
          </a:xfrm>
          <a:prstGeom prst="rect">
            <a:avLst/>
          </a:prstGeom>
          <a:noFill/>
          <a:ln/>
        </p:spPr>
        <p:txBody>
          <a:bodyPr wrap="square" lIns="0" tIns="0" rIns="0" bIns="0" rtlCol="0" anchor="t"/>
          <a:lstStyle/>
          <a:p>
            <a:pPr indent="0" marL="0">
              <a:lnSpc>
                <a:spcPct val="100000"/>
              </a:lnSpc>
              <a:buNone/>
            </a:pPr>
            <a:r>
              <a:rPr lang="en-US" sz="950" dirty="0">
                <a:solidFill>
                  <a:srgbClr val="8A97A8"/>
                </a:solidFill>
                <a:latin typeface="Calibri" pitchFamily="34" charset="0"/>
                <a:ea typeface="Calibri" pitchFamily="34" charset="-122"/>
                <a:cs typeface="Calibri" pitchFamily="34" charset="-120"/>
              </a:rPr>
              <a:t>flagged autonomously in a live demo — unattended</a:t>
            </a:r>
            <a:endParaRPr lang="en-US" sz="950" dirty="0"/>
          </a:p>
        </p:txBody>
      </p:sp>
      <p:sp>
        <p:nvSpPr>
          <p:cNvPr id="45" name="Shape 43"/>
          <p:cNvSpPr/>
          <p:nvPr/>
        </p:nvSpPr>
        <p:spPr>
          <a:xfrm>
            <a:off x="7973568" y="4343400"/>
            <a:ext cx="3657600" cy="1051560"/>
          </a:xfrm>
          <a:prstGeom prst="roundRect">
            <a:avLst>
              <a:gd name="adj" fmla="val 5217"/>
            </a:avLst>
          </a:prstGeom>
          <a:solidFill>
            <a:srgbClr val="F4F7FB"/>
          </a:solidFill>
          <a:ln w="12700">
            <a:solidFill>
              <a:srgbClr val="E4EAF2"/>
            </a:solidFill>
            <a:prstDash val="solid"/>
          </a:ln>
        </p:spPr>
      </p:sp>
      <p:sp>
        <p:nvSpPr>
          <p:cNvPr id="46" name="Shape 44"/>
          <p:cNvSpPr/>
          <p:nvPr/>
        </p:nvSpPr>
        <p:spPr>
          <a:xfrm>
            <a:off x="7973568" y="4343400"/>
            <a:ext cx="73152" cy="1051560"/>
          </a:xfrm>
          <a:prstGeom prst="rect">
            <a:avLst/>
          </a:prstGeom>
          <a:solidFill>
            <a:srgbClr val="0E93B0"/>
          </a:solidFill>
          <a:ln/>
        </p:spPr>
      </p:sp>
      <p:sp>
        <p:nvSpPr>
          <p:cNvPr id="47" name="Text 45"/>
          <p:cNvSpPr/>
          <p:nvPr/>
        </p:nvSpPr>
        <p:spPr>
          <a:xfrm>
            <a:off x="8211312" y="4489704"/>
            <a:ext cx="3291840" cy="457200"/>
          </a:xfrm>
          <a:prstGeom prst="rect">
            <a:avLst/>
          </a:prstGeom>
          <a:noFill/>
          <a:ln/>
        </p:spPr>
        <p:txBody>
          <a:bodyPr wrap="square" lIns="0" tIns="0" rIns="0" bIns="0" rtlCol="0" anchor="t"/>
          <a:lstStyle/>
          <a:p>
            <a:pPr indent="0" marL="0">
              <a:buNone/>
            </a:pPr>
            <a:r>
              <a:rPr lang="en-US" sz="2200" b="1" dirty="0">
                <a:solidFill>
                  <a:srgbClr val="0E93B0"/>
                </a:solidFill>
                <a:latin typeface="Calibri" pitchFamily="34" charset="0"/>
                <a:ea typeface="Calibri" pitchFamily="34" charset="-122"/>
                <a:cs typeface="Calibri" pitchFamily="34" charset="-120"/>
              </a:rPr>
              <a:t>99%</a:t>
            </a:r>
            <a:endParaRPr lang="en-US" sz="2200" dirty="0"/>
          </a:p>
        </p:txBody>
      </p:sp>
      <p:sp>
        <p:nvSpPr>
          <p:cNvPr id="48" name="Text 46"/>
          <p:cNvSpPr/>
          <p:nvPr/>
        </p:nvSpPr>
        <p:spPr>
          <a:xfrm>
            <a:off x="8211312" y="4928616"/>
            <a:ext cx="3200400" cy="365760"/>
          </a:xfrm>
          <a:prstGeom prst="rect">
            <a:avLst/>
          </a:prstGeom>
          <a:noFill/>
          <a:ln/>
        </p:spPr>
        <p:txBody>
          <a:bodyPr wrap="square" lIns="0" tIns="0" rIns="0" bIns="0" rtlCol="0" anchor="t"/>
          <a:lstStyle/>
          <a:p>
            <a:pPr indent="0" marL="0">
              <a:lnSpc>
                <a:spcPct val="100000"/>
              </a:lnSpc>
              <a:buNone/>
            </a:pPr>
            <a:r>
              <a:rPr lang="en-US" sz="950" dirty="0">
                <a:solidFill>
                  <a:srgbClr val="8A97A8"/>
                </a:solidFill>
                <a:latin typeface="Calibri" pitchFamily="34" charset="0"/>
                <a:ea typeface="Calibri" pitchFamily="34" charset="-122"/>
                <a:cs typeface="Calibri" pitchFamily="34" charset="-120"/>
              </a:rPr>
              <a:t>similar-part recognition on a live example</a:t>
            </a:r>
            <a:endParaRPr lang="en-US" sz="950" dirty="0"/>
          </a:p>
        </p:txBody>
      </p:sp>
      <p:sp>
        <p:nvSpPr>
          <p:cNvPr id="49" name="Shape 47"/>
          <p:cNvSpPr/>
          <p:nvPr/>
        </p:nvSpPr>
        <p:spPr>
          <a:xfrm>
            <a:off x="548640" y="6400800"/>
            <a:ext cx="11094415" cy="12802"/>
          </a:xfrm>
          <a:prstGeom prst="rect">
            <a:avLst/>
          </a:prstGeom>
          <a:solidFill>
            <a:srgbClr val="E4EAF2"/>
          </a:solidFill>
          <a:ln/>
        </p:spPr>
      </p:sp>
      <p:sp>
        <p:nvSpPr>
          <p:cNvPr id="50" name="Text 48"/>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1" name="Text 4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17 / 25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93B0"/>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93B0"/>
                </a:solidFill>
                <a:latin typeface="Calibri" pitchFamily="34" charset="0"/>
                <a:ea typeface="Calibri" pitchFamily="34" charset="-122"/>
                <a:cs typeface="Calibri" pitchFamily="34" charset="-120"/>
              </a:rPr>
              <a:t>NEW IN 2026</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Advanced intelligence — beyond the estimate</a:t>
            </a:r>
            <a:endParaRPr lang="en-US" sz="2400" dirty="0"/>
          </a:p>
        </p:txBody>
      </p:sp>
      <p:sp>
        <p:nvSpPr>
          <p:cNvPr id="9" name="Shape 7"/>
          <p:cNvSpPr/>
          <p:nvPr/>
        </p:nvSpPr>
        <p:spPr>
          <a:xfrm>
            <a:off x="548640" y="1371600"/>
            <a:ext cx="1051560" cy="45720"/>
          </a:xfrm>
          <a:prstGeom prst="rect">
            <a:avLst/>
          </a:prstGeom>
          <a:solidFill>
            <a:srgbClr val="0E93B0"/>
          </a:solidFill>
          <a:ln/>
        </p:spPr>
      </p:sp>
      <p:sp>
        <p:nvSpPr>
          <p:cNvPr id="10" name="Shape 8"/>
          <p:cNvSpPr/>
          <p:nvPr/>
        </p:nvSpPr>
        <p:spPr>
          <a:xfrm>
            <a:off x="548640" y="1691640"/>
            <a:ext cx="5422392" cy="1874520"/>
          </a:xfrm>
          <a:prstGeom prst="roundRect">
            <a:avLst>
              <a:gd name="adj" fmla="val 3415"/>
            </a:avLst>
          </a:prstGeom>
          <a:solidFill>
            <a:srgbClr val="FFFFFF"/>
          </a:solidFill>
          <a:ln w="12700">
            <a:solidFill>
              <a:srgbClr val="E4EAF2"/>
            </a:solidFill>
            <a:prstDash val="solid"/>
          </a:ln>
          <a:effectLst>
            <a:outerShdw sx="100000" sy="100000" kx="0" ky="0" algn="bl" rotWithShape="0" blurRad="1.0846361819822852e+206" dist="3.0989605199493864e+205" dir="7.27453149718288e+240">
              <a:srgbClr val="9DB0CC">
                <a:alpha val="2.200000000000001e+249"/>
              </a:srgbClr>
            </a:outerShdw>
          </a:effectLst>
        </p:spPr>
      </p:sp>
      <p:sp>
        <p:nvSpPr>
          <p:cNvPr id="11" name="Shape 9"/>
          <p:cNvSpPr/>
          <p:nvPr/>
        </p:nvSpPr>
        <p:spPr>
          <a:xfrm>
            <a:off x="548640" y="1691640"/>
            <a:ext cx="82296" cy="1874520"/>
          </a:xfrm>
          <a:prstGeom prst="rect">
            <a:avLst/>
          </a:prstGeom>
          <a:solidFill>
            <a:srgbClr val="2563EB"/>
          </a:solidFill>
          <a:ln/>
        </p:spPr>
      </p:sp>
      <p:sp>
        <p:nvSpPr>
          <p:cNvPr id="12" name="Shape 10"/>
          <p:cNvSpPr/>
          <p:nvPr/>
        </p:nvSpPr>
        <p:spPr>
          <a:xfrm>
            <a:off x="822960" y="1965960"/>
            <a:ext cx="548640" cy="548640"/>
          </a:xfrm>
          <a:prstGeom prst="ellipse">
            <a:avLst/>
          </a:prstGeom>
          <a:solidFill>
            <a:srgbClr val="EAF1FE"/>
          </a:solidFill>
          <a:ln/>
        </p:spPr>
      </p:sp>
      <p:sp>
        <p:nvSpPr>
          <p:cNvPr id="13" name="Text 11"/>
          <p:cNvSpPr/>
          <p:nvPr/>
        </p:nvSpPr>
        <p:spPr>
          <a:xfrm>
            <a:off x="822960" y="1956816"/>
            <a:ext cx="548640" cy="548640"/>
          </a:xfrm>
          <a:prstGeom prst="rect">
            <a:avLst/>
          </a:prstGeom>
          <a:noFill/>
          <a:ln/>
        </p:spPr>
        <p:txBody>
          <a:bodyPr wrap="square" lIns="0" tIns="0" rIns="0" bIns="0" rtlCol="0" anchor="ctr"/>
          <a:lstStyle/>
          <a:p>
            <a:pPr algn="ctr" indent="0" marL="0">
              <a:buNone/>
            </a:pPr>
            <a:r>
              <a:rPr lang="en-US" sz="2000" b="1" dirty="0">
                <a:solidFill>
                  <a:srgbClr val="2563EB"/>
                </a:solidFill>
                <a:latin typeface="Calibri" pitchFamily="34" charset="0"/>
                <a:ea typeface="Calibri" pitchFamily="34" charset="-122"/>
                <a:cs typeface="Calibri" pitchFamily="34" charset="-120"/>
              </a:rPr>
              <a:t>◈</a:t>
            </a:r>
            <a:endParaRPr lang="en-US" sz="2000" dirty="0"/>
          </a:p>
        </p:txBody>
      </p:sp>
      <p:sp>
        <p:nvSpPr>
          <p:cNvPr id="14" name="Text 12"/>
          <p:cNvSpPr/>
          <p:nvPr/>
        </p:nvSpPr>
        <p:spPr>
          <a:xfrm>
            <a:off x="1517904" y="2002536"/>
            <a:ext cx="4297680" cy="411480"/>
          </a:xfrm>
          <a:prstGeom prst="rect">
            <a:avLst/>
          </a:prstGeom>
          <a:noFill/>
          <a:ln/>
        </p:spPr>
        <p:txBody>
          <a:bodyPr wrap="square" lIns="0" tIns="0" rIns="0" bIns="0" rtlCol="0" anchor="ctr"/>
          <a:lstStyle/>
          <a:p>
            <a:pPr indent="0" marL="0">
              <a:lnSpc>
                <a:spcPct val="95000"/>
              </a:lnSpc>
              <a:buNone/>
            </a:pPr>
            <a:r>
              <a:rPr lang="en-US" sz="1450" b="1" dirty="0">
                <a:solidFill>
                  <a:srgbClr val="2563EB"/>
                </a:solidFill>
                <a:latin typeface="Calibri" pitchFamily="34" charset="0"/>
                <a:ea typeface="Calibri" pitchFamily="34" charset="-122"/>
                <a:cs typeface="Calibri" pitchFamily="34" charset="-120"/>
              </a:rPr>
              <a:t>Conformal confidence bands</a:t>
            </a:r>
            <a:endParaRPr lang="en-US" sz="1450" dirty="0"/>
          </a:p>
        </p:txBody>
      </p:sp>
      <p:sp>
        <p:nvSpPr>
          <p:cNvPr id="15" name="Text 13"/>
          <p:cNvSpPr/>
          <p:nvPr/>
        </p:nvSpPr>
        <p:spPr>
          <a:xfrm>
            <a:off x="841248" y="2651760"/>
            <a:ext cx="5029200" cy="822960"/>
          </a:xfrm>
          <a:prstGeom prst="rect">
            <a:avLst/>
          </a:prstGeom>
          <a:noFill/>
          <a:ln/>
        </p:spPr>
        <p:txBody>
          <a:bodyPr wrap="square" lIns="0" tIns="0" rIns="0" bIns="0" rtlCol="0" anchor="t"/>
          <a:lstStyle/>
          <a:p>
            <a:pPr indent="0" marL="0">
              <a:lnSpc>
                <a:spcPct val="116000"/>
              </a:lnSpc>
              <a:buNone/>
            </a:pPr>
            <a:r>
              <a:rPr lang="en-US" sz="1100" dirty="0">
                <a:solidFill>
                  <a:srgbClr val="3E4C63"/>
                </a:solidFill>
                <a:latin typeface="Calibri" pitchFamily="34" charset="0"/>
                <a:ea typeface="Calibri" pitchFamily="34" charset="-122"/>
                <a:cs typeface="Calibri" pitchFamily="34" charset="-120"/>
              </a:rPr>
              <a:t>A statistically-guaranteed range proven against your own logged quotes — "90% land within ±6.5%", evidence not assertion.</a:t>
            </a:r>
            <a:endParaRPr lang="en-US" sz="1100" dirty="0"/>
          </a:p>
        </p:txBody>
      </p:sp>
      <p:sp>
        <p:nvSpPr>
          <p:cNvPr id="16" name="Shape 14"/>
          <p:cNvSpPr/>
          <p:nvPr/>
        </p:nvSpPr>
        <p:spPr>
          <a:xfrm>
            <a:off x="6217920" y="1691640"/>
            <a:ext cx="5422392" cy="1874520"/>
          </a:xfrm>
          <a:prstGeom prst="roundRect">
            <a:avLst>
              <a:gd name="adj" fmla="val 3415"/>
            </a:avLst>
          </a:prstGeom>
          <a:solidFill>
            <a:srgbClr val="FFFFFF"/>
          </a:solidFill>
          <a:ln w="12700">
            <a:solidFill>
              <a:srgbClr val="E4EAF2"/>
            </a:solidFill>
            <a:prstDash val="solid"/>
          </a:ln>
          <a:effectLst>
            <a:outerShdw sx="100000" sy="100000" kx="0" ky="0" algn="bl" rotWithShape="0" blurRad="1.3774879511175023e+210" dist="3.9356798603357206e+209" dir="4.364718898309728e+245">
              <a:srgbClr val="9DB0CC">
                <a:alpha val="2.200000000000001e+254"/>
              </a:srgbClr>
            </a:outerShdw>
          </a:effectLst>
        </p:spPr>
      </p:sp>
      <p:sp>
        <p:nvSpPr>
          <p:cNvPr id="17" name="Shape 15"/>
          <p:cNvSpPr/>
          <p:nvPr/>
        </p:nvSpPr>
        <p:spPr>
          <a:xfrm>
            <a:off x="6217920" y="1691640"/>
            <a:ext cx="82296" cy="1874520"/>
          </a:xfrm>
          <a:prstGeom prst="rect">
            <a:avLst/>
          </a:prstGeom>
          <a:solidFill>
            <a:srgbClr val="7C3AED"/>
          </a:solidFill>
          <a:ln/>
        </p:spPr>
      </p:sp>
      <p:sp>
        <p:nvSpPr>
          <p:cNvPr id="18" name="Shape 16"/>
          <p:cNvSpPr/>
          <p:nvPr/>
        </p:nvSpPr>
        <p:spPr>
          <a:xfrm>
            <a:off x="6492240" y="1965960"/>
            <a:ext cx="548640" cy="548640"/>
          </a:xfrm>
          <a:prstGeom prst="ellipse">
            <a:avLst/>
          </a:prstGeom>
          <a:solidFill>
            <a:srgbClr val="F3EEFE"/>
          </a:solidFill>
          <a:ln/>
        </p:spPr>
      </p:sp>
      <p:sp>
        <p:nvSpPr>
          <p:cNvPr id="19" name="Text 17"/>
          <p:cNvSpPr/>
          <p:nvPr/>
        </p:nvSpPr>
        <p:spPr>
          <a:xfrm>
            <a:off x="6492240" y="1956816"/>
            <a:ext cx="548640" cy="548640"/>
          </a:xfrm>
          <a:prstGeom prst="rect">
            <a:avLst/>
          </a:prstGeom>
          <a:noFill/>
          <a:ln/>
        </p:spPr>
        <p:txBody>
          <a:bodyPr wrap="square" lIns="0" tIns="0" rIns="0" bIns="0" rtlCol="0" anchor="ctr"/>
          <a:lstStyle/>
          <a:p>
            <a:pPr algn="ctr" indent="0" marL="0">
              <a:buNone/>
            </a:pPr>
            <a:r>
              <a:rPr lang="en-US" sz="2000" b="1" dirty="0">
                <a:solidFill>
                  <a:srgbClr val="7C3AED"/>
                </a:solidFill>
                <a:latin typeface="Calibri" pitchFamily="34" charset="0"/>
                <a:ea typeface="Calibri" pitchFamily="34" charset="-122"/>
                <a:cs typeface="Calibri" pitchFamily="34" charset="-120"/>
              </a:rPr>
              <a:t>✦</a:t>
            </a:r>
            <a:endParaRPr lang="en-US" sz="2000" dirty="0"/>
          </a:p>
        </p:txBody>
      </p:sp>
      <p:sp>
        <p:nvSpPr>
          <p:cNvPr id="20" name="Text 18"/>
          <p:cNvSpPr/>
          <p:nvPr/>
        </p:nvSpPr>
        <p:spPr>
          <a:xfrm>
            <a:off x="7187184" y="2002536"/>
            <a:ext cx="4297680" cy="411480"/>
          </a:xfrm>
          <a:prstGeom prst="rect">
            <a:avLst/>
          </a:prstGeom>
          <a:noFill/>
          <a:ln/>
        </p:spPr>
        <p:txBody>
          <a:bodyPr wrap="square" lIns="0" tIns="0" rIns="0" bIns="0" rtlCol="0" anchor="ctr"/>
          <a:lstStyle/>
          <a:p>
            <a:pPr indent="0" marL="0">
              <a:lnSpc>
                <a:spcPct val="95000"/>
              </a:lnSpc>
              <a:buNone/>
            </a:pPr>
            <a:r>
              <a:rPr lang="en-US" sz="1450" b="1" dirty="0">
                <a:solidFill>
                  <a:srgbClr val="7C3AED"/>
                </a:solidFill>
                <a:latin typeface="Calibri" pitchFamily="34" charset="0"/>
                <a:ea typeface="Calibri" pitchFamily="34" charset="-122"/>
                <a:cs typeface="Calibri" pitchFamily="34" charset="-120"/>
              </a:rPr>
              <a:t>Causal negotiation coach</a:t>
            </a:r>
            <a:endParaRPr lang="en-US" sz="1450" dirty="0"/>
          </a:p>
        </p:txBody>
      </p:sp>
      <p:sp>
        <p:nvSpPr>
          <p:cNvPr id="21" name="Text 19"/>
          <p:cNvSpPr/>
          <p:nvPr/>
        </p:nvSpPr>
        <p:spPr>
          <a:xfrm>
            <a:off x="6510528" y="2651760"/>
            <a:ext cx="5029200" cy="822960"/>
          </a:xfrm>
          <a:prstGeom prst="rect">
            <a:avLst/>
          </a:prstGeom>
          <a:noFill/>
          <a:ln/>
        </p:spPr>
        <p:txBody>
          <a:bodyPr wrap="square" lIns="0" tIns="0" rIns="0" bIns="0" rtlCol="0" anchor="t"/>
          <a:lstStyle/>
          <a:p>
            <a:pPr indent="0" marL="0">
              <a:lnSpc>
                <a:spcPct val="116000"/>
              </a:lnSpc>
              <a:buNone/>
            </a:pPr>
            <a:r>
              <a:rPr lang="en-US" sz="1100" dirty="0">
                <a:solidFill>
                  <a:srgbClr val="3E4C63"/>
                </a:solidFill>
                <a:latin typeface="Calibri" pitchFamily="34" charset="0"/>
                <a:ea typeface="Calibri" pitchFamily="34" charset="-122"/>
                <a:cs typeface="Calibri" pitchFamily="34" charset="-120"/>
              </a:rPr>
              <a:t>Knows why a part costs what it does and writes the argument: "every 1% move in aluminium shifts price by £0.11".</a:t>
            </a:r>
            <a:endParaRPr lang="en-US" sz="1100" dirty="0"/>
          </a:p>
        </p:txBody>
      </p:sp>
      <p:sp>
        <p:nvSpPr>
          <p:cNvPr id="22" name="Shape 20"/>
          <p:cNvSpPr/>
          <p:nvPr/>
        </p:nvSpPr>
        <p:spPr>
          <a:xfrm>
            <a:off x="548640" y="3749040"/>
            <a:ext cx="5422392" cy="1874520"/>
          </a:xfrm>
          <a:prstGeom prst="roundRect">
            <a:avLst>
              <a:gd name="adj" fmla="val 3415"/>
            </a:avLst>
          </a:prstGeom>
          <a:solidFill>
            <a:srgbClr val="FFFFFF"/>
          </a:solidFill>
          <a:ln w="12700">
            <a:solidFill>
              <a:srgbClr val="E4EAF2"/>
            </a:solidFill>
            <a:prstDash val="solid"/>
          </a:ln>
          <a:effectLst>
            <a:outerShdw sx="100000" sy="100000" kx="0" ky="0" algn="bl" rotWithShape="0" blurRad="1.7494096979192279e+214" dist="4.9983134226263654e+213" dir="2.6188313389858368e+250">
              <a:srgbClr val="9DB0CC">
                <a:alpha val="2.200000000000001e+259"/>
              </a:srgbClr>
            </a:outerShdw>
          </a:effectLst>
        </p:spPr>
      </p:sp>
      <p:sp>
        <p:nvSpPr>
          <p:cNvPr id="23" name="Shape 21"/>
          <p:cNvSpPr/>
          <p:nvPr/>
        </p:nvSpPr>
        <p:spPr>
          <a:xfrm>
            <a:off x="548640" y="3749040"/>
            <a:ext cx="82296" cy="1874520"/>
          </a:xfrm>
          <a:prstGeom prst="rect">
            <a:avLst/>
          </a:prstGeom>
          <a:solidFill>
            <a:srgbClr val="E0900C"/>
          </a:solidFill>
          <a:ln/>
        </p:spPr>
      </p:sp>
      <p:sp>
        <p:nvSpPr>
          <p:cNvPr id="24" name="Shape 22"/>
          <p:cNvSpPr/>
          <p:nvPr/>
        </p:nvSpPr>
        <p:spPr>
          <a:xfrm>
            <a:off x="822960" y="4023360"/>
            <a:ext cx="548640" cy="548640"/>
          </a:xfrm>
          <a:prstGeom prst="ellipse">
            <a:avLst/>
          </a:prstGeom>
          <a:solidFill>
            <a:srgbClr val="FEF6E7"/>
          </a:solidFill>
          <a:ln/>
        </p:spPr>
      </p:sp>
      <p:sp>
        <p:nvSpPr>
          <p:cNvPr id="25" name="Text 23"/>
          <p:cNvSpPr/>
          <p:nvPr/>
        </p:nvSpPr>
        <p:spPr>
          <a:xfrm>
            <a:off x="822960" y="4014216"/>
            <a:ext cx="548640" cy="548640"/>
          </a:xfrm>
          <a:prstGeom prst="rect">
            <a:avLst/>
          </a:prstGeom>
          <a:noFill/>
          <a:ln/>
        </p:spPr>
        <p:txBody>
          <a:bodyPr wrap="square" lIns="0" tIns="0" rIns="0" bIns="0" rtlCol="0" anchor="ctr"/>
          <a:lstStyle/>
          <a:p>
            <a:pPr algn="ctr" indent="0" marL="0">
              <a:buNone/>
            </a:pPr>
            <a:r>
              <a:rPr lang="en-US" sz="2000" b="1" dirty="0">
                <a:solidFill>
                  <a:srgbClr val="E0900C"/>
                </a:solidFill>
                <a:latin typeface="Calibri" pitchFamily="34" charset="0"/>
                <a:ea typeface="Calibri" pitchFamily="34" charset="-122"/>
                <a:cs typeface="Calibri" pitchFamily="34" charset="-120"/>
              </a:rPr>
              <a:t>◧</a:t>
            </a:r>
            <a:endParaRPr lang="en-US" sz="2000" dirty="0"/>
          </a:p>
        </p:txBody>
      </p:sp>
      <p:sp>
        <p:nvSpPr>
          <p:cNvPr id="26" name="Text 24"/>
          <p:cNvSpPr/>
          <p:nvPr/>
        </p:nvSpPr>
        <p:spPr>
          <a:xfrm>
            <a:off x="1517904" y="4059936"/>
            <a:ext cx="4297680" cy="411480"/>
          </a:xfrm>
          <a:prstGeom prst="rect">
            <a:avLst/>
          </a:prstGeom>
          <a:noFill/>
          <a:ln/>
        </p:spPr>
        <p:txBody>
          <a:bodyPr wrap="square" lIns="0" tIns="0" rIns="0" bIns="0" rtlCol="0" anchor="ctr"/>
          <a:lstStyle/>
          <a:p>
            <a:pPr indent="0" marL="0">
              <a:lnSpc>
                <a:spcPct val="95000"/>
              </a:lnSpc>
              <a:buNone/>
            </a:pPr>
            <a:r>
              <a:rPr lang="en-US" sz="1450" b="1" dirty="0">
                <a:solidFill>
                  <a:srgbClr val="E0900C"/>
                </a:solidFill>
                <a:latin typeface="Calibri" pitchFamily="34" charset="0"/>
                <a:ea typeface="Calibri" pitchFamily="34" charset="-122"/>
                <a:cs typeface="Calibri" pitchFamily="34" charset="-120"/>
              </a:rPr>
              <a:t>What-if scenario engine</a:t>
            </a:r>
            <a:endParaRPr lang="en-US" sz="1450" dirty="0"/>
          </a:p>
        </p:txBody>
      </p:sp>
      <p:sp>
        <p:nvSpPr>
          <p:cNvPr id="27" name="Text 25"/>
          <p:cNvSpPr/>
          <p:nvPr/>
        </p:nvSpPr>
        <p:spPr>
          <a:xfrm>
            <a:off x="841248" y="4709160"/>
            <a:ext cx="5029200" cy="822960"/>
          </a:xfrm>
          <a:prstGeom prst="rect">
            <a:avLst/>
          </a:prstGeom>
          <a:noFill/>
          <a:ln/>
        </p:spPr>
        <p:txBody>
          <a:bodyPr wrap="square" lIns="0" tIns="0" rIns="0" bIns="0" rtlCol="0" anchor="t"/>
          <a:lstStyle/>
          <a:p>
            <a:pPr indent="0" marL="0">
              <a:lnSpc>
                <a:spcPct val="116000"/>
              </a:lnSpc>
              <a:buNone/>
            </a:pPr>
            <a:r>
              <a:rPr lang="en-US" sz="1100" dirty="0">
                <a:solidFill>
                  <a:srgbClr val="3E4C63"/>
                </a:solidFill>
                <a:latin typeface="Calibri" pitchFamily="34" charset="0"/>
                <a:ea typeface="Calibri" pitchFamily="34" charset="-122"/>
                <a:cs typeface="Calibri" pitchFamily="34" charset="-120"/>
              </a:rPr>
              <a:t>Move a commodity ±20% and see the price recompute — for one part or the whole portfolio, instantly.</a:t>
            </a:r>
            <a:endParaRPr lang="en-US" sz="1100" dirty="0"/>
          </a:p>
        </p:txBody>
      </p:sp>
      <p:sp>
        <p:nvSpPr>
          <p:cNvPr id="28" name="Shape 26"/>
          <p:cNvSpPr/>
          <p:nvPr/>
        </p:nvSpPr>
        <p:spPr>
          <a:xfrm>
            <a:off x="6217920" y="3749040"/>
            <a:ext cx="5422392" cy="1874520"/>
          </a:xfrm>
          <a:prstGeom prst="roundRect">
            <a:avLst>
              <a:gd name="adj" fmla="val 3415"/>
            </a:avLst>
          </a:prstGeom>
          <a:solidFill>
            <a:srgbClr val="FFFFFF"/>
          </a:solidFill>
          <a:ln w="12700">
            <a:solidFill>
              <a:srgbClr val="E4EAF2"/>
            </a:solidFill>
            <a:prstDash val="solid"/>
          </a:ln>
          <a:effectLst>
            <a:outerShdw sx="100000" sy="100000" kx="0" ky="0" algn="bl" rotWithShape="0" blurRad="2.2217503163574194e+218" dist="6.347858046735484e+217" dir="1.571298803391502e+255">
              <a:srgbClr val="9DB0CC">
                <a:alpha val="2.200000000000001e+264"/>
              </a:srgbClr>
            </a:outerShdw>
          </a:effectLst>
        </p:spPr>
      </p:sp>
      <p:sp>
        <p:nvSpPr>
          <p:cNvPr id="29" name="Shape 27"/>
          <p:cNvSpPr/>
          <p:nvPr/>
        </p:nvSpPr>
        <p:spPr>
          <a:xfrm>
            <a:off x="6217920" y="3749040"/>
            <a:ext cx="82296" cy="1874520"/>
          </a:xfrm>
          <a:prstGeom prst="rect">
            <a:avLst/>
          </a:prstGeom>
          <a:solidFill>
            <a:srgbClr val="0EA472"/>
          </a:solidFill>
          <a:ln/>
        </p:spPr>
      </p:sp>
      <p:sp>
        <p:nvSpPr>
          <p:cNvPr id="30" name="Shape 28"/>
          <p:cNvSpPr/>
          <p:nvPr/>
        </p:nvSpPr>
        <p:spPr>
          <a:xfrm>
            <a:off x="6492240" y="4023360"/>
            <a:ext cx="548640" cy="548640"/>
          </a:xfrm>
          <a:prstGeom prst="ellipse">
            <a:avLst/>
          </a:prstGeom>
          <a:solidFill>
            <a:srgbClr val="E7F7F0"/>
          </a:solidFill>
          <a:ln/>
        </p:spPr>
      </p:sp>
      <p:sp>
        <p:nvSpPr>
          <p:cNvPr id="31" name="Text 29"/>
          <p:cNvSpPr/>
          <p:nvPr/>
        </p:nvSpPr>
        <p:spPr>
          <a:xfrm>
            <a:off x="6492240" y="4014216"/>
            <a:ext cx="548640" cy="548640"/>
          </a:xfrm>
          <a:prstGeom prst="rect">
            <a:avLst/>
          </a:prstGeom>
          <a:noFill/>
          <a:ln/>
        </p:spPr>
        <p:txBody>
          <a:bodyPr wrap="square" lIns="0" tIns="0" rIns="0" bIns="0" rtlCol="0" anchor="ctr"/>
          <a:lstStyle/>
          <a:p>
            <a:pPr algn="ctr" indent="0" marL="0">
              <a:buNone/>
            </a:pPr>
            <a:r>
              <a:rPr lang="en-US" sz="2000" b="1" dirty="0">
                <a:solidFill>
                  <a:srgbClr val="0EA472"/>
                </a:solidFill>
                <a:latin typeface="Calibri" pitchFamily="34" charset="0"/>
                <a:ea typeface="Calibri" pitchFamily="34" charset="-122"/>
                <a:cs typeface="Calibri" pitchFamily="34" charset="-120"/>
              </a:rPr>
              <a:t>♢</a:t>
            </a:r>
            <a:endParaRPr lang="en-US" sz="2000" dirty="0"/>
          </a:p>
        </p:txBody>
      </p:sp>
      <p:sp>
        <p:nvSpPr>
          <p:cNvPr id="32" name="Text 30"/>
          <p:cNvSpPr/>
          <p:nvPr/>
        </p:nvSpPr>
        <p:spPr>
          <a:xfrm>
            <a:off x="7187184" y="4059936"/>
            <a:ext cx="4297680" cy="411480"/>
          </a:xfrm>
          <a:prstGeom prst="rect">
            <a:avLst/>
          </a:prstGeom>
          <a:noFill/>
          <a:ln/>
        </p:spPr>
        <p:txBody>
          <a:bodyPr wrap="square" lIns="0" tIns="0" rIns="0" bIns="0" rtlCol="0" anchor="ctr"/>
          <a:lstStyle/>
          <a:p>
            <a:pPr indent="0" marL="0">
              <a:lnSpc>
                <a:spcPct val="95000"/>
              </a:lnSpc>
              <a:buNone/>
            </a:pPr>
            <a:r>
              <a:rPr lang="en-US" sz="1450" b="1" dirty="0">
                <a:solidFill>
                  <a:srgbClr val="0EA472"/>
                </a:solidFill>
                <a:latin typeface="Calibri" pitchFamily="34" charset="0"/>
                <a:ea typeface="Calibri" pitchFamily="34" charset="-122"/>
                <a:cs typeface="Calibri" pitchFamily="34" charset="-120"/>
              </a:rPr>
              <a:t>Carbon co-costing</a:t>
            </a:r>
            <a:endParaRPr lang="en-US" sz="1450" dirty="0"/>
          </a:p>
        </p:txBody>
      </p:sp>
      <p:sp>
        <p:nvSpPr>
          <p:cNvPr id="33" name="Text 31"/>
          <p:cNvSpPr/>
          <p:nvPr/>
        </p:nvSpPr>
        <p:spPr>
          <a:xfrm>
            <a:off x="6510528" y="4709160"/>
            <a:ext cx="5029200" cy="822960"/>
          </a:xfrm>
          <a:prstGeom prst="rect">
            <a:avLst/>
          </a:prstGeom>
          <a:noFill/>
          <a:ln/>
        </p:spPr>
        <p:txBody>
          <a:bodyPr wrap="square" lIns="0" tIns="0" rIns="0" bIns="0" rtlCol="0" anchor="t"/>
          <a:lstStyle/>
          <a:p>
            <a:pPr indent="0" marL="0">
              <a:lnSpc>
                <a:spcPct val="116000"/>
              </a:lnSpc>
              <a:buNone/>
            </a:pPr>
            <a:r>
              <a:rPr lang="en-US" sz="1100" dirty="0">
                <a:solidFill>
                  <a:srgbClr val="3E4C63"/>
                </a:solidFill>
                <a:latin typeface="Calibri" pitchFamily="34" charset="0"/>
                <a:ea typeface="Calibri" pitchFamily="34" charset="-122"/>
                <a:cs typeface="Calibri" pitchFamily="34" charset="-120"/>
              </a:rPr>
              <a:t>Every part gets a CO₂e figure alongside the £ — increasingly required in automotive &amp; aerospace RFQs.</a:t>
            </a:r>
            <a:endParaRPr lang="en-US" sz="1100" dirty="0"/>
          </a:p>
        </p:txBody>
      </p:sp>
      <p:sp>
        <p:nvSpPr>
          <p:cNvPr id="34" name="Shape 32"/>
          <p:cNvSpPr/>
          <p:nvPr/>
        </p:nvSpPr>
        <p:spPr>
          <a:xfrm>
            <a:off x="548640" y="5669280"/>
            <a:ext cx="11091672" cy="457200"/>
          </a:xfrm>
          <a:prstGeom prst="roundRect">
            <a:avLst>
              <a:gd name="adj" fmla="val 14000"/>
            </a:avLst>
          </a:prstGeom>
          <a:solidFill>
            <a:srgbClr val="F4F7FB"/>
          </a:solidFill>
          <a:ln w="12700">
            <a:solidFill>
              <a:srgbClr val="E4EAF2"/>
            </a:solidFill>
            <a:prstDash val="solid"/>
          </a:ln>
        </p:spPr>
      </p:sp>
      <p:sp>
        <p:nvSpPr>
          <p:cNvPr id="35" name="Text 33"/>
          <p:cNvSpPr/>
          <p:nvPr/>
        </p:nvSpPr>
        <p:spPr>
          <a:xfrm>
            <a:off x="868680" y="5669280"/>
            <a:ext cx="10424160" cy="457200"/>
          </a:xfrm>
          <a:prstGeom prst="rect">
            <a:avLst/>
          </a:prstGeom>
          <a:noFill/>
          <a:ln/>
        </p:spPr>
        <p:txBody>
          <a:bodyPr wrap="square" lIns="0" tIns="0" rIns="0" bIns="0" rtlCol="0" anchor="ctr"/>
          <a:lstStyle/>
          <a:p>
            <a:pPr indent="0" marL="0">
              <a:buNone/>
            </a:pPr>
            <a:r>
              <a:rPr lang="en-US" sz="1150" i="1" dirty="0">
                <a:solidFill>
                  <a:srgbClr val="8A97A8"/>
                </a:solidFill>
                <a:latin typeface="Calibri" pitchFamily="34" charset="0"/>
                <a:ea typeface="Calibri" pitchFamily="34" charset="-122"/>
                <a:cs typeface="Calibri" pitchFamily="34" charset="-120"/>
              </a:rPr>
              <a:t>Each of these turns a number into a decision — a defensible range, a negotiating sentence, a risk pre-empted, a carbon figure.</a:t>
            </a:r>
            <a:endParaRPr lang="en-US" sz="1150" dirty="0"/>
          </a:p>
        </p:txBody>
      </p:sp>
      <p:sp>
        <p:nvSpPr>
          <p:cNvPr id="36" name="Shape 34"/>
          <p:cNvSpPr/>
          <p:nvPr/>
        </p:nvSpPr>
        <p:spPr>
          <a:xfrm>
            <a:off x="548640" y="6400800"/>
            <a:ext cx="11094415" cy="12802"/>
          </a:xfrm>
          <a:prstGeom prst="rect">
            <a:avLst/>
          </a:prstGeom>
          <a:solidFill>
            <a:srgbClr val="E4EAF2"/>
          </a:solidFill>
          <a:ln/>
        </p:spPr>
      </p:sp>
      <p:sp>
        <p:nvSpPr>
          <p:cNvPr id="37" name="Text 35"/>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38" name="Text 36"/>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18 / 25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A472"/>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A472"/>
                </a:solidFill>
                <a:latin typeface="Calibri" pitchFamily="34" charset="0"/>
                <a:ea typeface="Calibri" pitchFamily="34" charset="-122"/>
                <a:cs typeface="Calibri" pitchFamily="34" charset="-120"/>
              </a:rPr>
              <a:t>ACCURACY &amp; TRUST</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Trust by design — glass-box, measured, tested</a:t>
            </a:r>
            <a:endParaRPr lang="en-US" sz="2400" dirty="0"/>
          </a:p>
        </p:txBody>
      </p:sp>
      <p:sp>
        <p:nvSpPr>
          <p:cNvPr id="9" name="Shape 7"/>
          <p:cNvSpPr/>
          <p:nvPr/>
        </p:nvSpPr>
        <p:spPr>
          <a:xfrm>
            <a:off x="548640" y="1371600"/>
            <a:ext cx="1051560" cy="45720"/>
          </a:xfrm>
          <a:prstGeom prst="rect">
            <a:avLst/>
          </a:prstGeom>
          <a:solidFill>
            <a:srgbClr val="0EA472"/>
          </a:solidFill>
          <a:ln/>
        </p:spPr>
      </p:sp>
      <p:sp>
        <p:nvSpPr>
          <p:cNvPr id="10" name="Shape 8"/>
          <p:cNvSpPr/>
          <p:nvPr/>
        </p:nvSpPr>
        <p:spPr>
          <a:xfrm>
            <a:off x="548640" y="1691640"/>
            <a:ext cx="5422392" cy="1417320"/>
          </a:xfrm>
          <a:prstGeom prst="roundRect">
            <a:avLst>
              <a:gd name="adj" fmla="val 4516"/>
            </a:avLst>
          </a:prstGeom>
          <a:solidFill>
            <a:srgbClr val="FFFFFF"/>
          </a:solidFill>
          <a:ln w="12700">
            <a:solidFill>
              <a:srgbClr val="E4EAF2"/>
            </a:solidFill>
            <a:prstDash val="solid"/>
          </a:ln>
          <a:effectLst>
            <a:outerShdw sx="100000" sy="100000" kx="0" ky="0" algn="bl" rotWithShape="0" blurRad="2.8216229017739227e+222" dist="8.061779719354066e+221" dir="9.427792820349012e+259">
              <a:srgbClr val="9DB0CC">
                <a:alpha val="2.2000000000000007e+269"/>
              </a:srgbClr>
            </a:outerShdw>
          </a:effectLst>
        </p:spPr>
      </p:sp>
      <p:sp>
        <p:nvSpPr>
          <p:cNvPr id="11" name="Shape 9"/>
          <p:cNvSpPr/>
          <p:nvPr/>
        </p:nvSpPr>
        <p:spPr>
          <a:xfrm>
            <a:off x="548640" y="1691640"/>
            <a:ext cx="82296" cy="1417320"/>
          </a:xfrm>
          <a:prstGeom prst="rect">
            <a:avLst/>
          </a:prstGeom>
          <a:solidFill>
            <a:srgbClr val="2563EB"/>
          </a:solidFill>
          <a:ln/>
        </p:spPr>
      </p:sp>
      <p:sp>
        <p:nvSpPr>
          <p:cNvPr id="12" name="Shape 10"/>
          <p:cNvSpPr/>
          <p:nvPr/>
        </p:nvSpPr>
        <p:spPr>
          <a:xfrm>
            <a:off x="804672" y="1911096"/>
            <a:ext cx="457200" cy="457200"/>
          </a:xfrm>
          <a:prstGeom prst="ellipse">
            <a:avLst/>
          </a:prstGeom>
          <a:solidFill>
            <a:srgbClr val="EAF1FE"/>
          </a:solidFill>
          <a:ln/>
        </p:spPr>
      </p:sp>
      <p:sp>
        <p:nvSpPr>
          <p:cNvPr id="13" name="Text 11"/>
          <p:cNvSpPr/>
          <p:nvPr/>
        </p:nvSpPr>
        <p:spPr>
          <a:xfrm>
            <a:off x="804672" y="1901952"/>
            <a:ext cx="457200" cy="457200"/>
          </a:xfrm>
          <a:prstGeom prst="rect">
            <a:avLst/>
          </a:prstGeom>
          <a:noFill/>
          <a:ln/>
        </p:spPr>
        <p:txBody>
          <a:bodyPr wrap="square" lIns="0" tIns="0" rIns="0" bIns="0" rtlCol="0" anchor="ctr"/>
          <a:lstStyle/>
          <a:p>
            <a:pPr algn="ctr" indent="0" marL="0">
              <a:buNone/>
            </a:pPr>
            <a:r>
              <a:rPr lang="en-US" sz="1700" b="1" dirty="0">
                <a:solidFill>
                  <a:srgbClr val="2563EB"/>
                </a:solidFill>
                <a:latin typeface="Calibri" pitchFamily="34" charset="0"/>
                <a:ea typeface="Calibri" pitchFamily="34" charset="-122"/>
                <a:cs typeface="Calibri" pitchFamily="34" charset="-120"/>
              </a:rPr>
              <a:t>◆</a:t>
            </a:r>
            <a:endParaRPr lang="en-US" sz="1700" dirty="0"/>
          </a:p>
        </p:txBody>
      </p:sp>
      <p:sp>
        <p:nvSpPr>
          <p:cNvPr id="14" name="Text 12"/>
          <p:cNvSpPr/>
          <p:nvPr/>
        </p:nvSpPr>
        <p:spPr>
          <a:xfrm>
            <a:off x="1335024" y="1947672"/>
            <a:ext cx="4389120" cy="457200"/>
          </a:xfrm>
          <a:prstGeom prst="rect">
            <a:avLst/>
          </a:prstGeom>
          <a:noFill/>
          <a:ln/>
        </p:spPr>
        <p:txBody>
          <a:bodyPr wrap="square" lIns="0" tIns="0" rIns="0" bIns="0" rtlCol="0" anchor="ctr"/>
          <a:lstStyle/>
          <a:p>
            <a:pPr indent="0" marL="0">
              <a:buNone/>
            </a:pPr>
            <a:r>
              <a:rPr lang="en-US" sz="1350" b="1" dirty="0">
                <a:solidFill>
                  <a:srgbClr val="2563EB"/>
                </a:solidFill>
                <a:latin typeface="Calibri" pitchFamily="34" charset="0"/>
                <a:ea typeface="Calibri" pitchFamily="34" charset="-122"/>
                <a:cs typeface="Calibri" pitchFamily="34" charset="-120"/>
              </a:rPr>
              <a:t>Glass-box, never black-box</a:t>
            </a:r>
            <a:endParaRPr lang="en-US" sz="1350" dirty="0"/>
          </a:p>
        </p:txBody>
      </p:sp>
      <p:sp>
        <p:nvSpPr>
          <p:cNvPr id="15" name="Text 13"/>
          <p:cNvSpPr/>
          <p:nvPr/>
        </p:nvSpPr>
        <p:spPr>
          <a:xfrm>
            <a:off x="822960" y="2441448"/>
            <a:ext cx="4983480" cy="594360"/>
          </a:xfrm>
          <a:prstGeom prst="rect">
            <a:avLst/>
          </a:prstGeom>
          <a:noFill/>
          <a:ln/>
        </p:spPr>
        <p:txBody>
          <a:bodyPr wrap="square" lIns="0" tIns="0" rIns="0" bIns="0" rtlCol="0" anchor="t"/>
          <a:lstStyle/>
          <a:p>
            <a:pPr indent="0" marL="0">
              <a:lnSpc>
                <a:spcPct val="112000"/>
              </a:lnSpc>
              <a:buNone/>
            </a:pPr>
            <a:r>
              <a:rPr lang="en-US" sz="1050" dirty="0">
                <a:solidFill>
                  <a:srgbClr val="3E4C63"/>
                </a:solidFill>
                <a:latin typeface="Calibri" pitchFamily="34" charset="0"/>
                <a:ea typeface="Calibri" pitchFamily="34" charset="-122"/>
                <a:cs typeface="Calibri" pitchFamily="34" charset="-120"/>
              </a:rPr>
              <a:t>Every learned or derived number stays auditable — a value an engineer can read and defend. AI narrates; it never sets the price in secret.</a:t>
            </a:r>
            <a:endParaRPr lang="en-US" sz="1050" dirty="0"/>
          </a:p>
        </p:txBody>
      </p:sp>
      <p:sp>
        <p:nvSpPr>
          <p:cNvPr id="16" name="Shape 14"/>
          <p:cNvSpPr/>
          <p:nvPr/>
        </p:nvSpPr>
        <p:spPr>
          <a:xfrm>
            <a:off x="6217920" y="1691640"/>
            <a:ext cx="5422392" cy="1417320"/>
          </a:xfrm>
          <a:prstGeom prst="roundRect">
            <a:avLst>
              <a:gd name="adj" fmla="val 4516"/>
            </a:avLst>
          </a:prstGeom>
          <a:solidFill>
            <a:srgbClr val="FFFFFF"/>
          </a:solidFill>
          <a:ln w="12700">
            <a:solidFill>
              <a:srgbClr val="E4EAF2"/>
            </a:solidFill>
            <a:prstDash val="solid"/>
          </a:ln>
          <a:effectLst>
            <a:outerShdw sx="100000" sy="100000" kx="0" ky="0" algn="bl" rotWithShape="0" blurRad="3.5834610852528816e+226" dist="1.0238460243579663e+226" dir="5.656675692209407e+264">
              <a:srgbClr val="9DB0CC">
                <a:alpha val="2.200000000000001e+274"/>
              </a:srgbClr>
            </a:outerShdw>
          </a:effectLst>
        </p:spPr>
      </p:sp>
      <p:sp>
        <p:nvSpPr>
          <p:cNvPr id="17" name="Shape 15"/>
          <p:cNvSpPr/>
          <p:nvPr/>
        </p:nvSpPr>
        <p:spPr>
          <a:xfrm>
            <a:off x="6217920" y="1691640"/>
            <a:ext cx="82296" cy="1417320"/>
          </a:xfrm>
          <a:prstGeom prst="rect">
            <a:avLst/>
          </a:prstGeom>
          <a:solidFill>
            <a:srgbClr val="0DA5A0"/>
          </a:solidFill>
          <a:ln/>
        </p:spPr>
      </p:sp>
      <p:sp>
        <p:nvSpPr>
          <p:cNvPr id="18" name="Shape 16"/>
          <p:cNvSpPr/>
          <p:nvPr/>
        </p:nvSpPr>
        <p:spPr>
          <a:xfrm>
            <a:off x="6473952" y="1911096"/>
            <a:ext cx="457200" cy="457200"/>
          </a:xfrm>
          <a:prstGeom prst="ellipse">
            <a:avLst/>
          </a:prstGeom>
          <a:solidFill>
            <a:srgbClr val="E7F7F0"/>
          </a:solidFill>
          <a:ln/>
        </p:spPr>
      </p:sp>
      <p:sp>
        <p:nvSpPr>
          <p:cNvPr id="19" name="Text 17"/>
          <p:cNvSpPr/>
          <p:nvPr/>
        </p:nvSpPr>
        <p:spPr>
          <a:xfrm>
            <a:off x="6473952" y="1901952"/>
            <a:ext cx="457200" cy="457200"/>
          </a:xfrm>
          <a:prstGeom prst="rect">
            <a:avLst/>
          </a:prstGeom>
          <a:noFill/>
          <a:ln/>
        </p:spPr>
        <p:txBody>
          <a:bodyPr wrap="square" lIns="0" tIns="0" rIns="0" bIns="0" rtlCol="0" anchor="ctr"/>
          <a:lstStyle/>
          <a:p>
            <a:pPr algn="ctr" indent="0" marL="0">
              <a:buNone/>
            </a:pPr>
            <a:r>
              <a:rPr lang="en-US" sz="1700" b="1" dirty="0">
                <a:solidFill>
                  <a:srgbClr val="0DA5A0"/>
                </a:solidFill>
                <a:latin typeface="Calibri" pitchFamily="34" charset="0"/>
                <a:ea typeface="Calibri" pitchFamily="34" charset="-122"/>
                <a:cs typeface="Calibri" pitchFamily="34" charset="-120"/>
              </a:rPr>
              <a:t>◎</a:t>
            </a:r>
            <a:endParaRPr lang="en-US" sz="1700" dirty="0"/>
          </a:p>
        </p:txBody>
      </p:sp>
      <p:sp>
        <p:nvSpPr>
          <p:cNvPr id="20" name="Text 18"/>
          <p:cNvSpPr/>
          <p:nvPr/>
        </p:nvSpPr>
        <p:spPr>
          <a:xfrm>
            <a:off x="7004304" y="1947672"/>
            <a:ext cx="4389120" cy="457200"/>
          </a:xfrm>
          <a:prstGeom prst="rect">
            <a:avLst/>
          </a:prstGeom>
          <a:noFill/>
          <a:ln/>
        </p:spPr>
        <p:txBody>
          <a:bodyPr wrap="square" lIns="0" tIns="0" rIns="0" bIns="0" rtlCol="0" anchor="ctr"/>
          <a:lstStyle/>
          <a:p>
            <a:pPr indent="0" marL="0">
              <a:buNone/>
            </a:pPr>
            <a:r>
              <a:rPr lang="en-US" sz="1350" b="1" dirty="0">
                <a:solidFill>
                  <a:srgbClr val="0DA5A0"/>
                </a:solidFill>
                <a:latin typeface="Calibri" pitchFamily="34" charset="0"/>
                <a:ea typeface="Calibri" pitchFamily="34" charset="-122"/>
                <a:cs typeface="Calibri" pitchFamily="34" charset="-120"/>
              </a:rPr>
              <a:t>Measured, not asserted</a:t>
            </a:r>
            <a:endParaRPr lang="en-US" sz="1350" dirty="0"/>
          </a:p>
        </p:txBody>
      </p:sp>
      <p:sp>
        <p:nvSpPr>
          <p:cNvPr id="21" name="Text 19"/>
          <p:cNvSpPr/>
          <p:nvPr/>
        </p:nvSpPr>
        <p:spPr>
          <a:xfrm>
            <a:off x="6492240" y="2441448"/>
            <a:ext cx="4983480" cy="594360"/>
          </a:xfrm>
          <a:prstGeom prst="rect">
            <a:avLst/>
          </a:prstGeom>
          <a:noFill/>
          <a:ln/>
        </p:spPr>
        <p:txBody>
          <a:bodyPr wrap="square" lIns="0" tIns="0" rIns="0" bIns="0" rtlCol="0" anchor="t"/>
          <a:lstStyle/>
          <a:p>
            <a:pPr indent="0" marL="0">
              <a:lnSpc>
                <a:spcPct val="112000"/>
              </a:lnSpc>
              <a:buNone/>
            </a:pPr>
            <a:r>
              <a:rPr lang="en-US" sz="1050" dirty="0">
                <a:solidFill>
                  <a:srgbClr val="3E4C63"/>
                </a:solidFill>
                <a:latin typeface="Calibri" pitchFamily="34" charset="0"/>
                <a:ea typeface="Calibri" pitchFamily="34" charset="-122"/>
                <a:cs typeface="Calibri" pitchFamily="34" charset="-120"/>
              </a:rPr>
              <a:t>Accuracy is checked against real geometry and real quotes, and reported openly — before and after.</a:t>
            </a:r>
            <a:endParaRPr lang="en-US" sz="1050" dirty="0"/>
          </a:p>
        </p:txBody>
      </p:sp>
      <p:sp>
        <p:nvSpPr>
          <p:cNvPr id="22" name="Shape 20"/>
          <p:cNvSpPr/>
          <p:nvPr/>
        </p:nvSpPr>
        <p:spPr>
          <a:xfrm>
            <a:off x="548640" y="3291840"/>
            <a:ext cx="5422392" cy="1417320"/>
          </a:xfrm>
          <a:prstGeom prst="roundRect">
            <a:avLst>
              <a:gd name="adj" fmla="val 4516"/>
            </a:avLst>
          </a:prstGeom>
          <a:solidFill>
            <a:srgbClr val="FFFFFF"/>
          </a:solidFill>
          <a:ln w="12700">
            <a:solidFill>
              <a:srgbClr val="E4EAF2"/>
            </a:solidFill>
            <a:prstDash val="solid"/>
          </a:ln>
          <a:effectLst>
            <a:outerShdw sx="100000" sy="100000" kx="0" ky="0" algn="bl" rotWithShape="0" blurRad="4.550995578271159e+230" dist="1.3002844509346172e+230" dir="3.3940054153256444e+269">
              <a:srgbClr val="9DB0CC">
                <a:alpha val="2.200000000000001e+279"/>
              </a:srgbClr>
            </a:outerShdw>
          </a:effectLst>
        </p:spPr>
      </p:sp>
      <p:sp>
        <p:nvSpPr>
          <p:cNvPr id="23" name="Shape 21"/>
          <p:cNvSpPr/>
          <p:nvPr/>
        </p:nvSpPr>
        <p:spPr>
          <a:xfrm>
            <a:off x="548640" y="3291840"/>
            <a:ext cx="82296" cy="1417320"/>
          </a:xfrm>
          <a:prstGeom prst="rect">
            <a:avLst/>
          </a:prstGeom>
          <a:solidFill>
            <a:srgbClr val="7C3AED"/>
          </a:solidFill>
          <a:ln/>
        </p:spPr>
      </p:sp>
      <p:sp>
        <p:nvSpPr>
          <p:cNvPr id="24" name="Shape 22"/>
          <p:cNvSpPr/>
          <p:nvPr/>
        </p:nvSpPr>
        <p:spPr>
          <a:xfrm>
            <a:off x="804672" y="3511296"/>
            <a:ext cx="457200" cy="457200"/>
          </a:xfrm>
          <a:prstGeom prst="ellipse">
            <a:avLst/>
          </a:prstGeom>
          <a:solidFill>
            <a:srgbClr val="F3EEFE"/>
          </a:solidFill>
          <a:ln/>
        </p:spPr>
      </p:sp>
      <p:sp>
        <p:nvSpPr>
          <p:cNvPr id="25" name="Text 23"/>
          <p:cNvSpPr/>
          <p:nvPr/>
        </p:nvSpPr>
        <p:spPr>
          <a:xfrm>
            <a:off x="804672" y="3502152"/>
            <a:ext cx="457200" cy="457200"/>
          </a:xfrm>
          <a:prstGeom prst="rect">
            <a:avLst/>
          </a:prstGeom>
          <a:noFill/>
          <a:ln/>
        </p:spPr>
        <p:txBody>
          <a:bodyPr wrap="square" lIns="0" tIns="0" rIns="0" bIns="0" rtlCol="0" anchor="ctr"/>
          <a:lstStyle/>
          <a:p>
            <a:pPr algn="ctr" indent="0" marL="0">
              <a:buNone/>
            </a:pPr>
            <a:r>
              <a:rPr lang="en-US" sz="1700" b="1" dirty="0">
                <a:solidFill>
                  <a:srgbClr val="7C3AED"/>
                </a:solidFill>
                <a:latin typeface="Calibri" pitchFamily="34" charset="0"/>
                <a:ea typeface="Calibri" pitchFamily="34" charset="-122"/>
                <a:cs typeface="Calibri" pitchFamily="34" charset="-120"/>
              </a:rPr>
              <a:t>◈</a:t>
            </a:r>
            <a:endParaRPr lang="en-US" sz="1700" dirty="0"/>
          </a:p>
        </p:txBody>
      </p:sp>
      <p:sp>
        <p:nvSpPr>
          <p:cNvPr id="26" name="Text 24"/>
          <p:cNvSpPr/>
          <p:nvPr/>
        </p:nvSpPr>
        <p:spPr>
          <a:xfrm>
            <a:off x="1335024" y="3547872"/>
            <a:ext cx="4389120" cy="457200"/>
          </a:xfrm>
          <a:prstGeom prst="rect">
            <a:avLst/>
          </a:prstGeom>
          <a:noFill/>
          <a:ln/>
        </p:spPr>
        <p:txBody>
          <a:bodyPr wrap="square" lIns="0" tIns="0" rIns="0" bIns="0" rtlCol="0" anchor="ctr"/>
          <a:lstStyle/>
          <a:p>
            <a:pPr indent="0" marL="0">
              <a:buNone/>
            </a:pPr>
            <a:r>
              <a:rPr lang="en-US" sz="1350" b="1" dirty="0">
                <a:solidFill>
                  <a:srgbClr val="7C3AED"/>
                </a:solidFill>
                <a:latin typeface="Calibri" pitchFamily="34" charset="0"/>
                <a:ea typeface="Calibri" pitchFamily="34" charset="-122"/>
                <a:cs typeface="Calibri" pitchFamily="34" charset="-120"/>
              </a:rPr>
              <a:t>Honest about uncertainty</a:t>
            </a:r>
            <a:endParaRPr lang="en-US" sz="1350" dirty="0"/>
          </a:p>
        </p:txBody>
      </p:sp>
      <p:sp>
        <p:nvSpPr>
          <p:cNvPr id="27" name="Text 25"/>
          <p:cNvSpPr/>
          <p:nvPr/>
        </p:nvSpPr>
        <p:spPr>
          <a:xfrm>
            <a:off x="822960" y="4041648"/>
            <a:ext cx="4983480" cy="594360"/>
          </a:xfrm>
          <a:prstGeom prst="rect">
            <a:avLst/>
          </a:prstGeom>
          <a:noFill/>
          <a:ln/>
        </p:spPr>
        <p:txBody>
          <a:bodyPr wrap="square" lIns="0" tIns="0" rIns="0" bIns="0" rtlCol="0" anchor="t"/>
          <a:lstStyle/>
          <a:p>
            <a:pPr indent="0" marL="0">
              <a:lnSpc>
                <a:spcPct val="112000"/>
              </a:lnSpc>
              <a:buNone/>
            </a:pPr>
            <a:r>
              <a:rPr lang="en-US" sz="1050" dirty="0">
                <a:solidFill>
                  <a:srgbClr val="3E4C63"/>
                </a:solidFill>
                <a:latin typeface="Calibri" pitchFamily="34" charset="0"/>
                <a:ea typeface="Calibri" pitchFamily="34" charset="-122"/>
                <a:cs typeface="Calibri" pitchFamily="34" charset="-120"/>
              </a:rPr>
              <a:t>Confidence bands and clear flags on anything unverified — never a false single number.</a:t>
            </a:r>
            <a:endParaRPr lang="en-US" sz="1050" dirty="0"/>
          </a:p>
        </p:txBody>
      </p:sp>
      <p:sp>
        <p:nvSpPr>
          <p:cNvPr id="28" name="Shape 26"/>
          <p:cNvSpPr/>
          <p:nvPr/>
        </p:nvSpPr>
        <p:spPr>
          <a:xfrm>
            <a:off x="6217920" y="3291840"/>
            <a:ext cx="5422392" cy="1417320"/>
          </a:xfrm>
          <a:prstGeom prst="roundRect">
            <a:avLst>
              <a:gd name="adj" fmla="val 4516"/>
            </a:avLst>
          </a:prstGeom>
          <a:solidFill>
            <a:srgbClr val="FFFFFF"/>
          </a:solidFill>
          <a:ln w="12700">
            <a:solidFill>
              <a:srgbClr val="E4EAF2"/>
            </a:solidFill>
            <a:prstDash val="solid"/>
          </a:ln>
          <a:effectLst>
            <a:outerShdw sx="100000" sy="100000" kx="0" ky="0" algn="bl" rotWithShape="0" blurRad="5.7797643844043726e+234" dist="1.6513612526869638e+234" dir="2.0364032491953868e+274">
              <a:srgbClr val="9DB0CC">
                <a:alpha val="2.200000000000001e+284"/>
              </a:srgbClr>
            </a:outerShdw>
          </a:effectLst>
        </p:spPr>
      </p:sp>
      <p:sp>
        <p:nvSpPr>
          <p:cNvPr id="29" name="Shape 27"/>
          <p:cNvSpPr/>
          <p:nvPr/>
        </p:nvSpPr>
        <p:spPr>
          <a:xfrm>
            <a:off x="6217920" y="3291840"/>
            <a:ext cx="82296" cy="1417320"/>
          </a:xfrm>
          <a:prstGeom prst="rect">
            <a:avLst/>
          </a:prstGeom>
          <a:solidFill>
            <a:srgbClr val="0EA472"/>
          </a:solidFill>
          <a:ln/>
        </p:spPr>
      </p:sp>
      <p:sp>
        <p:nvSpPr>
          <p:cNvPr id="30" name="Shape 28"/>
          <p:cNvSpPr/>
          <p:nvPr/>
        </p:nvSpPr>
        <p:spPr>
          <a:xfrm>
            <a:off x="6473952" y="3511296"/>
            <a:ext cx="457200" cy="457200"/>
          </a:xfrm>
          <a:prstGeom prst="ellipse">
            <a:avLst/>
          </a:prstGeom>
          <a:solidFill>
            <a:srgbClr val="E7F7F0"/>
          </a:solidFill>
          <a:ln/>
        </p:spPr>
      </p:sp>
      <p:sp>
        <p:nvSpPr>
          <p:cNvPr id="31" name="Text 29"/>
          <p:cNvSpPr/>
          <p:nvPr/>
        </p:nvSpPr>
        <p:spPr>
          <a:xfrm>
            <a:off x="6473952" y="3502152"/>
            <a:ext cx="457200" cy="457200"/>
          </a:xfrm>
          <a:prstGeom prst="rect">
            <a:avLst/>
          </a:prstGeom>
          <a:noFill/>
          <a:ln/>
        </p:spPr>
        <p:txBody>
          <a:bodyPr wrap="square" lIns="0" tIns="0" rIns="0" bIns="0" rtlCol="0" anchor="ctr"/>
          <a:lstStyle/>
          <a:p>
            <a:pPr algn="ctr" indent="0" marL="0">
              <a:buNone/>
            </a:pPr>
            <a:r>
              <a:rPr lang="en-US" sz="1700" b="1" dirty="0">
                <a:solidFill>
                  <a:srgbClr val="0EA472"/>
                </a:solidFill>
                <a:latin typeface="Calibri" pitchFamily="34" charset="0"/>
                <a:ea typeface="Calibri" pitchFamily="34" charset="-122"/>
                <a:cs typeface="Calibri" pitchFamily="34" charset="-120"/>
              </a:rPr>
              <a:t>✓</a:t>
            </a:r>
            <a:endParaRPr lang="en-US" sz="1700" dirty="0"/>
          </a:p>
        </p:txBody>
      </p:sp>
      <p:sp>
        <p:nvSpPr>
          <p:cNvPr id="32" name="Text 30"/>
          <p:cNvSpPr/>
          <p:nvPr/>
        </p:nvSpPr>
        <p:spPr>
          <a:xfrm>
            <a:off x="7004304" y="3547872"/>
            <a:ext cx="4389120" cy="457200"/>
          </a:xfrm>
          <a:prstGeom prst="rect">
            <a:avLst/>
          </a:prstGeom>
          <a:noFill/>
          <a:ln/>
        </p:spPr>
        <p:txBody>
          <a:bodyPr wrap="square" lIns="0" tIns="0" rIns="0" bIns="0" rtlCol="0" anchor="ctr"/>
          <a:lstStyle/>
          <a:p>
            <a:pPr indent="0" marL="0">
              <a:buNone/>
            </a:pPr>
            <a:r>
              <a:rPr lang="en-US" sz="1350" b="1" dirty="0">
                <a:solidFill>
                  <a:srgbClr val="0EA472"/>
                </a:solidFill>
                <a:latin typeface="Calibri" pitchFamily="34" charset="0"/>
                <a:ea typeface="Calibri" pitchFamily="34" charset="-122"/>
                <a:cs typeface="Calibri" pitchFamily="34" charset="-120"/>
              </a:rPr>
              <a:t>Production-grade</a:t>
            </a:r>
            <a:endParaRPr lang="en-US" sz="1350" dirty="0"/>
          </a:p>
        </p:txBody>
      </p:sp>
      <p:sp>
        <p:nvSpPr>
          <p:cNvPr id="33" name="Text 31"/>
          <p:cNvSpPr/>
          <p:nvPr/>
        </p:nvSpPr>
        <p:spPr>
          <a:xfrm>
            <a:off x="6492240" y="4041648"/>
            <a:ext cx="4983480" cy="594360"/>
          </a:xfrm>
          <a:prstGeom prst="rect">
            <a:avLst/>
          </a:prstGeom>
          <a:noFill/>
          <a:ln/>
        </p:spPr>
        <p:txBody>
          <a:bodyPr wrap="square" lIns="0" tIns="0" rIns="0" bIns="0" rtlCol="0" anchor="t"/>
          <a:lstStyle/>
          <a:p>
            <a:pPr indent="0" marL="0">
              <a:lnSpc>
                <a:spcPct val="112000"/>
              </a:lnSpc>
              <a:buNone/>
            </a:pPr>
            <a:r>
              <a:rPr lang="en-US" sz="1050" dirty="0">
                <a:solidFill>
                  <a:srgbClr val="3E4C63"/>
                </a:solidFill>
                <a:latin typeface="Calibri" pitchFamily="34" charset="0"/>
                <a:ea typeface="Calibri" pitchFamily="34" charset="-122"/>
                <a:cs typeface="Calibri" pitchFamily="34" charset="-120"/>
              </a:rPr>
              <a:t>917 automated tests across 77 suites, exercised end-to-end on the live system.</a:t>
            </a:r>
            <a:endParaRPr lang="en-US" sz="1050" dirty="0"/>
          </a:p>
        </p:txBody>
      </p:sp>
      <p:sp>
        <p:nvSpPr>
          <p:cNvPr id="34" name="Shape 32"/>
          <p:cNvSpPr/>
          <p:nvPr/>
        </p:nvSpPr>
        <p:spPr>
          <a:xfrm>
            <a:off x="548640" y="5029200"/>
            <a:ext cx="11091672" cy="914400"/>
          </a:xfrm>
          <a:prstGeom prst="roundRect">
            <a:avLst>
              <a:gd name="adj" fmla="val 7000"/>
            </a:avLst>
          </a:prstGeom>
          <a:solidFill>
            <a:srgbClr val="E7F7F0"/>
          </a:solidFill>
          <a:ln w="12700">
            <a:solidFill>
              <a:srgbClr val="E4EAF2"/>
            </a:solidFill>
            <a:prstDash val="solid"/>
          </a:ln>
        </p:spPr>
      </p:sp>
      <p:sp>
        <p:nvSpPr>
          <p:cNvPr id="35" name="Shape 33"/>
          <p:cNvSpPr/>
          <p:nvPr/>
        </p:nvSpPr>
        <p:spPr>
          <a:xfrm>
            <a:off x="548640" y="5029200"/>
            <a:ext cx="82296" cy="914400"/>
          </a:xfrm>
          <a:prstGeom prst="rect">
            <a:avLst/>
          </a:prstGeom>
          <a:solidFill>
            <a:srgbClr val="0EA472"/>
          </a:solidFill>
          <a:ln/>
        </p:spPr>
      </p:sp>
      <p:sp>
        <p:nvSpPr>
          <p:cNvPr id="36" name="Text 34"/>
          <p:cNvSpPr/>
          <p:nvPr/>
        </p:nvSpPr>
        <p:spPr>
          <a:xfrm>
            <a:off x="914400" y="5166360"/>
            <a:ext cx="10378440" cy="685800"/>
          </a:xfrm>
          <a:prstGeom prst="rect">
            <a:avLst/>
          </a:prstGeom>
          <a:noFill/>
          <a:ln/>
        </p:spPr>
        <p:txBody>
          <a:bodyPr wrap="square" lIns="0" tIns="0" rIns="0" bIns="0" rtlCol="0" anchor="t"/>
          <a:lstStyle/>
          <a:p>
            <a:pPr indent="0" marL="0">
              <a:lnSpc>
                <a:spcPct val="118000"/>
              </a:lnSpc>
              <a:buNone/>
            </a:pPr>
            <a:r>
              <a:rPr lang="en-US" sz="1200" b="1" dirty="0">
                <a:solidFill>
                  <a:srgbClr val="0F1E3D"/>
                </a:solidFill>
                <a:latin typeface="Calibri" pitchFamily="34" charset="0"/>
                <a:ea typeface="Calibri" pitchFamily="34" charset="-122"/>
                <a:cs typeface="Calibri" pitchFamily="34" charset="-120"/>
              </a:rPr>
              <a:t>The through-line of the whole platform:  </a:t>
            </a:r>
            <a:pPr indent="0" marL="0">
              <a:lnSpc>
                <a:spcPct val="118000"/>
              </a:lnSpc>
              <a:buNone/>
            </a:pPr>
            <a:r>
              <a:rPr lang="en-US" sz="1200" dirty="0">
                <a:solidFill>
                  <a:srgbClr val="3E4C63"/>
                </a:solidFill>
                <a:latin typeface="Calibri" pitchFamily="34" charset="0"/>
                <a:ea typeface="Calibri" pitchFamily="34" charset="-122"/>
                <a:cs typeface="Calibri" pitchFamily="34" charset="-120"/>
              </a:rPr>
              <a:t>the AI does the understanding; deterministic maths does the money; and every number is traceable, bounded and testable. That is what lets you put a CostVision number in front of a supplier — or a board.</a:t>
            </a:r>
            <a:endParaRPr lang="en-US" sz="1200" dirty="0"/>
          </a:p>
        </p:txBody>
      </p:sp>
      <p:sp>
        <p:nvSpPr>
          <p:cNvPr id="37" name="Shape 35"/>
          <p:cNvSpPr/>
          <p:nvPr/>
        </p:nvSpPr>
        <p:spPr>
          <a:xfrm>
            <a:off x="548640" y="6400800"/>
            <a:ext cx="11094415" cy="12802"/>
          </a:xfrm>
          <a:prstGeom prst="rect">
            <a:avLst/>
          </a:prstGeom>
          <a:solidFill>
            <a:srgbClr val="E4EAF2"/>
          </a:solidFill>
          <a:ln/>
        </p:spPr>
      </p:sp>
      <p:sp>
        <p:nvSpPr>
          <p:cNvPr id="38" name="Text 36"/>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39" name="Text 37"/>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19 / 25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4F46E5"/>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4F46E5"/>
                </a:solidFill>
                <a:latin typeface="Calibri" pitchFamily="34" charset="0"/>
                <a:ea typeface="Calibri" pitchFamily="34" charset="-122"/>
                <a:cs typeface="Calibri" pitchFamily="34" charset="-120"/>
              </a:rPr>
              <a:t>EFFORT &amp; CRAFTSMANSHIP</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The engineering behind it — a real, in-house asset</a:t>
            </a:r>
            <a:endParaRPr lang="en-US" sz="2400" dirty="0"/>
          </a:p>
        </p:txBody>
      </p:sp>
      <p:sp>
        <p:nvSpPr>
          <p:cNvPr id="9" name="Shape 7"/>
          <p:cNvSpPr/>
          <p:nvPr/>
        </p:nvSpPr>
        <p:spPr>
          <a:xfrm>
            <a:off x="548640" y="1371600"/>
            <a:ext cx="1051560" cy="45720"/>
          </a:xfrm>
          <a:prstGeom prst="rect">
            <a:avLst/>
          </a:prstGeom>
          <a:solidFill>
            <a:srgbClr val="4F46E5"/>
          </a:solidFill>
          <a:ln/>
        </p:spPr>
      </p:sp>
      <p:sp>
        <p:nvSpPr>
          <p:cNvPr id="10" name="Text 8"/>
          <p:cNvSpPr/>
          <p:nvPr/>
        </p:nvSpPr>
        <p:spPr>
          <a:xfrm>
            <a:off x="548640" y="1554480"/>
            <a:ext cx="11064240" cy="320040"/>
          </a:xfrm>
          <a:prstGeom prst="rect">
            <a:avLst/>
          </a:prstGeom>
          <a:noFill/>
          <a:ln/>
        </p:spPr>
        <p:txBody>
          <a:bodyPr wrap="square" lIns="0" tIns="0" rIns="0" bIns="0" rtlCol="0" anchor="t"/>
          <a:lstStyle/>
          <a:p>
            <a:pPr indent="0" marL="0">
              <a:buNone/>
            </a:pPr>
            <a:r>
              <a:rPr lang="en-US" sz="1150" dirty="0">
                <a:solidFill>
                  <a:srgbClr val="3E4C63"/>
                </a:solidFill>
                <a:latin typeface="Calibri" pitchFamily="34" charset="0"/>
                <a:ea typeface="Calibri" pitchFamily="34" charset="-122"/>
                <a:cs typeface="Calibri" pitchFamily="34" charset="-120"/>
              </a:rPr>
              <a:t>Not a prototype or a thin wrapper around a chatbot — a substantial, tested, full-stack platform, custom-built in-house (AI-accelerated).</a:t>
            </a:r>
            <a:endParaRPr lang="en-US" sz="1150" dirty="0"/>
          </a:p>
        </p:txBody>
      </p:sp>
      <p:sp>
        <p:nvSpPr>
          <p:cNvPr id="11" name="Shape 9"/>
          <p:cNvSpPr/>
          <p:nvPr/>
        </p:nvSpPr>
        <p:spPr>
          <a:xfrm>
            <a:off x="548640" y="1874520"/>
            <a:ext cx="2724912" cy="1143000"/>
          </a:xfrm>
          <a:prstGeom prst="roundRect">
            <a:avLst>
              <a:gd name="adj" fmla="val 5600"/>
            </a:avLst>
          </a:prstGeom>
          <a:solidFill>
            <a:srgbClr val="FFFFFF"/>
          </a:solidFill>
          <a:ln w="12700">
            <a:solidFill>
              <a:srgbClr val="E4EAF2"/>
            </a:solidFill>
            <a:prstDash val="solid"/>
          </a:ln>
          <a:effectLst>
            <a:outerShdw sx="100000" sy="100000" kx="0" ky="0" algn="bl" rotWithShape="0" blurRad="7.340300768193554e+238" dist="2.097228790912444e+238" dir="1.221841949517232e+279">
              <a:srgbClr val="9DB0CC">
                <a:alpha val="2.200000000000001e+289"/>
              </a:srgbClr>
            </a:outerShdw>
          </a:effectLst>
        </p:spPr>
      </p:sp>
      <p:sp>
        <p:nvSpPr>
          <p:cNvPr id="12" name="Shape 10"/>
          <p:cNvSpPr/>
          <p:nvPr/>
        </p:nvSpPr>
        <p:spPr>
          <a:xfrm>
            <a:off x="548640" y="1874520"/>
            <a:ext cx="82296" cy="1143000"/>
          </a:xfrm>
          <a:prstGeom prst="rect">
            <a:avLst/>
          </a:prstGeom>
          <a:solidFill>
            <a:srgbClr val="4F46E5"/>
          </a:solidFill>
          <a:ln/>
        </p:spPr>
      </p:sp>
      <p:sp>
        <p:nvSpPr>
          <p:cNvPr id="13" name="Text 11"/>
          <p:cNvSpPr/>
          <p:nvPr/>
        </p:nvSpPr>
        <p:spPr>
          <a:xfrm>
            <a:off x="768096" y="2011680"/>
            <a:ext cx="2359152" cy="502920"/>
          </a:xfrm>
          <a:prstGeom prst="rect">
            <a:avLst/>
          </a:prstGeom>
          <a:noFill/>
          <a:ln/>
        </p:spPr>
        <p:txBody>
          <a:bodyPr wrap="square" lIns="0" tIns="0" rIns="0" bIns="0" rtlCol="0" anchor="t"/>
          <a:lstStyle/>
          <a:p>
            <a:pPr indent="0" marL="0">
              <a:buNone/>
            </a:pPr>
            <a:r>
              <a:rPr lang="en-US" sz="2300" b="1" dirty="0">
                <a:solidFill>
                  <a:srgbClr val="4F46E5"/>
                </a:solidFill>
                <a:latin typeface="Calibri" pitchFamily="34" charset="0"/>
                <a:ea typeface="Calibri" pitchFamily="34" charset="-122"/>
                <a:cs typeface="Calibri" pitchFamily="34" charset="-120"/>
              </a:rPr>
              <a:t>~75,000</a:t>
            </a:r>
            <a:endParaRPr lang="en-US" sz="2300" dirty="0"/>
          </a:p>
        </p:txBody>
      </p:sp>
      <p:sp>
        <p:nvSpPr>
          <p:cNvPr id="14" name="Text 12"/>
          <p:cNvSpPr/>
          <p:nvPr/>
        </p:nvSpPr>
        <p:spPr>
          <a:xfrm>
            <a:off x="768096" y="2505456"/>
            <a:ext cx="2359152" cy="411480"/>
          </a:xfrm>
          <a:prstGeom prst="rect">
            <a:avLst/>
          </a:prstGeom>
          <a:noFill/>
          <a:ln/>
        </p:spPr>
        <p:txBody>
          <a:bodyPr wrap="square" lIns="0" tIns="0" rIns="0" bIns="0" rtlCol="0" anchor="t"/>
          <a:lstStyle/>
          <a:p>
            <a:pPr indent="0" marL="0">
              <a:lnSpc>
                <a:spcPct val="105000"/>
              </a:lnSpc>
              <a:buNone/>
            </a:pPr>
            <a:r>
              <a:rPr lang="en-US" sz="1000" dirty="0">
                <a:solidFill>
                  <a:srgbClr val="8A97A8"/>
                </a:solidFill>
                <a:latin typeface="Calibri" pitchFamily="34" charset="0"/>
                <a:ea typeface="Calibri" pitchFamily="34" charset="-122"/>
                <a:cs typeface="Calibri" pitchFamily="34" charset="-120"/>
              </a:rPr>
              <a:t>lines of custom code, built in-house</a:t>
            </a:r>
            <a:endParaRPr lang="en-US" sz="1000" dirty="0"/>
          </a:p>
        </p:txBody>
      </p:sp>
      <p:sp>
        <p:nvSpPr>
          <p:cNvPr id="15" name="Shape 13"/>
          <p:cNvSpPr/>
          <p:nvPr/>
        </p:nvSpPr>
        <p:spPr>
          <a:xfrm>
            <a:off x="3319272" y="1874520"/>
            <a:ext cx="2724912" cy="1143000"/>
          </a:xfrm>
          <a:prstGeom prst="roundRect">
            <a:avLst>
              <a:gd name="adj" fmla="val 5600"/>
            </a:avLst>
          </a:prstGeom>
          <a:solidFill>
            <a:srgbClr val="FFFFFF"/>
          </a:solidFill>
          <a:ln w="12700">
            <a:solidFill>
              <a:srgbClr val="E4EAF2"/>
            </a:solidFill>
            <a:prstDash val="solid"/>
          </a:ln>
          <a:effectLst>
            <a:outerShdw sx="100000" sy="100000" kx="0" ky="0" algn="bl" rotWithShape="0" blurRad="9.322181975605814e+242" dist="2.663480564458804e+242" dir="7.331051697103393e+283">
              <a:srgbClr val="9DB0CC">
                <a:alpha val="2.200000000000001e+294"/>
              </a:srgbClr>
            </a:outerShdw>
          </a:effectLst>
        </p:spPr>
      </p:sp>
      <p:sp>
        <p:nvSpPr>
          <p:cNvPr id="16" name="Shape 14"/>
          <p:cNvSpPr/>
          <p:nvPr/>
        </p:nvSpPr>
        <p:spPr>
          <a:xfrm>
            <a:off x="3319272" y="1874520"/>
            <a:ext cx="82296" cy="1143000"/>
          </a:xfrm>
          <a:prstGeom prst="rect">
            <a:avLst/>
          </a:prstGeom>
          <a:solidFill>
            <a:srgbClr val="0EA472"/>
          </a:solidFill>
          <a:ln/>
        </p:spPr>
      </p:sp>
      <p:sp>
        <p:nvSpPr>
          <p:cNvPr id="17" name="Text 15"/>
          <p:cNvSpPr/>
          <p:nvPr/>
        </p:nvSpPr>
        <p:spPr>
          <a:xfrm>
            <a:off x="3538728" y="2011680"/>
            <a:ext cx="2359152" cy="502920"/>
          </a:xfrm>
          <a:prstGeom prst="rect">
            <a:avLst/>
          </a:prstGeom>
          <a:noFill/>
          <a:ln/>
        </p:spPr>
        <p:txBody>
          <a:bodyPr wrap="square" lIns="0" tIns="0" rIns="0" bIns="0" rtlCol="0" anchor="t"/>
          <a:lstStyle/>
          <a:p>
            <a:pPr indent="0" marL="0">
              <a:buNone/>
            </a:pPr>
            <a:r>
              <a:rPr lang="en-US" sz="2300" b="1" dirty="0">
                <a:solidFill>
                  <a:srgbClr val="0EA472"/>
                </a:solidFill>
                <a:latin typeface="Calibri" pitchFamily="34" charset="0"/>
                <a:ea typeface="Calibri" pitchFamily="34" charset="-122"/>
                <a:cs typeface="Calibri" pitchFamily="34" charset="-120"/>
              </a:rPr>
              <a:t>917</a:t>
            </a:r>
            <a:endParaRPr lang="en-US" sz="2300" dirty="0"/>
          </a:p>
        </p:txBody>
      </p:sp>
      <p:sp>
        <p:nvSpPr>
          <p:cNvPr id="18" name="Text 16"/>
          <p:cNvSpPr/>
          <p:nvPr/>
        </p:nvSpPr>
        <p:spPr>
          <a:xfrm>
            <a:off x="3538728" y="2505456"/>
            <a:ext cx="2359152" cy="411480"/>
          </a:xfrm>
          <a:prstGeom prst="rect">
            <a:avLst/>
          </a:prstGeom>
          <a:noFill/>
          <a:ln/>
        </p:spPr>
        <p:txBody>
          <a:bodyPr wrap="square" lIns="0" tIns="0" rIns="0" bIns="0" rtlCol="0" anchor="t"/>
          <a:lstStyle/>
          <a:p>
            <a:pPr indent="0" marL="0">
              <a:lnSpc>
                <a:spcPct val="105000"/>
              </a:lnSpc>
              <a:buNone/>
            </a:pPr>
            <a:r>
              <a:rPr lang="en-US" sz="1000" dirty="0">
                <a:solidFill>
                  <a:srgbClr val="8A97A8"/>
                </a:solidFill>
                <a:latin typeface="Calibri" pitchFamily="34" charset="0"/>
                <a:ea typeface="Calibri" pitchFamily="34" charset="-122"/>
                <a:cs typeface="Calibri" pitchFamily="34" charset="-120"/>
              </a:rPr>
              <a:t>automated tests · 79 suites</a:t>
            </a:r>
            <a:endParaRPr lang="en-US" sz="1000" dirty="0"/>
          </a:p>
        </p:txBody>
      </p:sp>
      <p:sp>
        <p:nvSpPr>
          <p:cNvPr id="19" name="Shape 17"/>
          <p:cNvSpPr/>
          <p:nvPr/>
        </p:nvSpPr>
        <p:spPr>
          <a:xfrm>
            <a:off x="6089904" y="1874520"/>
            <a:ext cx="2724912" cy="1143000"/>
          </a:xfrm>
          <a:prstGeom prst="roundRect">
            <a:avLst>
              <a:gd name="adj" fmla="val 5600"/>
            </a:avLst>
          </a:prstGeom>
          <a:solidFill>
            <a:srgbClr val="FFFFFF"/>
          </a:solidFill>
          <a:ln w="12700">
            <a:solidFill>
              <a:srgbClr val="E4EAF2"/>
            </a:solidFill>
            <a:prstDash val="solid"/>
          </a:ln>
          <a:effectLst>
            <a:outerShdw sx="100000" sy="100000" kx="0" ky="0" algn="bl" rotWithShape="0" blurRad="1.1839171109019383e+247" dist="3.3826203168626813e+246" dir="4.3986310182620354e+288">
              <a:srgbClr val="9DB0CC">
                <a:alpha val="2.200000000000001e+299"/>
              </a:srgbClr>
            </a:outerShdw>
          </a:effectLst>
        </p:spPr>
      </p:sp>
      <p:sp>
        <p:nvSpPr>
          <p:cNvPr id="20" name="Shape 18"/>
          <p:cNvSpPr/>
          <p:nvPr/>
        </p:nvSpPr>
        <p:spPr>
          <a:xfrm>
            <a:off x="6089904" y="1874520"/>
            <a:ext cx="82296" cy="1143000"/>
          </a:xfrm>
          <a:prstGeom prst="rect">
            <a:avLst/>
          </a:prstGeom>
          <a:solidFill>
            <a:srgbClr val="E0900C"/>
          </a:solidFill>
          <a:ln/>
        </p:spPr>
      </p:sp>
      <p:sp>
        <p:nvSpPr>
          <p:cNvPr id="21" name="Text 19"/>
          <p:cNvSpPr/>
          <p:nvPr/>
        </p:nvSpPr>
        <p:spPr>
          <a:xfrm>
            <a:off x="6309360" y="2011680"/>
            <a:ext cx="2359152" cy="502920"/>
          </a:xfrm>
          <a:prstGeom prst="rect">
            <a:avLst/>
          </a:prstGeom>
          <a:noFill/>
          <a:ln/>
        </p:spPr>
        <p:txBody>
          <a:bodyPr wrap="square" lIns="0" tIns="0" rIns="0" bIns="0" rtlCol="0" anchor="t"/>
          <a:lstStyle/>
          <a:p>
            <a:pPr indent="0" marL="0">
              <a:buNone/>
            </a:pPr>
            <a:r>
              <a:rPr lang="en-US" sz="2300" b="1" dirty="0">
                <a:solidFill>
                  <a:srgbClr val="E0900C"/>
                </a:solidFill>
                <a:latin typeface="Calibri" pitchFamily="34" charset="0"/>
                <a:ea typeface="Calibri" pitchFamily="34" charset="-122"/>
                <a:cs typeface="Calibri" pitchFamily="34" charset="-120"/>
              </a:rPr>
              <a:t>19</a:t>
            </a:r>
            <a:endParaRPr lang="en-US" sz="2300" dirty="0"/>
          </a:p>
        </p:txBody>
      </p:sp>
      <p:sp>
        <p:nvSpPr>
          <p:cNvPr id="22" name="Text 20"/>
          <p:cNvSpPr/>
          <p:nvPr/>
        </p:nvSpPr>
        <p:spPr>
          <a:xfrm>
            <a:off x="6309360" y="2505456"/>
            <a:ext cx="2359152" cy="411480"/>
          </a:xfrm>
          <a:prstGeom prst="rect">
            <a:avLst/>
          </a:prstGeom>
          <a:noFill/>
          <a:ln/>
        </p:spPr>
        <p:txBody>
          <a:bodyPr wrap="square" lIns="0" tIns="0" rIns="0" bIns="0" rtlCol="0" anchor="t"/>
          <a:lstStyle/>
          <a:p>
            <a:pPr indent="0" marL="0">
              <a:lnSpc>
                <a:spcPct val="105000"/>
              </a:lnSpc>
              <a:buNone/>
            </a:pPr>
            <a:r>
              <a:rPr lang="en-US" sz="1000" dirty="0">
                <a:solidFill>
                  <a:srgbClr val="8A97A8"/>
                </a:solidFill>
                <a:latin typeface="Calibri" pitchFamily="34" charset="0"/>
                <a:ea typeface="Calibri" pitchFamily="34" charset="-122"/>
                <a:cs typeface="Calibri" pitchFamily="34" charset="-120"/>
              </a:rPr>
              <a:t>purpose-built cost engines</a:t>
            </a:r>
            <a:endParaRPr lang="en-US" sz="1000" dirty="0"/>
          </a:p>
        </p:txBody>
      </p:sp>
      <p:sp>
        <p:nvSpPr>
          <p:cNvPr id="23" name="Shape 21"/>
          <p:cNvSpPr/>
          <p:nvPr/>
        </p:nvSpPr>
        <p:spPr>
          <a:xfrm>
            <a:off x="8860536" y="1874520"/>
            <a:ext cx="2724912" cy="1143000"/>
          </a:xfrm>
          <a:prstGeom prst="roundRect">
            <a:avLst>
              <a:gd name="adj" fmla="val 5600"/>
            </a:avLst>
          </a:prstGeom>
          <a:solidFill>
            <a:srgbClr val="FFFFFF"/>
          </a:solidFill>
          <a:ln w="12700">
            <a:solidFill>
              <a:srgbClr val="E4EAF2"/>
            </a:solidFill>
            <a:prstDash val="solid"/>
          </a:ln>
          <a:effectLst>
            <a:outerShdw sx="100000" sy="100000" kx="0" ky="0" algn="bl" rotWithShape="0" blurRad="1.5035747308454617e+251" dist="4.295927802415605e+250" dir="2.6391786109572213e+293">
              <a:srgbClr val="9DB0CC">
                <a:alpha val="2.200000000000001e+304"/>
              </a:srgbClr>
            </a:outerShdw>
          </a:effectLst>
        </p:spPr>
      </p:sp>
      <p:sp>
        <p:nvSpPr>
          <p:cNvPr id="24" name="Shape 22"/>
          <p:cNvSpPr/>
          <p:nvPr/>
        </p:nvSpPr>
        <p:spPr>
          <a:xfrm>
            <a:off x="8860536" y="1874520"/>
            <a:ext cx="82296" cy="1143000"/>
          </a:xfrm>
          <a:prstGeom prst="rect">
            <a:avLst/>
          </a:prstGeom>
          <a:solidFill>
            <a:srgbClr val="0E93B0"/>
          </a:solidFill>
          <a:ln/>
        </p:spPr>
      </p:sp>
      <p:sp>
        <p:nvSpPr>
          <p:cNvPr id="25" name="Text 23"/>
          <p:cNvSpPr/>
          <p:nvPr/>
        </p:nvSpPr>
        <p:spPr>
          <a:xfrm>
            <a:off x="9079992" y="2011680"/>
            <a:ext cx="2359152" cy="502920"/>
          </a:xfrm>
          <a:prstGeom prst="rect">
            <a:avLst/>
          </a:prstGeom>
          <a:noFill/>
          <a:ln/>
        </p:spPr>
        <p:txBody>
          <a:bodyPr wrap="square" lIns="0" tIns="0" rIns="0" bIns="0" rtlCol="0" anchor="t"/>
          <a:lstStyle/>
          <a:p>
            <a:pPr indent="0" marL="0">
              <a:buNone/>
            </a:pPr>
            <a:r>
              <a:rPr lang="en-US" sz="2300" b="1" dirty="0">
                <a:solidFill>
                  <a:srgbClr val="0E93B0"/>
                </a:solidFill>
                <a:latin typeface="Calibri" pitchFamily="34" charset="0"/>
                <a:ea typeface="Calibri" pitchFamily="34" charset="-122"/>
                <a:cs typeface="Calibri" pitchFamily="34" charset="-120"/>
              </a:rPr>
              <a:t>5</a:t>
            </a:r>
            <a:endParaRPr lang="en-US" sz="2300" dirty="0"/>
          </a:p>
        </p:txBody>
      </p:sp>
      <p:sp>
        <p:nvSpPr>
          <p:cNvPr id="26" name="Text 24"/>
          <p:cNvSpPr/>
          <p:nvPr/>
        </p:nvSpPr>
        <p:spPr>
          <a:xfrm>
            <a:off x="9079992" y="2505456"/>
            <a:ext cx="2359152" cy="411480"/>
          </a:xfrm>
          <a:prstGeom prst="rect">
            <a:avLst/>
          </a:prstGeom>
          <a:noFill/>
          <a:ln/>
        </p:spPr>
        <p:txBody>
          <a:bodyPr wrap="square" lIns="0" tIns="0" rIns="0" bIns="0" rtlCol="0" anchor="t"/>
          <a:lstStyle/>
          <a:p>
            <a:pPr indent="0" marL="0">
              <a:lnSpc>
                <a:spcPct val="105000"/>
              </a:lnSpc>
              <a:buNone/>
            </a:pPr>
            <a:r>
              <a:rPr lang="en-US" sz="1000" dirty="0">
                <a:solidFill>
                  <a:srgbClr val="8A97A8"/>
                </a:solidFill>
                <a:latin typeface="Calibri" pitchFamily="34" charset="0"/>
                <a:ea typeface="Calibri" pitchFamily="34" charset="-122"/>
                <a:cs typeface="Calibri" pitchFamily="34" charset="-120"/>
              </a:rPr>
              <a:t>languages &amp; runtimes in the stack</a:t>
            </a:r>
            <a:endParaRPr lang="en-US" sz="1000" dirty="0"/>
          </a:p>
        </p:txBody>
      </p:sp>
      <p:sp>
        <p:nvSpPr>
          <p:cNvPr id="27" name="Shape 25"/>
          <p:cNvSpPr/>
          <p:nvPr/>
        </p:nvSpPr>
        <p:spPr>
          <a:xfrm>
            <a:off x="548640" y="3200400"/>
            <a:ext cx="6035040" cy="2395728"/>
          </a:xfrm>
          <a:prstGeom prst="roundRect">
            <a:avLst>
              <a:gd name="adj" fmla="val 2672"/>
            </a:avLst>
          </a:prstGeom>
          <a:solidFill>
            <a:srgbClr val="FFFFFF"/>
          </a:solidFill>
          <a:ln w="12700">
            <a:solidFill>
              <a:srgbClr val="E4EAF2"/>
            </a:solidFill>
            <a:prstDash val="solid"/>
          </a:ln>
          <a:effectLst>
            <a:outerShdw sx="100000" sy="100000" kx="0" ky="0" algn="bl" rotWithShape="0" blurRad="1.9095399081737364e+255" dist="5.455828309067819e+254" dir="1.5835071665743328e+298">
              <a:srgbClr val="9DB0CC">
                <a:alpha val="Infinity"/>
              </a:srgbClr>
            </a:outerShdw>
          </a:effectLst>
        </p:spPr>
      </p:sp>
      <p:sp>
        <p:nvSpPr>
          <p:cNvPr id="28" name="Text 26"/>
          <p:cNvSpPr/>
          <p:nvPr/>
        </p:nvSpPr>
        <p:spPr>
          <a:xfrm>
            <a:off x="822960" y="3319272"/>
            <a:ext cx="5669280" cy="274320"/>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Where the code lives — thousands of lines</a:t>
            </a:r>
            <a:endParaRPr lang="en-US" sz="1250" dirty="0"/>
          </a:p>
        </p:txBody>
      </p:sp>
      <p:graphicFrame>
        <p:nvGraphicFramePr>
          <p:cNvPr id="29" name="Chart 0" descr=""/>
          <p:cNvGraphicFramePr/>
          <p:nvPr/>
        </p:nvGraphicFramePr>
        <p:xfrm>
          <a:off x="685800" y="3639312"/>
          <a:ext cx="5760720" cy="1847088"/>
        </p:xfrm>
        <a:graphic xmlns:a="http://schemas.openxmlformats.org/drawingml/2006/main">
          <a:graphicData uri="http://schemas.openxmlformats.org/drawingml/2006/chart">
            <c:chart xmlns:c="http://schemas.openxmlformats.org/drawingml/2006/chart" r:id="rId1"/>
          </a:graphicData>
        </a:graphic>
      </p:graphicFrame>
      <p:sp>
        <p:nvSpPr>
          <p:cNvPr id="30" name="Shape 27"/>
          <p:cNvSpPr/>
          <p:nvPr/>
        </p:nvSpPr>
        <p:spPr>
          <a:xfrm>
            <a:off x="6858000" y="3200400"/>
            <a:ext cx="4785055" cy="2395728"/>
          </a:xfrm>
          <a:prstGeom prst="roundRect">
            <a:avLst>
              <a:gd name="adj" fmla="val 2672"/>
            </a:avLst>
          </a:prstGeom>
          <a:solidFill>
            <a:srgbClr val="EAF1FE"/>
          </a:solidFill>
          <a:ln w="12700">
            <a:solidFill>
              <a:srgbClr val="E4EAF2"/>
            </a:solidFill>
            <a:prstDash val="solid"/>
          </a:ln>
        </p:spPr>
      </p:sp>
      <p:sp>
        <p:nvSpPr>
          <p:cNvPr id="31" name="Text 28"/>
          <p:cNvSpPr/>
          <p:nvPr/>
        </p:nvSpPr>
        <p:spPr>
          <a:xfrm>
            <a:off x="7132320" y="3319272"/>
            <a:ext cx="4327855" cy="274320"/>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What that represents</a:t>
            </a:r>
            <a:endParaRPr lang="en-US" sz="1250" dirty="0"/>
          </a:p>
        </p:txBody>
      </p:sp>
      <p:sp>
        <p:nvSpPr>
          <p:cNvPr id="32" name="Shape 29"/>
          <p:cNvSpPr/>
          <p:nvPr/>
        </p:nvSpPr>
        <p:spPr>
          <a:xfrm>
            <a:off x="7114032" y="3721608"/>
            <a:ext cx="274320" cy="274320"/>
          </a:xfrm>
          <a:prstGeom prst="ellipse">
            <a:avLst/>
          </a:prstGeom>
          <a:solidFill>
            <a:srgbClr val="FEF6E7"/>
          </a:solidFill>
          <a:ln/>
        </p:spPr>
      </p:sp>
      <p:sp>
        <p:nvSpPr>
          <p:cNvPr id="33" name="Text 30"/>
          <p:cNvSpPr/>
          <p:nvPr/>
        </p:nvSpPr>
        <p:spPr>
          <a:xfrm>
            <a:off x="7114032" y="3712464"/>
            <a:ext cx="274320" cy="274320"/>
          </a:xfrm>
          <a:prstGeom prst="rect">
            <a:avLst/>
          </a:prstGeom>
          <a:noFill/>
          <a:ln/>
        </p:spPr>
        <p:txBody>
          <a:bodyPr wrap="square" lIns="0" tIns="0" rIns="0" bIns="0" rtlCol="0" anchor="ctr"/>
          <a:lstStyle/>
          <a:p>
            <a:pPr algn="ctr" indent="0" marL="0">
              <a:buNone/>
            </a:pPr>
            <a:r>
              <a:rPr lang="en-US" sz="1000" b="1" dirty="0">
                <a:solidFill>
                  <a:srgbClr val="E0900C"/>
                </a:solidFill>
                <a:latin typeface="Calibri" pitchFamily="34" charset="0"/>
                <a:ea typeface="Calibri" pitchFamily="34" charset="-122"/>
                <a:cs typeface="Calibri" pitchFamily="34" charset="-120"/>
              </a:rPr>
              <a:t>◆</a:t>
            </a:r>
            <a:endParaRPr lang="en-US" sz="1000" dirty="0"/>
          </a:p>
        </p:txBody>
      </p:sp>
      <p:sp>
        <p:nvSpPr>
          <p:cNvPr id="34" name="Text 31"/>
          <p:cNvSpPr/>
          <p:nvPr/>
        </p:nvSpPr>
        <p:spPr>
          <a:xfrm>
            <a:off x="7479792" y="3703320"/>
            <a:ext cx="3916375" cy="457200"/>
          </a:xfrm>
          <a:prstGeom prst="rect">
            <a:avLst/>
          </a:prstGeom>
          <a:noFill/>
          <a:ln/>
        </p:spPr>
        <p:txBody>
          <a:bodyPr wrap="square" lIns="0" tIns="0" rIns="0" bIns="0" rtlCol="0" anchor="t"/>
          <a:lstStyle/>
          <a:p>
            <a:pPr indent="0" marL="0">
              <a:lnSpc>
                <a:spcPct val="100000"/>
              </a:lnSpc>
              <a:buNone/>
            </a:pPr>
            <a:r>
              <a:rPr lang="en-US" sz="960" b="1" dirty="0">
                <a:solidFill>
                  <a:srgbClr val="0F1E3D"/>
                </a:solidFill>
                <a:latin typeface="Calibri" pitchFamily="34" charset="0"/>
                <a:ea typeface="Calibri" pitchFamily="34" charset="-122"/>
                <a:cs typeface="Calibri" pitchFamily="34" charset="-120"/>
              </a:rPr>
              <a:t>A 16,000-line deterministic cost engine — </a:t>
            </a:r>
            <a:pPr indent="0" marL="0">
              <a:lnSpc>
                <a:spcPct val="100000"/>
              </a:lnSpc>
              <a:buNone/>
            </a:pPr>
            <a:r>
              <a:rPr lang="en-US" sz="960" dirty="0">
                <a:solidFill>
                  <a:srgbClr val="3E4C63"/>
                </a:solidFill>
                <a:latin typeface="Calibri" pitchFamily="34" charset="0"/>
                <a:ea typeface="Calibri" pitchFamily="34" charset="-122"/>
                <a:cs typeface="Calibri" pitchFamily="34" charset="-120"/>
              </a:rPr>
              <a:t>the auditable "money maths" — 19 commodities, 20 regions</a:t>
            </a:r>
            <a:endParaRPr lang="en-US" sz="960" dirty="0"/>
          </a:p>
        </p:txBody>
      </p:sp>
      <p:sp>
        <p:nvSpPr>
          <p:cNvPr id="35" name="Shape 32"/>
          <p:cNvSpPr/>
          <p:nvPr/>
        </p:nvSpPr>
        <p:spPr>
          <a:xfrm>
            <a:off x="7114032" y="4178808"/>
            <a:ext cx="274320" cy="274320"/>
          </a:xfrm>
          <a:prstGeom prst="ellipse">
            <a:avLst/>
          </a:prstGeom>
          <a:solidFill>
            <a:srgbClr val="E7F7F0"/>
          </a:solidFill>
          <a:ln/>
        </p:spPr>
      </p:sp>
      <p:sp>
        <p:nvSpPr>
          <p:cNvPr id="36" name="Text 33"/>
          <p:cNvSpPr/>
          <p:nvPr/>
        </p:nvSpPr>
        <p:spPr>
          <a:xfrm>
            <a:off x="7114032" y="4169664"/>
            <a:ext cx="274320" cy="274320"/>
          </a:xfrm>
          <a:prstGeom prst="rect">
            <a:avLst/>
          </a:prstGeom>
          <a:noFill/>
          <a:ln/>
        </p:spPr>
        <p:txBody>
          <a:bodyPr wrap="square" lIns="0" tIns="0" rIns="0" bIns="0" rtlCol="0" anchor="ctr"/>
          <a:lstStyle/>
          <a:p>
            <a:pPr algn="ctr" indent="0" marL="0">
              <a:buNone/>
            </a:pPr>
            <a:r>
              <a:rPr lang="en-US" sz="1000" b="1" dirty="0">
                <a:solidFill>
                  <a:srgbClr val="0DA5A0"/>
                </a:solidFill>
                <a:latin typeface="Calibri" pitchFamily="34" charset="0"/>
                <a:ea typeface="Calibri" pitchFamily="34" charset="-122"/>
                <a:cs typeface="Calibri" pitchFamily="34" charset="-120"/>
              </a:rPr>
              <a:t>◆</a:t>
            </a:r>
            <a:endParaRPr lang="en-US" sz="1000" dirty="0"/>
          </a:p>
        </p:txBody>
      </p:sp>
      <p:sp>
        <p:nvSpPr>
          <p:cNvPr id="37" name="Text 34"/>
          <p:cNvSpPr/>
          <p:nvPr/>
        </p:nvSpPr>
        <p:spPr>
          <a:xfrm>
            <a:off x="7479792" y="4160520"/>
            <a:ext cx="3916375" cy="457200"/>
          </a:xfrm>
          <a:prstGeom prst="rect">
            <a:avLst/>
          </a:prstGeom>
          <a:noFill/>
          <a:ln/>
        </p:spPr>
        <p:txBody>
          <a:bodyPr wrap="square" lIns="0" tIns="0" rIns="0" bIns="0" rtlCol="0" anchor="t"/>
          <a:lstStyle/>
          <a:p>
            <a:pPr indent="0" marL="0">
              <a:lnSpc>
                <a:spcPct val="100000"/>
              </a:lnSpc>
              <a:buNone/>
            </a:pPr>
            <a:r>
              <a:rPr lang="en-US" sz="960" b="1" dirty="0">
                <a:solidFill>
                  <a:srgbClr val="0F1E3D"/>
                </a:solidFill>
                <a:latin typeface="Calibri" pitchFamily="34" charset="0"/>
                <a:ea typeface="Calibri" pitchFamily="34" charset="-122"/>
                <a:cs typeface="Calibri" pitchFamily="34" charset="-120"/>
              </a:rPr>
              <a:t>A real Python geometry kernel — </a:t>
            </a:r>
            <a:pPr indent="0" marL="0">
              <a:lnSpc>
                <a:spcPct val="100000"/>
              </a:lnSpc>
              <a:buNone/>
            </a:pPr>
            <a:r>
              <a:rPr lang="en-US" sz="960" dirty="0">
                <a:solidFill>
                  <a:srgbClr val="3E4C63"/>
                </a:solidFill>
                <a:latin typeface="Calibri" pitchFamily="34" charset="0"/>
                <a:ea typeface="Calibri" pitchFamily="34" charset="-122"/>
                <a:cs typeface="Calibri" pitchFamily="34" charset="-120"/>
              </a:rPr>
              <a:t>OCCT/CadQuery reads STEP, IGES &amp; STL — genuine CAD engineering</a:t>
            </a:r>
            <a:endParaRPr lang="en-US" sz="960" dirty="0"/>
          </a:p>
        </p:txBody>
      </p:sp>
      <p:sp>
        <p:nvSpPr>
          <p:cNvPr id="38" name="Shape 35"/>
          <p:cNvSpPr/>
          <p:nvPr/>
        </p:nvSpPr>
        <p:spPr>
          <a:xfrm>
            <a:off x="7114032" y="4636008"/>
            <a:ext cx="274320" cy="274320"/>
          </a:xfrm>
          <a:prstGeom prst="ellipse">
            <a:avLst/>
          </a:prstGeom>
          <a:solidFill>
            <a:srgbClr val="EAF1FE"/>
          </a:solidFill>
          <a:ln/>
        </p:spPr>
      </p:sp>
      <p:sp>
        <p:nvSpPr>
          <p:cNvPr id="39" name="Text 36"/>
          <p:cNvSpPr/>
          <p:nvPr/>
        </p:nvSpPr>
        <p:spPr>
          <a:xfrm>
            <a:off x="7114032" y="4626864"/>
            <a:ext cx="274320" cy="274320"/>
          </a:xfrm>
          <a:prstGeom prst="rect">
            <a:avLst/>
          </a:prstGeom>
          <a:noFill/>
          <a:ln/>
        </p:spPr>
        <p:txBody>
          <a:bodyPr wrap="square" lIns="0" tIns="0" rIns="0" bIns="0" rtlCol="0" anchor="ctr"/>
          <a:lstStyle/>
          <a:p>
            <a:pPr algn="ctr" indent="0" marL="0">
              <a:buNone/>
            </a:pPr>
            <a:r>
              <a:rPr lang="en-US" sz="1000" b="1" dirty="0">
                <a:solidFill>
                  <a:srgbClr val="2563EB"/>
                </a:solidFill>
                <a:latin typeface="Calibri" pitchFamily="34" charset="0"/>
                <a:ea typeface="Calibri" pitchFamily="34" charset="-122"/>
                <a:cs typeface="Calibri" pitchFamily="34" charset="-120"/>
              </a:rPr>
              <a:t>◆</a:t>
            </a:r>
            <a:endParaRPr lang="en-US" sz="1000" dirty="0"/>
          </a:p>
        </p:txBody>
      </p:sp>
      <p:sp>
        <p:nvSpPr>
          <p:cNvPr id="40" name="Text 37"/>
          <p:cNvSpPr/>
          <p:nvPr/>
        </p:nvSpPr>
        <p:spPr>
          <a:xfrm>
            <a:off x="7479792" y="4617720"/>
            <a:ext cx="3916375" cy="457200"/>
          </a:xfrm>
          <a:prstGeom prst="rect">
            <a:avLst/>
          </a:prstGeom>
          <a:noFill/>
          <a:ln/>
        </p:spPr>
        <p:txBody>
          <a:bodyPr wrap="square" lIns="0" tIns="0" rIns="0" bIns="0" rtlCol="0" anchor="t"/>
          <a:lstStyle/>
          <a:p>
            <a:pPr indent="0" marL="0">
              <a:lnSpc>
                <a:spcPct val="100000"/>
              </a:lnSpc>
              <a:buNone/>
            </a:pPr>
            <a:r>
              <a:rPr lang="en-US" sz="960" b="1" dirty="0">
                <a:solidFill>
                  <a:srgbClr val="0F1E3D"/>
                </a:solidFill>
                <a:latin typeface="Calibri" pitchFamily="34" charset="0"/>
                <a:ea typeface="Calibri" pitchFamily="34" charset="-122"/>
                <a:cs typeface="Calibri" pitchFamily="34" charset="-120"/>
              </a:rPr>
              <a:t>Full-stack, end to end — </a:t>
            </a:r>
            <a:pPr indent="0" marL="0">
              <a:lnSpc>
                <a:spcPct val="100000"/>
              </a:lnSpc>
              <a:buNone/>
            </a:pPr>
            <a:r>
              <a:rPr lang="en-US" sz="960" dirty="0">
                <a:solidFill>
                  <a:srgbClr val="3E4C63"/>
                </a:solidFill>
                <a:latin typeface="Calibri" pitchFamily="34" charset="0"/>
                <a:ea typeface="Calibri" pitchFamily="34" charset="-122"/>
                <a:cs typeface="Calibri" pitchFamily="34" charset="-120"/>
              </a:rPr>
              <a:t>TypeScript backend &amp; UI, Three.js 3D, SQLite, Python — one system</a:t>
            </a:r>
            <a:endParaRPr lang="en-US" sz="960" dirty="0"/>
          </a:p>
        </p:txBody>
      </p:sp>
      <p:sp>
        <p:nvSpPr>
          <p:cNvPr id="41" name="Shape 38"/>
          <p:cNvSpPr/>
          <p:nvPr/>
        </p:nvSpPr>
        <p:spPr>
          <a:xfrm>
            <a:off x="7114032" y="5093208"/>
            <a:ext cx="274320" cy="274320"/>
          </a:xfrm>
          <a:prstGeom prst="ellipse">
            <a:avLst/>
          </a:prstGeom>
          <a:solidFill>
            <a:srgbClr val="E7F7F0"/>
          </a:solidFill>
          <a:ln/>
        </p:spPr>
      </p:sp>
      <p:sp>
        <p:nvSpPr>
          <p:cNvPr id="42" name="Text 39"/>
          <p:cNvSpPr/>
          <p:nvPr/>
        </p:nvSpPr>
        <p:spPr>
          <a:xfrm>
            <a:off x="7114032" y="5084064"/>
            <a:ext cx="274320" cy="274320"/>
          </a:xfrm>
          <a:prstGeom prst="rect">
            <a:avLst/>
          </a:prstGeom>
          <a:noFill/>
          <a:ln/>
        </p:spPr>
        <p:txBody>
          <a:bodyPr wrap="square" lIns="0" tIns="0" rIns="0" bIns="0" rtlCol="0" anchor="ctr"/>
          <a:lstStyle/>
          <a:p>
            <a:pPr algn="ctr" indent="0" marL="0">
              <a:buNone/>
            </a:pPr>
            <a:r>
              <a:rPr lang="en-US" sz="1000" b="1" dirty="0">
                <a:solidFill>
                  <a:srgbClr val="0EA472"/>
                </a:solidFill>
                <a:latin typeface="Calibri" pitchFamily="34" charset="0"/>
                <a:ea typeface="Calibri" pitchFamily="34" charset="-122"/>
                <a:cs typeface="Calibri" pitchFamily="34" charset="-120"/>
              </a:rPr>
              <a:t>◆</a:t>
            </a:r>
            <a:endParaRPr lang="en-US" sz="1000" dirty="0"/>
          </a:p>
        </p:txBody>
      </p:sp>
      <p:sp>
        <p:nvSpPr>
          <p:cNvPr id="43" name="Text 40"/>
          <p:cNvSpPr/>
          <p:nvPr/>
        </p:nvSpPr>
        <p:spPr>
          <a:xfrm>
            <a:off x="7479792" y="5074920"/>
            <a:ext cx="3916375" cy="457200"/>
          </a:xfrm>
          <a:prstGeom prst="rect">
            <a:avLst/>
          </a:prstGeom>
          <a:noFill/>
          <a:ln/>
        </p:spPr>
        <p:txBody>
          <a:bodyPr wrap="square" lIns="0" tIns="0" rIns="0" bIns="0" rtlCol="0" anchor="t"/>
          <a:lstStyle/>
          <a:p>
            <a:pPr indent="0" marL="0">
              <a:lnSpc>
                <a:spcPct val="100000"/>
              </a:lnSpc>
              <a:buNone/>
            </a:pPr>
            <a:r>
              <a:rPr lang="en-US" sz="960" b="1" dirty="0">
                <a:solidFill>
                  <a:srgbClr val="0F1E3D"/>
                </a:solidFill>
                <a:latin typeface="Calibri" pitchFamily="34" charset="0"/>
                <a:ea typeface="Calibri" pitchFamily="34" charset="-122"/>
                <a:cs typeface="Calibri" pitchFamily="34" charset="-120"/>
              </a:rPr>
              <a:t>Quality built in — </a:t>
            </a:r>
            <a:pPr indent="0" marL="0">
              <a:lnSpc>
                <a:spcPct val="100000"/>
              </a:lnSpc>
              <a:buNone/>
            </a:pPr>
            <a:r>
              <a:rPr lang="en-US" sz="960" dirty="0">
                <a:solidFill>
                  <a:srgbClr val="3E4C63"/>
                </a:solidFill>
                <a:latin typeface="Calibri" pitchFamily="34" charset="0"/>
                <a:ea typeface="Calibri" pitchFamily="34" charset="-122"/>
                <a:cs typeface="Calibri" pitchFamily="34" charset="-120"/>
              </a:rPr>
              <a:t>~9,700 lines of tests, 917 passing — it does not silently regress</a:t>
            </a:r>
            <a:endParaRPr lang="en-US" sz="960" dirty="0"/>
          </a:p>
        </p:txBody>
      </p:sp>
      <p:sp>
        <p:nvSpPr>
          <p:cNvPr id="44" name="Shape 41"/>
          <p:cNvSpPr/>
          <p:nvPr/>
        </p:nvSpPr>
        <p:spPr>
          <a:xfrm>
            <a:off x="548640" y="5742432"/>
            <a:ext cx="11091672" cy="457200"/>
          </a:xfrm>
          <a:prstGeom prst="roundRect">
            <a:avLst>
              <a:gd name="adj" fmla="val 14000"/>
            </a:avLst>
          </a:prstGeom>
          <a:solidFill>
            <a:srgbClr val="E7F7F0"/>
          </a:solidFill>
          <a:ln w="12700">
            <a:solidFill>
              <a:srgbClr val="E4EAF2"/>
            </a:solidFill>
            <a:prstDash val="solid"/>
          </a:ln>
        </p:spPr>
      </p:sp>
      <p:sp>
        <p:nvSpPr>
          <p:cNvPr id="45" name="Shape 42"/>
          <p:cNvSpPr/>
          <p:nvPr/>
        </p:nvSpPr>
        <p:spPr>
          <a:xfrm>
            <a:off x="548640" y="5742432"/>
            <a:ext cx="82296" cy="457200"/>
          </a:xfrm>
          <a:prstGeom prst="rect">
            <a:avLst/>
          </a:prstGeom>
          <a:solidFill>
            <a:srgbClr val="4F46E5"/>
          </a:solidFill>
          <a:ln/>
        </p:spPr>
      </p:sp>
      <p:sp>
        <p:nvSpPr>
          <p:cNvPr id="46" name="Text 43"/>
          <p:cNvSpPr/>
          <p:nvPr/>
        </p:nvSpPr>
        <p:spPr>
          <a:xfrm>
            <a:off x="914400" y="5742432"/>
            <a:ext cx="10332720" cy="457200"/>
          </a:xfrm>
          <a:prstGeom prst="rect">
            <a:avLst/>
          </a:prstGeom>
          <a:noFill/>
          <a:ln/>
        </p:spPr>
        <p:txBody>
          <a:bodyPr wrap="square" lIns="0" tIns="0" rIns="0" bIns="0" rtlCol="0" anchor="ctr"/>
          <a:lstStyle/>
          <a:p>
            <a:pPr indent="0" marL="0">
              <a:buNone/>
            </a:pPr>
            <a:r>
              <a:rPr lang="en-US" sz="1100" b="1" dirty="0">
                <a:solidFill>
                  <a:srgbClr val="0F1E3D"/>
                </a:solidFill>
                <a:latin typeface="Calibri" pitchFamily="34" charset="0"/>
                <a:ea typeface="Calibri" pitchFamily="34" charset="-122"/>
                <a:cs typeface="Calibri" pitchFamily="34" charset="-120"/>
              </a:rPr>
              <a:t>The point:  </a:t>
            </a:r>
            <a:pPr indent="0" marL="0">
              <a:buNone/>
            </a:pPr>
            <a:r>
              <a:rPr lang="en-US" sz="1100" dirty="0">
                <a:solidFill>
                  <a:srgbClr val="3E4C63"/>
                </a:solidFill>
                <a:latin typeface="Calibri" pitchFamily="34" charset="0"/>
                <a:ea typeface="Calibri" pitchFamily="34" charset="-122"/>
                <a:cs typeface="Calibri" pitchFamily="34" charset="-120"/>
              </a:rPr>
              <a:t>this depth of engineering is exactly why the intelligence is a durable, proprietary company asset — not a subscription that can be switched off.</a:t>
            </a:r>
            <a:endParaRPr lang="en-US" sz="1100" dirty="0"/>
          </a:p>
        </p:txBody>
      </p:sp>
      <p:sp>
        <p:nvSpPr>
          <p:cNvPr id="47" name="Shape 44"/>
          <p:cNvSpPr/>
          <p:nvPr/>
        </p:nvSpPr>
        <p:spPr>
          <a:xfrm>
            <a:off x="548640" y="6400800"/>
            <a:ext cx="11094415" cy="12802"/>
          </a:xfrm>
          <a:prstGeom prst="rect">
            <a:avLst/>
          </a:prstGeom>
          <a:solidFill>
            <a:srgbClr val="E4EAF2"/>
          </a:solidFill>
          <a:ln/>
        </p:spPr>
      </p:sp>
      <p:sp>
        <p:nvSpPr>
          <p:cNvPr id="48" name="Text 45"/>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49" name="Text 46"/>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20 / 25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2563EB"/>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2563EB"/>
                </a:solidFill>
                <a:latin typeface="Calibri" pitchFamily="34" charset="0"/>
                <a:ea typeface="Calibri" pitchFamily="34" charset="-122"/>
                <a:cs typeface="Calibri" pitchFamily="34" charset="-120"/>
              </a:rPr>
              <a:t>VALUE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What this means for the business</a:t>
            </a:r>
            <a:endParaRPr lang="en-US" sz="2400" dirty="0"/>
          </a:p>
        </p:txBody>
      </p:sp>
      <p:sp>
        <p:nvSpPr>
          <p:cNvPr id="9" name="Shape 7"/>
          <p:cNvSpPr/>
          <p:nvPr/>
        </p:nvSpPr>
        <p:spPr>
          <a:xfrm>
            <a:off x="548640" y="1371600"/>
            <a:ext cx="1051560" cy="45720"/>
          </a:xfrm>
          <a:prstGeom prst="rect">
            <a:avLst/>
          </a:prstGeom>
          <a:solidFill>
            <a:srgbClr val="2563EB"/>
          </a:solidFill>
          <a:ln/>
        </p:spPr>
      </p:sp>
      <p:sp>
        <p:nvSpPr>
          <p:cNvPr id="10" name="Shape 8"/>
          <p:cNvSpPr/>
          <p:nvPr/>
        </p:nvSpPr>
        <p:spPr>
          <a:xfrm>
            <a:off x="548640" y="1691640"/>
            <a:ext cx="5422392" cy="1783080"/>
          </a:xfrm>
          <a:prstGeom prst="roundRect">
            <a:avLst>
              <a:gd name="adj" fmla="val 3590"/>
            </a:avLst>
          </a:prstGeom>
          <a:solidFill>
            <a:srgbClr val="FFFFFF"/>
          </a:solidFill>
          <a:ln w="12700">
            <a:solidFill>
              <a:srgbClr val="E4EAF2"/>
            </a:solidFill>
            <a:prstDash val="solid"/>
          </a:ln>
          <a:effectLst>
            <a:outerShdw sx="100000" sy="100000" kx="0" ky="0" algn="bl" rotWithShape="0" blurRad="2.425115683380645e+259" dist="6.928901952516129e+258" dir="9.501042999445996e+302">
              <a:srgbClr val="9DB0CC">
                <a:alpha val="Infinity"/>
              </a:srgbClr>
            </a:outerShdw>
          </a:effectLst>
        </p:spPr>
      </p:sp>
      <p:sp>
        <p:nvSpPr>
          <p:cNvPr id="11" name="Shape 9"/>
          <p:cNvSpPr/>
          <p:nvPr/>
        </p:nvSpPr>
        <p:spPr>
          <a:xfrm>
            <a:off x="548640" y="1691640"/>
            <a:ext cx="82296" cy="1783080"/>
          </a:xfrm>
          <a:prstGeom prst="rect">
            <a:avLst/>
          </a:prstGeom>
          <a:solidFill>
            <a:srgbClr val="2563EB"/>
          </a:solidFill>
          <a:ln/>
        </p:spPr>
      </p:sp>
      <p:sp>
        <p:nvSpPr>
          <p:cNvPr id="12" name="Shape 10"/>
          <p:cNvSpPr/>
          <p:nvPr/>
        </p:nvSpPr>
        <p:spPr>
          <a:xfrm>
            <a:off x="822960" y="1965960"/>
            <a:ext cx="548640" cy="548640"/>
          </a:xfrm>
          <a:prstGeom prst="ellipse">
            <a:avLst/>
          </a:prstGeom>
          <a:solidFill>
            <a:srgbClr val="EAF1FE"/>
          </a:solidFill>
          <a:ln/>
        </p:spPr>
      </p:sp>
      <p:sp>
        <p:nvSpPr>
          <p:cNvPr id="13" name="Text 11"/>
          <p:cNvSpPr/>
          <p:nvPr/>
        </p:nvSpPr>
        <p:spPr>
          <a:xfrm>
            <a:off x="822960" y="1956816"/>
            <a:ext cx="548640" cy="548640"/>
          </a:xfrm>
          <a:prstGeom prst="rect">
            <a:avLst/>
          </a:prstGeom>
          <a:noFill/>
          <a:ln/>
        </p:spPr>
        <p:txBody>
          <a:bodyPr wrap="square" lIns="0" tIns="0" rIns="0" bIns="0" rtlCol="0" anchor="ctr"/>
          <a:lstStyle/>
          <a:p>
            <a:pPr algn="ctr" indent="0" marL="0">
              <a:buNone/>
            </a:pPr>
            <a:r>
              <a:rPr lang="en-US" sz="2000" b="1" dirty="0">
                <a:solidFill>
                  <a:srgbClr val="2563EB"/>
                </a:solidFill>
                <a:latin typeface="Calibri" pitchFamily="34" charset="0"/>
                <a:ea typeface="Calibri" pitchFamily="34" charset="-122"/>
                <a:cs typeface="Calibri" pitchFamily="34" charset="-120"/>
              </a:rPr>
              <a:t>⚡</a:t>
            </a:r>
            <a:endParaRPr lang="en-US" sz="2000" dirty="0"/>
          </a:p>
        </p:txBody>
      </p:sp>
      <p:sp>
        <p:nvSpPr>
          <p:cNvPr id="14" name="Text 12"/>
          <p:cNvSpPr/>
          <p:nvPr/>
        </p:nvSpPr>
        <p:spPr>
          <a:xfrm>
            <a:off x="1517904" y="2002536"/>
            <a:ext cx="4297680" cy="365760"/>
          </a:xfrm>
          <a:prstGeom prst="rect">
            <a:avLst/>
          </a:prstGeom>
          <a:noFill/>
          <a:ln/>
        </p:spPr>
        <p:txBody>
          <a:bodyPr wrap="square" lIns="0" tIns="0" rIns="0" bIns="0" rtlCol="0" anchor="ctr"/>
          <a:lstStyle/>
          <a:p>
            <a:pPr indent="0" marL="0">
              <a:buNone/>
            </a:pPr>
            <a:r>
              <a:rPr lang="en-US" sz="1550" b="1" dirty="0">
                <a:solidFill>
                  <a:srgbClr val="2563EB"/>
                </a:solidFill>
                <a:latin typeface="Calibri" pitchFamily="34" charset="0"/>
                <a:ea typeface="Calibri" pitchFamily="34" charset="-122"/>
                <a:cs typeface="Calibri" pitchFamily="34" charset="-120"/>
              </a:rPr>
              <a:t>Speed</a:t>
            </a:r>
            <a:endParaRPr lang="en-US" sz="1550" dirty="0"/>
          </a:p>
        </p:txBody>
      </p:sp>
      <p:sp>
        <p:nvSpPr>
          <p:cNvPr id="15" name="Text 13"/>
          <p:cNvSpPr/>
          <p:nvPr/>
        </p:nvSpPr>
        <p:spPr>
          <a:xfrm>
            <a:off x="841248" y="2606040"/>
            <a:ext cx="5029200" cy="777240"/>
          </a:xfrm>
          <a:prstGeom prst="rect">
            <a:avLst/>
          </a:prstGeom>
          <a:noFill/>
          <a:ln/>
        </p:spPr>
        <p:txBody>
          <a:bodyPr wrap="square" lIns="0" tIns="0" rIns="0" bIns="0" rtlCol="0" anchor="t"/>
          <a:lstStyle/>
          <a:p>
            <a:pPr indent="0" marL="0">
              <a:lnSpc>
                <a:spcPct val="116000"/>
              </a:lnSpc>
              <a:buNone/>
            </a:pPr>
            <a:r>
              <a:rPr lang="en-US" sz="1150" dirty="0">
                <a:solidFill>
                  <a:srgbClr val="3E4C63"/>
                </a:solidFill>
                <a:latin typeface="Calibri" pitchFamily="34" charset="0"/>
                <a:ea typeface="Calibri" pitchFamily="34" charset="-122"/>
                <a:cs typeface="Calibri" pitchFamily="34" charset="-120"/>
              </a:rPr>
              <a:t>Weeks of RFQ cycle collapse to minutes — the first defensible number arrives while the meeting is still happening.</a:t>
            </a:r>
            <a:endParaRPr lang="en-US" sz="1150" dirty="0"/>
          </a:p>
        </p:txBody>
      </p:sp>
      <p:sp>
        <p:nvSpPr>
          <p:cNvPr id="16" name="Shape 14"/>
          <p:cNvSpPr/>
          <p:nvPr/>
        </p:nvSpPr>
        <p:spPr>
          <a:xfrm>
            <a:off x="6217920" y="1691640"/>
            <a:ext cx="5422392" cy="1783080"/>
          </a:xfrm>
          <a:prstGeom prst="roundRect">
            <a:avLst>
              <a:gd name="adj" fmla="val 3590"/>
            </a:avLst>
          </a:prstGeom>
          <a:solidFill>
            <a:srgbClr val="FFFFFF"/>
          </a:solidFill>
          <a:ln w="12700">
            <a:solidFill>
              <a:srgbClr val="E4EAF2"/>
            </a:solidFill>
            <a:prstDash val="solid"/>
          </a:ln>
          <a:effectLst>
            <a:outerShdw sx="100000" sy="100000" kx="0" ky="0" algn="bl" rotWithShape="0" blurRad="3.079896917893419e+263" dist="8.799705479695485e+262" dir="5.700625799667598e+307">
              <a:srgbClr val="9DB0CC">
                <a:alpha val="Infinity"/>
              </a:srgbClr>
            </a:outerShdw>
          </a:effectLst>
        </p:spPr>
      </p:sp>
      <p:sp>
        <p:nvSpPr>
          <p:cNvPr id="17" name="Shape 15"/>
          <p:cNvSpPr/>
          <p:nvPr/>
        </p:nvSpPr>
        <p:spPr>
          <a:xfrm>
            <a:off x="6217920" y="1691640"/>
            <a:ext cx="82296" cy="1783080"/>
          </a:xfrm>
          <a:prstGeom prst="rect">
            <a:avLst/>
          </a:prstGeom>
          <a:solidFill>
            <a:srgbClr val="0EA472"/>
          </a:solidFill>
          <a:ln/>
        </p:spPr>
      </p:sp>
      <p:sp>
        <p:nvSpPr>
          <p:cNvPr id="18" name="Shape 16"/>
          <p:cNvSpPr/>
          <p:nvPr/>
        </p:nvSpPr>
        <p:spPr>
          <a:xfrm>
            <a:off x="6492240" y="1965960"/>
            <a:ext cx="548640" cy="548640"/>
          </a:xfrm>
          <a:prstGeom prst="ellipse">
            <a:avLst/>
          </a:prstGeom>
          <a:solidFill>
            <a:srgbClr val="E7F7F0"/>
          </a:solidFill>
          <a:ln/>
        </p:spPr>
      </p:sp>
      <p:sp>
        <p:nvSpPr>
          <p:cNvPr id="19" name="Text 17"/>
          <p:cNvSpPr/>
          <p:nvPr/>
        </p:nvSpPr>
        <p:spPr>
          <a:xfrm>
            <a:off x="6492240" y="1956816"/>
            <a:ext cx="548640" cy="548640"/>
          </a:xfrm>
          <a:prstGeom prst="rect">
            <a:avLst/>
          </a:prstGeom>
          <a:noFill/>
          <a:ln/>
        </p:spPr>
        <p:txBody>
          <a:bodyPr wrap="square" lIns="0" tIns="0" rIns="0" bIns="0" rtlCol="0" anchor="ctr"/>
          <a:lstStyle/>
          <a:p>
            <a:pPr algn="ctr" indent="0" marL="0">
              <a:buNone/>
            </a:pPr>
            <a:r>
              <a:rPr lang="en-US" sz="2000" b="1" dirty="0">
                <a:solidFill>
                  <a:srgbClr val="0EA472"/>
                </a:solidFill>
                <a:latin typeface="Calibri" pitchFamily="34" charset="0"/>
                <a:ea typeface="Calibri" pitchFamily="34" charset="-122"/>
                <a:cs typeface="Calibri" pitchFamily="34" charset="-120"/>
              </a:rPr>
              <a:t>£</a:t>
            </a:r>
            <a:endParaRPr lang="en-US" sz="2000" dirty="0"/>
          </a:p>
        </p:txBody>
      </p:sp>
      <p:sp>
        <p:nvSpPr>
          <p:cNvPr id="20" name="Text 18"/>
          <p:cNvSpPr/>
          <p:nvPr/>
        </p:nvSpPr>
        <p:spPr>
          <a:xfrm>
            <a:off x="7187184" y="2002536"/>
            <a:ext cx="4297680" cy="365760"/>
          </a:xfrm>
          <a:prstGeom prst="rect">
            <a:avLst/>
          </a:prstGeom>
          <a:noFill/>
          <a:ln/>
        </p:spPr>
        <p:txBody>
          <a:bodyPr wrap="square" lIns="0" tIns="0" rIns="0" bIns="0" rtlCol="0" anchor="ctr"/>
          <a:lstStyle/>
          <a:p>
            <a:pPr indent="0" marL="0">
              <a:buNone/>
            </a:pPr>
            <a:r>
              <a:rPr lang="en-US" sz="1550" b="1" dirty="0">
                <a:solidFill>
                  <a:srgbClr val="0EA472"/>
                </a:solidFill>
                <a:latin typeface="Calibri" pitchFamily="34" charset="0"/>
                <a:ea typeface="Calibri" pitchFamily="34" charset="-122"/>
                <a:cs typeface="Calibri" pitchFamily="34" charset="-120"/>
              </a:rPr>
              <a:t>Margin recovery</a:t>
            </a:r>
            <a:endParaRPr lang="en-US" sz="1550" dirty="0"/>
          </a:p>
        </p:txBody>
      </p:sp>
      <p:sp>
        <p:nvSpPr>
          <p:cNvPr id="21" name="Text 19"/>
          <p:cNvSpPr/>
          <p:nvPr/>
        </p:nvSpPr>
        <p:spPr>
          <a:xfrm>
            <a:off x="6510528" y="2606040"/>
            <a:ext cx="5029200" cy="777240"/>
          </a:xfrm>
          <a:prstGeom prst="rect">
            <a:avLst/>
          </a:prstGeom>
          <a:noFill/>
          <a:ln/>
        </p:spPr>
        <p:txBody>
          <a:bodyPr wrap="square" lIns="0" tIns="0" rIns="0" bIns="0" rtlCol="0" anchor="t"/>
          <a:lstStyle/>
          <a:p>
            <a:pPr indent="0" marL="0">
              <a:lnSpc>
                <a:spcPct val="116000"/>
              </a:lnSpc>
              <a:buNone/>
            </a:pPr>
            <a:r>
              <a:rPr lang="en-US" sz="1150" dirty="0">
                <a:solidFill>
                  <a:srgbClr val="3E4C63"/>
                </a:solidFill>
                <a:latin typeface="Calibri" pitchFamily="34" charset="0"/>
                <a:ea typeface="Calibri" pitchFamily="34" charset="-122"/>
                <a:cs typeface="Calibri" pitchFamily="34" charset="-120"/>
              </a:rPr>
              <a:t>Line-level should-cost lets you challenge every quote by driver — the agent alone surfaced ~£512k/yr in a demo.</a:t>
            </a:r>
            <a:endParaRPr lang="en-US" sz="1150" dirty="0"/>
          </a:p>
        </p:txBody>
      </p:sp>
      <p:sp>
        <p:nvSpPr>
          <p:cNvPr id="22" name="Shape 20"/>
          <p:cNvSpPr/>
          <p:nvPr/>
        </p:nvSpPr>
        <p:spPr>
          <a:xfrm>
            <a:off x="548640" y="3657600"/>
            <a:ext cx="5422392" cy="1783080"/>
          </a:xfrm>
          <a:prstGeom prst="roundRect">
            <a:avLst>
              <a:gd name="adj" fmla="val 3590"/>
            </a:avLst>
          </a:prstGeom>
          <a:solidFill>
            <a:srgbClr val="FFFFFF"/>
          </a:solidFill>
          <a:ln w="12700">
            <a:solidFill>
              <a:srgbClr val="E4EAF2"/>
            </a:solidFill>
            <a:prstDash val="solid"/>
          </a:ln>
          <a:effectLst>
            <a:outerShdw sx="100000" sy="100000" kx="0" ky="0" algn="bl" rotWithShape="0" blurRad="3.9114690857246423e+267" dist="1.1175625959213265e+267" dir="Infinity">
              <a:srgbClr val="9DB0CC">
                <a:alpha val="Infinity"/>
              </a:srgbClr>
            </a:outerShdw>
          </a:effectLst>
        </p:spPr>
      </p:sp>
      <p:sp>
        <p:nvSpPr>
          <p:cNvPr id="23" name="Shape 21"/>
          <p:cNvSpPr/>
          <p:nvPr/>
        </p:nvSpPr>
        <p:spPr>
          <a:xfrm>
            <a:off x="548640" y="3657600"/>
            <a:ext cx="82296" cy="1783080"/>
          </a:xfrm>
          <a:prstGeom prst="rect">
            <a:avLst/>
          </a:prstGeom>
          <a:solidFill>
            <a:srgbClr val="7C3AED"/>
          </a:solidFill>
          <a:ln/>
        </p:spPr>
      </p:sp>
      <p:sp>
        <p:nvSpPr>
          <p:cNvPr id="24" name="Shape 22"/>
          <p:cNvSpPr/>
          <p:nvPr/>
        </p:nvSpPr>
        <p:spPr>
          <a:xfrm>
            <a:off x="822960" y="3931920"/>
            <a:ext cx="548640" cy="548640"/>
          </a:xfrm>
          <a:prstGeom prst="ellipse">
            <a:avLst/>
          </a:prstGeom>
          <a:solidFill>
            <a:srgbClr val="F3EEFE"/>
          </a:solidFill>
          <a:ln/>
        </p:spPr>
      </p:sp>
      <p:sp>
        <p:nvSpPr>
          <p:cNvPr id="25" name="Text 23"/>
          <p:cNvSpPr/>
          <p:nvPr/>
        </p:nvSpPr>
        <p:spPr>
          <a:xfrm>
            <a:off x="822960" y="3922776"/>
            <a:ext cx="548640" cy="548640"/>
          </a:xfrm>
          <a:prstGeom prst="rect">
            <a:avLst/>
          </a:prstGeom>
          <a:noFill/>
          <a:ln/>
        </p:spPr>
        <p:txBody>
          <a:bodyPr wrap="square" lIns="0" tIns="0" rIns="0" bIns="0" rtlCol="0" anchor="ctr"/>
          <a:lstStyle/>
          <a:p>
            <a:pPr algn="ctr" indent="0" marL="0">
              <a:buNone/>
            </a:pPr>
            <a:r>
              <a:rPr lang="en-US" sz="2000" b="1" dirty="0">
                <a:solidFill>
                  <a:srgbClr val="7C3AED"/>
                </a:solidFill>
                <a:latin typeface="Calibri" pitchFamily="34" charset="0"/>
                <a:ea typeface="Calibri" pitchFamily="34" charset="-122"/>
                <a:cs typeface="Calibri" pitchFamily="34" charset="-120"/>
              </a:rPr>
              <a:t>◎</a:t>
            </a:r>
            <a:endParaRPr lang="en-US" sz="2000" dirty="0"/>
          </a:p>
        </p:txBody>
      </p:sp>
      <p:sp>
        <p:nvSpPr>
          <p:cNvPr id="26" name="Text 24"/>
          <p:cNvSpPr/>
          <p:nvPr/>
        </p:nvSpPr>
        <p:spPr>
          <a:xfrm>
            <a:off x="1517904" y="3968496"/>
            <a:ext cx="4297680" cy="365760"/>
          </a:xfrm>
          <a:prstGeom prst="rect">
            <a:avLst/>
          </a:prstGeom>
          <a:noFill/>
          <a:ln/>
        </p:spPr>
        <p:txBody>
          <a:bodyPr wrap="square" lIns="0" tIns="0" rIns="0" bIns="0" rtlCol="0" anchor="ctr"/>
          <a:lstStyle/>
          <a:p>
            <a:pPr indent="0" marL="0">
              <a:buNone/>
            </a:pPr>
            <a:r>
              <a:rPr lang="en-US" sz="1550" b="1" dirty="0">
                <a:solidFill>
                  <a:srgbClr val="7C3AED"/>
                </a:solidFill>
                <a:latin typeface="Calibri" pitchFamily="34" charset="0"/>
                <a:ea typeface="Calibri" pitchFamily="34" charset="-122"/>
                <a:cs typeface="Calibri" pitchFamily="34" charset="-120"/>
              </a:rPr>
              <a:t>Consistency &amp; speed-to-competence</a:t>
            </a:r>
            <a:endParaRPr lang="en-US" sz="1550" dirty="0"/>
          </a:p>
        </p:txBody>
      </p:sp>
      <p:sp>
        <p:nvSpPr>
          <p:cNvPr id="27" name="Text 25"/>
          <p:cNvSpPr/>
          <p:nvPr/>
        </p:nvSpPr>
        <p:spPr>
          <a:xfrm>
            <a:off x="841248" y="4572000"/>
            <a:ext cx="5029200" cy="777240"/>
          </a:xfrm>
          <a:prstGeom prst="rect">
            <a:avLst/>
          </a:prstGeom>
          <a:noFill/>
          <a:ln/>
        </p:spPr>
        <p:txBody>
          <a:bodyPr wrap="square" lIns="0" tIns="0" rIns="0" bIns="0" rtlCol="0" anchor="t"/>
          <a:lstStyle/>
          <a:p>
            <a:pPr indent="0" marL="0">
              <a:lnSpc>
                <a:spcPct val="116000"/>
              </a:lnSpc>
              <a:buNone/>
            </a:pPr>
            <a:r>
              <a:rPr lang="en-US" sz="1150" dirty="0">
                <a:solidFill>
                  <a:srgbClr val="3E4C63"/>
                </a:solidFill>
                <a:latin typeface="Calibri" pitchFamily="34" charset="0"/>
                <a:ea typeface="Calibri" pitchFamily="34" charset="-122"/>
                <a:cs typeface="Calibri" pitchFamily="34" charset="-120"/>
              </a:rPr>
              <a:t>One consistent answer for everyone; juniors cost like seniors from day one.</a:t>
            </a:r>
            <a:endParaRPr lang="en-US" sz="1150" dirty="0"/>
          </a:p>
        </p:txBody>
      </p:sp>
      <p:sp>
        <p:nvSpPr>
          <p:cNvPr id="28" name="Shape 26"/>
          <p:cNvSpPr/>
          <p:nvPr/>
        </p:nvSpPr>
        <p:spPr>
          <a:xfrm>
            <a:off x="6217920" y="3657600"/>
            <a:ext cx="5422392" cy="1783080"/>
          </a:xfrm>
          <a:prstGeom prst="roundRect">
            <a:avLst>
              <a:gd name="adj" fmla="val 3590"/>
            </a:avLst>
          </a:prstGeom>
          <a:solidFill>
            <a:srgbClr val="FFFFFF"/>
          </a:solidFill>
          <a:ln w="12700">
            <a:solidFill>
              <a:srgbClr val="E4EAF2"/>
            </a:solidFill>
            <a:prstDash val="solid"/>
          </a:ln>
          <a:effectLst>
            <a:outerShdw sx="100000" sy="100000" kx="0" ky="0" algn="bl" rotWithShape="0" blurRad="4.9675657388702955e+271" dist="1.4193044968200846e+271" dir="Infinity">
              <a:srgbClr val="9DB0CC">
                <a:alpha val="Infinity"/>
              </a:srgbClr>
            </a:outerShdw>
          </a:effectLst>
        </p:spPr>
      </p:sp>
      <p:sp>
        <p:nvSpPr>
          <p:cNvPr id="29" name="Shape 27"/>
          <p:cNvSpPr/>
          <p:nvPr/>
        </p:nvSpPr>
        <p:spPr>
          <a:xfrm>
            <a:off x="6217920" y="3657600"/>
            <a:ext cx="82296" cy="1783080"/>
          </a:xfrm>
          <a:prstGeom prst="rect">
            <a:avLst/>
          </a:prstGeom>
          <a:solidFill>
            <a:srgbClr val="E0900C"/>
          </a:solidFill>
          <a:ln/>
        </p:spPr>
      </p:sp>
      <p:sp>
        <p:nvSpPr>
          <p:cNvPr id="30" name="Shape 28"/>
          <p:cNvSpPr/>
          <p:nvPr/>
        </p:nvSpPr>
        <p:spPr>
          <a:xfrm>
            <a:off x="6492240" y="3931920"/>
            <a:ext cx="548640" cy="548640"/>
          </a:xfrm>
          <a:prstGeom prst="ellipse">
            <a:avLst/>
          </a:prstGeom>
          <a:solidFill>
            <a:srgbClr val="FEF6E7"/>
          </a:solidFill>
          <a:ln/>
        </p:spPr>
      </p:sp>
      <p:sp>
        <p:nvSpPr>
          <p:cNvPr id="31" name="Text 29"/>
          <p:cNvSpPr/>
          <p:nvPr/>
        </p:nvSpPr>
        <p:spPr>
          <a:xfrm>
            <a:off x="6492240" y="3922776"/>
            <a:ext cx="548640" cy="548640"/>
          </a:xfrm>
          <a:prstGeom prst="rect">
            <a:avLst/>
          </a:prstGeom>
          <a:noFill/>
          <a:ln/>
        </p:spPr>
        <p:txBody>
          <a:bodyPr wrap="square" lIns="0" tIns="0" rIns="0" bIns="0" rtlCol="0" anchor="ctr"/>
          <a:lstStyle/>
          <a:p>
            <a:pPr algn="ctr" indent="0" marL="0">
              <a:buNone/>
            </a:pPr>
            <a:r>
              <a:rPr lang="en-US" sz="2000" b="1" dirty="0">
                <a:solidFill>
                  <a:srgbClr val="E0900C"/>
                </a:solidFill>
                <a:latin typeface="Calibri" pitchFamily="34" charset="0"/>
                <a:ea typeface="Calibri" pitchFamily="34" charset="-122"/>
                <a:cs typeface="Calibri" pitchFamily="34" charset="-120"/>
              </a:rPr>
              <a:t>🏦</a:t>
            </a:r>
            <a:endParaRPr lang="en-US" sz="2000" dirty="0"/>
          </a:p>
        </p:txBody>
      </p:sp>
      <p:sp>
        <p:nvSpPr>
          <p:cNvPr id="32" name="Text 30"/>
          <p:cNvSpPr/>
          <p:nvPr/>
        </p:nvSpPr>
        <p:spPr>
          <a:xfrm>
            <a:off x="7187184" y="3968496"/>
            <a:ext cx="4297680" cy="365760"/>
          </a:xfrm>
          <a:prstGeom prst="rect">
            <a:avLst/>
          </a:prstGeom>
          <a:noFill/>
          <a:ln/>
        </p:spPr>
        <p:txBody>
          <a:bodyPr wrap="square" lIns="0" tIns="0" rIns="0" bIns="0" rtlCol="0" anchor="ctr"/>
          <a:lstStyle/>
          <a:p>
            <a:pPr indent="0" marL="0">
              <a:buNone/>
            </a:pPr>
            <a:r>
              <a:rPr lang="en-US" sz="1550" b="1" dirty="0">
                <a:solidFill>
                  <a:srgbClr val="E0900C"/>
                </a:solidFill>
                <a:latin typeface="Calibri" pitchFamily="34" charset="0"/>
                <a:ea typeface="Calibri" pitchFamily="34" charset="-122"/>
                <a:cs typeface="Calibri" pitchFamily="34" charset="-120"/>
              </a:rPr>
              <a:t>A compounding asset</a:t>
            </a:r>
            <a:endParaRPr lang="en-US" sz="1550" dirty="0"/>
          </a:p>
        </p:txBody>
      </p:sp>
      <p:sp>
        <p:nvSpPr>
          <p:cNvPr id="33" name="Text 31"/>
          <p:cNvSpPr/>
          <p:nvPr/>
        </p:nvSpPr>
        <p:spPr>
          <a:xfrm>
            <a:off x="6510528" y="4572000"/>
            <a:ext cx="5029200" cy="777240"/>
          </a:xfrm>
          <a:prstGeom prst="rect">
            <a:avLst/>
          </a:prstGeom>
          <a:noFill/>
          <a:ln/>
        </p:spPr>
        <p:txBody>
          <a:bodyPr wrap="square" lIns="0" tIns="0" rIns="0" bIns="0" rtlCol="0" anchor="t"/>
          <a:lstStyle/>
          <a:p>
            <a:pPr indent="0" marL="0">
              <a:lnSpc>
                <a:spcPct val="116000"/>
              </a:lnSpc>
              <a:buNone/>
            </a:pPr>
            <a:r>
              <a:rPr lang="en-US" sz="1150" dirty="0">
                <a:solidFill>
                  <a:srgbClr val="3E4C63"/>
                </a:solidFill>
                <a:latin typeface="Calibri" pitchFamily="34" charset="0"/>
                <a:ea typeface="Calibri" pitchFamily="34" charset="-122"/>
                <a:cs typeface="Calibri" pitchFamily="34" charset="-120"/>
              </a:rPr>
              <a:t>Costing knowledge becomes proprietary data on our own servers — it grows, and competitors cannot buy it.</a:t>
            </a:r>
            <a:endParaRPr lang="en-US" sz="1150" dirty="0"/>
          </a:p>
        </p:txBody>
      </p:sp>
      <p:sp>
        <p:nvSpPr>
          <p:cNvPr id="34" name="Shape 32"/>
          <p:cNvSpPr/>
          <p:nvPr/>
        </p:nvSpPr>
        <p:spPr>
          <a:xfrm>
            <a:off x="548640" y="5669280"/>
            <a:ext cx="11091672" cy="457200"/>
          </a:xfrm>
          <a:prstGeom prst="roundRect">
            <a:avLst>
              <a:gd name="adj" fmla="val 14000"/>
            </a:avLst>
          </a:prstGeom>
          <a:solidFill>
            <a:srgbClr val="EAF1FE"/>
          </a:solidFill>
          <a:ln w="12700">
            <a:solidFill>
              <a:srgbClr val="E4EAF2"/>
            </a:solidFill>
            <a:prstDash val="solid"/>
          </a:ln>
        </p:spPr>
      </p:sp>
      <p:sp>
        <p:nvSpPr>
          <p:cNvPr id="35" name="Text 33"/>
          <p:cNvSpPr/>
          <p:nvPr/>
        </p:nvSpPr>
        <p:spPr>
          <a:xfrm>
            <a:off x="914400" y="5669280"/>
            <a:ext cx="10332720" cy="457200"/>
          </a:xfrm>
          <a:prstGeom prst="rect">
            <a:avLst/>
          </a:prstGeom>
          <a:noFill/>
          <a:ln/>
        </p:spPr>
        <p:txBody>
          <a:bodyPr wrap="square" lIns="0" tIns="0" rIns="0" bIns="0" rtlCol="0" anchor="ctr"/>
          <a:lstStyle/>
          <a:p>
            <a:pPr indent="0" marL="0">
              <a:buNone/>
            </a:pPr>
            <a:r>
              <a:rPr lang="en-US" sz="1200" b="1" dirty="0">
                <a:solidFill>
                  <a:srgbClr val="0F1E3D"/>
                </a:solidFill>
                <a:latin typeface="Calibri" pitchFamily="34" charset="0"/>
                <a:ea typeface="Calibri" pitchFamily="34" charset="-122"/>
                <a:cs typeface="Calibri" pitchFamily="34" charset="-120"/>
              </a:rPr>
              <a:t>Net:  </a:t>
            </a:r>
            <a:pPr indent="0" marL="0">
              <a:buNone/>
            </a:pPr>
            <a:r>
              <a:rPr lang="en-US" sz="1200" dirty="0">
                <a:solidFill>
                  <a:srgbClr val="3E4C63"/>
                </a:solidFill>
                <a:latin typeface="Calibri" pitchFamily="34" charset="0"/>
                <a:ea typeface="Calibri" pitchFamily="34" charset="-122"/>
                <a:cs typeface="Calibri" pitchFamily="34" charset="-120"/>
              </a:rPr>
              <a:t>faster quotes, better margins, consistent numbers, and an intelligence asset that appreciates with every use — at zero extra licence cost, on our own infrastructure.</a:t>
            </a:r>
            <a:endParaRPr lang="en-US" sz="1200" dirty="0"/>
          </a:p>
        </p:txBody>
      </p:sp>
      <p:sp>
        <p:nvSpPr>
          <p:cNvPr id="36" name="Shape 34"/>
          <p:cNvSpPr/>
          <p:nvPr/>
        </p:nvSpPr>
        <p:spPr>
          <a:xfrm>
            <a:off x="548640" y="6400800"/>
            <a:ext cx="11094415" cy="12802"/>
          </a:xfrm>
          <a:prstGeom prst="rect">
            <a:avLst/>
          </a:prstGeom>
          <a:solidFill>
            <a:srgbClr val="E4EAF2"/>
          </a:solidFill>
          <a:ln/>
        </p:spPr>
      </p:sp>
      <p:sp>
        <p:nvSpPr>
          <p:cNvPr id="37" name="Text 35"/>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38" name="Text 36"/>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21 / 25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DA5A0"/>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DA5A0"/>
                </a:solidFill>
                <a:latin typeface="Calibri" pitchFamily="34" charset="0"/>
                <a:ea typeface="Calibri" pitchFamily="34" charset="-122"/>
                <a:cs typeface="Calibri" pitchFamily="34" charset="-120"/>
              </a:rPr>
              <a:t>ROADMAP</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Way forward — the implementation blueprint</a:t>
            </a:r>
            <a:endParaRPr lang="en-US" sz="2400" dirty="0"/>
          </a:p>
        </p:txBody>
      </p:sp>
      <p:sp>
        <p:nvSpPr>
          <p:cNvPr id="9" name="Shape 7"/>
          <p:cNvSpPr/>
          <p:nvPr/>
        </p:nvSpPr>
        <p:spPr>
          <a:xfrm>
            <a:off x="548640" y="1371600"/>
            <a:ext cx="1051560" cy="45720"/>
          </a:xfrm>
          <a:prstGeom prst="rect">
            <a:avLst/>
          </a:prstGeom>
          <a:solidFill>
            <a:srgbClr val="0DA5A0"/>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A low-risk, staged rollout — prove it on a pilot, scale to the team, then embed it in how we quote and negotiate.</a:t>
            </a:r>
            <a:endParaRPr lang="en-US" sz="1250" dirty="0"/>
          </a:p>
        </p:txBody>
      </p:sp>
      <p:sp>
        <p:nvSpPr>
          <p:cNvPr id="11" name="Shape 9"/>
          <p:cNvSpPr/>
          <p:nvPr/>
        </p:nvSpPr>
        <p:spPr>
          <a:xfrm>
            <a:off x="548640" y="2103120"/>
            <a:ext cx="3520440" cy="3063240"/>
          </a:xfrm>
          <a:prstGeom prst="roundRect">
            <a:avLst>
              <a:gd name="adj" fmla="val 2090"/>
            </a:avLst>
          </a:prstGeom>
          <a:solidFill>
            <a:srgbClr val="FFFFFF"/>
          </a:solidFill>
          <a:ln w="12700">
            <a:solidFill>
              <a:srgbClr val="E4EAF2"/>
            </a:solidFill>
            <a:prstDash val="solid"/>
          </a:ln>
          <a:effectLst>
            <a:outerShdw sx="100000" sy="100000" kx="0" ky="0" algn="bl" rotWithShape="0" blurRad="6.308808488365275e+275" dist="1.8025167109615074e+275" dir="Infinity">
              <a:srgbClr val="9DB0CC">
                <a:alpha val="Infinity"/>
              </a:srgbClr>
            </a:outerShdw>
          </a:effectLst>
        </p:spPr>
      </p:sp>
      <p:sp>
        <p:nvSpPr>
          <p:cNvPr id="12" name="Shape 10"/>
          <p:cNvSpPr/>
          <p:nvPr/>
        </p:nvSpPr>
        <p:spPr>
          <a:xfrm>
            <a:off x="548640" y="2103120"/>
            <a:ext cx="82296" cy="3063240"/>
          </a:xfrm>
          <a:prstGeom prst="rect">
            <a:avLst/>
          </a:prstGeom>
          <a:solidFill>
            <a:srgbClr val="2563EB"/>
          </a:solidFill>
          <a:ln/>
        </p:spPr>
      </p:sp>
      <p:sp>
        <p:nvSpPr>
          <p:cNvPr id="13" name="Text 11"/>
          <p:cNvSpPr/>
          <p:nvPr/>
        </p:nvSpPr>
        <p:spPr>
          <a:xfrm>
            <a:off x="804672" y="2322576"/>
            <a:ext cx="3063240" cy="365760"/>
          </a:xfrm>
          <a:prstGeom prst="rect">
            <a:avLst/>
          </a:prstGeom>
          <a:noFill/>
          <a:ln/>
        </p:spPr>
        <p:txBody>
          <a:bodyPr wrap="square" lIns="0" tIns="0" rIns="0" bIns="0" rtlCol="0" anchor="t"/>
          <a:lstStyle/>
          <a:p>
            <a:pPr indent="0" marL="0">
              <a:buNone/>
            </a:pPr>
            <a:r>
              <a:rPr lang="en-US" sz="1450" b="1" dirty="0">
                <a:solidFill>
                  <a:srgbClr val="2563EB"/>
                </a:solidFill>
                <a:latin typeface="Calibri" pitchFamily="34" charset="0"/>
                <a:ea typeface="Calibri" pitchFamily="34" charset="-122"/>
                <a:cs typeface="Calibri" pitchFamily="34" charset="-120"/>
              </a:rPr>
              <a:t>Phase 1 — Pilot</a:t>
            </a:r>
            <a:endParaRPr lang="en-US" sz="1450" dirty="0"/>
          </a:p>
        </p:txBody>
      </p:sp>
      <p:sp>
        <p:nvSpPr>
          <p:cNvPr id="14" name="Shape 12"/>
          <p:cNvSpPr/>
          <p:nvPr/>
        </p:nvSpPr>
        <p:spPr>
          <a:xfrm>
            <a:off x="804672" y="2761488"/>
            <a:ext cx="1463040" cy="310896"/>
          </a:xfrm>
          <a:prstGeom prst="roundRect">
            <a:avLst>
              <a:gd name="adj" fmla="val 47059"/>
            </a:avLst>
          </a:prstGeom>
          <a:solidFill>
            <a:srgbClr val="EAF1FE"/>
          </a:solidFill>
          <a:ln/>
        </p:spPr>
      </p:sp>
      <p:sp>
        <p:nvSpPr>
          <p:cNvPr id="15" name="Text 13"/>
          <p:cNvSpPr/>
          <p:nvPr/>
        </p:nvSpPr>
        <p:spPr>
          <a:xfrm>
            <a:off x="804672" y="2761488"/>
            <a:ext cx="1463040" cy="310896"/>
          </a:xfrm>
          <a:prstGeom prst="rect">
            <a:avLst/>
          </a:prstGeom>
          <a:noFill/>
          <a:ln/>
        </p:spPr>
        <p:txBody>
          <a:bodyPr wrap="square" lIns="0" tIns="0" rIns="0" bIns="0" rtlCol="0" anchor="ctr"/>
          <a:lstStyle/>
          <a:p>
            <a:pPr algn="ctr" indent="0" marL="0">
              <a:buNone/>
            </a:pPr>
            <a:r>
              <a:rPr lang="en-US" sz="950" b="1" dirty="0">
                <a:solidFill>
                  <a:srgbClr val="2563EB"/>
                </a:solidFill>
                <a:latin typeface="Calibri" pitchFamily="34" charset="0"/>
                <a:ea typeface="Calibri" pitchFamily="34" charset="-122"/>
                <a:cs typeface="Calibri" pitchFamily="34" charset="-120"/>
              </a:rPr>
              <a:t>Weeks 0–6</a:t>
            </a:r>
            <a:endParaRPr lang="en-US" sz="950" dirty="0"/>
          </a:p>
        </p:txBody>
      </p:sp>
      <p:sp>
        <p:nvSpPr>
          <p:cNvPr id="16" name="Shape 14"/>
          <p:cNvSpPr/>
          <p:nvPr/>
        </p:nvSpPr>
        <p:spPr>
          <a:xfrm>
            <a:off x="822960" y="3291840"/>
            <a:ext cx="256032" cy="256032"/>
          </a:xfrm>
          <a:prstGeom prst="ellipse">
            <a:avLst/>
          </a:prstGeom>
          <a:solidFill>
            <a:srgbClr val="EAF1FE"/>
          </a:solidFill>
          <a:ln/>
        </p:spPr>
      </p:sp>
      <p:sp>
        <p:nvSpPr>
          <p:cNvPr id="17" name="Text 15"/>
          <p:cNvSpPr/>
          <p:nvPr/>
        </p:nvSpPr>
        <p:spPr>
          <a:xfrm>
            <a:off x="822960" y="3282696"/>
            <a:ext cx="256032" cy="256032"/>
          </a:xfrm>
          <a:prstGeom prst="rect">
            <a:avLst/>
          </a:prstGeom>
          <a:noFill/>
          <a:ln/>
        </p:spPr>
        <p:txBody>
          <a:bodyPr wrap="square" lIns="0" tIns="0" rIns="0" bIns="0" rtlCol="0" anchor="ctr"/>
          <a:lstStyle/>
          <a:p>
            <a:pPr algn="ctr" indent="0" marL="0">
              <a:buNone/>
            </a:pPr>
            <a:r>
              <a:rPr lang="en-US" sz="900" b="1" dirty="0">
                <a:solidFill>
                  <a:srgbClr val="2563EB"/>
                </a:solidFill>
                <a:latin typeface="Calibri" pitchFamily="34" charset="0"/>
                <a:ea typeface="Calibri" pitchFamily="34" charset="-122"/>
                <a:cs typeface="Calibri" pitchFamily="34" charset="-120"/>
              </a:rPr>
              <a:t>✓</a:t>
            </a:r>
            <a:endParaRPr lang="en-US" sz="900" dirty="0"/>
          </a:p>
        </p:txBody>
      </p:sp>
      <p:sp>
        <p:nvSpPr>
          <p:cNvPr id="18" name="Text 16"/>
          <p:cNvSpPr/>
          <p:nvPr/>
        </p:nvSpPr>
        <p:spPr>
          <a:xfrm>
            <a:off x="1170432" y="32735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Stand up on-premise</a:t>
            </a:r>
            <a:endParaRPr lang="en-US" sz="1030" dirty="0"/>
          </a:p>
        </p:txBody>
      </p:sp>
      <p:sp>
        <p:nvSpPr>
          <p:cNvPr id="19" name="Shape 17"/>
          <p:cNvSpPr/>
          <p:nvPr/>
        </p:nvSpPr>
        <p:spPr>
          <a:xfrm>
            <a:off x="822960" y="3749040"/>
            <a:ext cx="256032" cy="256032"/>
          </a:xfrm>
          <a:prstGeom prst="ellipse">
            <a:avLst/>
          </a:prstGeom>
          <a:solidFill>
            <a:srgbClr val="EAF1FE"/>
          </a:solidFill>
          <a:ln/>
        </p:spPr>
      </p:sp>
      <p:sp>
        <p:nvSpPr>
          <p:cNvPr id="20" name="Text 18"/>
          <p:cNvSpPr/>
          <p:nvPr/>
        </p:nvSpPr>
        <p:spPr>
          <a:xfrm>
            <a:off x="822960" y="3739896"/>
            <a:ext cx="256032" cy="256032"/>
          </a:xfrm>
          <a:prstGeom prst="rect">
            <a:avLst/>
          </a:prstGeom>
          <a:noFill/>
          <a:ln/>
        </p:spPr>
        <p:txBody>
          <a:bodyPr wrap="square" lIns="0" tIns="0" rIns="0" bIns="0" rtlCol="0" anchor="ctr"/>
          <a:lstStyle/>
          <a:p>
            <a:pPr algn="ctr" indent="0" marL="0">
              <a:buNone/>
            </a:pPr>
            <a:r>
              <a:rPr lang="en-US" sz="900" b="1" dirty="0">
                <a:solidFill>
                  <a:srgbClr val="2563EB"/>
                </a:solidFill>
                <a:latin typeface="Calibri" pitchFamily="34" charset="0"/>
                <a:ea typeface="Calibri" pitchFamily="34" charset="-122"/>
                <a:cs typeface="Calibri" pitchFamily="34" charset="-120"/>
              </a:rPr>
              <a:t>✓</a:t>
            </a:r>
            <a:endParaRPr lang="en-US" sz="900" dirty="0"/>
          </a:p>
        </p:txBody>
      </p:sp>
      <p:sp>
        <p:nvSpPr>
          <p:cNvPr id="21" name="Text 19"/>
          <p:cNvSpPr/>
          <p:nvPr/>
        </p:nvSpPr>
        <p:spPr>
          <a:xfrm>
            <a:off x="1170432" y="37307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Seed memory with historic quotes</a:t>
            </a:r>
            <a:endParaRPr lang="en-US" sz="1030" dirty="0"/>
          </a:p>
        </p:txBody>
      </p:sp>
      <p:sp>
        <p:nvSpPr>
          <p:cNvPr id="22" name="Shape 20"/>
          <p:cNvSpPr/>
          <p:nvPr/>
        </p:nvSpPr>
        <p:spPr>
          <a:xfrm>
            <a:off x="822960" y="4206240"/>
            <a:ext cx="256032" cy="256032"/>
          </a:xfrm>
          <a:prstGeom prst="ellipse">
            <a:avLst/>
          </a:prstGeom>
          <a:solidFill>
            <a:srgbClr val="EAF1FE"/>
          </a:solidFill>
          <a:ln/>
        </p:spPr>
      </p:sp>
      <p:sp>
        <p:nvSpPr>
          <p:cNvPr id="23" name="Text 21"/>
          <p:cNvSpPr/>
          <p:nvPr/>
        </p:nvSpPr>
        <p:spPr>
          <a:xfrm>
            <a:off x="822960" y="4197096"/>
            <a:ext cx="256032" cy="256032"/>
          </a:xfrm>
          <a:prstGeom prst="rect">
            <a:avLst/>
          </a:prstGeom>
          <a:noFill/>
          <a:ln/>
        </p:spPr>
        <p:txBody>
          <a:bodyPr wrap="square" lIns="0" tIns="0" rIns="0" bIns="0" rtlCol="0" anchor="ctr"/>
          <a:lstStyle/>
          <a:p>
            <a:pPr algn="ctr" indent="0" marL="0">
              <a:buNone/>
            </a:pPr>
            <a:r>
              <a:rPr lang="en-US" sz="900" b="1" dirty="0">
                <a:solidFill>
                  <a:srgbClr val="2563EB"/>
                </a:solidFill>
                <a:latin typeface="Calibri" pitchFamily="34" charset="0"/>
                <a:ea typeface="Calibri" pitchFamily="34" charset="-122"/>
                <a:cs typeface="Calibri" pitchFamily="34" charset="-120"/>
              </a:rPr>
              <a:t>✓</a:t>
            </a:r>
            <a:endParaRPr lang="en-US" sz="900" dirty="0"/>
          </a:p>
        </p:txBody>
      </p:sp>
      <p:sp>
        <p:nvSpPr>
          <p:cNvPr id="24" name="Text 22"/>
          <p:cNvSpPr/>
          <p:nvPr/>
        </p:nvSpPr>
        <p:spPr>
          <a:xfrm>
            <a:off x="1170432" y="41879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Cost 20–30 live parts</a:t>
            </a:r>
            <a:endParaRPr lang="en-US" sz="1030" dirty="0"/>
          </a:p>
        </p:txBody>
      </p:sp>
      <p:sp>
        <p:nvSpPr>
          <p:cNvPr id="25" name="Shape 23"/>
          <p:cNvSpPr/>
          <p:nvPr/>
        </p:nvSpPr>
        <p:spPr>
          <a:xfrm>
            <a:off x="822960" y="4663440"/>
            <a:ext cx="256032" cy="256032"/>
          </a:xfrm>
          <a:prstGeom prst="ellipse">
            <a:avLst/>
          </a:prstGeom>
          <a:solidFill>
            <a:srgbClr val="EAF1FE"/>
          </a:solidFill>
          <a:ln/>
        </p:spPr>
      </p:sp>
      <p:sp>
        <p:nvSpPr>
          <p:cNvPr id="26" name="Text 24"/>
          <p:cNvSpPr/>
          <p:nvPr/>
        </p:nvSpPr>
        <p:spPr>
          <a:xfrm>
            <a:off x="822960" y="4654296"/>
            <a:ext cx="256032" cy="256032"/>
          </a:xfrm>
          <a:prstGeom prst="rect">
            <a:avLst/>
          </a:prstGeom>
          <a:noFill/>
          <a:ln/>
        </p:spPr>
        <p:txBody>
          <a:bodyPr wrap="square" lIns="0" tIns="0" rIns="0" bIns="0" rtlCol="0" anchor="ctr"/>
          <a:lstStyle/>
          <a:p>
            <a:pPr algn="ctr" indent="0" marL="0">
              <a:buNone/>
            </a:pPr>
            <a:r>
              <a:rPr lang="en-US" sz="900" b="1" dirty="0">
                <a:solidFill>
                  <a:srgbClr val="2563EB"/>
                </a:solidFill>
                <a:latin typeface="Calibri" pitchFamily="34" charset="0"/>
                <a:ea typeface="Calibri" pitchFamily="34" charset="-122"/>
                <a:cs typeface="Calibri" pitchFamily="34" charset="-120"/>
              </a:rPr>
              <a:t>✓</a:t>
            </a:r>
            <a:endParaRPr lang="en-US" sz="900" dirty="0"/>
          </a:p>
        </p:txBody>
      </p:sp>
      <p:sp>
        <p:nvSpPr>
          <p:cNvPr id="27" name="Text 25"/>
          <p:cNvSpPr/>
          <p:nvPr/>
        </p:nvSpPr>
        <p:spPr>
          <a:xfrm>
            <a:off x="1170432" y="46451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Baseline accuracy vs actuals</a:t>
            </a:r>
            <a:endParaRPr lang="en-US" sz="1030" dirty="0"/>
          </a:p>
        </p:txBody>
      </p:sp>
      <p:sp>
        <p:nvSpPr>
          <p:cNvPr id="28" name="Text 26"/>
          <p:cNvSpPr/>
          <p:nvPr/>
        </p:nvSpPr>
        <p:spPr>
          <a:xfrm>
            <a:off x="4078224" y="3383280"/>
            <a:ext cx="256032" cy="548640"/>
          </a:xfrm>
          <a:prstGeom prst="rect">
            <a:avLst/>
          </a:prstGeom>
          <a:noFill/>
          <a:ln/>
        </p:spPr>
        <p:txBody>
          <a:bodyPr wrap="square" lIns="0" tIns="0" rIns="0" bIns="0" rtlCol="0" anchor="ctr"/>
          <a:lstStyle/>
          <a:p>
            <a:pPr algn="ctr" indent="0" marL="0">
              <a:buNone/>
            </a:pPr>
            <a:r>
              <a:rPr lang="en-US" sz="2000" b="1" dirty="0">
                <a:solidFill>
                  <a:srgbClr val="8A97A8"/>
                </a:solidFill>
                <a:latin typeface="Calibri" pitchFamily="34" charset="0"/>
                <a:ea typeface="Calibri" pitchFamily="34" charset="-122"/>
                <a:cs typeface="Calibri" pitchFamily="34" charset="-120"/>
              </a:rPr>
              <a:t>→</a:t>
            </a:r>
            <a:endParaRPr lang="en-US" sz="2000" dirty="0"/>
          </a:p>
        </p:txBody>
      </p:sp>
      <p:sp>
        <p:nvSpPr>
          <p:cNvPr id="29" name="Shape 27"/>
          <p:cNvSpPr/>
          <p:nvPr/>
        </p:nvSpPr>
        <p:spPr>
          <a:xfrm>
            <a:off x="4325112" y="2103120"/>
            <a:ext cx="3520440" cy="3063240"/>
          </a:xfrm>
          <a:prstGeom prst="roundRect">
            <a:avLst>
              <a:gd name="adj" fmla="val 2090"/>
            </a:avLst>
          </a:prstGeom>
          <a:solidFill>
            <a:srgbClr val="FFFFFF"/>
          </a:solidFill>
          <a:ln w="12700">
            <a:solidFill>
              <a:srgbClr val="E4EAF2"/>
            </a:solidFill>
            <a:prstDash val="solid"/>
          </a:ln>
          <a:effectLst>
            <a:outerShdw sx="100000" sy="100000" kx="0" ky="0" algn="bl" rotWithShape="0" blurRad="8.012186780223899e+279" dist="2.2891962229211143e+279" dir="Infinity">
              <a:srgbClr val="9DB0CC">
                <a:alpha val="Infinity"/>
              </a:srgbClr>
            </a:outerShdw>
          </a:effectLst>
        </p:spPr>
      </p:sp>
      <p:sp>
        <p:nvSpPr>
          <p:cNvPr id="30" name="Shape 28"/>
          <p:cNvSpPr/>
          <p:nvPr/>
        </p:nvSpPr>
        <p:spPr>
          <a:xfrm>
            <a:off x="4325112" y="2103120"/>
            <a:ext cx="82296" cy="3063240"/>
          </a:xfrm>
          <a:prstGeom prst="rect">
            <a:avLst/>
          </a:prstGeom>
          <a:solidFill>
            <a:srgbClr val="7C3AED"/>
          </a:solidFill>
          <a:ln/>
        </p:spPr>
      </p:sp>
      <p:sp>
        <p:nvSpPr>
          <p:cNvPr id="31" name="Text 29"/>
          <p:cNvSpPr/>
          <p:nvPr/>
        </p:nvSpPr>
        <p:spPr>
          <a:xfrm>
            <a:off x="4581144" y="2322576"/>
            <a:ext cx="3063240" cy="365760"/>
          </a:xfrm>
          <a:prstGeom prst="rect">
            <a:avLst/>
          </a:prstGeom>
          <a:noFill/>
          <a:ln/>
        </p:spPr>
        <p:txBody>
          <a:bodyPr wrap="square" lIns="0" tIns="0" rIns="0" bIns="0" rtlCol="0" anchor="t"/>
          <a:lstStyle/>
          <a:p>
            <a:pPr indent="0" marL="0">
              <a:buNone/>
            </a:pPr>
            <a:r>
              <a:rPr lang="en-US" sz="1450" b="1" dirty="0">
                <a:solidFill>
                  <a:srgbClr val="7C3AED"/>
                </a:solidFill>
                <a:latin typeface="Calibri" pitchFamily="34" charset="0"/>
                <a:ea typeface="Calibri" pitchFamily="34" charset="-122"/>
                <a:cs typeface="Calibri" pitchFamily="34" charset="-120"/>
              </a:rPr>
              <a:t>Phase 2 — Scale</a:t>
            </a:r>
            <a:endParaRPr lang="en-US" sz="1450" dirty="0"/>
          </a:p>
        </p:txBody>
      </p:sp>
      <p:sp>
        <p:nvSpPr>
          <p:cNvPr id="32" name="Shape 30"/>
          <p:cNvSpPr/>
          <p:nvPr/>
        </p:nvSpPr>
        <p:spPr>
          <a:xfrm>
            <a:off x="4581144" y="2761488"/>
            <a:ext cx="1463040" cy="310896"/>
          </a:xfrm>
          <a:prstGeom prst="roundRect">
            <a:avLst>
              <a:gd name="adj" fmla="val 47059"/>
            </a:avLst>
          </a:prstGeom>
          <a:solidFill>
            <a:srgbClr val="F3EEFE"/>
          </a:solidFill>
          <a:ln/>
        </p:spPr>
      </p:sp>
      <p:sp>
        <p:nvSpPr>
          <p:cNvPr id="33" name="Text 31"/>
          <p:cNvSpPr/>
          <p:nvPr/>
        </p:nvSpPr>
        <p:spPr>
          <a:xfrm>
            <a:off x="4581144" y="2761488"/>
            <a:ext cx="1463040" cy="310896"/>
          </a:xfrm>
          <a:prstGeom prst="rect">
            <a:avLst/>
          </a:prstGeom>
          <a:noFill/>
          <a:ln/>
        </p:spPr>
        <p:txBody>
          <a:bodyPr wrap="square" lIns="0" tIns="0" rIns="0" bIns="0" rtlCol="0" anchor="ctr"/>
          <a:lstStyle/>
          <a:p>
            <a:pPr algn="ctr" indent="0" marL="0">
              <a:buNone/>
            </a:pPr>
            <a:r>
              <a:rPr lang="en-US" sz="950" b="1" dirty="0">
                <a:solidFill>
                  <a:srgbClr val="7C3AED"/>
                </a:solidFill>
                <a:latin typeface="Calibri" pitchFamily="34" charset="0"/>
                <a:ea typeface="Calibri" pitchFamily="34" charset="-122"/>
                <a:cs typeface="Calibri" pitchFamily="34" charset="-120"/>
              </a:rPr>
              <a:t>Weeks 6–16</a:t>
            </a:r>
            <a:endParaRPr lang="en-US" sz="950" dirty="0"/>
          </a:p>
        </p:txBody>
      </p:sp>
      <p:sp>
        <p:nvSpPr>
          <p:cNvPr id="34" name="Shape 32"/>
          <p:cNvSpPr/>
          <p:nvPr/>
        </p:nvSpPr>
        <p:spPr>
          <a:xfrm>
            <a:off x="4599432" y="3291840"/>
            <a:ext cx="256032" cy="256032"/>
          </a:xfrm>
          <a:prstGeom prst="ellipse">
            <a:avLst/>
          </a:prstGeom>
          <a:solidFill>
            <a:srgbClr val="F3EEFE"/>
          </a:solidFill>
          <a:ln/>
        </p:spPr>
      </p:sp>
      <p:sp>
        <p:nvSpPr>
          <p:cNvPr id="35" name="Text 33"/>
          <p:cNvSpPr/>
          <p:nvPr/>
        </p:nvSpPr>
        <p:spPr>
          <a:xfrm>
            <a:off x="4599432" y="3282696"/>
            <a:ext cx="256032" cy="256032"/>
          </a:xfrm>
          <a:prstGeom prst="rect">
            <a:avLst/>
          </a:prstGeom>
          <a:noFill/>
          <a:ln/>
        </p:spPr>
        <p:txBody>
          <a:bodyPr wrap="square" lIns="0" tIns="0" rIns="0" bIns="0" rtlCol="0" anchor="ctr"/>
          <a:lstStyle/>
          <a:p>
            <a:pPr algn="ctr" indent="0" marL="0">
              <a:buNone/>
            </a:pPr>
            <a:r>
              <a:rPr lang="en-US" sz="900" b="1" dirty="0">
                <a:solidFill>
                  <a:srgbClr val="7C3AED"/>
                </a:solidFill>
                <a:latin typeface="Calibri" pitchFamily="34" charset="0"/>
                <a:ea typeface="Calibri" pitchFamily="34" charset="-122"/>
                <a:cs typeface="Calibri" pitchFamily="34" charset="-120"/>
              </a:rPr>
              <a:t>✓</a:t>
            </a:r>
            <a:endParaRPr lang="en-US" sz="900" dirty="0"/>
          </a:p>
        </p:txBody>
      </p:sp>
      <p:sp>
        <p:nvSpPr>
          <p:cNvPr id="36" name="Text 34"/>
          <p:cNvSpPr/>
          <p:nvPr/>
        </p:nvSpPr>
        <p:spPr>
          <a:xfrm>
            <a:off x="4946904" y="32735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Roll out to costing &amp; sourcing</a:t>
            </a:r>
            <a:endParaRPr lang="en-US" sz="1030" dirty="0"/>
          </a:p>
        </p:txBody>
      </p:sp>
      <p:sp>
        <p:nvSpPr>
          <p:cNvPr id="37" name="Shape 35"/>
          <p:cNvSpPr/>
          <p:nvPr/>
        </p:nvSpPr>
        <p:spPr>
          <a:xfrm>
            <a:off x="4599432" y="3749040"/>
            <a:ext cx="256032" cy="256032"/>
          </a:xfrm>
          <a:prstGeom prst="ellipse">
            <a:avLst/>
          </a:prstGeom>
          <a:solidFill>
            <a:srgbClr val="F3EEFE"/>
          </a:solidFill>
          <a:ln/>
        </p:spPr>
      </p:sp>
      <p:sp>
        <p:nvSpPr>
          <p:cNvPr id="38" name="Text 36"/>
          <p:cNvSpPr/>
          <p:nvPr/>
        </p:nvSpPr>
        <p:spPr>
          <a:xfrm>
            <a:off x="4599432" y="3739896"/>
            <a:ext cx="256032" cy="256032"/>
          </a:xfrm>
          <a:prstGeom prst="rect">
            <a:avLst/>
          </a:prstGeom>
          <a:noFill/>
          <a:ln/>
        </p:spPr>
        <p:txBody>
          <a:bodyPr wrap="square" lIns="0" tIns="0" rIns="0" bIns="0" rtlCol="0" anchor="ctr"/>
          <a:lstStyle/>
          <a:p>
            <a:pPr algn="ctr" indent="0" marL="0">
              <a:buNone/>
            </a:pPr>
            <a:r>
              <a:rPr lang="en-US" sz="900" b="1" dirty="0">
                <a:solidFill>
                  <a:srgbClr val="7C3AED"/>
                </a:solidFill>
                <a:latin typeface="Calibri" pitchFamily="34" charset="0"/>
                <a:ea typeface="Calibri" pitchFamily="34" charset="-122"/>
                <a:cs typeface="Calibri" pitchFamily="34" charset="-120"/>
              </a:rPr>
              <a:t>✓</a:t>
            </a:r>
            <a:endParaRPr lang="en-US" sz="900" dirty="0"/>
          </a:p>
        </p:txBody>
      </p:sp>
      <p:sp>
        <p:nvSpPr>
          <p:cNvPr id="39" name="Text 37"/>
          <p:cNvSpPr/>
          <p:nvPr/>
        </p:nvSpPr>
        <p:spPr>
          <a:xfrm>
            <a:off x="4946904" y="37307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"Log Actual £" as routine</a:t>
            </a:r>
            <a:endParaRPr lang="en-US" sz="1030" dirty="0"/>
          </a:p>
        </p:txBody>
      </p:sp>
      <p:sp>
        <p:nvSpPr>
          <p:cNvPr id="40" name="Shape 38"/>
          <p:cNvSpPr/>
          <p:nvPr/>
        </p:nvSpPr>
        <p:spPr>
          <a:xfrm>
            <a:off x="4599432" y="4206240"/>
            <a:ext cx="256032" cy="256032"/>
          </a:xfrm>
          <a:prstGeom prst="ellipse">
            <a:avLst/>
          </a:prstGeom>
          <a:solidFill>
            <a:srgbClr val="F3EEFE"/>
          </a:solidFill>
          <a:ln/>
        </p:spPr>
      </p:sp>
      <p:sp>
        <p:nvSpPr>
          <p:cNvPr id="41" name="Text 39"/>
          <p:cNvSpPr/>
          <p:nvPr/>
        </p:nvSpPr>
        <p:spPr>
          <a:xfrm>
            <a:off x="4599432" y="4197096"/>
            <a:ext cx="256032" cy="256032"/>
          </a:xfrm>
          <a:prstGeom prst="rect">
            <a:avLst/>
          </a:prstGeom>
          <a:noFill/>
          <a:ln/>
        </p:spPr>
        <p:txBody>
          <a:bodyPr wrap="square" lIns="0" tIns="0" rIns="0" bIns="0" rtlCol="0" anchor="ctr"/>
          <a:lstStyle/>
          <a:p>
            <a:pPr algn="ctr" indent="0" marL="0">
              <a:buNone/>
            </a:pPr>
            <a:r>
              <a:rPr lang="en-US" sz="900" b="1" dirty="0">
                <a:solidFill>
                  <a:srgbClr val="7C3AED"/>
                </a:solidFill>
                <a:latin typeface="Calibri" pitchFamily="34" charset="0"/>
                <a:ea typeface="Calibri" pitchFamily="34" charset="-122"/>
                <a:cs typeface="Calibri" pitchFamily="34" charset="-120"/>
              </a:rPr>
              <a:t>✓</a:t>
            </a:r>
            <a:endParaRPr lang="en-US" sz="900" dirty="0"/>
          </a:p>
        </p:txBody>
      </p:sp>
      <p:sp>
        <p:nvSpPr>
          <p:cNvPr id="42" name="Text 40"/>
          <p:cNvSpPr/>
          <p:nvPr/>
        </p:nvSpPr>
        <p:spPr>
          <a:xfrm>
            <a:off x="4946904" y="41879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Wire into RFQ workflow</a:t>
            </a:r>
            <a:endParaRPr lang="en-US" sz="1030" dirty="0"/>
          </a:p>
        </p:txBody>
      </p:sp>
      <p:sp>
        <p:nvSpPr>
          <p:cNvPr id="43" name="Shape 41"/>
          <p:cNvSpPr/>
          <p:nvPr/>
        </p:nvSpPr>
        <p:spPr>
          <a:xfrm>
            <a:off x="4599432" y="4663440"/>
            <a:ext cx="256032" cy="256032"/>
          </a:xfrm>
          <a:prstGeom prst="ellipse">
            <a:avLst/>
          </a:prstGeom>
          <a:solidFill>
            <a:srgbClr val="F3EEFE"/>
          </a:solidFill>
          <a:ln/>
        </p:spPr>
      </p:sp>
      <p:sp>
        <p:nvSpPr>
          <p:cNvPr id="44" name="Text 42"/>
          <p:cNvSpPr/>
          <p:nvPr/>
        </p:nvSpPr>
        <p:spPr>
          <a:xfrm>
            <a:off x="4599432" y="4654296"/>
            <a:ext cx="256032" cy="256032"/>
          </a:xfrm>
          <a:prstGeom prst="rect">
            <a:avLst/>
          </a:prstGeom>
          <a:noFill/>
          <a:ln/>
        </p:spPr>
        <p:txBody>
          <a:bodyPr wrap="square" lIns="0" tIns="0" rIns="0" bIns="0" rtlCol="0" anchor="ctr"/>
          <a:lstStyle/>
          <a:p>
            <a:pPr algn="ctr" indent="0" marL="0">
              <a:buNone/>
            </a:pPr>
            <a:r>
              <a:rPr lang="en-US" sz="900" b="1" dirty="0">
                <a:solidFill>
                  <a:srgbClr val="7C3AED"/>
                </a:solidFill>
                <a:latin typeface="Calibri" pitchFamily="34" charset="0"/>
                <a:ea typeface="Calibri" pitchFamily="34" charset="-122"/>
                <a:cs typeface="Calibri" pitchFamily="34" charset="-120"/>
              </a:rPr>
              <a:t>✓</a:t>
            </a:r>
            <a:endParaRPr lang="en-US" sz="900" dirty="0"/>
          </a:p>
        </p:txBody>
      </p:sp>
      <p:sp>
        <p:nvSpPr>
          <p:cNvPr id="45" name="Text 43"/>
          <p:cNvSpPr/>
          <p:nvPr/>
        </p:nvSpPr>
        <p:spPr>
          <a:xfrm>
            <a:off x="4946904" y="46451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Monthly agent findings review</a:t>
            </a:r>
            <a:endParaRPr lang="en-US" sz="1030" dirty="0"/>
          </a:p>
        </p:txBody>
      </p:sp>
      <p:sp>
        <p:nvSpPr>
          <p:cNvPr id="46" name="Text 44"/>
          <p:cNvSpPr/>
          <p:nvPr/>
        </p:nvSpPr>
        <p:spPr>
          <a:xfrm>
            <a:off x="7854696" y="3383280"/>
            <a:ext cx="256032" cy="548640"/>
          </a:xfrm>
          <a:prstGeom prst="rect">
            <a:avLst/>
          </a:prstGeom>
          <a:noFill/>
          <a:ln/>
        </p:spPr>
        <p:txBody>
          <a:bodyPr wrap="square" lIns="0" tIns="0" rIns="0" bIns="0" rtlCol="0" anchor="ctr"/>
          <a:lstStyle/>
          <a:p>
            <a:pPr algn="ctr" indent="0" marL="0">
              <a:buNone/>
            </a:pPr>
            <a:r>
              <a:rPr lang="en-US" sz="2000" b="1" dirty="0">
                <a:solidFill>
                  <a:srgbClr val="8A97A8"/>
                </a:solidFill>
                <a:latin typeface="Calibri" pitchFamily="34" charset="0"/>
                <a:ea typeface="Calibri" pitchFamily="34" charset="-122"/>
                <a:cs typeface="Calibri" pitchFamily="34" charset="-120"/>
              </a:rPr>
              <a:t>→</a:t>
            </a:r>
            <a:endParaRPr lang="en-US" sz="2000" dirty="0"/>
          </a:p>
        </p:txBody>
      </p:sp>
      <p:sp>
        <p:nvSpPr>
          <p:cNvPr id="47" name="Shape 45"/>
          <p:cNvSpPr/>
          <p:nvPr/>
        </p:nvSpPr>
        <p:spPr>
          <a:xfrm>
            <a:off x="8101584" y="2103120"/>
            <a:ext cx="3520440" cy="3063240"/>
          </a:xfrm>
          <a:prstGeom prst="roundRect">
            <a:avLst>
              <a:gd name="adj" fmla="val 2090"/>
            </a:avLst>
          </a:prstGeom>
          <a:solidFill>
            <a:srgbClr val="FFFFFF"/>
          </a:solidFill>
          <a:ln w="12700">
            <a:solidFill>
              <a:srgbClr val="E4EAF2"/>
            </a:solidFill>
            <a:prstDash val="solid"/>
          </a:ln>
          <a:effectLst>
            <a:outerShdw sx="100000" sy="100000" kx="0" ky="0" algn="bl" rotWithShape="0" blurRad="1.0175477210884352e+284" dist="2.9072792031098153e+283" dir="Infinity">
              <a:srgbClr val="9DB0CC">
                <a:alpha val="Infinity"/>
              </a:srgbClr>
            </a:outerShdw>
          </a:effectLst>
        </p:spPr>
      </p:sp>
      <p:sp>
        <p:nvSpPr>
          <p:cNvPr id="48" name="Shape 46"/>
          <p:cNvSpPr/>
          <p:nvPr/>
        </p:nvSpPr>
        <p:spPr>
          <a:xfrm>
            <a:off x="8101584" y="2103120"/>
            <a:ext cx="82296" cy="3063240"/>
          </a:xfrm>
          <a:prstGeom prst="rect">
            <a:avLst/>
          </a:prstGeom>
          <a:solidFill>
            <a:srgbClr val="0EA472"/>
          </a:solidFill>
          <a:ln/>
        </p:spPr>
      </p:sp>
      <p:sp>
        <p:nvSpPr>
          <p:cNvPr id="49" name="Text 47"/>
          <p:cNvSpPr/>
          <p:nvPr/>
        </p:nvSpPr>
        <p:spPr>
          <a:xfrm>
            <a:off x="8357616" y="2322576"/>
            <a:ext cx="3063240" cy="365760"/>
          </a:xfrm>
          <a:prstGeom prst="rect">
            <a:avLst/>
          </a:prstGeom>
          <a:noFill/>
          <a:ln/>
        </p:spPr>
        <p:txBody>
          <a:bodyPr wrap="square" lIns="0" tIns="0" rIns="0" bIns="0" rtlCol="0" anchor="t"/>
          <a:lstStyle/>
          <a:p>
            <a:pPr indent="0" marL="0">
              <a:buNone/>
            </a:pPr>
            <a:r>
              <a:rPr lang="en-US" sz="1450" b="1" dirty="0">
                <a:solidFill>
                  <a:srgbClr val="0EA472"/>
                </a:solidFill>
                <a:latin typeface="Calibri" pitchFamily="34" charset="0"/>
                <a:ea typeface="Calibri" pitchFamily="34" charset="-122"/>
                <a:cs typeface="Calibri" pitchFamily="34" charset="-120"/>
              </a:rPr>
              <a:t>Phase 3 — Embed</a:t>
            </a:r>
            <a:endParaRPr lang="en-US" sz="1450" dirty="0"/>
          </a:p>
        </p:txBody>
      </p:sp>
      <p:sp>
        <p:nvSpPr>
          <p:cNvPr id="50" name="Shape 48"/>
          <p:cNvSpPr/>
          <p:nvPr/>
        </p:nvSpPr>
        <p:spPr>
          <a:xfrm>
            <a:off x="8357616" y="2761488"/>
            <a:ext cx="1463040" cy="310896"/>
          </a:xfrm>
          <a:prstGeom prst="roundRect">
            <a:avLst>
              <a:gd name="adj" fmla="val 47059"/>
            </a:avLst>
          </a:prstGeom>
          <a:solidFill>
            <a:srgbClr val="E7F7F0"/>
          </a:solidFill>
          <a:ln/>
        </p:spPr>
      </p:sp>
      <p:sp>
        <p:nvSpPr>
          <p:cNvPr id="51" name="Text 49"/>
          <p:cNvSpPr/>
          <p:nvPr/>
        </p:nvSpPr>
        <p:spPr>
          <a:xfrm>
            <a:off x="8357616" y="2761488"/>
            <a:ext cx="1463040" cy="310896"/>
          </a:xfrm>
          <a:prstGeom prst="rect">
            <a:avLst/>
          </a:prstGeom>
          <a:noFill/>
          <a:ln/>
        </p:spPr>
        <p:txBody>
          <a:bodyPr wrap="square" lIns="0" tIns="0" rIns="0" bIns="0" rtlCol="0" anchor="ctr"/>
          <a:lstStyle/>
          <a:p>
            <a:pPr algn="ctr" indent="0" marL="0">
              <a:buNone/>
            </a:pPr>
            <a:r>
              <a:rPr lang="en-US" sz="950" b="1" dirty="0">
                <a:solidFill>
                  <a:srgbClr val="0EA472"/>
                </a:solidFill>
                <a:latin typeface="Calibri" pitchFamily="34" charset="0"/>
                <a:ea typeface="Calibri" pitchFamily="34" charset="-122"/>
                <a:cs typeface="Calibri" pitchFamily="34" charset="-120"/>
              </a:rPr>
              <a:t>Quarter 2+</a:t>
            </a:r>
            <a:endParaRPr lang="en-US" sz="950" dirty="0"/>
          </a:p>
        </p:txBody>
      </p:sp>
      <p:sp>
        <p:nvSpPr>
          <p:cNvPr id="52" name="Shape 50"/>
          <p:cNvSpPr/>
          <p:nvPr/>
        </p:nvSpPr>
        <p:spPr>
          <a:xfrm>
            <a:off x="8375904" y="3291840"/>
            <a:ext cx="256032" cy="256032"/>
          </a:xfrm>
          <a:prstGeom prst="ellipse">
            <a:avLst/>
          </a:prstGeom>
          <a:solidFill>
            <a:srgbClr val="E7F7F0"/>
          </a:solidFill>
          <a:ln/>
        </p:spPr>
      </p:sp>
      <p:sp>
        <p:nvSpPr>
          <p:cNvPr id="53" name="Text 51"/>
          <p:cNvSpPr/>
          <p:nvPr/>
        </p:nvSpPr>
        <p:spPr>
          <a:xfrm>
            <a:off x="8375904" y="3282696"/>
            <a:ext cx="256032" cy="256032"/>
          </a:xfrm>
          <a:prstGeom prst="rect">
            <a:avLst/>
          </a:prstGeom>
          <a:noFill/>
          <a:ln/>
        </p:spPr>
        <p:txBody>
          <a:bodyPr wrap="square" lIns="0" tIns="0" rIns="0" bIns="0" rtlCol="0" anchor="ctr"/>
          <a:lstStyle/>
          <a:p>
            <a:pPr algn="ctr" indent="0" marL="0">
              <a:buNone/>
            </a:pPr>
            <a:r>
              <a:rPr lang="en-US" sz="900" b="1" dirty="0">
                <a:solidFill>
                  <a:srgbClr val="0EA472"/>
                </a:solidFill>
                <a:latin typeface="Calibri" pitchFamily="34" charset="0"/>
                <a:ea typeface="Calibri" pitchFamily="34" charset="-122"/>
                <a:cs typeface="Calibri" pitchFamily="34" charset="-120"/>
              </a:rPr>
              <a:t>✓</a:t>
            </a:r>
            <a:endParaRPr lang="en-US" sz="900" dirty="0"/>
          </a:p>
        </p:txBody>
      </p:sp>
      <p:sp>
        <p:nvSpPr>
          <p:cNvPr id="54" name="Text 52"/>
          <p:cNvSpPr/>
          <p:nvPr/>
        </p:nvSpPr>
        <p:spPr>
          <a:xfrm>
            <a:off x="8723376" y="32735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Negotiation packs as standard</a:t>
            </a:r>
            <a:endParaRPr lang="en-US" sz="1030" dirty="0"/>
          </a:p>
        </p:txBody>
      </p:sp>
      <p:sp>
        <p:nvSpPr>
          <p:cNvPr id="55" name="Shape 53"/>
          <p:cNvSpPr/>
          <p:nvPr/>
        </p:nvSpPr>
        <p:spPr>
          <a:xfrm>
            <a:off x="8375904" y="3749040"/>
            <a:ext cx="256032" cy="256032"/>
          </a:xfrm>
          <a:prstGeom prst="ellipse">
            <a:avLst/>
          </a:prstGeom>
          <a:solidFill>
            <a:srgbClr val="E7F7F0"/>
          </a:solidFill>
          <a:ln/>
        </p:spPr>
      </p:sp>
      <p:sp>
        <p:nvSpPr>
          <p:cNvPr id="56" name="Text 54"/>
          <p:cNvSpPr/>
          <p:nvPr/>
        </p:nvSpPr>
        <p:spPr>
          <a:xfrm>
            <a:off x="8375904" y="3739896"/>
            <a:ext cx="256032" cy="256032"/>
          </a:xfrm>
          <a:prstGeom prst="rect">
            <a:avLst/>
          </a:prstGeom>
          <a:noFill/>
          <a:ln/>
        </p:spPr>
        <p:txBody>
          <a:bodyPr wrap="square" lIns="0" tIns="0" rIns="0" bIns="0" rtlCol="0" anchor="ctr"/>
          <a:lstStyle/>
          <a:p>
            <a:pPr algn="ctr" indent="0" marL="0">
              <a:buNone/>
            </a:pPr>
            <a:r>
              <a:rPr lang="en-US" sz="900" b="1" dirty="0">
                <a:solidFill>
                  <a:srgbClr val="0EA472"/>
                </a:solidFill>
                <a:latin typeface="Calibri" pitchFamily="34" charset="0"/>
                <a:ea typeface="Calibri" pitchFamily="34" charset="-122"/>
                <a:cs typeface="Calibri" pitchFamily="34" charset="-120"/>
              </a:rPr>
              <a:t>✓</a:t>
            </a:r>
            <a:endParaRPr lang="en-US" sz="900" dirty="0"/>
          </a:p>
        </p:txBody>
      </p:sp>
      <p:sp>
        <p:nvSpPr>
          <p:cNvPr id="57" name="Text 55"/>
          <p:cNvSpPr/>
          <p:nvPr/>
        </p:nvSpPr>
        <p:spPr>
          <a:xfrm>
            <a:off x="8723376" y="37307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Portfolio what-if &amp; risk</a:t>
            </a:r>
            <a:endParaRPr lang="en-US" sz="1030" dirty="0"/>
          </a:p>
        </p:txBody>
      </p:sp>
      <p:sp>
        <p:nvSpPr>
          <p:cNvPr id="58" name="Shape 56"/>
          <p:cNvSpPr/>
          <p:nvPr/>
        </p:nvSpPr>
        <p:spPr>
          <a:xfrm>
            <a:off x="8375904" y="4206240"/>
            <a:ext cx="256032" cy="256032"/>
          </a:xfrm>
          <a:prstGeom prst="ellipse">
            <a:avLst/>
          </a:prstGeom>
          <a:solidFill>
            <a:srgbClr val="E7F7F0"/>
          </a:solidFill>
          <a:ln/>
        </p:spPr>
      </p:sp>
      <p:sp>
        <p:nvSpPr>
          <p:cNvPr id="59" name="Text 57"/>
          <p:cNvSpPr/>
          <p:nvPr/>
        </p:nvSpPr>
        <p:spPr>
          <a:xfrm>
            <a:off x="8375904" y="4197096"/>
            <a:ext cx="256032" cy="256032"/>
          </a:xfrm>
          <a:prstGeom prst="rect">
            <a:avLst/>
          </a:prstGeom>
          <a:noFill/>
          <a:ln/>
        </p:spPr>
        <p:txBody>
          <a:bodyPr wrap="square" lIns="0" tIns="0" rIns="0" bIns="0" rtlCol="0" anchor="ctr"/>
          <a:lstStyle/>
          <a:p>
            <a:pPr algn="ctr" indent="0" marL="0">
              <a:buNone/>
            </a:pPr>
            <a:r>
              <a:rPr lang="en-US" sz="900" b="1" dirty="0">
                <a:solidFill>
                  <a:srgbClr val="0EA472"/>
                </a:solidFill>
                <a:latin typeface="Calibri" pitchFamily="34" charset="0"/>
                <a:ea typeface="Calibri" pitchFamily="34" charset="-122"/>
                <a:cs typeface="Calibri" pitchFamily="34" charset="-120"/>
              </a:rPr>
              <a:t>✓</a:t>
            </a:r>
            <a:endParaRPr lang="en-US" sz="900" dirty="0"/>
          </a:p>
        </p:txBody>
      </p:sp>
      <p:sp>
        <p:nvSpPr>
          <p:cNvPr id="60" name="Text 58"/>
          <p:cNvSpPr/>
          <p:nvPr/>
        </p:nvSpPr>
        <p:spPr>
          <a:xfrm>
            <a:off x="8723376" y="41879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Live distributor / market feeds</a:t>
            </a:r>
            <a:endParaRPr lang="en-US" sz="1030" dirty="0"/>
          </a:p>
        </p:txBody>
      </p:sp>
      <p:sp>
        <p:nvSpPr>
          <p:cNvPr id="61" name="Shape 59"/>
          <p:cNvSpPr/>
          <p:nvPr/>
        </p:nvSpPr>
        <p:spPr>
          <a:xfrm>
            <a:off x="8375904" y="4663440"/>
            <a:ext cx="256032" cy="256032"/>
          </a:xfrm>
          <a:prstGeom prst="ellipse">
            <a:avLst/>
          </a:prstGeom>
          <a:solidFill>
            <a:srgbClr val="E7F7F0"/>
          </a:solidFill>
          <a:ln/>
        </p:spPr>
      </p:sp>
      <p:sp>
        <p:nvSpPr>
          <p:cNvPr id="62" name="Text 60"/>
          <p:cNvSpPr/>
          <p:nvPr/>
        </p:nvSpPr>
        <p:spPr>
          <a:xfrm>
            <a:off x="8375904" y="4654296"/>
            <a:ext cx="256032" cy="256032"/>
          </a:xfrm>
          <a:prstGeom prst="rect">
            <a:avLst/>
          </a:prstGeom>
          <a:noFill/>
          <a:ln/>
        </p:spPr>
        <p:txBody>
          <a:bodyPr wrap="square" lIns="0" tIns="0" rIns="0" bIns="0" rtlCol="0" anchor="ctr"/>
          <a:lstStyle/>
          <a:p>
            <a:pPr algn="ctr" indent="0" marL="0">
              <a:buNone/>
            </a:pPr>
            <a:r>
              <a:rPr lang="en-US" sz="900" b="1" dirty="0">
                <a:solidFill>
                  <a:srgbClr val="0EA472"/>
                </a:solidFill>
                <a:latin typeface="Calibri" pitchFamily="34" charset="0"/>
                <a:ea typeface="Calibri" pitchFamily="34" charset="-122"/>
                <a:cs typeface="Calibri" pitchFamily="34" charset="-120"/>
              </a:rPr>
              <a:t>✓</a:t>
            </a:r>
            <a:endParaRPr lang="en-US" sz="900" dirty="0"/>
          </a:p>
        </p:txBody>
      </p:sp>
      <p:sp>
        <p:nvSpPr>
          <p:cNvPr id="63" name="Text 61"/>
          <p:cNvSpPr/>
          <p:nvPr/>
        </p:nvSpPr>
        <p:spPr>
          <a:xfrm>
            <a:off x="8723376" y="46451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KPI: £ saved &amp; cycle-time</a:t>
            </a:r>
            <a:endParaRPr lang="en-US" sz="1030" dirty="0"/>
          </a:p>
        </p:txBody>
      </p:sp>
      <p:sp>
        <p:nvSpPr>
          <p:cNvPr id="64" name="Shape 62"/>
          <p:cNvSpPr/>
          <p:nvPr/>
        </p:nvSpPr>
        <p:spPr>
          <a:xfrm>
            <a:off x="548640" y="5349240"/>
            <a:ext cx="11091672" cy="548640"/>
          </a:xfrm>
          <a:prstGeom prst="roundRect">
            <a:avLst>
              <a:gd name="adj" fmla="val 11667"/>
            </a:avLst>
          </a:prstGeom>
          <a:solidFill>
            <a:srgbClr val="E7F7F0"/>
          </a:solidFill>
          <a:ln w="12700">
            <a:solidFill>
              <a:srgbClr val="E4EAF2"/>
            </a:solidFill>
            <a:prstDash val="solid"/>
          </a:ln>
        </p:spPr>
      </p:sp>
      <p:sp>
        <p:nvSpPr>
          <p:cNvPr id="65" name="Text 63"/>
          <p:cNvSpPr/>
          <p:nvPr/>
        </p:nvSpPr>
        <p:spPr>
          <a:xfrm>
            <a:off x="914400" y="5349240"/>
            <a:ext cx="10332720" cy="548640"/>
          </a:xfrm>
          <a:prstGeom prst="rect">
            <a:avLst/>
          </a:prstGeom>
          <a:noFill/>
          <a:ln/>
        </p:spPr>
        <p:txBody>
          <a:bodyPr wrap="square" lIns="0" tIns="0" rIns="0" bIns="0" rtlCol="0" anchor="ctr"/>
          <a:lstStyle/>
          <a:p>
            <a:pPr indent="0" marL="0">
              <a:buNone/>
            </a:pPr>
            <a:r>
              <a:rPr lang="en-US" sz="1150" b="1" dirty="0">
                <a:solidFill>
                  <a:srgbClr val="0F1E3D"/>
                </a:solidFill>
                <a:latin typeface="Calibri" pitchFamily="34" charset="0"/>
                <a:ea typeface="Calibri" pitchFamily="34" charset="-122"/>
                <a:cs typeface="Calibri" pitchFamily="34" charset="-120"/>
              </a:rPr>
              <a:t>The one dependency, stated honestly:  </a:t>
            </a:r>
            <a:pPr indent="0" marL="0">
              <a:buNone/>
            </a:pPr>
            <a:r>
              <a:rPr lang="en-US" sz="1150" dirty="0">
                <a:solidFill>
                  <a:srgbClr val="3E4C63"/>
                </a:solidFill>
                <a:latin typeface="Calibri" pitchFamily="34" charset="0"/>
                <a:ea typeface="Calibri" pitchFamily="34" charset="-122"/>
                <a:cs typeface="Calibri" pitchFamily="34" charset="-120"/>
              </a:rPr>
              <a:t>the intelligence starts empty and grows with use. Seeding it with our historic quotes in Phase 1 means it starts smart, not from zero.</a:t>
            </a:r>
            <a:endParaRPr lang="en-US" sz="1150" dirty="0"/>
          </a:p>
        </p:txBody>
      </p:sp>
      <p:sp>
        <p:nvSpPr>
          <p:cNvPr id="66" name="Shape 64"/>
          <p:cNvSpPr/>
          <p:nvPr/>
        </p:nvSpPr>
        <p:spPr>
          <a:xfrm>
            <a:off x="548640" y="6400800"/>
            <a:ext cx="11094415" cy="12802"/>
          </a:xfrm>
          <a:prstGeom prst="rect">
            <a:avLst/>
          </a:prstGeom>
          <a:solidFill>
            <a:srgbClr val="E4EAF2"/>
          </a:solidFill>
          <a:ln/>
        </p:spPr>
      </p:sp>
      <p:sp>
        <p:nvSpPr>
          <p:cNvPr id="67" name="Text 65"/>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68" name="Text 66"/>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22 / 25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A472"/>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A472"/>
                </a:solidFill>
                <a:latin typeface="Calibri" pitchFamily="34" charset="0"/>
                <a:ea typeface="Calibri" pitchFamily="34" charset="-122"/>
                <a:cs typeface="Calibri" pitchFamily="34" charset="-120"/>
              </a:rPr>
              <a:t>GOVERNANCE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Data security &amp; deployment</a:t>
            </a:r>
            <a:endParaRPr lang="en-US" sz="2400" dirty="0"/>
          </a:p>
        </p:txBody>
      </p:sp>
      <p:sp>
        <p:nvSpPr>
          <p:cNvPr id="9" name="Shape 7"/>
          <p:cNvSpPr/>
          <p:nvPr/>
        </p:nvSpPr>
        <p:spPr>
          <a:xfrm>
            <a:off x="548640" y="1371600"/>
            <a:ext cx="1051560" cy="45720"/>
          </a:xfrm>
          <a:prstGeom prst="rect">
            <a:avLst/>
          </a:prstGeom>
          <a:solidFill>
            <a:srgbClr val="0EA472"/>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Built for enterprise from the ground up — your data, your infrastructure, your IP.</a:t>
            </a:r>
            <a:endParaRPr lang="en-US" sz="1250" dirty="0"/>
          </a:p>
        </p:txBody>
      </p:sp>
      <p:sp>
        <p:nvSpPr>
          <p:cNvPr id="11" name="Shape 9"/>
          <p:cNvSpPr/>
          <p:nvPr/>
        </p:nvSpPr>
        <p:spPr>
          <a:xfrm>
            <a:off x="548640" y="1874520"/>
            <a:ext cx="3520440" cy="1600200"/>
          </a:xfrm>
          <a:prstGeom prst="roundRect">
            <a:avLst>
              <a:gd name="adj" fmla="val 4000"/>
            </a:avLst>
          </a:prstGeom>
          <a:solidFill>
            <a:srgbClr val="FFFFFF"/>
          </a:solidFill>
          <a:ln w="12700">
            <a:solidFill>
              <a:srgbClr val="E4EAF2"/>
            </a:solidFill>
            <a:prstDash val="solid"/>
          </a:ln>
          <a:effectLst>
            <a:outerShdw sx="100000" sy="100000" kx="0" ky="0" algn="bl" rotWithShape="0" blurRad="1.2922856057823127e+288" dist="3.6922445879494656e+287" dir="Infinity">
              <a:srgbClr val="9DB0CC">
                <a:alpha val="Infinity"/>
              </a:srgbClr>
            </a:outerShdw>
          </a:effectLst>
        </p:spPr>
      </p:sp>
      <p:sp>
        <p:nvSpPr>
          <p:cNvPr id="12" name="Shape 10"/>
          <p:cNvSpPr/>
          <p:nvPr/>
        </p:nvSpPr>
        <p:spPr>
          <a:xfrm>
            <a:off x="548640" y="1874520"/>
            <a:ext cx="82296" cy="1600200"/>
          </a:xfrm>
          <a:prstGeom prst="rect">
            <a:avLst/>
          </a:prstGeom>
          <a:solidFill>
            <a:srgbClr val="0EA472"/>
          </a:solidFill>
          <a:ln/>
        </p:spPr>
      </p:sp>
      <p:sp>
        <p:nvSpPr>
          <p:cNvPr id="13" name="Shape 11"/>
          <p:cNvSpPr/>
          <p:nvPr/>
        </p:nvSpPr>
        <p:spPr>
          <a:xfrm>
            <a:off x="786384" y="2075688"/>
            <a:ext cx="457200" cy="457200"/>
          </a:xfrm>
          <a:prstGeom prst="ellipse">
            <a:avLst/>
          </a:prstGeom>
          <a:solidFill>
            <a:srgbClr val="E7F7F0"/>
          </a:solidFill>
          <a:ln/>
        </p:spPr>
      </p:sp>
      <p:sp>
        <p:nvSpPr>
          <p:cNvPr id="14" name="Text 12"/>
          <p:cNvSpPr/>
          <p:nvPr/>
        </p:nvSpPr>
        <p:spPr>
          <a:xfrm>
            <a:off x="786384" y="2066544"/>
            <a:ext cx="457200" cy="457200"/>
          </a:xfrm>
          <a:prstGeom prst="rect">
            <a:avLst/>
          </a:prstGeom>
          <a:noFill/>
          <a:ln/>
        </p:spPr>
        <p:txBody>
          <a:bodyPr wrap="square" lIns="0" tIns="0" rIns="0" bIns="0" rtlCol="0" anchor="ctr"/>
          <a:lstStyle/>
          <a:p>
            <a:pPr algn="ctr" indent="0" marL="0">
              <a:buNone/>
            </a:pPr>
            <a:r>
              <a:rPr lang="en-US" sz="1600" b="1" dirty="0">
                <a:solidFill>
                  <a:srgbClr val="0EA472"/>
                </a:solidFill>
                <a:latin typeface="Calibri" pitchFamily="34" charset="0"/>
                <a:ea typeface="Calibri" pitchFamily="34" charset="-122"/>
                <a:cs typeface="Calibri" pitchFamily="34" charset="-120"/>
              </a:rPr>
              <a:t>🔒</a:t>
            </a:r>
            <a:endParaRPr lang="en-US" sz="1600" dirty="0"/>
          </a:p>
        </p:txBody>
      </p:sp>
      <p:sp>
        <p:nvSpPr>
          <p:cNvPr id="15" name="Text 13"/>
          <p:cNvSpPr/>
          <p:nvPr/>
        </p:nvSpPr>
        <p:spPr>
          <a:xfrm>
            <a:off x="1335024" y="2112264"/>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EA472"/>
                </a:solidFill>
                <a:latin typeface="Calibri" pitchFamily="34" charset="0"/>
                <a:ea typeface="Calibri" pitchFamily="34" charset="-122"/>
                <a:cs typeface="Calibri" pitchFamily="34" charset="-120"/>
              </a:rPr>
              <a:t>On-premise deployment</a:t>
            </a:r>
            <a:endParaRPr lang="en-US" sz="1250" dirty="0"/>
          </a:p>
        </p:txBody>
      </p:sp>
      <p:sp>
        <p:nvSpPr>
          <p:cNvPr id="16" name="Text 14"/>
          <p:cNvSpPr/>
          <p:nvPr/>
        </p:nvSpPr>
        <p:spPr>
          <a:xfrm>
            <a:off x="804672" y="2651760"/>
            <a:ext cx="3063240" cy="777240"/>
          </a:xfrm>
          <a:prstGeom prst="rect">
            <a:avLst/>
          </a:prstGeom>
          <a:noFill/>
          <a:ln/>
        </p:spPr>
        <p:txBody>
          <a:bodyPr wrap="square" lIns="0" tIns="0" rIns="0" bIns="0" rtlCol="0" anchor="t"/>
          <a:lstStyle/>
          <a:p>
            <a:pPr indent="0" marL="0">
              <a:lnSpc>
                <a:spcPct val="112000"/>
              </a:lnSpc>
              <a:buNone/>
            </a:pPr>
            <a:r>
              <a:rPr lang="en-US" sz="950" dirty="0">
                <a:solidFill>
                  <a:srgbClr val="3E4C63"/>
                </a:solidFill>
                <a:latin typeface="Calibri" pitchFamily="34" charset="0"/>
                <a:ea typeface="Calibri" pitchFamily="34" charset="-122"/>
                <a:cs typeface="Calibri" pitchFamily="34" charset="-120"/>
              </a:rPr>
              <a:t>Runs inside our own walls — the knowledge base and every analysis are stored on our servers and never retained by any vendor.</a:t>
            </a:r>
            <a:endParaRPr lang="en-US" sz="950" dirty="0"/>
          </a:p>
        </p:txBody>
      </p:sp>
      <p:sp>
        <p:nvSpPr>
          <p:cNvPr id="17" name="Shape 15"/>
          <p:cNvSpPr/>
          <p:nvPr/>
        </p:nvSpPr>
        <p:spPr>
          <a:xfrm>
            <a:off x="4325112" y="1874520"/>
            <a:ext cx="3520440" cy="1600200"/>
          </a:xfrm>
          <a:prstGeom prst="roundRect">
            <a:avLst>
              <a:gd name="adj" fmla="val 4000"/>
            </a:avLst>
          </a:prstGeom>
          <a:solidFill>
            <a:srgbClr val="FFFFFF"/>
          </a:solidFill>
          <a:ln w="12700">
            <a:solidFill>
              <a:srgbClr val="E4EAF2"/>
            </a:solidFill>
            <a:prstDash val="solid"/>
          </a:ln>
          <a:effectLst>
            <a:outerShdw sx="100000" sy="100000" kx="0" ky="0" algn="bl" rotWithShape="0" blurRad="1.6412027193435371e+292" dist="4.6891506266958215e+291" dir="Infinity">
              <a:srgbClr val="9DB0CC">
                <a:alpha val="Infinity"/>
              </a:srgbClr>
            </a:outerShdw>
          </a:effectLst>
        </p:spPr>
      </p:sp>
      <p:sp>
        <p:nvSpPr>
          <p:cNvPr id="18" name="Shape 16"/>
          <p:cNvSpPr/>
          <p:nvPr/>
        </p:nvSpPr>
        <p:spPr>
          <a:xfrm>
            <a:off x="4325112" y="1874520"/>
            <a:ext cx="82296" cy="1600200"/>
          </a:xfrm>
          <a:prstGeom prst="rect">
            <a:avLst/>
          </a:prstGeom>
          <a:solidFill>
            <a:srgbClr val="2563EB"/>
          </a:solidFill>
          <a:ln/>
        </p:spPr>
      </p:sp>
      <p:sp>
        <p:nvSpPr>
          <p:cNvPr id="19" name="Shape 17"/>
          <p:cNvSpPr/>
          <p:nvPr/>
        </p:nvSpPr>
        <p:spPr>
          <a:xfrm>
            <a:off x="4562856" y="2075688"/>
            <a:ext cx="457200" cy="457200"/>
          </a:xfrm>
          <a:prstGeom prst="ellipse">
            <a:avLst/>
          </a:prstGeom>
          <a:solidFill>
            <a:srgbClr val="EAF1FE"/>
          </a:solidFill>
          <a:ln/>
        </p:spPr>
      </p:sp>
      <p:sp>
        <p:nvSpPr>
          <p:cNvPr id="20" name="Text 18"/>
          <p:cNvSpPr/>
          <p:nvPr/>
        </p:nvSpPr>
        <p:spPr>
          <a:xfrm>
            <a:off x="4562856" y="2066544"/>
            <a:ext cx="457200" cy="457200"/>
          </a:xfrm>
          <a:prstGeom prst="rect">
            <a:avLst/>
          </a:prstGeom>
          <a:noFill/>
          <a:ln/>
        </p:spPr>
        <p:txBody>
          <a:bodyPr wrap="square" lIns="0" tIns="0" rIns="0" bIns="0" rtlCol="0" anchor="ctr"/>
          <a:lstStyle/>
          <a:p>
            <a:pPr algn="ctr" indent="0" marL="0">
              <a:buNone/>
            </a:pPr>
            <a:r>
              <a:rPr lang="en-US" sz="1600" b="1" dirty="0">
                <a:solidFill>
                  <a:srgbClr val="2563EB"/>
                </a:solidFill>
                <a:latin typeface="Calibri" pitchFamily="34" charset="0"/>
                <a:ea typeface="Calibri" pitchFamily="34" charset="-122"/>
                <a:cs typeface="Calibri" pitchFamily="34" charset="-120"/>
              </a:rPr>
              <a:t>◆</a:t>
            </a:r>
            <a:endParaRPr lang="en-US" sz="1600" dirty="0"/>
          </a:p>
        </p:txBody>
      </p:sp>
      <p:sp>
        <p:nvSpPr>
          <p:cNvPr id="21" name="Text 19"/>
          <p:cNvSpPr/>
          <p:nvPr/>
        </p:nvSpPr>
        <p:spPr>
          <a:xfrm>
            <a:off x="5111496" y="2112264"/>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2563EB"/>
                </a:solidFill>
                <a:latin typeface="Calibri" pitchFamily="34" charset="0"/>
                <a:ea typeface="Calibri" pitchFamily="34" charset="-122"/>
                <a:cs typeface="Calibri" pitchFamily="34" charset="-120"/>
              </a:rPr>
              <a:t>Keys server-side only</a:t>
            </a:r>
            <a:endParaRPr lang="en-US" sz="1250" dirty="0"/>
          </a:p>
        </p:txBody>
      </p:sp>
      <p:sp>
        <p:nvSpPr>
          <p:cNvPr id="22" name="Text 20"/>
          <p:cNvSpPr/>
          <p:nvPr/>
        </p:nvSpPr>
        <p:spPr>
          <a:xfrm>
            <a:off x="4581144" y="2651760"/>
            <a:ext cx="3063240" cy="777240"/>
          </a:xfrm>
          <a:prstGeom prst="rect">
            <a:avLst/>
          </a:prstGeom>
          <a:noFill/>
          <a:ln/>
        </p:spPr>
        <p:txBody>
          <a:bodyPr wrap="square" lIns="0" tIns="0" rIns="0" bIns="0" rtlCol="0" anchor="t"/>
          <a:lstStyle/>
          <a:p>
            <a:pPr indent="0" marL="0">
              <a:lnSpc>
                <a:spcPct val="112000"/>
              </a:lnSpc>
              <a:buNone/>
            </a:pPr>
            <a:r>
              <a:rPr lang="en-US" sz="950" dirty="0">
                <a:solidFill>
                  <a:srgbClr val="3E4C63"/>
                </a:solidFill>
                <a:latin typeface="Calibri" pitchFamily="34" charset="0"/>
                <a:ea typeface="Calibri" pitchFamily="34" charset="-122"/>
                <a:cs typeface="Calibri" pitchFamily="34" charset="-120"/>
              </a:rPr>
              <a:t>The AI key lives server-side (.env) — the browser never sees it. AI calls proxy through our server to the model endpoint.</a:t>
            </a:r>
            <a:endParaRPr lang="en-US" sz="950" dirty="0"/>
          </a:p>
        </p:txBody>
      </p:sp>
      <p:sp>
        <p:nvSpPr>
          <p:cNvPr id="23" name="Shape 21"/>
          <p:cNvSpPr/>
          <p:nvPr/>
        </p:nvSpPr>
        <p:spPr>
          <a:xfrm>
            <a:off x="8101584" y="1874520"/>
            <a:ext cx="3520440" cy="1600200"/>
          </a:xfrm>
          <a:prstGeom prst="roundRect">
            <a:avLst>
              <a:gd name="adj" fmla="val 4000"/>
            </a:avLst>
          </a:prstGeom>
          <a:solidFill>
            <a:srgbClr val="FFFFFF"/>
          </a:solidFill>
          <a:ln w="12700">
            <a:solidFill>
              <a:srgbClr val="E4EAF2"/>
            </a:solidFill>
            <a:prstDash val="solid"/>
          </a:ln>
          <a:effectLst>
            <a:outerShdw sx="100000" sy="100000" kx="0" ky="0" algn="bl" rotWithShape="0" blurRad="2.0843274535662923e+296" dist="5.955221295903693e+295" dir="Infinity">
              <a:srgbClr val="9DB0CC">
                <a:alpha val="Infinity"/>
              </a:srgbClr>
            </a:outerShdw>
          </a:effectLst>
        </p:spPr>
      </p:sp>
      <p:sp>
        <p:nvSpPr>
          <p:cNvPr id="24" name="Shape 22"/>
          <p:cNvSpPr/>
          <p:nvPr/>
        </p:nvSpPr>
        <p:spPr>
          <a:xfrm>
            <a:off x="8101584" y="1874520"/>
            <a:ext cx="82296" cy="1600200"/>
          </a:xfrm>
          <a:prstGeom prst="rect">
            <a:avLst/>
          </a:prstGeom>
          <a:solidFill>
            <a:srgbClr val="7C3AED"/>
          </a:solidFill>
          <a:ln/>
        </p:spPr>
      </p:sp>
      <p:sp>
        <p:nvSpPr>
          <p:cNvPr id="25" name="Shape 23"/>
          <p:cNvSpPr/>
          <p:nvPr/>
        </p:nvSpPr>
        <p:spPr>
          <a:xfrm>
            <a:off x="8339328" y="2075688"/>
            <a:ext cx="457200" cy="457200"/>
          </a:xfrm>
          <a:prstGeom prst="ellipse">
            <a:avLst/>
          </a:prstGeom>
          <a:solidFill>
            <a:srgbClr val="F3EEFE"/>
          </a:solidFill>
          <a:ln/>
        </p:spPr>
      </p:sp>
      <p:sp>
        <p:nvSpPr>
          <p:cNvPr id="26" name="Text 24"/>
          <p:cNvSpPr/>
          <p:nvPr/>
        </p:nvSpPr>
        <p:spPr>
          <a:xfrm>
            <a:off x="8339328" y="2066544"/>
            <a:ext cx="457200" cy="457200"/>
          </a:xfrm>
          <a:prstGeom prst="rect">
            <a:avLst/>
          </a:prstGeom>
          <a:noFill/>
          <a:ln/>
        </p:spPr>
        <p:txBody>
          <a:bodyPr wrap="square" lIns="0" tIns="0" rIns="0" bIns="0" rtlCol="0" anchor="ctr"/>
          <a:lstStyle/>
          <a:p>
            <a:pPr algn="ctr" indent="0" marL="0">
              <a:buNone/>
            </a:pPr>
            <a:r>
              <a:rPr lang="en-US" sz="1600" b="1" dirty="0">
                <a:solidFill>
                  <a:srgbClr val="7C3AED"/>
                </a:solidFill>
                <a:latin typeface="Calibri" pitchFamily="34" charset="0"/>
                <a:ea typeface="Calibri" pitchFamily="34" charset="-122"/>
                <a:cs typeface="Calibri" pitchFamily="34" charset="-120"/>
              </a:rPr>
              <a:t>◧</a:t>
            </a:r>
            <a:endParaRPr lang="en-US" sz="1600" dirty="0"/>
          </a:p>
        </p:txBody>
      </p:sp>
      <p:sp>
        <p:nvSpPr>
          <p:cNvPr id="27" name="Text 25"/>
          <p:cNvSpPr/>
          <p:nvPr/>
        </p:nvSpPr>
        <p:spPr>
          <a:xfrm>
            <a:off x="8887968" y="2112264"/>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7C3AED"/>
                </a:solidFill>
                <a:latin typeface="Calibri" pitchFamily="34" charset="0"/>
                <a:ea typeface="Calibri" pitchFamily="34" charset="-122"/>
                <a:cs typeface="Calibri" pitchFamily="34" charset="-120"/>
              </a:rPr>
              <a:t>Private &amp; air-gapped ready</a:t>
            </a:r>
            <a:endParaRPr lang="en-US" sz="1250" dirty="0"/>
          </a:p>
        </p:txBody>
      </p:sp>
      <p:sp>
        <p:nvSpPr>
          <p:cNvPr id="28" name="Text 26"/>
          <p:cNvSpPr/>
          <p:nvPr/>
        </p:nvSpPr>
        <p:spPr>
          <a:xfrm>
            <a:off x="8357616" y="2651760"/>
            <a:ext cx="3063240" cy="777240"/>
          </a:xfrm>
          <a:prstGeom prst="rect">
            <a:avLst/>
          </a:prstGeom>
          <a:noFill/>
          <a:ln/>
        </p:spPr>
        <p:txBody>
          <a:bodyPr wrap="square" lIns="0" tIns="0" rIns="0" bIns="0" rtlCol="0" anchor="t"/>
          <a:lstStyle/>
          <a:p>
            <a:pPr indent="0" marL="0">
              <a:lnSpc>
                <a:spcPct val="112000"/>
              </a:lnSpc>
              <a:buNone/>
            </a:pPr>
            <a:r>
              <a:rPr lang="en-US" sz="950" dirty="0">
                <a:solidFill>
                  <a:srgbClr val="3E4C63"/>
                </a:solidFill>
                <a:latin typeface="Calibri" pitchFamily="34" charset="0"/>
                <a:ea typeface="Calibri" pitchFamily="34" charset="-122"/>
                <a:cs typeface="Calibri" pitchFamily="34" charset="-120"/>
              </a:rPr>
              <a:t>Private routing (ANTHROPIC_BASE_URL) or air-gapped mode keeps even the AI request in-network for the most sensitive programmes.</a:t>
            </a:r>
            <a:endParaRPr lang="en-US" sz="950" dirty="0"/>
          </a:p>
        </p:txBody>
      </p:sp>
      <p:sp>
        <p:nvSpPr>
          <p:cNvPr id="29" name="Shape 27"/>
          <p:cNvSpPr/>
          <p:nvPr/>
        </p:nvSpPr>
        <p:spPr>
          <a:xfrm>
            <a:off x="548640" y="3657600"/>
            <a:ext cx="3520440" cy="1600200"/>
          </a:xfrm>
          <a:prstGeom prst="roundRect">
            <a:avLst>
              <a:gd name="adj" fmla="val 4000"/>
            </a:avLst>
          </a:prstGeom>
          <a:solidFill>
            <a:srgbClr val="FFFFFF"/>
          </a:solidFill>
          <a:ln w="12700">
            <a:solidFill>
              <a:srgbClr val="E4EAF2"/>
            </a:solidFill>
            <a:prstDash val="solid"/>
          </a:ln>
          <a:effectLst>
            <a:outerShdw sx="100000" sy="100000" kx="0" ky="0" algn="bl" rotWithShape="0" blurRad="2.647095866029191e+300" dist="7.56313104579769e+299" dir="Infinity">
              <a:srgbClr val="9DB0CC">
                <a:alpha val="Infinity"/>
              </a:srgbClr>
            </a:outerShdw>
          </a:effectLst>
        </p:spPr>
      </p:sp>
      <p:sp>
        <p:nvSpPr>
          <p:cNvPr id="30" name="Shape 28"/>
          <p:cNvSpPr/>
          <p:nvPr/>
        </p:nvSpPr>
        <p:spPr>
          <a:xfrm>
            <a:off x="548640" y="3657600"/>
            <a:ext cx="82296" cy="1600200"/>
          </a:xfrm>
          <a:prstGeom prst="rect">
            <a:avLst/>
          </a:prstGeom>
          <a:solidFill>
            <a:srgbClr val="0E93B0"/>
          </a:solidFill>
          <a:ln/>
        </p:spPr>
      </p:sp>
      <p:sp>
        <p:nvSpPr>
          <p:cNvPr id="31" name="Shape 29"/>
          <p:cNvSpPr/>
          <p:nvPr/>
        </p:nvSpPr>
        <p:spPr>
          <a:xfrm>
            <a:off x="786384" y="3858768"/>
            <a:ext cx="457200" cy="457200"/>
          </a:xfrm>
          <a:prstGeom prst="ellipse">
            <a:avLst/>
          </a:prstGeom>
          <a:solidFill>
            <a:srgbClr val="E8F6FA"/>
          </a:solidFill>
          <a:ln/>
        </p:spPr>
      </p:sp>
      <p:sp>
        <p:nvSpPr>
          <p:cNvPr id="32" name="Text 30"/>
          <p:cNvSpPr/>
          <p:nvPr/>
        </p:nvSpPr>
        <p:spPr>
          <a:xfrm>
            <a:off x="786384" y="3849624"/>
            <a:ext cx="457200" cy="457200"/>
          </a:xfrm>
          <a:prstGeom prst="rect">
            <a:avLst/>
          </a:prstGeom>
          <a:noFill/>
          <a:ln/>
        </p:spPr>
        <p:txBody>
          <a:bodyPr wrap="square" lIns="0" tIns="0" rIns="0" bIns="0" rtlCol="0" anchor="ctr"/>
          <a:lstStyle/>
          <a:p>
            <a:pPr algn="ctr" indent="0" marL="0">
              <a:buNone/>
            </a:pPr>
            <a:r>
              <a:rPr lang="en-US" sz="1600" b="1" dirty="0">
                <a:solidFill>
                  <a:srgbClr val="0E93B0"/>
                </a:solidFill>
                <a:latin typeface="Calibri" pitchFamily="34" charset="0"/>
                <a:ea typeface="Calibri" pitchFamily="34" charset="-122"/>
                <a:cs typeface="Calibri" pitchFamily="34" charset="-120"/>
              </a:rPr>
              <a:t>▤</a:t>
            </a:r>
            <a:endParaRPr lang="en-US" sz="1600" dirty="0"/>
          </a:p>
        </p:txBody>
      </p:sp>
      <p:sp>
        <p:nvSpPr>
          <p:cNvPr id="33" name="Text 31"/>
          <p:cNvSpPr/>
          <p:nvPr/>
        </p:nvSpPr>
        <p:spPr>
          <a:xfrm>
            <a:off x="1335024" y="3895344"/>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E93B0"/>
                </a:solidFill>
                <a:latin typeface="Calibri" pitchFamily="34" charset="0"/>
                <a:ea typeface="Calibri" pitchFamily="34" charset="-122"/>
                <a:cs typeface="Calibri" pitchFamily="34" charset="-120"/>
              </a:rPr>
              <a:t>Full audit trail</a:t>
            </a:r>
            <a:endParaRPr lang="en-US" sz="1250" dirty="0"/>
          </a:p>
        </p:txBody>
      </p:sp>
      <p:sp>
        <p:nvSpPr>
          <p:cNvPr id="34" name="Text 32"/>
          <p:cNvSpPr/>
          <p:nvPr/>
        </p:nvSpPr>
        <p:spPr>
          <a:xfrm>
            <a:off x="804672" y="4434840"/>
            <a:ext cx="3063240" cy="777240"/>
          </a:xfrm>
          <a:prstGeom prst="rect">
            <a:avLst/>
          </a:prstGeom>
          <a:noFill/>
          <a:ln/>
        </p:spPr>
        <p:txBody>
          <a:bodyPr wrap="square" lIns="0" tIns="0" rIns="0" bIns="0" rtlCol="0" anchor="t"/>
          <a:lstStyle/>
          <a:p>
            <a:pPr indent="0" marL="0">
              <a:lnSpc>
                <a:spcPct val="112000"/>
              </a:lnSpc>
              <a:buNone/>
            </a:pPr>
            <a:r>
              <a:rPr lang="en-US" sz="950" dirty="0">
                <a:solidFill>
                  <a:srgbClr val="3E4C63"/>
                </a:solidFill>
                <a:latin typeface="Calibri" pitchFamily="34" charset="0"/>
                <a:ea typeface="Calibri" pitchFamily="34" charset="-122"/>
                <a:cs typeface="Calibri" pitchFamily="34" charset="-120"/>
              </a:rPr>
              <a:t>Every number carries provenance; every analysis and correction is logged — defensible and traceable.</a:t>
            </a:r>
            <a:endParaRPr lang="en-US" sz="950" dirty="0"/>
          </a:p>
        </p:txBody>
      </p:sp>
      <p:sp>
        <p:nvSpPr>
          <p:cNvPr id="35" name="Shape 33"/>
          <p:cNvSpPr/>
          <p:nvPr/>
        </p:nvSpPr>
        <p:spPr>
          <a:xfrm>
            <a:off x="4325112" y="3657600"/>
            <a:ext cx="3520440" cy="1600200"/>
          </a:xfrm>
          <a:prstGeom prst="roundRect">
            <a:avLst>
              <a:gd name="adj" fmla="val 4000"/>
            </a:avLst>
          </a:prstGeom>
          <a:solidFill>
            <a:srgbClr val="FFFFFF"/>
          </a:solidFill>
          <a:ln w="12700">
            <a:solidFill>
              <a:srgbClr val="E4EAF2"/>
            </a:solidFill>
            <a:prstDash val="solid"/>
          </a:ln>
          <a:effectLst>
            <a:outerShdw sx="100000" sy="100000" kx="0" ky="0" algn="bl" rotWithShape="0" blurRad="3.3618117498570727e+304" dist="9.605176428163068e+303" dir="Infinity">
              <a:srgbClr val="9DB0CC">
                <a:alpha val="Infinity"/>
              </a:srgbClr>
            </a:outerShdw>
          </a:effectLst>
        </p:spPr>
      </p:sp>
      <p:sp>
        <p:nvSpPr>
          <p:cNvPr id="36" name="Shape 34"/>
          <p:cNvSpPr/>
          <p:nvPr/>
        </p:nvSpPr>
        <p:spPr>
          <a:xfrm>
            <a:off x="4325112" y="3657600"/>
            <a:ext cx="82296" cy="1600200"/>
          </a:xfrm>
          <a:prstGeom prst="rect">
            <a:avLst/>
          </a:prstGeom>
          <a:solidFill>
            <a:srgbClr val="E0900C"/>
          </a:solidFill>
          <a:ln/>
        </p:spPr>
      </p:sp>
      <p:sp>
        <p:nvSpPr>
          <p:cNvPr id="37" name="Shape 35"/>
          <p:cNvSpPr/>
          <p:nvPr/>
        </p:nvSpPr>
        <p:spPr>
          <a:xfrm>
            <a:off x="4562856" y="3858768"/>
            <a:ext cx="457200" cy="457200"/>
          </a:xfrm>
          <a:prstGeom prst="ellipse">
            <a:avLst/>
          </a:prstGeom>
          <a:solidFill>
            <a:srgbClr val="FEF6E7"/>
          </a:solidFill>
          <a:ln/>
        </p:spPr>
      </p:sp>
      <p:sp>
        <p:nvSpPr>
          <p:cNvPr id="38" name="Text 36"/>
          <p:cNvSpPr/>
          <p:nvPr/>
        </p:nvSpPr>
        <p:spPr>
          <a:xfrm>
            <a:off x="4562856" y="3849624"/>
            <a:ext cx="457200" cy="457200"/>
          </a:xfrm>
          <a:prstGeom prst="rect">
            <a:avLst/>
          </a:prstGeom>
          <a:noFill/>
          <a:ln/>
        </p:spPr>
        <p:txBody>
          <a:bodyPr wrap="square" lIns="0" tIns="0" rIns="0" bIns="0" rtlCol="0" anchor="ctr"/>
          <a:lstStyle/>
          <a:p>
            <a:pPr algn="ctr" indent="0" marL="0">
              <a:buNone/>
            </a:pPr>
            <a:r>
              <a:rPr lang="en-US" sz="1600" b="1" dirty="0">
                <a:solidFill>
                  <a:srgbClr val="E0900C"/>
                </a:solidFill>
                <a:latin typeface="Calibri" pitchFamily="34" charset="0"/>
                <a:ea typeface="Calibri" pitchFamily="34" charset="-122"/>
                <a:cs typeface="Calibri" pitchFamily="34" charset="-120"/>
              </a:rPr>
              <a:t>◎</a:t>
            </a:r>
            <a:endParaRPr lang="en-US" sz="1600" dirty="0"/>
          </a:p>
        </p:txBody>
      </p:sp>
      <p:sp>
        <p:nvSpPr>
          <p:cNvPr id="39" name="Text 37"/>
          <p:cNvSpPr/>
          <p:nvPr/>
        </p:nvSpPr>
        <p:spPr>
          <a:xfrm>
            <a:off x="5111496" y="3895344"/>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E0900C"/>
                </a:solidFill>
                <a:latin typeface="Calibri" pitchFamily="34" charset="0"/>
                <a:ea typeface="Calibri" pitchFamily="34" charset="-122"/>
                <a:cs typeface="Calibri" pitchFamily="34" charset="-120"/>
              </a:rPr>
              <a:t>Our IP, not a vendor's</a:t>
            </a:r>
            <a:endParaRPr lang="en-US" sz="1250" dirty="0"/>
          </a:p>
        </p:txBody>
      </p:sp>
      <p:sp>
        <p:nvSpPr>
          <p:cNvPr id="40" name="Text 38"/>
          <p:cNvSpPr/>
          <p:nvPr/>
        </p:nvSpPr>
        <p:spPr>
          <a:xfrm>
            <a:off x="4581144" y="4434840"/>
            <a:ext cx="3063240" cy="777240"/>
          </a:xfrm>
          <a:prstGeom prst="rect">
            <a:avLst/>
          </a:prstGeom>
          <a:noFill/>
          <a:ln/>
        </p:spPr>
        <p:txBody>
          <a:bodyPr wrap="square" lIns="0" tIns="0" rIns="0" bIns="0" rtlCol="0" anchor="t"/>
          <a:lstStyle/>
          <a:p>
            <a:pPr indent="0" marL="0">
              <a:lnSpc>
                <a:spcPct val="112000"/>
              </a:lnSpc>
              <a:buNone/>
            </a:pPr>
            <a:r>
              <a:rPr lang="en-US" sz="950" dirty="0">
                <a:solidFill>
                  <a:srgbClr val="3E4C63"/>
                </a:solidFill>
                <a:latin typeface="Calibri" pitchFamily="34" charset="0"/>
                <a:ea typeface="Calibri" pitchFamily="34" charset="-122"/>
                <a:cs typeface="Calibri" pitchFamily="34" charset="-120"/>
              </a:rPr>
              <a:t>The accumulated costing intelligence is a proprietary company asset — it does not walk out with a subscription.</a:t>
            </a:r>
            <a:endParaRPr lang="en-US" sz="950" dirty="0"/>
          </a:p>
        </p:txBody>
      </p:sp>
      <p:sp>
        <p:nvSpPr>
          <p:cNvPr id="41" name="Shape 39"/>
          <p:cNvSpPr/>
          <p:nvPr/>
        </p:nvSpPr>
        <p:spPr>
          <a:xfrm>
            <a:off x="8101584" y="3657600"/>
            <a:ext cx="3520440" cy="1600200"/>
          </a:xfrm>
          <a:prstGeom prst="roundRect">
            <a:avLst>
              <a:gd name="adj" fmla="val 4000"/>
            </a:avLst>
          </a:prstGeom>
          <a:solidFill>
            <a:srgbClr val="FFFFFF"/>
          </a:solidFill>
          <a:ln w="12700">
            <a:solidFill>
              <a:srgbClr val="E4EAF2"/>
            </a:solidFill>
            <a:prstDash val="solid"/>
          </a:ln>
          <a:effectLst>
            <a:outerShdw sx="100000" sy="100000" kx="0" ky="0" algn="bl" rotWithShape="0" blurRad="Infinity" dist="1.2198574063767096e+308" dir="Infinity">
              <a:srgbClr val="9DB0CC">
                <a:alpha val="Infinity"/>
              </a:srgbClr>
            </a:outerShdw>
          </a:effectLst>
        </p:spPr>
      </p:sp>
      <p:sp>
        <p:nvSpPr>
          <p:cNvPr id="42" name="Shape 40"/>
          <p:cNvSpPr/>
          <p:nvPr/>
        </p:nvSpPr>
        <p:spPr>
          <a:xfrm>
            <a:off x="8101584" y="3657600"/>
            <a:ext cx="82296" cy="1600200"/>
          </a:xfrm>
          <a:prstGeom prst="rect">
            <a:avLst/>
          </a:prstGeom>
          <a:solidFill>
            <a:srgbClr val="0DA5A0"/>
          </a:solidFill>
          <a:ln/>
        </p:spPr>
      </p:sp>
      <p:sp>
        <p:nvSpPr>
          <p:cNvPr id="43" name="Shape 41"/>
          <p:cNvSpPr/>
          <p:nvPr/>
        </p:nvSpPr>
        <p:spPr>
          <a:xfrm>
            <a:off x="8339328" y="3858768"/>
            <a:ext cx="457200" cy="457200"/>
          </a:xfrm>
          <a:prstGeom prst="ellipse">
            <a:avLst/>
          </a:prstGeom>
          <a:solidFill>
            <a:srgbClr val="E7F7F0"/>
          </a:solidFill>
          <a:ln/>
        </p:spPr>
      </p:sp>
      <p:sp>
        <p:nvSpPr>
          <p:cNvPr id="44" name="Text 42"/>
          <p:cNvSpPr/>
          <p:nvPr/>
        </p:nvSpPr>
        <p:spPr>
          <a:xfrm>
            <a:off x="8339328" y="3849624"/>
            <a:ext cx="457200" cy="457200"/>
          </a:xfrm>
          <a:prstGeom prst="rect">
            <a:avLst/>
          </a:prstGeom>
          <a:noFill/>
          <a:ln/>
        </p:spPr>
        <p:txBody>
          <a:bodyPr wrap="square" lIns="0" tIns="0" rIns="0" bIns="0" rtlCol="0" anchor="ctr"/>
          <a:lstStyle/>
          <a:p>
            <a:pPr algn="ctr" indent="0" marL="0">
              <a:buNone/>
            </a:pPr>
            <a:r>
              <a:rPr lang="en-US" sz="1600" b="1" dirty="0">
                <a:solidFill>
                  <a:srgbClr val="0DA5A0"/>
                </a:solidFill>
                <a:latin typeface="Calibri" pitchFamily="34" charset="0"/>
                <a:ea typeface="Calibri" pitchFamily="34" charset="-122"/>
                <a:cs typeface="Calibri" pitchFamily="34" charset="-120"/>
              </a:rPr>
              <a:t>✓</a:t>
            </a:r>
            <a:endParaRPr lang="en-US" sz="1600" dirty="0"/>
          </a:p>
        </p:txBody>
      </p:sp>
      <p:sp>
        <p:nvSpPr>
          <p:cNvPr id="45" name="Text 43"/>
          <p:cNvSpPr/>
          <p:nvPr/>
        </p:nvSpPr>
        <p:spPr>
          <a:xfrm>
            <a:off x="8887968" y="3895344"/>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DA5A0"/>
                </a:solidFill>
                <a:latin typeface="Calibri" pitchFamily="34" charset="0"/>
                <a:ea typeface="Calibri" pitchFamily="34" charset="-122"/>
                <a:cs typeface="Calibri" pitchFamily="34" charset="-120"/>
              </a:rPr>
              <a:t>Access &amp; governance</a:t>
            </a:r>
            <a:endParaRPr lang="en-US" sz="1250" dirty="0"/>
          </a:p>
        </p:txBody>
      </p:sp>
      <p:sp>
        <p:nvSpPr>
          <p:cNvPr id="46" name="Text 44"/>
          <p:cNvSpPr/>
          <p:nvPr/>
        </p:nvSpPr>
        <p:spPr>
          <a:xfrm>
            <a:off x="8357616" y="4434840"/>
            <a:ext cx="3063240" cy="777240"/>
          </a:xfrm>
          <a:prstGeom prst="rect">
            <a:avLst/>
          </a:prstGeom>
          <a:noFill/>
          <a:ln/>
        </p:spPr>
        <p:txBody>
          <a:bodyPr wrap="square" lIns="0" tIns="0" rIns="0" bIns="0" rtlCol="0" anchor="t"/>
          <a:lstStyle/>
          <a:p>
            <a:pPr indent="0" marL="0">
              <a:lnSpc>
                <a:spcPct val="112000"/>
              </a:lnSpc>
              <a:buNone/>
            </a:pPr>
            <a:r>
              <a:rPr lang="en-US" sz="950" dirty="0">
                <a:solidFill>
                  <a:srgbClr val="3E4C63"/>
                </a:solidFill>
                <a:latin typeface="Calibri" pitchFamily="34" charset="0"/>
                <a:ea typeface="Calibri" pitchFamily="34" charset="-122"/>
                <a:cs typeface="Calibri" pitchFamily="34" charset="-120"/>
              </a:rPr>
              <a:t>Role-based access, on our identity and infrastructure, under our data-governance policy.</a:t>
            </a:r>
            <a:endParaRPr lang="en-US" sz="950" dirty="0"/>
          </a:p>
        </p:txBody>
      </p:sp>
      <p:sp>
        <p:nvSpPr>
          <p:cNvPr id="47" name="Shape 45"/>
          <p:cNvSpPr/>
          <p:nvPr/>
        </p:nvSpPr>
        <p:spPr>
          <a:xfrm>
            <a:off x="548640" y="5367528"/>
            <a:ext cx="11091672" cy="502920"/>
          </a:xfrm>
          <a:prstGeom prst="roundRect">
            <a:avLst>
              <a:gd name="adj" fmla="val 12727"/>
            </a:avLst>
          </a:prstGeom>
          <a:solidFill>
            <a:srgbClr val="E7F7F0"/>
          </a:solidFill>
          <a:ln w="12700">
            <a:solidFill>
              <a:srgbClr val="E4EAF2"/>
            </a:solidFill>
            <a:prstDash val="solid"/>
          </a:ln>
        </p:spPr>
      </p:sp>
      <p:sp>
        <p:nvSpPr>
          <p:cNvPr id="48" name="Shape 46"/>
          <p:cNvSpPr/>
          <p:nvPr/>
        </p:nvSpPr>
        <p:spPr>
          <a:xfrm>
            <a:off x="548640" y="5367528"/>
            <a:ext cx="82296" cy="502920"/>
          </a:xfrm>
          <a:prstGeom prst="rect">
            <a:avLst/>
          </a:prstGeom>
          <a:solidFill>
            <a:srgbClr val="0EA472"/>
          </a:solidFill>
          <a:ln/>
        </p:spPr>
      </p:sp>
      <p:sp>
        <p:nvSpPr>
          <p:cNvPr id="49" name="Text 47"/>
          <p:cNvSpPr/>
          <p:nvPr/>
        </p:nvSpPr>
        <p:spPr>
          <a:xfrm>
            <a:off x="914400" y="5367528"/>
            <a:ext cx="10332720" cy="502920"/>
          </a:xfrm>
          <a:prstGeom prst="rect">
            <a:avLst/>
          </a:prstGeom>
          <a:noFill/>
          <a:ln/>
        </p:spPr>
        <p:txBody>
          <a:bodyPr wrap="square" lIns="0" tIns="0" rIns="0" bIns="0" rtlCol="0" anchor="ctr"/>
          <a:lstStyle/>
          <a:p>
            <a:pPr indent="0" marL="0">
              <a:lnSpc>
                <a:spcPct val="105000"/>
              </a:lnSpc>
              <a:buNone/>
            </a:pPr>
            <a:r>
              <a:rPr lang="en-US" sz="1050" b="1" dirty="0">
                <a:solidFill>
                  <a:srgbClr val="0F1E3D"/>
                </a:solidFill>
                <a:latin typeface="Calibri" pitchFamily="34" charset="0"/>
                <a:ea typeface="Calibri" pitchFamily="34" charset="-122"/>
                <a:cs typeface="Calibri" pitchFamily="34" charset="-120"/>
              </a:rPr>
              <a:t>What actually leaves the building:  </a:t>
            </a:r>
            <a:pPr indent="0" marL="0">
              <a:lnSpc>
                <a:spcPct val="105000"/>
              </a:lnSpc>
              <a:buNone/>
            </a:pPr>
            <a:r>
              <a:rPr lang="en-US" sz="1050" dirty="0">
                <a:solidFill>
                  <a:srgbClr val="3E4C63"/>
                </a:solidFill>
                <a:latin typeface="Calibri" pitchFamily="34" charset="0"/>
                <a:ea typeface="Calibri" pitchFamily="34" charset="-122"/>
                <a:cs typeface="Calibri" pitchFamily="34" charset="-120"/>
              </a:rPr>
              <a:t>only the AI inference request, sent via our own server and not retained by the model provider — and in air-gapped / private-routing mode, not even that. Your data, your infrastructure, your IP.</a:t>
            </a:r>
            <a:endParaRPr lang="en-US" sz="1050" dirty="0"/>
          </a:p>
        </p:txBody>
      </p:sp>
      <p:sp>
        <p:nvSpPr>
          <p:cNvPr id="50" name="Shape 48"/>
          <p:cNvSpPr/>
          <p:nvPr/>
        </p:nvSpPr>
        <p:spPr>
          <a:xfrm>
            <a:off x="548640" y="6400800"/>
            <a:ext cx="11094415" cy="12802"/>
          </a:xfrm>
          <a:prstGeom prst="rect">
            <a:avLst/>
          </a:prstGeom>
          <a:solidFill>
            <a:srgbClr val="E4EAF2"/>
          </a:solidFill>
          <a:ln/>
        </p:spPr>
      </p:sp>
      <p:sp>
        <p:nvSpPr>
          <p:cNvPr id="51" name="Text 49"/>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2" name="Text 50"/>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23 / 25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7C3AED"/>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7C3AED"/>
                </a:solidFill>
                <a:latin typeface="Calibri" pitchFamily="34" charset="0"/>
                <a:ea typeface="Calibri" pitchFamily="34" charset="-122"/>
                <a:cs typeface="Calibri" pitchFamily="34" charset="-120"/>
              </a:rPr>
              <a:t>DEMO · PRESENTER CUE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Live demo — the 5-minute flow</a:t>
            </a:r>
            <a:endParaRPr lang="en-US" sz="2400" dirty="0"/>
          </a:p>
        </p:txBody>
      </p:sp>
      <p:sp>
        <p:nvSpPr>
          <p:cNvPr id="9" name="Shape 7"/>
          <p:cNvSpPr/>
          <p:nvPr/>
        </p:nvSpPr>
        <p:spPr>
          <a:xfrm>
            <a:off x="548640" y="1371600"/>
            <a:ext cx="1051560" cy="45720"/>
          </a:xfrm>
          <a:prstGeom prst="rect">
            <a:avLst/>
          </a:prstGeom>
          <a:solidFill>
            <a:srgbClr val="7C3AED"/>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A tight, high-impact path through the live system — click order, what to show, and the moment that lands.</a:t>
            </a:r>
            <a:endParaRPr lang="en-US" sz="1250" dirty="0"/>
          </a:p>
        </p:txBody>
      </p:sp>
      <p:sp>
        <p:nvSpPr>
          <p:cNvPr id="11" name="Shape 9"/>
          <p:cNvSpPr/>
          <p:nvPr/>
        </p:nvSpPr>
        <p:spPr>
          <a:xfrm>
            <a:off x="548640" y="2057400"/>
            <a:ext cx="7315200" cy="512064"/>
          </a:xfrm>
          <a:prstGeom prst="roundRect">
            <a:avLst>
              <a:gd name="adj" fmla="val 8929"/>
            </a:avLst>
          </a:prstGeom>
          <a:solidFill>
            <a:srgbClr val="F4F7FB"/>
          </a:solidFill>
          <a:ln w="12700">
            <a:solidFill>
              <a:srgbClr val="E4EAF2"/>
            </a:solidFill>
            <a:prstDash val="solid"/>
          </a:ln>
        </p:spPr>
      </p:sp>
      <p:sp>
        <p:nvSpPr>
          <p:cNvPr id="12" name="Shape 10"/>
          <p:cNvSpPr/>
          <p:nvPr/>
        </p:nvSpPr>
        <p:spPr>
          <a:xfrm>
            <a:off x="548640" y="2057400"/>
            <a:ext cx="73152" cy="512064"/>
          </a:xfrm>
          <a:prstGeom prst="rect">
            <a:avLst/>
          </a:prstGeom>
          <a:solidFill>
            <a:srgbClr val="0DA5A0"/>
          </a:solidFill>
          <a:ln/>
        </p:spPr>
      </p:sp>
      <p:sp>
        <p:nvSpPr>
          <p:cNvPr id="13" name="Shape 11"/>
          <p:cNvSpPr/>
          <p:nvPr/>
        </p:nvSpPr>
        <p:spPr>
          <a:xfrm>
            <a:off x="694944" y="2148840"/>
            <a:ext cx="329184" cy="329184"/>
          </a:xfrm>
          <a:prstGeom prst="ellipse">
            <a:avLst/>
          </a:prstGeom>
          <a:solidFill>
            <a:srgbClr val="0DA5A0"/>
          </a:solidFill>
          <a:ln/>
          <a:effectLst>
            <a:outerShdw sx="100000" sy="100000" kx="0" ky="0" algn="bl" rotWithShape="0" blurRad="2.289968664788388e+66" dist="6.86990599436516e+65" dir="2.5389989167104004e+78">
              <a:srgbClr val="A7B6CE">
                <a:alpha val="1.8000000000000003e+79"/>
              </a:srgbClr>
            </a:outerShdw>
          </a:effectLst>
        </p:spPr>
      </p:sp>
      <p:sp>
        <p:nvSpPr>
          <p:cNvPr id="14" name="Text 12"/>
          <p:cNvSpPr/>
          <p:nvPr/>
        </p:nvSpPr>
        <p:spPr>
          <a:xfrm>
            <a:off x="694944" y="2148840"/>
            <a:ext cx="329184" cy="329184"/>
          </a:xfrm>
          <a:prstGeom prst="rect">
            <a:avLst/>
          </a:prstGeom>
          <a:noFill/>
          <a:ln/>
        </p:spPr>
        <p:txBody>
          <a:bodyPr wrap="square" lIns="0" tIns="0" rIns="0" bIns="0" rtlCol="0" anchor="ctr"/>
          <a:lstStyle/>
          <a:p>
            <a:pPr algn="ctr" indent="0" marL="0">
              <a:buNone/>
            </a:pPr>
            <a:r>
              <a:rPr lang="en-US" sz="1224" b="1" dirty="0">
                <a:solidFill>
                  <a:srgbClr val="FFFFFF"/>
                </a:solidFill>
                <a:latin typeface="Calibri" pitchFamily="34" charset="0"/>
                <a:ea typeface="Calibri" pitchFamily="34" charset="-122"/>
                <a:cs typeface="Calibri" pitchFamily="34" charset="-120"/>
              </a:rPr>
              <a:t>1</a:t>
            </a:r>
            <a:endParaRPr lang="en-US" sz="1224" dirty="0"/>
          </a:p>
        </p:txBody>
      </p:sp>
      <p:sp>
        <p:nvSpPr>
          <p:cNvPr id="15" name="Text 13"/>
          <p:cNvSpPr/>
          <p:nvPr/>
        </p:nvSpPr>
        <p:spPr>
          <a:xfrm>
            <a:off x="1152144" y="2057400"/>
            <a:ext cx="1645920" cy="512064"/>
          </a:xfrm>
          <a:prstGeom prst="rect">
            <a:avLst/>
          </a:prstGeom>
          <a:noFill/>
          <a:ln/>
        </p:spPr>
        <p:txBody>
          <a:bodyPr wrap="square" lIns="0" tIns="0" rIns="0" bIns="0" rtlCol="0" anchor="ctr"/>
          <a:lstStyle/>
          <a:p>
            <a:pPr indent="0" marL="0">
              <a:buNone/>
            </a:pPr>
            <a:r>
              <a:rPr lang="en-US" sz="1150" b="1" dirty="0">
                <a:solidFill>
                  <a:srgbClr val="0DA5A0"/>
                </a:solidFill>
                <a:latin typeface="Calibri" pitchFamily="34" charset="0"/>
                <a:ea typeface="Calibri" pitchFamily="34" charset="-122"/>
                <a:cs typeface="Calibri" pitchFamily="34" charset="-120"/>
              </a:rPr>
              <a:t>CAD → Cost</a:t>
            </a:r>
            <a:endParaRPr lang="en-US" sz="1150" dirty="0"/>
          </a:p>
        </p:txBody>
      </p:sp>
      <p:sp>
        <p:nvSpPr>
          <p:cNvPr id="16" name="Text 14"/>
          <p:cNvSpPr/>
          <p:nvPr/>
        </p:nvSpPr>
        <p:spPr>
          <a:xfrm>
            <a:off x="2834640" y="2084832"/>
            <a:ext cx="3200400" cy="475488"/>
          </a:xfrm>
          <a:prstGeom prst="rect">
            <a:avLst/>
          </a:prstGeom>
          <a:noFill/>
          <a:ln/>
        </p:spPr>
        <p:txBody>
          <a:bodyPr wrap="square" lIns="0" tIns="0" rIns="0" bIns="0" rtlCol="0" anchor="ctr"/>
          <a:lstStyle/>
          <a:p>
            <a:pPr indent="0" marL="0">
              <a:lnSpc>
                <a:spcPct val="98000"/>
              </a:lnSpc>
              <a:buNone/>
            </a:pPr>
            <a:r>
              <a:rPr lang="en-US" sz="900" dirty="0">
                <a:solidFill>
                  <a:srgbClr val="3E4C63"/>
                </a:solidFill>
                <a:latin typeface="Calibri" pitchFamily="34" charset="0"/>
                <a:ea typeface="Calibri" pitchFamily="34" charset="-122"/>
                <a:cs typeface="Calibri" pitchFamily="34" charset="-120"/>
              </a:rPr>
              <a:t>Upload a STEP model → show the 3D viewer, geometry &amp; feature table → Calculate</a:t>
            </a:r>
            <a:endParaRPr lang="en-US" sz="900" dirty="0"/>
          </a:p>
        </p:txBody>
      </p:sp>
      <p:sp>
        <p:nvSpPr>
          <p:cNvPr id="17" name="Text 15"/>
          <p:cNvSpPr/>
          <p:nvPr/>
        </p:nvSpPr>
        <p:spPr>
          <a:xfrm>
            <a:off x="6080760" y="2084832"/>
            <a:ext cx="1737360" cy="475488"/>
          </a:xfrm>
          <a:prstGeom prst="rect">
            <a:avLst/>
          </a:prstGeom>
          <a:noFill/>
          <a:ln/>
        </p:spPr>
        <p:txBody>
          <a:bodyPr wrap="square" lIns="0" tIns="0" rIns="0" bIns="0" rtlCol="0" anchor="ctr"/>
          <a:lstStyle/>
          <a:p>
            <a:pPr indent="0" marL="0">
              <a:lnSpc>
                <a:spcPct val="98000"/>
              </a:lnSpc>
              <a:buNone/>
            </a:pPr>
            <a:r>
              <a:rPr lang="en-US" sz="850" i="1" dirty="0">
                <a:solidFill>
                  <a:srgbClr val="8A97A8"/>
                </a:solidFill>
                <a:latin typeface="Calibri" pitchFamily="34" charset="0"/>
                <a:ea typeface="Calibri" pitchFamily="34" charset="-122"/>
                <a:cs typeface="Calibri" pitchFamily="34" charset="-120"/>
              </a:rPr>
              <a:t>→ the should-cost + confidence band appear in ~30–60 s</a:t>
            </a:r>
            <a:endParaRPr lang="en-US" sz="850" dirty="0"/>
          </a:p>
        </p:txBody>
      </p:sp>
      <p:sp>
        <p:nvSpPr>
          <p:cNvPr id="18" name="Shape 16"/>
          <p:cNvSpPr/>
          <p:nvPr/>
        </p:nvSpPr>
        <p:spPr>
          <a:xfrm>
            <a:off x="548640" y="2660904"/>
            <a:ext cx="7315200" cy="512064"/>
          </a:xfrm>
          <a:prstGeom prst="roundRect">
            <a:avLst>
              <a:gd name="adj" fmla="val 8929"/>
            </a:avLst>
          </a:prstGeom>
          <a:solidFill>
            <a:srgbClr val="FFFFFF"/>
          </a:solidFill>
          <a:ln w="12700">
            <a:solidFill>
              <a:srgbClr val="E4EAF2"/>
            </a:solidFill>
            <a:prstDash val="solid"/>
          </a:ln>
        </p:spPr>
      </p:sp>
      <p:sp>
        <p:nvSpPr>
          <p:cNvPr id="19" name="Shape 17"/>
          <p:cNvSpPr/>
          <p:nvPr/>
        </p:nvSpPr>
        <p:spPr>
          <a:xfrm>
            <a:off x="548640" y="2660904"/>
            <a:ext cx="73152" cy="512064"/>
          </a:xfrm>
          <a:prstGeom prst="rect">
            <a:avLst/>
          </a:prstGeom>
          <a:solidFill>
            <a:srgbClr val="2563EB"/>
          </a:solidFill>
          <a:ln/>
        </p:spPr>
      </p:sp>
      <p:sp>
        <p:nvSpPr>
          <p:cNvPr id="20" name="Shape 18"/>
          <p:cNvSpPr/>
          <p:nvPr/>
        </p:nvSpPr>
        <p:spPr>
          <a:xfrm>
            <a:off x="694944" y="2752344"/>
            <a:ext cx="329184" cy="329184"/>
          </a:xfrm>
          <a:prstGeom prst="ellipse">
            <a:avLst/>
          </a:prstGeom>
          <a:solidFill>
            <a:srgbClr val="2563EB"/>
          </a:solidFill>
          <a:ln/>
          <a:effectLst>
            <a:outerShdw sx="100000" sy="100000" kx="0" ky="0" algn="bl" rotWithShape="0" blurRad="2.908260204281253e+70" dist="8.724780612843754e+69" dir="1.5233993500262402e+83">
              <a:srgbClr val="A7B6CE">
                <a:alpha val="1.8000000000000004e+84"/>
              </a:srgbClr>
            </a:outerShdw>
          </a:effectLst>
        </p:spPr>
      </p:sp>
      <p:sp>
        <p:nvSpPr>
          <p:cNvPr id="21" name="Text 19"/>
          <p:cNvSpPr/>
          <p:nvPr/>
        </p:nvSpPr>
        <p:spPr>
          <a:xfrm>
            <a:off x="694944" y="2752344"/>
            <a:ext cx="329184" cy="329184"/>
          </a:xfrm>
          <a:prstGeom prst="rect">
            <a:avLst/>
          </a:prstGeom>
          <a:noFill/>
          <a:ln/>
        </p:spPr>
        <p:txBody>
          <a:bodyPr wrap="square" lIns="0" tIns="0" rIns="0" bIns="0" rtlCol="0" anchor="ctr"/>
          <a:lstStyle/>
          <a:p>
            <a:pPr algn="ctr" indent="0" marL="0">
              <a:buNone/>
            </a:pPr>
            <a:r>
              <a:rPr lang="en-US" sz="1224" b="1" dirty="0">
                <a:solidFill>
                  <a:srgbClr val="FFFFFF"/>
                </a:solidFill>
                <a:latin typeface="Calibri" pitchFamily="34" charset="0"/>
                <a:ea typeface="Calibri" pitchFamily="34" charset="-122"/>
                <a:cs typeface="Calibri" pitchFamily="34" charset="-120"/>
              </a:rPr>
              <a:t>2</a:t>
            </a:r>
            <a:endParaRPr lang="en-US" sz="1224" dirty="0"/>
          </a:p>
        </p:txBody>
      </p:sp>
      <p:sp>
        <p:nvSpPr>
          <p:cNvPr id="22" name="Text 20"/>
          <p:cNvSpPr/>
          <p:nvPr/>
        </p:nvSpPr>
        <p:spPr>
          <a:xfrm>
            <a:off x="1152144" y="2660904"/>
            <a:ext cx="1645920" cy="512064"/>
          </a:xfrm>
          <a:prstGeom prst="rect">
            <a:avLst/>
          </a:prstGeom>
          <a:noFill/>
          <a:ln/>
        </p:spPr>
        <p:txBody>
          <a:bodyPr wrap="square" lIns="0" tIns="0" rIns="0" bIns="0" rtlCol="0" anchor="ctr"/>
          <a:lstStyle/>
          <a:p>
            <a:pPr indent="0" marL="0">
              <a:buNone/>
            </a:pPr>
            <a:r>
              <a:rPr lang="en-US" sz="1150" b="1" dirty="0">
                <a:solidFill>
                  <a:srgbClr val="2563EB"/>
                </a:solidFill>
                <a:latin typeface="Calibri" pitchFamily="34" charset="0"/>
                <a:ea typeface="Calibri" pitchFamily="34" charset="-122"/>
                <a:cs typeface="Calibri" pitchFamily="34" charset="-120"/>
              </a:rPr>
              <a:t>Add a 2D drawing</a:t>
            </a:r>
            <a:endParaRPr lang="en-US" sz="1150" dirty="0"/>
          </a:p>
        </p:txBody>
      </p:sp>
      <p:sp>
        <p:nvSpPr>
          <p:cNvPr id="23" name="Text 21"/>
          <p:cNvSpPr/>
          <p:nvPr/>
        </p:nvSpPr>
        <p:spPr>
          <a:xfrm>
            <a:off x="2834640" y="2688336"/>
            <a:ext cx="3200400" cy="475488"/>
          </a:xfrm>
          <a:prstGeom prst="rect">
            <a:avLst/>
          </a:prstGeom>
          <a:noFill/>
          <a:ln/>
        </p:spPr>
        <p:txBody>
          <a:bodyPr wrap="square" lIns="0" tIns="0" rIns="0" bIns="0" rtlCol="0" anchor="ctr"/>
          <a:lstStyle/>
          <a:p>
            <a:pPr indent="0" marL="0">
              <a:lnSpc>
                <a:spcPct val="98000"/>
              </a:lnSpc>
              <a:buNone/>
            </a:pPr>
            <a:r>
              <a:rPr lang="en-US" sz="900" dirty="0">
                <a:solidFill>
                  <a:srgbClr val="3E4C63"/>
                </a:solidFill>
                <a:latin typeface="Calibri" pitchFamily="34" charset="0"/>
                <a:ea typeface="Calibri" pitchFamily="34" charset="-122"/>
                <a:cs typeface="Calibri" pitchFamily="34" charset="-120"/>
              </a:rPr>
              <a:t>Attach the engineering-drawing PDF → re-analyse</a:t>
            </a:r>
            <a:endParaRPr lang="en-US" sz="900" dirty="0"/>
          </a:p>
        </p:txBody>
      </p:sp>
      <p:sp>
        <p:nvSpPr>
          <p:cNvPr id="24" name="Text 22"/>
          <p:cNvSpPr/>
          <p:nvPr/>
        </p:nvSpPr>
        <p:spPr>
          <a:xfrm>
            <a:off x="6080760" y="2688336"/>
            <a:ext cx="1737360" cy="475488"/>
          </a:xfrm>
          <a:prstGeom prst="rect">
            <a:avLst/>
          </a:prstGeom>
          <a:noFill/>
          <a:ln/>
        </p:spPr>
        <p:txBody>
          <a:bodyPr wrap="square" lIns="0" tIns="0" rIns="0" bIns="0" rtlCol="0" anchor="ctr"/>
          <a:lstStyle/>
          <a:p>
            <a:pPr indent="0" marL="0">
              <a:lnSpc>
                <a:spcPct val="98000"/>
              </a:lnSpc>
              <a:buNone/>
            </a:pPr>
            <a:r>
              <a:rPr lang="en-US" sz="850" i="1" dirty="0">
                <a:solidFill>
                  <a:srgbClr val="8A97A8"/>
                </a:solidFill>
                <a:latin typeface="Calibri" pitchFamily="34" charset="0"/>
                <a:ea typeface="Calibri" pitchFamily="34" charset="-122"/>
                <a:cs typeface="Calibri" pitchFamily="34" charset="-120"/>
              </a:rPr>
              <a:t>→ tolerances tighten the process route — accuracy improves live</a:t>
            </a:r>
            <a:endParaRPr lang="en-US" sz="850" dirty="0"/>
          </a:p>
        </p:txBody>
      </p:sp>
      <p:sp>
        <p:nvSpPr>
          <p:cNvPr id="25" name="Shape 23"/>
          <p:cNvSpPr/>
          <p:nvPr/>
        </p:nvSpPr>
        <p:spPr>
          <a:xfrm>
            <a:off x="548640" y="3264408"/>
            <a:ext cx="7315200" cy="512064"/>
          </a:xfrm>
          <a:prstGeom prst="roundRect">
            <a:avLst>
              <a:gd name="adj" fmla="val 8929"/>
            </a:avLst>
          </a:prstGeom>
          <a:solidFill>
            <a:srgbClr val="F4F7FB"/>
          </a:solidFill>
          <a:ln w="12700">
            <a:solidFill>
              <a:srgbClr val="E4EAF2"/>
            </a:solidFill>
            <a:prstDash val="solid"/>
          </a:ln>
        </p:spPr>
      </p:sp>
      <p:sp>
        <p:nvSpPr>
          <p:cNvPr id="26" name="Shape 24"/>
          <p:cNvSpPr/>
          <p:nvPr/>
        </p:nvSpPr>
        <p:spPr>
          <a:xfrm>
            <a:off x="548640" y="3264408"/>
            <a:ext cx="73152" cy="512064"/>
          </a:xfrm>
          <a:prstGeom prst="rect">
            <a:avLst/>
          </a:prstGeom>
          <a:solidFill>
            <a:srgbClr val="E0900C"/>
          </a:solidFill>
          <a:ln/>
        </p:spPr>
      </p:sp>
      <p:sp>
        <p:nvSpPr>
          <p:cNvPr id="27" name="Shape 25"/>
          <p:cNvSpPr/>
          <p:nvPr/>
        </p:nvSpPr>
        <p:spPr>
          <a:xfrm>
            <a:off x="694944" y="3355848"/>
            <a:ext cx="329184" cy="329184"/>
          </a:xfrm>
          <a:prstGeom prst="ellipse">
            <a:avLst/>
          </a:prstGeom>
          <a:solidFill>
            <a:srgbClr val="E0900C"/>
          </a:solidFill>
          <a:ln/>
          <a:effectLst>
            <a:outerShdw sx="100000" sy="100000" kx="0" ky="0" algn="bl" rotWithShape="0" blurRad="3.693490459437191e+74" dist="1.1080471378311567e+74" dir="9.14039610015744e+87">
              <a:srgbClr val="A7B6CE">
                <a:alpha val="1.8000000000000005e+89"/>
              </a:srgbClr>
            </a:outerShdw>
          </a:effectLst>
        </p:spPr>
      </p:sp>
      <p:sp>
        <p:nvSpPr>
          <p:cNvPr id="28" name="Text 26"/>
          <p:cNvSpPr/>
          <p:nvPr/>
        </p:nvSpPr>
        <p:spPr>
          <a:xfrm>
            <a:off x="694944" y="3355848"/>
            <a:ext cx="329184" cy="329184"/>
          </a:xfrm>
          <a:prstGeom prst="rect">
            <a:avLst/>
          </a:prstGeom>
          <a:noFill/>
          <a:ln/>
        </p:spPr>
        <p:txBody>
          <a:bodyPr wrap="square" lIns="0" tIns="0" rIns="0" bIns="0" rtlCol="0" anchor="ctr"/>
          <a:lstStyle/>
          <a:p>
            <a:pPr algn="ctr" indent="0" marL="0">
              <a:buNone/>
            </a:pPr>
            <a:r>
              <a:rPr lang="en-US" sz="1224" b="1" dirty="0">
                <a:solidFill>
                  <a:srgbClr val="FFFFFF"/>
                </a:solidFill>
                <a:latin typeface="Calibri" pitchFamily="34" charset="0"/>
                <a:ea typeface="Calibri" pitchFamily="34" charset="-122"/>
                <a:cs typeface="Calibri" pitchFamily="34" charset="-120"/>
              </a:rPr>
              <a:t>3</a:t>
            </a:r>
            <a:endParaRPr lang="en-US" sz="1224" dirty="0"/>
          </a:p>
        </p:txBody>
      </p:sp>
      <p:sp>
        <p:nvSpPr>
          <p:cNvPr id="29" name="Text 27"/>
          <p:cNvSpPr/>
          <p:nvPr/>
        </p:nvSpPr>
        <p:spPr>
          <a:xfrm>
            <a:off x="1152144" y="3264408"/>
            <a:ext cx="1645920" cy="512064"/>
          </a:xfrm>
          <a:prstGeom prst="rect">
            <a:avLst/>
          </a:prstGeom>
          <a:noFill/>
          <a:ln/>
        </p:spPr>
        <p:txBody>
          <a:bodyPr wrap="square" lIns="0" tIns="0" rIns="0" bIns="0" rtlCol="0" anchor="ctr"/>
          <a:lstStyle/>
          <a:p>
            <a:pPr indent="0" marL="0">
              <a:buNone/>
            </a:pPr>
            <a:r>
              <a:rPr lang="en-US" sz="1150" b="1" dirty="0">
                <a:solidFill>
                  <a:srgbClr val="E0900C"/>
                </a:solidFill>
                <a:latin typeface="Calibri" pitchFamily="34" charset="0"/>
                <a:ea typeface="Calibri" pitchFamily="34" charset="-122"/>
                <a:cs typeface="Calibri" pitchFamily="34" charset="-120"/>
              </a:rPr>
              <a:t>Compare countries</a:t>
            </a:r>
            <a:endParaRPr lang="en-US" sz="1150" dirty="0"/>
          </a:p>
        </p:txBody>
      </p:sp>
      <p:sp>
        <p:nvSpPr>
          <p:cNvPr id="30" name="Text 28"/>
          <p:cNvSpPr/>
          <p:nvPr/>
        </p:nvSpPr>
        <p:spPr>
          <a:xfrm>
            <a:off x="2834640" y="3291840"/>
            <a:ext cx="3200400" cy="475488"/>
          </a:xfrm>
          <a:prstGeom prst="rect">
            <a:avLst/>
          </a:prstGeom>
          <a:noFill/>
          <a:ln/>
        </p:spPr>
        <p:txBody>
          <a:bodyPr wrap="square" lIns="0" tIns="0" rIns="0" bIns="0" rtlCol="0" anchor="ctr"/>
          <a:lstStyle/>
          <a:p>
            <a:pPr indent="0" marL="0">
              <a:lnSpc>
                <a:spcPct val="98000"/>
              </a:lnSpc>
              <a:buNone/>
            </a:pPr>
            <a:r>
              <a:rPr lang="en-US" sz="900" dirty="0">
                <a:solidFill>
                  <a:srgbClr val="3E4C63"/>
                </a:solidFill>
                <a:latin typeface="Calibri" pitchFamily="34" charset="0"/>
                <a:ea typeface="Calibri" pitchFamily="34" charset="-122"/>
                <a:cs typeface="Calibri" pitchFamily="34" charset="-120"/>
              </a:rPr>
              <a:t>Switch the region selector / open the comparison</a:t>
            </a:r>
            <a:endParaRPr lang="en-US" sz="900" dirty="0"/>
          </a:p>
        </p:txBody>
      </p:sp>
      <p:sp>
        <p:nvSpPr>
          <p:cNvPr id="31" name="Text 29"/>
          <p:cNvSpPr/>
          <p:nvPr/>
        </p:nvSpPr>
        <p:spPr>
          <a:xfrm>
            <a:off x="6080760" y="3291840"/>
            <a:ext cx="1737360" cy="475488"/>
          </a:xfrm>
          <a:prstGeom prst="rect">
            <a:avLst/>
          </a:prstGeom>
          <a:noFill/>
          <a:ln/>
        </p:spPr>
        <p:txBody>
          <a:bodyPr wrap="square" lIns="0" tIns="0" rIns="0" bIns="0" rtlCol="0" anchor="ctr"/>
          <a:lstStyle/>
          <a:p>
            <a:pPr indent="0" marL="0">
              <a:lnSpc>
                <a:spcPct val="98000"/>
              </a:lnSpc>
              <a:buNone/>
            </a:pPr>
            <a:r>
              <a:rPr lang="en-US" sz="850" i="1" dirty="0">
                <a:solidFill>
                  <a:srgbClr val="8A97A8"/>
                </a:solidFill>
                <a:latin typeface="Calibri" pitchFamily="34" charset="0"/>
                <a:ea typeface="Calibri" pitchFamily="34" charset="-122"/>
                <a:cs typeface="Calibri" pitchFamily="34" charset="-120"/>
              </a:rPr>
              <a:t>→ the 20-region spread — China vs Germany — in one click</a:t>
            </a:r>
            <a:endParaRPr lang="en-US" sz="850" dirty="0"/>
          </a:p>
        </p:txBody>
      </p:sp>
      <p:sp>
        <p:nvSpPr>
          <p:cNvPr id="32" name="Shape 30"/>
          <p:cNvSpPr/>
          <p:nvPr/>
        </p:nvSpPr>
        <p:spPr>
          <a:xfrm>
            <a:off x="548640" y="3867912"/>
            <a:ext cx="7315200" cy="512064"/>
          </a:xfrm>
          <a:prstGeom prst="roundRect">
            <a:avLst>
              <a:gd name="adj" fmla="val 8929"/>
            </a:avLst>
          </a:prstGeom>
          <a:solidFill>
            <a:srgbClr val="FFFFFF"/>
          </a:solidFill>
          <a:ln w="12700">
            <a:solidFill>
              <a:srgbClr val="E4EAF2"/>
            </a:solidFill>
            <a:prstDash val="solid"/>
          </a:ln>
        </p:spPr>
      </p:sp>
      <p:sp>
        <p:nvSpPr>
          <p:cNvPr id="33" name="Shape 31"/>
          <p:cNvSpPr/>
          <p:nvPr/>
        </p:nvSpPr>
        <p:spPr>
          <a:xfrm>
            <a:off x="548640" y="3867912"/>
            <a:ext cx="73152" cy="512064"/>
          </a:xfrm>
          <a:prstGeom prst="rect">
            <a:avLst/>
          </a:prstGeom>
          <a:solidFill>
            <a:srgbClr val="0E93B0"/>
          </a:solidFill>
          <a:ln/>
        </p:spPr>
      </p:sp>
      <p:sp>
        <p:nvSpPr>
          <p:cNvPr id="34" name="Shape 32"/>
          <p:cNvSpPr/>
          <p:nvPr/>
        </p:nvSpPr>
        <p:spPr>
          <a:xfrm>
            <a:off x="694944" y="3959352"/>
            <a:ext cx="329184" cy="329184"/>
          </a:xfrm>
          <a:prstGeom prst="ellipse">
            <a:avLst/>
          </a:prstGeom>
          <a:solidFill>
            <a:srgbClr val="0E93B0"/>
          </a:solidFill>
          <a:ln/>
          <a:effectLst>
            <a:outerShdw sx="100000" sy="100000" kx="0" ky="0" algn="bl" rotWithShape="0" blurRad="4.690732883485232e+78" dist="1.407219865045569e+78" dir="5.484237660094465e+92">
              <a:srgbClr val="A7B6CE">
                <a:alpha val="1.8000000000000007e+94"/>
              </a:srgbClr>
            </a:outerShdw>
          </a:effectLst>
        </p:spPr>
      </p:sp>
      <p:sp>
        <p:nvSpPr>
          <p:cNvPr id="35" name="Text 33"/>
          <p:cNvSpPr/>
          <p:nvPr/>
        </p:nvSpPr>
        <p:spPr>
          <a:xfrm>
            <a:off x="694944" y="3959352"/>
            <a:ext cx="329184" cy="329184"/>
          </a:xfrm>
          <a:prstGeom prst="rect">
            <a:avLst/>
          </a:prstGeom>
          <a:noFill/>
          <a:ln/>
        </p:spPr>
        <p:txBody>
          <a:bodyPr wrap="square" lIns="0" tIns="0" rIns="0" bIns="0" rtlCol="0" anchor="ctr"/>
          <a:lstStyle/>
          <a:p>
            <a:pPr algn="ctr" indent="0" marL="0">
              <a:buNone/>
            </a:pPr>
            <a:r>
              <a:rPr lang="en-US" sz="1224" b="1" dirty="0">
                <a:solidFill>
                  <a:srgbClr val="FFFFFF"/>
                </a:solidFill>
                <a:latin typeface="Calibri" pitchFamily="34" charset="0"/>
                <a:ea typeface="Calibri" pitchFamily="34" charset="-122"/>
                <a:cs typeface="Calibri" pitchFamily="34" charset="-120"/>
              </a:rPr>
              <a:t>4</a:t>
            </a:r>
            <a:endParaRPr lang="en-US" sz="1224" dirty="0"/>
          </a:p>
        </p:txBody>
      </p:sp>
      <p:sp>
        <p:nvSpPr>
          <p:cNvPr id="36" name="Text 34"/>
          <p:cNvSpPr/>
          <p:nvPr/>
        </p:nvSpPr>
        <p:spPr>
          <a:xfrm>
            <a:off x="1152144" y="3867912"/>
            <a:ext cx="1645920" cy="512064"/>
          </a:xfrm>
          <a:prstGeom prst="rect">
            <a:avLst/>
          </a:prstGeom>
          <a:noFill/>
          <a:ln/>
        </p:spPr>
        <p:txBody>
          <a:bodyPr wrap="square" lIns="0" tIns="0" rIns="0" bIns="0" rtlCol="0" anchor="ctr"/>
          <a:lstStyle/>
          <a:p>
            <a:pPr indent="0" marL="0">
              <a:buNone/>
            </a:pPr>
            <a:r>
              <a:rPr lang="en-US" sz="1150" b="1" dirty="0">
                <a:solidFill>
                  <a:srgbClr val="0E93B0"/>
                </a:solidFill>
                <a:latin typeface="Calibri" pitchFamily="34" charset="0"/>
                <a:ea typeface="Calibri" pitchFamily="34" charset="-122"/>
                <a:cs typeface="Calibri" pitchFamily="34" charset="-120"/>
              </a:rPr>
              <a:t>PCB photo → BOM</a:t>
            </a:r>
            <a:endParaRPr lang="en-US" sz="1150" dirty="0"/>
          </a:p>
        </p:txBody>
      </p:sp>
      <p:sp>
        <p:nvSpPr>
          <p:cNvPr id="37" name="Text 35"/>
          <p:cNvSpPr/>
          <p:nvPr/>
        </p:nvSpPr>
        <p:spPr>
          <a:xfrm>
            <a:off x="2834640" y="3895344"/>
            <a:ext cx="3200400" cy="475488"/>
          </a:xfrm>
          <a:prstGeom prst="rect">
            <a:avLst/>
          </a:prstGeom>
          <a:noFill/>
          <a:ln/>
        </p:spPr>
        <p:txBody>
          <a:bodyPr wrap="square" lIns="0" tIns="0" rIns="0" bIns="0" rtlCol="0" anchor="ctr"/>
          <a:lstStyle/>
          <a:p>
            <a:pPr indent="0" marL="0">
              <a:lnSpc>
                <a:spcPct val="98000"/>
              </a:lnSpc>
              <a:buNone/>
            </a:pPr>
            <a:r>
              <a:rPr lang="en-US" sz="900" dirty="0">
                <a:solidFill>
                  <a:srgbClr val="3E4C63"/>
                </a:solidFill>
                <a:latin typeface="Calibri" pitchFamily="34" charset="0"/>
                <a:ea typeface="Calibri" pitchFamily="34" charset="-122"/>
                <a:cs typeface="Calibri" pitchFamily="34" charset="-120"/>
              </a:rPr>
              <a:t>Drop a board photo → run analysis</a:t>
            </a:r>
            <a:endParaRPr lang="en-US" sz="900" dirty="0"/>
          </a:p>
        </p:txBody>
      </p:sp>
      <p:sp>
        <p:nvSpPr>
          <p:cNvPr id="38" name="Text 36"/>
          <p:cNvSpPr/>
          <p:nvPr/>
        </p:nvSpPr>
        <p:spPr>
          <a:xfrm>
            <a:off x="6080760" y="3895344"/>
            <a:ext cx="1737360" cy="475488"/>
          </a:xfrm>
          <a:prstGeom prst="rect">
            <a:avLst/>
          </a:prstGeom>
          <a:noFill/>
          <a:ln/>
        </p:spPr>
        <p:txBody>
          <a:bodyPr wrap="square" lIns="0" tIns="0" rIns="0" bIns="0" rtlCol="0" anchor="ctr"/>
          <a:lstStyle/>
          <a:p>
            <a:pPr indent="0" marL="0">
              <a:lnSpc>
                <a:spcPct val="98000"/>
              </a:lnSpc>
              <a:buNone/>
            </a:pPr>
            <a:r>
              <a:rPr lang="en-US" sz="850" i="1" dirty="0">
                <a:solidFill>
                  <a:srgbClr val="8A97A8"/>
                </a:solidFill>
                <a:latin typeface="Calibri" pitchFamily="34" charset="0"/>
                <a:ea typeface="Calibri" pitchFamily="34" charset="-122"/>
                <a:cs typeface="Calibri" pitchFamily="34" charset="-120"/>
              </a:rPr>
              <a:t>→ a full costed BOM builds from a single picture</a:t>
            </a:r>
            <a:endParaRPr lang="en-US" sz="850" dirty="0"/>
          </a:p>
        </p:txBody>
      </p:sp>
      <p:sp>
        <p:nvSpPr>
          <p:cNvPr id="39" name="Shape 37"/>
          <p:cNvSpPr/>
          <p:nvPr/>
        </p:nvSpPr>
        <p:spPr>
          <a:xfrm>
            <a:off x="548640" y="4471416"/>
            <a:ext cx="7315200" cy="512064"/>
          </a:xfrm>
          <a:prstGeom prst="roundRect">
            <a:avLst>
              <a:gd name="adj" fmla="val 8929"/>
            </a:avLst>
          </a:prstGeom>
          <a:solidFill>
            <a:srgbClr val="F4F7FB"/>
          </a:solidFill>
          <a:ln w="12700">
            <a:solidFill>
              <a:srgbClr val="E4EAF2"/>
            </a:solidFill>
            <a:prstDash val="solid"/>
          </a:ln>
        </p:spPr>
      </p:sp>
      <p:sp>
        <p:nvSpPr>
          <p:cNvPr id="40" name="Shape 38"/>
          <p:cNvSpPr/>
          <p:nvPr/>
        </p:nvSpPr>
        <p:spPr>
          <a:xfrm>
            <a:off x="548640" y="4471416"/>
            <a:ext cx="73152" cy="512064"/>
          </a:xfrm>
          <a:prstGeom prst="rect">
            <a:avLst/>
          </a:prstGeom>
          <a:solidFill>
            <a:srgbClr val="7C3AED"/>
          </a:solidFill>
          <a:ln/>
        </p:spPr>
      </p:sp>
      <p:sp>
        <p:nvSpPr>
          <p:cNvPr id="41" name="Shape 39"/>
          <p:cNvSpPr/>
          <p:nvPr/>
        </p:nvSpPr>
        <p:spPr>
          <a:xfrm>
            <a:off x="694944" y="4562856"/>
            <a:ext cx="329184" cy="329184"/>
          </a:xfrm>
          <a:prstGeom prst="ellipse">
            <a:avLst/>
          </a:prstGeom>
          <a:solidFill>
            <a:srgbClr val="7C3AED"/>
          </a:solidFill>
          <a:ln/>
          <a:effectLst>
            <a:outerShdw sx="100000" sy="100000" kx="0" ky="0" algn="bl" rotWithShape="0" blurRad="5.957230762026245e+82" dist="1.7871692286078725e+82" dir="3.2905425960566786e+97">
              <a:srgbClr val="A7B6CE">
                <a:alpha val="1.8000000000000008e+99"/>
              </a:srgbClr>
            </a:outerShdw>
          </a:effectLst>
        </p:spPr>
      </p:sp>
      <p:sp>
        <p:nvSpPr>
          <p:cNvPr id="42" name="Text 40"/>
          <p:cNvSpPr/>
          <p:nvPr/>
        </p:nvSpPr>
        <p:spPr>
          <a:xfrm>
            <a:off x="694944" y="4562856"/>
            <a:ext cx="329184" cy="329184"/>
          </a:xfrm>
          <a:prstGeom prst="rect">
            <a:avLst/>
          </a:prstGeom>
          <a:noFill/>
          <a:ln/>
        </p:spPr>
        <p:txBody>
          <a:bodyPr wrap="square" lIns="0" tIns="0" rIns="0" bIns="0" rtlCol="0" anchor="ctr"/>
          <a:lstStyle/>
          <a:p>
            <a:pPr algn="ctr" indent="0" marL="0">
              <a:buNone/>
            </a:pPr>
            <a:r>
              <a:rPr lang="en-US" sz="1224" b="1" dirty="0">
                <a:solidFill>
                  <a:srgbClr val="FFFFFF"/>
                </a:solidFill>
                <a:latin typeface="Calibri" pitchFamily="34" charset="0"/>
                <a:ea typeface="Calibri" pitchFamily="34" charset="-122"/>
                <a:cs typeface="Calibri" pitchFamily="34" charset="-120"/>
              </a:rPr>
              <a:t>5</a:t>
            </a:r>
            <a:endParaRPr lang="en-US" sz="1224" dirty="0"/>
          </a:p>
        </p:txBody>
      </p:sp>
      <p:sp>
        <p:nvSpPr>
          <p:cNvPr id="43" name="Text 41"/>
          <p:cNvSpPr/>
          <p:nvPr/>
        </p:nvSpPr>
        <p:spPr>
          <a:xfrm>
            <a:off x="1152144" y="4471416"/>
            <a:ext cx="1645920" cy="512064"/>
          </a:xfrm>
          <a:prstGeom prst="rect">
            <a:avLst/>
          </a:prstGeom>
          <a:noFill/>
          <a:ln/>
        </p:spPr>
        <p:txBody>
          <a:bodyPr wrap="square" lIns="0" tIns="0" rIns="0" bIns="0" rtlCol="0" anchor="ctr"/>
          <a:lstStyle/>
          <a:p>
            <a:pPr indent="0" marL="0">
              <a:buNone/>
            </a:pPr>
            <a:r>
              <a:rPr lang="en-US" sz="1150" b="1" dirty="0">
                <a:solidFill>
                  <a:srgbClr val="7C3AED"/>
                </a:solidFill>
                <a:latin typeface="Calibri" pitchFamily="34" charset="0"/>
                <a:ea typeface="Calibri" pitchFamily="34" charset="-122"/>
                <a:cs typeface="Calibri" pitchFamily="34" charset="-120"/>
              </a:rPr>
              <a:t>Negotiation</a:t>
            </a:r>
            <a:endParaRPr lang="en-US" sz="1150" dirty="0"/>
          </a:p>
        </p:txBody>
      </p:sp>
      <p:sp>
        <p:nvSpPr>
          <p:cNvPr id="44" name="Text 42"/>
          <p:cNvSpPr/>
          <p:nvPr/>
        </p:nvSpPr>
        <p:spPr>
          <a:xfrm>
            <a:off x="2834640" y="4498848"/>
            <a:ext cx="3200400" cy="475488"/>
          </a:xfrm>
          <a:prstGeom prst="rect">
            <a:avLst/>
          </a:prstGeom>
          <a:noFill/>
          <a:ln/>
        </p:spPr>
        <p:txBody>
          <a:bodyPr wrap="square" lIns="0" tIns="0" rIns="0" bIns="0" rtlCol="0" anchor="ctr"/>
          <a:lstStyle/>
          <a:p>
            <a:pPr indent="0" marL="0">
              <a:lnSpc>
                <a:spcPct val="98000"/>
              </a:lnSpc>
              <a:buNone/>
            </a:pPr>
            <a:r>
              <a:rPr lang="en-US" sz="900" dirty="0">
                <a:solidFill>
                  <a:srgbClr val="3E4C63"/>
                </a:solidFill>
                <a:latin typeface="Calibri" pitchFamily="34" charset="0"/>
                <a:ea typeface="Calibri" pitchFamily="34" charset="-122"/>
                <a:cs typeface="Calibri" pitchFamily="34" charset="-120"/>
              </a:rPr>
              <a:t>Paste a supplier quote → generate pack</a:t>
            </a:r>
            <a:endParaRPr lang="en-US" sz="900" dirty="0"/>
          </a:p>
        </p:txBody>
      </p:sp>
      <p:sp>
        <p:nvSpPr>
          <p:cNvPr id="45" name="Text 43"/>
          <p:cNvSpPr/>
          <p:nvPr/>
        </p:nvSpPr>
        <p:spPr>
          <a:xfrm>
            <a:off x="6080760" y="4498848"/>
            <a:ext cx="1737360" cy="475488"/>
          </a:xfrm>
          <a:prstGeom prst="rect">
            <a:avLst/>
          </a:prstGeom>
          <a:noFill/>
          <a:ln/>
        </p:spPr>
        <p:txBody>
          <a:bodyPr wrap="square" lIns="0" tIns="0" rIns="0" bIns="0" rtlCol="0" anchor="ctr"/>
          <a:lstStyle/>
          <a:p>
            <a:pPr indent="0" marL="0">
              <a:lnSpc>
                <a:spcPct val="98000"/>
              </a:lnSpc>
              <a:buNone/>
            </a:pPr>
            <a:r>
              <a:rPr lang="en-US" sz="850" i="1" dirty="0">
                <a:solidFill>
                  <a:srgbClr val="8A97A8"/>
                </a:solidFill>
                <a:latin typeface="Calibri" pitchFamily="34" charset="0"/>
                <a:ea typeface="Calibri" pitchFamily="34" charset="-122"/>
                <a:cs typeface="Calibri" pitchFamily="34" charset="-120"/>
              </a:rPr>
              <a:t>→ the gap teardown by driver + ready-to-send questions</a:t>
            </a:r>
            <a:endParaRPr lang="en-US" sz="850" dirty="0"/>
          </a:p>
        </p:txBody>
      </p:sp>
      <p:sp>
        <p:nvSpPr>
          <p:cNvPr id="46" name="Shape 44"/>
          <p:cNvSpPr/>
          <p:nvPr/>
        </p:nvSpPr>
        <p:spPr>
          <a:xfrm>
            <a:off x="548640" y="5074920"/>
            <a:ext cx="7315200" cy="512064"/>
          </a:xfrm>
          <a:prstGeom prst="roundRect">
            <a:avLst>
              <a:gd name="adj" fmla="val 8929"/>
            </a:avLst>
          </a:prstGeom>
          <a:solidFill>
            <a:srgbClr val="FFFFFF"/>
          </a:solidFill>
          <a:ln w="12700">
            <a:solidFill>
              <a:srgbClr val="E4EAF2"/>
            </a:solidFill>
            <a:prstDash val="solid"/>
          </a:ln>
        </p:spPr>
      </p:sp>
      <p:sp>
        <p:nvSpPr>
          <p:cNvPr id="47" name="Shape 45"/>
          <p:cNvSpPr/>
          <p:nvPr/>
        </p:nvSpPr>
        <p:spPr>
          <a:xfrm>
            <a:off x="548640" y="5074920"/>
            <a:ext cx="73152" cy="512064"/>
          </a:xfrm>
          <a:prstGeom prst="rect">
            <a:avLst/>
          </a:prstGeom>
          <a:solidFill>
            <a:srgbClr val="E5484D"/>
          </a:solidFill>
          <a:ln/>
        </p:spPr>
      </p:sp>
      <p:sp>
        <p:nvSpPr>
          <p:cNvPr id="48" name="Shape 46"/>
          <p:cNvSpPr/>
          <p:nvPr/>
        </p:nvSpPr>
        <p:spPr>
          <a:xfrm>
            <a:off x="694944" y="5166360"/>
            <a:ext cx="329184" cy="329184"/>
          </a:xfrm>
          <a:prstGeom prst="ellipse">
            <a:avLst/>
          </a:prstGeom>
          <a:solidFill>
            <a:srgbClr val="E5484D"/>
          </a:solidFill>
          <a:ln/>
          <a:effectLst>
            <a:outerShdw sx="100000" sy="100000" kx="0" ky="0" algn="bl" rotWithShape="0" blurRad="7.565683067773332e+86" dist="2.269704920331998e+86" dir="1.9743255576340073e+102">
              <a:srgbClr val="A7B6CE">
                <a:alpha val="1.800000000000001e+104"/>
              </a:srgbClr>
            </a:outerShdw>
          </a:effectLst>
        </p:spPr>
      </p:sp>
      <p:sp>
        <p:nvSpPr>
          <p:cNvPr id="49" name="Text 47"/>
          <p:cNvSpPr/>
          <p:nvPr/>
        </p:nvSpPr>
        <p:spPr>
          <a:xfrm>
            <a:off x="694944" y="5166360"/>
            <a:ext cx="329184" cy="329184"/>
          </a:xfrm>
          <a:prstGeom prst="rect">
            <a:avLst/>
          </a:prstGeom>
          <a:noFill/>
          <a:ln/>
        </p:spPr>
        <p:txBody>
          <a:bodyPr wrap="square" lIns="0" tIns="0" rIns="0" bIns="0" rtlCol="0" anchor="ctr"/>
          <a:lstStyle/>
          <a:p>
            <a:pPr algn="ctr" indent="0" marL="0">
              <a:buNone/>
            </a:pPr>
            <a:r>
              <a:rPr lang="en-US" sz="1224" b="1" dirty="0">
                <a:solidFill>
                  <a:srgbClr val="FFFFFF"/>
                </a:solidFill>
                <a:latin typeface="Calibri" pitchFamily="34" charset="0"/>
                <a:ea typeface="Calibri" pitchFamily="34" charset="-122"/>
                <a:cs typeface="Calibri" pitchFamily="34" charset="-120"/>
              </a:rPr>
              <a:t>6</a:t>
            </a:r>
            <a:endParaRPr lang="en-US" sz="1224" dirty="0"/>
          </a:p>
        </p:txBody>
      </p:sp>
      <p:sp>
        <p:nvSpPr>
          <p:cNvPr id="50" name="Text 48"/>
          <p:cNvSpPr/>
          <p:nvPr/>
        </p:nvSpPr>
        <p:spPr>
          <a:xfrm>
            <a:off x="1152144" y="5074920"/>
            <a:ext cx="1645920" cy="512064"/>
          </a:xfrm>
          <a:prstGeom prst="rect">
            <a:avLst/>
          </a:prstGeom>
          <a:noFill/>
          <a:ln/>
        </p:spPr>
        <p:txBody>
          <a:bodyPr wrap="square" lIns="0" tIns="0" rIns="0" bIns="0" rtlCol="0" anchor="ctr"/>
          <a:lstStyle/>
          <a:p>
            <a:pPr indent="0" marL="0">
              <a:buNone/>
            </a:pPr>
            <a:r>
              <a:rPr lang="en-US" sz="1150" b="1" dirty="0">
                <a:solidFill>
                  <a:srgbClr val="E5484D"/>
                </a:solidFill>
                <a:latin typeface="Calibri" pitchFamily="34" charset="0"/>
                <a:ea typeface="Calibri" pitchFamily="34" charset="-122"/>
                <a:cs typeface="Calibri" pitchFamily="34" charset="-120"/>
              </a:rPr>
              <a:t>Autonomous agent</a:t>
            </a:r>
            <a:endParaRPr lang="en-US" sz="1150" dirty="0"/>
          </a:p>
        </p:txBody>
      </p:sp>
      <p:sp>
        <p:nvSpPr>
          <p:cNvPr id="51" name="Text 49"/>
          <p:cNvSpPr/>
          <p:nvPr/>
        </p:nvSpPr>
        <p:spPr>
          <a:xfrm>
            <a:off x="2834640" y="5102352"/>
            <a:ext cx="3200400" cy="475488"/>
          </a:xfrm>
          <a:prstGeom prst="rect">
            <a:avLst/>
          </a:prstGeom>
          <a:noFill/>
          <a:ln/>
        </p:spPr>
        <p:txBody>
          <a:bodyPr wrap="square" lIns="0" tIns="0" rIns="0" bIns="0" rtlCol="0" anchor="ctr"/>
          <a:lstStyle/>
          <a:p>
            <a:pPr indent="0" marL="0">
              <a:lnSpc>
                <a:spcPct val="98000"/>
              </a:lnSpc>
              <a:buNone/>
            </a:pPr>
            <a:r>
              <a:rPr lang="en-US" sz="900" dirty="0">
                <a:solidFill>
                  <a:srgbClr val="3E4C63"/>
                </a:solidFill>
                <a:latin typeface="Calibri" pitchFamily="34" charset="0"/>
                <a:ea typeface="Calibri" pitchFamily="34" charset="-122"/>
                <a:cs typeface="Calibri" pitchFamily="34" charset="-120"/>
              </a:rPr>
              <a:t>Open the findings panel</a:t>
            </a:r>
            <a:endParaRPr lang="en-US" sz="900" dirty="0"/>
          </a:p>
        </p:txBody>
      </p:sp>
      <p:sp>
        <p:nvSpPr>
          <p:cNvPr id="52" name="Text 50"/>
          <p:cNvSpPr/>
          <p:nvPr/>
        </p:nvSpPr>
        <p:spPr>
          <a:xfrm>
            <a:off x="6080760" y="5102352"/>
            <a:ext cx="1737360" cy="475488"/>
          </a:xfrm>
          <a:prstGeom prst="rect">
            <a:avLst/>
          </a:prstGeom>
          <a:noFill/>
          <a:ln/>
        </p:spPr>
        <p:txBody>
          <a:bodyPr wrap="square" lIns="0" tIns="0" rIns="0" bIns="0" rtlCol="0" anchor="ctr"/>
          <a:lstStyle/>
          <a:p>
            <a:pPr indent="0" marL="0">
              <a:lnSpc>
                <a:spcPct val="98000"/>
              </a:lnSpc>
              <a:buNone/>
            </a:pPr>
            <a:r>
              <a:rPr lang="en-US" sz="850" i="1" dirty="0">
                <a:solidFill>
                  <a:srgbClr val="8A97A8"/>
                </a:solidFill>
                <a:latin typeface="Calibri" pitchFamily="34" charset="0"/>
                <a:ea typeface="Calibri" pitchFamily="34" charset="-122"/>
                <a:cs typeface="Calibri" pitchFamily="34" charset="-120"/>
              </a:rPr>
              <a:t>→ ~£512k/yr surfaced by itself — the "wow" close</a:t>
            </a:r>
            <a:endParaRPr lang="en-US" sz="850" dirty="0"/>
          </a:p>
        </p:txBody>
      </p:sp>
      <p:sp>
        <p:nvSpPr>
          <p:cNvPr id="53" name="Shape 51"/>
          <p:cNvSpPr/>
          <p:nvPr/>
        </p:nvSpPr>
        <p:spPr>
          <a:xfrm>
            <a:off x="8165592" y="2057400"/>
            <a:ext cx="3477463" cy="3529584"/>
          </a:xfrm>
          <a:prstGeom prst="roundRect">
            <a:avLst>
              <a:gd name="adj" fmla="val 1841"/>
            </a:avLst>
          </a:prstGeom>
          <a:solidFill>
            <a:srgbClr val="F3EEFE"/>
          </a:solidFill>
          <a:ln w="12700">
            <a:solidFill>
              <a:srgbClr val="E4EAF2"/>
            </a:solidFill>
            <a:prstDash val="solid"/>
          </a:ln>
        </p:spPr>
      </p:sp>
      <p:sp>
        <p:nvSpPr>
          <p:cNvPr id="54" name="Shape 52"/>
          <p:cNvSpPr/>
          <p:nvPr/>
        </p:nvSpPr>
        <p:spPr>
          <a:xfrm>
            <a:off x="8165592" y="2057400"/>
            <a:ext cx="82296" cy="3529584"/>
          </a:xfrm>
          <a:prstGeom prst="rect">
            <a:avLst/>
          </a:prstGeom>
          <a:solidFill>
            <a:srgbClr val="7C3AED"/>
          </a:solidFill>
          <a:ln/>
        </p:spPr>
      </p:sp>
      <p:sp>
        <p:nvSpPr>
          <p:cNvPr id="55" name="Text 53"/>
          <p:cNvSpPr/>
          <p:nvPr/>
        </p:nvSpPr>
        <p:spPr>
          <a:xfrm>
            <a:off x="8421624" y="2221992"/>
            <a:ext cx="3020263" cy="320040"/>
          </a:xfrm>
          <a:prstGeom prst="rect">
            <a:avLst/>
          </a:prstGeom>
          <a:noFill/>
          <a:ln/>
        </p:spPr>
        <p:txBody>
          <a:bodyPr wrap="square" lIns="0" tIns="0" rIns="0" bIns="0" rtlCol="0" anchor="t"/>
          <a:lstStyle/>
          <a:p>
            <a:pPr indent="0" marL="0">
              <a:buNone/>
            </a:pPr>
            <a:r>
              <a:rPr lang="en-US" sz="1300" b="1" dirty="0">
                <a:solidFill>
                  <a:srgbClr val="7C3AED"/>
                </a:solidFill>
                <a:latin typeface="Calibri" pitchFamily="34" charset="0"/>
                <a:ea typeface="Calibri" pitchFamily="34" charset="-122"/>
                <a:cs typeface="Calibri" pitchFamily="34" charset="-120"/>
              </a:rPr>
              <a:t>Before you start</a:t>
            </a:r>
            <a:endParaRPr lang="en-US" sz="1300" dirty="0"/>
          </a:p>
        </p:txBody>
      </p:sp>
      <p:sp>
        <p:nvSpPr>
          <p:cNvPr id="56" name="Shape 54"/>
          <p:cNvSpPr/>
          <p:nvPr/>
        </p:nvSpPr>
        <p:spPr>
          <a:xfrm>
            <a:off x="8403336" y="2624328"/>
            <a:ext cx="274320" cy="274320"/>
          </a:xfrm>
          <a:prstGeom prst="ellipse">
            <a:avLst/>
          </a:prstGeom>
          <a:solidFill>
            <a:srgbClr val="F3EEFE"/>
          </a:solidFill>
          <a:ln/>
        </p:spPr>
      </p:sp>
      <p:sp>
        <p:nvSpPr>
          <p:cNvPr id="57" name="Text 55"/>
          <p:cNvSpPr/>
          <p:nvPr/>
        </p:nvSpPr>
        <p:spPr>
          <a:xfrm>
            <a:off x="8403336" y="2615184"/>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58" name="Text 56"/>
          <p:cNvSpPr/>
          <p:nvPr/>
        </p:nvSpPr>
        <p:spPr>
          <a:xfrm>
            <a:off x="8750808" y="2606040"/>
            <a:ext cx="2654503"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A sample STEP part loaded</a:t>
            </a:r>
            <a:endParaRPr lang="en-US" sz="980" dirty="0"/>
          </a:p>
        </p:txBody>
      </p:sp>
      <p:sp>
        <p:nvSpPr>
          <p:cNvPr id="59" name="Shape 57"/>
          <p:cNvSpPr/>
          <p:nvPr/>
        </p:nvSpPr>
        <p:spPr>
          <a:xfrm>
            <a:off x="8403336" y="3081528"/>
            <a:ext cx="274320" cy="274320"/>
          </a:xfrm>
          <a:prstGeom prst="ellipse">
            <a:avLst/>
          </a:prstGeom>
          <a:solidFill>
            <a:srgbClr val="F3EEFE"/>
          </a:solidFill>
          <a:ln/>
        </p:spPr>
      </p:sp>
      <p:sp>
        <p:nvSpPr>
          <p:cNvPr id="60" name="Text 58"/>
          <p:cNvSpPr/>
          <p:nvPr/>
        </p:nvSpPr>
        <p:spPr>
          <a:xfrm>
            <a:off x="8403336" y="3072384"/>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61" name="Text 59"/>
          <p:cNvSpPr/>
          <p:nvPr/>
        </p:nvSpPr>
        <p:spPr>
          <a:xfrm>
            <a:off x="8750808" y="3063240"/>
            <a:ext cx="2654503"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A 2D drawing PDF to hand</a:t>
            </a:r>
            <a:endParaRPr lang="en-US" sz="980" dirty="0"/>
          </a:p>
        </p:txBody>
      </p:sp>
      <p:sp>
        <p:nvSpPr>
          <p:cNvPr id="62" name="Shape 60"/>
          <p:cNvSpPr/>
          <p:nvPr/>
        </p:nvSpPr>
        <p:spPr>
          <a:xfrm>
            <a:off x="8403336" y="3538728"/>
            <a:ext cx="274320" cy="274320"/>
          </a:xfrm>
          <a:prstGeom prst="ellipse">
            <a:avLst/>
          </a:prstGeom>
          <a:solidFill>
            <a:srgbClr val="F3EEFE"/>
          </a:solidFill>
          <a:ln/>
        </p:spPr>
      </p:sp>
      <p:sp>
        <p:nvSpPr>
          <p:cNvPr id="63" name="Text 61"/>
          <p:cNvSpPr/>
          <p:nvPr/>
        </p:nvSpPr>
        <p:spPr>
          <a:xfrm>
            <a:off x="8403336" y="3529584"/>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64" name="Text 62"/>
          <p:cNvSpPr/>
          <p:nvPr/>
        </p:nvSpPr>
        <p:spPr>
          <a:xfrm>
            <a:off x="8750808" y="3520440"/>
            <a:ext cx="2654503"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A board photo ready</a:t>
            </a:r>
            <a:endParaRPr lang="en-US" sz="980" dirty="0"/>
          </a:p>
        </p:txBody>
      </p:sp>
      <p:sp>
        <p:nvSpPr>
          <p:cNvPr id="65" name="Shape 63"/>
          <p:cNvSpPr/>
          <p:nvPr/>
        </p:nvSpPr>
        <p:spPr>
          <a:xfrm>
            <a:off x="8403336" y="3995928"/>
            <a:ext cx="274320" cy="274320"/>
          </a:xfrm>
          <a:prstGeom prst="ellipse">
            <a:avLst/>
          </a:prstGeom>
          <a:solidFill>
            <a:srgbClr val="F3EEFE"/>
          </a:solidFill>
          <a:ln/>
        </p:spPr>
      </p:sp>
      <p:sp>
        <p:nvSpPr>
          <p:cNvPr id="66" name="Text 64"/>
          <p:cNvSpPr/>
          <p:nvPr/>
        </p:nvSpPr>
        <p:spPr>
          <a:xfrm>
            <a:off x="8403336" y="3986784"/>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67" name="Text 65"/>
          <p:cNvSpPr/>
          <p:nvPr/>
        </p:nvSpPr>
        <p:spPr>
          <a:xfrm>
            <a:off x="8750808" y="3977640"/>
            <a:ext cx="2654503"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A supplier quote to paste</a:t>
            </a:r>
            <a:endParaRPr lang="en-US" sz="980" dirty="0"/>
          </a:p>
        </p:txBody>
      </p:sp>
      <p:sp>
        <p:nvSpPr>
          <p:cNvPr id="68" name="Shape 66"/>
          <p:cNvSpPr/>
          <p:nvPr/>
        </p:nvSpPr>
        <p:spPr>
          <a:xfrm>
            <a:off x="8403336" y="4453128"/>
            <a:ext cx="274320" cy="274320"/>
          </a:xfrm>
          <a:prstGeom prst="ellipse">
            <a:avLst/>
          </a:prstGeom>
          <a:solidFill>
            <a:srgbClr val="F3EEFE"/>
          </a:solidFill>
          <a:ln/>
        </p:spPr>
      </p:sp>
      <p:sp>
        <p:nvSpPr>
          <p:cNvPr id="69" name="Text 67"/>
          <p:cNvSpPr/>
          <p:nvPr/>
        </p:nvSpPr>
        <p:spPr>
          <a:xfrm>
            <a:off x="8403336" y="4443984"/>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70" name="Text 68"/>
          <p:cNvSpPr/>
          <p:nvPr/>
        </p:nvSpPr>
        <p:spPr>
          <a:xfrm>
            <a:off x="8750808" y="4434840"/>
            <a:ext cx="2654503"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Seeded memory for the agent</a:t>
            </a:r>
            <a:endParaRPr lang="en-US" sz="980" dirty="0"/>
          </a:p>
        </p:txBody>
      </p:sp>
      <p:sp>
        <p:nvSpPr>
          <p:cNvPr id="71" name="Shape 69"/>
          <p:cNvSpPr/>
          <p:nvPr/>
        </p:nvSpPr>
        <p:spPr>
          <a:xfrm>
            <a:off x="8403336" y="4910328"/>
            <a:ext cx="274320" cy="274320"/>
          </a:xfrm>
          <a:prstGeom prst="ellipse">
            <a:avLst/>
          </a:prstGeom>
          <a:solidFill>
            <a:srgbClr val="F3EEFE"/>
          </a:solidFill>
          <a:ln/>
        </p:spPr>
      </p:sp>
      <p:sp>
        <p:nvSpPr>
          <p:cNvPr id="72" name="Text 70"/>
          <p:cNvSpPr/>
          <p:nvPr/>
        </p:nvSpPr>
        <p:spPr>
          <a:xfrm>
            <a:off x="8403336" y="4901184"/>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73" name="Text 71"/>
          <p:cNvSpPr/>
          <p:nvPr/>
        </p:nvSpPr>
        <p:spPr>
          <a:xfrm>
            <a:off x="8750808" y="4892040"/>
            <a:ext cx="2654503"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Cached runs as a fallback</a:t>
            </a:r>
            <a:endParaRPr lang="en-US" sz="980" dirty="0"/>
          </a:p>
        </p:txBody>
      </p:sp>
      <p:sp>
        <p:nvSpPr>
          <p:cNvPr id="74" name="Text 72"/>
          <p:cNvSpPr/>
          <p:nvPr/>
        </p:nvSpPr>
        <p:spPr>
          <a:xfrm>
            <a:off x="8421624" y="5221224"/>
            <a:ext cx="3020263" cy="320040"/>
          </a:xfrm>
          <a:prstGeom prst="rect">
            <a:avLst/>
          </a:prstGeom>
          <a:noFill/>
          <a:ln/>
        </p:spPr>
        <p:txBody>
          <a:bodyPr wrap="square" lIns="0" tIns="0" rIns="0" bIns="0" rtlCol="0" anchor="t"/>
          <a:lstStyle/>
          <a:p>
            <a:pPr indent="0" marL="0">
              <a:buNone/>
            </a:pPr>
            <a:r>
              <a:rPr lang="en-US" sz="950" b="1" i="1" dirty="0">
                <a:solidFill>
                  <a:srgbClr val="0F1E3D"/>
                </a:solidFill>
                <a:latin typeface="Calibri" pitchFamily="34" charset="0"/>
                <a:ea typeface="Calibri" pitchFamily="34" charset="-122"/>
                <a:cs typeface="Calibri" pitchFamily="34" charset="-120"/>
              </a:rPr>
              <a:t>Short on time? Do steps 1, 3 and 6.</a:t>
            </a:r>
            <a:endParaRPr lang="en-US" sz="950" dirty="0"/>
          </a:p>
        </p:txBody>
      </p:sp>
      <p:sp>
        <p:nvSpPr>
          <p:cNvPr id="75" name="Shape 73"/>
          <p:cNvSpPr/>
          <p:nvPr/>
        </p:nvSpPr>
        <p:spPr>
          <a:xfrm>
            <a:off x="548640" y="6400800"/>
            <a:ext cx="11094415" cy="12802"/>
          </a:xfrm>
          <a:prstGeom prst="rect">
            <a:avLst/>
          </a:prstGeom>
          <a:solidFill>
            <a:srgbClr val="E4EAF2"/>
          </a:solidFill>
          <a:ln/>
        </p:spPr>
      </p:sp>
      <p:sp>
        <p:nvSpPr>
          <p:cNvPr id="76" name="Text 74"/>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77" name="Text 75"/>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24 / 25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1E3B"/>
          </a:solidFill>
          <a:ln/>
        </p:spPr>
      </p:sp>
      <p:sp>
        <p:nvSpPr>
          <p:cNvPr id="3" name="Shape 1"/>
          <p:cNvSpPr/>
          <p:nvPr/>
        </p:nvSpPr>
        <p:spPr>
          <a:xfrm>
            <a:off x="0" y="0"/>
            <a:ext cx="12191695" cy="6858000"/>
          </a:xfrm>
          <a:prstGeom prst="rect">
            <a:avLst/>
          </a:prstGeom>
          <a:solidFill>
            <a:srgbClr val="4F46E5">
              <a:alpha val="12000"/>
            </a:srgbClr>
          </a:solidFill>
          <a:ln/>
        </p:spPr>
      </p:sp>
      <p:sp>
        <p:nvSpPr>
          <p:cNvPr id="4" name="Shape 2"/>
          <p:cNvSpPr/>
          <p:nvPr/>
        </p:nvSpPr>
        <p:spPr>
          <a:xfrm>
            <a:off x="0" y="0"/>
            <a:ext cx="146304" cy="6858000"/>
          </a:xfrm>
          <a:prstGeom prst="rect">
            <a:avLst/>
          </a:prstGeom>
          <a:solidFill>
            <a:srgbClr val="4F46E5"/>
          </a:solidFill>
          <a:ln/>
        </p:spPr>
      </p:sp>
      <p:sp>
        <p:nvSpPr>
          <p:cNvPr id="5" name="Shape 3"/>
          <p:cNvSpPr/>
          <p:nvPr/>
        </p:nvSpPr>
        <p:spPr>
          <a:xfrm>
            <a:off x="0" y="6729984"/>
            <a:ext cx="12191695" cy="128016"/>
          </a:xfrm>
          <a:prstGeom prst="rect">
            <a:avLst/>
          </a:prstGeom>
          <a:solidFill>
            <a:srgbClr val="2563EB"/>
          </a:solidFill>
          <a:ln/>
        </p:spPr>
      </p:sp>
      <p:sp>
        <p:nvSpPr>
          <p:cNvPr id="6" name="Shape 4"/>
          <p:cNvSpPr/>
          <p:nvPr/>
        </p:nvSpPr>
        <p:spPr>
          <a:xfrm>
            <a:off x="822960" y="640080"/>
            <a:ext cx="457200" cy="457200"/>
          </a:xfrm>
          <a:prstGeom prst="roundRect">
            <a:avLst>
              <a:gd name="adj" fmla="val 24000"/>
            </a:avLst>
          </a:prstGeom>
          <a:solidFill>
            <a:srgbClr val="4F46E5"/>
          </a:solidFill>
          <a:ln/>
        </p:spPr>
      </p:sp>
      <p:sp>
        <p:nvSpPr>
          <p:cNvPr id="7" name="Text 5"/>
          <p:cNvSpPr/>
          <p:nvPr/>
        </p:nvSpPr>
        <p:spPr>
          <a:xfrm>
            <a:off x="822960" y="640080"/>
            <a:ext cx="457200" cy="45720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cv</a:t>
            </a:r>
            <a:endParaRPr lang="en-US" sz="1900" dirty="0"/>
          </a:p>
        </p:txBody>
      </p:sp>
      <p:sp>
        <p:nvSpPr>
          <p:cNvPr id="8" name="Text 6"/>
          <p:cNvSpPr/>
          <p:nvPr/>
        </p:nvSpPr>
        <p:spPr>
          <a:xfrm>
            <a:off x="1417320" y="658368"/>
            <a:ext cx="5486400" cy="41148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CostVision</a:t>
            </a:r>
            <a:endParaRPr lang="en-US" sz="1700" dirty="0"/>
          </a:p>
        </p:txBody>
      </p:sp>
      <p:sp>
        <p:nvSpPr>
          <p:cNvPr id="9" name="Text 7"/>
          <p:cNvSpPr/>
          <p:nvPr/>
        </p:nvSpPr>
        <p:spPr>
          <a:xfrm>
            <a:off x="822960" y="1828800"/>
            <a:ext cx="10789920" cy="1463040"/>
          </a:xfrm>
          <a:prstGeom prst="rect">
            <a:avLst/>
          </a:prstGeom>
          <a:noFill/>
          <a:ln/>
        </p:spPr>
        <p:txBody>
          <a:bodyPr wrap="square" lIns="0" tIns="0" rIns="0" bIns="0" rtlCol="0" anchor="t"/>
          <a:lstStyle/>
          <a:p>
            <a:pPr indent="0" marL="0">
              <a:lnSpc>
                <a:spcPct val="106000"/>
              </a:lnSpc>
              <a:buNone/>
            </a:pPr>
            <a:r>
              <a:rPr lang="en-US" sz="3400" b="1" dirty="0">
                <a:solidFill>
                  <a:srgbClr val="FFFFFF"/>
                </a:solidFill>
                <a:latin typeface="Calibri" pitchFamily="34" charset="0"/>
                <a:ea typeface="Calibri" pitchFamily="34" charset="-122"/>
                <a:cs typeface="Calibri" pitchFamily="34" charset="-120"/>
              </a:rPr>
              <a:t>Any input in.</a:t>
            </a:r>
            <a:endParaRPr lang="en-US" sz="3400" dirty="0"/>
          </a:p>
          <a:p>
            <a:pPr indent="0" marL="0">
              <a:lnSpc>
                <a:spcPct val="106000"/>
              </a:lnSpc>
              <a:buNone/>
            </a:pPr>
            <a:r>
              <a:rPr lang="en-US" sz="3400" b="1" dirty="0">
                <a:solidFill>
                  <a:srgbClr val="FFFFFF"/>
                </a:solidFill>
                <a:latin typeface="Calibri" pitchFamily="34" charset="0"/>
                <a:ea typeface="Calibri" pitchFamily="34" charset="-122"/>
                <a:cs typeface="Calibri" pitchFamily="34" charset="-120"/>
              </a:rPr>
              <a:t>A defensible, self-improving should-cost out.</a:t>
            </a:r>
            <a:endParaRPr lang="en-US" sz="3400" dirty="0"/>
          </a:p>
        </p:txBody>
      </p:sp>
      <p:sp>
        <p:nvSpPr>
          <p:cNvPr id="10" name="Text 8"/>
          <p:cNvSpPr/>
          <p:nvPr/>
        </p:nvSpPr>
        <p:spPr>
          <a:xfrm>
            <a:off x="850392" y="3429000"/>
            <a:ext cx="10972800" cy="457200"/>
          </a:xfrm>
          <a:prstGeom prst="rect">
            <a:avLst/>
          </a:prstGeom>
          <a:noFill/>
          <a:ln/>
        </p:spPr>
        <p:txBody>
          <a:bodyPr wrap="square" lIns="0" tIns="0" rIns="0" bIns="0" rtlCol="0" anchor="t"/>
          <a:lstStyle/>
          <a:p>
            <a:pPr indent="0" marL="0">
              <a:buNone/>
            </a:pPr>
            <a:r>
              <a:rPr lang="en-US" sz="1600" dirty="0">
                <a:solidFill>
                  <a:srgbClr val="CFE0F5"/>
                </a:solidFill>
                <a:latin typeface="Calibri" pitchFamily="34" charset="0"/>
                <a:ea typeface="Calibri" pitchFamily="34" charset="-122"/>
                <a:cs typeface="Calibri" pitchFamily="34" charset="-120"/>
              </a:rPr>
              <a:t>Fast · explainable · self-improving · secure — and entirely ours.</a:t>
            </a:r>
            <a:endParaRPr lang="en-US" sz="1600" dirty="0"/>
          </a:p>
        </p:txBody>
      </p:sp>
      <p:sp>
        <p:nvSpPr>
          <p:cNvPr id="11" name="Text 9"/>
          <p:cNvSpPr/>
          <p:nvPr/>
        </p:nvSpPr>
        <p:spPr>
          <a:xfrm>
            <a:off x="850392" y="3840480"/>
            <a:ext cx="10058400" cy="274320"/>
          </a:xfrm>
          <a:prstGeom prst="rect">
            <a:avLst/>
          </a:prstGeom>
          <a:noFill/>
          <a:ln/>
        </p:spPr>
        <p:txBody>
          <a:bodyPr wrap="square" lIns="0" tIns="0" rIns="0" bIns="0" rtlCol="0" anchor="t"/>
          <a:lstStyle/>
          <a:p>
            <a:pPr indent="0" marL="0">
              <a:buNone/>
            </a:pPr>
            <a:r>
              <a:rPr lang="en-US" sz="1100" b="1" spc="150" kern="0" dirty="0">
                <a:solidFill>
                  <a:srgbClr val="8FB0D8"/>
                </a:solidFill>
                <a:latin typeface="Calibri" pitchFamily="34" charset="0"/>
                <a:ea typeface="Calibri" pitchFamily="34" charset="-122"/>
                <a:cs typeface="Calibri" pitchFamily="34" charset="-120"/>
              </a:rPr>
              <a:t>THE ASK — THREE SMALL DECISIONS</a:t>
            </a:r>
            <a:endParaRPr lang="en-US" sz="1100" dirty="0"/>
          </a:p>
        </p:txBody>
      </p:sp>
      <p:sp>
        <p:nvSpPr>
          <p:cNvPr id="12" name="Shape 10"/>
          <p:cNvSpPr/>
          <p:nvPr/>
        </p:nvSpPr>
        <p:spPr>
          <a:xfrm>
            <a:off x="822960" y="4206240"/>
            <a:ext cx="3383280" cy="1280160"/>
          </a:xfrm>
          <a:prstGeom prst="roundRect">
            <a:avLst>
              <a:gd name="adj" fmla="val 5714"/>
            </a:avLst>
          </a:prstGeom>
          <a:solidFill>
            <a:srgbClr val="FFFFFF">
              <a:alpha val="94000"/>
            </a:srgbClr>
          </a:solidFill>
          <a:ln/>
        </p:spPr>
      </p:sp>
      <p:sp>
        <p:nvSpPr>
          <p:cNvPr id="13" name="Shape 11"/>
          <p:cNvSpPr/>
          <p:nvPr/>
        </p:nvSpPr>
        <p:spPr>
          <a:xfrm>
            <a:off x="1097280" y="4434840"/>
            <a:ext cx="402336" cy="402336"/>
          </a:xfrm>
          <a:prstGeom prst="ellipse">
            <a:avLst/>
          </a:prstGeom>
          <a:solidFill>
            <a:srgbClr val="2E90FA"/>
          </a:solidFill>
          <a:ln/>
          <a:effectLst>
            <a:outerShdw sx="100000" sy="100000" kx="0" ky="0" algn="bl" rotWithShape="0" blurRad="9.608417496072131e+90" dist="2.8825252488216374e+90" dir="1.1845953345804043e+107">
              <a:srgbClr val="A7B6CE">
                <a:alpha val="1.800000000000001e+109"/>
              </a:srgbClr>
            </a:outerShdw>
          </a:effectLst>
        </p:spPr>
      </p:sp>
      <p:sp>
        <p:nvSpPr>
          <p:cNvPr id="14" name="Text 12"/>
          <p:cNvSpPr/>
          <p:nvPr/>
        </p:nvSpPr>
        <p:spPr>
          <a:xfrm>
            <a:off x="1097280" y="4434840"/>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libri" pitchFamily="34" charset="0"/>
                <a:ea typeface="Calibri" pitchFamily="34" charset="-122"/>
                <a:cs typeface="Calibri" pitchFamily="34" charset="-120"/>
              </a:rPr>
              <a:t>1</a:t>
            </a:r>
            <a:endParaRPr lang="en-US" sz="1496" dirty="0"/>
          </a:p>
        </p:txBody>
      </p:sp>
      <p:sp>
        <p:nvSpPr>
          <p:cNvPr id="15" name="Text 13"/>
          <p:cNvSpPr/>
          <p:nvPr/>
        </p:nvSpPr>
        <p:spPr>
          <a:xfrm>
            <a:off x="1609344" y="4434840"/>
            <a:ext cx="2468880" cy="457200"/>
          </a:xfrm>
          <a:prstGeom prst="rect">
            <a:avLst/>
          </a:prstGeom>
          <a:noFill/>
          <a:ln/>
        </p:spPr>
        <p:txBody>
          <a:bodyPr wrap="square" lIns="0" tIns="0" rIns="0" bIns="0" rtlCol="0" anchor="ctr"/>
          <a:lstStyle/>
          <a:p>
            <a:pPr indent="0" marL="0">
              <a:lnSpc>
                <a:spcPct val="100000"/>
              </a:lnSpc>
              <a:buNone/>
            </a:pPr>
            <a:r>
              <a:rPr lang="en-US" sz="1200" b="1" dirty="0">
                <a:solidFill>
                  <a:srgbClr val="FFFFFF"/>
                </a:solidFill>
                <a:latin typeface="Calibri" pitchFamily="34" charset="0"/>
                <a:ea typeface="Calibri" pitchFamily="34" charset="-122"/>
                <a:cs typeface="Calibri" pitchFamily="34" charset="-120"/>
              </a:rPr>
              <a:t>Approve a 6-week on-premise pilot</a:t>
            </a:r>
            <a:endParaRPr lang="en-US" sz="1200" dirty="0"/>
          </a:p>
        </p:txBody>
      </p:sp>
      <p:sp>
        <p:nvSpPr>
          <p:cNvPr id="16" name="Text 14"/>
          <p:cNvSpPr/>
          <p:nvPr/>
        </p:nvSpPr>
        <p:spPr>
          <a:xfrm>
            <a:off x="1097280" y="5029200"/>
            <a:ext cx="2926080" cy="365760"/>
          </a:xfrm>
          <a:prstGeom prst="rect">
            <a:avLst/>
          </a:prstGeom>
          <a:noFill/>
          <a:ln/>
        </p:spPr>
        <p:txBody>
          <a:bodyPr wrap="square" lIns="0" tIns="0" rIns="0" bIns="0" rtlCol="0" anchor="t"/>
          <a:lstStyle/>
          <a:p>
            <a:pPr indent="0" marL="0">
              <a:lnSpc>
                <a:spcPct val="105000"/>
              </a:lnSpc>
              <a:buNone/>
            </a:pPr>
            <a:r>
              <a:rPr lang="en-US" sz="950" dirty="0">
                <a:solidFill>
                  <a:srgbClr val="AFC4E2"/>
                </a:solidFill>
                <a:latin typeface="Calibri" pitchFamily="34" charset="0"/>
                <a:ea typeface="Calibri" pitchFamily="34" charset="-122"/>
                <a:cs typeface="Calibri" pitchFamily="34" charset="-120"/>
              </a:rPr>
              <a:t>seed it with our historic quotes</a:t>
            </a:r>
            <a:endParaRPr lang="en-US" sz="950" dirty="0"/>
          </a:p>
        </p:txBody>
      </p:sp>
      <p:sp>
        <p:nvSpPr>
          <p:cNvPr id="17" name="Shape 15"/>
          <p:cNvSpPr/>
          <p:nvPr/>
        </p:nvSpPr>
        <p:spPr>
          <a:xfrm>
            <a:off x="4434840" y="4206240"/>
            <a:ext cx="3383280" cy="1280160"/>
          </a:xfrm>
          <a:prstGeom prst="roundRect">
            <a:avLst>
              <a:gd name="adj" fmla="val 5714"/>
            </a:avLst>
          </a:prstGeom>
          <a:solidFill>
            <a:srgbClr val="FFFFFF">
              <a:alpha val="94000"/>
            </a:srgbClr>
          </a:solidFill>
          <a:ln/>
        </p:spPr>
      </p:sp>
      <p:sp>
        <p:nvSpPr>
          <p:cNvPr id="18" name="Shape 16"/>
          <p:cNvSpPr/>
          <p:nvPr/>
        </p:nvSpPr>
        <p:spPr>
          <a:xfrm>
            <a:off x="4709160" y="4434840"/>
            <a:ext cx="402336" cy="402336"/>
          </a:xfrm>
          <a:prstGeom prst="ellipse">
            <a:avLst/>
          </a:prstGeom>
          <a:solidFill>
            <a:srgbClr val="2E90FA"/>
          </a:solidFill>
          <a:ln/>
          <a:effectLst>
            <a:outerShdw sx="100000" sy="100000" kx="0" ky="0" algn="bl" rotWithShape="0" blurRad="1.2202690220011606e+95" dist="3.6608070660034796e+94" dir="7.107572007482426e+111">
              <a:srgbClr val="A7B6CE">
                <a:alpha val="1.800000000000001e+114"/>
              </a:srgbClr>
            </a:outerShdw>
          </a:effectLst>
        </p:spPr>
      </p:sp>
      <p:sp>
        <p:nvSpPr>
          <p:cNvPr id="19" name="Text 17"/>
          <p:cNvSpPr/>
          <p:nvPr/>
        </p:nvSpPr>
        <p:spPr>
          <a:xfrm>
            <a:off x="4709160" y="4434840"/>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libri" pitchFamily="34" charset="0"/>
                <a:ea typeface="Calibri" pitchFamily="34" charset="-122"/>
                <a:cs typeface="Calibri" pitchFamily="34" charset="-120"/>
              </a:rPr>
              <a:t>2</a:t>
            </a:r>
            <a:endParaRPr lang="en-US" sz="1496" dirty="0"/>
          </a:p>
        </p:txBody>
      </p:sp>
      <p:sp>
        <p:nvSpPr>
          <p:cNvPr id="20" name="Text 18"/>
          <p:cNvSpPr/>
          <p:nvPr/>
        </p:nvSpPr>
        <p:spPr>
          <a:xfrm>
            <a:off x="5221224" y="4434840"/>
            <a:ext cx="2468880" cy="457200"/>
          </a:xfrm>
          <a:prstGeom prst="rect">
            <a:avLst/>
          </a:prstGeom>
          <a:noFill/>
          <a:ln/>
        </p:spPr>
        <p:txBody>
          <a:bodyPr wrap="square" lIns="0" tIns="0" rIns="0" bIns="0" rtlCol="0" anchor="ctr"/>
          <a:lstStyle/>
          <a:p>
            <a:pPr indent="0" marL="0">
              <a:lnSpc>
                <a:spcPct val="100000"/>
              </a:lnSpc>
              <a:buNone/>
            </a:pPr>
            <a:r>
              <a:rPr lang="en-US" sz="1200" b="1" dirty="0">
                <a:solidFill>
                  <a:srgbClr val="FFFFFF"/>
                </a:solidFill>
                <a:latin typeface="Calibri" pitchFamily="34" charset="0"/>
                <a:ea typeface="Calibri" pitchFamily="34" charset="-122"/>
                <a:cs typeface="Calibri" pitchFamily="34" charset="-120"/>
              </a:rPr>
              <a:t>Pick a first part family</a:t>
            </a:r>
            <a:endParaRPr lang="en-US" sz="1200" dirty="0"/>
          </a:p>
        </p:txBody>
      </p:sp>
      <p:sp>
        <p:nvSpPr>
          <p:cNvPr id="21" name="Text 19"/>
          <p:cNvSpPr/>
          <p:nvPr/>
        </p:nvSpPr>
        <p:spPr>
          <a:xfrm>
            <a:off x="4709160" y="5029200"/>
            <a:ext cx="2926080" cy="365760"/>
          </a:xfrm>
          <a:prstGeom prst="rect">
            <a:avLst/>
          </a:prstGeom>
          <a:noFill/>
          <a:ln/>
        </p:spPr>
        <p:txBody>
          <a:bodyPr wrap="square" lIns="0" tIns="0" rIns="0" bIns="0" rtlCol="0" anchor="t"/>
          <a:lstStyle/>
          <a:p>
            <a:pPr indent="0" marL="0">
              <a:lnSpc>
                <a:spcPct val="105000"/>
              </a:lnSpc>
              <a:buNone/>
            </a:pPr>
            <a:r>
              <a:rPr lang="en-US" sz="950" dirty="0">
                <a:solidFill>
                  <a:srgbClr val="AFC4E2"/>
                </a:solidFill>
                <a:latin typeface="Calibri" pitchFamily="34" charset="0"/>
                <a:ea typeface="Calibri" pitchFamily="34" charset="-122"/>
                <a:cs typeface="Calibri" pitchFamily="34" charset="-120"/>
              </a:rPr>
              <a:t>a CAD part, a board, or a live RFQ</a:t>
            </a:r>
            <a:endParaRPr lang="en-US" sz="950" dirty="0"/>
          </a:p>
        </p:txBody>
      </p:sp>
      <p:sp>
        <p:nvSpPr>
          <p:cNvPr id="22" name="Shape 20"/>
          <p:cNvSpPr/>
          <p:nvPr/>
        </p:nvSpPr>
        <p:spPr>
          <a:xfrm>
            <a:off x="8046720" y="4206240"/>
            <a:ext cx="3383280" cy="1280160"/>
          </a:xfrm>
          <a:prstGeom prst="roundRect">
            <a:avLst>
              <a:gd name="adj" fmla="val 5714"/>
            </a:avLst>
          </a:prstGeom>
          <a:solidFill>
            <a:srgbClr val="FFFFFF">
              <a:alpha val="94000"/>
            </a:srgbClr>
          </a:solidFill>
          <a:ln/>
        </p:spPr>
      </p:sp>
      <p:sp>
        <p:nvSpPr>
          <p:cNvPr id="23" name="Shape 21"/>
          <p:cNvSpPr/>
          <p:nvPr/>
        </p:nvSpPr>
        <p:spPr>
          <a:xfrm>
            <a:off x="8321040" y="4434840"/>
            <a:ext cx="402336" cy="402336"/>
          </a:xfrm>
          <a:prstGeom prst="ellipse">
            <a:avLst/>
          </a:prstGeom>
          <a:solidFill>
            <a:srgbClr val="2E90FA"/>
          </a:solidFill>
          <a:ln/>
          <a:effectLst>
            <a:outerShdw sx="100000" sy="100000" kx="0" ky="0" algn="bl" rotWithShape="0" blurRad="1.549741657941474e+99" dist="4.649224973824419e+98" dir="4.2645432044894554e+116">
              <a:srgbClr val="A7B6CE">
                <a:alpha val="1.800000000000001e+119"/>
              </a:srgbClr>
            </a:outerShdw>
          </a:effectLst>
        </p:spPr>
      </p:sp>
      <p:sp>
        <p:nvSpPr>
          <p:cNvPr id="24" name="Text 22"/>
          <p:cNvSpPr/>
          <p:nvPr/>
        </p:nvSpPr>
        <p:spPr>
          <a:xfrm>
            <a:off x="8321040" y="4434840"/>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libri" pitchFamily="34" charset="0"/>
                <a:ea typeface="Calibri" pitchFamily="34" charset="-122"/>
                <a:cs typeface="Calibri" pitchFamily="34" charset="-120"/>
              </a:rPr>
              <a:t>3</a:t>
            </a:r>
            <a:endParaRPr lang="en-US" sz="1496" dirty="0"/>
          </a:p>
        </p:txBody>
      </p:sp>
      <p:sp>
        <p:nvSpPr>
          <p:cNvPr id="25" name="Text 23"/>
          <p:cNvSpPr/>
          <p:nvPr/>
        </p:nvSpPr>
        <p:spPr>
          <a:xfrm>
            <a:off x="8833104" y="4434840"/>
            <a:ext cx="2468880" cy="457200"/>
          </a:xfrm>
          <a:prstGeom prst="rect">
            <a:avLst/>
          </a:prstGeom>
          <a:noFill/>
          <a:ln/>
        </p:spPr>
        <p:txBody>
          <a:bodyPr wrap="square" lIns="0" tIns="0" rIns="0" bIns="0" rtlCol="0" anchor="ctr"/>
          <a:lstStyle/>
          <a:p>
            <a:pPr indent="0" marL="0">
              <a:lnSpc>
                <a:spcPct val="100000"/>
              </a:lnSpc>
              <a:buNone/>
            </a:pPr>
            <a:r>
              <a:rPr lang="en-US" sz="1200" b="1" dirty="0">
                <a:solidFill>
                  <a:srgbClr val="FFFFFF"/>
                </a:solidFill>
                <a:latin typeface="Calibri" pitchFamily="34" charset="0"/>
                <a:ea typeface="Calibri" pitchFamily="34" charset="-122"/>
                <a:cs typeface="Calibri" pitchFamily="34" charset="-120"/>
              </a:rPr>
              <a:t>Put agent findings on the agenda</a:t>
            </a:r>
            <a:endParaRPr lang="en-US" sz="1200" dirty="0"/>
          </a:p>
        </p:txBody>
      </p:sp>
      <p:sp>
        <p:nvSpPr>
          <p:cNvPr id="26" name="Text 24"/>
          <p:cNvSpPr/>
          <p:nvPr/>
        </p:nvSpPr>
        <p:spPr>
          <a:xfrm>
            <a:off x="8321040" y="5029200"/>
            <a:ext cx="2926080" cy="365760"/>
          </a:xfrm>
          <a:prstGeom prst="rect">
            <a:avLst/>
          </a:prstGeom>
          <a:noFill/>
          <a:ln/>
        </p:spPr>
        <p:txBody>
          <a:bodyPr wrap="square" lIns="0" tIns="0" rIns="0" bIns="0" rtlCol="0" anchor="t"/>
          <a:lstStyle/>
          <a:p>
            <a:pPr indent="0" marL="0">
              <a:lnSpc>
                <a:spcPct val="105000"/>
              </a:lnSpc>
              <a:buNone/>
            </a:pPr>
            <a:r>
              <a:rPr lang="en-US" sz="950" dirty="0">
                <a:solidFill>
                  <a:srgbClr val="AFC4E2"/>
                </a:solidFill>
                <a:latin typeface="Calibri" pitchFamily="34" charset="0"/>
                <a:ea typeface="Calibri" pitchFamily="34" charset="-122"/>
                <a:cs typeface="Calibri" pitchFamily="34" charset="-120"/>
              </a:rPr>
              <a:t>it is already finding money</a:t>
            </a:r>
            <a:endParaRPr lang="en-US" sz="950" dirty="0"/>
          </a:p>
        </p:txBody>
      </p:sp>
      <p:sp>
        <p:nvSpPr>
          <p:cNvPr id="27" name="Text 25"/>
          <p:cNvSpPr/>
          <p:nvPr/>
        </p:nvSpPr>
        <p:spPr>
          <a:xfrm>
            <a:off x="850392" y="5989320"/>
            <a:ext cx="10972800" cy="365760"/>
          </a:xfrm>
          <a:prstGeom prst="rect">
            <a:avLst/>
          </a:prstGeom>
          <a:noFill/>
          <a:ln/>
        </p:spPr>
        <p:txBody>
          <a:bodyPr wrap="square" lIns="0" tIns="0" rIns="0" bIns="0" rtlCol="0" anchor="t"/>
          <a:lstStyle/>
          <a:p>
            <a:pPr indent="0" marL="0">
              <a:buNone/>
            </a:pPr>
            <a:r>
              <a:rPr lang="en-US" sz="1200" dirty="0">
                <a:solidFill>
                  <a:srgbClr val="8FA6C6"/>
                </a:solidFill>
                <a:latin typeface="Calibri" pitchFamily="34" charset="0"/>
                <a:ea typeface="Calibri" pitchFamily="34" charset="-122"/>
                <a:cs typeface="Calibri" pitchFamily="34" charset="-120"/>
              </a:rPr>
              <a:t>Thank you  ·  happy to take questions, or run the live system now</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CostVision — AI Cost Intelligence Platform</dc:title>
  <dc:subject>PptxGenJS Presentation</dc:subject>
  <dc:creator>CostVision</dc:creator>
  <cp:lastModifiedBy>CostVision</cp:lastModifiedBy>
  <cp:revision>1</cp:revision>
  <dcterms:created xsi:type="dcterms:W3CDTF">2026-07-20T20:10:17Z</dcterms:created>
  <dcterms:modified xsi:type="dcterms:W3CDTF">2026-07-20T20:10:17Z</dcterms:modified>
</cp:coreProperties>
</file>