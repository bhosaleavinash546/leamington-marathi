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88" r:id="rId39"/>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overhead + margin added on top</c:v>
                </c:pt>
              </c:strCache>
            </c:strRef>
          </c:tx>
          <c:spPr>
            <a:solidFill>
              <a:srgbClr val="8A97A8"/>
            </a:solidFill>
            <a:effectLst/>
          </c:spPr>
          <c:invertIfNegative val="0"/>
          <c:dLbls>
            <c:numFmt formatCode="0.0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strRef>
              <c:f>Sheet1!$A$2:$A$2</c:f>
              <c:strCache>
                <c:ptCount val="1"/>
                <c:pt idx="0">
                  <c:v>Default board — fab price (£)</c:v>
                </c:pt>
              </c:strCache>
            </c:strRef>
          </c:cat>
          <c:val>
            <c:numRef>
              <c:f>Sheet1!$B$2:$B$2</c:f>
              <c:numCache>
                <c:formatCode>General</c:formatCode>
                <c:ptCount val="1"/>
                <c:pt idx="0">
                  <c:v>100.44</c:v>
                </c:pt>
              </c:numCache>
            </c:numRef>
          </c:val>
        </c:ser>
        <c:ser>
          <c:idx val="1"/>
          <c:order val="1"/>
          <c:tx>
            <c:strRef>
              <c:f>Sheet1!$C$1</c:f>
              <c:strCache>
                <c:ptCount val="1"/>
                <c:pt idx="0">
                  <c:v>Now: bought-in price, nothing added</c:v>
                </c:pt>
              </c:strCache>
            </c:strRef>
          </c:tx>
          <c:spPr>
            <a:solidFill>
              <a:srgbClr val="2563EB"/>
            </a:solidFill>
            <a:effectLst/>
          </c:spPr>
          <c:invertIfNegative val="0"/>
          <c:dLbls>
            <c:numFmt formatCode="0.0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strRef>
              <c:f>Sheet1!$A$2:$A$2</c:f>
              <c:strCache>
                <c:ptCount val="1"/>
                <c:pt idx="0">
                  <c:v>Default board — fab price (£)</c:v>
                </c:pt>
              </c:strCache>
            </c:strRef>
          </c:cat>
          <c:val>
            <c:numRef>
              <c:f>Sheet1!$C$2:$C$2</c:f>
              <c:numCache>
                <c:formatCode>General</c:formatCode>
                <c:ptCount val="1"/>
                <c:pt idx="0">
                  <c:v>83.08</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strRef>
              <c:f>Sheet1!$A$2:$A$9</c:f>
              <c:strCache>
                <c:ptCount val="8"/>
                <c:pt idx="0">
                  <c:v>Material</c:v>
                </c:pt>
                <c:pt idx="1">
                  <c:v>Process</c:v>
                </c:pt>
                <c:pt idx="2">
                  <c:v>Labour</c:v>
                </c:pt>
                <c:pt idx="3">
                  <c:v>Tooling</c:v>
                </c:pt>
                <c:pt idx="4">
                  <c:v>Pack</c:v>
                </c:pt>
                <c:pt idx="5">
                  <c:v>Logs</c:v>
                </c:pt>
                <c:pt idx="6">
                  <c:v>O/H</c:v>
                </c:pt>
                <c:pt idx="7">
                  <c:v>Margin</c:v>
                </c:pt>
              </c:strCache>
            </c:strRef>
          </c:cat>
          <c:val>
            <c:numRef>
              <c:f>Sheet1!$B$2:$B$9</c:f>
              <c:numCache>
                <c:formatCode>General</c:formatCode>
                <c:ptCount val="8"/>
                <c:pt idx="0">
                  <c:v>12.56</c:v>
                </c:pt>
                <c:pt idx="1">
                  <c:v>27.98</c:v>
                </c:pt>
                <c:pt idx="2">
                  <c:v>4.59</c:v>
                </c:pt>
                <c:pt idx="3">
                  <c:v>2.18</c:v>
                </c:pt>
                <c:pt idx="4">
                  <c:v>0.6</c:v>
                </c:pt>
                <c:pt idx="5">
                  <c:v>1.1</c:v>
                </c:pt>
                <c:pt idx="6">
                  <c:v>5.68</c:v>
                </c:pt>
                <c:pt idx="7">
                  <c:v>4.92</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strRef>
              <c:f>Sheet1!$A$2:$A$9</c:f>
              <c:strCache>
                <c:ptCount val="8"/>
                <c:pt idx="0">
                  <c:v>VN</c:v>
                </c:pt>
                <c:pt idx="1">
                  <c:v>IN</c:v>
                </c:pt>
                <c:pt idx="2">
                  <c:v>CN</c:v>
                </c:pt>
                <c:pt idx="3">
                  <c:v>MX</c:v>
                </c:pt>
                <c:pt idx="4">
                  <c:v>PL</c:v>
                </c:pt>
                <c:pt idx="5">
                  <c:v>US</c:v>
                </c:pt>
                <c:pt idx="6">
                  <c:v>UK</c:v>
                </c:pt>
                <c:pt idx="7">
                  <c:v>DE</c:v>
                </c:pt>
              </c:strCache>
            </c:strRef>
          </c:cat>
          <c:val>
            <c:numRef>
              <c:f>Sheet1!$B$2:$B$9</c:f>
              <c:numCache>
                <c:formatCode>General</c:formatCode>
                <c:ptCount val="8"/>
                <c:pt idx="0">
                  <c:v>36.85</c:v>
                </c:pt>
                <c:pt idx="1">
                  <c:v>37.17</c:v>
                </c:pt>
                <c:pt idx="2">
                  <c:v>38.55</c:v>
                </c:pt>
                <c:pt idx="3">
                  <c:v>40.44</c:v>
                </c:pt>
                <c:pt idx="4">
                  <c:v>46.3</c:v>
                </c:pt>
                <c:pt idx="5">
                  <c:v>53.91</c:v>
                </c:pt>
                <c:pt idx="6">
                  <c:v>59.6</c:v>
                </c:pt>
                <c:pt idx="7">
                  <c:v>63.4</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strRef>
              <c:f>Sheet1!$A$2:$A$7</c:f>
              <c:strCache>
                <c:ptCount val="6"/>
                <c:pt idx="0">
                  <c:v>Cost engine</c:v>
                </c:pt>
                <c:pt idx="1">
                  <c:v>Front end / UI</c:v>
                </c:pt>
                <c:pt idx="2">
                  <c:v>Tests</c:v>
                </c:pt>
                <c:pt idx="3">
                  <c:v>Server</c:v>
                </c:pt>
                <c:pt idx="4">
                  <c:v>Styling</c:v>
                </c:pt>
                <c:pt idx="5">
                  <c:v>Geometry (Py)</c:v>
                </c:pt>
              </c:strCache>
            </c:strRef>
          </c:cat>
          <c:val>
            <c:numRef>
              <c:f>Sheet1!$B$2:$B$7</c:f>
              <c:numCache>
                <c:formatCode>General</c:formatCode>
                <c:ptCount val="6"/>
                <c:pt idx="0">
                  <c:v>39.4</c:v>
                </c:pt>
                <c:pt idx="1">
                  <c:v>29.5</c:v>
                </c:pt>
                <c:pt idx="2">
                  <c:v>29.0</c:v>
                </c:pt>
                <c:pt idx="3">
                  <c:v>17.3</c:v>
                </c:pt>
                <c:pt idx="4">
                  <c:v>7.1</c:v>
                </c:pt>
                <c:pt idx="5">
                  <c:v>2.5</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45.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for your time. This is CostVision. It works out what a part should cost: material, process, labour, tooling, packaging, logistics, overhead and margin. You give it a CAD file, or you type in the inputs, and it builds the cost from real 2026 rates. Every number is plain arithmetic, and you can trace each one back to a rate.</a:t>
            </a:r>
          </a:p>
          <a:p/>
          <a:p>
            <a:r>
              <a:t>I want to be clear about one thing at the start. The version we run at JLR has AI switched off. JLR hasn't approved AI yet, so the AI code is in the product but turned off. Everything I show you today works without it, on a laptop, with no internet. This is version 4.2.</a:t>
            </a:r>
          </a:p>
          <a:p/>
          <a:p>
            <a:r>
              <a:t>I'll go through what it does, what we've proven, and, just as important, what we haven't proven yet.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only remember one slide, make it this one. Across the top: every cost splits into eight buckets, and each one traces to a rate. It covers nineteen manufacturing processes, plus an assembly roll-up. It prices across twenty regions on real 2026 rates. Thirteen of those processes can be costed straight from a CAD file.</a:t>
            </a:r>
          </a:p>
          <a:p/>
          <a:p>
            <a:r>
              <a:t>The last number is a zero, and I put it there on purpose. So far we haven't compared a single estimate with a price JLR actually paid. The arithmetic is proven. Accuracy against real prices isn't proven yet, and the pilot is how we find out.</a:t>
            </a:r>
          </a:p>
          <a:p/>
          <a:p>
            <a:r>
              <a:t>The four boxes are the four jobs the tool does: estimate, understand, negotiate, and learn. The bottom line is simple. We get one consistent number that anyone can trace, built on our own rates.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plan for the next half hour, with a quick word on why. We already do careful should-costing, and the method is sound. The trouble is the effort. For every part, somebody reads the CAD and the drawings and types the numbers in by hand.</a:t>
            </a:r>
          </a:p>
          <a:p/>
          <a:p>
            <a:r>
              <a:t>CostVision keeps the same method. It measures the CAD for us. When the geometry can't answer something, it asks the engineer instead of guessing. And every part runs on one rate library that has a version number.</a:t>
            </a:r>
          </a:p>
          <a:p/>
          <a:p>
            <a:r>
              <a:t>After this I'll show the whole tool on one slide. Then I'll go deeper on CAD to Cost, and after that electronics, the regional rates, negotiation, and learning from real prices. I'll finish with trust, security and next steps. Please jump in with questions any time.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want to be fair to what we have today. Our current should-costing is good. It's thorough, it's bottom-up, and it covers every commodity. The honest point is that it takes a lot of hand work. Someone picks the material, the process and the machine. Someone reads the geometry off the CAD and the drawings. And when rates move, someone updates them by hand.</a:t>
            </a:r>
          </a:p>
          <a:p/>
          <a:p>
            <a:r>
              <a:t>CostVision keeps the same method and takes out most of that hand work. It measures the CAD directly. Where the geometry can't decide something, like the process route or the material family, it asks the engineer. It doesn't guess. And rates sit in one library with a version number, so when we load a new set, every part re-prices.</a:t>
            </a:r>
          </a:p>
          <a:p/>
          <a:p>
            <a:r>
              <a:t>So this isn't old against new. It's the same should-cost with less typing, and it leaves our experts more time for judgement.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whole tool on one slide. Read it left to right.</a:t>
            </a:r>
          </a:p>
          <a:p/>
          <a:p>
            <a:r>
              <a:t>On the left are the inputs. That's a CAD file in STEP, IGES or STL, or the inputs you type into a process form. For sheet metal you can add a DXF flat pattern.</a:t>
            </a:r>
          </a:p>
          <a:p/>
          <a:p>
            <a:r>
              <a:t>Next, the tool measures. The geometry engine is OpenCASCADE, a proper CAD kernel. It measures the part and finds the features, then rules turn those measurements into cost inputs. If something can't be decided from the geometry, the engineer gets a question. The optional AI sits in this column too, and at JLR it's switched off.</a:t>
            </a:r>
          </a:p>
          <a:p/>
          <a:p>
            <a:r>
              <a:t>The third column is fixed arithmetic: nineteen processes, twenty regional rate tables, and the tooling spread. On the right are the outputs: the breakdown, a band, a negotiation pack, and exports.</a:t>
            </a:r>
          </a:p>
          <a:p/>
          <a:p>
            <a:r>
              <a:t>The golden rule at the bottom holds even when AI is on. AI never sets a price.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someone asks what CostVision actually does, this slide is the answer. It does four jobs.</a:t>
            </a:r>
          </a:p>
          <a:p/>
          <a:p>
            <a:r>
              <a:t>First, it estimates. That can be from a CAD file, from the PCB forms, or from any of the nineteen process forms, with feature-based machining on top.</a:t>
            </a:r>
          </a:p>
          <a:p/>
          <a:p>
            <a:r>
              <a:t>Second, it helps you understand the part. There's a 3D viewer where you can section and measure. There's the feature table, design-for-manufacture guidance for each process, and a self-audit on every result.</a:t>
            </a:r>
          </a:p>
          <a:p/>
          <a:p>
            <a:r>
              <a:t>Third, it helps you decide and negotiate. You get the quote teardown, twenty regions, what-if scenarios, and an uncertainty band on every number.</a:t>
            </a:r>
          </a:p>
          <a:p/>
          <a:p>
            <a:r>
              <a:t>Fourth, it learns and keeps things governed. There's a shared memory of past cases, learning from logged actual prices, a background monitor, and an audit trail. It all runs on a laptop with sign-in.</a:t>
            </a:r>
          </a:p>
          <a:p/>
          <a:p>
            <a:r>
              <a:t>Most of today sits in the first two columns, because that's where the demo 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the main part of the talk: CAD to Cost. This is where most of the hand work lives today, so it's where the tool saves the most effort.</a:t>
            </a:r>
          </a:p>
          <a:p/>
          <a:p>
            <a:r>
              <a:t>Over the next few slides I'll show you three things. First, how the tool gets from a 3D model to a should-cost. Second, the checks it runs before any number reaches the price. And third, how we've tested it, including what we haven't tested yet.</a:t>
            </a:r>
          </a:p>
          <a:p/>
          <a:p>
            <a:r>
              <a:t>One point to keep in mind throughout: the geometry is the ground truth. The tool measures the part. The rules work from those measurements. And where the measurements don't settle a question, the engineer does. There's no AI anywhere in this path at JLR.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promise. You drop in a 3D model and you get a should-cost. How it gets there is what makes the number worth trusting.</a:t>
            </a:r>
          </a:p>
          <a:p/>
          <a:p>
            <a:r>
              <a:t>It takes four steps, left to right. First, it measures the real geometry, meaning volume, size and surface area, using OpenCASCADE. Second, it finds the features: holes, pockets, slots and bends. Those become machining steps. That works on STEP and IGES. An STL is just a mesh, so there's no feature table.</a:t>
            </a:r>
          </a:p>
          <a:p/>
          <a:p>
            <a:r>
              <a:t>Third, where the geometry can't decide the route or the material, the tool asks the engineer to choose. Fourth, the fixed eight-bucket engine prices it and gives a band and design guidance.</a:t>
            </a:r>
          </a:p>
          <a:p/>
          <a:p>
            <a:r>
              <a:t>On the bottom bar: for sheet metal, add a DXF flat pattern and the tool uses the measured blank. Reading a 2D drawing needs the AI mode, and that's off at JLR, so we don't rely on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full pipeline, left to right. You upload the model. The geometry engine measures it. Feature recognition finds the holes, pockets, slots and bends. Then the rules turn the measurements into cost inputs, and the engineer answers anything the geometry can't settle. The costing engine prices it. The self-audit checks it. And out comes the should-cost with a band.</a:t>
            </a:r>
          </a:p>
          <a:p/>
          <a:p>
            <a:r>
              <a:t>The step to remember is the self-audit. It checks every result for a wrong machine size, tooling spread over the wrong volume, a material-only costing, a cycle time that doesn't make sense, and more. There's also a hard stop. An STL file has no feature table, so a machined STL would come out with no cycle time. The tool won't price that. It waits until the engineer types one in.</a:t>
            </a:r>
          </a:p>
          <a:p/>
          <a:p>
            <a:r>
              <a:t>So problems get flagged. They don't get silently priced.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an engineer actually sees on screen.</a:t>
            </a:r>
          </a:p>
          <a:p/>
          <a:p>
            <a:r>
              <a:t>At the top left is the 3D viewer, right in the browser. You can rotate the part, cut a section through it, and measure it. Next to it, the tool works on true B-rep geometry, meaning the real faces and edges of a STEP or IGES model, not just a mesh of triangles. That's how it can tell a pocket from a boss.</a:t>
            </a:r>
          </a:p>
          <a:p/>
          <a:p>
            <a:r>
              <a:t>The feature table lists what it found and feeds each item into the costing as a real step. Machining is costed per feature. Where the route or the material is unclear, you get a question with the choices laid out. And the design-for-manufacture score shows what's driving the cost.</a:t>
            </a:r>
          </a:p>
          <a:p/>
          <a:p>
            <a:r>
              <a:t>The bottom bar is a rule I like. A thick-walled part is never offered sheet metal or moulding. It gets casting, forging, cast and machine, or machining.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People always ask about accuracy, so I'll be precise. It's built in layers.</a:t>
            </a:r>
          </a:p>
          <a:p/>
          <a:p>
            <a:r>
              <a:t>One: the geometry is measured, and the rules work from what's measured. Two: there are guards. Machining time on a near-net casting or forging is capped, and anything the geometry can't decide goes to the engineer as a question. Three: there's no AI in the money. The engine matches a hand calculation of a twenty-three pound twenty-seven machined bracket to under a hundredth of a percent, and it gives the same answer every time. Four: the self-audit runs on every result. Five: every estimate comes with a band, not a single number. Six: six real production parts are pinned in a regression test.</a:t>
            </a:r>
          </a:p>
          <a:p/>
          <a:p>
            <a:r>
              <a:t>Now the honest part. None of this compares an estimate with a price JLR actually paid. That's still to do. We'll measure it as we log actual prices. We aren't claiming it up front.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short section now on electronics. I want to show that the tool isn't only about machined and cast metal parts.</a:t>
            </a:r>
          </a:p>
          <a:p/>
          <a:p>
            <a:r>
              <a:t>There are two processes here. PCB fabrication is making the bare board. PCBA is assembling the components onto it. Both have their own forms, and both run on the same engine and the same rate library as everything else.</a:t>
            </a:r>
          </a:p>
          <a:p/>
          <a:p>
            <a:r>
              <a:t>There's also a feature that reads a photo of a board and builds the bill of materials. That one needs AI. So in the JLR build it's hidden, and I won't be demoing it. I'll say more on the next slide about a recent fix to how the fab price is handled, because it changed the numbers.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electronics in practice. The PCB fab form takes the board type, the size and the layer count, and prices the board from fabricators' price tables. The PCBA form costs the SMT, through-hole and BGA placements. You can import the bill of materials as a CSV file instead of typing every line. And the same board can be priced across all twenty regions.</a:t>
            </a:r>
          </a:p>
          <a:p/>
          <a:p>
            <a:r>
              <a:t>The chart shows a fix we made. A fabricator's price already includes their overhead and margin. The tool used to add overhead and margin on top again, so it counted them twice. Now fab is treated as a bought-in price, with nothing added. On the default board, that took the fab cost from one hundred pounds forty-four down to eighty-three pounds eight.</a:t>
            </a:r>
          </a:p>
          <a:p/>
          <a:p>
            <a:r>
              <a:t>The photo-to-BOM feature needs AI, so it's hidden at JLR.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a tool only covers one process, it doesn't change how a business works. CostVision covers nineteen manufacturing processes. Each one has its own bottom-up model. It's not one generic formula stretched to fit everything.</a:t>
            </a:r>
          </a:p>
          <a:p/>
          <a:p>
            <a:r>
              <a:t>They're all on screen. Casting, cast and machine, gear cutting, machining, forging, pressed sheet metal and sheet-metal fabrication. Then the moulding family: injection, blow, thermoforming and rotational. Then rubber, composites, extrusion, wiring harness, PCB fab, PCBA, painting, and body-in-white assembly.</a:t>
            </a:r>
          </a:p>
          <a:p/>
          <a:p>
            <a:r>
              <a:t>On top of those there's an assembly roll-up and a separate cost model for automotive software.</a:t>
            </a:r>
          </a:p>
          <a:p/>
          <a:p>
            <a:r>
              <a:t>The key point is on the bottom bar. There's one method underneath all of them: the same eight-bucket stack, material through to margin. So every process is costed the same traceable way, and every part can then be priced across twenty regions. That's the next section.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Next, the global should-cost. The question here is simple: what would this same part cost if it were made somewhere else?</a:t>
            </a:r>
          </a:p>
          <a:p/>
          <a:p>
            <a:r>
              <a:t>The answer uses twenty manufacturing regions. There's the UK and ten other European countries, then Turkey, China, India, Mexico, the United States, Thailand, Vietnam, Brazil and South Korea. Each region has its own labour rates, energy prices and multipliers.</a:t>
            </a:r>
          </a:p>
          <a:p/>
          <a:p>
            <a:r>
              <a:t>There's no AI in any of this. It's the same base cost, re-priced with each region's rates. I'll show you how the model works, then the actual rates on screen, then how we load our own rates, and finally a worked example from the engine itself.</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engine behind "the same part, priced anywhere". It's four fixed steps, and there's no AI in any of them.</a:t>
            </a:r>
          </a:p>
          <a:p/>
          <a:p>
            <a:r>
              <a:t>Step one: we take the base cost, the eight-bucket breakdown, from a CAD model or a process form. Step two: we apply each region's rates for labour by trade, energy, material factors, machine rates, overhead, and the exchange rate. Step three: we add the landed costs, meaning packaging, logistics, duty and shipping. Step four: we get a should-cost for every country, ranked, both ex-works and landed.</a:t>
            </a:r>
          </a:p>
          <a:p/>
          <a:p>
            <a:r>
              <a:t>At the bottom left is what you actually have to provide: the part, once; the regions you care about; and the volume and Incoterm. At the bottom right is everything the model factors in for you. On the next slide you'll see the actual numbers.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here so nobody has to take the regional numbers on trust. These are the actual rates the tool uses. They come from the rate library dated the sixteenth of June 2026.</a:t>
            </a:r>
          </a:p>
          <a:p/>
          <a:p>
            <a:r>
              <a:t>Read across a row. A skilled operator costs twenty-six pounds an hour in the UK and forty pounds fifty in Germany. In China it's seven ninety, and in Vietnam it's three eighty. Then there's foundry labour, electricity, and three multipliers: machine cost, overhead, and logistics. China's logistics multiplier is one point four five, because the part has to travel.</a:t>
            </a:r>
          </a:p>
          <a:p/>
          <a:p>
            <a:r>
              <a:t>This shows ten of the twenty regions. Behind them sit material factors, exchange rates, gas, packaging and duty. It's one library with a version number, and every costing uses it. So if someone challenges a China number, we can show them exactly which rate drove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Someone always says, "those aren't our rates." They don't have to be. We can upload our own rates as one Excel workbook, and from then on every costing runs on our numbers.</a:t>
            </a:r>
          </a:p>
          <a:p/>
          <a:p>
            <a:r>
              <a:t>There are six tables, one tab each: materials, machines, labour, energy, exchange rates, and overhead with margin. Uploading is admin-only. An admin uploads, and can switch between company rates and the built-in ones, or reset. Everyone else just costs on whatever set is active, and a badge shows which one that is.</a:t>
            </a:r>
          </a:p>
          <a:p/>
          <a:p>
            <a:r>
              <a:t>The server checks every row. It rejects bad cells and gives an error that names the line. Every row carries an effective date and a confidence level.</a:t>
            </a:r>
          </a:p>
          <a:p/>
          <a:p>
            <a:r>
              <a:t>For JLR there's also a converter workbook. It turns JLR's own rate card into this format, with no macros. Load a new set, and every part re-prices.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a real run of the engine. It comes from the worked-example script in the code, so anyone can re-run it and get the same numbers. The part is a two point eight kilo die-cast aluminium housing, in ADC12, machined afterwards, at sixty thousand a year.</a:t>
            </a:r>
          </a:p>
          <a:p/>
          <a:p>
            <a:r>
              <a:t>The left chart is the UK breakdown. The total is fifty-nine pounds sixty. Process, which here means casting plus machining, is forty-seven percent of that. So this part is mainly about machine time, and less about metal.</a:t>
            </a:r>
          </a:p>
          <a:p/>
          <a:p>
            <a:r>
              <a:t>The right chart shows the same inputs priced in eight regions. Vietnam, India and China come out between about thirty-seven pounds and thirty-eight fifty. The UK is fifty-nine sixty, and Germany is sixty-three forty.</a:t>
            </a:r>
          </a:p>
          <a:p/>
          <a:p>
            <a:r>
              <a:t>This is one example, run on our current rates. It doesn't tell us what a supplier would actually charge. What it shows is how the method works.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Next: Negotiation Intelligence. This is where a should-cost stops being an interesting number and becomes something a buyer can use across the table from a supplier.</a:t>
            </a:r>
          </a:p>
          <a:p/>
          <a:p>
            <a:r>
              <a:t>The idea is simple. We put the supplier's quote next to our should-cost and compare them bucket by bucket. Then the tool shows where the gaps are and what's causing them.</a:t>
            </a:r>
          </a:p>
          <a:p/>
          <a:p>
            <a:r>
              <a:t>I want to be careful here. I'm not going to quote a savings figure. We haven't run this on enough real JLR quotes to claim one. What I'll show you is the mechanism, and the pilot is where we find out what it's worth.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how it works, left to right. We start with our should-cost. We add the supplier's quote, either line by line or from Excel. The tool tears down the gap by driver: material, cycle time, rate and margin. Then it builds a negotiation pack.</a:t>
            </a:r>
          </a:p>
          <a:p/>
          <a:p>
            <a:r>
              <a:t>Across the middle are the facts about it. It compares all eight buckets. The pack comes out as a PDF or PowerPoint. Each lever is ranked by its value per year. And the exported total matches the screen to the penny, so nobody can pick holes in the arithmetic.</a:t>
            </a:r>
          </a:p>
          <a:p/>
          <a:p>
            <a:r>
              <a:t>You'll notice I've taken out the savings percentages. We'll measure those on real quotes.</a:t>
            </a:r>
          </a:p>
          <a:p/>
          <a:p>
            <a:r>
              <a:t>The pack holds the gap table, the driver behind each gap, the ranked levers, and questions ready to send to the supplier. We stop arguing about the total and start talking about the drivers.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section is about learning from actual prices, and it's where the tool gets better as we use it.</a:t>
            </a:r>
          </a:p>
          <a:p/>
          <a:p>
            <a:r>
              <a:t>The principle is straightforward. When we get a real quote or a purchase order price for a part we've costed, we log it against the estimate. Over time the tool builds up a record of how its estimates compare with real prices, commodity by commodity.</a:t>
            </a:r>
          </a:p>
          <a:p/>
          <a:p>
            <a:r>
              <a:t>I'll be honest about where we are. That record is empty for JLR today. No estimate has yet been compared with a price JLR actually paid. So this section is about the mechanism, and why logging our historic actuals in the pilot matters so much.</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four steps here, and together they form a loop.</a:t>
            </a:r>
          </a:p>
          <a:p/>
          <a:p>
            <a:r>
              <a:t>It remembers: each costing can be saved as a case in a shared memory, so the team builds on past work. It recognises: a new part is matched to similar past parts, and the tool shows why it thinks they're similar. It corrects itself: you log a real quote or PO price, and once a commodity has three actuals, the band is adjusted using real data. And it acts: a background monitor re-checks saved parts and flags price gaps and stale estimates. All of this is plain arithmetic. None of it uses AI.</a:t>
            </a:r>
          </a:p>
          <a:p/>
          <a:p>
            <a:r>
              <a:t>Look at the numbers on the bottom. It takes three actuals per commodity before the band learns. Every result carries a P10 to P90 band. And we've compared zero estimates with a JLR-paid price so far. That zero is the reason for the pilot.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four extras go a bit beyond a plain estimate.</a:t>
            </a:r>
          </a:p>
          <a:p/>
          <a:p>
            <a:r>
              <a:t>First, bands set by real data. Once we've logged actual prices, the uncertainty band is corrected by real results, so it rests on evidence rather than on assumptions.</a:t>
            </a:r>
          </a:p>
          <a:p/>
          <a:p>
            <a:r>
              <a:t>Second, the negotiation coach. It knows why a part costs what it does, and it writes the sentence for you. For example, it can say how much a move in the aluminium index changes the price.</a:t>
            </a:r>
          </a:p>
          <a:p/>
          <a:p>
            <a:r>
              <a:t>Third, what-if. You move a commodity price and watch the cost recompute, for one part or for the whole portfolio.</a:t>
            </a:r>
          </a:p>
          <a:p/>
          <a:p>
            <a:r>
              <a:t>Fourth, carbon. Every part gets a carbon dioxide figure next to the pounds, and more RFQs are asking for one.</a:t>
            </a:r>
          </a:p>
          <a:p/>
          <a:p>
            <a:r>
              <a:t>Each of these turns a number into a decision. They're all plain arithmetic on the same breakdown, and none of them uses AI.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Whenever software touches money, the fair question is "can I trust it?" So here's the direct answer.</a:t>
            </a:r>
          </a:p>
          <a:p/>
          <a:p>
            <a:r>
              <a:t>First, it's open. Every number is plain arithmetic that an engineer can read and defend. At JLR there's no AI in the tool at all.</a:t>
            </a:r>
          </a:p>
          <a:p/>
          <a:p>
            <a:r>
              <a:t>Second, it's measured. The arithmetic matches a hand calculation to under a hundredth of a percent. Accuracy against real prices is a separate question, and we'll measure it as we log actuals.</a:t>
            </a:r>
          </a:p>
          <a:p/>
          <a:p>
            <a:r>
              <a:t>Third, it's honest about uncertainty. There's a band on every result and a flag on anything unchecked.</a:t>
            </a:r>
          </a:p>
          <a:p/>
          <a:p>
            <a:r>
              <a:t>Fourth, it's tested. There are two thousand four hundred and thirty-eight automated tests, plus browser tests that cost every process and check accessibility on every run.</a:t>
            </a:r>
          </a:p>
          <a:p/>
          <a:p>
            <a:r>
              <a:t>The green bar gives the summary, and it includes the gap. What we haven't proven yet is how the tool compares with prices JLR actually paid.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last slide asked whether you can trust the number today. This one asks whether you can still trust it after six months of changes.</a:t>
            </a:r>
          </a:p>
          <a:p/>
          <a:p>
            <a:r>
              <a:t>There are four checks. One: our golden rule, that AI never sets a price, is written as a test. If anyone connects AI code to the cost engine, the build fails.</a:t>
            </a:r>
          </a:p>
          <a:p/>
          <a:p>
            <a:r>
              <a:t>Two: six real production parts are pinned. There's a steering knuckle, two castings, a pressed seat bracket, a machined part and a gear. If a change moves any of their costs, the build fails, and someone has to explain why. That net exists because a knuckle once costed at five pounds forty-three while every synthetic test passed.</a:t>
            </a:r>
          </a:p>
          <a:p/>
          <a:p>
            <a:r>
              <a:t>Three: there are two thousand four hundred and thirty-eight tests, the self-audit, and screenshot checks of the key screens. Four: there's a band on every result.</a:t>
            </a:r>
          </a:p>
          <a:p/>
          <a:p>
            <a:r>
              <a:t>So quality is checked on every change, not reviewed afterwards.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want to spend a moment on the work behind this. It isn't a prototype, and it isn't a thin wrapper around a chatbot.</a:t>
            </a:r>
          </a:p>
          <a:p/>
          <a:p>
            <a:r>
              <a:t>It's about a hundred and twenty-eight thousand lines of code. The cost engine alone is around thirty-nine thousand lines, and that's the money arithmetic for nineteen processes and twenty regions. There are around twenty-nine thousand lines of tests, which make up the two thousand four hundred and thirty-eight tests. The geometry engine is OpenCASCADE, called from Python, and it reads STEP, IGES and STL.</a:t>
            </a:r>
          </a:p>
          <a:p/>
          <a:p>
            <a:r>
              <a:t>To be open about it: AI coding tools helped us write the code. The product itself runs with no AI at JLR. The design, the cost models and the checks are ours.</a:t>
            </a:r>
          </a:p>
          <a:p/>
          <a:p>
            <a:r>
              <a:t>Line counts don't prove accuracy, of course. What they show is that this is a real piece of engineering that we own and control.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Let me put this in business terms. There are four points, and they're all about doing what we already do, with less effort.</a:t>
            </a:r>
          </a:p>
          <a:p/>
          <a:p>
            <a:r>
              <a:t>Speed: there's less keying. The tool measures the CAD and fills in the inputs, so the first traceable number arrives sooner. I'm not going to put a multiple on that. The pilot will tell us.</a:t>
            </a:r>
          </a:p>
          <a:p/>
          <a:p>
            <a:r>
              <a:t>Margin: a line-by-line should-cost lets us challenge each quote by driver, not just by the total.</a:t>
            </a:r>
          </a:p>
          <a:p/>
          <a:p>
            <a:r>
              <a:t>Consistency: there's one method and one rate library for everyone. A junior costs a part the same way a senior does.</a:t>
            </a:r>
          </a:p>
          <a:p/>
          <a:p>
            <a:r>
              <a:t>And the asset: logged actuals and saved cases stay on our own machines, and they grow with use.</a:t>
            </a:r>
          </a:p>
          <a:p/>
          <a:p>
            <a:r>
              <a:t>The net is faster, consistent, traceable numbers, on our own laptops, with no AI and no internet needed. How much money that's worth is for the pilot to measure. I'm not going to guess.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how do we get from a demo to everyday use? The plan is staged and low-risk, and it runs alongside our current tool until we're confident.</a:t>
            </a:r>
          </a:p>
          <a:p/>
          <a:p>
            <a:r>
              <a:t>Phase one is a six-week pilot. We install the laptop package, which is just a folder, so there's no installer and no admin rights. We log our historic actual prices. We cost twenty to thirty live parts. And we set a baseline for accuracy against those actuals. That's where we get the first real accuracy measure.</a:t>
            </a:r>
          </a:p>
          <a:p/>
          <a:p>
            <a:r>
              <a:t>Phase two is scale. We roll it out to costing and sourcing, make logging actuals a habit, connect it to the RFQ process, and review the drift monitor every month.</a:t>
            </a:r>
          </a:p>
          <a:p/>
          <a:p>
            <a:r>
              <a:t>Phase three is embed. Negotiation packs become standard, we add real market price feeds, and we track pounds saved and cycle time.</a:t>
            </a:r>
          </a:p>
          <a:p/>
          <a:p>
            <a:r>
              <a:t>The one dependency is that the learning starts empty, and that's why phase one logs our history first.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room like this, security comes first, so here it is plainly.</a:t>
            </a:r>
          </a:p>
          <a:p/>
          <a:p>
            <a:r>
              <a:t>At JLR the tool runs on a laptop. The Windows package is a folder you copy across and double-click. There's no installer, no admin rights, and no internet needed. By default it only listens on the laptop itself, so nobody else on the network can reach it unless we choose to share it.</a:t>
            </a:r>
          </a:p>
          <a:p/>
          <a:p>
            <a:r>
              <a:t>AI is switched off by a setting. Nothing goes to any AI service. If JLR approves AI later, it can be turned on without a rebuild. But that's a decision for then, not now.</a:t>
            </a:r>
          </a:p>
          <a:p/>
          <a:p>
            <a:r>
              <a:t>You have to sign in to anything that holds data. A password reset, or "sign out everywhere", ends every old session.</a:t>
            </a:r>
          </a:p>
          <a:p/>
          <a:p>
            <a:r>
              <a:t>For a shared server there's a Docker image with the CAD kernel. The dashboard news feed needs internet, but costing never does.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runbook for the live demo. If I'm short on time, I'll do steps one, three and six.</a:t>
            </a:r>
          </a:p>
          <a:p/>
          <a:p>
            <a:r>
              <a:t>Step one: I upload a STEP model. I'll show you the 3D viewer and the feature table, answer the questions the tool asks, and the should-cost and band appear. Step two: a sheet-metal part with its DXF flat pattern, so you can see the measured blank replace the bounding box. Step three: I switch regions and show the twenty-country spread, with China against Germany.</a:t>
            </a:r>
          </a:p>
          <a:p/>
          <a:p>
            <a:r>
              <a:t>Step four: I'll open the self-audit, so you can see what the tool checked and what it flagged. Step five: I'll paste in a supplier quote and generate the negotiation pack. Step six: I'll export Excel and PDF, show that the totals match the screen to the penny, and log an actual price.</a:t>
            </a:r>
          </a:p>
          <a:p/>
          <a:p>
            <a:r>
              <a:t>The whole demo runs on the laptop, offline.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bring it home: a CAD file goes in, and a traceable should-cost comes out. It's measured, it's explainable, it runs offline, and it's ours. And we're honest about what isn't proven yet.</a:t>
            </a:r>
          </a:p>
          <a:p/>
          <a:p>
            <a:r>
              <a:t>I'm asking for three small decisions. First, approve a six-week pilot on the laptop package, and let us log our historic actual prices. Second, pick a first part family, either a CAD part or a live RFQ. Third, compare the tool's estimates with prices we actually paid. That will be the first real accuracy measure, and I'd rather we find it out together than have me claim it today.</a:t>
            </a:r>
          </a:p>
          <a:p/>
          <a:p>
            <a:r>
              <a:t>Thank you. I'm happy to take questions, or we can open the live system now and cost one of our own parts.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what the tool actually captures, and where each fact comes from.</a:t>
            </a:r>
          </a:p>
          <a:p/>
          <a:p>
            <a:r>
              <a:t>The geometry engine measures volume, weight, size, wall thickness and draft. That's measured, not estimated. It finds holes, pockets, slots, bosses and bends, and each one becomes a machining step with its own cost line.</a:t>
            </a:r>
          </a:p>
          <a:p/>
          <a:p>
            <a:r>
              <a:t>Number three is the most important point. When the geometry can't decide something, the tool asks. The process route, the material family, a hole count on an STL file: the engineer answers, and the tool doesn't guess.</a:t>
            </a:r>
          </a:p>
          <a:p/>
          <a:p>
            <a:r>
              <a:t>For PCBs, the board type, size and layer count set the fab price. For sheet metal, a DXF flat pattern gives us the real blank size. And every value traces back to its source.</a:t>
            </a:r>
          </a:p>
          <a:p/>
          <a:p>
            <a:r>
              <a:t>The golden rule sits on the right. AI never sets a price, and in the JLR build it's switched off entirely.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6000"/>
            </a:srgbClr>
          </a:solidFill>
          <a:ln/>
        </p:spPr>
        <p:txBody>
          <a:bodyPr/>
          <a:p/>
        </p:txBody>
      </p:sp>
      <p:sp>
        <p:nvSpPr>
          <p:cNvPr id="5" name="Shape 2"/>
          <p:cNvSpPr/>
          <p:nvPr/>
        </p:nvSpPr>
        <p:spPr>
          <a:xfrm>
            <a:off x="0" y="4572000"/>
            <a:ext cx="12191695" cy="2286000"/>
          </a:xfrm>
          <a:prstGeom prst="rect">
            <a:avLst/>
          </a:prstGeom>
          <a:solidFill>
            <a:srgbClr val="061024">
              <a:alpha val="70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2563EB"/>
          </a:solidFill>
          <a:ln/>
        </p:spPr>
        <p:txBody>
          <a:bodyPr/>
          <a:p/>
        </p:txBody>
      </p:sp>
      <p:sp>
        <p:nvSpPr>
          <p:cNvPr id="8" name="Shape 5"/>
          <p:cNvSpPr/>
          <p:nvPr/>
        </p:nvSpPr>
        <p:spPr>
          <a:xfrm>
            <a:off x="822960" y="731520"/>
            <a:ext cx="566928" cy="566928"/>
          </a:xfrm>
          <a:prstGeom prst="roundRect">
            <a:avLst>
              <a:gd name="adj" fmla="val 22581"/>
            </a:avLst>
          </a:prstGeom>
          <a:solidFill>
            <a:srgbClr val="4F46E5"/>
          </a:solidFill>
          <a:ln/>
        </p:spPr>
        <p:txBody>
          <a:bodyPr/>
          <a:p/>
        </p:txBody>
      </p:sp>
      <p:sp>
        <p:nvSpPr>
          <p:cNvPr id="9" name="Text 6"/>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10" name="Text 7"/>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11" name="Text 8"/>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SHOULD-COST  PLATFORM</a:t>
            </a:r>
            <a:endParaRPr lang="en-US" sz="950" dirty="0"/>
          </a:p>
        </p:txBody>
      </p:sp>
      <p:sp>
        <p:nvSpPr>
          <p:cNvPr id="12" name="Text 9"/>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3" name="Text 10"/>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What a part should cost — and why</a:t>
            </a:r>
            <a:endParaRPr lang="en-US" sz="2300" dirty="0"/>
          </a:p>
        </p:txBody>
      </p:sp>
      <p:sp>
        <p:nvSpPr>
          <p:cNvPr id="14" name="Text 11"/>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file or the inputs an engineer types — to a traceable should-cost,</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built on real 2026 rates. It runs on a laptop with no internet and no AI.</a:t>
            </a:r>
            <a:endParaRPr lang="en-US" sz="1500" dirty="0"/>
          </a:p>
        </p:txBody>
      </p:sp>
      <p:sp>
        <p:nvSpPr>
          <p:cNvPr id="15" name="Shape 12"/>
          <p:cNvSpPr/>
          <p:nvPr/>
        </p:nvSpPr>
        <p:spPr>
          <a:xfrm>
            <a:off x="822960" y="5029200"/>
            <a:ext cx="2542032" cy="457200"/>
          </a:xfrm>
          <a:prstGeom prst="roundRect">
            <a:avLst>
              <a:gd name="adj" fmla="val 50000"/>
            </a:avLst>
          </a:prstGeom>
          <a:solidFill>
            <a:srgbClr val="FFFFFF">
              <a:alpha val="92000"/>
            </a:srgbClr>
          </a:solidFill>
          <a:ln/>
        </p:spPr>
        <p:txBody>
          <a:bodyPr/>
          <a:p/>
        </p:txBody>
      </p:sp>
      <p:sp>
        <p:nvSpPr>
          <p:cNvPr id="16" name="Shape 13"/>
          <p:cNvSpPr/>
          <p:nvPr/>
        </p:nvSpPr>
        <p:spPr>
          <a:xfrm>
            <a:off x="1024128" y="5166360"/>
            <a:ext cx="182880" cy="182880"/>
          </a:xfrm>
          <a:prstGeom prst="ellipse">
            <a:avLst/>
          </a:prstGeom>
          <a:solidFill>
            <a:srgbClr val="2E90FA"/>
          </a:solidFill>
          <a:ln/>
        </p:spPr>
        <p:txBody>
          <a:bodyPr/>
          <a:p/>
        </p:txBody>
      </p:sp>
      <p:sp>
        <p:nvSpPr>
          <p:cNvPr id="17" name="Text 14"/>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8" name="Shape 15"/>
          <p:cNvSpPr/>
          <p:nvPr/>
        </p:nvSpPr>
        <p:spPr>
          <a:xfrm>
            <a:off x="3566160" y="5029200"/>
            <a:ext cx="2542032" cy="457200"/>
          </a:xfrm>
          <a:prstGeom prst="roundRect">
            <a:avLst>
              <a:gd name="adj" fmla="val 50000"/>
            </a:avLst>
          </a:prstGeom>
          <a:solidFill>
            <a:srgbClr val="FFFFFF">
              <a:alpha val="92000"/>
            </a:srgbClr>
          </a:solidFill>
          <a:ln/>
        </p:spPr>
        <p:txBody>
          <a:bodyPr/>
          <a:p/>
        </p:txBody>
      </p:sp>
      <p:sp>
        <p:nvSpPr>
          <p:cNvPr id="19" name="Shape 16"/>
          <p:cNvSpPr/>
          <p:nvPr/>
        </p:nvSpPr>
        <p:spPr>
          <a:xfrm>
            <a:off x="3767328" y="5166360"/>
            <a:ext cx="182880" cy="182880"/>
          </a:xfrm>
          <a:prstGeom prst="ellipse">
            <a:avLst/>
          </a:prstGeom>
          <a:solidFill>
            <a:srgbClr val="0E93B0"/>
          </a:solidFill>
          <a:ln/>
        </p:spPr>
        <p:txBody>
          <a:bodyPr/>
          <a:p/>
        </p:txBody>
      </p:sp>
      <p:sp>
        <p:nvSpPr>
          <p:cNvPr id="20" name="Text 17"/>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fab + PCBA</a:t>
            </a:r>
            <a:endParaRPr lang="en-US" sz="1200" dirty="0"/>
          </a:p>
        </p:txBody>
      </p:sp>
      <p:sp>
        <p:nvSpPr>
          <p:cNvPr id="21" name="Shape 18"/>
          <p:cNvSpPr/>
          <p:nvPr/>
        </p:nvSpPr>
        <p:spPr>
          <a:xfrm>
            <a:off x="6309360" y="5029200"/>
            <a:ext cx="2542032" cy="457200"/>
          </a:xfrm>
          <a:prstGeom prst="roundRect">
            <a:avLst>
              <a:gd name="adj" fmla="val 50000"/>
            </a:avLst>
          </a:prstGeom>
          <a:solidFill>
            <a:srgbClr val="FFFFFF">
              <a:alpha val="92000"/>
            </a:srgbClr>
          </a:solidFill>
          <a:ln/>
        </p:spPr>
        <p:txBody>
          <a:bodyPr/>
          <a:p/>
        </p:txBody>
      </p:sp>
      <p:sp>
        <p:nvSpPr>
          <p:cNvPr id="22" name="Shape 19"/>
          <p:cNvSpPr/>
          <p:nvPr/>
        </p:nvSpPr>
        <p:spPr>
          <a:xfrm>
            <a:off x="6510528" y="5166360"/>
            <a:ext cx="182880" cy="182880"/>
          </a:xfrm>
          <a:prstGeom prst="ellipse">
            <a:avLst/>
          </a:prstGeom>
          <a:solidFill>
            <a:srgbClr val="E0900C"/>
          </a:solidFill>
          <a:ln/>
        </p:spPr>
        <p:txBody>
          <a:bodyPr/>
          <a:p/>
        </p:txBody>
      </p:sp>
      <p:sp>
        <p:nvSpPr>
          <p:cNvPr id="23" name="Text 20"/>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Processes</a:t>
            </a:r>
            <a:endParaRPr lang="en-US" sz="1200" dirty="0"/>
          </a:p>
        </p:txBody>
      </p:sp>
      <p:sp>
        <p:nvSpPr>
          <p:cNvPr id="24" name="Shape 21"/>
          <p:cNvSpPr/>
          <p:nvPr/>
        </p:nvSpPr>
        <p:spPr>
          <a:xfrm>
            <a:off x="9052560" y="5029200"/>
            <a:ext cx="2542032" cy="457200"/>
          </a:xfrm>
          <a:prstGeom prst="roundRect">
            <a:avLst>
              <a:gd name="adj" fmla="val 50000"/>
            </a:avLst>
          </a:prstGeom>
          <a:solidFill>
            <a:srgbClr val="FFFFFF">
              <a:alpha val="92000"/>
            </a:srgbClr>
          </a:solidFill>
          <a:ln/>
        </p:spPr>
        <p:txBody>
          <a:bodyPr/>
          <a:p/>
        </p:txBody>
      </p:sp>
      <p:sp>
        <p:nvSpPr>
          <p:cNvPr id="25" name="Shape 22"/>
          <p:cNvSpPr/>
          <p:nvPr/>
        </p:nvSpPr>
        <p:spPr>
          <a:xfrm>
            <a:off x="9253728" y="5166360"/>
            <a:ext cx="182880" cy="182880"/>
          </a:xfrm>
          <a:prstGeom prst="ellipse">
            <a:avLst/>
          </a:prstGeom>
          <a:solidFill>
            <a:srgbClr val="0EA472"/>
          </a:solidFill>
          <a:ln/>
        </p:spPr>
        <p:txBody>
          <a:bodyPr/>
          <a:p/>
        </p:txBody>
      </p:sp>
      <p:sp>
        <p:nvSpPr>
          <p:cNvPr id="26" name="Text 23"/>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20 Regions</a:t>
            </a:r>
            <a:endParaRPr lang="en-US" sz="1200" dirty="0"/>
          </a:p>
        </p:txBody>
      </p:sp>
      <p:sp>
        <p:nvSpPr>
          <p:cNvPr id="27" name="Text 24"/>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September 2026   ·   Version V4.2   ·   AI switched off in the JLR build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txBody>
          <a:bodyPr/>
          <a:p/>
        </p:txBody>
      </p:sp>
      <p:sp>
        <p:nvSpPr>
          <p:cNvPr id="11" name="Shape 9"/>
          <p:cNvSpPr/>
          <p:nvPr/>
        </p:nvSpPr>
        <p:spPr>
          <a:xfrm>
            <a:off x="548640" y="1600200"/>
            <a:ext cx="82296" cy="1371600"/>
          </a:xfrm>
          <a:prstGeom prst="rect">
            <a:avLst/>
          </a:prstGeom>
          <a:solidFill>
            <a:srgbClr val="2563EB"/>
          </a:solidFill>
          <a:ln/>
        </p:spPr>
        <p:txBody>
          <a:bodyPr/>
          <a:p/>
        </p:txBody>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2600" b="1" dirty="0">
                <a:solidFill>
                  <a:srgbClr val="2563EB"/>
                </a:solidFill>
                <a:latin typeface="Calibri" pitchFamily="34" charset="0"/>
                <a:ea typeface="Calibri" pitchFamily="34" charset="-122"/>
                <a:cs typeface="Calibri" pitchFamily="34" charset="-120"/>
              </a:rPr>
              <a:t>8</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cost buckets, each traced to a rate</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txBody>
          <a:bodyPr/>
          <a:p/>
        </p:txBody>
      </p:sp>
      <p:sp>
        <p:nvSpPr>
          <p:cNvPr id="15" name="Shape 13"/>
          <p:cNvSpPr/>
          <p:nvPr/>
        </p:nvSpPr>
        <p:spPr>
          <a:xfrm>
            <a:off x="2724912" y="1600200"/>
            <a:ext cx="82296" cy="1371600"/>
          </a:xfrm>
          <a:prstGeom prst="rect">
            <a:avLst/>
          </a:prstGeom>
          <a:solidFill>
            <a:srgbClr val="E0900C"/>
          </a:solidFill>
          <a:ln/>
        </p:spPr>
        <p:txBody>
          <a:bodyPr/>
          <a:p/>
        </p:txBody>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processes, plus assembly roll-up</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txBody>
          <a:bodyPr/>
          <a:p/>
        </p:txBody>
      </p:sp>
      <p:sp>
        <p:nvSpPr>
          <p:cNvPr id="19" name="Shape 17"/>
          <p:cNvSpPr/>
          <p:nvPr/>
        </p:nvSpPr>
        <p:spPr>
          <a:xfrm>
            <a:off x="4901184" y="1600200"/>
            <a:ext cx="82296" cy="1371600"/>
          </a:xfrm>
          <a:prstGeom prst="rect">
            <a:avLst/>
          </a:prstGeom>
          <a:solidFill>
            <a:srgbClr val="0DA5A0"/>
          </a:solidFill>
          <a:ln/>
        </p:spPr>
        <p:txBody>
          <a:bodyPr/>
          <a:p/>
        </p:txBody>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2026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txBody>
          <a:bodyPr/>
          <a:p/>
        </p:txBody>
      </p:sp>
      <p:sp>
        <p:nvSpPr>
          <p:cNvPr id="23" name="Shape 21"/>
          <p:cNvSpPr/>
          <p:nvPr/>
        </p:nvSpPr>
        <p:spPr>
          <a:xfrm>
            <a:off x="7077456" y="1600200"/>
            <a:ext cx="82296" cy="1371600"/>
          </a:xfrm>
          <a:prstGeom prst="rect">
            <a:avLst/>
          </a:prstGeom>
          <a:solidFill>
            <a:srgbClr val="0EA472"/>
          </a:solidFill>
          <a:ln/>
        </p:spPr>
        <p:txBody>
          <a:bodyPr/>
          <a:p/>
        </p:txBody>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13</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processes costed straight from CAD</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txBody>
          <a:bodyPr/>
          <a:p/>
        </p:txBody>
      </p:sp>
      <p:sp>
        <p:nvSpPr>
          <p:cNvPr id="27" name="Shape 25"/>
          <p:cNvSpPr/>
          <p:nvPr/>
        </p:nvSpPr>
        <p:spPr>
          <a:xfrm>
            <a:off x="9253728" y="1600200"/>
            <a:ext cx="82296" cy="1371600"/>
          </a:xfrm>
          <a:prstGeom prst="rect">
            <a:avLst/>
          </a:prstGeom>
          <a:solidFill>
            <a:srgbClr val="E5484D"/>
          </a:solidFill>
          <a:ln/>
        </p:spPr>
        <p:txBody>
          <a:bodyPr/>
          <a:p/>
        </p:txBody>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2600" b="1" dirty="0">
                <a:solidFill>
                  <a:srgbClr val="E5484D"/>
                </a:solidFill>
                <a:latin typeface="Calibri" pitchFamily="34" charset="0"/>
                <a:ea typeface="Calibri" pitchFamily="34" charset="-122"/>
                <a:cs typeface="Calibri" pitchFamily="34" charset="-120"/>
              </a:rPr>
              <a:t>0</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JLR-paid prices compared so far</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txBody>
          <a:bodyPr/>
          <a:p/>
        </p:txBody>
      </p:sp>
      <p:sp>
        <p:nvSpPr>
          <p:cNvPr id="31" name="Shape 29"/>
          <p:cNvSpPr/>
          <p:nvPr/>
        </p:nvSpPr>
        <p:spPr>
          <a:xfrm>
            <a:off x="548640" y="3200400"/>
            <a:ext cx="82296" cy="868680"/>
          </a:xfrm>
          <a:prstGeom prst="rect">
            <a:avLst/>
          </a:prstGeom>
          <a:solidFill>
            <a:srgbClr val="4F46E5"/>
          </a:solidFill>
          <a:ln/>
        </p:spPr>
        <p:txBody>
          <a:bodyPr/>
          <a:p/>
        </p:txBody>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tool that turns a CAD file or typed inputs into a traceable should-cost, prices it across 20 regions, and builds the negotiation pack. The tool measures, calculates and asks. It never guesses a price — and AI is switched off at JLR.</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txBody>
          <a:bodyPr/>
          <a:p/>
        </p:txBody>
      </p:sp>
      <p:sp>
        <p:nvSpPr>
          <p:cNvPr id="34" name="Shape 32"/>
          <p:cNvSpPr/>
          <p:nvPr/>
        </p:nvSpPr>
        <p:spPr>
          <a:xfrm>
            <a:off x="548640" y="4297680"/>
            <a:ext cx="82296" cy="1280160"/>
          </a:xfrm>
          <a:prstGeom prst="rect">
            <a:avLst/>
          </a:prstGeom>
          <a:solidFill>
            <a:srgbClr val="2563EB"/>
          </a:solidFill>
          <a:ln/>
        </p:spPr>
        <p:txBody>
          <a:bodyPr/>
          <a:p/>
        </p:txBody>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processes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txBody>
          <a:bodyPr/>
          <a:p/>
        </p:txBody>
      </p:sp>
      <p:sp>
        <p:nvSpPr>
          <p:cNvPr id="38" name="Shape 36"/>
          <p:cNvSpPr/>
          <p:nvPr/>
        </p:nvSpPr>
        <p:spPr>
          <a:xfrm>
            <a:off x="3319272" y="4297680"/>
            <a:ext cx="82296" cy="1280160"/>
          </a:xfrm>
          <a:prstGeom prst="rect">
            <a:avLst/>
          </a:prstGeom>
          <a:solidFill>
            <a:srgbClr val="7C3AED"/>
          </a:solidFill>
          <a:ln/>
        </p:spPr>
        <p:txBody>
          <a:bodyPr/>
          <a:p/>
        </p:txBody>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viewer · features · self-audit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txBody>
          <a:bodyPr/>
          <a:p/>
        </p:txBody>
      </p:sp>
      <p:sp>
        <p:nvSpPr>
          <p:cNvPr id="42" name="Shape 40"/>
          <p:cNvSpPr/>
          <p:nvPr/>
        </p:nvSpPr>
        <p:spPr>
          <a:xfrm>
            <a:off x="6089904" y="4297680"/>
            <a:ext cx="82296" cy="1280160"/>
          </a:xfrm>
          <a:prstGeom prst="rect">
            <a:avLst/>
          </a:prstGeom>
          <a:solidFill>
            <a:srgbClr val="0DA5A0"/>
          </a:solidFill>
          <a:ln/>
        </p:spPr>
        <p:txBody>
          <a:bodyPr/>
          <a:p/>
        </p:txBody>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quote teardown · 20 regions</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txBody>
          <a:bodyPr/>
          <a:p/>
        </p:txBody>
      </p:sp>
      <p:sp>
        <p:nvSpPr>
          <p:cNvPr id="46" name="Shape 44"/>
          <p:cNvSpPr/>
          <p:nvPr/>
        </p:nvSpPr>
        <p:spPr>
          <a:xfrm>
            <a:off x="8860536" y="4297680"/>
            <a:ext cx="82296" cy="1280160"/>
          </a:xfrm>
          <a:prstGeom prst="rect">
            <a:avLst/>
          </a:prstGeom>
          <a:solidFill>
            <a:srgbClr val="0EA472"/>
          </a:solidFill>
          <a:ln/>
        </p:spPr>
        <p:txBody>
          <a:bodyPr/>
          <a:p/>
        </p:txBody>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log actuals · audit trail · offline</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txBody>
          <a:bodyPr/>
          <a:p/>
        </p:txBody>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one consistent, traceable number on our own rates. The arithmetic is proven; accuracy against prices JLR paid is still to be measured.</a:t>
            </a:r>
            <a:endParaRPr lang="en-US" sz="1150" dirty="0"/>
          </a:p>
        </p:txBody>
      </p:sp>
      <p:sp>
        <p:nvSpPr>
          <p:cNvPr id="51" name="Shape 49"/>
          <p:cNvSpPr/>
          <p:nvPr/>
        </p:nvSpPr>
        <p:spPr>
          <a:xfrm>
            <a:off x="548640" y="6400800"/>
            <a:ext cx="11094415" cy="12802"/>
          </a:xfrm>
          <a:prstGeom prst="rect">
            <a:avLst/>
          </a:prstGeom>
          <a:solidFill>
            <a:srgbClr val="E4EAF2"/>
          </a:solidFill>
          <a:ln/>
        </p:spPr>
        <p:txBody>
          <a:bodyPr/>
          <a:p/>
        </p:txBody>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txBody>
          <a:bodyPr/>
          <a:p/>
        </p:txBody>
      </p:sp>
      <p:sp>
        <p:nvSpPr>
          <p:cNvPr id="11" name="Shape 9"/>
          <p:cNvSpPr/>
          <p:nvPr/>
        </p:nvSpPr>
        <p:spPr>
          <a:xfrm>
            <a:off x="548640" y="1600200"/>
            <a:ext cx="82296" cy="1234440"/>
          </a:xfrm>
          <a:prstGeom prst="rect">
            <a:avLst/>
          </a:prstGeom>
          <a:solidFill>
            <a:srgbClr val="4F46E5"/>
          </a:solidFill>
          <a:ln/>
        </p:spPr>
        <p:txBody>
          <a:bodyPr/>
          <a:p/>
        </p:txBody>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do careful, bottom-up should-costing. Much of it is manual: every input is keyed in by hand from the CAD and drawings. CostVision keeps the same method. It measures the CAD, asks the engineer what the geometry cannot tell it, and runs every part on one versioned rate library. Same defensible number, with less keying.</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txBody>
          <a:bodyPr/>
          <a:p/>
        </p:txBody>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txBody>
          <a:bodyPr/>
          <a:p/>
        </p:txBody>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measured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txBody>
          <a:bodyPr/>
          <a:p/>
        </p:txBody>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txBody>
          <a:bodyPr/>
          <a:p/>
        </p:txBody>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txBody>
          <a:bodyPr/>
          <a:p/>
        </p:txBody>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txBody>
          <a:bodyPr/>
          <a:p/>
        </p:txBody>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and checks</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txBody>
          <a:bodyPr/>
          <a:p/>
        </p:txBody>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txBody>
          <a:bodyPr/>
          <a:p/>
        </p:txBody>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Electronics — PCB fab and PCBA</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txBody>
          <a:bodyPr/>
          <a:p/>
        </p:txBody>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txBody>
          <a:bodyPr/>
          <a:p/>
        </p:txBody>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processes, rates, regions</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txBody>
          <a:bodyPr/>
          <a:p/>
        </p:txBody>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txBody>
          <a:bodyPr/>
          <a:p/>
        </p:txBody>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txBody>
          <a:bodyPr/>
          <a:p/>
        </p:txBody>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txBody>
          <a:bodyPr/>
          <a:p/>
        </p:txBody>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Learning from actual prices</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txBody>
          <a:bodyPr/>
          <a:p/>
        </p:txBody>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txBody>
          <a:bodyPr/>
          <a:p/>
        </p:txBody>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testing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txBody>
          <a:bodyPr/>
          <a:p/>
        </p:txBody>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txBody>
          <a:bodyPr/>
          <a:p/>
        </p:txBody>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txBody>
          <a:bodyPr/>
          <a:p/>
        </p:txBody>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measured</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careful should-costing. CostVision keeps that method and takes out the hand work.</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txBody>
          <a:bodyPr/>
          <a:p/>
        </p:txBody>
      </p:sp>
      <p:sp>
        <p:nvSpPr>
          <p:cNvPr id="12" name="Shape 10"/>
          <p:cNvSpPr/>
          <p:nvPr/>
        </p:nvSpPr>
        <p:spPr>
          <a:xfrm>
            <a:off x="548640" y="2057400"/>
            <a:ext cx="5349240" cy="457200"/>
          </a:xfrm>
          <a:prstGeom prst="rect">
            <a:avLst/>
          </a:prstGeom>
          <a:solidFill>
            <a:srgbClr val="FEF6E7"/>
          </a:solidFill>
          <a:ln/>
        </p:spPr>
        <p:txBody>
          <a:bodyPr/>
          <a:p/>
        </p:txBody>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txBody>
          <a:bodyPr/>
          <a:p/>
        </p:txBody>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txBody>
          <a:bodyPr/>
          <a:p/>
        </p:txBody>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txBody>
          <a:bodyPr/>
          <a:p/>
        </p:txBody>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txBody>
          <a:bodyPr/>
          <a:p/>
        </p:txBody>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txBody>
          <a:bodyPr/>
          <a:p/>
        </p:txBody>
      </p:sp>
      <p:sp>
        <p:nvSpPr>
          <p:cNvPr id="31" name="Shape 29"/>
          <p:cNvSpPr/>
          <p:nvPr/>
        </p:nvSpPr>
        <p:spPr>
          <a:xfrm>
            <a:off x="6291072" y="2057400"/>
            <a:ext cx="5349240" cy="457200"/>
          </a:xfrm>
          <a:prstGeom prst="rect">
            <a:avLst/>
          </a:prstGeom>
          <a:solidFill>
            <a:srgbClr val="E7F7F0"/>
          </a:solidFill>
          <a:ln/>
        </p:spPr>
        <p:txBody>
          <a:bodyPr/>
          <a:p/>
        </p:txBody>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measured, then checked</a:t>
            </a:r>
            <a:endParaRPr lang="en-US" sz="1300" dirty="0"/>
          </a:p>
        </p:txBody>
      </p:sp>
      <p:sp>
        <p:nvSpPr>
          <p:cNvPr id="33" name="Shape 31"/>
          <p:cNvSpPr/>
          <p:nvPr/>
        </p:nvSpPr>
        <p:spPr>
          <a:xfrm>
            <a:off x="6547104" y="2679192"/>
            <a:ext cx="329184" cy="329184"/>
          </a:xfrm>
          <a:prstGeom prst="ellipse">
            <a:avLst/>
          </a:prstGeom>
          <a:solidFill>
            <a:srgbClr val="E7F7F0"/>
          </a:solidFill>
          <a:ln/>
        </p:spPr>
        <p:txBody>
          <a:bodyPr/>
          <a:p/>
        </p:txBody>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method, less keying</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same bottom-up method — the hand work removed</a:t>
            </a:r>
            <a:endParaRPr lang="en-US" sz="1000" dirty="0"/>
          </a:p>
        </p:txBody>
      </p:sp>
      <p:sp>
        <p:nvSpPr>
          <p:cNvPr id="37" name="Shape 35"/>
          <p:cNvSpPr/>
          <p:nvPr/>
        </p:nvSpPr>
        <p:spPr>
          <a:xfrm>
            <a:off x="6547104" y="3337560"/>
            <a:ext cx="329184" cy="329184"/>
          </a:xfrm>
          <a:prstGeom prst="ellipse">
            <a:avLst/>
          </a:prstGeom>
          <a:solidFill>
            <a:srgbClr val="E7F7F0"/>
          </a:solidFill>
          <a:ln/>
        </p:spPr>
        <p:txBody>
          <a:bodyPr/>
          <a:p/>
        </p:txBody>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Measures the CAD</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volume, weight, walls, holes and features measured</a:t>
            </a:r>
            <a:endParaRPr lang="en-US" sz="1000" dirty="0"/>
          </a:p>
        </p:txBody>
      </p:sp>
      <p:sp>
        <p:nvSpPr>
          <p:cNvPr id="41" name="Shape 39"/>
          <p:cNvSpPr/>
          <p:nvPr/>
        </p:nvSpPr>
        <p:spPr>
          <a:xfrm>
            <a:off x="6547104" y="3995928"/>
            <a:ext cx="329184" cy="329184"/>
          </a:xfrm>
          <a:prstGeom prst="ellipse">
            <a:avLst/>
          </a:prstGeom>
          <a:solidFill>
            <a:srgbClr val="E7F7F0"/>
          </a:solidFill>
          <a:ln/>
        </p:spPr>
        <p:txBody>
          <a:bodyPr/>
          <a:p/>
        </p:txBody>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Asks, never guesses</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where geometry can't decide, it asks the engineer</a:t>
            </a:r>
            <a:endParaRPr lang="en-US" sz="1000" dirty="0"/>
          </a:p>
        </p:txBody>
      </p:sp>
      <p:sp>
        <p:nvSpPr>
          <p:cNvPr id="45" name="Shape 43"/>
          <p:cNvSpPr/>
          <p:nvPr/>
        </p:nvSpPr>
        <p:spPr>
          <a:xfrm>
            <a:off x="6547104" y="4654296"/>
            <a:ext cx="329184" cy="329184"/>
          </a:xfrm>
          <a:prstGeom prst="ellipse">
            <a:avLst/>
          </a:prstGeom>
          <a:solidFill>
            <a:srgbClr val="E7F7F0"/>
          </a:solidFill>
          <a:ln/>
        </p:spPr>
        <p:txBody>
          <a:bodyPr/>
          <a:p/>
        </p:txBody>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versioned rate library</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load new rates once — every part re-prices</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txBody>
          <a:bodyPr/>
          <a:p/>
        </p:txBody>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less data entry — so our experts spend their time on judgement, not keying.</a:t>
            </a:r>
            <a:endParaRPr lang="en-US" sz="1200" dirty="0"/>
          </a:p>
        </p:txBody>
      </p:sp>
      <p:sp>
        <p:nvSpPr>
          <p:cNvPr id="52" name="Shape 50"/>
          <p:cNvSpPr/>
          <p:nvPr/>
        </p:nvSpPr>
        <p:spPr>
          <a:xfrm>
            <a:off x="548640" y="6400800"/>
            <a:ext cx="11094415" cy="12802"/>
          </a:xfrm>
          <a:prstGeom prst="rect">
            <a:avLst/>
          </a:prstGeom>
          <a:solidFill>
            <a:srgbClr val="E4EAF2"/>
          </a:solidFill>
          <a:ln/>
        </p:spPr>
        <p:txBody>
          <a:bodyPr/>
          <a:p/>
        </p:txBody>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Engineering input → the tool measures it and asks what it can't tell → fixed rules price it → a traceable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txBody>
          <a:bodyPr/>
          <a:p/>
        </p:txBody>
      </p:sp>
      <p:sp>
        <p:nvSpPr>
          <p:cNvPr id="12" name="Shape 10"/>
          <p:cNvSpPr/>
          <p:nvPr/>
        </p:nvSpPr>
        <p:spPr>
          <a:xfrm>
            <a:off x="548640" y="2103120"/>
            <a:ext cx="82296" cy="3291840"/>
          </a:xfrm>
          <a:prstGeom prst="rect">
            <a:avLst/>
          </a:prstGeom>
          <a:solidFill>
            <a:srgbClr val="2E90FA"/>
          </a:solidFill>
          <a:ln/>
        </p:spPr>
        <p:txBody>
          <a:bodyPr/>
          <a:p/>
        </p:txBody>
      </p:sp>
      <p:sp>
        <p:nvSpPr>
          <p:cNvPr id="13" name="Shape 11"/>
          <p:cNvSpPr/>
          <p:nvPr/>
        </p:nvSpPr>
        <p:spPr>
          <a:xfrm>
            <a:off x="804672" y="2359152"/>
            <a:ext cx="457200" cy="457200"/>
          </a:xfrm>
          <a:prstGeom prst="ellipse">
            <a:avLst/>
          </a:prstGeom>
          <a:solidFill>
            <a:srgbClr val="F4F7FB"/>
          </a:solidFill>
          <a:ln/>
        </p:spPr>
        <p:txBody>
          <a:bodyPr/>
          <a:p/>
        </p:txBody>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txBody>
          <a:bodyPr/>
          <a:p/>
        </p:txBody>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(STEP · IGES · STL)</a:t>
            </a:r>
            <a:endParaRPr lang="en-US" sz="980" dirty="0"/>
          </a:p>
        </p:txBody>
      </p:sp>
      <p:sp>
        <p:nvSpPr>
          <p:cNvPr id="18" name="Shape 16"/>
          <p:cNvSpPr/>
          <p:nvPr/>
        </p:nvSpPr>
        <p:spPr>
          <a:xfrm>
            <a:off x="822960" y="3547872"/>
            <a:ext cx="82296" cy="82296"/>
          </a:xfrm>
          <a:prstGeom prst="ellipse">
            <a:avLst/>
          </a:prstGeom>
          <a:solidFill>
            <a:srgbClr val="2E90FA"/>
          </a:solidFill>
          <a:ln/>
        </p:spPr>
        <p:txBody>
          <a:bodyPr/>
          <a:p/>
        </p:txBody>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Typed inputs per process</a:t>
            </a:r>
            <a:endParaRPr lang="en-US" sz="980" dirty="0"/>
          </a:p>
        </p:txBody>
      </p:sp>
      <p:sp>
        <p:nvSpPr>
          <p:cNvPr id="20" name="Shape 18"/>
          <p:cNvSpPr/>
          <p:nvPr/>
        </p:nvSpPr>
        <p:spPr>
          <a:xfrm>
            <a:off x="822960" y="3986784"/>
            <a:ext cx="82296" cy="82296"/>
          </a:xfrm>
          <a:prstGeom prst="ellipse">
            <a:avLst/>
          </a:prstGeom>
          <a:solidFill>
            <a:srgbClr val="2E90FA"/>
          </a:solidFill>
          <a:ln/>
        </p:spPr>
        <p:txBody>
          <a:bodyPr/>
          <a:p/>
        </p:txBody>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DXF flat pattern (sheet)</a:t>
            </a:r>
            <a:endParaRPr lang="en-US" sz="980" dirty="0"/>
          </a:p>
        </p:txBody>
      </p:sp>
      <p:sp>
        <p:nvSpPr>
          <p:cNvPr id="22" name="Shape 20"/>
          <p:cNvSpPr/>
          <p:nvPr/>
        </p:nvSpPr>
        <p:spPr>
          <a:xfrm>
            <a:off x="822960" y="4425696"/>
            <a:ext cx="82296" cy="82296"/>
          </a:xfrm>
          <a:prstGeom prst="ellipse">
            <a:avLst/>
          </a:prstGeom>
          <a:solidFill>
            <a:srgbClr val="2E90FA"/>
          </a:solidFill>
          <a:ln/>
        </p:spPr>
        <p:txBody>
          <a:bodyPr/>
          <a:p/>
        </p:txBody>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Supplier quote to compare</a:t>
            </a:r>
            <a:endParaRPr lang="en-US" sz="980" dirty="0"/>
          </a:p>
        </p:txBody>
      </p:sp>
      <p:sp>
        <p:nvSpPr>
          <p:cNvPr id="24" name="Shape 22"/>
          <p:cNvSpPr/>
          <p:nvPr/>
        </p:nvSpPr>
        <p:spPr>
          <a:xfrm>
            <a:off x="822960" y="4864608"/>
            <a:ext cx="82296" cy="82296"/>
          </a:xfrm>
          <a:prstGeom prst="ellipse">
            <a:avLst/>
          </a:prstGeom>
          <a:solidFill>
            <a:srgbClr val="2E90FA"/>
          </a:solidFill>
          <a:ln/>
        </p:spPr>
        <p:txBody>
          <a:bodyPr/>
          <a:p/>
        </p:txBody>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Region + annual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txBody>
          <a:bodyPr/>
          <a:p/>
        </p:txBody>
      </p:sp>
      <p:sp>
        <p:nvSpPr>
          <p:cNvPr id="28" name="Shape 26"/>
          <p:cNvSpPr/>
          <p:nvPr/>
        </p:nvSpPr>
        <p:spPr>
          <a:xfrm>
            <a:off x="3419856" y="2103120"/>
            <a:ext cx="82296" cy="3291840"/>
          </a:xfrm>
          <a:prstGeom prst="rect">
            <a:avLst/>
          </a:prstGeom>
          <a:solidFill>
            <a:srgbClr val="7C3AED"/>
          </a:solidFill>
          <a:ln/>
        </p:spPr>
        <p:txBody>
          <a:bodyPr/>
          <a:p/>
        </p:txBody>
      </p:sp>
      <p:sp>
        <p:nvSpPr>
          <p:cNvPr id="29" name="Shape 27"/>
          <p:cNvSpPr/>
          <p:nvPr/>
        </p:nvSpPr>
        <p:spPr>
          <a:xfrm>
            <a:off x="3675888" y="2359152"/>
            <a:ext cx="457200" cy="457200"/>
          </a:xfrm>
          <a:prstGeom prst="ellipse">
            <a:avLst/>
          </a:prstGeom>
          <a:solidFill>
            <a:srgbClr val="F3EEFE"/>
          </a:solidFill>
          <a:ln/>
        </p:spPr>
        <p:txBody>
          <a:bodyPr/>
          <a:p/>
        </p:txBody>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MEASURE &amp; ASK</a:t>
            </a:r>
            <a:endParaRPr lang="en-US" sz="1250" dirty="0"/>
          </a:p>
        </p:txBody>
      </p:sp>
      <p:sp>
        <p:nvSpPr>
          <p:cNvPr id="32" name="Shape 30"/>
          <p:cNvSpPr/>
          <p:nvPr/>
        </p:nvSpPr>
        <p:spPr>
          <a:xfrm>
            <a:off x="3694176" y="3108960"/>
            <a:ext cx="82296" cy="82296"/>
          </a:xfrm>
          <a:prstGeom prst="ellipse">
            <a:avLst/>
          </a:prstGeom>
          <a:solidFill>
            <a:srgbClr val="7C3AED"/>
          </a:solidFill>
          <a:ln/>
        </p:spPr>
        <p:txBody>
          <a:bodyPr/>
          <a:p/>
        </p:txBody>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Geometry engine (OpenCASCADE)</a:t>
            </a:r>
            <a:endParaRPr lang="en-US" sz="980" dirty="0"/>
          </a:p>
        </p:txBody>
      </p:sp>
      <p:sp>
        <p:nvSpPr>
          <p:cNvPr id="34" name="Shape 32"/>
          <p:cNvSpPr/>
          <p:nvPr/>
        </p:nvSpPr>
        <p:spPr>
          <a:xfrm>
            <a:off x="3694176" y="3547872"/>
            <a:ext cx="82296" cy="82296"/>
          </a:xfrm>
          <a:prstGeom prst="ellipse">
            <a:avLst/>
          </a:prstGeom>
          <a:solidFill>
            <a:srgbClr val="7C3AED"/>
          </a:solidFill>
          <a:ln/>
        </p:spPr>
        <p:txBody>
          <a:bodyPr/>
          <a:p/>
        </p:txBody>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Rules → cost inputs</a:t>
            </a:r>
            <a:endParaRPr lang="en-US" sz="980" dirty="0"/>
          </a:p>
        </p:txBody>
      </p:sp>
      <p:sp>
        <p:nvSpPr>
          <p:cNvPr id="36" name="Shape 34"/>
          <p:cNvSpPr/>
          <p:nvPr/>
        </p:nvSpPr>
        <p:spPr>
          <a:xfrm>
            <a:off x="3694176" y="3986784"/>
            <a:ext cx="82296" cy="82296"/>
          </a:xfrm>
          <a:prstGeom prst="ellipse">
            <a:avLst/>
          </a:prstGeom>
          <a:solidFill>
            <a:srgbClr val="7C3AED"/>
          </a:solidFill>
          <a:ln/>
        </p:spPr>
        <p:txBody>
          <a:bodyPr/>
          <a:p/>
        </p:txBody>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table: holes, pockets</a:t>
            </a:r>
            <a:endParaRPr lang="en-US" sz="980" dirty="0"/>
          </a:p>
        </p:txBody>
      </p:sp>
      <p:sp>
        <p:nvSpPr>
          <p:cNvPr id="38" name="Shape 36"/>
          <p:cNvSpPr/>
          <p:nvPr/>
        </p:nvSpPr>
        <p:spPr>
          <a:xfrm>
            <a:off x="3694176" y="4425696"/>
            <a:ext cx="82296" cy="82296"/>
          </a:xfrm>
          <a:prstGeom prst="ellipse">
            <a:avLst/>
          </a:prstGeom>
          <a:solidFill>
            <a:srgbClr val="7C3AED"/>
          </a:solidFill>
          <a:ln/>
        </p:spPr>
        <p:txBody>
          <a:bodyPr/>
          <a:p/>
        </p:txBody>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Questions for the engineer</a:t>
            </a:r>
            <a:endParaRPr lang="en-US" sz="980" dirty="0"/>
          </a:p>
        </p:txBody>
      </p:sp>
      <p:sp>
        <p:nvSpPr>
          <p:cNvPr id="40" name="Shape 38"/>
          <p:cNvSpPr/>
          <p:nvPr/>
        </p:nvSpPr>
        <p:spPr>
          <a:xfrm>
            <a:off x="3694176" y="4864608"/>
            <a:ext cx="82296" cy="82296"/>
          </a:xfrm>
          <a:prstGeom prst="ellipse">
            <a:avLst/>
          </a:prstGeom>
          <a:solidFill>
            <a:srgbClr val="7C3AED"/>
          </a:solidFill>
          <a:ln/>
        </p:spPr>
        <p:txBody>
          <a:bodyPr/>
          <a:p/>
        </p:txBody>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Optional AI — off at JLR</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txBody>
          <a:bodyPr/>
          <a:p/>
        </p:txBody>
      </p:sp>
      <p:sp>
        <p:nvSpPr>
          <p:cNvPr id="44" name="Shape 42"/>
          <p:cNvSpPr/>
          <p:nvPr/>
        </p:nvSpPr>
        <p:spPr>
          <a:xfrm>
            <a:off x="6291072" y="2103120"/>
            <a:ext cx="82296" cy="3291840"/>
          </a:xfrm>
          <a:prstGeom prst="rect">
            <a:avLst/>
          </a:prstGeom>
          <a:solidFill>
            <a:srgbClr val="0DA5A0"/>
          </a:solidFill>
          <a:ln/>
        </p:spPr>
        <p:txBody>
          <a:bodyPr/>
          <a:p/>
        </p:txBody>
      </p:sp>
      <p:sp>
        <p:nvSpPr>
          <p:cNvPr id="45" name="Shape 43"/>
          <p:cNvSpPr/>
          <p:nvPr/>
        </p:nvSpPr>
        <p:spPr>
          <a:xfrm>
            <a:off x="6547104" y="2359152"/>
            <a:ext cx="457200" cy="457200"/>
          </a:xfrm>
          <a:prstGeom prst="ellipse">
            <a:avLst/>
          </a:prstGeom>
          <a:solidFill>
            <a:srgbClr val="E7F7F0"/>
          </a:solidFill>
          <a:ln/>
        </p:spPr>
        <p:txBody>
          <a:bodyPr/>
          <a:p/>
        </p:txBody>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FIXED ARITHMETIC</a:t>
            </a:r>
            <a:endParaRPr lang="en-US" sz="1250" dirty="0"/>
          </a:p>
        </p:txBody>
      </p:sp>
      <p:sp>
        <p:nvSpPr>
          <p:cNvPr id="48" name="Shape 46"/>
          <p:cNvSpPr/>
          <p:nvPr/>
        </p:nvSpPr>
        <p:spPr>
          <a:xfrm>
            <a:off x="6565392" y="3108960"/>
            <a:ext cx="82296" cy="82296"/>
          </a:xfrm>
          <a:prstGeom prst="ellipse">
            <a:avLst/>
          </a:prstGeom>
          <a:solidFill>
            <a:srgbClr val="0DA5A0"/>
          </a:solidFill>
          <a:ln/>
        </p:spPr>
        <p:txBody>
          <a:bodyPr/>
          <a:p/>
        </p:txBody>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manufacturing processes</a:t>
            </a:r>
            <a:endParaRPr lang="en-US" sz="980" dirty="0"/>
          </a:p>
        </p:txBody>
      </p:sp>
      <p:sp>
        <p:nvSpPr>
          <p:cNvPr id="50" name="Shape 48"/>
          <p:cNvSpPr/>
          <p:nvPr/>
        </p:nvSpPr>
        <p:spPr>
          <a:xfrm>
            <a:off x="6565392" y="3547872"/>
            <a:ext cx="82296" cy="82296"/>
          </a:xfrm>
          <a:prstGeom prst="ellipse">
            <a:avLst/>
          </a:prstGeom>
          <a:solidFill>
            <a:srgbClr val="0DA5A0"/>
          </a:solidFill>
          <a:ln/>
        </p:spPr>
        <p:txBody>
          <a:bodyPr/>
          <a:p/>
        </p:txBody>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txBody>
          <a:bodyPr/>
          <a:p/>
        </p:txBody>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txBody>
          <a:bodyPr/>
          <a:p/>
        </p:txBody>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tooling spread</a:t>
            </a:r>
            <a:endParaRPr lang="en-US" sz="980" dirty="0"/>
          </a:p>
        </p:txBody>
      </p:sp>
      <p:sp>
        <p:nvSpPr>
          <p:cNvPr id="56" name="Shape 54"/>
          <p:cNvSpPr/>
          <p:nvPr/>
        </p:nvSpPr>
        <p:spPr>
          <a:xfrm>
            <a:off x="6565392" y="4864608"/>
            <a:ext cx="82296" cy="82296"/>
          </a:xfrm>
          <a:prstGeom prst="ellipse">
            <a:avLst/>
          </a:prstGeom>
          <a:solidFill>
            <a:srgbClr val="0DA5A0"/>
          </a:solidFill>
          <a:ln/>
        </p:spPr>
        <p:txBody>
          <a:bodyPr/>
          <a:p/>
        </p:txBody>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Self-audit &amp; sanity checks</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txBody>
          <a:bodyPr/>
          <a:p/>
        </p:txBody>
      </p:sp>
      <p:sp>
        <p:nvSpPr>
          <p:cNvPr id="60" name="Shape 58"/>
          <p:cNvSpPr/>
          <p:nvPr/>
        </p:nvSpPr>
        <p:spPr>
          <a:xfrm>
            <a:off x="9162288" y="2103120"/>
            <a:ext cx="82296" cy="3291840"/>
          </a:xfrm>
          <a:prstGeom prst="rect">
            <a:avLst/>
          </a:prstGeom>
          <a:solidFill>
            <a:srgbClr val="0EA472"/>
          </a:solidFill>
          <a:ln/>
        </p:spPr>
        <p:txBody>
          <a:bodyPr/>
          <a:p/>
        </p:txBody>
      </p:sp>
      <p:sp>
        <p:nvSpPr>
          <p:cNvPr id="61" name="Shape 59"/>
          <p:cNvSpPr/>
          <p:nvPr/>
        </p:nvSpPr>
        <p:spPr>
          <a:xfrm>
            <a:off x="9418320" y="2359152"/>
            <a:ext cx="457200" cy="457200"/>
          </a:xfrm>
          <a:prstGeom prst="ellipse">
            <a:avLst/>
          </a:prstGeom>
          <a:solidFill>
            <a:srgbClr val="E7F7F0"/>
          </a:solidFill>
          <a:ln/>
        </p:spPr>
        <p:txBody>
          <a:bodyPr/>
          <a:p/>
        </p:txBody>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txBody>
          <a:bodyPr/>
          <a:p/>
        </p:txBody>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8-bucket breakdown</a:t>
            </a:r>
            <a:endParaRPr lang="en-US" sz="980" dirty="0"/>
          </a:p>
        </p:txBody>
      </p:sp>
      <p:sp>
        <p:nvSpPr>
          <p:cNvPr id="66" name="Shape 64"/>
          <p:cNvSpPr/>
          <p:nvPr/>
        </p:nvSpPr>
        <p:spPr>
          <a:xfrm>
            <a:off x="9436608" y="3547872"/>
            <a:ext cx="82296" cy="82296"/>
          </a:xfrm>
          <a:prstGeom prst="ellipse">
            <a:avLst/>
          </a:prstGeom>
          <a:solidFill>
            <a:srgbClr val="0EA472"/>
          </a:solidFill>
          <a:ln/>
        </p:spPr>
        <p:txBody>
          <a:bodyPr/>
          <a:p/>
        </p:txBody>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Uncertainty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txBody>
          <a:bodyPr/>
          <a:p/>
        </p:txBody>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txBody>
          <a:bodyPr/>
          <a:p/>
        </p:txBody>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exports</a:t>
            </a:r>
            <a:endParaRPr lang="en-US" sz="980" dirty="0"/>
          </a:p>
        </p:txBody>
      </p:sp>
      <p:sp>
        <p:nvSpPr>
          <p:cNvPr id="72" name="Shape 70"/>
          <p:cNvSpPr/>
          <p:nvPr/>
        </p:nvSpPr>
        <p:spPr>
          <a:xfrm>
            <a:off x="9436608" y="4864608"/>
            <a:ext cx="82296" cy="82296"/>
          </a:xfrm>
          <a:prstGeom prst="ellipse">
            <a:avLst/>
          </a:prstGeom>
          <a:solidFill>
            <a:srgbClr val="0EA472"/>
          </a:solidFill>
          <a:ln/>
        </p:spPr>
        <p:txBody>
          <a:bodyPr/>
          <a:p/>
        </p:txBody>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txBody>
          <a:bodyPr/>
          <a:p/>
        </p:txBody>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never sets a price — even when it is switched on. Every pound is plain arithmetic we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txBody>
          <a:bodyPr/>
          <a:p/>
        </p:txBody>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txBody>
          <a:bodyPr/>
          <a:p/>
        </p:txBody>
      </p:sp>
      <p:sp>
        <p:nvSpPr>
          <p:cNvPr id="11" name="Shape 9"/>
          <p:cNvSpPr/>
          <p:nvPr/>
        </p:nvSpPr>
        <p:spPr>
          <a:xfrm>
            <a:off x="548640" y="1691640"/>
            <a:ext cx="82296" cy="2148840"/>
          </a:xfrm>
          <a:prstGeom prst="rect">
            <a:avLst/>
          </a:prstGeom>
          <a:solidFill>
            <a:srgbClr val="2563EB"/>
          </a:solidFill>
          <a:ln/>
        </p:spPr>
        <p:txBody>
          <a:bodyPr/>
          <a:p/>
        </p:txBody>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txBody>
          <a:bodyPr/>
          <a:p/>
        </p:txBody>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txBody>
          <a:bodyPr/>
          <a:p/>
        </p:txBody>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fab + PCBA forms</a:t>
            </a:r>
            <a:endParaRPr lang="en-US" sz="1000" dirty="0"/>
          </a:p>
        </p:txBody>
      </p:sp>
      <p:sp>
        <p:nvSpPr>
          <p:cNvPr id="17" name="Shape 15"/>
          <p:cNvSpPr/>
          <p:nvPr/>
        </p:nvSpPr>
        <p:spPr>
          <a:xfrm>
            <a:off x="841248" y="2825496"/>
            <a:ext cx="91440" cy="91440"/>
          </a:xfrm>
          <a:prstGeom prst="ellipse">
            <a:avLst/>
          </a:prstGeom>
          <a:solidFill>
            <a:srgbClr val="2563EB"/>
          </a:solidFill>
          <a:ln/>
        </p:spPr>
        <p:txBody>
          <a:bodyPr/>
          <a:p/>
        </p:txBody>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manufacturing processes</a:t>
            </a:r>
            <a:endParaRPr lang="en-US" sz="1000" dirty="0"/>
          </a:p>
        </p:txBody>
      </p:sp>
      <p:sp>
        <p:nvSpPr>
          <p:cNvPr id="19" name="Shape 17"/>
          <p:cNvSpPr/>
          <p:nvPr/>
        </p:nvSpPr>
        <p:spPr>
          <a:xfrm>
            <a:off x="3447288" y="2825496"/>
            <a:ext cx="91440" cy="91440"/>
          </a:xfrm>
          <a:prstGeom prst="ellipse">
            <a:avLst/>
          </a:prstGeom>
          <a:solidFill>
            <a:srgbClr val="2563EB"/>
          </a:solidFill>
          <a:ln/>
        </p:spPr>
        <p:txBody>
          <a:bodyPr/>
          <a:p/>
        </p:txBody>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txBody>
          <a:bodyPr/>
          <a:p/>
        </p:txBody>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txBody>
          <a:bodyPr/>
          <a:p/>
        </p:txBody>
      </p:sp>
      <p:sp>
        <p:nvSpPr>
          <p:cNvPr id="24" name="Shape 22"/>
          <p:cNvSpPr/>
          <p:nvPr/>
        </p:nvSpPr>
        <p:spPr>
          <a:xfrm>
            <a:off x="6245352" y="1691640"/>
            <a:ext cx="82296" cy="2148840"/>
          </a:xfrm>
          <a:prstGeom prst="rect">
            <a:avLst/>
          </a:prstGeom>
          <a:solidFill>
            <a:srgbClr val="7C3AED"/>
          </a:solidFill>
          <a:ln/>
        </p:spPr>
        <p:txBody>
          <a:bodyPr/>
          <a:p/>
        </p:txBody>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txBody>
          <a:bodyPr/>
          <a:p/>
        </p:txBody>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viewer: section, measure</a:t>
            </a:r>
            <a:endParaRPr lang="en-US" sz="1000" dirty="0"/>
          </a:p>
        </p:txBody>
      </p:sp>
      <p:sp>
        <p:nvSpPr>
          <p:cNvPr id="28" name="Shape 26"/>
          <p:cNvSpPr/>
          <p:nvPr/>
        </p:nvSpPr>
        <p:spPr>
          <a:xfrm>
            <a:off x="9144000" y="2368296"/>
            <a:ext cx="91440" cy="91440"/>
          </a:xfrm>
          <a:prstGeom prst="ellipse">
            <a:avLst/>
          </a:prstGeom>
          <a:solidFill>
            <a:srgbClr val="7C3AED"/>
          </a:solidFill>
          <a:ln/>
        </p:spPr>
        <p:txBody>
          <a:bodyPr/>
          <a:p/>
        </p:txBody>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txBody>
          <a:bodyPr/>
          <a:p/>
        </p:txBody>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DFM guidance per process</a:t>
            </a:r>
            <a:endParaRPr lang="en-US" sz="1000" dirty="0"/>
          </a:p>
        </p:txBody>
      </p:sp>
      <p:sp>
        <p:nvSpPr>
          <p:cNvPr id="32" name="Shape 30"/>
          <p:cNvSpPr/>
          <p:nvPr/>
        </p:nvSpPr>
        <p:spPr>
          <a:xfrm>
            <a:off x="9144000" y="2825496"/>
            <a:ext cx="91440" cy="91440"/>
          </a:xfrm>
          <a:prstGeom prst="ellipse">
            <a:avLst/>
          </a:prstGeom>
          <a:solidFill>
            <a:srgbClr val="7C3AED"/>
          </a:solidFill>
          <a:ln/>
        </p:spPr>
        <p:txBody>
          <a:bodyPr/>
          <a:p/>
        </p:txBody>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Self-audit on every result</a:t>
            </a:r>
            <a:endParaRPr lang="en-US" sz="1000" dirty="0"/>
          </a:p>
        </p:txBody>
      </p:sp>
      <p:sp>
        <p:nvSpPr>
          <p:cNvPr id="34" name="Shape 32"/>
          <p:cNvSpPr/>
          <p:nvPr/>
        </p:nvSpPr>
        <p:spPr>
          <a:xfrm>
            <a:off x="6537960" y="3227832"/>
            <a:ext cx="91440" cy="91440"/>
          </a:xfrm>
          <a:prstGeom prst="ellipse">
            <a:avLst/>
          </a:prstGeom>
          <a:solidFill>
            <a:srgbClr val="7C3AED"/>
          </a:solidFill>
          <a:ln/>
        </p:spPr>
        <p:txBody>
          <a:bodyPr/>
          <a:p/>
        </p:txBody>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txBody>
          <a:bodyPr/>
          <a:p/>
        </p:txBody>
      </p:sp>
      <p:sp>
        <p:nvSpPr>
          <p:cNvPr id="37" name="Shape 35"/>
          <p:cNvSpPr/>
          <p:nvPr/>
        </p:nvSpPr>
        <p:spPr>
          <a:xfrm>
            <a:off x="548640" y="4096512"/>
            <a:ext cx="82296" cy="2148840"/>
          </a:xfrm>
          <a:prstGeom prst="rect">
            <a:avLst/>
          </a:prstGeom>
          <a:solidFill>
            <a:srgbClr val="0DA5A0"/>
          </a:solidFill>
          <a:ln/>
        </p:spPr>
        <p:txBody>
          <a:bodyPr/>
          <a:p/>
        </p:txBody>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txBody>
          <a:bodyPr/>
          <a:p/>
        </p:txBody>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txBody>
          <a:bodyPr/>
          <a:p/>
        </p:txBody>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txBody>
          <a:bodyPr/>
          <a:p/>
        </p:txBody>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txBody>
          <a:bodyPr/>
          <a:p/>
        </p:txBody>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Uncertainty band on every result</a:t>
            </a:r>
            <a:endParaRPr lang="en-US" sz="1000" dirty="0"/>
          </a:p>
        </p:txBody>
      </p:sp>
      <p:sp>
        <p:nvSpPr>
          <p:cNvPr id="47" name="Shape 45"/>
          <p:cNvSpPr/>
          <p:nvPr/>
        </p:nvSpPr>
        <p:spPr>
          <a:xfrm>
            <a:off x="841248" y="5632704"/>
            <a:ext cx="91440" cy="91440"/>
          </a:xfrm>
          <a:prstGeom prst="ellipse">
            <a:avLst/>
          </a:prstGeom>
          <a:solidFill>
            <a:srgbClr val="0DA5A0"/>
          </a:solidFill>
          <a:ln/>
        </p:spPr>
        <p:txBody>
          <a:bodyPr/>
          <a:p/>
        </p:txBody>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txBody>
          <a:bodyPr/>
          <a:p/>
        </p:txBody>
      </p:sp>
      <p:sp>
        <p:nvSpPr>
          <p:cNvPr id="50" name="Shape 48"/>
          <p:cNvSpPr/>
          <p:nvPr/>
        </p:nvSpPr>
        <p:spPr>
          <a:xfrm>
            <a:off x="6245352" y="4096512"/>
            <a:ext cx="82296" cy="2148840"/>
          </a:xfrm>
          <a:prstGeom prst="rect">
            <a:avLst/>
          </a:prstGeom>
          <a:solidFill>
            <a:srgbClr val="0EA472"/>
          </a:solidFill>
          <a:ln/>
        </p:spPr>
        <p:txBody>
          <a:bodyPr/>
          <a:p/>
        </p:txBody>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txBody>
          <a:bodyPr/>
          <a:p/>
        </p:txBody>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Shared case memory</a:t>
            </a:r>
            <a:endParaRPr lang="en-US" sz="1000" dirty="0"/>
          </a:p>
        </p:txBody>
      </p:sp>
      <p:sp>
        <p:nvSpPr>
          <p:cNvPr id="54" name="Shape 52"/>
          <p:cNvSpPr/>
          <p:nvPr/>
        </p:nvSpPr>
        <p:spPr>
          <a:xfrm>
            <a:off x="9144000" y="4773168"/>
            <a:ext cx="91440" cy="91440"/>
          </a:xfrm>
          <a:prstGeom prst="ellipse">
            <a:avLst/>
          </a:prstGeom>
          <a:solidFill>
            <a:srgbClr val="0EA472"/>
          </a:solidFill>
          <a:ln/>
        </p:spPr>
        <p:txBody>
          <a:bodyPr/>
          <a:p/>
        </p:txBody>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Learning from logged actuals</a:t>
            </a:r>
            <a:endParaRPr lang="en-US" sz="1000" dirty="0"/>
          </a:p>
        </p:txBody>
      </p:sp>
      <p:sp>
        <p:nvSpPr>
          <p:cNvPr id="56" name="Shape 54"/>
          <p:cNvSpPr/>
          <p:nvPr/>
        </p:nvSpPr>
        <p:spPr>
          <a:xfrm>
            <a:off x="6537960" y="5230368"/>
            <a:ext cx="91440" cy="91440"/>
          </a:xfrm>
          <a:prstGeom prst="ellipse">
            <a:avLst/>
          </a:prstGeom>
          <a:solidFill>
            <a:srgbClr val="0EA472"/>
          </a:solidFill>
          <a:ln/>
        </p:spPr>
        <p:txBody>
          <a:bodyPr/>
          <a:p/>
        </p:txBody>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Background drift monitor</a:t>
            </a:r>
            <a:endParaRPr lang="en-US" sz="1000" dirty="0"/>
          </a:p>
        </p:txBody>
      </p:sp>
      <p:sp>
        <p:nvSpPr>
          <p:cNvPr id="58" name="Shape 56"/>
          <p:cNvSpPr/>
          <p:nvPr/>
        </p:nvSpPr>
        <p:spPr>
          <a:xfrm>
            <a:off x="9144000" y="5230368"/>
            <a:ext cx="91440" cy="91440"/>
          </a:xfrm>
          <a:prstGeom prst="ellipse">
            <a:avLst/>
          </a:prstGeom>
          <a:solidFill>
            <a:srgbClr val="0EA472"/>
          </a:solidFill>
          <a:ln/>
        </p:spPr>
        <p:txBody>
          <a:bodyPr/>
          <a:p/>
        </p:txBody>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txBody>
          <a:bodyPr/>
          <a:p/>
        </p:txBody>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Offline laptop, sign-in</a:t>
            </a:r>
            <a:endParaRPr lang="en-US" sz="1000" dirty="0"/>
          </a:p>
        </p:txBody>
      </p:sp>
      <p:sp>
        <p:nvSpPr>
          <p:cNvPr id="62" name="Shape 60"/>
          <p:cNvSpPr/>
          <p:nvPr/>
        </p:nvSpPr>
        <p:spPr>
          <a:xfrm>
            <a:off x="548640" y="6400800"/>
            <a:ext cx="11094415" cy="12802"/>
          </a:xfrm>
          <a:prstGeom prst="rect">
            <a:avLst/>
          </a:prstGeom>
          <a:solidFill>
            <a:srgbClr val="E4EAF2"/>
          </a:solidFill>
          <a:ln/>
        </p:spPr>
        <p:txBody>
          <a:bodyPr/>
          <a:p/>
        </p:txBody>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PLATFORM · WHAT THE TOOL CAPTURES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the tool measures — fed straight to the cost engine</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From a CAD file or a typed form, the tool measures or collects the facts. Fixed rules turn them into cost.</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txBody>
          <a:bodyPr/>
          <a:p/>
        </p:txBody>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txBody>
          <a:bodyPr/>
          <a:p/>
        </p:txBody>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geometry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The geometry engine (OpenCASCADE) measures volume, weight, size, wall thickness and draft — the ground truth for material and machine sizing.</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txBody>
          <a:bodyPr/>
          <a:p/>
        </p:txBody>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txBody>
          <a:bodyPr/>
          <a:p/>
        </p:txBody>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features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Holes, pockets, slots, bosses and bends are found and counted. Each becomes a machining step with its own cost line.</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txBody>
          <a:bodyPr/>
          <a:p/>
        </p:txBody>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Questions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Where the geometry can't decide — the process route, the material family, a hole count on an STL — the tool asks the engineer instead of guessing.</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txBody>
          <a:bodyPr/>
          <a:p/>
        </p:txBody>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txBody>
          <a:bodyPr/>
          <a:p/>
        </p:txBody>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PCB board spec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Board type, size and layer count set the fab price, taken from fabricators' price tables.</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txBody>
          <a:bodyPr/>
          <a:p/>
        </p:txBody>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Sheet-metal blank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Upload a DXF flat pattern with the STEP, and the measured blank is used instead of the bounding box.</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txBody>
          <a:bodyPr/>
          <a:p/>
        </p:txBody>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txBody>
          <a:bodyPr/>
          <a:p/>
        </p:txBody>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Traceable facts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value traces to where it came from — measured, typed or rate library — and the self-audit flags anything implausible.</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txBody>
          <a:bodyPr/>
          <a:p/>
        </p:txBody>
      </p:sp>
      <p:sp>
        <p:nvSpPr>
          <p:cNvPr id="36" name="Shape 34"/>
          <p:cNvSpPr/>
          <p:nvPr/>
        </p:nvSpPr>
        <p:spPr>
          <a:xfrm>
            <a:off x="7909560" y="2148840"/>
            <a:ext cx="82296" cy="3749040"/>
          </a:xfrm>
          <a:prstGeom prst="rect">
            <a:avLst/>
          </a:prstGeom>
          <a:solidFill>
            <a:srgbClr val="0EA472"/>
          </a:solidFill>
          <a:ln/>
        </p:spPr>
        <p:txBody>
          <a:bodyPr/>
          <a:p/>
        </p:txBody>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The golden rule</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AI never sets a price — and at JLR it is switched off.</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Every £ is plain arithmetic on measured or typed facts, using the rate library — defensible line by line.</a:t>
            </a:r>
            <a:endParaRPr lang="en-US" sz="1150" dirty="0"/>
          </a:p>
        </p:txBody>
      </p:sp>
      <p:sp>
        <p:nvSpPr>
          <p:cNvPr id="40" name="Shape 38"/>
          <p:cNvSpPr/>
          <p:nvPr/>
        </p:nvSpPr>
        <p:spPr>
          <a:xfrm>
            <a:off x="548640" y="6400800"/>
            <a:ext cx="11094415" cy="12802"/>
          </a:xfrm>
          <a:prstGeom prst="rect">
            <a:avLst/>
          </a:prstGeom>
          <a:solidFill>
            <a:srgbClr val="E4EAF2"/>
          </a:solidFill>
          <a:ln/>
        </p:spPr>
        <p:txBody>
          <a:bodyPr/>
          <a:p/>
        </p:txBody>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cad-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0DA5A0"/>
          </a:solidFill>
          <a:ln/>
        </p:spPr>
        <p:txBody>
          <a:bodyPr/>
          <a:p/>
        </p:txBody>
      </p:sp>
      <p:sp>
        <p:nvSpPr>
          <p:cNvPr id="7" name="Shape 4"/>
          <p:cNvSpPr/>
          <p:nvPr/>
        </p:nvSpPr>
        <p:spPr>
          <a:xfrm>
            <a:off x="0" y="6729984"/>
            <a:ext cx="12191695" cy="128016"/>
          </a:xfrm>
          <a:prstGeom prst="rect">
            <a:avLst/>
          </a:prstGeom>
          <a:solidFill>
            <a:srgbClr val="0DA5A0"/>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CAD → 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CostVision measures the geometry, finds the features, asks what it can't tell, and prices the part.</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txBody>
          <a:bodyPr/>
          <a:p/>
        </p:txBody>
      </p:sp>
      <p:sp>
        <p:nvSpPr>
          <p:cNvPr id="12" name="Shape 10"/>
          <p:cNvSpPr/>
          <p:nvPr/>
        </p:nvSpPr>
        <p:spPr>
          <a:xfrm>
            <a:off x="548640" y="2286000"/>
            <a:ext cx="82296" cy="2834640"/>
          </a:xfrm>
          <a:prstGeom prst="rect">
            <a:avLst/>
          </a:prstGeom>
          <a:solidFill>
            <a:srgbClr val="0DA5A0"/>
          </a:solidFill>
          <a:ln/>
        </p:spPr>
        <p:txBody>
          <a:bodyPr/>
          <a:p/>
        </p:txBody>
      </p:sp>
      <p:sp>
        <p:nvSpPr>
          <p:cNvPr id="13" name="Shape 11"/>
          <p:cNvSpPr/>
          <p:nvPr/>
        </p:nvSpPr>
        <p:spPr>
          <a:xfrm>
            <a:off x="1453896" y="2578608"/>
            <a:ext cx="731520" cy="731520"/>
          </a:xfrm>
          <a:prstGeom prst="ellipse">
            <a:avLst/>
          </a:prstGeom>
          <a:solidFill>
            <a:srgbClr val="E7F7F0"/>
          </a:solidFill>
          <a:ln/>
        </p:spPr>
        <p:txBody>
          <a:bodyPr/>
          <a:p/>
        </p:txBody>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Measures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The geometry engine (OpenCASCADE) measures volume, size and surface area from STEP, IGES or STL.</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txBody>
          <a:bodyPr/>
          <a:p/>
        </p:txBody>
      </p:sp>
      <p:sp>
        <p:nvSpPr>
          <p:cNvPr id="18" name="Shape 16"/>
          <p:cNvSpPr/>
          <p:nvPr/>
        </p:nvSpPr>
        <p:spPr>
          <a:xfrm>
            <a:off x="3419856" y="2286000"/>
            <a:ext cx="82296" cy="2834640"/>
          </a:xfrm>
          <a:prstGeom prst="rect">
            <a:avLst/>
          </a:prstGeom>
          <a:solidFill>
            <a:srgbClr val="2563EB"/>
          </a:solidFill>
          <a:ln/>
        </p:spPr>
        <p:txBody>
          <a:bodyPr/>
          <a:p/>
        </p:txBody>
      </p:sp>
      <p:sp>
        <p:nvSpPr>
          <p:cNvPr id="19" name="Shape 17"/>
          <p:cNvSpPr/>
          <p:nvPr/>
        </p:nvSpPr>
        <p:spPr>
          <a:xfrm>
            <a:off x="4325112" y="2578608"/>
            <a:ext cx="731520" cy="731520"/>
          </a:xfrm>
          <a:prstGeom prst="ellipse">
            <a:avLst/>
          </a:prstGeom>
          <a:solidFill>
            <a:srgbClr val="EAF1FE"/>
          </a:solidFill>
          <a:ln/>
        </p:spPr>
        <p:txBody>
          <a:bodyPr/>
          <a:p/>
        </p:txBody>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Finds the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and bends are found in STEP and IGES files and turned into machining steps.</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txBody>
          <a:bodyPr/>
          <a:p/>
        </p:txBody>
      </p:sp>
      <p:sp>
        <p:nvSpPr>
          <p:cNvPr id="24" name="Shape 22"/>
          <p:cNvSpPr/>
          <p:nvPr/>
        </p:nvSpPr>
        <p:spPr>
          <a:xfrm>
            <a:off x="6291072" y="2286000"/>
            <a:ext cx="82296" cy="2834640"/>
          </a:xfrm>
          <a:prstGeom prst="rect">
            <a:avLst/>
          </a:prstGeom>
          <a:solidFill>
            <a:srgbClr val="7C3AED"/>
          </a:solidFill>
          <a:ln/>
        </p:spPr>
        <p:txBody>
          <a:bodyPr/>
          <a:p/>
        </p:txBody>
      </p:sp>
      <p:sp>
        <p:nvSpPr>
          <p:cNvPr id="25" name="Shape 23"/>
          <p:cNvSpPr/>
          <p:nvPr/>
        </p:nvSpPr>
        <p:spPr>
          <a:xfrm>
            <a:off x="7196328" y="2578608"/>
            <a:ext cx="731520" cy="731520"/>
          </a:xfrm>
          <a:prstGeom prst="ellipse">
            <a:avLst/>
          </a:prstGeom>
          <a:solidFill>
            <a:srgbClr val="F3EEFE"/>
          </a:solidFill>
          <a:ln/>
        </p:spPr>
        <p:txBody>
          <a:bodyPr/>
          <a:p/>
        </p:txBody>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Asks, never guesses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Where the geometry can't decide the route or the material, the tool asks the engineer to choose.</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txBody>
          <a:bodyPr/>
          <a:p/>
        </p:txBody>
      </p:sp>
      <p:sp>
        <p:nvSpPr>
          <p:cNvPr id="30" name="Shape 28"/>
          <p:cNvSpPr/>
          <p:nvPr/>
        </p:nvSpPr>
        <p:spPr>
          <a:xfrm>
            <a:off x="9162288" y="2286000"/>
            <a:ext cx="82296" cy="2834640"/>
          </a:xfrm>
          <a:prstGeom prst="rect">
            <a:avLst/>
          </a:prstGeom>
          <a:solidFill>
            <a:srgbClr val="0EA472"/>
          </a:solidFill>
          <a:ln/>
        </p:spPr>
        <p:txBody>
          <a:bodyPr/>
          <a:p/>
        </p:txBody>
      </p:sp>
      <p:sp>
        <p:nvSpPr>
          <p:cNvPr id="31" name="Shape 29"/>
          <p:cNvSpPr/>
          <p:nvPr/>
        </p:nvSpPr>
        <p:spPr>
          <a:xfrm>
            <a:off x="10067544" y="2578608"/>
            <a:ext cx="731520" cy="731520"/>
          </a:xfrm>
          <a:prstGeom prst="ellipse">
            <a:avLst/>
          </a:prstGeom>
          <a:solidFill>
            <a:srgbClr val="E7F7F0"/>
          </a:solidFill>
          <a:ln/>
        </p:spPr>
        <p:txBody>
          <a:bodyPr/>
          <a:p/>
        </p:txBody>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fixed 8-bucket engine (material → margin) returns the should-cost with an uncertainty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txBody>
          <a:bodyPr/>
          <a:p/>
        </p:txBody>
      </p:sp>
      <p:sp>
        <p:nvSpPr>
          <p:cNvPr id="36" name="Shape 34"/>
          <p:cNvSpPr/>
          <p:nvPr/>
        </p:nvSpPr>
        <p:spPr>
          <a:xfrm>
            <a:off x="548640" y="5303520"/>
            <a:ext cx="82296" cy="640080"/>
          </a:xfrm>
          <a:prstGeom prst="rect">
            <a:avLst/>
          </a:prstGeom>
          <a:solidFill>
            <a:srgbClr val="E0900C"/>
          </a:solidFill>
          <a:ln/>
        </p:spPr>
        <p:txBody>
          <a:bodyPr/>
          <a:p/>
        </p:txBody>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Formats: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STEP · IGES · STL. For sheet metal, add a DXF flat pattern and the measured blank is used. Reading a 2D drawing needs the optional AI mode, which is switched off at JLR.</a:t>
            </a:r>
            <a:endParaRPr lang="en-US" sz="1100" dirty="0"/>
          </a:p>
        </p:txBody>
      </p:sp>
      <p:sp>
        <p:nvSpPr>
          <p:cNvPr id="38" name="Shape 36"/>
          <p:cNvSpPr/>
          <p:nvPr/>
        </p:nvSpPr>
        <p:spPr>
          <a:xfrm>
            <a:off x="548640" y="6400800"/>
            <a:ext cx="11094415" cy="12802"/>
          </a:xfrm>
          <a:prstGeom prst="rect">
            <a:avLst/>
          </a:prstGeom>
          <a:solidFill>
            <a:srgbClr val="E4EAF2"/>
          </a:solidFill>
          <a:ln/>
        </p:spPr>
        <p:txBody>
          <a:bodyPr/>
          <a:p/>
        </p:txBody>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txBody>
          <a:bodyPr/>
          <a:p/>
        </p:txBody>
      </p:sp>
      <p:sp>
        <p:nvSpPr>
          <p:cNvPr id="11" name="Shape 9"/>
          <p:cNvSpPr/>
          <p:nvPr/>
        </p:nvSpPr>
        <p:spPr>
          <a:xfrm>
            <a:off x="548640" y="1783080"/>
            <a:ext cx="1463040" cy="82296"/>
          </a:xfrm>
          <a:prstGeom prst="rect">
            <a:avLst/>
          </a:prstGeom>
          <a:solidFill>
            <a:srgbClr val="2E90FA"/>
          </a:solidFill>
          <a:ln/>
        </p:spPr>
        <p:txBody>
          <a:bodyPr/>
          <a:p/>
        </p:txBody>
      </p:sp>
      <p:sp>
        <p:nvSpPr>
          <p:cNvPr id="12" name="Shape 10"/>
          <p:cNvSpPr/>
          <p:nvPr/>
        </p:nvSpPr>
        <p:spPr>
          <a:xfrm>
            <a:off x="1024128" y="1984248"/>
            <a:ext cx="512064" cy="512064"/>
          </a:xfrm>
          <a:prstGeom prst="ellipse">
            <a:avLst/>
          </a:prstGeom>
          <a:solidFill>
            <a:srgbClr val="F4F7FB"/>
          </a:solidFill>
          <a:ln/>
        </p:spPr>
        <p:txBody>
          <a:bodyPr/>
          <a:p/>
        </p:txBody>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DXF for sheet)</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txBody>
          <a:bodyPr/>
          <a:p/>
        </p:txBody>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txBody>
          <a:bodyPr/>
          <a:p/>
        </p:txBody>
      </p:sp>
      <p:sp>
        <p:nvSpPr>
          <p:cNvPr id="18" name="Shape 16"/>
          <p:cNvSpPr/>
          <p:nvPr/>
        </p:nvSpPr>
        <p:spPr>
          <a:xfrm>
            <a:off x="2130552" y="1783080"/>
            <a:ext cx="1463040" cy="82296"/>
          </a:xfrm>
          <a:prstGeom prst="rect">
            <a:avLst/>
          </a:prstGeom>
          <a:solidFill>
            <a:srgbClr val="0DA5A0"/>
          </a:solidFill>
          <a:ln/>
        </p:spPr>
        <p:txBody>
          <a:bodyPr/>
          <a:p/>
        </p:txBody>
      </p:sp>
      <p:sp>
        <p:nvSpPr>
          <p:cNvPr id="19" name="Shape 17"/>
          <p:cNvSpPr/>
          <p:nvPr/>
        </p:nvSpPr>
        <p:spPr>
          <a:xfrm>
            <a:off x="2606040" y="1984248"/>
            <a:ext cx="512064" cy="512064"/>
          </a:xfrm>
          <a:prstGeom prst="ellipse">
            <a:avLst/>
          </a:prstGeom>
          <a:solidFill>
            <a:srgbClr val="E7F7F0"/>
          </a:solidFill>
          <a:ln/>
        </p:spPr>
        <p:txBody>
          <a:bodyPr/>
          <a:p/>
        </p:txBody>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Measure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txBody>
          <a:bodyPr/>
          <a:p/>
        </p:txBody>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txBody>
          <a:bodyPr/>
          <a:p/>
        </p:txBody>
      </p:sp>
      <p:sp>
        <p:nvSpPr>
          <p:cNvPr id="25" name="Shape 23"/>
          <p:cNvSpPr/>
          <p:nvPr/>
        </p:nvSpPr>
        <p:spPr>
          <a:xfrm>
            <a:off x="3712464" y="1783080"/>
            <a:ext cx="1463040" cy="82296"/>
          </a:xfrm>
          <a:prstGeom prst="rect">
            <a:avLst/>
          </a:prstGeom>
          <a:solidFill>
            <a:srgbClr val="2563EB"/>
          </a:solidFill>
          <a:ln/>
        </p:spPr>
        <p:txBody>
          <a:bodyPr/>
          <a:p/>
        </p:txBody>
      </p:sp>
      <p:sp>
        <p:nvSpPr>
          <p:cNvPr id="26" name="Shape 24"/>
          <p:cNvSpPr/>
          <p:nvPr/>
        </p:nvSpPr>
        <p:spPr>
          <a:xfrm>
            <a:off x="4187952" y="1984248"/>
            <a:ext cx="512064" cy="512064"/>
          </a:xfrm>
          <a:prstGeom prst="ellipse">
            <a:avLst/>
          </a:prstGeom>
          <a:solidFill>
            <a:srgbClr val="EAF1FE"/>
          </a:solidFill>
          <a:ln/>
        </p:spPr>
        <p:txBody>
          <a:bodyPr/>
          <a:p/>
        </p:txBody>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Features</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txBody>
          <a:bodyPr/>
          <a:p/>
        </p:txBody>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txBody>
          <a:bodyPr/>
          <a:p/>
        </p:txBody>
      </p:sp>
      <p:sp>
        <p:nvSpPr>
          <p:cNvPr id="32" name="Shape 30"/>
          <p:cNvSpPr/>
          <p:nvPr/>
        </p:nvSpPr>
        <p:spPr>
          <a:xfrm>
            <a:off x="5294376" y="1783080"/>
            <a:ext cx="1463040" cy="82296"/>
          </a:xfrm>
          <a:prstGeom prst="rect">
            <a:avLst/>
          </a:prstGeom>
          <a:solidFill>
            <a:srgbClr val="7C3AED"/>
          </a:solidFill>
          <a:ln/>
        </p:spPr>
        <p:txBody>
          <a:bodyPr/>
          <a:p/>
        </p:txBody>
      </p:sp>
      <p:sp>
        <p:nvSpPr>
          <p:cNvPr id="33" name="Shape 31"/>
          <p:cNvSpPr/>
          <p:nvPr/>
        </p:nvSpPr>
        <p:spPr>
          <a:xfrm>
            <a:off x="5769864" y="1984248"/>
            <a:ext cx="512064" cy="512064"/>
          </a:xfrm>
          <a:prstGeom prst="ellipse">
            <a:avLst/>
          </a:prstGeom>
          <a:solidFill>
            <a:srgbClr val="F3EEFE"/>
          </a:solidFill>
          <a:ln/>
        </p:spPr>
        <p:txBody>
          <a:bodyPr/>
          <a:p/>
        </p:txBody>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Questions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rules + engineer answers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txBody>
          <a:bodyPr/>
          <a:p/>
        </p:txBody>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txBody>
          <a:bodyPr/>
          <a:p/>
        </p:txBody>
      </p:sp>
      <p:sp>
        <p:nvSpPr>
          <p:cNvPr id="39" name="Shape 37"/>
          <p:cNvSpPr/>
          <p:nvPr/>
        </p:nvSpPr>
        <p:spPr>
          <a:xfrm>
            <a:off x="6876288" y="1783080"/>
            <a:ext cx="1463040" cy="82296"/>
          </a:xfrm>
          <a:prstGeom prst="rect">
            <a:avLst/>
          </a:prstGeom>
          <a:solidFill>
            <a:srgbClr val="0E93B0"/>
          </a:solidFill>
          <a:ln/>
        </p:spPr>
        <p:txBody>
          <a:bodyPr/>
          <a:p/>
        </p:txBody>
      </p:sp>
      <p:sp>
        <p:nvSpPr>
          <p:cNvPr id="40" name="Shape 38"/>
          <p:cNvSpPr/>
          <p:nvPr/>
        </p:nvSpPr>
        <p:spPr>
          <a:xfrm>
            <a:off x="7351776" y="1984248"/>
            <a:ext cx="512064" cy="512064"/>
          </a:xfrm>
          <a:prstGeom prst="ellipse">
            <a:avLst/>
          </a:prstGeom>
          <a:solidFill>
            <a:srgbClr val="E8F6FA"/>
          </a:solidFill>
          <a:ln/>
        </p:spPr>
        <p:txBody>
          <a:bodyPr/>
          <a:p/>
        </p:txBody>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txBody>
          <a:bodyPr/>
          <a:p/>
        </p:txBody>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txBody>
          <a:bodyPr/>
          <a:p/>
        </p:txBody>
      </p:sp>
      <p:sp>
        <p:nvSpPr>
          <p:cNvPr id="46" name="Shape 44"/>
          <p:cNvSpPr/>
          <p:nvPr/>
        </p:nvSpPr>
        <p:spPr>
          <a:xfrm>
            <a:off x="8458200" y="1783080"/>
            <a:ext cx="1463040" cy="82296"/>
          </a:xfrm>
          <a:prstGeom prst="rect">
            <a:avLst/>
          </a:prstGeom>
          <a:solidFill>
            <a:srgbClr val="E0900C"/>
          </a:solidFill>
          <a:ln/>
        </p:spPr>
        <p:txBody>
          <a:bodyPr/>
          <a:p/>
        </p:txBody>
      </p:sp>
      <p:sp>
        <p:nvSpPr>
          <p:cNvPr id="47" name="Shape 45"/>
          <p:cNvSpPr/>
          <p:nvPr/>
        </p:nvSpPr>
        <p:spPr>
          <a:xfrm>
            <a:off x="8933688" y="1984248"/>
            <a:ext cx="512064" cy="512064"/>
          </a:xfrm>
          <a:prstGeom prst="ellipse">
            <a:avLst/>
          </a:prstGeom>
          <a:solidFill>
            <a:srgbClr val="FEF6E7"/>
          </a:solidFill>
          <a:ln/>
        </p:spPr>
        <p:txBody>
          <a:bodyPr/>
          <a:p/>
        </p:txBody>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Self-audit</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flags anything implausible</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txBody>
          <a:bodyPr/>
          <a:p/>
        </p:txBody>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txBody>
          <a:bodyPr/>
          <a:p/>
        </p:txBody>
      </p:sp>
      <p:sp>
        <p:nvSpPr>
          <p:cNvPr id="53" name="Shape 51"/>
          <p:cNvSpPr/>
          <p:nvPr/>
        </p:nvSpPr>
        <p:spPr>
          <a:xfrm>
            <a:off x="10040112" y="1783080"/>
            <a:ext cx="1463040" cy="82296"/>
          </a:xfrm>
          <a:prstGeom prst="rect">
            <a:avLst/>
          </a:prstGeom>
          <a:solidFill>
            <a:srgbClr val="0EA472"/>
          </a:solidFill>
          <a:ln/>
        </p:spPr>
        <p:txBody>
          <a:bodyPr/>
          <a:p/>
        </p:txBody>
      </p:sp>
      <p:sp>
        <p:nvSpPr>
          <p:cNvPr id="54" name="Shape 52"/>
          <p:cNvSpPr/>
          <p:nvPr/>
        </p:nvSpPr>
        <p:spPr>
          <a:xfrm>
            <a:off x="10515600" y="1984248"/>
            <a:ext cx="512064" cy="512064"/>
          </a:xfrm>
          <a:prstGeom prst="ellipse">
            <a:avLst/>
          </a:prstGeom>
          <a:solidFill>
            <a:srgbClr val="E7F7F0"/>
          </a:solidFill>
          <a:ln/>
        </p:spPr>
        <p:txBody>
          <a:bodyPr/>
          <a:p/>
        </p:txBody>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txBody>
          <a:bodyPr/>
          <a:p/>
        </p:txBody>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The tool measures and asks</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txBody>
          <a:bodyPr/>
          <a:p/>
        </p:txBody>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Fixed arithmetic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txBody>
          <a:bodyPr/>
          <a:p/>
        </p:txBody>
      </p:sp>
      <p:sp>
        <p:nvSpPr>
          <p:cNvPr id="63" name="Shape 61"/>
          <p:cNvSpPr/>
          <p:nvPr/>
        </p:nvSpPr>
        <p:spPr>
          <a:xfrm>
            <a:off x="548640" y="4297680"/>
            <a:ext cx="82296" cy="1051560"/>
          </a:xfrm>
          <a:prstGeom prst="rect">
            <a:avLst/>
          </a:prstGeom>
          <a:solidFill>
            <a:srgbClr val="0DA5A0"/>
          </a:solidFill>
          <a:ln/>
        </p:spPr>
        <p:txBody>
          <a:bodyPr/>
          <a:p/>
        </p:txBody>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self-audit.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Every result is checked for a wrong machine size, tooling spread over the wrong volume, an implausible cycle time and more. An STL has no feature table, so a machined STL is blocked until the engineer types a cycle time. Problems are flagged — never silently priced.</a:t>
            </a:r>
            <a:endParaRPr lang="en-US" sz="1200" dirty="0"/>
          </a:p>
        </p:txBody>
      </p:sp>
      <p:sp>
        <p:nvSpPr>
          <p:cNvPr id="65" name="Shape 63"/>
          <p:cNvSpPr/>
          <p:nvPr/>
        </p:nvSpPr>
        <p:spPr>
          <a:xfrm>
            <a:off x="548640" y="6400800"/>
            <a:ext cx="11094415" cy="12802"/>
          </a:xfrm>
          <a:prstGeom prst="rect">
            <a:avLst/>
          </a:prstGeom>
          <a:solidFill>
            <a:srgbClr val="E4EAF2"/>
          </a:solidFill>
          <a:ln/>
        </p:spPr>
        <p:txBody>
          <a:bodyPr/>
          <a:p/>
        </p:txBody>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what you see on screen</a:t>
            </a:r>
            <a:endParaRPr lang="en-US" sz="2400" dirty="0"/>
          </a:p>
        </p:txBody>
      </p:sp>
      <p:sp>
        <p:nvSpPr>
          <p:cNvPr id="9" name="Shape 7"/>
          <p:cNvSpPr/>
          <p:nvPr/>
        </p:nvSpPr>
        <p:spPr>
          <a:xfrm>
            <a:off x="548640" y="1371600"/>
            <a:ext cx="1051560" cy="45720"/>
          </a:xfrm>
          <a:prstGeom prst="rect">
            <a:avLst/>
          </a:prstGeom>
          <a:solidFill>
            <a:srgbClr val="7C3AED"/>
          </a:solidFill>
          <a:ln/>
        </p:spPr>
        <p:txBody>
          <a:bodyPr/>
          <a:p/>
        </p:txBody>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txBody>
          <a:bodyPr/>
          <a:p/>
        </p:txBody>
      </p:sp>
      <p:sp>
        <p:nvSpPr>
          <p:cNvPr id="11" name="Shape 9"/>
          <p:cNvSpPr/>
          <p:nvPr/>
        </p:nvSpPr>
        <p:spPr>
          <a:xfrm>
            <a:off x="548640" y="1645920"/>
            <a:ext cx="82296" cy="1737360"/>
          </a:xfrm>
          <a:prstGeom prst="rect">
            <a:avLst/>
          </a:prstGeom>
          <a:solidFill>
            <a:srgbClr val="0DA5A0"/>
          </a:solidFill>
          <a:ln/>
        </p:spPr>
        <p:txBody>
          <a:bodyPr/>
          <a:p/>
        </p:txBody>
      </p:sp>
      <p:sp>
        <p:nvSpPr>
          <p:cNvPr id="12" name="Shape 10"/>
          <p:cNvSpPr/>
          <p:nvPr/>
        </p:nvSpPr>
        <p:spPr>
          <a:xfrm>
            <a:off x="786384" y="1865376"/>
            <a:ext cx="457200" cy="457200"/>
          </a:xfrm>
          <a:prstGeom prst="ellipse">
            <a:avLst/>
          </a:prstGeom>
          <a:solidFill>
            <a:srgbClr val="E7F7F0"/>
          </a:solidFill>
          <a:ln/>
        </p:spPr>
        <p:txBody>
          <a:bodyPr/>
          <a:p/>
        </p:txBody>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next to the costing.</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txBody>
          <a:bodyPr/>
          <a:p/>
        </p:txBody>
      </p:sp>
      <p:sp>
        <p:nvSpPr>
          <p:cNvPr id="17" name="Shape 15"/>
          <p:cNvSpPr/>
          <p:nvPr/>
        </p:nvSpPr>
        <p:spPr>
          <a:xfrm>
            <a:off x="4325112" y="1645920"/>
            <a:ext cx="82296" cy="1737360"/>
          </a:xfrm>
          <a:prstGeom prst="rect">
            <a:avLst/>
          </a:prstGeom>
          <a:solidFill>
            <a:srgbClr val="2563EB"/>
          </a:solidFill>
          <a:ln/>
        </p:spPr>
        <p:txBody>
          <a:bodyPr/>
          <a:p/>
        </p:txBody>
      </p:sp>
      <p:sp>
        <p:nvSpPr>
          <p:cNvPr id="18" name="Shape 16"/>
          <p:cNvSpPr/>
          <p:nvPr/>
        </p:nvSpPr>
        <p:spPr>
          <a:xfrm>
            <a:off x="4562856" y="1865376"/>
            <a:ext cx="457200" cy="457200"/>
          </a:xfrm>
          <a:prstGeom prst="ellipse">
            <a:avLst/>
          </a:prstGeom>
          <a:solidFill>
            <a:srgbClr val="EAF1FE"/>
          </a:solidFill>
          <a:ln/>
        </p:spPr>
        <p:txBody>
          <a:bodyPr/>
          <a:p/>
        </p:txBody>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True B-rep geometry</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Works on the real faces and edges of a STEP or IGES model — not just a mesh of triangles.</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txBody>
          <a:bodyPr/>
          <a:p/>
        </p:txBody>
      </p:sp>
      <p:sp>
        <p:nvSpPr>
          <p:cNvPr id="23" name="Shape 21"/>
          <p:cNvSpPr/>
          <p:nvPr/>
        </p:nvSpPr>
        <p:spPr>
          <a:xfrm>
            <a:off x="8101584" y="1645920"/>
            <a:ext cx="82296" cy="1737360"/>
          </a:xfrm>
          <a:prstGeom prst="rect">
            <a:avLst/>
          </a:prstGeom>
          <a:solidFill>
            <a:srgbClr val="7C3AED"/>
          </a:solidFill>
          <a:ln/>
        </p:spPr>
        <p:txBody>
          <a:bodyPr/>
          <a:p/>
        </p:txBody>
      </p:sp>
      <p:sp>
        <p:nvSpPr>
          <p:cNvPr id="24" name="Shape 22"/>
          <p:cNvSpPr/>
          <p:nvPr/>
        </p:nvSpPr>
        <p:spPr>
          <a:xfrm>
            <a:off x="8339328" y="1865376"/>
            <a:ext cx="457200" cy="457200"/>
          </a:xfrm>
          <a:prstGeom prst="ellipse">
            <a:avLst/>
          </a:prstGeom>
          <a:solidFill>
            <a:srgbClr val="F3EEFE"/>
          </a:solidFill>
          <a:ln/>
        </p:spPr>
        <p:txBody>
          <a:bodyPr/>
          <a:p/>
        </p:txBody>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feature found (hole depths, pockets, slots) is listed and fed into the costing as a real step.</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txBody>
          <a:bodyPr/>
          <a:p/>
        </p:txBody>
      </p:sp>
      <p:sp>
        <p:nvSpPr>
          <p:cNvPr id="29" name="Shape 27"/>
          <p:cNvSpPr/>
          <p:nvPr/>
        </p:nvSpPr>
        <p:spPr>
          <a:xfrm>
            <a:off x="548640" y="3602736"/>
            <a:ext cx="82296" cy="1737360"/>
          </a:xfrm>
          <a:prstGeom prst="rect">
            <a:avLst/>
          </a:prstGeom>
          <a:solidFill>
            <a:srgbClr val="0E93B0"/>
          </a:solidFill>
          <a:ln/>
        </p:spPr>
        <p:txBody>
          <a:bodyPr/>
          <a:p/>
        </p:txBody>
      </p:sp>
      <p:sp>
        <p:nvSpPr>
          <p:cNvPr id="30" name="Shape 28"/>
          <p:cNvSpPr/>
          <p:nvPr/>
        </p:nvSpPr>
        <p:spPr>
          <a:xfrm>
            <a:off x="786384" y="3822192"/>
            <a:ext cx="457200" cy="457200"/>
          </a:xfrm>
          <a:prstGeom prst="ellipse">
            <a:avLst/>
          </a:prstGeom>
          <a:solidFill>
            <a:srgbClr val="E8F6FA"/>
          </a:solidFill>
          <a:ln/>
        </p:spPr>
        <p:txBody>
          <a:bodyPr/>
          <a:p/>
        </p:txBody>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txBody>
          <a:bodyPr/>
          <a:p/>
        </p:txBody>
      </p:sp>
      <p:sp>
        <p:nvSpPr>
          <p:cNvPr id="35" name="Shape 33"/>
          <p:cNvSpPr/>
          <p:nvPr/>
        </p:nvSpPr>
        <p:spPr>
          <a:xfrm>
            <a:off x="4325112" y="3602736"/>
            <a:ext cx="82296" cy="1737360"/>
          </a:xfrm>
          <a:prstGeom prst="rect">
            <a:avLst/>
          </a:prstGeom>
          <a:solidFill>
            <a:srgbClr val="E0900C"/>
          </a:solidFill>
          <a:ln/>
        </p:spPr>
        <p:txBody>
          <a:bodyPr/>
          <a:p/>
        </p:txBody>
      </p:sp>
      <p:sp>
        <p:nvSpPr>
          <p:cNvPr id="36" name="Shape 34"/>
          <p:cNvSpPr/>
          <p:nvPr/>
        </p:nvSpPr>
        <p:spPr>
          <a:xfrm>
            <a:off x="4562856" y="3822192"/>
            <a:ext cx="457200" cy="457200"/>
          </a:xfrm>
          <a:prstGeom prst="ellipse">
            <a:avLst/>
          </a:prstGeom>
          <a:solidFill>
            <a:srgbClr val="FEF6E7"/>
          </a:solidFill>
          <a:ln/>
        </p:spPr>
        <p:txBody>
          <a:bodyPr/>
          <a:p/>
        </p:txBody>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Questions, not guesses</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Where the route or material is unclear, the tool shows the choices and the engineer picks.</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txBody>
          <a:bodyPr/>
          <a:p/>
        </p:txBody>
      </p:sp>
      <p:sp>
        <p:nvSpPr>
          <p:cNvPr id="41" name="Shape 39"/>
          <p:cNvSpPr/>
          <p:nvPr/>
        </p:nvSpPr>
        <p:spPr>
          <a:xfrm>
            <a:off x="8101584" y="3602736"/>
            <a:ext cx="82296" cy="1737360"/>
          </a:xfrm>
          <a:prstGeom prst="rect">
            <a:avLst/>
          </a:prstGeom>
          <a:solidFill>
            <a:srgbClr val="0EA472"/>
          </a:solidFill>
          <a:ln/>
        </p:spPr>
        <p:txBody>
          <a:bodyPr/>
          <a:p/>
        </p:txBody>
      </p:sp>
      <p:sp>
        <p:nvSpPr>
          <p:cNvPr id="42" name="Shape 40"/>
          <p:cNvSpPr/>
          <p:nvPr/>
        </p:nvSpPr>
        <p:spPr>
          <a:xfrm>
            <a:off x="8339328" y="3822192"/>
            <a:ext cx="457200" cy="457200"/>
          </a:xfrm>
          <a:prstGeom prst="ellipse">
            <a:avLst/>
          </a:prstGeom>
          <a:solidFill>
            <a:srgbClr val="E7F7F0"/>
          </a:solidFill>
          <a:ln/>
        </p:spPr>
        <p:txBody>
          <a:bodyPr/>
          <a:p/>
        </p:txBody>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txBody>
          <a:bodyPr/>
          <a:p/>
        </p:txBody>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Thick-walled parts:  </a:t>
            </a:r>
            <a:pPr indent="0" marL="0">
              <a:buNone/>
            </a:pPr>
            <a:r>
              <a:rPr lang="en-US" sz="1100" i="1" dirty="0">
                <a:solidFill>
                  <a:srgbClr val="3E4C63"/>
                </a:solidFill>
                <a:latin typeface="Calibri" pitchFamily="34" charset="0"/>
                <a:ea typeface="Calibri" pitchFamily="34" charset="-122"/>
                <a:cs typeface="Calibri" pitchFamily="34" charset="-120"/>
              </a:rPr>
              <a:t>parts with walls over about 6 mm are offered casting, forging, cast + machine or machining — never sheet metal or moulding.</a:t>
            </a:r>
            <a:endParaRPr lang="en-US" sz="1100" dirty="0"/>
          </a:p>
        </p:txBody>
      </p:sp>
      <p:sp>
        <p:nvSpPr>
          <p:cNvPr id="48" name="Shape 46"/>
          <p:cNvSpPr/>
          <p:nvPr/>
        </p:nvSpPr>
        <p:spPr>
          <a:xfrm>
            <a:off x="548640" y="6400800"/>
            <a:ext cx="11094415" cy="12802"/>
          </a:xfrm>
          <a:prstGeom prst="rect">
            <a:avLst/>
          </a:prstGeom>
          <a:solidFill>
            <a:srgbClr val="E4EAF2"/>
          </a:solidFill>
          <a:ln/>
        </p:spPr>
        <p:txBody>
          <a:bodyPr/>
          <a:p/>
        </p:txBody>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built in layers: measured geometry, fixed arithmetic, and checks before anything reaches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txBody>
          <a:bodyPr/>
          <a:p/>
        </p:txBody>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txBody>
          <a:bodyPr/>
          <a:p/>
        </p:txBody>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The geometry engine (OpenCASCADE) measures volume, weight and size. The rules work from what is measured.</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txBody>
          <a:bodyPr/>
          <a:p/>
        </p:txBody>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txBody>
          <a:bodyPr/>
          <a:p/>
        </p:txBody>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Guards and questions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Machining time on near-net cast or forged parts is capped. Where the geometry can't decide, the engineer is asked.</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txBody>
          <a:bodyPr/>
          <a:p/>
        </p:txBody>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It matches a hand calculation of a £23.27 machined bracket to under 0.01%, and gives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txBody>
          <a:bodyPr/>
          <a:p/>
        </p:txBody>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txBody>
          <a:bodyPr/>
          <a:p/>
        </p:txBody>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Self-audit on every result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Flags a wrong machine size, tooling spread over the wrong volume, a material-only costing or an implausible cycle time.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txBody>
          <a:bodyPr/>
          <a:p/>
        </p:txBody>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An honest range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P10–P90 uncertainty band, not just one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txBody>
          <a:bodyPr/>
          <a:p/>
        </p:txBody>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txBody>
          <a:bodyPr/>
          <a:p/>
        </p:txBody>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Pinned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6 real production parts sit in a regression baseline. None has yet been compared with a price JLR paid.</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txBody>
          <a:bodyPr/>
          <a:p/>
        </p:txBody>
      </p:sp>
      <p:sp>
        <p:nvSpPr>
          <p:cNvPr id="36" name="Shape 34"/>
          <p:cNvSpPr/>
          <p:nvPr/>
        </p:nvSpPr>
        <p:spPr>
          <a:xfrm>
            <a:off x="7909560" y="2148840"/>
            <a:ext cx="82296" cy="3749040"/>
          </a:xfrm>
          <a:prstGeom prst="rect">
            <a:avLst/>
          </a:prstGeom>
          <a:solidFill>
            <a:srgbClr val="0EA472"/>
          </a:solidFill>
          <a:ln/>
        </p:spPr>
        <p:txBody>
          <a:bodyPr/>
          <a:p/>
        </p:txBody>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tool can ask — it never quietly decides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fixed, a wrong input gets flagged, not baked into a quote. Accuracy against real prices is measured as actuals are logged.</a:t>
            </a:r>
            <a:endParaRPr lang="en-US" sz="1150" dirty="0"/>
          </a:p>
        </p:txBody>
      </p:sp>
      <p:sp>
        <p:nvSpPr>
          <p:cNvPr id="40" name="Shape 38"/>
          <p:cNvSpPr/>
          <p:nvPr/>
        </p:nvSpPr>
        <p:spPr>
          <a:xfrm>
            <a:off x="548640" y="6400800"/>
            <a:ext cx="11094415" cy="12802"/>
          </a:xfrm>
          <a:prstGeom prst="rect">
            <a:avLst/>
          </a:prstGeom>
          <a:solidFill>
            <a:srgbClr val="E4EAF2"/>
          </a:solidFill>
          <a:ln/>
        </p:spPr>
        <p:txBody>
          <a:bodyPr/>
          <a:p/>
        </p:txBody>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pcb-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0E93B0"/>
          </a:solidFill>
          <a:ln/>
        </p:spPr>
        <p:txBody>
          <a:bodyPr/>
          <a:p/>
        </p:txBody>
      </p:sp>
      <p:sp>
        <p:nvSpPr>
          <p:cNvPr id="7" name="Shape 4"/>
          <p:cNvSpPr/>
          <p:nvPr/>
        </p:nvSpPr>
        <p:spPr>
          <a:xfrm>
            <a:off x="0" y="6729984"/>
            <a:ext cx="12191695" cy="128016"/>
          </a:xfrm>
          <a:prstGeom prst="rect">
            <a:avLst/>
          </a:prstGeom>
          <a:solidFill>
            <a:srgbClr val="0E93B0"/>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E93B0"/>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ONE MORE INPUT · ELECTRONICS</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PCB fab and PCBA</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Electronics — PCB fab and PCBA</a:t>
            </a:r>
            <a:endParaRPr lang="en-US" sz="2400" dirty="0"/>
          </a:p>
        </p:txBody>
      </p:sp>
      <p:sp>
        <p:nvSpPr>
          <p:cNvPr id="9" name="Shape 7"/>
          <p:cNvSpPr/>
          <p:nvPr/>
        </p:nvSpPr>
        <p:spPr>
          <a:xfrm>
            <a:off x="548640" y="1371600"/>
            <a:ext cx="1051560" cy="45720"/>
          </a:xfrm>
          <a:prstGeom prst="rect">
            <a:avLst/>
          </a:prstGeom>
          <a:solidFill>
            <a:srgbClr val="0E93B0"/>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PCB fab and PCBA have their own forms. The fab price is bought in, from fabricators' price tables.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txBody>
          <a:bodyPr/>
          <a:p/>
        </p:txBody>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Default board, £ per board. Fab is a bought-in price, so no overhead or margin is added on top.</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txBody>
          <a:bodyPr/>
          <a:p/>
        </p:txBody>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txBody>
          <a:bodyPr/>
          <a:p/>
        </p:txBody>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PCB fab form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board type, size and layers, priced from fabricators' tables</a:t>
            </a:r>
            <a:endParaRPr lang="en-US" sz="1030" dirty="0"/>
          </a:p>
        </p:txBody>
      </p:sp>
      <p:sp>
        <p:nvSpPr>
          <p:cNvPr id="19" name="Shape 16"/>
          <p:cNvSpPr/>
          <p:nvPr/>
        </p:nvSpPr>
        <p:spPr>
          <a:xfrm>
            <a:off x="6611112" y="3090672"/>
            <a:ext cx="274320" cy="274320"/>
          </a:xfrm>
          <a:prstGeom prst="ellipse">
            <a:avLst/>
          </a:prstGeom>
          <a:solidFill>
            <a:srgbClr val="E7F7F0"/>
          </a:solidFill>
          <a:ln/>
        </p:spPr>
        <p:txBody>
          <a:bodyPr/>
          <a:p/>
        </p:txBody>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PCBA form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SMT, through-hole and BGA placements costed by the engine</a:t>
            </a:r>
            <a:endParaRPr lang="en-US" sz="1030" dirty="0"/>
          </a:p>
        </p:txBody>
      </p:sp>
      <p:sp>
        <p:nvSpPr>
          <p:cNvPr id="22" name="Shape 19"/>
          <p:cNvSpPr/>
          <p:nvPr/>
        </p:nvSpPr>
        <p:spPr>
          <a:xfrm>
            <a:off x="6611112" y="3602736"/>
            <a:ext cx="274320" cy="274320"/>
          </a:xfrm>
          <a:prstGeom prst="ellipse">
            <a:avLst/>
          </a:prstGeom>
          <a:solidFill>
            <a:srgbClr val="F3EEFE"/>
          </a:solidFill>
          <a:ln/>
        </p:spPr>
        <p:txBody>
          <a:bodyPr/>
          <a:p/>
        </p:txBody>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BOM from a file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import the bill of materials as a CSV instead of typing it</a:t>
            </a:r>
            <a:endParaRPr lang="en-US" sz="1030" dirty="0"/>
          </a:p>
        </p:txBody>
      </p:sp>
      <p:sp>
        <p:nvSpPr>
          <p:cNvPr id="25" name="Shape 22"/>
          <p:cNvSpPr/>
          <p:nvPr/>
        </p:nvSpPr>
        <p:spPr>
          <a:xfrm>
            <a:off x="6611112" y="4114800"/>
            <a:ext cx="274320" cy="274320"/>
          </a:xfrm>
          <a:prstGeom prst="ellipse">
            <a:avLst/>
          </a:prstGeom>
          <a:solidFill>
            <a:srgbClr val="EAF1FE"/>
          </a:solidFill>
          <a:ln/>
        </p:spPr>
        <p:txBody>
          <a:bodyPr/>
          <a:p/>
        </p:txBody>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the same board priced across the 20 regions</a:t>
            </a:r>
            <a:endParaRPr lang="en-US" sz="1030" dirty="0"/>
          </a:p>
        </p:txBody>
      </p:sp>
      <p:sp>
        <p:nvSpPr>
          <p:cNvPr id="28" name="Shape 25"/>
          <p:cNvSpPr/>
          <p:nvPr/>
        </p:nvSpPr>
        <p:spPr>
          <a:xfrm>
            <a:off x="6611112" y="4626864"/>
            <a:ext cx="274320" cy="274320"/>
          </a:xfrm>
          <a:prstGeom prst="ellipse">
            <a:avLst/>
          </a:prstGeom>
          <a:solidFill>
            <a:srgbClr val="FEF6E7"/>
          </a:solidFill>
          <a:ln/>
        </p:spPr>
        <p:txBody>
          <a:bodyPr/>
          <a:p/>
        </p:txBody>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Photo → BOM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reads a board photo, but needs AI, so it is hidden at JLR</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txBody>
          <a:bodyPr/>
          <a:p/>
        </p:txBody>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What changed: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fab used to get overhead and margin added to a price that already includes them. On the default board that took £100.44 down to £83.08.</a:t>
            </a:r>
            <a:endParaRPr lang="en-US" sz="1150" dirty="0"/>
          </a:p>
        </p:txBody>
      </p:sp>
      <p:sp>
        <p:nvSpPr>
          <p:cNvPr id="33" name="Shape 30"/>
          <p:cNvSpPr/>
          <p:nvPr/>
        </p:nvSpPr>
        <p:spPr>
          <a:xfrm>
            <a:off x="548640" y="6400800"/>
            <a:ext cx="11094415" cy="12802"/>
          </a:xfrm>
          <a:prstGeom prst="rect">
            <a:avLst/>
          </a:prstGeom>
          <a:solidFill>
            <a:srgbClr val="E4EAF2"/>
          </a:solidFill>
          <a:ln/>
        </p:spPr>
        <p:txBody>
          <a:bodyPr/>
          <a:p/>
        </p:txBody>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manufacturing processes</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bottom-up model for each process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txBody>
          <a:bodyPr/>
          <a:p/>
        </p:txBody>
      </p:sp>
      <p:sp>
        <p:nvSpPr>
          <p:cNvPr id="12" name="Shape 10"/>
          <p:cNvSpPr/>
          <p:nvPr/>
        </p:nvSpPr>
        <p:spPr>
          <a:xfrm>
            <a:off x="768096" y="2066544"/>
            <a:ext cx="128016" cy="128016"/>
          </a:xfrm>
          <a:prstGeom prst="ellipse">
            <a:avLst/>
          </a:prstGeom>
          <a:solidFill>
            <a:srgbClr val="2563EB"/>
          </a:solidFill>
          <a:ln/>
        </p:spPr>
        <p:txBody>
          <a:bodyPr/>
          <a:p/>
        </p:txBody>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Cast + machine</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txBody>
          <a:bodyPr/>
          <a:p/>
        </p:txBody>
      </p:sp>
      <p:sp>
        <p:nvSpPr>
          <p:cNvPr id="15" name="Shape 13"/>
          <p:cNvSpPr/>
          <p:nvPr/>
        </p:nvSpPr>
        <p:spPr>
          <a:xfrm>
            <a:off x="4544568" y="2066544"/>
            <a:ext cx="128016" cy="128016"/>
          </a:xfrm>
          <a:prstGeom prst="ellipse">
            <a:avLst/>
          </a:prstGeom>
          <a:solidFill>
            <a:srgbClr val="0E93B0"/>
          </a:solidFill>
          <a:ln/>
        </p:spPr>
        <p:txBody>
          <a:bodyPr/>
          <a:p/>
        </p:txBody>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Gear cutting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txBody>
          <a:bodyPr/>
          <a:p/>
        </p:txBody>
      </p:sp>
      <p:sp>
        <p:nvSpPr>
          <p:cNvPr id="18" name="Shape 16"/>
          <p:cNvSpPr/>
          <p:nvPr/>
        </p:nvSpPr>
        <p:spPr>
          <a:xfrm>
            <a:off x="8321040" y="2066544"/>
            <a:ext cx="128016" cy="128016"/>
          </a:xfrm>
          <a:prstGeom prst="ellipse">
            <a:avLst/>
          </a:prstGeom>
          <a:solidFill>
            <a:srgbClr val="0DA5A0"/>
          </a:solidFill>
          <a:ln/>
        </p:spPr>
        <p:txBody>
          <a:bodyPr/>
          <a:p/>
        </p:txBody>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txBody>
          <a:bodyPr/>
          <a:p/>
        </p:txBody>
      </p:sp>
      <p:sp>
        <p:nvSpPr>
          <p:cNvPr id="21" name="Shape 19"/>
          <p:cNvSpPr/>
          <p:nvPr/>
        </p:nvSpPr>
        <p:spPr>
          <a:xfrm>
            <a:off x="768096" y="2706624"/>
            <a:ext cx="128016" cy="128016"/>
          </a:xfrm>
          <a:prstGeom prst="ellipse">
            <a:avLst/>
          </a:prstGeom>
          <a:solidFill>
            <a:srgbClr val="4F46E5"/>
          </a:solidFill>
          <a:ln/>
        </p:spPr>
        <p:txBody>
          <a:bodyPr/>
          <a:p/>
        </p:txBody>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txBody>
          <a:bodyPr/>
          <a:p/>
        </p:txBody>
      </p:sp>
      <p:sp>
        <p:nvSpPr>
          <p:cNvPr id="24" name="Shape 22"/>
          <p:cNvSpPr/>
          <p:nvPr/>
        </p:nvSpPr>
        <p:spPr>
          <a:xfrm>
            <a:off x="4544568" y="2706624"/>
            <a:ext cx="128016" cy="128016"/>
          </a:xfrm>
          <a:prstGeom prst="ellipse">
            <a:avLst/>
          </a:prstGeom>
          <a:solidFill>
            <a:srgbClr val="2E90FA"/>
          </a:solidFill>
          <a:ln/>
        </p:spPr>
        <p:txBody>
          <a:bodyPr/>
          <a:p/>
        </p:txBody>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pressed</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txBody>
          <a:bodyPr/>
          <a:p/>
        </p:txBody>
      </p:sp>
      <p:sp>
        <p:nvSpPr>
          <p:cNvPr id="27" name="Shape 25"/>
          <p:cNvSpPr/>
          <p:nvPr/>
        </p:nvSpPr>
        <p:spPr>
          <a:xfrm>
            <a:off x="8321040" y="2706624"/>
            <a:ext cx="128016" cy="128016"/>
          </a:xfrm>
          <a:prstGeom prst="ellipse">
            <a:avLst/>
          </a:prstGeom>
          <a:solidFill>
            <a:srgbClr val="7C3AED"/>
          </a:solidFill>
          <a:ln/>
        </p:spPr>
        <p:txBody>
          <a:bodyPr/>
          <a:p/>
        </p:txBody>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txBody>
          <a:bodyPr/>
          <a:p/>
        </p:txBody>
      </p:sp>
      <p:sp>
        <p:nvSpPr>
          <p:cNvPr id="30" name="Shape 28"/>
          <p:cNvSpPr/>
          <p:nvPr/>
        </p:nvSpPr>
        <p:spPr>
          <a:xfrm>
            <a:off x="768096" y="3346704"/>
            <a:ext cx="128016" cy="128016"/>
          </a:xfrm>
          <a:prstGeom prst="ellipse">
            <a:avLst/>
          </a:prstGeom>
          <a:solidFill>
            <a:srgbClr val="0EA472"/>
          </a:solidFill>
          <a:ln/>
        </p:spPr>
        <p:txBody>
          <a:bodyPr/>
          <a:p/>
        </p:txBody>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txBody>
          <a:bodyPr/>
          <a:p/>
        </p:txBody>
      </p:sp>
      <p:sp>
        <p:nvSpPr>
          <p:cNvPr id="33" name="Shape 31"/>
          <p:cNvSpPr/>
          <p:nvPr/>
        </p:nvSpPr>
        <p:spPr>
          <a:xfrm>
            <a:off x="4544568" y="3346704"/>
            <a:ext cx="128016" cy="128016"/>
          </a:xfrm>
          <a:prstGeom prst="ellipse">
            <a:avLst/>
          </a:prstGeom>
          <a:solidFill>
            <a:srgbClr val="E0900C"/>
          </a:solidFill>
          <a:ln/>
        </p:spPr>
        <p:txBody>
          <a:bodyPr/>
          <a:p/>
        </p:txBody>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txBody>
          <a:bodyPr/>
          <a:p/>
        </p:txBody>
      </p:sp>
      <p:sp>
        <p:nvSpPr>
          <p:cNvPr id="36" name="Shape 34"/>
          <p:cNvSpPr/>
          <p:nvPr/>
        </p:nvSpPr>
        <p:spPr>
          <a:xfrm>
            <a:off x="8321040" y="3346704"/>
            <a:ext cx="128016" cy="128016"/>
          </a:xfrm>
          <a:prstGeom prst="ellipse">
            <a:avLst/>
          </a:prstGeom>
          <a:solidFill>
            <a:srgbClr val="E5484D"/>
          </a:solidFill>
          <a:ln/>
        </p:spPr>
        <p:txBody>
          <a:bodyPr/>
          <a:p/>
        </p:txBody>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txBody>
          <a:bodyPr/>
          <a:p/>
        </p:txBody>
      </p:sp>
      <p:sp>
        <p:nvSpPr>
          <p:cNvPr id="39" name="Shape 37"/>
          <p:cNvSpPr/>
          <p:nvPr/>
        </p:nvSpPr>
        <p:spPr>
          <a:xfrm>
            <a:off x="768096" y="3986784"/>
            <a:ext cx="128016" cy="128016"/>
          </a:xfrm>
          <a:prstGeom prst="ellipse">
            <a:avLst/>
          </a:prstGeom>
          <a:solidFill>
            <a:srgbClr val="2563EB"/>
          </a:solidFill>
          <a:ln/>
        </p:spPr>
        <p:txBody>
          <a:bodyPr/>
          <a:p/>
        </p:txBody>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txBody>
          <a:bodyPr/>
          <a:p/>
        </p:txBody>
      </p:sp>
      <p:sp>
        <p:nvSpPr>
          <p:cNvPr id="42" name="Shape 40"/>
          <p:cNvSpPr/>
          <p:nvPr/>
        </p:nvSpPr>
        <p:spPr>
          <a:xfrm>
            <a:off x="4544568" y="3986784"/>
            <a:ext cx="128016" cy="128016"/>
          </a:xfrm>
          <a:prstGeom prst="ellipse">
            <a:avLst/>
          </a:prstGeom>
          <a:solidFill>
            <a:srgbClr val="0E93B0"/>
          </a:solidFill>
          <a:ln/>
        </p:spPr>
        <p:txBody>
          <a:bodyPr/>
          <a:p/>
        </p:txBody>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txBody>
          <a:bodyPr/>
          <a:p/>
        </p:txBody>
      </p:sp>
      <p:sp>
        <p:nvSpPr>
          <p:cNvPr id="45" name="Shape 43"/>
          <p:cNvSpPr/>
          <p:nvPr/>
        </p:nvSpPr>
        <p:spPr>
          <a:xfrm>
            <a:off x="8321040" y="3986784"/>
            <a:ext cx="128016" cy="128016"/>
          </a:xfrm>
          <a:prstGeom prst="ellipse">
            <a:avLst/>
          </a:prstGeom>
          <a:solidFill>
            <a:srgbClr val="0DA5A0"/>
          </a:solidFill>
          <a:ln/>
        </p:spPr>
        <p:txBody>
          <a:bodyPr/>
          <a:p/>
        </p:txBody>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txBody>
          <a:bodyPr/>
          <a:p/>
        </p:txBody>
      </p:sp>
      <p:sp>
        <p:nvSpPr>
          <p:cNvPr id="48" name="Shape 46"/>
          <p:cNvSpPr/>
          <p:nvPr/>
        </p:nvSpPr>
        <p:spPr>
          <a:xfrm>
            <a:off x="768096" y="4626864"/>
            <a:ext cx="128016" cy="128016"/>
          </a:xfrm>
          <a:prstGeom prst="ellipse">
            <a:avLst/>
          </a:prstGeom>
          <a:solidFill>
            <a:srgbClr val="4F46E5"/>
          </a:solidFill>
          <a:ln/>
        </p:spPr>
        <p:txBody>
          <a:bodyPr/>
          <a:p/>
        </p:txBody>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txBody>
          <a:bodyPr/>
          <a:p/>
        </p:txBody>
      </p:sp>
      <p:sp>
        <p:nvSpPr>
          <p:cNvPr id="51" name="Shape 49"/>
          <p:cNvSpPr/>
          <p:nvPr/>
        </p:nvSpPr>
        <p:spPr>
          <a:xfrm>
            <a:off x="4544568" y="4626864"/>
            <a:ext cx="128016" cy="128016"/>
          </a:xfrm>
          <a:prstGeom prst="ellipse">
            <a:avLst/>
          </a:prstGeom>
          <a:solidFill>
            <a:srgbClr val="2E90FA"/>
          </a:solidFill>
          <a:ln/>
        </p:spPr>
        <p:txBody>
          <a:bodyPr/>
          <a:p/>
        </p:txBody>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txBody>
          <a:bodyPr/>
          <a:p/>
        </p:txBody>
      </p:sp>
      <p:sp>
        <p:nvSpPr>
          <p:cNvPr id="54" name="Shape 52"/>
          <p:cNvSpPr/>
          <p:nvPr/>
        </p:nvSpPr>
        <p:spPr>
          <a:xfrm>
            <a:off x="8321040" y="4626864"/>
            <a:ext cx="128016" cy="128016"/>
          </a:xfrm>
          <a:prstGeom prst="ellipse">
            <a:avLst/>
          </a:prstGeom>
          <a:solidFill>
            <a:srgbClr val="7C3AED"/>
          </a:solidFill>
          <a:ln/>
        </p:spPr>
        <p:txBody>
          <a:bodyPr/>
          <a:p/>
        </p:txBody>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txBody>
          <a:bodyPr/>
          <a:p/>
        </p:txBody>
      </p:sp>
      <p:sp>
        <p:nvSpPr>
          <p:cNvPr id="57" name="Shape 55"/>
          <p:cNvSpPr/>
          <p:nvPr/>
        </p:nvSpPr>
        <p:spPr>
          <a:xfrm>
            <a:off x="768096" y="5266944"/>
            <a:ext cx="128016" cy="128016"/>
          </a:xfrm>
          <a:prstGeom prst="ellipse">
            <a:avLst/>
          </a:prstGeom>
          <a:solidFill>
            <a:srgbClr val="0EA472"/>
          </a:solidFill>
          <a:ln/>
        </p:spPr>
        <p:txBody>
          <a:bodyPr/>
          <a:p/>
        </p:txBody>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txBody>
          <a:bodyPr/>
          <a:p/>
        </p:txBody>
      </p:sp>
      <p:sp>
        <p:nvSpPr>
          <p:cNvPr id="60" name="Shape 58"/>
          <p:cNvSpPr/>
          <p:nvPr/>
        </p:nvSpPr>
        <p:spPr>
          <a:xfrm>
            <a:off x="4544568" y="5266944"/>
            <a:ext cx="128016" cy="128016"/>
          </a:xfrm>
          <a:prstGeom prst="ellipse">
            <a:avLst/>
          </a:prstGeom>
          <a:solidFill>
            <a:srgbClr val="E0900C"/>
          </a:solidFill>
          <a:ln/>
        </p:spPr>
        <p:txBody>
          <a:bodyPr/>
          <a:p/>
        </p:txBody>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txBody>
          <a:bodyPr/>
          <a:p/>
        </p:txBody>
      </p:sp>
      <p:sp>
        <p:nvSpPr>
          <p:cNvPr id="63" name="Shape 61"/>
          <p:cNvSpPr/>
          <p:nvPr/>
        </p:nvSpPr>
        <p:spPr>
          <a:xfrm>
            <a:off x="8321040" y="5266944"/>
            <a:ext cx="128016" cy="128016"/>
          </a:xfrm>
          <a:prstGeom prst="ellipse">
            <a:avLst/>
          </a:prstGeom>
          <a:solidFill>
            <a:srgbClr val="E5484D"/>
          </a:solidFill>
          <a:ln/>
        </p:spPr>
        <p:txBody>
          <a:bodyPr/>
          <a:p/>
        </p:txBody>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txBody>
          <a:bodyPr/>
          <a:p/>
        </p:txBody>
      </p:sp>
      <p:sp>
        <p:nvSpPr>
          <p:cNvPr id="66" name="Shape 64"/>
          <p:cNvSpPr/>
          <p:nvPr/>
        </p:nvSpPr>
        <p:spPr>
          <a:xfrm>
            <a:off x="548640" y="5742432"/>
            <a:ext cx="82296" cy="548640"/>
          </a:xfrm>
          <a:prstGeom prst="rect">
            <a:avLst/>
          </a:prstGeom>
          <a:solidFill>
            <a:srgbClr val="E0900C"/>
          </a:solidFill>
          <a:ln/>
        </p:spPr>
        <p:txBody>
          <a:bodyPr/>
          <a:p/>
        </p:txBody>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8-bucket cost stack (material → margin). Plus an assembly roll-up and a software cost model. Every part then prices across 20 regions.</a:t>
            </a:r>
            <a:endParaRPr lang="en-US" sz="1150" dirty="0"/>
          </a:p>
        </p:txBody>
      </p:sp>
      <p:sp>
        <p:nvSpPr>
          <p:cNvPr id="68" name="Shape 66"/>
          <p:cNvSpPr/>
          <p:nvPr/>
        </p:nvSpPr>
        <p:spPr>
          <a:xfrm>
            <a:off x="548640" y="6400800"/>
            <a:ext cx="11094415" cy="12802"/>
          </a:xfrm>
          <a:prstGeom prst="rect">
            <a:avLst/>
          </a:prstGeom>
          <a:solidFill>
            <a:srgbClr val="E4EAF2"/>
          </a:solidFill>
          <a:ln/>
        </p:spPr>
        <p:txBody>
          <a:bodyPr/>
          <a:p/>
        </p:txBody>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globe-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0DA5A0"/>
          </a:solidFill>
          <a:ln/>
        </p:spPr>
        <p:txBody>
          <a:bodyPr/>
          <a:p/>
        </p:txBody>
      </p:sp>
      <p:sp>
        <p:nvSpPr>
          <p:cNvPr id="7" name="Shape 4"/>
          <p:cNvSpPr/>
          <p:nvPr/>
        </p:nvSpPr>
        <p:spPr>
          <a:xfrm>
            <a:off x="0" y="6729984"/>
            <a:ext cx="12191695" cy="128016"/>
          </a:xfrm>
          <a:prstGeom prst="rect">
            <a:avLst/>
          </a:prstGeom>
          <a:solidFill>
            <a:srgbClr val="0DA5A0"/>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 · SHOULD-COST MODEL</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Global should-cost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rates — fixed arithmetic, open to inspection.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txBody>
          <a:bodyPr/>
          <a:p/>
        </p:txBody>
      </p:sp>
      <p:sp>
        <p:nvSpPr>
          <p:cNvPr id="12" name="Shape 10"/>
          <p:cNvSpPr/>
          <p:nvPr/>
        </p:nvSpPr>
        <p:spPr>
          <a:xfrm>
            <a:off x="548640" y="2057400"/>
            <a:ext cx="2487168" cy="82296"/>
          </a:xfrm>
          <a:prstGeom prst="rect">
            <a:avLst/>
          </a:prstGeom>
          <a:solidFill>
            <a:srgbClr val="2563EB"/>
          </a:solidFill>
          <a:ln/>
        </p:spPr>
        <p:txBody>
          <a:bodyPr/>
          <a:p/>
        </p:txBody>
      </p:sp>
      <p:sp>
        <p:nvSpPr>
          <p:cNvPr id="13" name="Shape 11"/>
          <p:cNvSpPr/>
          <p:nvPr/>
        </p:nvSpPr>
        <p:spPr>
          <a:xfrm>
            <a:off x="1536192" y="2258568"/>
            <a:ext cx="512064" cy="512064"/>
          </a:xfrm>
          <a:prstGeom prst="ellipse">
            <a:avLst/>
          </a:prstGeom>
          <a:solidFill>
            <a:srgbClr val="EAF1FE"/>
          </a:solidFill>
          <a:ln/>
        </p:spPr>
        <p:txBody>
          <a:bodyPr/>
          <a:p/>
        </p:txBody>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process form</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txBody>
          <a:bodyPr/>
          <a:p/>
        </p:txBody>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txBody>
          <a:bodyPr/>
          <a:p/>
        </p:txBody>
      </p:sp>
      <p:sp>
        <p:nvSpPr>
          <p:cNvPr id="19" name="Shape 17"/>
          <p:cNvSpPr/>
          <p:nvPr/>
        </p:nvSpPr>
        <p:spPr>
          <a:xfrm>
            <a:off x="3355848" y="2057400"/>
            <a:ext cx="2487168" cy="82296"/>
          </a:xfrm>
          <a:prstGeom prst="rect">
            <a:avLst/>
          </a:prstGeom>
          <a:solidFill>
            <a:srgbClr val="0DA5A0"/>
          </a:solidFill>
          <a:ln/>
        </p:spPr>
        <p:txBody>
          <a:bodyPr/>
          <a:p/>
        </p:txBody>
      </p:sp>
      <p:sp>
        <p:nvSpPr>
          <p:cNvPr id="20" name="Shape 18"/>
          <p:cNvSpPr/>
          <p:nvPr/>
        </p:nvSpPr>
        <p:spPr>
          <a:xfrm>
            <a:off x="4343400" y="2258568"/>
            <a:ext cx="512064" cy="512064"/>
          </a:xfrm>
          <a:prstGeom prst="ellipse">
            <a:avLst/>
          </a:prstGeom>
          <a:solidFill>
            <a:srgbClr val="E7F7F0"/>
          </a:solidFill>
          <a:ln/>
        </p:spPr>
        <p:txBody>
          <a:bodyPr/>
          <a:p/>
        </p:txBody>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txBody>
          <a:bodyPr/>
          <a:p/>
        </p:txBody>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txBody>
          <a:bodyPr/>
          <a:p/>
        </p:txBody>
      </p:sp>
      <p:sp>
        <p:nvSpPr>
          <p:cNvPr id="26" name="Shape 24"/>
          <p:cNvSpPr/>
          <p:nvPr/>
        </p:nvSpPr>
        <p:spPr>
          <a:xfrm>
            <a:off x="6163056" y="2057400"/>
            <a:ext cx="2487168" cy="82296"/>
          </a:xfrm>
          <a:prstGeom prst="rect">
            <a:avLst/>
          </a:prstGeom>
          <a:solidFill>
            <a:srgbClr val="E0900C"/>
          </a:solidFill>
          <a:ln/>
        </p:spPr>
        <p:txBody>
          <a:bodyPr/>
          <a:p/>
        </p:txBody>
      </p:sp>
      <p:sp>
        <p:nvSpPr>
          <p:cNvPr id="27" name="Shape 25"/>
          <p:cNvSpPr/>
          <p:nvPr/>
        </p:nvSpPr>
        <p:spPr>
          <a:xfrm>
            <a:off x="7150608" y="2258568"/>
            <a:ext cx="512064" cy="512064"/>
          </a:xfrm>
          <a:prstGeom prst="ellipse">
            <a:avLst/>
          </a:prstGeom>
          <a:solidFill>
            <a:srgbClr val="FEF6E7"/>
          </a:solidFill>
          <a:ln/>
        </p:spPr>
        <p:txBody>
          <a:bodyPr/>
          <a:p/>
        </p:txBody>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txBody>
          <a:bodyPr/>
          <a:p/>
        </p:txBody>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txBody>
          <a:bodyPr/>
          <a:p/>
        </p:txBody>
      </p:sp>
      <p:sp>
        <p:nvSpPr>
          <p:cNvPr id="33" name="Shape 31"/>
          <p:cNvSpPr/>
          <p:nvPr/>
        </p:nvSpPr>
        <p:spPr>
          <a:xfrm>
            <a:off x="8970264" y="2057400"/>
            <a:ext cx="2487168" cy="82296"/>
          </a:xfrm>
          <a:prstGeom prst="rect">
            <a:avLst/>
          </a:prstGeom>
          <a:solidFill>
            <a:srgbClr val="0EA472"/>
          </a:solidFill>
          <a:ln/>
        </p:spPr>
        <p:txBody>
          <a:bodyPr/>
          <a:p/>
        </p:txBody>
      </p:sp>
      <p:sp>
        <p:nvSpPr>
          <p:cNvPr id="34" name="Shape 32"/>
          <p:cNvSpPr/>
          <p:nvPr/>
        </p:nvSpPr>
        <p:spPr>
          <a:xfrm>
            <a:off x="9957816" y="2258568"/>
            <a:ext cx="512064" cy="512064"/>
          </a:xfrm>
          <a:prstGeom prst="ellipse">
            <a:avLst/>
          </a:prstGeom>
          <a:solidFill>
            <a:srgbClr val="E7F7F0"/>
          </a:solidFill>
          <a:ln/>
        </p:spPr>
        <p:txBody>
          <a:bodyPr/>
          <a:p/>
        </p:txBody>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txBody>
          <a:bodyPr/>
          <a:p/>
        </p:txBody>
      </p:sp>
      <p:sp>
        <p:nvSpPr>
          <p:cNvPr id="39" name="Shape 37"/>
          <p:cNvSpPr/>
          <p:nvPr/>
        </p:nvSpPr>
        <p:spPr>
          <a:xfrm>
            <a:off x="548640" y="3749040"/>
            <a:ext cx="82296" cy="2103120"/>
          </a:xfrm>
          <a:prstGeom prst="rect">
            <a:avLst/>
          </a:prstGeom>
          <a:solidFill>
            <a:srgbClr val="2563EB"/>
          </a:solidFill>
          <a:ln/>
        </p:spPr>
        <p:txBody>
          <a:bodyPr/>
          <a:p/>
        </p:txBody>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we give it</a:t>
            </a:r>
            <a:endParaRPr lang="en-US" sz="1350" dirty="0"/>
          </a:p>
        </p:txBody>
      </p:sp>
      <p:sp>
        <p:nvSpPr>
          <p:cNvPr id="41" name="Shape 39"/>
          <p:cNvSpPr/>
          <p:nvPr/>
        </p:nvSpPr>
        <p:spPr>
          <a:xfrm>
            <a:off x="822960" y="4315968"/>
            <a:ext cx="292608" cy="292608"/>
          </a:xfrm>
          <a:prstGeom prst="ellipse">
            <a:avLst/>
          </a:prstGeom>
          <a:solidFill>
            <a:srgbClr val="EAF1FE"/>
          </a:solidFill>
          <a:ln/>
        </p:spPr>
        <p:txBody>
          <a:bodyPr/>
          <a:p/>
        </p:txBody>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or a process form</a:t>
            </a:r>
            <a:endParaRPr lang="en-US" sz="1080" dirty="0"/>
          </a:p>
        </p:txBody>
      </p:sp>
      <p:sp>
        <p:nvSpPr>
          <p:cNvPr id="44" name="Shape 42"/>
          <p:cNvSpPr/>
          <p:nvPr/>
        </p:nvSpPr>
        <p:spPr>
          <a:xfrm>
            <a:off x="822960" y="4818888"/>
            <a:ext cx="292608" cy="292608"/>
          </a:xfrm>
          <a:prstGeom prst="ellipse">
            <a:avLst/>
          </a:prstGeom>
          <a:solidFill>
            <a:srgbClr val="EAF1FE"/>
          </a:solidFill>
          <a:ln/>
        </p:spPr>
        <p:txBody>
          <a:bodyPr/>
          <a:p/>
        </p:txBody>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txBody>
          <a:bodyPr/>
          <a:p/>
        </p:txBody>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sets tooling spread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txBody>
          <a:bodyPr/>
          <a:p/>
        </p:txBody>
      </p:sp>
      <p:sp>
        <p:nvSpPr>
          <p:cNvPr id="51" name="Shape 49"/>
          <p:cNvSpPr/>
          <p:nvPr/>
        </p:nvSpPr>
        <p:spPr>
          <a:xfrm>
            <a:off x="6245352" y="3749040"/>
            <a:ext cx="82296" cy="2103120"/>
          </a:xfrm>
          <a:prstGeom prst="rect">
            <a:avLst/>
          </a:prstGeom>
          <a:solidFill>
            <a:srgbClr val="0DA5A0"/>
          </a:solidFill>
          <a:ln/>
        </p:spPr>
        <p:txBody>
          <a:bodyPr/>
          <a:p/>
        </p:txBody>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txBody>
          <a:bodyPr/>
          <a:p/>
        </p:txBody>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txBody>
          <a:bodyPr/>
          <a:p/>
        </p:txBody>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txBody>
          <a:bodyPr/>
          <a:p/>
        </p:txBody>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txBody>
          <a:bodyPr/>
          <a:p/>
        </p:txBody>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txBody>
          <a:bodyPr/>
          <a:p/>
        </p:txBody>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txBody>
          <a:bodyPr/>
          <a:p/>
        </p:txBody>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txBody>
          <a:bodyPr/>
          <a:p/>
        </p:txBody>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txBody>
          <a:bodyPr/>
          <a:p/>
        </p:txBody>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txBody>
          <a:bodyPr/>
          <a:p/>
        </p:txBody>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2026-Q2 rates every costing uses — labour, energy and the regional multipliers. Nothing is hidden.</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txBody>
          <a:bodyPr/>
          <a:p/>
        </p:txBody>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txBody>
          <a:bodyPr/>
          <a:p/>
        </p:txBody>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txBody>
          <a:bodyPr/>
          <a:p/>
        </p:txBody>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txBody>
          <a:bodyPr/>
          <a:p/>
        </p:txBody>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txBody>
          <a:bodyPr/>
          <a:p/>
        </p:txBody>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txBody>
          <a:bodyPr/>
          <a:p/>
        </p:txBody>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txBody>
          <a:bodyPr/>
          <a:p/>
        </p:txBody>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txBody>
          <a:bodyPr/>
          <a:p/>
        </p:txBody>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txBody>
          <a:bodyPr/>
          <a:p/>
        </p:txBody>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txBody>
          <a:bodyPr/>
          <a:p/>
        </p:txBody>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txBody>
          <a:bodyPr/>
          <a:p/>
        </p:txBody>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txBody>
          <a:bodyPr/>
          <a:p/>
        </p:txBody>
      </p:sp>
      <p:sp>
        <p:nvSpPr>
          <p:cNvPr id="100" name="Shape 98"/>
          <p:cNvSpPr/>
          <p:nvPr/>
        </p:nvSpPr>
        <p:spPr>
          <a:xfrm>
            <a:off x="548640" y="5696712"/>
            <a:ext cx="82296" cy="566928"/>
          </a:xfrm>
          <a:prstGeom prst="rect">
            <a:avLst/>
          </a:prstGeom>
          <a:solidFill>
            <a:srgbClr val="E0900C"/>
          </a:solidFill>
          <a:ln/>
        </p:spPr>
        <p:txBody>
          <a:bodyPr/>
          <a:p/>
        </p:txBody>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From the rate library dated 16 June 2026. Material factors, FX, gas, packaging and duty sit behind these — one versioned library, used by every costing.</a:t>
            </a:r>
            <a:endParaRPr lang="en-US" sz="1050" dirty="0"/>
          </a:p>
        </p:txBody>
      </p:sp>
      <p:sp>
        <p:nvSpPr>
          <p:cNvPr id="102" name="Shape 100"/>
          <p:cNvSpPr/>
          <p:nvPr/>
        </p:nvSpPr>
        <p:spPr>
          <a:xfrm>
            <a:off x="548640" y="6400800"/>
            <a:ext cx="11094415" cy="12802"/>
          </a:xfrm>
          <a:prstGeom prst="rect">
            <a:avLst/>
          </a:prstGeom>
          <a:solidFill>
            <a:srgbClr val="E4EAF2"/>
          </a:solidFill>
          <a:ln/>
        </p:spPr>
        <p:txBody>
          <a:bodyPr/>
          <a:p/>
        </p:txBody>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Bring our own rates — our rates, our numbers</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481328"/>
            <a:ext cx="11091672"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Upload our own cost rates as one Excel workbook. Every costing then runs on our numbers — checked on upload, versioned and traceable.</a:t>
            </a:r>
            <a:endParaRPr lang="en-US" sz="1200" dirty="0"/>
          </a:p>
        </p:txBody>
      </p:sp>
      <p:sp>
        <p:nvSpPr>
          <p:cNvPr id="11" name="Shape 9"/>
          <p:cNvSpPr/>
          <p:nvPr/>
        </p:nvSpPr>
        <p:spPr>
          <a:xfrm>
            <a:off x="54864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txBody>
          <a:bodyPr/>
          <a:p/>
        </p:txBody>
      </p:sp>
      <p:sp>
        <p:nvSpPr>
          <p:cNvPr id="12" name="Shape 10"/>
          <p:cNvSpPr/>
          <p:nvPr/>
        </p:nvSpPr>
        <p:spPr>
          <a:xfrm>
            <a:off x="548640" y="1938528"/>
            <a:ext cx="82296" cy="1371600"/>
          </a:xfrm>
          <a:prstGeom prst="rect">
            <a:avLst/>
          </a:prstGeom>
          <a:solidFill>
            <a:srgbClr val="2563EB"/>
          </a:solidFill>
          <a:ln/>
        </p:spPr>
        <p:txBody>
          <a:bodyPr/>
          <a:p/>
        </p:txBody>
      </p:sp>
      <p:sp>
        <p:nvSpPr>
          <p:cNvPr id="13" name="Text 11"/>
          <p:cNvSpPr/>
          <p:nvPr/>
        </p:nvSpPr>
        <p:spPr>
          <a:xfrm>
            <a:off x="731520" y="2084832"/>
            <a:ext cx="1495044" cy="27432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Materials</a:t>
            </a:r>
            <a:endParaRPr lang="en-US" sz="1250" dirty="0"/>
          </a:p>
        </p:txBody>
      </p:sp>
      <p:sp>
        <p:nvSpPr>
          <p:cNvPr id="14" name="Text 12"/>
          <p:cNvSpPr/>
          <p:nvPr/>
        </p:nvSpPr>
        <p:spPr>
          <a:xfrm>
            <a:off x="73152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£/kg, scrap-recovery £/kg, density, region — with effective date</a:t>
            </a:r>
            <a:endParaRPr lang="en-US" sz="830" dirty="0"/>
          </a:p>
        </p:txBody>
      </p:sp>
      <p:sp>
        <p:nvSpPr>
          <p:cNvPr id="15" name="Shape 13"/>
          <p:cNvSpPr/>
          <p:nvPr/>
        </p:nvSpPr>
        <p:spPr>
          <a:xfrm>
            <a:off x="2409444"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txBody>
          <a:bodyPr/>
          <a:p/>
        </p:txBody>
      </p:sp>
      <p:sp>
        <p:nvSpPr>
          <p:cNvPr id="16" name="Shape 14"/>
          <p:cNvSpPr/>
          <p:nvPr/>
        </p:nvSpPr>
        <p:spPr>
          <a:xfrm>
            <a:off x="2409444" y="1938528"/>
            <a:ext cx="82296" cy="1371600"/>
          </a:xfrm>
          <a:prstGeom prst="rect">
            <a:avLst/>
          </a:prstGeom>
          <a:solidFill>
            <a:srgbClr val="4F46E5"/>
          </a:solidFill>
          <a:ln/>
        </p:spPr>
        <p:txBody>
          <a:bodyPr/>
          <a:p/>
        </p:txBody>
      </p:sp>
      <p:sp>
        <p:nvSpPr>
          <p:cNvPr id="17" name="Text 15"/>
          <p:cNvSpPr/>
          <p:nvPr/>
        </p:nvSpPr>
        <p:spPr>
          <a:xfrm>
            <a:off x="2592324" y="2084832"/>
            <a:ext cx="1495044" cy="27432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Machines</a:t>
            </a:r>
            <a:endParaRPr lang="en-US" sz="1250" dirty="0"/>
          </a:p>
        </p:txBody>
      </p:sp>
      <p:sp>
        <p:nvSpPr>
          <p:cNvPr id="18" name="Text 16"/>
          <p:cNvSpPr/>
          <p:nvPr/>
        </p:nvSpPr>
        <p:spPr>
          <a:xfrm>
            <a:off x="2592324"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 rate build-up (deprec., maint., energy, floor, finance, hours, utilisation) → £/hr</a:t>
            </a:r>
            <a:endParaRPr lang="en-US" sz="830" dirty="0"/>
          </a:p>
        </p:txBody>
      </p:sp>
      <p:sp>
        <p:nvSpPr>
          <p:cNvPr id="19" name="Shape 17"/>
          <p:cNvSpPr/>
          <p:nvPr/>
        </p:nvSpPr>
        <p:spPr>
          <a:xfrm>
            <a:off x="4270248"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txBody>
          <a:bodyPr/>
          <a:p/>
        </p:txBody>
      </p:sp>
      <p:sp>
        <p:nvSpPr>
          <p:cNvPr id="20" name="Shape 18"/>
          <p:cNvSpPr/>
          <p:nvPr/>
        </p:nvSpPr>
        <p:spPr>
          <a:xfrm>
            <a:off x="4270248" y="1938528"/>
            <a:ext cx="82296" cy="1371600"/>
          </a:xfrm>
          <a:prstGeom prst="rect">
            <a:avLst/>
          </a:prstGeom>
          <a:solidFill>
            <a:srgbClr val="0DA5A0"/>
          </a:solidFill>
          <a:ln/>
        </p:spPr>
        <p:txBody>
          <a:bodyPr/>
          <a:p/>
        </p:txBody>
      </p:sp>
      <p:sp>
        <p:nvSpPr>
          <p:cNvPr id="21" name="Text 19"/>
          <p:cNvSpPr/>
          <p:nvPr/>
        </p:nvSpPr>
        <p:spPr>
          <a:xfrm>
            <a:off x="4453128" y="2084832"/>
            <a:ext cx="1495044" cy="274320"/>
          </a:xfrm>
          <a:prstGeom prst="rect">
            <a:avLst/>
          </a:prstGeom>
          <a:noFill/>
          <a:ln/>
        </p:spPr>
        <p:txBody>
          <a:bodyPr wrap="square" lIns="0" tIns="0" rIns="0" bIns="0" rtlCol="0" anchor="t"/>
          <a:lstStyle/>
          <a:p>
            <a:pPr indent="0" marL="0">
              <a:buNone/>
            </a:pPr>
            <a:r>
              <a:rPr lang="en-US" sz="1250" b="1" dirty="0">
                <a:solidFill>
                  <a:srgbClr val="0DA5A0"/>
                </a:solidFill>
                <a:latin typeface="Calibri" pitchFamily="34" charset="0"/>
                <a:ea typeface="Calibri" pitchFamily="34" charset="-122"/>
                <a:cs typeface="Calibri" pitchFamily="34" charset="-120"/>
              </a:rPr>
              <a:t>Labour</a:t>
            </a:r>
            <a:endParaRPr lang="en-US" sz="1250" dirty="0"/>
          </a:p>
        </p:txBody>
      </p:sp>
      <p:sp>
        <p:nvSpPr>
          <p:cNvPr id="22" name="Text 20"/>
          <p:cNvSpPr/>
          <p:nvPr/>
        </p:nvSpPr>
        <p:spPr>
          <a:xfrm>
            <a:off x="4453128"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Fully-loaded £/hr by region and skill level</a:t>
            </a:r>
            <a:endParaRPr lang="en-US" sz="830" dirty="0"/>
          </a:p>
        </p:txBody>
      </p:sp>
      <p:sp>
        <p:nvSpPr>
          <p:cNvPr id="23" name="Shape 21"/>
          <p:cNvSpPr/>
          <p:nvPr/>
        </p:nvSpPr>
        <p:spPr>
          <a:xfrm>
            <a:off x="6131052"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txBody>
          <a:bodyPr/>
          <a:p/>
        </p:txBody>
      </p:sp>
      <p:sp>
        <p:nvSpPr>
          <p:cNvPr id="24" name="Shape 22"/>
          <p:cNvSpPr/>
          <p:nvPr/>
        </p:nvSpPr>
        <p:spPr>
          <a:xfrm>
            <a:off x="6131052" y="1938528"/>
            <a:ext cx="82296" cy="1371600"/>
          </a:xfrm>
          <a:prstGeom prst="rect">
            <a:avLst/>
          </a:prstGeom>
          <a:solidFill>
            <a:srgbClr val="E0900C"/>
          </a:solidFill>
          <a:ln/>
        </p:spPr>
        <p:txBody>
          <a:bodyPr/>
          <a:p/>
        </p:txBody>
      </p:sp>
      <p:sp>
        <p:nvSpPr>
          <p:cNvPr id="25" name="Text 23"/>
          <p:cNvSpPr/>
          <p:nvPr/>
        </p:nvSpPr>
        <p:spPr>
          <a:xfrm>
            <a:off x="6313932" y="2084832"/>
            <a:ext cx="1495044" cy="274320"/>
          </a:xfrm>
          <a:prstGeom prst="rect">
            <a:avLst/>
          </a:prstGeom>
          <a:noFill/>
          <a:ln/>
        </p:spPr>
        <p:txBody>
          <a:bodyPr wrap="square" lIns="0" tIns="0" rIns="0" bIns="0" rtlCol="0" anchor="t"/>
          <a:lstStyle/>
          <a:p>
            <a:pPr indent="0" marL="0">
              <a:buNone/>
            </a:pPr>
            <a:r>
              <a:rPr lang="en-US" sz="1250" b="1" dirty="0">
                <a:solidFill>
                  <a:srgbClr val="E0900C"/>
                </a:solidFill>
                <a:latin typeface="Calibri" pitchFamily="34" charset="0"/>
                <a:ea typeface="Calibri" pitchFamily="34" charset="-122"/>
                <a:cs typeface="Calibri" pitchFamily="34" charset="-120"/>
              </a:rPr>
              <a:t>Energy</a:t>
            </a:r>
            <a:endParaRPr lang="en-US" sz="1250" dirty="0"/>
          </a:p>
        </p:txBody>
      </p:sp>
      <p:sp>
        <p:nvSpPr>
          <p:cNvPr id="26" name="Text 24"/>
          <p:cNvSpPr/>
          <p:nvPr/>
        </p:nvSpPr>
        <p:spPr>
          <a:xfrm>
            <a:off x="6313932"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Electricity &amp; gas £/kWh by region</a:t>
            </a:r>
            <a:endParaRPr lang="en-US" sz="830" dirty="0"/>
          </a:p>
        </p:txBody>
      </p:sp>
      <p:sp>
        <p:nvSpPr>
          <p:cNvPr id="27" name="Shape 25"/>
          <p:cNvSpPr/>
          <p:nvPr/>
        </p:nvSpPr>
        <p:spPr>
          <a:xfrm>
            <a:off x="7991856"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txBody>
          <a:bodyPr/>
          <a:p/>
        </p:txBody>
      </p:sp>
      <p:sp>
        <p:nvSpPr>
          <p:cNvPr id="28" name="Shape 26"/>
          <p:cNvSpPr/>
          <p:nvPr/>
        </p:nvSpPr>
        <p:spPr>
          <a:xfrm>
            <a:off x="7991856" y="1938528"/>
            <a:ext cx="82296" cy="1371600"/>
          </a:xfrm>
          <a:prstGeom prst="rect">
            <a:avLst/>
          </a:prstGeom>
          <a:solidFill>
            <a:srgbClr val="0E93B0"/>
          </a:solidFill>
          <a:ln/>
        </p:spPr>
        <p:txBody>
          <a:bodyPr/>
          <a:p/>
        </p:txBody>
      </p:sp>
      <p:sp>
        <p:nvSpPr>
          <p:cNvPr id="29" name="Text 27"/>
          <p:cNvSpPr/>
          <p:nvPr/>
        </p:nvSpPr>
        <p:spPr>
          <a:xfrm>
            <a:off x="8174736" y="2084832"/>
            <a:ext cx="1495044" cy="274320"/>
          </a:xfrm>
          <a:prstGeom prst="rect">
            <a:avLst/>
          </a:prstGeom>
          <a:noFill/>
          <a:ln/>
        </p:spPr>
        <p:txBody>
          <a:bodyPr wrap="square" lIns="0" tIns="0" rIns="0" bIns="0" rtlCol="0" anchor="t"/>
          <a:lstStyle/>
          <a:p>
            <a:pPr indent="0" marL="0">
              <a:buNone/>
            </a:pPr>
            <a:r>
              <a:rPr lang="en-US" sz="1250" b="1" dirty="0">
                <a:solidFill>
                  <a:srgbClr val="0E93B0"/>
                </a:solidFill>
                <a:latin typeface="Calibri" pitchFamily="34" charset="0"/>
                <a:ea typeface="Calibri" pitchFamily="34" charset="-122"/>
                <a:cs typeface="Calibri" pitchFamily="34" charset="-120"/>
              </a:rPr>
              <a:t>FX</a:t>
            </a:r>
            <a:endParaRPr lang="en-US" sz="1250" dirty="0"/>
          </a:p>
        </p:txBody>
      </p:sp>
      <p:sp>
        <p:nvSpPr>
          <p:cNvPr id="30" name="Text 28"/>
          <p:cNvSpPr/>
          <p:nvPr/>
        </p:nvSpPr>
        <p:spPr>
          <a:xfrm>
            <a:off x="8174736"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Currency pairs and exchange rates</a:t>
            </a:r>
            <a:endParaRPr lang="en-US" sz="830" dirty="0"/>
          </a:p>
        </p:txBody>
      </p:sp>
      <p:sp>
        <p:nvSpPr>
          <p:cNvPr id="31" name="Shape 29"/>
          <p:cNvSpPr/>
          <p:nvPr/>
        </p:nvSpPr>
        <p:spPr>
          <a:xfrm>
            <a:off x="985266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txBody>
          <a:bodyPr/>
          <a:p/>
        </p:txBody>
      </p:sp>
      <p:sp>
        <p:nvSpPr>
          <p:cNvPr id="32" name="Shape 30"/>
          <p:cNvSpPr/>
          <p:nvPr/>
        </p:nvSpPr>
        <p:spPr>
          <a:xfrm>
            <a:off x="9852660" y="1938528"/>
            <a:ext cx="82296" cy="1371600"/>
          </a:xfrm>
          <a:prstGeom prst="rect">
            <a:avLst/>
          </a:prstGeom>
          <a:solidFill>
            <a:srgbClr val="7C3AED"/>
          </a:solidFill>
          <a:ln/>
        </p:spPr>
        <p:txBody>
          <a:bodyPr/>
          <a:p/>
        </p:txBody>
      </p:sp>
      <p:sp>
        <p:nvSpPr>
          <p:cNvPr id="33" name="Text 31"/>
          <p:cNvSpPr/>
          <p:nvPr/>
        </p:nvSpPr>
        <p:spPr>
          <a:xfrm>
            <a:off x="10035540" y="2084832"/>
            <a:ext cx="1495044" cy="27432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Overhead</a:t>
            </a:r>
            <a:endParaRPr lang="en-US" sz="1250" dirty="0"/>
          </a:p>
        </p:txBody>
      </p:sp>
      <p:sp>
        <p:nvSpPr>
          <p:cNvPr id="34" name="Text 32"/>
          <p:cNvSpPr/>
          <p:nvPr/>
        </p:nvSpPr>
        <p:spPr>
          <a:xfrm>
            <a:off x="1003554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Overhead % and margin % by commodity and supplier tier</a:t>
            </a:r>
            <a:endParaRPr lang="en-US" sz="830" dirty="0"/>
          </a:p>
        </p:txBody>
      </p:sp>
      <p:sp>
        <p:nvSpPr>
          <p:cNvPr id="35" name="Text 33"/>
          <p:cNvSpPr/>
          <p:nvPr/>
        </p:nvSpPr>
        <p:spPr>
          <a:xfrm>
            <a:off x="548640" y="3355848"/>
            <a:ext cx="11091672" cy="237744"/>
          </a:xfrm>
          <a:prstGeom prst="rect">
            <a:avLst/>
          </a:prstGeom>
          <a:noFill/>
          <a:ln/>
        </p:spPr>
        <p:txBody>
          <a:bodyPr wrap="square" lIns="0" tIns="0" rIns="0" bIns="0" rtlCol="0" anchor="t"/>
          <a:lstStyle/>
          <a:p>
            <a:pPr indent="0" marL="0">
              <a:buNone/>
            </a:pPr>
            <a:r>
              <a:rPr lang="en-US" sz="930" i="1" dirty="0">
                <a:solidFill>
                  <a:srgbClr val="8A97A8"/>
                </a:solidFill>
                <a:latin typeface="Calibri" pitchFamily="34" charset="0"/>
                <a:ea typeface="Calibri" pitchFamily="34" charset="-122"/>
                <a:cs typeface="Calibri" pitchFamily="34" charset="-120"/>
              </a:rPr>
              <a:t>Six rate tables — one tab each in the template.</a:t>
            </a:r>
            <a:endParaRPr lang="en-US" sz="930" dirty="0"/>
          </a:p>
        </p:txBody>
      </p:sp>
      <p:sp>
        <p:nvSpPr>
          <p:cNvPr id="36" name="Shape 34"/>
          <p:cNvSpPr/>
          <p:nvPr/>
        </p:nvSpPr>
        <p:spPr>
          <a:xfrm>
            <a:off x="548640"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txBody>
          <a:bodyPr/>
          <a:p/>
        </p:txBody>
      </p:sp>
      <p:sp>
        <p:nvSpPr>
          <p:cNvPr id="37" name="Shape 35"/>
          <p:cNvSpPr/>
          <p:nvPr/>
        </p:nvSpPr>
        <p:spPr>
          <a:xfrm>
            <a:off x="548640" y="3474720"/>
            <a:ext cx="82296" cy="1463040"/>
          </a:xfrm>
          <a:prstGeom prst="rect">
            <a:avLst/>
          </a:prstGeom>
          <a:solidFill>
            <a:srgbClr val="7C3AED"/>
          </a:solidFill>
          <a:ln/>
        </p:spPr>
        <p:txBody>
          <a:bodyPr/>
          <a:p/>
        </p:txBody>
      </p:sp>
      <p:sp>
        <p:nvSpPr>
          <p:cNvPr id="38" name="Text 36"/>
          <p:cNvSpPr/>
          <p:nvPr/>
        </p:nvSpPr>
        <p:spPr>
          <a:xfrm>
            <a:off x="768096" y="3639312"/>
            <a:ext cx="3252216" cy="274320"/>
          </a:xfrm>
          <a:prstGeom prst="rect">
            <a:avLst/>
          </a:prstGeom>
          <a:noFill/>
          <a:ln/>
        </p:spPr>
        <p:txBody>
          <a:bodyPr wrap="square" lIns="0" tIns="0" rIns="0" bIns="0" rtlCol="0" anchor="t"/>
          <a:lstStyle/>
          <a:p>
            <a:pPr indent="0" marL="0">
              <a:buNone/>
            </a:pPr>
            <a:r>
              <a:rPr lang="en-US" sz="1200" b="1" spc="40" kern="0" dirty="0">
                <a:solidFill>
                  <a:srgbClr val="7C3AED"/>
                </a:solidFill>
                <a:latin typeface="Calibri" pitchFamily="34" charset="0"/>
                <a:ea typeface="Calibri" pitchFamily="34" charset="-122"/>
                <a:cs typeface="Calibri" pitchFamily="34" charset="-120"/>
              </a:rPr>
              <a:t>WHO CAN UPLOAD</a:t>
            </a:r>
            <a:endParaRPr lang="en-US" sz="1200" dirty="0"/>
          </a:p>
        </p:txBody>
      </p:sp>
      <p:sp>
        <p:nvSpPr>
          <p:cNvPr id="39" name="Text 37"/>
          <p:cNvSpPr/>
          <p:nvPr/>
        </p:nvSpPr>
        <p:spPr>
          <a:xfrm>
            <a:off x="768096"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Admin-gated.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Admins upload, switch company ↔ built-in, or reset. Everyone else costs on the active set — a badge shows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“Company rates active”</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or built-in defaults.</a:t>
            </a:r>
            <a:endParaRPr lang="en-US" sz="960" dirty="0"/>
          </a:p>
        </p:txBody>
      </p:sp>
      <p:sp>
        <p:nvSpPr>
          <p:cNvPr id="40" name="Shape 38"/>
          <p:cNvSpPr/>
          <p:nvPr/>
        </p:nvSpPr>
        <p:spPr>
          <a:xfrm>
            <a:off x="4285488"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txBody>
          <a:bodyPr/>
          <a:p/>
        </p:txBody>
      </p:sp>
      <p:sp>
        <p:nvSpPr>
          <p:cNvPr id="41" name="Shape 39"/>
          <p:cNvSpPr/>
          <p:nvPr/>
        </p:nvSpPr>
        <p:spPr>
          <a:xfrm>
            <a:off x="4285488" y="3474720"/>
            <a:ext cx="82296" cy="1463040"/>
          </a:xfrm>
          <a:prstGeom prst="rect">
            <a:avLst/>
          </a:prstGeom>
          <a:solidFill>
            <a:srgbClr val="2563EB"/>
          </a:solidFill>
          <a:ln/>
        </p:spPr>
        <p:txBody>
          <a:bodyPr/>
          <a:p/>
        </p:txBody>
      </p:sp>
      <p:sp>
        <p:nvSpPr>
          <p:cNvPr id="42" name="Text 40"/>
          <p:cNvSpPr/>
          <p:nvPr/>
        </p:nvSpPr>
        <p:spPr>
          <a:xfrm>
            <a:off x="4504944" y="3639312"/>
            <a:ext cx="3252216" cy="274320"/>
          </a:xfrm>
          <a:prstGeom prst="rect">
            <a:avLst/>
          </a:prstGeom>
          <a:noFill/>
          <a:ln/>
        </p:spPr>
        <p:txBody>
          <a:bodyPr wrap="square" lIns="0" tIns="0" rIns="0" bIns="0" rtlCol="0" anchor="t"/>
          <a:lstStyle/>
          <a:p>
            <a:pPr indent="0" marL="0">
              <a:buNone/>
            </a:pPr>
            <a:r>
              <a:rPr lang="en-US" sz="1200" b="1" spc="40" kern="0" dirty="0">
                <a:solidFill>
                  <a:srgbClr val="2563EB"/>
                </a:solidFill>
                <a:latin typeface="Calibri" pitchFamily="34" charset="0"/>
                <a:ea typeface="Calibri" pitchFamily="34" charset="-122"/>
                <a:cs typeface="Calibri" pitchFamily="34" charset="-120"/>
              </a:rPr>
              <a:t>THE EXCEL TEMPLATE</a:t>
            </a:r>
            <a:endParaRPr lang="en-US" sz="1200" dirty="0"/>
          </a:p>
        </p:txBody>
      </p:sp>
      <p:sp>
        <p:nvSpPr>
          <p:cNvPr id="43" name="Text 41"/>
          <p:cNvSpPr/>
          <p:nvPr/>
        </p:nvSpPr>
        <p:spPr>
          <a:xfrm>
            <a:off x="4504944"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One workbook, a tab per table.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Download, fill, upload. The server checks every row and rejects bad cells with line-level errors. Each row carries an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effective date and confidence.</a:t>
            </a:r>
            <a:endParaRPr lang="en-US" sz="960" dirty="0"/>
          </a:p>
        </p:txBody>
      </p:sp>
      <p:sp>
        <p:nvSpPr>
          <p:cNvPr id="44" name="Shape 42"/>
          <p:cNvSpPr/>
          <p:nvPr/>
        </p:nvSpPr>
        <p:spPr>
          <a:xfrm>
            <a:off x="8022336"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txBody>
          <a:bodyPr/>
          <a:p/>
        </p:txBody>
      </p:sp>
      <p:sp>
        <p:nvSpPr>
          <p:cNvPr id="45" name="Shape 43"/>
          <p:cNvSpPr/>
          <p:nvPr/>
        </p:nvSpPr>
        <p:spPr>
          <a:xfrm>
            <a:off x="8022336" y="3474720"/>
            <a:ext cx="82296" cy="1463040"/>
          </a:xfrm>
          <a:prstGeom prst="rect">
            <a:avLst/>
          </a:prstGeom>
          <a:solidFill>
            <a:srgbClr val="0EA472"/>
          </a:solidFill>
          <a:ln/>
        </p:spPr>
        <p:txBody>
          <a:bodyPr/>
          <a:p/>
        </p:txBody>
      </p:sp>
      <p:sp>
        <p:nvSpPr>
          <p:cNvPr id="46" name="Text 44"/>
          <p:cNvSpPr/>
          <p:nvPr/>
        </p:nvSpPr>
        <p:spPr>
          <a:xfrm>
            <a:off x="8241792" y="3639312"/>
            <a:ext cx="3252216" cy="274320"/>
          </a:xfrm>
          <a:prstGeom prst="rect">
            <a:avLst/>
          </a:prstGeom>
          <a:noFill/>
          <a:ln/>
        </p:spPr>
        <p:txBody>
          <a:bodyPr wrap="square" lIns="0" tIns="0" rIns="0" bIns="0" rtlCol="0" anchor="t"/>
          <a:lstStyle/>
          <a:p>
            <a:pPr indent="0" marL="0">
              <a:buNone/>
            </a:pPr>
            <a:r>
              <a:rPr lang="en-US" sz="1200" b="1" spc="40" kern="0" dirty="0">
                <a:solidFill>
                  <a:srgbClr val="0EA472"/>
                </a:solidFill>
                <a:latin typeface="Calibri" pitchFamily="34" charset="0"/>
                <a:ea typeface="Calibri" pitchFamily="34" charset="-122"/>
                <a:cs typeface="Calibri" pitchFamily="34" charset="-120"/>
              </a:rPr>
              <a:t>UPDATE IN ONE CLICK</a:t>
            </a:r>
            <a:endParaRPr lang="en-US" sz="1200" dirty="0"/>
          </a:p>
        </p:txBody>
      </p:sp>
      <p:sp>
        <p:nvSpPr>
          <p:cNvPr id="47" name="Text 45"/>
          <p:cNvSpPr/>
          <p:nvPr/>
        </p:nvSpPr>
        <p:spPr>
          <a:xfrm>
            <a:off x="8241792"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Load a new dated rate set</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activate it — every part re-prices. The library is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versioned</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saved scenarios record which rate version they used.</a:t>
            </a:r>
            <a:endParaRPr lang="en-US" sz="960" dirty="0"/>
          </a:p>
        </p:txBody>
      </p:sp>
      <p:sp>
        <p:nvSpPr>
          <p:cNvPr id="48" name="Shape 46"/>
          <p:cNvSpPr/>
          <p:nvPr/>
        </p:nvSpPr>
        <p:spPr>
          <a:xfrm>
            <a:off x="548640" y="5138928"/>
            <a:ext cx="11091672" cy="841248"/>
          </a:xfrm>
          <a:prstGeom prst="roundRect">
            <a:avLst>
              <a:gd name="adj" fmla="val 7609"/>
            </a:avLst>
          </a:prstGeom>
          <a:solidFill>
            <a:srgbClr val="FEF6E7"/>
          </a:solidFill>
          <a:ln w="12700">
            <a:solidFill>
              <a:srgbClr val="E4EAF2"/>
            </a:solidFill>
            <a:prstDash val="solid"/>
          </a:ln>
        </p:spPr>
        <p:txBody>
          <a:bodyPr/>
          <a:p/>
        </p:txBody>
      </p:sp>
      <p:sp>
        <p:nvSpPr>
          <p:cNvPr id="49" name="Shape 47"/>
          <p:cNvSpPr/>
          <p:nvPr/>
        </p:nvSpPr>
        <p:spPr>
          <a:xfrm>
            <a:off x="548640" y="5138928"/>
            <a:ext cx="82296" cy="841248"/>
          </a:xfrm>
          <a:prstGeom prst="rect">
            <a:avLst/>
          </a:prstGeom>
          <a:solidFill>
            <a:srgbClr val="E0900C"/>
          </a:solidFill>
          <a:ln/>
        </p:spPr>
        <p:txBody>
          <a:bodyPr/>
          <a:p/>
        </p:txBody>
      </p:sp>
      <p:sp>
        <p:nvSpPr>
          <p:cNvPr id="50" name="Text 48"/>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20" b="1" dirty="0">
                <a:solidFill>
                  <a:srgbClr val="0F1E3D"/>
                </a:solidFill>
                <a:latin typeface="Calibri" pitchFamily="34" charset="0"/>
                <a:ea typeface="Calibri" pitchFamily="34" charset="-122"/>
                <a:cs typeface="Calibri" pitchFamily="34" charset="-120"/>
              </a:rPr>
              <a:t>Our rates, our numbers.  </a:t>
            </a:r>
            <a:pPr indent="0" marL="0">
              <a:lnSpc>
                <a:spcPct val="108000"/>
              </a:lnSpc>
              <a:buNone/>
            </a:pPr>
            <a:r>
              <a:rPr lang="en-US" sz="1120" dirty="0">
                <a:solidFill>
                  <a:srgbClr val="3E4C63"/>
                </a:solidFill>
                <a:latin typeface="Calibri" pitchFamily="34" charset="0"/>
                <a:ea typeface="Calibri" pitchFamily="34" charset="-122"/>
                <a:cs typeface="Calibri" pitchFamily="34" charset="-120"/>
              </a:rPr>
              <a:t>The JLR Rate Converter workbook turns JLR's own rate card into this format, with no macros. Checked on the way in, versioned, and used by every costing.</a:t>
            </a:r>
            <a:endParaRPr lang="en-US" sz="1120" dirty="0"/>
          </a:p>
        </p:txBody>
      </p:sp>
      <p:sp>
        <p:nvSpPr>
          <p:cNvPr id="51" name="Shape 49"/>
          <p:cNvSpPr/>
          <p:nvPr/>
        </p:nvSpPr>
        <p:spPr>
          <a:xfrm>
            <a:off x="548640" y="6400800"/>
            <a:ext cx="11094415" cy="12802"/>
          </a:xfrm>
          <a:prstGeom prst="rect">
            <a:avLst/>
          </a:prstGeom>
          <a:solidFill>
            <a:srgbClr val="E4EAF2"/>
          </a:solidFill>
          <a:ln/>
        </p:spPr>
        <p:txBody>
          <a:bodyPr/>
          <a:p/>
        </p:txBody>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WORKED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Worked example — die-cast housing,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2.8 kg die-cast and machined aluminium housing (ADC12, 60,000 a year), run through the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txBody>
          <a:bodyPr/>
          <a:p/>
        </p:txBody>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£59.60/part · process (casting + machining) is 47% — the main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txBody>
          <a:bodyPr/>
          <a:p/>
        </p:txBody>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Should-cost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Same inputs, each region's rates. Source: the worked-example script.</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txBody>
          <a:bodyPr/>
          <a:p/>
        </p:txBody>
      </p:sp>
      <p:sp>
        <p:nvSpPr>
          <p:cNvPr id="20" name="Shape 16"/>
          <p:cNvSpPr/>
          <p:nvPr/>
        </p:nvSpPr>
        <p:spPr>
          <a:xfrm>
            <a:off x="548640" y="5074920"/>
            <a:ext cx="82296" cy="960120"/>
          </a:xfrm>
          <a:prstGeom prst="rect">
            <a:avLst/>
          </a:prstGeom>
          <a:solidFill>
            <a:srgbClr val="0EA472"/>
          </a:solidFill>
          <a:ln/>
        </p:spPr>
        <p:txBody>
          <a:bodyPr/>
          <a:p/>
        </p:txBody>
      </p:sp>
      <p:sp>
        <p:nvSpPr>
          <p:cNvPr id="21" name="Text 17"/>
          <p:cNvSpPr/>
          <p:nvPr/>
        </p:nvSpPr>
        <p:spPr>
          <a:xfrm>
            <a:off x="914400" y="5193792"/>
            <a:ext cx="73152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one versioned rate library</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Material factors, labour, energy and overhead all live in one versioned rate library.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Load a new, dated rate set and every part re-prices.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No re-keying and no stale spreadsheets.</a:t>
            </a:r>
            <a:endParaRPr lang="en-US" sz="1080" dirty="0"/>
          </a:p>
        </p:txBody>
      </p:sp>
      <p:sp>
        <p:nvSpPr>
          <p:cNvPr id="23" name="Shape 19"/>
          <p:cNvSpPr/>
          <p:nvPr/>
        </p:nvSpPr>
        <p:spPr>
          <a:xfrm>
            <a:off x="548640" y="6400800"/>
            <a:ext cx="11094415" cy="12802"/>
          </a:xfrm>
          <a:prstGeom prst="rect">
            <a:avLst/>
          </a:prstGeom>
          <a:solidFill>
            <a:srgbClr val="E4EAF2"/>
          </a:solidFill>
          <a:ln/>
        </p:spPr>
        <p:txBody>
          <a:bodyPr/>
          <a:p/>
        </p:txBody>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neg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7C3AED"/>
          </a:solidFill>
          <a:ln/>
        </p:spPr>
        <p:txBody>
          <a:bodyPr/>
          <a:p/>
        </p:txBody>
      </p:sp>
      <p:sp>
        <p:nvSpPr>
          <p:cNvPr id="7" name="Shape 4"/>
          <p:cNvSpPr/>
          <p:nvPr/>
        </p:nvSpPr>
        <p:spPr>
          <a:xfrm>
            <a:off x="0" y="6729984"/>
            <a:ext cx="12191695" cy="128016"/>
          </a:xfrm>
          <a:prstGeom prst="rect">
            <a:avLst/>
          </a:prstGeom>
          <a:solidFill>
            <a:srgbClr val="7C3AED"/>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7C3AED"/>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DECIDE &amp; NEGOTIATE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Negotiation Intelligence</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should-cost vs the quote</a:t>
            </a:r>
            <a:endParaRPr lang="en-US" sz="2400" dirty="0"/>
          </a:p>
        </p:txBody>
      </p:sp>
      <p:sp>
        <p:nvSpPr>
          <p:cNvPr id="9" name="Shape 7"/>
          <p:cNvSpPr/>
          <p:nvPr/>
        </p:nvSpPr>
        <p:spPr>
          <a:xfrm>
            <a:off x="548640" y="1371600"/>
            <a:ext cx="1051560" cy="45720"/>
          </a:xfrm>
          <a:prstGeom prst="rect">
            <a:avLst/>
          </a:prstGeom>
          <a:solidFill>
            <a:srgbClr val="7C3AED"/>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helps us win back money in a negotiation is the point.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txBody>
          <a:bodyPr/>
          <a:p/>
        </p:txBody>
      </p:sp>
      <p:sp>
        <p:nvSpPr>
          <p:cNvPr id="12" name="Shape 10"/>
          <p:cNvSpPr/>
          <p:nvPr/>
        </p:nvSpPr>
        <p:spPr>
          <a:xfrm>
            <a:off x="548640" y="2103120"/>
            <a:ext cx="2487168" cy="82296"/>
          </a:xfrm>
          <a:prstGeom prst="rect">
            <a:avLst/>
          </a:prstGeom>
          <a:solidFill>
            <a:srgbClr val="2563EB"/>
          </a:solidFill>
          <a:ln/>
        </p:spPr>
        <p:txBody>
          <a:bodyPr/>
          <a:p/>
        </p:txBody>
      </p:sp>
      <p:sp>
        <p:nvSpPr>
          <p:cNvPr id="13" name="Shape 11"/>
          <p:cNvSpPr/>
          <p:nvPr/>
        </p:nvSpPr>
        <p:spPr>
          <a:xfrm>
            <a:off x="1536192" y="2304288"/>
            <a:ext cx="512064" cy="512064"/>
          </a:xfrm>
          <a:prstGeom prst="ellipse">
            <a:avLst/>
          </a:prstGeom>
          <a:solidFill>
            <a:srgbClr val="EAF1FE"/>
          </a:solidFill>
          <a:ln/>
        </p:spPr>
        <p:txBody>
          <a:bodyPr/>
          <a:p/>
        </p:txBody>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txBody>
          <a:bodyPr/>
          <a:p/>
        </p:txBody>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txBody>
          <a:bodyPr/>
          <a:p/>
        </p:txBody>
      </p:sp>
      <p:sp>
        <p:nvSpPr>
          <p:cNvPr id="19" name="Shape 17"/>
          <p:cNvSpPr/>
          <p:nvPr/>
        </p:nvSpPr>
        <p:spPr>
          <a:xfrm>
            <a:off x="3355848" y="2103120"/>
            <a:ext cx="2487168" cy="82296"/>
          </a:xfrm>
          <a:prstGeom prst="rect">
            <a:avLst/>
          </a:prstGeom>
          <a:solidFill>
            <a:srgbClr val="0E93B0"/>
          </a:solidFill>
          <a:ln/>
        </p:spPr>
        <p:txBody>
          <a:bodyPr/>
          <a:p/>
        </p:txBody>
      </p:sp>
      <p:sp>
        <p:nvSpPr>
          <p:cNvPr id="20" name="Shape 18"/>
          <p:cNvSpPr/>
          <p:nvPr/>
        </p:nvSpPr>
        <p:spPr>
          <a:xfrm>
            <a:off x="4343400" y="2304288"/>
            <a:ext cx="512064" cy="512064"/>
          </a:xfrm>
          <a:prstGeom prst="ellipse">
            <a:avLst/>
          </a:prstGeom>
          <a:solidFill>
            <a:srgbClr val="E8F6FA"/>
          </a:solidFill>
          <a:ln/>
        </p:spPr>
        <p:txBody>
          <a:bodyPr/>
          <a:p/>
        </p:txBody>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txBody>
          <a:bodyPr/>
          <a:p/>
        </p:txBody>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txBody>
          <a:bodyPr/>
          <a:p/>
        </p:txBody>
      </p:sp>
      <p:sp>
        <p:nvSpPr>
          <p:cNvPr id="26" name="Shape 24"/>
          <p:cNvSpPr/>
          <p:nvPr/>
        </p:nvSpPr>
        <p:spPr>
          <a:xfrm>
            <a:off x="6163056" y="2103120"/>
            <a:ext cx="2487168" cy="82296"/>
          </a:xfrm>
          <a:prstGeom prst="rect">
            <a:avLst/>
          </a:prstGeom>
          <a:solidFill>
            <a:srgbClr val="E0900C"/>
          </a:solidFill>
          <a:ln/>
        </p:spPr>
        <p:txBody>
          <a:bodyPr/>
          <a:p/>
        </p:txBody>
      </p:sp>
      <p:sp>
        <p:nvSpPr>
          <p:cNvPr id="27" name="Shape 25"/>
          <p:cNvSpPr/>
          <p:nvPr/>
        </p:nvSpPr>
        <p:spPr>
          <a:xfrm>
            <a:off x="7150608" y="2304288"/>
            <a:ext cx="512064" cy="512064"/>
          </a:xfrm>
          <a:prstGeom prst="ellipse">
            <a:avLst/>
          </a:prstGeom>
          <a:solidFill>
            <a:srgbClr val="FEF6E7"/>
          </a:solidFill>
          <a:ln/>
        </p:spPr>
        <p:txBody>
          <a:bodyPr/>
          <a:p/>
        </p:txBody>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txBody>
          <a:bodyPr/>
          <a:p/>
        </p:txBody>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txBody>
          <a:bodyPr/>
          <a:p/>
        </p:txBody>
      </p:sp>
      <p:sp>
        <p:nvSpPr>
          <p:cNvPr id="33" name="Shape 31"/>
          <p:cNvSpPr/>
          <p:nvPr/>
        </p:nvSpPr>
        <p:spPr>
          <a:xfrm>
            <a:off x="8970264" y="2103120"/>
            <a:ext cx="2487168" cy="82296"/>
          </a:xfrm>
          <a:prstGeom prst="rect">
            <a:avLst/>
          </a:prstGeom>
          <a:solidFill>
            <a:srgbClr val="0EA472"/>
          </a:solidFill>
          <a:ln/>
        </p:spPr>
        <p:txBody>
          <a:bodyPr/>
          <a:p/>
        </p:txBody>
      </p:sp>
      <p:sp>
        <p:nvSpPr>
          <p:cNvPr id="34" name="Shape 32"/>
          <p:cNvSpPr/>
          <p:nvPr/>
        </p:nvSpPr>
        <p:spPr>
          <a:xfrm>
            <a:off x="9957816" y="2304288"/>
            <a:ext cx="512064" cy="512064"/>
          </a:xfrm>
          <a:prstGeom prst="ellipse">
            <a:avLst/>
          </a:prstGeom>
          <a:solidFill>
            <a:srgbClr val="E7F7F0"/>
          </a:solidFill>
          <a:ln/>
        </p:spPr>
        <p:txBody>
          <a:bodyPr/>
          <a:p/>
        </p:txBody>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39" name="Shape 37"/>
          <p:cNvSpPr/>
          <p:nvPr/>
        </p:nvSpPr>
        <p:spPr>
          <a:xfrm>
            <a:off x="548640" y="3794760"/>
            <a:ext cx="73152" cy="960120"/>
          </a:xfrm>
          <a:prstGeom prst="rect">
            <a:avLst/>
          </a:prstGeom>
          <a:solidFill>
            <a:srgbClr val="E5484D"/>
          </a:solidFill>
          <a:ln/>
        </p:spPr>
        <p:txBody>
          <a:bodyPr/>
          <a:p/>
        </p:txBody>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8</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cost buckets compared, quote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43" name="Shape 41"/>
          <p:cNvSpPr/>
          <p:nvPr/>
        </p:nvSpPr>
        <p:spPr>
          <a:xfrm>
            <a:off x="3319272" y="3794760"/>
            <a:ext cx="73152" cy="960120"/>
          </a:xfrm>
          <a:prstGeom prst="rect">
            <a:avLst/>
          </a:prstGeom>
          <a:solidFill>
            <a:srgbClr val="E0900C"/>
          </a:solidFill>
          <a:ln/>
        </p:spPr>
        <p:txBody>
          <a:bodyPr/>
          <a:p/>
        </p:txBody>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PDF</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or PowerPoint negotiation pack</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47" name="Shape 45"/>
          <p:cNvSpPr/>
          <p:nvPr/>
        </p:nvSpPr>
        <p:spPr>
          <a:xfrm>
            <a:off x="6089904" y="3794760"/>
            <a:ext cx="73152" cy="960120"/>
          </a:xfrm>
          <a:prstGeom prst="rect">
            <a:avLst/>
          </a:prstGeom>
          <a:solidFill>
            <a:srgbClr val="0EA472"/>
          </a:solidFill>
          <a:ln/>
        </p:spPr>
        <p:txBody>
          <a:bodyPr/>
          <a:p/>
        </p:txBody>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£/yr</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each lever ranked by its annual value</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51" name="Shape 49"/>
          <p:cNvSpPr/>
          <p:nvPr/>
        </p:nvSpPr>
        <p:spPr>
          <a:xfrm>
            <a:off x="8860536" y="3794760"/>
            <a:ext cx="73152" cy="960120"/>
          </a:xfrm>
          <a:prstGeom prst="rect">
            <a:avLst/>
          </a:prstGeom>
          <a:solidFill>
            <a:srgbClr val="7C3AED"/>
          </a:solidFill>
          <a:ln/>
        </p:spPr>
        <p:txBody>
          <a:bodyPr/>
          <a:p/>
        </p:txBody>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To the penny</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exports carry the on-screen total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No savings figure is claimed here — the teardown is run on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txBody>
          <a:bodyPr/>
          <a:p/>
        </p:txBody>
      </p:sp>
      <p:sp>
        <p:nvSpPr>
          <p:cNvPr id="56" name="Shape 54"/>
          <p:cNvSpPr/>
          <p:nvPr/>
        </p:nvSpPr>
        <p:spPr>
          <a:xfrm>
            <a:off x="548640" y="5010912"/>
            <a:ext cx="82296" cy="914400"/>
          </a:xfrm>
          <a:prstGeom prst="rect">
            <a:avLst/>
          </a:prstGeom>
          <a:solidFill>
            <a:srgbClr val="7C3AED"/>
          </a:solidFill>
          <a:ln/>
        </p:spPr>
        <p:txBody>
          <a:bodyPr/>
          <a:p/>
        </p:txBody>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which driver causes each gap, levers ranked by £/yr, ready-to-send supplier questions, and a PDF or PowerPoint export. We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txBody>
          <a:bodyPr/>
          <a:p/>
        </p:txBody>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agent-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4F46E5"/>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4F46E5"/>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LEARN &amp; GOVERN</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Learning from actuals</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Learning from actuals — it remembers and corrects</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txBody>
          <a:bodyPr/>
          <a:p/>
        </p:txBody>
      </p:sp>
      <p:sp>
        <p:nvSpPr>
          <p:cNvPr id="11" name="Shape 9"/>
          <p:cNvSpPr/>
          <p:nvPr/>
        </p:nvSpPr>
        <p:spPr>
          <a:xfrm>
            <a:off x="548640" y="1691640"/>
            <a:ext cx="82296" cy="2423160"/>
          </a:xfrm>
          <a:prstGeom prst="rect">
            <a:avLst/>
          </a:prstGeom>
          <a:solidFill>
            <a:srgbClr val="2563EB"/>
          </a:solidFill>
          <a:ln/>
        </p:spPr>
        <p:txBody>
          <a:bodyPr/>
          <a:p/>
        </p:txBody>
      </p:sp>
      <p:sp>
        <p:nvSpPr>
          <p:cNvPr id="12" name="Shape 10"/>
          <p:cNvSpPr/>
          <p:nvPr/>
        </p:nvSpPr>
        <p:spPr>
          <a:xfrm>
            <a:off x="1472184" y="1947672"/>
            <a:ext cx="694944" cy="694944"/>
          </a:xfrm>
          <a:prstGeom prst="ellipse">
            <a:avLst/>
          </a:prstGeom>
          <a:solidFill>
            <a:srgbClr val="EAF1FE"/>
          </a:solidFill>
          <a:ln/>
        </p:spPr>
        <p:txBody>
          <a:bodyPr/>
          <a:p/>
        </p:txBody>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Each costing can be saved as a case in a shared memory, so the team builds on past work.</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txBody>
          <a:bodyPr/>
          <a:p/>
        </p:txBody>
      </p:sp>
      <p:sp>
        <p:nvSpPr>
          <p:cNvPr id="18" name="Shape 16"/>
          <p:cNvSpPr/>
          <p:nvPr/>
        </p:nvSpPr>
        <p:spPr>
          <a:xfrm>
            <a:off x="3419856" y="1691640"/>
            <a:ext cx="82296" cy="2423160"/>
          </a:xfrm>
          <a:prstGeom prst="rect">
            <a:avLst/>
          </a:prstGeom>
          <a:solidFill>
            <a:srgbClr val="0E93B0"/>
          </a:solidFill>
          <a:ln/>
        </p:spPr>
        <p:txBody>
          <a:bodyPr/>
          <a:p/>
        </p:txBody>
      </p:sp>
      <p:sp>
        <p:nvSpPr>
          <p:cNvPr id="19" name="Shape 17"/>
          <p:cNvSpPr/>
          <p:nvPr/>
        </p:nvSpPr>
        <p:spPr>
          <a:xfrm>
            <a:off x="4343400" y="1947672"/>
            <a:ext cx="694944" cy="694944"/>
          </a:xfrm>
          <a:prstGeom prst="ellipse">
            <a:avLst/>
          </a:prstGeom>
          <a:solidFill>
            <a:srgbClr val="E8F6FA"/>
          </a:solidFill>
          <a:ln/>
        </p:spPr>
        <p:txBody>
          <a:bodyPr/>
          <a:p/>
        </p:txBody>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txBody>
          <a:bodyPr/>
          <a:p/>
        </p:txBody>
      </p:sp>
      <p:sp>
        <p:nvSpPr>
          <p:cNvPr id="25" name="Shape 23"/>
          <p:cNvSpPr/>
          <p:nvPr/>
        </p:nvSpPr>
        <p:spPr>
          <a:xfrm>
            <a:off x="6291072" y="1691640"/>
            <a:ext cx="82296" cy="2423160"/>
          </a:xfrm>
          <a:prstGeom prst="rect">
            <a:avLst/>
          </a:prstGeom>
          <a:solidFill>
            <a:srgbClr val="7C3AED"/>
          </a:solidFill>
          <a:ln/>
        </p:spPr>
        <p:txBody>
          <a:bodyPr/>
          <a:p/>
        </p:txBody>
      </p:sp>
      <p:sp>
        <p:nvSpPr>
          <p:cNvPr id="26" name="Shape 24"/>
          <p:cNvSpPr/>
          <p:nvPr/>
        </p:nvSpPr>
        <p:spPr>
          <a:xfrm>
            <a:off x="7214616" y="1947672"/>
            <a:ext cx="694944" cy="694944"/>
          </a:xfrm>
          <a:prstGeom prst="ellipse">
            <a:avLst/>
          </a:prstGeom>
          <a:solidFill>
            <a:srgbClr val="F3EEFE"/>
          </a:solidFill>
          <a:ln/>
        </p:spPr>
        <p:txBody>
          <a:bodyPr/>
          <a:p/>
        </p:txBody>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or PO price. After 3 actuals for a commodity, the band is corrected by real data.</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txBody>
          <a:bodyPr/>
          <a:p/>
        </p:txBody>
      </p:sp>
      <p:sp>
        <p:nvSpPr>
          <p:cNvPr id="32" name="Shape 30"/>
          <p:cNvSpPr/>
          <p:nvPr/>
        </p:nvSpPr>
        <p:spPr>
          <a:xfrm>
            <a:off x="9162288" y="1691640"/>
            <a:ext cx="82296" cy="2423160"/>
          </a:xfrm>
          <a:prstGeom prst="rect">
            <a:avLst/>
          </a:prstGeom>
          <a:solidFill>
            <a:srgbClr val="0EA472"/>
          </a:solidFill>
          <a:ln/>
        </p:spPr>
        <p:txBody>
          <a:bodyPr/>
          <a:p/>
        </p:txBody>
      </p:sp>
      <p:sp>
        <p:nvSpPr>
          <p:cNvPr id="33" name="Shape 31"/>
          <p:cNvSpPr/>
          <p:nvPr/>
        </p:nvSpPr>
        <p:spPr>
          <a:xfrm>
            <a:off x="10085832" y="1947672"/>
            <a:ext cx="694944" cy="694944"/>
          </a:xfrm>
          <a:prstGeom prst="ellipse">
            <a:avLst/>
          </a:prstGeom>
          <a:solidFill>
            <a:srgbClr val="E7F7F0"/>
          </a:solidFill>
          <a:ln/>
        </p:spPr>
        <p:txBody>
          <a:bodyPr/>
          <a:p/>
        </p:txBody>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monitor re-checks saved parts and flags price gaps and stale estimates. No AI.</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38" name="Shape 36"/>
          <p:cNvSpPr/>
          <p:nvPr/>
        </p:nvSpPr>
        <p:spPr>
          <a:xfrm>
            <a:off x="548640" y="4343400"/>
            <a:ext cx="73152" cy="1051560"/>
          </a:xfrm>
          <a:prstGeom prst="rect">
            <a:avLst/>
          </a:prstGeom>
          <a:solidFill>
            <a:srgbClr val="0EA472"/>
          </a:solidFill>
          <a:ln/>
        </p:spPr>
        <p:txBody>
          <a:bodyPr/>
          <a:p/>
        </p:txBody>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actuals per commodity before the band is corrected</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42" name="Shape 40"/>
          <p:cNvSpPr/>
          <p:nvPr/>
        </p:nvSpPr>
        <p:spPr>
          <a:xfrm>
            <a:off x="4261104" y="4343400"/>
            <a:ext cx="73152" cy="1051560"/>
          </a:xfrm>
          <a:prstGeom prst="rect">
            <a:avLst/>
          </a:prstGeom>
          <a:solidFill>
            <a:srgbClr val="E5484D"/>
          </a:solidFill>
          <a:ln/>
        </p:spPr>
        <p:txBody>
          <a:bodyPr/>
          <a:p/>
        </p:txBody>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P10–P90</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uncertainty band on every result</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46" name="Shape 44"/>
          <p:cNvSpPr/>
          <p:nvPr/>
        </p:nvSpPr>
        <p:spPr>
          <a:xfrm>
            <a:off x="7973568" y="4343400"/>
            <a:ext cx="73152" cy="1051560"/>
          </a:xfrm>
          <a:prstGeom prst="rect">
            <a:avLst/>
          </a:prstGeom>
          <a:solidFill>
            <a:srgbClr val="0E93B0"/>
          </a:solidFill>
          <a:ln/>
        </p:spPr>
        <p:txBody>
          <a:bodyPr/>
          <a:p/>
        </p:txBody>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0</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estimates compared with a JLR-paid price so far</a:t>
            </a:r>
            <a:endParaRPr lang="en-US" sz="950" dirty="0"/>
          </a:p>
        </p:txBody>
      </p:sp>
      <p:sp>
        <p:nvSpPr>
          <p:cNvPr id="49" name="Shape 47"/>
          <p:cNvSpPr/>
          <p:nvPr/>
        </p:nvSpPr>
        <p:spPr>
          <a:xfrm>
            <a:off x="548640" y="6400800"/>
            <a:ext cx="11094415" cy="12802"/>
          </a:xfrm>
          <a:prstGeom prst="rect">
            <a:avLst/>
          </a:prstGeom>
          <a:solidFill>
            <a:srgbClr val="E4EAF2"/>
          </a:solidFill>
          <a:ln/>
        </p:spPr>
        <p:txBody>
          <a:bodyPr/>
          <a:p/>
        </p:txBody>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Beyond the estimate — four extra tools</a:t>
            </a:r>
            <a:endParaRPr lang="en-US" sz="2400" dirty="0"/>
          </a:p>
        </p:txBody>
      </p:sp>
      <p:sp>
        <p:nvSpPr>
          <p:cNvPr id="9" name="Shape 7"/>
          <p:cNvSpPr/>
          <p:nvPr/>
        </p:nvSpPr>
        <p:spPr>
          <a:xfrm>
            <a:off x="548640" y="1371600"/>
            <a:ext cx="1051560" cy="45720"/>
          </a:xfrm>
          <a:prstGeom prst="rect">
            <a:avLst/>
          </a:prstGeom>
          <a:solidFill>
            <a:srgbClr val="0E93B0"/>
          </a:solidFill>
          <a:ln/>
        </p:spPr>
        <p:txBody>
          <a:bodyPr/>
          <a:p/>
        </p:txBody>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txBody>
          <a:bodyPr/>
          <a:p/>
        </p:txBody>
      </p:sp>
      <p:sp>
        <p:nvSpPr>
          <p:cNvPr id="11" name="Shape 9"/>
          <p:cNvSpPr/>
          <p:nvPr/>
        </p:nvSpPr>
        <p:spPr>
          <a:xfrm>
            <a:off x="548640" y="1691640"/>
            <a:ext cx="82296" cy="1874520"/>
          </a:xfrm>
          <a:prstGeom prst="rect">
            <a:avLst/>
          </a:prstGeom>
          <a:solidFill>
            <a:srgbClr val="2563EB"/>
          </a:solidFill>
          <a:ln/>
        </p:spPr>
        <p:txBody>
          <a:bodyPr/>
          <a:p/>
        </p:txBody>
      </p:sp>
      <p:sp>
        <p:nvSpPr>
          <p:cNvPr id="12" name="Shape 10"/>
          <p:cNvSpPr/>
          <p:nvPr/>
        </p:nvSpPr>
        <p:spPr>
          <a:xfrm>
            <a:off x="822960" y="1965960"/>
            <a:ext cx="548640" cy="548640"/>
          </a:xfrm>
          <a:prstGeom prst="ellipse">
            <a:avLst/>
          </a:prstGeom>
          <a:solidFill>
            <a:srgbClr val="EAF1FE"/>
          </a:solidFill>
          <a:ln/>
        </p:spPr>
        <p:txBody>
          <a:bodyPr/>
          <a:p/>
        </p:txBody>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Bands set by real data</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Once actuals are logged, the uncertainty band is corrected by real results —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txBody>
          <a:bodyPr/>
          <a:p/>
        </p:txBody>
      </p:sp>
      <p:sp>
        <p:nvSpPr>
          <p:cNvPr id="17" name="Shape 15"/>
          <p:cNvSpPr/>
          <p:nvPr/>
        </p:nvSpPr>
        <p:spPr>
          <a:xfrm>
            <a:off x="6217920" y="1691640"/>
            <a:ext cx="82296" cy="1874520"/>
          </a:xfrm>
          <a:prstGeom prst="rect">
            <a:avLst/>
          </a:prstGeom>
          <a:solidFill>
            <a:srgbClr val="7C3AED"/>
          </a:solidFill>
          <a:ln/>
        </p:spPr>
        <p:txBody>
          <a:bodyPr/>
          <a:p/>
        </p:txBody>
      </p:sp>
      <p:sp>
        <p:nvSpPr>
          <p:cNvPr id="18" name="Shape 16"/>
          <p:cNvSpPr/>
          <p:nvPr/>
        </p:nvSpPr>
        <p:spPr>
          <a:xfrm>
            <a:off x="6492240" y="1965960"/>
            <a:ext cx="548640" cy="548640"/>
          </a:xfrm>
          <a:prstGeom prst="ellipse">
            <a:avLst/>
          </a:prstGeom>
          <a:solidFill>
            <a:srgbClr val="F3EEFE"/>
          </a:solidFill>
          <a:ln/>
        </p:spPr>
        <p:txBody>
          <a:bodyPr/>
          <a:p/>
        </p:txBody>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Shows why a part costs what it does and writes the sentence — for example, what a move in the aluminium index does to the price.</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txBody>
          <a:bodyPr/>
          <a:p/>
        </p:txBody>
      </p:sp>
      <p:sp>
        <p:nvSpPr>
          <p:cNvPr id="23" name="Shape 21"/>
          <p:cNvSpPr/>
          <p:nvPr/>
        </p:nvSpPr>
        <p:spPr>
          <a:xfrm>
            <a:off x="548640" y="3749040"/>
            <a:ext cx="82296" cy="1874520"/>
          </a:xfrm>
          <a:prstGeom prst="rect">
            <a:avLst/>
          </a:prstGeom>
          <a:solidFill>
            <a:srgbClr val="E0900C"/>
          </a:solidFill>
          <a:ln/>
        </p:spPr>
        <p:txBody>
          <a:bodyPr/>
          <a:p/>
        </p:txBody>
      </p:sp>
      <p:sp>
        <p:nvSpPr>
          <p:cNvPr id="24" name="Shape 22"/>
          <p:cNvSpPr/>
          <p:nvPr/>
        </p:nvSpPr>
        <p:spPr>
          <a:xfrm>
            <a:off x="822960" y="4023360"/>
            <a:ext cx="548640" cy="548640"/>
          </a:xfrm>
          <a:prstGeom prst="ellipse">
            <a:avLst/>
          </a:prstGeom>
          <a:solidFill>
            <a:srgbClr val="FEF6E7"/>
          </a:solidFill>
          <a:ln/>
        </p:spPr>
        <p:txBody>
          <a:bodyPr/>
          <a:p/>
        </p:txBody>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price and see the cost recompute — for one part or the whole portfolio.</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txBody>
          <a:bodyPr/>
          <a:p/>
        </p:txBody>
      </p:sp>
      <p:sp>
        <p:nvSpPr>
          <p:cNvPr id="29" name="Shape 27"/>
          <p:cNvSpPr/>
          <p:nvPr/>
        </p:nvSpPr>
        <p:spPr>
          <a:xfrm>
            <a:off x="6217920" y="3749040"/>
            <a:ext cx="82296" cy="1874520"/>
          </a:xfrm>
          <a:prstGeom prst="rect">
            <a:avLst/>
          </a:prstGeom>
          <a:solidFill>
            <a:srgbClr val="0EA472"/>
          </a:solidFill>
          <a:ln/>
        </p:spPr>
        <p:txBody>
          <a:bodyPr/>
          <a:p/>
        </p:txBody>
      </p:sp>
      <p:sp>
        <p:nvSpPr>
          <p:cNvPr id="30" name="Shape 28"/>
          <p:cNvSpPr/>
          <p:nvPr/>
        </p:nvSpPr>
        <p:spPr>
          <a:xfrm>
            <a:off x="6492240" y="4023360"/>
            <a:ext cx="548640" cy="548640"/>
          </a:xfrm>
          <a:prstGeom prst="ellipse">
            <a:avLst/>
          </a:prstGeom>
          <a:solidFill>
            <a:srgbClr val="E7F7F0"/>
          </a:solidFill>
          <a:ln/>
        </p:spPr>
        <p:txBody>
          <a:bodyPr/>
          <a:p/>
        </p:txBody>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more and more RFQs ask for one.</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txBody>
          <a:bodyPr/>
          <a:p/>
        </p:txBody>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range we can defend, a negotiating sentence, a risk seen early,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txBody>
          <a:bodyPr/>
          <a:p/>
        </p:txBody>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open,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txBody>
          <a:bodyPr/>
          <a:p/>
        </p:txBody>
      </p:sp>
      <p:sp>
        <p:nvSpPr>
          <p:cNvPr id="11" name="Shape 9"/>
          <p:cNvSpPr/>
          <p:nvPr/>
        </p:nvSpPr>
        <p:spPr>
          <a:xfrm>
            <a:off x="548640" y="1691640"/>
            <a:ext cx="82296" cy="1417320"/>
          </a:xfrm>
          <a:prstGeom prst="rect">
            <a:avLst/>
          </a:prstGeom>
          <a:solidFill>
            <a:srgbClr val="2563EB"/>
          </a:solidFill>
          <a:ln/>
        </p:spPr>
        <p:txBody>
          <a:bodyPr/>
          <a:p/>
        </p:txBody>
      </p:sp>
      <p:sp>
        <p:nvSpPr>
          <p:cNvPr id="12" name="Shape 10"/>
          <p:cNvSpPr/>
          <p:nvPr/>
        </p:nvSpPr>
        <p:spPr>
          <a:xfrm>
            <a:off x="804672" y="1911096"/>
            <a:ext cx="457200" cy="457200"/>
          </a:xfrm>
          <a:prstGeom prst="ellipse">
            <a:avLst/>
          </a:prstGeom>
          <a:solidFill>
            <a:srgbClr val="EAF1FE"/>
          </a:solidFill>
          <a:ln/>
        </p:spPr>
        <p:txBody>
          <a:bodyPr/>
          <a:p/>
        </p:txBody>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number is plain arithmetic an engineer can read and defend. At JLR there is no AI in the tool at all.</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txBody>
          <a:bodyPr/>
          <a:p/>
        </p:txBody>
      </p:sp>
      <p:sp>
        <p:nvSpPr>
          <p:cNvPr id="17" name="Shape 15"/>
          <p:cNvSpPr/>
          <p:nvPr/>
        </p:nvSpPr>
        <p:spPr>
          <a:xfrm>
            <a:off x="6217920" y="1691640"/>
            <a:ext cx="82296" cy="1417320"/>
          </a:xfrm>
          <a:prstGeom prst="rect">
            <a:avLst/>
          </a:prstGeom>
          <a:solidFill>
            <a:srgbClr val="0DA5A0"/>
          </a:solidFill>
          <a:ln/>
        </p:spPr>
        <p:txBody>
          <a:bodyPr/>
          <a:p/>
        </p:txBody>
      </p:sp>
      <p:sp>
        <p:nvSpPr>
          <p:cNvPr id="18" name="Shape 16"/>
          <p:cNvSpPr/>
          <p:nvPr/>
        </p:nvSpPr>
        <p:spPr>
          <a:xfrm>
            <a:off x="6473952" y="1911096"/>
            <a:ext cx="457200" cy="457200"/>
          </a:xfrm>
          <a:prstGeom prst="ellipse">
            <a:avLst/>
          </a:prstGeom>
          <a:solidFill>
            <a:srgbClr val="E7F7F0"/>
          </a:solidFill>
          <a:ln/>
        </p:spPr>
        <p:txBody>
          <a:bodyPr/>
          <a:p/>
        </p:txBody>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The arithmetic matches a hand calculation to under 0.01%. Accuracy against real prices is measured as actuals are logged.</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txBody>
          <a:bodyPr/>
          <a:p/>
        </p:txBody>
      </p:sp>
      <p:sp>
        <p:nvSpPr>
          <p:cNvPr id="23" name="Shape 21"/>
          <p:cNvSpPr/>
          <p:nvPr/>
        </p:nvSpPr>
        <p:spPr>
          <a:xfrm>
            <a:off x="548640" y="3291840"/>
            <a:ext cx="82296" cy="1417320"/>
          </a:xfrm>
          <a:prstGeom prst="rect">
            <a:avLst/>
          </a:prstGeom>
          <a:solidFill>
            <a:srgbClr val="7C3AED"/>
          </a:solidFill>
          <a:ln/>
        </p:spPr>
        <p:txBody>
          <a:bodyPr/>
          <a:p/>
        </p:txBody>
      </p:sp>
      <p:sp>
        <p:nvSpPr>
          <p:cNvPr id="24" name="Shape 22"/>
          <p:cNvSpPr/>
          <p:nvPr/>
        </p:nvSpPr>
        <p:spPr>
          <a:xfrm>
            <a:off x="804672" y="3511296"/>
            <a:ext cx="457200" cy="457200"/>
          </a:xfrm>
          <a:prstGeom prst="ellipse">
            <a:avLst/>
          </a:prstGeom>
          <a:solidFill>
            <a:srgbClr val="F3EEFE"/>
          </a:solidFill>
          <a:ln/>
        </p:spPr>
        <p:txBody>
          <a:bodyPr/>
          <a:p/>
        </p:txBody>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An uncertainty band and clear flags on anything unchecked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txBody>
          <a:bodyPr/>
          <a:p/>
        </p:txBody>
      </p:sp>
      <p:sp>
        <p:nvSpPr>
          <p:cNvPr id="29" name="Shape 27"/>
          <p:cNvSpPr/>
          <p:nvPr/>
        </p:nvSpPr>
        <p:spPr>
          <a:xfrm>
            <a:off x="6217920" y="3291840"/>
            <a:ext cx="82296" cy="1417320"/>
          </a:xfrm>
          <a:prstGeom prst="rect">
            <a:avLst/>
          </a:prstGeom>
          <a:solidFill>
            <a:srgbClr val="0EA472"/>
          </a:solidFill>
          <a:ln/>
        </p:spPr>
        <p:txBody>
          <a:bodyPr/>
          <a:p/>
        </p:txBody>
      </p:sp>
      <p:sp>
        <p:nvSpPr>
          <p:cNvPr id="30" name="Shape 28"/>
          <p:cNvSpPr/>
          <p:nvPr/>
        </p:nvSpPr>
        <p:spPr>
          <a:xfrm>
            <a:off x="6473952" y="3511296"/>
            <a:ext cx="457200" cy="457200"/>
          </a:xfrm>
          <a:prstGeom prst="ellipse">
            <a:avLst/>
          </a:prstGeom>
          <a:solidFill>
            <a:srgbClr val="E7F7F0"/>
          </a:solidFill>
          <a:ln/>
        </p:spPr>
        <p:txBody>
          <a:bodyPr/>
          <a:p/>
        </p:txBody>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Tested on every change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2,438 automated tests, plus browser tests that cost every process and check accessibility (WCAG 2.1 AA).</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txBody>
          <a:bodyPr/>
          <a:p/>
        </p:txBody>
      </p:sp>
      <p:sp>
        <p:nvSpPr>
          <p:cNvPr id="35" name="Shape 33"/>
          <p:cNvSpPr/>
          <p:nvPr/>
        </p:nvSpPr>
        <p:spPr>
          <a:xfrm>
            <a:off x="548640" y="5029200"/>
            <a:ext cx="82296" cy="914400"/>
          </a:xfrm>
          <a:prstGeom prst="rect">
            <a:avLst/>
          </a:prstGeom>
          <a:solidFill>
            <a:srgbClr val="0EA472"/>
          </a:solidFill>
          <a:ln/>
        </p:spPr>
        <p:txBody>
          <a:bodyPr/>
          <a:p/>
        </p:txBody>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tool measures and asks; fixed arithmetic does the money; every number is traceable and tested. Not proven yet: a comparison with prices JLR actually paid.</a:t>
            </a:r>
            <a:endParaRPr lang="en-US" sz="1200" dirty="0"/>
          </a:p>
        </p:txBody>
      </p:sp>
      <p:sp>
        <p:nvSpPr>
          <p:cNvPr id="37" name="Shape 35"/>
          <p:cNvSpPr/>
          <p:nvPr/>
        </p:nvSpPr>
        <p:spPr>
          <a:xfrm>
            <a:off x="548640" y="6400800"/>
            <a:ext cx="11094415" cy="12802"/>
          </a:xfrm>
          <a:prstGeom prst="rect">
            <a:avLst/>
          </a:prstGeom>
          <a:solidFill>
            <a:srgbClr val="E4EAF2"/>
          </a:solidFill>
          <a:ln/>
        </p:spPr>
        <p:txBody>
          <a:bodyPr/>
          <a:p/>
        </p:txBody>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 · CONTINUOUS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Built to stay right — quality that’s enforced, not promised</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36192"/>
            <a:ext cx="11064240"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Being right once is not enough. These checks run on every change, so the tool stays defensible as it grows.</a:t>
            </a:r>
            <a:endParaRPr lang="en-US" sz="1200" dirty="0"/>
          </a:p>
        </p:txBody>
      </p:sp>
      <p:sp>
        <p:nvSpPr>
          <p:cNvPr id="11" name="Shape 9"/>
          <p:cNvSpPr/>
          <p:nvPr/>
        </p:nvSpPr>
        <p:spPr>
          <a:xfrm>
            <a:off x="54864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txBody>
          <a:bodyPr/>
          <a:p/>
        </p:txBody>
      </p:sp>
      <p:sp>
        <p:nvSpPr>
          <p:cNvPr id="12" name="Shape 10"/>
          <p:cNvSpPr/>
          <p:nvPr/>
        </p:nvSpPr>
        <p:spPr>
          <a:xfrm>
            <a:off x="548640" y="2084832"/>
            <a:ext cx="82296" cy="1335024"/>
          </a:xfrm>
          <a:prstGeom prst="rect">
            <a:avLst/>
          </a:prstGeom>
          <a:solidFill>
            <a:srgbClr val="2563EB"/>
          </a:solidFill>
          <a:ln/>
        </p:spPr>
        <p:txBody>
          <a:bodyPr/>
          <a:p/>
        </p:txBody>
      </p:sp>
      <p:sp>
        <p:nvSpPr>
          <p:cNvPr id="13" name="Shape 11"/>
          <p:cNvSpPr/>
          <p:nvPr/>
        </p:nvSpPr>
        <p:spPr>
          <a:xfrm>
            <a:off x="804672" y="2286000"/>
            <a:ext cx="457200" cy="457200"/>
          </a:xfrm>
          <a:prstGeom prst="ellipse">
            <a:avLst/>
          </a:prstGeom>
          <a:solidFill>
            <a:srgbClr val="EAF1FE"/>
          </a:solidFill>
          <a:ln/>
        </p:spPr>
        <p:txBody>
          <a:bodyPr/>
          <a:p/>
        </p:txBody>
      </p:sp>
      <p:sp>
        <p:nvSpPr>
          <p:cNvPr id="14" name="Text 12"/>
          <p:cNvSpPr/>
          <p:nvPr/>
        </p:nvSpPr>
        <p:spPr>
          <a:xfrm>
            <a:off x="804672" y="2276856"/>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5" name="Text 13"/>
          <p:cNvSpPr/>
          <p:nvPr/>
        </p:nvSpPr>
        <p:spPr>
          <a:xfrm>
            <a:off x="1335024" y="2322576"/>
            <a:ext cx="4434840" cy="45720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The golden rule, machine-checked</a:t>
            </a:r>
            <a:endParaRPr lang="en-US" sz="1300" dirty="0"/>
          </a:p>
        </p:txBody>
      </p:sp>
      <p:sp>
        <p:nvSpPr>
          <p:cNvPr id="16" name="Text 14"/>
          <p:cNvSpPr/>
          <p:nvPr/>
        </p:nvSpPr>
        <p:spPr>
          <a:xfrm>
            <a:off x="82296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“AI never sets a price” is a test: if any AI code reaches the cost engine, the build fails.</a:t>
            </a:r>
            <a:endParaRPr lang="en-US" sz="1000" dirty="0"/>
          </a:p>
        </p:txBody>
      </p:sp>
      <p:sp>
        <p:nvSpPr>
          <p:cNvPr id="17" name="Shape 15"/>
          <p:cNvSpPr/>
          <p:nvPr/>
        </p:nvSpPr>
        <p:spPr>
          <a:xfrm>
            <a:off x="621792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txBody>
          <a:bodyPr/>
          <a:p/>
        </p:txBody>
      </p:sp>
      <p:sp>
        <p:nvSpPr>
          <p:cNvPr id="18" name="Shape 16"/>
          <p:cNvSpPr/>
          <p:nvPr/>
        </p:nvSpPr>
        <p:spPr>
          <a:xfrm>
            <a:off x="6217920" y="2084832"/>
            <a:ext cx="82296" cy="1335024"/>
          </a:xfrm>
          <a:prstGeom prst="rect">
            <a:avLst/>
          </a:prstGeom>
          <a:solidFill>
            <a:srgbClr val="0DA5A0"/>
          </a:solidFill>
          <a:ln/>
        </p:spPr>
        <p:txBody>
          <a:bodyPr/>
          <a:p/>
        </p:txBody>
      </p:sp>
      <p:sp>
        <p:nvSpPr>
          <p:cNvPr id="19" name="Shape 17"/>
          <p:cNvSpPr/>
          <p:nvPr/>
        </p:nvSpPr>
        <p:spPr>
          <a:xfrm>
            <a:off x="6473952" y="2286000"/>
            <a:ext cx="457200" cy="457200"/>
          </a:xfrm>
          <a:prstGeom prst="ellipse">
            <a:avLst/>
          </a:prstGeom>
          <a:solidFill>
            <a:srgbClr val="E7F7F0"/>
          </a:solidFill>
          <a:ln/>
        </p:spPr>
        <p:txBody>
          <a:bodyPr/>
          <a:p/>
        </p:txBody>
      </p:sp>
      <p:sp>
        <p:nvSpPr>
          <p:cNvPr id="20" name="Text 18"/>
          <p:cNvSpPr/>
          <p:nvPr/>
        </p:nvSpPr>
        <p:spPr>
          <a:xfrm>
            <a:off x="6473952" y="2276856"/>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1" name="Text 19"/>
          <p:cNvSpPr/>
          <p:nvPr/>
        </p:nvSpPr>
        <p:spPr>
          <a:xfrm>
            <a:off x="7004304" y="2322576"/>
            <a:ext cx="4434840" cy="457200"/>
          </a:xfrm>
          <a:prstGeom prst="rect">
            <a:avLst/>
          </a:prstGeom>
          <a:noFill/>
          <a:ln/>
        </p:spPr>
        <p:txBody>
          <a:bodyPr wrap="square" lIns="0" tIns="0" rIns="0" bIns="0" rtlCol="0" anchor="ctr"/>
          <a:lstStyle/>
          <a:p>
            <a:pPr indent="0" marL="0">
              <a:buNone/>
            </a:pPr>
            <a:r>
              <a:rPr lang="en-US" sz="1300" b="1" dirty="0">
                <a:solidFill>
                  <a:srgbClr val="0DA5A0"/>
                </a:solidFill>
                <a:latin typeface="Calibri" pitchFamily="34" charset="0"/>
                <a:ea typeface="Calibri" pitchFamily="34" charset="-122"/>
                <a:cs typeface="Calibri" pitchFamily="34" charset="-120"/>
              </a:rPr>
              <a:t>Real parts pinned every build</a:t>
            </a:r>
            <a:endParaRPr lang="en-US" sz="1300" dirty="0"/>
          </a:p>
        </p:txBody>
      </p:sp>
      <p:sp>
        <p:nvSpPr>
          <p:cNvPr id="22" name="Text 20"/>
          <p:cNvSpPr/>
          <p:nvPr/>
        </p:nvSpPr>
        <p:spPr>
          <a:xfrm>
            <a:off x="649224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6 real production parts — a knuckle, two castings, a pressed bracket, a machined part, a gear. If any cost moves, the build fails.</a:t>
            </a:r>
            <a:endParaRPr lang="en-US" sz="1000" dirty="0"/>
          </a:p>
        </p:txBody>
      </p:sp>
      <p:sp>
        <p:nvSpPr>
          <p:cNvPr id="23" name="Shape 21"/>
          <p:cNvSpPr/>
          <p:nvPr/>
        </p:nvSpPr>
        <p:spPr>
          <a:xfrm>
            <a:off x="54864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txBody>
          <a:bodyPr/>
          <a:p/>
        </p:txBody>
      </p:sp>
      <p:sp>
        <p:nvSpPr>
          <p:cNvPr id="24" name="Shape 22"/>
          <p:cNvSpPr/>
          <p:nvPr/>
        </p:nvSpPr>
        <p:spPr>
          <a:xfrm>
            <a:off x="548640" y="3566160"/>
            <a:ext cx="82296" cy="1335024"/>
          </a:xfrm>
          <a:prstGeom prst="rect">
            <a:avLst/>
          </a:prstGeom>
          <a:solidFill>
            <a:srgbClr val="0EA472"/>
          </a:solidFill>
          <a:ln/>
        </p:spPr>
        <p:txBody>
          <a:bodyPr/>
          <a:p/>
        </p:txBody>
      </p:sp>
      <p:sp>
        <p:nvSpPr>
          <p:cNvPr id="25" name="Shape 23"/>
          <p:cNvSpPr/>
          <p:nvPr/>
        </p:nvSpPr>
        <p:spPr>
          <a:xfrm>
            <a:off x="804672" y="3767328"/>
            <a:ext cx="457200" cy="457200"/>
          </a:xfrm>
          <a:prstGeom prst="ellipse">
            <a:avLst/>
          </a:prstGeom>
          <a:solidFill>
            <a:srgbClr val="E7F7F0"/>
          </a:solidFill>
          <a:ln/>
        </p:spPr>
        <p:txBody>
          <a:bodyPr/>
          <a:p/>
        </p:txBody>
      </p:sp>
      <p:sp>
        <p:nvSpPr>
          <p:cNvPr id="26" name="Text 24"/>
          <p:cNvSpPr/>
          <p:nvPr/>
        </p:nvSpPr>
        <p:spPr>
          <a:xfrm>
            <a:off x="804672" y="3758184"/>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27" name="Text 25"/>
          <p:cNvSpPr/>
          <p:nvPr/>
        </p:nvSpPr>
        <p:spPr>
          <a:xfrm>
            <a:off x="1335024" y="3803904"/>
            <a:ext cx="44348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Every change guarded</a:t>
            </a:r>
            <a:endParaRPr lang="en-US" sz="1300" dirty="0"/>
          </a:p>
        </p:txBody>
      </p:sp>
      <p:sp>
        <p:nvSpPr>
          <p:cNvPr id="28" name="Text 26"/>
          <p:cNvSpPr/>
          <p:nvPr/>
        </p:nvSpPr>
        <p:spPr>
          <a:xfrm>
            <a:off x="82296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2,438 automated tests, a self-audit on every estimate, and screenshot checks of key screens.</a:t>
            </a:r>
            <a:endParaRPr lang="en-US" sz="1000" dirty="0"/>
          </a:p>
        </p:txBody>
      </p:sp>
      <p:sp>
        <p:nvSpPr>
          <p:cNvPr id="29" name="Shape 27"/>
          <p:cNvSpPr/>
          <p:nvPr/>
        </p:nvSpPr>
        <p:spPr>
          <a:xfrm>
            <a:off x="621792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txBody>
          <a:bodyPr/>
          <a:p/>
        </p:txBody>
      </p:sp>
      <p:sp>
        <p:nvSpPr>
          <p:cNvPr id="30" name="Shape 28"/>
          <p:cNvSpPr/>
          <p:nvPr/>
        </p:nvSpPr>
        <p:spPr>
          <a:xfrm>
            <a:off x="6217920" y="3566160"/>
            <a:ext cx="82296" cy="1335024"/>
          </a:xfrm>
          <a:prstGeom prst="rect">
            <a:avLst/>
          </a:prstGeom>
          <a:solidFill>
            <a:srgbClr val="7C3AED"/>
          </a:solidFill>
          <a:ln/>
        </p:spPr>
        <p:txBody>
          <a:bodyPr/>
          <a:p/>
        </p:txBody>
      </p:sp>
      <p:sp>
        <p:nvSpPr>
          <p:cNvPr id="31" name="Shape 29"/>
          <p:cNvSpPr/>
          <p:nvPr/>
        </p:nvSpPr>
        <p:spPr>
          <a:xfrm>
            <a:off x="6473952" y="3767328"/>
            <a:ext cx="457200" cy="457200"/>
          </a:xfrm>
          <a:prstGeom prst="ellipse">
            <a:avLst/>
          </a:prstGeom>
          <a:solidFill>
            <a:srgbClr val="F3EEFE"/>
          </a:solidFill>
          <a:ln/>
        </p:spPr>
        <p:txBody>
          <a:bodyPr/>
          <a:p/>
        </p:txBody>
      </p:sp>
      <p:sp>
        <p:nvSpPr>
          <p:cNvPr id="32" name="Text 30"/>
          <p:cNvSpPr/>
          <p:nvPr/>
        </p:nvSpPr>
        <p:spPr>
          <a:xfrm>
            <a:off x="6473952" y="3758184"/>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33" name="Text 31"/>
          <p:cNvSpPr/>
          <p:nvPr/>
        </p:nvSpPr>
        <p:spPr>
          <a:xfrm>
            <a:off x="7004304" y="3803904"/>
            <a:ext cx="4434840" cy="4572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Confidence on every number</a:t>
            </a:r>
            <a:endParaRPr lang="en-US" sz="1300" dirty="0"/>
          </a:p>
        </p:txBody>
      </p:sp>
      <p:sp>
        <p:nvSpPr>
          <p:cNvPr id="34" name="Text 32"/>
          <p:cNvSpPr/>
          <p:nvPr/>
        </p:nvSpPr>
        <p:spPr>
          <a:xfrm>
            <a:off x="649224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Each should-cost shows a P10–P90 band — an honest range, never a false single figure.</a:t>
            </a:r>
            <a:endParaRPr lang="en-US" sz="1000" dirty="0"/>
          </a:p>
        </p:txBody>
      </p:sp>
      <p:sp>
        <p:nvSpPr>
          <p:cNvPr id="35" name="Shape 33"/>
          <p:cNvSpPr/>
          <p:nvPr/>
        </p:nvSpPr>
        <p:spPr>
          <a:xfrm>
            <a:off x="548640" y="5138928"/>
            <a:ext cx="11091672" cy="841248"/>
          </a:xfrm>
          <a:prstGeom prst="roundRect">
            <a:avLst>
              <a:gd name="adj" fmla="val 7609"/>
            </a:avLst>
          </a:prstGeom>
          <a:solidFill>
            <a:srgbClr val="E7F7F0"/>
          </a:solidFill>
          <a:ln w="12700">
            <a:solidFill>
              <a:srgbClr val="E4EAF2"/>
            </a:solidFill>
            <a:prstDash val="solid"/>
          </a:ln>
        </p:spPr>
        <p:txBody>
          <a:bodyPr/>
          <a:p/>
        </p:txBody>
      </p:sp>
      <p:sp>
        <p:nvSpPr>
          <p:cNvPr id="36" name="Shape 34"/>
          <p:cNvSpPr/>
          <p:nvPr/>
        </p:nvSpPr>
        <p:spPr>
          <a:xfrm>
            <a:off x="548640" y="5138928"/>
            <a:ext cx="82296" cy="841248"/>
          </a:xfrm>
          <a:prstGeom prst="rect">
            <a:avLst/>
          </a:prstGeom>
          <a:solidFill>
            <a:srgbClr val="0EA472"/>
          </a:solidFill>
          <a:ln/>
        </p:spPr>
        <p:txBody>
          <a:bodyPr/>
          <a:p/>
        </p:txBody>
      </p:sp>
      <p:sp>
        <p:nvSpPr>
          <p:cNvPr id="37" name="Text 35"/>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50" b="1" dirty="0">
                <a:solidFill>
                  <a:srgbClr val="0F1E3D"/>
                </a:solidFill>
                <a:latin typeface="Calibri" pitchFamily="34" charset="0"/>
                <a:ea typeface="Calibri" pitchFamily="34" charset="-122"/>
                <a:cs typeface="Calibri" pitchFamily="34" charset="-120"/>
              </a:rPr>
              <a:t>Bottom line: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the number we put in front of a supplier is defensible by construction. Quality is checked on every commit, not reviewed afterwards.</a:t>
            </a:r>
            <a:endParaRPr lang="en-US" sz="1150" dirty="0"/>
          </a:p>
        </p:txBody>
      </p:sp>
      <p:sp>
        <p:nvSpPr>
          <p:cNvPr id="38" name="Shape 36"/>
          <p:cNvSpPr/>
          <p:nvPr/>
        </p:nvSpPr>
        <p:spPr>
          <a:xfrm>
            <a:off x="548640" y="6400800"/>
            <a:ext cx="11094415" cy="12802"/>
          </a:xfrm>
          <a:prstGeom prst="rect">
            <a:avLst/>
          </a:prstGeom>
          <a:solidFill>
            <a:srgbClr val="E4EAF2"/>
          </a:solidFill>
          <a:ln/>
        </p:spPr>
        <p:txBody>
          <a:bodyPr/>
          <a:p/>
        </p:txBody>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and not a chatbot wrapper — a tested, full-stack tool built in-house.</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txBody>
          <a:bodyPr/>
          <a:p/>
        </p:txBody>
      </p:sp>
      <p:sp>
        <p:nvSpPr>
          <p:cNvPr id="12" name="Shape 10"/>
          <p:cNvSpPr/>
          <p:nvPr/>
        </p:nvSpPr>
        <p:spPr>
          <a:xfrm>
            <a:off x="548640" y="1874520"/>
            <a:ext cx="82296" cy="1143000"/>
          </a:xfrm>
          <a:prstGeom prst="rect">
            <a:avLst/>
          </a:prstGeom>
          <a:solidFill>
            <a:srgbClr val="4F46E5"/>
          </a:solidFill>
          <a:ln/>
        </p:spPr>
        <p:txBody>
          <a:bodyPr/>
          <a:p/>
        </p:txBody>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100,000+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txBody>
          <a:bodyPr/>
          <a:p/>
        </p:txBody>
      </p:sp>
      <p:sp>
        <p:nvSpPr>
          <p:cNvPr id="16" name="Shape 14"/>
          <p:cNvSpPr/>
          <p:nvPr/>
        </p:nvSpPr>
        <p:spPr>
          <a:xfrm>
            <a:off x="3319272" y="1874520"/>
            <a:ext cx="82296" cy="1143000"/>
          </a:xfrm>
          <a:prstGeom prst="rect">
            <a:avLst/>
          </a:prstGeom>
          <a:solidFill>
            <a:srgbClr val="0EA472"/>
          </a:solidFill>
          <a:ln/>
        </p:spPr>
        <p:txBody>
          <a:bodyPr/>
          <a:p/>
        </p:txBody>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2,438</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txBody>
          <a:bodyPr/>
          <a:p/>
        </p:txBody>
      </p:sp>
      <p:sp>
        <p:nvSpPr>
          <p:cNvPr id="20" name="Shape 18"/>
          <p:cNvSpPr/>
          <p:nvPr/>
        </p:nvSpPr>
        <p:spPr>
          <a:xfrm>
            <a:off x="6089904" y="1874520"/>
            <a:ext cx="82296" cy="1143000"/>
          </a:xfrm>
          <a:prstGeom prst="rect">
            <a:avLst/>
          </a:prstGeom>
          <a:solidFill>
            <a:srgbClr val="E0900C"/>
          </a:solidFill>
          <a:ln/>
        </p:spPr>
        <p:txBody>
          <a:bodyPr/>
          <a:p/>
        </p:txBody>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manufacturing processes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txBody>
          <a:bodyPr/>
          <a:p/>
        </p:txBody>
      </p:sp>
      <p:sp>
        <p:nvSpPr>
          <p:cNvPr id="24" name="Shape 22"/>
          <p:cNvSpPr/>
          <p:nvPr/>
        </p:nvSpPr>
        <p:spPr>
          <a:xfrm>
            <a:off x="8860536" y="1874520"/>
            <a:ext cx="82296" cy="1143000"/>
          </a:xfrm>
          <a:prstGeom prst="rect">
            <a:avLst/>
          </a:prstGeom>
          <a:solidFill>
            <a:srgbClr val="0E93B0"/>
          </a:solidFill>
          <a:ln/>
        </p:spPr>
        <p:txBody>
          <a:bodyPr/>
          <a:p/>
        </p:txBody>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6</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real parts pinned in the baseline</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txBody>
          <a:bodyPr/>
          <a:p/>
        </p:txBody>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txBody>
          <a:bodyPr/>
          <a:p/>
        </p:txBody>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txBody>
          <a:bodyPr/>
          <a:p/>
        </p:txBody>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~39,000-line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traceable money maths: 19 processes,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txBody>
          <a:bodyPr/>
          <a:p/>
        </p:txBody>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OpenCASCADE in Python reads STEP, IGES and STL</a:t>
            </a:r>
            <a:endParaRPr lang="en-US" sz="960" dirty="0"/>
          </a:p>
        </p:txBody>
      </p:sp>
      <p:sp>
        <p:nvSpPr>
          <p:cNvPr id="38" name="Shape 35"/>
          <p:cNvSpPr/>
          <p:nvPr/>
        </p:nvSpPr>
        <p:spPr>
          <a:xfrm>
            <a:off x="7114032" y="4636008"/>
            <a:ext cx="274320" cy="274320"/>
          </a:xfrm>
          <a:prstGeom prst="ellipse">
            <a:avLst/>
          </a:prstGeom>
          <a:solidFill>
            <a:srgbClr val="EAF1FE"/>
          </a:solidFill>
          <a:ln/>
        </p:spPr>
        <p:txBody>
          <a:bodyPr/>
          <a:p/>
        </p:txBody>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server and UI, Three.js 3D, SQLite, Python</a:t>
            </a:r>
            <a:endParaRPr lang="en-US" sz="960" dirty="0"/>
          </a:p>
        </p:txBody>
      </p:sp>
      <p:sp>
        <p:nvSpPr>
          <p:cNvPr id="41" name="Shape 38"/>
          <p:cNvSpPr/>
          <p:nvPr/>
        </p:nvSpPr>
        <p:spPr>
          <a:xfrm>
            <a:off x="7114032" y="5093208"/>
            <a:ext cx="274320" cy="274320"/>
          </a:xfrm>
          <a:prstGeom prst="ellipse">
            <a:avLst/>
          </a:prstGeom>
          <a:solidFill>
            <a:srgbClr val="E7F7F0"/>
          </a:solidFill>
          <a:ln/>
        </p:spPr>
        <p:txBody>
          <a:bodyPr/>
          <a:p/>
        </p:txBody>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~29,000 lines of tests; 2,438 tests run on every change</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txBody>
          <a:bodyPr/>
          <a:p/>
        </p:txBody>
      </p:sp>
      <p:sp>
        <p:nvSpPr>
          <p:cNvPr id="45" name="Shape 42"/>
          <p:cNvSpPr/>
          <p:nvPr/>
        </p:nvSpPr>
        <p:spPr>
          <a:xfrm>
            <a:off x="548640" y="5742432"/>
            <a:ext cx="82296" cy="457200"/>
          </a:xfrm>
          <a:prstGeom prst="rect">
            <a:avLst/>
          </a:prstGeom>
          <a:solidFill>
            <a:srgbClr val="4F46E5"/>
          </a:solidFill>
          <a:ln/>
        </p:spPr>
        <p:txBody>
          <a:bodyPr/>
          <a:p/>
        </p:txBody>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engineering, and the cost knowledge built into it, is a company asset we own and control.</a:t>
            </a:r>
            <a:endParaRPr lang="en-US" sz="1100" dirty="0"/>
          </a:p>
        </p:txBody>
      </p:sp>
      <p:sp>
        <p:nvSpPr>
          <p:cNvPr id="47" name="Shape 44"/>
          <p:cNvSpPr/>
          <p:nvPr/>
        </p:nvSpPr>
        <p:spPr>
          <a:xfrm>
            <a:off x="548640" y="6400800"/>
            <a:ext cx="11094415" cy="12802"/>
          </a:xfrm>
          <a:prstGeom prst="rect">
            <a:avLst/>
          </a:prstGeom>
          <a:solidFill>
            <a:srgbClr val="E4EAF2"/>
          </a:solidFill>
          <a:ln/>
        </p:spPr>
        <p:txBody>
          <a:bodyPr/>
          <a:p/>
        </p:txBody>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1" name="Shape 9"/>
          <p:cNvSpPr/>
          <p:nvPr/>
        </p:nvSpPr>
        <p:spPr>
          <a:xfrm>
            <a:off x="548640" y="1691640"/>
            <a:ext cx="82296" cy="1783080"/>
          </a:xfrm>
          <a:prstGeom prst="rect">
            <a:avLst/>
          </a:prstGeom>
          <a:solidFill>
            <a:srgbClr val="2563EB"/>
          </a:solidFill>
          <a:ln/>
        </p:spPr>
        <p:txBody>
          <a:bodyPr/>
          <a:p/>
        </p:txBody>
      </p:sp>
      <p:sp>
        <p:nvSpPr>
          <p:cNvPr id="12" name="Shape 10"/>
          <p:cNvSpPr/>
          <p:nvPr/>
        </p:nvSpPr>
        <p:spPr>
          <a:xfrm>
            <a:off x="822960" y="1965960"/>
            <a:ext cx="548640" cy="548640"/>
          </a:xfrm>
          <a:prstGeom prst="ellipse">
            <a:avLst/>
          </a:prstGeom>
          <a:solidFill>
            <a:srgbClr val="EAF1FE"/>
          </a:solidFill>
          <a:ln/>
        </p:spPr>
        <p:txBody>
          <a:bodyPr/>
          <a:p/>
        </p:txBody>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Less keying. The tool measures the CAD and fills the inputs, so the first traceable number comes sooner.</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7" name="Shape 15"/>
          <p:cNvSpPr/>
          <p:nvPr/>
        </p:nvSpPr>
        <p:spPr>
          <a:xfrm>
            <a:off x="6217920" y="1691640"/>
            <a:ext cx="82296" cy="1783080"/>
          </a:xfrm>
          <a:prstGeom prst="rect">
            <a:avLst/>
          </a:prstGeom>
          <a:solidFill>
            <a:srgbClr val="0EA472"/>
          </a:solidFill>
          <a:ln/>
        </p:spPr>
        <p:txBody>
          <a:bodyPr/>
          <a:p/>
        </p:txBody>
      </p:sp>
      <p:sp>
        <p:nvSpPr>
          <p:cNvPr id="18" name="Shape 16"/>
          <p:cNvSpPr/>
          <p:nvPr/>
        </p:nvSpPr>
        <p:spPr>
          <a:xfrm>
            <a:off x="6492240" y="1965960"/>
            <a:ext cx="548640" cy="548640"/>
          </a:xfrm>
          <a:prstGeom prst="ellipse">
            <a:avLst/>
          </a:prstGeom>
          <a:solidFill>
            <a:srgbClr val="E7F7F0"/>
          </a:solidFill>
          <a:ln/>
        </p:spPr>
        <p:txBody>
          <a:bodyPr/>
          <a:p/>
        </p:txBody>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Line-by-line should-cost lets us challenge each quote by driver, not by total.</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3" name="Shape 21"/>
          <p:cNvSpPr/>
          <p:nvPr/>
        </p:nvSpPr>
        <p:spPr>
          <a:xfrm>
            <a:off x="548640" y="3657600"/>
            <a:ext cx="82296" cy="1783080"/>
          </a:xfrm>
          <a:prstGeom prst="rect">
            <a:avLst/>
          </a:prstGeom>
          <a:solidFill>
            <a:srgbClr val="7C3AED"/>
          </a:solidFill>
          <a:ln/>
        </p:spPr>
        <p:txBody>
          <a:bodyPr/>
          <a:p/>
        </p:txBody>
      </p:sp>
      <p:sp>
        <p:nvSpPr>
          <p:cNvPr id="24" name="Shape 22"/>
          <p:cNvSpPr/>
          <p:nvPr/>
        </p:nvSpPr>
        <p:spPr>
          <a:xfrm>
            <a:off x="822960" y="3931920"/>
            <a:ext cx="548640" cy="548640"/>
          </a:xfrm>
          <a:prstGeom prst="ellipse">
            <a:avLst/>
          </a:prstGeom>
          <a:solidFill>
            <a:srgbClr val="F3EEFE"/>
          </a:solidFill>
          <a:ln/>
        </p:spPr>
        <p:txBody>
          <a:bodyPr/>
          <a:p/>
        </p:txBody>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method and one rate library for everyone. Juniors cost the way seniors do.</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9" name="Shape 27"/>
          <p:cNvSpPr/>
          <p:nvPr/>
        </p:nvSpPr>
        <p:spPr>
          <a:xfrm>
            <a:off x="6217920" y="3657600"/>
            <a:ext cx="82296" cy="1783080"/>
          </a:xfrm>
          <a:prstGeom prst="rect">
            <a:avLst/>
          </a:prstGeom>
          <a:solidFill>
            <a:srgbClr val="E0900C"/>
          </a:solidFill>
          <a:ln/>
        </p:spPr>
        <p:txBody>
          <a:bodyPr/>
          <a:p/>
        </p:txBody>
      </p:sp>
      <p:sp>
        <p:nvSpPr>
          <p:cNvPr id="30" name="Shape 28"/>
          <p:cNvSpPr/>
          <p:nvPr/>
        </p:nvSpPr>
        <p:spPr>
          <a:xfrm>
            <a:off x="6492240" y="3931920"/>
            <a:ext cx="548640" cy="548640"/>
          </a:xfrm>
          <a:prstGeom prst="ellipse">
            <a:avLst/>
          </a:prstGeom>
          <a:solidFill>
            <a:srgbClr val="FEF6E7"/>
          </a:solidFill>
          <a:ln/>
        </p:spPr>
        <p:txBody>
          <a:bodyPr/>
          <a:p/>
        </p:txBody>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Logged actuals and saved cases stay on our own machines, and grow with use.</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txBody>
          <a:bodyPr/>
          <a:p/>
        </p:txBody>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consistent, traceable numbers — on our own laptops, with no AI and no internet needed. The savings are for the pilot to measure.</a:t>
            </a:r>
            <a:endParaRPr lang="en-US" sz="1200" dirty="0"/>
          </a:p>
        </p:txBody>
      </p:sp>
      <p:sp>
        <p:nvSpPr>
          <p:cNvPr id="36" name="Shape 34"/>
          <p:cNvSpPr/>
          <p:nvPr/>
        </p:nvSpPr>
        <p:spPr>
          <a:xfrm>
            <a:off x="548640" y="6400800"/>
            <a:ext cx="11094415" cy="12802"/>
          </a:xfrm>
          <a:prstGeom prst="rect">
            <a:avLst/>
          </a:prstGeom>
          <a:solidFill>
            <a:srgbClr val="E4EAF2"/>
          </a:solidFill>
          <a:ln/>
        </p:spPr>
        <p:txBody>
          <a:bodyPr/>
          <a:p/>
        </p:txBody>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2" name="Shape 10"/>
          <p:cNvSpPr/>
          <p:nvPr/>
        </p:nvSpPr>
        <p:spPr>
          <a:xfrm>
            <a:off x="548640" y="2103120"/>
            <a:ext cx="82296" cy="3063240"/>
          </a:xfrm>
          <a:prstGeom prst="rect">
            <a:avLst/>
          </a:prstGeom>
          <a:solidFill>
            <a:srgbClr val="2563EB"/>
          </a:solidFill>
          <a:ln/>
        </p:spPr>
        <p:txBody>
          <a:bodyPr/>
          <a:p/>
        </p:txBody>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txBody>
          <a:bodyPr/>
          <a:p/>
        </p:txBody>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txBody>
          <a:bodyPr/>
          <a:p/>
        </p:txBody>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Install the laptop package</a:t>
            </a:r>
            <a:endParaRPr lang="en-US" sz="1030" dirty="0"/>
          </a:p>
        </p:txBody>
      </p:sp>
      <p:sp>
        <p:nvSpPr>
          <p:cNvPr id="19" name="Shape 17"/>
          <p:cNvSpPr/>
          <p:nvPr/>
        </p:nvSpPr>
        <p:spPr>
          <a:xfrm>
            <a:off x="822960" y="3749040"/>
            <a:ext cx="256032" cy="256032"/>
          </a:xfrm>
          <a:prstGeom prst="ellipse">
            <a:avLst/>
          </a:prstGeom>
          <a:solidFill>
            <a:srgbClr val="EAF1FE"/>
          </a:solidFill>
          <a:ln/>
        </p:spPr>
        <p:txBody>
          <a:bodyPr/>
          <a:p/>
        </p:txBody>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historic actuals</a:t>
            </a:r>
            <a:endParaRPr lang="en-US" sz="1030" dirty="0"/>
          </a:p>
        </p:txBody>
      </p:sp>
      <p:sp>
        <p:nvSpPr>
          <p:cNvPr id="22" name="Shape 20"/>
          <p:cNvSpPr/>
          <p:nvPr/>
        </p:nvSpPr>
        <p:spPr>
          <a:xfrm>
            <a:off x="822960" y="4206240"/>
            <a:ext cx="256032" cy="256032"/>
          </a:xfrm>
          <a:prstGeom prst="ellipse">
            <a:avLst/>
          </a:prstGeom>
          <a:solidFill>
            <a:srgbClr val="EAF1FE"/>
          </a:solidFill>
          <a:ln/>
        </p:spPr>
        <p:txBody>
          <a:bodyPr/>
          <a:p/>
        </p:txBody>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txBody>
          <a:bodyPr/>
          <a:p/>
        </p:txBody>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30" name="Shape 28"/>
          <p:cNvSpPr/>
          <p:nvPr/>
        </p:nvSpPr>
        <p:spPr>
          <a:xfrm>
            <a:off x="4325112" y="2103120"/>
            <a:ext cx="82296" cy="3063240"/>
          </a:xfrm>
          <a:prstGeom prst="rect">
            <a:avLst/>
          </a:prstGeom>
          <a:solidFill>
            <a:srgbClr val="7C3AED"/>
          </a:solidFill>
          <a:ln/>
        </p:spPr>
        <p:txBody>
          <a:bodyPr/>
          <a:p/>
        </p:txBody>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txBody>
          <a:bodyPr/>
          <a:p/>
        </p:txBody>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txBody>
          <a:bodyPr/>
          <a:p/>
        </p:txBody>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txBody>
          <a:bodyPr/>
          <a:p/>
        </p:txBody>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txBody>
          <a:bodyPr/>
          <a:p/>
        </p:txBody>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txBody>
          <a:bodyPr/>
          <a:p/>
        </p:txBody>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drift-monitor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48" name="Shape 46"/>
          <p:cNvSpPr/>
          <p:nvPr/>
        </p:nvSpPr>
        <p:spPr>
          <a:xfrm>
            <a:off x="8101584" y="2103120"/>
            <a:ext cx="82296" cy="3063240"/>
          </a:xfrm>
          <a:prstGeom prst="rect">
            <a:avLst/>
          </a:prstGeom>
          <a:solidFill>
            <a:srgbClr val="0EA472"/>
          </a:solidFill>
          <a:ln/>
        </p:spPr>
        <p:txBody>
          <a:bodyPr/>
          <a:p/>
        </p:txBody>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txBody>
          <a:bodyPr/>
          <a:p/>
        </p:txBody>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txBody>
          <a:bodyPr/>
          <a:p/>
        </p:txBody>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txBody>
          <a:bodyPr/>
          <a:p/>
        </p:txBody>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txBody>
          <a:bodyPr/>
          <a:p/>
        </p:txBody>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Real market price feeds</a:t>
            </a:r>
            <a:endParaRPr lang="en-US" sz="1030" dirty="0"/>
          </a:p>
        </p:txBody>
      </p:sp>
      <p:sp>
        <p:nvSpPr>
          <p:cNvPr id="61" name="Shape 59"/>
          <p:cNvSpPr/>
          <p:nvPr/>
        </p:nvSpPr>
        <p:spPr>
          <a:xfrm>
            <a:off x="8375904" y="4663440"/>
            <a:ext cx="256032" cy="256032"/>
          </a:xfrm>
          <a:prstGeom prst="ellipse">
            <a:avLst/>
          </a:prstGeom>
          <a:solidFill>
            <a:srgbClr val="E7F7F0"/>
          </a:solidFill>
          <a:ln/>
        </p:spPr>
        <p:txBody>
          <a:bodyPr/>
          <a:p/>
        </p:txBody>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txBody>
          <a:bodyPr/>
          <a:p/>
        </p:txBody>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learning starts empty and grows with use. Logging our historic actuals in Phase 1 gives it a real start — and the first true accuracy measure.</a:t>
            </a:r>
            <a:endParaRPr lang="en-US" sz="1150" dirty="0"/>
          </a:p>
        </p:txBody>
      </p:sp>
      <p:sp>
        <p:nvSpPr>
          <p:cNvPr id="66" name="Shape 64"/>
          <p:cNvSpPr/>
          <p:nvPr/>
        </p:nvSpPr>
        <p:spPr>
          <a:xfrm>
            <a:off x="548640" y="6400800"/>
            <a:ext cx="11094415" cy="12802"/>
          </a:xfrm>
          <a:prstGeom prst="rect">
            <a:avLst/>
          </a:prstGeom>
          <a:solidFill>
            <a:srgbClr val="E4EAF2"/>
          </a:solidFill>
          <a:ln/>
        </p:spPr>
        <p:txBody>
          <a:bodyPr/>
          <a:p/>
        </p:txBody>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Our data, our machines, our IP — and no AI in the JLR build.</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2" name="Shape 10"/>
          <p:cNvSpPr/>
          <p:nvPr/>
        </p:nvSpPr>
        <p:spPr>
          <a:xfrm>
            <a:off x="548640" y="1874520"/>
            <a:ext cx="82296" cy="1600200"/>
          </a:xfrm>
          <a:prstGeom prst="rect">
            <a:avLst/>
          </a:prstGeom>
          <a:solidFill>
            <a:srgbClr val="0EA472"/>
          </a:solidFill>
          <a:ln/>
        </p:spPr>
        <p:txBody>
          <a:bodyPr/>
          <a:p/>
        </p:txBody>
      </p:sp>
      <p:sp>
        <p:nvSpPr>
          <p:cNvPr id="13" name="Shape 11"/>
          <p:cNvSpPr/>
          <p:nvPr/>
        </p:nvSpPr>
        <p:spPr>
          <a:xfrm>
            <a:off x="786384" y="2075688"/>
            <a:ext cx="457200" cy="457200"/>
          </a:xfrm>
          <a:prstGeom prst="ellipse">
            <a:avLst/>
          </a:prstGeom>
          <a:solidFill>
            <a:srgbClr val="E7F7F0"/>
          </a:solidFill>
          <a:ln/>
        </p:spPr>
        <p:txBody>
          <a:bodyPr/>
          <a:p/>
        </p:txBody>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Runs on a laptop</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Windows package runs from a folder: no installer, no admin rights, no internet.</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8" name="Shape 16"/>
          <p:cNvSpPr/>
          <p:nvPr/>
        </p:nvSpPr>
        <p:spPr>
          <a:xfrm>
            <a:off x="4325112" y="1874520"/>
            <a:ext cx="82296" cy="1600200"/>
          </a:xfrm>
          <a:prstGeom prst="rect">
            <a:avLst/>
          </a:prstGeom>
          <a:solidFill>
            <a:srgbClr val="2563EB"/>
          </a:solidFill>
          <a:ln/>
        </p:spPr>
        <p:txBody>
          <a:bodyPr/>
          <a:p/>
        </p:txBody>
      </p:sp>
      <p:sp>
        <p:nvSpPr>
          <p:cNvPr id="19" name="Shape 17"/>
          <p:cNvSpPr/>
          <p:nvPr/>
        </p:nvSpPr>
        <p:spPr>
          <a:xfrm>
            <a:off x="4562856" y="2075688"/>
            <a:ext cx="457200" cy="457200"/>
          </a:xfrm>
          <a:prstGeom prst="ellipse">
            <a:avLst/>
          </a:prstGeom>
          <a:solidFill>
            <a:srgbClr val="EAF1FE"/>
          </a:solidFill>
          <a:ln/>
        </p:spPr>
        <p:txBody>
          <a:bodyPr/>
          <a:p/>
        </p:txBody>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Local only by default</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It listens on the laptop only (127.0.0.1) unless it is deliberately shared.</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4" name="Shape 22"/>
          <p:cNvSpPr/>
          <p:nvPr/>
        </p:nvSpPr>
        <p:spPr>
          <a:xfrm>
            <a:off x="8101584" y="1874520"/>
            <a:ext cx="82296" cy="1600200"/>
          </a:xfrm>
          <a:prstGeom prst="rect">
            <a:avLst/>
          </a:prstGeom>
          <a:solidFill>
            <a:srgbClr val="7C3AED"/>
          </a:solidFill>
          <a:ln/>
        </p:spPr>
        <p:txBody>
          <a:bodyPr/>
          <a:p/>
        </p:txBody>
      </p:sp>
      <p:sp>
        <p:nvSpPr>
          <p:cNvPr id="25" name="Shape 23"/>
          <p:cNvSpPr/>
          <p:nvPr/>
        </p:nvSpPr>
        <p:spPr>
          <a:xfrm>
            <a:off x="8339328" y="2075688"/>
            <a:ext cx="457200" cy="457200"/>
          </a:xfrm>
          <a:prstGeom prst="ellipse">
            <a:avLst/>
          </a:prstGeom>
          <a:solidFill>
            <a:srgbClr val="F3EEFE"/>
          </a:solidFill>
          <a:ln/>
        </p:spPr>
        <p:txBody>
          <a:bodyPr/>
          <a:p/>
        </p:txBody>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AI switched off</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Nothing goes to an AI service. AI can be turned on later by a setting, only with approval.</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30" name="Shape 28"/>
          <p:cNvSpPr/>
          <p:nvPr/>
        </p:nvSpPr>
        <p:spPr>
          <a:xfrm>
            <a:off x="548640" y="3657600"/>
            <a:ext cx="82296" cy="1600200"/>
          </a:xfrm>
          <a:prstGeom prst="rect">
            <a:avLst/>
          </a:prstGeom>
          <a:solidFill>
            <a:srgbClr val="0E93B0"/>
          </a:solidFill>
          <a:ln/>
        </p:spPr>
        <p:txBody>
          <a:bodyPr/>
          <a:p/>
        </p:txBody>
      </p:sp>
      <p:sp>
        <p:nvSpPr>
          <p:cNvPr id="31" name="Shape 29"/>
          <p:cNvSpPr/>
          <p:nvPr/>
        </p:nvSpPr>
        <p:spPr>
          <a:xfrm>
            <a:off x="786384" y="3858768"/>
            <a:ext cx="457200" cy="457200"/>
          </a:xfrm>
          <a:prstGeom prst="ellipse">
            <a:avLst/>
          </a:prstGeom>
          <a:solidFill>
            <a:srgbClr val="E8F6FA"/>
          </a:solidFill>
          <a:ln/>
        </p:spPr>
        <p:txBody>
          <a:bodyPr/>
          <a:p/>
        </p:txBody>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traces to a rate. The Excel export has a traceability sheet.</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36" name="Shape 34"/>
          <p:cNvSpPr/>
          <p:nvPr/>
        </p:nvSpPr>
        <p:spPr>
          <a:xfrm>
            <a:off x="4325112" y="3657600"/>
            <a:ext cx="82296" cy="1600200"/>
          </a:xfrm>
          <a:prstGeom prst="rect">
            <a:avLst/>
          </a:prstGeom>
          <a:solidFill>
            <a:srgbClr val="E0900C"/>
          </a:solidFill>
          <a:ln/>
        </p:spPr>
        <p:txBody>
          <a:bodyPr/>
          <a:p/>
        </p:txBody>
      </p:sp>
      <p:sp>
        <p:nvSpPr>
          <p:cNvPr id="37" name="Shape 35"/>
          <p:cNvSpPr/>
          <p:nvPr/>
        </p:nvSpPr>
        <p:spPr>
          <a:xfrm>
            <a:off x="4562856" y="3858768"/>
            <a:ext cx="457200" cy="457200"/>
          </a:xfrm>
          <a:prstGeom prst="ellipse">
            <a:avLst/>
          </a:prstGeom>
          <a:solidFill>
            <a:srgbClr val="FEF6E7"/>
          </a:solidFill>
          <a:ln/>
        </p:spPr>
        <p:txBody>
          <a:bodyPr/>
          <a:p/>
        </p:txBody>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costing knowledge we build up is a company asset. It does not leave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42" name="Shape 40"/>
          <p:cNvSpPr/>
          <p:nvPr/>
        </p:nvSpPr>
        <p:spPr>
          <a:xfrm>
            <a:off x="8101584" y="3657600"/>
            <a:ext cx="82296" cy="1600200"/>
          </a:xfrm>
          <a:prstGeom prst="rect">
            <a:avLst/>
          </a:prstGeom>
          <a:solidFill>
            <a:srgbClr val="0DA5A0"/>
          </a:solidFill>
          <a:ln/>
        </p:spPr>
        <p:txBody>
          <a:bodyPr/>
          <a:p/>
        </p:txBody>
      </p:sp>
      <p:sp>
        <p:nvSpPr>
          <p:cNvPr id="43" name="Shape 41"/>
          <p:cNvSpPr/>
          <p:nvPr/>
        </p:nvSpPr>
        <p:spPr>
          <a:xfrm>
            <a:off x="8339328" y="3858768"/>
            <a:ext cx="457200" cy="457200"/>
          </a:xfrm>
          <a:prstGeom prst="ellipse">
            <a:avLst/>
          </a:prstGeom>
          <a:solidFill>
            <a:srgbClr val="E7F7F0"/>
          </a:solidFill>
          <a:ln/>
        </p:spPr>
        <p:txBody>
          <a:bodyPr/>
          <a:p/>
        </p:txBody>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Sign-in and sessions</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Sign-in on everything that holds data. A password reset ends every old session.</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txBody>
          <a:bodyPr/>
          <a:p/>
        </p:txBody>
      </p:sp>
      <p:sp>
        <p:nvSpPr>
          <p:cNvPr id="48" name="Shape 46"/>
          <p:cNvSpPr/>
          <p:nvPr/>
        </p:nvSpPr>
        <p:spPr>
          <a:xfrm>
            <a:off x="548640" y="5367528"/>
            <a:ext cx="82296" cy="502920"/>
          </a:xfrm>
          <a:prstGeom prst="rect">
            <a:avLst/>
          </a:prstGeom>
          <a:solidFill>
            <a:srgbClr val="0EA472"/>
          </a:solidFill>
          <a:ln/>
        </p:spPr>
        <p:txBody>
          <a:bodyPr/>
          <a:p/>
        </p:txBody>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no costing data, in the JLR build. For a shared server there is a Docker image with the CAD kernel. Dashboard news needs internet; costing does not.</a:t>
            </a:r>
            <a:endParaRPr lang="en-US" sz="1050" dirty="0"/>
          </a:p>
        </p:txBody>
      </p:sp>
      <p:sp>
        <p:nvSpPr>
          <p:cNvPr id="50" name="Shape 48"/>
          <p:cNvSpPr/>
          <p:nvPr/>
        </p:nvSpPr>
        <p:spPr>
          <a:xfrm>
            <a:off x="548640" y="6400800"/>
            <a:ext cx="11094415" cy="12802"/>
          </a:xfrm>
          <a:prstGeom prst="rect">
            <a:avLst/>
          </a:prstGeom>
          <a:solidFill>
            <a:srgbClr val="E4EAF2"/>
          </a:solidFill>
          <a:ln/>
        </p:spPr>
        <p:txBody>
          <a:bodyPr/>
          <a:p/>
        </p:txBody>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short path through the live system — click order, what to show, and what to point out.</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txBody>
          <a:bodyPr/>
          <a:p/>
        </p:txBody>
      </p:sp>
      <p:sp>
        <p:nvSpPr>
          <p:cNvPr id="12" name="Shape 10"/>
          <p:cNvSpPr/>
          <p:nvPr/>
        </p:nvSpPr>
        <p:spPr>
          <a:xfrm>
            <a:off x="548640" y="2057400"/>
            <a:ext cx="73152" cy="512064"/>
          </a:xfrm>
          <a:prstGeom prst="rect">
            <a:avLst/>
          </a:prstGeom>
          <a:solidFill>
            <a:srgbClr val="0DA5A0"/>
          </a:solidFill>
          <a:ln/>
        </p:spPr>
        <p:txBody>
          <a:bodyPr/>
          <a:p/>
        </p:txBody>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txBody>
          <a:bodyPr/>
          <a:p/>
        </p:txBody>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and feature table → answer the questions</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and uncertainty band appear</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txBody>
          <a:bodyPr/>
          <a:p/>
        </p:txBody>
      </p:sp>
      <p:sp>
        <p:nvSpPr>
          <p:cNvPr id="19" name="Shape 17"/>
          <p:cNvSpPr/>
          <p:nvPr/>
        </p:nvSpPr>
        <p:spPr>
          <a:xfrm>
            <a:off x="548640" y="2660904"/>
            <a:ext cx="73152" cy="512064"/>
          </a:xfrm>
          <a:prstGeom prst="rect">
            <a:avLst/>
          </a:prstGeom>
          <a:solidFill>
            <a:srgbClr val="2563EB"/>
          </a:solidFill>
          <a:ln/>
        </p:spPr>
        <p:txBody>
          <a:bodyPr/>
          <a:p/>
        </p:txBody>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txBody>
          <a:bodyPr/>
          <a:p/>
        </p:txBody>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Sheet metal + DXF</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with its DXF flat pattern</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measured blank replaces the bounding box</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txBody>
          <a:bodyPr/>
          <a:p/>
        </p:txBody>
      </p:sp>
      <p:sp>
        <p:nvSpPr>
          <p:cNvPr id="26" name="Shape 24"/>
          <p:cNvSpPr/>
          <p:nvPr/>
        </p:nvSpPr>
        <p:spPr>
          <a:xfrm>
            <a:off x="548640" y="3264408"/>
            <a:ext cx="73152" cy="512064"/>
          </a:xfrm>
          <a:prstGeom prst="rect">
            <a:avLst/>
          </a:prstGeom>
          <a:solidFill>
            <a:srgbClr val="E0900C"/>
          </a:solidFill>
          <a:ln/>
        </p:spPr>
        <p:txBody>
          <a:bodyPr/>
          <a:p/>
        </p:txBody>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txBody>
          <a:bodyPr/>
          <a:p/>
        </p:txBody>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txBody>
          <a:bodyPr/>
          <a:p/>
        </p:txBody>
      </p:sp>
      <p:sp>
        <p:nvSpPr>
          <p:cNvPr id="33" name="Shape 31"/>
          <p:cNvSpPr/>
          <p:nvPr/>
        </p:nvSpPr>
        <p:spPr>
          <a:xfrm>
            <a:off x="548640" y="3867912"/>
            <a:ext cx="73152" cy="512064"/>
          </a:xfrm>
          <a:prstGeom prst="rect">
            <a:avLst/>
          </a:prstGeom>
          <a:solidFill>
            <a:srgbClr val="0E93B0"/>
          </a:solidFill>
          <a:ln/>
        </p:spPr>
        <p:txBody>
          <a:bodyPr/>
          <a:p/>
        </p:txBody>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txBody>
          <a:bodyPr/>
          <a:p/>
        </p:txBody>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Self-audit</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self-audit on the result</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what the tool checked, and what it flagged</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txBody>
          <a:bodyPr/>
          <a:p/>
        </p:txBody>
      </p:sp>
      <p:sp>
        <p:nvSpPr>
          <p:cNvPr id="40" name="Shape 38"/>
          <p:cNvSpPr/>
          <p:nvPr/>
        </p:nvSpPr>
        <p:spPr>
          <a:xfrm>
            <a:off x="548640" y="4471416"/>
            <a:ext cx="73152" cy="512064"/>
          </a:xfrm>
          <a:prstGeom prst="rect">
            <a:avLst/>
          </a:prstGeom>
          <a:solidFill>
            <a:srgbClr val="7C3AED"/>
          </a:solidFill>
          <a:ln/>
        </p:spPr>
        <p:txBody>
          <a:bodyPr/>
          <a:p/>
        </p:txBody>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txBody>
          <a:bodyPr/>
          <a:p/>
        </p:txBody>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txBody>
          <a:bodyPr/>
          <a:p/>
        </p:txBody>
      </p:sp>
      <p:sp>
        <p:nvSpPr>
          <p:cNvPr id="47" name="Shape 45"/>
          <p:cNvSpPr/>
          <p:nvPr/>
        </p:nvSpPr>
        <p:spPr>
          <a:xfrm>
            <a:off x="548640" y="5074920"/>
            <a:ext cx="73152" cy="512064"/>
          </a:xfrm>
          <a:prstGeom prst="rect">
            <a:avLst/>
          </a:prstGeom>
          <a:solidFill>
            <a:srgbClr val="E5484D"/>
          </a:solidFill>
          <a:ln/>
        </p:spPr>
        <p:txBody>
          <a:bodyPr/>
          <a:p/>
        </p:txBody>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txBody>
          <a:bodyPr/>
          <a:p/>
        </p:txBody>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Export + log actual</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Export Excel and PDF, then “Log Actual £”</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files match the screen to the penny</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txBody>
          <a:bodyPr/>
          <a:p/>
        </p:txBody>
      </p:sp>
      <p:sp>
        <p:nvSpPr>
          <p:cNvPr id="54" name="Shape 52"/>
          <p:cNvSpPr/>
          <p:nvPr/>
        </p:nvSpPr>
        <p:spPr>
          <a:xfrm>
            <a:off x="8165592" y="2057400"/>
            <a:ext cx="82296" cy="3529584"/>
          </a:xfrm>
          <a:prstGeom prst="rect">
            <a:avLst/>
          </a:prstGeom>
          <a:solidFill>
            <a:srgbClr val="7C3AED"/>
          </a:solidFill>
          <a:ln/>
        </p:spPr>
        <p:txBody>
          <a:bodyPr/>
          <a:p/>
        </p:txBody>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we start</a:t>
            </a:r>
            <a:endParaRPr lang="en-US" sz="1300" dirty="0"/>
          </a:p>
        </p:txBody>
      </p:sp>
      <p:sp>
        <p:nvSpPr>
          <p:cNvPr id="56" name="Shape 54"/>
          <p:cNvSpPr/>
          <p:nvPr/>
        </p:nvSpPr>
        <p:spPr>
          <a:xfrm>
            <a:off x="8403336" y="2624328"/>
            <a:ext cx="274320" cy="274320"/>
          </a:xfrm>
          <a:prstGeom prst="ellipse">
            <a:avLst/>
          </a:prstGeom>
          <a:solidFill>
            <a:srgbClr val="F3EEFE"/>
          </a:solidFill>
          <a:ln/>
        </p:spPr>
        <p:txBody>
          <a:bodyPr/>
          <a:p/>
        </p:txBody>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txBody>
          <a:bodyPr/>
          <a:p/>
        </p:txBody>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STEP + DXF sheet part</a:t>
            </a:r>
            <a:endParaRPr lang="en-US" sz="980" dirty="0"/>
          </a:p>
        </p:txBody>
      </p:sp>
      <p:sp>
        <p:nvSpPr>
          <p:cNvPr id="62" name="Shape 60"/>
          <p:cNvSpPr/>
          <p:nvPr/>
        </p:nvSpPr>
        <p:spPr>
          <a:xfrm>
            <a:off x="8403336" y="3538728"/>
            <a:ext cx="274320" cy="274320"/>
          </a:xfrm>
          <a:prstGeom prst="ellipse">
            <a:avLst/>
          </a:prstGeom>
          <a:solidFill>
            <a:srgbClr val="F3EEFE"/>
          </a:solidFill>
          <a:ln/>
        </p:spPr>
        <p:txBody>
          <a:bodyPr/>
          <a:p/>
        </p:txBody>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Our own rate set loaded</a:t>
            </a:r>
            <a:endParaRPr lang="en-US" sz="980" dirty="0"/>
          </a:p>
        </p:txBody>
      </p:sp>
      <p:sp>
        <p:nvSpPr>
          <p:cNvPr id="65" name="Shape 63"/>
          <p:cNvSpPr/>
          <p:nvPr/>
        </p:nvSpPr>
        <p:spPr>
          <a:xfrm>
            <a:off x="8403336" y="3995928"/>
            <a:ext cx="274320" cy="274320"/>
          </a:xfrm>
          <a:prstGeom prst="ellipse">
            <a:avLst/>
          </a:prstGeom>
          <a:solidFill>
            <a:srgbClr val="F3EEFE"/>
          </a:solidFill>
          <a:ln/>
        </p:spPr>
        <p:txBody>
          <a:bodyPr/>
          <a:p/>
        </p:txBody>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txBody>
          <a:bodyPr/>
          <a:p/>
        </p:txBody>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few actuals logged</a:t>
            </a:r>
            <a:endParaRPr lang="en-US" sz="980" dirty="0"/>
          </a:p>
        </p:txBody>
      </p:sp>
      <p:sp>
        <p:nvSpPr>
          <p:cNvPr id="71" name="Shape 69"/>
          <p:cNvSpPr/>
          <p:nvPr/>
        </p:nvSpPr>
        <p:spPr>
          <a:xfrm>
            <a:off x="8403336" y="4910328"/>
            <a:ext cx="274320" cy="274320"/>
          </a:xfrm>
          <a:prstGeom prst="ellipse">
            <a:avLst/>
          </a:prstGeom>
          <a:solidFill>
            <a:srgbClr val="F3EEFE"/>
          </a:solidFill>
          <a:ln/>
        </p:spPr>
        <p:txBody>
          <a:bodyPr/>
          <a:p/>
        </p:txBody>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Run it offline</a:t>
            </a:r>
            <a:endParaRPr lang="en-US" sz="980" dirty="0"/>
          </a:p>
        </p:txBody>
      </p:sp>
      <p:sp>
        <p:nvSpPr>
          <p:cNvPr id="74" name="Text 72"/>
          <p:cNvSpPr/>
          <p:nvPr/>
        </p:nvSpPr>
        <p:spPr>
          <a:xfrm>
            <a:off x="8421624" y="531266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txBody>
          <a:bodyPr/>
          <a:p/>
        </p:txBody>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74000"/>
            </a:srgbClr>
          </a:solidFill>
          <a:ln/>
        </p:spPr>
        <p:txBody>
          <a:bodyPr/>
          <a:p/>
        </p:txBody>
      </p:sp>
      <p:sp>
        <p:nvSpPr>
          <p:cNvPr id="5" name="Shape 2"/>
          <p:cNvSpPr/>
          <p:nvPr/>
        </p:nvSpPr>
        <p:spPr>
          <a:xfrm>
            <a:off x="0" y="3566160"/>
            <a:ext cx="12191695" cy="3291840"/>
          </a:xfrm>
          <a:prstGeom prst="rect">
            <a:avLst/>
          </a:prstGeom>
          <a:solidFill>
            <a:srgbClr val="061024">
              <a:alpha val="84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2563EB"/>
          </a:solidFill>
          <a:ln/>
        </p:spPr>
        <p:txBody>
          <a:bodyPr/>
          <a:p/>
        </p:txBody>
      </p:sp>
      <p:sp>
        <p:nvSpPr>
          <p:cNvPr id="8" name="Shape 5"/>
          <p:cNvSpPr/>
          <p:nvPr/>
        </p:nvSpPr>
        <p:spPr>
          <a:xfrm>
            <a:off x="822960" y="640080"/>
            <a:ext cx="457200" cy="457200"/>
          </a:xfrm>
          <a:prstGeom prst="roundRect">
            <a:avLst>
              <a:gd name="adj" fmla="val 24000"/>
            </a:avLst>
          </a:prstGeom>
          <a:solidFill>
            <a:srgbClr val="4F46E5"/>
          </a:solidFill>
          <a:ln/>
        </p:spPr>
        <p:txBody>
          <a:bodyPr/>
          <a:p/>
        </p:txBody>
      </p:sp>
      <p:sp>
        <p:nvSpPr>
          <p:cNvPr id="9" name="Text 6"/>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10" name="Text 7"/>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11" name="Text 8"/>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CAD file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traceable should-cost out.</a:t>
            </a:r>
            <a:endParaRPr lang="en-US" sz="3400" dirty="0"/>
          </a:p>
        </p:txBody>
      </p:sp>
      <p:sp>
        <p:nvSpPr>
          <p:cNvPr id="12" name="Text 9"/>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Measured · explainable · offline · ours — and honest about what is not yet proven.</a:t>
            </a:r>
            <a:endParaRPr lang="en-US" sz="1600" dirty="0"/>
          </a:p>
        </p:txBody>
      </p:sp>
      <p:sp>
        <p:nvSpPr>
          <p:cNvPr id="13" name="Text 10"/>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4" name="Shape 11"/>
          <p:cNvSpPr/>
          <p:nvPr/>
        </p:nvSpPr>
        <p:spPr>
          <a:xfrm>
            <a:off x="822960" y="4206240"/>
            <a:ext cx="3383280" cy="1280160"/>
          </a:xfrm>
          <a:prstGeom prst="roundRect">
            <a:avLst>
              <a:gd name="adj" fmla="val 5714"/>
            </a:avLst>
          </a:prstGeom>
          <a:solidFill>
            <a:srgbClr val="FFFFFF">
              <a:alpha val="94000"/>
            </a:srgbClr>
          </a:solidFill>
          <a:ln/>
        </p:spPr>
        <p:txBody>
          <a:bodyPr/>
          <a:p/>
        </p:txBody>
      </p:sp>
      <p:sp>
        <p:nvSpPr>
          <p:cNvPr id="15" name="Shape 12"/>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txBody>
          <a:bodyPr/>
          <a:p/>
        </p:txBody>
      </p:sp>
      <p:sp>
        <p:nvSpPr>
          <p:cNvPr id="16" name="Text 13"/>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7" name="Text 14"/>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pilot</a:t>
            </a:r>
            <a:endParaRPr lang="en-US" sz="1200" dirty="0"/>
          </a:p>
        </p:txBody>
      </p:sp>
      <p:sp>
        <p:nvSpPr>
          <p:cNvPr id="18" name="Text 15"/>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on the laptop; log our historic actuals</a:t>
            </a:r>
            <a:endParaRPr lang="en-US" sz="950" dirty="0"/>
          </a:p>
        </p:txBody>
      </p:sp>
      <p:sp>
        <p:nvSpPr>
          <p:cNvPr id="19" name="Shape 16"/>
          <p:cNvSpPr/>
          <p:nvPr/>
        </p:nvSpPr>
        <p:spPr>
          <a:xfrm>
            <a:off x="4434840" y="4206240"/>
            <a:ext cx="3383280" cy="1280160"/>
          </a:xfrm>
          <a:prstGeom prst="roundRect">
            <a:avLst>
              <a:gd name="adj" fmla="val 5714"/>
            </a:avLst>
          </a:prstGeom>
          <a:solidFill>
            <a:srgbClr val="FFFFFF">
              <a:alpha val="94000"/>
            </a:srgbClr>
          </a:solidFill>
          <a:ln/>
        </p:spPr>
        <p:txBody>
          <a:bodyPr/>
          <a:p/>
        </p:txBody>
      </p:sp>
      <p:sp>
        <p:nvSpPr>
          <p:cNvPr id="20" name="Shape 17"/>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txBody>
          <a:bodyPr/>
          <a:p/>
        </p:txBody>
      </p:sp>
      <p:sp>
        <p:nvSpPr>
          <p:cNvPr id="21" name="Text 18"/>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2" name="Text 19"/>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3" name="Text 20"/>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or a live RFQ</a:t>
            </a:r>
            <a:endParaRPr lang="en-US" sz="950" dirty="0"/>
          </a:p>
        </p:txBody>
      </p:sp>
      <p:sp>
        <p:nvSpPr>
          <p:cNvPr id="24" name="Shape 21"/>
          <p:cNvSpPr/>
          <p:nvPr/>
        </p:nvSpPr>
        <p:spPr>
          <a:xfrm>
            <a:off x="8046720" y="4206240"/>
            <a:ext cx="3383280" cy="1280160"/>
          </a:xfrm>
          <a:prstGeom prst="roundRect">
            <a:avLst>
              <a:gd name="adj" fmla="val 5714"/>
            </a:avLst>
          </a:prstGeom>
          <a:solidFill>
            <a:srgbClr val="FFFFFF">
              <a:alpha val="94000"/>
            </a:srgbClr>
          </a:solidFill>
          <a:ln/>
        </p:spPr>
        <p:txBody>
          <a:bodyPr/>
          <a:p/>
        </p:txBody>
      </p:sp>
      <p:sp>
        <p:nvSpPr>
          <p:cNvPr id="25" name="Shape 22"/>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txBody>
          <a:bodyPr/>
          <a:p/>
        </p:txBody>
      </p:sp>
      <p:sp>
        <p:nvSpPr>
          <p:cNvPr id="26" name="Text 23"/>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7" name="Text 24"/>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Compare with prices paid</a:t>
            </a:r>
            <a:endParaRPr lang="en-US" sz="1200" dirty="0"/>
          </a:p>
        </p:txBody>
      </p:sp>
      <p:sp>
        <p:nvSpPr>
          <p:cNvPr id="28" name="Text 25"/>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the first real accuracy measure</a:t>
            </a:r>
            <a:endParaRPr lang="en-US" sz="950" dirty="0"/>
          </a:p>
        </p:txBody>
      </p:sp>
      <p:sp>
        <p:nvSpPr>
          <p:cNvPr id="29" name="Text 26"/>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2026-07-21T12:38:07Z</dcterms:created>
  <dcterms:modified xsi:type="dcterms:W3CDTF">2026-07-21T12:38:07Z</dcterms:modified>
</cp:coreProperties>
</file>