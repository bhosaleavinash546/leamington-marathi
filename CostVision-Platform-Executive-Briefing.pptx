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4.91</c:v>
                </c:pt>
                <c:pt idx="1">
                  <c:v>4.93</c:v>
                </c:pt>
                <c:pt idx="2">
                  <c:v>5.1</c:v>
                </c:pt>
                <c:pt idx="3">
                  <c:v>5.32</c:v>
                </c:pt>
                <c:pt idx="4">
                  <c:v>5.64</c:v>
                </c:pt>
                <c:pt idx="5">
                  <c:v>6.19</c:v>
                </c:pt>
                <c:pt idx="6">
                  <c:v>6.36</c:v>
                </c:pt>
                <c:pt idx="7">
                  <c:v>6.75</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we're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us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we only take away this slide, we'll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us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lay out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we select the material, the process, the machine, and we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us, it suggests the material and process with a confidence score we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us all to remember the shape: four columns, left to right. On the left, inputs — and notice how forgiving they are: a CAD model, a photo, a sentence, an RFQ, whatever we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us DECIDE and NEGOTIATE: should-cost across twenty regions, what-if scenarios, and a coach that hands us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us.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we can override. Fourth, a deterministic engine prices it and explains the number with a confidence band and design-for-manufacture guidance. And note the bottom line — a 3D model alone is enough to get a defensible number, and if we attach the 2D drawing it reads the tolerances and GD&amp;T to sharpen the estimate further. The more we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We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us to remember — a sanity check compares every AI-suggested number against the measured geometry. Finally we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we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we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and I'll be straight — we don't quote a single headline 'X percent accurate on CAD' number, because honestly that depends on our parts and our rates, and we'd rather prove it on 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we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we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we actually have to give it, bottom-left: the part once, the regions we care about, and a volume. Everything on the bottom-right is what the model factors in for us, per region — and on the next slide we'll see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we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anyone who says ‘our rates aren’t our rates.’ They don’t have to be. We can upload our own cost-rate database as one Excel workbook, and from that moment every costing runs on our numbers. Six categories, one tab each: materials with price per kilo and scrap recovery; the full machine-rate build-up that computes an hourly rate; fully-loaded labour by region and skill; energy; FX; and overhead and margin by commodity and tier. Who can do it? It’s admin-gated — an administrator uploads and can switch between our company rates and our built-in defaults, or reset; everyone else simply costs on whatever’s active, and a badge tells them which. The template is quick: download, fill, upload — and the server checks every row and rejects bad cells with a clear error, so we can’t silently corrupt the library. Every row is dated and carries a confidence flag. And updating is a single click: load a new dated rate set, activate it, and the whole portfolio re-prices — no re-keying. It’s versioned, so we can keep this-year versus last-year and see if an old scenario was costed on stale rates. Bottom line: our rates, validated, versioned and auditable, used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four-ninety-one is about twenty-three percent under the UK. But here's the sophistication our buyers will love — landed, once we add logistics and duty, that narrows to about twelve percent. The tool shows us both, so we don't chase a saving that shipping eats. And now the bit that fixes a real pain: we don't rebuild these should-costs by hand when our rates change. Material factors, labour, energy and overhead all live in one versioned rate library. Upload an updated, dated rate set once, and every part re-prices in a click. No more stale spreadsheets, no re-keying — the numbers reflect the latest rates we've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us a negotiation pack. The stats are illustrative but real in shape: quotes typically run about fifteen percent over should-cost, and on one part family that was ninety-one thousand pounds a year, with the single biggest lever — raw material — worth thirty-seven thousand. The pack gives us the gap table, the driver decomposition, the levers ranked by pounds, the exact questions to ask, and a one-click export. We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we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our real quotes landed within plus-or-minus six-and-a-half percent. That's evidence a buyer can defend. The causal coach knows WHY a part costs what it does and writes the negotiating sentence for us — every one percent move in aluminium shifts the price by eleven pence. The what-if engine lets us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forty-four automated tests, exercised on the live system. The through-line of the entire platform is on that green bar: AI does the understanding, deterministic maths does the money, every number is traceable and tested. That's what lets us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answered ‘can I trust the number today.’ This one answers the harder question a board should ask: ‘will it still be trustworthy after six months of changes.’ The answer is yes, because trust is wired into the build itself. Four guardrails. One — our golden rule, that AI never sets a price, is no longer just a principle we promise; it’s a machine check. If anyone ever wires an AI dependency into the deterministic cost engine, the build fails automatically. It can’t be bypassed. Two — accuracy is measured on every build: the CAD feature detection is scored against hand-verified reference parts, and a minimum-accuracy gate stops a regression from shipping; it even surfaced a real edge case on day one. Three — every change is guarded by nine hundred and forty-four automated tests plus visual screenshots of the key screens, so a broken layout or a logic slip fails here, not in front of a customer. Four — every result carries a confidence band, P10 to P90, so we’re always honest about the range. The bottom line for this room: the number is defensible by construction, and it stays defensible as the tool grows — quality is enforced on every commit, not reviewed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nine hundred and forty-four automated tests across eighty-one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Our data, our infrastructure, 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we see it's reading real geometry, then hit Calculate — the should-cost and confidence band come back in under a minute. Then I'll attach a 2D drawing and re-run, so we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we're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us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we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we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upload updated rates once — every part re-prices in a click</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we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we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we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we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we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we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768096" y="2706624"/>
            <a:ext cx="128016" cy="128016"/>
          </a:xfrm>
          <a:prstGeom prst="ellipse">
            <a:avLst/>
          </a:prstGeom>
          <a:solidFill>
            <a:srgbClr val="4F46E5"/>
          </a:solidFill>
          <a:ln/>
        </p:spPr>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4544568" y="2706624"/>
            <a:ext cx="128016" cy="128016"/>
          </a:xfrm>
          <a:prstGeom prst="ellipse">
            <a:avLst/>
          </a:prstGeom>
          <a:solidFill>
            <a:srgbClr val="2E90FA"/>
          </a:solidFill>
          <a:ln/>
        </p:spPr>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8321040" y="2706624"/>
            <a:ext cx="128016" cy="128016"/>
          </a:xfrm>
          <a:prstGeom prst="ellipse">
            <a:avLst/>
          </a:prstGeom>
          <a:solidFill>
            <a:srgbClr val="7C3AED"/>
          </a:solidFill>
          <a:ln/>
        </p:spPr>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768096" y="3346704"/>
            <a:ext cx="128016" cy="128016"/>
          </a:xfrm>
          <a:prstGeom prst="ellipse">
            <a:avLst/>
          </a:prstGeom>
          <a:solidFill>
            <a:srgbClr val="0EA472"/>
          </a:solidFill>
          <a:ln/>
        </p:spPr>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4544568" y="3346704"/>
            <a:ext cx="128016" cy="128016"/>
          </a:xfrm>
          <a:prstGeom prst="ellipse">
            <a:avLst/>
          </a:prstGeom>
          <a:solidFill>
            <a:srgbClr val="E0900C"/>
          </a:solidFill>
          <a:ln/>
        </p:spPr>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8321040" y="3346704"/>
            <a:ext cx="128016" cy="128016"/>
          </a:xfrm>
          <a:prstGeom prst="ellipse">
            <a:avLst/>
          </a:prstGeom>
          <a:solidFill>
            <a:srgbClr val="E5484D"/>
          </a:solidFill>
          <a:ln/>
        </p:spPr>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768096" y="3986784"/>
            <a:ext cx="128016" cy="128016"/>
          </a:xfrm>
          <a:prstGeom prst="ellipse">
            <a:avLst/>
          </a:prstGeom>
          <a:solidFill>
            <a:srgbClr val="2563EB"/>
          </a:solidFill>
          <a:ln/>
        </p:spPr>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4544568" y="3986784"/>
            <a:ext cx="128016" cy="128016"/>
          </a:xfrm>
          <a:prstGeom prst="ellipse">
            <a:avLst/>
          </a:prstGeom>
          <a:solidFill>
            <a:srgbClr val="0E93B0"/>
          </a:solidFill>
          <a:ln/>
        </p:spPr>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8321040" y="3986784"/>
            <a:ext cx="128016" cy="128016"/>
          </a:xfrm>
          <a:prstGeom prst="ellipse">
            <a:avLst/>
          </a:prstGeom>
          <a:solidFill>
            <a:srgbClr val="0DA5A0"/>
          </a:solidFill>
          <a:ln/>
        </p:spPr>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768096" y="4626864"/>
            <a:ext cx="128016" cy="128016"/>
          </a:xfrm>
          <a:prstGeom prst="ellipse">
            <a:avLst/>
          </a:prstGeom>
          <a:solidFill>
            <a:srgbClr val="4F46E5"/>
          </a:solidFill>
          <a:ln/>
        </p:spPr>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4544568" y="4626864"/>
            <a:ext cx="128016" cy="128016"/>
          </a:xfrm>
          <a:prstGeom prst="ellipse">
            <a:avLst/>
          </a:prstGeom>
          <a:solidFill>
            <a:srgbClr val="2E90FA"/>
          </a:solidFill>
          <a:ln/>
        </p:spPr>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8321040" y="4626864"/>
            <a:ext cx="128016" cy="128016"/>
          </a:xfrm>
          <a:prstGeom prst="ellipse">
            <a:avLst/>
          </a:prstGeom>
          <a:solidFill>
            <a:srgbClr val="7C3AED"/>
          </a:solidFill>
          <a:ln/>
        </p:spPr>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768096" y="5266944"/>
            <a:ext cx="128016" cy="128016"/>
          </a:xfrm>
          <a:prstGeom prst="ellipse">
            <a:avLst/>
          </a:prstGeom>
          <a:solidFill>
            <a:srgbClr val="0EA472"/>
          </a:solidFill>
          <a:ln/>
        </p:spPr>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4544568" y="5266944"/>
            <a:ext cx="128016" cy="128016"/>
          </a:xfrm>
          <a:prstGeom prst="ellipse">
            <a:avLst/>
          </a:prstGeom>
          <a:solidFill>
            <a:srgbClr val="E0900C"/>
          </a:solidFill>
          <a:ln/>
        </p:spPr>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8321040" y="5266944"/>
            <a:ext cx="128016" cy="128016"/>
          </a:xfrm>
          <a:prstGeom prst="ellipse">
            <a:avLst/>
          </a:prstGeom>
          <a:solidFill>
            <a:srgbClr val="E5484D"/>
          </a:solidFill>
          <a:ln/>
        </p:spPr>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we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our own rate database — our rates, our numbers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Upload our organisation’s own cost rates as one Excel workbook. Every costing then runs on our numbers — validated on upload, versioned, and fully auditable. No black box, no lock-in to our defaults.</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Shape 10"/>
          <p:cNvSpPr/>
          <p:nvPr/>
        </p:nvSpPr>
        <p:spPr>
          <a:xfrm>
            <a:off x="548640" y="1938528"/>
            <a:ext cx="82296" cy="1371600"/>
          </a:xfrm>
          <a:prstGeom prst="rect">
            <a:avLst/>
          </a:prstGeom>
          <a:solidFill>
            <a:srgbClr val="2563EB"/>
          </a:solidFill>
          <a:ln/>
        </p:spPr>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6" name="Shape 14"/>
          <p:cNvSpPr/>
          <p:nvPr/>
        </p:nvSpPr>
        <p:spPr>
          <a:xfrm>
            <a:off x="2409444" y="1938528"/>
            <a:ext cx="82296" cy="1371600"/>
          </a:xfrm>
          <a:prstGeom prst="rect">
            <a:avLst/>
          </a:prstGeom>
          <a:solidFill>
            <a:srgbClr val="4F46E5"/>
          </a:solidFill>
          <a:ln/>
        </p:spPr>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20" name="Shape 18"/>
          <p:cNvSpPr/>
          <p:nvPr/>
        </p:nvSpPr>
        <p:spPr>
          <a:xfrm>
            <a:off x="4270248" y="1938528"/>
            <a:ext cx="82296" cy="1371600"/>
          </a:xfrm>
          <a:prstGeom prst="rect">
            <a:avLst/>
          </a:prstGeom>
          <a:solidFill>
            <a:srgbClr val="0DA5A0"/>
          </a:solidFill>
          <a:ln/>
        </p:spPr>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4" name="Shape 22"/>
          <p:cNvSpPr/>
          <p:nvPr/>
        </p:nvSpPr>
        <p:spPr>
          <a:xfrm>
            <a:off x="6131052" y="1938528"/>
            <a:ext cx="82296" cy="1371600"/>
          </a:xfrm>
          <a:prstGeom prst="rect">
            <a:avLst/>
          </a:prstGeom>
          <a:solidFill>
            <a:srgbClr val="E0900C"/>
          </a:solidFill>
          <a:ln/>
        </p:spPr>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28" name="Shape 26"/>
          <p:cNvSpPr/>
          <p:nvPr/>
        </p:nvSpPr>
        <p:spPr>
          <a:xfrm>
            <a:off x="7991856" y="1938528"/>
            <a:ext cx="82296" cy="1371600"/>
          </a:xfrm>
          <a:prstGeom prst="rect">
            <a:avLst/>
          </a:prstGeom>
          <a:solidFill>
            <a:srgbClr val="0E93B0"/>
          </a:solidFill>
          <a:ln/>
        </p:spPr>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32" name="Shape 30"/>
          <p:cNvSpPr/>
          <p:nvPr/>
        </p:nvSpPr>
        <p:spPr>
          <a:xfrm>
            <a:off x="9852660" y="1938528"/>
            <a:ext cx="82296" cy="1371600"/>
          </a:xfrm>
          <a:prstGeom prst="rect">
            <a:avLst/>
          </a:prstGeom>
          <a:solidFill>
            <a:srgbClr val="7C3AED"/>
          </a:solidFill>
          <a:ln/>
        </p:spPr>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37" name="Shape 35"/>
          <p:cNvSpPr/>
          <p:nvPr/>
        </p:nvSpPr>
        <p:spPr>
          <a:xfrm>
            <a:off x="548640" y="3474720"/>
            <a:ext cx="82296" cy="1463040"/>
          </a:xfrm>
          <a:prstGeom prst="rect">
            <a:avLst/>
          </a:prstGeom>
          <a:solidFill>
            <a:srgbClr val="7C3AED"/>
          </a:solidFill>
          <a:ln/>
        </p:spPr>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Admin-gated.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vs built-in. One consistent number across the team.</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41" name="Shape 39"/>
          <p:cNvSpPr/>
          <p:nvPr/>
        </p:nvSpPr>
        <p:spPr>
          <a:xfrm>
            <a:off x="4285488" y="3474720"/>
            <a:ext cx="82296" cy="1463040"/>
          </a:xfrm>
          <a:prstGeom prst="rect">
            <a:avLst/>
          </a:prstGeom>
          <a:solidFill>
            <a:srgbClr val="2563EB"/>
          </a:solidFill>
          <a:ln/>
        </p:spPr>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6 tabs.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 fill → upload. The server validates every row and rejects bad cells with line-level errors.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45" name="Shape 43"/>
          <p:cNvSpPr/>
          <p:nvPr/>
        </p:nvSpPr>
        <p:spPr>
          <a:xfrm>
            <a:off x="8022336" y="3474720"/>
            <a:ext cx="82296" cy="1463040"/>
          </a:xfrm>
          <a:prstGeom prst="rect">
            <a:avLst/>
          </a:prstGeom>
          <a:solidFill>
            <a:srgbClr val="0EA472"/>
          </a:solidFill>
          <a:ln/>
        </p:spPr>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IN ONE CLICK</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 the whole portfolio re-prices in a click.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so we keep current vs old vintages and scenarios flag if costed on an older version.</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sp>
      <p:sp>
        <p:nvSpPr>
          <p:cNvPr id="49" name="Shape 47"/>
          <p:cNvSpPr/>
          <p:nvPr/>
        </p:nvSpPr>
        <p:spPr>
          <a:xfrm>
            <a:off x="548640" y="5138928"/>
            <a:ext cx="82296" cy="841248"/>
          </a:xfrm>
          <a:prstGeom prst="rect">
            <a:avLst/>
          </a:prstGeom>
          <a:solidFill>
            <a:srgbClr val="E0900C"/>
          </a:solidFill>
          <a:ln/>
        </p:spPr>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Our rates, our defensible numbers.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Quick to load (download → fill → upload), validated on the way in, versioned and auditable — and every costing across the platform immediately uses them.</a:t>
            </a:r>
            <a:endParaRPr lang="en-US" sz="112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−23% ex-works, narrowing to −12%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factors, labour, energy and overhead all live in one versioned rate library — not scattered across spreadsheets.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Upload an updated, dated rate set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Keeping should-costs current with the latest economics is a single upload, not a manual rebuild.</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We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944 automated tests across 81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us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 · CONTINUOUS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Built to stay right — quality that’s enforced, not promised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It isn’t enough to be right once. These guardrails run on every change, so the tool stays defensible as it evolves — quality is enforced by the build, not by memory.</a:t>
            </a:r>
            <a:endParaRPr lang="en-US" sz="1200" dirty="0"/>
          </a:p>
        </p:txBody>
      </p:sp>
      <p:sp>
        <p:nvSpPr>
          <p:cNvPr id="11" name="Shape 9"/>
          <p:cNvSpPr/>
          <p:nvPr/>
        </p:nvSpPr>
        <p:spPr>
          <a:xfrm>
            <a:off x="54864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2084832"/>
            <a:ext cx="82296" cy="1335024"/>
          </a:xfrm>
          <a:prstGeom prst="rect">
            <a:avLst/>
          </a:prstGeom>
          <a:solidFill>
            <a:srgbClr val="2563EB"/>
          </a:solidFill>
          <a:ln/>
        </p:spPr>
      </p:sp>
      <p:sp>
        <p:nvSpPr>
          <p:cNvPr id="13" name="Shape 11"/>
          <p:cNvSpPr/>
          <p:nvPr/>
        </p:nvSpPr>
        <p:spPr>
          <a:xfrm>
            <a:off x="804672" y="2286000"/>
            <a:ext cx="457200" cy="457200"/>
          </a:xfrm>
          <a:prstGeom prst="ellipse">
            <a:avLst/>
          </a:prstGeom>
          <a:solidFill>
            <a:srgbClr val="EAF1FE"/>
          </a:solidFill>
          <a:ln/>
        </p:spPr>
      </p:sp>
      <p:sp>
        <p:nvSpPr>
          <p:cNvPr id="14" name="Text 12"/>
          <p:cNvSpPr/>
          <p:nvPr/>
        </p:nvSpPr>
        <p:spPr>
          <a:xfrm>
            <a:off x="804672" y="2276856"/>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335024" y="2322576"/>
            <a:ext cx="4434840" cy="45720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The golden rule, machine-enforced</a:t>
            </a:r>
            <a:endParaRPr lang="en-US" sz="1300" dirty="0"/>
          </a:p>
        </p:txBody>
      </p:sp>
      <p:sp>
        <p:nvSpPr>
          <p:cNvPr id="16" name="Text 14"/>
          <p:cNvSpPr/>
          <p:nvPr/>
        </p:nvSpPr>
        <p:spPr>
          <a:xfrm>
            <a:off x="82296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“AI never sets a price” is now a build-time check: if any AI dependency ever reaches the deterministic cost engine, the build fails. It cannot be bypassed.</a:t>
            </a:r>
            <a:endParaRPr lang="en-US" sz="1000" dirty="0"/>
          </a:p>
        </p:txBody>
      </p:sp>
      <p:sp>
        <p:nvSpPr>
          <p:cNvPr id="17" name="Shape 15"/>
          <p:cNvSpPr/>
          <p:nvPr/>
        </p:nvSpPr>
        <p:spPr>
          <a:xfrm>
            <a:off x="621792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18" name="Shape 16"/>
          <p:cNvSpPr/>
          <p:nvPr/>
        </p:nvSpPr>
        <p:spPr>
          <a:xfrm>
            <a:off x="6217920" y="2084832"/>
            <a:ext cx="82296" cy="1335024"/>
          </a:xfrm>
          <a:prstGeom prst="rect">
            <a:avLst/>
          </a:prstGeom>
          <a:solidFill>
            <a:srgbClr val="0DA5A0"/>
          </a:solidFill>
          <a:ln/>
        </p:spPr>
      </p:sp>
      <p:sp>
        <p:nvSpPr>
          <p:cNvPr id="19" name="Shape 17"/>
          <p:cNvSpPr/>
          <p:nvPr/>
        </p:nvSpPr>
        <p:spPr>
          <a:xfrm>
            <a:off x="6473952" y="2286000"/>
            <a:ext cx="457200" cy="457200"/>
          </a:xfrm>
          <a:prstGeom prst="ellipse">
            <a:avLst/>
          </a:prstGeom>
          <a:solidFill>
            <a:srgbClr val="E7F7F0"/>
          </a:solidFill>
          <a:ln/>
        </p:spPr>
      </p:sp>
      <p:sp>
        <p:nvSpPr>
          <p:cNvPr id="20" name="Text 18"/>
          <p:cNvSpPr/>
          <p:nvPr/>
        </p:nvSpPr>
        <p:spPr>
          <a:xfrm>
            <a:off x="6473952" y="2276856"/>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1" name="Text 19"/>
          <p:cNvSpPr/>
          <p:nvPr/>
        </p:nvSpPr>
        <p:spPr>
          <a:xfrm>
            <a:off x="7004304" y="2322576"/>
            <a:ext cx="4434840" cy="457200"/>
          </a:xfrm>
          <a:prstGeom prst="rect">
            <a:avLst/>
          </a:prstGeom>
          <a:noFill/>
          <a:ln/>
        </p:spPr>
        <p:txBody>
          <a:bodyPr wrap="square" lIns="0" tIns="0" rIns="0" bIns="0" rtlCol="0" anchor="ctr"/>
          <a:lstStyle/>
          <a:p>
            <a:pPr indent="0" marL="0">
              <a:buNone/>
            </a:pPr>
            <a:r>
              <a:rPr lang="en-US" sz="1300" b="1" dirty="0">
                <a:solidFill>
                  <a:srgbClr val="0DA5A0"/>
                </a:solidFill>
                <a:latin typeface="Calibri" pitchFamily="34" charset="0"/>
                <a:ea typeface="Calibri" pitchFamily="34" charset="-122"/>
                <a:cs typeface="Calibri" pitchFamily="34" charset="-120"/>
              </a:rPr>
              <a:t>Accuracy measured every build</a:t>
            </a:r>
            <a:endParaRPr lang="en-US" sz="1300" dirty="0"/>
          </a:p>
        </p:txBody>
      </p:sp>
      <p:sp>
        <p:nvSpPr>
          <p:cNvPr id="22" name="Text 20"/>
          <p:cNvSpPr/>
          <p:nvPr/>
        </p:nvSpPr>
        <p:spPr>
          <a:xfrm>
            <a:off x="649224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CAD feature detection is scored against hand-verified golden parts — precision, recall, F1 (≈0.96 today). A floor gate catches any drop before it ships.</a:t>
            </a:r>
            <a:endParaRPr lang="en-US" sz="1000" dirty="0"/>
          </a:p>
        </p:txBody>
      </p:sp>
      <p:sp>
        <p:nvSpPr>
          <p:cNvPr id="23" name="Shape 21"/>
          <p:cNvSpPr/>
          <p:nvPr/>
        </p:nvSpPr>
        <p:spPr>
          <a:xfrm>
            <a:off x="54864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24" name="Shape 22"/>
          <p:cNvSpPr/>
          <p:nvPr/>
        </p:nvSpPr>
        <p:spPr>
          <a:xfrm>
            <a:off x="548640" y="3566160"/>
            <a:ext cx="82296" cy="1335024"/>
          </a:xfrm>
          <a:prstGeom prst="rect">
            <a:avLst/>
          </a:prstGeom>
          <a:solidFill>
            <a:srgbClr val="0EA472"/>
          </a:solidFill>
          <a:ln/>
        </p:spPr>
      </p:sp>
      <p:sp>
        <p:nvSpPr>
          <p:cNvPr id="25" name="Shape 23"/>
          <p:cNvSpPr/>
          <p:nvPr/>
        </p:nvSpPr>
        <p:spPr>
          <a:xfrm>
            <a:off x="804672" y="3767328"/>
            <a:ext cx="457200" cy="457200"/>
          </a:xfrm>
          <a:prstGeom prst="ellipse">
            <a:avLst/>
          </a:prstGeom>
          <a:solidFill>
            <a:srgbClr val="E7F7F0"/>
          </a:solidFill>
          <a:ln/>
        </p:spPr>
      </p:sp>
      <p:sp>
        <p:nvSpPr>
          <p:cNvPr id="26" name="Text 24"/>
          <p:cNvSpPr/>
          <p:nvPr/>
        </p:nvSpPr>
        <p:spPr>
          <a:xfrm>
            <a:off x="804672" y="3758184"/>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27" name="Text 25"/>
          <p:cNvSpPr/>
          <p:nvPr/>
        </p:nvSpPr>
        <p:spPr>
          <a:xfrm>
            <a:off x="1335024" y="3803904"/>
            <a:ext cx="44348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Every change guarded</a:t>
            </a:r>
            <a:endParaRPr lang="en-US" sz="1300" dirty="0"/>
          </a:p>
        </p:txBody>
      </p:sp>
      <p:sp>
        <p:nvSpPr>
          <p:cNvPr id="28" name="Text 26"/>
          <p:cNvSpPr/>
          <p:nvPr/>
        </p:nvSpPr>
        <p:spPr>
          <a:xfrm>
            <a:off x="82296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944 automated tests plus visual-regression screenshots of the key screens — a logic or UI regression fails the build, not the customer demo.</a:t>
            </a:r>
            <a:endParaRPr lang="en-US" sz="1000" dirty="0"/>
          </a:p>
        </p:txBody>
      </p:sp>
      <p:sp>
        <p:nvSpPr>
          <p:cNvPr id="29" name="Shape 27"/>
          <p:cNvSpPr/>
          <p:nvPr/>
        </p:nvSpPr>
        <p:spPr>
          <a:xfrm>
            <a:off x="621792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30" name="Shape 28"/>
          <p:cNvSpPr/>
          <p:nvPr/>
        </p:nvSpPr>
        <p:spPr>
          <a:xfrm>
            <a:off x="6217920" y="3566160"/>
            <a:ext cx="82296" cy="1335024"/>
          </a:xfrm>
          <a:prstGeom prst="rect">
            <a:avLst/>
          </a:prstGeom>
          <a:solidFill>
            <a:srgbClr val="7C3AED"/>
          </a:solidFill>
          <a:ln/>
        </p:spPr>
      </p:sp>
      <p:sp>
        <p:nvSpPr>
          <p:cNvPr id="31" name="Shape 29"/>
          <p:cNvSpPr/>
          <p:nvPr/>
        </p:nvSpPr>
        <p:spPr>
          <a:xfrm>
            <a:off x="6473952" y="3767328"/>
            <a:ext cx="457200" cy="457200"/>
          </a:xfrm>
          <a:prstGeom prst="ellipse">
            <a:avLst/>
          </a:prstGeom>
          <a:solidFill>
            <a:srgbClr val="F3EEFE"/>
          </a:solidFill>
          <a:ln/>
        </p:spPr>
      </p:sp>
      <p:sp>
        <p:nvSpPr>
          <p:cNvPr id="32" name="Text 30"/>
          <p:cNvSpPr/>
          <p:nvPr/>
        </p:nvSpPr>
        <p:spPr>
          <a:xfrm>
            <a:off x="6473952" y="3758184"/>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33" name="Text 31"/>
          <p:cNvSpPr/>
          <p:nvPr/>
        </p:nvSpPr>
        <p:spPr>
          <a:xfrm>
            <a:off x="7004304" y="3803904"/>
            <a:ext cx="4434840" cy="4572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Confidence on every number</a:t>
            </a:r>
            <a:endParaRPr lang="en-US" sz="1300" dirty="0"/>
          </a:p>
        </p:txBody>
      </p:sp>
      <p:sp>
        <p:nvSpPr>
          <p:cNvPr id="34" name="Text 32"/>
          <p:cNvSpPr/>
          <p:nvPr/>
        </p:nvSpPr>
        <p:spPr>
          <a:xfrm>
            <a:off x="649224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Each should-cost shows a P10–P50–P90 band, colour-graded by width — an honest range a buyer can defend, never a false single figure.</a:t>
            </a:r>
            <a:endParaRPr lang="en-US" sz="1000" dirty="0"/>
          </a:p>
        </p:txBody>
      </p:sp>
      <p:sp>
        <p:nvSpPr>
          <p:cNvPr id="35" name="Shape 33"/>
          <p:cNvSpPr/>
          <p:nvPr/>
        </p:nvSpPr>
        <p:spPr>
          <a:xfrm>
            <a:off x="548640" y="5138928"/>
            <a:ext cx="11091672" cy="841248"/>
          </a:xfrm>
          <a:prstGeom prst="roundRect">
            <a:avLst>
              <a:gd name="adj" fmla="val 7609"/>
            </a:avLst>
          </a:prstGeom>
          <a:solidFill>
            <a:srgbClr val="E7F7F0"/>
          </a:solidFill>
          <a:ln w="12700">
            <a:solidFill>
              <a:srgbClr val="E4EAF2"/>
            </a:solidFill>
            <a:prstDash val="solid"/>
          </a:ln>
        </p:spPr>
      </p:sp>
      <p:sp>
        <p:nvSpPr>
          <p:cNvPr id="36" name="Shape 34"/>
          <p:cNvSpPr/>
          <p:nvPr/>
        </p:nvSpPr>
        <p:spPr>
          <a:xfrm>
            <a:off x="548640" y="5138928"/>
            <a:ext cx="82296" cy="841248"/>
          </a:xfrm>
          <a:prstGeom prst="rect">
            <a:avLst/>
          </a:prstGeom>
          <a:solidFill>
            <a:srgbClr val="0EA472"/>
          </a:solidFill>
          <a:ln/>
        </p:spPr>
      </p:sp>
      <p:sp>
        <p:nvSpPr>
          <p:cNvPr id="37" name="Text 35"/>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50" b="1" dirty="0">
                <a:solidFill>
                  <a:srgbClr val="0F1E3D"/>
                </a:solidFill>
                <a:latin typeface="Calibri" pitchFamily="34" charset="0"/>
                <a:ea typeface="Calibri" pitchFamily="34" charset="-122"/>
                <a:cs typeface="Calibri" pitchFamily="34" charset="-120"/>
              </a:rPr>
              <a:t>Bottom line: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number we put in front of a supplier is defensible by construction — and stays that way. Quality isn’t reviewed in after the fact; it’s enforced on every commit.</a:t>
            </a:r>
            <a:endParaRPr lang="en-US" sz="115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944</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81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~9,900 lines of tests, 944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us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our data, our infrastructure, 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Our data, our infrastructure, 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we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2026-07-21T10:53:02Z</dcterms:created>
  <dcterms:modified xsi:type="dcterms:W3CDTF">2026-07-21T10:53:02Z</dcterms:modified>
</cp:coreProperties>
</file>