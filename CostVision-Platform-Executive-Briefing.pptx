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4.91</c:v>
                </c:pt>
                <c:pt idx="1">
                  <c:v>4.93</c:v>
                </c:pt>
                <c:pt idx="2">
                  <c:v>5.1</c:v>
                </c:pt>
                <c:pt idx="3">
                  <c:v>5.32</c:v>
                </c:pt>
                <c:pt idx="4">
                  <c:v>5.64</c:v>
                </c:pt>
                <c:pt idx="5">
                  <c:v>6.19</c:v>
                </c:pt>
                <c:pt idx="6">
                  <c:v>6.36</c:v>
                </c:pt>
                <c:pt idx="7">
                  <c:v>6.75</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we're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us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we only take away this slide, we'll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us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lay out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we select the material, the process, the machine, and we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us, it suggests the material and process with a confidence score we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us all to remember the shape: four columns, left to right. On the left, inputs — and notice how forgiving they are: a CAD model, a photo, a sentence, an RFQ, whatever we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us DECIDE and NEGOTIATE: should-cost across twenty regions, what-if scenarios, and a coach that hands us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us.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we can override. Fourth, a deterministic engine prices it and explains the number with a confidence band and design-for-manufacture guidance. And note the bottom line — a 3D model alone is enough to get a defensible number, and if we attach the 2D drawing it reads the tolerances and GD&amp;T to sharpen the estimate further. The more we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We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us to remember — a sanity check compares every AI-suggested number against the measured geometry. Finally we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we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we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and I'll be straight — we don't quote a single headline 'X percent accurate on CAD' number, because honestly that depends on our parts and our rates, and we'd rather prove it on 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we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we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we actually have to give it, bottom-left: the part once, the regions we care about, and a volume. Everything on the bottom-right is what the model factors in for us, per region — and on the next slide we'll see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we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anyone who says ‘our rates aren’t our rates.’ They don’t have to be. We can upload our own cost-rate database as one Excel workbook, and from that moment every costing runs on our numbers. Six categories, one tab each: materials with price per kilo and scrap recovery; the full machine-rate build-up that computes an hourly rate; fully-loaded labour by region and skill; energy; FX; and overhead and margin by commodity and tier. Who can do it? It’s admin-gated — an administrator uploads and can switch between our company rates and our built-in defaults, or reset; everyone else simply costs on whatever’s active, and a badge tells them which. The template is quick: download, fill, upload — and the server checks every row and rejects bad cells with a clear error, so we can’t silently corrupt the library. Every row is dated and carries a confidence flag. And updating is a single click: load a new dated rate set, activate it, and the whole portfolio re-prices — no re-keying. It’s versioned, so we can keep this-year versus last-year and see if an old scenario was costed on stale rates. Bottom line: our rates, validated, versioned and auditable, used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four-ninety-one is about twenty-three percent under the UK. But here's the sophistication our buyers will love — landed, once we add logistics and duty, that narrows to about twelve percent. The tool shows us both, so we don't chase a saving that shipping eats. And now the bit that fixes a real pain: we don't rebuild these should-costs by hand when our rates change. Material factors, labour, energy and overhead all live in one versioned rate library. Upload an updated, dated rate set once, and every part re-prices in a click. No more stale spreadsheets, no re-keying — the numbers reflect the latest rates we've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us a negotiation pack. The stats are illustrative but real in shape: quotes typically run about fifteen percent over should-cost, and on one part family that was ninety-one thousand pounds a year, with the single biggest lever — raw material — worth thirty-seven thousand. The pack gives us the gap table, the driver decomposition, the levers ranked by pounds, the exact questions to ask, and a one-click export. We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we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our real quotes landed within plus-or-minus six-and-a-half percent. That's evidence a buyer can defend. The causal coach knows WHY a part costs what it does and writes the negotiating sentence for us — every one percent move in aluminium shifts the price by eleven pence. The what-if engine lets us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us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nine hundred and seventeen automated tests across seventy-nine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Our data, our infrastructure, 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we see it's reading real geometry, then hit Calculate — the should-cost and confidence band come back in under a minute. Then I'll attach a 2D drawing and re-run, so we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we're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us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we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we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upload updated rates once — every part re-prices in a click</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we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we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we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we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we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we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768096" y="2706624"/>
            <a:ext cx="128016" cy="128016"/>
          </a:xfrm>
          <a:prstGeom prst="ellipse">
            <a:avLst/>
          </a:prstGeom>
          <a:solidFill>
            <a:srgbClr val="4F46E5"/>
          </a:solidFill>
          <a:ln/>
        </p:spPr>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4544568" y="2706624"/>
            <a:ext cx="128016" cy="128016"/>
          </a:xfrm>
          <a:prstGeom prst="ellipse">
            <a:avLst/>
          </a:prstGeom>
          <a:solidFill>
            <a:srgbClr val="2E90FA"/>
          </a:solidFill>
          <a:ln/>
        </p:spPr>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8321040" y="2706624"/>
            <a:ext cx="128016" cy="128016"/>
          </a:xfrm>
          <a:prstGeom prst="ellipse">
            <a:avLst/>
          </a:prstGeom>
          <a:solidFill>
            <a:srgbClr val="7C3AED"/>
          </a:solidFill>
          <a:ln/>
        </p:spPr>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768096" y="3346704"/>
            <a:ext cx="128016" cy="128016"/>
          </a:xfrm>
          <a:prstGeom prst="ellipse">
            <a:avLst/>
          </a:prstGeom>
          <a:solidFill>
            <a:srgbClr val="0EA472"/>
          </a:solidFill>
          <a:ln/>
        </p:spPr>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4544568" y="3346704"/>
            <a:ext cx="128016" cy="128016"/>
          </a:xfrm>
          <a:prstGeom prst="ellipse">
            <a:avLst/>
          </a:prstGeom>
          <a:solidFill>
            <a:srgbClr val="E0900C"/>
          </a:solidFill>
          <a:ln/>
        </p:spPr>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8321040" y="3346704"/>
            <a:ext cx="128016" cy="128016"/>
          </a:xfrm>
          <a:prstGeom prst="ellipse">
            <a:avLst/>
          </a:prstGeom>
          <a:solidFill>
            <a:srgbClr val="E5484D"/>
          </a:solidFill>
          <a:ln/>
        </p:spPr>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768096" y="3986784"/>
            <a:ext cx="128016" cy="128016"/>
          </a:xfrm>
          <a:prstGeom prst="ellipse">
            <a:avLst/>
          </a:prstGeom>
          <a:solidFill>
            <a:srgbClr val="2563EB"/>
          </a:solidFill>
          <a:ln/>
        </p:spPr>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4544568" y="3986784"/>
            <a:ext cx="128016" cy="128016"/>
          </a:xfrm>
          <a:prstGeom prst="ellipse">
            <a:avLst/>
          </a:prstGeom>
          <a:solidFill>
            <a:srgbClr val="0E93B0"/>
          </a:solidFill>
          <a:ln/>
        </p:spPr>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8321040" y="3986784"/>
            <a:ext cx="128016" cy="128016"/>
          </a:xfrm>
          <a:prstGeom prst="ellipse">
            <a:avLst/>
          </a:prstGeom>
          <a:solidFill>
            <a:srgbClr val="0DA5A0"/>
          </a:solidFill>
          <a:ln/>
        </p:spPr>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768096" y="4626864"/>
            <a:ext cx="128016" cy="128016"/>
          </a:xfrm>
          <a:prstGeom prst="ellipse">
            <a:avLst/>
          </a:prstGeom>
          <a:solidFill>
            <a:srgbClr val="4F46E5"/>
          </a:solidFill>
          <a:ln/>
        </p:spPr>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4544568" y="4626864"/>
            <a:ext cx="128016" cy="128016"/>
          </a:xfrm>
          <a:prstGeom prst="ellipse">
            <a:avLst/>
          </a:prstGeom>
          <a:solidFill>
            <a:srgbClr val="2E90FA"/>
          </a:solidFill>
          <a:ln/>
        </p:spPr>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8321040" y="4626864"/>
            <a:ext cx="128016" cy="128016"/>
          </a:xfrm>
          <a:prstGeom prst="ellipse">
            <a:avLst/>
          </a:prstGeom>
          <a:solidFill>
            <a:srgbClr val="7C3AED"/>
          </a:solidFill>
          <a:ln/>
        </p:spPr>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768096" y="5266944"/>
            <a:ext cx="128016" cy="128016"/>
          </a:xfrm>
          <a:prstGeom prst="ellipse">
            <a:avLst/>
          </a:prstGeom>
          <a:solidFill>
            <a:srgbClr val="0EA472"/>
          </a:solidFill>
          <a:ln/>
        </p:spPr>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4544568" y="5266944"/>
            <a:ext cx="128016" cy="128016"/>
          </a:xfrm>
          <a:prstGeom prst="ellipse">
            <a:avLst/>
          </a:prstGeom>
          <a:solidFill>
            <a:srgbClr val="E0900C"/>
          </a:solidFill>
          <a:ln/>
        </p:spPr>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8321040" y="5266944"/>
            <a:ext cx="128016" cy="128016"/>
          </a:xfrm>
          <a:prstGeom prst="ellipse">
            <a:avLst/>
          </a:prstGeom>
          <a:solidFill>
            <a:srgbClr val="E5484D"/>
          </a:solidFill>
          <a:ln/>
        </p:spPr>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we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our own rate database — our rates, our numbers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Upload our organisation’s own cost rates as one Excel workbook. Every costing then runs on our numbers — validated on upload, versioned, and fully auditable. No black box, no lock-in to our defaults.</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Shape 10"/>
          <p:cNvSpPr/>
          <p:nvPr/>
        </p:nvSpPr>
        <p:spPr>
          <a:xfrm>
            <a:off x="548640" y="1938528"/>
            <a:ext cx="82296" cy="1371600"/>
          </a:xfrm>
          <a:prstGeom prst="rect">
            <a:avLst/>
          </a:prstGeom>
          <a:solidFill>
            <a:srgbClr val="2563EB"/>
          </a:solidFill>
          <a:ln/>
        </p:spPr>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6" name="Shape 14"/>
          <p:cNvSpPr/>
          <p:nvPr/>
        </p:nvSpPr>
        <p:spPr>
          <a:xfrm>
            <a:off x="2409444" y="1938528"/>
            <a:ext cx="82296" cy="1371600"/>
          </a:xfrm>
          <a:prstGeom prst="rect">
            <a:avLst/>
          </a:prstGeom>
          <a:solidFill>
            <a:srgbClr val="4F46E5"/>
          </a:solidFill>
          <a:ln/>
        </p:spPr>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20" name="Shape 18"/>
          <p:cNvSpPr/>
          <p:nvPr/>
        </p:nvSpPr>
        <p:spPr>
          <a:xfrm>
            <a:off x="4270248" y="1938528"/>
            <a:ext cx="82296" cy="1371600"/>
          </a:xfrm>
          <a:prstGeom prst="rect">
            <a:avLst/>
          </a:prstGeom>
          <a:solidFill>
            <a:srgbClr val="0DA5A0"/>
          </a:solidFill>
          <a:ln/>
        </p:spPr>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4" name="Shape 22"/>
          <p:cNvSpPr/>
          <p:nvPr/>
        </p:nvSpPr>
        <p:spPr>
          <a:xfrm>
            <a:off x="6131052" y="1938528"/>
            <a:ext cx="82296" cy="1371600"/>
          </a:xfrm>
          <a:prstGeom prst="rect">
            <a:avLst/>
          </a:prstGeom>
          <a:solidFill>
            <a:srgbClr val="E0900C"/>
          </a:solidFill>
          <a:ln/>
        </p:spPr>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28" name="Shape 26"/>
          <p:cNvSpPr/>
          <p:nvPr/>
        </p:nvSpPr>
        <p:spPr>
          <a:xfrm>
            <a:off x="7991856" y="1938528"/>
            <a:ext cx="82296" cy="1371600"/>
          </a:xfrm>
          <a:prstGeom prst="rect">
            <a:avLst/>
          </a:prstGeom>
          <a:solidFill>
            <a:srgbClr val="0E93B0"/>
          </a:solidFill>
          <a:ln/>
        </p:spPr>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32" name="Shape 30"/>
          <p:cNvSpPr/>
          <p:nvPr/>
        </p:nvSpPr>
        <p:spPr>
          <a:xfrm>
            <a:off x="9852660" y="1938528"/>
            <a:ext cx="82296" cy="1371600"/>
          </a:xfrm>
          <a:prstGeom prst="rect">
            <a:avLst/>
          </a:prstGeom>
          <a:solidFill>
            <a:srgbClr val="7C3AED"/>
          </a:solidFill>
          <a:ln/>
        </p:spPr>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37" name="Shape 35"/>
          <p:cNvSpPr/>
          <p:nvPr/>
        </p:nvSpPr>
        <p:spPr>
          <a:xfrm>
            <a:off x="548640" y="3474720"/>
            <a:ext cx="82296" cy="1463040"/>
          </a:xfrm>
          <a:prstGeom prst="rect">
            <a:avLst/>
          </a:prstGeom>
          <a:solidFill>
            <a:srgbClr val="7C3AED"/>
          </a:solidFill>
          <a:ln/>
        </p:spPr>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Admin-gated.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vs built-in. One consistent number across the team.</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41" name="Shape 39"/>
          <p:cNvSpPr/>
          <p:nvPr/>
        </p:nvSpPr>
        <p:spPr>
          <a:xfrm>
            <a:off x="4285488" y="3474720"/>
            <a:ext cx="82296" cy="1463040"/>
          </a:xfrm>
          <a:prstGeom prst="rect">
            <a:avLst/>
          </a:prstGeom>
          <a:solidFill>
            <a:srgbClr val="2563EB"/>
          </a:solidFill>
          <a:ln/>
        </p:spPr>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6 tabs.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 fill → upload. The server validates every row and rejects bad cells with line-level errors.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45" name="Shape 43"/>
          <p:cNvSpPr/>
          <p:nvPr/>
        </p:nvSpPr>
        <p:spPr>
          <a:xfrm>
            <a:off x="8022336" y="3474720"/>
            <a:ext cx="82296" cy="1463040"/>
          </a:xfrm>
          <a:prstGeom prst="rect">
            <a:avLst/>
          </a:prstGeom>
          <a:solidFill>
            <a:srgbClr val="0EA472"/>
          </a:solidFill>
          <a:ln/>
        </p:spPr>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IN ONE CLICK</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 the whole portfolio re-prices in a click.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so we keep current vs old vintages and scenarios flag if costed on an older version.</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sp>
      <p:sp>
        <p:nvSpPr>
          <p:cNvPr id="49" name="Shape 47"/>
          <p:cNvSpPr/>
          <p:nvPr/>
        </p:nvSpPr>
        <p:spPr>
          <a:xfrm>
            <a:off x="548640" y="5138928"/>
            <a:ext cx="82296" cy="841248"/>
          </a:xfrm>
          <a:prstGeom prst="rect">
            <a:avLst/>
          </a:prstGeom>
          <a:solidFill>
            <a:srgbClr val="E0900C"/>
          </a:solidFill>
          <a:ln/>
        </p:spPr>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Our rates, our defensible numbers.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Quick to load (download → fill → upload), validated on the way in, versioned and auditable — and every costing across the platform immediately uses them.</a:t>
            </a:r>
            <a:endParaRPr lang="en-US" sz="112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−23% ex-works, narrowing to −12%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factors, labour, energy and overhead all live in one versioned rate library — not scattered across spreadsheets.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Upload an updated, dated rate set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Keeping should-costs current with the latest economics is a single upload, not a manual rebuild.</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We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us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917</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79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~9,700 lines of tests, 917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us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our data, our infrastructure, 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Our data, our infrastructure, 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we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2026-07-21T08:07:14Z</dcterms:created>
  <dcterms:modified xsi:type="dcterms:W3CDTF">2026-07-21T08:07:14Z</dcterms:modified>
</cp:coreProperties>
</file>